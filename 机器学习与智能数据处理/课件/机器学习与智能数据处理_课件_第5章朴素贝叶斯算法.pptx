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13.xml" ContentType="application/vnd.openxmlformats-officedocument.presentationml.notesSlide+xml"/>
  <Override PartName="/ppt/tags/tag19.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0.xml" ContentType="application/vnd.openxmlformats-officedocument.presentationml.tags+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Lst>
  <p:notesMasterIdLst>
    <p:notesMasterId r:id="rId72"/>
  </p:notesMasterIdLst>
  <p:handoutMasterIdLst>
    <p:handoutMasterId r:id="rId73"/>
  </p:handoutMasterIdLst>
  <p:sldIdLst>
    <p:sldId id="256" r:id="rId3"/>
    <p:sldId id="313" r:id="rId4"/>
    <p:sldId id="259" r:id="rId5"/>
    <p:sldId id="423" r:id="rId6"/>
    <p:sldId id="424" r:id="rId7"/>
    <p:sldId id="397" r:id="rId8"/>
    <p:sldId id="398" r:id="rId9"/>
    <p:sldId id="399" r:id="rId10"/>
    <p:sldId id="400" r:id="rId11"/>
    <p:sldId id="336" r:id="rId12"/>
    <p:sldId id="359" r:id="rId13"/>
    <p:sldId id="380" r:id="rId14"/>
    <p:sldId id="379" r:id="rId15"/>
    <p:sldId id="428" r:id="rId16"/>
    <p:sldId id="382" r:id="rId17"/>
    <p:sldId id="361" r:id="rId18"/>
    <p:sldId id="362" r:id="rId19"/>
    <p:sldId id="363" r:id="rId20"/>
    <p:sldId id="364" r:id="rId21"/>
    <p:sldId id="365" r:id="rId22"/>
    <p:sldId id="366" r:id="rId23"/>
    <p:sldId id="368" r:id="rId24"/>
    <p:sldId id="396" r:id="rId25"/>
    <p:sldId id="370" r:id="rId26"/>
    <p:sldId id="315" r:id="rId27"/>
    <p:sldId id="308" r:id="rId28"/>
    <p:sldId id="316" r:id="rId29"/>
    <p:sldId id="317" r:id="rId30"/>
    <p:sldId id="318" r:id="rId31"/>
    <p:sldId id="319" r:id="rId32"/>
    <p:sldId id="320" r:id="rId33"/>
    <p:sldId id="321" r:id="rId34"/>
    <p:sldId id="322" r:id="rId35"/>
    <p:sldId id="326" r:id="rId36"/>
    <p:sldId id="327" r:id="rId37"/>
    <p:sldId id="328" r:id="rId38"/>
    <p:sldId id="329" r:id="rId39"/>
    <p:sldId id="384" r:id="rId40"/>
    <p:sldId id="383" r:id="rId41"/>
    <p:sldId id="311" r:id="rId42"/>
    <p:sldId id="429" r:id="rId43"/>
    <p:sldId id="430" r:id="rId44"/>
    <p:sldId id="371" r:id="rId45"/>
    <p:sldId id="431" r:id="rId46"/>
    <p:sldId id="372" r:id="rId47"/>
    <p:sldId id="375" r:id="rId48"/>
    <p:sldId id="377" r:id="rId49"/>
    <p:sldId id="408" r:id="rId50"/>
    <p:sldId id="409" r:id="rId51"/>
    <p:sldId id="410" r:id="rId52"/>
    <p:sldId id="411" r:id="rId53"/>
    <p:sldId id="412" r:id="rId54"/>
    <p:sldId id="413" r:id="rId55"/>
    <p:sldId id="414" r:id="rId56"/>
    <p:sldId id="415" r:id="rId57"/>
    <p:sldId id="416" r:id="rId58"/>
    <p:sldId id="417" r:id="rId59"/>
    <p:sldId id="418" r:id="rId60"/>
    <p:sldId id="419" r:id="rId61"/>
    <p:sldId id="420" r:id="rId62"/>
    <p:sldId id="421" r:id="rId63"/>
    <p:sldId id="422" r:id="rId64"/>
    <p:sldId id="385" r:id="rId65"/>
    <p:sldId id="387" r:id="rId66"/>
    <p:sldId id="388" r:id="rId67"/>
    <p:sldId id="389" r:id="rId68"/>
    <p:sldId id="390" r:id="rId69"/>
    <p:sldId id="392" r:id="rId70"/>
    <p:sldId id="391" r:id="rId71"/>
  </p:sldIdLst>
  <p:sldSz cx="12192000" cy="6858000"/>
  <p:notesSz cx="6858000" cy="9144000"/>
  <p:custDataLst>
    <p:tags r:id="rId7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642" userDrawn="1">
          <p15:clr>
            <a:srgbClr val="A4A3A4"/>
          </p15:clr>
        </p15:guide>
        <p15:guide id="4" pos="7038" userDrawn="1">
          <p15:clr>
            <a:srgbClr val="A4A3A4"/>
          </p15:clr>
        </p15:guide>
        <p15:guide id="5" orient="horz" pos="3784" userDrawn="1">
          <p15:clr>
            <a:srgbClr val="A4A3A4"/>
          </p15:clr>
        </p15:guide>
        <p15:guide id="6" orient="horz" pos="79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A5A5A5"/>
    <a:srgbClr val="5F5F5F"/>
    <a:srgbClr val="606060"/>
    <a:srgbClr val="FEA205"/>
    <a:srgbClr val="E9EBEC"/>
    <a:srgbClr val="EAECED"/>
    <a:srgbClr val="E8EBEC"/>
    <a:srgbClr val="E3E6E7"/>
    <a:srgbClr val="F69E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00" autoAdjust="0"/>
    <p:restoredTop sz="95701" autoAdjust="0"/>
  </p:normalViewPr>
  <p:slideViewPr>
    <p:cSldViewPr snapToGrid="0" showGuides="1">
      <p:cViewPr varScale="1">
        <p:scale>
          <a:sx n="95" d="100"/>
          <a:sy n="95" d="100"/>
        </p:scale>
        <p:origin x="86" y="53"/>
      </p:cViewPr>
      <p:guideLst>
        <p:guide orient="horz" pos="2160"/>
        <p:guide pos="3840"/>
        <p:guide pos="642"/>
        <p:guide pos="7038"/>
        <p:guide orient="horz" pos="3784"/>
        <p:guide orient="horz" pos="799"/>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46" d="100"/>
          <a:sy n="46" d="100"/>
        </p:scale>
        <p:origin x="2316"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gs" Target="tags/tag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75C123-D6CD-4046-9E13-CA7186604EF0}" type="datetimeFigureOut">
              <a:rPr lang="zh-CN" altLang="en-US" smtClean="0"/>
              <a:t>2025/5/3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89000D-5344-416A-A6D3-78D1717783E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26DC34-D585-42D5-89F7-991AD639A885}" type="datetimeFigureOut">
              <a:rPr lang="zh-CN" altLang="en-US" smtClean="0"/>
              <a:t>2025/5/3</a:t>
            </a:fld>
            <a:endParaRPr lang="zh-CN" altLang="en-US"/>
          </a:p>
        </p:txBody>
      </p:sp>
      <p:sp>
        <p:nvSpPr>
          <p:cNvPr id="4" name="幻灯片图像占位符 3"/>
          <p:cNvSpPr>
            <a:spLocks noGrp="1" noRot="1" noChangeAspect="1"/>
          </p:cNvSpPr>
          <p:nvPr>
            <p:ph type="sldImg" idx="2"/>
          </p:nvPr>
        </p:nvSpPr>
        <p:spPr>
          <a:xfrm>
            <a:off x="228600" y="630237"/>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2743B-58E3-4952-98AC-60B7F330573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F1E2743B-58E3-4952-98AC-60B7F3305738}"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228600" y="630238"/>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26</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28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38</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E2743B-58E3-4952-98AC-60B7F3305738}" type="slidenum">
              <a:rPr lang="zh-CN" altLang="en-US" smtClean="0"/>
              <a:t>40</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228600" y="630238"/>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dirty="0"/>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t>41</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dirty="0"/>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EE54F37F-5E21-4447-9EEF-AAF683DCA89E}" type="slidenum">
              <a:rPr lang="zh-CN" altLang="en-US" smtClean="0"/>
              <a:t>42</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44</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1E2743B-58E3-4952-98AC-60B7F3305738}"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228600" y="630238"/>
            <a:ext cx="54864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6148"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defRPr/>
            </a:pPr>
            <a:fld id="{EE54F37F-5E21-4447-9EEF-AAF683DCA89E}" type="slidenum">
              <a:rPr kumimoji="1"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t>51</a:t>
            </a:fld>
            <a:endParaRPr kumimoji="1"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630238"/>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E2743B-58E3-4952-98AC-60B7F3305738}" type="slidenum">
              <a:rPr lang="zh-CN" altLang="en-US" smtClean="0"/>
              <a:t>67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a:defRPr/>
            </a:pPr>
            <a:fld id="{B0F34D6F-F29A-4B09-B655-E0971D462D4D}" type="datetimeFigureOut">
              <a:rPr lang="zh-CN" altLang="en-US"/>
              <a:t>2025/5/3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E4318774-2AFB-4BC6-A124-21C0A835992E}"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t>5/3/2025</a:t>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t>5/3/2025</a:t>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t>5/3/2025</a:t>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t>5/3/2025</a:t>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t>5/3/2025</a:t>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a:prstGeom prst="rect">
            <a:avLst/>
          </a:prstGeom>
          <a:noFill/>
        </p:spPr>
        <p:txBody>
          <a:bodyPr wrap="square" rtlCol="0" anchor="ctr" anchorCtr="0">
            <a:spAutoFit/>
          </a:bodyPr>
          <a:lstStyle>
            <a:lvl1pPr>
              <a:defRPr lang="zh-CN" altLang="en-US" sz="3200" b="1">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pPr marL="0" lvl="0" indent="0">
              <a:spcBef>
                <a:spcPts val="1000"/>
              </a:spcBef>
              <a:buFontTx/>
            </a:pPr>
            <a:r>
              <a:rPr lang="zh-CN" altLang="en-US"/>
              <a:t>单击此处编辑母版标题样式</a:t>
            </a:r>
          </a:p>
        </p:txBody>
      </p:sp>
      <p:sp>
        <p:nvSpPr>
          <p:cNvPr id="5" name="椭圆 4"/>
          <p:cNvSpPr>
            <a:spLocks noChangeAspect="1"/>
          </p:cNvSpPr>
          <p:nvPr userDrawn="1"/>
        </p:nvSpPr>
        <p:spPr>
          <a:xfrm>
            <a:off x="708348" y="341440"/>
            <a:ext cx="238542" cy="238544"/>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a:spLocks noChangeAspect="1"/>
          </p:cNvSpPr>
          <p:nvPr userDrawn="1"/>
        </p:nvSpPr>
        <p:spPr>
          <a:xfrm>
            <a:off x="828780" y="736168"/>
            <a:ext cx="278298" cy="278301"/>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a:spLocks noChangeAspect="1"/>
          </p:cNvSpPr>
          <p:nvPr userDrawn="1"/>
        </p:nvSpPr>
        <p:spPr>
          <a:xfrm>
            <a:off x="274609" y="360716"/>
            <a:ext cx="556599" cy="556603"/>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矩形 3"/>
          <p:cNvSpPr/>
          <p:nvPr userDrawn="1"/>
        </p:nvSpPr>
        <p:spPr>
          <a:xfrm>
            <a:off x="8325228" y="6545425"/>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a:defRPr/>
            </a:pPr>
            <a:fld id="{B0F34D6F-F29A-4B09-B655-E0971D462D4D}" type="datetimeFigureOut">
              <a:rPr lang="zh-CN" altLang="en-US"/>
              <a:t>2025/5/3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pPr>
              <a:defRPr/>
            </a:pPr>
            <a:fld id="{E4318774-2AFB-4BC6-A124-21C0A835992E}" type="slidenum">
              <a:rPr lang="zh-CN" altLang="en-US"/>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t>5/3/2025</a:t>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t>5/3/2025</a:t>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t>5/3/2025</a:t>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t>5/3/2025</a:t>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398863" y="0"/>
            <a:ext cx="10272890" cy="980728"/>
          </a:xfrm>
          <a:prstGeom prst="rect">
            <a:avLst/>
          </a:prstGeom>
        </p:spPr>
        <p:txBody>
          <a:bodyPr/>
          <a:lstStyle>
            <a:lvl1pPr algn="l">
              <a:defRPr baseline="0">
                <a:solidFill>
                  <a:schemeClr val="accent3">
                    <a:lumMod val="50000"/>
                  </a:schemeClr>
                </a:solidFill>
                <a:latin typeface="Microsoft Sans Serif" panose="020B0604020202020204" pitchFamily="34" charset="0"/>
                <a:ea typeface="华文楷体" panose="02010600040101010101" pitchFamily="2"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1398863" y="1878044"/>
            <a:ext cx="10272890" cy="2487061"/>
          </a:xfrm>
          <a:prstGeom prst="rect">
            <a:avLst/>
          </a:prstGeom>
        </p:spPr>
        <p:txBody>
          <a:bodyPr anchor="ctr"/>
          <a:lstStyle>
            <a:lvl1pPr marL="285750" indent="-285750">
              <a:lnSpc>
                <a:spcPct val="120000"/>
              </a:lnSpc>
              <a:buClr>
                <a:srgbClr val="83AA67"/>
              </a:buClr>
              <a:buSzPct val="100000"/>
              <a:buFont typeface="Wingdings" panose="05000000000000000000" pitchFamily="2" charset="2"/>
              <a:buChar char="n"/>
              <a:defRPr sz="20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endParaRPr lang="en-US" altLang="zh-CN" dirty="0"/>
          </a:p>
          <a:p>
            <a:pPr lvl="1"/>
            <a:endParaRPr lang="zh-CN" altLang="en-US" dirty="0"/>
          </a:p>
        </p:txBody>
      </p:sp>
      <p:sp>
        <p:nvSpPr>
          <p:cNvPr id="4" name="Date Placeholder 3"/>
          <p:cNvSpPr>
            <a:spLocks noGrp="1"/>
          </p:cNvSpPr>
          <p:nvPr>
            <p:ph type="dt" sz="half" idx="10"/>
          </p:nvPr>
        </p:nvSpPr>
        <p:spPr>
          <a:xfrm>
            <a:off x="9792440" y="6108175"/>
            <a:ext cx="1143297" cy="365125"/>
          </a:xfrm>
          <a:prstGeom prst="rect">
            <a:avLst/>
          </a:prstGeom>
        </p:spPr>
        <p:txBody>
          <a:bodyPr/>
          <a:lstStyle/>
          <a:p>
            <a:fld id="{87DE6118-2437-4B30-8E3C-4D2BE6020583}" type="datetimeFigureOut">
              <a:rPr lang="en-US" smtClean="0"/>
              <a:t>5/3/2025</a:t>
            </a:fld>
            <a:endParaRPr lang="en-US" dirty="0"/>
          </a:p>
        </p:txBody>
      </p:sp>
      <p:sp>
        <p:nvSpPr>
          <p:cNvPr id="5" name="Footer Placeholder 4"/>
          <p:cNvSpPr>
            <a:spLocks noGrp="1"/>
          </p:cNvSpPr>
          <p:nvPr>
            <p:ph type="ftr" sz="quarter" idx="11"/>
          </p:nvPr>
        </p:nvSpPr>
        <p:spPr>
          <a:xfrm>
            <a:off x="2630198" y="6108175"/>
            <a:ext cx="7086022" cy="365125"/>
          </a:xfrm>
          <a:prstGeom prst="rect">
            <a:avLst/>
          </a:prstGeom>
        </p:spPr>
        <p:txBody>
          <a:bodyPr/>
          <a:lstStyle/>
          <a:p>
            <a:pPr algn="r"/>
            <a:endParaRPr lang="en-US" sz="1400" dirty="0">
              <a:solidFill>
                <a:schemeClr val="tx2"/>
              </a:solidFill>
            </a:endParaRPr>
          </a:p>
        </p:txBody>
      </p:sp>
      <p:sp>
        <p:nvSpPr>
          <p:cNvPr id="6" name="Slide Number Placeholder 5"/>
          <p:cNvSpPr>
            <a:spLocks noGrp="1"/>
          </p:cNvSpPr>
          <p:nvPr>
            <p:ph type="sldNum" sz="quarter" idx="12"/>
          </p:nvPr>
        </p:nvSpPr>
        <p:spPr>
          <a:xfrm>
            <a:off x="11011957" y="6108175"/>
            <a:ext cx="570444" cy="365125"/>
          </a:xfrm>
          <a:prstGeom prst="rect">
            <a:avLst/>
          </a:prstGeom>
        </p:spPr>
        <p:txBody>
          <a:bodyPr/>
          <a:lstStyle/>
          <a:p>
            <a:fld id="{1AD93096-5B34-4342-9326-69289CEAE4C2}" type="slidenum">
              <a:rPr lang="en-US" smtClean="0"/>
              <a:t>‹#›</a:t>
            </a:fld>
            <a:endParaRPr lang="en-US" dirty="0">
              <a:solidFill>
                <a:srgbClr val="FFFFFF"/>
              </a:solidFill>
            </a:endParaRPr>
          </a:p>
        </p:txBody>
      </p:sp>
      <p:sp>
        <p:nvSpPr>
          <p:cNvPr id="7" name="Content Placeholder 2"/>
          <p:cNvSpPr>
            <a:spLocks noGrp="1"/>
          </p:cNvSpPr>
          <p:nvPr>
            <p:ph idx="13"/>
          </p:nvPr>
        </p:nvSpPr>
        <p:spPr>
          <a:xfrm>
            <a:off x="1398862" y="980729"/>
            <a:ext cx="10272890" cy="897315"/>
          </a:xfrm>
          <a:prstGeom prst="rect">
            <a:avLst/>
          </a:prstGeom>
        </p:spPr>
        <p:txBody>
          <a:bodyPr anchor="ctr">
            <a:normAutofit/>
          </a:bodyPr>
          <a:lstStyle>
            <a:lvl1pPr marL="0" indent="0">
              <a:buClr>
                <a:srgbClr val="83AA67"/>
              </a:buClr>
              <a:buSzPct val="100000"/>
              <a:buFont typeface="Wingdings" panose="05000000000000000000" pitchFamily="2" charset="2"/>
              <a:buNone/>
              <a:defRPr sz="2400" baseline="0">
                <a:solidFill>
                  <a:schemeClr val="accent3">
                    <a:lumMod val="50000"/>
                  </a:schemeClr>
                </a:solidFill>
                <a:latin typeface="Microsoft Sans Serif" panose="020B0604020202020204" pitchFamily="34" charset="0"/>
                <a:ea typeface="华文楷体" panose="02010600040101010101" pitchFamily="2" charset="-122"/>
              </a:defRPr>
            </a:lvl1pPr>
            <a:lvl2pPr>
              <a:buClr>
                <a:srgbClr val="CD4223"/>
              </a:buClr>
              <a:buSzPct val="144000"/>
              <a:defRPr sz="1800" baseline="0">
                <a:latin typeface="Microsoft Sans Serif" panose="020B0604020202020204" pitchFamily="34" charset="0"/>
                <a:ea typeface="华文楷体" panose="02010600040101010101" pitchFamily="2" charset="-122"/>
              </a:defRPr>
            </a:lvl2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pn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11" cstate="print">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8FCFE"/>
        </a:solidFill>
        <a:effectLst/>
      </p:bgPr>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blipFill dpi="0" rotWithShape="1">
            <a:blip r:embed="rId11">
              <a:alphaModFix amt="6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Rectangle 3"/>
          <p:cNvSpPr txBox="1">
            <a:spLocks noChangeArrowheads="1"/>
          </p:cNvSpPr>
          <p:nvPr userDrawn="1"/>
        </p:nvSpPr>
        <p:spPr bwMode="auto">
          <a:xfrm>
            <a:off x="4511824" y="6556138"/>
            <a:ext cx="3168352" cy="3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r>
              <a:rPr kumimoji="0" lang="zh-CN" altLang="en-US" sz="16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河南大学软件学院</a:t>
            </a:r>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notesSlide" Target="../notesSlides/notesSlide1.xml"/><Relationship Id="rId5" Type="http://schemas.openxmlformats.org/officeDocument/2006/relationships/tags" Target="../tags/tag6.xml"/><Relationship Id="rId10" Type="http://schemas.openxmlformats.org/officeDocument/2006/relationships/slideLayout" Target="../slideLayouts/slideLayout1.xml"/><Relationship Id="rId4" Type="http://schemas.openxmlformats.org/officeDocument/2006/relationships/tags" Target="../tags/tag5.xml"/><Relationship Id="rId9" Type="http://schemas.openxmlformats.org/officeDocument/2006/relationships/tags" Target="../tags/tag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10.wmf"/><Relationship Id="rId4"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15.png"/><Relationship Id="rId4"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1.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4.bin"/><Relationship Id="rId1" Type="http://schemas.openxmlformats.org/officeDocument/2006/relationships/slideLayout" Target="../slideLayouts/slideLayout7.xml"/><Relationship Id="rId4" Type="http://schemas.openxmlformats.org/officeDocument/2006/relationships/image" Target="../media/image36.emf"/></Relationships>
</file>

<file path=ppt/slides/_rels/slide47.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5.bin"/><Relationship Id="rId1" Type="http://schemas.openxmlformats.org/officeDocument/2006/relationships/slideLayout" Target="../slideLayouts/slideLayout8.xml"/><Relationship Id="rId5" Type="http://schemas.openxmlformats.org/officeDocument/2006/relationships/image" Target="../media/image38.wmf"/><Relationship Id="rId4" Type="http://schemas.openxmlformats.org/officeDocument/2006/relationships/oleObject" Target="../embeddings/oleObject6.bin"/></Relationships>
</file>

<file path=ppt/slides/_rels/slide4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oleObject" Target="../embeddings/oleObject7.bin"/><Relationship Id="rId7" Type="http://schemas.openxmlformats.org/officeDocument/2006/relationships/image" Target="../media/image47.wmf"/><Relationship Id="rId2" Type="http://schemas.openxmlformats.org/officeDocument/2006/relationships/image" Target="../media/image44.emf"/><Relationship Id="rId1" Type="http://schemas.openxmlformats.org/officeDocument/2006/relationships/slideLayout" Target="../slideLayouts/slideLayout4.xml"/><Relationship Id="rId6" Type="http://schemas.openxmlformats.org/officeDocument/2006/relationships/oleObject" Target="../embeddings/oleObject8.bin"/><Relationship Id="rId11" Type="http://schemas.openxmlformats.org/officeDocument/2006/relationships/image" Target="../media/image49.wmf"/><Relationship Id="rId5" Type="http://schemas.openxmlformats.org/officeDocument/2006/relationships/image" Target="../media/image46.emf"/><Relationship Id="rId10" Type="http://schemas.openxmlformats.org/officeDocument/2006/relationships/oleObject" Target="../embeddings/oleObject10.bin"/><Relationship Id="rId4" Type="http://schemas.openxmlformats.org/officeDocument/2006/relationships/image" Target="../media/image45.wmf"/><Relationship Id="rId9" Type="http://schemas.openxmlformats.org/officeDocument/2006/relationships/image" Target="../media/image48.wmf"/></Relationships>
</file>

<file path=ppt/slides/_rels/slide65.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image" Target="../media/image50.emf"/><Relationship Id="rId1" Type="http://schemas.openxmlformats.org/officeDocument/2006/relationships/slideLayout" Target="../slideLayouts/slideLayout4.xml"/><Relationship Id="rId6" Type="http://schemas.openxmlformats.org/officeDocument/2006/relationships/image" Target="../media/image52.wmf"/><Relationship Id="rId5" Type="http://schemas.openxmlformats.org/officeDocument/2006/relationships/oleObject" Target="../embeddings/oleObject12.bin"/><Relationship Id="rId4" Type="http://schemas.openxmlformats.org/officeDocument/2006/relationships/image" Target="../media/image51.wmf"/></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oleObject" Target="../embeddings/oleObject14.bin"/><Relationship Id="rId7" Type="http://schemas.openxmlformats.org/officeDocument/2006/relationships/image" Target="../media/image57.emf"/><Relationship Id="rId2" Type="http://schemas.openxmlformats.org/officeDocument/2006/relationships/image" Target="../media/image54.emf"/><Relationship Id="rId1" Type="http://schemas.openxmlformats.org/officeDocument/2006/relationships/slideLayout" Target="../slideLayouts/slideLayout4.xml"/><Relationship Id="rId6" Type="http://schemas.openxmlformats.org/officeDocument/2006/relationships/image" Target="../media/image56.wmf"/><Relationship Id="rId11" Type="http://schemas.openxmlformats.org/officeDocument/2006/relationships/image" Target="../media/image59.wmf"/><Relationship Id="rId5" Type="http://schemas.openxmlformats.org/officeDocument/2006/relationships/oleObject" Target="../embeddings/oleObject15.bin"/><Relationship Id="rId10" Type="http://schemas.openxmlformats.org/officeDocument/2006/relationships/oleObject" Target="../embeddings/oleObject17.bin"/><Relationship Id="rId4" Type="http://schemas.openxmlformats.org/officeDocument/2006/relationships/image" Target="../media/image55.wmf"/><Relationship Id="rId9" Type="http://schemas.openxmlformats.org/officeDocument/2006/relationships/image" Target="../media/image58.wmf"/></Relationships>
</file>

<file path=ppt/slides/_rels/slide67.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oleObject" Target="../embeddings/oleObject16.bin"/><Relationship Id="rId7" Type="http://schemas.openxmlformats.org/officeDocument/2006/relationships/oleObject" Target="../embeddings/oleObject19.bin"/><Relationship Id="rId12" Type="http://schemas.openxmlformats.org/officeDocument/2006/relationships/image" Target="../media/image63.wmf"/><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60.wmf"/><Relationship Id="rId11" Type="http://schemas.openxmlformats.org/officeDocument/2006/relationships/oleObject" Target="../embeddings/oleObject21.bin"/><Relationship Id="rId5" Type="http://schemas.openxmlformats.org/officeDocument/2006/relationships/oleObject" Target="../embeddings/oleObject18.bin"/><Relationship Id="rId10" Type="http://schemas.openxmlformats.org/officeDocument/2006/relationships/image" Target="../media/image62.wmf"/><Relationship Id="rId4" Type="http://schemas.openxmlformats.org/officeDocument/2006/relationships/image" Target="../media/image58.wmf"/><Relationship Id="rId9" Type="http://schemas.openxmlformats.org/officeDocument/2006/relationships/oleObject" Target="../embeddings/oleObject20.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PA_组合 110"/>
          <p:cNvGrpSpPr/>
          <p:nvPr>
            <p:custDataLst>
              <p:tags r:id="rId1"/>
            </p:custDataLst>
          </p:nvPr>
        </p:nvGrpSpPr>
        <p:grpSpPr>
          <a:xfrm flipH="1">
            <a:off x="6298564" y="-3082"/>
            <a:ext cx="5860641" cy="6861082"/>
            <a:chOff x="441028" y="108253"/>
            <a:chExt cx="4654180" cy="6678233"/>
          </a:xfrm>
        </p:grpSpPr>
        <p:cxnSp>
          <p:nvCxnSpPr>
            <p:cNvPr id="112" name="直接连接符 111"/>
            <p:cNvCxnSpPr/>
            <p:nvPr/>
          </p:nvCxnSpPr>
          <p:spPr>
            <a:xfrm>
              <a:off x="1397000" y="109248"/>
              <a:ext cx="3698208" cy="2003942"/>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441030" y="975564"/>
              <a:ext cx="4034133" cy="2193086"/>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441030" y="2325338"/>
              <a:ext cx="4259152" cy="2315413"/>
            </a:xfrm>
            <a:prstGeom prst="line">
              <a:avLst/>
            </a:prstGeom>
            <a:ln w="12700" cap="rnd">
              <a:gradFill>
                <a:gsLst>
                  <a:gs pos="60000">
                    <a:srgbClr val="FFFFFF">
                      <a:alpha val="60000"/>
                    </a:srgbClr>
                  </a:gs>
                  <a:gs pos="0">
                    <a:schemeClr val="bg1">
                      <a:alpha val="9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441030" y="3668759"/>
              <a:ext cx="4338247" cy="235841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442776" y="5064209"/>
              <a:ext cx="3204537" cy="1722277"/>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441030" y="6380062"/>
              <a:ext cx="754357" cy="40542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V="1">
              <a:off x="441030" y="935237"/>
              <a:ext cx="4034131" cy="2248000"/>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V="1">
              <a:off x="441030" y="2083389"/>
              <a:ext cx="4314751" cy="2404374"/>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V="1">
              <a:off x="441028" y="3440258"/>
              <a:ext cx="4425082" cy="2465854"/>
            </a:xfrm>
            <a:prstGeom prst="line">
              <a:avLst/>
            </a:prstGeom>
            <a:ln w="12700" cap="rnd">
              <a:gradFill>
                <a:gsLst>
                  <a:gs pos="60000">
                    <a:srgbClr val="FFFFFF">
                      <a:alpha val="50000"/>
                    </a:srgbClr>
                  </a:gs>
                  <a:gs pos="0">
                    <a:schemeClr val="bg1">
                      <a:alpha val="8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V="1">
              <a:off x="1261223" y="4797682"/>
              <a:ext cx="3567204" cy="1987809"/>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441028" y="108253"/>
              <a:ext cx="3103433" cy="1729372"/>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V="1">
              <a:off x="441030" y="111253"/>
              <a:ext cx="682160" cy="377986"/>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1206647" y="109248"/>
              <a:ext cx="0" cy="6677238"/>
            </a:xfrm>
            <a:prstGeom prst="line">
              <a:avLst/>
            </a:prstGeom>
            <a:ln w="12700" cap="rnd">
              <a:gradFill>
                <a:gsLst>
                  <a:gs pos="60000">
                    <a:srgbClr val="FFFFFF">
                      <a:alpha val="60000"/>
                    </a:srgbClr>
                  </a:gs>
                  <a:gs pos="0">
                    <a:schemeClr val="bg1"/>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3676895" y="108253"/>
              <a:ext cx="0" cy="6678233"/>
            </a:xfrm>
            <a:prstGeom prst="line">
              <a:avLst/>
            </a:prstGeom>
            <a:ln w="12700" cap="rnd">
              <a:gradFill>
                <a:gsLst>
                  <a:gs pos="60000">
                    <a:srgbClr val="FFFFFF">
                      <a:alpha val="60000"/>
                    </a:srgbClr>
                  </a:gs>
                  <a:gs pos="0">
                    <a:schemeClr val="bg1">
                      <a:alpha val="70000"/>
                    </a:schemeClr>
                  </a:gs>
                  <a:gs pos="100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126" name="PA_弧形 125"/>
          <p:cNvSpPr/>
          <p:nvPr>
            <p:custDataLst>
              <p:tags r:id="rId2"/>
            </p:custDataLst>
          </p:nvPr>
        </p:nvSpPr>
        <p:spPr>
          <a:xfrm>
            <a:off x="-2290773" y="5223413"/>
            <a:ext cx="4767943" cy="4767943"/>
          </a:xfrm>
          <a:prstGeom prst="arc">
            <a:avLst>
              <a:gd name="adj1" fmla="val 15964885"/>
              <a:gd name="adj2" fmla="val 20622663"/>
            </a:avLst>
          </a:prstGeom>
          <a:ln>
            <a:solidFill>
              <a:schemeClr val="bg1">
                <a:lumMod val="75000"/>
              </a:schemeClr>
            </a:solidFill>
            <a:headEnd type="none" w="sm" len="sm"/>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000000"/>
              </a:solidFill>
              <a:cs typeface="+mn-ea"/>
              <a:sym typeface="+mn-lt"/>
            </a:endParaRPr>
          </a:p>
        </p:txBody>
      </p:sp>
      <p:grpSp>
        <p:nvGrpSpPr>
          <p:cNvPr id="96" name="PA_组合 95"/>
          <p:cNvGrpSpPr/>
          <p:nvPr>
            <p:custDataLst>
              <p:tags r:id="rId3"/>
            </p:custDataLst>
          </p:nvPr>
        </p:nvGrpSpPr>
        <p:grpSpPr>
          <a:xfrm>
            <a:off x="9272737" y="6173657"/>
            <a:ext cx="868978" cy="2556000"/>
            <a:chOff x="9272737" y="6173657"/>
            <a:chExt cx="868978" cy="2556000"/>
          </a:xfrm>
        </p:grpSpPr>
        <p:sp>
          <p:nvSpPr>
            <p:cNvPr id="31" name="等腰三角形 9_20"/>
            <p:cNvSpPr/>
            <p:nvPr/>
          </p:nvSpPr>
          <p:spPr>
            <a:xfrm rot="10800000">
              <a:off x="9272737" y="6568668"/>
              <a:ext cx="868978" cy="21609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2" name="椭圆 31"/>
            <p:cNvSpPr>
              <a:spLocks noChangeAspect="1"/>
            </p:cNvSpPr>
            <p:nvPr/>
          </p:nvSpPr>
          <p:spPr>
            <a:xfrm>
              <a:off x="9312216" y="6173657"/>
              <a:ext cx="790021" cy="790021"/>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7" name="PA_组合 96"/>
          <p:cNvGrpSpPr/>
          <p:nvPr>
            <p:custDataLst>
              <p:tags r:id="rId4"/>
            </p:custDataLst>
          </p:nvPr>
        </p:nvGrpSpPr>
        <p:grpSpPr>
          <a:xfrm>
            <a:off x="8447464" y="5580235"/>
            <a:ext cx="1174957" cy="3455999"/>
            <a:chOff x="8447464" y="5580235"/>
            <a:chExt cx="1174957" cy="3455999"/>
          </a:xfrm>
        </p:grpSpPr>
        <p:sp>
          <p:nvSpPr>
            <p:cNvPr id="40" name="等腰三角形 9_22"/>
            <p:cNvSpPr/>
            <p:nvPr/>
          </p:nvSpPr>
          <p:spPr>
            <a:xfrm rot="10800000">
              <a:off x="8447464" y="6114333"/>
              <a:ext cx="1174957" cy="2921901"/>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1" name="椭圆 40"/>
            <p:cNvSpPr>
              <a:spLocks noChangeAspect="1"/>
            </p:cNvSpPr>
            <p:nvPr/>
          </p:nvSpPr>
          <p:spPr>
            <a:xfrm>
              <a:off x="8500844" y="5580235"/>
              <a:ext cx="1068199" cy="1068198"/>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98" name="PA_组合 97"/>
          <p:cNvGrpSpPr/>
          <p:nvPr>
            <p:custDataLst>
              <p:tags r:id="rId5"/>
            </p:custDataLst>
          </p:nvPr>
        </p:nvGrpSpPr>
        <p:grpSpPr>
          <a:xfrm>
            <a:off x="5713365" y="4642065"/>
            <a:ext cx="1358547" cy="3996000"/>
            <a:chOff x="5713365" y="4642065"/>
            <a:chExt cx="1358547" cy="3996000"/>
          </a:xfrm>
        </p:grpSpPr>
        <p:sp>
          <p:nvSpPr>
            <p:cNvPr id="43" name="等腰三角形 9_24"/>
            <p:cNvSpPr/>
            <p:nvPr/>
          </p:nvSpPr>
          <p:spPr>
            <a:xfrm rot="10800000">
              <a:off x="5713365" y="5259617"/>
              <a:ext cx="1358547"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4" name="椭圆 43"/>
            <p:cNvSpPr>
              <a:spLocks noChangeAspect="1"/>
            </p:cNvSpPr>
            <p:nvPr/>
          </p:nvSpPr>
          <p:spPr>
            <a:xfrm>
              <a:off x="5775086" y="4642065"/>
              <a:ext cx="1235107"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3" name="PA_组合 132"/>
          <p:cNvGrpSpPr/>
          <p:nvPr>
            <p:custDataLst>
              <p:tags r:id="rId6"/>
            </p:custDataLst>
          </p:nvPr>
        </p:nvGrpSpPr>
        <p:grpSpPr>
          <a:xfrm>
            <a:off x="7245345" y="5466330"/>
            <a:ext cx="1358542" cy="3996000"/>
            <a:chOff x="7245345" y="5466330"/>
            <a:chExt cx="1358542" cy="3996000"/>
          </a:xfrm>
        </p:grpSpPr>
        <p:sp>
          <p:nvSpPr>
            <p:cNvPr id="34" name="等腰三角形 9_46"/>
            <p:cNvSpPr/>
            <p:nvPr/>
          </p:nvSpPr>
          <p:spPr>
            <a:xfrm rot="10800000">
              <a:off x="7245345" y="6083882"/>
              <a:ext cx="1358542" cy="337844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35" name="椭圆 34"/>
            <p:cNvSpPr>
              <a:spLocks noChangeAspect="1"/>
            </p:cNvSpPr>
            <p:nvPr/>
          </p:nvSpPr>
          <p:spPr>
            <a:xfrm>
              <a:off x="7307066" y="5466330"/>
              <a:ext cx="1235103" cy="123510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39" name="PA_组合 138"/>
          <p:cNvGrpSpPr/>
          <p:nvPr>
            <p:custDataLst>
              <p:tags r:id="rId7"/>
            </p:custDataLst>
          </p:nvPr>
        </p:nvGrpSpPr>
        <p:grpSpPr>
          <a:xfrm>
            <a:off x="10200063" y="5538058"/>
            <a:ext cx="1077041" cy="3168000"/>
            <a:chOff x="10231003" y="6243686"/>
            <a:chExt cx="1077041" cy="3168000"/>
          </a:xfrm>
        </p:grpSpPr>
        <p:sp>
          <p:nvSpPr>
            <p:cNvPr id="25" name="等腰三角形 9"/>
            <p:cNvSpPr/>
            <p:nvPr/>
          </p:nvSpPr>
          <p:spPr>
            <a:xfrm rot="10800000">
              <a:off x="10231003" y="6733277"/>
              <a:ext cx="1077041" cy="267840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26" name="椭圆 25"/>
            <p:cNvSpPr>
              <a:spLocks noChangeAspect="1"/>
            </p:cNvSpPr>
            <p:nvPr/>
          </p:nvSpPr>
          <p:spPr>
            <a:xfrm>
              <a:off x="10279935" y="6243686"/>
              <a:ext cx="979179" cy="979182"/>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103" name="PA_文本框 18"/>
          <p:cNvSpPr txBox="1"/>
          <p:nvPr>
            <p:custDataLst>
              <p:tags r:id="rId8"/>
            </p:custDataLst>
          </p:nvPr>
        </p:nvSpPr>
        <p:spPr>
          <a:xfrm>
            <a:off x="3729109" y="3057600"/>
            <a:ext cx="5724644" cy="923330"/>
          </a:xfrm>
          <a:prstGeom prst="rect">
            <a:avLst/>
          </a:prstGeom>
          <a:noFill/>
          <a:effectLst/>
        </p:spPr>
        <p:txBody>
          <a:bodyPr wrap="none" rtlCol="0" anchor="b" anchorCtr="0">
            <a:spAutoFit/>
          </a:bodyPr>
          <a:lstStyle>
            <a:defPPr>
              <a:defRPr lang="zh-CN"/>
            </a:defPPr>
            <a:lvl1pPr>
              <a:defRPr sz="5400" b="1">
                <a:solidFill>
                  <a:srgbClr val="6BB2E1">
                    <a:lumMod val="75000"/>
                  </a:srgb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dirty="0">
                <a:solidFill>
                  <a:srgbClr val="009999"/>
                </a:solidFill>
                <a:latin typeface="Noto Sans S Chinese Medium" panose="020B0600000000000000" pitchFamily="34" charset="-122"/>
                <a:ea typeface="Noto Sans S Chinese Medium" panose="020B0600000000000000" pitchFamily="34" charset="-122"/>
                <a:sym typeface="+mn-lt"/>
              </a:rPr>
              <a:t>朴素贝叶斯分类器</a:t>
            </a:r>
          </a:p>
        </p:txBody>
      </p:sp>
      <p:sp>
        <p:nvSpPr>
          <p:cNvPr id="141" name="PA_文本框 140"/>
          <p:cNvSpPr txBox="1"/>
          <p:nvPr>
            <p:custDataLst>
              <p:tags r:id="rId9"/>
            </p:custDataLst>
          </p:nvPr>
        </p:nvSpPr>
        <p:spPr>
          <a:xfrm>
            <a:off x="986327" y="944000"/>
            <a:ext cx="2618024" cy="1200329"/>
          </a:xfrm>
          <a:prstGeom prst="rect">
            <a:avLst/>
          </a:prstGeom>
          <a:noFill/>
        </p:spPr>
        <p:txBody>
          <a:bodyPr wrap="none" rtlCol="0">
            <a:spAutoFit/>
          </a:bodyPr>
          <a:lstStyle/>
          <a:p>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第</a:t>
            </a:r>
            <a:r>
              <a:rPr lang="en-US" altLang="zh-CN"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5</a:t>
            </a:r>
            <a:r>
              <a:rPr lang="zh-CN" altLang="en-US" sz="7200" dirty="0">
                <a:solidFill>
                  <a:srgbClr val="009999"/>
                </a:solidFill>
                <a:latin typeface="Noto Sans S Chinese Medium" panose="020B0600000000000000" pitchFamily="34" charset="-122"/>
                <a:ea typeface="Noto Sans S Chinese Medium" panose="020B0600000000000000" pitchFamily="34" charset="-122"/>
                <a:cs typeface="+mn-ea"/>
                <a:sym typeface="+mn-lt"/>
              </a:rPr>
              <a:t>章</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任意多边形 52"/>
          <p:cNvSpPr/>
          <p:nvPr/>
        </p:nvSpPr>
        <p:spPr>
          <a:xfrm>
            <a:off x="-57150" y="5408413"/>
            <a:ext cx="12325350" cy="1330769"/>
          </a:xfrm>
          <a:custGeom>
            <a:avLst/>
            <a:gdLst>
              <a:gd name="connsiteX0" fmla="*/ 0 w 12325350"/>
              <a:gd name="connsiteY0" fmla="*/ 859037 h 1330769"/>
              <a:gd name="connsiteX1" fmla="*/ 323850 w 12325350"/>
              <a:gd name="connsiteY1" fmla="*/ 478037 h 1330769"/>
              <a:gd name="connsiteX2" fmla="*/ 638175 w 12325350"/>
              <a:gd name="connsiteY2" fmla="*/ 220862 h 1330769"/>
              <a:gd name="connsiteX3" fmla="*/ 895350 w 12325350"/>
              <a:gd name="connsiteY3" fmla="*/ 97037 h 1330769"/>
              <a:gd name="connsiteX4" fmla="*/ 1200150 w 12325350"/>
              <a:gd name="connsiteY4" fmla="*/ 135137 h 1330769"/>
              <a:gd name="connsiteX5" fmla="*/ 1419225 w 12325350"/>
              <a:gd name="connsiteY5" fmla="*/ 306587 h 1330769"/>
              <a:gd name="connsiteX6" fmla="*/ 1800225 w 12325350"/>
              <a:gd name="connsiteY6" fmla="*/ 754262 h 1330769"/>
              <a:gd name="connsiteX7" fmla="*/ 2105025 w 12325350"/>
              <a:gd name="connsiteY7" fmla="*/ 1040012 h 1330769"/>
              <a:gd name="connsiteX8" fmla="*/ 2305050 w 12325350"/>
              <a:gd name="connsiteY8" fmla="*/ 1173362 h 1330769"/>
              <a:gd name="connsiteX9" fmla="*/ 2533650 w 12325350"/>
              <a:gd name="connsiteY9" fmla="*/ 1240037 h 1330769"/>
              <a:gd name="connsiteX10" fmla="*/ 3000375 w 12325350"/>
              <a:gd name="connsiteY10" fmla="*/ 1173362 h 1330769"/>
              <a:gd name="connsiteX11" fmla="*/ 3914775 w 12325350"/>
              <a:gd name="connsiteY11" fmla="*/ 639962 h 1330769"/>
              <a:gd name="connsiteX12" fmla="*/ 4629150 w 12325350"/>
              <a:gd name="connsiteY12" fmla="*/ 230387 h 1330769"/>
              <a:gd name="connsiteX13" fmla="*/ 5124450 w 12325350"/>
              <a:gd name="connsiteY13" fmla="*/ 58937 h 1330769"/>
              <a:gd name="connsiteX14" fmla="*/ 5495925 w 12325350"/>
              <a:gd name="connsiteY14" fmla="*/ 30362 h 1330769"/>
              <a:gd name="connsiteX15" fmla="*/ 6181725 w 12325350"/>
              <a:gd name="connsiteY15" fmla="*/ 468512 h 1330769"/>
              <a:gd name="connsiteX16" fmla="*/ 6781800 w 12325350"/>
              <a:gd name="connsiteY16" fmla="*/ 1154312 h 1330769"/>
              <a:gd name="connsiteX17" fmla="*/ 7191375 w 12325350"/>
              <a:gd name="connsiteY17" fmla="*/ 1325762 h 1330769"/>
              <a:gd name="connsiteX18" fmla="*/ 7648575 w 12325350"/>
              <a:gd name="connsiteY18" fmla="*/ 1020962 h 1330769"/>
              <a:gd name="connsiteX19" fmla="*/ 8181975 w 12325350"/>
              <a:gd name="connsiteY19" fmla="*/ 316112 h 1330769"/>
              <a:gd name="connsiteX20" fmla="*/ 8505825 w 12325350"/>
              <a:gd name="connsiteY20" fmla="*/ 68462 h 1330769"/>
              <a:gd name="connsiteX21" fmla="*/ 8848725 w 12325350"/>
              <a:gd name="connsiteY21" fmla="*/ 163712 h 1330769"/>
              <a:gd name="connsiteX22" fmla="*/ 9391650 w 12325350"/>
              <a:gd name="connsiteY22" fmla="*/ 782837 h 1330769"/>
              <a:gd name="connsiteX23" fmla="*/ 9839325 w 12325350"/>
              <a:gd name="connsiteY23" fmla="*/ 1230512 h 1330769"/>
              <a:gd name="connsiteX24" fmla="*/ 10267950 w 12325350"/>
              <a:gd name="connsiteY24" fmla="*/ 1240037 h 1330769"/>
              <a:gd name="connsiteX25" fmla="*/ 10839450 w 12325350"/>
              <a:gd name="connsiteY25" fmla="*/ 782837 h 1330769"/>
              <a:gd name="connsiteX26" fmla="*/ 11153775 w 12325350"/>
              <a:gd name="connsiteY26" fmla="*/ 487562 h 1330769"/>
              <a:gd name="connsiteX27" fmla="*/ 11563350 w 12325350"/>
              <a:gd name="connsiteY27" fmla="*/ 354212 h 1330769"/>
              <a:gd name="connsiteX28" fmla="*/ 11896725 w 12325350"/>
              <a:gd name="connsiteY28" fmla="*/ 439937 h 1330769"/>
              <a:gd name="connsiteX29" fmla="*/ 12325350 w 12325350"/>
              <a:gd name="connsiteY29" fmla="*/ 763787 h 1330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2325350" h="1330769">
                <a:moveTo>
                  <a:pt x="0" y="859037"/>
                </a:moveTo>
                <a:cubicBezTo>
                  <a:pt x="108744" y="721718"/>
                  <a:pt x="217488" y="584399"/>
                  <a:pt x="323850" y="478037"/>
                </a:cubicBezTo>
                <a:cubicBezTo>
                  <a:pt x="430212" y="371675"/>
                  <a:pt x="542925" y="284362"/>
                  <a:pt x="638175" y="220862"/>
                </a:cubicBezTo>
                <a:cubicBezTo>
                  <a:pt x="733425" y="157362"/>
                  <a:pt x="801688" y="111324"/>
                  <a:pt x="895350" y="97037"/>
                </a:cubicBezTo>
                <a:cubicBezTo>
                  <a:pt x="989012" y="82750"/>
                  <a:pt x="1112838" y="100212"/>
                  <a:pt x="1200150" y="135137"/>
                </a:cubicBezTo>
                <a:cubicBezTo>
                  <a:pt x="1287462" y="170062"/>
                  <a:pt x="1319213" y="203400"/>
                  <a:pt x="1419225" y="306587"/>
                </a:cubicBezTo>
                <a:cubicBezTo>
                  <a:pt x="1519237" y="409774"/>
                  <a:pt x="1685925" y="632025"/>
                  <a:pt x="1800225" y="754262"/>
                </a:cubicBezTo>
                <a:cubicBezTo>
                  <a:pt x="1914525" y="876499"/>
                  <a:pt x="2020888" y="970162"/>
                  <a:pt x="2105025" y="1040012"/>
                </a:cubicBezTo>
                <a:cubicBezTo>
                  <a:pt x="2189163" y="1109862"/>
                  <a:pt x="2233613" y="1140025"/>
                  <a:pt x="2305050" y="1173362"/>
                </a:cubicBezTo>
                <a:cubicBezTo>
                  <a:pt x="2376487" y="1206699"/>
                  <a:pt x="2417763" y="1240037"/>
                  <a:pt x="2533650" y="1240037"/>
                </a:cubicBezTo>
                <a:cubicBezTo>
                  <a:pt x="2649537" y="1240037"/>
                  <a:pt x="2770188" y="1273374"/>
                  <a:pt x="3000375" y="1173362"/>
                </a:cubicBezTo>
                <a:cubicBezTo>
                  <a:pt x="3230562" y="1073350"/>
                  <a:pt x="3914775" y="639962"/>
                  <a:pt x="3914775" y="639962"/>
                </a:cubicBezTo>
                <a:cubicBezTo>
                  <a:pt x="4186238" y="482799"/>
                  <a:pt x="4427538" y="327224"/>
                  <a:pt x="4629150" y="230387"/>
                </a:cubicBezTo>
                <a:cubicBezTo>
                  <a:pt x="4830763" y="133549"/>
                  <a:pt x="4979988" y="92274"/>
                  <a:pt x="5124450" y="58937"/>
                </a:cubicBezTo>
                <a:cubicBezTo>
                  <a:pt x="5268913" y="25599"/>
                  <a:pt x="5319713" y="-37900"/>
                  <a:pt x="5495925" y="30362"/>
                </a:cubicBezTo>
                <a:cubicBezTo>
                  <a:pt x="5672137" y="98624"/>
                  <a:pt x="5967412" y="281187"/>
                  <a:pt x="6181725" y="468512"/>
                </a:cubicBezTo>
                <a:cubicBezTo>
                  <a:pt x="6396038" y="655837"/>
                  <a:pt x="6613525" y="1011437"/>
                  <a:pt x="6781800" y="1154312"/>
                </a:cubicBezTo>
                <a:cubicBezTo>
                  <a:pt x="6950075" y="1297187"/>
                  <a:pt x="7046913" y="1347987"/>
                  <a:pt x="7191375" y="1325762"/>
                </a:cubicBezTo>
                <a:cubicBezTo>
                  <a:pt x="7335837" y="1303537"/>
                  <a:pt x="7483475" y="1189237"/>
                  <a:pt x="7648575" y="1020962"/>
                </a:cubicBezTo>
                <a:cubicBezTo>
                  <a:pt x="7813675" y="852687"/>
                  <a:pt x="8039100" y="474862"/>
                  <a:pt x="8181975" y="316112"/>
                </a:cubicBezTo>
                <a:cubicBezTo>
                  <a:pt x="8324850" y="157362"/>
                  <a:pt x="8394700" y="93862"/>
                  <a:pt x="8505825" y="68462"/>
                </a:cubicBezTo>
                <a:cubicBezTo>
                  <a:pt x="8616950" y="43062"/>
                  <a:pt x="8701087" y="44649"/>
                  <a:pt x="8848725" y="163712"/>
                </a:cubicBezTo>
                <a:cubicBezTo>
                  <a:pt x="8996363" y="282775"/>
                  <a:pt x="9226550" y="605037"/>
                  <a:pt x="9391650" y="782837"/>
                </a:cubicBezTo>
                <a:cubicBezTo>
                  <a:pt x="9556750" y="960637"/>
                  <a:pt x="9693275" y="1154312"/>
                  <a:pt x="9839325" y="1230512"/>
                </a:cubicBezTo>
                <a:cubicBezTo>
                  <a:pt x="9985375" y="1306712"/>
                  <a:pt x="10101263" y="1314649"/>
                  <a:pt x="10267950" y="1240037"/>
                </a:cubicBezTo>
                <a:cubicBezTo>
                  <a:pt x="10434637" y="1165425"/>
                  <a:pt x="10691813" y="908249"/>
                  <a:pt x="10839450" y="782837"/>
                </a:cubicBezTo>
                <a:cubicBezTo>
                  <a:pt x="10987087" y="657425"/>
                  <a:pt x="11033125" y="558999"/>
                  <a:pt x="11153775" y="487562"/>
                </a:cubicBezTo>
                <a:cubicBezTo>
                  <a:pt x="11274425" y="416125"/>
                  <a:pt x="11439525" y="362149"/>
                  <a:pt x="11563350" y="354212"/>
                </a:cubicBezTo>
                <a:cubicBezTo>
                  <a:pt x="11687175" y="346274"/>
                  <a:pt x="11769725" y="371674"/>
                  <a:pt x="11896725" y="439937"/>
                </a:cubicBezTo>
                <a:cubicBezTo>
                  <a:pt x="12023725" y="508199"/>
                  <a:pt x="12174537" y="635993"/>
                  <a:pt x="12325350" y="763787"/>
                </a:cubicBezTo>
              </a:path>
            </a:pathLst>
          </a:custGeom>
          <a:noFill/>
          <a:ln w="25400" cap="rnd" cmpd="sng" algn="ctr">
            <a:solidFill>
              <a:srgbClr val="7C7C7C"/>
            </a:solidFill>
            <a:prstDash val="dash"/>
            <a:miter lim="800000"/>
          </a:ln>
          <a:effectLst/>
        </p:spPr>
        <p:txBody>
          <a:bodyPr rtlCol="0" anchor="ctr"/>
          <a:lstStyle/>
          <a:p>
            <a:pPr algn="ctr"/>
            <a:endParaRPr lang="zh-CN" altLang="en-US" kern="0">
              <a:solidFill>
                <a:prstClr val="white"/>
              </a:solidFill>
              <a:cs typeface="+mn-ea"/>
              <a:sym typeface="+mn-lt"/>
            </a:endParaRPr>
          </a:p>
        </p:txBody>
      </p:sp>
      <p:grpSp>
        <p:nvGrpSpPr>
          <p:cNvPr id="2" name="组合 1"/>
          <p:cNvGrpSpPr/>
          <p:nvPr/>
        </p:nvGrpSpPr>
        <p:grpSpPr>
          <a:xfrm>
            <a:off x="466871" y="5167055"/>
            <a:ext cx="1008000" cy="2936689"/>
            <a:chOff x="466871" y="5154355"/>
            <a:chExt cx="1008000" cy="2936689"/>
          </a:xfrm>
        </p:grpSpPr>
        <p:sp>
          <p:nvSpPr>
            <p:cNvPr id="48" name="等腰三角形 9"/>
            <p:cNvSpPr/>
            <p:nvPr/>
          </p:nvSpPr>
          <p:spPr>
            <a:xfrm rot="10800000">
              <a:off x="466871" y="5608198"/>
              <a:ext cx="1008000" cy="248284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49" name="椭圆 48"/>
            <p:cNvSpPr>
              <a:spLocks noChangeAspect="1"/>
            </p:cNvSpPr>
            <p:nvPr/>
          </p:nvSpPr>
          <p:spPr>
            <a:xfrm>
              <a:off x="517029" y="5154355"/>
              <a:ext cx="907686" cy="907687"/>
            </a:xfrm>
            <a:prstGeom prst="ellipse">
              <a:avLst/>
            </a:prstGeom>
            <a:gradFill>
              <a:gsLst>
                <a:gs pos="0">
                  <a:schemeClr val="bg1"/>
                </a:gs>
                <a:gs pos="60000">
                  <a:schemeClr val="bg2"/>
                </a:gs>
                <a:gs pos="100000">
                  <a:schemeClr val="bg1">
                    <a:lumMod val="85000"/>
                  </a:schemeClr>
                </a:gs>
              </a:gsLst>
              <a:lin ang="5400000" scaled="1"/>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p:nvPr/>
        </p:nvGrpSpPr>
        <p:grpSpPr>
          <a:xfrm>
            <a:off x="1745295" y="6092326"/>
            <a:ext cx="741401" cy="2160000"/>
            <a:chOff x="1770695" y="6092326"/>
            <a:chExt cx="741401" cy="2160000"/>
          </a:xfrm>
        </p:grpSpPr>
        <p:sp>
          <p:nvSpPr>
            <p:cNvPr id="51" name="等腰三角形 9"/>
            <p:cNvSpPr/>
            <p:nvPr/>
          </p:nvSpPr>
          <p:spPr>
            <a:xfrm rot="10800000">
              <a:off x="1770695" y="6426137"/>
              <a:ext cx="741401" cy="1826189"/>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2" name="椭圆 51"/>
            <p:cNvSpPr>
              <a:spLocks noChangeAspect="1"/>
            </p:cNvSpPr>
            <p:nvPr/>
          </p:nvSpPr>
          <p:spPr>
            <a:xfrm>
              <a:off x="1807586" y="6092326"/>
              <a:ext cx="669600" cy="669605"/>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5" name="组合 4"/>
          <p:cNvGrpSpPr/>
          <p:nvPr/>
        </p:nvGrpSpPr>
        <p:grpSpPr>
          <a:xfrm>
            <a:off x="3127820" y="6074100"/>
            <a:ext cx="605980" cy="1656000"/>
            <a:chOff x="3127820" y="6086800"/>
            <a:chExt cx="605980" cy="1656000"/>
          </a:xfrm>
        </p:grpSpPr>
        <p:sp>
          <p:nvSpPr>
            <p:cNvPr id="76" name="等腰三角形 9"/>
            <p:cNvSpPr/>
            <p:nvPr/>
          </p:nvSpPr>
          <p:spPr>
            <a:xfrm rot="10800000">
              <a:off x="3127820" y="6342722"/>
              <a:ext cx="605980" cy="1400078"/>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77" name="椭圆 76"/>
            <p:cNvSpPr>
              <a:spLocks noChangeAspect="1"/>
            </p:cNvSpPr>
            <p:nvPr/>
          </p:nvSpPr>
          <p:spPr>
            <a:xfrm>
              <a:off x="3174892" y="6086800"/>
              <a:ext cx="513356" cy="513364"/>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6" name="组合 5"/>
          <p:cNvGrpSpPr/>
          <p:nvPr/>
        </p:nvGrpSpPr>
        <p:grpSpPr>
          <a:xfrm>
            <a:off x="4391843" y="4928253"/>
            <a:ext cx="864000" cy="2517173"/>
            <a:chOff x="4445045" y="5208858"/>
            <a:chExt cx="864000" cy="2517173"/>
          </a:xfrm>
        </p:grpSpPr>
        <p:sp>
          <p:nvSpPr>
            <p:cNvPr id="79" name="等腰三角形 9"/>
            <p:cNvSpPr/>
            <p:nvPr/>
          </p:nvSpPr>
          <p:spPr>
            <a:xfrm rot="10800000">
              <a:off x="4445045" y="5597868"/>
              <a:ext cx="864000" cy="2128163"/>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0" name="椭圆 79"/>
            <p:cNvSpPr>
              <a:spLocks noChangeAspect="1"/>
            </p:cNvSpPr>
            <p:nvPr/>
          </p:nvSpPr>
          <p:spPr>
            <a:xfrm>
              <a:off x="4488037" y="5208858"/>
              <a:ext cx="780326" cy="780329"/>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7" name="组合 6"/>
          <p:cNvGrpSpPr/>
          <p:nvPr/>
        </p:nvGrpSpPr>
        <p:grpSpPr>
          <a:xfrm>
            <a:off x="5845726" y="5660469"/>
            <a:ext cx="1037968" cy="3024000"/>
            <a:chOff x="5845726" y="5660469"/>
            <a:chExt cx="1037968" cy="3024000"/>
          </a:xfrm>
        </p:grpSpPr>
        <p:sp>
          <p:nvSpPr>
            <p:cNvPr id="82" name="等腰三角形 9"/>
            <p:cNvSpPr/>
            <p:nvPr/>
          </p:nvSpPr>
          <p:spPr>
            <a:xfrm rot="10800000">
              <a:off x="5845726" y="6127805"/>
              <a:ext cx="1037968" cy="255666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3" name="椭圆 82"/>
            <p:cNvSpPr>
              <a:spLocks noChangeAspect="1"/>
            </p:cNvSpPr>
            <p:nvPr/>
          </p:nvSpPr>
          <p:spPr>
            <a:xfrm>
              <a:off x="5897374" y="5660469"/>
              <a:ext cx="937446" cy="937447"/>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8" name="组合 7"/>
          <p:cNvGrpSpPr/>
          <p:nvPr/>
        </p:nvGrpSpPr>
        <p:grpSpPr>
          <a:xfrm>
            <a:off x="8682069" y="5544686"/>
            <a:ext cx="654812" cy="1783018"/>
            <a:chOff x="8682069" y="5557386"/>
            <a:chExt cx="654812" cy="1783018"/>
          </a:xfrm>
        </p:grpSpPr>
        <p:sp>
          <p:nvSpPr>
            <p:cNvPr id="85" name="等腰三角形 9"/>
            <p:cNvSpPr/>
            <p:nvPr/>
          </p:nvSpPr>
          <p:spPr>
            <a:xfrm rot="10800000">
              <a:off x="8682069" y="5832938"/>
              <a:ext cx="654812" cy="150746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6" name="椭圆 85"/>
            <p:cNvSpPr>
              <a:spLocks noChangeAspect="1"/>
            </p:cNvSpPr>
            <p:nvPr/>
          </p:nvSpPr>
          <p:spPr>
            <a:xfrm>
              <a:off x="8733927" y="5557386"/>
              <a:ext cx="552731" cy="55274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1" name="组合 30"/>
          <p:cNvGrpSpPr/>
          <p:nvPr/>
        </p:nvGrpSpPr>
        <p:grpSpPr>
          <a:xfrm>
            <a:off x="11330422" y="5471913"/>
            <a:ext cx="716685" cy="2088000"/>
            <a:chOff x="11330422" y="5408413"/>
            <a:chExt cx="716685" cy="2088000"/>
          </a:xfrm>
        </p:grpSpPr>
        <p:sp>
          <p:nvSpPr>
            <p:cNvPr id="88" name="等腰三角形 9"/>
            <p:cNvSpPr/>
            <p:nvPr/>
          </p:nvSpPr>
          <p:spPr>
            <a:xfrm rot="10800000">
              <a:off x="11330422" y="5731097"/>
              <a:ext cx="716685" cy="1765316"/>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10000"/>
                  </a:srgbClr>
                </a:gs>
                <a:gs pos="50000">
                  <a:srgbClr val="000000">
                    <a:alpha val="5000"/>
                  </a:srgbClr>
                </a:gs>
                <a:gs pos="30000">
                  <a:schemeClr val="tx1">
                    <a:alpha val="0"/>
                  </a:schemeClr>
                </a:gs>
                <a:gs pos="100000">
                  <a:schemeClr val="tx1">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9" name="椭圆 88"/>
            <p:cNvSpPr>
              <a:spLocks noChangeAspect="1"/>
            </p:cNvSpPr>
            <p:nvPr/>
          </p:nvSpPr>
          <p:spPr>
            <a:xfrm>
              <a:off x="11366083" y="5408413"/>
              <a:ext cx="647278" cy="647285"/>
            </a:xfrm>
            <a:prstGeom prst="ellipse">
              <a:avLst/>
            </a:prstGeom>
            <a:gradFill>
              <a:gsLst>
                <a:gs pos="0">
                  <a:schemeClr val="accent4">
                    <a:lumMod val="20000"/>
                    <a:lumOff val="80000"/>
                  </a:schemeClr>
                </a:gs>
                <a:gs pos="60000">
                  <a:srgbClr val="009999"/>
                </a:gs>
                <a:gs pos="100000">
                  <a:srgbClr val="009999"/>
                </a:gs>
              </a:gsLst>
              <a:lin ang="5400000" scaled="1"/>
            </a:gradFill>
            <a:ln w="25400">
              <a:noFill/>
            </a:ln>
            <a:effectLst>
              <a:outerShdw blurRad="1270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91" name="文本框 90"/>
          <p:cNvSpPr txBox="1"/>
          <p:nvPr/>
        </p:nvSpPr>
        <p:spPr>
          <a:xfrm>
            <a:off x="-52613" y="96296"/>
            <a:ext cx="2954655" cy="923330"/>
          </a:xfrm>
          <a:prstGeom prst="rect">
            <a:avLst/>
          </a:prstGeom>
          <a:noFill/>
        </p:spPr>
        <p:txBody>
          <a:bodyPr wrap="none" rtlCol="0">
            <a:spAutoFit/>
          </a:bodyPr>
          <a:lstStyle/>
          <a:p>
            <a:r>
              <a:rPr lang="zh-CN" altLang="en-US" sz="5400" dirty="0">
                <a:solidFill>
                  <a:srgbClr val="000000">
                    <a:lumMod val="75000"/>
                    <a:lumOff val="25000"/>
                  </a:srgbClr>
                </a:solidFill>
                <a:effectLst>
                  <a:reflection blurRad="12700" stA="40000" endPos="40000" dist="12700" dir="5400000" sy="-100000" algn="bl" rotWithShape="0"/>
                </a:effectLst>
                <a:latin typeface="Noto Sans S Chinese Medium" panose="020B0600000000000000" pitchFamily="34" charset="-122"/>
                <a:ea typeface="Noto Sans S Chinese Medium" panose="020B0600000000000000" pitchFamily="34" charset="-122"/>
                <a:cs typeface="+mn-ea"/>
                <a:sym typeface="+mn-lt"/>
              </a:rPr>
              <a:t>本章内容</a:t>
            </a:r>
          </a:p>
        </p:txBody>
      </p:sp>
      <p:grpSp>
        <p:nvGrpSpPr>
          <p:cNvPr id="4" name="组合 3"/>
          <p:cNvGrpSpPr/>
          <p:nvPr/>
        </p:nvGrpSpPr>
        <p:grpSpPr>
          <a:xfrm>
            <a:off x="1566019" y="1541588"/>
            <a:ext cx="2490140" cy="584775"/>
            <a:chOff x="2152071" y="2425583"/>
            <a:chExt cx="2490140" cy="584775"/>
          </a:xfrm>
        </p:grpSpPr>
        <p:sp>
          <p:nvSpPr>
            <p:cNvPr id="13" name="椭圆 12"/>
            <p:cNvSpPr>
              <a:spLocks noChangeAspect="1"/>
            </p:cNvSpPr>
            <p:nvPr/>
          </p:nvSpPr>
          <p:spPr>
            <a:xfrm>
              <a:off x="2152071" y="2434358"/>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1</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15" name="文本框 14"/>
            <p:cNvSpPr txBox="1"/>
            <p:nvPr/>
          </p:nvSpPr>
          <p:spPr>
            <a:xfrm>
              <a:off x="2816070" y="2425583"/>
              <a:ext cx="1826141" cy="584775"/>
            </a:xfrm>
            <a:prstGeom prst="rect">
              <a:avLst/>
            </a:prstGeom>
            <a:noFill/>
          </p:spPr>
          <p:txBody>
            <a:bodyPr wrap="none" rtlCol="0">
              <a:spAutoFit/>
            </a:bodyPr>
            <a:lstStyle>
              <a:defPPr>
                <a:defRPr lang="zh-CN"/>
              </a:defPPr>
              <a:lvl1pPr>
                <a:defRPr sz="2800">
                  <a:solidFill>
                    <a:schemeClr val="tx1">
                      <a:lumMod val="75000"/>
                      <a:lumOff val="25000"/>
                    </a:schemeClr>
                  </a:solidFill>
                  <a:cs typeface="+mn-ea"/>
                </a:defRPr>
              </a:lvl1pPr>
            </a:lstStyle>
            <a:p>
              <a:r>
                <a:rPr lang="zh-CN" altLang="en-US" sz="3200" dirty="0">
                  <a:latin typeface="Noto Sans S Chinese Medium" panose="020B0600000000000000" pitchFamily="34" charset="-122"/>
                  <a:ea typeface="Noto Sans S Chinese Medium" panose="020B0600000000000000" pitchFamily="34" charset="-122"/>
                  <a:sym typeface="+mn-lt"/>
                </a:rPr>
                <a:t>算法概述</a:t>
              </a:r>
              <a:endParaRPr lang="en-US" altLang="zh-CN" sz="3200" dirty="0">
                <a:latin typeface="Noto Sans S Chinese Medium" panose="020B0600000000000000" pitchFamily="34" charset="-122"/>
                <a:ea typeface="Noto Sans S Chinese Medium" panose="020B0600000000000000" pitchFamily="34" charset="-122"/>
                <a:sym typeface="+mn-lt"/>
              </a:endParaRPr>
            </a:p>
          </p:txBody>
        </p:sp>
      </p:grpSp>
      <p:grpSp>
        <p:nvGrpSpPr>
          <p:cNvPr id="9" name="组合 8"/>
          <p:cNvGrpSpPr/>
          <p:nvPr/>
        </p:nvGrpSpPr>
        <p:grpSpPr>
          <a:xfrm>
            <a:off x="1566019" y="2745092"/>
            <a:ext cx="3806680" cy="584776"/>
            <a:chOff x="6566362" y="2425582"/>
            <a:chExt cx="3806680" cy="584776"/>
          </a:xfrm>
        </p:grpSpPr>
        <p:sp>
          <p:nvSpPr>
            <p:cNvPr id="19" name="椭圆 18"/>
            <p:cNvSpPr>
              <a:spLocks noChangeAspect="1"/>
            </p:cNvSpPr>
            <p:nvPr/>
          </p:nvSpPr>
          <p:spPr>
            <a:xfrm>
              <a:off x="6566362" y="2434358"/>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2</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21" name="文本框 20"/>
            <p:cNvSpPr txBox="1"/>
            <p:nvPr/>
          </p:nvSpPr>
          <p:spPr>
            <a:xfrm>
              <a:off x="7315795" y="2425582"/>
              <a:ext cx="3057247"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算法流程与实现</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grpSp>
      <p:sp>
        <p:nvSpPr>
          <p:cNvPr id="24" name="椭圆 23"/>
          <p:cNvSpPr>
            <a:spLocks noChangeAspect="1"/>
          </p:cNvSpPr>
          <p:nvPr/>
        </p:nvSpPr>
        <p:spPr>
          <a:xfrm>
            <a:off x="1564583" y="4003957"/>
            <a:ext cx="576000" cy="576000"/>
          </a:xfrm>
          <a:prstGeom prst="ellipse">
            <a:avLst/>
          </a:prstGeom>
          <a:noFill/>
          <a:ln w="63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rPr>
              <a:t>3</a:t>
            </a:r>
            <a:endParaRPr lang="zh-CN" altLang="en-US" sz="2800" dirty="0">
              <a:solidFill>
                <a:srgbClr val="000000">
                  <a:lumMod val="65000"/>
                  <a:lumOff val="35000"/>
                </a:srgbClr>
              </a:solidFill>
              <a:latin typeface="Noto Sans S Chinese Medium" panose="020B0600000000000000" pitchFamily="34" charset="-122"/>
              <a:ea typeface="Noto Sans S Chinese Medium" panose="020B0600000000000000" pitchFamily="34" charset="-122"/>
              <a:cs typeface="+mn-ea"/>
              <a:sym typeface="+mn-lt"/>
            </a:endParaRPr>
          </a:p>
        </p:txBody>
      </p:sp>
      <p:sp>
        <p:nvSpPr>
          <p:cNvPr id="96" name="文本框 95"/>
          <p:cNvSpPr txBox="1"/>
          <p:nvPr/>
        </p:nvSpPr>
        <p:spPr>
          <a:xfrm>
            <a:off x="2286721" y="4013780"/>
            <a:ext cx="1826141" cy="584775"/>
          </a:xfrm>
          <a:prstGeom prst="rect">
            <a:avLst/>
          </a:prstGeom>
          <a:noFill/>
        </p:spPr>
        <p:txBody>
          <a:bodyPr wrap="none" rtlCol="0">
            <a:spAutoFit/>
          </a:bodyPr>
          <a:lstStyle/>
          <a:p>
            <a:r>
              <a:rPr lang="zh-CN" altLang="en-US"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rPr>
              <a:t>算法应用</a:t>
            </a:r>
            <a:endParaRPr lang="en-US" altLang="zh-CN" sz="3200" dirty="0">
              <a:solidFill>
                <a:schemeClr val="tx1">
                  <a:lumMod val="75000"/>
                  <a:lumOff val="25000"/>
                </a:schemeClr>
              </a:solidFill>
              <a:latin typeface="Noto Sans S Chinese Medium" panose="020B0600000000000000" pitchFamily="34" charset="-122"/>
              <a:ea typeface="Noto Sans S Chinese Medium" panose="020B0600000000000000" pitchFamily="34" charset="-122"/>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01</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算法概述</a:t>
            </a: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316107" y="3574248"/>
            <a:ext cx="4428043" cy="584775"/>
          </a:xfrm>
          <a:prstGeom prst="rect">
            <a:avLst/>
          </a:prstGeom>
          <a:noFill/>
        </p:spPr>
        <p:txBody>
          <a:bodyPr wrap="square" rtlCol="0">
            <a:spAutoFit/>
          </a:bodyPr>
          <a:lstStyle/>
          <a:p>
            <a:pPr algn="ctr"/>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Overview</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 y="-1"/>
            <a:ext cx="12192001" cy="685800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524000" y="777240"/>
            <a:ext cx="9753601" cy="5486400"/>
          </a:xfrm>
          <a:prstGeom prst="rect">
            <a:avLst/>
          </a:prstGeom>
        </p:spPr>
      </p:pic>
      <p:pic>
        <p:nvPicPr>
          <p:cNvPr id="9218" name="Picture 2" descr="贝叶斯"/>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895" y="1422400"/>
            <a:ext cx="2029460" cy="2387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0"/>
            <a:ext cx="12187828"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1"/>
            <a:ext cx="12225308" cy="685800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0" y="0"/>
            <a:ext cx="12192000" cy="683538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朴素贝叶斯算法概述</a:t>
            </a:r>
          </a:p>
        </p:txBody>
      </p:sp>
      <p:sp>
        <p:nvSpPr>
          <p:cNvPr id="3" name="文本框 2"/>
          <p:cNvSpPr txBox="1"/>
          <p:nvPr/>
        </p:nvSpPr>
        <p:spPr>
          <a:xfrm>
            <a:off x="560470" y="1333363"/>
            <a:ext cx="11043139" cy="3415030"/>
          </a:xfrm>
          <a:prstGeom prst="rect">
            <a:avLst/>
          </a:prstGeom>
          <a:noFill/>
        </p:spPr>
        <p:txBody>
          <a:bodyPr wrap="square" rtlCol="0">
            <a:spAutoFit/>
          </a:bodyPr>
          <a:lstStyle/>
          <a:p>
            <a:pPr marL="457200" indent="-457200" latinLnBrk="1">
              <a:lnSpc>
                <a:spcPct val="150000"/>
              </a:lnSpc>
              <a:buFont typeface="Wingdings" panose="05000000000000000000" pitchFamily="2" charset="2"/>
              <a:buChar char="Ø"/>
            </a:pPr>
            <a:r>
              <a:rPr lang="zh-CN" altLang="en-US" sz="2400" dirty="0">
                <a:latin typeface="Times New Roman" panose="02020603050405020304" pitchFamily="18" charset="0"/>
                <a:cs typeface="Times New Roman" panose="02020603050405020304" pitchFamily="18" charset="0"/>
              </a:rPr>
              <a:t>朴素贝叶斯算法是经典的机器学习算法之一，也是为数不多的基于</a:t>
            </a:r>
            <a:r>
              <a:rPr lang="zh-CN" altLang="en-US" sz="2400" b="1" dirty="0">
                <a:latin typeface="Times New Roman" panose="02020603050405020304" pitchFamily="18" charset="0"/>
                <a:cs typeface="Times New Roman" panose="02020603050405020304" pitchFamily="18" charset="0"/>
              </a:rPr>
              <a:t>概率论</a:t>
            </a:r>
            <a:r>
              <a:rPr lang="zh-CN" altLang="en-US" sz="2400" dirty="0">
                <a:latin typeface="Times New Roman" panose="02020603050405020304" pitchFamily="18" charset="0"/>
                <a:cs typeface="Times New Roman" panose="02020603050405020304" pitchFamily="18" charset="0"/>
              </a:rPr>
              <a:t>的分类算法，即通过考虑特征概率来预测分类。</a:t>
            </a:r>
            <a:endParaRPr lang="en-US" altLang="zh-CN" sz="2400" dirty="0">
              <a:latin typeface="Times New Roman" panose="02020603050405020304" pitchFamily="18" charset="0"/>
              <a:cs typeface="Times New Roman" panose="02020603050405020304" pitchFamily="18" charset="0"/>
            </a:endParaRPr>
          </a:p>
          <a:p>
            <a:pPr marL="457200" indent="-457200" latinLnBrk="1">
              <a:lnSpc>
                <a:spcPct val="150000"/>
              </a:lnSpc>
              <a:buFont typeface="Wingdings" panose="05000000000000000000" pitchFamily="2" charset="2"/>
              <a:buChar char="Ø"/>
            </a:pPr>
            <a:r>
              <a:rPr lang="zh-CN" altLang="en-US" sz="2400" dirty="0">
                <a:latin typeface="Times New Roman" panose="02020603050405020304" pitchFamily="18" charset="0"/>
                <a:cs typeface="Times New Roman" panose="02020603050405020304" pitchFamily="18" charset="0"/>
              </a:rPr>
              <a:t>该算法采用了“</a:t>
            </a:r>
            <a:r>
              <a:rPr lang="zh-CN" altLang="en-US" sz="2400" b="1" dirty="0">
                <a:latin typeface="Times New Roman" panose="02020603050405020304" pitchFamily="18" charset="0"/>
                <a:cs typeface="Times New Roman" panose="02020603050405020304" pitchFamily="18" charset="0"/>
              </a:rPr>
              <a:t>特征属性独立性假设</a:t>
            </a:r>
            <a:r>
              <a:rPr lang="zh-CN" altLang="en-US" sz="2400" dirty="0">
                <a:latin typeface="Times New Roman" panose="02020603050405020304" pitchFamily="18" charset="0"/>
                <a:cs typeface="Times New Roman" panose="02020603050405020304" pitchFamily="18" charset="0"/>
              </a:rPr>
              <a:t>”的方法，即对已知类别，假设所有特征属性相互独立。换言之，假设每个特征属性独立地对分类结果发生影响。</a:t>
            </a:r>
            <a:endParaRPr lang="en-US" altLang="zh-CN" sz="2400" dirty="0">
              <a:latin typeface="Times New Roman" panose="02020603050405020304" pitchFamily="18" charset="0"/>
              <a:cs typeface="Times New Roman" panose="02020603050405020304" pitchFamily="18" charset="0"/>
            </a:endParaRPr>
          </a:p>
          <a:p>
            <a:pPr marL="457200" indent="-457200" latinLnBrk="1">
              <a:lnSpc>
                <a:spcPct val="150000"/>
              </a:lnSpc>
              <a:buFont typeface="Wingdings" panose="05000000000000000000" pitchFamily="2" charset="2"/>
              <a:buChar char="Ø"/>
            </a:pPr>
            <a:r>
              <a:rPr lang="zh-CN" altLang="en-US" sz="2400" dirty="0">
                <a:latin typeface="Times New Roman" panose="02020603050405020304" pitchFamily="18" charset="0"/>
                <a:cs typeface="Times New Roman" panose="02020603050405020304" pitchFamily="18" charset="0"/>
              </a:rPr>
              <a:t>朴素贝叶斯算法是基于</a:t>
            </a:r>
            <a:r>
              <a:rPr lang="zh-CN" altLang="en-US" sz="2400" b="1" dirty="0">
                <a:latin typeface="Times New Roman" panose="02020603050405020304" pitchFamily="18" charset="0"/>
                <a:cs typeface="Times New Roman" panose="02020603050405020304" pitchFamily="18" charset="0"/>
              </a:rPr>
              <a:t>贝叶斯定理</a:t>
            </a:r>
            <a:r>
              <a:rPr lang="zh-CN" altLang="en-US" sz="2400" dirty="0">
                <a:latin typeface="Times New Roman" panose="02020603050405020304" pitchFamily="18" charset="0"/>
                <a:cs typeface="Times New Roman" panose="02020603050405020304" pitchFamily="18" charset="0"/>
              </a:rPr>
              <a:t>与</a:t>
            </a:r>
            <a:r>
              <a:rPr lang="zh-CN" altLang="en-US" sz="2400" b="1" dirty="0">
                <a:latin typeface="Times New Roman" panose="02020603050405020304" pitchFamily="18" charset="0"/>
                <a:cs typeface="Times New Roman" panose="02020603050405020304" pitchFamily="18" charset="0"/>
              </a:rPr>
              <a:t>特征属性独立假设</a:t>
            </a:r>
            <a:r>
              <a:rPr lang="zh-CN" altLang="en-US" sz="2400" dirty="0">
                <a:latin typeface="Times New Roman" panose="02020603050405020304" pitchFamily="18" charset="0"/>
                <a:cs typeface="Times New Roman" panose="02020603050405020304" pitchFamily="18" charset="0"/>
              </a:rPr>
              <a:t>的分类方法，属于</a:t>
            </a:r>
            <a:r>
              <a:rPr lang="zh-CN" altLang="en-US" sz="2400" b="1" dirty="0">
                <a:latin typeface="Times New Roman" panose="02020603050405020304" pitchFamily="18" charset="0"/>
                <a:cs typeface="Times New Roman" panose="02020603050405020304" pitchFamily="18" charset="0"/>
              </a:rPr>
              <a:t>监督学习</a:t>
            </a:r>
            <a:r>
              <a:rPr lang="zh-CN" altLang="en-US" sz="2400" dirty="0">
                <a:latin typeface="Times New Roman" panose="02020603050405020304" pitchFamily="18" charset="0"/>
                <a:cs typeface="Times New Roman" panose="02020603050405020304" pitchFamily="18" charset="0"/>
              </a:rPr>
              <a:t>的生成模型。</a:t>
            </a:r>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5"/>
          <p:cNvSpPr txBox="1">
            <a:spLocks noChangeArrowheads="1"/>
          </p:cNvSpPr>
          <p:nvPr/>
        </p:nvSpPr>
        <p:spPr bwMode="auto">
          <a:xfrm>
            <a:off x="614740" y="364612"/>
            <a:ext cx="3695055" cy="615553"/>
          </a:xfrm>
          <a:prstGeom prst="rect">
            <a:avLst/>
          </a:prstGeom>
          <a:solidFill>
            <a:srgbClr val="009999"/>
          </a:solidFill>
          <a:ln>
            <a:noFill/>
          </a:ln>
        </p:spPr>
        <p:txBody>
          <a:bodyPr wrap="squar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贝叶斯理论概述</a:t>
            </a:r>
          </a:p>
        </p:txBody>
      </p:sp>
      <p:sp>
        <p:nvSpPr>
          <p:cNvPr id="12" name="矩形 3"/>
          <p:cNvSpPr>
            <a:spLocks noChangeArrowheads="1"/>
          </p:cNvSpPr>
          <p:nvPr/>
        </p:nvSpPr>
        <p:spPr bwMode="auto">
          <a:xfrm>
            <a:off x="596897" y="1457671"/>
            <a:ext cx="11209913"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2400" dirty="0">
                <a:solidFill>
                  <a:srgbClr val="000000"/>
                </a:solidFill>
              </a:rPr>
              <a:t>贝叶斯方法分析的特点是用概率表示不确定性，概率规则表示推理或学习，随机变量的概率分布表示推理或学习的最终结果</a:t>
            </a:r>
            <a:r>
              <a:rPr lang="zh-CN" altLang="en-US" sz="2400" dirty="0">
                <a:solidFill>
                  <a:srgbClr val="000000"/>
                </a:solidFill>
              </a:rPr>
              <a:t>。</a:t>
            </a:r>
            <a:endParaRPr lang="en-US" altLang="zh-CN" sz="2400" dirty="0">
              <a:solidFill>
                <a:srgbClr val="000000"/>
              </a:solidFill>
            </a:endParaRPr>
          </a:p>
          <a:p>
            <a:r>
              <a:rPr lang="zh-CN" altLang="zh-CN" sz="2400" dirty="0">
                <a:solidFill>
                  <a:srgbClr val="000000"/>
                </a:solidFill>
              </a:rPr>
              <a:t>贝叶斯理论源于贝叶斯提出的贝叶斯定理和贝叶斯假设。贝叶斯定理引入了先验概率，后验概率由先验概率和类条件概率表达式计算出。</a:t>
            </a:r>
            <a:endParaRPr lang="en-US" altLang="zh-CN" sz="2400" dirty="0">
              <a:solidFill>
                <a:srgbClr val="000000"/>
              </a:solidFill>
            </a:endParaRPr>
          </a:p>
          <a:p>
            <a:r>
              <a:rPr lang="zh-CN" altLang="en-US" sz="2400" b="1" dirty="0">
                <a:latin typeface="Cambria" panose="02040503050406030204" pitchFamily="18" charset="0"/>
                <a:sym typeface="+mn-ea"/>
              </a:rPr>
              <a:t>问题：</a:t>
            </a:r>
            <a:r>
              <a:rPr lang="zh-CN" altLang="en-US" sz="2400" dirty="0">
                <a:latin typeface="Cambria" panose="02040503050406030204" pitchFamily="18" charset="0"/>
                <a:sym typeface="+mn-ea"/>
              </a:rPr>
              <a:t>已知条件（似然）概率</a:t>
            </a:r>
            <a:r>
              <a:rPr lang="zh-CN" altLang="en-US" sz="2400" i="1" dirty="0">
                <a:latin typeface="Cambria" panose="02040503050406030204" pitchFamily="18" charset="0"/>
                <a:sym typeface="+mn-ea"/>
              </a:rPr>
              <a:t>P</a:t>
            </a:r>
            <a:r>
              <a:rPr lang="zh-CN" altLang="en-US" sz="2400" dirty="0">
                <a:latin typeface="Cambria" panose="02040503050406030204" pitchFamily="18" charset="0"/>
                <a:sym typeface="+mn-ea"/>
              </a:rPr>
              <a:t>(</a:t>
            </a:r>
            <a:r>
              <a:rPr lang="en-US" altLang="zh-CN" sz="2400" dirty="0">
                <a:latin typeface="Cambria" panose="02040503050406030204" pitchFamily="18" charset="0"/>
                <a:sym typeface="+mn-ea"/>
              </a:rPr>
              <a:t>B</a:t>
            </a:r>
            <a:r>
              <a:rPr lang="zh-CN" altLang="en-US" sz="2400" dirty="0">
                <a:latin typeface="Cambria" panose="02040503050406030204" pitchFamily="18" charset="0"/>
                <a:sym typeface="+mn-ea"/>
              </a:rPr>
              <a:t>|</a:t>
            </a:r>
            <a:r>
              <a:rPr lang="en-US" altLang="zh-CN" sz="2400" dirty="0">
                <a:latin typeface="Cambria" panose="02040503050406030204" pitchFamily="18" charset="0"/>
                <a:sym typeface="+mn-ea"/>
              </a:rPr>
              <a:t>A</a:t>
            </a:r>
            <a:r>
              <a:rPr lang="zh-CN" altLang="en-US" sz="2400" dirty="0">
                <a:latin typeface="Cambria" panose="02040503050406030204" pitchFamily="18" charset="0"/>
                <a:sym typeface="+mn-ea"/>
              </a:rPr>
              <a:t>)的情况下，如何求后验概率</a:t>
            </a:r>
            <a:r>
              <a:rPr lang="zh-CN" altLang="en-US" sz="2400" i="1" dirty="0">
                <a:latin typeface="Cambria" panose="02040503050406030204" pitchFamily="18" charset="0"/>
                <a:sym typeface="+mn-ea"/>
              </a:rPr>
              <a:t>P</a:t>
            </a:r>
            <a:r>
              <a:rPr lang="zh-CN" altLang="en-US" sz="2400" dirty="0">
                <a:latin typeface="Cambria" panose="02040503050406030204" pitchFamily="18" charset="0"/>
                <a:sym typeface="+mn-ea"/>
              </a:rPr>
              <a:t>(</a:t>
            </a:r>
            <a:r>
              <a:rPr lang="en-US" altLang="zh-CN" sz="2400" dirty="0">
                <a:latin typeface="Cambria" panose="02040503050406030204" pitchFamily="18" charset="0"/>
                <a:sym typeface="+mn-ea"/>
              </a:rPr>
              <a:t>A</a:t>
            </a:r>
            <a:r>
              <a:rPr lang="zh-CN" altLang="en-US" sz="2400" dirty="0">
                <a:latin typeface="Cambria" panose="02040503050406030204" pitchFamily="18" charset="0"/>
                <a:sym typeface="+mn-ea"/>
              </a:rPr>
              <a:t>|</a:t>
            </a:r>
            <a:r>
              <a:rPr lang="en-US" altLang="zh-CN" sz="2400" dirty="0">
                <a:latin typeface="Cambria" panose="02040503050406030204" pitchFamily="18" charset="0"/>
                <a:sym typeface="+mn-ea"/>
              </a:rPr>
              <a:t>B</a:t>
            </a:r>
            <a:r>
              <a:rPr lang="zh-CN" altLang="en-US" sz="2400" dirty="0">
                <a:latin typeface="Cambria" panose="02040503050406030204" pitchFamily="18" charset="0"/>
                <a:sym typeface="+mn-ea"/>
              </a:rPr>
              <a:t>)？</a:t>
            </a:r>
            <a:endParaRPr lang="en-US" altLang="zh-CN" sz="2400" dirty="0">
              <a:latin typeface="Cambria" panose="02040503050406030204" pitchFamily="18" charset="0"/>
              <a:ea typeface="Cambria" panose="02040503050406030204" pitchFamily="18" charset="0"/>
              <a:sym typeface="+mn-ea"/>
            </a:endParaRPr>
          </a:p>
          <a:p>
            <a:r>
              <a:rPr lang="zh-CN" altLang="en-US" sz="2400" b="1" dirty="0"/>
              <a:t>先验概率： </a:t>
            </a:r>
            <a:r>
              <a:rPr lang="zh-CN" altLang="en-US" sz="2400" dirty="0"/>
              <a:t>根据以往经验和分析得到的概率。</a:t>
            </a:r>
            <a:endParaRPr lang="en-US" altLang="zh-CN" sz="2400" dirty="0"/>
          </a:p>
          <a:p>
            <a:r>
              <a:rPr lang="zh-CN" altLang="en-US" sz="2400" b="1" dirty="0"/>
              <a:t>后验概率：</a:t>
            </a:r>
            <a:r>
              <a:rPr lang="zh-CN" altLang="en-US" sz="2400" dirty="0"/>
              <a:t>基于新的信息修正原来的先验概率</a:t>
            </a:r>
            <a:r>
              <a:rPr lang="zh-CN" altLang="en-US" sz="2400" dirty="0">
                <a:latin typeface="Cambria" panose="02040503050406030204" pitchFamily="18" charset="0"/>
                <a:sym typeface="+mn-ea"/>
              </a:rPr>
              <a:t>，</a:t>
            </a:r>
            <a:r>
              <a:rPr lang="zh-CN" altLang="en-US" sz="2400" dirty="0"/>
              <a:t>获得更接近实际情况的概率估计。</a:t>
            </a:r>
          </a:p>
          <a:p>
            <a:r>
              <a:rPr lang="zh-CN" altLang="en-US" sz="2400" dirty="0"/>
              <a:t>实际上</a:t>
            </a:r>
            <a:r>
              <a:rPr lang="zh-CN" altLang="en-US" sz="2400" b="1" dirty="0"/>
              <a:t>先验概率就是在没有任何结果出来的情况下估计的概率</a:t>
            </a:r>
            <a:r>
              <a:rPr lang="zh-CN" altLang="en-US" sz="2400" dirty="0"/>
              <a:t>，而</a:t>
            </a:r>
            <a:r>
              <a:rPr lang="zh-CN" altLang="en-US" sz="2400" b="1" dirty="0"/>
              <a:t>后验概率则是在有一定依据后的重新估计</a:t>
            </a:r>
            <a:r>
              <a:rPr lang="zh-CN" altLang="en-US" sz="2400" dirty="0"/>
              <a:t>，直观意义上后验概率就是条件概率。</a:t>
            </a: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a:spLocks noGrp="1" noChangeArrowheads="1"/>
          </p:cNvSpPr>
          <p:nvPr>
            <p:ph type="title"/>
          </p:nvPr>
        </p:nvSpPr>
        <p:spPr bwMode="auto">
          <a:xfrm>
            <a:off x="609601" y="274638"/>
            <a:ext cx="3870960" cy="566305"/>
          </a:xfrm>
          <a:prstGeom prst="rect">
            <a:avLst/>
          </a:prstGeom>
          <a:solidFill>
            <a:srgbClr val="009999"/>
          </a:solidFill>
          <a:ln>
            <a:noFill/>
          </a:ln>
        </p:spPr>
        <p:txBody>
          <a:bodyPr wrap="squar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贝叶斯理论概述</a:t>
            </a:r>
          </a:p>
        </p:txBody>
      </p:sp>
      <mc:AlternateContent xmlns:mc="http://schemas.openxmlformats.org/markup-compatibility/2006" xmlns:a14="http://schemas.microsoft.com/office/drawing/2010/main">
        <mc:Choice Requires="a14">
          <p:sp>
            <p:nvSpPr>
              <p:cNvPr id="4" name="矩形 3"/>
              <p:cNvSpPr/>
              <p:nvPr/>
            </p:nvSpPr>
            <p:spPr>
              <a:xfrm>
                <a:off x="600892" y="957250"/>
                <a:ext cx="11286308" cy="4661276"/>
              </a:xfrm>
              <a:prstGeom prst="rect">
                <a:avLst/>
              </a:prstGeom>
            </p:spPr>
            <p:txBody>
              <a:bodyPr wrap="square">
                <a:spAutoFit/>
              </a:bodyPr>
              <a:lstStyle/>
              <a:p>
                <a:pPr marL="342900" indent="-342900">
                  <a:spcBef>
                    <a:spcPts val="600"/>
                  </a:spcBef>
                  <a:spcAft>
                    <a:spcPts val="600"/>
                  </a:spcAft>
                  <a:buFont typeface="Wingdings" panose="05000000000000000000" pitchFamily="2" charset="2"/>
                  <a:buChar char="l"/>
                </a:pPr>
                <a:r>
                  <a:rPr lang="zh-CN" altLang="en-US" sz="2400" dirty="0">
                    <a:latin typeface="Cambria" panose="02040503050406030204" pitchFamily="18" charset="0"/>
                    <a:sym typeface="+mn-ea"/>
                  </a:rPr>
                  <a:t>假定事件</a:t>
                </a:r>
                <a:r>
                  <a:rPr lang="zh-CN" altLang="en-US" sz="2400" i="1" dirty="0">
                    <a:latin typeface="Cambria" panose="02040503050406030204" pitchFamily="18" charset="0"/>
                    <a:sym typeface="+mn-ea"/>
                  </a:rPr>
                  <a:t>A</a:t>
                </a:r>
                <a:r>
                  <a:rPr lang="zh-CN" altLang="en-US" sz="2400" dirty="0">
                    <a:latin typeface="Cambria" panose="02040503050406030204" pitchFamily="18" charset="0"/>
                    <a:sym typeface="+mn-ea"/>
                  </a:rPr>
                  <a:t>和事件</a:t>
                </a:r>
                <a:r>
                  <a:rPr lang="zh-CN" altLang="en-US" sz="2400" i="1" dirty="0">
                    <a:latin typeface="Cambria" panose="02040503050406030204" pitchFamily="18" charset="0"/>
                    <a:sym typeface="+mn-ea"/>
                  </a:rPr>
                  <a:t>B</a:t>
                </a:r>
                <a:r>
                  <a:rPr lang="zh-CN" altLang="en-US" sz="2400" dirty="0">
                    <a:latin typeface="Cambria" panose="02040503050406030204" pitchFamily="18" charset="0"/>
                    <a:sym typeface="+mn-ea"/>
                  </a:rPr>
                  <a:t>是随机试验E的两个随机事件，则似然概率</a:t>
                </a:r>
                <a14:m>
                  <m:oMath xmlns:m="http://schemas.openxmlformats.org/officeDocument/2006/math">
                    <m:r>
                      <a:rPr lang="en-US" altLang="zh-CN" sz="2400" i="1">
                        <a:latin typeface="Cambria Math" panose="02040503050406030204" pitchFamily="18" charset="0"/>
                        <a:sym typeface="+mn-ea"/>
                      </a:rPr>
                      <m:t>𝑃</m:t>
                    </m:r>
                    <m:d>
                      <m:dPr>
                        <m:ctrlPr>
                          <a:rPr lang="en-US" altLang="zh-CN" sz="2400" i="1">
                            <a:latin typeface="Cambria Math" panose="02040503050406030204" pitchFamily="18" charset="0"/>
                            <a:sym typeface="+mn-ea"/>
                          </a:rPr>
                        </m:ctrlPr>
                      </m:dPr>
                      <m:e>
                        <m:r>
                          <a:rPr lang="en-US" altLang="zh-CN" sz="2400" i="1">
                            <a:latin typeface="Cambria Math" panose="02040503050406030204"/>
                            <a:sym typeface="+mn-ea"/>
                          </a:rPr>
                          <m:t>𝐵</m:t>
                        </m:r>
                      </m:e>
                      <m:e>
                        <m:r>
                          <a:rPr lang="en-US" altLang="zh-CN" sz="2400" i="1">
                            <a:latin typeface="Cambria Math" panose="02040503050406030204"/>
                            <a:sym typeface="+mn-ea"/>
                          </a:rPr>
                          <m:t>𝐴</m:t>
                        </m:r>
                      </m:e>
                    </m:d>
                    <m:r>
                      <a:rPr lang="en-US" altLang="zh-CN" sz="2400" i="1">
                        <a:latin typeface="Cambria Math" panose="02040503050406030204" pitchFamily="18" charset="0"/>
                        <a:sym typeface="+mn-ea"/>
                      </a:rPr>
                      <m:t>=</m:t>
                    </m:r>
                    <m:f>
                      <m:fPr>
                        <m:ctrlPr>
                          <a:rPr lang="en-US" altLang="zh-CN" sz="2400" i="1">
                            <a:latin typeface="Cambria Math" panose="02040503050406030204" pitchFamily="18" charset="0"/>
                            <a:sym typeface="+mn-ea"/>
                          </a:rPr>
                        </m:ctrlPr>
                      </m:fPr>
                      <m:num>
                        <m:r>
                          <a:rPr lang="en-US" altLang="zh-CN" sz="2400" i="1">
                            <a:latin typeface="Cambria Math" panose="02040503050406030204" pitchFamily="18" charset="0"/>
                            <a:sym typeface="+mn-ea"/>
                          </a:rPr>
                          <m:t>𝑃</m:t>
                        </m:r>
                        <m:d>
                          <m:dPr>
                            <m:ctrlPr>
                              <a:rPr lang="en-US" altLang="zh-CN" sz="2400" i="1">
                                <a:latin typeface="Cambria Math" panose="02040503050406030204" pitchFamily="18" charset="0"/>
                                <a:sym typeface="+mn-ea"/>
                              </a:rPr>
                            </m:ctrlPr>
                          </m:dPr>
                          <m:e>
                            <m:r>
                              <a:rPr lang="en-US" altLang="zh-CN" sz="2400" i="1">
                                <a:latin typeface="Cambria Math" panose="02040503050406030204" pitchFamily="18" charset="0"/>
                                <a:sym typeface="+mn-ea"/>
                              </a:rPr>
                              <m:t>𝐴𝐵</m:t>
                            </m:r>
                          </m:e>
                        </m:d>
                      </m:num>
                      <m:den>
                        <m:r>
                          <a:rPr lang="en-US" altLang="zh-CN" sz="2400" i="1">
                            <a:latin typeface="Cambria Math" panose="02040503050406030204" pitchFamily="18" charset="0"/>
                            <a:sym typeface="+mn-ea"/>
                          </a:rPr>
                          <m:t>𝑃</m:t>
                        </m:r>
                        <m:d>
                          <m:dPr>
                            <m:ctrlPr>
                              <a:rPr lang="en-US" altLang="zh-CN" sz="2400" i="1">
                                <a:latin typeface="Cambria Math" panose="02040503050406030204" pitchFamily="18" charset="0"/>
                                <a:sym typeface="+mn-ea"/>
                              </a:rPr>
                            </m:ctrlPr>
                          </m:dPr>
                          <m:e>
                            <m:r>
                              <a:rPr lang="en-US" altLang="zh-CN" sz="2400" i="1">
                                <a:latin typeface="Cambria Math" panose="02040503050406030204"/>
                                <a:sym typeface="+mn-ea"/>
                              </a:rPr>
                              <m:t>𝐴</m:t>
                            </m:r>
                          </m:e>
                        </m:d>
                      </m:den>
                    </m:f>
                  </m:oMath>
                </a14:m>
                <a:r>
                  <a:rPr lang="zh-CN" altLang="en-US" sz="2400" dirty="0">
                    <a:latin typeface="Cambria" panose="02040503050406030204" pitchFamily="18" charset="0"/>
                    <a:sym typeface="+mn-ea"/>
                  </a:rPr>
                  <a:t>，表示已知事件</a:t>
                </a:r>
                <a:r>
                  <a:rPr lang="en-US" altLang="zh-CN" sz="2400" i="1" dirty="0">
                    <a:latin typeface="Cambria" panose="02040503050406030204" pitchFamily="18" charset="0"/>
                    <a:sym typeface="+mn-ea"/>
                  </a:rPr>
                  <a:t>A</a:t>
                </a:r>
                <a:r>
                  <a:rPr lang="zh-CN" altLang="en-US" sz="2400" dirty="0">
                    <a:latin typeface="Cambria" panose="02040503050406030204" pitchFamily="18" charset="0"/>
                    <a:sym typeface="+mn-ea"/>
                  </a:rPr>
                  <a:t>发生的前提下，事件</a:t>
                </a:r>
                <a:r>
                  <a:rPr lang="en-US" altLang="zh-CN" sz="2400" dirty="0">
                    <a:latin typeface="Cambria" panose="02040503050406030204" pitchFamily="18" charset="0"/>
                    <a:sym typeface="+mn-ea"/>
                  </a:rPr>
                  <a:t>B</a:t>
                </a:r>
                <a:r>
                  <a:rPr lang="zh-CN" altLang="en-US" sz="2400" dirty="0">
                    <a:latin typeface="Cambria" panose="02040503050406030204" pitchFamily="18" charset="0"/>
                    <a:sym typeface="+mn-ea"/>
                  </a:rPr>
                  <a:t>发生的概率。</a:t>
                </a:r>
                <a:endParaRPr lang="zh-CN" altLang="en-US" sz="2400" dirty="0">
                  <a:latin typeface="Cambria" panose="02040503050406030204" pitchFamily="18" charset="0"/>
                </a:endParaRPr>
              </a:p>
              <a:p>
                <a:pPr marL="342900" indent="-342900">
                  <a:spcBef>
                    <a:spcPts val="600"/>
                  </a:spcBef>
                  <a:spcAft>
                    <a:spcPts val="600"/>
                  </a:spcAft>
                  <a:buFont typeface="Wingdings" panose="05000000000000000000" pitchFamily="2" charset="2"/>
                  <a:buChar char="l"/>
                </a:pPr>
                <a:r>
                  <a:rPr lang="zh-CN" altLang="en-US" sz="2400" dirty="0">
                    <a:latin typeface="Cambria" panose="02040503050406030204" pitchFamily="18" charset="0"/>
                  </a:rPr>
                  <a:t>随着随机事件</a:t>
                </a:r>
                <a:r>
                  <a:rPr lang="en-US" altLang="zh-CN" sz="2400" i="1" dirty="0">
                    <a:latin typeface="Cambria" panose="02040503050406030204" pitchFamily="18" charset="0"/>
                  </a:rPr>
                  <a:t>A</a:t>
                </a:r>
                <a:r>
                  <a:rPr lang="zh-CN" altLang="en-US" sz="2400" dirty="0">
                    <a:latin typeface="Cambria" panose="02040503050406030204" pitchFamily="18" charset="0"/>
                  </a:rPr>
                  <a:t>的出现，将样本空间缩小到</a:t>
                </a:r>
                <a:r>
                  <a:rPr lang="en-US" altLang="zh-CN" sz="2400" i="1" dirty="0">
                    <a:latin typeface="Cambria" panose="02040503050406030204" pitchFamily="18" charset="0"/>
                  </a:rPr>
                  <a:t>A</a:t>
                </a:r>
                <a:r>
                  <a:rPr lang="zh-CN" altLang="en-US" sz="2400" dirty="0">
                    <a:latin typeface="Cambria" panose="02040503050406030204" pitchFamily="18" charset="0"/>
                  </a:rPr>
                  <a:t>。接着，随机事件</a:t>
                </a:r>
                <a:r>
                  <a:rPr lang="en-US" altLang="zh-CN" sz="2400" i="1" dirty="0">
                    <a:latin typeface="Cambria" panose="02040503050406030204" pitchFamily="18" charset="0"/>
                  </a:rPr>
                  <a:t>B</a:t>
                </a:r>
                <a:r>
                  <a:rPr lang="zh-CN" altLang="en-US" sz="2400" dirty="0">
                    <a:latin typeface="Cambria" panose="02040503050406030204" pitchFamily="18" charset="0"/>
                  </a:rPr>
                  <a:t>的出现将样本空间进一步缩小到</a:t>
                </a:r>
                <a:r>
                  <a:rPr lang="en-US" altLang="zh-CN" sz="2400" dirty="0">
                    <a:latin typeface="Cambria" panose="02040503050406030204" pitchFamily="18" charset="0"/>
                  </a:rPr>
                  <a:t>A</a:t>
                </a:r>
                <a14:m>
                  <m:oMath xmlns:m="http://schemas.openxmlformats.org/officeDocument/2006/math">
                    <m:r>
                      <a:rPr lang="en-US" altLang="zh-CN" sz="2400" i="1" dirty="0">
                        <a:latin typeface="Cambria Math" panose="02040503050406030204" pitchFamily="18" charset="0"/>
                      </a:rPr>
                      <m:t>∩</m:t>
                    </m:r>
                    <m:r>
                      <a:rPr lang="en-US" altLang="zh-CN" sz="2400" i="1" dirty="0">
                        <a:latin typeface="Cambria Math" panose="02040503050406030204"/>
                      </a:rPr>
                      <m:t>𝐵</m:t>
                    </m:r>
                  </m:oMath>
                </a14:m>
                <a:r>
                  <a:rPr lang="zh-CN" altLang="en-US" sz="2400" dirty="0">
                    <a:latin typeface="Cambria" panose="02040503050406030204" pitchFamily="18" charset="0"/>
                  </a:rPr>
                  <a:t>。由于集合的∩运算是可交换的，因此有</a:t>
                </a:r>
              </a:p>
              <a:p>
                <a:pPr>
                  <a:lnSpc>
                    <a:spcPct val="170000"/>
                  </a:lnSpc>
                </a:pPr>
                <a:r>
                  <a:rPr lang="zh-CN" altLang="en-US" dirty="0">
                    <a:latin typeface="Cambria" panose="02040503050406030204" pitchFamily="18" charset="0"/>
                  </a:rPr>
                  <a:t>              </a:t>
                </a:r>
                <a14:m>
                  <m:oMath xmlns:m="http://schemas.openxmlformats.org/officeDocument/2006/math">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𝐵</m:t>
                        </m:r>
                      </m:e>
                    </m:d>
                    <m:r>
                      <a:rPr lang="en-US" altLang="zh-CN" sz="2400" i="1">
                        <a:latin typeface="Cambria Math" panose="02040503050406030204" pitchFamily="18" charset="0"/>
                      </a:rPr>
                      <m:t>=</m:t>
                    </m:r>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r>
                          <a:rPr lang="en-US" altLang="zh-CN" sz="2400" i="1">
                            <a:latin typeface="Cambria Math" panose="02040503050406030204"/>
                          </a:rPr>
                          <m:t>𝐵</m:t>
                        </m:r>
                      </m:e>
                      <m:e>
                        <m:r>
                          <a:rPr lang="en-US" altLang="zh-CN" sz="2400" i="1">
                            <a:latin typeface="Cambria Math" panose="02040503050406030204"/>
                          </a:rPr>
                          <m:t>𝐴</m:t>
                        </m:r>
                      </m:e>
                    </m:d>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r>
                          <a:rPr lang="en-US" altLang="zh-CN" sz="2400" i="1">
                            <a:latin typeface="Cambria Math" panose="02040503050406030204"/>
                          </a:rPr>
                          <m:t>𝐴</m:t>
                        </m:r>
                      </m:e>
                    </m:d>
                    <m:r>
                      <a:rPr lang="en-US" altLang="zh-CN" sz="2400" i="1">
                        <a:latin typeface="Cambria Math" panose="02040503050406030204" pitchFamily="18" charset="0"/>
                      </a:rPr>
                      <m:t>=</m:t>
                    </m:r>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r>
                          <a:rPr lang="en-US" altLang="zh-CN" sz="2400" i="1">
                            <a:latin typeface="Cambria Math" panose="02040503050406030204"/>
                          </a:rPr>
                          <m:t>𝐴</m:t>
                        </m:r>
                      </m:e>
                      <m:e>
                        <m:r>
                          <a:rPr lang="en-US" altLang="zh-CN" sz="2400" i="1">
                            <a:latin typeface="Cambria Math" panose="02040503050406030204"/>
                          </a:rPr>
                          <m:t>𝐵</m:t>
                        </m:r>
                      </m:e>
                    </m:d>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r>
                          <a:rPr lang="en-US" altLang="zh-CN" sz="2400" i="1">
                            <a:latin typeface="Cambria Math" panose="02040503050406030204"/>
                          </a:rPr>
                          <m:t>𝐵</m:t>
                        </m:r>
                      </m:e>
                    </m:d>
                    <m:r>
                      <a:rPr lang="en-US" altLang="zh-CN" sz="2400" i="1">
                        <a:latin typeface="Cambria Math" panose="02040503050406030204" pitchFamily="18" charset="0"/>
                      </a:rPr>
                      <m:t>=</m:t>
                    </m:r>
                    <m:r>
                      <a:rPr lang="en-US" altLang="zh-CN" sz="2400" i="1">
                        <a:latin typeface="Cambria Math" panose="02040503050406030204" pitchFamily="18" charset="0"/>
                      </a:rPr>
                      <m:t>𝑃</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𝐵</m:t>
                        </m:r>
                        <m:r>
                          <a:rPr lang="en-US" altLang="zh-CN" sz="2400" i="1">
                            <a:latin typeface="Cambria Math" panose="02040503050406030204" pitchFamily="18" charset="0"/>
                          </a:rPr>
                          <m:t>∩</m:t>
                        </m:r>
                        <m:r>
                          <a:rPr lang="en-US" altLang="zh-CN" sz="2400" i="1">
                            <a:latin typeface="Cambria Math" panose="02040503050406030204" pitchFamily="18" charset="0"/>
                          </a:rPr>
                          <m:t>𝐴</m:t>
                        </m:r>
                      </m:e>
                    </m:d>
                  </m:oMath>
                </a14:m>
                <a:endParaRPr lang="en-US" altLang="zh-CN" sz="2400" dirty="0">
                  <a:latin typeface="Cambria" panose="02040503050406030204" pitchFamily="18" charset="0"/>
                </a:endParaRPr>
              </a:p>
              <a:p>
                <a:pPr>
                  <a:lnSpc>
                    <a:spcPct val="170000"/>
                  </a:lnSpc>
                  <a:spcBef>
                    <a:spcPts val="0"/>
                  </a:spcBef>
                  <a:spcAft>
                    <a:spcPts val="0"/>
                  </a:spcAft>
                </a:pPr>
                <a:r>
                  <a:rPr lang="zh-CN" altLang="en-US" sz="2400" dirty="0">
                    <a:latin typeface="Cambria" panose="02040503050406030204" pitchFamily="18" charset="0"/>
                  </a:rPr>
                  <a:t>      整理得到贝叶斯公式（Bayes’ formula）</a:t>
                </a:r>
              </a:p>
              <a:p>
                <a:pPr>
                  <a:lnSpc>
                    <a:spcPct val="170000"/>
                  </a:lnSpc>
                </a:pPr>
                <a:r>
                  <a:rPr lang="zh-CN" altLang="en-US" sz="2400" dirty="0">
                    <a:latin typeface="Cambria" panose="02040503050406030204" pitchFamily="18" charset="0"/>
                  </a:rPr>
                  <a:t>                    </a:t>
                </a:r>
                <a14:m>
                  <m:oMath xmlns:m="http://schemas.openxmlformats.org/officeDocument/2006/math">
                    <m:r>
                      <a:rPr lang="en-US" altLang="zh-CN" sz="2400" i="1">
                        <a:latin typeface="Cambria Math" panose="02040503050406030204" pitchFamily="18" charset="0"/>
                        <a:ea typeface="Cambria Math" panose="02040503050406030204" pitchFamily="18" charset="0"/>
                      </a:rPr>
                      <m:t>𝑃</m:t>
                    </m:r>
                    <m:d>
                      <m:dPr>
                        <m:ctrlPr>
                          <a:rPr lang="en-US"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a:ea typeface="Cambria Math" panose="02040503050406030204" pitchFamily="18" charset="0"/>
                          </a:rPr>
                          <m:t>𝐴</m:t>
                        </m:r>
                      </m:e>
                      <m:e>
                        <m:r>
                          <a:rPr lang="en-US" altLang="zh-CN" sz="2400" i="1">
                            <a:latin typeface="Cambria Math" panose="02040503050406030204"/>
                            <a:ea typeface="Cambria Math" panose="02040503050406030204" pitchFamily="18" charset="0"/>
                          </a:rPr>
                          <m:t>𝐵</m:t>
                        </m:r>
                      </m:e>
                    </m:d>
                    <m:r>
                      <a:rPr lang="en-US" altLang="zh-CN" sz="2400" i="1">
                        <a:latin typeface="Cambria Math" panose="02040503050406030204" pitchFamily="18" charset="0"/>
                        <a:ea typeface="Cambria Math" panose="02040503050406030204" pitchFamily="18" charset="0"/>
                      </a:rPr>
                      <m:t>=</m:t>
                    </m:r>
                    <m:f>
                      <m:fPr>
                        <m:ctrlPr>
                          <a:rPr lang="en-US" altLang="zh-CN" sz="2400" i="1">
                            <a:latin typeface="Cambria Math" panose="02040503050406030204" pitchFamily="18" charset="0"/>
                            <a:ea typeface="Cambria Math" panose="02040503050406030204" pitchFamily="18" charset="0"/>
                          </a:rPr>
                        </m:ctrlPr>
                      </m:fPr>
                      <m:num>
                        <m:r>
                          <a:rPr lang="en-US" altLang="zh-CN" sz="2400" i="1">
                            <a:latin typeface="Cambria Math" panose="02040503050406030204" pitchFamily="18" charset="0"/>
                            <a:ea typeface="Cambria Math" panose="02040503050406030204" pitchFamily="18" charset="0"/>
                          </a:rPr>
                          <m:t>𝑃</m:t>
                        </m:r>
                        <m:d>
                          <m:dPr>
                            <m:ctrlPr>
                              <a:rPr lang="en-US"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a:ea typeface="Cambria Math" panose="02040503050406030204" pitchFamily="18" charset="0"/>
                              </a:rPr>
                              <m:t>𝐵</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a:ea typeface="Cambria Math" panose="02040503050406030204" pitchFamily="18" charset="0"/>
                              </a:rPr>
                              <m:t>𝐴</m:t>
                            </m:r>
                          </m:e>
                        </m:d>
                        <m:r>
                          <a:rPr lang="en-US" altLang="zh-CN" sz="2400" i="1">
                            <a:latin typeface="Cambria Math" panose="02040503050406030204" pitchFamily="18" charset="0"/>
                            <a:ea typeface="Cambria Math" panose="02040503050406030204" pitchFamily="18" charset="0"/>
                          </a:rPr>
                          <m:t>𝑃</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a:ea typeface="Cambria Math" panose="02040503050406030204" pitchFamily="18" charset="0"/>
                          </a:rPr>
                          <m:t>𝐴</m:t>
                        </m:r>
                        <m:r>
                          <a:rPr lang="en-US" altLang="zh-CN" sz="2400" i="1">
                            <a:latin typeface="Cambria Math" panose="02040503050406030204" pitchFamily="18" charset="0"/>
                            <a:ea typeface="Cambria Math" panose="02040503050406030204" pitchFamily="18" charset="0"/>
                          </a:rPr>
                          <m:t>)</m:t>
                        </m:r>
                      </m:num>
                      <m:den>
                        <m:r>
                          <a:rPr lang="en-US" altLang="zh-CN" sz="2400" i="1">
                            <a:latin typeface="Cambria Math" panose="02040503050406030204" pitchFamily="18" charset="0"/>
                            <a:ea typeface="Cambria Math" panose="02040503050406030204" pitchFamily="18" charset="0"/>
                          </a:rPr>
                          <m:t>𝑃</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a:ea typeface="Cambria Math" panose="02040503050406030204" pitchFamily="18" charset="0"/>
                          </a:rPr>
                          <m:t>𝐵</m:t>
                        </m:r>
                        <m:r>
                          <a:rPr lang="en-US" altLang="zh-CN" sz="2400" i="1">
                            <a:latin typeface="Cambria Math" panose="02040503050406030204" pitchFamily="18" charset="0"/>
                            <a:ea typeface="Cambria Math" panose="02040503050406030204" pitchFamily="18" charset="0"/>
                          </a:rPr>
                          <m:t>)</m:t>
                        </m:r>
                      </m:den>
                    </m:f>
                  </m:oMath>
                </a14:m>
                <a:endParaRPr lang="zh-CN" altLang="en-US" sz="2400" dirty="0">
                  <a:latin typeface="Cambria" panose="02040503050406030204" pitchFamily="18" charset="0"/>
                </a:endParaRPr>
              </a:p>
              <a:p>
                <a:r>
                  <a:rPr lang="zh-CN" altLang="zh-CN" sz="2400" dirty="0">
                    <a:solidFill>
                      <a:srgbClr val="000000"/>
                    </a:solidFill>
                  </a:rPr>
                  <a:t>上述公式即为贝叶斯定理，它提供了从先验概率</a:t>
                </a:r>
                <a14:m>
                  <m:oMath xmlns:m="http://schemas.openxmlformats.org/officeDocument/2006/math">
                    <m:r>
                      <a:rPr lang="en-US" altLang="zh-CN" sz="2400">
                        <a:solidFill>
                          <a:srgbClr val="000000"/>
                        </a:solidFill>
                        <a:latin typeface="Cambria Math" panose="02040503050406030204" pitchFamily="18" charset="0"/>
                      </a:rPr>
                      <m:t>𝑝</m:t>
                    </m:r>
                    <m:r>
                      <a:rPr lang="en-US" altLang="zh-CN" sz="2400">
                        <a:solidFill>
                          <a:srgbClr val="000000"/>
                        </a:solidFill>
                        <a:latin typeface="Cambria Math" panose="02040503050406030204" pitchFamily="18" charset="0"/>
                      </a:rPr>
                      <m:t>(</m:t>
                    </m:r>
                    <m:r>
                      <a:rPr lang="en-US" altLang="zh-CN" sz="2400" b="0" i="1" smtClean="0">
                        <a:solidFill>
                          <a:srgbClr val="000000"/>
                        </a:solidFill>
                        <a:latin typeface="Cambria Math" panose="02040503050406030204"/>
                      </a:rPr>
                      <m:t>𝐴</m:t>
                    </m:r>
                    <m:r>
                      <a:rPr lang="en-US" altLang="zh-CN" sz="2400">
                        <a:solidFill>
                          <a:srgbClr val="000000"/>
                        </a:solidFill>
                        <a:latin typeface="Cambria Math" panose="02040503050406030204" pitchFamily="18" charset="0"/>
                      </a:rPr>
                      <m:t>)</m:t>
                    </m:r>
                  </m:oMath>
                </a14:m>
                <a:r>
                  <a:rPr lang="zh-CN" altLang="zh-CN" sz="2400" dirty="0">
                    <a:solidFill>
                      <a:srgbClr val="000000"/>
                    </a:solidFill>
                  </a:rPr>
                  <a:t>计算后验概率</a:t>
                </a:r>
                <a14:m>
                  <m:oMath xmlns:m="http://schemas.openxmlformats.org/officeDocument/2006/math">
                    <m:r>
                      <a:rPr lang="en-US" altLang="zh-CN" sz="2400">
                        <a:solidFill>
                          <a:srgbClr val="000000"/>
                        </a:solidFill>
                        <a:latin typeface="Cambria Math" panose="02040503050406030204" pitchFamily="18" charset="0"/>
                      </a:rPr>
                      <m:t>𝑝</m:t>
                    </m:r>
                    <m:d>
                      <m:dPr>
                        <m:ctrlPr>
                          <a:rPr lang="zh-CN" altLang="zh-CN" sz="2400" i="1">
                            <a:solidFill>
                              <a:srgbClr val="000000"/>
                            </a:solidFill>
                            <a:latin typeface="Cambria Math" panose="02040503050406030204" pitchFamily="18" charset="0"/>
                          </a:rPr>
                        </m:ctrlPr>
                      </m:dPr>
                      <m:e>
                        <m:r>
                          <a:rPr lang="en-US" altLang="zh-CN" sz="2400" b="0" i="1" smtClean="0">
                            <a:solidFill>
                              <a:srgbClr val="000000"/>
                            </a:solidFill>
                            <a:latin typeface="Cambria Math" panose="02040503050406030204"/>
                          </a:rPr>
                          <m:t>𝐴</m:t>
                        </m:r>
                      </m:e>
                      <m:e>
                        <m:r>
                          <a:rPr lang="en-US" altLang="zh-CN" sz="2400" b="0" i="1" smtClean="0">
                            <a:solidFill>
                              <a:srgbClr val="000000"/>
                            </a:solidFill>
                            <a:latin typeface="Cambria Math" panose="02040503050406030204"/>
                          </a:rPr>
                          <m:t>𝐵</m:t>
                        </m:r>
                      </m:e>
                    </m:d>
                  </m:oMath>
                </a14:m>
                <a:r>
                  <a:rPr lang="zh-CN" altLang="zh-CN" sz="2400" dirty="0">
                    <a:solidFill>
                      <a:srgbClr val="000000"/>
                    </a:solidFill>
                  </a:rPr>
                  <a:t>的方法</a:t>
                </a:r>
                <a:endParaRPr lang="en-US" altLang="zh-CN" sz="2400" dirty="0">
                  <a:solidFill>
                    <a:srgbClr val="000000"/>
                  </a:solidFill>
                </a:endParaRPr>
              </a:p>
            </p:txBody>
          </p:sp>
        </mc:Choice>
        <mc:Fallback xmlns="">
          <p:sp>
            <p:nvSpPr>
              <p:cNvPr id="4" name="矩形 3"/>
              <p:cNvSpPr>
                <a:spLocks noRot="1" noChangeAspect="1" noMove="1" noResize="1" noEditPoints="1" noAdjustHandles="1" noChangeArrowheads="1" noChangeShapeType="1" noTextEdit="1"/>
              </p:cNvSpPr>
              <p:nvPr/>
            </p:nvSpPr>
            <p:spPr>
              <a:xfrm>
                <a:off x="600892" y="957250"/>
                <a:ext cx="11286308" cy="4661276"/>
              </a:xfrm>
              <a:prstGeom prst="rect">
                <a:avLst/>
              </a:prstGeom>
              <a:blipFill rotWithShape="1">
                <a:blip r:embed="rId2"/>
                <a:stretch>
                  <a:fillRect l="-2" t="-7" b="1"/>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a:spLocks noChangeArrowheads="1"/>
          </p:cNvSpPr>
          <p:nvPr/>
        </p:nvSpPr>
        <p:spPr bwMode="auto">
          <a:xfrm>
            <a:off x="915186" y="311213"/>
            <a:ext cx="3695055" cy="615553"/>
          </a:xfrm>
          <a:prstGeom prst="rect">
            <a:avLst/>
          </a:prstGeom>
          <a:solidFill>
            <a:srgbClr val="009999"/>
          </a:solidFill>
          <a:ln>
            <a:noFill/>
          </a:ln>
        </p:spPr>
        <p:txBody>
          <a:bodyPr wrap="squar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贝叶斯理论概述</a:t>
            </a:r>
          </a:p>
        </p:txBody>
      </p:sp>
      <p:sp>
        <p:nvSpPr>
          <p:cNvPr id="3" name="文本框 2"/>
          <p:cNvSpPr txBox="1"/>
          <p:nvPr/>
        </p:nvSpPr>
        <p:spPr>
          <a:xfrm>
            <a:off x="623777" y="1244777"/>
            <a:ext cx="11568223" cy="707886"/>
          </a:xfrm>
          <a:prstGeom prst="rect">
            <a:avLst/>
          </a:prstGeom>
          <a:noFill/>
        </p:spPr>
        <p:txBody>
          <a:bodyPr wrap="square" rtlCol="0">
            <a:spAutoFit/>
          </a:bodyPr>
          <a:lstStyle/>
          <a:p>
            <a:r>
              <a:rPr lang="zh-CN" altLang="en-US" sz="2000" dirty="0">
                <a:latin typeface="华文楷体" panose="02010600040101010101" pitchFamily="2" charset="-122"/>
                <a:ea typeface="华文楷体" panose="02010600040101010101" pitchFamily="2" charset="-122"/>
              </a:rPr>
              <a:t>假设一个学校有</a:t>
            </a:r>
            <a:r>
              <a:rPr lang="en-US" altLang="zh-CN" sz="2000" dirty="0">
                <a:latin typeface="华文楷体" panose="02010600040101010101" pitchFamily="2" charset="-122"/>
                <a:ea typeface="华文楷体" panose="02010600040101010101" pitchFamily="2" charset="-122"/>
              </a:rPr>
              <a:t>60%</a:t>
            </a:r>
            <a:r>
              <a:rPr lang="zh-CN" altLang="en-US" sz="2000" dirty="0">
                <a:latin typeface="华文楷体" panose="02010600040101010101" pitchFamily="2" charset="-122"/>
                <a:ea typeface="华文楷体" panose="02010600040101010101" pitchFamily="2" charset="-122"/>
              </a:rPr>
              <a:t>男生和</a:t>
            </a:r>
            <a:r>
              <a:rPr lang="en-US" altLang="zh-CN" sz="2000" dirty="0">
                <a:latin typeface="华文楷体" panose="02010600040101010101" pitchFamily="2" charset="-122"/>
                <a:ea typeface="华文楷体" panose="02010600040101010101" pitchFamily="2" charset="-122"/>
              </a:rPr>
              <a:t>40%</a:t>
            </a:r>
            <a:r>
              <a:rPr lang="zh-CN" altLang="en-US" sz="2000" dirty="0">
                <a:latin typeface="华文楷体" panose="02010600040101010101" pitchFamily="2" charset="-122"/>
                <a:ea typeface="华文楷体" panose="02010600040101010101" pitchFamily="2" charset="-122"/>
              </a:rPr>
              <a:t>女生。女生穿裤子的人数和穿裙子的人数相等，所有男生都穿裤子。一个人在远处随机看到了一个穿裤子的学生，那么这个学生是女生的概率是多少？</a:t>
            </a:r>
          </a:p>
        </p:txBody>
      </p:sp>
      <p:sp>
        <p:nvSpPr>
          <p:cNvPr id="4" name="文本框 3"/>
          <p:cNvSpPr txBox="1"/>
          <p:nvPr/>
        </p:nvSpPr>
        <p:spPr>
          <a:xfrm>
            <a:off x="603288" y="2168278"/>
            <a:ext cx="9695815" cy="3476625"/>
          </a:xfrm>
          <a:prstGeom prst="rect">
            <a:avLst/>
          </a:prstGeom>
          <a:noFill/>
        </p:spPr>
        <p:txBody>
          <a:bodyPr wrap="none" rtlCol="0">
            <a:spAutoFit/>
          </a:bodyPr>
          <a:lstStyle/>
          <a:p>
            <a:pPr algn="l"/>
            <a:r>
              <a:rPr lang="zh-CN" altLang="en-US" sz="2000" dirty="0">
                <a:latin typeface="华文楷体" panose="02010600040101010101" pitchFamily="2" charset="-122"/>
                <a:ea typeface="华文楷体" panose="02010600040101010101" pitchFamily="2" charset="-122"/>
              </a:rPr>
              <a:t>使用</a:t>
            </a:r>
            <a:r>
              <a:rPr lang="zh-CN" altLang="en-US" sz="2000" dirty="0">
                <a:solidFill>
                  <a:srgbClr val="FF0000"/>
                </a:solidFill>
                <a:latin typeface="华文楷体" panose="02010600040101010101" pitchFamily="2" charset="-122"/>
                <a:ea typeface="华文楷体" panose="02010600040101010101" pitchFamily="2" charset="-122"/>
              </a:rPr>
              <a:t>贝叶斯定理，</a:t>
            </a:r>
            <a:r>
              <a:rPr lang="zh-CN" altLang="en-US" sz="2000" dirty="0">
                <a:latin typeface="华文楷体" panose="02010600040101010101" pitchFamily="2" charset="-122"/>
                <a:ea typeface="华文楷体" panose="02010600040101010101" pitchFamily="2" charset="-122"/>
              </a:rPr>
              <a:t>事件</a:t>
            </a:r>
            <a:r>
              <a:rPr lang="en-US" altLang="zh-CN" sz="2000" dirty="0">
                <a:latin typeface="华文楷体" panose="02010600040101010101" pitchFamily="2" charset="-122"/>
                <a:ea typeface="华文楷体" panose="02010600040101010101" pitchFamily="2" charset="-122"/>
              </a:rPr>
              <a:t>A</a:t>
            </a:r>
            <a:r>
              <a:rPr lang="zh-CN" altLang="en-US" sz="2000" dirty="0">
                <a:latin typeface="华文楷体" panose="02010600040101010101" pitchFamily="2" charset="-122"/>
                <a:ea typeface="华文楷体" panose="02010600040101010101" pitchFamily="2" charset="-122"/>
              </a:rPr>
              <a:t>是看到女生，事件</a:t>
            </a:r>
            <a:r>
              <a:rPr lang="en-US" altLang="zh-CN" sz="2000" dirty="0">
                <a:latin typeface="华文楷体" panose="02010600040101010101" pitchFamily="2" charset="-122"/>
                <a:ea typeface="华文楷体" panose="02010600040101010101" pitchFamily="2" charset="-122"/>
              </a:rPr>
              <a:t>B</a:t>
            </a:r>
            <a:r>
              <a:rPr lang="zh-CN" altLang="en-US" sz="2000" dirty="0">
                <a:latin typeface="华文楷体" panose="02010600040101010101" pitchFamily="2" charset="-122"/>
                <a:ea typeface="华文楷体" panose="02010600040101010101" pitchFamily="2" charset="-122"/>
              </a:rPr>
              <a:t>是看到一个穿裤子的学生，所求为</a:t>
            </a:r>
            <a:r>
              <a:rPr lang="en-US" altLang="zh-CN" sz="2000" dirty="0">
                <a:latin typeface="华文楷体" panose="02010600040101010101" pitchFamily="2" charset="-122"/>
                <a:ea typeface="华文楷体" panose="02010600040101010101" pitchFamily="2" charset="-122"/>
              </a:rPr>
              <a:t>P(A|B):</a:t>
            </a:r>
          </a:p>
          <a:p>
            <a:pPr algn="l"/>
            <a:endParaRPr lang="en-US" altLang="zh-CN" sz="2000" dirty="0">
              <a:latin typeface="华文楷体" panose="02010600040101010101" pitchFamily="2" charset="-122"/>
              <a:ea typeface="华文楷体" panose="02010600040101010101" pitchFamily="2" charset="-122"/>
            </a:endParaRPr>
          </a:p>
          <a:p>
            <a:pPr marL="914400" lvl="1" indent="-457200" algn="l">
              <a:buFont typeface="+mj-lt"/>
              <a:buAutoNum type="alphaLcParenR"/>
            </a:pPr>
            <a:r>
              <a:rPr lang="en-US" altLang="zh-CN" sz="2000" dirty="0">
                <a:latin typeface="华文楷体" panose="02010600040101010101" pitchFamily="2" charset="-122"/>
                <a:ea typeface="华文楷体" panose="02010600040101010101" pitchFamily="2" charset="-122"/>
              </a:rPr>
              <a:t>P(A)</a:t>
            </a:r>
            <a:r>
              <a:rPr lang="zh-CN" altLang="en-US" sz="2000" dirty="0">
                <a:latin typeface="华文楷体" panose="02010600040101010101" pitchFamily="2" charset="-122"/>
                <a:ea typeface="华文楷体" panose="02010600040101010101" pitchFamily="2" charset="-122"/>
              </a:rPr>
              <a:t>是忽略其他因素，看到女生的概率，为</a:t>
            </a:r>
            <a:r>
              <a:rPr lang="en-US" altLang="zh-CN" sz="2000" dirty="0">
                <a:latin typeface="华文楷体" panose="02010600040101010101" pitchFamily="2" charset="-122"/>
                <a:ea typeface="华文楷体" panose="02010600040101010101" pitchFamily="2" charset="-122"/>
              </a:rPr>
              <a:t>40%</a:t>
            </a:r>
          </a:p>
          <a:p>
            <a:pPr marL="914400" lvl="1" indent="-457200" algn="l">
              <a:buFont typeface="+mj-lt"/>
              <a:buAutoNum type="alphaLcParenR"/>
            </a:pPr>
            <a:r>
              <a:rPr lang="en-US" altLang="zh-CN" sz="2000" dirty="0">
                <a:latin typeface="华文楷体" panose="02010600040101010101" pitchFamily="2" charset="-122"/>
                <a:ea typeface="华文楷体" panose="02010600040101010101" pitchFamily="2" charset="-122"/>
              </a:rPr>
              <a:t>P(A’)</a:t>
            </a:r>
            <a:r>
              <a:rPr lang="zh-CN" altLang="en-US" sz="2000" dirty="0">
                <a:latin typeface="华文楷体" panose="02010600040101010101" pitchFamily="2" charset="-122"/>
                <a:ea typeface="华文楷体" panose="02010600040101010101" pitchFamily="2" charset="-122"/>
              </a:rPr>
              <a:t>是忽略其他因素，看到不是女生的概率，为</a:t>
            </a:r>
            <a:r>
              <a:rPr lang="en-US" altLang="zh-CN" sz="2000" dirty="0">
                <a:latin typeface="华文楷体" panose="02010600040101010101" pitchFamily="2" charset="-122"/>
                <a:ea typeface="华文楷体" panose="02010600040101010101" pitchFamily="2" charset="-122"/>
              </a:rPr>
              <a:t>60%</a:t>
            </a:r>
          </a:p>
          <a:p>
            <a:pPr marL="914400" lvl="1" indent="-457200" algn="l">
              <a:buFont typeface="+mj-lt"/>
              <a:buAutoNum type="alphaLcParenR"/>
            </a:pPr>
            <a:r>
              <a:rPr lang="en-US" altLang="zh-CN" sz="2000" dirty="0">
                <a:latin typeface="华文楷体" panose="02010600040101010101" pitchFamily="2" charset="-122"/>
                <a:ea typeface="华文楷体" panose="02010600040101010101" pitchFamily="2" charset="-122"/>
              </a:rPr>
              <a:t>P(B|A) </a:t>
            </a:r>
            <a:r>
              <a:rPr lang="zh-CN" altLang="en-US" sz="2000" dirty="0">
                <a:latin typeface="华文楷体" panose="02010600040101010101" pitchFamily="2" charset="-122"/>
                <a:ea typeface="华文楷体" panose="02010600040101010101" pitchFamily="2" charset="-122"/>
              </a:rPr>
              <a:t>是女生穿裤子的概率，为</a:t>
            </a:r>
            <a:r>
              <a:rPr lang="en-US" altLang="zh-CN" sz="2000" dirty="0">
                <a:latin typeface="华文楷体" panose="02010600040101010101" pitchFamily="2" charset="-122"/>
                <a:ea typeface="华文楷体" panose="02010600040101010101" pitchFamily="2" charset="-122"/>
              </a:rPr>
              <a:t>50%</a:t>
            </a:r>
          </a:p>
          <a:p>
            <a:pPr marL="914400" lvl="1" indent="-457200" algn="l">
              <a:buFont typeface="+mj-lt"/>
              <a:buAutoNum type="alphaLcParenR"/>
            </a:pPr>
            <a:r>
              <a:rPr lang="en-US" altLang="zh-CN" sz="2000" dirty="0">
                <a:latin typeface="华文楷体" panose="02010600040101010101" pitchFamily="2" charset="-122"/>
                <a:ea typeface="华文楷体" panose="02010600040101010101" pitchFamily="2" charset="-122"/>
              </a:rPr>
              <a:t>P(B|</a:t>
            </a:r>
            <a:r>
              <a:rPr lang="en-US" altLang="zh-CN" sz="2000" dirty="0">
                <a:latin typeface="华文楷体" panose="02010600040101010101" pitchFamily="2" charset="-122"/>
                <a:ea typeface="华文楷体" panose="02010600040101010101" pitchFamily="2" charset="-122"/>
                <a:sym typeface="+mn-ea"/>
              </a:rPr>
              <a:t>A’</a:t>
            </a:r>
            <a:r>
              <a:rPr lang="en-US" altLang="zh-CN" sz="2000" dirty="0">
                <a:latin typeface="华文楷体" panose="02010600040101010101" pitchFamily="2" charset="-122"/>
                <a:ea typeface="华文楷体" panose="02010600040101010101" pitchFamily="2" charset="-122"/>
              </a:rPr>
              <a:t>) </a:t>
            </a:r>
            <a:r>
              <a:rPr lang="zh-CN" altLang="en-US" sz="2000" dirty="0">
                <a:latin typeface="华文楷体" panose="02010600040101010101" pitchFamily="2" charset="-122"/>
                <a:ea typeface="华文楷体" panose="02010600040101010101" pitchFamily="2" charset="-122"/>
              </a:rPr>
              <a:t>是男生穿裤子的概率，为</a:t>
            </a:r>
            <a:r>
              <a:rPr lang="en-US" altLang="zh-CN" sz="2000" dirty="0">
                <a:latin typeface="华文楷体" panose="02010600040101010101" pitchFamily="2" charset="-122"/>
                <a:ea typeface="华文楷体" panose="02010600040101010101" pitchFamily="2" charset="-122"/>
              </a:rPr>
              <a:t>100%</a:t>
            </a:r>
          </a:p>
          <a:p>
            <a:pPr marL="914400" lvl="1" indent="-457200" algn="l">
              <a:buFont typeface="+mj-lt"/>
              <a:buAutoNum type="alphaLcParenR"/>
            </a:pPr>
            <a:r>
              <a:rPr lang="en-US" altLang="zh-CN" sz="2000" dirty="0">
                <a:latin typeface="华文楷体" panose="02010600040101010101" pitchFamily="2" charset="-122"/>
                <a:ea typeface="华文楷体" panose="02010600040101010101" pitchFamily="2" charset="-122"/>
              </a:rPr>
              <a:t>P(B)</a:t>
            </a:r>
            <a:r>
              <a:rPr lang="zh-CN" altLang="en-US" sz="2000" dirty="0">
                <a:latin typeface="华文楷体" panose="02010600040101010101" pitchFamily="2" charset="-122"/>
                <a:ea typeface="华文楷体" panose="02010600040101010101" pitchFamily="2" charset="-122"/>
              </a:rPr>
              <a:t>是忽略其他因素，学生穿裤子的概率：</a:t>
            </a:r>
            <a:endParaRPr lang="en-US" altLang="zh-CN" sz="2000" dirty="0">
              <a:latin typeface="华文楷体" panose="02010600040101010101" pitchFamily="2" charset="-122"/>
              <a:ea typeface="华文楷体" panose="02010600040101010101" pitchFamily="2" charset="-122"/>
            </a:endParaRPr>
          </a:p>
          <a:p>
            <a:pPr algn="l"/>
            <a:endParaRPr lang="en-US" altLang="zh-CN" sz="2400" dirty="0">
              <a:latin typeface="华文楷体" panose="02010600040101010101" pitchFamily="2" charset="-122"/>
              <a:ea typeface="华文楷体" panose="02010600040101010101" pitchFamily="2" charset="-122"/>
            </a:endParaRPr>
          </a:p>
          <a:p>
            <a:pPr algn="l"/>
            <a:r>
              <a:rPr lang="zh-CN" altLang="en-US" sz="2000" dirty="0">
                <a:solidFill>
                  <a:srgbClr val="0070C0"/>
                </a:solidFill>
                <a:latin typeface="华文楷体" panose="02010600040101010101" pitchFamily="2" charset="-122"/>
                <a:ea typeface="华文楷体" panose="02010600040101010101" pitchFamily="2" charset="-122"/>
              </a:rPr>
              <a:t>根据贝叶斯定理，我们计算出后验概率</a:t>
            </a:r>
            <a:r>
              <a:rPr lang="en-US" altLang="zh-CN" sz="2000" dirty="0">
                <a:solidFill>
                  <a:srgbClr val="0070C0"/>
                </a:solidFill>
                <a:latin typeface="华文楷体" panose="02010600040101010101" pitchFamily="2" charset="-122"/>
                <a:ea typeface="华文楷体" panose="02010600040101010101" pitchFamily="2" charset="-122"/>
              </a:rPr>
              <a:t>P(A|B):</a:t>
            </a:r>
          </a:p>
          <a:p>
            <a:pPr algn="l"/>
            <a:endParaRPr lang="en-US" altLang="zh-CN" dirty="0">
              <a:latin typeface="华文楷体" panose="02010600040101010101" pitchFamily="2" charset="-122"/>
              <a:ea typeface="华文楷体" panose="02010600040101010101" pitchFamily="2" charset="-122"/>
            </a:endParaRPr>
          </a:p>
          <a:p>
            <a:endParaRPr lang="en-US" altLang="zh-CN" dirty="0">
              <a:latin typeface="华文楷体" panose="02010600040101010101" pitchFamily="2" charset="-122"/>
              <a:ea typeface="华文楷体" panose="02010600040101010101" pitchFamily="2" charset="-122"/>
            </a:endParaRPr>
          </a:p>
        </p:txBody>
      </p:sp>
      <p:graphicFrame>
        <p:nvGraphicFramePr>
          <p:cNvPr id="5" name="对象 4"/>
          <p:cNvGraphicFramePr>
            <a:graphicFrameLocks noChangeAspect="1"/>
          </p:cNvGraphicFramePr>
          <p:nvPr/>
        </p:nvGraphicFramePr>
        <p:xfrm>
          <a:off x="6482350" y="4072269"/>
          <a:ext cx="4266965" cy="651072"/>
        </p:xfrm>
        <a:graphic>
          <a:graphicData uri="http://schemas.openxmlformats.org/presentationml/2006/ole">
            <mc:AlternateContent xmlns:mc="http://schemas.openxmlformats.org/markup-compatibility/2006">
              <mc:Choice xmlns:v="urn:schemas-microsoft-com:vml" Requires="v">
                <p:oleObj name="AxMath" r:id="rId2" imgW="1143000" imgH="1143000" progId="Equation.AxMath">
                  <p:embed/>
                </p:oleObj>
              </mc:Choice>
              <mc:Fallback>
                <p:oleObj name="AxMath" r:id="rId2" imgW="1143000" imgH="1143000" progId="Equation.AxMath">
                  <p:embed/>
                  <p:pic>
                    <p:nvPicPr>
                      <p:cNvPr id="0" name="图片 3089"/>
                      <p:cNvPicPr/>
                      <p:nvPr/>
                    </p:nvPicPr>
                    <p:blipFill>
                      <a:blip r:embed="rId3"/>
                      <a:stretch>
                        <a:fillRect/>
                      </a:stretch>
                    </p:blipFill>
                    <p:spPr>
                      <a:xfrm>
                        <a:off x="6482350" y="4072269"/>
                        <a:ext cx="4266965" cy="651072"/>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010878" y="5222763"/>
          <a:ext cx="5102844" cy="649902"/>
        </p:xfrm>
        <a:graphic>
          <a:graphicData uri="http://schemas.openxmlformats.org/presentationml/2006/ole">
            <mc:AlternateContent xmlns:mc="http://schemas.openxmlformats.org/markup-compatibility/2006">
              <mc:Choice xmlns:v="urn:schemas-microsoft-com:vml" Requires="v">
                <p:oleObj name="AxMath" r:id="rId4" imgW="1143000" imgH="1143000" progId="Equation.AxMath">
                  <p:embed/>
                </p:oleObj>
              </mc:Choice>
              <mc:Fallback>
                <p:oleObj name="AxMath" r:id="rId4" imgW="1143000" imgH="1143000" progId="Equation.AxMath">
                  <p:embed/>
                  <p:pic>
                    <p:nvPicPr>
                      <p:cNvPr id="0" name="图片 3090"/>
                      <p:cNvPicPr/>
                      <p:nvPr/>
                    </p:nvPicPr>
                    <p:blipFill>
                      <a:blip r:embed="rId5"/>
                      <a:stretch>
                        <a:fillRect/>
                      </a:stretch>
                    </p:blipFill>
                    <p:spPr>
                      <a:xfrm>
                        <a:off x="1010878" y="5222763"/>
                        <a:ext cx="5102844" cy="649902"/>
                      </a:xfrm>
                      <a:prstGeom prst="rect">
                        <a:avLst/>
                      </a:prstGeom>
                      <a:solidFill>
                        <a:schemeClr val="bg1"/>
                      </a:solidFill>
                      <a:ln>
                        <a:noFill/>
                      </a:ln>
                    </p:spPr>
                  </p:pic>
                </p:oleObj>
              </mc:Fallback>
            </mc:AlternateContent>
          </a:graphicData>
        </a:graphic>
      </p:graphicFrame>
      <p:sp>
        <p:nvSpPr>
          <p:cNvPr id="8" name="矩形 7"/>
          <p:cNvSpPr/>
          <p:nvPr/>
        </p:nvSpPr>
        <p:spPr>
          <a:xfrm>
            <a:off x="741511" y="6027021"/>
            <a:ext cx="3262432" cy="400110"/>
          </a:xfrm>
          <a:prstGeom prst="rect">
            <a:avLst/>
          </a:prstGeom>
        </p:spPr>
        <p:txBody>
          <a:bodyPr wrap="none">
            <a:spAutoFit/>
          </a:bodyPr>
          <a:lstStyle/>
          <a:p>
            <a:r>
              <a:rPr lang="zh-CN" altLang="en-US" sz="2000" dirty="0">
                <a:solidFill>
                  <a:srgbClr val="FF0000"/>
                </a:solidFill>
                <a:latin typeface="华文楷体" panose="02010600040101010101" pitchFamily="2" charset="-122"/>
                <a:ea typeface="华文楷体" panose="02010600040101010101" pitchFamily="2" charset="-122"/>
              </a:rPr>
              <a:t>可见后验概率即是条件概率</a:t>
            </a:r>
          </a:p>
        </p:txBody>
      </p:sp>
      <p:sp>
        <p:nvSpPr>
          <p:cNvPr id="2" name="矩形 1"/>
          <p:cNvSpPr/>
          <p:nvPr/>
        </p:nvSpPr>
        <p:spPr>
          <a:xfrm>
            <a:off x="5697415" y="5222763"/>
            <a:ext cx="713433" cy="6390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lumMod val="75000"/>
                    <a:lumOff val="25000"/>
                  </a:schemeClr>
                </a:solidFill>
              </a:rPr>
              <a:t>0.25</a:t>
            </a:r>
            <a:endParaRPr lang="zh-CN" altLang="en-US" b="1" dirty="0">
              <a:solidFill>
                <a:schemeClr val="tx1">
                  <a:lumMod val="75000"/>
                  <a:lumOff val="2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87828" y="1399064"/>
                <a:ext cx="11364685" cy="4608512"/>
              </a:xfrm>
            </p:spPr>
            <p:txBody>
              <a:bodyPr>
                <a:noAutofit/>
              </a:bodyPr>
              <a:lstStyle/>
              <a:p>
                <a:pPr marL="0" indent="0">
                  <a:lnSpc>
                    <a:spcPct val="150000"/>
                  </a:lnSpc>
                  <a:spcBef>
                    <a:spcPts val="0"/>
                  </a:spcBef>
                  <a:spcAft>
                    <a:spcPts val="0"/>
                  </a:spcAft>
                  <a:buNone/>
                </a:pPr>
                <a:r>
                  <a:rPr lang="zh-CN" altLang="en-US" sz="2400" dirty="0"/>
                  <a:t>如果将</a:t>
                </a:r>
                <a:r>
                  <a:rPr lang="en-US" altLang="zh-CN" sz="2400" dirty="0"/>
                  <a:t>A</a:t>
                </a:r>
                <a:r>
                  <a:rPr lang="zh-CN" altLang="en-US" sz="2400" dirty="0"/>
                  <a:t>理解为假设，</a:t>
                </a:r>
                <a:r>
                  <a:rPr lang="en-US" altLang="zh-CN" sz="2400" dirty="0"/>
                  <a:t>B</a:t>
                </a:r>
                <a:r>
                  <a:rPr lang="zh-CN" altLang="en-US" sz="2400" dirty="0"/>
                  <a:t>理解为数据，那么贝叶斯定理告诉我们：在给定数据的条件下，如何计算假设成立的概率。</a:t>
                </a:r>
                <a:endParaRPr lang="en-US" altLang="zh-CN" sz="2400" dirty="0"/>
              </a:p>
              <a:p>
                <a:pPr>
                  <a:lnSpc>
                    <a:spcPct val="150000"/>
                  </a:lnSpc>
                  <a:spcBef>
                    <a:spcPts val="0"/>
                  </a:spcBef>
                  <a:spcAft>
                    <a:spcPts val="0"/>
                  </a:spcAft>
                </a:pPr>
                <a:r>
                  <a:rPr lang="zh-CN" altLang="en-US" sz="2400" b="1" dirty="0">
                    <a:solidFill>
                      <a:srgbClr val="C00000"/>
                    </a:solidFill>
                  </a:rPr>
                  <a:t>先验概率</a:t>
                </a:r>
                <a14:m>
                  <m:oMath xmlns:m="http://schemas.openxmlformats.org/officeDocument/2006/math">
                    <m:r>
                      <a:rPr lang="en-US" altLang="zh-CN" sz="2400" b="1" i="1" dirty="0">
                        <a:solidFill>
                          <a:srgbClr val="C00000"/>
                        </a:solidFill>
                        <a:latin typeface="Cambria Math" panose="02040503050406030204"/>
                      </a:rPr>
                      <m:t>𝐏</m:t>
                    </m:r>
                    <m:d>
                      <m:dPr>
                        <m:ctrlPr>
                          <a:rPr lang="en-US" altLang="zh-CN" sz="2400" b="1" i="1" dirty="0" smtClean="0">
                            <a:solidFill>
                              <a:srgbClr val="C00000"/>
                            </a:solidFill>
                            <a:latin typeface="Cambria Math" panose="02040503050406030204" pitchFamily="18" charset="0"/>
                          </a:rPr>
                        </m:ctrlPr>
                      </m:dPr>
                      <m:e>
                        <m:r>
                          <a:rPr lang="en-US" altLang="zh-CN" sz="2400" b="1" i="1" dirty="0" smtClean="0">
                            <a:solidFill>
                              <a:srgbClr val="C00000"/>
                            </a:solidFill>
                            <a:latin typeface="Cambria Math" panose="02040503050406030204"/>
                          </a:rPr>
                          <m:t>𝑨</m:t>
                        </m:r>
                      </m:e>
                    </m:d>
                  </m:oMath>
                </a14:m>
                <a:r>
                  <a:rPr lang="zh-CN" altLang="en-US" sz="2400" dirty="0"/>
                  <a:t>，在观测到数据之前，人们对参数的了解。</a:t>
                </a:r>
                <a:endParaRPr lang="en-US" altLang="zh-CN" sz="2400" dirty="0"/>
              </a:p>
              <a:p>
                <a:pPr>
                  <a:lnSpc>
                    <a:spcPct val="150000"/>
                  </a:lnSpc>
                  <a:spcBef>
                    <a:spcPts val="0"/>
                  </a:spcBef>
                  <a:spcAft>
                    <a:spcPts val="0"/>
                  </a:spcAft>
                </a:pPr>
                <a:r>
                  <a:rPr lang="zh-CN" altLang="en-US" sz="2400" b="1" dirty="0">
                    <a:solidFill>
                      <a:srgbClr val="C00000"/>
                    </a:solidFill>
                  </a:rPr>
                  <a:t>似然概率</a:t>
                </a:r>
                <a14:m>
                  <m:oMath xmlns:m="http://schemas.openxmlformats.org/officeDocument/2006/math">
                    <m:r>
                      <a:rPr lang="en-US" altLang="zh-CN" sz="2400" b="1" i="1" smtClean="0">
                        <a:solidFill>
                          <a:srgbClr val="C00000"/>
                        </a:solidFill>
                        <a:latin typeface="Cambria Math" panose="02040503050406030204"/>
                      </a:rPr>
                      <m:t>𝑷</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a:rPr>
                          <m:t>𝑩</m:t>
                        </m:r>
                      </m:e>
                      <m:e>
                        <m:r>
                          <a:rPr lang="en-US" altLang="zh-CN" sz="2400" b="1" i="1" smtClean="0">
                            <a:solidFill>
                              <a:srgbClr val="C00000"/>
                            </a:solidFill>
                            <a:latin typeface="Cambria Math" panose="02040503050406030204"/>
                          </a:rPr>
                          <m:t>𝑨</m:t>
                        </m:r>
                      </m:e>
                    </m:d>
                  </m:oMath>
                </a14:m>
                <a:r>
                  <a:rPr lang="zh-CN" altLang="en-US" sz="2400" dirty="0"/>
                  <a:t>，如何在实验中引入观测数据，反映的是在给定参数下得到某组观测数据的可信度。</a:t>
                </a:r>
                <a:endParaRPr lang="en-US" altLang="zh-CN" sz="2400" dirty="0"/>
              </a:p>
              <a:p>
                <a:pPr>
                  <a:lnSpc>
                    <a:spcPct val="150000"/>
                  </a:lnSpc>
                  <a:spcBef>
                    <a:spcPts val="0"/>
                  </a:spcBef>
                  <a:spcAft>
                    <a:spcPts val="0"/>
                  </a:spcAft>
                </a:pPr>
                <a:r>
                  <a:rPr lang="zh-CN" altLang="en-US" sz="2400" b="1" dirty="0">
                    <a:solidFill>
                      <a:srgbClr val="C00000"/>
                    </a:solidFill>
                  </a:rPr>
                  <a:t>后验概率</a:t>
                </a:r>
                <a14:m>
                  <m:oMath xmlns:m="http://schemas.openxmlformats.org/officeDocument/2006/math">
                    <m:r>
                      <a:rPr lang="en-US" altLang="zh-CN" sz="2400" b="1" i="1" smtClean="0">
                        <a:solidFill>
                          <a:srgbClr val="C00000"/>
                        </a:solidFill>
                        <a:latin typeface="Cambria Math" panose="02040503050406030204"/>
                      </a:rPr>
                      <m:t>𝑷</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a:rPr>
                          <m:t>𝑨</m:t>
                        </m:r>
                      </m:e>
                      <m:e>
                        <m:r>
                          <a:rPr lang="en-US" altLang="zh-CN" sz="2400" b="1" i="1" smtClean="0">
                            <a:solidFill>
                              <a:srgbClr val="C00000"/>
                            </a:solidFill>
                            <a:latin typeface="Cambria Math" panose="02040503050406030204"/>
                          </a:rPr>
                          <m:t>𝑩</m:t>
                        </m:r>
                      </m:e>
                    </m:d>
                    <m:r>
                      <a:rPr lang="zh-CN" altLang="en-US" sz="2400" b="0" i="1" smtClean="0">
                        <a:latin typeface="Cambria Math" panose="02040503050406030204"/>
                      </a:rPr>
                      <m:t>，</m:t>
                    </m:r>
                  </m:oMath>
                </a14:m>
                <a:r>
                  <a:rPr lang="zh-CN" altLang="en-US" sz="2400" dirty="0"/>
                  <a:t>是贝叶斯分析的结果，反映的是在给定数据和模型的条件下，人们对问题的全部认知。需要注意的是，后验指模型中参数的概率分布而不是某个值，该分布正比于先验乘以似然。</a:t>
                </a:r>
                <a:endParaRPr lang="en-US" altLang="zh-CN" sz="2400" dirty="0"/>
              </a:p>
              <a:p>
                <a:pPr>
                  <a:lnSpc>
                    <a:spcPct val="150000"/>
                  </a:lnSpc>
                  <a:spcBef>
                    <a:spcPts val="0"/>
                  </a:spcBef>
                  <a:spcAft>
                    <a:spcPts val="0"/>
                  </a:spcAft>
                </a:pPr>
                <a:r>
                  <a:rPr lang="zh-CN" altLang="en-US" sz="2400" b="1" dirty="0">
                    <a:solidFill>
                      <a:srgbClr val="C00000"/>
                    </a:solidFill>
                  </a:rPr>
                  <a:t>证据</a:t>
                </a:r>
                <a14:m>
                  <m:oMath xmlns:m="http://schemas.openxmlformats.org/officeDocument/2006/math">
                    <m:r>
                      <a:rPr lang="en-US" altLang="zh-CN" sz="2400" b="1" i="1" smtClean="0">
                        <a:solidFill>
                          <a:srgbClr val="C00000"/>
                        </a:solidFill>
                        <a:latin typeface="Cambria Math" panose="02040503050406030204"/>
                      </a:rPr>
                      <m:t>𝑷</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a:rPr>
                          <m:t>𝑩</m:t>
                        </m:r>
                      </m:e>
                    </m:d>
                  </m:oMath>
                </a14:m>
                <a:r>
                  <a:rPr lang="zh-CN" altLang="en-US" sz="2400" dirty="0"/>
                  <a:t>，也叫做边缘似然。证据是在模型的参数取遍所有可能值的条件下得到指定观测值的概率的平均。</a:t>
                </a:r>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587828" y="1399064"/>
                <a:ext cx="11364685" cy="4608512"/>
              </a:xfrm>
              <a:blipFill rotWithShape="1">
                <a:blip r:embed="rId2"/>
                <a:stretch>
                  <a:fillRect l="-4" t="-9525" r="5" b="-9525"/>
                </a:stretch>
              </a:blipFill>
            </p:spPr>
            <p:txBody>
              <a:bodyPr/>
              <a:lstStyle/>
              <a:p>
                <a:r>
                  <a:rPr lang="zh-CN" altLang="en-US">
                    <a:noFill/>
                  </a:rPr>
                  <a:t> </a:t>
                </a:r>
              </a:p>
            </p:txBody>
          </p:sp>
        </mc:Fallback>
      </mc:AlternateContent>
      <p:sp>
        <p:nvSpPr>
          <p:cNvPr id="4" name="TextBox 3"/>
          <p:cNvSpPr txBox="1">
            <a:spLocks noChangeArrowheads="1"/>
          </p:cNvSpPr>
          <p:nvPr/>
        </p:nvSpPr>
        <p:spPr bwMode="auto">
          <a:xfrm>
            <a:off x="915186" y="311213"/>
            <a:ext cx="3695055" cy="615553"/>
          </a:xfrm>
          <a:prstGeom prst="rect">
            <a:avLst/>
          </a:prstGeom>
          <a:solidFill>
            <a:srgbClr val="009999"/>
          </a:solidFill>
          <a:ln>
            <a:noFill/>
          </a:ln>
        </p:spPr>
        <p:txBody>
          <a:bodyPr wrap="square" lIns="121917" tIns="60958" rIns="121917" bIns="60958">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贝叶斯理论概述</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0143" y="117565"/>
            <a:ext cx="4479423" cy="796834"/>
          </a:xfrm>
          <a:solidFill>
            <a:srgbClr val="009999"/>
          </a:solidFill>
        </p:spPr>
        <p:txBody>
          <a:bodyPr/>
          <a:lstStyle/>
          <a:p>
            <a:r>
              <a:rPr dirty="0" err="1">
                <a:solidFill>
                  <a:schemeClr val="bg1"/>
                </a:solidFill>
                <a:latin typeface="+mn-ea"/>
                <a:ea typeface="+mn-ea"/>
              </a:rPr>
              <a:t>朴素贝叶斯分类</a:t>
            </a:r>
            <a:endParaRPr dirty="0">
              <a:solidFill>
                <a:schemeClr val="bg1"/>
              </a:solidFill>
              <a:latin typeface="+mn-ea"/>
              <a:ea typeface="+mn-ea"/>
            </a:endParaRPr>
          </a:p>
        </p:txBody>
      </p:sp>
      <p:sp>
        <p:nvSpPr>
          <p:cNvPr id="4" name="内容占位符 3"/>
          <p:cNvSpPr>
            <a:spLocks noGrp="1"/>
          </p:cNvSpPr>
          <p:nvPr>
            <p:ph idx="13"/>
          </p:nvPr>
        </p:nvSpPr>
        <p:spPr>
          <a:xfrm>
            <a:off x="673240" y="954277"/>
            <a:ext cx="11009674" cy="4104456"/>
          </a:xfrm>
        </p:spPr>
        <p:txBody>
          <a:bodyPr>
            <a:noAutofit/>
          </a:bodyPr>
          <a:lstStyle/>
          <a:p>
            <a:pPr marL="342900" indent="-342900">
              <a:lnSpc>
                <a:spcPct val="100000"/>
              </a:lnSpc>
              <a:spcBef>
                <a:spcPts val="0"/>
              </a:spcBef>
              <a:buFont typeface="Wingdings" panose="05000000000000000000" pitchFamily="2" charset="2"/>
              <a:buChar char="n"/>
            </a:pPr>
            <a:r>
              <a:rPr lang="zh-CN" altLang="en-US" dirty="0">
                <a:solidFill>
                  <a:schemeClr val="tx1"/>
                </a:solidFill>
                <a:latin typeface="Cambria" panose="02040503050406030204" pitchFamily="18" charset="0"/>
              </a:rPr>
              <a:t>贝叶斯理论在分类算法中的解释：把</a:t>
            </a:r>
            <a:r>
              <a:rPr lang="en-US" altLang="zh-CN" dirty="0">
                <a:solidFill>
                  <a:schemeClr val="tx1"/>
                </a:solidFill>
                <a:latin typeface="Cambria" panose="02040503050406030204" pitchFamily="18" charset="0"/>
              </a:rPr>
              <a:t>B</a:t>
            </a:r>
            <a:r>
              <a:rPr lang="zh-CN" altLang="en-US" dirty="0">
                <a:solidFill>
                  <a:schemeClr val="tx1"/>
                </a:solidFill>
                <a:latin typeface="Cambria" panose="02040503050406030204" pitchFamily="18" charset="0"/>
              </a:rPr>
              <a:t>看做样本，</a:t>
            </a:r>
            <a:r>
              <a:rPr lang="en-US" altLang="zh-CN" dirty="0">
                <a:solidFill>
                  <a:schemeClr val="tx1"/>
                </a:solidFill>
                <a:latin typeface="Cambria" panose="02040503050406030204" pitchFamily="18" charset="0"/>
              </a:rPr>
              <a:t>A</a:t>
            </a:r>
            <a:r>
              <a:rPr lang="zh-CN" altLang="en-US" dirty="0">
                <a:solidFill>
                  <a:schemeClr val="tx1"/>
                </a:solidFill>
                <a:latin typeface="Cambria" panose="02040503050406030204" pitchFamily="18" charset="0"/>
              </a:rPr>
              <a:t>看做类别，那么贝叶斯定理告诉我们：在给定样本的情况下，如何计算样本属于某个类别的概率。</a:t>
            </a:r>
            <a:endParaRPr lang="en-US" altLang="zh-CN" dirty="0">
              <a:solidFill>
                <a:schemeClr val="tx1"/>
              </a:solidFill>
              <a:latin typeface="Cambria" panose="02040503050406030204" pitchFamily="18" charset="0"/>
            </a:endParaRPr>
          </a:p>
          <a:p>
            <a:pPr marL="285750" indent="-285750">
              <a:lnSpc>
                <a:spcPct val="100000"/>
              </a:lnSpc>
              <a:spcBef>
                <a:spcPts val="0"/>
              </a:spcBef>
              <a:buFont typeface="Wingdings" panose="05000000000000000000" pitchFamily="2" charset="2"/>
              <a:buChar char="n"/>
            </a:pPr>
            <a:r>
              <a:rPr lang="zh-CN" altLang="zh-CN" dirty="0">
                <a:solidFill>
                  <a:schemeClr val="tx1"/>
                </a:solidFill>
                <a:latin typeface="Cambria" panose="02040503050406030204" pitchFamily="18" charset="0"/>
              </a:rPr>
              <a:t>朴素贝叶斯分类（</a:t>
            </a:r>
            <a:r>
              <a:rPr lang="en-US" altLang="zh-CN" dirty="0">
                <a:solidFill>
                  <a:schemeClr val="tx1"/>
                </a:solidFill>
                <a:latin typeface="Cambria" panose="02040503050406030204" pitchFamily="18" charset="0"/>
                <a:ea typeface="Cambria" panose="02040503050406030204" pitchFamily="18" charset="0"/>
              </a:rPr>
              <a:t>Naive Bayes Classifier</a:t>
            </a:r>
            <a:r>
              <a:rPr lang="zh-CN" altLang="zh-CN" dirty="0">
                <a:solidFill>
                  <a:schemeClr val="tx1"/>
                </a:solidFill>
                <a:latin typeface="Cambria" panose="02040503050406030204" pitchFamily="18" charset="0"/>
              </a:rPr>
              <a:t>）是基于贝叶斯定理和</a:t>
            </a:r>
            <a:r>
              <a:rPr lang="zh-CN" altLang="en-US" b="1" dirty="0">
                <a:solidFill>
                  <a:srgbClr val="C00000"/>
                </a:solidFill>
                <a:latin typeface="Cambria" panose="02040503050406030204" pitchFamily="18" charset="0"/>
              </a:rPr>
              <a:t>特征条件独立假设</a:t>
            </a:r>
            <a:r>
              <a:rPr lang="zh-CN" altLang="zh-CN" dirty="0">
                <a:solidFill>
                  <a:schemeClr val="tx1"/>
                </a:solidFill>
                <a:latin typeface="Cambria" panose="02040503050406030204" pitchFamily="18" charset="0"/>
              </a:rPr>
              <a:t>的分类算法。</a:t>
            </a:r>
            <a:endParaRPr lang="en-US" altLang="zh-CN" dirty="0">
              <a:solidFill>
                <a:schemeClr val="tx1"/>
              </a:solidFill>
              <a:latin typeface="Cambria" panose="02040503050406030204" pitchFamily="18" charset="0"/>
            </a:endParaRPr>
          </a:p>
          <a:p>
            <a:pPr marL="285750" indent="-285750">
              <a:lnSpc>
                <a:spcPct val="100000"/>
              </a:lnSpc>
              <a:spcBef>
                <a:spcPts val="0"/>
              </a:spcBef>
              <a:buFont typeface="Wingdings" panose="05000000000000000000" pitchFamily="2" charset="2"/>
              <a:buChar char="n"/>
            </a:pPr>
            <a:r>
              <a:rPr lang="zh-CN" altLang="zh-CN" dirty="0">
                <a:solidFill>
                  <a:schemeClr val="tx1"/>
                </a:solidFill>
                <a:latin typeface="Cambria" panose="02040503050406030204" pitchFamily="18" charset="0"/>
              </a:rPr>
              <a:t>朴素贝叶斯分类器源于古典数学理论，有着坚实的数学基础，以及稳定的分类效率。</a:t>
            </a:r>
            <a:endParaRPr lang="en-US" altLang="zh-CN" dirty="0">
              <a:solidFill>
                <a:schemeClr val="tx1"/>
              </a:solidFill>
              <a:latin typeface="Cambria" panose="02040503050406030204" pitchFamily="18" charset="0"/>
            </a:endParaRPr>
          </a:p>
          <a:p>
            <a:pPr marL="285750" indent="-285750">
              <a:lnSpc>
                <a:spcPct val="100000"/>
              </a:lnSpc>
              <a:spcBef>
                <a:spcPts val="0"/>
              </a:spcBef>
              <a:buFont typeface="Wingdings" panose="05000000000000000000" pitchFamily="2" charset="2"/>
              <a:buChar char="n"/>
            </a:pPr>
            <a:r>
              <a:rPr lang="zh-CN" altLang="zh-CN" dirty="0">
                <a:solidFill>
                  <a:schemeClr val="tx1"/>
                </a:solidFill>
                <a:latin typeface="Cambria" panose="02040503050406030204" pitchFamily="18" charset="0"/>
              </a:rPr>
              <a:t>朴素贝叶斯模型的参数也不多，对缺失数据不太敏感，算法实现比较简单。</a:t>
            </a:r>
            <a:endParaRPr lang="en-US" altLang="zh-CN" dirty="0">
              <a:solidFill>
                <a:schemeClr val="tx1"/>
              </a:solidFill>
              <a:latin typeface="Cambria" panose="02040503050406030204" pitchFamily="18" charset="0"/>
            </a:endParaRPr>
          </a:p>
          <a:p>
            <a:pPr marL="285750" indent="-285750">
              <a:lnSpc>
                <a:spcPct val="100000"/>
              </a:lnSpc>
              <a:spcBef>
                <a:spcPts val="0"/>
              </a:spcBef>
              <a:buFont typeface="Wingdings" panose="05000000000000000000" pitchFamily="2" charset="2"/>
              <a:buChar char="n"/>
            </a:pPr>
            <a:r>
              <a:rPr lang="zh-CN" altLang="zh-CN" dirty="0">
                <a:solidFill>
                  <a:schemeClr val="tx1"/>
                </a:solidFill>
                <a:latin typeface="Cambria" panose="02040503050406030204" pitchFamily="18" charset="0"/>
              </a:rPr>
              <a:t>通俗地讲，朴素贝叶斯分类器可以看作：</a:t>
            </a:r>
            <a:r>
              <a:rPr lang="zh-CN" altLang="zh-CN" b="1" dirty="0">
                <a:solidFill>
                  <a:schemeClr val="tx1"/>
                </a:solidFill>
                <a:latin typeface="Cambria" panose="02040503050406030204" pitchFamily="18" charset="0"/>
              </a:rPr>
              <a:t>对于给定的待分类项，求解在该分类项出现的条件下，各个类别出现的概率。根据各个类别出现的概率，哪个最大，就将其划归为那个类别。</a:t>
            </a:r>
          </a:p>
        </p:txBody>
      </p:sp>
      <p:graphicFrame>
        <p:nvGraphicFramePr>
          <p:cNvPr id="3" name="对象 2"/>
          <p:cNvGraphicFramePr>
            <a:graphicFrameLocks noChangeAspect="1"/>
          </p:cNvGraphicFramePr>
          <p:nvPr/>
        </p:nvGraphicFramePr>
        <p:xfrm>
          <a:off x="2696943" y="5098611"/>
          <a:ext cx="6489588" cy="855947"/>
        </p:xfrm>
        <a:graphic>
          <a:graphicData uri="http://schemas.openxmlformats.org/presentationml/2006/ole">
            <mc:AlternateContent xmlns:mc="http://schemas.openxmlformats.org/markup-compatibility/2006">
              <mc:Choice xmlns:v="urn:schemas-microsoft-com:vml" Requires="v">
                <p:oleObj name="AxMath" r:id="rId2" imgW="1143000" imgH="1143000" progId="Equation.AxMath">
                  <p:embed/>
                </p:oleObj>
              </mc:Choice>
              <mc:Fallback>
                <p:oleObj name="AxMath" r:id="rId2" imgW="1143000" imgH="1143000" progId="Equation.AxMath">
                  <p:embed/>
                  <p:pic>
                    <p:nvPicPr>
                      <p:cNvPr id="0" name="图片 4100"/>
                      <p:cNvPicPr/>
                      <p:nvPr/>
                    </p:nvPicPr>
                    <p:blipFill>
                      <a:blip r:embed="rId3"/>
                      <a:stretch>
                        <a:fillRect/>
                      </a:stretch>
                    </p:blipFill>
                    <p:spPr>
                      <a:xfrm>
                        <a:off x="2696943" y="5098611"/>
                        <a:ext cx="6489588" cy="855947"/>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2"/>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90636" y="865631"/>
            <a:ext cx="6413066" cy="567463"/>
          </a:xfrm>
          <a:prstGeom prst="rect">
            <a:avLst/>
          </a:prstGeom>
        </p:spPr>
        <p:txBody>
          <a:bodyPr vert="horz" wrap="square" lIns="0" tIns="13335" rIns="0" bIns="0" rtlCol="0" anchor="ctr">
            <a:spAutoFit/>
          </a:bodyPr>
          <a:lstStyle/>
          <a:p>
            <a:pPr marL="12700">
              <a:spcBef>
                <a:spcPts val="105"/>
              </a:spcBef>
            </a:pPr>
            <a:r>
              <a:rPr lang="zh-CN" altLang="en-US" sz="4000" dirty="0"/>
              <a:t>训练朴素贝叶斯：朴素假设</a:t>
            </a:r>
            <a:endParaRPr sz="4000" dirty="0"/>
          </a:p>
        </p:txBody>
      </p:sp>
      <p:sp>
        <p:nvSpPr>
          <p:cNvPr id="4" name="object 4"/>
          <p:cNvSpPr txBox="1"/>
          <p:nvPr/>
        </p:nvSpPr>
        <p:spPr>
          <a:xfrm>
            <a:off x="590635" y="1929893"/>
            <a:ext cx="2514600" cy="935513"/>
          </a:xfrm>
          <a:prstGeom prst="rect">
            <a:avLst/>
          </a:prstGeom>
        </p:spPr>
        <p:txBody>
          <a:bodyPr vert="horz" wrap="square" lIns="0" tIns="12065" rIns="0" bIns="0" rtlCol="0">
            <a:spAutoFit/>
          </a:bodyPr>
          <a:lstStyle/>
          <a:p>
            <a:pPr marL="12700" marR="5080">
              <a:lnSpc>
                <a:spcPct val="100000"/>
              </a:lnSpc>
              <a:spcBef>
                <a:spcPts val="95"/>
              </a:spcBef>
            </a:pPr>
            <a:r>
              <a:rPr lang="zh-CN" altLang="en-US" sz="2000" dirty="0">
                <a:latin typeface="Arial" panose="020B0604020202020204"/>
                <a:cs typeface="Arial" panose="020B0604020202020204"/>
              </a:rPr>
              <a:t>给定特征向量</a:t>
            </a:r>
            <a:r>
              <a:rPr sz="2000" dirty="0">
                <a:latin typeface="Arial" panose="020B0604020202020204"/>
                <a:cs typeface="Arial" panose="020B0604020202020204"/>
              </a:rPr>
              <a:t>(</a:t>
            </a:r>
            <a:r>
              <a:rPr sz="2000" dirty="0">
                <a:solidFill>
                  <a:srgbClr val="0433FF"/>
                </a:solidFill>
                <a:latin typeface="DejaVu Sans"/>
                <a:cs typeface="DejaVu Sans"/>
              </a:rPr>
              <a:t>𝑋</a:t>
            </a:r>
            <a:r>
              <a:rPr sz="2000" dirty="0">
                <a:latin typeface="Arial" panose="020B0604020202020204"/>
                <a:cs typeface="Arial" panose="020B0604020202020204"/>
              </a:rPr>
              <a:t>)</a:t>
            </a:r>
            <a:r>
              <a:rPr lang="zh-CN" altLang="en-US" sz="2000" dirty="0">
                <a:latin typeface="Arial" panose="020B0604020202020204"/>
                <a:cs typeface="Arial" panose="020B0604020202020204"/>
              </a:rPr>
              <a:t>，计算其属于每个类别 </a:t>
            </a:r>
            <a:r>
              <a:rPr lang="en-US" altLang="zh-CN" sz="2000" i="1" dirty="0">
                <a:latin typeface="Arial" panose="020B0604020202020204"/>
                <a:cs typeface="Arial" panose="020B0604020202020204"/>
              </a:rPr>
              <a:t>(</a:t>
            </a:r>
            <a:r>
              <a:rPr lang="en-US" altLang="zh-CN" sz="2000" i="1" dirty="0">
                <a:solidFill>
                  <a:srgbClr val="FF0000"/>
                </a:solidFill>
                <a:latin typeface="Arial" panose="020B0604020202020204"/>
                <a:cs typeface="Arial" panose="020B0604020202020204"/>
              </a:rPr>
              <a:t>C</a:t>
            </a:r>
            <a:r>
              <a:rPr lang="en-US" altLang="zh-CN" sz="2000" i="1" dirty="0">
                <a:latin typeface="Arial" panose="020B0604020202020204"/>
                <a:cs typeface="Arial" panose="020B0604020202020204"/>
              </a:rPr>
              <a:t>) </a:t>
            </a:r>
            <a:r>
              <a:rPr lang="zh-CN" altLang="en-US" sz="2000" dirty="0">
                <a:latin typeface="Arial" panose="020B0604020202020204"/>
                <a:cs typeface="Arial" panose="020B0604020202020204"/>
              </a:rPr>
              <a:t>的概率</a:t>
            </a:r>
            <a:endParaRPr sz="2000" dirty="0">
              <a:latin typeface="Arial" panose="020B0604020202020204"/>
              <a:cs typeface="Arial" panose="020B0604020202020204"/>
            </a:endParaRPr>
          </a:p>
        </p:txBody>
      </p:sp>
      <p:sp>
        <p:nvSpPr>
          <p:cNvPr id="12" name="object 4"/>
          <p:cNvSpPr txBox="1"/>
          <p:nvPr>
            <p:custDataLst>
              <p:tags r:id="rId1"/>
            </p:custDataLst>
          </p:nvPr>
        </p:nvSpPr>
        <p:spPr>
          <a:xfrm>
            <a:off x="623392" y="3356993"/>
            <a:ext cx="2514600" cy="935513"/>
          </a:xfrm>
          <a:prstGeom prst="rect">
            <a:avLst/>
          </a:prstGeom>
        </p:spPr>
        <p:txBody>
          <a:bodyPr vert="horz" wrap="square" lIns="0" tIns="12065" rIns="0" bIns="0" rtlCol="0">
            <a:spAutoFit/>
          </a:bodyPr>
          <a:lstStyle/>
          <a:p>
            <a:pPr marL="12700" marR="5080">
              <a:lnSpc>
                <a:spcPct val="100000"/>
              </a:lnSpc>
              <a:spcBef>
                <a:spcPts val="95"/>
              </a:spcBef>
            </a:pPr>
            <a:r>
              <a:rPr lang="zh-CN" altLang="en-US" sz="2000" dirty="0">
                <a:latin typeface="Arial" panose="020B0604020202020204"/>
                <a:cs typeface="Arial" panose="020B0604020202020204"/>
              </a:rPr>
              <a:t>解决方案：</a:t>
            </a:r>
            <a:r>
              <a:rPr lang="zh-CN" altLang="en-US" sz="2000" b="1" dirty="0">
                <a:solidFill>
                  <a:srgbClr val="FF0000"/>
                </a:solidFill>
                <a:latin typeface="Arial" panose="020B0604020202020204"/>
                <a:cs typeface="Arial" panose="020B0604020202020204"/>
              </a:rPr>
              <a:t>假设给定类别，所有特征相互独立</a:t>
            </a:r>
            <a:endParaRPr sz="2000" b="1" dirty="0">
              <a:solidFill>
                <a:srgbClr val="FF0000"/>
              </a:solidFill>
              <a:latin typeface="Arial" panose="020B0604020202020204"/>
              <a:cs typeface="Arial" panose="020B0604020202020204"/>
            </a:endParaRPr>
          </a:p>
        </p:txBody>
      </p:sp>
      <p:sp>
        <p:nvSpPr>
          <p:cNvPr id="6" name="object 4"/>
          <p:cNvSpPr txBox="1"/>
          <p:nvPr/>
        </p:nvSpPr>
        <p:spPr>
          <a:xfrm>
            <a:off x="605068" y="4581719"/>
            <a:ext cx="2802633" cy="319959"/>
          </a:xfrm>
          <a:prstGeom prst="rect">
            <a:avLst/>
          </a:prstGeom>
        </p:spPr>
        <p:txBody>
          <a:bodyPr vert="horz" wrap="square" lIns="0" tIns="12065" rIns="0" bIns="0" rtlCol="0">
            <a:spAutoFit/>
          </a:bodyPr>
          <a:lstStyle/>
          <a:p>
            <a:pPr marL="12700" marR="5080">
              <a:lnSpc>
                <a:spcPct val="100000"/>
              </a:lnSpc>
              <a:spcBef>
                <a:spcPts val="95"/>
              </a:spcBef>
            </a:pPr>
            <a:r>
              <a:rPr lang="zh-CN" altLang="en-US" sz="2000" dirty="0">
                <a:latin typeface="Arial" panose="020B0604020202020204"/>
                <a:cs typeface="Arial" panose="020B0604020202020204"/>
              </a:rPr>
              <a:t>这就是“朴素”的假设</a:t>
            </a:r>
            <a:endParaRPr sz="2000" dirty="0">
              <a:latin typeface="Arial" panose="020B0604020202020204"/>
              <a:cs typeface="Arial" panose="020B0604020202020204"/>
            </a:endParaRPr>
          </a:p>
        </p:txBody>
      </p:sp>
      <p:pic>
        <p:nvPicPr>
          <p:cNvPr id="5" name="图片 4"/>
          <p:cNvPicPr>
            <a:picLocks noChangeAspect="1"/>
          </p:cNvPicPr>
          <p:nvPr/>
        </p:nvPicPr>
        <p:blipFill>
          <a:blip r:embed="rId3" cstate="print"/>
          <a:stretch>
            <a:fillRect/>
          </a:stretch>
        </p:blipFill>
        <p:spPr>
          <a:xfrm>
            <a:off x="3407702" y="1916832"/>
            <a:ext cx="8742473" cy="38247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90635" y="815443"/>
            <a:ext cx="5313344" cy="622863"/>
          </a:xfrm>
          <a:prstGeom prst="rect">
            <a:avLst/>
          </a:prstGeom>
        </p:spPr>
        <p:txBody>
          <a:bodyPr vert="horz" wrap="square" lIns="0" tIns="13335" rIns="0" bIns="0" rtlCol="0" anchor="ctr">
            <a:spAutoFit/>
          </a:bodyPr>
          <a:lstStyle/>
          <a:p>
            <a:pPr marL="12700">
              <a:spcBef>
                <a:spcPts val="105"/>
              </a:spcBef>
            </a:pPr>
            <a:r>
              <a:rPr lang="zh-CN" altLang="en-US" dirty="0"/>
              <a:t>训练朴素</a:t>
            </a:r>
            <a:r>
              <a:rPr lang="zh-CN" altLang="en-US" sz="4000" dirty="0"/>
              <a:t>贝叶斯</a:t>
            </a:r>
            <a:endParaRPr dirty="0"/>
          </a:p>
        </p:txBody>
      </p:sp>
      <p:sp>
        <p:nvSpPr>
          <p:cNvPr id="4" name="object 4"/>
          <p:cNvSpPr txBox="1"/>
          <p:nvPr/>
        </p:nvSpPr>
        <p:spPr>
          <a:xfrm>
            <a:off x="590635" y="2071770"/>
            <a:ext cx="2976530" cy="627736"/>
          </a:xfrm>
          <a:prstGeom prst="rect">
            <a:avLst/>
          </a:prstGeom>
        </p:spPr>
        <p:txBody>
          <a:bodyPr vert="horz" wrap="square" lIns="0" tIns="12065" rIns="0" bIns="0" rtlCol="0">
            <a:spAutoFit/>
          </a:bodyPr>
          <a:lstStyle/>
          <a:p>
            <a:pPr marL="12700" marR="5080">
              <a:lnSpc>
                <a:spcPct val="100000"/>
              </a:lnSpc>
              <a:spcBef>
                <a:spcPts val="95"/>
              </a:spcBef>
            </a:pPr>
            <a:r>
              <a:rPr lang="zh-CN" altLang="en-US" sz="2000" dirty="0">
                <a:latin typeface="Arial" panose="020B0604020202020204"/>
                <a:cs typeface="Arial" panose="020B0604020202020204"/>
              </a:rPr>
              <a:t>给定特征向量</a:t>
            </a:r>
            <a:r>
              <a:rPr sz="2000" dirty="0">
                <a:latin typeface="Arial" panose="020B0604020202020204"/>
                <a:cs typeface="Arial" panose="020B0604020202020204"/>
              </a:rPr>
              <a:t>(</a:t>
            </a:r>
            <a:r>
              <a:rPr sz="2000" dirty="0">
                <a:solidFill>
                  <a:srgbClr val="0433FF"/>
                </a:solidFill>
                <a:latin typeface="DejaVu Sans"/>
                <a:cs typeface="DejaVu Sans"/>
              </a:rPr>
              <a:t>𝑋</a:t>
            </a:r>
            <a:r>
              <a:rPr sz="2000" dirty="0">
                <a:latin typeface="Arial" panose="020B0604020202020204"/>
                <a:cs typeface="Arial" panose="020B0604020202020204"/>
              </a:rPr>
              <a:t>)</a:t>
            </a:r>
            <a:r>
              <a:rPr lang="zh-CN" altLang="en-US" sz="2000" dirty="0">
                <a:latin typeface="Arial" panose="020B0604020202020204"/>
                <a:cs typeface="Arial" panose="020B0604020202020204"/>
              </a:rPr>
              <a:t>，计算其属于每个类别 </a:t>
            </a:r>
            <a:r>
              <a:rPr lang="en-US" altLang="zh-CN" sz="2000" i="1" dirty="0">
                <a:latin typeface="Arial" panose="020B0604020202020204"/>
                <a:cs typeface="Arial" panose="020B0604020202020204"/>
              </a:rPr>
              <a:t>(</a:t>
            </a:r>
            <a:r>
              <a:rPr lang="en-US" altLang="zh-CN" sz="2000" i="1" dirty="0">
                <a:solidFill>
                  <a:srgbClr val="FF0000"/>
                </a:solidFill>
                <a:latin typeface="Arial" panose="020B0604020202020204"/>
                <a:cs typeface="Arial" panose="020B0604020202020204"/>
              </a:rPr>
              <a:t>C</a:t>
            </a:r>
            <a:r>
              <a:rPr lang="en-US" altLang="zh-CN" sz="2000" i="1" dirty="0">
                <a:latin typeface="Arial" panose="020B0604020202020204"/>
                <a:cs typeface="Arial" panose="020B0604020202020204"/>
              </a:rPr>
              <a:t>) </a:t>
            </a:r>
            <a:r>
              <a:rPr lang="zh-CN" altLang="en-US" sz="2000" dirty="0">
                <a:latin typeface="Arial" panose="020B0604020202020204"/>
                <a:cs typeface="Arial" panose="020B0604020202020204"/>
              </a:rPr>
              <a:t>的概率</a:t>
            </a:r>
            <a:endParaRPr sz="2000" dirty="0">
              <a:latin typeface="Arial" panose="020B0604020202020204"/>
              <a:cs typeface="Arial" panose="020B0604020202020204"/>
            </a:endParaRPr>
          </a:p>
        </p:txBody>
      </p:sp>
      <p:sp>
        <p:nvSpPr>
          <p:cNvPr id="12" name="object 4"/>
          <p:cNvSpPr txBox="1"/>
          <p:nvPr/>
        </p:nvSpPr>
        <p:spPr>
          <a:xfrm>
            <a:off x="623391" y="3356993"/>
            <a:ext cx="2793049" cy="627736"/>
          </a:xfrm>
          <a:prstGeom prst="rect">
            <a:avLst/>
          </a:prstGeom>
        </p:spPr>
        <p:txBody>
          <a:bodyPr vert="horz" wrap="square" lIns="0" tIns="12065" rIns="0" bIns="0" rtlCol="0">
            <a:spAutoFit/>
          </a:bodyPr>
          <a:lstStyle/>
          <a:p>
            <a:pPr marL="12700" marR="5080">
              <a:lnSpc>
                <a:spcPct val="100000"/>
              </a:lnSpc>
              <a:spcBef>
                <a:spcPts val="95"/>
              </a:spcBef>
            </a:pPr>
            <a:r>
              <a:rPr lang="zh-CN" altLang="en-US" sz="2000" dirty="0">
                <a:latin typeface="Arial" panose="020B0604020202020204"/>
                <a:cs typeface="Arial" panose="020B0604020202020204"/>
              </a:rPr>
              <a:t>按照最大后验概率规则，把</a:t>
            </a:r>
            <a:r>
              <a:rPr lang="en-US" altLang="zh-CN" sz="2000" dirty="0">
                <a:latin typeface="Arial" panose="020B0604020202020204"/>
                <a:cs typeface="Arial" panose="020B0604020202020204"/>
              </a:rPr>
              <a:t>X</a:t>
            </a:r>
            <a:r>
              <a:rPr lang="zh-CN" altLang="en-US" sz="2000" dirty="0">
                <a:latin typeface="Arial" panose="020B0604020202020204"/>
                <a:cs typeface="Arial" panose="020B0604020202020204"/>
              </a:rPr>
              <a:t>分入概率最大的类别</a:t>
            </a:r>
            <a:endParaRPr sz="2000" dirty="0">
              <a:latin typeface="Arial" panose="020B0604020202020204"/>
              <a:cs typeface="Arial" panose="020B0604020202020204"/>
            </a:endParaRPr>
          </a:p>
        </p:txBody>
      </p:sp>
      <p:pic>
        <p:nvPicPr>
          <p:cNvPr id="2" name="图片 1"/>
          <p:cNvPicPr>
            <a:picLocks noChangeAspect="1"/>
          </p:cNvPicPr>
          <p:nvPr/>
        </p:nvPicPr>
        <p:blipFill>
          <a:blip r:embed="rId2" cstate="print"/>
          <a:stretch>
            <a:fillRect/>
          </a:stretch>
        </p:blipFill>
        <p:spPr>
          <a:xfrm>
            <a:off x="3496826" y="1907224"/>
            <a:ext cx="8673726" cy="39063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01167" y="744860"/>
            <a:ext cx="3105099" cy="567463"/>
          </a:xfrm>
          <a:prstGeom prst="rect">
            <a:avLst/>
          </a:prstGeom>
        </p:spPr>
        <p:txBody>
          <a:bodyPr vert="horz" wrap="square" lIns="0" tIns="13335" rIns="0" bIns="0" rtlCol="0" anchor="ctr">
            <a:spAutoFit/>
          </a:bodyPr>
          <a:lstStyle/>
          <a:p>
            <a:pPr marL="12700">
              <a:spcBef>
                <a:spcPts val="105"/>
              </a:spcBef>
            </a:pPr>
            <a:r>
              <a:rPr lang="zh-CN" altLang="en-US" sz="4000" dirty="0"/>
              <a:t>对数技巧</a:t>
            </a:r>
            <a:endParaRPr sz="4000" dirty="0"/>
          </a:p>
        </p:txBody>
      </p:sp>
      <p:sp>
        <p:nvSpPr>
          <p:cNvPr id="4" name="object 4"/>
          <p:cNvSpPr txBox="1"/>
          <p:nvPr/>
        </p:nvSpPr>
        <p:spPr>
          <a:xfrm>
            <a:off x="590635" y="1929893"/>
            <a:ext cx="2936336" cy="627736"/>
          </a:xfrm>
          <a:prstGeom prst="rect">
            <a:avLst/>
          </a:prstGeom>
        </p:spPr>
        <p:txBody>
          <a:bodyPr vert="horz" wrap="square" lIns="0" tIns="12065" rIns="0" bIns="0" rtlCol="0">
            <a:spAutoFit/>
          </a:bodyPr>
          <a:lstStyle/>
          <a:p>
            <a:pPr marL="12700" marR="5080">
              <a:lnSpc>
                <a:spcPct val="100000"/>
              </a:lnSpc>
              <a:spcBef>
                <a:spcPts val="95"/>
              </a:spcBef>
            </a:pPr>
            <a:r>
              <a:rPr lang="zh-CN" altLang="en-US" sz="2000" dirty="0">
                <a:latin typeface="Arial" panose="020B0604020202020204"/>
                <a:cs typeface="Arial" panose="020B0604020202020204"/>
              </a:rPr>
              <a:t>很多概率值连乘，容易造成浮点计算下界溢出</a:t>
            </a:r>
            <a:endParaRPr sz="2000" dirty="0">
              <a:latin typeface="Arial" panose="020B0604020202020204"/>
              <a:cs typeface="Arial" panose="020B0604020202020204"/>
            </a:endParaRPr>
          </a:p>
        </p:txBody>
      </p:sp>
      <p:sp>
        <p:nvSpPr>
          <p:cNvPr id="7" name="object 4"/>
          <p:cNvSpPr txBox="1"/>
          <p:nvPr/>
        </p:nvSpPr>
        <p:spPr>
          <a:xfrm>
            <a:off x="605069" y="3737368"/>
            <a:ext cx="2921902" cy="319959"/>
          </a:xfrm>
          <a:prstGeom prst="rect">
            <a:avLst/>
          </a:prstGeom>
        </p:spPr>
        <p:txBody>
          <a:bodyPr vert="horz" wrap="square" lIns="0" tIns="12065" rIns="0" bIns="0" rtlCol="0">
            <a:spAutoFit/>
          </a:bodyPr>
          <a:lstStyle/>
          <a:p>
            <a:pPr marL="12700" marR="5080">
              <a:lnSpc>
                <a:spcPct val="100000"/>
              </a:lnSpc>
              <a:spcBef>
                <a:spcPts val="95"/>
              </a:spcBef>
            </a:pPr>
            <a:r>
              <a:rPr lang="zh-CN" altLang="en-US" sz="2000" dirty="0">
                <a:latin typeface="Arial" panose="020B0604020202020204"/>
                <a:cs typeface="Arial" panose="020B0604020202020204"/>
              </a:rPr>
              <a:t>取对数把乘法转化成加法</a:t>
            </a:r>
            <a:endParaRPr sz="2000" dirty="0">
              <a:latin typeface="Arial" panose="020B0604020202020204"/>
              <a:cs typeface="Arial" panose="020B0604020202020204"/>
            </a:endParaRPr>
          </a:p>
        </p:txBody>
      </p:sp>
      <p:pic>
        <p:nvPicPr>
          <p:cNvPr id="8" name="图片 7"/>
          <p:cNvPicPr>
            <a:picLocks noChangeAspect="1"/>
          </p:cNvPicPr>
          <p:nvPr/>
        </p:nvPicPr>
        <p:blipFill>
          <a:blip r:embed="rId2" cstate="print"/>
          <a:stretch>
            <a:fillRect/>
          </a:stretch>
        </p:blipFill>
        <p:spPr>
          <a:xfrm>
            <a:off x="3695734" y="1947824"/>
            <a:ext cx="8459428" cy="386576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Grp="1"/>
          </p:cNvGraphicFramePr>
          <p:nvPr/>
        </p:nvGraphicFramePr>
        <p:xfrm>
          <a:off x="600894" y="1283504"/>
          <a:ext cx="10981506" cy="4996340"/>
        </p:xfrm>
        <a:graphic>
          <a:graphicData uri="http://schemas.openxmlformats.org/drawingml/2006/table">
            <a:tbl>
              <a:tblPr firstRow="1" bandRow="1">
                <a:tableStyleId>{2D5ABB26-0587-4C30-8999-92F81FD0307C}</a:tableStyleId>
              </a:tblPr>
              <a:tblGrid>
                <a:gridCol w="1067440">
                  <a:extLst>
                    <a:ext uri="{9D8B030D-6E8A-4147-A177-3AD203B41FA5}">
                      <a16:colId xmlns:a16="http://schemas.microsoft.com/office/drawing/2014/main" val="20000"/>
                    </a:ext>
                  </a:extLst>
                </a:gridCol>
                <a:gridCol w="1837310">
                  <a:extLst>
                    <a:ext uri="{9D8B030D-6E8A-4147-A177-3AD203B41FA5}">
                      <a16:colId xmlns:a16="http://schemas.microsoft.com/office/drawing/2014/main" val="20001"/>
                    </a:ext>
                  </a:extLst>
                </a:gridCol>
                <a:gridCol w="2241838">
                  <a:extLst>
                    <a:ext uri="{9D8B030D-6E8A-4147-A177-3AD203B41FA5}">
                      <a16:colId xmlns:a16="http://schemas.microsoft.com/office/drawing/2014/main" val="20002"/>
                    </a:ext>
                  </a:extLst>
                </a:gridCol>
                <a:gridCol w="1981331">
                  <a:extLst>
                    <a:ext uri="{9D8B030D-6E8A-4147-A177-3AD203B41FA5}">
                      <a16:colId xmlns:a16="http://schemas.microsoft.com/office/drawing/2014/main" val="20003"/>
                    </a:ext>
                  </a:extLst>
                </a:gridCol>
                <a:gridCol w="1870139">
                  <a:extLst>
                    <a:ext uri="{9D8B030D-6E8A-4147-A177-3AD203B41FA5}">
                      <a16:colId xmlns:a16="http://schemas.microsoft.com/office/drawing/2014/main" val="20004"/>
                    </a:ext>
                  </a:extLst>
                </a:gridCol>
                <a:gridCol w="1983448">
                  <a:extLst>
                    <a:ext uri="{9D8B030D-6E8A-4147-A177-3AD203B41FA5}">
                      <a16:colId xmlns:a16="http://schemas.microsoft.com/office/drawing/2014/main" val="20005"/>
                    </a:ext>
                  </a:extLst>
                </a:gridCol>
              </a:tblGrid>
              <a:tr h="392440">
                <a:tc>
                  <a:txBody>
                    <a:bodyPr/>
                    <a:lstStyle/>
                    <a:p>
                      <a:pPr algn="ctr">
                        <a:lnSpc>
                          <a:spcPct val="100000"/>
                        </a:lnSpc>
                        <a:spcBef>
                          <a:spcPts val="280"/>
                        </a:spcBef>
                      </a:pPr>
                      <a:r>
                        <a:rPr sz="1400" b="1" spc="20" dirty="0">
                          <a:solidFill>
                            <a:srgbClr val="FFFFFF"/>
                          </a:solidFill>
                          <a:latin typeface="Trebuchet MS" panose="020B0603020202020204"/>
                          <a:cs typeface="Trebuchet MS" panose="020B0603020202020204"/>
                        </a:rPr>
                        <a:t>Day</a:t>
                      </a:r>
                      <a:endParaRPr sz="1400" dirty="0">
                        <a:latin typeface="Trebuchet MS" panose="020B0603020202020204"/>
                        <a:cs typeface="Trebuchet MS" panose="020B0603020202020204"/>
                      </a:endParaRPr>
                    </a:p>
                  </a:txBody>
                  <a:tcPr marL="0" marR="0" marT="35560" marB="0">
                    <a:solidFill>
                      <a:srgbClr val="344B5E"/>
                    </a:solidFill>
                  </a:tcPr>
                </a:tc>
                <a:tc>
                  <a:txBody>
                    <a:bodyPr/>
                    <a:lstStyle/>
                    <a:p>
                      <a:pPr marL="302260" algn="ctr">
                        <a:lnSpc>
                          <a:spcPct val="100000"/>
                        </a:lnSpc>
                        <a:spcBef>
                          <a:spcPts val="280"/>
                        </a:spcBef>
                      </a:pPr>
                      <a:r>
                        <a:rPr sz="1400" b="1" spc="20" dirty="0">
                          <a:solidFill>
                            <a:srgbClr val="D0692F"/>
                          </a:solidFill>
                          <a:latin typeface="Trebuchet MS" panose="020B0603020202020204"/>
                          <a:cs typeface="Trebuchet MS" panose="020B0603020202020204"/>
                        </a:rPr>
                        <a:t>Outlook</a:t>
                      </a:r>
                      <a:endParaRPr sz="1400" dirty="0">
                        <a:latin typeface="Trebuchet MS" panose="020B0603020202020204"/>
                        <a:cs typeface="Trebuchet MS" panose="020B0603020202020204"/>
                      </a:endParaRPr>
                    </a:p>
                  </a:txBody>
                  <a:tcPr marL="0" marR="0" marT="35560" marB="0">
                    <a:solidFill>
                      <a:srgbClr val="344B5E"/>
                    </a:solidFill>
                  </a:tcPr>
                </a:tc>
                <a:tc>
                  <a:txBody>
                    <a:bodyPr/>
                    <a:lstStyle/>
                    <a:p>
                      <a:pPr marL="18415" algn="ctr">
                        <a:lnSpc>
                          <a:spcPct val="100000"/>
                        </a:lnSpc>
                        <a:spcBef>
                          <a:spcPts val="280"/>
                        </a:spcBef>
                      </a:pPr>
                      <a:r>
                        <a:rPr sz="1400" b="1" spc="-10" dirty="0">
                          <a:solidFill>
                            <a:srgbClr val="FFFFFF"/>
                          </a:solidFill>
                          <a:latin typeface="Trebuchet MS" panose="020B0603020202020204"/>
                          <a:cs typeface="Trebuchet MS" panose="020B0603020202020204"/>
                        </a:rPr>
                        <a:t>Temperature</a:t>
                      </a:r>
                      <a:endParaRPr sz="1400" dirty="0">
                        <a:latin typeface="Trebuchet MS" panose="020B0603020202020204"/>
                        <a:cs typeface="Trebuchet MS" panose="020B0603020202020204"/>
                      </a:endParaRPr>
                    </a:p>
                  </a:txBody>
                  <a:tcPr marL="0" marR="0" marT="35560" marB="0">
                    <a:solidFill>
                      <a:srgbClr val="344B5E"/>
                    </a:solidFill>
                  </a:tcPr>
                </a:tc>
                <a:tc>
                  <a:txBody>
                    <a:bodyPr/>
                    <a:lstStyle/>
                    <a:p>
                      <a:pPr marR="128270" algn="ctr">
                        <a:lnSpc>
                          <a:spcPct val="100000"/>
                        </a:lnSpc>
                        <a:spcBef>
                          <a:spcPts val="280"/>
                        </a:spcBef>
                      </a:pPr>
                      <a:r>
                        <a:rPr sz="1400" b="1" spc="5" dirty="0">
                          <a:solidFill>
                            <a:srgbClr val="FFFFFF"/>
                          </a:solidFill>
                          <a:latin typeface="Trebuchet MS" panose="020B0603020202020204"/>
                          <a:cs typeface="Trebuchet MS" panose="020B0603020202020204"/>
                        </a:rPr>
                        <a:t>Humidity</a:t>
                      </a:r>
                      <a:endParaRPr sz="1400" dirty="0">
                        <a:latin typeface="Trebuchet MS" panose="020B0603020202020204"/>
                        <a:cs typeface="Trebuchet MS" panose="020B0603020202020204"/>
                      </a:endParaRPr>
                    </a:p>
                  </a:txBody>
                  <a:tcPr marL="0" marR="0" marT="35560" marB="0">
                    <a:solidFill>
                      <a:srgbClr val="344B5E"/>
                    </a:solidFill>
                  </a:tcPr>
                </a:tc>
                <a:tc>
                  <a:txBody>
                    <a:bodyPr/>
                    <a:lstStyle/>
                    <a:p>
                      <a:pPr marL="337185" algn="ctr">
                        <a:lnSpc>
                          <a:spcPct val="100000"/>
                        </a:lnSpc>
                        <a:spcBef>
                          <a:spcPts val="280"/>
                        </a:spcBef>
                      </a:pPr>
                      <a:r>
                        <a:rPr sz="1400" b="1" spc="35" dirty="0">
                          <a:solidFill>
                            <a:srgbClr val="FFFFFF"/>
                          </a:solidFill>
                          <a:latin typeface="Trebuchet MS" panose="020B0603020202020204"/>
                          <a:cs typeface="Trebuchet MS" panose="020B0603020202020204"/>
                        </a:rPr>
                        <a:t>Wind</a:t>
                      </a:r>
                      <a:r>
                        <a:rPr lang="en-US" sz="1400" b="1" spc="35" dirty="0">
                          <a:solidFill>
                            <a:srgbClr val="FFFFFF"/>
                          </a:solidFill>
                          <a:latin typeface="Trebuchet MS" panose="020B0603020202020204"/>
                          <a:cs typeface="Trebuchet MS" panose="020B0603020202020204"/>
                        </a:rPr>
                        <a:t>y</a:t>
                      </a:r>
                      <a:endParaRPr sz="1400" dirty="0">
                        <a:latin typeface="Trebuchet MS" panose="020B0603020202020204"/>
                        <a:cs typeface="Trebuchet MS" panose="020B0603020202020204"/>
                      </a:endParaRPr>
                    </a:p>
                  </a:txBody>
                  <a:tcPr marL="0" marR="0" marT="35560" marB="0">
                    <a:solidFill>
                      <a:srgbClr val="344B5E"/>
                    </a:solidFill>
                  </a:tcPr>
                </a:tc>
                <a:tc>
                  <a:txBody>
                    <a:bodyPr/>
                    <a:lstStyle/>
                    <a:p>
                      <a:pPr marL="635" algn="ctr">
                        <a:lnSpc>
                          <a:spcPct val="100000"/>
                        </a:lnSpc>
                        <a:spcBef>
                          <a:spcPts val="280"/>
                        </a:spcBef>
                      </a:pPr>
                      <a:r>
                        <a:rPr sz="1400" b="1" spc="10" dirty="0">
                          <a:solidFill>
                            <a:srgbClr val="FFFFFF"/>
                          </a:solidFill>
                          <a:latin typeface="Trebuchet MS" panose="020B0603020202020204"/>
                          <a:cs typeface="Trebuchet MS" panose="020B0603020202020204"/>
                        </a:rPr>
                        <a:t>PlayTennis</a:t>
                      </a:r>
                      <a:endParaRPr sz="1400" dirty="0">
                        <a:latin typeface="Trebuchet MS" panose="020B0603020202020204"/>
                        <a:cs typeface="Trebuchet MS" panose="020B0603020202020204"/>
                      </a:endParaRPr>
                    </a:p>
                  </a:txBody>
                  <a:tcPr marL="0" marR="0" marT="35560" marB="0">
                    <a:solidFill>
                      <a:srgbClr val="344B5E"/>
                    </a:solidFill>
                  </a:tcPr>
                </a:tc>
                <a:extLst>
                  <a:ext uri="{0D108BD9-81ED-4DB2-BD59-A6C34878D82A}">
                    <a16:rowId xmlns:a16="http://schemas.microsoft.com/office/drawing/2014/main" val="10000"/>
                  </a:ext>
                </a:extLst>
              </a:tr>
              <a:tr h="328850">
                <a:tc>
                  <a:txBody>
                    <a:bodyPr/>
                    <a:lstStyle/>
                    <a:p>
                      <a:pPr marL="635" algn="ctr">
                        <a:lnSpc>
                          <a:spcPct val="100000"/>
                        </a:lnSpc>
                        <a:spcBef>
                          <a:spcPts val="235"/>
                        </a:spcBef>
                      </a:pPr>
                      <a:r>
                        <a:rPr sz="1400" spc="5" dirty="0">
                          <a:solidFill>
                            <a:srgbClr val="344B5E"/>
                          </a:solidFill>
                          <a:latin typeface="Arial" panose="020B0604020202020204"/>
                          <a:cs typeface="Arial" panose="020B0604020202020204"/>
                        </a:rPr>
                        <a:t>D1</a:t>
                      </a:r>
                      <a:endParaRPr sz="1400">
                        <a:latin typeface="Arial" panose="020B0604020202020204"/>
                        <a:cs typeface="Arial" panose="020B0604020202020204"/>
                      </a:endParaRPr>
                    </a:p>
                  </a:txBody>
                  <a:tcPr marL="0" marR="0" marT="29844" marB="0">
                    <a:lnR w="12700">
                      <a:solidFill>
                        <a:srgbClr val="344B5E"/>
                      </a:solidFill>
                      <a:prstDash val="solid"/>
                    </a:lnR>
                    <a:solidFill>
                      <a:srgbClr val="E0EBEB"/>
                    </a:solidFill>
                  </a:tcPr>
                </a:tc>
                <a:tc>
                  <a:txBody>
                    <a:bodyPr/>
                    <a:lstStyle/>
                    <a:p>
                      <a:pPr marL="414020" algn="ctr">
                        <a:lnSpc>
                          <a:spcPct val="100000"/>
                        </a:lnSpc>
                        <a:spcBef>
                          <a:spcPts val="235"/>
                        </a:spcBef>
                      </a:pPr>
                      <a:r>
                        <a:rPr sz="1400" dirty="0">
                          <a:solidFill>
                            <a:srgbClr val="344B5E"/>
                          </a:solidFill>
                          <a:latin typeface="Arial" panose="020B0604020202020204"/>
                          <a:cs typeface="Arial" panose="020B0604020202020204"/>
                        </a:rPr>
                        <a:t>Sunny</a:t>
                      </a:r>
                      <a:endParaRPr sz="1400" dirty="0">
                        <a:latin typeface="Arial" panose="020B0604020202020204"/>
                        <a:cs typeface="Arial" panose="020B0604020202020204"/>
                      </a:endParaRPr>
                    </a:p>
                  </a:txBody>
                  <a:tcPr marL="0" marR="0" marT="29844" marB="0">
                    <a:lnL w="12700">
                      <a:solidFill>
                        <a:srgbClr val="344B5E"/>
                      </a:solidFill>
                      <a:prstDash val="solid"/>
                    </a:lnL>
                    <a:solidFill>
                      <a:srgbClr val="E0EBEB"/>
                    </a:solidFill>
                  </a:tcPr>
                </a:tc>
                <a:tc>
                  <a:txBody>
                    <a:bodyPr/>
                    <a:lstStyle/>
                    <a:p>
                      <a:pPr marL="17780" algn="ctr">
                        <a:lnSpc>
                          <a:spcPct val="100000"/>
                        </a:lnSpc>
                        <a:spcBef>
                          <a:spcPts val="235"/>
                        </a:spcBef>
                      </a:pPr>
                      <a:r>
                        <a:rPr sz="1400" spc="25" dirty="0">
                          <a:solidFill>
                            <a:srgbClr val="344B5E"/>
                          </a:solidFill>
                          <a:latin typeface="Arial" panose="020B0604020202020204"/>
                          <a:cs typeface="Arial" panose="020B0604020202020204"/>
                        </a:rPr>
                        <a:t>Hot</a:t>
                      </a:r>
                      <a:endParaRPr sz="1400">
                        <a:latin typeface="Arial" panose="020B0604020202020204"/>
                        <a:cs typeface="Arial" panose="020B0604020202020204"/>
                      </a:endParaRPr>
                    </a:p>
                  </a:txBody>
                  <a:tcPr marL="0" marR="0" marT="29844" marB="0">
                    <a:solidFill>
                      <a:srgbClr val="E0EBEB"/>
                    </a:solidFill>
                  </a:tcPr>
                </a:tc>
                <a:tc>
                  <a:txBody>
                    <a:bodyPr/>
                    <a:lstStyle/>
                    <a:p>
                      <a:pPr marR="127635" algn="ctr">
                        <a:lnSpc>
                          <a:spcPct val="100000"/>
                        </a:lnSpc>
                        <a:spcBef>
                          <a:spcPts val="235"/>
                        </a:spcBef>
                      </a:pPr>
                      <a:r>
                        <a:rPr sz="1400" dirty="0">
                          <a:solidFill>
                            <a:srgbClr val="344B5E"/>
                          </a:solidFill>
                          <a:latin typeface="Arial" panose="020B0604020202020204"/>
                          <a:cs typeface="Arial" panose="020B0604020202020204"/>
                        </a:rPr>
                        <a:t>High</a:t>
                      </a:r>
                      <a:endParaRPr sz="1400" dirty="0">
                        <a:latin typeface="Arial" panose="020B0604020202020204"/>
                        <a:cs typeface="Arial" panose="020B0604020202020204"/>
                      </a:endParaRPr>
                    </a:p>
                  </a:txBody>
                  <a:tcPr marL="0" marR="0" marT="29844" marB="0">
                    <a:solidFill>
                      <a:srgbClr val="E0EBEB"/>
                    </a:solidFill>
                  </a:tcPr>
                </a:tc>
                <a:tc>
                  <a:txBody>
                    <a:bodyPr/>
                    <a:lstStyle/>
                    <a:p>
                      <a:pPr marL="366395" algn="ctr">
                        <a:lnSpc>
                          <a:spcPct val="100000"/>
                        </a:lnSpc>
                        <a:spcBef>
                          <a:spcPts val="235"/>
                        </a:spcBef>
                      </a:pPr>
                      <a:r>
                        <a:rPr sz="1400" spc="-10" dirty="0">
                          <a:solidFill>
                            <a:srgbClr val="344B5E"/>
                          </a:solidFill>
                          <a:latin typeface="Arial" panose="020B0604020202020204"/>
                          <a:cs typeface="Arial" panose="020B0604020202020204"/>
                        </a:rPr>
                        <a:t>Weak</a:t>
                      </a:r>
                      <a:endParaRPr sz="1400">
                        <a:latin typeface="Arial" panose="020B0604020202020204"/>
                        <a:cs typeface="Arial" panose="020B0604020202020204"/>
                      </a:endParaRPr>
                    </a:p>
                  </a:txBody>
                  <a:tcPr marL="0" marR="0" marT="29844" marB="0">
                    <a:lnR w="12700">
                      <a:solidFill>
                        <a:srgbClr val="344B5E"/>
                      </a:solidFill>
                      <a:prstDash val="solid"/>
                    </a:lnR>
                    <a:solidFill>
                      <a:srgbClr val="E0EBEB"/>
                    </a:solidFill>
                  </a:tcPr>
                </a:tc>
                <a:tc>
                  <a:txBody>
                    <a:bodyPr/>
                    <a:lstStyle/>
                    <a:p>
                      <a:pPr algn="ctr">
                        <a:lnSpc>
                          <a:spcPct val="100000"/>
                        </a:lnSpc>
                        <a:spcBef>
                          <a:spcPts val="235"/>
                        </a:spcBef>
                      </a:pPr>
                      <a:r>
                        <a:rPr sz="1400" spc="10" dirty="0">
                          <a:solidFill>
                            <a:srgbClr val="344B5E"/>
                          </a:solidFill>
                          <a:latin typeface="Arial" panose="020B0604020202020204"/>
                          <a:cs typeface="Arial" panose="020B0604020202020204"/>
                        </a:rPr>
                        <a:t>No</a:t>
                      </a:r>
                      <a:endParaRPr sz="1400" dirty="0">
                        <a:latin typeface="Arial" panose="020B0604020202020204"/>
                        <a:cs typeface="Arial" panose="020B0604020202020204"/>
                      </a:endParaRPr>
                    </a:p>
                  </a:txBody>
                  <a:tcPr marL="0" marR="0" marT="29844" marB="0">
                    <a:lnL w="12700">
                      <a:solidFill>
                        <a:srgbClr val="344B5E"/>
                      </a:solidFill>
                      <a:prstDash val="solid"/>
                    </a:lnL>
                    <a:solidFill>
                      <a:srgbClr val="E0EBEB"/>
                    </a:solidFill>
                  </a:tcPr>
                </a:tc>
                <a:extLst>
                  <a:ext uri="{0D108BD9-81ED-4DB2-BD59-A6C34878D82A}">
                    <a16:rowId xmlns:a16="http://schemas.microsoft.com/office/drawing/2014/main" val="10001"/>
                  </a:ext>
                </a:extLst>
              </a:tr>
              <a:tr h="328850">
                <a:tc>
                  <a:txBody>
                    <a:bodyPr/>
                    <a:lstStyle/>
                    <a:p>
                      <a:pPr marL="635" algn="ctr">
                        <a:lnSpc>
                          <a:spcPct val="100000"/>
                        </a:lnSpc>
                        <a:spcBef>
                          <a:spcPts val="235"/>
                        </a:spcBef>
                      </a:pPr>
                      <a:r>
                        <a:rPr sz="1400" spc="5" dirty="0">
                          <a:solidFill>
                            <a:srgbClr val="344B5E"/>
                          </a:solidFill>
                          <a:latin typeface="Arial" panose="020B0604020202020204"/>
                          <a:cs typeface="Arial" panose="020B0604020202020204"/>
                        </a:rPr>
                        <a:t>D2</a:t>
                      </a:r>
                      <a:endParaRPr sz="1400">
                        <a:latin typeface="Arial" panose="020B0604020202020204"/>
                        <a:cs typeface="Arial" panose="020B0604020202020204"/>
                      </a:endParaRPr>
                    </a:p>
                  </a:txBody>
                  <a:tcPr marL="0" marR="0" marT="29844" marB="0">
                    <a:lnR w="12700">
                      <a:solidFill>
                        <a:srgbClr val="344B5E"/>
                      </a:solidFill>
                      <a:prstDash val="solid"/>
                    </a:lnR>
                    <a:solidFill>
                      <a:srgbClr val="E0EBEB">
                        <a:alpha val="59999"/>
                      </a:srgbClr>
                    </a:solidFill>
                  </a:tcPr>
                </a:tc>
                <a:tc>
                  <a:txBody>
                    <a:bodyPr/>
                    <a:lstStyle/>
                    <a:p>
                      <a:pPr marL="422910" algn="ctr">
                        <a:lnSpc>
                          <a:spcPct val="100000"/>
                        </a:lnSpc>
                        <a:spcBef>
                          <a:spcPts val="245"/>
                        </a:spcBef>
                      </a:pPr>
                      <a:r>
                        <a:rPr sz="1400" spc="-10" dirty="0">
                          <a:solidFill>
                            <a:srgbClr val="344B5E"/>
                          </a:solidFill>
                          <a:latin typeface="Tahoma" panose="020B0604030504040204"/>
                          <a:cs typeface="Tahoma" panose="020B0604030504040204"/>
                        </a:rPr>
                        <a:t>Sunny</a:t>
                      </a:r>
                      <a:endParaRPr sz="1400" dirty="0">
                        <a:latin typeface="Tahoma" panose="020B0604030504040204"/>
                        <a:cs typeface="Tahoma" panose="020B0604030504040204"/>
                      </a:endParaRPr>
                    </a:p>
                  </a:txBody>
                  <a:tcPr marL="0" marR="0" marT="31115" marB="0">
                    <a:lnL w="12700">
                      <a:solidFill>
                        <a:srgbClr val="344B5E"/>
                      </a:solidFill>
                      <a:prstDash val="solid"/>
                    </a:lnL>
                    <a:solidFill>
                      <a:srgbClr val="E0EBEB">
                        <a:alpha val="59999"/>
                      </a:srgbClr>
                    </a:solidFill>
                  </a:tcPr>
                </a:tc>
                <a:tc>
                  <a:txBody>
                    <a:bodyPr/>
                    <a:lstStyle/>
                    <a:p>
                      <a:pPr marL="17780" algn="ctr">
                        <a:lnSpc>
                          <a:spcPct val="100000"/>
                        </a:lnSpc>
                        <a:spcBef>
                          <a:spcPts val="235"/>
                        </a:spcBef>
                      </a:pPr>
                      <a:r>
                        <a:rPr sz="1400" spc="25" dirty="0">
                          <a:solidFill>
                            <a:srgbClr val="344B5E"/>
                          </a:solidFill>
                          <a:latin typeface="Arial" panose="020B0604020202020204"/>
                          <a:cs typeface="Arial" panose="020B0604020202020204"/>
                        </a:rPr>
                        <a:t>Hot</a:t>
                      </a:r>
                      <a:endParaRPr sz="1400" dirty="0">
                        <a:latin typeface="Arial" panose="020B0604020202020204"/>
                        <a:cs typeface="Arial" panose="020B0604020202020204"/>
                      </a:endParaRPr>
                    </a:p>
                  </a:txBody>
                  <a:tcPr marL="0" marR="0" marT="29844" marB="0">
                    <a:solidFill>
                      <a:srgbClr val="E0EBEB">
                        <a:alpha val="59999"/>
                      </a:srgbClr>
                    </a:solidFill>
                  </a:tcPr>
                </a:tc>
                <a:tc>
                  <a:txBody>
                    <a:bodyPr/>
                    <a:lstStyle/>
                    <a:p>
                      <a:pPr marR="127635" algn="ctr">
                        <a:lnSpc>
                          <a:spcPct val="100000"/>
                        </a:lnSpc>
                        <a:spcBef>
                          <a:spcPts val="235"/>
                        </a:spcBef>
                      </a:pPr>
                      <a:r>
                        <a:rPr sz="1400" dirty="0">
                          <a:solidFill>
                            <a:srgbClr val="344B5E"/>
                          </a:solidFill>
                          <a:latin typeface="Arial" panose="020B0604020202020204"/>
                          <a:cs typeface="Arial" panose="020B0604020202020204"/>
                        </a:rPr>
                        <a:t>High</a:t>
                      </a:r>
                      <a:endParaRPr sz="1400" dirty="0">
                        <a:latin typeface="Arial" panose="020B0604020202020204"/>
                        <a:cs typeface="Arial" panose="020B0604020202020204"/>
                      </a:endParaRPr>
                    </a:p>
                  </a:txBody>
                  <a:tcPr marL="0" marR="0" marT="29844" marB="0">
                    <a:solidFill>
                      <a:srgbClr val="E0EBEB">
                        <a:alpha val="59999"/>
                      </a:srgbClr>
                    </a:solidFill>
                  </a:tcPr>
                </a:tc>
                <a:tc>
                  <a:txBody>
                    <a:bodyPr/>
                    <a:lstStyle/>
                    <a:p>
                      <a:pPr marL="334010" algn="ctr">
                        <a:lnSpc>
                          <a:spcPct val="100000"/>
                        </a:lnSpc>
                        <a:spcBef>
                          <a:spcPts val="235"/>
                        </a:spcBef>
                      </a:pPr>
                      <a:r>
                        <a:rPr sz="1400" spc="10" dirty="0">
                          <a:solidFill>
                            <a:srgbClr val="344B5E"/>
                          </a:solidFill>
                          <a:latin typeface="Arial" panose="020B0604020202020204"/>
                          <a:cs typeface="Arial" panose="020B0604020202020204"/>
                        </a:rPr>
                        <a:t>Strong</a:t>
                      </a:r>
                      <a:endParaRPr sz="1400">
                        <a:latin typeface="Arial" panose="020B0604020202020204"/>
                        <a:cs typeface="Arial" panose="020B0604020202020204"/>
                      </a:endParaRPr>
                    </a:p>
                  </a:txBody>
                  <a:tcPr marL="0" marR="0" marT="29844" marB="0">
                    <a:lnR w="12700">
                      <a:solidFill>
                        <a:srgbClr val="344B5E"/>
                      </a:solidFill>
                      <a:prstDash val="solid"/>
                    </a:lnR>
                    <a:solidFill>
                      <a:srgbClr val="E0EBEB">
                        <a:alpha val="59999"/>
                      </a:srgbClr>
                    </a:solidFill>
                  </a:tcPr>
                </a:tc>
                <a:tc>
                  <a:txBody>
                    <a:bodyPr/>
                    <a:lstStyle/>
                    <a:p>
                      <a:pPr algn="ctr">
                        <a:lnSpc>
                          <a:spcPct val="100000"/>
                        </a:lnSpc>
                        <a:spcBef>
                          <a:spcPts val="235"/>
                        </a:spcBef>
                      </a:pPr>
                      <a:r>
                        <a:rPr sz="1400" spc="10" dirty="0">
                          <a:solidFill>
                            <a:srgbClr val="344B5E"/>
                          </a:solidFill>
                          <a:latin typeface="Arial" panose="020B0604020202020204"/>
                          <a:cs typeface="Arial" panose="020B0604020202020204"/>
                        </a:rPr>
                        <a:t>No</a:t>
                      </a:r>
                      <a:endParaRPr sz="1400" dirty="0">
                        <a:latin typeface="Arial" panose="020B0604020202020204"/>
                        <a:cs typeface="Arial" panose="020B0604020202020204"/>
                      </a:endParaRPr>
                    </a:p>
                  </a:txBody>
                  <a:tcPr marL="0" marR="0" marT="29844" marB="0">
                    <a:lnL w="12700">
                      <a:solidFill>
                        <a:srgbClr val="344B5E"/>
                      </a:solidFill>
                      <a:prstDash val="solid"/>
                    </a:lnL>
                    <a:solidFill>
                      <a:srgbClr val="E0EBEB">
                        <a:alpha val="59999"/>
                      </a:srgbClr>
                    </a:solidFill>
                  </a:tcPr>
                </a:tc>
                <a:extLst>
                  <a:ext uri="{0D108BD9-81ED-4DB2-BD59-A6C34878D82A}">
                    <a16:rowId xmlns:a16="http://schemas.microsoft.com/office/drawing/2014/main" val="10002"/>
                  </a:ext>
                </a:extLst>
              </a:tr>
              <a:tr h="328850">
                <a:tc>
                  <a:txBody>
                    <a:bodyPr/>
                    <a:lstStyle/>
                    <a:p>
                      <a:pPr marL="635" algn="ctr">
                        <a:lnSpc>
                          <a:spcPct val="100000"/>
                        </a:lnSpc>
                        <a:spcBef>
                          <a:spcPts val="235"/>
                        </a:spcBef>
                      </a:pPr>
                      <a:r>
                        <a:rPr sz="1400" spc="5" dirty="0">
                          <a:solidFill>
                            <a:srgbClr val="344B5E"/>
                          </a:solidFill>
                          <a:latin typeface="Arial" panose="020B0604020202020204"/>
                          <a:cs typeface="Arial" panose="020B0604020202020204"/>
                        </a:rPr>
                        <a:t>D3</a:t>
                      </a:r>
                      <a:endParaRPr sz="1400">
                        <a:latin typeface="Arial" panose="020B0604020202020204"/>
                        <a:cs typeface="Arial" panose="020B0604020202020204"/>
                      </a:endParaRPr>
                    </a:p>
                  </a:txBody>
                  <a:tcPr marL="0" marR="0" marT="29845" marB="0">
                    <a:lnR w="12700">
                      <a:solidFill>
                        <a:srgbClr val="344B5E"/>
                      </a:solidFill>
                      <a:prstDash val="solid"/>
                    </a:lnR>
                    <a:solidFill>
                      <a:srgbClr val="E0EBEB"/>
                    </a:solidFill>
                  </a:tcPr>
                </a:tc>
                <a:tc>
                  <a:txBody>
                    <a:bodyPr/>
                    <a:lstStyle/>
                    <a:p>
                      <a:pPr marL="340360" algn="ctr">
                        <a:lnSpc>
                          <a:spcPct val="100000"/>
                        </a:lnSpc>
                        <a:spcBef>
                          <a:spcPts val="235"/>
                        </a:spcBef>
                      </a:pPr>
                      <a:r>
                        <a:rPr sz="1400" spc="-5" dirty="0">
                          <a:solidFill>
                            <a:srgbClr val="C00000"/>
                          </a:solidFill>
                          <a:latin typeface="Arial" panose="020B0604020202020204"/>
                          <a:cs typeface="Arial" panose="020B0604020202020204"/>
                        </a:rPr>
                        <a:t>Overcast</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solidFill>
                  </a:tcPr>
                </a:tc>
                <a:tc>
                  <a:txBody>
                    <a:bodyPr/>
                    <a:lstStyle/>
                    <a:p>
                      <a:pPr marL="17780" algn="ctr">
                        <a:lnSpc>
                          <a:spcPct val="100000"/>
                        </a:lnSpc>
                        <a:spcBef>
                          <a:spcPts val="235"/>
                        </a:spcBef>
                      </a:pPr>
                      <a:r>
                        <a:rPr sz="1400" spc="25" dirty="0">
                          <a:solidFill>
                            <a:srgbClr val="C00000"/>
                          </a:solidFill>
                          <a:latin typeface="Arial" panose="020B0604020202020204"/>
                          <a:cs typeface="Arial" panose="020B0604020202020204"/>
                        </a:rPr>
                        <a:t>Hot</a:t>
                      </a:r>
                      <a:endParaRPr sz="1400" dirty="0">
                        <a:latin typeface="Arial" panose="020B0604020202020204"/>
                        <a:cs typeface="Arial" panose="020B0604020202020204"/>
                      </a:endParaRPr>
                    </a:p>
                  </a:txBody>
                  <a:tcPr marL="0" marR="0" marT="29845" marB="0">
                    <a:solidFill>
                      <a:srgbClr val="E0EBEB"/>
                    </a:solidFill>
                  </a:tcPr>
                </a:tc>
                <a:tc>
                  <a:txBody>
                    <a:bodyPr/>
                    <a:lstStyle/>
                    <a:p>
                      <a:pPr marR="127635" algn="ctr">
                        <a:lnSpc>
                          <a:spcPct val="100000"/>
                        </a:lnSpc>
                        <a:spcBef>
                          <a:spcPts val="235"/>
                        </a:spcBef>
                      </a:pPr>
                      <a:r>
                        <a:rPr sz="1400" dirty="0">
                          <a:solidFill>
                            <a:srgbClr val="C00000"/>
                          </a:solidFill>
                          <a:latin typeface="Arial" panose="020B0604020202020204"/>
                          <a:cs typeface="Arial" panose="020B0604020202020204"/>
                        </a:rPr>
                        <a:t>High</a:t>
                      </a:r>
                      <a:endParaRPr sz="1400" dirty="0">
                        <a:latin typeface="Arial" panose="020B0604020202020204"/>
                        <a:cs typeface="Arial" panose="020B0604020202020204"/>
                      </a:endParaRPr>
                    </a:p>
                  </a:txBody>
                  <a:tcPr marL="0" marR="0" marT="29845" marB="0">
                    <a:solidFill>
                      <a:srgbClr val="E0EBEB"/>
                    </a:solidFill>
                  </a:tcPr>
                </a:tc>
                <a:tc>
                  <a:txBody>
                    <a:bodyPr/>
                    <a:lstStyle/>
                    <a:p>
                      <a:pPr marL="366395" algn="ctr">
                        <a:lnSpc>
                          <a:spcPct val="100000"/>
                        </a:lnSpc>
                        <a:spcBef>
                          <a:spcPts val="235"/>
                        </a:spcBef>
                      </a:pPr>
                      <a:r>
                        <a:rPr sz="1400" spc="-10" dirty="0">
                          <a:solidFill>
                            <a:srgbClr val="C00000"/>
                          </a:solidFill>
                          <a:latin typeface="Arial" panose="020B0604020202020204"/>
                          <a:cs typeface="Arial" panose="020B0604020202020204"/>
                        </a:rPr>
                        <a:t>Weak</a:t>
                      </a:r>
                      <a:endParaRPr sz="1400">
                        <a:latin typeface="Arial" panose="020B0604020202020204"/>
                        <a:cs typeface="Arial" panose="020B0604020202020204"/>
                      </a:endParaRPr>
                    </a:p>
                  </a:txBody>
                  <a:tcPr marL="0" marR="0" marT="29845" marB="0">
                    <a:lnR w="12700">
                      <a:solidFill>
                        <a:srgbClr val="344B5E"/>
                      </a:solidFill>
                      <a:prstDash val="solid"/>
                    </a:lnR>
                    <a:solidFill>
                      <a:srgbClr val="E0EBEB"/>
                    </a:solidFill>
                  </a:tcPr>
                </a:tc>
                <a:tc>
                  <a:txBody>
                    <a:bodyPr/>
                    <a:lstStyle/>
                    <a:p>
                      <a:pPr algn="ctr">
                        <a:lnSpc>
                          <a:spcPct val="100000"/>
                        </a:lnSpc>
                        <a:spcBef>
                          <a:spcPts val="235"/>
                        </a:spcBef>
                      </a:pPr>
                      <a:r>
                        <a:rPr sz="1400" spc="-40" dirty="0">
                          <a:solidFill>
                            <a:srgbClr val="C00000"/>
                          </a:solidFill>
                          <a:latin typeface="Arial" panose="020B0604020202020204"/>
                          <a:cs typeface="Arial" panose="020B0604020202020204"/>
                        </a:rPr>
                        <a:t>Yes</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solidFill>
                  </a:tcPr>
                </a:tc>
                <a:extLst>
                  <a:ext uri="{0D108BD9-81ED-4DB2-BD59-A6C34878D82A}">
                    <a16:rowId xmlns:a16="http://schemas.microsoft.com/office/drawing/2014/main" val="10003"/>
                  </a:ext>
                </a:extLst>
              </a:tr>
              <a:tr h="328850">
                <a:tc>
                  <a:txBody>
                    <a:bodyPr/>
                    <a:lstStyle/>
                    <a:p>
                      <a:pPr marL="635" algn="ctr">
                        <a:lnSpc>
                          <a:spcPct val="100000"/>
                        </a:lnSpc>
                        <a:spcBef>
                          <a:spcPts val="235"/>
                        </a:spcBef>
                      </a:pPr>
                      <a:r>
                        <a:rPr sz="1400" spc="5" dirty="0">
                          <a:solidFill>
                            <a:srgbClr val="344B5E"/>
                          </a:solidFill>
                          <a:latin typeface="Arial" panose="020B0604020202020204"/>
                          <a:cs typeface="Arial" panose="020B0604020202020204"/>
                        </a:rPr>
                        <a:t>D4</a:t>
                      </a:r>
                      <a:endParaRPr sz="1400">
                        <a:latin typeface="Arial" panose="020B0604020202020204"/>
                        <a:cs typeface="Arial" panose="020B0604020202020204"/>
                      </a:endParaRPr>
                    </a:p>
                  </a:txBody>
                  <a:tcPr marL="0" marR="0" marT="29845" marB="0">
                    <a:lnR w="12700">
                      <a:solidFill>
                        <a:srgbClr val="344B5E"/>
                      </a:solidFill>
                      <a:prstDash val="solid"/>
                    </a:lnR>
                    <a:solidFill>
                      <a:srgbClr val="E0EBEB">
                        <a:alpha val="59999"/>
                      </a:srgbClr>
                    </a:solidFill>
                  </a:tcPr>
                </a:tc>
                <a:tc>
                  <a:txBody>
                    <a:bodyPr/>
                    <a:lstStyle/>
                    <a:p>
                      <a:pPr marL="86995" algn="ctr">
                        <a:lnSpc>
                          <a:spcPct val="100000"/>
                        </a:lnSpc>
                        <a:spcBef>
                          <a:spcPts val="235"/>
                        </a:spcBef>
                      </a:pPr>
                      <a:r>
                        <a:rPr sz="1400" spc="-30" dirty="0">
                          <a:solidFill>
                            <a:srgbClr val="C00000"/>
                          </a:solidFill>
                          <a:latin typeface="Arial" panose="020B0604020202020204"/>
                          <a:cs typeface="Arial" panose="020B0604020202020204"/>
                        </a:rPr>
                        <a:t>Rain</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alpha val="59999"/>
                      </a:srgbClr>
                    </a:solidFill>
                  </a:tcPr>
                </a:tc>
                <a:tc>
                  <a:txBody>
                    <a:bodyPr/>
                    <a:lstStyle/>
                    <a:p>
                      <a:pPr marL="17780" algn="ctr">
                        <a:lnSpc>
                          <a:spcPct val="100000"/>
                        </a:lnSpc>
                        <a:spcBef>
                          <a:spcPts val="235"/>
                        </a:spcBef>
                      </a:pPr>
                      <a:r>
                        <a:rPr sz="1400" spc="25" dirty="0">
                          <a:solidFill>
                            <a:srgbClr val="C00000"/>
                          </a:solidFill>
                          <a:latin typeface="Arial" panose="020B0604020202020204"/>
                          <a:cs typeface="Arial" panose="020B0604020202020204"/>
                        </a:rPr>
                        <a:t>Mild</a:t>
                      </a:r>
                      <a:endParaRPr sz="1400" dirty="0">
                        <a:latin typeface="Arial" panose="020B0604020202020204"/>
                        <a:cs typeface="Arial" panose="020B0604020202020204"/>
                      </a:endParaRPr>
                    </a:p>
                  </a:txBody>
                  <a:tcPr marL="0" marR="0" marT="29845" marB="0">
                    <a:solidFill>
                      <a:srgbClr val="E0EBEB">
                        <a:alpha val="59999"/>
                      </a:srgbClr>
                    </a:solidFill>
                  </a:tcPr>
                </a:tc>
                <a:tc>
                  <a:txBody>
                    <a:bodyPr/>
                    <a:lstStyle/>
                    <a:p>
                      <a:pPr marR="127635" algn="ctr">
                        <a:lnSpc>
                          <a:spcPct val="100000"/>
                        </a:lnSpc>
                        <a:spcBef>
                          <a:spcPts val="235"/>
                        </a:spcBef>
                      </a:pPr>
                      <a:r>
                        <a:rPr sz="1400" dirty="0">
                          <a:solidFill>
                            <a:srgbClr val="C00000"/>
                          </a:solidFill>
                          <a:latin typeface="Arial" panose="020B0604020202020204"/>
                          <a:cs typeface="Arial" panose="020B0604020202020204"/>
                        </a:rPr>
                        <a:t>High</a:t>
                      </a:r>
                      <a:endParaRPr sz="1400" dirty="0">
                        <a:latin typeface="Arial" panose="020B0604020202020204"/>
                        <a:cs typeface="Arial" panose="020B0604020202020204"/>
                      </a:endParaRPr>
                    </a:p>
                  </a:txBody>
                  <a:tcPr marL="0" marR="0" marT="29845" marB="0">
                    <a:solidFill>
                      <a:srgbClr val="E0EBEB">
                        <a:alpha val="59999"/>
                      </a:srgbClr>
                    </a:solidFill>
                  </a:tcPr>
                </a:tc>
                <a:tc>
                  <a:txBody>
                    <a:bodyPr/>
                    <a:lstStyle/>
                    <a:p>
                      <a:pPr marL="366395" algn="ctr">
                        <a:lnSpc>
                          <a:spcPct val="100000"/>
                        </a:lnSpc>
                        <a:spcBef>
                          <a:spcPts val="235"/>
                        </a:spcBef>
                      </a:pPr>
                      <a:r>
                        <a:rPr sz="1400" spc="-10" dirty="0">
                          <a:solidFill>
                            <a:srgbClr val="C00000"/>
                          </a:solidFill>
                          <a:latin typeface="Arial" panose="020B0604020202020204"/>
                          <a:cs typeface="Arial" panose="020B0604020202020204"/>
                        </a:rPr>
                        <a:t>Weak</a:t>
                      </a:r>
                      <a:endParaRPr sz="1400">
                        <a:latin typeface="Arial" panose="020B0604020202020204"/>
                        <a:cs typeface="Arial" panose="020B0604020202020204"/>
                      </a:endParaRPr>
                    </a:p>
                  </a:txBody>
                  <a:tcPr marL="0" marR="0" marT="29845" marB="0">
                    <a:lnR w="12700">
                      <a:solidFill>
                        <a:srgbClr val="344B5E"/>
                      </a:solidFill>
                      <a:prstDash val="solid"/>
                    </a:lnR>
                    <a:solidFill>
                      <a:srgbClr val="E0EBEB">
                        <a:alpha val="59999"/>
                      </a:srgbClr>
                    </a:solidFill>
                  </a:tcPr>
                </a:tc>
                <a:tc>
                  <a:txBody>
                    <a:bodyPr/>
                    <a:lstStyle/>
                    <a:p>
                      <a:pPr algn="ctr">
                        <a:lnSpc>
                          <a:spcPct val="100000"/>
                        </a:lnSpc>
                        <a:spcBef>
                          <a:spcPts val="235"/>
                        </a:spcBef>
                      </a:pPr>
                      <a:r>
                        <a:rPr sz="1400" spc="-40" dirty="0">
                          <a:solidFill>
                            <a:srgbClr val="C00000"/>
                          </a:solidFill>
                          <a:latin typeface="Arial" panose="020B0604020202020204"/>
                          <a:cs typeface="Arial" panose="020B0604020202020204"/>
                        </a:rPr>
                        <a:t>Yes</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alpha val="59999"/>
                      </a:srgbClr>
                    </a:solidFill>
                  </a:tcPr>
                </a:tc>
                <a:extLst>
                  <a:ext uri="{0D108BD9-81ED-4DB2-BD59-A6C34878D82A}">
                    <a16:rowId xmlns:a16="http://schemas.microsoft.com/office/drawing/2014/main" val="10004"/>
                  </a:ext>
                </a:extLst>
              </a:tr>
              <a:tr h="328850">
                <a:tc>
                  <a:txBody>
                    <a:bodyPr/>
                    <a:lstStyle/>
                    <a:p>
                      <a:pPr marL="635" algn="ctr">
                        <a:lnSpc>
                          <a:spcPct val="100000"/>
                        </a:lnSpc>
                        <a:spcBef>
                          <a:spcPts val="235"/>
                        </a:spcBef>
                      </a:pPr>
                      <a:r>
                        <a:rPr sz="1400" spc="5" dirty="0">
                          <a:solidFill>
                            <a:srgbClr val="344B5E"/>
                          </a:solidFill>
                          <a:latin typeface="Arial" panose="020B0604020202020204"/>
                          <a:cs typeface="Arial" panose="020B0604020202020204"/>
                        </a:rPr>
                        <a:t>D5</a:t>
                      </a:r>
                      <a:endParaRPr sz="1400">
                        <a:latin typeface="Arial" panose="020B0604020202020204"/>
                        <a:cs typeface="Arial" panose="020B0604020202020204"/>
                      </a:endParaRPr>
                    </a:p>
                  </a:txBody>
                  <a:tcPr marL="0" marR="0" marT="29845" marB="0">
                    <a:lnR w="12700">
                      <a:solidFill>
                        <a:srgbClr val="344B5E"/>
                      </a:solidFill>
                      <a:prstDash val="solid"/>
                    </a:lnR>
                    <a:solidFill>
                      <a:srgbClr val="E0EBEB"/>
                    </a:solidFill>
                  </a:tcPr>
                </a:tc>
                <a:tc>
                  <a:txBody>
                    <a:bodyPr/>
                    <a:lstStyle/>
                    <a:p>
                      <a:pPr marL="86995" algn="ctr">
                        <a:lnSpc>
                          <a:spcPct val="100000"/>
                        </a:lnSpc>
                        <a:spcBef>
                          <a:spcPts val="235"/>
                        </a:spcBef>
                      </a:pPr>
                      <a:r>
                        <a:rPr sz="1400" spc="-30" dirty="0">
                          <a:solidFill>
                            <a:srgbClr val="C00000"/>
                          </a:solidFill>
                          <a:latin typeface="Arial" panose="020B0604020202020204"/>
                          <a:cs typeface="Arial" panose="020B0604020202020204"/>
                        </a:rPr>
                        <a:t>Rain</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solidFill>
                  </a:tcPr>
                </a:tc>
                <a:tc>
                  <a:txBody>
                    <a:bodyPr/>
                    <a:lstStyle/>
                    <a:p>
                      <a:pPr marL="19050" algn="ctr">
                        <a:lnSpc>
                          <a:spcPct val="100000"/>
                        </a:lnSpc>
                        <a:spcBef>
                          <a:spcPts val="235"/>
                        </a:spcBef>
                      </a:pPr>
                      <a:r>
                        <a:rPr sz="1400" dirty="0">
                          <a:solidFill>
                            <a:srgbClr val="C00000"/>
                          </a:solidFill>
                          <a:latin typeface="Arial" panose="020B0604020202020204"/>
                          <a:cs typeface="Arial" panose="020B0604020202020204"/>
                        </a:rPr>
                        <a:t>Cool</a:t>
                      </a:r>
                      <a:endParaRPr sz="1400">
                        <a:latin typeface="Arial" panose="020B0604020202020204"/>
                        <a:cs typeface="Arial" panose="020B0604020202020204"/>
                      </a:endParaRPr>
                    </a:p>
                  </a:txBody>
                  <a:tcPr marL="0" marR="0" marT="29845" marB="0">
                    <a:solidFill>
                      <a:srgbClr val="E0EBEB"/>
                    </a:solidFill>
                  </a:tcPr>
                </a:tc>
                <a:tc>
                  <a:txBody>
                    <a:bodyPr/>
                    <a:lstStyle/>
                    <a:p>
                      <a:pPr marR="128905" algn="ctr">
                        <a:lnSpc>
                          <a:spcPct val="100000"/>
                        </a:lnSpc>
                        <a:spcBef>
                          <a:spcPts val="235"/>
                        </a:spcBef>
                      </a:pPr>
                      <a:r>
                        <a:rPr sz="1400" spc="15" dirty="0">
                          <a:solidFill>
                            <a:srgbClr val="C00000"/>
                          </a:solidFill>
                          <a:latin typeface="Arial" panose="020B0604020202020204"/>
                          <a:cs typeface="Arial" panose="020B0604020202020204"/>
                        </a:rPr>
                        <a:t>Normal</a:t>
                      </a:r>
                      <a:endParaRPr sz="1400" dirty="0">
                        <a:latin typeface="Arial" panose="020B0604020202020204"/>
                        <a:cs typeface="Arial" panose="020B0604020202020204"/>
                      </a:endParaRPr>
                    </a:p>
                  </a:txBody>
                  <a:tcPr marL="0" marR="0" marT="29845" marB="0">
                    <a:solidFill>
                      <a:srgbClr val="E0EBEB"/>
                    </a:solidFill>
                  </a:tcPr>
                </a:tc>
                <a:tc>
                  <a:txBody>
                    <a:bodyPr/>
                    <a:lstStyle/>
                    <a:p>
                      <a:pPr marL="366395" algn="ctr">
                        <a:lnSpc>
                          <a:spcPct val="100000"/>
                        </a:lnSpc>
                        <a:spcBef>
                          <a:spcPts val="235"/>
                        </a:spcBef>
                      </a:pPr>
                      <a:r>
                        <a:rPr sz="1400" spc="-10" dirty="0">
                          <a:solidFill>
                            <a:srgbClr val="C00000"/>
                          </a:solidFill>
                          <a:latin typeface="Arial" panose="020B0604020202020204"/>
                          <a:cs typeface="Arial" panose="020B0604020202020204"/>
                        </a:rPr>
                        <a:t>Weak</a:t>
                      </a:r>
                      <a:endParaRPr sz="1400" dirty="0">
                        <a:latin typeface="Arial" panose="020B0604020202020204"/>
                        <a:cs typeface="Arial" panose="020B0604020202020204"/>
                      </a:endParaRPr>
                    </a:p>
                  </a:txBody>
                  <a:tcPr marL="0" marR="0" marT="29845" marB="0">
                    <a:lnR w="12700">
                      <a:solidFill>
                        <a:srgbClr val="344B5E"/>
                      </a:solidFill>
                      <a:prstDash val="solid"/>
                    </a:lnR>
                    <a:solidFill>
                      <a:srgbClr val="E0EBEB"/>
                    </a:solidFill>
                  </a:tcPr>
                </a:tc>
                <a:tc>
                  <a:txBody>
                    <a:bodyPr/>
                    <a:lstStyle/>
                    <a:p>
                      <a:pPr algn="ctr">
                        <a:lnSpc>
                          <a:spcPct val="100000"/>
                        </a:lnSpc>
                        <a:spcBef>
                          <a:spcPts val="235"/>
                        </a:spcBef>
                      </a:pPr>
                      <a:r>
                        <a:rPr sz="1400" spc="-40" dirty="0">
                          <a:solidFill>
                            <a:srgbClr val="C00000"/>
                          </a:solidFill>
                          <a:latin typeface="Arial" panose="020B0604020202020204"/>
                          <a:cs typeface="Arial" panose="020B0604020202020204"/>
                        </a:rPr>
                        <a:t>Yes</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solidFill>
                  </a:tcPr>
                </a:tc>
                <a:extLst>
                  <a:ext uri="{0D108BD9-81ED-4DB2-BD59-A6C34878D82A}">
                    <a16:rowId xmlns:a16="http://schemas.microsoft.com/office/drawing/2014/main" val="10005"/>
                  </a:ext>
                </a:extLst>
              </a:tr>
              <a:tr h="328850">
                <a:tc>
                  <a:txBody>
                    <a:bodyPr/>
                    <a:lstStyle/>
                    <a:p>
                      <a:pPr marL="635" algn="ctr">
                        <a:lnSpc>
                          <a:spcPct val="100000"/>
                        </a:lnSpc>
                        <a:spcBef>
                          <a:spcPts val="235"/>
                        </a:spcBef>
                      </a:pPr>
                      <a:r>
                        <a:rPr sz="1400" spc="5" dirty="0">
                          <a:solidFill>
                            <a:srgbClr val="344B5E"/>
                          </a:solidFill>
                          <a:latin typeface="Arial" panose="020B0604020202020204"/>
                          <a:cs typeface="Arial" panose="020B0604020202020204"/>
                        </a:rPr>
                        <a:t>D6</a:t>
                      </a:r>
                      <a:endParaRPr sz="1400">
                        <a:latin typeface="Arial" panose="020B0604020202020204"/>
                        <a:cs typeface="Arial" panose="020B0604020202020204"/>
                      </a:endParaRPr>
                    </a:p>
                  </a:txBody>
                  <a:tcPr marL="0" marR="0" marT="29845" marB="0">
                    <a:lnR w="12700">
                      <a:solidFill>
                        <a:srgbClr val="344B5E"/>
                      </a:solidFill>
                      <a:prstDash val="solid"/>
                    </a:lnR>
                    <a:solidFill>
                      <a:srgbClr val="E0EBEB">
                        <a:alpha val="59999"/>
                      </a:srgbClr>
                    </a:solidFill>
                  </a:tcPr>
                </a:tc>
                <a:tc>
                  <a:txBody>
                    <a:bodyPr/>
                    <a:lstStyle/>
                    <a:p>
                      <a:pPr marL="86995" algn="ctr">
                        <a:lnSpc>
                          <a:spcPct val="100000"/>
                        </a:lnSpc>
                        <a:spcBef>
                          <a:spcPts val="235"/>
                        </a:spcBef>
                      </a:pPr>
                      <a:r>
                        <a:rPr sz="1400" spc="-30" dirty="0">
                          <a:solidFill>
                            <a:srgbClr val="344B5E"/>
                          </a:solidFill>
                          <a:latin typeface="Arial" panose="020B0604020202020204"/>
                          <a:cs typeface="Arial" panose="020B0604020202020204"/>
                        </a:rPr>
                        <a:t>Rain</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alpha val="59999"/>
                      </a:srgbClr>
                    </a:solidFill>
                  </a:tcPr>
                </a:tc>
                <a:tc>
                  <a:txBody>
                    <a:bodyPr/>
                    <a:lstStyle/>
                    <a:p>
                      <a:pPr marL="19050" algn="ctr">
                        <a:lnSpc>
                          <a:spcPct val="100000"/>
                        </a:lnSpc>
                        <a:spcBef>
                          <a:spcPts val="235"/>
                        </a:spcBef>
                      </a:pPr>
                      <a:r>
                        <a:rPr sz="1400" dirty="0">
                          <a:solidFill>
                            <a:srgbClr val="344B5E"/>
                          </a:solidFill>
                          <a:latin typeface="Arial" panose="020B0604020202020204"/>
                          <a:cs typeface="Arial" panose="020B0604020202020204"/>
                        </a:rPr>
                        <a:t>Cool</a:t>
                      </a:r>
                      <a:endParaRPr sz="1400">
                        <a:latin typeface="Arial" panose="020B0604020202020204"/>
                        <a:cs typeface="Arial" panose="020B0604020202020204"/>
                      </a:endParaRPr>
                    </a:p>
                  </a:txBody>
                  <a:tcPr marL="0" marR="0" marT="29845" marB="0">
                    <a:solidFill>
                      <a:srgbClr val="E0EBEB">
                        <a:alpha val="59999"/>
                      </a:srgbClr>
                    </a:solidFill>
                  </a:tcPr>
                </a:tc>
                <a:tc>
                  <a:txBody>
                    <a:bodyPr/>
                    <a:lstStyle/>
                    <a:p>
                      <a:pPr marR="128905" algn="ctr">
                        <a:lnSpc>
                          <a:spcPct val="100000"/>
                        </a:lnSpc>
                        <a:spcBef>
                          <a:spcPts val="235"/>
                        </a:spcBef>
                      </a:pPr>
                      <a:r>
                        <a:rPr sz="1400" spc="15" dirty="0">
                          <a:solidFill>
                            <a:srgbClr val="344B5E"/>
                          </a:solidFill>
                          <a:latin typeface="Arial" panose="020B0604020202020204"/>
                          <a:cs typeface="Arial" panose="020B0604020202020204"/>
                        </a:rPr>
                        <a:t>Normal</a:t>
                      </a:r>
                      <a:endParaRPr sz="1400">
                        <a:latin typeface="Arial" panose="020B0604020202020204"/>
                        <a:cs typeface="Arial" panose="020B0604020202020204"/>
                      </a:endParaRPr>
                    </a:p>
                  </a:txBody>
                  <a:tcPr marL="0" marR="0" marT="29845" marB="0">
                    <a:solidFill>
                      <a:srgbClr val="E0EBEB">
                        <a:alpha val="59999"/>
                      </a:srgbClr>
                    </a:solidFill>
                  </a:tcPr>
                </a:tc>
                <a:tc>
                  <a:txBody>
                    <a:bodyPr/>
                    <a:lstStyle/>
                    <a:p>
                      <a:pPr marL="334010" algn="ctr">
                        <a:lnSpc>
                          <a:spcPct val="100000"/>
                        </a:lnSpc>
                        <a:spcBef>
                          <a:spcPts val="235"/>
                        </a:spcBef>
                      </a:pPr>
                      <a:r>
                        <a:rPr sz="1400" spc="10" dirty="0">
                          <a:solidFill>
                            <a:srgbClr val="344B5E"/>
                          </a:solidFill>
                          <a:latin typeface="Arial" panose="020B0604020202020204"/>
                          <a:cs typeface="Arial" panose="020B0604020202020204"/>
                        </a:rPr>
                        <a:t>Strong</a:t>
                      </a:r>
                      <a:endParaRPr sz="1400" dirty="0">
                        <a:latin typeface="Arial" panose="020B0604020202020204"/>
                        <a:cs typeface="Arial" panose="020B0604020202020204"/>
                      </a:endParaRPr>
                    </a:p>
                  </a:txBody>
                  <a:tcPr marL="0" marR="0" marT="29845" marB="0">
                    <a:lnR w="12700">
                      <a:solidFill>
                        <a:srgbClr val="344B5E"/>
                      </a:solidFill>
                      <a:prstDash val="solid"/>
                    </a:lnR>
                    <a:solidFill>
                      <a:srgbClr val="E0EBEB">
                        <a:alpha val="59999"/>
                      </a:srgbClr>
                    </a:solidFill>
                  </a:tcPr>
                </a:tc>
                <a:tc>
                  <a:txBody>
                    <a:bodyPr/>
                    <a:lstStyle/>
                    <a:p>
                      <a:pPr algn="ctr">
                        <a:lnSpc>
                          <a:spcPct val="100000"/>
                        </a:lnSpc>
                        <a:spcBef>
                          <a:spcPts val="235"/>
                        </a:spcBef>
                      </a:pPr>
                      <a:r>
                        <a:rPr sz="1400" spc="10" dirty="0">
                          <a:solidFill>
                            <a:srgbClr val="344B5E"/>
                          </a:solidFill>
                          <a:latin typeface="Arial" panose="020B0604020202020204"/>
                          <a:cs typeface="Arial" panose="020B0604020202020204"/>
                        </a:rPr>
                        <a:t>No</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alpha val="59999"/>
                      </a:srgbClr>
                    </a:solidFill>
                  </a:tcPr>
                </a:tc>
                <a:extLst>
                  <a:ext uri="{0D108BD9-81ED-4DB2-BD59-A6C34878D82A}">
                    <a16:rowId xmlns:a16="http://schemas.microsoft.com/office/drawing/2014/main" val="10006"/>
                  </a:ext>
                </a:extLst>
              </a:tr>
              <a:tr h="328850">
                <a:tc>
                  <a:txBody>
                    <a:bodyPr/>
                    <a:lstStyle/>
                    <a:p>
                      <a:pPr marL="635" algn="ctr">
                        <a:lnSpc>
                          <a:spcPct val="100000"/>
                        </a:lnSpc>
                        <a:spcBef>
                          <a:spcPts val="235"/>
                        </a:spcBef>
                      </a:pPr>
                      <a:r>
                        <a:rPr sz="1400" spc="5" dirty="0">
                          <a:solidFill>
                            <a:srgbClr val="344B5E"/>
                          </a:solidFill>
                          <a:latin typeface="Arial" panose="020B0604020202020204"/>
                          <a:cs typeface="Arial" panose="020B0604020202020204"/>
                        </a:rPr>
                        <a:t>D7</a:t>
                      </a:r>
                      <a:endParaRPr sz="1400">
                        <a:latin typeface="Arial" panose="020B0604020202020204"/>
                        <a:cs typeface="Arial" panose="020B0604020202020204"/>
                      </a:endParaRPr>
                    </a:p>
                  </a:txBody>
                  <a:tcPr marL="0" marR="0" marT="29845" marB="0">
                    <a:lnR w="12700">
                      <a:solidFill>
                        <a:srgbClr val="344B5E"/>
                      </a:solidFill>
                      <a:prstDash val="solid"/>
                    </a:lnR>
                    <a:solidFill>
                      <a:srgbClr val="E0EBEB"/>
                    </a:solidFill>
                  </a:tcPr>
                </a:tc>
                <a:tc>
                  <a:txBody>
                    <a:bodyPr/>
                    <a:lstStyle/>
                    <a:p>
                      <a:pPr marL="340360" algn="ctr">
                        <a:lnSpc>
                          <a:spcPct val="100000"/>
                        </a:lnSpc>
                        <a:spcBef>
                          <a:spcPts val="235"/>
                        </a:spcBef>
                      </a:pPr>
                      <a:r>
                        <a:rPr sz="1400" spc="-5" dirty="0">
                          <a:solidFill>
                            <a:srgbClr val="C00000"/>
                          </a:solidFill>
                          <a:latin typeface="Arial" panose="020B0604020202020204"/>
                          <a:cs typeface="Arial" panose="020B0604020202020204"/>
                        </a:rPr>
                        <a:t>Overcast</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solidFill>
                  </a:tcPr>
                </a:tc>
                <a:tc>
                  <a:txBody>
                    <a:bodyPr/>
                    <a:lstStyle/>
                    <a:p>
                      <a:pPr marL="19050" algn="ctr">
                        <a:lnSpc>
                          <a:spcPct val="100000"/>
                        </a:lnSpc>
                        <a:spcBef>
                          <a:spcPts val="235"/>
                        </a:spcBef>
                      </a:pPr>
                      <a:r>
                        <a:rPr sz="1400" dirty="0">
                          <a:solidFill>
                            <a:srgbClr val="C00000"/>
                          </a:solidFill>
                          <a:latin typeface="Arial" panose="020B0604020202020204"/>
                          <a:cs typeface="Arial" panose="020B0604020202020204"/>
                        </a:rPr>
                        <a:t>Cool</a:t>
                      </a:r>
                      <a:endParaRPr sz="1400">
                        <a:latin typeface="Arial" panose="020B0604020202020204"/>
                        <a:cs typeface="Arial" panose="020B0604020202020204"/>
                      </a:endParaRPr>
                    </a:p>
                  </a:txBody>
                  <a:tcPr marL="0" marR="0" marT="29845" marB="0">
                    <a:solidFill>
                      <a:srgbClr val="E0EBEB"/>
                    </a:solidFill>
                  </a:tcPr>
                </a:tc>
                <a:tc>
                  <a:txBody>
                    <a:bodyPr/>
                    <a:lstStyle/>
                    <a:p>
                      <a:pPr marR="128905" algn="ctr">
                        <a:lnSpc>
                          <a:spcPct val="100000"/>
                        </a:lnSpc>
                        <a:spcBef>
                          <a:spcPts val="235"/>
                        </a:spcBef>
                      </a:pPr>
                      <a:r>
                        <a:rPr sz="1400" spc="15" dirty="0">
                          <a:solidFill>
                            <a:srgbClr val="C00000"/>
                          </a:solidFill>
                          <a:latin typeface="Arial" panose="020B0604020202020204"/>
                          <a:cs typeface="Arial" panose="020B0604020202020204"/>
                        </a:rPr>
                        <a:t>Normal</a:t>
                      </a:r>
                      <a:endParaRPr sz="1400" dirty="0">
                        <a:latin typeface="Arial" panose="020B0604020202020204"/>
                        <a:cs typeface="Arial" panose="020B0604020202020204"/>
                      </a:endParaRPr>
                    </a:p>
                  </a:txBody>
                  <a:tcPr marL="0" marR="0" marT="29845" marB="0">
                    <a:solidFill>
                      <a:srgbClr val="E0EBEB"/>
                    </a:solidFill>
                  </a:tcPr>
                </a:tc>
                <a:tc>
                  <a:txBody>
                    <a:bodyPr/>
                    <a:lstStyle/>
                    <a:p>
                      <a:pPr marL="334010" algn="ctr">
                        <a:lnSpc>
                          <a:spcPct val="100000"/>
                        </a:lnSpc>
                        <a:spcBef>
                          <a:spcPts val="235"/>
                        </a:spcBef>
                      </a:pPr>
                      <a:r>
                        <a:rPr sz="1400" spc="10" dirty="0">
                          <a:solidFill>
                            <a:srgbClr val="C00000"/>
                          </a:solidFill>
                          <a:latin typeface="Arial" panose="020B0604020202020204"/>
                          <a:cs typeface="Arial" panose="020B0604020202020204"/>
                        </a:rPr>
                        <a:t>Strong</a:t>
                      </a:r>
                      <a:endParaRPr sz="1400" dirty="0">
                        <a:latin typeface="Arial" panose="020B0604020202020204"/>
                        <a:cs typeface="Arial" panose="020B0604020202020204"/>
                      </a:endParaRPr>
                    </a:p>
                  </a:txBody>
                  <a:tcPr marL="0" marR="0" marT="29845" marB="0">
                    <a:lnR w="12700">
                      <a:solidFill>
                        <a:srgbClr val="344B5E"/>
                      </a:solidFill>
                      <a:prstDash val="solid"/>
                    </a:lnR>
                    <a:solidFill>
                      <a:srgbClr val="E0EBEB"/>
                    </a:solidFill>
                  </a:tcPr>
                </a:tc>
                <a:tc>
                  <a:txBody>
                    <a:bodyPr/>
                    <a:lstStyle/>
                    <a:p>
                      <a:pPr algn="ctr">
                        <a:lnSpc>
                          <a:spcPct val="100000"/>
                        </a:lnSpc>
                        <a:spcBef>
                          <a:spcPts val="235"/>
                        </a:spcBef>
                      </a:pPr>
                      <a:r>
                        <a:rPr sz="1400" spc="-40" dirty="0">
                          <a:solidFill>
                            <a:srgbClr val="C00000"/>
                          </a:solidFill>
                          <a:latin typeface="Arial" panose="020B0604020202020204"/>
                          <a:cs typeface="Arial" panose="020B0604020202020204"/>
                        </a:rPr>
                        <a:t>Yes</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solidFill>
                  </a:tcPr>
                </a:tc>
                <a:extLst>
                  <a:ext uri="{0D108BD9-81ED-4DB2-BD59-A6C34878D82A}">
                    <a16:rowId xmlns:a16="http://schemas.microsoft.com/office/drawing/2014/main" val="10007"/>
                  </a:ext>
                </a:extLst>
              </a:tr>
              <a:tr h="328850">
                <a:tc>
                  <a:txBody>
                    <a:bodyPr/>
                    <a:lstStyle/>
                    <a:p>
                      <a:pPr marL="635" algn="ctr">
                        <a:lnSpc>
                          <a:spcPct val="100000"/>
                        </a:lnSpc>
                        <a:spcBef>
                          <a:spcPts val="235"/>
                        </a:spcBef>
                      </a:pPr>
                      <a:r>
                        <a:rPr sz="1400" spc="5" dirty="0">
                          <a:solidFill>
                            <a:srgbClr val="344B5E"/>
                          </a:solidFill>
                          <a:latin typeface="Arial" panose="020B0604020202020204"/>
                          <a:cs typeface="Arial" panose="020B0604020202020204"/>
                        </a:rPr>
                        <a:t>D8</a:t>
                      </a:r>
                      <a:endParaRPr sz="1400">
                        <a:latin typeface="Arial" panose="020B0604020202020204"/>
                        <a:cs typeface="Arial" panose="020B0604020202020204"/>
                      </a:endParaRPr>
                    </a:p>
                  </a:txBody>
                  <a:tcPr marL="0" marR="0" marT="29845" marB="0">
                    <a:lnR w="12700">
                      <a:solidFill>
                        <a:srgbClr val="344B5E"/>
                      </a:solidFill>
                      <a:prstDash val="solid"/>
                    </a:lnR>
                    <a:solidFill>
                      <a:srgbClr val="E0EBEB">
                        <a:alpha val="59999"/>
                      </a:srgbClr>
                    </a:solidFill>
                  </a:tcPr>
                </a:tc>
                <a:tc>
                  <a:txBody>
                    <a:bodyPr/>
                    <a:lstStyle/>
                    <a:p>
                      <a:pPr marL="414020" algn="ctr">
                        <a:lnSpc>
                          <a:spcPct val="100000"/>
                        </a:lnSpc>
                        <a:spcBef>
                          <a:spcPts val="235"/>
                        </a:spcBef>
                      </a:pPr>
                      <a:r>
                        <a:rPr sz="1400" dirty="0">
                          <a:solidFill>
                            <a:srgbClr val="344B5E"/>
                          </a:solidFill>
                          <a:latin typeface="Arial" panose="020B0604020202020204"/>
                          <a:cs typeface="Arial" panose="020B0604020202020204"/>
                        </a:rPr>
                        <a:t>Sunny</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alpha val="59999"/>
                      </a:srgbClr>
                    </a:solidFill>
                  </a:tcPr>
                </a:tc>
                <a:tc>
                  <a:txBody>
                    <a:bodyPr/>
                    <a:lstStyle/>
                    <a:p>
                      <a:pPr marL="17780" algn="ctr">
                        <a:lnSpc>
                          <a:spcPct val="100000"/>
                        </a:lnSpc>
                        <a:spcBef>
                          <a:spcPts val="235"/>
                        </a:spcBef>
                      </a:pPr>
                      <a:r>
                        <a:rPr sz="1400" spc="25" dirty="0">
                          <a:solidFill>
                            <a:srgbClr val="344B5E"/>
                          </a:solidFill>
                          <a:latin typeface="Arial" panose="020B0604020202020204"/>
                          <a:cs typeface="Arial" panose="020B0604020202020204"/>
                        </a:rPr>
                        <a:t>Mild</a:t>
                      </a:r>
                      <a:endParaRPr sz="1400">
                        <a:latin typeface="Arial" panose="020B0604020202020204"/>
                        <a:cs typeface="Arial" panose="020B0604020202020204"/>
                      </a:endParaRPr>
                    </a:p>
                  </a:txBody>
                  <a:tcPr marL="0" marR="0" marT="29845" marB="0">
                    <a:solidFill>
                      <a:srgbClr val="E0EBEB">
                        <a:alpha val="59999"/>
                      </a:srgbClr>
                    </a:solidFill>
                  </a:tcPr>
                </a:tc>
                <a:tc>
                  <a:txBody>
                    <a:bodyPr/>
                    <a:lstStyle/>
                    <a:p>
                      <a:pPr marR="127635" algn="ctr">
                        <a:lnSpc>
                          <a:spcPct val="100000"/>
                        </a:lnSpc>
                        <a:spcBef>
                          <a:spcPts val="235"/>
                        </a:spcBef>
                      </a:pPr>
                      <a:r>
                        <a:rPr sz="1400" dirty="0">
                          <a:solidFill>
                            <a:srgbClr val="344B5E"/>
                          </a:solidFill>
                          <a:latin typeface="Arial" panose="020B0604020202020204"/>
                          <a:cs typeface="Arial" panose="020B0604020202020204"/>
                        </a:rPr>
                        <a:t>High</a:t>
                      </a:r>
                      <a:endParaRPr sz="1400" dirty="0">
                        <a:latin typeface="Arial" panose="020B0604020202020204"/>
                        <a:cs typeface="Arial" panose="020B0604020202020204"/>
                      </a:endParaRPr>
                    </a:p>
                  </a:txBody>
                  <a:tcPr marL="0" marR="0" marT="29845" marB="0">
                    <a:solidFill>
                      <a:srgbClr val="E0EBEB">
                        <a:alpha val="59999"/>
                      </a:srgbClr>
                    </a:solidFill>
                  </a:tcPr>
                </a:tc>
                <a:tc>
                  <a:txBody>
                    <a:bodyPr/>
                    <a:lstStyle/>
                    <a:p>
                      <a:pPr marL="366395" algn="ctr">
                        <a:lnSpc>
                          <a:spcPct val="100000"/>
                        </a:lnSpc>
                        <a:spcBef>
                          <a:spcPts val="235"/>
                        </a:spcBef>
                      </a:pPr>
                      <a:r>
                        <a:rPr sz="1400" spc="-10" dirty="0">
                          <a:solidFill>
                            <a:srgbClr val="344B5E"/>
                          </a:solidFill>
                          <a:latin typeface="Arial" panose="020B0604020202020204"/>
                          <a:cs typeface="Arial" panose="020B0604020202020204"/>
                        </a:rPr>
                        <a:t>Weak</a:t>
                      </a:r>
                      <a:endParaRPr sz="1400">
                        <a:latin typeface="Arial" panose="020B0604020202020204"/>
                        <a:cs typeface="Arial" panose="020B0604020202020204"/>
                      </a:endParaRPr>
                    </a:p>
                  </a:txBody>
                  <a:tcPr marL="0" marR="0" marT="29845" marB="0">
                    <a:lnR w="12700">
                      <a:solidFill>
                        <a:srgbClr val="344B5E"/>
                      </a:solidFill>
                      <a:prstDash val="solid"/>
                    </a:lnR>
                    <a:solidFill>
                      <a:srgbClr val="E0EBEB">
                        <a:alpha val="59999"/>
                      </a:srgbClr>
                    </a:solidFill>
                  </a:tcPr>
                </a:tc>
                <a:tc>
                  <a:txBody>
                    <a:bodyPr/>
                    <a:lstStyle/>
                    <a:p>
                      <a:pPr algn="ctr">
                        <a:lnSpc>
                          <a:spcPct val="100000"/>
                        </a:lnSpc>
                        <a:spcBef>
                          <a:spcPts val="235"/>
                        </a:spcBef>
                      </a:pPr>
                      <a:r>
                        <a:rPr sz="1400" spc="10" dirty="0">
                          <a:solidFill>
                            <a:srgbClr val="344B5E"/>
                          </a:solidFill>
                          <a:latin typeface="Arial" panose="020B0604020202020204"/>
                          <a:cs typeface="Arial" panose="020B0604020202020204"/>
                        </a:rPr>
                        <a:t>No</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alpha val="59999"/>
                      </a:srgbClr>
                    </a:solidFill>
                  </a:tcPr>
                </a:tc>
                <a:extLst>
                  <a:ext uri="{0D108BD9-81ED-4DB2-BD59-A6C34878D82A}">
                    <a16:rowId xmlns:a16="http://schemas.microsoft.com/office/drawing/2014/main" val="10008"/>
                  </a:ext>
                </a:extLst>
              </a:tr>
              <a:tr h="328850">
                <a:tc>
                  <a:txBody>
                    <a:bodyPr/>
                    <a:lstStyle/>
                    <a:p>
                      <a:pPr marL="635" algn="ctr">
                        <a:lnSpc>
                          <a:spcPct val="100000"/>
                        </a:lnSpc>
                        <a:spcBef>
                          <a:spcPts val="235"/>
                        </a:spcBef>
                      </a:pPr>
                      <a:r>
                        <a:rPr sz="1400" spc="5" dirty="0">
                          <a:solidFill>
                            <a:srgbClr val="344B5E"/>
                          </a:solidFill>
                          <a:latin typeface="Arial" panose="020B0604020202020204"/>
                          <a:cs typeface="Arial" panose="020B0604020202020204"/>
                        </a:rPr>
                        <a:t>D9</a:t>
                      </a:r>
                      <a:endParaRPr sz="1400">
                        <a:latin typeface="Arial" panose="020B0604020202020204"/>
                        <a:cs typeface="Arial" panose="020B0604020202020204"/>
                      </a:endParaRPr>
                    </a:p>
                  </a:txBody>
                  <a:tcPr marL="0" marR="0" marT="29845" marB="0">
                    <a:lnR w="12700">
                      <a:solidFill>
                        <a:srgbClr val="344B5E"/>
                      </a:solidFill>
                      <a:prstDash val="solid"/>
                    </a:lnR>
                    <a:solidFill>
                      <a:srgbClr val="E0EBEB"/>
                    </a:solidFill>
                  </a:tcPr>
                </a:tc>
                <a:tc>
                  <a:txBody>
                    <a:bodyPr/>
                    <a:lstStyle/>
                    <a:p>
                      <a:pPr marL="414020" algn="ctr">
                        <a:lnSpc>
                          <a:spcPct val="100000"/>
                        </a:lnSpc>
                        <a:spcBef>
                          <a:spcPts val="235"/>
                        </a:spcBef>
                      </a:pPr>
                      <a:r>
                        <a:rPr sz="1400" dirty="0">
                          <a:solidFill>
                            <a:srgbClr val="C00000"/>
                          </a:solidFill>
                          <a:latin typeface="Arial" panose="020B0604020202020204"/>
                          <a:cs typeface="Arial" panose="020B0604020202020204"/>
                        </a:rPr>
                        <a:t>Sunny</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solidFill>
                  </a:tcPr>
                </a:tc>
                <a:tc>
                  <a:txBody>
                    <a:bodyPr/>
                    <a:lstStyle/>
                    <a:p>
                      <a:pPr marL="19050" algn="ctr">
                        <a:lnSpc>
                          <a:spcPct val="100000"/>
                        </a:lnSpc>
                        <a:spcBef>
                          <a:spcPts val="235"/>
                        </a:spcBef>
                      </a:pPr>
                      <a:r>
                        <a:rPr sz="1400" dirty="0">
                          <a:solidFill>
                            <a:srgbClr val="C00000"/>
                          </a:solidFill>
                          <a:latin typeface="Arial" panose="020B0604020202020204"/>
                          <a:cs typeface="Arial" panose="020B0604020202020204"/>
                        </a:rPr>
                        <a:t>Cool</a:t>
                      </a:r>
                      <a:endParaRPr sz="1400">
                        <a:latin typeface="Arial" panose="020B0604020202020204"/>
                        <a:cs typeface="Arial" panose="020B0604020202020204"/>
                      </a:endParaRPr>
                    </a:p>
                  </a:txBody>
                  <a:tcPr marL="0" marR="0" marT="29845" marB="0">
                    <a:solidFill>
                      <a:srgbClr val="E0EBEB"/>
                    </a:solidFill>
                  </a:tcPr>
                </a:tc>
                <a:tc>
                  <a:txBody>
                    <a:bodyPr/>
                    <a:lstStyle/>
                    <a:p>
                      <a:pPr marR="128905" algn="ctr">
                        <a:lnSpc>
                          <a:spcPct val="100000"/>
                        </a:lnSpc>
                        <a:spcBef>
                          <a:spcPts val="235"/>
                        </a:spcBef>
                      </a:pPr>
                      <a:r>
                        <a:rPr sz="1400" spc="15" dirty="0">
                          <a:solidFill>
                            <a:srgbClr val="C00000"/>
                          </a:solidFill>
                          <a:latin typeface="Arial" panose="020B0604020202020204"/>
                          <a:cs typeface="Arial" panose="020B0604020202020204"/>
                        </a:rPr>
                        <a:t>Normal</a:t>
                      </a:r>
                      <a:endParaRPr sz="1400" dirty="0">
                        <a:latin typeface="Arial" panose="020B0604020202020204"/>
                        <a:cs typeface="Arial" panose="020B0604020202020204"/>
                      </a:endParaRPr>
                    </a:p>
                  </a:txBody>
                  <a:tcPr marL="0" marR="0" marT="29845" marB="0">
                    <a:solidFill>
                      <a:srgbClr val="E0EBEB"/>
                    </a:solidFill>
                  </a:tcPr>
                </a:tc>
                <a:tc>
                  <a:txBody>
                    <a:bodyPr/>
                    <a:lstStyle/>
                    <a:p>
                      <a:pPr marL="366395" algn="ctr">
                        <a:lnSpc>
                          <a:spcPct val="100000"/>
                        </a:lnSpc>
                        <a:spcBef>
                          <a:spcPts val="235"/>
                        </a:spcBef>
                      </a:pPr>
                      <a:r>
                        <a:rPr sz="1400" spc="-10" dirty="0">
                          <a:solidFill>
                            <a:srgbClr val="C00000"/>
                          </a:solidFill>
                          <a:latin typeface="Arial" panose="020B0604020202020204"/>
                          <a:cs typeface="Arial" panose="020B0604020202020204"/>
                        </a:rPr>
                        <a:t>Weak</a:t>
                      </a:r>
                      <a:endParaRPr sz="1400" dirty="0">
                        <a:latin typeface="Arial" panose="020B0604020202020204"/>
                        <a:cs typeface="Arial" panose="020B0604020202020204"/>
                      </a:endParaRPr>
                    </a:p>
                  </a:txBody>
                  <a:tcPr marL="0" marR="0" marT="29845" marB="0">
                    <a:lnR w="12700">
                      <a:solidFill>
                        <a:srgbClr val="344B5E"/>
                      </a:solidFill>
                      <a:prstDash val="solid"/>
                    </a:lnR>
                    <a:solidFill>
                      <a:srgbClr val="E0EBEB"/>
                    </a:solidFill>
                  </a:tcPr>
                </a:tc>
                <a:tc>
                  <a:txBody>
                    <a:bodyPr/>
                    <a:lstStyle/>
                    <a:p>
                      <a:pPr algn="ctr">
                        <a:lnSpc>
                          <a:spcPct val="100000"/>
                        </a:lnSpc>
                        <a:spcBef>
                          <a:spcPts val="235"/>
                        </a:spcBef>
                      </a:pPr>
                      <a:r>
                        <a:rPr sz="1400" spc="-40" dirty="0">
                          <a:solidFill>
                            <a:srgbClr val="C00000"/>
                          </a:solidFill>
                          <a:latin typeface="Arial" panose="020B0604020202020204"/>
                          <a:cs typeface="Arial" panose="020B0604020202020204"/>
                        </a:rPr>
                        <a:t>Yes</a:t>
                      </a:r>
                      <a:endParaRPr sz="1400" dirty="0">
                        <a:latin typeface="Arial" panose="020B0604020202020204"/>
                        <a:cs typeface="Arial" panose="020B0604020202020204"/>
                      </a:endParaRPr>
                    </a:p>
                  </a:txBody>
                  <a:tcPr marL="0" marR="0" marT="29845" marB="0">
                    <a:lnL w="12700">
                      <a:solidFill>
                        <a:srgbClr val="344B5E"/>
                      </a:solidFill>
                      <a:prstDash val="solid"/>
                    </a:lnL>
                    <a:solidFill>
                      <a:srgbClr val="E0EBEB"/>
                    </a:solidFill>
                  </a:tcPr>
                </a:tc>
                <a:extLst>
                  <a:ext uri="{0D108BD9-81ED-4DB2-BD59-A6C34878D82A}">
                    <a16:rowId xmlns:a16="http://schemas.microsoft.com/office/drawing/2014/main" val="10009"/>
                  </a:ext>
                </a:extLst>
              </a:tr>
              <a:tr h="328850">
                <a:tc>
                  <a:txBody>
                    <a:bodyPr/>
                    <a:lstStyle/>
                    <a:p>
                      <a:pPr marL="1270" algn="ctr">
                        <a:lnSpc>
                          <a:spcPct val="100000"/>
                        </a:lnSpc>
                        <a:spcBef>
                          <a:spcPts val="240"/>
                        </a:spcBef>
                      </a:pPr>
                      <a:r>
                        <a:rPr sz="1400" spc="10" dirty="0">
                          <a:solidFill>
                            <a:srgbClr val="344B5E"/>
                          </a:solidFill>
                          <a:latin typeface="Arial" panose="020B0604020202020204"/>
                          <a:cs typeface="Arial" panose="020B0604020202020204"/>
                        </a:rPr>
                        <a:t>D10</a:t>
                      </a:r>
                      <a:endParaRPr sz="1400">
                        <a:latin typeface="Arial" panose="020B0604020202020204"/>
                        <a:cs typeface="Arial" panose="020B0604020202020204"/>
                      </a:endParaRPr>
                    </a:p>
                  </a:txBody>
                  <a:tcPr marL="0" marR="0" marT="30480" marB="0">
                    <a:lnR w="12700">
                      <a:solidFill>
                        <a:srgbClr val="344B5E"/>
                      </a:solidFill>
                      <a:prstDash val="solid"/>
                    </a:lnR>
                    <a:solidFill>
                      <a:srgbClr val="E0EBEB">
                        <a:alpha val="59999"/>
                      </a:srgbClr>
                    </a:solidFill>
                  </a:tcPr>
                </a:tc>
                <a:tc>
                  <a:txBody>
                    <a:bodyPr/>
                    <a:lstStyle/>
                    <a:p>
                      <a:pPr marL="86995" algn="ctr">
                        <a:lnSpc>
                          <a:spcPct val="100000"/>
                        </a:lnSpc>
                        <a:spcBef>
                          <a:spcPts val="240"/>
                        </a:spcBef>
                      </a:pPr>
                      <a:r>
                        <a:rPr sz="1400" spc="-30" dirty="0">
                          <a:solidFill>
                            <a:srgbClr val="C00000"/>
                          </a:solidFill>
                          <a:latin typeface="Arial" panose="020B0604020202020204"/>
                          <a:cs typeface="Arial" panose="020B0604020202020204"/>
                        </a:rPr>
                        <a:t>Rain</a:t>
                      </a:r>
                      <a:endParaRPr sz="1400" dirty="0">
                        <a:latin typeface="Arial" panose="020B0604020202020204"/>
                        <a:cs typeface="Arial" panose="020B0604020202020204"/>
                      </a:endParaRPr>
                    </a:p>
                  </a:txBody>
                  <a:tcPr marL="0" marR="0" marT="30480" marB="0">
                    <a:lnL w="12700">
                      <a:solidFill>
                        <a:srgbClr val="344B5E"/>
                      </a:solidFill>
                      <a:prstDash val="solid"/>
                    </a:lnL>
                    <a:solidFill>
                      <a:srgbClr val="E0EBEB">
                        <a:alpha val="59999"/>
                      </a:srgbClr>
                    </a:solidFill>
                  </a:tcPr>
                </a:tc>
                <a:tc>
                  <a:txBody>
                    <a:bodyPr/>
                    <a:lstStyle/>
                    <a:p>
                      <a:pPr marL="17780" algn="ctr">
                        <a:lnSpc>
                          <a:spcPct val="100000"/>
                        </a:lnSpc>
                        <a:spcBef>
                          <a:spcPts val="240"/>
                        </a:spcBef>
                      </a:pPr>
                      <a:r>
                        <a:rPr sz="1400" spc="25" dirty="0">
                          <a:solidFill>
                            <a:srgbClr val="C00000"/>
                          </a:solidFill>
                          <a:latin typeface="Arial" panose="020B0604020202020204"/>
                          <a:cs typeface="Arial" panose="020B0604020202020204"/>
                        </a:rPr>
                        <a:t>Mild</a:t>
                      </a:r>
                      <a:endParaRPr sz="1400">
                        <a:latin typeface="Arial" panose="020B0604020202020204"/>
                        <a:cs typeface="Arial" panose="020B0604020202020204"/>
                      </a:endParaRPr>
                    </a:p>
                  </a:txBody>
                  <a:tcPr marL="0" marR="0" marT="30480" marB="0">
                    <a:solidFill>
                      <a:srgbClr val="E0EBEB">
                        <a:alpha val="59999"/>
                      </a:srgbClr>
                    </a:solidFill>
                  </a:tcPr>
                </a:tc>
                <a:tc>
                  <a:txBody>
                    <a:bodyPr/>
                    <a:lstStyle/>
                    <a:p>
                      <a:pPr marR="128905" algn="ctr">
                        <a:lnSpc>
                          <a:spcPct val="100000"/>
                        </a:lnSpc>
                        <a:spcBef>
                          <a:spcPts val="240"/>
                        </a:spcBef>
                      </a:pPr>
                      <a:r>
                        <a:rPr sz="1400" spc="15" dirty="0">
                          <a:solidFill>
                            <a:srgbClr val="C00000"/>
                          </a:solidFill>
                          <a:latin typeface="Arial" panose="020B0604020202020204"/>
                          <a:cs typeface="Arial" panose="020B0604020202020204"/>
                        </a:rPr>
                        <a:t>Normal</a:t>
                      </a:r>
                      <a:endParaRPr sz="1400">
                        <a:latin typeface="Arial" panose="020B0604020202020204"/>
                        <a:cs typeface="Arial" panose="020B0604020202020204"/>
                      </a:endParaRPr>
                    </a:p>
                  </a:txBody>
                  <a:tcPr marL="0" marR="0" marT="30480" marB="0">
                    <a:solidFill>
                      <a:srgbClr val="E0EBEB">
                        <a:alpha val="59999"/>
                      </a:srgbClr>
                    </a:solidFill>
                  </a:tcPr>
                </a:tc>
                <a:tc>
                  <a:txBody>
                    <a:bodyPr/>
                    <a:lstStyle/>
                    <a:p>
                      <a:pPr marL="366395" algn="ctr">
                        <a:lnSpc>
                          <a:spcPct val="100000"/>
                        </a:lnSpc>
                        <a:spcBef>
                          <a:spcPts val="240"/>
                        </a:spcBef>
                      </a:pPr>
                      <a:r>
                        <a:rPr sz="1400" spc="-10" dirty="0">
                          <a:solidFill>
                            <a:srgbClr val="C00000"/>
                          </a:solidFill>
                          <a:latin typeface="Arial" panose="020B0604020202020204"/>
                          <a:cs typeface="Arial" panose="020B0604020202020204"/>
                        </a:rPr>
                        <a:t>Weak</a:t>
                      </a:r>
                      <a:endParaRPr sz="1400" dirty="0">
                        <a:latin typeface="Arial" panose="020B0604020202020204"/>
                        <a:cs typeface="Arial" panose="020B0604020202020204"/>
                      </a:endParaRPr>
                    </a:p>
                  </a:txBody>
                  <a:tcPr marL="0" marR="0" marT="30480" marB="0">
                    <a:lnR w="12700">
                      <a:solidFill>
                        <a:srgbClr val="344B5E"/>
                      </a:solidFill>
                      <a:prstDash val="solid"/>
                    </a:lnR>
                    <a:solidFill>
                      <a:srgbClr val="E0EBEB">
                        <a:alpha val="59999"/>
                      </a:srgbClr>
                    </a:solidFill>
                  </a:tcPr>
                </a:tc>
                <a:tc>
                  <a:txBody>
                    <a:bodyPr/>
                    <a:lstStyle/>
                    <a:p>
                      <a:pPr algn="ctr">
                        <a:lnSpc>
                          <a:spcPct val="100000"/>
                        </a:lnSpc>
                        <a:spcBef>
                          <a:spcPts val="240"/>
                        </a:spcBef>
                      </a:pPr>
                      <a:r>
                        <a:rPr sz="1400" spc="-40" dirty="0">
                          <a:solidFill>
                            <a:srgbClr val="C00000"/>
                          </a:solidFill>
                          <a:latin typeface="Arial" panose="020B0604020202020204"/>
                          <a:cs typeface="Arial" panose="020B0604020202020204"/>
                        </a:rPr>
                        <a:t>Yes</a:t>
                      </a:r>
                      <a:endParaRPr sz="1400" dirty="0">
                        <a:latin typeface="Arial" panose="020B0604020202020204"/>
                        <a:cs typeface="Arial" panose="020B0604020202020204"/>
                      </a:endParaRPr>
                    </a:p>
                  </a:txBody>
                  <a:tcPr marL="0" marR="0" marT="30480" marB="0">
                    <a:lnL w="12700">
                      <a:solidFill>
                        <a:srgbClr val="344B5E"/>
                      </a:solidFill>
                      <a:prstDash val="solid"/>
                    </a:lnL>
                    <a:solidFill>
                      <a:srgbClr val="E0EBEB">
                        <a:alpha val="59999"/>
                      </a:srgbClr>
                    </a:solidFill>
                  </a:tcPr>
                </a:tc>
                <a:extLst>
                  <a:ext uri="{0D108BD9-81ED-4DB2-BD59-A6C34878D82A}">
                    <a16:rowId xmlns:a16="http://schemas.microsoft.com/office/drawing/2014/main" val="10010"/>
                  </a:ext>
                </a:extLst>
              </a:tr>
              <a:tr h="328850">
                <a:tc>
                  <a:txBody>
                    <a:bodyPr/>
                    <a:lstStyle/>
                    <a:p>
                      <a:pPr marL="1270" algn="ctr">
                        <a:lnSpc>
                          <a:spcPct val="100000"/>
                        </a:lnSpc>
                        <a:spcBef>
                          <a:spcPts val="240"/>
                        </a:spcBef>
                      </a:pPr>
                      <a:r>
                        <a:rPr sz="1400" spc="10" dirty="0">
                          <a:solidFill>
                            <a:srgbClr val="344B5E"/>
                          </a:solidFill>
                          <a:latin typeface="Arial" panose="020B0604020202020204"/>
                          <a:cs typeface="Arial" panose="020B0604020202020204"/>
                        </a:rPr>
                        <a:t>D11</a:t>
                      </a:r>
                      <a:endParaRPr sz="1400">
                        <a:latin typeface="Arial" panose="020B0604020202020204"/>
                        <a:cs typeface="Arial" panose="020B0604020202020204"/>
                      </a:endParaRPr>
                    </a:p>
                  </a:txBody>
                  <a:tcPr marL="0" marR="0" marT="30480" marB="0">
                    <a:lnR w="12700">
                      <a:solidFill>
                        <a:srgbClr val="344B5E"/>
                      </a:solidFill>
                      <a:prstDash val="solid"/>
                    </a:lnR>
                    <a:solidFill>
                      <a:srgbClr val="E0EBEB"/>
                    </a:solidFill>
                  </a:tcPr>
                </a:tc>
                <a:tc>
                  <a:txBody>
                    <a:bodyPr/>
                    <a:lstStyle/>
                    <a:p>
                      <a:pPr marL="414020" algn="ctr">
                        <a:lnSpc>
                          <a:spcPct val="100000"/>
                        </a:lnSpc>
                        <a:spcBef>
                          <a:spcPts val="240"/>
                        </a:spcBef>
                      </a:pPr>
                      <a:r>
                        <a:rPr sz="1400" dirty="0">
                          <a:solidFill>
                            <a:srgbClr val="C00000"/>
                          </a:solidFill>
                          <a:latin typeface="Arial" panose="020B0604020202020204"/>
                          <a:cs typeface="Arial" panose="020B0604020202020204"/>
                        </a:rPr>
                        <a:t>Sunny</a:t>
                      </a:r>
                      <a:endParaRPr sz="1400" dirty="0">
                        <a:latin typeface="Arial" panose="020B0604020202020204"/>
                        <a:cs typeface="Arial" panose="020B0604020202020204"/>
                      </a:endParaRPr>
                    </a:p>
                  </a:txBody>
                  <a:tcPr marL="0" marR="0" marT="30480" marB="0">
                    <a:lnL w="12700">
                      <a:solidFill>
                        <a:srgbClr val="344B5E"/>
                      </a:solidFill>
                      <a:prstDash val="solid"/>
                    </a:lnL>
                    <a:solidFill>
                      <a:srgbClr val="E0EBEB"/>
                    </a:solidFill>
                  </a:tcPr>
                </a:tc>
                <a:tc>
                  <a:txBody>
                    <a:bodyPr/>
                    <a:lstStyle/>
                    <a:p>
                      <a:pPr marL="17780" algn="ctr">
                        <a:lnSpc>
                          <a:spcPct val="100000"/>
                        </a:lnSpc>
                        <a:spcBef>
                          <a:spcPts val="240"/>
                        </a:spcBef>
                      </a:pPr>
                      <a:r>
                        <a:rPr sz="1400" spc="25" dirty="0">
                          <a:solidFill>
                            <a:srgbClr val="C00000"/>
                          </a:solidFill>
                          <a:latin typeface="Arial" panose="020B0604020202020204"/>
                          <a:cs typeface="Arial" panose="020B0604020202020204"/>
                        </a:rPr>
                        <a:t>Mild</a:t>
                      </a:r>
                      <a:endParaRPr sz="1400">
                        <a:latin typeface="Arial" panose="020B0604020202020204"/>
                        <a:cs typeface="Arial" panose="020B0604020202020204"/>
                      </a:endParaRPr>
                    </a:p>
                  </a:txBody>
                  <a:tcPr marL="0" marR="0" marT="30480" marB="0">
                    <a:solidFill>
                      <a:srgbClr val="E0EBEB"/>
                    </a:solidFill>
                  </a:tcPr>
                </a:tc>
                <a:tc>
                  <a:txBody>
                    <a:bodyPr/>
                    <a:lstStyle/>
                    <a:p>
                      <a:pPr marR="128905" algn="ctr">
                        <a:lnSpc>
                          <a:spcPct val="100000"/>
                        </a:lnSpc>
                        <a:spcBef>
                          <a:spcPts val="240"/>
                        </a:spcBef>
                      </a:pPr>
                      <a:r>
                        <a:rPr sz="1400" spc="15" dirty="0">
                          <a:solidFill>
                            <a:srgbClr val="C00000"/>
                          </a:solidFill>
                          <a:latin typeface="Arial" panose="020B0604020202020204"/>
                          <a:cs typeface="Arial" panose="020B0604020202020204"/>
                        </a:rPr>
                        <a:t>Normal</a:t>
                      </a:r>
                      <a:endParaRPr sz="1400">
                        <a:latin typeface="Arial" panose="020B0604020202020204"/>
                        <a:cs typeface="Arial" panose="020B0604020202020204"/>
                      </a:endParaRPr>
                    </a:p>
                  </a:txBody>
                  <a:tcPr marL="0" marR="0" marT="30480" marB="0">
                    <a:solidFill>
                      <a:srgbClr val="E0EBEB"/>
                    </a:solidFill>
                  </a:tcPr>
                </a:tc>
                <a:tc>
                  <a:txBody>
                    <a:bodyPr/>
                    <a:lstStyle/>
                    <a:p>
                      <a:pPr marL="334010" algn="ctr">
                        <a:lnSpc>
                          <a:spcPct val="100000"/>
                        </a:lnSpc>
                        <a:spcBef>
                          <a:spcPts val="240"/>
                        </a:spcBef>
                      </a:pPr>
                      <a:r>
                        <a:rPr sz="1400" spc="10" dirty="0">
                          <a:solidFill>
                            <a:srgbClr val="C00000"/>
                          </a:solidFill>
                          <a:latin typeface="Arial" panose="020B0604020202020204"/>
                          <a:cs typeface="Arial" panose="020B0604020202020204"/>
                        </a:rPr>
                        <a:t>Strong</a:t>
                      </a:r>
                      <a:endParaRPr sz="1400" dirty="0">
                        <a:latin typeface="Arial" panose="020B0604020202020204"/>
                        <a:cs typeface="Arial" panose="020B0604020202020204"/>
                      </a:endParaRPr>
                    </a:p>
                  </a:txBody>
                  <a:tcPr marL="0" marR="0" marT="30480" marB="0">
                    <a:lnR w="12700">
                      <a:solidFill>
                        <a:srgbClr val="344B5E"/>
                      </a:solidFill>
                      <a:prstDash val="solid"/>
                    </a:lnR>
                    <a:solidFill>
                      <a:srgbClr val="E0EBEB"/>
                    </a:solidFill>
                  </a:tcPr>
                </a:tc>
                <a:tc>
                  <a:txBody>
                    <a:bodyPr/>
                    <a:lstStyle/>
                    <a:p>
                      <a:pPr algn="ctr">
                        <a:lnSpc>
                          <a:spcPct val="100000"/>
                        </a:lnSpc>
                        <a:spcBef>
                          <a:spcPts val="240"/>
                        </a:spcBef>
                      </a:pPr>
                      <a:r>
                        <a:rPr sz="1400" spc="-40" dirty="0">
                          <a:solidFill>
                            <a:srgbClr val="C00000"/>
                          </a:solidFill>
                          <a:latin typeface="Arial" panose="020B0604020202020204"/>
                          <a:cs typeface="Arial" panose="020B0604020202020204"/>
                        </a:rPr>
                        <a:t>Yes</a:t>
                      </a:r>
                      <a:endParaRPr sz="1400" dirty="0">
                        <a:latin typeface="Arial" panose="020B0604020202020204"/>
                        <a:cs typeface="Arial" panose="020B0604020202020204"/>
                      </a:endParaRPr>
                    </a:p>
                  </a:txBody>
                  <a:tcPr marL="0" marR="0" marT="30480" marB="0">
                    <a:lnL w="12700">
                      <a:solidFill>
                        <a:srgbClr val="344B5E"/>
                      </a:solidFill>
                      <a:prstDash val="solid"/>
                    </a:lnL>
                    <a:solidFill>
                      <a:srgbClr val="E0EBEB"/>
                    </a:solidFill>
                  </a:tcPr>
                </a:tc>
                <a:extLst>
                  <a:ext uri="{0D108BD9-81ED-4DB2-BD59-A6C34878D82A}">
                    <a16:rowId xmlns:a16="http://schemas.microsoft.com/office/drawing/2014/main" val="10011"/>
                  </a:ext>
                </a:extLst>
              </a:tr>
              <a:tr h="328850">
                <a:tc>
                  <a:txBody>
                    <a:bodyPr/>
                    <a:lstStyle/>
                    <a:p>
                      <a:pPr marL="1270" algn="ctr">
                        <a:lnSpc>
                          <a:spcPct val="100000"/>
                        </a:lnSpc>
                        <a:spcBef>
                          <a:spcPts val="240"/>
                        </a:spcBef>
                      </a:pPr>
                      <a:r>
                        <a:rPr sz="1400" spc="10" dirty="0">
                          <a:solidFill>
                            <a:srgbClr val="344B5E"/>
                          </a:solidFill>
                          <a:latin typeface="Arial" panose="020B0604020202020204"/>
                          <a:cs typeface="Arial" panose="020B0604020202020204"/>
                        </a:rPr>
                        <a:t>D12</a:t>
                      </a:r>
                      <a:endParaRPr sz="1400">
                        <a:latin typeface="Arial" panose="020B0604020202020204"/>
                        <a:cs typeface="Arial" panose="020B0604020202020204"/>
                      </a:endParaRPr>
                    </a:p>
                  </a:txBody>
                  <a:tcPr marL="0" marR="0" marT="30480" marB="0">
                    <a:lnR w="12700">
                      <a:solidFill>
                        <a:srgbClr val="344B5E"/>
                      </a:solidFill>
                      <a:prstDash val="solid"/>
                    </a:lnR>
                    <a:solidFill>
                      <a:srgbClr val="E0EBEB">
                        <a:alpha val="59999"/>
                      </a:srgbClr>
                    </a:solidFill>
                  </a:tcPr>
                </a:tc>
                <a:tc>
                  <a:txBody>
                    <a:bodyPr/>
                    <a:lstStyle/>
                    <a:p>
                      <a:pPr marL="340360" algn="ctr">
                        <a:lnSpc>
                          <a:spcPct val="100000"/>
                        </a:lnSpc>
                        <a:spcBef>
                          <a:spcPts val="240"/>
                        </a:spcBef>
                      </a:pPr>
                      <a:r>
                        <a:rPr sz="1400" spc="-5" dirty="0">
                          <a:solidFill>
                            <a:srgbClr val="C00000"/>
                          </a:solidFill>
                          <a:latin typeface="Arial" panose="020B0604020202020204"/>
                          <a:cs typeface="Arial" panose="020B0604020202020204"/>
                        </a:rPr>
                        <a:t>Overcast</a:t>
                      </a:r>
                      <a:endParaRPr sz="1400" dirty="0">
                        <a:latin typeface="Arial" panose="020B0604020202020204"/>
                        <a:cs typeface="Arial" panose="020B0604020202020204"/>
                      </a:endParaRPr>
                    </a:p>
                  </a:txBody>
                  <a:tcPr marL="0" marR="0" marT="30480" marB="0">
                    <a:lnL w="12700">
                      <a:solidFill>
                        <a:srgbClr val="344B5E"/>
                      </a:solidFill>
                      <a:prstDash val="solid"/>
                    </a:lnL>
                    <a:solidFill>
                      <a:srgbClr val="E0EBEB">
                        <a:alpha val="59999"/>
                      </a:srgbClr>
                    </a:solidFill>
                  </a:tcPr>
                </a:tc>
                <a:tc>
                  <a:txBody>
                    <a:bodyPr/>
                    <a:lstStyle/>
                    <a:p>
                      <a:pPr marL="17780" algn="ctr">
                        <a:lnSpc>
                          <a:spcPct val="100000"/>
                        </a:lnSpc>
                        <a:spcBef>
                          <a:spcPts val="240"/>
                        </a:spcBef>
                      </a:pPr>
                      <a:r>
                        <a:rPr sz="1400" spc="25" dirty="0">
                          <a:solidFill>
                            <a:srgbClr val="C00000"/>
                          </a:solidFill>
                          <a:latin typeface="Arial" panose="020B0604020202020204"/>
                          <a:cs typeface="Arial" panose="020B0604020202020204"/>
                        </a:rPr>
                        <a:t>Mild</a:t>
                      </a:r>
                      <a:endParaRPr sz="1400">
                        <a:latin typeface="Arial" panose="020B0604020202020204"/>
                        <a:cs typeface="Arial" panose="020B0604020202020204"/>
                      </a:endParaRPr>
                    </a:p>
                  </a:txBody>
                  <a:tcPr marL="0" marR="0" marT="30480" marB="0">
                    <a:solidFill>
                      <a:srgbClr val="E0EBEB">
                        <a:alpha val="59999"/>
                      </a:srgbClr>
                    </a:solidFill>
                  </a:tcPr>
                </a:tc>
                <a:tc>
                  <a:txBody>
                    <a:bodyPr/>
                    <a:lstStyle/>
                    <a:p>
                      <a:pPr marR="127635" algn="ctr">
                        <a:lnSpc>
                          <a:spcPct val="100000"/>
                        </a:lnSpc>
                        <a:spcBef>
                          <a:spcPts val="240"/>
                        </a:spcBef>
                      </a:pPr>
                      <a:r>
                        <a:rPr sz="1400" dirty="0">
                          <a:solidFill>
                            <a:srgbClr val="C00000"/>
                          </a:solidFill>
                          <a:latin typeface="Arial" panose="020B0604020202020204"/>
                          <a:cs typeface="Arial" panose="020B0604020202020204"/>
                        </a:rPr>
                        <a:t>High</a:t>
                      </a:r>
                      <a:endParaRPr sz="1400">
                        <a:latin typeface="Arial" panose="020B0604020202020204"/>
                        <a:cs typeface="Arial" panose="020B0604020202020204"/>
                      </a:endParaRPr>
                    </a:p>
                  </a:txBody>
                  <a:tcPr marL="0" marR="0" marT="30480" marB="0">
                    <a:solidFill>
                      <a:srgbClr val="E0EBEB">
                        <a:alpha val="59999"/>
                      </a:srgbClr>
                    </a:solidFill>
                  </a:tcPr>
                </a:tc>
                <a:tc>
                  <a:txBody>
                    <a:bodyPr/>
                    <a:lstStyle/>
                    <a:p>
                      <a:pPr marL="334010" algn="ctr">
                        <a:lnSpc>
                          <a:spcPct val="100000"/>
                        </a:lnSpc>
                        <a:spcBef>
                          <a:spcPts val="240"/>
                        </a:spcBef>
                      </a:pPr>
                      <a:r>
                        <a:rPr sz="1400" spc="10" dirty="0">
                          <a:solidFill>
                            <a:srgbClr val="C00000"/>
                          </a:solidFill>
                          <a:latin typeface="Arial" panose="020B0604020202020204"/>
                          <a:cs typeface="Arial" panose="020B0604020202020204"/>
                        </a:rPr>
                        <a:t>Strong</a:t>
                      </a:r>
                      <a:endParaRPr sz="1400" dirty="0">
                        <a:latin typeface="Arial" panose="020B0604020202020204"/>
                        <a:cs typeface="Arial" panose="020B0604020202020204"/>
                      </a:endParaRPr>
                    </a:p>
                  </a:txBody>
                  <a:tcPr marL="0" marR="0" marT="30480" marB="0">
                    <a:lnR w="12700">
                      <a:solidFill>
                        <a:srgbClr val="344B5E"/>
                      </a:solidFill>
                      <a:prstDash val="solid"/>
                    </a:lnR>
                    <a:solidFill>
                      <a:srgbClr val="E0EBEB">
                        <a:alpha val="59999"/>
                      </a:srgbClr>
                    </a:solidFill>
                  </a:tcPr>
                </a:tc>
                <a:tc>
                  <a:txBody>
                    <a:bodyPr/>
                    <a:lstStyle/>
                    <a:p>
                      <a:pPr algn="ctr">
                        <a:lnSpc>
                          <a:spcPct val="100000"/>
                        </a:lnSpc>
                        <a:spcBef>
                          <a:spcPts val="240"/>
                        </a:spcBef>
                      </a:pPr>
                      <a:r>
                        <a:rPr sz="1400" spc="-40" dirty="0">
                          <a:solidFill>
                            <a:srgbClr val="C00000"/>
                          </a:solidFill>
                          <a:latin typeface="Arial" panose="020B0604020202020204"/>
                          <a:cs typeface="Arial" panose="020B0604020202020204"/>
                        </a:rPr>
                        <a:t>Yes</a:t>
                      </a:r>
                      <a:endParaRPr sz="1400" dirty="0">
                        <a:latin typeface="Arial" panose="020B0604020202020204"/>
                        <a:cs typeface="Arial" panose="020B0604020202020204"/>
                      </a:endParaRPr>
                    </a:p>
                  </a:txBody>
                  <a:tcPr marL="0" marR="0" marT="30480" marB="0">
                    <a:lnL w="12700">
                      <a:solidFill>
                        <a:srgbClr val="344B5E"/>
                      </a:solidFill>
                      <a:prstDash val="solid"/>
                    </a:lnL>
                    <a:solidFill>
                      <a:srgbClr val="E0EBEB">
                        <a:alpha val="59999"/>
                      </a:srgbClr>
                    </a:solidFill>
                  </a:tcPr>
                </a:tc>
                <a:extLst>
                  <a:ext uri="{0D108BD9-81ED-4DB2-BD59-A6C34878D82A}">
                    <a16:rowId xmlns:a16="http://schemas.microsoft.com/office/drawing/2014/main" val="10012"/>
                  </a:ext>
                </a:extLst>
              </a:tr>
              <a:tr h="328850">
                <a:tc>
                  <a:txBody>
                    <a:bodyPr/>
                    <a:lstStyle/>
                    <a:p>
                      <a:pPr marL="1270" algn="ctr">
                        <a:lnSpc>
                          <a:spcPct val="100000"/>
                        </a:lnSpc>
                        <a:spcBef>
                          <a:spcPts val="240"/>
                        </a:spcBef>
                      </a:pPr>
                      <a:r>
                        <a:rPr sz="1400" spc="10" dirty="0">
                          <a:solidFill>
                            <a:srgbClr val="344B5E"/>
                          </a:solidFill>
                          <a:latin typeface="Arial" panose="020B0604020202020204"/>
                          <a:cs typeface="Arial" panose="020B0604020202020204"/>
                        </a:rPr>
                        <a:t>D13</a:t>
                      </a:r>
                      <a:endParaRPr sz="1400">
                        <a:latin typeface="Arial" panose="020B0604020202020204"/>
                        <a:cs typeface="Arial" panose="020B0604020202020204"/>
                      </a:endParaRPr>
                    </a:p>
                  </a:txBody>
                  <a:tcPr marL="0" marR="0" marT="30480" marB="0">
                    <a:lnR w="12700">
                      <a:solidFill>
                        <a:srgbClr val="344B5E"/>
                      </a:solidFill>
                      <a:prstDash val="solid"/>
                    </a:lnR>
                    <a:solidFill>
                      <a:srgbClr val="E0EBEB"/>
                    </a:solidFill>
                  </a:tcPr>
                </a:tc>
                <a:tc>
                  <a:txBody>
                    <a:bodyPr/>
                    <a:lstStyle/>
                    <a:p>
                      <a:pPr marL="340360" algn="ctr">
                        <a:lnSpc>
                          <a:spcPct val="100000"/>
                        </a:lnSpc>
                        <a:spcBef>
                          <a:spcPts val="240"/>
                        </a:spcBef>
                      </a:pPr>
                      <a:r>
                        <a:rPr sz="1400" spc="-5" dirty="0">
                          <a:solidFill>
                            <a:srgbClr val="C00000"/>
                          </a:solidFill>
                          <a:latin typeface="Arial" panose="020B0604020202020204"/>
                          <a:cs typeface="Arial" panose="020B0604020202020204"/>
                        </a:rPr>
                        <a:t>Overcast</a:t>
                      </a:r>
                      <a:endParaRPr sz="1400" dirty="0">
                        <a:latin typeface="Arial" panose="020B0604020202020204"/>
                        <a:cs typeface="Arial" panose="020B0604020202020204"/>
                      </a:endParaRPr>
                    </a:p>
                  </a:txBody>
                  <a:tcPr marL="0" marR="0" marT="30480" marB="0">
                    <a:lnL w="12700">
                      <a:solidFill>
                        <a:srgbClr val="344B5E"/>
                      </a:solidFill>
                      <a:prstDash val="solid"/>
                    </a:lnL>
                    <a:solidFill>
                      <a:srgbClr val="E0EBEB"/>
                    </a:solidFill>
                  </a:tcPr>
                </a:tc>
                <a:tc>
                  <a:txBody>
                    <a:bodyPr/>
                    <a:lstStyle/>
                    <a:p>
                      <a:pPr marL="17780" algn="ctr">
                        <a:lnSpc>
                          <a:spcPct val="100000"/>
                        </a:lnSpc>
                        <a:spcBef>
                          <a:spcPts val="240"/>
                        </a:spcBef>
                      </a:pPr>
                      <a:r>
                        <a:rPr sz="1400" spc="25" dirty="0">
                          <a:solidFill>
                            <a:srgbClr val="C00000"/>
                          </a:solidFill>
                          <a:latin typeface="Arial" panose="020B0604020202020204"/>
                          <a:cs typeface="Arial" panose="020B0604020202020204"/>
                        </a:rPr>
                        <a:t>Hot</a:t>
                      </a:r>
                      <a:endParaRPr sz="1400">
                        <a:latin typeface="Arial" panose="020B0604020202020204"/>
                        <a:cs typeface="Arial" panose="020B0604020202020204"/>
                      </a:endParaRPr>
                    </a:p>
                  </a:txBody>
                  <a:tcPr marL="0" marR="0" marT="30480" marB="0">
                    <a:solidFill>
                      <a:srgbClr val="E0EBEB"/>
                    </a:solidFill>
                  </a:tcPr>
                </a:tc>
                <a:tc>
                  <a:txBody>
                    <a:bodyPr/>
                    <a:lstStyle/>
                    <a:p>
                      <a:pPr marR="128905" algn="ctr">
                        <a:lnSpc>
                          <a:spcPct val="100000"/>
                        </a:lnSpc>
                        <a:spcBef>
                          <a:spcPts val="240"/>
                        </a:spcBef>
                      </a:pPr>
                      <a:r>
                        <a:rPr sz="1400" spc="15" dirty="0">
                          <a:solidFill>
                            <a:srgbClr val="C00000"/>
                          </a:solidFill>
                          <a:latin typeface="Arial" panose="020B0604020202020204"/>
                          <a:cs typeface="Arial" panose="020B0604020202020204"/>
                        </a:rPr>
                        <a:t>Normal</a:t>
                      </a:r>
                      <a:endParaRPr sz="1400">
                        <a:latin typeface="Arial" panose="020B0604020202020204"/>
                        <a:cs typeface="Arial" panose="020B0604020202020204"/>
                      </a:endParaRPr>
                    </a:p>
                  </a:txBody>
                  <a:tcPr marL="0" marR="0" marT="30480" marB="0">
                    <a:solidFill>
                      <a:srgbClr val="E0EBEB"/>
                    </a:solidFill>
                  </a:tcPr>
                </a:tc>
                <a:tc>
                  <a:txBody>
                    <a:bodyPr/>
                    <a:lstStyle/>
                    <a:p>
                      <a:pPr marL="366395" algn="ctr">
                        <a:lnSpc>
                          <a:spcPct val="100000"/>
                        </a:lnSpc>
                        <a:spcBef>
                          <a:spcPts val="240"/>
                        </a:spcBef>
                      </a:pPr>
                      <a:r>
                        <a:rPr sz="1400" spc="-10" dirty="0">
                          <a:solidFill>
                            <a:srgbClr val="C00000"/>
                          </a:solidFill>
                          <a:latin typeface="Arial" panose="020B0604020202020204"/>
                          <a:cs typeface="Arial" panose="020B0604020202020204"/>
                        </a:rPr>
                        <a:t>Weak</a:t>
                      </a:r>
                      <a:endParaRPr sz="1400" dirty="0">
                        <a:latin typeface="Arial" panose="020B0604020202020204"/>
                        <a:cs typeface="Arial" panose="020B0604020202020204"/>
                      </a:endParaRPr>
                    </a:p>
                  </a:txBody>
                  <a:tcPr marL="0" marR="0" marT="30480" marB="0">
                    <a:lnR w="12700">
                      <a:solidFill>
                        <a:srgbClr val="344B5E"/>
                      </a:solidFill>
                      <a:prstDash val="solid"/>
                    </a:lnR>
                    <a:solidFill>
                      <a:srgbClr val="E0EBEB"/>
                    </a:solidFill>
                  </a:tcPr>
                </a:tc>
                <a:tc>
                  <a:txBody>
                    <a:bodyPr/>
                    <a:lstStyle/>
                    <a:p>
                      <a:pPr algn="ctr">
                        <a:lnSpc>
                          <a:spcPct val="100000"/>
                        </a:lnSpc>
                        <a:spcBef>
                          <a:spcPts val="240"/>
                        </a:spcBef>
                      </a:pPr>
                      <a:r>
                        <a:rPr sz="1400" spc="-40" dirty="0">
                          <a:solidFill>
                            <a:srgbClr val="C00000"/>
                          </a:solidFill>
                          <a:latin typeface="Arial" panose="020B0604020202020204"/>
                          <a:cs typeface="Arial" panose="020B0604020202020204"/>
                        </a:rPr>
                        <a:t>Yes</a:t>
                      </a:r>
                      <a:endParaRPr sz="1400" dirty="0">
                        <a:latin typeface="Arial" panose="020B0604020202020204"/>
                        <a:cs typeface="Arial" panose="020B0604020202020204"/>
                      </a:endParaRPr>
                    </a:p>
                  </a:txBody>
                  <a:tcPr marL="0" marR="0" marT="30480" marB="0">
                    <a:lnL w="12700">
                      <a:solidFill>
                        <a:srgbClr val="344B5E"/>
                      </a:solidFill>
                      <a:prstDash val="solid"/>
                    </a:lnL>
                    <a:solidFill>
                      <a:srgbClr val="E0EBEB"/>
                    </a:solidFill>
                  </a:tcPr>
                </a:tc>
                <a:extLst>
                  <a:ext uri="{0D108BD9-81ED-4DB2-BD59-A6C34878D82A}">
                    <a16:rowId xmlns:a16="http://schemas.microsoft.com/office/drawing/2014/main" val="10013"/>
                  </a:ext>
                </a:extLst>
              </a:tr>
              <a:tr h="328850">
                <a:tc>
                  <a:txBody>
                    <a:bodyPr/>
                    <a:lstStyle/>
                    <a:p>
                      <a:pPr marL="1270" algn="ctr">
                        <a:lnSpc>
                          <a:spcPct val="100000"/>
                        </a:lnSpc>
                        <a:spcBef>
                          <a:spcPts val="240"/>
                        </a:spcBef>
                      </a:pPr>
                      <a:r>
                        <a:rPr sz="1400" spc="10" dirty="0">
                          <a:solidFill>
                            <a:srgbClr val="344B5E"/>
                          </a:solidFill>
                          <a:latin typeface="Arial" panose="020B0604020202020204"/>
                          <a:cs typeface="Arial" panose="020B0604020202020204"/>
                        </a:rPr>
                        <a:t>D14</a:t>
                      </a:r>
                      <a:endParaRPr sz="1400">
                        <a:latin typeface="Arial" panose="020B0604020202020204"/>
                        <a:cs typeface="Arial" panose="020B0604020202020204"/>
                      </a:endParaRPr>
                    </a:p>
                  </a:txBody>
                  <a:tcPr marL="0" marR="0" marT="30480" marB="0">
                    <a:lnR w="12700">
                      <a:solidFill>
                        <a:srgbClr val="344B5E"/>
                      </a:solidFill>
                      <a:prstDash val="solid"/>
                    </a:lnR>
                    <a:solidFill>
                      <a:srgbClr val="E0EBEB">
                        <a:alpha val="59999"/>
                      </a:srgbClr>
                    </a:solidFill>
                  </a:tcPr>
                </a:tc>
                <a:tc>
                  <a:txBody>
                    <a:bodyPr/>
                    <a:lstStyle/>
                    <a:p>
                      <a:pPr marL="87630" algn="ctr">
                        <a:lnSpc>
                          <a:spcPct val="100000"/>
                        </a:lnSpc>
                        <a:spcBef>
                          <a:spcPts val="240"/>
                        </a:spcBef>
                      </a:pPr>
                      <a:r>
                        <a:rPr sz="1400" spc="-30" dirty="0">
                          <a:solidFill>
                            <a:srgbClr val="344B5E"/>
                          </a:solidFill>
                          <a:latin typeface="Arial" panose="020B0604020202020204"/>
                          <a:cs typeface="Arial" panose="020B0604020202020204"/>
                        </a:rPr>
                        <a:t>Rain</a:t>
                      </a:r>
                      <a:endParaRPr sz="1400" dirty="0">
                        <a:latin typeface="Arial" panose="020B0604020202020204"/>
                        <a:cs typeface="Arial" panose="020B0604020202020204"/>
                      </a:endParaRPr>
                    </a:p>
                  </a:txBody>
                  <a:tcPr marL="0" marR="0" marT="30480" marB="0">
                    <a:lnL w="12700">
                      <a:solidFill>
                        <a:srgbClr val="344B5E"/>
                      </a:solidFill>
                      <a:prstDash val="solid"/>
                    </a:lnL>
                    <a:solidFill>
                      <a:srgbClr val="E0EBEB">
                        <a:alpha val="59999"/>
                      </a:srgbClr>
                    </a:solidFill>
                  </a:tcPr>
                </a:tc>
                <a:tc>
                  <a:txBody>
                    <a:bodyPr/>
                    <a:lstStyle/>
                    <a:p>
                      <a:pPr marL="18415" algn="ctr">
                        <a:lnSpc>
                          <a:spcPct val="100000"/>
                        </a:lnSpc>
                        <a:spcBef>
                          <a:spcPts val="240"/>
                        </a:spcBef>
                      </a:pPr>
                      <a:r>
                        <a:rPr sz="1400" spc="25" dirty="0">
                          <a:solidFill>
                            <a:srgbClr val="344B5E"/>
                          </a:solidFill>
                          <a:latin typeface="Arial" panose="020B0604020202020204"/>
                          <a:cs typeface="Arial" panose="020B0604020202020204"/>
                        </a:rPr>
                        <a:t>Mild</a:t>
                      </a:r>
                      <a:endParaRPr sz="1400">
                        <a:latin typeface="Arial" panose="020B0604020202020204"/>
                        <a:cs typeface="Arial" panose="020B0604020202020204"/>
                      </a:endParaRPr>
                    </a:p>
                  </a:txBody>
                  <a:tcPr marL="0" marR="0" marT="30480" marB="0">
                    <a:solidFill>
                      <a:srgbClr val="E0EBEB">
                        <a:alpha val="59999"/>
                      </a:srgbClr>
                    </a:solidFill>
                  </a:tcPr>
                </a:tc>
                <a:tc>
                  <a:txBody>
                    <a:bodyPr/>
                    <a:lstStyle/>
                    <a:p>
                      <a:pPr marR="127635" algn="ctr">
                        <a:lnSpc>
                          <a:spcPct val="100000"/>
                        </a:lnSpc>
                        <a:spcBef>
                          <a:spcPts val="240"/>
                        </a:spcBef>
                      </a:pPr>
                      <a:r>
                        <a:rPr sz="1400" dirty="0">
                          <a:solidFill>
                            <a:srgbClr val="344B5E"/>
                          </a:solidFill>
                          <a:latin typeface="Arial" panose="020B0604020202020204"/>
                          <a:cs typeface="Arial" panose="020B0604020202020204"/>
                        </a:rPr>
                        <a:t>High</a:t>
                      </a:r>
                      <a:endParaRPr sz="1400">
                        <a:latin typeface="Arial" panose="020B0604020202020204"/>
                        <a:cs typeface="Arial" panose="020B0604020202020204"/>
                      </a:endParaRPr>
                    </a:p>
                  </a:txBody>
                  <a:tcPr marL="0" marR="0" marT="30480" marB="0">
                    <a:solidFill>
                      <a:srgbClr val="E0EBEB">
                        <a:alpha val="59999"/>
                      </a:srgbClr>
                    </a:solidFill>
                  </a:tcPr>
                </a:tc>
                <a:tc>
                  <a:txBody>
                    <a:bodyPr/>
                    <a:lstStyle/>
                    <a:p>
                      <a:pPr marL="334010" algn="ctr">
                        <a:lnSpc>
                          <a:spcPct val="100000"/>
                        </a:lnSpc>
                        <a:spcBef>
                          <a:spcPts val="240"/>
                        </a:spcBef>
                      </a:pPr>
                      <a:r>
                        <a:rPr sz="1400" spc="10" dirty="0">
                          <a:solidFill>
                            <a:srgbClr val="344B5E"/>
                          </a:solidFill>
                          <a:latin typeface="Arial" panose="020B0604020202020204"/>
                          <a:cs typeface="Arial" panose="020B0604020202020204"/>
                        </a:rPr>
                        <a:t>Strong</a:t>
                      </a:r>
                      <a:endParaRPr sz="1400" dirty="0">
                        <a:latin typeface="Arial" panose="020B0604020202020204"/>
                        <a:cs typeface="Arial" panose="020B0604020202020204"/>
                      </a:endParaRPr>
                    </a:p>
                  </a:txBody>
                  <a:tcPr marL="0" marR="0" marT="30480" marB="0">
                    <a:lnR w="12700">
                      <a:solidFill>
                        <a:srgbClr val="344B5E"/>
                      </a:solidFill>
                      <a:prstDash val="solid"/>
                    </a:lnR>
                    <a:solidFill>
                      <a:srgbClr val="E0EBEB">
                        <a:alpha val="59999"/>
                      </a:srgbClr>
                    </a:solidFill>
                  </a:tcPr>
                </a:tc>
                <a:tc>
                  <a:txBody>
                    <a:bodyPr/>
                    <a:lstStyle/>
                    <a:p>
                      <a:pPr algn="ctr">
                        <a:lnSpc>
                          <a:spcPct val="100000"/>
                        </a:lnSpc>
                        <a:spcBef>
                          <a:spcPts val="240"/>
                        </a:spcBef>
                      </a:pPr>
                      <a:r>
                        <a:rPr sz="1400" spc="5" dirty="0">
                          <a:solidFill>
                            <a:srgbClr val="344B5E"/>
                          </a:solidFill>
                          <a:latin typeface="Arial" panose="020B0604020202020204"/>
                          <a:cs typeface="Arial" panose="020B0604020202020204"/>
                        </a:rPr>
                        <a:t>No</a:t>
                      </a:r>
                      <a:endParaRPr sz="1400" dirty="0">
                        <a:latin typeface="Arial" panose="020B0604020202020204"/>
                        <a:cs typeface="Arial" panose="020B0604020202020204"/>
                      </a:endParaRPr>
                    </a:p>
                  </a:txBody>
                  <a:tcPr marL="0" marR="0" marT="30480" marB="0">
                    <a:lnL w="12700">
                      <a:solidFill>
                        <a:srgbClr val="344B5E"/>
                      </a:solidFill>
                      <a:prstDash val="solid"/>
                    </a:lnL>
                    <a:solidFill>
                      <a:srgbClr val="E0EBEB">
                        <a:alpha val="59999"/>
                      </a:srgbClr>
                    </a:solidFill>
                  </a:tcPr>
                </a:tc>
                <a:extLst>
                  <a:ext uri="{0D108BD9-81ED-4DB2-BD59-A6C34878D82A}">
                    <a16:rowId xmlns:a16="http://schemas.microsoft.com/office/drawing/2014/main" val="10014"/>
                  </a:ext>
                </a:extLst>
              </a:tr>
            </a:tbl>
          </a:graphicData>
        </a:graphic>
      </p:graphicFrame>
      <p:sp>
        <p:nvSpPr>
          <p:cNvPr id="5" name="object 3"/>
          <p:cNvSpPr txBox="1">
            <a:spLocks noGrp="1"/>
          </p:cNvSpPr>
          <p:nvPr>
            <p:ph type="title"/>
          </p:nvPr>
        </p:nvSpPr>
        <p:spPr>
          <a:prstGeom prst="rect">
            <a:avLst/>
          </a:prstGeom>
        </p:spPr>
        <p:txBody>
          <a:bodyPr vert="horz" wrap="square" lIns="0" tIns="107950" rIns="0" bIns="0" rtlCol="0" anchor="ctr">
            <a:spAutoFit/>
          </a:bodyPr>
          <a:lstStyle/>
          <a:p>
            <a:pPr marL="12700" marR="5080" algn="l">
              <a:spcBef>
                <a:spcPts val="850"/>
              </a:spcBef>
            </a:pPr>
            <a:r>
              <a:rPr lang="zh-CN" altLang="en-US" sz="4000" dirty="0"/>
              <a:t>案例：预测打网球</a:t>
            </a:r>
            <a:endParaRPr sz="4000" spc="-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27473" y="1347276"/>
            <a:ext cx="4654369" cy="289823"/>
          </a:xfrm>
          <a:prstGeom prst="rect">
            <a:avLst/>
          </a:prstGeom>
        </p:spPr>
        <p:txBody>
          <a:bodyPr vert="horz" wrap="square" lIns="0" tIns="12700" rIns="0" bIns="0" rtlCol="0">
            <a:spAutoFit/>
          </a:bodyPr>
          <a:lstStyle/>
          <a:p>
            <a:pPr marL="12700">
              <a:spcBef>
                <a:spcPts val="100"/>
              </a:spcBef>
              <a:tabLst>
                <a:tab pos="4278630" algn="l"/>
              </a:tabLst>
            </a:pPr>
            <a:r>
              <a:rPr b="1" spc="5" dirty="0">
                <a:latin typeface="Trebuchet MS" panose="020B0603020202020204"/>
                <a:cs typeface="Trebuchet MS" panose="020B0603020202020204"/>
              </a:rPr>
              <a:t>P(Play=Yes)</a:t>
            </a:r>
            <a:r>
              <a:rPr b="1" spc="-35" dirty="0">
                <a:latin typeface="Trebuchet MS" panose="020B0603020202020204"/>
                <a:cs typeface="Trebuchet MS" panose="020B0603020202020204"/>
              </a:rPr>
              <a:t> </a:t>
            </a:r>
            <a:r>
              <a:rPr b="1" spc="10" dirty="0">
                <a:latin typeface="Trebuchet MS" panose="020B0603020202020204"/>
                <a:cs typeface="Trebuchet MS" panose="020B0603020202020204"/>
              </a:rPr>
              <a:t>=</a:t>
            </a:r>
            <a:r>
              <a:rPr b="1" spc="-90" dirty="0">
                <a:latin typeface="Trebuchet MS" panose="020B0603020202020204"/>
                <a:cs typeface="Trebuchet MS" panose="020B0603020202020204"/>
              </a:rPr>
              <a:t> </a:t>
            </a:r>
            <a:r>
              <a:rPr b="1" spc="25" dirty="0">
                <a:latin typeface="Trebuchet MS" panose="020B0603020202020204"/>
                <a:cs typeface="Trebuchet MS" panose="020B0603020202020204"/>
              </a:rPr>
              <a:t>9/14</a:t>
            </a:r>
            <a:r>
              <a:rPr lang="en-US" b="1" spc="25" dirty="0">
                <a:latin typeface="Trebuchet MS" panose="020B0603020202020204"/>
                <a:cs typeface="Trebuchet MS" panose="020B0603020202020204"/>
              </a:rPr>
              <a:t>        </a:t>
            </a:r>
            <a:r>
              <a:rPr b="1" spc="15" dirty="0">
                <a:latin typeface="Trebuchet MS" panose="020B0603020202020204"/>
                <a:cs typeface="Trebuchet MS" panose="020B0603020202020204"/>
              </a:rPr>
              <a:t>P(Play=No) </a:t>
            </a:r>
            <a:r>
              <a:rPr b="1" spc="10" dirty="0">
                <a:latin typeface="Trebuchet MS" panose="020B0603020202020204"/>
                <a:cs typeface="Trebuchet MS" panose="020B0603020202020204"/>
              </a:rPr>
              <a:t>=</a:t>
            </a:r>
            <a:r>
              <a:rPr b="1" spc="-220" dirty="0">
                <a:latin typeface="Trebuchet MS" panose="020B0603020202020204"/>
                <a:cs typeface="Trebuchet MS" panose="020B0603020202020204"/>
              </a:rPr>
              <a:t> </a:t>
            </a:r>
            <a:r>
              <a:rPr b="1" spc="25" dirty="0">
                <a:latin typeface="Trebuchet MS" panose="020B0603020202020204"/>
                <a:cs typeface="Trebuchet MS" panose="020B0603020202020204"/>
              </a:rPr>
              <a:t>5/14</a:t>
            </a:r>
            <a:endParaRPr dirty="0">
              <a:latin typeface="Trebuchet MS" panose="020B0603020202020204"/>
              <a:cs typeface="Trebuchet MS" panose="020B0603020202020204"/>
            </a:endParaRPr>
          </a:p>
        </p:txBody>
      </p:sp>
      <p:graphicFrame>
        <p:nvGraphicFramePr>
          <p:cNvPr id="4" name="object 4"/>
          <p:cNvGraphicFramePr>
            <a:graphicFrameLocks noGrp="1"/>
          </p:cNvGraphicFramePr>
          <p:nvPr>
            <p:custDataLst>
              <p:tags r:id="rId1"/>
            </p:custDataLst>
          </p:nvPr>
        </p:nvGraphicFramePr>
        <p:xfrm>
          <a:off x="5982761" y="1378560"/>
          <a:ext cx="4998720" cy="1342324"/>
        </p:xfrm>
        <a:graphic>
          <a:graphicData uri="http://schemas.openxmlformats.org/drawingml/2006/table">
            <a:tbl>
              <a:tblPr firstRow="1" bandRow="1">
                <a:tableStyleId>{2D5ABB26-0587-4C30-8999-92F81FD0307C}</a:tableStyleId>
              </a:tblPr>
              <a:tblGrid>
                <a:gridCol w="1812713">
                  <a:extLst>
                    <a:ext uri="{9D8B030D-6E8A-4147-A177-3AD203B41FA5}">
                      <a16:colId xmlns:a16="http://schemas.microsoft.com/office/drawing/2014/main" val="20000"/>
                    </a:ext>
                  </a:extLst>
                </a:gridCol>
                <a:gridCol w="1684867">
                  <a:extLst>
                    <a:ext uri="{9D8B030D-6E8A-4147-A177-3AD203B41FA5}">
                      <a16:colId xmlns:a16="http://schemas.microsoft.com/office/drawing/2014/main" val="20001"/>
                    </a:ext>
                  </a:extLst>
                </a:gridCol>
                <a:gridCol w="1501140">
                  <a:extLst>
                    <a:ext uri="{9D8B030D-6E8A-4147-A177-3AD203B41FA5}">
                      <a16:colId xmlns:a16="http://schemas.microsoft.com/office/drawing/2014/main" val="20002"/>
                    </a:ext>
                  </a:extLst>
                </a:gridCol>
              </a:tblGrid>
              <a:tr h="365760">
                <a:tc>
                  <a:txBody>
                    <a:bodyPr/>
                    <a:lstStyle/>
                    <a:p>
                      <a:pPr marL="102235" algn="ctr">
                        <a:lnSpc>
                          <a:spcPct val="100000"/>
                        </a:lnSpc>
                        <a:spcBef>
                          <a:spcPts val="360"/>
                        </a:spcBef>
                      </a:pPr>
                      <a:r>
                        <a:rPr sz="1600" b="1" spc="30" dirty="0">
                          <a:solidFill>
                            <a:srgbClr val="D0692F"/>
                          </a:solidFill>
                          <a:latin typeface="Trebuchet MS" panose="020B0603020202020204"/>
                          <a:cs typeface="Trebuchet MS" panose="020B0603020202020204"/>
                        </a:rPr>
                        <a:t>Outlook</a:t>
                      </a:r>
                      <a:endParaRPr sz="1600" dirty="0">
                        <a:latin typeface="Trebuchet MS" panose="020B0603020202020204"/>
                        <a:cs typeface="Trebuchet MS" panose="020B0603020202020204"/>
                      </a:endParaRPr>
                    </a:p>
                  </a:txBody>
                  <a:tcPr marL="0" marR="0" marT="45719" marB="0">
                    <a:solidFill>
                      <a:srgbClr val="344B5E"/>
                    </a:solidFill>
                  </a:tcPr>
                </a:tc>
                <a:tc>
                  <a:txBody>
                    <a:bodyPr/>
                    <a:lstStyle/>
                    <a:p>
                      <a:pPr marL="85090" algn="ctr">
                        <a:lnSpc>
                          <a:spcPct val="100000"/>
                        </a:lnSpc>
                        <a:spcBef>
                          <a:spcPts val="360"/>
                        </a:spcBef>
                      </a:pPr>
                      <a:r>
                        <a:rPr sz="1600" b="1" spc="20" dirty="0">
                          <a:solidFill>
                            <a:srgbClr val="FFFFFF"/>
                          </a:solidFill>
                          <a:latin typeface="Trebuchet MS" panose="020B0603020202020204"/>
                          <a:cs typeface="Trebuchet MS" panose="020B0603020202020204"/>
                        </a:rPr>
                        <a:t>Play=Yes</a:t>
                      </a:r>
                      <a:endParaRPr sz="1600">
                        <a:latin typeface="Trebuchet MS" panose="020B0603020202020204"/>
                        <a:cs typeface="Trebuchet MS" panose="020B0603020202020204"/>
                      </a:endParaRPr>
                    </a:p>
                  </a:txBody>
                  <a:tcPr marL="0" marR="0" marT="45719" marB="0">
                    <a:solidFill>
                      <a:srgbClr val="344B5E"/>
                    </a:solidFill>
                  </a:tcPr>
                </a:tc>
                <a:tc>
                  <a:txBody>
                    <a:bodyPr/>
                    <a:lstStyle/>
                    <a:p>
                      <a:pPr marR="6985" algn="ctr">
                        <a:lnSpc>
                          <a:spcPct val="100000"/>
                        </a:lnSpc>
                        <a:spcBef>
                          <a:spcPts val="360"/>
                        </a:spcBef>
                      </a:pPr>
                      <a:r>
                        <a:rPr sz="1600" b="1" spc="35" dirty="0">
                          <a:solidFill>
                            <a:srgbClr val="FFFFFF"/>
                          </a:solidFill>
                          <a:latin typeface="Trebuchet MS" panose="020B0603020202020204"/>
                          <a:cs typeface="Trebuchet MS" panose="020B0603020202020204"/>
                        </a:rPr>
                        <a:t>Play=No</a:t>
                      </a:r>
                      <a:endParaRPr sz="1600">
                        <a:latin typeface="Trebuchet MS" panose="020B0603020202020204"/>
                        <a:cs typeface="Trebuchet MS" panose="020B0603020202020204"/>
                      </a:endParaRPr>
                    </a:p>
                  </a:txBody>
                  <a:tcPr marL="0" marR="0" marT="45719" marB="0">
                    <a:solidFill>
                      <a:srgbClr val="344B5E"/>
                    </a:solidFill>
                  </a:tcPr>
                </a:tc>
                <a:extLst>
                  <a:ext uri="{0D108BD9-81ED-4DB2-BD59-A6C34878D82A}">
                    <a16:rowId xmlns:a16="http://schemas.microsoft.com/office/drawing/2014/main" val="10000"/>
                  </a:ext>
                </a:extLst>
              </a:tr>
              <a:tr h="325640">
                <a:tc>
                  <a:txBody>
                    <a:bodyPr/>
                    <a:lstStyle/>
                    <a:p>
                      <a:pPr marL="103505" algn="ctr">
                        <a:lnSpc>
                          <a:spcPct val="100000"/>
                        </a:lnSpc>
                        <a:spcBef>
                          <a:spcPts val="500"/>
                        </a:spcBef>
                      </a:pPr>
                      <a:r>
                        <a:rPr sz="1400" spc="5" dirty="0">
                          <a:solidFill>
                            <a:srgbClr val="344B5E"/>
                          </a:solidFill>
                          <a:latin typeface="Arial" panose="020B0604020202020204"/>
                          <a:cs typeface="Arial" panose="020B0604020202020204"/>
                        </a:rPr>
                        <a:t>Sunny</a:t>
                      </a:r>
                      <a:endParaRPr sz="1400">
                        <a:latin typeface="Arial" panose="020B0604020202020204"/>
                        <a:cs typeface="Arial" panose="020B0604020202020204"/>
                      </a:endParaRPr>
                    </a:p>
                  </a:txBody>
                  <a:tcPr marL="0" marR="0" marT="63500" marB="0">
                    <a:solidFill>
                      <a:srgbClr val="E0EBEB"/>
                    </a:solidFill>
                  </a:tcPr>
                </a:tc>
                <a:tc>
                  <a:txBody>
                    <a:bodyPr/>
                    <a:lstStyle/>
                    <a:p>
                      <a:pPr marL="84455" algn="ctr">
                        <a:lnSpc>
                          <a:spcPct val="100000"/>
                        </a:lnSpc>
                        <a:spcBef>
                          <a:spcPts val="500"/>
                        </a:spcBef>
                      </a:pPr>
                      <a:r>
                        <a:rPr sz="1400" spc="85" dirty="0">
                          <a:solidFill>
                            <a:srgbClr val="344B5E"/>
                          </a:solidFill>
                          <a:latin typeface="Arial" panose="020B0604020202020204"/>
                          <a:cs typeface="Arial" panose="020B0604020202020204"/>
                        </a:rPr>
                        <a:t>2/9</a:t>
                      </a:r>
                      <a:endParaRPr sz="1400" dirty="0">
                        <a:latin typeface="Arial" panose="020B0604020202020204"/>
                        <a:cs typeface="Arial" panose="020B0604020202020204"/>
                      </a:endParaRPr>
                    </a:p>
                  </a:txBody>
                  <a:tcPr marL="0" marR="0" marT="63500" marB="0">
                    <a:solidFill>
                      <a:srgbClr val="E0EBEB"/>
                    </a:solidFill>
                  </a:tcPr>
                </a:tc>
                <a:tc>
                  <a:txBody>
                    <a:bodyPr/>
                    <a:lstStyle/>
                    <a:p>
                      <a:pPr marR="10160" algn="ctr">
                        <a:lnSpc>
                          <a:spcPct val="100000"/>
                        </a:lnSpc>
                        <a:spcBef>
                          <a:spcPts val="500"/>
                        </a:spcBef>
                      </a:pPr>
                      <a:r>
                        <a:rPr sz="1400" spc="85" dirty="0">
                          <a:solidFill>
                            <a:srgbClr val="344B5E"/>
                          </a:solidFill>
                          <a:latin typeface="Arial" panose="020B0604020202020204"/>
                          <a:cs typeface="Arial" panose="020B0604020202020204"/>
                        </a:rPr>
                        <a:t>3/5</a:t>
                      </a:r>
                      <a:endParaRPr sz="1400">
                        <a:latin typeface="Arial" panose="020B0604020202020204"/>
                        <a:cs typeface="Arial" panose="020B0604020202020204"/>
                      </a:endParaRPr>
                    </a:p>
                  </a:txBody>
                  <a:tcPr marL="0" marR="0" marT="63500" marB="0">
                    <a:solidFill>
                      <a:srgbClr val="E0EBEB"/>
                    </a:solidFill>
                  </a:tcPr>
                </a:tc>
                <a:extLst>
                  <a:ext uri="{0D108BD9-81ED-4DB2-BD59-A6C34878D82A}">
                    <a16:rowId xmlns:a16="http://schemas.microsoft.com/office/drawing/2014/main" val="10001"/>
                  </a:ext>
                </a:extLst>
              </a:tr>
              <a:tr h="281354">
                <a:tc>
                  <a:txBody>
                    <a:bodyPr/>
                    <a:lstStyle/>
                    <a:p>
                      <a:pPr marL="102870" algn="ctr">
                        <a:lnSpc>
                          <a:spcPct val="100000"/>
                        </a:lnSpc>
                        <a:spcBef>
                          <a:spcPts val="530"/>
                        </a:spcBef>
                      </a:pPr>
                      <a:r>
                        <a:rPr sz="1400" dirty="0">
                          <a:solidFill>
                            <a:srgbClr val="344B5E"/>
                          </a:solidFill>
                          <a:latin typeface="Arial" panose="020B0604020202020204"/>
                          <a:cs typeface="Arial" panose="020B0604020202020204"/>
                        </a:rPr>
                        <a:t>Overcast</a:t>
                      </a:r>
                      <a:endParaRPr sz="1400">
                        <a:latin typeface="Arial" panose="020B0604020202020204"/>
                        <a:cs typeface="Arial" panose="020B0604020202020204"/>
                      </a:endParaRPr>
                    </a:p>
                  </a:txBody>
                  <a:tcPr marL="0" marR="0" marT="67310" marB="0">
                    <a:solidFill>
                      <a:srgbClr val="E0EBEB"/>
                    </a:solidFill>
                  </a:tcPr>
                </a:tc>
                <a:tc>
                  <a:txBody>
                    <a:bodyPr/>
                    <a:lstStyle/>
                    <a:p>
                      <a:pPr marL="84455" algn="ctr">
                        <a:lnSpc>
                          <a:spcPct val="100000"/>
                        </a:lnSpc>
                        <a:spcBef>
                          <a:spcPts val="530"/>
                        </a:spcBef>
                      </a:pPr>
                      <a:r>
                        <a:rPr sz="1400" spc="85" dirty="0">
                          <a:solidFill>
                            <a:srgbClr val="344B5E"/>
                          </a:solidFill>
                          <a:latin typeface="Arial" panose="020B0604020202020204"/>
                          <a:cs typeface="Arial" panose="020B0604020202020204"/>
                        </a:rPr>
                        <a:t>4/9</a:t>
                      </a:r>
                      <a:endParaRPr sz="1400">
                        <a:latin typeface="Arial" panose="020B0604020202020204"/>
                        <a:cs typeface="Arial" panose="020B0604020202020204"/>
                      </a:endParaRPr>
                    </a:p>
                  </a:txBody>
                  <a:tcPr marL="0" marR="0" marT="67310" marB="0">
                    <a:solidFill>
                      <a:srgbClr val="E0EBEB"/>
                    </a:solidFill>
                  </a:tcPr>
                </a:tc>
                <a:tc>
                  <a:txBody>
                    <a:bodyPr/>
                    <a:lstStyle/>
                    <a:p>
                      <a:pPr marR="10160" algn="ctr">
                        <a:lnSpc>
                          <a:spcPct val="100000"/>
                        </a:lnSpc>
                        <a:spcBef>
                          <a:spcPts val="530"/>
                        </a:spcBef>
                      </a:pPr>
                      <a:r>
                        <a:rPr sz="1400" spc="85" dirty="0">
                          <a:solidFill>
                            <a:srgbClr val="344B5E"/>
                          </a:solidFill>
                          <a:latin typeface="Arial" panose="020B0604020202020204"/>
                          <a:cs typeface="Arial" panose="020B0604020202020204"/>
                        </a:rPr>
                        <a:t>0/5</a:t>
                      </a:r>
                      <a:endParaRPr sz="1400">
                        <a:latin typeface="Arial" panose="020B0604020202020204"/>
                        <a:cs typeface="Arial" panose="020B0604020202020204"/>
                      </a:endParaRPr>
                    </a:p>
                  </a:txBody>
                  <a:tcPr marL="0" marR="0" marT="67310" marB="0">
                    <a:solidFill>
                      <a:srgbClr val="E0EBEB"/>
                    </a:solidFill>
                  </a:tcPr>
                </a:tc>
                <a:extLst>
                  <a:ext uri="{0D108BD9-81ED-4DB2-BD59-A6C34878D82A}">
                    <a16:rowId xmlns:a16="http://schemas.microsoft.com/office/drawing/2014/main" val="10002"/>
                  </a:ext>
                </a:extLst>
              </a:tr>
              <a:tr h="369570">
                <a:tc>
                  <a:txBody>
                    <a:bodyPr/>
                    <a:lstStyle/>
                    <a:p>
                      <a:pPr marL="103505" algn="ctr">
                        <a:lnSpc>
                          <a:spcPct val="100000"/>
                        </a:lnSpc>
                        <a:spcBef>
                          <a:spcPts val="530"/>
                        </a:spcBef>
                      </a:pPr>
                      <a:r>
                        <a:rPr sz="1400" spc="-30" dirty="0">
                          <a:solidFill>
                            <a:srgbClr val="344B5E"/>
                          </a:solidFill>
                          <a:latin typeface="Arial" panose="020B0604020202020204"/>
                          <a:cs typeface="Arial" panose="020B0604020202020204"/>
                        </a:rPr>
                        <a:t>Rain</a:t>
                      </a:r>
                      <a:endParaRPr sz="1400">
                        <a:latin typeface="Arial" panose="020B0604020202020204"/>
                        <a:cs typeface="Arial" panose="020B0604020202020204"/>
                      </a:endParaRPr>
                    </a:p>
                  </a:txBody>
                  <a:tcPr marL="0" marR="0" marT="67310" marB="0">
                    <a:solidFill>
                      <a:srgbClr val="E0EBEB"/>
                    </a:solidFill>
                  </a:tcPr>
                </a:tc>
                <a:tc>
                  <a:txBody>
                    <a:bodyPr/>
                    <a:lstStyle/>
                    <a:p>
                      <a:pPr marL="84455" algn="ctr">
                        <a:lnSpc>
                          <a:spcPct val="100000"/>
                        </a:lnSpc>
                        <a:spcBef>
                          <a:spcPts val="530"/>
                        </a:spcBef>
                      </a:pPr>
                      <a:r>
                        <a:rPr sz="1400" spc="85" dirty="0">
                          <a:solidFill>
                            <a:srgbClr val="344B5E"/>
                          </a:solidFill>
                          <a:latin typeface="Arial" panose="020B0604020202020204"/>
                          <a:cs typeface="Arial" panose="020B0604020202020204"/>
                        </a:rPr>
                        <a:t>3/9</a:t>
                      </a:r>
                      <a:endParaRPr sz="1400">
                        <a:latin typeface="Arial" panose="020B0604020202020204"/>
                        <a:cs typeface="Arial" panose="020B0604020202020204"/>
                      </a:endParaRPr>
                    </a:p>
                  </a:txBody>
                  <a:tcPr marL="0" marR="0" marT="67310" marB="0">
                    <a:solidFill>
                      <a:srgbClr val="E0EBEB"/>
                    </a:solidFill>
                  </a:tcPr>
                </a:tc>
                <a:tc>
                  <a:txBody>
                    <a:bodyPr/>
                    <a:lstStyle/>
                    <a:p>
                      <a:pPr marR="10160" algn="ctr">
                        <a:lnSpc>
                          <a:spcPct val="100000"/>
                        </a:lnSpc>
                        <a:spcBef>
                          <a:spcPts val="530"/>
                        </a:spcBef>
                      </a:pPr>
                      <a:r>
                        <a:rPr sz="1400" spc="85" dirty="0">
                          <a:solidFill>
                            <a:srgbClr val="344B5E"/>
                          </a:solidFill>
                          <a:latin typeface="Arial" panose="020B0604020202020204"/>
                          <a:cs typeface="Arial" panose="020B0604020202020204"/>
                        </a:rPr>
                        <a:t>2/5</a:t>
                      </a:r>
                      <a:endParaRPr sz="1400" dirty="0">
                        <a:latin typeface="Arial" panose="020B0604020202020204"/>
                        <a:cs typeface="Arial" panose="020B0604020202020204"/>
                      </a:endParaRPr>
                    </a:p>
                  </a:txBody>
                  <a:tcPr marL="0" marR="0" marT="67310" marB="0">
                    <a:solidFill>
                      <a:srgbClr val="E0EBEB"/>
                    </a:solidFill>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custDataLst>
              <p:tags r:id="rId2"/>
            </p:custDataLst>
          </p:nvPr>
        </p:nvGraphicFramePr>
        <p:xfrm>
          <a:off x="5982761" y="2732508"/>
          <a:ext cx="4998720" cy="1352002"/>
        </p:xfrm>
        <a:graphic>
          <a:graphicData uri="http://schemas.openxmlformats.org/drawingml/2006/table">
            <a:tbl>
              <a:tblPr firstRow="1" bandRow="1">
                <a:tableStyleId>{2D5ABB26-0587-4C30-8999-92F81FD0307C}</a:tableStyleId>
              </a:tblPr>
              <a:tblGrid>
                <a:gridCol w="1965960">
                  <a:extLst>
                    <a:ext uri="{9D8B030D-6E8A-4147-A177-3AD203B41FA5}">
                      <a16:colId xmlns:a16="http://schemas.microsoft.com/office/drawing/2014/main" val="20000"/>
                    </a:ext>
                  </a:extLst>
                </a:gridCol>
                <a:gridCol w="1532467">
                  <a:extLst>
                    <a:ext uri="{9D8B030D-6E8A-4147-A177-3AD203B41FA5}">
                      <a16:colId xmlns:a16="http://schemas.microsoft.com/office/drawing/2014/main" val="20001"/>
                    </a:ext>
                  </a:extLst>
                </a:gridCol>
                <a:gridCol w="1500293">
                  <a:extLst>
                    <a:ext uri="{9D8B030D-6E8A-4147-A177-3AD203B41FA5}">
                      <a16:colId xmlns:a16="http://schemas.microsoft.com/office/drawing/2014/main" val="20002"/>
                    </a:ext>
                  </a:extLst>
                </a:gridCol>
              </a:tblGrid>
              <a:tr h="365760">
                <a:tc>
                  <a:txBody>
                    <a:bodyPr/>
                    <a:lstStyle/>
                    <a:p>
                      <a:pPr marR="4445" algn="ctr">
                        <a:lnSpc>
                          <a:spcPct val="100000"/>
                        </a:lnSpc>
                        <a:spcBef>
                          <a:spcPts val="360"/>
                        </a:spcBef>
                      </a:pPr>
                      <a:r>
                        <a:rPr sz="1600" b="1" spc="-15" dirty="0">
                          <a:solidFill>
                            <a:srgbClr val="D0692F"/>
                          </a:solidFill>
                          <a:latin typeface="Trebuchet MS" panose="020B0603020202020204"/>
                          <a:cs typeface="Trebuchet MS" panose="020B0603020202020204"/>
                        </a:rPr>
                        <a:t>Temperature</a:t>
                      </a:r>
                      <a:endParaRPr sz="1600" dirty="0">
                        <a:latin typeface="Trebuchet MS" panose="020B0603020202020204"/>
                        <a:cs typeface="Trebuchet MS" panose="020B0603020202020204"/>
                      </a:endParaRPr>
                    </a:p>
                  </a:txBody>
                  <a:tcPr marL="0" marR="0" marT="45719" marB="0">
                    <a:solidFill>
                      <a:srgbClr val="344B5E"/>
                    </a:solidFill>
                  </a:tcPr>
                </a:tc>
                <a:tc>
                  <a:txBody>
                    <a:bodyPr/>
                    <a:lstStyle/>
                    <a:p>
                      <a:pPr marR="20955" algn="ctr">
                        <a:lnSpc>
                          <a:spcPct val="100000"/>
                        </a:lnSpc>
                        <a:spcBef>
                          <a:spcPts val="360"/>
                        </a:spcBef>
                      </a:pPr>
                      <a:r>
                        <a:rPr sz="1600" b="1" spc="20" dirty="0">
                          <a:solidFill>
                            <a:srgbClr val="FFFFFF"/>
                          </a:solidFill>
                          <a:latin typeface="Trebuchet MS" panose="020B0603020202020204"/>
                          <a:cs typeface="Trebuchet MS" panose="020B0603020202020204"/>
                        </a:rPr>
                        <a:t>Play=Yes</a:t>
                      </a:r>
                      <a:endParaRPr sz="1600">
                        <a:latin typeface="Trebuchet MS" panose="020B0603020202020204"/>
                        <a:cs typeface="Trebuchet MS" panose="020B0603020202020204"/>
                      </a:endParaRPr>
                    </a:p>
                  </a:txBody>
                  <a:tcPr marL="0" marR="0" marT="45719" marB="0">
                    <a:solidFill>
                      <a:srgbClr val="344B5E"/>
                    </a:solidFill>
                  </a:tcPr>
                </a:tc>
                <a:tc>
                  <a:txBody>
                    <a:bodyPr/>
                    <a:lstStyle/>
                    <a:p>
                      <a:pPr marR="6985" algn="ctr">
                        <a:lnSpc>
                          <a:spcPct val="100000"/>
                        </a:lnSpc>
                        <a:spcBef>
                          <a:spcPts val="360"/>
                        </a:spcBef>
                      </a:pPr>
                      <a:r>
                        <a:rPr sz="1600" b="1" spc="35" dirty="0">
                          <a:solidFill>
                            <a:srgbClr val="FFFFFF"/>
                          </a:solidFill>
                          <a:latin typeface="Trebuchet MS" panose="020B0603020202020204"/>
                          <a:cs typeface="Trebuchet MS" panose="020B0603020202020204"/>
                        </a:rPr>
                        <a:t>Play=No</a:t>
                      </a:r>
                      <a:endParaRPr sz="1600">
                        <a:latin typeface="Trebuchet MS" panose="020B0603020202020204"/>
                        <a:cs typeface="Trebuchet MS" panose="020B0603020202020204"/>
                      </a:endParaRPr>
                    </a:p>
                  </a:txBody>
                  <a:tcPr marL="0" marR="0" marT="45719" marB="0">
                    <a:solidFill>
                      <a:srgbClr val="344B5E"/>
                    </a:solidFill>
                  </a:tcPr>
                </a:tc>
                <a:extLst>
                  <a:ext uri="{0D108BD9-81ED-4DB2-BD59-A6C34878D82A}">
                    <a16:rowId xmlns:a16="http://schemas.microsoft.com/office/drawing/2014/main" val="10000"/>
                  </a:ext>
                </a:extLst>
              </a:tr>
              <a:tr h="308123">
                <a:tc>
                  <a:txBody>
                    <a:bodyPr/>
                    <a:lstStyle/>
                    <a:p>
                      <a:pPr marR="3810" algn="ctr">
                        <a:lnSpc>
                          <a:spcPct val="100000"/>
                        </a:lnSpc>
                        <a:spcBef>
                          <a:spcPts val="500"/>
                        </a:spcBef>
                      </a:pPr>
                      <a:r>
                        <a:rPr sz="1400" spc="40" dirty="0">
                          <a:solidFill>
                            <a:srgbClr val="344B5E"/>
                          </a:solidFill>
                          <a:latin typeface="Arial" panose="020B0604020202020204"/>
                          <a:cs typeface="Arial" panose="020B0604020202020204"/>
                        </a:rPr>
                        <a:t>Hot</a:t>
                      </a:r>
                      <a:endParaRPr sz="1400" dirty="0">
                        <a:latin typeface="Arial" panose="020B0604020202020204"/>
                        <a:cs typeface="Arial" panose="020B0604020202020204"/>
                      </a:endParaRPr>
                    </a:p>
                  </a:txBody>
                  <a:tcPr marL="0" marR="0" marT="63500" marB="0">
                    <a:solidFill>
                      <a:srgbClr val="E0EBEB"/>
                    </a:solidFill>
                  </a:tcPr>
                </a:tc>
                <a:tc>
                  <a:txBody>
                    <a:bodyPr/>
                    <a:lstStyle/>
                    <a:p>
                      <a:pPr marR="21590" algn="ctr">
                        <a:lnSpc>
                          <a:spcPct val="100000"/>
                        </a:lnSpc>
                        <a:spcBef>
                          <a:spcPts val="500"/>
                        </a:spcBef>
                      </a:pPr>
                      <a:r>
                        <a:rPr sz="1400" spc="85" dirty="0">
                          <a:solidFill>
                            <a:srgbClr val="344B5E"/>
                          </a:solidFill>
                          <a:latin typeface="Arial" panose="020B0604020202020204"/>
                          <a:cs typeface="Arial" panose="020B0604020202020204"/>
                        </a:rPr>
                        <a:t>2/9</a:t>
                      </a:r>
                      <a:endParaRPr sz="1400">
                        <a:latin typeface="Arial" panose="020B0604020202020204"/>
                        <a:cs typeface="Arial" panose="020B0604020202020204"/>
                      </a:endParaRPr>
                    </a:p>
                  </a:txBody>
                  <a:tcPr marL="0" marR="0" marT="63500" marB="0">
                    <a:solidFill>
                      <a:srgbClr val="E0EBEB"/>
                    </a:solidFill>
                  </a:tcPr>
                </a:tc>
                <a:tc>
                  <a:txBody>
                    <a:bodyPr/>
                    <a:lstStyle/>
                    <a:p>
                      <a:pPr marR="9525" algn="ctr">
                        <a:lnSpc>
                          <a:spcPct val="100000"/>
                        </a:lnSpc>
                        <a:spcBef>
                          <a:spcPts val="500"/>
                        </a:spcBef>
                      </a:pPr>
                      <a:r>
                        <a:rPr sz="1400" spc="85" dirty="0">
                          <a:solidFill>
                            <a:srgbClr val="344B5E"/>
                          </a:solidFill>
                          <a:latin typeface="Arial" panose="020B0604020202020204"/>
                          <a:cs typeface="Arial" panose="020B0604020202020204"/>
                        </a:rPr>
                        <a:t>2/5</a:t>
                      </a:r>
                      <a:endParaRPr sz="1400">
                        <a:latin typeface="Arial" panose="020B0604020202020204"/>
                        <a:cs typeface="Arial" panose="020B0604020202020204"/>
                      </a:endParaRPr>
                    </a:p>
                  </a:txBody>
                  <a:tcPr marL="0" marR="0" marT="63500" marB="0">
                    <a:solidFill>
                      <a:srgbClr val="E0EBEB"/>
                    </a:solidFill>
                  </a:tcPr>
                </a:tc>
                <a:extLst>
                  <a:ext uri="{0D108BD9-81ED-4DB2-BD59-A6C34878D82A}">
                    <a16:rowId xmlns:a16="http://schemas.microsoft.com/office/drawing/2014/main" val="10001"/>
                  </a:ext>
                </a:extLst>
              </a:tr>
              <a:tr h="308549">
                <a:tc>
                  <a:txBody>
                    <a:bodyPr/>
                    <a:lstStyle/>
                    <a:p>
                      <a:pPr marR="4445" algn="ctr">
                        <a:lnSpc>
                          <a:spcPct val="100000"/>
                        </a:lnSpc>
                        <a:spcBef>
                          <a:spcPts val="530"/>
                        </a:spcBef>
                      </a:pPr>
                      <a:r>
                        <a:rPr sz="1400" spc="45" dirty="0">
                          <a:solidFill>
                            <a:srgbClr val="344B5E"/>
                          </a:solidFill>
                          <a:latin typeface="Arial" panose="020B0604020202020204"/>
                          <a:cs typeface="Arial" panose="020B0604020202020204"/>
                        </a:rPr>
                        <a:t>Mild</a:t>
                      </a:r>
                      <a:endParaRPr sz="1400">
                        <a:latin typeface="Arial" panose="020B0604020202020204"/>
                        <a:cs typeface="Arial" panose="020B0604020202020204"/>
                      </a:endParaRPr>
                    </a:p>
                  </a:txBody>
                  <a:tcPr marL="0" marR="0" marT="67310" marB="0">
                    <a:solidFill>
                      <a:srgbClr val="E0EBEB"/>
                    </a:solidFill>
                  </a:tcPr>
                </a:tc>
                <a:tc>
                  <a:txBody>
                    <a:bodyPr/>
                    <a:lstStyle/>
                    <a:p>
                      <a:pPr marR="21590" algn="ctr">
                        <a:lnSpc>
                          <a:spcPct val="100000"/>
                        </a:lnSpc>
                        <a:spcBef>
                          <a:spcPts val="530"/>
                        </a:spcBef>
                      </a:pPr>
                      <a:r>
                        <a:rPr sz="1400" spc="85" dirty="0">
                          <a:solidFill>
                            <a:srgbClr val="344B5E"/>
                          </a:solidFill>
                          <a:latin typeface="Arial" panose="020B0604020202020204"/>
                          <a:cs typeface="Arial" panose="020B0604020202020204"/>
                        </a:rPr>
                        <a:t>4/9</a:t>
                      </a:r>
                      <a:endParaRPr sz="1400">
                        <a:latin typeface="Arial" panose="020B0604020202020204"/>
                        <a:cs typeface="Arial" panose="020B0604020202020204"/>
                      </a:endParaRPr>
                    </a:p>
                  </a:txBody>
                  <a:tcPr marL="0" marR="0" marT="67310" marB="0">
                    <a:solidFill>
                      <a:srgbClr val="E0EBEB"/>
                    </a:solidFill>
                  </a:tcPr>
                </a:tc>
                <a:tc>
                  <a:txBody>
                    <a:bodyPr/>
                    <a:lstStyle/>
                    <a:p>
                      <a:pPr marR="9525" algn="ctr">
                        <a:lnSpc>
                          <a:spcPct val="100000"/>
                        </a:lnSpc>
                        <a:spcBef>
                          <a:spcPts val="530"/>
                        </a:spcBef>
                      </a:pPr>
                      <a:r>
                        <a:rPr sz="1400" spc="85" dirty="0">
                          <a:solidFill>
                            <a:srgbClr val="344B5E"/>
                          </a:solidFill>
                          <a:latin typeface="Arial" panose="020B0604020202020204"/>
                          <a:cs typeface="Arial" panose="020B0604020202020204"/>
                        </a:rPr>
                        <a:t>2/5</a:t>
                      </a:r>
                      <a:endParaRPr sz="1400">
                        <a:latin typeface="Arial" panose="020B0604020202020204"/>
                        <a:cs typeface="Arial" panose="020B0604020202020204"/>
                      </a:endParaRPr>
                    </a:p>
                  </a:txBody>
                  <a:tcPr marL="0" marR="0" marT="67310" marB="0">
                    <a:solidFill>
                      <a:srgbClr val="E0EBEB"/>
                    </a:solidFill>
                  </a:tcPr>
                </a:tc>
                <a:extLst>
                  <a:ext uri="{0D108BD9-81ED-4DB2-BD59-A6C34878D82A}">
                    <a16:rowId xmlns:a16="http://schemas.microsoft.com/office/drawing/2014/main" val="10002"/>
                  </a:ext>
                </a:extLst>
              </a:tr>
              <a:tr h="369570">
                <a:tc>
                  <a:txBody>
                    <a:bodyPr/>
                    <a:lstStyle/>
                    <a:p>
                      <a:pPr marR="3175" algn="ctr">
                        <a:lnSpc>
                          <a:spcPct val="100000"/>
                        </a:lnSpc>
                        <a:spcBef>
                          <a:spcPts val="530"/>
                        </a:spcBef>
                      </a:pPr>
                      <a:r>
                        <a:rPr sz="1400" spc="10" dirty="0">
                          <a:solidFill>
                            <a:srgbClr val="344B5E"/>
                          </a:solidFill>
                          <a:latin typeface="Arial" panose="020B0604020202020204"/>
                          <a:cs typeface="Arial" panose="020B0604020202020204"/>
                        </a:rPr>
                        <a:t>Cool</a:t>
                      </a:r>
                      <a:endParaRPr sz="1400" dirty="0">
                        <a:latin typeface="Arial" panose="020B0604020202020204"/>
                        <a:cs typeface="Arial" panose="020B0604020202020204"/>
                      </a:endParaRPr>
                    </a:p>
                  </a:txBody>
                  <a:tcPr marL="0" marR="0" marT="67310" marB="0">
                    <a:solidFill>
                      <a:srgbClr val="E0EBEB"/>
                    </a:solidFill>
                  </a:tcPr>
                </a:tc>
                <a:tc>
                  <a:txBody>
                    <a:bodyPr/>
                    <a:lstStyle/>
                    <a:p>
                      <a:pPr marR="21590" algn="ctr">
                        <a:lnSpc>
                          <a:spcPct val="100000"/>
                        </a:lnSpc>
                        <a:spcBef>
                          <a:spcPts val="530"/>
                        </a:spcBef>
                      </a:pPr>
                      <a:r>
                        <a:rPr sz="1400" spc="85" dirty="0">
                          <a:solidFill>
                            <a:srgbClr val="344B5E"/>
                          </a:solidFill>
                          <a:latin typeface="Arial" panose="020B0604020202020204"/>
                          <a:cs typeface="Arial" panose="020B0604020202020204"/>
                        </a:rPr>
                        <a:t>3/9</a:t>
                      </a:r>
                      <a:endParaRPr sz="1400">
                        <a:latin typeface="Arial" panose="020B0604020202020204"/>
                        <a:cs typeface="Arial" panose="020B0604020202020204"/>
                      </a:endParaRPr>
                    </a:p>
                  </a:txBody>
                  <a:tcPr marL="0" marR="0" marT="67310" marB="0">
                    <a:solidFill>
                      <a:srgbClr val="E0EBEB"/>
                    </a:solidFill>
                  </a:tcPr>
                </a:tc>
                <a:tc>
                  <a:txBody>
                    <a:bodyPr/>
                    <a:lstStyle/>
                    <a:p>
                      <a:pPr marR="9525" algn="ctr">
                        <a:lnSpc>
                          <a:spcPct val="100000"/>
                        </a:lnSpc>
                        <a:spcBef>
                          <a:spcPts val="530"/>
                        </a:spcBef>
                      </a:pPr>
                      <a:r>
                        <a:rPr sz="1400" spc="85" dirty="0">
                          <a:solidFill>
                            <a:srgbClr val="344B5E"/>
                          </a:solidFill>
                          <a:latin typeface="Arial" panose="020B0604020202020204"/>
                          <a:cs typeface="Arial" panose="020B0604020202020204"/>
                        </a:rPr>
                        <a:t>1/5</a:t>
                      </a:r>
                      <a:endParaRPr sz="1400" dirty="0">
                        <a:latin typeface="Arial" panose="020B0604020202020204"/>
                        <a:cs typeface="Arial" panose="020B0604020202020204"/>
                      </a:endParaRPr>
                    </a:p>
                  </a:txBody>
                  <a:tcPr marL="0" marR="0" marT="67310" marB="0">
                    <a:solidFill>
                      <a:srgbClr val="E0EBEB"/>
                    </a:solidFill>
                  </a:tcPr>
                </a:tc>
                <a:extLst>
                  <a:ext uri="{0D108BD9-81ED-4DB2-BD59-A6C34878D82A}">
                    <a16:rowId xmlns:a16="http://schemas.microsoft.com/office/drawing/2014/main" val="10003"/>
                  </a:ext>
                </a:extLst>
              </a:tr>
            </a:tbl>
          </a:graphicData>
        </a:graphic>
      </p:graphicFrame>
      <p:graphicFrame>
        <p:nvGraphicFramePr>
          <p:cNvPr id="6" name="object 6"/>
          <p:cNvGraphicFramePr>
            <a:graphicFrameLocks noGrp="1"/>
          </p:cNvGraphicFramePr>
          <p:nvPr>
            <p:custDataLst>
              <p:tags r:id="rId3"/>
            </p:custDataLst>
          </p:nvPr>
        </p:nvGraphicFramePr>
        <p:xfrm>
          <a:off x="5981068" y="4096134"/>
          <a:ext cx="5000413" cy="1096645"/>
        </p:xfrm>
        <a:graphic>
          <a:graphicData uri="http://schemas.openxmlformats.org/drawingml/2006/table">
            <a:tbl>
              <a:tblPr firstRow="1" bandRow="1">
                <a:tableStyleId>{2D5ABB26-0587-4C30-8999-92F81FD0307C}</a:tableStyleId>
              </a:tblPr>
              <a:tblGrid>
                <a:gridCol w="1845733">
                  <a:extLst>
                    <a:ext uri="{9D8B030D-6E8A-4147-A177-3AD203B41FA5}">
                      <a16:colId xmlns:a16="http://schemas.microsoft.com/office/drawing/2014/main" val="20000"/>
                    </a:ext>
                  </a:extLst>
                </a:gridCol>
                <a:gridCol w="1652693">
                  <a:extLst>
                    <a:ext uri="{9D8B030D-6E8A-4147-A177-3AD203B41FA5}">
                      <a16:colId xmlns:a16="http://schemas.microsoft.com/office/drawing/2014/main" val="20001"/>
                    </a:ext>
                  </a:extLst>
                </a:gridCol>
                <a:gridCol w="1501987">
                  <a:extLst>
                    <a:ext uri="{9D8B030D-6E8A-4147-A177-3AD203B41FA5}">
                      <a16:colId xmlns:a16="http://schemas.microsoft.com/office/drawing/2014/main" val="20002"/>
                    </a:ext>
                  </a:extLst>
                </a:gridCol>
              </a:tblGrid>
              <a:tr h="365760">
                <a:tc>
                  <a:txBody>
                    <a:bodyPr/>
                    <a:lstStyle/>
                    <a:p>
                      <a:pPr marL="77470" algn="ctr">
                        <a:lnSpc>
                          <a:spcPct val="100000"/>
                        </a:lnSpc>
                        <a:spcBef>
                          <a:spcPts val="360"/>
                        </a:spcBef>
                      </a:pPr>
                      <a:r>
                        <a:rPr sz="1600" b="1" spc="5" dirty="0">
                          <a:solidFill>
                            <a:srgbClr val="D0692F"/>
                          </a:solidFill>
                          <a:latin typeface="Trebuchet MS" panose="020B0603020202020204"/>
                          <a:cs typeface="Trebuchet MS" panose="020B0603020202020204"/>
                        </a:rPr>
                        <a:t>Humidity</a:t>
                      </a:r>
                      <a:endParaRPr sz="1600" dirty="0">
                        <a:latin typeface="Trebuchet MS" panose="020B0603020202020204"/>
                        <a:cs typeface="Trebuchet MS" panose="020B0603020202020204"/>
                      </a:endParaRPr>
                    </a:p>
                  </a:txBody>
                  <a:tcPr marL="0" marR="0" marB="0">
                    <a:solidFill>
                      <a:srgbClr val="344B5E"/>
                    </a:solidFill>
                  </a:tcPr>
                </a:tc>
                <a:tc>
                  <a:txBody>
                    <a:bodyPr/>
                    <a:lstStyle/>
                    <a:p>
                      <a:pPr marL="59690" algn="ctr">
                        <a:lnSpc>
                          <a:spcPct val="100000"/>
                        </a:lnSpc>
                        <a:spcBef>
                          <a:spcPts val="360"/>
                        </a:spcBef>
                      </a:pPr>
                      <a:r>
                        <a:rPr sz="1600" b="1" spc="20" dirty="0">
                          <a:solidFill>
                            <a:srgbClr val="FFFFFF"/>
                          </a:solidFill>
                          <a:latin typeface="Trebuchet MS" panose="020B0603020202020204"/>
                          <a:cs typeface="Trebuchet MS" panose="020B0603020202020204"/>
                        </a:rPr>
                        <a:t>Play=Yes</a:t>
                      </a:r>
                      <a:endParaRPr sz="1600">
                        <a:latin typeface="Trebuchet MS" panose="020B0603020202020204"/>
                        <a:cs typeface="Trebuchet MS" panose="020B0603020202020204"/>
                      </a:endParaRPr>
                    </a:p>
                  </a:txBody>
                  <a:tcPr marL="0" marR="0" marB="0">
                    <a:solidFill>
                      <a:srgbClr val="344B5E"/>
                    </a:solidFill>
                  </a:tcPr>
                </a:tc>
                <a:tc>
                  <a:txBody>
                    <a:bodyPr/>
                    <a:lstStyle/>
                    <a:p>
                      <a:pPr marR="8890" algn="ctr">
                        <a:lnSpc>
                          <a:spcPct val="100000"/>
                        </a:lnSpc>
                        <a:spcBef>
                          <a:spcPts val="360"/>
                        </a:spcBef>
                      </a:pPr>
                      <a:r>
                        <a:rPr sz="1600" b="1" spc="35" dirty="0">
                          <a:solidFill>
                            <a:srgbClr val="FFFFFF"/>
                          </a:solidFill>
                          <a:latin typeface="Trebuchet MS" panose="020B0603020202020204"/>
                          <a:cs typeface="Trebuchet MS" panose="020B0603020202020204"/>
                        </a:rPr>
                        <a:t>Play=No</a:t>
                      </a:r>
                      <a:endParaRPr sz="1600">
                        <a:latin typeface="Trebuchet MS" panose="020B0603020202020204"/>
                        <a:cs typeface="Trebuchet MS" panose="020B0603020202020204"/>
                      </a:endParaRPr>
                    </a:p>
                  </a:txBody>
                  <a:tcPr marL="0" marR="0" marB="0">
                    <a:solidFill>
                      <a:srgbClr val="344B5E"/>
                    </a:solidFill>
                  </a:tcPr>
                </a:tc>
                <a:extLst>
                  <a:ext uri="{0D108BD9-81ED-4DB2-BD59-A6C34878D82A}">
                    <a16:rowId xmlns:a16="http://schemas.microsoft.com/office/drawing/2014/main" val="10000"/>
                  </a:ext>
                </a:extLst>
              </a:tr>
              <a:tr h="361950">
                <a:tc>
                  <a:txBody>
                    <a:bodyPr/>
                    <a:lstStyle/>
                    <a:p>
                      <a:pPr marL="76835" algn="ctr">
                        <a:lnSpc>
                          <a:spcPct val="100000"/>
                        </a:lnSpc>
                        <a:spcBef>
                          <a:spcPts val="500"/>
                        </a:spcBef>
                      </a:pPr>
                      <a:r>
                        <a:rPr sz="1400" spc="10" dirty="0">
                          <a:solidFill>
                            <a:srgbClr val="344B5E"/>
                          </a:solidFill>
                          <a:latin typeface="Arial" panose="020B0604020202020204"/>
                          <a:cs typeface="Arial" panose="020B0604020202020204"/>
                        </a:rPr>
                        <a:t>High</a:t>
                      </a:r>
                      <a:endParaRPr sz="1400">
                        <a:latin typeface="Arial" panose="020B0604020202020204"/>
                        <a:cs typeface="Arial" panose="020B0604020202020204"/>
                      </a:endParaRPr>
                    </a:p>
                  </a:txBody>
                  <a:tcPr marL="0" marR="0" marT="63500" marB="0">
                    <a:solidFill>
                      <a:srgbClr val="E0EBEB"/>
                    </a:solidFill>
                  </a:tcPr>
                </a:tc>
                <a:tc>
                  <a:txBody>
                    <a:bodyPr/>
                    <a:lstStyle/>
                    <a:p>
                      <a:pPr marL="59055" algn="ctr">
                        <a:lnSpc>
                          <a:spcPct val="100000"/>
                        </a:lnSpc>
                        <a:spcBef>
                          <a:spcPts val="500"/>
                        </a:spcBef>
                      </a:pPr>
                      <a:r>
                        <a:rPr sz="1400" spc="85" dirty="0">
                          <a:solidFill>
                            <a:srgbClr val="344B5E"/>
                          </a:solidFill>
                          <a:latin typeface="Arial" panose="020B0604020202020204"/>
                          <a:cs typeface="Arial" panose="020B0604020202020204"/>
                        </a:rPr>
                        <a:t>3/9</a:t>
                      </a:r>
                      <a:endParaRPr sz="1400" dirty="0">
                        <a:latin typeface="Arial" panose="020B0604020202020204"/>
                        <a:cs typeface="Arial" panose="020B0604020202020204"/>
                      </a:endParaRPr>
                    </a:p>
                  </a:txBody>
                  <a:tcPr marL="0" marR="0" marT="63500" marB="0">
                    <a:solidFill>
                      <a:srgbClr val="E0EBEB"/>
                    </a:solidFill>
                  </a:tcPr>
                </a:tc>
                <a:tc>
                  <a:txBody>
                    <a:bodyPr/>
                    <a:lstStyle/>
                    <a:p>
                      <a:pPr marR="12065" algn="ctr">
                        <a:lnSpc>
                          <a:spcPct val="100000"/>
                        </a:lnSpc>
                        <a:spcBef>
                          <a:spcPts val="500"/>
                        </a:spcBef>
                      </a:pPr>
                      <a:r>
                        <a:rPr sz="1400" spc="85" dirty="0">
                          <a:solidFill>
                            <a:srgbClr val="344B5E"/>
                          </a:solidFill>
                          <a:latin typeface="Arial" panose="020B0604020202020204"/>
                          <a:cs typeface="Arial" panose="020B0604020202020204"/>
                        </a:rPr>
                        <a:t>4/5</a:t>
                      </a:r>
                      <a:endParaRPr sz="1400">
                        <a:latin typeface="Arial" panose="020B0604020202020204"/>
                        <a:cs typeface="Arial" panose="020B0604020202020204"/>
                      </a:endParaRPr>
                    </a:p>
                  </a:txBody>
                  <a:tcPr marL="0" marR="0" marT="63500" marB="0">
                    <a:solidFill>
                      <a:srgbClr val="E0EBEB"/>
                    </a:solidFill>
                  </a:tcPr>
                </a:tc>
                <a:extLst>
                  <a:ext uri="{0D108BD9-81ED-4DB2-BD59-A6C34878D82A}">
                    <a16:rowId xmlns:a16="http://schemas.microsoft.com/office/drawing/2014/main" val="10001"/>
                  </a:ext>
                </a:extLst>
              </a:tr>
              <a:tr h="368935">
                <a:tc>
                  <a:txBody>
                    <a:bodyPr/>
                    <a:lstStyle/>
                    <a:p>
                      <a:pPr marL="78740" algn="ctr">
                        <a:lnSpc>
                          <a:spcPct val="100000"/>
                        </a:lnSpc>
                        <a:spcBef>
                          <a:spcPts val="530"/>
                        </a:spcBef>
                      </a:pPr>
                      <a:r>
                        <a:rPr sz="1400" spc="25" dirty="0">
                          <a:solidFill>
                            <a:srgbClr val="344B5E"/>
                          </a:solidFill>
                          <a:latin typeface="Arial" panose="020B0604020202020204"/>
                          <a:cs typeface="Arial" panose="020B0604020202020204"/>
                        </a:rPr>
                        <a:t>Normal</a:t>
                      </a:r>
                      <a:endParaRPr sz="1400">
                        <a:latin typeface="Arial" panose="020B0604020202020204"/>
                        <a:cs typeface="Arial" panose="020B0604020202020204"/>
                      </a:endParaRPr>
                    </a:p>
                  </a:txBody>
                  <a:tcPr marL="0" marR="0" marT="67310" marB="0">
                    <a:solidFill>
                      <a:srgbClr val="E0EBEB"/>
                    </a:solidFill>
                  </a:tcPr>
                </a:tc>
                <a:tc>
                  <a:txBody>
                    <a:bodyPr/>
                    <a:lstStyle/>
                    <a:p>
                      <a:pPr marL="59055" algn="ctr">
                        <a:lnSpc>
                          <a:spcPct val="100000"/>
                        </a:lnSpc>
                        <a:spcBef>
                          <a:spcPts val="530"/>
                        </a:spcBef>
                      </a:pPr>
                      <a:r>
                        <a:rPr sz="1400" spc="85" dirty="0">
                          <a:solidFill>
                            <a:srgbClr val="344B5E"/>
                          </a:solidFill>
                          <a:latin typeface="Arial" panose="020B0604020202020204"/>
                          <a:cs typeface="Arial" panose="020B0604020202020204"/>
                        </a:rPr>
                        <a:t>6/9</a:t>
                      </a:r>
                      <a:endParaRPr sz="1400" dirty="0">
                        <a:latin typeface="Arial" panose="020B0604020202020204"/>
                        <a:cs typeface="Arial" panose="020B0604020202020204"/>
                      </a:endParaRPr>
                    </a:p>
                  </a:txBody>
                  <a:tcPr marL="0" marR="0" marT="67310" marB="0">
                    <a:solidFill>
                      <a:srgbClr val="E0EBEB"/>
                    </a:solidFill>
                  </a:tcPr>
                </a:tc>
                <a:tc>
                  <a:txBody>
                    <a:bodyPr/>
                    <a:lstStyle/>
                    <a:p>
                      <a:pPr marR="12065" algn="ctr">
                        <a:lnSpc>
                          <a:spcPct val="100000"/>
                        </a:lnSpc>
                        <a:spcBef>
                          <a:spcPts val="530"/>
                        </a:spcBef>
                      </a:pPr>
                      <a:r>
                        <a:rPr sz="1400" spc="85" dirty="0">
                          <a:solidFill>
                            <a:srgbClr val="344B5E"/>
                          </a:solidFill>
                          <a:latin typeface="Arial" panose="020B0604020202020204"/>
                          <a:cs typeface="Arial" panose="020B0604020202020204"/>
                        </a:rPr>
                        <a:t>1/5</a:t>
                      </a:r>
                      <a:endParaRPr sz="1400" dirty="0">
                        <a:latin typeface="Arial" panose="020B0604020202020204"/>
                        <a:cs typeface="Arial" panose="020B0604020202020204"/>
                      </a:endParaRPr>
                    </a:p>
                  </a:txBody>
                  <a:tcPr marL="0" marR="0" marT="67310" marB="0">
                    <a:solidFill>
                      <a:srgbClr val="E0EBEB"/>
                    </a:solidFill>
                  </a:tcPr>
                </a:tc>
                <a:extLst>
                  <a:ext uri="{0D108BD9-81ED-4DB2-BD59-A6C34878D82A}">
                    <a16:rowId xmlns:a16="http://schemas.microsoft.com/office/drawing/2014/main" val="10002"/>
                  </a:ext>
                </a:extLst>
              </a:tr>
            </a:tbl>
          </a:graphicData>
        </a:graphic>
      </p:graphicFrame>
      <p:graphicFrame>
        <p:nvGraphicFramePr>
          <p:cNvPr id="7" name="object 7"/>
          <p:cNvGraphicFramePr>
            <a:graphicFrameLocks noGrp="1"/>
          </p:cNvGraphicFramePr>
          <p:nvPr/>
        </p:nvGraphicFramePr>
        <p:xfrm>
          <a:off x="5981068" y="5192779"/>
          <a:ext cx="4999565" cy="1096645"/>
        </p:xfrm>
        <a:graphic>
          <a:graphicData uri="http://schemas.openxmlformats.org/drawingml/2006/table">
            <a:tbl>
              <a:tblPr firstRow="1" bandRow="1">
                <a:tableStyleId>{2D5ABB26-0587-4C30-8999-92F81FD0307C}</a:tableStyleId>
              </a:tblPr>
              <a:tblGrid>
                <a:gridCol w="1737360">
                  <a:extLst>
                    <a:ext uri="{9D8B030D-6E8A-4147-A177-3AD203B41FA5}">
                      <a16:colId xmlns:a16="http://schemas.microsoft.com/office/drawing/2014/main" val="20000"/>
                    </a:ext>
                  </a:extLst>
                </a:gridCol>
                <a:gridCol w="1761912">
                  <a:extLst>
                    <a:ext uri="{9D8B030D-6E8A-4147-A177-3AD203B41FA5}">
                      <a16:colId xmlns:a16="http://schemas.microsoft.com/office/drawing/2014/main" val="20001"/>
                    </a:ext>
                  </a:extLst>
                </a:gridCol>
                <a:gridCol w="1500293">
                  <a:extLst>
                    <a:ext uri="{9D8B030D-6E8A-4147-A177-3AD203B41FA5}">
                      <a16:colId xmlns:a16="http://schemas.microsoft.com/office/drawing/2014/main" val="20002"/>
                    </a:ext>
                  </a:extLst>
                </a:gridCol>
              </a:tblGrid>
              <a:tr h="365760">
                <a:tc>
                  <a:txBody>
                    <a:bodyPr/>
                    <a:lstStyle/>
                    <a:p>
                      <a:pPr marR="311785" algn="r">
                        <a:lnSpc>
                          <a:spcPct val="100000"/>
                        </a:lnSpc>
                        <a:spcBef>
                          <a:spcPts val="360"/>
                        </a:spcBef>
                      </a:pPr>
                      <a:r>
                        <a:rPr sz="1600" b="1" dirty="0">
                          <a:solidFill>
                            <a:srgbClr val="D0692F"/>
                          </a:solidFill>
                          <a:latin typeface="Trebuchet MS" panose="020B0603020202020204"/>
                          <a:cs typeface="Trebuchet MS" panose="020B0603020202020204"/>
                        </a:rPr>
                        <a:t>W</a:t>
                      </a:r>
                      <a:r>
                        <a:rPr sz="1600" b="1" spc="5" dirty="0">
                          <a:solidFill>
                            <a:srgbClr val="D0692F"/>
                          </a:solidFill>
                          <a:latin typeface="Trebuchet MS" panose="020B0603020202020204"/>
                          <a:cs typeface="Trebuchet MS" panose="020B0603020202020204"/>
                        </a:rPr>
                        <a:t>i</a:t>
                      </a:r>
                      <a:r>
                        <a:rPr sz="1600" b="1" dirty="0">
                          <a:solidFill>
                            <a:srgbClr val="D0692F"/>
                          </a:solidFill>
                          <a:latin typeface="Trebuchet MS" panose="020B0603020202020204"/>
                          <a:cs typeface="Trebuchet MS" panose="020B0603020202020204"/>
                        </a:rPr>
                        <a:t>nd</a:t>
                      </a:r>
                      <a:r>
                        <a:rPr lang="en-US" sz="1600" b="1" dirty="0">
                          <a:solidFill>
                            <a:srgbClr val="D0692F"/>
                          </a:solidFill>
                          <a:latin typeface="Trebuchet MS" panose="020B0603020202020204"/>
                          <a:cs typeface="Trebuchet MS" panose="020B0603020202020204"/>
                        </a:rPr>
                        <a:t>y</a:t>
                      </a:r>
                      <a:endParaRPr sz="1600" dirty="0">
                        <a:latin typeface="Trebuchet MS" panose="020B0603020202020204"/>
                        <a:cs typeface="Trebuchet MS" panose="020B0603020202020204"/>
                      </a:endParaRPr>
                    </a:p>
                  </a:txBody>
                  <a:tcPr marL="0" marR="0" marB="0">
                    <a:solidFill>
                      <a:srgbClr val="344B5E"/>
                    </a:solidFill>
                  </a:tcPr>
                </a:tc>
                <a:tc>
                  <a:txBody>
                    <a:bodyPr/>
                    <a:lstStyle/>
                    <a:p>
                      <a:pPr marL="141605" algn="ctr">
                        <a:lnSpc>
                          <a:spcPct val="100000"/>
                        </a:lnSpc>
                        <a:spcBef>
                          <a:spcPts val="360"/>
                        </a:spcBef>
                      </a:pPr>
                      <a:r>
                        <a:rPr sz="1600" b="1" spc="20" dirty="0">
                          <a:solidFill>
                            <a:srgbClr val="FFFFFF"/>
                          </a:solidFill>
                          <a:latin typeface="Trebuchet MS" panose="020B0603020202020204"/>
                          <a:cs typeface="Trebuchet MS" panose="020B0603020202020204"/>
                        </a:rPr>
                        <a:t>Play=Yes</a:t>
                      </a:r>
                      <a:endParaRPr sz="1600">
                        <a:latin typeface="Trebuchet MS" panose="020B0603020202020204"/>
                        <a:cs typeface="Trebuchet MS" panose="020B0603020202020204"/>
                      </a:endParaRPr>
                    </a:p>
                  </a:txBody>
                  <a:tcPr marL="0" marR="0" marB="0">
                    <a:solidFill>
                      <a:srgbClr val="344B5E"/>
                    </a:solidFill>
                  </a:tcPr>
                </a:tc>
                <a:tc>
                  <a:txBody>
                    <a:bodyPr/>
                    <a:lstStyle/>
                    <a:p>
                      <a:pPr marR="8255" algn="ctr">
                        <a:lnSpc>
                          <a:spcPct val="100000"/>
                        </a:lnSpc>
                        <a:spcBef>
                          <a:spcPts val="360"/>
                        </a:spcBef>
                      </a:pPr>
                      <a:r>
                        <a:rPr sz="1600" b="1" spc="35" dirty="0">
                          <a:solidFill>
                            <a:srgbClr val="FFFFFF"/>
                          </a:solidFill>
                          <a:latin typeface="Trebuchet MS" panose="020B0603020202020204"/>
                          <a:cs typeface="Trebuchet MS" panose="020B0603020202020204"/>
                        </a:rPr>
                        <a:t>Play=No</a:t>
                      </a:r>
                      <a:endParaRPr sz="1600">
                        <a:latin typeface="Trebuchet MS" panose="020B0603020202020204"/>
                        <a:cs typeface="Trebuchet MS" panose="020B0603020202020204"/>
                      </a:endParaRPr>
                    </a:p>
                  </a:txBody>
                  <a:tcPr marL="0" marR="0" marB="0">
                    <a:solidFill>
                      <a:srgbClr val="344B5E"/>
                    </a:solidFill>
                  </a:tcPr>
                </a:tc>
                <a:extLst>
                  <a:ext uri="{0D108BD9-81ED-4DB2-BD59-A6C34878D82A}">
                    <a16:rowId xmlns:a16="http://schemas.microsoft.com/office/drawing/2014/main" val="10000"/>
                  </a:ext>
                </a:extLst>
              </a:tr>
              <a:tr h="361950">
                <a:tc>
                  <a:txBody>
                    <a:bodyPr/>
                    <a:lstStyle/>
                    <a:p>
                      <a:pPr marR="290830" algn="r">
                        <a:lnSpc>
                          <a:spcPct val="100000"/>
                        </a:lnSpc>
                        <a:spcBef>
                          <a:spcPts val="500"/>
                        </a:spcBef>
                      </a:pPr>
                      <a:r>
                        <a:rPr sz="1400" dirty="0">
                          <a:solidFill>
                            <a:srgbClr val="344B5E"/>
                          </a:solidFill>
                          <a:latin typeface="Arial" panose="020B0604020202020204"/>
                          <a:cs typeface="Arial" panose="020B0604020202020204"/>
                        </a:rPr>
                        <a:t>St</a:t>
                      </a:r>
                      <a:r>
                        <a:rPr sz="1400" spc="5" dirty="0">
                          <a:solidFill>
                            <a:srgbClr val="344B5E"/>
                          </a:solidFill>
                          <a:latin typeface="Arial" panose="020B0604020202020204"/>
                          <a:cs typeface="Arial" panose="020B0604020202020204"/>
                        </a:rPr>
                        <a:t>r</a:t>
                      </a:r>
                      <a:r>
                        <a:rPr sz="1400" dirty="0">
                          <a:solidFill>
                            <a:srgbClr val="344B5E"/>
                          </a:solidFill>
                          <a:latin typeface="Arial" panose="020B0604020202020204"/>
                          <a:cs typeface="Arial" panose="020B0604020202020204"/>
                        </a:rPr>
                        <a:t>ong</a:t>
                      </a:r>
                      <a:endParaRPr sz="1400">
                        <a:latin typeface="Arial" panose="020B0604020202020204"/>
                        <a:cs typeface="Arial" panose="020B0604020202020204"/>
                      </a:endParaRPr>
                    </a:p>
                  </a:txBody>
                  <a:tcPr marL="0" marR="0" marT="63500" marB="0">
                    <a:solidFill>
                      <a:srgbClr val="E0EBEB"/>
                    </a:solidFill>
                  </a:tcPr>
                </a:tc>
                <a:tc>
                  <a:txBody>
                    <a:bodyPr/>
                    <a:lstStyle/>
                    <a:p>
                      <a:pPr marL="140970" algn="ctr">
                        <a:lnSpc>
                          <a:spcPct val="100000"/>
                        </a:lnSpc>
                        <a:spcBef>
                          <a:spcPts val="500"/>
                        </a:spcBef>
                      </a:pPr>
                      <a:r>
                        <a:rPr sz="1400" spc="85" dirty="0">
                          <a:solidFill>
                            <a:srgbClr val="344B5E"/>
                          </a:solidFill>
                          <a:latin typeface="Arial" panose="020B0604020202020204"/>
                          <a:cs typeface="Arial" panose="020B0604020202020204"/>
                        </a:rPr>
                        <a:t>3/9</a:t>
                      </a:r>
                      <a:endParaRPr sz="1400">
                        <a:latin typeface="Arial" panose="020B0604020202020204"/>
                        <a:cs typeface="Arial" panose="020B0604020202020204"/>
                      </a:endParaRPr>
                    </a:p>
                  </a:txBody>
                  <a:tcPr marL="0" marR="0" marT="63500" marB="0">
                    <a:solidFill>
                      <a:srgbClr val="E0EBEB"/>
                    </a:solidFill>
                  </a:tcPr>
                </a:tc>
                <a:tc>
                  <a:txBody>
                    <a:bodyPr/>
                    <a:lstStyle/>
                    <a:p>
                      <a:pPr marR="10795" algn="ctr">
                        <a:lnSpc>
                          <a:spcPct val="100000"/>
                        </a:lnSpc>
                        <a:spcBef>
                          <a:spcPts val="500"/>
                        </a:spcBef>
                      </a:pPr>
                      <a:r>
                        <a:rPr sz="1400" spc="85" dirty="0">
                          <a:solidFill>
                            <a:srgbClr val="344B5E"/>
                          </a:solidFill>
                          <a:latin typeface="Arial" panose="020B0604020202020204"/>
                          <a:cs typeface="Arial" panose="020B0604020202020204"/>
                        </a:rPr>
                        <a:t>3/5</a:t>
                      </a:r>
                      <a:endParaRPr sz="1400">
                        <a:latin typeface="Arial" panose="020B0604020202020204"/>
                        <a:cs typeface="Arial" panose="020B0604020202020204"/>
                      </a:endParaRPr>
                    </a:p>
                  </a:txBody>
                  <a:tcPr marL="0" marR="0" marT="63500" marB="0">
                    <a:solidFill>
                      <a:srgbClr val="E0EBEB"/>
                    </a:solidFill>
                  </a:tcPr>
                </a:tc>
                <a:extLst>
                  <a:ext uri="{0D108BD9-81ED-4DB2-BD59-A6C34878D82A}">
                    <a16:rowId xmlns:a16="http://schemas.microsoft.com/office/drawing/2014/main" val="10001"/>
                  </a:ext>
                </a:extLst>
              </a:tr>
              <a:tr h="368935">
                <a:tc>
                  <a:txBody>
                    <a:bodyPr/>
                    <a:lstStyle/>
                    <a:p>
                      <a:pPr marR="337185" algn="r">
                        <a:lnSpc>
                          <a:spcPct val="100000"/>
                        </a:lnSpc>
                        <a:spcBef>
                          <a:spcPts val="530"/>
                        </a:spcBef>
                      </a:pPr>
                      <a:r>
                        <a:rPr sz="1400" dirty="0">
                          <a:solidFill>
                            <a:srgbClr val="344B5E"/>
                          </a:solidFill>
                          <a:latin typeface="Arial" panose="020B0604020202020204"/>
                          <a:cs typeface="Arial" panose="020B0604020202020204"/>
                        </a:rPr>
                        <a:t>Weak</a:t>
                      </a:r>
                      <a:endParaRPr sz="1400">
                        <a:latin typeface="Arial" panose="020B0604020202020204"/>
                        <a:cs typeface="Arial" panose="020B0604020202020204"/>
                      </a:endParaRPr>
                    </a:p>
                  </a:txBody>
                  <a:tcPr marL="0" marR="0" marT="67310" marB="0">
                    <a:solidFill>
                      <a:srgbClr val="E0EBEB"/>
                    </a:solidFill>
                  </a:tcPr>
                </a:tc>
                <a:tc>
                  <a:txBody>
                    <a:bodyPr/>
                    <a:lstStyle/>
                    <a:p>
                      <a:pPr marL="140970" algn="ctr">
                        <a:lnSpc>
                          <a:spcPct val="100000"/>
                        </a:lnSpc>
                        <a:spcBef>
                          <a:spcPts val="530"/>
                        </a:spcBef>
                      </a:pPr>
                      <a:r>
                        <a:rPr sz="1400" spc="85" dirty="0">
                          <a:solidFill>
                            <a:srgbClr val="344B5E"/>
                          </a:solidFill>
                          <a:latin typeface="Arial" panose="020B0604020202020204"/>
                          <a:cs typeface="Arial" panose="020B0604020202020204"/>
                        </a:rPr>
                        <a:t>6/9</a:t>
                      </a:r>
                      <a:endParaRPr sz="1400" dirty="0">
                        <a:latin typeface="Arial" panose="020B0604020202020204"/>
                        <a:cs typeface="Arial" panose="020B0604020202020204"/>
                      </a:endParaRPr>
                    </a:p>
                  </a:txBody>
                  <a:tcPr marL="0" marR="0" marT="67310" marB="0">
                    <a:solidFill>
                      <a:srgbClr val="E0EBEB"/>
                    </a:solidFill>
                  </a:tcPr>
                </a:tc>
                <a:tc>
                  <a:txBody>
                    <a:bodyPr/>
                    <a:lstStyle/>
                    <a:p>
                      <a:pPr marR="10795" algn="ctr">
                        <a:lnSpc>
                          <a:spcPct val="100000"/>
                        </a:lnSpc>
                        <a:spcBef>
                          <a:spcPts val="530"/>
                        </a:spcBef>
                      </a:pPr>
                      <a:r>
                        <a:rPr sz="1400" spc="85" dirty="0">
                          <a:solidFill>
                            <a:srgbClr val="344B5E"/>
                          </a:solidFill>
                          <a:latin typeface="Arial" panose="020B0604020202020204"/>
                          <a:cs typeface="Arial" panose="020B0604020202020204"/>
                        </a:rPr>
                        <a:t>2/5</a:t>
                      </a:r>
                      <a:endParaRPr sz="1400" dirty="0">
                        <a:latin typeface="Arial" panose="020B0604020202020204"/>
                        <a:cs typeface="Arial" panose="020B0604020202020204"/>
                      </a:endParaRPr>
                    </a:p>
                  </a:txBody>
                  <a:tcPr marL="0" marR="0" marT="67310" marB="0">
                    <a:solidFill>
                      <a:srgbClr val="E0EBEB"/>
                    </a:solidFill>
                  </a:tcPr>
                </a:tc>
                <a:extLst>
                  <a:ext uri="{0D108BD9-81ED-4DB2-BD59-A6C34878D82A}">
                    <a16:rowId xmlns:a16="http://schemas.microsoft.com/office/drawing/2014/main" val="10002"/>
                  </a:ext>
                </a:extLst>
              </a:tr>
            </a:tbl>
          </a:graphicData>
        </a:graphic>
      </p:graphicFrame>
      <p:sp>
        <p:nvSpPr>
          <p:cNvPr id="8" name="object 8"/>
          <p:cNvSpPr txBox="1"/>
          <p:nvPr/>
        </p:nvSpPr>
        <p:spPr>
          <a:xfrm>
            <a:off x="727473" y="5726837"/>
            <a:ext cx="4139920" cy="382156"/>
          </a:xfrm>
          <a:prstGeom prst="rect">
            <a:avLst/>
          </a:prstGeom>
        </p:spPr>
        <p:txBody>
          <a:bodyPr vert="horz" wrap="square" lIns="0" tIns="12700" rIns="0" bIns="0" rtlCol="0">
            <a:spAutoFit/>
          </a:bodyPr>
          <a:lstStyle/>
          <a:p>
            <a:pPr marL="12700" algn="just">
              <a:spcBef>
                <a:spcPts val="100"/>
              </a:spcBef>
            </a:pPr>
            <a:r>
              <a:rPr lang="zh-CN" altLang="en-US" sz="2400" b="1" spc="-30" dirty="0">
                <a:solidFill>
                  <a:srgbClr val="0070C0"/>
                </a:solidFill>
                <a:latin typeface="Trebuchet MS" panose="020B0603020202020204"/>
                <a:cs typeface="Trebuchet MS" panose="020B0603020202020204"/>
              </a:rPr>
              <a:t>使用训练数据构建概率查找表</a:t>
            </a:r>
            <a:endParaRPr sz="2400" dirty="0">
              <a:solidFill>
                <a:srgbClr val="0070C0"/>
              </a:solidFill>
              <a:latin typeface="Trebuchet MS" panose="020B0603020202020204"/>
              <a:cs typeface="Trebuchet MS" panose="020B0603020202020204"/>
            </a:endParaRPr>
          </a:p>
        </p:txBody>
      </p:sp>
      <p:sp>
        <p:nvSpPr>
          <p:cNvPr id="12" name="标题 5"/>
          <p:cNvSpPr>
            <a:spLocks noGrp="1"/>
          </p:cNvSpPr>
          <p:nvPr>
            <p:ph type="title"/>
          </p:nvPr>
        </p:nvSpPr>
        <p:spPr>
          <a:xfrm>
            <a:off x="609600" y="274638"/>
            <a:ext cx="10972800" cy="1143000"/>
          </a:xfrm>
        </p:spPr>
        <p:txBody>
          <a:bodyPr/>
          <a:lstStyle/>
          <a:p>
            <a:r>
              <a:rPr lang="zh-CN" altLang="en-US" dirty="0"/>
              <a:t>案例：预测打网球</a:t>
            </a:r>
          </a:p>
        </p:txBody>
      </p:sp>
      <p:pic>
        <p:nvPicPr>
          <p:cNvPr id="9" name="图片 8"/>
          <p:cNvPicPr>
            <a:picLocks noChangeAspect="1"/>
          </p:cNvPicPr>
          <p:nvPr/>
        </p:nvPicPr>
        <p:blipFill>
          <a:blip r:embed="rId5"/>
          <a:stretch>
            <a:fillRect/>
          </a:stretch>
        </p:blipFill>
        <p:spPr>
          <a:xfrm>
            <a:off x="669988" y="1805346"/>
            <a:ext cx="5011468" cy="372486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592669" y="1628800"/>
            <a:ext cx="11263972" cy="780982"/>
          </a:xfrm>
          <a:prstGeom prst="rect">
            <a:avLst/>
          </a:prstGeom>
        </p:spPr>
        <p:txBody>
          <a:bodyPr vert="horz" wrap="square" lIns="0" tIns="64769" rIns="0" bIns="0" rtlCol="0">
            <a:spAutoFit/>
          </a:bodyPr>
          <a:lstStyle/>
          <a:p>
            <a:pPr marL="12700">
              <a:spcBef>
                <a:spcPts val="510"/>
              </a:spcBef>
            </a:pPr>
            <a:r>
              <a:rPr lang="zh-CN" altLang="en-US" sz="2400" b="1" dirty="0">
                <a:latin typeface="Trebuchet MS" panose="020B0603020202020204"/>
                <a:cs typeface="Trebuchet MS" panose="020B0603020202020204"/>
              </a:rPr>
              <a:t>预测下面情境下是否打网球：</a:t>
            </a:r>
            <a:endParaRPr lang="en-US" sz="2400" dirty="0">
              <a:latin typeface="Trebuchet MS" panose="020B0603020202020204"/>
              <a:cs typeface="Trebuchet MS" panose="020B0603020202020204"/>
            </a:endParaRPr>
          </a:p>
          <a:p>
            <a:pPr marL="358140">
              <a:spcBef>
                <a:spcPts val="330"/>
              </a:spcBef>
            </a:pPr>
            <a:r>
              <a:rPr lang="en-US" sz="2000" dirty="0">
                <a:latin typeface="Arial" panose="020B0604020202020204"/>
                <a:cs typeface="Arial" panose="020B0604020202020204"/>
              </a:rPr>
              <a:t>x’=(Outlook=Sunny, Temperature=Cool, Humidity=High, Wind=Strong)</a:t>
            </a:r>
          </a:p>
        </p:txBody>
      </p:sp>
      <p:sp>
        <p:nvSpPr>
          <p:cNvPr id="27" name="标题 5"/>
          <p:cNvSpPr>
            <a:spLocks noGrp="1"/>
          </p:cNvSpPr>
          <p:nvPr>
            <p:ph type="title"/>
          </p:nvPr>
        </p:nvSpPr>
        <p:spPr>
          <a:xfrm>
            <a:off x="609600" y="274638"/>
            <a:ext cx="10972800" cy="1143000"/>
          </a:xfrm>
        </p:spPr>
        <p:txBody>
          <a:bodyPr/>
          <a:lstStyle/>
          <a:p>
            <a:r>
              <a:rPr lang="zh-CN" altLang="en-US" dirty="0"/>
              <a:t>案例：预测打网球</a:t>
            </a:r>
          </a:p>
        </p:txBody>
      </p:sp>
      <p:pic>
        <p:nvPicPr>
          <p:cNvPr id="29" name="图片 28"/>
          <p:cNvPicPr>
            <a:picLocks noChangeAspect="1"/>
          </p:cNvPicPr>
          <p:nvPr/>
        </p:nvPicPr>
        <p:blipFill>
          <a:blip r:embed="rId2" cstate="print"/>
          <a:stretch>
            <a:fillRect/>
          </a:stretch>
        </p:blipFill>
        <p:spPr>
          <a:xfrm>
            <a:off x="-10974" y="2852936"/>
            <a:ext cx="12202975" cy="288086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299200" y="857250"/>
            <a:ext cx="5892800" cy="4759960"/>
          </a:xfrm>
          <a:custGeom>
            <a:avLst/>
            <a:gdLst/>
            <a:ahLst/>
            <a:cxnLst/>
            <a:rect l="l" t="t" r="r" b="b"/>
            <a:pathLst>
              <a:path w="4419600" h="4759960">
                <a:moveTo>
                  <a:pt x="0" y="4759452"/>
                </a:moveTo>
                <a:lnTo>
                  <a:pt x="4419600" y="4759452"/>
                </a:lnTo>
                <a:lnTo>
                  <a:pt x="4419600" y="0"/>
                </a:lnTo>
                <a:lnTo>
                  <a:pt x="0" y="0"/>
                </a:lnTo>
                <a:lnTo>
                  <a:pt x="0" y="4759452"/>
                </a:lnTo>
                <a:close/>
              </a:path>
            </a:pathLst>
          </a:custGeom>
          <a:solidFill>
            <a:srgbClr val="E0EBEB"/>
          </a:solidFill>
        </p:spPr>
        <p:txBody>
          <a:bodyPr wrap="square" lIns="0" tIns="0" rIns="0" bIns="0" rtlCol="0"/>
          <a:lstStyle/>
          <a:p>
            <a:endParaRPr/>
          </a:p>
        </p:txBody>
      </p:sp>
      <p:graphicFrame>
        <p:nvGraphicFramePr>
          <p:cNvPr id="5" name="object 5"/>
          <p:cNvGraphicFramePr>
            <a:graphicFrameLocks noGrp="1"/>
          </p:cNvGraphicFramePr>
          <p:nvPr/>
        </p:nvGraphicFramePr>
        <p:xfrm>
          <a:off x="6890513" y="1693164"/>
          <a:ext cx="4755727" cy="3198495"/>
        </p:xfrm>
        <a:graphic>
          <a:graphicData uri="http://schemas.openxmlformats.org/drawingml/2006/table">
            <a:tbl>
              <a:tblPr firstRow="1" bandRow="1">
                <a:tableStyleId>{2D5ABB26-0587-4C30-8999-92F81FD0307C}</a:tableStyleId>
              </a:tblPr>
              <a:tblGrid>
                <a:gridCol w="2298700">
                  <a:extLst>
                    <a:ext uri="{9D8B030D-6E8A-4147-A177-3AD203B41FA5}">
                      <a16:colId xmlns:a16="http://schemas.microsoft.com/office/drawing/2014/main" val="20000"/>
                    </a:ext>
                  </a:extLst>
                </a:gridCol>
                <a:gridCol w="1258147">
                  <a:extLst>
                    <a:ext uri="{9D8B030D-6E8A-4147-A177-3AD203B41FA5}">
                      <a16:colId xmlns:a16="http://schemas.microsoft.com/office/drawing/2014/main" val="20001"/>
                    </a:ext>
                  </a:extLst>
                </a:gridCol>
                <a:gridCol w="1198880">
                  <a:extLst>
                    <a:ext uri="{9D8B030D-6E8A-4147-A177-3AD203B41FA5}">
                      <a16:colId xmlns:a16="http://schemas.microsoft.com/office/drawing/2014/main" val="20002"/>
                    </a:ext>
                  </a:extLst>
                </a:gridCol>
              </a:tblGrid>
              <a:tr h="463550">
                <a:tc>
                  <a:txBody>
                    <a:bodyPr/>
                    <a:lstStyle/>
                    <a:p>
                      <a:pPr marL="15240" algn="ctr">
                        <a:lnSpc>
                          <a:spcPct val="100000"/>
                        </a:lnSpc>
                        <a:spcBef>
                          <a:spcPts val="855"/>
                        </a:spcBef>
                      </a:pPr>
                      <a:r>
                        <a:rPr sz="1400" b="1" spc="-25" dirty="0">
                          <a:solidFill>
                            <a:srgbClr val="D0692F"/>
                          </a:solidFill>
                          <a:latin typeface="Trebuchet MS" panose="020B0603020202020204"/>
                          <a:cs typeface="Trebuchet MS" panose="020B0603020202020204"/>
                        </a:rPr>
                        <a:t>Feature</a:t>
                      </a:r>
                      <a:endParaRPr sz="1400">
                        <a:latin typeface="Trebuchet MS" panose="020B0603020202020204"/>
                        <a:cs typeface="Trebuchet MS" panose="020B0603020202020204"/>
                      </a:endParaRPr>
                    </a:p>
                  </a:txBody>
                  <a:tcPr marL="0" marR="0" marT="108585" marB="0">
                    <a:solidFill>
                      <a:srgbClr val="344B5E"/>
                    </a:solidFill>
                  </a:tcPr>
                </a:tc>
                <a:tc>
                  <a:txBody>
                    <a:bodyPr/>
                    <a:lstStyle/>
                    <a:p>
                      <a:pPr algn="ctr">
                        <a:lnSpc>
                          <a:spcPct val="100000"/>
                        </a:lnSpc>
                        <a:spcBef>
                          <a:spcPts val="855"/>
                        </a:spcBef>
                      </a:pPr>
                      <a:r>
                        <a:rPr sz="1400" b="1" spc="20" dirty="0">
                          <a:solidFill>
                            <a:srgbClr val="FFFFFF"/>
                          </a:solidFill>
                          <a:latin typeface="Trebuchet MS" panose="020B0603020202020204"/>
                          <a:cs typeface="Trebuchet MS" panose="020B0603020202020204"/>
                        </a:rPr>
                        <a:t>Play=Yes</a:t>
                      </a:r>
                      <a:endParaRPr sz="1400">
                        <a:latin typeface="Trebuchet MS" panose="020B0603020202020204"/>
                        <a:cs typeface="Trebuchet MS" panose="020B0603020202020204"/>
                      </a:endParaRPr>
                    </a:p>
                  </a:txBody>
                  <a:tcPr marL="0" marR="0" marT="108585" marB="0">
                    <a:solidFill>
                      <a:srgbClr val="344B5E"/>
                    </a:solidFill>
                  </a:tcPr>
                </a:tc>
                <a:tc>
                  <a:txBody>
                    <a:bodyPr/>
                    <a:lstStyle/>
                    <a:p>
                      <a:pPr marR="6985" algn="ctr">
                        <a:lnSpc>
                          <a:spcPct val="100000"/>
                        </a:lnSpc>
                        <a:spcBef>
                          <a:spcPts val="855"/>
                        </a:spcBef>
                      </a:pPr>
                      <a:r>
                        <a:rPr sz="1400" b="1" spc="35" dirty="0">
                          <a:solidFill>
                            <a:srgbClr val="FFFFFF"/>
                          </a:solidFill>
                          <a:latin typeface="Trebuchet MS" panose="020B0603020202020204"/>
                          <a:cs typeface="Trebuchet MS" panose="020B0603020202020204"/>
                        </a:rPr>
                        <a:t>Play=No</a:t>
                      </a:r>
                      <a:endParaRPr sz="1400">
                        <a:latin typeface="Trebuchet MS" panose="020B0603020202020204"/>
                        <a:cs typeface="Trebuchet MS" panose="020B0603020202020204"/>
                      </a:endParaRPr>
                    </a:p>
                  </a:txBody>
                  <a:tcPr marL="0" marR="0" marT="108585" marB="0">
                    <a:solidFill>
                      <a:srgbClr val="344B5E"/>
                    </a:solidFill>
                  </a:tcPr>
                </a:tc>
                <a:extLst>
                  <a:ext uri="{0D108BD9-81ED-4DB2-BD59-A6C34878D82A}">
                    <a16:rowId xmlns:a16="http://schemas.microsoft.com/office/drawing/2014/main" val="10000"/>
                  </a:ext>
                </a:extLst>
              </a:tr>
              <a:tr h="446405">
                <a:tc>
                  <a:txBody>
                    <a:bodyPr/>
                    <a:lstStyle/>
                    <a:p>
                      <a:pPr marL="12065" algn="ctr">
                        <a:lnSpc>
                          <a:spcPct val="100000"/>
                        </a:lnSpc>
                        <a:spcBef>
                          <a:spcPts val="810"/>
                        </a:spcBef>
                      </a:pPr>
                      <a:r>
                        <a:rPr sz="1400" spc="25" dirty="0">
                          <a:solidFill>
                            <a:srgbClr val="344B5E"/>
                          </a:solidFill>
                          <a:latin typeface="Arial" panose="020B0604020202020204"/>
                          <a:cs typeface="Arial" panose="020B0604020202020204"/>
                        </a:rPr>
                        <a:t>Outlook=Sunny</a:t>
                      </a:r>
                      <a:endParaRPr sz="1400">
                        <a:latin typeface="Arial" panose="020B0604020202020204"/>
                        <a:cs typeface="Arial" panose="020B0604020202020204"/>
                      </a:endParaRPr>
                    </a:p>
                  </a:txBody>
                  <a:tcPr marL="0" marR="0" marT="102870" marB="0">
                    <a:solidFill>
                      <a:srgbClr val="FFFFFF"/>
                    </a:solidFill>
                  </a:tcPr>
                </a:tc>
                <a:tc>
                  <a:txBody>
                    <a:bodyPr/>
                    <a:lstStyle/>
                    <a:p>
                      <a:pPr algn="ctr">
                        <a:lnSpc>
                          <a:spcPct val="100000"/>
                        </a:lnSpc>
                        <a:spcBef>
                          <a:spcPts val="810"/>
                        </a:spcBef>
                      </a:pPr>
                      <a:r>
                        <a:rPr sz="1400" spc="85" dirty="0">
                          <a:solidFill>
                            <a:srgbClr val="344B5E"/>
                          </a:solidFill>
                          <a:latin typeface="Arial" panose="020B0604020202020204"/>
                          <a:cs typeface="Arial" panose="020B0604020202020204"/>
                        </a:rPr>
                        <a:t>2/9</a:t>
                      </a:r>
                      <a:endParaRPr sz="1400">
                        <a:latin typeface="Arial" panose="020B0604020202020204"/>
                        <a:cs typeface="Arial" panose="020B0604020202020204"/>
                      </a:endParaRPr>
                    </a:p>
                  </a:txBody>
                  <a:tcPr marL="0" marR="0" marT="102870" marB="0">
                    <a:solidFill>
                      <a:srgbClr val="FFFFFF"/>
                    </a:solidFill>
                  </a:tcPr>
                </a:tc>
                <a:tc>
                  <a:txBody>
                    <a:bodyPr/>
                    <a:lstStyle/>
                    <a:p>
                      <a:pPr marR="8255" algn="ctr">
                        <a:lnSpc>
                          <a:spcPct val="100000"/>
                        </a:lnSpc>
                        <a:spcBef>
                          <a:spcPts val="810"/>
                        </a:spcBef>
                      </a:pPr>
                      <a:r>
                        <a:rPr sz="1400" spc="85" dirty="0">
                          <a:solidFill>
                            <a:srgbClr val="344B5E"/>
                          </a:solidFill>
                          <a:latin typeface="Arial" panose="020B0604020202020204"/>
                          <a:cs typeface="Arial" panose="020B0604020202020204"/>
                        </a:rPr>
                        <a:t>3/5</a:t>
                      </a:r>
                      <a:endParaRPr sz="1400">
                        <a:latin typeface="Arial" panose="020B0604020202020204"/>
                        <a:cs typeface="Arial" panose="020B0604020202020204"/>
                      </a:endParaRPr>
                    </a:p>
                  </a:txBody>
                  <a:tcPr marL="0" marR="0" marT="102870" marB="0">
                    <a:solidFill>
                      <a:srgbClr val="FFFFFF"/>
                    </a:solidFill>
                  </a:tcPr>
                </a:tc>
                <a:extLst>
                  <a:ext uri="{0D108BD9-81ED-4DB2-BD59-A6C34878D82A}">
                    <a16:rowId xmlns:a16="http://schemas.microsoft.com/office/drawing/2014/main" val="10001"/>
                  </a:ext>
                </a:extLst>
              </a:tr>
              <a:tr h="457200">
                <a:tc>
                  <a:txBody>
                    <a:bodyPr/>
                    <a:lstStyle/>
                    <a:p>
                      <a:pPr marL="12700" algn="ctr">
                        <a:lnSpc>
                          <a:spcPct val="100000"/>
                        </a:lnSpc>
                        <a:spcBef>
                          <a:spcPts val="890"/>
                        </a:spcBef>
                      </a:pPr>
                      <a:r>
                        <a:rPr sz="1400" spc="20" dirty="0">
                          <a:solidFill>
                            <a:srgbClr val="344B5E"/>
                          </a:solidFill>
                          <a:latin typeface="Arial" panose="020B0604020202020204"/>
                          <a:cs typeface="Arial" panose="020B0604020202020204"/>
                        </a:rPr>
                        <a:t>Temperature=Cool</a:t>
                      </a:r>
                      <a:endParaRPr sz="1400">
                        <a:latin typeface="Arial" panose="020B0604020202020204"/>
                        <a:cs typeface="Arial" panose="020B0604020202020204"/>
                      </a:endParaRPr>
                    </a:p>
                  </a:txBody>
                  <a:tcPr marL="0" marR="0" marT="113030" marB="0">
                    <a:solidFill>
                      <a:srgbClr val="FFFFFF"/>
                    </a:solidFill>
                  </a:tcPr>
                </a:tc>
                <a:tc>
                  <a:txBody>
                    <a:bodyPr/>
                    <a:lstStyle/>
                    <a:p>
                      <a:pPr algn="ctr">
                        <a:lnSpc>
                          <a:spcPct val="100000"/>
                        </a:lnSpc>
                        <a:spcBef>
                          <a:spcPts val="890"/>
                        </a:spcBef>
                      </a:pPr>
                      <a:r>
                        <a:rPr sz="1400" spc="85" dirty="0">
                          <a:solidFill>
                            <a:srgbClr val="344B5E"/>
                          </a:solidFill>
                          <a:latin typeface="Arial" panose="020B0604020202020204"/>
                          <a:cs typeface="Arial" panose="020B0604020202020204"/>
                        </a:rPr>
                        <a:t>3/9</a:t>
                      </a:r>
                      <a:endParaRPr sz="1400">
                        <a:latin typeface="Arial" panose="020B0604020202020204"/>
                        <a:cs typeface="Arial" panose="020B0604020202020204"/>
                      </a:endParaRPr>
                    </a:p>
                  </a:txBody>
                  <a:tcPr marL="0" marR="0" marT="113030" marB="0">
                    <a:solidFill>
                      <a:srgbClr val="FFFFFF"/>
                    </a:solidFill>
                  </a:tcPr>
                </a:tc>
                <a:tc>
                  <a:txBody>
                    <a:bodyPr/>
                    <a:lstStyle/>
                    <a:p>
                      <a:pPr marR="8255" algn="ctr">
                        <a:lnSpc>
                          <a:spcPct val="100000"/>
                        </a:lnSpc>
                        <a:spcBef>
                          <a:spcPts val="890"/>
                        </a:spcBef>
                      </a:pPr>
                      <a:r>
                        <a:rPr sz="1400" spc="85" dirty="0">
                          <a:solidFill>
                            <a:srgbClr val="344B5E"/>
                          </a:solidFill>
                          <a:latin typeface="Arial" panose="020B0604020202020204"/>
                          <a:cs typeface="Arial" panose="020B0604020202020204"/>
                        </a:rPr>
                        <a:t>1/5</a:t>
                      </a:r>
                      <a:endParaRPr sz="1400">
                        <a:latin typeface="Arial" panose="020B0604020202020204"/>
                        <a:cs typeface="Arial" panose="020B0604020202020204"/>
                      </a:endParaRPr>
                    </a:p>
                  </a:txBody>
                  <a:tcPr marL="0" marR="0" marT="113030" marB="0">
                    <a:solidFill>
                      <a:srgbClr val="FFFFFF"/>
                    </a:solidFill>
                  </a:tcPr>
                </a:tc>
                <a:extLst>
                  <a:ext uri="{0D108BD9-81ED-4DB2-BD59-A6C34878D82A}">
                    <a16:rowId xmlns:a16="http://schemas.microsoft.com/office/drawing/2014/main" val="10002"/>
                  </a:ext>
                </a:extLst>
              </a:tr>
              <a:tr h="457200">
                <a:tc>
                  <a:txBody>
                    <a:bodyPr/>
                    <a:lstStyle/>
                    <a:p>
                      <a:pPr marL="13335" algn="ctr">
                        <a:lnSpc>
                          <a:spcPct val="100000"/>
                        </a:lnSpc>
                        <a:spcBef>
                          <a:spcPts val="890"/>
                        </a:spcBef>
                      </a:pPr>
                      <a:r>
                        <a:rPr sz="1400" spc="25" dirty="0">
                          <a:solidFill>
                            <a:srgbClr val="344B5E"/>
                          </a:solidFill>
                          <a:latin typeface="Arial" panose="020B0604020202020204"/>
                          <a:cs typeface="Arial" panose="020B0604020202020204"/>
                        </a:rPr>
                        <a:t>Humidity=High</a:t>
                      </a:r>
                      <a:endParaRPr sz="1400">
                        <a:latin typeface="Arial" panose="020B0604020202020204"/>
                        <a:cs typeface="Arial" panose="020B0604020202020204"/>
                      </a:endParaRPr>
                    </a:p>
                  </a:txBody>
                  <a:tcPr marL="0" marR="0" marT="113030" marB="0">
                    <a:solidFill>
                      <a:srgbClr val="FFFFFF"/>
                    </a:solidFill>
                  </a:tcPr>
                </a:tc>
                <a:tc>
                  <a:txBody>
                    <a:bodyPr/>
                    <a:lstStyle/>
                    <a:p>
                      <a:pPr algn="ctr">
                        <a:lnSpc>
                          <a:spcPct val="100000"/>
                        </a:lnSpc>
                        <a:spcBef>
                          <a:spcPts val="890"/>
                        </a:spcBef>
                      </a:pPr>
                      <a:r>
                        <a:rPr sz="1400" spc="85" dirty="0">
                          <a:solidFill>
                            <a:srgbClr val="344B5E"/>
                          </a:solidFill>
                          <a:latin typeface="Arial" panose="020B0604020202020204"/>
                          <a:cs typeface="Arial" panose="020B0604020202020204"/>
                        </a:rPr>
                        <a:t>3/9</a:t>
                      </a:r>
                      <a:endParaRPr sz="1400">
                        <a:latin typeface="Arial" panose="020B0604020202020204"/>
                        <a:cs typeface="Arial" panose="020B0604020202020204"/>
                      </a:endParaRPr>
                    </a:p>
                  </a:txBody>
                  <a:tcPr marL="0" marR="0" marT="113030" marB="0">
                    <a:solidFill>
                      <a:srgbClr val="FFFFFF"/>
                    </a:solidFill>
                  </a:tcPr>
                </a:tc>
                <a:tc>
                  <a:txBody>
                    <a:bodyPr/>
                    <a:lstStyle/>
                    <a:p>
                      <a:pPr marR="8255" algn="ctr">
                        <a:lnSpc>
                          <a:spcPct val="100000"/>
                        </a:lnSpc>
                        <a:spcBef>
                          <a:spcPts val="890"/>
                        </a:spcBef>
                      </a:pPr>
                      <a:r>
                        <a:rPr sz="1400" spc="85" dirty="0">
                          <a:solidFill>
                            <a:srgbClr val="344B5E"/>
                          </a:solidFill>
                          <a:latin typeface="Arial" panose="020B0604020202020204"/>
                          <a:cs typeface="Arial" panose="020B0604020202020204"/>
                        </a:rPr>
                        <a:t>4/5</a:t>
                      </a:r>
                      <a:endParaRPr sz="1400">
                        <a:latin typeface="Arial" panose="020B0604020202020204"/>
                        <a:cs typeface="Arial" panose="020B0604020202020204"/>
                      </a:endParaRPr>
                    </a:p>
                  </a:txBody>
                  <a:tcPr marL="0" marR="0" marT="113030" marB="0">
                    <a:solidFill>
                      <a:srgbClr val="FFFFFF"/>
                    </a:solidFill>
                  </a:tcPr>
                </a:tc>
                <a:extLst>
                  <a:ext uri="{0D108BD9-81ED-4DB2-BD59-A6C34878D82A}">
                    <a16:rowId xmlns:a16="http://schemas.microsoft.com/office/drawing/2014/main" val="10003"/>
                  </a:ext>
                </a:extLst>
              </a:tr>
              <a:tr h="457200">
                <a:tc>
                  <a:txBody>
                    <a:bodyPr/>
                    <a:lstStyle/>
                    <a:p>
                      <a:pPr marL="12065" algn="ctr">
                        <a:lnSpc>
                          <a:spcPct val="100000"/>
                        </a:lnSpc>
                        <a:spcBef>
                          <a:spcPts val="890"/>
                        </a:spcBef>
                      </a:pPr>
                      <a:r>
                        <a:rPr sz="1400" spc="30" dirty="0">
                          <a:solidFill>
                            <a:srgbClr val="344B5E"/>
                          </a:solidFill>
                          <a:latin typeface="Arial" panose="020B0604020202020204"/>
                          <a:cs typeface="Arial" panose="020B0604020202020204"/>
                        </a:rPr>
                        <a:t>Wind=Strong</a:t>
                      </a:r>
                      <a:endParaRPr sz="1400">
                        <a:latin typeface="Arial" panose="020B0604020202020204"/>
                        <a:cs typeface="Arial" panose="020B0604020202020204"/>
                      </a:endParaRPr>
                    </a:p>
                  </a:txBody>
                  <a:tcPr marL="0" marR="0" marT="113030" marB="0">
                    <a:solidFill>
                      <a:srgbClr val="FFFFFF"/>
                    </a:solidFill>
                  </a:tcPr>
                </a:tc>
                <a:tc>
                  <a:txBody>
                    <a:bodyPr/>
                    <a:lstStyle/>
                    <a:p>
                      <a:pPr algn="ctr">
                        <a:lnSpc>
                          <a:spcPct val="100000"/>
                        </a:lnSpc>
                        <a:spcBef>
                          <a:spcPts val="890"/>
                        </a:spcBef>
                      </a:pPr>
                      <a:r>
                        <a:rPr sz="1400" spc="85" dirty="0">
                          <a:solidFill>
                            <a:srgbClr val="344B5E"/>
                          </a:solidFill>
                          <a:latin typeface="Arial" panose="020B0604020202020204"/>
                          <a:cs typeface="Arial" panose="020B0604020202020204"/>
                        </a:rPr>
                        <a:t>3/9</a:t>
                      </a:r>
                      <a:endParaRPr sz="1400">
                        <a:latin typeface="Arial" panose="020B0604020202020204"/>
                        <a:cs typeface="Arial" panose="020B0604020202020204"/>
                      </a:endParaRPr>
                    </a:p>
                  </a:txBody>
                  <a:tcPr marL="0" marR="0" marT="113030" marB="0">
                    <a:solidFill>
                      <a:srgbClr val="FFFFFF"/>
                    </a:solidFill>
                  </a:tcPr>
                </a:tc>
                <a:tc>
                  <a:txBody>
                    <a:bodyPr/>
                    <a:lstStyle/>
                    <a:p>
                      <a:pPr marR="8255" algn="ctr">
                        <a:lnSpc>
                          <a:spcPct val="100000"/>
                        </a:lnSpc>
                        <a:spcBef>
                          <a:spcPts val="890"/>
                        </a:spcBef>
                      </a:pPr>
                      <a:r>
                        <a:rPr sz="1400" spc="85" dirty="0">
                          <a:solidFill>
                            <a:srgbClr val="344B5E"/>
                          </a:solidFill>
                          <a:latin typeface="Arial" panose="020B0604020202020204"/>
                          <a:cs typeface="Arial" panose="020B0604020202020204"/>
                        </a:rPr>
                        <a:t>3/5</a:t>
                      </a:r>
                      <a:endParaRPr sz="1400">
                        <a:latin typeface="Arial" panose="020B0604020202020204"/>
                        <a:cs typeface="Arial" panose="020B0604020202020204"/>
                      </a:endParaRPr>
                    </a:p>
                  </a:txBody>
                  <a:tcPr marL="0" marR="0" marT="113030" marB="0">
                    <a:solidFill>
                      <a:srgbClr val="FFFFFF"/>
                    </a:solidFill>
                  </a:tcPr>
                </a:tc>
                <a:extLst>
                  <a:ext uri="{0D108BD9-81ED-4DB2-BD59-A6C34878D82A}">
                    <a16:rowId xmlns:a16="http://schemas.microsoft.com/office/drawing/2014/main" val="10004"/>
                  </a:ext>
                </a:extLst>
              </a:tr>
              <a:tr h="460375">
                <a:tc>
                  <a:txBody>
                    <a:bodyPr/>
                    <a:lstStyle/>
                    <a:p>
                      <a:pPr marL="13970" algn="ctr">
                        <a:lnSpc>
                          <a:spcPct val="100000"/>
                        </a:lnSpc>
                        <a:spcBef>
                          <a:spcPts val="890"/>
                        </a:spcBef>
                      </a:pPr>
                      <a:r>
                        <a:rPr sz="1400" b="1" spc="10" dirty="0">
                          <a:solidFill>
                            <a:srgbClr val="344B5E"/>
                          </a:solidFill>
                          <a:latin typeface="Trebuchet MS" panose="020B0603020202020204"/>
                          <a:cs typeface="Trebuchet MS" panose="020B0603020202020204"/>
                        </a:rPr>
                        <a:t>Overall</a:t>
                      </a:r>
                      <a:r>
                        <a:rPr sz="1400" b="1" spc="-120" dirty="0">
                          <a:solidFill>
                            <a:srgbClr val="344B5E"/>
                          </a:solidFill>
                          <a:latin typeface="Trebuchet MS" panose="020B0603020202020204"/>
                          <a:cs typeface="Trebuchet MS" panose="020B0603020202020204"/>
                        </a:rPr>
                        <a:t> </a:t>
                      </a:r>
                      <a:r>
                        <a:rPr sz="1400" b="1" spc="10" dirty="0">
                          <a:solidFill>
                            <a:srgbClr val="344B5E"/>
                          </a:solidFill>
                          <a:latin typeface="Trebuchet MS" panose="020B0603020202020204"/>
                          <a:cs typeface="Trebuchet MS" panose="020B0603020202020204"/>
                        </a:rPr>
                        <a:t>Label</a:t>
                      </a:r>
                      <a:endParaRPr sz="1400">
                        <a:latin typeface="Trebuchet MS" panose="020B0603020202020204"/>
                        <a:cs typeface="Trebuchet MS" panose="020B0603020202020204"/>
                      </a:endParaRPr>
                    </a:p>
                  </a:txBody>
                  <a:tcPr marL="0" marR="0" marT="113030" marB="0">
                    <a:lnB w="12700">
                      <a:solidFill>
                        <a:srgbClr val="344B5E"/>
                      </a:solidFill>
                      <a:prstDash val="solid"/>
                    </a:lnB>
                    <a:solidFill>
                      <a:srgbClr val="FFFFFF"/>
                    </a:solidFill>
                  </a:tcPr>
                </a:tc>
                <a:tc>
                  <a:txBody>
                    <a:bodyPr/>
                    <a:lstStyle/>
                    <a:p>
                      <a:pPr algn="ctr">
                        <a:lnSpc>
                          <a:spcPct val="100000"/>
                        </a:lnSpc>
                        <a:spcBef>
                          <a:spcPts val="890"/>
                        </a:spcBef>
                      </a:pPr>
                      <a:r>
                        <a:rPr sz="1400" b="1" spc="20" dirty="0">
                          <a:solidFill>
                            <a:srgbClr val="344B5E"/>
                          </a:solidFill>
                          <a:latin typeface="Trebuchet MS" panose="020B0603020202020204"/>
                          <a:cs typeface="Trebuchet MS" panose="020B0603020202020204"/>
                        </a:rPr>
                        <a:t>9/14</a:t>
                      </a:r>
                      <a:endParaRPr sz="1400">
                        <a:latin typeface="Trebuchet MS" panose="020B0603020202020204"/>
                        <a:cs typeface="Trebuchet MS" panose="020B0603020202020204"/>
                      </a:endParaRPr>
                    </a:p>
                  </a:txBody>
                  <a:tcPr marL="0" marR="0" marT="113030" marB="0">
                    <a:lnB w="12700">
                      <a:solidFill>
                        <a:srgbClr val="344B5E"/>
                      </a:solidFill>
                      <a:prstDash val="solid"/>
                    </a:lnB>
                    <a:solidFill>
                      <a:srgbClr val="FFFFFF"/>
                    </a:solidFill>
                  </a:tcPr>
                </a:tc>
                <a:tc>
                  <a:txBody>
                    <a:bodyPr/>
                    <a:lstStyle/>
                    <a:p>
                      <a:pPr marR="8255" algn="ctr">
                        <a:lnSpc>
                          <a:spcPct val="100000"/>
                        </a:lnSpc>
                        <a:spcBef>
                          <a:spcPts val="890"/>
                        </a:spcBef>
                      </a:pPr>
                      <a:r>
                        <a:rPr sz="1400" b="1" spc="20" dirty="0">
                          <a:solidFill>
                            <a:srgbClr val="344B5E"/>
                          </a:solidFill>
                          <a:latin typeface="Trebuchet MS" panose="020B0603020202020204"/>
                          <a:cs typeface="Trebuchet MS" panose="020B0603020202020204"/>
                        </a:rPr>
                        <a:t>5/14</a:t>
                      </a:r>
                      <a:endParaRPr sz="1400">
                        <a:latin typeface="Trebuchet MS" panose="020B0603020202020204"/>
                        <a:cs typeface="Trebuchet MS" panose="020B0603020202020204"/>
                      </a:endParaRPr>
                    </a:p>
                  </a:txBody>
                  <a:tcPr marL="0" marR="0" marT="113030" marB="0">
                    <a:lnB w="12700">
                      <a:solidFill>
                        <a:srgbClr val="344B5E"/>
                      </a:solidFill>
                      <a:prstDash val="solid"/>
                    </a:lnB>
                    <a:solidFill>
                      <a:srgbClr val="FFFFFF"/>
                    </a:solidFill>
                  </a:tcPr>
                </a:tc>
                <a:extLst>
                  <a:ext uri="{0D108BD9-81ED-4DB2-BD59-A6C34878D82A}">
                    <a16:rowId xmlns:a16="http://schemas.microsoft.com/office/drawing/2014/main" val="10005"/>
                  </a:ext>
                </a:extLst>
              </a:tr>
              <a:tr h="456565">
                <a:tc>
                  <a:txBody>
                    <a:bodyPr/>
                    <a:lstStyle/>
                    <a:p>
                      <a:pPr marL="12065" algn="ctr">
                        <a:lnSpc>
                          <a:spcPct val="100000"/>
                        </a:lnSpc>
                        <a:spcBef>
                          <a:spcPts val="860"/>
                        </a:spcBef>
                      </a:pPr>
                      <a:r>
                        <a:rPr sz="1400" b="1" spc="10" dirty="0">
                          <a:solidFill>
                            <a:srgbClr val="FFFFFF"/>
                          </a:solidFill>
                          <a:latin typeface="Trebuchet MS" panose="020B0603020202020204"/>
                          <a:cs typeface="Trebuchet MS" panose="020B0603020202020204"/>
                        </a:rPr>
                        <a:t>Probability</a:t>
                      </a:r>
                      <a:endParaRPr sz="1400">
                        <a:latin typeface="Trebuchet MS" panose="020B0603020202020204"/>
                        <a:cs typeface="Trebuchet MS" panose="020B0603020202020204"/>
                      </a:endParaRPr>
                    </a:p>
                  </a:txBody>
                  <a:tcPr marL="0" marR="0" marT="109220" marB="0">
                    <a:lnT w="12700">
                      <a:solidFill>
                        <a:srgbClr val="344B5E"/>
                      </a:solidFill>
                      <a:prstDash val="solid"/>
                    </a:lnT>
                    <a:solidFill>
                      <a:srgbClr val="84ADAF"/>
                    </a:solidFill>
                  </a:tcPr>
                </a:tc>
                <a:tc>
                  <a:txBody>
                    <a:bodyPr/>
                    <a:lstStyle/>
                    <a:p>
                      <a:pPr algn="ctr">
                        <a:lnSpc>
                          <a:spcPct val="100000"/>
                        </a:lnSpc>
                        <a:spcBef>
                          <a:spcPts val="860"/>
                        </a:spcBef>
                      </a:pPr>
                      <a:r>
                        <a:rPr sz="1400" b="1" spc="-15" dirty="0">
                          <a:solidFill>
                            <a:srgbClr val="FFFFFF"/>
                          </a:solidFill>
                          <a:latin typeface="Trebuchet MS" panose="020B0603020202020204"/>
                          <a:cs typeface="Trebuchet MS" panose="020B0603020202020204"/>
                        </a:rPr>
                        <a:t>0.0053</a:t>
                      </a:r>
                      <a:endParaRPr sz="1400">
                        <a:latin typeface="Trebuchet MS" panose="020B0603020202020204"/>
                        <a:cs typeface="Trebuchet MS" panose="020B0603020202020204"/>
                      </a:endParaRPr>
                    </a:p>
                  </a:txBody>
                  <a:tcPr marL="0" marR="0" marT="109220" marB="0">
                    <a:lnT w="12700">
                      <a:solidFill>
                        <a:srgbClr val="344B5E"/>
                      </a:solidFill>
                      <a:prstDash val="solid"/>
                    </a:lnT>
                    <a:solidFill>
                      <a:srgbClr val="84ADAF"/>
                    </a:solidFill>
                  </a:tcPr>
                </a:tc>
                <a:tc>
                  <a:txBody>
                    <a:bodyPr/>
                    <a:lstStyle/>
                    <a:p>
                      <a:pPr marR="8255" algn="ctr">
                        <a:lnSpc>
                          <a:spcPct val="100000"/>
                        </a:lnSpc>
                        <a:spcBef>
                          <a:spcPts val="860"/>
                        </a:spcBef>
                      </a:pPr>
                      <a:r>
                        <a:rPr sz="1400" b="1" spc="-15" dirty="0">
                          <a:solidFill>
                            <a:srgbClr val="FFFFFF"/>
                          </a:solidFill>
                          <a:latin typeface="Trebuchet MS" panose="020B0603020202020204"/>
                          <a:cs typeface="Trebuchet MS" panose="020B0603020202020204"/>
                        </a:rPr>
                        <a:t>0.0206</a:t>
                      </a:r>
                      <a:endParaRPr sz="1400" dirty="0">
                        <a:latin typeface="Trebuchet MS" panose="020B0603020202020204"/>
                        <a:cs typeface="Trebuchet MS" panose="020B0603020202020204"/>
                      </a:endParaRPr>
                    </a:p>
                  </a:txBody>
                  <a:tcPr marL="0" marR="0" marT="109220" marB="0">
                    <a:lnT w="12700">
                      <a:solidFill>
                        <a:srgbClr val="344B5E"/>
                      </a:solidFill>
                      <a:prstDash val="solid"/>
                    </a:lnT>
                    <a:solidFill>
                      <a:srgbClr val="84ADAF"/>
                    </a:solidFill>
                  </a:tcPr>
                </a:tc>
                <a:extLst>
                  <a:ext uri="{0D108BD9-81ED-4DB2-BD59-A6C34878D82A}">
                    <a16:rowId xmlns:a16="http://schemas.microsoft.com/office/drawing/2014/main" val="10006"/>
                  </a:ext>
                </a:extLst>
              </a:tr>
            </a:tbl>
          </a:graphicData>
        </a:graphic>
      </p:graphicFrame>
      <p:sp>
        <p:nvSpPr>
          <p:cNvPr id="9" name="object 3"/>
          <p:cNvSpPr txBox="1">
            <a:spLocks noGrp="1"/>
          </p:cNvSpPr>
          <p:nvPr>
            <p:ph type="title"/>
          </p:nvPr>
        </p:nvSpPr>
        <p:spPr>
          <a:xfrm>
            <a:off x="590637" y="935021"/>
            <a:ext cx="5601375" cy="663002"/>
          </a:xfrm>
          <a:prstGeom prst="rect">
            <a:avLst/>
          </a:prstGeom>
        </p:spPr>
        <p:txBody>
          <a:bodyPr vert="horz" wrap="square" lIns="0" tIns="107950" rIns="0" bIns="0" rtlCol="0" anchor="ctr">
            <a:spAutoFit/>
          </a:bodyPr>
          <a:lstStyle/>
          <a:p>
            <a:pPr marL="12700" marR="5080" algn="l">
              <a:spcBef>
                <a:spcPts val="850"/>
              </a:spcBef>
            </a:pPr>
            <a:r>
              <a:rPr lang="zh-CN" altLang="en-US" sz="4000" dirty="0"/>
              <a:t>案例：预测打网球</a:t>
            </a:r>
            <a:endParaRPr sz="4000" spc="-700" dirty="0"/>
          </a:p>
        </p:txBody>
      </p:sp>
      <p:sp>
        <p:nvSpPr>
          <p:cNvPr id="10" name="object 4"/>
          <p:cNvSpPr txBox="1"/>
          <p:nvPr/>
        </p:nvSpPr>
        <p:spPr>
          <a:xfrm>
            <a:off x="592668" y="2089991"/>
            <a:ext cx="5300133" cy="1053494"/>
          </a:xfrm>
          <a:prstGeom prst="rect">
            <a:avLst/>
          </a:prstGeom>
        </p:spPr>
        <p:txBody>
          <a:bodyPr vert="horz" wrap="square" lIns="0" tIns="65405" rIns="0" bIns="0" rtlCol="0">
            <a:spAutoFit/>
          </a:bodyPr>
          <a:lstStyle/>
          <a:p>
            <a:pPr marL="12700">
              <a:spcBef>
                <a:spcPts val="515"/>
              </a:spcBef>
            </a:pPr>
            <a:r>
              <a:rPr lang="zh-CN" altLang="en-US" sz="2000" b="1" dirty="0">
                <a:latin typeface="Trebuchet MS" panose="020B0603020202020204"/>
                <a:cs typeface="Trebuchet MS" panose="020B0603020202020204"/>
              </a:rPr>
              <a:t>预测结果：</a:t>
            </a:r>
            <a:endParaRPr lang="en-US" altLang="zh-CN" sz="2000" b="1" dirty="0">
              <a:latin typeface="Trebuchet MS" panose="020B0603020202020204"/>
              <a:cs typeface="Trebuchet MS" panose="020B0603020202020204"/>
            </a:endParaRPr>
          </a:p>
          <a:p>
            <a:pPr marL="12700">
              <a:spcBef>
                <a:spcPts val="515"/>
              </a:spcBef>
            </a:pPr>
            <a:r>
              <a:rPr sz="2000" dirty="0">
                <a:latin typeface="Arial" panose="020B0604020202020204"/>
                <a:cs typeface="Arial" panose="020B0604020202020204"/>
              </a:rPr>
              <a:t>x’=(Outlook=Sunny, Temperature=Cool,  Humidity=High, Wind=Strong)</a:t>
            </a:r>
          </a:p>
        </p:txBody>
      </p:sp>
      <p:sp>
        <p:nvSpPr>
          <p:cNvPr id="3" name="矩形 2"/>
          <p:cNvSpPr/>
          <p:nvPr/>
        </p:nvSpPr>
        <p:spPr>
          <a:xfrm>
            <a:off x="675388" y="3877380"/>
            <a:ext cx="4764125" cy="369332"/>
          </a:xfrm>
          <a:prstGeom prst="rect">
            <a:avLst/>
          </a:prstGeom>
        </p:spPr>
        <p:txBody>
          <a:bodyPr wrap="none">
            <a:spAutoFit/>
          </a:bodyPr>
          <a:lstStyle/>
          <a:p>
            <a:r>
              <a:rPr lang="en-US" altLang="zh-CN" b="1" spc="5" dirty="0">
                <a:solidFill>
                  <a:srgbClr val="000000"/>
                </a:solidFill>
                <a:latin typeface="Trebuchet MS" panose="020B0603020202020204"/>
                <a:cs typeface="Trebuchet MS" panose="020B0603020202020204"/>
              </a:rPr>
              <a:t>P(Play=Yes)</a:t>
            </a:r>
            <a:r>
              <a:rPr lang="en-US" altLang="zh-CN" b="1" spc="-35" dirty="0">
                <a:solidFill>
                  <a:srgbClr val="000000"/>
                </a:solidFill>
                <a:latin typeface="Trebuchet MS" panose="020B0603020202020204"/>
                <a:cs typeface="Trebuchet MS" panose="020B0603020202020204"/>
              </a:rPr>
              <a:t> </a:t>
            </a:r>
            <a:r>
              <a:rPr lang="en-US" altLang="zh-CN" b="1" spc="10" dirty="0">
                <a:solidFill>
                  <a:srgbClr val="000000"/>
                </a:solidFill>
                <a:latin typeface="Trebuchet MS" panose="020B0603020202020204"/>
                <a:cs typeface="Trebuchet MS" panose="020B0603020202020204"/>
              </a:rPr>
              <a:t>=</a:t>
            </a:r>
            <a:r>
              <a:rPr lang="en-US" altLang="zh-CN" b="1" spc="-90" dirty="0">
                <a:solidFill>
                  <a:srgbClr val="000000"/>
                </a:solidFill>
                <a:latin typeface="Trebuchet MS" panose="020B0603020202020204"/>
                <a:cs typeface="Trebuchet MS" panose="020B0603020202020204"/>
              </a:rPr>
              <a:t> 2/9*3/9*3/9*3/9*</a:t>
            </a:r>
            <a:r>
              <a:rPr lang="en-US" altLang="zh-CN" b="1" spc="25" dirty="0">
                <a:solidFill>
                  <a:srgbClr val="000000"/>
                </a:solidFill>
                <a:latin typeface="Trebuchet MS" panose="020B0603020202020204"/>
                <a:cs typeface="Trebuchet MS" panose="020B0603020202020204"/>
              </a:rPr>
              <a:t>9/14=0.0053</a:t>
            </a:r>
            <a:endParaRPr lang="zh-CN" altLang="en-US" dirty="0"/>
          </a:p>
        </p:txBody>
      </p:sp>
      <p:sp>
        <p:nvSpPr>
          <p:cNvPr id="7" name="矩形 6"/>
          <p:cNvSpPr/>
          <p:nvPr/>
        </p:nvSpPr>
        <p:spPr>
          <a:xfrm>
            <a:off x="675387" y="4522327"/>
            <a:ext cx="4694875" cy="369332"/>
          </a:xfrm>
          <a:prstGeom prst="rect">
            <a:avLst/>
          </a:prstGeom>
        </p:spPr>
        <p:txBody>
          <a:bodyPr wrap="none">
            <a:spAutoFit/>
          </a:bodyPr>
          <a:lstStyle/>
          <a:p>
            <a:r>
              <a:rPr lang="en-US" altLang="zh-CN" b="1" spc="5" dirty="0">
                <a:solidFill>
                  <a:srgbClr val="000000"/>
                </a:solidFill>
                <a:latin typeface="Trebuchet MS" panose="020B0603020202020204"/>
                <a:cs typeface="Trebuchet MS" panose="020B0603020202020204"/>
              </a:rPr>
              <a:t>P(Play=No)</a:t>
            </a:r>
            <a:r>
              <a:rPr lang="en-US" altLang="zh-CN" b="1" spc="-35" dirty="0">
                <a:solidFill>
                  <a:srgbClr val="000000"/>
                </a:solidFill>
                <a:latin typeface="Trebuchet MS" panose="020B0603020202020204"/>
                <a:cs typeface="Trebuchet MS" panose="020B0603020202020204"/>
              </a:rPr>
              <a:t> </a:t>
            </a:r>
            <a:r>
              <a:rPr lang="en-US" altLang="zh-CN" b="1" spc="10" dirty="0">
                <a:solidFill>
                  <a:srgbClr val="000000"/>
                </a:solidFill>
                <a:latin typeface="Trebuchet MS" panose="020B0603020202020204"/>
                <a:cs typeface="Trebuchet MS" panose="020B0603020202020204"/>
              </a:rPr>
              <a:t>=</a:t>
            </a:r>
            <a:r>
              <a:rPr lang="en-US" altLang="zh-CN" b="1" spc="-90" dirty="0">
                <a:solidFill>
                  <a:srgbClr val="000000"/>
                </a:solidFill>
                <a:latin typeface="Trebuchet MS" panose="020B0603020202020204"/>
                <a:cs typeface="Trebuchet MS" panose="020B0603020202020204"/>
              </a:rPr>
              <a:t> 3/5*1/5*4/5*3/5*</a:t>
            </a:r>
            <a:r>
              <a:rPr lang="en-US" altLang="zh-CN" b="1" spc="25" dirty="0">
                <a:solidFill>
                  <a:srgbClr val="000000"/>
                </a:solidFill>
                <a:latin typeface="Trebuchet MS" panose="020B0603020202020204"/>
                <a:cs typeface="Trebuchet MS" panose="020B0603020202020204"/>
              </a:rPr>
              <a:t>5/14=0.0206</a:t>
            </a:r>
            <a:endParaRPr lang="zh-CN" altLang="en-US" dirty="0"/>
          </a:p>
        </p:txBody>
      </p:sp>
      <p:sp>
        <p:nvSpPr>
          <p:cNvPr id="4" name="椭圆 3"/>
          <p:cNvSpPr/>
          <p:nvPr/>
        </p:nvSpPr>
        <p:spPr>
          <a:xfrm>
            <a:off x="10535920" y="4420727"/>
            <a:ext cx="1039200" cy="3693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3"/>
          <p:cNvSpPr txBox="1">
            <a:spLocks noGrp="1"/>
          </p:cNvSpPr>
          <p:nvPr>
            <p:ph type="title"/>
          </p:nvPr>
        </p:nvSpPr>
        <p:spPr>
          <a:xfrm>
            <a:off x="519517" y="233289"/>
            <a:ext cx="5515523" cy="607602"/>
          </a:xfrm>
          <a:prstGeom prst="rect">
            <a:avLst/>
          </a:prstGeom>
        </p:spPr>
        <p:txBody>
          <a:bodyPr vert="horz" wrap="square" lIns="0" tIns="107950" rIns="0" bIns="0" rtlCol="0" anchor="ctr">
            <a:spAutoFit/>
          </a:bodyPr>
          <a:lstStyle/>
          <a:p>
            <a:pPr marL="12700" marR="5080">
              <a:spcBef>
                <a:spcPts val="850"/>
              </a:spcBef>
            </a:pPr>
            <a:r>
              <a:rPr lang="zh-CN" altLang="en-US" sz="3600" dirty="0"/>
              <a:t>案例：预测西瓜好坏</a:t>
            </a:r>
            <a:endParaRPr sz="3600" spc="-700"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2560" y="792419"/>
            <a:ext cx="9052560" cy="6065581"/>
          </a:xfrm>
          <a:prstGeom prst="rect">
            <a:avLst/>
          </a:prstGeom>
        </p:spPr>
      </p:pic>
      <p:sp>
        <p:nvSpPr>
          <p:cNvPr id="8" name="矩形 7"/>
          <p:cNvSpPr/>
          <p:nvPr/>
        </p:nvSpPr>
        <p:spPr>
          <a:xfrm>
            <a:off x="2509520" y="2133600"/>
            <a:ext cx="467360" cy="21336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509520" y="2883051"/>
            <a:ext cx="467360" cy="21336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509520" y="3332480"/>
            <a:ext cx="467360" cy="21336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509520" y="4297680"/>
            <a:ext cx="467360" cy="23368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509520" y="5049520"/>
            <a:ext cx="467360" cy="23368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509520" y="6035040"/>
            <a:ext cx="467360" cy="23368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flipV="1">
            <a:off x="3246798" y="3332478"/>
            <a:ext cx="467360" cy="72136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3277278" y="4064000"/>
            <a:ext cx="467360" cy="23368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3277278" y="5049520"/>
            <a:ext cx="467360" cy="6604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flipV="1">
            <a:off x="4053840" y="2137484"/>
            <a:ext cx="467360" cy="20947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flipV="1">
            <a:off x="4053840" y="2630993"/>
            <a:ext cx="467360" cy="20947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flipV="1">
            <a:off x="4053840" y="3096410"/>
            <a:ext cx="467360" cy="957428"/>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988478" y="4815840"/>
            <a:ext cx="467360" cy="46736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3998638" y="5561850"/>
            <a:ext cx="467360" cy="46736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flipV="1">
            <a:off x="4765040" y="2165571"/>
            <a:ext cx="467360" cy="1380268"/>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flipV="1">
            <a:off x="4799922" y="3825209"/>
            <a:ext cx="467360" cy="20947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4765040" y="4297680"/>
            <a:ext cx="467360" cy="296134"/>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flipV="1">
            <a:off x="4765040" y="5486400"/>
            <a:ext cx="467360" cy="31496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7914640" y="5969000"/>
            <a:ext cx="1706880" cy="5994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好瓜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wipe(left)">
                                      <p:cBhvr>
                                        <p:cTn id="5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17684" y="765899"/>
            <a:ext cx="6036053" cy="567463"/>
          </a:xfrm>
          <a:prstGeom prst="rect">
            <a:avLst/>
          </a:prstGeom>
        </p:spPr>
        <p:txBody>
          <a:bodyPr vert="horz" wrap="square" lIns="0" tIns="13335" rIns="0" bIns="0" rtlCol="0" anchor="ctr">
            <a:spAutoFit/>
          </a:bodyPr>
          <a:lstStyle/>
          <a:p>
            <a:pPr marL="12700">
              <a:spcBef>
                <a:spcPts val="105"/>
              </a:spcBef>
            </a:pPr>
            <a:r>
              <a:rPr lang="zh-CN" altLang="en-US" sz="4000" dirty="0"/>
              <a:t>拉普拉斯平滑技术</a:t>
            </a:r>
            <a:endParaRPr sz="4000" dirty="0"/>
          </a:p>
        </p:txBody>
      </p:sp>
      <p:sp>
        <p:nvSpPr>
          <p:cNvPr id="4" name="object 4"/>
          <p:cNvSpPr txBox="1"/>
          <p:nvPr/>
        </p:nvSpPr>
        <p:spPr>
          <a:xfrm>
            <a:off x="590635" y="1926844"/>
            <a:ext cx="2902373" cy="935513"/>
          </a:xfrm>
          <a:prstGeom prst="rect">
            <a:avLst/>
          </a:prstGeom>
        </p:spPr>
        <p:txBody>
          <a:bodyPr vert="horz" wrap="square" lIns="0" tIns="12065" rIns="0" bIns="0" rtlCol="0">
            <a:spAutoFit/>
          </a:bodyPr>
          <a:lstStyle/>
          <a:p>
            <a:pPr marL="12700" marR="5080">
              <a:spcBef>
                <a:spcPts val="95"/>
              </a:spcBef>
            </a:pPr>
            <a:r>
              <a:rPr lang="zh-CN" altLang="en-US" sz="2000" b="1" dirty="0">
                <a:latin typeface="Trebuchet MS" panose="020B0603020202020204"/>
                <a:cs typeface="Trebuchet MS" panose="020B0603020202020204"/>
              </a:rPr>
              <a:t>问题：</a:t>
            </a:r>
            <a:r>
              <a:rPr lang="zh-CN" altLang="en-US" sz="2000" dirty="0">
                <a:latin typeface="Trebuchet MS" panose="020B0603020202020204"/>
                <a:cs typeface="Trebuchet MS" panose="020B0603020202020204"/>
              </a:rPr>
              <a:t>有些类别里没有的特征将会导致这些条件概率值为</a:t>
            </a:r>
            <a:r>
              <a:rPr sz="2000" dirty="0">
                <a:latin typeface="Arial" panose="020B0604020202020204"/>
                <a:cs typeface="Arial" panose="020B0604020202020204"/>
              </a:rPr>
              <a:t>"0"</a:t>
            </a:r>
          </a:p>
        </p:txBody>
      </p:sp>
      <p:sp>
        <p:nvSpPr>
          <p:cNvPr id="5" name="文本框 4"/>
          <p:cNvSpPr txBox="1"/>
          <p:nvPr/>
        </p:nvSpPr>
        <p:spPr>
          <a:xfrm flipH="1">
            <a:off x="6247997" y="1484785"/>
            <a:ext cx="384043" cy="584775"/>
          </a:xfrm>
          <a:prstGeom prst="rect">
            <a:avLst/>
          </a:prstGeom>
          <a:noFill/>
        </p:spPr>
        <p:txBody>
          <a:bodyPr wrap="square" rtlCol="0">
            <a:spAutoFit/>
          </a:bodyPr>
          <a:lstStyle/>
          <a:p>
            <a:r>
              <a:rPr lang="en-US" altLang="zh-CN" sz="3200" dirty="0">
                <a:solidFill>
                  <a:srgbClr val="FF0000"/>
                </a:solidFill>
              </a:rPr>
              <a:t>0</a:t>
            </a:r>
            <a:endParaRPr lang="zh-CN" altLang="en-US" sz="3200" dirty="0">
              <a:solidFill>
                <a:srgbClr val="FF0000"/>
              </a:solidFill>
            </a:endParaRPr>
          </a:p>
        </p:txBody>
      </p:sp>
      <p:pic>
        <p:nvPicPr>
          <p:cNvPr id="6" name="图片 5"/>
          <p:cNvPicPr>
            <a:picLocks noChangeAspect="1"/>
          </p:cNvPicPr>
          <p:nvPr/>
        </p:nvPicPr>
        <p:blipFill>
          <a:blip r:embed="rId2" cstate="print"/>
          <a:stretch>
            <a:fillRect/>
          </a:stretch>
        </p:blipFill>
        <p:spPr>
          <a:xfrm>
            <a:off x="3635711" y="1926843"/>
            <a:ext cx="8544956" cy="3744416"/>
          </a:xfrm>
          <a:prstGeom prst="rect">
            <a:avLst/>
          </a:prstGeom>
        </p:spPr>
      </p:pic>
      <p:sp>
        <p:nvSpPr>
          <p:cNvPr id="7" name="object 4"/>
          <p:cNvSpPr txBox="1"/>
          <p:nvPr/>
        </p:nvSpPr>
        <p:spPr>
          <a:xfrm>
            <a:off x="527382" y="3481856"/>
            <a:ext cx="3108329" cy="627736"/>
          </a:xfrm>
          <a:prstGeom prst="rect">
            <a:avLst/>
          </a:prstGeom>
        </p:spPr>
        <p:txBody>
          <a:bodyPr vert="horz" wrap="square" lIns="0" tIns="12065" rIns="0" bIns="0" rtlCol="0">
            <a:spAutoFit/>
          </a:bodyPr>
          <a:lstStyle/>
          <a:p>
            <a:pPr marL="12700" marR="5080">
              <a:spcBef>
                <a:spcPts val="95"/>
              </a:spcBef>
            </a:pPr>
            <a:r>
              <a:rPr lang="zh-CN" altLang="en-US" sz="2000" b="1" dirty="0">
                <a:latin typeface="Trebuchet MS" panose="020B0603020202020204"/>
                <a:cs typeface="Trebuchet MS" panose="020B0603020202020204"/>
              </a:rPr>
              <a:t>解决方案：</a:t>
            </a:r>
            <a:r>
              <a:rPr lang="zh-CN" altLang="en-US" sz="2000" dirty="0">
                <a:latin typeface="Trebuchet MS" panose="020B0603020202020204"/>
                <a:cs typeface="Trebuchet MS" panose="020B0603020202020204"/>
              </a:rPr>
              <a:t>在这些条件概率的分子和分母上各加</a:t>
            </a:r>
            <a:r>
              <a:rPr lang="en-US" altLang="zh-CN" sz="2000" dirty="0">
                <a:latin typeface="Trebuchet MS" panose="020B0603020202020204"/>
                <a:cs typeface="Trebuchet MS" panose="020B0603020202020204"/>
              </a:rPr>
              <a:t>1</a:t>
            </a:r>
            <a:endParaRPr sz="2000" dirty="0">
              <a:latin typeface="Arial" panose="020B0604020202020204"/>
              <a:cs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算法概述</a:t>
            </a:r>
          </a:p>
        </p:txBody>
      </p:sp>
      <p:sp>
        <p:nvSpPr>
          <p:cNvPr id="3" name="文本框 2"/>
          <p:cNvSpPr txBox="1"/>
          <p:nvPr/>
        </p:nvSpPr>
        <p:spPr>
          <a:xfrm>
            <a:off x="588390" y="1172995"/>
            <a:ext cx="11043139" cy="4524315"/>
          </a:xfrm>
          <a:prstGeom prst="rect">
            <a:avLst/>
          </a:prstGeom>
          <a:noFill/>
        </p:spPr>
        <p:txBody>
          <a:bodyPr wrap="square" rtlCol="0">
            <a:spAutoFit/>
          </a:bodyPr>
          <a:lstStyle/>
          <a:p>
            <a:pPr marL="457200" indent="-457200" algn="just" latinLnBrk="1">
              <a:lnSpc>
                <a:spcPct val="150000"/>
              </a:lnSpc>
              <a:buFont typeface="Wingdings" panose="05000000000000000000" pitchFamily="2" charset="2"/>
              <a:buChar char="Ø"/>
            </a:pPr>
            <a:r>
              <a:rPr lang="zh-CN" altLang="en-US" sz="2400" dirty="0">
                <a:latin typeface="Times New Roman" panose="02020603050405020304" pitchFamily="18" charset="0"/>
                <a:cs typeface="Times New Roman" panose="02020603050405020304" pitchFamily="18" charset="0"/>
              </a:rPr>
              <a:t>对于给定的训练数据集，首先基于特征属性独立假设学习</a:t>
            </a:r>
            <a:r>
              <a:rPr lang="zh-CN" altLang="en-US" sz="2400" b="1" dirty="0">
                <a:latin typeface="Times New Roman" panose="02020603050405020304" pitchFamily="18" charset="0"/>
                <a:cs typeface="Times New Roman" panose="02020603050405020304" pitchFamily="18" charset="0"/>
              </a:rPr>
              <a:t>输入</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输出的联合概率分布</a:t>
            </a:r>
            <a:r>
              <a:rPr lang="zh-CN" altLang="en-US" sz="2400" dirty="0">
                <a:latin typeface="Times New Roman" panose="02020603050405020304" pitchFamily="18" charset="0"/>
                <a:cs typeface="Times New Roman" panose="02020603050405020304" pitchFamily="18" charset="0"/>
              </a:rPr>
              <a:t>，然后基于此模型，对给定的输入，利用贝叶斯定理估计后验概率最大的输出。</a:t>
            </a:r>
            <a:endParaRPr lang="en-US" altLang="zh-CN" sz="2400" dirty="0">
              <a:latin typeface="Times New Roman" panose="02020603050405020304" pitchFamily="18" charset="0"/>
              <a:cs typeface="Times New Roman" panose="02020603050405020304" pitchFamily="18" charset="0"/>
            </a:endParaRPr>
          </a:p>
          <a:p>
            <a:pPr marL="457200" indent="-457200" latinLnBrk="1">
              <a:lnSpc>
                <a:spcPct val="150000"/>
              </a:lnSpc>
              <a:buFont typeface="Wingdings" panose="05000000000000000000" pitchFamily="2" charset="2"/>
              <a:buChar char="Ø"/>
            </a:pPr>
            <a:r>
              <a:rPr lang="zh-CN" altLang="en-US" sz="2400" dirty="0">
                <a:latin typeface="Times New Roman" panose="02020603050405020304" pitchFamily="18" charset="0"/>
                <a:cs typeface="Times New Roman" panose="02020603050405020304" pitchFamily="18" charset="0"/>
              </a:rPr>
              <a:t>朴素贝叶斯有稳定的分类效率，在大量样本下会有较好的表现，对小规模的数据仍然有效，能处理多分类任务。再有，朴素贝叶斯适合增量式训练，即可以实时对新增样本进行训练。</a:t>
            </a:r>
            <a:endParaRPr lang="en-US" altLang="zh-CN" sz="2400" dirty="0">
              <a:latin typeface="Times New Roman" panose="02020603050405020304" pitchFamily="18" charset="0"/>
              <a:cs typeface="Times New Roman" panose="02020603050405020304" pitchFamily="18" charset="0"/>
            </a:endParaRPr>
          </a:p>
          <a:p>
            <a:pPr marL="457200" indent="-457200" latinLnBrk="1">
              <a:lnSpc>
                <a:spcPct val="150000"/>
              </a:lnSpc>
              <a:buFont typeface="Wingdings" panose="05000000000000000000" pitchFamily="2" charset="2"/>
              <a:buChar char="Ø"/>
            </a:pPr>
            <a:r>
              <a:rPr lang="zh-CN" altLang="en-US" sz="2400" dirty="0">
                <a:latin typeface="Times New Roman" panose="02020603050405020304" pitchFamily="18" charset="0"/>
                <a:cs typeface="Times New Roman" panose="02020603050405020304" pitchFamily="18" charset="0"/>
              </a:rPr>
              <a:t>朴素贝叶斯对缺失数据不太敏感，常用于文本分类识别、欺诈检测、垃圾邮件过滤、拼写检查等领域。</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02</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5358843" y="2402420"/>
            <a:ext cx="6109365"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算法流程与实现</a:t>
            </a: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3108" y="299796"/>
            <a:ext cx="8015583" cy="535531"/>
          </a:xfrm>
        </p:spPr>
        <p:txBody>
          <a:bodyPr/>
          <a:lstStyle/>
          <a:p>
            <a:r>
              <a:rPr lang="zh-CN" altLang="en-US" dirty="0"/>
              <a:t>算法流程</a:t>
            </a:r>
          </a:p>
        </p:txBody>
      </p:sp>
      <p:sp>
        <p:nvSpPr>
          <p:cNvPr id="8" name="矩形: 圆角 7"/>
          <p:cNvSpPr/>
          <p:nvPr/>
        </p:nvSpPr>
        <p:spPr>
          <a:xfrm>
            <a:off x="5681004" y="1271425"/>
            <a:ext cx="829993" cy="412819"/>
          </a:xfrm>
          <a:prstGeom prst="roundRect">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开始</a:t>
            </a:r>
          </a:p>
        </p:txBody>
      </p:sp>
      <p:sp>
        <p:nvSpPr>
          <p:cNvPr id="9" name="矩形 8"/>
          <p:cNvSpPr/>
          <p:nvPr/>
        </p:nvSpPr>
        <p:spPr>
          <a:xfrm>
            <a:off x="4287129" y="1867594"/>
            <a:ext cx="3617741" cy="535531"/>
          </a:xfrm>
          <a:prstGeom prst="rect">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确定特征属性，获取训练样本集合</a:t>
            </a:r>
          </a:p>
        </p:txBody>
      </p:sp>
      <p:sp>
        <p:nvSpPr>
          <p:cNvPr id="10" name="矩形 9"/>
          <p:cNvSpPr/>
          <p:nvPr/>
        </p:nvSpPr>
        <p:spPr>
          <a:xfrm>
            <a:off x="4844668" y="2602053"/>
            <a:ext cx="2502662" cy="535531"/>
          </a:xfrm>
          <a:prstGeom prst="rect">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计算各类别的先验概率</a:t>
            </a:r>
          </a:p>
        </p:txBody>
      </p:sp>
      <p:sp>
        <p:nvSpPr>
          <p:cNvPr id="11" name="矩形 10"/>
          <p:cNvSpPr/>
          <p:nvPr/>
        </p:nvSpPr>
        <p:spPr>
          <a:xfrm>
            <a:off x="4148057" y="3345892"/>
            <a:ext cx="3882684" cy="535531"/>
          </a:xfrm>
          <a:prstGeom prst="rect">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计算各类别下各特征属性的条件概率</a:t>
            </a:r>
          </a:p>
        </p:txBody>
      </p:sp>
      <p:sp>
        <p:nvSpPr>
          <p:cNvPr id="13" name="矩形 12"/>
          <p:cNvSpPr/>
          <p:nvPr/>
        </p:nvSpPr>
        <p:spPr>
          <a:xfrm>
            <a:off x="4850751" y="4113574"/>
            <a:ext cx="2477301" cy="535531"/>
          </a:xfrm>
          <a:prstGeom prst="rect">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计算各类别的后验概率</a:t>
            </a:r>
          </a:p>
        </p:txBody>
      </p:sp>
      <p:sp>
        <p:nvSpPr>
          <p:cNvPr id="14" name="矩形 13"/>
          <p:cNvSpPr/>
          <p:nvPr/>
        </p:nvSpPr>
        <p:spPr>
          <a:xfrm>
            <a:off x="4249093" y="4848458"/>
            <a:ext cx="3680611" cy="535531"/>
          </a:xfrm>
          <a:prstGeom prst="rect">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后验概率最大项作为样本所属类别</a:t>
            </a:r>
          </a:p>
        </p:txBody>
      </p:sp>
      <p:sp>
        <p:nvSpPr>
          <p:cNvPr id="18" name="矩形: 圆角 17"/>
          <p:cNvSpPr/>
          <p:nvPr/>
        </p:nvSpPr>
        <p:spPr>
          <a:xfrm>
            <a:off x="5674401" y="5583342"/>
            <a:ext cx="829993" cy="412819"/>
          </a:xfrm>
          <a:prstGeom prst="roundRect">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结束</a:t>
            </a:r>
          </a:p>
        </p:txBody>
      </p:sp>
      <p:cxnSp>
        <p:nvCxnSpPr>
          <p:cNvPr id="22" name="直接箭头连接符 21"/>
          <p:cNvCxnSpPr>
            <a:stCxn id="8" idx="2"/>
            <a:endCxn id="9" idx="0"/>
          </p:cNvCxnSpPr>
          <p:nvPr/>
        </p:nvCxnSpPr>
        <p:spPr>
          <a:xfrm flipH="1">
            <a:off x="6096000" y="1684244"/>
            <a:ext cx="1" cy="183350"/>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9" idx="2"/>
            <a:endCxn id="10" idx="0"/>
          </p:cNvCxnSpPr>
          <p:nvPr/>
        </p:nvCxnSpPr>
        <p:spPr>
          <a:xfrm flipH="1">
            <a:off x="6095999" y="2403125"/>
            <a:ext cx="1" cy="198928"/>
          </a:xfrm>
          <a:prstGeom prst="straightConnector1">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直接箭头连接符 29"/>
          <p:cNvCxnSpPr>
            <a:stCxn id="10" idx="2"/>
            <a:endCxn id="11" idx="0"/>
          </p:cNvCxnSpPr>
          <p:nvPr/>
        </p:nvCxnSpPr>
        <p:spPr>
          <a:xfrm flipH="1">
            <a:off x="6089399" y="3137584"/>
            <a:ext cx="6600" cy="208308"/>
          </a:xfrm>
          <a:prstGeom prst="straightConnector1">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直接箭头连接符 32"/>
          <p:cNvCxnSpPr>
            <a:stCxn id="11" idx="2"/>
            <a:endCxn id="13" idx="0"/>
          </p:cNvCxnSpPr>
          <p:nvPr/>
        </p:nvCxnSpPr>
        <p:spPr>
          <a:xfrm>
            <a:off x="6089399" y="3881423"/>
            <a:ext cx="3" cy="232151"/>
          </a:xfrm>
          <a:prstGeom prst="straightConnector1">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直接箭头连接符 34"/>
          <p:cNvCxnSpPr>
            <a:stCxn id="13" idx="2"/>
            <a:endCxn id="14" idx="0"/>
          </p:cNvCxnSpPr>
          <p:nvPr/>
        </p:nvCxnSpPr>
        <p:spPr>
          <a:xfrm flipH="1">
            <a:off x="6089399" y="4649105"/>
            <a:ext cx="3" cy="199353"/>
          </a:xfrm>
          <a:prstGeom prst="straightConnector1">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直接箭头连接符 38"/>
          <p:cNvCxnSpPr>
            <a:endCxn id="18" idx="0"/>
          </p:cNvCxnSpPr>
          <p:nvPr/>
        </p:nvCxnSpPr>
        <p:spPr>
          <a:xfrm flipH="1">
            <a:off x="6089398" y="5383989"/>
            <a:ext cx="1" cy="199353"/>
          </a:xfrm>
          <a:prstGeom prst="straightConnector1">
            <a:avLst/>
          </a:prstGeom>
          <a:no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12915" y="530908"/>
            <a:ext cx="1922171" cy="535531"/>
          </a:xfrm>
        </p:spPr>
        <p:txBody>
          <a:bodyPr/>
          <a:lstStyle/>
          <a:p>
            <a:r>
              <a:rPr lang="zh-CN" altLang="en-US" dirty="0"/>
              <a:t>算法步骤</a:t>
            </a:r>
          </a:p>
        </p:txBody>
      </p:sp>
      <mc:AlternateContent xmlns:mc="http://schemas.openxmlformats.org/markup-compatibility/2006" xmlns:a14="http://schemas.microsoft.com/office/drawing/2010/main">
        <mc:Choice Requires="a14">
          <p:sp>
            <p:nvSpPr>
              <p:cNvPr id="3" name="文本框 2"/>
              <p:cNvSpPr txBox="1"/>
              <p:nvPr/>
            </p:nvSpPr>
            <p:spPr>
              <a:xfrm>
                <a:off x="581464" y="1770821"/>
                <a:ext cx="11029071" cy="2461828"/>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altLang="zh-CN" sz="2800" b="1" dirty="0">
                    <a:solidFill>
                      <a:schemeClr val="accent1">
                        <a:lumMod val="50000"/>
                      </a:schemeClr>
                    </a:solidFill>
                    <a:latin typeface="Times New Roman" panose="02020603050405020304" pitchFamily="18" charset="0"/>
                    <a:cs typeface="Times New Roman" panose="02020603050405020304" pitchFamily="18" charset="0"/>
                  </a:rPr>
                  <a:t>1.</a:t>
                </a:r>
                <a:r>
                  <a:rPr lang="zh-CN" altLang="zh-CN" sz="2800" b="1" dirty="0">
                    <a:solidFill>
                      <a:schemeClr val="accent1">
                        <a:lumMod val="50000"/>
                      </a:schemeClr>
                    </a:solidFill>
                    <a:latin typeface="Times New Roman" panose="02020603050405020304" pitchFamily="18" charset="0"/>
                    <a:cs typeface="Times New Roman" panose="02020603050405020304" pitchFamily="18" charset="0"/>
                  </a:rPr>
                  <a:t>确定特征属性</a:t>
                </a:r>
                <a14:m>
                  <m:oMath xmlns:m="http://schemas.openxmlformats.org/officeDocument/2006/math">
                    <m:sSub>
                      <m:sSubPr>
                        <m:ctrlPr>
                          <a:rPr lang="zh-CN" altLang="zh-CN" sz="2800" b="1" i="1">
                            <a:solidFill>
                              <a:schemeClr val="accent1">
                                <a:lumMod val="50000"/>
                              </a:schemeClr>
                            </a:solidFill>
                            <a:latin typeface="Cambria Math" panose="02040503050406030204" pitchFamily="18" charset="0"/>
                            <a:cs typeface="Times New Roman" panose="02020603050405020304" pitchFamily="18" charset="0"/>
                          </a:rPr>
                        </m:ctrlPr>
                      </m:sSubPr>
                      <m:e>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𝒙</m:t>
                        </m:r>
                      </m:e>
                      <m:sub>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𝒋</m:t>
                        </m:r>
                      </m:sub>
                    </m:sSub>
                  </m:oMath>
                </a14:m>
                <a:r>
                  <a:rPr lang="zh-CN" altLang="zh-CN" sz="2800" b="1" dirty="0">
                    <a:solidFill>
                      <a:schemeClr val="accent1">
                        <a:lumMod val="50000"/>
                      </a:schemeClr>
                    </a:solidFill>
                    <a:latin typeface="Times New Roman" panose="02020603050405020304" pitchFamily="18" charset="0"/>
                    <a:cs typeface="Times New Roman" panose="02020603050405020304" pitchFamily="18" charset="0"/>
                  </a:rPr>
                  <a:t>，获取训练样本集合</a:t>
                </a:r>
                <a14:m>
                  <m:oMath xmlns:m="http://schemas.openxmlformats.org/officeDocument/2006/math">
                    <m:sSub>
                      <m:sSubPr>
                        <m:ctrlPr>
                          <a:rPr lang="zh-CN" altLang="zh-CN" sz="2800" b="1" i="1">
                            <a:solidFill>
                              <a:schemeClr val="accent1">
                                <a:lumMod val="50000"/>
                              </a:schemeClr>
                            </a:solidFill>
                            <a:latin typeface="Cambria Math" panose="02040503050406030204" pitchFamily="18" charset="0"/>
                            <a:cs typeface="Times New Roman" panose="02020603050405020304" pitchFamily="18" charset="0"/>
                          </a:rPr>
                        </m:ctrlPr>
                      </m:sSubPr>
                      <m:e>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𝒚</m:t>
                        </m:r>
                      </m:e>
                      <m:sub>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𝒊</m:t>
                        </m:r>
                      </m:sub>
                    </m:sSub>
                  </m:oMath>
                </a14:m>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该步骤的主要工作是根据具体情况确定特征属性，并对每个特征属性进行适当划分，然后人工对一部分待分类项进行分类，形成训练样本集合。这一阶段的输入是所有待分类数据，输出是特征属性和训练样本。</a:t>
                </a:r>
                <a:endParaRPr lang="en-US" altLang="zh-CN" sz="2400" dirty="0">
                  <a:latin typeface="Times New Roman" panose="02020603050405020304" pitchFamily="18" charset="0"/>
                  <a:cs typeface="Times New Roman" panose="020206030504050203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581464" y="1770821"/>
                <a:ext cx="11029071" cy="2461828"/>
              </a:xfrm>
              <a:prstGeom prst="rect">
                <a:avLst/>
              </a:prstGeom>
              <a:blipFill rotWithShape="1">
                <a:blip r:embed="rId3"/>
                <a:stretch>
                  <a:fillRect l="-4" t="-18" r="2" b="1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算法步骤</a:t>
            </a:r>
          </a:p>
        </p:txBody>
      </p:sp>
      <mc:AlternateContent xmlns:mc="http://schemas.openxmlformats.org/markup-compatibility/2006" xmlns:a14="http://schemas.microsoft.com/office/drawing/2010/main">
        <mc:Choice Requires="a14">
          <p:sp>
            <p:nvSpPr>
              <p:cNvPr id="3" name="文本框 2"/>
              <p:cNvSpPr txBox="1"/>
              <p:nvPr/>
            </p:nvSpPr>
            <p:spPr>
              <a:xfrm>
                <a:off x="581464" y="1534987"/>
                <a:ext cx="11029071" cy="3363549"/>
              </a:xfrm>
              <a:prstGeom prst="rect">
                <a:avLst/>
              </a:prstGeom>
              <a:noFill/>
            </p:spPr>
            <p:txBody>
              <a:bodyPr wrap="square" rtlCol="0">
                <a:spAutoFit/>
              </a:bodyPr>
              <a:lstStyle/>
              <a:p>
                <a:pPr>
                  <a:lnSpc>
                    <a:spcPct val="200000"/>
                  </a:lnSpc>
                </a:pPr>
                <a:r>
                  <a:rPr lang="zh-CN" altLang="zh-CN" sz="2400" dirty="0">
                    <a:latin typeface="Times New Roman" panose="02020603050405020304" pitchFamily="18" charset="0"/>
                    <a:cs typeface="Times New Roman" panose="02020603050405020304" pitchFamily="18" charset="0"/>
                  </a:rPr>
                  <a:t>对于所有待分类数据，确定其特征属性</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，获取训练样本集合</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𝑦</m:t>
                        </m:r>
                      </m:e>
                      <m:sub>
                        <m:r>
                          <a:rPr lang="en-US" altLang="zh-CN" sz="2400">
                            <a:latin typeface="Cambria Math" panose="02040503050406030204" pitchFamily="18" charset="0"/>
                            <a:cs typeface="Times New Roman" panose="02020603050405020304" pitchFamily="18" charset="0"/>
                          </a:rPr>
                          <m:t>𝑖</m:t>
                        </m:r>
                      </m:sub>
                    </m:sSub>
                  </m:oMath>
                </a14:m>
                <a:r>
                  <a:rPr lang="zh-CN" altLang="zh-CN" sz="2400" dirty="0">
                    <a:latin typeface="Times New Roman" panose="02020603050405020304" pitchFamily="18" charset="0"/>
                    <a:cs typeface="Times New Roman" panose="02020603050405020304" pitchFamily="18" charset="0"/>
                  </a:rPr>
                  <a:t>：</a:t>
                </a:r>
              </a:p>
              <a:p>
                <a:pPr>
                  <a:lnSpc>
                    <a:spcPct val="200000"/>
                  </a:lnSpc>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cs typeface="Times New Roman" panose="02020603050405020304" pitchFamily="18" charset="0"/>
                        </a:rPr>
                        <m:t>D</m:t>
                      </m:r>
                      <m:r>
                        <a:rPr lang="en-US" altLang="zh-CN" sz="2400">
                          <a:latin typeface="Cambria Math" panose="02040503050406030204" pitchFamily="18" charset="0"/>
                          <a:cs typeface="Times New Roman" panose="02020603050405020304" pitchFamily="18" charset="0"/>
                        </a:rPr>
                        <m:t>={</m:t>
                      </m:r>
                      <m:d>
                        <m:dPr>
                          <m:ctrlPr>
                            <a:rPr lang="zh-CN" altLang="zh-CN" sz="2400" i="1">
                              <a:latin typeface="Cambria Math" panose="02040503050406030204" pitchFamily="18" charset="0"/>
                              <a:cs typeface="Times New Roman" panose="02020603050405020304" pitchFamily="18" charset="0"/>
                            </a:rPr>
                          </m:ctrlPr>
                        </m:dPr>
                        <m:e>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1</m:t>
                              </m:r>
                            </m:sub>
                            <m:sup>
                              <m:r>
                                <a:rPr lang="en-US" altLang="zh-CN" sz="2400">
                                  <a:latin typeface="Cambria Math" panose="02040503050406030204" pitchFamily="18" charset="0"/>
                                  <a:cs typeface="Times New Roman" panose="02020603050405020304" pitchFamily="18" charset="0"/>
                                </a:rPr>
                                <m:t>(1)</m:t>
                              </m:r>
                            </m:sup>
                          </m:sSubSup>
                          <m:r>
                            <a:rPr lang="en-US" altLang="zh-CN" sz="2400">
                              <a:latin typeface="Cambria Math" panose="02040503050406030204" pitchFamily="18" charset="0"/>
                              <a:cs typeface="Times New Roman" panose="02020603050405020304" pitchFamily="18" charset="0"/>
                            </a:rPr>
                            <m:t>,</m:t>
                          </m:r>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2</m:t>
                              </m:r>
                            </m:sub>
                            <m:sup>
                              <m:r>
                                <a:rPr lang="en-US" altLang="zh-CN" sz="2400">
                                  <a:latin typeface="Cambria Math" panose="02040503050406030204" pitchFamily="18" charset="0"/>
                                  <a:cs typeface="Times New Roman" panose="02020603050405020304" pitchFamily="18" charset="0"/>
                                </a:rPr>
                                <m:t>(1)</m:t>
                              </m:r>
                            </m:sup>
                          </m:sSubSup>
                          <m:r>
                            <a:rPr lang="en-US" altLang="zh-CN" sz="2400">
                              <a:latin typeface="Cambria Math" panose="02040503050406030204" pitchFamily="18" charset="0"/>
                              <a:cs typeface="Times New Roman" panose="02020603050405020304" pitchFamily="18" charset="0"/>
                            </a:rPr>
                            <m:t>,…,</m:t>
                          </m:r>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𝑛</m:t>
                              </m:r>
                            </m:sub>
                            <m:sup>
                              <m:d>
                                <m:dPr>
                                  <m:ctrlPr>
                                    <a:rPr lang="zh-CN" altLang="zh-CN" sz="2400" i="1">
                                      <a:latin typeface="Cambria Math" panose="02040503050406030204" pitchFamily="18" charset="0"/>
                                      <a:cs typeface="Times New Roman" panose="02020603050405020304" pitchFamily="18" charset="0"/>
                                    </a:rPr>
                                  </m:ctrlPr>
                                </m:dPr>
                                <m:e>
                                  <m:r>
                                    <a:rPr lang="en-US" altLang="zh-CN" sz="2400">
                                      <a:latin typeface="Cambria Math" panose="02040503050406030204" pitchFamily="18" charset="0"/>
                                      <a:cs typeface="Times New Roman" panose="02020603050405020304" pitchFamily="18" charset="0"/>
                                    </a:rPr>
                                    <m:t>1</m:t>
                                  </m:r>
                                </m:e>
                              </m:d>
                            </m:sup>
                          </m:sSubSup>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𝑦</m:t>
                              </m:r>
                            </m:e>
                            <m:sub>
                              <m:r>
                                <a:rPr lang="en-US" altLang="zh-CN" sz="2400">
                                  <a:latin typeface="Cambria Math" panose="02040503050406030204" pitchFamily="18" charset="0"/>
                                  <a:cs typeface="Times New Roman" panose="02020603050405020304" pitchFamily="18" charset="0"/>
                                </a:rPr>
                                <m:t>1</m:t>
                              </m:r>
                            </m:sub>
                          </m:sSub>
                        </m:e>
                      </m:d>
                      <m:r>
                        <a:rPr lang="en-US" altLang="zh-CN" sz="2400">
                          <a:latin typeface="Cambria Math" panose="02040503050406030204" pitchFamily="18" charset="0"/>
                          <a:cs typeface="Times New Roman" panose="02020603050405020304" pitchFamily="18" charset="0"/>
                        </a:rPr>
                        <m:t>,</m:t>
                      </m:r>
                      <m:d>
                        <m:dPr>
                          <m:ctrlPr>
                            <a:rPr lang="zh-CN" altLang="zh-CN" sz="2400" i="1">
                              <a:latin typeface="Cambria Math" panose="02040503050406030204" pitchFamily="18" charset="0"/>
                              <a:cs typeface="Times New Roman" panose="02020603050405020304" pitchFamily="18" charset="0"/>
                            </a:rPr>
                          </m:ctrlPr>
                        </m:dPr>
                        <m:e>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1</m:t>
                              </m:r>
                            </m:sub>
                            <m:sup>
                              <m:r>
                                <a:rPr lang="en-US" altLang="zh-CN" sz="2400">
                                  <a:latin typeface="Cambria Math" panose="02040503050406030204" pitchFamily="18" charset="0"/>
                                  <a:cs typeface="Times New Roman" panose="02020603050405020304" pitchFamily="18" charset="0"/>
                                </a:rPr>
                                <m:t>(2)</m:t>
                              </m:r>
                            </m:sup>
                          </m:sSubSup>
                          <m:r>
                            <a:rPr lang="en-US" altLang="zh-CN" sz="2400">
                              <a:latin typeface="Cambria Math" panose="02040503050406030204" pitchFamily="18" charset="0"/>
                              <a:cs typeface="Times New Roman" panose="02020603050405020304" pitchFamily="18" charset="0"/>
                            </a:rPr>
                            <m:t>,</m:t>
                          </m:r>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2</m:t>
                              </m:r>
                            </m:sub>
                            <m:sup>
                              <m:r>
                                <a:rPr lang="en-US" altLang="zh-CN" sz="2400">
                                  <a:latin typeface="Cambria Math" panose="02040503050406030204" pitchFamily="18" charset="0"/>
                                  <a:cs typeface="Times New Roman" panose="02020603050405020304" pitchFamily="18" charset="0"/>
                                </a:rPr>
                                <m:t>(2)</m:t>
                              </m:r>
                            </m:sup>
                          </m:sSubSup>
                          <m:r>
                            <a:rPr lang="en-US" altLang="zh-CN" sz="2400">
                              <a:latin typeface="Cambria Math" panose="02040503050406030204" pitchFamily="18" charset="0"/>
                              <a:cs typeface="Times New Roman" panose="02020603050405020304" pitchFamily="18" charset="0"/>
                            </a:rPr>
                            <m:t>,…,</m:t>
                          </m:r>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𝑛</m:t>
                              </m:r>
                            </m:sub>
                            <m:sup>
                              <m:d>
                                <m:dPr>
                                  <m:ctrlPr>
                                    <a:rPr lang="zh-CN" altLang="zh-CN" sz="2400" i="1">
                                      <a:latin typeface="Cambria Math" panose="02040503050406030204" pitchFamily="18" charset="0"/>
                                      <a:cs typeface="Times New Roman" panose="02020603050405020304" pitchFamily="18" charset="0"/>
                                    </a:rPr>
                                  </m:ctrlPr>
                                </m:dPr>
                                <m:e>
                                  <m:r>
                                    <a:rPr lang="en-US" altLang="zh-CN" sz="2400">
                                      <a:latin typeface="Cambria Math" panose="02040503050406030204" pitchFamily="18" charset="0"/>
                                      <a:cs typeface="Times New Roman" panose="02020603050405020304" pitchFamily="18" charset="0"/>
                                    </a:rPr>
                                    <m:t>2</m:t>
                                  </m:r>
                                </m:e>
                              </m:d>
                            </m:sup>
                          </m:sSubSup>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𝑦</m:t>
                              </m:r>
                            </m:e>
                            <m:sub>
                              <m:r>
                                <a:rPr lang="en-US" altLang="zh-CN" sz="2400">
                                  <a:latin typeface="Cambria Math" panose="02040503050406030204" pitchFamily="18" charset="0"/>
                                  <a:cs typeface="Times New Roman" panose="02020603050405020304" pitchFamily="18" charset="0"/>
                                </a:rPr>
                                <m:t>2</m:t>
                              </m:r>
                            </m:sub>
                          </m:sSub>
                        </m:e>
                      </m:d>
                      <m:r>
                        <a:rPr lang="en-US" altLang="zh-CN" sz="2400">
                          <a:latin typeface="Cambria Math" panose="02040503050406030204" pitchFamily="18" charset="0"/>
                          <a:cs typeface="Times New Roman" panose="02020603050405020304" pitchFamily="18" charset="0"/>
                        </a:rPr>
                        <m:t>,…,</m:t>
                      </m:r>
                      <m:d>
                        <m:dPr>
                          <m:ctrlPr>
                            <a:rPr lang="zh-CN" altLang="zh-CN" sz="2400" i="1">
                              <a:latin typeface="Cambria Math" panose="02040503050406030204" pitchFamily="18" charset="0"/>
                              <a:cs typeface="Times New Roman" panose="02020603050405020304" pitchFamily="18" charset="0"/>
                            </a:rPr>
                          </m:ctrlPr>
                        </m:dPr>
                        <m:e>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1</m:t>
                              </m:r>
                            </m:sub>
                            <m:sup>
                              <m:r>
                                <a:rPr lang="en-US" altLang="zh-CN" sz="2400">
                                  <a:latin typeface="Cambria Math" panose="02040503050406030204" pitchFamily="18" charset="0"/>
                                  <a:cs typeface="Times New Roman" panose="02020603050405020304" pitchFamily="18" charset="0"/>
                                </a:rPr>
                                <m:t>(</m:t>
                              </m:r>
                              <m:r>
                                <a:rPr lang="en-US" altLang="zh-CN" sz="2400">
                                  <a:latin typeface="Cambria Math" panose="02040503050406030204" pitchFamily="18" charset="0"/>
                                  <a:cs typeface="Times New Roman" panose="02020603050405020304" pitchFamily="18" charset="0"/>
                                </a:rPr>
                                <m:t>𝑚</m:t>
                              </m:r>
                              <m:r>
                                <a:rPr lang="en-US" altLang="zh-CN" sz="2400">
                                  <a:latin typeface="Cambria Math" panose="02040503050406030204" pitchFamily="18" charset="0"/>
                                  <a:cs typeface="Times New Roman" panose="02020603050405020304" pitchFamily="18" charset="0"/>
                                </a:rPr>
                                <m:t>)</m:t>
                              </m:r>
                            </m:sup>
                          </m:sSubSup>
                          <m:r>
                            <a:rPr lang="en-US" altLang="zh-CN" sz="2400">
                              <a:latin typeface="Cambria Math" panose="02040503050406030204" pitchFamily="18" charset="0"/>
                              <a:cs typeface="Times New Roman" panose="02020603050405020304" pitchFamily="18" charset="0"/>
                            </a:rPr>
                            <m:t>,</m:t>
                          </m:r>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2</m:t>
                              </m:r>
                            </m:sub>
                            <m:sup>
                              <m:r>
                                <a:rPr lang="en-US" altLang="zh-CN" sz="2400">
                                  <a:latin typeface="Cambria Math" panose="02040503050406030204" pitchFamily="18" charset="0"/>
                                  <a:cs typeface="Times New Roman" panose="02020603050405020304" pitchFamily="18" charset="0"/>
                                </a:rPr>
                                <m:t>(</m:t>
                              </m:r>
                              <m:r>
                                <a:rPr lang="en-US" altLang="zh-CN" sz="2400">
                                  <a:latin typeface="Cambria Math" panose="02040503050406030204" pitchFamily="18" charset="0"/>
                                  <a:cs typeface="Times New Roman" panose="02020603050405020304" pitchFamily="18" charset="0"/>
                                </a:rPr>
                                <m:t>𝑚</m:t>
                              </m:r>
                              <m:r>
                                <a:rPr lang="en-US" altLang="zh-CN" sz="2400">
                                  <a:latin typeface="Cambria Math" panose="02040503050406030204" pitchFamily="18" charset="0"/>
                                  <a:cs typeface="Times New Roman" panose="02020603050405020304" pitchFamily="18" charset="0"/>
                                </a:rPr>
                                <m:t>)</m:t>
                              </m:r>
                            </m:sup>
                          </m:sSubSup>
                          <m:r>
                            <a:rPr lang="en-US" altLang="zh-CN" sz="2400">
                              <a:latin typeface="Cambria Math" panose="02040503050406030204" pitchFamily="18" charset="0"/>
                              <a:cs typeface="Times New Roman" panose="02020603050405020304" pitchFamily="18" charset="0"/>
                            </a:rPr>
                            <m:t>,…,</m:t>
                          </m:r>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𝑛</m:t>
                              </m:r>
                            </m:sub>
                            <m:sup>
                              <m:d>
                                <m:dPr>
                                  <m:ctrlPr>
                                    <a:rPr lang="zh-CN" altLang="zh-CN" sz="2400" i="1">
                                      <a:latin typeface="Cambria Math" panose="02040503050406030204" pitchFamily="18" charset="0"/>
                                      <a:cs typeface="Times New Roman" panose="02020603050405020304" pitchFamily="18" charset="0"/>
                                    </a:rPr>
                                  </m:ctrlPr>
                                </m:dPr>
                                <m:e>
                                  <m:r>
                                    <a:rPr lang="en-US" altLang="zh-CN" sz="2400">
                                      <a:latin typeface="Cambria Math" panose="02040503050406030204" pitchFamily="18" charset="0"/>
                                      <a:cs typeface="Times New Roman" panose="02020603050405020304" pitchFamily="18" charset="0"/>
                                    </a:rPr>
                                    <m:t>𝑚</m:t>
                                  </m:r>
                                </m:e>
                              </m:d>
                            </m:sup>
                          </m:sSubSup>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𝑦</m:t>
                              </m:r>
                            </m:e>
                            <m:sub>
                              <m:r>
                                <a:rPr lang="en-US" altLang="zh-CN" sz="2400">
                                  <a:latin typeface="Cambria Math" panose="02040503050406030204" pitchFamily="18" charset="0"/>
                                  <a:cs typeface="Times New Roman" panose="02020603050405020304" pitchFamily="18" charset="0"/>
                                </a:rPr>
                                <m:t>𝑚</m:t>
                              </m:r>
                            </m:sub>
                          </m:sSub>
                        </m:e>
                      </m:d>
                      <m:r>
                        <a:rPr lang="en-US" altLang="zh-CN" sz="2400">
                          <a:latin typeface="Cambria Math" panose="02040503050406030204" pitchFamily="18" charset="0"/>
                          <a:cs typeface="Times New Roman" panose="02020603050405020304" pitchFamily="18" charset="0"/>
                        </a:rPr>
                        <m:t>}</m:t>
                      </m:r>
                    </m:oMath>
                  </m:oMathPara>
                </a14:m>
                <a:endParaRPr lang="en-US" altLang="zh-CN" sz="2400" dirty="0">
                  <a:latin typeface="Times New Roman" panose="02020603050405020304" pitchFamily="18" charset="0"/>
                  <a:cs typeface="Times New Roman" panose="02020603050405020304" pitchFamily="18" charset="0"/>
                </a:endParaRPr>
              </a:p>
              <a:p>
                <a:pPr>
                  <a:lnSpc>
                    <a:spcPct val="200000"/>
                  </a:lnSpc>
                </a:pP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其中</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m</a:t>
                </a:r>
                <a:r>
                  <a:rPr lang="zh-CN" altLang="zh-CN" sz="2400" dirty="0">
                    <a:latin typeface="Times New Roman" panose="02020603050405020304" pitchFamily="18" charset="0"/>
                    <a:cs typeface="Times New Roman" panose="02020603050405020304" pitchFamily="18" charset="0"/>
                  </a:rPr>
                  <a:t>表示有</a:t>
                </a:r>
                <a:r>
                  <a:rPr lang="en-US" altLang="zh-CN" sz="2400" dirty="0">
                    <a:latin typeface="Times New Roman" panose="02020603050405020304" pitchFamily="18" charset="0"/>
                    <a:cs typeface="Times New Roman" panose="02020603050405020304" pitchFamily="18" charset="0"/>
                  </a:rPr>
                  <a:t>m</a:t>
                </a:r>
                <a:r>
                  <a:rPr lang="zh-CN" altLang="zh-CN" sz="2400" dirty="0">
                    <a:latin typeface="Times New Roman" panose="02020603050405020304" pitchFamily="18" charset="0"/>
                    <a:cs typeface="Times New Roman" panose="02020603050405020304" pitchFamily="18" charset="0"/>
                  </a:rPr>
                  <a:t>个样本，</a:t>
                </a:r>
                <a:r>
                  <a:rPr lang="en-US" altLang="zh-CN" sz="2400" dirty="0">
                    <a:latin typeface="Times New Roman" panose="02020603050405020304" pitchFamily="18" charset="0"/>
                    <a:cs typeface="Times New Roman" panose="02020603050405020304" pitchFamily="18" charset="0"/>
                  </a:rPr>
                  <a:t>n</a:t>
                </a:r>
                <a:r>
                  <a:rPr lang="zh-CN" altLang="zh-CN" sz="2400" dirty="0">
                    <a:latin typeface="Times New Roman" panose="02020603050405020304" pitchFamily="18" charset="0"/>
                    <a:cs typeface="Times New Roman" panose="02020603050405020304" pitchFamily="18" charset="0"/>
                  </a:rPr>
                  <a:t>表示有</a:t>
                </a:r>
                <a:r>
                  <a:rPr lang="en-US" altLang="zh-CN" sz="2400" dirty="0">
                    <a:latin typeface="Times New Roman" panose="02020603050405020304" pitchFamily="18" charset="0"/>
                    <a:cs typeface="Times New Roman" panose="02020603050405020304" pitchFamily="18" charset="0"/>
                  </a:rPr>
                  <a:t>n</a:t>
                </a:r>
                <a:r>
                  <a:rPr lang="zh-CN" altLang="zh-CN" sz="2400" dirty="0">
                    <a:latin typeface="Times New Roman" panose="02020603050405020304" pitchFamily="18" charset="0"/>
                    <a:cs typeface="Times New Roman" panose="02020603050405020304" pitchFamily="18" charset="0"/>
                  </a:rPr>
                  <a:t>个特征。</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𝑦</m:t>
                        </m:r>
                      </m:e>
                      <m:sub>
                        <m:r>
                          <a:rPr lang="en-US" altLang="zh-CN" sz="2400">
                            <a:latin typeface="Cambria Math" panose="02040503050406030204" pitchFamily="18" charset="0"/>
                            <a:cs typeface="Times New Roman" panose="02020603050405020304" pitchFamily="18" charset="0"/>
                          </a:rPr>
                          <m:t>𝑖</m:t>
                        </m:r>
                      </m:sub>
                    </m:sSub>
                  </m:oMath>
                </a14:m>
                <a:r>
                  <a:rPr lang="zh-CN" altLang="zh-CN" sz="2400" dirty="0">
                    <a:latin typeface="Times New Roman" panose="02020603050405020304" pitchFamily="18" charset="0"/>
                    <a:cs typeface="Times New Roman" panose="02020603050405020304" pitchFamily="18" charset="0"/>
                  </a:rPr>
                  <a:t>表示训练样本集合，取值为</a:t>
                </a:r>
                <a14:m>
                  <m:oMath xmlns:m="http://schemas.openxmlformats.org/officeDocument/2006/math">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1</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2</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r>
                      <a:rPr lang="en-US" altLang="zh-CN" sz="2400">
                        <a:latin typeface="Cambria Math" panose="02040503050406030204" pitchFamily="18" charset="0"/>
                        <a:cs typeface="Times New Roman" panose="02020603050405020304" pitchFamily="18" charset="0"/>
                      </a:rPr>
                      <m:t>}</m:t>
                    </m:r>
                  </m:oMath>
                </a14:m>
                <a:r>
                  <a:rPr lang="zh-CN" altLang="zh-CN" sz="2400" dirty="0">
                    <a:latin typeface="Times New Roman" panose="02020603050405020304" pitchFamily="18" charset="0"/>
                    <a:cs typeface="Times New Roman" panose="02020603050405020304" pitchFamily="18" charset="0"/>
                  </a:rPr>
                  <a:t>。</a:t>
                </a:r>
              </a:p>
            </p:txBody>
          </p:sp>
        </mc:Choice>
        <mc:Fallback xmlns="">
          <p:sp>
            <p:nvSpPr>
              <p:cNvPr id="3" name="文本框 2"/>
              <p:cNvSpPr txBox="1">
                <a:spLocks noRot="1" noChangeAspect="1" noMove="1" noResize="1" noEditPoints="1" noAdjustHandles="1" noChangeArrowheads="1" noChangeShapeType="1" noTextEdit="1"/>
              </p:cNvSpPr>
              <p:nvPr/>
            </p:nvSpPr>
            <p:spPr>
              <a:xfrm>
                <a:off x="581464" y="1534987"/>
                <a:ext cx="11029071" cy="3363549"/>
              </a:xfrm>
              <a:prstGeom prst="rect">
                <a:avLst/>
              </a:prstGeom>
              <a:blipFill rotWithShape="1">
                <a:blip r:embed="rId2"/>
                <a:stretch>
                  <a:fillRect l="-4" t="-6" r="2" b="-1430"/>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算法步骤</a:t>
            </a:r>
          </a:p>
        </p:txBody>
      </p:sp>
      <mc:AlternateContent xmlns:mc="http://schemas.openxmlformats.org/markup-compatibility/2006" xmlns:a14="http://schemas.microsoft.com/office/drawing/2010/main">
        <mc:Choice Requires="a14">
          <p:sp>
            <p:nvSpPr>
              <p:cNvPr id="4" name="文本框 3"/>
              <p:cNvSpPr txBox="1"/>
              <p:nvPr/>
            </p:nvSpPr>
            <p:spPr>
              <a:xfrm>
                <a:off x="651266" y="1363458"/>
                <a:ext cx="11029071" cy="4241097"/>
              </a:xfrm>
              <a:prstGeom prst="rect">
                <a:avLst/>
              </a:prstGeom>
              <a:noFill/>
            </p:spPr>
            <p:txBody>
              <a:bodyPr wrap="square" rtlCol="0">
                <a:spAutoFit/>
              </a:bodyPr>
              <a:lstStyle/>
              <a:p>
                <a:pPr marL="571500" indent="-571500">
                  <a:lnSpc>
                    <a:spcPct val="150000"/>
                  </a:lnSpc>
                  <a:buFont typeface="Wingdings" panose="05000000000000000000" pitchFamily="2" charset="2"/>
                  <a:buChar char="Ø"/>
                </a:pPr>
                <a:r>
                  <a:rPr lang="en-US" altLang="zh-CN" sz="2800" b="1" dirty="0">
                    <a:solidFill>
                      <a:schemeClr val="accent1">
                        <a:lumMod val="50000"/>
                      </a:schemeClr>
                    </a:solidFill>
                    <a:latin typeface="Times New Roman" panose="02020603050405020304" pitchFamily="18" charset="0"/>
                    <a:cs typeface="Times New Roman" panose="02020603050405020304" pitchFamily="18" charset="0"/>
                  </a:rPr>
                  <a:t>2.</a:t>
                </a:r>
                <a:r>
                  <a:rPr lang="zh-CN" altLang="zh-CN" sz="2800" b="1" dirty="0">
                    <a:solidFill>
                      <a:schemeClr val="accent1">
                        <a:lumMod val="50000"/>
                      </a:schemeClr>
                    </a:solidFill>
                    <a:latin typeface="Times New Roman" panose="02020603050405020304" pitchFamily="18" charset="0"/>
                    <a:cs typeface="Times New Roman" panose="02020603050405020304" pitchFamily="18" charset="0"/>
                  </a:rPr>
                  <a:t>计算各类别的先验概率</a:t>
                </a:r>
                <a14:m>
                  <m:oMath xmlns:m="http://schemas.openxmlformats.org/officeDocument/2006/math">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𝐏</m:t>
                    </m:r>
                    <m:d>
                      <m:dPr>
                        <m:ctrlPr>
                          <a:rPr lang="zh-CN" altLang="zh-CN" sz="2800" b="1" i="1">
                            <a:solidFill>
                              <a:schemeClr val="accent1">
                                <a:lumMod val="50000"/>
                              </a:schemeClr>
                            </a:solidFill>
                            <a:latin typeface="Cambria Math" panose="02040503050406030204" pitchFamily="18" charset="0"/>
                            <a:cs typeface="Times New Roman" panose="02020603050405020304" pitchFamily="18" charset="0"/>
                          </a:rPr>
                        </m:ctrlPr>
                      </m:dPr>
                      <m:e>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𝐘</m:t>
                        </m:r>
                        <m:r>
                          <a:rPr lang="en-US" altLang="zh-CN" sz="2800" b="1">
                            <a:solidFill>
                              <a:schemeClr val="accent1">
                                <a:lumMod val="50000"/>
                              </a:schemeClr>
                            </a:solidFill>
                            <a:latin typeface="Cambria Math" panose="02040503050406030204" pitchFamily="18" charset="0"/>
                            <a:cs typeface="Times New Roman" panose="02020603050405020304" pitchFamily="18" charset="0"/>
                          </a:rPr>
                          <m:t>=</m:t>
                        </m:r>
                        <m:sSub>
                          <m:sSubPr>
                            <m:ctrlPr>
                              <a:rPr lang="zh-CN" altLang="zh-CN" sz="2800" b="1" i="1">
                                <a:solidFill>
                                  <a:schemeClr val="accent1">
                                    <a:lumMod val="50000"/>
                                  </a:schemeClr>
                                </a:solidFill>
                                <a:latin typeface="Cambria Math" panose="02040503050406030204" pitchFamily="18" charset="0"/>
                                <a:cs typeface="Times New Roman" panose="02020603050405020304" pitchFamily="18" charset="0"/>
                              </a:rPr>
                            </m:ctrlPr>
                          </m:sSubPr>
                          <m:e>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𝑪</m:t>
                            </m:r>
                          </m:e>
                          <m:sub>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𝒌</m:t>
                            </m:r>
                          </m:sub>
                        </m:sSub>
                      </m:e>
                    </m:d>
                  </m:oMath>
                </a14:m>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针对训练样本集，我们可以利用极大似然估计计算先验概率。但为了弥补极大似然估计中可能出现概率值为</a:t>
                </a:r>
                <a:r>
                  <a:rPr lang="en-US" altLang="zh-CN" sz="2400" dirty="0">
                    <a:latin typeface="Times New Roman" panose="02020603050405020304" pitchFamily="18" charset="0"/>
                    <a:cs typeface="Times New Roman" panose="02020603050405020304" pitchFamily="18" charset="0"/>
                  </a:rPr>
                  <a:t>0</a:t>
                </a:r>
                <a:r>
                  <a:rPr lang="zh-CN" altLang="zh-CN" sz="2400" dirty="0">
                    <a:latin typeface="Times New Roman" panose="02020603050405020304" pitchFamily="18" charset="0"/>
                    <a:cs typeface="Times New Roman" panose="02020603050405020304" pitchFamily="18" charset="0"/>
                  </a:rPr>
                  <a:t>的情况，也就是某个事件出现的次数为</a:t>
                </a:r>
                <a:r>
                  <a:rPr lang="en-US" altLang="zh-CN" sz="2400" dirty="0">
                    <a:latin typeface="Times New Roman" panose="02020603050405020304" pitchFamily="18" charset="0"/>
                    <a:cs typeface="Times New Roman" panose="02020603050405020304" pitchFamily="18" charset="0"/>
                  </a:rPr>
                  <a:t>0</a:t>
                </a:r>
                <a:r>
                  <a:rPr lang="zh-CN" altLang="zh-CN" sz="2400" dirty="0">
                    <a:latin typeface="Times New Roman" panose="02020603050405020304" pitchFamily="18" charset="0"/>
                    <a:cs typeface="Times New Roman" panose="02020603050405020304" pitchFamily="18" charset="0"/>
                  </a:rPr>
                  <a:t>，使用贝叶斯估计计算先验概率：</a:t>
                </a:r>
              </a:p>
              <a:p>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cs typeface="Times New Roman" panose="02020603050405020304" pitchFamily="18" charset="0"/>
                        </a:rPr>
                        <m:t>P</m:t>
                      </m:r>
                      <m:d>
                        <m:dPr>
                          <m:ctrlPr>
                            <a:rPr lang="zh-CN" altLang="zh-CN" sz="2400" i="1">
                              <a:latin typeface="Cambria Math" panose="02040503050406030204" pitchFamily="18" charset="0"/>
                              <a:cs typeface="Times New Roman" panose="02020603050405020304" pitchFamily="18" charset="0"/>
                            </a:rPr>
                          </m:ctrlPr>
                        </m:dPr>
                        <m:e>
                          <m:r>
                            <m:rPr>
                              <m:sty m:val="p"/>
                            </m:rPr>
                            <a:rPr lang="en-US" altLang="zh-CN" sz="2400">
                              <a:latin typeface="Cambria Math" panose="02040503050406030204" pitchFamily="18" charset="0"/>
                              <a:cs typeface="Times New Roman" panose="02020603050405020304" pitchFamily="18" charset="0"/>
                            </a:rPr>
                            <m:t>Y</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e>
                      </m:d>
                      <m:r>
                        <a:rPr lang="en-US" altLang="zh-CN" sz="2400">
                          <a:latin typeface="Cambria Math" panose="02040503050406030204" pitchFamily="18" charset="0"/>
                          <a:cs typeface="Times New Roman" panose="02020603050405020304" pitchFamily="18" charset="0"/>
                        </a:rPr>
                        <m:t>=</m:t>
                      </m:r>
                      <m:f>
                        <m:fPr>
                          <m:ctrlPr>
                            <a:rPr lang="zh-CN" altLang="zh-CN" sz="2400" i="1">
                              <a:latin typeface="Cambria Math" panose="02040503050406030204" pitchFamily="18" charset="0"/>
                              <a:cs typeface="Times New Roman" panose="02020603050405020304" pitchFamily="18" charset="0"/>
                            </a:rPr>
                          </m:ctrlPr>
                        </m:fPr>
                        <m:num>
                          <m:nary>
                            <m:naryPr>
                              <m:chr m:val="∑"/>
                              <m:limLoc m:val="subSup"/>
                              <m:ctrlPr>
                                <a:rPr lang="zh-CN" altLang="zh-CN" sz="2400" i="1">
                                  <a:latin typeface="Cambria Math" panose="02040503050406030204" pitchFamily="18" charset="0"/>
                                  <a:cs typeface="Times New Roman" panose="02020603050405020304" pitchFamily="18" charset="0"/>
                                </a:rPr>
                              </m:ctrlPr>
                            </m:naryPr>
                            <m:sub>
                              <m:r>
                                <a:rPr lang="en-US" altLang="zh-CN" sz="2400">
                                  <a:latin typeface="Cambria Math" panose="02040503050406030204" pitchFamily="18" charset="0"/>
                                  <a:cs typeface="Times New Roman" panose="02020603050405020304" pitchFamily="18" charset="0"/>
                                </a:rPr>
                                <m:t>𝑖</m:t>
                              </m:r>
                              <m:r>
                                <a:rPr lang="en-US" altLang="zh-CN" sz="2400">
                                  <a:latin typeface="Cambria Math" panose="02040503050406030204" pitchFamily="18" charset="0"/>
                                  <a:cs typeface="Times New Roman" panose="02020603050405020304" pitchFamily="18" charset="0"/>
                                </a:rPr>
                                <m:t>=1</m:t>
                              </m:r>
                            </m:sub>
                            <m:sup>
                              <m:r>
                                <a:rPr lang="en-US" altLang="zh-CN" sz="2400">
                                  <a:latin typeface="Cambria Math" panose="02040503050406030204" pitchFamily="18" charset="0"/>
                                  <a:cs typeface="Times New Roman" panose="02020603050405020304" pitchFamily="18" charset="0"/>
                                </a:rPr>
                                <m:t>𝑚</m:t>
                              </m:r>
                            </m:sup>
                            <m:e>
                              <m:r>
                                <a:rPr lang="en-US" altLang="zh-CN" sz="2400">
                                  <a:latin typeface="Cambria Math" panose="02040503050406030204" pitchFamily="18" charset="0"/>
                                  <a:cs typeface="Times New Roman" panose="02020603050405020304" pitchFamily="18" charset="0"/>
                                </a:rPr>
                                <m:t>𝐼</m:t>
                              </m:r>
                              <m:d>
                                <m:dPr>
                                  <m:ctrlPr>
                                    <a:rPr lang="zh-CN" altLang="zh-CN" sz="2400" i="1">
                                      <a:latin typeface="Cambria Math" panose="02040503050406030204" pitchFamily="18" charset="0"/>
                                      <a:cs typeface="Times New Roman" panose="02020603050405020304" pitchFamily="18" charset="0"/>
                                    </a:rPr>
                                  </m:ctrlPr>
                                </m:dPr>
                                <m:e>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𝑦</m:t>
                                      </m:r>
                                    </m:e>
                                    <m:sub>
                                      <m:r>
                                        <a:rPr lang="en-US" altLang="zh-CN" sz="2400">
                                          <a:latin typeface="Cambria Math" panose="02040503050406030204" pitchFamily="18" charset="0"/>
                                          <a:cs typeface="Times New Roman" panose="02020603050405020304" pitchFamily="18" charset="0"/>
                                        </a:rPr>
                                        <m:t>𝑖</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e>
                              </m:d>
                            </m:e>
                          </m:nary>
                          <m:r>
                            <a:rPr lang="en-US" altLang="zh-CN" sz="2400">
                              <a:latin typeface="Cambria Math" panose="02040503050406030204" pitchFamily="18" charset="0"/>
                              <a:cs typeface="Times New Roman" panose="02020603050405020304" pitchFamily="18" charset="0"/>
                            </a:rPr>
                            <m:t>+</m:t>
                          </m:r>
                          <m:r>
                            <a:rPr lang="en-US" altLang="zh-CN" sz="2400">
                              <a:latin typeface="Cambria Math" panose="02040503050406030204" pitchFamily="18" charset="0"/>
                              <a:cs typeface="Times New Roman" panose="02020603050405020304" pitchFamily="18" charset="0"/>
                            </a:rPr>
                            <m:t>𝜆</m:t>
                          </m:r>
                        </m:num>
                        <m:den>
                          <m:r>
                            <a:rPr lang="en-US" altLang="zh-CN" sz="2400">
                              <a:latin typeface="Cambria Math" panose="02040503050406030204" pitchFamily="18" charset="0"/>
                              <a:cs typeface="Times New Roman" panose="02020603050405020304" pitchFamily="18" charset="0"/>
                            </a:rPr>
                            <m:t>𝑚</m:t>
                          </m:r>
                          <m:r>
                            <a:rPr lang="en-US" altLang="zh-CN" sz="2400">
                              <a:latin typeface="Cambria Math" panose="02040503050406030204" pitchFamily="18" charset="0"/>
                              <a:cs typeface="Times New Roman" panose="02020603050405020304" pitchFamily="18" charset="0"/>
                            </a:rPr>
                            <m:t>+</m:t>
                          </m:r>
                          <m:r>
                            <a:rPr lang="en-US" altLang="zh-CN" sz="2400">
                              <a:latin typeface="Cambria Math" panose="02040503050406030204" pitchFamily="18" charset="0"/>
                              <a:cs typeface="Times New Roman" panose="02020603050405020304" pitchFamily="18" charset="0"/>
                            </a:rPr>
                            <m:t>𝐾</m:t>
                          </m:r>
                          <m:r>
                            <a:rPr lang="en-US" altLang="zh-CN" sz="2400">
                              <a:latin typeface="Cambria Math" panose="02040503050406030204" pitchFamily="18" charset="0"/>
                              <a:cs typeface="Times New Roman" panose="02020603050405020304" pitchFamily="18" charset="0"/>
                            </a:rPr>
                            <m:t>𝜆</m:t>
                          </m:r>
                        </m:den>
                      </m:f>
                      <m:r>
                        <a:rPr lang="en-US" altLang="zh-CN" sz="2400">
                          <a:latin typeface="Cambria Math" panose="02040503050406030204" pitchFamily="18" charset="0"/>
                          <a:cs typeface="Times New Roman" panose="02020603050405020304" pitchFamily="18" charset="0"/>
                        </a:rPr>
                        <m:t>,</m:t>
                      </m:r>
                      <m:r>
                        <m:rPr>
                          <m:sty m:val="p"/>
                        </m:rPr>
                        <a:rPr lang="en-US" altLang="zh-CN" sz="2400">
                          <a:latin typeface="Cambria Math" panose="02040503050406030204" pitchFamily="18" charset="0"/>
                          <a:cs typeface="Times New Roman" panose="02020603050405020304" pitchFamily="18" charset="0"/>
                        </a:rPr>
                        <m:t>k</m:t>
                      </m:r>
                      <m:r>
                        <a:rPr lang="en-US" altLang="zh-CN" sz="2400">
                          <a:latin typeface="Cambria Math" panose="02040503050406030204" pitchFamily="18" charset="0"/>
                          <a:cs typeface="Times New Roman" panose="02020603050405020304" pitchFamily="18" charset="0"/>
                        </a:rPr>
                        <m:t>=1,2,…,</m:t>
                      </m:r>
                      <m:r>
                        <m:rPr>
                          <m:sty m:val="p"/>
                        </m:rPr>
                        <a:rPr lang="en-US" altLang="zh-CN" sz="2400">
                          <a:latin typeface="Cambria Math" panose="02040503050406030204" pitchFamily="18" charset="0"/>
                          <a:cs typeface="Times New Roman" panose="02020603050405020304" pitchFamily="18" charset="0"/>
                        </a:rPr>
                        <m:t>K</m:t>
                      </m:r>
                    </m:oMath>
                  </m:oMathPara>
                </a14:m>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其中，</a:t>
                </a:r>
                <a14:m>
                  <m:oMath xmlns:m="http://schemas.openxmlformats.org/officeDocument/2006/math">
                    <m:nary>
                      <m:naryPr>
                        <m:chr m:val="∑"/>
                        <m:limLoc m:val="subSup"/>
                        <m:ctrlPr>
                          <a:rPr lang="zh-CN" altLang="zh-CN" sz="2400" i="1">
                            <a:latin typeface="Cambria Math" panose="02040503050406030204" pitchFamily="18" charset="0"/>
                            <a:cs typeface="Times New Roman" panose="02020603050405020304" pitchFamily="18" charset="0"/>
                          </a:rPr>
                        </m:ctrlPr>
                      </m:naryPr>
                      <m:sub>
                        <m:r>
                          <a:rPr lang="en-US" altLang="zh-CN" sz="2400">
                            <a:latin typeface="Cambria Math" panose="02040503050406030204" pitchFamily="18" charset="0"/>
                            <a:cs typeface="Times New Roman" panose="02020603050405020304" pitchFamily="18" charset="0"/>
                          </a:rPr>
                          <m:t>𝑖</m:t>
                        </m:r>
                        <m:r>
                          <a:rPr lang="en-US" altLang="zh-CN" sz="2400">
                            <a:latin typeface="Cambria Math" panose="02040503050406030204" pitchFamily="18" charset="0"/>
                            <a:cs typeface="Times New Roman" panose="02020603050405020304" pitchFamily="18" charset="0"/>
                          </a:rPr>
                          <m:t>=1</m:t>
                        </m:r>
                      </m:sub>
                      <m:sup>
                        <m:r>
                          <a:rPr lang="en-US" altLang="zh-CN" sz="2400">
                            <a:latin typeface="Cambria Math" panose="02040503050406030204" pitchFamily="18" charset="0"/>
                            <a:cs typeface="Times New Roman" panose="02020603050405020304" pitchFamily="18" charset="0"/>
                          </a:rPr>
                          <m:t>𝑚</m:t>
                        </m:r>
                      </m:sup>
                      <m:e>
                        <m:r>
                          <a:rPr lang="en-US" altLang="zh-CN" sz="2400">
                            <a:latin typeface="Cambria Math" panose="02040503050406030204" pitchFamily="18" charset="0"/>
                            <a:cs typeface="Times New Roman" panose="02020603050405020304" pitchFamily="18" charset="0"/>
                          </a:rPr>
                          <m:t>𝐼</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𝑦</m:t>
                            </m:r>
                          </m:e>
                          <m:sub>
                            <m:r>
                              <a:rPr lang="en-US" altLang="zh-CN" sz="2400">
                                <a:latin typeface="Cambria Math" panose="02040503050406030204" pitchFamily="18" charset="0"/>
                                <a:cs typeface="Times New Roman" panose="02020603050405020304" pitchFamily="18" charset="0"/>
                              </a:rPr>
                              <m:t>𝑖</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r>
                          <a:rPr lang="en-US" altLang="zh-CN" sz="2400">
                            <a:latin typeface="Cambria Math" panose="02040503050406030204" pitchFamily="18" charset="0"/>
                            <a:cs typeface="Times New Roman" panose="02020603050405020304" pitchFamily="18" charset="0"/>
                          </a:rPr>
                          <m:t>)</m:t>
                        </m:r>
                      </m:e>
                    </m:nary>
                  </m:oMath>
                </a14:m>
                <a:r>
                  <a:rPr lang="zh-CN" altLang="zh-CN" sz="2400" dirty="0">
                    <a:latin typeface="Times New Roman" panose="02020603050405020304" pitchFamily="18" charset="0"/>
                    <a:cs typeface="Times New Roman" panose="02020603050405020304" pitchFamily="18" charset="0"/>
                  </a:rPr>
                  <a:t>计算的是样本类别为</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oMath>
                </a14:m>
                <a:r>
                  <a:rPr lang="zh-CN" altLang="zh-CN" sz="2400" dirty="0">
                    <a:latin typeface="Times New Roman" panose="02020603050405020304" pitchFamily="18" charset="0"/>
                    <a:cs typeface="Times New Roman" panose="02020603050405020304" pitchFamily="18" charset="0"/>
                  </a:rPr>
                  <a:t>的总数，</a:t>
                </a:r>
                <a:r>
                  <a:rPr lang="en-US" altLang="zh-CN" sz="2400" dirty="0">
                    <a:latin typeface="Times New Roman" panose="02020603050405020304" pitchFamily="18" charset="0"/>
                    <a:cs typeface="Times New Roman" panose="02020603050405020304" pitchFamily="18" charset="0"/>
                  </a:rPr>
                  <a:t>K</a:t>
                </a:r>
                <a:r>
                  <a:rPr lang="zh-CN" altLang="zh-CN" sz="2400" dirty="0">
                    <a:latin typeface="Times New Roman" panose="02020603050405020304" pitchFamily="18" charset="0"/>
                    <a:cs typeface="Times New Roman" panose="02020603050405020304" pitchFamily="18" charset="0"/>
                  </a:rPr>
                  <a:t>为类别的个数。先验概率计算的是类别</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oMath>
                </a14:m>
                <a:r>
                  <a:rPr lang="zh-CN" altLang="zh-CN" sz="2400" dirty="0">
                    <a:latin typeface="Times New Roman" panose="02020603050405020304" pitchFamily="18" charset="0"/>
                    <a:cs typeface="Times New Roman" panose="02020603050405020304" pitchFamily="18" charset="0"/>
                  </a:rPr>
                  <a:t>在训练样本集中</a:t>
                </a:r>
                <a:r>
                  <a:rPr lang="zh-CN" altLang="en-US" sz="2400" dirty="0">
                    <a:latin typeface="Times New Roman" panose="02020603050405020304" pitchFamily="18" charset="0"/>
                    <a:cs typeface="Times New Roman" panose="02020603050405020304" pitchFamily="18" charset="0"/>
                  </a:rPr>
                  <a:t>出现</a:t>
                </a:r>
                <a:r>
                  <a:rPr lang="zh-CN" altLang="zh-CN" sz="2400" dirty="0">
                    <a:latin typeface="Times New Roman" panose="02020603050405020304" pitchFamily="18" charset="0"/>
                    <a:cs typeface="Times New Roman" panose="02020603050405020304" pitchFamily="18" charset="0"/>
                  </a:rPr>
                  <a:t>的频率。</a:t>
                </a:r>
              </a:p>
            </p:txBody>
          </p:sp>
        </mc:Choice>
        <mc:Fallback xmlns="">
          <p:sp>
            <p:nvSpPr>
              <p:cNvPr id="4" name="文本框 3"/>
              <p:cNvSpPr txBox="1">
                <a:spLocks noRot="1" noChangeAspect="1" noMove="1" noResize="1" noEditPoints="1" noAdjustHandles="1" noChangeArrowheads="1" noChangeShapeType="1" noTextEdit="1"/>
              </p:cNvSpPr>
              <p:nvPr/>
            </p:nvSpPr>
            <p:spPr>
              <a:xfrm>
                <a:off x="651266" y="1363458"/>
                <a:ext cx="11029071" cy="4241097"/>
              </a:xfrm>
              <a:prstGeom prst="rect">
                <a:avLst/>
              </a:prstGeom>
              <a:blipFill rotWithShape="1">
                <a:blip r:embed="rId2"/>
                <a:stretch>
                  <a:fillRect l="-4" t="-3" r="1" b="-104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算法步骤</a:t>
            </a:r>
          </a:p>
        </p:txBody>
      </p:sp>
      <mc:AlternateContent xmlns:mc="http://schemas.openxmlformats.org/markup-compatibility/2006" xmlns:a14="http://schemas.microsoft.com/office/drawing/2010/main">
        <mc:Choice Requires="a14">
          <p:sp>
            <p:nvSpPr>
              <p:cNvPr id="4" name="文本框 3"/>
              <p:cNvSpPr txBox="1"/>
              <p:nvPr/>
            </p:nvSpPr>
            <p:spPr>
              <a:xfrm>
                <a:off x="581464" y="1202621"/>
                <a:ext cx="11029071" cy="3416576"/>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altLang="zh-CN" sz="2800" b="1" dirty="0">
                    <a:solidFill>
                      <a:schemeClr val="accent1">
                        <a:lumMod val="50000"/>
                      </a:schemeClr>
                    </a:solidFill>
                    <a:latin typeface="Times New Roman" panose="02020603050405020304" pitchFamily="18" charset="0"/>
                    <a:cs typeface="Times New Roman" panose="02020603050405020304" pitchFamily="18" charset="0"/>
                  </a:rPr>
                  <a:t>3.</a:t>
                </a:r>
                <a:r>
                  <a:rPr lang="zh-CN" altLang="zh-CN" sz="2800" b="1" dirty="0">
                    <a:solidFill>
                      <a:schemeClr val="accent1">
                        <a:lumMod val="50000"/>
                      </a:schemeClr>
                    </a:solidFill>
                    <a:latin typeface="Times New Roman" panose="02020603050405020304" pitchFamily="18" charset="0"/>
                    <a:cs typeface="Times New Roman" panose="02020603050405020304" pitchFamily="18" charset="0"/>
                  </a:rPr>
                  <a:t>计算各类别下各特征属性</a:t>
                </a:r>
                <a14:m>
                  <m:oMath xmlns:m="http://schemas.openxmlformats.org/officeDocument/2006/math">
                    <m:sSub>
                      <m:sSubPr>
                        <m:ctrlPr>
                          <a:rPr lang="zh-CN" altLang="zh-CN" sz="2800" b="1" i="1">
                            <a:solidFill>
                              <a:schemeClr val="accent1">
                                <a:lumMod val="50000"/>
                              </a:schemeClr>
                            </a:solidFill>
                            <a:latin typeface="Cambria Math" panose="02040503050406030204" pitchFamily="18" charset="0"/>
                            <a:cs typeface="Times New Roman" panose="02020603050405020304" pitchFamily="18" charset="0"/>
                          </a:rPr>
                        </m:ctrlPr>
                      </m:sSubPr>
                      <m:e>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𝒙</m:t>
                        </m:r>
                      </m:e>
                      <m:sub>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𝒋</m:t>
                        </m:r>
                      </m:sub>
                    </m:sSub>
                  </m:oMath>
                </a14:m>
                <a:r>
                  <a:rPr lang="zh-CN" altLang="zh-CN" sz="2800" b="1" dirty="0">
                    <a:solidFill>
                      <a:schemeClr val="accent1">
                        <a:lumMod val="50000"/>
                      </a:schemeClr>
                    </a:solidFill>
                    <a:latin typeface="Times New Roman" panose="02020603050405020304" pitchFamily="18" charset="0"/>
                    <a:cs typeface="Times New Roman" panose="02020603050405020304" pitchFamily="18" charset="0"/>
                  </a:rPr>
                  <a:t>的条件概率</a:t>
                </a:r>
                <a:endParaRPr lang="en-US" altLang="zh-CN" sz="2800" b="1" dirty="0">
                  <a:solidFill>
                    <a:schemeClr val="accent1">
                      <a:lumMod val="50000"/>
                    </a:schemeClr>
                  </a:solidFill>
                  <a:latin typeface="Times New Roman" panose="02020603050405020304" pitchFamily="18" charset="0"/>
                  <a:cs typeface="Times New Roman" panose="02020603050405020304" pitchFamily="18" charset="0"/>
                </a:endParaRPr>
              </a:p>
              <a:p>
                <a:pPr marL="514350" indent="-514350">
                  <a:lnSpc>
                    <a:spcPct val="150000"/>
                  </a:lnSpc>
                  <a:buFont typeface="+mj-ea"/>
                  <a:buAutoNum type="circleNumDbPlain"/>
                </a:pPr>
                <a:r>
                  <a:rPr lang="zh-CN" altLang="zh-CN" sz="2400" dirty="0">
                    <a:latin typeface="Times New Roman" panose="02020603050405020304" pitchFamily="18" charset="0"/>
                    <a:cs typeface="Times New Roman" panose="02020603050405020304" pitchFamily="18" charset="0"/>
                  </a:rPr>
                  <a:t>如果</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是离散值，可以假设</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符合多项式分布，这样得到的条件概率是在样本类别</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oMath>
                </a14:m>
                <a:r>
                  <a:rPr lang="zh-CN" altLang="zh-CN" sz="2400" dirty="0">
                    <a:latin typeface="Times New Roman" panose="02020603050405020304" pitchFamily="18" charset="0"/>
                    <a:cs typeface="Times New Roman" panose="02020603050405020304" pitchFamily="18" charset="0"/>
                  </a:rPr>
                  <a:t>中，特征</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出现的频率，即</a:t>
                </a:r>
                <a:endParaRPr lang="en-US" altLang="zh-CN" sz="24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cs typeface="Times New Roman" panose="02020603050405020304" pitchFamily="18" charset="0"/>
                        </a:rPr>
                        <m:t>P</m:t>
                      </m:r>
                      <m:d>
                        <m:dPr>
                          <m:ctrlPr>
                            <a:rPr lang="zh-CN" altLang="zh-CN" sz="2400" i="1">
                              <a:latin typeface="Cambria Math" panose="02040503050406030204" pitchFamily="18" charset="0"/>
                              <a:cs typeface="Times New Roman" panose="02020603050405020304" pitchFamily="18" charset="0"/>
                            </a:rPr>
                          </m:ctrlPr>
                        </m:dPr>
                        <m:e>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𝑋</m:t>
                              </m:r>
                            </m:e>
                            <m:sub>
                              <m:r>
                                <a:rPr lang="en-US" altLang="zh-CN" sz="2400">
                                  <a:latin typeface="Cambria Math" panose="02040503050406030204" pitchFamily="18" charset="0"/>
                                  <a:cs typeface="Times New Roman" panose="02020603050405020304" pitchFamily="18" charset="0"/>
                                </a:rPr>
                                <m:t>𝑗</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e>
                        <m:e>
                          <m:r>
                            <m:rPr>
                              <m:sty m:val="p"/>
                            </m:rPr>
                            <a:rPr lang="en-US" altLang="zh-CN" sz="2400">
                              <a:latin typeface="Cambria Math" panose="02040503050406030204" pitchFamily="18" charset="0"/>
                              <a:cs typeface="Times New Roman" panose="02020603050405020304" pitchFamily="18" charset="0"/>
                            </a:rPr>
                            <m:t>Y</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e>
                      </m:d>
                      <m:r>
                        <a:rPr lang="en-US" altLang="zh-CN" sz="2400">
                          <a:latin typeface="Cambria Math" panose="02040503050406030204" pitchFamily="18" charset="0"/>
                          <a:cs typeface="Times New Roman" panose="02020603050405020304" pitchFamily="18" charset="0"/>
                        </a:rPr>
                        <m:t>=</m:t>
                      </m:r>
                      <m:f>
                        <m:fPr>
                          <m:ctrlPr>
                            <a:rPr lang="zh-CN" altLang="zh-CN" sz="2400" i="1">
                              <a:latin typeface="Cambria Math" panose="02040503050406030204" pitchFamily="18" charset="0"/>
                              <a:cs typeface="Times New Roman" panose="02020603050405020304" pitchFamily="18" charset="0"/>
                            </a:rPr>
                          </m:ctrlPr>
                        </m:fPr>
                        <m:num>
                          <m:nary>
                            <m:naryPr>
                              <m:chr m:val="∑"/>
                              <m:limLoc m:val="subSup"/>
                              <m:ctrlPr>
                                <a:rPr lang="zh-CN" altLang="zh-CN" sz="2400" i="1">
                                  <a:latin typeface="Cambria Math" panose="02040503050406030204" pitchFamily="18" charset="0"/>
                                  <a:cs typeface="Times New Roman" panose="02020603050405020304" pitchFamily="18" charset="0"/>
                                </a:rPr>
                              </m:ctrlPr>
                            </m:naryPr>
                            <m:sub>
                              <m:r>
                                <a:rPr lang="en-US" altLang="zh-CN" sz="2400">
                                  <a:latin typeface="Cambria Math" panose="02040503050406030204" pitchFamily="18" charset="0"/>
                                  <a:cs typeface="Times New Roman" panose="02020603050405020304" pitchFamily="18" charset="0"/>
                                </a:rPr>
                                <m:t>𝑖</m:t>
                              </m:r>
                              <m:r>
                                <a:rPr lang="en-US" altLang="zh-CN" sz="2400">
                                  <a:latin typeface="Cambria Math" panose="02040503050406030204" pitchFamily="18" charset="0"/>
                                  <a:cs typeface="Times New Roman" panose="02020603050405020304" pitchFamily="18" charset="0"/>
                                </a:rPr>
                                <m:t>=1</m:t>
                              </m:r>
                            </m:sub>
                            <m:sup>
                              <m:r>
                                <a:rPr lang="en-US" altLang="zh-CN" sz="2400">
                                  <a:latin typeface="Cambria Math" panose="02040503050406030204" pitchFamily="18" charset="0"/>
                                  <a:cs typeface="Times New Roman" panose="02020603050405020304" pitchFamily="18" charset="0"/>
                                </a:rPr>
                                <m:t>𝑚</m:t>
                              </m:r>
                            </m:sup>
                            <m:e>
                              <m:r>
                                <a:rPr lang="en-US" altLang="zh-CN" sz="2400">
                                  <a:latin typeface="Cambria Math" panose="02040503050406030204" pitchFamily="18" charset="0"/>
                                  <a:cs typeface="Times New Roman" panose="02020603050405020304" pitchFamily="18" charset="0"/>
                                </a:rPr>
                                <m:t>𝐼</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𝑋</m:t>
                                  </m:r>
                                </m:e>
                                <m:sub>
                                  <m:r>
                                    <a:rPr lang="en-US" altLang="zh-CN" sz="2400">
                                      <a:latin typeface="Cambria Math" panose="02040503050406030204" pitchFamily="18" charset="0"/>
                                      <a:cs typeface="Times New Roman" panose="02020603050405020304" pitchFamily="18" charset="0"/>
                                    </a:rPr>
                                    <m:t>𝑗</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𝑦</m:t>
                                  </m:r>
                                </m:e>
                                <m:sub>
                                  <m:r>
                                    <a:rPr lang="en-US" altLang="zh-CN" sz="2400">
                                      <a:latin typeface="Cambria Math" panose="02040503050406030204" pitchFamily="18" charset="0"/>
                                      <a:cs typeface="Times New Roman" panose="02020603050405020304" pitchFamily="18" charset="0"/>
                                    </a:rPr>
                                    <m:t>𝑖</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r>
                                <a:rPr lang="en-US" altLang="zh-CN" sz="2400">
                                  <a:latin typeface="Cambria Math" panose="02040503050406030204" pitchFamily="18" charset="0"/>
                                  <a:cs typeface="Times New Roman" panose="02020603050405020304" pitchFamily="18" charset="0"/>
                                </a:rPr>
                                <m:t>)</m:t>
                              </m:r>
                            </m:e>
                          </m:nary>
                        </m:num>
                        <m:den>
                          <m:nary>
                            <m:naryPr>
                              <m:chr m:val="∑"/>
                              <m:limLoc m:val="subSup"/>
                              <m:ctrlPr>
                                <a:rPr lang="zh-CN" altLang="zh-CN" sz="2400" i="1">
                                  <a:latin typeface="Cambria Math" panose="02040503050406030204" pitchFamily="18" charset="0"/>
                                  <a:cs typeface="Times New Roman" panose="02020603050405020304" pitchFamily="18" charset="0"/>
                                </a:rPr>
                              </m:ctrlPr>
                            </m:naryPr>
                            <m:sub>
                              <m:r>
                                <a:rPr lang="en-US" altLang="zh-CN" sz="2400">
                                  <a:latin typeface="Cambria Math" panose="02040503050406030204" pitchFamily="18" charset="0"/>
                                  <a:cs typeface="Times New Roman" panose="02020603050405020304" pitchFamily="18" charset="0"/>
                                </a:rPr>
                                <m:t>𝑖</m:t>
                              </m:r>
                              <m:r>
                                <a:rPr lang="en-US" altLang="zh-CN" sz="2400">
                                  <a:latin typeface="Cambria Math" panose="02040503050406030204" pitchFamily="18" charset="0"/>
                                  <a:cs typeface="Times New Roman" panose="02020603050405020304" pitchFamily="18" charset="0"/>
                                </a:rPr>
                                <m:t>=1</m:t>
                              </m:r>
                            </m:sub>
                            <m:sup>
                              <m:r>
                                <a:rPr lang="en-US" altLang="zh-CN" sz="2400">
                                  <a:latin typeface="Cambria Math" panose="02040503050406030204" pitchFamily="18" charset="0"/>
                                  <a:cs typeface="Times New Roman" panose="02020603050405020304" pitchFamily="18" charset="0"/>
                                </a:rPr>
                                <m:t>𝑚</m:t>
                              </m:r>
                            </m:sup>
                            <m:e>
                              <m:r>
                                <a:rPr lang="en-US" altLang="zh-CN" sz="2400">
                                  <a:latin typeface="Cambria Math" panose="02040503050406030204" pitchFamily="18" charset="0"/>
                                  <a:cs typeface="Times New Roman" panose="02020603050405020304" pitchFamily="18" charset="0"/>
                                </a:rPr>
                                <m:t>𝐼</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𝑦</m:t>
                                  </m:r>
                                </m:e>
                                <m:sub>
                                  <m:r>
                                    <a:rPr lang="en-US" altLang="zh-CN" sz="2400">
                                      <a:latin typeface="Cambria Math" panose="02040503050406030204" pitchFamily="18" charset="0"/>
                                      <a:cs typeface="Times New Roman" panose="02020603050405020304" pitchFamily="18" charset="0"/>
                                    </a:rPr>
                                    <m:t>𝑖</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r>
                                <a:rPr lang="en-US" altLang="zh-CN" sz="2400">
                                  <a:latin typeface="Cambria Math" panose="02040503050406030204" pitchFamily="18" charset="0"/>
                                  <a:cs typeface="Times New Roman" panose="02020603050405020304" pitchFamily="18" charset="0"/>
                                </a:rPr>
                                <m:t>)</m:t>
                              </m:r>
                            </m:e>
                          </m:nary>
                        </m:den>
                      </m:f>
                    </m:oMath>
                  </m:oMathPara>
                </a14:m>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其中，</a:t>
                </a:r>
                <a14:m>
                  <m:oMath xmlns:m="http://schemas.openxmlformats.org/officeDocument/2006/math">
                    <m:r>
                      <a:rPr lang="zh-CN" altLang="zh-CN" sz="2400">
                        <a:latin typeface="Cambria Math" panose="02040503050406030204" pitchFamily="18" charset="0"/>
                        <a:cs typeface="Times New Roman" panose="02020603050405020304" pitchFamily="18" charset="0"/>
                      </a:rPr>
                      <m:t> </m:t>
                    </m:r>
                    <m:nary>
                      <m:naryPr>
                        <m:chr m:val="∑"/>
                        <m:limLoc m:val="subSup"/>
                        <m:ctrlPr>
                          <a:rPr lang="zh-CN" altLang="zh-CN" sz="2400" i="1">
                            <a:latin typeface="Cambria Math" panose="02040503050406030204" pitchFamily="18" charset="0"/>
                            <a:cs typeface="Times New Roman" panose="02020603050405020304" pitchFamily="18" charset="0"/>
                          </a:rPr>
                        </m:ctrlPr>
                      </m:naryPr>
                      <m:sub>
                        <m:r>
                          <a:rPr lang="en-US" altLang="zh-CN" sz="2400">
                            <a:latin typeface="Cambria Math" panose="02040503050406030204" pitchFamily="18" charset="0"/>
                            <a:cs typeface="Times New Roman" panose="02020603050405020304" pitchFamily="18" charset="0"/>
                          </a:rPr>
                          <m:t>𝑖</m:t>
                        </m:r>
                        <m:r>
                          <a:rPr lang="en-US" altLang="zh-CN" sz="2400">
                            <a:latin typeface="Cambria Math" panose="02040503050406030204" pitchFamily="18" charset="0"/>
                            <a:cs typeface="Times New Roman" panose="02020603050405020304" pitchFamily="18" charset="0"/>
                          </a:rPr>
                          <m:t>=1</m:t>
                        </m:r>
                      </m:sub>
                      <m:sup>
                        <m:r>
                          <a:rPr lang="en-US" altLang="zh-CN" sz="2400">
                            <a:latin typeface="Cambria Math" panose="02040503050406030204" pitchFamily="18" charset="0"/>
                            <a:cs typeface="Times New Roman" panose="02020603050405020304" pitchFamily="18" charset="0"/>
                          </a:rPr>
                          <m:t>𝑚</m:t>
                        </m:r>
                      </m:sup>
                      <m:e>
                        <m:r>
                          <a:rPr lang="en-US" altLang="zh-CN" sz="2400">
                            <a:latin typeface="Cambria Math" panose="02040503050406030204" pitchFamily="18" charset="0"/>
                            <a:cs typeface="Times New Roman" panose="02020603050405020304" pitchFamily="18" charset="0"/>
                          </a:rPr>
                          <m:t>𝐼</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𝑋</m:t>
                            </m:r>
                          </m:e>
                          <m:sub>
                            <m:r>
                              <a:rPr lang="en-US" altLang="zh-CN" sz="2400">
                                <a:latin typeface="Cambria Math" panose="02040503050406030204" pitchFamily="18" charset="0"/>
                                <a:cs typeface="Times New Roman" panose="02020603050405020304" pitchFamily="18" charset="0"/>
                              </a:rPr>
                              <m:t>𝑗</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𝑦</m:t>
                            </m:r>
                          </m:e>
                          <m:sub>
                            <m:r>
                              <a:rPr lang="en-US" altLang="zh-CN" sz="2400">
                                <a:latin typeface="Cambria Math" panose="02040503050406030204" pitchFamily="18" charset="0"/>
                                <a:cs typeface="Times New Roman" panose="02020603050405020304" pitchFamily="18" charset="0"/>
                              </a:rPr>
                              <m:t>𝑖</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r>
                          <a:rPr lang="en-US" altLang="zh-CN" sz="2400">
                            <a:latin typeface="Cambria Math" panose="02040503050406030204" pitchFamily="18" charset="0"/>
                            <a:cs typeface="Times New Roman" panose="02020603050405020304" pitchFamily="18" charset="0"/>
                          </a:rPr>
                          <m:t>)</m:t>
                        </m:r>
                      </m:e>
                    </m:nary>
                  </m:oMath>
                </a14:m>
                <a:r>
                  <a:rPr lang="zh-CN" altLang="zh-CN" sz="2400" dirty="0">
                    <a:latin typeface="Times New Roman" panose="02020603050405020304" pitchFamily="18" charset="0"/>
                    <a:cs typeface="Times New Roman" panose="02020603050405020304" pitchFamily="18" charset="0"/>
                  </a:rPr>
                  <a:t>为样本类别</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oMath>
                </a14:m>
                <a:r>
                  <a:rPr lang="zh-CN" altLang="zh-CN" sz="2400" dirty="0">
                    <a:latin typeface="Times New Roman" panose="02020603050405020304" pitchFamily="18" charset="0"/>
                    <a:cs typeface="Times New Roman" panose="02020603050405020304" pitchFamily="18" charset="0"/>
                  </a:rPr>
                  <a:t>中，特征属性</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出现的频率。</a:t>
                </a:r>
                <a:endParaRPr lang="en-US" altLang="zh-CN" sz="2400" dirty="0">
                  <a:latin typeface="Times New Roman" panose="02020603050405020304" pitchFamily="18" charset="0"/>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81464" y="1202621"/>
                <a:ext cx="11029071" cy="3416576"/>
              </a:xfrm>
              <a:prstGeom prst="rect">
                <a:avLst/>
              </a:prstGeom>
              <a:blipFill rotWithShape="1">
                <a:blip r:embed="rId2"/>
                <a:stretch>
                  <a:fillRect l="-4" t="-17" r="2" b="-3042"/>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算法步骤</a:t>
            </a:r>
          </a:p>
        </p:txBody>
      </p:sp>
      <mc:AlternateContent xmlns:mc="http://schemas.openxmlformats.org/markup-compatibility/2006" xmlns:a14="http://schemas.microsoft.com/office/drawing/2010/main">
        <mc:Choice Requires="a14">
          <p:sp>
            <p:nvSpPr>
              <p:cNvPr id="4" name="文本框 3"/>
              <p:cNvSpPr txBox="1"/>
              <p:nvPr/>
            </p:nvSpPr>
            <p:spPr>
              <a:xfrm>
                <a:off x="581464" y="1597601"/>
                <a:ext cx="11029071" cy="2730491"/>
              </a:xfrm>
              <a:prstGeom prst="rect">
                <a:avLst/>
              </a:prstGeom>
              <a:noFill/>
            </p:spPr>
            <p:txBody>
              <a:bodyPr wrap="square" rtlCol="0">
                <a:spAutoFit/>
              </a:bodyPr>
              <a:lstStyle/>
              <a:p>
                <a:pPr>
                  <a:lnSpc>
                    <a:spcPct val="150000"/>
                  </a:lnSpc>
                </a:pPr>
                <a:r>
                  <a:rPr lang="en-US" altLang="zh-CN" sz="2800" dirty="0"/>
                  <a:t>      </a:t>
                </a:r>
                <a:r>
                  <a:rPr lang="zh-CN" altLang="zh-CN" sz="2400" dirty="0">
                    <a:latin typeface="Times New Roman" panose="02020603050405020304" pitchFamily="18" charset="0"/>
                    <a:cs typeface="Times New Roman" panose="02020603050405020304" pitchFamily="18" charset="0"/>
                  </a:rPr>
                  <a:t>某些时候，可能某些类别在样本中没有出现，这可能导致条件概率为</a:t>
                </a:r>
                <a:r>
                  <a:rPr lang="en-US" altLang="zh-CN" sz="2400" dirty="0">
                    <a:latin typeface="Times New Roman" panose="02020603050405020304" pitchFamily="18" charset="0"/>
                    <a:cs typeface="Times New Roman" panose="02020603050405020304" pitchFamily="18" charset="0"/>
                  </a:rPr>
                  <a:t>0</a:t>
                </a:r>
                <a:r>
                  <a:rPr lang="zh-CN" altLang="zh-CN" sz="2400" dirty="0">
                    <a:latin typeface="Times New Roman" panose="02020603050405020304" pitchFamily="18" charset="0"/>
                    <a:cs typeface="Times New Roman" panose="02020603050405020304" pitchFamily="18" charset="0"/>
                  </a:rPr>
                  <a:t>，这样会影响后验概率的估计。为了解决这种情况，引入了拉普拉斯平滑，即此时有</a:t>
                </a:r>
                <a:endParaRPr lang="en-US" altLang="zh-CN" sz="24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rPr>
                        <m:t>P</m:t>
                      </m:r>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𝑋</m:t>
                              </m:r>
                            </m:e>
                            <m:sub>
                              <m:r>
                                <a:rPr lang="en-US" altLang="zh-CN" sz="2400">
                                  <a:latin typeface="Cambria Math" panose="02040503050406030204" pitchFamily="18" charset="0"/>
                                </a:rPr>
                                <m:t>𝑗</m:t>
                              </m:r>
                            </m:sub>
                          </m:sSub>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𝑥</m:t>
                              </m:r>
                            </m:e>
                            <m:sub>
                              <m:r>
                                <a:rPr lang="en-US" altLang="zh-CN" sz="2400">
                                  <a:latin typeface="Cambria Math" panose="02040503050406030204" pitchFamily="18" charset="0"/>
                                </a:rPr>
                                <m:t>𝑗</m:t>
                              </m:r>
                            </m:sub>
                          </m:sSub>
                        </m:e>
                        <m:e>
                          <m:r>
                            <m:rPr>
                              <m:sty m:val="p"/>
                            </m:rPr>
                            <a:rPr lang="en-US" altLang="zh-CN" sz="2400">
                              <a:latin typeface="Cambria Math" panose="02040503050406030204" pitchFamily="18" charset="0"/>
                            </a:rPr>
                            <m:t>Y</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e>
                      </m:d>
                      <m:r>
                        <a:rPr lang="en-US" altLang="zh-CN" sz="2400">
                          <a:latin typeface="Cambria Math" panose="02040503050406030204" pitchFamily="18" charset="0"/>
                        </a:rPr>
                        <m:t>=</m:t>
                      </m:r>
                      <m:f>
                        <m:fPr>
                          <m:ctrlPr>
                            <a:rPr lang="zh-CN" altLang="zh-CN" sz="2400" i="1">
                              <a:latin typeface="Cambria Math" panose="02040503050406030204" pitchFamily="18" charset="0"/>
                            </a:rPr>
                          </m:ctrlPr>
                        </m:fPr>
                        <m:num>
                          <m:nary>
                            <m:naryPr>
                              <m:chr m:val="∑"/>
                              <m:limLoc m:val="subSup"/>
                              <m:ctrlPr>
                                <a:rPr lang="zh-CN" altLang="zh-CN" sz="2400" i="1">
                                  <a:latin typeface="Cambria Math" panose="02040503050406030204" pitchFamily="18" charset="0"/>
                                </a:rPr>
                              </m:ctrlPr>
                            </m:naryPr>
                            <m:sub>
                              <m:r>
                                <a:rPr lang="en-US" altLang="zh-CN" sz="2400">
                                  <a:latin typeface="Cambria Math" panose="02040503050406030204" pitchFamily="18" charset="0"/>
                                </a:rPr>
                                <m:t>𝑖</m:t>
                              </m:r>
                              <m:r>
                                <a:rPr lang="en-US" altLang="zh-CN" sz="2400">
                                  <a:latin typeface="Cambria Math" panose="02040503050406030204" pitchFamily="18" charset="0"/>
                                </a:rPr>
                                <m:t>=1</m:t>
                              </m:r>
                            </m:sub>
                            <m:sup>
                              <m:r>
                                <a:rPr lang="en-US" altLang="zh-CN" sz="2400">
                                  <a:latin typeface="Cambria Math" panose="02040503050406030204" pitchFamily="18" charset="0"/>
                                </a:rPr>
                                <m:t>𝑚</m:t>
                              </m:r>
                            </m:sup>
                            <m:e>
                              <m:r>
                                <a:rPr lang="en-US" altLang="zh-CN" sz="2400">
                                  <a:latin typeface="Cambria Math" panose="02040503050406030204" pitchFamily="18" charset="0"/>
                                </a:rPr>
                                <m:t>𝐼</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𝑋</m:t>
                                  </m:r>
                                </m:e>
                                <m:sub>
                                  <m:r>
                                    <a:rPr lang="en-US" altLang="zh-CN" sz="2400">
                                      <a:latin typeface="Cambria Math" panose="02040503050406030204" pitchFamily="18" charset="0"/>
                                    </a:rPr>
                                    <m:t>𝑗</m:t>
                                  </m:r>
                                </m:sub>
                              </m:sSub>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𝑥</m:t>
                                  </m:r>
                                </m:e>
                                <m:sub>
                                  <m:r>
                                    <a:rPr lang="en-US" altLang="zh-CN" sz="2400">
                                      <a:latin typeface="Cambria Math" panose="02040503050406030204" pitchFamily="18" charset="0"/>
                                    </a:rPr>
                                    <m:t>𝑗</m:t>
                                  </m:r>
                                </m:sub>
                              </m:sSub>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𝑦</m:t>
                                  </m:r>
                                </m:e>
                                <m:sub>
                                  <m:r>
                                    <a:rPr lang="en-US" altLang="zh-CN" sz="2400">
                                      <a:latin typeface="Cambria Math" panose="02040503050406030204" pitchFamily="18" charset="0"/>
                                    </a:rPr>
                                    <m:t>𝑖</m:t>
                                  </m:r>
                                </m:sub>
                              </m:sSub>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r>
                                <a:rPr lang="en-US" altLang="zh-CN" sz="2400">
                                  <a:latin typeface="Cambria Math" panose="02040503050406030204" pitchFamily="18" charset="0"/>
                                </a:rPr>
                                <m:t>)</m:t>
                              </m:r>
                            </m:e>
                          </m:nary>
                          <m:r>
                            <a:rPr lang="en-US" altLang="zh-CN" sz="2400">
                              <a:latin typeface="Cambria Math" panose="02040503050406030204" pitchFamily="18" charset="0"/>
                            </a:rPr>
                            <m:t>+</m:t>
                          </m:r>
                          <m:r>
                            <a:rPr lang="en-US" altLang="zh-CN" sz="2400">
                              <a:latin typeface="Cambria Math" panose="02040503050406030204" pitchFamily="18" charset="0"/>
                            </a:rPr>
                            <m:t>𝜆</m:t>
                          </m:r>
                        </m:num>
                        <m:den>
                          <m:nary>
                            <m:naryPr>
                              <m:chr m:val="∑"/>
                              <m:limLoc m:val="subSup"/>
                              <m:ctrlPr>
                                <a:rPr lang="zh-CN" altLang="zh-CN" sz="2400" i="1">
                                  <a:latin typeface="Cambria Math" panose="02040503050406030204" pitchFamily="18" charset="0"/>
                                </a:rPr>
                              </m:ctrlPr>
                            </m:naryPr>
                            <m:sub>
                              <m:r>
                                <a:rPr lang="en-US" altLang="zh-CN" sz="2400">
                                  <a:latin typeface="Cambria Math" panose="02040503050406030204" pitchFamily="18" charset="0"/>
                                </a:rPr>
                                <m:t>𝑖</m:t>
                              </m:r>
                              <m:r>
                                <a:rPr lang="en-US" altLang="zh-CN" sz="2400">
                                  <a:latin typeface="Cambria Math" panose="02040503050406030204" pitchFamily="18" charset="0"/>
                                </a:rPr>
                                <m:t>=1</m:t>
                              </m:r>
                            </m:sub>
                            <m:sup>
                              <m:r>
                                <a:rPr lang="en-US" altLang="zh-CN" sz="2400">
                                  <a:latin typeface="Cambria Math" panose="02040503050406030204" pitchFamily="18" charset="0"/>
                                </a:rPr>
                                <m:t>𝑚</m:t>
                              </m:r>
                            </m:sup>
                            <m:e>
                              <m:r>
                                <a:rPr lang="en-US" altLang="zh-CN" sz="2400">
                                  <a:latin typeface="Cambria Math" panose="02040503050406030204" pitchFamily="18" charset="0"/>
                                </a:rPr>
                                <m:t>𝐼</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𝑦</m:t>
                                  </m:r>
                                </m:e>
                                <m:sub>
                                  <m:r>
                                    <a:rPr lang="en-US" altLang="zh-CN" sz="2400">
                                      <a:latin typeface="Cambria Math" panose="02040503050406030204" pitchFamily="18" charset="0"/>
                                    </a:rPr>
                                    <m:t>𝑖</m:t>
                                  </m:r>
                                </m:sub>
                              </m:sSub>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r>
                                <a:rPr lang="en-US" altLang="zh-CN" sz="2400">
                                  <a:latin typeface="Cambria Math" panose="02040503050406030204" pitchFamily="18" charset="0"/>
                                </a:rPr>
                                <m:t>)</m:t>
                              </m:r>
                            </m:e>
                          </m:nary>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𝑂</m:t>
                              </m:r>
                            </m:e>
                            <m:sub>
                              <m:r>
                                <a:rPr lang="en-US" altLang="zh-CN" sz="2400">
                                  <a:latin typeface="Cambria Math" panose="02040503050406030204" pitchFamily="18" charset="0"/>
                                </a:rPr>
                                <m:t>𝑗</m:t>
                              </m:r>
                            </m:sub>
                          </m:sSub>
                          <m:r>
                            <a:rPr lang="en-US" altLang="zh-CN" sz="2400">
                              <a:latin typeface="Cambria Math" panose="02040503050406030204" pitchFamily="18" charset="0"/>
                            </a:rPr>
                            <m:t>𝜆</m:t>
                          </m:r>
                        </m:den>
                      </m:f>
                    </m:oMath>
                  </m:oMathPara>
                </a14:m>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其中，</a:t>
                </a:r>
                <a14:m>
                  <m:oMath xmlns:m="http://schemas.openxmlformats.org/officeDocument/2006/math">
                    <m:r>
                      <a:rPr lang="en-US" altLang="zh-CN" sz="2400">
                        <a:latin typeface="Cambria Math" panose="02040503050406030204" pitchFamily="18" charset="0"/>
                      </a:rPr>
                      <m:t>𝜆</m:t>
                    </m:r>
                  </m:oMath>
                </a14:m>
                <a:r>
                  <a:rPr lang="zh-CN" altLang="zh-CN" sz="2400" dirty="0">
                    <a:latin typeface="Times New Roman" panose="02020603050405020304" pitchFamily="18" charset="0"/>
                    <a:cs typeface="Times New Roman" panose="02020603050405020304" pitchFamily="18" charset="0"/>
                  </a:rPr>
                  <a:t>为大于</a:t>
                </a:r>
                <a:r>
                  <a:rPr lang="en-US" altLang="zh-CN" sz="2400" dirty="0">
                    <a:latin typeface="Times New Roman" panose="02020603050405020304" pitchFamily="18" charset="0"/>
                    <a:cs typeface="Times New Roman" panose="02020603050405020304" pitchFamily="18" charset="0"/>
                  </a:rPr>
                  <a:t>0</a:t>
                </a:r>
                <a:r>
                  <a:rPr lang="zh-CN" altLang="zh-CN" sz="2400" dirty="0">
                    <a:latin typeface="Times New Roman" panose="02020603050405020304" pitchFamily="18" charset="0"/>
                    <a:cs typeface="Times New Roman" panose="02020603050405020304" pitchFamily="18" charset="0"/>
                  </a:rPr>
                  <a:t>的常数，常取</a:t>
                </a:r>
                <a:r>
                  <a:rPr lang="en-US" altLang="zh-CN" sz="2400" dirty="0">
                    <a:latin typeface="Times New Roman" panose="02020603050405020304" pitchFamily="18" charset="0"/>
                    <a:cs typeface="Times New Roman" panose="02020603050405020304" pitchFamily="18" charset="0"/>
                  </a:rPr>
                  <a:t>1</a:t>
                </a:r>
                <a:r>
                  <a:rPr lang="zh-CN" altLang="zh-CN" sz="24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𝑂</m:t>
                        </m:r>
                      </m:e>
                      <m:sub>
                        <m:r>
                          <a:rPr lang="en-US" altLang="zh-CN" sz="2400">
                            <a:latin typeface="Cambria Math" panose="02040503050406030204" pitchFamily="18" charset="0"/>
                          </a:rPr>
                          <m:t>𝑗</m:t>
                        </m:r>
                      </m:sub>
                    </m:sSub>
                  </m:oMath>
                </a14:m>
                <a:r>
                  <a:rPr lang="zh-CN" altLang="zh-CN" sz="2400" dirty="0">
                    <a:latin typeface="Times New Roman" panose="02020603050405020304" pitchFamily="18" charset="0"/>
                    <a:cs typeface="Times New Roman" panose="02020603050405020304" pitchFamily="18" charset="0"/>
                  </a:rPr>
                  <a:t>为第</a:t>
                </a:r>
                <a:r>
                  <a:rPr lang="en-US" altLang="zh-CN" sz="2400" dirty="0">
                    <a:latin typeface="Times New Roman" panose="02020603050405020304" pitchFamily="18" charset="0"/>
                    <a:cs typeface="Times New Roman" panose="02020603050405020304" pitchFamily="18" charset="0"/>
                  </a:rPr>
                  <a:t>j</a:t>
                </a:r>
                <a:r>
                  <a:rPr lang="zh-CN" altLang="zh-CN" sz="2400" dirty="0">
                    <a:latin typeface="Times New Roman" panose="02020603050405020304" pitchFamily="18" charset="0"/>
                    <a:cs typeface="Times New Roman" panose="02020603050405020304" pitchFamily="18" charset="0"/>
                  </a:rPr>
                  <a:t>个特征属性的取值总数</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81464" y="1597601"/>
                <a:ext cx="11029071" cy="2730491"/>
              </a:xfrm>
              <a:prstGeom prst="rect">
                <a:avLst/>
              </a:prstGeom>
              <a:blipFill rotWithShape="1">
                <a:blip r:embed="rId2"/>
                <a:stretch>
                  <a:fillRect l="-4" t="-21" r="2" b="2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算法步骤</a:t>
            </a:r>
          </a:p>
        </p:txBody>
      </p:sp>
      <mc:AlternateContent xmlns:mc="http://schemas.openxmlformats.org/markup-compatibility/2006" xmlns:a14="http://schemas.microsoft.com/office/drawing/2010/main">
        <mc:Choice Requires="a14">
          <p:sp>
            <p:nvSpPr>
              <p:cNvPr id="4" name="文本框 3"/>
              <p:cNvSpPr txBox="1"/>
              <p:nvPr/>
            </p:nvSpPr>
            <p:spPr>
              <a:xfrm>
                <a:off x="576022" y="1580277"/>
                <a:ext cx="11029071" cy="3337837"/>
              </a:xfrm>
              <a:prstGeom prst="rect">
                <a:avLst/>
              </a:prstGeom>
              <a:noFill/>
            </p:spPr>
            <p:txBody>
              <a:bodyPr wrap="square" rtlCol="0">
                <a:spAutoFit/>
              </a:bodyPr>
              <a:lstStyle/>
              <a:p>
                <a:pPr marL="514350" indent="-514350">
                  <a:lnSpc>
                    <a:spcPct val="150000"/>
                  </a:lnSpc>
                  <a:buFont typeface="+mj-ea"/>
                  <a:buAutoNum type="circleNumDbPlain" startAt="2"/>
                </a:pPr>
                <a:r>
                  <a:rPr lang="zh-CN" altLang="zh-CN" sz="2400" dirty="0">
                    <a:latin typeface="Times New Roman" panose="02020603050405020304" pitchFamily="18" charset="0"/>
                    <a:cs typeface="Times New Roman" panose="02020603050405020304" pitchFamily="18" charset="0"/>
                  </a:rPr>
                  <a:t>如果</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是稀疏二项离散值，即各个特征出现概率很低，可以假设</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符合伯努利分布，即特征</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出现记为</a:t>
                </a:r>
                <a:r>
                  <a:rPr lang="en-US" altLang="zh-CN" sz="2400" dirty="0">
                    <a:latin typeface="Times New Roman" panose="02020603050405020304" pitchFamily="18" charset="0"/>
                    <a:cs typeface="Times New Roman" panose="02020603050405020304" pitchFamily="18" charset="0"/>
                  </a:rPr>
                  <a:t>1</a:t>
                </a:r>
                <a:r>
                  <a:rPr lang="zh-CN" altLang="zh-CN" sz="2400" dirty="0">
                    <a:latin typeface="Times New Roman" panose="02020603050405020304" pitchFamily="18" charset="0"/>
                    <a:cs typeface="Times New Roman" panose="02020603050405020304" pitchFamily="18" charset="0"/>
                  </a:rPr>
                  <a:t>，不出现记为</a:t>
                </a:r>
                <a:r>
                  <a:rPr lang="en-US" altLang="zh-CN" sz="2400" dirty="0">
                    <a:latin typeface="Times New Roman" panose="02020603050405020304" pitchFamily="18" charset="0"/>
                    <a:cs typeface="Times New Roman" panose="02020603050405020304" pitchFamily="18" charset="0"/>
                  </a:rPr>
                  <a:t>0</a:t>
                </a:r>
                <a:r>
                  <a:rPr lang="zh-CN" altLang="zh-CN" sz="2400" dirty="0">
                    <a:latin typeface="Times New Roman" panose="02020603050405020304" pitchFamily="18" charset="0"/>
                    <a:cs typeface="Times New Roman" panose="02020603050405020304" pitchFamily="18" charset="0"/>
                  </a:rPr>
                  <a:t>。我们不关注</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出现的次数。这样得到的条件概率是在样本类别</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oMath>
                </a14:m>
                <a:r>
                  <a:rPr lang="zh-CN" altLang="zh-CN" sz="2400" dirty="0">
                    <a:latin typeface="Times New Roman" panose="02020603050405020304" pitchFamily="18" charset="0"/>
                    <a:cs typeface="Times New Roman" panose="02020603050405020304" pitchFamily="18" charset="0"/>
                  </a:rPr>
                  <a:t>中，</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出现的频率。此时有</a:t>
                </a:r>
              </a:p>
              <a:p>
                <a:pPr>
                  <a:lnSpc>
                    <a:spcPct val="200000"/>
                  </a:lnSpc>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cs typeface="Times New Roman" panose="02020603050405020304" pitchFamily="18" charset="0"/>
                        </a:rPr>
                        <m:t>P</m:t>
                      </m:r>
                      <m:d>
                        <m:dPr>
                          <m:ctrlPr>
                            <a:rPr lang="zh-CN" altLang="zh-CN" sz="2400" i="1">
                              <a:latin typeface="Cambria Math" panose="02040503050406030204" pitchFamily="18" charset="0"/>
                              <a:cs typeface="Times New Roman" panose="02020603050405020304" pitchFamily="18" charset="0"/>
                            </a:rPr>
                          </m:ctrlPr>
                        </m:dPr>
                        <m:e>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𝑋</m:t>
                              </m:r>
                            </m:e>
                            <m:sub>
                              <m:r>
                                <a:rPr lang="en-US" altLang="zh-CN" sz="2400">
                                  <a:latin typeface="Cambria Math" panose="02040503050406030204" pitchFamily="18" charset="0"/>
                                  <a:cs typeface="Times New Roman" panose="02020603050405020304" pitchFamily="18" charset="0"/>
                                </a:rPr>
                                <m:t>𝑗</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e>
                        <m:e>
                          <m:r>
                            <m:rPr>
                              <m:sty m:val="p"/>
                            </m:rPr>
                            <a:rPr lang="en-US" altLang="zh-CN" sz="2400">
                              <a:latin typeface="Cambria Math" panose="02040503050406030204" pitchFamily="18" charset="0"/>
                              <a:cs typeface="Times New Roman" panose="02020603050405020304" pitchFamily="18" charset="0"/>
                            </a:rPr>
                            <m:t>Y</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e>
                      </m:d>
                      <m:r>
                        <a:rPr lang="en-US" altLang="zh-CN" sz="2400">
                          <a:latin typeface="Cambria Math" panose="02040503050406030204" pitchFamily="18" charset="0"/>
                          <a:cs typeface="Times New Roman" panose="02020603050405020304" pitchFamily="18" charset="0"/>
                        </a:rPr>
                        <m:t>=</m:t>
                      </m:r>
                      <m:r>
                        <a:rPr lang="en-US" altLang="zh-CN" sz="2400">
                          <a:latin typeface="Cambria Math" panose="02040503050406030204" pitchFamily="18" charset="0"/>
                          <a:cs typeface="Times New Roman" panose="02020603050405020304" pitchFamily="18" charset="0"/>
                        </a:rPr>
                        <m:t>𝑃</m:t>
                      </m:r>
                      <m:d>
                        <m:dPr>
                          <m:ctrlPr>
                            <a:rPr lang="zh-CN" altLang="zh-CN" sz="2400" i="1">
                              <a:latin typeface="Cambria Math" panose="02040503050406030204" pitchFamily="18" charset="0"/>
                              <a:cs typeface="Times New Roman" panose="02020603050405020304" pitchFamily="18" charset="0"/>
                            </a:rPr>
                          </m:ctrlPr>
                        </m:dPr>
                        <m:e>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𝑋</m:t>
                              </m:r>
                            </m:e>
                            <m:sub>
                              <m:r>
                                <a:rPr lang="en-US" altLang="zh-CN" sz="2400">
                                  <a:latin typeface="Cambria Math" panose="02040503050406030204" pitchFamily="18" charset="0"/>
                                  <a:cs typeface="Times New Roman" panose="02020603050405020304" pitchFamily="18" charset="0"/>
                                </a:rPr>
                                <m:t>𝑗</m:t>
                              </m:r>
                            </m:sub>
                          </m:sSub>
                        </m:e>
                        <m:e>
                          <m:r>
                            <a:rPr lang="en-US" altLang="zh-CN" sz="2400">
                              <a:latin typeface="Cambria Math" panose="02040503050406030204" pitchFamily="18" charset="0"/>
                              <a:cs typeface="Times New Roman" panose="02020603050405020304" pitchFamily="18" charset="0"/>
                            </a:rPr>
                            <m:t>𝑌</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e>
                      </m:d>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r>
                        <a:rPr lang="en-US" altLang="zh-CN" sz="2400">
                          <a:latin typeface="Cambria Math" panose="02040503050406030204" pitchFamily="18" charset="0"/>
                          <a:cs typeface="Times New Roman" panose="02020603050405020304" pitchFamily="18" charset="0"/>
                        </a:rPr>
                        <m:t>+(1−</m:t>
                      </m:r>
                      <m:r>
                        <a:rPr lang="en-US" altLang="zh-CN" sz="2400">
                          <a:latin typeface="Cambria Math" panose="02040503050406030204" pitchFamily="18" charset="0"/>
                          <a:cs typeface="Times New Roman" panose="02020603050405020304" pitchFamily="18" charset="0"/>
                        </a:rPr>
                        <m:t>𝑃</m:t>
                      </m:r>
                      <m:d>
                        <m:dPr>
                          <m:ctrlPr>
                            <a:rPr lang="zh-CN" altLang="zh-CN" sz="2400" i="1">
                              <a:latin typeface="Cambria Math" panose="02040503050406030204" pitchFamily="18" charset="0"/>
                              <a:cs typeface="Times New Roman" panose="02020603050405020304" pitchFamily="18" charset="0"/>
                            </a:rPr>
                          </m:ctrlPr>
                        </m:dPr>
                        <m:e>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𝑋</m:t>
                              </m:r>
                            </m:e>
                            <m:sub>
                              <m:r>
                                <a:rPr lang="en-US" altLang="zh-CN" sz="2400">
                                  <a:latin typeface="Cambria Math" panose="02040503050406030204" pitchFamily="18" charset="0"/>
                                  <a:cs typeface="Times New Roman" panose="02020603050405020304" pitchFamily="18" charset="0"/>
                                </a:rPr>
                                <m:t>𝑗</m:t>
                              </m:r>
                            </m:sub>
                          </m:sSub>
                        </m:e>
                        <m:e>
                          <m:r>
                            <a:rPr lang="en-US" altLang="zh-CN" sz="2400">
                              <a:latin typeface="Cambria Math" panose="02040503050406030204" pitchFamily="18" charset="0"/>
                              <a:cs typeface="Times New Roman" panose="02020603050405020304" pitchFamily="18" charset="0"/>
                            </a:rPr>
                            <m:t>𝑌</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e>
                      </m:d>
                      <m:r>
                        <a:rPr lang="en-US" altLang="zh-CN" sz="2400">
                          <a:latin typeface="Cambria Math" panose="02040503050406030204" pitchFamily="18" charset="0"/>
                          <a:cs typeface="Times New Roman" panose="02020603050405020304" pitchFamily="18" charset="0"/>
                        </a:rPr>
                        <m:t>)(1−</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r>
                        <a:rPr lang="en-US" altLang="zh-CN" sz="2400">
                          <a:latin typeface="Cambria Math" panose="02040503050406030204" pitchFamily="18" charset="0"/>
                          <a:cs typeface="Times New Roman" panose="02020603050405020304" pitchFamily="18" charset="0"/>
                        </a:rPr>
                        <m:t>)</m:t>
                      </m:r>
                    </m:oMath>
                  </m:oMathPara>
                </a14:m>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r>
                      <a:rPr lang="en-US" altLang="zh-CN"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b="0" i="1" smtClean="0">
                        <a:latin typeface="Cambria Math" panose="02040503050406030204" pitchFamily="18" charset="0"/>
                        <a:ea typeface="Cambria Math" panose="02040503050406030204" pitchFamily="18" charset="0"/>
                        <a:cs typeface="Times New Roman" panose="02020603050405020304" pitchFamily="18" charset="0"/>
                      </a:rPr>
                      <m:t>{0,1}</m:t>
                    </m:r>
                  </m:oMath>
                </a14:m>
                <a:r>
                  <a:rPr lang="zh-CN" altLang="zh-CN" sz="2400" dirty="0">
                    <a:latin typeface="Times New Roman" panose="02020603050405020304" pitchFamily="18" charset="0"/>
                    <a:cs typeface="Times New Roman" panose="02020603050405020304" pitchFamily="18" charset="0"/>
                  </a:rPr>
                  <a:t>。</a:t>
                </a:r>
              </a:p>
            </p:txBody>
          </p:sp>
        </mc:Choice>
        <mc:Fallback xmlns="">
          <p:sp>
            <p:nvSpPr>
              <p:cNvPr id="4" name="文本框 3"/>
              <p:cNvSpPr txBox="1">
                <a:spLocks noRot="1" noChangeAspect="1" noMove="1" noResize="1" noEditPoints="1" noAdjustHandles="1" noChangeArrowheads="1" noChangeShapeType="1" noTextEdit="1"/>
              </p:cNvSpPr>
              <p:nvPr/>
            </p:nvSpPr>
            <p:spPr>
              <a:xfrm>
                <a:off x="576022" y="1580277"/>
                <a:ext cx="11029071" cy="3337837"/>
              </a:xfrm>
              <a:prstGeom prst="rect">
                <a:avLst/>
              </a:prstGeom>
              <a:blipFill rotWithShape="1">
                <a:blip r:embed="rId2"/>
                <a:stretch>
                  <a:fillRect l="-1" t="-12" r="4" b="1"/>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算法步骤</a:t>
            </a:r>
          </a:p>
        </p:txBody>
      </p:sp>
      <mc:AlternateContent xmlns:mc="http://schemas.openxmlformats.org/markup-compatibility/2006" xmlns:a14="http://schemas.microsoft.com/office/drawing/2010/main">
        <mc:Choice Requires="a14">
          <p:sp>
            <p:nvSpPr>
              <p:cNvPr id="4" name="文本框 3"/>
              <p:cNvSpPr txBox="1"/>
              <p:nvPr/>
            </p:nvSpPr>
            <p:spPr>
              <a:xfrm>
                <a:off x="630326" y="1403304"/>
                <a:ext cx="11029071" cy="4044569"/>
              </a:xfrm>
              <a:prstGeom prst="rect">
                <a:avLst/>
              </a:prstGeom>
              <a:noFill/>
            </p:spPr>
            <p:txBody>
              <a:bodyPr wrap="square" rtlCol="0">
                <a:spAutoFit/>
              </a:bodyPr>
              <a:lstStyle/>
              <a:p>
                <a:pPr marL="514350" indent="-514350">
                  <a:lnSpc>
                    <a:spcPct val="150000"/>
                  </a:lnSpc>
                  <a:buFont typeface="+mj-ea"/>
                  <a:buAutoNum type="circleNumDbPlain" startAt="3"/>
                </a:pPr>
                <a:r>
                  <a:rPr lang="zh-CN" altLang="zh-CN" sz="2400" dirty="0">
                    <a:latin typeface="Times New Roman" panose="02020603050405020304" pitchFamily="18" charset="0"/>
                    <a:cs typeface="Times New Roman" panose="02020603050405020304" pitchFamily="18" charset="0"/>
                  </a:rPr>
                  <a:t>如果</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是连续值，通常取</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的先验概率为正态分布，即在样本类别</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oMath>
                </a14:m>
                <a:r>
                  <a:rPr lang="zh-CN" altLang="zh-CN" sz="2400" dirty="0">
                    <a:latin typeface="Times New Roman" panose="02020603050405020304" pitchFamily="18" charset="0"/>
                    <a:cs typeface="Times New Roman" panose="02020603050405020304" pitchFamily="18" charset="0"/>
                  </a:rPr>
                  <a:t>中，</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的值符合正态分布。这样得到的条件概率分布是</a:t>
                </a:r>
                <a:endParaRPr lang="en-US" altLang="zh-CN" sz="2400" dirty="0">
                  <a:latin typeface="Times New Roman" panose="02020603050405020304" pitchFamily="18" charset="0"/>
                  <a:cs typeface="Times New Roman" panose="02020603050405020304" pitchFamily="18" charset="0"/>
                </a:endParaRPr>
              </a:p>
              <a:p>
                <a:pPr>
                  <a:lnSpc>
                    <a:spcPct val="90000"/>
                  </a:lnSpc>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cs typeface="Times New Roman" panose="02020603050405020304" pitchFamily="18" charset="0"/>
                        </a:rPr>
                        <m:t>P</m:t>
                      </m:r>
                      <m:d>
                        <m:dPr>
                          <m:ctrlPr>
                            <a:rPr lang="zh-CN" altLang="zh-CN" sz="2400" i="1">
                              <a:latin typeface="Cambria Math" panose="02040503050406030204" pitchFamily="18" charset="0"/>
                              <a:cs typeface="Times New Roman" panose="02020603050405020304" pitchFamily="18" charset="0"/>
                            </a:rPr>
                          </m:ctrlPr>
                        </m:dPr>
                        <m:e>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𝑋</m:t>
                              </m:r>
                            </m:e>
                            <m:sub>
                              <m:r>
                                <a:rPr lang="en-US" altLang="zh-CN" sz="2400">
                                  <a:latin typeface="Cambria Math" panose="02040503050406030204" pitchFamily="18" charset="0"/>
                                  <a:cs typeface="Times New Roman" panose="02020603050405020304" pitchFamily="18" charset="0"/>
                                </a:rPr>
                                <m:t>𝑗</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e>
                        <m:e>
                          <m:r>
                            <m:rPr>
                              <m:sty m:val="p"/>
                            </m:rPr>
                            <a:rPr lang="en-US" altLang="zh-CN" sz="2400">
                              <a:latin typeface="Cambria Math" panose="02040503050406030204" pitchFamily="18" charset="0"/>
                              <a:cs typeface="Times New Roman" panose="02020603050405020304" pitchFamily="18" charset="0"/>
                            </a:rPr>
                            <m:t>Y</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e>
                      </m:d>
                      <m:r>
                        <a:rPr lang="en-US" altLang="zh-CN" sz="2400">
                          <a:latin typeface="Cambria Math" panose="02040503050406030204" pitchFamily="18" charset="0"/>
                          <a:cs typeface="Times New Roman" panose="02020603050405020304" pitchFamily="18" charset="0"/>
                        </a:rPr>
                        <m:t>=</m:t>
                      </m:r>
                      <m:f>
                        <m:fPr>
                          <m:ctrlPr>
                            <a:rPr lang="zh-CN" altLang="zh-CN" sz="2400" i="1">
                              <a:latin typeface="Cambria Math" panose="02040503050406030204" pitchFamily="18" charset="0"/>
                              <a:cs typeface="Times New Roman" panose="02020603050405020304" pitchFamily="18" charset="0"/>
                            </a:rPr>
                          </m:ctrlPr>
                        </m:fPr>
                        <m:num>
                          <m:r>
                            <a:rPr lang="en-US" altLang="zh-CN" sz="2400">
                              <a:latin typeface="Cambria Math" panose="02040503050406030204" pitchFamily="18" charset="0"/>
                              <a:cs typeface="Times New Roman" panose="02020603050405020304" pitchFamily="18" charset="0"/>
                            </a:rPr>
                            <m:t>1</m:t>
                          </m:r>
                        </m:num>
                        <m:den>
                          <m:rad>
                            <m:radPr>
                              <m:degHide m:val="on"/>
                              <m:ctrlPr>
                                <a:rPr lang="zh-CN" altLang="zh-CN" sz="2400" i="1">
                                  <a:latin typeface="Cambria Math" panose="02040503050406030204" pitchFamily="18" charset="0"/>
                                  <a:cs typeface="Times New Roman" panose="02020603050405020304" pitchFamily="18" charset="0"/>
                                </a:rPr>
                              </m:ctrlPr>
                            </m:radPr>
                            <m:deg/>
                            <m:e>
                              <m:r>
                                <a:rPr lang="en-US" altLang="zh-CN" sz="2400">
                                  <a:latin typeface="Cambria Math" panose="02040503050406030204" pitchFamily="18" charset="0"/>
                                  <a:cs typeface="Times New Roman" panose="02020603050405020304" pitchFamily="18" charset="0"/>
                                </a:rPr>
                                <m:t>2</m:t>
                              </m:r>
                              <m:r>
                                <a:rPr lang="en-US" altLang="zh-CN" sz="2400">
                                  <a:latin typeface="Cambria Math" panose="02040503050406030204" pitchFamily="18" charset="0"/>
                                  <a:cs typeface="Times New Roman" panose="02020603050405020304" pitchFamily="18" charset="0"/>
                                </a:rPr>
                                <m:t>𝜋</m:t>
                              </m:r>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𝜎</m:t>
                                  </m:r>
                                </m:e>
                                <m:sub>
                                  <m:r>
                                    <a:rPr lang="en-US" altLang="zh-CN" sz="2400">
                                      <a:latin typeface="Cambria Math" panose="02040503050406030204" pitchFamily="18" charset="0"/>
                                      <a:cs typeface="Times New Roman" panose="02020603050405020304" pitchFamily="18" charset="0"/>
                                    </a:rPr>
                                    <m:t>𝑘</m:t>
                                  </m:r>
                                </m:sub>
                                <m:sup>
                                  <m:r>
                                    <a:rPr lang="en-US" altLang="zh-CN" sz="2400">
                                      <a:latin typeface="Cambria Math" panose="02040503050406030204" pitchFamily="18" charset="0"/>
                                      <a:cs typeface="Times New Roman" panose="02020603050405020304" pitchFamily="18" charset="0"/>
                                    </a:rPr>
                                    <m:t>2</m:t>
                                  </m:r>
                                </m:sup>
                              </m:sSubSup>
                            </m:e>
                          </m:rad>
                        </m:den>
                      </m:f>
                      <m:r>
                        <m:rPr>
                          <m:sty m:val="p"/>
                        </m:rPr>
                        <a:rPr lang="en-US" altLang="zh-CN" sz="2400">
                          <a:latin typeface="Cambria Math" panose="02040503050406030204" pitchFamily="18" charset="0"/>
                          <a:cs typeface="Times New Roman" panose="02020603050405020304" pitchFamily="18" charset="0"/>
                        </a:rPr>
                        <m:t>exp</m:t>
                      </m:r>
                      <m:r>
                        <a:rPr lang="en-US" altLang="zh-CN" sz="2400">
                          <a:latin typeface="Cambria Math" panose="02040503050406030204" pitchFamily="18" charset="0"/>
                          <a:cs typeface="Times New Roman" panose="02020603050405020304" pitchFamily="18" charset="0"/>
                        </a:rPr>
                        <m:t>(−</m:t>
                      </m:r>
                      <m:f>
                        <m:fPr>
                          <m:ctrlPr>
                            <a:rPr lang="zh-CN" altLang="zh-CN" sz="2400" i="1">
                              <a:latin typeface="Cambria Math" panose="02040503050406030204" pitchFamily="18" charset="0"/>
                              <a:cs typeface="Times New Roman" panose="02020603050405020304" pitchFamily="18" charset="0"/>
                            </a:rPr>
                          </m:ctrlPr>
                        </m:fPr>
                        <m:num>
                          <m:sSup>
                            <m:sSupPr>
                              <m:ctrlPr>
                                <a:rPr lang="zh-CN" altLang="zh-CN" sz="2400" i="1">
                                  <a:latin typeface="Cambria Math" panose="02040503050406030204" pitchFamily="18" charset="0"/>
                                  <a:cs typeface="Times New Roman" panose="02020603050405020304" pitchFamily="18" charset="0"/>
                                </a:rPr>
                              </m:ctrlPr>
                            </m:sSupPr>
                            <m:e>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𝜇</m:t>
                                  </m:r>
                                </m:e>
                                <m:sub>
                                  <m:r>
                                    <a:rPr lang="en-US" altLang="zh-CN" sz="2400">
                                      <a:latin typeface="Cambria Math" panose="02040503050406030204" pitchFamily="18" charset="0"/>
                                      <a:cs typeface="Times New Roman" panose="02020603050405020304" pitchFamily="18" charset="0"/>
                                    </a:rPr>
                                    <m:t>𝑘</m:t>
                                  </m:r>
                                </m:sub>
                              </m:sSub>
                              <m:r>
                                <a:rPr lang="en-US" altLang="zh-CN" sz="2400">
                                  <a:latin typeface="Cambria Math" panose="02040503050406030204" pitchFamily="18" charset="0"/>
                                  <a:cs typeface="Times New Roman" panose="02020603050405020304" pitchFamily="18" charset="0"/>
                                </a:rPr>
                                <m:t>)</m:t>
                              </m:r>
                            </m:e>
                            <m:sup>
                              <m:r>
                                <a:rPr lang="en-US" altLang="zh-CN" sz="2400">
                                  <a:latin typeface="Cambria Math" panose="02040503050406030204" pitchFamily="18" charset="0"/>
                                  <a:cs typeface="Times New Roman" panose="02020603050405020304" pitchFamily="18" charset="0"/>
                                </a:rPr>
                                <m:t>2</m:t>
                              </m:r>
                            </m:sup>
                          </m:sSup>
                        </m:num>
                        <m:den>
                          <m:r>
                            <a:rPr lang="en-US" altLang="zh-CN" sz="2400">
                              <a:latin typeface="Cambria Math" panose="02040503050406030204" pitchFamily="18" charset="0"/>
                              <a:cs typeface="Times New Roman" panose="02020603050405020304" pitchFamily="18" charset="0"/>
                            </a:rPr>
                            <m:t>2</m:t>
                          </m:r>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𝜎</m:t>
                              </m:r>
                            </m:e>
                            <m:sub>
                              <m:r>
                                <a:rPr lang="en-US" altLang="zh-CN" sz="2400">
                                  <a:latin typeface="Cambria Math" panose="02040503050406030204" pitchFamily="18" charset="0"/>
                                  <a:cs typeface="Times New Roman" panose="02020603050405020304" pitchFamily="18" charset="0"/>
                                </a:rPr>
                                <m:t>𝑘</m:t>
                              </m:r>
                            </m:sub>
                            <m:sup>
                              <m:r>
                                <a:rPr lang="en-US" altLang="zh-CN" sz="2400">
                                  <a:latin typeface="Cambria Math" panose="02040503050406030204" pitchFamily="18" charset="0"/>
                                  <a:cs typeface="Times New Roman" panose="02020603050405020304" pitchFamily="18" charset="0"/>
                                </a:rPr>
                                <m:t>2</m:t>
                              </m:r>
                            </m:sup>
                          </m:sSubSup>
                        </m:den>
                      </m:f>
                      <m:r>
                        <a:rPr lang="en-US" altLang="zh-CN" sz="2400">
                          <a:latin typeface="Cambria Math" panose="02040503050406030204" pitchFamily="18" charset="0"/>
                          <a:cs typeface="Times New Roman" panose="02020603050405020304" pitchFamily="18" charset="0"/>
                        </a:rPr>
                        <m:t>)</m:t>
                      </m:r>
                    </m:oMath>
                  </m:oMathPara>
                </a14:m>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其中，</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𝜇</m:t>
                        </m:r>
                      </m:e>
                      <m:sub>
                        <m:r>
                          <a:rPr lang="en-US" altLang="zh-CN" sz="2400">
                            <a:latin typeface="Cambria Math" panose="02040503050406030204" pitchFamily="18" charset="0"/>
                            <a:cs typeface="Times New Roman" panose="02020603050405020304" pitchFamily="18" charset="0"/>
                          </a:rPr>
                          <m:t>𝑘</m:t>
                        </m:r>
                      </m:sub>
                    </m:sSub>
                  </m:oMath>
                </a14:m>
                <a:r>
                  <a:rPr lang="zh-CN" altLang="zh-CN" sz="2400" dirty="0">
                    <a:latin typeface="Times New Roman" panose="02020603050405020304" pitchFamily="18" charset="0"/>
                    <a:cs typeface="Times New Roman" panose="02020603050405020304" pitchFamily="18" charset="0"/>
                  </a:rPr>
                  <a:t>和</a:t>
                </a:r>
                <a14:m>
                  <m:oMath xmlns:m="http://schemas.openxmlformats.org/officeDocument/2006/math">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𝜎</m:t>
                        </m:r>
                      </m:e>
                      <m:sub>
                        <m:r>
                          <a:rPr lang="en-US" altLang="zh-CN" sz="2400">
                            <a:latin typeface="Cambria Math" panose="02040503050406030204" pitchFamily="18" charset="0"/>
                            <a:cs typeface="Times New Roman" panose="02020603050405020304" pitchFamily="18" charset="0"/>
                          </a:rPr>
                          <m:t>𝑘</m:t>
                        </m:r>
                      </m:sub>
                      <m:sup>
                        <m:r>
                          <a:rPr lang="en-US" altLang="zh-CN" sz="2400">
                            <a:latin typeface="Cambria Math" panose="02040503050406030204" pitchFamily="18" charset="0"/>
                            <a:cs typeface="Times New Roman" panose="02020603050405020304" pitchFamily="18" charset="0"/>
                          </a:rPr>
                          <m:t>2</m:t>
                        </m:r>
                      </m:sup>
                    </m:sSubSup>
                  </m:oMath>
                </a14:m>
                <a:r>
                  <a:rPr lang="zh-CN" altLang="zh-CN" sz="2400" dirty="0">
                    <a:latin typeface="Times New Roman" panose="02020603050405020304" pitchFamily="18" charset="0"/>
                    <a:cs typeface="Times New Roman" panose="02020603050405020304" pitchFamily="18" charset="0"/>
                  </a:rPr>
                  <a:t>是正态分布的期望和方差，可以通过极大似然估计求得。</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𝜇</m:t>
                        </m:r>
                      </m:e>
                      <m:sub>
                        <m:r>
                          <a:rPr lang="en-US" altLang="zh-CN" sz="2400">
                            <a:latin typeface="Cambria Math" panose="02040503050406030204" pitchFamily="18" charset="0"/>
                            <a:cs typeface="Times New Roman" panose="02020603050405020304" pitchFamily="18" charset="0"/>
                          </a:rPr>
                          <m:t>𝑘</m:t>
                        </m:r>
                      </m:sub>
                    </m:sSub>
                  </m:oMath>
                </a14:m>
                <a:r>
                  <a:rPr lang="zh-CN" altLang="zh-CN" sz="2400" dirty="0">
                    <a:latin typeface="Times New Roman" panose="02020603050405020304" pitchFamily="18" charset="0"/>
                    <a:cs typeface="Times New Roman" panose="02020603050405020304" pitchFamily="18" charset="0"/>
                  </a:rPr>
                  <a:t>为在样本类别</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oMath>
                </a14:m>
                <a:r>
                  <a:rPr lang="zh-CN" altLang="zh-CN" sz="2400" dirty="0">
                    <a:latin typeface="Times New Roman" panose="02020603050405020304" pitchFamily="18" charset="0"/>
                    <a:cs typeface="Times New Roman" panose="02020603050405020304" pitchFamily="18" charset="0"/>
                  </a:rPr>
                  <a:t>中，所有</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𝑋</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的平均值。</a:t>
                </a:r>
                <a14:m>
                  <m:oMath xmlns:m="http://schemas.openxmlformats.org/officeDocument/2006/math">
                    <m:sSubSup>
                      <m:sSubSupPr>
                        <m:ctrlPr>
                          <a:rPr lang="zh-CN" altLang="zh-CN" sz="2400" i="1">
                            <a:latin typeface="Cambria Math" panose="02040503050406030204" pitchFamily="18" charset="0"/>
                            <a:cs typeface="Times New Roman" panose="02020603050405020304" pitchFamily="18" charset="0"/>
                          </a:rPr>
                        </m:ctrlPr>
                      </m:sSubSupPr>
                      <m:e>
                        <m:r>
                          <a:rPr lang="en-US" altLang="zh-CN" sz="2400">
                            <a:latin typeface="Cambria Math" panose="02040503050406030204" pitchFamily="18" charset="0"/>
                            <a:cs typeface="Times New Roman" panose="02020603050405020304" pitchFamily="18" charset="0"/>
                          </a:rPr>
                          <m:t>𝜎</m:t>
                        </m:r>
                      </m:e>
                      <m:sub>
                        <m:r>
                          <a:rPr lang="en-US" altLang="zh-CN" sz="2400">
                            <a:latin typeface="Cambria Math" panose="02040503050406030204" pitchFamily="18" charset="0"/>
                            <a:cs typeface="Times New Roman" panose="02020603050405020304" pitchFamily="18" charset="0"/>
                          </a:rPr>
                          <m:t>𝑘</m:t>
                        </m:r>
                      </m:sub>
                      <m:sup>
                        <m:r>
                          <a:rPr lang="en-US" altLang="zh-CN" sz="2400">
                            <a:latin typeface="Cambria Math" panose="02040503050406030204" pitchFamily="18" charset="0"/>
                            <a:cs typeface="Times New Roman" panose="02020603050405020304" pitchFamily="18" charset="0"/>
                          </a:rPr>
                          <m:t>2</m:t>
                        </m:r>
                      </m:sup>
                    </m:sSubSup>
                  </m:oMath>
                </a14:m>
                <a:r>
                  <a:rPr lang="zh-CN" altLang="zh-CN" sz="2400" dirty="0">
                    <a:latin typeface="Times New Roman" panose="02020603050405020304" pitchFamily="18" charset="0"/>
                    <a:cs typeface="Times New Roman" panose="02020603050405020304" pitchFamily="18" charset="0"/>
                  </a:rPr>
                  <a:t>为在样本类别</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oMath>
                </a14:m>
                <a:r>
                  <a:rPr lang="zh-CN" altLang="zh-CN" sz="2400" dirty="0">
                    <a:latin typeface="Times New Roman" panose="02020603050405020304" pitchFamily="18" charset="0"/>
                    <a:cs typeface="Times New Roman" panose="02020603050405020304" pitchFamily="18" charset="0"/>
                  </a:rPr>
                  <a:t>中，所有</a:t>
                </a:r>
                <a14:m>
                  <m:oMath xmlns:m="http://schemas.openxmlformats.org/officeDocument/2006/math">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𝑋</m:t>
                        </m:r>
                      </m:e>
                      <m:sub>
                        <m:r>
                          <a:rPr lang="en-US" altLang="zh-CN" sz="2400">
                            <a:latin typeface="Cambria Math" panose="02040503050406030204" pitchFamily="18" charset="0"/>
                            <a:cs typeface="Times New Roman" panose="02020603050405020304" pitchFamily="18" charset="0"/>
                          </a:rPr>
                          <m:t>𝑗</m:t>
                        </m:r>
                      </m:sub>
                    </m:sSub>
                  </m:oMath>
                </a14:m>
                <a:r>
                  <a:rPr lang="zh-CN" altLang="zh-CN" sz="2400" dirty="0">
                    <a:latin typeface="Times New Roman" panose="02020603050405020304" pitchFamily="18" charset="0"/>
                    <a:cs typeface="Times New Roman" panose="02020603050405020304" pitchFamily="18" charset="0"/>
                  </a:rPr>
                  <a:t>的方差。对于一个连续的样本值，代入正态分布的公式，就可以求得概率分布。</a:t>
                </a:r>
              </a:p>
            </p:txBody>
          </p:sp>
        </mc:Choice>
        <mc:Fallback xmlns="">
          <p:sp>
            <p:nvSpPr>
              <p:cNvPr id="4" name="文本框 3"/>
              <p:cNvSpPr txBox="1">
                <a:spLocks noRot="1" noChangeAspect="1" noMove="1" noResize="1" noEditPoints="1" noAdjustHandles="1" noChangeArrowheads="1" noChangeShapeType="1" noTextEdit="1"/>
              </p:cNvSpPr>
              <p:nvPr/>
            </p:nvSpPr>
            <p:spPr>
              <a:xfrm>
                <a:off x="630326" y="1403304"/>
                <a:ext cx="11029071" cy="4044569"/>
              </a:xfrm>
              <a:prstGeom prst="rect">
                <a:avLst/>
              </a:prstGeom>
              <a:blipFill rotWithShape="1">
                <a:blip r:embed="rId2"/>
                <a:stretch>
                  <a:fillRect l="-4" t="-15" r="1" b="5"/>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算法步骤</a:t>
            </a:r>
          </a:p>
        </p:txBody>
      </p:sp>
      <mc:AlternateContent xmlns:mc="http://schemas.openxmlformats.org/markup-compatibility/2006" xmlns:a14="http://schemas.microsoft.com/office/drawing/2010/main">
        <mc:Choice Requires="a14">
          <p:sp>
            <p:nvSpPr>
              <p:cNvPr id="4" name="文本框 3"/>
              <p:cNvSpPr txBox="1"/>
              <p:nvPr/>
            </p:nvSpPr>
            <p:spPr>
              <a:xfrm>
                <a:off x="581464" y="1676982"/>
                <a:ext cx="11029071" cy="3101042"/>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altLang="zh-CN" sz="2800" b="1" dirty="0">
                    <a:solidFill>
                      <a:schemeClr val="accent1">
                        <a:lumMod val="50000"/>
                      </a:schemeClr>
                    </a:solidFill>
                    <a:latin typeface="Times New Roman" panose="02020603050405020304" pitchFamily="18" charset="0"/>
                    <a:cs typeface="Times New Roman" panose="02020603050405020304" pitchFamily="18" charset="0"/>
                  </a:rPr>
                  <a:t>4.</a:t>
                </a:r>
                <a:r>
                  <a:rPr lang="zh-CN" altLang="zh-CN" sz="2800" b="1" dirty="0">
                    <a:solidFill>
                      <a:schemeClr val="accent1">
                        <a:lumMod val="50000"/>
                      </a:schemeClr>
                    </a:solidFill>
                    <a:latin typeface="Times New Roman" panose="02020603050405020304" pitchFamily="18" charset="0"/>
                    <a:cs typeface="Times New Roman" panose="02020603050405020304" pitchFamily="18" charset="0"/>
                  </a:rPr>
                  <a:t>计算各类别的后验概率</a:t>
                </a:r>
                <a14:m>
                  <m:oMath xmlns:m="http://schemas.openxmlformats.org/officeDocument/2006/math">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𝐏</m:t>
                    </m:r>
                    <m:d>
                      <m:dPr>
                        <m:ctrlPr>
                          <a:rPr lang="zh-CN" altLang="zh-CN" sz="2800" b="1" i="1">
                            <a:solidFill>
                              <a:schemeClr val="accent1">
                                <a:lumMod val="50000"/>
                              </a:schemeClr>
                            </a:solidFill>
                            <a:latin typeface="Cambria Math" panose="02040503050406030204" pitchFamily="18" charset="0"/>
                            <a:cs typeface="Times New Roman" panose="02020603050405020304" pitchFamily="18" charset="0"/>
                          </a:rPr>
                        </m:ctrlPr>
                      </m:dPr>
                      <m:e>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𝐘</m:t>
                        </m:r>
                        <m:r>
                          <a:rPr lang="en-US" altLang="zh-CN" sz="2800" b="1">
                            <a:solidFill>
                              <a:schemeClr val="accent1">
                                <a:lumMod val="50000"/>
                              </a:schemeClr>
                            </a:solidFill>
                            <a:latin typeface="Cambria Math" panose="02040503050406030204" pitchFamily="18" charset="0"/>
                            <a:cs typeface="Times New Roman" panose="02020603050405020304" pitchFamily="18" charset="0"/>
                          </a:rPr>
                          <m:t>=</m:t>
                        </m:r>
                        <m:sSub>
                          <m:sSubPr>
                            <m:ctrlPr>
                              <a:rPr lang="zh-CN" altLang="zh-CN" sz="2800" b="1" i="1">
                                <a:solidFill>
                                  <a:schemeClr val="accent1">
                                    <a:lumMod val="50000"/>
                                  </a:schemeClr>
                                </a:solidFill>
                                <a:latin typeface="Cambria Math" panose="02040503050406030204" pitchFamily="18" charset="0"/>
                                <a:cs typeface="Times New Roman" panose="02020603050405020304" pitchFamily="18" charset="0"/>
                              </a:rPr>
                            </m:ctrlPr>
                          </m:sSubPr>
                          <m:e>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𝑪</m:t>
                            </m:r>
                          </m:e>
                          <m:sub>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𝒌</m:t>
                            </m:r>
                          </m:sub>
                        </m:sSub>
                      </m:e>
                      <m:e>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𝐗</m:t>
                        </m:r>
                        <m:r>
                          <a:rPr lang="en-US" altLang="zh-CN" sz="2800" b="1">
                            <a:solidFill>
                              <a:schemeClr val="accent1">
                                <a:lumMod val="50000"/>
                              </a:schemeClr>
                            </a:solidFill>
                            <a:latin typeface="Cambria Math" panose="02040503050406030204" pitchFamily="18" charset="0"/>
                            <a:cs typeface="Times New Roman" panose="02020603050405020304" pitchFamily="18" charset="0"/>
                          </a:rPr>
                          <m:t>=</m:t>
                        </m:r>
                        <m:r>
                          <a:rPr lang="en-US" altLang="zh-CN" sz="2800" b="1" i="1">
                            <a:solidFill>
                              <a:schemeClr val="accent1">
                                <a:lumMod val="50000"/>
                              </a:schemeClr>
                            </a:solidFill>
                            <a:latin typeface="Cambria Math" panose="02040503050406030204" pitchFamily="18" charset="0"/>
                            <a:cs typeface="Times New Roman" panose="02020603050405020304" pitchFamily="18" charset="0"/>
                          </a:rPr>
                          <m:t>𝒙</m:t>
                        </m:r>
                      </m:e>
                    </m:d>
                  </m:oMath>
                </a14:m>
                <a:endParaRPr lang="en-US" altLang="zh-CN" sz="2400" b="1"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由于假设各特征属性是条件独立的，则根据贝叶斯定理，各类别的后验概率有如下推导：</a:t>
                </a:r>
              </a:p>
              <a:p>
                <a:pPr>
                  <a:lnSpc>
                    <a:spcPct val="150000"/>
                  </a:lnSpc>
                </a:pPr>
                <a14:m>
                  <m:oMathPara xmlns:m="http://schemas.openxmlformats.org/officeDocument/2006/math">
                    <m:oMathParaPr>
                      <m:jc m:val="centerGroup"/>
                    </m:oMathParaPr>
                    <m:oMath xmlns:m="http://schemas.openxmlformats.org/officeDocument/2006/math">
                      <m:r>
                        <m:rPr>
                          <m:sty m:val="p"/>
                        </m:rPr>
                        <a:rPr lang="en-US" altLang="zh-CN" sz="2400">
                          <a:latin typeface="Cambria Math" panose="02040503050406030204" pitchFamily="18" charset="0"/>
                          <a:cs typeface="Times New Roman" panose="02020603050405020304" pitchFamily="18" charset="0"/>
                        </a:rPr>
                        <m:t>P</m:t>
                      </m:r>
                      <m:d>
                        <m:dPr>
                          <m:ctrlPr>
                            <a:rPr lang="zh-CN" altLang="zh-CN" sz="2400" i="1">
                              <a:latin typeface="Cambria Math" panose="02040503050406030204" pitchFamily="18" charset="0"/>
                              <a:cs typeface="Times New Roman" panose="02020603050405020304" pitchFamily="18" charset="0"/>
                            </a:rPr>
                          </m:ctrlPr>
                        </m:dPr>
                        <m:e>
                          <m:r>
                            <m:rPr>
                              <m:sty m:val="p"/>
                            </m:rPr>
                            <a:rPr lang="en-US" altLang="zh-CN" sz="2400">
                              <a:latin typeface="Cambria Math" panose="02040503050406030204" pitchFamily="18" charset="0"/>
                              <a:cs typeface="Times New Roman" panose="02020603050405020304" pitchFamily="18" charset="0"/>
                            </a:rPr>
                            <m:t>Y</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e>
                        <m:e>
                          <m:r>
                            <a:rPr lang="en-US" altLang="zh-CN" sz="2400">
                              <a:latin typeface="Cambria Math" panose="02040503050406030204" pitchFamily="18" charset="0"/>
                              <a:cs typeface="Times New Roman" panose="02020603050405020304" pitchFamily="18" charset="0"/>
                            </a:rPr>
                            <m:t>𝑋</m:t>
                          </m:r>
                          <m:r>
                            <a:rPr lang="en-US" altLang="zh-CN" sz="2400">
                              <a:latin typeface="Cambria Math" panose="02040503050406030204" pitchFamily="18" charset="0"/>
                              <a:cs typeface="Times New Roman" panose="02020603050405020304" pitchFamily="18" charset="0"/>
                            </a:rPr>
                            <m:t>=</m:t>
                          </m:r>
                          <m:r>
                            <a:rPr lang="en-US" altLang="zh-CN" sz="2400">
                              <a:latin typeface="Cambria Math" panose="02040503050406030204" pitchFamily="18" charset="0"/>
                              <a:cs typeface="Times New Roman" panose="02020603050405020304" pitchFamily="18" charset="0"/>
                            </a:rPr>
                            <m:t>𝑥</m:t>
                          </m:r>
                        </m:e>
                      </m:d>
                      <m:r>
                        <a:rPr lang="en-US" altLang="zh-CN" sz="2400">
                          <a:latin typeface="Cambria Math" panose="02040503050406030204" pitchFamily="18" charset="0"/>
                          <a:cs typeface="Times New Roman" panose="02020603050405020304" pitchFamily="18" charset="0"/>
                        </a:rPr>
                        <m:t>=</m:t>
                      </m:r>
                      <m:f>
                        <m:fPr>
                          <m:ctrlPr>
                            <a:rPr lang="zh-CN" altLang="zh-CN" sz="2400" i="1">
                              <a:latin typeface="Cambria Math" panose="02040503050406030204" pitchFamily="18" charset="0"/>
                              <a:cs typeface="Times New Roman" panose="02020603050405020304" pitchFamily="18" charset="0"/>
                            </a:rPr>
                          </m:ctrlPr>
                        </m:fPr>
                        <m:num>
                          <m:r>
                            <m:rPr>
                              <m:sty m:val="p"/>
                            </m:rPr>
                            <a:rPr lang="en-US" altLang="zh-CN" sz="2400">
                              <a:latin typeface="Cambria Math" panose="02040503050406030204" pitchFamily="18" charset="0"/>
                              <a:cs typeface="Times New Roman" panose="02020603050405020304" pitchFamily="18" charset="0"/>
                            </a:rPr>
                            <m:t>P</m:t>
                          </m:r>
                          <m:d>
                            <m:dPr>
                              <m:ctrlPr>
                                <a:rPr lang="zh-CN" altLang="zh-CN" sz="2400" i="1">
                                  <a:latin typeface="Cambria Math" panose="02040503050406030204" pitchFamily="18" charset="0"/>
                                  <a:cs typeface="Times New Roman" panose="02020603050405020304" pitchFamily="18" charset="0"/>
                                </a:rPr>
                              </m:ctrlPr>
                            </m:dPr>
                            <m:e>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𝑋</m:t>
                                  </m:r>
                                </m:e>
                                <m:sub>
                                  <m:r>
                                    <a:rPr lang="en-US" altLang="zh-CN" sz="2400">
                                      <a:latin typeface="Cambria Math" panose="02040503050406030204" pitchFamily="18" charset="0"/>
                                      <a:cs typeface="Times New Roman" panose="02020603050405020304" pitchFamily="18" charset="0"/>
                                    </a:rPr>
                                    <m:t>𝑗</m:t>
                                  </m:r>
                                </m:sub>
                              </m:sSub>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𝑥</m:t>
                                  </m:r>
                                </m:e>
                                <m:sub>
                                  <m:r>
                                    <a:rPr lang="en-US" altLang="zh-CN" sz="2400">
                                      <a:latin typeface="Cambria Math" panose="02040503050406030204" pitchFamily="18" charset="0"/>
                                      <a:cs typeface="Times New Roman" panose="02020603050405020304" pitchFamily="18" charset="0"/>
                                    </a:rPr>
                                    <m:t>𝑗</m:t>
                                  </m:r>
                                </m:sub>
                              </m:sSub>
                            </m:e>
                            <m:e>
                              <m:r>
                                <m:rPr>
                                  <m:sty m:val="p"/>
                                </m:rPr>
                                <a:rPr lang="en-US" altLang="zh-CN" sz="2400">
                                  <a:latin typeface="Cambria Math" panose="02040503050406030204" pitchFamily="18" charset="0"/>
                                  <a:cs typeface="Times New Roman" panose="02020603050405020304" pitchFamily="18" charset="0"/>
                                </a:rPr>
                                <m:t>Y</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e>
                          </m:d>
                          <m:r>
                            <m:rPr>
                              <m:sty m:val="p"/>
                            </m:rPr>
                            <a:rPr lang="en-US" altLang="zh-CN" sz="2400">
                              <a:latin typeface="Cambria Math" panose="02040503050406030204" pitchFamily="18" charset="0"/>
                              <a:cs typeface="Times New Roman" panose="02020603050405020304" pitchFamily="18" charset="0"/>
                            </a:rPr>
                            <m:t>P</m:t>
                          </m:r>
                          <m:d>
                            <m:dPr>
                              <m:ctrlPr>
                                <a:rPr lang="zh-CN" altLang="zh-CN" sz="2400" i="1">
                                  <a:latin typeface="Cambria Math" panose="02040503050406030204" pitchFamily="18" charset="0"/>
                                  <a:cs typeface="Times New Roman" panose="02020603050405020304" pitchFamily="18" charset="0"/>
                                </a:rPr>
                              </m:ctrlPr>
                            </m:dPr>
                            <m:e>
                              <m:r>
                                <m:rPr>
                                  <m:sty m:val="p"/>
                                </m:rPr>
                                <a:rPr lang="en-US" altLang="zh-CN" sz="2400">
                                  <a:latin typeface="Cambria Math" panose="02040503050406030204" pitchFamily="18" charset="0"/>
                                  <a:cs typeface="Times New Roman" panose="02020603050405020304" pitchFamily="18" charset="0"/>
                                </a:rPr>
                                <m:t>Y</m:t>
                              </m:r>
                              <m:r>
                                <a:rPr lang="en-US" altLang="zh-CN" sz="2400">
                                  <a:latin typeface="Cambria Math" panose="02040503050406030204" pitchFamily="18" charset="0"/>
                                  <a:cs typeface="Times New Roman" panose="02020603050405020304" pitchFamily="18" charset="0"/>
                                </a:rPr>
                                <m:t>=</m:t>
                              </m:r>
                              <m:sSub>
                                <m:sSubPr>
                                  <m:ctrlPr>
                                    <a:rPr lang="zh-CN" altLang="zh-CN" sz="2400" i="1">
                                      <a:latin typeface="Cambria Math" panose="02040503050406030204" pitchFamily="18" charset="0"/>
                                      <a:cs typeface="Times New Roman" panose="02020603050405020304" pitchFamily="18" charset="0"/>
                                    </a:rPr>
                                  </m:ctrlPr>
                                </m:sSubPr>
                                <m:e>
                                  <m:r>
                                    <a:rPr lang="en-US" altLang="zh-CN" sz="2400">
                                      <a:latin typeface="Cambria Math" panose="02040503050406030204" pitchFamily="18" charset="0"/>
                                      <a:cs typeface="Times New Roman" panose="02020603050405020304" pitchFamily="18" charset="0"/>
                                    </a:rPr>
                                    <m:t>𝐶</m:t>
                                  </m:r>
                                </m:e>
                                <m:sub>
                                  <m:r>
                                    <a:rPr lang="en-US" altLang="zh-CN" sz="2400">
                                      <a:latin typeface="Cambria Math" panose="02040503050406030204" pitchFamily="18" charset="0"/>
                                      <a:cs typeface="Times New Roman" panose="02020603050405020304" pitchFamily="18" charset="0"/>
                                    </a:rPr>
                                    <m:t>𝑘</m:t>
                                  </m:r>
                                </m:sub>
                              </m:sSub>
                            </m:e>
                          </m:d>
                        </m:num>
                        <m:den>
                          <m:r>
                            <a:rPr lang="en-US" altLang="zh-CN" sz="2400">
                              <a:latin typeface="Cambria Math" panose="02040503050406030204" pitchFamily="18" charset="0"/>
                              <a:cs typeface="Times New Roman" panose="02020603050405020304" pitchFamily="18" charset="0"/>
                            </a:rPr>
                            <m:t>𝑃</m:t>
                          </m:r>
                          <m:r>
                            <a:rPr lang="en-US" altLang="zh-CN" sz="2400">
                              <a:latin typeface="Cambria Math" panose="02040503050406030204" pitchFamily="18" charset="0"/>
                              <a:cs typeface="Times New Roman" panose="02020603050405020304" pitchFamily="18" charset="0"/>
                            </a:rPr>
                            <m:t>(</m:t>
                          </m:r>
                          <m:r>
                            <a:rPr lang="en-US" altLang="zh-CN" sz="2400">
                              <a:latin typeface="Cambria Math" panose="02040503050406030204" pitchFamily="18" charset="0"/>
                              <a:cs typeface="Times New Roman" panose="02020603050405020304" pitchFamily="18" charset="0"/>
                            </a:rPr>
                            <m:t>𝑋</m:t>
                          </m:r>
                          <m:r>
                            <a:rPr lang="en-US" altLang="zh-CN" sz="2400">
                              <a:latin typeface="Cambria Math" panose="02040503050406030204" pitchFamily="18" charset="0"/>
                              <a:cs typeface="Times New Roman" panose="02020603050405020304" pitchFamily="18" charset="0"/>
                            </a:rPr>
                            <m:t>=</m:t>
                          </m:r>
                          <m:r>
                            <a:rPr lang="en-US" altLang="zh-CN" sz="2400">
                              <a:latin typeface="Cambria Math" panose="02040503050406030204" pitchFamily="18" charset="0"/>
                              <a:cs typeface="Times New Roman" panose="02020603050405020304" pitchFamily="18" charset="0"/>
                            </a:rPr>
                            <m:t>𝑥</m:t>
                          </m:r>
                          <m:r>
                            <a:rPr lang="en-US" altLang="zh-CN" sz="2400">
                              <a:latin typeface="Cambria Math" panose="02040503050406030204" pitchFamily="18" charset="0"/>
                              <a:cs typeface="Times New Roman" panose="02020603050405020304" pitchFamily="18" charset="0"/>
                            </a:rPr>
                            <m:t>)</m:t>
                          </m:r>
                        </m:den>
                      </m:f>
                    </m:oMath>
                  </m:oMathPara>
                </a14:m>
                <a:endParaRPr lang="en-US" altLang="zh-CN" sz="2400" dirty="0">
                  <a:latin typeface="Times New Roman" panose="02020603050405020304" pitchFamily="18" charset="0"/>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81464" y="1676982"/>
                <a:ext cx="11029071" cy="3101042"/>
              </a:xfrm>
              <a:prstGeom prst="rect">
                <a:avLst/>
              </a:prstGeom>
              <a:blipFill rotWithShape="1">
                <a:blip r:embed="rId2"/>
                <a:stretch>
                  <a:fillRect l="-4" t="-19" r="2" b="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算法步骤</a:t>
            </a:r>
          </a:p>
        </p:txBody>
      </p:sp>
      <mc:AlternateContent xmlns:mc="http://schemas.openxmlformats.org/markup-compatibility/2006" xmlns:a14="http://schemas.microsoft.com/office/drawing/2010/main">
        <mc:Choice Requires="a14">
          <p:sp>
            <p:nvSpPr>
              <p:cNvPr id="4" name="文本框 3"/>
              <p:cNvSpPr txBox="1"/>
              <p:nvPr/>
            </p:nvSpPr>
            <p:spPr>
              <a:xfrm>
                <a:off x="581464" y="1423611"/>
                <a:ext cx="11029071" cy="354077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altLang="zh-CN" sz="2800" b="1" dirty="0">
                    <a:solidFill>
                      <a:schemeClr val="accent1">
                        <a:lumMod val="50000"/>
                      </a:schemeClr>
                    </a:solidFill>
                    <a:latin typeface="Times New Roman" panose="02020603050405020304" pitchFamily="18" charset="0"/>
                    <a:cs typeface="Times New Roman" panose="02020603050405020304" pitchFamily="18" charset="0"/>
                  </a:rPr>
                  <a:t>5.</a:t>
                </a:r>
                <a:r>
                  <a:rPr lang="zh-CN" altLang="en-US" sz="2800" b="1" dirty="0">
                    <a:solidFill>
                      <a:schemeClr val="accent1">
                        <a:lumMod val="50000"/>
                      </a:schemeClr>
                    </a:solidFill>
                    <a:latin typeface="Times New Roman" panose="02020603050405020304" pitchFamily="18" charset="0"/>
                    <a:cs typeface="Times New Roman" panose="02020603050405020304" pitchFamily="18" charset="0"/>
                  </a:rPr>
                  <a:t>将</a:t>
                </a:r>
                <a:r>
                  <a:rPr lang="zh-CN" altLang="en-US" sz="2800" b="1" u="sng" dirty="0">
                    <a:solidFill>
                      <a:schemeClr val="accent1">
                        <a:lumMod val="50000"/>
                      </a:schemeClr>
                    </a:solidFill>
                    <a:latin typeface="Times New Roman" panose="02020603050405020304" pitchFamily="18" charset="0"/>
                    <a:cs typeface="Times New Roman" panose="02020603050405020304" pitchFamily="18" charset="0"/>
                  </a:rPr>
                  <a:t>后验概率最大项</a:t>
                </a:r>
                <a:r>
                  <a:rPr lang="zh-CN" altLang="en-US" sz="2800" b="1" dirty="0">
                    <a:solidFill>
                      <a:schemeClr val="accent1">
                        <a:lumMod val="50000"/>
                      </a:schemeClr>
                    </a:solidFill>
                    <a:latin typeface="Times New Roman" panose="02020603050405020304" pitchFamily="18" charset="0"/>
                    <a:cs typeface="Times New Roman" panose="02020603050405020304" pitchFamily="18" charset="0"/>
                  </a:rPr>
                  <a:t>作为样本所属类别</a:t>
                </a:r>
                <a:endParaRPr lang="en-US" altLang="zh-CN" sz="2800" b="1" dirty="0">
                  <a:solidFill>
                    <a:schemeClr val="accent1">
                      <a:lumMod val="50000"/>
                    </a:schemeClr>
                  </a:solidFill>
                  <a:latin typeface="Times New Roman" panose="02020603050405020304" pitchFamily="18" charset="0"/>
                  <a:cs typeface="Times New Roman" panose="02020603050405020304" pitchFamily="18" charset="0"/>
                </a:endParaRPr>
              </a:p>
              <a:p>
                <a:pPr>
                  <a:lnSpc>
                    <a:spcPct val="150000"/>
                  </a:lnSpc>
                </a:pP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预测样本所属类别</a:t>
                </a:r>
                <a14:m>
                  <m:oMath xmlns:m="http://schemas.openxmlformats.org/officeDocument/2006/math">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𝑟𝑒𝑠𝑢𝑙𝑡</m:t>
                        </m:r>
                      </m:sub>
                    </m:sSub>
                  </m:oMath>
                </a14:m>
                <a:r>
                  <a:rPr lang="zh-CN" altLang="zh-CN" sz="2400" dirty="0">
                    <a:latin typeface="Times New Roman" panose="02020603050405020304" pitchFamily="18" charset="0"/>
                    <a:cs typeface="Times New Roman" panose="02020603050405020304" pitchFamily="18" charset="0"/>
                  </a:rPr>
                  <a:t>是使由后验概率</a:t>
                </a:r>
                <a14:m>
                  <m:oMath xmlns:m="http://schemas.openxmlformats.org/officeDocument/2006/math">
                    <m:r>
                      <m:rPr>
                        <m:sty m:val="p"/>
                      </m:rPr>
                      <a:rPr lang="en-US" altLang="zh-CN" sz="2400">
                        <a:latin typeface="Cambria Math" panose="02040503050406030204" pitchFamily="18" charset="0"/>
                      </a:rPr>
                      <m:t>P</m:t>
                    </m:r>
                    <m:d>
                      <m:dPr>
                        <m:ctrlPr>
                          <a:rPr lang="zh-CN" altLang="zh-CN" sz="2400" i="1">
                            <a:latin typeface="Cambria Math" panose="02040503050406030204" pitchFamily="18" charset="0"/>
                          </a:rPr>
                        </m:ctrlPr>
                      </m:dPr>
                      <m:e>
                        <m:r>
                          <m:rPr>
                            <m:sty m:val="p"/>
                          </m:rPr>
                          <a:rPr lang="en-US" altLang="zh-CN" sz="2400">
                            <a:latin typeface="Cambria Math" panose="02040503050406030204" pitchFamily="18" charset="0"/>
                          </a:rPr>
                          <m:t>Y</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e>
                      <m:e>
                        <m:r>
                          <a:rPr lang="en-US" altLang="zh-CN" sz="2400">
                            <a:latin typeface="Cambria Math" panose="02040503050406030204" pitchFamily="18" charset="0"/>
                          </a:rPr>
                          <m:t>𝑋</m:t>
                        </m:r>
                        <m:r>
                          <a:rPr lang="en-US" altLang="zh-CN" sz="2400">
                            <a:latin typeface="Cambria Math" panose="02040503050406030204" pitchFamily="18" charset="0"/>
                          </a:rPr>
                          <m:t>=</m:t>
                        </m:r>
                        <m:r>
                          <a:rPr lang="en-US" altLang="zh-CN" sz="2400">
                            <a:latin typeface="Cambria Math" panose="02040503050406030204" pitchFamily="18" charset="0"/>
                          </a:rPr>
                          <m:t>𝑥</m:t>
                        </m:r>
                      </m:e>
                    </m:d>
                  </m:oMath>
                </a14:m>
                <a:r>
                  <a:rPr lang="zh-CN" altLang="zh-CN" sz="2400" dirty="0">
                    <a:latin typeface="Times New Roman" panose="02020603050405020304" pitchFamily="18" charset="0"/>
                    <a:cs typeface="Times New Roman" panose="02020603050405020304" pitchFamily="18" charset="0"/>
                  </a:rPr>
                  <a:t>最大化的类别，</a:t>
                </a:r>
                <a:endParaRPr lang="en-US" altLang="zh-CN" sz="2400" dirty="0">
                  <a:latin typeface="Times New Roman" panose="02020603050405020304" pitchFamily="18" charset="0"/>
                  <a:cs typeface="Times New Roman" panose="02020603050405020304" pitchFamily="18" charset="0"/>
                </a:endParaRPr>
              </a:p>
              <a:p>
                <a:pPr>
                  <a:lnSpc>
                    <a:spcPct val="150000"/>
                  </a:lnSpc>
                </a:pPr>
                <a:r>
                  <a:rPr lang="zh-CN" altLang="zh-CN" sz="2400" dirty="0">
                    <a:latin typeface="Times New Roman" panose="02020603050405020304" pitchFamily="18" charset="0"/>
                    <a:cs typeface="Times New Roman" panose="02020603050405020304" pitchFamily="18" charset="0"/>
                  </a:rPr>
                  <a:t>推导如下：</a:t>
                </a:r>
              </a:p>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𝑟𝑒𝑠𝑢𝑙𝑡</m:t>
                          </m:r>
                        </m:sub>
                      </m:sSub>
                      <m:r>
                        <m:rPr>
                          <m:aln/>
                        </m:rPr>
                        <a:rPr lang="en-US" altLang="zh-CN" sz="2400">
                          <a:latin typeface="Cambria Math" panose="02040503050406030204" pitchFamily="18" charset="0"/>
                        </a:rPr>
                        <m:t>=</m:t>
                      </m:r>
                      <m:limLow>
                        <m:limLowPr>
                          <m:ctrlPr>
                            <a:rPr lang="zh-CN" altLang="zh-CN" sz="2400" i="1">
                              <a:latin typeface="Cambria Math" panose="02040503050406030204" pitchFamily="18" charset="0"/>
                            </a:rPr>
                          </m:ctrlPr>
                        </m:limLowPr>
                        <m:e>
                          <m:groupChr>
                            <m:groupChrPr>
                              <m:chr m:val="⏟"/>
                              <m:ctrlPr>
                                <a:rPr lang="zh-CN" altLang="zh-CN" sz="2400" i="1">
                                  <a:latin typeface="Cambria Math" panose="02040503050406030204" pitchFamily="18" charset="0"/>
                                </a:rPr>
                              </m:ctrlPr>
                            </m:groupChrPr>
                            <m:e>
                              <m:r>
                                <a:rPr lang="en-US" altLang="zh-CN" sz="2400">
                                  <a:latin typeface="Cambria Math" panose="02040503050406030204" pitchFamily="18" charset="0"/>
                                </a:rPr>
                                <m:t>𝑎𝑟𝑔𝑚𝑎𝑥</m:t>
                              </m:r>
                            </m:e>
                          </m:groupChr>
                        </m:e>
                        <m:lim>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lim>
                      </m:limLow>
                      <m:r>
                        <a:rPr lang="en-US" altLang="zh-CN" sz="2400">
                          <a:latin typeface="Cambria Math" panose="02040503050406030204" pitchFamily="18" charset="0"/>
                        </a:rPr>
                        <m:t>𝑃</m:t>
                      </m:r>
                      <m:r>
                        <a:rPr lang="en-US" altLang="zh-CN" sz="2400">
                          <a:latin typeface="Cambria Math" panose="02040503050406030204" pitchFamily="18" charset="0"/>
                        </a:rPr>
                        <m:t>(</m:t>
                      </m:r>
                      <m:r>
                        <a:rPr lang="en-US" altLang="zh-CN" sz="2400">
                          <a:latin typeface="Cambria Math" panose="02040503050406030204" pitchFamily="18" charset="0"/>
                        </a:rPr>
                        <m:t>𝑌</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r>
                        <a:rPr lang="en-US" altLang="zh-CN" sz="2400">
                          <a:latin typeface="Cambria Math" panose="02040503050406030204" pitchFamily="18" charset="0"/>
                        </a:rPr>
                        <m:t>|</m:t>
                      </m:r>
                      <m:r>
                        <a:rPr lang="en-US" altLang="zh-CN" sz="2400">
                          <a:latin typeface="Cambria Math" panose="02040503050406030204" pitchFamily="18" charset="0"/>
                        </a:rPr>
                        <m:t>𝑋</m:t>
                      </m:r>
                      <m:r>
                        <a:rPr lang="en-US" altLang="zh-CN" sz="2400">
                          <a:latin typeface="Cambria Math" panose="02040503050406030204" pitchFamily="18" charset="0"/>
                        </a:rPr>
                        <m:t>=</m:t>
                      </m:r>
                      <m:r>
                        <a:rPr lang="en-US" altLang="zh-CN" sz="2400">
                          <a:latin typeface="Cambria Math" panose="02040503050406030204" pitchFamily="18" charset="0"/>
                        </a:rPr>
                        <m:t>𝑥</m:t>
                      </m:r>
                      <m:r>
                        <a:rPr lang="en-US" altLang="zh-CN" sz="2400">
                          <a:latin typeface="Cambria Math" panose="02040503050406030204" pitchFamily="18" charset="0"/>
                        </a:rPr>
                        <m:t>)</m:t>
                      </m:r>
                    </m:oMath>
                    <m:oMath xmlns:m="http://schemas.openxmlformats.org/officeDocument/2006/math">
                      <m:r>
                        <m:rPr>
                          <m:aln/>
                        </m:rPr>
                        <a:rPr lang="en-US" altLang="zh-CN" sz="2400">
                          <a:latin typeface="Cambria Math" panose="02040503050406030204" pitchFamily="18" charset="0"/>
                        </a:rPr>
                        <m:t>=</m:t>
                      </m:r>
                      <m:limLow>
                        <m:limLowPr>
                          <m:ctrlPr>
                            <a:rPr lang="zh-CN" altLang="zh-CN" sz="2400" i="1">
                              <a:latin typeface="Cambria Math" panose="02040503050406030204" pitchFamily="18" charset="0"/>
                            </a:rPr>
                          </m:ctrlPr>
                        </m:limLowPr>
                        <m:e>
                          <m:groupChr>
                            <m:groupChrPr>
                              <m:chr m:val="⏟"/>
                              <m:ctrlPr>
                                <a:rPr lang="zh-CN" altLang="zh-CN" sz="2400" i="1">
                                  <a:latin typeface="Cambria Math" panose="02040503050406030204" pitchFamily="18" charset="0"/>
                                </a:rPr>
                              </m:ctrlPr>
                            </m:groupChrPr>
                            <m:e>
                              <m:r>
                                <a:rPr lang="en-US" altLang="zh-CN" sz="2400">
                                  <a:latin typeface="Cambria Math" panose="02040503050406030204" pitchFamily="18" charset="0"/>
                                </a:rPr>
                                <m:t>𝑎𝑟𝑔𝑚𝑎𝑥</m:t>
                              </m:r>
                            </m:e>
                          </m:groupChr>
                        </m:e>
                        <m:lim>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lim>
                      </m:limLow>
                      <m:f>
                        <m:fPr>
                          <m:ctrlPr>
                            <a:rPr lang="zh-CN" altLang="zh-CN" sz="2400" i="1">
                              <a:latin typeface="Cambria Math" panose="02040503050406030204" pitchFamily="18" charset="0"/>
                            </a:rPr>
                          </m:ctrlPr>
                        </m:fPr>
                        <m:num>
                          <m:r>
                            <m:rPr>
                              <m:sty m:val="p"/>
                            </m:rPr>
                            <a:rPr lang="en-US" altLang="zh-CN" sz="2400">
                              <a:latin typeface="Cambria Math" panose="02040503050406030204" pitchFamily="18" charset="0"/>
                            </a:rPr>
                            <m:t>P</m:t>
                          </m:r>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𝑋</m:t>
                                  </m:r>
                                </m:e>
                                <m:sub>
                                  <m:r>
                                    <a:rPr lang="en-US" altLang="zh-CN" sz="2400">
                                      <a:latin typeface="Cambria Math" panose="02040503050406030204" pitchFamily="18" charset="0"/>
                                    </a:rPr>
                                    <m:t>𝑗</m:t>
                                  </m:r>
                                </m:sub>
                              </m:sSub>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𝑥</m:t>
                                  </m:r>
                                </m:e>
                                <m:sub>
                                  <m:r>
                                    <a:rPr lang="en-US" altLang="zh-CN" sz="2400">
                                      <a:latin typeface="Cambria Math" panose="02040503050406030204" pitchFamily="18" charset="0"/>
                                    </a:rPr>
                                    <m:t>𝑗</m:t>
                                  </m:r>
                                </m:sub>
                              </m:sSub>
                            </m:e>
                            <m:e>
                              <m:r>
                                <m:rPr>
                                  <m:sty m:val="p"/>
                                </m:rPr>
                                <a:rPr lang="en-US" altLang="zh-CN" sz="2400">
                                  <a:latin typeface="Cambria Math" panose="02040503050406030204" pitchFamily="18" charset="0"/>
                                </a:rPr>
                                <m:t>Y</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e>
                          </m:d>
                          <m:r>
                            <m:rPr>
                              <m:sty m:val="p"/>
                            </m:rPr>
                            <a:rPr lang="en-US" altLang="zh-CN" sz="2400">
                              <a:latin typeface="Cambria Math" panose="02040503050406030204" pitchFamily="18" charset="0"/>
                            </a:rPr>
                            <m:t>P</m:t>
                          </m:r>
                          <m:d>
                            <m:dPr>
                              <m:ctrlPr>
                                <a:rPr lang="zh-CN" altLang="zh-CN" sz="2400" i="1">
                                  <a:latin typeface="Cambria Math" panose="02040503050406030204" pitchFamily="18" charset="0"/>
                                </a:rPr>
                              </m:ctrlPr>
                            </m:dPr>
                            <m:e>
                              <m:r>
                                <m:rPr>
                                  <m:sty m:val="p"/>
                                </m:rPr>
                                <a:rPr lang="en-US" altLang="zh-CN" sz="2400">
                                  <a:latin typeface="Cambria Math" panose="02040503050406030204" pitchFamily="18" charset="0"/>
                                </a:rPr>
                                <m:t>Y</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e>
                          </m:d>
                        </m:num>
                        <m:den>
                          <m:r>
                            <a:rPr lang="en-US" altLang="zh-CN" sz="2400">
                              <a:latin typeface="Cambria Math" panose="02040503050406030204" pitchFamily="18" charset="0"/>
                            </a:rPr>
                            <m:t>𝑃</m:t>
                          </m:r>
                          <m:r>
                            <a:rPr lang="en-US" altLang="zh-CN" sz="2400">
                              <a:latin typeface="Cambria Math" panose="02040503050406030204" pitchFamily="18" charset="0"/>
                            </a:rPr>
                            <m:t>(</m:t>
                          </m:r>
                          <m:r>
                            <a:rPr lang="en-US" altLang="zh-CN" sz="2400">
                              <a:latin typeface="Cambria Math" panose="02040503050406030204" pitchFamily="18" charset="0"/>
                            </a:rPr>
                            <m:t>𝑋</m:t>
                          </m:r>
                          <m:r>
                            <a:rPr lang="en-US" altLang="zh-CN" sz="2400">
                              <a:latin typeface="Cambria Math" panose="02040503050406030204" pitchFamily="18" charset="0"/>
                            </a:rPr>
                            <m:t>=</m:t>
                          </m:r>
                          <m:r>
                            <a:rPr lang="en-US" altLang="zh-CN" sz="2400">
                              <a:latin typeface="Cambria Math" panose="02040503050406030204" pitchFamily="18" charset="0"/>
                            </a:rPr>
                            <m:t>𝑥</m:t>
                          </m:r>
                          <m:r>
                            <a:rPr lang="en-US" altLang="zh-CN" sz="2400">
                              <a:latin typeface="Cambria Math" panose="02040503050406030204" pitchFamily="18" charset="0"/>
                            </a:rPr>
                            <m:t>)</m:t>
                          </m:r>
                        </m:den>
                      </m:f>
                    </m:oMath>
                  </m:oMathPara>
                </a14:m>
                <a:endParaRPr lang="en-US" altLang="zh-CN" sz="2400" dirty="0">
                  <a:latin typeface="Times New Roman" panose="02020603050405020304" pitchFamily="18" charset="0"/>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81464" y="1423611"/>
                <a:ext cx="11029071" cy="3540777"/>
              </a:xfrm>
              <a:prstGeom prst="rect">
                <a:avLst/>
              </a:prstGeom>
              <a:blipFill rotWithShape="1">
                <a:blip r:embed="rId2"/>
                <a:stretch>
                  <a:fillRect l="-4" t="-16" r="2" b="17"/>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算法步骤</a:t>
            </a:r>
          </a:p>
        </p:txBody>
      </p:sp>
      <mc:AlternateContent xmlns:mc="http://schemas.openxmlformats.org/markup-compatibility/2006" xmlns:a14="http://schemas.microsoft.com/office/drawing/2010/main">
        <mc:Choice Requires="a14">
          <p:sp>
            <p:nvSpPr>
              <p:cNvPr id="4" name="文本框 3"/>
              <p:cNvSpPr txBox="1"/>
              <p:nvPr/>
            </p:nvSpPr>
            <p:spPr>
              <a:xfrm>
                <a:off x="581464" y="1423611"/>
                <a:ext cx="10672690" cy="4096827"/>
              </a:xfrm>
              <a:prstGeom prst="rect">
                <a:avLst/>
              </a:prstGeom>
              <a:noFill/>
            </p:spPr>
            <p:txBody>
              <a:bodyPr wrap="square" rtlCol="0">
                <a:spAutoFit/>
              </a:bodyPr>
              <a:lstStyle/>
              <a:p>
                <a:pPr>
                  <a:lnSpc>
                    <a:spcPct val="150000"/>
                  </a:lnSpc>
                </a:pPr>
                <a:r>
                  <a:rPr lang="en-US" altLang="zh-CN" sz="2400" dirty="0"/>
                  <a:t>        </a:t>
                </a:r>
                <a:r>
                  <a:rPr lang="zh-CN" altLang="zh-CN" sz="2400" dirty="0">
                    <a:latin typeface="Times New Roman" panose="02020603050405020304" pitchFamily="18" charset="0"/>
                    <a:cs typeface="Times New Roman" panose="02020603050405020304" pitchFamily="18" charset="0"/>
                  </a:rPr>
                  <a:t>由于对于所有的类别计算后验概率时，分母是一样的，因此预测公式可以简化为：</a:t>
                </a:r>
              </a:p>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𝑟𝑒𝑠𝑢𝑙𝑡</m:t>
                          </m:r>
                        </m:sub>
                      </m:sSub>
                      <m:r>
                        <a:rPr lang="en-US" altLang="zh-CN" sz="2400">
                          <a:latin typeface="Cambria Math" panose="02040503050406030204" pitchFamily="18" charset="0"/>
                        </a:rPr>
                        <m:t>=</m:t>
                      </m:r>
                      <m:limLow>
                        <m:limLowPr>
                          <m:ctrlPr>
                            <a:rPr lang="zh-CN" altLang="zh-CN" sz="2400" i="1">
                              <a:latin typeface="Cambria Math" panose="02040503050406030204" pitchFamily="18" charset="0"/>
                            </a:rPr>
                          </m:ctrlPr>
                        </m:limLowPr>
                        <m:e>
                          <m:groupChr>
                            <m:groupChrPr>
                              <m:chr m:val="⏟"/>
                              <m:ctrlPr>
                                <a:rPr lang="zh-CN" altLang="zh-CN" sz="2400" i="1">
                                  <a:latin typeface="Cambria Math" panose="02040503050406030204" pitchFamily="18" charset="0"/>
                                </a:rPr>
                              </m:ctrlPr>
                            </m:groupChrPr>
                            <m:e>
                              <m:r>
                                <a:rPr lang="en-US" altLang="zh-CN" sz="2400">
                                  <a:latin typeface="Cambria Math" panose="02040503050406030204" pitchFamily="18" charset="0"/>
                                </a:rPr>
                                <m:t>𝑎𝑟𝑔𝑚𝑎𝑥</m:t>
                              </m:r>
                            </m:e>
                          </m:groupChr>
                        </m:e>
                        <m:lim>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lim>
                      </m:limLow>
                      <m:r>
                        <m:rPr>
                          <m:sty m:val="p"/>
                        </m:rPr>
                        <a:rPr lang="en-US" altLang="zh-CN" sz="2400">
                          <a:latin typeface="Cambria Math" panose="02040503050406030204" pitchFamily="18" charset="0"/>
                        </a:rPr>
                        <m:t>P</m:t>
                      </m:r>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𝑋</m:t>
                              </m:r>
                            </m:e>
                            <m:sub>
                              <m:r>
                                <a:rPr lang="en-US" altLang="zh-CN" sz="2400">
                                  <a:latin typeface="Cambria Math" panose="02040503050406030204" pitchFamily="18" charset="0"/>
                                </a:rPr>
                                <m:t>𝑗</m:t>
                              </m:r>
                            </m:sub>
                          </m:sSub>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𝑥</m:t>
                              </m:r>
                            </m:e>
                            <m:sub>
                              <m:r>
                                <a:rPr lang="en-US" altLang="zh-CN" sz="2400">
                                  <a:latin typeface="Cambria Math" panose="02040503050406030204" pitchFamily="18" charset="0"/>
                                </a:rPr>
                                <m:t>𝑗</m:t>
                              </m:r>
                            </m:sub>
                          </m:sSub>
                        </m:e>
                        <m:e>
                          <m:r>
                            <m:rPr>
                              <m:sty m:val="p"/>
                            </m:rPr>
                            <a:rPr lang="en-US" altLang="zh-CN" sz="2400">
                              <a:latin typeface="Cambria Math" panose="02040503050406030204" pitchFamily="18" charset="0"/>
                            </a:rPr>
                            <m:t>Y</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e>
                      </m:d>
                      <m:r>
                        <m:rPr>
                          <m:sty m:val="p"/>
                        </m:rPr>
                        <a:rPr lang="en-US" altLang="zh-CN" sz="2400">
                          <a:latin typeface="Cambria Math" panose="02040503050406030204" pitchFamily="18" charset="0"/>
                        </a:rPr>
                        <m:t>P</m:t>
                      </m:r>
                      <m:d>
                        <m:dPr>
                          <m:ctrlPr>
                            <a:rPr lang="zh-CN" altLang="zh-CN" sz="2400" i="1">
                              <a:latin typeface="Cambria Math" panose="02040503050406030204" pitchFamily="18" charset="0"/>
                            </a:rPr>
                          </m:ctrlPr>
                        </m:dPr>
                        <m:e>
                          <m:r>
                            <m:rPr>
                              <m:sty m:val="p"/>
                            </m:rPr>
                            <a:rPr lang="en-US" altLang="zh-CN" sz="2400">
                              <a:latin typeface="Cambria Math" panose="02040503050406030204" pitchFamily="18" charset="0"/>
                            </a:rPr>
                            <m:t>Y</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e>
                      </m:d>
                    </m:oMath>
                  </m:oMathPara>
                </a14:m>
                <a:endParaRPr lang="en-US" altLang="zh-CN" sz="2400" dirty="0">
                  <a:latin typeface="Times New Roman" panose="02020603050405020304" pitchFamily="18" charset="0"/>
                  <a:cs typeface="Times New Roman" panose="02020603050405020304" pitchFamily="18" charset="0"/>
                </a:endParaRPr>
              </a:p>
              <a:p>
                <a:pPr>
                  <a:lnSpc>
                    <a:spcPct val="150000"/>
                  </a:lnSpc>
                </a:pP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利用朴素贝叶斯的独立性假设，就可以得到通常意义上的朴素贝叶斯推断公式</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𝑟𝑒𝑠𝑢𝑙𝑡</m:t>
                          </m:r>
                        </m:sub>
                      </m:sSub>
                      <m:r>
                        <a:rPr lang="en-US" altLang="zh-CN" sz="2400">
                          <a:latin typeface="Cambria Math" panose="02040503050406030204" pitchFamily="18" charset="0"/>
                        </a:rPr>
                        <m:t>=</m:t>
                      </m:r>
                      <m:limLow>
                        <m:limLowPr>
                          <m:ctrlPr>
                            <a:rPr lang="zh-CN" altLang="zh-CN" sz="2400" i="1">
                              <a:latin typeface="Cambria Math" panose="02040503050406030204" pitchFamily="18" charset="0"/>
                            </a:rPr>
                          </m:ctrlPr>
                        </m:limLowPr>
                        <m:e>
                          <m:groupChr>
                            <m:groupChrPr>
                              <m:chr m:val="⏟"/>
                              <m:ctrlPr>
                                <a:rPr lang="zh-CN" altLang="zh-CN" sz="2400" i="1">
                                  <a:latin typeface="Cambria Math" panose="02040503050406030204" pitchFamily="18" charset="0"/>
                                </a:rPr>
                              </m:ctrlPr>
                            </m:groupChrPr>
                            <m:e>
                              <m:r>
                                <a:rPr lang="en-US" altLang="zh-CN" sz="2400">
                                  <a:latin typeface="Cambria Math" panose="02040503050406030204" pitchFamily="18" charset="0"/>
                                </a:rPr>
                                <m:t>𝑎𝑟𝑔𝑚𝑎𝑥</m:t>
                              </m:r>
                            </m:e>
                          </m:groupChr>
                        </m:e>
                        <m:lim>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lim>
                      </m:limLow>
                      <m:r>
                        <m:rPr>
                          <m:sty m:val="p"/>
                        </m:rPr>
                        <a:rPr lang="en-US" altLang="zh-CN" sz="2400">
                          <a:latin typeface="Cambria Math" panose="02040503050406030204" pitchFamily="18" charset="0"/>
                        </a:rPr>
                        <m:t>P</m:t>
                      </m:r>
                      <m:d>
                        <m:dPr>
                          <m:ctrlPr>
                            <a:rPr lang="zh-CN" altLang="zh-CN" sz="2400" i="1">
                              <a:latin typeface="Cambria Math" panose="02040503050406030204" pitchFamily="18" charset="0"/>
                            </a:rPr>
                          </m:ctrlPr>
                        </m:dPr>
                        <m:e>
                          <m:r>
                            <m:rPr>
                              <m:sty m:val="p"/>
                            </m:rPr>
                            <a:rPr lang="en-US" altLang="zh-CN" sz="2400">
                              <a:latin typeface="Cambria Math" panose="02040503050406030204" pitchFamily="18" charset="0"/>
                            </a:rPr>
                            <m:t>Y</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e>
                      </m:d>
                      <m:nary>
                        <m:naryPr>
                          <m:chr m:val="∏"/>
                          <m:limLoc m:val="undOvr"/>
                          <m:ctrlPr>
                            <a:rPr lang="zh-CN" altLang="zh-CN" sz="2400" i="1">
                              <a:latin typeface="Cambria Math" panose="02040503050406030204" pitchFamily="18" charset="0"/>
                            </a:rPr>
                          </m:ctrlPr>
                        </m:naryPr>
                        <m:sub>
                          <m:r>
                            <a:rPr lang="en-US" altLang="zh-CN" sz="2400">
                              <a:latin typeface="Cambria Math" panose="02040503050406030204" pitchFamily="18" charset="0"/>
                            </a:rPr>
                            <m:t>𝑗</m:t>
                          </m:r>
                          <m:r>
                            <a:rPr lang="en-US" altLang="zh-CN" sz="2400">
                              <a:latin typeface="Cambria Math" panose="02040503050406030204" pitchFamily="18" charset="0"/>
                            </a:rPr>
                            <m:t>=1</m:t>
                          </m:r>
                        </m:sub>
                        <m:sup>
                          <m:r>
                            <a:rPr lang="en-US" altLang="zh-CN" sz="2400">
                              <a:latin typeface="Cambria Math" panose="02040503050406030204" pitchFamily="18" charset="0"/>
                            </a:rPr>
                            <m:t>𝑛</m:t>
                          </m:r>
                        </m:sup>
                        <m:e>
                          <m:r>
                            <m:rPr>
                              <m:sty m:val="p"/>
                            </m:rPr>
                            <a:rPr lang="en-US" altLang="zh-CN" sz="2400">
                              <a:latin typeface="Cambria Math" panose="02040503050406030204" pitchFamily="18" charset="0"/>
                            </a:rPr>
                            <m:t>P</m:t>
                          </m:r>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𝑋</m:t>
                                  </m:r>
                                </m:e>
                                <m:sub>
                                  <m:r>
                                    <a:rPr lang="en-US" altLang="zh-CN" sz="2400">
                                      <a:latin typeface="Cambria Math" panose="02040503050406030204" pitchFamily="18" charset="0"/>
                                    </a:rPr>
                                    <m:t>𝑗</m:t>
                                  </m:r>
                                </m:sub>
                              </m:sSub>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𝑥</m:t>
                                  </m:r>
                                </m:e>
                                <m:sub>
                                  <m:r>
                                    <a:rPr lang="en-US" altLang="zh-CN" sz="2400">
                                      <a:latin typeface="Cambria Math" panose="02040503050406030204" pitchFamily="18" charset="0"/>
                                    </a:rPr>
                                    <m:t>𝑗</m:t>
                                  </m:r>
                                </m:sub>
                              </m:sSub>
                            </m:e>
                            <m:e>
                              <m:r>
                                <m:rPr>
                                  <m:sty m:val="p"/>
                                </m:rPr>
                                <a:rPr lang="en-US" altLang="zh-CN" sz="2400">
                                  <a:latin typeface="Cambria Math" panose="02040503050406030204" pitchFamily="18" charset="0"/>
                                </a:rPr>
                                <m:t>Y</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a:latin typeface="Cambria Math" panose="02040503050406030204" pitchFamily="18" charset="0"/>
                                    </a:rPr>
                                    <m:t>𝐶</m:t>
                                  </m:r>
                                </m:e>
                                <m:sub>
                                  <m:r>
                                    <a:rPr lang="en-US" altLang="zh-CN" sz="2400">
                                      <a:latin typeface="Cambria Math" panose="02040503050406030204" pitchFamily="18" charset="0"/>
                                    </a:rPr>
                                    <m:t>𝑘</m:t>
                                  </m:r>
                                </m:sub>
                              </m:sSub>
                            </m:e>
                          </m:d>
                        </m:e>
                      </m:nary>
                    </m:oMath>
                  </m:oMathPara>
                </a14:m>
                <a:endParaRPr lang="en-US" altLang="zh-CN" sz="2400" dirty="0">
                  <a:latin typeface="Times New Roman" panose="02020603050405020304" pitchFamily="18" charset="0"/>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81464" y="1423611"/>
                <a:ext cx="10672690" cy="4096827"/>
              </a:xfrm>
              <a:prstGeom prst="rect">
                <a:avLst/>
              </a:prstGeom>
              <a:blipFill rotWithShape="1">
                <a:blip r:embed="rId2"/>
                <a:stretch>
                  <a:fillRect l="-4" t="-14" b="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算法实现</a:t>
            </a:r>
          </a:p>
        </p:txBody>
      </p:sp>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86744" y="796333"/>
            <a:ext cx="3404324" cy="390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4"/>
          <p:cNvSpPr>
            <a:spLocks noChangeArrowheads="1"/>
          </p:cNvSpPr>
          <p:nvPr/>
        </p:nvSpPr>
        <p:spPr bwMode="auto">
          <a:xfrm>
            <a:off x="371787" y="1039202"/>
            <a:ext cx="6984053" cy="400110"/>
          </a:xfrm>
          <a:prstGeom prst="rect">
            <a:avLst/>
          </a:prstGeom>
          <a:solidFill>
            <a:srgbClr val="2B2B2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A9B7C6"/>
                </a:solidFill>
                <a:effectLst/>
                <a:latin typeface="Consolas" panose="020B0609020204030204" pitchFamily="49" charset="0"/>
                <a:ea typeface="宋体" panose="02010600030101010101" pitchFamily="2" charset="-122"/>
                <a:cs typeface="Consolas" panose="020B0609020204030204" pitchFamily="49" charset="0"/>
              </a:rPr>
              <a:t>dataSet = pd.read_csv(</a:t>
            </a:r>
            <a:r>
              <a:rPr kumimoji="0" lang="zh-CN" altLang="zh-CN" sz="2000" b="0" i="0" u="none" strike="noStrike" cap="none" normalizeH="0" baseline="0" dirty="0">
                <a:ln>
                  <a:noFill/>
                </a:ln>
                <a:solidFill>
                  <a:srgbClr val="6A8759"/>
                </a:solidFill>
                <a:effectLst/>
                <a:latin typeface="Consolas" panose="020B0609020204030204" pitchFamily="49" charset="0"/>
                <a:ea typeface="宋体" panose="02010600030101010101" pitchFamily="2" charset="-122"/>
                <a:cs typeface="Consolas" panose="020B0609020204030204" pitchFamily="49" charset="0"/>
              </a:rPr>
              <a:t>'naivebayes_data.csv'</a:t>
            </a:r>
            <a:r>
              <a:rPr kumimoji="0" lang="zh-CN" altLang="zh-CN" sz="2000" b="0" i="0" u="none" strike="noStrike" cap="none" normalizeH="0" baseline="0" dirty="0">
                <a:ln>
                  <a:noFill/>
                </a:ln>
                <a:solidFill>
                  <a:srgbClr val="A9B7C6"/>
                </a:solidFill>
                <a:effectLst/>
                <a:latin typeface="Consolas" panose="020B0609020204030204" pitchFamily="49" charset="0"/>
                <a:ea typeface="宋体" panose="02010600030101010101" pitchFamily="2" charset="-122"/>
                <a:cs typeface="Consolas" panose="020B0609020204030204" pitchFamily="49" charset="0"/>
              </a:rPr>
              <a:t>)</a:t>
            </a: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aphicFrame>
        <p:nvGraphicFramePr>
          <p:cNvPr id="7" name="object 4"/>
          <p:cNvGraphicFramePr>
            <a:graphicFrameLocks noGrp="1"/>
          </p:cNvGraphicFramePr>
          <p:nvPr>
            <p:custDataLst>
              <p:tags r:id="rId1"/>
            </p:custDataLst>
          </p:nvPr>
        </p:nvGraphicFramePr>
        <p:xfrm>
          <a:off x="371787" y="3311760"/>
          <a:ext cx="2526741" cy="1372120"/>
        </p:xfrm>
        <a:graphic>
          <a:graphicData uri="http://schemas.openxmlformats.org/drawingml/2006/table">
            <a:tbl>
              <a:tblPr firstRow="1" bandRow="1">
                <a:tableStyleId>{2D5ABB26-0587-4C30-8999-92F81FD0307C}</a:tableStyleId>
              </a:tblPr>
              <a:tblGrid>
                <a:gridCol w="621741">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899160">
                  <a:extLst>
                    <a:ext uri="{9D8B030D-6E8A-4147-A177-3AD203B41FA5}">
                      <a16:colId xmlns:a16="http://schemas.microsoft.com/office/drawing/2014/main" val="20002"/>
                    </a:ext>
                  </a:extLst>
                </a:gridCol>
              </a:tblGrid>
              <a:tr h="365760">
                <a:tc>
                  <a:txBody>
                    <a:bodyPr/>
                    <a:lstStyle/>
                    <a:p>
                      <a:pPr marL="102235" algn="ctr">
                        <a:lnSpc>
                          <a:spcPct val="100000"/>
                        </a:lnSpc>
                        <a:spcBef>
                          <a:spcPts val="360"/>
                        </a:spcBef>
                      </a:pPr>
                      <a:r>
                        <a:rPr lang="en-US" sz="1800" b="1" spc="30" dirty="0">
                          <a:solidFill>
                            <a:srgbClr val="D0692F"/>
                          </a:solidFill>
                          <a:latin typeface="Trebuchet MS" panose="020B0603020202020204"/>
                          <a:cs typeface="Trebuchet MS" panose="020B0603020202020204"/>
                        </a:rPr>
                        <a:t>X1</a:t>
                      </a:r>
                      <a:endParaRPr sz="1800" dirty="0">
                        <a:latin typeface="Trebuchet MS" panose="020B0603020202020204"/>
                        <a:cs typeface="Trebuchet MS" panose="020B0603020202020204"/>
                      </a:endParaRPr>
                    </a:p>
                  </a:txBody>
                  <a:tcPr marL="0" marR="0" marT="45719" marB="0">
                    <a:solidFill>
                      <a:srgbClr val="344B5E"/>
                    </a:solidFill>
                  </a:tcPr>
                </a:tc>
                <a:tc>
                  <a:txBody>
                    <a:bodyPr/>
                    <a:lstStyle/>
                    <a:p>
                      <a:pPr marL="85090" algn="ctr">
                        <a:lnSpc>
                          <a:spcPct val="100000"/>
                        </a:lnSpc>
                        <a:spcBef>
                          <a:spcPts val="360"/>
                        </a:spcBef>
                      </a:pPr>
                      <a:r>
                        <a:rPr lang="en-US" sz="1800" b="1" spc="20" dirty="0">
                          <a:solidFill>
                            <a:srgbClr val="FFFFFF"/>
                          </a:solidFill>
                          <a:latin typeface="Trebuchet MS" panose="020B0603020202020204"/>
                          <a:cs typeface="Trebuchet MS" panose="020B0603020202020204"/>
                        </a:rPr>
                        <a:t>Y=1</a:t>
                      </a:r>
                      <a:endParaRPr sz="1800" dirty="0">
                        <a:latin typeface="Trebuchet MS" panose="020B0603020202020204"/>
                        <a:cs typeface="Trebuchet MS" panose="020B0603020202020204"/>
                      </a:endParaRPr>
                    </a:p>
                  </a:txBody>
                  <a:tcPr marL="0" marR="0" marT="45719" marB="0">
                    <a:solidFill>
                      <a:srgbClr val="344B5E"/>
                    </a:solidFill>
                  </a:tcPr>
                </a:tc>
                <a:tc>
                  <a:txBody>
                    <a:bodyPr/>
                    <a:lstStyle/>
                    <a:p>
                      <a:pPr marL="85090" algn="ctr">
                        <a:lnSpc>
                          <a:spcPct val="100000"/>
                        </a:lnSpc>
                        <a:spcBef>
                          <a:spcPts val="360"/>
                        </a:spcBef>
                      </a:pPr>
                      <a:r>
                        <a:rPr lang="en-US" altLang="zh-CN" sz="1800" b="1" spc="20" dirty="0">
                          <a:solidFill>
                            <a:srgbClr val="FFFFFF"/>
                          </a:solidFill>
                          <a:latin typeface="Trebuchet MS" panose="020B0603020202020204"/>
                          <a:cs typeface="Trebuchet MS" panose="020B0603020202020204"/>
                        </a:rPr>
                        <a:t>Y=-1</a:t>
                      </a:r>
                      <a:endParaRPr lang="en-US" altLang="zh-CN" sz="1800" dirty="0">
                        <a:latin typeface="Trebuchet MS" panose="020B0603020202020204"/>
                        <a:cs typeface="Trebuchet MS" panose="020B0603020202020204"/>
                      </a:endParaRPr>
                    </a:p>
                  </a:txBody>
                  <a:tcPr marL="0" marR="0" marT="45719" marB="0">
                    <a:solidFill>
                      <a:srgbClr val="344B5E"/>
                    </a:solidFill>
                  </a:tcPr>
                </a:tc>
                <a:extLst>
                  <a:ext uri="{0D108BD9-81ED-4DB2-BD59-A6C34878D82A}">
                    <a16:rowId xmlns:a16="http://schemas.microsoft.com/office/drawing/2014/main" val="10000"/>
                  </a:ext>
                </a:extLst>
              </a:tr>
              <a:tr h="325640">
                <a:tc>
                  <a:txBody>
                    <a:bodyPr/>
                    <a:lstStyle/>
                    <a:p>
                      <a:pPr marL="103505" algn="ctr">
                        <a:lnSpc>
                          <a:spcPct val="100000"/>
                        </a:lnSpc>
                        <a:spcBef>
                          <a:spcPts val="500"/>
                        </a:spcBef>
                      </a:pPr>
                      <a:r>
                        <a:rPr lang="en-US" sz="1600" b="1" spc="5" dirty="0">
                          <a:solidFill>
                            <a:srgbClr val="C00000"/>
                          </a:solidFill>
                          <a:latin typeface="Arial" panose="020B0604020202020204"/>
                          <a:cs typeface="Arial" panose="020B0604020202020204"/>
                        </a:rPr>
                        <a:t>1</a:t>
                      </a:r>
                      <a:endParaRPr sz="1600" b="1" dirty="0">
                        <a:solidFill>
                          <a:srgbClr val="C00000"/>
                        </a:solidFill>
                        <a:latin typeface="Arial" panose="020B0604020202020204"/>
                        <a:cs typeface="Arial" panose="020B0604020202020204"/>
                      </a:endParaRPr>
                    </a:p>
                  </a:txBody>
                  <a:tcPr marL="0" marR="0" marT="63500" marB="0">
                    <a:solidFill>
                      <a:srgbClr val="E0EBEB"/>
                    </a:solidFill>
                  </a:tcPr>
                </a:tc>
                <a:tc>
                  <a:txBody>
                    <a:bodyPr/>
                    <a:lstStyle/>
                    <a:p>
                      <a:pPr marL="84455" algn="ctr">
                        <a:lnSpc>
                          <a:spcPct val="100000"/>
                        </a:lnSpc>
                        <a:spcBef>
                          <a:spcPts val="500"/>
                        </a:spcBef>
                      </a:pPr>
                      <a:r>
                        <a:rPr sz="1600" b="1" spc="85" dirty="0">
                          <a:solidFill>
                            <a:srgbClr val="C00000"/>
                          </a:solidFill>
                          <a:latin typeface="Arial" panose="020B0604020202020204"/>
                          <a:cs typeface="Arial" panose="020B0604020202020204"/>
                        </a:rPr>
                        <a:t>2/9</a:t>
                      </a:r>
                      <a:endParaRPr sz="1600" b="1" dirty="0">
                        <a:solidFill>
                          <a:srgbClr val="C00000"/>
                        </a:solidFill>
                        <a:latin typeface="Arial" panose="020B0604020202020204"/>
                        <a:cs typeface="Arial" panose="020B0604020202020204"/>
                      </a:endParaRPr>
                    </a:p>
                  </a:txBody>
                  <a:tcPr marL="0" marR="0" marT="63500" marB="0">
                    <a:solidFill>
                      <a:srgbClr val="E0EBEB"/>
                    </a:solidFill>
                  </a:tcPr>
                </a:tc>
                <a:tc>
                  <a:txBody>
                    <a:bodyPr/>
                    <a:lstStyle/>
                    <a:p>
                      <a:pPr marR="10160" algn="ctr">
                        <a:lnSpc>
                          <a:spcPct val="100000"/>
                        </a:lnSpc>
                        <a:spcBef>
                          <a:spcPts val="500"/>
                        </a:spcBef>
                      </a:pPr>
                      <a:r>
                        <a:rPr sz="1600" b="1" spc="85" dirty="0">
                          <a:solidFill>
                            <a:srgbClr val="C00000"/>
                          </a:solidFill>
                          <a:latin typeface="Arial" panose="020B0604020202020204"/>
                          <a:cs typeface="Arial" panose="020B0604020202020204"/>
                        </a:rPr>
                        <a:t>3/</a:t>
                      </a:r>
                      <a:r>
                        <a:rPr lang="en-US" sz="1600" b="1" spc="85" dirty="0">
                          <a:solidFill>
                            <a:srgbClr val="C00000"/>
                          </a:solidFill>
                          <a:latin typeface="Arial" panose="020B0604020202020204"/>
                          <a:cs typeface="Arial" panose="020B0604020202020204"/>
                        </a:rPr>
                        <a:t>6</a:t>
                      </a:r>
                      <a:endParaRPr sz="1600" b="1" dirty="0">
                        <a:solidFill>
                          <a:srgbClr val="C00000"/>
                        </a:solidFill>
                        <a:latin typeface="Arial" panose="020B0604020202020204"/>
                        <a:cs typeface="Arial" panose="020B0604020202020204"/>
                      </a:endParaRPr>
                    </a:p>
                  </a:txBody>
                  <a:tcPr marL="0" marR="0" marT="63500" marB="0">
                    <a:solidFill>
                      <a:srgbClr val="E0EBEB"/>
                    </a:solidFill>
                  </a:tcPr>
                </a:tc>
                <a:extLst>
                  <a:ext uri="{0D108BD9-81ED-4DB2-BD59-A6C34878D82A}">
                    <a16:rowId xmlns:a16="http://schemas.microsoft.com/office/drawing/2014/main" val="10001"/>
                  </a:ext>
                </a:extLst>
              </a:tr>
              <a:tr h="281354">
                <a:tc>
                  <a:txBody>
                    <a:bodyPr/>
                    <a:lstStyle/>
                    <a:p>
                      <a:pPr marL="102870" algn="ctr">
                        <a:lnSpc>
                          <a:spcPct val="100000"/>
                        </a:lnSpc>
                        <a:spcBef>
                          <a:spcPts val="530"/>
                        </a:spcBef>
                      </a:pPr>
                      <a:r>
                        <a:rPr lang="en-US" sz="1600" dirty="0">
                          <a:solidFill>
                            <a:srgbClr val="344B5E"/>
                          </a:solidFill>
                          <a:latin typeface="Arial" panose="020B0604020202020204"/>
                          <a:cs typeface="Arial" panose="020B0604020202020204"/>
                        </a:rPr>
                        <a:t>2</a:t>
                      </a:r>
                      <a:endParaRPr sz="1600" dirty="0">
                        <a:latin typeface="Arial" panose="020B0604020202020204"/>
                        <a:cs typeface="Arial" panose="020B0604020202020204"/>
                      </a:endParaRPr>
                    </a:p>
                  </a:txBody>
                  <a:tcPr marL="0" marR="0" marT="67310" marB="0">
                    <a:solidFill>
                      <a:srgbClr val="E0EBEB"/>
                    </a:solidFill>
                  </a:tcPr>
                </a:tc>
                <a:tc>
                  <a:txBody>
                    <a:bodyPr/>
                    <a:lstStyle/>
                    <a:p>
                      <a:pPr marL="84455" algn="ctr">
                        <a:lnSpc>
                          <a:spcPct val="100000"/>
                        </a:lnSpc>
                        <a:spcBef>
                          <a:spcPts val="530"/>
                        </a:spcBef>
                      </a:pPr>
                      <a:r>
                        <a:rPr lang="en-US" sz="1600" spc="85" dirty="0">
                          <a:solidFill>
                            <a:srgbClr val="344B5E"/>
                          </a:solidFill>
                          <a:latin typeface="Arial" panose="020B0604020202020204"/>
                          <a:cs typeface="Arial" panose="020B0604020202020204"/>
                        </a:rPr>
                        <a:t>3</a:t>
                      </a:r>
                      <a:r>
                        <a:rPr sz="1600" spc="85" dirty="0">
                          <a:solidFill>
                            <a:srgbClr val="344B5E"/>
                          </a:solidFill>
                          <a:latin typeface="Arial" panose="020B0604020202020204"/>
                          <a:cs typeface="Arial" panose="020B0604020202020204"/>
                        </a:rPr>
                        <a:t>/9</a:t>
                      </a:r>
                      <a:endParaRPr sz="1600" dirty="0">
                        <a:latin typeface="Arial" panose="020B0604020202020204"/>
                        <a:cs typeface="Arial" panose="020B0604020202020204"/>
                      </a:endParaRPr>
                    </a:p>
                  </a:txBody>
                  <a:tcPr marL="0" marR="0" marT="67310" marB="0">
                    <a:solidFill>
                      <a:srgbClr val="E0EBEB"/>
                    </a:solidFill>
                  </a:tcPr>
                </a:tc>
                <a:tc>
                  <a:txBody>
                    <a:bodyPr/>
                    <a:lstStyle/>
                    <a:p>
                      <a:pPr marR="10160" algn="ctr">
                        <a:lnSpc>
                          <a:spcPct val="100000"/>
                        </a:lnSpc>
                        <a:spcBef>
                          <a:spcPts val="530"/>
                        </a:spcBef>
                      </a:pPr>
                      <a:r>
                        <a:rPr lang="en-US" sz="1600" spc="85" dirty="0">
                          <a:solidFill>
                            <a:srgbClr val="344B5E"/>
                          </a:solidFill>
                          <a:latin typeface="Arial" panose="020B0604020202020204"/>
                          <a:cs typeface="Arial" panose="020B0604020202020204"/>
                        </a:rPr>
                        <a:t>2</a:t>
                      </a:r>
                      <a:r>
                        <a:rPr sz="1600" spc="85" dirty="0">
                          <a:solidFill>
                            <a:srgbClr val="344B5E"/>
                          </a:solidFill>
                          <a:latin typeface="Arial" panose="020B0604020202020204"/>
                          <a:cs typeface="Arial" panose="020B0604020202020204"/>
                        </a:rPr>
                        <a:t>/</a:t>
                      </a:r>
                      <a:r>
                        <a:rPr lang="en-US" sz="1600" spc="85" dirty="0">
                          <a:solidFill>
                            <a:srgbClr val="344B5E"/>
                          </a:solidFill>
                          <a:latin typeface="Arial" panose="020B0604020202020204"/>
                          <a:cs typeface="Arial" panose="020B0604020202020204"/>
                        </a:rPr>
                        <a:t>6</a:t>
                      </a:r>
                      <a:endParaRPr sz="1600" dirty="0">
                        <a:latin typeface="Arial" panose="020B0604020202020204"/>
                        <a:cs typeface="Arial" panose="020B0604020202020204"/>
                      </a:endParaRPr>
                    </a:p>
                  </a:txBody>
                  <a:tcPr marL="0" marR="0" marT="67310" marB="0">
                    <a:solidFill>
                      <a:srgbClr val="E0EBEB"/>
                    </a:solidFill>
                  </a:tcPr>
                </a:tc>
                <a:extLst>
                  <a:ext uri="{0D108BD9-81ED-4DB2-BD59-A6C34878D82A}">
                    <a16:rowId xmlns:a16="http://schemas.microsoft.com/office/drawing/2014/main" val="10002"/>
                  </a:ext>
                </a:extLst>
              </a:tr>
              <a:tr h="369570">
                <a:tc>
                  <a:txBody>
                    <a:bodyPr/>
                    <a:lstStyle/>
                    <a:p>
                      <a:pPr marL="103505" algn="ctr">
                        <a:lnSpc>
                          <a:spcPct val="100000"/>
                        </a:lnSpc>
                        <a:spcBef>
                          <a:spcPts val="530"/>
                        </a:spcBef>
                      </a:pPr>
                      <a:r>
                        <a:rPr lang="en-US" sz="1600" spc="-30" dirty="0">
                          <a:solidFill>
                            <a:srgbClr val="344B5E"/>
                          </a:solidFill>
                          <a:latin typeface="Arial" panose="020B0604020202020204"/>
                          <a:cs typeface="Arial" panose="020B0604020202020204"/>
                        </a:rPr>
                        <a:t>3</a:t>
                      </a:r>
                      <a:endParaRPr sz="1600" dirty="0">
                        <a:latin typeface="Arial" panose="020B0604020202020204"/>
                        <a:cs typeface="Arial" panose="020B0604020202020204"/>
                      </a:endParaRPr>
                    </a:p>
                  </a:txBody>
                  <a:tcPr marL="0" marR="0" marT="67310" marB="0">
                    <a:solidFill>
                      <a:srgbClr val="E0EBEB"/>
                    </a:solidFill>
                  </a:tcPr>
                </a:tc>
                <a:tc>
                  <a:txBody>
                    <a:bodyPr/>
                    <a:lstStyle/>
                    <a:p>
                      <a:pPr marL="84455" algn="ctr">
                        <a:lnSpc>
                          <a:spcPct val="100000"/>
                        </a:lnSpc>
                        <a:spcBef>
                          <a:spcPts val="530"/>
                        </a:spcBef>
                      </a:pPr>
                      <a:r>
                        <a:rPr lang="en-US" sz="1600" spc="85" dirty="0">
                          <a:solidFill>
                            <a:srgbClr val="344B5E"/>
                          </a:solidFill>
                          <a:latin typeface="Arial" panose="020B0604020202020204"/>
                          <a:cs typeface="Arial" panose="020B0604020202020204"/>
                        </a:rPr>
                        <a:t>4</a:t>
                      </a:r>
                      <a:r>
                        <a:rPr sz="1600" spc="85" dirty="0">
                          <a:solidFill>
                            <a:srgbClr val="344B5E"/>
                          </a:solidFill>
                          <a:latin typeface="Arial" panose="020B0604020202020204"/>
                          <a:cs typeface="Arial" panose="020B0604020202020204"/>
                        </a:rPr>
                        <a:t>/9</a:t>
                      </a:r>
                      <a:endParaRPr sz="1600" dirty="0">
                        <a:latin typeface="Arial" panose="020B0604020202020204"/>
                        <a:cs typeface="Arial" panose="020B0604020202020204"/>
                      </a:endParaRPr>
                    </a:p>
                  </a:txBody>
                  <a:tcPr marL="0" marR="0" marT="67310" marB="0">
                    <a:solidFill>
                      <a:srgbClr val="E0EBEB"/>
                    </a:solidFill>
                  </a:tcPr>
                </a:tc>
                <a:tc>
                  <a:txBody>
                    <a:bodyPr/>
                    <a:lstStyle/>
                    <a:p>
                      <a:pPr marR="10160" algn="ctr">
                        <a:lnSpc>
                          <a:spcPct val="100000"/>
                        </a:lnSpc>
                        <a:spcBef>
                          <a:spcPts val="530"/>
                        </a:spcBef>
                      </a:pPr>
                      <a:r>
                        <a:rPr lang="en-US" sz="1600" spc="85" dirty="0">
                          <a:solidFill>
                            <a:srgbClr val="344B5E"/>
                          </a:solidFill>
                          <a:latin typeface="Arial" panose="020B0604020202020204"/>
                          <a:cs typeface="Arial" panose="020B0604020202020204"/>
                        </a:rPr>
                        <a:t>1</a:t>
                      </a:r>
                      <a:r>
                        <a:rPr sz="1600" spc="85" dirty="0">
                          <a:solidFill>
                            <a:srgbClr val="344B5E"/>
                          </a:solidFill>
                          <a:latin typeface="Arial" panose="020B0604020202020204"/>
                          <a:cs typeface="Arial" panose="020B0604020202020204"/>
                        </a:rPr>
                        <a:t>/</a:t>
                      </a:r>
                      <a:r>
                        <a:rPr lang="en-US" sz="1600" spc="85" dirty="0">
                          <a:solidFill>
                            <a:srgbClr val="344B5E"/>
                          </a:solidFill>
                          <a:latin typeface="Arial" panose="020B0604020202020204"/>
                          <a:cs typeface="Arial" panose="020B0604020202020204"/>
                        </a:rPr>
                        <a:t>6</a:t>
                      </a:r>
                      <a:endParaRPr sz="1600" dirty="0">
                        <a:latin typeface="Arial" panose="020B0604020202020204"/>
                        <a:cs typeface="Arial" panose="020B0604020202020204"/>
                      </a:endParaRPr>
                    </a:p>
                  </a:txBody>
                  <a:tcPr marL="0" marR="0" marT="67310" marB="0">
                    <a:solidFill>
                      <a:srgbClr val="E0EBEB"/>
                    </a:solidFill>
                  </a:tcPr>
                </a:tc>
                <a:extLst>
                  <a:ext uri="{0D108BD9-81ED-4DB2-BD59-A6C34878D82A}">
                    <a16:rowId xmlns:a16="http://schemas.microsoft.com/office/drawing/2014/main" val="10003"/>
                  </a:ext>
                </a:extLst>
              </a:tr>
            </a:tbl>
          </a:graphicData>
        </a:graphic>
      </p:graphicFrame>
      <p:graphicFrame>
        <p:nvGraphicFramePr>
          <p:cNvPr id="8" name="object 4"/>
          <p:cNvGraphicFramePr>
            <a:graphicFrameLocks noGrp="1"/>
          </p:cNvGraphicFramePr>
          <p:nvPr>
            <p:custDataLst>
              <p:tags r:id="rId2"/>
            </p:custDataLst>
          </p:nvPr>
        </p:nvGraphicFramePr>
        <p:xfrm>
          <a:off x="371787" y="4683880"/>
          <a:ext cx="2526741" cy="1372120"/>
        </p:xfrm>
        <a:graphic>
          <a:graphicData uri="http://schemas.openxmlformats.org/drawingml/2006/table">
            <a:tbl>
              <a:tblPr firstRow="1" bandRow="1">
                <a:tableStyleId>{2D5ABB26-0587-4C30-8999-92F81FD0307C}</a:tableStyleId>
              </a:tblPr>
              <a:tblGrid>
                <a:gridCol w="621741">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899160">
                  <a:extLst>
                    <a:ext uri="{9D8B030D-6E8A-4147-A177-3AD203B41FA5}">
                      <a16:colId xmlns:a16="http://schemas.microsoft.com/office/drawing/2014/main" val="20002"/>
                    </a:ext>
                  </a:extLst>
                </a:gridCol>
              </a:tblGrid>
              <a:tr h="365760">
                <a:tc>
                  <a:txBody>
                    <a:bodyPr/>
                    <a:lstStyle/>
                    <a:p>
                      <a:pPr marL="102235" algn="ctr">
                        <a:lnSpc>
                          <a:spcPct val="100000"/>
                        </a:lnSpc>
                        <a:spcBef>
                          <a:spcPts val="360"/>
                        </a:spcBef>
                      </a:pPr>
                      <a:r>
                        <a:rPr lang="en-US" sz="1800" b="1" spc="30" dirty="0">
                          <a:solidFill>
                            <a:srgbClr val="D0692F"/>
                          </a:solidFill>
                          <a:latin typeface="Trebuchet MS" panose="020B0603020202020204"/>
                          <a:cs typeface="Trebuchet MS" panose="020B0603020202020204"/>
                        </a:rPr>
                        <a:t>X2</a:t>
                      </a:r>
                      <a:endParaRPr sz="1800" dirty="0">
                        <a:latin typeface="Trebuchet MS" panose="020B0603020202020204"/>
                        <a:cs typeface="Trebuchet MS" panose="020B0603020202020204"/>
                      </a:endParaRPr>
                    </a:p>
                  </a:txBody>
                  <a:tcPr marL="0" marR="0" marT="45719" marB="0">
                    <a:solidFill>
                      <a:srgbClr val="344B5E"/>
                    </a:solidFill>
                  </a:tcPr>
                </a:tc>
                <a:tc>
                  <a:txBody>
                    <a:bodyPr/>
                    <a:lstStyle/>
                    <a:p>
                      <a:pPr marL="85090" algn="ctr">
                        <a:lnSpc>
                          <a:spcPct val="100000"/>
                        </a:lnSpc>
                        <a:spcBef>
                          <a:spcPts val="360"/>
                        </a:spcBef>
                      </a:pPr>
                      <a:r>
                        <a:rPr lang="en-US" sz="1800" b="1" spc="20" dirty="0">
                          <a:solidFill>
                            <a:srgbClr val="FFFFFF"/>
                          </a:solidFill>
                          <a:latin typeface="Trebuchet MS" panose="020B0603020202020204"/>
                          <a:cs typeface="Trebuchet MS" panose="020B0603020202020204"/>
                        </a:rPr>
                        <a:t>Y=1</a:t>
                      </a:r>
                      <a:endParaRPr sz="1800" dirty="0">
                        <a:latin typeface="Trebuchet MS" panose="020B0603020202020204"/>
                        <a:cs typeface="Trebuchet MS" panose="020B0603020202020204"/>
                      </a:endParaRPr>
                    </a:p>
                  </a:txBody>
                  <a:tcPr marL="0" marR="0" marT="45719" marB="0">
                    <a:solidFill>
                      <a:srgbClr val="344B5E"/>
                    </a:solidFill>
                  </a:tcPr>
                </a:tc>
                <a:tc>
                  <a:txBody>
                    <a:bodyPr/>
                    <a:lstStyle/>
                    <a:p>
                      <a:pPr marL="85090" algn="ctr">
                        <a:lnSpc>
                          <a:spcPct val="100000"/>
                        </a:lnSpc>
                        <a:spcBef>
                          <a:spcPts val="360"/>
                        </a:spcBef>
                      </a:pPr>
                      <a:r>
                        <a:rPr lang="en-US" altLang="zh-CN" sz="1800" b="1" spc="20" dirty="0">
                          <a:solidFill>
                            <a:srgbClr val="FFFFFF"/>
                          </a:solidFill>
                          <a:latin typeface="Trebuchet MS" panose="020B0603020202020204"/>
                          <a:cs typeface="Trebuchet MS" panose="020B0603020202020204"/>
                        </a:rPr>
                        <a:t>Y=-1</a:t>
                      </a:r>
                      <a:endParaRPr lang="en-US" altLang="zh-CN" sz="1800" dirty="0">
                        <a:latin typeface="Trebuchet MS" panose="020B0603020202020204"/>
                        <a:cs typeface="Trebuchet MS" panose="020B0603020202020204"/>
                      </a:endParaRPr>
                    </a:p>
                  </a:txBody>
                  <a:tcPr marL="0" marR="0" marT="45719" marB="0">
                    <a:solidFill>
                      <a:srgbClr val="344B5E"/>
                    </a:solidFill>
                  </a:tcPr>
                </a:tc>
                <a:extLst>
                  <a:ext uri="{0D108BD9-81ED-4DB2-BD59-A6C34878D82A}">
                    <a16:rowId xmlns:a16="http://schemas.microsoft.com/office/drawing/2014/main" val="10000"/>
                  </a:ext>
                </a:extLst>
              </a:tr>
              <a:tr h="325640">
                <a:tc>
                  <a:txBody>
                    <a:bodyPr/>
                    <a:lstStyle/>
                    <a:p>
                      <a:pPr marL="103505" algn="ctr">
                        <a:lnSpc>
                          <a:spcPct val="100000"/>
                        </a:lnSpc>
                        <a:spcBef>
                          <a:spcPts val="500"/>
                        </a:spcBef>
                      </a:pPr>
                      <a:r>
                        <a:rPr lang="en-US" sz="1600" spc="5" dirty="0">
                          <a:solidFill>
                            <a:srgbClr val="344B5E"/>
                          </a:solidFill>
                          <a:latin typeface="Arial" panose="020B0604020202020204"/>
                          <a:cs typeface="Arial" panose="020B0604020202020204"/>
                        </a:rPr>
                        <a:t>S</a:t>
                      </a:r>
                      <a:endParaRPr sz="1600" dirty="0">
                        <a:latin typeface="Arial" panose="020B0604020202020204"/>
                        <a:cs typeface="Arial" panose="020B0604020202020204"/>
                      </a:endParaRPr>
                    </a:p>
                  </a:txBody>
                  <a:tcPr marL="0" marR="0" marT="63500" marB="0">
                    <a:solidFill>
                      <a:srgbClr val="E0EBEB"/>
                    </a:solidFill>
                  </a:tcPr>
                </a:tc>
                <a:tc>
                  <a:txBody>
                    <a:bodyPr/>
                    <a:lstStyle/>
                    <a:p>
                      <a:pPr marL="84455" algn="ctr">
                        <a:lnSpc>
                          <a:spcPct val="100000"/>
                        </a:lnSpc>
                        <a:spcBef>
                          <a:spcPts val="500"/>
                        </a:spcBef>
                      </a:pPr>
                      <a:r>
                        <a:rPr lang="en-US" sz="1600" spc="85" dirty="0">
                          <a:solidFill>
                            <a:srgbClr val="344B5E"/>
                          </a:solidFill>
                          <a:latin typeface="Arial" panose="020B0604020202020204"/>
                          <a:cs typeface="Arial" panose="020B0604020202020204"/>
                        </a:rPr>
                        <a:t>1</a:t>
                      </a:r>
                      <a:r>
                        <a:rPr sz="1600" spc="85" dirty="0">
                          <a:solidFill>
                            <a:srgbClr val="344B5E"/>
                          </a:solidFill>
                          <a:latin typeface="Arial" panose="020B0604020202020204"/>
                          <a:cs typeface="Arial" panose="020B0604020202020204"/>
                        </a:rPr>
                        <a:t>/9</a:t>
                      </a:r>
                      <a:endParaRPr sz="1600" dirty="0">
                        <a:latin typeface="Arial" panose="020B0604020202020204"/>
                        <a:cs typeface="Arial" panose="020B0604020202020204"/>
                      </a:endParaRPr>
                    </a:p>
                  </a:txBody>
                  <a:tcPr marL="0" marR="0" marT="63500" marB="0">
                    <a:solidFill>
                      <a:srgbClr val="E0EBEB"/>
                    </a:solidFill>
                  </a:tcPr>
                </a:tc>
                <a:tc>
                  <a:txBody>
                    <a:bodyPr/>
                    <a:lstStyle/>
                    <a:p>
                      <a:pPr marR="10160" algn="ctr">
                        <a:lnSpc>
                          <a:spcPct val="100000"/>
                        </a:lnSpc>
                        <a:spcBef>
                          <a:spcPts val="500"/>
                        </a:spcBef>
                      </a:pPr>
                      <a:r>
                        <a:rPr sz="1600" spc="85" dirty="0">
                          <a:solidFill>
                            <a:srgbClr val="344B5E"/>
                          </a:solidFill>
                          <a:latin typeface="Arial" panose="020B0604020202020204"/>
                          <a:cs typeface="Arial" panose="020B0604020202020204"/>
                        </a:rPr>
                        <a:t>3/</a:t>
                      </a:r>
                      <a:r>
                        <a:rPr lang="en-US" sz="1600" spc="85" dirty="0">
                          <a:solidFill>
                            <a:srgbClr val="344B5E"/>
                          </a:solidFill>
                          <a:latin typeface="Arial" panose="020B0604020202020204"/>
                          <a:cs typeface="Arial" panose="020B0604020202020204"/>
                        </a:rPr>
                        <a:t>6</a:t>
                      </a:r>
                      <a:endParaRPr sz="1600" dirty="0">
                        <a:latin typeface="Arial" panose="020B0604020202020204"/>
                        <a:cs typeface="Arial" panose="020B0604020202020204"/>
                      </a:endParaRPr>
                    </a:p>
                  </a:txBody>
                  <a:tcPr marL="0" marR="0" marT="63500" marB="0">
                    <a:solidFill>
                      <a:srgbClr val="E0EBEB"/>
                    </a:solidFill>
                  </a:tcPr>
                </a:tc>
                <a:extLst>
                  <a:ext uri="{0D108BD9-81ED-4DB2-BD59-A6C34878D82A}">
                    <a16:rowId xmlns:a16="http://schemas.microsoft.com/office/drawing/2014/main" val="10001"/>
                  </a:ext>
                </a:extLst>
              </a:tr>
              <a:tr h="281354">
                <a:tc>
                  <a:txBody>
                    <a:bodyPr/>
                    <a:lstStyle/>
                    <a:p>
                      <a:pPr marL="102870" algn="ctr">
                        <a:lnSpc>
                          <a:spcPct val="100000"/>
                        </a:lnSpc>
                        <a:spcBef>
                          <a:spcPts val="530"/>
                        </a:spcBef>
                      </a:pPr>
                      <a:r>
                        <a:rPr lang="en-US" sz="1600" dirty="0">
                          <a:solidFill>
                            <a:srgbClr val="344B5E"/>
                          </a:solidFill>
                          <a:latin typeface="Arial" panose="020B0604020202020204"/>
                          <a:cs typeface="Arial" panose="020B0604020202020204"/>
                        </a:rPr>
                        <a:t>M</a:t>
                      </a:r>
                      <a:endParaRPr sz="1600" dirty="0">
                        <a:latin typeface="Arial" panose="020B0604020202020204"/>
                        <a:cs typeface="Arial" panose="020B0604020202020204"/>
                      </a:endParaRPr>
                    </a:p>
                  </a:txBody>
                  <a:tcPr marL="0" marR="0" marT="67310" marB="0">
                    <a:solidFill>
                      <a:srgbClr val="E0EBEB"/>
                    </a:solidFill>
                  </a:tcPr>
                </a:tc>
                <a:tc>
                  <a:txBody>
                    <a:bodyPr/>
                    <a:lstStyle/>
                    <a:p>
                      <a:pPr marL="84455" algn="ctr">
                        <a:lnSpc>
                          <a:spcPct val="100000"/>
                        </a:lnSpc>
                        <a:spcBef>
                          <a:spcPts val="530"/>
                        </a:spcBef>
                      </a:pPr>
                      <a:r>
                        <a:rPr lang="en-US" sz="1600" spc="85" dirty="0">
                          <a:solidFill>
                            <a:srgbClr val="344B5E"/>
                          </a:solidFill>
                          <a:latin typeface="Arial" panose="020B0604020202020204"/>
                          <a:cs typeface="Arial" panose="020B0604020202020204"/>
                        </a:rPr>
                        <a:t>4</a:t>
                      </a:r>
                      <a:r>
                        <a:rPr sz="1600" spc="85" dirty="0">
                          <a:solidFill>
                            <a:srgbClr val="344B5E"/>
                          </a:solidFill>
                          <a:latin typeface="Arial" panose="020B0604020202020204"/>
                          <a:cs typeface="Arial" panose="020B0604020202020204"/>
                        </a:rPr>
                        <a:t>/9</a:t>
                      </a:r>
                      <a:endParaRPr sz="1600" dirty="0">
                        <a:latin typeface="Arial" panose="020B0604020202020204"/>
                        <a:cs typeface="Arial" panose="020B0604020202020204"/>
                      </a:endParaRPr>
                    </a:p>
                  </a:txBody>
                  <a:tcPr marL="0" marR="0" marT="67310" marB="0">
                    <a:solidFill>
                      <a:srgbClr val="E0EBEB"/>
                    </a:solidFill>
                  </a:tcPr>
                </a:tc>
                <a:tc>
                  <a:txBody>
                    <a:bodyPr/>
                    <a:lstStyle/>
                    <a:p>
                      <a:pPr marR="10160" algn="ctr">
                        <a:lnSpc>
                          <a:spcPct val="100000"/>
                        </a:lnSpc>
                        <a:spcBef>
                          <a:spcPts val="530"/>
                        </a:spcBef>
                      </a:pPr>
                      <a:r>
                        <a:rPr lang="en-US" sz="1600" spc="85" dirty="0">
                          <a:solidFill>
                            <a:srgbClr val="344B5E"/>
                          </a:solidFill>
                          <a:latin typeface="Arial" panose="020B0604020202020204"/>
                          <a:cs typeface="Arial" panose="020B0604020202020204"/>
                        </a:rPr>
                        <a:t>2</a:t>
                      </a:r>
                      <a:r>
                        <a:rPr sz="1600" spc="85" dirty="0">
                          <a:solidFill>
                            <a:srgbClr val="344B5E"/>
                          </a:solidFill>
                          <a:latin typeface="Arial" panose="020B0604020202020204"/>
                          <a:cs typeface="Arial" panose="020B0604020202020204"/>
                        </a:rPr>
                        <a:t>/</a:t>
                      </a:r>
                      <a:r>
                        <a:rPr lang="en-US" sz="1600" spc="85" dirty="0">
                          <a:solidFill>
                            <a:srgbClr val="344B5E"/>
                          </a:solidFill>
                          <a:latin typeface="Arial" panose="020B0604020202020204"/>
                          <a:cs typeface="Arial" panose="020B0604020202020204"/>
                        </a:rPr>
                        <a:t>6</a:t>
                      </a:r>
                      <a:endParaRPr sz="1600" dirty="0">
                        <a:latin typeface="Arial" panose="020B0604020202020204"/>
                        <a:cs typeface="Arial" panose="020B0604020202020204"/>
                      </a:endParaRPr>
                    </a:p>
                  </a:txBody>
                  <a:tcPr marL="0" marR="0" marT="67310" marB="0">
                    <a:solidFill>
                      <a:srgbClr val="E0EBEB"/>
                    </a:solidFill>
                  </a:tcPr>
                </a:tc>
                <a:extLst>
                  <a:ext uri="{0D108BD9-81ED-4DB2-BD59-A6C34878D82A}">
                    <a16:rowId xmlns:a16="http://schemas.microsoft.com/office/drawing/2014/main" val="10002"/>
                  </a:ext>
                </a:extLst>
              </a:tr>
              <a:tr h="369570">
                <a:tc>
                  <a:txBody>
                    <a:bodyPr/>
                    <a:lstStyle/>
                    <a:p>
                      <a:pPr marL="103505" algn="ctr">
                        <a:lnSpc>
                          <a:spcPct val="100000"/>
                        </a:lnSpc>
                        <a:spcBef>
                          <a:spcPts val="530"/>
                        </a:spcBef>
                      </a:pPr>
                      <a:r>
                        <a:rPr lang="en-US" sz="1600" b="1" spc="-30" dirty="0">
                          <a:solidFill>
                            <a:srgbClr val="C00000"/>
                          </a:solidFill>
                          <a:latin typeface="Arial" panose="020B0604020202020204"/>
                          <a:cs typeface="Arial" panose="020B0604020202020204"/>
                        </a:rPr>
                        <a:t>L</a:t>
                      </a:r>
                      <a:endParaRPr sz="1600" b="1" dirty="0">
                        <a:solidFill>
                          <a:srgbClr val="C00000"/>
                        </a:solidFill>
                        <a:latin typeface="Arial" panose="020B0604020202020204"/>
                        <a:cs typeface="Arial" panose="020B0604020202020204"/>
                      </a:endParaRPr>
                    </a:p>
                  </a:txBody>
                  <a:tcPr marL="0" marR="0" marT="67310" marB="0">
                    <a:solidFill>
                      <a:srgbClr val="E0EBEB"/>
                    </a:solidFill>
                  </a:tcPr>
                </a:tc>
                <a:tc>
                  <a:txBody>
                    <a:bodyPr/>
                    <a:lstStyle/>
                    <a:p>
                      <a:pPr marL="84455" algn="ctr">
                        <a:lnSpc>
                          <a:spcPct val="100000"/>
                        </a:lnSpc>
                        <a:spcBef>
                          <a:spcPts val="530"/>
                        </a:spcBef>
                      </a:pPr>
                      <a:r>
                        <a:rPr lang="en-US" sz="1600" b="1" spc="85" dirty="0">
                          <a:solidFill>
                            <a:srgbClr val="C00000"/>
                          </a:solidFill>
                          <a:latin typeface="Arial" panose="020B0604020202020204"/>
                          <a:cs typeface="Arial" panose="020B0604020202020204"/>
                        </a:rPr>
                        <a:t>4</a:t>
                      </a:r>
                      <a:r>
                        <a:rPr sz="1600" b="1" spc="85" dirty="0">
                          <a:solidFill>
                            <a:srgbClr val="C00000"/>
                          </a:solidFill>
                          <a:latin typeface="Arial" panose="020B0604020202020204"/>
                          <a:cs typeface="Arial" panose="020B0604020202020204"/>
                        </a:rPr>
                        <a:t>/9</a:t>
                      </a:r>
                      <a:endParaRPr sz="1600" b="1" dirty="0">
                        <a:solidFill>
                          <a:srgbClr val="C00000"/>
                        </a:solidFill>
                        <a:latin typeface="Arial" panose="020B0604020202020204"/>
                        <a:cs typeface="Arial" panose="020B0604020202020204"/>
                      </a:endParaRPr>
                    </a:p>
                  </a:txBody>
                  <a:tcPr marL="0" marR="0" marT="67310" marB="0">
                    <a:solidFill>
                      <a:srgbClr val="E0EBEB"/>
                    </a:solidFill>
                  </a:tcPr>
                </a:tc>
                <a:tc>
                  <a:txBody>
                    <a:bodyPr/>
                    <a:lstStyle/>
                    <a:p>
                      <a:pPr marR="10160" algn="ctr">
                        <a:lnSpc>
                          <a:spcPct val="100000"/>
                        </a:lnSpc>
                        <a:spcBef>
                          <a:spcPts val="530"/>
                        </a:spcBef>
                      </a:pPr>
                      <a:r>
                        <a:rPr lang="en-US" sz="1600" b="1" spc="85" dirty="0">
                          <a:solidFill>
                            <a:srgbClr val="C00000"/>
                          </a:solidFill>
                          <a:latin typeface="Arial" panose="020B0604020202020204"/>
                          <a:cs typeface="Arial" panose="020B0604020202020204"/>
                        </a:rPr>
                        <a:t>1</a:t>
                      </a:r>
                      <a:r>
                        <a:rPr sz="1600" b="1" spc="85" dirty="0">
                          <a:solidFill>
                            <a:srgbClr val="C00000"/>
                          </a:solidFill>
                          <a:latin typeface="Arial" panose="020B0604020202020204"/>
                          <a:cs typeface="Arial" panose="020B0604020202020204"/>
                        </a:rPr>
                        <a:t>/</a:t>
                      </a:r>
                      <a:r>
                        <a:rPr lang="en-US" sz="1600" b="1" spc="85" dirty="0">
                          <a:solidFill>
                            <a:srgbClr val="C00000"/>
                          </a:solidFill>
                          <a:latin typeface="Arial" panose="020B0604020202020204"/>
                          <a:cs typeface="Arial" panose="020B0604020202020204"/>
                        </a:rPr>
                        <a:t>6</a:t>
                      </a:r>
                      <a:endParaRPr sz="1600" b="1" dirty="0">
                        <a:solidFill>
                          <a:srgbClr val="C00000"/>
                        </a:solidFill>
                        <a:latin typeface="Arial" panose="020B0604020202020204"/>
                        <a:cs typeface="Arial" panose="020B0604020202020204"/>
                      </a:endParaRPr>
                    </a:p>
                  </a:txBody>
                  <a:tcPr marL="0" marR="0" marT="67310" marB="0">
                    <a:solidFill>
                      <a:srgbClr val="E0EBEB"/>
                    </a:solidFill>
                  </a:tcPr>
                </a:tc>
                <a:extLst>
                  <a:ext uri="{0D108BD9-81ED-4DB2-BD59-A6C34878D82A}">
                    <a16:rowId xmlns:a16="http://schemas.microsoft.com/office/drawing/2014/main" val="10003"/>
                  </a:ext>
                </a:extLst>
              </a:tr>
            </a:tbl>
          </a:graphicData>
        </a:graphic>
      </p:graphicFrame>
      <p:sp>
        <p:nvSpPr>
          <p:cNvPr id="5" name="矩形 4"/>
          <p:cNvSpPr/>
          <p:nvPr/>
        </p:nvSpPr>
        <p:spPr>
          <a:xfrm>
            <a:off x="2661084" y="3297519"/>
            <a:ext cx="4206128" cy="369332"/>
          </a:xfrm>
          <a:prstGeom prst="rect">
            <a:avLst/>
          </a:prstGeom>
        </p:spPr>
        <p:txBody>
          <a:bodyPr wrap="square">
            <a:spAutoFit/>
          </a:bodyPr>
          <a:lstStyle/>
          <a:p>
            <a:pPr marL="102235" algn="ctr">
              <a:spcBef>
                <a:spcPts val="360"/>
              </a:spcBef>
            </a:pPr>
            <a:r>
              <a:rPr lang="en-US" altLang="zh-CN" b="1" spc="30" dirty="0">
                <a:solidFill>
                  <a:srgbClr val="D0692F"/>
                </a:solidFill>
                <a:latin typeface="Trebuchet MS" panose="020B0603020202020204"/>
                <a:cs typeface="Trebuchet MS" panose="020B0603020202020204"/>
              </a:rPr>
              <a:t>XY</a:t>
            </a:r>
            <a:r>
              <a:rPr lang="zh-CN" altLang="en-US" b="1" spc="30" dirty="0">
                <a:solidFill>
                  <a:srgbClr val="D0692F"/>
                </a:solidFill>
                <a:latin typeface="Trebuchet MS" panose="020B0603020202020204"/>
                <a:cs typeface="Trebuchet MS" panose="020B0603020202020204"/>
              </a:rPr>
              <a:t>同时发生的概率 联合概率</a:t>
            </a:r>
            <a:r>
              <a:rPr lang="en-US" altLang="zh-CN" b="1" spc="30" dirty="0">
                <a:solidFill>
                  <a:srgbClr val="D0692F"/>
                </a:solidFill>
                <a:latin typeface="Trebuchet MS" panose="020B0603020202020204"/>
                <a:cs typeface="Trebuchet MS" panose="020B0603020202020204"/>
              </a:rPr>
              <a:t>P(</a:t>
            </a:r>
            <a:r>
              <a:rPr lang="en-US" altLang="zh-CN" b="1" spc="30" dirty="0" err="1">
                <a:solidFill>
                  <a:srgbClr val="D0692F"/>
                </a:solidFill>
                <a:latin typeface="Trebuchet MS" panose="020B0603020202020204"/>
                <a:cs typeface="Trebuchet MS" panose="020B0603020202020204"/>
              </a:rPr>
              <a:t>XiY</a:t>
            </a:r>
            <a:r>
              <a:rPr lang="en-US" altLang="zh-CN" b="1" spc="30" dirty="0">
                <a:solidFill>
                  <a:srgbClr val="D0692F"/>
                </a:solidFill>
                <a:latin typeface="Trebuchet MS" panose="020B0603020202020204"/>
                <a:cs typeface="Trebuchet MS" panose="020B0603020202020204"/>
              </a:rPr>
              <a:t>)</a:t>
            </a:r>
            <a:endParaRPr lang="en-US" altLang="zh-CN" dirty="0">
              <a:latin typeface="Trebuchet MS" panose="020B0603020202020204"/>
              <a:cs typeface="Trebuchet MS" panose="020B0603020202020204"/>
            </a:endParaRPr>
          </a:p>
        </p:txBody>
      </p:sp>
      <p:sp>
        <p:nvSpPr>
          <p:cNvPr id="10" name="矩形 9"/>
          <p:cNvSpPr/>
          <p:nvPr/>
        </p:nvSpPr>
        <p:spPr>
          <a:xfrm>
            <a:off x="2898528" y="3539862"/>
            <a:ext cx="2749151" cy="1354217"/>
          </a:xfrm>
          <a:prstGeom prst="rect">
            <a:avLst/>
          </a:prstGeom>
        </p:spPr>
        <p:txBody>
          <a:bodyPr wrap="none">
            <a:spAutoFit/>
          </a:bodyPr>
          <a:lstStyle/>
          <a:p>
            <a:pPr marL="102235">
              <a:spcBef>
                <a:spcPts val="360"/>
              </a:spcBef>
            </a:pPr>
            <a:r>
              <a:rPr lang="en-US" altLang="zh-CN" spc="30" dirty="0">
                <a:latin typeface="Trebuchet MS" panose="020B0603020202020204"/>
                <a:cs typeface="Trebuchet MS" panose="020B0603020202020204"/>
              </a:rPr>
              <a:t>P(1-1)=3/6*0.4=0.2</a:t>
            </a:r>
          </a:p>
          <a:p>
            <a:pPr marL="102235">
              <a:lnSpc>
                <a:spcPct val="100000"/>
              </a:lnSpc>
              <a:spcBef>
                <a:spcPts val="360"/>
              </a:spcBef>
            </a:pPr>
            <a:r>
              <a:rPr lang="en-US" altLang="zh-CN" spc="30" dirty="0">
                <a:latin typeface="Trebuchet MS" panose="020B0603020202020204"/>
                <a:cs typeface="Trebuchet MS" panose="020B0603020202020204"/>
              </a:rPr>
              <a:t>P(11)=2/9*0.6=0.13333</a:t>
            </a:r>
          </a:p>
          <a:p>
            <a:pPr marL="102235">
              <a:lnSpc>
                <a:spcPct val="100000"/>
              </a:lnSpc>
              <a:spcBef>
                <a:spcPts val="360"/>
              </a:spcBef>
            </a:pPr>
            <a:r>
              <a:rPr lang="en-US" altLang="zh-CN" spc="30" dirty="0">
                <a:latin typeface="Trebuchet MS" panose="020B0603020202020204"/>
                <a:cs typeface="Trebuchet MS" panose="020B0603020202020204"/>
              </a:rPr>
              <a:t>P(L-1)=1/6*0.4=0.0666</a:t>
            </a:r>
          </a:p>
          <a:p>
            <a:pPr marL="102235">
              <a:lnSpc>
                <a:spcPct val="100000"/>
              </a:lnSpc>
              <a:spcBef>
                <a:spcPts val="360"/>
              </a:spcBef>
            </a:pPr>
            <a:r>
              <a:rPr lang="en-US" altLang="zh-CN" spc="30" dirty="0">
                <a:latin typeface="Trebuchet MS" panose="020B0603020202020204"/>
                <a:cs typeface="Trebuchet MS" panose="020B0603020202020204"/>
              </a:rPr>
              <a:t>P(L1)=4/9*0.6=0.26666</a:t>
            </a:r>
            <a:endParaRPr lang="en-US" altLang="zh-CN" dirty="0">
              <a:latin typeface="Trebuchet MS" panose="020B0603020202020204"/>
              <a:cs typeface="Trebuchet MS" panose="020B0603020202020204"/>
            </a:endParaRPr>
          </a:p>
        </p:txBody>
      </p:sp>
      <p:sp>
        <p:nvSpPr>
          <p:cNvPr id="11" name="矩形 10"/>
          <p:cNvSpPr/>
          <p:nvPr/>
        </p:nvSpPr>
        <p:spPr>
          <a:xfrm>
            <a:off x="2792769" y="4821210"/>
            <a:ext cx="5312352" cy="369332"/>
          </a:xfrm>
          <a:prstGeom prst="rect">
            <a:avLst/>
          </a:prstGeom>
        </p:spPr>
        <p:txBody>
          <a:bodyPr wrap="none">
            <a:spAutoFit/>
          </a:bodyPr>
          <a:lstStyle/>
          <a:p>
            <a:pPr marL="102235" algn="ctr">
              <a:lnSpc>
                <a:spcPct val="100000"/>
              </a:lnSpc>
              <a:spcBef>
                <a:spcPts val="360"/>
              </a:spcBef>
            </a:pPr>
            <a:r>
              <a:rPr lang="zh-CN" altLang="en-US" b="1" spc="30" dirty="0">
                <a:solidFill>
                  <a:srgbClr val="D0692F"/>
                </a:solidFill>
                <a:latin typeface="Trebuchet MS" panose="020B0603020202020204"/>
                <a:cs typeface="Trebuchet MS" panose="020B0603020202020204"/>
              </a:rPr>
              <a:t>各类别下各特征的条件概率</a:t>
            </a:r>
            <a:r>
              <a:rPr lang="en-US" altLang="zh-CN" b="1" spc="30" dirty="0">
                <a:solidFill>
                  <a:srgbClr val="D0692F"/>
                </a:solidFill>
                <a:latin typeface="Trebuchet MS" panose="020B0603020202020204"/>
                <a:cs typeface="Trebuchet MS" panose="020B0603020202020204"/>
              </a:rPr>
              <a:t>P(Xi/Y)=P(X1Y)/P(Y)</a:t>
            </a:r>
            <a:endParaRPr lang="en-US" altLang="zh-CN" dirty="0">
              <a:latin typeface="Trebuchet MS" panose="020B0603020202020204"/>
              <a:cs typeface="Trebuchet MS" panose="020B0603020202020204"/>
            </a:endParaRPr>
          </a:p>
        </p:txBody>
      </p:sp>
      <p:sp>
        <p:nvSpPr>
          <p:cNvPr id="6" name="矩形 5"/>
          <p:cNvSpPr/>
          <p:nvPr/>
        </p:nvSpPr>
        <p:spPr>
          <a:xfrm>
            <a:off x="2917724" y="5126820"/>
            <a:ext cx="3498394" cy="1354217"/>
          </a:xfrm>
          <a:prstGeom prst="rect">
            <a:avLst/>
          </a:prstGeom>
        </p:spPr>
        <p:txBody>
          <a:bodyPr wrap="none">
            <a:spAutoFit/>
          </a:bodyPr>
          <a:lstStyle/>
          <a:p>
            <a:pPr marL="102235">
              <a:lnSpc>
                <a:spcPct val="100000"/>
              </a:lnSpc>
              <a:spcBef>
                <a:spcPts val="360"/>
              </a:spcBef>
            </a:pPr>
            <a:r>
              <a:rPr lang="en-US" altLang="zh-CN" spc="30" dirty="0">
                <a:latin typeface="Trebuchet MS" panose="020B0603020202020204"/>
                <a:cs typeface="Trebuchet MS" panose="020B0603020202020204"/>
              </a:rPr>
              <a:t>P(1/-1)=0.2/0.4=0.5</a:t>
            </a:r>
          </a:p>
          <a:p>
            <a:pPr marL="102235">
              <a:spcBef>
                <a:spcPts val="360"/>
              </a:spcBef>
            </a:pPr>
            <a:r>
              <a:rPr lang="en-US" altLang="zh-CN" spc="30" dirty="0">
                <a:latin typeface="Trebuchet MS" panose="020B0603020202020204"/>
                <a:cs typeface="Trebuchet MS" panose="020B0603020202020204"/>
              </a:rPr>
              <a:t>P(1/1)=0.13333/0.6=0.2222</a:t>
            </a:r>
          </a:p>
          <a:p>
            <a:pPr marL="102235">
              <a:lnSpc>
                <a:spcPct val="100000"/>
              </a:lnSpc>
              <a:spcBef>
                <a:spcPts val="360"/>
              </a:spcBef>
            </a:pPr>
            <a:r>
              <a:rPr lang="en-US" altLang="zh-CN" spc="30" dirty="0">
                <a:latin typeface="Trebuchet MS" panose="020B0603020202020204"/>
                <a:cs typeface="Trebuchet MS" panose="020B0603020202020204"/>
              </a:rPr>
              <a:t>P(L/-1)=0.0666/0.4=0.16666</a:t>
            </a:r>
          </a:p>
          <a:p>
            <a:pPr marL="102235">
              <a:spcBef>
                <a:spcPts val="360"/>
              </a:spcBef>
            </a:pPr>
            <a:r>
              <a:rPr lang="en-US" altLang="zh-CN" spc="30" dirty="0">
                <a:latin typeface="Trebuchet MS" panose="020B0603020202020204"/>
                <a:cs typeface="Trebuchet MS" panose="020B0603020202020204"/>
              </a:rPr>
              <a:t>P(L/1)=0.266666/0.6=0.44444</a:t>
            </a:r>
            <a:endParaRPr lang="en-US" altLang="zh-CN" dirty="0">
              <a:latin typeface="Trebuchet MS" panose="020B0603020202020204"/>
              <a:cs typeface="Trebuchet MS" panose="020B0603020202020204"/>
            </a:endParaRPr>
          </a:p>
        </p:txBody>
      </p:sp>
      <p:sp>
        <p:nvSpPr>
          <p:cNvPr id="13" name="矩形 12"/>
          <p:cNvSpPr/>
          <p:nvPr/>
        </p:nvSpPr>
        <p:spPr>
          <a:xfrm>
            <a:off x="7722957" y="5457021"/>
            <a:ext cx="4131901" cy="369332"/>
          </a:xfrm>
          <a:prstGeom prst="rect">
            <a:avLst/>
          </a:prstGeom>
        </p:spPr>
        <p:txBody>
          <a:bodyPr wrap="none">
            <a:spAutoFit/>
          </a:bodyPr>
          <a:lstStyle/>
          <a:p>
            <a:pPr marL="102235" algn="ctr">
              <a:lnSpc>
                <a:spcPct val="100000"/>
              </a:lnSpc>
              <a:spcBef>
                <a:spcPts val="360"/>
              </a:spcBef>
            </a:pPr>
            <a:r>
              <a:rPr lang="zh-CN" altLang="en-US" b="1" spc="30" dirty="0">
                <a:solidFill>
                  <a:srgbClr val="D0692F"/>
                </a:solidFill>
                <a:latin typeface="Trebuchet MS" panose="020B0603020202020204"/>
                <a:cs typeface="Trebuchet MS" panose="020B0603020202020204"/>
              </a:rPr>
              <a:t>后验概率</a:t>
            </a:r>
            <a:r>
              <a:rPr lang="en-US" altLang="zh-CN" b="1" spc="30" dirty="0">
                <a:solidFill>
                  <a:srgbClr val="D0692F"/>
                </a:solidFill>
                <a:latin typeface="Trebuchet MS" panose="020B0603020202020204"/>
                <a:cs typeface="Trebuchet MS" panose="020B0603020202020204"/>
              </a:rPr>
              <a:t>P(y/X) = P(X/y)*P(y)/P(X)</a:t>
            </a:r>
            <a:endParaRPr lang="en-US" altLang="zh-CN" dirty="0">
              <a:latin typeface="Trebuchet MS" panose="020B0603020202020204"/>
              <a:cs typeface="Trebuchet MS" panose="020B0603020202020204"/>
            </a:endParaRPr>
          </a:p>
        </p:txBody>
      </p:sp>
      <p:sp>
        <p:nvSpPr>
          <p:cNvPr id="9" name="矩形 8"/>
          <p:cNvSpPr/>
          <p:nvPr/>
        </p:nvSpPr>
        <p:spPr>
          <a:xfrm>
            <a:off x="7857812" y="5807948"/>
            <a:ext cx="4279696" cy="697627"/>
          </a:xfrm>
          <a:prstGeom prst="rect">
            <a:avLst/>
          </a:prstGeom>
        </p:spPr>
        <p:txBody>
          <a:bodyPr wrap="square">
            <a:spAutoFit/>
          </a:bodyPr>
          <a:lstStyle/>
          <a:p>
            <a:pPr marL="102235">
              <a:lnSpc>
                <a:spcPct val="100000"/>
              </a:lnSpc>
              <a:spcBef>
                <a:spcPts val="360"/>
              </a:spcBef>
            </a:pPr>
            <a:r>
              <a:rPr lang="en-US" altLang="zh-CN" spc="30" dirty="0">
                <a:latin typeface="Trebuchet MS" panose="020B0603020202020204"/>
                <a:cs typeface="Trebuchet MS" panose="020B0603020202020204"/>
              </a:rPr>
              <a:t>P(-1/1</a:t>
            </a:r>
            <a:r>
              <a:rPr lang="en-US" altLang="zh-CN" spc="30">
                <a:latin typeface="Trebuchet MS" panose="020B0603020202020204"/>
                <a:cs typeface="Trebuchet MS" panose="020B0603020202020204"/>
              </a:rPr>
              <a:t>)=0.5*0.16666*0.4=0.033333</a:t>
            </a:r>
            <a:endParaRPr lang="en-US" altLang="zh-CN" spc="30" dirty="0">
              <a:latin typeface="Trebuchet MS" panose="020B0603020202020204"/>
              <a:cs typeface="Trebuchet MS" panose="020B0603020202020204"/>
            </a:endParaRPr>
          </a:p>
          <a:p>
            <a:pPr marL="102235">
              <a:spcBef>
                <a:spcPts val="360"/>
              </a:spcBef>
            </a:pPr>
            <a:r>
              <a:rPr lang="en-US" altLang="zh-CN" spc="30" dirty="0">
                <a:latin typeface="Trebuchet MS" panose="020B0603020202020204"/>
                <a:cs typeface="Trebuchet MS" panose="020B0603020202020204"/>
              </a:rPr>
              <a:t>P(1/L)=0.22222*0.44444*0.6=0.05925</a:t>
            </a:r>
          </a:p>
        </p:txBody>
      </p:sp>
      <p:sp>
        <p:nvSpPr>
          <p:cNvPr id="15" name="矩形 14"/>
          <p:cNvSpPr/>
          <p:nvPr/>
        </p:nvSpPr>
        <p:spPr>
          <a:xfrm>
            <a:off x="8350162" y="4706907"/>
            <a:ext cx="3066013" cy="697627"/>
          </a:xfrm>
          <a:prstGeom prst="rect">
            <a:avLst/>
          </a:prstGeom>
        </p:spPr>
        <p:txBody>
          <a:bodyPr wrap="square">
            <a:spAutoFit/>
          </a:bodyPr>
          <a:lstStyle/>
          <a:p>
            <a:pPr marL="102235" algn="ctr">
              <a:spcBef>
                <a:spcPts val="360"/>
              </a:spcBef>
            </a:pPr>
            <a:r>
              <a:rPr lang="en-US" altLang="zh-CN" b="1" spc="30" dirty="0">
                <a:solidFill>
                  <a:srgbClr val="D0692F"/>
                </a:solidFill>
                <a:latin typeface="Trebuchet MS" panose="020B0603020202020204"/>
                <a:cs typeface="Trebuchet MS" panose="020B0603020202020204"/>
              </a:rPr>
              <a:t>P(1)=9/15=0.6</a:t>
            </a:r>
          </a:p>
          <a:p>
            <a:pPr marL="102235" algn="ctr">
              <a:spcBef>
                <a:spcPts val="360"/>
              </a:spcBef>
            </a:pPr>
            <a:r>
              <a:rPr lang="en-US" altLang="zh-CN" b="1" spc="30" dirty="0">
                <a:solidFill>
                  <a:srgbClr val="D0692F"/>
                </a:solidFill>
                <a:latin typeface="Trebuchet MS" panose="020B0603020202020204"/>
                <a:cs typeface="Trebuchet MS" panose="020B0603020202020204"/>
              </a:rPr>
              <a:t>P(-1)=6/15=0.4</a:t>
            </a:r>
            <a:endParaRPr lang="en-US" altLang="zh-CN" dirty="0">
              <a:latin typeface="Trebuchet MS" panose="020B0603020202020204"/>
              <a:cs typeface="Trebuchet MS" panose="020B0603020202020204"/>
            </a:endParaRPr>
          </a:p>
        </p:txBody>
      </p:sp>
      <p:pic>
        <p:nvPicPr>
          <p:cNvPr id="4" name="图片 3"/>
          <p:cNvPicPr>
            <a:picLocks noChangeAspect="1"/>
          </p:cNvPicPr>
          <p:nvPr/>
        </p:nvPicPr>
        <p:blipFill>
          <a:blip r:embed="rId6"/>
          <a:stretch>
            <a:fillRect/>
          </a:stretch>
        </p:blipFill>
        <p:spPr>
          <a:xfrm>
            <a:off x="371787" y="1437379"/>
            <a:ext cx="4972373" cy="1900114"/>
          </a:xfrm>
          <a:prstGeom prst="rect">
            <a:avLst/>
          </a:prstGeom>
        </p:spPr>
      </p:pic>
      <p:pic>
        <p:nvPicPr>
          <p:cNvPr id="12" name="图片 11"/>
          <p:cNvPicPr>
            <a:picLocks noChangeAspect="1"/>
          </p:cNvPicPr>
          <p:nvPr/>
        </p:nvPicPr>
        <p:blipFill>
          <a:blip r:embed="rId7"/>
          <a:stretch>
            <a:fillRect/>
          </a:stretch>
        </p:blipFill>
        <p:spPr>
          <a:xfrm>
            <a:off x="-80652" y="-6010"/>
            <a:ext cx="8219048" cy="1028571"/>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10" grpId="0"/>
      <p:bldP spid="11" grpId="0"/>
      <p:bldP spid="6" grpId="0"/>
      <p:bldP spid="13" grpId="0"/>
      <p:bldP spid="9" grpId="0"/>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上机练习</a:t>
            </a:r>
          </a:p>
        </p:txBody>
      </p:sp>
      <p:sp>
        <p:nvSpPr>
          <p:cNvPr id="3" name="TextBox 2"/>
          <p:cNvSpPr txBox="1"/>
          <p:nvPr/>
        </p:nvSpPr>
        <p:spPr>
          <a:xfrm>
            <a:off x="1240971" y="1410789"/>
            <a:ext cx="10084526" cy="3250185"/>
          </a:xfrm>
          <a:prstGeom prst="rect">
            <a:avLst/>
          </a:prstGeom>
          <a:noFill/>
        </p:spPr>
        <p:txBody>
          <a:bodyPr wrap="square" rtlCol="0">
            <a:spAutoFit/>
          </a:bodyPr>
          <a:lstStyle/>
          <a:p>
            <a:pPr>
              <a:lnSpc>
                <a:spcPct val="150000"/>
              </a:lnSpc>
            </a:pPr>
            <a:r>
              <a:rPr lang="zh-CN" altLang="en-US" sz="2800" dirty="0"/>
              <a:t>根据给出的算法</a:t>
            </a:r>
            <a:r>
              <a:rPr lang="en-US" altLang="zh-CN" sz="2800" dirty="0"/>
              <a:t>naivebayes.py</a:t>
            </a:r>
            <a:r>
              <a:rPr lang="zh-CN" altLang="en-US" sz="2800" dirty="0"/>
              <a:t>，实现：</a:t>
            </a:r>
            <a:endParaRPr lang="en-US" altLang="zh-CN" sz="2800" dirty="0"/>
          </a:p>
          <a:p>
            <a:pPr>
              <a:lnSpc>
                <a:spcPct val="150000"/>
              </a:lnSpc>
            </a:pPr>
            <a:r>
              <a:rPr lang="en-US" altLang="zh-CN" sz="2800" dirty="0"/>
              <a:t>1</a:t>
            </a:r>
            <a:r>
              <a:rPr lang="zh-CN" altLang="en-US" sz="2800" dirty="0"/>
              <a:t>、将数据集文件</a:t>
            </a:r>
            <a:r>
              <a:rPr lang="en-US" altLang="zh-CN" sz="2800" dirty="0"/>
              <a:t>naivebayes_data.csv</a:t>
            </a:r>
            <a:r>
              <a:rPr lang="zh-CN" altLang="en-US" sz="2800" dirty="0"/>
              <a:t>中的数据替换成</a:t>
            </a:r>
            <a:r>
              <a:rPr lang="en-US" altLang="zh-CN" sz="2800" dirty="0"/>
              <a:t>14</a:t>
            </a:r>
            <a:r>
              <a:rPr lang="zh-CN" altLang="en-US" sz="2800" dirty="0"/>
              <a:t>天打球与天气数据；</a:t>
            </a:r>
            <a:endParaRPr lang="en-US" altLang="zh-CN" sz="2800" dirty="0"/>
          </a:p>
          <a:p>
            <a:pPr>
              <a:lnSpc>
                <a:spcPct val="150000"/>
              </a:lnSpc>
            </a:pPr>
            <a:r>
              <a:rPr lang="en-US" altLang="zh-CN" sz="2800" dirty="0"/>
              <a:t>2</a:t>
            </a:r>
            <a:r>
              <a:rPr lang="zh-CN" altLang="en-US" sz="2800" dirty="0"/>
              <a:t>、预测样本</a:t>
            </a:r>
            <a:r>
              <a:rPr lang="en-US" altLang="zh-CN" sz="2800" dirty="0">
                <a:latin typeface="Cambria" panose="02040503050406030204" pitchFamily="18" charset="0"/>
                <a:ea typeface="Cambria" panose="02040503050406030204" pitchFamily="18" charset="0"/>
              </a:rPr>
              <a:t>{Outlook=</a:t>
            </a:r>
            <a:r>
              <a:rPr lang="en-US" altLang="zh-CN" sz="2800" dirty="0" err="1">
                <a:latin typeface="Cambria" panose="02040503050406030204" pitchFamily="18" charset="0"/>
                <a:ea typeface="Cambria" panose="02040503050406030204" pitchFamily="18" charset="0"/>
              </a:rPr>
              <a:t>Sunny，Temp</a:t>
            </a:r>
            <a:r>
              <a:rPr lang="en-US" altLang="zh-CN" sz="2800" dirty="0">
                <a:latin typeface="Cambria" panose="02040503050406030204" pitchFamily="18" charset="0"/>
                <a:ea typeface="Cambria" panose="02040503050406030204" pitchFamily="18" charset="0"/>
              </a:rPr>
              <a:t>=</a:t>
            </a:r>
            <a:r>
              <a:rPr lang="en-US" altLang="zh-CN" sz="2800" dirty="0" err="1">
                <a:latin typeface="Cambria" panose="02040503050406030204" pitchFamily="18" charset="0"/>
                <a:ea typeface="Cambria" panose="02040503050406030204" pitchFamily="18" charset="0"/>
              </a:rPr>
              <a:t>Cool，Humidity</a:t>
            </a:r>
            <a:r>
              <a:rPr lang="en-US" altLang="zh-CN" sz="2800" dirty="0">
                <a:latin typeface="Cambria" panose="02040503050406030204" pitchFamily="18" charset="0"/>
                <a:ea typeface="Cambria" panose="02040503050406030204" pitchFamily="18" charset="0"/>
              </a:rPr>
              <a:t>=</a:t>
            </a:r>
            <a:r>
              <a:rPr lang="en-US" altLang="zh-CN" sz="2800" dirty="0" err="1">
                <a:latin typeface="Cambria" panose="02040503050406030204" pitchFamily="18" charset="0"/>
                <a:ea typeface="Cambria" panose="02040503050406030204" pitchFamily="18" charset="0"/>
              </a:rPr>
              <a:t>High，Windy</a:t>
            </a:r>
            <a:r>
              <a:rPr lang="en-US" altLang="zh-CN" sz="2800" dirty="0">
                <a:latin typeface="Cambria" panose="02040503050406030204" pitchFamily="18" charset="0"/>
                <a:ea typeface="Cambria" panose="02040503050406030204" pitchFamily="18" charset="0"/>
              </a:rPr>
              <a:t>=Strong}</a:t>
            </a:r>
            <a:r>
              <a:rPr lang="zh-CN" altLang="en-US" sz="2800" dirty="0">
                <a:latin typeface="Cambria" panose="02040503050406030204" pitchFamily="18" charset="0"/>
                <a:ea typeface="Cambria" panose="02040503050406030204" pitchFamily="18" charset="0"/>
              </a:rPr>
              <a:t>是否打球。</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a:grpSpLocks noChangeAspect="1"/>
          </p:cNvGrpSpPr>
          <p:nvPr/>
        </p:nvGrpSpPr>
        <p:grpSpPr>
          <a:xfrm>
            <a:off x="4105506" y="1233488"/>
            <a:ext cx="618455" cy="1800000"/>
            <a:chOff x="597712" y="2415605"/>
            <a:chExt cx="1076110" cy="3131998"/>
          </a:xfrm>
        </p:grpSpPr>
        <p:sp>
          <p:nvSpPr>
            <p:cNvPr id="10"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1" name="椭圆 10"/>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3" name="组合 2"/>
          <p:cNvGrpSpPr>
            <a:grpSpLocks noChangeAspect="1"/>
          </p:cNvGrpSpPr>
          <p:nvPr/>
        </p:nvGrpSpPr>
        <p:grpSpPr>
          <a:xfrm>
            <a:off x="2760245" y="2023201"/>
            <a:ext cx="2027688" cy="6443998"/>
            <a:chOff x="935919" y="107043"/>
            <a:chExt cx="1818452" cy="5779044"/>
          </a:xfrm>
        </p:grpSpPr>
        <p:sp>
          <p:nvSpPr>
            <p:cNvPr id="4" name="等腰三角形 9"/>
            <p:cNvSpPr/>
            <p:nvPr/>
          </p:nvSpPr>
          <p:spPr>
            <a:xfrm rot="10800000">
              <a:off x="935919" y="1016252"/>
              <a:ext cx="1818452" cy="4869835"/>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5" name="椭圆 4"/>
            <p:cNvSpPr>
              <a:spLocks noChangeAspect="1"/>
            </p:cNvSpPr>
            <p:nvPr/>
          </p:nvSpPr>
          <p:spPr>
            <a:xfrm>
              <a:off x="942885" y="107043"/>
              <a:ext cx="1799994" cy="1800000"/>
            </a:xfrm>
            <a:prstGeom prst="ellipse">
              <a:avLst/>
            </a:prstGeom>
            <a:gradFill flip="none" rotWithShape="1">
              <a:gsLst>
                <a:gs pos="0">
                  <a:schemeClr val="bg1"/>
                </a:gs>
                <a:gs pos="60000">
                  <a:schemeClr val="bg2"/>
                </a:gs>
                <a:gs pos="100000">
                  <a:schemeClr val="bg1">
                    <a:lumMod val="85000"/>
                  </a:schemeClr>
                </a:gs>
              </a:gsLst>
              <a:lin ang="5400000" scaled="1"/>
              <a:tileRect/>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30000"/>
                </a:lnSpc>
                <a:defRPr/>
              </a:pPr>
              <a:r>
                <a:rPr lang="en-US" altLang="zh-CN" sz="7200" kern="0" dirty="0">
                  <a:solidFill>
                    <a:srgbClr val="009999"/>
                  </a:solidFill>
                  <a:latin typeface="Century Gothic" panose="020B0502020202020204" pitchFamily="34" charset="0"/>
                  <a:cs typeface="+mn-ea"/>
                  <a:sym typeface="+mn-lt"/>
                </a:rPr>
                <a:t>03</a:t>
              </a:r>
              <a:endParaRPr lang="zh-CN" altLang="en-US" sz="4000" kern="0" dirty="0">
                <a:solidFill>
                  <a:srgbClr val="009999"/>
                </a:solidFill>
                <a:latin typeface="Century Gothic" panose="020B0502020202020204" pitchFamily="34" charset="0"/>
                <a:cs typeface="+mn-ea"/>
                <a:sym typeface="+mn-lt"/>
              </a:endParaRPr>
            </a:p>
          </p:txBody>
        </p:sp>
      </p:grpSp>
      <p:grpSp>
        <p:nvGrpSpPr>
          <p:cNvPr id="6" name="组合 5"/>
          <p:cNvGrpSpPr>
            <a:grpSpLocks noChangeAspect="1"/>
          </p:cNvGrpSpPr>
          <p:nvPr/>
        </p:nvGrpSpPr>
        <p:grpSpPr>
          <a:xfrm>
            <a:off x="1981669" y="4924887"/>
            <a:ext cx="1194018" cy="3475167"/>
            <a:chOff x="597712" y="2415605"/>
            <a:chExt cx="1076110" cy="3131998"/>
          </a:xfrm>
        </p:grpSpPr>
        <p:sp>
          <p:nvSpPr>
            <p:cNvPr id="7"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8" name="椭圆 7"/>
            <p:cNvSpPr>
              <a:spLocks noChangeAspect="1"/>
            </p:cNvSpPr>
            <p:nvPr/>
          </p:nvSpPr>
          <p:spPr>
            <a:xfrm>
              <a:off x="648010" y="2415605"/>
              <a:ext cx="971992" cy="972000"/>
            </a:xfrm>
            <a:prstGeom prst="ellipse">
              <a:avLst/>
            </a:prstGeom>
            <a:gradFill>
              <a:gsLst>
                <a:gs pos="1000">
                  <a:schemeClr val="accent1">
                    <a:lumMod val="20000"/>
                    <a:lumOff val="80000"/>
                  </a:schemeClr>
                </a:gs>
                <a:gs pos="60000">
                  <a:srgbClr val="A5A5A5"/>
                </a:gs>
                <a:gs pos="100000">
                  <a:srgbClr val="A5A5A5"/>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2" name="组合 11"/>
          <p:cNvGrpSpPr>
            <a:grpSpLocks noChangeAspect="1"/>
          </p:cNvGrpSpPr>
          <p:nvPr/>
        </p:nvGrpSpPr>
        <p:grpSpPr>
          <a:xfrm>
            <a:off x="4481255" y="4431190"/>
            <a:ext cx="618455" cy="1800000"/>
            <a:chOff x="597712" y="2415605"/>
            <a:chExt cx="1076110" cy="3131998"/>
          </a:xfrm>
        </p:grpSpPr>
        <p:sp>
          <p:nvSpPr>
            <p:cNvPr id="13"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4" name="椭圆 13"/>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grpSp>
        <p:nvGrpSpPr>
          <p:cNvPr id="15" name="组合 14"/>
          <p:cNvGrpSpPr>
            <a:grpSpLocks noChangeAspect="1"/>
          </p:cNvGrpSpPr>
          <p:nvPr/>
        </p:nvGrpSpPr>
        <p:grpSpPr>
          <a:xfrm>
            <a:off x="1033964" y="2075338"/>
            <a:ext cx="1150325" cy="3348000"/>
            <a:chOff x="597712" y="2415605"/>
            <a:chExt cx="1076110" cy="3131998"/>
          </a:xfrm>
        </p:grpSpPr>
        <p:sp>
          <p:nvSpPr>
            <p:cNvPr id="16" name="等腰三角形 9"/>
            <p:cNvSpPr/>
            <p:nvPr/>
          </p:nvSpPr>
          <p:spPr>
            <a:xfrm rot="10800000">
              <a:off x="597712" y="2908359"/>
              <a:ext cx="1076110" cy="2639244"/>
            </a:xfrm>
            <a:custGeom>
              <a:avLst/>
              <a:gdLst>
                <a:gd name="connsiteX0" fmla="*/ 0 w 3341155"/>
                <a:gd name="connsiteY0" fmla="*/ 5053133 h 5053133"/>
                <a:gd name="connsiteX1" fmla="*/ 1670578 w 3341155"/>
                <a:gd name="connsiteY1" fmla="*/ 0 h 5053133"/>
                <a:gd name="connsiteX2" fmla="*/ 3341155 w 3341155"/>
                <a:gd name="connsiteY2" fmla="*/ 5053133 h 5053133"/>
                <a:gd name="connsiteX3" fmla="*/ 0 w 3341155"/>
                <a:gd name="connsiteY3" fmla="*/ 5053133 h 5053133"/>
                <a:gd name="connsiteX0-1" fmla="*/ 0 w 3341155"/>
                <a:gd name="connsiteY0-2" fmla="*/ 5053133 h 5053133"/>
                <a:gd name="connsiteX1-3" fmla="*/ 1670578 w 3341155"/>
                <a:gd name="connsiteY1-4" fmla="*/ 0 h 5053133"/>
                <a:gd name="connsiteX2-5" fmla="*/ 3341155 w 3341155"/>
                <a:gd name="connsiteY2-6" fmla="*/ 5053133 h 5053133"/>
                <a:gd name="connsiteX3-7" fmla="*/ 0 w 3341155"/>
                <a:gd name="connsiteY3-8" fmla="*/ 5053133 h 5053133"/>
                <a:gd name="connsiteX0-9" fmla="*/ 0 w 3341155"/>
                <a:gd name="connsiteY0-10" fmla="*/ 5054349 h 5054349"/>
                <a:gd name="connsiteX1-11" fmla="*/ 1670578 w 3341155"/>
                <a:gd name="connsiteY1-12" fmla="*/ 1216 h 5054349"/>
                <a:gd name="connsiteX2-13" fmla="*/ 3341155 w 3341155"/>
                <a:gd name="connsiteY2-14" fmla="*/ 5054349 h 5054349"/>
                <a:gd name="connsiteX3-15" fmla="*/ 0 w 3341155"/>
                <a:gd name="connsiteY3-16" fmla="*/ 5054349 h 5054349"/>
                <a:gd name="connsiteX0-17" fmla="*/ 0 w 3341155"/>
                <a:gd name="connsiteY0-18" fmla="*/ 5054932 h 5054932"/>
                <a:gd name="connsiteX1-19" fmla="*/ 1670578 w 3341155"/>
                <a:gd name="connsiteY1-20" fmla="*/ 1799 h 5054932"/>
                <a:gd name="connsiteX2-21" fmla="*/ 3341155 w 3341155"/>
                <a:gd name="connsiteY2-22" fmla="*/ 5054932 h 5054932"/>
                <a:gd name="connsiteX3-23" fmla="*/ 0 w 3341155"/>
                <a:gd name="connsiteY3-24" fmla="*/ 5054932 h 5054932"/>
                <a:gd name="connsiteX0-25" fmla="*/ 0 w 3341155"/>
                <a:gd name="connsiteY0-26" fmla="*/ 5054932 h 5054932"/>
                <a:gd name="connsiteX1-27" fmla="*/ 1670578 w 3341155"/>
                <a:gd name="connsiteY1-28" fmla="*/ 1799 h 5054932"/>
                <a:gd name="connsiteX2-29" fmla="*/ 3341155 w 3341155"/>
                <a:gd name="connsiteY2-30" fmla="*/ 5054932 h 5054932"/>
                <a:gd name="connsiteX3-31" fmla="*/ 0 w 3341155"/>
                <a:gd name="connsiteY3-32" fmla="*/ 5054932 h 5054932"/>
              </a:gdLst>
              <a:ahLst/>
              <a:cxnLst>
                <a:cxn ang="0">
                  <a:pos x="connsiteX0-1" y="connsiteY0-2"/>
                </a:cxn>
                <a:cxn ang="0">
                  <a:pos x="connsiteX1-3" y="connsiteY1-4"/>
                </a:cxn>
                <a:cxn ang="0">
                  <a:pos x="connsiteX2-5" y="connsiteY2-6"/>
                </a:cxn>
                <a:cxn ang="0">
                  <a:pos x="connsiteX3-7" y="connsiteY3-8"/>
                </a:cxn>
              </a:cxnLst>
              <a:rect l="l" t="t" r="r" b="b"/>
              <a:pathLst>
                <a:path w="3341155" h="5054932">
                  <a:moveTo>
                    <a:pt x="0" y="5054932"/>
                  </a:moveTo>
                  <a:cubicBezTo>
                    <a:pt x="556859" y="3370554"/>
                    <a:pt x="1547106" y="-90235"/>
                    <a:pt x="1670578" y="1799"/>
                  </a:cubicBezTo>
                  <a:cubicBezTo>
                    <a:pt x="1801193" y="-87854"/>
                    <a:pt x="2784296" y="3370554"/>
                    <a:pt x="3341155" y="5054932"/>
                  </a:cubicBezTo>
                  <a:lnTo>
                    <a:pt x="0" y="5054932"/>
                  </a:lnTo>
                  <a:close/>
                </a:path>
              </a:pathLst>
            </a:custGeom>
            <a:gradFill>
              <a:gsLst>
                <a:gs pos="70000">
                  <a:srgbClr val="000000">
                    <a:alpha val="8000"/>
                  </a:srgbClr>
                </a:gs>
                <a:gs pos="50000">
                  <a:srgbClr val="000000">
                    <a:alpha val="4000"/>
                  </a:srgbClr>
                </a:gs>
                <a:gs pos="30000">
                  <a:schemeClr val="tx1">
                    <a:alpha val="0"/>
                  </a:schemeClr>
                </a:gs>
                <a:gs pos="100000">
                  <a:schemeClr val="tx1">
                    <a:lumMod val="85000"/>
                    <a:lumOff val="15000"/>
                    <a:alpha val="30000"/>
                  </a:schemeClr>
                </a:gs>
              </a:gsLst>
              <a:lin ang="540000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sp>
          <p:nvSpPr>
            <p:cNvPr id="17" name="椭圆 16"/>
            <p:cNvSpPr>
              <a:spLocks noChangeAspect="1"/>
            </p:cNvSpPr>
            <p:nvPr/>
          </p:nvSpPr>
          <p:spPr>
            <a:xfrm>
              <a:off x="648010" y="2415605"/>
              <a:ext cx="971992" cy="972000"/>
            </a:xfrm>
            <a:prstGeom prst="ellipse">
              <a:avLst/>
            </a:prstGeom>
            <a:gradFill>
              <a:gsLst>
                <a:gs pos="1000">
                  <a:schemeClr val="accent4">
                    <a:lumMod val="20000"/>
                    <a:lumOff val="80000"/>
                  </a:schemeClr>
                </a:gs>
                <a:gs pos="60000">
                  <a:srgbClr val="009999"/>
                </a:gs>
                <a:gs pos="100000">
                  <a:srgbClr val="009999"/>
                </a:gs>
              </a:gsLst>
              <a:lin ang="5400000" scaled="1"/>
            </a:gradFill>
            <a:ln w="25400">
              <a:noFill/>
            </a:ln>
            <a:effectLst>
              <a:outerShdw blurRad="2540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cs typeface="+mn-ea"/>
                <a:sym typeface="+mn-lt"/>
              </a:endParaRPr>
            </a:p>
          </p:txBody>
        </p:sp>
      </p:grpSp>
      <p:sp>
        <p:nvSpPr>
          <p:cNvPr id="24" name="文本框 23"/>
          <p:cNvSpPr txBox="1"/>
          <p:nvPr/>
        </p:nvSpPr>
        <p:spPr>
          <a:xfrm>
            <a:off x="6745025" y="2472759"/>
            <a:ext cx="3570208" cy="1107996"/>
          </a:xfrm>
          <a:prstGeom prst="rect">
            <a:avLst/>
          </a:prstGeom>
          <a:noFill/>
          <a:effectLst>
            <a:outerShdw dist="25400" dir="5400000" algn="t" rotWithShape="0">
              <a:schemeClr val="bg1">
                <a:alpha val="40000"/>
              </a:schemeClr>
            </a:outerShdw>
          </a:effectLst>
        </p:spPr>
        <p:txBody>
          <a:bodyPr wrap="none" rtlCol="0" anchor="b" anchorCtr="0">
            <a:spAutoFit/>
          </a:bodyPr>
          <a:lstStyle>
            <a:defPPr>
              <a:defRPr lang="zh-CN"/>
            </a:defPPr>
            <a:lvl1pPr>
              <a:defRPr sz="3600" b="1">
                <a:solidFill>
                  <a:schemeClr val="accent1">
                    <a:lumMod val="75000"/>
                  </a:schemeClr>
                </a:solidFill>
                <a:effectLst>
                  <a:innerShdw blurRad="127000" dist="63500" dir="16200000">
                    <a:prstClr val="black">
                      <a:alpha val="50000"/>
                    </a:prstClr>
                  </a:innerShdw>
                </a:effectLst>
                <a:latin typeface="微软雅黑" panose="020B0503020204020204" pitchFamily="34" charset="-122"/>
                <a:ea typeface="微软雅黑" panose="020B0503020204020204" pitchFamily="34" charset="-122"/>
              </a:defRPr>
            </a:lvl1pPr>
          </a:lstStyle>
          <a:p>
            <a:r>
              <a:rPr lang="zh-CN" altLang="en-US" sz="6600" dirty="0">
                <a:solidFill>
                  <a:srgbClr val="009999"/>
                </a:solidFill>
                <a:latin typeface="Noto Sans S Chinese Medium" panose="020B0600000000000000" pitchFamily="34" charset="-122"/>
                <a:ea typeface="Noto Sans S Chinese Medium" panose="020B0600000000000000" pitchFamily="34" charset="-122"/>
              </a:rPr>
              <a:t>算法应用</a:t>
            </a:r>
          </a:p>
        </p:txBody>
      </p:sp>
      <p:sp>
        <p:nvSpPr>
          <p:cNvPr id="23" name="矩形 22"/>
          <p:cNvSpPr>
            <a:spLocks noChangeAspect="1"/>
          </p:cNvSpPr>
          <p:nvPr>
            <p:custDataLst>
              <p:tags r:id="rId1"/>
            </p:custDataLst>
          </p:nvPr>
        </p:nvSpPr>
        <p:spPr>
          <a:xfrm>
            <a:off x="711359" y="-348275"/>
            <a:ext cx="180000" cy="1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252803" y="3574248"/>
            <a:ext cx="4554652" cy="584775"/>
          </a:xfrm>
          <a:prstGeom prst="rect">
            <a:avLst/>
          </a:prstGeom>
          <a:noFill/>
        </p:spPr>
        <p:txBody>
          <a:bodyPr wrap="square" rtlCol="0">
            <a:spAutoFit/>
          </a:bodyPr>
          <a:lstStyle/>
          <a:p>
            <a:pPr algn="ctr"/>
            <a:r>
              <a:rPr lang="en-US" altLang="zh-CN" sz="3200" dirty="0">
                <a:solidFill>
                  <a:srgbClr val="009999"/>
                </a:solidFill>
                <a:latin typeface="Noto Sans S Chinese Regular" panose="020B0500000000000000" pitchFamily="34" charset="-122"/>
                <a:ea typeface="Noto Sans S Chinese Regular" panose="020B0500000000000000" pitchFamily="34" charset="-122"/>
              </a:rPr>
              <a:t>Algorithm Application</a:t>
            </a:r>
            <a:endParaRPr lang="zh-CN" altLang="en-US" sz="3200" dirty="0">
              <a:solidFill>
                <a:srgbClr val="009999"/>
              </a:solidFill>
              <a:latin typeface="Noto Sans S Chinese Regular" panose="020B0500000000000000" pitchFamily="34" charset="-122"/>
              <a:ea typeface="Noto Sans S Chinese Regular" panose="020B0500000000000000"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95867" y="573617"/>
            <a:ext cx="1877484" cy="57361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5123" name="TextBox 5"/>
          <p:cNvSpPr txBox="1">
            <a:spLocks noChangeArrowheads="1"/>
          </p:cNvSpPr>
          <p:nvPr/>
        </p:nvSpPr>
        <p:spPr bwMode="auto">
          <a:xfrm>
            <a:off x="810683" y="573617"/>
            <a:ext cx="4158883" cy="584775"/>
          </a:xfrm>
          <a:prstGeom prst="rect">
            <a:avLst/>
          </a:prstGeom>
          <a:solidFill>
            <a:srgbClr val="FF6600"/>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朴素贝叶斯分类模型</a:t>
            </a:r>
          </a:p>
        </p:txBody>
      </p:sp>
      <p:cxnSp>
        <p:nvCxnSpPr>
          <p:cNvPr id="13" name="直接连接符 13"/>
          <p:cNvCxnSpPr/>
          <p:nvPr/>
        </p:nvCxnSpPr>
        <p:spPr>
          <a:xfrm>
            <a:off x="1849967" y="1128185"/>
            <a:ext cx="9673167"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0" y="6373285"/>
            <a:ext cx="12192000" cy="48471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12" name="矩形 3"/>
          <p:cNvSpPr>
            <a:spLocks noChangeArrowheads="1"/>
          </p:cNvSpPr>
          <p:nvPr/>
        </p:nvSpPr>
        <p:spPr bwMode="auto">
          <a:xfrm>
            <a:off x="795867" y="1333961"/>
            <a:ext cx="10727267" cy="161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indent="0">
              <a:buNone/>
            </a:pPr>
            <a:r>
              <a:rPr lang="zh-CN" altLang="en-US" sz="2200" dirty="0">
                <a:solidFill>
                  <a:srgbClr val="FF0000"/>
                </a:solidFill>
                <a:latin typeface="Consolas" panose="020B0609020204030204" pitchFamily="49" charset="0"/>
              </a:rPr>
              <a:t>练习</a:t>
            </a:r>
            <a:r>
              <a:rPr lang="en-US" altLang="zh-CN" sz="2200" dirty="0">
                <a:solidFill>
                  <a:srgbClr val="FF0000"/>
                </a:solidFill>
                <a:latin typeface="Consolas" panose="020B0609020204030204" pitchFamily="49" charset="0"/>
              </a:rPr>
              <a:t>1</a:t>
            </a:r>
          </a:p>
          <a:p>
            <a:r>
              <a:rPr lang="zh-CN" altLang="zh-CN" sz="2400" dirty="0">
                <a:solidFill>
                  <a:srgbClr val="000000"/>
                </a:solidFill>
              </a:rPr>
              <a:t>以下是应用</a:t>
            </a:r>
            <a:r>
              <a:rPr lang="en-US" altLang="zh-CN" sz="2400" dirty="0" err="1">
                <a:solidFill>
                  <a:srgbClr val="000000"/>
                </a:solidFill>
              </a:rPr>
              <a:t>sklearn</a:t>
            </a:r>
            <a:r>
              <a:rPr lang="zh-CN" altLang="zh-CN" sz="2400" dirty="0">
                <a:solidFill>
                  <a:srgbClr val="000000"/>
                </a:solidFill>
              </a:rPr>
              <a:t>库中朴素贝叶斯（高斯）分类模型进行分析的示例代码。数据源是通过</a:t>
            </a:r>
            <a:r>
              <a:rPr lang="en-US" altLang="zh-CN" sz="2400" dirty="0" err="1">
                <a:solidFill>
                  <a:srgbClr val="000000"/>
                </a:solidFill>
              </a:rPr>
              <a:t>sklearn</a:t>
            </a:r>
            <a:r>
              <a:rPr lang="zh-CN" altLang="zh-CN" sz="2400" dirty="0">
                <a:solidFill>
                  <a:srgbClr val="000000"/>
                </a:solidFill>
              </a:rPr>
              <a:t>中的聚类生成器（</a:t>
            </a:r>
            <a:r>
              <a:rPr lang="en-US" altLang="zh-CN" sz="2400" dirty="0" err="1">
                <a:solidFill>
                  <a:srgbClr val="000000"/>
                </a:solidFill>
              </a:rPr>
              <a:t>make_blobs</a:t>
            </a:r>
            <a:r>
              <a:rPr lang="zh-CN" altLang="zh-CN" sz="2400" dirty="0">
                <a:solidFill>
                  <a:srgbClr val="000000"/>
                </a:solidFill>
              </a:rPr>
              <a:t>）生成的</a:t>
            </a:r>
            <a:r>
              <a:rPr lang="en-US" altLang="zh-CN" sz="2400" dirty="0">
                <a:solidFill>
                  <a:srgbClr val="000000"/>
                </a:solidFill>
              </a:rPr>
              <a:t>50000</a:t>
            </a:r>
            <a:r>
              <a:rPr lang="zh-CN" altLang="zh-CN" sz="2400" dirty="0">
                <a:solidFill>
                  <a:srgbClr val="000000"/>
                </a:solidFill>
              </a:rPr>
              <a:t>个随机样本，每个样本的特征数为</a:t>
            </a:r>
            <a:r>
              <a:rPr lang="en-US" altLang="zh-CN" sz="2400" dirty="0">
                <a:solidFill>
                  <a:srgbClr val="000000"/>
                </a:solidFill>
              </a:rPr>
              <a:t>2</a:t>
            </a:r>
            <a:r>
              <a:rPr lang="zh-CN" altLang="zh-CN" sz="2400" dirty="0">
                <a:solidFill>
                  <a:srgbClr val="000000"/>
                </a:solidFill>
              </a:rPr>
              <a:t>个，样本集的标准差是</a:t>
            </a:r>
            <a:r>
              <a:rPr lang="en-US" altLang="zh-CN" sz="2400" dirty="0">
                <a:solidFill>
                  <a:srgbClr val="000000"/>
                </a:solidFill>
              </a:rPr>
              <a:t>1.0</a:t>
            </a:r>
            <a:r>
              <a:rPr lang="zh-CN" altLang="zh-CN" sz="2400" dirty="0">
                <a:solidFill>
                  <a:srgbClr val="000000"/>
                </a:solidFill>
              </a:rPr>
              <a:t>，随机数种子为</a:t>
            </a:r>
            <a:r>
              <a:rPr lang="en-US" altLang="zh-CN" sz="2400" dirty="0">
                <a:solidFill>
                  <a:srgbClr val="000000"/>
                </a:solidFill>
              </a:rPr>
              <a:t>42</a:t>
            </a:r>
            <a:endParaRPr lang="zh-CN" altLang="zh-CN" sz="2400" dirty="0">
              <a:solidFill>
                <a:srgbClr val="000000"/>
              </a:solidFill>
            </a:endParaRPr>
          </a:p>
        </p:txBody>
      </p:sp>
      <p:sp>
        <p:nvSpPr>
          <p:cNvPr id="8" name="矩形 7"/>
          <p:cNvSpPr/>
          <p:nvPr/>
        </p:nvSpPr>
        <p:spPr>
          <a:xfrm>
            <a:off x="1247761" y="3424850"/>
            <a:ext cx="9740348" cy="2554545"/>
          </a:xfrm>
          <a:prstGeom prst="rect">
            <a:avLst/>
          </a:prstGeom>
        </p:spPr>
        <p:txBody>
          <a:bodyPr wrap="square">
            <a:spAutoFit/>
          </a:bodyPr>
          <a:lstStyle/>
          <a:p>
            <a:r>
              <a:rPr lang="en-US" altLang="zh-CN" sz="1600" dirty="0"/>
              <a:t>centers = [(-5, -5), (0, 0), (5, 5)]</a:t>
            </a:r>
          </a:p>
          <a:p>
            <a:r>
              <a:rPr lang="en-US" altLang="zh-CN" sz="1600" dirty="0" err="1"/>
              <a:t>X,y</a:t>
            </a:r>
            <a:r>
              <a:rPr lang="en-US" altLang="zh-CN" sz="1600" dirty="0"/>
              <a:t>=</a:t>
            </a:r>
            <a:r>
              <a:rPr lang="en-US" altLang="zh-CN" sz="1600" dirty="0" err="1"/>
              <a:t>make_blobs</a:t>
            </a:r>
            <a:r>
              <a:rPr lang="en-US" altLang="zh-CN" sz="1600" dirty="0"/>
              <a:t>(</a:t>
            </a:r>
            <a:r>
              <a:rPr lang="en-US" altLang="zh-CN" sz="1600" dirty="0" err="1"/>
              <a:t>n_samples</a:t>
            </a:r>
            <a:r>
              <a:rPr lang="en-US" altLang="zh-CN" sz="1600" dirty="0"/>
              <a:t>=50000,n_features=2,cluster_std=1.0,centers=</a:t>
            </a:r>
            <a:r>
              <a:rPr lang="en-US" altLang="zh-CN" sz="1600" dirty="0" err="1"/>
              <a:t>centers,shuffle</a:t>
            </a:r>
            <a:r>
              <a:rPr lang="en-US" altLang="zh-CN" sz="1600" dirty="0"/>
              <a:t>=False, </a:t>
            </a:r>
            <a:r>
              <a:rPr lang="en-US" altLang="zh-CN" sz="1600" dirty="0" err="1"/>
              <a:t>random_state</a:t>
            </a:r>
            <a:r>
              <a:rPr lang="en-US" altLang="zh-CN" sz="1600" dirty="0"/>
              <a:t>=42)</a:t>
            </a:r>
          </a:p>
          <a:p>
            <a:r>
              <a:rPr lang="en-US" altLang="zh-CN" sz="1600" dirty="0"/>
              <a:t>y[:</a:t>
            </a:r>
            <a:r>
              <a:rPr lang="en-US" altLang="zh-CN" sz="1600" dirty="0" err="1"/>
              <a:t>n_samples</a:t>
            </a:r>
            <a:r>
              <a:rPr lang="en-US" altLang="zh-CN" sz="1600" dirty="0"/>
              <a:t> // 2] = 0</a:t>
            </a:r>
          </a:p>
          <a:p>
            <a:r>
              <a:rPr lang="en-US" altLang="zh-CN" sz="1600" dirty="0"/>
              <a:t>y[</a:t>
            </a:r>
            <a:r>
              <a:rPr lang="en-US" altLang="zh-CN" sz="1600" dirty="0" err="1"/>
              <a:t>n_samples</a:t>
            </a:r>
            <a:r>
              <a:rPr lang="en-US" altLang="zh-CN" sz="1600" dirty="0"/>
              <a:t> // 2:] = 1</a:t>
            </a:r>
          </a:p>
          <a:p>
            <a:r>
              <a:rPr lang="en-US" altLang="zh-CN" sz="1600" dirty="0" err="1"/>
              <a:t>X_train</a:t>
            </a:r>
            <a:r>
              <a:rPr lang="en-US" altLang="zh-CN" sz="1600" dirty="0"/>
              <a:t>, </a:t>
            </a:r>
            <a:r>
              <a:rPr lang="en-US" altLang="zh-CN" sz="1600" dirty="0" err="1"/>
              <a:t>X_test</a:t>
            </a:r>
            <a:r>
              <a:rPr lang="en-US" altLang="zh-CN" sz="1600" dirty="0"/>
              <a:t>, </a:t>
            </a:r>
            <a:r>
              <a:rPr lang="en-US" altLang="zh-CN" sz="1600" dirty="0" err="1"/>
              <a:t>y_train</a:t>
            </a:r>
            <a:r>
              <a:rPr lang="en-US" altLang="zh-CN" sz="1600" dirty="0"/>
              <a:t>, </a:t>
            </a:r>
            <a:r>
              <a:rPr lang="en-US" altLang="zh-CN" sz="1600" dirty="0" err="1"/>
              <a:t>y_test</a:t>
            </a:r>
            <a:r>
              <a:rPr lang="en-US" altLang="zh-CN" sz="1600" dirty="0"/>
              <a:t>=</a:t>
            </a:r>
            <a:r>
              <a:rPr lang="en-US" altLang="zh-CN" sz="1600" dirty="0" err="1"/>
              <a:t>train_test_split</a:t>
            </a:r>
            <a:r>
              <a:rPr lang="en-US" altLang="zh-CN" sz="1600" dirty="0"/>
              <a:t>(X, y, </a:t>
            </a:r>
            <a:r>
              <a:rPr lang="en-US" altLang="zh-CN" sz="1600" dirty="0" err="1"/>
              <a:t>test_size</a:t>
            </a:r>
            <a:r>
              <a:rPr lang="en-US" altLang="zh-CN" sz="1600" dirty="0"/>
              <a:t>=0.9, </a:t>
            </a:r>
            <a:r>
              <a:rPr lang="en-US" altLang="zh-CN" sz="1600" dirty="0" err="1"/>
              <a:t>random_state</a:t>
            </a:r>
            <a:r>
              <a:rPr lang="en-US" altLang="zh-CN" sz="1600" dirty="0"/>
              <a:t>=42)</a:t>
            </a:r>
          </a:p>
          <a:p>
            <a:r>
              <a:rPr lang="en-US" altLang="zh-CN" sz="1600" dirty="0" err="1"/>
              <a:t>clf</a:t>
            </a:r>
            <a:r>
              <a:rPr lang="en-US" altLang="zh-CN" sz="1600" dirty="0"/>
              <a:t> = </a:t>
            </a:r>
            <a:r>
              <a:rPr lang="en-US" altLang="zh-CN" sz="1600" dirty="0" err="1"/>
              <a:t>GaussianNB</a:t>
            </a:r>
            <a:r>
              <a:rPr lang="en-US" altLang="zh-CN" sz="1600" dirty="0"/>
              <a:t>()</a:t>
            </a:r>
          </a:p>
          <a:p>
            <a:r>
              <a:rPr lang="en-US" altLang="zh-CN" sz="1600" dirty="0" err="1"/>
              <a:t>clf.fit</a:t>
            </a:r>
            <a:r>
              <a:rPr lang="en-US" altLang="zh-CN" sz="1600" dirty="0"/>
              <a:t>(</a:t>
            </a:r>
            <a:r>
              <a:rPr lang="en-US" altLang="zh-CN" sz="1600" dirty="0" err="1"/>
              <a:t>X_train</a:t>
            </a:r>
            <a:r>
              <a:rPr lang="en-US" altLang="zh-CN" sz="1600" dirty="0"/>
              <a:t>, </a:t>
            </a:r>
            <a:r>
              <a:rPr lang="en-US" altLang="zh-CN" sz="1600" dirty="0" err="1"/>
              <a:t>y_train</a:t>
            </a:r>
            <a:r>
              <a:rPr lang="en-US" altLang="zh-CN" sz="1600" dirty="0"/>
              <a:t>)</a:t>
            </a:r>
          </a:p>
          <a:p>
            <a:r>
              <a:rPr lang="en-US" altLang="zh-CN" sz="1600" dirty="0" err="1"/>
              <a:t>target_pred</a:t>
            </a:r>
            <a:r>
              <a:rPr lang="en-US" altLang="zh-CN" sz="1600" dirty="0"/>
              <a:t> = </a:t>
            </a:r>
            <a:r>
              <a:rPr lang="en-US" altLang="zh-CN" sz="1600" dirty="0" err="1"/>
              <a:t>clf.predict</a:t>
            </a:r>
            <a:r>
              <a:rPr lang="en-US" altLang="zh-CN" sz="1600" dirty="0"/>
              <a:t>(</a:t>
            </a:r>
            <a:r>
              <a:rPr lang="en-US" altLang="zh-CN" sz="1600" dirty="0" err="1"/>
              <a:t>X_test</a:t>
            </a:r>
            <a:r>
              <a:rPr lang="en-US" altLang="zh-CN" sz="1600" dirty="0"/>
              <a:t>)</a:t>
            </a:r>
          </a:p>
          <a:p>
            <a:r>
              <a:rPr lang="en-US" altLang="zh-CN" sz="1600" dirty="0"/>
              <a:t>score = </a:t>
            </a:r>
            <a:r>
              <a:rPr lang="en-US" altLang="zh-CN" sz="1600" dirty="0" err="1"/>
              <a:t>accuracy_score</a:t>
            </a:r>
            <a:r>
              <a:rPr lang="en-US" altLang="zh-CN" sz="1600" dirty="0"/>
              <a:t>(</a:t>
            </a:r>
            <a:r>
              <a:rPr lang="en-US" altLang="zh-CN" sz="1600" dirty="0" err="1"/>
              <a:t>y_test</a:t>
            </a:r>
            <a:r>
              <a:rPr lang="en-US" altLang="zh-CN" sz="1600" dirty="0"/>
              <a:t>, </a:t>
            </a:r>
            <a:r>
              <a:rPr lang="en-US" altLang="zh-CN" sz="1600" dirty="0" err="1"/>
              <a:t>target_pred</a:t>
            </a:r>
            <a:r>
              <a:rPr lang="en-US" altLang="zh-CN" sz="1600" dirty="0"/>
              <a:t>, normalize = True)</a:t>
            </a:r>
          </a:p>
          <a:p>
            <a:r>
              <a:rPr lang="en-US" altLang="zh-CN" sz="1600" dirty="0"/>
              <a:t>print("accuracy </a:t>
            </a:r>
            <a:r>
              <a:rPr lang="en-US" altLang="zh-CN" sz="1600" dirty="0" err="1"/>
              <a:t>score:",score</a:t>
            </a:r>
            <a:r>
              <a:rPr lang="en-US" altLang="zh-CN" sz="1600" dirty="0"/>
              <a:t>)</a:t>
            </a:r>
          </a:p>
        </p:txBody>
      </p:sp>
    </p:spTree>
  </p:cSld>
  <p:clrMapOvr>
    <a:masterClrMapping/>
  </p:clrMapOvr>
  <p:transition spd="slow">
    <p:push/>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95867" y="573617"/>
            <a:ext cx="1877484" cy="57361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5123" name="TextBox 5"/>
          <p:cNvSpPr txBox="1">
            <a:spLocks noChangeArrowheads="1"/>
          </p:cNvSpPr>
          <p:nvPr/>
        </p:nvSpPr>
        <p:spPr bwMode="auto">
          <a:xfrm>
            <a:off x="810683" y="573617"/>
            <a:ext cx="4158883" cy="584775"/>
          </a:xfrm>
          <a:prstGeom prst="rect">
            <a:avLst/>
          </a:prstGeom>
          <a:solidFill>
            <a:srgbClr val="FF6600"/>
          </a:solidFill>
          <a:ln>
            <a:noFill/>
          </a:ln>
        </p:spPr>
        <p:txBody>
          <a:bodyPr wrap="squar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0" lang="zh-CN" altLang="en-US" dirty="0">
                <a:solidFill>
                  <a:schemeClr val="bg1"/>
                </a:solidFill>
                <a:latin typeface="微软雅黑" panose="020B0503020204020204" pitchFamily="34" charset="-122"/>
                <a:ea typeface="微软雅黑" panose="020B0503020204020204" pitchFamily="34" charset="-122"/>
              </a:rPr>
              <a:t>朴素贝叶斯分类模型</a:t>
            </a:r>
          </a:p>
        </p:txBody>
      </p:sp>
      <p:cxnSp>
        <p:nvCxnSpPr>
          <p:cNvPr id="13" name="直接连接符 13"/>
          <p:cNvCxnSpPr/>
          <p:nvPr/>
        </p:nvCxnSpPr>
        <p:spPr>
          <a:xfrm>
            <a:off x="1849967" y="1128185"/>
            <a:ext cx="9673167"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0" y="6373285"/>
            <a:ext cx="12192000" cy="48471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12" name="矩形 3"/>
          <p:cNvSpPr>
            <a:spLocks noChangeArrowheads="1"/>
          </p:cNvSpPr>
          <p:nvPr/>
        </p:nvSpPr>
        <p:spPr bwMode="auto">
          <a:xfrm>
            <a:off x="795867" y="1333962"/>
            <a:ext cx="10727267" cy="4819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0000"/>
                </a:solidFill>
              </a:rPr>
              <a:t>	</a:t>
            </a:r>
            <a:r>
              <a:rPr lang="zh-CN" altLang="zh-CN" sz="2400" dirty="0">
                <a:solidFill>
                  <a:srgbClr val="000000"/>
                </a:solidFill>
              </a:rPr>
              <a:t>通过</a:t>
            </a:r>
            <a:r>
              <a:rPr lang="en-US" altLang="zh-CN" sz="2400" dirty="0" err="1">
                <a:solidFill>
                  <a:srgbClr val="000000"/>
                </a:solidFill>
              </a:rPr>
              <a:t>GuassianNB</a:t>
            </a:r>
            <a:r>
              <a:rPr lang="zh-CN" altLang="zh-CN" sz="2400" dirty="0">
                <a:solidFill>
                  <a:srgbClr val="000000"/>
                </a:solidFill>
              </a:rPr>
              <a:t>算法</a:t>
            </a:r>
            <a:r>
              <a:rPr lang="en-US" altLang="zh-CN" sz="2400" dirty="0">
                <a:solidFill>
                  <a:srgbClr val="000000"/>
                </a:solidFill>
              </a:rPr>
              <a:t>fit</a:t>
            </a:r>
            <a:r>
              <a:rPr lang="zh-CN" altLang="zh-CN" sz="2400" dirty="0">
                <a:solidFill>
                  <a:srgbClr val="000000"/>
                </a:solidFill>
              </a:rPr>
              <a:t>之后，对测试集</a:t>
            </a:r>
            <a:r>
              <a:rPr lang="en-US" altLang="zh-CN" sz="2400" dirty="0" err="1">
                <a:solidFill>
                  <a:srgbClr val="000000"/>
                </a:solidFill>
              </a:rPr>
              <a:t>X_test</a:t>
            </a:r>
            <a:r>
              <a:rPr lang="zh-CN" altLang="zh-CN" sz="2400" dirty="0">
                <a:solidFill>
                  <a:srgbClr val="000000"/>
                </a:solidFill>
              </a:rPr>
              <a:t>进行预测，结果存在</a:t>
            </a:r>
            <a:r>
              <a:rPr lang="en-US" altLang="zh-CN" sz="2400" dirty="0" err="1">
                <a:solidFill>
                  <a:srgbClr val="000000"/>
                </a:solidFill>
              </a:rPr>
              <a:t>prob_pos_clf</a:t>
            </a:r>
            <a:r>
              <a:rPr lang="zh-CN" altLang="zh-CN" sz="2400" dirty="0">
                <a:solidFill>
                  <a:srgbClr val="000000"/>
                </a:solidFill>
              </a:rPr>
              <a:t>中</a:t>
            </a:r>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endParaRPr lang="en-US" altLang="zh-CN" sz="2400" dirty="0">
              <a:solidFill>
                <a:srgbClr val="000000"/>
              </a:solidFill>
            </a:endParaRPr>
          </a:p>
          <a:p>
            <a:pPr marL="0" indent="0">
              <a:buNone/>
            </a:pPr>
            <a:endParaRPr lang="en-US" altLang="zh-CN" sz="2400" dirty="0">
              <a:solidFill>
                <a:srgbClr val="000000"/>
              </a:solidFill>
            </a:endParaRPr>
          </a:p>
          <a:p>
            <a:r>
              <a:rPr lang="zh-CN" altLang="zh-CN" sz="2400" dirty="0">
                <a:solidFill>
                  <a:srgbClr val="000000"/>
                </a:solidFill>
              </a:rPr>
              <a:t>输出分类结果：</a:t>
            </a:r>
          </a:p>
          <a:p>
            <a:r>
              <a:rPr lang="en-US" altLang="zh-CN" sz="2400" dirty="0">
                <a:solidFill>
                  <a:srgbClr val="000000"/>
                </a:solidFill>
              </a:rPr>
              <a:t>accuracy score: 0.8335</a:t>
            </a:r>
            <a:endParaRPr lang="zh-CN" altLang="zh-CN" sz="2400" dirty="0">
              <a:solidFill>
                <a:srgbClr val="000000"/>
              </a:solidFill>
            </a:endParaRPr>
          </a:p>
        </p:txBody>
      </p:sp>
      <p:pic>
        <p:nvPicPr>
          <p:cNvPr id="9" name="Picture 53"/>
          <p:cNvPicPr/>
          <p:nvPr/>
        </p:nvPicPr>
        <p:blipFill>
          <a:blip r:embed="rId3"/>
          <a:stretch>
            <a:fillRect/>
          </a:stretch>
        </p:blipFill>
        <p:spPr>
          <a:xfrm>
            <a:off x="1502466" y="2339341"/>
            <a:ext cx="3467100" cy="2819400"/>
          </a:xfrm>
          <a:prstGeom prst="rect">
            <a:avLst/>
          </a:prstGeom>
        </p:spPr>
      </p:pic>
      <p:pic>
        <p:nvPicPr>
          <p:cNvPr id="10" name="Picture 54"/>
          <p:cNvPicPr/>
          <p:nvPr/>
        </p:nvPicPr>
        <p:blipFill>
          <a:blip r:embed="rId4"/>
          <a:stretch>
            <a:fillRect/>
          </a:stretch>
        </p:blipFill>
        <p:spPr>
          <a:xfrm>
            <a:off x="6096000" y="2339342"/>
            <a:ext cx="3814233" cy="2827020"/>
          </a:xfrm>
          <a:prstGeom prst="rect">
            <a:avLst/>
          </a:prstGeom>
        </p:spPr>
      </p:pic>
    </p:spTree>
  </p:cSld>
  <p:clrMapOvr>
    <a:masterClrMapping/>
  </p:clrMapOvr>
  <p:transition spd="slow">
    <p:push/>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919" y="498785"/>
            <a:ext cx="10272890" cy="980728"/>
          </a:xfrm>
        </p:spPr>
        <p:txBody>
          <a:bodyPr>
            <a:normAutofit/>
          </a:bodyPr>
          <a:lstStyle/>
          <a:p>
            <a:r>
              <a:rPr lang="en-US" altLang="zh-CN" sz="4000" dirty="0">
                <a:latin typeface="Cambria" panose="02040503050406030204" pitchFamily="18" charset="0"/>
                <a:ea typeface="Cambria" panose="02040503050406030204" pitchFamily="18" charset="0"/>
                <a:sym typeface="+mn-ea"/>
              </a:rPr>
              <a:t>sklearn</a:t>
            </a:r>
            <a:r>
              <a:rPr lang="zh-CN" altLang="en-US" sz="4000" dirty="0">
                <a:latin typeface="+mn-ea"/>
                <a:sym typeface="+mn-ea"/>
              </a:rPr>
              <a:t>的朴素贝叶斯方法</a:t>
            </a:r>
            <a:endParaRPr lang="zh-CN" altLang="en-US" sz="4000" dirty="0">
              <a:latin typeface="+mn-ea"/>
              <a:ea typeface="+mn-ea"/>
            </a:endParaRPr>
          </a:p>
        </p:txBody>
      </p:sp>
      <p:sp>
        <p:nvSpPr>
          <p:cNvPr id="8" name="内容占位符 2"/>
          <p:cNvSpPr>
            <a:spLocks noGrp="1"/>
          </p:cNvSpPr>
          <p:nvPr>
            <p:ph idx="1"/>
          </p:nvPr>
        </p:nvSpPr>
        <p:spPr>
          <a:xfrm>
            <a:off x="463452" y="1479513"/>
            <a:ext cx="10626913" cy="2907259"/>
          </a:xfrm>
        </p:spPr>
        <p:txBody>
          <a:bodyPr>
            <a:noAutofit/>
          </a:bodyPr>
          <a:lstStyle/>
          <a:p>
            <a:pPr>
              <a:lnSpc>
                <a:spcPct val="150000"/>
              </a:lnSpc>
            </a:pPr>
            <a:r>
              <a:rPr lang="zh-CN" altLang="en-US" sz="2400" dirty="0">
                <a:latin typeface="Cambria" panose="02040503050406030204" pitchFamily="18" charset="0"/>
                <a:sym typeface="+mn-ea"/>
              </a:rPr>
              <a:t>sklearn提供多个朴素贝叶斯分类器，它们的主要区别在于假设了不同的概率分布，下面介绍三种常用的朴素贝叶斯分类器。</a:t>
            </a:r>
            <a:endParaRPr lang="en-US" altLang="zh-CN" sz="2400" dirty="0">
              <a:latin typeface="Cambria" panose="02040503050406030204" pitchFamily="18" charset="0"/>
              <a:sym typeface="+mn-ea"/>
            </a:endParaRPr>
          </a:p>
          <a:p>
            <a:pPr marL="0" indent="0">
              <a:lnSpc>
                <a:spcPct val="100000"/>
              </a:lnSpc>
              <a:buNone/>
            </a:pPr>
            <a:endParaRPr lang="zh-CN" altLang="en-US" sz="2400" dirty="0">
              <a:latin typeface="Cambria" panose="02040503050406030204" pitchFamily="18" charset="0"/>
            </a:endParaRPr>
          </a:p>
          <a:p>
            <a:pPr lvl="1"/>
            <a:r>
              <a:rPr lang="zh-CN" sz="2400" dirty="0">
                <a:latin typeface="Cambria" panose="02040503050406030204" pitchFamily="18" charset="0"/>
              </a:rPr>
              <a:t>高斯朴素贝叶斯分类器（GaussianNB）</a:t>
            </a:r>
            <a:endParaRPr lang="en-US" altLang="zh-CN" sz="2400" dirty="0">
              <a:latin typeface="Cambria" panose="02040503050406030204" pitchFamily="18" charset="0"/>
            </a:endParaRPr>
          </a:p>
          <a:p>
            <a:pPr lvl="1"/>
            <a:endParaRPr lang="zh-CN" sz="2400" dirty="0">
              <a:latin typeface="Cambria" panose="02040503050406030204" pitchFamily="18" charset="0"/>
            </a:endParaRPr>
          </a:p>
          <a:p>
            <a:pPr lvl="1"/>
            <a:r>
              <a:rPr lang="zh-CN" sz="2400" dirty="0">
                <a:latin typeface="Cambria" panose="02040503050406030204" pitchFamily="18" charset="0"/>
              </a:rPr>
              <a:t>多项式贝叶斯分类器（MultimomialNB）</a:t>
            </a:r>
            <a:endParaRPr lang="en-US" altLang="zh-CN" sz="2400" dirty="0">
              <a:latin typeface="Cambria" panose="02040503050406030204" pitchFamily="18" charset="0"/>
            </a:endParaRPr>
          </a:p>
          <a:p>
            <a:pPr lvl="1"/>
            <a:endParaRPr lang="zh-CN" sz="2400" dirty="0">
              <a:latin typeface="Cambria" panose="02040503050406030204" pitchFamily="18" charset="0"/>
            </a:endParaRPr>
          </a:p>
          <a:p>
            <a:pPr lvl="1"/>
            <a:r>
              <a:rPr lang="zh-CN" sz="2400" dirty="0">
                <a:latin typeface="Cambria" panose="02040503050406030204" pitchFamily="18" charset="0"/>
              </a:rPr>
              <a:t>伯努利贝叶斯分类器（BernoulliNB）</a:t>
            </a:r>
          </a:p>
        </p:txBody>
      </p:sp>
      <p:sp>
        <p:nvSpPr>
          <p:cNvPr id="5" name="文本框 1"/>
          <p:cNvSpPr txBox="1"/>
          <p:nvPr/>
        </p:nvSpPr>
        <p:spPr>
          <a:xfrm>
            <a:off x="567016" y="5147953"/>
            <a:ext cx="10753456" cy="461665"/>
          </a:xfrm>
          <a:prstGeom prst="rect">
            <a:avLst/>
          </a:prstGeom>
          <a:noFill/>
        </p:spPr>
        <p:txBody>
          <a:bodyPr wrap="square" rtlCol="0">
            <a:spAutoFit/>
          </a:bodyPr>
          <a:lstStyle/>
          <a:p>
            <a:r>
              <a:rPr lang="zh-CN" altLang="en-US" sz="2400" dirty="0"/>
              <a:t>不同朴素贝叶斯模型的区别，主要在于它们对概率分布</a:t>
            </a:r>
            <a:r>
              <a:rPr lang="zh-CN" altLang="en-US" sz="2400" i="1" dirty="0">
                <a:latin typeface="DejaVu Serif"/>
                <a:cs typeface="DejaVu Serif"/>
              </a:rPr>
              <a:t>𝑃</a:t>
            </a:r>
            <a:r>
              <a:rPr lang="en-US" altLang="zh-CN" sz="2400" i="1" dirty="0">
                <a:latin typeface="DejaVu Serif"/>
                <a:cs typeface="DejaVu Serif"/>
              </a:rPr>
              <a:t>(</a:t>
            </a:r>
            <a:r>
              <a:rPr lang="zh-CN" altLang="en-US" sz="2400" i="1" dirty="0">
                <a:latin typeface="DejaVu Serif"/>
                <a:cs typeface="DejaVu Serif"/>
              </a:rPr>
              <a:t>𝑋</a:t>
            </a:r>
            <a:r>
              <a:rPr lang="en-US" altLang="zh-CN" sz="2400" i="1" baseline="-25000" dirty="0" err="1">
                <a:latin typeface="DejaVu Serif"/>
                <a:cs typeface="DejaVu Serif"/>
              </a:rPr>
              <a:t>i</a:t>
            </a:r>
            <a:r>
              <a:rPr lang="en-US" altLang="zh-CN" sz="2400" i="1" dirty="0" err="1">
                <a:latin typeface="DejaVu Serif"/>
                <a:cs typeface="DejaVu Serif"/>
              </a:rPr>
              <a:t>|C</a:t>
            </a:r>
            <a:r>
              <a:rPr lang="en-US" altLang="zh-CN" sz="2400" i="1" dirty="0">
                <a:latin typeface="DejaVu Serif"/>
                <a:cs typeface="DejaVu Serif"/>
              </a:rPr>
              <a:t>)</a:t>
            </a:r>
            <a:r>
              <a:rPr lang="zh-CN" altLang="en-US" sz="2400" dirty="0">
                <a:latin typeface="DejaVu Serif"/>
              </a:rPr>
              <a:t>所做的不同假设。</a:t>
            </a:r>
            <a:endParaRPr lang="zh-CN" altLang="en-US" sz="2400" dirty="0"/>
          </a:p>
        </p:txBody>
      </p:sp>
      <p:sp>
        <p:nvSpPr>
          <p:cNvPr id="6" name="object 6"/>
          <p:cNvSpPr txBox="1"/>
          <p:nvPr/>
        </p:nvSpPr>
        <p:spPr>
          <a:xfrm>
            <a:off x="7007352" y="4307406"/>
            <a:ext cx="3964304" cy="467436"/>
          </a:xfrm>
          <a:prstGeom prst="rect">
            <a:avLst/>
          </a:prstGeom>
          <a:solidFill>
            <a:srgbClr val="E0EBEB"/>
          </a:solidFill>
        </p:spPr>
        <p:txBody>
          <a:bodyPr vert="horz" wrap="square" lIns="0" tIns="158115" rIns="0" bIns="0" rtlCol="0">
            <a:spAutoFit/>
          </a:bodyPr>
          <a:lstStyle/>
          <a:p>
            <a:pPr algn="ctr">
              <a:spcBef>
                <a:spcPts val="1245"/>
              </a:spcBef>
            </a:pPr>
            <a:r>
              <a:rPr lang="zh-CN" altLang="en-US" sz="2000" b="1" spc="-5" dirty="0">
                <a:solidFill>
                  <a:srgbClr val="344B5E"/>
                </a:solidFill>
                <a:latin typeface="Trebuchet MS" panose="020B0603020202020204"/>
                <a:cs typeface="Trebuchet MS" panose="020B0603020202020204"/>
              </a:rPr>
              <a:t>二值</a:t>
            </a:r>
            <a:r>
              <a:rPr sz="2000" b="1" spc="-125" dirty="0">
                <a:solidFill>
                  <a:srgbClr val="344B5E"/>
                </a:solidFill>
                <a:latin typeface="Trebuchet MS" panose="020B0603020202020204"/>
                <a:cs typeface="Trebuchet MS" panose="020B0603020202020204"/>
              </a:rPr>
              <a:t> </a:t>
            </a:r>
            <a:r>
              <a:rPr sz="2000" b="1" spc="-30" dirty="0">
                <a:solidFill>
                  <a:srgbClr val="344B5E"/>
                </a:solidFill>
                <a:latin typeface="Trebuchet MS" panose="020B0603020202020204"/>
                <a:cs typeface="Trebuchet MS" panose="020B0603020202020204"/>
              </a:rPr>
              <a:t>(T/F)</a:t>
            </a:r>
            <a:endParaRPr sz="2000" dirty="0">
              <a:latin typeface="Trebuchet MS" panose="020B0603020202020204"/>
              <a:cs typeface="Trebuchet MS" panose="020B0603020202020204"/>
            </a:endParaRPr>
          </a:p>
        </p:txBody>
      </p:sp>
      <p:sp>
        <p:nvSpPr>
          <p:cNvPr id="7" name="object 8"/>
          <p:cNvSpPr txBox="1"/>
          <p:nvPr/>
        </p:nvSpPr>
        <p:spPr>
          <a:xfrm>
            <a:off x="7126061" y="3500897"/>
            <a:ext cx="3964304" cy="467436"/>
          </a:xfrm>
          <a:prstGeom prst="rect">
            <a:avLst/>
          </a:prstGeom>
          <a:solidFill>
            <a:srgbClr val="E0EBEB"/>
          </a:solidFill>
        </p:spPr>
        <p:txBody>
          <a:bodyPr vert="horz" wrap="square" lIns="0" tIns="158115" rIns="0" bIns="0" rtlCol="0">
            <a:spAutoFit/>
          </a:bodyPr>
          <a:lstStyle/>
          <a:p>
            <a:pPr marL="922655">
              <a:spcBef>
                <a:spcPts val="1245"/>
              </a:spcBef>
            </a:pPr>
            <a:r>
              <a:rPr lang="zh-CN" altLang="en-US" sz="2000" b="1" spc="-10" dirty="0">
                <a:solidFill>
                  <a:srgbClr val="344B5E"/>
                </a:solidFill>
                <a:latin typeface="Trebuchet MS" panose="020B0603020202020204"/>
                <a:cs typeface="Trebuchet MS" panose="020B0603020202020204"/>
              </a:rPr>
              <a:t>离散值</a:t>
            </a:r>
            <a:r>
              <a:rPr sz="2000" b="1" spc="-10" dirty="0">
                <a:solidFill>
                  <a:srgbClr val="344B5E"/>
                </a:solidFill>
                <a:latin typeface="Trebuchet MS" panose="020B0603020202020204"/>
                <a:cs typeface="Trebuchet MS" panose="020B0603020202020204"/>
              </a:rPr>
              <a:t> </a:t>
            </a:r>
            <a:r>
              <a:rPr sz="2000" b="1" spc="-90" dirty="0">
                <a:solidFill>
                  <a:srgbClr val="344B5E"/>
                </a:solidFill>
                <a:latin typeface="Trebuchet MS" panose="020B0603020202020204"/>
                <a:cs typeface="Trebuchet MS" panose="020B0603020202020204"/>
              </a:rPr>
              <a:t>(</a:t>
            </a:r>
            <a:r>
              <a:rPr lang="zh-CN" altLang="en-US" sz="2000" b="1" spc="-90" dirty="0">
                <a:solidFill>
                  <a:srgbClr val="344B5E"/>
                </a:solidFill>
                <a:latin typeface="Trebuchet MS" panose="020B0603020202020204"/>
                <a:cs typeface="Trebuchet MS" panose="020B0603020202020204"/>
              </a:rPr>
              <a:t>如，计数</a:t>
            </a:r>
            <a:r>
              <a:rPr sz="2000" b="1" spc="-15" dirty="0">
                <a:solidFill>
                  <a:srgbClr val="344B5E"/>
                </a:solidFill>
                <a:latin typeface="Trebuchet MS" panose="020B0603020202020204"/>
                <a:cs typeface="Trebuchet MS" panose="020B0603020202020204"/>
              </a:rPr>
              <a:t>)</a:t>
            </a:r>
            <a:endParaRPr sz="2000" dirty="0">
              <a:latin typeface="Trebuchet MS" panose="020B0603020202020204"/>
              <a:cs typeface="Trebuchet MS" panose="020B0603020202020204"/>
            </a:endParaRPr>
          </a:p>
        </p:txBody>
      </p:sp>
      <p:sp>
        <p:nvSpPr>
          <p:cNvPr id="9" name="object 10"/>
          <p:cNvSpPr txBox="1"/>
          <p:nvPr/>
        </p:nvSpPr>
        <p:spPr>
          <a:xfrm>
            <a:off x="7007352" y="2733200"/>
            <a:ext cx="3964304" cy="468077"/>
          </a:xfrm>
          <a:prstGeom prst="rect">
            <a:avLst/>
          </a:prstGeom>
          <a:solidFill>
            <a:srgbClr val="E0EBEB"/>
          </a:solidFill>
        </p:spPr>
        <p:txBody>
          <a:bodyPr vert="horz" wrap="square" lIns="0" tIns="158750" rIns="0" bIns="0" rtlCol="0">
            <a:spAutoFit/>
          </a:bodyPr>
          <a:lstStyle/>
          <a:p>
            <a:pPr algn="ctr">
              <a:spcBef>
                <a:spcPts val="1250"/>
              </a:spcBef>
            </a:pPr>
            <a:r>
              <a:rPr lang="zh-CN" altLang="en-US" sz="2000" b="1" spc="25" dirty="0">
                <a:solidFill>
                  <a:srgbClr val="344B5E"/>
                </a:solidFill>
                <a:latin typeface="Trebuchet MS" panose="020B0603020202020204"/>
                <a:cs typeface="Trebuchet MS" panose="020B0603020202020204"/>
              </a:rPr>
              <a:t>连续值</a:t>
            </a:r>
            <a:endParaRPr sz="2000" dirty="0">
              <a:latin typeface="Trebuchet MS" panose="020B0603020202020204"/>
              <a:cs typeface="Trebuchet MS" panose="020B060302020202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算法应用</a:t>
            </a:r>
          </a:p>
        </p:txBody>
      </p:sp>
      <p:pic>
        <p:nvPicPr>
          <p:cNvPr id="3" name="图片 2"/>
          <p:cNvPicPr>
            <a:picLocks noChangeAspect="1"/>
          </p:cNvPicPr>
          <p:nvPr/>
        </p:nvPicPr>
        <p:blipFill>
          <a:blip r:embed="rId3"/>
          <a:stretch>
            <a:fillRect/>
          </a:stretch>
        </p:blipFill>
        <p:spPr>
          <a:xfrm>
            <a:off x="1253108" y="1079818"/>
            <a:ext cx="9775627" cy="51436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786819" y="1824286"/>
            <a:ext cx="10277463" cy="4385816"/>
          </a:xfrm>
          <a:prstGeom prst="rect">
            <a:avLst/>
          </a:prstGeom>
          <a:noFill/>
        </p:spPr>
        <p:txBody>
          <a:bodyPr wrap="square" rtlCol="0" anchor="t">
            <a:spAutoFit/>
          </a:bodyPr>
          <a:lstStyle/>
          <a:p>
            <a:pPr marL="285750" indent="-285750">
              <a:buFont typeface="Wingdings" panose="05000000000000000000" pitchFamily="2" charset="2"/>
              <a:buChar char="n"/>
            </a:pPr>
            <a:r>
              <a:rPr dirty="0" err="1">
                <a:sym typeface="+mn-ea"/>
              </a:rPr>
              <a:t>其函数原型为</a:t>
            </a:r>
            <a:endParaRPr dirty="0">
              <a:sym typeface="+mn-ea"/>
            </a:endParaRPr>
          </a:p>
          <a:p>
            <a:endParaRPr dirty="0">
              <a:latin typeface="Cambria" panose="02040503050406030204" pitchFamily="18" charset="0"/>
              <a:ea typeface="Cambria" panose="02040503050406030204" pitchFamily="18" charset="0"/>
              <a:sym typeface="+mn-ea"/>
            </a:endParaRPr>
          </a:p>
          <a:p>
            <a:pPr lvl="1"/>
            <a:r>
              <a:rPr dirty="0">
                <a:latin typeface="Cambria" panose="02040503050406030204" pitchFamily="18" charset="0"/>
                <a:ea typeface="Cambria" panose="02040503050406030204" pitchFamily="18" charset="0"/>
                <a:sym typeface="+mn-ea"/>
              </a:rPr>
              <a:t>class </a:t>
            </a:r>
            <a:r>
              <a:rPr lang="en-US" dirty="0">
                <a:latin typeface="Cambria" panose="02040503050406030204" pitchFamily="18" charset="0"/>
                <a:ea typeface="Cambria" panose="02040503050406030204" pitchFamily="18" charset="0"/>
                <a:sym typeface="+mn-ea"/>
              </a:rPr>
              <a:t> </a:t>
            </a:r>
            <a:r>
              <a:rPr dirty="0">
                <a:latin typeface="Cambria" panose="02040503050406030204" pitchFamily="18" charset="0"/>
                <a:ea typeface="Cambria" panose="02040503050406030204" pitchFamily="18" charset="0"/>
                <a:sym typeface="+mn-ea"/>
              </a:rPr>
              <a:t>sklearn.naive_bayes.GaussianNB(priors=None)</a:t>
            </a:r>
          </a:p>
          <a:p>
            <a:pPr>
              <a:lnSpc>
                <a:spcPct val="100000"/>
              </a:lnSpc>
            </a:pPr>
            <a:endParaRPr dirty="0">
              <a:sym typeface="+mn-ea"/>
            </a:endParaRPr>
          </a:p>
          <a:p>
            <a:pPr marL="285750" indent="-285750">
              <a:lnSpc>
                <a:spcPct val="100000"/>
              </a:lnSpc>
              <a:buFont typeface="Wingdings" panose="05000000000000000000" pitchFamily="2" charset="2"/>
              <a:buChar char="n"/>
            </a:pPr>
            <a:r>
              <a:rPr dirty="0" err="1">
                <a:sym typeface="+mn-ea"/>
              </a:rPr>
              <a:t>参数如下</a:t>
            </a:r>
            <a:r>
              <a:rPr dirty="0">
                <a:sym typeface="+mn-ea"/>
              </a:rPr>
              <a:t>：</a:t>
            </a:r>
          </a:p>
          <a:p>
            <a:pPr lvl="1">
              <a:lnSpc>
                <a:spcPct val="150000"/>
              </a:lnSpc>
            </a:pPr>
            <a:r>
              <a:rPr dirty="0">
                <a:latin typeface="Cambria" panose="02040503050406030204" pitchFamily="18" charset="0"/>
                <a:ea typeface="Cambria" panose="02040503050406030204" pitchFamily="18" charset="0"/>
                <a:sym typeface="+mn-ea"/>
              </a:rPr>
              <a:t>priors</a:t>
            </a:r>
            <a:r>
              <a:rPr dirty="0">
                <a:sym typeface="+mn-ea"/>
              </a:rPr>
              <a:t>：数组，默认参数值为</a:t>
            </a:r>
            <a:r>
              <a:rPr dirty="0">
                <a:latin typeface="Cambria" panose="02040503050406030204" pitchFamily="18" charset="0"/>
                <a:ea typeface="Cambria" panose="02040503050406030204" pitchFamily="18" charset="0"/>
                <a:sym typeface="+mn-ea"/>
              </a:rPr>
              <a:t>None</a:t>
            </a:r>
            <a:r>
              <a:rPr dirty="0">
                <a:sym typeface="+mn-ea"/>
              </a:rPr>
              <a:t>。类的先验概率，如果指定了先验信息，则不会根据数据进行调整。</a:t>
            </a:r>
            <a:endParaRPr lang="en-US" dirty="0">
              <a:sym typeface="+mn-ea"/>
            </a:endParaRPr>
          </a:p>
          <a:p>
            <a:pPr marL="285750" indent="-285750" latinLnBrk="1">
              <a:lnSpc>
                <a:spcPct val="150000"/>
              </a:lnSpc>
              <a:buFont typeface="Wingdings" panose="05000000000000000000" pitchFamily="2" charset="2"/>
              <a:buChar char="n"/>
            </a:pPr>
            <a:r>
              <a:rPr lang="zh-CN" altLang="en-US" dirty="0">
                <a:latin typeface="Cambria" panose="02040503050406030204" pitchFamily="18" charset="0"/>
              </a:rPr>
              <a:t>属性有：</a:t>
            </a:r>
          </a:p>
          <a:p>
            <a:pPr lvl="1" latinLnBrk="1">
              <a:lnSpc>
                <a:spcPct val="150000"/>
              </a:lnSpc>
            </a:pPr>
            <a:r>
              <a:rPr lang="zh-CN" altLang="en-US" dirty="0">
                <a:latin typeface="Cambria" panose="02040503050406030204" pitchFamily="18" charset="0"/>
              </a:rPr>
              <a:t>①class_prior：数组。每个类别的概率，形状为（n_classes,）</a:t>
            </a:r>
          </a:p>
          <a:p>
            <a:pPr lvl="1" latinLnBrk="1">
              <a:lnSpc>
                <a:spcPct val="150000"/>
              </a:lnSpc>
            </a:pPr>
            <a:r>
              <a:rPr lang="zh-CN" altLang="en-US" dirty="0">
                <a:latin typeface="Cambria" panose="02040503050406030204" pitchFamily="18" charset="0"/>
              </a:rPr>
              <a:t>②class_count：数组。每个类别包含的训练样本数量，形状为（n_classes,）</a:t>
            </a:r>
          </a:p>
          <a:p>
            <a:pPr lvl="1" latinLnBrk="1">
              <a:lnSpc>
                <a:spcPct val="150000"/>
              </a:lnSpc>
            </a:pPr>
            <a:r>
              <a:rPr lang="zh-CN" altLang="en-US" dirty="0">
                <a:latin typeface="Cambria" panose="02040503050406030204" pitchFamily="18" charset="0"/>
              </a:rPr>
              <a:t>③theta：数组。每个类别上每个特征的均值，形状为（n_classes,n_features）</a:t>
            </a:r>
            <a:endParaRPr lang="en-US" altLang="zh-CN" dirty="0">
              <a:latin typeface="Cambria" panose="02040503050406030204" pitchFamily="18" charset="0"/>
            </a:endParaRPr>
          </a:p>
          <a:p>
            <a:pPr lvl="1" latinLnBrk="1">
              <a:lnSpc>
                <a:spcPct val="150000"/>
              </a:lnSpc>
            </a:pPr>
            <a:r>
              <a:rPr lang="zh-CN" altLang="en-US" dirty="0">
                <a:latin typeface="Cambria" panose="02040503050406030204" pitchFamily="18" charset="0"/>
              </a:rPr>
              <a:t>④sigma：数组。每个类别上每个特征的标准差，形状为（n_classes,n_features）</a:t>
            </a:r>
            <a:endParaRPr dirty="0">
              <a:sym typeface="+mn-ea"/>
            </a:endParaRPr>
          </a:p>
        </p:txBody>
      </p:sp>
      <p:sp>
        <p:nvSpPr>
          <p:cNvPr id="7" name="文本框 6"/>
          <p:cNvSpPr txBox="1"/>
          <p:nvPr/>
        </p:nvSpPr>
        <p:spPr>
          <a:xfrm>
            <a:off x="803310" y="1300024"/>
            <a:ext cx="10287056" cy="507831"/>
          </a:xfrm>
          <a:prstGeom prst="rect">
            <a:avLst/>
          </a:prstGeom>
          <a:noFill/>
        </p:spPr>
        <p:txBody>
          <a:bodyPr wrap="square" rtlCol="0" anchor="t">
            <a:spAutoFit/>
          </a:bodyPr>
          <a:lstStyle/>
          <a:p>
            <a:pPr>
              <a:lnSpc>
                <a:spcPct val="150000"/>
              </a:lnSpc>
            </a:pPr>
            <a:r>
              <a:rPr dirty="0">
                <a:sym typeface="+mn-ea"/>
              </a:rPr>
              <a:t>在高斯朴素贝叶斯分类器中，假设特征的条件概率分布满足高斯分布</a:t>
            </a:r>
            <a:r>
              <a:rPr lang="zh-CN" altLang="en-US" dirty="0">
                <a:sym typeface="+mn-ea"/>
              </a:rPr>
              <a:t>。</a:t>
            </a:r>
            <a:endParaRPr dirty="0">
              <a:sym typeface="+mn-ea"/>
            </a:endParaRPr>
          </a:p>
        </p:txBody>
      </p:sp>
      <p:sp>
        <p:nvSpPr>
          <p:cNvPr id="8" name="内容占位符 2"/>
          <p:cNvSpPr>
            <a:spLocks noGrp="1"/>
          </p:cNvSpPr>
          <p:nvPr>
            <p:ph idx="1"/>
          </p:nvPr>
        </p:nvSpPr>
        <p:spPr>
          <a:xfrm>
            <a:off x="372237" y="492489"/>
            <a:ext cx="8749323" cy="447675"/>
          </a:xfrm>
        </p:spPr>
        <p:txBody>
          <a:bodyPr>
            <a:noAutofit/>
          </a:bodyPr>
          <a:lstStyle/>
          <a:p>
            <a:pPr>
              <a:buNone/>
            </a:pPr>
            <a:r>
              <a:rPr lang="zh-CN" sz="3200" dirty="0"/>
              <a:t>高斯朴素贝叶斯分类器（</a:t>
            </a:r>
            <a:r>
              <a:rPr lang="zh-CN" sz="3200" dirty="0">
                <a:latin typeface="Cambria" panose="02040503050406030204" pitchFamily="18" charset="0"/>
              </a:rPr>
              <a:t>GaussianNB</a:t>
            </a:r>
            <a:r>
              <a:rPr lang="zh-CN" sz="3200" dirty="0"/>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291335" y="1191337"/>
            <a:ext cx="11573022" cy="769441"/>
          </a:xfrm>
          <a:prstGeom prst="rect">
            <a:avLst/>
          </a:prstGeom>
          <a:noFill/>
          <a:ln w="9525">
            <a:noFill/>
          </a:ln>
        </p:spPr>
        <p:txBody>
          <a:bodyPr wrap="square">
            <a:spAutoFit/>
          </a:bodyPr>
          <a:lstStyle/>
          <a:p>
            <a:pPr indent="266700"/>
            <a:r>
              <a:rPr lang="zh-CN" sz="2400" b="0" dirty="0">
                <a:solidFill>
                  <a:srgbClr val="000000"/>
                </a:solidFill>
                <a:latin typeface="+mn-ea"/>
              </a:rPr>
              <a:t>其函数原型为</a:t>
            </a:r>
            <a:endParaRPr lang="en-US" sz="2400" b="0" dirty="0">
              <a:solidFill>
                <a:srgbClr val="FF0000"/>
              </a:solidFill>
              <a:latin typeface="+mn-ea"/>
              <a:cs typeface="宋体" panose="02010600030101010101" pitchFamily="2" charset="-122"/>
            </a:endParaRPr>
          </a:p>
          <a:p>
            <a:pPr indent="266700"/>
            <a:r>
              <a:rPr lang="en-US" sz="2000" b="0" dirty="0">
                <a:latin typeface="Cambria" panose="02040503050406030204" pitchFamily="18" charset="0"/>
                <a:ea typeface="Cambria" panose="02040503050406030204" pitchFamily="18" charset="0"/>
                <a:cs typeface="宋体" panose="02010600030101010101" pitchFamily="2" charset="-122"/>
              </a:rPr>
              <a:t>class  sklearn.naive_bayes.MultinomialNB(alpha=1.0, fit_prior=True, class_prior=None)</a:t>
            </a:r>
            <a:endParaRPr lang="en-US" altLang="en-US" sz="2000" b="0" dirty="0">
              <a:latin typeface="Cambria" panose="02040503050406030204" pitchFamily="18" charset="0"/>
              <a:ea typeface="Cambria" panose="02040503050406030204" pitchFamily="18" charset="0"/>
              <a:cs typeface="宋体" panose="02010600030101010101" pitchFamily="2" charset="-122"/>
            </a:endParaRPr>
          </a:p>
        </p:txBody>
      </p:sp>
      <p:sp>
        <p:nvSpPr>
          <p:cNvPr id="10" name="文本框 9"/>
          <p:cNvSpPr txBox="1"/>
          <p:nvPr/>
        </p:nvSpPr>
        <p:spPr>
          <a:xfrm>
            <a:off x="686672" y="1871552"/>
            <a:ext cx="10991522" cy="2215991"/>
          </a:xfrm>
          <a:prstGeom prst="rect">
            <a:avLst/>
          </a:prstGeom>
          <a:noFill/>
        </p:spPr>
        <p:txBody>
          <a:bodyPr wrap="square" rtlCol="0" anchor="t">
            <a:spAutoFit/>
          </a:bodyPr>
          <a:lstStyle/>
          <a:p>
            <a:pPr marL="285750" indent="-285750">
              <a:lnSpc>
                <a:spcPct val="150000"/>
              </a:lnSpc>
              <a:buFont typeface="Wingdings" panose="05000000000000000000" pitchFamily="2" charset="2"/>
              <a:buChar char="n"/>
            </a:pPr>
            <a:r>
              <a:rPr lang="zh-CN" altLang="en-US" sz="2000" dirty="0">
                <a:solidFill>
                  <a:schemeClr val="accent3">
                    <a:lumMod val="50000"/>
                  </a:schemeClr>
                </a:solidFill>
                <a:latin typeface="Microsoft Sans Serif" panose="020B0604020202020204" pitchFamily="34" charset="0"/>
                <a:ea typeface="华文楷体" panose="02010600040101010101" pitchFamily="2" charset="-122"/>
              </a:rPr>
              <a:t>参数如下。</a:t>
            </a:r>
          </a:p>
          <a:p>
            <a:pPr lvl="1">
              <a:lnSpc>
                <a:spcPct val="150000"/>
              </a:lnSpc>
            </a:pPr>
            <a:r>
              <a:rPr lang="zh-CN" altLang="en-US" dirty="0"/>
              <a:t>①</a:t>
            </a:r>
            <a:r>
              <a:rPr lang="zh-CN" altLang="en-US" dirty="0">
                <a:latin typeface="Cambria" panose="02040503050406030204" pitchFamily="18" charset="0"/>
              </a:rPr>
              <a:t>alpha</a:t>
            </a:r>
            <a:r>
              <a:rPr lang="zh-CN" altLang="en-US" dirty="0"/>
              <a:t>：浮点数，可选，默认参数值为</a:t>
            </a:r>
            <a:r>
              <a:rPr lang="zh-CN" altLang="en-US" dirty="0">
                <a:latin typeface="Cambria" panose="02040503050406030204" pitchFamily="18" charset="0"/>
              </a:rPr>
              <a:t>1.0。</a:t>
            </a:r>
            <a:endParaRPr lang="zh-CN" altLang="en-US" dirty="0"/>
          </a:p>
          <a:p>
            <a:pPr lvl="1">
              <a:lnSpc>
                <a:spcPct val="150000"/>
              </a:lnSpc>
            </a:pPr>
            <a:r>
              <a:rPr lang="zh-CN" altLang="en-US" dirty="0"/>
              <a:t>②</a:t>
            </a:r>
            <a:r>
              <a:rPr lang="zh-CN" altLang="en-US" dirty="0">
                <a:latin typeface="Cambria" panose="02040503050406030204" pitchFamily="18" charset="0"/>
              </a:rPr>
              <a:t>fit_prior</a:t>
            </a:r>
            <a:r>
              <a:rPr lang="zh-CN" altLang="en-US" dirty="0"/>
              <a:t>：布尔值，可选，默认参数值</a:t>
            </a:r>
            <a:r>
              <a:rPr lang="zh-CN" altLang="en-US" dirty="0">
                <a:latin typeface="Cambria" panose="02040503050406030204" pitchFamily="18" charset="0"/>
              </a:rPr>
              <a:t>True</a:t>
            </a:r>
            <a:r>
              <a:rPr lang="zh-CN" altLang="en-US" dirty="0"/>
              <a:t>。如果为</a:t>
            </a:r>
            <a:r>
              <a:rPr lang="zh-CN" altLang="en-US" dirty="0">
                <a:latin typeface="Cambria" panose="02040503050406030204" pitchFamily="18" charset="0"/>
              </a:rPr>
              <a:t>True</a:t>
            </a:r>
            <a:r>
              <a:rPr lang="zh-CN" altLang="en-US" dirty="0"/>
              <a:t>，则不去学习</a:t>
            </a:r>
          </a:p>
          <a:p>
            <a:pPr lvl="1">
              <a:lnSpc>
                <a:spcPct val="150000"/>
              </a:lnSpc>
            </a:pPr>
            <a:r>
              <a:rPr lang="zh-CN" altLang="en-US" dirty="0"/>
              <a:t>，以均匀分布替代；否则，学习                        。</a:t>
            </a:r>
          </a:p>
          <a:p>
            <a:pPr lvl="1">
              <a:lnSpc>
                <a:spcPct val="150000"/>
              </a:lnSpc>
            </a:pPr>
            <a:r>
              <a:rPr lang="zh-CN" altLang="en-US" dirty="0"/>
              <a:t>③</a:t>
            </a:r>
            <a:r>
              <a:rPr lang="zh-CN" altLang="en-US" dirty="0">
                <a:latin typeface="Cambria" panose="02040503050406030204" pitchFamily="18" charset="0"/>
              </a:rPr>
              <a:t>class_prior</a:t>
            </a:r>
            <a:r>
              <a:rPr lang="zh-CN" altLang="en-US" dirty="0"/>
              <a:t>：</a:t>
            </a:r>
            <a:r>
              <a:rPr lang="zh-CN" altLang="en-US" dirty="0">
                <a:latin typeface="Cambria" panose="02040503050406030204" pitchFamily="18" charset="0"/>
              </a:rPr>
              <a:t>array_like</a:t>
            </a:r>
            <a:r>
              <a:rPr lang="zh-CN" altLang="en-US" dirty="0"/>
              <a:t>数组，可选，默认参数值为</a:t>
            </a:r>
            <a:r>
              <a:rPr lang="zh-CN" altLang="en-US" dirty="0">
                <a:latin typeface="Cambria" panose="02040503050406030204" pitchFamily="18" charset="0"/>
              </a:rPr>
              <a:t>None</a:t>
            </a:r>
            <a:r>
              <a:rPr lang="zh-CN" altLang="en-US" dirty="0"/>
              <a:t>。</a:t>
            </a:r>
          </a:p>
        </p:txBody>
      </p:sp>
      <p:graphicFrame>
        <p:nvGraphicFramePr>
          <p:cNvPr id="6" name="对象 -2147482568"/>
          <p:cNvGraphicFramePr>
            <a:graphicFrameLocks noChangeAspect="1"/>
          </p:cNvGraphicFramePr>
          <p:nvPr/>
        </p:nvGraphicFramePr>
        <p:xfrm>
          <a:off x="8566942" y="2840445"/>
          <a:ext cx="1152009" cy="360003"/>
        </p:xfrm>
        <a:graphic>
          <a:graphicData uri="http://schemas.openxmlformats.org/presentationml/2006/ole">
            <mc:AlternateContent xmlns:mc="http://schemas.openxmlformats.org/markup-compatibility/2006">
              <mc:Choice xmlns:v="urn:schemas-microsoft-com:vml" Requires="v">
                <p:oleObj r:id="rId2" imgW="647700" imgH="254000" progId="Equation.DSMT4">
                  <p:embed/>
                </p:oleObj>
              </mc:Choice>
              <mc:Fallback>
                <p:oleObj r:id="rId2" imgW="647700" imgH="254000" progId="Equation.DSMT4">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6942" y="2840445"/>
                        <a:ext cx="1152009" cy="360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标题 1"/>
          <p:cNvSpPr txBox="1"/>
          <p:nvPr/>
        </p:nvSpPr>
        <p:spPr>
          <a:xfrm>
            <a:off x="291335" y="422795"/>
            <a:ext cx="10272890" cy="692572"/>
          </a:xfrm>
          <a:prstGeom prst="rect">
            <a:avLst/>
          </a:prstGeom>
        </p:spPr>
        <p:txBody>
          <a:bodyPr>
            <a:normAutofit/>
          </a:body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zh-CN" sz="3200" b="0" i="0" u="none" strike="noStrike" kern="1200" cap="none" spc="0" normalizeH="0" baseline="0" noProof="0" dirty="0">
                <a:ln>
                  <a:noFill/>
                </a:ln>
                <a:solidFill>
                  <a:schemeClr val="accent3">
                    <a:lumMod val="50000"/>
                  </a:schemeClr>
                </a:solidFill>
                <a:effectLst/>
                <a:uLnTx/>
                <a:uFillTx/>
                <a:latin typeface="Microsoft Sans Serif" panose="020B0604020202020204" pitchFamily="34" charset="0"/>
                <a:ea typeface="华文楷体" panose="02010600040101010101" pitchFamily="2" charset="-122"/>
                <a:cs typeface="+mj-cs"/>
              </a:rPr>
              <a:t>多项式贝叶斯分类器（</a:t>
            </a:r>
            <a:r>
              <a:rPr kumimoji="0" lang="zh-CN" altLang="zh-CN" sz="3200" b="0" i="0" u="none" strike="noStrike" kern="1200" cap="none" spc="0" normalizeH="0" baseline="0" noProof="0" dirty="0">
                <a:ln>
                  <a:noFill/>
                </a:ln>
                <a:solidFill>
                  <a:schemeClr val="accent3">
                    <a:lumMod val="50000"/>
                  </a:schemeClr>
                </a:solidFill>
                <a:effectLst/>
                <a:uLnTx/>
                <a:uFillTx/>
                <a:latin typeface="Cambria" panose="02040503050406030204" pitchFamily="18" charset="0"/>
                <a:ea typeface="华文楷体" panose="02010600040101010101" pitchFamily="2" charset="-122"/>
                <a:cs typeface="+mj-cs"/>
              </a:rPr>
              <a:t>MultimomialNB</a:t>
            </a:r>
            <a:r>
              <a:rPr kumimoji="0" lang="zh-CN" altLang="zh-CN" sz="3200" b="0" i="0" u="none" strike="noStrike" kern="1200" cap="none" spc="0" normalizeH="0" baseline="0" noProof="0" dirty="0">
                <a:ln>
                  <a:noFill/>
                </a:ln>
                <a:solidFill>
                  <a:schemeClr val="accent3">
                    <a:lumMod val="50000"/>
                  </a:schemeClr>
                </a:solidFill>
                <a:effectLst/>
                <a:uLnTx/>
                <a:uFillTx/>
                <a:latin typeface="Microsoft Sans Serif" panose="020B0604020202020204" pitchFamily="34" charset="0"/>
                <a:ea typeface="华文楷体" panose="02010600040101010101" pitchFamily="2" charset="-122"/>
                <a:cs typeface="+mj-cs"/>
              </a:rPr>
              <a:t>）</a:t>
            </a:r>
          </a:p>
        </p:txBody>
      </p:sp>
      <p:graphicFrame>
        <p:nvGraphicFramePr>
          <p:cNvPr id="1029" name="Object 5"/>
          <p:cNvGraphicFramePr>
            <a:graphicFrameLocks noChangeAspect="1"/>
          </p:cNvGraphicFramePr>
          <p:nvPr/>
        </p:nvGraphicFramePr>
        <p:xfrm>
          <a:off x="4524421" y="3265623"/>
          <a:ext cx="1152525" cy="360363"/>
        </p:xfrm>
        <a:graphic>
          <a:graphicData uri="http://schemas.openxmlformats.org/presentationml/2006/ole">
            <mc:AlternateContent xmlns:mc="http://schemas.openxmlformats.org/markup-compatibility/2006">
              <mc:Choice xmlns:v="urn:schemas-microsoft-com:vml" Requires="v">
                <p:oleObj r:id="rId2" imgW="647700" imgH="254000" progId="Equation.DSMT4">
                  <p:embed/>
                </p:oleObj>
              </mc:Choice>
              <mc:Fallback>
                <p:oleObj r:id="rId2" imgW="647700" imgH="254000" progId="Equation.DSMT4">
                  <p:embed/>
                  <p:pic>
                    <p:nvPicPr>
                      <p:cNvPr id="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4421" y="3265623"/>
                        <a:ext cx="11525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 name="文本框 3"/>
          <p:cNvSpPr txBox="1"/>
          <p:nvPr/>
        </p:nvSpPr>
        <p:spPr>
          <a:xfrm>
            <a:off x="713963" y="4038735"/>
            <a:ext cx="11120985" cy="2215991"/>
          </a:xfrm>
          <a:prstGeom prst="rect">
            <a:avLst/>
          </a:prstGeom>
          <a:noFill/>
        </p:spPr>
        <p:txBody>
          <a:bodyPr wrap="square" rtlCol="0" anchor="t">
            <a:spAutoFit/>
          </a:bodyPr>
          <a:lstStyle/>
          <a:p>
            <a:pPr marL="285750" indent="-285750">
              <a:lnSpc>
                <a:spcPct val="150000"/>
              </a:lnSpc>
              <a:buFont typeface="Wingdings" panose="05000000000000000000" pitchFamily="2" charset="2"/>
              <a:buChar char="n"/>
            </a:pPr>
            <a:r>
              <a:rPr lang="zh-CN" altLang="en-US" sz="2000" dirty="0"/>
              <a:t>主要属性如下。</a:t>
            </a:r>
          </a:p>
          <a:p>
            <a:pPr lvl="1">
              <a:lnSpc>
                <a:spcPct val="150000"/>
              </a:lnSpc>
            </a:pPr>
            <a:r>
              <a:rPr lang="zh-CN" altLang="en-US" dirty="0"/>
              <a:t>①</a:t>
            </a:r>
            <a:r>
              <a:rPr lang="zh-CN" altLang="en-US" dirty="0">
                <a:latin typeface="Cambria" panose="02040503050406030204" pitchFamily="18" charset="0"/>
              </a:rPr>
              <a:t>class_log_prior</a:t>
            </a:r>
            <a:r>
              <a:rPr lang="zh-CN" altLang="en-US" dirty="0"/>
              <a:t>：数组。每个类别调整后的经验概率分布的对数值，形状为（</a:t>
            </a:r>
            <a:r>
              <a:rPr lang="zh-CN" altLang="en-US" dirty="0">
                <a:latin typeface="Cambria" panose="02040503050406030204" pitchFamily="18" charset="0"/>
              </a:rPr>
              <a:t>n_classes,</a:t>
            </a:r>
            <a:r>
              <a:rPr lang="zh-CN" altLang="en-US" dirty="0"/>
              <a:t>）；</a:t>
            </a:r>
          </a:p>
          <a:p>
            <a:pPr lvl="1">
              <a:lnSpc>
                <a:spcPct val="150000"/>
              </a:lnSpc>
            </a:pPr>
            <a:r>
              <a:rPr lang="zh-CN" altLang="en-US" dirty="0"/>
              <a:t>②</a:t>
            </a:r>
            <a:r>
              <a:rPr lang="zh-CN" altLang="en-US" dirty="0">
                <a:latin typeface="Cambria" panose="02040503050406030204" pitchFamily="18" charset="0"/>
              </a:rPr>
              <a:t>feature_log_prob</a:t>
            </a:r>
            <a:r>
              <a:rPr lang="zh-CN" altLang="en-US" dirty="0"/>
              <a:t>：数组。经验概率分布                               的对数值，形状为（</a:t>
            </a:r>
            <a:r>
              <a:rPr lang="zh-CN" altLang="en-US" dirty="0">
                <a:latin typeface="Cambria" panose="02040503050406030204" pitchFamily="18" charset="0"/>
              </a:rPr>
              <a:t>n_classes, n_features</a:t>
            </a:r>
            <a:r>
              <a:rPr lang="zh-CN" altLang="en-US" dirty="0"/>
              <a:t>）；</a:t>
            </a:r>
          </a:p>
          <a:p>
            <a:pPr lvl="1">
              <a:lnSpc>
                <a:spcPct val="150000"/>
              </a:lnSpc>
            </a:pPr>
            <a:r>
              <a:rPr lang="zh-CN" altLang="en-US" dirty="0"/>
              <a:t>③</a:t>
            </a:r>
            <a:r>
              <a:rPr lang="zh-CN" altLang="en-US" dirty="0">
                <a:latin typeface="Cambria" panose="02040503050406030204" pitchFamily="18" charset="0"/>
              </a:rPr>
              <a:t>class_count</a:t>
            </a:r>
            <a:r>
              <a:rPr lang="zh-CN" altLang="en-US" dirty="0"/>
              <a:t>：数组。每个类别包含的训练样本数量，形状为（</a:t>
            </a:r>
            <a:r>
              <a:rPr lang="zh-CN" altLang="en-US" dirty="0">
                <a:latin typeface="Cambria" panose="02040503050406030204" pitchFamily="18" charset="0"/>
              </a:rPr>
              <a:t>n_classes,</a:t>
            </a:r>
            <a:r>
              <a:rPr lang="zh-CN" altLang="en-US" dirty="0"/>
              <a:t>）；</a:t>
            </a:r>
          </a:p>
          <a:p>
            <a:pPr lvl="1">
              <a:lnSpc>
                <a:spcPct val="150000"/>
              </a:lnSpc>
            </a:pPr>
            <a:r>
              <a:rPr lang="zh-CN" altLang="en-US" dirty="0"/>
              <a:t>④</a:t>
            </a:r>
            <a:r>
              <a:rPr lang="zh-CN" altLang="en-US" dirty="0">
                <a:latin typeface="Cambria" panose="02040503050406030204" pitchFamily="18" charset="0"/>
              </a:rPr>
              <a:t>feature_count</a:t>
            </a:r>
            <a:r>
              <a:rPr lang="zh-CN" altLang="en-US" dirty="0"/>
              <a:t>：数组。训练过程中，每个类别每个特征遇到的样本数，形状为（</a:t>
            </a:r>
            <a:r>
              <a:rPr lang="zh-CN" altLang="en-US" dirty="0">
                <a:latin typeface="Cambria" panose="02040503050406030204" pitchFamily="18" charset="0"/>
              </a:rPr>
              <a:t>n_classes, n_features</a:t>
            </a:r>
            <a:r>
              <a:rPr lang="zh-CN" altLang="en-US" dirty="0"/>
              <a:t>）。</a:t>
            </a:r>
          </a:p>
        </p:txBody>
      </p:sp>
      <p:pic>
        <p:nvPicPr>
          <p:cNvPr id="16" name="图片 15"/>
          <p:cNvPicPr>
            <a:picLocks noChangeAspect="1"/>
          </p:cNvPicPr>
          <p:nvPr/>
        </p:nvPicPr>
        <p:blipFill>
          <a:blip r:embed="rId4" cstate="print"/>
          <a:stretch>
            <a:fillRect/>
          </a:stretch>
        </p:blipFill>
        <p:spPr>
          <a:xfrm>
            <a:off x="5507952" y="5015002"/>
            <a:ext cx="1490596" cy="39600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918" y="546265"/>
            <a:ext cx="10272890" cy="980728"/>
          </a:xfrm>
        </p:spPr>
        <p:txBody>
          <a:bodyPr>
            <a:normAutofit/>
          </a:bodyPr>
          <a:lstStyle/>
          <a:p>
            <a:r>
              <a:rPr lang="zh-CN" altLang="zh-CN" sz="3200" dirty="0"/>
              <a:t>伯努利贝叶斯分类器（</a:t>
            </a:r>
            <a:r>
              <a:rPr lang="zh-CN" altLang="zh-CN" sz="3200" dirty="0">
                <a:latin typeface="Cambria" panose="02040503050406030204" pitchFamily="18" charset="0"/>
              </a:rPr>
              <a:t>BernoulliNB</a:t>
            </a:r>
            <a:r>
              <a:rPr lang="zh-CN" altLang="zh-CN" sz="3200" dirty="0"/>
              <a:t>）</a:t>
            </a:r>
          </a:p>
        </p:txBody>
      </p:sp>
      <p:sp>
        <p:nvSpPr>
          <p:cNvPr id="8" name="文本框 7"/>
          <p:cNvSpPr txBox="1"/>
          <p:nvPr/>
        </p:nvSpPr>
        <p:spPr>
          <a:xfrm>
            <a:off x="274321" y="1217169"/>
            <a:ext cx="11450685" cy="958596"/>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zh-CN" altLang="en-US" sz="2000" dirty="0"/>
              <a:t>其函数原型为</a:t>
            </a:r>
          </a:p>
          <a:p>
            <a:pPr>
              <a:lnSpc>
                <a:spcPct val="150000"/>
              </a:lnSpc>
            </a:pPr>
            <a:r>
              <a:rPr lang="zh-CN" altLang="en-US" sz="2000" dirty="0">
                <a:latin typeface="Cambria" panose="02040503050406030204" pitchFamily="18" charset="0"/>
              </a:rPr>
              <a:t>class  sklearn.naive_bayes.BernoulliNB(alpha=1.0, binarize=0.0, fit_prior=True,  class_prior=None)</a:t>
            </a:r>
          </a:p>
        </p:txBody>
      </p:sp>
      <p:sp>
        <p:nvSpPr>
          <p:cNvPr id="13" name="文本框 13"/>
          <p:cNvSpPr txBox="1"/>
          <p:nvPr/>
        </p:nvSpPr>
        <p:spPr>
          <a:xfrm>
            <a:off x="274321" y="2045335"/>
            <a:ext cx="11351622" cy="3416320"/>
          </a:xfrm>
          <a:prstGeom prst="rect">
            <a:avLst/>
          </a:prstGeom>
          <a:noFill/>
        </p:spPr>
        <p:txBody>
          <a:bodyPr wrap="square" rtlCol="0">
            <a:spAutoFit/>
          </a:bodyPr>
          <a:lstStyle/>
          <a:p>
            <a:pPr marL="285750" indent="-285750">
              <a:lnSpc>
                <a:spcPct val="150000"/>
              </a:lnSpc>
              <a:buFont typeface="Wingdings" panose="05000000000000000000" pitchFamily="2" charset="2"/>
              <a:buChar char="n"/>
            </a:pPr>
            <a:r>
              <a:rPr lang="zh-CN" altLang="en-US" dirty="0">
                <a:latin typeface="Cambria" panose="02040503050406030204" pitchFamily="18" charset="0"/>
              </a:rPr>
              <a:t>主要参数如下。</a:t>
            </a:r>
          </a:p>
          <a:p>
            <a:pPr lvl="1">
              <a:lnSpc>
                <a:spcPct val="150000"/>
              </a:lnSpc>
            </a:pPr>
            <a:r>
              <a:rPr lang="zh-CN" altLang="en-US" dirty="0">
                <a:latin typeface="Cambria" panose="02040503050406030204" pitchFamily="18" charset="0"/>
              </a:rPr>
              <a:t>①alpha：浮点数，可选，默认参数值为1.0。   </a:t>
            </a:r>
          </a:p>
          <a:p>
            <a:pPr lvl="1">
              <a:lnSpc>
                <a:spcPct val="150000"/>
              </a:lnSpc>
            </a:pPr>
            <a:r>
              <a:rPr lang="zh-CN" altLang="en-US" dirty="0">
                <a:latin typeface="Cambria" panose="02040503050406030204" pitchFamily="18" charset="0"/>
              </a:rPr>
              <a:t>②binarize：浮点数或None，可选，默认参数值为0.0。如果为None，则假设原始数据已经二元化了；如果为浮点数，则会以该数值为界，特征值大于它的取1，特征值小于它的取0。</a:t>
            </a:r>
          </a:p>
          <a:p>
            <a:pPr lvl="1">
              <a:lnSpc>
                <a:spcPct val="150000"/>
              </a:lnSpc>
            </a:pPr>
            <a:r>
              <a:rPr lang="zh-CN" altLang="en-US" dirty="0">
                <a:latin typeface="Cambria" panose="02040503050406030204" pitchFamily="18" charset="0"/>
              </a:rPr>
              <a:t>③fit_prior：布尔值，可选，默认参数值为True。如果为True，则不去学习                     ，以均匀分布替代；否则，学习                       。</a:t>
            </a:r>
          </a:p>
          <a:p>
            <a:pPr lvl="1">
              <a:lnSpc>
                <a:spcPct val="150000"/>
              </a:lnSpc>
            </a:pPr>
            <a:r>
              <a:rPr lang="zh-CN" altLang="en-US" dirty="0">
                <a:latin typeface="Cambria" panose="02040503050406030204" pitchFamily="18" charset="0"/>
              </a:rPr>
              <a:t>④class_prior：数组，大小为[n_classes,]，可选，默认参数值为None。指定每个分类的先验概率，                                                 。如果指定了该参数，则每个分类的先验概率将不再从数据集中学习。</a:t>
            </a:r>
          </a:p>
        </p:txBody>
      </p:sp>
      <p:graphicFrame>
        <p:nvGraphicFramePr>
          <p:cNvPr id="2051" name="Object 3"/>
          <p:cNvGraphicFramePr>
            <a:graphicFrameLocks noChangeAspect="1"/>
          </p:cNvGraphicFramePr>
          <p:nvPr/>
        </p:nvGraphicFramePr>
        <p:xfrm>
          <a:off x="8285843" y="3734888"/>
          <a:ext cx="1117600" cy="431800"/>
        </p:xfrm>
        <a:graphic>
          <a:graphicData uri="http://schemas.openxmlformats.org/presentationml/2006/ole">
            <mc:AlternateContent xmlns:mc="http://schemas.openxmlformats.org/markup-compatibility/2006">
              <mc:Choice xmlns:v="urn:schemas-microsoft-com:vml" Requires="v">
                <p:oleObj r:id="rId2" imgW="647700" imgH="254000" progId="Equation.DSMT4">
                  <p:embed/>
                </p:oleObj>
              </mc:Choice>
              <mc:Fallback>
                <p:oleObj r:id="rId2" imgW="647700" imgH="254000" progId="Equation.DSMT4">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5843" y="3734888"/>
                        <a:ext cx="11176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2" name="Object 4"/>
          <p:cNvGraphicFramePr>
            <a:graphicFrameLocks noChangeAspect="1"/>
          </p:cNvGraphicFramePr>
          <p:nvPr/>
        </p:nvGraphicFramePr>
        <p:xfrm>
          <a:off x="1989546" y="4193177"/>
          <a:ext cx="1117600" cy="469900"/>
        </p:xfrm>
        <a:graphic>
          <a:graphicData uri="http://schemas.openxmlformats.org/presentationml/2006/ole">
            <mc:AlternateContent xmlns:mc="http://schemas.openxmlformats.org/markup-compatibility/2006">
              <mc:Choice xmlns:v="urn:schemas-microsoft-com:vml" Requires="v">
                <p:oleObj r:id="rId2" imgW="647700" imgH="254000" progId="Equation.DSMT4">
                  <p:embed/>
                </p:oleObj>
              </mc:Choice>
              <mc:Fallback>
                <p:oleObj r:id="rId2" imgW="647700" imgH="254000" progId="Equation.DSMT4">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9546" y="4193177"/>
                        <a:ext cx="11176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3" name="Object 5"/>
          <p:cNvGraphicFramePr>
            <a:graphicFrameLocks noChangeAspect="1"/>
          </p:cNvGraphicFramePr>
          <p:nvPr/>
        </p:nvGraphicFramePr>
        <p:xfrm>
          <a:off x="1148443" y="5017589"/>
          <a:ext cx="2590800" cy="431800"/>
        </p:xfrm>
        <a:graphic>
          <a:graphicData uri="http://schemas.openxmlformats.org/presentationml/2006/ole">
            <mc:AlternateContent xmlns:mc="http://schemas.openxmlformats.org/markup-compatibility/2006">
              <mc:Choice xmlns:v="urn:schemas-microsoft-com:vml" Requires="v">
                <p:oleObj r:id="rId4" imgW="1511300" imgH="254000" progId="Equation.DSMT4">
                  <p:embed/>
                </p:oleObj>
              </mc:Choice>
              <mc:Fallback>
                <p:oleObj r:id="rId4" imgW="1511300" imgH="254000" progId="Equation.DSMT4">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8443" y="5017589"/>
                        <a:ext cx="2590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算法应用</a:t>
            </a:r>
          </a:p>
        </p:txBody>
      </p:sp>
      <p:pic>
        <p:nvPicPr>
          <p:cNvPr id="3" name="图片 2"/>
          <p:cNvPicPr>
            <a:picLocks noChangeAspect="1"/>
          </p:cNvPicPr>
          <p:nvPr/>
        </p:nvPicPr>
        <p:blipFill>
          <a:blip r:embed="rId3"/>
          <a:stretch>
            <a:fillRect/>
          </a:stretch>
        </p:blipFill>
        <p:spPr>
          <a:xfrm>
            <a:off x="1253108" y="1088573"/>
            <a:ext cx="10053220" cy="521983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算法应用</a:t>
            </a:r>
          </a:p>
        </p:txBody>
      </p:sp>
      <p:pic>
        <p:nvPicPr>
          <p:cNvPr id="3" name="图片 2"/>
          <p:cNvPicPr>
            <a:picLocks noChangeAspect="1"/>
          </p:cNvPicPr>
          <p:nvPr/>
        </p:nvPicPr>
        <p:blipFill>
          <a:blip r:embed="rId3"/>
          <a:stretch>
            <a:fillRect/>
          </a:stretch>
        </p:blipFill>
        <p:spPr>
          <a:xfrm>
            <a:off x="1253108" y="1009223"/>
            <a:ext cx="9971575" cy="547565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算法应用</a:t>
            </a:r>
          </a:p>
        </p:txBody>
      </p:sp>
      <p:pic>
        <p:nvPicPr>
          <p:cNvPr id="3" name="图片 2"/>
          <p:cNvPicPr>
            <a:picLocks noChangeAspect="1"/>
          </p:cNvPicPr>
          <p:nvPr/>
        </p:nvPicPr>
        <p:blipFill>
          <a:blip r:embed="rId3"/>
          <a:stretch>
            <a:fillRect/>
          </a:stretch>
        </p:blipFill>
        <p:spPr>
          <a:xfrm>
            <a:off x="1253108" y="1103460"/>
            <a:ext cx="9808285" cy="5159964"/>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5"/>
          <p:cNvSpPr txBox="1">
            <a:spLocks noChangeArrowheads="1"/>
          </p:cNvSpPr>
          <p:nvPr/>
        </p:nvSpPr>
        <p:spPr bwMode="auto">
          <a:xfrm>
            <a:off x="935374" y="666520"/>
            <a:ext cx="3695055" cy="461665"/>
          </a:xfrm>
          <a:prstGeom prst="rect">
            <a:avLst/>
          </a:prstGeom>
          <a:solidFill>
            <a:srgbClr val="009999"/>
          </a:solidFill>
          <a:ln>
            <a:noFill/>
          </a:ln>
        </p:spPr>
        <p:txBody>
          <a:bodyPr wrap="square">
            <a:spAutoFit/>
          </a:bodyPr>
          <a:lstStyle>
            <a:defPPr>
              <a:defRPr lang="zh-CN"/>
            </a:defPPr>
            <a:lvl1pPr algn="ctr">
              <a:spcBef>
                <a:spcPct val="0"/>
              </a:spcBef>
              <a:defRPr sz="24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贝叶斯网络的应用</a:t>
            </a:r>
          </a:p>
        </p:txBody>
      </p:sp>
      <p:cxnSp>
        <p:nvCxnSpPr>
          <p:cNvPr id="13" name="直接连接符 13"/>
          <p:cNvCxnSpPr/>
          <p:nvPr/>
        </p:nvCxnSpPr>
        <p:spPr>
          <a:xfrm>
            <a:off x="1849967" y="1128185"/>
            <a:ext cx="9673167"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2" name="矩形 3"/>
          <p:cNvSpPr>
            <a:spLocks noChangeArrowheads="1"/>
          </p:cNvSpPr>
          <p:nvPr/>
        </p:nvSpPr>
        <p:spPr bwMode="auto">
          <a:xfrm>
            <a:off x="795867" y="1333962"/>
            <a:ext cx="10727267" cy="467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贝叶斯网络经过长期的发展，现已被应用到人工智能的众多领域。包括模式识别、数据挖掘、自然语言处理、辅助智能决策等等。其中针对很多领域核心问题的分类问题，大量卓有成效的算法都是基于贝叶斯理论设计</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在医疗领域</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，贝叶斯网络</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用于</a:t>
            </a:r>
            <a:r>
              <a:rPr kumimoji="1" lang="zh-CN" altLang="zh-CN" sz="2400" b="1" i="0" u="none" strike="noStrike" kern="12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mn-cs"/>
              </a:rPr>
              <a:t>医疗诊断</a:t>
            </a:r>
            <a:endParaRPr kumimoji="1" lang="en-US" altLang="zh-CN" sz="2400" b="1" i="0" u="none" strike="noStrike" kern="12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在工业领域</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贝叶斯网络用于</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对工业制品的</a:t>
            </a:r>
            <a:r>
              <a:rPr kumimoji="1" lang="zh-CN" altLang="zh-CN" sz="2400" b="1" i="0" u="none" strike="noStrike" kern="12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mn-cs"/>
              </a:rPr>
              <a:t>故障检测</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和</a:t>
            </a:r>
            <a:r>
              <a:rPr kumimoji="1" lang="zh-CN" altLang="zh-CN" sz="2400" b="1" i="0" u="none" strike="noStrike" kern="12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mn-cs"/>
              </a:rPr>
              <a:t>性能分析</a:t>
            </a:r>
            <a:endParaRPr kumimoji="1" lang="en-US" altLang="zh-CN" sz="2400" b="1" i="0" u="none" strike="noStrike" kern="12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在军事上也被应用于</a:t>
            </a:r>
            <a:r>
              <a:rPr kumimoji="1" lang="zh-CN" altLang="zh-CN" sz="2400" b="1" i="0" u="none" strike="noStrike" kern="12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mn-cs"/>
              </a:rPr>
              <a:t>身份识别</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等各种战场推理</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在生物农业领域，贝叶斯网络在基因连锁分析、农作物推断、兽医诊断、环境分析等等问题上都有大量的应用</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在金融领域可用于构建</a:t>
            </a:r>
            <a:r>
              <a:rPr kumimoji="1" lang="zh-CN" altLang="en-US" sz="2400" b="1" i="0" u="none" strike="noStrike" kern="12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mn-cs"/>
              </a:rPr>
              <a:t>风控模型</a:t>
            </a:r>
            <a:endParaRPr kumimoji="1" lang="en-US" altLang="zh-CN" sz="2400" b="1"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在企业管理上可用于</a:t>
            </a:r>
            <a:r>
              <a:rPr kumimoji="1" lang="zh-CN" altLang="en-US" sz="2400" b="1" i="0" u="none" strike="noStrike" kern="12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mn-cs"/>
              </a:rPr>
              <a:t>决策支持</a:t>
            </a:r>
            <a:endParaRPr kumimoji="1" lang="en-US" altLang="zh-CN" sz="2400" b="1"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在自然语言处理方面可用于</a:t>
            </a:r>
            <a:r>
              <a:rPr kumimoji="1" lang="zh-CN" altLang="en-US" sz="2400" b="0" i="0" u="none" strike="noStrike" kern="12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mn-cs"/>
              </a:rPr>
              <a:t>文本分类</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mn-cs"/>
              </a:rPr>
              <a:t>中文分词</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zh-CN" altLang="en-US" sz="2400" b="1" i="0" u="none" strike="noStrike" kern="12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mn-cs"/>
              </a:rPr>
              <a:t>机器翻译</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spd="slow">
    <p:push/>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03050" y="661515"/>
            <a:ext cx="2861733" cy="461665"/>
          </a:xfrm>
          <a:prstGeom prst="rect">
            <a:avLst/>
          </a:prstGeom>
          <a:solidFill>
            <a:srgbClr val="009999"/>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中文分词</a:t>
            </a: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795867" y="1333962"/>
                <a:ext cx="10999893" cy="315118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中文分词问题可以描述为给定一句话，将其切分为合乎语法和语义的词语序列。一个经典的中文分词案例是对“南京市长江大桥”的分词。正确的分词结果为“南京市</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长江大桥”，错误的分词结果是“南京市长</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江大桥”。下面我们使用贝叶斯算法来解决这一问题。</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设完整的一句话为</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X</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Y</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为组成该句话的词语集合，共有</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n</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个词语。于是分词问题可以转化为求下列式子最大值的问题：</a:t>
                </a:r>
              </a:p>
              <a:p>
                <a:pPr marL="0" lvl="0" indent="0">
                  <a:buNone/>
                  <a:defRPr/>
                </a:pPr>
                <a14:m>
                  <m:oMathPara xmlns:m="http://schemas.openxmlformats.org/officeDocument/2006/math">
                    <m:oMathParaPr>
                      <m:jc m:val="centerGroup"/>
                    </m:oMathParaPr>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Y</m:t>
                          </m:r>
                        </m:e>
                        <m:e>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X</m:t>
                          </m:r>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lang="en-US" altLang="zh-CN" sz="2400">
                              <a:solidFill>
                                <a:srgbClr val="000000"/>
                              </a:solidFill>
                              <a:latin typeface="Cambria Math" panose="02040503050406030204" pitchFamily="18" charset="0"/>
                            </a:rPr>
                            <m:t>𝑝</m:t>
                          </m:r>
                          <m:r>
                            <a:rPr lang="en-US" altLang="zh-CN" sz="2400">
                              <a:solidFill>
                                <a:srgbClr val="000000"/>
                              </a:solidFill>
                              <a:latin typeface="Cambria Math" panose="02040503050406030204" pitchFamily="18" charset="0"/>
                            </a:rPr>
                            <m:t>(</m:t>
                          </m:r>
                          <m:r>
                            <a:rPr lang="en-US" altLang="zh-CN" sz="2400">
                              <a:solidFill>
                                <a:srgbClr val="000000"/>
                              </a:solidFill>
                              <a:latin typeface="Cambria Math" panose="02040503050406030204" pitchFamily="18" charset="0"/>
                            </a:rPr>
                            <m:t>𝑌</m:t>
                          </m:r>
                          <m:r>
                            <a:rPr lang="en-US" altLang="zh-CN" sz="2400">
                              <a:solidFill>
                                <a:srgbClr val="000000"/>
                              </a:solidFill>
                              <a:latin typeface="Cambria Math" panose="02040503050406030204" pitchFamily="18" charset="0"/>
                            </a:rPr>
                            <m:t>)</m:t>
                          </m:r>
                        </m:num>
                        <m:den>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den>
                      </m:f>
                      <m:r>
                        <a:rPr kumimoji="1" lang="en-US" altLang="zh-CN" sz="2400" b="0" i="0" u="none" strike="noStrike" kern="1200" cap="none" spc="0" normalizeH="0" baseline="0" noProof="0" smtClean="0">
                          <a:ln>
                            <a:noFill/>
                          </a:ln>
                          <a:solidFill>
                            <a:srgbClr val="000000"/>
                          </a:solidFill>
                          <a:effectLst/>
                          <a:uLnTx/>
                          <a:uFillTx/>
                          <a:latin typeface="Cambria Math" panose="02040503050406030204" pitchFamily="18" charset="0"/>
                          <a:cs typeface="+mn-cs"/>
                        </a:rPr>
                        <m:t>=</m:t>
                      </m:r>
                      <m:f>
                        <m:fPr>
                          <m:ctrlPr>
                            <a:rPr lang="zh-CN" altLang="zh-CN" sz="2400" i="1">
                              <a:solidFill>
                                <a:srgbClr val="000000"/>
                              </a:solidFill>
                              <a:latin typeface="Cambria Math" panose="02040503050406030204" pitchFamily="18" charset="0"/>
                            </a:rPr>
                          </m:ctrlPr>
                        </m:fPr>
                        <m:num>
                          <m:r>
                            <a:rPr kumimoji="0" lang="en-US" altLang="zh-CN" sz="2400">
                              <a:solidFill>
                                <a:srgbClr val="000000"/>
                              </a:solidFill>
                              <a:latin typeface="Cambria Math" panose="02040503050406030204" pitchFamily="18" charset="0"/>
                            </a:rPr>
                            <m:t>𝑝</m:t>
                          </m:r>
                          <m:r>
                            <a:rPr kumimoji="0" lang="en-US" altLang="zh-CN" sz="2400">
                              <a:solidFill>
                                <a:srgbClr val="000000"/>
                              </a:solidFill>
                              <a:latin typeface="Cambria Math" panose="02040503050406030204" pitchFamily="18" charset="0"/>
                            </a:rPr>
                            <m:t>(</m:t>
                          </m:r>
                          <m:r>
                            <a:rPr kumimoji="0" lang="en-US" altLang="zh-CN" sz="2400">
                              <a:solidFill>
                                <a:srgbClr val="000000"/>
                              </a:solidFill>
                              <a:latin typeface="Cambria Math" panose="02040503050406030204" pitchFamily="18" charset="0"/>
                            </a:rPr>
                            <m:t>𝑌</m:t>
                          </m:r>
                          <m:r>
                            <a:rPr kumimoji="0" lang="en-US" altLang="zh-CN" sz="2400">
                              <a:solidFill>
                                <a:srgbClr val="000000"/>
                              </a:solidFill>
                              <a:latin typeface="Cambria Math" panose="02040503050406030204" pitchFamily="18" charset="0"/>
                            </a:rPr>
                            <m:t>)</m:t>
                          </m:r>
                          <m:r>
                            <a:rPr lang="en-US" altLang="zh-CN" sz="2400">
                              <a:solidFill>
                                <a:srgbClr val="000000"/>
                              </a:solidFill>
                              <a:latin typeface="Cambria Math" panose="02040503050406030204" pitchFamily="18" charset="0"/>
                            </a:rPr>
                            <m:t>𝑝</m:t>
                          </m:r>
                          <m:r>
                            <a:rPr lang="en-US" altLang="zh-CN" sz="2400">
                              <a:solidFill>
                                <a:srgbClr val="000000"/>
                              </a:solidFill>
                              <a:latin typeface="Cambria Math" panose="02040503050406030204" pitchFamily="18" charset="0"/>
                            </a:rPr>
                            <m:t>(</m:t>
                          </m:r>
                          <m:r>
                            <a:rPr lang="en-US" altLang="zh-CN" sz="2400">
                              <a:solidFill>
                                <a:srgbClr val="000000"/>
                              </a:solidFill>
                              <a:latin typeface="Cambria Math" panose="02040503050406030204" pitchFamily="18" charset="0"/>
                            </a:rPr>
                            <m:t>𝑋</m:t>
                          </m:r>
                          <m:r>
                            <a:rPr lang="en-US" altLang="zh-CN" sz="2400">
                              <a:solidFill>
                                <a:srgbClr val="000000"/>
                              </a:solidFill>
                              <a:latin typeface="Cambria Math" panose="02040503050406030204" pitchFamily="18" charset="0"/>
                            </a:rPr>
                            <m:t>|</m:t>
                          </m:r>
                          <m:r>
                            <a:rPr lang="en-US" altLang="zh-CN" sz="2400">
                              <a:solidFill>
                                <a:srgbClr val="000000"/>
                              </a:solidFill>
                              <a:latin typeface="Cambria Math" panose="02040503050406030204" pitchFamily="18" charset="0"/>
                            </a:rPr>
                            <m:t>𝑌</m:t>
                          </m:r>
                          <m:r>
                            <a:rPr lang="en-US" altLang="zh-CN" sz="2400">
                              <a:solidFill>
                                <a:srgbClr val="000000"/>
                              </a:solidFill>
                              <a:latin typeface="Cambria Math" panose="02040503050406030204" pitchFamily="18" charset="0"/>
                            </a:rPr>
                            <m:t>)</m:t>
                          </m:r>
                          <m:r>
                            <a:rPr kumimoji="0" lang="en-US" altLang="zh-CN" sz="2400" i="1" smtClean="0">
                              <a:solidFill>
                                <a:srgbClr val="000000"/>
                              </a:solidFill>
                              <a:latin typeface="Cambria Math" panose="02040503050406030204" pitchFamily="18" charset="0"/>
                            </a:rPr>
                            <m:t> </m:t>
                          </m:r>
                        </m:num>
                        <m:den>
                          <m:r>
                            <a:rPr lang="en-US" altLang="zh-CN" sz="2400">
                              <a:solidFill>
                                <a:srgbClr val="000000"/>
                              </a:solidFill>
                              <a:latin typeface="Cambria Math" panose="02040503050406030204" pitchFamily="18" charset="0"/>
                            </a:rPr>
                            <m:t>𝑝</m:t>
                          </m:r>
                          <m:r>
                            <a:rPr lang="en-US" altLang="zh-CN" sz="2400">
                              <a:solidFill>
                                <a:srgbClr val="000000"/>
                              </a:solidFill>
                              <a:latin typeface="Cambria Math" panose="02040503050406030204" pitchFamily="18" charset="0"/>
                            </a:rPr>
                            <m:t>(</m:t>
                          </m:r>
                          <m:r>
                            <a:rPr lang="en-US" altLang="zh-CN" sz="2400">
                              <a:solidFill>
                                <a:srgbClr val="000000"/>
                              </a:solidFill>
                              <a:latin typeface="Cambria Math" panose="02040503050406030204" pitchFamily="18" charset="0"/>
                            </a:rPr>
                            <m:t>𝑋</m:t>
                          </m:r>
                          <m:r>
                            <a:rPr lang="en-US" altLang="zh-CN" sz="2400">
                              <a:solidFill>
                                <a:srgbClr val="000000"/>
                              </a:solidFill>
                              <a:latin typeface="Cambria Math" panose="02040503050406030204" pitchFamily="18" charset="0"/>
                            </a:rPr>
                            <m:t>)</m:t>
                          </m:r>
                        </m:den>
                      </m:f>
                    </m:oMath>
                  </m:oMathPara>
                </a14:m>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795867" y="1333962"/>
                <a:ext cx="10999893" cy="3151184"/>
              </a:xfrm>
              <a:prstGeom prst="rect">
                <a:avLst/>
              </a:prstGeom>
              <a:blipFill rotWithShape="1">
                <a:blip r:embed="rId2"/>
                <a:stretch>
                  <a:fillRect l="-2" t="-15" r="-929" b="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03050" y="670753"/>
            <a:ext cx="2861733" cy="461665"/>
          </a:xfrm>
          <a:prstGeom prst="rect">
            <a:avLst/>
          </a:prstGeom>
          <a:solidFill>
            <a:srgbClr val="009999"/>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中文分词</a:t>
            </a: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795867" y="1333961"/>
                <a:ext cx="10727267" cy="430149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所以只需找到</a:t>
                </a:r>
                <a14:m>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的最大值。由于任意的分词情况下由词语序列生成句子是精确的，所以我们可以忽略</a:t>
                </a:r>
                <a14:m>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，只需找到</a:t>
                </a:r>
                <a14:m>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的最大值即可。按照联合概率公式对</a:t>
                </a:r>
                <a14:m>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进行展开，有</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2</m:t>
                              </m:r>
                            </m:sub>
                          </m:s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𝑛</m:t>
                              </m:r>
                            </m:sub>
                          </m:sSub>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2</m:t>
                              </m:r>
                            </m:sub>
                          </m:sSub>
                        </m:e>
                        <m:e>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3</m:t>
                              </m:r>
                            </m:sub>
                          </m:sSub>
                        </m:e>
                        <m:e>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2</m:t>
                              </m:r>
                            </m:sub>
                          </m:sSub>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这样的展开子式是指数级增长的，并且数据稀疏的问题也会越来越明显。所以我们假设每个词语只会依赖于词语序列中该词前面出现的</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k</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个词语，即</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k</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元语言模型</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(k-gram)</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。这里我们假设</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k=2</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，于是就有</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Y</m:t>
                          </m:r>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2</m:t>
                              </m:r>
                            </m:sub>
                          </m:sSub>
                        </m:e>
                        <m:e>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1</m:t>
                              </m:r>
                            </m:sub>
                          </m:sSub>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3</m:t>
                              </m:r>
                            </m:sub>
                          </m:sSub>
                        </m:e>
                        <m:e>
                          <m:sSub>
                            <m:sSub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sSubPr>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e>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2</m:t>
                              </m:r>
                            </m:sub>
                          </m:sSub>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回到上面到问题，正常的语料库中，“南京市长”与“江大桥”同时出现的概率一般为</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0</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，所以这一分词方式会被舍弃，“南京市</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长江大桥”的分词方式会是最终的分词结果</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795867" y="1333961"/>
                <a:ext cx="10727267" cy="4301490"/>
              </a:xfrm>
              <a:prstGeom prst="rect">
                <a:avLst/>
              </a:prstGeom>
              <a:blipFill rotWithShape="1">
                <a:blip r:embed="rId2"/>
                <a:stretch>
                  <a:fillRect l="-2" t="-11" r="4" b="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03050" y="649586"/>
            <a:ext cx="2861733" cy="461665"/>
          </a:xfrm>
          <a:prstGeom prst="rect">
            <a:avLst/>
          </a:prstGeom>
          <a:solidFill>
            <a:srgbClr val="009999"/>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机器翻译</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795867" y="1333962"/>
                <a:ext cx="10727266" cy="507170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基于统计的方法是机器翻译常用的实现，这种方法的核心算法即贝叶斯方法。统计机器翻译问题可以描述为，给定某种源语言的句子</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X</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，其可能的目标语言翻译出的句子</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Y</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14:m>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Y</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X</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代表该种翻译句子符合人类翻译的程度，所以即找到</a:t>
                </a:r>
                <a14:m>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Y</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X</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最大的</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Y</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即可。根据贝叶斯公式，</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Y</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X</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num>
                        <m:den>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den>
                      </m:f>
                    </m:oMath>
                  </m:oMathPara>
                </a14:m>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所以需要找到使得</a:t>
                </a:r>
                <a14:m>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最大的</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Y</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。对于</a:t>
                </a:r>
                <a14:m>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Y</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，在中文分词案例中我们知道可以利用</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k</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元语言模型</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(k-gram)</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计算出。而对于</a:t>
                </a:r>
                <a14:m>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，通常利用一个</a:t>
                </a:r>
                <a:r>
                  <a:rPr kumimoji="1" lang="zh-CN" altLang="zh-CN" sz="2400" b="1"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分词对齐的平行语料库</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，具体言之，将英文“</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you and me</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”翻译为汉语，最佳的对应模式为“你和我”，此时有</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you</m:t>
                          </m:r>
                        </m:e>
                        <m:e>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你</m:t>
                          </m:r>
                        </m:e>
                      </m:d>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and</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me</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我</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m:oMathPara>
                </a14:m>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上式中右边各项都可以很容易地计算出，所以便可以通过分词对齐的方法计算出</a:t>
                </a:r>
                <a14:m>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𝑋</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𝑌</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的值，最终找到使得</a:t>
                </a:r>
                <a14:m>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Y</m:t>
                        </m:r>
                      </m:e>
                      <m:e>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X</m:t>
                        </m:r>
                      </m:e>
                    </m:d>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最大的</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Y</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，便是</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X</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最佳的翻译方式</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795867" y="1333962"/>
                <a:ext cx="10727266" cy="5071709"/>
              </a:xfrm>
              <a:prstGeom prst="rect">
                <a:avLst/>
              </a:prstGeom>
              <a:blipFill rotWithShape="1">
                <a:blip r:embed="rId2"/>
                <a:stretch>
                  <a:fillRect l="-2" t="-9" r="-653" b="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810685" y="662861"/>
            <a:ext cx="2861733" cy="461665"/>
          </a:xfrm>
          <a:prstGeom prst="rect">
            <a:avLst/>
          </a:prstGeom>
          <a:solidFill>
            <a:srgbClr val="009999"/>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故障诊断</a:t>
            </a: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3"/>
          <p:cNvSpPr>
            <a:spLocks noChangeArrowheads="1"/>
          </p:cNvSpPr>
          <p:nvPr/>
        </p:nvSpPr>
        <p:spPr bwMode="auto">
          <a:xfrm>
            <a:off x="795867" y="1333962"/>
            <a:ext cx="1072726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故障诊断是为了找到某种设备出现故障时故障的所在部件，在工业领域，自动的故障诊断装置能节省一线工作人员大量的预判断时间。基于规则的系统可以被用于故障诊断，但是不能处理不确定性问题，在实际环境中难以灵活应用。贝叶斯网能较好地描述可能的故障来源，在处理故障诊断的不确定问题上有优秀的表现。多年来研究人员开发出了多种基于贝叶斯网络的故障诊断系统，包括对汽车启动故障的诊断、波音飞机的故障诊断、核电厂软硬件的故障诊断等等</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810685" y="679794"/>
            <a:ext cx="2861733" cy="461665"/>
          </a:xfrm>
          <a:prstGeom prst="rect">
            <a:avLst/>
          </a:prstGeom>
          <a:solidFill>
            <a:srgbClr val="009999"/>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故障诊断</a:t>
            </a: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3"/>
          <p:cNvSpPr>
            <a:spLocks noChangeArrowheads="1"/>
          </p:cNvSpPr>
          <p:nvPr/>
        </p:nvSpPr>
        <p:spPr bwMode="auto">
          <a:xfrm>
            <a:off x="795867" y="1333961"/>
            <a:ext cx="1072726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Heckerman</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等人在</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1995</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提出了一种汽车发动机诊断系统，该系统用于诊断汽车无法正常启动的原因，可见原因有多种，所以可以利用前文提到的诊断推理的方法，找到后验概率最大的故障原因</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其网络结构如下</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p:grpSp>
        <p:nvGrpSpPr>
          <p:cNvPr id="10" name="画布 102"/>
          <p:cNvGrpSpPr/>
          <p:nvPr/>
        </p:nvGrpSpPr>
        <p:grpSpPr>
          <a:xfrm>
            <a:off x="1386672" y="2613109"/>
            <a:ext cx="9915397" cy="3727401"/>
            <a:chOff x="0" y="0"/>
            <a:chExt cx="5270500" cy="4466590"/>
          </a:xfrm>
        </p:grpSpPr>
        <p:sp>
          <p:nvSpPr>
            <p:cNvPr id="13" name="矩形 12"/>
            <p:cNvSpPr/>
            <p:nvPr/>
          </p:nvSpPr>
          <p:spPr>
            <a:xfrm>
              <a:off x="0" y="0"/>
              <a:ext cx="5270500" cy="4466590"/>
            </a:xfrm>
            <a:prstGeom prst="rect">
              <a:avLst/>
            </a:prstGeom>
            <a:ln>
              <a:solidFill>
                <a:schemeClr val="tx1"/>
              </a:solidFill>
            </a:ln>
          </p:spPr>
        </p:sp>
        <p:sp>
          <p:nvSpPr>
            <p:cNvPr id="14" name="圆角矩形 13"/>
            <p:cNvSpPr/>
            <p:nvPr/>
          </p:nvSpPr>
          <p:spPr>
            <a:xfrm>
              <a:off x="1180125" y="237150"/>
              <a:ext cx="1401150" cy="36195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a:ln>
                    <a:noFill/>
                  </a:ln>
                  <a:solidFill>
                    <a:srgbClr val="000000"/>
                  </a:solidFill>
                  <a:effectLst/>
                  <a:uLnTx/>
                  <a:uFillTx/>
                  <a:latin typeface="等线" panose="02010600030101010101" pitchFamily="2" charset="-122"/>
                  <a:ea typeface="宋体" panose="02010600030101010101" pitchFamily="2" charset="-122"/>
                  <a:cs typeface="Times New Roman" panose="02020603050405020304" pitchFamily="18" charset="0"/>
                </a:rPr>
                <a:t>电池使用时间长</a:t>
              </a:r>
              <a:endParaRPr kumimoji="0" lang="zh-CN" altLang="en-US" sz="1600" b="0" i="0" u="none" strike="noStrike" kern="1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5" name="圆角矩形 14"/>
            <p:cNvSpPr/>
            <p:nvPr/>
          </p:nvSpPr>
          <p:spPr>
            <a:xfrm>
              <a:off x="2970825" y="237150"/>
              <a:ext cx="1152525" cy="36195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发动机报废</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6" name="圆角矩形 15"/>
            <p:cNvSpPr/>
            <p:nvPr/>
          </p:nvSpPr>
          <p:spPr>
            <a:xfrm>
              <a:off x="4342426" y="237150"/>
              <a:ext cx="848700" cy="36195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皮带断开</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7" name="圆角矩形 16"/>
            <p:cNvSpPr/>
            <p:nvPr/>
          </p:nvSpPr>
          <p:spPr>
            <a:xfrm>
              <a:off x="1818300" y="1094400"/>
              <a:ext cx="1001100" cy="36195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电池报废</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8" name="圆角矩形 17"/>
            <p:cNvSpPr/>
            <p:nvPr/>
          </p:nvSpPr>
          <p:spPr>
            <a:xfrm>
              <a:off x="3408976" y="1113450"/>
              <a:ext cx="791550" cy="36195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未充电</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9" name="圆角矩形 18"/>
            <p:cNvSpPr/>
            <p:nvPr/>
          </p:nvSpPr>
          <p:spPr>
            <a:xfrm>
              <a:off x="4249126" y="2009169"/>
              <a:ext cx="942000" cy="36195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电池没电</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cxnSp>
          <p:nvCxnSpPr>
            <p:cNvPr id="20" name="直接箭头连接符 19"/>
            <p:cNvCxnSpPr>
              <a:stCxn id="18" idx="2"/>
              <a:endCxn id="19" idx="0"/>
            </p:cNvCxnSpPr>
            <p:nvPr/>
          </p:nvCxnSpPr>
          <p:spPr>
            <a:xfrm>
              <a:off x="3804751" y="1475400"/>
              <a:ext cx="915375" cy="533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17" idx="2"/>
              <a:endCxn id="19" idx="0"/>
            </p:cNvCxnSpPr>
            <p:nvPr/>
          </p:nvCxnSpPr>
          <p:spPr>
            <a:xfrm>
              <a:off x="2318850" y="1456350"/>
              <a:ext cx="2401276" cy="5528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14" idx="2"/>
              <a:endCxn id="17" idx="0"/>
            </p:cNvCxnSpPr>
            <p:nvPr/>
          </p:nvCxnSpPr>
          <p:spPr>
            <a:xfrm>
              <a:off x="1880700" y="599100"/>
              <a:ext cx="438150" cy="495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15" idx="2"/>
              <a:endCxn id="18" idx="0"/>
            </p:cNvCxnSpPr>
            <p:nvPr/>
          </p:nvCxnSpPr>
          <p:spPr>
            <a:xfrm>
              <a:off x="3547088" y="599100"/>
              <a:ext cx="257663" cy="514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16" idx="2"/>
              <a:endCxn id="18" idx="0"/>
            </p:cNvCxnSpPr>
            <p:nvPr/>
          </p:nvCxnSpPr>
          <p:spPr>
            <a:xfrm flipH="1">
              <a:off x="3804751" y="599100"/>
              <a:ext cx="962025" cy="514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圆角矩形 24"/>
            <p:cNvSpPr/>
            <p:nvPr/>
          </p:nvSpPr>
          <p:spPr>
            <a:xfrm>
              <a:off x="980100" y="1923075"/>
              <a:ext cx="1000760" cy="361950"/>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无润滑油</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26" name="圆角矩形 25"/>
            <p:cNvSpPr/>
            <p:nvPr/>
          </p:nvSpPr>
          <p:spPr>
            <a:xfrm>
              <a:off x="103800" y="1884734"/>
              <a:ext cx="743925" cy="361315"/>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无燃油</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27" name="圆角矩形 26"/>
            <p:cNvSpPr/>
            <p:nvPr/>
          </p:nvSpPr>
          <p:spPr>
            <a:xfrm>
              <a:off x="2142150" y="1884738"/>
              <a:ext cx="877275" cy="630686"/>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燃油指示</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失灵</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28" name="圆角矩形 27"/>
            <p:cNvSpPr/>
            <p:nvPr/>
          </p:nvSpPr>
          <p:spPr>
            <a:xfrm>
              <a:off x="3161325" y="1865443"/>
              <a:ext cx="743585" cy="686827"/>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启动器失灵</a:t>
              </a:r>
              <a:endParaRPr kumimoji="0" lang="zh-CN" altLang="en-US" sz="16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29" name="圆角矩形 28"/>
            <p:cNvSpPr/>
            <p:nvPr/>
          </p:nvSpPr>
          <p:spPr>
            <a:xfrm>
              <a:off x="2160225" y="3340517"/>
              <a:ext cx="725850" cy="707166"/>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燃油指示灯</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cxnSp>
          <p:nvCxnSpPr>
            <p:cNvPr id="30" name="直接箭头连接符 29"/>
            <p:cNvCxnSpPr>
              <a:stCxn id="27" idx="2"/>
              <a:endCxn id="31" idx="0"/>
            </p:cNvCxnSpPr>
            <p:nvPr/>
          </p:nvCxnSpPr>
          <p:spPr>
            <a:xfrm flipH="1">
              <a:off x="1370309" y="2515424"/>
              <a:ext cx="1210479" cy="6930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圆角矩形 30"/>
            <p:cNvSpPr/>
            <p:nvPr/>
          </p:nvSpPr>
          <p:spPr>
            <a:xfrm>
              <a:off x="998516" y="3208459"/>
              <a:ext cx="743585" cy="753502"/>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润滑油指示灯</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cxnSp>
          <p:nvCxnSpPr>
            <p:cNvPr id="32" name="直接箭头连接符 31"/>
            <p:cNvCxnSpPr>
              <a:stCxn id="25" idx="2"/>
              <a:endCxn id="31" idx="0"/>
            </p:cNvCxnSpPr>
            <p:nvPr/>
          </p:nvCxnSpPr>
          <p:spPr>
            <a:xfrm flipH="1">
              <a:off x="1370309" y="2285025"/>
              <a:ext cx="110171" cy="9234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圆角矩形 32"/>
            <p:cNvSpPr/>
            <p:nvPr/>
          </p:nvSpPr>
          <p:spPr>
            <a:xfrm>
              <a:off x="3332775" y="3427999"/>
              <a:ext cx="743585" cy="629651"/>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引擎无法启动</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34" name="圆角矩形 33"/>
            <p:cNvSpPr/>
            <p:nvPr/>
          </p:nvSpPr>
          <p:spPr>
            <a:xfrm>
              <a:off x="4409101" y="3399376"/>
              <a:ext cx="639150" cy="667799"/>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照明大灯</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cxnSp>
          <p:nvCxnSpPr>
            <p:cNvPr id="35" name="直接箭头连接符 34"/>
            <p:cNvCxnSpPr>
              <a:stCxn id="19" idx="2"/>
              <a:endCxn id="34" idx="0"/>
            </p:cNvCxnSpPr>
            <p:nvPr/>
          </p:nvCxnSpPr>
          <p:spPr>
            <a:xfrm>
              <a:off x="4720126" y="2371119"/>
              <a:ext cx="8550" cy="10282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19" idx="2"/>
              <a:endCxn id="33" idx="0"/>
            </p:cNvCxnSpPr>
            <p:nvPr/>
          </p:nvCxnSpPr>
          <p:spPr>
            <a:xfrm flipH="1">
              <a:off x="3704568" y="2371119"/>
              <a:ext cx="1015558" cy="10568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p:cNvCxnSpPr>
              <a:stCxn id="19" idx="2"/>
              <a:endCxn id="29" idx="0"/>
            </p:cNvCxnSpPr>
            <p:nvPr/>
          </p:nvCxnSpPr>
          <p:spPr>
            <a:xfrm flipH="1">
              <a:off x="2523150" y="2371119"/>
              <a:ext cx="2196976" cy="9693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接箭头连接符 37"/>
            <p:cNvCxnSpPr>
              <a:stCxn id="19" idx="2"/>
              <a:endCxn id="31" idx="0"/>
            </p:cNvCxnSpPr>
            <p:nvPr/>
          </p:nvCxnSpPr>
          <p:spPr>
            <a:xfrm flipH="1">
              <a:off x="1370309" y="2371119"/>
              <a:ext cx="3349817" cy="8373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直接箭头连接符 38"/>
            <p:cNvCxnSpPr>
              <a:stCxn id="25" idx="2"/>
              <a:endCxn id="33" idx="0"/>
            </p:cNvCxnSpPr>
            <p:nvPr/>
          </p:nvCxnSpPr>
          <p:spPr>
            <a:xfrm>
              <a:off x="1480480" y="2284701"/>
              <a:ext cx="2224088" cy="11428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直接箭头连接符 39"/>
            <p:cNvCxnSpPr>
              <a:stCxn id="26" idx="2"/>
              <a:endCxn id="29" idx="0"/>
            </p:cNvCxnSpPr>
            <p:nvPr/>
          </p:nvCxnSpPr>
          <p:spPr>
            <a:xfrm>
              <a:off x="475763" y="2245731"/>
              <a:ext cx="2047387" cy="10943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直接箭头连接符 40"/>
            <p:cNvCxnSpPr>
              <a:stCxn id="26" idx="2"/>
              <a:endCxn id="33" idx="0"/>
            </p:cNvCxnSpPr>
            <p:nvPr/>
          </p:nvCxnSpPr>
          <p:spPr>
            <a:xfrm>
              <a:off x="475763" y="2245731"/>
              <a:ext cx="3228805" cy="11817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直接箭头连接符 41"/>
            <p:cNvCxnSpPr>
              <a:stCxn id="28" idx="2"/>
              <a:endCxn id="33" idx="0"/>
            </p:cNvCxnSpPr>
            <p:nvPr/>
          </p:nvCxnSpPr>
          <p:spPr>
            <a:xfrm>
              <a:off x="3533118" y="2552270"/>
              <a:ext cx="171450" cy="8757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03050" y="670753"/>
            <a:ext cx="2861733" cy="461665"/>
          </a:xfrm>
          <a:prstGeom prst="rect">
            <a:avLst/>
          </a:prstGeom>
          <a:solidFill>
            <a:srgbClr val="009999"/>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疾病诊断</a:t>
            </a: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3"/>
          <p:cNvSpPr>
            <a:spLocks noChangeArrowheads="1"/>
          </p:cNvSpPr>
          <p:nvPr/>
        </p:nvSpPr>
        <p:spPr bwMode="auto">
          <a:xfrm>
            <a:off x="795867" y="1333962"/>
            <a:ext cx="10727267" cy="3490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疾病诊断是从一系列历史经验和临床检验结果中对病人患有疾病种类和患病程度的判断。机器学习在疾病诊断领域有较多的应用，在上世纪</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70</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年代就有基于规则设计的产生式专家系统用于对疾病进行诊断，但是该类型系统不能处理不确定性</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使其诊断正确率远低于临床医生。后来研究人员基于贝叶斯网络设计了新的疾病诊断系统以处理不确定性问题，新系统的诊断准确程度已可与专业临床医生相当。</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下面是一个对胃部疾病建模的简单贝叶斯网络的部分，网络结构与条件概率不一定符合真实情况，这里关键是对贝叶斯网络的应用予以阐释。假设我们已经根据历史诊断经验得到了如下图所示贝叶斯网络结构</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804917" y="679794"/>
            <a:ext cx="2861733" cy="461665"/>
          </a:xfrm>
          <a:prstGeom prst="rect">
            <a:avLst/>
          </a:prstGeom>
          <a:solidFill>
            <a:srgbClr val="009999"/>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疾病诊断</a:t>
            </a: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10" name="画布 9"/>
          <p:cNvGrpSpPr/>
          <p:nvPr/>
        </p:nvGrpSpPr>
        <p:grpSpPr>
          <a:xfrm>
            <a:off x="2496367" y="1788160"/>
            <a:ext cx="7027333" cy="3281680"/>
            <a:chOff x="0" y="0"/>
            <a:chExt cx="5270500" cy="2461260"/>
          </a:xfrm>
        </p:grpSpPr>
        <p:sp>
          <p:nvSpPr>
            <p:cNvPr id="13" name="矩形 12"/>
            <p:cNvSpPr/>
            <p:nvPr/>
          </p:nvSpPr>
          <p:spPr>
            <a:xfrm>
              <a:off x="0" y="0"/>
              <a:ext cx="5270500" cy="2461260"/>
            </a:xfrm>
            <a:prstGeom prst="rect">
              <a:avLst/>
            </a:prstGeom>
          </p:spPr>
        </p:sp>
        <p:sp>
          <p:nvSpPr>
            <p:cNvPr id="14" name="圆角矩形 13"/>
            <p:cNvSpPr/>
            <p:nvPr/>
          </p:nvSpPr>
          <p:spPr>
            <a:xfrm>
              <a:off x="626450" y="188975"/>
              <a:ext cx="580293" cy="386862"/>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a:ln>
                    <a:noFill/>
                  </a:ln>
                  <a:solidFill>
                    <a:srgbClr val="000000"/>
                  </a:solidFill>
                  <a:effectLst/>
                  <a:uLnTx/>
                  <a:uFillTx/>
                  <a:latin typeface="等线" panose="02010600030101010101" pitchFamily="2" charset="-122"/>
                  <a:ea typeface="宋体" panose="02010600030101010101" pitchFamily="2" charset="-122"/>
                  <a:cs typeface="Times New Roman" panose="02020603050405020304" pitchFamily="18" charset="0"/>
                </a:rPr>
                <a:t>锻炼</a:t>
              </a:r>
              <a:endParaRPr kumimoji="0" lang="zh-CN" altLang="en-US" sz="1600" b="0" i="0" u="none" strike="noStrike" kern="100" cap="none" spc="0" normalizeH="0" baseline="0" noProof="0">
                <a:ln>
                  <a:noFill/>
                </a:ln>
                <a:solidFill>
                  <a:srgbClr val="0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15" name="圆角矩形 14"/>
            <p:cNvSpPr/>
            <p:nvPr/>
          </p:nvSpPr>
          <p:spPr>
            <a:xfrm>
              <a:off x="1649753" y="188967"/>
              <a:ext cx="579755" cy="38671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饮食</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6" name="圆角矩形 15"/>
            <p:cNvSpPr/>
            <p:nvPr/>
          </p:nvSpPr>
          <p:spPr>
            <a:xfrm>
              <a:off x="2775196" y="1116376"/>
              <a:ext cx="579755" cy="38671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胃痛</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7" name="圆角矩形 16"/>
            <p:cNvSpPr/>
            <p:nvPr/>
          </p:nvSpPr>
          <p:spPr>
            <a:xfrm>
              <a:off x="4247028" y="1116380"/>
              <a:ext cx="579755" cy="38671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腹胀</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8" name="圆角矩形 17"/>
            <p:cNvSpPr/>
            <p:nvPr/>
          </p:nvSpPr>
          <p:spPr>
            <a:xfrm>
              <a:off x="2102825" y="1959709"/>
              <a:ext cx="579755" cy="38671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恶心</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9" name="圆角矩形 18"/>
            <p:cNvSpPr/>
            <p:nvPr/>
          </p:nvSpPr>
          <p:spPr>
            <a:xfrm>
              <a:off x="3751875" y="2001471"/>
              <a:ext cx="579755" cy="38671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胃炎</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cxnSp>
          <p:nvCxnSpPr>
            <p:cNvPr id="20" name="直接箭头连接符 19"/>
            <p:cNvCxnSpPr>
              <a:stCxn id="14" idx="2"/>
              <a:endCxn id="16" idx="0"/>
            </p:cNvCxnSpPr>
            <p:nvPr/>
          </p:nvCxnSpPr>
          <p:spPr>
            <a:xfrm>
              <a:off x="916597" y="575837"/>
              <a:ext cx="2148477" cy="5405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p:cNvCxnSpPr>
              <a:stCxn id="15" idx="2"/>
              <a:endCxn id="16" idx="0"/>
            </p:cNvCxnSpPr>
            <p:nvPr/>
          </p:nvCxnSpPr>
          <p:spPr>
            <a:xfrm>
              <a:off x="1939631" y="575682"/>
              <a:ext cx="1125443" cy="5406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p:cNvCxnSpPr>
              <a:stCxn id="15" idx="2"/>
              <a:endCxn id="17" idx="0"/>
            </p:cNvCxnSpPr>
            <p:nvPr/>
          </p:nvCxnSpPr>
          <p:spPr>
            <a:xfrm>
              <a:off x="1939631" y="575682"/>
              <a:ext cx="2597275" cy="540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p:cNvCxnSpPr>
              <a:stCxn id="16" idx="2"/>
              <a:endCxn id="18" idx="0"/>
            </p:cNvCxnSpPr>
            <p:nvPr/>
          </p:nvCxnSpPr>
          <p:spPr>
            <a:xfrm flipH="1">
              <a:off x="2392703" y="1503091"/>
              <a:ext cx="672371" cy="4566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p:cNvCxnSpPr>
              <a:stCxn id="17" idx="2"/>
              <a:endCxn id="19" idx="0"/>
            </p:cNvCxnSpPr>
            <p:nvPr/>
          </p:nvCxnSpPr>
          <p:spPr>
            <a:xfrm flipH="1">
              <a:off x="4041753" y="1503095"/>
              <a:ext cx="495153" cy="4983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p:cNvCxnSpPr>
              <a:stCxn id="16" idx="2"/>
              <a:endCxn id="19" idx="0"/>
            </p:cNvCxnSpPr>
            <p:nvPr/>
          </p:nvCxnSpPr>
          <p:spPr>
            <a:xfrm>
              <a:off x="3065074" y="1503091"/>
              <a:ext cx="976679" cy="4983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圆角矩形 25"/>
            <p:cNvSpPr/>
            <p:nvPr/>
          </p:nvSpPr>
          <p:spPr>
            <a:xfrm>
              <a:off x="3852375" y="217552"/>
              <a:ext cx="579755" cy="386080"/>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伤寒</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cxnSp>
          <p:nvCxnSpPr>
            <p:cNvPr id="27" name="直接箭头连接符 26"/>
            <p:cNvCxnSpPr>
              <a:stCxn id="26" idx="2"/>
              <a:endCxn id="17" idx="0"/>
            </p:cNvCxnSpPr>
            <p:nvPr/>
          </p:nvCxnSpPr>
          <p:spPr>
            <a:xfrm>
              <a:off x="4142253" y="603632"/>
              <a:ext cx="394653" cy="5127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圆角矩形 27"/>
            <p:cNvSpPr/>
            <p:nvPr/>
          </p:nvSpPr>
          <p:spPr>
            <a:xfrm>
              <a:off x="2570775" y="246126"/>
              <a:ext cx="982050" cy="386080"/>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rPr>
                <a:t>细菌感染</a:t>
              </a:r>
              <a:endPar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cxnSp>
          <p:nvCxnSpPr>
            <p:cNvPr id="29" name="直接箭头连接符 28"/>
            <p:cNvCxnSpPr>
              <a:stCxn id="28" idx="2"/>
              <a:endCxn id="17" idx="0"/>
            </p:cNvCxnSpPr>
            <p:nvPr/>
          </p:nvCxnSpPr>
          <p:spPr>
            <a:xfrm>
              <a:off x="3061800" y="632206"/>
              <a:ext cx="1475106" cy="4841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圆角矩形 29"/>
            <p:cNvSpPr/>
            <p:nvPr/>
          </p:nvSpPr>
          <p:spPr>
            <a:xfrm>
              <a:off x="1284900" y="1100239"/>
              <a:ext cx="896325" cy="386080"/>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晕动症</a:t>
              </a:r>
            </a:p>
          </p:txBody>
        </p:sp>
        <p:cxnSp>
          <p:nvCxnSpPr>
            <p:cNvPr id="31" name="直接箭头连接符 30"/>
            <p:cNvCxnSpPr>
              <a:stCxn id="30" idx="2"/>
              <a:endCxn id="18" idx="0"/>
            </p:cNvCxnSpPr>
            <p:nvPr/>
          </p:nvCxnSpPr>
          <p:spPr>
            <a:xfrm>
              <a:off x="1733063" y="1486319"/>
              <a:ext cx="659640" cy="4733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圆角矩形 31"/>
            <p:cNvSpPr/>
            <p:nvPr/>
          </p:nvSpPr>
          <p:spPr>
            <a:xfrm>
              <a:off x="151425" y="1075350"/>
              <a:ext cx="895985" cy="38544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121920" tIns="60960" rIns="121920" bIns="6096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宋体" panose="02010600030101010101" pitchFamily="2" charset="-122"/>
                  <a:ea typeface="宋体" panose="02010600030101010101" pitchFamily="2" charset="-122"/>
                  <a:cs typeface="宋体" panose="02010600030101010101" pitchFamily="2" charset="-122"/>
                </a:rPr>
                <a:t>神经疾病</a:t>
              </a:r>
            </a:p>
          </p:txBody>
        </p:sp>
        <p:cxnSp>
          <p:nvCxnSpPr>
            <p:cNvPr id="33" name="直接箭头连接符 32"/>
            <p:cNvCxnSpPr>
              <a:stCxn id="32" idx="2"/>
              <a:endCxn id="18" idx="0"/>
            </p:cNvCxnSpPr>
            <p:nvPr/>
          </p:nvCxnSpPr>
          <p:spPr>
            <a:xfrm>
              <a:off x="599418" y="1460795"/>
              <a:ext cx="1793285" cy="4989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810685" y="662861"/>
            <a:ext cx="2861733" cy="461665"/>
          </a:xfrm>
          <a:prstGeom prst="rect">
            <a:avLst/>
          </a:prstGeom>
          <a:solidFill>
            <a:srgbClr val="009999"/>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疾病诊断</a:t>
            </a: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3"/>
          <p:cNvSpPr>
            <a:spLocks noChangeArrowheads="1"/>
          </p:cNvSpPr>
          <p:nvPr/>
        </p:nvSpPr>
        <p:spPr bwMode="auto">
          <a:xfrm>
            <a:off x="795867" y="1333961"/>
            <a:ext cx="1072726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其对应的部分条件概率表为：</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对“锻炼”与“饮食”节点：</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对“胃痛”节点</a:t>
            </a:r>
            <a:r>
              <a:rPr kumimoji="1" lang="zh-CN" altLang="en-US"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p:graphicFrame>
        <p:nvGraphicFramePr>
          <p:cNvPr id="2" name="表格 1"/>
          <p:cNvGraphicFramePr>
            <a:graphicFrameLocks noGrp="1"/>
          </p:cNvGraphicFramePr>
          <p:nvPr/>
        </p:nvGraphicFramePr>
        <p:xfrm>
          <a:off x="2341268" y="2225553"/>
          <a:ext cx="6893170" cy="756000"/>
        </p:xfrm>
        <a:graphic>
          <a:graphicData uri="http://schemas.openxmlformats.org/drawingml/2006/table">
            <a:tbl>
              <a:tblPr bandRow="1">
                <a:tableStyleId>{5C22544A-7EE6-4342-B048-85BDC9FD1C3A}</a:tableStyleId>
              </a:tblPr>
              <a:tblGrid>
                <a:gridCol w="1610651">
                  <a:extLst>
                    <a:ext uri="{9D8B030D-6E8A-4147-A177-3AD203B41FA5}">
                      <a16:colId xmlns:a16="http://schemas.microsoft.com/office/drawing/2014/main" val="20000"/>
                    </a:ext>
                  </a:extLst>
                </a:gridCol>
                <a:gridCol w="1320630">
                  <a:extLst>
                    <a:ext uri="{9D8B030D-6E8A-4147-A177-3AD203B41FA5}">
                      <a16:colId xmlns:a16="http://schemas.microsoft.com/office/drawing/2014/main" val="20001"/>
                    </a:ext>
                  </a:extLst>
                </a:gridCol>
                <a:gridCol w="615785">
                  <a:extLst>
                    <a:ext uri="{9D8B030D-6E8A-4147-A177-3AD203B41FA5}">
                      <a16:colId xmlns:a16="http://schemas.microsoft.com/office/drawing/2014/main" val="20002"/>
                    </a:ext>
                  </a:extLst>
                </a:gridCol>
                <a:gridCol w="2025474">
                  <a:extLst>
                    <a:ext uri="{9D8B030D-6E8A-4147-A177-3AD203B41FA5}">
                      <a16:colId xmlns:a16="http://schemas.microsoft.com/office/drawing/2014/main" val="20003"/>
                    </a:ext>
                  </a:extLst>
                </a:gridCol>
                <a:gridCol w="1320630">
                  <a:extLst>
                    <a:ext uri="{9D8B030D-6E8A-4147-A177-3AD203B41FA5}">
                      <a16:colId xmlns:a16="http://schemas.microsoft.com/office/drawing/2014/main" val="20004"/>
                    </a:ext>
                  </a:extLst>
                </a:gridCol>
              </a:tblGrid>
              <a:tr h="378000">
                <a:tc>
                  <a:txBody>
                    <a:bodyPr/>
                    <a:lstStyle/>
                    <a:p>
                      <a:pPr algn="just">
                        <a:spcAft>
                          <a:spcPts val="0"/>
                        </a:spcAft>
                      </a:pPr>
                      <a:r>
                        <a:rPr lang="zh-CN" sz="1800" kern="100" dirty="0">
                          <a:effectLst/>
                        </a:rPr>
                        <a:t>锻炼</a:t>
                      </a:r>
                      <a:r>
                        <a:rPr lang="en-US" sz="1800" kern="100" dirty="0">
                          <a:effectLst/>
                        </a:rPr>
                        <a:t>=</a:t>
                      </a:r>
                      <a:r>
                        <a:rPr lang="zh-CN" sz="1800" kern="100" dirty="0">
                          <a:effectLst/>
                        </a:rPr>
                        <a:t>“是”</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dirty="0">
                          <a:effectLst/>
                        </a:rPr>
                        <a:t>0.5</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a:effectLst/>
                        </a:rPr>
                        <a:t> </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zh-CN" sz="1800" kern="100">
                          <a:effectLst/>
                        </a:rPr>
                        <a:t>锻炼</a:t>
                      </a:r>
                      <a:r>
                        <a:rPr lang="en-US" sz="1800" kern="100">
                          <a:effectLst/>
                        </a:rPr>
                        <a:t>=</a:t>
                      </a:r>
                      <a:r>
                        <a:rPr lang="zh-CN" sz="1800" kern="100">
                          <a:effectLst/>
                        </a:rPr>
                        <a:t>“否”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a:effectLst/>
                        </a:rPr>
                        <a:t>0.5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extLst>
                  <a:ext uri="{0D108BD9-81ED-4DB2-BD59-A6C34878D82A}">
                    <a16:rowId xmlns:a16="http://schemas.microsoft.com/office/drawing/2014/main" val="10000"/>
                  </a:ext>
                </a:extLst>
              </a:tr>
              <a:tr h="378000">
                <a:tc>
                  <a:txBody>
                    <a:bodyPr/>
                    <a:lstStyle/>
                    <a:p>
                      <a:pPr algn="just">
                        <a:spcAft>
                          <a:spcPts val="0"/>
                        </a:spcAft>
                      </a:pPr>
                      <a:r>
                        <a:rPr lang="zh-CN" sz="1800" kern="100">
                          <a:effectLst/>
                        </a:rPr>
                        <a:t>饮食</a:t>
                      </a:r>
                      <a:r>
                        <a:rPr lang="en-US" sz="1800" kern="100">
                          <a:effectLst/>
                        </a:rPr>
                        <a:t>=</a:t>
                      </a:r>
                      <a:r>
                        <a:rPr lang="zh-CN" sz="1800" kern="100">
                          <a:effectLst/>
                        </a:rPr>
                        <a:t>“健康”</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dirty="0">
                          <a:effectLst/>
                        </a:rPr>
                        <a:t>0.4</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dirty="0">
                          <a:effectLst/>
                        </a:rPr>
                        <a:t> </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zh-CN" sz="1800" kern="100" dirty="0">
                          <a:effectLst/>
                        </a:rPr>
                        <a:t>饮食</a:t>
                      </a:r>
                      <a:r>
                        <a:rPr lang="en-US" sz="1800" kern="100" dirty="0">
                          <a:effectLst/>
                        </a:rPr>
                        <a:t>=</a:t>
                      </a:r>
                      <a:r>
                        <a:rPr lang="zh-CN" sz="1800" kern="100" dirty="0">
                          <a:effectLst/>
                        </a:rPr>
                        <a:t>“亚健康”</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dirty="0">
                          <a:effectLst/>
                        </a:rPr>
                        <a:t>0.6</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extLst>
                  <a:ext uri="{0D108BD9-81ED-4DB2-BD59-A6C34878D82A}">
                    <a16:rowId xmlns:a16="http://schemas.microsoft.com/office/drawing/2014/main" val="10001"/>
                  </a:ext>
                </a:extLst>
              </a:tr>
            </a:tbl>
          </a:graphicData>
        </a:graphic>
      </p:graphicFrame>
      <p:graphicFrame>
        <p:nvGraphicFramePr>
          <p:cNvPr id="3" name="表格 2"/>
          <p:cNvGraphicFramePr>
            <a:graphicFrameLocks noGrp="1"/>
          </p:cNvGraphicFramePr>
          <p:nvPr/>
        </p:nvGraphicFramePr>
        <p:xfrm>
          <a:off x="1877484" y="3873144"/>
          <a:ext cx="8030190" cy="1800000"/>
        </p:xfrm>
        <a:graphic>
          <a:graphicData uri="http://schemas.openxmlformats.org/drawingml/2006/table">
            <a:tbl>
              <a:tblPr bandRow="1">
                <a:tableStyleId>{5C22544A-7EE6-4342-B048-85BDC9FD1C3A}</a:tableStyleId>
              </a:tblPr>
              <a:tblGrid>
                <a:gridCol w="3598868">
                  <a:extLst>
                    <a:ext uri="{9D8B030D-6E8A-4147-A177-3AD203B41FA5}">
                      <a16:colId xmlns:a16="http://schemas.microsoft.com/office/drawing/2014/main" val="20000"/>
                    </a:ext>
                  </a:extLst>
                </a:gridCol>
                <a:gridCol w="1753946">
                  <a:extLst>
                    <a:ext uri="{9D8B030D-6E8A-4147-A177-3AD203B41FA5}">
                      <a16:colId xmlns:a16="http://schemas.microsoft.com/office/drawing/2014/main" val="20001"/>
                    </a:ext>
                  </a:extLst>
                </a:gridCol>
                <a:gridCol w="2677376">
                  <a:extLst>
                    <a:ext uri="{9D8B030D-6E8A-4147-A177-3AD203B41FA5}">
                      <a16:colId xmlns:a16="http://schemas.microsoft.com/office/drawing/2014/main" val="20002"/>
                    </a:ext>
                  </a:extLst>
                </a:gridCol>
              </a:tblGrid>
              <a:tr h="360000">
                <a:tc>
                  <a:txBody>
                    <a:bodyPr/>
                    <a:lstStyle/>
                    <a:p>
                      <a:pPr algn="just">
                        <a:spcAft>
                          <a:spcPts val="0"/>
                        </a:spcAft>
                      </a:pPr>
                      <a:r>
                        <a:rPr lang="en-US" sz="1800" kern="100" dirty="0">
                          <a:effectLst/>
                        </a:rPr>
                        <a:t> </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zh-CN" sz="1800" kern="100">
                          <a:effectLst/>
                        </a:rPr>
                        <a:t>胃痛</a:t>
                      </a:r>
                      <a:r>
                        <a:rPr lang="en-US" sz="1800" kern="100">
                          <a:effectLst/>
                        </a:rPr>
                        <a:t>=</a:t>
                      </a:r>
                      <a:r>
                        <a:rPr lang="zh-CN" sz="1800" kern="100">
                          <a:effectLst/>
                        </a:rPr>
                        <a:t>“是”</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zh-CN" sz="1800" kern="100">
                          <a:effectLst/>
                        </a:rPr>
                        <a:t>胃痛</a:t>
                      </a:r>
                      <a:r>
                        <a:rPr lang="en-US" sz="1800" kern="100">
                          <a:effectLst/>
                        </a:rPr>
                        <a:t>=</a:t>
                      </a:r>
                      <a:r>
                        <a:rPr lang="zh-CN" sz="1800" kern="100">
                          <a:effectLst/>
                        </a:rPr>
                        <a:t>“否”</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extLst>
                  <a:ext uri="{0D108BD9-81ED-4DB2-BD59-A6C34878D82A}">
                    <a16:rowId xmlns:a16="http://schemas.microsoft.com/office/drawing/2014/main" val="10000"/>
                  </a:ext>
                </a:extLst>
              </a:tr>
              <a:tr h="360000">
                <a:tc>
                  <a:txBody>
                    <a:bodyPr/>
                    <a:lstStyle/>
                    <a:p>
                      <a:pPr algn="just">
                        <a:spcAft>
                          <a:spcPts val="0"/>
                        </a:spcAft>
                      </a:pPr>
                      <a:r>
                        <a:rPr lang="zh-CN" sz="1800" kern="100" dirty="0">
                          <a:effectLst/>
                        </a:rPr>
                        <a:t>锻炼</a:t>
                      </a:r>
                      <a:r>
                        <a:rPr lang="en-US" sz="1800" kern="100" dirty="0">
                          <a:effectLst/>
                        </a:rPr>
                        <a:t>=</a:t>
                      </a:r>
                      <a:r>
                        <a:rPr lang="zh-CN" sz="1800" kern="100" dirty="0">
                          <a:effectLst/>
                        </a:rPr>
                        <a:t>“是”，饮食</a:t>
                      </a:r>
                      <a:r>
                        <a:rPr lang="en-US" sz="1800" kern="100" dirty="0">
                          <a:effectLst/>
                        </a:rPr>
                        <a:t>=</a:t>
                      </a:r>
                      <a:r>
                        <a:rPr lang="zh-CN" sz="1800" kern="100" dirty="0">
                          <a:effectLst/>
                        </a:rPr>
                        <a:t>“健康”</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a:effectLst/>
                        </a:rPr>
                        <a:t>0.2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a:effectLst/>
                        </a:rPr>
                        <a:t>0.8</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extLst>
                  <a:ext uri="{0D108BD9-81ED-4DB2-BD59-A6C34878D82A}">
                    <a16:rowId xmlns:a16="http://schemas.microsoft.com/office/drawing/2014/main" val="10001"/>
                  </a:ext>
                </a:extLst>
              </a:tr>
              <a:tr h="360000">
                <a:tc>
                  <a:txBody>
                    <a:bodyPr/>
                    <a:lstStyle/>
                    <a:p>
                      <a:pPr algn="just">
                        <a:spcAft>
                          <a:spcPts val="0"/>
                        </a:spcAft>
                      </a:pPr>
                      <a:r>
                        <a:rPr lang="zh-CN" sz="1800" kern="100" dirty="0">
                          <a:effectLst/>
                        </a:rPr>
                        <a:t>锻炼</a:t>
                      </a:r>
                      <a:r>
                        <a:rPr lang="en-US" sz="1800" kern="100" dirty="0">
                          <a:effectLst/>
                        </a:rPr>
                        <a:t>=</a:t>
                      </a:r>
                      <a:r>
                        <a:rPr lang="zh-CN" sz="1800" kern="100" dirty="0">
                          <a:effectLst/>
                        </a:rPr>
                        <a:t>“是”，饮食</a:t>
                      </a:r>
                      <a:r>
                        <a:rPr lang="en-US" sz="1800" kern="100" dirty="0">
                          <a:effectLst/>
                        </a:rPr>
                        <a:t>=</a:t>
                      </a:r>
                      <a:r>
                        <a:rPr lang="zh-CN" sz="1800" kern="100" dirty="0">
                          <a:effectLst/>
                        </a:rPr>
                        <a:t>“亚健康”</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dirty="0">
                          <a:effectLst/>
                        </a:rPr>
                        <a:t>0.45</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a:effectLst/>
                        </a:rPr>
                        <a:t>0.55</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extLst>
                  <a:ext uri="{0D108BD9-81ED-4DB2-BD59-A6C34878D82A}">
                    <a16:rowId xmlns:a16="http://schemas.microsoft.com/office/drawing/2014/main" val="10002"/>
                  </a:ext>
                </a:extLst>
              </a:tr>
              <a:tr h="360000">
                <a:tc>
                  <a:txBody>
                    <a:bodyPr/>
                    <a:lstStyle/>
                    <a:p>
                      <a:pPr algn="just">
                        <a:spcAft>
                          <a:spcPts val="0"/>
                        </a:spcAft>
                      </a:pPr>
                      <a:r>
                        <a:rPr lang="zh-CN" sz="1800" kern="100">
                          <a:effectLst/>
                        </a:rPr>
                        <a:t>锻炼</a:t>
                      </a:r>
                      <a:r>
                        <a:rPr lang="en-US" sz="1800" kern="100">
                          <a:effectLst/>
                        </a:rPr>
                        <a:t>=</a:t>
                      </a:r>
                      <a:r>
                        <a:rPr lang="zh-CN" sz="1800" kern="100">
                          <a:effectLst/>
                        </a:rPr>
                        <a:t>“否”，饮食</a:t>
                      </a:r>
                      <a:r>
                        <a:rPr lang="en-US" sz="1800" kern="100">
                          <a:effectLst/>
                        </a:rPr>
                        <a:t>=</a:t>
                      </a:r>
                      <a:r>
                        <a:rPr lang="zh-CN" sz="1800" kern="100">
                          <a:effectLst/>
                        </a:rPr>
                        <a:t>“健康”</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dirty="0">
                          <a:effectLst/>
                        </a:rPr>
                        <a:t>0.55</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dirty="0">
                          <a:effectLst/>
                        </a:rPr>
                        <a:t>0.45</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extLst>
                  <a:ext uri="{0D108BD9-81ED-4DB2-BD59-A6C34878D82A}">
                    <a16:rowId xmlns:a16="http://schemas.microsoft.com/office/drawing/2014/main" val="10003"/>
                  </a:ext>
                </a:extLst>
              </a:tr>
              <a:tr h="360000">
                <a:tc>
                  <a:txBody>
                    <a:bodyPr/>
                    <a:lstStyle/>
                    <a:p>
                      <a:pPr algn="just">
                        <a:spcAft>
                          <a:spcPts val="0"/>
                        </a:spcAft>
                      </a:pPr>
                      <a:r>
                        <a:rPr lang="zh-CN" sz="1800" kern="100">
                          <a:effectLst/>
                        </a:rPr>
                        <a:t>锻炼</a:t>
                      </a:r>
                      <a:r>
                        <a:rPr lang="en-US" sz="1800" kern="100">
                          <a:effectLst/>
                        </a:rPr>
                        <a:t>=</a:t>
                      </a:r>
                      <a:r>
                        <a:rPr lang="zh-CN" sz="1800" kern="100">
                          <a:effectLst/>
                        </a:rPr>
                        <a:t>“否”，饮食</a:t>
                      </a:r>
                      <a:r>
                        <a:rPr lang="en-US" sz="1800" kern="100">
                          <a:effectLst/>
                        </a:rPr>
                        <a:t>=</a:t>
                      </a:r>
                      <a:r>
                        <a:rPr lang="zh-CN" sz="1800" kern="100">
                          <a:effectLst/>
                        </a:rPr>
                        <a:t>“亚健康”</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a:effectLst/>
                        </a:rPr>
                        <a:t>0.7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tc>
                  <a:txBody>
                    <a:bodyPr/>
                    <a:lstStyle/>
                    <a:p>
                      <a:pPr algn="just">
                        <a:spcAft>
                          <a:spcPts val="0"/>
                        </a:spcAft>
                      </a:pPr>
                      <a:r>
                        <a:rPr lang="en-US" sz="1800" kern="100" dirty="0">
                          <a:effectLst/>
                        </a:rPr>
                        <a:t>0.3</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03050" y="652707"/>
            <a:ext cx="2861733" cy="461665"/>
          </a:xfrm>
          <a:prstGeom prst="rect">
            <a:avLst/>
          </a:prstGeom>
          <a:solidFill>
            <a:srgbClr val="009999"/>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疾病诊断</a:t>
            </a: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3"/>
          <p:cNvSpPr>
            <a:spLocks noChangeArrowheads="1"/>
          </p:cNvSpPr>
          <p:nvPr/>
        </p:nvSpPr>
        <p:spPr bwMode="auto">
          <a:xfrm>
            <a:off x="795867" y="1333962"/>
            <a:ext cx="10727267" cy="4007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对“腹胀”节点：</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对“恶心”节点：</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对“胃炎”节点：</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p:graphicFrame>
        <p:nvGraphicFramePr>
          <p:cNvPr id="4" name="表格 3"/>
          <p:cNvGraphicFramePr>
            <a:graphicFrameLocks noGrp="1"/>
          </p:cNvGraphicFramePr>
          <p:nvPr/>
        </p:nvGraphicFramePr>
        <p:xfrm>
          <a:off x="2440793" y="1879380"/>
          <a:ext cx="7018867" cy="640080"/>
        </p:xfrm>
        <a:graphic>
          <a:graphicData uri="http://schemas.openxmlformats.org/drawingml/2006/table">
            <a:tbl>
              <a:tblPr bandRow="1">
                <a:tableStyleId>{5C22544A-7EE6-4342-B048-85BDC9FD1C3A}</a:tableStyleId>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40187">
                  <a:extLst>
                    <a:ext uri="{9D8B030D-6E8A-4147-A177-3AD203B41FA5}">
                      <a16:colId xmlns:a16="http://schemas.microsoft.com/office/drawing/2014/main" val="20002"/>
                    </a:ext>
                  </a:extLst>
                </a:gridCol>
              </a:tblGrid>
              <a:tr h="213360">
                <a:tc>
                  <a:txBody>
                    <a:bodyPr/>
                    <a:lstStyle/>
                    <a:p>
                      <a:pPr algn="just">
                        <a:spcAft>
                          <a:spcPts val="0"/>
                        </a:spcAft>
                      </a:pPr>
                      <a:r>
                        <a:rPr lang="en-US" sz="1400" kern="100">
                          <a:effectLst/>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zh-CN" sz="1400" kern="100">
                          <a:effectLst/>
                        </a:rPr>
                        <a:t>“腹胀”</a:t>
                      </a:r>
                      <a:r>
                        <a:rPr lang="en-US" sz="1400" kern="100">
                          <a:effectLst/>
                        </a:rPr>
                        <a:t>=</a:t>
                      </a:r>
                      <a:r>
                        <a:rPr lang="zh-CN" sz="1400" kern="100">
                          <a:effectLst/>
                        </a:rPr>
                        <a:t>“是”</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zh-CN" sz="1400" kern="100">
                          <a:effectLst/>
                        </a:rPr>
                        <a:t>腹胀</a:t>
                      </a:r>
                      <a:r>
                        <a:rPr lang="en-US" sz="1400" kern="100">
                          <a:effectLst/>
                        </a:rPr>
                        <a:t>=</a:t>
                      </a:r>
                      <a:r>
                        <a:rPr lang="zh-CN" sz="1400" kern="100">
                          <a:effectLst/>
                        </a:rPr>
                        <a:t>“否”</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extLst>
                  <a:ext uri="{0D108BD9-81ED-4DB2-BD59-A6C34878D82A}">
                    <a16:rowId xmlns:a16="http://schemas.microsoft.com/office/drawing/2014/main" val="10000"/>
                  </a:ext>
                </a:extLst>
              </a:tr>
              <a:tr h="213360">
                <a:tc>
                  <a:txBody>
                    <a:bodyPr/>
                    <a:lstStyle/>
                    <a:p>
                      <a:pPr algn="just">
                        <a:spcAft>
                          <a:spcPts val="0"/>
                        </a:spcAft>
                      </a:pPr>
                      <a:r>
                        <a:rPr lang="zh-CN" sz="1400" kern="100">
                          <a:effectLst/>
                        </a:rPr>
                        <a:t>饮食</a:t>
                      </a:r>
                      <a:r>
                        <a:rPr lang="en-US" sz="1400" kern="100">
                          <a:effectLst/>
                        </a:rPr>
                        <a:t>=</a:t>
                      </a:r>
                      <a:r>
                        <a:rPr lang="zh-CN" sz="1400" kern="100">
                          <a:effectLst/>
                        </a:rPr>
                        <a:t>“健康”</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0.8</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extLst>
                  <a:ext uri="{0D108BD9-81ED-4DB2-BD59-A6C34878D82A}">
                    <a16:rowId xmlns:a16="http://schemas.microsoft.com/office/drawing/2014/main" val="10001"/>
                  </a:ext>
                </a:extLst>
              </a:tr>
              <a:tr h="213360">
                <a:tc>
                  <a:txBody>
                    <a:bodyPr/>
                    <a:lstStyle/>
                    <a:p>
                      <a:pPr algn="just">
                        <a:spcAft>
                          <a:spcPts val="0"/>
                        </a:spcAft>
                      </a:pPr>
                      <a:r>
                        <a:rPr lang="zh-CN" sz="1400" kern="100">
                          <a:effectLst/>
                        </a:rPr>
                        <a:t>饮食</a:t>
                      </a:r>
                      <a:r>
                        <a:rPr lang="en-US" sz="1400" kern="100">
                          <a:effectLst/>
                        </a:rPr>
                        <a:t>=</a:t>
                      </a:r>
                      <a:r>
                        <a:rPr lang="zh-CN" sz="1400" kern="100">
                          <a:effectLst/>
                        </a:rPr>
                        <a:t>“亚健康”</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dirty="0">
                          <a:effectLst/>
                        </a:rPr>
                        <a:t>0.4</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extLst>
                  <a:ext uri="{0D108BD9-81ED-4DB2-BD59-A6C34878D82A}">
                    <a16:rowId xmlns:a16="http://schemas.microsoft.com/office/drawing/2014/main" val="10002"/>
                  </a:ext>
                </a:extLst>
              </a:tr>
            </a:tbl>
          </a:graphicData>
        </a:graphic>
      </p:graphicFrame>
      <p:graphicFrame>
        <p:nvGraphicFramePr>
          <p:cNvPr id="5" name="表格 4"/>
          <p:cNvGraphicFramePr>
            <a:graphicFrameLocks noGrp="1"/>
          </p:cNvGraphicFramePr>
          <p:nvPr/>
        </p:nvGraphicFramePr>
        <p:xfrm>
          <a:off x="2440793" y="3200715"/>
          <a:ext cx="7018867" cy="640080"/>
        </p:xfrm>
        <a:graphic>
          <a:graphicData uri="http://schemas.openxmlformats.org/drawingml/2006/table">
            <a:tbl>
              <a:tblPr bandRow="1">
                <a:tableStyleId>{5C22544A-7EE6-4342-B048-85BDC9FD1C3A}</a:tableStyleId>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40187">
                  <a:extLst>
                    <a:ext uri="{9D8B030D-6E8A-4147-A177-3AD203B41FA5}">
                      <a16:colId xmlns:a16="http://schemas.microsoft.com/office/drawing/2014/main" val="20002"/>
                    </a:ext>
                  </a:extLst>
                </a:gridCol>
              </a:tblGrid>
              <a:tr h="213360">
                <a:tc>
                  <a:txBody>
                    <a:bodyPr/>
                    <a:lstStyle/>
                    <a:p>
                      <a:pPr algn="just">
                        <a:spcAft>
                          <a:spcPts val="0"/>
                        </a:spcAft>
                      </a:pPr>
                      <a:r>
                        <a:rPr lang="en-US" sz="1400" kern="100">
                          <a:effectLst/>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zh-CN" sz="1400" kern="100">
                          <a:effectLst/>
                        </a:rPr>
                        <a:t>恶心</a:t>
                      </a:r>
                      <a:r>
                        <a:rPr lang="en-US" sz="1400" kern="100">
                          <a:effectLst/>
                        </a:rPr>
                        <a:t>=</a:t>
                      </a:r>
                      <a:r>
                        <a:rPr lang="zh-CN" sz="1400" kern="100">
                          <a:effectLst/>
                        </a:rPr>
                        <a:t>“是”</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zh-CN" sz="1400" kern="100">
                          <a:effectLst/>
                        </a:rPr>
                        <a:t>恶心</a:t>
                      </a:r>
                      <a:r>
                        <a:rPr lang="en-US" sz="1400" kern="100">
                          <a:effectLst/>
                        </a:rPr>
                        <a:t>=</a:t>
                      </a:r>
                      <a:r>
                        <a:rPr lang="zh-CN" sz="1400" kern="100">
                          <a:effectLst/>
                        </a:rPr>
                        <a:t>“否”</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extLst>
                  <a:ext uri="{0D108BD9-81ED-4DB2-BD59-A6C34878D82A}">
                    <a16:rowId xmlns:a16="http://schemas.microsoft.com/office/drawing/2014/main" val="10000"/>
                  </a:ext>
                </a:extLst>
              </a:tr>
              <a:tr h="213360">
                <a:tc>
                  <a:txBody>
                    <a:bodyPr/>
                    <a:lstStyle/>
                    <a:p>
                      <a:pPr algn="just">
                        <a:spcAft>
                          <a:spcPts val="0"/>
                        </a:spcAft>
                      </a:pPr>
                      <a:r>
                        <a:rPr lang="zh-CN" sz="1400" kern="100">
                          <a:effectLst/>
                        </a:rPr>
                        <a:t>胃痛</a:t>
                      </a:r>
                      <a:r>
                        <a:rPr lang="en-US" sz="1400" kern="100">
                          <a:effectLst/>
                        </a:rPr>
                        <a:t>=</a:t>
                      </a:r>
                      <a:r>
                        <a:rPr lang="zh-CN" sz="1400" kern="100">
                          <a:effectLst/>
                        </a:rPr>
                        <a:t>“是”</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0.7</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0.3</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extLst>
                  <a:ext uri="{0D108BD9-81ED-4DB2-BD59-A6C34878D82A}">
                    <a16:rowId xmlns:a16="http://schemas.microsoft.com/office/drawing/2014/main" val="10001"/>
                  </a:ext>
                </a:extLst>
              </a:tr>
              <a:tr h="213360">
                <a:tc>
                  <a:txBody>
                    <a:bodyPr/>
                    <a:lstStyle/>
                    <a:p>
                      <a:pPr algn="just">
                        <a:spcAft>
                          <a:spcPts val="0"/>
                        </a:spcAft>
                      </a:pPr>
                      <a:r>
                        <a:rPr lang="zh-CN" sz="1400" kern="100">
                          <a:effectLst/>
                        </a:rPr>
                        <a:t>胃痛</a:t>
                      </a:r>
                      <a:r>
                        <a:rPr lang="en-US" sz="1400" kern="100">
                          <a:effectLst/>
                        </a:rPr>
                        <a:t>=</a:t>
                      </a:r>
                      <a:r>
                        <a:rPr lang="zh-CN" sz="1400" kern="100">
                          <a:effectLst/>
                        </a:rPr>
                        <a:t>“否”</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dirty="0">
                          <a:effectLst/>
                        </a:rPr>
                        <a:t>0.8</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extLst>
                  <a:ext uri="{0D108BD9-81ED-4DB2-BD59-A6C34878D82A}">
                    <a16:rowId xmlns:a16="http://schemas.microsoft.com/office/drawing/2014/main" val="10002"/>
                  </a:ext>
                </a:extLst>
              </a:tr>
            </a:tbl>
          </a:graphicData>
        </a:graphic>
      </p:graphicFrame>
      <p:graphicFrame>
        <p:nvGraphicFramePr>
          <p:cNvPr id="6" name="表格 5"/>
          <p:cNvGraphicFramePr>
            <a:graphicFrameLocks noGrp="1"/>
          </p:cNvGraphicFramePr>
          <p:nvPr>
            <p:custDataLst>
              <p:tags r:id="rId1"/>
            </p:custDataLst>
          </p:nvPr>
        </p:nvGraphicFramePr>
        <p:xfrm>
          <a:off x="2440793" y="4537387"/>
          <a:ext cx="7018867" cy="1066800"/>
        </p:xfrm>
        <a:graphic>
          <a:graphicData uri="http://schemas.openxmlformats.org/drawingml/2006/table">
            <a:tbl>
              <a:tblPr bandRow="1">
                <a:tableStyleId>{5C22544A-7EE6-4342-B048-85BDC9FD1C3A}</a:tableStyleId>
              </a:tblPr>
              <a:tblGrid>
                <a:gridCol w="2339340">
                  <a:extLst>
                    <a:ext uri="{9D8B030D-6E8A-4147-A177-3AD203B41FA5}">
                      <a16:colId xmlns:a16="http://schemas.microsoft.com/office/drawing/2014/main" val="20000"/>
                    </a:ext>
                  </a:extLst>
                </a:gridCol>
                <a:gridCol w="2339340">
                  <a:extLst>
                    <a:ext uri="{9D8B030D-6E8A-4147-A177-3AD203B41FA5}">
                      <a16:colId xmlns:a16="http://schemas.microsoft.com/office/drawing/2014/main" val="20001"/>
                    </a:ext>
                  </a:extLst>
                </a:gridCol>
                <a:gridCol w="2340187">
                  <a:extLst>
                    <a:ext uri="{9D8B030D-6E8A-4147-A177-3AD203B41FA5}">
                      <a16:colId xmlns:a16="http://schemas.microsoft.com/office/drawing/2014/main" val="20002"/>
                    </a:ext>
                  </a:extLst>
                </a:gridCol>
              </a:tblGrid>
              <a:tr h="213360">
                <a:tc>
                  <a:txBody>
                    <a:bodyPr/>
                    <a:lstStyle/>
                    <a:p>
                      <a:pPr algn="just">
                        <a:spcAft>
                          <a:spcPts val="0"/>
                        </a:spcAft>
                      </a:pPr>
                      <a:r>
                        <a:rPr lang="en-US" sz="1400" kern="100">
                          <a:effectLst/>
                        </a:rPr>
                        <a:t> </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zh-CN" sz="1400" kern="100">
                          <a:effectLst/>
                        </a:rPr>
                        <a:t>胃炎</a:t>
                      </a:r>
                      <a:r>
                        <a:rPr lang="en-US" sz="1400" kern="100">
                          <a:effectLst/>
                        </a:rPr>
                        <a:t>=</a:t>
                      </a:r>
                      <a:r>
                        <a:rPr lang="zh-CN" sz="1400" kern="100">
                          <a:effectLst/>
                        </a:rPr>
                        <a:t>“是”</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zh-CN" sz="1400" kern="100">
                          <a:effectLst/>
                        </a:rPr>
                        <a:t>胃炎</a:t>
                      </a:r>
                      <a:r>
                        <a:rPr lang="en-US" sz="1400" kern="100">
                          <a:effectLst/>
                        </a:rPr>
                        <a:t>=</a:t>
                      </a:r>
                      <a:r>
                        <a:rPr lang="zh-CN" sz="1400" kern="100">
                          <a:effectLst/>
                        </a:rPr>
                        <a:t>“否”</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extLst>
                  <a:ext uri="{0D108BD9-81ED-4DB2-BD59-A6C34878D82A}">
                    <a16:rowId xmlns:a16="http://schemas.microsoft.com/office/drawing/2014/main" val="10000"/>
                  </a:ext>
                </a:extLst>
              </a:tr>
              <a:tr h="213360">
                <a:tc>
                  <a:txBody>
                    <a:bodyPr/>
                    <a:lstStyle/>
                    <a:p>
                      <a:pPr algn="just">
                        <a:spcAft>
                          <a:spcPts val="0"/>
                        </a:spcAft>
                      </a:pPr>
                      <a:r>
                        <a:rPr lang="zh-CN" sz="1400" kern="100">
                          <a:effectLst/>
                        </a:rPr>
                        <a:t>胃痛</a:t>
                      </a:r>
                      <a:r>
                        <a:rPr lang="en-US" sz="1400" kern="100">
                          <a:effectLst/>
                        </a:rPr>
                        <a:t>=</a:t>
                      </a:r>
                      <a:r>
                        <a:rPr lang="zh-CN" sz="1400" kern="100">
                          <a:effectLst/>
                        </a:rPr>
                        <a:t>“是”，腹胀</a:t>
                      </a:r>
                      <a:r>
                        <a:rPr lang="en-US" sz="1400" kern="100">
                          <a:effectLst/>
                        </a:rPr>
                        <a:t>=</a:t>
                      </a:r>
                      <a:r>
                        <a:rPr lang="zh-CN" sz="1400" kern="100">
                          <a:effectLst/>
                        </a:rPr>
                        <a:t>“是”</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0.8</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0.2</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extLst>
                  <a:ext uri="{0D108BD9-81ED-4DB2-BD59-A6C34878D82A}">
                    <a16:rowId xmlns:a16="http://schemas.microsoft.com/office/drawing/2014/main" val="10001"/>
                  </a:ext>
                </a:extLst>
              </a:tr>
              <a:tr h="213360">
                <a:tc>
                  <a:txBody>
                    <a:bodyPr/>
                    <a:lstStyle/>
                    <a:p>
                      <a:pPr algn="just">
                        <a:spcAft>
                          <a:spcPts val="0"/>
                        </a:spcAft>
                      </a:pPr>
                      <a:r>
                        <a:rPr lang="zh-CN" sz="1400" kern="100">
                          <a:effectLst/>
                        </a:rPr>
                        <a:t>胃痛</a:t>
                      </a:r>
                      <a:r>
                        <a:rPr lang="en-US" sz="1400" kern="100">
                          <a:effectLst/>
                        </a:rPr>
                        <a:t>=</a:t>
                      </a:r>
                      <a:r>
                        <a:rPr lang="zh-CN" sz="1400" kern="100">
                          <a:effectLst/>
                        </a:rPr>
                        <a:t>“是”，腹胀</a:t>
                      </a:r>
                      <a:r>
                        <a:rPr lang="en-US" sz="1400" kern="100">
                          <a:effectLst/>
                        </a:rPr>
                        <a:t>=</a:t>
                      </a:r>
                      <a:r>
                        <a:rPr lang="zh-CN" sz="1400" kern="100">
                          <a:effectLst/>
                        </a:rPr>
                        <a:t>“否”</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extLst>
                  <a:ext uri="{0D108BD9-81ED-4DB2-BD59-A6C34878D82A}">
                    <a16:rowId xmlns:a16="http://schemas.microsoft.com/office/drawing/2014/main" val="10002"/>
                  </a:ext>
                </a:extLst>
              </a:tr>
              <a:tr h="213360">
                <a:tc>
                  <a:txBody>
                    <a:bodyPr/>
                    <a:lstStyle/>
                    <a:p>
                      <a:pPr algn="just">
                        <a:spcAft>
                          <a:spcPts val="0"/>
                        </a:spcAft>
                      </a:pPr>
                      <a:r>
                        <a:rPr lang="zh-CN" sz="1400" kern="100">
                          <a:effectLst/>
                        </a:rPr>
                        <a:t>胃痛</a:t>
                      </a:r>
                      <a:r>
                        <a:rPr lang="en-US" sz="1400" kern="100">
                          <a:effectLst/>
                        </a:rPr>
                        <a:t>=</a:t>
                      </a:r>
                      <a:r>
                        <a:rPr lang="zh-CN" sz="1400" kern="100">
                          <a:effectLst/>
                        </a:rPr>
                        <a:t>“否”，腹胀</a:t>
                      </a:r>
                      <a:r>
                        <a:rPr lang="en-US" sz="1400" kern="100">
                          <a:effectLst/>
                        </a:rPr>
                        <a:t>=</a:t>
                      </a:r>
                      <a:r>
                        <a:rPr lang="zh-CN" sz="1400" kern="100">
                          <a:effectLst/>
                        </a:rPr>
                        <a:t>“是”</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0.4</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0.6</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extLst>
                  <a:ext uri="{0D108BD9-81ED-4DB2-BD59-A6C34878D82A}">
                    <a16:rowId xmlns:a16="http://schemas.microsoft.com/office/drawing/2014/main" val="10003"/>
                  </a:ext>
                </a:extLst>
              </a:tr>
              <a:tr h="213360">
                <a:tc>
                  <a:txBody>
                    <a:bodyPr/>
                    <a:lstStyle/>
                    <a:p>
                      <a:pPr algn="just">
                        <a:spcAft>
                          <a:spcPts val="0"/>
                        </a:spcAft>
                      </a:pPr>
                      <a:r>
                        <a:rPr lang="zh-CN" sz="1400" kern="100">
                          <a:effectLst/>
                        </a:rPr>
                        <a:t>胃痛</a:t>
                      </a:r>
                      <a:r>
                        <a:rPr lang="en-US" sz="1400" kern="100">
                          <a:effectLst/>
                        </a:rPr>
                        <a:t>=</a:t>
                      </a:r>
                      <a:r>
                        <a:rPr lang="zh-CN" sz="1400" kern="100">
                          <a:effectLst/>
                        </a:rPr>
                        <a:t>“否”，腹胀</a:t>
                      </a:r>
                      <a:r>
                        <a:rPr lang="en-US" sz="1400" kern="100">
                          <a:effectLst/>
                        </a:rPr>
                        <a:t>=</a:t>
                      </a:r>
                      <a:r>
                        <a:rPr lang="zh-CN" sz="1400" kern="100">
                          <a:effectLst/>
                        </a:rPr>
                        <a:t>“否”</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a:effectLst/>
                        </a:rPr>
                        <a:t>0.1</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tc>
                  <a:txBody>
                    <a:bodyPr/>
                    <a:lstStyle/>
                    <a:p>
                      <a:pPr algn="just">
                        <a:spcAft>
                          <a:spcPts val="0"/>
                        </a:spcAft>
                      </a:pPr>
                      <a:r>
                        <a:rPr lang="en-US" sz="1400" kern="100" dirty="0">
                          <a:effectLst/>
                        </a:rPr>
                        <a:t>0.9</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03050" y="670753"/>
            <a:ext cx="2861733" cy="461665"/>
          </a:xfrm>
          <a:prstGeom prst="rect">
            <a:avLst/>
          </a:prstGeom>
          <a:solidFill>
            <a:srgbClr val="009999"/>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疾病诊断</a:t>
            </a: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795867" y="1333962"/>
                <a:ext cx="10727267" cy="407611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现在我们可以利用该贝叶斯网络对患者进行诊断，假设现在只基于给定的条件概率表中有节点进行判断，不考虑没有条件概率的节点。</a:t>
                </a:r>
                <a:endPar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现有患者</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，我们对其状况毫不知情，需要先判断其是否患有“胃痛”。该问题即转化为求</a:t>
                </a:r>
                <a14:m>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胃痛</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的概率。求解过程为：设</a:t>
                </a:r>
                <a14:m>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x</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是，否</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表示锻炼情况的两个取值，</a:t>
                </a:r>
                <a14:m>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y</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健康，亚健康</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表示饮食情况的两个取值，于是有</a:t>
                </a:r>
                <a14:m>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胃痛</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e>
                    </m:d>
                  </m:oMath>
                </a14:m>
                <a:endParaRPr kumimoji="1"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14:m>
                  <m:oMath xmlns:m="http://schemas.openxmlformats.org/officeDocument/2006/math">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nary>
                      <m:naryPr>
                        <m:chr m:val="∑"/>
                        <m:limLoc m:val="undOvr"/>
                        <m:supHide m:val="on"/>
                        <m:ctrlPr>
                          <a:rPr kumimoji="1"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𝑥</m:t>
                        </m:r>
                      </m:sub>
                      <m:sup/>
                      <m:e>
                        <m:nary>
                          <m:naryPr>
                            <m:chr m:val="∑"/>
                            <m:limLoc m:val="undOvr"/>
                            <m:supHide m:val="on"/>
                            <m:ctrlPr>
                              <a:rPr kumimoji="1"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𝑦</m:t>
                            </m:r>
                          </m:sub>
                          <m:sup/>
                          <m:e>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1" lang="zh-CN"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胃痛</m:t>
                                </m:r>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e>
                              <m:e>
                                <m:r>
                                  <a:rPr kumimoji="1" lang="zh-CN"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锻炼</m:t>
                                </m:r>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1" lang="zh-CN"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，饮食</m:t>
                                </m:r>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𝑦</m:t>
                                </m:r>
                              </m:e>
                            </m:d>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18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1" lang="zh-CN"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锻炼</m:t>
                                </m:r>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𝑥</m:t>
                                </m:r>
                                <m:r>
                                  <a:rPr kumimoji="1" lang="zh-CN"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，饮食</m:t>
                                </m:r>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𝑦</m:t>
                                </m:r>
                              </m:e>
                            </m:d>
                            <m:r>
                              <a:rPr kumimoji="1" lang="en-US" altLang="zh-CN" sz="1800" b="0" i="0" u="none" strike="noStrike" kern="1200" cap="none" spc="0" normalizeH="0" baseline="0" noProof="0">
                                <a:ln>
                                  <a:noFill/>
                                </a:ln>
                                <a:solidFill>
                                  <a:srgbClr val="000000"/>
                                </a:solidFill>
                                <a:effectLst/>
                                <a:uLnTx/>
                                <a:uFillTx/>
                                <a:latin typeface="Cambria Math" panose="02040503050406030204" pitchFamily="18" charset="0"/>
                                <a:cs typeface="+mn-cs"/>
                              </a:rPr>
                              <m:t> </m:t>
                            </m:r>
                          </m:e>
                        </m:nary>
                      </m:e>
                    </m:nary>
                  </m:oMath>
                </a14:m>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14:m>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=0.5×0.4×0.2+0.5×0.6×0.45+0.5×0.4×0.55+0.5×0.6×0.7</m:t>
                    </m:r>
                  </m:oMath>
                </a14:m>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14:m>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=0.495</m:t>
                    </m:r>
                  </m:oMath>
                </a14:m>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just"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所以在没有先验信息情况下患者有“胃痛”病症的可能性为</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49.5%</a:t>
                </a: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a:t>
                </a:r>
              </a:p>
            </p:txBody>
          </p:sp>
        </mc:Choice>
        <mc:Fallback xmlns="">
          <p:sp>
            <p:nvSpPr>
              <p:cNvPr id="12" name="矩形 3"/>
              <p:cNvSpPr>
                <a:spLocks noRot="1" noChangeAspect="1" noMove="1" noResize="1" noEditPoints="1" noAdjustHandles="1" noChangeArrowheads="1" noChangeShapeType="1" noTextEdit="1"/>
              </p:cNvSpPr>
              <p:nvPr/>
            </p:nvSpPr>
            <p:spPr bwMode="auto">
              <a:xfrm>
                <a:off x="795867" y="1333962"/>
                <a:ext cx="10727267" cy="4076116"/>
              </a:xfrm>
              <a:prstGeom prst="rect">
                <a:avLst/>
              </a:prstGeom>
              <a:blipFill rotWithShape="1">
                <a:blip r:embed="rId2"/>
                <a:stretch>
                  <a:fillRect l="-2" t="-11" r="4" b="1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03050" y="670753"/>
            <a:ext cx="2861733" cy="461665"/>
          </a:xfrm>
          <a:prstGeom prst="rect">
            <a:avLst/>
          </a:prstGeom>
          <a:solidFill>
            <a:srgbClr val="009999"/>
          </a:solidFill>
          <a:ln>
            <a:noFill/>
          </a:ln>
        </p:spPr>
        <p:txBody>
          <a:bodyPr wrap="square">
            <a:sp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zh-CN"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疾病诊断</a:t>
            </a:r>
            <a:endParaRPr kumimoji="0" lang="zh-CN" altLang="en-US" sz="24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32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mc:AlternateContent xmlns:mc="http://schemas.openxmlformats.org/markup-compatibility/2006" xmlns:a14="http://schemas.microsoft.com/office/drawing/2010/main">
        <mc:Choice Requires="a14">
          <p:sp>
            <p:nvSpPr>
              <p:cNvPr id="12" name="矩形 3"/>
              <p:cNvSpPr>
                <a:spLocks noChangeArrowheads="1"/>
              </p:cNvSpPr>
              <p:nvPr/>
            </p:nvSpPr>
            <p:spPr bwMode="auto">
              <a:xfrm>
                <a:off x="795867" y="1333962"/>
                <a:ext cx="10727267" cy="516474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假设病人告诉我们他有“恶心”的症状，我们判断其是否患有“胃痛”，问题转化为求</a:t>
                </a:r>
                <a14:m>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胃痛</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恶心</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的概率。根据贝叶斯概率公式，有</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胃痛</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e>
                        <m:e>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恶心</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胃痛</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恶心</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胃痛</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num>
                        <m:den>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恶心</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den>
                      </m:f>
                    </m:oMath>
                  </m:oMathPara>
                </a14:m>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于是需要计算</a:t>
                </a:r>
                <a14:m>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恶心</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，设</a:t>
                </a:r>
                <a14:m>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x</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是，否</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表示胃痛情况的两个取值，根据全概率公式，有</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14:m>
                  <m:oMathPara xmlns:m="http://schemas.openxmlformats.org/officeDocument/2006/math">
                    <m:oMathParaPr>
                      <m:jc m:val="centerGroup"/>
                    </m:oMathParaPr>
                    <m:oMath xmlns:m="http://schemas.openxmlformats.org/officeDocument/2006/math">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恶心</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nary>
                        <m:naryPr>
                          <m:chr m:val="∑"/>
                          <m:limLoc m:val="undOvr"/>
                          <m:supHide m:val="on"/>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naryPr>
                        <m:sub>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𝑥</m:t>
                          </m:r>
                        </m:sub>
                        <m:sup/>
                        <m:e>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恶心</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e>
                            <m:e>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胃痛</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𝑥</m:t>
                              </m:r>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𝑝</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胃痛</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𝑥</m:t>
                              </m:r>
                            </m:e>
                          </m:d>
                        </m:e>
                      </m:nary>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=0.7×0.495+0.2×0.505=0.4475</m:t>
                      </m:r>
                    </m:oMath>
                  </m:oMathPara>
                </a14:m>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将值带入上文公式中即有：</a:t>
                </a:r>
              </a:p>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14:m>
                  <m:oMath xmlns:m="http://schemas.openxmlformats.org/officeDocument/2006/math">
                    <m:r>
                      <m:rPr>
                        <m:sty m:val="p"/>
                      </m:rP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p</m:t>
                    </m:r>
                    <m:d>
                      <m:d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dPr>
                      <m:e>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胃痛</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e>
                      <m:e>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恶心</m:t>
                        </m:r>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是</m:t>
                        </m:r>
                        <m:r>
                          <a:rPr kumimoji="1" lang="zh-CN"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e>
                    </m:d>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m:t>
                    </m:r>
                    <m:f>
                      <m:fPr>
                        <m:ctrlPr>
                          <a:rPr kumimoji="1" lang="zh-CN" altLang="zh-CN" sz="2400" b="0" i="1" u="none" strike="noStrike" kern="1200" cap="none" spc="0" normalizeH="0" baseline="0" noProof="0">
                            <a:ln>
                              <a:noFill/>
                            </a:ln>
                            <a:solidFill>
                              <a:srgbClr val="000000"/>
                            </a:solidFill>
                            <a:effectLst/>
                            <a:uLnTx/>
                            <a:uFillTx/>
                            <a:latin typeface="Cambria Math" panose="02040503050406030204" pitchFamily="18" charset="0"/>
                            <a:cs typeface="+mn-cs"/>
                          </a:rPr>
                        </m:ctrlPr>
                      </m:fPr>
                      <m:num>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0.7×0.495</m:t>
                        </m:r>
                      </m:num>
                      <m:den>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0.4475</m:t>
                        </m:r>
                      </m:den>
                    </m:f>
                    <m:r>
                      <a:rPr kumimoji="1" lang="en-US" altLang="zh-CN" sz="2400" b="0" i="0" u="none" strike="noStrike" kern="1200" cap="none" spc="0" normalizeH="0" baseline="0" noProof="0">
                        <a:ln>
                          <a:noFill/>
                        </a:ln>
                        <a:solidFill>
                          <a:srgbClr val="000000"/>
                        </a:solidFill>
                        <a:effectLst/>
                        <a:uLnTx/>
                        <a:uFillTx/>
                        <a:latin typeface="Cambria Math" panose="02040503050406030204" pitchFamily="18" charset="0"/>
                        <a:cs typeface="+mn-cs"/>
                      </a:rPr>
                      <m:t>=0.7743</m:t>
                    </m:r>
                  </m:oMath>
                </a14:m>
                <a:r>
                  <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所以在已知患者有“恶心”症状的情况下，患者有“胃痛”病症的可能性为</a:t>
                </a:r>
                <a:r>
                  <a:rPr kumimoji="1" lang="en-US"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rPr>
                  <a:t>77.43%</a:t>
                </a:r>
                <a:endParaRPr kumimoji="1" lang="zh-CN" altLang="zh-CN" sz="2400" b="0"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mn-cs"/>
                </a:endParaRPr>
              </a:p>
            </p:txBody>
          </p:sp>
        </mc:Choice>
        <mc:Fallback xmlns="">
          <p:sp>
            <p:nvSpPr>
              <p:cNvPr id="12" name="矩形 3"/>
              <p:cNvSpPr>
                <a:spLocks noRot="1" noChangeAspect="1" noMove="1" noResize="1" noEditPoints="1" noAdjustHandles="1" noChangeArrowheads="1" noChangeShapeType="1" noTextEdit="1"/>
              </p:cNvSpPr>
              <p:nvPr/>
            </p:nvSpPr>
            <p:spPr bwMode="auto">
              <a:xfrm>
                <a:off x="795867" y="1333962"/>
                <a:ext cx="10727267" cy="5164747"/>
              </a:xfrm>
              <a:prstGeom prst="rect">
                <a:avLst/>
              </a:prstGeom>
              <a:blipFill rotWithShape="1">
                <a:blip r:embed="rId2"/>
                <a:stretch>
                  <a:fillRect l="-2" t="-9" r="4" b="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对</a:t>
            </a:r>
            <a:r>
              <a:rPr lang="en-US" altLang="zh-CN" dirty="0"/>
              <a:t>iris</a:t>
            </a:r>
            <a:r>
              <a:rPr lang="zh-CN" altLang="en-US" dirty="0"/>
              <a:t>数据集的训练效果</a:t>
            </a: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 y="1214845"/>
            <a:ext cx="6067425" cy="454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271994"/>
            <a:ext cx="5915025" cy="442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03050" y="661515"/>
            <a:ext cx="2861733" cy="523220"/>
          </a:xfrm>
          <a:prstGeom prst="rect">
            <a:avLst/>
          </a:prstGeom>
          <a:solidFill>
            <a:srgbClr val="009999"/>
          </a:solidFill>
          <a:ln>
            <a:noFill/>
          </a:ln>
        </p:spPr>
        <p:txBody>
          <a:bodyPr wrap="square">
            <a:spAutoFit/>
          </a:bodyPr>
          <a:lstStyle/>
          <a:p>
            <a:pPr algn="ctr">
              <a:spcBef>
                <a:spcPct val="0"/>
              </a:spcBef>
            </a:pPr>
            <a:r>
              <a:rPr lang="zh-CN" altLang="en-US" sz="2800" b="1" dirty="0">
                <a:solidFill>
                  <a:schemeClr val="bg1"/>
                </a:solidFill>
                <a:latin typeface="仿宋" panose="02010609060101010101" charset="-122"/>
                <a:ea typeface="仿宋" panose="02010609060101010101" charset="-122"/>
              </a:rPr>
              <a:t>手写字体分类</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pic>
        <p:nvPicPr>
          <p:cNvPr id="13" name="图片 12"/>
          <p:cNvPicPr>
            <a:picLocks noChangeAspect="1"/>
          </p:cNvPicPr>
          <p:nvPr/>
        </p:nvPicPr>
        <p:blipFill>
          <a:blip r:embed="rId2"/>
          <a:stretch>
            <a:fillRect/>
          </a:stretch>
        </p:blipFill>
        <p:spPr>
          <a:xfrm>
            <a:off x="923146" y="1549608"/>
            <a:ext cx="10765334" cy="779506"/>
          </a:xfrm>
          <a:prstGeom prst="rect">
            <a:avLst/>
          </a:prstGeom>
        </p:spPr>
      </p:pic>
      <p:graphicFrame>
        <p:nvGraphicFramePr>
          <p:cNvPr id="15" name="对象 14"/>
          <p:cNvGraphicFramePr>
            <a:graphicFrameLocks noChangeAspect="1"/>
          </p:cNvGraphicFramePr>
          <p:nvPr/>
        </p:nvGraphicFramePr>
        <p:xfrm>
          <a:off x="903050" y="2612835"/>
          <a:ext cx="8206919" cy="768317"/>
        </p:xfrm>
        <a:graphic>
          <a:graphicData uri="http://schemas.openxmlformats.org/presentationml/2006/ole">
            <mc:AlternateContent xmlns:mc="http://schemas.openxmlformats.org/markup-compatibility/2006">
              <mc:Choice xmlns:v="urn:schemas-microsoft-com:vml" Requires="v">
                <p:oleObj name="AxMath" r:id="rId3" imgW="1143000" imgH="1143000" progId="Equation.AxMath">
                  <p:embed/>
                </p:oleObj>
              </mc:Choice>
              <mc:Fallback>
                <p:oleObj name="AxMath" r:id="rId3" imgW="1143000" imgH="1143000" progId="Equation.AxMath">
                  <p:embed/>
                  <p:pic>
                    <p:nvPicPr>
                      <p:cNvPr id="0" name="图片 5389"/>
                      <p:cNvPicPr/>
                      <p:nvPr/>
                    </p:nvPicPr>
                    <p:blipFill>
                      <a:blip r:embed="rId4"/>
                      <a:stretch>
                        <a:fillRect/>
                      </a:stretch>
                    </p:blipFill>
                    <p:spPr>
                      <a:xfrm>
                        <a:off x="903050" y="2612835"/>
                        <a:ext cx="8206919" cy="768317"/>
                      </a:xfrm>
                      <a:prstGeom prst="rect">
                        <a:avLst/>
                      </a:prstGeom>
                    </p:spPr>
                  </p:pic>
                </p:oleObj>
              </mc:Fallback>
            </mc:AlternateContent>
          </a:graphicData>
        </a:graphic>
      </p:graphicFrame>
      <p:pic>
        <p:nvPicPr>
          <p:cNvPr id="16" name="图片 15"/>
          <p:cNvPicPr>
            <a:picLocks noChangeAspect="1"/>
          </p:cNvPicPr>
          <p:nvPr/>
        </p:nvPicPr>
        <p:blipFill>
          <a:blip r:embed="rId5"/>
          <a:stretch>
            <a:fillRect/>
          </a:stretch>
        </p:blipFill>
        <p:spPr>
          <a:xfrm>
            <a:off x="903050" y="3455769"/>
            <a:ext cx="10996208" cy="398110"/>
          </a:xfrm>
          <a:prstGeom prst="rect">
            <a:avLst/>
          </a:prstGeom>
        </p:spPr>
      </p:pic>
      <p:graphicFrame>
        <p:nvGraphicFramePr>
          <p:cNvPr id="17" name="对象 16"/>
          <p:cNvGraphicFramePr>
            <a:graphicFrameLocks noChangeAspect="1"/>
          </p:cNvGraphicFramePr>
          <p:nvPr/>
        </p:nvGraphicFramePr>
        <p:xfrm>
          <a:off x="903050" y="4205360"/>
          <a:ext cx="3900526" cy="584795"/>
        </p:xfrm>
        <a:graphic>
          <a:graphicData uri="http://schemas.openxmlformats.org/presentationml/2006/ole">
            <mc:AlternateContent xmlns:mc="http://schemas.openxmlformats.org/markup-compatibility/2006">
              <mc:Choice xmlns:v="urn:schemas-microsoft-com:vml" Requires="v">
                <p:oleObj name="AxMath" r:id="rId6" imgW="1143000" imgH="1143000" progId="Equation.AxMath">
                  <p:embed/>
                </p:oleObj>
              </mc:Choice>
              <mc:Fallback>
                <p:oleObj name="AxMath" r:id="rId6" imgW="1143000" imgH="1143000" progId="Equation.AxMath">
                  <p:embed/>
                  <p:pic>
                    <p:nvPicPr>
                      <p:cNvPr id="0" name="图片 5390"/>
                      <p:cNvPicPr/>
                      <p:nvPr/>
                    </p:nvPicPr>
                    <p:blipFill>
                      <a:blip r:embed="rId7"/>
                      <a:stretch>
                        <a:fillRect/>
                      </a:stretch>
                    </p:blipFill>
                    <p:spPr>
                      <a:xfrm>
                        <a:off x="903050" y="4205360"/>
                        <a:ext cx="3900526" cy="584795"/>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903050" y="4970485"/>
          <a:ext cx="1773240" cy="328209"/>
        </p:xfrm>
        <a:graphic>
          <a:graphicData uri="http://schemas.openxmlformats.org/presentationml/2006/ole">
            <mc:AlternateContent xmlns:mc="http://schemas.openxmlformats.org/markup-compatibility/2006">
              <mc:Choice xmlns:v="urn:schemas-microsoft-com:vml" Requires="v">
                <p:oleObj name="AxMath" r:id="rId8" imgW="1143000" imgH="1143000" progId="Equation.AxMath">
                  <p:embed/>
                </p:oleObj>
              </mc:Choice>
              <mc:Fallback>
                <p:oleObj name="AxMath" r:id="rId8" imgW="1143000" imgH="1143000" progId="Equation.AxMath">
                  <p:embed/>
                  <p:pic>
                    <p:nvPicPr>
                      <p:cNvPr id="0" name="图片 5391"/>
                      <p:cNvPicPr/>
                      <p:nvPr/>
                    </p:nvPicPr>
                    <p:blipFill>
                      <a:blip r:embed="rId9"/>
                      <a:stretch>
                        <a:fillRect/>
                      </a:stretch>
                    </p:blipFill>
                    <p:spPr>
                      <a:xfrm>
                        <a:off x="903050" y="4970485"/>
                        <a:ext cx="1773240" cy="328209"/>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981075" y="5487988"/>
          <a:ext cx="4265613" cy="738187"/>
        </p:xfrm>
        <a:graphic>
          <a:graphicData uri="http://schemas.openxmlformats.org/presentationml/2006/ole">
            <mc:AlternateContent xmlns:mc="http://schemas.openxmlformats.org/markup-compatibility/2006">
              <mc:Choice xmlns:v="urn:schemas-microsoft-com:vml" Requires="v">
                <p:oleObj name="AxMath" r:id="rId10" imgW="1143000" imgH="1143000" progId="Equation.AxMath">
                  <p:embed/>
                </p:oleObj>
              </mc:Choice>
              <mc:Fallback>
                <p:oleObj name="AxMath" r:id="rId10" imgW="1143000" imgH="1143000" progId="Equation.AxMath">
                  <p:embed/>
                  <p:pic>
                    <p:nvPicPr>
                      <p:cNvPr id="0" name="图片 5392"/>
                      <p:cNvPicPr/>
                      <p:nvPr/>
                    </p:nvPicPr>
                    <p:blipFill>
                      <a:blip r:embed="rId11"/>
                      <a:stretch>
                        <a:fillRect/>
                      </a:stretch>
                    </p:blipFill>
                    <p:spPr>
                      <a:xfrm>
                        <a:off x="981075" y="5487988"/>
                        <a:ext cx="4265613" cy="738187"/>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03050" y="661515"/>
            <a:ext cx="2861733" cy="523220"/>
          </a:xfrm>
          <a:prstGeom prst="rect">
            <a:avLst/>
          </a:prstGeom>
          <a:solidFill>
            <a:srgbClr val="009999"/>
          </a:solidFill>
          <a:ln>
            <a:noFill/>
          </a:ln>
        </p:spPr>
        <p:txBody>
          <a:bodyPr wrap="square">
            <a:spAutoFit/>
          </a:bodyPr>
          <a:lstStyle/>
          <a:p>
            <a:pPr algn="ctr">
              <a:spcBef>
                <a:spcPct val="0"/>
              </a:spcBef>
            </a:pPr>
            <a:r>
              <a:rPr lang="zh-CN" altLang="en-US" sz="2800" b="1" dirty="0">
                <a:solidFill>
                  <a:schemeClr val="bg1"/>
                </a:solidFill>
                <a:latin typeface="仿宋" panose="02010609060101010101" charset="-122"/>
                <a:ea typeface="仿宋" panose="02010609060101010101" charset="-122"/>
              </a:rPr>
              <a:t>手写字体分类</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995416" y="1739419"/>
            <a:ext cx="11678593" cy="422816"/>
          </a:xfrm>
          <a:prstGeom prst="rect">
            <a:avLst/>
          </a:prstGeom>
        </p:spPr>
      </p:pic>
      <p:graphicFrame>
        <p:nvGraphicFramePr>
          <p:cNvPr id="5" name="对象 4"/>
          <p:cNvGraphicFramePr>
            <a:graphicFrameLocks noChangeAspect="1"/>
          </p:cNvGraphicFramePr>
          <p:nvPr/>
        </p:nvGraphicFramePr>
        <p:xfrm>
          <a:off x="1028699" y="2446337"/>
          <a:ext cx="4772237" cy="637105"/>
        </p:xfrm>
        <a:graphic>
          <a:graphicData uri="http://schemas.openxmlformats.org/presentationml/2006/ole">
            <mc:AlternateContent xmlns:mc="http://schemas.openxmlformats.org/markup-compatibility/2006">
              <mc:Choice xmlns:v="urn:schemas-microsoft-com:vml" Requires="v">
                <p:oleObj name="AxMath" r:id="rId3" imgW="1143000" imgH="1143000" progId="Equation.AxMath">
                  <p:embed/>
                </p:oleObj>
              </mc:Choice>
              <mc:Fallback>
                <p:oleObj name="AxMath" r:id="rId3" imgW="1143000" imgH="1143000" progId="Equation.AxMath">
                  <p:embed/>
                  <p:pic>
                    <p:nvPicPr>
                      <p:cNvPr id="0" name="图片 6346"/>
                      <p:cNvPicPr/>
                      <p:nvPr/>
                    </p:nvPicPr>
                    <p:blipFill>
                      <a:blip r:embed="rId4"/>
                      <a:stretch>
                        <a:fillRect/>
                      </a:stretch>
                    </p:blipFill>
                    <p:spPr>
                      <a:xfrm>
                        <a:off x="1028699" y="2446337"/>
                        <a:ext cx="4772237" cy="637105"/>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1028699" y="3456499"/>
          <a:ext cx="3700145" cy="679565"/>
        </p:xfrm>
        <a:graphic>
          <a:graphicData uri="http://schemas.openxmlformats.org/presentationml/2006/ole">
            <mc:AlternateContent xmlns:mc="http://schemas.openxmlformats.org/markup-compatibility/2006">
              <mc:Choice xmlns:v="urn:schemas-microsoft-com:vml" Requires="v">
                <p:oleObj name="AxMath" r:id="rId5" imgW="1143000" imgH="1143000" progId="Equation.AxMath">
                  <p:embed/>
                </p:oleObj>
              </mc:Choice>
              <mc:Fallback>
                <p:oleObj name="AxMath" r:id="rId5" imgW="1143000" imgH="1143000" progId="Equation.AxMath">
                  <p:embed/>
                  <p:pic>
                    <p:nvPicPr>
                      <p:cNvPr id="0" name="图片 6347"/>
                      <p:cNvPicPr/>
                      <p:nvPr/>
                    </p:nvPicPr>
                    <p:blipFill>
                      <a:blip r:embed="rId6"/>
                      <a:stretch>
                        <a:fillRect/>
                      </a:stretch>
                    </p:blipFill>
                    <p:spPr>
                      <a:xfrm>
                        <a:off x="1028699" y="3456499"/>
                        <a:ext cx="3700145" cy="67956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995416" y="4636646"/>
          <a:ext cx="6827358" cy="679634"/>
        </p:xfrm>
        <a:graphic>
          <a:graphicData uri="http://schemas.openxmlformats.org/presentationml/2006/ole">
            <mc:AlternateContent xmlns:mc="http://schemas.openxmlformats.org/markup-compatibility/2006">
              <mc:Choice xmlns:v="urn:schemas-microsoft-com:vml" Requires="v">
                <p:oleObj name="AxMath" r:id="rId7" imgW="1143000" imgH="1143000" progId="Equation.AxMath">
                  <p:embed/>
                </p:oleObj>
              </mc:Choice>
              <mc:Fallback>
                <p:oleObj name="AxMath" r:id="rId7" imgW="1143000" imgH="1143000" progId="Equation.AxMath">
                  <p:embed/>
                  <p:pic>
                    <p:nvPicPr>
                      <p:cNvPr id="0" name="图片 6348"/>
                      <p:cNvPicPr/>
                      <p:nvPr/>
                    </p:nvPicPr>
                    <p:blipFill>
                      <a:blip r:embed="rId8"/>
                      <a:stretch>
                        <a:fillRect/>
                      </a:stretch>
                    </p:blipFill>
                    <p:spPr>
                      <a:xfrm>
                        <a:off x="995416" y="4636646"/>
                        <a:ext cx="6827358" cy="679634"/>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03050" y="661515"/>
            <a:ext cx="2861733" cy="523220"/>
          </a:xfrm>
          <a:prstGeom prst="rect">
            <a:avLst/>
          </a:prstGeom>
          <a:solidFill>
            <a:srgbClr val="009999"/>
          </a:solidFill>
          <a:ln>
            <a:noFill/>
          </a:ln>
        </p:spPr>
        <p:txBody>
          <a:bodyPr wrap="square">
            <a:spAutoFit/>
          </a:bodyPr>
          <a:lstStyle/>
          <a:p>
            <a:pPr algn="ctr">
              <a:spcBef>
                <a:spcPct val="0"/>
              </a:spcBef>
            </a:pPr>
            <a:r>
              <a:rPr lang="zh-CN" altLang="en-US" sz="2800" b="1" dirty="0">
                <a:solidFill>
                  <a:schemeClr val="bg1"/>
                </a:solidFill>
                <a:latin typeface="仿宋" panose="02010609060101010101" charset="-122"/>
                <a:ea typeface="仿宋" panose="02010609060101010101" charset="-122"/>
              </a:rPr>
              <a:t>手写字体分类</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903051" y="1558663"/>
            <a:ext cx="11215262" cy="489291"/>
          </a:xfrm>
          <a:prstGeom prst="rect">
            <a:avLst/>
          </a:prstGeom>
        </p:spPr>
      </p:pic>
      <p:graphicFrame>
        <p:nvGraphicFramePr>
          <p:cNvPr id="3" name="对象 2"/>
          <p:cNvGraphicFramePr>
            <a:graphicFrameLocks noChangeAspect="1"/>
          </p:cNvGraphicFramePr>
          <p:nvPr/>
        </p:nvGraphicFramePr>
        <p:xfrm>
          <a:off x="810685" y="2270750"/>
          <a:ext cx="8030304" cy="493715"/>
        </p:xfrm>
        <a:graphic>
          <a:graphicData uri="http://schemas.openxmlformats.org/presentationml/2006/ole">
            <mc:AlternateContent xmlns:mc="http://schemas.openxmlformats.org/markup-compatibility/2006">
              <mc:Choice xmlns:v="urn:schemas-microsoft-com:vml" Requires="v">
                <p:oleObj name="AxMath" r:id="rId3" imgW="1143000" imgH="1143000" progId="Equation.AxMath">
                  <p:embed/>
                </p:oleObj>
              </mc:Choice>
              <mc:Fallback>
                <p:oleObj name="AxMath" r:id="rId3" imgW="1143000" imgH="1143000" progId="Equation.AxMath">
                  <p:embed/>
                  <p:pic>
                    <p:nvPicPr>
                      <p:cNvPr id="0" name="图片 7437"/>
                      <p:cNvPicPr/>
                      <p:nvPr/>
                    </p:nvPicPr>
                    <p:blipFill>
                      <a:blip r:embed="rId4"/>
                      <a:stretch>
                        <a:fillRect/>
                      </a:stretch>
                    </p:blipFill>
                    <p:spPr>
                      <a:xfrm>
                        <a:off x="810685" y="2270750"/>
                        <a:ext cx="8030304" cy="493715"/>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810685" y="2915416"/>
          <a:ext cx="5092579" cy="489789"/>
        </p:xfrm>
        <a:graphic>
          <a:graphicData uri="http://schemas.openxmlformats.org/presentationml/2006/ole">
            <mc:AlternateContent xmlns:mc="http://schemas.openxmlformats.org/markup-compatibility/2006">
              <mc:Choice xmlns:v="urn:schemas-microsoft-com:vml" Requires="v">
                <p:oleObj name="AxMath" r:id="rId5" imgW="1143000" imgH="1143000" progId="Equation.AxMath">
                  <p:embed/>
                </p:oleObj>
              </mc:Choice>
              <mc:Fallback>
                <p:oleObj name="AxMath" r:id="rId5" imgW="1143000" imgH="1143000" progId="Equation.AxMath">
                  <p:embed/>
                  <p:pic>
                    <p:nvPicPr>
                      <p:cNvPr id="0" name="图片 7438"/>
                      <p:cNvPicPr/>
                      <p:nvPr/>
                    </p:nvPicPr>
                    <p:blipFill>
                      <a:blip r:embed="rId6"/>
                      <a:stretch>
                        <a:fillRect/>
                      </a:stretch>
                    </p:blipFill>
                    <p:spPr>
                      <a:xfrm>
                        <a:off x="810685" y="2915416"/>
                        <a:ext cx="5092579" cy="489789"/>
                      </a:xfrm>
                      <a:prstGeom prst="rect">
                        <a:avLst/>
                      </a:prstGeom>
                    </p:spPr>
                  </p:pic>
                </p:oleObj>
              </mc:Fallback>
            </mc:AlternateContent>
          </a:graphicData>
        </a:graphic>
      </p:graphicFrame>
      <p:pic>
        <p:nvPicPr>
          <p:cNvPr id="10" name="图片 9"/>
          <p:cNvPicPr>
            <a:picLocks noChangeAspect="1"/>
          </p:cNvPicPr>
          <p:nvPr/>
        </p:nvPicPr>
        <p:blipFill>
          <a:blip r:embed="rId7"/>
          <a:stretch>
            <a:fillRect/>
          </a:stretch>
        </p:blipFill>
        <p:spPr>
          <a:xfrm>
            <a:off x="810685" y="3556156"/>
            <a:ext cx="12358656" cy="447437"/>
          </a:xfrm>
          <a:prstGeom prst="rect">
            <a:avLst/>
          </a:prstGeom>
        </p:spPr>
      </p:pic>
      <p:graphicFrame>
        <p:nvGraphicFramePr>
          <p:cNvPr id="12" name="对象 11"/>
          <p:cNvGraphicFramePr>
            <a:graphicFrameLocks noChangeAspect="1"/>
          </p:cNvGraphicFramePr>
          <p:nvPr/>
        </p:nvGraphicFramePr>
        <p:xfrm>
          <a:off x="810685" y="4259428"/>
          <a:ext cx="7999368" cy="527208"/>
        </p:xfrm>
        <a:graphic>
          <a:graphicData uri="http://schemas.openxmlformats.org/presentationml/2006/ole">
            <mc:AlternateContent xmlns:mc="http://schemas.openxmlformats.org/markup-compatibility/2006">
              <mc:Choice xmlns:v="urn:schemas-microsoft-com:vml" Requires="v">
                <p:oleObj name="AxMath" r:id="rId8" imgW="1143000" imgH="1143000" progId="Equation.AxMath">
                  <p:embed/>
                </p:oleObj>
              </mc:Choice>
              <mc:Fallback>
                <p:oleObj name="AxMath" r:id="rId8" imgW="1143000" imgH="1143000" progId="Equation.AxMath">
                  <p:embed/>
                  <p:pic>
                    <p:nvPicPr>
                      <p:cNvPr id="0" name="图片 7439"/>
                      <p:cNvPicPr/>
                      <p:nvPr/>
                    </p:nvPicPr>
                    <p:blipFill>
                      <a:blip r:embed="rId9"/>
                      <a:stretch>
                        <a:fillRect/>
                      </a:stretch>
                    </p:blipFill>
                    <p:spPr>
                      <a:xfrm>
                        <a:off x="810685" y="4259428"/>
                        <a:ext cx="7999368" cy="527208"/>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619299" y="5159430"/>
          <a:ext cx="6824968" cy="504557"/>
        </p:xfrm>
        <a:graphic>
          <a:graphicData uri="http://schemas.openxmlformats.org/presentationml/2006/ole">
            <mc:AlternateContent xmlns:mc="http://schemas.openxmlformats.org/markup-compatibility/2006">
              <mc:Choice xmlns:v="urn:schemas-microsoft-com:vml" Requires="v">
                <p:oleObj name="AxMath" r:id="rId10" imgW="1143000" imgH="1143000" progId="Equation.AxMath">
                  <p:embed/>
                </p:oleObj>
              </mc:Choice>
              <mc:Fallback>
                <p:oleObj name="AxMath" r:id="rId10" imgW="1143000" imgH="1143000" progId="Equation.AxMath">
                  <p:embed/>
                  <p:pic>
                    <p:nvPicPr>
                      <p:cNvPr id="0" name="图片 7440"/>
                      <p:cNvPicPr/>
                      <p:nvPr/>
                    </p:nvPicPr>
                    <p:blipFill>
                      <a:blip r:embed="rId11"/>
                      <a:stretch>
                        <a:fillRect/>
                      </a:stretch>
                    </p:blipFill>
                    <p:spPr>
                      <a:xfrm>
                        <a:off x="619299" y="5159430"/>
                        <a:ext cx="6824968" cy="504557"/>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5"/>
          <p:cNvSpPr txBox="1">
            <a:spLocks noChangeArrowheads="1"/>
          </p:cNvSpPr>
          <p:nvPr/>
        </p:nvSpPr>
        <p:spPr bwMode="auto">
          <a:xfrm>
            <a:off x="810685" y="539751"/>
            <a:ext cx="100540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kumimoji="0" lang="zh-CN" altLang="en-US">
                <a:solidFill>
                  <a:schemeClr val="bg1"/>
                </a:solidFill>
                <a:latin typeface="微软雅黑" panose="020B0503020204020204" pitchFamily="34" charset="-122"/>
                <a:ea typeface="微软雅黑" panose="020B0503020204020204" pitchFamily="34" charset="-122"/>
              </a:rPr>
              <a:t>议程</a:t>
            </a:r>
          </a:p>
        </p:txBody>
      </p:sp>
      <p:cxnSp>
        <p:nvCxnSpPr>
          <p:cNvPr id="8" name="直接连接符 13"/>
          <p:cNvCxnSpPr/>
          <p:nvPr/>
        </p:nvCxnSpPr>
        <p:spPr>
          <a:xfrm>
            <a:off x="1001184" y="1128185"/>
            <a:ext cx="10521949" cy="4233"/>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a:xfrm>
            <a:off x="903050" y="661515"/>
            <a:ext cx="2861733" cy="523220"/>
          </a:xfrm>
          <a:prstGeom prst="rect">
            <a:avLst/>
          </a:prstGeom>
          <a:solidFill>
            <a:srgbClr val="009999"/>
          </a:solidFill>
          <a:ln>
            <a:noFill/>
          </a:ln>
        </p:spPr>
        <p:txBody>
          <a:bodyPr wrap="square">
            <a:spAutoFit/>
          </a:bodyPr>
          <a:lstStyle/>
          <a:p>
            <a:pPr algn="ctr">
              <a:spcBef>
                <a:spcPct val="0"/>
              </a:spcBef>
            </a:pPr>
            <a:r>
              <a:rPr lang="zh-CN" altLang="en-US" sz="2800" b="1" dirty="0">
                <a:solidFill>
                  <a:schemeClr val="bg1"/>
                </a:solidFill>
                <a:latin typeface="仿宋" panose="02010609060101010101" charset="-122"/>
                <a:ea typeface="仿宋" panose="02010609060101010101" charset="-122"/>
              </a:rPr>
              <a:t>手写字体分类</a:t>
            </a:r>
          </a:p>
        </p:txBody>
      </p:sp>
      <p:sp>
        <p:nvSpPr>
          <p:cNvPr id="11270" name="TextBox 5"/>
          <p:cNvSpPr txBox="1">
            <a:spLocks noChangeArrowheads="1"/>
          </p:cNvSpPr>
          <p:nvPr/>
        </p:nvSpPr>
        <p:spPr bwMode="auto">
          <a:xfrm>
            <a:off x="810685" y="57361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kumimoji="0" lang="zh-CN" altLang="en-US">
              <a:solidFill>
                <a:schemeClr val="bg1"/>
              </a:solidFill>
              <a:latin typeface="微软雅黑" panose="020B0503020204020204" pitchFamily="34" charset="-122"/>
              <a:ea typeface="微软雅黑" panose="020B0503020204020204" pitchFamily="34" charset="-122"/>
            </a:endParaRPr>
          </a:p>
        </p:txBody>
      </p:sp>
      <p:graphicFrame>
        <p:nvGraphicFramePr>
          <p:cNvPr id="14" name="对象 13"/>
          <p:cNvGraphicFramePr>
            <a:graphicFrameLocks noChangeAspect="1"/>
          </p:cNvGraphicFramePr>
          <p:nvPr/>
        </p:nvGraphicFramePr>
        <p:xfrm>
          <a:off x="810685" y="1271675"/>
          <a:ext cx="7999368" cy="527208"/>
        </p:xfrm>
        <a:graphic>
          <a:graphicData uri="http://schemas.openxmlformats.org/presentationml/2006/ole">
            <mc:AlternateContent xmlns:mc="http://schemas.openxmlformats.org/markup-compatibility/2006">
              <mc:Choice xmlns:v="urn:schemas-microsoft-com:vml" Requires="v">
                <p:oleObj name="AxMath" r:id="rId3" imgW="1143000" imgH="1143000" progId="Equation.AxMath">
                  <p:embed/>
                </p:oleObj>
              </mc:Choice>
              <mc:Fallback>
                <p:oleObj name="AxMath" r:id="rId3" imgW="1143000" imgH="1143000" progId="Equation.AxMath">
                  <p:embed/>
                  <p:pic>
                    <p:nvPicPr>
                      <p:cNvPr id="0" name="对象 11"/>
                      <p:cNvPicPr/>
                      <p:nvPr/>
                    </p:nvPicPr>
                    <p:blipFill>
                      <a:blip r:embed="rId4"/>
                      <a:stretch>
                        <a:fillRect/>
                      </a:stretch>
                    </p:blipFill>
                    <p:spPr>
                      <a:xfrm>
                        <a:off x="810685" y="1271675"/>
                        <a:ext cx="7999368" cy="527208"/>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949325" y="1912938"/>
          <a:ext cx="5194300" cy="415925"/>
        </p:xfrm>
        <a:graphic>
          <a:graphicData uri="http://schemas.openxmlformats.org/presentationml/2006/ole">
            <mc:AlternateContent xmlns:mc="http://schemas.openxmlformats.org/markup-compatibility/2006">
              <mc:Choice xmlns:v="urn:schemas-microsoft-com:vml" Requires="v">
                <p:oleObj name="AxMath" r:id="rId5" imgW="1143000" imgH="1143000" progId="Equation.AxMath">
                  <p:embed/>
                </p:oleObj>
              </mc:Choice>
              <mc:Fallback>
                <p:oleObj name="AxMath" r:id="rId5" imgW="1143000" imgH="1143000" progId="Equation.AxMath">
                  <p:embed/>
                  <p:pic>
                    <p:nvPicPr>
                      <p:cNvPr id="0" name="对象 12"/>
                      <p:cNvPicPr/>
                      <p:nvPr/>
                    </p:nvPicPr>
                    <p:blipFill>
                      <a:blip r:embed="rId6"/>
                      <a:stretch>
                        <a:fillRect/>
                      </a:stretch>
                    </p:blipFill>
                    <p:spPr>
                      <a:xfrm>
                        <a:off x="949325" y="1912938"/>
                        <a:ext cx="5194300" cy="415925"/>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699454" y="2441812"/>
          <a:ext cx="8583612" cy="4095750"/>
        </p:xfrm>
        <a:graphic>
          <a:graphicData uri="http://schemas.openxmlformats.org/presentationml/2006/ole">
            <mc:AlternateContent xmlns:mc="http://schemas.openxmlformats.org/markup-compatibility/2006">
              <mc:Choice xmlns:v="urn:schemas-microsoft-com:vml" Requires="v">
                <p:oleObj name="AxMath" r:id="rId7" imgW="1143000" imgH="1143000" progId="Equation.AxMath">
                  <p:embed/>
                </p:oleObj>
              </mc:Choice>
              <mc:Fallback>
                <p:oleObj name="AxMath" r:id="rId7" imgW="1143000" imgH="1143000" progId="Equation.AxMath">
                  <p:embed/>
                  <p:pic>
                    <p:nvPicPr>
                      <p:cNvPr id="0" name="图片 8530"/>
                      <p:cNvPicPr/>
                      <p:nvPr/>
                    </p:nvPicPr>
                    <p:blipFill>
                      <a:blip r:embed="rId8"/>
                      <a:stretch>
                        <a:fillRect/>
                      </a:stretch>
                    </p:blipFill>
                    <p:spPr>
                      <a:xfrm>
                        <a:off x="699454" y="2441812"/>
                        <a:ext cx="8583612" cy="409575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7257520" y="4549524"/>
          <a:ext cx="4265613" cy="738187"/>
        </p:xfrm>
        <a:graphic>
          <a:graphicData uri="http://schemas.openxmlformats.org/presentationml/2006/ole">
            <mc:AlternateContent xmlns:mc="http://schemas.openxmlformats.org/markup-compatibility/2006">
              <mc:Choice xmlns:v="urn:schemas-microsoft-com:vml" Requires="v">
                <p:oleObj name="AxMath" r:id="rId9" imgW="1143000" imgH="1143000" progId="Equation.AxMath">
                  <p:embed/>
                </p:oleObj>
              </mc:Choice>
              <mc:Fallback>
                <p:oleObj name="AxMath" r:id="rId9" imgW="1143000" imgH="1143000" progId="Equation.AxMath">
                  <p:embed/>
                  <p:pic>
                    <p:nvPicPr>
                      <p:cNvPr id="0" name="对象 18"/>
                      <p:cNvPicPr/>
                      <p:nvPr/>
                    </p:nvPicPr>
                    <p:blipFill>
                      <a:blip r:embed="rId10"/>
                      <a:stretch>
                        <a:fillRect/>
                      </a:stretch>
                    </p:blipFill>
                    <p:spPr>
                      <a:xfrm>
                        <a:off x="7257520" y="4549524"/>
                        <a:ext cx="4265613" cy="738187"/>
                      </a:xfrm>
                      <a:prstGeom prst="rect">
                        <a:avLst/>
                      </a:prstGeom>
                      <a:solidFill>
                        <a:schemeClr val="accent1">
                          <a:lumMod val="20000"/>
                          <a:lumOff val="80000"/>
                        </a:schemeClr>
                      </a:solidFill>
                    </p:spPr>
                  </p:pic>
                </p:oleObj>
              </mc:Fallback>
            </mc:AlternateContent>
          </a:graphicData>
        </a:graphic>
      </p:graphicFrame>
      <p:graphicFrame>
        <p:nvGraphicFramePr>
          <p:cNvPr id="17" name="对象 16"/>
          <p:cNvGraphicFramePr>
            <a:graphicFrameLocks noChangeAspect="1"/>
          </p:cNvGraphicFramePr>
          <p:nvPr/>
        </p:nvGraphicFramePr>
        <p:xfrm>
          <a:off x="5500115" y="3261276"/>
          <a:ext cx="6619875" cy="1014413"/>
        </p:xfrm>
        <a:graphic>
          <a:graphicData uri="http://schemas.openxmlformats.org/presentationml/2006/ole">
            <mc:AlternateContent xmlns:mc="http://schemas.openxmlformats.org/markup-compatibility/2006">
              <mc:Choice xmlns:v="urn:schemas-microsoft-com:vml" Requires="v">
                <p:oleObj name="AxMath" r:id="rId11" imgW="1143000" imgH="1143000" progId="Equation.AxMath">
                  <p:embed/>
                </p:oleObj>
              </mc:Choice>
              <mc:Fallback>
                <p:oleObj name="AxMath" r:id="rId11" imgW="1143000" imgH="1143000" progId="Equation.AxMath">
                  <p:embed/>
                  <p:pic>
                    <p:nvPicPr>
                      <p:cNvPr id="0" name="对象 2"/>
                      <p:cNvPicPr/>
                      <p:nvPr/>
                    </p:nvPicPr>
                    <p:blipFill>
                      <a:blip r:embed="rId12"/>
                      <a:stretch>
                        <a:fillRect/>
                      </a:stretch>
                    </p:blipFill>
                    <p:spPr>
                      <a:xfrm>
                        <a:off x="5500115" y="3261276"/>
                        <a:ext cx="6619875" cy="1014413"/>
                      </a:xfrm>
                      <a:prstGeom prst="rect">
                        <a:avLst/>
                      </a:prstGeom>
                      <a:solidFill>
                        <a:schemeClr val="accent1">
                          <a:lumMod val="20000"/>
                          <a:lumOff val="80000"/>
                        </a:schemeClr>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6977" y="422031"/>
            <a:ext cx="10272890" cy="980728"/>
          </a:xfrm>
        </p:spPr>
        <p:txBody>
          <a:bodyPr/>
          <a:lstStyle/>
          <a:p>
            <a:r>
              <a:rPr lang="zh-CN" altLang="en-US" b="1" dirty="0">
                <a:solidFill>
                  <a:srgbClr val="009999"/>
                </a:solidFill>
              </a:rPr>
              <a:t>上机练习</a:t>
            </a:r>
          </a:p>
        </p:txBody>
      </p:sp>
      <p:sp>
        <p:nvSpPr>
          <p:cNvPr id="3" name="内容占位符 2"/>
          <p:cNvSpPr>
            <a:spLocks noGrp="1"/>
          </p:cNvSpPr>
          <p:nvPr>
            <p:ph idx="1"/>
          </p:nvPr>
        </p:nvSpPr>
        <p:spPr>
          <a:xfrm>
            <a:off x="1141959" y="684970"/>
            <a:ext cx="10777897" cy="6035870"/>
          </a:xfrm>
        </p:spPr>
        <p:txBody>
          <a:bodyPr/>
          <a:lstStyle/>
          <a:p>
            <a:pPr marL="0" indent="0">
              <a:buNone/>
            </a:pPr>
            <a:r>
              <a:rPr lang="en-US" altLang="zh-CN" sz="2400" dirty="0"/>
              <a:t>1.</a:t>
            </a:r>
            <a:r>
              <a:rPr lang="zh-CN" altLang="zh-CN" sz="2400" dirty="0"/>
              <a:t>使用</a:t>
            </a:r>
            <a:r>
              <a:rPr lang="en-US" altLang="zh-CN" sz="2400" dirty="0" err="1"/>
              <a:t>sklearn</a:t>
            </a:r>
            <a:r>
              <a:rPr lang="zh-CN" altLang="zh-CN" sz="2400" dirty="0"/>
              <a:t>的朴素贝叶斯算法对</a:t>
            </a:r>
            <a:r>
              <a:rPr lang="zh-CN" altLang="en-US" sz="2400" b="1" dirty="0"/>
              <a:t>鸢尾花数据集</a:t>
            </a:r>
            <a:r>
              <a:rPr lang="zh-CN" altLang="zh-CN" sz="2400" dirty="0"/>
              <a:t>进行分类，要求：</a:t>
            </a:r>
          </a:p>
          <a:p>
            <a:pPr marL="0" indent="0" fontAlgn="ctr">
              <a:buNone/>
            </a:pPr>
            <a:r>
              <a:rPr lang="en-US" altLang="zh-CN" sz="2400" dirty="0"/>
              <a:t>    (1)</a:t>
            </a:r>
            <a:r>
              <a:rPr lang="zh-CN" altLang="zh-CN" sz="2400" dirty="0"/>
              <a:t>划分训练集和测试集（测试集占</a:t>
            </a:r>
            <a:r>
              <a:rPr lang="en-US" altLang="zh-CN" sz="2400" dirty="0"/>
              <a:t>20%</a:t>
            </a:r>
            <a:r>
              <a:rPr lang="zh-CN" altLang="zh-CN" sz="2400" dirty="0"/>
              <a:t>）</a:t>
            </a:r>
          </a:p>
          <a:p>
            <a:pPr marL="0" indent="0" fontAlgn="ctr">
              <a:buNone/>
            </a:pPr>
            <a:r>
              <a:rPr lang="en-US" altLang="zh-CN" sz="2400" dirty="0"/>
              <a:t>    (2)</a:t>
            </a:r>
            <a:r>
              <a:rPr lang="zh-CN" altLang="zh-CN" sz="2400" dirty="0"/>
              <a:t>对测试集的预测类别标签和真实标签进行对比</a:t>
            </a:r>
          </a:p>
          <a:p>
            <a:pPr marL="0" indent="0" fontAlgn="ctr">
              <a:buNone/>
            </a:pPr>
            <a:r>
              <a:rPr lang="en-US" altLang="zh-CN" sz="2400" dirty="0"/>
              <a:t>    (3)</a:t>
            </a:r>
            <a:r>
              <a:rPr lang="zh-CN" altLang="zh-CN" sz="2400" dirty="0"/>
              <a:t>输出分类的准确率</a:t>
            </a:r>
          </a:p>
          <a:p>
            <a:pPr marL="0" indent="0">
              <a:buNone/>
            </a:pPr>
            <a:r>
              <a:rPr lang="en-US" altLang="zh-CN" sz="2400" dirty="0"/>
              <a:t>2.</a:t>
            </a:r>
            <a:r>
              <a:rPr lang="zh-CN" altLang="zh-CN" sz="2400" dirty="0"/>
              <a:t>动手编写朴素贝叶斯分类算法对手写字体数据集进行分类，要求：</a:t>
            </a:r>
          </a:p>
          <a:p>
            <a:pPr marL="0" indent="0" fontAlgn="ctr">
              <a:buNone/>
            </a:pPr>
            <a:r>
              <a:rPr lang="en-US" altLang="zh-CN" sz="2400" dirty="0"/>
              <a:t>   (1)</a:t>
            </a:r>
            <a:r>
              <a:rPr lang="zh-CN" altLang="zh-CN" sz="2400" dirty="0"/>
              <a:t>划分训练集和测试集（测试集占</a:t>
            </a:r>
            <a:r>
              <a:rPr lang="en-US" altLang="zh-CN" sz="2400" dirty="0"/>
              <a:t>20%</a:t>
            </a:r>
            <a:r>
              <a:rPr lang="zh-CN" altLang="zh-CN" sz="2400" dirty="0"/>
              <a:t>）</a:t>
            </a:r>
          </a:p>
          <a:p>
            <a:pPr marL="0" indent="0" fontAlgn="ctr">
              <a:buNone/>
            </a:pPr>
            <a:r>
              <a:rPr lang="en-US" altLang="zh-CN" sz="2400" dirty="0"/>
              <a:t>   (2)</a:t>
            </a:r>
            <a:r>
              <a:rPr lang="zh-CN" altLang="zh-CN" sz="2400" dirty="0"/>
              <a:t>对手写字体进行二值化处理</a:t>
            </a:r>
          </a:p>
          <a:p>
            <a:pPr marL="0" indent="0" fontAlgn="ctr">
              <a:buNone/>
            </a:pPr>
            <a:r>
              <a:rPr lang="en-US" altLang="zh-CN" sz="2400" dirty="0"/>
              <a:t>   (3)</a:t>
            </a:r>
            <a:r>
              <a:rPr lang="zh-CN" altLang="zh-CN" sz="2400" dirty="0"/>
              <a:t>输出分类的准确率</a:t>
            </a:r>
            <a:endParaRPr lang="en-US" altLang="zh-CN" sz="3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0" y="1410789"/>
            <a:ext cx="10942320" cy="4523105"/>
          </a:xfrm>
          <a:prstGeom prst="rect">
            <a:avLst/>
          </a:prstGeom>
          <a:noFill/>
        </p:spPr>
        <p:txBody>
          <a:bodyPr wrap="square" rtlCol="0">
            <a:spAutoFit/>
          </a:bodyPr>
          <a:lstStyle/>
          <a:p>
            <a:pPr>
              <a:lnSpc>
                <a:spcPct val="150000"/>
              </a:lnSpc>
            </a:pP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3. </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分别使用三种朴素贝叶斯算法（</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GaussianNu</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MultinomialNB</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BernoulliNB</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）对</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iris()</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a:t>
            </a:r>
            <a:r>
              <a:rPr lang="en-US" altLang="zh-CN" sz="2400" dirty="0" err="1">
                <a:solidFill>
                  <a:schemeClr val="accent3">
                    <a:lumMod val="50000"/>
                  </a:schemeClr>
                </a:solidFill>
                <a:latin typeface="Microsoft Sans Serif" panose="020B0604020202020204" pitchFamily="34" charset="0"/>
                <a:ea typeface="华文楷体" panose="02010600040101010101" pitchFamily="2" charset="-122"/>
              </a:rPr>
              <a:t>breast_cancer</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和</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wine()</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数据集进行训练，并通过比较其分类效果分析不同算法对不同数据集的适用情况。</a:t>
            </a:r>
            <a:endParaRPr lang="en-US" altLang="zh-CN" sz="2400" dirty="0">
              <a:solidFill>
                <a:schemeClr val="accent3">
                  <a:lumMod val="50000"/>
                </a:schemeClr>
              </a:solidFill>
              <a:latin typeface="Microsoft Sans Serif" panose="020B0604020202020204" pitchFamily="34" charset="0"/>
              <a:ea typeface="华文楷体" panose="02010600040101010101" pitchFamily="2" charset="-122"/>
            </a:endParaRPr>
          </a:p>
          <a:p>
            <a:pPr>
              <a:lnSpc>
                <a:spcPct val="150000"/>
              </a:lnSpc>
            </a:pP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要求打印出分类结果的准确率和混淆矩阵</a:t>
            </a:r>
            <a:endParaRPr lang="en-US" altLang="zh-CN" sz="2400" dirty="0">
              <a:solidFill>
                <a:schemeClr val="accent3">
                  <a:lumMod val="50000"/>
                </a:schemeClr>
              </a:solidFill>
              <a:latin typeface="Microsoft Sans Serif" panose="020B0604020202020204" pitchFamily="34" charset="0"/>
              <a:ea typeface="华文楷体" panose="02010600040101010101" pitchFamily="2" charset="-122"/>
            </a:endParaRPr>
          </a:p>
          <a:p>
            <a:pPr>
              <a:lnSpc>
                <a:spcPct val="150000"/>
              </a:lnSpc>
            </a:pP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4.</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根据给出的算法</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naivebayes.py</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，实现：</a:t>
            </a:r>
            <a:endParaRPr lang="en-US" altLang="zh-CN" sz="2400" dirty="0">
              <a:solidFill>
                <a:schemeClr val="accent3">
                  <a:lumMod val="50000"/>
                </a:schemeClr>
              </a:solidFill>
              <a:latin typeface="Microsoft Sans Serif" panose="020B0604020202020204" pitchFamily="34" charset="0"/>
              <a:ea typeface="华文楷体" panose="02010600040101010101" pitchFamily="2" charset="-122"/>
            </a:endParaRPr>
          </a:p>
          <a:p>
            <a:pPr>
              <a:lnSpc>
                <a:spcPct val="150000"/>
              </a:lnSpc>
            </a:pP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1</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）将数据集文件</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naivebayes_data.csv</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中的数据替换成</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14</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天打球与天气数据；</a:t>
            </a:r>
            <a:endParaRPr lang="en-US" altLang="zh-CN" sz="2400" dirty="0">
              <a:solidFill>
                <a:schemeClr val="accent3">
                  <a:lumMod val="50000"/>
                </a:schemeClr>
              </a:solidFill>
              <a:latin typeface="Microsoft Sans Serif" panose="020B0604020202020204" pitchFamily="34" charset="0"/>
              <a:ea typeface="华文楷体" panose="02010600040101010101" pitchFamily="2" charset="-122"/>
            </a:endParaRPr>
          </a:p>
          <a:p>
            <a:pPr>
              <a:lnSpc>
                <a:spcPct val="150000"/>
              </a:lnSpc>
            </a:pP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2</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）预测样本</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{Outlook=</a:t>
            </a:r>
            <a:r>
              <a:rPr lang="en-US" altLang="zh-CN" sz="2400" dirty="0" err="1">
                <a:solidFill>
                  <a:schemeClr val="accent3">
                    <a:lumMod val="50000"/>
                  </a:schemeClr>
                </a:solidFill>
                <a:latin typeface="Microsoft Sans Serif" panose="020B0604020202020204" pitchFamily="34" charset="0"/>
                <a:ea typeface="华文楷体" panose="02010600040101010101" pitchFamily="2" charset="-122"/>
              </a:rPr>
              <a:t>Sunny，Temp</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a:t>
            </a:r>
            <a:r>
              <a:rPr lang="en-US" altLang="zh-CN" sz="2400" dirty="0" err="1">
                <a:solidFill>
                  <a:schemeClr val="accent3">
                    <a:lumMod val="50000"/>
                  </a:schemeClr>
                </a:solidFill>
                <a:latin typeface="Microsoft Sans Serif" panose="020B0604020202020204" pitchFamily="34" charset="0"/>
                <a:ea typeface="华文楷体" panose="02010600040101010101" pitchFamily="2" charset="-122"/>
              </a:rPr>
              <a:t>Cool，Humidity</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a:t>
            </a:r>
            <a:r>
              <a:rPr lang="en-US" altLang="zh-CN" sz="2400" dirty="0" err="1">
                <a:solidFill>
                  <a:schemeClr val="accent3">
                    <a:lumMod val="50000"/>
                  </a:schemeClr>
                </a:solidFill>
                <a:latin typeface="Microsoft Sans Serif" panose="020B0604020202020204" pitchFamily="34" charset="0"/>
                <a:ea typeface="华文楷体" panose="02010600040101010101" pitchFamily="2" charset="-122"/>
              </a:rPr>
              <a:t>High，Windy</a:t>
            </a:r>
            <a:r>
              <a:rPr lang="en-US" altLang="zh-CN" sz="2400" dirty="0">
                <a:solidFill>
                  <a:schemeClr val="accent3">
                    <a:lumMod val="50000"/>
                  </a:schemeClr>
                </a:solidFill>
                <a:latin typeface="Microsoft Sans Serif" panose="020B0604020202020204" pitchFamily="34" charset="0"/>
                <a:ea typeface="华文楷体" panose="02010600040101010101" pitchFamily="2" charset="-122"/>
              </a:rPr>
              <a:t>=Strong}</a:t>
            </a:r>
            <a:r>
              <a:rPr lang="zh-CN" altLang="en-US" sz="2400" dirty="0">
                <a:solidFill>
                  <a:schemeClr val="accent3">
                    <a:lumMod val="50000"/>
                  </a:schemeClr>
                </a:solidFill>
                <a:latin typeface="Microsoft Sans Serif" panose="020B0604020202020204" pitchFamily="34" charset="0"/>
                <a:ea typeface="华文楷体" panose="02010600040101010101" pitchFamily="2" charset="-122"/>
              </a:rPr>
              <a:t>是否打球（选做）。</a:t>
            </a:r>
          </a:p>
        </p:txBody>
      </p:sp>
      <p:sp>
        <p:nvSpPr>
          <p:cNvPr id="5" name="标题 1"/>
          <p:cNvSpPr txBox="1"/>
          <p:nvPr/>
        </p:nvSpPr>
        <p:spPr>
          <a:xfrm>
            <a:off x="1146789" y="254391"/>
            <a:ext cx="10272890" cy="980728"/>
          </a:xfrm>
          <a:prstGeom prst="rect">
            <a:avLst/>
          </a:prstGeom>
          <a:noFill/>
        </p:spPr>
        <p:txBody>
          <a:bodyPr wrap="square" rtlCol="0" anchor="ctr" anchorCtr="0">
            <a:spAutoFit/>
          </a:bodyPr>
          <a:lstStyle>
            <a:lvl1pPr algn="l" defTabSz="914400" rtl="0" eaLnBrk="1" latinLnBrk="0" hangingPunct="1">
              <a:lnSpc>
                <a:spcPct val="90000"/>
              </a:lnSpc>
              <a:spcBef>
                <a:spcPct val="0"/>
              </a:spcBef>
              <a:buNone/>
              <a:defRPr lang="zh-CN" altLang="en-US" sz="3200" b="1" kern="1200">
                <a:gradFill flip="none" rotWithShape="1">
                  <a:gsLst>
                    <a:gs pos="0">
                      <a:schemeClr val="tx1">
                        <a:lumMod val="75000"/>
                        <a:lumOff val="25000"/>
                      </a:schemeClr>
                    </a:gs>
                    <a:gs pos="99000">
                      <a:schemeClr val="tx1">
                        <a:lumMod val="50000"/>
                        <a:lumOff val="50000"/>
                      </a:schemeClr>
                    </a:gs>
                  </a:gsLst>
                  <a:lin ang="16200000" scaled="1"/>
                  <a:tileRect/>
                </a:gradFill>
                <a:latin typeface="微软雅黑" panose="020B0503020204020204" pitchFamily="34" charset="-122"/>
                <a:ea typeface="+mn-ea"/>
                <a:cs typeface="+mn-cs"/>
              </a:defRPr>
            </a:lvl1pPr>
          </a:lstStyle>
          <a:p>
            <a:r>
              <a:rPr lang="zh-CN" altLang="en-US">
                <a:solidFill>
                  <a:srgbClr val="009999"/>
                </a:solidFill>
              </a:rPr>
              <a:t>上机练习</a:t>
            </a:r>
            <a:endParaRPr lang="zh-CN" altLang="en-US" dirty="0">
              <a:solidFill>
                <a:srgbClr val="009999"/>
              </a:solidFill>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00928F36-A265-4885-87F4-A9952308858E"/>
  <p:tag name="ISPRING_SCORM_RATE_SLIDES" val="1"/>
  <p:tag name="ISPRINGONLINEFOLDERID" val="0"/>
  <p:tag name="ISPRINGONLINEFOLDERPATH" val="內容清單"/>
  <p:tag name="ISPRINGCLOUDFOLDERID" val="0"/>
  <p:tag name="ISPRINGCLOUDFOLDERPATH" val="函式庫"/>
  <p:tag name="ISPRING_PRESENTER_PHOTO_0" val="png|iVBORw0KGgoAAAANSUhEUgAAAQwAAAAyCAYAAACpi+X6AAAABHNCSVQICAgIfAhkiAAAAAlwSFlz&#10;AABHGAAARxgBc4LeuQAAACV0RVh0U29mdHdhcmUATWFjcm9tZWRpYSBGaXJld29ya3MgTVggMjAw&#10;NId2rM8AAAAWdEVYdENyZWF0aW9uIFRpbWUAMDcvMzAvMTcbpQfcAAADMXByVld4nO2UQVbbQAyG&#10;Z6KpBFI8PQJH6CIH4DZZ9wblGrlMH+s+DsENypJFH+6vsSdAsQmvfZSNvsSOHXlG0i/JPx6+/0xf&#10;05fRucFnvMH5MB5uxgPO+/GwG/eHcb8f97hI42437hLIOGT+PZt/z+dfxTE+5x5/0biO2/Mr9rv0&#10;cs+n3Lr92wn7xbr9+oT9yu1ywv5Kgim9HuBkXw3gYbKvBvBrsq8q1O2XK/b72f55xX4329dK1O1r&#10;Gd52+8Wy/brbVyQ82lcyvDraLxftR/OKhOm/88z9/enn39X/7Qf7v/pY/w//3336YPmDIAiCIPgH&#10;8rvsSo/4raXEQgxvKv3TDGyUaFogKRNZX4CzSjNoWyvs/yv5zkWUTvhXA9VPlki0CrMk47QphViM&#10;uJQNHpPB1KTCkbKwiG5VJOEJNZbK3CJOYoOYecAIy0xVeFG1P4IS7VoUK1QUv00A30t8t2KeR1ZP&#10;Vs5UE7N5nki28FYLQkqM+FwbXCaywfqmS+6Rat6I9TB4vvJs8DWIXnAzBYbLxAXblllmaEyFkXNp&#10;K8RdIUg6GwpbKxieqp6/3yz6r7UOOOocQBmsRZAJKRTUMZM/5KVRG8oUsqEoTSxoXFACr1PrHk+b&#10;spcI19DDfRIqhTS8TVb8T+SuvwzSnGBbqGPwWRDGuWvA7tOYq+vipVXo7j1AWIhiNL00byqKZXIu&#10;sLd2QSu60kvIULcQoAfH5iXGzVAUVZWmGnnyOKrLnNGaUF1dsYokB/i3NgfkDe+z4LqztQpgrWZP&#10;owW/BPLOfIzteCVsirafZPEW5pQ/UQu4Vbv1H/pSIEdp/qbhQaDZdUPxzJsXNSSMQ9Hl9F/I0fsf&#10;y5ENJrG0Jj52D5RsvvxScYP8ffCaTXWWEX2D+GsbjIR3iLQueAs9f1LI527ZGwBDtHVts88/sfVq&#10;FU/MdZe21NUWf0d4raHQNPIGITDMbxOAH8NsI5z8XWSIgdhboKT5pXIUAwvEx7cHxS4NiZd9rpL6&#10;vFJabYCT5KeDQ8/eYtS/qUnz9P/H5X/pNgiCIAiCIAiCIAiCIAiCIAiCIAiCIAiCIAiCIAiCIAiC&#10;IAiCxm9LnZaLwrCmnAAAAEhta0JG+t7K/gAAAAQAAAAAAAAAAAAAAAAAAAAAAAAAAAAAAAAAAAAA&#10;AAAAAAAAAAAAAAAAAAAAAAAAAAAAAAAAAAAAAAAAAAAAAAAAKaQzoQAAHPxta1RTeJztXU9s49h5&#10;ZzY7O2vP/91iW7QXB0Ub9LCz/C+qhwCWZdnekW2NKO94tkEHEiXOKOOxd22PNxOFWTRoDgXazqVZ&#10;JEWaW9uc0p4K5NKeeilQoClaoEDPvfRY9JDc+n3fe6TIJ5IiZVmSXY53/SQ+PvLx933v9/1579Hb&#10;Dypng1pzrT9QvObDnf5A0xVD1dy2t19fcwey95gVj7aq7kA1LW9zq+UODNlrrtvuQLHU+5Yly7Lh&#10;Ne09vEZlAy7l0j+vUa+fDSoN+LW22joZSEtSR3KkJ1JD6kmH8KkvHXhbO9tQsww1h1CjSO9DbV/6&#10;Jpxx4DWrux24dWUVuoWFDb3rWV6lukV32t6GO0EBh9texV6nk+wa1dmbVFTqdLDygIq1HX6B9Rp9&#10;b7bopFqFvtWaVOywg3ajPyibXqXFKlvs6i2b3WSbXY8VW6vYyx3slexVd5X+wIJCxctUdzUqanBQ&#10;hUJlhYaFlwmZX41DRlqRVuHoKXx/Hz4dQNmWTqCmO0vMlHNiplwUZjc4ZhvSMeDyifQM6k6lXio2&#10;OsOml4KNHIuN40SwkVOwcSyGjabmRkfRGTxtBk+bwWMxeCwGj+XZjY/hLh3PtnnZ2AXUjDYc4B+y&#10;AXiPA7gmHYFyHQGMoFqgdOEzw2DChQlN1UhDs50BTUHT0tAUNK093dFJEJpmDIR2o8JqbFaGIX2b&#10;Q1qh8diXHA7oHQ6oDWC6oIsrUhM+vYRj3bGjNhZLxdWnO241Z8Jx2847bpMwuskx2oTjx6Rudag9&#10;vKhxm8MO5MBGvhhs7oxgc079mbKlnD9CN0dG2MTaI46tPPoz57HlU3qV0HlGuhHVoFBNBMU0lNQF&#10;ZSBl6ijdjUWpSmOtA6YwXZsWFSd16jjdjsWJs1N+jObO12maZDCEDIaQca7xtgllWzqTXl1Ki69E&#10;fVGDwWQwmNoMpjaDKd7TzDrgWqBGfXDcL+uA06Y+4JYCnI7AuJ3O0GlMdcEdfULLJjNoZAaNzKCR&#10;GTQyg0aOQHOTQ7MKinEM1r0Cv18iSBygtzlA2SwaijSEj6kzgKh+LECWngIQxXYhiLrn9IxUhpDK&#10;ENIZQjpDSGcBH4o1EvHhY1C4AgfyYOjHzS1Qr2+Ckr1kgV86krFjMB1IpcyhVDtpwbMIZa7weWIw&#10;1XI2MG9zMNdA4Q4oBfM0SDe8EkYtKuUL+HwkHaUnaPiwVbTMzroi6/nHrSEzJIkQEEk3LXqOjlzV&#10;yoylZvE4WlO6ubFLH9ClLoPOchhyvSm5FXKaW6FOSHbZIJsUoIcwTvt4VgQg3WAAKR1Bt/zsn8ww&#10;ctIGKqrFeN0iQgzhZHKjQEp1AUCN6lYwUCcdoE2o7dAAPUxVM6U8XT2bbrh4MXr2FsfoEdiC01h0&#10;SoKKCV5HWjSNTSP4qHPHh/J7lEStjJD+jQCvZxTrOKAx7SBt6mvTGtlNpPx0P1/AS1GdWMQEwi85&#10;+VVK57nSNsdM6+qZbefkg7LiZ065qcmPZIPI/3T8bJCApKtnsJyubznRn8gIZMBtHEjySaaPI8Jn&#10;+94IkhtzS/wPiCzzS/wPzdwQX48mzPLASzZjbDxB6pwb3x73TLAxAkxZ/qkC3ARc1V6PYSYajXTM&#10;JnGQ40mRZkqSoXPU/GM8cI8NlUHHMMyGndLLTI2B4qlubPC6RhbkFdnSSWKzaGhGIcKEGessA1m1&#10;uJdCQUlGtDQ1Di2ToWUytEw2lBkB4oeOKwxltDHNzRw4Xg+8lbb0fExqxGIolhmK5KKFUJTPi6LO&#10;UGQqFgsjzgkijmoKjgZPA4BbxVIkZY4kVzyTa56pJ4EZzMz5YLrxmadkpWzR9LAjPc8zijNpZTbv&#10;OV4taTCjoe5Mnf/IwNAY9oFshi0Nsz3J6ukzZI0WIuBESwtzdTGJ4WNQ0hVpm3/qScdZFDYPwIrR&#10;y5KSiXeFpuQ9miNT8BU/I5PsPqZjt0lu+DPujj8j9+c4dr6d7ASppxwZ7sy6jAz32MiEjHjWvEH7&#10;QrHLDpWfXa8HECUrmhilOLEJKzUlSBl6MhO43BemZ2H2G/rbOJ7J37Z6OfC8HiHDw+nOJ2dM98nT&#10;WUeUY5gGYIkrY97iYO3GLFGr0NwEBiXjZifak068I+ePg0kTDLBvMPyAhBR6xPwqGZw+PEozFBws&#10;1WIWguzBKpk1Uj5cAoP2QceSgq6xGN4LYYh+NS5ksGmep81nNdJtRDs2DMkAKfr7KQksp81AVTmo&#10;jipEIV3uSbOIZ4wdBtVlsFocV4sB6/DlWg4H1rFErwY/NP0PowuPmsEH3w1vNLnlbjb9QNAeDWri&#10;RHEjCP9mAL/WzQS/EMgE6KdmpxM8Sp17lDrDXnMY9lRqVBLSDMVYpMmII8Ck6E2m+FnhXQ7gPSXP&#10;ExfqnGTxf/zUvz8lpbR7552S4oxhCIwRZVbkWwRXSQHX1POB6wOnuIEnSQCq45ni3fhIm09aZePf&#10;0oT8m8lM8QDIbQszKRxOvROhXz2Ofn04RZ4w+DyowSdCoYxOTTFfvckAtZucmvl3BFpxYyn5Fgf6&#10;EY33Hk9v0AJPISjKtk5BmPsLvM5s88yYpsjpDASMQIRyrtRG7NLZIO82DNbJk/c/NHdDSi0zrIUV&#10;oNkxzhZ4qlZs+ojCoyki7Medmp87MrIDHO9xaXFxJy2bTVpYmw/GPC6ry7nVjXKr284AYhZn7Lzh&#10;UbyKqnEIMp817CMEAbs4y+rnPprc/hxJLwTjj+u7DyUXJ3ZwM0EchoqhMwzNKIbtHBCasXoox0HI&#10;0keTrJfwtTC6Ql7lakilRiUbvSYfvtlBuy6Fl+CkG3MtbtAKU61yLFZydttDfDuKVUcfn3gLLLmQ&#10;eEOCJbzYB419YNYHAkpmffBDw8fQ9h2jps+RLCTIhqk/t1hDAx+HaEePuJ6+9uXxPVM3aBCGcQnN&#10;eO+IY6rFYepY8ea8zGPPMk8Ml00WR5HR9vNslaER9/NuQu4oGcShr/kpwNgmTyldPY1JZ7FzWBTm&#10;EYUi0xwzOeA9xaonHq/x4zV2PICSrHWJG+sS01AfUlLQTeY45RvsjwnPdOsStdCZ5h4z6WZ0tHdi&#10;l9oJfmasdUly25Oy7NFZXK6K5E8mrCfbA6gOyVC/pGDHd+KvcRA1qTrBFFkpy1q8LAk5LeriRAEE&#10;VYlx1LMFlaoVkynZZDY6D07LQ5wgwNkgN+ezdMRiDUy25Ys+ZMp4nXNiDYzSiyNDZaaQ3Qw8mGe0&#10;0AKTmr2R5TsibOakGTkle448iFU0M//Eou8Ijtvmt+m7zpujrvM46O4FNveAVo7lTcLF58/Pr3q0&#10;JiWUhWvHetO+8mXJU4iWOFb5fI+mGaTSRh2YrAN4F46f0rzNuI1H0xjARvb0hIBhebzR8Ke4BXd6&#10;SsPX10Fc39OnncwXroMjs7FarBKWrWgq2I21GvHZdWGRgBNPgXH+oLhvd5gE5l5MOMvD1BUesGQw&#10;s2zm09ZbQeR8RKHMMwCeL7NK19npbbdIs9NW7DJbzIOEEFfz5CeTtJb5N/ZoEDgOwdshBL9JSZwV&#10;ylTkxpCWRuVYMB/gqI8PpSd+ewHGyhmMECUhnFLMohaaAqcD/gc/OdngziQ+IpuuCHmXYl59nBTe&#10;41L4iPLBDm3SO6FXIyAD4071lSHB5KcTthwzq2LHsklUsQVvilJto1ySywPVeI5I49uJoCQu4eIJ&#10;27cGF04kmUnSCiWSrWgeGf19r1avng1q4R24LonFpoRcP7RFySVx7NALA16QoPYSa7g4agyQGuOG&#10;GsOhtk5aXGtW6ZRmk9VtsmIfC68WjuJYh/iGX4zYhC6Fa/YSaybrksq6BMVG0KN70B8neAFFl2vj&#10;aeh9CicBFzt8RhRNnyM9Bx7xX1dR2/gIgN9ZYxffgs8bDXwVS429YkWmf16oSvGr+PtXsO4x1snn&#10;v44y4SX8KvxXCy9HcPm6rD7ldl/S84tya3L0RlUpXDOZ3DQmN62QWx653eZyawIyDjwt5k2eCtK7&#10;Hcgo7py9DOdMJtE2k2i7kGgeiS4HIxHnAtCXCcc1bmiewK/bS6mbTHI6k5xeSG6SscgkcEr+z7GP&#10;lzAW48/Zy3DOudhVUQqR5hHp0Ldq09u9houVXZ7i94/vJRyfTFwGE5dRSGsSaTXIiXRCe9Fdnt3w&#10;j+8lHJ9MWiUmrVIhrUmkVSNEugEevlSGx/cSjk8mLYtJyyqklUdat7i01vm+1E+I38LOyS0un7gz&#10;9saeMZksy0yW5UKWeWR5ncuyQpOpJ8EUqxvsCjsORp14dDI5OUxOTiGnPHJaCoI7HCvs9TtiQD6s&#10;EQPyYc1kMusymXULmU1i1R7Res3eiFUbHt9LOD6ZtHpMWr1CWpME243hPFfg4y8H3mG4bi+lbjLJ&#10;uUxybqRjNwM16kkdqUqieEbTcP58u682Yv3emPrJOqnwTC+WVSWEaK2qRr5pkW965FsLr+p5G5TA&#10;LtQ0XU0nAuhuCKCXcFaTFuk/puUYbBXLECYttm9lWe6o4b7J943hA6Y9u0MdFzC8qJvMC+B7AsAh&#10;aP1jSRDfH3aiI6vtdtLzd12ojlaWxZapME/5RvOC+jaHGms69D6cU9puIoJsxvdLs3Ashh9OtYa1&#10;arlditbqxrC2Y4ptzbSmpZSmitgjUXSXr/vzUoilkEKga4vWbKgGelxvyiXdVIQBoAUDoNO1HCNa&#10;aQW1pqP2FDP2QXput+N0R0U5ny7M29as03I/WghAa9c2aMEztBo3RlVZc6J9Cyu50imXlE6Skis9&#10;3dWNBCU32z1HVpKUfPTCitijTGN0obs/L6VY5koRelEU1I1RBHhk0zSTkLRkSxb5bIikaTKnKxZJ&#10;bFhyk5BkN07wNErwX0ZFWOjuz1sRmAc6arVj+5Pi+/k+oyiRc1xnXtDciUAT0OU4/zH54UJOnSzj&#10;/4ndjnNALuom83YTbHoL55ngJsSO4LJWBr1IGsG6ij9JI7hjdLSOkjCCTXOUGoYjuNvDn1gQkDWs&#10;rJZoobs/LzW4EajBJ3xNC75c+cV4WzSq+Gq4coTLhx1W2yl+tzhkwNELM3liyMtRyGaIFrXv86Za&#10;XJJ6RFtSTqVd/gKIp+PtkVqW20Y5ycTGuornuM68QPKzakEubZhfG2+wRfdltFfZDHaW60wj+bte&#10;q54N1muhec0ewbRFi5oxjqnA7zN6w6k/L9YL9ue0pVNvvWGfDapr6/jrAdR/FeKf51IH6vukYQjk&#10;MQdyF1oeSK8k9uKMF0BFRySOYzi2Lrm01RupaQ/O32Ebp7zq2kdw1S8//F7vR3/0r54XutOdSJst&#10;cLDZUus+/1sorOWbnOp6kbY3Im236XU/W1KVt/ktaSCVqNaUFPiRJVV6Hz47cAQ/4bEu/c07C46V&#10;oEamH4POLMFvBWrwmxe569IQTUDgFVIxv+OXJDly5nLozEe0C+pUesbPfQN7FDn7Vuhsf5nUMQs5&#10;gjYlyRDarMNVYdTTKwpoUy6UtJYgoU+36K/6PSWp+n/H6JDanQQttEiLm/TWsxPQh6TzxTsM35hW&#10;5a9RadNalEAPSBoiVsNWQQ9D52vCky9Bbw4oadIbI4U7oTO3afnnKf/DH33yo/xWitCKbbSKjJ4h&#10;0fBW16XfBPxdrjnR+96mXfyfcScYx1t3pP0StJdDP5rkClhu0qhLv4Ib+hGvcIOucMDHblz/Q62F&#10;ljZtfOzSU8S1DPV8ZEyzP0UAWgIc0qYxN+7ZRzXCJl3+DCTRkb7BRjlvew16i7mZkxFGqJDUTmn8&#10;2KR5p4macc/fB8vPPE7UWLHlUtBSHNd0JlLyBGzcpDVbTws2Ltj4CrGxUbBxwcaXiI2XAjZ+SXJA&#10;zS8YuWDkq8PIZsHIBSNfQka2ATX+OoGCkQtGvkKMLHJrwcgFIy8yI78zysj8fJqblNgfjy04uuDo&#10;q8PRasHRBUdfIo5e5hz9MY2Aj+HeT0GHC04uOPnqcLJecHLByZeIk/1MRoiTC0YuGPkKMbJWMHLB&#10;yAvHyDH6NN+VcI/fu+JsrBRsvABsXKyEK9j4MrLxjFfCFWxcsPEM2LhYCVew8WVi4zmuhCsYuWDk&#10;GTBysRKuYOTLyMhzWAlXMHLByDNg5GIlXMHIl4mRF2olXMHRBUfPgKOLlXAFR18mjp7rSriCkwtO&#10;ngEnFyvhCk6+TJw8x5VwBSMXjDwDRi5WwhWMvHiMXIXroxaGUA3eK8gYefiHKJ5EzpoNO7/R+f6T&#10;T2fIzW1gs7Kkw08XrmdNhZvTdVbUuLYQTy9HWo9b5Rw+l71sd8glusAE4XOTNKyU8iSjjKgBAkZu&#10;TfNX+XAmLzTrgjTLFOY3p6dZVm7NQk9DPbdu3ea6FWZ20bN8m2sX5mCBmWemX28+/OXD3ovDL/79&#10;CnuWmqAjyZ6lmCW8vH6l+Bzz9iuLNb2X0a9UhLF9VfzKPIzchPv26almxci/+JPPrjgji75jwcgF&#10;IxeM/P850r8TwXGFrsz+htVBKAa7GdqlvDKHOP/Nh9/b/esv9JlGZAZnXJe4Fhm5BD86nO9zswaf&#10;8O/yIRa+lljE5i7FccjQ54v1jRidu7yxfjZdW47oml83Qz2zf/5wa4Z6ppIOWaBbEPOSTllQqiD/&#10;yfUsi7U2Be0ab0nFWcOsNiiJQy+G4XRB626CdnaBoV/SdVdCPfT/TM4qPccR1NWD5ziZlcb9wX83&#10;f/Ld4y9MYUSewBVgxJJtesKf9Ql8fyp1Ej2JaJtn3GOJtvoyaJYxIvkuSfo0451uhc7PfpclqMcn&#10;fwG/xesrGZ++l+g5pj39sFX2p0++U9LTp99FfPrw9aNPfzfh6Z9K/l+VTPIXkhAQW8b173YMCuPu&#10;eCcWiSx3uxFBY/Q+orcbj0hHYn8uLr53Io7DHkbbxfXvVgwa6Xe7HYvF+DstR5AQ7xHF4TeAoStw&#10;lksMxJj3CXDNMbEWxgvYz9OAn9BCfSu42jWyJyv4O6eFQgujQ71LkahCnpACfdVHolSL7BZ6Lugx&#10;oa/Uhf8xcihLXk5efg+e9TiIurgtkj4Q7Zl0H39mxNZLOz/9/b+SPvi9Xz7/NyjZnaNjsBPT5yd0&#10;DdTFw8D+jo4lR3iuLK3mpREayBZl2iFPhHnEZZC4EvFZsB5HBWpEjzSiTLF1F0aBxfIWuTRiOfSn&#10;u1a4ZA9mZad/8KPvHu8/f7g+Q8+wS0jp5Pc55A+2KfNTFjxDRL4dyQ5RpE0zST3BM7yWGGXHeWjX&#10;AbFPKEJG/F6lZEiWQlkA1NpulClzyXkJjiBvn9H4meX4vub+z3f+IWZcLzN/hcbWkdSncXribTTg&#10;kTYarbPBfn0N/xDbY1Z4w2OqYbCj+MEbuSb++dNpXvPm0JZO9bo3fMs01asuBnv1AvbSLpS97kmb&#10;hOAHEO1g3ucl6SQ+HfL+TK3Yd4/PfiF98MNPW38ca8WWwXoxWY+3QOh1jj5NlpZ3Ke+X31LehBYH&#10;dK4TWIOoXsRn3xZD27qBtqkXqm1L4Vh2thyK0WyMVhUxbRHTFjFtEdMuYkyrBjGtcaEx7VvhvZ6z&#10;Wslm//PrgwXBXKV4RuHW7X2aWelKZgzmcmbMrwE2uI+2F6B8l+cI/D21Kzy7uwrP8wnOQMzKz3p9&#10;4HR2fjdy50WQA6KvwW/0Ldqk+w6UOq06DMvBoDmGlFUHY+SwTHiyOR5/JcDM8upP/6vzndc/+/zX&#10;FgJxl1ZwyIS7S+i68NkIzSXKhDjG69nZ5s1gXo/hPfw+I2b5xle+/U8Lgq8CdS5ZRT3IUPqx3aRs&#10;LuK75H+HPm4TSrNam3Tt9X/uSM97C4q3ekF435U2oN1Ligz7NCO4EkhglhHN9T//j97fIPYxUc2v&#10;kK8T7qPv8RyTT4y5uz7W82u9AxjcJyZI/jEXQsZRD0kOPCRtqjK+Tff28wbzke+11//S/AnKd+W3&#10;FwJ5A5CzyNKa8KwmWQuX+0k6jTOXcsFomx04u0w5A5PiDYvOaEti3vce5VWG+ZmhjraFtRtv4PUE&#10;HU9q242dref7BFPlflP6WMI3oLyYl8w//53e1xZI5mW+8wOlbAYZIZUYFXeFdEjmqBUmzQh0SN4u&#10;zRGolENC78wTosVvcYyj8hYzbG9AazHujmv5KZRt6SAyF/AGjv2xY7zJeRBbz0feb/W+9vU3j/9u&#10;gSTeJRuq0UopZkNVQskiieNcmkGjHFnUpXHeJf9RJ8Z1iWEdQeLvBBYHkc4r9XcTW2eV/HW+wuuY&#10;1rMeBmM9cnRe3tP379rvLYTkcd2WSv8bPA4u09gvjVhWf8VXFssaj714dEaRwcJg7ZBvgrEWrrNj&#10;kRdbTT8aeZXOifUdQOKQ1rizmpVgRd1MvdU/+wv7vT/84fFmjLe6GPGCPnm8EGGrlxG0n1C+8YR2&#10;Ik/D7067fhybGgKbvpfS/jRtP4SQVdmh+VaczfLZdJWs/sqwZraeU+9v93/8tPLJzwQ7epcwx/ns&#10;w6Bf2ZB6N7blS14Gs3yBFi7W/F6PtFSmtbgdyug4pL8a2XGHR0z426CdIv7qXvTXeuT1oX0fZRi2&#10;Uyq6NtrfC71JCBzNLIM82xXRs94VFV3XPP03oJgjbcbvi1KEFuP2RaE3lnc9tzg/VOyMYrNexc6o&#10;q7MzyhK0L/u+gXgG9t9EtUPsiRZ9VisQCxY+Lwvn35168Sw8+qaLgocLHr56PJx9/5a4a/Admj1+&#10;Bf3H9RRsz+Ar+Kzzp8ZdW+ucncM8gHlGhuAso6O0HixCtIL5RYXmCyy+Xt+lvYSdSD7EpLl/jeYS&#10;8Df7jmWZ5oTEaCWPjJaIEY+ZjZrtuteYO18FmXTp2HlkckeYhWsRovics5TPuF5cDVnhCihRVu/S&#10;CqG+xLLjNmDb55/QziIHh6X19nA1zUzlM3rfyyOREsihRDMtJZpxwd8mea4GZSRJIt62DSLxGqut&#10;s0Flrd4fuK5M/7wa++a6mobfGoHk3qasJns7HUqwG7CcOxIn7CXWNKu7nQFct1XpY7Feo8Le7g9U&#10;+NbqDxSv1qzSKc0mq9tkxT4WXmu/cjZgN/4ymOAdaRUe5cHZ4FED6k3Z2+Rly/4YrgVP0NqCJ2ht&#10;VfuDktvudBV8+NZ+7fwX8db3G2eD2nYL+7VWp8426vQEjVUCt77DjkGVBWVrBx+yUQcAFG+1UWeF&#10;TcXqGiuqVNhwlR6cWcX2G3W6w4eNh/2BgaXNvu6yooFYbdS2sPjQxnPaUK6zry283Id2hfCsN+hy&#10;dh2/1e09LKqsqNsE+c5j6k3dtvEpNlvb2GCz1SLtrJJ+4yj5jEpac+jt16g7+9vU11Zzu8NaYrFf&#10;XcViZ1s/G8AvgNSjwmWFwgpZKKCs4fmgGYZHBcDdWq3T9RuP6JTtHThle6cKHQN9rj8GuOurj0GV&#10;H2zgc+w12TMyCX+9AqNNQY3Hg9trBHx1ix51rY76vY7t1x5g9Xp9GyS9D8OiXmu5A/l+WTG91m7D&#10;Haiy19yCQ6pp3ldhpCiqV9mF77pVDKPzDKNKs0HjosV6vdvCXjd34CS1K5tWtwfw77sDw7yPwGoK&#10;fH3sDjRvt7lFw2uthoJs2HCOJvvnNGw4p+w11qNH19nRWvRojY7u10jdW6ur2I/WqtIfOPhV7Q90&#10;KHdBzy1vtbVOI7T1oEOd3cG0w5Ofvj764h9//HN4Bhv0wwK9IFXbalGxt0OC2LTXXGjzoLmD+8aa&#10;D7C4LxtepW7jgfp6FavrVerFh0gBAMoWndywK6xYxaJVAxPYauKtv/TVv5yoE+e5O9347Z0brz33&#10;fx//+rf//vM//cZXnn4Opqy1CqS3tb1xNtjfrdEWOVbQ5rj3tRLbHKfoHumHYpSYgqguUxArqh9W&#10;zwApsM9mGbWIfS6VVce/Gf37aAu08CM2nIELRBpQfBr4/OEPXn69wmhAYTQgp9PAyMW9jWb1bLCB&#10;6ghEimqIfIrKZEL5mJVs4Csy/kCLKghro0o326g+YAyB/8O3TbjFRvUjvNGuTQN5116l4fl/hJQC&#10;w2oX5bUAAAC3bWtCU3icXU7LCoMwEBT6I/0EY4nao8ZXMGmLRqqlFy0Eci7ksuy/N1HbQ+cyw+zM&#10;MrLNLVQdM0BwFExDiNNGd15oiGiMDVcaSBJhV/YaPPeDcYG8di29A8UkLIhsspC39eLOQyc8iYt8&#10;Q3B45sExICj71WTChVnpG6z1RimkBS5rC+O1Wkds9DfpNrqdYYiNF/MLVf8wkIaouHuleGEg0eco&#10;JbhrmizzV8/RKf5pmlLEQmUWcMcHGEtbktGSn+8AAAq1bWtCVPrOyv4Af1e6AAAAAAAAAAAAAAAA&#10;AAAAAAAAAAAAAAAAAAAAAAAAAAAAAAAAAAAAAAAAAAAAAAAAAAAAAAAAAAAAAAAAAAAAAAAAAAB4&#10;nO2djZHbOAxGU0gaSSEpJI2kkBSSRlJIbpCbd/PuC0jJWa8d23gzntXqh6QIEqIAkPr5cxiGYRiG&#10;YRiGYRiGYXhJvn///tvvx48f/x27J1WOe5fh2fnw4cNvv69fv/6q99q+Z/1XOaoMw/uBvM/i9vCW&#10;/rm7to7Vbyd/rkdXDXs+fvzY1tVK/u7/bH/69OnX32/fvv388uXLf/qi9he1r/IpKi/O5RjnkU79&#10;XK7az7Hab/mTdp1baVpf1bFhz0rOnf4vOvl//vz51zb1T/8tuZQMkDkyYj/nVP7IFJnX/mwX9GvO&#10;JT+3E9oC5Rv27ORfMvL4r+jkzzHkQn+1DJFztRX3WeTHNeA+vjqGPgDKYz0x7NnJ/6z+T/l37wzo&#10;eeRef6stINfatiz9zFjJ33oA6PuVnnXD0HNN+SPXklVd6z5IX/eYwHn4WZLHdroh24n1jOVfbcRp&#10;DP9SdeL+c7QfXc1YnG0fp19n+ylZWd4pD/pt5l3XeSyXsqxt2iB6hjHJ6pphGIZhGIZheEUYx9+T&#10;R7DXp//zby/vWfLd+h5c6mu6NvWueITL6O1qB8/mZ0id8Jb2vruW9/Od/M/Y8Y98hnme93W+xC69&#10;lfz/hv7zFlz+9LNhz8Omjk0m/Xfp28MX5GvpI53PkPokP85d+QNN52+kjFyP/ci+LNsv7d/apZfy&#10;tx/iUdtAyt9+Nh9zPyl9ic4suSAbbL7s55z0C9hnWCAj7HYF51HntA+T9me3HdoM90KemRby7uzZ&#10;mV7K33X0qOOBrv8DdWi94L5tP459e12M0C5+yH3Qdl/3/0o763jnb8xnSvbr9Fldkt6z639AtukD&#10;LuyrKZnhb3F/Q5b8v5M/fd8+QMf7WJ/Azt+Y8ict/ADk08n/KL1XkT/P9vqbsrG8i/TF2xfn+t7p&#10;BvSJ2wm6xboYdv7GlL/P6+RPnMqZ9FL+nNf5w/527FtLP1tBfaU/Lf139u3ltdRt0dWR/X08R8hj&#10;5UuElb8xfYi8p3Xl8XjmTHreph4eVf7DMAzDMAzDUGNb7Jv8PD6/Z1w99oAZY78ftn3xs02+iwu9&#10;FX/D/MNnZ2fT6vzg1gnoDseE59zA9C1CXuvza19nP8zyoK9GP5yjs6sg/5Xd13YwfHzYjtAb2H89&#10;x6dIv1DG7ttn53Pst+Mvx2gf2JHxSQ3HdP3cfhfXe5Hy5/puXqd9gbbvWub4D7p5RJ7rl/PP7Lfz&#10;NeiI6f/nWMl/pf9XdvD0padPHRsp7SL7sWMwzhzLdlngk9jFCwz/51ry73x+4LlfJS/PBSzO9H9w&#10;XIDLybl5zrDnWvIv0MnpOy94hhfW4c5z9fxf6Qa3OT//HatQzNyvNd27XO1bveN5fN7ZAhjD5/XE&#10;jTid1M/d+J9nAOT7v8vKsUx75D8MwzAMwzAM5xhf4GszvsDnhj60kuP4Ap8b29zGF/h65BqryfgC&#10;X4Od/McX+PxcU/7jC3w8rin/YnyBj8XK5ze+wGEYhmEYhmF4bi61lXTrhhxhfxI/bMT3XkPjld8R&#10;dmutrNi9I67g/dx+ZfuQ7in/tDM8M17XB9sbtrnCa/CsZGz5Y3/BJrdqSyubnOVvfyJl8vo8LuPK&#10;nmCbwepeKDN6zPLP9uh1Cp/BpmzbKza7+t92tO6bPJmG1xDDr4cNvms3Xf8vbNNjG1tg/U/a9vnQ&#10;bn291+fymoSr7wuRR8rf646xBprXxHp0kBG4Xnbf5DIpfz87V23GcvU1nfwdb+Rj9h+zn/5Jeuw/&#10;+r6Yj5FP7vd6ePeMe7km2Mch+4VluXou/qn8u/2d/NMX1MUi0a/R7aR/9A253TH8FNbz5MHxR2fX&#10;/+17K9KPA7eSf9cebPt3PAH9PX1H3b3s2kbGqJBe+ikf9Z2Btux6SR1w5Ee/lfwLr+NL7ACs1pzO&#10;e8172cnfZcjvC/uaR5V/kTEy6cfbra/Pca+nmWl1bWYXl5M+vy6/1f7dfayuzevynK5+nmHsPwzD&#10;MAzDMAywmlt1tL+bK/A3+FN2cazD7+zm1q32ec6F5wodvT/egpF/j30YtqHlnBpY+ed37cW2kdp2&#10;zD/f5bDfqfD3RPD/gY/5WtuT8C1xL5Y/37PxPb/qPBHLzH62jJuHI/3f2eat/9nmuz6209lGa/+M&#10;2yJx/vh6sAFyrb9R6G8JOcbEcqYs+IjuraduzVlbOxztp2/mOgEpf0APuC1g16ct2DeL/Ch7zhux&#10;36+bU9Ltp936u0CvwrXl3/WfS+TvOR/o7vzWoL/JuJN/Pg86n27BM+kV5wpfW/9fKn/rbXSwY23s&#10;w0M+5HGk/1P+tI1Mk/gQxwg8sj/nEjxuoo/Rr24h/8I+Pffn3TzyvDbHfzv548er9HP89+j+3GEY&#10;hmEYhmEYhnvgeMuMmVzFf96K3fvqcB1457Y/MNeLvBcj/zWe3+D4eubH0Y+Zg2O/XaazsqF4Dl76&#10;6myH8ryglQ/QxygT12b5sf86fh+fpsvT2aNeAWygaQ/Fbuc1Gjmvs6kXnlfHz363XDsU2z92/m6O&#10;l+279ueSNmXMcqXf0f2/81ViU352+af+o16591UMTzdPKOl8Oyv5U8/pR/T8NHw/2GbtH7T/0Pe2&#10;Kj/Hco6X91d+zzLPb8VO/pbZn8p/pf9T/jn/135kjmGr55jn8u7Wh9zJ320USIs29uxtwFj/W//d&#10;Sv6F/ZB+znMu4xLaA3mc0f+QbYM02bZP3O3vFXxCHv+tZPye8vf4L+f42QeY/sFiNf7byb/Ief7d&#10;+O9V5D8MwzAMwzAMwzAMwzAMwzAMwzAMwzC8LsRQFpd+DwQf/irWzjFAR1zin7/k3EvK8N4Q33JL&#10;WP+YtXMyf+KxKN+l8ue6jkrr7LcWujiUjownPuKSWEDilrwOzlGs+1H9GmKj4Npx9I6d8nd4iQvs&#10;Yvcpk7/r7rhfykt8lY+Rds4XIN7cMeeO1U28NhBrCGWfZS0yx5vv+jX5nzmX8x0/S16ORbqkfok5&#10;8s+xUe+xrlmu10a5OJbrfxEPTj/lfjs6PUo8l+/b3/6hLex0APG6xJJ5TkHeG8fpZ7v+Q/6OCVzh&#10;+0794ljKS+qXcykn6V5L/2dcfuLnMn2bNu191LO/t+HvKbke3G5dT7v7ct4dXhvM97Nqh36GIrfu&#10;ex9w5rni+TI5d4A2lBzVL9AuHJ96LXbtOvsr/cf/o/OyTXveV5ce/Y/7Slm5r1r3rcrqtaJgJbeM&#10;De3SpGw5j4W8EueV7Z62mRzVr88jT89VeivowVX/Pzvu/RP5c47n3GSafh528eBOt5uHRJ3nNyou&#10;WeerGyt2OtN5ZTv0+DjLfaZ+6f/dfIW3sivDkd6FTv45f6Pg3cB9lXtCxp4jdAav6ZjXeO6Q49Wt&#10;c49Yyb9rr4xTrB9W7Zv8L9Xnu3VKPW/qDEf9v/A8i9W7TCf/o7LzTKzyOg/kRF2yNtxqrGadmfJn&#10;TJjrBHqdL68r2L1be46Z3x26cvDdQ/RNrlnXcaZ+4ehbuxx7j3mLvKOu8s15GgljBch6Qb+n3vS7&#10;9JHeO9Pud++Eq7GAxzmXrBN6yXN6V7+U+0iunPPs81aHYXgz/wCggvog4L8lowAABXVta0JU+s7K&#10;/gB/aWAAAAAAAAAAAAAAAAAAAAAAAAAAAAAAAAAAAAAAAAAAAAAAAAAAAAAAAAAAAAAAAAAAAAAA&#10;AAAAAAAAAAAAAAAAAAAAAHic7ZvNjeM8DIbn6HOq8H3vrsJVpIpUkRbSR6pIFT7npu8zICIcgvq1&#10;PLPAPocHu4ht/bykSEr2fIUQvgAAAAD+Mqbw52uOjG57b/PS2O7IsbS209vv5ST9zmYfd4g8Thj/&#10;3u6rsV0Zz9G+H43zkvufHX2/4rOeD9yUxmfRqvHOerLtf9v+i5rfVohDL3Xv/R+w/109+/6fWyOT&#10;098U145eP3Zsr6jvGn/30HNKUZtTLtH2OY20jkun33n2Xwe2NRKtcS+psdm1q3WXXPOMPjSyf6kZ&#10;PJboA0viusT91PWaesSzWU9MPtP+Oh6GhrV+izbTz3rrf0drae0vMae0Llrj/zzAn4/4fMpmNkZN&#10;lVq/wycnl+6t8RGJyzoXpuzncW14dlFjt/aXeWl9vHWm9faw/V9CPldY3qqPludq6oecPc7w01vB&#10;jjbO6vtLOVR0re1L0OtXNBa/0LVBbx6qHUdJk974XDt2277Yf8v49hw+9co1c4/E2ZwWeoy2/pU+&#10;Uj5g68OWXPSMz0xKB4khur5agx/TSvnpaF4cYf97+MSFLXzXWX63+4i5st+aWHILdWtBtLe/672f&#10;9oFcvOihR+fW/J8a+yhK49d1VU38/0n753iocd/NnJ+hrUZotX+upimt/1QM+C37ax1r83+uzvBi&#10;SaqGOWL/S2Kua+g7D66tb0bUQUfmPSL+a/S4ZA95RJ8zddjX9DV8z1mixRxt39u2rcM3076uo3P1&#10;Tw1HYtNI+2u9rB+k7P/T8V9sbvfwO4/wyf86fvaeXZ2lc8kGLWcZom/ruaenibSla3bR0NbWtfaX&#10;tnI+XrL/3vfdWecyVlsT9uzFSvN4F+7r3f+NaufofMWeT+VTNob22D81zxb721zzjv5gfdKeCY6y&#10;v9ZgS/St107N+UtKl9b134td/zImeZehY/bduf+n8/9+7eroLuh8UPvOU9e6uRxhz9m8mNh6zl2z&#10;LmrQPt/bxmzaqJmL1Ec5f0/VTCPrf52jSnZM+UvuGdHmqubhxUTRrOac++Y830vrdwEeYifRv9aX&#10;LyFvt7VybD37/9Wsydo9/mT8suQv+pxf5wk5Y9iMZq2ktDgbrfXTjKXV/ikdX5lrvVi77//X+xOx&#10;i+cLtj4ovTO4Gq1snfBU7chcc+fc3nuhv8H+S/heQ3v2T/mC1vRq7h8V46ze3hwEWdubuaafrdnD&#10;Tc74vWfFh34j/8s6kH9HfffkzSU3Vp0PJQ7bnDICabfUptaj9x2A904q5zuj6v9aZHzv2MYWxvmA&#10;Z/+Sbt7ey67Bn8Lbm7xC2znbqrRtsf/R/N9ie53DpgNzrbF/Dd6Z3P5bbt82kiV83iWn6oNWP2q1&#10;/5nx39Y+tq7S3wfu3Dv9oGUuF0fzR/DP6kS/e/i89+p5N+PZ3O7PZZ820r9+w/5y3q3nV/r+177/&#10;3JTeR+0/RV1TmttvxlLnti31qW5vLbSp3wGMpsf++rxtjrFI4qTNLztztLenb0v94q1LTe67cDuX&#10;JXzOPI9oPsfxy/cmOb+wz3q5RTR8hP4Yf7b9c3WBF5+8/d8zcW8NqXekubxg5yJ+JOOTM/DRmksu&#10;SPmSzh9rYQ5nIH1718SnvXcS3vlfbr3IN+Vn+PRS0a43l7P+pgYAAAAAAAAAAAAAAAAAAAAAAAAA&#10;AAAAAAAAAAAAAAAAAAAAAAAAAAAAAAAAAAAAAAAAAAAAAAAAAAAAAAAAAAAAAAAAAAAAAAAAAAAA&#10;AAAAAAAAAAAAAAAAAAAAAAAAoJX/AOCrivumi2J+AAADJW1rQlT6zsr+AH95LAAAAAAAAAAAAAAA&#10;AAAAAAAAAAAAAAAAAAAAAAAAAAAAAAAAAAAAAAAAAAAAAAAAAAAAAAAAAAAAAAAAAAAAAAAAAAAA&#10;eJzt2s+R2jAUB+A9cqaKvedOFVRBFVRBC/RBFVTBmZsDM9bk5UVa22ADM/kO32TiP/Kuf9KzLO9X&#10;13VfAMB/a9X9+vq+uf+b9637fe/+GVnO/pZvd7Ov5Hzu903tA11/3rt/Nz4//1J/in3veHO//rVv&#10;S3+aN/OiZHwO24py74+VfY/kvw9ZPmKjD8zimQzGjMWp+Z+DU+hju1AXavMTHhPr7TGM8e/k0u/b&#10;VfY9k/9Q/eB15nj+x/FbzsnjettfQ/6fpcy5ahmXzIZq75jnxV7+H2OdxuYU64HsNj/MEeT/Gb6f&#10;mPcNPQsOI/K/LtDvmJ7/ecI9HTsXuIzIf4l+x/vzX6XMtmnc5vpf2vzpuqUt73/z5z/3OGyN79IH&#10;cv6HtD8rc4mr7BfLf+zzd0z+13TsLvWBnP82HFdrr/SPo/xntQnZjz1nqP5vK5nftx/DtXL+5Xlx&#10;arRZ1p+t+86rjP9r9++6fkvJopV/2R/nALHv1Mb/3SUdW6wr7TBv/nM9/8vYL+N4yvv/rrLtrtSN&#10;g/wXy//S/b2mv2tsj98CavnnOt3K/9DIOh8fa4h5/+tsGvkMyXP0Vv6tOUSuC8b+svLYzt8C9439&#10;re9/p7StlX+pE7X3vS5k7rm/rEef/V0jm5xn7ZjavDDapPbN+ZdTm98f0v0/VY555u9/dqHd2jnr&#10;dH3r/a916v6stTz6d38/5V9q/7bSZhz7V33gpe51ucztL+F+l22PfKvN+W+7du2Pa8Zlne8YtvlW&#10;vIx1mO/l7ItzGJOtNdox+deyjO+UtbqQfzbf/+YTa+zQGMvfdC7d8HtZzD/2ofv/V/0cILbXqvPb&#10;dG3fAeYR7+eY9ZVVqhVT8s/rRlNr+zrMCcwH5lGbg815bvlm2DrnMLLf5X7w7vsGAAAAAAAAAAAA&#10;AAAAAAAAAAAAAAAAAAAAAAAAAAAAAAAAAAAAAAAAAAAAAAAAAADM5zdT8ocUYo2ougAAAzxta0JU&#10;+s7K/gB/jlEAAAAAAAAAAAAAAAAAAAAAAAAAAAAAAAAAAAAAAAAAAAAAAAAAAAAAAAAAAAAAAAAA&#10;AAAAAAAAAAAAAAAAAAAAAAAAAHic7dq9caNAGAZgh8SuQvnlqkJVqApXoRbUh6tQFY6VcccMO/N5&#10;bxEIsxYwT/AEkoAF3v1j0Vvbtm8AAGzSof3z1nn1ebC8279c25F8236b+N27+rALc/L/6j+f1YHZ&#10;97u2W5ZN02eci1nmvzX9MfL8z6GcT3VgE/l/zDjGR3+MdM7xeIewXVeHjAfTvA+0w5J0f69P7JPk&#10;eRz6PHP3UEb+WxoTSvmna0nneJL/4vJ2WMOU8T9tU2rj7zvI/jTzHte+7rXlv9dnwKH+bcp+Nce+&#10;pfKfM/bPVbOu1s6/efLc41zuWOG64z09zDi/pOunbj+Q5ghfE7bd4liQcrwPzJGGpPtSq+6n414q&#10;ldFd9+eE/iv1HzXq+Bos+Uy25PNwfL6KZdwXyCI+X4xtm/LfYt/+2/kv+Twc23zT1628rk0dE/K+&#10;6yuc66M+run79FL+zYzzWKNaazI/baOlPv/Y/j/uTFmHnXsNcS0i79tSv3DfcPY1879UyD+5ZGXd&#10;RvqclOMx7HNqx9eRun2bUEbp/LY453t0L9fQ9sfyT5nm5Y71BelaY91M+045l/w4eZ3YoubJbB9Z&#10;cj1gLP8kzgse9cXHgW2m5B/XAOO6717WhJq+TTzzXJxnv/S7sKn5d04hn7Hjfbbf53ixnNL8r9s3&#10;tfdzuPbrTrKf65bdu6WPv/Sx587/3kL9il59/18t5V9rXWTp/MfeMw7N/0r1Z69rQc+4LDjW/0b+&#10;Y+VM3a7U73f1YevPAWvzG/nH9p/eg36EuVCq39ewXWnOn/pC/wlbX/7NgznrlPH/Wvg+7//vYftX&#10;37e9WLL9x7ab3vvk8//SuH/Nfo/bl47/6nu2J68e/+O6Qhzb47uD7vM5+8y28+/G/PtA9un30ljx&#10;0/Vu1pF/J/X7Q883pTqw5XeAa5T/D7d2OXP2Pbff1wkBAAAAAAAAAAAAAAAAAAAAAAAAAAAAAAAA&#10;AAAAAAAAAAAAAAAAAAAAAAAAAAAAAGBN/gI7hxmAP4Ji9QAADtdta0JU+s7K/gB/koEAAAAAAAAA&#10;AAAAAAAAAAAAAAAAAAAAAAAAAAAAAAAAAAAAAAAAAAAAAAAAAAAAAAAAAAAAAAAAAAAAAAAAAAAA&#10;AAAAAHic7Z2NkRwpDIUdiBNxIA7EiTgQB+JEHMhe6eo+17tnSUDPz/5Yr2pqZ7tpEBII0IOel5fB&#10;YDAYDAaDwWAwGAwGg8HgP/z69evl58+ff3ziOveq5+JzpawAZfj3wf9R6fmK/jN8//795dOnT398&#10;4jr3Mnz58uXfzy6+ffv2O++wN2UE9PtHRtT7tJ6Vnk/1vwI20f6u9l/1Ufp2laaT1+3f+Z1dVPKs&#10;5ARdGr1epcuuZ+28ez5wauereuvsH+Vr33W5tG97HpoPeQWq/q95ZfWO+58/f/73e+gt0v348eP3&#10;vXiGuqgvC0Q6vR7pM0T+nibyiLy5F2WrXkgX1/V56qBpIy9PRx30evyNz6r/x9+vX7/+fu4KOvtz&#10;TWXR8iNNlM8zWZ8jPfcy+7sMUZ7bCJvH39CZponvjFtccz1FGp3zOLR9RT6kRxfIqelU7vigC9qy&#10;yh3XVB+qZy2f8X3X/vrMFaz8f1Zm1v/pf528gcz+6m+oU1Z37Bx6Vn3RLuKDL9A+qH6BPFZydrpA&#10;PsohP/cVVZ39+ZDPy98Z/+8xF7jF/ug8+iP17uSl/pX9fR3iwLbYPf5GWyB//vd+hqz0UdqLQvOh&#10;Tpku8LcuK+2RuV5lf2TU5738TG8rW1zFLfanHWu77+QNZPZXf4fvzfoofd39j+o27nHd/SS+I7M/&#10;etA2lulC06nNaRfI7/bHP/JM/OUZzTeuIeMz7E9fUX3QnwF19e/qbxnfHJoemelb+j2epQ90a6XI&#10;i/v4TcD/kcbvISd9LwP1xodkutByMvnJX8dD+of/77Ko/DqXqfTpuh0MBoPBYDAYDDo495fdf83y&#10;b8E9uIQrOC3zNH3F257CY+XEpVjPZHGBe2JV/urZFZ/WcZiPwqnOrui44m3vIavGtqtnKs6q8h9V&#10;XHq3/Fv5tEdB5dY9E16nK3J18fx7tetMVuXV/P4J51WlPyn/Vj6t0pPzhs4p+h4F53iQhXycA1np&#10;rNKBxhW7Zx5pf/TjnFzFeWncXmPmVfrT8m/h0yo9EaMLwLPC8yHzyv7E7VQWlbPTWaUDtT9yZvJn&#10;/v/KHpoT+1ecl3PWyr1WHNlu+dT1Kp9W2R/uWPkj5RQ9/8xGyNz9f6oDz6uSf5crW6Eaq+BG9H7F&#10;eQVIq1xMl363/Fv5tM5P0oejjGgP9DWe3bW/jhme9lQHp/a/Fepv4BqUd698U2YXrvvcwdOflH8r&#10;n9bpKbO3zjsZF7TszEYB5RaztDs6eA3769jJx/fiKS+IT1POC3my61X6k/Jv4dMy3s5lA8opVmUz&#10;J3eulOeRZ0dnmY4970r+rl6DwWAwGAwGg8EKxL6I+ZyCdSBrmFUsqksTc9sd/uce2JE1gG4eWeau&#10;LPcG52JYd3sMfwXiH6y/d9Ym3fr1mfsZM65R15SB+E6s8FFldtcfCY9dB6ivxre69q9nY0iv+sue&#10;5xnuab2d94p77pf0zEGmM57p9El/8ziGx2iz8nfyymTM0nXXd8vI9LiDVRxJ9+RX53GUg/A4re7V&#10;1+dJoz4HnSuXo/FA5eyUD3CZ9BxRxZ/h88hHY/5al6r8nfJcxqrM6vqOvMQbVcYTrOzfnbcEXczS&#10;+S/4Ou3/6MrPM2TnO8mrOmdCOchSnY3I9O98R1d+lZfu13cZqzKr6zvyZno8QcePkd+KZ+zsX+l/&#10;52wR+fqnyxd50P2Oz9L+nsXis/I9r52zhFWZ1fUdeTM9niAb/5Vb9DZf7fu52v8zXVX9X8vu7O8c&#10;9Kr/a95d/6/mf13/17KrMqvrO/Leav+Aji0+huGfdHzp+CuXaTX+q9xu/4Ce4avOn2e6Ws1ZfDz1&#10;MU55xax8RTf+a/qqzOr6jrz3sD/1rtb/ei9rm9zXPuQ8ms//PY3OkX1On83luxiBzoX5ngEZ/D7l&#10;deVXea1krMqsrq/SZHocDAaDwWAwGAwq6NxcP1c4wEejksvXHx8Bz+ICWbv7HszVOoL90s9EFWer&#10;9mO+ZzyLC8z2MiuyuIDu2dX9/yfrV7UVsTa9nnFu2J97ngdy6HXnIne4PNJUa/TOLpke9FygcqSV&#10;vm7lG0/g++/VPlXsj5gTfmOHI1Q/o/Erruueefbve7xR+cIsjyxenXFGHS9Yxft2OLou1qlnE+HX&#10;M33tyLjiAk9Q+X/sjwx+biXjaFUH3kc0Dqfn+Chf+4VzbnxXfVRnJnheY+v0kyxG7f2Ftsf5FbDD&#10;0a24DvKr9LUr44oLPMHK/yMrfS/jVXc4Qs5SaF/Pyu/k0Xy7MzMhD22Wclw3VTmMberfKHvF0Z1w&#10;nZm+dmXc5QJ30Olb+6z6eK/rDkeo77XM+r+O313/37E/Zzv1LOdu39K9A9pvdzi6Xa6z0teV/q/P&#10;32J/9//I7uM/+sdPVum8Pfm4Wtlf887G/x37oyO/dmX8P+HodrnOTl9Xxv+ds44VqvW/ct5ZTIDr&#10;2m87jhD5sJ/OMbNnsjlwVl6VR7V+PplbX+HodrhOT7dT9x0ZnxUzGAwGg8FgMBi8f8Dn6NrvUbiS&#10;t75b4x7vvtfYwAl2ZX9PXBRrXjgA1pSPqAN2PAHrWmJ6uq+y2wdcAY7hFBpP7HCljq8FYha+biR+&#10;FvB9rL4Ox2/oepUzGPHRmA1tS+ML6KvjdlXGzv5dXrtptE66D97luFcdQfa7I7T3eI7rlKvpApHm&#10;at/KdMT17BwLcQuNszoHo7/PRT3QDXol1oXfcfkpQ2Px1VkBtUXF0e2kcZm0rsp5Ukf9LaErdQwo&#10;D0tcD/torFDTESel3Cpe2KGyv16v7K/xcdo9bRI9eXxL8/L4dsWrZfyJ21z9mHLIip00AbWfxx89&#10;jpvxe1fquPrdMdL7+wSdOz3dt+XyeBza6xNw+ztvQD76m5TImOkGVFzUjv0rHkOxkwY9Ku+Zyat8&#10;mL9H8EodT7hDyuUDV135lhV4jjEus5nvtaAPOV9Fn9CxqeINvf1W/XHH/gH1f8rjKXbSKOeo46DK&#10;kX3P7L9bR+UE8fkdd6icn+7HugId2/Tjey3ig2/0vRzcUx1k15Vfy57vzteDyv74MuXUHTtpVCaf&#10;dyrfznf6h7eZkzoG1Aa6p8fHZ9ettpNT/k+h4wdzzOzeao/d6rrvJVqNW35fy69k6daut6Txsiud&#10;nNbx9LnMd13Z/zcYDAaDwWAw+Lug6xhdz9xrHtntSYx1kL4rZadMXasS787Wgu8Bb0Fej+ew7js9&#10;R1Khsz+cAOl27K+xFtY7PPcW9HmCtyBvFo8kTu4xG+e0iD0636VQ7lbjFQGedZ+jPLTHIDwmq/y/&#10;6jNLq3kTQ6m4GC8X+TSWoxxyxylpPbX+Ki98zo5ekF3LUblO0J0xcY5HuQiNpXc+w7l75ZXhCzxG&#10;qvXz843OwVb+n3KyMr1u2d5sb//Yjdinx3yxbbZvm7YCJ+JxYuyt7aLTi8vucp1gZX/s6mVmsf8V&#10;j+g2CjAHqGx6kp9zQd5fsryrGLDuD9J4N7HW7LejKu5VfY3urVKuJfMZK724v0OuE6z8v9tf5wm3&#10;2p9+SVz9UfbXfrFrf/wGeanPI1+3/2pvB35EeVXlD8CuXqr6nmA1/6OecIy6B+UW+2u57odvtT86&#10;pBzVy679yUPHDrW57nfZyQd/rvyfy+s+P9NLds/lOkG2/vN9RTq3yM5fq24cK3vR/nX/wz3sr/O/&#10;6txyoLOb93HNk77Ms10+Pv/LZNF9GCu9+PzP5Rp8TLyF9eLg9TD2/7sx/P5gMBgM7oVs/beKZYC3&#10;9K75jmc6ha7XuvG2ip2eYFfX9ywzy0/jP6u9kQFdl74FXDn7UIH41+5+zVuwo2tP/wj7V/lp7Edj&#10;FX7GKeMIHcQtPJ4Od6a8Lv2PM3HMfZUP455/J3aqdfB3JFaxkqxuGpPRduHyKLJysrrC/7iuNY7v&#10;Mqm9iFM7V7iLyv9rjF/PS9HPlPOtOEIvB93BnWj56EXP1aAflyeLOep3P39LO9J4OvJ4G/C6BTyW&#10;7HxAtg/bY7PEz72uFYen+Vb64HnixhUHu2N/9/9A25aOUx53zThCBxyV8nGuw+7/XfujFz2P6TIH&#10;9GyPQtNlNlZ9Zfb3uYieravyUv0ot9jpw8vh3glW/t9lyvZaVByh64Q03fsf72F/ZKKtZTIH3pL9&#10;K27xWfbP5n/4QvWXuo8Cn1RxhK5T/H/X/wO7/g7flOk8m8Pv+H+tWybPPfx/Zv+OW3yG//cP9fdz&#10;sHruUOcpGUfo5ejZwap9e1rXhc4zq7OZbjfFav4XcPtX87/Od2bldPbvuEW/d8/531vHvdc7g/eF&#10;sf9gbD8YDAaDwWAwGAwGg8FgMBgMBoPBYPD34RF70dn79JHBfhP/rPa9s8fS32kRYG9M9nmEPnVv&#10;qcPfaVxxiexL83x9/wjvANIP+zeeyVN2dTnNR/ft8ansr79jwr4j9tnpPrcsz2pv8K3yd3v11Yb6&#10;HhCH1hvdsodM+wT5PattV+jq8sgydV+k9o2s/zjYr5bl6Z9qb54/u9obsmt/3stE+vjf37Gh9n9t&#10;vIb9/XcH1D70ww7sI66gfanbyxbX9bdFOqzsT9uhTzs8/6z/c538eZeb7qHUfZsB2pu+a4l9fvqM&#10;7rHVfLVNkobvJzgZQ1QX/q6hrG8rqFtXnvqCzPaMvfiGVZnkqe/vUZn1/XIn9ve97lznf60n55J0&#10;nFRZuM939IrMei5E86U9qNxXfNPJfnE9X6G+AHmqvk273PHn2dkBzcf3lq/kx49r/gF0p+9iUz0y&#10;5vt8pdKxz3m0TtpffU+v7mXX+ZTmkb3bj/bg/fB0TOCcUzafcWBD/+3Mahxm/bQzliPL6dywsz96&#10;1TEL/+ntSO2v/l33mpPnif31XCLtV8vM3l3l86zK/vxPO74yJ0C+7ONAfnRHG878Orqr/Krne+Xd&#10;dYHK/uo3AW0xixXomVFd31BXnR9W5xsy+1OujuV6Xc+lep/Scx+d/ZHJ29cz0MVdducWke6q3N14&#10;d9Ke9N062pc+2nmKwWDwofEPiCRqout3vRYAAAR5bWtCVPrOyv4Af6I2AAAAAAAAAAAAAAAAAAAA&#10;AAAAAAAAAAAAAAAAAAAAAAAAAAAAAAAAAAAAAAAAAAAAAAAAAAAAAAAAAAAAAAAAAAAAAAB4nO2a&#10;iW3rMBAFXUgaSSEpJI2kkBSSRlKIPzb4YzxsSNmxZPiaBwx0kOKxy0Mitd8rpZRSSimllFJK/df3&#10;9/f+6+trSoXfg7Iel0z7EulfU1Wf3W435fPzc//6+vpzfst1px5V1i1Vvn95eTnYY+v0r630//v7&#10;+y9Kdax6P6P/afvP4P+ZPj4+ftoAcwFto64rjHbBdYXVkfgVzr1ZmnXMOLO0+rN1ThnSP6RXUD7K&#10;MUpzpIpXaVb/5/yR/V91S/BFH/+Jz7iIL3KczPmjwohf4ppnS5VXXdexnpnNRVke8mNsyvMsW6af&#10;VJxZG0i7VL7P4P8Otpv5/+3t7fCOiH14pvfHTCN9QZsgvNLinPZH/J5WHcs3vJeRXvd9PpNp0p66&#10;si3nHPjo/p9p5v/sO32eTEr4sOxY7SbHVMpQ9zP9VN4jr/TfqB1n/67wSh8f1vlsDiAeZeT9J+89&#10;itb4P4XNmG/p5/lugO2xYfbr7Jv0vXw3GI0V+T6a/T/HkPRVliXLO6vvEo+irfyPL/Ft9rWeTn8v&#10;6ONJjrXZ92bzUdaD/Hp7yPE802TM6TbpZJlu+Tvor9rK/6WyUb4Dlm37e3v3Ne0k/cD7BGnRpnjm&#10;FP9nPMYk8iLNXr4lPer8r5RSSimlnlOX2ufNdO9lL/nWlOsgl7BhfRvNvmv699RftfZ5tT+sOdSa&#10;yWzNeo3S/31tI7/zR9/8S2shrJv082soyznqR/zjMbu/lN7oepbXLK1RvybubM1pVua/iv2y3Psj&#10;X9Y88pz2wjO5zp5tJPdeOWcNl3s5JrB3sya82zrLmeuJdY/1Ztaa+rpShfc61r1MK21Xx/QZkFde&#10;ox6nxHol90mXve6lMp+j7pdsb6P+z1obtmY/vms09le83Mct6COs860JP1Yv7JdjXv+3IfchEHsZ&#10;dcy1yrRVptnzGtm3/xNBnNH9kf9HZT5Hff4/xf8Zf/b+kHbinL0Zjvgz/8lYE35qvfqcl3sC+HpU&#10;p/RBt09ez/LKsNE+E/ezP3OdeY/KfK628H/fRymfUKY8LzHWMX4yltGe14afUi/CGDf4jwAb074Q&#10;c233fx9zco/ymP/5fyLzKPX73f+zMp+rY/7PuR079H6SdS318Sl9g7+Iyzy2Vfgxu2cYtuT9Oudh&#10;xnDiYue0NXud+DP3KI+Vg39r8SFtJ23KntnI/6Myn/MuyH5b1il9R9/OumKP0VhF3Eyv59f92fvB&#10;mnDCluqVYdSDuaT7N+fy0TcYz/fnRnn1MNpA34tMGxM/856Vufe1S2hpvUA9vvS/UkoppZRSSiml&#10;lFJKXU07ERERERERERERERERERERERERERERERERERERERERERERERERERERERERERERERERERER&#10;EREREREREREREREREREREREREREREREREREREREREZE75B+Hl45q2TuOnAAAAVNta0JU+s7K/gB/&#10;pYUAAAAAAAAAAAAAAAAAAAAAAAAAAAAAAAAAAAAAAAAAAAAAAAAAAAAAAAAAAAAAAAAAAAAAAAAA&#10;AAAAAAAAAAAAAAAAAHic7dbhaYNgFIZRB3ERB3EQF3EQB3ERB7G8gQu3piH/ignngUObT/vrTWzO&#10;U5IkSZIkSZIkSZIkSZIkSZIkSR/RcRznvu9P5znLtXf3v7pP929d13Mcx3OapsfP7Bj9LPfUvXUW&#10;y7I8XscwDH++h3TvsmOVfbNhdq3N+z21f9U3v/6N7l+263tWOeuf5XqdffvG2b+6XtP9y3O+71//&#10;1+d5fto/1+z/fWXbeu7X79u2/frM9+e//b+v+h7X96v3QK7Vd/ucRdWfHddrkiRJkiRJkiRJ+vcG&#10;AAAAAAAAAAAAAAAAAAAAAAAAAAAAAAAAAAAAAAAAAAAAAAAAAAAAAAD4QD8K+ay4UtoqZgAAEXJt&#10;a0JU+s7K/gB/q9EAAAABAAAAAAAAAAAAAAAAAAAAAAAAAAAAAAAAAAAAAAAAAAAAAAAAAAAAAAAA&#10;AAAAAAAAAAAAAAAAAAAAAAAAAAAAAHic7Vyts6y4037/NiQSGYuMjMQikZGxkcjIyNhIJBKLHMmb&#10;/ghwbm0Vkplf9bO1u/ceZk7xdDqd/sxgtBmM6buuW47jiEYBxvLnrUG4A7AYowv6Oc150q2Z3dh1&#10;bUEoDyd82APKd+kLBZ8wDMP/fTlinstbml518N7rQByUXo5A/PUGXGKREZOEx531kyoia7tUHiZ4&#10;VOmreJzY4vI2vyeUtyzLZLRyn/JHSzwKi+k4ehLAhEzG8iFzkRyWgHJQsP6zuQTTdf64421+T4B3&#10;XGfdjfCHrC89Xo5cBQAbI4MALv5qSEVnVD8suP7wLaaPGlGwJ599+rzN7wkZ3tU2DazjETQBWM5F&#10;6Yl/O/h123Ow9REKwNmuHcreyD7a8RJMpxaknyb86/g2vyfodGyFfjN+6kZmlnZejwHomwGVfEkD&#10;PsE1Lsx61Qx7+bmHL1/bv+tw/2c0JMVAvM3vCa2eNK6y/8BGNoYNfVnIPs6w+oWUPU7hqGL1mwYE&#10;YOOOJ4P1br4LoM+zJVMJn32b3xM6ZQdS8zE4awxLAPa26mFt20ILN0mAB7imRQLlqV9R0bM7vA2n&#10;4ei7cmRMqicBqO5tfk9Q/fwhAQx2hAObBFDIF8CDrjBBk5bhQY82rm27vvcolcNPzhYZmmo6usbu&#10;q9WsAeptfk+AxU2NCvMn6XwsE0mgvDq8vmtQADMSDfQA93hbxDOGFBMbSXMJrjPkLtE26t/m94Ti&#10;0hUTZkMOMRfLvTrir/H9R9oZZkbjyB4ACqDw18brYusWBZsEBIBfVHj+hdOQvM3vCbqsemxNoTWi&#10;o3esaUvo7RXH2DQMeLSeHgAcbH3fNsYWzVgm+IAaSAC6t2T+WR2+n7/9fCK5feHy2tapvP9gK/0m&#10;HdVPZE+v/OuyB43JqpwHxR0eUQCWhPhxrA/mbX5PGJbPVrYrqOpyc1ujm9OeKv12ctGF5KoH2J/S&#10;yt7pFoKkEJa4prV+Hw3J8AP8lyu6uQUux2ZWcm2QvsJQz1hLhhGUYEhg/5Mpj8BFdnfh4S/wpA9v&#10;83sC+eoeXvVze/19K84NuD+NdRrZFzF0Iyy8xnMQI904lPOgRRN5fXkJiwfXaEtLyPvb/J5w4It/&#10;8uoDL+FaYnzcxbMqrl3j5q67BKCL5Z9my1ZgwAMfBHAGfWnEJ6Yq09v8npCr1Vs0+TMY14HH84Ft&#10;7ZuRPP4WMezb+ikfrYGQRo+wCKDSDSSZKwx+m98TuoGXfVvwD9uABPR27LCtLfr/pwAwR1RO9zNK&#10;HPDIbzlLdCR9Ov5tEYlzX3/+Far+dvAdkY+4cOZ/zsAe+ONHV/ZtdI9+n1Z1/T8T/VjBbunT0HRf&#10;7//dUlbJF5ueOM1lA2c/PMf75PYvtEWqd2fpmGu1W5ZiNmZOkik0Fz3EDm/zewJqMez83SHRQVP8&#10;x3a92P8zswHpvkCHYw0T10/ecjYlGkTHWNfgEWPEIgHz9fxxGcG9c8yzcujVUBy8Wfv+yu10imyk&#10;NeTsU2AUyeLBp2rwyJvFfb//U9zcAPQtRXxwdBVuAyQ0LCj7x5ubAPiYTxadu5lPjvJVWHzd66Gu&#10;PwhAF536+vx3DnjW++rXFZM+uck0Y3TsEE+33H495j455FhdPjb68F8KgXizGEiAv83vCZyt9eX1&#10;OWJvOeu/LOTNb1facz7WfLr4l8MHwTIlfKCUwmrUqfKr89fz5xUdgT8Z7+6q+lSXjgQAPl31ku6Y&#10;WmW4OEAKQD5AOLacvt7+MZ1Ibj28O65//MPQdmqwuFEW77e/7HeM/xtFZ0Zf416wjV7N6W1+TzgX&#10;WfOZppp/1/9YIRGgXczHqgtTlsAefXTRqhokltOxLZGyRQlMWBdSy9f7vydJ3+PC8bF/X/+95kHA&#10;HcZgzxXi/kwO/UHYUsgh7dm7GeoGb/N7wkVz6PpOdUzjvv6UBsB8j1P/SfqGkQPhiYPit/k94aI5&#10;32noy8xvWB8xdNqt/73qjS3OMymH/5y/DELAt/k94eKf/xCa9tP44epXs7/+pwZwhpw0ILhANjH+&#10;Cv+YwFx590cDBrQBG62qPT9VjUF7FxYLhwRw7hT3I/xjObriceX7CjkMX4Zi54ry2xyW7fyULb6d&#10;yfMygqlQwQfFxWMWQNu7eaWd8ivrnzAE+rgz390qKnMiKjn6FLZIgC3Y81h03WfgfCU/fYfZE/Qq&#10;519Y/+gTlD3LGw+XPisKYf/oNtT/IEUMCQLiO2NGyJqmlkKPgzLpRQToIjg/f33/S4fdPrYscuXf&#10;doMvblCN4WEpt2WOa5gXtAjLRvRDz0nBEuucuXNOn0D7TIkLi0v0Nr8nIH+lpu2o1Q7jl8SF3prZ&#10;XfpLqytWTfypHaJnDdg4e4DNVKBEb/N7AvNX48ZuDqzkPg0UxXJmN5oeoxskuVJcGLFnri0uE1TD&#10;+hnz5mvm8rFFBVHqB/hzfs9v6jrJlwkrvR3v/8gxHdaBF53WsAR/tsJg5iRGzIHMXEAHEXlQobf5&#10;PQEXD3N3G/p27PjuOdl58GATjrOc32cwa1ucag8URPk9ZT6wNFb2SAABjLBTdg3ieZvfE3D58dCK&#10;4Nu1xe05Pb/jgNYQd3U/cq7o7PbDQjj2CpjaHBb2tCb8DREThm/ze4Licjbs4EiMzC34S2gAsPTf&#10;s5FbaxG861AIYPGGlDnvcaVHNFjHn+Dfo3VLAXqeEPPlz9COSCOUOSwfcbo2wsFXHcS7azERrCL1&#10;m45Khm/zewJ2suCCTtT0pP708Mam6W2Y9yUk65fziKMihynMq+tXVARbRqontHGj2Nv8ntDiDsbc&#10;7a271WzHBzbxNlAD4KUQ0AdES606ffcHQEXMcArOc8XobX5P4OWn7GdPPXsFk1VhW8JAwYC6Vwh3&#10;7pBS1DN8YptDyCmxAbDcKPY2vyco4q71RBlcXraWit8AsHJDgJRX3RPc6dTqP7nwZT72EiRyLdFy&#10;p9jb/J5Q0542cnNbpX9m+5oaCUE+fy7/bCSAERrjXHCJTEA2Nu+fTOu/lvj4N/ofOV9t13A194EA&#10;SmTr/0n1uGWi0YClnPFx5XjBQliwzEY1dyMBDfPYLPQ2vydg3944b2DWrib+Fqs3nOyzyzpDSsca&#10;to9k5DlbYuay4pAEmY6/2OLi3fQ2vyfkuFHX2jZdzY3g1Q9HTfYVBwBzmn+GQ658IWwCU7bI5BJq&#10;fvTLclbJvr//6VLYWw87eMW5rrFdyukf9pragE/AsxXaHmvKkMJgu9FUiL16Cd/m9wQ01hkj+3iN&#10;d/AACK/xBPt+dLWyV/6CWz20Q+JN0PH3RtpDet5+iH8q74wCcFd3KzeFUE1goI6YczKia8En3rJW&#10;2CJr/ci1c/SlTvn8BP+yUjD1hKfWXPUfWdT1bzuq6VqqbSvMeTlIAI14MNr98OdwHPvSIM7FR22+&#10;vv6thjXV3tfM3i+RgPYPh7lwYu64v52yXu7YsSyKp95aa8fQAQP/m8EfgFLi1/s/nfJl/5PTtnBr&#10;M/nDRSfI/tsVqNvVY7NfnX9aSDvG6JN3XPNG/jA8sJbIgbrA3ub3hK6npTfjEIeOyFP9fl35/HfQ&#10;HpvghIQkAJ2OGBLB+g+4X+r0Q9/BlyEKitwF9Ta/J6jeI/22o8S/4VEWkAqPf1wVgMGcx2Mxjx/4&#10;AifPWAAKesW1w98I+cBfiH8cNjGQz99A+wIoMCrF/A9/V9xCthBgHiE27tkloPmXYUw+DahR7E5/&#10;/f634x8fPx9LhI5PSvVTAHDG9A1Ow7EAJhwO66tPZOMSA/Y8F7ufYlogY/QD80+17NHRIANYc3D0&#10;yH+jAdgxZmhuXVEdaoqIGiXas2sOgqCqKDmU8wTzId9//tXuDtitLel62eYmfcp6fmaO8Cach8Si&#10;fksC6NoqNbIGyoSpmUPEREmCUUKYfgjr1/s/tP4de3ZtA45QXvJmNbi8DZa4Pc9yojCSt3RJQIu+&#10;UTEbMAyJfxt1j5kiFGn4Df8PG3Wa6ezb5rGFCJS7jnZE0CdhYBXYTW4x6sEsN06KNhAggrFIHDX+&#10;Av8N1njKZ98272GwAWcnZO5rORwy4Nt5EQQQJ38goKcI/lFacz79wh/gD8o67HE4+9ap8ScZLO82&#10;WP+NunYDYBvMOdva0fGnigsJ0yKNietSxLMcs9PtGEJ27uv7H52FLbvxaCtoPCQ+YJKDBpvAIu6m&#10;NgO0Ge4Iqc6+7mhMFmYBizOkMOmxbyWiMlxI6b++/7uhoz5y9gs4o+XyHZX/8W+D4rCnMTwHTOPB&#10;LWVP4RqIg5QDsVP1HMpJX+//VTsd2MYXjqAA29kNA/tfXyMwqTyqLb4ex37NAKnC6cY/mjON8PX8&#10;z8FFsuoQs1Gv38adjivbf3L04ZacwLPOodg8F3Isq5/gcGjPUbp6H47WX8//Glzk2QVo5pkXqOsF&#10;7OPLPOCgr8xGRP4B4l9qd12xFabpHF75AhYSzYPWw9fnf0/nfhvqDT8U5A31HptlHTgkBlIory0t&#10;3vusGx78nNk84B4xceEhgHne/dv8nuAy128OuvziyoHWot+qOnMOfHEP1Gc27AHT1Sh1PI7EMOIc&#10;EAjw8/X8YzonOrCspW8CYA1w08TXGRg9YWJ3m2jEsQC/Hc+6Gf1Ur8Us4Gno3ub3BOPttQXSZs/J&#10;Vqh68mUGx2rr/R4TtHfvU99Vqg00hewDl034p+osjM5v83tCp9R4G3x32twkcEnGD3W0a1qPub+o&#10;Ng3edzJySww3RNYv7l8f/8MpTUO9WLMa9K3KoW5TEBtdkgFT/+vQ/9F2MIEfuvIIt8GtXyB8ff5H&#10;caXjWDDn4eoU2K0NJkecjz2l4msWmCXQo/gGDiHQ7aFR8pzT19e/+9qztK24/r029Ta3rqP1z2Tj&#10;ql6oyfBC8yZoySfgswMzoqRROttf4G9vDX+a5iC5DwBofHbn4RNrnXnv/fBnJp5yBvXM78/a2bGv&#10;i/l6/l033gb6Qnve3AVpbkgNOyx+7meDm+6nwfwVAN2hd6ueDvX3TV/v/3LHMyFNeJMft3eShzNi&#10;XDxjDyxJwJ+dEiSBbqZdcvWPnY3i4evrP97ZsIIGpBhmVTw3VUMdngTE7GY7upkLI3pep+HWKVH4&#10;kwM1neuPy58X6Bf6/vtvvDs8DDRa1ZfFHkOxZCQA7fj6M1hsqOzAAWjgLrA43FtFahtc/uM2ZJwW&#10;8l/v//VmpD4vOsrQFVpCHvvWHSsIwEBxf9pX0zjfO/RqP95cTnLXc/wQT88JzCZ0Ccc8fH3/0znm&#10;hLp+nQQL1L89DP7tccH9PJmUmerur7twTW11ybqOkON9qUVHhp/o/1enBNrpdotVpAZASurkFV2g&#10;8+En8o2Xxp/Oc1IcJlNKIWcYE/h6/5cuKyL+Jbr9hByY0XAV/5ZC9s/wDwxIhOTi1e2+J6cVDtHP&#10;kdRkxe3wNr8n4OnGweyUggX/jozAWNN/tJn/veAMGn6vn0WKAPvRL+wvsj14m98T+KpTPOsjX18V&#10;yACc6V+sCPqw0PhHiPXm01oZjmE8O8c9DEihXNBh+Hr+6MpRrcOs0LVQZzh2f1Y8CpfVQVYM24Tm&#10;Wtvy/P+o++s4uFrF40/cfwiTfuX1Ie+b6I7Xc4bjfiRsA1KEy9A/bTPSjxq6Oyzr/pY1MtWdXtFf&#10;epvfEyCpgY07HbqxDv5q0dbtZ/77uKI/vO6+g5zPCj2vOBJzpodJANcw9PAD998LBAKBQCAQCAQC&#10;gUAgEAgEAoFAIBAIBAKBQCAQCAQCgUAgEAgEAoFAIBAIBAKBQCAQCAQCgUAgEAgEAoFAIBAIBAKB&#10;QCAQCAQCgUAgEAgEAoFAIBAIBAKBQCAQCAQCgUAgEAgEAoFAIBAIBAKBQCAQCAQCgUAgEAgEAoFA&#10;IBAIBAKBQCAQCAQCgUDwv4D/BzR/CDSC1LItAAAON0lEQVR4nO1dP2hcRxr/zXEgpZQMW6TaIiAb&#10;XMQwpDBIBhVJc4VDHFjDNUkRkAwpXKkwaA0uXKUQyIIUSRO4BdskRaoUBlvg4nhFCoO9cIWrFAJJ&#10;1zmq3hXffJo/b2bezNu3knKeHyxPu2/mzbyZb77/MxJ1XaOgoKAgBX877w4UFBT8dVAYRkFBQTIK&#10;wygoKEhGYRgFBQXJKAyjoKAgGYVhFBQUJKMwjIKCgmQUhlFQUJCMwjAKCgqSURhGQUFBMgrDKCgo&#10;SEZhGAUFBckoDKOgoCAZhWEUFBQkozCMgoKCZBSGUVBQkIzCMAoKCpJRGEZXSHEZUlw+7270DikW&#10;5/Zu9NzlDnX66Uvuc7q2K8Vya109zoud6p8TCsPwQYo3kKJumbTX6mPWy1sMFw3U/3eg99qeQwuv&#10;AbzsUOd1a6k2SPEvAK/VNaf8iw6tvVR1Y/SzBXqvrY71myCaneuZm3+f58PfK0hxBGAJUtxBVT+K&#10;lBtjPovRxBRVnUtstwA8Vt8mqOrbvffqfLEHYARgBCk+A/ARqvrIW1KKNwBW1LdXZ9O9MwZpNkPj&#10;l5G6rgC4pu4tAACqWnChi8Ew7AmaJ+yF1Bw0xkBd1yGFe+8tqvpPT517AHYB7EKKEap6bfbunhGk&#10;eARgQ307ATBVjC0VDxtjQmP7GwAEx4Lm/Zn6PGjp45vI3evBxc+o6heQ4hKA/wBYAknxJlO1JfQN&#10;VHUXDaMJYshXjV9Gp9cmjQ3VdRtSTK07VT3u0PYYswgpKdZ4HC4Gwzg/bCE+kLue3+4DGAOYwmRy&#10;Vf0IUjwDqZmrSuNoSjGa8HFyDzUzvYKqji2abmgy6wXkE9cEgN23qv4TUqxG2l1W7R6oT5vAiN0f&#10;ANDjHFflbwL4BcA3gXIT0GK+AeAg+Kz8uXgA/zusIDzeI89v48x2YzCZ0QGIcbt/WwLyojCM69BS&#10;vQ1sz05AizcHB873SaDcFmjhTGAPaqwOERFJsUOQFFsH8CSzj2cDKdYAPDd+yRnLdQAmM3gbKEeL&#10;z5BQBlij2EFVP0FoIbDEN9TiKGiBp/g8ns90X4pcBu7S+DaIIfjo+CWIfu5AL9w+cL+ThmLgYjAM&#10;ksJxlZKh1bfpzBKX6o89bYxAnP9+axtSLFtaRFUfKaaxrhZCqN4i/A4vF0N1baqnTUwS+sumAi/4&#10;YwAfBswsX/3NjLrsN9gA4DKMrwHgdIxI4wgLjbDW4JqIB2gy+RiGYFs9r54rfOJwaVzPZZOOpTgA&#10;MYxn0fkMmWn27/ey+tmCMMNgmyuXI0lxK7pQ/v9gq8MAE0fbGAyRp/r71FMfxsE7TVtWSxyX8TXr&#10;LoMkH6vV7dKK/AYA9V07UUm7WQCwb5Q2n+1DSGtgE5HbPILPNxGCHpN8R7F+RsgH99oRcObzJ87V&#10;xD2Qv+NtS8uh8TJ/vxoo0wkxDYNtrnHmMx9Aiu8R80JfBKQ5gswJn6VMbHEdg9TVEFLUU1Zvw7CJ&#10;+hjm/OgIzyXvnDWdoh9naHf7AD5x8g2YiE3pdw9+4uY5CplMYRPx7GDOywA0XwCN88FpGc10Tfic&#10;nr57TceuaaaZJqZrvuU5sKNoN0mkWExWVzWWABxCiv68zD6QmhqKWrThFfJUUBdDkJQ0iSLWVggH&#10;LWpnu3rabqoAVX1ZMY0dT9j3G1BI9dBiGjGNJBVmhISJn9p/5JR7Ap9WJsW2up/Xbn5kYCUxh6Gp&#10;iVT1ptGu6Ru6bs0Z0WvXaGBTk7WRooFuKXM7BxajSvFh/BdSPMxoYGj8/RxSzOxoCWAAVlO7tBEm&#10;0DcgBnCzRUUfgwjy5lyZYp8IqdxV/QRScHTgEFLsQWsUAGkJn3ZkzO1IkYDxMu2+m7PDRnuRDPMn&#10;PeUghREsJD7LhMWoUhhGlzCbiW1IsT6HvARzgLYhxRaIqLsvXi0BVjLMqXU0HXo5WGnJMeAJfqm0&#10;DR+GM7TPuAM9pkz0U5Cp8Eq1kb4ow9EKV5JfQRp9tZUZW99Sw9d9+DBsmHQ5gBRdQrB5IHNvyfh+&#10;C6SRujRMgpWZUCzypOforfnzWUVJwnkJ3bED4CG0x38BpNGkS8Om1PpWXY9bJNpDhMwMmrx3yJPK&#10;KVx/CSZR9AHq69cgf5X57CkoX+EqdPan7VxshxutMG17N/5/JeO5PrydsX4/oIVq4rn63TXNU82f&#10;VLjRtseqXb9PinwuK0FHN5lVAHDi0u9ZhlX792vQy6ypF/wNxDRWAbxrTdEmhKTWUuQeQI42Zhjr&#10;sBcST94nicwiLtlSErdy7HXNJEawcykAeq87KjRsPvPL7MiXG62IS/L+nOPNjMo2sEYwzHQOvvKM&#10;CeeWHEM7qndBguySUzbVf5YiTLZgJxJyu4eedgFiGBugd/etER6Tn90b55GHMcJsKnwTxIAWHW/+&#10;LqT4FvG0YZZsA2hH1Zdo2z9ACVrs9XdzB3iR/TOx923g57/t/ATyzj8Ajb2rpRwDuGcx16bd/Dgh&#10;EtSm0sdzTrpuD2iq1aGMyjbkmt5TmD4wbc7uQ2tTz0D0RA5lyh6lun35MIhBLoA0bspMpqzjVdB8&#10;v0QzkvSruoYYxtfquufeiDGMZ9GOdsN8oyZVvQkpdqBt5xUQl/VrGyyxibEAwJ6RSBTPMKTUZ24D&#10;qg63Me0xF2XptL3uGMB2xp0A+AHEKMxkIjf7sx9ooqa+0DjdCzDylKgTEKbNUHi2b7hC5Rd13YG5&#10;L4Ycynug9cTvlaPNDFvu/6SuP8DcylDVtyHFNVDI/lurBtHuMZoaJgsX3nTWWKsxhnEXaR7fFNhx&#10;/3mCmIAAbUvmAfkOfk7Ki2QDZK9tesuEQWqg3tbO43Uz4xlp9uwsNi9pRPdBBDsJ2K3meO0nOalp&#10;Czirr7GMwgcgJrUAYoAbADYCNrYdigy37R+PUPQr/Jxw/kL6M3S4lBiEvZGO6Upnq84aSOB2mRHv&#10;GwLMbPeyKuerTZslpRg7EUZmOg3tAogxDOrAB6DFtp7SfwWX86cRX9+o6jXoLdsfRkqyRP23l+v7&#10;JQHvzmQtbATNxVNDfOwUHCAsUUOOQhdDaAnuRyjsTKne5ia7NH+FzWDCdfRiYruaIy+sprvUnJIC&#10;3yeYyc+SAMbJWKn7cdxkvXXQ2PiS+DhxzwfWLtrSv5sp92S27IIY1xgA+7dYANz1PSjuw6BFkSd1&#10;bZtrXjkYaSAiTpUaq/CpaH5JwLsz2Xlkq4JpfTuCFNdBi2bHO06a4cXPp+iyfZme/RM0o0mL6hBR&#10;/QFNxG0M5ncAJoGaavoGpDhCVZsHD+UmFrn9G6Ob9B5lJjWZtP0KwGpCqjxpvy6k4AW94xE2sUOZ&#10;FkCacZuZzwLfZYr3QQyatYwf1e97ITqYp9Nzvv6K/hAK6b0O3udJJcI379xolE3DNqSIed2fRmvn&#10;bJlvMooTmPkr2nH8QYNomj6OUNiOy2+qdpqSl/xNV0Ehd3NRpO7QnP0Urv7Q7jeJb7nfSCzn5nTs&#10;g7J02zBUV1uTpZyMbRD9DcDMOmKai7ru+USvuEOrj+dzh+ervaRuq9b9aWoBtMAGUQlsL0LtnDUT&#10;n7ra1s22TDMC8I0h7ysBji3Jb9dt9/LrfBTdfxor9xCjZaVt5Z37kbvt3f+MP8FSmo8z6OOkMd+7&#10;9JV3Ye8fsfMofGPimwe7r64QiAr6/jWMfMfhxYPJ5e24/gCk3l1XRG6eD3nN86TvQU7NcE4I7ejk&#10;0NuuUos/Rb5dnIJPQeaE3wSi/iyrhbSk3m+KbvtJWL2N978pWGIZrf2B3o1V+kXFKGmz13yOJwyN&#10;gxvB2kfqGRhpQplDpPuB+260J5pScDHOwzgPEOf9XX2LhY8fe34bKHvctHlX0DwoZqiucQIg0+YG&#10;iNNT4hnhuFctikyMlIOKPwZpN+b7TUG7VFPDu08BfN6h//1ntLqwozsfGtd3IKZxDXnv2o6w05np&#10;ZQISOqsAvkl0nKfgO3Xd8bRtahesZdkbEB28v6eGEzGsqM9UffZBksCUBldOP1UtlFpnbie/YpR3&#10;cxg4nt0++cRoXCmwBCleQIpNnMWJ5FKsgU/L1jgBqamXsxYQmWEfd+iFHufYpwukuKW0J567L08X&#10;Br3bJVCkYgWULfwIvn8D0Afo3wwcgRjEMar6tjLVjkFHJox7aEPnv7hmMT2f6XWCql6Edooehtrv&#10;34cxb5y3DyMUTnRtfx2utH0BzXaWVTlTmk8AfAa/pJ1CJwFpr3dXiaTzUD6HHZql8GefhyH5fBj6&#10;3nx8GDoV/jvo94vnBdkZw1x+B6kh89i7NOe7SR+6/gmAu0FzttmuPSa+tULmthmqtaNctvZFYV7j&#10;Hd5fkyQXNNF/QBOdG078CHyWp+3gskNZRMD/APAF/Iv0puEo86V0s1YEmL6FZnKOz6G5DPLBrMOf&#10;Js79vTM3p3UutKR7pT4D6OjRiaf8ZegzR93xBdJOCtuEFHwKPI8TRxO41F6yv46Y8gjEuMz++PtC&#10;Z5eMVZu7yvw9BjGs1DZ5kZ+oaIjvaEbfIdW3IcVTkCm+BNJ2Tp3BhWGkgpycP4Mmvmnj6bM8D52a&#10;OgGGFqx7HwgtUvq+Cc6FocUwgna+moldbn/H1vdmhIRxAtpktHdBw+B8vqoPvv06IzTzMPahDxtO&#10;A439bUjxFfw7er2JTQHwRi/GBMBXUROPFvlDkPM4xNxj4NwONgt/hJ7/ONMkn9olaAF5h2/9FU2S&#10;sfprvoemcDvd/g/EJmjCfP+vYwzKCp2A3qG/RaqjOwdeDYFNAv2/QH7t1bHX3j9KdvNJSTIDdARK&#10;/74Gf6bxTsSkeAF+x76ZIG/9jj3X9y6k6j/tbOKlnJXLWoVOCbfrUL/uZs25E7r96zGMgoKCc8P7&#10;GyUpKCjIRmEYBQUFySgMo6CgIBn/A8ba7jvXcwuQAAAAAElFTkSuQmCC"/>
  <p:tag name="ISPRING_COMPANY_LOGO" val="ISPRING_PRESENTER_PHOTO_0"/>
  <p:tag name="ISPRING_COMPANY_WEBSITE" val="http://hi.ooopic.com/QQB58BB2BC/"/>
  <p:tag name="ISPRING_SCORM_ENDPOINT" val="&lt;endpoint&gt;&lt;enable&gt;0&lt;/enable&gt;&lt;lrs&gt;http://&lt;/lrs&gt;&lt;auth&gt;0&lt;/auth&gt;&lt;login&gt;&lt;/login&gt;&lt;password&gt;&lt;/password&gt;&lt;key&gt;&lt;/key&gt;&lt;name&gt;&lt;/name&gt;&lt;email&gt;&lt;/email&gt;&lt;/endpoint&gt;&#10;"/>
  <p:tag name="ISPRING_OUTPUT_FOLDER" val="E:\设计\项目\自创项目\2017-11\球形微立体"/>
  <p:tag name="ISPRING_FIRST_PUBLISH" val="1"/>
  <p:tag name="ISPRING_SCORM_PASSING_SCORE" val="100.000000"/>
  <p:tag name="ISPRING_PLAYERS_CUSTOMIZATION" val="UEsDBBQAAgAIAESUV0cjtE77+wIAALAIAAAUAAAAdW5pdmVyc2FsL3BsYXllci54bWytVd9P2zAQfi7S/ofI79gtHQOqBMSQ0B7GhNSx7a0yiZt4TeLMdgjlr9/Zzu+lbEh7aJWc7/vufPfdxb96zlLviUnFRR6gBZ4jj+WhiHgeB+jh6+3xObq6fHfkFyndM+nxKEBlzg2ApsiLmAolLzSA76lOAtQzYGBGXiG5kFzvgfsUuNtIJ0v07mgGLrkKUKJ1sSKkqirMFSDyWIm0NCQKhyIjhWSK5ZpJ4tJAXoNd6b+j4ZeJnOh9wVQPWei3B65JWo5nxQck1RILGZOT+XxBftx9XocJy+gxz5WmeciQB5Wc2VI+0nB3J6IyZcrYZr5Lcs20NklY28zXK744zz0lwwA5h03GlKIxUzjNY0QclkyA/W1KVVLzqAGt4VU7XvNav4153zRutnOkcy7Kx5SrBI76kM46CfTJMKqf2etaBT00Cro1TMiT7FfJJYvs67dWjPMFcgFbxdk8sapCOICnWxpqIfc3AAMV1R3EbdOwaxq2oJYDt9HXHQVqbrtlVJeSNaWa+U88YuILlZIaWVxqWTKfjIw1lgzBPnFXrpvUNcRPdJae/kNvjN+oNT/Va52xgP/RmE9A1NaE5xF7vuXgo1kGNdUMim1sWBcpNjG7nFT5mPV0PTC5HOumwEU8TWXMYAwjqinp7OQQlEmqwCUs5QjbOzgITnicpPDTkwzj04M0GZW7SYbewUFwKsLdBLQ1t2Uk4zqOxNQqyCcT68QPS6VFxl+sPAd7Rq+sDl8buebouuDtwdn8j1EcxGgGc4smVpd56u2r5vDezKlWnc+mcJaBWmEemC4L59XMQlmMfCK2pWWqb/o5NfuwBx3lPDUd01zfQe+iWvMX5lU8Ml+6xdLUJGFGMwH6cL7sMUA/YbsMwlvToYhbkTd1wJjYN/dvK9ps+bp1ruuHOuxDDZ84qxzGzdRHUEcsRZlHox7iovuIqBR22rVk1EvZFm60OAGRiiJA7+GhvvPF6UV35bPFRYO1ed27wC6XN6z0OuFOQaTWdXsRv94N8PgbUEsDBBQAAgAIAOUKiUuLhOzRzQQAAF8SAAAdAAAAdW5pdmVyc2FsL2NvbW1vbl9tZXNzYWdlcy5sbmetWOtu2zYU/l+g70AIKLABXdoOaDAMiQNaYhwhMuVKdC4bBoGRGJuIJLq6OM1+7Wn2YHuSHVKyY/cCSUmAODApn+8cnst3DnV08iVL0VoUpVT5sfXh4L2FRB6rROaLY2vOTn/5zUJlxfOEpyoXx1auLHQyev3qKOX5ouYLAd9fv0LoKBNlCctypFePaySTY2s2jmx/OsP0OvL8iR+N3Yk1slW24vkD8tRC/fTr4eGXDx8Pfz5618r1gQmn2PP2gZBB+vi+BxBlge9FgEa8iJIrZo30/2Fy/px5LiXWqP0yTHoWkAtrpP93ys2DgFAWhZ7rkMgNI+oz4wuPMOJYo2tVoyVfC1QptJbiHlVLAXGsZCFQmcrEPIgVbOS16FLm+FPs0iggIQtcm7k+tUahKoqHtwaW19VSFaCuRIks+U0qEqMTMsY8XxWiBNW8goxC8FctJfxSZVzmB92qL6nnYyfCs1k0JWGIJ+Bctj0UIO3B38tqCc8Sod6Civs8VTxBt4UAQD9EfLVKZdz8UoarQls4S/lDpxUBvnTpJGK+74URoc5mxxqRPEFOwfVhB6IEOCQBABS8FMUTZCOT60Yc4TQdhnDmTs48+DBtwplcLFP4VEPtmBHIhJnIu6QgU0kAOR6Gl37gaKeBKsTRipflvSqSvSzdjWcXsEttHwrBZjvgTGNsgCE/JLBXUYi46gLz8JzaZ9GYUfg6JuBcj9d5vOwpBxXy3STdTckaYrWbeJ3536JFY/8KShwYyR8i4Z8DEZ0PkbgmIZAHCbtkKL5wJ1hTgSafDTNsmCfmutDTB8TjGOR0SNdS1SXsaJcAPxgOKg+GqQnJpzmkkou9HxBcgwoRN6uFXAuwo0hE0akIONcmjs7sT3P3j+gUux5xIkh1IKCImWagNWb8AeWqQjxZ8zwW6EbEXMf0AZ4lMjHPdO4Z/Z9r+TfiVcu3b1qqpg65ejPUnj12/45ZdQk2VZXIVlWXau2w1vynWKHr7Icm9Dn60/SHNqE4cP2XiUwpszpt2sCz47O1bGiMOo14pqf6R+ulLQkbvh+7QFhjqfpLEJgzdE+D0SDtL+XSU1A0a9oG9BU3vx2gk/otAFXoqRgX4Ko9Ey403feXvyTj0GXQMy7FTSmrzoHMVGMToO+HNoYJOBWVeCzGG3GrYPZLBV83cxl0RhPpzoDujH17rYK5zAOTKQAu2pGqRKnMwP6kB+Z8SjYeaAh+7ySXqk4TU7ypvDMkD76tM/HtQHlbqMzsprzcJG/TZE6eY0VzuKBROhswkmzrr3d8dsrv6VEKCQ5gCLExtfXkYutaTXsKQQloV3gs3Aw+UAsZr+IlNNNbVedJT6DmFuOQUwxg7ZlDwYt4+d8///bE+MqSZhe1u78PAtEjGbAg2YL9SVUlyr+6QBge78uZRR+p9ta3ket5CWQuZOGL3K5401oylcHWQbdeSPI2aJgxbJ9NoQ5Ck/aqLmB0G4IwxcE5cJm5GVijKS/ugAiZUukgFONqnYDVMO2PF++6SmUuhsg+r5XoAzN3FmHHMW8hoPjgknnX9MwEbjlx+zoiVYveYPYZpsCzX+GJRFZDAQNCtm8Z9E3a3Fo9uBZDAvWoStPaNiwGRNGsH2li/W2n265K8yro6N3Om6H/AVBLAwQUAAIACADlColLsXU6XJgDAADBDQAAJwAAAHVuaXZlcnNhbC9mbGFzaF9wdWJsaXNoaW5nX3NldHRpbmdzLnhtbNVX227bOBB991cQLPpYK+km2TSQHWQTGzWS2G7sXvIU0OJYYkORqkjZdZ/2a/ph/ZIORV832URJa2AXhmFpOHPmPkOHx19TSSaQG6FVg+7WdygBFWkuVNyg74ftV4eUGMsUZ1IraFClKTlu1sKsGElhkgFYi6yGIIwyR5lt0MTa7CgIptNpXZgsd6daFhbxTT3SaZDlYEBZyINMshn+2FkGhs4RKgDgN9VqLtas1QgJPdKl5oUEIjharoRzism2ZCahgWcbseg2znWh+KmWOid5PGrQF4cn7rPg8VBnIgXlYmKaSHRke8Q4F84KJgfiG5AERJygubuv9yiZCm6TBsXHwAmEwV2YEtz7zhzMqcYgKDvHT8Eyzizzr16hha/WLAiexGeKpSIa4glxAWjQs+HNae+yf9K9vvnY+mvQGba8CY/IvL3ut64uOt3zm2GvdzHs9FdSaPyG7jDYNC5EJ3SRR7C0LcSUZEzNLnSs/2GwAYsFJVkew1C3BcZrzKQBSj5nEL8rmBR2hjHcwbq7BchOTAaRvXIBalCbF0BXcB4Q7cKoraK/f7CK/sHBhu+B17/y6z4zQ2YtixLME/pb2hYG66QF21irjWS4dzLSki89gnQEvMtSWCu/wa1QbeTcpWSMSZDoay8DRQZMYckLi/5HSwBTjIwVtiz19pz7JBdMEsTDngRyObgTjyhhOTpp1unz0Ls6i5ofdSE5memCSHELxGqC+StSfEqArBckGec6LanYM5YYKVDjRMAU+LGPpQf8N0XXqCItUNKFWYL1Gr4U4hsZwVjniAtsgu2MdGE8fv1JwBkzZgXKFja+HFx0zlo3ne5Z69NL5yDjE6aiJ4Jj0iHN7Fbw2YwobRdyGI6IFQbKpHDBy7MqvtWfnwYj0kL6NP/uZKxBbzEl29HylMQ8akFltQmblI3omquExhYUmBKPiQcRjgyhCqgKGDFFtJIzwiIcy8a19UTowiDFN7CHNs+30MsTocq3GMcbasw55JUgd3Zf/7G3f/Dn4ZujevDj7++vHhSaL6y+ZE6d31inD665RyQfWHbLRXF3joaBm/H3j/xyNf1XJ37/qvWhSla6rU/DSgXRGlSC61Xh6p1X4bryK6q/tp4qmYAjLfYtikNNilRY4L+zQJ9RKr98O/C1tp1S2aLfv9oi/xu3/dvysrxxOw6De6/87iQVSqQYDDdYl/8Tmvt7O3jfvveoVkO0zb9dzdpPUEsDBBQAAgAIAOUKiUt6CqCyzwIAAIcKAAAhAAAAdW5pdmVyc2FsL2ZsYXNoX3NraW5fc2V0dGluZ3MueG1slVZtT9swEP6+X1Fl3wkb22BSWglKkZDYQID47iTXxKpjR/alrP9+fkvjtA0JPSHVd89zdz7fXUnUhvLFl9ksyRopgeMrVDUjCLO6kbBsFIpqHqFsIIodTDAhXwCR8kIZTaub0XwepQ2i4GeZ4Kh9nXEhK8Kixdc7+0liixxjiS3IqZw1yaALc2k/Uyg+xs9LI0OETFQ14bsHUYizlGSbQoqG56OplbsaJKN8o5Hnvy+Xq8EAjCq8R6h6Oa2ujEyj1BKUApPSr5WRURYjKbA20rn9TOR0oT6+/QFtSxVFS7v+ZmSIVpMC+kW+ujYyjOfa+ydexREQ/qGGXnw3MghlZAey7/zizsggQ9RN/alspChMQfucjx9xz2GC5Hr8NOH23MgowVzIBBp9BV+eH7dGApD/Gs59YsZVCvZk6nqwEMyjpwwWZm8kcXtyNlWK98cG9XzAYk2Y0oBQ1YGedNJPpFGtm76uwz3DO+V56MtrOsibYE0FS5dw4K6v7/DL5Y3dFaHTvS7IUMLWK4MUO2WH/KvreoQMlB3yhdEcHjnbHWdwaHKk9pFviH/Oj+uvrcCJPu4r1h5bswn1YGZXhcG9pgVVIoeFWQl6YROkgr/SCswDJrE1udzio+QSTra0sIw/BpfuXhBqlcQHet9zpzssQYoMTjWezVSv66DK9jjelu7HobugO89Q7/J5RBBJVlb6riqaed48stVxP4vHFF8bkPd8LaaSKiI3IF+FYJPjcIEwGSzckA3BkzioQhKfrnLinZwqP2+qFORKvxqFfff0lQ5Y0qJk+g/fKLxDfsAYsDoqltofJ1Q3o3vHQOGbAIjMyrYF3MFZqoYhZbCFdgkECnvlobslSo/eUMNd4wOsMRwWrznoyXCauqb0O6NrlhDXN5wgvOm8TjOcpd/4HtfvfCSpslfrbYCxFd0uNtN+IcgpfDv1XGv7cRG10vwD+h9QSwMEFAACAAgA5QqJS3hHtLmEAwAAUg0AACYAAAB1bml2ZXJzYWwvaHRtbF9wdWJsaXNoaW5nX3NldHRpbmdzLnhtbN1XX2/bNhB/96cgOPSxVtK1WRbIDrLEQY0mthd7a/MU0OJZ4kKRqkjadZ/2afbB9kl2FP238RIlqDFgMAyLp7vf/b+j49MvuSRTKI3QqkUPmweUgEo0Fypt0d9Gl6+PKTGWKc6kVtCiSlNy2m7EhRtLYbIhWIushiCMMieFbdHM2uIkimazWVOYovRvtXQW8U0z0XlUlGBAWSijQrI5/th5AYYuEGoA4DfXaiHWbjQIiQPSteZOAhEcLVfCO8Xke5tLGgWuMUvu01I7xc+11CUp03GL/nB85j9LnoB0IXJQPiSmjURPtieMc+GNYHIovgLJQKQZWnv45i0lM8Ft1qL4GHmBOHoIU4EH15mHOdcYA2UX+DlYxpll4RgUWvhizZIQSHyuWC6SEb4h3v8WvRjdnfevB2e927uPnV+G3VEnmPCEzPvbQefmqtv7cDfq969G3cFaCo3f0h1H28bF6IR2ZQIr22LMSMHU/Eqn+huDDVisJ8nKFEb6UmC8JkwaoOSPAtJfHZPCzjGGB1h29wDFmSkgsTc+QC1qSwd0DRcA0S6M2jr6747W0T862vI9CvrXfu0yM2bWsiTDPKG/lW1xtElask202kqGP5OxlnzlEeRj4D2WY4AHl4qSCUZdonP9AhQZMoUlLiw6nKwkjBsbK2xV2pcL7rNSMEmwfLEHgVwPHwQgyViJXplN+iLWvrCS9kftJCdz7YgU90CsJpgwl+NTBmSzAsmk1HlFlcxYYqRAjVMBM+CnIXgB8N8U3aKK3KGkj6sEGzR8duIrGcNEl4gLbIrti3RhAn7zWcAFM2YNypY2vhpedS86d93eRefTK+8g41OmkmeCY5YhL+xe8NmcKG2XchiOhDkDVVK44NW7Or41X54GI3InQ5q/dzI2oPeYkv1oeU5inrSgttqMTatG9M1VQWMLCkxJwMQXCU4ToRzUBUyYIlrJOWEJzmHj23oqtDNICQ0coM3LLQzyRKjqlOI2RY0lh7IW5MHhmx/fvjv66fjnk2b0959/vX5UaLGhBpJ5dWFFnT+6156QfGS7rTbDwzkaR36o757x1S76ZsSP/7sZP7jp/F4nD73Op1GtEugMa8H163D1P9ThuglLabCxkGqZgEMsDU2JY0yKXFjg37MkX1AcOy8A4tHqCPW0n+LYo6c72+B/4mk4rS69W7fcONp5dW8gfft/ULvxD1BLAwQUAAIACADlColLqL2ioowBAAALBgAAHwAAAHVuaXZlcnNhbC9odG1sX3NraW5fc2V0dGluZ3MuanONlFFPwjAQx9/5FMt8NQRFBX0jAokJDyb6ZnzoxjEWurZpO2QSvru7TqDtOrH/F3r97X+7G719L6pXnMbRU7Q3v83+1d2bGGBsRaiCa/eAdh0UeBALCQqYJjrn7D0vgOYMYo/cIqllCafw4Uw0CfDUijHjnVRvGoSy7GIeeJtYBBxkIKZCD28D4Fcgtgs9/H0K9qyympKshiel1pz1U8503as+47Ighomv5mbZJXow34K8gK5ICo7pyKwu8ux4P0LZXMoLQVi14BnvJyTdZJKXbNmVf10JkPUX3zTA4HH0PHPsaK70i4bCTzwbo7pJ/Fcp+M37MEMFYUoSoJbvwKw/UMe4XZBHb3OV6yM9uUHZtCAZtLo0nqBcjNVel7vZcBp2uiGGtyiHoKQC2bIazlEOyEUp/pNS8gw70kLbPT+hlJNlzrKGmw5QQQ5fFm27uncu9G6Kip0rxL0rtA5dv6JrdPigCoDamUrHvMrLuwjZhWZiOHH3vArOofYo0f4owf1H9HlhgLoj99A7/ABQSwMEFAACAAgA5gqJS3jROIyhEgAA9yYAABcAAAB1bml2ZXJzYWwvdW5pdmVyc2FsLnBuZ+1aa1hTV7pGYUQcDY7WESwCDlRrVVCoYDAkIg6XokKlLVAxgaGIloZAIpeQW5U6dMZLENFgkew61eKFGhG5BEgCRQ0QIJQqUUISFJIIIYlkGza5TwJ2zjk/zjxnfpx//MjKs9fe7/ou6/ve73vW3n9LOBi9Ytm6ZU5OTitiY/YdcnJycXNycs5busQ+89dfRn+w/y0iHIre63S332vCfuGSFXEgwsmpjv57c/rv7NduuTEpBCcnWKfjt4iPu/mFk9PGs7H7Ij4pQqsl4WeuH5c8TuddAdq79j3c5xKcFDK4JoJ8ck3KJ3/c91nyw337Vu/8dP8n+5ITHrZ/sTpipcvqXx4ASoSIhyZoj+Akv/afeDpdUnJlonjiNtNTopqaZLqPxJb7xxYforyK9AmLGVQ3QLzfjQ2edbFPDq7O1vpu95egSbbD2wP6YnztT4bXaUw+tvKcTX4n/WPLT/h5uvlX98zdkcRELY6tCVoVY0eGll/YM3hrfpFzX/iXnfhg7nG7nAT7Q/b/8idzN8v9b9kXcEwcCp4DhrXSzGM+hShDd7wGTVI3GA1CmlUb538kch63ydSHoxKgczjyGEq2g/LeRPG8wGE1i2ZRSSCezdIaT365unWs/fWXi3+7W/yjlxG84UIqaWemJg3m2xVy6A5pWrUzAjek7gJ9CraoZvxTV5CzTDdZsnwFbbbTx0rRljM/mpM6EVWF2zvbs4U15W12v4JLrhQLxVywWnviWDIrNAgxHuK5Icj3C0TXTd8JuWDeF8l8rtuLDQauC3wU5w4RUGxEtdH6u8Oe7w8l+Xi4X19bdWGPXa+Wk/2Wjd8c9lwU9IHXB4y+fBBsC0rnWG7obpe0/Sli8Ez33GJHiAzul76ARJiOwhzMPRiMIMu3YCY86ji8OHnc2n7sY7o+bmPQhyODvOYypTmIYis1U8eFe3uAH/Ire7R9BSd6MjCsektUZU0AamjkaEOjpbXOyu4mND/S3kmfc8Xd5kjZprQtpU1elRowxew1qaTijwkjtuAE6QFQKxcgjJcRDxJr2bZUVCn7AgbYnZsaaajkbC19Th4BSUE+NjO8K2F737Ht8mKD/trHyifymh6+IsEAXsw77p1N7WUp49A6VdySv2X/ZhEfNgl3CX9Tr1HdcZ2BzcK/kq+scn4JH+uoC8QlCyh9WbX0S0oGf41YGdb5c9ufNijaqyPH27Cw88c5B5i/Flc1tLFSkSIA35p6mS5ANKbiYHfEEENRN3WJ/lxqAvApOa0U1K/GaU8Vf+KJWoSvPnugtAcLFtWk2p5FmJ/J2axULpKpxxo8FMLn1/CcZDF3m1D+jD+zbj4Ok6TGK9aurKOElcPe+3wG20Zolq3Tt/BlgkVbXYX6TJmS+126pVZ7TTdCkBFmBScJ4S4KJRtgk5GfEThdQkL18ZzVbCq1uvNVWE4vpY8yriOiif2GXZmjlQIQibdU8HejAF3jsy10aCAihH6cQmXT9QPVAvCZQpcayhDG5E7OiBVc2CUZa0T2gMviHDzCpL8w1vUIlWMV9O46/neCRp8mc/F6pi613/MfdzfPp6Ncnhbi+jrDtbm0omSkjR7pOpTxUxOqZvnymru7hSTTFUUb9vFpMqLRtRv+TjyhiogmNXW/ePMsHf/XKxWmlOiSis5ZBJDKXX+40e/hsPFZo5za2CQAq0oKmfziLilXm9iEEYDwmeRD0qSoa5tFQv42YSAKwMTXBAi1BwIEprOIRoOln6UMIZKYKqOp+Jh/Mg0HqkZs2zLnAi3ney9yo2ut8rnX9bGBrDb6pc7DOa3hXj5fwr7mD+/urdHfq/QRlWQM70YoKH3imZx6qAh/rF9MkCBY7APSRkqqWMwqBc1FU2P3kY0NHH6FbpfCohR2hq0ap/Rh+9mW4VTbwJ3dQVvH73Evq5RcRRqAryYiawLiweluMZ2zLBP96B7MX2W5bi6m5AR/KDk0n+BLPkcl0l6thAaCYL2mZPd8ZUVJSk6T98D5naVNGUL5QHoIrsqZRL0KxLPJpKJe03dNaslGhjxsM/047Cc2GlYHgg/Cv/1RP3Oc6+In5+t9eVjKV9li09U5/RKqhRVCQs/YVSi/Xy2CHUHJhZicegvhgkroEdSXEVsTAOi8+j3bdXnVfKZPk2NfTSOw8JrsecqV7FFlGZvsXntK/mPYEKMCSITVMJCN+nqQpKYowuRY8Pk4x1kpfbGDjpVeVuHc1WweMaUYphcLzUqk0jK1fh/Y2EY/TuXpMjTQMw+H6zwPNbqCiBn9U28DkcrD+6gsV0mm48zOmXoDaLrHASqacLbaWt4mu+eICM+luh0S2DIxvtVzdSN0sRFXFXit+cZbdq8oOQJD8NEt1jJ8pcDCn1lJvs2WvDf289lV8Cfq9XvARq8gUaSKrCDf5RUmILL8u/i5FABe1N8BZ7CAp8wSRRswIrx1wVduVbwm1errsFWL0noy+jMAVdbSLr4f77yaP/1E3SSv63W6eH6Fy2aIY6X2WoTa57cEYFZaAJCU2/t9EOogSELRA3lon8PUESuxOz/QUm9+Mp/KoYdgBfCHWHe8+2bXOq9x/K4q03l1hykZXtGnhq1Hul9SKUebuNpKRVplCbrWtbeCz6bUsqUzebV0bNTXbKHXVlGnwqtNJCBY4qJPEcW3ZHeI/Xf0VtCqrBvPw6LETAGY100nmPQGoMXy+d1Wbs9fKPvv6DOQY59qUPQM0wfnIhlCPtFi6QUeIf5qIN5F0cOhOo6W/JUyjKTdzZNy1cNvVf0Etpcw2oKDL1fmXirBabIvOX8Oy2J8yFr6rTqLJtxM31Q6XFfoww9ofZCf3LVoJ7TbueMB8kd1pjLEmU/B8S4rq/n3vW8mWr2+creQgHDUCROWjfUGb/TxJwcsQIs5AWweG9BSNOAARclG0FHB8W+JI1Je/w8ovEzpe0k4qRj9EPqDIV9KnViU03OSpFFtfnDehZ4SVck3by2gooLXYQXHyiCKTBP8DuesHD4yfGdp+Xw5uxa0vPek+apzwl3AebptcfolYQhQvNkM/ylwE21Z+ExMmalf2wcWr+m4hpeBq0zEg8GLJYWvYw3BYJmYt1UORyj4tsy3QZ8MP6tMYHaOouEefXH9oo998Td70/Ho02XCMGXaFZWCT57ZCVzjXiei3A1Tett9BES00j9GUhnU5Xa+5uWdcc2whM4bl5HpVBlpM370Nfy1MPNOG4VbEO46bvgxlyRaz0Y474k6PTIz0FF8F1DFFtfNtSPX390CbJZ6j0MwM9ggFwu3Kuv7PNfibwqzbBA6L7e3bTINLUXigD/sHTzztuCnlaJ3vC7D7a1MWvbFnq4XKIySeoy8a3wH5ufAibb5VFlx2Zm45CT8e+UeG8LeHVw7yDGOruO+yz2x4q1QLBLUBs+Wb3zbK33571ul8utH5ziVmQwKl3w0eE1j4q2eZ7O/Zf6r4/o/NWgf2qZ50f+m81M7+5hHXbX25tTprIt92ONpb2mdvg5a5ZjJ9HeMPTGOseKCY3zfb5F9tDd69vH7BcACYAGwAFgALAAWAAuABcACYAGwAFgALAAWAAuABcAC4P8DMOlcOHdoFmsD5s4my/13/mfHav6x8weRseXfvV2ggXTOxWYU8TTUmXpAwtEPHS7EWCaTtEjwirDthK5ZN6vbBRa958BoG5gTM/2JgfUIxexEPK34l5RAUR9WMUOCLO+M16EUcOjlhVEtzWaSrOW+Pi1xNd3vGesbu+yQflgbSDMI4kzd0jh5LUNJuJ2qvFWdEd+tfQEXWgYDvN2os50+GmQ744h30/W1opbPUHRbou7LDXaoQLApnpXp6yEzSSGrZQrGUE1JZm4JtHLQ+s3sI7+OxCMYXfN7nEpv05oYNo71R8f7VjSyTjf3SpVXw2xJVEsUn49Db4jUwamXF9K0EeFrytH7bWeSfIkNdp8MTuuW9XJs51uW1Ay39u3s1qrBnhjfiV9MmLbF3XdO27WHMVhHZCbczey82xxx6kVz02vQaHWxO5wulcr4fLs/r0MMxj8wYmjDs7CnUuzdA9ypUeIX/mVvXqktFPJyx7tamsh4wPTZnIQe1PTswFmXaCMI2MiQREuFNOdCpUVR0ssC/2rRbytmkZTVhQW21onhq19qQ0STdJp5jAfoLcXpfh2NhEDStwSBU9mO0adJGI5pWMQtgBRVOOSYXoThmZ7UIJ+qPH5//Ve7dIR8IHQIXkCz62DE0S2B+zn7DzYUVmXrB+z7EXNvArCZlZJsFmdog2+gAD6ubpJp8vGSkajBFzNWpHe57WMSJCl0l2oGxJGOsFNvsI2k55iGDuOeSgfKtHnbGbjAdwmGD6CdKBmapgGRMtSLT0hN8EzkEjF9DFFKvKoifC6/r1feIZqMeSPFr7QySvCqr4xDTdx8yCCkUQs9nl1UKULKYU0QlBdv5edaQtEigUIEjnnbQ46TxA2haHmM/p3Ag5TDvBPpWmBEUCjCuM+S5DxI0foa594BBhmu1g81AWNzci0etcItwg19WzBKkRifgjx63LKpQwlo+vkvBrCJUtuIAqkxWdzOusTRjL8CxkwX8YbRCjplKqMQZZ2ma6k2kwx8aH4VjWohyS8l7foT5i/ggN0T5zOwrCZrc7TdB+6o1MdeZYSB3vQiNBdZKvF0wy/tFyqN8FdCyn74Ujp5iAJj8czyQBtB0hYuXx0FNsY5trCm1q/D2KZI4613Uwyg8CnMJGbiuBJUVVzw5zFVwqJyejzVUpa06qwefrXqQtpmWdl2WUna7sXjobYknvFTuVIscKwqo0yfwYyEf6PTiXd7gLWljXa/eWUHyEx5dMexuZB3dHupAD7V//521zE1C0Qm5oRCO/pY/OWLPb0VWPC5Pn9X88NbMzmEj5hxMA3hJkD/M3U/OKIUqQiYPoLg+yDW1krx3UYfUJlOxQR0x9x7Y0/1Ft4Gwiy9dpc4MlPaiFaKZdYZSTTK+At0hF6Trk3orfcetsdtXi2brOWHOxLQKkMrh72TlblV9QnUcL8IKVPVyxJFWitM6wjPycc72s7SNDYuEI6yp8vBK/SONt2Gkggp8of2Av+uyu1Cwu6CXsoNNvATu5/cCzDigldtpeguAmTFax9Sac8ztLbTx/paoy8yqNf/nTgUKTaZdp3fydBa5jaIbxOrUlXXCrAwffCyWvlr0iRpVW+m3XLP9fh2NCYl95aDESoMHnbv33AijpRGnWoYKeCwPNcNIpTb/Dp+dGRXoqdbzq/Sa5VZ4Q84PPpYMsEgpZPsDn4zFfq8lQW/p8i9CiiDLXCoVx68avw+8dN2Mu/Ujp9w74LvubIpmlAJFLfi5dtMMBjM2Ys8gxXTOdGnUmkcS6U28l6PuFFUBUGI6FPmlOYP/ToGpYx3x0OppJu94iHVLL6kBvvf3KrWD/lAdhqfSC9V5022h/lFUHtPhrIWd70o1F5yUak/Cw7opbsboigOftmsillpaP6RaGL7dYwEsHwrk96plS3NQzyO2a41ldsD31CzHOLmvQikTp+xeb0Pgmq54fFpwDSiZMKLdCemfvNoc5ZVePTzwCqMcN5wtHv4MXTQqnERfO0N/fcIOTZj/WJFyMSAaAJQvTUUVBH/3P5gvRv+uTFVJBhShmJa7lnulxBpwmz/SohyPOrUDZlFU1jI4hong53b4Uh7yskso66oZ+Ff6/AmNY7WSnpfwes3tBJuq2WPMnSooyCKS2L4FJMc1nNgnOuW1BpYrfiCr2LNIsKsJJtEA2WUUu5BW+qc6eCOZFmILG4DNvoUlv3VkpP5Xil20qDIH4Febo0lj9/zdAuhTMRhWkgWvaiQ/3U4OyfHbyKXRPOhd9tu9hlb8qesDlNlMAv0ZOcclT9fHgJNnD7nEvgz3GLXTwVt7GKsnDq3eOx/MiVyieMrIrHxijW7wFEk7uifwiB78iTCLAarC2CZytJKyWAftMIFYy+2pkw39vmTe8Ik/yofUBlu6ewnc0z/PoabKwsMrnRUCD2LRoEev4t7A0SlyrHs/YPE/yooBoart87ixjzliOZ1fdCeopi5kmR7aavQIe1mPJBJUezCA3N0D/bv1ppNz5Fb/U5ejw7ErG2ACnXE4lcitOO7FZLtjG0j6eO5B3UI2+FZexm/xd3/KMvzxlpRBu/hNqgaclTisXA6Da3NvMjqRD01xq9AV0XaXMYorUX+RbdVF4VBHwU2kilPMszAIQ1IJKsv2UvrthPnZMDo1XppA/fvL3cgUwqmY16/Y0swbP3Bf47dkR34bZEd7CxOtle0juw9djFzLd1log7pN+tBvvyxoz9hqjdXT8DYb2oLVwiJCHuLgX7b8LRw/9NO539rlSZsra0m1LfvnHZ+eazW8YmbU+yfD+67uzft1D8BUEsDBBQAAgAIAOYKiUu2gi+oTQAAAGsAAAAbAAAAdW5pdmVyc2FsL3VuaXZlcnNhbC5wbmcueG1ss7GvyM1RKEstKs7Mz7NVMtQzULK34+WyKShKLctMLVeoAIoZ6RlAgJJCpa2SGRK3PDOlJAOowsDAEiGYkZqZnlFiq2Ruag4X1AeaCQBQSwMEFAACAAgALJ1DSw3AMR7AAQAA2gMAAA8AAABub25lL3BsYXllci54bWylkk9v1DAQxc9bqd8h8r12lgpRrRx6QMqJokoLiNvKm0wTU8cOngm7++2Z/NmkW5BA4pBo8jLvZ8+z9f2xcclPiGiDz8RapiIBX4TS+ioTXz7nN3fi/v31lW6dOUFMbJkJHzyIpAQsom2JfY+G6ky8ECRDRcIvj5sj2kzURO1GqcPhIA+3MsRKvUnTtfr28HFb1NCYG+uRjC+Yu+zlViRttCFaOmXiXSqur1YD8gJnkXt8hcF1/cooi9CoNgKCJ4hq3PZs3dDfzfw0wSs6tYCCR18Ns+9N8fwQys4B9tpKj21bIOoJg7bStLHrO59gLDIxNuwaQDQVoHS+Emr0qj+Y9ZMzWE8cvMD23LbbO4s1iyN96N4t6u5sGbJXE0ddgnQzTDCcYt45l4OhLkIpkgg/OstV3mO/zkeQrsW4nOfuHT5bL/FQsMZVbgoK8fSBHXwkU5Ryjl6O0cvB1NuH4hMXj1Oc2wUyB7OEoGtq3Nt/zqPv/p84SngynSNxXsH6Eo655b8EDY9CwDP2mqTWyX61M5V31+2bF1fjQhp3N2XxHUVCJlbA17A0ZNSizzD1mqbV+DklNMei1e/3Uk9ELn8BUEsBAgAAFAACAAgARJRXRyO0Tvv7AgAAsAgAABQAAAAAAAAAAQAAAAAAAAAAAHVuaXZlcnNhbC9wbGF5ZXIueG1sUEsBAgAAFAACAAgA5QqJS4uE7NHNBAAAXxIAAB0AAAAAAAAAAQAAAAAALQMAAHVuaXZlcnNhbC9jb21tb25fbWVzc2FnZXMubG5nUEsBAgAAFAACAAgA5QqJS7F1OlyYAwAAwQ0AACcAAAAAAAAAAQAAAAAANQgAAHVuaXZlcnNhbC9mbGFzaF9wdWJsaXNoaW5nX3NldHRpbmdzLnhtbFBLAQIAABQAAgAIAOUKiUt6CqCyzwIAAIcKAAAhAAAAAAAAAAEAAAAAABIMAAB1bml2ZXJzYWwvZmxhc2hfc2tpbl9zZXR0aW5ncy54bWxQSwECAAAUAAIACADlColLeEe0uYQDAABSDQAAJgAAAAAAAAABAAAAAAAgDwAAdW5pdmVyc2FsL2h0bWxfcHVibGlzaGluZ19zZXR0aW5ncy54bWxQSwECAAAUAAIACADlColLqL2ioowBAAALBgAAHwAAAAAAAAABAAAAAADoEgAAdW5pdmVyc2FsL2h0bWxfc2tpbl9zZXR0aW5ncy5qc1BLAQIAABQAAgAIAOYKiUt40TiMoRIAAPcmAAAXAAAAAAAAAAAAAAAAALEUAAB1bml2ZXJzYWwvdW5pdmVyc2FsLnBuZ1BLAQIAABQAAgAIAOYKiUu2gi+oTQAAAGsAAAAbAAAAAAAAAAEAAAAAAIcnAAB1bml2ZXJzYWwvdW5pdmVyc2FsLnBuZy54bWxQSwECAAAUAAIACAAsnUNLDcAxHsABAADaAwAADwAAAAAAAAABAAAAAAANKAAAbm9uZS9wbGF5ZXIueG1sUEsFBgAAAAAJAAkAnQIAAPopAAAAAA=="/>
  <p:tag name="ISPRING_SCORM_RATE_QUIZZES" val="0"/>
  <p:tag name="ISPRING_PRESENTATION_TITLE" val="2018微立体总结PPT模板（1）"/>
  <p:tag name="KSO_WPP_MARK_KEY" val="37d4aca4-20bc-4586-87b6-60fe1ff8d45a"/>
  <p:tag name="COMMONDATA" val="eyJoZGlkIjoiZGI0ZTIxOGU2OTA0ZWZkNWQ0YjM1Mzc0MmY2NDAwOGYifQ=="/>
</p:tagLst>
</file>

<file path=ppt/tags/tag2.xml><?xml version="1.0" encoding="utf-8"?>
<p:tagLst xmlns:a="http://schemas.openxmlformats.org/drawingml/2006/main" xmlns:r="http://schemas.openxmlformats.org/officeDocument/2006/relationships" xmlns:p="http://schemas.openxmlformats.org/presentationml/2006/main">
  <p:tag name="PA" val="v4.1.3"/>
</p:tagLst>
</file>

<file path=ppt/tags/tag3.xml><?xml version="1.0" encoding="utf-8"?>
<p:tagLst xmlns:a="http://schemas.openxmlformats.org/drawingml/2006/main" xmlns:r="http://schemas.openxmlformats.org/officeDocument/2006/relationships" xmlns:p="http://schemas.openxmlformats.org/presentationml/2006/main">
  <p:tag name="PA" val="v4.1.3"/>
</p:tagLst>
</file>

<file path=ppt/tags/tag4.xml><?xml version="1.0" encoding="utf-8"?>
<p:tagLst xmlns:a="http://schemas.openxmlformats.org/drawingml/2006/main" xmlns:r="http://schemas.openxmlformats.org/officeDocument/2006/relationships" xmlns:p="http://schemas.openxmlformats.org/presentationml/2006/main">
  <p:tag name="PA" val="v4.1.3"/>
</p:tagLst>
</file>

<file path=ppt/tags/tag5.xml><?xml version="1.0" encoding="utf-8"?>
<p:tagLst xmlns:a="http://schemas.openxmlformats.org/drawingml/2006/main" xmlns:r="http://schemas.openxmlformats.org/officeDocument/2006/relationships" xmlns:p="http://schemas.openxmlformats.org/presentationml/2006/main">
  <p:tag name="PA" val="v4.1.3"/>
</p:tagLst>
</file>

<file path=ppt/tags/tag6.xml><?xml version="1.0" encoding="utf-8"?>
<p:tagLst xmlns:a="http://schemas.openxmlformats.org/drawingml/2006/main" xmlns:r="http://schemas.openxmlformats.org/officeDocument/2006/relationships" xmlns:p="http://schemas.openxmlformats.org/presentationml/2006/main">
  <p:tag name="PA" val="v4.1.3"/>
</p:tagLst>
</file>

<file path=ppt/tags/tag7.xml><?xml version="1.0" encoding="utf-8"?>
<p:tagLst xmlns:a="http://schemas.openxmlformats.org/drawingml/2006/main" xmlns:r="http://schemas.openxmlformats.org/officeDocument/2006/relationships" xmlns:p="http://schemas.openxmlformats.org/presentationml/2006/main">
  <p:tag name="PA" val="v4.1.3"/>
</p:tagLst>
</file>

<file path=ppt/tags/tag8.xml><?xml version="1.0" encoding="utf-8"?>
<p:tagLst xmlns:a="http://schemas.openxmlformats.org/drawingml/2006/main" xmlns:r="http://schemas.openxmlformats.org/officeDocument/2006/relationships" xmlns:p="http://schemas.openxmlformats.org/presentationml/2006/main">
  <p:tag name="PA" val="v4.1.3"/>
</p:tagLst>
</file>

<file path=ppt/tags/tag9.xml><?xml version="1.0" encoding="utf-8"?>
<p:tagLst xmlns:a="http://schemas.openxmlformats.org/drawingml/2006/main" xmlns:r="http://schemas.openxmlformats.org/officeDocument/2006/relationships" xmlns:p="http://schemas.openxmlformats.org/presentationml/2006/main">
  <p:tag name="PA" val="v4.1.3"/>
</p:tagLst>
</file>

<file path=ppt/tags/tag10.xml><?xml version="1.0" encoding="utf-8"?>
<p:tagLst xmlns:a="http://schemas.openxmlformats.org/drawingml/2006/main" xmlns:r="http://schemas.openxmlformats.org/officeDocument/2006/relationships" xmlns:p="http://schemas.openxmlformats.org/presentationml/2006/main">
  <p:tag name="PA" val="v4.1.3"/>
</p:tagLst>
</file>

<file path=ppt/tags/tag11.xml><?xml version="1.0" encoding="utf-8"?>
<p:tagLst xmlns:a="http://schemas.openxmlformats.org/drawingml/2006/main" xmlns:r="http://schemas.openxmlformats.org/officeDocument/2006/relationships" xmlns:p="http://schemas.openxmlformats.org/presentationml/2006/main">
  <p:tag name="ISLIDE.ADDREMOVEWATERMARK" val="TSZ3HzpXfZ"/>
</p:tagLst>
</file>

<file path=ppt/tags/tag1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473.2488188976379,&quot;width&quot;:3960}"/>
</p:tagLst>
</file>

<file path=ppt/tags/tag13.xml><?xml version="1.0" encoding="utf-8"?>
<p:tagLst xmlns:a="http://schemas.openxmlformats.org/drawingml/2006/main" xmlns:r="http://schemas.openxmlformats.org/officeDocument/2006/relationships" xmlns:p="http://schemas.openxmlformats.org/presentationml/2006/main">
  <p:tag name="KSO_WM_UNIT_TABLE_BEAUTIFY" val="smartTable{5dbef829-a741-4b37-ace9-5355ba84ffe3}"/>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8d85d33a-bfdd-47df-84df-3a183c76da97}"/>
</p:tagLst>
</file>

<file path=ppt/tags/tag15.xml><?xml version="1.0" encoding="utf-8"?>
<p:tagLst xmlns:a="http://schemas.openxmlformats.org/drawingml/2006/main" xmlns:r="http://schemas.openxmlformats.org/officeDocument/2006/relationships" xmlns:p="http://schemas.openxmlformats.org/presentationml/2006/main">
  <p:tag name="KSO_WM_UNIT_TABLE_BEAUTIFY" val="smartTable{0ced698f-ec62-4ae6-a9fd-0ec9ee4707d2}"/>
</p:tagLst>
</file>

<file path=ppt/tags/tag16.xml><?xml version="1.0" encoding="utf-8"?>
<p:tagLst xmlns:a="http://schemas.openxmlformats.org/drawingml/2006/main" xmlns:r="http://schemas.openxmlformats.org/officeDocument/2006/relationships" xmlns:p="http://schemas.openxmlformats.org/presentationml/2006/main">
  <p:tag name="ISLIDE.ADDREMOVEWATERMARK" val="TSZ3HzpXfZ"/>
</p:tagLst>
</file>

<file path=ppt/tags/tag17.xml><?xml version="1.0" encoding="utf-8"?>
<p:tagLst xmlns:a="http://schemas.openxmlformats.org/drawingml/2006/main" xmlns:r="http://schemas.openxmlformats.org/officeDocument/2006/relationships" xmlns:p="http://schemas.openxmlformats.org/presentationml/2006/main">
  <p:tag name="KSO_WM_UNIT_TABLE_BEAUTIFY" val="smartTable{5dbef829-a741-4b37-ace9-5355ba84ffe3}"/>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5dbef829-a741-4b37-ace9-5355ba84ffe3}"/>
</p:tagLst>
</file>

<file path=ppt/tags/tag19.xml><?xml version="1.0" encoding="utf-8"?>
<p:tagLst xmlns:a="http://schemas.openxmlformats.org/drawingml/2006/main" xmlns:r="http://schemas.openxmlformats.org/officeDocument/2006/relationships" xmlns:p="http://schemas.openxmlformats.org/presentationml/2006/main">
  <p:tag name="ISLIDE.ADDREMOVEWATERMARK" val="TSZ3HzpXfZ"/>
</p:tagLst>
</file>

<file path=ppt/tags/tag20.xml><?xml version="1.0" encoding="utf-8"?>
<p:tagLst xmlns:a="http://schemas.openxmlformats.org/drawingml/2006/main" xmlns:r="http://schemas.openxmlformats.org/officeDocument/2006/relationships" xmlns:p="http://schemas.openxmlformats.org/presentationml/2006/main">
  <p:tag name="KSO_WM_UNIT_TABLE_BEAUTIFY" val="smartTable{202f378f-ab44-4399-90ac-425a1892134c}"/>
</p:tagLst>
</file>

<file path=ppt/theme/theme1.xml><?xml version="1.0" encoding="utf-8"?>
<a:theme xmlns:a="http://schemas.openxmlformats.org/drawingml/2006/main" name="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第一PPT，www.1ppt.com">
  <a:themeElements>
    <a:clrScheme name="自定义 10">
      <a:dk1>
        <a:srgbClr val="000000"/>
      </a:dk1>
      <a:lt1>
        <a:sysClr val="window" lastClr="FFFFFF"/>
      </a:lt1>
      <a:dk2>
        <a:srgbClr val="44546A"/>
      </a:dk2>
      <a:lt2>
        <a:srgbClr val="E7E6E6"/>
      </a:lt2>
      <a:accent1>
        <a:srgbClr val="6BB2E1"/>
      </a:accent1>
      <a:accent2>
        <a:srgbClr val="265B85"/>
      </a:accent2>
      <a:accent3>
        <a:srgbClr val="FFA500"/>
      </a:accent3>
      <a:accent4>
        <a:srgbClr val="FFD20E"/>
      </a:accent4>
      <a:accent5>
        <a:srgbClr val="B03A05"/>
      </a:accent5>
      <a:accent6>
        <a:srgbClr val="FFFFFF"/>
      </a:accent6>
      <a:hlink>
        <a:srgbClr val="0563C1"/>
      </a:hlink>
      <a:folHlink>
        <a:srgbClr val="954F72"/>
      </a:folHlink>
    </a:clrScheme>
    <a:fontScheme name="自定义 1">
      <a:majorFont>
        <a:latin typeface="Calibri"/>
        <a:ea typeface="微软雅黑"/>
        <a:cs typeface=""/>
      </a:majorFont>
      <a:minorFont>
        <a:latin typeface="Calibr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5108</Words>
  <Application>Microsoft Office PowerPoint</Application>
  <PresentationFormat>宽屏</PresentationFormat>
  <Paragraphs>616</Paragraphs>
  <Slides>69</Slides>
  <Notes>23</Notes>
  <HiddenSlides>0</HiddenSlides>
  <MMClips>0</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2</vt:i4>
      </vt:variant>
      <vt:variant>
        <vt:lpstr>幻灯片标题</vt:lpstr>
      </vt:variant>
      <vt:variant>
        <vt:i4>69</vt:i4>
      </vt:variant>
    </vt:vector>
  </HeadingPairs>
  <TitlesOfParts>
    <vt:vector size="95" baseType="lpstr">
      <vt:lpstr>Noto Sans S Chinese Medium</vt:lpstr>
      <vt:lpstr>Noto Sans S Chinese Regular</vt:lpstr>
      <vt:lpstr>等线</vt:lpstr>
      <vt:lpstr>仿宋</vt:lpstr>
      <vt:lpstr>华文楷体</vt:lpstr>
      <vt:lpstr>宋体</vt:lpstr>
      <vt:lpstr>微软雅黑</vt:lpstr>
      <vt:lpstr>Arial</vt:lpstr>
      <vt:lpstr>Calibri</vt:lpstr>
      <vt:lpstr>Calibri Light</vt:lpstr>
      <vt:lpstr>Cambria</vt:lpstr>
      <vt:lpstr>Cambria Math</vt:lpstr>
      <vt:lpstr>Century Gothic</vt:lpstr>
      <vt:lpstr>Consolas</vt:lpstr>
      <vt:lpstr>DejaVu Sans</vt:lpstr>
      <vt:lpstr>DejaVu Serif</vt:lpstr>
      <vt:lpstr>Microsoft Sans Serif</vt:lpstr>
      <vt:lpstr>Tahoma</vt:lpstr>
      <vt:lpstr>Times New Roman</vt:lpstr>
      <vt:lpstr>Trebuchet MS</vt:lpstr>
      <vt:lpstr>Verdana</vt:lpstr>
      <vt:lpstr>Wingdings</vt:lpstr>
      <vt:lpstr>第一PPT，www.1ppt.com</vt:lpstr>
      <vt:lpstr>1_第一PPT，www.1ppt.com</vt:lpstr>
      <vt:lpstr>AxMath</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朴素贝叶斯算法概述</vt:lpstr>
      <vt:lpstr>PowerPoint 演示文稿</vt:lpstr>
      <vt:lpstr>贝叶斯理论概述</vt:lpstr>
      <vt:lpstr>PowerPoint 演示文稿</vt:lpstr>
      <vt:lpstr>PowerPoint 演示文稿</vt:lpstr>
      <vt:lpstr>朴素贝叶斯分类</vt:lpstr>
      <vt:lpstr>训练朴素贝叶斯：朴素假设</vt:lpstr>
      <vt:lpstr>训练朴素贝叶斯</vt:lpstr>
      <vt:lpstr>对数技巧</vt:lpstr>
      <vt:lpstr>案例：预测打网球</vt:lpstr>
      <vt:lpstr>案例：预测打网球</vt:lpstr>
      <vt:lpstr>案例：预测打网球</vt:lpstr>
      <vt:lpstr>案例：预测打网球</vt:lpstr>
      <vt:lpstr>案例：预测西瓜好坏</vt:lpstr>
      <vt:lpstr>拉普拉斯平滑技术</vt:lpstr>
      <vt:lpstr>算法概述</vt:lpstr>
      <vt:lpstr>PowerPoint 演示文稿</vt:lpstr>
      <vt:lpstr>算法流程</vt:lpstr>
      <vt:lpstr>算法步骤</vt:lpstr>
      <vt:lpstr>算法步骤</vt:lpstr>
      <vt:lpstr>算法步骤</vt:lpstr>
      <vt:lpstr>算法步骤</vt:lpstr>
      <vt:lpstr>算法步骤</vt:lpstr>
      <vt:lpstr>算法步骤</vt:lpstr>
      <vt:lpstr>算法步骤</vt:lpstr>
      <vt:lpstr>算法步骤</vt:lpstr>
      <vt:lpstr>算法步骤</vt:lpstr>
      <vt:lpstr>算法步骤</vt:lpstr>
      <vt:lpstr>算法实现</vt:lpstr>
      <vt:lpstr>上机练习</vt:lpstr>
      <vt:lpstr>PowerPoint 演示文稿</vt:lpstr>
      <vt:lpstr>PowerPoint 演示文稿</vt:lpstr>
      <vt:lpstr>PowerPoint 演示文稿</vt:lpstr>
      <vt:lpstr>sklearn的朴素贝叶斯方法</vt:lpstr>
      <vt:lpstr>算法应用</vt:lpstr>
      <vt:lpstr>PowerPoint 演示文稿</vt:lpstr>
      <vt:lpstr>PowerPoint 演示文稿</vt:lpstr>
      <vt:lpstr>伯努利贝叶斯分类器（BernoulliNB）</vt:lpstr>
      <vt:lpstr>算法应用</vt:lpstr>
      <vt:lpstr>算法应用</vt:lpstr>
      <vt:lpstr>算法应用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对iris数据集的训练效果</vt:lpstr>
      <vt:lpstr>PowerPoint 演示文稿</vt:lpstr>
      <vt:lpstr>PowerPoint 演示文稿</vt:lpstr>
      <vt:lpstr>PowerPoint 演示文稿</vt:lpstr>
      <vt:lpstr>PowerPoint 演示文稿</vt:lpstr>
      <vt:lpstr>上机练习</vt:lpstr>
      <vt:lpstr>PowerPoint 演示文稿</vt:lpstr>
    </vt:vector>
  </TitlesOfParts>
  <Company>tyut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MOOC</dc:title>
  <dc:creator>CZ</dc:creator>
  <cp:lastModifiedBy>宝函 高</cp:lastModifiedBy>
  <cp:revision>427</cp:revision>
  <dcterms:created xsi:type="dcterms:W3CDTF">2017-11-09T06:06:00Z</dcterms:created>
  <dcterms:modified xsi:type="dcterms:W3CDTF">2025-05-03T11:40:25Z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DCB9DC8356324B23B31EE0D04D31604E</vt:lpwstr>
  </property>
  <property fmtid="{D5CDD505-2E9C-101B-9397-08002B2CF9AE}" pid="3" name="KSOProductBuildVer">
    <vt:lpwstr>2052-12.1.0.20305</vt:lpwstr>
  </property>
</Properties>
</file>