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7" r:id="rId3"/>
    <p:sldMasterId id="2147483674" r:id="rId4"/>
    <p:sldMasterId id="2147483676" r:id="rId5"/>
    <p:sldMasterId id="2147483690" r:id="rId6"/>
  </p:sldMasterIdLst>
  <p:notesMasterIdLst>
    <p:notesMasterId r:id="rId79"/>
  </p:notesMasterIdLst>
  <p:handoutMasterIdLst>
    <p:handoutMasterId r:id="rId80"/>
  </p:handoutMasterIdLst>
  <p:sldIdLst>
    <p:sldId id="256" r:id="rId7"/>
    <p:sldId id="257" r:id="rId8"/>
    <p:sldId id="376" r:id="rId9"/>
    <p:sldId id="322" r:id="rId10"/>
    <p:sldId id="323" r:id="rId11"/>
    <p:sldId id="329" r:id="rId12"/>
    <p:sldId id="345" r:id="rId13"/>
    <p:sldId id="324" r:id="rId14"/>
    <p:sldId id="325" r:id="rId15"/>
    <p:sldId id="365" r:id="rId16"/>
    <p:sldId id="307" r:id="rId17"/>
    <p:sldId id="326" r:id="rId18"/>
    <p:sldId id="327" r:id="rId19"/>
    <p:sldId id="346" r:id="rId20"/>
    <p:sldId id="347" r:id="rId21"/>
    <p:sldId id="348" r:id="rId22"/>
    <p:sldId id="452" r:id="rId23"/>
    <p:sldId id="349" r:id="rId24"/>
    <p:sldId id="350" r:id="rId25"/>
    <p:sldId id="351" r:id="rId26"/>
    <p:sldId id="352" r:id="rId27"/>
    <p:sldId id="328" r:id="rId28"/>
    <p:sldId id="321" r:id="rId29"/>
    <p:sldId id="308" r:id="rId30"/>
    <p:sldId id="309" r:id="rId31"/>
    <p:sldId id="367" r:id="rId32"/>
    <p:sldId id="354" r:id="rId33"/>
    <p:sldId id="381" r:id="rId34"/>
    <p:sldId id="355" r:id="rId35"/>
    <p:sldId id="356" r:id="rId36"/>
    <p:sldId id="368" r:id="rId37"/>
    <p:sldId id="377" r:id="rId38"/>
    <p:sldId id="357" r:id="rId39"/>
    <p:sldId id="358" r:id="rId40"/>
    <p:sldId id="361" r:id="rId41"/>
    <p:sldId id="359" r:id="rId42"/>
    <p:sldId id="378" r:id="rId43"/>
    <p:sldId id="371" r:id="rId44"/>
    <p:sldId id="464" r:id="rId45"/>
    <p:sldId id="372" r:id="rId46"/>
    <p:sldId id="373" r:id="rId47"/>
    <p:sldId id="374" r:id="rId48"/>
    <p:sldId id="343" r:id="rId49"/>
    <p:sldId id="382" r:id="rId50"/>
    <p:sldId id="383" r:id="rId51"/>
    <p:sldId id="384" r:id="rId52"/>
    <p:sldId id="385" r:id="rId53"/>
    <p:sldId id="386" r:id="rId54"/>
    <p:sldId id="387" r:id="rId55"/>
    <p:sldId id="388" r:id="rId56"/>
    <p:sldId id="364" r:id="rId57"/>
    <p:sldId id="389" r:id="rId58"/>
    <p:sldId id="390" r:id="rId59"/>
    <p:sldId id="391" r:id="rId60"/>
    <p:sldId id="392" r:id="rId61"/>
    <p:sldId id="456" r:id="rId62"/>
    <p:sldId id="457" r:id="rId63"/>
    <p:sldId id="462" r:id="rId64"/>
    <p:sldId id="463" r:id="rId65"/>
    <p:sldId id="393" r:id="rId66"/>
    <p:sldId id="332" r:id="rId67"/>
    <p:sldId id="333" r:id="rId68"/>
    <p:sldId id="334" r:id="rId69"/>
    <p:sldId id="335" r:id="rId70"/>
    <p:sldId id="460" r:id="rId71"/>
    <p:sldId id="315" r:id="rId72"/>
    <p:sldId id="337" r:id="rId73"/>
    <p:sldId id="338" r:id="rId74"/>
    <p:sldId id="318" r:id="rId75"/>
    <p:sldId id="319" r:id="rId76"/>
    <p:sldId id="451" r:id="rId77"/>
    <p:sldId id="510" r:id="rId78"/>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3828" userDrawn="1">
          <p15:clr>
            <a:srgbClr val="A4A3A4"/>
          </p15:clr>
        </p15:guide>
        <p15:guide id="3" pos="627" userDrawn="1">
          <p15:clr>
            <a:srgbClr val="A4A3A4"/>
          </p15:clr>
        </p15:guide>
        <p15:guide id="4" pos="7038" userDrawn="1">
          <p15:clr>
            <a:srgbClr val="A4A3A4"/>
          </p15:clr>
        </p15:guide>
        <p15:guide id="5" orient="horz" pos="3793" userDrawn="1">
          <p15:clr>
            <a:srgbClr val="A4A3A4"/>
          </p15:clr>
        </p15:guide>
        <p15:guide id="6" orient="horz" pos="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53570853" name="难得糊涂" initials="难"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A3E"/>
    <a:srgbClr val="003399"/>
    <a:srgbClr val="008080"/>
    <a:srgbClr val="009999"/>
    <a:srgbClr val="A5A5A5"/>
    <a:srgbClr val="5F5F5F"/>
    <a:srgbClr val="606060"/>
    <a:srgbClr val="FEA205"/>
    <a:srgbClr val="E9EBEC"/>
    <a:srgbClr val="EAEC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26" autoAdjust="0"/>
    <p:restoredTop sz="75980" autoAdjust="0"/>
  </p:normalViewPr>
  <p:slideViewPr>
    <p:cSldViewPr snapToGrid="0" showGuides="1">
      <p:cViewPr varScale="1">
        <p:scale>
          <a:sx n="66" d="100"/>
          <a:sy n="66" d="100"/>
        </p:scale>
        <p:origin x="586" y="14"/>
      </p:cViewPr>
      <p:guideLst>
        <p:guide orient="horz" pos="2170"/>
        <p:guide pos="3828"/>
        <p:guide pos="627"/>
        <p:guide pos="7038"/>
        <p:guide orient="horz" pos="3793"/>
        <p:guide orient="horz" pos="840"/>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63" d="100"/>
          <a:sy n="63" d="100"/>
        </p:scale>
        <p:origin x="2465" y="51"/>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notesMaster" Target="notesMasters/notesMaster1.xml"/><Relationship Id="rId5" Type="http://schemas.openxmlformats.org/officeDocument/2006/relationships/slideMaster" Target="slideMasters/slideMaster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61" Type="http://schemas.openxmlformats.org/officeDocument/2006/relationships/slide" Target="slides/slide55.xml"/><Relationship Id="rId8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t>2025/2/24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t>2025/2/24</a:t>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indent="0">
              <a:buNone/>
            </a:pPr>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8600" y="630238"/>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indent="0">
              <a:buNone/>
            </a:pPr>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39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43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45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228600" indent="-228600">
              <a:buAutoNum type="arabicPlain" startAt="14"/>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56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57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58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59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65</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66</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69</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1E2743B-58E3-4952-98AC-60B7F3305738}" type="slidenum">
              <a:rPr lang="zh-CN" altLang="en-US" smtClean="0"/>
              <a:t>70</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71</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t>2025/2/24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12284" y="1989138"/>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5484" y="1989138"/>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xfrm>
            <a:off x="912284" y="6381750"/>
            <a:ext cx="2540000" cy="457200"/>
          </a:xfrm>
          <a:prstGeom prst="rect">
            <a:avLst/>
          </a:prstGeom>
        </p:spPr>
        <p:txBody>
          <a:bodyPr/>
          <a:lstStyle>
            <a:lvl1pPr>
              <a:defRPr/>
            </a:lvl1pPr>
          </a:lstStyle>
          <a:p>
            <a:pPr>
              <a:defRPr/>
            </a:pPr>
            <a:fld id="{87B7D054-9B5C-4A90-860F-305684C33F67}" type="datetime1">
              <a:rPr lang="zh-CN" altLang="en-US"/>
              <a:t>2025/2/24</a:t>
            </a:fld>
            <a:endParaRPr lang="en-US" altLang="zh-CN"/>
          </a:p>
        </p:txBody>
      </p:sp>
      <p:sp>
        <p:nvSpPr>
          <p:cNvPr id="6" name="Rectangle 6"/>
          <p:cNvSpPr>
            <a:spLocks noGrp="1" noChangeArrowheads="1"/>
          </p:cNvSpPr>
          <p:nvPr>
            <p:ph type="ftr" sz="quarter" idx="11"/>
          </p:nvPr>
        </p:nvSpPr>
        <p:spPr>
          <a:xfrm>
            <a:off x="4165600" y="6356350"/>
            <a:ext cx="3860800" cy="457200"/>
          </a:xfrm>
          <a:prstGeom prst="rect">
            <a:avLst/>
          </a:prstGeom>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xfrm>
            <a:off x="8737600" y="6356350"/>
            <a:ext cx="2540000" cy="457200"/>
          </a:xfrm>
          <a:prstGeom prst="rect">
            <a:avLst/>
          </a:prstGeom>
        </p:spPr>
        <p:txBody>
          <a:bodyPr/>
          <a:lstStyle>
            <a:lvl1pPr>
              <a:defRPr/>
            </a:lvl1pPr>
          </a:lstStyle>
          <a:p>
            <a:r>
              <a:rPr lang="en-US" altLang="zh-CN"/>
              <a:t>50</a:t>
            </a:r>
            <a:r>
              <a:rPr lang="zh-CN" altLang="en-US"/>
              <a:t>－</a:t>
            </a:r>
            <a:fld id="{8D234C63-BB1C-4422-AE03-49D119BBE8B2}" type="slidenum">
              <a:rPr lang="en-US" altLang="zh-CN"/>
              <a:t>‹#›</a:t>
            </a:fld>
            <a:endParaRPr lang="en-US" altLang="zh-CN"/>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910080" y="359898"/>
            <a:ext cx="9875520" cy="1472184"/>
          </a:xfr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椭圆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椭圆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0" name="矩形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椭圆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椭圆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nchor="ctr"/>
          <a:lstStyle>
            <a:lvl1pPr algn="ctr">
              <a:defRPr sz="4500" b="1"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日期占位符 1"/>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6" name="矩形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矩形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流程图: 过程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40"/>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524000" y="274641"/>
            <a:ext cx="7416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t>2025/2/24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12284" y="1989138"/>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5484" y="1989138"/>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xfrm>
            <a:off x="912284" y="6381750"/>
            <a:ext cx="2540000" cy="457200"/>
          </a:xfrm>
          <a:prstGeom prst="rect">
            <a:avLst/>
          </a:prstGeom>
        </p:spPr>
        <p:txBody>
          <a:bodyPr/>
          <a:lstStyle>
            <a:lvl1pPr>
              <a:defRPr/>
            </a:lvl1pPr>
          </a:lstStyle>
          <a:p>
            <a:pPr>
              <a:defRPr/>
            </a:pPr>
            <a:fld id="{87B7D054-9B5C-4A90-860F-305684C33F67}" type="datetime1">
              <a:rPr lang="zh-CN" altLang="en-US"/>
              <a:t>2025/2/24</a:t>
            </a:fld>
            <a:endParaRPr lang="en-US" altLang="zh-CN"/>
          </a:p>
        </p:txBody>
      </p:sp>
      <p:sp>
        <p:nvSpPr>
          <p:cNvPr id="6" name="Rectangle 6"/>
          <p:cNvSpPr>
            <a:spLocks noGrp="1" noChangeArrowheads="1"/>
          </p:cNvSpPr>
          <p:nvPr>
            <p:ph type="ftr" sz="quarter" idx="11"/>
          </p:nvPr>
        </p:nvSpPr>
        <p:spPr>
          <a:xfrm>
            <a:off x="4165600" y="6356350"/>
            <a:ext cx="3860800" cy="457200"/>
          </a:xfrm>
          <a:prstGeom prst="rect">
            <a:avLst/>
          </a:prstGeom>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xfrm>
            <a:off x="8737600" y="6356350"/>
            <a:ext cx="2540000" cy="457200"/>
          </a:xfrm>
          <a:prstGeom prst="rect">
            <a:avLst/>
          </a:prstGeom>
        </p:spPr>
        <p:txBody>
          <a:bodyPr/>
          <a:lstStyle>
            <a:lvl1pPr>
              <a:defRPr/>
            </a:lvl1pPr>
          </a:lstStyle>
          <a:p>
            <a:r>
              <a:rPr lang="en-US" altLang="zh-CN"/>
              <a:t>50</a:t>
            </a:r>
            <a:r>
              <a:rPr lang="zh-CN" altLang="en-US"/>
              <a:t>－</a:t>
            </a:r>
            <a:fld id="{8D234C63-BB1C-4422-AE03-49D119BBE8B2}" type="slidenum">
              <a:rPr lang="en-US" altLang="zh-CN"/>
              <a:t>‹#›</a:t>
            </a:fld>
            <a:endParaRPr lang="en-US" altLang="zh-CN"/>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grpSp>
        <p:nvGrpSpPr>
          <p:cNvPr id="2" name="组合 8"/>
          <p:cNvGrpSpPr/>
          <p:nvPr userDrawn="1"/>
        </p:nvGrpSpPr>
        <p:grpSpPr>
          <a:xfrm>
            <a:off x="0" y="624193"/>
            <a:ext cx="12192000" cy="0"/>
            <a:chOff x="0" y="1820417"/>
            <a:chExt cx="12192000" cy="0"/>
          </a:xfrm>
        </p:grpSpPr>
        <p:cxnSp>
          <p:nvCxnSpPr>
            <p:cNvPr id="11" name="直接连接符 10"/>
            <p:cNvCxnSpPr/>
            <p:nvPr/>
          </p:nvCxnSpPr>
          <p:spPr>
            <a:xfrm>
              <a:off x="0" y="1820417"/>
              <a:ext cx="1944000" cy="0"/>
            </a:xfrm>
            <a:prstGeom prst="line">
              <a:avLst/>
            </a:prstGeom>
            <a:ln w="50800">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481848" y="1820417"/>
              <a:ext cx="7710152" cy="0"/>
            </a:xfrm>
            <a:prstGeom prst="line">
              <a:avLst/>
            </a:prstGeom>
            <a:ln w="50800">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7" name="椭圆 6"/>
          <p:cNvSpPr/>
          <p:nvPr userDrawn="1"/>
        </p:nvSpPr>
        <p:spPr>
          <a:xfrm>
            <a:off x="11576651" y="6227913"/>
            <a:ext cx="591471" cy="591471"/>
          </a:xfrm>
          <a:prstGeom prst="ellipse">
            <a:avLst/>
          </a:prstGeom>
          <a:gradFill rotWithShape="1">
            <a:gsLst>
              <a:gs pos="46000">
                <a:srgbClr val="ECECEC"/>
              </a:gs>
              <a:gs pos="96000">
                <a:srgbClr val="F9F9F9"/>
              </a:gs>
              <a:gs pos="4000">
                <a:srgbClr val="B8B8B8"/>
              </a:gs>
            </a:gsLst>
            <a:lin ang="7800000" scaled="0"/>
          </a:gradFill>
          <a:ln w="38100">
            <a:gradFill>
              <a:gsLst>
                <a:gs pos="0">
                  <a:schemeClr val="bg1"/>
                </a:gs>
                <a:gs pos="100000">
                  <a:srgbClr val="D1D1D1"/>
                </a:gs>
              </a:gsLst>
              <a:lin ang="7800000" scaled="0"/>
            </a:gradFill>
          </a:ln>
          <a:effectLst>
            <a:outerShdw blurRad="279400" dist="139700" dir="7800000" sx="101000" sy="101000" algn="ctr" rotWithShape="0">
              <a:schemeClr val="tx1">
                <a:alpha val="70000"/>
              </a:schemeClr>
            </a:outerShdw>
          </a:effectLst>
        </p:spPr>
        <p:txBody>
          <a:bodyPr wrap="none" lIns="121917" tIns="60958" rIns="121917" bIns="60958" anchor="ctr"/>
          <a:lstStyle/>
          <a:p>
            <a:pPr algn="ctr" latinLnBrk="1"/>
            <a:endParaRPr kumimoji="1" lang="zh-CN" altLang="en-US" sz="4300" dirty="0">
              <a:solidFill>
                <a:schemeClr val="accent1"/>
              </a:solidFill>
              <a:cs typeface="+mn-ea"/>
              <a:sym typeface="+mn-lt"/>
            </a:endParaRPr>
          </a:p>
        </p:txBody>
      </p:sp>
      <p:sp>
        <p:nvSpPr>
          <p:cNvPr id="13" name="矩形 12"/>
          <p:cNvSpPr/>
          <p:nvPr userDrawn="1"/>
        </p:nvSpPr>
        <p:spPr>
          <a:xfrm>
            <a:off x="11623367" y="6369423"/>
            <a:ext cx="498039" cy="707882"/>
          </a:xfrm>
          <a:prstGeom prst="rect">
            <a:avLst/>
          </a:prstGeom>
        </p:spPr>
        <p:txBody>
          <a:bodyPr wrap="square" lIns="121917" tIns="60958" rIns="121917" bIns="60958">
            <a:spAutoFit/>
          </a:bodyPr>
          <a:lstStyle/>
          <a:p>
            <a:pPr algn="ctr"/>
            <a:fld id="{74539849-7CA0-4233-AFC6-094195C6FBB0}" type="slidenum">
              <a:rPr lang="zh-CN" altLang="en-US" sz="1900" smtClean="0">
                <a:solidFill>
                  <a:schemeClr val="bg2">
                    <a:lumMod val="25000"/>
                  </a:schemeClr>
                </a:solidFill>
              </a:rPr>
              <a:t>‹#›</a:t>
            </a:fld>
            <a:endParaRPr lang="zh-CN" altLang="en-US" sz="1900" dirty="0">
              <a:solidFill>
                <a:schemeClr val="bg2">
                  <a:lumMod val="25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D7880AE1-E980-4822-8405-BF4851D2B7C4}" type="datetime10">
              <a:rPr lang="zh-CN" altLang="en-US" smtClean="0">
                <a:solidFill>
                  <a:srgbClr val="E7DEC9">
                    <a:shade val="50000"/>
                    <a:satMod val="200000"/>
                  </a:srgbClr>
                </a:solidFill>
              </a:rPr>
              <a:t>15:41</a:t>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8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3200"/>
            </a:lvl1pPr>
            <a:lvl2pPr marL="609600" indent="0" algn="ctr">
              <a:buNone/>
              <a:defRPr sz="2665"/>
            </a:lvl2pPr>
            <a:lvl3pPr marL="1219200" indent="0" algn="ctr">
              <a:buNone/>
              <a:defRPr sz="2400"/>
            </a:lvl3pPr>
            <a:lvl4pPr marL="1828800" indent="0" algn="ctr">
              <a:buNone/>
              <a:defRPr sz="2135"/>
            </a:lvl4pPr>
            <a:lvl5pPr marL="2438400" indent="0" algn="ctr">
              <a:buNone/>
              <a:defRPr sz="2135"/>
            </a:lvl5pPr>
            <a:lvl6pPr marL="3048000" indent="0" algn="ctr">
              <a:buNone/>
              <a:defRPr sz="2135"/>
            </a:lvl6pPr>
            <a:lvl7pPr marL="3657600" indent="0" algn="ctr">
              <a:buNone/>
              <a:defRPr sz="2135"/>
            </a:lvl7pPr>
            <a:lvl8pPr marL="4267200" indent="0" algn="ctr">
              <a:buNone/>
              <a:defRPr sz="2135"/>
            </a:lvl8pPr>
            <a:lvl9pPr marL="4876800" indent="0" algn="ctr">
              <a:buNone/>
              <a:defRPr sz="2135"/>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FA035B5C-C548-45B1-AA72-6C1ADA202517}"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08B523F-E1A0-4EEB-808F-D6B39C725D7E}"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8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3200">
                <a:solidFill>
                  <a:schemeClr val="tx1"/>
                </a:solidFill>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620DD91F-D3A1-4AA3-88B5-305501533928}"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3A1A1B55-1C40-4478-9C58-B8408357A360}"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TW" altLang="en-US"/>
              <a:t>按一下以編輯母片文字樣式</a:t>
            </a:r>
          </a:p>
        </p:txBody>
      </p:sp>
      <p:sp>
        <p:nvSpPr>
          <p:cNvPr id="4" name="Content Placeholder 3"/>
          <p:cNvSpPr>
            <a:spLocks noGrp="1"/>
          </p:cNvSpPr>
          <p:nvPr>
            <p:ph sz="half" idx="2"/>
          </p:nvPr>
        </p:nvSpPr>
        <p:spPr>
          <a:xfrm>
            <a:off x="839789"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TW" altLang="en-US"/>
              <a:t>按一下以編輯母片文字樣式</a:t>
            </a:r>
          </a:p>
        </p:txBody>
      </p:sp>
      <p:sp>
        <p:nvSpPr>
          <p:cNvPr id="6" name="Content Placeholder 5"/>
          <p:cNvSpPr>
            <a:spLocks noGrp="1"/>
          </p:cNvSpPr>
          <p:nvPr>
            <p:ph sz="quarter" idx="4"/>
          </p:nvPr>
        </p:nvSpPr>
        <p:spPr>
          <a:xfrm>
            <a:off x="6172202"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6F6E93B4-A752-48C5-ABF2-8F8B85B85351}"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TW"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E48A7F11-63FF-4F43-844C-4126851FFFDC}"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TW"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8FF95B-5280-41BF-98F2-E95A4034BFE9}"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TW"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4265"/>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8"/>
            <a:ext cx="6172200" cy="4873625"/>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488F0D3-36D0-4A50-81DD-9C6086667177}"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4265"/>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8"/>
            <a:ext cx="6172200" cy="4873625"/>
          </a:xfrm>
        </p:spPr>
        <p:txBody>
          <a:bodyPr anchor="t"/>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A51FFAC-6956-4529-B9E4-1245DFC8E1A5}"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TW"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37B73172-09E1-48DF-B572-C716154695CA}"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6"/>
            <a:ext cx="2628900" cy="5811839"/>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2" y="365126"/>
            <a:ext cx="7734300" cy="5811839"/>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39611D0B-B57E-4B0E-B31A-4EA489732C1B}"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TW"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grpSp>
        <p:nvGrpSpPr>
          <p:cNvPr id="2" name="组合 8"/>
          <p:cNvGrpSpPr/>
          <p:nvPr userDrawn="1"/>
        </p:nvGrpSpPr>
        <p:grpSpPr>
          <a:xfrm>
            <a:off x="0" y="624193"/>
            <a:ext cx="12192000" cy="0"/>
            <a:chOff x="0" y="1820417"/>
            <a:chExt cx="12192000" cy="0"/>
          </a:xfrm>
        </p:grpSpPr>
        <p:cxnSp>
          <p:nvCxnSpPr>
            <p:cNvPr id="11" name="直接连接符 10"/>
            <p:cNvCxnSpPr/>
            <p:nvPr/>
          </p:nvCxnSpPr>
          <p:spPr>
            <a:xfrm>
              <a:off x="0" y="1820417"/>
              <a:ext cx="1944000" cy="0"/>
            </a:xfrm>
            <a:prstGeom prst="line">
              <a:avLst/>
            </a:prstGeom>
            <a:ln w="50800">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481848" y="1820417"/>
              <a:ext cx="7710152" cy="0"/>
            </a:xfrm>
            <a:prstGeom prst="line">
              <a:avLst/>
            </a:prstGeom>
            <a:ln w="50800">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7" name="椭圆 6"/>
          <p:cNvSpPr/>
          <p:nvPr userDrawn="1"/>
        </p:nvSpPr>
        <p:spPr>
          <a:xfrm>
            <a:off x="11576650" y="6227911"/>
            <a:ext cx="591471" cy="591471"/>
          </a:xfrm>
          <a:prstGeom prst="ellipse">
            <a:avLst/>
          </a:prstGeom>
          <a:gradFill rotWithShape="1">
            <a:gsLst>
              <a:gs pos="46000">
                <a:srgbClr val="ECECEC"/>
              </a:gs>
              <a:gs pos="96000">
                <a:srgbClr val="F9F9F9"/>
              </a:gs>
              <a:gs pos="4000">
                <a:srgbClr val="B8B8B8"/>
              </a:gs>
            </a:gsLst>
            <a:lin ang="7800000" scaled="0"/>
          </a:gradFill>
          <a:ln w="38100">
            <a:gradFill>
              <a:gsLst>
                <a:gs pos="0">
                  <a:schemeClr val="bg1"/>
                </a:gs>
                <a:gs pos="100000">
                  <a:srgbClr val="D1D1D1"/>
                </a:gs>
              </a:gsLst>
              <a:lin ang="7800000" scaled="0"/>
            </a:gradFill>
          </a:ln>
          <a:effectLst>
            <a:outerShdw blurRad="279400" dist="139700" dir="7800000" sx="101000" sy="101000" algn="ctr" rotWithShape="0">
              <a:schemeClr val="tx1">
                <a:alpha val="70000"/>
              </a:schemeClr>
            </a:outerShdw>
          </a:effectLst>
        </p:spPr>
        <p:txBody>
          <a:bodyPr wrap="none" lIns="91440" tIns="45720" rIns="91440" bIns="45720" anchor="ctr"/>
          <a:lstStyle/>
          <a:p>
            <a:pPr algn="ctr" latinLnBrk="1"/>
            <a:endParaRPr kumimoji="1" lang="zh-CN" altLang="en-US" sz="3200" dirty="0">
              <a:solidFill>
                <a:srgbClr val="5B9BD5"/>
              </a:solidFill>
              <a:cs typeface="+mn-ea"/>
              <a:sym typeface="+mn-lt"/>
            </a:endParaRPr>
          </a:p>
        </p:txBody>
      </p:sp>
      <p:sp>
        <p:nvSpPr>
          <p:cNvPr id="13" name="矩形 12"/>
          <p:cNvSpPr/>
          <p:nvPr userDrawn="1"/>
        </p:nvSpPr>
        <p:spPr>
          <a:xfrm>
            <a:off x="11623366" y="6369423"/>
            <a:ext cx="498039" cy="318100"/>
          </a:xfrm>
          <a:prstGeom prst="rect">
            <a:avLst/>
          </a:prstGeom>
        </p:spPr>
        <p:txBody>
          <a:bodyPr wrap="square" lIns="91440" tIns="45720" rIns="91440" bIns="45720">
            <a:spAutoFit/>
          </a:bodyPr>
          <a:lstStyle/>
          <a:p>
            <a:pPr algn="ctr"/>
            <a:fld id="{74539849-7CA0-4233-AFC6-094195C6FBB0}" type="slidenum">
              <a:rPr lang="zh-CN" altLang="en-US" sz="1465" smtClean="0">
                <a:solidFill>
                  <a:srgbClr val="E7E6E6">
                    <a:lumMod val="25000"/>
                  </a:srgbClr>
                </a:solidFill>
              </a:rPr>
              <a:t>‹#›</a:t>
            </a:fld>
            <a:endParaRPr lang="zh-CN" altLang="en-US" sz="1465" dirty="0">
              <a:solidFill>
                <a:srgbClr val="E7E6E6">
                  <a:lumMod val="25000"/>
                </a:srgb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grpSp>
        <p:nvGrpSpPr>
          <p:cNvPr id="2" name="组合 3"/>
          <p:cNvGrpSpPr/>
          <p:nvPr userDrawn="1"/>
        </p:nvGrpSpPr>
        <p:grpSpPr>
          <a:xfrm>
            <a:off x="0" y="624193"/>
            <a:ext cx="12192000" cy="0"/>
            <a:chOff x="0" y="1820417"/>
            <a:chExt cx="12192000" cy="0"/>
          </a:xfrm>
        </p:grpSpPr>
        <p:cxnSp>
          <p:nvCxnSpPr>
            <p:cNvPr id="5" name="直接连接符 4"/>
            <p:cNvCxnSpPr/>
            <p:nvPr/>
          </p:nvCxnSpPr>
          <p:spPr>
            <a:xfrm>
              <a:off x="0" y="1820417"/>
              <a:ext cx="1944000" cy="0"/>
            </a:xfrm>
            <a:prstGeom prst="line">
              <a:avLst/>
            </a:prstGeom>
            <a:ln w="50800">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498848" y="1820417"/>
              <a:ext cx="7693152" cy="0"/>
            </a:xfrm>
            <a:prstGeom prst="line">
              <a:avLst/>
            </a:prstGeom>
            <a:ln w="50800">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F0537489-7CBD-4EC6-A5A2-3FCBD4D9DCD5}" type="datetime10">
              <a:rPr lang="zh-CN" altLang="en-US" smtClean="0"/>
              <a:t>15:41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0.xml"/><Relationship Id="rId7"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image" Target="../media/image2.png"/><Relationship Id="rId5" Type="http://schemas.openxmlformats.org/officeDocument/2006/relationships/theme" Target="../theme/theme6.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7"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椭圆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同心圆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矩形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530820CF-B880-4189-942D-D702A7CBA730}" type="datetimeFigureOut">
              <a:rPr lang="zh-CN" altLang="en-US" smtClean="0"/>
              <a:t>2025/2/24</a:t>
            </a:fld>
            <a:endParaRPr lang="zh-CN" altLang="en-US"/>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t>‹#›</a:t>
            </a:fld>
            <a:endParaRPr lang="zh-CN" altLang="en-US"/>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8"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8" name="椭圆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同心圆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2" name="矩形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4E9D5914-7E99-44F9-8734-324C3FD61956}" type="datetime10">
              <a:rPr lang="zh-CN" altLang="en-US" smtClean="0">
                <a:solidFill>
                  <a:srgbClr val="E7DEC9">
                    <a:shade val="50000"/>
                    <a:satMod val="200000"/>
                  </a:srgbClr>
                </a:solidFill>
              </a:rPr>
              <a:t>15:41</a:t>
            </a:fld>
            <a:endParaRPr lang="zh-CN" altLang="en-US">
              <a:solidFill>
                <a:srgbClr val="E7DEC9">
                  <a:shade val="50000"/>
                  <a:satMod val="200000"/>
                </a:srgbClr>
              </a:solidFill>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solidFill>
                <a:srgbClr val="E7DEC9">
                  <a:shade val="50000"/>
                  <a:satMod val="200000"/>
                </a:srgbClr>
              </a:solidFill>
            </a:endParaRPr>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Tree>
  </p:cSld>
  <p:clrMap bg1="lt1" tx1="dk1" bg2="lt2" tx2="dk2" accent1="accent1" accent2="accent2" accent3="accent3" accent4="accent4" accent5="accent5" accent6="accent6" hlink="hlink" folHlink="folHlink"/>
  <p:sldLayoutIdLst>
    <p:sldLayoutId id="2147483675" r:id="rId1"/>
  </p:sldLayoutIdLst>
  <p:hf sldNum="0" hdr="0" ftr="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F80DC96B-CADB-445B-832B-8A990A4F308B}" type="datetime10">
              <a:rPr lang="zh-CN" altLang="en-US" smtClean="0">
                <a:solidFill>
                  <a:prstClr val="black">
                    <a:tint val="75000"/>
                  </a:prstClr>
                </a:solidFill>
              </a:rPr>
              <a:t>15:41</a:t>
            </a:fld>
            <a:endParaRPr lang="zh-TW" altLang="en-U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TW" altLang="en-US">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1E3B3A6-7A9C-48B8-933D-3377D6C33DD3}" type="slidenum">
              <a:rPr lang="zh-TW" altLang="en-US" smtClean="0">
                <a:solidFill>
                  <a:prstClr val="black">
                    <a:tint val="75000"/>
                  </a:prstClr>
                </a:solidFill>
              </a:rPr>
              <a:t>‹#›</a:t>
            </a:fld>
            <a:endParaRPr lang="zh-TW"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p:txStyles>
    <p:titleStyle>
      <a:lvl1pPr algn="l" defTabSz="1219200"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ts val="1335"/>
        </a:spcBef>
        <a:buFont typeface="Arial" panose="020B0604020202020204" pitchFamily="34" charset="0"/>
        <a:buChar char="•"/>
        <a:defRPr sz="3735" kern="1200">
          <a:solidFill>
            <a:schemeClr val="tx1"/>
          </a:solidFill>
          <a:latin typeface="+mn-lt"/>
          <a:ea typeface="+mn-ea"/>
          <a:cs typeface="+mn-cs"/>
        </a:defRPr>
      </a:lvl1pPr>
      <a:lvl2pPr marL="914400" indent="-304800" algn="l" defTabSz="1219200" rtl="0" eaLnBrk="1" latinLnBrk="0" hangingPunct="1">
        <a:lnSpc>
          <a:spcPct val="90000"/>
        </a:lnSpc>
        <a:spcBef>
          <a:spcPts val="665"/>
        </a:spcBef>
        <a:buFont typeface="Arial" panose="020B0604020202020204" pitchFamily="34" charset="0"/>
        <a:buChar char="•"/>
        <a:defRPr sz="3200" kern="1200">
          <a:solidFill>
            <a:schemeClr val="tx1"/>
          </a:solidFill>
          <a:latin typeface="+mn-lt"/>
          <a:ea typeface="+mn-ea"/>
          <a:cs typeface="+mn-cs"/>
        </a:defRPr>
      </a:lvl2pPr>
      <a:lvl3pPr marL="1524000" indent="-304800" algn="l" defTabSz="1219200" rtl="0" eaLnBrk="1" latinLnBrk="0" hangingPunct="1">
        <a:lnSpc>
          <a:spcPct val="90000"/>
        </a:lnSpc>
        <a:spcBef>
          <a:spcPts val="665"/>
        </a:spcBef>
        <a:buFont typeface="Arial" panose="020B0604020202020204" pitchFamily="34" charset="0"/>
        <a:buChar char="•"/>
        <a:defRPr sz="2665" kern="1200">
          <a:solidFill>
            <a:schemeClr val="tx1"/>
          </a:solidFill>
          <a:latin typeface="+mn-lt"/>
          <a:ea typeface="+mn-ea"/>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6">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Lst>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1.xml"/><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1.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10" Type="http://schemas.openxmlformats.org/officeDocument/2006/relationships/notesSlide" Target="../notesSlides/notesSlide45.xml"/><Relationship Id="rId4" Type="http://schemas.openxmlformats.org/officeDocument/2006/relationships/tags" Target="../tags/tag15.xml"/><Relationship Id="rId9"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383972" y="5259617"/>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3729109" y="3057600"/>
            <a:ext cx="4339650"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PT Mono"/>
                <a:ea typeface="Noto Sans S Chinese Medium" panose="020B0600000000000000" pitchFamily="34" charset="-122"/>
                <a:cs typeface="PT Mono"/>
                <a:sym typeface="+mn-lt"/>
              </a:rPr>
              <a:t>机器学习概述</a:t>
            </a:r>
          </a:p>
        </p:txBody>
      </p:sp>
      <p:sp>
        <p:nvSpPr>
          <p:cNvPr id="141" name="PA_文本框 140"/>
          <p:cNvSpPr txBox="1"/>
          <p:nvPr>
            <p:custDataLst>
              <p:tags r:id="rId9"/>
            </p:custDataLst>
          </p:nvPr>
        </p:nvSpPr>
        <p:spPr>
          <a:xfrm>
            <a:off x="986327" y="944000"/>
            <a:ext cx="2544286"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1</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5639941" y="-1609648"/>
            <a:ext cx="6311948" cy="6008653"/>
            <a:chOff x="5713365" y="-3153028"/>
            <a:chExt cx="6311948" cy="6008653"/>
          </a:xfrm>
        </p:grpSpPr>
        <p:grpSp>
          <p:nvGrpSpPr>
            <p:cNvPr id="402" name="组合 401"/>
            <p:cNvGrpSpPr/>
            <p:nvPr/>
          </p:nvGrpSpPr>
          <p:grpSpPr>
            <a:xfrm>
              <a:off x="8085157" y="-1579282"/>
              <a:ext cx="587486" cy="1728000"/>
              <a:chOff x="8085157" y="5279067"/>
              <a:chExt cx="587486" cy="1728000"/>
            </a:xfrm>
          </p:grpSpPr>
          <p:sp>
            <p:nvSpPr>
              <p:cNvPr id="403" name="等腰三角形 9_4"/>
              <p:cNvSpPr/>
              <p:nvPr/>
            </p:nvSpPr>
            <p:spPr>
              <a:xfrm rot="10800000">
                <a:off x="8085157" y="5546117"/>
                <a:ext cx="587486" cy="146095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04" name="椭圆 403"/>
              <p:cNvSpPr>
                <a:spLocks noChangeAspect="1"/>
              </p:cNvSpPr>
              <p:nvPr/>
            </p:nvSpPr>
            <p:spPr>
              <a:xfrm>
                <a:off x="8111847" y="5279067"/>
                <a:ext cx="534106" cy="534099"/>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08" name="组合 407"/>
            <p:cNvGrpSpPr/>
            <p:nvPr/>
          </p:nvGrpSpPr>
          <p:grpSpPr>
            <a:xfrm>
              <a:off x="8930899" y="-1838751"/>
              <a:ext cx="771066" cy="2268000"/>
              <a:chOff x="8930899" y="5019598"/>
              <a:chExt cx="771066" cy="2268000"/>
            </a:xfrm>
          </p:grpSpPr>
          <p:sp>
            <p:nvSpPr>
              <p:cNvPr id="409" name="等腰三角形 9_8"/>
              <p:cNvSpPr/>
              <p:nvPr/>
            </p:nvSpPr>
            <p:spPr>
              <a:xfrm rot="10800000">
                <a:off x="8930899" y="5370100"/>
                <a:ext cx="771066" cy="191749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0" name="椭圆 409"/>
              <p:cNvSpPr>
                <a:spLocks noChangeAspect="1"/>
              </p:cNvSpPr>
              <p:nvPr/>
            </p:nvSpPr>
            <p:spPr>
              <a:xfrm>
                <a:off x="8965930" y="5019598"/>
                <a:ext cx="701006" cy="701005"/>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4" name="组合 413"/>
            <p:cNvGrpSpPr/>
            <p:nvPr/>
          </p:nvGrpSpPr>
          <p:grpSpPr>
            <a:xfrm>
              <a:off x="8491539" y="-3153028"/>
              <a:ext cx="1248391" cy="3672000"/>
              <a:chOff x="8491539" y="3705321"/>
              <a:chExt cx="1248391" cy="3672000"/>
            </a:xfrm>
          </p:grpSpPr>
          <p:sp>
            <p:nvSpPr>
              <p:cNvPr id="415" name="等腰三角形 9_12"/>
              <p:cNvSpPr/>
              <p:nvPr/>
            </p:nvSpPr>
            <p:spPr>
              <a:xfrm rot="10800000">
                <a:off x="8491539" y="4272801"/>
                <a:ext cx="1248391" cy="310452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6" name="椭圆 415"/>
              <p:cNvSpPr>
                <a:spLocks noChangeAspect="1"/>
              </p:cNvSpPr>
              <p:nvPr/>
            </p:nvSpPr>
            <p:spPr>
              <a:xfrm>
                <a:off x="8548254" y="3705321"/>
                <a:ext cx="1134960" cy="1134960"/>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7" name="组合 416"/>
            <p:cNvGrpSpPr/>
            <p:nvPr/>
          </p:nvGrpSpPr>
          <p:grpSpPr>
            <a:xfrm>
              <a:off x="7678206" y="-2685027"/>
              <a:ext cx="905695" cy="2664001"/>
              <a:chOff x="7678206" y="4173322"/>
              <a:chExt cx="905695" cy="2664001"/>
            </a:xfrm>
          </p:grpSpPr>
          <p:sp>
            <p:nvSpPr>
              <p:cNvPr id="418" name="等腰三角形 9_14"/>
              <p:cNvSpPr/>
              <p:nvPr/>
            </p:nvSpPr>
            <p:spPr>
              <a:xfrm rot="10800000">
                <a:off x="7678206" y="4585024"/>
                <a:ext cx="905695" cy="225229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9" name="椭圆 418"/>
              <p:cNvSpPr>
                <a:spLocks noChangeAspect="1"/>
              </p:cNvSpPr>
              <p:nvPr/>
            </p:nvSpPr>
            <p:spPr>
              <a:xfrm>
                <a:off x="7719353" y="4173322"/>
                <a:ext cx="823402" cy="82340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0" name="组合 419"/>
            <p:cNvGrpSpPr/>
            <p:nvPr/>
          </p:nvGrpSpPr>
          <p:grpSpPr>
            <a:xfrm>
              <a:off x="8158768" y="-2346784"/>
              <a:ext cx="942412" cy="2772000"/>
              <a:chOff x="8158768" y="4511565"/>
              <a:chExt cx="942412" cy="2772000"/>
            </a:xfrm>
          </p:grpSpPr>
          <p:sp>
            <p:nvSpPr>
              <p:cNvPr id="421" name="等腰三角形 9_16"/>
              <p:cNvSpPr/>
              <p:nvPr/>
            </p:nvSpPr>
            <p:spPr>
              <a:xfrm rot="10800000">
                <a:off x="8158768" y="4939957"/>
                <a:ext cx="942412" cy="234360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2" name="椭圆 421"/>
              <p:cNvSpPr>
                <a:spLocks noChangeAspect="1"/>
              </p:cNvSpPr>
              <p:nvPr/>
            </p:nvSpPr>
            <p:spPr>
              <a:xfrm>
                <a:off x="8201583" y="4511565"/>
                <a:ext cx="856783" cy="85678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3" name="组合 422"/>
            <p:cNvGrpSpPr/>
            <p:nvPr/>
          </p:nvGrpSpPr>
          <p:grpSpPr>
            <a:xfrm>
              <a:off x="11309411" y="-847185"/>
              <a:ext cx="715902" cy="1980000"/>
              <a:chOff x="11309411" y="6011164"/>
              <a:chExt cx="715902" cy="1980000"/>
            </a:xfrm>
          </p:grpSpPr>
          <p:sp>
            <p:nvSpPr>
              <p:cNvPr id="424" name="等腰三角形 9_18"/>
              <p:cNvSpPr/>
              <p:nvPr/>
            </p:nvSpPr>
            <p:spPr>
              <a:xfrm rot="10800000">
                <a:off x="11309411" y="6317158"/>
                <a:ext cx="715902" cy="167400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5" name="椭圆 424"/>
              <p:cNvSpPr>
                <a:spLocks noChangeAspect="1"/>
              </p:cNvSpPr>
              <p:nvPr/>
            </p:nvSpPr>
            <p:spPr>
              <a:xfrm>
                <a:off x="11361368" y="6011164"/>
                <a:ext cx="611990" cy="61198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6" name="组合 425"/>
            <p:cNvGrpSpPr/>
            <p:nvPr/>
          </p:nvGrpSpPr>
          <p:grpSpPr>
            <a:xfrm>
              <a:off x="9272737" y="-684692"/>
              <a:ext cx="868978" cy="2556000"/>
              <a:chOff x="9272737" y="6173657"/>
              <a:chExt cx="868978" cy="2556000"/>
            </a:xfrm>
          </p:grpSpPr>
          <p:sp>
            <p:nvSpPr>
              <p:cNvPr id="427"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8" name="椭圆 427"/>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9" name="组合 428"/>
            <p:cNvGrpSpPr/>
            <p:nvPr/>
          </p:nvGrpSpPr>
          <p:grpSpPr>
            <a:xfrm>
              <a:off x="8447464" y="-1278114"/>
              <a:ext cx="1174957" cy="3455999"/>
              <a:chOff x="8447464" y="5580235"/>
              <a:chExt cx="1174957" cy="3455999"/>
            </a:xfrm>
          </p:grpSpPr>
          <p:sp>
            <p:nvSpPr>
              <p:cNvPr id="43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1" name="椭圆 43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2" name="组合 431"/>
            <p:cNvGrpSpPr/>
            <p:nvPr/>
          </p:nvGrpSpPr>
          <p:grpSpPr>
            <a:xfrm>
              <a:off x="5713365" y="-2216284"/>
              <a:ext cx="1358547" cy="3996000"/>
              <a:chOff x="5713365" y="4642065"/>
              <a:chExt cx="1358547" cy="3996000"/>
            </a:xfrm>
          </p:grpSpPr>
          <p:sp>
            <p:nvSpPr>
              <p:cNvPr id="43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4" name="椭圆 43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5" name="组合 434"/>
            <p:cNvGrpSpPr/>
            <p:nvPr/>
          </p:nvGrpSpPr>
          <p:grpSpPr>
            <a:xfrm>
              <a:off x="7146608" y="-1854039"/>
              <a:ext cx="820027" cy="2412000"/>
              <a:chOff x="7146608" y="5004310"/>
              <a:chExt cx="820027" cy="2412000"/>
            </a:xfrm>
          </p:grpSpPr>
          <p:sp>
            <p:nvSpPr>
              <p:cNvPr id="436" name="等腰三角形 9_26"/>
              <p:cNvSpPr/>
              <p:nvPr/>
            </p:nvSpPr>
            <p:spPr>
              <a:xfrm rot="10800000">
                <a:off x="7146608" y="5377067"/>
                <a:ext cx="820027" cy="203924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7" name="椭圆 436"/>
              <p:cNvSpPr>
                <a:spLocks noChangeAspect="1"/>
              </p:cNvSpPr>
              <p:nvPr/>
            </p:nvSpPr>
            <p:spPr>
              <a:xfrm>
                <a:off x="7183863" y="5004310"/>
                <a:ext cx="745518" cy="74551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8" name="组合 437"/>
            <p:cNvGrpSpPr/>
            <p:nvPr/>
          </p:nvGrpSpPr>
          <p:grpSpPr>
            <a:xfrm>
              <a:off x="6965950" y="-2432198"/>
              <a:ext cx="879620" cy="2555999"/>
              <a:chOff x="6965950" y="4426151"/>
              <a:chExt cx="879620" cy="2555999"/>
            </a:xfrm>
          </p:grpSpPr>
          <p:sp>
            <p:nvSpPr>
              <p:cNvPr id="439" name="等腰三角形 9_28"/>
              <p:cNvSpPr/>
              <p:nvPr/>
            </p:nvSpPr>
            <p:spPr>
              <a:xfrm rot="10800000">
                <a:off x="6965950" y="4821161"/>
                <a:ext cx="879620"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0" name="椭圆 439"/>
              <p:cNvSpPr>
                <a:spLocks noChangeAspect="1"/>
              </p:cNvSpPr>
              <p:nvPr/>
            </p:nvSpPr>
            <p:spPr>
              <a:xfrm>
                <a:off x="7010750" y="4426151"/>
                <a:ext cx="790022" cy="790021"/>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5" name="组合 464"/>
            <p:cNvGrpSpPr/>
            <p:nvPr/>
          </p:nvGrpSpPr>
          <p:grpSpPr>
            <a:xfrm>
              <a:off x="7245345" y="-1392019"/>
              <a:ext cx="1358542" cy="3996000"/>
              <a:chOff x="7245345" y="5466330"/>
              <a:chExt cx="1358542" cy="3996000"/>
            </a:xfrm>
          </p:grpSpPr>
          <p:sp>
            <p:nvSpPr>
              <p:cNvPr id="466"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67" name="椭圆 466"/>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8" name="组合 467"/>
            <p:cNvGrpSpPr/>
            <p:nvPr/>
          </p:nvGrpSpPr>
          <p:grpSpPr>
            <a:xfrm>
              <a:off x="6696365" y="-1511431"/>
              <a:ext cx="917938" cy="2700000"/>
              <a:chOff x="6696365" y="5346918"/>
              <a:chExt cx="917938" cy="2700000"/>
            </a:xfrm>
          </p:grpSpPr>
          <p:sp>
            <p:nvSpPr>
              <p:cNvPr id="469" name="等腰三角形 9_48"/>
              <p:cNvSpPr/>
              <p:nvPr/>
            </p:nvSpPr>
            <p:spPr>
              <a:xfrm rot="10800000">
                <a:off x="6696365" y="5764183"/>
                <a:ext cx="917938" cy="22827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0" name="椭圆 469"/>
              <p:cNvSpPr>
                <a:spLocks noChangeAspect="1"/>
              </p:cNvSpPr>
              <p:nvPr/>
            </p:nvSpPr>
            <p:spPr>
              <a:xfrm>
                <a:off x="6738068" y="5346918"/>
                <a:ext cx="834533" cy="83453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1" name="组合 470"/>
            <p:cNvGrpSpPr/>
            <p:nvPr/>
          </p:nvGrpSpPr>
          <p:grpSpPr>
            <a:xfrm>
              <a:off x="6245184" y="-600374"/>
              <a:ext cx="1174953" cy="3455999"/>
              <a:chOff x="6245184" y="6257975"/>
              <a:chExt cx="1174953" cy="3455999"/>
            </a:xfrm>
          </p:grpSpPr>
          <p:sp>
            <p:nvSpPr>
              <p:cNvPr id="472" name="等腰三角形 9_50"/>
              <p:cNvSpPr/>
              <p:nvPr/>
            </p:nvSpPr>
            <p:spPr>
              <a:xfrm rot="10800000">
                <a:off x="6245184" y="6792073"/>
                <a:ext cx="1174953"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3" name="椭圆 472"/>
              <p:cNvSpPr>
                <a:spLocks noChangeAspect="1"/>
              </p:cNvSpPr>
              <p:nvPr/>
            </p:nvSpPr>
            <p:spPr>
              <a:xfrm>
                <a:off x="6298564" y="6257975"/>
                <a:ext cx="1068195" cy="1068198"/>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7" name="组合 476"/>
            <p:cNvGrpSpPr/>
            <p:nvPr/>
          </p:nvGrpSpPr>
          <p:grpSpPr>
            <a:xfrm>
              <a:off x="9417129" y="-1960953"/>
              <a:ext cx="1077041" cy="3168000"/>
              <a:chOff x="9417129" y="4897396"/>
              <a:chExt cx="1077041" cy="3168000"/>
            </a:xfrm>
          </p:grpSpPr>
          <p:sp>
            <p:nvSpPr>
              <p:cNvPr id="478" name="等腰三角形 9_54"/>
              <p:cNvSpPr/>
              <p:nvPr/>
            </p:nvSpPr>
            <p:spPr>
              <a:xfrm rot="10800000">
                <a:off x="9417129" y="538698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9" name="椭圆 478"/>
              <p:cNvSpPr>
                <a:spLocks noChangeAspect="1"/>
              </p:cNvSpPr>
              <p:nvPr/>
            </p:nvSpPr>
            <p:spPr>
              <a:xfrm>
                <a:off x="9466061" y="4897396"/>
                <a:ext cx="979179" cy="97918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0" name="组合 479"/>
            <p:cNvGrpSpPr/>
            <p:nvPr/>
          </p:nvGrpSpPr>
          <p:grpSpPr>
            <a:xfrm>
              <a:off x="10073620" y="-1211944"/>
              <a:ext cx="632480" cy="1692000"/>
              <a:chOff x="10073620" y="5646405"/>
              <a:chExt cx="632480" cy="1692000"/>
            </a:xfrm>
          </p:grpSpPr>
          <p:sp>
            <p:nvSpPr>
              <p:cNvPr id="481" name="等腰三角形 9_56"/>
              <p:cNvSpPr/>
              <p:nvPr/>
            </p:nvSpPr>
            <p:spPr>
              <a:xfrm rot="10800000">
                <a:off x="10073620" y="5907891"/>
                <a:ext cx="632480" cy="143051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2" name="椭圆 481"/>
              <p:cNvSpPr>
                <a:spLocks noChangeAspect="1"/>
              </p:cNvSpPr>
              <p:nvPr/>
            </p:nvSpPr>
            <p:spPr>
              <a:xfrm>
                <a:off x="10128371" y="5646405"/>
                <a:ext cx="522979" cy="52297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3" name="组合 482"/>
            <p:cNvGrpSpPr/>
            <p:nvPr/>
          </p:nvGrpSpPr>
          <p:grpSpPr>
            <a:xfrm>
              <a:off x="10231003" y="-614663"/>
              <a:ext cx="1077041" cy="3168000"/>
              <a:chOff x="10231003" y="6243686"/>
              <a:chExt cx="1077041" cy="3168000"/>
            </a:xfrm>
          </p:grpSpPr>
          <p:sp>
            <p:nvSpPr>
              <p:cNvPr id="484"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5" name="椭圆 484"/>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sp>
        <p:nvSpPr>
          <p:cNvPr id="20" name="弧形 19"/>
          <p:cNvSpPr/>
          <p:nvPr/>
        </p:nvSpPr>
        <p:spPr>
          <a:xfrm>
            <a:off x="-2290773" y="-1637259"/>
            <a:ext cx="4767943" cy="4767943"/>
          </a:xfrm>
          <a:prstGeom prst="arc">
            <a:avLst>
              <a:gd name="adj1" fmla="val 1279359"/>
              <a:gd name="adj2" fmla="val 188280"/>
            </a:avLst>
          </a:prstGeom>
          <a:ln>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445045" y="5183458"/>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1687385" y="671150"/>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p>
        </p:txBody>
      </p:sp>
      <p:sp>
        <p:nvSpPr>
          <p:cNvPr id="87" name="矩形 3"/>
          <p:cNvSpPr>
            <a:spLocks noChangeArrowheads="1"/>
          </p:cNvSpPr>
          <p:nvPr/>
        </p:nvSpPr>
        <p:spPr bwMode="auto">
          <a:xfrm>
            <a:off x="1464733" y="1724385"/>
            <a:ext cx="10727267" cy="329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0000"/>
                </a:solidFill>
              </a:rPr>
              <a:t>一、机器学习简介</a:t>
            </a:r>
            <a:endParaRPr lang="en-US" altLang="zh-CN" sz="2400" dirty="0">
              <a:solidFill>
                <a:srgbClr val="000000"/>
              </a:solidFill>
            </a:endParaRPr>
          </a:p>
          <a:p>
            <a:pPr lvl="1"/>
            <a:r>
              <a:rPr lang="zh-CN" altLang="en-US" sz="1865" dirty="0">
                <a:solidFill>
                  <a:srgbClr val="000000"/>
                </a:solidFill>
              </a:rPr>
              <a:t>什么是机器学习</a:t>
            </a:r>
            <a:endParaRPr lang="en-US" altLang="zh-CN" sz="1865" dirty="0">
              <a:solidFill>
                <a:srgbClr val="000000"/>
              </a:solidFill>
            </a:endParaRPr>
          </a:p>
          <a:p>
            <a:pPr lvl="1"/>
            <a:r>
              <a:rPr lang="zh-CN" altLang="en-US" sz="1865" dirty="0">
                <a:solidFill>
                  <a:srgbClr val="000000"/>
                </a:solidFill>
              </a:rPr>
              <a:t>机器学习、人工智能与深度学习</a:t>
            </a:r>
            <a:endParaRPr lang="en-US" altLang="zh-CN" sz="1865" dirty="0">
              <a:solidFill>
                <a:srgbClr val="000000"/>
              </a:solidFill>
            </a:endParaRPr>
          </a:p>
          <a:p>
            <a:pPr lvl="1"/>
            <a:r>
              <a:rPr lang="zh-CN" altLang="en-US" sz="2000" dirty="0">
                <a:solidFill>
                  <a:srgbClr val="000000"/>
                </a:solidFill>
              </a:rPr>
              <a:t>典型机器学习应用领域</a:t>
            </a:r>
            <a:endParaRPr lang="en-US" altLang="zh-CN" sz="1865" dirty="0">
              <a:solidFill>
                <a:srgbClr val="000000"/>
              </a:solidFill>
            </a:endParaRPr>
          </a:p>
          <a:p>
            <a:r>
              <a:rPr lang="zh-CN" altLang="en-US" sz="2400" dirty="0">
                <a:solidFill>
                  <a:srgbClr val="000000"/>
                </a:solidFill>
              </a:rPr>
              <a:t>二、机器学习术语</a:t>
            </a:r>
            <a:endParaRPr lang="en-US" altLang="zh-CN" sz="2400" dirty="0">
              <a:solidFill>
                <a:srgbClr val="000000"/>
              </a:solidFill>
            </a:endParaRPr>
          </a:p>
          <a:p>
            <a:r>
              <a:rPr lang="zh-CN" altLang="en-US" sz="2400" dirty="0">
                <a:solidFill>
                  <a:srgbClr val="000000"/>
                </a:solidFill>
              </a:rPr>
              <a:t>三、机器学习分类</a:t>
            </a:r>
            <a:endParaRPr lang="en-US" altLang="zh-CN" sz="2400" dirty="0">
              <a:solidFill>
                <a:srgbClr val="000000"/>
              </a:solidFill>
            </a:endParaRPr>
          </a:p>
          <a:p>
            <a:r>
              <a:rPr lang="zh-CN" altLang="en-US" sz="2400" dirty="0">
                <a:solidFill>
                  <a:srgbClr val="000000"/>
                </a:solidFill>
              </a:rPr>
              <a:t>四、机器学习的一般流程</a:t>
            </a:r>
            <a:endParaRPr lang="en-US" altLang="zh-CN" sz="2400" dirty="0">
              <a:solidFill>
                <a:srgbClr val="000000"/>
              </a:solidFill>
            </a:endParaRPr>
          </a:p>
          <a:p>
            <a:r>
              <a:rPr lang="zh-CN" altLang="en-US" sz="2400">
                <a:solidFill>
                  <a:srgbClr val="000000"/>
                </a:solidFill>
              </a:rPr>
              <a:t>五、机器学习</a:t>
            </a:r>
            <a:r>
              <a:rPr lang="zh-CN" altLang="en-US" sz="2400" dirty="0">
                <a:solidFill>
                  <a:srgbClr val="000000"/>
                </a:solidFill>
              </a:rPr>
              <a:t>常用算法</a:t>
            </a:r>
            <a:endParaRPr lang="en-US" altLang="zh-CN" sz="24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30126" y="632461"/>
            <a:ext cx="6637020" cy="959485"/>
          </a:xfrm>
        </p:spPr>
        <p:txBody>
          <a:bodyPr/>
          <a:lstStyle/>
          <a:p>
            <a:r>
              <a:rPr lang="zh-CN" altLang="en-US" sz="4000" dirty="0"/>
              <a:t>一、机器学习是什么</a:t>
            </a:r>
          </a:p>
        </p:txBody>
      </p:sp>
      <p:sp>
        <p:nvSpPr>
          <p:cNvPr id="3" name="内容占位符 2"/>
          <p:cNvSpPr>
            <a:spLocks noGrp="1"/>
          </p:cNvSpPr>
          <p:nvPr>
            <p:ph idx="1"/>
          </p:nvPr>
        </p:nvSpPr>
        <p:spPr>
          <a:xfrm>
            <a:off x="6096000" y="1855485"/>
            <a:ext cx="5708698" cy="3519336"/>
          </a:xfrm>
        </p:spPr>
        <p:txBody>
          <a:bodyPr/>
          <a:lstStyle/>
          <a:p>
            <a:pPr marL="82550" indent="0">
              <a:lnSpc>
                <a:spcPct val="150000"/>
              </a:lnSpc>
              <a:buNone/>
            </a:pPr>
            <a:r>
              <a:rPr lang="zh-CN" altLang="en-US" sz="2400" dirty="0">
                <a:latin typeface="黑体" panose="02010609060101010101" pitchFamily="49" charset="-122"/>
                <a:ea typeface="黑体" panose="02010609060101010101" pitchFamily="49" charset="-122"/>
              </a:rPr>
              <a:t>机器学习是一种从数据当中</a:t>
            </a:r>
            <a:r>
              <a:rPr lang="zh-CN" altLang="en-US" sz="2400" dirty="0">
                <a:solidFill>
                  <a:srgbClr val="FF0000"/>
                </a:solidFill>
                <a:latin typeface="黑体" panose="02010609060101010101" pitchFamily="49" charset="-122"/>
                <a:ea typeface="黑体" panose="02010609060101010101" pitchFamily="49" charset="-122"/>
              </a:rPr>
              <a:t>发现复杂规律</a:t>
            </a:r>
            <a:r>
              <a:rPr lang="zh-CN" altLang="en-US" sz="2400" dirty="0">
                <a:latin typeface="黑体" panose="02010609060101010101" pitchFamily="49" charset="-122"/>
                <a:ea typeface="黑体" panose="02010609060101010101" pitchFamily="49" charset="-122"/>
              </a:rPr>
              <a:t>，并且利用规律对未来时刻、未知状况进行</a:t>
            </a:r>
            <a:r>
              <a:rPr lang="zh-CN" altLang="en-US" sz="2400" dirty="0">
                <a:solidFill>
                  <a:srgbClr val="FF0000"/>
                </a:solidFill>
                <a:latin typeface="黑体" panose="02010609060101010101" pitchFamily="49" charset="-122"/>
                <a:ea typeface="黑体" panose="02010609060101010101" pitchFamily="49" charset="-122"/>
              </a:rPr>
              <a:t>预测和判定</a:t>
            </a:r>
            <a:r>
              <a:rPr lang="zh-CN" altLang="en-US" sz="2400" dirty="0">
                <a:latin typeface="黑体" panose="02010609060101010101" pitchFamily="49" charset="-122"/>
                <a:ea typeface="黑体" panose="02010609060101010101" pitchFamily="49" charset="-122"/>
              </a:rPr>
              <a:t>的方法，是当下被认为最有可能实现</a:t>
            </a:r>
            <a:r>
              <a:rPr lang="zh-CN" altLang="en-US" sz="2400" dirty="0">
                <a:solidFill>
                  <a:srgbClr val="FF0000"/>
                </a:solidFill>
                <a:latin typeface="黑体" panose="02010609060101010101" pitchFamily="49" charset="-122"/>
                <a:ea typeface="黑体" panose="02010609060101010101" pitchFamily="49" charset="-122"/>
              </a:rPr>
              <a:t>人工智能</a:t>
            </a:r>
            <a:r>
              <a:rPr lang="zh-CN" altLang="en-US" sz="2400" dirty="0">
                <a:latin typeface="黑体" panose="02010609060101010101" pitchFamily="49" charset="-122"/>
                <a:ea typeface="黑体" panose="02010609060101010101" pitchFamily="49" charset="-122"/>
              </a:rPr>
              <a:t>的方法。机器学习理论主要是设计和分析一些让计算机可以自动“学习”的算法。</a:t>
            </a:r>
          </a:p>
        </p:txBody>
      </p:sp>
      <p:pic>
        <p:nvPicPr>
          <p:cNvPr id="4" name="图片 3"/>
          <p:cNvPicPr>
            <a:picLocks noChangeAspect="1"/>
          </p:cNvPicPr>
          <p:nvPr/>
        </p:nvPicPr>
        <p:blipFill>
          <a:blip r:embed="rId2"/>
          <a:stretch>
            <a:fillRect/>
          </a:stretch>
        </p:blipFill>
        <p:spPr>
          <a:xfrm>
            <a:off x="676060" y="1678305"/>
            <a:ext cx="5327015" cy="4323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2203810" y="997408"/>
            <a:ext cx="7734502" cy="532869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stretch>
            <a:fillRect/>
          </a:stretch>
        </p:blipFill>
        <p:spPr>
          <a:xfrm>
            <a:off x="2261815" y="1040900"/>
            <a:ext cx="7723564" cy="51567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stretch>
            <a:fillRect/>
          </a:stretch>
        </p:blipFill>
        <p:spPr>
          <a:xfrm>
            <a:off x="2380781" y="1011272"/>
            <a:ext cx="7419001" cy="53021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1734843" y="1529952"/>
            <a:ext cx="8837364" cy="474321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706163" y="1498522"/>
            <a:ext cx="8778957" cy="4527575"/>
          </a:xfrm>
          <a:prstGeom prst="rect">
            <a:avLst/>
          </a:prstGeom>
        </p:spPr>
      </p:pic>
      <p:sp>
        <p:nvSpPr>
          <p:cNvPr id="5" name="文本框 4"/>
          <p:cNvSpPr txBox="1"/>
          <p:nvPr/>
        </p:nvSpPr>
        <p:spPr>
          <a:xfrm>
            <a:off x="8608540" y="3987113"/>
            <a:ext cx="684803" cy="369332"/>
          </a:xfrm>
          <a:prstGeom prst="rect">
            <a:avLst/>
          </a:prstGeom>
          <a:noFill/>
        </p:spPr>
        <p:txBody>
          <a:bodyPr wrap="none" rtlCol="0">
            <a:spAutoFit/>
          </a:bodyPr>
          <a:lstStyle/>
          <a:p>
            <a:r>
              <a:rPr lang="en-US" altLang="zh-CN" dirty="0"/>
              <a:t>CNTK</a:t>
            </a:r>
            <a:endParaRPr lang="zh-CN" altLang="en-US" dirty="0"/>
          </a:p>
        </p:txBody>
      </p:sp>
      <p:sp>
        <p:nvSpPr>
          <p:cNvPr id="6" name="文本框 5"/>
          <p:cNvSpPr txBox="1"/>
          <p:nvPr/>
        </p:nvSpPr>
        <p:spPr>
          <a:xfrm>
            <a:off x="4609070" y="4930345"/>
            <a:ext cx="1197251" cy="369332"/>
          </a:xfrm>
          <a:prstGeom prst="rect">
            <a:avLst/>
          </a:prstGeom>
          <a:noFill/>
        </p:spPr>
        <p:txBody>
          <a:bodyPr wrap="none" rtlCol="0">
            <a:spAutoFit/>
          </a:bodyPr>
          <a:lstStyle/>
          <a:p>
            <a:r>
              <a:rPr lang="en-US" altLang="zh-CN" dirty="0" err="1"/>
              <a:t>PadelPadel</a:t>
            </a:r>
            <a:endParaRPr lang="zh-CN" altLang="en-US" dirty="0"/>
          </a:p>
        </p:txBody>
      </p:sp>
      <p:sp>
        <p:nvSpPr>
          <p:cNvPr id="7" name="文本框 6"/>
          <p:cNvSpPr txBox="1"/>
          <p:nvPr/>
        </p:nvSpPr>
        <p:spPr>
          <a:xfrm>
            <a:off x="7348151" y="4930345"/>
            <a:ext cx="1201419" cy="369332"/>
          </a:xfrm>
          <a:prstGeom prst="rect">
            <a:avLst/>
          </a:prstGeom>
          <a:noFill/>
        </p:spPr>
        <p:txBody>
          <a:bodyPr wrap="none" rtlCol="0">
            <a:spAutoFit/>
          </a:bodyPr>
          <a:lstStyle/>
          <a:p>
            <a:r>
              <a:rPr lang="en-US" altLang="zh-CN" dirty="0" err="1"/>
              <a:t>Tensorflow</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stretch>
            <a:fillRect/>
          </a:stretch>
        </p:blipFill>
        <p:spPr>
          <a:xfrm>
            <a:off x="1885065" y="1359470"/>
            <a:ext cx="8347507" cy="48376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
          <p:cNvSpPr>
            <a:spLocks noChangeArrowheads="1"/>
          </p:cNvSpPr>
          <p:nvPr/>
        </p:nvSpPr>
        <p:spPr bwMode="auto">
          <a:xfrm>
            <a:off x="849591" y="1597729"/>
            <a:ext cx="10264525" cy="332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Ø"/>
            </a:pPr>
            <a:r>
              <a:rPr lang="zh-CN" altLang="en-US" sz="2800" b="1" dirty="0"/>
              <a:t>深度学习是机器学习中神经网络算法的延伸，应用范围较广</a:t>
            </a:r>
            <a:endParaRPr lang="en-US" altLang="zh-CN" sz="2800" b="1" dirty="0"/>
          </a:p>
          <a:p>
            <a:pPr>
              <a:lnSpc>
                <a:spcPct val="150000"/>
              </a:lnSpc>
              <a:buFont typeface="Wingdings" panose="05000000000000000000" pitchFamily="2" charset="2"/>
              <a:buChar char="Ø"/>
            </a:pPr>
            <a:r>
              <a:rPr lang="zh-CN" altLang="en-US" sz="2800" b="1" dirty="0"/>
              <a:t>深度学习在计算机视觉和自然语言处理中更厉害一些</a:t>
            </a:r>
            <a:endParaRPr lang="en-US" altLang="zh-CN" sz="2800" b="1" dirty="0"/>
          </a:p>
          <a:p>
            <a:pPr>
              <a:lnSpc>
                <a:spcPct val="150000"/>
              </a:lnSpc>
              <a:buFont typeface="Wingdings" panose="05000000000000000000" pitchFamily="2" charset="2"/>
              <a:buChar char="Ø"/>
            </a:pPr>
            <a:r>
              <a:rPr lang="zh-CN" altLang="en-US" sz="2800" b="1" dirty="0"/>
              <a:t>到底是学习机器学习还是深度学习？</a:t>
            </a:r>
            <a:endParaRPr lang="en-US" altLang="zh-CN" sz="2800" b="1" dirty="0"/>
          </a:p>
          <a:p>
            <a:pPr marL="0" indent="0">
              <a:lnSpc>
                <a:spcPct val="150000"/>
              </a:lnSpc>
              <a:buNone/>
            </a:pPr>
            <a:r>
              <a:rPr lang="en-US" altLang="zh-CN" sz="2400" dirty="0">
                <a:solidFill>
                  <a:srgbClr val="000000"/>
                </a:solidFill>
              </a:rPr>
              <a:t>      </a:t>
            </a:r>
            <a:r>
              <a:rPr lang="zh-CN" altLang="en-US" sz="2400" dirty="0">
                <a:solidFill>
                  <a:srgbClr val="000000"/>
                </a:solidFill>
              </a:rPr>
              <a:t>一切的基础都是机器学习，做任何事情没有坚实的基础只会越来越迷茫，机器学习绝对值得你从头开始。</a:t>
            </a:r>
            <a:endParaRPr lang="en-US" altLang="zh-CN" sz="24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3" cstate="print">
            <a:extLst>
              <a:ext uri="{28A0092B-C50C-407E-A947-70E740481C1C}">
                <a14:useLocalDpi xmlns:a14="http://schemas.microsoft.com/office/drawing/2010/main" val="0"/>
              </a:ext>
            </a:extLst>
          </a:blip>
          <a:stretch>
            <a:fillRect/>
          </a:stretch>
        </p:blipFill>
        <p:spPr>
          <a:xfrm>
            <a:off x="1582531" y="1793515"/>
            <a:ext cx="5274310" cy="3218815"/>
          </a:xfrm>
          <a:prstGeom prst="rect">
            <a:avLst/>
          </a:prstGeom>
        </p:spPr>
      </p:pic>
      <p:sp>
        <p:nvSpPr>
          <p:cNvPr id="2" name="矩形 1"/>
          <p:cNvSpPr/>
          <p:nvPr/>
        </p:nvSpPr>
        <p:spPr>
          <a:xfrm>
            <a:off x="3360499" y="5147594"/>
            <a:ext cx="1569660" cy="369332"/>
          </a:xfrm>
          <a:prstGeom prst="rect">
            <a:avLst/>
          </a:prstGeom>
        </p:spPr>
        <p:txBody>
          <a:bodyPr wrap="none">
            <a:spAutoFit/>
          </a:bodyPr>
          <a:lstStyle/>
          <a:p>
            <a:r>
              <a:rPr lang="zh-CN" altLang="zh-CN" dirty="0"/>
              <a:t>语音助手产品 </a:t>
            </a:r>
            <a:endParaRPr lang="zh-CN" altLang="en-US" dirty="0"/>
          </a:p>
        </p:txBody>
      </p:sp>
      <p:sp>
        <p:nvSpPr>
          <p:cNvPr id="5" name="云形标注 4"/>
          <p:cNvSpPr/>
          <p:nvPr/>
        </p:nvSpPr>
        <p:spPr>
          <a:xfrm>
            <a:off x="7343177" y="2756282"/>
            <a:ext cx="3847624" cy="2691013"/>
          </a:xfrm>
          <a:prstGeom prst="cloudCallout">
            <a:avLst>
              <a:gd name="adj1" fmla="val -62010"/>
              <a:gd name="adj2" fmla="val -42361"/>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7" name="文本框 6"/>
          <p:cNvSpPr txBox="1"/>
          <p:nvPr/>
        </p:nvSpPr>
        <p:spPr>
          <a:xfrm>
            <a:off x="7707822" y="3774843"/>
            <a:ext cx="3185487" cy="369332"/>
          </a:xfrm>
          <a:prstGeom prst="rect">
            <a:avLst/>
          </a:prstGeom>
          <a:noFill/>
        </p:spPr>
        <p:txBody>
          <a:bodyPr wrap="none" rtlCol="0">
            <a:spAutoFit/>
          </a:bodyPr>
          <a:lstStyle/>
          <a:p>
            <a:r>
              <a:rPr lang="zh-CN" altLang="zh-CN" dirty="0"/>
              <a:t>为什么它能够听懂人的语音？ </a:t>
            </a:r>
            <a:endParaRPr kumimoji="1" lang="zh-CN" altLang="en-US" dirty="0"/>
          </a:p>
        </p:txBody>
      </p:sp>
      <p:sp>
        <p:nvSpPr>
          <p:cNvPr id="6" name="文本框 5"/>
          <p:cNvSpPr txBox="1"/>
          <p:nvPr/>
        </p:nvSpPr>
        <p:spPr>
          <a:xfrm>
            <a:off x="1437953" y="440601"/>
            <a:ext cx="3416320" cy="646331"/>
          </a:xfrm>
          <a:prstGeom prst="rect">
            <a:avLst/>
          </a:prstGeom>
          <a:noFill/>
        </p:spPr>
        <p:txBody>
          <a:bodyPr wrap="none" rtlCol="0">
            <a:spAutoFit/>
          </a:bodyPr>
          <a:lstStyle/>
          <a:p>
            <a:r>
              <a:rPr lang="zh-CN" altLang="en-US" sz="3600" dirty="0"/>
              <a:t>机器学习的应用</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stretch>
            <a:fillRect/>
          </a:stretch>
        </p:blipFill>
        <p:spPr>
          <a:xfrm>
            <a:off x="1807985" y="1297686"/>
            <a:ext cx="8572842" cy="43217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2449855" y="1520874"/>
            <a:ext cx="6808271" cy="4664174"/>
          </a:xfrm>
          <a:prstGeom prst="rect">
            <a:avLst/>
          </a:prstGeom>
        </p:spPr>
      </p:pic>
      <p:sp>
        <p:nvSpPr>
          <p:cNvPr id="3" name="文本框 2"/>
          <p:cNvSpPr txBox="1"/>
          <p:nvPr/>
        </p:nvSpPr>
        <p:spPr>
          <a:xfrm>
            <a:off x="2546108" y="672952"/>
            <a:ext cx="4814138" cy="646331"/>
          </a:xfrm>
          <a:prstGeom prst="rect">
            <a:avLst/>
          </a:prstGeom>
          <a:noFill/>
        </p:spPr>
        <p:txBody>
          <a:bodyPr wrap="none" rtlCol="0">
            <a:spAutoFit/>
          </a:bodyPr>
          <a:lstStyle/>
          <a:p>
            <a:r>
              <a:rPr lang="zh-CN" altLang="en-US" sz="3600" dirty="0"/>
              <a:t>百度预测</a:t>
            </a:r>
            <a:r>
              <a:rPr lang="en-US" altLang="zh-CN" sz="3600" dirty="0"/>
              <a:t>2014</a:t>
            </a:r>
            <a:r>
              <a:rPr lang="zh-CN" altLang="en-US" sz="3600" dirty="0"/>
              <a:t>年世界杯</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1097132" y="1892179"/>
            <a:ext cx="9533467" cy="3910104"/>
          </a:xfrm>
          <a:prstGeom prst="rect">
            <a:avLst/>
          </a:prstGeom>
        </p:spPr>
      </p:pic>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图像识别</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目标识别</a:t>
            </a:r>
          </a:p>
        </p:txBody>
      </p:sp>
      <p:pic>
        <p:nvPicPr>
          <p:cNvPr id="3" name="图片 2"/>
          <p:cNvPicPr>
            <a:picLocks noChangeAspect="1"/>
          </p:cNvPicPr>
          <p:nvPr/>
        </p:nvPicPr>
        <p:blipFill>
          <a:blip r:embed="rId3" cstate="print"/>
          <a:stretch>
            <a:fillRect/>
          </a:stretch>
        </p:blipFill>
        <p:spPr>
          <a:xfrm>
            <a:off x="2419706" y="1659299"/>
            <a:ext cx="6957050" cy="48047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人脸识别</a:t>
            </a:r>
          </a:p>
        </p:txBody>
      </p:sp>
      <p:pic>
        <p:nvPicPr>
          <p:cNvPr id="2" name="图片 1"/>
          <p:cNvPicPr>
            <a:picLocks noChangeAspect="1"/>
          </p:cNvPicPr>
          <p:nvPr/>
        </p:nvPicPr>
        <p:blipFill>
          <a:blip r:embed="rId3" cstate="print"/>
          <a:stretch>
            <a:fillRect/>
          </a:stretch>
        </p:blipFill>
        <p:spPr>
          <a:xfrm>
            <a:off x="2588129" y="1672190"/>
            <a:ext cx="6397929" cy="479844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图片描述</a:t>
            </a:r>
          </a:p>
        </p:txBody>
      </p:sp>
      <p:pic>
        <p:nvPicPr>
          <p:cNvPr id="6" name="图片 5"/>
          <p:cNvPicPr>
            <a:picLocks noChangeAspect="1"/>
          </p:cNvPicPr>
          <p:nvPr/>
        </p:nvPicPr>
        <p:blipFill>
          <a:blip r:embed="rId3"/>
          <a:stretch>
            <a:fillRect/>
          </a:stretch>
        </p:blipFill>
        <p:spPr>
          <a:xfrm>
            <a:off x="2460088" y="1432940"/>
            <a:ext cx="7282626" cy="50222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文本分类</a:t>
            </a:r>
          </a:p>
        </p:txBody>
      </p:sp>
      <p:pic>
        <p:nvPicPr>
          <p:cNvPr id="3" name="图片 2"/>
          <p:cNvPicPr>
            <a:picLocks noChangeAspect="1"/>
          </p:cNvPicPr>
          <p:nvPr/>
        </p:nvPicPr>
        <p:blipFill>
          <a:blip r:embed="rId3" cstate="print"/>
          <a:stretch>
            <a:fillRect/>
          </a:stretch>
        </p:blipFill>
        <p:spPr>
          <a:xfrm>
            <a:off x="1776854" y="1854752"/>
            <a:ext cx="7987961" cy="44878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机器翻译</a:t>
            </a:r>
          </a:p>
        </p:txBody>
      </p:sp>
      <p:pic>
        <p:nvPicPr>
          <p:cNvPr id="2" name="图片 1"/>
          <p:cNvPicPr>
            <a:picLocks noChangeAspect="1"/>
          </p:cNvPicPr>
          <p:nvPr/>
        </p:nvPicPr>
        <p:blipFill>
          <a:blip r:embed="rId3" cstate="print"/>
          <a:stretch>
            <a:fillRect/>
          </a:stretch>
        </p:blipFill>
        <p:spPr>
          <a:xfrm>
            <a:off x="1097132" y="1997060"/>
            <a:ext cx="10046741" cy="42457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创作诗歌</a:t>
            </a:r>
          </a:p>
        </p:txBody>
      </p:sp>
      <p:pic>
        <p:nvPicPr>
          <p:cNvPr id="3" name="图片 2"/>
          <p:cNvPicPr>
            <a:picLocks noChangeAspect="1"/>
          </p:cNvPicPr>
          <p:nvPr/>
        </p:nvPicPr>
        <p:blipFill>
          <a:blip r:embed="rId3" cstate="print"/>
          <a:stretch>
            <a:fillRect/>
          </a:stretch>
        </p:blipFill>
        <p:spPr>
          <a:xfrm>
            <a:off x="2876103" y="1749717"/>
            <a:ext cx="6429006" cy="4661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7132" y="914426"/>
            <a:ext cx="2031325" cy="646331"/>
          </a:xfrm>
          <a:prstGeom prst="rect">
            <a:avLst/>
          </a:prstGeom>
          <a:noFill/>
        </p:spPr>
        <p:txBody>
          <a:bodyPr wrap="none" rtlCol="0">
            <a:spAutoFit/>
          </a:bodyPr>
          <a:lstStyle/>
          <a:p>
            <a:r>
              <a:rPr lang="zh-CN" altLang="en-US" sz="3600" dirty="0"/>
              <a:t>图像生成</a:t>
            </a:r>
          </a:p>
        </p:txBody>
      </p:sp>
      <p:pic>
        <p:nvPicPr>
          <p:cNvPr id="2" name="图片 1"/>
          <p:cNvPicPr>
            <a:picLocks noChangeAspect="1"/>
          </p:cNvPicPr>
          <p:nvPr/>
        </p:nvPicPr>
        <p:blipFill>
          <a:blip r:embed="rId3" cstate="print"/>
          <a:stretch>
            <a:fillRect/>
          </a:stretch>
        </p:blipFill>
        <p:spPr>
          <a:xfrm>
            <a:off x="1613082" y="1851319"/>
            <a:ext cx="8843619" cy="42252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stretch>
            <a:fillRect/>
          </a:stretch>
        </p:blipFill>
        <p:spPr>
          <a:xfrm>
            <a:off x="1715772" y="1220891"/>
            <a:ext cx="8708393" cy="51167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stretch>
            <a:fillRect/>
          </a:stretch>
        </p:blipFill>
        <p:spPr>
          <a:xfrm>
            <a:off x="2291021" y="1130333"/>
            <a:ext cx="7501375" cy="457779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96000" y="1774042"/>
            <a:ext cx="5009804" cy="4555093"/>
          </a:xfrm>
          <a:prstGeom prst="rect">
            <a:avLst/>
          </a:prstGeom>
        </p:spPr>
        <p:txBody>
          <a:bodyPr wrap="square">
            <a:spAutoFit/>
          </a:bodyPr>
          <a:lstStyle/>
          <a:p>
            <a:pPr algn="just">
              <a:lnSpc>
                <a:spcPct val="150000"/>
              </a:lnSpc>
            </a:pPr>
            <a:r>
              <a:rPr lang="zh-CN" altLang="zh-CN" sz="2800" dirty="0">
                <a:latin typeface="华文楷体" panose="02010600040101010101" charset="-122"/>
                <a:ea typeface="华文楷体" panose="02010600040101010101" charset="-122"/>
                <a:cs typeface="华文楷体" panose="02010600040101010101" charset="-122"/>
              </a:rPr>
              <a:t>小</a:t>
            </a:r>
            <a:r>
              <a:rPr lang="en-US" altLang="zh-CN" sz="2800" dirty="0">
                <a:latin typeface="华文楷体" panose="02010600040101010101" charset="-122"/>
                <a:ea typeface="华文楷体" panose="02010600040101010101" charset="-122"/>
                <a:cs typeface="华文楷体" panose="02010600040101010101" charset="-122"/>
              </a:rPr>
              <a:t>Y</a:t>
            </a:r>
            <a:r>
              <a:rPr lang="zh-CN" altLang="zh-CN" sz="2800" dirty="0">
                <a:latin typeface="华文楷体" panose="02010600040101010101" charset="-122"/>
                <a:ea typeface="华文楷体" panose="02010600040101010101" charset="-122"/>
                <a:cs typeface="华文楷体" panose="02010600040101010101" charset="-122"/>
              </a:rPr>
              <a:t>不是一个守时的人，最常见的表现是他经常迟到。小</a:t>
            </a:r>
            <a:r>
              <a:rPr lang="en-US" altLang="zh-CN" sz="2800" dirty="0">
                <a:latin typeface="华文楷体" panose="02010600040101010101" charset="-122"/>
                <a:ea typeface="华文楷体" panose="02010600040101010101" charset="-122"/>
                <a:cs typeface="华文楷体" panose="02010600040101010101" charset="-122"/>
              </a:rPr>
              <a:t>A</a:t>
            </a:r>
            <a:r>
              <a:rPr lang="zh-CN" altLang="zh-CN" sz="2800" dirty="0">
                <a:latin typeface="华文楷体" panose="02010600040101010101" charset="-122"/>
                <a:ea typeface="华文楷体" panose="02010600040101010101" charset="-122"/>
                <a:cs typeface="华文楷体" panose="02010600040101010101" charset="-122"/>
              </a:rPr>
              <a:t>与他相约</a:t>
            </a:r>
            <a:r>
              <a:rPr lang="en-US" altLang="zh-CN" sz="2800" dirty="0">
                <a:latin typeface="华文楷体" panose="02010600040101010101" charset="-122"/>
                <a:ea typeface="华文楷体" panose="02010600040101010101" charset="-122"/>
                <a:cs typeface="华文楷体" panose="02010600040101010101" charset="-122"/>
              </a:rPr>
              <a:t>3</a:t>
            </a:r>
            <a:r>
              <a:rPr lang="zh-CN" altLang="zh-CN" sz="2800" dirty="0">
                <a:latin typeface="华文楷体" panose="02010600040101010101" charset="-122"/>
                <a:ea typeface="华文楷体" panose="02010600040101010101" charset="-122"/>
                <a:cs typeface="华文楷体" panose="02010600040101010101" charset="-122"/>
              </a:rPr>
              <a:t>点钟在某地见面，在出门的那一刻小</a:t>
            </a:r>
            <a:r>
              <a:rPr lang="en-US" altLang="zh-CN" sz="2800" dirty="0">
                <a:latin typeface="华文楷体" panose="02010600040101010101" charset="-122"/>
                <a:ea typeface="华文楷体" panose="02010600040101010101" charset="-122"/>
                <a:cs typeface="华文楷体" panose="02010600040101010101" charset="-122"/>
              </a:rPr>
              <a:t>A</a:t>
            </a:r>
            <a:r>
              <a:rPr lang="zh-CN" altLang="zh-CN" sz="2800" dirty="0">
                <a:latin typeface="华文楷体" panose="02010600040101010101" charset="-122"/>
                <a:ea typeface="华文楷体" panose="02010600040101010101" charset="-122"/>
                <a:cs typeface="华文楷体" panose="02010600040101010101" charset="-122"/>
              </a:rPr>
              <a:t>突然想到一个问题：我现在出发合适吗？我会不会又到了地点后，还要花上</a:t>
            </a:r>
            <a:r>
              <a:rPr lang="en-US" altLang="zh-CN" sz="2800" dirty="0">
                <a:latin typeface="华文楷体" panose="02010600040101010101" charset="-122"/>
                <a:ea typeface="华文楷体" panose="02010600040101010101" charset="-122"/>
                <a:cs typeface="华文楷体" panose="02010600040101010101" charset="-122"/>
              </a:rPr>
              <a:t>30</a:t>
            </a:r>
            <a:r>
              <a:rPr lang="zh-CN" altLang="zh-CN" sz="2800" dirty="0">
                <a:latin typeface="华文楷体" panose="02010600040101010101" charset="-122"/>
                <a:ea typeface="华文楷体" panose="02010600040101010101" charset="-122"/>
                <a:cs typeface="华文楷体" panose="02010600040101010101" charset="-122"/>
              </a:rPr>
              <a:t>分钟去等他？ </a:t>
            </a:r>
            <a:endParaRPr lang="zh-CN" altLang="en-US" sz="2800" dirty="0">
              <a:latin typeface="华文楷体" panose="02010600040101010101" charset="-122"/>
              <a:ea typeface="华文楷体" panose="02010600040101010101" charset="-122"/>
              <a:cs typeface="华文楷体" panose="02010600040101010101" charset="-122"/>
            </a:endParaRPr>
          </a:p>
        </p:txBody>
      </p:sp>
      <p:sp>
        <p:nvSpPr>
          <p:cNvPr id="3" name="矩形 2"/>
          <p:cNvSpPr/>
          <p:nvPr/>
        </p:nvSpPr>
        <p:spPr>
          <a:xfrm>
            <a:off x="4850887" y="816569"/>
            <a:ext cx="1821821" cy="646331"/>
          </a:xfrm>
          <a:prstGeom prst="rect">
            <a:avLst/>
          </a:prstGeom>
        </p:spPr>
        <p:txBody>
          <a:bodyPr wrap="square">
            <a:spAutoFit/>
          </a:bodyPr>
          <a:lstStyle/>
          <a:p>
            <a:pPr algn="ctr"/>
            <a:r>
              <a:rPr lang="zh-CN" altLang="zh-CN" sz="3600" b="1" dirty="0"/>
              <a:t>引例</a:t>
            </a:r>
            <a:r>
              <a:rPr lang="zh-CN" altLang="zh-CN" dirty="0"/>
              <a:t> </a:t>
            </a:r>
            <a:endParaRPr lang="zh-CN" altLang="en-US" dirty="0"/>
          </a:p>
        </p:txBody>
      </p:sp>
      <p:pic>
        <p:nvPicPr>
          <p:cNvPr id="4" name="图片 3"/>
          <p:cNvPicPr>
            <a:picLocks noChangeAspect="1"/>
          </p:cNvPicPr>
          <p:nvPr/>
        </p:nvPicPr>
        <p:blipFill>
          <a:blip r:embed="rId3"/>
          <a:stretch>
            <a:fillRect/>
          </a:stretch>
        </p:blipFill>
        <p:spPr>
          <a:xfrm>
            <a:off x="513658" y="1774042"/>
            <a:ext cx="5582342" cy="45458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cstate="print"/>
          <a:stretch>
            <a:fillRect/>
          </a:stretch>
        </p:blipFill>
        <p:spPr>
          <a:xfrm>
            <a:off x="2442137" y="2049698"/>
            <a:ext cx="7192290" cy="3432930"/>
          </a:xfrm>
          <a:prstGeom prst="rect">
            <a:avLst/>
          </a:prstGeom>
        </p:spPr>
      </p:pic>
      <p:sp>
        <p:nvSpPr>
          <p:cNvPr id="3" name="矩形 2"/>
          <p:cNvSpPr/>
          <p:nvPr/>
        </p:nvSpPr>
        <p:spPr>
          <a:xfrm>
            <a:off x="4925879" y="1068888"/>
            <a:ext cx="2031325" cy="646331"/>
          </a:xfrm>
          <a:prstGeom prst="rect">
            <a:avLst/>
          </a:prstGeom>
        </p:spPr>
        <p:txBody>
          <a:bodyPr wrap="none">
            <a:spAutoFit/>
          </a:bodyPr>
          <a:lstStyle/>
          <a:p>
            <a:r>
              <a:rPr lang="zh-CN" altLang="zh-CN" sz="3600" b="1" dirty="0"/>
              <a:t>建立模型</a:t>
            </a:r>
            <a:r>
              <a:rPr lang="zh-CN" altLang="zh-CN" sz="3600" dirty="0"/>
              <a:t> </a:t>
            </a:r>
            <a:endParaRPr lang="zh-CN" altLang="en-US" sz="3600" dirty="0"/>
          </a:p>
        </p:txBody>
      </p:sp>
      <p:sp>
        <p:nvSpPr>
          <p:cNvPr id="4" name="矩形 3"/>
          <p:cNvSpPr/>
          <p:nvPr/>
        </p:nvSpPr>
        <p:spPr>
          <a:xfrm>
            <a:off x="5407637" y="5678618"/>
            <a:ext cx="1338828" cy="369332"/>
          </a:xfrm>
          <a:prstGeom prst="rect">
            <a:avLst/>
          </a:prstGeom>
        </p:spPr>
        <p:txBody>
          <a:bodyPr wrap="none">
            <a:spAutoFit/>
          </a:bodyPr>
          <a:lstStyle/>
          <a:p>
            <a:r>
              <a:rPr lang="zh-CN" altLang="zh-CN" dirty="0"/>
              <a:t>决策树模型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20340" y="289560"/>
            <a:ext cx="4860290" cy="889000"/>
          </a:xfrm>
        </p:spPr>
        <p:txBody>
          <a:bodyPr/>
          <a:lstStyle/>
          <a:p>
            <a:r>
              <a:rPr lang="zh-CN" altLang="en-US" sz="3200"/>
              <a:t>机器学习与人脑学习比较</a:t>
            </a:r>
          </a:p>
        </p:txBody>
      </p:sp>
      <p:sp>
        <p:nvSpPr>
          <p:cNvPr id="3" name="内容占位符 2"/>
          <p:cNvSpPr>
            <a:spLocks noGrp="1"/>
          </p:cNvSpPr>
          <p:nvPr>
            <p:ph idx="1"/>
          </p:nvPr>
        </p:nvSpPr>
        <p:spPr>
          <a:xfrm>
            <a:off x="2720340" y="1363346"/>
            <a:ext cx="7498080" cy="2247265"/>
          </a:xfrm>
        </p:spPr>
        <p:txBody>
          <a:bodyPr/>
          <a:lstStyle/>
          <a:p>
            <a:pPr>
              <a:buFont typeface="Wingdings" panose="05000000000000000000" charset="0"/>
              <a:buChar char="l"/>
            </a:pPr>
            <a:r>
              <a:rPr lang="zh-CN" altLang="en-US" sz="2800" dirty="0"/>
              <a:t>人脑：</a:t>
            </a:r>
          </a:p>
          <a:p>
            <a:pPr marL="82550" indent="0">
              <a:buNone/>
            </a:pPr>
            <a:r>
              <a:rPr lang="zh-CN" altLang="en-US" sz="2800" dirty="0"/>
              <a:t> 总结经验</a:t>
            </a:r>
            <a:r>
              <a:rPr lang="en-US" altLang="zh-CN" sz="2800" dirty="0"/>
              <a:t>	        </a:t>
            </a:r>
            <a:r>
              <a:rPr lang="zh-CN" altLang="en-US" sz="2800" dirty="0"/>
              <a:t>发现规律           预测未来</a:t>
            </a:r>
          </a:p>
          <a:p>
            <a:pPr>
              <a:buFont typeface="Wingdings" panose="05000000000000000000" charset="0"/>
              <a:buChar char="l"/>
            </a:pPr>
            <a:r>
              <a:rPr lang="zh-CN" altLang="en-US" sz="2800" dirty="0"/>
              <a:t>电脑：</a:t>
            </a:r>
          </a:p>
          <a:p>
            <a:pPr marL="82550" indent="0">
              <a:buNone/>
            </a:pPr>
            <a:r>
              <a:rPr lang="zh-CN" altLang="en-US" sz="2800" dirty="0"/>
              <a:t>训练数据           建立模型           预测未知属性</a:t>
            </a:r>
          </a:p>
          <a:p>
            <a:pPr marL="82550" indent="0">
              <a:buNone/>
            </a:pPr>
            <a:endParaRPr lang="zh-CN" altLang="en-US" sz="2800" dirty="0"/>
          </a:p>
        </p:txBody>
      </p:sp>
      <p:cxnSp>
        <p:nvCxnSpPr>
          <p:cNvPr id="4" name="直接箭头连接符 3"/>
          <p:cNvCxnSpPr/>
          <p:nvPr/>
        </p:nvCxnSpPr>
        <p:spPr>
          <a:xfrm>
            <a:off x="4438651" y="2126616"/>
            <a:ext cx="992505" cy="13335"/>
          </a:xfrm>
          <a:prstGeom prst="straightConnector1">
            <a:avLst/>
          </a:prstGeom>
          <a:ln w="53975" cmpd="sng">
            <a:solidFill>
              <a:schemeClr val="accent1">
                <a:shade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6933566" y="2181861"/>
            <a:ext cx="992505" cy="13335"/>
          </a:xfrm>
          <a:prstGeom prst="straightConnector1">
            <a:avLst/>
          </a:prstGeom>
          <a:ln w="53975" cmpd="sng">
            <a:solidFill>
              <a:schemeClr val="accent1">
                <a:shade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4366896" y="3128646"/>
            <a:ext cx="992505" cy="13335"/>
          </a:xfrm>
          <a:prstGeom prst="straightConnector1">
            <a:avLst/>
          </a:prstGeom>
          <a:ln w="53975" cmpd="sng">
            <a:solidFill>
              <a:schemeClr val="accent1">
                <a:shade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6845301" y="3169921"/>
            <a:ext cx="992505" cy="13335"/>
          </a:xfrm>
          <a:prstGeom prst="straightConnector1">
            <a:avLst/>
          </a:prstGeom>
          <a:ln w="53975" cmpd="sng">
            <a:solidFill>
              <a:schemeClr val="accent1">
                <a:shade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256" name="图片 38" descr="IMG_256"/>
          <p:cNvPicPr>
            <a:picLocks noChangeAspect="1"/>
          </p:cNvPicPr>
          <p:nvPr/>
        </p:nvPicPr>
        <p:blipFill>
          <a:blip r:embed="rId3"/>
          <a:stretch>
            <a:fillRect/>
          </a:stretch>
        </p:blipFill>
        <p:spPr>
          <a:xfrm>
            <a:off x="3283585" y="3610611"/>
            <a:ext cx="6371590" cy="306895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56"/>
                                        </p:tgtEl>
                                        <p:attrNameLst>
                                          <p:attrName>style.visibility</p:attrName>
                                        </p:attrNameLst>
                                      </p:cBhvr>
                                      <p:to>
                                        <p:strVal val="visible"/>
                                      </p:to>
                                    </p:set>
                                    <p:anim calcmode="lin" valueType="num">
                                      <p:cBhvr additive="base">
                                        <p:cTn id="47" dur="500" fill="hold"/>
                                        <p:tgtEl>
                                          <p:spTgt spid="256"/>
                                        </p:tgtEl>
                                        <p:attrNameLst>
                                          <p:attrName>ppt_x</p:attrName>
                                        </p:attrNameLst>
                                      </p:cBhvr>
                                      <p:tavLst>
                                        <p:tav tm="0">
                                          <p:val>
                                            <p:strVal val="#ppt_x"/>
                                          </p:val>
                                        </p:tav>
                                        <p:tav tm="100000">
                                          <p:val>
                                            <p:strVal val="#ppt_x"/>
                                          </p:val>
                                        </p:tav>
                                      </p:tavLst>
                                    </p:anim>
                                    <p:anim calcmode="lin" valueType="num">
                                      <p:cBhvr additive="base">
                                        <p:cTn id="48" dur="500" fill="hold"/>
                                        <p:tgtEl>
                                          <p:spTgt spid="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885422" y="0"/>
            <a:ext cx="8449733" cy="769441"/>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spcBef>
                <a:spcPct val="50000"/>
              </a:spcBef>
              <a:buClr>
                <a:schemeClr val="bg1"/>
              </a:buClr>
            </a:pPr>
            <a:r>
              <a:rPr kumimoji="1" lang="zh-CN" altLang="en-US" sz="4400" b="1" dirty="0">
                <a:solidFill>
                  <a:schemeClr val="bg1"/>
                </a:solidFill>
                <a:cs typeface="楷体_GB2312" pitchFamily="49" charset="-122"/>
              </a:rPr>
              <a:t>机器学习</a:t>
            </a:r>
            <a:endParaRPr kumimoji="1" lang="zh-CN" altLang="en-US" sz="4400" b="1" dirty="0">
              <a:solidFill>
                <a:schemeClr val="tx1"/>
              </a:solidFill>
              <a:cs typeface="楷体_GB2312" pitchFamily="49" charset="-122"/>
            </a:endParaRPr>
          </a:p>
        </p:txBody>
      </p:sp>
      <p:sp>
        <p:nvSpPr>
          <p:cNvPr id="3" name="文本框 2"/>
          <p:cNvSpPr txBox="1"/>
          <p:nvPr/>
        </p:nvSpPr>
        <p:spPr>
          <a:xfrm>
            <a:off x="703296" y="1183837"/>
            <a:ext cx="10813983" cy="584775"/>
          </a:xfrm>
          <a:prstGeom prst="rect">
            <a:avLst/>
          </a:prstGeom>
          <a:noFill/>
        </p:spPr>
        <p:txBody>
          <a:bodyPr wrap="square" rtlCol="0">
            <a:spAutoFit/>
          </a:bodyPr>
          <a:lstStyle/>
          <a:p>
            <a:r>
              <a:rPr lang="zh-CN" altLang="zh-CN" sz="3200" kern="1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机器学习</a:t>
            </a:r>
            <a:r>
              <a:rPr lang="zh-CN" altLang="zh-CN" sz="3200" kern="1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是一种通过先验信息来提升模型能力的方式。</a:t>
            </a:r>
            <a:r>
              <a:rPr lang="en-US" altLang="zh-CN" sz="3200" kern="1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    </a:t>
            </a:r>
          </a:p>
        </p:txBody>
      </p:sp>
      <p:sp>
        <p:nvSpPr>
          <p:cNvPr id="10" name="TextBox 9"/>
          <p:cNvSpPr txBox="1"/>
          <p:nvPr/>
        </p:nvSpPr>
        <p:spPr>
          <a:xfrm>
            <a:off x="703296" y="1978560"/>
            <a:ext cx="10585763" cy="3816429"/>
          </a:xfrm>
          <a:prstGeom prst="rect">
            <a:avLst/>
          </a:prstGeom>
          <a:noFill/>
        </p:spPr>
        <p:txBody>
          <a:bodyPr wrap="square" rtlCol="0">
            <a:spAutoFit/>
          </a:bodyPr>
          <a:lstStyle/>
          <a:p>
            <a:pPr indent="539750" algn="just"/>
            <a:r>
              <a:rPr lang="zh-CN" altLang="en-US" sz="2800" dirty="0">
                <a:latin typeface="黑体" panose="02010609060101010101" pitchFamily="49" charset="-122"/>
                <a:ea typeface="黑体" panose="02010609060101010101" pitchFamily="49" charset="-122"/>
              </a:rPr>
              <a:t>机器学习致力于研究如何通过计算手段，利用</a:t>
            </a:r>
            <a:r>
              <a:rPr lang="zh-CN" altLang="en-US" sz="2800" b="1" dirty="0">
                <a:solidFill>
                  <a:srgbClr val="008A3E"/>
                </a:solidFill>
                <a:latin typeface="黑体" panose="02010609060101010101" pitchFamily="49" charset="-122"/>
                <a:ea typeface="黑体" panose="02010609060101010101" pitchFamily="49" charset="-122"/>
              </a:rPr>
              <a:t>经验</a:t>
            </a:r>
            <a:r>
              <a:rPr lang="zh-CN" altLang="en-US" sz="2800" dirty="0">
                <a:latin typeface="黑体" panose="02010609060101010101" pitchFamily="49" charset="-122"/>
                <a:ea typeface="黑体" panose="02010609060101010101" pitchFamily="49" charset="-122"/>
              </a:rPr>
              <a:t>来改善系统自身的性能。在计算机系统中，“经验</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通常以“数据</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形式存在，因此，机器学习研究的主要内容是关于在计算机上</a:t>
            </a:r>
            <a:r>
              <a:rPr lang="zh-CN" altLang="en-US" sz="2800" b="1" dirty="0">
                <a:solidFill>
                  <a:srgbClr val="008A3E"/>
                </a:solidFill>
                <a:latin typeface="黑体" panose="02010609060101010101" pitchFamily="49" charset="-122"/>
                <a:ea typeface="黑体" panose="02010609060101010101" pitchFamily="49" charset="-122"/>
              </a:rPr>
              <a:t>从数据中产生“模型</a:t>
            </a:r>
            <a:r>
              <a:rPr lang="en-US" altLang="zh-CN" sz="2800" b="1" dirty="0">
                <a:solidFill>
                  <a:srgbClr val="008A3E"/>
                </a:solidFill>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 model )</a:t>
            </a:r>
            <a:r>
              <a:rPr lang="zh-CN" altLang="en-US" sz="2800" dirty="0">
                <a:latin typeface="黑体" panose="02010609060101010101" pitchFamily="49" charset="-122"/>
                <a:ea typeface="黑体" panose="02010609060101010101" pitchFamily="49" charset="-122"/>
              </a:rPr>
              <a:t>的算法，即“学习算法</a:t>
            </a:r>
            <a:r>
              <a:rPr lang="en-US" altLang="zh-CN" sz="2800" dirty="0">
                <a:latin typeface="黑体" panose="02010609060101010101" pitchFamily="49" charset="-122"/>
                <a:ea typeface="黑体" panose="02010609060101010101" pitchFamily="49" charset="-122"/>
              </a:rPr>
              <a:t>”(</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learning  algorithm </a:t>
            </a:r>
            <a:r>
              <a:rPr lang="en-US" altLang="zh-CN" sz="28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indent="539750" algn="just"/>
            <a:r>
              <a:rPr lang="zh-CN" altLang="en-US" sz="2800" dirty="0">
                <a:latin typeface="黑体" panose="02010609060101010101" pitchFamily="49" charset="-122"/>
                <a:ea typeface="黑体" panose="02010609060101010101" pitchFamily="49" charset="-122"/>
              </a:rPr>
              <a:t>有了学习算法，我们把经验数据提供给它，它就能基于这些数据产生模型；在面对新的情况时，模型会给我们提供相应的判断。如果说计算机科学是研究关于“算法</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的学问，那么类似的，可以说机器学习是研究关于“学习算法</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的学问。</a:t>
            </a:r>
          </a:p>
          <a:p>
            <a:endParaRPr lang="zh-CN" altLang="en-US" dirty="0">
              <a:latin typeface="黑体" panose="02010609060101010101" pitchFamily="49" charset="-122"/>
              <a:ea typeface="黑体" panose="02010609060101010101" pitchFamily="49" charset="-122"/>
            </a:endParaRP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77668" y="1363345"/>
            <a:ext cx="7498080" cy="4800600"/>
          </a:xfrm>
        </p:spPr>
        <p:txBody>
          <a:bodyPr/>
          <a:lstStyle/>
          <a:p>
            <a:r>
              <a:rPr lang="zh-CN" altLang="en-US" sz="2400" dirty="0"/>
              <a:t>数据集（Dataset）：数据是进行机器学习的基础，所有数据的集合称为数据集。</a:t>
            </a:r>
          </a:p>
          <a:p>
            <a:endParaRPr lang="zh-CN" altLang="en-US" sz="2400" dirty="0"/>
          </a:p>
          <a:p>
            <a:r>
              <a:rPr lang="zh-CN" altLang="en-US" sz="2400" dirty="0"/>
              <a:t>样本（Sample）：数据集中每条记录是关于一个事件或对象的描述，称为样本。</a:t>
            </a:r>
          </a:p>
          <a:p>
            <a:endParaRPr lang="zh-CN" altLang="en-US" sz="2400" dirty="0"/>
          </a:p>
          <a:p>
            <a:r>
              <a:rPr lang="zh-CN" altLang="en-US" sz="2400" dirty="0"/>
              <a:t>属性（Attribute）或特征（Feature）：每个样本在某方面的表现或性质。</a:t>
            </a:r>
          </a:p>
          <a:p>
            <a:endParaRPr lang="zh-CN" altLang="en-US" sz="2400" dirty="0"/>
          </a:p>
          <a:p>
            <a:r>
              <a:rPr lang="zh-CN" altLang="en-US" sz="2400" dirty="0"/>
              <a:t>特征向量（Feature Vector）：每个样本的特征对应的特征空间中的一个坐标向量。</a:t>
            </a:r>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000" b="0" i="0" u="none" strike="noStrike" kern="1200" cap="none" spc="0" normalizeH="0" baseline="0" noProof="0">
                <a:ln>
                  <a:noFill/>
                </a:ln>
                <a:solidFill>
                  <a:srgbClr val="4F271C">
                    <a:satMod val="130000"/>
                  </a:srgbClr>
                </a:solidFill>
                <a:effectLst>
                  <a:outerShdw blurRad="50000" dist="30000" dir="5400000" algn="tl" rotWithShape="0">
                    <a:srgbClr val="000000">
                      <a:alpha val="30000"/>
                    </a:srgbClr>
                  </a:outerShdw>
                </a:effectLst>
                <a:uLnTx/>
                <a:uFillTx/>
                <a:latin typeface="Gill Sans MT" panose="020B0502020104020203"/>
                <a:ea typeface="华文中宋" panose="02010600040101010101" pitchFamily="2" charset="-122"/>
                <a:cs typeface="+mj-cs"/>
              </a:rPr>
              <a:t>二、机器学习术语</a:t>
            </a:r>
          </a:p>
        </p:txBody>
      </p:sp>
      <p:sp>
        <p:nvSpPr>
          <p:cNvPr id="2" name="日期占位符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6C41C08-F57D-46D6-ACA5-8428F6395425}" type="datetime10">
              <a:rPr kumimoji="0" lang="zh-CN" altLang="en-US" sz="1200" b="0" i="0" u="none" strike="noStrike" kern="1200" cap="none" spc="0" normalizeH="0" baseline="0" noProof="0" smtClean="0">
                <a:ln>
                  <a:noFill/>
                </a:ln>
                <a:solidFill>
                  <a:srgbClr val="E7DEC9">
                    <a:shade val="50000"/>
                    <a:satMod val="200000"/>
                  </a:srgbClr>
                </a:solidFill>
                <a:effectLst/>
                <a:uLnTx/>
                <a:uFillTx/>
                <a:latin typeface="Gill Sans MT" panose="020B0502020104020203"/>
                <a:ea typeface="华文中宋" panose="02010600040101010101" pitchFamily="2" charset="-122"/>
                <a:cs typeface="+mn-cs"/>
              </a:rPr>
              <a:t>15:41</a:t>
            </a:fld>
            <a:endParaRPr kumimoji="0" lang="zh-CN" altLang="en-US" sz="1200" b="0" i="0" u="none" strike="noStrike" kern="1200" cap="none" spc="0" normalizeH="0" baseline="0" noProof="0">
              <a:ln>
                <a:noFill/>
              </a:ln>
              <a:solidFill>
                <a:srgbClr val="E7DEC9">
                  <a:shade val="50000"/>
                  <a:satMod val="200000"/>
                </a:srgbClr>
              </a:solidFill>
              <a:effectLst/>
              <a:uLnTx/>
              <a:uFillTx/>
              <a:latin typeface="Gill Sans MT" panose="020B0502020104020203"/>
              <a:ea typeface="华文中宋" panose="0201060004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4337" y="0"/>
            <a:ext cx="10363200" cy="1143000"/>
          </a:xfrm>
        </p:spPr>
        <p:txBody>
          <a:bodyPr/>
          <a:lstStyle/>
          <a:p>
            <a:br>
              <a:rPr lang="en-US" altLang="zh-CN" b="1" dirty="0">
                <a:solidFill>
                  <a:srgbClr val="0070C0"/>
                </a:solidFill>
              </a:rPr>
            </a:br>
            <a:r>
              <a:rPr lang="zh-CN" altLang="en-US" b="1" dirty="0">
                <a:solidFill>
                  <a:srgbClr val="0070C0"/>
                </a:solidFill>
              </a:rPr>
              <a:t>二、机器学习术语</a:t>
            </a:r>
          </a:p>
        </p:txBody>
      </p:sp>
      <p:sp>
        <p:nvSpPr>
          <p:cNvPr id="7" name="TextBox 6"/>
          <p:cNvSpPr txBox="1"/>
          <p:nvPr/>
        </p:nvSpPr>
        <p:spPr>
          <a:xfrm>
            <a:off x="697650" y="1385318"/>
            <a:ext cx="10723724" cy="5047536"/>
          </a:xfrm>
          <a:prstGeom prst="rect">
            <a:avLst/>
          </a:prstGeom>
          <a:noFill/>
        </p:spPr>
        <p:txBody>
          <a:bodyPr wrap="square" rtlCol="0">
            <a:spAutoFit/>
          </a:bodyPr>
          <a:lstStyle/>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学习</a:t>
            </a:r>
            <a:r>
              <a:rPr lang="en-US" altLang="zh-CN" sz="2800" b="1" dirty="0">
                <a:solidFill>
                  <a:srgbClr val="008A3E"/>
                </a:solidFill>
                <a:latin typeface="宋体" panose="02010600030101010101" pitchFamily="2" charset="-122"/>
                <a:ea typeface="宋体" panose="02010600030101010101" pitchFamily="2" charset="-122"/>
              </a:rPr>
              <a:t>(</a:t>
            </a:r>
            <a:r>
              <a:rPr lang="en-US" altLang="zh-CN" sz="2800" b="1" dirty="0" err="1">
                <a:solidFill>
                  <a:srgbClr val="008A3E"/>
                </a:solidFill>
                <a:latin typeface="宋体" panose="02010600030101010101" pitchFamily="2" charset="-122"/>
                <a:ea typeface="宋体" panose="02010600030101010101" pitchFamily="2" charset="-122"/>
              </a:rPr>
              <a:t>lerning</a:t>
            </a:r>
            <a:r>
              <a:rPr lang="en-US" altLang="zh-CN" sz="2800" b="1" dirty="0">
                <a:solidFill>
                  <a:srgbClr val="008A3E"/>
                </a:solidFill>
                <a:latin typeface="宋体" panose="02010600030101010101" pitchFamily="2" charset="-122"/>
                <a:ea typeface="宋体" panose="02010600030101010101" pitchFamily="2" charset="-122"/>
              </a:rPr>
              <a:t> )</a:t>
            </a:r>
            <a:r>
              <a:rPr lang="zh-CN" altLang="en-US" sz="2800" b="1" dirty="0">
                <a:solidFill>
                  <a:srgbClr val="008A3E"/>
                </a:solidFill>
                <a:latin typeface="宋体" panose="02010600030101010101" pitchFamily="2" charset="-122"/>
                <a:ea typeface="宋体" panose="02010600030101010101" pitchFamily="2" charset="-122"/>
              </a:rPr>
              <a:t>或训练</a:t>
            </a:r>
            <a:r>
              <a:rPr lang="en-US" altLang="zh-CN" sz="2800" b="1" dirty="0">
                <a:solidFill>
                  <a:srgbClr val="008A3E"/>
                </a:solidFill>
                <a:latin typeface="宋体" panose="02010600030101010101" pitchFamily="2" charset="-122"/>
                <a:ea typeface="宋体" panose="02010600030101010101" pitchFamily="2" charset="-122"/>
              </a:rPr>
              <a:t>(training)</a:t>
            </a:r>
            <a:r>
              <a:rPr lang="zh-CN" altLang="en-US" sz="2800" b="1" dirty="0">
                <a:solidFill>
                  <a:srgbClr val="008A3E"/>
                </a:solidFill>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从数据中学得模型的过程</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这个过程通过执行某个学习算法来完成。</a:t>
            </a:r>
            <a:endParaRPr lang="en-US" altLang="zh-CN" sz="2800" b="1" dirty="0">
              <a:latin typeface="宋体" panose="02010600030101010101" pitchFamily="2" charset="-122"/>
              <a:ea typeface="宋体" panose="02010600030101010101" pitchFamily="2" charset="-122"/>
            </a:endParaRPr>
          </a:p>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训练数据</a:t>
            </a:r>
            <a:r>
              <a:rPr lang="en-US" altLang="zh-CN" sz="2800" b="1" dirty="0">
                <a:latin typeface="宋体" panose="02010600030101010101" pitchFamily="2" charset="-122"/>
                <a:ea typeface="宋体" panose="02010600030101010101" pitchFamily="2" charset="-122"/>
              </a:rPr>
              <a:t>(training  data )</a:t>
            </a:r>
            <a:r>
              <a:rPr lang="zh-CN" altLang="en-US" sz="2800" b="1" dirty="0">
                <a:latin typeface="宋体" panose="02010600030101010101" pitchFamily="2" charset="-122"/>
                <a:ea typeface="宋体" panose="02010600030101010101" pitchFamily="2" charset="-122"/>
              </a:rPr>
              <a:t>：训练过程中使用的数据。</a:t>
            </a:r>
            <a:endParaRPr lang="en-US" altLang="zh-CN" sz="2800" b="1" dirty="0">
              <a:latin typeface="宋体" panose="02010600030101010101" pitchFamily="2" charset="-122"/>
              <a:ea typeface="宋体" panose="02010600030101010101" pitchFamily="2" charset="-122"/>
            </a:endParaRPr>
          </a:p>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训练样本</a:t>
            </a:r>
            <a:r>
              <a:rPr lang="en-US" altLang="zh-CN" sz="2800" b="1" dirty="0">
                <a:solidFill>
                  <a:srgbClr val="008A3E"/>
                </a:solidFill>
                <a:latin typeface="宋体" panose="02010600030101010101" pitchFamily="2" charset="-122"/>
                <a:ea typeface="宋体" panose="02010600030101010101" pitchFamily="2" charset="-122"/>
              </a:rPr>
              <a:t>(training samp1e)</a:t>
            </a:r>
            <a:r>
              <a:rPr lang="zh-CN" altLang="en-US" sz="2800" b="1" dirty="0">
                <a:solidFill>
                  <a:srgbClr val="008A3E"/>
                </a:solidFill>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训练数据中的每个样本。</a:t>
            </a:r>
            <a:endParaRPr lang="en-US" altLang="zh-CN" sz="2800" b="1" dirty="0">
              <a:latin typeface="宋体" panose="02010600030101010101" pitchFamily="2" charset="-122"/>
              <a:ea typeface="宋体" panose="02010600030101010101" pitchFamily="2" charset="-122"/>
            </a:endParaRPr>
          </a:p>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训练集</a:t>
            </a:r>
            <a:r>
              <a:rPr lang="en-US" altLang="zh-CN" sz="2800" b="1" dirty="0">
                <a:solidFill>
                  <a:srgbClr val="008A3E"/>
                </a:solidFill>
                <a:latin typeface="宋体" panose="02010600030101010101" pitchFamily="2" charset="-122"/>
                <a:ea typeface="宋体" panose="02010600030101010101" pitchFamily="2" charset="-122"/>
              </a:rPr>
              <a:t>(training  set )</a:t>
            </a:r>
            <a:r>
              <a:rPr lang="zh-CN" altLang="en-US" sz="2800" b="1" dirty="0">
                <a:solidFill>
                  <a:srgbClr val="008A3E"/>
                </a:solidFill>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训练样本组成的集合。</a:t>
            </a:r>
            <a:endParaRPr lang="en-US" altLang="zh-CN" sz="2800" b="1" dirty="0">
              <a:latin typeface="宋体" panose="02010600030101010101" pitchFamily="2" charset="-122"/>
              <a:ea typeface="宋体" panose="02010600030101010101" pitchFamily="2" charset="-122"/>
            </a:endParaRPr>
          </a:p>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标记（Label）：</a:t>
            </a:r>
            <a:r>
              <a:rPr lang="zh-CN" altLang="en-US" sz="2800" b="1" dirty="0">
                <a:latin typeface="宋体" panose="02010600030101010101" pitchFamily="2" charset="-122"/>
                <a:ea typeface="宋体" panose="02010600030101010101" pitchFamily="2" charset="-122"/>
              </a:rPr>
              <a:t>训练数据中可能会指出训练结果的信息。</a:t>
            </a:r>
            <a:endParaRPr lang="en-US" altLang="zh-CN" sz="2800" b="1" dirty="0">
              <a:latin typeface="宋体" panose="02010600030101010101" pitchFamily="2" charset="-122"/>
              <a:ea typeface="宋体" panose="02010600030101010101" pitchFamily="2" charset="-122"/>
            </a:endParaRPr>
          </a:p>
          <a:p>
            <a:pPr algn="just">
              <a:lnSpc>
                <a:spcPct val="150000"/>
              </a:lnSpc>
            </a:pPr>
            <a:r>
              <a:rPr lang="zh-CN" altLang="en-US" sz="2800" b="1" dirty="0">
                <a:solidFill>
                  <a:srgbClr val="008A3E"/>
                </a:solidFill>
                <a:latin typeface="宋体" panose="02010600030101010101" pitchFamily="2" charset="-122"/>
                <a:ea typeface="宋体" panose="02010600030101010101" pitchFamily="2" charset="-122"/>
              </a:rPr>
              <a:t>测试（Test）：</a:t>
            </a:r>
            <a:r>
              <a:rPr lang="zh-CN" altLang="en-US" sz="2800" b="1" dirty="0">
                <a:latin typeface="宋体" panose="02010600030101010101" pitchFamily="2" charset="-122"/>
                <a:ea typeface="宋体" panose="02010600030101010101" pitchFamily="2" charset="-122"/>
              </a:rPr>
              <a:t>学习到模型后，使用其进行预测的过程。</a:t>
            </a:r>
          </a:p>
          <a:p>
            <a:pPr algn="just"/>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09600" y="274638"/>
            <a:ext cx="10972800" cy="725487"/>
          </a:xfrm>
        </p:spPr>
        <p:txBody>
          <a:bodyPr/>
          <a:lstStyle/>
          <a:p>
            <a:r>
              <a:rPr lang="zh-CN" altLang="en-US" b="1" dirty="0">
                <a:solidFill>
                  <a:srgbClr val="0070C0"/>
                </a:solidFill>
              </a:rPr>
              <a:t>二、机器学习术语</a:t>
            </a:r>
            <a:endParaRPr lang="zh-CN" altLang="en-US" dirty="0"/>
          </a:p>
        </p:txBody>
      </p:sp>
      <p:graphicFrame>
        <p:nvGraphicFramePr>
          <p:cNvPr id="6" name="表格 5"/>
          <p:cNvGraphicFramePr>
            <a:graphicFrameLocks noGrp="1"/>
          </p:cNvGraphicFramePr>
          <p:nvPr/>
        </p:nvGraphicFramePr>
        <p:xfrm>
          <a:off x="3871908" y="922160"/>
          <a:ext cx="8043865" cy="5607227"/>
        </p:xfrm>
        <a:graphic>
          <a:graphicData uri="http://schemas.openxmlformats.org/drawingml/2006/table">
            <a:tbl>
              <a:tblPr firstRow="1" firstCol="1" bandRow="1"/>
              <a:tblGrid>
                <a:gridCol w="968374">
                  <a:extLst>
                    <a:ext uri="{9D8B030D-6E8A-4147-A177-3AD203B41FA5}">
                      <a16:colId xmlns:a16="http://schemas.microsoft.com/office/drawing/2014/main" val="20000"/>
                    </a:ext>
                  </a:extLst>
                </a:gridCol>
                <a:gridCol w="895816">
                  <a:extLst>
                    <a:ext uri="{9D8B030D-6E8A-4147-A177-3AD203B41FA5}">
                      <a16:colId xmlns:a16="http://schemas.microsoft.com/office/drawing/2014/main" val="20001"/>
                    </a:ext>
                  </a:extLst>
                </a:gridCol>
                <a:gridCol w="935395">
                  <a:extLst>
                    <a:ext uri="{9D8B030D-6E8A-4147-A177-3AD203B41FA5}">
                      <a16:colId xmlns:a16="http://schemas.microsoft.com/office/drawing/2014/main" val="20002"/>
                    </a:ext>
                  </a:extLst>
                </a:gridCol>
                <a:gridCol w="934076">
                  <a:extLst>
                    <a:ext uri="{9D8B030D-6E8A-4147-A177-3AD203B41FA5}">
                      <a16:colId xmlns:a16="http://schemas.microsoft.com/office/drawing/2014/main" val="20003"/>
                    </a:ext>
                  </a:extLst>
                </a:gridCol>
                <a:gridCol w="935395">
                  <a:extLst>
                    <a:ext uri="{9D8B030D-6E8A-4147-A177-3AD203B41FA5}">
                      <a16:colId xmlns:a16="http://schemas.microsoft.com/office/drawing/2014/main" val="20004"/>
                    </a:ext>
                  </a:extLst>
                </a:gridCol>
                <a:gridCol w="935395">
                  <a:extLst>
                    <a:ext uri="{9D8B030D-6E8A-4147-A177-3AD203B41FA5}">
                      <a16:colId xmlns:a16="http://schemas.microsoft.com/office/drawing/2014/main" val="20005"/>
                    </a:ext>
                  </a:extLst>
                </a:gridCol>
                <a:gridCol w="1504019">
                  <a:extLst>
                    <a:ext uri="{9D8B030D-6E8A-4147-A177-3AD203B41FA5}">
                      <a16:colId xmlns:a16="http://schemas.microsoft.com/office/drawing/2014/main" val="20006"/>
                    </a:ext>
                  </a:extLst>
                </a:gridCol>
                <a:gridCol w="935395">
                  <a:extLst>
                    <a:ext uri="{9D8B030D-6E8A-4147-A177-3AD203B41FA5}">
                      <a16:colId xmlns:a16="http://schemas.microsoft.com/office/drawing/2014/main" val="20007"/>
                    </a:ext>
                  </a:extLst>
                </a:gridCol>
              </a:tblGrid>
              <a:tr h="497848">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编号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形状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颜色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大小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土壤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水份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日照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发芽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7848">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灰色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饱满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酸性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a:effectLst/>
                          <a:latin typeface="Calibri" panose="020F0502020204030204" pitchFamily="34" charset="0"/>
                          <a:ea typeface="宋体" panose="02010600030101010101" pitchFamily="2" charset="-122"/>
                          <a:cs typeface="Times New Roman" panose="02020603050405020304" pitchFamily="18" charset="0"/>
                        </a:rPr>
                        <a:t>小时以上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8534">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白色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缢缩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a:effectLst/>
                          <a:latin typeface="Calibri" panose="020F0502020204030204" pitchFamily="34" charset="0"/>
                          <a:ea typeface="宋体" panose="02010600030101010101" pitchFamily="2" charset="-122"/>
                          <a:cs typeface="Times New Roman" panose="02020603050405020304" pitchFamily="18" charset="0"/>
                        </a:rPr>
                        <a:t>小时以上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7848">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皱形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白色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饱满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a:effectLst/>
                          <a:latin typeface="Calibri" panose="020F0502020204030204" pitchFamily="34" charset="0"/>
                          <a:ea typeface="宋体" panose="02010600030101010101" pitchFamily="2" charset="-122"/>
                          <a:cs typeface="Times New Roman" panose="02020603050405020304" pitchFamily="18" charset="0"/>
                        </a:rPr>
                        <a:t>小时以上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皱形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灰色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饱满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酸性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a:effectLst/>
                          <a:latin typeface="Calibri" panose="020F0502020204030204" pitchFamily="34" charset="0"/>
                          <a:ea typeface="宋体" panose="02010600030101010101" pitchFamily="2" charset="-122"/>
                          <a:cs typeface="Times New Roman" panose="02020603050405020304" pitchFamily="18" charset="0"/>
                        </a:rPr>
                        <a:t>小时以下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白色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缢缩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小时以下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皱形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灰色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缢缩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酸性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小时以上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7</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白色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饱满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酸性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小时以下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8</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皱形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灰色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缢缩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小时以下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519307">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9</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灰色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缢缩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少</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小时以上</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519307">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测试</a:t>
                      </a:r>
                      <a:r>
                        <a:rPr lang="en-US" sz="1600" kern="100" dirty="0">
                          <a:effectLst/>
                          <a:latin typeface="Calibri" panose="020F0502020204030204" pitchFamily="34" charset="0"/>
                          <a:ea typeface="宋体" panose="02010600030101010101" pitchFamily="2" charset="-122"/>
                          <a:cs typeface="Times New Roman" panose="02020603050405020304" pitchFamily="18" charset="0"/>
                        </a:rPr>
                        <a:t>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圆形</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白色</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饱满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碱性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effectLst/>
                          <a:latin typeface="Calibri" panose="020F0502020204030204" pitchFamily="34" charset="0"/>
                          <a:ea typeface="宋体" panose="02010600030101010101" pitchFamily="2" charset="-122"/>
                          <a:cs typeface="Times New Roman" panose="02020603050405020304" pitchFamily="18" charset="0"/>
                        </a:rPr>
                        <a:t>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宋体" panose="02010600030101010101" pitchFamily="2" charset="-122"/>
                          <a:ea typeface="宋体" panose="02010600030101010101" pitchFamily="2" charset="-122"/>
                          <a:cs typeface="Times New Roman" panose="02020603050405020304" pitchFamily="18" charset="0"/>
                        </a:rPr>
                        <a:t>12</a:t>
                      </a:r>
                      <a:r>
                        <a:rPr lang="zh-CN" sz="1600" kern="100">
                          <a:effectLst/>
                          <a:latin typeface="Calibri" panose="020F0502020204030204" pitchFamily="34" charset="0"/>
                          <a:ea typeface="宋体" panose="02010600030101010101" pitchFamily="2" charset="-122"/>
                          <a:cs typeface="Times New Roman" panose="02020603050405020304" pitchFamily="18" charset="0"/>
                        </a:rPr>
                        <a:t>小时以下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effectLst/>
                          <a:latin typeface="Calibri" panose="020F0502020204030204" pitchFamily="34" charset="0"/>
                          <a:ea typeface="宋体" panose="0201060003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TextBox 6"/>
          <p:cNvSpPr txBox="1"/>
          <p:nvPr/>
        </p:nvSpPr>
        <p:spPr>
          <a:xfrm>
            <a:off x="628650" y="1400176"/>
            <a:ext cx="2728913" cy="4401205"/>
          </a:xfrm>
          <a:prstGeom prst="rect">
            <a:avLst/>
          </a:prstGeom>
          <a:noFill/>
        </p:spPr>
        <p:txBody>
          <a:bodyPr wrap="square" rtlCol="0">
            <a:spAutoFit/>
          </a:bodyPr>
          <a:lstStyle/>
          <a:p>
            <a:pPr>
              <a:lnSpc>
                <a:spcPct val="200000"/>
              </a:lnSpc>
              <a:buFont typeface="Wingdings" panose="05000000000000000000" pitchFamily="2" charset="2"/>
              <a:buChar char="l"/>
            </a:pPr>
            <a:r>
              <a:rPr lang="zh-CN" altLang="en-US" sz="2800" dirty="0"/>
              <a:t>训练集</a:t>
            </a:r>
            <a:endParaRPr lang="en-US" altLang="zh-CN" sz="2800" dirty="0"/>
          </a:p>
          <a:p>
            <a:pPr>
              <a:lnSpc>
                <a:spcPct val="200000"/>
              </a:lnSpc>
              <a:buFont typeface="Wingdings" panose="05000000000000000000" pitchFamily="2" charset="2"/>
              <a:buChar char="l"/>
            </a:pPr>
            <a:r>
              <a:rPr lang="zh-CN" altLang="en-US" sz="2800" dirty="0"/>
              <a:t>测试集</a:t>
            </a:r>
            <a:endParaRPr lang="en-US" altLang="zh-CN" sz="2800" dirty="0"/>
          </a:p>
          <a:p>
            <a:pPr>
              <a:lnSpc>
                <a:spcPct val="200000"/>
              </a:lnSpc>
              <a:buFont typeface="Wingdings" panose="05000000000000000000" pitchFamily="2" charset="2"/>
              <a:buChar char="l"/>
            </a:pPr>
            <a:r>
              <a:rPr lang="zh-CN" altLang="en-US" sz="2800" dirty="0"/>
              <a:t>标签</a:t>
            </a:r>
            <a:endParaRPr lang="en-US" altLang="zh-CN" sz="2800" dirty="0"/>
          </a:p>
          <a:p>
            <a:pPr>
              <a:lnSpc>
                <a:spcPct val="200000"/>
              </a:lnSpc>
              <a:buFont typeface="Wingdings" panose="05000000000000000000" pitchFamily="2" charset="2"/>
              <a:buChar char="l"/>
            </a:pPr>
            <a:r>
              <a:rPr lang="zh-CN" altLang="en-US" sz="2800" dirty="0"/>
              <a:t>输入空间</a:t>
            </a:r>
            <a:endParaRPr lang="en-US" altLang="zh-CN" sz="2800" dirty="0"/>
          </a:p>
          <a:p>
            <a:pPr>
              <a:lnSpc>
                <a:spcPct val="200000"/>
              </a:lnSpc>
              <a:buFont typeface="Wingdings" panose="05000000000000000000" pitchFamily="2" charset="2"/>
              <a:buChar char="l"/>
            </a:pPr>
            <a:r>
              <a:rPr lang="zh-CN" altLang="en-US" sz="2800" dirty="0"/>
              <a:t>输出空间</a:t>
            </a:r>
          </a:p>
        </p:txBody>
      </p:sp>
    </p:spTree>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77160" y="1115061"/>
            <a:ext cx="8372758" cy="5551805"/>
          </a:xfrm>
        </p:spPr>
        <p:txBody>
          <a:bodyPr>
            <a:normAutofit fontScale="92500"/>
          </a:bodyPr>
          <a:lstStyle/>
          <a:p>
            <a:r>
              <a:rPr lang="zh-CN" altLang="en-US" sz="2400" b="1" dirty="0">
                <a:solidFill>
                  <a:srgbClr val="008A3E"/>
                </a:solidFill>
              </a:rPr>
              <a:t>分类（Classification）</a:t>
            </a:r>
            <a:r>
              <a:rPr lang="zh-CN" altLang="en-US" sz="2400" dirty="0"/>
              <a:t>：使用计算机学习出的模型进行预测得到的是</a:t>
            </a:r>
            <a:r>
              <a:rPr lang="zh-CN" altLang="en-US" sz="2400" dirty="0">
                <a:solidFill>
                  <a:srgbClr val="FF0000"/>
                </a:solidFill>
              </a:rPr>
              <a:t>离散值</a:t>
            </a:r>
            <a:r>
              <a:rPr lang="zh-CN" altLang="en-US" sz="2400" dirty="0"/>
              <a:t>。</a:t>
            </a:r>
          </a:p>
          <a:p>
            <a:pPr lvl="1" algn="just"/>
            <a:r>
              <a:rPr lang="zh-CN" altLang="en-US" sz="2100" dirty="0"/>
              <a:t>二分类：只涉及两个类别的分类任务，其中一个类为正类（Positive Class），另一个类为负类（Negative Class），如是猫、不是猫两类。</a:t>
            </a:r>
          </a:p>
          <a:p>
            <a:pPr lvl="1"/>
            <a:r>
              <a:rPr lang="zh-CN" altLang="en-US" sz="2100" dirty="0"/>
              <a:t>多分类（Multi-class Classification）：涉及多个类别的分类任务。</a:t>
            </a:r>
          </a:p>
          <a:p>
            <a:pPr lvl="1"/>
            <a:endParaRPr lang="zh-CN" altLang="en-US" sz="2100" dirty="0"/>
          </a:p>
          <a:p>
            <a:pPr lvl="1"/>
            <a:endParaRPr lang="zh-CN" altLang="en-US" sz="2100" dirty="0"/>
          </a:p>
          <a:p>
            <a:endParaRPr lang="zh-CN" altLang="en-US" sz="2100" dirty="0"/>
          </a:p>
          <a:p>
            <a:endParaRPr lang="zh-CN" altLang="en-US" sz="2100" dirty="0"/>
          </a:p>
          <a:p>
            <a:endParaRPr lang="zh-CN" altLang="en-US" sz="2100" dirty="0"/>
          </a:p>
          <a:p>
            <a:pPr>
              <a:spcBef>
                <a:spcPts val="1200"/>
              </a:spcBef>
            </a:pPr>
            <a:r>
              <a:rPr lang="zh-CN" altLang="en-US" sz="2400" b="1" dirty="0">
                <a:solidFill>
                  <a:srgbClr val="008A3E"/>
                </a:solidFill>
              </a:rPr>
              <a:t>回归（Regression）：</a:t>
            </a:r>
            <a:r>
              <a:rPr lang="zh-CN" altLang="en-US" sz="2400" dirty="0">
                <a:sym typeface="+mn-ea"/>
              </a:rPr>
              <a:t>使用计算机学习出的模型进行预测得到的是</a:t>
            </a:r>
            <a:r>
              <a:rPr lang="zh-CN" altLang="en-US" sz="2400" dirty="0">
                <a:solidFill>
                  <a:srgbClr val="FF0000"/>
                </a:solidFill>
                <a:sym typeface="+mn-ea"/>
              </a:rPr>
              <a:t>连续值</a:t>
            </a:r>
            <a:r>
              <a:rPr lang="zh-CN" altLang="en-US" sz="2400" dirty="0">
                <a:sym typeface="+mn-ea"/>
              </a:rPr>
              <a:t>。</a:t>
            </a:r>
            <a:endParaRPr lang="en-US" altLang="zh-CN" sz="2400" dirty="0">
              <a:sym typeface="+mn-ea"/>
            </a:endParaRPr>
          </a:p>
          <a:p>
            <a:pPr>
              <a:spcBef>
                <a:spcPts val="1200"/>
              </a:spcBef>
            </a:pPr>
            <a:r>
              <a:rPr lang="zh-CN" altLang="en-US" sz="2400" b="1" dirty="0">
                <a:solidFill>
                  <a:srgbClr val="008A3E"/>
                </a:solidFill>
              </a:rPr>
              <a:t>聚类（</a:t>
            </a:r>
            <a:r>
              <a:rPr lang="en-US" altLang="zh-CN" sz="2400" b="1" dirty="0">
                <a:solidFill>
                  <a:srgbClr val="008A3E"/>
                </a:solidFill>
              </a:rPr>
              <a:t>Clustering</a:t>
            </a:r>
            <a:r>
              <a:rPr lang="zh-CN" altLang="en-US" sz="2400" b="1" dirty="0">
                <a:solidFill>
                  <a:srgbClr val="008A3E"/>
                </a:solidFill>
              </a:rPr>
              <a:t>）：</a:t>
            </a:r>
            <a:r>
              <a:rPr lang="zh-CN" altLang="en-US" sz="2400" dirty="0"/>
              <a:t>对无标签样本的相似度进行度量，挖掘特征、结构、内在性质，使类内相似度大，类间相似度小。</a:t>
            </a:r>
          </a:p>
          <a:p>
            <a:endParaRPr lang="zh-CN" altLang="en-US" sz="2400" dirty="0"/>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zh-CN" altLang="en-US" sz="4000" dirty="0">
                <a:solidFill>
                  <a:srgbClr val="4F271C">
                    <a:satMod val="130000"/>
                  </a:srgbClr>
                </a:solidFill>
                <a:latin typeface="Gill Sans MT" panose="020B0502020104020203"/>
                <a:ea typeface="华文中宋" panose="02010600040101010101" pitchFamily="2" charset="-122"/>
              </a:rPr>
              <a:t>二、机器学习术语</a:t>
            </a:r>
          </a:p>
        </p:txBody>
      </p:sp>
      <p:pic>
        <p:nvPicPr>
          <p:cNvPr id="5" name="图片 4"/>
          <p:cNvPicPr>
            <a:picLocks noChangeAspect="1"/>
          </p:cNvPicPr>
          <p:nvPr>
            <p:custDataLst>
              <p:tags r:id="rId1"/>
            </p:custDataLst>
          </p:nvPr>
        </p:nvPicPr>
        <p:blipFill>
          <a:blip r:embed="rId3"/>
          <a:stretch>
            <a:fillRect/>
          </a:stretch>
        </p:blipFill>
        <p:spPr>
          <a:xfrm>
            <a:off x="4752449" y="3035544"/>
            <a:ext cx="3532236" cy="15347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diamond(in)">
                                      <p:cBhvr>
                                        <p:cTn id="24" dur="20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diamond(in)">
                                      <p:cBhvr>
                                        <p:cTn id="29"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3676" y="401956"/>
            <a:ext cx="4591685" cy="903605"/>
          </a:xfrm>
        </p:spPr>
        <p:txBody>
          <a:bodyPr/>
          <a:lstStyle/>
          <a:p>
            <a:r>
              <a:rPr lang="zh-CN" altLang="en-US" sz="3200"/>
              <a:t>分类与回归的区别</a:t>
            </a:r>
          </a:p>
        </p:txBody>
      </p:sp>
      <p:sp>
        <p:nvSpPr>
          <p:cNvPr id="3" name="内容占位符 2"/>
          <p:cNvSpPr>
            <a:spLocks noGrp="1"/>
          </p:cNvSpPr>
          <p:nvPr>
            <p:ph idx="1"/>
          </p:nvPr>
        </p:nvSpPr>
        <p:spPr>
          <a:xfrm>
            <a:off x="2304018" y="1546952"/>
            <a:ext cx="8823018" cy="4856480"/>
          </a:xfrm>
        </p:spPr>
        <p:txBody>
          <a:bodyPr>
            <a:normAutofit fontScale="90000"/>
          </a:bodyPr>
          <a:lstStyle/>
          <a:p>
            <a:r>
              <a:rPr lang="zh-CN" altLang="en-US" sz="2800" dirty="0"/>
              <a:t>输出不同</a:t>
            </a:r>
          </a:p>
          <a:p>
            <a:pPr lvl="1"/>
            <a:r>
              <a:rPr lang="zh-CN" altLang="en-US" sz="2400" dirty="0">
                <a:sym typeface="+mn-ea"/>
              </a:rPr>
              <a:t>分类问题输出的是物体所属的类别，回归问题输出的是物体的值。</a:t>
            </a:r>
            <a:endParaRPr lang="zh-CN" altLang="en-US" sz="2400" dirty="0"/>
          </a:p>
          <a:p>
            <a:pPr lvl="1"/>
            <a:r>
              <a:rPr lang="zh-CN" altLang="en-US" sz="2400" dirty="0">
                <a:sym typeface="+mn-ea"/>
              </a:rPr>
              <a:t>分类问题输出的值是定性的，回归问题输出的值是定量的。</a:t>
            </a:r>
          </a:p>
          <a:p>
            <a:pPr marL="402590" lvl="1" indent="0">
              <a:buNone/>
            </a:pPr>
            <a:endParaRPr lang="zh-CN" altLang="en-US" dirty="0"/>
          </a:p>
          <a:p>
            <a:r>
              <a:rPr lang="zh-CN" altLang="en-US" sz="2800" dirty="0">
                <a:sym typeface="+mn-ea"/>
              </a:rPr>
              <a:t>目的不同</a:t>
            </a:r>
          </a:p>
          <a:p>
            <a:pPr lvl="1"/>
            <a:r>
              <a:rPr lang="zh-CN" altLang="en-US" sz="2450" dirty="0">
                <a:sym typeface="+mn-ea"/>
              </a:rPr>
              <a:t>分类的目的是为了寻找决策边界。</a:t>
            </a:r>
            <a:endParaRPr lang="zh-CN" altLang="en-US" sz="2450" dirty="0"/>
          </a:p>
          <a:p>
            <a:pPr lvl="1"/>
            <a:r>
              <a:rPr lang="zh-CN" altLang="en-US" sz="2450" dirty="0">
                <a:sym typeface="+mn-ea"/>
              </a:rPr>
              <a:t>回归的目的是为了找到最优拟合。</a:t>
            </a:r>
          </a:p>
          <a:p>
            <a:pPr marL="402590" lvl="1" indent="0">
              <a:buNone/>
            </a:pPr>
            <a:endParaRPr lang="zh-CN" altLang="en-US" dirty="0">
              <a:sym typeface="+mn-ea"/>
            </a:endParaRPr>
          </a:p>
          <a:p>
            <a:r>
              <a:rPr lang="zh-CN" altLang="en-US" sz="2800" dirty="0">
                <a:sym typeface="+mn-ea"/>
              </a:rPr>
              <a:t>结果不同</a:t>
            </a:r>
          </a:p>
          <a:p>
            <a:pPr lvl="1"/>
            <a:r>
              <a:rPr lang="zh-CN" altLang="en-US" sz="2450" dirty="0"/>
              <a:t>分类的结果没有逼近，对就是对，错就是错。</a:t>
            </a:r>
            <a:endParaRPr lang="zh-CN" altLang="en-US" sz="2450" dirty="0">
              <a:sym typeface="+mn-ea"/>
            </a:endParaRPr>
          </a:p>
          <a:p>
            <a:pPr lvl="1"/>
            <a:r>
              <a:rPr lang="zh-CN" altLang="en-US" sz="2450" dirty="0"/>
              <a:t>回归是对真实值的一种逼近预测</a:t>
            </a:r>
            <a:r>
              <a:rPr lang="zh-CN" altLang="en-US" sz="2450" dirty="0">
                <a:sym typeface="+mn-ea"/>
              </a:rPr>
              <a:t>。</a:t>
            </a:r>
            <a:endParaRPr lang="zh-CN" altLang="en-US" sz="2450" dirty="0"/>
          </a:p>
          <a:p>
            <a:pPr lvl="1"/>
            <a:endParaRPr lang="zh-CN" altLang="en-US" sz="2450" dirty="0"/>
          </a:p>
          <a:p>
            <a:pPr lvl="1"/>
            <a:endParaRPr lang="zh-CN" altLang="en-US" sz="2400" dirty="0"/>
          </a:p>
          <a:p>
            <a:pPr lvl="1"/>
            <a:endParaRPr lang="zh-CN" altLang="en-US" sz="2400" dirty="0"/>
          </a:p>
          <a:p>
            <a:pPr marL="402590" lvl="1" indent="0">
              <a:buNone/>
            </a:pPr>
            <a:endParaRPr lang="zh-CN" alt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0" y="0"/>
            <a:ext cx="8449733" cy="769441"/>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spcBef>
                <a:spcPct val="50000"/>
              </a:spcBef>
              <a:buClr>
                <a:schemeClr val="bg1"/>
              </a:buClr>
            </a:pPr>
            <a:r>
              <a:rPr kumimoji="1" lang="zh-CN" altLang="en-US" sz="4400" b="1" dirty="0">
                <a:solidFill>
                  <a:schemeClr val="bg1"/>
                </a:solidFill>
                <a:latin typeface="宋体" panose="02010600030101010101" pitchFamily="2" charset="-122"/>
                <a:ea typeface="宋体" panose="02010600030101010101" pitchFamily="2" charset="-122"/>
                <a:cs typeface="楷体_GB2312" pitchFamily="49" charset="-122"/>
              </a:rPr>
              <a:t>二、机器学习术语</a:t>
            </a:r>
            <a:endParaRPr kumimoji="1" lang="zh-CN" altLang="en-US" sz="4400" b="1" dirty="0">
              <a:solidFill>
                <a:schemeClr val="tx1"/>
              </a:solidFill>
              <a:latin typeface="楷体_GB2312" pitchFamily="49" charset="-122"/>
              <a:ea typeface="宋体" panose="02010600030101010101" pitchFamily="2" charset="-122"/>
              <a:cs typeface="楷体_GB2312" pitchFamily="49" charset="-122"/>
            </a:endParaRPr>
          </a:p>
        </p:txBody>
      </p:sp>
      <p:sp>
        <p:nvSpPr>
          <p:cNvPr id="2" name="矩形 1"/>
          <p:cNvSpPr/>
          <p:nvPr/>
        </p:nvSpPr>
        <p:spPr>
          <a:xfrm>
            <a:off x="1637841" y="3055385"/>
            <a:ext cx="2698175" cy="523220"/>
          </a:xfrm>
          <a:prstGeom prst="rect">
            <a:avLst/>
          </a:prstGeom>
          <a:solidFill>
            <a:srgbClr val="FFFF00"/>
          </a:solidFill>
          <a:ln w="19050">
            <a:noFill/>
          </a:ln>
          <a:effectLst>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spAutoFit/>
          </a:bodyPr>
          <a:lstStyle/>
          <a:p>
            <a:r>
              <a:rPr lang="zh-CN" altLang="zh-CN" sz="2800" kern="100" dirty="0">
                <a:solidFill>
                  <a:schemeClr val="tx1"/>
                </a:solidFill>
                <a:cs typeface="Times New Roman" panose="02020603050405020304" pitchFamily="18" charset="0"/>
              </a:rPr>
              <a:t>机器学习的任务</a:t>
            </a:r>
            <a:endParaRPr lang="zh-CN" altLang="en-US" sz="2800" dirty="0">
              <a:solidFill>
                <a:schemeClr val="tx1"/>
              </a:solidFill>
            </a:endParaRPr>
          </a:p>
        </p:txBody>
      </p:sp>
      <p:sp>
        <p:nvSpPr>
          <p:cNvPr id="6" name="矩形 5"/>
          <p:cNvSpPr/>
          <p:nvPr/>
        </p:nvSpPr>
        <p:spPr>
          <a:xfrm>
            <a:off x="6384793" y="3082317"/>
            <a:ext cx="800219" cy="461665"/>
          </a:xfrm>
          <a:prstGeom prst="rect">
            <a:avLst/>
          </a:prstGeom>
          <a:solidFill>
            <a:srgbClr val="FFFF99"/>
          </a:solidFill>
          <a:ln w="19050">
            <a:noFill/>
          </a:ln>
          <a:effectLst>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spAutoFit/>
          </a:bodyPr>
          <a:lstStyle/>
          <a:p>
            <a:r>
              <a:rPr lang="zh-CN" altLang="zh-CN" sz="2400" kern="100" dirty="0">
                <a:solidFill>
                  <a:schemeClr val="tx1"/>
                </a:solidFill>
                <a:cs typeface="Times New Roman" panose="02020603050405020304" pitchFamily="18" charset="0"/>
              </a:rPr>
              <a:t>回归</a:t>
            </a:r>
            <a:endParaRPr lang="zh-CN" altLang="en-US" sz="2400" kern="100" dirty="0">
              <a:solidFill>
                <a:schemeClr val="tx1"/>
              </a:solidFill>
              <a:cs typeface="Times New Roman" panose="02020603050405020304" pitchFamily="18" charset="0"/>
            </a:endParaRPr>
          </a:p>
        </p:txBody>
      </p:sp>
      <p:sp>
        <p:nvSpPr>
          <p:cNvPr id="7" name="矩形 6"/>
          <p:cNvSpPr/>
          <p:nvPr/>
        </p:nvSpPr>
        <p:spPr>
          <a:xfrm>
            <a:off x="6401727" y="2001915"/>
            <a:ext cx="800219" cy="461665"/>
          </a:xfrm>
          <a:prstGeom prst="rect">
            <a:avLst/>
          </a:prstGeom>
          <a:solidFill>
            <a:srgbClr val="FFFF99"/>
          </a:solidFill>
          <a:ln w="19050">
            <a:noFill/>
          </a:ln>
          <a:effectLst>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spAutoFit/>
          </a:bodyPr>
          <a:lstStyle/>
          <a:p>
            <a:r>
              <a:rPr lang="zh-CN" altLang="zh-CN" sz="2400" kern="100" dirty="0">
                <a:solidFill>
                  <a:schemeClr val="tx1"/>
                </a:solidFill>
                <a:cs typeface="Times New Roman" panose="02020603050405020304" pitchFamily="18" charset="0"/>
              </a:rPr>
              <a:t>分类</a:t>
            </a:r>
            <a:endParaRPr lang="zh-CN" altLang="en-US" sz="2400" kern="100" dirty="0">
              <a:solidFill>
                <a:schemeClr val="tx1"/>
              </a:solidFill>
              <a:cs typeface="Times New Roman" panose="02020603050405020304" pitchFamily="18" charset="0"/>
            </a:endParaRPr>
          </a:p>
        </p:txBody>
      </p:sp>
      <p:sp>
        <p:nvSpPr>
          <p:cNvPr id="8" name="矩形 7"/>
          <p:cNvSpPr/>
          <p:nvPr/>
        </p:nvSpPr>
        <p:spPr>
          <a:xfrm>
            <a:off x="6403676" y="3967966"/>
            <a:ext cx="800219" cy="461665"/>
          </a:xfrm>
          <a:prstGeom prst="rect">
            <a:avLst/>
          </a:prstGeom>
          <a:solidFill>
            <a:srgbClr val="FFFF99"/>
          </a:solidFill>
          <a:ln w="19050">
            <a:noFill/>
          </a:ln>
          <a:effectLst>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spAutoFit/>
          </a:bodyPr>
          <a:lstStyle/>
          <a:p>
            <a:r>
              <a:rPr lang="zh-CN" altLang="zh-CN" sz="2400" kern="100" dirty="0">
                <a:solidFill>
                  <a:schemeClr val="tx1"/>
                </a:solidFill>
                <a:cs typeface="Times New Roman" panose="02020603050405020304" pitchFamily="18" charset="0"/>
              </a:rPr>
              <a:t>聚类</a:t>
            </a:r>
            <a:endParaRPr lang="zh-CN" altLang="en-US" sz="2400" kern="100" dirty="0">
              <a:solidFill>
                <a:schemeClr val="tx1"/>
              </a:solidFill>
              <a:cs typeface="Times New Roman" panose="02020603050405020304" pitchFamily="18" charset="0"/>
            </a:endParaRPr>
          </a:p>
        </p:txBody>
      </p:sp>
      <p:grpSp>
        <p:nvGrpSpPr>
          <p:cNvPr id="16" name="组合 15"/>
          <p:cNvGrpSpPr/>
          <p:nvPr/>
        </p:nvGrpSpPr>
        <p:grpSpPr>
          <a:xfrm>
            <a:off x="4366136" y="2613098"/>
            <a:ext cx="1915783" cy="1241647"/>
            <a:chOff x="6166361" y="2613098"/>
            <a:chExt cx="1915783" cy="1241647"/>
          </a:xfrm>
        </p:grpSpPr>
        <p:sp>
          <p:nvSpPr>
            <p:cNvPr id="11" name="箭头: 右 10"/>
            <p:cNvSpPr/>
            <p:nvPr/>
          </p:nvSpPr>
          <p:spPr bwMode="auto">
            <a:xfrm rot="19408838">
              <a:off x="6166361" y="2613098"/>
              <a:ext cx="1915783" cy="165002"/>
            </a:xfrm>
            <a:prstGeom prst="rightArrow">
              <a:avLst/>
            </a:prstGeom>
            <a:solidFill>
              <a:srgbClr val="FF0000"/>
            </a:solidFill>
            <a:ln>
              <a:no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9" name="箭头: 右 18"/>
            <p:cNvSpPr/>
            <p:nvPr/>
          </p:nvSpPr>
          <p:spPr bwMode="auto">
            <a:xfrm>
              <a:off x="6387509" y="3189429"/>
              <a:ext cx="1539307" cy="165002"/>
            </a:xfrm>
            <a:prstGeom prst="rightArrow">
              <a:avLst/>
            </a:prstGeom>
            <a:solidFill>
              <a:srgbClr val="FF0000"/>
            </a:solidFill>
            <a:ln>
              <a:no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0" name="箭头: 右 19"/>
            <p:cNvSpPr/>
            <p:nvPr/>
          </p:nvSpPr>
          <p:spPr bwMode="auto">
            <a:xfrm rot="1896171">
              <a:off x="6196417" y="3689743"/>
              <a:ext cx="1834375" cy="165002"/>
            </a:xfrm>
            <a:prstGeom prst="rightArrow">
              <a:avLst/>
            </a:prstGeom>
            <a:solidFill>
              <a:srgbClr val="FF0000"/>
            </a:solidFill>
            <a:ln>
              <a:no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14" name="右大括号 13"/>
          <p:cNvSpPr/>
          <p:nvPr/>
        </p:nvSpPr>
        <p:spPr bwMode="auto">
          <a:xfrm rot="5400000">
            <a:off x="4210611" y="1559485"/>
            <a:ext cx="432048" cy="6561847"/>
          </a:xfrm>
          <a:prstGeom prst="rightBrace">
            <a:avLst/>
          </a:prstGeom>
          <a:noFill/>
          <a:ln w="28575" cap="flat" cmpd="sng" algn="ctr">
            <a:solidFill>
              <a:srgbClr val="00B0F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5" name="矩形 14"/>
          <p:cNvSpPr/>
          <p:nvPr/>
        </p:nvSpPr>
        <p:spPr>
          <a:xfrm>
            <a:off x="3022124" y="5188631"/>
            <a:ext cx="2954655" cy="461665"/>
          </a:xfrm>
          <a:prstGeom prst="rect">
            <a:avLst/>
          </a:prstGeom>
        </p:spPr>
        <p:txBody>
          <a:bodyPr wrap="none">
            <a:spAutoFit/>
          </a:bodyPr>
          <a:lstStyle/>
          <a:p>
            <a:r>
              <a:rPr lang="zh-CN" altLang="zh-CN" sz="2400" kern="100" dirty="0">
                <a:solidFill>
                  <a:schemeClr val="tx1"/>
                </a:solidFill>
                <a:cs typeface="Times New Roman" panose="02020603050405020304" pitchFamily="18" charset="0"/>
              </a:rPr>
              <a:t>所要解决的问题</a:t>
            </a:r>
            <a:r>
              <a:rPr lang="zh-CN" altLang="en-US" sz="2400" kern="100" dirty="0">
                <a:solidFill>
                  <a:schemeClr val="tx1"/>
                </a:solidFill>
                <a:cs typeface="Times New Roman" panose="02020603050405020304" pitchFamily="18" charset="0"/>
              </a:rPr>
              <a:t>不同</a:t>
            </a:r>
            <a:endParaRPr lang="zh-CN" altLang="en-US" sz="2400" dirty="0">
              <a:solidFill>
                <a:schemeClr val="tx1"/>
              </a:solidFill>
            </a:endParaRPr>
          </a:p>
        </p:txBody>
      </p:sp>
      <p:sp>
        <p:nvSpPr>
          <p:cNvPr id="13" name="矩形 12"/>
          <p:cNvSpPr/>
          <p:nvPr/>
        </p:nvSpPr>
        <p:spPr>
          <a:xfrm>
            <a:off x="7966346" y="1787010"/>
            <a:ext cx="3501467" cy="2523768"/>
          </a:xfrm>
          <a:prstGeom prst="rect">
            <a:avLst/>
          </a:prstGeom>
        </p:spPr>
        <p:txBody>
          <a:bodyPr wrap="square">
            <a:spAutoFit/>
          </a:bodyPr>
          <a:lstStyle/>
          <a:p>
            <a:pPr algn="just"/>
            <a:r>
              <a:rPr lang="zh-CN" altLang="zh-CN" sz="2800" b="1" kern="100" dirty="0">
                <a:solidFill>
                  <a:srgbClr val="008A3E"/>
                </a:solidFill>
                <a:latin typeface="宋体" panose="02010600030101010101" pitchFamily="2" charset="-122"/>
                <a:ea typeface="宋体" panose="02010600030101010101" pitchFamily="2" charset="-122"/>
                <a:cs typeface="Times New Roman" panose="02020603050405020304" pitchFamily="18" charset="0"/>
              </a:rPr>
              <a:t>聚类</a:t>
            </a:r>
            <a:r>
              <a:rPr lang="zh-CN" altLang="zh-CN" sz="2800" kern="100" dirty="0">
                <a:latin typeface="宋体" panose="02010600030101010101" pitchFamily="2" charset="-122"/>
                <a:ea typeface="宋体" panose="02010600030101010101" pitchFamily="2" charset="-122"/>
                <a:cs typeface="Times New Roman" panose="02020603050405020304" pitchFamily="18" charset="0"/>
              </a:rPr>
              <a:t>任务的先验信息为示例，即</a:t>
            </a:r>
            <a:r>
              <a:rPr lang="zh-CN" altLang="zh-CN" sz="2800" b="1" kern="100" dirty="0">
                <a:latin typeface="宋体" panose="02010600030101010101" pitchFamily="2" charset="-122"/>
                <a:ea typeface="宋体" panose="02010600030101010101" pitchFamily="2" charset="-122"/>
                <a:cs typeface="Times New Roman" panose="02020603050405020304" pitchFamily="18" charset="0"/>
              </a:rPr>
              <a:t>不带标注</a:t>
            </a:r>
            <a:r>
              <a:rPr lang="zh-CN" altLang="zh-CN" sz="2800" kern="100" dirty="0">
                <a:latin typeface="宋体" panose="02010600030101010101" pitchFamily="2" charset="-122"/>
                <a:ea typeface="宋体" panose="02010600030101010101" pitchFamily="2" charset="-122"/>
                <a:cs typeface="Times New Roman" panose="02020603050405020304" pitchFamily="18" charset="0"/>
              </a:rPr>
              <a:t>的样本</a:t>
            </a:r>
            <a:r>
              <a:rPr lang="zh-CN" altLang="en-US" sz="28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800" kern="100" dirty="0">
                <a:latin typeface="宋体" panose="02010600030101010101" pitchFamily="2" charset="-122"/>
                <a:ea typeface="宋体" panose="02010600030101010101" pitchFamily="2" charset="-122"/>
                <a:cs typeface="Times New Roman" panose="02020603050405020304" pitchFamily="18" charset="0"/>
              </a:rPr>
              <a:t>而回归和分类任务的先验信息均为</a:t>
            </a:r>
            <a:r>
              <a:rPr lang="zh-CN" altLang="zh-CN" sz="2800" b="1" kern="100" dirty="0">
                <a:latin typeface="宋体" panose="02010600030101010101" pitchFamily="2" charset="-122"/>
                <a:ea typeface="宋体" panose="02010600030101010101" pitchFamily="2" charset="-122"/>
                <a:cs typeface="Times New Roman" panose="02020603050405020304" pitchFamily="18" charset="0"/>
              </a:rPr>
              <a:t>带标注</a:t>
            </a:r>
            <a:r>
              <a:rPr lang="zh-CN" altLang="zh-CN" sz="2800" kern="100" dirty="0">
                <a:latin typeface="宋体" panose="02010600030101010101" pitchFamily="2" charset="-122"/>
                <a:ea typeface="宋体" panose="02010600030101010101" pitchFamily="2" charset="-122"/>
                <a:cs typeface="Times New Roman" panose="02020603050405020304" pitchFamily="18" charset="0"/>
              </a:rPr>
              <a:t>的样本。</a:t>
            </a:r>
            <a:endParaRPr lang="zh-CN" altLang="en-US" sz="2800" dirty="0">
              <a:latin typeface="宋体" panose="02010600030101010101" pitchFamily="2" charset="-122"/>
              <a:ea typeface="宋体" panose="02010600030101010101" pitchFamily="2" charset="-122"/>
            </a:endParaRPr>
          </a:p>
          <a:p>
            <a:pPr algn="just"/>
            <a:endParaRPr lang="zh-CN" altLang="en-US" dirty="0"/>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0" y="0"/>
            <a:ext cx="8449733" cy="769441"/>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spcBef>
                <a:spcPct val="50000"/>
              </a:spcBef>
              <a:buClr>
                <a:schemeClr val="bg1"/>
              </a:buClr>
            </a:pPr>
            <a:r>
              <a:rPr kumimoji="1" lang="zh-CN" altLang="en-US" sz="4400" b="1" dirty="0">
                <a:solidFill>
                  <a:schemeClr val="bg1"/>
                </a:solidFill>
                <a:latin typeface="宋体" panose="02010600030101010101" pitchFamily="2" charset="-122"/>
                <a:ea typeface="宋体" panose="02010600030101010101" pitchFamily="2" charset="-122"/>
                <a:cs typeface="楷体_GB2312" pitchFamily="49" charset="-122"/>
              </a:rPr>
              <a:t>二、机器学习术语</a:t>
            </a:r>
            <a:endParaRPr kumimoji="1" lang="zh-CN" altLang="en-US" sz="4400" b="1" dirty="0">
              <a:solidFill>
                <a:schemeClr val="tx1"/>
              </a:solidFill>
              <a:latin typeface="楷体_GB2312" pitchFamily="49" charset="-122"/>
              <a:ea typeface="宋体" panose="02010600030101010101" pitchFamily="2" charset="-122"/>
              <a:cs typeface="楷体_GB2312" pitchFamily="49" charset="-122"/>
            </a:endParaRPr>
          </a:p>
        </p:txBody>
      </p:sp>
      <p:sp>
        <p:nvSpPr>
          <p:cNvPr id="2" name="矩形 1"/>
          <p:cNvSpPr/>
          <p:nvPr/>
        </p:nvSpPr>
        <p:spPr>
          <a:xfrm>
            <a:off x="306236" y="1598561"/>
            <a:ext cx="11458574" cy="2031325"/>
          </a:xfrm>
          <a:prstGeom prst="rect">
            <a:avLst/>
          </a:prstGeom>
        </p:spPr>
        <p:txBody>
          <a:bodyPr wrap="square">
            <a:spAutoFit/>
          </a:bodyPr>
          <a:lstStyle/>
          <a:p>
            <a:pPr indent="612140" algn="just">
              <a:lnSpc>
                <a:spcPct val="150000"/>
              </a:lnSpc>
            </a:pPr>
            <a:r>
              <a:rPr lang="en-US" altLang="zh-CN" sz="2800" kern="100" dirty="0">
                <a:latin typeface="+mn-ea"/>
                <a:ea typeface="+mn-ea"/>
                <a:cs typeface="Times New Roman" panose="02020603050405020304" pitchFamily="18" charset="0"/>
              </a:rPr>
              <a:t> </a:t>
            </a:r>
            <a:r>
              <a:rPr lang="zh-CN" altLang="en-US" sz="2800" b="1" kern="100" dirty="0">
                <a:solidFill>
                  <a:srgbClr val="008A3E"/>
                </a:solidFill>
                <a:latin typeface="+mn-ea"/>
                <a:ea typeface="+mn-ea"/>
                <a:cs typeface="Times New Roman" panose="02020603050405020304" pitchFamily="18" charset="0"/>
              </a:rPr>
              <a:t>输入空间：</a:t>
            </a:r>
            <a:r>
              <a:rPr lang="zh-CN" altLang="zh-CN" sz="2800" kern="100" dirty="0">
                <a:solidFill>
                  <a:schemeClr val="tx1"/>
                </a:solidFill>
                <a:cs typeface="Times New Roman" panose="02020603050405020304" pitchFamily="18" charset="0"/>
              </a:rPr>
              <a:t>对于一个具体的回归或分类任务，所有可能的模型输入数据组成的集合称为</a:t>
            </a:r>
            <a:r>
              <a:rPr lang="zh-CN" altLang="zh-CN" sz="2800" kern="100" dirty="0">
                <a:solidFill>
                  <a:srgbClr val="0000FF"/>
                </a:solidFill>
                <a:cs typeface="Times New Roman" panose="02020603050405020304" pitchFamily="18" charset="0"/>
              </a:rPr>
              <a:t>输入空间</a:t>
            </a:r>
            <a:endParaRPr lang="en-US" altLang="zh-CN" sz="2800" kern="100" dirty="0">
              <a:solidFill>
                <a:schemeClr val="tx1"/>
              </a:solidFill>
              <a:cs typeface="Times New Roman" panose="02020603050405020304" pitchFamily="18" charset="0"/>
            </a:endParaRPr>
          </a:p>
          <a:p>
            <a:pPr indent="612140" algn="just">
              <a:lnSpc>
                <a:spcPct val="150000"/>
              </a:lnSpc>
            </a:pPr>
            <a:r>
              <a:rPr lang="zh-CN" altLang="en-US" sz="2800" b="1" kern="100" dirty="0">
                <a:solidFill>
                  <a:srgbClr val="008A3E"/>
                </a:solidFill>
                <a:latin typeface="+mn-ea"/>
                <a:cs typeface="Times New Roman" panose="02020603050405020304" pitchFamily="18" charset="0"/>
              </a:rPr>
              <a:t>输出空间：</a:t>
            </a:r>
            <a:r>
              <a:rPr lang="zh-CN" altLang="zh-CN" sz="2800" kern="100" dirty="0">
                <a:solidFill>
                  <a:schemeClr val="tx1"/>
                </a:solidFill>
                <a:cs typeface="Times New Roman" panose="02020603050405020304" pitchFamily="18" charset="0"/>
              </a:rPr>
              <a:t>所有可能的模型输出数据构成的集合称为</a:t>
            </a:r>
            <a:r>
              <a:rPr lang="zh-CN" altLang="zh-CN" sz="2800" kern="100" dirty="0">
                <a:solidFill>
                  <a:srgbClr val="0000FF"/>
                </a:solidFill>
                <a:cs typeface="Times New Roman" panose="02020603050405020304" pitchFamily="18" charset="0"/>
              </a:rPr>
              <a:t>输出空间</a:t>
            </a:r>
            <a:r>
              <a:rPr lang="zh-CN" altLang="zh-CN" sz="2800" kern="100" dirty="0">
                <a:solidFill>
                  <a:schemeClr val="tx1"/>
                </a:solidFill>
                <a:cs typeface="Times New Roman" panose="02020603050405020304" pitchFamily="18" charset="0"/>
              </a:rPr>
              <a:t>。</a:t>
            </a:r>
            <a:endParaRPr lang="zh-CN" altLang="en-US" sz="2800" kern="100" dirty="0">
              <a:solidFill>
                <a:schemeClr val="tx1"/>
              </a:solidFill>
              <a:cs typeface="Times New Roman" panose="02020603050405020304" pitchFamily="18" charset="0"/>
            </a:endParaRPr>
          </a:p>
        </p:txBody>
      </p:sp>
      <p:sp>
        <p:nvSpPr>
          <p:cNvPr id="6" name="文本框 5"/>
          <p:cNvSpPr txBox="1"/>
          <p:nvPr/>
        </p:nvSpPr>
        <p:spPr>
          <a:xfrm>
            <a:off x="689417" y="3629886"/>
            <a:ext cx="11287124" cy="2608856"/>
          </a:xfrm>
          <a:prstGeom prst="rect">
            <a:avLst/>
          </a:prstGeom>
          <a:noFill/>
        </p:spPr>
        <p:txBody>
          <a:bodyPr wrap="square" rtlCol="0">
            <a:spAutoFit/>
          </a:bodyPr>
          <a:lstStyle/>
          <a:p>
            <a:pPr>
              <a:lnSpc>
                <a:spcPct val="150000"/>
              </a:lnSpc>
            </a:pPr>
            <a:r>
              <a:rPr lang="en-US" altLang="zh-CN" sz="2800" kern="100" dirty="0">
                <a:latin typeface="+mn-ea"/>
                <a:ea typeface="+mn-ea"/>
                <a:cs typeface="Times New Roman" panose="02020603050405020304" pitchFamily="18" charset="0"/>
              </a:rPr>
              <a:t>       </a:t>
            </a:r>
            <a:r>
              <a:rPr lang="zh-CN" altLang="zh-CN" sz="2800" kern="100" dirty="0">
                <a:solidFill>
                  <a:schemeClr val="tx1"/>
                </a:solidFill>
                <a:cs typeface="Times New Roman" panose="02020603050405020304" pitchFamily="18" charset="0"/>
              </a:rPr>
              <a:t>回归或分类机器学习任务的本质就是寻找一个从输入空间到输出空间的映射，并将该映射作为预测模型。</a:t>
            </a:r>
            <a:endParaRPr lang="en-US" altLang="zh-CN" sz="2800" kern="100" dirty="0">
              <a:solidFill>
                <a:schemeClr val="tx1"/>
              </a:solidFill>
              <a:cs typeface="Times New Roman" panose="02020603050405020304" pitchFamily="18" charset="0"/>
            </a:endParaRPr>
          </a:p>
          <a:p>
            <a:pPr>
              <a:lnSpc>
                <a:spcPct val="150000"/>
              </a:lnSpc>
            </a:pPr>
            <a:r>
              <a:rPr lang="en-US" altLang="zh-CN" sz="2800" kern="100" dirty="0">
                <a:cs typeface="Times New Roman" panose="02020603050405020304" pitchFamily="18" charset="0"/>
              </a:rPr>
              <a:t>         </a:t>
            </a:r>
            <a:r>
              <a:rPr lang="zh-CN" altLang="zh-CN" sz="2800" kern="100" dirty="0">
                <a:cs typeface="Times New Roman" panose="02020603050405020304" pitchFamily="18" charset="0"/>
              </a:rPr>
              <a:t>满足条件的映射通常不止一个，此时需要对多个满足条件的映射做出选择。</a:t>
            </a:r>
            <a:endParaRPr lang="zh-CN" altLang="en-US" sz="2800" kern="100" dirty="0">
              <a:cs typeface="Times New Roman" panose="02020603050405020304" pitchFamily="18" charset="0"/>
            </a:endParaRPr>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6264" y="821202"/>
            <a:ext cx="10382881" cy="1384995"/>
          </a:xfrm>
          <a:prstGeom prst="rect">
            <a:avLst/>
          </a:prstGeom>
        </p:spPr>
        <p:txBody>
          <a:bodyPr wrap="square">
            <a:spAutoFit/>
          </a:bodyPr>
          <a:lstStyle/>
          <a:p>
            <a:pPr indent="612140">
              <a:lnSpc>
                <a:spcPct val="150000"/>
              </a:lnSpc>
            </a:pPr>
            <a:r>
              <a:rPr lang="zh-CN" altLang="en-US" sz="2800" kern="100" dirty="0">
                <a:solidFill>
                  <a:schemeClr val="tx1"/>
                </a:solidFill>
                <a:cs typeface="Times New Roman" panose="02020603050405020304" pitchFamily="18" charset="0"/>
              </a:rPr>
              <a:t>机器学习</a:t>
            </a:r>
            <a:r>
              <a:rPr lang="zh-CN" altLang="zh-CN" sz="2800" kern="100" dirty="0">
                <a:solidFill>
                  <a:schemeClr val="tx1"/>
                </a:solidFill>
                <a:cs typeface="Times New Roman" panose="02020603050405020304" pitchFamily="18" charset="0"/>
              </a:rPr>
              <a:t>模型的输出结果与其对应的真实值之间往往会存在一定的差异，</a:t>
            </a:r>
            <a:r>
              <a:rPr lang="zh-CN" altLang="zh-CN" sz="2800" dirty="0">
                <a:solidFill>
                  <a:schemeClr val="tx1"/>
                </a:solidFill>
              </a:rPr>
              <a:t>这种差异</a:t>
            </a:r>
            <a:r>
              <a:rPr lang="zh-CN" altLang="en-US" sz="2800" kern="100" dirty="0">
                <a:solidFill>
                  <a:schemeClr val="tx1"/>
                </a:solidFill>
                <a:cs typeface="Times New Roman" panose="02020603050405020304" pitchFamily="18" charset="0"/>
              </a:rPr>
              <a:t>被</a:t>
            </a:r>
            <a:r>
              <a:rPr lang="zh-CN" altLang="zh-CN" sz="2800" kern="100" dirty="0">
                <a:solidFill>
                  <a:schemeClr val="tx1"/>
                </a:solidFill>
                <a:cs typeface="Times New Roman" panose="02020603050405020304" pitchFamily="18" charset="0"/>
              </a:rPr>
              <a:t>称为模型的</a:t>
            </a:r>
            <a:r>
              <a:rPr lang="zh-CN" altLang="zh-CN" sz="2800" kern="100" dirty="0">
                <a:solidFill>
                  <a:srgbClr val="0000FF"/>
                </a:solidFill>
                <a:cs typeface="Times New Roman" panose="02020603050405020304" pitchFamily="18" charset="0"/>
              </a:rPr>
              <a:t>输出误差</a:t>
            </a:r>
            <a:r>
              <a:rPr lang="zh-CN" altLang="zh-CN" sz="2800" kern="100" dirty="0">
                <a:solidFill>
                  <a:schemeClr val="tx1"/>
                </a:solidFill>
                <a:cs typeface="Times New Roman" panose="02020603050405020304" pitchFamily="18" charset="0"/>
              </a:rPr>
              <a:t>，简称为</a:t>
            </a:r>
            <a:r>
              <a:rPr lang="zh-CN" altLang="zh-CN" sz="2800" kern="100" dirty="0">
                <a:solidFill>
                  <a:srgbClr val="0000FF"/>
                </a:solidFill>
                <a:cs typeface="Times New Roman" panose="02020603050405020304" pitchFamily="18" charset="0"/>
              </a:rPr>
              <a:t>误差</a:t>
            </a:r>
            <a:r>
              <a:rPr lang="zh-CN" altLang="zh-CN" sz="2800" kern="100" dirty="0">
                <a:solidFill>
                  <a:schemeClr val="tx1"/>
                </a:solidFill>
                <a:cs typeface="Times New Roman" panose="02020603050405020304" pitchFamily="18" charset="0"/>
              </a:rPr>
              <a:t>。</a:t>
            </a:r>
            <a:endParaRPr lang="zh-CN" altLang="en-US" sz="2800" dirty="0">
              <a:solidFill>
                <a:schemeClr val="tx1"/>
              </a:solidFill>
            </a:endParaRPr>
          </a:p>
        </p:txBody>
      </p:sp>
      <p:sp>
        <p:nvSpPr>
          <p:cNvPr id="8" name="矩形 7"/>
          <p:cNvSpPr/>
          <p:nvPr/>
        </p:nvSpPr>
        <p:spPr>
          <a:xfrm>
            <a:off x="1602515" y="2467901"/>
            <a:ext cx="7344816" cy="1316194"/>
          </a:xfrm>
          <a:prstGeom prst="rect">
            <a:avLst/>
          </a:prstGeom>
        </p:spPr>
        <p:txBody>
          <a:bodyPr wrap="square">
            <a:spAutoFit/>
          </a:bodyPr>
          <a:lstStyle/>
          <a:p>
            <a:pPr>
              <a:lnSpc>
                <a:spcPct val="150000"/>
              </a:lnSpc>
            </a:pPr>
            <a:r>
              <a:rPr lang="zh-CN" altLang="zh-CN" sz="2800" kern="100" dirty="0">
                <a:solidFill>
                  <a:srgbClr val="0000FF"/>
                </a:solidFill>
                <a:cs typeface="Times New Roman" panose="02020603050405020304" pitchFamily="18" charset="0"/>
              </a:rPr>
              <a:t>训练误差</a:t>
            </a:r>
            <a:r>
              <a:rPr lang="zh-CN" altLang="en-US" sz="2800" kern="100" dirty="0">
                <a:solidFill>
                  <a:schemeClr val="tx1"/>
                </a:solidFill>
                <a:cs typeface="Times New Roman" panose="02020603050405020304" pitchFamily="18" charset="0"/>
              </a:rPr>
              <a:t>或称</a:t>
            </a:r>
            <a:r>
              <a:rPr lang="zh-CN" altLang="zh-CN" sz="2800" kern="100" dirty="0">
                <a:solidFill>
                  <a:srgbClr val="0000FF"/>
                </a:solidFill>
                <a:cs typeface="Times New Roman" panose="02020603050405020304" pitchFamily="18" charset="0"/>
              </a:rPr>
              <a:t>经验风险</a:t>
            </a:r>
            <a:endParaRPr lang="en-US" altLang="zh-CN" sz="2800" kern="100" dirty="0">
              <a:solidFill>
                <a:srgbClr val="0000FF"/>
              </a:solidFill>
              <a:cs typeface="Times New Roman" panose="02020603050405020304" pitchFamily="18" charset="0"/>
            </a:endParaRPr>
          </a:p>
          <a:p>
            <a:pPr>
              <a:lnSpc>
                <a:spcPct val="150000"/>
              </a:lnSpc>
            </a:pPr>
            <a:r>
              <a:rPr lang="en-US" altLang="zh-CN" sz="2800" kern="100" dirty="0">
                <a:cs typeface="Times New Roman" panose="02020603050405020304" pitchFamily="18" charset="0"/>
              </a:rPr>
              <a:t>       </a:t>
            </a:r>
            <a:r>
              <a:rPr lang="en-US" altLang="zh-CN" sz="2800" kern="100" dirty="0">
                <a:solidFill>
                  <a:schemeClr val="tx1"/>
                </a:solidFill>
                <a:cs typeface="Times New Roman" panose="02020603050405020304" pitchFamily="18" charset="0"/>
              </a:rPr>
              <a:t>——</a:t>
            </a:r>
            <a:r>
              <a:rPr lang="zh-CN" altLang="zh-CN" sz="2800" kern="100" dirty="0">
                <a:solidFill>
                  <a:schemeClr val="tx1"/>
                </a:solidFill>
                <a:cs typeface="Times New Roman" panose="02020603050405020304" pitchFamily="18" charset="0"/>
              </a:rPr>
              <a:t>指模型在训练样本集上的整体误差</a:t>
            </a:r>
            <a:endParaRPr lang="zh-CN" altLang="en-US" sz="2800" dirty="0">
              <a:solidFill>
                <a:schemeClr val="tx1"/>
              </a:solidFill>
            </a:endParaRPr>
          </a:p>
        </p:txBody>
      </p:sp>
      <p:sp>
        <p:nvSpPr>
          <p:cNvPr id="9" name="矩形 8"/>
          <p:cNvSpPr/>
          <p:nvPr/>
        </p:nvSpPr>
        <p:spPr>
          <a:xfrm>
            <a:off x="1602515" y="4137972"/>
            <a:ext cx="7131000" cy="1661993"/>
          </a:xfrm>
          <a:prstGeom prst="rect">
            <a:avLst/>
          </a:prstGeom>
        </p:spPr>
        <p:txBody>
          <a:bodyPr wrap="square">
            <a:spAutoFit/>
          </a:bodyPr>
          <a:lstStyle/>
          <a:p>
            <a:pPr>
              <a:lnSpc>
                <a:spcPct val="150000"/>
              </a:lnSpc>
            </a:pPr>
            <a:r>
              <a:rPr lang="zh-CN" altLang="zh-CN" sz="2800" kern="100" dirty="0">
                <a:solidFill>
                  <a:srgbClr val="0000FF"/>
                </a:solidFill>
                <a:cs typeface="Times New Roman" panose="02020603050405020304" pitchFamily="18" charset="0"/>
              </a:rPr>
              <a:t>测试误差</a:t>
            </a:r>
            <a:endParaRPr lang="en-US" altLang="zh-CN" sz="2800" kern="100" dirty="0">
              <a:solidFill>
                <a:srgbClr val="0000FF"/>
              </a:solidFill>
              <a:cs typeface="Times New Roman" panose="02020603050405020304" pitchFamily="18" charset="0"/>
            </a:endParaRPr>
          </a:p>
          <a:p>
            <a:pPr>
              <a:lnSpc>
                <a:spcPct val="150000"/>
              </a:lnSpc>
            </a:pPr>
            <a:r>
              <a:rPr lang="en-US" altLang="zh-CN" sz="2800" kern="100" dirty="0">
                <a:solidFill>
                  <a:srgbClr val="0000FF"/>
                </a:solidFill>
                <a:cs typeface="Times New Roman" panose="02020603050405020304" pitchFamily="18" charset="0"/>
              </a:rPr>
              <a:t>      </a:t>
            </a:r>
            <a:r>
              <a:rPr lang="en-US" altLang="zh-CN" sz="2800" kern="100" dirty="0">
                <a:solidFill>
                  <a:schemeClr val="tx1"/>
                </a:solidFill>
                <a:cs typeface="Times New Roman" panose="02020603050405020304" pitchFamily="18" charset="0"/>
              </a:rPr>
              <a:t>——</a:t>
            </a:r>
            <a:r>
              <a:rPr lang="zh-CN" altLang="zh-CN" sz="2800" kern="100" dirty="0">
                <a:solidFill>
                  <a:schemeClr val="tx1"/>
                </a:solidFill>
                <a:cs typeface="Times New Roman" panose="02020603050405020304" pitchFamily="18" charset="0"/>
              </a:rPr>
              <a:t>模型在测试样本集上的整体误差</a:t>
            </a:r>
            <a:endParaRPr lang="zh-CN" altLang="en-US" sz="2800" dirty="0"/>
          </a:p>
          <a:p>
            <a:endParaRPr lang="en-US" altLang="zh-CN" kern="100" dirty="0">
              <a:solidFill>
                <a:srgbClr val="0000FF"/>
              </a:solidFill>
              <a:cs typeface="Times New Roman" panose="02020603050405020304" pitchFamily="18" charset="0"/>
            </a:endParaRPr>
          </a:p>
        </p:txBody>
      </p:sp>
    </p:spTree>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540809" y="3500438"/>
            <a:ext cx="10632015" cy="3086100"/>
          </a:xfrm>
        </p:spPr>
        <p:txBody>
          <a:bodyPr/>
          <a:lstStyle/>
          <a:p>
            <a:pPr indent="0">
              <a:lnSpc>
                <a:spcPct val="200000"/>
              </a:lnSpc>
            </a:pPr>
            <a:r>
              <a:rPr lang="zh-CN" altLang="en-US" b="1" dirty="0">
                <a:solidFill>
                  <a:srgbClr val="008A3E"/>
                </a:solidFill>
              </a:rPr>
              <a:t>过拟合：</a:t>
            </a:r>
            <a:r>
              <a:rPr lang="zh-CN" altLang="zh-CN" dirty="0"/>
              <a:t>同时拟合训练样本的共性特征和个性特征</a:t>
            </a:r>
            <a:endParaRPr lang="en-US" altLang="zh-CN" dirty="0"/>
          </a:p>
          <a:p>
            <a:pPr indent="0">
              <a:lnSpc>
                <a:spcPct val="150000"/>
              </a:lnSpc>
            </a:pPr>
            <a:r>
              <a:rPr lang="zh-CN" altLang="en-US" b="1" dirty="0">
                <a:solidFill>
                  <a:srgbClr val="008A3E"/>
                </a:solidFill>
              </a:rPr>
              <a:t>欠拟合</a:t>
            </a:r>
            <a:r>
              <a:rPr lang="zh-CN" altLang="en-US" dirty="0"/>
              <a:t>：</a:t>
            </a:r>
            <a:r>
              <a:rPr lang="zh-CN" altLang="zh-CN" dirty="0"/>
              <a:t>未能充分拟合训练样本共性特征造成模型泛化误差较大而导致模型泛化能力较弱</a:t>
            </a:r>
            <a:endParaRPr lang="zh-CN" altLang="en-US" dirty="0"/>
          </a:p>
        </p:txBody>
      </p:sp>
      <p:sp>
        <p:nvSpPr>
          <p:cNvPr id="4" name="内容占位符 3"/>
          <p:cNvSpPr>
            <a:spLocks noGrp="1"/>
          </p:cNvSpPr>
          <p:nvPr>
            <p:ph sz="half" idx="2"/>
          </p:nvPr>
        </p:nvSpPr>
        <p:spPr>
          <a:xfrm>
            <a:off x="285751" y="989014"/>
            <a:ext cx="11172825" cy="2097088"/>
          </a:xfrm>
        </p:spPr>
        <p:txBody>
          <a:bodyPr/>
          <a:lstStyle/>
          <a:p>
            <a:pPr marL="685800" indent="-457200"/>
            <a:r>
              <a:rPr lang="zh-CN" altLang="en-US" b="1" dirty="0">
                <a:solidFill>
                  <a:srgbClr val="008A3E"/>
                </a:solidFill>
              </a:rPr>
              <a:t>泛化</a:t>
            </a:r>
            <a:endParaRPr lang="en-US" altLang="zh-CN" b="1" dirty="0">
              <a:solidFill>
                <a:srgbClr val="008A3E"/>
              </a:solidFill>
            </a:endParaRPr>
          </a:p>
          <a:p>
            <a:pPr indent="647700">
              <a:buNone/>
            </a:pPr>
            <a:r>
              <a:rPr lang="zh-CN" altLang="en-US" dirty="0">
                <a:latin typeface="宋体" panose="02010600030101010101" pitchFamily="2" charset="-122"/>
                <a:ea typeface="宋体" panose="02010600030101010101" pitchFamily="2" charset="-122"/>
              </a:rPr>
              <a:t>机器学习的目标是使学得的模型能很好地适用于“新样本</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，而不是仅仅在训练样本上工作得很好；即便对聚类这样的无监督学习任务，我们也希望学得的簇划分能适用于没在训练集中出现的样本。学得模型适用于新样本的能力，称为“泛化</a:t>
            </a:r>
            <a:r>
              <a:rPr lang="en-US" altLang="zh-CN" dirty="0">
                <a:latin typeface="宋体" panose="02010600030101010101" pitchFamily="2" charset="-122"/>
                <a:ea typeface="宋体" panose="02010600030101010101" pitchFamily="2" charset="-122"/>
              </a:rPr>
              <a:t>”(generalization)</a:t>
            </a:r>
            <a:r>
              <a:rPr lang="zh-CN" altLang="en-US" dirty="0">
                <a:latin typeface="宋体" panose="02010600030101010101" pitchFamily="2" charset="-122"/>
                <a:ea typeface="宋体" panose="02010600030101010101" pitchFamily="2" charset="-122"/>
              </a:rPr>
              <a:t>能力。具有强泛化能力的模型能很好地适用于整个样本空间。</a:t>
            </a:r>
          </a:p>
        </p:txBody>
      </p:sp>
      <p:sp>
        <p:nvSpPr>
          <p:cNvPr id="5" name="Text Box 2"/>
          <p:cNvSpPr txBox="1">
            <a:spLocks noChangeArrowheads="1"/>
          </p:cNvSpPr>
          <p:nvPr/>
        </p:nvSpPr>
        <p:spPr bwMode="auto">
          <a:xfrm>
            <a:off x="0" y="0"/>
            <a:ext cx="8449733" cy="769441"/>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spcBef>
                <a:spcPct val="50000"/>
              </a:spcBef>
              <a:buClr>
                <a:schemeClr val="bg1"/>
              </a:buClr>
            </a:pPr>
            <a:r>
              <a:rPr kumimoji="1" lang="zh-CN" altLang="en-US" sz="4400" b="1" dirty="0">
                <a:solidFill>
                  <a:schemeClr val="bg1"/>
                </a:solidFill>
                <a:latin typeface="宋体" panose="02010600030101010101" pitchFamily="2" charset="-122"/>
                <a:ea typeface="宋体" panose="02010600030101010101" pitchFamily="2" charset="-122"/>
                <a:cs typeface="楷体_GB2312" pitchFamily="49" charset="-122"/>
              </a:rPr>
              <a:t>机器学习的基本术语</a:t>
            </a:r>
            <a:endParaRPr kumimoji="1" lang="zh-CN" altLang="en-US" sz="4400" b="1" dirty="0">
              <a:solidFill>
                <a:schemeClr val="tx1"/>
              </a:solidFill>
              <a:latin typeface="楷体_GB2312" pitchFamily="49" charset="-122"/>
              <a:ea typeface="宋体" panose="02010600030101010101" pitchFamily="2" charset="-122"/>
              <a:cs typeface="楷体_GB2312" pitchFamily="49" charset="-122"/>
            </a:endParaRPr>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ChangeArrowheads="1"/>
          </p:cNvSpPr>
          <p:nvPr/>
        </p:nvSpPr>
        <p:spPr bwMode="auto">
          <a:xfrm>
            <a:off x="2796989" y="281465"/>
            <a:ext cx="4346769" cy="584765"/>
          </a:xfrm>
          <a:prstGeom prst="rect">
            <a:avLst/>
          </a:prstGeom>
          <a:solidFill>
            <a:schemeClr val="bg1"/>
          </a:solidFill>
          <a:ln>
            <a:noFill/>
          </a:ln>
        </p:spPr>
        <p:txBody>
          <a:bodyPr wrap="square" lIns="91428" tIns="45715" rIns="91428" bIns="45715">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过拟合和欠拟合</a:t>
            </a:r>
          </a:p>
        </p:txBody>
      </p:sp>
      <p:pic>
        <p:nvPicPr>
          <p:cNvPr id="14" name="图片 13"/>
          <p:cNvPicPr/>
          <p:nvPr/>
        </p:nvPicPr>
        <p:blipFill>
          <a:blip r:embed="rId2" cstate="print">
            <a:extLst>
              <a:ext uri="{28A0092B-C50C-407E-A947-70E740481C1C}">
                <a14:useLocalDpi xmlns:a14="http://schemas.microsoft.com/office/drawing/2010/main" val="0"/>
              </a:ext>
            </a:extLst>
          </a:blip>
          <a:srcRect/>
          <a:stretch>
            <a:fillRect/>
          </a:stretch>
        </p:blipFill>
        <p:spPr>
          <a:xfrm>
            <a:off x="380961" y="1047733"/>
            <a:ext cx="9910471" cy="2350072"/>
          </a:xfrm>
          <a:prstGeom prst="rect">
            <a:avLst/>
          </a:prstGeom>
          <a:noFill/>
          <a:ln>
            <a:noFill/>
          </a:ln>
        </p:spPr>
      </p:pic>
      <p:sp>
        <p:nvSpPr>
          <p:cNvPr id="5" name="TextBox 4"/>
          <p:cNvSpPr txBox="1"/>
          <p:nvPr/>
        </p:nvSpPr>
        <p:spPr>
          <a:xfrm>
            <a:off x="761963" y="3429001"/>
            <a:ext cx="9596655"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           </a:t>
            </a:r>
            <a:r>
              <a:rPr kumimoji="0" lang="zh-CN"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欠拟合 </a:t>
            </a:r>
            <a:r>
              <a:rPr kumimoji="0" lang="en-US"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                                           </a:t>
            </a:r>
            <a:r>
              <a:rPr kumimoji="0" lang="zh-CN"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恰当拟合 </a:t>
            </a:r>
            <a:r>
              <a:rPr kumimoji="0" lang="en-US"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                                            </a:t>
            </a:r>
            <a:r>
              <a:rPr kumimoji="0" lang="zh-CN" altLang="zh-CN"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rPr>
              <a:t>过拟合</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000000"/>
              </a:solidFill>
              <a:effectLst/>
              <a:uLnTx/>
              <a:uFillTx/>
              <a:latin typeface="Calibri Light" panose="020F0302020204030204"/>
              <a:ea typeface="微软雅黑 Light" panose="020B0502040204020203" charset="-122"/>
              <a:cs typeface="+mn-cs"/>
            </a:endParaRPr>
          </a:p>
        </p:txBody>
      </p:sp>
      <p:pic>
        <p:nvPicPr>
          <p:cNvPr id="16" name="图片 15"/>
          <p:cNvPicPr/>
          <p:nvPr/>
        </p:nvPicPr>
        <p:blipFill>
          <a:blip r:embed="rId3" cstate="print">
            <a:extLst>
              <a:ext uri="{28A0092B-C50C-407E-A947-70E740481C1C}">
                <a14:useLocalDpi xmlns:a14="http://schemas.microsoft.com/office/drawing/2010/main" val="0"/>
              </a:ext>
            </a:extLst>
          </a:blip>
          <a:srcRect/>
          <a:stretch>
            <a:fillRect/>
          </a:stretch>
        </p:blipFill>
        <p:spPr>
          <a:xfrm>
            <a:off x="2095472" y="3905253"/>
            <a:ext cx="6667547" cy="2731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7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22549" y="2009140"/>
            <a:ext cx="8107879" cy="3968750"/>
          </a:xfrm>
        </p:spPr>
        <p:txBody>
          <a:bodyPr/>
          <a:lstStyle/>
          <a:p>
            <a:r>
              <a:rPr lang="zh-CN" altLang="en-US" sz="2800"/>
              <a:t>在建立预测模型的过程中将预测结果与训练数据的实际结果进行比较，不断的调整预测模型，直到模型的预测结果达到一个预期的准确率。</a:t>
            </a:r>
          </a:p>
          <a:p>
            <a:endParaRPr lang="zh-CN" altLang="en-US" sz="2800" dirty="0"/>
          </a:p>
          <a:p>
            <a:r>
              <a:rPr lang="zh-CN" altLang="en-US" sz="2800" dirty="0"/>
              <a:t>典型例子：分类和回归任务、决策树、贝叶斯模型、支持向量机、深度学习</a:t>
            </a:r>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zh-CN" altLang="en-US" sz="4000">
                <a:solidFill>
                  <a:srgbClr val="4F271C">
                    <a:satMod val="130000"/>
                  </a:srgbClr>
                </a:solidFill>
                <a:latin typeface="Gill Sans MT" panose="020B0502020104020203"/>
                <a:ea typeface="华文中宋" panose="02010600040101010101" pitchFamily="2" charset="-122"/>
              </a:rPr>
              <a:t>三、机器学习的分类</a:t>
            </a:r>
          </a:p>
        </p:txBody>
      </p:sp>
      <p:sp>
        <p:nvSpPr>
          <p:cNvPr id="5" name="文本框 4"/>
          <p:cNvSpPr txBox="1"/>
          <p:nvPr/>
        </p:nvSpPr>
        <p:spPr>
          <a:xfrm>
            <a:off x="2767330" y="1115060"/>
            <a:ext cx="3949700" cy="645160"/>
          </a:xfrm>
          <a:prstGeom prst="rect">
            <a:avLst/>
          </a:prstGeom>
          <a:noFill/>
        </p:spPr>
        <p:txBody>
          <a:bodyPr wrap="square" rtlCol="0">
            <a:spAutoFit/>
          </a:bodyPr>
          <a:lstStyle/>
          <a:p>
            <a:r>
              <a:rPr lang="zh-CN" altLang="en-US" sz="3600">
                <a:solidFill>
                  <a:srgbClr val="00B050"/>
                </a:solidFill>
                <a:latin typeface="楷体" panose="02010609060101010101" charset="-122"/>
                <a:ea typeface="楷体" panose="02010609060101010101" charset="-122"/>
              </a:rPr>
              <a:t>（一）监督学习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00792" y="436217"/>
            <a:ext cx="4801314" cy="646331"/>
          </a:xfrm>
          <a:prstGeom prst="rect">
            <a:avLst/>
          </a:prstGeom>
        </p:spPr>
        <p:txBody>
          <a:bodyPr wrap="none">
            <a:spAutoFit/>
          </a:bodyPr>
          <a:lstStyle/>
          <a:p>
            <a:r>
              <a:rPr lang="zh-CN" altLang="zh-CN" sz="3600" b="1" dirty="0"/>
              <a:t>机器学习中的常用算法</a:t>
            </a:r>
            <a:r>
              <a:rPr lang="zh-CN" altLang="zh-CN" sz="3600" dirty="0"/>
              <a:t> </a:t>
            </a:r>
            <a:endParaRPr lang="zh-CN" altLang="en-US" sz="3600" dirty="0"/>
          </a:p>
        </p:txBody>
      </p:sp>
      <p:sp>
        <p:nvSpPr>
          <p:cNvPr id="3" name="矩形 2"/>
          <p:cNvSpPr/>
          <p:nvPr/>
        </p:nvSpPr>
        <p:spPr>
          <a:xfrm>
            <a:off x="263000" y="1228568"/>
            <a:ext cx="4830168" cy="461665"/>
          </a:xfrm>
          <a:prstGeom prst="rect">
            <a:avLst/>
          </a:prstGeom>
        </p:spPr>
        <p:txBody>
          <a:bodyPr wrap="none">
            <a:spAutoFit/>
          </a:bodyPr>
          <a:lstStyle/>
          <a:p>
            <a:pPr marL="342900" indent="-342900">
              <a:buFont typeface="Arial" panose="020B0604020202020204" pitchFamily="34" charset="0"/>
              <a:buChar char="•"/>
            </a:pPr>
            <a:r>
              <a:rPr lang="zh-CN" altLang="zh-CN" sz="2400" b="1" dirty="0">
                <a:latin typeface="华文楷体" panose="02010600040101010101" charset="-122"/>
                <a:ea typeface="华文楷体" panose="02010600040101010101" charset="-122"/>
                <a:cs typeface="华文楷体" panose="02010600040101010101" charset="-122"/>
              </a:rPr>
              <a:t>监督学习（</a:t>
            </a:r>
            <a:r>
              <a:rPr lang="en-US" altLang="zh-CN" sz="2400" b="1" dirty="0" err="1">
                <a:latin typeface="华文楷体" panose="02010600040101010101" charset="-122"/>
                <a:ea typeface="华文楷体" panose="02010600040101010101" charset="-122"/>
                <a:cs typeface="华文楷体" panose="02010600040101010101" charset="-122"/>
              </a:rPr>
              <a:t>Superviser</a:t>
            </a:r>
            <a:r>
              <a:rPr lang="en-US" altLang="zh-CN" sz="2400" b="1" dirty="0">
                <a:latin typeface="华文楷体" panose="02010600040101010101" charset="-122"/>
                <a:ea typeface="华文楷体" panose="02010600040101010101" charset="-122"/>
                <a:cs typeface="华文楷体" panose="02010600040101010101" charset="-122"/>
              </a:rPr>
              <a:t> Learning</a:t>
            </a:r>
            <a:r>
              <a:rPr lang="zh-CN" altLang="zh-CN" sz="2400" b="1" dirty="0">
                <a:latin typeface="华文楷体" panose="02010600040101010101" charset="-122"/>
                <a:ea typeface="华文楷体" panose="02010600040101010101" charset="-122"/>
                <a:cs typeface="华文楷体" panose="02010600040101010101" charset="-122"/>
              </a:rPr>
              <a:t>）</a:t>
            </a:r>
            <a:r>
              <a:rPr lang="zh-CN" altLang="zh-CN" sz="2400" dirty="0">
                <a:latin typeface="华文楷体" panose="02010600040101010101" charset="-122"/>
                <a:ea typeface="华文楷体" panose="02010600040101010101" charset="-122"/>
                <a:cs typeface="华文楷体" panose="02010600040101010101" charset="-122"/>
              </a:rPr>
              <a:t> </a:t>
            </a:r>
            <a:endParaRPr lang="zh-CN" altLang="en-US" sz="2400" dirty="0">
              <a:latin typeface="华文楷体" panose="02010600040101010101" charset="-122"/>
              <a:ea typeface="华文楷体" panose="02010600040101010101" charset="-122"/>
              <a:cs typeface="华文楷体" panose="02010600040101010101" charset="-122"/>
            </a:endParaRPr>
          </a:p>
        </p:txBody>
      </p:sp>
      <p:pic>
        <p:nvPicPr>
          <p:cNvPr id="4" name="图片 3"/>
          <p:cNvPicPr/>
          <p:nvPr/>
        </p:nvPicPr>
        <p:blipFill>
          <a:blip r:embed="rId3" cstate="print"/>
          <a:stretch>
            <a:fillRect/>
          </a:stretch>
        </p:blipFill>
        <p:spPr>
          <a:xfrm>
            <a:off x="379206" y="1836253"/>
            <a:ext cx="5622243" cy="4696580"/>
          </a:xfrm>
          <a:prstGeom prst="rect">
            <a:avLst/>
          </a:prstGeom>
        </p:spPr>
      </p:pic>
      <p:pic>
        <p:nvPicPr>
          <p:cNvPr id="5" name="图片 4"/>
          <p:cNvPicPr>
            <a:picLocks noChangeAspect="1"/>
          </p:cNvPicPr>
          <p:nvPr/>
        </p:nvPicPr>
        <p:blipFill>
          <a:blip r:embed="rId4" cstate="print"/>
          <a:stretch>
            <a:fillRect/>
          </a:stretch>
        </p:blipFill>
        <p:spPr>
          <a:xfrm>
            <a:off x="6076827" y="2903909"/>
            <a:ext cx="6091622" cy="23580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67331" y="1888490"/>
            <a:ext cx="8095300" cy="2586990"/>
          </a:xfrm>
        </p:spPr>
        <p:txBody>
          <a:bodyPr/>
          <a:lstStyle/>
          <a:p>
            <a:r>
              <a:rPr lang="zh-CN" altLang="en-US" sz="2800" dirty="0"/>
              <a:t>数据并不被特别标识，计算机自行学习分析数据内部的规律、特征等，进而得出一定的结果（如内部结构、主要成分等）。</a:t>
            </a:r>
          </a:p>
          <a:p>
            <a:endParaRPr lang="zh-CN" altLang="en-US" sz="2800" dirty="0"/>
          </a:p>
          <a:p>
            <a:r>
              <a:rPr lang="zh-CN" altLang="en-US" sz="2800" dirty="0"/>
              <a:t>典型例子：聚类算法</a:t>
            </a:r>
          </a:p>
        </p:txBody>
      </p:sp>
      <p:sp>
        <p:nvSpPr>
          <p:cNvPr id="5" name="文本框 4"/>
          <p:cNvSpPr txBox="1"/>
          <p:nvPr/>
        </p:nvSpPr>
        <p:spPr>
          <a:xfrm>
            <a:off x="2767330" y="1115060"/>
            <a:ext cx="4386580" cy="645160"/>
          </a:xfrm>
          <a:prstGeom prst="rect">
            <a:avLst/>
          </a:prstGeom>
          <a:noFill/>
        </p:spPr>
        <p:txBody>
          <a:bodyPr wrap="square" rtlCol="0">
            <a:spAutoFit/>
          </a:bodyPr>
          <a:lstStyle/>
          <a:p>
            <a:r>
              <a:rPr lang="zh-CN" altLang="en-US" sz="3600">
                <a:solidFill>
                  <a:srgbClr val="00B050"/>
                </a:solidFill>
                <a:latin typeface="楷体" panose="02010609060101010101" charset="-122"/>
                <a:ea typeface="楷体" panose="02010609060101010101" charset="-122"/>
              </a:rPr>
              <a:t>（二）非监督式学习</a:t>
            </a:r>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zh-CN" altLang="en-US" sz="4000">
                <a:solidFill>
                  <a:srgbClr val="4F271C">
                    <a:satMod val="130000"/>
                  </a:srgbClr>
                </a:solidFill>
                <a:latin typeface="Gill Sans MT" panose="020B0502020104020203"/>
                <a:ea typeface="华文中宋" panose="02010600040101010101" pitchFamily="2" charset="-122"/>
              </a:rPr>
              <a:t>三、机器学习的分类</a:t>
            </a:r>
          </a:p>
        </p:txBody>
      </p:sp>
      <p:pic>
        <p:nvPicPr>
          <p:cNvPr id="6" name="图片 5"/>
          <p:cNvPicPr>
            <a:picLocks noChangeAspect="1"/>
          </p:cNvPicPr>
          <p:nvPr/>
        </p:nvPicPr>
        <p:blipFill>
          <a:blip r:embed="rId3"/>
          <a:stretch>
            <a:fillRect/>
          </a:stretch>
        </p:blipFill>
        <p:spPr>
          <a:xfrm>
            <a:off x="2993391" y="4369435"/>
            <a:ext cx="6391275" cy="24968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22549" y="2009140"/>
            <a:ext cx="7876525" cy="3968750"/>
          </a:xfrm>
        </p:spPr>
        <p:txBody>
          <a:bodyPr/>
          <a:lstStyle/>
          <a:p>
            <a:r>
              <a:rPr lang="zh-CN" altLang="en-US" sz="2800" dirty="0"/>
              <a:t>半监督学习介于监督学习和非监督学习之间，输入数据部分被标识，部分没有被标识，</a:t>
            </a:r>
            <a:r>
              <a:rPr lang="zh-CN" altLang="en-US" sz="2800" dirty="0">
                <a:solidFill>
                  <a:srgbClr val="FF0000"/>
                </a:solidFill>
              </a:rPr>
              <a:t>没标识数据的数量常常远远大于有标识数据数量。</a:t>
            </a:r>
            <a:endParaRPr lang="zh-CN" altLang="en-US" sz="2800" dirty="0">
              <a:gradFill>
                <a:gsLst>
                  <a:gs pos="0">
                    <a:srgbClr val="FE4444"/>
                  </a:gs>
                  <a:gs pos="100000">
                    <a:srgbClr val="832B2B"/>
                  </a:gs>
                </a:gsLst>
                <a:lin scaled="0"/>
              </a:gradFill>
            </a:endParaRPr>
          </a:p>
          <a:p>
            <a:endParaRPr lang="zh-CN" altLang="en-US" sz="2800" dirty="0"/>
          </a:p>
          <a:p>
            <a:r>
              <a:rPr lang="zh-CN" altLang="en-US" sz="2800" dirty="0"/>
              <a:t>这种学习模型可以用来进行预测，但是模型首先需要学习数据的内在结构以便合理的组织数据来进行预测。</a:t>
            </a:r>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zh-CN" altLang="en-US" sz="4000">
                <a:solidFill>
                  <a:srgbClr val="4F271C">
                    <a:satMod val="130000"/>
                  </a:srgbClr>
                </a:solidFill>
                <a:latin typeface="Gill Sans MT" panose="020B0502020104020203"/>
                <a:ea typeface="华文中宋" panose="02010600040101010101" pitchFamily="2" charset="-122"/>
              </a:rPr>
              <a:t>三、机器学习的分类</a:t>
            </a:r>
          </a:p>
        </p:txBody>
      </p:sp>
      <p:sp>
        <p:nvSpPr>
          <p:cNvPr id="5" name="文本框 4"/>
          <p:cNvSpPr txBox="1"/>
          <p:nvPr/>
        </p:nvSpPr>
        <p:spPr>
          <a:xfrm>
            <a:off x="2767330" y="1115060"/>
            <a:ext cx="3949700" cy="645160"/>
          </a:xfrm>
          <a:prstGeom prst="rect">
            <a:avLst/>
          </a:prstGeom>
          <a:noFill/>
        </p:spPr>
        <p:txBody>
          <a:bodyPr wrap="square" rtlCol="0">
            <a:spAutoFit/>
          </a:bodyPr>
          <a:lstStyle/>
          <a:p>
            <a:r>
              <a:rPr lang="zh-CN" altLang="en-US" sz="3600">
                <a:solidFill>
                  <a:srgbClr val="00B050"/>
                </a:solidFill>
                <a:latin typeface="楷体" panose="02010609060101010101" charset="-122"/>
                <a:ea typeface="楷体" panose="02010609060101010101" charset="-122"/>
              </a:rPr>
              <a:t>（三）半监督学习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52371" y="1760220"/>
            <a:ext cx="8454328" cy="2827020"/>
          </a:xfrm>
        </p:spPr>
        <p:txBody>
          <a:bodyPr>
            <a:normAutofit/>
          </a:bodyPr>
          <a:lstStyle/>
          <a:p>
            <a:r>
              <a:rPr lang="zh-CN" altLang="en-US" sz="2800" dirty="0"/>
              <a:t>基于</a:t>
            </a:r>
            <a:r>
              <a:rPr lang="zh-CN" altLang="en-US" sz="2800" dirty="0">
                <a:solidFill>
                  <a:srgbClr val="FF0000"/>
                </a:solidFill>
              </a:rPr>
              <a:t>与环境的交互</a:t>
            </a:r>
            <a:r>
              <a:rPr lang="zh-CN" altLang="en-US" sz="2800" dirty="0"/>
              <a:t>进行学习。通过尝试来发现各个动作产生的结果，对各个动作产生的结果进行反馈（奖励或惩罚）。在这种学习模式下，输入数据直接反馈到模型，</a:t>
            </a:r>
            <a:r>
              <a:rPr lang="zh-CN" altLang="en-US" sz="2800" dirty="0">
                <a:solidFill>
                  <a:srgbClr val="FF0000"/>
                </a:solidFill>
              </a:rPr>
              <a:t>模型必须作出调整</a:t>
            </a:r>
            <a:r>
              <a:rPr lang="zh-CN" altLang="en-US" sz="2800" dirty="0"/>
              <a:t>。</a:t>
            </a:r>
            <a:r>
              <a:rPr lang="zh-CN" altLang="en-US" sz="2800" dirty="0">
                <a:sym typeface="+mn-ea"/>
              </a:rPr>
              <a:t>常见的应用场景包括动态系统以及机器人控制等。</a:t>
            </a:r>
            <a:endParaRPr lang="zh-CN" altLang="en-US" sz="2800" dirty="0"/>
          </a:p>
          <a:p>
            <a:endParaRPr lang="zh-CN" altLang="en-US" sz="2800" dirty="0"/>
          </a:p>
          <a:p>
            <a:endParaRPr lang="zh-CN" altLang="en-US" sz="2800" dirty="0"/>
          </a:p>
        </p:txBody>
      </p:sp>
      <p:sp>
        <p:nvSpPr>
          <p:cNvPr id="4" name="标题 1"/>
          <p:cNvSpPr>
            <a:spLocks noGrp="1"/>
          </p:cNvSpPr>
          <p:nvPr/>
        </p:nvSpPr>
        <p:spPr>
          <a:xfrm>
            <a:off x="2452370" y="155576"/>
            <a:ext cx="6637020" cy="959485"/>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zh-CN" altLang="en-US" sz="4000">
                <a:solidFill>
                  <a:srgbClr val="4F271C">
                    <a:satMod val="130000"/>
                  </a:srgbClr>
                </a:solidFill>
                <a:latin typeface="Gill Sans MT" panose="020B0502020104020203"/>
                <a:ea typeface="华文中宋" panose="02010600040101010101" pitchFamily="2" charset="-122"/>
              </a:rPr>
              <a:t>三、机器学习的分类</a:t>
            </a:r>
          </a:p>
        </p:txBody>
      </p:sp>
      <p:sp>
        <p:nvSpPr>
          <p:cNvPr id="5" name="文本框 4"/>
          <p:cNvSpPr txBox="1"/>
          <p:nvPr/>
        </p:nvSpPr>
        <p:spPr>
          <a:xfrm>
            <a:off x="2664460" y="1115060"/>
            <a:ext cx="3949700" cy="645160"/>
          </a:xfrm>
          <a:prstGeom prst="rect">
            <a:avLst/>
          </a:prstGeom>
          <a:noFill/>
        </p:spPr>
        <p:txBody>
          <a:bodyPr wrap="square" rtlCol="0">
            <a:spAutoFit/>
          </a:bodyPr>
          <a:lstStyle/>
          <a:p>
            <a:r>
              <a:rPr lang="zh-CN" altLang="en-US" sz="3600">
                <a:solidFill>
                  <a:srgbClr val="00B050"/>
                </a:solidFill>
                <a:latin typeface="楷体" panose="02010609060101010101" charset="-122"/>
                <a:ea typeface="楷体" panose="02010609060101010101" charset="-122"/>
              </a:rPr>
              <a:t>（四）强化学习</a:t>
            </a:r>
          </a:p>
        </p:txBody>
      </p:sp>
      <p:pic>
        <p:nvPicPr>
          <p:cNvPr id="6" name="图片 5"/>
          <p:cNvPicPr/>
          <p:nvPr/>
        </p:nvPicPr>
        <p:blipFill>
          <a:blip r:embed="rId3" cstate="print"/>
          <a:stretch>
            <a:fillRect/>
          </a:stretch>
        </p:blipFill>
        <p:spPr>
          <a:xfrm>
            <a:off x="2937510" y="4044315"/>
            <a:ext cx="4610735" cy="28136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696653" y="1128481"/>
            <a:ext cx="4878388" cy="584775"/>
          </a:xfrm>
          <a:prstGeom prst="rect">
            <a:avLst/>
          </a:prstGeom>
          <a:solidFill>
            <a:srgbClr val="008080"/>
          </a:solidFill>
          <a:ln>
            <a:noFill/>
          </a:ln>
        </p:spPr>
        <p:txBody>
          <a:bodyPr wrap="square">
            <a:spAutoFit/>
          </a:bodyPr>
          <a:lstStyle>
            <a:defPPr>
              <a:defRPr lang="zh-CN"/>
            </a:defPPr>
            <a:lvl1pPr>
              <a:spcBef>
                <a:spcPct val="0"/>
              </a:spcBef>
              <a:buFontTx/>
              <a:buNone/>
              <a:defRPr kumimoji="0" sz="3200">
                <a:solidFill>
                  <a:schemeClr val="bg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kumimoji="1" sz="2800">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latin typeface="Calibri" panose="020F0502020204030204" pitchFamily="34" charset="0"/>
                <a:ea typeface="宋体" panose="02010600030101010101" pitchFamily="2" charset="-122"/>
              </a:defRPr>
            </a:lvl9pPr>
          </a:lstStyle>
          <a:p>
            <a:r>
              <a:rPr lang="zh-CN" altLang="en-US" dirty="0"/>
              <a:t>四、机器学习的一般流程</a:t>
            </a:r>
          </a:p>
        </p:txBody>
      </p:sp>
      <p:cxnSp>
        <p:nvCxnSpPr>
          <p:cNvPr id="7" name="直接连接符 13"/>
          <p:cNvCxnSpPr/>
          <p:nvPr/>
        </p:nvCxnSpPr>
        <p:spPr>
          <a:xfrm>
            <a:off x="1487228" y="1702349"/>
            <a:ext cx="7254875"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cstate="print"/>
          <a:stretch>
            <a:fillRect/>
          </a:stretch>
        </p:blipFill>
        <p:spPr>
          <a:xfrm>
            <a:off x="696653" y="2013600"/>
            <a:ext cx="9409788" cy="41098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10" y="422275"/>
            <a:ext cx="10392410" cy="962660"/>
          </a:xfrm>
        </p:spPr>
        <p:txBody>
          <a:bodyPr/>
          <a:lstStyle/>
          <a:p>
            <a:pPr algn="l" defTabSz="914400">
              <a:lnSpc>
                <a:spcPct val="100000"/>
              </a:lnSpc>
              <a:buClrTx/>
              <a:buSzTx/>
              <a:buFontTx/>
            </a:pPr>
            <a:r>
              <a:rPr lang="zh-CN" altLang="en-US" sz="4000" dirty="0">
                <a:solidFill>
                  <a:schemeClr val="tx1"/>
                </a:solidFill>
                <a:effectLst>
                  <a:outerShdw blurRad="50000" dist="30000" dir="5400000" algn="tl" rotWithShape="0">
                    <a:srgbClr val="000000">
                      <a:alpha val="30000"/>
                    </a:srgbClr>
                  </a:outerShdw>
                </a:effectLst>
                <a:sym typeface="+mn-ea"/>
              </a:rPr>
              <a:t>四、机器学习的一般流程</a:t>
            </a:r>
          </a:p>
        </p:txBody>
      </p:sp>
      <p:sp>
        <p:nvSpPr>
          <p:cNvPr id="12" name="文本框 11"/>
          <p:cNvSpPr txBox="1"/>
          <p:nvPr/>
        </p:nvSpPr>
        <p:spPr>
          <a:xfrm>
            <a:off x="3069392" y="1528347"/>
            <a:ext cx="5664629" cy="4524315"/>
          </a:xfrm>
          <a:prstGeom prst="rect">
            <a:avLst/>
          </a:prstGeom>
          <a:solidFill>
            <a:schemeClr val="accent6">
              <a:lumMod val="75000"/>
            </a:schemeClr>
          </a:solid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机器学习工作流程总结</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1.获取数据</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2.数据基本处理</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3.特征工程</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4.机器学习（模型训练）</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5.模型评估</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837AC6C-A92F-40A9-87DC-A928B689700C}"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0713" y="548680"/>
            <a:ext cx="11642513" cy="954044"/>
          </a:xfrm>
          <a:prstGeom prst="rect">
            <a:avLst/>
          </a:prstGeom>
          <a:solidFill>
            <a:schemeClr val="bg1"/>
          </a:solidFill>
        </p:spPr>
        <p:txBody>
          <a:bodyPr wrap="square" rtlCol="0" anchor="t">
            <a:spAutoFit/>
          </a:bodyPr>
          <a:lstStyle/>
          <a:p>
            <a:pPr>
              <a:lnSpc>
                <a:spcPct val="150000"/>
              </a:lnSpc>
            </a:pPr>
            <a:r>
              <a:rPr lang="en-US" altLang="zh-CN" sz="3735" b="1" dirty="0">
                <a:solidFill>
                  <a:srgbClr val="70AD47"/>
                </a:solidFill>
              </a:rPr>
              <a:t>1</a:t>
            </a:r>
            <a:r>
              <a:rPr lang="zh-CN" altLang="en-US" sz="3735" b="1" dirty="0">
                <a:solidFill>
                  <a:srgbClr val="70AD47"/>
                </a:solidFill>
              </a:rPr>
              <a:t>、数据采集</a:t>
            </a:r>
          </a:p>
        </p:txBody>
      </p:sp>
      <p:sp>
        <p:nvSpPr>
          <p:cNvPr id="8" name="文本框 7"/>
          <p:cNvSpPr txBox="1"/>
          <p:nvPr/>
        </p:nvSpPr>
        <p:spPr>
          <a:xfrm>
            <a:off x="229176" y="1700809"/>
            <a:ext cx="11819467" cy="4299190"/>
          </a:xfrm>
          <a:prstGeom prst="rect">
            <a:avLst/>
          </a:prstGeom>
        </p:spPr>
        <p:style>
          <a:lnRef idx="3">
            <a:schemeClr val="lt1"/>
          </a:lnRef>
          <a:fillRef idx="1">
            <a:schemeClr val="accent5"/>
          </a:fillRef>
          <a:effectRef idx="1">
            <a:schemeClr val="accent5"/>
          </a:effectRef>
          <a:fontRef idx="minor">
            <a:schemeClr val="lt1"/>
          </a:fontRef>
        </p:style>
        <p:txBody>
          <a:bodyPr wrap="square" rtlCol="0" anchor="t">
            <a:spAutoFit/>
          </a:bodyPr>
          <a:lstStyle/>
          <a:p>
            <a:r>
              <a:rPr lang="zh-CN" altLang="en-US" sz="2665" dirty="0">
                <a:solidFill>
                  <a:prstClr val="white"/>
                </a:solidFill>
              </a:rPr>
              <a:t>几种方式介绍：</a:t>
            </a:r>
          </a:p>
          <a:p>
            <a:endParaRPr lang="zh-CN" altLang="en-US" sz="2665" dirty="0">
              <a:solidFill>
                <a:prstClr val="white"/>
              </a:solidFill>
            </a:endParaRPr>
          </a:p>
          <a:p>
            <a:pPr marL="381000" indent="-381000">
              <a:spcBef>
                <a:spcPts val="800"/>
              </a:spcBef>
              <a:spcAft>
                <a:spcPts val="800"/>
              </a:spcAft>
              <a:buFont typeface="Wingdings" panose="05000000000000000000" charset="0"/>
              <a:buChar char="Ø"/>
            </a:pPr>
            <a:r>
              <a:rPr lang="zh-CN" altLang="en-US" sz="2665" dirty="0">
                <a:solidFill>
                  <a:prstClr val="white"/>
                </a:solidFill>
              </a:rPr>
              <a:t>爬虫：这种通常在个人项目、公司资源不足以提供数据、原始数据不足需要扩展数据情况下使用较多，比如根据时间获取天气数据，一般都是通过爬虫爬来的；</a:t>
            </a:r>
          </a:p>
          <a:p>
            <a:pPr marL="381000" indent="-381000">
              <a:spcBef>
                <a:spcPts val="800"/>
              </a:spcBef>
              <a:spcAft>
                <a:spcPts val="800"/>
              </a:spcAft>
              <a:buFont typeface="Wingdings" panose="05000000000000000000" charset="0"/>
              <a:buChar char="Ø"/>
            </a:pPr>
            <a:r>
              <a:rPr lang="zh-CN" altLang="en-US" sz="2665" dirty="0">
                <a:solidFill>
                  <a:prstClr val="white"/>
                </a:solidFill>
              </a:rPr>
              <a:t>API：现在有很多公开的数据集，一些组织也提供开放的API接口来获取相关数据，比如OpenDota提供Dota2相关数据，好处是通常数据更加规范；</a:t>
            </a:r>
          </a:p>
          <a:p>
            <a:pPr marL="381000" indent="-381000">
              <a:spcBef>
                <a:spcPts val="800"/>
              </a:spcBef>
              <a:spcAft>
                <a:spcPts val="800"/>
              </a:spcAft>
              <a:buFont typeface="Wingdings" panose="05000000000000000000" charset="0"/>
              <a:buChar char="Ø"/>
            </a:pPr>
            <a:r>
              <a:rPr lang="zh-CN" altLang="en-US" sz="2665" dirty="0">
                <a:solidFill>
                  <a:prstClr val="white"/>
                </a:solidFill>
              </a:rPr>
              <a:t>数据库：这种算是最常见，也最理想的状态，通过公司自身的数据库保存数据，更加可控，也更加自由灵活；</a:t>
            </a:r>
          </a:p>
        </p:txBody>
      </p:sp>
      <p:sp>
        <p:nvSpPr>
          <p:cNvPr id="2" name="日期占位符 1"/>
          <p:cNvSpPr>
            <a:spLocks noGrp="1"/>
          </p:cNvSpPr>
          <p:nvPr>
            <p:ph type="dt" sz="half" idx="10"/>
          </p:nvPr>
        </p:nvSpPr>
        <p:spPr/>
        <p:txBody>
          <a:bodyPr/>
          <a:lstStyle/>
          <a:p>
            <a:fld id="{34381B47-8D35-4E81-9ECA-69CAF01166CC}" type="datetime10">
              <a:rPr lang="zh-CN" altLang="en-US" smtClean="0">
                <a:solidFill>
                  <a:prstClr val="black">
                    <a:tint val="75000"/>
                  </a:prstClr>
                </a:solidFill>
              </a:rPr>
              <a:t>15:41</a:t>
            </a:fld>
            <a:endParaRPr lang="zh-TW" altLang="en-US">
              <a:solidFill>
                <a:prstClr val="black">
                  <a:tint val="75000"/>
                </a:prst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27823" y="740095"/>
            <a:ext cx="3810422" cy="856132"/>
          </a:xfrm>
          <a:prstGeom prst="rect">
            <a:avLst/>
          </a:prstGeom>
          <a:solidFill>
            <a:schemeClr val="bg1"/>
          </a:solid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2</a:t>
            </a:r>
            <a:r>
              <a:rPr kumimoji="0" lang="zh-CN" altLang="en-US"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、数据处理</a:t>
            </a:r>
          </a:p>
        </p:txBody>
      </p:sp>
      <p:sp>
        <p:nvSpPr>
          <p:cNvPr id="2" name="文本框 1"/>
          <p:cNvSpPr txBox="1"/>
          <p:nvPr/>
        </p:nvSpPr>
        <p:spPr>
          <a:xfrm>
            <a:off x="687519" y="2519275"/>
            <a:ext cx="11133058" cy="1252522"/>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更多是针对类似爬虫这种方式获取的数据，这种数据通常没有一个非常固定规范的格式，数据非常不稳定，因此需要进行前期的清洗工作。</a:t>
            </a:r>
          </a:p>
        </p:txBody>
      </p:sp>
      <p:sp>
        <p:nvSpPr>
          <p:cNvPr id="3" name="文本框 2"/>
          <p:cNvSpPr txBox="1"/>
          <p:nvPr/>
        </p:nvSpPr>
        <p:spPr>
          <a:xfrm>
            <a:off x="527823" y="192889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数据清洗</a:t>
            </a:r>
          </a:p>
        </p:txBody>
      </p:sp>
      <p:sp>
        <p:nvSpPr>
          <p:cNvPr id="9" name="文本框 8"/>
          <p:cNvSpPr txBox="1"/>
          <p:nvPr/>
        </p:nvSpPr>
        <p:spPr>
          <a:xfrm>
            <a:off x="838200" y="3854178"/>
            <a:ext cx="10107206" cy="913199"/>
          </a:xfrm>
          <a:prstGeom prst="rect">
            <a:avLst/>
          </a:prstGeom>
          <a:noFill/>
        </p:spPr>
        <p:txBody>
          <a:bodyPr wrap="square" rtlCol="0" anchor="t">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数据预处理：缺失值处理、重复值处理、数据类型的转换、字符串数据的规整</a:t>
            </a:r>
          </a:p>
        </p:txBody>
      </p:sp>
      <p:sp>
        <p:nvSpPr>
          <p:cNvPr id="10" name="文本框 9"/>
          <p:cNvSpPr txBox="1"/>
          <p:nvPr/>
        </p:nvSpPr>
        <p:spPr>
          <a:xfrm>
            <a:off x="838200" y="5109549"/>
            <a:ext cx="9004484" cy="502445"/>
          </a:xfrm>
          <a:prstGeom prst="rect">
            <a:avLst/>
          </a:prstGeom>
          <a:noFill/>
        </p:spPr>
        <p:txBody>
          <a:bodyPr wrap="square" rtlCol="0" anchor="t">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数据归一化/标准化</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DDDAEC1-A7B7-4500-B7E2-70FD4076C246}"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38201" y="836713"/>
            <a:ext cx="9797716" cy="2186940"/>
          </a:xfrm>
          <a:prstGeom prst="rect">
            <a:avLst/>
          </a:prstGeom>
          <a:solidFill>
            <a:schemeClr val="bg1"/>
          </a:solid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3</a:t>
            </a:r>
            <a:r>
              <a:rPr kumimoji="0" lang="zh-CN" altLang="en-US"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、特征工程</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特征工程指的是把原始数据转变为模型的训练数据的过程，目的就是获取更好的训练数据特征。</a:t>
            </a:r>
          </a:p>
        </p:txBody>
      </p:sp>
      <p:sp>
        <p:nvSpPr>
          <p:cNvPr id="6" name="文本框 4"/>
          <p:cNvSpPr txBox="1"/>
          <p:nvPr/>
        </p:nvSpPr>
        <p:spPr>
          <a:xfrm>
            <a:off x="1120656" y="3263900"/>
            <a:ext cx="9515261" cy="1376018"/>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特征工程在机器学习中占有非常重要的作用，一般认为包括</a:t>
            </a:r>
            <a:r>
              <a:rPr kumimoji="0" lang="zh-CN" altLang="en-US" sz="2665"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特征构建、特征提取、特征选择</a:t>
            </a:r>
            <a:r>
              <a:rPr kumimoji="0" lang="zh-CN" altLang="en-US"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三个部分。</a:t>
            </a: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EDD64C9-B698-41C8-8499-40ED4F289A4F}"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4800" y="164638"/>
            <a:ext cx="3386667" cy="66678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4</a:t>
            </a:r>
            <a:r>
              <a:rPr kumimoji="0" lang="zh-CN" altLang="en-US"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、构建模型</a:t>
            </a:r>
          </a:p>
        </p:txBody>
      </p:sp>
      <p:sp>
        <p:nvSpPr>
          <p:cNvPr id="6" name="文本框 5"/>
          <p:cNvSpPr txBox="1"/>
          <p:nvPr/>
        </p:nvSpPr>
        <p:spPr>
          <a:xfrm>
            <a:off x="507997" y="924803"/>
            <a:ext cx="11109113" cy="567245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160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①</a:t>
            </a:r>
            <a:r>
              <a:rPr kumimoji="0" lang="en-US" altLang="zh-CN" sz="2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zh-CN" altLang="en-US" sz="2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建立训练数据集和测试数据集</a:t>
            </a: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，通常80%为训练数据集。</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②</a:t>
            </a: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en-US" altLang="zh-CN" sz="2800" b="1"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选择机器学习算法</a:t>
            </a:r>
            <a:endParaRPr kumimoji="0" lang="en-US" altLang="zh-CN" sz="2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10668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导入算法</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逻辑回归（logisic</a:t>
            </a: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regression）</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随机森林（Random</a:t>
            </a: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Forests Model）</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支持向量机（Support</a:t>
            </a: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Vector Machines）</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K-nearest neighbors</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Gaussian Naive Bayes</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数据降维：PCA，Isomap</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数据分类：SVC，K-Means</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线性回归：LinearRegression</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10668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创建模型</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10668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665" b="0" i="0" u="none" strike="noStrike" kern="1200" cap="none" spc="0" normalizeH="0" baseline="0" noProof="0" dirty="0" err="1">
                <a:ln>
                  <a:noFill/>
                </a:ln>
                <a:solidFill>
                  <a:prstClr val="black"/>
                </a:solidFill>
                <a:effectLst/>
                <a:uLnTx/>
                <a:uFillTx/>
                <a:latin typeface="Calibri" panose="020F0502020204030204"/>
                <a:ea typeface="宋体" panose="02010600030101010101" pitchFamily="2" charset="-122"/>
                <a:cs typeface="+mn-cs"/>
              </a:rPr>
              <a:t>训练模型</a:t>
            </a:r>
            <a:endParaRPr kumimoji="0" lang="en-US" altLang="zh-CN" sz="266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B890C2E-1134-4F91-850D-49BD0B10118D}"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79404" y="740701"/>
            <a:ext cx="10733307" cy="156966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③模型调优</a:t>
            </a:r>
            <a:endParaRPr kumimoji="0" lang="en-US" altLang="zh-CN" sz="3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选择合适的算法对模型进行训练</a:t>
            </a:r>
            <a:endParaRPr kumimoji="0" lang="en-US" altLang="zh-CN" sz="3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0" name="文本框 2"/>
          <p:cNvSpPr txBox="1"/>
          <p:nvPr/>
        </p:nvSpPr>
        <p:spPr>
          <a:xfrm>
            <a:off x="1079404" y="2652204"/>
            <a:ext cx="3386667" cy="5847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④模型融合</a:t>
            </a:r>
          </a:p>
        </p:txBody>
      </p:sp>
      <p:sp>
        <p:nvSpPr>
          <p:cNvPr id="11" name="文本框 5"/>
          <p:cNvSpPr txBox="1"/>
          <p:nvPr/>
        </p:nvSpPr>
        <p:spPr>
          <a:xfrm>
            <a:off x="701269" y="3236979"/>
            <a:ext cx="10960718" cy="2123466"/>
          </a:xfrm>
          <a:prstGeom prst="rect">
            <a:avLst/>
          </a:prstGeom>
          <a:noFill/>
        </p:spPr>
        <p:txBody>
          <a:bodyPr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93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t>
            </a:r>
            <a:r>
              <a:rPr kumimoji="0" lang="zh-CN" altLang="en-US" sz="2935"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一般来讲，任何一个模型在预测上都无法达到一个很好的结果，这是因为通常来说单个模型无法拟合所有数据，及不具备对所有未知数据的泛化能力，因此需要对多个模型进行融合</a:t>
            </a: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2AA7860-8549-4312-8F16-E8CF88C8CF54}"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04743" y="356659"/>
            <a:ext cx="6508327" cy="1159228"/>
          </a:xfrm>
          <a:prstGeom prst="rect">
            <a:avLst/>
          </a:prstGeom>
          <a:solidFill>
            <a:schemeClr val="bg1"/>
          </a:solid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5</a:t>
            </a:r>
            <a:r>
              <a:rPr kumimoji="0" lang="zh-CN" altLang="en-US" sz="3735" b="1" i="0" u="none" strike="noStrike" kern="1200" cap="none" spc="0" normalizeH="0" baseline="0" noProof="0" dirty="0">
                <a:ln>
                  <a:noFill/>
                </a:ln>
                <a:solidFill>
                  <a:srgbClr val="70AD47"/>
                </a:solidFill>
                <a:effectLst/>
                <a:uLnTx/>
                <a:uFillTx/>
                <a:latin typeface="Calibri" panose="020F0502020204030204"/>
                <a:ea typeface="宋体" panose="02010600030101010101" pitchFamily="2" charset="-122"/>
                <a:cs typeface="+mn-cs"/>
              </a:rPr>
              <a:t>、模型评估</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对训练好的模型进行评估。</a:t>
            </a:r>
          </a:p>
        </p:txBody>
      </p:sp>
      <p:sp>
        <p:nvSpPr>
          <p:cNvPr id="5" name="文本框 4"/>
          <p:cNvSpPr txBox="1"/>
          <p:nvPr/>
        </p:nvSpPr>
        <p:spPr>
          <a:xfrm>
            <a:off x="259257" y="1796819"/>
            <a:ext cx="11569700" cy="4402103"/>
          </a:xfrm>
          <a:prstGeom prst="rect">
            <a:avLst/>
          </a:prstGeom>
          <a:solidFill>
            <a:schemeClr val="accent1">
              <a:lumMod val="40000"/>
              <a:lumOff val="60000"/>
            </a:schemeClr>
          </a:solidFill>
        </p:spPr>
        <p:style>
          <a:lnRef idx="3">
            <a:schemeClr val="lt1"/>
          </a:lnRef>
          <a:fillRef idx="1">
            <a:schemeClr val="accent5"/>
          </a:fillRef>
          <a:effectRef idx="1">
            <a:schemeClr val="accent5"/>
          </a:effectRef>
          <a:fontRef idx="minor">
            <a:schemeClr val="lt1"/>
          </a:fontRef>
        </p:style>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665" b="0"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rPr>
              <a:t>      </a:t>
            </a:r>
            <a:r>
              <a:rPr kumimoji="0" lang="zh-CN" altLang="en-US" sz="2665" b="0" i="0" u="none" strike="noStrike" kern="1200" cap="none" spc="0" normalizeH="0" baseline="0" noProof="0" dirty="0">
                <a:ln>
                  <a:noFill/>
                </a:ln>
                <a:solidFill>
                  <a:schemeClr val="tx1"/>
                </a:solidFill>
                <a:effectLst/>
                <a:uLnTx/>
                <a:uFillTx/>
                <a:latin typeface="Calibri" panose="020F0502020204030204"/>
                <a:ea typeface="宋体" panose="02010600030101010101" pitchFamily="2" charset="-122"/>
                <a:cs typeface="+mn-cs"/>
              </a:rPr>
              <a:t>‘没有测量，就没有科学’这是科学家门捷列夫的名言。在计算机科学特别是机器学习领域中，对模型的评估同样至关重要，只有选择与问题相匹配的评估方法，才能快速地发现模型选择或训练过程中出现的问题，迭代地对模型进行优化。针对分类、排序、回归、序列预测等不同类型的机器学习问题，评估指标的选择也有所不同。知道每种评估指标的精确定义、有针对性地选择合适的评估指标、根据评估指标的反馈进行模型调整，这些都是模型评估阶段的关键问题。</a:t>
            </a: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B6CC1AB-760B-4670-8F08-3545BCE9E2AC}" type="datetime10">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15:41</a:t>
            </a:fld>
            <a:endParaRPr kumimoji="0" lang="zh-TW" altLang="en-US" sz="1600" b="0" i="0" u="none" strike="noStrike" kern="1200" cap="none" spc="0" normalizeH="0" baseline="0" noProof="0">
              <a:ln>
                <a:noFill/>
              </a:ln>
              <a:solidFill>
                <a:prstClr val="black">
                  <a:tint val="75000"/>
                </a:prstClr>
              </a:solidFill>
              <a:effectLst/>
              <a:uLnTx/>
              <a:uFillTx/>
              <a:latin typeface="Calibri" panose="020F0502020204030204"/>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0" y="0"/>
            <a:ext cx="8449733" cy="769441"/>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spcBef>
                <a:spcPct val="50000"/>
              </a:spcBef>
              <a:buClr>
                <a:schemeClr val="bg1"/>
              </a:buClr>
            </a:pPr>
            <a:r>
              <a:rPr kumimoji="1" lang="zh-CN" altLang="en-US" sz="4400" b="1" dirty="0">
                <a:solidFill>
                  <a:schemeClr val="bg1"/>
                </a:solidFill>
                <a:latin typeface="宋体" panose="02010600030101010101" pitchFamily="2" charset="-122"/>
                <a:ea typeface="宋体" panose="02010600030101010101" pitchFamily="2" charset="-122"/>
                <a:cs typeface="楷体_GB2312" pitchFamily="49" charset="-122"/>
              </a:rPr>
              <a:t>模型评估</a:t>
            </a:r>
            <a:endParaRPr kumimoji="1" lang="zh-CN" altLang="en-US" sz="4400" b="1" dirty="0">
              <a:solidFill>
                <a:schemeClr val="tx1"/>
              </a:solidFill>
              <a:latin typeface="楷体_GB2312" pitchFamily="49" charset="-122"/>
              <a:ea typeface="宋体" panose="02010600030101010101" pitchFamily="2" charset="-122"/>
              <a:cs typeface="楷体_GB2312" pitchFamily="49" charset="-122"/>
            </a:endParaRPr>
          </a:p>
        </p:txBody>
      </p:sp>
      <p:sp>
        <p:nvSpPr>
          <p:cNvPr id="2" name="矩形 1"/>
          <p:cNvSpPr/>
          <p:nvPr/>
        </p:nvSpPr>
        <p:spPr>
          <a:xfrm>
            <a:off x="516160" y="1302470"/>
            <a:ext cx="10799540" cy="1384995"/>
          </a:xfrm>
          <a:prstGeom prst="rect">
            <a:avLst/>
          </a:prstGeom>
        </p:spPr>
        <p:txBody>
          <a:bodyPr wrap="square">
            <a:spAutoFit/>
          </a:bodyPr>
          <a:lstStyle/>
          <a:p>
            <a:pPr>
              <a:lnSpc>
                <a:spcPct val="150000"/>
              </a:lnSpc>
            </a:pPr>
            <a:r>
              <a:rPr lang="en-US" altLang="zh-CN" sz="2800" kern="100" dirty="0">
                <a:latin typeface="+mn-ea"/>
                <a:ea typeface="+mn-ea"/>
                <a:cs typeface="Times New Roman" panose="02020603050405020304" pitchFamily="18" charset="0"/>
              </a:rPr>
              <a:t>    </a:t>
            </a:r>
            <a:r>
              <a:rPr lang="zh-CN" altLang="zh-CN" sz="2800" kern="100" dirty="0">
                <a:solidFill>
                  <a:srgbClr val="0000FF"/>
                </a:solidFill>
                <a:cs typeface="Times New Roman" panose="02020603050405020304" pitchFamily="18" charset="0"/>
              </a:rPr>
              <a:t>模型评估</a:t>
            </a:r>
            <a:r>
              <a:rPr lang="zh-CN" altLang="zh-CN" sz="2800" kern="100" dirty="0">
                <a:solidFill>
                  <a:schemeClr val="tx1"/>
                </a:solidFill>
                <a:cs typeface="Times New Roman" panose="02020603050405020304" pitchFamily="18" charset="0"/>
              </a:rPr>
              <a:t>的基本策略是设法估算出模型的泛化误差并通过泛化误差评估模型泛化性能。</a:t>
            </a:r>
            <a:endParaRPr lang="zh-CN" altLang="en-US" sz="2800" dirty="0">
              <a:solidFill>
                <a:schemeClr val="tx1"/>
              </a:solidFill>
            </a:endParaRPr>
          </a:p>
        </p:txBody>
      </p:sp>
      <mc:AlternateContent xmlns:mc="http://schemas.openxmlformats.org/markup-compatibility/2006" xmlns:a14="http://schemas.microsoft.com/office/drawing/2010/main">
        <mc:Choice Requires="a14">
          <p:sp>
            <p:nvSpPr>
              <p:cNvPr id="3" name="矩形 2"/>
              <p:cNvSpPr/>
              <p:nvPr/>
            </p:nvSpPr>
            <p:spPr>
              <a:xfrm>
                <a:off x="1187624" y="3083004"/>
                <a:ext cx="1271823" cy="461665"/>
              </a:xfrm>
              <a:prstGeom prst="rect">
                <a:avLst/>
              </a:prstGeom>
            </p:spPr>
            <p:txBody>
              <a:bodyPr wrap="none">
                <a:spAutoFit/>
              </a:bodyPr>
              <a:lstStyle/>
              <a:p>
                <a:r>
                  <a:rPr lang="zh-CN" altLang="zh-CN" kern="100" dirty="0">
                    <a:solidFill>
                      <a:schemeClr val="tx1"/>
                    </a:solidFill>
                    <a:cs typeface="Times New Roman" panose="02020603050405020304" pitchFamily="18" charset="0"/>
                  </a:rPr>
                  <a:t>错误率</a:t>
                </a:r>
                <a14:m>
                  <m:oMath xmlns:m="http://schemas.openxmlformats.org/officeDocument/2006/math">
                    <m:r>
                      <a:rPr lang="en-US" altLang="zh-CN" b="0"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𝑒</m:t>
                    </m:r>
                  </m:oMath>
                </a14:m>
                <a:endParaRPr lang="zh-CN" altLang="en-US" dirty="0">
                  <a:solidFill>
                    <a:schemeClr val="tx1"/>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1187624" y="3083004"/>
                <a:ext cx="1271823" cy="461665"/>
              </a:xfrm>
              <a:prstGeom prst="rect">
                <a:avLst/>
              </a:prstGeom>
              <a:blipFill rotWithShape="1">
                <a:blip r:embed="rId2"/>
                <a:stretch>
                  <a:fillRect l="-14" t="-17" r="7"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922606" y="2859870"/>
                <a:ext cx="3364639" cy="11453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0" i="1" smtClean="0">
                          <a:solidFill>
                            <a:srgbClr val="FF0000"/>
                          </a:solidFill>
                          <a:latin typeface="Cambria Math" panose="02040503050406030204" pitchFamily="18" charset="0"/>
                        </a:rPr>
                        <m:t>𝑒</m:t>
                      </m:r>
                      <m:r>
                        <a:rPr lang="zh-CN" altLang="en-US" b="0" i="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b="0" i="0">
                              <a:solidFill>
                                <a:srgbClr val="FF0000"/>
                              </a:solidFill>
                              <a:latin typeface="Cambria Math" panose="02040503050406030204" pitchFamily="18" charset="0"/>
                            </a:rPr>
                            <m:t>1</m:t>
                          </m:r>
                        </m:num>
                        <m:den>
                          <m:r>
                            <a:rPr lang="zh-CN" altLang="en-US" b="0" i="1">
                              <a:solidFill>
                                <a:srgbClr val="FF0000"/>
                              </a:solidFill>
                              <a:latin typeface="Cambria Math" panose="02040503050406030204" pitchFamily="18" charset="0"/>
                            </a:rPr>
                            <m:t>𝑘</m:t>
                          </m:r>
                        </m:den>
                      </m:f>
                      <m:nary>
                        <m:naryPr>
                          <m:chr m:val="∑"/>
                          <m:limLoc m:val="undOvr"/>
                          <m:ctrlPr>
                            <a:rPr lang="zh-CN" altLang="en-US" i="1">
                              <a:solidFill>
                                <a:srgbClr val="FF0000"/>
                              </a:solidFill>
                              <a:latin typeface="Cambria Math" panose="02040503050406030204" pitchFamily="18" charset="0"/>
                            </a:rPr>
                          </m:ctrlPr>
                        </m:naryPr>
                        <m:sub>
                          <m:r>
                            <a:rPr lang="zh-CN" altLang="en-US" b="0" i="1">
                              <a:solidFill>
                                <a:srgbClr val="FF0000"/>
                              </a:solidFill>
                              <a:latin typeface="Cambria Math" panose="02040503050406030204" pitchFamily="18" charset="0"/>
                            </a:rPr>
                            <m:t>𝑖</m:t>
                          </m:r>
                          <m:r>
                            <a:rPr lang="zh-CN" altLang="en-US" b="0" i="0">
                              <a:solidFill>
                                <a:srgbClr val="FF0000"/>
                              </a:solidFill>
                              <a:latin typeface="Cambria Math" panose="02040503050406030204" pitchFamily="18" charset="0"/>
                            </a:rPr>
                            <m:t>=1</m:t>
                          </m:r>
                        </m:sub>
                        <m:sup>
                          <m:r>
                            <a:rPr lang="zh-CN" altLang="en-US" b="0" i="1">
                              <a:solidFill>
                                <a:srgbClr val="FF0000"/>
                              </a:solidFill>
                              <a:latin typeface="Cambria Math" panose="02040503050406030204" pitchFamily="18" charset="0"/>
                            </a:rPr>
                            <m:t>𝑘</m:t>
                          </m:r>
                        </m:sup>
                        <m:e>
                          <m:d>
                            <m:dPr>
                              <m:begChr m:val=""/>
                              <m:ctrlPr>
                                <a:rPr lang="zh-CN" altLang="en-US" i="1">
                                  <a:solidFill>
                                    <a:srgbClr val="FF0000"/>
                                  </a:solidFill>
                                  <a:latin typeface="Cambria Math" panose="02040503050406030204" pitchFamily="18" charset="0"/>
                                </a:rPr>
                              </m:ctrlPr>
                            </m:dPr>
                            <m:e>
                              <m:r>
                                <a:rPr lang="zh-CN" altLang="en-US" b="0" i="1">
                                  <a:solidFill>
                                    <a:srgbClr val="FF0000"/>
                                  </a:solidFill>
                                  <a:latin typeface="Cambria Math" panose="02040503050406030204" pitchFamily="18" charset="0"/>
                                </a:rPr>
                                <m:t>𝐼</m:t>
                              </m:r>
                              <m:r>
                                <a:rPr lang="zh-CN" altLang="en-US" b="0" i="0">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𝑓</m:t>
                              </m:r>
                              <m:d>
                                <m:dPr>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r>
                                        <a:rPr lang="zh-CN" altLang="en-US" b="0" i="1">
                                          <a:solidFill>
                                            <a:srgbClr val="FF0000"/>
                                          </a:solidFill>
                                          <a:latin typeface="Cambria Math" panose="02040503050406030204" pitchFamily="18" charset="0"/>
                                        </a:rPr>
                                        <m:t>𝑋</m:t>
                                      </m:r>
                                    </m:e>
                                    <m:sub>
                                      <m:r>
                                        <a:rPr lang="zh-CN" altLang="en-US" b="0" i="1">
                                          <a:solidFill>
                                            <a:srgbClr val="FF0000"/>
                                          </a:solidFill>
                                          <a:latin typeface="Cambria Math" panose="02040503050406030204" pitchFamily="18" charset="0"/>
                                        </a:rPr>
                                        <m:t>𝑖</m:t>
                                      </m:r>
                                    </m:sub>
                                  </m:sSub>
                                </m:e>
                              </m:d>
                              <m:r>
                                <a:rPr lang="zh-CN" altLang="en-US" b="0" i="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0" i="1">
                                      <a:solidFill>
                                        <a:srgbClr val="FF0000"/>
                                      </a:solidFill>
                                      <a:latin typeface="Cambria Math" panose="02040503050406030204" pitchFamily="18" charset="0"/>
                                    </a:rPr>
                                    <m:t>𝑦</m:t>
                                  </m:r>
                                </m:e>
                                <m:sub>
                                  <m:r>
                                    <a:rPr lang="zh-CN" altLang="en-US" b="0" i="1">
                                      <a:solidFill>
                                        <a:srgbClr val="FF0000"/>
                                      </a:solidFill>
                                      <a:latin typeface="Cambria Math" panose="02040503050406030204" pitchFamily="18" charset="0"/>
                                    </a:rPr>
                                    <m:t>𝑖</m:t>
                                  </m:r>
                                </m:sub>
                              </m:sSub>
                            </m:e>
                          </m:d>
                        </m:e>
                      </m:nary>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922606" y="2859870"/>
                <a:ext cx="3364639" cy="1145378"/>
              </a:xfrm>
              <a:prstGeom prst="rect">
                <a:avLst/>
              </a:prstGeom>
              <a:blipFill rotWithShape="1">
                <a:blip r:embed="rId3"/>
                <a:stretch>
                  <a:fillRect l="-10" t="-41" r="3" b="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134229" y="4581128"/>
                <a:ext cx="1291829" cy="461665"/>
              </a:xfrm>
              <a:prstGeom prst="rect">
                <a:avLst/>
              </a:prstGeom>
            </p:spPr>
            <p:txBody>
              <a:bodyPr wrap="none">
                <a:spAutoFit/>
              </a:bodyPr>
              <a:lstStyle/>
              <a:p>
                <a:r>
                  <a:rPr lang="zh-CN" altLang="zh-CN" kern="100" dirty="0">
                    <a:solidFill>
                      <a:schemeClr val="tx1"/>
                    </a:solidFill>
                    <a:cs typeface="Times New Roman" panose="02020603050405020304" pitchFamily="18" charset="0"/>
                  </a:rPr>
                  <a:t>正确率</a:t>
                </a:r>
                <a14:m>
                  <m:oMath xmlns:m="http://schemas.openxmlformats.org/officeDocument/2006/math">
                    <m:r>
                      <a:rPr lang="en-US" altLang="zh-CN" b="0" i="1" kern="100">
                        <a:solidFill>
                          <a:schemeClr val="tx1"/>
                        </a:solidFill>
                        <a:latin typeface="Cambria Math" panose="02040503050406030204" pitchFamily="18" charset="0"/>
                        <a:ea typeface="宋体" panose="02010600030101010101" pitchFamily="2" charset="-122"/>
                        <a:cs typeface="Times New Roman" panose="02020603050405020304" pitchFamily="18" charset="0"/>
                      </a:rPr>
                      <m:t>𝑎</m:t>
                    </m:r>
                  </m:oMath>
                </a14:m>
                <a:endParaRPr lang="zh-CN" altLang="en-US"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1134229" y="4581128"/>
                <a:ext cx="1291829" cy="461665"/>
              </a:xfrm>
              <a:prstGeom prst="rect">
                <a:avLst/>
              </a:prstGeom>
              <a:blipFill rotWithShape="1">
                <a:blip r:embed="rId4"/>
                <a:stretch>
                  <a:fillRect l="-9" t="-52" r="28"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889217" y="4242830"/>
                <a:ext cx="3452805" cy="11453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0" i="1" smtClean="0">
                          <a:solidFill>
                            <a:srgbClr val="FF0000"/>
                          </a:solidFill>
                          <a:latin typeface="Cambria Math" panose="02040503050406030204" pitchFamily="18" charset="0"/>
                        </a:rPr>
                        <m:t>𝑎</m:t>
                      </m:r>
                      <m:r>
                        <a:rPr lang="zh-CN" altLang="en-US" b="0" i="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b="0" i="0">
                              <a:solidFill>
                                <a:srgbClr val="FF0000"/>
                              </a:solidFill>
                              <a:latin typeface="Cambria Math" panose="02040503050406030204" pitchFamily="18" charset="0"/>
                            </a:rPr>
                            <m:t>1</m:t>
                          </m:r>
                        </m:num>
                        <m:den>
                          <m:r>
                            <a:rPr lang="zh-CN" altLang="en-US" b="0" i="1">
                              <a:solidFill>
                                <a:srgbClr val="FF0000"/>
                              </a:solidFill>
                              <a:latin typeface="Cambria Math" panose="02040503050406030204" pitchFamily="18" charset="0"/>
                            </a:rPr>
                            <m:t>𝑘</m:t>
                          </m:r>
                        </m:den>
                      </m:f>
                      <m:nary>
                        <m:naryPr>
                          <m:chr m:val="∑"/>
                          <m:limLoc m:val="undOvr"/>
                          <m:ctrlPr>
                            <a:rPr lang="zh-CN" altLang="en-US" i="1">
                              <a:solidFill>
                                <a:srgbClr val="FF0000"/>
                              </a:solidFill>
                              <a:latin typeface="Cambria Math" panose="02040503050406030204" pitchFamily="18" charset="0"/>
                            </a:rPr>
                          </m:ctrlPr>
                        </m:naryPr>
                        <m:sub>
                          <m:r>
                            <a:rPr lang="zh-CN" altLang="en-US" b="0" i="1">
                              <a:solidFill>
                                <a:srgbClr val="FF0000"/>
                              </a:solidFill>
                              <a:latin typeface="Cambria Math" panose="02040503050406030204" pitchFamily="18" charset="0"/>
                            </a:rPr>
                            <m:t>𝑖</m:t>
                          </m:r>
                          <m:r>
                            <a:rPr lang="zh-CN" altLang="en-US" b="0" i="0">
                              <a:solidFill>
                                <a:srgbClr val="FF0000"/>
                              </a:solidFill>
                              <a:latin typeface="Cambria Math" panose="02040503050406030204" pitchFamily="18" charset="0"/>
                            </a:rPr>
                            <m:t>=1</m:t>
                          </m:r>
                        </m:sub>
                        <m:sup>
                          <m:r>
                            <a:rPr lang="zh-CN" altLang="en-US" b="0" i="1">
                              <a:solidFill>
                                <a:srgbClr val="FF0000"/>
                              </a:solidFill>
                              <a:latin typeface="Cambria Math" panose="02040503050406030204" pitchFamily="18" charset="0"/>
                            </a:rPr>
                            <m:t>𝑘</m:t>
                          </m:r>
                        </m:sup>
                        <m:e>
                          <m:d>
                            <m:dPr>
                              <m:begChr m:val=""/>
                              <m:ctrlPr>
                                <a:rPr lang="zh-CN" altLang="en-US" i="1">
                                  <a:solidFill>
                                    <a:srgbClr val="FF0000"/>
                                  </a:solidFill>
                                  <a:latin typeface="Cambria Math" panose="02040503050406030204" pitchFamily="18" charset="0"/>
                                </a:rPr>
                              </m:ctrlPr>
                            </m:dPr>
                            <m:e>
                              <m:r>
                                <a:rPr lang="zh-CN" altLang="en-US" b="0" i="1">
                                  <a:solidFill>
                                    <a:srgbClr val="FF0000"/>
                                  </a:solidFill>
                                  <a:latin typeface="Cambria Math" panose="02040503050406030204" pitchFamily="18" charset="0"/>
                                </a:rPr>
                                <m:t>𝐼</m:t>
                              </m:r>
                              <m:r>
                                <a:rPr lang="zh-CN" altLang="en-US" b="0" i="0">
                                  <a:solidFill>
                                    <a:srgbClr val="FF0000"/>
                                  </a:solidFill>
                                  <a:latin typeface="Cambria Math" panose="02040503050406030204" pitchFamily="18" charset="0"/>
                                </a:rPr>
                                <m:t>(</m:t>
                              </m:r>
                              <m:r>
                                <a:rPr lang="zh-CN" altLang="en-US" b="0" i="1">
                                  <a:solidFill>
                                    <a:srgbClr val="FF0000"/>
                                  </a:solidFill>
                                  <a:latin typeface="Cambria Math" panose="02040503050406030204" pitchFamily="18" charset="0"/>
                                </a:rPr>
                                <m:t>𝑓</m:t>
                              </m:r>
                              <m:d>
                                <m:dPr>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r>
                                        <a:rPr lang="zh-CN" altLang="en-US" b="0" i="1">
                                          <a:solidFill>
                                            <a:srgbClr val="FF0000"/>
                                          </a:solidFill>
                                          <a:latin typeface="Cambria Math" panose="02040503050406030204" pitchFamily="18" charset="0"/>
                                        </a:rPr>
                                        <m:t>𝑋</m:t>
                                      </m:r>
                                    </m:e>
                                    <m:sub>
                                      <m:r>
                                        <a:rPr lang="zh-CN" altLang="en-US" b="0" i="1">
                                          <a:solidFill>
                                            <a:srgbClr val="FF0000"/>
                                          </a:solidFill>
                                          <a:latin typeface="Cambria Math" panose="02040503050406030204" pitchFamily="18" charset="0"/>
                                        </a:rPr>
                                        <m:t>𝑖</m:t>
                                      </m:r>
                                    </m:sub>
                                  </m:sSub>
                                </m:e>
                              </m:d>
                              <m:r>
                                <a:rPr lang="zh-CN" altLang="en-US" b="0" i="0">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b="0" i="1">
                                      <a:solidFill>
                                        <a:srgbClr val="FF0000"/>
                                      </a:solidFill>
                                      <a:latin typeface="Cambria Math" panose="02040503050406030204" pitchFamily="18" charset="0"/>
                                    </a:rPr>
                                    <m:t>𝑦</m:t>
                                  </m:r>
                                </m:e>
                                <m:sub>
                                  <m:r>
                                    <a:rPr lang="zh-CN" altLang="en-US" b="0" i="1">
                                      <a:solidFill>
                                        <a:srgbClr val="FF0000"/>
                                      </a:solidFill>
                                      <a:latin typeface="Cambria Math" panose="02040503050406030204" pitchFamily="18" charset="0"/>
                                    </a:rPr>
                                    <m:t>𝑖</m:t>
                                  </m:r>
                                </m:sub>
                              </m:sSub>
                            </m:e>
                          </m:d>
                        </m:e>
                      </m:nary>
                      <m:r>
                        <a:rPr lang="zh-CN" altLang="en-US" i="0">
                          <a:latin typeface="Cambria Math" panose="02040503050406030204" pitchFamily="18" charset="0"/>
                        </a:rPr>
                        <m:t> </m:t>
                      </m:r>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2889217" y="4242830"/>
                <a:ext cx="3452805" cy="1145378"/>
              </a:xfrm>
              <a:prstGeom prst="rect">
                <a:avLst/>
              </a:prstGeom>
              <a:blipFill rotWithShape="1">
                <a:blip r:embed="rId5"/>
                <a:stretch>
                  <a:fillRect l="-17" t="-34" r="8" b="20"/>
                </a:stretch>
              </a:blipFill>
            </p:spPr>
            <p:txBody>
              <a:bodyPr/>
              <a:lstStyle/>
              <a:p>
                <a:r>
                  <a:rPr lang="zh-CN" altLang="en-US">
                    <a:noFill/>
                  </a:rPr>
                  <a:t> </a:t>
                </a:r>
              </a:p>
            </p:txBody>
          </p:sp>
        </mc:Fallback>
      </mc:AlternateContent>
      <p:sp>
        <p:nvSpPr>
          <p:cNvPr id="8" name="矩形 7"/>
          <p:cNvSpPr/>
          <p:nvPr/>
        </p:nvSpPr>
        <p:spPr>
          <a:xfrm>
            <a:off x="1590297" y="5753398"/>
            <a:ext cx="10177131" cy="523220"/>
          </a:xfrm>
          <a:prstGeom prst="rect">
            <a:avLst/>
          </a:prstGeom>
        </p:spPr>
        <p:txBody>
          <a:bodyPr wrap="square">
            <a:spAutoFit/>
          </a:bodyPr>
          <a:lstStyle/>
          <a:p>
            <a:r>
              <a:rPr lang="zh-CN" altLang="zh-CN" sz="2800" kern="100" dirty="0">
                <a:solidFill>
                  <a:srgbClr val="0000FF"/>
                </a:solidFill>
                <a:cs typeface="Times New Roman" panose="02020603050405020304" pitchFamily="18" charset="0"/>
              </a:rPr>
              <a:t>对于任意一个分类模型，其正确率与错误率之和恒为</a:t>
            </a:r>
            <a:r>
              <a:rPr lang="en-US" altLang="zh-CN" sz="2800" kern="100" dirty="0">
                <a:solidFill>
                  <a:srgbClr val="0000FF"/>
                </a:solidFill>
                <a:cs typeface="Times New Roman" panose="02020603050405020304" pitchFamily="18" charset="0"/>
              </a:rPr>
              <a:t>1</a:t>
            </a:r>
            <a:r>
              <a:rPr lang="zh-CN" altLang="zh-CN" sz="2800" kern="100" dirty="0">
                <a:solidFill>
                  <a:srgbClr val="0000FF"/>
                </a:solidFill>
                <a:cs typeface="Times New Roman" panose="02020603050405020304" pitchFamily="18" charset="0"/>
              </a:rPr>
              <a:t>。</a:t>
            </a:r>
            <a:endParaRPr lang="zh-CN" altLang="en-US" sz="2800" dirty="0">
              <a:solidFill>
                <a:srgbClr val="0000FF"/>
              </a:solidFill>
            </a:endParaRPr>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1183301" y="1388896"/>
            <a:ext cx="9409937" cy="4979690"/>
          </a:xfrm>
          <a:prstGeom prst="rect">
            <a:avLst/>
          </a:prstGeom>
        </p:spPr>
      </p:pic>
      <p:sp>
        <p:nvSpPr>
          <p:cNvPr id="4" name="TextBox 5"/>
          <p:cNvSpPr txBox="1">
            <a:spLocks noChangeArrowheads="1"/>
          </p:cNvSpPr>
          <p:nvPr/>
        </p:nvSpPr>
        <p:spPr bwMode="auto">
          <a:xfrm>
            <a:off x="1183301" y="539111"/>
            <a:ext cx="4830991" cy="584775"/>
          </a:xfrm>
          <a:prstGeom prst="rect">
            <a:avLst/>
          </a:prstGeom>
          <a:solidFill>
            <a:srgbClr val="00808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五、机器学习常用算法</a:t>
            </a:r>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576980" y="573617"/>
            <a:ext cx="2119612" cy="584775"/>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a:t>
            </a:r>
            <a:r>
              <a:rPr kumimoji="0" lang="zh-CN" altLang="en-US" sz="2800" b="1"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回归分析</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45989" y="1333962"/>
            <a:ext cx="10727267"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回归分析是一种研究自变量和因变量之间关系的预测模型，用于分析当自变量发生变化时因变量的变化值。</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要求自变量相互独立</a:t>
            </a:r>
            <a:endParaRPr kumimoji="1" lang="en-US" altLang="zh-CN" sz="2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nvPicPr>
        <p:blipFill>
          <a:blip r:embed="rId3" cstate="print"/>
          <a:stretch>
            <a:fillRect/>
          </a:stretch>
        </p:blipFill>
        <p:spPr>
          <a:xfrm>
            <a:off x="3773855" y="2608157"/>
            <a:ext cx="4825199" cy="3860159"/>
          </a:xfrm>
          <a:prstGeom prst="rect">
            <a:avLst/>
          </a:prstGeom>
        </p:spPr>
      </p:pic>
      <p:sp>
        <p:nvSpPr>
          <p:cNvPr id="9" name="TextBox 5"/>
          <p:cNvSpPr txBox="1">
            <a:spLocks noChangeArrowheads="1"/>
          </p:cNvSpPr>
          <p:nvPr/>
        </p:nvSpPr>
        <p:spPr bwMode="auto">
          <a:xfrm>
            <a:off x="745989" y="573618"/>
            <a:ext cx="4830991" cy="584775"/>
          </a:xfrm>
          <a:prstGeom prst="rect">
            <a:avLst/>
          </a:prstGeom>
          <a:solidFill>
            <a:srgbClr val="00808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五、机器学习常用算法</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2119612"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线性回归</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2"/>
            <a:ext cx="10727267" cy="3860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机器学习应用线性回归进行分析时要求自变量是连续型，线性回归用直线</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回归线</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去建立因变量和一个或多个自变量之间的关系。</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线性回归主要的特点如下：</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742950" marR="0" lvl="1" indent="-28575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自变量与因变量之间呈现线性关系</a:t>
            </a:r>
            <a:endPar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742950" marR="0" lvl="1" indent="-28575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多重共线性、自相关和异方差对多元线性回归的影响很大</a:t>
            </a:r>
            <a:endPar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742950" marR="0" lvl="1" indent="-28575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线性回归对异常值非常敏感，其能影响预测值</a:t>
            </a:r>
            <a:endPar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742950" marR="0" lvl="1" indent="-28575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在处理多个自变量时，需要用逐步回归的方法来自动选择显著性变量，不需要人工干预。其思想是将自变量逐个引入模型中，并进行</a:t>
            </a:r>
            <a:r>
              <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F</a:t>
            </a: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检验、</a:t>
            </a:r>
            <a:r>
              <a:rPr kumimoji="1" lang="en-US" altLang="zh-CN"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t</a:t>
            </a:r>
            <a:r>
              <a:rPr kumimoji="1" lang="zh-CN" altLang="en-US" sz="186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检验等来筛选变量，当新引人的变量对模型结果没有改进时，将其剔除，直到模型结果稳定。逐步回归的目的是选择重要的自变量。用最少的变量去最大化模型的预测能力，它也是一 种降维技术，主要的方法有前进法和后退法，前者是以最显著的变量开始，逐渐增加次显著变量。后者是逐渐剔除不显著的变量</a:t>
            </a:r>
            <a:endParaRPr kumimoji="1" lang="en-US" altLang="zh-CN" sz="13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2119612"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逻辑回归</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21050" y="1333962"/>
            <a:ext cx="10727267" cy="164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逻辑回归一般应用于分类问题。如果因变量类型为序数型的，则称为序数型逻辑回归；如果因变量有多个，则称为多项逻辑回归。</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逻辑回归需要大的样本量，在低样本量的情況下可能效果不佳，因为最大似然估计在低样本数量时的统计结果误差较大。</a:t>
            </a:r>
            <a:endParaRPr kumimoji="1" lang="en-US" altLang="zh-CN" sz="135"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0" y="-1"/>
            <a:ext cx="12192000" cy="6858001"/>
          </a:xfrm>
          <a:prstGeom prst="rect">
            <a:avLst/>
          </a:prstGeom>
        </p:spPr>
      </p:pic>
      <p:sp>
        <p:nvSpPr>
          <p:cNvPr id="3" name="日期占位符 2"/>
          <p:cNvSpPr>
            <a:spLocks noGrp="1"/>
          </p:cNvSpPr>
          <p:nvPr>
            <p:ph type="dt" sz="half" idx="10"/>
          </p:nvPr>
        </p:nvSpPr>
        <p:spPr/>
        <p:txBody>
          <a:bodyPr/>
          <a:lstStyle/>
          <a:p>
            <a:pPr>
              <a:defRPr/>
            </a:pPr>
            <a:fld id="{6AE5F8E2-ABB2-4B82-9EE4-7230B71CA31B}" type="datetime10">
              <a:rPr lang="zh-CN" altLang="en-US" smtClean="0"/>
              <a:t>15:41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0" y="0"/>
            <a:ext cx="12193760" cy="6858000"/>
          </a:xfrm>
          <a:prstGeom prst="rect">
            <a:avLst/>
          </a:prstGeom>
        </p:spPr>
      </p:pic>
      <p:sp>
        <p:nvSpPr>
          <p:cNvPr id="2" name="日期占位符 1"/>
          <p:cNvSpPr>
            <a:spLocks noGrp="1"/>
          </p:cNvSpPr>
          <p:nvPr>
            <p:ph type="dt" sz="half" idx="10"/>
          </p:nvPr>
        </p:nvSpPr>
        <p:spPr/>
        <p:txBody>
          <a:bodyPr/>
          <a:lstStyle/>
          <a:p>
            <a:pPr>
              <a:defRPr/>
            </a:pPr>
            <a:fld id="{D69457F3-BDA3-4AB8-BB21-417610BA9775}" type="datetime10">
              <a:rPr lang="zh-CN" altLang="en-US" smtClean="0"/>
              <a:t>15:41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神经网络</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0" y="8615"/>
            <a:ext cx="12178614" cy="6849385"/>
          </a:xfrm>
          <a:prstGeom prst="rect">
            <a:avLst/>
          </a:prstGeom>
        </p:spPr>
      </p:pic>
      <p:sp>
        <p:nvSpPr>
          <p:cNvPr id="3" name="日期占位符 2"/>
          <p:cNvSpPr>
            <a:spLocks noGrp="1"/>
          </p:cNvSpPr>
          <p:nvPr>
            <p:ph type="dt" sz="half" idx="10"/>
          </p:nvPr>
        </p:nvSpPr>
        <p:spPr/>
        <p:txBody>
          <a:bodyPr/>
          <a:lstStyle/>
          <a:p>
            <a:pPr>
              <a:defRPr/>
            </a:pPr>
            <a:fld id="{9DF46902-9176-4877-A1D0-18D1020CD32B}" type="datetime10">
              <a:rPr lang="zh-CN" altLang="en-US" smtClean="0"/>
              <a:t>15:41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0" y="-1"/>
            <a:ext cx="12157014" cy="6858001"/>
          </a:xfrm>
          <a:prstGeom prst="rect">
            <a:avLst/>
          </a:prstGeom>
        </p:spPr>
      </p:pic>
      <p:sp>
        <p:nvSpPr>
          <p:cNvPr id="3" name="日期占位符 2"/>
          <p:cNvSpPr>
            <a:spLocks noGrp="1"/>
          </p:cNvSpPr>
          <p:nvPr>
            <p:ph type="dt" sz="half" idx="10"/>
          </p:nvPr>
        </p:nvSpPr>
        <p:spPr/>
        <p:txBody>
          <a:bodyPr/>
          <a:lstStyle/>
          <a:p>
            <a:pPr>
              <a:defRPr/>
            </a:pPr>
            <a:fld id="{C07E1C3D-3364-4D80-BB4B-D15DA714281A}" type="datetime10">
              <a:rPr lang="zh-CN" altLang="en-US" smtClean="0"/>
              <a:t>15:41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451895" y="573618"/>
            <a:ext cx="2639682"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a:t>
            </a:r>
            <a:r>
              <a:rPr kumimoji="0" lang="zh-CN" altLang="en-US" sz="3200" b="1" i="0" u="none" strike="noStrike" kern="1200" cap="none" spc="0" normalizeH="0" baseline="0" noProof="0" dirty="0">
                <a:ln>
                  <a:noFill/>
                </a:ln>
                <a:solidFill>
                  <a:prstClr val="white"/>
                </a:solidFill>
                <a:effectLst/>
                <a:uLnTx/>
                <a:uFillTx/>
                <a:latin typeface="Calibri Light" panose="020F0302020204030204"/>
                <a:ea typeface="微软雅黑 Light" panose="020B0502040204020203" charset="-122"/>
                <a:cs typeface="+mn-cs"/>
              </a:rPr>
              <a:t>分类算法</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04425" y="1466962"/>
            <a:ext cx="10883517"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分类算法是应用分类规则对记录进行目标映射，将其划分到不同的分类中，构建具有泛化能力的算法模型，即构建映射规则来预测未知样本的类别。</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分类算法包括预测和描述两种，经过训练集学习的预测模型在遇到未知记录时，应用规则对其进行类别划分，而描述型的分类主要是对现有数据集中特征进行解释并进行区分，例如对动植物的各项特征进行描述，并进行标记分类，由这些特征来决定其属于哪一类目。</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主要的分类算法包括决策树、支持向量机</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(Support Vector Machine</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 SVM)</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、最近邻</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 </a:t>
            </a:r>
            <a:r>
              <a:rPr kumimoji="1" lang="en-US" altLang="zh-CN" sz="2400" b="0" i="0" u="none" strike="noStrike" kern="1200" cap="none" spc="0" normalizeH="0" baseline="0" noProof="0" dirty="0" err="1">
                <a:ln>
                  <a:noFill/>
                </a:ln>
                <a:solidFill>
                  <a:srgbClr val="000000"/>
                </a:solidFill>
                <a:effectLst/>
                <a:uLnTx/>
                <a:uFillTx/>
                <a:latin typeface="Calibri" panose="020F0502020204030204" pitchFamily="34" charset="0"/>
                <a:ea typeface="宋体" panose="02010600030101010101" pitchFamily="2" charset="-122"/>
                <a:cs typeface="+mn-cs"/>
              </a:rPr>
              <a:t>NearestNeighbors</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 KNN) </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、贝叶斯网络</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 Bayes Network) </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和神经网络等。</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7" name="TextBox 5"/>
          <p:cNvSpPr txBox="1">
            <a:spLocks noChangeArrowheads="1"/>
          </p:cNvSpPr>
          <p:nvPr/>
        </p:nvSpPr>
        <p:spPr bwMode="auto">
          <a:xfrm>
            <a:off x="745989" y="573618"/>
            <a:ext cx="4830991" cy="584775"/>
          </a:xfrm>
          <a:prstGeom prst="rect">
            <a:avLst/>
          </a:prstGeom>
          <a:solidFill>
            <a:srgbClr val="00808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五、机器学习常用算法</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7" y="573617"/>
            <a:ext cx="1470255"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决策树</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973157" y="1337014"/>
            <a:ext cx="10245685" cy="437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顾名思义，决策树是一棵用于决策的树， 目标类别作为叶子结点，特征属性的验证作为非叶子节点，而每个分支是特征属性的输出结果。擅长对人物、位置、事物的不同特征、品质、特性进行评估，可应用于基于规则的信用评估、比赛结果预测等。</a:t>
            </a:r>
            <a:endParaRPr lang="en-US" altLang="zh-CN" sz="2400" dirty="0">
              <a:solidFill>
                <a:srgbClr val="000000"/>
              </a:solidFill>
            </a:endParaRPr>
          </a:p>
          <a:p>
            <a:pPr algn="just"/>
            <a:r>
              <a:rPr lang="zh-CN" altLang="en-US" sz="2400" dirty="0">
                <a:solidFill>
                  <a:srgbClr val="000000"/>
                </a:solidFill>
              </a:rPr>
              <a:t>决策过程是从根结点出发，测试不同的特征属性，按照结果的不同选择分支，最终落到某一叶 子结点，获得分类结果。</a:t>
            </a:r>
            <a:endParaRPr lang="en-US" altLang="zh-CN" sz="2400" dirty="0">
              <a:solidFill>
                <a:srgbClr val="000000"/>
              </a:solidFill>
            </a:endParaRPr>
          </a:p>
          <a:p>
            <a:pPr algn="just"/>
            <a:r>
              <a:rPr lang="zh-CN" altLang="en-US" sz="2400" dirty="0">
                <a:solidFill>
                  <a:srgbClr val="000000"/>
                </a:solidFill>
              </a:rPr>
              <a:t>主要的决策树算法有</a:t>
            </a:r>
            <a:r>
              <a:rPr lang="en-US" altLang="zh-CN" sz="2400" dirty="0">
                <a:solidFill>
                  <a:srgbClr val="000000"/>
                </a:solidFill>
              </a:rPr>
              <a:t>ID3</a:t>
            </a:r>
            <a:r>
              <a:rPr lang="zh-CN" altLang="en-US" sz="2400" dirty="0">
                <a:solidFill>
                  <a:srgbClr val="000000"/>
                </a:solidFill>
              </a:rPr>
              <a:t>、</a:t>
            </a:r>
            <a:r>
              <a:rPr lang="en-US" altLang="zh-CN" sz="2400" dirty="0">
                <a:solidFill>
                  <a:srgbClr val="000000"/>
                </a:solidFill>
              </a:rPr>
              <a:t>C4.5</a:t>
            </a:r>
            <a:r>
              <a:rPr lang="zh-CN" altLang="en-US" sz="2400" dirty="0">
                <a:solidFill>
                  <a:srgbClr val="000000"/>
                </a:solidFill>
              </a:rPr>
              <a:t>、</a:t>
            </a:r>
            <a:r>
              <a:rPr lang="en-US" altLang="zh-CN" sz="2400" dirty="0">
                <a:solidFill>
                  <a:srgbClr val="000000"/>
                </a:solidFill>
              </a:rPr>
              <a:t>C5.0</a:t>
            </a:r>
            <a:r>
              <a:rPr lang="zh-CN" altLang="en-US" sz="2400" dirty="0">
                <a:solidFill>
                  <a:srgbClr val="000000"/>
                </a:solidFill>
              </a:rPr>
              <a:t>、 </a:t>
            </a:r>
            <a:r>
              <a:rPr lang="en-US" altLang="zh-CN" sz="2400" dirty="0">
                <a:solidFill>
                  <a:srgbClr val="000000"/>
                </a:solidFill>
              </a:rPr>
              <a:t>CART</a:t>
            </a:r>
            <a:r>
              <a:rPr lang="zh-CN" altLang="en-US" sz="2400" dirty="0">
                <a:solidFill>
                  <a:srgbClr val="000000"/>
                </a:solidFill>
              </a:rPr>
              <a:t>、</a:t>
            </a:r>
            <a:r>
              <a:rPr lang="en-US" altLang="zh-CN" sz="2400" dirty="0">
                <a:solidFill>
                  <a:srgbClr val="000000"/>
                </a:solidFill>
              </a:rPr>
              <a:t>CHAID</a:t>
            </a:r>
            <a:r>
              <a:rPr lang="zh-CN" altLang="en-US" sz="2400" dirty="0">
                <a:solidFill>
                  <a:srgbClr val="000000"/>
                </a:solidFill>
              </a:rPr>
              <a:t>、 </a:t>
            </a:r>
            <a:r>
              <a:rPr lang="en-US" altLang="zh-CN" sz="2400" dirty="0">
                <a:solidFill>
                  <a:srgbClr val="000000"/>
                </a:solidFill>
              </a:rPr>
              <a:t>SLIQ</a:t>
            </a:r>
            <a:r>
              <a:rPr lang="zh-CN" altLang="en-US" sz="2400" dirty="0">
                <a:solidFill>
                  <a:srgbClr val="000000"/>
                </a:solidFill>
              </a:rPr>
              <a:t>、 </a:t>
            </a:r>
            <a:r>
              <a:rPr lang="en-US" altLang="zh-CN" sz="2400" dirty="0">
                <a:solidFill>
                  <a:srgbClr val="000000"/>
                </a:solidFill>
              </a:rPr>
              <a:t>SPRINT</a:t>
            </a:r>
            <a:r>
              <a:rPr lang="zh-CN" altLang="en-US" sz="2400" dirty="0">
                <a:solidFill>
                  <a:srgbClr val="000000"/>
                </a:solidFill>
              </a:rPr>
              <a:t>等算法。</a:t>
            </a:r>
            <a:endParaRPr lang="en-US" altLang="zh-CN" sz="2400" dirty="0">
              <a:solidFill>
                <a:srgbClr val="000000"/>
              </a:solidFill>
            </a:endParaRPr>
          </a:p>
          <a:p>
            <a:pPr algn="just"/>
            <a:r>
              <a:rPr lang="zh-CN" altLang="en-US" sz="2400" dirty="0">
                <a:solidFill>
                  <a:srgbClr val="000000"/>
                </a:solidFill>
              </a:rPr>
              <a:t>决策树的构建过程是按照属性的优先级或重要性来逐渐确定树的层次结构，使其叶结点尽可能属于同一类别，一般采用局部最优的贪心策略来构建决策树。</a:t>
            </a:r>
            <a:endParaRPr lang="en-US" altLang="zh-CN" sz="24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支持向量机</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430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支持向量机的主要思想是将低维特征空间中的线性不可分进行非线性映射转化为高维空间的线性可分。此外，应用结构风险最小理论在特征空间优化分割超平面，可以找到尽可能宽的分类边界，特别适合两分类的问题，例如在二维平面图中某些点是杂乱排布的，无法用一条直线分为两类，但是在三维空间中，可能通过一个平面可以将其划分。</a:t>
            </a:r>
            <a:endParaRPr lang="en-US" altLang="zh-CN" sz="2400" dirty="0">
              <a:solidFill>
                <a:srgbClr val="000000"/>
              </a:solidFill>
            </a:endParaRPr>
          </a:p>
          <a:p>
            <a:pPr algn="just"/>
            <a:r>
              <a:rPr lang="zh-CN" altLang="en-US" sz="2400" dirty="0">
                <a:solidFill>
                  <a:srgbClr val="000000"/>
                </a:solidFill>
              </a:rPr>
              <a:t>为了避免在低维空间向高维高空转化过程中增加计算复杂性和“维数灾难”支持向量机应用核函数，不需要关心非线性映射的显式表达式，直接在高维空间建立线性分类器，优化了计算复杂度。支持向量机常见的核函数有线性核函数、多项式核函数、径向基函数和二层神经网络核函数等。</a:t>
            </a:r>
            <a:endParaRPr lang="en-US" altLang="zh-CN" sz="2400" dirty="0">
              <a:solidFill>
                <a:srgbClr val="000000"/>
              </a:solidFill>
            </a:endParaRPr>
          </a:p>
          <a:p>
            <a:pPr algn="just"/>
            <a:r>
              <a:rPr lang="zh-CN" altLang="en-US" sz="2400" dirty="0">
                <a:solidFill>
                  <a:srgbClr val="000000"/>
                </a:solidFill>
              </a:rPr>
              <a:t>支持向量机的目标变量以分类最佳，虽然可以用于多分类， 但效果不好。与其他分类算法相比，支持向量机对小样本数据集分类效果更好。</a:t>
            </a:r>
            <a:endParaRPr lang="en-US" altLang="zh-CN" sz="24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最近邻算法</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5148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对样本应用向量空间模型表示，将相似度高的样本分为一类，对新样本计算与之距离最近</a:t>
            </a:r>
            <a:r>
              <a:rPr lang="en-US" altLang="zh-CN" sz="2400" dirty="0">
                <a:solidFill>
                  <a:srgbClr val="000000"/>
                </a:solidFill>
              </a:rPr>
              <a:t>(</a:t>
            </a:r>
            <a:r>
              <a:rPr lang="zh-CN" altLang="en-US" sz="2400" dirty="0">
                <a:solidFill>
                  <a:srgbClr val="000000"/>
                </a:solidFill>
              </a:rPr>
              <a:t>最相似</a:t>
            </a:r>
            <a:r>
              <a:rPr lang="en-US" altLang="zh-CN" sz="2400" dirty="0">
                <a:solidFill>
                  <a:srgbClr val="000000"/>
                </a:solidFill>
              </a:rPr>
              <a:t>)</a:t>
            </a:r>
            <a:r>
              <a:rPr lang="zh-CN" altLang="en-US" sz="2400" dirty="0">
                <a:solidFill>
                  <a:srgbClr val="000000"/>
                </a:solidFill>
              </a:rPr>
              <a:t>的样本的类别，那么新样本就属于这些样本中的类别最多那一类。 可见影响分类结果的因素分别为距离计算方法、近邻的样本数量等。</a:t>
            </a:r>
            <a:endParaRPr lang="en-US" altLang="zh-CN" sz="2400" dirty="0">
              <a:solidFill>
                <a:srgbClr val="000000"/>
              </a:solidFill>
            </a:endParaRPr>
          </a:p>
          <a:p>
            <a:pPr algn="just"/>
            <a:r>
              <a:rPr lang="zh-CN" altLang="en-US" sz="2400" dirty="0">
                <a:solidFill>
                  <a:srgbClr val="000000"/>
                </a:solidFill>
              </a:rPr>
              <a:t>相似度距离计算方法：欧式距离、曼哈顿距离、切比雪夫距离、明科夫斯基距离、 标准化欧氏距离、马氏距离、巴氏距离、汉明距离、夹角余弦、杰卡德相似系数、皮尔逊系数。</a:t>
            </a:r>
            <a:endParaRPr lang="en-US" altLang="zh-CN" sz="2400" dirty="0">
              <a:solidFill>
                <a:srgbClr val="000000"/>
              </a:solidFill>
            </a:endParaRPr>
          </a:p>
          <a:p>
            <a:pPr algn="just"/>
            <a:r>
              <a:rPr lang="zh-CN" altLang="en-US" sz="2400" dirty="0">
                <a:solidFill>
                  <a:srgbClr val="000000"/>
                </a:solidFill>
              </a:rPr>
              <a:t>最近邻算法的主要缺点</a:t>
            </a:r>
            <a:endParaRPr lang="en-US" altLang="zh-CN" sz="2400" dirty="0">
              <a:solidFill>
                <a:srgbClr val="000000"/>
              </a:solidFill>
            </a:endParaRPr>
          </a:p>
          <a:p>
            <a:pPr lvl="1" algn="just"/>
            <a:r>
              <a:rPr lang="zh-CN" altLang="en-US" sz="1865" dirty="0">
                <a:solidFill>
                  <a:srgbClr val="000000"/>
                </a:solidFill>
              </a:rPr>
              <a:t>在各分类样本数量不平衡时误差较大</a:t>
            </a:r>
            <a:endParaRPr lang="en-US" altLang="zh-CN" sz="1865" dirty="0">
              <a:solidFill>
                <a:srgbClr val="000000"/>
              </a:solidFill>
            </a:endParaRPr>
          </a:p>
          <a:p>
            <a:pPr lvl="1" algn="just"/>
            <a:r>
              <a:rPr lang="zh-CN" altLang="en-US" sz="1865" dirty="0">
                <a:solidFill>
                  <a:srgbClr val="000000"/>
                </a:solidFill>
              </a:rPr>
              <a:t>由于每次比较要遍历整个训练样本集来计算相似度，所以分类的效率较低，时间和空间复杂度较高</a:t>
            </a:r>
            <a:endParaRPr lang="en-US" altLang="zh-CN" sz="1865" dirty="0">
              <a:solidFill>
                <a:srgbClr val="000000"/>
              </a:solidFill>
            </a:endParaRPr>
          </a:p>
          <a:p>
            <a:pPr lvl="1" algn="just"/>
            <a:r>
              <a:rPr lang="zh-CN" altLang="en-US" sz="1865" dirty="0">
                <a:solidFill>
                  <a:srgbClr val="000000"/>
                </a:solidFill>
              </a:rPr>
              <a:t>近邻的数量选择不合理可能会导致结果的误差较大</a:t>
            </a:r>
            <a:endParaRPr lang="en-US" altLang="zh-CN" sz="1865" dirty="0">
              <a:solidFill>
                <a:srgbClr val="000000"/>
              </a:solidFill>
            </a:endParaRPr>
          </a:p>
          <a:p>
            <a:pPr lvl="1" algn="just"/>
            <a:r>
              <a:rPr lang="zh-CN" altLang="en-US" sz="1865" dirty="0">
                <a:solidFill>
                  <a:srgbClr val="000000"/>
                </a:solidFill>
              </a:rPr>
              <a:t>在原始近邻算法中没有权重的概念，所有特征采用相同的权重参数，这样计算出来的相似度易产生误差</a:t>
            </a:r>
            <a:endParaRPr lang="en-US" altLang="zh-CN" sz="1865"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贝叶斯网络</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2"/>
            <a:ext cx="10727267" cy="356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贝叶斯网络贝叶斯网络又称为置信网络，是基于贝叶斯定理绘制的具有概率分布的有向弧段图形化网络，其理论基础是贝叶斯公式，网络中的每个点表示变量，有向孤段表示两者间的概率关系。</a:t>
            </a:r>
            <a:endParaRPr lang="en-US" altLang="zh-CN" sz="2400" dirty="0">
              <a:solidFill>
                <a:srgbClr val="000000"/>
              </a:solidFill>
            </a:endParaRPr>
          </a:p>
          <a:p>
            <a:pPr algn="just"/>
            <a:r>
              <a:rPr lang="zh-CN" altLang="en-US" sz="2400" dirty="0">
                <a:solidFill>
                  <a:srgbClr val="000000"/>
                </a:solidFill>
              </a:rPr>
              <a:t>与神经网络相比，贝叶斯网络中的节点都具有实际的含义，节点之间的关系比较明确，可以从贝叶斯网络中直观看到变量之间的条件独立和依赖关系，可以进行结果和原因的双向推理。</a:t>
            </a:r>
            <a:endParaRPr lang="en-US" altLang="zh-CN" sz="2400" dirty="0">
              <a:solidFill>
                <a:srgbClr val="000000"/>
              </a:solidFill>
            </a:endParaRPr>
          </a:p>
          <a:p>
            <a:pPr algn="just"/>
            <a:r>
              <a:rPr lang="zh-CN" altLang="en-US" sz="2400" dirty="0">
                <a:solidFill>
                  <a:srgbClr val="000000"/>
                </a:solidFill>
              </a:rPr>
              <a:t>贝叶斯网络分类算法分为朴索贝叶斯算法和普通贝叶斯算法，在节点数较少的网络结构中可选精确贝叶斯算法以提高精确概率，在节点数较多时，为减少推理过程和降低复杂性，一般选择朴素贝叶斯算法。</a:t>
            </a:r>
            <a:endParaRPr lang="en-US" altLang="zh-CN" sz="1865"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0" y="0"/>
            <a:ext cx="12186067" cy="6858000"/>
          </a:xfrm>
          <a:prstGeom prst="rect">
            <a:avLst/>
          </a:prstGeom>
        </p:spPr>
      </p:pic>
      <p:sp>
        <p:nvSpPr>
          <p:cNvPr id="2" name="日期占位符 1"/>
          <p:cNvSpPr>
            <a:spLocks noGrp="1"/>
          </p:cNvSpPr>
          <p:nvPr>
            <p:ph type="dt" sz="half" idx="10"/>
          </p:nvPr>
        </p:nvSpPr>
        <p:spPr/>
        <p:txBody>
          <a:bodyPr/>
          <a:lstStyle/>
          <a:p>
            <a:pPr>
              <a:defRPr/>
            </a:pPr>
            <a:fld id="{2B332A0F-0B21-40E0-BA16-D5CB0693E699}" type="datetime10">
              <a:rPr lang="zh-CN" altLang="en-US" smtClean="0"/>
              <a:t>15:41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99">
        <p:blinds dir="vert"/>
      </p:transition>
    </mc:Choice>
    <mc:Fallback xmlns="">
      <p:transition spd="slow">
        <p:blinds dir="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00792" y="436217"/>
            <a:ext cx="4801314" cy="646331"/>
          </a:xfrm>
          <a:prstGeom prst="rect">
            <a:avLst/>
          </a:prstGeom>
        </p:spPr>
        <p:txBody>
          <a:bodyPr wrap="none">
            <a:spAutoFit/>
          </a:bodyPr>
          <a:lstStyle/>
          <a:p>
            <a:r>
              <a:rPr lang="zh-CN" altLang="zh-CN" sz="3600" b="1" dirty="0"/>
              <a:t>机器学习中的常用算法</a:t>
            </a:r>
            <a:r>
              <a:rPr lang="zh-CN" altLang="zh-CN" sz="3600" dirty="0"/>
              <a:t> </a:t>
            </a:r>
            <a:endParaRPr lang="zh-CN" altLang="en-US" sz="3600" dirty="0"/>
          </a:p>
        </p:txBody>
      </p:sp>
      <p:sp>
        <p:nvSpPr>
          <p:cNvPr id="3" name="矩形 2"/>
          <p:cNvSpPr/>
          <p:nvPr/>
        </p:nvSpPr>
        <p:spPr>
          <a:xfrm>
            <a:off x="412629" y="1227435"/>
            <a:ext cx="5682966" cy="461665"/>
          </a:xfrm>
          <a:prstGeom prst="rect">
            <a:avLst/>
          </a:prstGeom>
        </p:spPr>
        <p:txBody>
          <a:bodyPr wrap="none">
            <a:spAutoFit/>
          </a:bodyPr>
          <a:lstStyle/>
          <a:p>
            <a:pPr marL="342900" indent="-342900">
              <a:buFont typeface="Arial" panose="020B0604020202020204" pitchFamily="34" charset="0"/>
              <a:buChar char="•"/>
            </a:pPr>
            <a:r>
              <a:rPr lang="zh-CN" altLang="en-US" sz="2400" b="1" dirty="0">
                <a:latin typeface="华文楷体" panose="02010600040101010101" charset="-122"/>
                <a:ea typeface="华文楷体" panose="02010600040101010101" charset="-122"/>
                <a:cs typeface="华文楷体" panose="02010600040101010101" charset="-122"/>
              </a:rPr>
              <a:t>无</a:t>
            </a:r>
            <a:r>
              <a:rPr lang="zh-CN" altLang="zh-CN" sz="2400" b="1" dirty="0">
                <a:latin typeface="华文楷体" panose="02010600040101010101" charset="-122"/>
                <a:ea typeface="华文楷体" panose="02010600040101010101" charset="-122"/>
                <a:cs typeface="华文楷体" panose="02010600040101010101" charset="-122"/>
              </a:rPr>
              <a:t>监督学习（</a:t>
            </a:r>
            <a:r>
              <a:rPr lang="en-US" altLang="zh-CN" sz="2400" b="1" dirty="0">
                <a:latin typeface="华文楷体" panose="02010600040101010101" charset="-122"/>
                <a:ea typeface="华文楷体" panose="02010600040101010101" charset="-122"/>
                <a:cs typeface="华文楷体" panose="02010600040101010101" charset="-122"/>
              </a:rPr>
              <a:t>Unsupervised Learning</a:t>
            </a:r>
            <a:r>
              <a:rPr lang="zh-CN" altLang="zh-CN" sz="2400" b="1" dirty="0">
                <a:latin typeface="华文楷体" panose="02010600040101010101" charset="-122"/>
                <a:ea typeface="华文楷体" panose="02010600040101010101" charset="-122"/>
                <a:cs typeface="华文楷体" panose="02010600040101010101" charset="-122"/>
              </a:rPr>
              <a:t> </a:t>
            </a:r>
            <a:r>
              <a:rPr lang="en-US" altLang="zh-CN" sz="2400" b="1" dirty="0">
                <a:latin typeface="华文楷体" panose="02010600040101010101" charset="-122"/>
                <a:ea typeface="华文楷体" panose="02010600040101010101" charset="-122"/>
                <a:cs typeface="华文楷体" panose="02010600040101010101" charset="-122"/>
              </a:rPr>
              <a:t> </a:t>
            </a:r>
            <a:r>
              <a:rPr lang="zh-CN" altLang="zh-CN" sz="2400" b="1" dirty="0">
                <a:latin typeface="华文楷体" panose="02010600040101010101" charset="-122"/>
                <a:ea typeface="华文楷体" panose="02010600040101010101" charset="-122"/>
                <a:cs typeface="华文楷体" panose="02010600040101010101" charset="-122"/>
              </a:rPr>
              <a:t>）</a:t>
            </a:r>
            <a:r>
              <a:rPr lang="zh-CN" altLang="zh-CN" sz="2400" dirty="0">
                <a:latin typeface="华文楷体" panose="02010600040101010101" charset="-122"/>
                <a:ea typeface="华文楷体" panose="02010600040101010101" charset="-122"/>
                <a:cs typeface="华文楷体" panose="02010600040101010101" charset="-122"/>
              </a:rPr>
              <a:t> </a:t>
            </a:r>
            <a:endParaRPr lang="zh-CN" altLang="en-US" sz="2400" dirty="0">
              <a:latin typeface="华文楷体" panose="02010600040101010101" charset="-122"/>
              <a:ea typeface="华文楷体" panose="02010600040101010101" charset="-122"/>
              <a:cs typeface="华文楷体" panose="02010600040101010101" charset="-122"/>
            </a:endParaRPr>
          </a:p>
        </p:txBody>
      </p:sp>
      <p:pic>
        <p:nvPicPr>
          <p:cNvPr id="5" name="图片 4"/>
          <p:cNvPicPr/>
          <p:nvPr/>
        </p:nvPicPr>
        <p:blipFill>
          <a:blip r:embed="rId3" cstate="print"/>
          <a:stretch>
            <a:fillRect/>
          </a:stretch>
        </p:blipFill>
        <p:spPr>
          <a:xfrm>
            <a:off x="608214" y="1705783"/>
            <a:ext cx="5652000" cy="4716000"/>
          </a:xfrm>
          <a:prstGeom prst="rect">
            <a:avLst/>
          </a:prstGeom>
        </p:spPr>
      </p:pic>
      <p:sp>
        <p:nvSpPr>
          <p:cNvPr id="6" name="文本框 5"/>
          <p:cNvSpPr txBox="1"/>
          <p:nvPr/>
        </p:nvSpPr>
        <p:spPr>
          <a:xfrm>
            <a:off x="6347497" y="1908940"/>
            <a:ext cx="5236289" cy="3911840"/>
          </a:xfrm>
          <a:prstGeom prst="rect">
            <a:avLst/>
          </a:prstGeom>
          <a:noFill/>
        </p:spPr>
        <p:txBody>
          <a:bodyPr wrap="square">
            <a:spAutoFit/>
          </a:bodyPr>
          <a:lstStyle/>
          <a:p>
            <a:pPr>
              <a:lnSpc>
                <a:spcPct val="150000"/>
              </a:lnSpc>
            </a:pPr>
            <a:r>
              <a:rPr lang="zh-CN" altLang="en-US" sz="2400" dirty="0"/>
              <a:t>    在无监督学习中，数据并没有被特别标识，学习模型是为了推断出数据的一些内在结构。 </a:t>
            </a:r>
          </a:p>
          <a:p>
            <a:pPr>
              <a:lnSpc>
                <a:spcPct val="150000"/>
              </a:lnSpc>
            </a:pPr>
            <a:r>
              <a:rPr lang="zh-CN" altLang="en-US" sz="2400" dirty="0"/>
              <a:t>    无监督学习能够在很少或者根本不知道结果应该是什么样的情况下处理问题，可以从数据中导出结构，不一定知道变量的影响。</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dirty="0"/>
              <a:t> k-</a:t>
            </a:r>
            <a:r>
              <a:rPr lang="zh-CN" altLang="en-US" sz="2400" dirty="0"/>
              <a:t>均值算法</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2"/>
            <a:ext cx="10727267" cy="421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 </a:t>
            </a:r>
            <a:r>
              <a:rPr lang="en-US" altLang="zh-CN" sz="2400" dirty="0">
                <a:solidFill>
                  <a:srgbClr val="000000"/>
                </a:solidFill>
              </a:rPr>
              <a:t>k-</a:t>
            </a:r>
            <a:r>
              <a:rPr lang="zh-CN" altLang="en-US" sz="2400" dirty="0">
                <a:solidFill>
                  <a:srgbClr val="000000"/>
                </a:solidFill>
              </a:rPr>
              <a:t>均值算法</a:t>
            </a:r>
            <a:r>
              <a:rPr lang="en-US" altLang="zh-CN" sz="2400" dirty="0">
                <a:solidFill>
                  <a:srgbClr val="000000"/>
                </a:solidFill>
              </a:rPr>
              <a:t>   </a:t>
            </a:r>
            <a:r>
              <a:rPr lang="zh-CN" altLang="en-US" sz="2400" dirty="0">
                <a:solidFill>
                  <a:srgbClr val="000000"/>
                </a:solidFill>
              </a:rPr>
              <a:t>传统的</a:t>
            </a:r>
            <a:r>
              <a:rPr lang="en-US" altLang="zh-CN" sz="2400" dirty="0">
                <a:solidFill>
                  <a:srgbClr val="000000"/>
                </a:solidFill>
              </a:rPr>
              <a:t>k-</a:t>
            </a:r>
            <a:r>
              <a:rPr lang="zh-CN" altLang="en-US" sz="2400" dirty="0">
                <a:solidFill>
                  <a:srgbClr val="000000"/>
                </a:solidFill>
              </a:rPr>
              <a:t>均值算法的聚类过程是在样本集中随机选择</a:t>
            </a:r>
            <a:r>
              <a:rPr lang="en-US" altLang="zh-CN" sz="2400" dirty="0">
                <a:solidFill>
                  <a:srgbClr val="000000"/>
                </a:solidFill>
              </a:rPr>
              <a:t>k</a:t>
            </a:r>
            <a:r>
              <a:rPr lang="zh-CN" altLang="en-US" sz="2400" dirty="0">
                <a:solidFill>
                  <a:srgbClr val="000000"/>
                </a:solidFill>
              </a:rPr>
              <a:t>个聚类中心点，对每个样本计算候选中心的距离进行分组，在得到分组之后重新计算类簇的中心，循环迭代直到聚类中心不变或收敛。</a:t>
            </a:r>
            <a:endParaRPr lang="en-US" altLang="zh-CN" sz="2400" dirty="0">
              <a:solidFill>
                <a:srgbClr val="000000"/>
              </a:solidFill>
            </a:endParaRPr>
          </a:p>
          <a:p>
            <a:pPr algn="just"/>
            <a:r>
              <a:rPr lang="en-US" altLang="zh-CN" sz="2400" dirty="0">
                <a:solidFill>
                  <a:srgbClr val="000000"/>
                </a:solidFill>
              </a:rPr>
              <a:t>k-</a:t>
            </a:r>
            <a:r>
              <a:rPr lang="zh-CN" altLang="en-US" sz="2400" dirty="0">
                <a:solidFill>
                  <a:srgbClr val="000000"/>
                </a:solidFill>
              </a:rPr>
              <a:t>均值存在较多改进算法，如初始化优化</a:t>
            </a:r>
            <a:r>
              <a:rPr lang="en-US" altLang="zh-CN" sz="2400" dirty="0">
                <a:solidFill>
                  <a:srgbClr val="000000"/>
                </a:solidFill>
              </a:rPr>
              <a:t>k-</a:t>
            </a:r>
            <a:r>
              <a:rPr lang="zh-CN" altLang="en-US" sz="2400" dirty="0">
                <a:solidFill>
                  <a:srgbClr val="000000"/>
                </a:solidFill>
              </a:rPr>
              <a:t>均值</a:t>
            </a:r>
            <a:r>
              <a:rPr lang="en-US" altLang="zh-CN" sz="2400" dirty="0">
                <a:solidFill>
                  <a:srgbClr val="000000"/>
                </a:solidFill>
              </a:rPr>
              <a:t>++</a:t>
            </a:r>
            <a:r>
              <a:rPr lang="zh-CN" altLang="en-US" sz="2400" dirty="0">
                <a:solidFill>
                  <a:srgbClr val="000000"/>
                </a:solidFill>
              </a:rPr>
              <a:t>、距离优化</a:t>
            </a:r>
            <a:r>
              <a:rPr lang="en-US" altLang="zh-CN" sz="2400" dirty="0">
                <a:solidFill>
                  <a:srgbClr val="000000"/>
                </a:solidFill>
              </a:rPr>
              <a:t>Elkan k -Means</a:t>
            </a:r>
            <a:r>
              <a:rPr lang="zh-CN" altLang="en-US" sz="2400" dirty="0">
                <a:solidFill>
                  <a:srgbClr val="000000"/>
                </a:solidFill>
              </a:rPr>
              <a:t>算法、</a:t>
            </a:r>
            <a:r>
              <a:rPr lang="en-US" altLang="zh-CN" sz="2400" dirty="0">
                <a:solidFill>
                  <a:srgbClr val="000000"/>
                </a:solidFill>
              </a:rPr>
              <a:t>k Prototype</a:t>
            </a:r>
            <a:r>
              <a:rPr lang="zh-CN" altLang="en-US" sz="2400" dirty="0">
                <a:solidFill>
                  <a:srgbClr val="000000"/>
                </a:solidFill>
              </a:rPr>
              <a:t>算法等。</a:t>
            </a:r>
            <a:endParaRPr lang="en-US" altLang="zh-CN" sz="2400" dirty="0">
              <a:solidFill>
                <a:srgbClr val="000000"/>
              </a:solidFill>
            </a:endParaRPr>
          </a:p>
          <a:p>
            <a:pPr algn="just"/>
            <a:r>
              <a:rPr lang="en-US" altLang="zh-CN" sz="2400" dirty="0">
                <a:solidFill>
                  <a:srgbClr val="000000"/>
                </a:solidFill>
              </a:rPr>
              <a:t>k-</a:t>
            </a:r>
            <a:r>
              <a:rPr lang="zh-CN" altLang="en-US" sz="2400" dirty="0">
                <a:solidFill>
                  <a:srgbClr val="000000"/>
                </a:solidFill>
              </a:rPr>
              <a:t>均值算法的主要优点</a:t>
            </a:r>
            <a:endParaRPr lang="en-US" altLang="zh-CN" sz="2400" dirty="0">
              <a:solidFill>
                <a:srgbClr val="000000"/>
              </a:solidFill>
            </a:endParaRPr>
          </a:p>
          <a:p>
            <a:pPr lvl="1" algn="just"/>
            <a:r>
              <a:rPr lang="zh-CN" altLang="en-US" sz="1865" dirty="0">
                <a:solidFill>
                  <a:srgbClr val="000000"/>
                </a:solidFill>
              </a:rPr>
              <a:t>可以简单快速处理大数据集，并且是可伸缩的，当数据集中类之间区分明显</a:t>
            </a:r>
            <a:r>
              <a:rPr lang="en-US" altLang="zh-CN" sz="1865" dirty="0">
                <a:solidFill>
                  <a:srgbClr val="000000"/>
                </a:solidFill>
              </a:rPr>
              <a:t>(</a:t>
            </a:r>
            <a:r>
              <a:rPr lang="zh-CN" altLang="en-US" sz="1865" dirty="0">
                <a:solidFill>
                  <a:srgbClr val="000000"/>
                </a:solidFill>
              </a:rPr>
              <a:t>凸形分布</a:t>
            </a:r>
            <a:r>
              <a:rPr lang="en-US" altLang="zh-CN" sz="1865" dirty="0">
                <a:solidFill>
                  <a:srgbClr val="000000"/>
                </a:solidFill>
              </a:rPr>
              <a:t>)</a:t>
            </a:r>
            <a:r>
              <a:rPr lang="zh-CN" altLang="en-US" sz="1865" dirty="0">
                <a:solidFill>
                  <a:srgbClr val="000000"/>
                </a:solidFill>
              </a:rPr>
              <a:t>时，聚类效果最好</a:t>
            </a:r>
            <a:endParaRPr lang="en-US" altLang="zh-CN" sz="1865" dirty="0">
              <a:solidFill>
                <a:srgbClr val="000000"/>
              </a:solidFill>
            </a:endParaRPr>
          </a:p>
          <a:p>
            <a:pPr algn="just"/>
            <a:r>
              <a:rPr lang="zh-CN" altLang="en-US" sz="2400" dirty="0">
                <a:solidFill>
                  <a:srgbClr val="000000"/>
                </a:solidFill>
              </a:rPr>
              <a:t>缺点</a:t>
            </a:r>
            <a:endParaRPr lang="en-US" altLang="zh-CN" sz="2400" dirty="0">
              <a:solidFill>
                <a:srgbClr val="000000"/>
              </a:solidFill>
            </a:endParaRPr>
          </a:p>
          <a:p>
            <a:pPr lvl="1" algn="just"/>
            <a:r>
              <a:rPr lang="zh-CN" altLang="en-US" sz="1865" dirty="0">
                <a:solidFill>
                  <a:srgbClr val="000000"/>
                </a:solidFill>
              </a:rPr>
              <a:t>要用户给出</a:t>
            </a:r>
            <a:r>
              <a:rPr lang="en-US" altLang="zh-CN" sz="1865" dirty="0">
                <a:solidFill>
                  <a:srgbClr val="000000"/>
                </a:solidFill>
              </a:rPr>
              <a:t>k</a:t>
            </a:r>
            <a:r>
              <a:rPr lang="zh-CN" altLang="en-US" sz="1865" dirty="0">
                <a:solidFill>
                  <a:srgbClr val="000000"/>
                </a:solidFill>
              </a:rPr>
              <a:t>值，即聚类的数目，而聚类数有时事先很难确定一个合理的值</a:t>
            </a:r>
            <a:endParaRPr lang="en-US" altLang="zh-CN" sz="1865" dirty="0">
              <a:solidFill>
                <a:srgbClr val="000000"/>
              </a:solidFill>
            </a:endParaRPr>
          </a:p>
          <a:p>
            <a:pPr lvl="1" algn="just"/>
            <a:r>
              <a:rPr lang="en-US" altLang="zh-CN" sz="1865" dirty="0">
                <a:solidFill>
                  <a:srgbClr val="000000"/>
                </a:solidFill>
              </a:rPr>
              <a:t>k-</a:t>
            </a:r>
            <a:r>
              <a:rPr lang="zh-CN" altLang="en-US" sz="1865" dirty="0">
                <a:solidFill>
                  <a:srgbClr val="000000"/>
                </a:solidFill>
              </a:rPr>
              <a:t>均值算法对</a:t>
            </a:r>
            <a:r>
              <a:rPr lang="en-US" altLang="zh-CN" sz="1865" dirty="0">
                <a:solidFill>
                  <a:srgbClr val="000000"/>
                </a:solidFill>
              </a:rPr>
              <a:t>k</a:t>
            </a:r>
            <a:r>
              <a:rPr lang="zh-CN" altLang="en-US" sz="1865" dirty="0">
                <a:solidFill>
                  <a:srgbClr val="000000"/>
                </a:solidFill>
              </a:rPr>
              <a:t>值较敏感，如果</a:t>
            </a:r>
            <a:r>
              <a:rPr lang="en-US" altLang="zh-CN" sz="1865" dirty="0">
                <a:solidFill>
                  <a:srgbClr val="000000"/>
                </a:solidFill>
              </a:rPr>
              <a:t>k</a:t>
            </a:r>
            <a:r>
              <a:rPr lang="zh-CN" altLang="en-US" sz="1865" dirty="0">
                <a:solidFill>
                  <a:srgbClr val="000000"/>
                </a:solidFill>
              </a:rPr>
              <a:t>值不合理可能会导致结果局部最优</a:t>
            </a:r>
            <a:endParaRPr lang="en-US" altLang="zh-CN" sz="8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95868" y="573617"/>
            <a:ext cx="1987089" cy="573616"/>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t>关联分析</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sp>
        <p:nvSpPr>
          <p:cNvPr id="12" name="矩形 3"/>
          <p:cNvSpPr>
            <a:spLocks noChangeArrowheads="1"/>
          </p:cNvSpPr>
          <p:nvPr/>
        </p:nvSpPr>
        <p:spPr bwMode="auto">
          <a:xfrm>
            <a:off x="795867" y="1333961"/>
            <a:ext cx="10727267" cy="238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r>
              <a:rPr lang="zh-CN" altLang="en-US" sz="2400" dirty="0">
                <a:solidFill>
                  <a:srgbClr val="000000"/>
                </a:solidFill>
              </a:rPr>
              <a:t>关联分析</a:t>
            </a:r>
            <a:r>
              <a:rPr lang="en-US" altLang="zh-CN" sz="2400" dirty="0">
                <a:solidFill>
                  <a:srgbClr val="000000"/>
                </a:solidFill>
              </a:rPr>
              <a:t>(</a:t>
            </a:r>
            <a:r>
              <a:rPr lang="en-US" altLang="zh-CN" sz="2400" dirty="0" err="1">
                <a:solidFill>
                  <a:srgbClr val="000000"/>
                </a:solidFill>
              </a:rPr>
              <a:t>Associat</a:t>
            </a:r>
            <a:r>
              <a:rPr lang="en-US" altLang="zh-CN" sz="2400" dirty="0">
                <a:solidFill>
                  <a:srgbClr val="000000"/>
                </a:solidFill>
              </a:rPr>
              <a:t> </a:t>
            </a:r>
            <a:r>
              <a:rPr lang="en-US" altLang="zh-CN" sz="2400" dirty="0" err="1">
                <a:solidFill>
                  <a:srgbClr val="000000"/>
                </a:solidFill>
              </a:rPr>
              <a:t>ive</a:t>
            </a:r>
            <a:r>
              <a:rPr lang="en-US" altLang="zh-CN" sz="2400" dirty="0">
                <a:solidFill>
                  <a:srgbClr val="000000"/>
                </a:solidFill>
              </a:rPr>
              <a:t> Analysis) </a:t>
            </a:r>
            <a:r>
              <a:rPr lang="zh-CN" altLang="en-US" sz="2400" dirty="0">
                <a:solidFill>
                  <a:srgbClr val="000000"/>
                </a:solidFill>
              </a:rPr>
              <a:t>是通过对数据集中某些项目同时出现的概率来发现它们之间的关联关系，其典型的应用是购物篮分析，通过分析购物篮中不同商品之间的关联，分析消费者的购买行为习惯，从而制定相应的营销策略，为商品促销、产品定价、位置摆放等提供支持，并且可用于不同消费者群体的划分。</a:t>
            </a:r>
            <a:endParaRPr lang="en-US" altLang="zh-CN" sz="2400" dirty="0">
              <a:solidFill>
                <a:srgbClr val="000000"/>
              </a:solidFill>
            </a:endParaRPr>
          </a:p>
          <a:p>
            <a:pPr algn="just"/>
            <a:r>
              <a:rPr lang="zh-CN" altLang="en-US" sz="2400" dirty="0">
                <a:solidFill>
                  <a:srgbClr val="000000"/>
                </a:solidFill>
              </a:rPr>
              <a:t>关联分析主要包括</a:t>
            </a:r>
            <a:r>
              <a:rPr lang="en-US" altLang="zh-CN" sz="2400" dirty="0" err="1">
                <a:solidFill>
                  <a:srgbClr val="000000"/>
                </a:solidFill>
              </a:rPr>
              <a:t>Apriori</a:t>
            </a:r>
            <a:r>
              <a:rPr lang="zh-CN" altLang="en-US" sz="2400" dirty="0">
                <a:solidFill>
                  <a:srgbClr val="000000"/>
                </a:solidFill>
              </a:rPr>
              <a:t>算法和</a:t>
            </a:r>
            <a:r>
              <a:rPr lang="en-US" altLang="zh-CN" sz="2400" dirty="0">
                <a:solidFill>
                  <a:srgbClr val="000000"/>
                </a:solidFill>
              </a:rPr>
              <a:t>FP-growth</a:t>
            </a:r>
            <a:r>
              <a:rPr lang="zh-CN" altLang="en-US" sz="2400" dirty="0">
                <a:solidFill>
                  <a:srgbClr val="000000"/>
                </a:solidFill>
              </a:rPr>
              <a:t>算法。</a:t>
            </a:r>
            <a:endParaRPr lang="en-US" altLang="zh-CN" sz="265"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00792" y="436217"/>
            <a:ext cx="4339650" cy="646331"/>
          </a:xfrm>
          <a:prstGeom prst="rect">
            <a:avLst/>
          </a:prstGeom>
        </p:spPr>
        <p:txBody>
          <a:bodyPr wrap="none">
            <a:spAutoFit/>
          </a:bodyPr>
          <a:lstStyle/>
          <a:p>
            <a:r>
              <a:rPr lang="zh-CN" altLang="en-US" sz="3600" b="1" dirty="0"/>
              <a:t>相关书籍及课程推荐</a:t>
            </a:r>
            <a:endParaRPr lang="zh-CN" altLang="en-US" sz="3600" dirty="0"/>
          </a:p>
        </p:txBody>
      </p:sp>
      <p:pic>
        <p:nvPicPr>
          <p:cNvPr id="4" name="图片 3"/>
          <p:cNvPicPr>
            <a:picLocks noChangeAspect="1"/>
          </p:cNvPicPr>
          <p:nvPr/>
        </p:nvPicPr>
        <p:blipFill>
          <a:blip r:embed="rId3" cstate="print"/>
          <a:stretch>
            <a:fillRect/>
          </a:stretch>
        </p:blipFill>
        <p:spPr>
          <a:xfrm>
            <a:off x="1642725" y="1259318"/>
            <a:ext cx="8707984" cy="48605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293169" y="1025956"/>
            <a:ext cx="9297245" cy="5159941"/>
            <a:chOff x="2232507" y="784887"/>
            <a:chExt cx="9297245" cy="5159941"/>
          </a:xfrm>
        </p:grpSpPr>
        <p:pic>
          <p:nvPicPr>
            <p:cNvPr id="3" name="图片 2"/>
            <p:cNvPicPr>
              <a:picLocks noChangeAspect="1"/>
            </p:cNvPicPr>
            <p:nvPr/>
          </p:nvPicPr>
          <p:blipFill>
            <a:blip r:embed="rId3" cstate="print"/>
            <a:stretch>
              <a:fillRect/>
            </a:stretch>
          </p:blipFill>
          <p:spPr>
            <a:xfrm>
              <a:off x="2232507" y="784887"/>
              <a:ext cx="9297245" cy="1071022"/>
            </a:xfrm>
            <a:prstGeom prst="rect">
              <a:avLst/>
            </a:prstGeom>
          </p:spPr>
        </p:pic>
        <p:pic>
          <p:nvPicPr>
            <p:cNvPr id="5" name="图片 4"/>
            <p:cNvPicPr>
              <a:picLocks noChangeAspect="1"/>
            </p:cNvPicPr>
            <p:nvPr/>
          </p:nvPicPr>
          <p:blipFill>
            <a:blip r:embed="rId4" cstate="print"/>
            <a:stretch>
              <a:fillRect/>
            </a:stretch>
          </p:blipFill>
          <p:spPr>
            <a:xfrm>
              <a:off x="2232507" y="1855909"/>
              <a:ext cx="4439926" cy="4088919"/>
            </a:xfrm>
            <a:prstGeom prst="rect">
              <a:avLst/>
            </a:prstGeom>
          </p:spPr>
        </p:pic>
      </p:grpSp>
      <p:sp>
        <p:nvSpPr>
          <p:cNvPr id="6" name="矩形 5"/>
          <p:cNvSpPr/>
          <p:nvPr/>
        </p:nvSpPr>
        <p:spPr>
          <a:xfrm>
            <a:off x="5733095" y="3213642"/>
            <a:ext cx="4915593" cy="1569660"/>
          </a:xfrm>
          <a:prstGeom prst="rect">
            <a:avLst/>
          </a:prstGeom>
        </p:spPr>
        <p:txBody>
          <a:bodyPr wrap="square">
            <a:spAutoFit/>
          </a:bodyPr>
          <a:lstStyle/>
          <a:p>
            <a:r>
              <a:rPr lang="zh-CN" altLang="en-US" sz="2400" dirty="0">
                <a:latin typeface="Times New Roman" panose="02020603050405020304" pitchFamily="18" charset="0"/>
                <a:cs typeface="Times New Roman" panose="02020603050405020304" pitchFamily="18" charset="0"/>
              </a:rPr>
              <a:t>在线观看：https://www.bilibili.com/video/BV164411b7dx?from=search&amp;seid=10592820929035306909</a:t>
            </a:r>
          </a:p>
        </p:txBody>
      </p:sp>
    </p:spTree>
  </p:cSld>
  <p:clrMapOvr>
    <a:masterClrMapping/>
  </p:clrMapOvr>
  <mc:AlternateContent xmlns:mc="http://schemas.openxmlformats.org/markup-compatibility/2006" xmlns:p14="http://schemas.microsoft.com/office/powerpoint/2010/main">
    <mc:Choice Requires="p14">
      <p:transition spd="slow" p14:dur="1300">
        <p:blinds dir="vert"/>
      </p:transition>
    </mc:Choice>
    <mc:Fallback xmlns="">
      <p:transition spd="slow">
        <p:blinds dir="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383972" y="5259617"/>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3911646" y="791386"/>
            <a:ext cx="2954655"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PT Mono"/>
                <a:ea typeface="Noto Sans S Chinese Medium" panose="020B0600000000000000" pitchFamily="34" charset="-122"/>
                <a:cs typeface="PT Mono"/>
                <a:sym typeface="+mn-lt"/>
              </a:rPr>
              <a:t>课程考核</a:t>
            </a:r>
          </a:p>
        </p:txBody>
      </p:sp>
      <p:sp>
        <p:nvSpPr>
          <p:cNvPr id="36" name="矩形 3"/>
          <p:cNvSpPr>
            <a:spLocks noChangeArrowheads="1"/>
          </p:cNvSpPr>
          <p:nvPr/>
        </p:nvSpPr>
        <p:spPr bwMode="auto">
          <a:xfrm>
            <a:off x="3257655" y="2153701"/>
            <a:ext cx="7131251" cy="2591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800" b="1" dirty="0">
                <a:solidFill>
                  <a:srgbClr val="000000"/>
                </a:solidFill>
              </a:rPr>
              <a:t>考核方式：</a:t>
            </a:r>
            <a:r>
              <a:rPr lang="zh-CN" altLang="en-US" sz="2800" b="1" dirty="0">
                <a:solidFill>
                  <a:srgbClr val="FF0000"/>
                </a:solidFill>
              </a:rPr>
              <a:t>考试</a:t>
            </a:r>
            <a:endParaRPr lang="en-US" altLang="zh-CN" sz="2800" b="1" dirty="0">
              <a:solidFill>
                <a:srgbClr val="FF0000"/>
              </a:solidFill>
            </a:endParaRPr>
          </a:p>
          <a:p>
            <a:r>
              <a:rPr lang="zh-CN" altLang="en-US" sz="2800" b="1" dirty="0">
                <a:solidFill>
                  <a:srgbClr val="000000"/>
                </a:solidFill>
              </a:rPr>
              <a:t>考核组成：</a:t>
            </a:r>
            <a:r>
              <a:rPr lang="zh-CN" altLang="en-US" sz="2800" dirty="0">
                <a:solidFill>
                  <a:srgbClr val="000000"/>
                </a:solidFill>
              </a:rPr>
              <a:t>期末试卷</a:t>
            </a:r>
            <a:r>
              <a:rPr lang="en-US" altLang="zh-CN" sz="2800" dirty="0">
                <a:solidFill>
                  <a:srgbClr val="000000"/>
                </a:solidFill>
              </a:rPr>
              <a:t>+</a:t>
            </a:r>
            <a:r>
              <a:rPr lang="zh-CN" altLang="en-US" sz="2800" dirty="0">
                <a:solidFill>
                  <a:srgbClr val="000000"/>
                </a:solidFill>
              </a:rPr>
              <a:t>项目实践</a:t>
            </a:r>
            <a:r>
              <a:rPr lang="en-US" altLang="zh-CN" sz="2800" dirty="0">
                <a:solidFill>
                  <a:srgbClr val="000000"/>
                </a:solidFill>
              </a:rPr>
              <a:t>+</a:t>
            </a:r>
            <a:r>
              <a:rPr lang="zh-CN" altLang="en-US" sz="2800" dirty="0">
                <a:solidFill>
                  <a:srgbClr val="000000"/>
                </a:solidFill>
              </a:rPr>
              <a:t>平时成绩</a:t>
            </a:r>
            <a:endParaRPr lang="en-US" altLang="zh-CN" sz="2800" dirty="0">
              <a:solidFill>
                <a:srgbClr val="000000"/>
              </a:solidFill>
            </a:endParaRPr>
          </a:p>
          <a:p>
            <a:r>
              <a:rPr lang="zh-CN" altLang="en-US" sz="2800" b="1" dirty="0">
                <a:solidFill>
                  <a:srgbClr val="000000"/>
                </a:solidFill>
              </a:rPr>
              <a:t>分值比例</a:t>
            </a:r>
            <a:r>
              <a:rPr lang="zh-CN" altLang="en-US" sz="2800" dirty="0">
                <a:solidFill>
                  <a:srgbClr val="000000"/>
                </a:solidFill>
              </a:rPr>
              <a:t>：期末试卷</a:t>
            </a:r>
            <a:r>
              <a:rPr lang="en-US" altLang="zh-CN" sz="2800" dirty="0">
                <a:solidFill>
                  <a:srgbClr val="000000"/>
                </a:solidFill>
              </a:rPr>
              <a:t>50%</a:t>
            </a:r>
          </a:p>
          <a:p>
            <a:pPr marL="0" indent="0">
              <a:buNone/>
            </a:pPr>
            <a:r>
              <a:rPr lang="zh-CN" altLang="en-US" sz="2800" dirty="0">
                <a:solidFill>
                  <a:srgbClr val="000000"/>
                </a:solidFill>
              </a:rPr>
              <a:t>                           项目实践</a:t>
            </a:r>
            <a:r>
              <a:rPr lang="en-US" altLang="zh-CN" sz="2800" dirty="0">
                <a:solidFill>
                  <a:srgbClr val="000000"/>
                </a:solidFill>
              </a:rPr>
              <a:t>30%</a:t>
            </a:r>
          </a:p>
          <a:p>
            <a:pPr marL="0" indent="0">
              <a:buNone/>
            </a:pPr>
            <a:r>
              <a:rPr lang="zh-CN" altLang="en-US" sz="2800" dirty="0">
                <a:solidFill>
                  <a:srgbClr val="000000"/>
                </a:solidFill>
              </a:rPr>
              <a:t>                           平时成绩</a:t>
            </a:r>
            <a:r>
              <a:rPr lang="en-US" altLang="zh-CN" sz="2800" dirty="0">
                <a:solidFill>
                  <a:srgbClr val="000000"/>
                </a:solidFill>
              </a:rPr>
              <a:t>20%</a:t>
            </a:r>
            <a:r>
              <a:rPr lang="zh-CN" altLang="en-US" sz="2800" dirty="0">
                <a:solidFill>
                  <a:srgbClr val="000000"/>
                </a:solidFill>
              </a:rPr>
              <a:t>。</a:t>
            </a:r>
            <a:endParaRPr lang="en-US" altLang="zh-CN" sz="2800" dirty="0">
              <a:solidFill>
                <a:srgbClr val="000000"/>
              </a:solidFill>
            </a:endParaRPr>
          </a:p>
        </p:txBody>
      </p:sp>
    </p:spTree>
  </p:cSld>
  <p:clrMapOvr>
    <a:masterClrMapping/>
  </p:clrMapOvr>
  <p:transition spd="slow">
    <p:blinds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103"/>
          <p:cNvSpPr>
            <a:spLocks noChangeArrowheads="1"/>
          </p:cNvSpPr>
          <p:nvPr/>
        </p:nvSpPr>
        <p:spPr bwMode="auto">
          <a:xfrm>
            <a:off x="0" y="1998889"/>
            <a:ext cx="12190413" cy="2168525"/>
          </a:xfrm>
          <a:prstGeom prst="rect">
            <a:avLst/>
          </a:prstGeom>
          <a:solidFill>
            <a:srgbClr val="006EBC"/>
          </a:solidFill>
          <a:ln>
            <a:solidFill>
              <a:srgbClr val="006EBC"/>
            </a:solidFill>
          </a:ln>
          <a:effectLst>
            <a:outerShdw blurRad="50800" dist="38100" dir="5400000" algn="t" rotWithShape="0">
              <a:srgbClr val="000000">
                <a:alpha val="0"/>
              </a:srgbClr>
            </a:outerShdw>
          </a:effectLst>
        </p:spPr>
        <p:txBody>
          <a:bodyPr anchor="ctr"/>
          <a:lstStyle/>
          <a:p>
            <a:pPr algn="ctr">
              <a:defRPr/>
            </a:pPr>
            <a:endParaRPr lang="zh-CN" altLang="en-US" sz="715" dirty="0">
              <a:solidFill>
                <a:schemeClr val="bg1"/>
              </a:solidFill>
              <a:latin typeface="Calibri" panose="020F0502020204030204"/>
              <a:ea typeface="宋体" panose="02010600030101010101" pitchFamily="2" charset="-122"/>
              <a:cs typeface="宋体" panose="02010600030101010101" pitchFamily="2" charset="-122"/>
            </a:endParaRPr>
          </a:p>
        </p:txBody>
      </p:sp>
      <p:sp>
        <p:nvSpPr>
          <p:cNvPr id="106" name="Title 1"/>
          <p:cNvSpPr txBox="1"/>
          <p:nvPr/>
        </p:nvSpPr>
        <p:spPr>
          <a:xfrm>
            <a:off x="5003888" y="1577696"/>
            <a:ext cx="7082051" cy="1950822"/>
          </a:xfrm>
          <a:prstGeom prst="rect">
            <a:avLst/>
          </a:prstGeom>
        </p:spPr>
        <p:txBody>
          <a:bodyPr lIns="68580" tIns="34290" rIns="68580" bIns="34290"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pPr>
              <a:defRPr/>
            </a:pPr>
            <a:r>
              <a:rPr altLang="zh-CN" sz="6600">
                <a:ln>
                  <a:solidFill>
                    <a:schemeClr val="bg1"/>
                  </a:solidFill>
                </a:ln>
                <a:effectLst>
                  <a:reflection blurRad="6350" stA="50000" endA="300" endPos="50000" dist="29997" dir="5400000" sy="-100000" algn="bl" rotWithShape="0"/>
                </a:effectLst>
              </a:rPr>
              <a:t>Thank you!</a:t>
            </a:r>
            <a:endParaRPr lang="zh-CN" altLang="en-US" sz="6600">
              <a:ln>
                <a:solidFill>
                  <a:schemeClr val="bg1"/>
                </a:solidFill>
              </a:ln>
              <a:effectLst>
                <a:reflection blurRad="6350" stA="50000" endA="300" endPos="50000" dist="29997" dir="5400000" sy="-100000" algn="bl" rotWithShape="0"/>
              </a:effectLst>
            </a:endParaRPr>
          </a:p>
        </p:txBody>
      </p:sp>
      <p:pic>
        <p:nvPicPr>
          <p:cNvPr id="107" name="图片 106" descr="AW视觉符号.jpg"/>
          <p:cNvPicPr>
            <a:picLocks noChangeAspect="1"/>
          </p:cNvPicPr>
          <p:nvPr/>
        </p:nvPicPr>
        <p:blipFill>
          <a:blip r:embed="rId3" cstate="print"/>
          <a:stretch>
            <a:fillRect/>
          </a:stretch>
        </p:blipFill>
        <p:spPr>
          <a:xfrm>
            <a:off x="202395" y="2277202"/>
            <a:ext cx="4697019"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ags/tag5.xml><?xml version="1.0" encoding="utf-8"?>
<p:tagLst xmlns:a="http://schemas.openxmlformats.org/drawingml/2006/main" xmlns:r="http://schemas.openxmlformats.org/officeDocument/2006/relationships" xmlns:p="http://schemas.openxmlformats.org/presentationml/2006/main">
  <p:tag name="PA" val="v4.1.3"/>
</p:tagLst>
</file>

<file path=ppt/tags/tag6.xml><?xml version="1.0" encoding="utf-8"?>
<p:tagLst xmlns:a="http://schemas.openxmlformats.org/drawingml/2006/main" xmlns:r="http://schemas.openxmlformats.org/officeDocument/2006/relationships" xmlns:p="http://schemas.openxmlformats.org/presentationml/2006/main">
  <p:tag name="PA" val="v4.1.3"/>
</p:tagLst>
</file>

<file path=ppt/tags/tag7.xml><?xml version="1.0" encoding="utf-8"?>
<p:tagLst xmlns:a="http://schemas.openxmlformats.org/drawingml/2006/main" xmlns:r="http://schemas.openxmlformats.org/officeDocument/2006/relationships" xmlns:p="http://schemas.openxmlformats.org/presentationml/2006/main">
  <p:tag name="PA" val="v4.1.3"/>
</p:tagLst>
</file>

<file path=ppt/tags/tag8.xml><?xml version="1.0" encoding="utf-8"?>
<p:tagLst xmlns:a="http://schemas.openxmlformats.org/drawingml/2006/main" xmlns:r="http://schemas.openxmlformats.org/officeDocument/2006/relationships" xmlns:p="http://schemas.openxmlformats.org/presentationml/2006/main">
  <p:tag name="PA" val="v4.1.3"/>
</p:tagLst>
</file>

<file path=ppt/tags/tag9.xml><?xml version="1.0" encoding="utf-8"?>
<p:tagLst xmlns:a="http://schemas.openxmlformats.org/drawingml/2006/main" xmlns:r="http://schemas.openxmlformats.org/officeDocument/2006/relationships" xmlns:p="http://schemas.openxmlformats.org/presentationml/2006/main">
  <p:tag name="PA" val="v4.1.3"/>
</p:tagLst>
</file>

<file path=ppt/tags/tag10.xml><?xml version="1.0" encoding="utf-8"?>
<p:tagLst xmlns:a="http://schemas.openxmlformats.org/drawingml/2006/main" xmlns:r="http://schemas.openxmlformats.org/officeDocument/2006/relationships" xmlns:p="http://schemas.openxmlformats.org/presentationml/2006/main">
  <p:tag name="PA" val="v4.1.3"/>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85,&quot;width&quot;:6870}"/>
</p:tagLst>
</file>

<file path=ppt/tags/tag12.xml><?xml version="1.0" encoding="utf-8"?>
<p:tagLst xmlns:a="http://schemas.openxmlformats.org/drawingml/2006/main" xmlns:r="http://schemas.openxmlformats.org/officeDocument/2006/relationships" xmlns:p="http://schemas.openxmlformats.org/presentationml/2006/main">
  <p:tag name="PA" val="v4.1.3"/>
</p:tagLst>
</file>

<file path=ppt/tags/tag13.xml><?xml version="1.0" encoding="utf-8"?>
<p:tagLst xmlns:a="http://schemas.openxmlformats.org/drawingml/2006/main" xmlns:r="http://schemas.openxmlformats.org/officeDocument/2006/relationships" xmlns:p="http://schemas.openxmlformats.org/presentationml/2006/main">
  <p:tag name="PA" val="v4.1.3"/>
</p:tagLst>
</file>

<file path=ppt/tags/tag14.xml><?xml version="1.0" encoding="utf-8"?>
<p:tagLst xmlns:a="http://schemas.openxmlformats.org/drawingml/2006/main" xmlns:r="http://schemas.openxmlformats.org/officeDocument/2006/relationships" xmlns:p="http://schemas.openxmlformats.org/presentationml/2006/main">
  <p:tag name="PA" val="v4.1.3"/>
</p:tagLst>
</file>

<file path=ppt/tags/tag15.xml><?xml version="1.0" encoding="utf-8"?>
<p:tagLst xmlns:a="http://schemas.openxmlformats.org/drawingml/2006/main" xmlns:r="http://schemas.openxmlformats.org/officeDocument/2006/relationships" xmlns:p="http://schemas.openxmlformats.org/presentationml/2006/main">
  <p:tag name="PA" val="v4.1.3"/>
</p:tagLst>
</file>

<file path=ppt/tags/tag16.xml><?xml version="1.0" encoding="utf-8"?>
<p:tagLst xmlns:a="http://schemas.openxmlformats.org/drawingml/2006/main" xmlns:r="http://schemas.openxmlformats.org/officeDocument/2006/relationships" xmlns:p="http://schemas.openxmlformats.org/presentationml/2006/main">
  <p:tag name="PA" val="v4.1.3"/>
</p:tagLst>
</file>

<file path=ppt/tags/tag17.xml><?xml version="1.0" encoding="utf-8"?>
<p:tagLst xmlns:a="http://schemas.openxmlformats.org/drawingml/2006/main" xmlns:r="http://schemas.openxmlformats.org/officeDocument/2006/relationships" xmlns:p="http://schemas.openxmlformats.org/presentationml/2006/main">
  <p:tag name="PA" val="v4.1.3"/>
</p:tagLst>
</file>

<file path=ppt/tags/tag18.xml><?xml version="1.0" encoding="utf-8"?>
<p:tagLst xmlns:a="http://schemas.openxmlformats.org/drawingml/2006/main" xmlns:r="http://schemas.openxmlformats.org/officeDocument/2006/relationships" xmlns:p="http://schemas.openxmlformats.org/presentationml/2006/main">
  <p:tag name="PA" val="v4.1.3"/>
</p:tagLst>
</file>

<file path=ppt/tags/tag19.xml><?xml version="1.0" encoding="utf-8"?>
<p:tagLst xmlns:a="http://schemas.openxmlformats.org/drawingml/2006/main" xmlns:r="http://schemas.openxmlformats.org/officeDocument/2006/relationships" xmlns:p="http://schemas.openxmlformats.org/presentationml/2006/main">
  <p:tag name="PA" val="v4.1.3"/>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r:embed="rId1"/>
          <a:stretch>
            <a:fillRect l="-1426" t="-3101" r="-1337" b="-7752"/>
          </a:stretch>
        </a:blipFill>
      </a:spPr>
      <a:bodyPr/>
      <a:lstStyle>
        <a:defPPr>
          <a:defRPr>
            <a:no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r:embed="rId1"/>
          <a:stretch>
            <a:fillRect l="-1426" t="-3101" r="-1337" b="-7752"/>
          </a:stretch>
        </a:blipFill>
      </a:spPr>
      <a:bodyPr/>
      <a:lstStyle>
        <a:defPPr>
          <a:defRPr>
            <a:no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chemeClr val="bg1">
              <a:lumMod val="50000"/>
            </a:schemeClr>
          </a:solidFill>
          <a:prstDash val="dash"/>
        </a:ln>
      </a:spPr>
      <a:bodyPr rtlCol="0" anchor="ctr"/>
      <a:lstStyle>
        <a:defPPr algn="ctr">
          <a:defRPr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3745</Words>
  <Application>Microsoft Office PowerPoint</Application>
  <PresentationFormat>宽屏</PresentationFormat>
  <Paragraphs>405</Paragraphs>
  <Slides>72</Slides>
  <Notes>46</Notes>
  <HiddenSlides>0</HiddenSlides>
  <MMClips>0</MMClips>
  <ScaleCrop>false</ScaleCrop>
  <HeadingPairs>
    <vt:vector size="6" baseType="variant">
      <vt:variant>
        <vt:lpstr>已用的字体</vt:lpstr>
      </vt:variant>
      <vt:variant>
        <vt:i4>18</vt:i4>
      </vt:variant>
      <vt:variant>
        <vt:lpstr>主题</vt:lpstr>
      </vt:variant>
      <vt:variant>
        <vt:i4>6</vt:i4>
      </vt:variant>
      <vt:variant>
        <vt:lpstr>幻灯片标题</vt:lpstr>
      </vt:variant>
      <vt:variant>
        <vt:i4>72</vt:i4>
      </vt:variant>
    </vt:vector>
  </HeadingPairs>
  <TitlesOfParts>
    <vt:vector size="96" baseType="lpstr">
      <vt:lpstr>Noto Sans S Chinese Medium</vt:lpstr>
      <vt:lpstr>PT Mono</vt:lpstr>
      <vt:lpstr>黑体</vt:lpstr>
      <vt:lpstr>华文楷体</vt:lpstr>
      <vt:lpstr>楷体</vt:lpstr>
      <vt:lpstr>楷体_GB2312</vt:lpstr>
      <vt:lpstr>宋体</vt:lpstr>
      <vt:lpstr>微软雅黑</vt:lpstr>
      <vt:lpstr>微软雅黑 Light</vt:lpstr>
      <vt:lpstr>Arial</vt:lpstr>
      <vt:lpstr>Calibri</vt:lpstr>
      <vt:lpstr>Calibri Light</vt:lpstr>
      <vt:lpstr>Cambria Math</vt:lpstr>
      <vt:lpstr>Gill Sans MT</vt:lpstr>
      <vt:lpstr>Times New Roman</vt:lpstr>
      <vt:lpstr>Verdana</vt:lpstr>
      <vt:lpstr>Wingdings</vt:lpstr>
      <vt:lpstr>Wingdings 2</vt:lpstr>
      <vt:lpstr>第一PPT，www.1ppt.com</vt:lpstr>
      <vt:lpstr>夏至</vt:lpstr>
      <vt:lpstr>1_第一PPT，www.1ppt.com</vt:lpstr>
      <vt:lpstr>1_夏至</vt:lpstr>
      <vt:lpstr>Office 佈景主題</vt:lpstr>
      <vt:lpstr>2_第一PPT，www.1ppt.com</vt:lpstr>
      <vt:lpstr>PowerPoint 演示文稿</vt:lpstr>
      <vt:lpstr>PowerPoint 演示文稿</vt:lpstr>
      <vt:lpstr>一、机器学习是什么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机器学习与人脑学习比较</vt:lpstr>
      <vt:lpstr>PowerPoint 演示文稿</vt:lpstr>
      <vt:lpstr>PowerPoint 演示文稿</vt:lpstr>
      <vt:lpstr> 二、机器学习术语</vt:lpstr>
      <vt:lpstr>二、机器学习术语</vt:lpstr>
      <vt:lpstr>PowerPoint 演示文稿</vt:lpstr>
      <vt:lpstr>分类与回归的区别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四、机器学习的一般流程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tyut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yingqi</cp:lastModifiedBy>
  <cp:revision>444</cp:revision>
  <dcterms:created xsi:type="dcterms:W3CDTF">2017-11-09T06:06:00Z</dcterms:created>
  <dcterms:modified xsi:type="dcterms:W3CDTF">2025-02-24T07:41:53Z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C8DB7F26B8FA45A4BDA3ED1771E29D9C_12</vt:lpwstr>
  </property>
  <property fmtid="{D5CDD505-2E9C-101B-9397-08002B2CF9AE}" pid="3" name="KSOProductBuildVer">
    <vt:lpwstr>2052-12.1.0.19770</vt:lpwstr>
  </property>
</Properties>
</file>