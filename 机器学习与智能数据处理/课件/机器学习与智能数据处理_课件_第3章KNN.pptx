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5"/>
  </p:notesMasterIdLst>
  <p:handoutMasterIdLst>
    <p:handoutMasterId r:id="rId70"/>
  </p:handoutMasterIdLst>
  <p:sldIdLst>
    <p:sldId id="256" r:id="rId4"/>
    <p:sldId id="257" r:id="rId6"/>
    <p:sldId id="259" r:id="rId7"/>
    <p:sldId id="418" r:id="rId8"/>
    <p:sldId id="335" r:id="rId9"/>
    <p:sldId id="336" r:id="rId10"/>
    <p:sldId id="419" r:id="rId11"/>
    <p:sldId id="411" r:id="rId12"/>
    <p:sldId id="338" r:id="rId13"/>
    <p:sldId id="339" r:id="rId14"/>
    <p:sldId id="340" r:id="rId15"/>
    <p:sldId id="341" r:id="rId16"/>
    <p:sldId id="342" r:id="rId17"/>
    <p:sldId id="310" r:id="rId18"/>
    <p:sldId id="420" r:id="rId19"/>
    <p:sldId id="387" r:id="rId20"/>
    <p:sldId id="355" r:id="rId21"/>
    <p:sldId id="356" r:id="rId22"/>
    <p:sldId id="333" r:id="rId23"/>
    <p:sldId id="365" r:id="rId24"/>
    <p:sldId id="423" r:id="rId25"/>
    <p:sldId id="380" r:id="rId26"/>
    <p:sldId id="392" r:id="rId27"/>
    <p:sldId id="393" r:id="rId28"/>
    <p:sldId id="394" r:id="rId29"/>
    <p:sldId id="395" r:id="rId30"/>
    <p:sldId id="382" r:id="rId31"/>
    <p:sldId id="421" r:id="rId32"/>
    <p:sldId id="384" r:id="rId33"/>
    <p:sldId id="311" r:id="rId34"/>
    <p:sldId id="371" r:id="rId35"/>
    <p:sldId id="372" r:id="rId36"/>
    <p:sldId id="389" r:id="rId37"/>
    <p:sldId id="390" r:id="rId38"/>
    <p:sldId id="373" r:id="rId39"/>
    <p:sldId id="374" r:id="rId40"/>
    <p:sldId id="375" r:id="rId41"/>
    <p:sldId id="376" r:id="rId42"/>
    <p:sldId id="377" r:id="rId43"/>
    <p:sldId id="312" r:id="rId44"/>
    <p:sldId id="396" r:id="rId45"/>
    <p:sldId id="397" r:id="rId46"/>
    <p:sldId id="398" r:id="rId47"/>
    <p:sldId id="399" r:id="rId48"/>
    <p:sldId id="400" r:id="rId49"/>
    <p:sldId id="347" r:id="rId50"/>
    <p:sldId id="388" r:id="rId51"/>
    <p:sldId id="348" r:id="rId52"/>
    <p:sldId id="401" r:id="rId53"/>
    <p:sldId id="345" r:id="rId54"/>
    <p:sldId id="369" r:id="rId55"/>
    <p:sldId id="313" r:id="rId56"/>
    <p:sldId id="334" r:id="rId57"/>
    <p:sldId id="343" r:id="rId58"/>
    <p:sldId id="320" r:id="rId59"/>
    <p:sldId id="378" r:id="rId60"/>
    <p:sldId id="379" r:id="rId61"/>
    <p:sldId id="364" r:id="rId62"/>
    <p:sldId id="412" r:id="rId63"/>
    <p:sldId id="413" r:id="rId64"/>
    <p:sldId id="414" r:id="rId65"/>
    <p:sldId id="415" r:id="rId66"/>
    <p:sldId id="385" r:id="rId67"/>
    <p:sldId id="417" r:id="rId68"/>
    <p:sldId id="422" r:id="rId69"/>
  </p:sldIdLst>
  <p:sldSz cx="12192000" cy="6858000"/>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42" userDrawn="1">
          <p15:clr>
            <a:srgbClr val="A4A3A4"/>
          </p15:clr>
        </p15:guide>
        <p15:guide id="4" pos="7072" userDrawn="1">
          <p15:clr>
            <a:srgbClr val="A4A3A4"/>
          </p15:clr>
        </p15:guide>
        <p15:guide id="5" orient="horz" pos="3793" userDrawn="1">
          <p15:clr>
            <a:srgbClr val="A4A3A4"/>
          </p15:clr>
        </p15:guide>
        <p15:guide id="6" orient="horz" pos="7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lei"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26" autoAdjust="0"/>
    <p:restoredTop sz="62488" autoAdjust="0"/>
  </p:normalViewPr>
  <p:slideViewPr>
    <p:cSldViewPr snapToGrid="0" showGuides="1">
      <p:cViewPr varScale="1">
        <p:scale>
          <a:sx n="54" d="100"/>
          <a:sy n="54" d="100"/>
        </p:scale>
        <p:origin x="1042" y="21"/>
      </p:cViewPr>
      <p:guideLst>
        <p:guide orient="horz" pos="2160"/>
        <p:guide pos="3840"/>
        <p:guide pos="642"/>
        <p:guide pos="7072"/>
        <p:guide orient="horz" pos="3793"/>
        <p:guide orient="horz" pos="799"/>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5" Type="http://schemas.openxmlformats.org/officeDocument/2006/relationships/tags" Target="tags/tag67.xml"/><Relationship Id="rId74" Type="http://schemas.openxmlformats.org/officeDocument/2006/relationships/commentAuthors" Target="commentAuthors.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21T15:34:41.308" idx="1">
    <p:pos x="10" y="10"/>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4B975F0-D74D-4821-ACB9-CD14BB0ED60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84D9F48-7CDC-43DC-B0F2-4B8B2BFC3B4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1.png"/><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7"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6">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5.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3" Type="http://schemas.openxmlformats.org/officeDocument/2006/relationships/notesSlide" Target="../notesSlides/notesSlide7.xml"/><Relationship Id="rId12" Type="http://schemas.openxmlformats.org/officeDocument/2006/relationships/slideLayout" Target="../slideLayouts/slideLayout5.xml"/><Relationship Id="rId11" Type="http://schemas.openxmlformats.org/officeDocument/2006/relationships/image" Target="../media/image16.png"/><Relationship Id="rId10" Type="http://schemas.openxmlformats.org/officeDocument/2006/relationships/image" Target="../media/image15.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3" Type="http://schemas.openxmlformats.org/officeDocument/2006/relationships/notesSlide" Target="../notesSlides/notesSlide8.xml"/><Relationship Id="rId12" Type="http://schemas.openxmlformats.org/officeDocument/2006/relationships/slideLayout" Target="../slideLayouts/slideLayout5.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11.png"/><Relationship Id="rId2" Type="http://schemas.openxmlformats.org/officeDocument/2006/relationships/image" Target="../media/image7.png"/><Relationship Id="rId13" Type="http://schemas.openxmlformats.org/officeDocument/2006/relationships/notesSlide" Target="../notesSlides/notesSlide9.xml"/><Relationship Id="rId12" Type="http://schemas.openxmlformats.org/officeDocument/2006/relationships/slideLayout" Target="../slideLayouts/slideLayout5.xml"/><Relationship Id="rId11" Type="http://schemas.openxmlformats.org/officeDocument/2006/relationships/image" Target="../media/image16.png"/><Relationship Id="rId10" Type="http://schemas.openxmlformats.org/officeDocument/2006/relationships/image" Target="../media/image15.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11.png"/><Relationship Id="rId13" Type="http://schemas.openxmlformats.org/officeDocument/2006/relationships/notesSlide" Target="../notesSlides/notesSlide10.xml"/><Relationship Id="rId12" Type="http://schemas.openxmlformats.org/officeDocument/2006/relationships/slideLayout" Target="../slideLayouts/slideLayout5.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8.png"/><Relationship Id="rId13" Type="http://schemas.openxmlformats.org/officeDocument/2006/relationships/notesSlide" Target="../notesSlides/notesSlide11.xml"/><Relationship Id="rId12" Type="http://schemas.openxmlformats.org/officeDocument/2006/relationships/slideLayout" Target="../slideLayouts/slideLayout5.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3" Type="http://schemas.openxmlformats.org/officeDocument/2006/relationships/notesSlide" Target="../notesSlides/notesSlide12.xml"/><Relationship Id="rId12" Type="http://schemas.openxmlformats.org/officeDocument/2006/relationships/slideLayout" Target="../slideLayouts/slideLayout5.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1" Type="http://schemas.openxmlformats.org/officeDocument/2006/relationships/notesSlide" Target="../notesSlides/notesSlide13.xml"/><Relationship Id="rId10" Type="http://schemas.openxmlformats.org/officeDocument/2006/relationships/slideLayout" Target="../slideLayouts/slideLayout5.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18.GIF"/></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5.xml"/><Relationship Id="rId2" Type="http://schemas.openxmlformats.org/officeDocument/2006/relationships/image" Target="../media/image20.png"/><Relationship Id="rId1" Type="http://schemas.openxmlformats.org/officeDocument/2006/relationships/image" Target="../media/image19.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2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3.png"/><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4.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image" Target="../media/image44.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image" Target="../media/image47.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image" Target="../media/image48.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9" Type="http://schemas.openxmlformats.org/officeDocument/2006/relationships/slideLayout" Target="../slideLayouts/slideLayout6.xml"/><Relationship Id="rId18" Type="http://schemas.openxmlformats.org/officeDocument/2006/relationships/tags" Target="../tags/tag32.xml"/><Relationship Id="rId17" Type="http://schemas.openxmlformats.org/officeDocument/2006/relationships/image" Target="../media/image49.png"/><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61.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9" Type="http://schemas.openxmlformats.org/officeDocument/2006/relationships/slideLayout" Target="../slideLayouts/slideLayout6.xml"/><Relationship Id="rId18" Type="http://schemas.openxmlformats.org/officeDocument/2006/relationships/tags" Target="../tags/tag49.xml"/><Relationship Id="rId17" Type="http://schemas.openxmlformats.org/officeDocument/2006/relationships/image" Target="../media/image49.png"/><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62.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9" Type="http://schemas.openxmlformats.org/officeDocument/2006/relationships/slideLayout" Target="../slideLayouts/slideLayout6.xml"/><Relationship Id="rId18" Type="http://schemas.openxmlformats.org/officeDocument/2006/relationships/tags" Target="../tags/tag66.xml"/><Relationship Id="rId17" Type="http://schemas.openxmlformats.org/officeDocument/2006/relationships/image" Target="../media/image49.png"/><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90773" y="522341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3729109" y="3057600"/>
            <a:ext cx="3712555"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en-US" altLang="zh-CN" dirty="0">
                <a:solidFill>
                  <a:srgbClr val="009999"/>
                </a:solidFill>
                <a:latin typeface="Noto Sans S Chinese Medium" panose="020B0600000000000000" pitchFamily="34" charset="-122"/>
                <a:ea typeface="Noto Sans S Chinese Medium" panose="020B0600000000000000" pitchFamily="34" charset="-122"/>
                <a:sym typeface="+mn-lt"/>
              </a:rPr>
              <a:t>K-</a:t>
            </a:r>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近邻算法</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
        <p:nvSpPr>
          <p:cNvPr id="141" name="PA_文本框 140"/>
          <p:cNvSpPr txBox="1"/>
          <p:nvPr>
            <p:custDataLst>
              <p:tags r:id="rId9"/>
            </p:custDataLst>
          </p:nvPr>
        </p:nvSpPr>
        <p:spPr>
          <a:xfrm>
            <a:off x="986327" y="944000"/>
            <a:ext cx="2618024"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3</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5713365" y="-3153028"/>
            <a:ext cx="6311948" cy="6008653"/>
            <a:chOff x="5713365" y="-3153028"/>
            <a:chExt cx="6311948" cy="6008653"/>
          </a:xfrm>
        </p:grpSpPr>
        <p:grpSp>
          <p:nvGrpSpPr>
            <p:cNvPr id="402" name="组合 401"/>
            <p:cNvGrpSpPr/>
            <p:nvPr/>
          </p:nvGrpSpPr>
          <p:grpSpPr>
            <a:xfrm>
              <a:off x="8085157" y="-1579282"/>
              <a:ext cx="587486" cy="1728000"/>
              <a:chOff x="8085157" y="5279067"/>
              <a:chExt cx="587486" cy="1728000"/>
            </a:xfrm>
          </p:grpSpPr>
          <p:sp>
            <p:nvSpPr>
              <p:cNvPr id="403" name="等腰三角形 9_4"/>
              <p:cNvSpPr/>
              <p:nvPr/>
            </p:nvSpPr>
            <p:spPr>
              <a:xfrm rot="10800000">
                <a:off x="8085157" y="5546117"/>
                <a:ext cx="587486" cy="146095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04" name="椭圆 403"/>
              <p:cNvSpPr>
                <a:spLocks noChangeAspect="1"/>
              </p:cNvSpPr>
              <p:nvPr/>
            </p:nvSpPr>
            <p:spPr>
              <a:xfrm>
                <a:off x="8111847" y="5279067"/>
                <a:ext cx="534106" cy="534099"/>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08" name="组合 407"/>
            <p:cNvGrpSpPr/>
            <p:nvPr/>
          </p:nvGrpSpPr>
          <p:grpSpPr>
            <a:xfrm>
              <a:off x="8930899" y="-1838751"/>
              <a:ext cx="771066" cy="2268000"/>
              <a:chOff x="8930899" y="5019598"/>
              <a:chExt cx="771066" cy="2268000"/>
            </a:xfrm>
          </p:grpSpPr>
          <p:sp>
            <p:nvSpPr>
              <p:cNvPr id="409" name="等腰三角形 9_8"/>
              <p:cNvSpPr/>
              <p:nvPr/>
            </p:nvSpPr>
            <p:spPr>
              <a:xfrm rot="10800000">
                <a:off x="8930899" y="5370100"/>
                <a:ext cx="771066" cy="191749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0" name="椭圆 409"/>
              <p:cNvSpPr>
                <a:spLocks noChangeAspect="1"/>
              </p:cNvSpPr>
              <p:nvPr/>
            </p:nvSpPr>
            <p:spPr>
              <a:xfrm>
                <a:off x="8965930" y="5019598"/>
                <a:ext cx="701006" cy="701005"/>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4" name="组合 413"/>
            <p:cNvGrpSpPr/>
            <p:nvPr/>
          </p:nvGrpSpPr>
          <p:grpSpPr>
            <a:xfrm>
              <a:off x="8491539" y="-3153028"/>
              <a:ext cx="1248391" cy="3672000"/>
              <a:chOff x="8491539" y="3705321"/>
              <a:chExt cx="1248391" cy="3672000"/>
            </a:xfrm>
          </p:grpSpPr>
          <p:sp>
            <p:nvSpPr>
              <p:cNvPr id="415" name="等腰三角形 9_12"/>
              <p:cNvSpPr/>
              <p:nvPr/>
            </p:nvSpPr>
            <p:spPr>
              <a:xfrm rot="10800000">
                <a:off x="8491539" y="4272801"/>
                <a:ext cx="1248391" cy="310452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6" name="椭圆 415"/>
              <p:cNvSpPr>
                <a:spLocks noChangeAspect="1"/>
              </p:cNvSpPr>
              <p:nvPr/>
            </p:nvSpPr>
            <p:spPr>
              <a:xfrm>
                <a:off x="8548254" y="3705321"/>
                <a:ext cx="1134960" cy="1134960"/>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7" name="组合 416"/>
            <p:cNvGrpSpPr/>
            <p:nvPr/>
          </p:nvGrpSpPr>
          <p:grpSpPr>
            <a:xfrm>
              <a:off x="7678206" y="-2685027"/>
              <a:ext cx="905695" cy="2664001"/>
              <a:chOff x="7678206" y="4173322"/>
              <a:chExt cx="905695" cy="2664001"/>
            </a:xfrm>
          </p:grpSpPr>
          <p:sp>
            <p:nvSpPr>
              <p:cNvPr id="418" name="等腰三角形 9_14"/>
              <p:cNvSpPr/>
              <p:nvPr/>
            </p:nvSpPr>
            <p:spPr>
              <a:xfrm rot="10800000">
                <a:off x="7678206" y="4585024"/>
                <a:ext cx="905695" cy="225229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9" name="椭圆 418"/>
              <p:cNvSpPr>
                <a:spLocks noChangeAspect="1"/>
              </p:cNvSpPr>
              <p:nvPr/>
            </p:nvSpPr>
            <p:spPr>
              <a:xfrm>
                <a:off x="7719353" y="4173322"/>
                <a:ext cx="823402" cy="82340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0" name="组合 419"/>
            <p:cNvGrpSpPr/>
            <p:nvPr/>
          </p:nvGrpSpPr>
          <p:grpSpPr>
            <a:xfrm>
              <a:off x="8158768" y="-2346784"/>
              <a:ext cx="942412" cy="2772000"/>
              <a:chOff x="8158768" y="4511565"/>
              <a:chExt cx="942412" cy="2772000"/>
            </a:xfrm>
          </p:grpSpPr>
          <p:sp>
            <p:nvSpPr>
              <p:cNvPr id="421" name="等腰三角形 9_16"/>
              <p:cNvSpPr/>
              <p:nvPr/>
            </p:nvSpPr>
            <p:spPr>
              <a:xfrm rot="10800000">
                <a:off x="8158768" y="4939957"/>
                <a:ext cx="942412" cy="234360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2" name="椭圆 421"/>
              <p:cNvSpPr>
                <a:spLocks noChangeAspect="1"/>
              </p:cNvSpPr>
              <p:nvPr/>
            </p:nvSpPr>
            <p:spPr>
              <a:xfrm>
                <a:off x="8201583" y="4511565"/>
                <a:ext cx="856783" cy="85678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3" name="组合 422"/>
            <p:cNvGrpSpPr/>
            <p:nvPr/>
          </p:nvGrpSpPr>
          <p:grpSpPr>
            <a:xfrm>
              <a:off x="11309411" y="-847185"/>
              <a:ext cx="715902" cy="1980000"/>
              <a:chOff x="11309411" y="6011164"/>
              <a:chExt cx="715902" cy="1980000"/>
            </a:xfrm>
          </p:grpSpPr>
          <p:sp>
            <p:nvSpPr>
              <p:cNvPr id="424" name="等腰三角形 9_18"/>
              <p:cNvSpPr/>
              <p:nvPr/>
            </p:nvSpPr>
            <p:spPr>
              <a:xfrm rot="10800000">
                <a:off x="11309411" y="6317158"/>
                <a:ext cx="715902" cy="167400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5" name="椭圆 424"/>
              <p:cNvSpPr>
                <a:spLocks noChangeAspect="1"/>
              </p:cNvSpPr>
              <p:nvPr/>
            </p:nvSpPr>
            <p:spPr>
              <a:xfrm>
                <a:off x="11361368" y="6011164"/>
                <a:ext cx="611990" cy="61198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6" name="组合 425"/>
            <p:cNvGrpSpPr/>
            <p:nvPr/>
          </p:nvGrpSpPr>
          <p:grpSpPr>
            <a:xfrm>
              <a:off x="9272737" y="-684692"/>
              <a:ext cx="868978" cy="2556000"/>
              <a:chOff x="9272737" y="6173657"/>
              <a:chExt cx="868978" cy="2556000"/>
            </a:xfrm>
          </p:grpSpPr>
          <p:sp>
            <p:nvSpPr>
              <p:cNvPr id="427"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8" name="椭圆 427"/>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9" name="组合 428"/>
            <p:cNvGrpSpPr/>
            <p:nvPr/>
          </p:nvGrpSpPr>
          <p:grpSpPr>
            <a:xfrm>
              <a:off x="8447464" y="-1278114"/>
              <a:ext cx="1174957" cy="3455999"/>
              <a:chOff x="8447464" y="5580235"/>
              <a:chExt cx="1174957" cy="3455999"/>
            </a:xfrm>
          </p:grpSpPr>
          <p:sp>
            <p:nvSpPr>
              <p:cNvPr id="43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1" name="椭圆 43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2" name="组合 431"/>
            <p:cNvGrpSpPr/>
            <p:nvPr/>
          </p:nvGrpSpPr>
          <p:grpSpPr>
            <a:xfrm>
              <a:off x="5713365" y="-2216284"/>
              <a:ext cx="1358547" cy="3996000"/>
              <a:chOff x="5713365" y="4642065"/>
              <a:chExt cx="1358547" cy="3996000"/>
            </a:xfrm>
          </p:grpSpPr>
          <p:sp>
            <p:nvSpPr>
              <p:cNvPr id="43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4" name="椭圆 43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5" name="组合 434"/>
            <p:cNvGrpSpPr/>
            <p:nvPr/>
          </p:nvGrpSpPr>
          <p:grpSpPr>
            <a:xfrm>
              <a:off x="7146608" y="-1854039"/>
              <a:ext cx="820027" cy="2412000"/>
              <a:chOff x="7146608" y="5004310"/>
              <a:chExt cx="820027" cy="2412000"/>
            </a:xfrm>
          </p:grpSpPr>
          <p:sp>
            <p:nvSpPr>
              <p:cNvPr id="436" name="等腰三角形 9_26"/>
              <p:cNvSpPr/>
              <p:nvPr/>
            </p:nvSpPr>
            <p:spPr>
              <a:xfrm rot="10800000">
                <a:off x="7146608" y="5377067"/>
                <a:ext cx="820027" cy="203924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7" name="椭圆 436"/>
              <p:cNvSpPr>
                <a:spLocks noChangeAspect="1"/>
              </p:cNvSpPr>
              <p:nvPr/>
            </p:nvSpPr>
            <p:spPr>
              <a:xfrm>
                <a:off x="7183863" y="5004310"/>
                <a:ext cx="745518" cy="74551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8" name="组合 437"/>
            <p:cNvGrpSpPr/>
            <p:nvPr/>
          </p:nvGrpSpPr>
          <p:grpSpPr>
            <a:xfrm>
              <a:off x="6965950" y="-2432198"/>
              <a:ext cx="879620" cy="2555999"/>
              <a:chOff x="6965950" y="4426151"/>
              <a:chExt cx="879620" cy="2555999"/>
            </a:xfrm>
          </p:grpSpPr>
          <p:sp>
            <p:nvSpPr>
              <p:cNvPr id="439" name="等腰三角形 9_28"/>
              <p:cNvSpPr/>
              <p:nvPr/>
            </p:nvSpPr>
            <p:spPr>
              <a:xfrm rot="10800000">
                <a:off x="6965950" y="4821161"/>
                <a:ext cx="879620"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0" name="椭圆 439"/>
              <p:cNvSpPr>
                <a:spLocks noChangeAspect="1"/>
              </p:cNvSpPr>
              <p:nvPr/>
            </p:nvSpPr>
            <p:spPr>
              <a:xfrm>
                <a:off x="7010750" y="4426151"/>
                <a:ext cx="790022" cy="790021"/>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5" name="组合 464"/>
            <p:cNvGrpSpPr/>
            <p:nvPr/>
          </p:nvGrpSpPr>
          <p:grpSpPr>
            <a:xfrm>
              <a:off x="7245345" y="-1392019"/>
              <a:ext cx="1358542" cy="3996000"/>
              <a:chOff x="7245345" y="5466330"/>
              <a:chExt cx="1358542" cy="3996000"/>
            </a:xfrm>
          </p:grpSpPr>
          <p:sp>
            <p:nvSpPr>
              <p:cNvPr id="466"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67" name="椭圆 466"/>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8" name="组合 467"/>
            <p:cNvGrpSpPr/>
            <p:nvPr/>
          </p:nvGrpSpPr>
          <p:grpSpPr>
            <a:xfrm>
              <a:off x="6696365" y="-1511431"/>
              <a:ext cx="917938" cy="2700000"/>
              <a:chOff x="6696365" y="5346918"/>
              <a:chExt cx="917938" cy="2700000"/>
            </a:xfrm>
          </p:grpSpPr>
          <p:sp>
            <p:nvSpPr>
              <p:cNvPr id="469" name="等腰三角形 9_48"/>
              <p:cNvSpPr/>
              <p:nvPr/>
            </p:nvSpPr>
            <p:spPr>
              <a:xfrm rot="10800000">
                <a:off x="6696365" y="5764183"/>
                <a:ext cx="917938" cy="22827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0" name="椭圆 469"/>
              <p:cNvSpPr>
                <a:spLocks noChangeAspect="1"/>
              </p:cNvSpPr>
              <p:nvPr/>
            </p:nvSpPr>
            <p:spPr>
              <a:xfrm>
                <a:off x="6738068" y="5346918"/>
                <a:ext cx="834533" cy="83453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1" name="组合 470"/>
            <p:cNvGrpSpPr/>
            <p:nvPr/>
          </p:nvGrpSpPr>
          <p:grpSpPr>
            <a:xfrm>
              <a:off x="6245184" y="-600374"/>
              <a:ext cx="1174953" cy="3455999"/>
              <a:chOff x="6245184" y="6257975"/>
              <a:chExt cx="1174953" cy="3455999"/>
            </a:xfrm>
          </p:grpSpPr>
          <p:sp>
            <p:nvSpPr>
              <p:cNvPr id="472" name="等腰三角形 9_50"/>
              <p:cNvSpPr/>
              <p:nvPr/>
            </p:nvSpPr>
            <p:spPr>
              <a:xfrm rot="10800000">
                <a:off x="6245184" y="6792073"/>
                <a:ext cx="1174953"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3" name="椭圆 472"/>
              <p:cNvSpPr>
                <a:spLocks noChangeAspect="1"/>
              </p:cNvSpPr>
              <p:nvPr/>
            </p:nvSpPr>
            <p:spPr>
              <a:xfrm>
                <a:off x="6298564" y="6257975"/>
                <a:ext cx="1068195" cy="1068198"/>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7" name="组合 476"/>
            <p:cNvGrpSpPr/>
            <p:nvPr/>
          </p:nvGrpSpPr>
          <p:grpSpPr>
            <a:xfrm>
              <a:off x="9417129" y="-1960953"/>
              <a:ext cx="1077041" cy="3168000"/>
              <a:chOff x="9417129" y="4897396"/>
              <a:chExt cx="1077041" cy="3168000"/>
            </a:xfrm>
          </p:grpSpPr>
          <p:sp>
            <p:nvSpPr>
              <p:cNvPr id="478" name="等腰三角形 9_54"/>
              <p:cNvSpPr/>
              <p:nvPr/>
            </p:nvSpPr>
            <p:spPr>
              <a:xfrm rot="10800000">
                <a:off x="9417129" y="538698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9" name="椭圆 478"/>
              <p:cNvSpPr>
                <a:spLocks noChangeAspect="1"/>
              </p:cNvSpPr>
              <p:nvPr/>
            </p:nvSpPr>
            <p:spPr>
              <a:xfrm>
                <a:off x="9466061" y="4897396"/>
                <a:ext cx="979179" cy="97918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0" name="组合 479"/>
            <p:cNvGrpSpPr/>
            <p:nvPr/>
          </p:nvGrpSpPr>
          <p:grpSpPr>
            <a:xfrm>
              <a:off x="10073620" y="-1211944"/>
              <a:ext cx="632480" cy="1692000"/>
              <a:chOff x="10073620" y="5646405"/>
              <a:chExt cx="632480" cy="1692000"/>
            </a:xfrm>
          </p:grpSpPr>
          <p:sp>
            <p:nvSpPr>
              <p:cNvPr id="481" name="等腰三角形 9_56"/>
              <p:cNvSpPr/>
              <p:nvPr/>
            </p:nvSpPr>
            <p:spPr>
              <a:xfrm rot="10800000">
                <a:off x="10073620" y="5907891"/>
                <a:ext cx="632480" cy="143051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2" name="椭圆 481"/>
              <p:cNvSpPr>
                <a:spLocks noChangeAspect="1"/>
              </p:cNvSpPr>
              <p:nvPr/>
            </p:nvSpPr>
            <p:spPr>
              <a:xfrm>
                <a:off x="10128371" y="5646405"/>
                <a:ext cx="522979" cy="52297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3" name="组合 482"/>
            <p:cNvGrpSpPr/>
            <p:nvPr/>
          </p:nvGrpSpPr>
          <p:grpSpPr>
            <a:xfrm>
              <a:off x="10231003" y="-614663"/>
              <a:ext cx="1077041" cy="3168000"/>
              <a:chOff x="10231003" y="6243686"/>
              <a:chExt cx="1077041" cy="3168000"/>
            </a:xfrm>
          </p:grpSpPr>
          <p:sp>
            <p:nvSpPr>
              <p:cNvPr id="484"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5" name="椭圆 484"/>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445045" y="5183458"/>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52613" y="96296"/>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endPar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endParaRPr>
          </a:p>
        </p:txBody>
      </p:sp>
      <p:grpSp>
        <p:nvGrpSpPr>
          <p:cNvPr id="4" name="组合 3"/>
          <p:cNvGrpSpPr/>
          <p:nvPr/>
        </p:nvGrpSpPr>
        <p:grpSpPr>
          <a:xfrm>
            <a:off x="1556740" y="1251182"/>
            <a:ext cx="2490140" cy="584775"/>
            <a:chOff x="2152071" y="2425583"/>
            <a:chExt cx="2490140" cy="584775"/>
          </a:xfrm>
        </p:grpSpPr>
        <p:sp>
          <p:nvSpPr>
            <p:cNvPr id="13" name="椭圆 12"/>
            <p:cNvSpPr>
              <a:spLocks noChangeAspect="1"/>
            </p:cNvSpPr>
            <p:nvPr/>
          </p:nvSpPr>
          <p:spPr>
            <a:xfrm>
              <a:off x="2152071"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816070" y="2425583"/>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grpSp>
      <p:grpSp>
        <p:nvGrpSpPr>
          <p:cNvPr id="9" name="组合 8"/>
          <p:cNvGrpSpPr/>
          <p:nvPr/>
        </p:nvGrpSpPr>
        <p:grpSpPr>
          <a:xfrm>
            <a:off x="1678953" y="4263765"/>
            <a:ext cx="3386435" cy="620704"/>
            <a:chOff x="6566362" y="2434358"/>
            <a:chExt cx="3386435" cy="620704"/>
          </a:xfrm>
        </p:grpSpPr>
        <p:sp>
          <p:nvSpPr>
            <p:cNvPr id="19" name="椭圆 18"/>
            <p:cNvSpPr>
              <a:spLocks noChangeAspect="1"/>
            </p:cNvSpPr>
            <p:nvPr/>
          </p:nvSpPr>
          <p:spPr>
            <a:xfrm>
              <a:off x="6566362"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7198517" y="2470287"/>
              <a:ext cx="2754280" cy="584775"/>
            </a:xfrm>
            <a:prstGeom prst="rect">
              <a:avLst/>
            </a:prstGeom>
            <a:noFill/>
          </p:spPr>
          <p:txBody>
            <a:bodyPr wrap="none" rtlCol="0">
              <a:spAutoFit/>
            </a:bodyPr>
            <a:lstStyle/>
            <a:p>
              <a:r>
                <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KNN</a:t>
              </a:r>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算法流程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10" name="组合 9"/>
          <p:cNvGrpSpPr/>
          <p:nvPr/>
        </p:nvGrpSpPr>
        <p:grpSpPr>
          <a:xfrm>
            <a:off x="1556740" y="2621045"/>
            <a:ext cx="4239016" cy="596266"/>
            <a:chOff x="2152071" y="3689711"/>
            <a:chExt cx="4239016" cy="596266"/>
          </a:xfrm>
        </p:grpSpPr>
        <p:sp>
          <p:nvSpPr>
            <p:cNvPr id="24" name="椭圆 23"/>
            <p:cNvSpPr>
              <a:spLocks noChangeAspect="1"/>
            </p:cNvSpPr>
            <p:nvPr/>
          </p:nvSpPr>
          <p:spPr>
            <a:xfrm>
              <a:off x="2152071" y="368971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5" name="文本框 24"/>
            <p:cNvSpPr txBox="1"/>
            <p:nvPr/>
          </p:nvSpPr>
          <p:spPr>
            <a:xfrm>
              <a:off x="2816069" y="3701202"/>
              <a:ext cx="3575018" cy="584775"/>
            </a:xfrm>
            <a:prstGeom prst="rect">
              <a:avLst/>
            </a:prstGeom>
            <a:noFill/>
          </p:spPr>
          <p:txBody>
            <a:bodyPr wrap="none" rtlCol="0">
              <a:spAutoFit/>
            </a:bodyPr>
            <a:lstStyle/>
            <a:p>
              <a:r>
                <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KNN</a:t>
              </a:r>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算法关键问题</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11" name="组合 10"/>
          <p:cNvGrpSpPr/>
          <p:nvPr/>
        </p:nvGrpSpPr>
        <p:grpSpPr>
          <a:xfrm>
            <a:off x="6799821" y="1297477"/>
            <a:ext cx="2985943" cy="601320"/>
            <a:chOff x="6566362" y="3689711"/>
            <a:chExt cx="2985943" cy="601320"/>
          </a:xfrm>
        </p:grpSpPr>
        <p:sp>
          <p:nvSpPr>
            <p:cNvPr id="28" name="椭圆 27"/>
            <p:cNvSpPr>
              <a:spLocks noChangeAspect="1"/>
            </p:cNvSpPr>
            <p:nvPr/>
          </p:nvSpPr>
          <p:spPr>
            <a:xfrm>
              <a:off x="6566362" y="368971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4</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9" name="文本框 28"/>
            <p:cNvSpPr txBox="1"/>
            <p:nvPr/>
          </p:nvSpPr>
          <p:spPr>
            <a:xfrm>
              <a:off x="7315795" y="3706256"/>
              <a:ext cx="2236510"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数据标准化</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90" name="组合 89"/>
          <p:cNvGrpSpPr/>
          <p:nvPr/>
        </p:nvGrpSpPr>
        <p:grpSpPr>
          <a:xfrm>
            <a:off x="6743724" y="4254572"/>
            <a:ext cx="3806680" cy="601320"/>
            <a:chOff x="6566362" y="3689711"/>
            <a:chExt cx="3806680" cy="601320"/>
          </a:xfrm>
        </p:grpSpPr>
        <p:sp>
          <p:nvSpPr>
            <p:cNvPr id="92" name="椭圆 91"/>
            <p:cNvSpPr>
              <a:spLocks noChangeAspect="1"/>
            </p:cNvSpPr>
            <p:nvPr/>
          </p:nvSpPr>
          <p:spPr>
            <a:xfrm>
              <a:off x="6566362" y="368971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6</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3" name="文本框 92"/>
            <p:cNvSpPr txBox="1"/>
            <p:nvPr/>
          </p:nvSpPr>
          <p:spPr>
            <a:xfrm>
              <a:off x="7315795" y="3706256"/>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算法改进与优化</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grpSp>
        <p:nvGrpSpPr>
          <p:cNvPr id="94" name="组合 93"/>
          <p:cNvGrpSpPr/>
          <p:nvPr/>
        </p:nvGrpSpPr>
        <p:grpSpPr>
          <a:xfrm>
            <a:off x="6771750" y="2587373"/>
            <a:ext cx="2575574" cy="601320"/>
            <a:chOff x="6566362" y="3689711"/>
            <a:chExt cx="2575574" cy="601320"/>
          </a:xfrm>
        </p:grpSpPr>
        <p:sp>
          <p:nvSpPr>
            <p:cNvPr id="95" name="椭圆 94"/>
            <p:cNvSpPr>
              <a:spLocks noChangeAspect="1"/>
            </p:cNvSpPr>
            <p:nvPr/>
          </p:nvSpPr>
          <p:spPr>
            <a:xfrm>
              <a:off x="6566362" y="368971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80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5</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6" name="文本框 95"/>
            <p:cNvSpPr txBox="1"/>
            <p:nvPr/>
          </p:nvSpPr>
          <p:spPr>
            <a:xfrm>
              <a:off x="7315795" y="3706256"/>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算法实例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997893" y="2517364"/>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kNN</a:t>
            </a:r>
            <a:r>
              <a:rPr lang="zh-CN" altLang="en-US" dirty="0"/>
              <a:t>算法概述</a:t>
            </a:r>
            <a:endParaRPr lang="zh-CN" altLang="en-US" dirty="0"/>
          </a:p>
        </p:txBody>
      </p:sp>
      <p:sp>
        <p:nvSpPr>
          <p:cNvPr id="4" name="文本框 3"/>
          <p:cNvSpPr txBox="1"/>
          <p:nvPr/>
        </p:nvSpPr>
        <p:spPr>
          <a:xfrm>
            <a:off x="1253108" y="1446106"/>
            <a:ext cx="9445372" cy="1141851"/>
          </a:xfrm>
          <a:prstGeom prst="rect">
            <a:avLst/>
          </a:prstGeom>
          <a:noFill/>
        </p:spPr>
        <p:txBody>
          <a:bodyPr wrap="square" rtlCol="0">
            <a:spAutoFit/>
          </a:bodyPr>
          <a:lstStyle/>
          <a:p>
            <a:pPr>
              <a:lnSpc>
                <a:spcPct val="150000"/>
              </a:lnSpc>
            </a:pPr>
            <a:r>
              <a:rPr lang="en-US" altLang="zh-CN" sz="2400" dirty="0"/>
              <a:t>k-</a:t>
            </a:r>
            <a:r>
              <a:rPr lang="zh-CN" altLang="zh-CN" sz="2400" dirty="0"/>
              <a:t>近邻算法</a:t>
            </a:r>
            <a:r>
              <a:rPr lang="en-US" altLang="zh-CN" sz="2400" dirty="0"/>
              <a:t>(k-</a:t>
            </a:r>
            <a:r>
              <a:rPr lang="en-US" altLang="zh-CN" sz="2400" dirty="0" err="1"/>
              <a:t>NearestNeighbor</a:t>
            </a:r>
            <a:r>
              <a:rPr lang="zh-CN" altLang="zh-CN" sz="2400" dirty="0"/>
              <a:t>，</a:t>
            </a:r>
            <a:r>
              <a:rPr lang="en-US" altLang="zh-CN" sz="2400" dirty="0" err="1"/>
              <a:t>kNN</a:t>
            </a:r>
            <a:r>
              <a:rPr lang="en-US" altLang="zh-CN" sz="2400" dirty="0"/>
              <a:t>)</a:t>
            </a:r>
            <a:r>
              <a:rPr lang="zh-CN" altLang="zh-CN" sz="2400" dirty="0"/>
              <a:t>，顾名思义，即由某样本</a:t>
            </a:r>
            <a:r>
              <a:rPr lang="en-US" altLang="zh-CN" sz="2400" dirty="0"/>
              <a:t>k</a:t>
            </a:r>
            <a:r>
              <a:rPr lang="zh-CN" altLang="zh-CN" sz="2400" dirty="0"/>
              <a:t>个邻居的类别来推断出该样本的类别。</a:t>
            </a:r>
            <a:endParaRPr lang="zh-CN" altLang="en-US" sz="2400" dirty="0"/>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186689" y="3023816"/>
            <a:ext cx="2405005" cy="2146936"/>
          </a:xfrm>
          <a:prstGeom prst="rect">
            <a:avLst/>
          </a:prstGeom>
          <a:noFill/>
        </p:spPr>
      </p:pic>
      <p:sp>
        <p:nvSpPr>
          <p:cNvPr id="6" name="文本框 5"/>
          <p:cNvSpPr txBox="1"/>
          <p:nvPr/>
        </p:nvSpPr>
        <p:spPr>
          <a:xfrm>
            <a:off x="5388227" y="2864148"/>
            <a:ext cx="5748345" cy="1754326"/>
          </a:xfrm>
          <a:prstGeom prst="rect">
            <a:avLst/>
          </a:prstGeom>
          <a:noFill/>
        </p:spPr>
        <p:txBody>
          <a:bodyPr wrap="square" rtlCol="0">
            <a:spAutoFit/>
          </a:bodyPr>
          <a:lstStyle/>
          <a:p>
            <a:pPr algn="just">
              <a:lnSpc>
                <a:spcPct val="150000"/>
              </a:lnSpc>
            </a:pPr>
            <a:r>
              <a:rPr lang="zh-CN" altLang="en-US" sz="2400" dirty="0"/>
              <a:t>给定测试样本，基于特定的</a:t>
            </a:r>
            <a:r>
              <a:rPr lang="zh-CN" altLang="en-US" sz="2400" dirty="0">
                <a:solidFill>
                  <a:srgbClr val="FF0000"/>
                </a:solidFill>
              </a:rPr>
              <a:t>某种距离</a:t>
            </a:r>
            <a:r>
              <a:rPr lang="zh-CN" altLang="en-US" sz="2400" dirty="0"/>
              <a:t>度量方式找到与训练集中最接近的</a:t>
            </a:r>
            <a:r>
              <a:rPr lang="en-US" altLang="zh-CN" sz="2400" dirty="0"/>
              <a:t>k</a:t>
            </a:r>
            <a:r>
              <a:rPr lang="zh-CN" altLang="en-US" sz="2400" dirty="0"/>
              <a:t>个样本，然后基于这</a:t>
            </a:r>
            <a:r>
              <a:rPr lang="en-US" altLang="zh-CN" sz="2400" dirty="0"/>
              <a:t>k</a:t>
            </a:r>
            <a:r>
              <a:rPr lang="zh-CN" altLang="en-US" sz="2400" dirty="0"/>
              <a:t>个样本的类别进行预测。</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11122" y="586872"/>
            <a:ext cx="4330390" cy="974299"/>
          </a:xfrm>
        </p:spPr>
        <p:txBody>
          <a:bodyPr/>
          <a:lstStyle/>
          <a:p>
            <a:r>
              <a:rPr lang="zh-CN" altLang="en-US" dirty="0"/>
              <a:t>分类需要什么？</a:t>
            </a:r>
            <a:endParaRPr lang="zh-CN" altLang="en-US" dirty="0"/>
          </a:p>
        </p:txBody>
      </p:sp>
      <p:sp>
        <p:nvSpPr>
          <p:cNvPr id="3" name="内容占位符 2"/>
          <p:cNvSpPr>
            <a:spLocks noGrp="1"/>
          </p:cNvSpPr>
          <p:nvPr>
            <p:ph idx="1"/>
          </p:nvPr>
        </p:nvSpPr>
        <p:spPr>
          <a:xfrm>
            <a:off x="6947210" y="2124309"/>
            <a:ext cx="5244790" cy="2982949"/>
          </a:xfrm>
        </p:spPr>
        <p:txBody>
          <a:bodyPr/>
          <a:lstStyle/>
          <a:p>
            <a:pPr>
              <a:lnSpc>
                <a:spcPct val="150000"/>
              </a:lnSpc>
            </a:pPr>
            <a:r>
              <a:rPr lang="zh-CN" altLang="en-US" dirty="0"/>
              <a:t>数据：</a:t>
            </a:r>
            <a:endParaRPr lang="en-US" altLang="zh-CN" dirty="0"/>
          </a:p>
          <a:p>
            <a:pPr lvl="1">
              <a:lnSpc>
                <a:spcPct val="150000"/>
              </a:lnSpc>
            </a:pPr>
            <a:r>
              <a:rPr lang="zh-CN" altLang="en-US" dirty="0"/>
              <a:t>将对象表示为量化的一组特征</a:t>
            </a:r>
            <a:endParaRPr lang="en-US" altLang="zh-CN" dirty="0"/>
          </a:p>
          <a:p>
            <a:pPr lvl="1">
              <a:lnSpc>
                <a:spcPct val="150000"/>
              </a:lnSpc>
            </a:pPr>
            <a:r>
              <a:rPr lang="zh-CN" altLang="en-US" dirty="0"/>
              <a:t>给定类别标签</a:t>
            </a:r>
            <a:endParaRPr lang="en-US" altLang="zh-CN" dirty="0"/>
          </a:p>
          <a:p>
            <a:pPr>
              <a:lnSpc>
                <a:spcPct val="150000"/>
              </a:lnSpc>
            </a:pPr>
            <a:r>
              <a:rPr lang="zh-CN" altLang="en-US" dirty="0"/>
              <a:t>对象间相似性的度量</a:t>
            </a:r>
            <a:endParaRPr lang="en-US" altLang="zh-CN" dirty="0"/>
          </a:p>
          <a:p>
            <a:pPr lvl="1"/>
            <a:endParaRPr lang="zh-CN" altLang="en-US" dirty="0"/>
          </a:p>
        </p:txBody>
      </p:sp>
      <p:sp>
        <p:nvSpPr>
          <p:cNvPr id="4" name="矩形 3"/>
          <p:cNvSpPr/>
          <p:nvPr/>
        </p:nvSpPr>
        <p:spPr>
          <a:xfrm>
            <a:off x="682418" y="1224937"/>
            <a:ext cx="4815134" cy="954107"/>
          </a:xfrm>
          <a:prstGeom prst="rect">
            <a:avLst/>
          </a:prstGeom>
        </p:spPr>
        <p:txBody>
          <a:bodyPr wrap="square">
            <a:spAutoFit/>
          </a:bodyPr>
          <a:lstStyle/>
          <a:p>
            <a:r>
              <a:rPr lang="zh-CN" altLang="en-US" sz="2800" dirty="0"/>
              <a:t>用于分类任务的机器学习模型称为</a:t>
            </a:r>
            <a:r>
              <a:rPr lang="zh-CN" altLang="en-US" sz="2800" dirty="0">
                <a:solidFill>
                  <a:srgbClr val="FF0000"/>
                </a:solidFill>
              </a:rPr>
              <a:t>分类模型</a:t>
            </a:r>
            <a:r>
              <a:rPr lang="zh-CN" altLang="en-US" sz="2800" dirty="0"/>
              <a:t>或</a:t>
            </a:r>
            <a:r>
              <a:rPr lang="zh-CN" altLang="en-US" sz="2800" dirty="0">
                <a:solidFill>
                  <a:srgbClr val="FF0000"/>
                </a:solidFill>
              </a:rPr>
              <a:t>分类器</a:t>
            </a:r>
            <a:endParaRPr lang="zh-CN" altLang="en-US" sz="2800" dirty="0">
              <a:solidFill>
                <a:srgbClr val="FF0000"/>
              </a:solidFill>
            </a:endParaRPr>
          </a:p>
        </p:txBody>
      </p:sp>
      <p:sp>
        <p:nvSpPr>
          <p:cNvPr id="5" name="矩形 4"/>
          <p:cNvSpPr/>
          <p:nvPr/>
        </p:nvSpPr>
        <p:spPr>
          <a:xfrm>
            <a:off x="660315" y="2312739"/>
            <a:ext cx="5026806" cy="1384995"/>
          </a:xfrm>
          <a:prstGeom prst="rect">
            <a:avLst/>
          </a:prstGeom>
        </p:spPr>
        <p:txBody>
          <a:bodyPr wrap="square">
            <a:spAutoFit/>
          </a:bodyPr>
          <a:lstStyle/>
          <a:p>
            <a:r>
              <a:rPr lang="zh-CN" altLang="en-US" sz="2800" dirty="0"/>
              <a:t>分类任务的目标是通过训练样本构建合适的分类器𝐶</a:t>
            </a:r>
            <a:r>
              <a:rPr lang="en-US" altLang="zh-CN" sz="2800" dirty="0"/>
              <a:t>(</a:t>
            </a:r>
            <a:r>
              <a:rPr lang="zh-CN" altLang="en-US" sz="2800" dirty="0"/>
              <a:t>𝑋</a:t>
            </a:r>
            <a:r>
              <a:rPr lang="en-US" altLang="zh-CN" sz="2800" dirty="0"/>
              <a:t>)</a:t>
            </a:r>
            <a:r>
              <a:rPr lang="zh-CN" altLang="en-US" sz="2800" dirty="0"/>
              <a:t>，完成对目标的分类。</a:t>
            </a:r>
            <a:endParaRPr lang="zh-CN" altLang="en-US" sz="2800" dirty="0"/>
          </a:p>
        </p:txBody>
      </p:sp>
      <p:sp>
        <p:nvSpPr>
          <p:cNvPr id="6" name="矩形 5"/>
          <p:cNvSpPr/>
          <p:nvPr/>
        </p:nvSpPr>
        <p:spPr>
          <a:xfrm>
            <a:off x="648963" y="3814478"/>
            <a:ext cx="5910099" cy="2246769"/>
          </a:xfrm>
          <a:prstGeom prst="rect">
            <a:avLst/>
          </a:prstGeom>
        </p:spPr>
        <p:txBody>
          <a:bodyPr wrap="square">
            <a:spAutoFit/>
          </a:bodyPr>
          <a:lstStyle/>
          <a:p>
            <a:r>
              <a:rPr lang="zh-CN" altLang="en-US" sz="2800" dirty="0"/>
              <a:t>只有两类的分类任务称为</a:t>
            </a:r>
            <a:r>
              <a:rPr lang="zh-CN" altLang="en-US" sz="2800" b="1" dirty="0">
                <a:solidFill>
                  <a:srgbClr val="FF0000"/>
                </a:solidFill>
              </a:rPr>
              <a:t>二值分类</a:t>
            </a:r>
            <a:r>
              <a:rPr lang="zh-CN" altLang="en-US" sz="2800" b="1" dirty="0"/>
              <a:t>或</a:t>
            </a:r>
            <a:r>
              <a:rPr lang="zh-CN" altLang="en-US" sz="2800" b="1" dirty="0">
                <a:solidFill>
                  <a:srgbClr val="FF0000"/>
                </a:solidFill>
              </a:rPr>
              <a:t>二分类</a:t>
            </a:r>
            <a:r>
              <a:rPr lang="zh-CN" altLang="en-US" sz="2800" dirty="0"/>
              <a:t>，这两个类别分别称为正类和负类，通常用</a:t>
            </a:r>
            <a:r>
              <a:rPr lang="en-US" altLang="zh-CN" sz="2800" dirty="0"/>
              <a:t>+1</a:t>
            </a:r>
            <a:r>
              <a:rPr lang="zh-CN" altLang="en-US" sz="2800" dirty="0"/>
              <a:t>和</a:t>
            </a:r>
            <a:r>
              <a:rPr lang="en-US" altLang="zh-CN" sz="2800" dirty="0"/>
              <a:t>-1</a:t>
            </a:r>
            <a:r>
              <a:rPr lang="zh-CN" altLang="en-US" sz="2800" dirty="0"/>
              <a:t>分别指代。</a:t>
            </a:r>
            <a:endParaRPr lang="en-US" altLang="zh-CN" sz="2800" dirty="0"/>
          </a:p>
          <a:p>
            <a:r>
              <a:rPr lang="zh-CN" altLang="en-US" sz="2800" dirty="0"/>
              <a:t>分类类别多于两类的分类任务通常称之为</a:t>
            </a:r>
            <a:r>
              <a:rPr lang="zh-CN" altLang="en-US" sz="2800" b="1" dirty="0">
                <a:solidFill>
                  <a:srgbClr val="FF0000"/>
                </a:solidFill>
              </a:rPr>
              <a:t>多值分类</a:t>
            </a:r>
            <a:r>
              <a:rPr lang="zh-CN" altLang="en-US" sz="2800" dirty="0"/>
              <a:t>。</a:t>
            </a:r>
            <a:endParaRPr lang="zh-CN" altLang="en-US" sz="2800" dirty="0"/>
          </a:p>
        </p:txBody>
      </p:sp>
      <p:sp>
        <p:nvSpPr>
          <p:cNvPr id="7" name="标题 1"/>
          <p:cNvSpPr txBox="1"/>
          <p:nvPr/>
        </p:nvSpPr>
        <p:spPr>
          <a:xfrm>
            <a:off x="1029629" y="460492"/>
            <a:ext cx="4330390" cy="974299"/>
          </a:xfrm>
          <a:prstGeom prst="rect">
            <a:avLst/>
          </a:prstGeom>
        </p:spPr>
        <p:txBody>
          <a:bodyPr/>
          <a:lstStyle/>
          <a:p>
            <a:pPr lvl="0">
              <a:lnSpc>
                <a:spcPct val="90000"/>
              </a:lnSpc>
              <a:spcBef>
                <a:spcPct val="0"/>
              </a:spcBef>
            </a:pPr>
            <a:r>
              <a:rPr lang="zh-CN" altLang="en-US" sz="4400" dirty="0">
                <a:latin typeface="+mj-lt"/>
                <a:ea typeface="+mj-ea"/>
                <a:cs typeface="+mj-cs"/>
              </a:rPr>
              <a:t>什么是分类？</a:t>
            </a: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标题 60"/>
          <p:cNvSpPr>
            <a:spLocks noGrp="1"/>
          </p:cNvSpPr>
          <p:nvPr>
            <p:ph type="title"/>
          </p:nvPr>
        </p:nvSpPr>
        <p:spPr>
          <a:xfrm>
            <a:off x="536142" y="649775"/>
            <a:ext cx="10972800" cy="1143000"/>
          </a:xfrm>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
        <p:nvSpPr>
          <p:cNvPr id="2" name="矩形 1"/>
          <p:cNvSpPr/>
          <p:nvPr/>
        </p:nvSpPr>
        <p:spPr>
          <a:xfrm>
            <a:off x="2221487" y="4937650"/>
            <a:ext cx="5011616" cy="382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C000"/>
                </a:solidFill>
              </a:rPr>
              <a:t>物以类聚，人以群分</a:t>
            </a:r>
            <a:endParaRPr lang="zh-CN" altLang="en-US" sz="2400" b="1" dirty="0">
              <a:solidFill>
                <a:srgbClr val="FFC000"/>
              </a:solidFill>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057886" y="2081264"/>
            <a:ext cx="3201005" cy="2819808"/>
          </a:xfrm>
          <a:prstGeom prst="rect">
            <a:avLst/>
          </a:prstGeom>
        </p:spPr>
      </p:pic>
      <p:sp>
        <p:nvSpPr>
          <p:cNvPr id="64" name="椭圆 63"/>
          <p:cNvSpPr/>
          <p:nvPr/>
        </p:nvSpPr>
        <p:spPr>
          <a:xfrm>
            <a:off x="4134778" y="2782669"/>
            <a:ext cx="1354015" cy="109903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68"/>
          <p:cNvGrpSpPr/>
          <p:nvPr/>
        </p:nvGrpSpPr>
        <p:grpSpPr>
          <a:xfrm>
            <a:off x="6513794" y="2359889"/>
            <a:ext cx="3824653" cy="2169825"/>
            <a:chOff x="7496139" y="3752084"/>
            <a:chExt cx="3824653" cy="2169825"/>
          </a:xfrm>
        </p:grpSpPr>
        <p:sp>
          <p:nvSpPr>
            <p:cNvPr id="65" name="矩形 64"/>
            <p:cNvSpPr/>
            <p:nvPr/>
          </p:nvSpPr>
          <p:spPr>
            <a:xfrm>
              <a:off x="7496139" y="3752084"/>
              <a:ext cx="3824653" cy="2169825"/>
            </a:xfrm>
            <a:prstGeom prst="rect">
              <a:avLst/>
            </a:prstGeom>
          </p:spPr>
          <p:txBody>
            <a:bodyPr wrap="square">
              <a:spAutoFit/>
            </a:bodyPr>
            <a:lstStyle/>
            <a:p>
              <a:pPr>
                <a:lnSpc>
                  <a:spcPct val="150000"/>
                </a:lnSpc>
              </a:pPr>
              <a:r>
                <a:rPr lang="en-US" altLang="zh-CN" b="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个邻居</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en-US" altLang="zh-CN" b="1" dirty="0">
                  <a:latin typeface="Times New Roman" panose="02020603050405020304" pitchFamily="18" charset="0"/>
                  <a:cs typeface="Times New Roman" panose="02020603050405020304" pitchFamily="18" charset="0"/>
                </a:rPr>
                <a:t>K=3 :</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en-US" altLang="zh-CN" b="1" dirty="0">
                  <a:latin typeface="Times New Roman" panose="02020603050405020304" pitchFamily="18" charset="0"/>
                  <a:cs typeface="Times New Roman" panose="02020603050405020304" pitchFamily="18" charset="0"/>
                </a:rPr>
                <a:t>SIZE</a:t>
              </a:r>
              <a:r>
                <a:rPr lang="zh-CN" altLang="en-US" b="1" dirty="0">
                  <a:latin typeface="Times New Roman" panose="02020603050405020304" pitchFamily="18" charset="0"/>
                  <a:cs typeface="Times New Roman" panose="02020603050405020304" pitchFamily="18" charset="0"/>
                </a:rPr>
                <a:t>和</a:t>
              </a:r>
              <a:r>
                <a:rPr lang="en-US" altLang="zh-CN" b="1" dirty="0">
                  <a:latin typeface="Times New Roman" panose="02020603050405020304" pitchFamily="18" charset="0"/>
                  <a:cs typeface="Times New Roman" panose="02020603050405020304" pitchFamily="18" charset="0"/>
                </a:rPr>
                <a:t> COLOR: </a:t>
              </a:r>
              <a:r>
                <a:rPr lang="zh-CN" altLang="en-US" b="1" dirty="0">
                  <a:latin typeface="Times New Roman" panose="02020603050405020304" pitchFamily="18" charset="0"/>
                  <a:cs typeface="Times New Roman" panose="02020603050405020304" pitchFamily="18" charset="0"/>
                </a:rPr>
                <a:t>数据的特征</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苹果和梨：数据的标签</a:t>
              </a:r>
              <a:endParaRPr lang="en-US" altLang="zh-CN" b="1" dirty="0">
                <a:latin typeface="Times New Roman" panose="02020603050405020304" pitchFamily="18" charset="0"/>
                <a:cs typeface="Times New Roman" panose="02020603050405020304" pitchFamily="18" charset="0"/>
              </a:endParaRPr>
            </a:p>
            <a:p>
              <a:pPr>
                <a:lnSpc>
                  <a:spcPct val="150000"/>
                </a:lnSpc>
              </a:pPr>
              <a:r>
                <a:rPr lang="zh-CN" altLang="en-US" b="1" dirty="0">
                  <a:latin typeface="Times New Roman" panose="02020603050405020304" pitchFamily="18" charset="0"/>
                  <a:cs typeface="Times New Roman" panose="02020603050405020304" pitchFamily="18" charset="0"/>
                </a:rPr>
                <a:t>距离计算</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欧氏距离、曼哈顿距离等</a:t>
              </a:r>
              <a:endParaRPr lang="zh-CN" altLang="en-US" b="1" dirty="0">
                <a:latin typeface="Times New Roman" panose="02020603050405020304" pitchFamily="18" charset="0"/>
                <a:cs typeface="Times New Roman" panose="02020603050405020304" pitchFamily="18" charset="0"/>
              </a:endParaRPr>
            </a:p>
          </p:txBody>
        </p:sp>
        <p:pic>
          <p:nvPicPr>
            <p:cNvPr id="66" name="图片 65"/>
            <p:cNvPicPr>
              <a:picLocks noChangeAspect="1"/>
            </p:cNvPicPr>
            <p:nvPr/>
          </p:nvPicPr>
          <p:blipFill>
            <a:blip r:embed="rId2"/>
            <a:stretch>
              <a:fillRect/>
            </a:stretch>
          </p:blipFill>
          <p:spPr>
            <a:xfrm>
              <a:off x="8246549" y="4219510"/>
              <a:ext cx="399398" cy="388735"/>
            </a:xfrm>
            <a:prstGeom prst="rect">
              <a:avLst/>
            </a:prstGeom>
          </p:spPr>
        </p:pic>
        <p:pic>
          <p:nvPicPr>
            <p:cNvPr id="67" name="图片 66"/>
            <p:cNvPicPr>
              <a:picLocks noChangeAspect="1"/>
            </p:cNvPicPr>
            <p:nvPr/>
          </p:nvPicPr>
          <p:blipFill>
            <a:blip r:embed="rId3"/>
            <a:stretch>
              <a:fillRect/>
            </a:stretch>
          </p:blipFill>
          <p:spPr>
            <a:xfrm>
              <a:off x="8760657" y="4230706"/>
              <a:ext cx="302704" cy="388735"/>
            </a:xfrm>
            <a:prstGeom prst="rect">
              <a:avLst/>
            </a:prstGeom>
          </p:spPr>
        </p:pic>
        <p:pic>
          <p:nvPicPr>
            <p:cNvPr id="68" name="图片 67"/>
            <p:cNvPicPr>
              <a:picLocks noChangeAspect="1"/>
            </p:cNvPicPr>
            <p:nvPr/>
          </p:nvPicPr>
          <p:blipFill>
            <a:blip r:embed="rId3"/>
            <a:stretch>
              <a:fillRect/>
            </a:stretch>
          </p:blipFill>
          <p:spPr>
            <a:xfrm>
              <a:off x="9178071" y="4209293"/>
              <a:ext cx="320641" cy="411770"/>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1631" y="2236471"/>
            <a:ext cx="266192" cy="199643"/>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611631" y="2670812"/>
            <a:ext cx="266192" cy="201167"/>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6" name="object 6"/>
          <p:cNvSpPr txBox="1"/>
          <p:nvPr/>
        </p:nvSpPr>
        <p:spPr>
          <a:xfrm>
            <a:off x="1060432" y="1819947"/>
            <a:ext cx="3298613" cy="1623695"/>
          </a:xfrm>
          <a:prstGeom prst="rect">
            <a:avLst/>
          </a:prstGeom>
        </p:spPr>
        <p:txBody>
          <a:bodyPr vert="horz" wrap="square" lIns="0" tIns="106680" rIns="0" bIns="0" rtlCol="0">
            <a:spAutoFit/>
          </a:bodyPr>
          <a:lstStyle/>
          <a:p>
            <a:pPr marR="5080" algn="r">
              <a:spcBef>
                <a:spcPts val="840"/>
              </a:spcBef>
            </a:pPr>
            <a:r>
              <a:rPr sz="1400" spc="-5" dirty="0">
                <a:solidFill>
                  <a:srgbClr val="344B5E"/>
                </a:solidFill>
                <a:latin typeface="Arial" panose="020B0604020202020204"/>
                <a:cs typeface="Arial" panose="020B0604020202020204"/>
              </a:rPr>
              <a:t>60</a:t>
            </a:r>
            <a:endParaRPr sz="1400" dirty="0">
              <a:latin typeface="Arial" panose="020B0604020202020204"/>
              <a:cs typeface="Arial" panose="020B0604020202020204"/>
            </a:endParaRPr>
          </a:p>
          <a:p>
            <a:pPr marL="12700">
              <a:spcBef>
                <a:spcPts val="745"/>
              </a:spcBef>
            </a:pPr>
            <a:r>
              <a:rPr sz="1400" spc="10" dirty="0">
                <a:solidFill>
                  <a:srgbClr val="344B5E"/>
                </a:solidFill>
                <a:latin typeface="Arial" panose="020B0604020202020204"/>
                <a:cs typeface="Arial" panose="020B0604020202020204"/>
              </a:rPr>
              <a:t>Survived</a:t>
            </a:r>
            <a:endParaRPr sz="1400" dirty="0">
              <a:latin typeface="Arial" panose="020B0604020202020204"/>
              <a:cs typeface="Arial" panose="020B0604020202020204"/>
            </a:endParaRPr>
          </a:p>
          <a:p>
            <a:pPr>
              <a:spcBef>
                <a:spcPts val="45"/>
              </a:spcBef>
            </a:pPr>
            <a:endParaRPr sz="1400" dirty="0">
              <a:latin typeface="Times New Roman" panose="02020603050405020304"/>
              <a:cs typeface="Times New Roman" panose="02020603050405020304"/>
            </a:endParaRPr>
          </a:p>
          <a:p>
            <a:pPr marL="12700"/>
            <a:r>
              <a:rPr sz="1400" spc="20" dirty="0">
                <a:solidFill>
                  <a:srgbClr val="344B5E"/>
                </a:solidFill>
                <a:latin typeface="Arial" panose="020B0604020202020204"/>
                <a:cs typeface="Arial" panose="020B0604020202020204"/>
              </a:rPr>
              <a:t>Did </a:t>
            </a:r>
            <a:r>
              <a:rPr sz="1400" spc="65" dirty="0">
                <a:solidFill>
                  <a:srgbClr val="344B5E"/>
                </a:solidFill>
                <a:latin typeface="Arial" panose="020B0604020202020204"/>
                <a:cs typeface="Arial" panose="020B0604020202020204"/>
              </a:rPr>
              <a:t>not</a:t>
            </a:r>
            <a:r>
              <a:rPr sz="1400" spc="-175" dirty="0">
                <a:solidFill>
                  <a:srgbClr val="344B5E"/>
                </a:solidFill>
                <a:latin typeface="Arial" panose="020B0604020202020204"/>
                <a:cs typeface="Arial" panose="020B0604020202020204"/>
              </a:rPr>
              <a:t> </a:t>
            </a:r>
            <a:r>
              <a:rPr sz="1400" spc="5" dirty="0">
                <a:solidFill>
                  <a:srgbClr val="344B5E"/>
                </a:solidFill>
                <a:latin typeface="Arial" panose="020B0604020202020204"/>
                <a:cs typeface="Arial" panose="020B0604020202020204"/>
              </a:rPr>
              <a:t>survive</a:t>
            </a:r>
            <a:endParaRPr sz="1400" dirty="0">
              <a:latin typeface="Arial" panose="020B0604020202020204"/>
              <a:cs typeface="Arial" panose="020B0604020202020204"/>
            </a:endParaRPr>
          </a:p>
          <a:p>
            <a:pPr marR="5080" algn="r">
              <a:spcBef>
                <a:spcPts val="725"/>
              </a:spcBef>
            </a:pPr>
            <a:r>
              <a:rPr sz="1400" spc="-5" dirty="0">
                <a:solidFill>
                  <a:srgbClr val="344B5E"/>
                </a:solidFill>
                <a:latin typeface="Arial" panose="020B0604020202020204"/>
                <a:cs typeface="Arial" panose="020B0604020202020204"/>
              </a:rPr>
              <a:t>40</a:t>
            </a:r>
            <a:endParaRPr sz="1400" dirty="0">
              <a:latin typeface="Arial" panose="020B0604020202020204"/>
              <a:cs typeface="Arial" panose="020B0604020202020204"/>
            </a:endParaRPr>
          </a:p>
          <a:p>
            <a:pPr marR="390525" algn="r">
              <a:spcBef>
                <a:spcPts val="80"/>
              </a:spcBef>
            </a:pPr>
            <a:r>
              <a:rPr sz="1600" b="1" spc="-55" dirty="0">
                <a:solidFill>
                  <a:srgbClr val="344B5E"/>
                </a:solidFill>
                <a:latin typeface="Arial" panose="020B0604020202020204"/>
                <a:cs typeface="Arial" panose="020B0604020202020204"/>
              </a:rPr>
              <a:t>A</a:t>
            </a:r>
            <a:r>
              <a:rPr sz="1600" b="1" spc="-5" dirty="0">
                <a:solidFill>
                  <a:srgbClr val="344B5E"/>
                </a:solidFill>
                <a:latin typeface="Arial" panose="020B0604020202020204"/>
                <a:cs typeface="Arial" panose="020B0604020202020204"/>
              </a:rPr>
              <a:t>ge</a:t>
            </a:r>
            <a:endParaRPr sz="1600" dirty="0">
              <a:latin typeface="Arial" panose="020B0604020202020204"/>
              <a:cs typeface="Arial" panose="020B0604020202020204"/>
            </a:endParaRPr>
          </a:p>
        </p:txBody>
      </p:sp>
      <p:sp>
        <p:nvSpPr>
          <p:cNvPr id="7" name="object 7"/>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8" name="object 8"/>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dirty="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dirty="0">
              <a:latin typeface="Trebuchet MS" panose="020B0603020202020204"/>
              <a:cs typeface="Trebuchet MS" panose="020B0603020202020204"/>
            </a:endParaRPr>
          </a:p>
        </p:txBody>
      </p:sp>
      <p:sp>
        <p:nvSpPr>
          <p:cNvPr id="9" name="object 9"/>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0" name="object 10"/>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1" name="object 11"/>
          <p:cNvSpPr/>
          <p:nvPr/>
        </p:nvSpPr>
        <p:spPr>
          <a:xfrm>
            <a:off x="8282433" y="3443477"/>
            <a:ext cx="266191" cy="199644"/>
          </a:xfrm>
          <a:prstGeom prst="rect">
            <a:avLst/>
          </a:prstGeom>
          <a:blipFill>
            <a:blip r:embed="rId3" cstate="print"/>
            <a:stretch>
              <a:fillRect/>
            </a:stretch>
          </a:blipFill>
        </p:spPr>
        <p:txBody>
          <a:bodyPr wrap="square" lIns="0" tIns="0" rIns="0" bIns="0" rtlCol="0"/>
          <a:lstStyle/>
          <a:p/>
        </p:txBody>
      </p:sp>
      <p:sp>
        <p:nvSpPr>
          <p:cNvPr id="12" name="object 12"/>
          <p:cNvSpPr/>
          <p:nvPr/>
        </p:nvSpPr>
        <p:spPr>
          <a:xfrm>
            <a:off x="7325362" y="3160014"/>
            <a:ext cx="266191" cy="199644"/>
          </a:xfrm>
          <a:prstGeom prst="rect">
            <a:avLst/>
          </a:prstGeom>
          <a:blipFill>
            <a:blip r:embed="rId4" cstate="print"/>
            <a:stretch>
              <a:fillRect/>
            </a:stretch>
          </a:blipFill>
        </p:spPr>
        <p:txBody>
          <a:bodyPr wrap="square" lIns="0" tIns="0" rIns="0" bIns="0" rtlCol="0"/>
          <a:lstStyle/>
          <a:p/>
        </p:txBody>
      </p:sp>
      <p:sp>
        <p:nvSpPr>
          <p:cNvPr id="13" name="object 13"/>
          <p:cNvSpPr/>
          <p:nvPr/>
        </p:nvSpPr>
        <p:spPr>
          <a:xfrm>
            <a:off x="7183120" y="2800350"/>
            <a:ext cx="268224" cy="199644"/>
          </a:xfrm>
          <a:prstGeom prst="rect">
            <a:avLst/>
          </a:prstGeom>
          <a:blipFill>
            <a:blip r:embed="rId5" cstate="print"/>
            <a:stretch>
              <a:fillRect/>
            </a:stretch>
          </a:blipFill>
        </p:spPr>
        <p:txBody>
          <a:bodyPr wrap="square" lIns="0" tIns="0" rIns="0" bIns="0" rtlCol="0"/>
          <a:lstStyle/>
          <a:p/>
        </p:txBody>
      </p:sp>
      <p:sp>
        <p:nvSpPr>
          <p:cNvPr id="14" name="object 14"/>
          <p:cNvSpPr/>
          <p:nvPr/>
        </p:nvSpPr>
        <p:spPr>
          <a:xfrm>
            <a:off x="6908802" y="2405635"/>
            <a:ext cx="268223" cy="199643"/>
          </a:xfrm>
          <a:prstGeom prst="rect">
            <a:avLst/>
          </a:prstGeom>
          <a:blipFill>
            <a:blip r:embed="rId5" cstate="print"/>
            <a:stretch>
              <a:fillRect/>
            </a:stretch>
          </a:blipFill>
        </p:spPr>
        <p:txBody>
          <a:bodyPr wrap="square" lIns="0" tIns="0" rIns="0" bIns="0" rtlCol="0"/>
          <a:lstStyle/>
          <a:p/>
        </p:txBody>
      </p:sp>
      <p:sp>
        <p:nvSpPr>
          <p:cNvPr id="15" name="object 15"/>
          <p:cNvSpPr/>
          <p:nvPr/>
        </p:nvSpPr>
        <p:spPr>
          <a:xfrm>
            <a:off x="7636255" y="2036825"/>
            <a:ext cx="266192" cy="199644"/>
          </a:xfrm>
          <a:prstGeom prst="rect">
            <a:avLst/>
          </a:prstGeom>
          <a:blipFill>
            <a:blip r:embed="rId6" cstate="print"/>
            <a:stretch>
              <a:fillRect/>
            </a:stretch>
          </a:blipFill>
        </p:spPr>
        <p:txBody>
          <a:bodyPr wrap="square" lIns="0" tIns="0" rIns="0" bIns="0" rtlCol="0"/>
          <a:lstStyle/>
          <a:p/>
        </p:txBody>
      </p:sp>
      <p:sp>
        <p:nvSpPr>
          <p:cNvPr id="16" name="object 16"/>
          <p:cNvSpPr/>
          <p:nvPr/>
        </p:nvSpPr>
        <p:spPr>
          <a:xfrm>
            <a:off x="8044687" y="2315717"/>
            <a:ext cx="266192" cy="199644"/>
          </a:xfrm>
          <a:prstGeom prst="rect">
            <a:avLst/>
          </a:prstGeom>
          <a:blipFill>
            <a:blip r:embed="rId3" cstate="print"/>
            <a:stretch>
              <a:fillRect/>
            </a:stretch>
          </a:blipFill>
        </p:spPr>
        <p:txBody>
          <a:bodyPr wrap="square" lIns="0" tIns="0" rIns="0" bIns="0" rtlCol="0"/>
          <a:lstStyle/>
          <a:p/>
        </p:txBody>
      </p:sp>
      <p:sp>
        <p:nvSpPr>
          <p:cNvPr id="17" name="object 17"/>
          <p:cNvSpPr/>
          <p:nvPr/>
        </p:nvSpPr>
        <p:spPr>
          <a:xfrm>
            <a:off x="8272271" y="2797301"/>
            <a:ext cx="266192" cy="199644"/>
          </a:xfrm>
          <a:prstGeom prst="rect">
            <a:avLst/>
          </a:prstGeom>
          <a:blipFill>
            <a:blip r:embed="rId3" cstate="print"/>
            <a:stretch>
              <a:fillRect/>
            </a:stretch>
          </a:blipFill>
        </p:spPr>
        <p:txBody>
          <a:bodyPr wrap="square" lIns="0" tIns="0" rIns="0" bIns="0" rtlCol="0"/>
          <a:lstStyle/>
          <a:p/>
        </p:txBody>
      </p:sp>
      <p:sp>
        <p:nvSpPr>
          <p:cNvPr id="18" name="object 18"/>
          <p:cNvSpPr/>
          <p:nvPr/>
        </p:nvSpPr>
        <p:spPr>
          <a:xfrm>
            <a:off x="7829297" y="2908554"/>
            <a:ext cx="266191" cy="199644"/>
          </a:xfrm>
          <a:prstGeom prst="rect">
            <a:avLst/>
          </a:prstGeom>
          <a:blipFill>
            <a:blip r:embed="rId3" cstate="print"/>
            <a:stretch>
              <a:fillRect/>
            </a:stretch>
          </a:blipFill>
        </p:spPr>
        <p:txBody>
          <a:bodyPr wrap="square" lIns="0" tIns="0" rIns="0" bIns="0" rtlCol="0"/>
          <a:lstStyle/>
          <a:p/>
        </p:txBody>
      </p:sp>
      <p:sp>
        <p:nvSpPr>
          <p:cNvPr id="19" name="object 19"/>
          <p:cNvSpPr/>
          <p:nvPr/>
        </p:nvSpPr>
        <p:spPr>
          <a:xfrm>
            <a:off x="8764015" y="2516887"/>
            <a:ext cx="266192" cy="199643"/>
          </a:xfrm>
          <a:prstGeom prst="rect">
            <a:avLst/>
          </a:prstGeom>
          <a:blipFill>
            <a:blip r:embed="rId3" cstate="print"/>
            <a:stretch>
              <a:fillRect/>
            </a:stretch>
          </a:blipFill>
        </p:spPr>
        <p:txBody>
          <a:bodyPr wrap="square" lIns="0" tIns="0" rIns="0" bIns="0" rtlCol="0"/>
          <a:lstStyle/>
          <a:p/>
        </p:txBody>
      </p:sp>
      <p:sp>
        <p:nvSpPr>
          <p:cNvPr id="20" name="object 20"/>
          <p:cNvSpPr/>
          <p:nvPr/>
        </p:nvSpPr>
        <p:spPr>
          <a:xfrm>
            <a:off x="8359649" y="1907288"/>
            <a:ext cx="266191" cy="199643"/>
          </a:xfrm>
          <a:prstGeom prst="rect">
            <a:avLst/>
          </a:prstGeom>
          <a:blipFill>
            <a:blip r:embed="rId3" cstate="print"/>
            <a:stretch>
              <a:fillRect/>
            </a:stretch>
          </a:blipFill>
        </p:spPr>
        <p:txBody>
          <a:bodyPr wrap="square" lIns="0" tIns="0" rIns="0" bIns="0" rtlCol="0"/>
          <a:lstStyle/>
          <a:p/>
        </p:txBody>
      </p:sp>
      <p:sp>
        <p:nvSpPr>
          <p:cNvPr id="21" name="object 21"/>
          <p:cNvSpPr/>
          <p:nvPr/>
        </p:nvSpPr>
        <p:spPr>
          <a:xfrm>
            <a:off x="9097263" y="2114550"/>
            <a:ext cx="266192" cy="199644"/>
          </a:xfrm>
          <a:prstGeom prst="rect">
            <a:avLst/>
          </a:prstGeom>
          <a:blipFill>
            <a:blip r:embed="rId3" cstate="print"/>
            <a:stretch>
              <a:fillRect/>
            </a:stretch>
          </a:blipFill>
        </p:spPr>
        <p:txBody>
          <a:bodyPr wrap="square" lIns="0" tIns="0" rIns="0" bIns="0" rtlCol="0"/>
          <a:lstStyle/>
          <a:p/>
        </p:txBody>
      </p:sp>
      <p:sp>
        <p:nvSpPr>
          <p:cNvPr id="22" name="object 22"/>
          <p:cNvSpPr/>
          <p:nvPr/>
        </p:nvSpPr>
        <p:spPr>
          <a:xfrm>
            <a:off x="10170159" y="2320289"/>
            <a:ext cx="266192" cy="199644"/>
          </a:xfrm>
          <a:prstGeom prst="rect">
            <a:avLst/>
          </a:prstGeom>
          <a:blipFill>
            <a:blip r:embed="rId3" cstate="print"/>
            <a:stretch>
              <a:fillRect/>
            </a:stretch>
          </a:blipFill>
        </p:spPr>
        <p:txBody>
          <a:bodyPr wrap="square" lIns="0" tIns="0" rIns="0" bIns="0" rtlCol="0"/>
          <a:lstStyle/>
          <a:p/>
        </p:txBody>
      </p:sp>
      <p:sp>
        <p:nvSpPr>
          <p:cNvPr id="23" name="object 23"/>
          <p:cNvSpPr/>
          <p:nvPr/>
        </p:nvSpPr>
        <p:spPr>
          <a:xfrm>
            <a:off x="9662159" y="2783585"/>
            <a:ext cx="266192" cy="199644"/>
          </a:xfrm>
          <a:prstGeom prst="rect">
            <a:avLst/>
          </a:prstGeom>
          <a:blipFill>
            <a:blip r:embed="rId3" cstate="print"/>
            <a:stretch>
              <a:fillRect/>
            </a:stretch>
          </a:blipFill>
        </p:spPr>
        <p:txBody>
          <a:bodyPr wrap="square" lIns="0" tIns="0" rIns="0" bIns="0" rtlCol="0"/>
          <a:lstStyle/>
          <a:p/>
        </p:txBody>
      </p:sp>
      <p:sp>
        <p:nvSpPr>
          <p:cNvPr id="24" name="object 24"/>
          <p:cNvSpPr/>
          <p:nvPr/>
        </p:nvSpPr>
        <p:spPr>
          <a:xfrm>
            <a:off x="9204959" y="3160014"/>
            <a:ext cx="266192" cy="199644"/>
          </a:xfrm>
          <a:prstGeom prst="rect">
            <a:avLst/>
          </a:prstGeom>
          <a:blipFill>
            <a:blip r:embed="rId4" cstate="print"/>
            <a:stretch>
              <a:fillRect/>
            </a:stretch>
          </a:blipFill>
        </p:spPr>
        <p:txBody>
          <a:bodyPr wrap="square" lIns="0" tIns="0" rIns="0" bIns="0" rtlCol="0"/>
          <a:lstStyle/>
          <a:p/>
        </p:txBody>
      </p:sp>
      <p:sp>
        <p:nvSpPr>
          <p:cNvPr id="25" name="object 25"/>
          <p:cNvSpPr/>
          <p:nvPr/>
        </p:nvSpPr>
        <p:spPr>
          <a:xfrm>
            <a:off x="9836911" y="3327654"/>
            <a:ext cx="266192" cy="199644"/>
          </a:xfrm>
          <a:prstGeom prst="rect">
            <a:avLst/>
          </a:prstGeom>
          <a:blipFill>
            <a:blip r:embed="rId3" cstate="print"/>
            <a:stretch>
              <a:fillRect/>
            </a:stretch>
          </a:blipFill>
        </p:spPr>
        <p:txBody>
          <a:bodyPr wrap="square" lIns="0" tIns="0" rIns="0" bIns="0" rtlCol="0"/>
          <a:lstStyle/>
          <a:p/>
        </p:txBody>
      </p:sp>
      <p:sp>
        <p:nvSpPr>
          <p:cNvPr id="26" name="object 26"/>
          <p:cNvSpPr/>
          <p:nvPr/>
        </p:nvSpPr>
        <p:spPr>
          <a:xfrm>
            <a:off x="6455665" y="3726942"/>
            <a:ext cx="266191" cy="199644"/>
          </a:xfrm>
          <a:prstGeom prst="rect">
            <a:avLst/>
          </a:prstGeom>
          <a:blipFill>
            <a:blip r:embed="rId7" cstate="print"/>
            <a:stretch>
              <a:fillRect/>
            </a:stretch>
          </a:blipFill>
        </p:spPr>
        <p:txBody>
          <a:bodyPr wrap="square" lIns="0" tIns="0" rIns="0" bIns="0" rtlCol="0"/>
          <a:lstStyle/>
          <a:p/>
        </p:txBody>
      </p:sp>
      <p:sp>
        <p:nvSpPr>
          <p:cNvPr id="27" name="object 27"/>
          <p:cNvSpPr/>
          <p:nvPr/>
        </p:nvSpPr>
        <p:spPr>
          <a:xfrm>
            <a:off x="5970017" y="3449573"/>
            <a:ext cx="266191" cy="199644"/>
          </a:xfrm>
          <a:prstGeom prst="rect">
            <a:avLst/>
          </a:prstGeom>
          <a:blipFill>
            <a:blip r:embed="rId8" cstate="print"/>
            <a:stretch>
              <a:fillRect/>
            </a:stretch>
          </a:blipFill>
        </p:spPr>
        <p:txBody>
          <a:bodyPr wrap="square" lIns="0" tIns="0" rIns="0" bIns="0" rtlCol="0"/>
          <a:lstStyle/>
          <a:p/>
        </p:txBody>
      </p:sp>
      <p:sp>
        <p:nvSpPr>
          <p:cNvPr id="28" name="object 28"/>
          <p:cNvSpPr/>
          <p:nvPr/>
        </p:nvSpPr>
        <p:spPr>
          <a:xfrm>
            <a:off x="6431281" y="3035045"/>
            <a:ext cx="266191" cy="199644"/>
          </a:xfrm>
          <a:prstGeom prst="rect">
            <a:avLst/>
          </a:prstGeom>
          <a:blipFill>
            <a:blip r:embed="rId8" cstate="print"/>
            <a:stretch>
              <a:fillRect/>
            </a:stretch>
          </a:blipFill>
        </p:spPr>
        <p:txBody>
          <a:bodyPr wrap="square" lIns="0" tIns="0" rIns="0" bIns="0" rtlCol="0"/>
          <a:lstStyle/>
          <a:p/>
        </p:txBody>
      </p:sp>
      <p:sp>
        <p:nvSpPr>
          <p:cNvPr id="29" name="object 29"/>
          <p:cNvSpPr/>
          <p:nvPr/>
        </p:nvSpPr>
        <p:spPr>
          <a:xfrm>
            <a:off x="7307071" y="3601973"/>
            <a:ext cx="266192" cy="199644"/>
          </a:xfrm>
          <a:prstGeom prst="rect">
            <a:avLst/>
          </a:prstGeom>
          <a:blipFill>
            <a:blip r:embed="rId8" cstate="print"/>
            <a:stretch>
              <a:fillRect/>
            </a:stretch>
          </a:blipFill>
        </p:spPr>
        <p:txBody>
          <a:bodyPr wrap="square" lIns="0" tIns="0" rIns="0" bIns="0" rtlCol="0"/>
          <a:lstStyle/>
          <a:p/>
        </p:txBody>
      </p:sp>
      <p:sp>
        <p:nvSpPr>
          <p:cNvPr id="30" name="object 30"/>
          <p:cNvSpPr/>
          <p:nvPr/>
        </p:nvSpPr>
        <p:spPr>
          <a:xfrm>
            <a:off x="7957314" y="3761994"/>
            <a:ext cx="266191" cy="199644"/>
          </a:xfrm>
          <a:prstGeom prst="rect">
            <a:avLst/>
          </a:prstGeom>
          <a:blipFill>
            <a:blip r:embed="rId8" cstate="print"/>
            <a:stretch>
              <a:fillRect/>
            </a:stretch>
          </a:blipFill>
        </p:spPr>
        <p:txBody>
          <a:bodyPr wrap="square" lIns="0" tIns="0" rIns="0" bIns="0" rtlCol="0"/>
          <a:lstStyle/>
          <a:p/>
        </p:txBody>
      </p:sp>
      <p:sp>
        <p:nvSpPr>
          <p:cNvPr id="31" name="object 31"/>
          <p:cNvSpPr/>
          <p:nvPr/>
        </p:nvSpPr>
        <p:spPr>
          <a:xfrm>
            <a:off x="8709154" y="2993898"/>
            <a:ext cx="266191" cy="199644"/>
          </a:xfrm>
          <a:prstGeom prst="rect">
            <a:avLst/>
          </a:prstGeom>
          <a:blipFill>
            <a:blip r:embed="rId9" cstate="print"/>
            <a:stretch>
              <a:fillRect/>
            </a:stretch>
          </a:blipFill>
        </p:spPr>
        <p:txBody>
          <a:bodyPr wrap="square" lIns="0" tIns="0" rIns="0" bIns="0" rtlCol="0"/>
          <a:lstStyle/>
          <a:p/>
        </p:txBody>
      </p:sp>
      <p:sp>
        <p:nvSpPr>
          <p:cNvPr id="32" name="object 32"/>
          <p:cNvSpPr/>
          <p:nvPr/>
        </p:nvSpPr>
        <p:spPr>
          <a:xfrm>
            <a:off x="7955281" y="4184141"/>
            <a:ext cx="266191" cy="199644"/>
          </a:xfrm>
          <a:prstGeom prst="rect">
            <a:avLst/>
          </a:prstGeom>
          <a:blipFill>
            <a:blip r:embed="rId7" cstate="print"/>
            <a:stretch>
              <a:fillRect/>
            </a:stretch>
          </a:blipFill>
        </p:spPr>
        <p:txBody>
          <a:bodyPr wrap="square" lIns="0" tIns="0" rIns="0" bIns="0" rtlCol="0"/>
          <a:lstStyle/>
          <a:p/>
        </p:txBody>
      </p:sp>
      <p:sp>
        <p:nvSpPr>
          <p:cNvPr id="33" name="object 33"/>
          <p:cNvSpPr/>
          <p:nvPr/>
        </p:nvSpPr>
        <p:spPr>
          <a:xfrm>
            <a:off x="7487920" y="4542282"/>
            <a:ext cx="266192" cy="199644"/>
          </a:xfrm>
          <a:prstGeom prst="rect">
            <a:avLst/>
          </a:prstGeom>
          <a:blipFill>
            <a:blip r:embed="rId8" cstate="print"/>
            <a:stretch>
              <a:fillRect/>
            </a:stretch>
          </a:blipFill>
        </p:spPr>
        <p:txBody>
          <a:bodyPr wrap="square" lIns="0" tIns="0" rIns="0" bIns="0" rtlCol="0"/>
          <a:lstStyle/>
          <a:p/>
        </p:txBody>
      </p:sp>
      <p:sp>
        <p:nvSpPr>
          <p:cNvPr id="34" name="object 34"/>
          <p:cNvSpPr/>
          <p:nvPr/>
        </p:nvSpPr>
        <p:spPr>
          <a:xfrm>
            <a:off x="8316978" y="4534661"/>
            <a:ext cx="268223" cy="199644"/>
          </a:xfrm>
          <a:prstGeom prst="rect">
            <a:avLst/>
          </a:prstGeom>
          <a:blipFill>
            <a:blip r:embed="rId10" cstate="print"/>
            <a:stretch>
              <a:fillRect/>
            </a:stretch>
          </a:blipFill>
        </p:spPr>
        <p:txBody>
          <a:bodyPr wrap="square" lIns="0" tIns="0" rIns="0" bIns="0" rtlCol="0"/>
          <a:lstStyle/>
          <a:p/>
        </p:txBody>
      </p:sp>
      <p:sp>
        <p:nvSpPr>
          <p:cNvPr id="35" name="object 35"/>
          <p:cNvSpPr/>
          <p:nvPr/>
        </p:nvSpPr>
        <p:spPr>
          <a:xfrm>
            <a:off x="6640578" y="4274058"/>
            <a:ext cx="266191" cy="199644"/>
          </a:xfrm>
          <a:prstGeom prst="rect">
            <a:avLst/>
          </a:prstGeom>
          <a:blipFill>
            <a:blip r:embed="rId8" cstate="print"/>
            <a:stretch>
              <a:fillRect/>
            </a:stretch>
          </a:blipFill>
        </p:spPr>
        <p:txBody>
          <a:bodyPr wrap="square" lIns="0" tIns="0" rIns="0" bIns="0" rtlCol="0"/>
          <a:lstStyle/>
          <a:p/>
        </p:txBody>
      </p:sp>
      <p:sp>
        <p:nvSpPr>
          <p:cNvPr id="36" name="object 36"/>
          <p:cNvSpPr/>
          <p:nvPr/>
        </p:nvSpPr>
        <p:spPr>
          <a:xfrm>
            <a:off x="6020817" y="4421885"/>
            <a:ext cx="266191" cy="199644"/>
          </a:xfrm>
          <a:prstGeom prst="rect">
            <a:avLst/>
          </a:prstGeom>
          <a:blipFill>
            <a:blip r:embed="rId8" cstate="print"/>
            <a:stretch>
              <a:fillRect/>
            </a:stretch>
          </a:blipFill>
        </p:spPr>
        <p:txBody>
          <a:bodyPr wrap="square" lIns="0" tIns="0" rIns="0" bIns="0" rtlCol="0"/>
          <a:lstStyle/>
          <a:p/>
        </p:txBody>
      </p:sp>
      <p:sp>
        <p:nvSpPr>
          <p:cNvPr id="37" name="object 37"/>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38" name="object 38"/>
          <p:cNvSpPr/>
          <p:nvPr/>
        </p:nvSpPr>
        <p:spPr>
          <a:xfrm>
            <a:off x="4793487" y="4293870"/>
            <a:ext cx="268224" cy="199644"/>
          </a:xfrm>
          <a:prstGeom prst="rect">
            <a:avLst/>
          </a:prstGeom>
          <a:blipFill>
            <a:blip r:embed="rId10" cstate="print"/>
            <a:stretch>
              <a:fillRect/>
            </a:stretch>
          </a:blipFill>
        </p:spPr>
        <p:txBody>
          <a:bodyPr wrap="square" lIns="0" tIns="0" rIns="0" bIns="0" rtlCol="0"/>
          <a:lstStyle/>
          <a:p/>
        </p:txBody>
      </p:sp>
      <p:sp>
        <p:nvSpPr>
          <p:cNvPr id="39" name="object 39"/>
          <p:cNvSpPr/>
          <p:nvPr/>
        </p:nvSpPr>
        <p:spPr>
          <a:xfrm>
            <a:off x="5573778" y="3833622"/>
            <a:ext cx="266191" cy="199644"/>
          </a:xfrm>
          <a:prstGeom prst="rect">
            <a:avLst/>
          </a:prstGeom>
          <a:blipFill>
            <a:blip r:embed="rId8" cstate="print"/>
            <a:stretch>
              <a:fillRect/>
            </a:stretch>
          </a:blipFill>
        </p:spPr>
        <p:txBody>
          <a:bodyPr wrap="square" lIns="0" tIns="0" rIns="0" bIns="0" rtlCol="0"/>
          <a:lstStyle/>
          <a:p/>
        </p:txBody>
      </p:sp>
      <p:sp>
        <p:nvSpPr>
          <p:cNvPr id="40" name="object 40"/>
          <p:cNvSpPr/>
          <p:nvPr/>
        </p:nvSpPr>
        <p:spPr>
          <a:xfrm>
            <a:off x="5262881" y="3446526"/>
            <a:ext cx="266191" cy="199644"/>
          </a:xfrm>
          <a:prstGeom prst="rect">
            <a:avLst/>
          </a:prstGeom>
          <a:blipFill>
            <a:blip r:embed="rId8" cstate="print"/>
            <a:stretch>
              <a:fillRect/>
            </a:stretch>
          </a:blipFill>
        </p:spPr>
        <p:txBody>
          <a:bodyPr wrap="square" lIns="0" tIns="0" rIns="0" bIns="0" rtlCol="0"/>
          <a:lstStyle/>
          <a:p/>
        </p:txBody>
      </p:sp>
      <p:sp>
        <p:nvSpPr>
          <p:cNvPr id="41" name="object 41"/>
          <p:cNvSpPr/>
          <p:nvPr/>
        </p:nvSpPr>
        <p:spPr>
          <a:xfrm>
            <a:off x="5693665" y="2775966"/>
            <a:ext cx="268223" cy="199644"/>
          </a:xfrm>
          <a:prstGeom prst="rect">
            <a:avLst/>
          </a:prstGeom>
          <a:blipFill>
            <a:blip r:embed="rId10" cstate="print"/>
            <a:stretch>
              <a:fillRect/>
            </a:stretch>
          </a:blipFill>
        </p:spPr>
        <p:txBody>
          <a:bodyPr wrap="square" lIns="0" tIns="0" rIns="0" bIns="0" rtlCol="0"/>
          <a:lstStyle/>
          <a:p/>
        </p:txBody>
      </p:sp>
      <p:sp>
        <p:nvSpPr>
          <p:cNvPr id="42" name="object 42"/>
          <p:cNvSpPr/>
          <p:nvPr/>
        </p:nvSpPr>
        <p:spPr>
          <a:xfrm>
            <a:off x="4661407" y="3242310"/>
            <a:ext cx="266192" cy="199644"/>
          </a:xfrm>
          <a:prstGeom prst="rect">
            <a:avLst/>
          </a:prstGeom>
          <a:blipFill>
            <a:blip r:embed="rId8" cstate="print"/>
            <a:stretch>
              <a:fillRect/>
            </a:stretch>
          </a:blipFill>
        </p:spPr>
        <p:txBody>
          <a:bodyPr wrap="square" lIns="0" tIns="0" rIns="0" bIns="0" rtlCol="0"/>
          <a:lstStyle/>
          <a:p/>
        </p:txBody>
      </p:sp>
      <p:sp>
        <p:nvSpPr>
          <p:cNvPr id="43" name="object 43"/>
          <p:cNvSpPr/>
          <p:nvPr/>
        </p:nvSpPr>
        <p:spPr>
          <a:xfrm>
            <a:off x="5128768" y="2394966"/>
            <a:ext cx="266192" cy="199644"/>
          </a:xfrm>
          <a:prstGeom prst="rect">
            <a:avLst/>
          </a:prstGeom>
          <a:blipFill>
            <a:blip r:embed="rId8" cstate="print"/>
            <a:stretch>
              <a:fillRect/>
            </a:stretch>
          </a:blipFill>
        </p:spPr>
        <p:txBody>
          <a:bodyPr wrap="square" lIns="0" tIns="0" rIns="0" bIns="0" rtlCol="0"/>
          <a:lstStyle/>
          <a:p/>
        </p:txBody>
      </p:sp>
      <p:sp>
        <p:nvSpPr>
          <p:cNvPr id="44" name="object 44"/>
          <p:cNvSpPr/>
          <p:nvPr/>
        </p:nvSpPr>
        <p:spPr>
          <a:xfrm>
            <a:off x="4775200" y="2775966"/>
            <a:ext cx="266192" cy="199644"/>
          </a:xfrm>
          <a:prstGeom prst="rect">
            <a:avLst/>
          </a:prstGeom>
          <a:blipFill>
            <a:blip r:embed="rId8" cstate="print"/>
            <a:stretch>
              <a:fillRect/>
            </a:stretch>
          </a:blipFill>
        </p:spPr>
        <p:txBody>
          <a:bodyPr wrap="square" lIns="0" tIns="0" rIns="0" bIns="0" rtlCol="0"/>
          <a:lstStyle/>
          <a:p/>
        </p:txBody>
      </p:sp>
      <p:sp>
        <p:nvSpPr>
          <p:cNvPr id="45" name="object 45"/>
          <p:cNvSpPr/>
          <p:nvPr/>
        </p:nvSpPr>
        <p:spPr>
          <a:xfrm>
            <a:off x="4712207" y="2120648"/>
            <a:ext cx="266192" cy="199643"/>
          </a:xfrm>
          <a:prstGeom prst="rect">
            <a:avLst/>
          </a:prstGeom>
          <a:blipFill>
            <a:blip r:embed="rId8" cstate="print"/>
            <a:stretch>
              <a:fillRect/>
            </a:stretch>
          </a:blipFill>
        </p:spPr>
        <p:txBody>
          <a:bodyPr wrap="square" lIns="0" tIns="0" rIns="0" bIns="0" rtlCol="0"/>
          <a:lstStyle/>
          <a:p/>
        </p:txBody>
      </p:sp>
      <p:sp>
        <p:nvSpPr>
          <p:cNvPr id="46" name="object 46"/>
          <p:cNvSpPr/>
          <p:nvPr/>
        </p:nvSpPr>
        <p:spPr>
          <a:xfrm>
            <a:off x="5262881" y="2993898"/>
            <a:ext cx="266191" cy="199644"/>
          </a:xfrm>
          <a:prstGeom prst="rect">
            <a:avLst/>
          </a:prstGeom>
          <a:blipFill>
            <a:blip r:embed="rId8" cstate="print"/>
            <a:stretch>
              <a:fillRect/>
            </a:stretch>
          </a:blipFill>
        </p:spPr>
        <p:txBody>
          <a:bodyPr wrap="square" lIns="0" tIns="0" rIns="0" bIns="0" rtlCol="0"/>
          <a:lstStyle/>
          <a:p/>
        </p:txBody>
      </p:sp>
      <p:sp>
        <p:nvSpPr>
          <p:cNvPr id="47" name="object 47"/>
          <p:cNvSpPr/>
          <p:nvPr/>
        </p:nvSpPr>
        <p:spPr>
          <a:xfrm>
            <a:off x="4748784" y="3761994"/>
            <a:ext cx="266192" cy="199644"/>
          </a:xfrm>
          <a:prstGeom prst="rect">
            <a:avLst/>
          </a:prstGeom>
          <a:blipFill>
            <a:blip r:embed="rId8" cstate="print"/>
            <a:stretch>
              <a:fillRect/>
            </a:stretch>
          </a:blipFill>
        </p:spPr>
        <p:txBody>
          <a:bodyPr wrap="square" lIns="0" tIns="0" rIns="0" bIns="0" rtlCol="0"/>
          <a:lstStyle/>
          <a:p/>
        </p:txBody>
      </p:sp>
      <p:sp>
        <p:nvSpPr>
          <p:cNvPr id="48" name="object 48"/>
          <p:cNvSpPr/>
          <p:nvPr/>
        </p:nvSpPr>
        <p:spPr>
          <a:xfrm>
            <a:off x="5161281" y="4016501"/>
            <a:ext cx="266191" cy="199644"/>
          </a:xfrm>
          <a:prstGeom prst="rect">
            <a:avLst/>
          </a:prstGeom>
          <a:blipFill>
            <a:blip r:embed="rId8" cstate="print"/>
            <a:stretch>
              <a:fillRect/>
            </a:stretch>
          </a:blipFill>
        </p:spPr>
        <p:txBody>
          <a:bodyPr wrap="square" lIns="0" tIns="0" rIns="0" bIns="0" rtlCol="0"/>
          <a:lstStyle/>
          <a:p/>
        </p:txBody>
      </p:sp>
      <p:sp>
        <p:nvSpPr>
          <p:cNvPr id="49" name="object 49"/>
          <p:cNvSpPr/>
          <p:nvPr/>
        </p:nvSpPr>
        <p:spPr>
          <a:xfrm>
            <a:off x="5573778" y="2366012"/>
            <a:ext cx="266191" cy="199643"/>
          </a:xfrm>
          <a:prstGeom prst="rect">
            <a:avLst/>
          </a:prstGeom>
          <a:blipFill>
            <a:blip r:embed="rId8" cstate="print"/>
            <a:stretch>
              <a:fillRect/>
            </a:stretch>
          </a:blipFill>
        </p:spPr>
        <p:txBody>
          <a:bodyPr wrap="square" lIns="0" tIns="0" rIns="0" bIns="0" rtlCol="0"/>
          <a:lstStyle/>
          <a:p/>
        </p:txBody>
      </p:sp>
      <p:sp>
        <p:nvSpPr>
          <p:cNvPr id="50" name="object 50"/>
          <p:cNvSpPr/>
          <p:nvPr/>
        </p:nvSpPr>
        <p:spPr>
          <a:xfrm>
            <a:off x="5669281" y="3158489"/>
            <a:ext cx="266191" cy="199644"/>
          </a:xfrm>
          <a:prstGeom prst="rect">
            <a:avLst/>
          </a:prstGeom>
          <a:blipFill>
            <a:blip r:embed="rId8" cstate="print"/>
            <a:stretch>
              <a:fillRect/>
            </a:stretch>
          </a:blipFill>
        </p:spPr>
        <p:txBody>
          <a:bodyPr wrap="square" lIns="0" tIns="0" rIns="0" bIns="0" rtlCol="0"/>
          <a:lstStyle/>
          <a:p/>
        </p:txBody>
      </p:sp>
      <p:sp>
        <p:nvSpPr>
          <p:cNvPr id="51" name="object 51"/>
          <p:cNvSpPr/>
          <p:nvPr/>
        </p:nvSpPr>
        <p:spPr>
          <a:xfrm>
            <a:off x="5970017" y="4007357"/>
            <a:ext cx="266191" cy="199644"/>
          </a:xfrm>
          <a:prstGeom prst="rect">
            <a:avLst/>
          </a:prstGeom>
          <a:blipFill>
            <a:blip r:embed="rId8" cstate="print"/>
            <a:stretch>
              <a:fillRect/>
            </a:stretch>
          </a:blipFill>
        </p:spPr>
        <p:txBody>
          <a:bodyPr wrap="square" lIns="0" tIns="0" rIns="0" bIns="0" rtlCol="0"/>
          <a:lstStyle/>
          <a:p/>
        </p:txBody>
      </p:sp>
      <p:sp>
        <p:nvSpPr>
          <p:cNvPr id="52" name="object 52"/>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53" name="object 53"/>
          <p:cNvSpPr/>
          <p:nvPr/>
        </p:nvSpPr>
        <p:spPr>
          <a:xfrm>
            <a:off x="6431281" y="3353561"/>
            <a:ext cx="266191" cy="199644"/>
          </a:xfrm>
          <a:prstGeom prst="rect">
            <a:avLst/>
          </a:prstGeom>
          <a:blipFill>
            <a:blip r:embed="rId8" cstate="print"/>
            <a:stretch>
              <a:fillRect/>
            </a:stretch>
          </a:blipFill>
        </p:spPr>
        <p:txBody>
          <a:bodyPr wrap="square" lIns="0" tIns="0" rIns="0" bIns="0" rtlCol="0"/>
          <a:lstStyle/>
          <a:p/>
        </p:txBody>
      </p:sp>
      <p:sp>
        <p:nvSpPr>
          <p:cNvPr id="54" name="object 54"/>
          <p:cNvSpPr/>
          <p:nvPr/>
        </p:nvSpPr>
        <p:spPr>
          <a:xfrm>
            <a:off x="6030978" y="3013710"/>
            <a:ext cx="266191" cy="199644"/>
          </a:xfrm>
          <a:prstGeom prst="rect">
            <a:avLst/>
          </a:prstGeom>
          <a:blipFill>
            <a:blip r:embed="rId8" cstate="print"/>
            <a:stretch>
              <a:fillRect/>
            </a:stretch>
          </a:blipFill>
        </p:spPr>
        <p:txBody>
          <a:bodyPr wrap="square" lIns="0" tIns="0" rIns="0" bIns="0" rtlCol="0"/>
          <a:lstStyle/>
          <a:p/>
        </p:txBody>
      </p:sp>
      <p:sp>
        <p:nvSpPr>
          <p:cNvPr id="55" name="object 55"/>
          <p:cNvSpPr/>
          <p:nvPr/>
        </p:nvSpPr>
        <p:spPr>
          <a:xfrm>
            <a:off x="8885936" y="4525517"/>
            <a:ext cx="266192" cy="201168"/>
          </a:xfrm>
          <a:prstGeom prst="rect">
            <a:avLst/>
          </a:prstGeom>
          <a:blipFill>
            <a:blip r:embed="rId11" cstate="print"/>
            <a:stretch>
              <a:fillRect/>
            </a:stretch>
          </a:blipFill>
        </p:spPr>
        <p:txBody>
          <a:bodyPr wrap="square" lIns="0" tIns="0" rIns="0" bIns="0" rtlCol="0"/>
          <a:lstStyle/>
          <a:p/>
        </p:txBody>
      </p:sp>
      <p:sp>
        <p:nvSpPr>
          <p:cNvPr id="56" name="object 56"/>
          <p:cNvSpPr/>
          <p:nvPr/>
        </p:nvSpPr>
        <p:spPr>
          <a:xfrm>
            <a:off x="8436863" y="4174997"/>
            <a:ext cx="266192" cy="199644"/>
          </a:xfrm>
          <a:prstGeom prst="rect">
            <a:avLst/>
          </a:prstGeom>
          <a:blipFill>
            <a:blip r:embed="rId8" cstate="print"/>
            <a:stretch>
              <a:fillRect/>
            </a:stretch>
          </a:blipFill>
        </p:spPr>
        <p:txBody>
          <a:bodyPr wrap="square" lIns="0" tIns="0" rIns="0" bIns="0" rtlCol="0"/>
          <a:lstStyle/>
          <a:p/>
        </p:txBody>
      </p:sp>
      <p:sp>
        <p:nvSpPr>
          <p:cNvPr id="57" name="object 57"/>
          <p:cNvSpPr/>
          <p:nvPr/>
        </p:nvSpPr>
        <p:spPr>
          <a:xfrm>
            <a:off x="9558527" y="4516373"/>
            <a:ext cx="266192" cy="199644"/>
          </a:xfrm>
          <a:prstGeom prst="rect">
            <a:avLst/>
          </a:prstGeom>
          <a:blipFill>
            <a:blip r:embed="rId8" cstate="print"/>
            <a:stretch>
              <a:fillRect/>
            </a:stretch>
          </a:blipFill>
        </p:spPr>
        <p:txBody>
          <a:bodyPr wrap="square" lIns="0" tIns="0" rIns="0" bIns="0" rtlCol="0"/>
          <a:lstStyle/>
          <a:p/>
        </p:txBody>
      </p:sp>
      <p:sp>
        <p:nvSpPr>
          <p:cNvPr id="58" name="object 58"/>
          <p:cNvSpPr/>
          <p:nvPr/>
        </p:nvSpPr>
        <p:spPr>
          <a:xfrm>
            <a:off x="7134352" y="4011929"/>
            <a:ext cx="266192" cy="199644"/>
          </a:xfrm>
          <a:prstGeom prst="rect">
            <a:avLst/>
          </a:prstGeom>
          <a:blipFill>
            <a:blip r:embed="rId6" cstate="print"/>
            <a:stretch>
              <a:fillRect/>
            </a:stretch>
          </a:blipFill>
        </p:spPr>
        <p:txBody>
          <a:bodyPr wrap="square" lIns="0" tIns="0" rIns="0" bIns="0" rtlCol="0"/>
          <a:lstStyle/>
          <a:p/>
        </p:txBody>
      </p:sp>
      <p:sp>
        <p:nvSpPr>
          <p:cNvPr id="61" name="标题 60"/>
          <p:cNvSpPr>
            <a:spLocks noGrp="1"/>
          </p:cNvSpPr>
          <p:nvPr>
            <p:ph type="title"/>
          </p:nvPr>
        </p:nvSpPr>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4" name="object 4"/>
          <p:cNvSpPr txBox="1"/>
          <p:nvPr/>
        </p:nvSpPr>
        <p:spPr>
          <a:xfrm>
            <a:off x="4060952"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6" name="object 6"/>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8" name="object 8"/>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9" name="object 9"/>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0" name="object 10"/>
          <p:cNvSpPr/>
          <p:nvPr/>
        </p:nvSpPr>
        <p:spPr>
          <a:xfrm>
            <a:off x="7134352" y="4011929"/>
            <a:ext cx="266192" cy="199644"/>
          </a:xfrm>
          <a:prstGeom prst="rect">
            <a:avLst/>
          </a:prstGeom>
          <a:blipFill>
            <a:blip r:embed="rId1" cstate="print"/>
            <a:stretch>
              <a:fillRect/>
            </a:stretch>
          </a:blipFill>
        </p:spPr>
        <p:txBody>
          <a:bodyPr wrap="square" lIns="0" tIns="0" rIns="0" bIns="0" rtlCol="0"/>
          <a:lstStyle/>
          <a:p/>
        </p:txBody>
      </p:sp>
      <p:sp>
        <p:nvSpPr>
          <p:cNvPr id="11" name="object 11"/>
          <p:cNvSpPr/>
          <p:nvPr/>
        </p:nvSpPr>
        <p:spPr>
          <a:xfrm>
            <a:off x="8282433" y="3443477"/>
            <a:ext cx="266191" cy="199644"/>
          </a:xfrm>
          <a:prstGeom prst="rect">
            <a:avLst/>
          </a:prstGeom>
          <a:blipFill>
            <a:blip r:embed="rId2" cstate="print"/>
            <a:stretch>
              <a:fillRect/>
            </a:stretch>
          </a:blipFill>
        </p:spPr>
        <p:txBody>
          <a:bodyPr wrap="square" lIns="0" tIns="0" rIns="0" bIns="0" rtlCol="0"/>
          <a:lstStyle/>
          <a:p/>
        </p:txBody>
      </p:sp>
      <p:sp>
        <p:nvSpPr>
          <p:cNvPr id="12" name="object 12"/>
          <p:cNvSpPr/>
          <p:nvPr/>
        </p:nvSpPr>
        <p:spPr>
          <a:xfrm>
            <a:off x="7325362" y="3160014"/>
            <a:ext cx="266191" cy="199644"/>
          </a:xfrm>
          <a:prstGeom prst="rect">
            <a:avLst/>
          </a:prstGeom>
          <a:blipFill>
            <a:blip r:embed="rId3" cstate="print"/>
            <a:stretch>
              <a:fillRect/>
            </a:stretch>
          </a:blipFill>
        </p:spPr>
        <p:txBody>
          <a:bodyPr wrap="square" lIns="0" tIns="0" rIns="0" bIns="0" rtlCol="0"/>
          <a:lstStyle/>
          <a:p/>
        </p:txBody>
      </p:sp>
      <p:sp>
        <p:nvSpPr>
          <p:cNvPr id="13" name="object 13"/>
          <p:cNvSpPr/>
          <p:nvPr/>
        </p:nvSpPr>
        <p:spPr>
          <a:xfrm>
            <a:off x="7183120" y="2800350"/>
            <a:ext cx="268224" cy="199644"/>
          </a:xfrm>
          <a:prstGeom prst="rect">
            <a:avLst/>
          </a:prstGeom>
          <a:blipFill>
            <a:blip r:embed="rId4" cstate="print"/>
            <a:stretch>
              <a:fillRect/>
            </a:stretch>
          </a:blipFill>
        </p:spPr>
        <p:txBody>
          <a:bodyPr wrap="square" lIns="0" tIns="0" rIns="0" bIns="0" rtlCol="0"/>
          <a:lstStyle/>
          <a:p/>
        </p:txBody>
      </p:sp>
      <p:sp>
        <p:nvSpPr>
          <p:cNvPr id="14" name="object 14"/>
          <p:cNvSpPr/>
          <p:nvPr/>
        </p:nvSpPr>
        <p:spPr>
          <a:xfrm>
            <a:off x="6908802" y="2405635"/>
            <a:ext cx="268223" cy="199643"/>
          </a:xfrm>
          <a:prstGeom prst="rect">
            <a:avLst/>
          </a:prstGeom>
          <a:blipFill>
            <a:blip r:embed="rId4" cstate="print"/>
            <a:stretch>
              <a:fillRect/>
            </a:stretch>
          </a:blipFill>
        </p:spPr>
        <p:txBody>
          <a:bodyPr wrap="square" lIns="0" tIns="0" rIns="0" bIns="0" rtlCol="0"/>
          <a:lstStyle/>
          <a:p/>
        </p:txBody>
      </p:sp>
      <p:sp>
        <p:nvSpPr>
          <p:cNvPr id="15" name="object 15"/>
          <p:cNvSpPr/>
          <p:nvPr/>
        </p:nvSpPr>
        <p:spPr>
          <a:xfrm>
            <a:off x="7636255" y="2036825"/>
            <a:ext cx="266192" cy="199644"/>
          </a:xfrm>
          <a:prstGeom prst="rect">
            <a:avLst/>
          </a:prstGeom>
          <a:blipFill>
            <a:blip r:embed="rId1" cstate="print"/>
            <a:stretch>
              <a:fillRect/>
            </a:stretch>
          </a:blipFill>
        </p:spPr>
        <p:txBody>
          <a:bodyPr wrap="square" lIns="0" tIns="0" rIns="0" bIns="0" rtlCol="0"/>
          <a:lstStyle/>
          <a:p/>
        </p:txBody>
      </p:sp>
      <p:sp>
        <p:nvSpPr>
          <p:cNvPr id="16" name="object 16"/>
          <p:cNvSpPr/>
          <p:nvPr/>
        </p:nvSpPr>
        <p:spPr>
          <a:xfrm>
            <a:off x="8044687" y="2315717"/>
            <a:ext cx="266192" cy="199644"/>
          </a:xfrm>
          <a:prstGeom prst="rect">
            <a:avLst/>
          </a:prstGeom>
          <a:blipFill>
            <a:blip r:embed="rId2" cstate="print"/>
            <a:stretch>
              <a:fillRect/>
            </a:stretch>
          </a:blipFill>
        </p:spPr>
        <p:txBody>
          <a:bodyPr wrap="square" lIns="0" tIns="0" rIns="0" bIns="0" rtlCol="0"/>
          <a:lstStyle/>
          <a:p/>
        </p:txBody>
      </p:sp>
      <p:sp>
        <p:nvSpPr>
          <p:cNvPr id="17" name="object 17"/>
          <p:cNvSpPr/>
          <p:nvPr/>
        </p:nvSpPr>
        <p:spPr>
          <a:xfrm>
            <a:off x="8272271" y="2797301"/>
            <a:ext cx="266192" cy="199644"/>
          </a:xfrm>
          <a:prstGeom prst="rect">
            <a:avLst/>
          </a:prstGeom>
          <a:blipFill>
            <a:blip r:embed="rId2" cstate="print"/>
            <a:stretch>
              <a:fillRect/>
            </a:stretch>
          </a:blipFill>
        </p:spPr>
        <p:txBody>
          <a:bodyPr wrap="square" lIns="0" tIns="0" rIns="0" bIns="0" rtlCol="0"/>
          <a:lstStyle/>
          <a:p/>
        </p:txBody>
      </p:sp>
      <p:sp>
        <p:nvSpPr>
          <p:cNvPr id="18" name="object 18"/>
          <p:cNvSpPr/>
          <p:nvPr/>
        </p:nvSpPr>
        <p:spPr>
          <a:xfrm>
            <a:off x="7829297" y="2908554"/>
            <a:ext cx="266191" cy="199644"/>
          </a:xfrm>
          <a:prstGeom prst="rect">
            <a:avLst/>
          </a:prstGeom>
          <a:blipFill>
            <a:blip r:embed="rId2" cstate="print"/>
            <a:stretch>
              <a:fillRect/>
            </a:stretch>
          </a:blipFill>
        </p:spPr>
        <p:txBody>
          <a:bodyPr wrap="square" lIns="0" tIns="0" rIns="0" bIns="0" rtlCol="0"/>
          <a:lstStyle/>
          <a:p/>
        </p:txBody>
      </p:sp>
      <p:sp>
        <p:nvSpPr>
          <p:cNvPr id="19" name="object 19"/>
          <p:cNvSpPr/>
          <p:nvPr/>
        </p:nvSpPr>
        <p:spPr>
          <a:xfrm>
            <a:off x="8764015" y="2516887"/>
            <a:ext cx="266192" cy="199643"/>
          </a:xfrm>
          <a:prstGeom prst="rect">
            <a:avLst/>
          </a:prstGeom>
          <a:blipFill>
            <a:blip r:embed="rId2" cstate="print"/>
            <a:stretch>
              <a:fillRect/>
            </a:stretch>
          </a:blipFill>
        </p:spPr>
        <p:txBody>
          <a:bodyPr wrap="square" lIns="0" tIns="0" rIns="0" bIns="0" rtlCol="0"/>
          <a:lstStyle/>
          <a:p/>
        </p:txBody>
      </p:sp>
      <p:sp>
        <p:nvSpPr>
          <p:cNvPr id="20" name="object 20"/>
          <p:cNvSpPr/>
          <p:nvPr/>
        </p:nvSpPr>
        <p:spPr>
          <a:xfrm>
            <a:off x="8359649" y="1907288"/>
            <a:ext cx="266191" cy="199643"/>
          </a:xfrm>
          <a:prstGeom prst="rect">
            <a:avLst/>
          </a:prstGeom>
          <a:blipFill>
            <a:blip r:embed="rId2" cstate="print"/>
            <a:stretch>
              <a:fillRect/>
            </a:stretch>
          </a:blipFill>
        </p:spPr>
        <p:txBody>
          <a:bodyPr wrap="square" lIns="0" tIns="0" rIns="0" bIns="0" rtlCol="0"/>
          <a:lstStyle/>
          <a:p/>
        </p:txBody>
      </p:sp>
      <p:sp>
        <p:nvSpPr>
          <p:cNvPr id="21" name="object 21"/>
          <p:cNvSpPr/>
          <p:nvPr/>
        </p:nvSpPr>
        <p:spPr>
          <a:xfrm>
            <a:off x="9097263" y="2114550"/>
            <a:ext cx="266192" cy="199644"/>
          </a:xfrm>
          <a:prstGeom prst="rect">
            <a:avLst/>
          </a:prstGeom>
          <a:blipFill>
            <a:blip r:embed="rId2" cstate="print"/>
            <a:stretch>
              <a:fillRect/>
            </a:stretch>
          </a:blipFill>
        </p:spPr>
        <p:txBody>
          <a:bodyPr wrap="square" lIns="0" tIns="0" rIns="0" bIns="0" rtlCol="0"/>
          <a:lstStyle/>
          <a:p/>
        </p:txBody>
      </p:sp>
      <p:sp>
        <p:nvSpPr>
          <p:cNvPr id="22" name="object 22"/>
          <p:cNvSpPr/>
          <p:nvPr/>
        </p:nvSpPr>
        <p:spPr>
          <a:xfrm>
            <a:off x="10170159" y="2320289"/>
            <a:ext cx="266192" cy="199644"/>
          </a:xfrm>
          <a:prstGeom prst="rect">
            <a:avLst/>
          </a:prstGeom>
          <a:blipFill>
            <a:blip r:embed="rId2" cstate="print"/>
            <a:stretch>
              <a:fillRect/>
            </a:stretch>
          </a:blipFill>
        </p:spPr>
        <p:txBody>
          <a:bodyPr wrap="square" lIns="0" tIns="0" rIns="0" bIns="0" rtlCol="0"/>
          <a:lstStyle/>
          <a:p/>
        </p:txBody>
      </p:sp>
      <p:sp>
        <p:nvSpPr>
          <p:cNvPr id="23" name="object 23"/>
          <p:cNvSpPr/>
          <p:nvPr/>
        </p:nvSpPr>
        <p:spPr>
          <a:xfrm>
            <a:off x="9662159" y="2783585"/>
            <a:ext cx="266192" cy="199644"/>
          </a:xfrm>
          <a:prstGeom prst="rect">
            <a:avLst/>
          </a:prstGeom>
          <a:blipFill>
            <a:blip r:embed="rId2" cstate="print"/>
            <a:stretch>
              <a:fillRect/>
            </a:stretch>
          </a:blipFill>
        </p:spPr>
        <p:txBody>
          <a:bodyPr wrap="square" lIns="0" tIns="0" rIns="0" bIns="0" rtlCol="0"/>
          <a:lstStyle/>
          <a:p/>
        </p:txBody>
      </p:sp>
      <p:sp>
        <p:nvSpPr>
          <p:cNvPr id="24" name="object 24"/>
          <p:cNvSpPr/>
          <p:nvPr/>
        </p:nvSpPr>
        <p:spPr>
          <a:xfrm>
            <a:off x="9204959" y="3160014"/>
            <a:ext cx="266192" cy="199644"/>
          </a:xfrm>
          <a:prstGeom prst="rect">
            <a:avLst/>
          </a:prstGeom>
          <a:blipFill>
            <a:blip r:embed="rId3" cstate="print"/>
            <a:stretch>
              <a:fillRect/>
            </a:stretch>
          </a:blipFill>
        </p:spPr>
        <p:txBody>
          <a:bodyPr wrap="square" lIns="0" tIns="0" rIns="0" bIns="0" rtlCol="0"/>
          <a:lstStyle/>
          <a:p/>
        </p:txBody>
      </p:sp>
      <p:sp>
        <p:nvSpPr>
          <p:cNvPr id="25" name="object 25"/>
          <p:cNvSpPr/>
          <p:nvPr/>
        </p:nvSpPr>
        <p:spPr>
          <a:xfrm>
            <a:off x="9836911" y="3327654"/>
            <a:ext cx="266192" cy="199644"/>
          </a:xfrm>
          <a:prstGeom prst="rect">
            <a:avLst/>
          </a:prstGeom>
          <a:blipFill>
            <a:blip r:embed="rId2" cstate="print"/>
            <a:stretch>
              <a:fillRect/>
            </a:stretch>
          </a:blipFill>
        </p:spPr>
        <p:txBody>
          <a:bodyPr wrap="square" lIns="0" tIns="0" rIns="0" bIns="0" rtlCol="0"/>
          <a:lstStyle/>
          <a:p/>
        </p:txBody>
      </p:sp>
      <p:sp>
        <p:nvSpPr>
          <p:cNvPr id="26" name="object 26"/>
          <p:cNvSpPr/>
          <p:nvPr/>
        </p:nvSpPr>
        <p:spPr>
          <a:xfrm>
            <a:off x="6455665" y="3726942"/>
            <a:ext cx="266191" cy="199644"/>
          </a:xfrm>
          <a:prstGeom prst="rect">
            <a:avLst/>
          </a:prstGeom>
          <a:blipFill>
            <a:blip r:embed="rId5" cstate="print"/>
            <a:stretch>
              <a:fillRect/>
            </a:stretch>
          </a:blipFill>
        </p:spPr>
        <p:txBody>
          <a:bodyPr wrap="square" lIns="0" tIns="0" rIns="0" bIns="0" rtlCol="0"/>
          <a:lstStyle/>
          <a:p/>
        </p:txBody>
      </p:sp>
      <p:sp>
        <p:nvSpPr>
          <p:cNvPr id="27" name="object 27"/>
          <p:cNvSpPr/>
          <p:nvPr/>
        </p:nvSpPr>
        <p:spPr>
          <a:xfrm>
            <a:off x="5970017" y="3449573"/>
            <a:ext cx="266191" cy="199644"/>
          </a:xfrm>
          <a:prstGeom prst="rect">
            <a:avLst/>
          </a:prstGeom>
          <a:blipFill>
            <a:blip r:embed="rId6" cstate="print"/>
            <a:stretch>
              <a:fillRect/>
            </a:stretch>
          </a:blipFill>
        </p:spPr>
        <p:txBody>
          <a:bodyPr wrap="square" lIns="0" tIns="0" rIns="0" bIns="0" rtlCol="0"/>
          <a:lstStyle/>
          <a:p/>
        </p:txBody>
      </p:sp>
      <p:sp>
        <p:nvSpPr>
          <p:cNvPr id="28" name="object 28"/>
          <p:cNvSpPr/>
          <p:nvPr/>
        </p:nvSpPr>
        <p:spPr>
          <a:xfrm>
            <a:off x="6431281" y="3035045"/>
            <a:ext cx="266191" cy="199644"/>
          </a:xfrm>
          <a:prstGeom prst="rect">
            <a:avLst/>
          </a:prstGeom>
          <a:blipFill>
            <a:blip r:embed="rId6" cstate="print"/>
            <a:stretch>
              <a:fillRect/>
            </a:stretch>
          </a:blipFill>
        </p:spPr>
        <p:txBody>
          <a:bodyPr wrap="square" lIns="0" tIns="0" rIns="0" bIns="0" rtlCol="0"/>
          <a:lstStyle/>
          <a:p/>
        </p:txBody>
      </p:sp>
      <p:sp>
        <p:nvSpPr>
          <p:cNvPr id="29" name="object 29"/>
          <p:cNvSpPr/>
          <p:nvPr/>
        </p:nvSpPr>
        <p:spPr>
          <a:xfrm>
            <a:off x="7307071" y="3601973"/>
            <a:ext cx="266192" cy="199644"/>
          </a:xfrm>
          <a:prstGeom prst="rect">
            <a:avLst/>
          </a:prstGeom>
          <a:blipFill>
            <a:blip r:embed="rId6" cstate="print"/>
            <a:stretch>
              <a:fillRect/>
            </a:stretch>
          </a:blipFill>
        </p:spPr>
        <p:txBody>
          <a:bodyPr wrap="square" lIns="0" tIns="0" rIns="0" bIns="0" rtlCol="0"/>
          <a:lstStyle/>
          <a:p/>
        </p:txBody>
      </p:sp>
      <p:sp>
        <p:nvSpPr>
          <p:cNvPr id="30" name="object 30"/>
          <p:cNvSpPr/>
          <p:nvPr/>
        </p:nvSpPr>
        <p:spPr>
          <a:xfrm>
            <a:off x="7957314" y="3761994"/>
            <a:ext cx="266191" cy="199644"/>
          </a:xfrm>
          <a:prstGeom prst="rect">
            <a:avLst/>
          </a:prstGeom>
          <a:blipFill>
            <a:blip r:embed="rId6" cstate="print"/>
            <a:stretch>
              <a:fillRect/>
            </a:stretch>
          </a:blipFill>
        </p:spPr>
        <p:txBody>
          <a:bodyPr wrap="square" lIns="0" tIns="0" rIns="0" bIns="0" rtlCol="0"/>
          <a:lstStyle/>
          <a:p/>
        </p:txBody>
      </p:sp>
      <p:sp>
        <p:nvSpPr>
          <p:cNvPr id="31" name="object 31"/>
          <p:cNvSpPr/>
          <p:nvPr/>
        </p:nvSpPr>
        <p:spPr>
          <a:xfrm>
            <a:off x="8709154" y="2993898"/>
            <a:ext cx="266191" cy="199644"/>
          </a:xfrm>
          <a:prstGeom prst="rect">
            <a:avLst/>
          </a:prstGeom>
          <a:blipFill>
            <a:blip r:embed="rId7" cstate="print"/>
            <a:stretch>
              <a:fillRect/>
            </a:stretch>
          </a:blipFill>
        </p:spPr>
        <p:txBody>
          <a:bodyPr wrap="square" lIns="0" tIns="0" rIns="0" bIns="0" rtlCol="0"/>
          <a:lstStyle/>
          <a:p/>
        </p:txBody>
      </p:sp>
      <p:sp>
        <p:nvSpPr>
          <p:cNvPr id="32" name="object 32"/>
          <p:cNvSpPr/>
          <p:nvPr/>
        </p:nvSpPr>
        <p:spPr>
          <a:xfrm>
            <a:off x="7955281" y="4184141"/>
            <a:ext cx="266191" cy="199644"/>
          </a:xfrm>
          <a:prstGeom prst="rect">
            <a:avLst/>
          </a:prstGeom>
          <a:blipFill>
            <a:blip r:embed="rId5" cstate="print"/>
            <a:stretch>
              <a:fillRect/>
            </a:stretch>
          </a:blipFill>
        </p:spPr>
        <p:txBody>
          <a:bodyPr wrap="square" lIns="0" tIns="0" rIns="0" bIns="0" rtlCol="0"/>
          <a:lstStyle/>
          <a:p/>
        </p:txBody>
      </p:sp>
      <p:sp>
        <p:nvSpPr>
          <p:cNvPr id="33" name="object 33"/>
          <p:cNvSpPr/>
          <p:nvPr/>
        </p:nvSpPr>
        <p:spPr>
          <a:xfrm>
            <a:off x="7487920" y="4542282"/>
            <a:ext cx="266192" cy="199644"/>
          </a:xfrm>
          <a:prstGeom prst="rect">
            <a:avLst/>
          </a:prstGeom>
          <a:blipFill>
            <a:blip r:embed="rId6" cstate="print"/>
            <a:stretch>
              <a:fillRect/>
            </a:stretch>
          </a:blipFill>
        </p:spPr>
        <p:txBody>
          <a:bodyPr wrap="square" lIns="0" tIns="0" rIns="0" bIns="0" rtlCol="0"/>
          <a:lstStyle/>
          <a:p/>
        </p:txBody>
      </p:sp>
      <p:sp>
        <p:nvSpPr>
          <p:cNvPr id="34" name="object 34"/>
          <p:cNvSpPr/>
          <p:nvPr/>
        </p:nvSpPr>
        <p:spPr>
          <a:xfrm>
            <a:off x="8316978" y="4534661"/>
            <a:ext cx="268223" cy="199644"/>
          </a:xfrm>
          <a:prstGeom prst="rect">
            <a:avLst/>
          </a:prstGeom>
          <a:blipFill>
            <a:blip r:embed="rId8" cstate="print"/>
            <a:stretch>
              <a:fillRect/>
            </a:stretch>
          </a:blipFill>
        </p:spPr>
        <p:txBody>
          <a:bodyPr wrap="square" lIns="0" tIns="0" rIns="0" bIns="0" rtlCol="0"/>
          <a:lstStyle/>
          <a:p/>
        </p:txBody>
      </p:sp>
      <p:sp>
        <p:nvSpPr>
          <p:cNvPr id="35" name="object 35"/>
          <p:cNvSpPr/>
          <p:nvPr/>
        </p:nvSpPr>
        <p:spPr>
          <a:xfrm>
            <a:off x="6640578" y="4274058"/>
            <a:ext cx="266191" cy="199644"/>
          </a:xfrm>
          <a:prstGeom prst="rect">
            <a:avLst/>
          </a:prstGeom>
          <a:blipFill>
            <a:blip r:embed="rId6" cstate="print"/>
            <a:stretch>
              <a:fillRect/>
            </a:stretch>
          </a:blipFill>
        </p:spPr>
        <p:txBody>
          <a:bodyPr wrap="square" lIns="0" tIns="0" rIns="0" bIns="0" rtlCol="0"/>
          <a:lstStyle/>
          <a:p/>
        </p:txBody>
      </p:sp>
      <p:sp>
        <p:nvSpPr>
          <p:cNvPr id="36" name="object 36"/>
          <p:cNvSpPr/>
          <p:nvPr/>
        </p:nvSpPr>
        <p:spPr>
          <a:xfrm>
            <a:off x="6020817" y="4421885"/>
            <a:ext cx="266191" cy="199644"/>
          </a:xfrm>
          <a:prstGeom prst="rect">
            <a:avLst/>
          </a:prstGeom>
          <a:blipFill>
            <a:blip r:embed="rId6" cstate="print"/>
            <a:stretch>
              <a:fillRect/>
            </a:stretch>
          </a:blipFill>
        </p:spPr>
        <p:txBody>
          <a:bodyPr wrap="square" lIns="0" tIns="0" rIns="0" bIns="0" rtlCol="0"/>
          <a:lstStyle/>
          <a:p/>
        </p:txBody>
      </p:sp>
      <p:sp>
        <p:nvSpPr>
          <p:cNvPr id="37" name="object 37"/>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38" name="object 38"/>
          <p:cNvSpPr/>
          <p:nvPr/>
        </p:nvSpPr>
        <p:spPr>
          <a:xfrm>
            <a:off x="4793487" y="4293870"/>
            <a:ext cx="268224" cy="199644"/>
          </a:xfrm>
          <a:prstGeom prst="rect">
            <a:avLst/>
          </a:prstGeom>
          <a:blipFill>
            <a:blip r:embed="rId8" cstate="print"/>
            <a:stretch>
              <a:fillRect/>
            </a:stretch>
          </a:blipFill>
        </p:spPr>
        <p:txBody>
          <a:bodyPr wrap="square" lIns="0" tIns="0" rIns="0" bIns="0" rtlCol="0"/>
          <a:lstStyle/>
          <a:p/>
        </p:txBody>
      </p:sp>
      <p:sp>
        <p:nvSpPr>
          <p:cNvPr id="39" name="object 39"/>
          <p:cNvSpPr/>
          <p:nvPr/>
        </p:nvSpPr>
        <p:spPr>
          <a:xfrm>
            <a:off x="5573778" y="3833622"/>
            <a:ext cx="266191" cy="199644"/>
          </a:xfrm>
          <a:prstGeom prst="rect">
            <a:avLst/>
          </a:prstGeom>
          <a:blipFill>
            <a:blip r:embed="rId6" cstate="print"/>
            <a:stretch>
              <a:fillRect/>
            </a:stretch>
          </a:blipFill>
        </p:spPr>
        <p:txBody>
          <a:bodyPr wrap="square" lIns="0" tIns="0" rIns="0" bIns="0" rtlCol="0"/>
          <a:lstStyle/>
          <a:p/>
        </p:txBody>
      </p:sp>
      <p:sp>
        <p:nvSpPr>
          <p:cNvPr id="40" name="object 40"/>
          <p:cNvSpPr/>
          <p:nvPr/>
        </p:nvSpPr>
        <p:spPr>
          <a:xfrm>
            <a:off x="5262881" y="3446526"/>
            <a:ext cx="266191" cy="199644"/>
          </a:xfrm>
          <a:prstGeom prst="rect">
            <a:avLst/>
          </a:prstGeom>
          <a:blipFill>
            <a:blip r:embed="rId6" cstate="print"/>
            <a:stretch>
              <a:fillRect/>
            </a:stretch>
          </a:blipFill>
        </p:spPr>
        <p:txBody>
          <a:bodyPr wrap="square" lIns="0" tIns="0" rIns="0" bIns="0" rtlCol="0"/>
          <a:lstStyle/>
          <a:p/>
        </p:txBody>
      </p:sp>
      <p:sp>
        <p:nvSpPr>
          <p:cNvPr id="41" name="object 41"/>
          <p:cNvSpPr/>
          <p:nvPr/>
        </p:nvSpPr>
        <p:spPr>
          <a:xfrm>
            <a:off x="5693665" y="2775966"/>
            <a:ext cx="268223" cy="199644"/>
          </a:xfrm>
          <a:prstGeom prst="rect">
            <a:avLst/>
          </a:prstGeom>
          <a:blipFill>
            <a:blip r:embed="rId8" cstate="print"/>
            <a:stretch>
              <a:fillRect/>
            </a:stretch>
          </a:blipFill>
        </p:spPr>
        <p:txBody>
          <a:bodyPr wrap="square" lIns="0" tIns="0" rIns="0" bIns="0" rtlCol="0"/>
          <a:lstStyle/>
          <a:p/>
        </p:txBody>
      </p:sp>
      <p:sp>
        <p:nvSpPr>
          <p:cNvPr id="42" name="object 42"/>
          <p:cNvSpPr/>
          <p:nvPr/>
        </p:nvSpPr>
        <p:spPr>
          <a:xfrm>
            <a:off x="4661407" y="3242310"/>
            <a:ext cx="266192" cy="199644"/>
          </a:xfrm>
          <a:prstGeom prst="rect">
            <a:avLst/>
          </a:prstGeom>
          <a:blipFill>
            <a:blip r:embed="rId6" cstate="print"/>
            <a:stretch>
              <a:fillRect/>
            </a:stretch>
          </a:blipFill>
        </p:spPr>
        <p:txBody>
          <a:bodyPr wrap="square" lIns="0" tIns="0" rIns="0" bIns="0" rtlCol="0"/>
          <a:lstStyle/>
          <a:p/>
        </p:txBody>
      </p:sp>
      <p:sp>
        <p:nvSpPr>
          <p:cNvPr id="43" name="object 43"/>
          <p:cNvSpPr/>
          <p:nvPr/>
        </p:nvSpPr>
        <p:spPr>
          <a:xfrm>
            <a:off x="5128768" y="2394966"/>
            <a:ext cx="266192" cy="199644"/>
          </a:xfrm>
          <a:prstGeom prst="rect">
            <a:avLst/>
          </a:prstGeom>
          <a:blipFill>
            <a:blip r:embed="rId6" cstate="print"/>
            <a:stretch>
              <a:fillRect/>
            </a:stretch>
          </a:blipFill>
        </p:spPr>
        <p:txBody>
          <a:bodyPr wrap="square" lIns="0" tIns="0" rIns="0" bIns="0" rtlCol="0"/>
          <a:lstStyle/>
          <a:p/>
        </p:txBody>
      </p:sp>
      <p:sp>
        <p:nvSpPr>
          <p:cNvPr id="44" name="object 44"/>
          <p:cNvSpPr/>
          <p:nvPr/>
        </p:nvSpPr>
        <p:spPr>
          <a:xfrm>
            <a:off x="4775200" y="2775966"/>
            <a:ext cx="266192" cy="199644"/>
          </a:xfrm>
          <a:prstGeom prst="rect">
            <a:avLst/>
          </a:prstGeom>
          <a:blipFill>
            <a:blip r:embed="rId6" cstate="print"/>
            <a:stretch>
              <a:fillRect/>
            </a:stretch>
          </a:blipFill>
        </p:spPr>
        <p:txBody>
          <a:bodyPr wrap="square" lIns="0" tIns="0" rIns="0" bIns="0" rtlCol="0"/>
          <a:lstStyle/>
          <a:p/>
        </p:txBody>
      </p:sp>
      <p:sp>
        <p:nvSpPr>
          <p:cNvPr id="45" name="object 45"/>
          <p:cNvSpPr/>
          <p:nvPr/>
        </p:nvSpPr>
        <p:spPr>
          <a:xfrm>
            <a:off x="4712207" y="2120648"/>
            <a:ext cx="266192" cy="199643"/>
          </a:xfrm>
          <a:prstGeom prst="rect">
            <a:avLst/>
          </a:prstGeom>
          <a:blipFill>
            <a:blip r:embed="rId6" cstate="print"/>
            <a:stretch>
              <a:fillRect/>
            </a:stretch>
          </a:blipFill>
        </p:spPr>
        <p:txBody>
          <a:bodyPr wrap="square" lIns="0" tIns="0" rIns="0" bIns="0" rtlCol="0"/>
          <a:lstStyle/>
          <a:p/>
        </p:txBody>
      </p:sp>
      <p:sp>
        <p:nvSpPr>
          <p:cNvPr id="46" name="object 46"/>
          <p:cNvSpPr/>
          <p:nvPr/>
        </p:nvSpPr>
        <p:spPr>
          <a:xfrm>
            <a:off x="5262881" y="2993898"/>
            <a:ext cx="266191" cy="199644"/>
          </a:xfrm>
          <a:prstGeom prst="rect">
            <a:avLst/>
          </a:prstGeom>
          <a:blipFill>
            <a:blip r:embed="rId6" cstate="print"/>
            <a:stretch>
              <a:fillRect/>
            </a:stretch>
          </a:blipFill>
        </p:spPr>
        <p:txBody>
          <a:bodyPr wrap="square" lIns="0" tIns="0" rIns="0" bIns="0" rtlCol="0"/>
          <a:lstStyle/>
          <a:p/>
        </p:txBody>
      </p:sp>
      <p:sp>
        <p:nvSpPr>
          <p:cNvPr id="47" name="object 47"/>
          <p:cNvSpPr/>
          <p:nvPr/>
        </p:nvSpPr>
        <p:spPr>
          <a:xfrm>
            <a:off x="4748784" y="3761994"/>
            <a:ext cx="266192" cy="199644"/>
          </a:xfrm>
          <a:prstGeom prst="rect">
            <a:avLst/>
          </a:prstGeom>
          <a:blipFill>
            <a:blip r:embed="rId6" cstate="print"/>
            <a:stretch>
              <a:fillRect/>
            </a:stretch>
          </a:blipFill>
        </p:spPr>
        <p:txBody>
          <a:bodyPr wrap="square" lIns="0" tIns="0" rIns="0" bIns="0" rtlCol="0"/>
          <a:lstStyle/>
          <a:p/>
        </p:txBody>
      </p:sp>
      <p:sp>
        <p:nvSpPr>
          <p:cNvPr id="48" name="object 48"/>
          <p:cNvSpPr/>
          <p:nvPr/>
        </p:nvSpPr>
        <p:spPr>
          <a:xfrm>
            <a:off x="5161281" y="4016501"/>
            <a:ext cx="266191" cy="199644"/>
          </a:xfrm>
          <a:prstGeom prst="rect">
            <a:avLst/>
          </a:prstGeom>
          <a:blipFill>
            <a:blip r:embed="rId6" cstate="print"/>
            <a:stretch>
              <a:fillRect/>
            </a:stretch>
          </a:blipFill>
        </p:spPr>
        <p:txBody>
          <a:bodyPr wrap="square" lIns="0" tIns="0" rIns="0" bIns="0" rtlCol="0"/>
          <a:lstStyle/>
          <a:p/>
        </p:txBody>
      </p:sp>
      <p:sp>
        <p:nvSpPr>
          <p:cNvPr id="49" name="object 49"/>
          <p:cNvSpPr/>
          <p:nvPr/>
        </p:nvSpPr>
        <p:spPr>
          <a:xfrm>
            <a:off x="5573778" y="2366012"/>
            <a:ext cx="266191" cy="199643"/>
          </a:xfrm>
          <a:prstGeom prst="rect">
            <a:avLst/>
          </a:prstGeom>
          <a:blipFill>
            <a:blip r:embed="rId6" cstate="print"/>
            <a:stretch>
              <a:fillRect/>
            </a:stretch>
          </a:blipFill>
        </p:spPr>
        <p:txBody>
          <a:bodyPr wrap="square" lIns="0" tIns="0" rIns="0" bIns="0" rtlCol="0"/>
          <a:lstStyle/>
          <a:p/>
        </p:txBody>
      </p:sp>
      <p:sp>
        <p:nvSpPr>
          <p:cNvPr id="50" name="object 50"/>
          <p:cNvSpPr/>
          <p:nvPr/>
        </p:nvSpPr>
        <p:spPr>
          <a:xfrm>
            <a:off x="5669281" y="3158489"/>
            <a:ext cx="266191" cy="199644"/>
          </a:xfrm>
          <a:prstGeom prst="rect">
            <a:avLst/>
          </a:prstGeom>
          <a:blipFill>
            <a:blip r:embed="rId6" cstate="print"/>
            <a:stretch>
              <a:fillRect/>
            </a:stretch>
          </a:blipFill>
        </p:spPr>
        <p:txBody>
          <a:bodyPr wrap="square" lIns="0" tIns="0" rIns="0" bIns="0" rtlCol="0"/>
          <a:lstStyle/>
          <a:p/>
        </p:txBody>
      </p:sp>
      <p:sp>
        <p:nvSpPr>
          <p:cNvPr id="51" name="object 51"/>
          <p:cNvSpPr/>
          <p:nvPr/>
        </p:nvSpPr>
        <p:spPr>
          <a:xfrm>
            <a:off x="5970017" y="4007357"/>
            <a:ext cx="266191" cy="199644"/>
          </a:xfrm>
          <a:prstGeom prst="rect">
            <a:avLst/>
          </a:prstGeom>
          <a:blipFill>
            <a:blip r:embed="rId6" cstate="print"/>
            <a:stretch>
              <a:fillRect/>
            </a:stretch>
          </a:blipFill>
        </p:spPr>
        <p:txBody>
          <a:bodyPr wrap="square" lIns="0" tIns="0" rIns="0" bIns="0" rtlCol="0"/>
          <a:lstStyle/>
          <a:p/>
        </p:txBody>
      </p:sp>
      <p:sp>
        <p:nvSpPr>
          <p:cNvPr id="52" name="object 52"/>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53" name="object 53"/>
          <p:cNvSpPr/>
          <p:nvPr/>
        </p:nvSpPr>
        <p:spPr>
          <a:xfrm>
            <a:off x="6431281" y="3353561"/>
            <a:ext cx="266191" cy="199644"/>
          </a:xfrm>
          <a:prstGeom prst="rect">
            <a:avLst/>
          </a:prstGeom>
          <a:blipFill>
            <a:blip r:embed="rId6" cstate="print"/>
            <a:stretch>
              <a:fillRect/>
            </a:stretch>
          </a:blipFill>
        </p:spPr>
        <p:txBody>
          <a:bodyPr wrap="square" lIns="0" tIns="0" rIns="0" bIns="0" rtlCol="0"/>
          <a:lstStyle/>
          <a:p/>
        </p:txBody>
      </p:sp>
      <p:sp>
        <p:nvSpPr>
          <p:cNvPr id="54" name="object 54"/>
          <p:cNvSpPr/>
          <p:nvPr/>
        </p:nvSpPr>
        <p:spPr>
          <a:xfrm>
            <a:off x="6030978" y="3013710"/>
            <a:ext cx="266191" cy="199644"/>
          </a:xfrm>
          <a:prstGeom prst="rect">
            <a:avLst/>
          </a:prstGeom>
          <a:blipFill>
            <a:blip r:embed="rId6" cstate="print"/>
            <a:stretch>
              <a:fillRect/>
            </a:stretch>
          </a:blipFill>
        </p:spPr>
        <p:txBody>
          <a:bodyPr wrap="square" lIns="0" tIns="0" rIns="0" bIns="0" rtlCol="0"/>
          <a:lstStyle/>
          <a:p/>
        </p:txBody>
      </p:sp>
      <p:sp>
        <p:nvSpPr>
          <p:cNvPr id="55" name="object 55"/>
          <p:cNvSpPr/>
          <p:nvPr/>
        </p:nvSpPr>
        <p:spPr>
          <a:xfrm>
            <a:off x="8885936" y="4525517"/>
            <a:ext cx="266192" cy="201168"/>
          </a:xfrm>
          <a:prstGeom prst="rect">
            <a:avLst/>
          </a:prstGeom>
          <a:blipFill>
            <a:blip r:embed="rId9" cstate="print"/>
            <a:stretch>
              <a:fillRect/>
            </a:stretch>
          </a:blipFill>
        </p:spPr>
        <p:txBody>
          <a:bodyPr wrap="square" lIns="0" tIns="0" rIns="0" bIns="0" rtlCol="0"/>
          <a:lstStyle/>
          <a:p/>
        </p:txBody>
      </p:sp>
      <p:sp>
        <p:nvSpPr>
          <p:cNvPr id="56" name="object 56"/>
          <p:cNvSpPr/>
          <p:nvPr/>
        </p:nvSpPr>
        <p:spPr>
          <a:xfrm>
            <a:off x="8436863" y="4174997"/>
            <a:ext cx="266192" cy="199644"/>
          </a:xfrm>
          <a:prstGeom prst="rect">
            <a:avLst/>
          </a:prstGeom>
          <a:blipFill>
            <a:blip r:embed="rId6" cstate="print"/>
            <a:stretch>
              <a:fillRect/>
            </a:stretch>
          </a:blipFill>
        </p:spPr>
        <p:txBody>
          <a:bodyPr wrap="square" lIns="0" tIns="0" rIns="0" bIns="0" rtlCol="0"/>
          <a:lstStyle/>
          <a:p/>
        </p:txBody>
      </p:sp>
      <p:sp>
        <p:nvSpPr>
          <p:cNvPr id="57" name="object 57"/>
          <p:cNvSpPr/>
          <p:nvPr/>
        </p:nvSpPr>
        <p:spPr>
          <a:xfrm>
            <a:off x="9558527" y="4516373"/>
            <a:ext cx="266192" cy="199644"/>
          </a:xfrm>
          <a:prstGeom prst="rect">
            <a:avLst/>
          </a:prstGeom>
          <a:blipFill>
            <a:blip r:embed="rId6" cstate="print"/>
            <a:stretch>
              <a:fillRect/>
            </a:stretch>
          </a:blipFill>
        </p:spPr>
        <p:txBody>
          <a:bodyPr wrap="square" lIns="0" tIns="0" rIns="0" bIns="0" rtlCol="0"/>
          <a:lstStyle/>
          <a:p/>
        </p:txBody>
      </p:sp>
      <p:sp>
        <p:nvSpPr>
          <p:cNvPr id="58" name="object 58"/>
          <p:cNvSpPr/>
          <p:nvPr/>
        </p:nvSpPr>
        <p:spPr>
          <a:xfrm>
            <a:off x="2244345" y="3945508"/>
            <a:ext cx="4601633" cy="134620"/>
          </a:xfrm>
          <a:custGeom>
            <a:avLst/>
            <a:gdLst/>
            <a:ahLst/>
            <a:cxnLst/>
            <a:rect l="l" t="t" r="r" b="b"/>
            <a:pathLst>
              <a:path w="3451225" h="134619">
                <a:moveTo>
                  <a:pt x="3393567" y="67183"/>
                </a:moveTo>
                <a:lnTo>
                  <a:pt x="3321177" y="109347"/>
                </a:lnTo>
                <a:lnTo>
                  <a:pt x="3318891" y="118237"/>
                </a:lnTo>
                <a:lnTo>
                  <a:pt x="3322828" y="125095"/>
                </a:lnTo>
                <a:lnTo>
                  <a:pt x="3326892" y="132080"/>
                </a:lnTo>
                <a:lnTo>
                  <a:pt x="3335781" y="134366"/>
                </a:lnTo>
                <a:lnTo>
                  <a:pt x="3426122" y="81661"/>
                </a:lnTo>
                <a:lnTo>
                  <a:pt x="3422269" y="81661"/>
                </a:lnTo>
                <a:lnTo>
                  <a:pt x="3422269" y="79629"/>
                </a:lnTo>
                <a:lnTo>
                  <a:pt x="3414903" y="79629"/>
                </a:lnTo>
                <a:lnTo>
                  <a:pt x="3393567" y="67183"/>
                </a:lnTo>
                <a:close/>
              </a:path>
              <a:path w="3451225" h="134619">
                <a:moveTo>
                  <a:pt x="3368747" y="52705"/>
                </a:moveTo>
                <a:lnTo>
                  <a:pt x="0" y="52705"/>
                </a:lnTo>
                <a:lnTo>
                  <a:pt x="0" y="81661"/>
                </a:lnTo>
                <a:lnTo>
                  <a:pt x="3368747" y="81661"/>
                </a:lnTo>
                <a:lnTo>
                  <a:pt x="3393566" y="67183"/>
                </a:lnTo>
                <a:lnTo>
                  <a:pt x="3368747" y="52705"/>
                </a:lnTo>
                <a:close/>
              </a:path>
              <a:path w="3451225" h="134619">
                <a:moveTo>
                  <a:pt x="3426122" y="52705"/>
                </a:moveTo>
                <a:lnTo>
                  <a:pt x="3422269" y="52705"/>
                </a:lnTo>
                <a:lnTo>
                  <a:pt x="3422269" y="81661"/>
                </a:lnTo>
                <a:lnTo>
                  <a:pt x="3426122" y="81661"/>
                </a:lnTo>
                <a:lnTo>
                  <a:pt x="3450971" y="67183"/>
                </a:lnTo>
                <a:lnTo>
                  <a:pt x="3426122" y="52705"/>
                </a:lnTo>
                <a:close/>
              </a:path>
              <a:path w="3451225" h="134619">
                <a:moveTo>
                  <a:pt x="3414903" y="54737"/>
                </a:moveTo>
                <a:lnTo>
                  <a:pt x="3393567" y="67183"/>
                </a:lnTo>
                <a:lnTo>
                  <a:pt x="3414903" y="79629"/>
                </a:lnTo>
                <a:lnTo>
                  <a:pt x="3414903" y="54737"/>
                </a:lnTo>
                <a:close/>
              </a:path>
              <a:path w="3451225" h="134619">
                <a:moveTo>
                  <a:pt x="3422269" y="54737"/>
                </a:moveTo>
                <a:lnTo>
                  <a:pt x="3414903" y="54737"/>
                </a:lnTo>
                <a:lnTo>
                  <a:pt x="3414903" y="79629"/>
                </a:lnTo>
                <a:lnTo>
                  <a:pt x="3422269" y="79629"/>
                </a:lnTo>
                <a:lnTo>
                  <a:pt x="3422269" y="54737"/>
                </a:lnTo>
                <a:close/>
              </a:path>
              <a:path w="3451225" h="134619">
                <a:moveTo>
                  <a:pt x="3335781" y="0"/>
                </a:moveTo>
                <a:lnTo>
                  <a:pt x="3326892" y="2286"/>
                </a:lnTo>
                <a:lnTo>
                  <a:pt x="3322828" y="9271"/>
                </a:lnTo>
                <a:lnTo>
                  <a:pt x="3318891" y="16129"/>
                </a:lnTo>
                <a:lnTo>
                  <a:pt x="3321177" y="25018"/>
                </a:lnTo>
                <a:lnTo>
                  <a:pt x="3393567" y="67183"/>
                </a:lnTo>
                <a:lnTo>
                  <a:pt x="3414903" y="54737"/>
                </a:lnTo>
                <a:lnTo>
                  <a:pt x="3422269" y="54737"/>
                </a:lnTo>
                <a:lnTo>
                  <a:pt x="3422269" y="52705"/>
                </a:lnTo>
                <a:lnTo>
                  <a:pt x="3426122" y="52705"/>
                </a:lnTo>
                <a:lnTo>
                  <a:pt x="3335781" y="0"/>
                </a:lnTo>
                <a:close/>
              </a:path>
            </a:pathLst>
          </a:custGeom>
          <a:solidFill>
            <a:srgbClr val="C00000"/>
          </a:solidFill>
        </p:spPr>
        <p:txBody>
          <a:bodyPr wrap="square" lIns="0" tIns="0" rIns="0" bIns="0" rtlCol="0"/>
          <a:lstStyle/>
          <a:p/>
        </p:txBody>
      </p:sp>
      <p:sp>
        <p:nvSpPr>
          <p:cNvPr id="59" name="object 59"/>
          <p:cNvSpPr txBox="1"/>
          <p:nvPr/>
        </p:nvSpPr>
        <p:spPr>
          <a:xfrm>
            <a:off x="1080752" y="3819349"/>
            <a:ext cx="1049867" cy="320601"/>
          </a:xfrm>
          <a:prstGeom prst="rect">
            <a:avLst/>
          </a:prstGeom>
        </p:spPr>
        <p:txBody>
          <a:bodyPr vert="horz" wrap="square" lIns="0" tIns="12700" rIns="0" bIns="0" rtlCol="0">
            <a:spAutoFit/>
          </a:bodyPr>
          <a:lstStyle/>
          <a:p>
            <a:pPr marL="12700">
              <a:spcBef>
                <a:spcPts val="100"/>
              </a:spcBef>
            </a:pPr>
            <a:r>
              <a:rPr lang="zh-CN" altLang="en-US" sz="2000" b="1" spc="65" dirty="0">
                <a:solidFill>
                  <a:srgbClr val="C00000"/>
                </a:solidFill>
                <a:latin typeface="Trebuchet MS" panose="020B0603020202020204"/>
                <a:cs typeface="Trebuchet MS" panose="020B0603020202020204"/>
              </a:rPr>
              <a:t>预测</a:t>
            </a:r>
            <a:endParaRPr sz="2000" dirty="0">
              <a:latin typeface="Trebuchet MS" panose="020B0603020202020204"/>
              <a:cs typeface="Trebuchet MS" panose="020B0603020202020204"/>
            </a:endParaRPr>
          </a:p>
        </p:txBody>
      </p:sp>
      <p:sp>
        <p:nvSpPr>
          <p:cNvPr id="60" name="object 60"/>
          <p:cNvSpPr/>
          <p:nvPr/>
        </p:nvSpPr>
        <p:spPr>
          <a:xfrm>
            <a:off x="595377" y="3848863"/>
            <a:ext cx="288713" cy="268605"/>
          </a:xfrm>
          <a:custGeom>
            <a:avLst/>
            <a:gdLst/>
            <a:ahLst/>
            <a:cxnLst/>
            <a:rect l="l" t="t" r="r" b="b"/>
            <a:pathLst>
              <a:path w="216534" h="268604">
                <a:moveTo>
                  <a:pt x="108204" y="0"/>
                </a:moveTo>
                <a:lnTo>
                  <a:pt x="0" y="134112"/>
                </a:lnTo>
                <a:lnTo>
                  <a:pt x="108204" y="268224"/>
                </a:lnTo>
                <a:lnTo>
                  <a:pt x="216408" y="134112"/>
                </a:lnTo>
                <a:lnTo>
                  <a:pt x="108204" y="0"/>
                </a:lnTo>
                <a:close/>
              </a:path>
            </a:pathLst>
          </a:custGeom>
          <a:solidFill>
            <a:srgbClr val="FFC000"/>
          </a:solidFill>
        </p:spPr>
        <p:txBody>
          <a:bodyPr wrap="square" lIns="0" tIns="0" rIns="0" bIns="0" rtlCol="0"/>
          <a:lstStyle/>
          <a:p/>
        </p:txBody>
      </p:sp>
      <p:sp>
        <p:nvSpPr>
          <p:cNvPr id="61" name="object 61"/>
          <p:cNvSpPr/>
          <p:nvPr/>
        </p:nvSpPr>
        <p:spPr>
          <a:xfrm>
            <a:off x="595377" y="3848863"/>
            <a:ext cx="288713" cy="268605"/>
          </a:xfrm>
          <a:custGeom>
            <a:avLst/>
            <a:gdLst/>
            <a:ahLst/>
            <a:cxnLst/>
            <a:rect l="l" t="t" r="r" b="b"/>
            <a:pathLst>
              <a:path w="216534" h="268604">
                <a:moveTo>
                  <a:pt x="0" y="134112"/>
                </a:moveTo>
                <a:lnTo>
                  <a:pt x="108204" y="0"/>
                </a:lnTo>
                <a:lnTo>
                  <a:pt x="216408" y="134112"/>
                </a:lnTo>
                <a:lnTo>
                  <a:pt x="108204" y="268224"/>
                </a:lnTo>
                <a:lnTo>
                  <a:pt x="0" y="134112"/>
                </a:lnTo>
                <a:close/>
              </a:path>
            </a:pathLst>
          </a:custGeom>
          <a:ln w="12192">
            <a:solidFill>
              <a:srgbClr val="D0692F"/>
            </a:solidFill>
          </a:ln>
        </p:spPr>
        <p:txBody>
          <a:bodyPr wrap="square" lIns="0" tIns="0" rIns="0" bIns="0" rtlCol="0"/>
          <a:lstStyle/>
          <a:p/>
        </p:txBody>
      </p:sp>
      <p:sp>
        <p:nvSpPr>
          <p:cNvPr id="62" name="object 62"/>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63" name="object 63"/>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66" name="标题 65"/>
          <p:cNvSpPr>
            <a:spLocks noGrp="1"/>
          </p:cNvSpPr>
          <p:nvPr>
            <p:ph type="title"/>
          </p:nvPr>
        </p:nvSpPr>
        <p:spPr>
          <a:xfrm>
            <a:off x="595377" y="380316"/>
            <a:ext cx="10972800" cy="1143000"/>
          </a:xfrm>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
        <p:nvSpPr>
          <p:cNvPr id="64" name="object 3"/>
          <p:cNvSpPr/>
          <p:nvPr/>
        </p:nvSpPr>
        <p:spPr>
          <a:xfrm>
            <a:off x="2171531" y="2168691"/>
            <a:ext cx="266192" cy="199643"/>
          </a:xfrm>
          <a:prstGeom prst="rect">
            <a:avLst/>
          </a:prstGeom>
          <a:blipFill>
            <a:blip r:embed="rId10" cstate="print"/>
            <a:stretch>
              <a:fillRect/>
            </a:stretch>
          </a:blipFill>
        </p:spPr>
        <p:txBody>
          <a:bodyPr wrap="square" lIns="0" tIns="0" rIns="0" bIns="0" rtlCol="0"/>
          <a:lstStyle/>
          <a:p/>
        </p:txBody>
      </p:sp>
      <p:sp>
        <p:nvSpPr>
          <p:cNvPr id="65" name="object 4"/>
          <p:cNvSpPr/>
          <p:nvPr/>
        </p:nvSpPr>
        <p:spPr>
          <a:xfrm>
            <a:off x="2165099" y="2613140"/>
            <a:ext cx="266192" cy="201167"/>
          </a:xfrm>
          <a:prstGeom prst="rect">
            <a:avLst/>
          </a:prstGeom>
          <a:blipFill>
            <a:blip r:embed="rId11" cstate="print"/>
            <a:stretch>
              <a:fillRect/>
            </a:stretch>
          </a:blipFill>
        </p:spPr>
        <p:txBody>
          <a:bodyPr wrap="square" lIns="0" tIns="0" rIns="0" bIns="0" rtlCol="0"/>
          <a:lstStyle/>
          <a:p/>
        </p:txBody>
      </p:sp>
      <p:sp>
        <p:nvSpPr>
          <p:cNvPr id="67" name="object 6"/>
          <p:cNvSpPr txBox="1"/>
          <p:nvPr/>
        </p:nvSpPr>
        <p:spPr>
          <a:xfrm>
            <a:off x="2588770" y="2060254"/>
            <a:ext cx="3298613" cy="754053"/>
          </a:xfrm>
          <a:prstGeom prst="rect">
            <a:avLst/>
          </a:prstGeom>
        </p:spPr>
        <p:txBody>
          <a:bodyPr vert="horz" wrap="square" lIns="0" tIns="106680" rIns="0" bIns="0" rtlCol="0">
            <a:spAutoFit/>
          </a:bodyPr>
          <a:lstStyle/>
          <a:p>
            <a:pPr marL="12700">
              <a:spcBef>
                <a:spcPts val="745"/>
              </a:spcBef>
            </a:pPr>
            <a:r>
              <a:rPr sz="1400" spc="10" dirty="0">
                <a:solidFill>
                  <a:srgbClr val="344B5E"/>
                </a:solidFill>
                <a:latin typeface="Arial" panose="020B0604020202020204"/>
                <a:cs typeface="Arial" panose="020B0604020202020204"/>
              </a:rPr>
              <a:t>Survived</a:t>
            </a:r>
            <a:endParaRPr sz="1400" dirty="0">
              <a:latin typeface="Arial" panose="020B0604020202020204"/>
              <a:cs typeface="Arial" panose="020B0604020202020204"/>
            </a:endParaRPr>
          </a:p>
          <a:p>
            <a:pPr>
              <a:spcBef>
                <a:spcPts val="45"/>
              </a:spcBef>
            </a:pPr>
            <a:endParaRPr sz="1400" dirty="0">
              <a:latin typeface="Times New Roman" panose="02020603050405020304"/>
              <a:cs typeface="Times New Roman" panose="02020603050405020304"/>
            </a:endParaRPr>
          </a:p>
          <a:p>
            <a:pPr marL="12700"/>
            <a:r>
              <a:rPr sz="1400" spc="20" dirty="0">
                <a:solidFill>
                  <a:srgbClr val="344B5E"/>
                </a:solidFill>
                <a:latin typeface="Arial" panose="020B0604020202020204"/>
                <a:cs typeface="Arial" panose="020B0604020202020204"/>
              </a:rPr>
              <a:t>Did </a:t>
            </a:r>
            <a:r>
              <a:rPr sz="1400" spc="65" dirty="0">
                <a:solidFill>
                  <a:srgbClr val="344B5E"/>
                </a:solidFill>
                <a:latin typeface="Arial" panose="020B0604020202020204"/>
                <a:cs typeface="Arial" panose="020B0604020202020204"/>
              </a:rPr>
              <a:t>not</a:t>
            </a:r>
            <a:r>
              <a:rPr sz="1400" spc="-175" dirty="0">
                <a:solidFill>
                  <a:srgbClr val="344B5E"/>
                </a:solidFill>
                <a:latin typeface="Arial" panose="020B0604020202020204"/>
                <a:cs typeface="Arial" panose="020B0604020202020204"/>
              </a:rPr>
              <a:t> </a:t>
            </a:r>
            <a:r>
              <a:rPr sz="1400" spc="5" dirty="0">
                <a:solidFill>
                  <a:srgbClr val="344B5E"/>
                </a:solidFill>
                <a:latin typeface="Arial" panose="020B0604020202020204"/>
                <a:cs typeface="Arial" panose="020B0604020202020204"/>
              </a:rPr>
              <a:t>survive</a:t>
            </a:r>
            <a:endParaRPr sz="1400" dirty="0">
              <a:latin typeface="Arial" panose="020B0604020202020204"/>
              <a:cs typeface="Arial" panose="020B0604020202020204"/>
            </a:endParaRPr>
          </a:p>
        </p:txBody>
      </p:sp>
      <p:sp>
        <p:nvSpPr>
          <p:cNvPr id="68" name="object 12"/>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dirty="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dirty="0">
              <a:latin typeface="Trebuchet MS" panose="020B0603020202020204"/>
              <a:cs typeface="Trebuchet MS" panose="020B0603020202020204"/>
            </a:endParaRPr>
          </a:p>
        </p:txBody>
      </p:sp>
      <p:sp>
        <p:nvSpPr>
          <p:cNvPr id="69" name="object 10"/>
          <p:cNvSpPr txBox="1"/>
          <p:nvPr/>
        </p:nvSpPr>
        <p:spPr>
          <a:xfrm>
            <a:off x="3308266" y="2950720"/>
            <a:ext cx="1050713" cy="493395"/>
          </a:xfrm>
          <a:prstGeom prst="rect">
            <a:avLst/>
          </a:prstGeom>
        </p:spPr>
        <p:txBody>
          <a:bodyPr vert="horz" wrap="square" lIns="0" tIns="12700" rIns="0" bIns="0" rtlCol="0">
            <a:spAutoFit/>
          </a:bodyPr>
          <a:lstStyle/>
          <a:p>
            <a:pPr marR="5080" algn="r">
              <a:spcBef>
                <a:spcPts val="100"/>
              </a:spcBef>
            </a:pPr>
            <a:r>
              <a:rPr sz="1400" spc="-5" dirty="0">
                <a:solidFill>
                  <a:srgbClr val="344B5E"/>
                </a:solidFill>
                <a:latin typeface="Arial" panose="020B0604020202020204"/>
                <a:cs typeface="Arial" panose="020B0604020202020204"/>
              </a:rPr>
              <a:t>40</a:t>
            </a:r>
            <a:endParaRPr sz="1400" dirty="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dirty="0">
              <a:latin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1631" y="2236471"/>
            <a:ext cx="266192" cy="199643"/>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611631" y="2670812"/>
            <a:ext cx="266192" cy="201167"/>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624673" y="1609147"/>
            <a:ext cx="2889673" cy="1388201"/>
          </a:xfrm>
          <a:prstGeom prst="rect">
            <a:avLst/>
          </a:prstGeom>
        </p:spPr>
        <p:txBody>
          <a:bodyPr vert="horz" wrap="square" lIns="0" tIns="142875" rIns="0" bIns="0" rtlCol="0">
            <a:spAutoFit/>
          </a:bodyPr>
          <a:lstStyle/>
          <a:p>
            <a:pPr marL="12700">
              <a:spcBef>
                <a:spcPts val="1125"/>
              </a:spcBef>
            </a:pPr>
            <a:r>
              <a:rPr lang="zh-CN" altLang="en-US" sz="2000" dirty="0"/>
              <a:t>近邻</a:t>
            </a:r>
            <a:r>
              <a:rPr lang="zh-CN" altLang="en-US" sz="2000" spc="-5" dirty="0">
                <a:latin typeface="Arial" panose="020B0604020202020204"/>
                <a:cs typeface="Arial" panose="020B0604020202020204"/>
              </a:rPr>
              <a:t>数目</a:t>
            </a:r>
            <a:r>
              <a:rPr sz="2000" spc="-5" dirty="0">
                <a:latin typeface="Arial" panose="020B0604020202020204"/>
                <a:cs typeface="Arial" panose="020B0604020202020204"/>
              </a:rPr>
              <a:t>(K =</a:t>
            </a:r>
            <a:r>
              <a:rPr sz="2000" spc="-95" dirty="0">
                <a:latin typeface="Arial" panose="020B0604020202020204"/>
                <a:cs typeface="Arial" panose="020B0604020202020204"/>
              </a:rPr>
              <a:t> </a:t>
            </a:r>
            <a:r>
              <a:rPr sz="2000" spc="-5" dirty="0">
                <a:latin typeface="Arial" panose="020B0604020202020204"/>
                <a:cs typeface="Arial" panose="020B0604020202020204"/>
              </a:rPr>
              <a:t>1):</a:t>
            </a:r>
            <a:endParaRPr sz="2000" dirty="0">
              <a:latin typeface="Arial" panose="020B0604020202020204"/>
              <a:cs typeface="Arial" panose="020B0604020202020204"/>
            </a:endParaRPr>
          </a:p>
          <a:p>
            <a:pPr marL="337820">
              <a:spcBef>
                <a:spcPts val="910"/>
              </a:spcBef>
            </a:pPr>
            <a:r>
              <a:rPr sz="2000" spc="55" dirty="0">
                <a:latin typeface="Arial" panose="020B0604020202020204"/>
                <a:cs typeface="Arial" panose="020B0604020202020204"/>
              </a:rPr>
              <a:t>0</a:t>
            </a:r>
            <a:endParaRPr sz="2000" dirty="0">
              <a:latin typeface="Arial" panose="020B0604020202020204"/>
              <a:cs typeface="Arial" panose="020B0604020202020204"/>
            </a:endParaRPr>
          </a:p>
          <a:p>
            <a:pPr marL="337820">
              <a:spcBef>
                <a:spcPts val="1615"/>
              </a:spcBef>
            </a:pPr>
            <a:r>
              <a:rPr sz="2000" spc="55" dirty="0">
                <a:latin typeface="Arial" panose="020B0604020202020204"/>
                <a:cs typeface="Arial" panose="020B0604020202020204"/>
              </a:rPr>
              <a:t>1</a:t>
            </a:r>
            <a:endParaRPr sz="2000" dirty="0">
              <a:latin typeface="Arial" panose="020B0604020202020204"/>
              <a:cs typeface="Arial" panose="020B0604020202020204"/>
            </a:endParaRPr>
          </a:p>
        </p:txBody>
      </p:sp>
      <p:sp>
        <p:nvSpPr>
          <p:cNvPr id="6" name="object 6"/>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7" name="object 7"/>
          <p:cNvSpPr/>
          <p:nvPr/>
        </p:nvSpPr>
        <p:spPr>
          <a:xfrm>
            <a:off x="7134354" y="4011931"/>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4"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8" name="object 8"/>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9" name="object 9"/>
          <p:cNvSpPr txBox="1"/>
          <p:nvPr/>
        </p:nvSpPr>
        <p:spPr>
          <a:xfrm>
            <a:off x="4060952"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10" name="object 10"/>
          <p:cNvSpPr txBox="1"/>
          <p:nvPr/>
        </p:nvSpPr>
        <p:spPr>
          <a:xfrm>
            <a:off x="3308266" y="2950720"/>
            <a:ext cx="1050713" cy="493395"/>
          </a:xfrm>
          <a:prstGeom prst="rect">
            <a:avLst/>
          </a:prstGeom>
        </p:spPr>
        <p:txBody>
          <a:bodyPr vert="horz" wrap="square" lIns="0" tIns="12700" rIns="0" bIns="0" rtlCol="0">
            <a:spAutoFit/>
          </a:bodyPr>
          <a:lstStyle/>
          <a:p>
            <a:pPr marR="5080" algn="r">
              <a:spcBef>
                <a:spcPts val="100"/>
              </a:spcBef>
            </a:pPr>
            <a:r>
              <a:rPr sz="1400" spc="-5" dirty="0">
                <a:solidFill>
                  <a:srgbClr val="344B5E"/>
                </a:solidFill>
                <a:latin typeface="Arial" panose="020B0604020202020204"/>
                <a:cs typeface="Arial" panose="020B0604020202020204"/>
              </a:rPr>
              <a:t>40</a:t>
            </a:r>
            <a:endParaRPr sz="1400" dirty="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dirty="0">
              <a:latin typeface="Arial" panose="020B0604020202020204"/>
              <a:cs typeface="Arial" panose="020B0604020202020204"/>
            </a:endParaRPr>
          </a:p>
        </p:txBody>
      </p:sp>
      <p:sp>
        <p:nvSpPr>
          <p:cNvPr id="11" name="object 11"/>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12" name="object 12"/>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dirty="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dirty="0">
              <a:latin typeface="Trebuchet MS" panose="020B0603020202020204"/>
              <a:cs typeface="Trebuchet MS" panose="020B0603020202020204"/>
            </a:endParaRPr>
          </a:p>
        </p:txBody>
      </p:sp>
      <p:sp>
        <p:nvSpPr>
          <p:cNvPr id="13" name="object 13"/>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4" name="object 14"/>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5" name="object 15"/>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16" name="object 16"/>
          <p:cNvSpPr/>
          <p:nvPr/>
        </p:nvSpPr>
        <p:spPr>
          <a:xfrm>
            <a:off x="8282433" y="3443477"/>
            <a:ext cx="266191" cy="199644"/>
          </a:xfrm>
          <a:prstGeom prst="rect">
            <a:avLst/>
          </a:prstGeom>
          <a:blipFill>
            <a:blip r:embed="rId4" cstate="print"/>
            <a:stretch>
              <a:fillRect/>
            </a:stretch>
          </a:blipFill>
        </p:spPr>
        <p:txBody>
          <a:bodyPr wrap="square" lIns="0" tIns="0" rIns="0" bIns="0" rtlCol="0"/>
          <a:lstStyle/>
          <a:p/>
        </p:txBody>
      </p:sp>
      <p:sp>
        <p:nvSpPr>
          <p:cNvPr id="17" name="object 17"/>
          <p:cNvSpPr/>
          <p:nvPr/>
        </p:nvSpPr>
        <p:spPr>
          <a:xfrm>
            <a:off x="7325362" y="3160014"/>
            <a:ext cx="266191" cy="199644"/>
          </a:xfrm>
          <a:prstGeom prst="rect">
            <a:avLst/>
          </a:prstGeom>
          <a:blipFill>
            <a:blip r:embed="rId5" cstate="print"/>
            <a:stretch>
              <a:fillRect/>
            </a:stretch>
          </a:blipFill>
        </p:spPr>
        <p:txBody>
          <a:bodyPr wrap="square" lIns="0" tIns="0" rIns="0" bIns="0" rtlCol="0"/>
          <a:lstStyle/>
          <a:p/>
        </p:txBody>
      </p:sp>
      <p:sp>
        <p:nvSpPr>
          <p:cNvPr id="18" name="object 18"/>
          <p:cNvSpPr/>
          <p:nvPr/>
        </p:nvSpPr>
        <p:spPr>
          <a:xfrm>
            <a:off x="7183120" y="2800350"/>
            <a:ext cx="268224" cy="199644"/>
          </a:xfrm>
          <a:prstGeom prst="rect">
            <a:avLst/>
          </a:prstGeom>
          <a:blipFill>
            <a:blip r:embed="rId6" cstate="print"/>
            <a:stretch>
              <a:fillRect/>
            </a:stretch>
          </a:blipFill>
        </p:spPr>
        <p:txBody>
          <a:bodyPr wrap="square" lIns="0" tIns="0" rIns="0" bIns="0" rtlCol="0"/>
          <a:lstStyle/>
          <a:p/>
        </p:txBody>
      </p:sp>
      <p:sp>
        <p:nvSpPr>
          <p:cNvPr id="19" name="object 19"/>
          <p:cNvSpPr/>
          <p:nvPr/>
        </p:nvSpPr>
        <p:spPr>
          <a:xfrm>
            <a:off x="6908802" y="2405635"/>
            <a:ext cx="268223" cy="199643"/>
          </a:xfrm>
          <a:prstGeom prst="rect">
            <a:avLst/>
          </a:prstGeom>
          <a:blipFill>
            <a:blip r:embed="rId6" cstate="print"/>
            <a:stretch>
              <a:fillRect/>
            </a:stretch>
          </a:blipFill>
        </p:spPr>
        <p:txBody>
          <a:bodyPr wrap="square" lIns="0" tIns="0" rIns="0" bIns="0" rtlCol="0"/>
          <a:lstStyle/>
          <a:p/>
        </p:txBody>
      </p:sp>
      <p:sp>
        <p:nvSpPr>
          <p:cNvPr id="20" name="object 20"/>
          <p:cNvSpPr/>
          <p:nvPr/>
        </p:nvSpPr>
        <p:spPr>
          <a:xfrm>
            <a:off x="7636255" y="2036825"/>
            <a:ext cx="266192" cy="199644"/>
          </a:xfrm>
          <a:prstGeom prst="rect">
            <a:avLst/>
          </a:prstGeom>
          <a:blipFill>
            <a:blip r:embed="rId3" cstate="print"/>
            <a:stretch>
              <a:fillRect/>
            </a:stretch>
          </a:blipFill>
        </p:spPr>
        <p:txBody>
          <a:bodyPr wrap="square" lIns="0" tIns="0" rIns="0" bIns="0" rtlCol="0"/>
          <a:lstStyle/>
          <a:p/>
        </p:txBody>
      </p:sp>
      <p:sp>
        <p:nvSpPr>
          <p:cNvPr id="21" name="object 21"/>
          <p:cNvSpPr/>
          <p:nvPr/>
        </p:nvSpPr>
        <p:spPr>
          <a:xfrm>
            <a:off x="8044687" y="2315717"/>
            <a:ext cx="266192" cy="199644"/>
          </a:xfrm>
          <a:prstGeom prst="rect">
            <a:avLst/>
          </a:prstGeom>
          <a:blipFill>
            <a:blip r:embed="rId4" cstate="print"/>
            <a:stretch>
              <a:fillRect/>
            </a:stretch>
          </a:blipFill>
        </p:spPr>
        <p:txBody>
          <a:bodyPr wrap="square" lIns="0" tIns="0" rIns="0" bIns="0" rtlCol="0"/>
          <a:lstStyle/>
          <a:p/>
        </p:txBody>
      </p:sp>
      <p:sp>
        <p:nvSpPr>
          <p:cNvPr id="22" name="object 22"/>
          <p:cNvSpPr/>
          <p:nvPr/>
        </p:nvSpPr>
        <p:spPr>
          <a:xfrm>
            <a:off x="8272271" y="2797301"/>
            <a:ext cx="266192" cy="199644"/>
          </a:xfrm>
          <a:prstGeom prst="rect">
            <a:avLst/>
          </a:prstGeom>
          <a:blipFill>
            <a:blip r:embed="rId4" cstate="print"/>
            <a:stretch>
              <a:fillRect/>
            </a:stretch>
          </a:blipFill>
        </p:spPr>
        <p:txBody>
          <a:bodyPr wrap="square" lIns="0" tIns="0" rIns="0" bIns="0" rtlCol="0"/>
          <a:lstStyle/>
          <a:p/>
        </p:txBody>
      </p:sp>
      <p:sp>
        <p:nvSpPr>
          <p:cNvPr id="23" name="object 23"/>
          <p:cNvSpPr/>
          <p:nvPr/>
        </p:nvSpPr>
        <p:spPr>
          <a:xfrm>
            <a:off x="7829297" y="2908554"/>
            <a:ext cx="266191" cy="199644"/>
          </a:xfrm>
          <a:prstGeom prst="rect">
            <a:avLst/>
          </a:prstGeom>
          <a:blipFill>
            <a:blip r:embed="rId4" cstate="print"/>
            <a:stretch>
              <a:fillRect/>
            </a:stretch>
          </a:blipFill>
        </p:spPr>
        <p:txBody>
          <a:bodyPr wrap="square" lIns="0" tIns="0" rIns="0" bIns="0" rtlCol="0"/>
          <a:lstStyle/>
          <a:p/>
        </p:txBody>
      </p:sp>
      <p:sp>
        <p:nvSpPr>
          <p:cNvPr id="24" name="object 24"/>
          <p:cNvSpPr/>
          <p:nvPr/>
        </p:nvSpPr>
        <p:spPr>
          <a:xfrm>
            <a:off x="8764015" y="2516887"/>
            <a:ext cx="266192" cy="199643"/>
          </a:xfrm>
          <a:prstGeom prst="rect">
            <a:avLst/>
          </a:prstGeom>
          <a:blipFill>
            <a:blip r:embed="rId4" cstate="print"/>
            <a:stretch>
              <a:fillRect/>
            </a:stretch>
          </a:blipFill>
        </p:spPr>
        <p:txBody>
          <a:bodyPr wrap="square" lIns="0" tIns="0" rIns="0" bIns="0" rtlCol="0"/>
          <a:lstStyle/>
          <a:p/>
        </p:txBody>
      </p:sp>
      <p:sp>
        <p:nvSpPr>
          <p:cNvPr id="25" name="object 25"/>
          <p:cNvSpPr/>
          <p:nvPr/>
        </p:nvSpPr>
        <p:spPr>
          <a:xfrm>
            <a:off x="8359649" y="1907288"/>
            <a:ext cx="266191" cy="199643"/>
          </a:xfrm>
          <a:prstGeom prst="rect">
            <a:avLst/>
          </a:prstGeom>
          <a:blipFill>
            <a:blip r:embed="rId4" cstate="print"/>
            <a:stretch>
              <a:fillRect/>
            </a:stretch>
          </a:blipFill>
        </p:spPr>
        <p:txBody>
          <a:bodyPr wrap="square" lIns="0" tIns="0" rIns="0" bIns="0" rtlCol="0"/>
          <a:lstStyle/>
          <a:p/>
        </p:txBody>
      </p:sp>
      <p:sp>
        <p:nvSpPr>
          <p:cNvPr id="26" name="object 26"/>
          <p:cNvSpPr/>
          <p:nvPr/>
        </p:nvSpPr>
        <p:spPr>
          <a:xfrm>
            <a:off x="9097263" y="2114550"/>
            <a:ext cx="266192" cy="199644"/>
          </a:xfrm>
          <a:prstGeom prst="rect">
            <a:avLst/>
          </a:prstGeom>
          <a:blipFill>
            <a:blip r:embed="rId4" cstate="print"/>
            <a:stretch>
              <a:fillRect/>
            </a:stretch>
          </a:blipFill>
        </p:spPr>
        <p:txBody>
          <a:bodyPr wrap="square" lIns="0" tIns="0" rIns="0" bIns="0" rtlCol="0"/>
          <a:lstStyle/>
          <a:p/>
        </p:txBody>
      </p:sp>
      <p:sp>
        <p:nvSpPr>
          <p:cNvPr id="27" name="object 27"/>
          <p:cNvSpPr/>
          <p:nvPr/>
        </p:nvSpPr>
        <p:spPr>
          <a:xfrm>
            <a:off x="10170159" y="2320289"/>
            <a:ext cx="266192" cy="199644"/>
          </a:xfrm>
          <a:prstGeom prst="rect">
            <a:avLst/>
          </a:prstGeom>
          <a:blipFill>
            <a:blip r:embed="rId4" cstate="print"/>
            <a:stretch>
              <a:fillRect/>
            </a:stretch>
          </a:blipFill>
        </p:spPr>
        <p:txBody>
          <a:bodyPr wrap="square" lIns="0" tIns="0" rIns="0" bIns="0" rtlCol="0"/>
          <a:lstStyle/>
          <a:p/>
        </p:txBody>
      </p:sp>
      <p:sp>
        <p:nvSpPr>
          <p:cNvPr id="28" name="object 28"/>
          <p:cNvSpPr/>
          <p:nvPr/>
        </p:nvSpPr>
        <p:spPr>
          <a:xfrm>
            <a:off x="9662159" y="2783585"/>
            <a:ext cx="266192" cy="199644"/>
          </a:xfrm>
          <a:prstGeom prst="rect">
            <a:avLst/>
          </a:prstGeom>
          <a:blipFill>
            <a:blip r:embed="rId4" cstate="print"/>
            <a:stretch>
              <a:fillRect/>
            </a:stretch>
          </a:blipFill>
        </p:spPr>
        <p:txBody>
          <a:bodyPr wrap="square" lIns="0" tIns="0" rIns="0" bIns="0" rtlCol="0"/>
          <a:lstStyle/>
          <a:p/>
        </p:txBody>
      </p:sp>
      <p:sp>
        <p:nvSpPr>
          <p:cNvPr id="29" name="object 29"/>
          <p:cNvSpPr/>
          <p:nvPr/>
        </p:nvSpPr>
        <p:spPr>
          <a:xfrm>
            <a:off x="9204959" y="3160014"/>
            <a:ext cx="266192" cy="199644"/>
          </a:xfrm>
          <a:prstGeom prst="rect">
            <a:avLst/>
          </a:prstGeom>
          <a:blipFill>
            <a:blip r:embed="rId5" cstate="print"/>
            <a:stretch>
              <a:fillRect/>
            </a:stretch>
          </a:blipFill>
        </p:spPr>
        <p:txBody>
          <a:bodyPr wrap="square" lIns="0" tIns="0" rIns="0" bIns="0" rtlCol="0"/>
          <a:lstStyle/>
          <a:p/>
        </p:txBody>
      </p:sp>
      <p:sp>
        <p:nvSpPr>
          <p:cNvPr id="30" name="object 30"/>
          <p:cNvSpPr/>
          <p:nvPr/>
        </p:nvSpPr>
        <p:spPr>
          <a:xfrm>
            <a:off x="9836911" y="3327654"/>
            <a:ext cx="266192" cy="199644"/>
          </a:xfrm>
          <a:prstGeom prst="rect">
            <a:avLst/>
          </a:prstGeom>
          <a:blipFill>
            <a:blip r:embed="rId4" cstate="print"/>
            <a:stretch>
              <a:fillRect/>
            </a:stretch>
          </a:blipFill>
        </p:spPr>
        <p:txBody>
          <a:bodyPr wrap="square" lIns="0" tIns="0" rIns="0" bIns="0" rtlCol="0"/>
          <a:lstStyle/>
          <a:p/>
        </p:txBody>
      </p:sp>
      <p:sp>
        <p:nvSpPr>
          <p:cNvPr id="31" name="object 31"/>
          <p:cNvSpPr/>
          <p:nvPr/>
        </p:nvSpPr>
        <p:spPr>
          <a:xfrm>
            <a:off x="6455665" y="3726942"/>
            <a:ext cx="266191" cy="199644"/>
          </a:xfrm>
          <a:prstGeom prst="rect">
            <a:avLst/>
          </a:prstGeom>
          <a:blipFill>
            <a:blip r:embed="rId7" cstate="print"/>
            <a:stretch>
              <a:fillRect/>
            </a:stretch>
          </a:blipFill>
        </p:spPr>
        <p:txBody>
          <a:bodyPr wrap="square" lIns="0" tIns="0" rIns="0" bIns="0" rtlCol="0"/>
          <a:lstStyle/>
          <a:p/>
        </p:txBody>
      </p:sp>
      <p:sp>
        <p:nvSpPr>
          <p:cNvPr id="32" name="object 32"/>
          <p:cNvSpPr/>
          <p:nvPr/>
        </p:nvSpPr>
        <p:spPr>
          <a:xfrm>
            <a:off x="5970017" y="3449573"/>
            <a:ext cx="266191" cy="199644"/>
          </a:xfrm>
          <a:prstGeom prst="rect">
            <a:avLst/>
          </a:prstGeom>
          <a:blipFill>
            <a:blip r:embed="rId8" cstate="print"/>
            <a:stretch>
              <a:fillRect/>
            </a:stretch>
          </a:blipFill>
        </p:spPr>
        <p:txBody>
          <a:bodyPr wrap="square" lIns="0" tIns="0" rIns="0" bIns="0" rtlCol="0"/>
          <a:lstStyle/>
          <a:p/>
        </p:txBody>
      </p:sp>
      <p:sp>
        <p:nvSpPr>
          <p:cNvPr id="33" name="object 33"/>
          <p:cNvSpPr/>
          <p:nvPr/>
        </p:nvSpPr>
        <p:spPr>
          <a:xfrm>
            <a:off x="6431281" y="3035045"/>
            <a:ext cx="266191" cy="199644"/>
          </a:xfrm>
          <a:prstGeom prst="rect">
            <a:avLst/>
          </a:prstGeom>
          <a:blipFill>
            <a:blip r:embed="rId8" cstate="print"/>
            <a:stretch>
              <a:fillRect/>
            </a:stretch>
          </a:blipFill>
        </p:spPr>
        <p:txBody>
          <a:bodyPr wrap="square" lIns="0" tIns="0" rIns="0" bIns="0" rtlCol="0"/>
          <a:lstStyle/>
          <a:p/>
        </p:txBody>
      </p:sp>
      <p:sp>
        <p:nvSpPr>
          <p:cNvPr id="34" name="object 34"/>
          <p:cNvSpPr/>
          <p:nvPr/>
        </p:nvSpPr>
        <p:spPr>
          <a:xfrm>
            <a:off x="7307071" y="3601973"/>
            <a:ext cx="266192" cy="199644"/>
          </a:xfrm>
          <a:prstGeom prst="rect">
            <a:avLst/>
          </a:prstGeom>
          <a:blipFill>
            <a:blip r:embed="rId8" cstate="print"/>
            <a:stretch>
              <a:fillRect/>
            </a:stretch>
          </a:blipFill>
        </p:spPr>
        <p:txBody>
          <a:bodyPr wrap="square" lIns="0" tIns="0" rIns="0" bIns="0" rtlCol="0"/>
          <a:lstStyle/>
          <a:p/>
        </p:txBody>
      </p:sp>
      <p:sp>
        <p:nvSpPr>
          <p:cNvPr id="35" name="object 35"/>
          <p:cNvSpPr/>
          <p:nvPr/>
        </p:nvSpPr>
        <p:spPr>
          <a:xfrm>
            <a:off x="7957314" y="3761994"/>
            <a:ext cx="266191" cy="199644"/>
          </a:xfrm>
          <a:prstGeom prst="rect">
            <a:avLst/>
          </a:prstGeom>
          <a:blipFill>
            <a:blip r:embed="rId8" cstate="print"/>
            <a:stretch>
              <a:fillRect/>
            </a:stretch>
          </a:blipFill>
        </p:spPr>
        <p:txBody>
          <a:bodyPr wrap="square" lIns="0" tIns="0" rIns="0" bIns="0" rtlCol="0"/>
          <a:lstStyle/>
          <a:p/>
        </p:txBody>
      </p:sp>
      <p:sp>
        <p:nvSpPr>
          <p:cNvPr id="36" name="object 36"/>
          <p:cNvSpPr/>
          <p:nvPr/>
        </p:nvSpPr>
        <p:spPr>
          <a:xfrm>
            <a:off x="8709154" y="2993898"/>
            <a:ext cx="266191" cy="199644"/>
          </a:xfrm>
          <a:prstGeom prst="rect">
            <a:avLst/>
          </a:prstGeom>
          <a:blipFill>
            <a:blip r:embed="rId9" cstate="print"/>
            <a:stretch>
              <a:fillRect/>
            </a:stretch>
          </a:blipFill>
        </p:spPr>
        <p:txBody>
          <a:bodyPr wrap="square" lIns="0" tIns="0" rIns="0" bIns="0" rtlCol="0"/>
          <a:lstStyle/>
          <a:p/>
        </p:txBody>
      </p:sp>
      <p:sp>
        <p:nvSpPr>
          <p:cNvPr id="37" name="object 37"/>
          <p:cNvSpPr/>
          <p:nvPr/>
        </p:nvSpPr>
        <p:spPr>
          <a:xfrm>
            <a:off x="7955281" y="4184141"/>
            <a:ext cx="266191" cy="199644"/>
          </a:xfrm>
          <a:prstGeom prst="rect">
            <a:avLst/>
          </a:prstGeom>
          <a:blipFill>
            <a:blip r:embed="rId7" cstate="print"/>
            <a:stretch>
              <a:fillRect/>
            </a:stretch>
          </a:blipFill>
        </p:spPr>
        <p:txBody>
          <a:bodyPr wrap="square" lIns="0" tIns="0" rIns="0" bIns="0" rtlCol="0"/>
          <a:lstStyle/>
          <a:p/>
        </p:txBody>
      </p:sp>
      <p:sp>
        <p:nvSpPr>
          <p:cNvPr id="38" name="object 38"/>
          <p:cNvSpPr/>
          <p:nvPr/>
        </p:nvSpPr>
        <p:spPr>
          <a:xfrm>
            <a:off x="7487920" y="4542282"/>
            <a:ext cx="266192" cy="199644"/>
          </a:xfrm>
          <a:prstGeom prst="rect">
            <a:avLst/>
          </a:prstGeom>
          <a:blipFill>
            <a:blip r:embed="rId8" cstate="print"/>
            <a:stretch>
              <a:fillRect/>
            </a:stretch>
          </a:blipFill>
        </p:spPr>
        <p:txBody>
          <a:bodyPr wrap="square" lIns="0" tIns="0" rIns="0" bIns="0" rtlCol="0"/>
          <a:lstStyle/>
          <a:p/>
        </p:txBody>
      </p:sp>
      <p:sp>
        <p:nvSpPr>
          <p:cNvPr id="39" name="object 39"/>
          <p:cNvSpPr/>
          <p:nvPr/>
        </p:nvSpPr>
        <p:spPr>
          <a:xfrm>
            <a:off x="8316978" y="4534661"/>
            <a:ext cx="268223" cy="199644"/>
          </a:xfrm>
          <a:prstGeom prst="rect">
            <a:avLst/>
          </a:prstGeom>
          <a:blipFill>
            <a:blip r:embed="rId10" cstate="print"/>
            <a:stretch>
              <a:fillRect/>
            </a:stretch>
          </a:blipFill>
        </p:spPr>
        <p:txBody>
          <a:bodyPr wrap="square" lIns="0" tIns="0" rIns="0" bIns="0" rtlCol="0"/>
          <a:lstStyle/>
          <a:p/>
        </p:txBody>
      </p:sp>
      <p:sp>
        <p:nvSpPr>
          <p:cNvPr id="40" name="object 40"/>
          <p:cNvSpPr/>
          <p:nvPr/>
        </p:nvSpPr>
        <p:spPr>
          <a:xfrm>
            <a:off x="6640578" y="4274058"/>
            <a:ext cx="266191" cy="199644"/>
          </a:xfrm>
          <a:prstGeom prst="rect">
            <a:avLst/>
          </a:prstGeom>
          <a:blipFill>
            <a:blip r:embed="rId8" cstate="print"/>
            <a:stretch>
              <a:fillRect/>
            </a:stretch>
          </a:blipFill>
        </p:spPr>
        <p:txBody>
          <a:bodyPr wrap="square" lIns="0" tIns="0" rIns="0" bIns="0" rtlCol="0"/>
          <a:lstStyle/>
          <a:p/>
        </p:txBody>
      </p:sp>
      <p:sp>
        <p:nvSpPr>
          <p:cNvPr id="41" name="object 41"/>
          <p:cNvSpPr/>
          <p:nvPr/>
        </p:nvSpPr>
        <p:spPr>
          <a:xfrm>
            <a:off x="6020817" y="4421885"/>
            <a:ext cx="266191" cy="199644"/>
          </a:xfrm>
          <a:prstGeom prst="rect">
            <a:avLst/>
          </a:prstGeom>
          <a:blipFill>
            <a:blip r:embed="rId8" cstate="print"/>
            <a:stretch>
              <a:fillRect/>
            </a:stretch>
          </a:blipFill>
        </p:spPr>
        <p:txBody>
          <a:bodyPr wrap="square" lIns="0" tIns="0" rIns="0" bIns="0" rtlCol="0"/>
          <a:lstStyle/>
          <a:p/>
        </p:txBody>
      </p:sp>
      <p:sp>
        <p:nvSpPr>
          <p:cNvPr id="42" name="object 42"/>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43" name="object 43"/>
          <p:cNvSpPr/>
          <p:nvPr/>
        </p:nvSpPr>
        <p:spPr>
          <a:xfrm>
            <a:off x="4793487" y="4293870"/>
            <a:ext cx="268224" cy="199644"/>
          </a:xfrm>
          <a:prstGeom prst="rect">
            <a:avLst/>
          </a:prstGeom>
          <a:blipFill>
            <a:blip r:embed="rId10" cstate="print"/>
            <a:stretch>
              <a:fillRect/>
            </a:stretch>
          </a:blipFill>
        </p:spPr>
        <p:txBody>
          <a:bodyPr wrap="square" lIns="0" tIns="0" rIns="0" bIns="0" rtlCol="0"/>
          <a:lstStyle/>
          <a:p/>
        </p:txBody>
      </p:sp>
      <p:sp>
        <p:nvSpPr>
          <p:cNvPr id="44" name="object 44"/>
          <p:cNvSpPr/>
          <p:nvPr/>
        </p:nvSpPr>
        <p:spPr>
          <a:xfrm>
            <a:off x="5573778" y="3833622"/>
            <a:ext cx="266191" cy="199644"/>
          </a:xfrm>
          <a:prstGeom prst="rect">
            <a:avLst/>
          </a:prstGeom>
          <a:blipFill>
            <a:blip r:embed="rId8" cstate="print"/>
            <a:stretch>
              <a:fillRect/>
            </a:stretch>
          </a:blipFill>
        </p:spPr>
        <p:txBody>
          <a:bodyPr wrap="square" lIns="0" tIns="0" rIns="0" bIns="0" rtlCol="0"/>
          <a:lstStyle/>
          <a:p/>
        </p:txBody>
      </p:sp>
      <p:sp>
        <p:nvSpPr>
          <p:cNvPr id="45" name="object 45"/>
          <p:cNvSpPr/>
          <p:nvPr/>
        </p:nvSpPr>
        <p:spPr>
          <a:xfrm>
            <a:off x="5262881" y="3446526"/>
            <a:ext cx="266191" cy="199644"/>
          </a:xfrm>
          <a:prstGeom prst="rect">
            <a:avLst/>
          </a:prstGeom>
          <a:blipFill>
            <a:blip r:embed="rId8" cstate="print"/>
            <a:stretch>
              <a:fillRect/>
            </a:stretch>
          </a:blipFill>
        </p:spPr>
        <p:txBody>
          <a:bodyPr wrap="square" lIns="0" tIns="0" rIns="0" bIns="0" rtlCol="0"/>
          <a:lstStyle/>
          <a:p/>
        </p:txBody>
      </p:sp>
      <p:sp>
        <p:nvSpPr>
          <p:cNvPr id="46" name="object 46"/>
          <p:cNvSpPr/>
          <p:nvPr/>
        </p:nvSpPr>
        <p:spPr>
          <a:xfrm>
            <a:off x="5693665" y="2775966"/>
            <a:ext cx="268223" cy="199644"/>
          </a:xfrm>
          <a:prstGeom prst="rect">
            <a:avLst/>
          </a:prstGeom>
          <a:blipFill>
            <a:blip r:embed="rId10" cstate="print"/>
            <a:stretch>
              <a:fillRect/>
            </a:stretch>
          </a:blipFill>
        </p:spPr>
        <p:txBody>
          <a:bodyPr wrap="square" lIns="0" tIns="0" rIns="0" bIns="0" rtlCol="0"/>
          <a:lstStyle/>
          <a:p/>
        </p:txBody>
      </p:sp>
      <p:sp>
        <p:nvSpPr>
          <p:cNvPr id="47" name="object 47"/>
          <p:cNvSpPr/>
          <p:nvPr/>
        </p:nvSpPr>
        <p:spPr>
          <a:xfrm>
            <a:off x="4661407" y="3242310"/>
            <a:ext cx="266192" cy="199644"/>
          </a:xfrm>
          <a:prstGeom prst="rect">
            <a:avLst/>
          </a:prstGeom>
          <a:blipFill>
            <a:blip r:embed="rId8" cstate="print"/>
            <a:stretch>
              <a:fillRect/>
            </a:stretch>
          </a:blipFill>
        </p:spPr>
        <p:txBody>
          <a:bodyPr wrap="square" lIns="0" tIns="0" rIns="0" bIns="0" rtlCol="0"/>
          <a:lstStyle/>
          <a:p/>
        </p:txBody>
      </p:sp>
      <p:sp>
        <p:nvSpPr>
          <p:cNvPr id="48" name="object 48"/>
          <p:cNvSpPr/>
          <p:nvPr/>
        </p:nvSpPr>
        <p:spPr>
          <a:xfrm>
            <a:off x="5128768" y="2394966"/>
            <a:ext cx="266192" cy="199644"/>
          </a:xfrm>
          <a:prstGeom prst="rect">
            <a:avLst/>
          </a:prstGeom>
          <a:blipFill>
            <a:blip r:embed="rId8" cstate="print"/>
            <a:stretch>
              <a:fillRect/>
            </a:stretch>
          </a:blipFill>
        </p:spPr>
        <p:txBody>
          <a:bodyPr wrap="square" lIns="0" tIns="0" rIns="0" bIns="0" rtlCol="0"/>
          <a:lstStyle/>
          <a:p/>
        </p:txBody>
      </p:sp>
      <p:sp>
        <p:nvSpPr>
          <p:cNvPr id="49" name="object 49"/>
          <p:cNvSpPr/>
          <p:nvPr/>
        </p:nvSpPr>
        <p:spPr>
          <a:xfrm>
            <a:off x="4775200" y="2775966"/>
            <a:ext cx="266192" cy="199644"/>
          </a:xfrm>
          <a:prstGeom prst="rect">
            <a:avLst/>
          </a:prstGeom>
          <a:blipFill>
            <a:blip r:embed="rId8" cstate="print"/>
            <a:stretch>
              <a:fillRect/>
            </a:stretch>
          </a:blipFill>
        </p:spPr>
        <p:txBody>
          <a:bodyPr wrap="square" lIns="0" tIns="0" rIns="0" bIns="0" rtlCol="0"/>
          <a:lstStyle/>
          <a:p/>
        </p:txBody>
      </p:sp>
      <p:sp>
        <p:nvSpPr>
          <p:cNvPr id="50" name="object 50"/>
          <p:cNvSpPr/>
          <p:nvPr/>
        </p:nvSpPr>
        <p:spPr>
          <a:xfrm>
            <a:off x="4712207" y="2120648"/>
            <a:ext cx="266192" cy="199643"/>
          </a:xfrm>
          <a:prstGeom prst="rect">
            <a:avLst/>
          </a:prstGeom>
          <a:blipFill>
            <a:blip r:embed="rId8" cstate="print"/>
            <a:stretch>
              <a:fillRect/>
            </a:stretch>
          </a:blipFill>
        </p:spPr>
        <p:txBody>
          <a:bodyPr wrap="square" lIns="0" tIns="0" rIns="0" bIns="0" rtlCol="0"/>
          <a:lstStyle/>
          <a:p/>
        </p:txBody>
      </p:sp>
      <p:sp>
        <p:nvSpPr>
          <p:cNvPr id="51" name="object 51"/>
          <p:cNvSpPr/>
          <p:nvPr/>
        </p:nvSpPr>
        <p:spPr>
          <a:xfrm>
            <a:off x="5262881" y="2993898"/>
            <a:ext cx="266191" cy="199644"/>
          </a:xfrm>
          <a:prstGeom prst="rect">
            <a:avLst/>
          </a:prstGeom>
          <a:blipFill>
            <a:blip r:embed="rId8" cstate="print"/>
            <a:stretch>
              <a:fillRect/>
            </a:stretch>
          </a:blipFill>
        </p:spPr>
        <p:txBody>
          <a:bodyPr wrap="square" lIns="0" tIns="0" rIns="0" bIns="0" rtlCol="0"/>
          <a:lstStyle/>
          <a:p/>
        </p:txBody>
      </p:sp>
      <p:sp>
        <p:nvSpPr>
          <p:cNvPr id="52" name="object 52"/>
          <p:cNvSpPr/>
          <p:nvPr/>
        </p:nvSpPr>
        <p:spPr>
          <a:xfrm>
            <a:off x="4748784" y="3761994"/>
            <a:ext cx="266192" cy="199644"/>
          </a:xfrm>
          <a:prstGeom prst="rect">
            <a:avLst/>
          </a:prstGeom>
          <a:blipFill>
            <a:blip r:embed="rId8" cstate="print"/>
            <a:stretch>
              <a:fillRect/>
            </a:stretch>
          </a:blipFill>
        </p:spPr>
        <p:txBody>
          <a:bodyPr wrap="square" lIns="0" tIns="0" rIns="0" bIns="0" rtlCol="0"/>
          <a:lstStyle/>
          <a:p/>
        </p:txBody>
      </p:sp>
      <p:sp>
        <p:nvSpPr>
          <p:cNvPr id="53" name="object 53"/>
          <p:cNvSpPr/>
          <p:nvPr/>
        </p:nvSpPr>
        <p:spPr>
          <a:xfrm>
            <a:off x="5161281" y="4016501"/>
            <a:ext cx="266191" cy="199644"/>
          </a:xfrm>
          <a:prstGeom prst="rect">
            <a:avLst/>
          </a:prstGeom>
          <a:blipFill>
            <a:blip r:embed="rId8" cstate="print"/>
            <a:stretch>
              <a:fillRect/>
            </a:stretch>
          </a:blipFill>
        </p:spPr>
        <p:txBody>
          <a:bodyPr wrap="square" lIns="0" tIns="0" rIns="0" bIns="0" rtlCol="0"/>
          <a:lstStyle/>
          <a:p/>
        </p:txBody>
      </p:sp>
      <p:sp>
        <p:nvSpPr>
          <p:cNvPr id="54" name="object 54"/>
          <p:cNvSpPr/>
          <p:nvPr/>
        </p:nvSpPr>
        <p:spPr>
          <a:xfrm>
            <a:off x="5573778" y="2366012"/>
            <a:ext cx="266191" cy="199643"/>
          </a:xfrm>
          <a:prstGeom prst="rect">
            <a:avLst/>
          </a:prstGeom>
          <a:blipFill>
            <a:blip r:embed="rId8" cstate="print"/>
            <a:stretch>
              <a:fillRect/>
            </a:stretch>
          </a:blipFill>
        </p:spPr>
        <p:txBody>
          <a:bodyPr wrap="square" lIns="0" tIns="0" rIns="0" bIns="0" rtlCol="0"/>
          <a:lstStyle/>
          <a:p/>
        </p:txBody>
      </p:sp>
      <p:sp>
        <p:nvSpPr>
          <p:cNvPr id="55" name="object 55"/>
          <p:cNvSpPr/>
          <p:nvPr/>
        </p:nvSpPr>
        <p:spPr>
          <a:xfrm>
            <a:off x="5669281" y="3158489"/>
            <a:ext cx="266191" cy="199644"/>
          </a:xfrm>
          <a:prstGeom prst="rect">
            <a:avLst/>
          </a:prstGeom>
          <a:blipFill>
            <a:blip r:embed="rId8" cstate="print"/>
            <a:stretch>
              <a:fillRect/>
            </a:stretch>
          </a:blipFill>
        </p:spPr>
        <p:txBody>
          <a:bodyPr wrap="square" lIns="0" tIns="0" rIns="0" bIns="0" rtlCol="0"/>
          <a:lstStyle/>
          <a:p/>
        </p:txBody>
      </p:sp>
      <p:sp>
        <p:nvSpPr>
          <p:cNvPr id="56" name="object 56"/>
          <p:cNvSpPr/>
          <p:nvPr/>
        </p:nvSpPr>
        <p:spPr>
          <a:xfrm>
            <a:off x="5970017" y="4007357"/>
            <a:ext cx="266191" cy="199644"/>
          </a:xfrm>
          <a:prstGeom prst="rect">
            <a:avLst/>
          </a:prstGeom>
          <a:blipFill>
            <a:blip r:embed="rId8" cstate="print"/>
            <a:stretch>
              <a:fillRect/>
            </a:stretch>
          </a:blipFill>
        </p:spPr>
        <p:txBody>
          <a:bodyPr wrap="square" lIns="0" tIns="0" rIns="0" bIns="0" rtlCol="0"/>
          <a:lstStyle/>
          <a:p/>
        </p:txBody>
      </p:sp>
      <p:sp>
        <p:nvSpPr>
          <p:cNvPr id="57" name="object 57"/>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58" name="object 58"/>
          <p:cNvSpPr/>
          <p:nvPr/>
        </p:nvSpPr>
        <p:spPr>
          <a:xfrm>
            <a:off x="6431281" y="3353561"/>
            <a:ext cx="266191" cy="199644"/>
          </a:xfrm>
          <a:prstGeom prst="rect">
            <a:avLst/>
          </a:prstGeom>
          <a:blipFill>
            <a:blip r:embed="rId8" cstate="print"/>
            <a:stretch>
              <a:fillRect/>
            </a:stretch>
          </a:blipFill>
        </p:spPr>
        <p:txBody>
          <a:bodyPr wrap="square" lIns="0" tIns="0" rIns="0" bIns="0" rtlCol="0"/>
          <a:lstStyle/>
          <a:p/>
        </p:txBody>
      </p:sp>
      <p:sp>
        <p:nvSpPr>
          <p:cNvPr id="59" name="object 59"/>
          <p:cNvSpPr/>
          <p:nvPr/>
        </p:nvSpPr>
        <p:spPr>
          <a:xfrm>
            <a:off x="6030978" y="3013710"/>
            <a:ext cx="266191" cy="199644"/>
          </a:xfrm>
          <a:prstGeom prst="rect">
            <a:avLst/>
          </a:prstGeom>
          <a:blipFill>
            <a:blip r:embed="rId8" cstate="print"/>
            <a:stretch>
              <a:fillRect/>
            </a:stretch>
          </a:blipFill>
        </p:spPr>
        <p:txBody>
          <a:bodyPr wrap="square" lIns="0" tIns="0" rIns="0" bIns="0" rtlCol="0"/>
          <a:lstStyle/>
          <a:p/>
        </p:txBody>
      </p:sp>
      <p:sp>
        <p:nvSpPr>
          <p:cNvPr id="60" name="object 60"/>
          <p:cNvSpPr/>
          <p:nvPr/>
        </p:nvSpPr>
        <p:spPr>
          <a:xfrm>
            <a:off x="8885936" y="4525517"/>
            <a:ext cx="266192" cy="201168"/>
          </a:xfrm>
          <a:prstGeom prst="rect">
            <a:avLst/>
          </a:prstGeom>
          <a:blipFill>
            <a:blip r:embed="rId11" cstate="print"/>
            <a:stretch>
              <a:fillRect/>
            </a:stretch>
          </a:blipFill>
        </p:spPr>
        <p:txBody>
          <a:bodyPr wrap="square" lIns="0" tIns="0" rIns="0" bIns="0" rtlCol="0"/>
          <a:lstStyle/>
          <a:p/>
        </p:txBody>
      </p:sp>
      <p:sp>
        <p:nvSpPr>
          <p:cNvPr id="61" name="object 61"/>
          <p:cNvSpPr/>
          <p:nvPr/>
        </p:nvSpPr>
        <p:spPr>
          <a:xfrm>
            <a:off x="8436863" y="4174997"/>
            <a:ext cx="266192" cy="199644"/>
          </a:xfrm>
          <a:prstGeom prst="rect">
            <a:avLst/>
          </a:prstGeom>
          <a:blipFill>
            <a:blip r:embed="rId8" cstate="print"/>
            <a:stretch>
              <a:fillRect/>
            </a:stretch>
          </a:blipFill>
        </p:spPr>
        <p:txBody>
          <a:bodyPr wrap="square" lIns="0" tIns="0" rIns="0" bIns="0" rtlCol="0"/>
          <a:lstStyle/>
          <a:p/>
        </p:txBody>
      </p:sp>
      <p:sp>
        <p:nvSpPr>
          <p:cNvPr id="62" name="object 62"/>
          <p:cNvSpPr/>
          <p:nvPr/>
        </p:nvSpPr>
        <p:spPr>
          <a:xfrm>
            <a:off x="9558527" y="4516373"/>
            <a:ext cx="266192" cy="199644"/>
          </a:xfrm>
          <a:prstGeom prst="rect">
            <a:avLst/>
          </a:prstGeom>
          <a:blipFill>
            <a:blip r:embed="rId8" cstate="print"/>
            <a:stretch>
              <a:fillRect/>
            </a:stretch>
          </a:blipFill>
        </p:spPr>
        <p:txBody>
          <a:bodyPr wrap="square" lIns="0" tIns="0" rIns="0" bIns="0" rtlCol="0"/>
          <a:lstStyle/>
          <a:p/>
        </p:txBody>
      </p:sp>
      <p:sp>
        <p:nvSpPr>
          <p:cNvPr id="63" name="object 63"/>
          <p:cNvSpPr/>
          <p:nvPr/>
        </p:nvSpPr>
        <p:spPr>
          <a:xfrm>
            <a:off x="2244345" y="3945508"/>
            <a:ext cx="4601633" cy="134620"/>
          </a:xfrm>
          <a:custGeom>
            <a:avLst/>
            <a:gdLst/>
            <a:ahLst/>
            <a:cxnLst/>
            <a:rect l="l" t="t" r="r" b="b"/>
            <a:pathLst>
              <a:path w="3451225" h="134619">
                <a:moveTo>
                  <a:pt x="3393567" y="67183"/>
                </a:moveTo>
                <a:lnTo>
                  <a:pt x="3321177" y="109347"/>
                </a:lnTo>
                <a:lnTo>
                  <a:pt x="3318891" y="118237"/>
                </a:lnTo>
                <a:lnTo>
                  <a:pt x="3322828" y="125095"/>
                </a:lnTo>
                <a:lnTo>
                  <a:pt x="3326892" y="132080"/>
                </a:lnTo>
                <a:lnTo>
                  <a:pt x="3335781" y="134366"/>
                </a:lnTo>
                <a:lnTo>
                  <a:pt x="3426122" y="81661"/>
                </a:lnTo>
                <a:lnTo>
                  <a:pt x="3422269" y="81661"/>
                </a:lnTo>
                <a:lnTo>
                  <a:pt x="3422269" y="79629"/>
                </a:lnTo>
                <a:lnTo>
                  <a:pt x="3414903" y="79629"/>
                </a:lnTo>
                <a:lnTo>
                  <a:pt x="3393567" y="67183"/>
                </a:lnTo>
                <a:close/>
              </a:path>
              <a:path w="3451225" h="134619">
                <a:moveTo>
                  <a:pt x="3368747" y="52705"/>
                </a:moveTo>
                <a:lnTo>
                  <a:pt x="0" y="52705"/>
                </a:lnTo>
                <a:lnTo>
                  <a:pt x="0" y="81661"/>
                </a:lnTo>
                <a:lnTo>
                  <a:pt x="3368747" y="81661"/>
                </a:lnTo>
                <a:lnTo>
                  <a:pt x="3393566" y="67183"/>
                </a:lnTo>
                <a:lnTo>
                  <a:pt x="3368747" y="52705"/>
                </a:lnTo>
                <a:close/>
              </a:path>
              <a:path w="3451225" h="134619">
                <a:moveTo>
                  <a:pt x="3426122" y="52705"/>
                </a:moveTo>
                <a:lnTo>
                  <a:pt x="3422269" y="52705"/>
                </a:lnTo>
                <a:lnTo>
                  <a:pt x="3422269" y="81661"/>
                </a:lnTo>
                <a:lnTo>
                  <a:pt x="3426122" y="81661"/>
                </a:lnTo>
                <a:lnTo>
                  <a:pt x="3450971" y="67183"/>
                </a:lnTo>
                <a:lnTo>
                  <a:pt x="3426122" y="52705"/>
                </a:lnTo>
                <a:close/>
              </a:path>
              <a:path w="3451225" h="134619">
                <a:moveTo>
                  <a:pt x="3414903" y="54737"/>
                </a:moveTo>
                <a:lnTo>
                  <a:pt x="3393567" y="67183"/>
                </a:lnTo>
                <a:lnTo>
                  <a:pt x="3414903" y="79629"/>
                </a:lnTo>
                <a:lnTo>
                  <a:pt x="3414903" y="54737"/>
                </a:lnTo>
                <a:close/>
              </a:path>
              <a:path w="3451225" h="134619">
                <a:moveTo>
                  <a:pt x="3422269" y="54737"/>
                </a:moveTo>
                <a:lnTo>
                  <a:pt x="3414903" y="54737"/>
                </a:lnTo>
                <a:lnTo>
                  <a:pt x="3414903" y="79629"/>
                </a:lnTo>
                <a:lnTo>
                  <a:pt x="3422269" y="79629"/>
                </a:lnTo>
                <a:lnTo>
                  <a:pt x="3422269" y="54737"/>
                </a:lnTo>
                <a:close/>
              </a:path>
              <a:path w="3451225" h="134619">
                <a:moveTo>
                  <a:pt x="3335781" y="0"/>
                </a:moveTo>
                <a:lnTo>
                  <a:pt x="3326892" y="2286"/>
                </a:lnTo>
                <a:lnTo>
                  <a:pt x="3322828" y="9271"/>
                </a:lnTo>
                <a:lnTo>
                  <a:pt x="3318891" y="16129"/>
                </a:lnTo>
                <a:lnTo>
                  <a:pt x="3321177" y="25018"/>
                </a:lnTo>
                <a:lnTo>
                  <a:pt x="3393567" y="67183"/>
                </a:lnTo>
                <a:lnTo>
                  <a:pt x="3414903" y="54737"/>
                </a:lnTo>
                <a:lnTo>
                  <a:pt x="3422269" y="54737"/>
                </a:lnTo>
                <a:lnTo>
                  <a:pt x="3422269" y="52705"/>
                </a:lnTo>
                <a:lnTo>
                  <a:pt x="3426122" y="52705"/>
                </a:lnTo>
                <a:lnTo>
                  <a:pt x="3335781" y="0"/>
                </a:lnTo>
                <a:close/>
              </a:path>
            </a:pathLst>
          </a:custGeom>
          <a:solidFill>
            <a:srgbClr val="C00000"/>
          </a:solidFill>
        </p:spPr>
        <p:txBody>
          <a:bodyPr wrap="square" lIns="0" tIns="0" rIns="0" bIns="0" rtlCol="0"/>
          <a:lstStyle/>
          <a:p/>
        </p:txBody>
      </p:sp>
      <p:sp>
        <p:nvSpPr>
          <p:cNvPr id="64" name="object 64"/>
          <p:cNvSpPr txBox="1"/>
          <p:nvPr/>
        </p:nvSpPr>
        <p:spPr>
          <a:xfrm>
            <a:off x="1080752" y="3819349"/>
            <a:ext cx="1049867" cy="320601"/>
          </a:xfrm>
          <a:prstGeom prst="rect">
            <a:avLst/>
          </a:prstGeom>
        </p:spPr>
        <p:txBody>
          <a:bodyPr vert="horz" wrap="square" lIns="0" tIns="12700" rIns="0" bIns="0" rtlCol="0">
            <a:spAutoFit/>
          </a:bodyPr>
          <a:lstStyle/>
          <a:p>
            <a:pPr marL="12700">
              <a:spcBef>
                <a:spcPts val="100"/>
              </a:spcBef>
            </a:pPr>
            <a:r>
              <a:rPr lang="zh-CN" altLang="en-US" sz="2000" b="1" spc="65" dirty="0">
                <a:solidFill>
                  <a:srgbClr val="C00000"/>
                </a:solidFill>
                <a:latin typeface="Trebuchet MS" panose="020B0603020202020204"/>
                <a:cs typeface="Trebuchet MS" panose="020B0603020202020204"/>
              </a:rPr>
              <a:t>预测</a:t>
            </a:r>
            <a:endParaRPr sz="2000" dirty="0">
              <a:latin typeface="Trebuchet MS" panose="020B0603020202020204"/>
              <a:cs typeface="Trebuchet MS" panose="020B0603020202020204"/>
            </a:endParaRPr>
          </a:p>
        </p:txBody>
      </p:sp>
      <p:sp>
        <p:nvSpPr>
          <p:cNvPr id="65" name="object 65"/>
          <p:cNvSpPr/>
          <p:nvPr/>
        </p:nvSpPr>
        <p:spPr>
          <a:xfrm>
            <a:off x="595377" y="3848863"/>
            <a:ext cx="288713" cy="268605"/>
          </a:xfrm>
          <a:custGeom>
            <a:avLst/>
            <a:gdLst/>
            <a:ahLst/>
            <a:cxnLst/>
            <a:rect l="l" t="t" r="r" b="b"/>
            <a:pathLst>
              <a:path w="216534" h="268604">
                <a:moveTo>
                  <a:pt x="108204" y="0"/>
                </a:moveTo>
                <a:lnTo>
                  <a:pt x="0" y="134112"/>
                </a:lnTo>
                <a:lnTo>
                  <a:pt x="108204" y="268224"/>
                </a:lnTo>
                <a:lnTo>
                  <a:pt x="216408" y="134112"/>
                </a:lnTo>
                <a:lnTo>
                  <a:pt x="108204" y="0"/>
                </a:lnTo>
                <a:close/>
              </a:path>
            </a:pathLst>
          </a:custGeom>
          <a:solidFill>
            <a:srgbClr val="FFC000"/>
          </a:solidFill>
        </p:spPr>
        <p:txBody>
          <a:bodyPr wrap="square" lIns="0" tIns="0" rIns="0" bIns="0" rtlCol="0"/>
          <a:lstStyle/>
          <a:p/>
        </p:txBody>
      </p:sp>
      <p:sp>
        <p:nvSpPr>
          <p:cNvPr id="66" name="object 66"/>
          <p:cNvSpPr/>
          <p:nvPr/>
        </p:nvSpPr>
        <p:spPr>
          <a:xfrm>
            <a:off x="595377" y="3848863"/>
            <a:ext cx="288713" cy="268605"/>
          </a:xfrm>
          <a:custGeom>
            <a:avLst/>
            <a:gdLst/>
            <a:ahLst/>
            <a:cxnLst/>
            <a:rect l="l" t="t" r="r" b="b"/>
            <a:pathLst>
              <a:path w="216534" h="268604">
                <a:moveTo>
                  <a:pt x="0" y="134112"/>
                </a:moveTo>
                <a:lnTo>
                  <a:pt x="108204" y="0"/>
                </a:lnTo>
                <a:lnTo>
                  <a:pt x="216408" y="134112"/>
                </a:lnTo>
                <a:lnTo>
                  <a:pt x="108204" y="268224"/>
                </a:lnTo>
                <a:lnTo>
                  <a:pt x="0" y="134112"/>
                </a:lnTo>
                <a:close/>
              </a:path>
            </a:pathLst>
          </a:custGeom>
          <a:ln w="12192">
            <a:solidFill>
              <a:srgbClr val="D0692F"/>
            </a:solidFill>
          </a:ln>
        </p:spPr>
        <p:txBody>
          <a:bodyPr wrap="square" lIns="0" tIns="0" rIns="0" bIns="0" rtlCol="0"/>
          <a:lstStyle/>
          <a:p/>
        </p:txBody>
      </p:sp>
      <p:sp>
        <p:nvSpPr>
          <p:cNvPr id="67" name="object 67"/>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68" name="object 68"/>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71" name="标题 70"/>
          <p:cNvSpPr>
            <a:spLocks noGrp="1"/>
          </p:cNvSpPr>
          <p:nvPr>
            <p:ph type="title"/>
          </p:nvPr>
        </p:nvSpPr>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6638546" y="4269485"/>
            <a:ext cx="266191" cy="199644"/>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6638546" y="4269487"/>
            <a:ext cx="266700" cy="200025"/>
          </a:xfrm>
          <a:custGeom>
            <a:avLst/>
            <a:gdLst/>
            <a:ahLst/>
            <a:cxnLst/>
            <a:rect l="l" t="t" r="r" b="b"/>
            <a:pathLst>
              <a:path w="200025" h="200025">
                <a:moveTo>
                  <a:pt x="0" y="99821"/>
                </a:moveTo>
                <a:lnTo>
                  <a:pt x="7846" y="60971"/>
                </a:lnTo>
                <a:lnTo>
                  <a:pt x="29241" y="29241"/>
                </a:lnTo>
                <a:lnTo>
                  <a:pt x="60971" y="7846"/>
                </a:lnTo>
                <a:lnTo>
                  <a:pt x="99821" y="0"/>
                </a:lnTo>
                <a:lnTo>
                  <a:pt x="138672" y="7846"/>
                </a:lnTo>
                <a:lnTo>
                  <a:pt x="170402" y="29241"/>
                </a:lnTo>
                <a:lnTo>
                  <a:pt x="191797" y="60971"/>
                </a:lnTo>
                <a:lnTo>
                  <a:pt x="199643" y="99821"/>
                </a:lnTo>
                <a:lnTo>
                  <a:pt x="191797" y="138672"/>
                </a:lnTo>
                <a:lnTo>
                  <a:pt x="170402" y="170402"/>
                </a:lnTo>
                <a:lnTo>
                  <a:pt x="138672" y="191797"/>
                </a:lnTo>
                <a:lnTo>
                  <a:pt x="99821"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8" name="object 8"/>
          <p:cNvSpPr/>
          <p:nvPr/>
        </p:nvSpPr>
        <p:spPr>
          <a:xfrm>
            <a:off x="7134352" y="4011929"/>
            <a:ext cx="266192" cy="199644"/>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7134354" y="4011931"/>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4"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10" name="object 10"/>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11" name="object 11"/>
          <p:cNvSpPr txBox="1"/>
          <p:nvPr/>
        </p:nvSpPr>
        <p:spPr>
          <a:xfrm>
            <a:off x="4060952"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12" name="object 12"/>
          <p:cNvSpPr txBox="1"/>
          <p:nvPr/>
        </p:nvSpPr>
        <p:spPr>
          <a:xfrm>
            <a:off x="3308266" y="2950720"/>
            <a:ext cx="1050713" cy="493395"/>
          </a:xfrm>
          <a:prstGeom prst="rect">
            <a:avLst/>
          </a:prstGeom>
        </p:spPr>
        <p:txBody>
          <a:bodyPr vert="horz" wrap="square" lIns="0" tIns="12700" rIns="0" bIns="0" rtlCol="0">
            <a:spAutoFit/>
          </a:bodyPr>
          <a:lstStyle/>
          <a:p>
            <a:pPr marR="5080" algn="r">
              <a:spcBef>
                <a:spcPts val="100"/>
              </a:spcBef>
            </a:pPr>
            <a:r>
              <a:rPr sz="1400" spc="-5" dirty="0">
                <a:solidFill>
                  <a:srgbClr val="344B5E"/>
                </a:solidFill>
                <a:latin typeface="Arial" panose="020B0604020202020204"/>
                <a:cs typeface="Arial" panose="020B0604020202020204"/>
              </a:rPr>
              <a:t>40</a:t>
            </a:r>
            <a:endParaRPr sz="140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a:latin typeface="Arial" panose="020B0604020202020204"/>
              <a:cs typeface="Arial" panose="020B0604020202020204"/>
            </a:endParaRPr>
          </a:p>
        </p:txBody>
      </p:sp>
      <p:sp>
        <p:nvSpPr>
          <p:cNvPr id="13" name="object 13"/>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14" name="object 14"/>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a:latin typeface="Trebuchet MS" panose="020B0603020202020204"/>
              <a:cs typeface="Trebuchet MS" panose="020B0603020202020204"/>
            </a:endParaRPr>
          </a:p>
        </p:txBody>
      </p:sp>
      <p:sp>
        <p:nvSpPr>
          <p:cNvPr id="15" name="object 15"/>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6" name="object 16"/>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7" name="object 17"/>
          <p:cNvSpPr/>
          <p:nvPr/>
        </p:nvSpPr>
        <p:spPr>
          <a:xfrm>
            <a:off x="7134352" y="4011929"/>
            <a:ext cx="266192" cy="199644"/>
          </a:xfrm>
          <a:prstGeom prst="rect">
            <a:avLst/>
          </a:prstGeom>
          <a:blipFill>
            <a:blip r:embed="rId2" cstate="print"/>
            <a:stretch>
              <a:fillRect/>
            </a:stretch>
          </a:blipFill>
        </p:spPr>
        <p:txBody>
          <a:bodyPr wrap="square" lIns="0" tIns="0" rIns="0" bIns="0" rtlCol="0"/>
          <a:lstStyle/>
          <a:p/>
        </p:txBody>
      </p:sp>
      <p:sp>
        <p:nvSpPr>
          <p:cNvPr id="18" name="object 18"/>
          <p:cNvSpPr/>
          <p:nvPr/>
        </p:nvSpPr>
        <p:spPr>
          <a:xfrm>
            <a:off x="8282433" y="3443477"/>
            <a:ext cx="266191" cy="199644"/>
          </a:xfrm>
          <a:prstGeom prst="rect">
            <a:avLst/>
          </a:prstGeom>
          <a:blipFill>
            <a:blip r:embed="rId1" cstate="print"/>
            <a:stretch>
              <a:fillRect/>
            </a:stretch>
          </a:blipFill>
        </p:spPr>
        <p:txBody>
          <a:bodyPr wrap="square" lIns="0" tIns="0" rIns="0" bIns="0" rtlCol="0"/>
          <a:lstStyle/>
          <a:p/>
        </p:txBody>
      </p:sp>
      <p:sp>
        <p:nvSpPr>
          <p:cNvPr id="19" name="object 19"/>
          <p:cNvSpPr/>
          <p:nvPr/>
        </p:nvSpPr>
        <p:spPr>
          <a:xfrm>
            <a:off x="7325362" y="3160014"/>
            <a:ext cx="266191" cy="199644"/>
          </a:xfrm>
          <a:prstGeom prst="rect">
            <a:avLst/>
          </a:prstGeom>
          <a:blipFill>
            <a:blip r:embed="rId3" cstate="print"/>
            <a:stretch>
              <a:fillRect/>
            </a:stretch>
          </a:blipFill>
        </p:spPr>
        <p:txBody>
          <a:bodyPr wrap="square" lIns="0" tIns="0" rIns="0" bIns="0" rtlCol="0"/>
          <a:lstStyle/>
          <a:p/>
        </p:txBody>
      </p:sp>
      <p:sp>
        <p:nvSpPr>
          <p:cNvPr id="20" name="object 20"/>
          <p:cNvSpPr/>
          <p:nvPr/>
        </p:nvSpPr>
        <p:spPr>
          <a:xfrm>
            <a:off x="7183120" y="2800350"/>
            <a:ext cx="268224" cy="199644"/>
          </a:xfrm>
          <a:prstGeom prst="rect">
            <a:avLst/>
          </a:prstGeom>
          <a:blipFill>
            <a:blip r:embed="rId4" cstate="print"/>
            <a:stretch>
              <a:fillRect/>
            </a:stretch>
          </a:blipFill>
        </p:spPr>
        <p:txBody>
          <a:bodyPr wrap="square" lIns="0" tIns="0" rIns="0" bIns="0" rtlCol="0"/>
          <a:lstStyle/>
          <a:p/>
        </p:txBody>
      </p:sp>
      <p:sp>
        <p:nvSpPr>
          <p:cNvPr id="21" name="object 21"/>
          <p:cNvSpPr/>
          <p:nvPr/>
        </p:nvSpPr>
        <p:spPr>
          <a:xfrm>
            <a:off x="6908802" y="2405635"/>
            <a:ext cx="268223" cy="199643"/>
          </a:xfrm>
          <a:prstGeom prst="rect">
            <a:avLst/>
          </a:prstGeom>
          <a:blipFill>
            <a:blip r:embed="rId4" cstate="print"/>
            <a:stretch>
              <a:fillRect/>
            </a:stretch>
          </a:blipFill>
        </p:spPr>
        <p:txBody>
          <a:bodyPr wrap="square" lIns="0" tIns="0" rIns="0" bIns="0" rtlCol="0"/>
          <a:lstStyle/>
          <a:p/>
        </p:txBody>
      </p:sp>
      <p:sp>
        <p:nvSpPr>
          <p:cNvPr id="22" name="object 22"/>
          <p:cNvSpPr/>
          <p:nvPr/>
        </p:nvSpPr>
        <p:spPr>
          <a:xfrm>
            <a:off x="7636255" y="2036825"/>
            <a:ext cx="266192" cy="199644"/>
          </a:xfrm>
          <a:prstGeom prst="rect">
            <a:avLst/>
          </a:prstGeom>
          <a:blipFill>
            <a:blip r:embed="rId2" cstate="print"/>
            <a:stretch>
              <a:fillRect/>
            </a:stretch>
          </a:blipFill>
        </p:spPr>
        <p:txBody>
          <a:bodyPr wrap="square" lIns="0" tIns="0" rIns="0" bIns="0" rtlCol="0"/>
          <a:lstStyle/>
          <a:p/>
        </p:txBody>
      </p:sp>
      <p:sp>
        <p:nvSpPr>
          <p:cNvPr id="23" name="object 23"/>
          <p:cNvSpPr/>
          <p:nvPr/>
        </p:nvSpPr>
        <p:spPr>
          <a:xfrm>
            <a:off x="8044687" y="2315717"/>
            <a:ext cx="266192" cy="199644"/>
          </a:xfrm>
          <a:prstGeom prst="rect">
            <a:avLst/>
          </a:prstGeom>
          <a:blipFill>
            <a:blip r:embed="rId1" cstate="print"/>
            <a:stretch>
              <a:fillRect/>
            </a:stretch>
          </a:blipFill>
        </p:spPr>
        <p:txBody>
          <a:bodyPr wrap="square" lIns="0" tIns="0" rIns="0" bIns="0" rtlCol="0"/>
          <a:lstStyle/>
          <a:p/>
        </p:txBody>
      </p:sp>
      <p:sp>
        <p:nvSpPr>
          <p:cNvPr id="24" name="object 24"/>
          <p:cNvSpPr/>
          <p:nvPr/>
        </p:nvSpPr>
        <p:spPr>
          <a:xfrm>
            <a:off x="8272271" y="2797301"/>
            <a:ext cx="266192" cy="199644"/>
          </a:xfrm>
          <a:prstGeom prst="rect">
            <a:avLst/>
          </a:prstGeom>
          <a:blipFill>
            <a:blip r:embed="rId1" cstate="print"/>
            <a:stretch>
              <a:fillRect/>
            </a:stretch>
          </a:blipFill>
        </p:spPr>
        <p:txBody>
          <a:bodyPr wrap="square" lIns="0" tIns="0" rIns="0" bIns="0" rtlCol="0"/>
          <a:lstStyle/>
          <a:p/>
        </p:txBody>
      </p:sp>
      <p:sp>
        <p:nvSpPr>
          <p:cNvPr id="25" name="object 25"/>
          <p:cNvSpPr/>
          <p:nvPr/>
        </p:nvSpPr>
        <p:spPr>
          <a:xfrm>
            <a:off x="7829297" y="2908554"/>
            <a:ext cx="266191" cy="199644"/>
          </a:xfrm>
          <a:prstGeom prst="rect">
            <a:avLst/>
          </a:prstGeom>
          <a:blipFill>
            <a:blip r:embed="rId1" cstate="print"/>
            <a:stretch>
              <a:fillRect/>
            </a:stretch>
          </a:blipFill>
        </p:spPr>
        <p:txBody>
          <a:bodyPr wrap="square" lIns="0" tIns="0" rIns="0" bIns="0" rtlCol="0"/>
          <a:lstStyle/>
          <a:p/>
        </p:txBody>
      </p:sp>
      <p:sp>
        <p:nvSpPr>
          <p:cNvPr id="26" name="object 26"/>
          <p:cNvSpPr/>
          <p:nvPr/>
        </p:nvSpPr>
        <p:spPr>
          <a:xfrm>
            <a:off x="8764015" y="2516887"/>
            <a:ext cx="266192" cy="199643"/>
          </a:xfrm>
          <a:prstGeom prst="rect">
            <a:avLst/>
          </a:prstGeom>
          <a:blipFill>
            <a:blip r:embed="rId1" cstate="print"/>
            <a:stretch>
              <a:fillRect/>
            </a:stretch>
          </a:blipFill>
        </p:spPr>
        <p:txBody>
          <a:bodyPr wrap="square" lIns="0" tIns="0" rIns="0" bIns="0" rtlCol="0"/>
          <a:lstStyle/>
          <a:p/>
        </p:txBody>
      </p:sp>
      <p:sp>
        <p:nvSpPr>
          <p:cNvPr id="27" name="object 27"/>
          <p:cNvSpPr/>
          <p:nvPr/>
        </p:nvSpPr>
        <p:spPr>
          <a:xfrm>
            <a:off x="8359649" y="1907288"/>
            <a:ext cx="266191" cy="199643"/>
          </a:xfrm>
          <a:prstGeom prst="rect">
            <a:avLst/>
          </a:prstGeom>
          <a:blipFill>
            <a:blip r:embed="rId1" cstate="print"/>
            <a:stretch>
              <a:fillRect/>
            </a:stretch>
          </a:blipFill>
        </p:spPr>
        <p:txBody>
          <a:bodyPr wrap="square" lIns="0" tIns="0" rIns="0" bIns="0" rtlCol="0"/>
          <a:lstStyle/>
          <a:p/>
        </p:txBody>
      </p:sp>
      <p:sp>
        <p:nvSpPr>
          <p:cNvPr id="28" name="object 28"/>
          <p:cNvSpPr/>
          <p:nvPr/>
        </p:nvSpPr>
        <p:spPr>
          <a:xfrm>
            <a:off x="9097263" y="2114550"/>
            <a:ext cx="266192" cy="199644"/>
          </a:xfrm>
          <a:prstGeom prst="rect">
            <a:avLst/>
          </a:prstGeom>
          <a:blipFill>
            <a:blip r:embed="rId1" cstate="print"/>
            <a:stretch>
              <a:fillRect/>
            </a:stretch>
          </a:blipFill>
        </p:spPr>
        <p:txBody>
          <a:bodyPr wrap="square" lIns="0" tIns="0" rIns="0" bIns="0" rtlCol="0"/>
          <a:lstStyle/>
          <a:p/>
        </p:txBody>
      </p:sp>
      <p:sp>
        <p:nvSpPr>
          <p:cNvPr id="29" name="object 29"/>
          <p:cNvSpPr/>
          <p:nvPr/>
        </p:nvSpPr>
        <p:spPr>
          <a:xfrm>
            <a:off x="10170159" y="2320289"/>
            <a:ext cx="266192" cy="199644"/>
          </a:xfrm>
          <a:prstGeom prst="rect">
            <a:avLst/>
          </a:prstGeom>
          <a:blipFill>
            <a:blip r:embed="rId1" cstate="print"/>
            <a:stretch>
              <a:fillRect/>
            </a:stretch>
          </a:blipFill>
        </p:spPr>
        <p:txBody>
          <a:bodyPr wrap="square" lIns="0" tIns="0" rIns="0" bIns="0" rtlCol="0"/>
          <a:lstStyle/>
          <a:p/>
        </p:txBody>
      </p:sp>
      <p:sp>
        <p:nvSpPr>
          <p:cNvPr id="30" name="object 30"/>
          <p:cNvSpPr/>
          <p:nvPr/>
        </p:nvSpPr>
        <p:spPr>
          <a:xfrm>
            <a:off x="9662159" y="2783585"/>
            <a:ext cx="266192" cy="199644"/>
          </a:xfrm>
          <a:prstGeom prst="rect">
            <a:avLst/>
          </a:prstGeom>
          <a:blipFill>
            <a:blip r:embed="rId1" cstate="print"/>
            <a:stretch>
              <a:fillRect/>
            </a:stretch>
          </a:blipFill>
        </p:spPr>
        <p:txBody>
          <a:bodyPr wrap="square" lIns="0" tIns="0" rIns="0" bIns="0" rtlCol="0"/>
          <a:lstStyle/>
          <a:p/>
        </p:txBody>
      </p:sp>
      <p:sp>
        <p:nvSpPr>
          <p:cNvPr id="31" name="object 31"/>
          <p:cNvSpPr/>
          <p:nvPr/>
        </p:nvSpPr>
        <p:spPr>
          <a:xfrm>
            <a:off x="9204959" y="3160014"/>
            <a:ext cx="266192" cy="199644"/>
          </a:xfrm>
          <a:prstGeom prst="rect">
            <a:avLst/>
          </a:prstGeom>
          <a:blipFill>
            <a:blip r:embed="rId3" cstate="print"/>
            <a:stretch>
              <a:fillRect/>
            </a:stretch>
          </a:blipFill>
        </p:spPr>
        <p:txBody>
          <a:bodyPr wrap="square" lIns="0" tIns="0" rIns="0" bIns="0" rtlCol="0"/>
          <a:lstStyle/>
          <a:p/>
        </p:txBody>
      </p:sp>
      <p:sp>
        <p:nvSpPr>
          <p:cNvPr id="32" name="object 32"/>
          <p:cNvSpPr/>
          <p:nvPr/>
        </p:nvSpPr>
        <p:spPr>
          <a:xfrm>
            <a:off x="9836911" y="3327654"/>
            <a:ext cx="266192" cy="199644"/>
          </a:xfrm>
          <a:prstGeom prst="rect">
            <a:avLst/>
          </a:prstGeom>
          <a:blipFill>
            <a:blip r:embed="rId1" cstate="print"/>
            <a:stretch>
              <a:fillRect/>
            </a:stretch>
          </a:blipFill>
        </p:spPr>
        <p:txBody>
          <a:bodyPr wrap="square" lIns="0" tIns="0" rIns="0" bIns="0" rtlCol="0"/>
          <a:lstStyle/>
          <a:p/>
        </p:txBody>
      </p:sp>
      <p:sp>
        <p:nvSpPr>
          <p:cNvPr id="33" name="object 33"/>
          <p:cNvSpPr/>
          <p:nvPr/>
        </p:nvSpPr>
        <p:spPr>
          <a:xfrm>
            <a:off x="6455665" y="3726942"/>
            <a:ext cx="266191" cy="199644"/>
          </a:xfrm>
          <a:prstGeom prst="rect">
            <a:avLst/>
          </a:prstGeom>
          <a:blipFill>
            <a:blip r:embed="rId5" cstate="print"/>
            <a:stretch>
              <a:fillRect/>
            </a:stretch>
          </a:blipFill>
        </p:spPr>
        <p:txBody>
          <a:bodyPr wrap="square" lIns="0" tIns="0" rIns="0" bIns="0" rtlCol="0"/>
          <a:lstStyle/>
          <a:p/>
        </p:txBody>
      </p:sp>
      <p:sp>
        <p:nvSpPr>
          <p:cNvPr id="34" name="object 34"/>
          <p:cNvSpPr/>
          <p:nvPr/>
        </p:nvSpPr>
        <p:spPr>
          <a:xfrm>
            <a:off x="5970017" y="3449573"/>
            <a:ext cx="266191" cy="199644"/>
          </a:xfrm>
          <a:prstGeom prst="rect">
            <a:avLst/>
          </a:prstGeom>
          <a:blipFill>
            <a:blip r:embed="rId6" cstate="print"/>
            <a:stretch>
              <a:fillRect/>
            </a:stretch>
          </a:blipFill>
        </p:spPr>
        <p:txBody>
          <a:bodyPr wrap="square" lIns="0" tIns="0" rIns="0" bIns="0" rtlCol="0"/>
          <a:lstStyle/>
          <a:p/>
        </p:txBody>
      </p:sp>
      <p:sp>
        <p:nvSpPr>
          <p:cNvPr id="35" name="object 35"/>
          <p:cNvSpPr/>
          <p:nvPr/>
        </p:nvSpPr>
        <p:spPr>
          <a:xfrm>
            <a:off x="6431281" y="3035045"/>
            <a:ext cx="266191" cy="199644"/>
          </a:xfrm>
          <a:prstGeom prst="rect">
            <a:avLst/>
          </a:prstGeom>
          <a:blipFill>
            <a:blip r:embed="rId6" cstate="print"/>
            <a:stretch>
              <a:fillRect/>
            </a:stretch>
          </a:blipFill>
        </p:spPr>
        <p:txBody>
          <a:bodyPr wrap="square" lIns="0" tIns="0" rIns="0" bIns="0" rtlCol="0"/>
          <a:lstStyle/>
          <a:p/>
        </p:txBody>
      </p:sp>
      <p:sp>
        <p:nvSpPr>
          <p:cNvPr id="36" name="object 36"/>
          <p:cNvSpPr/>
          <p:nvPr/>
        </p:nvSpPr>
        <p:spPr>
          <a:xfrm>
            <a:off x="7307071" y="3601973"/>
            <a:ext cx="266192" cy="199644"/>
          </a:xfrm>
          <a:prstGeom prst="rect">
            <a:avLst/>
          </a:prstGeom>
          <a:blipFill>
            <a:blip r:embed="rId6" cstate="print"/>
            <a:stretch>
              <a:fillRect/>
            </a:stretch>
          </a:blipFill>
        </p:spPr>
        <p:txBody>
          <a:bodyPr wrap="square" lIns="0" tIns="0" rIns="0" bIns="0" rtlCol="0"/>
          <a:lstStyle/>
          <a:p/>
        </p:txBody>
      </p:sp>
      <p:sp>
        <p:nvSpPr>
          <p:cNvPr id="37" name="object 37"/>
          <p:cNvSpPr/>
          <p:nvPr/>
        </p:nvSpPr>
        <p:spPr>
          <a:xfrm>
            <a:off x="7957314" y="3761994"/>
            <a:ext cx="266191" cy="199644"/>
          </a:xfrm>
          <a:prstGeom prst="rect">
            <a:avLst/>
          </a:prstGeom>
          <a:blipFill>
            <a:blip r:embed="rId6" cstate="print"/>
            <a:stretch>
              <a:fillRect/>
            </a:stretch>
          </a:blipFill>
        </p:spPr>
        <p:txBody>
          <a:bodyPr wrap="square" lIns="0" tIns="0" rIns="0" bIns="0" rtlCol="0"/>
          <a:lstStyle/>
          <a:p/>
        </p:txBody>
      </p:sp>
      <p:sp>
        <p:nvSpPr>
          <p:cNvPr id="38" name="object 38"/>
          <p:cNvSpPr/>
          <p:nvPr/>
        </p:nvSpPr>
        <p:spPr>
          <a:xfrm>
            <a:off x="8709154" y="2993898"/>
            <a:ext cx="266191" cy="199644"/>
          </a:xfrm>
          <a:prstGeom prst="rect">
            <a:avLst/>
          </a:prstGeom>
          <a:blipFill>
            <a:blip r:embed="rId7" cstate="print"/>
            <a:stretch>
              <a:fillRect/>
            </a:stretch>
          </a:blipFill>
        </p:spPr>
        <p:txBody>
          <a:bodyPr wrap="square" lIns="0" tIns="0" rIns="0" bIns="0" rtlCol="0"/>
          <a:lstStyle/>
          <a:p/>
        </p:txBody>
      </p:sp>
      <p:sp>
        <p:nvSpPr>
          <p:cNvPr id="39" name="object 39"/>
          <p:cNvSpPr/>
          <p:nvPr/>
        </p:nvSpPr>
        <p:spPr>
          <a:xfrm>
            <a:off x="7955281" y="4184141"/>
            <a:ext cx="266191" cy="199644"/>
          </a:xfrm>
          <a:prstGeom prst="rect">
            <a:avLst/>
          </a:prstGeom>
          <a:blipFill>
            <a:blip r:embed="rId5" cstate="print"/>
            <a:stretch>
              <a:fillRect/>
            </a:stretch>
          </a:blipFill>
        </p:spPr>
        <p:txBody>
          <a:bodyPr wrap="square" lIns="0" tIns="0" rIns="0" bIns="0" rtlCol="0"/>
          <a:lstStyle/>
          <a:p/>
        </p:txBody>
      </p:sp>
      <p:sp>
        <p:nvSpPr>
          <p:cNvPr id="40" name="object 40"/>
          <p:cNvSpPr/>
          <p:nvPr/>
        </p:nvSpPr>
        <p:spPr>
          <a:xfrm>
            <a:off x="7487920" y="4542282"/>
            <a:ext cx="266192" cy="199644"/>
          </a:xfrm>
          <a:prstGeom prst="rect">
            <a:avLst/>
          </a:prstGeom>
          <a:blipFill>
            <a:blip r:embed="rId6" cstate="print"/>
            <a:stretch>
              <a:fillRect/>
            </a:stretch>
          </a:blipFill>
        </p:spPr>
        <p:txBody>
          <a:bodyPr wrap="square" lIns="0" tIns="0" rIns="0" bIns="0" rtlCol="0"/>
          <a:lstStyle/>
          <a:p/>
        </p:txBody>
      </p:sp>
      <p:sp>
        <p:nvSpPr>
          <p:cNvPr id="41" name="object 41"/>
          <p:cNvSpPr/>
          <p:nvPr/>
        </p:nvSpPr>
        <p:spPr>
          <a:xfrm>
            <a:off x="8316978" y="4534661"/>
            <a:ext cx="268223" cy="199644"/>
          </a:xfrm>
          <a:prstGeom prst="rect">
            <a:avLst/>
          </a:prstGeom>
          <a:blipFill>
            <a:blip r:embed="rId8" cstate="print"/>
            <a:stretch>
              <a:fillRect/>
            </a:stretch>
          </a:blipFill>
        </p:spPr>
        <p:txBody>
          <a:bodyPr wrap="square" lIns="0" tIns="0" rIns="0" bIns="0" rtlCol="0"/>
          <a:lstStyle/>
          <a:p/>
        </p:txBody>
      </p:sp>
      <p:sp>
        <p:nvSpPr>
          <p:cNvPr id="42" name="object 42"/>
          <p:cNvSpPr/>
          <p:nvPr/>
        </p:nvSpPr>
        <p:spPr>
          <a:xfrm>
            <a:off x="6640578" y="4274058"/>
            <a:ext cx="266191" cy="199644"/>
          </a:xfrm>
          <a:prstGeom prst="rect">
            <a:avLst/>
          </a:prstGeom>
          <a:blipFill>
            <a:blip r:embed="rId6" cstate="print"/>
            <a:stretch>
              <a:fillRect/>
            </a:stretch>
          </a:blipFill>
        </p:spPr>
        <p:txBody>
          <a:bodyPr wrap="square" lIns="0" tIns="0" rIns="0" bIns="0" rtlCol="0"/>
          <a:lstStyle/>
          <a:p/>
        </p:txBody>
      </p:sp>
      <p:sp>
        <p:nvSpPr>
          <p:cNvPr id="43" name="object 43"/>
          <p:cNvSpPr/>
          <p:nvPr/>
        </p:nvSpPr>
        <p:spPr>
          <a:xfrm>
            <a:off x="6020817" y="4421885"/>
            <a:ext cx="266191" cy="199644"/>
          </a:xfrm>
          <a:prstGeom prst="rect">
            <a:avLst/>
          </a:prstGeom>
          <a:blipFill>
            <a:blip r:embed="rId6" cstate="print"/>
            <a:stretch>
              <a:fillRect/>
            </a:stretch>
          </a:blipFill>
        </p:spPr>
        <p:txBody>
          <a:bodyPr wrap="square" lIns="0" tIns="0" rIns="0" bIns="0" rtlCol="0"/>
          <a:lstStyle/>
          <a:p/>
        </p:txBody>
      </p:sp>
      <p:sp>
        <p:nvSpPr>
          <p:cNvPr id="44" name="object 44"/>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45" name="object 45"/>
          <p:cNvSpPr/>
          <p:nvPr/>
        </p:nvSpPr>
        <p:spPr>
          <a:xfrm>
            <a:off x="4793487" y="4293870"/>
            <a:ext cx="268224" cy="199644"/>
          </a:xfrm>
          <a:prstGeom prst="rect">
            <a:avLst/>
          </a:prstGeom>
          <a:blipFill>
            <a:blip r:embed="rId8" cstate="print"/>
            <a:stretch>
              <a:fillRect/>
            </a:stretch>
          </a:blipFill>
        </p:spPr>
        <p:txBody>
          <a:bodyPr wrap="square" lIns="0" tIns="0" rIns="0" bIns="0" rtlCol="0"/>
          <a:lstStyle/>
          <a:p/>
        </p:txBody>
      </p:sp>
      <p:sp>
        <p:nvSpPr>
          <p:cNvPr id="46" name="object 46"/>
          <p:cNvSpPr/>
          <p:nvPr/>
        </p:nvSpPr>
        <p:spPr>
          <a:xfrm>
            <a:off x="5573778" y="3833622"/>
            <a:ext cx="266191" cy="199644"/>
          </a:xfrm>
          <a:prstGeom prst="rect">
            <a:avLst/>
          </a:prstGeom>
          <a:blipFill>
            <a:blip r:embed="rId6" cstate="print"/>
            <a:stretch>
              <a:fillRect/>
            </a:stretch>
          </a:blipFill>
        </p:spPr>
        <p:txBody>
          <a:bodyPr wrap="square" lIns="0" tIns="0" rIns="0" bIns="0" rtlCol="0"/>
          <a:lstStyle/>
          <a:p/>
        </p:txBody>
      </p:sp>
      <p:sp>
        <p:nvSpPr>
          <p:cNvPr id="47" name="object 47"/>
          <p:cNvSpPr/>
          <p:nvPr/>
        </p:nvSpPr>
        <p:spPr>
          <a:xfrm>
            <a:off x="5262881" y="3446526"/>
            <a:ext cx="266191" cy="199644"/>
          </a:xfrm>
          <a:prstGeom prst="rect">
            <a:avLst/>
          </a:prstGeom>
          <a:blipFill>
            <a:blip r:embed="rId6" cstate="print"/>
            <a:stretch>
              <a:fillRect/>
            </a:stretch>
          </a:blipFill>
        </p:spPr>
        <p:txBody>
          <a:bodyPr wrap="square" lIns="0" tIns="0" rIns="0" bIns="0" rtlCol="0"/>
          <a:lstStyle/>
          <a:p/>
        </p:txBody>
      </p:sp>
      <p:sp>
        <p:nvSpPr>
          <p:cNvPr id="48" name="object 48"/>
          <p:cNvSpPr/>
          <p:nvPr/>
        </p:nvSpPr>
        <p:spPr>
          <a:xfrm>
            <a:off x="5693665" y="2775966"/>
            <a:ext cx="268223" cy="199644"/>
          </a:xfrm>
          <a:prstGeom prst="rect">
            <a:avLst/>
          </a:prstGeom>
          <a:blipFill>
            <a:blip r:embed="rId8" cstate="print"/>
            <a:stretch>
              <a:fillRect/>
            </a:stretch>
          </a:blipFill>
        </p:spPr>
        <p:txBody>
          <a:bodyPr wrap="square" lIns="0" tIns="0" rIns="0" bIns="0" rtlCol="0"/>
          <a:lstStyle/>
          <a:p/>
        </p:txBody>
      </p:sp>
      <p:sp>
        <p:nvSpPr>
          <p:cNvPr id="49" name="object 49"/>
          <p:cNvSpPr/>
          <p:nvPr/>
        </p:nvSpPr>
        <p:spPr>
          <a:xfrm>
            <a:off x="4661407" y="3242310"/>
            <a:ext cx="266192" cy="199644"/>
          </a:xfrm>
          <a:prstGeom prst="rect">
            <a:avLst/>
          </a:prstGeom>
          <a:blipFill>
            <a:blip r:embed="rId6" cstate="print"/>
            <a:stretch>
              <a:fillRect/>
            </a:stretch>
          </a:blipFill>
        </p:spPr>
        <p:txBody>
          <a:bodyPr wrap="square" lIns="0" tIns="0" rIns="0" bIns="0" rtlCol="0"/>
          <a:lstStyle/>
          <a:p/>
        </p:txBody>
      </p:sp>
      <p:sp>
        <p:nvSpPr>
          <p:cNvPr id="50" name="object 50"/>
          <p:cNvSpPr/>
          <p:nvPr/>
        </p:nvSpPr>
        <p:spPr>
          <a:xfrm>
            <a:off x="5128768" y="2394966"/>
            <a:ext cx="266192" cy="199644"/>
          </a:xfrm>
          <a:prstGeom prst="rect">
            <a:avLst/>
          </a:prstGeom>
          <a:blipFill>
            <a:blip r:embed="rId6" cstate="print"/>
            <a:stretch>
              <a:fillRect/>
            </a:stretch>
          </a:blipFill>
        </p:spPr>
        <p:txBody>
          <a:bodyPr wrap="square" lIns="0" tIns="0" rIns="0" bIns="0" rtlCol="0"/>
          <a:lstStyle/>
          <a:p/>
        </p:txBody>
      </p:sp>
      <p:sp>
        <p:nvSpPr>
          <p:cNvPr id="51" name="object 51"/>
          <p:cNvSpPr/>
          <p:nvPr/>
        </p:nvSpPr>
        <p:spPr>
          <a:xfrm>
            <a:off x="4775200" y="2775966"/>
            <a:ext cx="266192" cy="199644"/>
          </a:xfrm>
          <a:prstGeom prst="rect">
            <a:avLst/>
          </a:prstGeom>
          <a:blipFill>
            <a:blip r:embed="rId6" cstate="print"/>
            <a:stretch>
              <a:fillRect/>
            </a:stretch>
          </a:blipFill>
        </p:spPr>
        <p:txBody>
          <a:bodyPr wrap="square" lIns="0" tIns="0" rIns="0" bIns="0" rtlCol="0"/>
          <a:lstStyle/>
          <a:p/>
        </p:txBody>
      </p:sp>
      <p:sp>
        <p:nvSpPr>
          <p:cNvPr id="52" name="object 52"/>
          <p:cNvSpPr/>
          <p:nvPr/>
        </p:nvSpPr>
        <p:spPr>
          <a:xfrm>
            <a:off x="4712207" y="2120648"/>
            <a:ext cx="266192" cy="199643"/>
          </a:xfrm>
          <a:prstGeom prst="rect">
            <a:avLst/>
          </a:prstGeom>
          <a:blipFill>
            <a:blip r:embed="rId6" cstate="print"/>
            <a:stretch>
              <a:fillRect/>
            </a:stretch>
          </a:blipFill>
        </p:spPr>
        <p:txBody>
          <a:bodyPr wrap="square" lIns="0" tIns="0" rIns="0" bIns="0" rtlCol="0"/>
          <a:lstStyle/>
          <a:p/>
        </p:txBody>
      </p:sp>
      <p:sp>
        <p:nvSpPr>
          <p:cNvPr id="53" name="object 53"/>
          <p:cNvSpPr/>
          <p:nvPr/>
        </p:nvSpPr>
        <p:spPr>
          <a:xfrm>
            <a:off x="5262881" y="2993898"/>
            <a:ext cx="266191" cy="199644"/>
          </a:xfrm>
          <a:prstGeom prst="rect">
            <a:avLst/>
          </a:prstGeom>
          <a:blipFill>
            <a:blip r:embed="rId6" cstate="print"/>
            <a:stretch>
              <a:fillRect/>
            </a:stretch>
          </a:blipFill>
        </p:spPr>
        <p:txBody>
          <a:bodyPr wrap="square" lIns="0" tIns="0" rIns="0" bIns="0" rtlCol="0"/>
          <a:lstStyle/>
          <a:p/>
        </p:txBody>
      </p:sp>
      <p:sp>
        <p:nvSpPr>
          <p:cNvPr id="54" name="object 54"/>
          <p:cNvSpPr/>
          <p:nvPr/>
        </p:nvSpPr>
        <p:spPr>
          <a:xfrm>
            <a:off x="4748784" y="3761994"/>
            <a:ext cx="266192" cy="199644"/>
          </a:xfrm>
          <a:prstGeom prst="rect">
            <a:avLst/>
          </a:prstGeom>
          <a:blipFill>
            <a:blip r:embed="rId6" cstate="print"/>
            <a:stretch>
              <a:fillRect/>
            </a:stretch>
          </a:blipFill>
        </p:spPr>
        <p:txBody>
          <a:bodyPr wrap="square" lIns="0" tIns="0" rIns="0" bIns="0" rtlCol="0"/>
          <a:lstStyle/>
          <a:p/>
        </p:txBody>
      </p:sp>
      <p:sp>
        <p:nvSpPr>
          <p:cNvPr id="55" name="object 55"/>
          <p:cNvSpPr/>
          <p:nvPr/>
        </p:nvSpPr>
        <p:spPr>
          <a:xfrm>
            <a:off x="5161281" y="4016501"/>
            <a:ext cx="266191" cy="199644"/>
          </a:xfrm>
          <a:prstGeom prst="rect">
            <a:avLst/>
          </a:prstGeom>
          <a:blipFill>
            <a:blip r:embed="rId6" cstate="print"/>
            <a:stretch>
              <a:fillRect/>
            </a:stretch>
          </a:blipFill>
        </p:spPr>
        <p:txBody>
          <a:bodyPr wrap="square" lIns="0" tIns="0" rIns="0" bIns="0" rtlCol="0"/>
          <a:lstStyle/>
          <a:p/>
        </p:txBody>
      </p:sp>
      <p:sp>
        <p:nvSpPr>
          <p:cNvPr id="56" name="object 56"/>
          <p:cNvSpPr/>
          <p:nvPr/>
        </p:nvSpPr>
        <p:spPr>
          <a:xfrm>
            <a:off x="5573778" y="2366012"/>
            <a:ext cx="266191" cy="199643"/>
          </a:xfrm>
          <a:prstGeom prst="rect">
            <a:avLst/>
          </a:prstGeom>
          <a:blipFill>
            <a:blip r:embed="rId6" cstate="print"/>
            <a:stretch>
              <a:fillRect/>
            </a:stretch>
          </a:blipFill>
        </p:spPr>
        <p:txBody>
          <a:bodyPr wrap="square" lIns="0" tIns="0" rIns="0" bIns="0" rtlCol="0"/>
          <a:lstStyle/>
          <a:p/>
        </p:txBody>
      </p:sp>
      <p:sp>
        <p:nvSpPr>
          <p:cNvPr id="57" name="object 57"/>
          <p:cNvSpPr/>
          <p:nvPr/>
        </p:nvSpPr>
        <p:spPr>
          <a:xfrm>
            <a:off x="5669281" y="3158489"/>
            <a:ext cx="266191" cy="199644"/>
          </a:xfrm>
          <a:prstGeom prst="rect">
            <a:avLst/>
          </a:prstGeom>
          <a:blipFill>
            <a:blip r:embed="rId6" cstate="print"/>
            <a:stretch>
              <a:fillRect/>
            </a:stretch>
          </a:blipFill>
        </p:spPr>
        <p:txBody>
          <a:bodyPr wrap="square" lIns="0" tIns="0" rIns="0" bIns="0" rtlCol="0"/>
          <a:lstStyle/>
          <a:p/>
        </p:txBody>
      </p:sp>
      <p:sp>
        <p:nvSpPr>
          <p:cNvPr id="58" name="object 58"/>
          <p:cNvSpPr/>
          <p:nvPr/>
        </p:nvSpPr>
        <p:spPr>
          <a:xfrm>
            <a:off x="5970017" y="4007357"/>
            <a:ext cx="266191" cy="199644"/>
          </a:xfrm>
          <a:prstGeom prst="rect">
            <a:avLst/>
          </a:prstGeom>
          <a:blipFill>
            <a:blip r:embed="rId6" cstate="print"/>
            <a:stretch>
              <a:fillRect/>
            </a:stretch>
          </a:blipFill>
        </p:spPr>
        <p:txBody>
          <a:bodyPr wrap="square" lIns="0" tIns="0" rIns="0" bIns="0" rtlCol="0"/>
          <a:lstStyle/>
          <a:p/>
        </p:txBody>
      </p:sp>
      <p:sp>
        <p:nvSpPr>
          <p:cNvPr id="59" name="object 59"/>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60" name="object 60"/>
          <p:cNvSpPr/>
          <p:nvPr/>
        </p:nvSpPr>
        <p:spPr>
          <a:xfrm>
            <a:off x="6431281" y="3353561"/>
            <a:ext cx="266191" cy="199644"/>
          </a:xfrm>
          <a:prstGeom prst="rect">
            <a:avLst/>
          </a:prstGeom>
          <a:blipFill>
            <a:blip r:embed="rId6" cstate="print"/>
            <a:stretch>
              <a:fillRect/>
            </a:stretch>
          </a:blipFill>
        </p:spPr>
        <p:txBody>
          <a:bodyPr wrap="square" lIns="0" tIns="0" rIns="0" bIns="0" rtlCol="0"/>
          <a:lstStyle/>
          <a:p/>
        </p:txBody>
      </p:sp>
      <p:sp>
        <p:nvSpPr>
          <p:cNvPr id="61" name="object 61"/>
          <p:cNvSpPr/>
          <p:nvPr/>
        </p:nvSpPr>
        <p:spPr>
          <a:xfrm>
            <a:off x="6030978" y="3013710"/>
            <a:ext cx="266191" cy="199644"/>
          </a:xfrm>
          <a:prstGeom prst="rect">
            <a:avLst/>
          </a:prstGeom>
          <a:blipFill>
            <a:blip r:embed="rId6" cstate="print"/>
            <a:stretch>
              <a:fillRect/>
            </a:stretch>
          </a:blipFill>
        </p:spPr>
        <p:txBody>
          <a:bodyPr wrap="square" lIns="0" tIns="0" rIns="0" bIns="0" rtlCol="0"/>
          <a:lstStyle/>
          <a:p/>
        </p:txBody>
      </p:sp>
      <p:sp>
        <p:nvSpPr>
          <p:cNvPr id="62" name="object 62"/>
          <p:cNvSpPr/>
          <p:nvPr/>
        </p:nvSpPr>
        <p:spPr>
          <a:xfrm>
            <a:off x="8885936" y="4525517"/>
            <a:ext cx="266192" cy="201168"/>
          </a:xfrm>
          <a:prstGeom prst="rect">
            <a:avLst/>
          </a:prstGeom>
          <a:blipFill>
            <a:blip r:embed="rId9" cstate="print"/>
            <a:stretch>
              <a:fillRect/>
            </a:stretch>
          </a:blipFill>
        </p:spPr>
        <p:txBody>
          <a:bodyPr wrap="square" lIns="0" tIns="0" rIns="0" bIns="0" rtlCol="0"/>
          <a:lstStyle/>
          <a:p/>
        </p:txBody>
      </p:sp>
      <p:sp>
        <p:nvSpPr>
          <p:cNvPr id="63" name="object 63"/>
          <p:cNvSpPr/>
          <p:nvPr/>
        </p:nvSpPr>
        <p:spPr>
          <a:xfrm>
            <a:off x="8436863" y="4174997"/>
            <a:ext cx="266192" cy="199644"/>
          </a:xfrm>
          <a:prstGeom prst="rect">
            <a:avLst/>
          </a:prstGeom>
          <a:blipFill>
            <a:blip r:embed="rId6" cstate="print"/>
            <a:stretch>
              <a:fillRect/>
            </a:stretch>
          </a:blipFill>
        </p:spPr>
        <p:txBody>
          <a:bodyPr wrap="square" lIns="0" tIns="0" rIns="0" bIns="0" rtlCol="0"/>
          <a:lstStyle/>
          <a:p/>
        </p:txBody>
      </p:sp>
      <p:sp>
        <p:nvSpPr>
          <p:cNvPr id="64" name="object 64"/>
          <p:cNvSpPr/>
          <p:nvPr/>
        </p:nvSpPr>
        <p:spPr>
          <a:xfrm>
            <a:off x="9558527" y="4516373"/>
            <a:ext cx="266192" cy="199644"/>
          </a:xfrm>
          <a:prstGeom prst="rect">
            <a:avLst/>
          </a:prstGeom>
          <a:blipFill>
            <a:blip r:embed="rId6" cstate="print"/>
            <a:stretch>
              <a:fillRect/>
            </a:stretch>
          </a:blipFill>
        </p:spPr>
        <p:txBody>
          <a:bodyPr wrap="square" lIns="0" tIns="0" rIns="0" bIns="0" rtlCol="0"/>
          <a:lstStyle/>
          <a:p/>
        </p:txBody>
      </p:sp>
      <p:sp>
        <p:nvSpPr>
          <p:cNvPr id="65" name="object 65"/>
          <p:cNvSpPr/>
          <p:nvPr/>
        </p:nvSpPr>
        <p:spPr>
          <a:xfrm>
            <a:off x="2244345" y="3945508"/>
            <a:ext cx="4601633" cy="134620"/>
          </a:xfrm>
          <a:custGeom>
            <a:avLst/>
            <a:gdLst/>
            <a:ahLst/>
            <a:cxnLst/>
            <a:rect l="l" t="t" r="r" b="b"/>
            <a:pathLst>
              <a:path w="3451225" h="134619">
                <a:moveTo>
                  <a:pt x="3393567" y="67183"/>
                </a:moveTo>
                <a:lnTo>
                  <a:pt x="3321177" y="109347"/>
                </a:lnTo>
                <a:lnTo>
                  <a:pt x="3318891" y="118237"/>
                </a:lnTo>
                <a:lnTo>
                  <a:pt x="3322828" y="125095"/>
                </a:lnTo>
                <a:lnTo>
                  <a:pt x="3326892" y="132080"/>
                </a:lnTo>
                <a:lnTo>
                  <a:pt x="3335781" y="134366"/>
                </a:lnTo>
                <a:lnTo>
                  <a:pt x="3426122" y="81661"/>
                </a:lnTo>
                <a:lnTo>
                  <a:pt x="3422269" y="81661"/>
                </a:lnTo>
                <a:lnTo>
                  <a:pt x="3422269" y="79629"/>
                </a:lnTo>
                <a:lnTo>
                  <a:pt x="3414903" y="79629"/>
                </a:lnTo>
                <a:lnTo>
                  <a:pt x="3393567" y="67183"/>
                </a:lnTo>
                <a:close/>
              </a:path>
              <a:path w="3451225" h="134619">
                <a:moveTo>
                  <a:pt x="3368747" y="52705"/>
                </a:moveTo>
                <a:lnTo>
                  <a:pt x="0" y="52705"/>
                </a:lnTo>
                <a:lnTo>
                  <a:pt x="0" y="81661"/>
                </a:lnTo>
                <a:lnTo>
                  <a:pt x="3368747" y="81661"/>
                </a:lnTo>
                <a:lnTo>
                  <a:pt x="3393566" y="67183"/>
                </a:lnTo>
                <a:lnTo>
                  <a:pt x="3368747" y="52705"/>
                </a:lnTo>
                <a:close/>
              </a:path>
              <a:path w="3451225" h="134619">
                <a:moveTo>
                  <a:pt x="3426122" y="52705"/>
                </a:moveTo>
                <a:lnTo>
                  <a:pt x="3422269" y="52705"/>
                </a:lnTo>
                <a:lnTo>
                  <a:pt x="3422269" y="81661"/>
                </a:lnTo>
                <a:lnTo>
                  <a:pt x="3426122" y="81661"/>
                </a:lnTo>
                <a:lnTo>
                  <a:pt x="3450971" y="67183"/>
                </a:lnTo>
                <a:lnTo>
                  <a:pt x="3426122" y="52705"/>
                </a:lnTo>
                <a:close/>
              </a:path>
              <a:path w="3451225" h="134619">
                <a:moveTo>
                  <a:pt x="3414903" y="54737"/>
                </a:moveTo>
                <a:lnTo>
                  <a:pt x="3393567" y="67183"/>
                </a:lnTo>
                <a:lnTo>
                  <a:pt x="3414903" y="79629"/>
                </a:lnTo>
                <a:lnTo>
                  <a:pt x="3414903" y="54737"/>
                </a:lnTo>
                <a:close/>
              </a:path>
              <a:path w="3451225" h="134619">
                <a:moveTo>
                  <a:pt x="3422269" y="54737"/>
                </a:moveTo>
                <a:lnTo>
                  <a:pt x="3414903" y="54737"/>
                </a:lnTo>
                <a:lnTo>
                  <a:pt x="3414903" y="79629"/>
                </a:lnTo>
                <a:lnTo>
                  <a:pt x="3422269" y="79629"/>
                </a:lnTo>
                <a:lnTo>
                  <a:pt x="3422269" y="54737"/>
                </a:lnTo>
                <a:close/>
              </a:path>
              <a:path w="3451225" h="134619">
                <a:moveTo>
                  <a:pt x="3335781" y="0"/>
                </a:moveTo>
                <a:lnTo>
                  <a:pt x="3326892" y="2286"/>
                </a:lnTo>
                <a:lnTo>
                  <a:pt x="3322828" y="9271"/>
                </a:lnTo>
                <a:lnTo>
                  <a:pt x="3318891" y="16129"/>
                </a:lnTo>
                <a:lnTo>
                  <a:pt x="3321177" y="25018"/>
                </a:lnTo>
                <a:lnTo>
                  <a:pt x="3393567" y="67183"/>
                </a:lnTo>
                <a:lnTo>
                  <a:pt x="3414903" y="54737"/>
                </a:lnTo>
                <a:lnTo>
                  <a:pt x="3422269" y="54737"/>
                </a:lnTo>
                <a:lnTo>
                  <a:pt x="3422269" y="52705"/>
                </a:lnTo>
                <a:lnTo>
                  <a:pt x="3426122" y="52705"/>
                </a:lnTo>
                <a:lnTo>
                  <a:pt x="3335781" y="0"/>
                </a:lnTo>
                <a:close/>
              </a:path>
            </a:pathLst>
          </a:custGeom>
          <a:solidFill>
            <a:srgbClr val="C00000"/>
          </a:solidFill>
        </p:spPr>
        <p:txBody>
          <a:bodyPr wrap="square" lIns="0" tIns="0" rIns="0" bIns="0" rtlCol="0"/>
          <a:lstStyle/>
          <a:p/>
        </p:txBody>
      </p:sp>
      <p:sp>
        <p:nvSpPr>
          <p:cNvPr id="69" name="object 69"/>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70" name="object 70"/>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73" name="标题 72"/>
          <p:cNvSpPr>
            <a:spLocks noGrp="1"/>
          </p:cNvSpPr>
          <p:nvPr>
            <p:ph type="title"/>
          </p:nvPr>
        </p:nvSpPr>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
        <p:nvSpPr>
          <p:cNvPr id="80" name="object 3"/>
          <p:cNvSpPr/>
          <p:nvPr/>
        </p:nvSpPr>
        <p:spPr>
          <a:xfrm>
            <a:off x="611631" y="2236471"/>
            <a:ext cx="266192" cy="199643"/>
          </a:xfrm>
          <a:prstGeom prst="rect">
            <a:avLst/>
          </a:prstGeom>
          <a:blipFill>
            <a:blip r:embed="rId10" cstate="print"/>
            <a:stretch>
              <a:fillRect/>
            </a:stretch>
          </a:blipFill>
        </p:spPr>
        <p:txBody>
          <a:bodyPr wrap="square" lIns="0" tIns="0" rIns="0" bIns="0" rtlCol="0"/>
          <a:lstStyle/>
          <a:p/>
        </p:txBody>
      </p:sp>
      <p:sp>
        <p:nvSpPr>
          <p:cNvPr id="81" name="object 4"/>
          <p:cNvSpPr/>
          <p:nvPr/>
        </p:nvSpPr>
        <p:spPr>
          <a:xfrm>
            <a:off x="611631" y="2670812"/>
            <a:ext cx="266192" cy="201167"/>
          </a:xfrm>
          <a:prstGeom prst="rect">
            <a:avLst/>
          </a:prstGeom>
          <a:blipFill>
            <a:blip r:embed="rId11" cstate="print"/>
            <a:stretch>
              <a:fillRect/>
            </a:stretch>
          </a:blipFill>
        </p:spPr>
        <p:txBody>
          <a:bodyPr wrap="square" lIns="0" tIns="0" rIns="0" bIns="0" rtlCol="0"/>
          <a:lstStyle/>
          <a:p/>
        </p:txBody>
      </p:sp>
      <p:sp>
        <p:nvSpPr>
          <p:cNvPr id="82" name="object 5"/>
          <p:cNvSpPr txBox="1"/>
          <p:nvPr/>
        </p:nvSpPr>
        <p:spPr>
          <a:xfrm>
            <a:off x="624673" y="1609147"/>
            <a:ext cx="2889673" cy="1388201"/>
          </a:xfrm>
          <a:prstGeom prst="rect">
            <a:avLst/>
          </a:prstGeom>
        </p:spPr>
        <p:txBody>
          <a:bodyPr vert="horz" wrap="square" lIns="0" tIns="142875" rIns="0" bIns="0" rtlCol="0">
            <a:spAutoFit/>
          </a:bodyPr>
          <a:lstStyle/>
          <a:p>
            <a:pPr marL="12700">
              <a:spcBef>
                <a:spcPts val="1125"/>
              </a:spcBef>
            </a:pPr>
            <a:r>
              <a:rPr lang="zh-CN" altLang="en-US" sz="2000" dirty="0"/>
              <a:t>近邻</a:t>
            </a:r>
            <a:r>
              <a:rPr lang="zh-CN" altLang="en-US" sz="2000" spc="-5" dirty="0">
                <a:latin typeface="Arial" panose="020B0604020202020204"/>
                <a:cs typeface="Arial" panose="020B0604020202020204"/>
              </a:rPr>
              <a:t>数目</a:t>
            </a:r>
            <a:r>
              <a:rPr sz="2000" spc="-5" dirty="0">
                <a:latin typeface="Arial" panose="020B0604020202020204"/>
                <a:cs typeface="Arial" panose="020B0604020202020204"/>
              </a:rPr>
              <a:t>(K =</a:t>
            </a:r>
            <a:r>
              <a:rPr sz="2000" spc="-95" dirty="0">
                <a:latin typeface="Arial" panose="020B0604020202020204"/>
                <a:cs typeface="Arial" panose="020B0604020202020204"/>
              </a:rPr>
              <a:t> </a:t>
            </a:r>
            <a:r>
              <a:rPr lang="en-US" altLang="zh-CN" sz="2000" spc="-5" dirty="0">
                <a:latin typeface="Arial" panose="020B0604020202020204"/>
                <a:cs typeface="Arial" panose="020B0604020202020204"/>
              </a:rPr>
              <a:t>2</a:t>
            </a:r>
            <a:r>
              <a:rPr sz="2000" spc="-5" dirty="0">
                <a:latin typeface="Arial" panose="020B0604020202020204"/>
                <a:cs typeface="Arial" panose="020B0604020202020204"/>
              </a:rPr>
              <a:t>):</a:t>
            </a:r>
            <a:endParaRPr sz="2000" dirty="0">
              <a:latin typeface="Arial" panose="020B0604020202020204"/>
              <a:cs typeface="Arial" panose="020B0604020202020204"/>
            </a:endParaRPr>
          </a:p>
          <a:p>
            <a:pPr marL="337820">
              <a:spcBef>
                <a:spcPts val="910"/>
              </a:spcBef>
            </a:pPr>
            <a:r>
              <a:rPr lang="en-US" altLang="zh-CN" sz="2000" dirty="0">
                <a:latin typeface="Arial" panose="020B0604020202020204"/>
                <a:cs typeface="Arial" panose="020B0604020202020204"/>
              </a:rPr>
              <a:t>1</a:t>
            </a:r>
            <a:endParaRPr sz="2000" dirty="0">
              <a:latin typeface="Arial" panose="020B0604020202020204"/>
              <a:cs typeface="Arial" panose="020B0604020202020204"/>
            </a:endParaRPr>
          </a:p>
          <a:p>
            <a:pPr marL="337820">
              <a:spcBef>
                <a:spcPts val="1615"/>
              </a:spcBef>
            </a:pPr>
            <a:r>
              <a:rPr sz="2000" spc="55" dirty="0">
                <a:latin typeface="Arial" panose="020B0604020202020204"/>
                <a:cs typeface="Arial" panose="020B0604020202020204"/>
              </a:rPr>
              <a:t>1</a:t>
            </a:r>
            <a:endParaRPr sz="2000" dirty="0">
              <a:latin typeface="Arial" panose="020B0604020202020204"/>
              <a:cs typeface="Arial" panose="020B0604020202020204"/>
            </a:endParaRPr>
          </a:p>
        </p:txBody>
      </p:sp>
      <p:sp>
        <p:nvSpPr>
          <p:cNvPr id="83" name="object 64"/>
          <p:cNvSpPr txBox="1"/>
          <p:nvPr/>
        </p:nvSpPr>
        <p:spPr>
          <a:xfrm>
            <a:off x="1080752" y="3819349"/>
            <a:ext cx="1049867" cy="320601"/>
          </a:xfrm>
          <a:prstGeom prst="rect">
            <a:avLst/>
          </a:prstGeom>
        </p:spPr>
        <p:txBody>
          <a:bodyPr vert="horz" wrap="square" lIns="0" tIns="12700" rIns="0" bIns="0" rtlCol="0">
            <a:spAutoFit/>
          </a:bodyPr>
          <a:lstStyle/>
          <a:p>
            <a:pPr marL="12700">
              <a:spcBef>
                <a:spcPts val="100"/>
              </a:spcBef>
            </a:pPr>
            <a:r>
              <a:rPr lang="zh-CN" altLang="en-US" sz="2000" b="1" spc="65" dirty="0">
                <a:solidFill>
                  <a:srgbClr val="C00000"/>
                </a:solidFill>
                <a:latin typeface="Trebuchet MS" panose="020B0603020202020204"/>
                <a:cs typeface="Trebuchet MS" panose="020B0603020202020204"/>
              </a:rPr>
              <a:t>预测</a:t>
            </a:r>
            <a:endParaRPr sz="2000" dirty="0">
              <a:latin typeface="Trebuchet MS" panose="020B0603020202020204"/>
              <a:cs typeface="Trebuchet MS" panose="020B0603020202020204"/>
            </a:endParaRPr>
          </a:p>
        </p:txBody>
      </p:sp>
      <p:sp>
        <p:nvSpPr>
          <p:cNvPr id="84" name="object 65"/>
          <p:cNvSpPr/>
          <p:nvPr/>
        </p:nvSpPr>
        <p:spPr>
          <a:xfrm>
            <a:off x="595377" y="3848863"/>
            <a:ext cx="288713" cy="268605"/>
          </a:xfrm>
          <a:custGeom>
            <a:avLst/>
            <a:gdLst/>
            <a:ahLst/>
            <a:cxnLst/>
            <a:rect l="l" t="t" r="r" b="b"/>
            <a:pathLst>
              <a:path w="216534" h="268604">
                <a:moveTo>
                  <a:pt x="108204" y="0"/>
                </a:moveTo>
                <a:lnTo>
                  <a:pt x="0" y="134112"/>
                </a:lnTo>
                <a:lnTo>
                  <a:pt x="108204" y="268224"/>
                </a:lnTo>
                <a:lnTo>
                  <a:pt x="216408" y="134112"/>
                </a:lnTo>
                <a:lnTo>
                  <a:pt x="108204" y="0"/>
                </a:lnTo>
                <a:close/>
              </a:path>
            </a:pathLst>
          </a:custGeom>
          <a:solidFill>
            <a:srgbClr val="FFC000"/>
          </a:solidFill>
        </p:spPr>
        <p:txBody>
          <a:bodyPr wrap="square" lIns="0" tIns="0" rIns="0" bIns="0" rtlCol="0"/>
          <a:lstStyle/>
          <a:p/>
        </p:txBody>
      </p:sp>
      <p:sp>
        <p:nvSpPr>
          <p:cNvPr id="85" name="object 66"/>
          <p:cNvSpPr/>
          <p:nvPr/>
        </p:nvSpPr>
        <p:spPr>
          <a:xfrm>
            <a:off x="595377" y="3848863"/>
            <a:ext cx="288713" cy="268605"/>
          </a:xfrm>
          <a:custGeom>
            <a:avLst/>
            <a:gdLst/>
            <a:ahLst/>
            <a:cxnLst/>
            <a:rect l="l" t="t" r="r" b="b"/>
            <a:pathLst>
              <a:path w="216534" h="268604">
                <a:moveTo>
                  <a:pt x="0" y="134112"/>
                </a:moveTo>
                <a:lnTo>
                  <a:pt x="108204" y="0"/>
                </a:lnTo>
                <a:lnTo>
                  <a:pt x="216408" y="134112"/>
                </a:lnTo>
                <a:lnTo>
                  <a:pt x="108204" y="268224"/>
                </a:lnTo>
                <a:lnTo>
                  <a:pt x="0" y="134112"/>
                </a:lnTo>
                <a:close/>
              </a:path>
            </a:pathLst>
          </a:custGeom>
          <a:ln w="12192">
            <a:solidFill>
              <a:srgbClr val="D0692F"/>
            </a:solidFill>
          </a:ln>
        </p:spPr>
        <p:txBody>
          <a:bodyPr wrap="square" lIns="0" tIns="0" rIns="0" bIns="0" rtlCol="0"/>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6455665" y="3726942"/>
            <a:ext cx="266191" cy="199644"/>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6455665" y="3726944"/>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3"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8" name="object 8"/>
          <p:cNvSpPr/>
          <p:nvPr/>
        </p:nvSpPr>
        <p:spPr>
          <a:xfrm>
            <a:off x="6638546" y="4269485"/>
            <a:ext cx="266191" cy="199644"/>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6638546" y="4269487"/>
            <a:ext cx="266700" cy="200025"/>
          </a:xfrm>
          <a:custGeom>
            <a:avLst/>
            <a:gdLst/>
            <a:ahLst/>
            <a:cxnLst/>
            <a:rect l="l" t="t" r="r" b="b"/>
            <a:pathLst>
              <a:path w="200025" h="200025">
                <a:moveTo>
                  <a:pt x="0" y="99821"/>
                </a:moveTo>
                <a:lnTo>
                  <a:pt x="7846" y="60971"/>
                </a:lnTo>
                <a:lnTo>
                  <a:pt x="29241" y="29241"/>
                </a:lnTo>
                <a:lnTo>
                  <a:pt x="60971" y="7846"/>
                </a:lnTo>
                <a:lnTo>
                  <a:pt x="99821" y="0"/>
                </a:lnTo>
                <a:lnTo>
                  <a:pt x="138672" y="7846"/>
                </a:lnTo>
                <a:lnTo>
                  <a:pt x="170402" y="29241"/>
                </a:lnTo>
                <a:lnTo>
                  <a:pt x="191797" y="60971"/>
                </a:lnTo>
                <a:lnTo>
                  <a:pt x="199643" y="99821"/>
                </a:lnTo>
                <a:lnTo>
                  <a:pt x="191797" y="138672"/>
                </a:lnTo>
                <a:lnTo>
                  <a:pt x="170402" y="170402"/>
                </a:lnTo>
                <a:lnTo>
                  <a:pt x="138672" y="191797"/>
                </a:lnTo>
                <a:lnTo>
                  <a:pt x="99821"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10" name="object 10"/>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11" name="object 11"/>
          <p:cNvSpPr/>
          <p:nvPr/>
        </p:nvSpPr>
        <p:spPr>
          <a:xfrm>
            <a:off x="7134354" y="4011931"/>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4"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12" name="object 12"/>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13" name="object 13"/>
          <p:cNvSpPr txBox="1"/>
          <p:nvPr/>
        </p:nvSpPr>
        <p:spPr>
          <a:xfrm>
            <a:off x="4060952"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14" name="object 14"/>
          <p:cNvSpPr txBox="1"/>
          <p:nvPr/>
        </p:nvSpPr>
        <p:spPr>
          <a:xfrm>
            <a:off x="3308266" y="2950720"/>
            <a:ext cx="1050713" cy="493395"/>
          </a:xfrm>
          <a:prstGeom prst="rect">
            <a:avLst/>
          </a:prstGeom>
        </p:spPr>
        <p:txBody>
          <a:bodyPr vert="horz" wrap="square" lIns="0" tIns="12700" rIns="0" bIns="0" rtlCol="0">
            <a:spAutoFit/>
          </a:bodyPr>
          <a:lstStyle/>
          <a:p>
            <a:pPr marR="5080" algn="r">
              <a:spcBef>
                <a:spcPts val="100"/>
              </a:spcBef>
            </a:pPr>
            <a:r>
              <a:rPr sz="1400" spc="-5" dirty="0">
                <a:solidFill>
                  <a:srgbClr val="344B5E"/>
                </a:solidFill>
                <a:latin typeface="Arial" panose="020B0604020202020204"/>
                <a:cs typeface="Arial" panose="020B0604020202020204"/>
              </a:rPr>
              <a:t>40</a:t>
            </a:r>
            <a:endParaRPr sz="140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a:latin typeface="Arial" panose="020B0604020202020204"/>
              <a:cs typeface="Arial" panose="020B0604020202020204"/>
            </a:endParaRPr>
          </a:p>
        </p:txBody>
      </p:sp>
      <p:sp>
        <p:nvSpPr>
          <p:cNvPr id="15" name="object 15"/>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16" name="object 16"/>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a:latin typeface="Trebuchet MS" panose="020B0603020202020204"/>
              <a:cs typeface="Trebuchet MS" panose="020B0603020202020204"/>
            </a:endParaRPr>
          </a:p>
        </p:txBody>
      </p:sp>
      <p:sp>
        <p:nvSpPr>
          <p:cNvPr id="17" name="object 17"/>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8" name="object 18"/>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9" name="object 19"/>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20" name="object 20"/>
          <p:cNvSpPr/>
          <p:nvPr/>
        </p:nvSpPr>
        <p:spPr>
          <a:xfrm>
            <a:off x="8282433" y="3443477"/>
            <a:ext cx="266191" cy="199644"/>
          </a:xfrm>
          <a:prstGeom prst="rect">
            <a:avLst/>
          </a:prstGeom>
          <a:blipFill>
            <a:blip r:embed="rId2" cstate="print"/>
            <a:stretch>
              <a:fillRect/>
            </a:stretch>
          </a:blipFill>
        </p:spPr>
        <p:txBody>
          <a:bodyPr wrap="square" lIns="0" tIns="0" rIns="0" bIns="0" rtlCol="0"/>
          <a:lstStyle/>
          <a:p/>
        </p:txBody>
      </p:sp>
      <p:sp>
        <p:nvSpPr>
          <p:cNvPr id="21" name="object 21"/>
          <p:cNvSpPr/>
          <p:nvPr/>
        </p:nvSpPr>
        <p:spPr>
          <a:xfrm>
            <a:off x="7325362" y="3160014"/>
            <a:ext cx="266191" cy="199644"/>
          </a:xfrm>
          <a:prstGeom prst="rect">
            <a:avLst/>
          </a:prstGeom>
          <a:blipFill>
            <a:blip r:embed="rId1" cstate="print"/>
            <a:stretch>
              <a:fillRect/>
            </a:stretch>
          </a:blipFill>
        </p:spPr>
        <p:txBody>
          <a:bodyPr wrap="square" lIns="0" tIns="0" rIns="0" bIns="0" rtlCol="0"/>
          <a:lstStyle/>
          <a:p/>
        </p:txBody>
      </p:sp>
      <p:sp>
        <p:nvSpPr>
          <p:cNvPr id="22" name="object 22"/>
          <p:cNvSpPr/>
          <p:nvPr/>
        </p:nvSpPr>
        <p:spPr>
          <a:xfrm>
            <a:off x="7183120" y="2800350"/>
            <a:ext cx="268224" cy="199644"/>
          </a:xfrm>
          <a:prstGeom prst="rect">
            <a:avLst/>
          </a:prstGeom>
          <a:blipFill>
            <a:blip r:embed="rId4" cstate="print"/>
            <a:stretch>
              <a:fillRect/>
            </a:stretch>
          </a:blipFill>
        </p:spPr>
        <p:txBody>
          <a:bodyPr wrap="square" lIns="0" tIns="0" rIns="0" bIns="0" rtlCol="0"/>
          <a:lstStyle/>
          <a:p/>
        </p:txBody>
      </p:sp>
      <p:sp>
        <p:nvSpPr>
          <p:cNvPr id="23" name="object 23"/>
          <p:cNvSpPr/>
          <p:nvPr/>
        </p:nvSpPr>
        <p:spPr>
          <a:xfrm>
            <a:off x="6908802" y="2405635"/>
            <a:ext cx="268223" cy="199643"/>
          </a:xfrm>
          <a:prstGeom prst="rect">
            <a:avLst/>
          </a:prstGeom>
          <a:blipFill>
            <a:blip r:embed="rId4" cstate="print"/>
            <a:stretch>
              <a:fillRect/>
            </a:stretch>
          </a:blipFill>
        </p:spPr>
        <p:txBody>
          <a:bodyPr wrap="square" lIns="0" tIns="0" rIns="0" bIns="0" rtlCol="0"/>
          <a:lstStyle/>
          <a:p/>
        </p:txBody>
      </p:sp>
      <p:sp>
        <p:nvSpPr>
          <p:cNvPr id="24" name="object 24"/>
          <p:cNvSpPr/>
          <p:nvPr/>
        </p:nvSpPr>
        <p:spPr>
          <a:xfrm>
            <a:off x="7636255" y="2036825"/>
            <a:ext cx="266192" cy="199644"/>
          </a:xfrm>
          <a:prstGeom prst="rect">
            <a:avLst/>
          </a:prstGeom>
          <a:blipFill>
            <a:blip r:embed="rId3" cstate="print"/>
            <a:stretch>
              <a:fillRect/>
            </a:stretch>
          </a:blipFill>
        </p:spPr>
        <p:txBody>
          <a:bodyPr wrap="square" lIns="0" tIns="0" rIns="0" bIns="0" rtlCol="0"/>
          <a:lstStyle/>
          <a:p/>
        </p:txBody>
      </p:sp>
      <p:sp>
        <p:nvSpPr>
          <p:cNvPr id="25" name="object 25"/>
          <p:cNvSpPr/>
          <p:nvPr/>
        </p:nvSpPr>
        <p:spPr>
          <a:xfrm>
            <a:off x="8044687" y="2315717"/>
            <a:ext cx="266192" cy="199644"/>
          </a:xfrm>
          <a:prstGeom prst="rect">
            <a:avLst/>
          </a:prstGeom>
          <a:blipFill>
            <a:blip r:embed="rId2" cstate="print"/>
            <a:stretch>
              <a:fillRect/>
            </a:stretch>
          </a:blipFill>
        </p:spPr>
        <p:txBody>
          <a:bodyPr wrap="square" lIns="0" tIns="0" rIns="0" bIns="0" rtlCol="0"/>
          <a:lstStyle/>
          <a:p/>
        </p:txBody>
      </p:sp>
      <p:sp>
        <p:nvSpPr>
          <p:cNvPr id="26" name="object 26"/>
          <p:cNvSpPr/>
          <p:nvPr/>
        </p:nvSpPr>
        <p:spPr>
          <a:xfrm>
            <a:off x="8272271" y="2797301"/>
            <a:ext cx="266192" cy="199644"/>
          </a:xfrm>
          <a:prstGeom prst="rect">
            <a:avLst/>
          </a:prstGeom>
          <a:blipFill>
            <a:blip r:embed="rId2" cstate="print"/>
            <a:stretch>
              <a:fillRect/>
            </a:stretch>
          </a:blipFill>
        </p:spPr>
        <p:txBody>
          <a:bodyPr wrap="square" lIns="0" tIns="0" rIns="0" bIns="0" rtlCol="0"/>
          <a:lstStyle/>
          <a:p/>
        </p:txBody>
      </p:sp>
      <p:sp>
        <p:nvSpPr>
          <p:cNvPr id="27" name="object 27"/>
          <p:cNvSpPr/>
          <p:nvPr/>
        </p:nvSpPr>
        <p:spPr>
          <a:xfrm>
            <a:off x="7829297" y="2908554"/>
            <a:ext cx="266191" cy="199644"/>
          </a:xfrm>
          <a:prstGeom prst="rect">
            <a:avLst/>
          </a:prstGeom>
          <a:blipFill>
            <a:blip r:embed="rId2" cstate="print"/>
            <a:stretch>
              <a:fillRect/>
            </a:stretch>
          </a:blipFill>
        </p:spPr>
        <p:txBody>
          <a:bodyPr wrap="square" lIns="0" tIns="0" rIns="0" bIns="0" rtlCol="0"/>
          <a:lstStyle/>
          <a:p/>
        </p:txBody>
      </p:sp>
      <p:sp>
        <p:nvSpPr>
          <p:cNvPr id="28" name="object 28"/>
          <p:cNvSpPr/>
          <p:nvPr/>
        </p:nvSpPr>
        <p:spPr>
          <a:xfrm>
            <a:off x="8764015" y="2516887"/>
            <a:ext cx="266192" cy="199643"/>
          </a:xfrm>
          <a:prstGeom prst="rect">
            <a:avLst/>
          </a:prstGeom>
          <a:blipFill>
            <a:blip r:embed="rId2" cstate="print"/>
            <a:stretch>
              <a:fillRect/>
            </a:stretch>
          </a:blipFill>
        </p:spPr>
        <p:txBody>
          <a:bodyPr wrap="square" lIns="0" tIns="0" rIns="0" bIns="0" rtlCol="0"/>
          <a:lstStyle/>
          <a:p/>
        </p:txBody>
      </p:sp>
      <p:sp>
        <p:nvSpPr>
          <p:cNvPr id="29" name="object 29"/>
          <p:cNvSpPr/>
          <p:nvPr/>
        </p:nvSpPr>
        <p:spPr>
          <a:xfrm>
            <a:off x="8359649" y="1907288"/>
            <a:ext cx="266191" cy="199643"/>
          </a:xfrm>
          <a:prstGeom prst="rect">
            <a:avLst/>
          </a:prstGeom>
          <a:blipFill>
            <a:blip r:embed="rId2" cstate="print"/>
            <a:stretch>
              <a:fillRect/>
            </a:stretch>
          </a:blipFill>
        </p:spPr>
        <p:txBody>
          <a:bodyPr wrap="square" lIns="0" tIns="0" rIns="0" bIns="0" rtlCol="0"/>
          <a:lstStyle/>
          <a:p/>
        </p:txBody>
      </p:sp>
      <p:sp>
        <p:nvSpPr>
          <p:cNvPr id="30" name="object 30"/>
          <p:cNvSpPr/>
          <p:nvPr/>
        </p:nvSpPr>
        <p:spPr>
          <a:xfrm>
            <a:off x="9097263" y="2114550"/>
            <a:ext cx="266192" cy="199644"/>
          </a:xfrm>
          <a:prstGeom prst="rect">
            <a:avLst/>
          </a:prstGeom>
          <a:blipFill>
            <a:blip r:embed="rId2" cstate="print"/>
            <a:stretch>
              <a:fillRect/>
            </a:stretch>
          </a:blipFill>
        </p:spPr>
        <p:txBody>
          <a:bodyPr wrap="square" lIns="0" tIns="0" rIns="0" bIns="0" rtlCol="0"/>
          <a:lstStyle/>
          <a:p/>
        </p:txBody>
      </p:sp>
      <p:sp>
        <p:nvSpPr>
          <p:cNvPr id="31" name="object 31"/>
          <p:cNvSpPr/>
          <p:nvPr/>
        </p:nvSpPr>
        <p:spPr>
          <a:xfrm>
            <a:off x="10170159" y="2320289"/>
            <a:ext cx="266192" cy="199644"/>
          </a:xfrm>
          <a:prstGeom prst="rect">
            <a:avLst/>
          </a:prstGeom>
          <a:blipFill>
            <a:blip r:embed="rId2" cstate="print"/>
            <a:stretch>
              <a:fillRect/>
            </a:stretch>
          </a:blipFill>
        </p:spPr>
        <p:txBody>
          <a:bodyPr wrap="square" lIns="0" tIns="0" rIns="0" bIns="0" rtlCol="0"/>
          <a:lstStyle/>
          <a:p/>
        </p:txBody>
      </p:sp>
      <p:sp>
        <p:nvSpPr>
          <p:cNvPr id="32" name="object 32"/>
          <p:cNvSpPr/>
          <p:nvPr/>
        </p:nvSpPr>
        <p:spPr>
          <a:xfrm>
            <a:off x="9662159" y="2783585"/>
            <a:ext cx="266192" cy="199644"/>
          </a:xfrm>
          <a:prstGeom prst="rect">
            <a:avLst/>
          </a:prstGeom>
          <a:blipFill>
            <a:blip r:embed="rId2" cstate="print"/>
            <a:stretch>
              <a:fillRect/>
            </a:stretch>
          </a:blipFill>
        </p:spPr>
        <p:txBody>
          <a:bodyPr wrap="square" lIns="0" tIns="0" rIns="0" bIns="0" rtlCol="0"/>
          <a:lstStyle/>
          <a:p/>
        </p:txBody>
      </p:sp>
      <p:sp>
        <p:nvSpPr>
          <p:cNvPr id="33" name="object 33"/>
          <p:cNvSpPr/>
          <p:nvPr/>
        </p:nvSpPr>
        <p:spPr>
          <a:xfrm>
            <a:off x="9204959" y="3160014"/>
            <a:ext cx="266192" cy="199644"/>
          </a:xfrm>
          <a:prstGeom prst="rect">
            <a:avLst/>
          </a:prstGeom>
          <a:blipFill>
            <a:blip r:embed="rId1" cstate="print"/>
            <a:stretch>
              <a:fillRect/>
            </a:stretch>
          </a:blipFill>
        </p:spPr>
        <p:txBody>
          <a:bodyPr wrap="square" lIns="0" tIns="0" rIns="0" bIns="0" rtlCol="0"/>
          <a:lstStyle/>
          <a:p/>
        </p:txBody>
      </p:sp>
      <p:sp>
        <p:nvSpPr>
          <p:cNvPr id="34" name="object 34"/>
          <p:cNvSpPr/>
          <p:nvPr/>
        </p:nvSpPr>
        <p:spPr>
          <a:xfrm>
            <a:off x="9836911" y="3327654"/>
            <a:ext cx="266192" cy="199644"/>
          </a:xfrm>
          <a:prstGeom prst="rect">
            <a:avLst/>
          </a:prstGeom>
          <a:blipFill>
            <a:blip r:embed="rId2" cstate="print"/>
            <a:stretch>
              <a:fillRect/>
            </a:stretch>
          </a:blipFill>
        </p:spPr>
        <p:txBody>
          <a:bodyPr wrap="square" lIns="0" tIns="0" rIns="0" bIns="0" rtlCol="0"/>
          <a:lstStyle/>
          <a:p/>
        </p:txBody>
      </p:sp>
      <p:sp>
        <p:nvSpPr>
          <p:cNvPr id="35" name="object 35"/>
          <p:cNvSpPr/>
          <p:nvPr/>
        </p:nvSpPr>
        <p:spPr>
          <a:xfrm>
            <a:off x="6455665" y="3726942"/>
            <a:ext cx="266191" cy="199644"/>
          </a:xfrm>
          <a:prstGeom prst="rect">
            <a:avLst/>
          </a:prstGeom>
          <a:blipFill>
            <a:blip r:embed="rId5" cstate="print"/>
            <a:stretch>
              <a:fillRect/>
            </a:stretch>
          </a:blipFill>
        </p:spPr>
        <p:txBody>
          <a:bodyPr wrap="square" lIns="0" tIns="0" rIns="0" bIns="0" rtlCol="0"/>
          <a:lstStyle/>
          <a:p/>
        </p:txBody>
      </p:sp>
      <p:sp>
        <p:nvSpPr>
          <p:cNvPr id="36" name="object 36"/>
          <p:cNvSpPr/>
          <p:nvPr/>
        </p:nvSpPr>
        <p:spPr>
          <a:xfrm>
            <a:off x="5970017" y="3449573"/>
            <a:ext cx="266191" cy="199644"/>
          </a:xfrm>
          <a:prstGeom prst="rect">
            <a:avLst/>
          </a:prstGeom>
          <a:blipFill>
            <a:blip r:embed="rId6" cstate="print"/>
            <a:stretch>
              <a:fillRect/>
            </a:stretch>
          </a:blipFill>
        </p:spPr>
        <p:txBody>
          <a:bodyPr wrap="square" lIns="0" tIns="0" rIns="0" bIns="0" rtlCol="0"/>
          <a:lstStyle/>
          <a:p/>
        </p:txBody>
      </p:sp>
      <p:sp>
        <p:nvSpPr>
          <p:cNvPr id="37" name="object 37"/>
          <p:cNvSpPr/>
          <p:nvPr/>
        </p:nvSpPr>
        <p:spPr>
          <a:xfrm>
            <a:off x="6431281" y="3035045"/>
            <a:ext cx="266191" cy="199644"/>
          </a:xfrm>
          <a:prstGeom prst="rect">
            <a:avLst/>
          </a:prstGeom>
          <a:blipFill>
            <a:blip r:embed="rId6" cstate="print"/>
            <a:stretch>
              <a:fillRect/>
            </a:stretch>
          </a:blipFill>
        </p:spPr>
        <p:txBody>
          <a:bodyPr wrap="square" lIns="0" tIns="0" rIns="0" bIns="0" rtlCol="0"/>
          <a:lstStyle/>
          <a:p/>
        </p:txBody>
      </p:sp>
      <p:sp>
        <p:nvSpPr>
          <p:cNvPr id="38" name="object 38"/>
          <p:cNvSpPr/>
          <p:nvPr/>
        </p:nvSpPr>
        <p:spPr>
          <a:xfrm>
            <a:off x="7307071" y="3601973"/>
            <a:ext cx="266192" cy="199644"/>
          </a:xfrm>
          <a:prstGeom prst="rect">
            <a:avLst/>
          </a:prstGeom>
          <a:blipFill>
            <a:blip r:embed="rId6" cstate="print"/>
            <a:stretch>
              <a:fillRect/>
            </a:stretch>
          </a:blipFill>
        </p:spPr>
        <p:txBody>
          <a:bodyPr wrap="square" lIns="0" tIns="0" rIns="0" bIns="0" rtlCol="0"/>
          <a:lstStyle/>
          <a:p/>
        </p:txBody>
      </p:sp>
      <p:sp>
        <p:nvSpPr>
          <p:cNvPr id="39" name="object 39"/>
          <p:cNvSpPr/>
          <p:nvPr/>
        </p:nvSpPr>
        <p:spPr>
          <a:xfrm>
            <a:off x="7957314" y="3761994"/>
            <a:ext cx="266191" cy="199644"/>
          </a:xfrm>
          <a:prstGeom prst="rect">
            <a:avLst/>
          </a:prstGeom>
          <a:blipFill>
            <a:blip r:embed="rId6" cstate="print"/>
            <a:stretch>
              <a:fillRect/>
            </a:stretch>
          </a:blipFill>
        </p:spPr>
        <p:txBody>
          <a:bodyPr wrap="square" lIns="0" tIns="0" rIns="0" bIns="0" rtlCol="0"/>
          <a:lstStyle/>
          <a:p/>
        </p:txBody>
      </p:sp>
      <p:sp>
        <p:nvSpPr>
          <p:cNvPr id="40" name="object 40"/>
          <p:cNvSpPr/>
          <p:nvPr/>
        </p:nvSpPr>
        <p:spPr>
          <a:xfrm>
            <a:off x="8709154" y="2993898"/>
            <a:ext cx="266191" cy="199644"/>
          </a:xfrm>
          <a:prstGeom prst="rect">
            <a:avLst/>
          </a:prstGeom>
          <a:blipFill>
            <a:blip r:embed="rId7" cstate="print"/>
            <a:stretch>
              <a:fillRect/>
            </a:stretch>
          </a:blipFill>
        </p:spPr>
        <p:txBody>
          <a:bodyPr wrap="square" lIns="0" tIns="0" rIns="0" bIns="0" rtlCol="0"/>
          <a:lstStyle/>
          <a:p/>
        </p:txBody>
      </p:sp>
      <p:sp>
        <p:nvSpPr>
          <p:cNvPr id="41" name="object 41"/>
          <p:cNvSpPr/>
          <p:nvPr/>
        </p:nvSpPr>
        <p:spPr>
          <a:xfrm>
            <a:off x="7955281" y="4184141"/>
            <a:ext cx="266191" cy="199644"/>
          </a:xfrm>
          <a:prstGeom prst="rect">
            <a:avLst/>
          </a:prstGeom>
          <a:blipFill>
            <a:blip r:embed="rId5" cstate="print"/>
            <a:stretch>
              <a:fillRect/>
            </a:stretch>
          </a:blipFill>
        </p:spPr>
        <p:txBody>
          <a:bodyPr wrap="square" lIns="0" tIns="0" rIns="0" bIns="0" rtlCol="0"/>
          <a:lstStyle/>
          <a:p/>
        </p:txBody>
      </p:sp>
      <p:sp>
        <p:nvSpPr>
          <p:cNvPr id="42" name="object 42"/>
          <p:cNvSpPr/>
          <p:nvPr/>
        </p:nvSpPr>
        <p:spPr>
          <a:xfrm>
            <a:off x="7487920" y="4542282"/>
            <a:ext cx="266192" cy="199644"/>
          </a:xfrm>
          <a:prstGeom prst="rect">
            <a:avLst/>
          </a:prstGeom>
          <a:blipFill>
            <a:blip r:embed="rId6" cstate="print"/>
            <a:stretch>
              <a:fillRect/>
            </a:stretch>
          </a:blipFill>
        </p:spPr>
        <p:txBody>
          <a:bodyPr wrap="square" lIns="0" tIns="0" rIns="0" bIns="0" rtlCol="0"/>
          <a:lstStyle/>
          <a:p/>
        </p:txBody>
      </p:sp>
      <p:sp>
        <p:nvSpPr>
          <p:cNvPr id="43" name="object 43"/>
          <p:cNvSpPr/>
          <p:nvPr/>
        </p:nvSpPr>
        <p:spPr>
          <a:xfrm>
            <a:off x="8316978" y="4534661"/>
            <a:ext cx="268223" cy="199644"/>
          </a:xfrm>
          <a:prstGeom prst="rect">
            <a:avLst/>
          </a:prstGeom>
          <a:blipFill>
            <a:blip r:embed="rId8" cstate="print"/>
            <a:stretch>
              <a:fillRect/>
            </a:stretch>
          </a:blipFill>
        </p:spPr>
        <p:txBody>
          <a:bodyPr wrap="square" lIns="0" tIns="0" rIns="0" bIns="0" rtlCol="0"/>
          <a:lstStyle/>
          <a:p/>
        </p:txBody>
      </p:sp>
      <p:sp>
        <p:nvSpPr>
          <p:cNvPr id="44" name="object 44"/>
          <p:cNvSpPr/>
          <p:nvPr/>
        </p:nvSpPr>
        <p:spPr>
          <a:xfrm>
            <a:off x="6640578" y="4274058"/>
            <a:ext cx="266191" cy="199644"/>
          </a:xfrm>
          <a:prstGeom prst="rect">
            <a:avLst/>
          </a:prstGeom>
          <a:blipFill>
            <a:blip r:embed="rId6" cstate="print"/>
            <a:stretch>
              <a:fillRect/>
            </a:stretch>
          </a:blipFill>
        </p:spPr>
        <p:txBody>
          <a:bodyPr wrap="square" lIns="0" tIns="0" rIns="0" bIns="0" rtlCol="0"/>
          <a:lstStyle/>
          <a:p/>
        </p:txBody>
      </p:sp>
      <p:sp>
        <p:nvSpPr>
          <p:cNvPr id="45" name="object 45"/>
          <p:cNvSpPr/>
          <p:nvPr/>
        </p:nvSpPr>
        <p:spPr>
          <a:xfrm>
            <a:off x="6020817" y="4421885"/>
            <a:ext cx="266191" cy="199644"/>
          </a:xfrm>
          <a:prstGeom prst="rect">
            <a:avLst/>
          </a:prstGeom>
          <a:blipFill>
            <a:blip r:embed="rId6" cstate="print"/>
            <a:stretch>
              <a:fillRect/>
            </a:stretch>
          </a:blipFill>
        </p:spPr>
        <p:txBody>
          <a:bodyPr wrap="square" lIns="0" tIns="0" rIns="0" bIns="0" rtlCol="0"/>
          <a:lstStyle/>
          <a:p/>
        </p:txBody>
      </p:sp>
      <p:sp>
        <p:nvSpPr>
          <p:cNvPr id="46" name="object 46"/>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47" name="object 47"/>
          <p:cNvSpPr/>
          <p:nvPr/>
        </p:nvSpPr>
        <p:spPr>
          <a:xfrm>
            <a:off x="4793487" y="4293870"/>
            <a:ext cx="268224" cy="199644"/>
          </a:xfrm>
          <a:prstGeom prst="rect">
            <a:avLst/>
          </a:prstGeom>
          <a:blipFill>
            <a:blip r:embed="rId8" cstate="print"/>
            <a:stretch>
              <a:fillRect/>
            </a:stretch>
          </a:blipFill>
        </p:spPr>
        <p:txBody>
          <a:bodyPr wrap="square" lIns="0" tIns="0" rIns="0" bIns="0" rtlCol="0"/>
          <a:lstStyle/>
          <a:p/>
        </p:txBody>
      </p:sp>
      <p:sp>
        <p:nvSpPr>
          <p:cNvPr id="48" name="object 48"/>
          <p:cNvSpPr/>
          <p:nvPr/>
        </p:nvSpPr>
        <p:spPr>
          <a:xfrm>
            <a:off x="5573778" y="3833622"/>
            <a:ext cx="266191" cy="199644"/>
          </a:xfrm>
          <a:prstGeom prst="rect">
            <a:avLst/>
          </a:prstGeom>
          <a:blipFill>
            <a:blip r:embed="rId6" cstate="print"/>
            <a:stretch>
              <a:fillRect/>
            </a:stretch>
          </a:blipFill>
        </p:spPr>
        <p:txBody>
          <a:bodyPr wrap="square" lIns="0" tIns="0" rIns="0" bIns="0" rtlCol="0"/>
          <a:lstStyle/>
          <a:p/>
        </p:txBody>
      </p:sp>
      <p:sp>
        <p:nvSpPr>
          <p:cNvPr id="49" name="object 49"/>
          <p:cNvSpPr/>
          <p:nvPr/>
        </p:nvSpPr>
        <p:spPr>
          <a:xfrm>
            <a:off x="5262881" y="3446526"/>
            <a:ext cx="266191" cy="199644"/>
          </a:xfrm>
          <a:prstGeom prst="rect">
            <a:avLst/>
          </a:prstGeom>
          <a:blipFill>
            <a:blip r:embed="rId6" cstate="print"/>
            <a:stretch>
              <a:fillRect/>
            </a:stretch>
          </a:blipFill>
        </p:spPr>
        <p:txBody>
          <a:bodyPr wrap="square" lIns="0" tIns="0" rIns="0" bIns="0" rtlCol="0"/>
          <a:lstStyle/>
          <a:p/>
        </p:txBody>
      </p:sp>
      <p:sp>
        <p:nvSpPr>
          <p:cNvPr id="50" name="object 50"/>
          <p:cNvSpPr/>
          <p:nvPr/>
        </p:nvSpPr>
        <p:spPr>
          <a:xfrm>
            <a:off x="5693665" y="2775966"/>
            <a:ext cx="268223" cy="199644"/>
          </a:xfrm>
          <a:prstGeom prst="rect">
            <a:avLst/>
          </a:prstGeom>
          <a:blipFill>
            <a:blip r:embed="rId8" cstate="print"/>
            <a:stretch>
              <a:fillRect/>
            </a:stretch>
          </a:blipFill>
        </p:spPr>
        <p:txBody>
          <a:bodyPr wrap="square" lIns="0" tIns="0" rIns="0" bIns="0" rtlCol="0"/>
          <a:lstStyle/>
          <a:p/>
        </p:txBody>
      </p:sp>
      <p:sp>
        <p:nvSpPr>
          <p:cNvPr id="51" name="object 51"/>
          <p:cNvSpPr/>
          <p:nvPr/>
        </p:nvSpPr>
        <p:spPr>
          <a:xfrm>
            <a:off x="4661407" y="3242310"/>
            <a:ext cx="266192" cy="199644"/>
          </a:xfrm>
          <a:prstGeom prst="rect">
            <a:avLst/>
          </a:prstGeom>
          <a:blipFill>
            <a:blip r:embed="rId6" cstate="print"/>
            <a:stretch>
              <a:fillRect/>
            </a:stretch>
          </a:blipFill>
        </p:spPr>
        <p:txBody>
          <a:bodyPr wrap="square" lIns="0" tIns="0" rIns="0" bIns="0" rtlCol="0"/>
          <a:lstStyle/>
          <a:p/>
        </p:txBody>
      </p:sp>
      <p:sp>
        <p:nvSpPr>
          <p:cNvPr id="52" name="object 52"/>
          <p:cNvSpPr/>
          <p:nvPr/>
        </p:nvSpPr>
        <p:spPr>
          <a:xfrm>
            <a:off x="5128768" y="2394966"/>
            <a:ext cx="266192" cy="199644"/>
          </a:xfrm>
          <a:prstGeom prst="rect">
            <a:avLst/>
          </a:prstGeom>
          <a:blipFill>
            <a:blip r:embed="rId6" cstate="print"/>
            <a:stretch>
              <a:fillRect/>
            </a:stretch>
          </a:blipFill>
        </p:spPr>
        <p:txBody>
          <a:bodyPr wrap="square" lIns="0" tIns="0" rIns="0" bIns="0" rtlCol="0"/>
          <a:lstStyle/>
          <a:p/>
        </p:txBody>
      </p:sp>
      <p:sp>
        <p:nvSpPr>
          <p:cNvPr id="53" name="object 53"/>
          <p:cNvSpPr/>
          <p:nvPr/>
        </p:nvSpPr>
        <p:spPr>
          <a:xfrm>
            <a:off x="4775200" y="2775966"/>
            <a:ext cx="266192" cy="199644"/>
          </a:xfrm>
          <a:prstGeom prst="rect">
            <a:avLst/>
          </a:prstGeom>
          <a:blipFill>
            <a:blip r:embed="rId6" cstate="print"/>
            <a:stretch>
              <a:fillRect/>
            </a:stretch>
          </a:blipFill>
        </p:spPr>
        <p:txBody>
          <a:bodyPr wrap="square" lIns="0" tIns="0" rIns="0" bIns="0" rtlCol="0"/>
          <a:lstStyle/>
          <a:p/>
        </p:txBody>
      </p:sp>
      <p:sp>
        <p:nvSpPr>
          <p:cNvPr id="54" name="object 54"/>
          <p:cNvSpPr/>
          <p:nvPr/>
        </p:nvSpPr>
        <p:spPr>
          <a:xfrm>
            <a:off x="4712207" y="2120648"/>
            <a:ext cx="266192" cy="199643"/>
          </a:xfrm>
          <a:prstGeom prst="rect">
            <a:avLst/>
          </a:prstGeom>
          <a:blipFill>
            <a:blip r:embed="rId6" cstate="print"/>
            <a:stretch>
              <a:fillRect/>
            </a:stretch>
          </a:blipFill>
        </p:spPr>
        <p:txBody>
          <a:bodyPr wrap="square" lIns="0" tIns="0" rIns="0" bIns="0" rtlCol="0"/>
          <a:lstStyle/>
          <a:p/>
        </p:txBody>
      </p:sp>
      <p:sp>
        <p:nvSpPr>
          <p:cNvPr id="55" name="object 55"/>
          <p:cNvSpPr/>
          <p:nvPr/>
        </p:nvSpPr>
        <p:spPr>
          <a:xfrm>
            <a:off x="5262881" y="2993898"/>
            <a:ext cx="266191" cy="199644"/>
          </a:xfrm>
          <a:prstGeom prst="rect">
            <a:avLst/>
          </a:prstGeom>
          <a:blipFill>
            <a:blip r:embed="rId6" cstate="print"/>
            <a:stretch>
              <a:fillRect/>
            </a:stretch>
          </a:blipFill>
        </p:spPr>
        <p:txBody>
          <a:bodyPr wrap="square" lIns="0" tIns="0" rIns="0" bIns="0" rtlCol="0"/>
          <a:lstStyle/>
          <a:p/>
        </p:txBody>
      </p:sp>
      <p:sp>
        <p:nvSpPr>
          <p:cNvPr id="56" name="object 56"/>
          <p:cNvSpPr/>
          <p:nvPr/>
        </p:nvSpPr>
        <p:spPr>
          <a:xfrm>
            <a:off x="4748784" y="3761994"/>
            <a:ext cx="266192" cy="199644"/>
          </a:xfrm>
          <a:prstGeom prst="rect">
            <a:avLst/>
          </a:prstGeom>
          <a:blipFill>
            <a:blip r:embed="rId6" cstate="print"/>
            <a:stretch>
              <a:fillRect/>
            </a:stretch>
          </a:blipFill>
        </p:spPr>
        <p:txBody>
          <a:bodyPr wrap="square" lIns="0" tIns="0" rIns="0" bIns="0" rtlCol="0"/>
          <a:lstStyle/>
          <a:p/>
        </p:txBody>
      </p:sp>
      <p:sp>
        <p:nvSpPr>
          <p:cNvPr id="57" name="object 57"/>
          <p:cNvSpPr/>
          <p:nvPr/>
        </p:nvSpPr>
        <p:spPr>
          <a:xfrm>
            <a:off x="5161281" y="4016501"/>
            <a:ext cx="266191" cy="199644"/>
          </a:xfrm>
          <a:prstGeom prst="rect">
            <a:avLst/>
          </a:prstGeom>
          <a:blipFill>
            <a:blip r:embed="rId6" cstate="print"/>
            <a:stretch>
              <a:fillRect/>
            </a:stretch>
          </a:blipFill>
        </p:spPr>
        <p:txBody>
          <a:bodyPr wrap="square" lIns="0" tIns="0" rIns="0" bIns="0" rtlCol="0"/>
          <a:lstStyle/>
          <a:p/>
        </p:txBody>
      </p:sp>
      <p:sp>
        <p:nvSpPr>
          <p:cNvPr id="58" name="object 58"/>
          <p:cNvSpPr/>
          <p:nvPr/>
        </p:nvSpPr>
        <p:spPr>
          <a:xfrm>
            <a:off x="5573778" y="2366012"/>
            <a:ext cx="266191" cy="199643"/>
          </a:xfrm>
          <a:prstGeom prst="rect">
            <a:avLst/>
          </a:prstGeom>
          <a:blipFill>
            <a:blip r:embed="rId6" cstate="print"/>
            <a:stretch>
              <a:fillRect/>
            </a:stretch>
          </a:blipFill>
        </p:spPr>
        <p:txBody>
          <a:bodyPr wrap="square" lIns="0" tIns="0" rIns="0" bIns="0" rtlCol="0"/>
          <a:lstStyle/>
          <a:p/>
        </p:txBody>
      </p:sp>
      <p:sp>
        <p:nvSpPr>
          <p:cNvPr id="59" name="object 59"/>
          <p:cNvSpPr/>
          <p:nvPr/>
        </p:nvSpPr>
        <p:spPr>
          <a:xfrm>
            <a:off x="5669281" y="3158489"/>
            <a:ext cx="266191" cy="199644"/>
          </a:xfrm>
          <a:prstGeom prst="rect">
            <a:avLst/>
          </a:prstGeom>
          <a:blipFill>
            <a:blip r:embed="rId6" cstate="print"/>
            <a:stretch>
              <a:fillRect/>
            </a:stretch>
          </a:blipFill>
        </p:spPr>
        <p:txBody>
          <a:bodyPr wrap="square" lIns="0" tIns="0" rIns="0" bIns="0" rtlCol="0"/>
          <a:lstStyle/>
          <a:p/>
        </p:txBody>
      </p:sp>
      <p:sp>
        <p:nvSpPr>
          <p:cNvPr id="60" name="object 60"/>
          <p:cNvSpPr/>
          <p:nvPr/>
        </p:nvSpPr>
        <p:spPr>
          <a:xfrm>
            <a:off x="5970017" y="4007357"/>
            <a:ext cx="266191" cy="199644"/>
          </a:xfrm>
          <a:prstGeom prst="rect">
            <a:avLst/>
          </a:prstGeom>
          <a:blipFill>
            <a:blip r:embed="rId6" cstate="print"/>
            <a:stretch>
              <a:fillRect/>
            </a:stretch>
          </a:blipFill>
        </p:spPr>
        <p:txBody>
          <a:bodyPr wrap="square" lIns="0" tIns="0" rIns="0" bIns="0" rtlCol="0"/>
          <a:lstStyle/>
          <a:p/>
        </p:txBody>
      </p:sp>
      <p:sp>
        <p:nvSpPr>
          <p:cNvPr id="61" name="object 61"/>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62" name="object 62"/>
          <p:cNvSpPr/>
          <p:nvPr/>
        </p:nvSpPr>
        <p:spPr>
          <a:xfrm>
            <a:off x="6431281" y="3353561"/>
            <a:ext cx="266191" cy="199644"/>
          </a:xfrm>
          <a:prstGeom prst="rect">
            <a:avLst/>
          </a:prstGeom>
          <a:blipFill>
            <a:blip r:embed="rId6" cstate="print"/>
            <a:stretch>
              <a:fillRect/>
            </a:stretch>
          </a:blipFill>
        </p:spPr>
        <p:txBody>
          <a:bodyPr wrap="square" lIns="0" tIns="0" rIns="0" bIns="0" rtlCol="0"/>
          <a:lstStyle/>
          <a:p/>
        </p:txBody>
      </p:sp>
      <p:sp>
        <p:nvSpPr>
          <p:cNvPr id="63" name="object 63"/>
          <p:cNvSpPr/>
          <p:nvPr/>
        </p:nvSpPr>
        <p:spPr>
          <a:xfrm>
            <a:off x="6030978" y="3013710"/>
            <a:ext cx="266191" cy="199644"/>
          </a:xfrm>
          <a:prstGeom prst="rect">
            <a:avLst/>
          </a:prstGeom>
          <a:blipFill>
            <a:blip r:embed="rId6" cstate="print"/>
            <a:stretch>
              <a:fillRect/>
            </a:stretch>
          </a:blipFill>
        </p:spPr>
        <p:txBody>
          <a:bodyPr wrap="square" lIns="0" tIns="0" rIns="0" bIns="0" rtlCol="0"/>
          <a:lstStyle/>
          <a:p/>
        </p:txBody>
      </p:sp>
      <p:sp>
        <p:nvSpPr>
          <p:cNvPr id="64" name="object 64"/>
          <p:cNvSpPr/>
          <p:nvPr/>
        </p:nvSpPr>
        <p:spPr>
          <a:xfrm>
            <a:off x="8885936" y="4525517"/>
            <a:ext cx="266192" cy="201168"/>
          </a:xfrm>
          <a:prstGeom prst="rect">
            <a:avLst/>
          </a:prstGeom>
          <a:blipFill>
            <a:blip r:embed="rId9" cstate="print"/>
            <a:stretch>
              <a:fillRect/>
            </a:stretch>
          </a:blipFill>
        </p:spPr>
        <p:txBody>
          <a:bodyPr wrap="square" lIns="0" tIns="0" rIns="0" bIns="0" rtlCol="0"/>
          <a:lstStyle/>
          <a:p/>
        </p:txBody>
      </p:sp>
      <p:sp>
        <p:nvSpPr>
          <p:cNvPr id="65" name="object 65"/>
          <p:cNvSpPr/>
          <p:nvPr/>
        </p:nvSpPr>
        <p:spPr>
          <a:xfrm>
            <a:off x="8436863" y="4174997"/>
            <a:ext cx="266192" cy="199644"/>
          </a:xfrm>
          <a:prstGeom prst="rect">
            <a:avLst/>
          </a:prstGeom>
          <a:blipFill>
            <a:blip r:embed="rId6" cstate="print"/>
            <a:stretch>
              <a:fillRect/>
            </a:stretch>
          </a:blipFill>
        </p:spPr>
        <p:txBody>
          <a:bodyPr wrap="square" lIns="0" tIns="0" rIns="0" bIns="0" rtlCol="0"/>
          <a:lstStyle/>
          <a:p/>
        </p:txBody>
      </p:sp>
      <p:sp>
        <p:nvSpPr>
          <p:cNvPr id="66" name="object 66"/>
          <p:cNvSpPr/>
          <p:nvPr/>
        </p:nvSpPr>
        <p:spPr>
          <a:xfrm>
            <a:off x="9558527" y="4516373"/>
            <a:ext cx="266192" cy="199644"/>
          </a:xfrm>
          <a:prstGeom prst="rect">
            <a:avLst/>
          </a:prstGeom>
          <a:blipFill>
            <a:blip r:embed="rId6" cstate="print"/>
            <a:stretch>
              <a:fillRect/>
            </a:stretch>
          </a:blipFill>
        </p:spPr>
        <p:txBody>
          <a:bodyPr wrap="square" lIns="0" tIns="0" rIns="0" bIns="0" rtlCol="0"/>
          <a:lstStyle/>
          <a:p/>
        </p:txBody>
      </p:sp>
      <p:sp>
        <p:nvSpPr>
          <p:cNvPr id="67" name="object 67"/>
          <p:cNvSpPr/>
          <p:nvPr/>
        </p:nvSpPr>
        <p:spPr>
          <a:xfrm>
            <a:off x="2244345" y="3945508"/>
            <a:ext cx="4601633" cy="134620"/>
          </a:xfrm>
          <a:custGeom>
            <a:avLst/>
            <a:gdLst/>
            <a:ahLst/>
            <a:cxnLst/>
            <a:rect l="l" t="t" r="r" b="b"/>
            <a:pathLst>
              <a:path w="3451225" h="134619">
                <a:moveTo>
                  <a:pt x="3393567" y="67183"/>
                </a:moveTo>
                <a:lnTo>
                  <a:pt x="3321177" y="109347"/>
                </a:lnTo>
                <a:lnTo>
                  <a:pt x="3318891" y="118237"/>
                </a:lnTo>
                <a:lnTo>
                  <a:pt x="3322828" y="125095"/>
                </a:lnTo>
                <a:lnTo>
                  <a:pt x="3326892" y="132080"/>
                </a:lnTo>
                <a:lnTo>
                  <a:pt x="3335781" y="134366"/>
                </a:lnTo>
                <a:lnTo>
                  <a:pt x="3426122" y="81661"/>
                </a:lnTo>
                <a:lnTo>
                  <a:pt x="3422269" y="81661"/>
                </a:lnTo>
                <a:lnTo>
                  <a:pt x="3422269" y="79629"/>
                </a:lnTo>
                <a:lnTo>
                  <a:pt x="3414903" y="79629"/>
                </a:lnTo>
                <a:lnTo>
                  <a:pt x="3393567" y="67183"/>
                </a:lnTo>
                <a:close/>
              </a:path>
              <a:path w="3451225" h="134619">
                <a:moveTo>
                  <a:pt x="3368747" y="52705"/>
                </a:moveTo>
                <a:lnTo>
                  <a:pt x="0" y="52705"/>
                </a:lnTo>
                <a:lnTo>
                  <a:pt x="0" y="81661"/>
                </a:lnTo>
                <a:lnTo>
                  <a:pt x="3368747" y="81661"/>
                </a:lnTo>
                <a:lnTo>
                  <a:pt x="3393566" y="67183"/>
                </a:lnTo>
                <a:lnTo>
                  <a:pt x="3368747" y="52705"/>
                </a:lnTo>
                <a:close/>
              </a:path>
              <a:path w="3451225" h="134619">
                <a:moveTo>
                  <a:pt x="3426122" y="52705"/>
                </a:moveTo>
                <a:lnTo>
                  <a:pt x="3422269" y="52705"/>
                </a:lnTo>
                <a:lnTo>
                  <a:pt x="3422269" y="81661"/>
                </a:lnTo>
                <a:lnTo>
                  <a:pt x="3426122" y="81661"/>
                </a:lnTo>
                <a:lnTo>
                  <a:pt x="3450971" y="67183"/>
                </a:lnTo>
                <a:lnTo>
                  <a:pt x="3426122" y="52705"/>
                </a:lnTo>
                <a:close/>
              </a:path>
              <a:path w="3451225" h="134619">
                <a:moveTo>
                  <a:pt x="3414903" y="54737"/>
                </a:moveTo>
                <a:lnTo>
                  <a:pt x="3393567" y="67183"/>
                </a:lnTo>
                <a:lnTo>
                  <a:pt x="3414903" y="79629"/>
                </a:lnTo>
                <a:lnTo>
                  <a:pt x="3414903" y="54737"/>
                </a:lnTo>
                <a:close/>
              </a:path>
              <a:path w="3451225" h="134619">
                <a:moveTo>
                  <a:pt x="3422269" y="54737"/>
                </a:moveTo>
                <a:lnTo>
                  <a:pt x="3414903" y="54737"/>
                </a:lnTo>
                <a:lnTo>
                  <a:pt x="3414903" y="79629"/>
                </a:lnTo>
                <a:lnTo>
                  <a:pt x="3422269" y="79629"/>
                </a:lnTo>
                <a:lnTo>
                  <a:pt x="3422269" y="54737"/>
                </a:lnTo>
                <a:close/>
              </a:path>
              <a:path w="3451225" h="134619">
                <a:moveTo>
                  <a:pt x="3335781" y="0"/>
                </a:moveTo>
                <a:lnTo>
                  <a:pt x="3326892" y="2286"/>
                </a:lnTo>
                <a:lnTo>
                  <a:pt x="3322828" y="9271"/>
                </a:lnTo>
                <a:lnTo>
                  <a:pt x="3318891" y="16129"/>
                </a:lnTo>
                <a:lnTo>
                  <a:pt x="3321177" y="25018"/>
                </a:lnTo>
                <a:lnTo>
                  <a:pt x="3393567" y="67183"/>
                </a:lnTo>
                <a:lnTo>
                  <a:pt x="3414903" y="54737"/>
                </a:lnTo>
                <a:lnTo>
                  <a:pt x="3422269" y="54737"/>
                </a:lnTo>
                <a:lnTo>
                  <a:pt x="3422269" y="52705"/>
                </a:lnTo>
                <a:lnTo>
                  <a:pt x="3426122" y="52705"/>
                </a:lnTo>
                <a:lnTo>
                  <a:pt x="3335781" y="0"/>
                </a:lnTo>
                <a:close/>
              </a:path>
            </a:pathLst>
          </a:custGeom>
          <a:solidFill>
            <a:srgbClr val="C00000"/>
          </a:solidFill>
        </p:spPr>
        <p:txBody>
          <a:bodyPr wrap="square" lIns="0" tIns="0" rIns="0" bIns="0" rtlCol="0"/>
          <a:lstStyle/>
          <a:p/>
        </p:txBody>
      </p:sp>
      <p:sp>
        <p:nvSpPr>
          <p:cNvPr id="71" name="object 71"/>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72" name="object 72"/>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75" name="标题 74"/>
          <p:cNvSpPr>
            <a:spLocks noGrp="1"/>
          </p:cNvSpPr>
          <p:nvPr>
            <p:ph type="title"/>
          </p:nvPr>
        </p:nvSpPr>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
        <p:nvSpPr>
          <p:cNvPr id="76" name="object 3"/>
          <p:cNvSpPr/>
          <p:nvPr/>
        </p:nvSpPr>
        <p:spPr>
          <a:xfrm>
            <a:off x="611631" y="2236471"/>
            <a:ext cx="266192" cy="199643"/>
          </a:xfrm>
          <a:prstGeom prst="rect">
            <a:avLst/>
          </a:prstGeom>
          <a:blipFill>
            <a:blip r:embed="rId10" cstate="print"/>
            <a:stretch>
              <a:fillRect/>
            </a:stretch>
          </a:blipFill>
        </p:spPr>
        <p:txBody>
          <a:bodyPr wrap="square" lIns="0" tIns="0" rIns="0" bIns="0" rtlCol="0"/>
          <a:lstStyle/>
          <a:p/>
        </p:txBody>
      </p:sp>
      <p:sp>
        <p:nvSpPr>
          <p:cNvPr id="77" name="object 4"/>
          <p:cNvSpPr/>
          <p:nvPr/>
        </p:nvSpPr>
        <p:spPr>
          <a:xfrm>
            <a:off x="611631" y="2670812"/>
            <a:ext cx="266192" cy="201167"/>
          </a:xfrm>
          <a:prstGeom prst="rect">
            <a:avLst/>
          </a:prstGeom>
          <a:blipFill>
            <a:blip r:embed="rId11" cstate="print"/>
            <a:stretch>
              <a:fillRect/>
            </a:stretch>
          </a:blipFill>
        </p:spPr>
        <p:txBody>
          <a:bodyPr wrap="square" lIns="0" tIns="0" rIns="0" bIns="0" rtlCol="0"/>
          <a:lstStyle/>
          <a:p/>
        </p:txBody>
      </p:sp>
      <p:sp>
        <p:nvSpPr>
          <p:cNvPr id="78" name="object 5"/>
          <p:cNvSpPr txBox="1"/>
          <p:nvPr/>
        </p:nvSpPr>
        <p:spPr>
          <a:xfrm>
            <a:off x="624673" y="1609146"/>
            <a:ext cx="2889673" cy="1298432"/>
          </a:xfrm>
          <a:prstGeom prst="rect">
            <a:avLst/>
          </a:prstGeom>
        </p:spPr>
        <p:txBody>
          <a:bodyPr vert="horz" wrap="square" lIns="0" tIns="142875" rIns="0" bIns="0" rtlCol="0">
            <a:spAutoFit/>
          </a:bodyPr>
          <a:lstStyle/>
          <a:p>
            <a:pPr marL="12700">
              <a:spcBef>
                <a:spcPts val="1125"/>
              </a:spcBef>
            </a:pPr>
            <a:r>
              <a:rPr lang="zh-CN" altLang="en-US" sz="2000" dirty="0"/>
              <a:t>近邻</a:t>
            </a:r>
            <a:r>
              <a:rPr lang="zh-CN" altLang="en-US" sz="2000" spc="-5" dirty="0">
                <a:latin typeface="Arial" panose="020B0604020202020204"/>
                <a:cs typeface="Arial" panose="020B0604020202020204"/>
              </a:rPr>
              <a:t>数目</a:t>
            </a:r>
            <a:r>
              <a:rPr sz="2000" spc="-5" dirty="0">
                <a:latin typeface="Arial" panose="020B0604020202020204"/>
                <a:cs typeface="Arial" panose="020B0604020202020204"/>
              </a:rPr>
              <a:t>(K =</a:t>
            </a:r>
            <a:r>
              <a:rPr sz="2000" spc="-95" dirty="0">
                <a:latin typeface="Arial" panose="020B0604020202020204"/>
                <a:cs typeface="Arial" panose="020B0604020202020204"/>
              </a:rPr>
              <a:t> </a:t>
            </a:r>
            <a:r>
              <a:rPr lang="en-US" altLang="zh-CN" sz="2000" spc="-5" dirty="0">
                <a:latin typeface="Arial" panose="020B0604020202020204"/>
                <a:cs typeface="Arial" panose="020B0604020202020204"/>
              </a:rPr>
              <a:t>3</a:t>
            </a:r>
            <a:r>
              <a:rPr sz="2000" spc="-5" dirty="0">
                <a:latin typeface="Arial" panose="020B0604020202020204"/>
                <a:cs typeface="Arial" panose="020B0604020202020204"/>
              </a:rPr>
              <a:t>):</a:t>
            </a:r>
            <a:endParaRPr sz="2000" dirty="0">
              <a:latin typeface="Arial" panose="020B0604020202020204"/>
              <a:cs typeface="Arial" panose="020B0604020202020204"/>
            </a:endParaRPr>
          </a:p>
          <a:p>
            <a:pPr marL="337820">
              <a:spcBef>
                <a:spcPts val="910"/>
              </a:spcBef>
            </a:pPr>
            <a:r>
              <a:rPr lang="en-US" altLang="zh-CN" sz="2000" spc="55" dirty="0">
                <a:latin typeface="Arial" panose="020B0604020202020204"/>
                <a:cs typeface="Arial" panose="020B0604020202020204"/>
              </a:rPr>
              <a:t>2</a:t>
            </a:r>
            <a:endParaRPr lang="en-US" altLang="zh-CN" sz="2000" spc="55" dirty="0">
              <a:latin typeface="Arial" panose="020B0604020202020204"/>
              <a:cs typeface="Arial" panose="020B0604020202020204"/>
            </a:endParaRPr>
          </a:p>
          <a:p>
            <a:pPr marL="337820">
              <a:spcBef>
                <a:spcPts val="910"/>
              </a:spcBef>
            </a:pPr>
            <a:r>
              <a:rPr sz="2000" spc="55" dirty="0">
                <a:latin typeface="Arial" panose="020B0604020202020204"/>
                <a:cs typeface="Arial" panose="020B0604020202020204"/>
              </a:rPr>
              <a:t>1</a:t>
            </a:r>
            <a:endParaRPr sz="2000" dirty="0">
              <a:latin typeface="Arial" panose="020B0604020202020204"/>
              <a:cs typeface="Arial" panose="020B0604020202020204"/>
            </a:endParaRPr>
          </a:p>
        </p:txBody>
      </p:sp>
      <p:sp>
        <p:nvSpPr>
          <p:cNvPr id="79" name="object 64"/>
          <p:cNvSpPr txBox="1"/>
          <p:nvPr/>
        </p:nvSpPr>
        <p:spPr>
          <a:xfrm>
            <a:off x="1080752" y="3819349"/>
            <a:ext cx="1049867" cy="320601"/>
          </a:xfrm>
          <a:prstGeom prst="rect">
            <a:avLst/>
          </a:prstGeom>
        </p:spPr>
        <p:txBody>
          <a:bodyPr vert="horz" wrap="square" lIns="0" tIns="12700" rIns="0" bIns="0" rtlCol="0">
            <a:spAutoFit/>
          </a:bodyPr>
          <a:lstStyle/>
          <a:p>
            <a:pPr marL="12700">
              <a:spcBef>
                <a:spcPts val="100"/>
              </a:spcBef>
            </a:pPr>
            <a:r>
              <a:rPr lang="zh-CN" altLang="en-US" sz="2000" b="1" spc="65" dirty="0">
                <a:solidFill>
                  <a:srgbClr val="C00000"/>
                </a:solidFill>
                <a:latin typeface="Trebuchet MS" panose="020B0603020202020204"/>
                <a:cs typeface="Trebuchet MS" panose="020B0603020202020204"/>
              </a:rPr>
              <a:t>预测</a:t>
            </a:r>
            <a:endParaRPr sz="2000" dirty="0">
              <a:latin typeface="Trebuchet MS" panose="020B0603020202020204"/>
              <a:cs typeface="Trebuchet MS" panose="020B0603020202020204"/>
            </a:endParaRPr>
          </a:p>
        </p:txBody>
      </p:sp>
      <p:sp>
        <p:nvSpPr>
          <p:cNvPr id="80" name="object 65"/>
          <p:cNvSpPr/>
          <p:nvPr/>
        </p:nvSpPr>
        <p:spPr>
          <a:xfrm>
            <a:off x="595377" y="3848863"/>
            <a:ext cx="288713" cy="268605"/>
          </a:xfrm>
          <a:custGeom>
            <a:avLst/>
            <a:gdLst/>
            <a:ahLst/>
            <a:cxnLst/>
            <a:rect l="l" t="t" r="r" b="b"/>
            <a:pathLst>
              <a:path w="216534" h="268604">
                <a:moveTo>
                  <a:pt x="108204" y="0"/>
                </a:moveTo>
                <a:lnTo>
                  <a:pt x="0" y="134112"/>
                </a:lnTo>
                <a:lnTo>
                  <a:pt x="108204" y="268224"/>
                </a:lnTo>
                <a:lnTo>
                  <a:pt x="216408" y="134112"/>
                </a:lnTo>
                <a:lnTo>
                  <a:pt x="108204" y="0"/>
                </a:lnTo>
                <a:close/>
              </a:path>
            </a:pathLst>
          </a:custGeom>
          <a:solidFill>
            <a:srgbClr val="FFC000"/>
          </a:solidFill>
        </p:spPr>
        <p:txBody>
          <a:bodyPr wrap="square" lIns="0" tIns="0" rIns="0" bIns="0" rtlCol="0"/>
          <a:lstStyle/>
          <a:p/>
        </p:txBody>
      </p:sp>
      <p:sp>
        <p:nvSpPr>
          <p:cNvPr id="81" name="object 66"/>
          <p:cNvSpPr/>
          <p:nvPr/>
        </p:nvSpPr>
        <p:spPr>
          <a:xfrm>
            <a:off x="595377" y="3848863"/>
            <a:ext cx="288713" cy="268605"/>
          </a:xfrm>
          <a:custGeom>
            <a:avLst/>
            <a:gdLst/>
            <a:ahLst/>
            <a:cxnLst/>
            <a:rect l="l" t="t" r="r" b="b"/>
            <a:pathLst>
              <a:path w="216534" h="268604">
                <a:moveTo>
                  <a:pt x="0" y="134112"/>
                </a:moveTo>
                <a:lnTo>
                  <a:pt x="108204" y="0"/>
                </a:lnTo>
                <a:lnTo>
                  <a:pt x="216408" y="134112"/>
                </a:lnTo>
                <a:lnTo>
                  <a:pt x="108204" y="268224"/>
                </a:lnTo>
                <a:lnTo>
                  <a:pt x="0" y="134112"/>
                </a:lnTo>
                <a:close/>
              </a:path>
            </a:pathLst>
          </a:custGeom>
          <a:ln w="12192">
            <a:solidFill>
              <a:srgbClr val="D0692F"/>
            </a:solidFill>
          </a:ln>
        </p:spPr>
        <p:txBody>
          <a:bodyPr wrap="square" lIns="0" tIns="0" rIns="0" bIns="0" rtlCol="0"/>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07071" y="3598926"/>
            <a:ext cx="266192" cy="199644"/>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7307073" y="3598928"/>
            <a:ext cx="266700" cy="200025"/>
          </a:xfrm>
          <a:custGeom>
            <a:avLst/>
            <a:gdLst/>
            <a:ahLst/>
            <a:cxnLst/>
            <a:rect l="l" t="t" r="r" b="b"/>
            <a:pathLst>
              <a:path w="200025" h="200025">
                <a:moveTo>
                  <a:pt x="0" y="99822"/>
                </a:moveTo>
                <a:lnTo>
                  <a:pt x="7846" y="60971"/>
                </a:lnTo>
                <a:lnTo>
                  <a:pt x="29241" y="29241"/>
                </a:lnTo>
                <a:lnTo>
                  <a:pt x="60971" y="7846"/>
                </a:lnTo>
                <a:lnTo>
                  <a:pt x="99822" y="0"/>
                </a:lnTo>
                <a:lnTo>
                  <a:pt x="138672" y="7846"/>
                </a:lnTo>
                <a:lnTo>
                  <a:pt x="170402" y="29241"/>
                </a:lnTo>
                <a:lnTo>
                  <a:pt x="191797" y="60971"/>
                </a:lnTo>
                <a:lnTo>
                  <a:pt x="199644" y="99822"/>
                </a:lnTo>
                <a:lnTo>
                  <a:pt x="191797" y="138672"/>
                </a:lnTo>
                <a:lnTo>
                  <a:pt x="170402" y="170402"/>
                </a:lnTo>
                <a:lnTo>
                  <a:pt x="138672" y="191797"/>
                </a:lnTo>
                <a:lnTo>
                  <a:pt x="99822" y="199644"/>
                </a:lnTo>
                <a:lnTo>
                  <a:pt x="60971" y="191797"/>
                </a:lnTo>
                <a:lnTo>
                  <a:pt x="29241" y="170402"/>
                </a:lnTo>
                <a:lnTo>
                  <a:pt x="7846" y="138672"/>
                </a:lnTo>
                <a:lnTo>
                  <a:pt x="0" y="99822"/>
                </a:lnTo>
                <a:close/>
              </a:path>
            </a:pathLst>
          </a:custGeom>
          <a:ln w="76200">
            <a:solidFill>
              <a:srgbClr val="F3D44E"/>
            </a:solidFill>
          </a:ln>
        </p:spPr>
        <p:txBody>
          <a:bodyPr wrap="square" lIns="0" tIns="0" rIns="0" bIns="0" rtlCol="0"/>
          <a:lstStyle/>
          <a:p/>
        </p:txBody>
      </p:sp>
      <p:sp>
        <p:nvSpPr>
          <p:cNvPr id="4" name="object 4"/>
          <p:cNvSpPr/>
          <p:nvPr/>
        </p:nvSpPr>
        <p:spPr>
          <a:xfrm>
            <a:off x="6455665" y="3726942"/>
            <a:ext cx="266191" cy="199644"/>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6455665" y="3726944"/>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3"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6" name="object 6"/>
          <p:cNvSpPr/>
          <p:nvPr/>
        </p:nvSpPr>
        <p:spPr>
          <a:xfrm>
            <a:off x="6638546" y="4269485"/>
            <a:ext cx="266191" cy="199644"/>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6638546" y="4269487"/>
            <a:ext cx="266700" cy="200025"/>
          </a:xfrm>
          <a:custGeom>
            <a:avLst/>
            <a:gdLst/>
            <a:ahLst/>
            <a:cxnLst/>
            <a:rect l="l" t="t" r="r" b="b"/>
            <a:pathLst>
              <a:path w="200025" h="200025">
                <a:moveTo>
                  <a:pt x="0" y="99821"/>
                </a:moveTo>
                <a:lnTo>
                  <a:pt x="7846" y="60971"/>
                </a:lnTo>
                <a:lnTo>
                  <a:pt x="29241" y="29241"/>
                </a:lnTo>
                <a:lnTo>
                  <a:pt x="60971" y="7846"/>
                </a:lnTo>
                <a:lnTo>
                  <a:pt x="99821" y="0"/>
                </a:lnTo>
                <a:lnTo>
                  <a:pt x="138672" y="7846"/>
                </a:lnTo>
                <a:lnTo>
                  <a:pt x="170402" y="29241"/>
                </a:lnTo>
                <a:lnTo>
                  <a:pt x="191797" y="60971"/>
                </a:lnTo>
                <a:lnTo>
                  <a:pt x="199643" y="99821"/>
                </a:lnTo>
                <a:lnTo>
                  <a:pt x="191797" y="138672"/>
                </a:lnTo>
                <a:lnTo>
                  <a:pt x="170402" y="170402"/>
                </a:lnTo>
                <a:lnTo>
                  <a:pt x="138672" y="191797"/>
                </a:lnTo>
                <a:lnTo>
                  <a:pt x="99821"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8" name="object 8"/>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9" name="object 9"/>
          <p:cNvSpPr/>
          <p:nvPr/>
        </p:nvSpPr>
        <p:spPr>
          <a:xfrm>
            <a:off x="7134354" y="4011931"/>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4"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11" name="object 11"/>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12" name="object 12"/>
          <p:cNvSpPr txBox="1"/>
          <p:nvPr/>
        </p:nvSpPr>
        <p:spPr>
          <a:xfrm>
            <a:off x="4062476"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13" name="object 13"/>
          <p:cNvSpPr txBox="1"/>
          <p:nvPr/>
        </p:nvSpPr>
        <p:spPr>
          <a:xfrm>
            <a:off x="3308266" y="2950720"/>
            <a:ext cx="1052407" cy="493395"/>
          </a:xfrm>
          <a:prstGeom prst="rect">
            <a:avLst/>
          </a:prstGeom>
        </p:spPr>
        <p:txBody>
          <a:bodyPr vert="horz" wrap="square" lIns="0" tIns="12700" rIns="0" bIns="0" rtlCol="0">
            <a:spAutoFit/>
          </a:bodyPr>
          <a:lstStyle/>
          <a:p>
            <a:pPr marR="5080" algn="r">
              <a:spcBef>
                <a:spcPts val="100"/>
              </a:spcBef>
            </a:pPr>
            <a:r>
              <a:rPr sz="1400" spc="-5" dirty="0">
                <a:solidFill>
                  <a:srgbClr val="344B5E"/>
                </a:solidFill>
                <a:latin typeface="Arial" panose="020B0604020202020204"/>
                <a:cs typeface="Arial" panose="020B0604020202020204"/>
              </a:rPr>
              <a:t>40</a:t>
            </a:r>
            <a:endParaRPr sz="1400" dirty="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dirty="0">
              <a:latin typeface="Arial" panose="020B0604020202020204"/>
              <a:cs typeface="Arial" panose="020B0604020202020204"/>
            </a:endParaRPr>
          </a:p>
        </p:txBody>
      </p:sp>
      <p:sp>
        <p:nvSpPr>
          <p:cNvPr id="14" name="object 14"/>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15" name="object 15"/>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dirty="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dirty="0">
              <a:latin typeface="Trebuchet MS" panose="020B0603020202020204"/>
              <a:cs typeface="Trebuchet MS" panose="020B0603020202020204"/>
            </a:endParaRPr>
          </a:p>
        </p:txBody>
      </p:sp>
      <p:sp>
        <p:nvSpPr>
          <p:cNvPr id="16" name="object 16"/>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7" name="object 17"/>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8" name="object 18"/>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19" name="object 19"/>
          <p:cNvSpPr/>
          <p:nvPr/>
        </p:nvSpPr>
        <p:spPr>
          <a:xfrm>
            <a:off x="8282433" y="3443477"/>
            <a:ext cx="266191" cy="199644"/>
          </a:xfrm>
          <a:prstGeom prst="rect">
            <a:avLst/>
          </a:prstGeom>
          <a:blipFill>
            <a:blip r:embed="rId1" cstate="print"/>
            <a:stretch>
              <a:fillRect/>
            </a:stretch>
          </a:blipFill>
        </p:spPr>
        <p:txBody>
          <a:bodyPr wrap="square" lIns="0" tIns="0" rIns="0" bIns="0" rtlCol="0"/>
          <a:lstStyle/>
          <a:p/>
        </p:txBody>
      </p:sp>
      <p:sp>
        <p:nvSpPr>
          <p:cNvPr id="20" name="object 20"/>
          <p:cNvSpPr/>
          <p:nvPr/>
        </p:nvSpPr>
        <p:spPr>
          <a:xfrm>
            <a:off x="7325362" y="3160014"/>
            <a:ext cx="266191" cy="199644"/>
          </a:xfrm>
          <a:prstGeom prst="rect">
            <a:avLst/>
          </a:prstGeom>
          <a:blipFill>
            <a:blip r:embed="rId2" cstate="print"/>
            <a:stretch>
              <a:fillRect/>
            </a:stretch>
          </a:blipFill>
        </p:spPr>
        <p:txBody>
          <a:bodyPr wrap="square" lIns="0" tIns="0" rIns="0" bIns="0" rtlCol="0"/>
          <a:lstStyle/>
          <a:p/>
        </p:txBody>
      </p:sp>
      <p:sp>
        <p:nvSpPr>
          <p:cNvPr id="21" name="object 21"/>
          <p:cNvSpPr/>
          <p:nvPr/>
        </p:nvSpPr>
        <p:spPr>
          <a:xfrm>
            <a:off x="7183120" y="2800350"/>
            <a:ext cx="268224" cy="199644"/>
          </a:xfrm>
          <a:prstGeom prst="rect">
            <a:avLst/>
          </a:prstGeom>
          <a:blipFill>
            <a:blip r:embed="rId4" cstate="print"/>
            <a:stretch>
              <a:fillRect/>
            </a:stretch>
          </a:blipFill>
        </p:spPr>
        <p:txBody>
          <a:bodyPr wrap="square" lIns="0" tIns="0" rIns="0" bIns="0" rtlCol="0"/>
          <a:lstStyle/>
          <a:p/>
        </p:txBody>
      </p:sp>
      <p:sp>
        <p:nvSpPr>
          <p:cNvPr id="22" name="object 22"/>
          <p:cNvSpPr/>
          <p:nvPr/>
        </p:nvSpPr>
        <p:spPr>
          <a:xfrm>
            <a:off x="6908802" y="2405635"/>
            <a:ext cx="268223" cy="199643"/>
          </a:xfrm>
          <a:prstGeom prst="rect">
            <a:avLst/>
          </a:prstGeom>
          <a:blipFill>
            <a:blip r:embed="rId4" cstate="print"/>
            <a:stretch>
              <a:fillRect/>
            </a:stretch>
          </a:blipFill>
        </p:spPr>
        <p:txBody>
          <a:bodyPr wrap="square" lIns="0" tIns="0" rIns="0" bIns="0" rtlCol="0"/>
          <a:lstStyle/>
          <a:p/>
        </p:txBody>
      </p:sp>
      <p:sp>
        <p:nvSpPr>
          <p:cNvPr id="23" name="object 23"/>
          <p:cNvSpPr/>
          <p:nvPr/>
        </p:nvSpPr>
        <p:spPr>
          <a:xfrm>
            <a:off x="7636255" y="2036825"/>
            <a:ext cx="266192" cy="199644"/>
          </a:xfrm>
          <a:prstGeom prst="rect">
            <a:avLst/>
          </a:prstGeom>
          <a:blipFill>
            <a:blip r:embed="rId3" cstate="print"/>
            <a:stretch>
              <a:fillRect/>
            </a:stretch>
          </a:blipFill>
        </p:spPr>
        <p:txBody>
          <a:bodyPr wrap="square" lIns="0" tIns="0" rIns="0" bIns="0" rtlCol="0"/>
          <a:lstStyle/>
          <a:p/>
        </p:txBody>
      </p:sp>
      <p:sp>
        <p:nvSpPr>
          <p:cNvPr id="24" name="object 24"/>
          <p:cNvSpPr/>
          <p:nvPr/>
        </p:nvSpPr>
        <p:spPr>
          <a:xfrm>
            <a:off x="8044687" y="2315717"/>
            <a:ext cx="266192" cy="199644"/>
          </a:xfrm>
          <a:prstGeom prst="rect">
            <a:avLst/>
          </a:prstGeom>
          <a:blipFill>
            <a:blip r:embed="rId1" cstate="print"/>
            <a:stretch>
              <a:fillRect/>
            </a:stretch>
          </a:blipFill>
        </p:spPr>
        <p:txBody>
          <a:bodyPr wrap="square" lIns="0" tIns="0" rIns="0" bIns="0" rtlCol="0"/>
          <a:lstStyle/>
          <a:p/>
        </p:txBody>
      </p:sp>
      <p:sp>
        <p:nvSpPr>
          <p:cNvPr id="25" name="object 25"/>
          <p:cNvSpPr/>
          <p:nvPr/>
        </p:nvSpPr>
        <p:spPr>
          <a:xfrm>
            <a:off x="8272271" y="2797301"/>
            <a:ext cx="266192" cy="199644"/>
          </a:xfrm>
          <a:prstGeom prst="rect">
            <a:avLst/>
          </a:prstGeom>
          <a:blipFill>
            <a:blip r:embed="rId1" cstate="print"/>
            <a:stretch>
              <a:fillRect/>
            </a:stretch>
          </a:blipFill>
        </p:spPr>
        <p:txBody>
          <a:bodyPr wrap="square" lIns="0" tIns="0" rIns="0" bIns="0" rtlCol="0"/>
          <a:lstStyle/>
          <a:p/>
        </p:txBody>
      </p:sp>
      <p:sp>
        <p:nvSpPr>
          <p:cNvPr id="26" name="object 26"/>
          <p:cNvSpPr/>
          <p:nvPr/>
        </p:nvSpPr>
        <p:spPr>
          <a:xfrm>
            <a:off x="7829297" y="2908554"/>
            <a:ext cx="266191" cy="199644"/>
          </a:xfrm>
          <a:prstGeom prst="rect">
            <a:avLst/>
          </a:prstGeom>
          <a:blipFill>
            <a:blip r:embed="rId1" cstate="print"/>
            <a:stretch>
              <a:fillRect/>
            </a:stretch>
          </a:blipFill>
        </p:spPr>
        <p:txBody>
          <a:bodyPr wrap="square" lIns="0" tIns="0" rIns="0" bIns="0" rtlCol="0"/>
          <a:lstStyle/>
          <a:p/>
        </p:txBody>
      </p:sp>
      <p:sp>
        <p:nvSpPr>
          <p:cNvPr id="27" name="object 27"/>
          <p:cNvSpPr/>
          <p:nvPr/>
        </p:nvSpPr>
        <p:spPr>
          <a:xfrm>
            <a:off x="8764015" y="2516887"/>
            <a:ext cx="266192" cy="199643"/>
          </a:xfrm>
          <a:prstGeom prst="rect">
            <a:avLst/>
          </a:prstGeom>
          <a:blipFill>
            <a:blip r:embed="rId1" cstate="print"/>
            <a:stretch>
              <a:fillRect/>
            </a:stretch>
          </a:blipFill>
        </p:spPr>
        <p:txBody>
          <a:bodyPr wrap="square" lIns="0" tIns="0" rIns="0" bIns="0" rtlCol="0"/>
          <a:lstStyle/>
          <a:p/>
        </p:txBody>
      </p:sp>
      <p:sp>
        <p:nvSpPr>
          <p:cNvPr id="28" name="object 28"/>
          <p:cNvSpPr/>
          <p:nvPr/>
        </p:nvSpPr>
        <p:spPr>
          <a:xfrm>
            <a:off x="8359649" y="1907288"/>
            <a:ext cx="266191" cy="199643"/>
          </a:xfrm>
          <a:prstGeom prst="rect">
            <a:avLst/>
          </a:prstGeom>
          <a:blipFill>
            <a:blip r:embed="rId1" cstate="print"/>
            <a:stretch>
              <a:fillRect/>
            </a:stretch>
          </a:blipFill>
        </p:spPr>
        <p:txBody>
          <a:bodyPr wrap="square" lIns="0" tIns="0" rIns="0" bIns="0" rtlCol="0"/>
          <a:lstStyle/>
          <a:p/>
        </p:txBody>
      </p:sp>
      <p:sp>
        <p:nvSpPr>
          <p:cNvPr id="29" name="object 29"/>
          <p:cNvSpPr/>
          <p:nvPr/>
        </p:nvSpPr>
        <p:spPr>
          <a:xfrm>
            <a:off x="9097263" y="2114550"/>
            <a:ext cx="266192" cy="199644"/>
          </a:xfrm>
          <a:prstGeom prst="rect">
            <a:avLst/>
          </a:prstGeom>
          <a:blipFill>
            <a:blip r:embed="rId1" cstate="print"/>
            <a:stretch>
              <a:fillRect/>
            </a:stretch>
          </a:blipFill>
        </p:spPr>
        <p:txBody>
          <a:bodyPr wrap="square" lIns="0" tIns="0" rIns="0" bIns="0" rtlCol="0"/>
          <a:lstStyle/>
          <a:p/>
        </p:txBody>
      </p:sp>
      <p:sp>
        <p:nvSpPr>
          <p:cNvPr id="30" name="object 30"/>
          <p:cNvSpPr/>
          <p:nvPr/>
        </p:nvSpPr>
        <p:spPr>
          <a:xfrm>
            <a:off x="10170159" y="2320289"/>
            <a:ext cx="266192" cy="199644"/>
          </a:xfrm>
          <a:prstGeom prst="rect">
            <a:avLst/>
          </a:prstGeom>
          <a:blipFill>
            <a:blip r:embed="rId1" cstate="print"/>
            <a:stretch>
              <a:fillRect/>
            </a:stretch>
          </a:blipFill>
        </p:spPr>
        <p:txBody>
          <a:bodyPr wrap="square" lIns="0" tIns="0" rIns="0" bIns="0" rtlCol="0"/>
          <a:lstStyle/>
          <a:p/>
        </p:txBody>
      </p:sp>
      <p:sp>
        <p:nvSpPr>
          <p:cNvPr id="31" name="object 31"/>
          <p:cNvSpPr/>
          <p:nvPr/>
        </p:nvSpPr>
        <p:spPr>
          <a:xfrm>
            <a:off x="9662159" y="2783585"/>
            <a:ext cx="266192" cy="199644"/>
          </a:xfrm>
          <a:prstGeom prst="rect">
            <a:avLst/>
          </a:prstGeom>
          <a:blipFill>
            <a:blip r:embed="rId1" cstate="print"/>
            <a:stretch>
              <a:fillRect/>
            </a:stretch>
          </a:blipFill>
        </p:spPr>
        <p:txBody>
          <a:bodyPr wrap="square" lIns="0" tIns="0" rIns="0" bIns="0" rtlCol="0"/>
          <a:lstStyle/>
          <a:p/>
        </p:txBody>
      </p:sp>
      <p:sp>
        <p:nvSpPr>
          <p:cNvPr id="32" name="object 32"/>
          <p:cNvSpPr/>
          <p:nvPr/>
        </p:nvSpPr>
        <p:spPr>
          <a:xfrm>
            <a:off x="9204959" y="3160014"/>
            <a:ext cx="266192" cy="199644"/>
          </a:xfrm>
          <a:prstGeom prst="rect">
            <a:avLst/>
          </a:prstGeom>
          <a:blipFill>
            <a:blip r:embed="rId2" cstate="print"/>
            <a:stretch>
              <a:fillRect/>
            </a:stretch>
          </a:blipFill>
        </p:spPr>
        <p:txBody>
          <a:bodyPr wrap="square" lIns="0" tIns="0" rIns="0" bIns="0" rtlCol="0"/>
          <a:lstStyle/>
          <a:p/>
        </p:txBody>
      </p:sp>
      <p:sp>
        <p:nvSpPr>
          <p:cNvPr id="33" name="object 33"/>
          <p:cNvSpPr/>
          <p:nvPr/>
        </p:nvSpPr>
        <p:spPr>
          <a:xfrm>
            <a:off x="9836911" y="3327654"/>
            <a:ext cx="266192" cy="199644"/>
          </a:xfrm>
          <a:prstGeom prst="rect">
            <a:avLst/>
          </a:prstGeom>
          <a:blipFill>
            <a:blip r:embed="rId1" cstate="print"/>
            <a:stretch>
              <a:fillRect/>
            </a:stretch>
          </a:blipFill>
        </p:spPr>
        <p:txBody>
          <a:bodyPr wrap="square" lIns="0" tIns="0" rIns="0" bIns="0" rtlCol="0"/>
          <a:lstStyle/>
          <a:p/>
        </p:txBody>
      </p:sp>
      <p:sp>
        <p:nvSpPr>
          <p:cNvPr id="34" name="object 34"/>
          <p:cNvSpPr/>
          <p:nvPr/>
        </p:nvSpPr>
        <p:spPr>
          <a:xfrm>
            <a:off x="6455665" y="3726942"/>
            <a:ext cx="266191" cy="199644"/>
          </a:xfrm>
          <a:prstGeom prst="rect">
            <a:avLst/>
          </a:prstGeom>
          <a:blipFill>
            <a:blip r:embed="rId5" cstate="print"/>
            <a:stretch>
              <a:fillRect/>
            </a:stretch>
          </a:blipFill>
        </p:spPr>
        <p:txBody>
          <a:bodyPr wrap="square" lIns="0" tIns="0" rIns="0" bIns="0" rtlCol="0"/>
          <a:lstStyle/>
          <a:p/>
        </p:txBody>
      </p:sp>
      <p:sp>
        <p:nvSpPr>
          <p:cNvPr id="35" name="object 35"/>
          <p:cNvSpPr/>
          <p:nvPr/>
        </p:nvSpPr>
        <p:spPr>
          <a:xfrm>
            <a:off x="5970017" y="3449573"/>
            <a:ext cx="266191" cy="199644"/>
          </a:xfrm>
          <a:prstGeom prst="rect">
            <a:avLst/>
          </a:prstGeom>
          <a:blipFill>
            <a:blip r:embed="rId6" cstate="print"/>
            <a:stretch>
              <a:fillRect/>
            </a:stretch>
          </a:blipFill>
        </p:spPr>
        <p:txBody>
          <a:bodyPr wrap="square" lIns="0" tIns="0" rIns="0" bIns="0" rtlCol="0"/>
          <a:lstStyle/>
          <a:p/>
        </p:txBody>
      </p:sp>
      <p:sp>
        <p:nvSpPr>
          <p:cNvPr id="36" name="object 36"/>
          <p:cNvSpPr/>
          <p:nvPr/>
        </p:nvSpPr>
        <p:spPr>
          <a:xfrm>
            <a:off x="6431281" y="3035045"/>
            <a:ext cx="266191" cy="199644"/>
          </a:xfrm>
          <a:prstGeom prst="rect">
            <a:avLst/>
          </a:prstGeom>
          <a:blipFill>
            <a:blip r:embed="rId6" cstate="print"/>
            <a:stretch>
              <a:fillRect/>
            </a:stretch>
          </a:blipFill>
        </p:spPr>
        <p:txBody>
          <a:bodyPr wrap="square" lIns="0" tIns="0" rIns="0" bIns="0" rtlCol="0"/>
          <a:lstStyle/>
          <a:p/>
        </p:txBody>
      </p:sp>
      <p:sp>
        <p:nvSpPr>
          <p:cNvPr id="37" name="object 37"/>
          <p:cNvSpPr/>
          <p:nvPr/>
        </p:nvSpPr>
        <p:spPr>
          <a:xfrm>
            <a:off x="7307071" y="3601973"/>
            <a:ext cx="266192" cy="199644"/>
          </a:xfrm>
          <a:prstGeom prst="rect">
            <a:avLst/>
          </a:prstGeom>
          <a:blipFill>
            <a:blip r:embed="rId6" cstate="print"/>
            <a:stretch>
              <a:fillRect/>
            </a:stretch>
          </a:blipFill>
        </p:spPr>
        <p:txBody>
          <a:bodyPr wrap="square" lIns="0" tIns="0" rIns="0" bIns="0" rtlCol="0"/>
          <a:lstStyle/>
          <a:p/>
        </p:txBody>
      </p:sp>
      <p:sp>
        <p:nvSpPr>
          <p:cNvPr id="38" name="object 38"/>
          <p:cNvSpPr/>
          <p:nvPr/>
        </p:nvSpPr>
        <p:spPr>
          <a:xfrm>
            <a:off x="7957314" y="3761994"/>
            <a:ext cx="266191" cy="199644"/>
          </a:xfrm>
          <a:prstGeom prst="rect">
            <a:avLst/>
          </a:prstGeom>
          <a:blipFill>
            <a:blip r:embed="rId6" cstate="print"/>
            <a:stretch>
              <a:fillRect/>
            </a:stretch>
          </a:blipFill>
        </p:spPr>
        <p:txBody>
          <a:bodyPr wrap="square" lIns="0" tIns="0" rIns="0" bIns="0" rtlCol="0"/>
          <a:lstStyle/>
          <a:p/>
        </p:txBody>
      </p:sp>
      <p:sp>
        <p:nvSpPr>
          <p:cNvPr id="39" name="object 39"/>
          <p:cNvSpPr/>
          <p:nvPr/>
        </p:nvSpPr>
        <p:spPr>
          <a:xfrm>
            <a:off x="8709154" y="2993898"/>
            <a:ext cx="266191" cy="199644"/>
          </a:xfrm>
          <a:prstGeom prst="rect">
            <a:avLst/>
          </a:prstGeom>
          <a:blipFill>
            <a:blip r:embed="rId7" cstate="print"/>
            <a:stretch>
              <a:fillRect/>
            </a:stretch>
          </a:blipFill>
        </p:spPr>
        <p:txBody>
          <a:bodyPr wrap="square" lIns="0" tIns="0" rIns="0" bIns="0" rtlCol="0"/>
          <a:lstStyle/>
          <a:p/>
        </p:txBody>
      </p:sp>
      <p:sp>
        <p:nvSpPr>
          <p:cNvPr id="40" name="object 40"/>
          <p:cNvSpPr/>
          <p:nvPr/>
        </p:nvSpPr>
        <p:spPr>
          <a:xfrm>
            <a:off x="7955281" y="4184141"/>
            <a:ext cx="266191" cy="199644"/>
          </a:xfrm>
          <a:prstGeom prst="rect">
            <a:avLst/>
          </a:prstGeom>
          <a:blipFill>
            <a:blip r:embed="rId5" cstate="print"/>
            <a:stretch>
              <a:fillRect/>
            </a:stretch>
          </a:blipFill>
        </p:spPr>
        <p:txBody>
          <a:bodyPr wrap="square" lIns="0" tIns="0" rIns="0" bIns="0" rtlCol="0"/>
          <a:lstStyle/>
          <a:p/>
        </p:txBody>
      </p:sp>
      <p:sp>
        <p:nvSpPr>
          <p:cNvPr id="41" name="object 41"/>
          <p:cNvSpPr/>
          <p:nvPr/>
        </p:nvSpPr>
        <p:spPr>
          <a:xfrm>
            <a:off x="7487920" y="4542282"/>
            <a:ext cx="266192" cy="199644"/>
          </a:xfrm>
          <a:prstGeom prst="rect">
            <a:avLst/>
          </a:prstGeom>
          <a:blipFill>
            <a:blip r:embed="rId6" cstate="print"/>
            <a:stretch>
              <a:fillRect/>
            </a:stretch>
          </a:blipFill>
        </p:spPr>
        <p:txBody>
          <a:bodyPr wrap="square" lIns="0" tIns="0" rIns="0" bIns="0" rtlCol="0"/>
          <a:lstStyle/>
          <a:p/>
        </p:txBody>
      </p:sp>
      <p:sp>
        <p:nvSpPr>
          <p:cNvPr id="42" name="object 42"/>
          <p:cNvSpPr/>
          <p:nvPr/>
        </p:nvSpPr>
        <p:spPr>
          <a:xfrm>
            <a:off x="8316978" y="4534661"/>
            <a:ext cx="268223" cy="199644"/>
          </a:xfrm>
          <a:prstGeom prst="rect">
            <a:avLst/>
          </a:prstGeom>
          <a:blipFill>
            <a:blip r:embed="rId8" cstate="print"/>
            <a:stretch>
              <a:fillRect/>
            </a:stretch>
          </a:blipFill>
        </p:spPr>
        <p:txBody>
          <a:bodyPr wrap="square" lIns="0" tIns="0" rIns="0" bIns="0" rtlCol="0"/>
          <a:lstStyle/>
          <a:p/>
        </p:txBody>
      </p:sp>
      <p:sp>
        <p:nvSpPr>
          <p:cNvPr id="43" name="object 43"/>
          <p:cNvSpPr/>
          <p:nvPr/>
        </p:nvSpPr>
        <p:spPr>
          <a:xfrm>
            <a:off x="6640578" y="4274058"/>
            <a:ext cx="266191" cy="199644"/>
          </a:xfrm>
          <a:prstGeom prst="rect">
            <a:avLst/>
          </a:prstGeom>
          <a:blipFill>
            <a:blip r:embed="rId6" cstate="print"/>
            <a:stretch>
              <a:fillRect/>
            </a:stretch>
          </a:blipFill>
        </p:spPr>
        <p:txBody>
          <a:bodyPr wrap="square" lIns="0" tIns="0" rIns="0" bIns="0" rtlCol="0"/>
          <a:lstStyle/>
          <a:p/>
        </p:txBody>
      </p:sp>
      <p:sp>
        <p:nvSpPr>
          <p:cNvPr id="44" name="object 44"/>
          <p:cNvSpPr/>
          <p:nvPr/>
        </p:nvSpPr>
        <p:spPr>
          <a:xfrm>
            <a:off x="6020817" y="4421885"/>
            <a:ext cx="266191" cy="199644"/>
          </a:xfrm>
          <a:prstGeom prst="rect">
            <a:avLst/>
          </a:prstGeom>
          <a:blipFill>
            <a:blip r:embed="rId6" cstate="print"/>
            <a:stretch>
              <a:fillRect/>
            </a:stretch>
          </a:blipFill>
        </p:spPr>
        <p:txBody>
          <a:bodyPr wrap="square" lIns="0" tIns="0" rIns="0" bIns="0" rtlCol="0"/>
          <a:lstStyle/>
          <a:p/>
        </p:txBody>
      </p:sp>
      <p:sp>
        <p:nvSpPr>
          <p:cNvPr id="45" name="object 45"/>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46" name="object 46"/>
          <p:cNvSpPr/>
          <p:nvPr/>
        </p:nvSpPr>
        <p:spPr>
          <a:xfrm>
            <a:off x="4793487" y="4293870"/>
            <a:ext cx="268224" cy="199644"/>
          </a:xfrm>
          <a:prstGeom prst="rect">
            <a:avLst/>
          </a:prstGeom>
          <a:blipFill>
            <a:blip r:embed="rId8" cstate="print"/>
            <a:stretch>
              <a:fillRect/>
            </a:stretch>
          </a:blipFill>
        </p:spPr>
        <p:txBody>
          <a:bodyPr wrap="square" lIns="0" tIns="0" rIns="0" bIns="0" rtlCol="0"/>
          <a:lstStyle/>
          <a:p/>
        </p:txBody>
      </p:sp>
      <p:sp>
        <p:nvSpPr>
          <p:cNvPr id="47" name="object 47"/>
          <p:cNvSpPr/>
          <p:nvPr/>
        </p:nvSpPr>
        <p:spPr>
          <a:xfrm>
            <a:off x="5573778" y="3833622"/>
            <a:ext cx="266191" cy="199644"/>
          </a:xfrm>
          <a:prstGeom prst="rect">
            <a:avLst/>
          </a:prstGeom>
          <a:blipFill>
            <a:blip r:embed="rId6" cstate="print"/>
            <a:stretch>
              <a:fillRect/>
            </a:stretch>
          </a:blipFill>
        </p:spPr>
        <p:txBody>
          <a:bodyPr wrap="square" lIns="0" tIns="0" rIns="0" bIns="0" rtlCol="0"/>
          <a:lstStyle/>
          <a:p/>
        </p:txBody>
      </p:sp>
      <p:sp>
        <p:nvSpPr>
          <p:cNvPr id="48" name="object 48"/>
          <p:cNvSpPr/>
          <p:nvPr/>
        </p:nvSpPr>
        <p:spPr>
          <a:xfrm>
            <a:off x="5262881" y="3446526"/>
            <a:ext cx="266191" cy="199644"/>
          </a:xfrm>
          <a:prstGeom prst="rect">
            <a:avLst/>
          </a:prstGeom>
          <a:blipFill>
            <a:blip r:embed="rId6" cstate="print"/>
            <a:stretch>
              <a:fillRect/>
            </a:stretch>
          </a:blipFill>
        </p:spPr>
        <p:txBody>
          <a:bodyPr wrap="square" lIns="0" tIns="0" rIns="0" bIns="0" rtlCol="0"/>
          <a:lstStyle/>
          <a:p/>
        </p:txBody>
      </p:sp>
      <p:sp>
        <p:nvSpPr>
          <p:cNvPr id="49" name="object 49"/>
          <p:cNvSpPr/>
          <p:nvPr/>
        </p:nvSpPr>
        <p:spPr>
          <a:xfrm>
            <a:off x="5693665" y="2775966"/>
            <a:ext cx="268223" cy="199644"/>
          </a:xfrm>
          <a:prstGeom prst="rect">
            <a:avLst/>
          </a:prstGeom>
          <a:blipFill>
            <a:blip r:embed="rId8" cstate="print"/>
            <a:stretch>
              <a:fillRect/>
            </a:stretch>
          </a:blipFill>
        </p:spPr>
        <p:txBody>
          <a:bodyPr wrap="square" lIns="0" tIns="0" rIns="0" bIns="0" rtlCol="0"/>
          <a:lstStyle/>
          <a:p/>
        </p:txBody>
      </p:sp>
      <p:sp>
        <p:nvSpPr>
          <p:cNvPr id="50" name="object 50"/>
          <p:cNvSpPr/>
          <p:nvPr/>
        </p:nvSpPr>
        <p:spPr>
          <a:xfrm>
            <a:off x="4661407" y="3242310"/>
            <a:ext cx="266192" cy="199644"/>
          </a:xfrm>
          <a:prstGeom prst="rect">
            <a:avLst/>
          </a:prstGeom>
          <a:blipFill>
            <a:blip r:embed="rId6" cstate="print"/>
            <a:stretch>
              <a:fillRect/>
            </a:stretch>
          </a:blipFill>
        </p:spPr>
        <p:txBody>
          <a:bodyPr wrap="square" lIns="0" tIns="0" rIns="0" bIns="0" rtlCol="0"/>
          <a:lstStyle/>
          <a:p/>
        </p:txBody>
      </p:sp>
      <p:sp>
        <p:nvSpPr>
          <p:cNvPr id="51" name="object 51"/>
          <p:cNvSpPr/>
          <p:nvPr/>
        </p:nvSpPr>
        <p:spPr>
          <a:xfrm>
            <a:off x="5128768" y="2394966"/>
            <a:ext cx="266192" cy="199644"/>
          </a:xfrm>
          <a:prstGeom prst="rect">
            <a:avLst/>
          </a:prstGeom>
          <a:blipFill>
            <a:blip r:embed="rId6" cstate="print"/>
            <a:stretch>
              <a:fillRect/>
            </a:stretch>
          </a:blipFill>
        </p:spPr>
        <p:txBody>
          <a:bodyPr wrap="square" lIns="0" tIns="0" rIns="0" bIns="0" rtlCol="0"/>
          <a:lstStyle/>
          <a:p/>
        </p:txBody>
      </p:sp>
      <p:sp>
        <p:nvSpPr>
          <p:cNvPr id="54" name="object 54"/>
          <p:cNvSpPr/>
          <p:nvPr/>
        </p:nvSpPr>
        <p:spPr>
          <a:xfrm>
            <a:off x="4775200" y="2775966"/>
            <a:ext cx="266192" cy="199644"/>
          </a:xfrm>
          <a:prstGeom prst="rect">
            <a:avLst/>
          </a:prstGeom>
          <a:blipFill>
            <a:blip r:embed="rId6" cstate="print"/>
            <a:stretch>
              <a:fillRect/>
            </a:stretch>
          </a:blipFill>
        </p:spPr>
        <p:txBody>
          <a:bodyPr wrap="square" lIns="0" tIns="0" rIns="0" bIns="0" rtlCol="0"/>
          <a:lstStyle/>
          <a:p/>
        </p:txBody>
      </p:sp>
      <p:sp>
        <p:nvSpPr>
          <p:cNvPr id="55" name="object 55"/>
          <p:cNvSpPr/>
          <p:nvPr/>
        </p:nvSpPr>
        <p:spPr>
          <a:xfrm>
            <a:off x="4712207" y="2120648"/>
            <a:ext cx="266192" cy="199643"/>
          </a:xfrm>
          <a:prstGeom prst="rect">
            <a:avLst/>
          </a:prstGeom>
          <a:blipFill>
            <a:blip r:embed="rId6" cstate="print"/>
            <a:stretch>
              <a:fillRect/>
            </a:stretch>
          </a:blipFill>
        </p:spPr>
        <p:txBody>
          <a:bodyPr wrap="square" lIns="0" tIns="0" rIns="0" bIns="0" rtlCol="0"/>
          <a:lstStyle/>
          <a:p/>
        </p:txBody>
      </p:sp>
      <p:sp>
        <p:nvSpPr>
          <p:cNvPr id="56" name="object 56"/>
          <p:cNvSpPr/>
          <p:nvPr/>
        </p:nvSpPr>
        <p:spPr>
          <a:xfrm>
            <a:off x="5262881" y="2993898"/>
            <a:ext cx="266191" cy="199644"/>
          </a:xfrm>
          <a:prstGeom prst="rect">
            <a:avLst/>
          </a:prstGeom>
          <a:blipFill>
            <a:blip r:embed="rId6" cstate="print"/>
            <a:stretch>
              <a:fillRect/>
            </a:stretch>
          </a:blipFill>
        </p:spPr>
        <p:txBody>
          <a:bodyPr wrap="square" lIns="0" tIns="0" rIns="0" bIns="0" rtlCol="0"/>
          <a:lstStyle/>
          <a:p/>
        </p:txBody>
      </p:sp>
      <p:sp>
        <p:nvSpPr>
          <p:cNvPr id="57" name="object 57"/>
          <p:cNvSpPr/>
          <p:nvPr/>
        </p:nvSpPr>
        <p:spPr>
          <a:xfrm>
            <a:off x="4748784" y="3761994"/>
            <a:ext cx="266192" cy="199644"/>
          </a:xfrm>
          <a:prstGeom prst="rect">
            <a:avLst/>
          </a:prstGeom>
          <a:blipFill>
            <a:blip r:embed="rId6" cstate="print"/>
            <a:stretch>
              <a:fillRect/>
            </a:stretch>
          </a:blipFill>
        </p:spPr>
        <p:txBody>
          <a:bodyPr wrap="square" lIns="0" tIns="0" rIns="0" bIns="0" rtlCol="0"/>
          <a:lstStyle/>
          <a:p/>
        </p:txBody>
      </p:sp>
      <p:sp>
        <p:nvSpPr>
          <p:cNvPr id="58" name="object 58"/>
          <p:cNvSpPr/>
          <p:nvPr/>
        </p:nvSpPr>
        <p:spPr>
          <a:xfrm>
            <a:off x="5161281" y="4016501"/>
            <a:ext cx="266191" cy="199644"/>
          </a:xfrm>
          <a:prstGeom prst="rect">
            <a:avLst/>
          </a:prstGeom>
          <a:blipFill>
            <a:blip r:embed="rId6" cstate="print"/>
            <a:stretch>
              <a:fillRect/>
            </a:stretch>
          </a:blipFill>
        </p:spPr>
        <p:txBody>
          <a:bodyPr wrap="square" lIns="0" tIns="0" rIns="0" bIns="0" rtlCol="0"/>
          <a:lstStyle/>
          <a:p/>
        </p:txBody>
      </p:sp>
      <p:sp>
        <p:nvSpPr>
          <p:cNvPr id="59" name="object 59"/>
          <p:cNvSpPr/>
          <p:nvPr/>
        </p:nvSpPr>
        <p:spPr>
          <a:xfrm>
            <a:off x="5573778" y="2366012"/>
            <a:ext cx="266191" cy="199643"/>
          </a:xfrm>
          <a:prstGeom prst="rect">
            <a:avLst/>
          </a:prstGeom>
          <a:blipFill>
            <a:blip r:embed="rId6" cstate="print"/>
            <a:stretch>
              <a:fillRect/>
            </a:stretch>
          </a:blipFill>
        </p:spPr>
        <p:txBody>
          <a:bodyPr wrap="square" lIns="0" tIns="0" rIns="0" bIns="0" rtlCol="0"/>
          <a:lstStyle/>
          <a:p/>
        </p:txBody>
      </p:sp>
      <p:sp>
        <p:nvSpPr>
          <p:cNvPr id="60" name="object 60"/>
          <p:cNvSpPr/>
          <p:nvPr/>
        </p:nvSpPr>
        <p:spPr>
          <a:xfrm>
            <a:off x="5669281" y="3158489"/>
            <a:ext cx="266191" cy="199644"/>
          </a:xfrm>
          <a:prstGeom prst="rect">
            <a:avLst/>
          </a:prstGeom>
          <a:blipFill>
            <a:blip r:embed="rId6" cstate="print"/>
            <a:stretch>
              <a:fillRect/>
            </a:stretch>
          </a:blipFill>
        </p:spPr>
        <p:txBody>
          <a:bodyPr wrap="square" lIns="0" tIns="0" rIns="0" bIns="0" rtlCol="0"/>
          <a:lstStyle/>
          <a:p/>
        </p:txBody>
      </p:sp>
      <p:sp>
        <p:nvSpPr>
          <p:cNvPr id="61" name="object 61"/>
          <p:cNvSpPr/>
          <p:nvPr/>
        </p:nvSpPr>
        <p:spPr>
          <a:xfrm>
            <a:off x="5970017" y="4007357"/>
            <a:ext cx="266191" cy="199644"/>
          </a:xfrm>
          <a:prstGeom prst="rect">
            <a:avLst/>
          </a:prstGeom>
          <a:blipFill>
            <a:blip r:embed="rId6" cstate="print"/>
            <a:stretch>
              <a:fillRect/>
            </a:stretch>
          </a:blipFill>
        </p:spPr>
        <p:txBody>
          <a:bodyPr wrap="square" lIns="0" tIns="0" rIns="0" bIns="0" rtlCol="0"/>
          <a:lstStyle/>
          <a:p/>
        </p:txBody>
      </p:sp>
      <p:sp>
        <p:nvSpPr>
          <p:cNvPr id="62" name="object 62"/>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63" name="object 63"/>
          <p:cNvSpPr/>
          <p:nvPr/>
        </p:nvSpPr>
        <p:spPr>
          <a:xfrm>
            <a:off x="6431281" y="3353561"/>
            <a:ext cx="266191" cy="199644"/>
          </a:xfrm>
          <a:prstGeom prst="rect">
            <a:avLst/>
          </a:prstGeom>
          <a:blipFill>
            <a:blip r:embed="rId6" cstate="print"/>
            <a:stretch>
              <a:fillRect/>
            </a:stretch>
          </a:blipFill>
        </p:spPr>
        <p:txBody>
          <a:bodyPr wrap="square" lIns="0" tIns="0" rIns="0" bIns="0" rtlCol="0"/>
          <a:lstStyle/>
          <a:p/>
        </p:txBody>
      </p:sp>
      <p:sp>
        <p:nvSpPr>
          <p:cNvPr id="64" name="object 64"/>
          <p:cNvSpPr/>
          <p:nvPr/>
        </p:nvSpPr>
        <p:spPr>
          <a:xfrm>
            <a:off x="6030978" y="3013710"/>
            <a:ext cx="266191" cy="199644"/>
          </a:xfrm>
          <a:prstGeom prst="rect">
            <a:avLst/>
          </a:prstGeom>
          <a:blipFill>
            <a:blip r:embed="rId6" cstate="print"/>
            <a:stretch>
              <a:fillRect/>
            </a:stretch>
          </a:blipFill>
        </p:spPr>
        <p:txBody>
          <a:bodyPr wrap="square" lIns="0" tIns="0" rIns="0" bIns="0" rtlCol="0"/>
          <a:lstStyle/>
          <a:p/>
        </p:txBody>
      </p:sp>
      <p:sp>
        <p:nvSpPr>
          <p:cNvPr id="65" name="object 65"/>
          <p:cNvSpPr/>
          <p:nvPr/>
        </p:nvSpPr>
        <p:spPr>
          <a:xfrm>
            <a:off x="8885936" y="4525517"/>
            <a:ext cx="266192" cy="201168"/>
          </a:xfrm>
          <a:prstGeom prst="rect">
            <a:avLst/>
          </a:prstGeom>
          <a:blipFill>
            <a:blip r:embed="rId9" cstate="print"/>
            <a:stretch>
              <a:fillRect/>
            </a:stretch>
          </a:blipFill>
        </p:spPr>
        <p:txBody>
          <a:bodyPr wrap="square" lIns="0" tIns="0" rIns="0" bIns="0" rtlCol="0"/>
          <a:lstStyle/>
          <a:p/>
        </p:txBody>
      </p:sp>
      <p:sp>
        <p:nvSpPr>
          <p:cNvPr id="66" name="object 66"/>
          <p:cNvSpPr/>
          <p:nvPr/>
        </p:nvSpPr>
        <p:spPr>
          <a:xfrm>
            <a:off x="8436863" y="4174997"/>
            <a:ext cx="266192" cy="199644"/>
          </a:xfrm>
          <a:prstGeom prst="rect">
            <a:avLst/>
          </a:prstGeom>
          <a:blipFill>
            <a:blip r:embed="rId6" cstate="print"/>
            <a:stretch>
              <a:fillRect/>
            </a:stretch>
          </a:blipFill>
        </p:spPr>
        <p:txBody>
          <a:bodyPr wrap="square" lIns="0" tIns="0" rIns="0" bIns="0" rtlCol="0"/>
          <a:lstStyle/>
          <a:p/>
        </p:txBody>
      </p:sp>
      <p:sp>
        <p:nvSpPr>
          <p:cNvPr id="67" name="object 67"/>
          <p:cNvSpPr/>
          <p:nvPr/>
        </p:nvSpPr>
        <p:spPr>
          <a:xfrm>
            <a:off x="9558527" y="4516373"/>
            <a:ext cx="266192" cy="199644"/>
          </a:xfrm>
          <a:prstGeom prst="rect">
            <a:avLst/>
          </a:prstGeom>
          <a:blipFill>
            <a:blip r:embed="rId6" cstate="print"/>
            <a:stretch>
              <a:fillRect/>
            </a:stretch>
          </a:blipFill>
        </p:spPr>
        <p:txBody>
          <a:bodyPr wrap="square" lIns="0" tIns="0" rIns="0" bIns="0" rtlCol="0"/>
          <a:lstStyle/>
          <a:p/>
        </p:txBody>
      </p:sp>
      <p:sp>
        <p:nvSpPr>
          <p:cNvPr id="68" name="object 68"/>
          <p:cNvSpPr/>
          <p:nvPr/>
        </p:nvSpPr>
        <p:spPr>
          <a:xfrm>
            <a:off x="2244345" y="3945508"/>
            <a:ext cx="4601633" cy="134620"/>
          </a:xfrm>
          <a:custGeom>
            <a:avLst/>
            <a:gdLst/>
            <a:ahLst/>
            <a:cxnLst/>
            <a:rect l="l" t="t" r="r" b="b"/>
            <a:pathLst>
              <a:path w="3451225" h="134619">
                <a:moveTo>
                  <a:pt x="3393567" y="67183"/>
                </a:moveTo>
                <a:lnTo>
                  <a:pt x="3321177" y="109347"/>
                </a:lnTo>
                <a:lnTo>
                  <a:pt x="3318891" y="118237"/>
                </a:lnTo>
                <a:lnTo>
                  <a:pt x="3322828" y="125095"/>
                </a:lnTo>
                <a:lnTo>
                  <a:pt x="3326892" y="132080"/>
                </a:lnTo>
                <a:lnTo>
                  <a:pt x="3335781" y="134366"/>
                </a:lnTo>
                <a:lnTo>
                  <a:pt x="3426122" y="81661"/>
                </a:lnTo>
                <a:lnTo>
                  <a:pt x="3422269" y="81661"/>
                </a:lnTo>
                <a:lnTo>
                  <a:pt x="3422269" y="79629"/>
                </a:lnTo>
                <a:lnTo>
                  <a:pt x="3414903" y="79629"/>
                </a:lnTo>
                <a:lnTo>
                  <a:pt x="3393567" y="67183"/>
                </a:lnTo>
                <a:close/>
              </a:path>
              <a:path w="3451225" h="134619">
                <a:moveTo>
                  <a:pt x="3368747" y="52705"/>
                </a:moveTo>
                <a:lnTo>
                  <a:pt x="0" y="52705"/>
                </a:lnTo>
                <a:lnTo>
                  <a:pt x="0" y="81661"/>
                </a:lnTo>
                <a:lnTo>
                  <a:pt x="3368747" y="81661"/>
                </a:lnTo>
                <a:lnTo>
                  <a:pt x="3393566" y="67183"/>
                </a:lnTo>
                <a:lnTo>
                  <a:pt x="3368747" y="52705"/>
                </a:lnTo>
                <a:close/>
              </a:path>
              <a:path w="3451225" h="134619">
                <a:moveTo>
                  <a:pt x="3426122" y="52705"/>
                </a:moveTo>
                <a:lnTo>
                  <a:pt x="3422269" y="52705"/>
                </a:lnTo>
                <a:lnTo>
                  <a:pt x="3422269" y="81661"/>
                </a:lnTo>
                <a:lnTo>
                  <a:pt x="3426122" y="81661"/>
                </a:lnTo>
                <a:lnTo>
                  <a:pt x="3450971" y="67183"/>
                </a:lnTo>
                <a:lnTo>
                  <a:pt x="3426122" y="52705"/>
                </a:lnTo>
                <a:close/>
              </a:path>
              <a:path w="3451225" h="134619">
                <a:moveTo>
                  <a:pt x="3414903" y="54737"/>
                </a:moveTo>
                <a:lnTo>
                  <a:pt x="3393567" y="67183"/>
                </a:lnTo>
                <a:lnTo>
                  <a:pt x="3414903" y="79629"/>
                </a:lnTo>
                <a:lnTo>
                  <a:pt x="3414903" y="54737"/>
                </a:lnTo>
                <a:close/>
              </a:path>
              <a:path w="3451225" h="134619">
                <a:moveTo>
                  <a:pt x="3422269" y="54737"/>
                </a:moveTo>
                <a:lnTo>
                  <a:pt x="3414903" y="54737"/>
                </a:lnTo>
                <a:lnTo>
                  <a:pt x="3414903" y="79629"/>
                </a:lnTo>
                <a:lnTo>
                  <a:pt x="3422269" y="79629"/>
                </a:lnTo>
                <a:lnTo>
                  <a:pt x="3422269" y="54737"/>
                </a:lnTo>
                <a:close/>
              </a:path>
              <a:path w="3451225" h="134619">
                <a:moveTo>
                  <a:pt x="3335781" y="0"/>
                </a:moveTo>
                <a:lnTo>
                  <a:pt x="3326892" y="2286"/>
                </a:lnTo>
                <a:lnTo>
                  <a:pt x="3322828" y="9271"/>
                </a:lnTo>
                <a:lnTo>
                  <a:pt x="3318891" y="16129"/>
                </a:lnTo>
                <a:lnTo>
                  <a:pt x="3321177" y="25018"/>
                </a:lnTo>
                <a:lnTo>
                  <a:pt x="3393567" y="67183"/>
                </a:lnTo>
                <a:lnTo>
                  <a:pt x="3414903" y="54737"/>
                </a:lnTo>
                <a:lnTo>
                  <a:pt x="3422269" y="54737"/>
                </a:lnTo>
                <a:lnTo>
                  <a:pt x="3422269" y="52705"/>
                </a:lnTo>
                <a:lnTo>
                  <a:pt x="3426122" y="52705"/>
                </a:lnTo>
                <a:lnTo>
                  <a:pt x="3335781" y="0"/>
                </a:lnTo>
                <a:close/>
              </a:path>
            </a:pathLst>
          </a:custGeom>
          <a:solidFill>
            <a:srgbClr val="C00000"/>
          </a:solidFill>
        </p:spPr>
        <p:txBody>
          <a:bodyPr wrap="square" lIns="0" tIns="0" rIns="0" bIns="0" rtlCol="0"/>
          <a:lstStyle/>
          <a:p/>
        </p:txBody>
      </p:sp>
      <p:sp>
        <p:nvSpPr>
          <p:cNvPr id="73" name="object 73"/>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74" name="object 74"/>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77" name="标题 76"/>
          <p:cNvSpPr>
            <a:spLocks noGrp="1"/>
          </p:cNvSpPr>
          <p:nvPr>
            <p:ph type="title"/>
          </p:nvPr>
        </p:nvSpPr>
        <p:spPr/>
        <p:txBody>
          <a:bodyPr/>
          <a:lstStyle/>
          <a:p>
            <a:r>
              <a:rPr lang="en-US" altLang="zh-CN" dirty="0"/>
              <a:t>K</a:t>
            </a:r>
            <a:r>
              <a:rPr lang="zh-CN" altLang="en-US" dirty="0"/>
              <a:t>近邻（</a:t>
            </a:r>
            <a:r>
              <a:rPr lang="en-US" altLang="zh-CN" dirty="0"/>
              <a:t>KNN</a:t>
            </a:r>
            <a:r>
              <a:rPr lang="zh-CN" altLang="en-US" dirty="0"/>
              <a:t>）分类</a:t>
            </a:r>
            <a:endParaRPr lang="zh-CN" altLang="en-US" dirty="0"/>
          </a:p>
        </p:txBody>
      </p:sp>
      <p:sp>
        <p:nvSpPr>
          <p:cNvPr id="78" name="object 3"/>
          <p:cNvSpPr/>
          <p:nvPr/>
        </p:nvSpPr>
        <p:spPr>
          <a:xfrm>
            <a:off x="611631" y="2236471"/>
            <a:ext cx="266192" cy="199643"/>
          </a:xfrm>
          <a:prstGeom prst="rect">
            <a:avLst/>
          </a:prstGeom>
          <a:blipFill>
            <a:blip r:embed="rId10" cstate="print"/>
            <a:stretch>
              <a:fillRect/>
            </a:stretch>
          </a:blipFill>
        </p:spPr>
        <p:txBody>
          <a:bodyPr wrap="square" lIns="0" tIns="0" rIns="0" bIns="0" rtlCol="0"/>
          <a:lstStyle/>
          <a:p/>
        </p:txBody>
      </p:sp>
      <p:sp>
        <p:nvSpPr>
          <p:cNvPr id="79" name="object 4"/>
          <p:cNvSpPr/>
          <p:nvPr/>
        </p:nvSpPr>
        <p:spPr>
          <a:xfrm>
            <a:off x="611631" y="2670812"/>
            <a:ext cx="266192" cy="201167"/>
          </a:xfrm>
          <a:prstGeom prst="rect">
            <a:avLst/>
          </a:prstGeom>
          <a:blipFill>
            <a:blip r:embed="rId11" cstate="print"/>
            <a:stretch>
              <a:fillRect/>
            </a:stretch>
          </a:blipFill>
        </p:spPr>
        <p:txBody>
          <a:bodyPr wrap="square" lIns="0" tIns="0" rIns="0" bIns="0" rtlCol="0"/>
          <a:lstStyle/>
          <a:p/>
        </p:txBody>
      </p:sp>
      <p:sp>
        <p:nvSpPr>
          <p:cNvPr id="80" name="object 5"/>
          <p:cNvSpPr txBox="1"/>
          <p:nvPr/>
        </p:nvSpPr>
        <p:spPr>
          <a:xfrm>
            <a:off x="624673" y="1609146"/>
            <a:ext cx="2889673" cy="1298432"/>
          </a:xfrm>
          <a:prstGeom prst="rect">
            <a:avLst/>
          </a:prstGeom>
        </p:spPr>
        <p:txBody>
          <a:bodyPr vert="horz" wrap="square" lIns="0" tIns="142875" rIns="0" bIns="0" rtlCol="0">
            <a:spAutoFit/>
          </a:bodyPr>
          <a:lstStyle/>
          <a:p>
            <a:pPr marL="12700">
              <a:spcBef>
                <a:spcPts val="1125"/>
              </a:spcBef>
            </a:pPr>
            <a:r>
              <a:rPr lang="zh-CN" altLang="en-US" sz="2000" dirty="0"/>
              <a:t>近邻</a:t>
            </a:r>
            <a:r>
              <a:rPr lang="zh-CN" altLang="en-US" sz="2000" spc="-5" dirty="0">
                <a:latin typeface="Arial" panose="020B0604020202020204"/>
                <a:cs typeface="Arial" panose="020B0604020202020204"/>
              </a:rPr>
              <a:t>数目</a:t>
            </a:r>
            <a:r>
              <a:rPr sz="2000" spc="-5" dirty="0">
                <a:latin typeface="Arial" panose="020B0604020202020204"/>
                <a:cs typeface="Arial" panose="020B0604020202020204"/>
              </a:rPr>
              <a:t>(K =</a:t>
            </a:r>
            <a:r>
              <a:rPr sz="2000" spc="-95" dirty="0">
                <a:latin typeface="Arial" panose="020B0604020202020204"/>
                <a:cs typeface="Arial" panose="020B0604020202020204"/>
              </a:rPr>
              <a:t> </a:t>
            </a:r>
            <a:r>
              <a:rPr lang="en-US" altLang="zh-CN" sz="2000" spc="-5" dirty="0">
                <a:latin typeface="Arial" panose="020B0604020202020204"/>
                <a:cs typeface="Arial" panose="020B0604020202020204"/>
              </a:rPr>
              <a:t>4</a:t>
            </a:r>
            <a:r>
              <a:rPr sz="2000" spc="-5" dirty="0">
                <a:latin typeface="Arial" panose="020B0604020202020204"/>
                <a:cs typeface="Arial" panose="020B0604020202020204"/>
              </a:rPr>
              <a:t>):</a:t>
            </a:r>
            <a:endParaRPr sz="2000" dirty="0">
              <a:latin typeface="Arial" panose="020B0604020202020204"/>
              <a:cs typeface="Arial" panose="020B0604020202020204"/>
            </a:endParaRPr>
          </a:p>
          <a:p>
            <a:pPr marL="337820">
              <a:spcBef>
                <a:spcPts val="910"/>
              </a:spcBef>
            </a:pPr>
            <a:r>
              <a:rPr lang="en-US" altLang="zh-CN" sz="2000" spc="55" dirty="0">
                <a:latin typeface="Arial" panose="020B0604020202020204"/>
                <a:cs typeface="Arial" panose="020B0604020202020204"/>
              </a:rPr>
              <a:t>3</a:t>
            </a:r>
            <a:endParaRPr lang="en-US" altLang="zh-CN" sz="2000" spc="55" dirty="0">
              <a:latin typeface="Arial" panose="020B0604020202020204"/>
              <a:cs typeface="Arial" panose="020B0604020202020204"/>
            </a:endParaRPr>
          </a:p>
          <a:p>
            <a:pPr marL="337820">
              <a:spcBef>
                <a:spcPts val="910"/>
              </a:spcBef>
            </a:pPr>
            <a:r>
              <a:rPr sz="2000" spc="55" dirty="0">
                <a:latin typeface="Arial" panose="020B0604020202020204"/>
                <a:cs typeface="Arial" panose="020B0604020202020204"/>
              </a:rPr>
              <a:t>1</a:t>
            </a:r>
            <a:endParaRPr sz="2000" dirty="0">
              <a:latin typeface="Arial" panose="020B0604020202020204"/>
              <a:cs typeface="Arial" panose="020B0604020202020204"/>
            </a:endParaRPr>
          </a:p>
        </p:txBody>
      </p:sp>
      <p:sp>
        <p:nvSpPr>
          <p:cNvPr id="81" name="object 64"/>
          <p:cNvSpPr txBox="1"/>
          <p:nvPr/>
        </p:nvSpPr>
        <p:spPr>
          <a:xfrm>
            <a:off x="1080752" y="3819349"/>
            <a:ext cx="1049867" cy="320601"/>
          </a:xfrm>
          <a:prstGeom prst="rect">
            <a:avLst/>
          </a:prstGeom>
        </p:spPr>
        <p:txBody>
          <a:bodyPr vert="horz" wrap="square" lIns="0" tIns="12700" rIns="0" bIns="0" rtlCol="0">
            <a:spAutoFit/>
          </a:bodyPr>
          <a:lstStyle/>
          <a:p>
            <a:pPr marL="12700">
              <a:spcBef>
                <a:spcPts val="100"/>
              </a:spcBef>
            </a:pPr>
            <a:r>
              <a:rPr lang="zh-CN" altLang="en-US" sz="2000" b="1" spc="65" dirty="0">
                <a:solidFill>
                  <a:srgbClr val="C00000"/>
                </a:solidFill>
                <a:latin typeface="Trebuchet MS" panose="020B0603020202020204"/>
                <a:cs typeface="Trebuchet MS" panose="020B0603020202020204"/>
              </a:rPr>
              <a:t>预测</a:t>
            </a:r>
            <a:endParaRPr sz="2000" dirty="0">
              <a:latin typeface="Trebuchet MS" panose="020B0603020202020204"/>
              <a:cs typeface="Trebuchet MS" panose="020B0603020202020204"/>
            </a:endParaRPr>
          </a:p>
        </p:txBody>
      </p:sp>
      <p:sp>
        <p:nvSpPr>
          <p:cNvPr id="82" name="object 65"/>
          <p:cNvSpPr/>
          <p:nvPr/>
        </p:nvSpPr>
        <p:spPr>
          <a:xfrm>
            <a:off x="595377" y="3848863"/>
            <a:ext cx="288713" cy="268605"/>
          </a:xfrm>
          <a:custGeom>
            <a:avLst/>
            <a:gdLst/>
            <a:ahLst/>
            <a:cxnLst/>
            <a:rect l="l" t="t" r="r" b="b"/>
            <a:pathLst>
              <a:path w="216534" h="268604">
                <a:moveTo>
                  <a:pt x="108204" y="0"/>
                </a:moveTo>
                <a:lnTo>
                  <a:pt x="0" y="134112"/>
                </a:lnTo>
                <a:lnTo>
                  <a:pt x="108204" y="268224"/>
                </a:lnTo>
                <a:lnTo>
                  <a:pt x="216408" y="134112"/>
                </a:lnTo>
                <a:lnTo>
                  <a:pt x="108204" y="0"/>
                </a:lnTo>
                <a:close/>
              </a:path>
            </a:pathLst>
          </a:custGeom>
          <a:solidFill>
            <a:srgbClr val="FFC000"/>
          </a:solidFill>
        </p:spPr>
        <p:txBody>
          <a:bodyPr wrap="square" lIns="0" tIns="0" rIns="0" bIns="0" rtlCol="0"/>
          <a:lstStyle/>
          <a:p/>
        </p:txBody>
      </p:sp>
      <p:sp>
        <p:nvSpPr>
          <p:cNvPr id="83" name="object 66"/>
          <p:cNvSpPr/>
          <p:nvPr/>
        </p:nvSpPr>
        <p:spPr>
          <a:xfrm>
            <a:off x="595377" y="3848863"/>
            <a:ext cx="288713" cy="268605"/>
          </a:xfrm>
          <a:custGeom>
            <a:avLst/>
            <a:gdLst/>
            <a:ahLst/>
            <a:cxnLst/>
            <a:rect l="l" t="t" r="r" b="b"/>
            <a:pathLst>
              <a:path w="216534" h="268604">
                <a:moveTo>
                  <a:pt x="0" y="134112"/>
                </a:moveTo>
                <a:lnTo>
                  <a:pt x="108204" y="0"/>
                </a:lnTo>
                <a:lnTo>
                  <a:pt x="216408" y="134112"/>
                </a:lnTo>
                <a:lnTo>
                  <a:pt x="108204" y="268224"/>
                </a:lnTo>
                <a:lnTo>
                  <a:pt x="0" y="134112"/>
                </a:lnTo>
                <a:close/>
              </a:path>
            </a:pathLst>
          </a:custGeom>
          <a:ln w="12192">
            <a:solidFill>
              <a:srgbClr val="D0692F"/>
            </a:solidFill>
          </a:ln>
        </p:spPr>
        <p:txBody>
          <a:bodyPr wrap="square" lIns="0" tIns="0" rIns="0" bIns="0" rtlCol="0"/>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07071" y="3598926"/>
            <a:ext cx="266192" cy="199644"/>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7307073" y="3598928"/>
            <a:ext cx="266700" cy="200025"/>
          </a:xfrm>
          <a:custGeom>
            <a:avLst/>
            <a:gdLst/>
            <a:ahLst/>
            <a:cxnLst/>
            <a:rect l="l" t="t" r="r" b="b"/>
            <a:pathLst>
              <a:path w="200025" h="200025">
                <a:moveTo>
                  <a:pt x="0" y="99822"/>
                </a:moveTo>
                <a:lnTo>
                  <a:pt x="7846" y="60971"/>
                </a:lnTo>
                <a:lnTo>
                  <a:pt x="29241" y="29241"/>
                </a:lnTo>
                <a:lnTo>
                  <a:pt x="60971" y="7846"/>
                </a:lnTo>
                <a:lnTo>
                  <a:pt x="99822" y="0"/>
                </a:lnTo>
                <a:lnTo>
                  <a:pt x="138672" y="7846"/>
                </a:lnTo>
                <a:lnTo>
                  <a:pt x="170402" y="29241"/>
                </a:lnTo>
                <a:lnTo>
                  <a:pt x="191797" y="60971"/>
                </a:lnTo>
                <a:lnTo>
                  <a:pt x="199644" y="99822"/>
                </a:lnTo>
                <a:lnTo>
                  <a:pt x="191797" y="138672"/>
                </a:lnTo>
                <a:lnTo>
                  <a:pt x="170402" y="170402"/>
                </a:lnTo>
                <a:lnTo>
                  <a:pt x="138672" y="191797"/>
                </a:lnTo>
                <a:lnTo>
                  <a:pt x="99822" y="199644"/>
                </a:lnTo>
                <a:lnTo>
                  <a:pt x="60971" y="191797"/>
                </a:lnTo>
                <a:lnTo>
                  <a:pt x="29241" y="170402"/>
                </a:lnTo>
                <a:lnTo>
                  <a:pt x="7846" y="138672"/>
                </a:lnTo>
                <a:lnTo>
                  <a:pt x="0" y="99822"/>
                </a:lnTo>
                <a:close/>
              </a:path>
            </a:pathLst>
          </a:custGeom>
          <a:ln w="76200">
            <a:solidFill>
              <a:srgbClr val="F3D44E"/>
            </a:solidFill>
          </a:ln>
        </p:spPr>
        <p:txBody>
          <a:bodyPr wrap="square" lIns="0" tIns="0" rIns="0" bIns="0" rtlCol="0"/>
          <a:lstStyle/>
          <a:p/>
        </p:txBody>
      </p:sp>
      <p:sp>
        <p:nvSpPr>
          <p:cNvPr id="4" name="object 4"/>
          <p:cNvSpPr/>
          <p:nvPr/>
        </p:nvSpPr>
        <p:spPr>
          <a:xfrm>
            <a:off x="6455665" y="3726942"/>
            <a:ext cx="266191" cy="199644"/>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6455665" y="3726944"/>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3"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6" name="object 6"/>
          <p:cNvSpPr/>
          <p:nvPr/>
        </p:nvSpPr>
        <p:spPr>
          <a:xfrm>
            <a:off x="6638546" y="4269485"/>
            <a:ext cx="266191" cy="199644"/>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6638546" y="4269487"/>
            <a:ext cx="266700" cy="200025"/>
          </a:xfrm>
          <a:custGeom>
            <a:avLst/>
            <a:gdLst/>
            <a:ahLst/>
            <a:cxnLst/>
            <a:rect l="l" t="t" r="r" b="b"/>
            <a:pathLst>
              <a:path w="200025" h="200025">
                <a:moveTo>
                  <a:pt x="0" y="99821"/>
                </a:moveTo>
                <a:lnTo>
                  <a:pt x="7846" y="60971"/>
                </a:lnTo>
                <a:lnTo>
                  <a:pt x="29241" y="29241"/>
                </a:lnTo>
                <a:lnTo>
                  <a:pt x="60971" y="7846"/>
                </a:lnTo>
                <a:lnTo>
                  <a:pt x="99821" y="0"/>
                </a:lnTo>
                <a:lnTo>
                  <a:pt x="138672" y="7846"/>
                </a:lnTo>
                <a:lnTo>
                  <a:pt x="170402" y="29241"/>
                </a:lnTo>
                <a:lnTo>
                  <a:pt x="191797" y="60971"/>
                </a:lnTo>
                <a:lnTo>
                  <a:pt x="199643" y="99821"/>
                </a:lnTo>
                <a:lnTo>
                  <a:pt x="191797" y="138672"/>
                </a:lnTo>
                <a:lnTo>
                  <a:pt x="170402" y="170402"/>
                </a:lnTo>
                <a:lnTo>
                  <a:pt x="138672" y="191797"/>
                </a:lnTo>
                <a:lnTo>
                  <a:pt x="99821"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8" name="object 8"/>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9" name="object 9"/>
          <p:cNvSpPr/>
          <p:nvPr/>
        </p:nvSpPr>
        <p:spPr>
          <a:xfrm>
            <a:off x="7134354" y="4011931"/>
            <a:ext cx="266700" cy="200025"/>
          </a:xfrm>
          <a:custGeom>
            <a:avLst/>
            <a:gdLst/>
            <a:ahLst/>
            <a:cxnLst/>
            <a:rect l="l" t="t" r="r" b="b"/>
            <a:pathLst>
              <a:path w="200025" h="200025">
                <a:moveTo>
                  <a:pt x="0" y="99821"/>
                </a:moveTo>
                <a:lnTo>
                  <a:pt x="7846" y="60971"/>
                </a:lnTo>
                <a:lnTo>
                  <a:pt x="29241" y="29241"/>
                </a:lnTo>
                <a:lnTo>
                  <a:pt x="60971" y="7846"/>
                </a:lnTo>
                <a:lnTo>
                  <a:pt x="99822" y="0"/>
                </a:lnTo>
                <a:lnTo>
                  <a:pt x="138672" y="7846"/>
                </a:lnTo>
                <a:lnTo>
                  <a:pt x="170402" y="29241"/>
                </a:lnTo>
                <a:lnTo>
                  <a:pt x="191797" y="60971"/>
                </a:lnTo>
                <a:lnTo>
                  <a:pt x="199644" y="99821"/>
                </a:lnTo>
                <a:lnTo>
                  <a:pt x="191797" y="138672"/>
                </a:lnTo>
                <a:lnTo>
                  <a:pt x="170402" y="170402"/>
                </a:lnTo>
                <a:lnTo>
                  <a:pt x="138672" y="191797"/>
                </a:lnTo>
                <a:lnTo>
                  <a:pt x="99822" y="199644"/>
                </a:lnTo>
                <a:lnTo>
                  <a:pt x="60971" y="191797"/>
                </a:lnTo>
                <a:lnTo>
                  <a:pt x="29241" y="170402"/>
                </a:lnTo>
                <a:lnTo>
                  <a:pt x="7846" y="138672"/>
                </a:lnTo>
                <a:lnTo>
                  <a:pt x="0" y="99821"/>
                </a:lnTo>
                <a:close/>
              </a:path>
            </a:pathLst>
          </a:custGeom>
          <a:ln w="76200">
            <a:solidFill>
              <a:srgbClr val="F3D44E"/>
            </a:solidFill>
          </a:ln>
        </p:spPr>
        <p:txBody>
          <a:bodyPr wrap="square" lIns="0" tIns="0" rIns="0" bIns="0" rtlCol="0"/>
          <a:lstStyle/>
          <a:p/>
        </p:txBody>
      </p:sp>
      <p:sp>
        <p:nvSpPr>
          <p:cNvPr id="11" name="object 11"/>
          <p:cNvSpPr txBox="1"/>
          <p:nvPr/>
        </p:nvSpPr>
        <p:spPr>
          <a:xfrm>
            <a:off x="4411135" y="4850231"/>
            <a:ext cx="175260" cy="228268"/>
          </a:xfrm>
          <a:prstGeom prst="rect">
            <a:avLst/>
          </a:prstGeom>
        </p:spPr>
        <p:txBody>
          <a:bodyPr vert="horz" wrap="square" lIns="0" tIns="12700" rIns="0" bIns="0" rtlCol="0">
            <a:spAutoFit/>
          </a:bodyPr>
          <a:lstStyle/>
          <a:p>
            <a:pPr marL="12700">
              <a:spcBef>
                <a:spcPts val="100"/>
              </a:spcBef>
            </a:pPr>
            <a:r>
              <a:rPr sz="1400" spc="55" dirty="0">
                <a:solidFill>
                  <a:srgbClr val="344B5E"/>
                </a:solidFill>
                <a:latin typeface="Arial" panose="020B0604020202020204"/>
                <a:cs typeface="Arial" panose="020B0604020202020204"/>
              </a:rPr>
              <a:t>0</a:t>
            </a:r>
            <a:endParaRPr sz="1400">
              <a:latin typeface="Arial" panose="020B0604020202020204"/>
              <a:cs typeface="Arial" panose="020B0604020202020204"/>
            </a:endParaRPr>
          </a:p>
        </p:txBody>
      </p:sp>
      <p:sp>
        <p:nvSpPr>
          <p:cNvPr id="12" name="object 12"/>
          <p:cNvSpPr txBox="1"/>
          <p:nvPr/>
        </p:nvSpPr>
        <p:spPr>
          <a:xfrm>
            <a:off x="592667" y="1926844"/>
            <a:ext cx="3252893" cy="1643399"/>
          </a:xfrm>
          <a:prstGeom prst="rect">
            <a:avLst/>
          </a:prstGeom>
        </p:spPr>
        <p:txBody>
          <a:bodyPr vert="horz" wrap="square" lIns="0" tIns="12065" rIns="0" bIns="0" rtlCol="0">
            <a:spAutoFit/>
          </a:bodyPr>
          <a:lstStyle/>
          <a:p>
            <a:pPr marL="299085" indent="-286385">
              <a:spcBef>
                <a:spcPts val="95"/>
              </a:spcBef>
              <a:buFont typeface="Wingdings" panose="05000000000000000000"/>
              <a:buChar char=""/>
              <a:tabLst>
                <a:tab pos="299085" algn="l"/>
                <a:tab pos="299720" algn="l"/>
              </a:tabLst>
            </a:pPr>
            <a:r>
              <a:rPr lang="zh-CN" altLang="en-US" sz="2400" dirty="0">
                <a:latin typeface="Arial" panose="020B0604020202020204"/>
                <a:cs typeface="Arial" panose="020B0604020202020204"/>
              </a:rPr>
              <a:t>正确的“</a:t>
            </a:r>
            <a:r>
              <a:rPr sz="2400" dirty="0">
                <a:latin typeface="Arial" panose="020B0604020202020204"/>
                <a:cs typeface="Arial" panose="020B0604020202020204"/>
              </a:rPr>
              <a:t>K</a:t>
            </a:r>
            <a:r>
              <a:rPr lang="zh-CN" altLang="en-US" sz="2400" dirty="0">
                <a:latin typeface="Arial" panose="020B0604020202020204"/>
                <a:cs typeface="Arial" panose="020B0604020202020204"/>
              </a:rPr>
              <a:t>”值</a:t>
            </a:r>
            <a:endParaRPr sz="2400" dirty="0">
              <a:latin typeface="Arial" panose="020B0604020202020204"/>
              <a:cs typeface="Arial" panose="020B0604020202020204"/>
            </a:endParaRPr>
          </a:p>
          <a:p>
            <a:pPr marL="299085" marR="638175" indent="-286385">
              <a:spcBef>
                <a:spcPts val="1205"/>
              </a:spcBef>
              <a:buFont typeface="Wingdings" panose="05000000000000000000"/>
              <a:buChar char=""/>
              <a:tabLst>
                <a:tab pos="299085" algn="l"/>
                <a:tab pos="299720" algn="l"/>
              </a:tabLst>
            </a:pPr>
            <a:r>
              <a:rPr lang="zh-CN" altLang="en-US" sz="2400" dirty="0">
                <a:latin typeface="Arial" panose="020B0604020202020204"/>
                <a:cs typeface="Arial" panose="020B0604020202020204"/>
              </a:rPr>
              <a:t>如何度量相邻两点之间的相似性</a:t>
            </a:r>
            <a:r>
              <a:rPr lang="en-US" altLang="zh-CN" sz="2400" dirty="0">
                <a:latin typeface="Arial" panose="020B0604020202020204"/>
                <a:cs typeface="Arial" panose="020B0604020202020204"/>
              </a:rPr>
              <a:t>/</a:t>
            </a:r>
            <a:r>
              <a:rPr lang="zh-CN" altLang="en-US" sz="2400" dirty="0">
                <a:latin typeface="Arial" panose="020B0604020202020204"/>
                <a:cs typeface="Arial" panose="020B0604020202020204"/>
              </a:rPr>
              <a:t>距离？</a:t>
            </a:r>
            <a:endParaRPr sz="2400" dirty="0">
              <a:latin typeface="Arial" panose="020B0604020202020204"/>
              <a:cs typeface="Arial" panose="020B0604020202020204"/>
            </a:endParaRPr>
          </a:p>
        </p:txBody>
      </p:sp>
      <p:sp>
        <p:nvSpPr>
          <p:cNvPr id="13" name="object 13"/>
          <p:cNvSpPr txBox="1"/>
          <p:nvPr/>
        </p:nvSpPr>
        <p:spPr>
          <a:xfrm>
            <a:off x="4061289" y="1913460"/>
            <a:ext cx="298027" cy="228909"/>
          </a:xfrm>
          <a:prstGeom prst="rect">
            <a:avLst/>
          </a:prstGeom>
        </p:spPr>
        <p:txBody>
          <a:bodyPr vert="horz" wrap="square" lIns="0" tIns="13335" rIns="0" bIns="0" rtlCol="0">
            <a:spAutoFit/>
          </a:bodyPr>
          <a:lstStyle/>
          <a:p>
            <a:pPr marL="12700">
              <a:spcBef>
                <a:spcPts val="105"/>
              </a:spcBef>
            </a:pPr>
            <a:r>
              <a:rPr sz="1400" spc="-5" dirty="0">
                <a:solidFill>
                  <a:srgbClr val="344B5E"/>
                </a:solidFill>
                <a:latin typeface="Arial" panose="020B0604020202020204"/>
                <a:cs typeface="Arial" panose="020B0604020202020204"/>
              </a:rPr>
              <a:t>60</a:t>
            </a:r>
            <a:endParaRPr sz="1400">
              <a:latin typeface="Arial" panose="020B0604020202020204"/>
              <a:cs typeface="Arial" panose="020B0604020202020204"/>
            </a:endParaRPr>
          </a:p>
        </p:txBody>
      </p:sp>
      <p:sp>
        <p:nvSpPr>
          <p:cNvPr id="14" name="object 14"/>
          <p:cNvSpPr txBox="1"/>
          <p:nvPr/>
        </p:nvSpPr>
        <p:spPr>
          <a:xfrm>
            <a:off x="4061289" y="2950718"/>
            <a:ext cx="298027" cy="228268"/>
          </a:xfrm>
          <a:prstGeom prst="rect">
            <a:avLst/>
          </a:prstGeom>
        </p:spPr>
        <p:txBody>
          <a:bodyPr vert="horz" wrap="square" lIns="0" tIns="12700" rIns="0" bIns="0" rtlCol="0">
            <a:spAutoFit/>
          </a:bodyPr>
          <a:lstStyle/>
          <a:p>
            <a:pPr marL="12700">
              <a:spcBef>
                <a:spcPts val="100"/>
              </a:spcBef>
            </a:pPr>
            <a:r>
              <a:rPr sz="1400" spc="-5" dirty="0">
                <a:solidFill>
                  <a:srgbClr val="344B5E"/>
                </a:solidFill>
                <a:latin typeface="Arial" panose="020B0604020202020204"/>
                <a:cs typeface="Arial" panose="020B0604020202020204"/>
              </a:rPr>
              <a:t>40</a:t>
            </a:r>
            <a:endParaRPr sz="1400">
              <a:latin typeface="Arial" panose="020B0604020202020204"/>
              <a:cs typeface="Arial" panose="020B0604020202020204"/>
            </a:endParaRPr>
          </a:p>
        </p:txBody>
      </p:sp>
      <p:sp>
        <p:nvSpPr>
          <p:cNvPr id="15" name="object 15"/>
          <p:cNvSpPr txBox="1"/>
          <p:nvPr/>
        </p:nvSpPr>
        <p:spPr>
          <a:xfrm>
            <a:off x="4042156" y="3986989"/>
            <a:ext cx="318347" cy="228909"/>
          </a:xfrm>
          <a:prstGeom prst="rect">
            <a:avLst/>
          </a:prstGeom>
        </p:spPr>
        <p:txBody>
          <a:bodyPr vert="horz" wrap="square" lIns="0" tIns="13335" rIns="0" bIns="0" rtlCol="0">
            <a:spAutoFit/>
          </a:bodyPr>
          <a:lstStyle/>
          <a:p>
            <a:pPr marL="12700">
              <a:spcBef>
                <a:spcPts val="105"/>
              </a:spcBef>
            </a:pPr>
            <a:r>
              <a:rPr sz="1400" spc="55"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p:txBody>
      </p:sp>
      <p:sp>
        <p:nvSpPr>
          <p:cNvPr id="16" name="object 16"/>
          <p:cNvSpPr txBox="1"/>
          <p:nvPr/>
        </p:nvSpPr>
        <p:spPr>
          <a:xfrm>
            <a:off x="5797806" y="4798483"/>
            <a:ext cx="3589020" cy="593725"/>
          </a:xfrm>
          <a:prstGeom prst="rect">
            <a:avLst/>
          </a:prstGeom>
        </p:spPr>
        <p:txBody>
          <a:bodyPr vert="horz" wrap="square" lIns="0" tIns="64769" rIns="0" bIns="0" rtlCol="0">
            <a:spAutoFit/>
          </a:bodyPr>
          <a:lstStyle/>
          <a:p>
            <a:pPr marL="668655">
              <a:spcBef>
                <a:spcPts val="510"/>
              </a:spcBef>
              <a:tabLst>
                <a:tab pos="2465070" algn="l"/>
              </a:tabLst>
            </a:pPr>
            <a:r>
              <a:rPr sz="1400" spc="60" dirty="0">
                <a:solidFill>
                  <a:srgbClr val="344B5E"/>
                </a:solidFill>
                <a:latin typeface="Arial" panose="020B0604020202020204"/>
                <a:cs typeface="Arial" panose="020B0604020202020204"/>
              </a:rPr>
              <a:t>1</a:t>
            </a:r>
            <a:r>
              <a:rPr sz="1400" spc="55" dirty="0">
                <a:solidFill>
                  <a:srgbClr val="344B5E"/>
                </a:solidFill>
                <a:latin typeface="Arial" panose="020B0604020202020204"/>
                <a:cs typeface="Arial" panose="020B0604020202020204"/>
              </a:rPr>
              <a:t>0</a:t>
            </a:r>
            <a:r>
              <a:rPr sz="1400" dirty="0">
                <a:solidFill>
                  <a:srgbClr val="344B5E"/>
                </a:solidFill>
                <a:latin typeface="Arial" panose="020B0604020202020204"/>
                <a:cs typeface="Arial" panose="020B0604020202020204"/>
              </a:rPr>
              <a:t>	</a:t>
            </a:r>
            <a:r>
              <a:rPr sz="1400" spc="60" dirty="0">
                <a:solidFill>
                  <a:srgbClr val="344B5E"/>
                </a:solidFill>
                <a:latin typeface="Arial" panose="020B0604020202020204"/>
                <a:cs typeface="Arial" panose="020B0604020202020204"/>
              </a:rPr>
              <a:t>20</a:t>
            </a:r>
            <a:endParaRPr sz="1400">
              <a:latin typeface="Arial" panose="020B0604020202020204"/>
              <a:cs typeface="Arial" panose="020B0604020202020204"/>
            </a:endParaRPr>
          </a:p>
          <a:p>
            <a:pPr marL="12700">
              <a:spcBef>
                <a:spcPts val="460"/>
              </a:spcBef>
            </a:pPr>
            <a:r>
              <a:rPr sz="1600" b="1" spc="20" dirty="0">
                <a:solidFill>
                  <a:srgbClr val="344B5E"/>
                </a:solidFill>
                <a:latin typeface="Trebuchet MS" panose="020B0603020202020204"/>
                <a:cs typeface="Trebuchet MS" panose="020B0603020202020204"/>
              </a:rPr>
              <a:t>Number</a:t>
            </a:r>
            <a:r>
              <a:rPr sz="1600" b="1" spc="-145" dirty="0">
                <a:solidFill>
                  <a:srgbClr val="344B5E"/>
                </a:solidFill>
                <a:latin typeface="Trebuchet MS" panose="020B0603020202020204"/>
                <a:cs typeface="Trebuchet MS" panose="020B0603020202020204"/>
              </a:rPr>
              <a:t> </a:t>
            </a:r>
            <a:r>
              <a:rPr sz="1600" b="1" spc="15" dirty="0">
                <a:solidFill>
                  <a:srgbClr val="344B5E"/>
                </a:solidFill>
                <a:latin typeface="Trebuchet MS" panose="020B0603020202020204"/>
                <a:cs typeface="Trebuchet MS" panose="020B0603020202020204"/>
              </a:rPr>
              <a:t>of</a:t>
            </a:r>
            <a:r>
              <a:rPr sz="1600" b="1" spc="-135" dirty="0">
                <a:solidFill>
                  <a:srgbClr val="344B5E"/>
                </a:solidFill>
                <a:latin typeface="Trebuchet MS" panose="020B0603020202020204"/>
                <a:cs typeface="Trebuchet MS" panose="020B0603020202020204"/>
              </a:rPr>
              <a:t> </a:t>
            </a:r>
            <a:r>
              <a:rPr sz="1600" b="1" spc="25" dirty="0">
                <a:solidFill>
                  <a:srgbClr val="344B5E"/>
                </a:solidFill>
                <a:latin typeface="Trebuchet MS" panose="020B0603020202020204"/>
                <a:cs typeface="Trebuchet MS" panose="020B0603020202020204"/>
              </a:rPr>
              <a:t>Malignant</a:t>
            </a:r>
            <a:r>
              <a:rPr sz="1600" b="1" spc="-135" dirty="0">
                <a:solidFill>
                  <a:srgbClr val="344B5E"/>
                </a:solidFill>
                <a:latin typeface="Trebuchet MS" panose="020B0603020202020204"/>
                <a:cs typeface="Trebuchet MS" panose="020B0603020202020204"/>
              </a:rPr>
              <a:t> </a:t>
            </a:r>
            <a:r>
              <a:rPr sz="1600" b="1" spc="50" dirty="0">
                <a:solidFill>
                  <a:srgbClr val="344B5E"/>
                </a:solidFill>
                <a:latin typeface="Trebuchet MS" panose="020B0603020202020204"/>
                <a:cs typeface="Trebuchet MS" panose="020B0603020202020204"/>
              </a:rPr>
              <a:t>Nodes</a:t>
            </a:r>
            <a:endParaRPr sz="1600">
              <a:latin typeface="Trebuchet MS" panose="020B0603020202020204"/>
              <a:cs typeface="Trebuchet MS" panose="020B0603020202020204"/>
            </a:endParaRPr>
          </a:p>
        </p:txBody>
      </p:sp>
      <p:sp>
        <p:nvSpPr>
          <p:cNvPr id="17" name="object 17"/>
          <p:cNvSpPr/>
          <p:nvPr/>
        </p:nvSpPr>
        <p:spPr>
          <a:xfrm>
            <a:off x="4402328" y="1789177"/>
            <a:ext cx="101600" cy="3030855"/>
          </a:xfrm>
          <a:custGeom>
            <a:avLst/>
            <a:gdLst/>
            <a:ahLst/>
            <a:cxnLst/>
            <a:rect l="l" t="t" r="r" b="b"/>
            <a:pathLst>
              <a:path w="76200" h="3030854">
                <a:moveTo>
                  <a:pt x="48005" y="63500"/>
                </a:moveTo>
                <a:lnTo>
                  <a:pt x="28193" y="63500"/>
                </a:lnTo>
                <a:lnTo>
                  <a:pt x="28193" y="3030397"/>
                </a:lnTo>
                <a:lnTo>
                  <a:pt x="48005" y="3030397"/>
                </a:lnTo>
                <a:lnTo>
                  <a:pt x="48005" y="63500"/>
                </a:lnTo>
                <a:close/>
              </a:path>
              <a:path w="76200" h="3030854">
                <a:moveTo>
                  <a:pt x="38100" y="0"/>
                </a:moveTo>
                <a:lnTo>
                  <a:pt x="0" y="76200"/>
                </a:lnTo>
                <a:lnTo>
                  <a:pt x="28193" y="76200"/>
                </a:lnTo>
                <a:lnTo>
                  <a:pt x="28193" y="63500"/>
                </a:lnTo>
                <a:lnTo>
                  <a:pt x="69850" y="63500"/>
                </a:lnTo>
                <a:lnTo>
                  <a:pt x="38100" y="0"/>
                </a:lnTo>
                <a:close/>
              </a:path>
              <a:path w="76200" h="3030854">
                <a:moveTo>
                  <a:pt x="69850" y="63500"/>
                </a:moveTo>
                <a:lnTo>
                  <a:pt x="48005" y="63500"/>
                </a:lnTo>
                <a:lnTo>
                  <a:pt x="48005" y="76200"/>
                </a:lnTo>
                <a:lnTo>
                  <a:pt x="76200" y="76200"/>
                </a:lnTo>
                <a:lnTo>
                  <a:pt x="69850" y="63500"/>
                </a:lnTo>
                <a:close/>
              </a:path>
            </a:pathLst>
          </a:custGeom>
          <a:solidFill>
            <a:srgbClr val="344B5E"/>
          </a:solidFill>
        </p:spPr>
        <p:txBody>
          <a:bodyPr wrap="square" lIns="0" tIns="0" rIns="0" bIns="0" rtlCol="0"/>
          <a:lstStyle/>
          <a:p/>
        </p:txBody>
      </p:sp>
      <p:sp>
        <p:nvSpPr>
          <p:cNvPr id="18" name="object 18"/>
          <p:cNvSpPr/>
          <p:nvPr/>
        </p:nvSpPr>
        <p:spPr>
          <a:xfrm>
            <a:off x="4442968" y="4759718"/>
            <a:ext cx="6055360" cy="76200"/>
          </a:xfrm>
          <a:custGeom>
            <a:avLst/>
            <a:gdLst/>
            <a:ahLst/>
            <a:cxnLst/>
            <a:rect l="l" t="t" r="r" b="b"/>
            <a:pathLst>
              <a:path w="4541520" h="76200">
                <a:moveTo>
                  <a:pt x="4521430" y="28143"/>
                </a:moveTo>
                <a:lnTo>
                  <a:pt x="4477384" y="28143"/>
                </a:lnTo>
                <a:lnTo>
                  <a:pt x="4477512" y="47955"/>
                </a:lnTo>
                <a:lnTo>
                  <a:pt x="4464797" y="47999"/>
                </a:lnTo>
                <a:lnTo>
                  <a:pt x="4464939" y="76200"/>
                </a:lnTo>
                <a:lnTo>
                  <a:pt x="4541012" y="37833"/>
                </a:lnTo>
                <a:lnTo>
                  <a:pt x="4521430" y="28143"/>
                </a:lnTo>
                <a:close/>
              </a:path>
              <a:path w="4541520" h="76200">
                <a:moveTo>
                  <a:pt x="4464698" y="28187"/>
                </a:moveTo>
                <a:lnTo>
                  <a:pt x="0" y="43853"/>
                </a:lnTo>
                <a:lnTo>
                  <a:pt x="0" y="63665"/>
                </a:lnTo>
                <a:lnTo>
                  <a:pt x="4464797" y="47999"/>
                </a:lnTo>
                <a:lnTo>
                  <a:pt x="4464698" y="28187"/>
                </a:lnTo>
                <a:close/>
              </a:path>
              <a:path w="4541520" h="76200">
                <a:moveTo>
                  <a:pt x="4477384" y="28143"/>
                </a:moveTo>
                <a:lnTo>
                  <a:pt x="4464698" y="28187"/>
                </a:lnTo>
                <a:lnTo>
                  <a:pt x="4464797" y="47999"/>
                </a:lnTo>
                <a:lnTo>
                  <a:pt x="4477512" y="47955"/>
                </a:lnTo>
                <a:lnTo>
                  <a:pt x="4477384" y="28143"/>
                </a:lnTo>
                <a:close/>
              </a:path>
              <a:path w="4541520" h="76200">
                <a:moveTo>
                  <a:pt x="4464558" y="0"/>
                </a:moveTo>
                <a:lnTo>
                  <a:pt x="4464698" y="28187"/>
                </a:lnTo>
                <a:lnTo>
                  <a:pt x="4521430" y="28143"/>
                </a:lnTo>
                <a:lnTo>
                  <a:pt x="4464558" y="0"/>
                </a:lnTo>
                <a:close/>
              </a:path>
            </a:pathLst>
          </a:custGeom>
          <a:solidFill>
            <a:srgbClr val="344B5E"/>
          </a:solidFill>
        </p:spPr>
        <p:txBody>
          <a:bodyPr wrap="square" lIns="0" tIns="0" rIns="0" bIns="0" rtlCol="0"/>
          <a:lstStyle/>
          <a:p/>
        </p:txBody>
      </p:sp>
      <p:sp>
        <p:nvSpPr>
          <p:cNvPr id="19" name="object 19"/>
          <p:cNvSpPr/>
          <p:nvPr/>
        </p:nvSpPr>
        <p:spPr>
          <a:xfrm>
            <a:off x="7134352" y="4011929"/>
            <a:ext cx="266192" cy="199644"/>
          </a:xfrm>
          <a:prstGeom prst="rect">
            <a:avLst/>
          </a:prstGeom>
          <a:blipFill>
            <a:blip r:embed="rId3" cstate="print"/>
            <a:stretch>
              <a:fillRect/>
            </a:stretch>
          </a:blipFill>
        </p:spPr>
        <p:txBody>
          <a:bodyPr wrap="square" lIns="0" tIns="0" rIns="0" bIns="0" rtlCol="0"/>
          <a:lstStyle/>
          <a:p/>
        </p:txBody>
      </p:sp>
      <p:sp>
        <p:nvSpPr>
          <p:cNvPr id="20" name="object 20"/>
          <p:cNvSpPr/>
          <p:nvPr/>
        </p:nvSpPr>
        <p:spPr>
          <a:xfrm>
            <a:off x="8282433" y="3443477"/>
            <a:ext cx="266191" cy="199644"/>
          </a:xfrm>
          <a:prstGeom prst="rect">
            <a:avLst/>
          </a:prstGeom>
          <a:blipFill>
            <a:blip r:embed="rId1" cstate="print"/>
            <a:stretch>
              <a:fillRect/>
            </a:stretch>
          </a:blipFill>
        </p:spPr>
        <p:txBody>
          <a:bodyPr wrap="square" lIns="0" tIns="0" rIns="0" bIns="0" rtlCol="0"/>
          <a:lstStyle/>
          <a:p/>
        </p:txBody>
      </p:sp>
      <p:sp>
        <p:nvSpPr>
          <p:cNvPr id="21" name="object 21"/>
          <p:cNvSpPr/>
          <p:nvPr/>
        </p:nvSpPr>
        <p:spPr>
          <a:xfrm>
            <a:off x="7325362" y="3160014"/>
            <a:ext cx="266191" cy="199644"/>
          </a:xfrm>
          <a:prstGeom prst="rect">
            <a:avLst/>
          </a:prstGeom>
          <a:blipFill>
            <a:blip r:embed="rId2" cstate="print"/>
            <a:stretch>
              <a:fillRect/>
            </a:stretch>
          </a:blipFill>
        </p:spPr>
        <p:txBody>
          <a:bodyPr wrap="square" lIns="0" tIns="0" rIns="0" bIns="0" rtlCol="0"/>
          <a:lstStyle/>
          <a:p/>
        </p:txBody>
      </p:sp>
      <p:sp>
        <p:nvSpPr>
          <p:cNvPr id="22" name="object 22"/>
          <p:cNvSpPr/>
          <p:nvPr/>
        </p:nvSpPr>
        <p:spPr>
          <a:xfrm>
            <a:off x="7183120" y="2800350"/>
            <a:ext cx="268224" cy="199644"/>
          </a:xfrm>
          <a:prstGeom prst="rect">
            <a:avLst/>
          </a:prstGeom>
          <a:blipFill>
            <a:blip r:embed="rId4" cstate="print"/>
            <a:stretch>
              <a:fillRect/>
            </a:stretch>
          </a:blipFill>
        </p:spPr>
        <p:txBody>
          <a:bodyPr wrap="square" lIns="0" tIns="0" rIns="0" bIns="0" rtlCol="0"/>
          <a:lstStyle/>
          <a:p/>
        </p:txBody>
      </p:sp>
      <p:sp>
        <p:nvSpPr>
          <p:cNvPr id="23" name="object 23"/>
          <p:cNvSpPr/>
          <p:nvPr/>
        </p:nvSpPr>
        <p:spPr>
          <a:xfrm>
            <a:off x="6908802" y="2405635"/>
            <a:ext cx="268223" cy="199643"/>
          </a:xfrm>
          <a:prstGeom prst="rect">
            <a:avLst/>
          </a:prstGeom>
          <a:blipFill>
            <a:blip r:embed="rId4" cstate="print"/>
            <a:stretch>
              <a:fillRect/>
            </a:stretch>
          </a:blipFill>
        </p:spPr>
        <p:txBody>
          <a:bodyPr wrap="square" lIns="0" tIns="0" rIns="0" bIns="0" rtlCol="0"/>
          <a:lstStyle/>
          <a:p/>
        </p:txBody>
      </p:sp>
      <p:sp>
        <p:nvSpPr>
          <p:cNvPr id="24" name="object 24"/>
          <p:cNvSpPr/>
          <p:nvPr/>
        </p:nvSpPr>
        <p:spPr>
          <a:xfrm>
            <a:off x="7636255" y="2036825"/>
            <a:ext cx="266192" cy="199644"/>
          </a:xfrm>
          <a:prstGeom prst="rect">
            <a:avLst/>
          </a:prstGeom>
          <a:blipFill>
            <a:blip r:embed="rId3" cstate="print"/>
            <a:stretch>
              <a:fillRect/>
            </a:stretch>
          </a:blipFill>
        </p:spPr>
        <p:txBody>
          <a:bodyPr wrap="square" lIns="0" tIns="0" rIns="0" bIns="0" rtlCol="0"/>
          <a:lstStyle/>
          <a:p/>
        </p:txBody>
      </p:sp>
      <p:sp>
        <p:nvSpPr>
          <p:cNvPr id="25" name="object 25"/>
          <p:cNvSpPr/>
          <p:nvPr/>
        </p:nvSpPr>
        <p:spPr>
          <a:xfrm>
            <a:off x="8044687" y="2315717"/>
            <a:ext cx="266192" cy="199644"/>
          </a:xfrm>
          <a:prstGeom prst="rect">
            <a:avLst/>
          </a:prstGeom>
          <a:blipFill>
            <a:blip r:embed="rId1" cstate="print"/>
            <a:stretch>
              <a:fillRect/>
            </a:stretch>
          </a:blipFill>
        </p:spPr>
        <p:txBody>
          <a:bodyPr wrap="square" lIns="0" tIns="0" rIns="0" bIns="0" rtlCol="0"/>
          <a:lstStyle/>
          <a:p/>
        </p:txBody>
      </p:sp>
      <p:sp>
        <p:nvSpPr>
          <p:cNvPr id="26" name="object 26"/>
          <p:cNvSpPr/>
          <p:nvPr/>
        </p:nvSpPr>
        <p:spPr>
          <a:xfrm>
            <a:off x="8272271" y="2797301"/>
            <a:ext cx="266192" cy="199644"/>
          </a:xfrm>
          <a:prstGeom prst="rect">
            <a:avLst/>
          </a:prstGeom>
          <a:blipFill>
            <a:blip r:embed="rId1" cstate="print"/>
            <a:stretch>
              <a:fillRect/>
            </a:stretch>
          </a:blipFill>
        </p:spPr>
        <p:txBody>
          <a:bodyPr wrap="square" lIns="0" tIns="0" rIns="0" bIns="0" rtlCol="0"/>
          <a:lstStyle/>
          <a:p/>
        </p:txBody>
      </p:sp>
      <p:sp>
        <p:nvSpPr>
          <p:cNvPr id="27" name="object 27"/>
          <p:cNvSpPr/>
          <p:nvPr/>
        </p:nvSpPr>
        <p:spPr>
          <a:xfrm>
            <a:off x="7829297" y="2908554"/>
            <a:ext cx="266191" cy="199644"/>
          </a:xfrm>
          <a:prstGeom prst="rect">
            <a:avLst/>
          </a:prstGeom>
          <a:blipFill>
            <a:blip r:embed="rId1" cstate="print"/>
            <a:stretch>
              <a:fillRect/>
            </a:stretch>
          </a:blipFill>
        </p:spPr>
        <p:txBody>
          <a:bodyPr wrap="square" lIns="0" tIns="0" rIns="0" bIns="0" rtlCol="0"/>
          <a:lstStyle/>
          <a:p/>
        </p:txBody>
      </p:sp>
      <p:sp>
        <p:nvSpPr>
          <p:cNvPr id="28" name="object 28"/>
          <p:cNvSpPr/>
          <p:nvPr/>
        </p:nvSpPr>
        <p:spPr>
          <a:xfrm>
            <a:off x="8764015" y="2516887"/>
            <a:ext cx="266192" cy="199643"/>
          </a:xfrm>
          <a:prstGeom prst="rect">
            <a:avLst/>
          </a:prstGeom>
          <a:blipFill>
            <a:blip r:embed="rId1" cstate="print"/>
            <a:stretch>
              <a:fillRect/>
            </a:stretch>
          </a:blipFill>
        </p:spPr>
        <p:txBody>
          <a:bodyPr wrap="square" lIns="0" tIns="0" rIns="0" bIns="0" rtlCol="0"/>
          <a:lstStyle/>
          <a:p/>
        </p:txBody>
      </p:sp>
      <p:sp>
        <p:nvSpPr>
          <p:cNvPr id="29" name="object 29"/>
          <p:cNvSpPr/>
          <p:nvPr/>
        </p:nvSpPr>
        <p:spPr>
          <a:xfrm>
            <a:off x="8359649" y="1907288"/>
            <a:ext cx="266191" cy="199643"/>
          </a:xfrm>
          <a:prstGeom prst="rect">
            <a:avLst/>
          </a:prstGeom>
          <a:blipFill>
            <a:blip r:embed="rId1" cstate="print"/>
            <a:stretch>
              <a:fillRect/>
            </a:stretch>
          </a:blipFill>
        </p:spPr>
        <p:txBody>
          <a:bodyPr wrap="square" lIns="0" tIns="0" rIns="0" bIns="0" rtlCol="0"/>
          <a:lstStyle/>
          <a:p/>
        </p:txBody>
      </p:sp>
      <p:sp>
        <p:nvSpPr>
          <p:cNvPr id="30" name="object 30"/>
          <p:cNvSpPr/>
          <p:nvPr/>
        </p:nvSpPr>
        <p:spPr>
          <a:xfrm>
            <a:off x="9097263" y="2114550"/>
            <a:ext cx="266192" cy="199644"/>
          </a:xfrm>
          <a:prstGeom prst="rect">
            <a:avLst/>
          </a:prstGeom>
          <a:blipFill>
            <a:blip r:embed="rId1" cstate="print"/>
            <a:stretch>
              <a:fillRect/>
            </a:stretch>
          </a:blipFill>
        </p:spPr>
        <p:txBody>
          <a:bodyPr wrap="square" lIns="0" tIns="0" rIns="0" bIns="0" rtlCol="0"/>
          <a:lstStyle/>
          <a:p/>
        </p:txBody>
      </p:sp>
      <p:sp>
        <p:nvSpPr>
          <p:cNvPr id="31" name="object 31"/>
          <p:cNvSpPr/>
          <p:nvPr/>
        </p:nvSpPr>
        <p:spPr>
          <a:xfrm>
            <a:off x="10170159" y="2320289"/>
            <a:ext cx="266192" cy="199644"/>
          </a:xfrm>
          <a:prstGeom prst="rect">
            <a:avLst/>
          </a:prstGeom>
          <a:blipFill>
            <a:blip r:embed="rId1" cstate="print"/>
            <a:stretch>
              <a:fillRect/>
            </a:stretch>
          </a:blipFill>
        </p:spPr>
        <p:txBody>
          <a:bodyPr wrap="square" lIns="0" tIns="0" rIns="0" bIns="0" rtlCol="0"/>
          <a:lstStyle/>
          <a:p/>
        </p:txBody>
      </p:sp>
      <p:sp>
        <p:nvSpPr>
          <p:cNvPr id="32" name="object 32"/>
          <p:cNvSpPr/>
          <p:nvPr/>
        </p:nvSpPr>
        <p:spPr>
          <a:xfrm>
            <a:off x="9662159" y="2783585"/>
            <a:ext cx="266192" cy="199644"/>
          </a:xfrm>
          <a:prstGeom prst="rect">
            <a:avLst/>
          </a:prstGeom>
          <a:blipFill>
            <a:blip r:embed="rId1" cstate="print"/>
            <a:stretch>
              <a:fillRect/>
            </a:stretch>
          </a:blipFill>
        </p:spPr>
        <p:txBody>
          <a:bodyPr wrap="square" lIns="0" tIns="0" rIns="0" bIns="0" rtlCol="0"/>
          <a:lstStyle/>
          <a:p/>
        </p:txBody>
      </p:sp>
      <p:sp>
        <p:nvSpPr>
          <p:cNvPr id="33" name="object 33"/>
          <p:cNvSpPr/>
          <p:nvPr/>
        </p:nvSpPr>
        <p:spPr>
          <a:xfrm>
            <a:off x="9204959" y="3160014"/>
            <a:ext cx="266192" cy="199644"/>
          </a:xfrm>
          <a:prstGeom prst="rect">
            <a:avLst/>
          </a:prstGeom>
          <a:blipFill>
            <a:blip r:embed="rId2" cstate="print"/>
            <a:stretch>
              <a:fillRect/>
            </a:stretch>
          </a:blipFill>
        </p:spPr>
        <p:txBody>
          <a:bodyPr wrap="square" lIns="0" tIns="0" rIns="0" bIns="0" rtlCol="0"/>
          <a:lstStyle/>
          <a:p/>
        </p:txBody>
      </p:sp>
      <p:sp>
        <p:nvSpPr>
          <p:cNvPr id="34" name="object 34"/>
          <p:cNvSpPr/>
          <p:nvPr/>
        </p:nvSpPr>
        <p:spPr>
          <a:xfrm>
            <a:off x="9836911" y="3327654"/>
            <a:ext cx="266192" cy="199644"/>
          </a:xfrm>
          <a:prstGeom prst="rect">
            <a:avLst/>
          </a:prstGeom>
          <a:blipFill>
            <a:blip r:embed="rId1" cstate="print"/>
            <a:stretch>
              <a:fillRect/>
            </a:stretch>
          </a:blipFill>
        </p:spPr>
        <p:txBody>
          <a:bodyPr wrap="square" lIns="0" tIns="0" rIns="0" bIns="0" rtlCol="0"/>
          <a:lstStyle/>
          <a:p/>
        </p:txBody>
      </p:sp>
      <p:sp>
        <p:nvSpPr>
          <p:cNvPr id="35" name="object 35"/>
          <p:cNvSpPr/>
          <p:nvPr/>
        </p:nvSpPr>
        <p:spPr>
          <a:xfrm>
            <a:off x="6455665" y="3726942"/>
            <a:ext cx="266191" cy="199644"/>
          </a:xfrm>
          <a:prstGeom prst="rect">
            <a:avLst/>
          </a:prstGeom>
          <a:blipFill>
            <a:blip r:embed="rId5" cstate="print"/>
            <a:stretch>
              <a:fillRect/>
            </a:stretch>
          </a:blipFill>
        </p:spPr>
        <p:txBody>
          <a:bodyPr wrap="square" lIns="0" tIns="0" rIns="0" bIns="0" rtlCol="0"/>
          <a:lstStyle/>
          <a:p/>
        </p:txBody>
      </p:sp>
      <p:sp>
        <p:nvSpPr>
          <p:cNvPr id="36" name="object 36"/>
          <p:cNvSpPr/>
          <p:nvPr/>
        </p:nvSpPr>
        <p:spPr>
          <a:xfrm>
            <a:off x="5970017" y="3449573"/>
            <a:ext cx="266191" cy="199644"/>
          </a:xfrm>
          <a:prstGeom prst="rect">
            <a:avLst/>
          </a:prstGeom>
          <a:blipFill>
            <a:blip r:embed="rId6" cstate="print"/>
            <a:stretch>
              <a:fillRect/>
            </a:stretch>
          </a:blipFill>
        </p:spPr>
        <p:txBody>
          <a:bodyPr wrap="square" lIns="0" tIns="0" rIns="0" bIns="0" rtlCol="0"/>
          <a:lstStyle/>
          <a:p/>
        </p:txBody>
      </p:sp>
      <p:sp>
        <p:nvSpPr>
          <p:cNvPr id="37" name="object 37"/>
          <p:cNvSpPr/>
          <p:nvPr/>
        </p:nvSpPr>
        <p:spPr>
          <a:xfrm>
            <a:off x="6431281" y="3035045"/>
            <a:ext cx="266191" cy="199644"/>
          </a:xfrm>
          <a:prstGeom prst="rect">
            <a:avLst/>
          </a:prstGeom>
          <a:blipFill>
            <a:blip r:embed="rId6" cstate="print"/>
            <a:stretch>
              <a:fillRect/>
            </a:stretch>
          </a:blipFill>
        </p:spPr>
        <p:txBody>
          <a:bodyPr wrap="square" lIns="0" tIns="0" rIns="0" bIns="0" rtlCol="0"/>
          <a:lstStyle/>
          <a:p/>
        </p:txBody>
      </p:sp>
      <p:sp>
        <p:nvSpPr>
          <p:cNvPr id="38" name="object 38"/>
          <p:cNvSpPr/>
          <p:nvPr/>
        </p:nvSpPr>
        <p:spPr>
          <a:xfrm>
            <a:off x="7307071" y="3601973"/>
            <a:ext cx="266192" cy="199644"/>
          </a:xfrm>
          <a:prstGeom prst="rect">
            <a:avLst/>
          </a:prstGeom>
          <a:blipFill>
            <a:blip r:embed="rId6" cstate="print"/>
            <a:stretch>
              <a:fillRect/>
            </a:stretch>
          </a:blipFill>
        </p:spPr>
        <p:txBody>
          <a:bodyPr wrap="square" lIns="0" tIns="0" rIns="0" bIns="0" rtlCol="0"/>
          <a:lstStyle/>
          <a:p/>
        </p:txBody>
      </p:sp>
      <p:sp>
        <p:nvSpPr>
          <p:cNvPr id="39" name="object 39"/>
          <p:cNvSpPr/>
          <p:nvPr/>
        </p:nvSpPr>
        <p:spPr>
          <a:xfrm>
            <a:off x="7957314" y="3761994"/>
            <a:ext cx="266191" cy="199644"/>
          </a:xfrm>
          <a:prstGeom prst="rect">
            <a:avLst/>
          </a:prstGeom>
          <a:blipFill>
            <a:blip r:embed="rId6" cstate="print"/>
            <a:stretch>
              <a:fillRect/>
            </a:stretch>
          </a:blipFill>
        </p:spPr>
        <p:txBody>
          <a:bodyPr wrap="square" lIns="0" tIns="0" rIns="0" bIns="0" rtlCol="0"/>
          <a:lstStyle/>
          <a:p/>
        </p:txBody>
      </p:sp>
      <p:sp>
        <p:nvSpPr>
          <p:cNvPr id="40" name="object 40"/>
          <p:cNvSpPr/>
          <p:nvPr/>
        </p:nvSpPr>
        <p:spPr>
          <a:xfrm>
            <a:off x="8709154" y="2993898"/>
            <a:ext cx="266191" cy="199644"/>
          </a:xfrm>
          <a:prstGeom prst="rect">
            <a:avLst/>
          </a:prstGeom>
          <a:blipFill>
            <a:blip r:embed="rId7" cstate="print"/>
            <a:stretch>
              <a:fillRect/>
            </a:stretch>
          </a:blipFill>
        </p:spPr>
        <p:txBody>
          <a:bodyPr wrap="square" lIns="0" tIns="0" rIns="0" bIns="0" rtlCol="0"/>
          <a:lstStyle/>
          <a:p/>
        </p:txBody>
      </p:sp>
      <p:sp>
        <p:nvSpPr>
          <p:cNvPr id="41" name="object 41"/>
          <p:cNvSpPr/>
          <p:nvPr/>
        </p:nvSpPr>
        <p:spPr>
          <a:xfrm>
            <a:off x="7955281" y="4184141"/>
            <a:ext cx="266191" cy="199644"/>
          </a:xfrm>
          <a:prstGeom prst="rect">
            <a:avLst/>
          </a:prstGeom>
          <a:blipFill>
            <a:blip r:embed="rId5" cstate="print"/>
            <a:stretch>
              <a:fillRect/>
            </a:stretch>
          </a:blipFill>
        </p:spPr>
        <p:txBody>
          <a:bodyPr wrap="square" lIns="0" tIns="0" rIns="0" bIns="0" rtlCol="0"/>
          <a:lstStyle/>
          <a:p/>
        </p:txBody>
      </p:sp>
      <p:sp>
        <p:nvSpPr>
          <p:cNvPr id="42" name="object 42"/>
          <p:cNvSpPr/>
          <p:nvPr/>
        </p:nvSpPr>
        <p:spPr>
          <a:xfrm>
            <a:off x="7487920" y="4542282"/>
            <a:ext cx="266192" cy="199644"/>
          </a:xfrm>
          <a:prstGeom prst="rect">
            <a:avLst/>
          </a:prstGeom>
          <a:blipFill>
            <a:blip r:embed="rId6" cstate="print"/>
            <a:stretch>
              <a:fillRect/>
            </a:stretch>
          </a:blipFill>
        </p:spPr>
        <p:txBody>
          <a:bodyPr wrap="square" lIns="0" tIns="0" rIns="0" bIns="0" rtlCol="0"/>
          <a:lstStyle/>
          <a:p/>
        </p:txBody>
      </p:sp>
      <p:sp>
        <p:nvSpPr>
          <p:cNvPr id="43" name="object 43"/>
          <p:cNvSpPr/>
          <p:nvPr/>
        </p:nvSpPr>
        <p:spPr>
          <a:xfrm>
            <a:off x="8316978" y="4534661"/>
            <a:ext cx="268223" cy="199644"/>
          </a:xfrm>
          <a:prstGeom prst="rect">
            <a:avLst/>
          </a:prstGeom>
          <a:blipFill>
            <a:blip r:embed="rId8" cstate="print"/>
            <a:stretch>
              <a:fillRect/>
            </a:stretch>
          </a:blipFill>
        </p:spPr>
        <p:txBody>
          <a:bodyPr wrap="square" lIns="0" tIns="0" rIns="0" bIns="0" rtlCol="0"/>
          <a:lstStyle/>
          <a:p/>
        </p:txBody>
      </p:sp>
      <p:sp>
        <p:nvSpPr>
          <p:cNvPr id="44" name="object 44"/>
          <p:cNvSpPr/>
          <p:nvPr/>
        </p:nvSpPr>
        <p:spPr>
          <a:xfrm>
            <a:off x="6640578" y="4274058"/>
            <a:ext cx="266191" cy="199644"/>
          </a:xfrm>
          <a:prstGeom prst="rect">
            <a:avLst/>
          </a:prstGeom>
          <a:blipFill>
            <a:blip r:embed="rId6" cstate="print"/>
            <a:stretch>
              <a:fillRect/>
            </a:stretch>
          </a:blipFill>
        </p:spPr>
        <p:txBody>
          <a:bodyPr wrap="square" lIns="0" tIns="0" rIns="0" bIns="0" rtlCol="0"/>
          <a:lstStyle/>
          <a:p/>
        </p:txBody>
      </p:sp>
      <p:sp>
        <p:nvSpPr>
          <p:cNvPr id="45" name="object 45"/>
          <p:cNvSpPr/>
          <p:nvPr/>
        </p:nvSpPr>
        <p:spPr>
          <a:xfrm>
            <a:off x="6020817" y="4421885"/>
            <a:ext cx="266191" cy="199644"/>
          </a:xfrm>
          <a:prstGeom prst="rect">
            <a:avLst/>
          </a:prstGeom>
          <a:blipFill>
            <a:blip r:embed="rId6" cstate="print"/>
            <a:stretch>
              <a:fillRect/>
            </a:stretch>
          </a:blipFill>
        </p:spPr>
        <p:txBody>
          <a:bodyPr wrap="square" lIns="0" tIns="0" rIns="0" bIns="0" rtlCol="0"/>
          <a:lstStyle/>
          <a:p/>
        </p:txBody>
      </p:sp>
      <p:sp>
        <p:nvSpPr>
          <p:cNvPr id="46" name="object 46"/>
          <p:cNvSpPr/>
          <p:nvPr/>
        </p:nvSpPr>
        <p:spPr>
          <a:xfrm>
            <a:off x="5372609" y="4310636"/>
            <a:ext cx="266700" cy="200025"/>
          </a:xfrm>
          <a:custGeom>
            <a:avLst/>
            <a:gdLst/>
            <a:ahLst/>
            <a:cxnLst/>
            <a:rect l="l" t="t" r="r" b="b"/>
            <a:pathLst>
              <a:path w="200025" h="200025">
                <a:moveTo>
                  <a:pt x="99822" y="0"/>
                </a:moveTo>
                <a:lnTo>
                  <a:pt x="60971" y="7846"/>
                </a:lnTo>
                <a:lnTo>
                  <a:pt x="29241" y="29241"/>
                </a:lnTo>
                <a:lnTo>
                  <a:pt x="7846" y="60971"/>
                </a:lnTo>
                <a:lnTo>
                  <a:pt x="0" y="99822"/>
                </a:lnTo>
                <a:lnTo>
                  <a:pt x="7846" y="138672"/>
                </a:lnTo>
                <a:lnTo>
                  <a:pt x="29241" y="170402"/>
                </a:lnTo>
                <a:lnTo>
                  <a:pt x="60971" y="191797"/>
                </a:lnTo>
                <a:lnTo>
                  <a:pt x="99822" y="199644"/>
                </a:lnTo>
                <a:lnTo>
                  <a:pt x="138672" y="191797"/>
                </a:lnTo>
                <a:lnTo>
                  <a:pt x="170402" y="170402"/>
                </a:lnTo>
                <a:lnTo>
                  <a:pt x="191797" y="138672"/>
                </a:lnTo>
                <a:lnTo>
                  <a:pt x="199644" y="99822"/>
                </a:lnTo>
                <a:lnTo>
                  <a:pt x="191797" y="60971"/>
                </a:lnTo>
                <a:lnTo>
                  <a:pt x="170402" y="29241"/>
                </a:lnTo>
                <a:lnTo>
                  <a:pt x="138672" y="7846"/>
                </a:lnTo>
                <a:lnTo>
                  <a:pt x="99822" y="0"/>
                </a:lnTo>
                <a:close/>
              </a:path>
            </a:pathLst>
          </a:custGeom>
          <a:solidFill>
            <a:srgbClr val="84ADAC"/>
          </a:solidFill>
        </p:spPr>
        <p:txBody>
          <a:bodyPr wrap="square" lIns="0" tIns="0" rIns="0" bIns="0" rtlCol="0"/>
          <a:lstStyle/>
          <a:p/>
        </p:txBody>
      </p:sp>
      <p:sp>
        <p:nvSpPr>
          <p:cNvPr id="47" name="object 47"/>
          <p:cNvSpPr/>
          <p:nvPr/>
        </p:nvSpPr>
        <p:spPr>
          <a:xfrm>
            <a:off x="4793487" y="4293870"/>
            <a:ext cx="268224" cy="199644"/>
          </a:xfrm>
          <a:prstGeom prst="rect">
            <a:avLst/>
          </a:prstGeom>
          <a:blipFill>
            <a:blip r:embed="rId8" cstate="print"/>
            <a:stretch>
              <a:fillRect/>
            </a:stretch>
          </a:blipFill>
        </p:spPr>
        <p:txBody>
          <a:bodyPr wrap="square" lIns="0" tIns="0" rIns="0" bIns="0" rtlCol="0"/>
          <a:lstStyle/>
          <a:p/>
        </p:txBody>
      </p:sp>
      <p:sp>
        <p:nvSpPr>
          <p:cNvPr id="48" name="object 48"/>
          <p:cNvSpPr/>
          <p:nvPr/>
        </p:nvSpPr>
        <p:spPr>
          <a:xfrm>
            <a:off x="5573778" y="3833622"/>
            <a:ext cx="266191" cy="199644"/>
          </a:xfrm>
          <a:prstGeom prst="rect">
            <a:avLst/>
          </a:prstGeom>
          <a:blipFill>
            <a:blip r:embed="rId6" cstate="print"/>
            <a:stretch>
              <a:fillRect/>
            </a:stretch>
          </a:blipFill>
        </p:spPr>
        <p:txBody>
          <a:bodyPr wrap="square" lIns="0" tIns="0" rIns="0" bIns="0" rtlCol="0"/>
          <a:lstStyle/>
          <a:p/>
        </p:txBody>
      </p:sp>
      <p:sp>
        <p:nvSpPr>
          <p:cNvPr id="49" name="object 49"/>
          <p:cNvSpPr/>
          <p:nvPr/>
        </p:nvSpPr>
        <p:spPr>
          <a:xfrm>
            <a:off x="5262881" y="3446526"/>
            <a:ext cx="266191" cy="199644"/>
          </a:xfrm>
          <a:prstGeom prst="rect">
            <a:avLst/>
          </a:prstGeom>
          <a:blipFill>
            <a:blip r:embed="rId6" cstate="print"/>
            <a:stretch>
              <a:fillRect/>
            </a:stretch>
          </a:blipFill>
        </p:spPr>
        <p:txBody>
          <a:bodyPr wrap="square" lIns="0" tIns="0" rIns="0" bIns="0" rtlCol="0"/>
          <a:lstStyle/>
          <a:p/>
        </p:txBody>
      </p:sp>
      <p:sp>
        <p:nvSpPr>
          <p:cNvPr id="50" name="object 50"/>
          <p:cNvSpPr/>
          <p:nvPr/>
        </p:nvSpPr>
        <p:spPr>
          <a:xfrm>
            <a:off x="5693665" y="2775966"/>
            <a:ext cx="268223" cy="199644"/>
          </a:xfrm>
          <a:prstGeom prst="rect">
            <a:avLst/>
          </a:prstGeom>
          <a:blipFill>
            <a:blip r:embed="rId8" cstate="print"/>
            <a:stretch>
              <a:fillRect/>
            </a:stretch>
          </a:blipFill>
        </p:spPr>
        <p:txBody>
          <a:bodyPr wrap="square" lIns="0" tIns="0" rIns="0" bIns="0" rtlCol="0"/>
          <a:lstStyle/>
          <a:p/>
        </p:txBody>
      </p:sp>
      <p:sp>
        <p:nvSpPr>
          <p:cNvPr id="51" name="object 51"/>
          <p:cNvSpPr/>
          <p:nvPr/>
        </p:nvSpPr>
        <p:spPr>
          <a:xfrm>
            <a:off x="4661407" y="3242310"/>
            <a:ext cx="266192" cy="199644"/>
          </a:xfrm>
          <a:prstGeom prst="rect">
            <a:avLst/>
          </a:prstGeom>
          <a:blipFill>
            <a:blip r:embed="rId6" cstate="print"/>
            <a:stretch>
              <a:fillRect/>
            </a:stretch>
          </a:blipFill>
        </p:spPr>
        <p:txBody>
          <a:bodyPr wrap="square" lIns="0" tIns="0" rIns="0" bIns="0" rtlCol="0"/>
          <a:lstStyle/>
          <a:p/>
        </p:txBody>
      </p:sp>
      <p:sp>
        <p:nvSpPr>
          <p:cNvPr id="52" name="object 52"/>
          <p:cNvSpPr/>
          <p:nvPr/>
        </p:nvSpPr>
        <p:spPr>
          <a:xfrm>
            <a:off x="5128768" y="2394966"/>
            <a:ext cx="266192" cy="199644"/>
          </a:xfrm>
          <a:prstGeom prst="rect">
            <a:avLst/>
          </a:prstGeom>
          <a:blipFill>
            <a:blip r:embed="rId6" cstate="print"/>
            <a:stretch>
              <a:fillRect/>
            </a:stretch>
          </a:blipFill>
        </p:spPr>
        <p:txBody>
          <a:bodyPr wrap="square" lIns="0" tIns="0" rIns="0" bIns="0" rtlCol="0"/>
          <a:lstStyle/>
          <a:p/>
        </p:txBody>
      </p:sp>
      <p:sp>
        <p:nvSpPr>
          <p:cNvPr id="53" name="object 53"/>
          <p:cNvSpPr/>
          <p:nvPr/>
        </p:nvSpPr>
        <p:spPr>
          <a:xfrm>
            <a:off x="4775200" y="2775966"/>
            <a:ext cx="266192" cy="199644"/>
          </a:xfrm>
          <a:prstGeom prst="rect">
            <a:avLst/>
          </a:prstGeom>
          <a:blipFill>
            <a:blip r:embed="rId6" cstate="print"/>
            <a:stretch>
              <a:fillRect/>
            </a:stretch>
          </a:blipFill>
        </p:spPr>
        <p:txBody>
          <a:bodyPr wrap="square" lIns="0" tIns="0" rIns="0" bIns="0" rtlCol="0"/>
          <a:lstStyle/>
          <a:p/>
        </p:txBody>
      </p:sp>
      <p:sp>
        <p:nvSpPr>
          <p:cNvPr id="54" name="object 54"/>
          <p:cNvSpPr/>
          <p:nvPr/>
        </p:nvSpPr>
        <p:spPr>
          <a:xfrm>
            <a:off x="4712207" y="2120648"/>
            <a:ext cx="266192" cy="199643"/>
          </a:xfrm>
          <a:prstGeom prst="rect">
            <a:avLst/>
          </a:prstGeom>
          <a:blipFill>
            <a:blip r:embed="rId6" cstate="print"/>
            <a:stretch>
              <a:fillRect/>
            </a:stretch>
          </a:blipFill>
        </p:spPr>
        <p:txBody>
          <a:bodyPr wrap="square" lIns="0" tIns="0" rIns="0" bIns="0" rtlCol="0"/>
          <a:lstStyle/>
          <a:p/>
        </p:txBody>
      </p:sp>
      <p:sp>
        <p:nvSpPr>
          <p:cNvPr id="55" name="object 55"/>
          <p:cNvSpPr/>
          <p:nvPr/>
        </p:nvSpPr>
        <p:spPr>
          <a:xfrm>
            <a:off x="5262881" y="2993898"/>
            <a:ext cx="266191" cy="199644"/>
          </a:xfrm>
          <a:prstGeom prst="rect">
            <a:avLst/>
          </a:prstGeom>
          <a:blipFill>
            <a:blip r:embed="rId6" cstate="print"/>
            <a:stretch>
              <a:fillRect/>
            </a:stretch>
          </a:blipFill>
        </p:spPr>
        <p:txBody>
          <a:bodyPr wrap="square" lIns="0" tIns="0" rIns="0" bIns="0" rtlCol="0"/>
          <a:lstStyle/>
          <a:p/>
        </p:txBody>
      </p:sp>
      <p:sp>
        <p:nvSpPr>
          <p:cNvPr id="56" name="object 56"/>
          <p:cNvSpPr/>
          <p:nvPr/>
        </p:nvSpPr>
        <p:spPr>
          <a:xfrm>
            <a:off x="4748784" y="3761994"/>
            <a:ext cx="266192" cy="199644"/>
          </a:xfrm>
          <a:prstGeom prst="rect">
            <a:avLst/>
          </a:prstGeom>
          <a:blipFill>
            <a:blip r:embed="rId6" cstate="print"/>
            <a:stretch>
              <a:fillRect/>
            </a:stretch>
          </a:blipFill>
        </p:spPr>
        <p:txBody>
          <a:bodyPr wrap="square" lIns="0" tIns="0" rIns="0" bIns="0" rtlCol="0"/>
          <a:lstStyle/>
          <a:p/>
        </p:txBody>
      </p:sp>
      <p:sp>
        <p:nvSpPr>
          <p:cNvPr id="57" name="object 57"/>
          <p:cNvSpPr/>
          <p:nvPr/>
        </p:nvSpPr>
        <p:spPr>
          <a:xfrm>
            <a:off x="5161281" y="4016501"/>
            <a:ext cx="266191" cy="199644"/>
          </a:xfrm>
          <a:prstGeom prst="rect">
            <a:avLst/>
          </a:prstGeom>
          <a:blipFill>
            <a:blip r:embed="rId6" cstate="print"/>
            <a:stretch>
              <a:fillRect/>
            </a:stretch>
          </a:blipFill>
        </p:spPr>
        <p:txBody>
          <a:bodyPr wrap="square" lIns="0" tIns="0" rIns="0" bIns="0" rtlCol="0"/>
          <a:lstStyle/>
          <a:p/>
        </p:txBody>
      </p:sp>
      <p:sp>
        <p:nvSpPr>
          <p:cNvPr id="58" name="object 58"/>
          <p:cNvSpPr/>
          <p:nvPr/>
        </p:nvSpPr>
        <p:spPr>
          <a:xfrm>
            <a:off x="5573778" y="2366012"/>
            <a:ext cx="266191" cy="199643"/>
          </a:xfrm>
          <a:prstGeom prst="rect">
            <a:avLst/>
          </a:prstGeom>
          <a:blipFill>
            <a:blip r:embed="rId6" cstate="print"/>
            <a:stretch>
              <a:fillRect/>
            </a:stretch>
          </a:blipFill>
        </p:spPr>
        <p:txBody>
          <a:bodyPr wrap="square" lIns="0" tIns="0" rIns="0" bIns="0" rtlCol="0"/>
          <a:lstStyle/>
          <a:p/>
        </p:txBody>
      </p:sp>
      <p:sp>
        <p:nvSpPr>
          <p:cNvPr id="59" name="object 59"/>
          <p:cNvSpPr/>
          <p:nvPr/>
        </p:nvSpPr>
        <p:spPr>
          <a:xfrm>
            <a:off x="5669281" y="3158489"/>
            <a:ext cx="266191" cy="199644"/>
          </a:xfrm>
          <a:prstGeom prst="rect">
            <a:avLst/>
          </a:prstGeom>
          <a:blipFill>
            <a:blip r:embed="rId6" cstate="print"/>
            <a:stretch>
              <a:fillRect/>
            </a:stretch>
          </a:blipFill>
        </p:spPr>
        <p:txBody>
          <a:bodyPr wrap="square" lIns="0" tIns="0" rIns="0" bIns="0" rtlCol="0"/>
          <a:lstStyle/>
          <a:p/>
        </p:txBody>
      </p:sp>
      <p:sp>
        <p:nvSpPr>
          <p:cNvPr id="60" name="object 60"/>
          <p:cNvSpPr/>
          <p:nvPr/>
        </p:nvSpPr>
        <p:spPr>
          <a:xfrm>
            <a:off x="5970017" y="4007357"/>
            <a:ext cx="266191" cy="199644"/>
          </a:xfrm>
          <a:prstGeom prst="rect">
            <a:avLst/>
          </a:prstGeom>
          <a:blipFill>
            <a:blip r:embed="rId6" cstate="print"/>
            <a:stretch>
              <a:fillRect/>
            </a:stretch>
          </a:blipFill>
        </p:spPr>
        <p:txBody>
          <a:bodyPr wrap="square" lIns="0" tIns="0" rIns="0" bIns="0" rtlCol="0"/>
          <a:lstStyle/>
          <a:p/>
        </p:txBody>
      </p:sp>
      <p:sp>
        <p:nvSpPr>
          <p:cNvPr id="61" name="object 61"/>
          <p:cNvSpPr/>
          <p:nvPr/>
        </p:nvSpPr>
        <p:spPr>
          <a:xfrm>
            <a:off x="5094225" y="4516375"/>
            <a:ext cx="266700" cy="201295"/>
          </a:xfrm>
          <a:custGeom>
            <a:avLst/>
            <a:gdLst/>
            <a:ahLst/>
            <a:cxnLst/>
            <a:rect l="l" t="t" r="r" b="b"/>
            <a:pathLst>
              <a:path w="200025" h="201295">
                <a:moveTo>
                  <a:pt x="99822" y="0"/>
                </a:moveTo>
                <a:lnTo>
                  <a:pt x="60971" y="7911"/>
                </a:lnTo>
                <a:lnTo>
                  <a:pt x="29241" y="29479"/>
                </a:lnTo>
                <a:lnTo>
                  <a:pt x="7846" y="61454"/>
                </a:lnTo>
                <a:lnTo>
                  <a:pt x="0" y="100584"/>
                </a:lnTo>
                <a:lnTo>
                  <a:pt x="7846" y="139713"/>
                </a:lnTo>
                <a:lnTo>
                  <a:pt x="29241" y="171688"/>
                </a:lnTo>
                <a:lnTo>
                  <a:pt x="60971" y="193256"/>
                </a:lnTo>
                <a:lnTo>
                  <a:pt x="99822" y="201167"/>
                </a:lnTo>
                <a:lnTo>
                  <a:pt x="138672" y="193256"/>
                </a:lnTo>
                <a:lnTo>
                  <a:pt x="170402" y="171688"/>
                </a:lnTo>
                <a:lnTo>
                  <a:pt x="191797" y="139713"/>
                </a:lnTo>
                <a:lnTo>
                  <a:pt x="199644" y="100584"/>
                </a:lnTo>
                <a:lnTo>
                  <a:pt x="191797" y="61454"/>
                </a:lnTo>
                <a:lnTo>
                  <a:pt x="170402" y="29479"/>
                </a:lnTo>
                <a:lnTo>
                  <a:pt x="138672" y="7911"/>
                </a:lnTo>
                <a:lnTo>
                  <a:pt x="99822" y="0"/>
                </a:lnTo>
                <a:close/>
              </a:path>
            </a:pathLst>
          </a:custGeom>
          <a:solidFill>
            <a:srgbClr val="84ADAC"/>
          </a:solidFill>
        </p:spPr>
        <p:txBody>
          <a:bodyPr wrap="square" lIns="0" tIns="0" rIns="0" bIns="0" rtlCol="0"/>
          <a:lstStyle/>
          <a:p/>
        </p:txBody>
      </p:sp>
      <p:sp>
        <p:nvSpPr>
          <p:cNvPr id="62" name="object 62"/>
          <p:cNvSpPr/>
          <p:nvPr/>
        </p:nvSpPr>
        <p:spPr>
          <a:xfrm>
            <a:off x="6431281" y="3353561"/>
            <a:ext cx="266191" cy="199644"/>
          </a:xfrm>
          <a:prstGeom prst="rect">
            <a:avLst/>
          </a:prstGeom>
          <a:blipFill>
            <a:blip r:embed="rId6" cstate="print"/>
            <a:stretch>
              <a:fillRect/>
            </a:stretch>
          </a:blipFill>
        </p:spPr>
        <p:txBody>
          <a:bodyPr wrap="square" lIns="0" tIns="0" rIns="0" bIns="0" rtlCol="0"/>
          <a:lstStyle/>
          <a:p/>
        </p:txBody>
      </p:sp>
      <p:sp>
        <p:nvSpPr>
          <p:cNvPr id="63" name="object 63"/>
          <p:cNvSpPr/>
          <p:nvPr/>
        </p:nvSpPr>
        <p:spPr>
          <a:xfrm>
            <a:off x="6030978" y="3013710"/>
            <a:ext cx="266191" cy="199644"/>
          </a:xfrm>
          <a:prstGeom prst="rect">
            <a:avLst/>
          </a:prstGeom>
          <a:blipFill>
            <a:blip r:embed="rId6" cstate="print"/>
            <a:stretch>
              <a:fillRect/>
            </a:stretch>
          </a:blipFill>
        </p:spPr>
        <p:txBody>
          <a:bodyPr wrap="square" lIns="0" tIns="0" rIns="0" bIns="0" rtlCol="0"/>
          <a:lstStyle/>
          <a:p/>
        </p:txBody>
      </p:sp>
      <p:sp>
        <p:nvSpPr>
          <p:cNvPr id="64" name="object 64"/>
          <p:cNvSpPr/>
          <p:nvPr/>
        </p:nvSpPr>
        <p:spPr>
          <a:xfrm>
            <a:off x="8885936" y="4525517"/>
            <a:ext cx="266192" cy="201168"/>
          </a:xfrm>
          <a:prstGeom prst="rect">
            <a:avLst/>
          </a:prstGeom>
          <a:blipFill>
            <a:blip r:embed="rId9" cstate="print"/>
            <a:stretch>
              <a:fillRect/>
            </a:stretch>
          </a:blipFill>
        </p:spPr>
        <p:txBody>
          <a:bodyPr wrap="square" lIns="0" tIns="0" rIns="0" bIns="0" rtlCol="0"/>
          <a:lstStyle/>
          <a:p/>
        </p:txBody>
      </p:sp>
      <p:sp>
        <p:nvSpPr>
          <p:cNvPr id="65" name="object 65"/>
          <p:cNvSpPr/>
          <p:nvPr/>
        </p:nvSpPr>
        <p:spPr>
          <a:xfrm>
            <a:off x="8436863" y="4174997"/>
            <a:ext cx="266192" cy="199644"/>
          </a:xfrm>
          <a:prstGeom prst="rect">
            <a:avLst/>
          </a:prstGeom>
          <a:blipFill>
            <a:blip r:embed="rId6" cstate="print"/>
            <a:stretch>
              <a:fillRect/>
            </a:stretch>
          </a:blipFill>
        </p:spPr>
        <p:txBody>
          <a:bodyPr wrap="square" lIns="0" tIns="0" rIns="0" bIns="0" rtlCol="0"/>
          <a:lstStyle/>
          <a:p/>
        </p:txBody>
      </p:sp>
      <p:sp>
        <p:nvSpPr>
          <p:cNvPr id="66" name="object 66"/>
          <p:cNvSpPr/>
          <p:nvPr/>
        </p:nvSpPr>
        <p:spPr>
          <a:xfrm>
            <a:off x="9558527" y="4516373"/>
            <a:ext cx="266192" cy="199644"/>
          </a:xfrm>
          <a:prstGeom prst="rect">
            <a:avLst/>
          </a:prstGeom>
          <a:blipFill>
            <a:blip r:embed="rId6" cstate="print"/>
            <a:stretch>
              <a:fillRect/>
            </a:stretch>
          </a:blipFill>
        </p:spPr>
        <p:txBody>
          <a:bodyPr wrap="square" lIns="0" tIns="0" rIns="0" bIns="0" rtlCol="0"/>
          <a:lstStyle/>
          <a:p/>
        </p:txBody>
      </p:sp>
      <p:sp>
        <p:nvSpPr>
          <p:cNvPr id="67" name="object 67"/>
          <p:cNvSpPr/>
          <p:nvPr/>
        </p:nvSpPr>
        <p:spPr>
          <a:xfrm>
            <a:off x="6884415" y="3873247"/>
            <a:ext cx="291253" cy="268605"/>
          </a:xfrm>
          <a:custGeom>
            <a:avLst/>
            <a:gdLst/>
            <a:ahLst/>
            <a:cxnLst/>
            <a:rect l="l" t="t" r="r" b="b"/>
            <a:pathLst>
              <a:path w="218439" h="268604">
                <a:moveTo>
                  <a:pt x="108965" y="0"/>
                </a:moveTo>
                <a:lnTo>
                  <a:pt x="0" y="134112"/>
                </a:lnTo>
                <a:lnTo>
                  <a:pt x="108965" y="268224"/>
                </a:lnTo>
                <a:lnTo>
                  <a:pt x="217932" y="134112"/>
                </a:lnTo>
                <a:lnTo>
                  <a:pt x="108965" y="0"/>
                </a:lnTo>
                <a:close/>
              </a:path>
            </a:pathLst>
          </a:custGeom>
          <a:solidFill>
            <a:srgbClr val="FFC000"/>
          </a:solidFill>
        </p:spPr>
        <p:txBody>
          <a:bodyPr wrap="square" lIns="0" tIns="0" rIns="0" bIns="0" rtlCol="0"/>
          <a:lstStyle/>
          <a:p/>
        </p:txBody>
      </p:sp>
      <p:sp>
        <p:nvSpPr>
          <p:cNvPr id="68" name="object 68"/>
          <p:cNvSpPr/>
          <p:nvPr/>
        </p:nvSpPr>
        <p:spPr>
          <a:xfrm>
            <a:off x="6884415" y="3873247"/>
            <a:ext cx="291253" cy="268605"/>
          </a:xfrm>
          <a:custGeom>
            <a:avLst/>
            <a:gdLst/>
            <a:ahLst/>
            <a:cxnLst/>
            <a:rect l="l" t="t" r="r" b="b"/>
            <a:pathLst>
              <a:path w="218439" h="268604">
                <a:moveTo>
                  <a:pt x="0" y="134112"/>
                </a:moveTo>
                <a:lnTo>
                  <a:pt x="108965" y="0"/>
                </a:lnTo>
                <a:lnTo>
                  <a:pt x="217932" y="134112"/>
                </a:lnTo>
                <a:lnTo>
                  <a:pt x="108965" y="268224"/>
                </a:lnTo>
                <a:lnTo>
                  <a:pt x="0" y="134112"/>
                </a:lnTo>
                <a:close/>
              </a:path>
            </a:pathLst>
          </a:custGeom>
          <a:ln w="12192">
            <a:solidFill>
              <a:srgbClr val="D0692F"/>
            </a:solidFill>
          </a:ln>
        </p:spPr>
        <p:txBody>
          <a:bodyPr wrap="square" lIns="0" tIns="0" rIns="0" bIns="0" rtlCol="0"/>
          <a:lstStyle/>
          <a:p/>
        </p:txBody>
      </p:sp>
      <p:sp>
        <p:nvSpPr>
          <p:cNvPr id="71" name="标题 70"/>
          <p:cNvSpPr>
            <a:spLocks noGrp="1"/>
          </p:cNvSpPr>
          <p:nvPr>
            <p:ph type="title"/>
          </p:nvPr>
        </p:nvSpPr>
        <p:spPr/>
        <p:txBody>
          <a:bodyPr/>
          <a:lstStyle/>
          <a:p>
            <a:r>
              <a:rPr lang="en-US" altLang="zh-CN" dirty="0"/>
              <a:t>K</a:t>
            </a:r>
            <a:r>
              <a:rPr lang="zh-CN" altLang="en-US" dirty="0"/>
              <a:t>近邻模型需要选择</a:t>
            </a:r>
            <a:endParaRPr lang="zh-CN" altLang="en-US" dirty="0"/>
          </a:p>
        </p:txBody>
      </p:sp>
      <p:sp>
        <p:nvSpPr>
          <p:cNvPr id="70" name="object 10"/>
          <p:cNvSpPr txBox="1"/>
          <p:nvPr/>
        </p:nvSpPr>
        <p:spPr>
          <a:xfrm>
            <a:off x="3308266" y="2950720"/>
            <a:ext cx="1050713" cy="493395"/>
          </a:xfrm>
          <a:prstGeom prst="rect">
            <a:avLst/>
          </a:prstGeom>
        </p:spPr>
        <p:txBody>
          <a:bodyPr vert="horz" wrap="square" lIns="0" tIns="12700" rIns="0" bIns="0" rtlCol="0">
            <a:spAutoFit/>
          </a:bodyPr>
          <a:lstStyle/>
          <a:p>
            <a:pPr marR="5080" algn="r">
              <a:spcBef>
                <a:spcPts val="100"/>
              </a:spcBef>
            </a:pPr>
            <a:endParaRPr sz="1400" dirty="0">
              <a:latin typeface="Arial" panose="020B0604020202020204"/>
              <a:cs typeface="Arial" panose="020B0604020202020204"/>
            </a:endParaRPr>
          </a:p>
          <a:p>
            <a:pPr marL="12700">
              <a:spcBef>
                <a:spcPts val="80"/>
              </a:spcBef>
            </a:pPr>
            <a:r>
              <a:rPr sz="1600" b="1" spc="-20" dirty="0">
                <a:solidFill>
                  <a:srgbClr val="344B5E"/>
                </a:solidFill>
                <a:latin typeface="Arial" panose="020B0604020202020204"/>
                <a:cs typeface="Arial" panose="020B0604020202020204"/>
              </a:rPr>
              <a:t>Age</a:t>
            </a:r>
            <a:endParaRPr sz="1600" dirty="0">
              <a:latin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080021"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4617683" y="2473182"/>
            <a:ext cx="7285969"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en-US" altLang="zh-CN" sz="6600" dirty="0">
                <a:solidFill>
                  <a:srgbClr val="009999"/>
                </a:solidFill>
                <a:latin typeface="Noto Sans S Chinese Medium" panose="020B0600000000000000" pitchFamily="34" charset="-122"/>
                <a:ea typeface="Noto Sans S Chinese Medium" panose="020B0600000000000000" pitchFamily="34" charset="-122"/>
              </a:rPr>
              <a:t>KNN</a:t>
            </a:r>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算法关键问题</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accent1">
                    <a:lumMod val="75000"/>
                  </a:schemeClr>
                </a:solidFill>
                <a:latin typeface="Times New Roman" panose="02020603050405020304" pitchFamily="18" charset="0"/>
                <a:cs typeface="Times New Roman" panose="02020603050405020304" pitchFamily="18" charset="0"/>
                <a:sym typeface="+mn-ea"/>
              </a:rPr>
              <a:t>1</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sym typeface="+mn-ea"/>
              </a:rPr>
              <a:t>、相似性度量</a:t>
            </a:r>
            <a:r>
              <a:rPr kumimoji="1" lang="en-US" altLang="zh-CN" dirty="0">
                <a:solidFill>
                  <a:schemeClr val="accent1">
                    <a:lumMod val="75000"/>
                  </a:schemeClr>
                </a:solidFill>
                <a:latin typeface="Times New Roman" panose="02020603050405020304" pitchFamily="18" charset="0"/>
                <a:cs typeface="Times New Roman" panose="02020603050405020304" pitchFamily="18" charset="0"/>
                <a:sym typeface="+mn-ea"/>
              </a:rPr>
              <a:t>——</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sym typeface="+mn-ea"/>
              </a:rPr>
              <a:t>欧氏距离</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556268" y="1475509"/>
            <a:ext cx="9082126" cy="45454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accent1">
                    <a:lumMod val="75000"/>
                  </a:schemeClr>
                </a:solidFill>
                <a:latin typeface="Times New Roman" panose="02020603050405020304" pitchFamily="18" charset="0"/>
                <a:cs typeface="Times New Roman" panose="02020603050405020304" pitchFamily="18" charset="0"/>
              </a:rPr>
              <a:t>1</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rPr>
              <a:t>、相似性度量</a:t>
            </a:r>
            <a:r>
              <a:rPr kumimoji="1" lang="en-US" altLang="zh-CN" dirty="0">
                <a:solidFill>
                  <a:schemeClr val="accent1">
                    <a:lumMod val="75000"/>
                  </a:schemeClr>
                </a:solidFill>
                <a:latin typeface="Times New Roman" panose="02020603050405020304" pitchFamily="18" charset="0"/>
                <a:cs typeface="Times New Roman" panose="02020603050405020304" pitchFamily="18" charset="0"/>
              </a:rPr>
              <a:t>——</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rPr>
              <a:t>欧氏距离</a:t>
            </a:r>
            <a:endParaRPr kumimoji="1" lang="zh-CN" alt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026" name="Picture 2" descr="https://c.biancheng.net/uploads/allimg/210902/1GF95193-0.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9954" y="1472247"/>
            <a:ext cx="5086350" cy="3609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4314" y="614620"/>
            <a:ext cx="4963218" cy="523220"/>
          </a:xfrm>
          <a:prstGeom prst="rect">
            <a:avLst/>
          </a:prstGeom>
        </p:spPr>
        <p:txBody>
          <a:bodyPr wrap="none">
            <a:spAutoFit/>
          </a:bodyPr>
          <a:lstStyle/>
          <a:p>
            <a:r>
              <a:rPr lang="zh-CN" altLang="en-US" sz="2800" b="1" dirty="0">
                <a:solidFill>
                  <a:srgbClr val="009999"/>
                </a:solidFill>
              </a:rPr>
              <a:t>欧式距离（</a:t>
            </a:r>
            <a:r>
              <a:rPr lang="en-US" altLang="zh-CN" sz="2800" b="1" dirty="0">
                <a:solidFill>
                  <a:srgbClr val="009999"/>
                </a:solidFill>
              </a:rPr>
              <a:t>Euclidean distance</a:t>
            </a:r>
            <a:r>
              <a:rPr lang="zh-CN" altLang="en-US" sz="2800" b="1" dirty="0">
                <a:solidFill>
                  <a:srgbClr val="009999"/>
                </a:solidFill>
              </a:rPr>
              <a:t>）</a:t>
            </a:r>
            <a:endParaRPr lang="en-US" altLang="zh-CN" sz="2800" b="1" dirty="0">
              <a:solidFill>
                <a:srgbClr val="009999"/>
              </a:solidFill>
            </a:endParaRPr>
          </a:p>
        </p:txBody>
      </p:sp>
      <p:pic>
        <p:nvPicPr>
          <p:cNvPr id="4" name="图片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55380" y="1974307"/>
            <a:ext cx="3949700" cy="2771775"/>
          </a:xfrm>
          <a:prstGeom prst="rect">
            <a:avLst/>
          </a:prstGeom>
          <a:noFill/>
          <a:ln>
            <a:noFill/>
          </a:ln>
        </p:spPr>
      </p:pic>
      <mc:AlternateContent xmlns:mc="http://schemas.openxmlformats.org/markup-compatibility/2006">
        <mc:Choice xmlns:a14="http://schemas.microsoft.com/office/drawing/2010/main" Requires="a14">
          <p:sp>
            <p:nvSpPr>
              <p:cNvPr id="3" name="文本框 2"/>
              <p:cNvSpPr txBox="1"/>
              <p:nvPr/>
            </p:nvSpPr>
            <p:spPr>
              <a:xfrm>
                <a:off x="959291" y="2146735"/>
                <a:ext cx="5531023" cy="1596014"/>
              </a:xfrm>
              <a:prstGeom prst="rect">
                <a:avLst/>
              </a:prstGeom>
              <a:noFill/>
            </p:spPr>
            <p:txBody>
              <a:bodyPr wrap="square" rtlCol="0">
                <a:spAutoFit/>
              </a:bodyPr>
              <a:lstStyle/>
              <a:p>
                <a:pPr>
                  <a:lnSpc>
                    <a:spcPct val="150000"/>
                  </a:lnSpc>
                </a:pPr>
                <a:r>
                  <a:rPr lang="zh-CN" altLang="en-US" sz="2000" b="1" dirty="0"/>
                  <a:t>如右</a:t>
                </a:r>
                <a:r>
                  <a:rPr lang="zh-CN" altLang="zh-CN" sz="2000" b="1" dirty="0"/>
                  <a:t>图</a:t>
                </a:r>
                <a:r>
                  <a:rPr lang="zh-CN" altLang="en-US" sz="2000" b="1" dirty="0"/>
                  <a:t>所示的</a:t>
                </a:r>
                <a:r>
                  <a:rPr lang="en-US" altLang="zh-CN" sz="2000" b="1" dirty="0"/>
                  <a:t> </a:t>
                </a:r>
                <a:r>
                  <a:rPr lang="zh-CN" altLang="zh-CN" sz="2000" b="1" dirty="0"/>
                  <a:t>二维空间中，两个点之间的欧式距离等于直角三角形斜边的长度。</a:t>
                </a:r>
                <a:endParaRPr lang="en-US" altLang="zh-CN" sz="2000" b="1" dirty="0"/>
              </a:p>
              <a:p>
                <a:pPr>
                  <a:lnSpc>
                    <a:spcPct val="150000"/>
                  </a:lnSpc>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m:t>
                      </m:r>
                      <m:rad>
                        <m:radPr>
                          <m:degHide m:val="on"/>
                          <m:ctrlPr>
                            <a:rPr lang="en-US" altLang="zh-CN" sz="2000" b="1" i="1" smtClean="0">
                              <a:latin typeface="Cambria Math" panose="02040503050406030204" pitchFamily="18" charset="0"/>
                            </a:rPr>
                          </m:ctrlPr>
                        </m:radPr>
                        <m:deg/>
                        <m:e>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baseline="-25000" smtClean="0">
                                  <a:latin typeface="Cambria Math" panose="02040503050406030204" pitchFamily="18" charset="0"/>
                                </a:rPr>
                                <m:t>𝟐</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𝒙</m:t>
                              </m:r>
                              <m:r>
                                <a:rPr lang="en-US" altLang="zh-CN" sz="2000" b="1" i="1" baseline="-25000" smtClean="0">
                                  <a:latin typeface="Cambria Math" panose="02040503050406030204" pitchFamily="18" charset="0"/>
                                </a:rPr>
                                <m:t>𝟏</m:t>
                              </m:r>
                            </m:e>
                          </m:d>
                          <m:r>
                            <a:rPr lang="en-US" altLang="zh-CN" sz="2000" b="1" i="1" baseline="30000" smtClean="0">
                              <a:latin typeface="Cambria Math" panose="02040503050406030204" pitchFamily="18" charset="0"/>
                            </a:rPr>
                            <m:t>𝟐</m:t>
                          </m:r>
                          <m:r>
                            <a:rPr lang="en-US" altLang="zh-CN" sz="2000" b="1" i="1" smtClean="0">
                              <a:latin typeface="Cambria Math" panose="02040503050406030204" pitchFamily="18" charset="0"/>
                            </a:rPr>
                            <m:t>+</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𝒚</m:t>
                              </m:r>
                              <m:r>
                                <a:rPr lang="en-US" altLang="zh-CN" sz="2000" b="1" i="1" baseline="-25000" smtClean="0">
                                  <a:latin typeface="Cambria Math" panose="02040503050406030204" pitchFamily="18" charset="0"/>
                                </a:rPr>
                                <m:t>𝟐</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r>
                                <a:rPr lang="en-US" altLang="zh-CN" sz="2000" b="1" i="1" baseline="-25000" smtClean="0">
                                  <a:latin typeface="Cambria Math" panose="02040503050406030204" pitchFamily="18" charset="0"/>
                                </a:rPr>
                                <m:t>𝟏</m:t>
                              </m:r>
                            </m:e>
                          </m:d>
                          <m:r>
                            <a:rPr lang="en-US" altLang="zh-CN" sz="2000" b="1" i="1" baseline="30000" smtClean="0">
                              <a:latin typeface="Cambria Math" panose="02040503050406030204" pitchFamily="18" charset="0"/>
                            </a:rPr>
                            <m:t>𝟐</m:t>
                          </m:r>
                        </m:e>
                      </m:rad>
                    </m:oMath>
                  </m:oMathPara>
                </a14:m>
                <a:endParaRPr lang="zh-CN" altLang="en-US" sz="2000" b="1" dirty="0"/>
              </a:p>
            </p:txBody>
          </p:sp>
        </mc:Choice>
        <mc:Fallback>
          <p:sp>
            <p:nvSpPr>
              <p:cNvPr id="3" name="文本框 2"/>
              <p:cNvSpPr txBox="1">
                <a:spLocks noRot="1" noChangeAspect="1" noMove="1" noResize="1" noEditPoints="1" noAdjustHandles="1" noChangeArrowheads="1" noChangeShapeType="1" noTextEdit="1"/>
              </p:cNvSpPr>
              <p:nvPr/>
            </p:nvSpPr>
            <p:spPr>
              <a:xfrm>
                <a:off x="959291" y="2146735"/>
                <a:ext cx="5531023" cy="1596014"/>
              </a:xfrm>
              <a:prstGeom prst="rect">
                <a:avLst/>
              </a:prstGeom>
              <a:blipFill rotWithShape="1">
                <a:blip r:embed="rId2"/>
                <a:stretch>
                  <a:fillRect l="-8" t="-27" r="11" b="4"/>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97168" y="486425"/>
            <a:ext cx="2698175" cy="523220"/>
          </a:xfrm>
          <a:prstGeom prst="rect">
            <a:avLst/>
          </a:prstGeom>
        </p:spPr>
        <p:txBody>
          <a:bodyPr wrap="none">
            <a:spAutoFit/>
          </a:bodyPr>
          <a:lstStyle/>
          <a:p>
            <a:r>
              <a:rPr lang="zh-CN" altLang="en-US" sz="2800" b="1" dirty="0"/>
              <a:t>相似性度量实例</a:t>
            </a:r>
            <a:endParaRPr lang="en-US" altLang="zh-CN" sz="2800" b="1" dirty="0"/>
          </a:p>
        </p:txBody>
      </p:sp>
      <p:sp>
        <p:nvSpPr>
          <p:cNvPr id="2" name="矩形 1"/>
          <p:cNvSpPr/>
          <p:nvPr/>
        </p:nvSpPr>
        <p:spPr>
          <a:xfrm>
            <a:off x="1363227" y="1272537"/>
            <a:ext cx="9046865" cy="1027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en-US" sz="2400" dirty="0">
                <a:solidFill>
                  <a:schemeClr val="tx1"/>
                </a:solidFill>
              </a:rPr>
              <a:t>使用如下训练集：其中还包含</a:t>
            </a:r>
            <a:r>
              <a:rPr lang="en-US" altLang="zh-CN" sz="2400" dirty="0">
                <a:solidFill>
                  <a:schemeClr val="tx1"/>
                </a:solidFill>
              </a:rPr>
              <a:t>4</a:t>
            </a:r>
            <a:r>
              <a:rPr lang="zh-CN" altLang="en-US" sz="2400" dirty="0">
                <a:solidFill>
                  <a:schemeClr val="tx1"/>
                </a:solidFill>
              </a:rPr>
              <a:t>个样例，每个样例三个数值属性，以此判断物体</a:t>
            </a:r>
            <a:r>
              <a:rPr lang="en-US" altLang="zh-CN" sz="2400" b="1" dirty="0">
                <a:solidFill>
                  <a:schemeClr val="tx1"/>
                </a:solidFill>
              </a:rPr>
              <a:t>X=[2,4,2]</a:t>
            </a:r>
            <a:r>
              <a:rPr lang="zh-CN" altLang="en-US" sz="2400" dirty="0">
                <a:solidFill>
                  <a:schemeClr val="tx1"/>
                </a:solidFill>
              </a:rPr>
              <a:t>的类别。</a:t>
            </a:r>
            <a:endParaRPr lang="zh-CN" altLang="en-US" sz="2400" dirty="0">
              <a:solidFill>
                <a:schemeClr val="tx1"/>
              </a:solidFill>
            </a:endParaRP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1363227" y="2654655"/>
              <a:ext cx="9527277" cy="3201022"/>
            </p:xfrm>
            <a:graphic>
              <a:graphicData uri="http://schemas.openxmlformats.org/drawingml/2006/table">
                <a:tbl>
                  <a:tblPr firstRow="1" bandRow="1">
                    <a:tableStyleId>{5C22544A-7EE6-4342-B048-85BDC9FD1C3A}</a:tableStyleId>
                  </a:tblPr>
                  <a:tblGrid>
                    <a:gridCol w="1272572"/>
                    <a:gridCol w="3633976"/>
                    <a:gridCol w="4620729"/>
                  </a:tblGrid>
                  <a:tr h="507595">
                    <a:tc gridSpan="3">
                      <a:txBody>
                        <a:bodyPr/>
                        <a:lstStyle/>
                        <a:p>
                          <a:pPr algn="ctr"/>
                          <a:r>
                            <a:rPr lang="en-US" altLang="zh-CN" sz="2400" dirty="0">
                              <a:solidFill>
                                <a:schemeClr val="tx1"/>
                              </a:solidFill>
                            </a:rPr>
                            <a:t>Distance between </a:t>
                          </a:r>
                          <a:r>
                            <a:rPr lang="en-US" altLang="zh-CN" sz="2400" i="1" dirty="0" err="1">
                              <a:solidFill>
                                <a:schemeClr val="tx1"/>
                              </a:solidFill>
                            </a:rPr>
                            <a:t>exi</a:t>
                          </a:r>
                          <a:r>
                            <a:rPr lang="en-US" altLang="zh-CN" sz="2400" dirty="0">
                              <a:solidFill>
                                <a:schemeClr val="tx1"/>
                              </a:solidFill>
                            </a:rPr>
                            <a:t> and [2,4,2]</a:t>
                          </a:r>
                          <a:endParaRPr lang="zh-CN" altLang="en-US" sz="2400" dirty="0">
                            <a:solidFill>
                              <a:schemeClr val="tx1"/>
                            </a:solidFill>
                          </a:endParaRPr>
                        </a:p>
                      </a:txBody>
                      <a:tcPr/>
                    </a:tc>
                    <a:tc hMerge="1">
                      <a:tcPr/>
                    </a:tc>
                    <a:tc hMerge="1">
                      <a:tcPr/>
                    </a:tc>
                  </a:tr>
                  <a:tr h="593252">
                    <a:tc>
                      <a:txBody>
                        <a:bodyPr/>
                        <a:lstStyle/>
                        <a:p>
                          <a:pPr algn="ctr"/>
                          <a:r>
                            <a:rPr lang="en-US" altLang="zh-CN" sz="2400" i="1" dirty="0"/>
                            <a:t>ex1</a:t>
                          </a:r>
                          <a:endParaRPr lang="zh-CN" altLang="en-US" sz="2400" i="1" dirty="0"/>
                        </a:p>
                      </a:txBody>
                      <a:tcPr/>
                    </a:tc>
                    <a:tc>
                      <a:txBody>
                        <a:bodyPr/>
                        <a:lstStyle/>
                        <a:p>
                          <a:pPr algn="ctr"/>
                          <a:r>
                            <a:rPr lang="en-US" altLang="zh-CN" sz="2400" dirty="0"/>
                            <a:t>{[1,3,1],</a:t>
                          </a:r>
                          <a:r>
                            <a:rPr lang="en-US" altLang="zh-CN" sz="2400" dirty="0" err="1"/>
                            <a:t>pos</a:t>
                          </a:r>
                          <a:r>
                            <a:rPr lang="en-US" altLang="zh-CN" sz="2400" dirty="0"/>
                            <a:t>}</a:t>
                          </a:r>
                          <a:endParaRPr lang="zh-CN" altLang="en-US" sz="2400" dirty="0"/>
                        </a:p>
                      </a:txBody>
                      <a:tcPr/>
                    </a:tc>
                    <a:tc>
                      <a:txBody>
                        <a:bodyPr/>
                        <a:lstStyle/>
                        <a:p>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1</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4</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3</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1</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zh-CN" altLang="en-US" sz="2400" dirty="0" smtClean="0">
                                      <a:latin typeface="Cambria Math" panose="02040503050406030204" pitchFamily="18" charset="0"/>
                                    </a:rPr>
                                    <m:t> </m:t>
                                  </m:r>
                                </m:e>
                              </m:rad>
                            </m:oMath>
                          </a14:m>
                          <a:r>
                            <a:rPr lang="en-US" altLang="zh-CN" sz="2400" dirty="0"/>
                            <a:t>=</a:t>
                          </a:r>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b="0" i="0" smtClean="0">
                                      <a:latin typeface="Cambria Math" panose="02040503050406030204" pitchFamily="18" charset="0"/>
                                    </a:rPr>
                                    <m:t>3</m:t>
                                  </m:r>
                                  <m:r>
                                    <m:rPr>
                                      <m:nor/>
                                    </m:rPr>
                                    <a:rPr lang="zh-CN" altLang="en-US" sz="2400" dirty="0" smtClean="0">
                                      <a:latin typeface="Cambria Math" panose="02040503050406030204" pitchFamily="18" charset="0"/>
                                    </a:rPr>
                                    <m:t> </m:t>
                                  </m:r>
                                </m:e>
                              </m:rad>
                            </m:oMath>
                          </a14:m>
                          <a:endParaRPr lang="zh-CN" altLang="en-US" sz="2400" dirty="0"/>
                        </a:p>
                      </a:txBody>
                      <a:tcPr/>
                    </a:tc>
                  </a:tr>
                  <a:tr h="593252">
                    <a:tc>
                      <a:txBody>
                        <a:bodyPr/>
                        <a:lstStyle/>
                        <a:p>
                          <a:pPr algn="ctr"/>
                          <a:r>
                            <a:rPr lang="en-US" altLang="zh-CN" sz="2400" i="1" dirty="0"/>
                            <a:t>ex2</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{[3,5,2],</a:t>
                          </a:r>
                          <a:r>
                            <a:rPr lang="en-US" altLang="zh-CN" sz="2400" dirty="0" err="1"/>
                            <a:t>pos</a:t>
                          </a:r>
                          <a:r>
                            <a:rPr lang="en-US" altLang="zh-CN" sz="2400" dirty="0"/>
                            <a:t>}</a:t>
                          </a:r>
                          <a:endParaRPr lang="zh-CN" altLang="en-US" sz="2400" dirty="0"/>
                        </a:p>
                      </a:txBody>
                      <a:tcPr/>
                    </a:tc>
                    <a:tc>
                      <a:txBody>
                        <a:bodyPr/>
                        <a:lstStyle/>
                        <a:p>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3</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4</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5</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zh-CN" altLang="en-US" sz="2400" dirty="0" smtClean="0">
                                      <a:latin typeface="Cambria Math" panose="02040503050406030204" pitchFamily="18" charset="0"/>
                                    </a:rPr>
                                    <m:t> </m:t>
                                  </m:r>
                                </m:e>
                              </m:rad>
                            </m:oMath>
                          </a14:m>
                          <a:r>
                            <a:rPr lang="en-US" altLang="zh-CN" sz="2400" dirty="0"/>
                            <a:t>=</a:t>
                          </a:r>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b="0" i="0" smtClean="0">
                                      <a:latin typeface="Cambria Math" panose="02040503050406030204" pitchFamily="18" charset="0"/>
                                    </a:rPr>
                                    <m:t>2</m:t>
                                  </m:r>
                                  <m:r>
                                    <m:rPr>
                                      <m:nor/>
                                    </m:rPr>
                                    <a:rPr lang="zh-CN" altLang="en-US" sz="2400" dirty="0" smtClean="0">
                                      <a:latin typeface="Cambria Math" panose="02040503050406030204" pitchFamily="18" charset="0"/>
                                    </a:rPr>
                                    <m:t> </m:t>
                                  </m:r>
                                </m:e>
                              </m:rad>
                            </m:oMath>
                          </a14:m>
                          <a:endParaRPr lang="zh-CN" altLang="en-US" sz="2400" dirty="0"/>
                        </a:p>
                      </a:txBody>
                      <a:tcPr/>
                    </a:tc>
                  </a:tr>
                  <a:tr h="593252">
                    <a:tc>
                      <a:txBody>
                        <a:bodyPr/>
                        <a:lstStyle/>
                        <a:p>
                          <a:pPr algn="ctr"/>
                          <a:r>
                            <a:rPr lang="en-US" altLang="zh-CN" sz="2400" i="1" dirty="0"/>
                            <a:t>ex3</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{[3,2,2],</a:t>
                          </a:r>
                          <a:r>
                            <a:rPr lang="en-US" altLang="zh-CN" sz="2400" dirty="0" err="1"/>
                            <a:t>neg</a:t>
                          </a:r>
                          <a:r>
                            <a:rPr lang="en-US" altLang="zh-CN" sz="2400" dirty="0"/>
                            <a:t>}</a:t>
                          </a:r>
                          <a:endParaRPr lang="zh-CN" altLang="en-US" sz="2400" dirty="0"/>
                        </a:p>
                      </a:txBody>
                      <a:tcPr/>
                    </a:tc>
                    <a:tc>
                      <a:txBody>
                        <a:bodyPr/>
                        <a:lstStyle/>
                        <a:p>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3</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4</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zh-CN" altLang="en-US" sz="2400" dirty="0" smtClean="0">
                                      <a:latin typeface="Cambria Math" panose="02040503050406030204" pitchFamily="18" charset="0"/>
                                    </a:rPr>
                                    <m:t> </m:t>
                                  </m:r>
                                </m:e>
                              </m:rad>
                            </m:oMath>
                          </a14:m>
                          <a:r>
                            <a:rPr lang="en-US" altLang="zh-CN" sz="2400" dirty="0"/>
                            <a:t>=</a:t>
                          </a:r>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b="0" i="0" smtClean="0">
                                      <a:latin typeface="Cambria Math" panose="02040503050406030204" pitchFamily="18" charset="0"/>
                                    </a:rPr>
                                    <m:t>5</m:t>
                                  </m:r>
                                  <m:r>
                                    <m:rPr>
                                      <m:nor/>
                                    </m:rPr>
                                    <a:rPr lang="zh-CN" altLang="en-US" sz="2400" dirty="0" smtClean="0">
                                      <a:latin typeface="Cambria Math" panose="02040503050406030204" pitchFamily="18" charset="0"/>
                                    </a:rPr>
                                    <m:t> </m:t>
                                  </m:r>
                                </m:e>
                              </m:rad>
                            </m:oMath>
                          </a14:m>
                          <a:endParaRPr lang="zh-CN" altLang="en-US" sz="2400" dirty="0"/>
                        </a:p>
                      </a:txBody>
                      <a:tcPr/>
                    </a:tc>
                  </a:tr>
                  <a:tr h="913671">
                    <a:tc>
                      <a:txBody>
                        <a:bodyPr/>
                        <a:lstStyle/>
                        <a:p>
                          <a:pPr algn="ctr"/>
                          <a:r>
                            <a:rPr lang="en-US" altLang="zh-CN" sz="2400" i="1" dirty="0"/>
                            <a:t>ex4</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{[5,2,3],</a:t>
                          </a:r>
                          <a:r>
                            <a:rPr lang="en-US" altLang="zh-CN" sz="2400" dirty="0" err="1"/>
                            <a:t>neg</a:t>
                          </a:r>
                          <a:r>
                            <a:rPr lang="en-US" altLang="zh-CN" sz="2400" dirty="0"/>
                            <a:t>}</a:t>
                          </a:r>
                          <a:endParaRPr lang="zh-CN" altLang="en-US" sz="2400" dirty="0"/>
                        </a:p>
                        <a:p>
                          <a:pPr algn="ctr"/>
                          <a:endParaRPr lang="zh-CN" altLang="en-US" sz="2400" dirty="0"/>
                        </a:p>
                      </a:txBody>
                      <a:tcPr/>
                    </a:tc>
                    <a:tc>
                      <a:txBody>
                        <a:bodyPr/>
                        <a:lstStyle/>
                        <a:p>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5</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4</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dirty="0" smtClean="0">
                                      <a:latin typeface="Cambria Math" panose="02040503050406030204" pitchFamily="18" charset="0"/>
                                    </a:rPr>
                                    <m:t>2</m:t>
                                  </m:r>
                                  <m:r>
                                    <m:rPr>
                                      <m:nor/>
                                    </m:rPr>
                                    <a:rPr lang="en-US" altLang="zh-CN" sz="2400" dirty="0" smtClean="0">
                                      <a:latin typeface="Cambria Math" panose="02040503050406030204" pitchFamily="18" charset="0"/>
                                    </a:rPr>
                                    <m:t>−</m:t>
                                  </m:r>
                                  <m:r>
                                    <m:rPr>
                                      <m:nor/>
                                    </m:rPr>
                                    <a:rPr lang="en-US" altLang="zh-CN" sz="2400" b="0" i="0" dirty="0" smtClean="0">
                                      <a:latin typeface="Cambria Math" panose="02040503050406030204" pitchFamily="18" charset="0"/>
                                    </a:rPr>
                                    <m:t>3</m:t>
                                  </m:r>
                                  <m:r>
                                    <m:rPr>
                                      <m:nor/>
                                    </m:rPr>
                                    <a:rPr lang="en-US" altLang="zh-CN" sz="2400" dirty="0" smtClean="0">
                                      <a:latin typeface="Cambria Math" panose="02040503050406030204" pitchFamily="18" charset="0"/>
                                    </a:rPr>
                                    <m:t>)</m:t>
                                  </m:r>
                                  <m:r>
                                    <m:rPr>
                                      <m:nor/>
                                    </m:rPr>
                                    <a:rPr lang="en-US" altLang="zh-CN" sz="2400" baseline="30000" dirty="0" smtClean="0">
                                      <a:latin typeface="Cambria Math" panose="02040503050406030204" pitchFamily="18" charset="0"/>
                                    </a:rPr>
                                    <m:t> </m:t>
                                  </m:r>
                                  <m:r>
                                    <m:rPr>
                                      <m:nor/>
                                    </m:rPr>
                                    <a:rPr lang="en-US" altLang="zh-CN" sz="2400" baseline="30000" dirty="0" smtClean="0">
                                      <a:latin typeface="Cambria Math" panose="02040503050406030204" pitchFamily="18" charset="0"/>
                                    </a:rPr>
                                    <m:t>2</m:t>
                                  </m:r>
                                  <m:r>
                                    <m:rPr>
                                      <m:nor/>
                                    </m:rPr>
                                    <a:rPr lang="zh-CN" altLang="en-US" sz="2400" dirty="0" smtClean="0">
                                      <a:latin typeface="Cambria Math" panose="02040503050406030204" pitchFamily="18" charset="0"/>
                                    </a:rPr>
                                    <m:t> </m:t>
                                  </m:r>
                                </m:e>
                              </m:rad>
                            </m:oMath>
                          </a14:m>
                          <a:r>
                            <a:rPr lang="en-US" altLang="zh-CN" sz="2400" dirty="0"/>
                            <a:t>=</a:t>
                          </a:r>
                          <a14:m>
                            <m:oMath xmlns:m="http://schemas.openxmlformats.org/officeDocument/2006/math">
                              <m:rad>
                                <m:radPr>
                                  <m:degHide m:val="on"/>
                                  <m:ctrlPr>
                                    <a:rPr lang="en-US" altLang="zh-CN" sz="2400" i="1" smtClean="0">
                                      <a:latin typeface="Cambria Math" panose="02040503050406030204" pitchFamily="18" charset="0"/>
                                    </a:rPr>
                                  </m:ctrlPr>
                                </m:radPr>
                                <m:deg/>
                                <m:e>
                                  <m:r>
                                    <m:rPr>
                                      <m:nor/>
                                    </m:rPr>
                                    <a:rPr lang="en-US" altLang="zh-CN" sz="2400" b="0" i="0" smtClean="0">
                                      <a:latin typeface="Cambria Math" panose="02040503050406030204" pitchFamily="18" charset="0"/>
                                    </a:rPr>
                                    <m:t>14</m:t>
                                  </m:r>
                                  <m:r>
                                    <m:rPr>
                                      <m:nor/>
                                    </m:rPr>
                                    <a:rPr lang="zh-CN" altLang="en-US" sz="2400" dirty="0" smtClean="0">
                                      <a:latin typeface="Cambria Math" panose="02040503050406030204" pitchFamily="18" charset="0"/>
                                    </a:rPr>
                                    <m:t> </m:t>
                                  </m:r>
                                </m:e>
                              </m:rad>
                            </m:oMath>
                          </a14:m>
                          <a:endParaRPr lang="zh-CN" altLang="en-US" sz="2400" dirty="0"/>
                        </a:p>
                      </a:txBody>
                      <a:tcPr/>
                    </a:tc>
                  </a:tr>
                </a:tbl>
              </a:graphicData>
            </a:graphic>
          </p:graphicFrame>
        </mc:Choice>
        <mc:Fallback xmlns="">
          <p:graphicFrame>
            <p:nvGraphicFramePr>
              <p:cNvPr id="3" name="表格 2"/>
              <p:cNvGraphicFramePr>
                <a:graphicFrameLocks noGrp="1"/>
              </p:cNvGraphicFramePr>
              <p:nvPr/>
            </p:nvGraphicFramePr>
            <p:xfrm>
              <a:off x="1363227" y="2654655"/>
              <a:ext cx="9527277" cy="3201022"/>
            </p:xfrm>
            <a:graphic>
              <a:graphicData uri="http://schemas.openxmlformats.org/drawingml/2006/table">
                <a:tbl>
                  <a:tblPr firstRow="1" bandRow="1">
                    <a:tableStyleId>{5C22544A-7EE6-4342-B048-85BDC9FD1C3A}</a:tableStyleId>
                  </a:tblPr>
                  <a:tblGrid>
                    <a:gridCol w="1272572"/>
                    <a:gridCol w="3633976"/>
                    <a:gridCol w="4620729"/>
                  </a:tblGrid>
                  <a:tr h="507595">
                    <a:tc gridSpan="3">
                      <a:txBody>
                        <a:bodyPr/>
                        <a:lstStyle/>
                        <a:p>
                          <a:pPr algn="ctr"/>
                          <a:r>
                            <a:rPr lang="en-US" altLang="zh-CN" sz="2400" dirty="0">
                              <a:solidFill>
                                <a:schemeClr val="tx1"/>
                              </a:solidFill>
                            </a:rPr>
                            <a:t>Distance between </a:t>
                          </a:r>
                          <a:r>
                            <a:rPr lang="en-US" altLang="zh-CN" sz="2400" i="1" dirty="0" err="1">
                              <a:solidFill>
                                <a:schemeClr val="tx1"/>
                              </a:solidFill>
                            </a:rPr>
                            <a:t>exi</a:t>
                          </a:r>
                          <a:r>
                            <a:rPr lang="en-US" altLang="zh-CN" sz="2400" dirty="0">
                              <a:solidFill>
                                <a:schemeClr val="tx1"/>
                              </a:solidFill>
                            </a:rPr>
                            <a:t> and [2,4,2]</a:t>
                          </a:r>
                          <a:endParaRPr lang="zh-CN" altLang="en-US" sz="2400" dirty="0">
                            <a:solidFill>
                              <a:schemeClr val="tx1"/>
                            </a:solidFill>
                          </a:endParaRPr>
                        </a:p>
                      </a:txBody>
                      <a:tcPr/>
                    </a:tc>
                    <a:tc hMerge="1">
                      <a:tcPr/>
                    </a:tc>
                    <a:tc hMerge="1">
                      <a:tcPr/>
                    </a:tc>
                  </a:tr>
                  <a:tr h="593725">
                    <a:tc>
                      <a:txBody>
                        <a:bodyPr/>
                        <a:lstStyle/>
                        <a:p>
                          <a:pPr algn="ctr"/>
                          <a:r>
                            <a:rPr lang="en-US" altLang="zh-CN" sz="2400" i="1" dirty="0"/>
                            <a:t>ex1</a:t>
                          </a:r>
                          <a:endParaRPr lang="zh-CN" altLang="en-US" sz="2400" i="1" dirty="0"/>
                        </a:p>
                      </a:txBody>
                      <a:tcPr/>
                    </a:tc>
                    <a:tc>
                      <a:txBody>
                        <a:bodyPr/>
                        <a:lstStyle/>
                        <a:p>
                          <a:pPr algn="ctr"/>
                          <a:r>
                            <a:rPr lang="en-US" altLang="zh-CN" sz="2400" dirty="0"/>
                            <a:t>{[1,3,1],</a:t>
                          </a:r>
                          <a:r>
                            <a:rPr lang="en-US" altLang="zh-CN" sz="2400" dirty="0" err="1"/>
                            <a:t>pos</a:t>
                          </a:r>
                          <a:r>
                            <a:rPr lang="en-US" altLang="zh-CN" sz="2400" dirty="0"/>
                            <a:t>}</a:t>
                          </a:r>
                          <a:endParaRPr lang="zh-CN" altLang="en-US" sz="2400" dirty="0"/>
                        </a:p>
                      </a:txBody>
                      <a:tcPr/>
                    </a:tc>
                    <a:tc>
                      <a:txBody>
                        <a:bodyPr/>
                        <a:lstStyle/>
                        <a:p>
                          <a:endParaRPr lang="zh-CN"/>
                        </a:p>
                      </a:txBody>
                      <a:tcPr>
                        <a:blipFill>
                          <a:blip r:embed="rId1"/>
                        </a:blipFill>
                      </a:tcPr>
                    </a:tc>
                  </a:tr>
                  <a:tr h="593090">
                    <a:tc>
                      <a:txBody>
                        <a:bodyPr/>
                        <a:lstStyle/>
                        <a:p>
                          <a:pPr algn="ctr"/>
                          <a:r>
                            <a:rPr lang="en-US" altLang="zh-CN" sz="2400" i="1" dirty="0"/>
                            <a:t>ex2</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{[3,5,2],</a:t>
                          </a:r>
                          <a:r>
                            <a:rPr lang="en-US" altLang="zh-CN" sz="2400" dirty="0" err="1"/>
                            <a:t>pos</a:t>
                          </a:r>
                          <a:r>
                            <a:rPr lang="en-US" altLang="zh-CN" sz="2400" dirty="0"/>
                            <a:t>}</a:t>
                          </a:r>
                          <a:endParaRPr lang="zh-CN" altLang="en-US" sz="2400" dirty="0"/>
                        </a:p>
                      </a:txBody>
                      <a:tcPr/>
                    </a:tc>
                    <a:tc>
                      <a:txBody>
                        <a:bodyPr/>
                        <a:lstStyle/>
                        <a:p>
                          <a:endParaRPr lang="zh-CN"/>
                        </a:p>
                      </a:txBody>
                      <a:tcPr>
                        <a:blipFill>
                          <a:blip r:embed="rId1"/>
                        </a:blipFill>
                      </a:tcPr>
                    </a:tc>
                  </a:tr>
                  <a:tr h="593090">
                    <a:tc>
                      <a:txBody>
                        <a:bodyPr/>
                        <a:lstStyle/>
                        <a:p>
                          <a:pPr algn="ctr"/>
                          <a:r>
                            <a:rPr lang="en-US" altLang="zh-CN" sz="2400" i="1" dirty="0"/>
                            <a:t>ex3</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{[3,2,2],</a:t>
                          </a:r>
                          <a:r>
                            <a:rPr lang="en-US" altLang="zh-CN" sz="2400" dirty="0" err="1"/>
                            <a:t>neg</a:t>
                          </a:r>
                          <a:r>
                            <a:rPr lang="en-US" altLang="zh-CN" sz="2400" dirty="0"/>
                            <a:t>}</a:t>
                          </a:r>
                          <a:endParaRPr lang="zh-CN" altLang="en-US" sz="2400" dirty="0"/>
                        </a:p>
                      </a:txBody>
                      <a:tcPr/>
                    </a:tc>
                    <a:tc>
                      <a:txBody>
                        <a:bodyPr/>
                        <a:lstStyle/>
                        <a:p>
                          <a:endParaRPr lang="zh-CN"/>
                        </a:p>
                      </a:txBody>
                      <a:tcPr>
                        <a:blipFill>
                          <a:blip r:embed="rId1"/>
                        </a:blipFill>
                      </a:tcPr>
                    </a:tc>
                  </a:tr>
                  <a:tr h="913765">
                    <a:tc>
                      <a:txBody>
                        <a:bodyPr/>
                        <a:lstStyle/>
                        <a:p>
                          <a:pPr algn="ctr"/>
                          <a:r>
                            <a:rPr lang="en-US" altLang="zh-CN" sz="2400" i="1" dirty="0"/>
                            <a:t>ex4</a:t>
                          </a:r>
                          <a:endParaRPr lang="zh-CN" altLang="en-US" sz="2400" i="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{[5,2,3],</a:t>
                          </a:r>
                          <a:r>
                            <a:rPr lang="en-US" altLang="zh-CN" sz="2400" dirty="0" err="1"/>
                            <a:t>neg</a:t>
                          </a:r>
                          <a:r>
                            <a:rPr lang="en-US" altLang="zh-CN" sz="2400" dirty="0"/>
                            <a:t>}</a:t>
                          </a:r>
                          <a:endParaRPr lang="zh-CN" altLang="en-US" sz="2400" dirty="0"/>
                        </a:p>
                        <a:p>
                          <a:pPr algn="ctr"/>
                          <a:endParaRPr lang="zh-CN" altLang="en-US" sz="2400" dirty="0"/>
                        </a:p>
                      </a:txBody>
                      <a:tcPr/>
                    </a:tc>
                    <a:tc>
                      <a:txBody>
                        <a:bodyPr/>
                        <a:lstStyle/>
                        <a:p>
                          <a:endParaRPr lang="zh-CN"/>
                        </a:p>
                      </a:txBody>
                      <a:tcPr>
                        <a:blipFill>
                          <a:blip r:embed="rId1"/>
                        </a:blipFill>
                      </a:tcPr>
                    </a:tc>
                  </a:tr>
                </a:tbl>
              </a:graphicData>
            </a:graphic>
          </p:graphicFrame>
        </mc:Fallback>
      </mc:AlternateContent>
      <p:sp>
        <p:nvSpPr>
          <p:cNvPr id="4" name="椭圆 3"/>
          <p:cNvSpPr/>
          <p:nvPr/>
        </p:nvSpPr>
        <p:spPr>
          <a:xfrm>
            <a:off x="1452223" y="3810508"/>
            <a:ext cx="1059543" cy="409303"/>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568452" y="3859144"/>
            <a:ext cx="615811" cy="312029"/>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accent1">
                    <a:lumMod val="75000"/>
                  </a:schemeClr>
                </a:solidFill>
                <a:latin typeface="Times New Roman" panose="02020603050405020304" pitchFamily="18" charset="0"/>
                <a:cs typeface="Times New Roman" panose="02020603050405020304" pitchFamily="18" charset="0"/>
              </a:rPr>
              <a:t>2</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rPr>
              <a:t>、</a:t>
            </a:r>
            <a:r>
              <a:rPr kumimoji="1" lang="en-US" altLang="zh-CN" dirty="0">
                <a:solidFill>
                  <a:schemeClr val="accent1">
                    <a:lumMod val="75000"/>
                  </a:schemeClr>
                </a:solidFill>
                <a:latin typeface="Times New Roman" panose="02020603050405020304" pitchFamily="18" charset="0"/>
                <a:cs typeface="Times New Roman" panose="02020603050405020304" pitchFamily="18" charset="0"/>
              </a:rPr>
              <a:t>K</a:t>
            </a:r>
            <a:r>
              <a:rPr kumimoji="1" lang="zh-CN" altLang="en-US" dirty="0">
                <a:solidFill>
                  <a:schemeClr val="accent1">
                    <a:lumMod val="75000"/>
                  </a:schemeClr>
                </a:solidFill>
                <a:latin typeface="Times New Roman" panose="02020603050405020304" pitchFamily="18" charset="0"/>
                <a:cs typeface="Times New Roman" panose="02020603050405020304" pitchFamily="18" charset="0"/>
              </a:rPr>
              <a:t>值的选取</a:t>
            </a:r>
            <a:endParaRPr kumimoji="1" lang="zh-CN" alt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cstate="print"/>
          <a:stretch>
            <a:fillRect/>
          </a:stretch>
        </p:blipFill>
        <p:spPr>
          <a:xfrm>
            <a:off x="1662545" y="1497063"/>
            <a:ext cx="8916128" cy="46096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descr="preview"/>
          <p:cNvPicPr>
            <a:picLocks noChangeAspect="1" noChangeArrowheads="1"/>
          </p:cNvPicPr>
          <p:nvPr/>
        </p:nvPicPr>
        <p:blipFill>
          <a:blip r:embed="rId1" cstate="print"/>
          <a:srcRect b="10929"/>
          <a:stretch>
            <a:fillRect/>
          </a:stretch>
        </p:blipFill>
        <p:spPr bwMode="auto">
          <a:xfrm>
            <a:off x="224697" y="345566"/>
            <a:ext cx="11644918" cy="5926974"/>
          </a:xfrm>
          <a:prstGeom prst="rect">
            <a:avLst/>
          </a:prstGeom>
          <a:noFill/>
        </p:spPr>
      </p:pic>
      <p:sp>
        <p:nvSpPr>
          <p:cNvPr id="5" name="矩形 4"/>
          <p:cNvSpPr/>
          <p:nvPr/>
        </p:nvSpPr>
        <p:spPr>
          <a:xfrm>
            <a:off x="2884413" y="1450624"/>
            <a:ext cx="8161104" cy="730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dirty="0"/>
              <a:t>近似误差：模型预测结果与实际结果之间的误差，即模型在训练数据上的预测误差。近似误差减小时，易出现过拟合。</a:t>
            </a:r>
            <a:endParaRPr lang="zh-CN" altLang="en-US" sz="2400" dirty="0"/>
          </a:p>
        </p:txBody>
      </p:sp>
      <p:sp>
        <p:nvSpPr>
          <p:cNvPr id="7" name="矩形 6"/>
          <p:cNvSpPr/>
          <p:nvPr/>
        </p:nvSpPr>
        <p:spPr>
          <a:xfrm>
            <a:off x="2884413" y="4008706"/>
            <a:ext cx="8161104" cy="949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dirty="0"/>
              <a:t>估计误差：模型在新数据上的预测误差，即模型参数与实际参数之间的差异。估计误差减小时，模型的泛化能力强。</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不同</a:t>
            </a:r>
            <a:r>
              <a:rPr lang="en-US" altLang="zh-CN" dirty="0"/>
              <a:t>K</a:t>
            </a:r>
            <a:r>
              <a:rPr lang="zh-CN" altLang="en-US" dirty="0"/>
              <a:t>值的分类决策边界</a:t>
            </a:r>
            <a:endParaRPr lang="zh-CN" altLang="en-US"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6335" t="18280" r="7644" b="8675"/>
          <a:stretch>
            <a:fillRect/>
          </a:stretch>
        </p:blipFill>
        <p:spPr bwMode="auto">
          <a:xfrm>
            <a:off x="579863" y="1538868"/>
            <a:ext cx="5374888" cy="407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729" t="19281" r="5503" b="8675"/>
          <a:stretch>
            <a:fillRect/>
          </a:stretch>
        </p:blipFill>
        <p:spPr bwMode="auto">
          <a:xfrm>
            <a:off x="6122019" y="1538868"/>
            <a:ext cx="5609065" cy="4014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352908" y="5704292"/>
            <a:ext cx="1059366" cy="523220"/>
          </a:xfrm>
          <a:prstGeom prst="rect">
            <a:avLst/>
          </a:prstGeom>
          <a:noFill/>
        </p:spPr>
        <p:txBody>
          <a:bodyPr wrap="square" rtlCol="0">
            <a:spAutoFit/>
          </a:bodyPr>
          <a:lstStyle/>
          <a:p>
            <a:r>
              <a:rPr lang="en-US" altLang="zh-CN" sz="2800" b="1" dirty="0"/>
              <a:t>K=1</a:t>
            </a:r>
            <a:endParaRPr lang="zh-CN" altLang="en-US" sz="2800" b="1" dirty="0"/>
          </a:p>
        </p:txBody>
      </p:sp>
      <p:sp>
        <p:nvSpPr>
          <p:cNvPr id="9" name="TextBox 8"/>
          <p:cNvSpPr txBox="1"/>
          <p:nvPr/>
        </p:nvSpPr>
        <p:spPr>
          <a:xfrm>
            <a:off x="8396868" y="5706594"/>
            <a:ext cx="1059366" cy="523220"/>
          </a:xfrm>
          <a:prstGeom prst="rect">
            <a:avLst/>
          </a:prstGeom>
          <a:noFill/>
        </p:spPr>
        <p:txBody>
          <a:bodyPr wrap="square" rtlCol="0">
            <a:spAutoFit/>
          </a:bodyPr>
          <a:lstStyle/>
          <a:p>
            <a:r>
              <a:rPr lang="en-US" altLang="zh-CN" sz="2800" b="1" dirty="0"/>
              <a:t>K=5</a:t>
            </a:r>
            <a:endParaRPr lang="zh-CN"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652205" y="2506213"/>
            <a:ext cx="559319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en-US" altLang="zh-CN" sz="6600" dirty="0">
                <a:solidFill>
                  <a:srgbClr val="009999"/>
                </a:solidFill>
                <a:latin typeface="Noto Sans S Chinese Medium" panose="020B0600000000000000" pitchFamily="34" charset="-122"/>
                <a:ea typeface="Noto Sans S Chinese Medium" panose="020B0600000000000000" pitchFamily="34" charset="-122"/>
              </a:rPr>
              <a:t>KNN</a:t>
            </a:r>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算法流程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tx1"/>
                </a:solidFill>
                <a:latin typeface="Times New Roman" panose="02020603050405020304" pitchFamily="18" charset="0"/>
                <a:cs typeface="Times New Roman" panose="02020603050405020304" pitchFamily="18" charset="0"/>
              </a:rPr>
              <a:t>KNN</a:t>
            </a:r>
            <a:r>
              <a:rPr kumimoji="1" lang="zh-CN" altLang="en-US" dirty="0">
                <a:solidFill>
                  <a:schemeClr val="tx1"/>
                </a:solidFill>
                <a:latin typeface="Times New Roman" panose="02020603050405020304" pitchFamily="18" charset="0"/>
                <a:cs typeface="Times New Roman" panose="02020603050405020304" pitchFamily="18" charset="0"/>
              </a:rPr>
              <a:t>例子</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nvGraphicFramePr>
        <p:xfrm>
          <a:off x="2127298" y="1871098"/>
          <a:ext cx="8128000" cy="3235960"/>
        </p:xfrm>
        <a:graphic>
          <a:graphicData uri="http://schemas.openxmlformats.org/drawingml/2006/table">
            <a:tbl>
              <a:tblPr firstRow="1" bandRow="1">
                <a:tableStyleId>{5C22544A-7EE6-4342-B048-85BDC9FD1C3A}</a:tableStyleId>
              </a:tblPr>
              <a:tblGrid>
                <a:gridCol w="2530711"/>
                <a:gridCol w="1533289"/>
                <a:gridCol w="2056908"/>
                <a:gridCol w="2007092"/>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电影名称</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打斗次数</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大笑次数</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电影类型</a:t>
                      </a:r>
                      <a:endParaRPr lang="zh-CN" altLang="en-US" dirty="0"/>
                    </a:p>
                  </a:txBody>
                  <a:tcPr/>
                </a:tc>
              </a:tr>
              <a:tr h="370840">
                <a:tc>
                  <a:txBody>
                    <a:bodyPr/>
                    <a:lstStyle/>
                    <a:p>
                      <a:pPr algn="ctr"/>
                      <a:r>
                        <a:rPr lang="en-US" altLang="zh-CN" dirty="0"/>
                        <a:t>California Man</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104</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He’s Not Really into</a:t>
                      </a:r>
                      <a:r>
                        <a:rPr lang="en-US" altLang="zh-CN" baseline="0" dirty="0"/>
                        <a:t> Dudes</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100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Beautiful</a:t>
                      </a:r>
                      <a:r>
                        <a:rPr lang="en-US" altLang="zh-CN" baseline="0" dirty="0"/>
                        <a:t> Woman</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81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Kevin </a:t>
                      </a:r>
                      <a:r>
                        <a:rPr lang="en-US" altLang="zh-CN" dirty="0" err="1"/>
                        <a:t>Longblade</a:t>
                      </a:r>
                      <a:endParaRPr lang="zh-CN" altLang="en-US" dirty="0"/>
                    </a:p>
                  </a:txBody>
                  <a:tcPr/>
                </a:tc>
                <a:tc>
                  <a:txBody>
                    <a:bodyPr/>
                    <a:lstStyle/>
                    <a:p>
                      <a:pPr algn="ctr"/>
                      <a:r>
                        <a:rPr lang="en-US" altLang="zh-CN" dirty="0"/>
                        <a:t>101</a:t>
                      </a:r>
                      <a:endParaRPr lang="zh-CN" altLang="en-US" dirty="0"/>
                    </a:p>
                  </a:txBody>
                  <a:tcPr/>
                </a:tc>
                <a:tc>
                  <a:txBody>
                    <a:bodyPr/>
                    <a:lstStyle/>
                    <a:p>
                      <a:pPr algn="ctr"/>
                      <a:r>
                        <a:rPr lang="en-US" altLang="zh-CN" dirty="0"/>
                        <a:t>10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en-US" altLang="zh-CN" dirty="0" err="1"/>
                        <a:t>Robo</a:t>
                      </a:r>
                      <a:r>
                        <a:rPr lang="en-US" altLang="zh-CN" dirty="0"/>
                        <a:t> Slayer3000</a:t>
                      </a:r>
                      <a:endParaRPr lang="zh-CN" altLang="en-US" dirty="0"/>
                    </a:p>
                  </a:txBody>
                  <a:tcPr/>
                </a:tc>
                <a:tc>
                  <a:txBody>
                    <a:bodyPr/>
                    <a:lstStyle/>
                    <a:p>
                      <a:pPr algn="ctr"/>
                      <a:r>
                        <a:rPr lang="en-US" altLang="zh-CN" dirty="0"/>
                        <a:t>99</a:t>
                      </a:r>
                      <a:endParaRPr lang="zh-CN" altLang="en-US" dirty="0"/>
                    </a:p>
                  </a:txBody>
                  <a:tcPr/>
                </a:tc>
                <a:tc>
                  <a:txBody>
                    <a:bodyPr/>
                    <a:lstStyle/>
                    <a:p>
                      <a:pPr algn="ctr"/>
                      <a:r>
                        <a:rPr lang="en-US" altLang="zh-CN" dirty="0"/>
                        <a:t>5</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en-US" altLang="zh-CN" dirty="0"/>
                        <a:t>Amped</a:t>
                      </a:r>
                      <a:r>
                        <a:rPr lang="en-US" altLang="zh-CN" baseline="0" dirty="0"/>
                        <a:t> ∏</a:t>
                      </a:r>
                      <a:endParaRPr lang="zh-CN" altLang="en-US" dirty="0"/>
                    </a:p>
                  </a:txBody>
                  <a:tcPr/>
                </a:tc>
                <a:tc>
                  <a:txBody>
                    <a:bodyPr/>
                    <a:lstStyle/>
                    <a:p>
                      <a:pPr algn="ctr"/>
                      <a:r>
                        <a:rPr lang="en-US" altLang="zh-CN" dirty="0"/>
                        <a:t>98</a:t>
                      </a:r>
                      <a:endParaRPr lang="zh-CN" altLang="en-US" dirty="0"/>
                    </a:p>
                  </a:txBody>
                  <a:tcPr/>
                </a:tc>
                <a:tc>
                  <a:txBody>
                    <a:bodyPr/>
                    <a:lstStyle/>
                    <a:p>
                      <a:pPr algn="ctr"/>
                      <a:r>
                        <a:rPr lang="en-US" altLang="zh-CN" dirty="0"/>
                        <a:t>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zh-CN" altLang="en-US" dirty="0"/>
                        <a:t>未知</a:t>
                      </a:r>
                      <a:endParaRPr lang="zh-CN" altLang="en-US" dirty="0"/>
                    </a:p>
                  </a:txBody>
                  <a:tcPr/>
                </a:tc>
                <a:tc>
                  <a:txBody>
                    <a:bodyPr/>
                    <a:lstStyle/>
                    <a:p>
                      <a:pPr algn="ctr"/>
                      <a:r>
                        <a:rPr lang="en-US" altLang="zh-CN" dirty="0"/>
                        <a:t>18</a:t>
                      </a:r>
                      <a:endParaRPr lang="zh-CN" altLang="en-US" dirty="0"/>
                    </a:p>
                  </a:txBody>
                  <a:tcPr/>
                </a:tc>
                <a:tc>
                  <a:txBody>
                    <a:bodyPr/>
                    <a:lstStyle/>
                    <a:p>
                      <a:pPr algn="ctr"/>
                      <a:r>
                        <a:rPr lang="en-US" altLang="zh-CN" dirty="0"/>
                        <a:t>90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err="1">
                          <a:solidFill>
                            <a:schemeClr val="tx1"/>
                          </a:solidFill>
                          <a:latin typeface="+mn-lt"/>
                          <a:ea typeface="+mn-ea"/>
                          <a:cs typeface="+mn-cs"/>
                        </a:rPr>
                        <a:t>Unkown</a:t>
                      </a:r>
                      <a:endParaRPr lang="zh-CN" altLang="en-US" sz="1800" b="0" kern="1200" dirty="0">
                        <a:solidFill>
                          <a:schemeClr val="tx1"/>
                        </a:solidFill>
                        <a:latin typeface="+mn-lt"/>
                        <a:ea typeface="+mn-ea"/>
                        <a:cs typeface="+mn-cs"/>
                      </a:endParaRPr>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tx1"/>
                </a:solidFill>
                <a:latin typeface="Times New Roman" panose="02020603050405020304" pitchFamily="18" charset="0"/>
                <a:cs typeface="Times New Roman" panose="02020603050405020304" pitchFamily="18" charset="0"/>
              </a:rPr>
              <a:t>KNN</a:t>
            </a:r>
            <a:r>
              <a:rPr kumimoji="1" lang="zh-CN" altLang="en-US" dirty="0">
                <a:solidFill>
                  <a:schemeClr val="tx1"/>
                </a:solidFill>
                <a:latin typeface="Times New Roman" panose="02020603050405020304" pitchFamily="18" charset="0"/>
                <a:cs typeface="Times New Roman" panose="02020603050405020304" pitchFamily="18" charset="0"/>
              </a:rPr>
              <a:t>例子</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graphicFrame>
        <p:nvGraphicFramePr>
          <p:cNvPr id="15" name="表格 14"/>
          <p:cNvGraphicFramePr>
            <a:graphicFrameLocks noGrp="1"/>
          </p:cNvGraphicFramePr>
          <p:nvPr/>
        </p:nvGraphicFramePr>
        <p:xfrm>
          <a:off x="1640771" y="2241562"/>
          <a:ext cx="8128000" cy="2966720"/>
        </p:xfrm>
        <a:graphic>
          <a:graphicData uri="http://schemas.openxmlformats.org/drawingml/2006/table">
            <a:tbl>
              <a:tblPr firstRow="1" bandRow="1">
                <a:tableStyleId>{5C22544A-7EE6-4342-B048-85BDC9FD1C3A}</a:tableStyleId>
              </a:tblPr>
              <a:tblGrid>
                <a:gridCol w="2530711"/>
                <a:gridCol w="1533289"/>
                <a:gridCol w="2056908"/>
                <a:gridCol w="2007092"/>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点</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tx1"/>
                          </a:solidFill>
                        </a:rPr>
                        <a:t>X</a:t>
                      </a:r>
                      <a:r>
                        <a:rPr lang="zh-CN" altLang="en-US" sz="1800" b="1" dirty="0">
                          <a:solidFill>
                            <a:schemeClr val="tx1"/>
                          </a:solidFill>
                        </a:rPr>
                        <a:t>坐标</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chemeClr val="tx1"/>
                          </a:solidFill>
                        </a:rPr>
                        <a:t>Y</a:t>
                      </a:r>
                      <a:r>
                        <a:rPr lang="zh-CN" altLang="en-US" dirty="0">
                          <a:solidFill>
                            <a:schemeClr val="tx1"/>
                          </a:solidFill>
                        </a:rPr>
                        <a:t>坐标</a:t>
                      </a:r>
                      <a:endParaRPr lang="zh-CN" altLang="en-US"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chemeClr val="tx1"/>
                          </a:solidFill>
                        </a:rPr>
                        <a:t>点类型</a:t>
                      </a:r>
                      <a:endParaRPr lang="zh-CN" altLang="en-US" dirty="0"/>
                    </a:p>
                  </a:txBody>
                  <a:tcPr/>
                </a:tc>
              </a:tr>
              <a:tr h="370840">
                <a:tc>
                  <a:txBody>
                    <a:bodyPr/>
                    <a:lstStyle/>
                    <a:p>
                      <a:pPr algn="ctr"/>
                      <a:r>
                        <a:rPr lang="en-US" altLang="zh-CN" dirty="0"/>
                        <a:t>A</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104</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B</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100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C</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81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Comedy</a:t>
                      </a:r>
                      <a:endParaRPr lang="zh-CN" altLang="en-US" b="0" dirty="0"/>
                    </a:p>
                  </a:txBody>
                  <a:tcPr/>
                </a:tc>
              </a:tr>
              <a:tr h="370840">
                <a:tc>
                  <a:txBody>
                    <a:bodyPr/>
                    <a:lstStyle/>
                    <a:p>
                      <a:pPr algn="ctr"/>
                      <a:r>
                        <a:rPr lang="en-US" altLang="zh-CN" dirty="0"/>
                        <a:t>D</a:t>
                      </a:r>
                      <a:endParaRPr lang="zh-CN" altLang="en-US" dirty="0"/>
                    </a:p>
                  </a:txBody>
                  <a:tcPr/>
                </a:tc>
                <a:tc>
                  <a:txBody>
                    <a:bodyPr/>
                    <a:lstStyle/>
                    <a:p>
                      <a:pPr algn="ctr"/>
                      <a:r>
                        <a:rPr lang="en-US" altLang="zh-CN" dirty="0"/>
                        <a:t>101</a:t>
                      </a:r>
                      <a:endParaRPr lang="zh-CN" altLang="en-US" dirty="0"/>
                    </a:p>
                  </a:txBody>
                  <a:tcPr/>
                </a:tc>
                <a:tc>
                  <a:txBody>
                    <a:bodyPr/>
                    <a:lstStyle/>
                    <a:p>
                      <a:pPr algn="ctr"/>
                      <a:r>
                        <a:rPr lang="en-US" altLang="zh-CN" dirty="0"/>
                        <a:t>10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en-US" altLang="zh-CN" dirty="0"/>
                        <a:t>E</a:t>
                      </a:r>
                      <a:endParaRPr lang="zh-CN" altLang="en-US" dirty="0"/>
                    </a:p>
                  </a:txBody>
                  <a:tcPr/>
                </a:tc>
                <a:tc>
                  <a:txBody>
                    <a:bodyPr/>
                    <a:lstStyle/>
                    <a:p>
                      <a:pPr algn="ctr"/>
                      <a:r>
                        <a:rPr lang="en-US" altLang="zh-CN" dirty="0"/>
                        <a:t>99</a:t>
                      </a:r>
                      <a:endParaRPr lang="zh-CN" altLang="en-US" dirty="0"/>
                    </a:p>
                  </a:txBody>
                  <a:tcPr/>
                </a:tc>
                <a:tc>
                  <a:txBody>
                    <a:bodyPr/>
                    <a:lstStyle/>
                    <a:p>
                      <a:pPr algn="ctr"/>
                      <a:r>
                        <a:rPr lang="en-US" altLang="zh-CN" dirty="0"/>
                        <a:t>5</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en-US" altLang="zh-CN" dirty="0"/>
                        <a:t>F</a:t>
                      </a:r>
                      <a:endParaRPr lang="zh-CN" altLang="en-US" dirty="0"/>
                    </a:p>
                  </a:txBody>
                  <a:tcPr/>
                </a:tc>
                <a:tc>
                  <a:txBody>
                    <a:bodyPr/>
                    <a:lstStyle/>
                    <a:p>
                      <a:pPr algn="ctr"/>
                      <a:r>
                        <a:rPr lang="en-US" altLang="zh-CN" dirty="0"/>
                        <a:t>98</a:t>
                      </a:r>
                      <a:endParaRPr lang="zh-CN" altLang="en-US" dirty="0"/>
                    </a:p>
                  </a:txBody>
                  <a:tcPr/>
                </a:tc>
                <a:tc>
                  <a:txBody>
                    <a:bodyPr/>
                    <a:lstStyle/>
                    <a:p>
                      <a:pPr algn="ctr"/>
                      <a:r>
                        <a:rPr lang="en-US" altLang="zh-CN" dirty="0"/>
                        <a:t>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dirty="0">
                          <a:solidFill>
                            <a:schemeClr val="tx1"/>
                          </a:solidFill>
                        </a:rPr>
                        <a:t>Action</a:t>
                      </a:r>
                      <a:endParaRPr lang="zh-CN" altLang="en-US" b="0" dirty="0"/>
                    </a:p>
                  </a:txBody>
                  <a:tcPr/>
                </a:tc>
              </a:tr>
              <a:tr h="370840">
                <a:tc>
                  <a:txBody>
                    <a:bodyPr/>
                    <a:lstStyle/>
                    <a:p>
                      <a:pPr algn="ctr"/>
                      <a:r>
                        <a:rPr lang="en-US" altLang="zh-CN" dirty="0"/>
                        <a:t>G</a:t>
                      </a:r>
                      <a:endParaRPr lang="zh-CN" altLang="en-US" dirty="0"/>
                    </a:p>
                  </a:txBody>
                  <a:tcPr/>
                </a:tc>
                <a:tc>
                  <a:txBody>
                    <a:bodyPr/>
                    <a:lstStyle/>
                    <a:p>
                      <a:pPr algn="ctr"/>
                      <a:r>
                        <a:rPr lang="en-US" altLang="zh-CN" dirty="0"/>
                        <a:t>18</a:t>
                      </a:r>
                      <a:endParaRPr lang="zh-CN" altLang="en-US" dirty="0"/>
                    </a:p>
                  </a:txBody>
                  <a:tcPr/>
                </a:tc>
                <a:tc>
                  <a:txBody>
                    <a:bodyPr/>
                    <a:lstStyle/>
                    <a:p>
                      <a:pPr algn="ctr"/>
                      <a:r>
                        <a:rPr lang="en-US" altLang="zh-CN" dirty="0"/>
                        <a:t>90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kern="1200" dirty="0" err="1">
                          <a:solidFill>
                            <a:schemeClr val="tx1"/>
                          </a:solidFill>
                          <a:latin typeface="+mn-lt"/>
                          <a:ea typeface="+mn-ea"/>
                          <a:cs typeface="+mn-cs"/>
                        </a:rPr>
                        <a:t>Unkown</a:t>
                      </a:r>
                      <a:endParaRPr lang="zh-CN" altLang="en-US" sz="1800" b="0" kern="1200" dirty="0">
                        <a:solidFill>
                          <a:schemeClr val="tx1"/>
                        </a:solidFill>
                        <a:latin typeface="+mn-lt"/>
                        <a:ea typeface="+mn-ea"/>
                        <a:cs typeface="+mn-cs"/>
                      </a:endParaRPr>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tx1"/>
                </a:solidFill>
                <a:latin typeface="Times New Roman" panose="02020603050405020304" pitchFamily="18" charset="0"/>
                <a:cs typeface="Times New Roman" panose="02020603050405020304" pitchFamily="18" charset="0"/>
              </a:rPr>
              <a:t>KNN</a:t>
            </a:r>
            <a:r>
              <a:rPr kumimoji="1" lang="zh-CN" altLang="en-US" dirty="0">
                <a:solidFill>
                  <a:schemeClr val="tx1"/>
                </a:solidFill>
                <a:latin typeface="Times New Roman" panose="02020603050405020304" pitchFamily="18" charset="0"/>
                <a:cs typeface="Times New Roman" panose="02020603050405020304" pitchFamily="18" charset="0"/>
              </a:rPr>
              <a:t>例子</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2497015" y="1573672"/>
            <a:ext cx="6296443" cy="3838436"/>
          </a:xfrm>
          <a:prstGeom prst="rect">
            <a:avLst/>
          </a:prstGeom>
        </p:spPr>
      </p:pic>
      <p:sp>
        <p:nvSpPr>
          <p:cNvPr id="2" name="矩形 1"/>
          <p:cNvSpPr/>
          <p:nvPr/>
        </p:nvSpPr>
        <p:spPr>
          <a:xfrm>
            <a:off x="3556029" y="1661718"/>
            <a:ext cx="314510" cy="369332"/>
          </a:xfrm>
          <a:prstGeom prst="rect">
            <a:avLst/>
          </a:prstGeom>
        </p:spPr>
        <p:txBody>
          <a:bodyPr wrap="none">
            <a:spAutoFit/>
          </a:bodyPr>
          <a:lstStyle/>
          <a:p>
            <a:r>
              <a:rPr lang="en-US" altLang="zh-CN" dirty="0"/>
              <a:t>A</a:t>
            </a:r>
            <a:endParaRPr lang="en-US" altLang="zh-CN" dirty="0"/>
          </a:p>
        </p:txBody>
      </p:sp>
      <p:sp>
        <p:nvSpPr>
          <p:cNvPr id="3" name="矩形 2"/>
          <p:cNvSpPr/>
          <p:nvPr/>
        </p:nvSpPr>
        <p:spPr>
          <a:xfrm>
            <a:off x="3401980" y="2021382"/>
            <a:ext cx="308098" cy="369332"/>
          </a:xfrm>
          <a:prstGeom prst="rect">
            <a:avLst/>
          </a:prstGeom>
        </p:spPr>
        <p:txBody>
          <a:bodyPr wrap="none">
            <a:spAutoFit/>
          </a:bodyPr>
          <a:lstStyle/>
          <a:p>
            <a:r>
              <a:rPr lang="en-US" altLang="zh-CN" dirty="0"/>
              <a:t>B</a:t>
            </a:r>
            <a:endParaRPr lang="en-US" altLang="zh-CN" dirty="0"/>
          </a:p>
        </p:txBody>
      </p:sp>
      <p:sp>
        <p:nvSpPr>
          <p:cNvPr id="5" name="矩形 4"/>
          <p:cNvSpPr/>
          <p:nvPr/>
        </p:nvSpPr>
        <p:spPr>
          <a:xfrm flipH="1">
            <a:off x="3226777" y="2549769"/>
            <a:ext cx="329252" cy="369332"/>
          </a:xfrm>
          <a:prstGeom prst="rect">
            <a:avLst/>
          </a:prstGeom>
        </p:spPr>
        <p:txBody>
          <a:bodyPr wrap="square">
            <a:spAutoFit/>
          </a:bodyPr>
          <a:lstStyle/>
          <a:p>
            <a:r>
              <a:rPr lang="en-US" altLang="zh-CN" dirty="0"/>
              <a:t>C</a:t>
            </a:r>
            <a:endParaRPr lang="en-US" altLang="zh-CN" dirty="0"/>
          </a:p>
        </p:txBody>
      </p:sp>
      <p:sp>
        <p:nvSpPr>
          <p:cNvPr id="6" name="矩形 5"/>
          <p:cNvSpPr/>
          <p:nvPr/>
        </p:nvSpPr>
        <p:spPr>
          <a:xfrm>
            <a:off x="7903413" y="4290564"/>
            <a:ext cx="324128" cy="369332"/>
          </a:xfrm>
          <a:prstGeom prst="rect">
            <a:avLst/>
          </a:prstGeom>
        </p:spPr>
        <p:txBody>
          <a:bodyPr wrap="none">
            <a:spAutoFit/>
          </a:bodyPr>
          <a:lstStyle/>
          <a:p>
            <a:r>
              <a:rPr lang="en-US" altLang="zh-CN" dirty="0"/>
              <a:t>D</a:t>
            </a:r>
            <a:endParaRPr lang="en-US" altLang="zh-CN" dirty="0"/>
          </a:p>
        </p:txBody>
      </p:sp>
      <p:sp>
        <p:nvSpPr>
          <p:cNvPr id="7" name="矩形 6"/>
          <p:cNvSpPr/>
          <p:nvPr/>
        </p:nvSpPr>
        <p:spPr>
          <a:xfrm>
            <a:off x="7685668" y="4475230"/>
            <a:ext cx="296876" cy="369332"/>
          </a:xfrm>
          <a:prstGeom prst="rect">
            <a:avLst/>
          </a:prstGeom>
        </p:spPr>
        <p:txBody>
          <a:bodyPr wrap="none">
            <a:spAutoFit/>
          </a:bodyPr>
          <a:lstStyle/>
          <a:p>
            <a:r>
              <a:rPr lang="en-US" altLang="zh-CN" dirty="0"/>
              <a:t>E</a:t>
            </a:r>
            <a:endParaRPr lang="en-US" altLang="zh-CN" dirty="0"/>
          </a:p>
        </p:txBody>
      </p:sp>
      <p:sp>
        <p:nvSpPr>
          <p:cNvPr id="8" name="矩形 7"/>
          <p:cNvSpPr/>
          <p:nvPr/>
        </p:nvSpPr>
        <p:spPr>
          <a:xfrm>
            <a:off x="7612949" y="4759003"/>
            <a:ext cx="290464" cy="369332"/>
          </a:xfrm>
          <a:prstGeom prst="rect">
            <a:avLst/>
          </a:prstGeom>
        </p:spPr>
        <p:txBody>
          <a:bodyPr wrap="none">
            <a:spAutoFit/>
          </a:bodyPr>
          <a:lstStyle/>
          <a:p>
            <a:r>
              <a:rPr lang="en-US" altLang="zh-CN" dirty="0"/>
              <a:t>F</a:t>
            </a:r>
            <a:endParaRPr lang="en-US" altLang="zh-CN" dirty="0"/>
          </a:p>
        </p:txBody>
      </p:sp>
      <p:sp>
        <p:nvSpPr>
          <p:cNvPr id="9" name="矩形 8"/>
          <p:cNvSpPr/>
          <p:nvPr/>
        </p:nvSpPr>
        <p:spPr>
          <a:xfrm>
            <a:off x="4199447" y="2180437"/>
            <a:ext cx="328936" cy="369332"/>
          </a:xfrm>
          <a:prstGeom prst="rect">
            <a:avLst/>
          </a:prstGeom>
        </p:spPr>
        <p:txBody>
          <a:bodyPr wrap="none">
            <a:spAutoFit/>
          </a:bodyPr>
          <a:lstStyle/>
          <a:p>
            <a:r>
              <a:rPr lang="en-US" altLang="zh-CN" dirty="0"/>
              <a:t>G</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en-US" altLang="zh-CN" dirty="0">
                <a:solidFill>
                  <a:schemeClr val="tx1"/>
                </a:solidFill>
                <a:latin typeface="Times New Roman" panose="02020603050405020304" pitchFamily="18" charset="0"/>
                <a:cs typeface="Times New Roman" panose="02020603050405020304" pitchFamily="18" charset="0"/>
              </a:rPr>
              <a:t>KNN</a:t>
            </a:r>
            <a:r>
              <a:rPr kumimoji="1" lang="zh-CN" altLang="en-US" dirty="0">
                <a:solidFill>
                  <a:schemeClr val="tx1"/>
                </a:solidFill>
                <a:latin typeface="Times New Roman" panose="02020603050405020304" pitchFamily="18" charset="0"/>
                <a:cs typeface="Times New Roman" panose="02020603050405020304" pitchFamily="18" charset="0"/>
              </a:rPr>
              <a:t>例子</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 name="矩形 1"/>
          <p:cNvSpPr/>
          <p:nvPr/>
        </p:nvSpPr>
        <p:spPr>
          <a:xfrm>
            <a:off x="1302993" y="1723264"/>
            <a:ext cx="9036761" cy="3416320"/>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400" b="1" dirty="0"/>
              <a:t>为了判断未知实例的类别，以所有已知类别的实例作为参照选择参数</a:t>
            </a:r>
            <a:r>
              <a:rPr lang="en-US" altLang="zh-CN" sz="2400" b="1" dirty="0"/>
              <a:t>K</a:t>
            </a:r>
            <a:endParaRPr lang="en-US" altLang="zh-CN" sz="2400" b="1" dirty="0"/>
          </a:p>
          <a:p>
            <a:pPr marL="342900" indent="-342900">
              <a:lnSpc>
                <a:spcPct val="150000"/>
              </a:lnSpc>
              <a:buFont typeface="Arial" panose="020B0604020202020204" pitchFamily="34" charset="0"/>
              <a:buChar char="•"/>
            </a:pPr>
            <a:r>
              <a:rPr lang="zh-CN" altLang="en-US" sz="2400" b="1" dirty="0"/>
              <a:t>计算未知实例与所有实例的距离</a:t>
            </a:r>
            <a:endParaRPr lang="en-US" altLang="zh-CN" sz="2400" b="1" dirty="0"/>
          </a:p>
          <a:p>
            <a:pPr marL="342900" indent="-342900">
              <a:lnSpc>
                <a:spcPct val="150000"/>
              </a:lnSpc>
              <a:buFont typeface="Arial" panose="020B0604020202020204" pitchFamily="34" charset="0"/>
              <a:buChar char="•"/>
            </a:pPr>
            <a:r>
              <a:rPr lang="zh-CN" altLang="en-US" sz="2400" b="1" dirty="0"/>
              <a:t>选择最近</a:t>
            </a:r>
            <a:r>
              <a:rPr lang="en-US" altLang="zh-CN" sz="2400" b="1" dirty="0"/>
              <a:t>K</a:t>
            </a:r>
            <a:r>
              <a:rPr lang="zh-CN" altLang="en-US" sz="2400" b="1" dirty="0"/>
              <a:t>个已知实例</a:t>
            </a:r>
            <a:endParaRPr lang="en-US" altLang="zh-CN" sz="2400" b="1" dirty="0"/>
          </a:p>
          <a:p>
            <a:pPr marL="342900" indent="-342900">
              <a:lnSpc>
                <a:spcPct val="150000"/>
              </a:lnSpc>
              <a:buFont typeface="Arial" panose="020B0604020202020204" pitchFamily="34" charset="0"/>
              <a:buChar char="•"/>
            </a:pPr>
            <a:r>
              <a:rPr lang="zh-CN" altLang="en-US" sz="2400" b="1" dirty="0"/>
              <a:t>根据少数服从多数的投票法则，让未知实例归类为</a:t>
            </a:r>
            <a:r>
              <a:rPr lang="en-US" altLang="zh-CN" sz="2400" b="1" dirty="0"/>
              <a:t>K</a:t>
            </a:r>
            <a:r>
              <a:rPr lang="zh-CN" altLang="en-US" sz="2400" b="1" dirty="0"/>
              <a:t>个最邻近样本中最多数的类别。</a:t>
            </a:r>
            <a:endParaRPr lang="zh-CN" altLang="en-US"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kNN</a:t>
            </a:r>
            <a:r>
              <a:rPr lang="zh-CN" altLang="en-US" dirty="0"/>
              <a:t>算法流程</a:t>
            </a:r>
            <a:endParaRPr lang="zh-CN" altLang="en-US" dirty="0"/>
          </a:p>
        </p:txBody>
      </p:sp>
      <p:pic>
        <p:nvPicPr>
          <p:cNvPr id="3" name="图片 2"/>
          <p:cNvPicPr>
            <a:picLocks noChangeAspect="1"/>
          </p:cNvPicPr>
          <p:nvPr/>
        </p:nvPicPr>
        <p:blipFill>
          <a:blip r:embed="rId1" cstate="print">
            <a:clrChange>
              <a:clrFrom>
                <a:srgbClr val="FFFFFF"/>
              </a:clrFrom>
              <a:clrTo>
                <a:srgbClr val="FFFFFF">
                  <a:alpha val="0"/>
                </a:srgbClr>
              </a:clrTo>
            </a:clrChange>
          </a:blip>
          <a:stretch>
            <a:fillRect/>
          </a:stretch>
        </p:blipFill>
        <p:spPr>
          <a:xfrm>
            <a:off x="3367668" y="-8047"/>
            <a:ext cx="4887098" cy="65195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137871"/>
            <a:ext cx="8015583" cy="535531"/>
          </a:xfrm>
        </p:spPr>
        <p:txBody>
          <a:bodyPr/>
          <a:lstStyle/>
          <a:p>
            <a:r>
              <a:rPr lang="zh-CN" altLang="en-US" dirty="0"/>
              <a:t>算法步骤</a:t>
            </a:r>
            <a:endParaRPr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2577815" y="618232"/>
                <a:ext cx="8776416" cy="6001643"/>
              </a:xfrm>
              <a:prstGeom prst="rect">
                <a:avLst/>
              </a:prstGeom>
              <a:noFill/>
            </p:spPr>
            <p:txBody>
              <a:bodyPr wrap="square" rtlCol="0">
                <a:spAutoFit/>
              </a:bodyPr>
              <a:lstStyle/>
              <a:p>
                <a:r>
                  <a:rPr lang="zh-CN" altLang="en-US" sz="2400" dirty="0"/>
                  <a:t>准备数据，对数据进行预处理。</a:t>
                </a:r>
                <a:endParaRPr lang="zh-CN" altLang="en-US" sz="2400" dirty="0"/>
              </a:p>
              <a:p>
                <a:pPr marL="285750" indent="-285750">
                  <a:buFont typeface="Arial" panose="020B0604020202020204" pitchFamily="34" charset="0"/>
                  <a:buChar char="•"/>
                </a:pPr>
                <a:r>
                  <a:rPr lang="zh-CN" altLang="en-US" sz="2400" dirty="0"/>
                  <a:t>选用合适的测试元组和合适的数据存储结构训练数据。</a:t>
                </a:r>
                <a:endParaRPr lang="zh-CN" altLang="en-US" sz="2400" dirty="0"/>
              </a:p>
              <a:p>
                <a:pPr marL="285750" indent="-285750">
                  <a:buFont typeface="Arial" panose="020B0604020202020204" pitchFamily="34" charset="0"/>
                  <a:buChar char="•"/>
                </a:pPr>
                <a:r>
                  <a:rPr lang="zh-CN" altLang="en-US" sz="2400" dirty="0"/>
                  <a:t>维护一个大小为</a:t>
                </a:r>
                <a:r>
                  <a:rPr lang="en-US" altLang="zh-CN" sz="2400" dirty="0"/>
                  <a:t>k</a:t>
                </a:r>
                <a:r>
                  <a:rPr lang="zh-CN" altLang="en-US" sz="2400" dirty="0"/>
                  <a:t>，按距离由大到小的优先级队列，用于存储最近邻训练元组。随机从训练元组中选取</a:t>
                </a:r>
                <a:r>
                  <a:rPr lang="en-US" altLang="zh-CN" sz="2400" dirty="0"/>
                  <a:t>k</a:t>
                </a:r>
                <a:r>
                  <a:rPr lang="zh-CN" altLang="en-US" sz="2400" dirty="0"/>
                  <a:t>个元组作为初始的最近邻元组，分别计算测试元组到这</a:t>
                </a:r>
                <a:r>
                  <a:rPr lang="en-US" altLang="zh-CN" sz="2400" dirty="0"/>
                  <a:t>k</a:t>
                </a:r>
                <a:r>
                  <a:rPr lang="zh-CN" altLang="en-US" sz="2400" dirty="0"/>
                  <a:t>个元组的距离，将训练元组标号和距离存入优先级队列。</a:t>
                </a:r>
                <a:endParaRPr lang="zh-CN" altLang="en-US" sz="2400" dirty="0"/>
              </a:p>
              <a:p>
                <a:pPr marL="285750" indent="-285750">
                  <a:buFont typeface="Arial" panose="020B0604020202020204" pitchFamily="34" charset="0"/>
                  <a:buChar char="•"/>
                </a:pPr>
                <a:r>
                  <a:rPr lang="zh-CN" altLang="en-US" sz="2400" dirty="0"/>
                  <a:t>遍历训练元组集，计算当前训练元组与测试元组的距离。（通常使用欧氏距离）</a:t>
                </a:r>
                <a:endParaRPr lang="en-US" altLang="zh-CN" sz="2400" dirty="0"/>
              </a:p>
              <a:p>
                <a:pPr marL="285750" indent="-285750">
                  <a:buFont typeface="Arial" panose="020B0604020202020204" pitchFamily="34" charset="0"/>
                  <a:buChar char="•"/>
                </a:pPr>
                <a:r>
                  <a:rPr lang="zh-CN" altLang="en-US" sz="2400" dirty="0"/>
                  <a:t>之后将所得距离</a:t>
                </a:r>
                <a:r>
                  <a:rPr lang="en-US" altLang="zh-CN" sz="2400" dirty="0"/>
                  <a:t>L</a:t>
                </a:r>
                <a:r>
                  <a:rPr lang="zh-CN" altLang="en-US" sz="2400" dirty="0"/>
                  <a:t>与优先级队列中的最大距离</a:t>
                </a:r>
                <a:r>
                  <a:rPr lang="en-US" altLang="zh-CN" sz="2400" dirty="0" err="1"/>
                  <a:t>L_max</a:t>
                </a:r>
                <a:r>
                  <a:rPr lang="zh-CN" altLang="en-US" sz="2400" dirty="0"/>
                  <a:t>进行比较。若</a:t>
                </a:r>
                <a14:m>
                  <m:oMath xmlns:m="http://schemas.openxmlformats.org/officeDocument/2006/math">
                    <m:r>
                      <a:rPr lang="en-US" altLang="zh-CN" sz="2400" i="1">
                        <a:latin typeface="Cambria Math" panose="02040503050406030204" pitchFamily="18" charset="0"/>
                      </a:rPr>
                      <m:t>𝐿</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𝐿</m:t>
                        </m:r>
                      </m:e>
                      <m:sub>
                        <m:r>
                          <a:rPr lang="en-US" altLang="zh-CN" sz="2400" i="1">
                            <a:latin typeface="Cambria Math" panose="02040503050406030204" pitchFamily="18" charset="0"/>
                          </a:rPr>
                          <m:t>𝑚𝑎𝑥</m:t>
                        </m:r>
                      </m:sub>
                    </m:sSub>
                  </m:oMath>
                </a14:m>
                <a:r>
                  <a:rPr lang="zh-CN" altLang="en-US" sz="2400" dirty="0"/>
                  <a:t>，则舍弃该元组，遍历下一个元组。若</a:t>
                </a:r>
                <a14:m>
                  <m:oMath xmlns:m="http://schemas.openxmlformats.org/officeDocument/2006/math">
                    <m:r>
                      <a:rPr lang="en-US" altLang="zh-CN" sz="2400" i="1">
                        <a:latin typeface="Cambria Math" panose="02040503050406030204" pitchFamily="18" charset="0"/>
                      </a:rPr>
                      <m:t>𝐿</m:t>
                    </m:r>
                    <m:r>
                      <a:rPr lang="en-US" altLang="zh-CN" sz="2400">
                        <a:latin typeface="Cambria Math" panose="02040503050406030204" pitchFamily="18" charset="0"/>
                      </a:rPr>
                      <m:t>&lt;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𝐿</m:t>
                        </m:r>
                      </m:e>
                      <m:sub>
                        <m:r>
                          <a:rPr lang="en-US" altLang="zh-CN" sz="2400" i="1">
                            <a:latin typeface="Cambria Math" panose="02040503050406030204" pitchFamily="18" charset="0"/>
                          </a:rPr>
                          <m:t>𝑚𝑎𝑥</m:t>
                        </m:r>
                      </m:sub>
                    </m:sSub>
                  </m:oMath>
                </a14:m>
                <a:r>
                  <a:rPr lang="zh-CN" altLang="en-US" sz="2400" dirty="0"/>
                  <a:t>，删除优先级队列中最大距离的元组，将当前训练元组存入优先级队列。</a:t>
                </a:r>
                <a:endParaRPr lang="zh-CN" altLang="en-US" sz="2400" dirty="0"/>
              </a:p>
              <a:p>
                <a:pPr marL="285750" indent="-285750">
                  <a:buFont typeface="Arial" panose="020B0604020202020204" pitchFamily="34" charset="0"/>
                  <a:buChar char="•"/>
                </a:pPr>
                <a:r>
                  <a:rPr lang="zh-CN" altLang="en-US" sz="2400" dirty="0"/>
                  <a:t>遍历完毕后，计算优先级队列中</a:t>
                </a:r>
                <a:r>
                  <a:rPr lang="en-US" altLang="zh-CN" sz="2400" dirty="0"/>
                  <a:t>k </a:t>
                </a:r>
                <a:r>
                  <a:rPr lang="zh-CN" altLang="en-US" sz="2400" dirty="0"/>
                  <a:t>个元组的多数类，并将其作为测试元组的类别。</a:t>
                </a:r>
                <a:endParaRPr lang="zh-CN" altLang="en-US" sz="2400" dirty="0"/>
              </a:p>
              <a:p>
                <a:pPr marL="285750" indent="-285750">
                  <a:buFont typeface="Arial" panose="020B0604020202020204" pitchFamily="34" charset="0"/>
                  <a:buChar char="•"/>
                </a:pPr>
                <a:r>
                  <a:rPr lang="zh-CN" altLang="en-US" sz="2400" dirty="0"/>
                  <a:t>测试元组集测试完毕后计算误差率，继续设定不同的</a:t>
                </a:r>
                <a:r>
                  <a:rPr lang="en-US" altLang="zh-CN" sz="2400" dirty="0"/>
                  <a:t>k</a:t>
                </a:r>
                <a:r>
                  <a:rPr lang="zh-CN" altLang="en-US" sz="2400" dirty="0"/>
                  <a:t>值重新进行训练，最后取误差率最小的</a:t>
                </a:r>
                <a:r>
                  <a:rPr lang="en-US" altLang="zh-CN" sz="2400" dirty="0"/>
                  <a:t>k</a:t>
                </a:r>
                <a:r>
                  <a:rPr lang="zh-CN" altLang="en-US" sz="2400" dirty="0"/>
                  <a:t>值。</a:t>
                </a:r>
                <a:endParaRPr lang="zh-CN" altLang="en-US" sz="2400" dirty="0"/>
              </a:p>
            </p:txBody>
          </p:sp>
        </mc:Choice>
        <mc:Fallback>
          <p:sp>
            <p:nvSpPr>
              <p:cNvPr id="7" name="文本框 6"/>
              <p:cNvSpPr txBox="1">
                <a:spLocks noRot="1" noChangeAspect="1" noMove="1" noResize="1" noEditPoints="1" noAdjustHandles="1" noChangeArrowheads="1" noChangeShapeType="1" noTextEdit="1"/>
              </p:cNvSpPr>
              <p:nvPr/>
            </p:nvSpPr>
            <p:spPr>
              <a:xfrm>
                <a:off x="2577815" y="618232"/>
                <a:ext cx="8776416" cy="6001643"/>
              </a:xfrm>
              <a:prstGeom prst="rect">
                <a:avLst/>
              </a:prstGeom>
              <a:blipFill rotWithShape="1">
                <a:blip r:embed="rId1"/>
                <a:stretch>
                  <a:fillRect l="-4" t="-6" r="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算法实现</a:t>
            </a:r>
            <a:endParaRPr lang="zh-CN" altLang="en-US" dirty="0"/>
          </a:p>
        </p:txBody>
      </p:sp>
      <p:sp>
        <p:nvSpPr>
          <p:cNvPr id="7" name="文本框 6"/>
          <p:cNvSpPr txBox="1"/>
          <p:nvPr/>
        </p:nvSpPr>
        <p:spPr>
          <a:xfrm>
            <a:off x="1137632" y="835327"/>
            <a:ext cx="9443282" cy="5355312"/>
          </a:xfrm>
          <a:prstGeom prst="rect">
            <a:avLst/>
          </a:prstGeom>
          <a:noFill/>
        </p:spPr>
        <p:txBody>
          <a:bodyPr wrap="square" rtlCol="0">
            <a:spAutoFit/>
          </a:bodyPr>
          <a:lstStyle/>
          <a:p>
            <a:r>
              <a:rPr lang="zh-CN" altLang="en-US" dirty="0"/>
              <a:t>在</a:t>
            </a:r>
            <a:r>
              <a:rPr lang="en-US" altLang="zh-CN" dirty="0" err="1"/>
              <a:t>kNN</a:t>
            </a:r>
            <a:r>
              <a:rPr lang="zh-CN" altLang="en-US" dirty="0"/>
              <a:t>中需要计算待分类数据与训练集中所有样本的距离（此处选用欧氏距离）</a:t>
            </a:r>
            <a:endParaRPr lang="en-US" altLang="zh-CN" dirty="0"/>
          </a:p>
          <a:p>
            <a:endParaRPr lang="zh-CN" altLang="en-US" dirty="0"/>
          </a:p>
          <a:p>
            <a:r>
              <a:rPr lang="en-US" altLang="zh-CN" dirty="0">
                <a:latin typeface="Consolas" panose="020B0609020204030204" pitchFamily="49" charset="0"/>
              </a:rPr>
              <a:t>def </a:t>
            </a:r>
            <a:r>
              <a:rPr lang="en-US" altLang="zh-CN" dirty="0" err="1">
                <a:latin typeface="Consolas" panose="020B0609020204030204" pitchFamily="49" charset="0"/>
              </a:rPr>
              <a:t>KNNClassify</a:t>
            </a:r>
            <a:r>
              <a:rPr lang="en-US" altLang="zh-CN" dirty="0">
                <a:latin typeface="Consolas" panose="020B0609020204030204" pitchFamily="49" charset="0"/>
              </a:rPr>
              <a:t>(</a:t>
            </a:r>
            <a:r>
              <a:rPr lang="en-US" altLang="zh-CN" dirty="0" err="1">
                <a:latin typeface="Consolas" panose="020B0609020204030204" pitchFamily="49" charset="0"/>
              </a:rPr>
              <a:t>newInput</a:t>
            </a:r>
            <a:r>
              <a:rPr lang="en-US" altLang="zh-CN" dirty="0">
                <a:latin typeface="Consolas" panose="020B0609020204030204" pitchFamily="49" charset="0"/>
              </a:rPr>
              <a:t>, </a:t>
            </a:r>
            <a:r>
              <a:rPr lang="en-US" altLang="zh-CN" dirty="0" err="1">
                <a:latin typeface="Consolas" panose="020B0609020204030204" pitchFamily="49" charset="0"/>
              </a:rPr>
              <a:t>dataSet</a:t>
            </a:r>
            <a:r>
              <a:rPr lang="en-US" altLang="zh-CN" dirty="0">
                <a:latin typeface="Consolas" panose="020B0609020204030204" pitchFamily="49" charset="0"/>
              </a:rPr>
              <a:t>, labels, k):  </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numSamples</a:t>
            </a:r>
            <a:r>
              <a:rPr lang="en-US" altLang="zh-CN" dirty="0">
                <a:latin typeface="Consolas" panose="020B0609020204030204" pitchFamily="49" charset="0"/>
              </a:rPr>
              <a:t> = </a:t>
            </a:r>
            <a:r>
              <a:rPr lang="en-US" altLang="zh-CN" dirty="0" err="1">
                <a:latin typeface="Consolas" panose="020B0609020204030204" pitchFamily="49" charset="0"/>
              </a:rPr>
              <a:t>dataSet.shape</a:t>
            </a:r>
            <a:r>
              <a:rPr lang="en-US" altLang="zh-CN" dirty="0">
                <a:latin typeface="Consolas" panose="020B0609020204030204" pitchFamily="49" charset="0"/>
              </a:rPr>
              <a:t>[0] # shape[0] </a:t>
            </a:r>
            <a:r>
              <a:rPr lang="zh-CN" altLang="en-US" dirty="0">
                <a:latin typeface="Consolas" panose="020B0609020204030204" pitchFamily="49" charset="0"/>
              </a:rPr>
              <a:t>表示行数</a:t>
            </a:r>
            <a:endParaRPr lang="zh-CN" altLang="en-US" dirty="0">
              <a:latin typeface="Consolas" panose="020B0609020204030204" pitchFamily="49" charset="0"/>
            </a:endParaRPr>
          </a:p>
          <a:p>
            <a:r>
              <a:rPr lang="zh-CN" altLang="en-US" dirty="0">
                <a:latin typeface="Consolas" panose="020B0609020204030204" pitchFamily="49" charset="0"/>
              </a:rPr>
              <a:t> </a:t>
            </a:r>
            <a:endParaRPr lang="zh-CN" altLang="en-US" dirty="0">
              <a:latin typeface="Consolas" panose="020B0609020204030204" pitchFamily="49" charset="0"/>
            </a:endParaRPr>
          </a:p>
          <a:p>
            <a:r>
              <a:rPr lang="zh-CN" altLang="en-US" dirty="0">
                <a:latin typeface="Consolas" panose="020B0609020204030204" pitchFamily="49" charset="0"/>
              </a:rPr>
              <a:t>    </a:t>
            </a:r>
            <a:r>
              <a:rPr lang="en-US" altLang="zh-CN" dirty="0">
                <a:latin typeface="Consolas" panose="020B0609020204030204" pitchFamily="49" charset="0"/>
              </a:rPr>
              <a:t># </a:t>
            </a:r>
            <a:r>
              <a:rPr lang="zh-CN" altLang="en-US" dirty="0">
                <a:latin typeface="Consolas" panose="020B0609020204030204" pitchFamily="49" charset="0"/>
              </a:rPr>
              <a:t>计算欧氏距离</a:t>
            </a:r>
            <a:endParaRPr lang="zh-CN" altLang="en-US" dirty="0">
              <a:latin typeface="Consolas" panose="020B0609020204030204" pitchFamily="49" charset="0"/>
            </a:endParaRPr>
          </a:p>
          <a:p>
            <a:r>
              <a:rPr lang="zh-CN" altLang="en-US" dirty="0">
                <a:latin typeface="Consolas" panose="020B0609020204030204" pitchFamily="49" charset="0"/>
              </a:rPr>
              <a:t>    </a:t>
            </a:r>
            <a:r>
              <a:rPr lang="en-US" altLang="zh-CN" dirty="0">
                <a:latin typeface="Consolas" panose="020B0609020204030204" pitchFamily="49" charset="0"/>
              </a:rPr>
              <a:t>diff = tile(</a:t>
            </a:r>
            <a:r>
              <a:rPr lang="en-US" altLang="zh-CN" dirty="0" err="1">
                <a:latin typeface="Consolas" panose="020B0609020204030204" pitchFamily="49" charset="0"/>
              </a:rPr>
              <a:t>newInput</a:t>
            </a:r>
            <a:r>
              <a:rPr lang="en-US" altLang="zh-CN" dirty="0">
                <a:latin typeface="Consolas" panose="020B0609020204030204" pitchFamily="49" charset="0"/>
              </a:rPr>
              <a:t>, (</a:t>
            </a:r>
            <a:r>
              <a:rPr lang="en-US" altLang="zh-CN" dirty="0" err="1">
                <a:latin typeface="Consolas" panose="020B0609020204030204" pitchFamily="49" charset="0"/>
              </a:rPr>
              <a:t>numSamples</a:t>
            </a:r>
            <a:r>
              <a:rPr lang="en-US" altLang="zh-CN" dirty="0">
                <a:latin typeface="Consolas" panose="020B0609020204030204" pitchFamily="49" charset="0"/>
              </a:rPr>
              <a:t>, 1)) - </a:t>
            </a:r>
            <a:r>
              <a:rPr lang="en-US" altLang="zh-CN" dirty="0" err="1">
                <a:latin typeface="Consolas" panose="020B0609020204030204" pitchFamily="49" charset="0"/>
              </a:rPr>
              <a:t>dataSet</a:t>
            </a:r>
            <a:r>
              <a:rPr lang="en-US" altLang="zh-CN" dirty="0">
                <a:latin typeface="Consolas" panose="020B0609020204030204" pitchFamily="49" charset="0"/>
              </a:rPr>
              <a:t> # </a:t>
            </a:r>
            <a:r>
              <a:rPr lang="zh-CN" altLang="en-US" dirty="0">
                <a:latin typeface="Consolas" panose="020B0609020204030204" pitchFamily="49" charset="0"/>
              </a:rPr>
              <a:t>计算元素属性值的差</a:t>
            </a:r>
            <a:endParaRPr lang="zh-CN" altLang="en-US" dirty="0">
              <a:latin typeface="Consolas" panose="020B0609020204030204" pitchFamily="49" charset="0"/>
            </a:endParaRPr>
          </a:p>
          <a:p>
            <a:r>
              <a:rPr lang="zh-CN" altLang="en-US" dirty="0">
                <a:latin typeface="Consolas" panose="020B0609020204030204" pitchFamily="49" charset="0"/>
              </a:rPr>
              <a:t>    </a:t>
            </a:r>
            <a:r>
              <a:rPr lang="en-US" altLang="zh-CN" dirty="0" err="1">
                <a:latin typeface="Consolas" panose="020B0609020204030204" pitchFamily="49" charset="0"/>
              </a:rPr>
              <a:t>squaredDiff</a:t>
            </a:r>
            <a:r>
              <a:rPr lang="en-US" altLang="zh-CN" dirty="0">
                <a:latin typeface="Consolas" panose="020B0609020204030204" pitchFamily="49" charset="0"/>
              </a:rPr>
              <a:t> = diff ** 2 # </a:t>
            </a:r>
            <a:r>
              <a:rPr lang="zh-CN" altLang="en-US" dirty="0">
                <a:latin typeface="Consolas" panose="020B0609020204030204" pitchFamily="49" charset="0"/>
              </a:rPr>
              <a:t>对差值取平方  </a:t>
            </a:r>
            <a:endParaRPr lang="zh-CN" altLang="en-US" dirty="0">
              <a:latin typeface="Consolas" panose="020B0609020204030204" pitchFamily="49" charset="0"/>
            </a:endParaRPr>
          </a:p>
          <a:p>
            <a:r>
              <a:rPr lang="zh-CN" altLang="en-US" dirty="0">
                <a:latin typeface="Consolas" panose="020B0609020204030204" pitchFamily="49" charset="0"/>
              </a:rPr>
              <a:t>    </a:t>
            </a:r>
            <a:r>
              <a:rPr lang="en-US" altLang="zh-CN" dirty="0" err="1">
                <a:latin typeface="Consolas" panose="020B0609020204030204" pitchFamily="49" charset="0"/>
              </a:rPr>
              <a:t>squaredDist</a:t>
            </a:r>
            <a:r>
              <a:rPr lang="en-US" altLang="zh-CN" dirty="0">
                <a:latin typeface="Consolas" panose="020B0609020204030204" pitchFamily="49" charset="0"/>
              </a:rPr>
              <a:t> = sum(</a:t>
            </a:r>
            <a:r>
              <a:rPr lang="en-US" altLang="zh-CN" dirty="0" err="1">
                <a:latin typeface="Consolas" panose="020B0609020204030204" pitchFamily="49" charset="0"/>
              </a:rPr>
              <a:t>squaredDiff</a:t>
            </a:r>
            <a:r>
              <a:rPr lang="en-US" altLang="zh-CN" dirty="0">
                <a:latin typeface="Consolas" panose="020B0609020204030204" pitchFamily="49" charset="0"/>
              </a:rPr>
              <a:t>, axis = 1) # </a:t>
            </a:r>
            <a:r>
              <a:rPr lang="zh-CN" altLang="en-US" dirty="0">
                <a:latin typeface="Consolas" panose="020B0609020204030204" pitchFamily="49" charset="0"/>
              </a:rPr>
              <a:t>按行求和 </a:t>
            </a:r>
            <a:endParaRPr lang="zh-CN" altLang="en-US" dirty="0">
              <a:latin typeface="Consolas" panose="020B0609020204030204" pitchFamily="49" charset="0"/>
            </a:endParaRPr>
          </a:p>
          <a:p>
            <a:r>
              <a:rPr lang="zh-CN" altLang="en-US" dirty="0">
                <a:latin typeface="Consolas" panose="020B0609020204030204" pitchFamily="49" charset="0"/>
              </a:rPr>
              <a:t>    </a:t>
            </a:r>
            <a:r>
              <a:rPr lang="en-US" altLang="zh-CN" dirty="0">
                <a:latin typeface="Consolas" panose="020B0609020204030204" pitchFamily="49" charset="0"/>
              </a:rPr>
              <a:t>distance = </a:t>
            </a:r>
            <a:r>
              <a:rPr lang="en-US" altLang="zh-CN" dirty="0" err="1">
                <a:latin typeface="Consolas" panose="020B0609020204030204" pitchFamily="49" charset="0"/>
              </a:rPr>
              <a:t>squaredDist</a:t>
            </a:r>
            <a:r>
              <a:rPr lang="en-US" altLang="zh-CN" dirty="0">
                <a:latin typeface="Consolas" panose="020B0609020204030204" pitchFamily="49" charset="0"/>
              </a:rPr>
              <a:t> ** 0.5 </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sortedDistIndices</a:t>
            </a:r>
            <a:r>
              <a:rPr lang="en-US" altLang="zh-CN" dirty="0">
                <a:latin typeface="Consolas" panose="020B0609020204030204" pitchFamily="49" charset="0"/>
              </a:rPr>
              <a:t> = </a:t>
            </a:r>
            <a:r>
              <a:rPr lang="en-US" altLang="zh-CN" dirty="0" err="1">
                <a:latin typeface="Consolas" panose="020B0609020204030204" pitchFamily="49" charset="0"/>
              </a:rPr>
              <a:t>argsort</a:t>
            </a:r>
            <a:r>
              <a:rPr lang="en-US" altLang="zh-CN" dirty="0">
                <a:latin typeface="Consolas" panose="020B0609020204030204" pitchFamily="49" charset="0"/>
              </a:rPr>
              <a:t>(distance) # </a:t>
            </a:r>
            <a:r>
              <a:rPr lang="zh-CN" altLang="en-US" dirty="0">
                <a:latin typeface="Consolas" panose="020B0609020204030204" pitchFamily="49" charset="0"/>
              </a:rPr>
              <a:t>距离排序</a:t>
            </a:r>
            <a:endParaRPr lang="en-US" altLang="zh-CN" dirty="0">
              <a:latin typeface="Consolas" panose="020B0609020204030204" pitchFamily="49" charset="0"/>
            </a:endParaRPr>
          </a:p>
          <a:p>
            <a:endParaRPr lang="en-US" altLang="zh-CN" dirty="0"/>
          </a:p>
          <a:p>
            <a:r>
              <a:rPr lang="en-US" altLang="zh-CN" dirty="0"/>
              <a:t>  #</a:t>
            </a:r>
            <a:r>
              <a:rPr lang="zh-CN" altLang="en-US" dirty="0"/>
              <a:t>返回得到的投票数最多的分类</a:t>
            </a:r>
            <a:endParaRPr lang="en-US" altLang="zh-CN" dirty="0"/>
          </a:p>
          <a:p>
            <a:r>
              <a:rPr lang="en-US" altLang="zh-CN" dirty="0">
                <a:latin typeface="Consolas" panose="020B0609020204030204" pitchFamily="49" charset="0"/>
              </a:rPr>
              <a:t> </a:t>
            </a:r>
            <a:r>
              <a:rPr lang="en-US" altLang="zh-CN" dirty="0" err="1">
                <a:latin typeface="Consolas" panose="020B0609020204030204" pitchFamily="49" charset="0"/>
              </a:rPr>
              <a:t>maxCount</a:t>
            </a:r>
            <a:r>
              <a:rPr lang="en-US" altLang="zh-CN" dirty="0">
                <a:latin typeface="Consolas" panose="020B0609020204030204" pitchFamily="49" charset="0"/>
              </a:rPr>
              <a:t> = 0  </a:t>
            </a:r>
            <a:endParaRPr lang="en-US" altLang="zh-CN" dirty="0">
              <a:latin typeface="Consolas" panose="020B0609020204030204" pitchFamily="49" charset="0"/>
            </a:endParaRPr>
          </a:p>
          <a:p>
            <a:r>
              <a:rPr lang="en-US" altLang="zh-CN" dirty="0">
                <a:latin typeface="Consolas" panose="020B0609020204030204" pitchFamily="49" charset="0"/>
              </a:rPr>
              <a:t>    for key, value in </a:t>
            </a:r>
            <a:r>
              <a:rPr lang="en-US" altLang="zh-CN" dirty="0" err="1">
                <a:latin typeface="Consolas" panose="020B0609020204030204" pitchFamily="49" charset="0"/>
              </a:rPr>
              <a:t>classCount.items</a:t>
            </a:r>
            <a:r>
              <a:rPr lang="en-US" altLang="zh-CN" dirty="0">
                <a:latin typeface="Consolas" panose="020B0609020204030204" pitchFamily="49" charset="0"/>
              </a:rPr>
              <a:t>():  </a:t>
            </a:r>
            <a:endParaRPr lang="en-US" altLang="zh-CN" dirty="0">
              <a:latin typeface="Consolas" panose="020B0609020204030204" pitchFamily="49" charset="0"/>
            </a:endParaRPr>
          </a:p>
          <a:p>
            <a:r>
              <a:rPr lang="en-US" altLang="zh-CN" dirty="0">
                <a:latin typeface="Consolas" panose="020B0609020204030204" pitchFamily="49" charset="0"/>
              </a:rPr>
              <a:t>        if value &gt; </a:t>
            </a:r>
            <a:r>
              <a:rPr lang="en-US" altLang="zh-CN" dirty="0" err="1">
                <a:latin typeface="Consolas" panose="020B0609020204030204" pitchFamily="49" charset="0"/>
              </a:rPr>
              <a:t>maxCount</a:t>
            </a:r>
            <a:r>
              <a:rPr lang="en-US" altLang="zh-CN" dirty="0">
                <a:latin typeface="Consolas" panose="020B0609020204030204" pitchFamily="49" charset="0"/>
              </a:rPr>
              <a:t>:  </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maxCount</a:t>
            </a:r>
            <a:r>
              <a:rPr lang="en-US" altLang="zh-CN" dirty="0">
                <a:latin typeface="Consolas" panose="020B0609020204030204" pitchFamily="49" charset="0"/>
              </a:rPr>
              <a:t> = value  </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maxIndex</a:t>
            </a:r>
            <a:r>
              <a:rPr lang="en-US" altLang="zh-CN" dirty="0">
                <a:latin typeface="Consolas" panose="020B0609020204030204" pitchFamily="49" charset="0"/>
              </a:rPr>
              <a:t> = key  </a:t>
            </a:r>
            <a:endParaRPr lang="en-US" altLang="zh-CN" dirty="0">
              <a:latin typeface="Consolas" panose="020B0609020204030204" pitchFamily="49" charset="0"/>
            </a:endParaRPr>
          </a:p>
          <a:p>
            <a:r>
              <a:rPr lang="en-US" altLang="zh-CN" dirty="0">
                <a:latin typeface="Consolas" panose="020B0609020204030204" pitchFamily="49" charset="0"/>
              </a:rPr>
              <a:t>    return </a:t>
            </a:r>
            <a:r>
              <a:rPr lang="en-US" altLang="zh-CN" dirty="0" err="1">
                <a:latin typeface="Consolas" panose="020B0609020204030204" pitchFamily="49" charset="0"/>
              </a:rPr>
              <a:t>maxIndex</a:t>
            </a:r>
            <a:endParaRPr lang="en-US" altLang="zh-CN" dirty="0">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4416594"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数据标准化</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数据的所有特征都要做可比较的量化</a:t>
            </a:r>
            <a:endParaRPr lang="zh-CN" altLang="en-US" dirty="0"/>
          </a:p>
        </p:txBody>
      </p:sp>
      <p:pic>
        <p:nvPicPr>
          <p:cNvPr id="38914" name="Picture 2" descr="preview"/>
          <p:cNvPicPr>
            <a:picLocks noChangeAspect="1" noChangeArrowheads="1"/>
          </p:cNvPicPr>
          <p:nvPr/>
        </p:nvPicPr>
        <p:blipFill rotWithShape="1">
          <a:blip r:embed="rId1" cstate="print"/>
          <a:srcRect t="21673" b="13133"/>
          <a:stretch>
            <a:fillRect/>
          </a:stretch>
        </p:blipFill>
        <p:spPr bwMode="auto">
          <a:xfrm>
            <a:off x="289389" y="1248939"/>
            <a:ext cx="11525250" cy="475042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标题 2"/>
          <p:cNvSpPr>
            <a:spLocks noGrp="1"/>
          </p:cNvSpPr>
          <p:nvPr>
            <p:ph type="title"/>
          </p:nvPr>
        </p:nvSpPr>
        <p:spPr/>
        <p:txBody>
          <a:bodyPr/>
          <a:lstStyle/>
          <a:p>
            <a:r>
              <a:rPr lang="zh-CN" altLang="en-US" dirty="0">
                <a:solidFill>
                  <a:schemeClr val="tx1"/>
                </a:solidFill>
              </a:rPr>
              <a:t>离差标准化数据</a:t>
            </a:r>
            <a:endParaRPr lang="zh-CN" altLang="en-US" dirty="0">
              <a:solidFill>
                <a:schemeClr val="tx1"/>
              </a:solidFill>
            </a:endParaRPr>
          </a:p>
        </p:txBody>
      </p:sp>
      <p:sp>
        <p:nvSpPr>
          <p:cNvPr id="34820" name="内容占位符 3"/>
          <p:cNvSpPr>
            <a:spLocks noGrp="1"/>
          </p:cNvSpPr>
          <p:nvPr>
            <p:ph idx="10"/>
          </p:nvPr>
        </p:nvSpPr>
        <p:spPr/>
        <p:txBody>
          <a:bodyPr/>
          <a:lstStyle/>
          <a:p>
            <a:r>
              <a:rPr b="1" dirty="0"/>
              <a:t>离差标准化公式</a:t>
            </a:r>
            <a:endParaRPr b="1" dirty="0"/>
          </a:p>
        </p:txBody>
      </p:sp>
      <p:pic>
        <p:nvPicPr>
          <p:cNvPr id="5" name="图片 4"/>
          <p:cNvPicPr>
            <a:picLocks noChangeAspect="1"/>
          </p:cNvPicPr>
          <p:nvPr/>
        </p:nvPicPr>
        <p:blipFill>
          <a:blip r:embed="rId1" cstate="print"/>
          <a:stretch>
            <a:fillRect/>
          </a:stretch>
        </p:blipFill>
        <p:spPr>
          <a:xfrm>
            <a:off x="446123" y="1039441"/>
            <a:ext cx="10058326" cy="1929317"/>
          </a:xfrm>
          <a:prstGeom prst="rect">
            <a:avLst/>
          </a:prstGeom>
        </p:spPr>
      </p:pic>
      <p:sp>
        <p:nvSpPr>
          <p:cNvPr id="6" name="内容占位符 1"/>
          <p:cNvSpPr txBox="1"/>
          <p:nvPr/>
        </p:nvSpPr>
        <p:spPr>
          <a:xfrm>
            <a:off x="464709" y="3031793"/>
            <a:ext cx="11104601" cy="3614334"/>
          </a:xfrm>
        </p:spPr>
        <p:txBody>
          <a:bodyPr>
            <a:noAutofit/>
          </a:bodyPr>
          <a:lstStyle/>
          <a:p>
            <a:pPr marL="361950" marR="0" lvl="0" indent="-361950" algn="l" defTabSz="914400" rtl="0" eaLnBrk="1" fontAlgn="auto" latinLnBrk="0" hangingPunct="1">
              <a:lnSpc>
                <a:spcPct val="150000"/>
              </a:lnSpc>
              <a:spcBef>
                <a:spcPts val="1000"/>
              </a:spcBef>
              <a:spcAft>
                <a:spcPts val="0"/>
              </a:spcAft>
              <a:buClr>
                <a:srgbClr val="00B050"/>
              </a:buClr>
              <a:buSzTx/>
              <a:buFont typeface="Wingdings" panose="05000000000000000000" pitchFamily="2" charset="2"/>
              <a:buChar char="Ø"/>
              <a:defRPr/>
            </a:pP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数据的整体分布并</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不会随离差标准化而</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发生改变，原先取值较大的数据，做离差标准化后的值依旧较大。</a:t>
            </a:r>
            <a:endPar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361950" marR="0" lvl="0" indent="-361950" algn="l" defTabSz="914400" rtl="0" eaLnBrk="1" fontAlgn="auto" latinLnBrk="0" hangingPunct="1">
              <a:lnSpc>
                <a:spcPct val="150000"/>
              </a:lnSpc>
              <a:spcBef>
                <a:spcPts val="1000"/>
              </a:spcBef>
              <a:spcAft>
                <a:spcPts val="0"/>
              </a:spcAft>
              <a:buClr>
                <a:srgbClr val="00B050"/>
              </a:buClr>
              <a:buSzTx/>
              <a:buFont typeface="Wingdings" panose="05000000000000000000" pitchFamily="2" charset="2"/>
              <a:buChar char="Ø"/>
              <a:defRPr/>
            </a:pP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当数据和最小值相等的时候</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通过离差标准化</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数据变为</a:t>
            </a:r>
            <a:r>
              <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361950" marR="0" lvl="0" indent="-361950" algn="l" defTabSz="914400" rtl="0" eaLnBrk="1" fontAlgn="auto" latinLnBrk="0" hangingPunct="1">
              <a:lnSpc>
                <a:spcPct val="150000"/>
              </a:lnSpc>
              <a:spcBef>
                <a:spcPts val="1000"/>
              </a:spcBef>
              <a:spcAft>
                <a:spcPts val="0"/>
              </a:spcAft>
              <a:buClr>
                <a:srgbClr val="00B050"/>
              </a:buClr>
              <a:buSzTx/>
              <a:buFont typeface="Wingdings" panose="05000000000000000000" pitchFamily="2" charset="2"/>
              <a:buChar char="Ø"/>
              <a:defRPr/>
            </a:pP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若</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数据极差过大</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在离差标准化后数据之间的差值</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变得</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非常小</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361950" marR="0" lvl="0" indent="-361950" algn="l" defTabSz="914400" rtl="0" eaLnBrk="1" fontAlgn="auto" latinLnBrk="0" hangingPunct="1">
              <a:lnSpc>
                <a:spcPct val="150000"/>
              </a:lnSpc>
              <a:spcBef>
                <a:spcPts val="1000"/>
              </a:spcBef>
              <a:spcAft>
                <a:spcPts val="0"/>
              </a:spcAft>
              <a:buClr>
                <a:srgbClr val="00B050"/>
              </a:buClr>
              <a:buSzTx/>
              <a:buFont typeface="Wingdings" panose="05000000000000000000" pitchFamily="2" charset="2"/>
              <a:buChar char="Ø"/>
              <a:defRPr/>
            </a:pP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离差标准化的缺点：若数据集中某个数值很大，则离差标准化</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后</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的值就会接近于</a:t>
            </a:r>
            <a:r>
              <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，并且相互之间差别不大。若遇到超过目前属性</a:t>
            </a:r>
            <a:r>
              <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[min,max]</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取值范围的</a:t>
            </a:r>
            <a:r>
              <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情况</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，会引起系统出错，这时需要重新确定</a:t>
            </a:r>
            <a:r>
              <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min</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和</a:t>
            </a:r>
            <a:r>
              <a:rPr kumimoji="0"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max</a:t>
            </a:r>
            <a:r>
              <a:rPr kumimoji="0" lang="zh-CN"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9" name="标题 2"/>
          <p:cNvSpPr>
            <a:spLocks noGrp="1"/>
          </p:cNvSpPr>
          <p:nvPr>
            <p:ph type="title"/>
          </p:nvPr>
        </p:nvSpPr>
        <p:spPr/>
        <p:txBody>
          <a:bodyPr/>
          <a:lstStyle/>
          <a:p>
            <a:r>
              <a:rPr lang="zh-CN" altLang="en-US" dirty="0">
                <a:solidFill>
                  <a:schemeClr val="tx1"/>
                </a:solidFill>
              </a:rPr>
              <a:t>离差标准化数据</a:t>
            </a:r>
            <a:endParaRPr lang="zh-CN" altLang="en-US" dirty="0">
              <a:solidFill>
                <a:schemeClr val="tx1"/>
              </a:solidFill>
            </a:endParaRPr>
          </a:p>
        </p:txBody>
      </p:sp>
      <p:sp>
        <p:nvSpPr>
          <p:cNvPr id="2" name="文本框 1"/>
          <p:cNvSpPr txBox="1"/>
          <p:nvPr/>
        </p:nvSpPr>
        <p:spPr>
          <a:xfrm>
            <a:off x="10853295" y="1852090"/>
            <a:ext cx="1107996" cy="369332"/>
          </a:xfrm>
          <a:prstGeom prst="rect">
            <a:avLst/>
          </a:prstGeom>
          <a:noFill/>
        </p:spPr>
        <p:txBody>
          <a:bodyPr wrap="none" rtlCol="0">
            <a:spAutoFit/>
          </a:bodyPr>
          <a:lstStyle/>
          <a:p>
            <a:r>
              <a:rPr lang="zh-CN" altLang="en-US" b="1" dirty="0">
                <a:solidFill>
                  <a:srgbClr val="FF0000"/>
                </a:solidFill>
                <a:latin typeface="华光仿宋_CNKI" panose="02000500000000000000" pitchFamily="2" charset="-122"/>
                <a:ea typeface="华光仿宋_CNKI" panose="02000500000000000000" pitchFamily="2" charset="-122"/>
              </a:rPr>
              <a:t>上次实验</a:t>
            </a:r>
            <a:endParaRPr lang="zh-CN" altLang="en-US" b="1" dirty="0">
              <a:solidFill>
                <a:srgbClr val="FF0000"/>
              </a:solidFill>
              <a:latin typeface="华光仿宋_CNKI" panose="02000500000000000000" pitchFamily="2" charset="-122"/>
              <a:ea typeface="华光仿宋_CNKI" panose="02000500000000000000" pitchFamily="2" charset="-122"/>
            </a:endParaRPr>
          </a:p>
        </p:txBody>
      </p:sp>
      <p:pic>
        <p:nvPicPr>
          <p:cNvPr id="7" name="图片 6"/>
          <p:cNvPicPr>
            <a:picLocks noChangeAspect="1"/>
          </p:cNvPicPr>
          <p:nvPr/>
        </p:nvPicPr>
        <p:blipFill>
          <a:blip r:embed="rId1"/>
          <a:stretch>
            <a:fillRect/>
          </a:stretch>
        </p:blipFill>
        <p:spPr>
          <a:xfrm>
            <a:off x="518746" y="1504704"/>
            <a:ext cx="10346982" cy="373380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9" name="标题 2"/>
          <p:cNvSpPr>
            <a:spLocks noGrp="1"/>
          </p:cNvSpPr>
          <p:nvPr>
            <p:ph type="title"/>
          </p:nvPr>
        </p:nvSpPr>
        <p:spPr/>
        <p:txBody>
          <a:bodyPr/>
          <a:lstStyle/>
          <a:p>
            <a:r>
              <a:rPr lang="zh-CN" altLang="en-US" dirty="0">
                <a:solidFill>
                  <a:schemeClr val="tx1"/>
                </a:solidFill>
              </a:rPr>
              <a:t>离差标准化数据</a:t>
            </a:r>
            <a:endParaRPr lang="zh-CN" altLang="en-US" dirty="0">
              <a:solidFill>
                <a:schemeClr val="tx1"/>
              </a:solidFill>
            </a:endParaRPr>
          </a:p>
        </p:txBody>
      </p:sp>
      <p:sp>
        <p:nvSpPr>
          <p:cNvPr id="2" name="文本框 1"/>
          <p:cNvSpPr txBox="1"/>
          <p:nvPr/>
        </p:nvSpPr>
        <p:spPr>
          <a:xfrm>
            <a:off x="10673681" y="1819433"/>
            <a:ext cx="1107996" cy="369332"/>
          </a:xfrm>
          <a:prstGeom prst="rect">
            <a:avLst/>
          </a:prstGeom>
          <a:noFill/>
        </p:spPr>
        <p:txBody>
          <a:bodyPr wrap="none" rtlCol="0">
            <a:spAutoFit/>
          </a:bodyPr>
          <a:lstStyle/>
          <a:p>
            <a:r>
              <a:rPr lang="zh-CN" altLang="en-US" b="1" dirty="0">
                <a:solidFill>
                  <a:srgbClr val="FF0000"/>
                </a:solidFill>
                <a:latin typeface="华光仿宋_CNKI" panose="02000500000000000000" pitchFamily="2" charset="-122"/>
                <a:ea typeface="华光仿宋_CNKI" panose="02000500000000000000" pitchFamily="2" charset="-122"/>
              </a:rPr>
              <a:t>上次实验</a:t>
            </a:r>
            <a:endParaRPr lang="zh-CN" altLang="en-US" b="1" dirty="0">
              <a:solidFill>
                <a:srgbClr val="FF0000"/>
              </a:solidFill>
              <a:latin typeface="华光仿宋_CNKI" panose="02000500000000000000" pitchFamily="2" charset="-122"/>
              <a:ea typeface="华光仿宋_CNKI" panose="02000500000000000000" pitchFamily="2" charset="-122"/>
            </a:endParaRPr>
          </a:p>
        </p:txBody>
      </p:sp>
      <p:pic>
        <p:nvPicPr>
          <p:cNvPr id="4" name="图片 3"/>
          <p:cNvPicPr>
            <a:picLocks noChangeAspect="1"/>
          </p:cNvPicPr>
          <p:nvPr/>
        </p:nvPicPr>
        <p:blipFill>
          <a:blip r:embed="rId1"/>
          <a:stretch>
            <a:fillRect/>
          </a:stretch>
        </p:blipFill>
        <p:spPr>
          <a:xfrm>
            <a:off x="1342448" y="1565452"/>
            <a:ext cx="6496050" cy="1571625"/>
          </a:xfrm>
          <a:prstGeom prst="rect">
            <a:avLst/>
          </a:prstGeom>
        </p:spPr>
      </p:pic>
      <p:pic>
        <p:nvPicPr>
          <p:cNvPr id="5" name="图片 4"/>
          <p:cNvPicPr>
            <a:picLocks noChangeAspect="1"/>
          </p:cNvPicPr>
          <p:nvPr/>
        </p:nvPicPr>
        <p:blipFill>
          <a:blip r:embed="rId2"/>
          <a:stretch>
            <a:fillRect/>
          </a:stretch>
        </p:blipFill>
        <p:spPr>
          <a:xfrm>
            <a:off x="1342448" y="3391058"/>
            <a:ext cx="9401175" cy="251460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标题 2"/>
          <p:cNvSpPr>
            <a:spLocks noGrp="1"/>
          </p:cNvSpPr>
          <p:nvPr>
            <p:ph type="title"/>
          </p:nvPr>
        </p:nvSpPr>
        <p:spPr/>
        <p:txBody>
          <a:bodyPr/>
          <a:lstStyle/>
          <a:p>
            <a:r>
              <a:rPr lang="zh-CN" altLang="en-US" dirty="0">
                <a:solidFill>
                  <a:schemeClr val="tx1"/>
                </a:solidFill>
              </a:rPr>
              <a:t>标准差标准化数据</a:t>
            </a:r>
            <a:endParaRPr lang="zh-CN" altLang="en-US" dirty="0">
              <a:solidFill>
                <a:schemeClr val="tx1"/>
              </a:solidFill>
            </a:endParaRPr>
          </a:p>
        </p:txBody>
      </p:sp>
      <p:sp>
        <p:nvSpPr>
          <p:cNvPr id="36868" name="内容占位符 3"/>
          <p:cNvSpPr>
            <a:spLocks noGrp="1"/>
          </p:cNvSpPr>
          <p:nvPr>
            <p:ph idx="10"/>
          </p:nvPr>
        </p:nvSpPr>
        <p:spPr/>
        <p:txBody>
          <a:bodyPr/>
          <a:lstStyle/>
          <a:p>
            <a:r>
              <a:rPr altLang="zh-CN" b="1" dirty="0">
                <a:solidFill>
                  <a:schemeClr val="tx1"/>
                </a:solidFill>
              </a:rPr>
              <a:t>标准差标准化</a:t>
            </a:r>
            <a:r>
              <a:rPr b="1" dirty="0">
                <a:solidFill>
                  <a:schemeClr val="tx1"/>
                </a:solidFill>
              </a:rPr>
              <a:t>的公式及特点</a:t>
            </a:r>
            <a:endParaRPr b="1" dirty="0">
              <a:solidFill>
                <a:schemeClr val="tx1"/>
              </a:solidFill>
            </a:endParaRPr>
          </a:p>
        </p:txBody>
      </p:sp>
      <p:sp>
        <p:nvSpPr>
          <p:cNvPr id="4" name="内容占位符 3"/>
          <p:cNvSpPr>
            <a:spLocks noGrp="1"/>
          </p:cNvSpPr>
          <p:nvPr>
            <p:ph idx="1"/>
          </p:nvPr>
        </p:nvSpPr>
        <p:spPr/>
        <p:txBody>
          <a:bodyPr/>
          <a:lstStyle/>
          <a:p>
            <a:endParaRPr lang="zh-CN" altLang="en-US" dirty="0"/>
          </a:p>
        </p:txBody>
      </p:sp>
      <p:pic>
        <p:nvPicPr>
          <p:cNvPr id="5" name="图片 4"/>
          <p:cNvPicPr>
            <a:picLocks noChangeAspect="1"/>
          </p:cNvPicPr>
          <p:nvPr/>
        </p:nvPicPr>
        <p:blipFill>
          <a:blip r:embed="rId1" cstate="print"/>
          <a:stretch>
            <a:fillRect/>
          </a:stretch>
        </p:blipFill>
        <p:spPr>
          <a:xfrm>
            <a:off x="423821" y="1741968"/>
            <a:ext cx="11551390" cy="26293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标题 2"/>
          <p:cNvSpPr>
            <a:spLocks noGrp="1"/>
          </p:cNvSpPr>
          <p:nvPr>
            <p:ph type="title"/>
          </p:nvPr>
        </p:nvSpPr>
        <p:spPr/>
        <p:txBody>
          <a:bodyPr/>
          <a:lstStyle/>
          <a:p>
            <a:r>
              <a:rPr lang="zh-CN" altLang="en-US" dirty="0">
                <a:solidFill>
                  <a:schemeClr val="tx1"/>
                </a:solidFill>
              </a:rPr>
              <a:t>小数定标标准化数据</a:t>
            </a:r>
            <a:endParaRPr lang="zh-CN" altLang="en-US" dirty="0">
              <a:solidFill>
                <a:schemeClr val="tx1"/>
              </a:solidFill>
            </a:endParaRPr>
          </a:p>
        </p:txBody>
      </p:sp>
      <p:sp>
        <p:nvSpPr>
          <p:cNvPr id="37892" name="内容占位符 3"/>
          <p:cNvSpPr>
            <a:spLocks noGrp="1"/>
          </p:cNvSpPr>
          <p:nvPr>
            <p:ph idx="10"/>
          </p:nvPr>
        </p:nvSpPr>
        <p:spPr/>
        <p:txBody>
          <a:bodyPr/>
          <a:lstStyle/>
          <a:p>
            <a:r>
              <a:rPr b="1" dirty="0">
                <a:solidFill>
                  <a:schemeClr val="tx1"/>
                </a:solidFill>
              </a:rPr>
              <a:t>小数定标标准化公式及对比</a:t>
            </a:r>
            <a:endParaRPr b="1" dirty="0">
              <a:solidFill>
                <a:schemeClr val="tx1"/>
              </a:solidFill>
            </a:endParaRPr>
          </a:p>
        </p:txBody>
      </p:sp>
      <p:pic>
        <p:nvPicPr>
          <p:cNvPr id="2" name="内容占位符 1"/>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090429" y="3436205"/>
            <a:ext cx="1771429" cy="980952"/>
          </a:xfrm>
        </p:spPr>
      </p:pic>
      <p:pic>
        <p:nvPicPr>
          <p:cNvPr id="5" name="图片 4"/>
          <p:cNvPicPr>
            <a:picLocks noChangeAspect="1"/>
          </p:cNvPicPr>
          <p:nvPr/>
        </p:nvPicPr>
        <p:blipFill>
          <a:blip r:embed="rId2" cstate="print"/>
          <a:stretch>
            <a:fillRect/>
          </a:stretch>
        </p:blipFill>
        <p:spPr>
          <a:xfrm>
            <a:off x="423821" y="1741967"/>
            <a:ext cx="10675950" cy="3844793"/>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8080" y="3555628"/>
            <a:ext cx="2010233" cy="861529"/>
          </a:xfrm>
          <a:prstGeom prst="rect">
            <a:avLst/>
          </a:prstGeom>
        </p:spPr>
      </p:pic>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85597" y="4235001"/>
            <a:ext cx="1295393" cy="71734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1"/>
          <p:cNvSpPr>
            <a:spLocks noGrp="1"/>
          </p:cNvSpPr>
          <p:nvPr>
            <p:ph idx="1"/>
          </p:nvPr>
        </p:nvSpPr>
        <p:spPr>
          <a:xfrm>
            <a:off x="423863" y="1530350"/>
            <a:ext cx="11107737" cy="4368800"/>
          </a:xfrm>
        </p:spPr>
        <p:txBody>
          <a:bodyPr/>
          <a:lstStyle/>
          <a:p>
            <a:pPr marL="361950" indent="-361950"/>
            <a:r>
              <a:rPr lang="en-US" altLang="zh-CN" dirty="0">
                <a:solidFill>
                  <a:schemeClr val="tx1"/>
                </a:solidFill>
              </a:rPr>
              <a:t>sklearn</a:t>
            </a:r>
            <a:r>
              <a:rPr lang="zh-CN" altLang="zh-CN" dirty="0">
                <a:solidFill>
                  <a:schemeClr val="tx1"/>
                </a:solidFill>
              </a:rPr>
              <a:t>把相关的功能封装为转换器（</a:t>
            </a:r>
            <a:r>
              <a:rPr lang="en-US" altLang="zh-CN" dirty="0">
                <a:solidFill>
                  <a:schemeClr val="tx1"/>
                </a:solidFill>
              </a:rPr>
              <a:t>transformer</a:t>
            </a:r>
            <a:r>
              <a:rPr lang="zh-CN" altLang="zh-CN" dirty="0">
                <a:solidFill>
                  <a:schemeClr val="tx1"/>
                </a:solidFill>
              </a:rPr>
              <a:t>）。使用</a:t>
            </a:r>
            <a:r>
              <a:rPr lang="en-US" altLang="zh-CN" dirty="0">
                <a:solidFill>
                  <a:schemeClr val="tx1"/>
                </a:solidFill>
              </a:rPr>
              <a:t>sklearn</a:t>
            </a:r>
            <a:r>
              <a:rPr lang="zh-CN" altLang="zh-CN" dirty="0">
                <a:solidFill>
                  <a:schemeClr val="tx1"/>
                </a:solidFill>
              </a:rPr>
              <a:t>转换器能够实现对传入的</a:t>
            </a:r>
            <a:r>
              <a:rPr lang="en-US" altLang="zh-CN" dirty="0">
                <a:solidFill>
                  <a:schemeClr val="tx1"/>
                </a:solidFill>
              </a:rPr>
              <a:t>NumPy</a:t>
            </a:r>
            <a:r>
              <a:rPr lang="zh-CN" altLang="zh-CN" dirty="0">
                <a:solidFill>
                  <a:schemeClr val="tx1"/>
                </a:solidFill>
              </a:rPr>
              <a:t>数组进行标准化处理</a:t>
            </a:r>
            <a:r>
              <a:rPr lang="zh-CN" altLang="en-US" dirty="0">
                <a:solidFill>
                  <a:schemeClr val="tx1"/>
                </a:solidFill>
              </a:rPr>
              <a:t>、</a:t>
            </a:r>
            <a:r>
              <a:rPr lang="zh-CN" altLang="zh-CN" dirty="0">
                <a:solidFill>
                  <a:schemeClr val="tx1"/>
                </a:solidFill>
              </a:rPr>
              <a:t>归一化处理</a:t>
            </a:r>
            <a:r>
              <a:rPr lang="zh-CN" altLang="en-US" dirty="0">
                <a:solidFill>
                  <a:schemeClr val="tx1"/>
                </a:solidFill>
              </a:rPr>
              <a:t>、</a:t>
            </a:r>
            <a:r>
              <a:rPr lang="zh-CN" altLang="zh-CN" dirty="0">
                <a:solidFill>
                  <a:schemeClr val="tx1"/>
                </a:solidFill>
              </a:rPr>
              <a:t>二值化处理</a:t>
            </a:r>
            <a:r>
              <a:rPr lang="zh-CN" altLang="en-US" dirty="0">
                <a:solidFill>
                  <a:schemeClr val="tx1"/>
                </a:solidFill>
              </a:rPr>
              <a:t>、</a:t>
            </a:r>
            <a:r>
              <a:rPr lang="en-US" altLang="zh-CN" dirty="0">
                <a:solidFill>
                  <a:schemeClr val="tx1"/>
                </a:solidFill>
              </a:rPr>
              <a:t>PCA</a:t>
            </a:r>
            <a:r>
              <a:rPr lang="zh-CN" altLang="zh-CN" dirty="0">
                <a:solidFill>
                  <a:schemeClr val="tx1"/>
                </a:solidFill>
              </a:rPr>
              <a:t>降维等操作。转换器主要包括三个方法</a:t>
            </a:r>
            <a:r>
              <a:rPr lang="zh-CN" altLang="en-US" dirty="0">
                <a:solidFill>
                  <a:schemeClr val="tx1"/>
                </a:solidFill>
              </a:rPr>
              <a:t>：</a:t>
            </a:r>
            <a:endParaRPr lang="zh-CN" altLang="en-US" dirty="0">
              <a:solidFill>
                <a:schemeClr val="tx1"/>
              </a:solidFill>
            </a:endParaRPr>
          </a:p>
        </p:txBody>
      </p:sp>
      <p:sp>
        <p:nvSpPr>
          <p:cNvPr id="17411" name="标题 2"/>
          <p:cNvSpPr>
            <a:spLocks noGrp="1"/>
          </p:cNvSpPr>
          <p:nvPr>
            <p:ph type="title"/>
          </p:nvPr>
        </p:nvSpPr>
        <p:spPr/>
        <p:txBody>
          <a:bodyPr/>
          <a:lstStyle/>
          <a:p>
            <a:r>
              <a:rPr lang="zh-CN" altLang="en-US" dirty="0">
                <a:solidFill>
                  <a:schemeClr val="tx1"/>
                </a:solidFill>
              </a:rPr>
              <a:t>使用</a:t>
            </a:r>
            <a:r>
              <a:rPr lang="en-US" altLang="zh-CN" dirty="0">
                <a:solidFill>
                  <a:schemeClr val="tx1"/>
                </a:solidFill>
              </a:rPr>
              <a:t>sklearn</a:t>
            </a:r>
            <a:r>
              <a:rPr lang="zh-CN" altLang="en-US" dirty="0">
                <a:solidFill>
                  <a:schemeClr val="tx1"/>
                </a:solidFill>
              </a:rPr>
              <a:t>转换器进行特征缩放</a:t>
            </a:r>
            <a:endParaRPr lang="zh-CN" altLang="en-US" dirty="0">
              <a:solidFill>
                <a:schemeClr val="tx1"/>
              </a:solidFill>
            </a:endParaRPr>
          </a:p>
        </p:txBody>
      </p:sp>
      <p:sp>
        <p:nvSpPr>
          <p:cNvPr id="17412" name="内容占位符 3"/>
          <p:cNvSpPr>
            <a:spLocks noGrp="1"/>
          </p:cNvSpPr>
          <p:nvPr>
            <p:ph idx="10"/>
          </p:nvPr>
        </p:nvSpPr>
        <p:spPr/>
        <p:txBody>
          <a:bodyPr/>
          <a:lstStyle/>
          <a:p>
            <a:r>
              <a:rPr lang="en-US" altLang="zh-CN" b="1" dirty="0">
                <a:solidFill>
                  <a:schemeClr val="tx1"/>
                </a:solidFill>
              </a:rPr>
              <a:t>sklearn</a:t>
            </a:r>
            <a:r>
              <a:rPr altLang="zh-CN" b="1" dirty="0">
                <a:solidFill>
                  <a:schemeClr val="tx1"/>
                </a:solidFill>
              </a:rPr>
              <a:t>转换器三个方法</a:t>
            </a:r>
            <a:endParaRPr b="1" dirty="0">
              <a:solidFill>
                <a:schemeClr val="tx1"/>
              </a:solidFill>
            </a:endParaRPr>
          </a:p>
        </p:txBody>
      </p:sp>
      <p:graphicFrame>
        <p:nvGraphicFramePr>
          <p:cNvPr id="5" name="表格 4"/>
          <p:cNvGraphicFramePr>
            <a:graphicFrameLocks noGrp="1"/>
          </p:cNvGraphicFramePr>
          <p:nvPr/>
        </p:nvGraphicFramePr>
        <p:xfrm>
          <a:off x="660399" y="2523504"/>
          <a:ext cx="10690469" cy="3291840"/>
        </p:xfrm>
        <a:graphic>
          <a:graphicData uri="http://schemas.openxmlformats.org/drawingml/2006/table">
            <a:tbl>
              <a:tblPr firstRow="1" firstCol="1" bandRow="1">
                <a:tableStyleId>{5C22544A-7EE6-4342-B048-85BDC9FD1C3A}</a:tableStyleId>
              </a:tblPr>
              <a:tblGrid>
                <a:gridCol w="1923496"/>
                <a:gridCol w="8766973"/>
              </a:tblGrid>
              <a:tr h="0">
                <a:tc>
                  <a:txBody>
                    <a:bodyPr/>
                    <a:lstStyle/>
                    <a:p>
                      <a:pPr algn="ctr">
                        <a:lnSpc>
                          <a:spcPct val="150000"/>
                        </a:lnSpc>
                        <a:spcAft>
                          <a:spcPts val="0"/>
                        </a:spcAft>
                      </a:pPr>
                      <a:r>
                        <a:rPr lang="zh-CN" sz="1600" kern="100" dirty="0">
                          <a:effectLst/>
                          <a:latin typeface="微软雅黑" panose="020B0503020204020204" pitchFamily="34" charset="-122"/>
                          <a:ea typeface="微软雅黑" panose="020B0503020204020204" pitchFamily="34" charset="-122"/>
                        </a:rPr>
                        <a:t>方法名称</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c>
                  <a:txBody>
                    <a:bodyPr/>
                    <a:lstStyle/>
                    <a:p>
                      <a:pPr algn="ctr">
                        <a:lnSpc>
                          <a:spcPct val="150000"/>
                        </a:lnSpc>
                        <a:spcAft>
                          <a:spcPts val="0"/>
                        </a:spcAft>
                      </a:pPr>
                      <a:r>
                        <a:rPr lang="zh-CN" sz="1600" kern="100" dirty="0">
                          <a:effectLst/>
                          <a:latin typeface="微软雅黑" panose="020B0503020204020204" pitchFamily="34" charset="-122"/>
                          <a:ea typeface="微软雅黑" panose="020B0503020204020204" pitchFamily="34" charset="-122"/>
                        </a:rPr>
                        <a:t>说明</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r>
              <a:tr h="0">
                <a:tc>
                  <a:txBody>
                    <a:bodyPr/>
                    <a:lstStyle/>
                    <a:p>
                      <a:pPr algn="ctr">
                        <a:lnSpc>
                          <a:spcPct val="150000"/>
                        </a:lnSpc>
                        <a:spcAft>
                          <a:spcPts val="0"/>
                        </a:spcAft>
                      </a:pPr>
                      <a:r>
                        <a:rPr lang="en-US" sz="1600" b="0" kern="100" dirty="0">
                          <a:effectLst/>
                          <a:latin typeface="微软雅黑" panose="020B0503020204020204" pitchFamily="34" charset="-122"/>
                          <a:ea typeface="微软雅黑" panose="020B0503020204020204" pitchFamily="34" charset="-122"/>
                        </a:rPr>
                        <a:t>fit</a:t>
                      </a:r>
                      <a:endParaRPr lang="zh-CN" sz="16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c>
                  <a:txBody>
                    <a:bodyPr/>
                    <a:lstStyle/>
                    <a:p>
                      <a:pPr algn="just">
                        <a:lnSpc>
                          <a:spcPct val="150000"/>
                        </a:lnSpc>
                        <a:spcAft>
                          <a:spcPts val="0"/>
                        </a:spcAft>
                      </a:pPr>
                      <a:r>
                        <a:rPr lang="en-US" sz="1600" kern="100">
                          <a:effectLst/>
                          <a:latin typeface="微软雅黑" panose="020B0503020204020204" pitchFamily="34" charset="-122"/>
                          <a:ea typeface="微软雅黑" panose="020B0503020204020204" pitchFamily="34" charset="-122"/>
                        </a:rPr>
                        <a:t>fit</a:t>
                      </a:r>
                      <a:r>
                        <a:rPr lang="zh-CN" sz="1600" kern="100">
                          <a:effectLst/>
                          <a:latin typeface="微软雅黑" panose="020B0503020204020204" pitchFamily="34" charset="-122"/>
                          <a:ea typeface="微软雅黑" panose="020B0503020204020204" pitchFamily="34" charset="-122"/>
                        </a:rPr>
                        <a:t>方法主要通过分析特征和目标值，提取有价值的信息，这些信息可以是统计量，也可以是权值系数等。</a:t>
                      </a:r>
                      <a:endParaRPr lang="zh-CN" sz="16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r>
              <a:tr h="0">
                <a:tc>
                  <a:txBody>
                    <a:bodyPr/>
                    <a:lstStyle/>
                    <a:p>
                      <a:pPr algn="ctr">
                        <a:lnSpc>
                          <a:spcPct val="150000"/>
                        </a:lnSpc>
                        <a:spcAft>
                          <a:spcPts val="0"/>
                        </a:spcAft>
                      </a:pPr>
                      <a:r>
                        <a:rPr lang="en-US" sz="1600" b="0" kern="100" dirty="0">
                          <a:effectLst/>
                          <a:latin typeface="微软雅黑" panose="020B0503020204020204" pitchFamily="34" charset="-122"/>
                          <a:ea typeface="微软雅黑" panose="020B0503020204020204" pitchFamily="34" charset="-122"/>
                        </a:rPr>
                        <a:t>transform</a:t>
                      </a:r>
                      <a:endParaRPr lang="zh-CN" sz="16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c>
                  <a:txBody>
                    <a:bodyPr/>
                    <a:lstStyle/>
                    <a:p>
                      <a:pPr algn="just">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transform</a:t>
                      </a:r>
                      <a:r>
                        <a:rPr lang="zh-CN" sz="1600" kern="100" dirty="0">
                          <a:effectLst/>
                          <a:latin typeface="微软雅黑" panose="020B0503020204020204" pitchFamily="34" charset="-122"/>
                          <a:ea typeface="微软雅黑" panose="020B0503020204020204" pitchFamily="34" charset="-122"/>
                        </a:rPr>
                        <a:t>方法主要用来对特征进行转换。从可利用信息的角度可分为无信息转换和有信息转换。无信息转换</a:t>
                      </a:r>
                      <a:r>
                        <a:rPr lang="zh-CN" altLang="en-US" sz="1600" kern="100" dirty="0">
                          <a:effectLst/>
                          <a:latin typeface="微软雅黑" panose="020B0503020204020204" pitchFamily="34" charset="-122"/>
                          <a:ea typeface="微软雅黑" panose="020B0503020204020204" pitchFamily="34" charset="-122"/>
                        </a:rPr>
                        <a:t>：</a:t>
                      </a:r>
                      <a:r>
                        <a:rPr lang="zh-CN" sz="1600" kern="100" dirty="0">
                          <a:effectLst/>
                          <a:latin typeface="微软雅黑" panose="020B0503020204020204" pitchFamily="34" charset="-122"/>
                          <a:ea typeface="微软雅黑" panose="020B0503020204020204" pitchFamily="34" charset="-122"/>
                        </a:rPr>
                        <a:t>是指不利用任何其他信息进行转换，比如指数和对数函数转换等。</a:t>
                      </a:r>
                      <a:endParaRPr lang="en-US" altLang="zh-CN" sz="1600" kern="100" dirty="0">
                        <a:effectLst/>
                        <a:latin typeface="微软雅黑" panose="020B0503020204020204" pitchFamily="34" charset="-122"/>
                        <a:ea typeface="微软雅黑" panose="020B0503020204020204" pitchFamily="34" charset="-122"/>
                      </a:endParaRPr>
                    </a:p>
                    <a:p>
                      <a:pPr algn="just">
                        <a:lnSpc>
                          <a:spcPct val="150000"/>
                        </a:lnSpc>
                        <a:spcAft>
                          <a:spcPts val="0"/>
                        </a:spcAft>
                      </a:pPr>
                      <a:r>
                        <a:rPr lang="zh-CN" sz="1600" kern="100" dirty="0">
                          <a:effectLst/>
                          <a:latin typeface="微软雅黑" panose="020B0503020204020204" pitchFamily="34" charset="-122"/>
                          <a:ea typeface="微软雅黑" panose="020B0503020204020204" pitchFamily="34" charset="-122"/>
                        </a:rPr>
                        <a:t>有信息转换</a:t>
                      </a:r>
                      <a:r>
                        <a:rPr lang="zh-CN" altLang="en-US" sz="1600" kern="100" dirty="0">
                          <a:effectLst/>
                          <a:latin typeface="微软雅黑" panose="020B0503020204020204" pitchFamily="34" charset="-122"/>
                          <a:ea typeface="微软雅黑" panose="020B0503020204020204" pitchFamily="34" charset="-122"/>
                        </a:rPr>
                        <a:t>：</a:t>
                      </a:r>
                      <a:r>
                        <a:rPr lang="zh-CN" sz="1600" kern="100" dirty="0">
                          <a:effectLst/>
                          <a:latin typeface="微软雅黑" panose="020B0503020204020204" pitchFamily="34" charset="-122"/>
                          <a:ea typeface="微软雅黑" panose="020B0503020204020204" pitchFamily="34" charset="-122"/>
                        </a:rPr>
                        <a:t>根据是否利用目标值向量又可分为无监督转换和有监督转换。无监督转换指只利用特征的统计信息的转换，比如标准化和</a:t>
                      </a:r>
                      <a:r>
                        <a:rPr lang="en-US" sz="1600" kern="100" dirty="0">
                          <a:effectLst/>
                          <a:latin typeface="微软雅黑" panose="020B0503020204020204" pitchFamily="34" charset="-122"/>
                          <a:ea typeface="微软雅黑" panose="020B0503020204020204" pitchFamily="34" charset="-122"/>
                        </a:rPr>
                        <a:t>PCA</a:t>
                      </a:r>
                      <a:r>
                        <a:rPr lang="zh-CN" sz="1600" kern="100" dirty="0">
                          <a:effectLst/>
                          <a:latin typeface="微软雅黑" panose="020B0503020204020204" pitchFamily="34" charset="-122"/>
                          <a:ea typeface="微软雅黑" panose="020B0503020204020204" pitchFamily="34" charset="-122"/>
                        </a:rPr>
                        <a:t>降维等。有监督转换指既利用了特征信息又利用了目标值信息的转换，比如通过模型选择特征和</a:t>
                      </a:r>
                      <a:r>
                        <a:rPr lang="en-US" sz="1600" kern="100" dirty="0">
                          <a:effectLst/>
                          <a:latin typeface="微软雅黑" panose="020B0503020204020204" pitchFamily="34" charset="-122"/>
                          <a:ea typeface="微软雅黑" panose="020B0503020204020204" pitchFamily="34" charset="-122"/>
                        </a:rPr>
                        <a:t>LDA</a:t>
                      </a:r>
                      <a:r>
                        <a:rPr lang="zh-CN" sz="1600" kern="100" dirty="0">
                          <a:effectLst/>
                          <a:latin typeface="微软雅黑" panose="020B0503020204020204" pitchFamily="34" charset="-122"/>
                          <a:ea typeface="微软雅黑" panose="020B0503020204020204" pitchFamily="34" charset="-122"/>
                        </a:rPr>
                        <a:t>降维等。</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r>
              <a:tr h="0">
                <a:tc>
                  <a:txBody>
                    <a:bodyPr/>
                    <a:lstStyle/>
                    <a:p>
                      <a:pPr algn="ctr">
                        <a:lnSpc>
                          <a:spcPct val="150000"/>
                        </a:lnSpc>
                        <a:spcAft>
                          <a:spcPts val="0"/>
                        </a:spcAft>
                      </a:pPr>
                      <a:r>
                        <a:rPr lang="en-US" sz="1600" b="0" kern="100" dirty="0" err="1">
                          <a:effectLst/>
                          <a:latin typeface="微软雅黑" panose="020B0503020204020204" pitchFamily="34" charset="-122"/>
                          <a:ea typeface="微软雅黑" panose="020B0503020204020204" pitchFamily="34" charset="-122"/>
                        </a:rPr>
                        <a:t>fit_transform</a:t>
                      </a:r>
                      <a:endParaRPr lang="zh-CN" sz="16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c>
                  <a:txBody>
                    <a:bodyPr/>
                    <a:lstStyle/>
                    <a:p>
                      <a:pPr algn="just">
                        <a:lnSpc>
                          <a:spcPct val="150000"/>
                        </a:lnSpc>
                        <a:spcAft>
                          <a:spcPts val="0"/>
                        </a:spcAft>
                      </a:pPr>
                      <a:r>
                        <a:rPr lang="en-US" sz="1600" kern="100" dirty="0" err="1">
                          <a:effectLst/>
                          <a:latin typeface="微软雅黑" panose="020B0503020204020204" pitchFamily="34" charset="-122"/>
                          <a:ea typeface="微软雅黑" panose="020B0503020204020204" pitchFamily="34" charset="-122"/>
                        </a:rPr>
                        <a:t>fit_transform</a:t>
                      </a:r>
                      <a:r>
                        <a:rPr lang="zh-CN" sz="1600" kern="100" dirty="0">
                          <a:effectLst/>
                          <a:latin typeface="微软雅黑" panose="020B0503020204020204" pitchFamily="34" charset="-122"/>
                          <a:ea typeface="微软雅黑" panose="020B0503020204020204" pitchFamily="34" charset="-122"/>
                        </a:rPr>
                        <a:t>方法就是先调用</a:t>
                      </a:r>
                      <a:r>
                        <a:rPr lang="en-US" sz="1600" kern="100" dirty="0">
                          <a:effectLst/>
                          <a:latin typeface="微软雅黑" panose="020B0503020204020204" pitchFamily="34" charset="-122"/>
                          <a:ea typeface="微软雅黑" panose="020B0503020204020204" pitchFamily="34" charset="-122"/>
                        </a:rPr>
                        <a:t>fit</a:t>
                      </a:r>
                      <a:r>
                        <a:rPr lang="zh-CN" sz="1600" kern="100" dirty="0">
                          <a:effectLst/>
                          <a:latin typeface="微软雅黑" panose="020B0503020204020204" pitchFamily="34" charset="-122"/>
                          <a:ea typeface="微软雅黑" panose="020B0503020204020204" pitchFamily="34" charset="-122"/>
                        </a:rPr>
                        <a:t>方法，然后调用</a:t>
                      </a:r>
                      <a:r>
                        <a:rPr lang="en-US" sz="1600" kern="100" dirty="0">
                          <a:effectLst/>
                          <a:latin typeface="微软雅黑" panose="020B0503020204020204" pitchFamily="34" charset="-122"/>
                          <a:ea typeface="微软雅黑" panose="020B0503020204020204" pitchFamily="34" charset="-122"/>
                        </a:rPr>
                        <a:t>transform</a:t>
                      </a:r>
                      <a:r>
                        <a:rPr lang="zh-CN" sz="1600" kern="100" dirty="0">
                          <a:effectLst/>
                          <a:latin typeface="微软雅黑" panose="020B0503020204020204" pitchFamily="34" charset="-122"/>
                          <a:ea typeface="微软雅黑" panose="020B0503020204020204" pitchFamily="34" charset="-122"/>
                        </a:rPr>
                        <a:t>方法。</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25946" marR="25946" marT="0" marB="0" anchor="ct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0262" y="1382245"/>
            <a:ext cx="4510518" cy="5060360"/>
          </a:xfrm>
          <a:prstGeom prst="rect">
            <a:avLst/>
          </a:prstGeom>
        </p:spPr>
        <p:txBody>
          <a:bodyPr vert="horz" wrap="square" lIns="0" tIns="165100" rIns="0" bIns="0" rtlCol="0">
            <a:spAutoFit/>
          </a:bodyPr>
          <a:lstStyle/>
          <a:p>
            <a:pPr marL="299085" indent="-286385">
              <a:spcBef>
                <a:spcPts val="1300"/>
              </a:spcBef>
              <a:buFont typeface="Wingdings" panose="05000000000000000000"/>
              <a:buChar char=""/>
              <a:tabLst>
                <a:tab pos="299085" algn="l"/>
                <a:tab pos="299720" algn="l"/>
              </a:tabLst>
            </a:pPr>
            <a:r>
              <a:rPr sz="2400" b="1" dirty="0">
                <a:latin typeface="Trebuchet MS" panose="020B0603020202020204"/>
                <a:cs typeface="Trebuchet MS" panose="020B0603020202020204"/>
              </a:rPr>
              <a:t>Standard Scaler</a:t>
            </a:r>
            <a:r>
              <a:rPr lang="zh-CN" altLang="en-US" sz="2400" b="1" dirty="0">
                <a:latin typeface="Trebuchet MS" panose="020B0603020202020204"/>
                <a:cs typeface="Trebuchet MS" panose="020B0603020202020204"/>
              </a:rPr>
              <a:t>：</a:t>
            </a:r>
            <a:r>
              <a:rPr lang="zh-CN" altLang="en-US" sz="2400" dirty="0">
                <a:latin typeface="Trebuchet MS" panose="020B0603020202020204"/>
                <a:cs typeface="Trebuchet MS" panose="020B0603020202020204"/>
              </a:rPr>
              <a:t>即标准化，尽量将数据转化为均值为</a:t>
            </a:r>
            <a:r>
              <a:rPr lang="en-US" altLang="zh-CN" sz="2400" dirty="0">
                <a:latin typeface="Trebuchet MS" panose="020B0603020202020204"/>
                <a:cs typeface="Trebuchet MS" panose="020B0603020202020204"/>
              </a:rPr>
              <a:t>0</a:t>
            </a:r>
            <a:r>
              <a:rPr lang="zh-CN" altLang="en-US" sz="2400" dirty="0">
                <a:latin typeface="Trebuchet MS" panose="020B0603020202020204"/>
                <a:cs typeface="Trebuchet MS" panose="020B0603020202020204"/>
              </a:rPr>
              <a:t>，方差为</a:t>
            </a:r>
            <a:r>
              <a:rPr lang="en-US" altLang="zh-CN" sz="2400" dirty="0">
                <a:latin typeface="Trebuchet MS" panose="020B0603020202020204"/>
                <a:cs typeface="Trebuchet MS" panose="020B0603020202020204"/>
              </a:rPr>
              <a:t>1</a:t>
            </a:r>
            <a:r>
              <a:rPr lang="zh-CN" altLang="en-US" sz="2400" dirty="0">
                <a:latin typeface="Trebuchet MS" panose="020B0603020202020204"/>
                <a:cs typeface="Trebuchet MS" panose="020B0603020202020204"/>
              </a:rPr>
              <a:t>的数据，形如标准正态分布（高斯分布）。</a:t>
            </a:r>
            <a:endParaRPr sz="2400" dirty="0">
              <a:latin typeface="Trebuchet MS" panose="020B0603020202020204"/>
              <a:cs typeface="Trebuchet MS" panose="020B0603020202020204"/>
            </a:endParaRPr>
          </a:p>
          <a:p>
            <a:pPr marL="299085" indent="-286385">
              <a:spcBef>
                <a:spcPts val="1205"/>
              </a:spcBef>
              <a:buFont typeface="Wingdings" panose="05000000000000000000"/>
              <a:buChar char=""/>
              <a:tabLst>
                <a:tab pos="299085" algn="l"/>
                <a:tab pos="299720" algn="l"/>
              </a:tabLst>
            </a:pPr>
            <a:r>
              <a:rPr sz="2400" b="1" dirty="0">
                <a:latin typeface="Trebuchet MS" panose="020B0603020202020204"/>
                <a:cs typeface="Trebuchet MS" panose="020B0603020202020204"/>
              </a:rPr>
              <a:t>Minimum-Maximum Scaler</a:t>
            </a:r>
            <a:r>
              <a:rPr lang="zh-CN" altLang="en-US" sz="2400" b="1" dirty="0">
                <a:latin typeface="Trebuchet MS" panose="020B0603020202020204"/>
                <a:cs typeface="Trebuchet MS" panose="020B0603020202020204"/>
              </a:rPr>
              <a:t>：</a:t>
            </a:r>
            <a:r>
              <a:rPr lang="zh-CN" altLang="en-US" sz="2400" dirty="0">
                <a:latin typeface="Trebuchet MS" panose="020B0603020202020204"/>
                <a:cs typeface="Trebuchet MS" panose="020B0603020202020204"/>
              </a:rPr>
              <a:t>将数据缩放到某一给定范围（通常是</a:t>
            </a:r>
            <a:r>
              <a:rPr lang="en-US" altLang="zh-CN" sz="2400" dirty="0">
                <a:latin typeface="Trebuchet MS" panose="020B0603020202020204"/>
                <a:cs typeface="Trebuchet MS" panose="020B0603020202020204"/>
              </a:rPr>
              <a:t>[</a:t>
            </a:r>
            <a:r>
              <a:rPr sz="2400" dirty="0">
                <a:latin typeface="Arial" panose="020B0604020202020204"/>
                <a:cs typeface="Arial" panose="020B0604020202020204"/>
              </a:rPr>
              <a:t>0</a:t>
            </a:r>
            <a:r>
              <a:rPr lang="en-US" altLang="zh-CN" sz="2400" dirty="0">
                <a:latin typeface="Arial" panose="020B0604020202020204"/>
                <a:cs typeface="Arial" panose="020B0604020202020204"/>
              </a:rPr>
              <a:t>, </a:t>
            </a:r>
            <a:r>
              <a:rPr sz="2400" dirty="0">
                <a:latin typeface="Arial" panose="020B0604020202020204"/>
                <a:cs typeface="Arial" panose="020B0604020202020204"/>
              </a:rPr>
              <a:t>1</a:t>
            </a:r>
            <a:r>
              <a:rPr lang="en-US" altLang="zh-CN" sz="2400" dirty="0">
                <a:latin typeface="Arial" panose="020B0604020202020204"/>
                <a:cs typeface="Arial" panose="020B0604020202020204"/>
              </a:rPr>
              <a:t>]</a:t>
            </a:r>
            <a:r>
              <a:rPr lang="zh-CN" altLang="en-US" sz="2400" dirty="0">
                <a:latin typeface="Arial" panose="020B0604020202020204"/>
                <a:cs typeface="Arial" panose="020B0604020202020204"/>
              </a:rPr>
              <a:t>）。</a:t>
            </a:r>
            <a:endParaRPr sz="2400" dirty="0">
              <a:latin typeface="Arial" panose="020B0604020202020204"/>
              <a:cs typeface="Arial" panose="020B0604020202020204"/>
            </a:endParaRPr>
          </a:p>
          <a:p>
            <a:pPr marL="299085" indent="-286385">
              <a:spcBef>
                <a:spcPts val="1200"/>
              </a:spcBef>
              <a:buFont typeface="Wingdings" panose="05000000000000000000"/>
              <a:buChar char=""/>
              <a:tabLst>
                <a:tab pos="299085" algn="l"/>
                <a:tab pos="299720" algn="l"/>
              </a:tabLst>
            </a:pPr>
            <a:r>
              <a:rPr sz="2400" b="1" dirty="0">
                <a:latin typeface="Trebuchet MS" panose="020B0603020202020204"/>
                <a:cs typeface="Trebuchet MS" panose="020B0603020202020204"/>
              </a:rPr>
              <a:t>Maximum Absolute Value Scaler</a:t>
            </a:r>
            <a:r>
              <a:rPr lang="zh-CN" altLang="en-US" sz="2400" b="1" dirty="0">
                <a:latin typeface="Trebuchet MS" panose="020B0603020202020204"/>
                <a:cs typeface="Trebuchet MS" panose="020B0603020202020204"/>
              </a:rPr>
              <a:t>：</a:t>
            </a:r>
            <a:r>
              <a:rPr lang="zh-CN" altLang="en-US" sz="2400" dirty="0">
                <a:latin typeface="Trebuchet MS" panose="020B0603020202020204"/>
                <a:cs typeface="Trebuchet MS" panose="020B0603020202020204"/>
              </a:rPr>
              <a:t>通过除以最大绝对值，将数据缩放到</a:t>
            </a:r>
            <a:r>
              <a:rPr lang="en-US" altLang="zh-CN" sz="2400" dirty="0">
                <a:latin typeface="Trebuchet MS" panose="020B0603020202020204"/>
                <a:cs typeface="Trebuchet MS" panose="020B0603020202020204"/>
              </a:rPr>
              <a:t>[-1, 1]</a:t>
            </a:r>
            <a:r>
              <a:rPr lang="zh-CN" altLang="en-US" sz="2400" dirty="0">
                <a:latin typeface="Trebuchet MS" panose="020B0603020202020204"/>
                <a:cs typeface="Trebuchet MS" panose="020B0603020202020204"/>
              </a:rPr>
              <a:t>。</a:t>
            </a:r>
            <a:endParaRPr lang="en-US" altLang="zh-CN" sz="2400" dirty="0">
              <a:latin typeface="Trebuchet MS" panose="020B0603020202020204"/>
              <a:cs typeface="Arial" panose="020B0604020202020204"/>
            </a:endParaRPr>
          </a:p>
          <a:p>
            <a:pPr marL="299085" indent="-286385">
              <a:spcBef>
                <a:spcPts val="1200"/>
              </a:spcBef>
              <a:buFont typeface="Wingdings" panose="05000000000000000000"/>
              <a:buChar char=""/>
              <a:tabLst>
                <a:tab pos="299085" algn="l"/>
                <a:tab pos="299720" algn="l"/>
              </a:tabLst>
            </a:pPr>
            <a:r>
              <a:rPr lang="zh-CN" altLang="en-US" sz="2400" dirty="0">
                <a:latin typeface="Trebuchet MS" panose="020B0603020202020204"/>
                <a:cs typeface="Arial" panose="020B0604020202020204"/>
              </a:rPr>
              <a:t>使各特征的数值都处于同一数量级上。</a:t>
            </a:r>
            <a:endParaRPr sz="2400" dirty="0">
              <a:latin typeface="Arial" panose="020B0604020202020204"/>
              <a:cs typeface="Arial" panose="020B0604020202020204"/>
            </a:endParaRPr>
          </a:p>
        </p:txBody>
      </p:sp>
      <p:sp>
        <p:nvSpPr>
          <p:cNvPr id="6" name="标题 5"/>
          <p:cNvSpPr>
            <a:spLocks noGrp="1"/>
          </p:cNvSpPr>
          <p:nvPr>
            <p:ph type="title"/>
          </p:nvPr>
        </p:nvSpPr>
        <p:spPr/>
        <p:txBody>
          <a:bodyPr/>
          <a:lstStyle/>
          <a:p>
            <a:r>
              <a:rPr lang="zh-CN" altLang="en-US" dirty="0"/>
              <a:t>特征缩放的不同方法</a:t>
            </a:r>
            <a:endParaRPr lang="zh-CN" altLang="en-US" dirty="0"/>
          </a:p>
        </p:txBody>
      </p:sp>
      <p:graphicFrame>
        <p:nvGraphicFramePr>
          <p:cNvPr id="4" name="内容占位符 4"/>
          <p:cNvGraphicFramePr>
            <a:graphicFrameLocks noGrp="1"/>
          </p:cNvGraphicFramePr>
          <p:nvPr>
            <p:ph idx="1"/>
          </p:nvPr>
        </p:nvGraphicFramePr>
        <p:xfrm>
          <a:off x="5130878" y="2086015"/>
          <a:ext cx="6577013" cy="3049588"/>
        </p:xfrm>
        <a:graphic>
          <a:graphicData uri="http://schemas.openxmlformats.org/drawingml/2006/table">
            <a:tbl>
              <a:tblPr firstRow="1" firstCol="1" bandRow="1">
                <a:tableStyleId>{5C22544A-7EE6-4342-B048-85BDC9FD1C3A}</a:tableStyleId>
              </a:tblPr>
              <a:tblGrid>
                <a:gridCol w="2951626"/>
                <a:gridCol w="3625387"/>
              </a:tblGrid>
              <a:tr h="432055">
                <a:tc>
                  <a:txBody>
                    <a:bodyPr/>
                    <a:lstStyle/>
                    <a:p>
                      <a:pPr algn="ctr">
                        <a:lnSpc>
                          <a:spcPct val="150000"/>
                        </a:lnSpc>
                        <a:spcAft>
                          <a:spcPts val="0"/>
                        </a:spcAft>
                      </a:pPr>
                      <a:r>
                        <a:rPr lang="zh-CN" sz="1800" kern="100" dirty="0">
                          <a:effectLst/>
                          <a:latin typeface="微软雅黑" panose="020B0503020204020204" pitchFamily="34" charset="-122"/>
                          <a:ea typeface="微软雅黑" panose="020B0503020204020204" pitchFamily="34" charset="-122"/>
                        </a:rPr>
                        <a:t>函数名称</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ctr">
                        <a:lnSpc>
                          <a:spcPct val="150000"/>
                        </a:lnSpc>
                        <a:spcAft>
                          <a:spcPts val="0"/>
                        </a:spcAft>
                      </a:pPr>
                      <a:r>
                        <a:rPr lang="zh-CN" sz="1800" kern="100" dirty="0">
                          <a:effectLst/>
                          <a:latin typeface="微软雅黑" panose="020B0503020204020204" pitchFamily="34" charset="-122"/>
                          <a:ea typeface="微软雅黑" panose="020B0503020204020204" pitchFamily="34" charset="-122"/>
                        </a:rPr>
                        <a:t>说明</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57258">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800" b="0" kern="100">
                          <a:effectLst/>
                          <a:latin typeface="微软雅黑" panose="020B0503020204020204" pitchFamily="34" charset="-122"/>
                          <a:ea typeface="微软雅黑" panose="020B0503020204020204" pitchFamily="34" charset="-122"/>
                        </a:rPr>
                        <a:t>StandardScaler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altLang="zh-CN" sz="2000" kern="100" dirty="0">
                          <a:effectLst/>
                          <a:latin typeface="微软雅黑" panose="020B0503020204020204" pitchFamily="34" charset="-122"/>
                          <a:ea typeface="微软雅黑" panose="020B0503020204020204" pitchFamily="34" charset="-122"/>
                        </a:rPr>
                        <a:t>对特征进行标准差</a:t>
                      </a:r>
                      <a:r>
                        <a:rPr lang="zh-CN" altLang="zh-CN" sz="1900" kern="1200" dirty="0">
                          <a:solidFill>
                            <a:schemeClr val="dk1"/>
                          </a:solidFill>
                          <a:effectLst/>
                          <a:latin typeface="微软雅黑" panose="020B0503020204020204" pitchFamily="34" charset="-122"/>
                          <a:ea typeface="微软雅黑" panose="020B0503020204020204" pitchFamily="34" charset="-122"/>
                          <a:cs typeface="+mn-cs"/>
                        </a:rPr>
                        <a:t>标准化</a:t>
                      </a:r>
                      <a:r>
                        <a:rPr lang="zh-CN" altLang="en-US" sz="1900" kern="1200" dirty="0">
                          <a:solidFill>
                            <a:schemeClr val="dk1"/>
                          </a:solidFill>
                          <a:effectLst/>
                          <a:latin typeface="微软雅黑" panose="020B0503020204020204" pitchFamily="34" charset="-122"/>
                          <a:ea typeface="微软雅黑" panose="020B0503020204020204" pitchFamily="34" charset="-122"/>
                          <a:cs typeface="+mn-cs"/>
                        </a:rPr>
                        <a:t>。</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32055">
                <a:tc>
                  <a:txBody>
                    <a:bodyPr/>
                    <a:lstStyle/>
                    <a:p>
                      <a:pPr algn="ctr">
                        <a:lnSpc>
                          <a:spcPct val="150000"/>
                        </a:lnSpc>
                        <a:spcAft>
                          <a:spcPts val="0"/>
                        </a:spcAft>
                      </a:pPr>
                      <a:r>
                        <a:rPr lang="en-US" altLang="zh-CN" sz="1800" b="0" kern="1200" dirty="0" err="1">
                          <a:solidFill>
                            <a:schemeClr val="lt1"/>
                          </a:solidFill>
                          <a:effectLst/>
                          <a:latin typeface="微软雅黑" panose="020B0503020204020204" pitchFamily="34" charset="-122"/>
                          <a:ea typeface="微软雅黑" panose="020B0503020204020204" pitchFamily="34" charset="-122"/>
                          <a:cs typeface="+mn-cs"/>
                        </a:rPr>
                        <a:t>MinMaxScaler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sz="1800" kern="100" dirty="0">
                          <a:effectLst/>
                          <a:latin typeface="微软雅黑" panose="020B0503020204020204" pitchFamily="34" charset="-122"/>
                          <a:ea typeface="微软雅黑" panose="020B0503020204020204" pitchFamily="34" charset="-122"/>
                        </a:rPr>
                        <a:t>对</a:t>
                      </a:r>
                      <a:r>
                        <a:rPr lang="zh-CN" sz="1800" kern="100">
                          <a:effectLst/>
                          <a:latin typeface="微软雅黑" panose="020B0503020204020204" pitchFamily="34" charset="-122"/>
                          <a:ea typeface="微软雅黑" panose="020B0503020204020204" pitchFamily="34" charset="-122"/>
                        </a:rPr>
                        <a:t>特征进行</a:t>
                      </a:r>
                      <a:r>
                        <a:rPr lang="zh-CN" altLang="zh-CN" sz="1800" kern="1200">
                          <a:solidFill>
                            <a:schemeClr val="dk1"/>
                          </a:solidFill>
                          <a:effectLst/>
                          <a:latin typeface="微软雅黑" panose="020B0503020204020204" pitchFamily="34" charset="-122"/>
                          <a:ea typeface="微软雅黑" panose="020B0503020204020204" pitchFamily="34" charset="-122"/>
                          <a:cs typeface="+mn-cs"/>
                        </a:rPr>
                        <a:t>离差</a:t>
                      </a:r>
                      <a:r>
                        <a:rPr lang="zh-CN" sz="1800" kern="100">
                          <a:effectLst/>
                          <a:latin typeface="微软雅黑" panose="020B0503020204020204" pitchFamily="34" charset="-122"/>
                          <a:ea typeface="微软雅黑" panose="020B0503020204020204" pitchFamily="34" charset="-122"/>
                        </a:rPr>
                        <a:t>标准化</a:t>
                      </a:r>
                      <a:r>
                        <a:rPr lang="zh-CN" sz="1800" kern="100" dirty="0">
                          <a:effectLst/>
                          <a:latin typeface="微软雅黑" panose="020B0503020204020204" pitchFamily="34" charset="-122"/>
                          <a:ea typeface="微软雅黑" panose="020B0503020204020204" pitchFamily="34" charset="-122"/>
                        </a:rPr>
                        <a:t>。</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32055">
                <a:tc>
                  <a:txBody>
                    <a:bodyPr/>
                    <a:lstStyle/>
                    <a:p>
                      <a:pPr algn="ctr">
                        <a:lnSpc>
                          <a:spcPct val="150000"/>
                        </a:lnSpc>
                        <a:spcAft>
                          <a:spcPts val="0"/>
                        </a:spcAft>
                      </a:pPr>
                      <a:r>
                        <a:rPr lang="en-US" sz="1800" b="0" kern="100" dirty="0">
                          <a:effectLst/>
                          <a:latin typeface="微软雅黑" panose="020B0503020204020204" pitchFamily="34" charset="-122"/>
                          <a:ea typeface="微软雅黑" panose="020B0503020204020204" pitchFamily="34" charset="-122"/>
                        </a:rPr>
                        <a:t>Normalizer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sz="1800" kern="100">
                          <a:effectLst/>
                          <a:latin typeface="微软雅黑" panose="020B0503020204020204" pitchFamily="34" charset="-122"/>
                          <a:ea typeface="微软雅黑" panose="020B0503020204020204" pitchFamily="34" charset="-122"/>
                        </a:rPr>
                        <a:t>对特征进行归一化。</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32055">
                <a:tc>
                  <a:txBody>
                    <a:bodyPr/>
                    <a:lstStyle/>
                    <a:p>
                      <a:pPr algn="ctr">
                        <a:lnSpc>
                          <a:spcPct val="150000"/>
                        </a:lnSpc>
                        <a:spcAft>
                          <a:spcPts val="0"/>
                        </a:spcAft>
                      </a:pPr>
                      <a:r>
                        <a:rPr lang="en-US" sz="1800" b="0" kern="100" dirty="0" err="1">
                          <a:effectLst/>
                          <a:latin typeface="微软雅黑" panose="020B0503020204020204" pitchFamily="34" charset="-122"/>
                          <a:ea typeface="微软雅黑" panose="020B0503020204020204" pitchFamily="34" charset="-122"/>
                        </a:rPr>
                        <a:t>Binarizer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sz="1800" kern="100">
                          <a:effectLst/>
                          <a:latin typeface="微软雅黑" panose="020B0503020204020204" pitchFamily="34" charset="-122"/>
                          <a:ea typeface="微软雅黑" panose="020B0503020204020204" pitchFamily="34" charset="-122"/>
                        </a:rPr>
                        <a:t>对定量特征进行二值化处理。</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32055">
                <a:tc>
                  <a:txBody>
                    <a:bodyPr/>
                    <a:lstStyle/>
                    <a:p>
                      <a:pPr algn="ctr">
                        <a:lnSpc>
                          <a:spcPct val="150000"/>
                        </a:lnSpc>
                        <a:spcAft>
                          <a:spcPts val="0"/>
                        </a:spcAft>
                      </a:pPr>
                      <a:r>
                        <a:rPr lang="en-US" sz="1800" b="0" kern="100" dirty="0" err="1">
                          <a:effectLst/>
                          <a:latin typeface="微软雅黑" panose="020B0503020204020204" pitchFamily="34" charset="-122"/>
                          <a:ea typeface="微软雅黑" panose="020B0503020204020204" pitchFamily="34" charset="-122"/>
                        </a:rPr>
                        <a:t>OneHotEncoder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sz="1800" kern="100">
                          <a:effectLst/>
                          <a:latin typeface="微软雅黑" panose="020B0503020204020204" pitchFamily="34" charset="-122"/>
                          <a:ea typeface="微软雅黑" panose="020B0503020204020204" pitchFamily="34" charset="-122"/>
                        </a:rPr>
                        <a:t>对定性特征进行独热编码处理。</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r h="432055">
                <a:tc>
                  <a:txBody>
                    <a:bodyPr/>
                    <a:lstStyle/>
                    <a:p>
                      <a:pPr algn="ctr">
                        <a:lnSpc>
                          <a:spcPct val="150000"/>
                        </a:lnSpc>
                        <a:spcAft>
                          <a:spcPts val="0"/>
                        </a:spcAft>
                      </a:pPr>
                      <a:r>
                        <a:rPr lang="en-US" sz="1800" b="0" kern="100" dirty="0" err="1">
                          <a:effectLst/>
                          <a:latin typeface="微软雅黑" panose="020B0503020204020204" pitchFamily="34" charset="-122"/>
                          <a:ea typeface="微软雅黑" panose="020B0503020204020204" pitchFamily="34" charset="-122"/>
                        </a:rPr>
                        <a:t>FunctionTransformer</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c>
                  <a:txBody>
                    <a:bodyPr/>
                    <a:lstStyle/>
                    <a:p>
                      <a:pPr algn="just">
                        <a:lnSpc>
                          <a:spcPct val="150000"/>
                        </a:lnSpc>
                        <a:spcAft>
                          <a:spcPts val="0"/>
                        </a:spcAft>
                      </a:pPr>
                      <a:r>
                        <a:rPr lang="zh-CN" sz="1800" kern="100" dirty="0">
                          <a:effectLst/>
                          <a:latin typeface="微软雅黑" panose="020B0503020204020204" pitchFamily="34" charset="-122"/>
                          <a:ea typeface="微软雅黑" panose="020B0503020204020204" pitchFamily="34" charset="-122"/>
                        </a:rPr>
                        <a:t>对特征进行自定义函数变换。</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73" marR="68573" marT="0" marB="0"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8199" y="984165"/>
            <a:ext cx="10657184" cy="4573688"/>
          </a:xfrm>
          <a:prstGeom prst="rect">
            <a:avLst/>
          </a:prstGeom>
        </p:spPr>
        <p:txBody>
          <a:bodyPr vert="horz" wrap="square" lIns="0" tIns="104775" rIns="0" bIns="0" rtlCol="0">
            <a:spAutoFit/>
          </a:bodyPr>
          <a:lstStyle/>
          <a:p>
            <a:pPr marL="12700">
              <a:spcBef>
                <a:spcPts val="825"/>
              </a:spcBef>
            </a:pPr>
            <a:r>
              <a:rPr lang="zh-CN" altLang="en-US" sz="2400" b="1" spc="20" dirty="0">
                <a:latin typeface="Trebuchet MS" panose="020B0603020202020204"/>
                <a:cs typeface="Trebuchet MS" panose="020B0603020202020204"/>
              </a:rPr>
              <a:t>导入包含缩放方法的类：</a:t>
            </a:r>
            <a:endParaRPr lang="en-US" altLang="zh-CN" sz="2400" b="1" spc="20" dirty="0">
              <a:latin typeface="Trebuchet MS" panose="020B0603020202020204"/>
              <a:cs typeface="Trebuchet MS" panose="020B0603020202020204"/>
            </a:endParaRPr>
          </a:p>
          <a:p>
            <a:pPr marL="12700">
              <a:spcBef>
                <a:spcPts val="825"/>
              </a:spcBef>
            </a:pPr>
            <a:r>
              <a:rPr lang="en-US" altLang="zh-CN" sz="2400" b="1" spc="20" dirty="0">
                <a:latin typeface="Trebuchet MS" panose="020B0603020202020204"/>
                <a:cs typeface="Courier New" panose="02070309020205020404"/>
              </a:rPr>
              <a:t>    </a:t>
            </a:r>
            <a:r>
              <a:rPr sz="2000" b="1" spc="-5" dirty="0">
                <a:latin typeface="Courier New" panose="02070309020205020404"/>
                <a:cs typeface="Courier New" panose="02070309020205020404"/>
              </a:rPr>
              <a:t>from sklearn.preprocessing import</a:t>
            </a:r>
            <a:r>
              <a:rPr sz="2000" b="1" spc="-70" dirty="0">
                <a:latin typeface="Courier New" panose="02070309020205020404"/>
                <a:cs typeface="Courier New" panose="02070309020205020404"/>
              </a:rPr>
              <a:t> </a:t>
            </a:r>
            <a:r>
              <a:rPr sz="2000" b="1" spc="-5" dirty="0">
                <a:solidFill>
                  <a:schemeClr val="accent1">
                    <a:lumMod val="50000"/>
                  </a:schemeClr>
                </a:solidFill>
                <a:latin typeface="Courier New" panose="02070309020205020404"/>
                <a:cs typeface="Courier New" panose="02070309020205020404"/>
              </a:rPr>
              <a:t>StandardScaler</a:t>
            </a:r>
            <a:endParaRPr sz="2000" dirty="0">
              <a:solidFill>
                <a:schemeClr val="accent1">
                  <a:lumMod val="50000"/>
                </a:schemeClr>
              </a:solidFill>
              <a:latin typeface="Courier New" panose="02070309020205020404"/>
              <a:cs typeface="Courier New" panose="02070309020205020404"/>
            </a:endParaRPr>
          </a:p>
          <a:p>
            <a:pPr>
              <a:spcBef>
                <a:spcPts val="50"/>
              </a:spcBef>
            </a:pPr>
            <a:endParaRPr sz="2400" dirty="0">
              <a:latin typeface="Times New Roman" panose="02020603050405020304"/>
              <a:cs typeface="Times New Roman" panose="02020603050405020304"/>
            </a:endParaRPr>
          </a:p>
          <a:p>
            <a:pPr marL="12700"/>
            <a:r>
              <a:rPr lang="zh-CN" altLang="en-US" sz="2400" b="1" spc="-30" dirty="0">
                <a:latin typeface="Trebuchet MS" panose="020B0603020202020204"/>
                <a:cs typeface="Trebuchet MS" panose="020B0603020202020204"/>
              </a:rPr>
              <a:t>创建该类的一个对象：</a:t>
            </a:r>
            <a:endParaRPr lang="en-US" altLang="zh-CN" sz="2400" b="1" spc="-30" dirty="0">
              <a:latin typeface="Trebuchet MS" panose="020B0603020202020204"/>
              <a:cs typeface="Trebuchet MS" panose="020B0603020202020204"/>
            </a:endParaRPr>
          </a:p>
          <a:p>
            <a:pPr marL="12700"/>
            <a:r>
              <a:rPr lang="en-US" altLang="zh-CN" sz="2400" b="1" spc="-30" dirty="0">
                <a:solidFill>
                  <a:srgbClr val="344B5E"/>
                </a:solidFill>
                <a:latin typeface="Trebuchet MS" panose="020B0603020202020204"/>
                <a:cs typeface="Courier New" panose="02070309020205020404"/>
              </a:rPr>
              <a:t>     </a:t>
            </a:r>
            <a:r>
              <a:rPr sz="2000" b="1" spc="-5" dirty="0" err="1">
                <a:solidFill>
                  <a:srgbClr val="344B5E"/>
                </a:solidFill>
                <a:latin typeface="Courier New" panose="02070309020205020404"/>
                <a:cs typeface="Courier New" panose="02070309020205020404"/>
              </a:rPr>
              <a:t>StdSc</a:t>
            </a:r>
            <a:r>
              <a:rPr sz="2000" b="1" spc="-5" dirty="0">
                <a:solidFill>
                  <a:srgbClr val="344B5E"/>
                </a:solidFill>
                <a:latin typeface="Courier New" panose="02070309020205020404"/>
                <a:cs typeface="Courier New" panose="02070309020205020404"/>
              </a:rPr>
              <a:t> </a:t>
            </a:r>
            <a:r>
              <a:rPr sz="2000" b="1" dirty="0">
                <a:solidFill>
                  <a:srgbClr val="009999"/>
                </a:solidFill>
                <a:latin typeface="Courier New" panose="02070309020205020404"/>
                <a:cs typeface="Courier New" panose="02070309020205020404"/>
              </a:rPr>
              <a:t>=</a:t>
            </a:r>
            <a:r>
              <a:rPr sz="2000" b="1" spc="-35" dirty="0">
                <a:solidFill>
                  <a:srgbClr val="84ADAF"/>
                </a:solidFill>
                <a:latin typeface="Courier New" panose="02070309020205020404"/>
                <a:cs typeface="Courier New" panose="02070309020205020404"/>
              </a:rPr>
              <a:t> </a:t>
            </a:r>
            <a:r>
              <a:rPr sz="2000" b="1" spc="-5" dirty="0">
                <a:solidFill>
                  <a:schemeClr val="accent1">
                    <a:lumMod val="50000"/>
                  </a:schemeClr>
                </a:solidFill>
                <a:latin typeface="Courier New" panose="02070309020205020404"/>
                <a:cs typeface="Courier New" panose="02070309020205020404"/>
              </a:rPr>
              <a:t>StandardScaler()</a:t>
            </a:r>
            <a:endParaRPr sz="2000" dirty="0">
              <a:solidFill>
                <a:schemeClr val="accent1">
                  <a:lumMod val="50000"/>
                </a:schemeClr>
              </a:solidFill>
              <a:latin typeface="Courier New" panose="02070309020205020404"/>
              <a:cs typeface="Courier New" panose="02070309020205020404"/>
            </a:endParaRPr>
          </a:p>
          <a:p>
            <a:pPr>
              <a:spcBef>
                <a:spcPts val="50"/>
              </a:spcBef>
            </a:pPr>
            <a:endParaRPr sz="2400" dirty="0">
              <a:latin typeface="Times New Roman" panose="02020603050405020304"/>
              <a:cs typeface="Times New Roman" panose="02020603050405020304"/>
            </a:endParaRPr>
          </a:p>
          <a:p>
            <a:pPr marL="12700"/>
            <a:r>
              <a:rPr lang="zh-CN" altLang="en-US" sz="2400" b="1" spc="-45" dirty="0">
                <a:latin typeface="Trebuchet MS" panose="020B0603020202020204"/>
                <a:cs typeface="Trebuchet MS" panose="020B0603020202020204"/>
              </a:rPr>
              <a:t>拟合缩放的参数，然后对数据做转换：</a:t>
            </a:r>
            <a:endParaRPr lang="en-US" altLang="zh-CN" sz="2400" b="1" spc="-45" dirty="0">
              <a:latin typeface="Trebuchet MS" panose="020B0603020202020204"/>
              <a:cs typeface="Trebuchet MS" panose="020B0603020202020204"/>
            </a:endParaRPr>
          </a:p>
          <a:p>
            <a:pPr marL="12700"/>
            <a:r>
              <a:rPr lang="en-US" altLang="zh-CN" sz="2400" b="1" spc="-45" dirty="0">
                <a:solidFill>
                  <a:srgbClr val="344B5E"/>
                </a:solidFill>
                <a:latin typeface="Trebuchet MS" panose="020B0603020202020204"/>
                <a:cs typeface="Courier New" panose="02070309020205020404"/>
              </a:rPr>
              <a:t>     </a:t>
            </a:r>
            <a:r>
              <a:rPr sz="2000" b="1" spc="-5" dirty="0" err="1">
                <a:solidFill>
                  <a:srgbClr val="344B5E"/>
                </a:solidFill>
                <a:latin typeface="Courier New" panose="02070309020205020404"/>
                <a:cs typeface="Courier New" panose="02070309020205020404"/>
              </a:rPr>
              <a:t>StdSc</a:t>
            </a:r>
            <a:r>
              <a:rPr sz="2000" b="1" spc="-5" dirty="0">
                <a:solidFill>
                  <a:srgbClr val="344B5E"/>
                </a:solidFill>
                <a:latin typeface="Courier New" panose="02070309020205020404"/>
                <a:cs typeface="Courier New" panose="02070309020205020404"/>
              </a:rPr>
              <a:t> </a:t>
            </a:r>
            <a:r>
              <a:rPr sz="2000" b="1" dirty="0">
                <a:latin typeface="Courier New" panose="02070309020205020404"/>
                <a:cs typeface="Courier New" panose="02070309020205020404"/>
              </a:rPr>
              <a:t>=</a:t>
            </a:r>
            <a:r>
              <a:rPr sz="2000" b="1" spc="-35" dirty="0">
                <a:solidFill>
                  <a:srgbClr val="84ADAF"/>
                </a:solidFill>
                <a:latin typeface="Courier New" panose="02070309020205020404"/>
                <a:cs typeface="Courier New" panose="02070309020205020404"/>
              </a:rPr>
              <a:t> </a:t>
            </a:r>
            <a:r>
              <a:rPr sz="2000" b="1" spc="-5" dirty="0">
                <a:solidFill>
                  <a:srgbClr val="344B5E"/>
                </a:solidFill>
                <a:latin typeface="Courier New" panose="02070309020205020404"/>
                <a:cs typeface="Courier New" panose="02070309020205020404"/>
              </a:rPr>
              <a:t>StdSc</a:t>
            </a:r>
            <a:r>
              <a:rPr sz="2000" b="1" spc="-5" dirty="0">
                <a:solidFill>
                  <a:srgbClr val="009999"/>
                </a:solidFill>
                <a:latin typeface="Courier New" panose="02070309020205020404"/>
                <a:cs typeface="Courier New" panose="02070309020205020404"/>
              </a:rPr>
              <a:t>.</a:t>
            </a:r>
            <a:r>
              <a:rPr sz="2000" b="1" spc="-5" dirty="0">
                <a:solidFill>
                  <a:srgbClr val="D0692F"/>
                </a:solidFill>
                <a:latin typeface="Courier New" panose="02070309020205020404"/>
                <a:cs typeface="Courier New" panose="02070309020205020404"/>
              </a:rPr>
              <a:t>fit</a:t>
            </a:r>
            <a:r>
              <a:rPr sz="2000" b="1" spc="-5" dirty="0">
                <a:solidFill>
                  <a:srgbClr val="009999"/>
                </a:solidFill>
                <a:latin typeface="Courier New" panose="02070309020205020404"/>
                <a:cs typeface="Courier New" panose="02070309020205020404"/>
              </a:rPr>
              <a:t>(X_data)</a:t>
            </a:r>
            <a:endParaRPr sz="2000" dirty="0">
              <a:solidFill>
                <a:srgbClr val="009999"/>
              </a:solidFill>
              <a:latin typeface="Courier New" panose="02070309020205020404"/>
              <a:cs typeface="Courier New" panose="02070309020205020404"/>
            </a:endParaRPr>
          </a:p>
          <a:p>
            <a:pPr marL="469900">
              <a:spcBef>
                <a:spcPts val="1200"/>
              </a:spcBef>
            </a:pPr>
            <a:r>
              <a:rPr sz="2000" b="1" spc="-5" dirty="0">
                <a:solidFill>
                  <a:schemeClr val="accent1">
                    <a:lumMod val="50000"/>
                  </a:schemeClr>
                </a:solidFill>
                <a:latin typeface="Courier New" panose="02070309020205020404"/>
                <a:cs typeface="Courier New" panose="02070309020205020404"/>
              </a:rPr>
              <a:t>X_scaled </a:t>
            </a:r>
            <a:r>
              <a:rPr sz="2000" b="1" dirty="0">
                <a:latin typeface="Courier New" panose="02070309020205020404"/>
                <a:cs typeface="Courier New" panose="02070309020205020404"/>
              </a:rPr>
              <a:t>=</a:t>
            </a:r>
            <a:r>
              <a:rPr sz="2000" b="1" spc="-35" dirty="0">
                <a:solidFill>
                  <a:srgbClr val="84ADAF"/>
                </a:solidFill>
                <a:latin typeface="Courier New" panose="02070309020205020404"/>
                <a:cs typeface="Courier New" panose="02070309020205020404"/>
              </a:rPr>
              <a:t> </a:t>
            </a:r>
            <a:r>
              <a:rPr lang="en-US" sz="2000" b="1" spc="-5" dirty="0" err="1">
                <a:solidFill>
                  <a:srgbClr val="344B5E"/>
                </a:solidFill>
                <a:latin typeface="Courier New" panose="02070309020205020404"/>
                <a:cs typeface="Courier New" panose="02070309020205020404"/>
              </a:rPr>
              <a:t>StdSc</a:t>
            </a:r>
            <a:r>
              <a:rPr sz="2000" b="1" spc="-5" dirty="0" err="1">
                <a:solidFill>
                  <a:srgbClr val="009999"/>
                </a:solidFill>
                <a:latin typeface="Courier New" panose="02070309020205020404"/>
                <a:cs typeface="Courier New" panose="02070309020205020404"/>
              </a:rPr>
              <a:t>.</a:t>
            </a:r>
            <a:r>
              <a:rPr sz="2000" b="1" spc="-5" dirty="0" err="1">
                <a:solidFill>
                  <a:srgbClr val="D0692F"/>
                </a:solidFill>
                <a:latin typeface="Courier New" panose="02070309020205020404"/>
                <a:cs typeface="Courier New" panose="02070309020205020404"/>
              </a:rPr>
              <a:t>transform</a:t>
            </a:r>
            <a:r>
              <a:rPr sz="2000" b="1" spc="-5" dirty="0">
                <a:solidFill>
                  <a:srgbClr val="009999"/>
                </a:solidFill>
                <a:latin typeface="Courier New" panose="02070309020205020404"/>
                <a:cs typeface="Courier New" panose="02070309020205020404"/>
              </a:rPr>
              <a:t>(</a:t>
            </a:r>
            <a:r>
              <a:rPr sz="2000" b="1" spc="-5" dirty="0" err="1">
                <a:solidFill>
                  <a:srgbClr val="009999"/>
                </a:solidFill>
                <a:latin typeface="Courier New" panose="02070309020205020404"/>
                <a:cs typeface="Courier New" panose="02070309020205020404"/>
              </a:rPr>
              <a:t>X_data</a:t>
            </a:r>
            <a:r>
              <a:rPr sz="2000" b="1" spc="-5" dirty="0">
                <a:solidFill>
                  <a:srgbClr val="009999"/>
                </a:solidFill>
                <a:latin typeface="Courier New" panose="02070309020205020404"/>
                <a:cs typeface="Courier New" panose="02070309020205020404"/>
              </a:rPr>
              <a:t>)</a:t>
            </a:r>
            <a:endParaRPr lang="en-US" altLang="zh-CN" sz="2000" b="1" spc="-5" dirty="0">
              <a:solidFill>
                <a:srgbClr val="009999"/>
              </a:solidFill>
              <a:latin typeface="Courier New" panose="02070309020205020404"/>
              <a:cs typeface="Courier New" panose="02070309020205020404"/>
            </a:endParaRPr>
          </a:p>
          <a:p>
            <a:pPr marL="469900">
              <a:spcBef>
                <a:spcPts val="1200"/>
              </a:spcBef>
            </a:pPr>
            <a:endParaRPr lang="en-US" altLang="zh-CN" sz="2000" b="1" spc="-5" dirty="0">
              <a:solidFill>
                <a:schemeClr val="accent1">
                  <a:lumMod val="50000"/>
                </a:schemeClr>
              </a:solidFill>
              <a:latin typeface="Courier New" panose="02070309020205020404"/>
              <a:cs typeface="Courier New" panose="02070309020205020404"/>
            </a:endParaRPr>
          </a:p>
          <a:p>
            <a:pPr marL="469900">
              <a:spcBef>
                <a:spcPts val="1200"/>
              </a:spcBef>
            </a:pPr>
            <a:r>
              <a:rPr lang="zh-CN" altLang="en-US" sz="2000" b="1" spc="-5" dirty="0">
                <a:solidFill>
                  <a:schemeClr val="accent1">
                    <a:lumMod val="50000"/>
                  </a:schemeClr>
                </a:solidFill>
                <a:latin typeface="Courier New" panose="02070309020205020404"/>
                <a:cs typeface="Courier New" panose="02070309020205020404"/>
              </a:rPr>
              <a:t>或者 </a:t>
            </a:r>
            <a:r>
              <a:rPr lang="en-US" altLang="zh-CN" sz="2000" b="1" spc="-5" dirty="0" err="1">
                <a:solidFill>
                  <a:schemeClr val="accent1">
                    <a:lumMod val="50000"/>
                  </a:schemeClr>
                </a:solidFill>
                <a:latin typeface="Courier New" panose="02070309020205020404"/>
                <a:cs typeface="Courier New" panose="02070309020205020404"/>
              </a:rPr>
              <a:t>X_scaled</a:t>
            </a:r>
            <a:r>
              <a:rPr lang="en-US" altLang="zh-CN" sz="2000" b="1" spc="-5" dirty="0">
                <a:solidFill>
                  <a:schemeClr val="accent1">
                    <a:lumMod val="50000"/>
                  </a:schemeClr>
                </a:solidFill>
                <a:latin typeface="Courier New" panose="02070309020205020404"/>
                <a:cs typeface="Courier New" panose="02070309020205020404"/>
              </a:rPr>
              <a:t> </a:t>
            </a:r>
            <a:r>
              <a:rPr lang="en-US" altLang="zh-CN" sz="2000" b="1" dirty="0">
                <a:latin typeface="Courier New" panose="02070309020205020404"/>
                <a:cs typeface="Courier New" panose="02070309020205020404"/>
              </a:rPr>
              <a:t>=</a:t>
            </a:r>
            <a:r>
              <a:rPr lang="en-US" altLang="zh-CN" sz="2000" b="1" spc="-35" dirty="0">
                <a:solidFill>
                  <a:srgbClr val="84ADAF"/>
                </a:solidFill>
                <a:latin typeface="Courier New" panose="02070309020205020404"/>
                <a:cs typeface="Courier New" panose="02070309020205020404"/>
              </a:rPr>
              <a:t> </a:t>
            </a:r>
            <a:r>
              <a:rPr lang="en-US" altLang="zh-CN" sz="2000" b="1" spc="-5" dirty="0" err="1">
                <a:solidFill>
                  <a:srgbClr val="344B5E"/>
                </a:solidFill>
                <a:latin typeface="Courier New" panose="02070309020205020404"/>
                <a:cs typeface="Courier New" panose="02070309020205020404"/>
              </a:rPr>
              <a:t>StdSc</a:t>
            </a:r>
            <a:r>
              <a:rPr lang="en-US" altLang="zh-CN" sz="2000" b="1" spc="-5" dirty="0" err="1">
                <a:solidFill>
                  <a:srgbClr val="009999"/>
                </a:solidFill>
                <a:latin typeface="Courier New" panose="02070309020205020404"/>
                <a:cs typeface="Courier New" panose="02070309020205020404"/>
              </a:rPr>
              <a:t>.</a:t>
            </a:r>
            <a:r>
              <a:rPr lang="en-US" altLang="zh-CN" sz="2000" b="1" spc="-5" dirty="0" err="1">
                <a:solidFill>
                  <a:srgbClr val="D0692F"/>
                </a:solidFill>
                <a:latin typeface="Courier New" panose="02070309020205020404"/>
                <a:cs typeface="Courier New" panose="02070309020205020404"/>
              </a:rPr>
              <a:t>fit_transform</a:t>
            </a:r>
            <a:r>
              <a:rPr lang="en-US" altLang="zh-CN" sz="2000" b="1" spc="-5" dirty="0">
                <a:solidFill>
                  <a:srgbClr val="009999"/>
                </a:solidFill>
                <a:latin typeface="Courier New" panose="02070309020205020404"/>
                <a:cs typeface="Courier New" panose="02070309020205020404"/>
              </a:rPr>
              <a:t>(</a:t>
            </a:r>
            <a:r>
              <a:rPr lang="en-US" altLang="zh-CN" sz="2000" b="1" spc="-5" dirty="0" err="1">
                <a:solidFill>
                  <a:srgbClr val="009999"/>
                </a:solidFill>
                <a:latin typeface="Courier New" panose="02070309020205020404"/>
                <a:cs typeface="Courier New" panose="02070309020205020404"/>
              </a:rPr>
              <a:t>X_data</a:t>
            </a:r>
            <a:r>
              <a:rPr lang="en-US" altLang="zh-CN" sz="2000" b="1" spc="-5" dirty="0">
                <a:solidFill>
                  <a:srgbClr val="009999"/>
                </a:solidFill>
                <a:latin typeface="Courier New" panose="02070309020205020404"/>
                <a:cs typeface="Courier New" panose="02070309020205020404"/>
              </a:rPr>
              <a:t>)</a:t>
            </a:r>
            <a:endParaRPr lang="en-US" altLang="zh-CN" sz="2000" b="1" spc="-5" dirty="0">
              <a:solidFill>
                <a:srgbClr val="009999"/>
              </a:solidFill>
              <a:latin typeface="Courier New" panose="02070309020205020404"/>
              <a:cs typeface="Courier New" panose="02070309020205020404"/>
            </a:endParaRPr>
          </a:p>
        </p:txBody>
      </p:sp>
      <p:sp>
        <p:nvSpPr>
          <p:cNvPr id="6" name="标题 5"/>
          <p:cNvSpPr>
            <a:spLocks noGrp="1"/>
          </p:cNvSpPr>
          <p:nvPr>
            <p:ph type="title"/>
          </p:nvPr>
        </p:nvSpPr>
        <p:spPr/>
        <p:txBody>
          <a:bodyPr/>
          <a:lstStyle/>
          <a:p>
            <a:r>
              <a:rPr lang="zh-CN" altLang="en-US" dirty="0"/>
              <a:t>特征缩放的语法</a:t>
            </a:r>
            <a:endParaRPr lang="zh-CN" altLang="en-US" dirty="0"/>
          </a:p>
        </p:txBody>
      </p:sp>
      <p:sp>
        <p:nvSpPr>
          <p:cNvPr id="4" name="object 4"/>
          <p:cNvSpPr txBox="1"/>
          <p:nvPr/>
        </p:nvSpPr>
        <p:spPr>
          <a:xfrm>
            <a:off x="1934669" y="5861971"/>
            <a:ext cx="7140635" cy="320601"/>
          </a:xfrm>
          <a:prstGeom prst="rect">
            <a:avLst/>
          </a:prstGeom>
        </p:spPr>
        <p:txBody>
          <a:bodyPr vert="horz" wrap="square" lIns="0" tIns="12700" rIns="0" bIns="0" rtlCol="0">
            <a:spAutoFit/>
          </a:bodyPr>
          <a:lstStyle/>
          <a:p>
            <a:pPr marL="12700">
              <a:spcBef>
                <a:spcPts val="100"/>
              </a:spcBef>
            </a:pPr>
            <a:r>
              <a:rPr lang="zh-CN" altLang="en-US" sz="2000" b="1" spc="-5" dirty="0">
                <a:latin typeface="Trebuchet MS" panose="020B0603020202020204"/>
                <a:cs typeface="Trebuchet MS" panose="020B0603020202020204"/>
              </a:rPr>
              <a:t>其他缩放方法</a:t>
            </a:r>
            <a:r>
              <a:rPr sz="2000" b="1" spc="-55" dirty="0">
                <a:latin typeface="Trebuchet MS" panose="020B0603020202020204"/>
                <a:cs typeface="Trebuchet MS" panose="020B0603020202020204"/>
              </a:rPr>
              <a:t>: </a:t>
            </a:r>
            <a:r>
              <a:rPr sz="2000" b="1" spc="10" dirty="0">
                <a:solidFill>
                  <a:srgbClr val="00ADEE"/>
                </a:solidFill>
                <a:latin typeface="Trebuchet MS" panose="020B0603020202020204"/>
                <a:cs typeface="Trebuchet MS" panose="020B0603020202020204"/>
              </a:rPr>
              <a:t>MinMaxScaler</a:t>
            </a:r>
            <a:r>
              <a:rPr sz="2000" b="1" spc="10" dirty="0">
                <a:solidFill>
                  <a:srgbClr val="84ADAF"/>
                </a:solidFill>
                <a:latin typeface="Trebuchet MS" panose="020B0603020202020204"/>
                <a:cs typeface="Trebuchet MS" panose="020B0603020202020204"/>
              </a:rPr>
              <a:t>, </a:t>
            </a:r>
            <a:r>
              <a:rPr sz="2000" b="1" spc="15" dirty="0">
                <a:solidFill>
                  <a:srgbClr val="00ADEE"/>
                </a:solidFill>
                <a:latin typeface="Trebuchet MS" panose="020B0603020202020204"/>
                <a:cs typeface="Trebuchet MS" panose="020B0603020202020204"/>
              </a:rPr>
              <a:t>MaxAbsScaler</a:t>
            </a:r>
            <a:r>
              <a:rPr sz="2000" b="1" spc="15" dirty="0">
                <a:solidFill>
                  <a:srgbClr val="84ADAF"/>
                </a:solidFill>
                <a:latin typeface="Trebuchet MS" panose="020B0603020202020204"/>
                <a:cs typeface="Trebuchet MS" panose="020B0603020202020204"/>
              </a:rPr>
              <a:t>.</a:t>
            </a:r>
            <a:endParaRPr sz="2000" dirty="0">
              <a:latin typeface="Trebuchet MS" panose="020B0603020202020204"/>
              <a:cs typeface="Trebuchet MS" panose="020B060302020202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05</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算法实例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354015" y="893250"/>
            <a:ext cx="9967546" cy="56178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66093" y="981990"/>
            <a:ext cx="9633438" cy="541880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283677" y="928556"/>
            <a:ext cx="9914792" cy="557410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406768" y="1176519"/>
            <a:ext cx="9756531" cy="548804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521069" y="986822"/>
            <a:ext cx="9707909" cy="546673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案例研究：电影分类</a:t>
            </a:r>
            <a:endParaRPr lang="zh-CN" altLang="en-US" dirty="0"/>
          </a:p>
        </p:txBody>
      </p:sp>
      <p:sp>
        <p:nvSpPr>
          <p:cNvPr id="4" name="内容占位符 3"/>
          <p:cNvSpPr>
            <a:spLocks noGrp="1"/>
          </p:cNvSpPr>
          <p:nvPr>
            <p:ph idx="1"/>
          </p:nvPr>
        </p:nvSpPr>
        <p:spPr>
          <a:xfrm>
            <a:off x="0" y="1136469"/>
            <a:ext cx="10972800" cy="5204696"/>
          </a:xfrm>
        </p:spPr>
        <p:txBody>
          <a:bodyPr/>
          <a:lstStyle/>
          <a:p>
            <a:r>
              <a:rPr lang="zh-CN" altLang="en-US" sz="2400" b="1" dirty="0">
                <a:latin typeface="华光仿宋_CNKI" panose="02000500000000000000" pitchFamily="2" charset="-122"/>
                <a:ea typeface="华光仿宋_CNKI" panose="02000500000000000000" pitchFamily="2" charset="-122"/>
              </a:rPr>
              <a:t>创建训练集</a:t>
            </a:r>
            <a:r>
              <a:rPr lang="en-US" altLang="zh-CN" sz="2400" b="1" dirty="0">
                <a:latin typeface="华光仿宋_CNKI" panose="02000500000000000000" pitchFamily="2" charset="-122"/>
                <a:ea typeface="华光仿宋_CNKI" panose="02000500000000000000" pitchFamily="2" charset="-122"/>
              </a:rPr>
              <a:t>,</a:t>
            </a:r>
            <a:r>
              <a:rPr lang="zh-CN" altLang="en-US" sz="2400" b="1" dirty="0">
                <a:latin typeface="华光仿宋_CNKI" panose="02000500000000000000" pitchFamily="2" charset="-122"/>
                <a:ea typeface="华光仿宋_CNKI" panose="02000500000000000000" pitchFamily="2" charset="-122"/>
              </a:rPr>
              <a:t>特征值分别为搞笑镜头、拥抱镜头、打斗镜头的数量</a:t>
            </a:r>
            <a:endParaRPr lang="zh-CN" altLang="en-US" sz="2400" b="1" dirty="0">
              <a:latin typeface="华光仿宋_CNKI" panose="02000500000000000000" pitchFamily="2" charset="-122"/>
              <a:ea typeface="华光仿宋_CNKI" panose="02000500000000000000" pitchFamily="2" charset="-122"/>
            </a:endParaRPr>
          </a:p>
          <a:p>
            <a:r>
              <a:rPr lang="zh-CN" altLang="en-US" dirty="0">
                <a:solidFill>
                  <a:srgbClr val="D4D4D4"/>
                </a:solidFill>
                <a:latin typeface="Consolas" panose="020B0609020204030204" pitchFamily="49" charset="0"/>
              </a:rPr>
              <a:t>  </a:t>
            </a:r>
            <a:r>
              <a:rPr lang="en-US" altLang="zh-CN" sz="2000" b="1" dirty="0" err="1">
                <a:latin typeface="华光仿宋_CNKI" panose="02000500000000000000" pitchFamily="2" charset="-122"/>
                <a:ea typeface="华光仿宋_CNKI" panose="02000500000000000000" pitchFamily="2" charset="-122"/>
              </a:rPr>
              <a:t>learning_dataset</a:t>
            </a:r>
            <a:r>
              <a:rPr lang="en-US" altLang="zh-CN" sz="2000" dirty="0">
                <a:solidFill>
                  <a:srgbClr val="D4D4D4"/>
                </a:solidFill>
                <a:latin typeface="华光仿宋_CNKI" panose="02000500000000000000" pitchFamily="2" charset="-122"/>
                <a:ea typeface="华光仿宋_CNKI" panose="02000500000000000000" pitchFamily="2" charset="-122"/>
              </a:rPr>
              <a:t> = </a:t>
            </a:r>
            <a:r>
              <a:rPr lang="en-US" altLang="zh-CN" sz="2000" dirty="0">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宝贝当家</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[45, 2, 9,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美人鱼</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[21, 17, 5,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澳门风云</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[54, 9, 11,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功夫熊猫</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[39, 0, 31,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谍影重重</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[5, 2, 57,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叶问</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[3, 2, 65,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伦敦陷落</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[2, 3, 55,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我的特工爷爷</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[6, 4, 21,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奔爱</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[7, 46, 4,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夜孔雀</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[9, 39, 8,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代理情人</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[9, 38, 2,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新步步惊心</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[8, 34, 17,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b="0" dirty="0">
              <a:effectLst/>
              <a:latin typeface="华光仿宋_CNKI" panose="02000500000000000000" pitchFamily="2" charset="-122"/>
              <a:ea typeface="华光仿宋_CNKI" panose="02000500000000000000" pitchFamily="2" charset="-122"/>
            </a:endParaRPr>
          </a:p>
        </p:txBody>
      </p:sp>
      <p:pic>
        <p:nvPicPr>
          <p:cNvPr id="5" name="图片 4"/>
          <p:cNvPicPr>
            <a:picLocks noChangeAspect="1"/>
          </p:cNvPicPr>
          <p:nvPr/>
        </p:nvPicPr>
        <p:blipFill>
          <a:blip r:embed="rId1"/>
          <a:stretch>
            <a:fillRect/>
          </a:stretch>
        </p:blipFill>
        <p:spPr>
          <a:xfrm>
            <a:off x="6723414" y="5400827"/>
            <a:ext cx="5468586" cy="536494"/>
          </a:xfrm>
          <a:prstGeom prst="rect">
            <a:avLst/>
          </a:prstGeom>
          <a:solidFill>
            <a:schemeClr val="accent6">
              <a:lumMod val="85000"/>
            </a:schemeClr>
          </a:solidFill>
        </p:spPr>
      </p:pic>
      <p:sp>
        <p:nvSpPr>
          <p:cNvPr id="6" name="文本框 5"/>
          <p:cNvSpPr txBox="1"/>
          <p:nvPr/>
        </p:nvSpPr>
        <p:spPr>
          <a:xfrm>
            <a:off x="6723414" y="4796928"/>
            <a:ext cx="1843774" cy="400110"/>
          </a:xfrm>
          <a:prstGeom prst="rect">
            <a:avLst/>
          </a:prstGeom>
          <a:solidFill>
            <a:schemeClr val="accent6">
              <a:lumMod val="85000"/>
            </a:schemeClr>
          </a:solidFill>
        </p:spPr>
        <p:txBody>
          <a:bodyPr wrap="none" rtlCol="0">
            <a:spAutoFit/>
          </a:bodyPr>
          <a:lstStyle/>
          <a:p>
            <a:r>
              <a:rPr lang="zh-CN" altLang="en-US" sz="2000" b="1" dirty="0">
                <a:solidFill>
                  <a:srgbClr val="FF0000"/>
                </a:solidFill>
                <a:latin typeface="华光仿宋_CNKI" panose="02000500000000000000" pitchFamily="2" charset="-122"/>
                <a:ea typeface="华光仿宋_CNKI" panose="02000500000000000000" pitchFamily="2" charset="-122"/>
              </a:rPr>
              <a:t>使用</a:t>
            </a:r>
            <a:r>
              <a:rPr lang="en-US" altLang="zh-CN" sz="2000" b="1" dirty="0">
                <a:solidFill>
                  <a:srgbClr val="FF0000"/>
                </a:solidFill>
                <a:latin typeface="华光仿宋_CNKI" panose="02000500000000000000" pitchFamily="2" charset="-122"/>
                <a:ea typeface="华光仿宋_CNKI" panose="02000500000000000000" pitchFamily="2" charset="-122"/>
              </a:rPr>
              <a:t>KNN</a:t>
            </a:r>
            <a:r>
              <a:rPr lang="zh-CN" altLang="en-US" sz="2000" b="1" dirty="0">
                <a:solidFill>
                  <a:srgbClr val="FF0000"/>
                </a:solidFill>
                <a:latin typeface="华光仿宋_CNKI" panose="02000500000000000000" pitchFamily="2" charset="-122"/>
                <a:ea typeface="华光仿宋_CNKI" panose="02000500000000000000" pitchFamily="2" charset="-122"/>
              </a:rPr>
              <a:t>判断</a:t>
            </a:r>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案例研究：鸢尾花数据集</a:t>
            </a:r>
            <a:endParaRPr lang="zh-CN" altLang="en-US" dirty="0"/>
          </a:p>
        </p:txBody>
      </p:sp>
      <p:sp>
        <p:nvSpPr>
          <p:cNvPr id="3" name="内容占位符 2"/>
          <p:cNvSpPr>
            <a:spLocks noGrp="1"/>
          </p:cNvSpPr>
          <p:nvPr>
            <p:ph idx="1"/>
          </p:nvPr>
        </p:nvSpPr>
        <p:spPr/>
        <p:txBody>
          <a:bodyPr>
            <a:normAutofit/>
          </a:bodyPr>
          <a:lstStyle/>
          <a:p>
            <a:r>
              <a:rPr lang="en-US" altLang="zh-CN" b="1" dirty="0"/>
              <a:t>150</a:t>
            </a:r>
            <a:r>
              <a:rPr lang="zh-CN" altLang="en-US" b="1" dirty="0"/>
              <a:t>个鸢尾花样例 </a:t>
            </a:r>
            <a:r>
              <a:rPr lang="en-US" altLang="zh-CN" dirty="0" err="1"/>
              <a:t>load_iris</a:t>
            </a:r>
            <a:r>
              <a:rPr lang="en-US" altLang="zh-CN" dirty="0"/>
              <a:t>()</a:t>
            </a:r>
            <a:endParaRPr lang="en-US" altLang="zh-CN" dirty="0"/>
          </a:p>
          <a:p>
            <a:r>
              <a:rPr lang="zh-CN" altLang="en-US" b="1" dirty="0"/>
              <a:t>来自</a:t>
            </a:r>
            <a:r>
              <a:rPr lang="en-US" altLang="zh-CN" b="1" dirty="0"/>
              <a:t>3</a:t>
            </a:r>
            <a:r>
              <a:rPr lang="zh-CN" altLang="en-US" b="1" dirty="0"/>
              <a:t>个不同的属种</a:t>
            </a:r>
            <a:endParaRPr lang="en-US" altLang="zh-CN" b="1" dirty="0"/>
          </a:p>
          <a:p>
            <a:pPr lvl="1"/>
            <a:r>
              <a:rPr lang="en-US" altLang="zh-CN" dirty="0" err="1"/>
              <a:t>Setosa</a:t>
            </a:r>
            <a:r>
              <a:rPr lang="en-US" altLang="zh-CN" dirty="0"/>
              <a:t>, Versicolor, Virginica</a:t>
            </a:r>
            <a:endParaRPr lang="en-US" altLang="zh-CN" dirty="0"/>
          </a:p>
          <a:p>
            <a:pPr lvl="1"/>
            <a:r>
              <a:rPr lang="zh-CN" altLang="en-US" dirty="0"/>
              <a:t>每种</a:t>
            </a:r>
            <a:r>
              <a:rPr lang="en-US" altLang="zh-CN" dirty="0"/>
              <a:t>50</a:t>
            </a:r>
            <a:r>
              <a:rPr lang="zh-CN" altLang="en-US" dirty="0"/>
              <a:t>个样例</a:t>
            </a:r>
            <a:endParaRPr lang="en-US" altLang="zh-CN" dirty="0"/>
          </a:p>
          <a:p>
            <a:r>
              <a:rPr lang="zh-CN" altLang="en-US" b="1" dirty="0"/>
              <a:t>用</a:t>
            </a:r>
            <a:r>
              <a:rPr lang="en-US" altLang="zh-CN" b="1" dirty="0"/>
              <a:t>4</a:t>
            </a:r>
            <a:r>
              <a:rPr lang="zh-CN" altLang="en-US" b="1" dirty="0"/>
              <a:t>个特征度量</a:t>
            </a:r>
            <a:endParaRPr lang="en-US" altLang="zh-CN" b="1" dirty="0"/>
          </a:p>
          <a:p>
            <a:pPr lvl="1"/>
            <a:r>
              <a:rPr lang="zh-CN" altLang="en-US" dirty="0"/>
              <a:t>花萼的长度和宽度，花瓣的长度和宽度</a:t>
            </a:r>
            <a:endParaRPr lang="en-US" altLang="zh-CN" dirty="0"/>
          </a:p>
          <a:p>
            <a:endParaRPr lang="en-US" altLang="zh-CN" dirty="0"/>
          </a:p>
          <a:p>
            <a:r>
              <a:rPr lang="zh-CN" altLang="en-US" b="1" dirty="0"/>
              <a:t>分类问题</a:t>
            </a:r>
            <a:r>
              <a:rPr lang="zh-CN" altLang="en-US" dirty="0"/>
              <a:t>：给定一株鸢尾花，判定其属种</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6205" y="40567"/>
            <a:ext cx="10515600" cy="1325563"/>
          </a:xfrm>
        </p:spPr>
        <p:txBody>
          <a:bodyPr/>
          <a:lstStyle/>
          <a:p>
            <a:r>
              <a:rPr lang="zh-CN" altLang="en-US" dirty="0"/>
              <a:t>鸢尾花数据集</a:t>
            </a:r>
            <a:endParaRPr lang="zh-CN" altLang="en-US" dirty="0"/>
          </a:p>
        </p:txBody>
      </p:sp>
      <p:sp>
        <p:nvSpPr>
          <p:cNvPr id="4" name="object 4"/>
          <p:cNvSpPr/>
          <p:nvPr/>
        </p:nvSpPr>
        <p:spPr>
          <a:xfrm>
            <a:off x="1161653" y="800408"/>
            <a:ext cx="9601067" cy="5472608"/>
          </a:xfrm>
          <a:prstGeom prst="rect">
            <a:avLst/>
          </a:prstGeom>
          <a:blipFill>
            <a:blip r:embed="rId1" cstate="print"/>
            <a:stretch>
              <a:fillRect/>
            </a:stretch>
          </a:blipFill>
        </p:spPr>
        <p:txBody>
          <a:bodyPr wrap="square" lIns="0" tIns="0" rIns="0" bIns="0" rtlCol="0"/>
          <a:lstStyle/>
          <a:p>
            <a:endParaRPr sz="3565" dirty="0"/>
          </a:p>
        </p:txBody>
      </p:sp>
      <p:sp>
        <p:nvSpPr>
          <p:cNvPr id="5" name="文本框 4"/>
          <p:cNvSpPr txBox="1"/>
          <p:nvPr/>
        </p:nvSpPr>
        <p:spPr>
          <a:xfrm>
            <a:off x="3682377" y="800408"/>
            <a:ext cx="697627" cy="400110"/>
          </a:xfrm>
          <a:prstGeom prst="rect">
            <a:avLst/>
          </a:prstGeom>
          <a:noFill/>
        </p:spPr>
        <p:txBody>
          <a:bodyPr wrap="none" rtlCol="0">
            <a:spAutoFit/>
          </a:bodyPr>
          <a:lstStyle/>
          <a:p>
            <a:r>
              <a:rPr lang="zh-CN" altLang="en-US" sz="2000" dirty="0">
                <a:solidFill>
                  <a:srgbClr val="FF0000"/>
                </a:solidFill>
              </a:rPr>
              <a:t>样例</a:t>
            </a:r>
            <a:endParaRPr lang="zh-CN" altLang="en-US" sz="2000" dirty="0">
              <a:solidFill>
                <a:srgbClr val="FF0000"/>
              </a:solidFill>
            </a:endParaRPr>
          </a:p>
        </p:txBody>
      </p:sp>
      <p:sp>
        <p:nvSpPr>
          <p:cNvPr id="6" name="文本框 5"/>
          <p:cNvSpPr txBox="1"/>
          <p:nvPr/>
        </p:nvSpPr>
        <p:spPr>
          <a:xfrm>
            <a:off x="3225177" y="5613769"/>
            <a:ext cx="697627" cy="400110"/>
          </a:xfrm>
          <a:prstGeom prst="rect">
            <a:avLst/>
          </a:prstGeom>
          <a:noFill/>
        </p:spPr>
        <p:txBody>
          <a:bodyPr wrap="none" rtlCol="0">
            <a:spAutoFit/>
          </a:bodyPr>
          <a:lstStyle/>
          <a:p>
            <a:r>
              <a:rPr lang="zh-CN" altLang="en-US" sz="2000" dirty="0">
                <a:solidFill>
                  <a:srgbClr val="FF0000"/>
                </a:solidFill>
              </a:rPr>
              <a:t>特征</a:t>
            </a:r>
            <a:endParaRPr lang="zh-CN" altLang="en-US" sz="2000" dirty="0">
              <a:solidFill>
                <a:srgbClr val="FF0000"/>
              </a:solidFill>
            </a:endParaRPr>
          </a:p>
        </p:txBody>
      </p:sp>
      <p:sp>
        <p:nvSpPr>
          <p:cNvPr id="7" name="文本框 6"/>
          <p:cNvSpPr txBox="1"/>
          <p:nvPr/>
        </p:nvSpPr>
        <p:spPr>
          <a:xfrm>
            <a:off x="9513954" y="5829213"/>
            <a:ext cx="1107996" cy="369332"/>
          </a:xfrm>
          <a:prstGeom prst="rect">
            <a:avLst/>
          </a:prstGeom>
          <a:noFill/>
        </p:spPr>
        <p:txBody>
          <a:bodyPr wrap="none" rtlCol="0">
            <a:spAutoFit/>
          </a:bodyPr>
          <a:lstStyle/>
          <a:p>
            <a:r>
              <a:rPr lang="zh-CN" altLang="en-US" dirty="0">
                <a:solidFill>
                  <a:srgbClr val="FF0000"/>
                </a:solidFill>
              </a:rPr>
              <a:t>类别标签</a:t>
            </a:r>
            <a:endParaRPr lang="zh-CN" altLang="en-US"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321211" y="626016"/>
            <a:ext cx="10291856" cy="59309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0721" y="1628800"/>
            <a:ext cx="10879929" cy="3604192"/>
          </a:xfrm>
          <a:prstGeom prst="rect">
            <a:avLst/>
          </a:prstGeom>
        </p:spPr>
        <p:txBody>
          <a:bodyPr vert="horz" wrap="square" lIns="0" tIns="104775" rIns="0" bIns="0" rtlCol="0">
            <a:spAutoFit/>
          </a:bodyPr>
          <a:lstStyle/>
          <a:p>
            <a:pPr marL="12700">
              <a:spcBef>
                <a:spcPts val="825"/>
              </a:spcBef>
            </a:pPr>
            <a:r>
              <a:rPr lang="zh-CN" altLang="en-US" sz="2400" b="1" dirty="0">
                <a:latin typeface="Trebuchet MS" panose="020B0603020202020204"/>
                <a:cs typeface="Trebuchet MS" panose="020B0603020202020204"/>
              </a:rPr>
              <a:t>导入包含分类方法的类：</a:t>
            </a:r>
            <a:endParaRPr lang="en-US" altLang="zh-CN" sz="2400" b="1" dirty="0">
              <a:latin typeface="Trebuchet MS" panose="020B0603020202020204"/>
              <a:cs typeface="Trebuchet MS" panose="020B0603020202020204"/>
            </a:endParaRPr>
          </a:p>
          <a:p>
            <a:pPr marL="12700">
              <a:spcBef>
                <a:spcPts val="825"/>
              </a:spcBef>
            </a:pPr>
            <a:r>
              <a:rPr lang="en-US" altLang="zh-CN" sz="2000" b="1" dirty="0">
                <a:solidFill>
                  <a:srgbClr val="84ADAF"/>
                </a:solidFill>
                <a:latin typeface="Courier New" panose="02070309020205020404"/>
                <a:cs typeface="Courier New" panose="02070309020205020404"/>
              </a:rPr>
              <a:t>   </a:t>
            </a:r>
            <a:r>
              <a:rPr sz="2000" b="1" dirty="0">
                <a:solidFill>
                  <a:srgbClr val="84ADAF"/>
                </a:solidFill>
                <a:latin typeface="Courier New" panose="02070309020205020404"/>
                <a:cs typeface="Courier New" panose="02070309020205020404"/>
              </a:rPr>
              <a:t>from sklearn.neighbors import </a:t>
            </a:r>
            <a:r>
              <a:rPr sz="2000" b="1" dirty="0">
                <a:solidFill>
                  <a:srgbClr val="00ADEE"/>
                </a:solidFill>
                <a:latin typeface="Courier New" panose="02070309020205020404"/>
                <a:cs typeface="Courier New" panose="02070309020205020404"/>
              </a:rPr>
              <a:t>KNeighborsClassifier</a:t>
            </a:r>
            <a:endParaRPr sz="2000" dirty="0">
              <a:latin typeface="Courier New" panose="02070309020205020404"/>
              <a:cs typeface="Courier New" panose="02070309020205020404"/>
            </a:endParaRPr>
          </a:p>
          <a:p>
            <a:pPr>
              <a:spcBef>
                <a:spcPts val="50"/>
              </a:spcBef>
            </a:pPr>
            <a:endParaRPr sz="2400" dirty="0">
              <a:latin typeface="Times New Roman" panose="02020603050405020304"/>
              <a:cs typeface="Times New Roman" panose="02020603050405020304"/>
            </a:endParaRPr>
          </a:p>
          <a:p>
            <a:pPr marL="12700"/>
            <a:r>
              <a:rPr lang="zh-CN" altLang="en-US" sz="2400" b="1" dirty="0">
                <a:latin typeface="Trebuchet MS" panose="020B0603020202020204"/>
                <a:cs typeface="Trebuchet MS" panose="020B0603020202020204"/>
              </a:rPr>
              <a:t>创建该类的一个对象：</a:t>
            </a:r>
            <a:endParaRPr lang="en-US" altLang="zh-CN" sz="2400" b="1" dirty="0">
              <a:latin typeface="Trebuchet MS" panose="020B0603020202020204"/>
              <a:cs typeface="Trebuchet MS" panose="020B0603020202020204"/>
            </a:endParaRPr>
          </a:p>
          <a:p>
            <a:pPr marL="12700"/>
            <a:r>
              <a:rPr lang="en-US" altLang="zh-CN" sz="2400" b="1" dirty="0">
                <a:solidFill>
                  <a:srgbClr val="344B5E"/>
                </a:solidFill>
                <a:latin typeface="Trebuchet MS" panose="020B0603020202020204"/>
                <a:cs typeface="Courier New" panose="02070309020205020404"/>
              </a:rPr>
              <a:t>    </a:t>
            </a:r>
            <a:r>
              <a:rPr sz="2000" b="1" dirty="0">
                <a:solidFill>
                  <a:srgbClr val="344B5E"/>
                </a:solidFill>
                <a:latin typeface="Courier New" panose="02070309020205020404"/>
                <a:cs typeface="Courier New" panose="02070309020205020404"/>
              </a:rPr>
              <a:t>KNN </a:t>
            </a:r>
            <a:r>
              <a:rPr sz="2000" b="1" dirty="0">
                <a:solidFill>
                  <a:srgbClr val="84ADAF"/>
                </a:solidFill>
                <a:latin typeface="Courier New" panose="02070309020205020404"/>
                <a:cs typeface="Courier New" panose="02070309020205020404"/>
              </a:rPr>
              <a:t>= </a:t>
            </a:r>
            <a:r>
              <a:rPr sz="2000" b="1" dirty="0">
                <a:solidFill>
                  <a:srgbClr val="00ADEE"/>
                </a:solidFill>
                <a:latin typeface="Courier New" panose="02070309020205020404"/>
                <a:cs typeface="Courier New" panose="02070309020205020404"/>
              </a:rPr>
              <a:t>KNeighborsClassifier</a:t>
            </a:r>
            <a:r>
              <a:rPr sz="2000" b="1" dirty="0">
                <a:solidFill>
                  <a:srgbClr val="84ADAF"/>
                </a:solidFill>
                <a:latin typeface="Courier New" panose="02070309020205020404"/>
                <a:cs typeface="Courier New" panose="02070309020205020404"/>
              </a:rPr>
              <a:t>(n_neighbors=</a:t>
            </a:r>
            <a:r>
              <a:rPr lang="en-US" sz="2000" b="1" dirty="0">
                <a:solidFill>
                  <a:srgbClr val="84ADAF"/>
                </a:solidFill>
                <a:latin typeface="Courier New" panose="02070309020205020404"/>
                <a:cs typeface="Courier New" panose="02070309020205020404"/>
              </a:rPr>
              <a:t>k</a:t>
            </a:r>
            <a:r>
              <a:rPr sz="2000" b="1" dirty="0">
                <a:solidFill>
                  <a:srgbClr val="84ADAF"/>
                </a:solidFill>
                <a:latin typeface="Courier New" panose="02070309020205020404"/>
                <a:cs typeface="Courier New" panose="02070309020205020404"/>
              </a:rPr>
              <a:t>)</a:t>
            </a:r>
            <a:endParaRPr sz="2000" dirty="0">
              <a:latin typeface="Courier New" panose="02070309020205020404"/>
              <a:cs typeface="Courier New" panose="02070309020205020404"/>
            </a:endParaRPr>
          </a:p>
          <a:p>
            <a:pPr>
              <a:spcBef>
                <a:spcPts val="50"/>
              </a:spcBef>
            </a:pPr>
            <a:endParaRPr sz="2400" dirty="0">
              <a:latin typeface="Times New Roman" panose="02020603050405020304"/>
              <a:cs typeface="Times New Roman" panose="02020603050405020304"/>
            </a:endParaRPr>
          </a:p>
          <a:p>
            <a:pPr marL="12700"/>
            <a:r>
              <a:rPr lang="zh-CN" altLang="en-US" sz="2400" b="1" dirty="0">
                <a:latin typeface="Trebuchet MS" panose="020B0603020202020204"/>
                <a:cs typeface="Trebuchet MS" panose="020B0603020202020204"/>
              </a:rPr>
              <a:t>拟合数据集，即训练</a:t>
            </a:r>
            <a:r>
              <a:rPr lang="en-US" altLang="zh-CN" sz="2400" b="1" dirty="0">
                <a:latin typeface="Trebuchet MS" panose="020B0603020202020204"/>
                <a:cs typeface="Trebuchet MS" panose="020B0603020202020204"/>
              </a:rPr>
              <a:t>KNN</a:t>
            </a:r>
            <a:r>
              <a:rPr lang="zh-CN" altLang="en-US" sz="2400" b="1" dirty="0">
                <a:latin typeface="Trebuchet MS" panose="020B0603020202020204"/>
                <a:cs typeface="Trebuchet MS" panose="020B0603020202020204"/>
              </a:rPr>
              <a:t>模型，并用训练好的模型预测数据的标签：</a:t>
            </a:r>
            <a:endParaRPr sz="2400" dirty="0">
              <a:latin typeface="Trebuchet MS" panose="020B0603020202020204"/>
              <a:cs typeface="Trebuchet MS" panose="020B0603020202020204"/>
            </a:endParaRPr>
          </a:p>
          <a:p>
            <a:pPr marL="469900">
              <a:spcBef>
                <a:spcPts val="570"/>
              </a:spcBef>
            </a:pPr>
            <a:r>
              <a:rPr sz="2000" b="1" dirty="0">
                <a:solidFill>
                  <a:srgbClr val="344B5E"/>
                </a:solidFill>
                <a:latin typeface="Courier New" panose="02070309020205020404"/>
                <a:cs typeface="Courier New" panose="02070309020205020404"/>
              </a:rPr>
              <a:t>KNN </a:t>
            </a:r>
            <a:r>
              <a:rPr sz="2000" b="1" dirty="0">
                <a:solidFill>
                  <a:srgbClr val="84ADAF"/>
                </a:solidFill>
                <a:latin typeface="Courier New" panose="02070309020205020404"/>
                <a:cs typeface="Courier New" panose="02070309020205020404"/>
              </a:rPr>
              <a:t>= </a:t>
            </a:r>
            <a:r>
              <a:rPr sz="2000" b="1" dirty="0">
                <a:solidFill>
                  <a:srgbClr val="344B5E"/>
                </a:solidFill>
                <a:latin typeface="Courier New" panose="02070309020205020404"/>
                <a:cs typeface="Courier New" panose="02070309020205020404"/>
              </a:rPr>
              <a:t>KNN</a:t>
            </a:r>
            <a:r>
              <a:rPr sz="2000" b="1" dirty="0">
                <a:solidFill>
                  <a:srgbClr val="84ADAF"/>
                </a:solidFill>
                <a:latin typeface="Courier New" panose="02070309020205020404"/>
                <a:cs typeface="Courier New" panose="02070309020205020404"/>
              </a:rPr>
              <a:t>.</a:t>
            </a:r>
            <a:r>
              <a:rPr sz="2000" b="1" dirty="0">
                <a:solidFill>
                  <a:srgbClr val="D0692F"/>
                </a:solidFill>
                <a:latin typeface="Courier New" panose="02070309020205020404"/>
                <a:cs typeface="Courier New" panose="02070309020205020404"/>
              </a:rPr>
              <a:t>fit</a:t>
            </a:r>
            <a:r>
              <a:rPr sz="2000" b="1" dirty="0">
                <a:solidFill>
                  <a:srgbClr val="84ADAF"/>
                </a:solidFill>
                <a:latin typeface="Courier New" panose="02070309020205020404"/>
                <a:cs typeface="Courier New" panose="02070309020205020404"/>
              </a:rPr>
              <a:t>(X_data, y_data)</a:t>
            </a:r>
            <a:endParaRPr sz="2000" dirty="0">
              <a:latin typeface="Courier New" panose="02070309020205020404"/>
              <a:cs typeface="Courier New" panose="02070309020205020404"/>
            </a:endParaRPr>
          </a:p>
          <a:p>
            <a:pPr marL="469900">
              <a:spcBef>
                <a:spcPts val="1200"/>
              </a:spcBef>
            </a:pPr>
            <a:r>
              <a:rPr sz="2000" b="1" dirty="0">
                <a:solidFill>
                  <a:srgbClr val="84ADAF"/>
                </a:solidFill>
                <a:latin typeface="Courier New" panose="02070309020205020404"/>
                <a:cs typeface="Courier New" panose="02070309020205020404"/>
              </a:rPr>
              <a:t>y_predict = </a:t>
            </a:r>
            <a:r>
              <a:rPr sz="2000" b="1" dirty="0">
                <a:solidFill>
                  <a:srgbClr val="344B5E"/>
                </a:solidFill>
                <a:latin typeface="Courier New" panose="02070309020205020404"/>
                <a:cs typeface="Courier New" panose="02070309020205020404"/>
              </a:rPr>
              <a:t>KNN</a:t>
            </a:r>
            <a:r>
              <a:rPr sz="2000" b="1" dirty="0">
                <a:solidFill>
                  <a:srgbClr val="84ADAF"/>
                </a:solidFill>
                <a:latin typeface="Courier New" panose="02070309020205020404"/>
                <a:cs typeface="Courier New" panose="02070309020205020404"/>
              </a:rPr>
              <a:t>.</a:t>
            </a:r>
            <a:r>
              <a:rPr sz="2000" b="1" dirty="0">
                <a:solidFill>
                  <a:srgbClr val="D0692F"/>
                </a:solidFill>
                <a:latin typeface="Courier New" panose="02070309020205020404"/>
                <a:cs typeface="Courier New" panose="02070309020205020404"/>
              </a:rPr>
              <a:t>predict</a:t>
            </a:r>
            <a:r>
              <a:rPr sz="2000" b="1" dirty="0">
                <a:solidFill>
                  <a:srgbClr val="84ADAF"/>
                </a:solidFill>
                <a:latin typeface="Courier New" panose="02070309020205020404"/>
                <a:cs typeface="Courier New" panose="02070309020205020404"/>
              </a:rPr>
              <a:t>(X_data)</a:t>
            </a:r>
            <a:endParaRPr sz="2000" dirty="0">
              <a:latin typeface="Courier New" panose="02070309020205020404"/>
              <a:cs typeface="Courier New" panose="02070309020205020404"/>
            </a:endParaRPr>
          </a:p>
        </p:txBody>
      </p:sp>
      <p:sp>
        <p:nvSpPr>
          <p:cNvPr id="6" name="标题 5"/>
          <p:cNvSpPr>
            <a:spLocks noGrp="1"/>
          </p:cNvSpPr>
          <p:nvPr>
            <p:ph type="title"/>
          </p:nvPr>
        </p:nvSpPr>
        <p:spPr>
          <a:xfrm>
            <a:off x="600721" y="485800"/>
            <a:ext cx="10972800" cy="1143000"/>
          </a:xfrm>
        </p:spPr>
        <p:txBody>
          <a:bodyPr/>
          <a:lstStyle/>
          <a:p>
            <a:r>
              <a:rPr lang="en-US" altLang="zh-CN" dirty="0"/>
              <a:t>K</a:t>
            </a:r>
            <a:r>
              <a:rPr lang="zh-CN" altLang="en-US" dirty="0"/>
              <a:t>近邻模型的语法</a:t>
            </a:r>
            <a:endParaRPr lang="zh-CN" altLang="en-US" dirty="0"/>
          </a:p>
        </p:txBody>
      </p:sp>
      <p:sp>
        <p:nvSpPr>
          <p:cNvPr id="4" name="object 4"/>
          <p:cNvSpPr txBox="1"/>
          <p:nvPr/>
        </p:nvSpPr>
        <p:spPr>
          <a:xfrm>
            <a:off x="1163582" y="5766311"/>
            <a:ext cx="9601067" cy="382156"/>
          </a:xfrm>
          <a:prstGeom prst="rect">
            <a:avLst/>
          </a:prstGeom>
        </p:spPr>
        <p:txBody>
          <a:bodyPr vert="horz" wrap="square" lIns="0" tIns="12700" rIns="0" bIns="0" rtlCol="0">
            <a:spAutoFit/>
          </a:bodyPr>
          <a:lstStyle/>
          <a:p>
            <a:pPr marL="12700">
              <a:spcBef>
                <a:spcPts val="100"/>
              </a:spcBef>
            </a:pPr>
            <a:r>
              <a:rPr lang="zh-CN" altLang="en-US" sz="2400" b="1" dirty="0">
                <a:solidFill>
                  <a:srgbClr val="84ADAF"/>
                </a:solidFill>
                <a:latin typeface="Trebuchet MS" panose="020B0603020202020204"/>
                <a:cs typeface="Trebuchet MS" panose="020B0603020202020204"/>
              </a:rPr>
              <a:t>这种 </a:t>
            </a:r>
            <a:r>
              <a:rPr sz="2400" b="1" dirty="0">
                <a:solidFill>
                  <a:srgbClr val="D0692F"/>
                </a:solidFill>
                <a:latin typeface="Trebuchet MS" panose="020B0603020202020204"/>
                <a:cs typeface="Trebuchet MS" panose="020B0603020202020204"/>
              </a:rPr>
              <a:t>fit </a:t>
            </a:r>
            <a:r>
              <a:rPr lang="zh-CN" altLang="en-US" sz="2400" b="1" dirty="0">
                <a:solidFill>
                  <a:srgbClr val="84ADAF"/>
                </a:solidFill>
                <a:latin typeface="Trebuchet MS" panose="020B0603020202020204"/>
                <a:cs typeface="Trebuchet MS" panose="020B0603020202020204"/>
              </a:rPr>
              <a:t>和</a:t>
            </a:r>
            <a:r>
              <a:rPr sz="2400" b="1" dirty="0">
                <a:solidFill>
                  <a:srgbClr val="84ADAF"/>
                </a:solidFill>
                <a:latin typeface="Trebuchet MS" panose="020B0603020202020204"/>
                <a:cs typeface="Trebuchet MS" panose="020B0603020202020204"/>
              </a:rPr>
              <a:t> </a:t>
            </a:r>
            <a:r>
              <a:rPr sz="2400" b="1" dirty="0">
                <a:solidFill>
                  <a:srgbClr val="D0692F"/>
                </a:solidFill>
                <a:latin typeface="Trebuchet MS" panose="020B0603020202020204"/>
                <a:cs typeface="Trebuchet MS" panose="020B0603020202020204"/>
              </a:rPr>
              <a:t>predict</a:t>
            </a:r>
            <a:r>
              <a:rPr sz="2400" b="1" dirty="0">
                <a:solidFill>
                  <a:srgbClr val="84ADAF"/>
                </a:solidFill>
                <a:latin typeface="Trebuchet MS" panose="020B0603020202020204"/>
                <a:cs typeface="Trebuchet MS" panose="020B0603020202020204"/>
              </a:rPr>
              <a:t>/</a:t>
            </a:r>
            <a:r>
              <a:rPr sz="2400" b="1" dirty="0">
                <a:solidFill>
                  <a:srgbClr val="D0692F"/>
                </a:solidFill>
                <a:latin typeface="Trebuchet MS" panose="020B0603020202020204"/>
                <a:cs typeface="Trebuchet MS" panose="020B0603020202020204"/>
              </a:rPr>
              <a:t>transform </a:t>
            </a:r>
            <a:r>
              <a:rPr lang="zh-CN" altLang="en-US" sz="2400" b="1" dirty="0">
                <a:solidFill>
                  <a:srgbClr val="84ADAF"/>
                </a:solidFill>
                <a:latin typeface="Trebuchet MS" panose="020B0603020202020204"/>
                <a:cs typeface="Trebuchet MS" panose="020B0603020202020204"/>
              </a:rPr>
              <a:t>语法会贯穿整个课程</a:t>
            </a:r>
            <a:endParaRPr sz="2400" dirty="0">
              <a:latin typeface="Trebuchet MS" panose="020B0603020202020204"/>
              <a:cs typeface="Trebuchet MS" panose="020B0603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9217" y="1195558"/>
            <a:ext cx="9980265" cy="4814949"/>
          </a:xfrm>
        </p:spPr>
        <p:txBody>
          <a:bodyPr lIns="109728" tIns="54864" rIns="109728" bIns="54864"/>
          <a:lstStyle/>
          <a:p>
            <a:pPr>
              <a:buClr>
                <a:srgbClr val="0070C0"/>
              </a:buClr>
              <a:buFont typeface="Arial" panose="020B0604020202020204"/>
              <a:buChar char="•"/>
            </a:pPr>
            <a:r>
              <a:rPr lang="en-US" altLang="zh-CN" dirty="0">
                <a:solidFill>
                  <a:schemeClr val="tx1"/>
                </a:solidFill>
              </a:rPr>
              <a:t>from  sklearn.model_selection import  cross_val_score     #</a:t>
            </a:r>
            <a:r>
              <a:rPr lang="zh-CN" altLang="en-US" dirty="0">
                <a:solidFill>
                  <a:schemeClr val="tx1"/>
                </a:solidFill>
              </a:rPr>
              <a:t>导入</a:t>
            </a:r>
            <a:r>
              <a:rPr lang="en-US" altLang="zh-CN" dirty="0">
                <a:solidFill>
                  <a:schemeClr val="tx1"/>
                </a:solidFill>
              </a:rPr>
              <a:t>K</a:t>
            </a:r>
            <a:r>
              <a:rPr lang="zh-CN" altLang="en-US" dirty="0">
                <a:solidFill>
                  <a:schemeClr val="tx1"/>
                </a:solidFill>
              </a:rPr>
              <a:t>折交叉验证模块</a:t>
            </a:r>
            <a:r>
              <a:rPr lang="en-US" altLang="zh-CN" dirty="0">
                <a:solidFill>
                  <a:schemeClr val="tx1"/>
                </a:solidFill>
              </a:rPr>
              <a:t>     </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from  sklearn.datasets  import  load_iris                            #</a:t>
            </a:r>
            <a:r>
              <a:rPr lang="zh-CN" altLang="en-US" dirty="0">
                <a:solidFill>
                  <a:schemeClr val="tx1"/>
                </a:solidFill>
              </a:rPr>
              <a:t>导入</a:t>
            </a:r>
            <a:r>
              <a:rPr lang="en-US" altLang="zh-CN" dirty="0">
                <a:solidFill>
                  <a:schemeClr val="tx1"/>
                </a:solidFill>
              </a:rPr>
              <a:t>iris</a:t>
            </a:r>
            <a:r>
              <a:rPr lang="zh-CN" altLang="en-US" dirty="0">
                <a:solidFill>
                  <a:schemeClr val="tx1"/>
                </a:solidFill>
              </a:rPr>
              <a:t>数据集</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from  sklearn.neighbors  import  KNeighborsClassifier     #</a:t>
            </a:r>
            <a:r>
              <a:rPr lang="zh-CN" altLang="en-US" dirty="0">
                <a:solidFill>
                  <a:schemeClr val="tx1"/>
                </a:solidFill>
              </a:rPr>
              <a:t>导入</a:t>
            </a:r>
            <a:r>
              <a:rPr lang="en-US" altLang="zh-CN" dirty="0">
                <a:solidFill>
                  <a:schemeClr val="tx1"/>
                </a:solidFill>
              </a:rPr>
              <a:t>K</a:t>
            </a:r>
            <a:r>
              <a:rPr lang="zh-CN" altLang="en-US" dirty="0">
                <a:solidFill>
                  <a:schemeClr val="tx1"/>
                </a:solidFill>
              </a:rPr>
              <a:t>近邻分类算法</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iris = load_iris()</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X = iris.data</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Y = iris.target</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knn = KNeighborsClassifier(n_neighbors=k)                   #k</a:t>
            </a:r>
            <a:r>
              <a:rPr lang="zh-CN" altLang="en-US" dirty="0">
                <a:solidFill>
                  <a:schemeClr val="tx1"/>
                </a:solidFill>
              </a:rPr>
              <a:t>是近邻个数</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scores = cross_val_score(knn, X, Y, cv=5)                       #5</a:t>
            </a:r>
            <a:r>
              <a:rPr lang="zh-CN" altLang="en-US" dirty="0">
                <a:solidFill>
                  <a:schemeClr val="tx1"/>
                </a:solidFill>
              </a:rPr>
              <a:t>表示</a:t>
            </a:r>
            <a:r>
              <a:rPr lang="en-US" altLang="zh-CN" dirty="0">
                <a:solidFill>
                  <a:schemeClr val="tx1"/>
                </a:solidFill>
              </a:rPr>
              <a:t>5</a:t>
            </a:r>
            <a:r>
              <a:rPr lang="zh-CN" altLang="en-US" dirty="0">
                <a:solidFill>
                  <a:schemeClr val="tx1"/>
                </a:solidFill>
              </a:rPr>
              <a:t>折交叉验证</a:t>
            </a:r>
            <a:endParaRPr lang="en-US" altLang="zh-CN" dirty="0">
              <a:solidFill>
                <a:schemeClr val="tx1"/>
              </a:solidFill>
            </a:endParaRPr>
          </a:p>
          <a:p>
            <a:pPr>
              <a:buClr>
                <a:srgbClr val="0070C0"/>
              </a:buClr>
              <a:buFont typeface="Arial" panose="020B0604020202020204"/>
              <a:buChar char="•"/>
            </a:pPr>
            <a:r>
              <a:rPr lang="en-US" altLang="zh-CN" dirty="0">
                <a:solidFill>
                  <a:schemeClr val="tx1"/>
                </a:solidFill>
              </a:rPr>
              <a:t>print(scores.mean())</a:t>
            </a:r>
            <a:endParaRPr lang="en-US" altLang="zh-CN" dirty="0">
              <a:solidFill>
                <a:schemeClr val="tx1"/>
              </a:solidFill>
            </a:endParaRPr>
          </a:p>
          <a:p>
            <a:pPr>
              <a:buFont typeface="Arial" panose="020B0604020202020204"/>
              <a:buChar char="•"/>
            </a:pPr>
            <a:endParaRPr kumimoji="1" lang="en-US" altLang="zh-CN" dirty="0"/>
          </a:p>
        </p:txBody>
      </p:sp>
      <p:sp>
        <p:nvSpPr>
          <p:cNvPr id="3" name="标题 2"/>
          <p:cNvSpPr>
            <a:spLocks noGrp="1"/>
          </p:cNvSpPr>
          <p:nvPr>
            <p:ph type="title"/>
          </p:nvPr>
        </p:nvSpPr>
        <p:spPr/>
        <p:txBody>
          <a:bodyPr lIns="109728" tIns="54864" rIns="109728" bIns="54864"/>
          <a:lstStyle/>
          <a:p>
            <a:r>
              <a:rPr lang="en-US" altLang="zh-CN" dirty="0">
                <a:solidFill>
                  <a:schemeClr val="tx1"/>
                </a:solidFill>
              </a:rPr>
              <a:t>K</a:t>
            </a:r>
            <a:r>
              <a:rPr lang="zh-CN" altLang="en-US" dirty="0">
                <a:solidFill>
                  <a:schemeClr val="tx1"/>
                </a:solidFill>
              </a:rPr>
              <a:t>折交叉验证的</a:t>
            </a:r>
            <a:r>
              <a:rPr lang="en-US" altLang="zh-CN" dirty="0">
                <a:solidFill>
                  <a:schemeClr val="tx1"/>
                </a:solidFill>
              </a:rPr>
              <a:t>sklearn</a:t>
            </a:r>
            <a:r>
              <a:rPr lang="zh-CN" altLang="en-US" dirty="0">
                <a:solidFill>
                  <a:schemeClr val="tx1"/>
                </a:solidFill>
              </a:rPr>
              <a:t>代码实现</a:t>
            </a:r>
            <a:endParaRPr kumimoji="1" lang="en-US" altLang="zh-CN" dirty="0">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06</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681939" y="2472759"/>
            <a:ext cx="6077670" cy="1107996"/>
          </a:xfrm>
          <a:prstGeom prst="rect">
            <a:avLst/>
          </a:prstGeom>
          <a:noFill/>
          <a:effectLst>
            <a:outerShdw dist="25400" dir="5400000" algn="t" rotWithShape="0">
              <a:schemeClr val="bg1">
                <a:alpha val="40000"/>
              </a:scheme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算法改进与优化</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95526" y="444704"/>
            <a:ext cx="9144001" cy="440147"/>
          </a:xfrm>
        </p:spPr>
        <p:txBody>
          <a:bodyPr/>
          <a:lstStyle/>
          <a:p>
            <a:r>
              <a:rPr kumimoji="1" lang="zh-CN" altLang="en-US" dirty="0">
                <a:solidFill>
                  <a:schemeClr val="accent1">
                    <a:lumMod val="75000"/>
                  </a:schemeClr>
                </a:solidFill>
                <a:latin typeface="Times New Roman" panose="02020603050405020304" pitchFamily="18" charset="0"/>
                <a:cs typeface="Times New Roman" panose="02020603050405020304" pitchFamily="18" charset="0"/>
              </a:rPr>
              <a:t>算法缺点</a:t>
            </a:r>
            <a:endParaRPr kumimoji="1" lang="zh-CN" alt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1" cstate="print"/>
          <a:stretch>
            <a:fillRect/>
          </a:stretch>
        </p:blipFill>
        <p:spPr>
          <a:xfrm>
            <a:off x="2514599" y="1546950"/>
            <a:ext cx="7004539" cy="411904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K</a:t>
            </a:r>
            <a:r>
              <a:rPr lang="zh-CN" altLang="en-US" dirty="0"/>
              <a:t>近邻模型的特点</a:t>
            </a:r>
            <a:endParaRPr lang="zh-CN" altLang="en-US" dirty="0"/>
          </a:p>
        </p:txBody>
      </p:sp>
      <p:pic>
        <p:nvPicPr>
          <p:cNvPr id="43010" name="Picture 2" descr="preview"/>
          <p:cNvPicPr>
            <a:picLocks noChangeAspect="1" noChangeArrowheads="1"/>
          </p:cNvPicPr>
          <p:nvPr/>
        </p:nvPicPr>
        <p:blipFill>
          <a:blip r:embed="rId1" cstate="print"/>
          <a:srcRect t="16031" b="11478"/>
          <a:stretch>
            <a:fillRect/>
          </a:stretch>
        </p:blipFill>
        <p:spPr bwMode="auto">
          <a:xfrm>
            <a:off x="557019" y="1293541"/>
            <a:ext cx="11001375" cy="4605454"/>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算法改进与优化</a:t>
            </a:r>
            <a:endParaRPr lang="zh-CN" altLang="en-US" dirty="0"/>
          </a:p>
        </p:txBody>
      </p:sp>
      <p:sp>
        <p:nvSpPr>
          <p:cNvPr id="3" name="文本框 2"/>
          <p:cNvSpPr txBox="1"/>
          <p:nvPr/>
        </p:nvSpPr>
        <p:spPr>
          <a:xfrm>
            <a:off x="1253107" y="1253066"/>
            <a:ext cx="9885155" cy="3939540"/>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zh-CN" altLang="zh-CN" sz="2000" b="1" dirty="0"/>
              <a:t>引入邻</a:t>
            </a:r>
            <a:r>
              <a:rPr lang="zh-CN" altLang="en-US" sz="2000" b="1" dirty="0"/>
              <a:t>域</a:t>
            </a:r>
            <a:r>
              <a:rPr lang="zh-CN" altLang="zh-CN" sz="2000" b="1" dirty="0"/>
              <a:t>权值</a:t>
            </a:r>
            <a:endParaRPr lang="zh-CN" altLang="zh-CN" sz="2000" dirty="0"/>
          </a:p>
          <a:p>
            <a:pPr lvl="1">
              <a:lnSpc>
                <a:spcPts val="3000"/>
              </a:lnSpc>
            </a:pPr>
            <a:r>
              <a:rPr lang="zh-CN" altLang="zh-CN" sz="2000" dirty="0"/>
              <a:t>引入权值机制作为对样本距离机制的补充。基本思想是：</a:t>
            </a:r>
            <a:r>
              <a:rPr lang="zh-CN" altLang="en-US" sz="2000" dirty="0"/>
              <a:t>对</a:t>
            </a:r>
            <a:r>
              <a:rPr lang="zh-CN" altLang="zh-CN" sz="2000" dirty="0"/>
              <a:t>距离测试样本更</a:t>
            </a:r>
            <a:r>
              <a:rPr lang="zh-CN" altLang="en-US" sz="2000" dirty="0"/>
              <a:t>近</a:t>
            </a:r>
            <a:r>
              <a:rPr lang="zh-CN" altLang="zh-CN" sz="2000" dirty="0"/>
              <a:t>的邻居设置更大的权值，衡量权值累积以及训练样本集中各种分类的样本数目，来对算法中的</a:t>
            </a:r>
            <a:r>
              <a:rPr lang="en-US" altLang="zh-CN" sz="2000" dirty="0"/>
              <a:t>K</a:t>
            </a:r>
            <a:r>
              <a:rPr lang="zh-CN" altLang="zh-CN" sz="2000" dirty="0"/>
              <a:t>值进行调整，进而达到更合理或者平滑的分类效果。</a:t>
            </a:r>
            <a:endParaRPr lang="zh-CN" altLang="zh-CN" sz="2000" dirty="0"/>
          </a:p>
          <a:p>
            <a:pPr marL="285750" indent="-285750">
              <a:lnSpc>
                <a:spcPts val="3000"/>
              </a:lnSpc>
              <a:buFont typeface="Arial" panose="020B0604020202020204" pitchFamily="34" charset="0"/>
              <a:buChar char="•"/>
            </a:pPr>
            <a:r>
              <a:rPr lang="zh-CN" altLang="zh-CN" sz="2000" b="1" dirty="0"/>
              <a:t>特征降维与模式融合</a:t>
            </a:r>
            <a:endParaRPr lang="zh-CN" altLang="zh-CN" sz="2000" dirty="0"/>
          </a:p>
          <a:p>
            <a:pPr lvl="1">
              <a:lnSpc>
                <a:spcPts val="3000"/>
              </a:lnSpc>
            </a:pPr>
            <a:r>
              <a:rPr lang="en-US" altLang="zh-CN" sz="2000" dirty="0"/>
              <a:t>KNN</a:t>
            </a:r>
            <a:r>
              <a:rPr lang="zh-CN" altLang="zh-CN" sz="2000" dirty="0"/>
              <a:t>算法的主要缺点是</a:t>
            </a:r>
            <a:r>
              <a:rPr lang="en-US" altLang="zh-CN" sz="2000" dirty="0"/>
              <a:t>,</a:t>
            </a:r>
            <a:r>
              <a:rPr lang="zh-CN" altLang="zh-CN" sz="2000" dirty="0"/>
              <a:t>当训练样本数量很大时将导致很高的计算开销。为了对</a:t>
            </a:r>
            <a:r>
              <a:rPr lang="en-US" altLang="zh-CN" sz="2000" dirty="0"/>
              <a:t>KNN</a:t>
            </a:r>
            <a:r>
              <a:rPr lang="zh-CN" altLang="zh-CN" sz="2000" dirty="0"/>
              <a:t>的分类效率进行优化，可以在数据预处理阶段利用一些</a:t>
            </a:r>
            <a:r>
              <a:rPr lang="zh-CN" altLang="zh-CN" sz="2000" b="1" dirty="0"/>
              <a:t>降维</a:t>
            </a:r>
            <a:r>
              <a:rPr lang="zh-CN" altLang="zh-CN" sz="2000" dirty="0"/>
              <a:t>算法或者使用</a:t>
            </a:r>
            <a:r>
              <a:rPr lang="zh-CN" altLang="zh-CN" sz="2000" b="1" dirty="0"/>
              <a:t>特征融合</a:t>
            </a:r>
            <a:r>
              <a:rPr lang="zh-CN" altLang="zh-CN" sz="2000" dirty="0"/>
              <a:t>算法，对</a:t>
            </a:r>
            <a:r>
              <a:rPr lang="en-US" altLang="zh-CN" sz="2000" dirty="0"/>
              <a:t>KNN</a:t>
            </a:r>
            <a:r>
              <a:rPr lang="zh-CN" altLang="zh-CN" sz="2000" dirty="0"/>
              <a:t>训练样本集的维度进行简化，排除对分类结果影响较小的属性。通过优化训练样本集的分类，提高得出待分类样本类别的效率。该改进经常在类域的样本容量比较大时使用。</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05564"/>
            <a:ext cx="10972800" cy="1143000"/>
          </a:xfrm>
        </p:spPr>
        <p:txBody>
          <a:bodyPr/>
          <a:lstStyle/>
          <a:p>
            <a:r>
              <a:rPr lang="zh-CN" altLang="en-US" dirty="0"/>
              <a:t>快速检索</a:t>
            </a:r>
            <a:endParaRPr lang="zh-CN" altLang="en-US" dirty="0"/>
          </a:p>
        </p:txBody>
      </p:sp>
      <p:sp>
        <p:nvSpPr>
          <p:cNvPr id="3" name="内容占位符 2"/>
          <p:cNvSpPr>
            <a:spLocks noGrp="1"/>
          </p:cNvSpPr>
          <p:nvPr>
            <p:ph idx="1"/>
          </p:nvPr>
        </p:nvSpPr>
        <p:spPr/>
        <p:txBody>
          <a:bodyPr>
            <a:noAutofit/>
          </a:bodyPr>
          <a:lstStyle/>
          <a:p>
            <a:pPr>
              <a:lnSpc>
                <a:spcPct val="150000"/>
              </a:lnSpc>
            </a:pPr>
            <a:r>
              <a:rPr lang="zh-CN" altLang="en-US" sz="2400" dirty="0"/>
              <a:t>当训练集合的规模很大时，如何快速的找到样本 </a:t>
            </a:r>
            <a:r>
              <a:rPr lang="en-US" altLang="zh-CN" sz="2400" dirty="0"/>
              <a:t>x </a:t>
            </a:r>
            <a:r>
              <a:rPr lang="zh-CN" altLang="en-US" sz="2400" dirty="0"/>
              <a:t>的 </a:t>
            </a:r>
            <a:r>
              <a:rPr lang="en-US" altLang="zh-CN" sz="2400" dirty="0"/>
              <a:t>k</a:t>
            </a:r>
            <a:r>
              <a:rPr lang="zh-CN" altLang="en-US" sz="2400" dirty="0"/>
              <a:t> 个近邻成为计算机实现</a:t>
            </a:r>
            <a:r>
              <a:rPr lang="en-US" altLang="zh-CN" sz="2400" dirty="0"/>
              <a:t>k-</a:t>
            </a:r>
            <a:r>
              <a:rPr lang="zh-CN" altLang="en-US" sz="2400" dirty="0"/>
              <a:t>近邻算法的关键。一个朴素的思想是</a:t>
            </a:r>
            <a:endParaRPr lang="zh-CN" altLang="en-US" sz="2400" dirty="0"/>
          </a:p>
          <a:p>
            <a:pPr>
              <a:lnSpc>
                <a:spcPct val="150000"/>
              </a:lnSpc>
            </a:pPr>
            <a:r>
              <a:rPr lang="en-US" altLang="zh-CN" sz="2400" dirty="0"/>
              <a:t>1)	</a:t>
            </a:r>
            <a:r>
              <a:rPr lang="zh-CN" altLang="en-US" sz="2400" dirty="0"/>
              <a:t>计算样本 </a:t>
            </a:r>
            <a:r>
              <a:rPr lang="en-US" altLang="zh-CN" sz="2400" dirty="0"/>
              <a:t>x </a:t>
            </a:r>
            <a:r>
              <a:rPr lang="zh-CN" altLang="en-US" sz="2400" dirty="0"/>
              <a:t>与训练集中所有样本的距离。</a:t>
            </a:r>
            <a:endParaRPr lang="zh-CN" altLang="en-US" sz="2400" dirty="0"/>
          </a:p>
          <a:p>
            <a:pPr>
              <a:lnSpc>
                <a:spcPct val="150000"/>
              </a:lnSpc>
            </a:pPr>
            <a:r>
              <a:rPr lang="en-US" altLang="zh-CN" sz="2400" dirty="0"/>
              <a:t>2)	</a:t>
            </a:r>
            <a:r>
              <a:rPr lang="zh-CN" altLang="en-US" sz="2400" dirty="0"/>
              <a:t>将这些点依据距离从小到大进行排序选择前 </a:t>
            </a:r>
            <a:r>
              <a:rPr lang="en-US" altLang="zh-CN" sz="2400" dirty="0"/>
              <a:t>k</a:t>
            </a:r>
            <a:r>
              <a:rPr lang="zh-CN" altLang="en-US" sz="2400" dirty="0"/>
              <a:t> 个。</a:t>
            </a:r>
            <a:endParaRPr lang="zh-CN" altLang="en-US" sz="2400" dirty="0"/>
          </a:p>
          <a:p>
            <a:pPr>
              <a:lnSpc>
                <a:spcPct val="150000"/>
              </a:lnSpc>
            </a:pPr>
            <a:r>
              <a:rPr lang="zh-CN" altLang="en-US" sz="2400" dirty="0"/>
              <a:t>算法的时间复杂度是计算到训练集中所有样本距离的时间加上排序的时间。该算法的第</a:t>
            </a:r>
            <a:r>
              <a:rPr lang="en-US" altLang="zh-CN" sz="2400" dirty="0"/>
              <a:t>2</a:t>
            </a:r>
            <a:r>
              <a:rPr lang="zh-CN" altLang="en-US" sz="2400" dirty="0"/>
              <a:t>步可以用数据结构中的查找序列前 </a:t>
            </a:r>
            <a:r>
              <a:rPr lang="en-US" altLang="zh-CN" sz="2400" dirty="0"/>
              <a:t>k </a:t>
            </a:r>
            <a:r>
              <a:rPr lang="zh-CN" altLang="en-US" sz="2400" dirty="0"/>
              <a:t>个最小数的算法优化，而不必对所有距离都进行排序。</a:t>
            </a:r>
            <a:endParaRPr lang="en-US" altLang="zh-CN"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1"/>
            <a:ext cx="10972800" cy="1143000"/>
          </a:xfrm>
        </p:spPr>
        <p:txBody>
          <a:bodyPr/>
          <a:lstStyle/>
          <a:p>
            <a:r>
              <a:rPr lang="zh-CN" altLang="en-US" dirty="0"/>
              <a:t>快速检索</a:t>
            </a:r>
            <a:endParaRPr lang="zh-CN" altLang="en-US" dirty="0"/>
          </a:p>
        </p:txBody>
      </p:sp>
      <p:sp>
        <p:nvSpPr>
          <p:cNvPr id="3" name="内容占位符 2"/>
          <p:cNvSpPr>
            <a:spLocks noGrp="1"/>
          </p:cNvSpPr>
          <p:nvPr>
            <p:ph idx="1"/>
          </p:nvPr>
        </p:nvSpPr>
        <p:spPr/>
        <p:txBody>
          <a:bodyPr>
            <a:noAutofit/>
          </a:bodyPr>
          <a:lstStyle/>
          <a:p>
            <a:pPr>
              <a:lnSpc>
                <a:spcPct val="150000"/>
              </a:lnSpc>
            </a:pPr>
            <a:r>
              <a:rPr lang="zh-CN" altLang="en-US" sz="2400" dirty="0"/>
              <a:t>一个更为可取的方法是为训练样本</a:t>
            </a:r>
            <a:r>
              <a:rPr lang="zh-CN" altLang="en-US" sz="2400" b="1" dirty="0"/>
              <a:t>事先建立索引</a:t>
            </a:r>
            <a:r>
              <a:rPr lang="zh-CN" altLang="en-US" sz="2400" dirty="0"/>
              <a:t>，以减少计算的规模。</a:t>
            </a:r>
            <a:r>
              <a:rPr lang="en-US" altLang="zh-CN" sz="2400" b="1" dirty="0" err="1"/>
              <a:t>kd</a:t>
            </a:r>
            <a:r>
              <a:rPr lang="en-US" altLang="zh-CN" sz="2400" b="1" dirty="0"/>
              <a:t> </a:t>
            </a:r>
            <a:r>
              <a:rPr lang="zh-CN" altLang="en-US" sz="2400" b="1" dirty="0"/>
              <a:t>树</a:t>
            </a:r>
            <a:r>
              <a:rPr lang="zh-CN" altLang="en-US" sz="2400" dirty="0"/>
              <a:t>是一种典型的存储 </a:t>
            </a:r>
            <a:r>
              <a:rPr lang="en-US" altLang="zh-CN" sz="2400" dirty="0"/>
              <a:t>k </a:t>
            </a:r>
            <a:r>
              <a:rPr lang="zh-CN" altLang="en-US" sz="2400" dirty="0"/>
              <a:t>维空间数据的数据结构（此处的 </a:t>
            </a:r>
            <a:r>
              <a:rPr lang="en-US" altLang="zh-CN" sz="2400" dirty="0"/>
              <a:t>k </a:t>
            </a:r>
            <a:r>
              <a:rPr lang="zh-CN" altLang="en-US" sz="2400" dirty="0"/>
              <a:t>指 </a:t>
            </a:r>
            <a:r>
              <a:rPr lang="en-US" altLang="zh-CN" sz="2400" dirty="0"/>
              <a:t>x</a:t>
            </a:r>
            <a:r>
              <a:rPr lang="zh-CN" altLang="en-US" sz="2400" dirty="0"/>
              <a:t> 的维度大小，与</a:t>
            </a:r>
            <a:r>
              <a:rPr lang="en-US" altLang="zh-CN" sz="2400" dirty="0"/>
              <a:t>k-</a:t>
            </a:r>
            <a:r>
              <a:rPr lang="zh-CN" altLang="en-US" sz="2400" dirty="0"/>
              <a:t>近邻算法中的 没有任何关系）。</a:t>
            </a:r>
            <a:endParaRPr lang="en-US" altLang="zh-CN" sz="2400" dirty="0"/>
          </a:p>
          <a:p>
            <a:pPr>
              <a:lnSpc>
                <a:spcPct val="150000"/>
              </a:lnSpc>
            </a:pPr>
            <a:r>
              <a:rPr lang="zh-CN" altLang="en-US" sz="2400" dirty="0"/>
              <a:t>建立好 </a:t>
            </a:r>
            <a:r>
              <a:rPr lang="en-US" altLang="zh-CN" sz="2400" dirty="0" err="1"/>
              <a:t>kd</a:t>
            </a:r>
            <a:r>
              <a:rPr lang="en-US" altLang="zh-CN" sz="2400" dirty="0"/>
              <a:t> </a:t>
            </a:r>
            <a:r>
              <a:rPr lang="zh-CN" altLang="en-US" sz="2400" dirty="0"/>
              <a:t>树后，给定新样本后就可以在树上进行检索，这样就能够大大降低检索  </a:t>
            </a:r>
            <a:r>
              <a:rPr lang="en-US" altLang="zh-CN" sz="2400" dirty="0"/>
              <a:t>k</a:t>
            </a:r>
            <a:r>
              <a:rPr lang="zh-CN" altLang="en-US" sz="2400" dirty="0"/>
              <a:t>个近邻的时间，特别是当训练集的样本数远大于样本的维度时。</a:t>
            </a:r>
            <a:endParaRPr lang="zh-CN" altLang="en-US" sz="2400" dirty="0"/>
          </a:p>
          <a:p>
            <a:pPr marL="0" indent="0">
              <a:buNone/>
            </a:pPr>
            <a:endParaRPr lang="zh-CN" altLang="en-US" sz="3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p:txBody>
          <a:bodyPr/>
          <a:lstStyle/>
          <a:p>
            <a:r>
              <a:rPr lang="zh-CN" altLang="en-US" dirty="0"/>
              <a:t>算法改进与优化</a:t>
            </a:r>
            <a:endParaRPr lang="zh-CN" altLang="en-US" dirty="0"/>
          </a:p>
        </p:txBody>
      </p:sp>
      <p:grpSp>
        <p:nvGrpSpPr>
          <p:cNvPr id="3" name="组合 2"/>
          <p:cNvGrpSpPr/>
          <p:nvPr/>
        </p:nvGrpSpPr>
        <p:grpSpPr>
          <a:xfrm>
            <a:off x="0" y="1527810"/>
            <a:ext cx="12172950" cy="4427220"/>
            <a:chOff x="0" y="2406"/>
            <a:chExt cx="19170" cy="6972"/>
          </a:xfrm>
        </p:grpSpPr>
        <p:pic>
          <p:nvPicPr>
            <p:cNvPr id="64514" name="Picture 2" descr="preview"/>
            <p:cNvPicPr>
              <a:picLocks noChangeAspect="1" noChangeArrowheads="1"/>
            </p:cNvPicPr>
            <p:nvPr/>
          </p:nvPicPr>
          <p:blipFill>
            <a:blip r:embed="rId1" cstate="print"/>
            <a:srcRect t="21480" b="4979"/>
            <a:stretch>
              <a:fillRect/>
            </a:stretch>
          </p:blipFill>
          <p:spPr bwMode="auto">
            <a:xfrm>
              <a:off x="0" y="2406"/>
              <a:ext cx="19170" cy="6972"/>
            </a:xfrm>
            <a:prstGeom prst="rect">
              <a:avLst/>
            </a:prstGeom>
            <a:noFill/>
          </p:spPr>
        </p:pic>
        <p:sp>
          <p:nvSpPr>
            <p:cNvPr id="2" name="矩形 1"/>
            <p:cNvSpPr/>
            <p:nvPr/>
          </p:nvSpPr>
          <p:spPr>
            <a:xfrm>
              <a:off x="13775" y="8313"/>
              <a:ext cx="5156" cy="106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87517" y="2432358"/>
            <a:ext cx="3090292" cy="701731"/>
          </a:xfrm>
        </p:spPr>
        <p:txBody>
          <a:bodyPr/>
          <a:lstStyle/>
          <a:p>
            <a:pPr algn="ctr"/>
            <a:r>
              <a:rPr lang="zh-CN" altLang="en-US" sz="4400" dirty="0">
                <a:solidFill>
                  <a:srgbClr val="009999"/>
                </a:solidFill>
              </a:rPr>
              <a:t>随堂小测试</a:t>
            </a:r>
            <a:endParaRPr lang="zh-CN" altLang="en-US" sz="4400" dirty="0">
              <a:solidFill>
                <a:srgbClr val="009999"/>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438400" y="635001"/>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1</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近邻算法的基本要素包括（）</a:t>
            </a:r>
            <a:r>
              <a:rPr kumimoji="0" lang="zh-CN"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811905" y="2320071"/>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距离度量</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 name="TextBox 4"/>
          <p:cNvSpPr txBox="1"/>
          <p:nvPr>
            <p:custDataLst>
              <p:tags r:id="rId3"/>
            </p:custDataLst>
          </p:nvPr>
        </p:nvSpPr>
        <p:spPr>
          <a:xfrm>
            <a:off x="3811905" y="3177321"/>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K</a:t>
            </a: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值的选择</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TextBox 5"/>
          <p:cNvSpPr txBox="1"/>
          <p:nvPr>
            <p:custDataLst>
              <p:tags r:id="rId4"/>
            </p:custDataLst>
          </p:nvPr>
        </p:nvSpPr>
        <p:spPr>
          <a:xfrm>
            <a:off x="3811905" y="4034571"/>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样本大小</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TextBox 6"/>
          <p:cNvSpPr txBox="1"/>
          <p:nvPr>
            <p:custDataLst>
              <p:tags r:id="rId5"/>
            </p:custDataLst>
          </p:nvPr>
        </p:nvSpPr>
        <p:spPr>
          <a:xfrm>
            <a:off x="3811905" y="4891821"/>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分类决策规则</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矩形 7"/>
          <p:cNvSpPr>
            <a:spLocks noChangeAspect="1"/>
          </p:cNvSpPr>
          <p:nvPr>
            <p:custDataLst>
              <p:tags r:id="rId6"/>
            </p:custDataLst>
          </p:nvPr>
        </p:nvSpPr>
        <p:spPr>
          <a:xfrm>
            <a:off x="3097530" y="238436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矩形 8"/>
          <p:cNvSpPr>
            <a:spLocks noChangeAspect="1"/>
          </p:cNvSpPr>
          <p:nvPr>
            <p:custDataLst>
              <p:tags r:id="rId7"/>
            </p:custDataLst>
          </p:nvPr>
        </p:nvSpPr>
        <p:spPr>
          <a:xfrm>
            <a:off x="3097530" y="324161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矩形 9"/>
          <p:cNvSpPr>
            <a:spLocks noChangeAspect="1"/>
          </p:cNvSpPr>
          <p:nvPr>
            <p:custDataLst>
              <p:tags r:id="rId8"/>
            </p:custDataLst>
          </p:nvPr>
        </p:nvSpPr>
        <p:spPr>
          <a:xfrm>
            <a:off x="3097530" y="4098864"/>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spect="1"/>
          </p:cNvSpPr>
          <p:nvPr>
            <p:custDataLst>
              <p:tags r:id="rId9"/>
            </p:custDataLst>
          </p:nvPr>
        </p:nvSpPr>
        <p:spPr>
          <a:xfrm>
            <a:off x="3097530" y="495611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10"/>
            </p:custDataLst>
          </p:nvPr>
        </p:nvSpPr>
        <p:spPr>
          <a:xfrm>
            <a:off x="8155305" y="574907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9" name="组合 18"/>
          <p:cNvGrpSpPr/>
          <p:nvPr>
            <p:custDataLst>
              <p:tags r:id="rId11"/>
            </p:custDataLst>
          </p:nvPr>
        </p:nvGrpSpPr>
        <p:grpSpPr>
          <a:xfrm>
            <a:off x="0" y="0"/>
            <a:ext cx="9144000" cy="635000"/>
            <a:chOff x="0" y="0"/>
            <a:chExt cx="9144000" cy="635000"/>
          </a:xfrm>
        </p:grpSpPr>
        <p:sp>
          <p:nvSpPr>
            <p:cNvPr id="13"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多选题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8"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pPr>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dirty="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438400" y="424656"/>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2</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、关于</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近邻算法说法错误的是（ ）</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352800" y="224027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近邻算法是机器学习</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4"/>
          <p:cNvSpPr txBox="1"/>
          <p:nvPr>
            <p:custDataLst>
              <p:tags r:id="rId3"/>
            </p:custDataLst>
          </p:nvPr>
        </p:nvSpPr>
        <p:spPr>
          <a:xfrm>
            <a:off x="3352800" y="309752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近邻算法是监督学习</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TextBox 5"/>
          <p:cNvSpPr txBox="1"/>
          <p:nvPr>
            <p:custDataLst>
              <p:tags r:id="rId4"/>
            </p:custDataLst>
          </p:nvPr>
        </p:nvSpPr>
        <p:spPr>
          <a:xfrm>
            <a:off x="3352800" y="395477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代表</a:t>
            </a: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最近的</a:t>
            </a: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个</a:t>
            </a: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样本</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 name="TextBox 6"/>
          <p:cNvSpPr txBox="1"/>
          <p:nvPr>
            <p:custDataLst>
              <p:tags r:id="rId5"/>
            </p:custDataLst>
          </p:nvPr>
        </p:nvSpPr>
        <p:spPr>
          <a:xfrm>
            <a:off x="3352800" y="481202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的选择对分类结果没有影响</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椭圆 7"/>
          <p:cNvSpPr>
            <a:spLocks noChangeAspect="1"/>
          </p:cNvSpPr>
          <p:nvPr>
            <p:custDataLst>
              <p:tags r:id="rId6"/>
            </p:custDataLst>
          </p:nvPr>
        </p:nvSpPr>
        <p:spPr>
          <a:xfrm>
            <a:off x="2638425" y="230457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7"/>
            </p:custDataLst>
          </p:nvPr>
        </p:nvSpPr>
        <p:spPr>
          <a:xfrm>
            <a:off x="2638425" y="316182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椭圆 9"/>
          <p:cNvSpPr>
            <a:spLocks noChangeAspect="1"/>
          </p:cNvSpPr>
          <p:nvPr>
            <p:custDataLst>
              <p:tags r:id="rId8"/>
            </p:custDataLst>
          </p:nvPr>
        </p:nvSpPr>
        <p:spPr>
          <a:xfrm>
            <a:off x="2638425" y="401907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椭圆 10"/>
          <p:cNvSpPr>
            <a:spLocks noChangeAspect="1"/>
          </p:cNvSpPr>
          <p:nvPr>
            <p:custDataLst>
              <p:tags r:id="rId9"/>
            </p:custDataLst>
          </p:nvPr>
        </p:nvSpPr>
        <p:spPr>
          <a:xfrm>
            <a:off x="2638425" y="4876322"/>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10"/>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0" y="0"/>
            <a:chExt cx="9144000" cy="635000"/>
          </a:xfrm>
        </p:grpSpPr>
        <p:sp>
          <p:nvSpPr>
            <p:cNvPr id="13"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438400" y="424656"/>
            <a:ext cx="7315200" cy="2143125"/>
          </a:xfrm>
          <a:prstGeom prst="rect">
            <a:avLst/>
          </a:prstGeom>
          <a:noFill/>
        </p:spPr>
        <p:txBody>
          <a:bodyPr vert="horz"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3</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、关于</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近邻算法说法错误的是（ ）</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3"/>
          <p:cNvSpPr txBox="1"/>
          <p:nvPr>
            <p:custDataLst>
              <p:tags r:id="rId2"/>
            </p:custDataLst>
          </p:nvPr>
        </p:nvSpPr>
        <p:spPr>
          <a:xfrm>
            <a:off x="3438158" y="224027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近邻算法可以用来解决回归问题</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4"/>
          <p:cNvSpPr txBox="1"/>
          <p:nvPr>
            <p:custDataLst>
              <p:tags r:id="rId3"/>
            </p:custDataLst>
          </p:nvPr>
        </p:nvSpPr>
        <p:spPr>
          <a:xfrm>
            <a:off x="3352800" y="309752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随着</a:t>
            </a:r>
            <a:r>
              <a:rPr kumimoji="0" lang="en-US"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a:t>
            </a: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值的增大，决策边界会越来越复杂</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6" name="TextBox 5"/>
          <p:cNvSpPr txBox="1"/>
          <p:nvPr>
            <p:custDataLst>
              <p:tags r:id="rId4"/>
            </p:custDataLst>
          </p:nvPr>
        </p:nvSpPr>
        <p:spPr>
          <a:xfrm>
            <a:off x="3352800" y="3954779"/>
            <a:ext cx="6400800"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一般使用投票法进行分类任务</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7" name="TextBox 6"/>
          <p:cNvSpPr txBox="1"/>
          <p:nvPr>
            <p:custDataLst>
              <p:tags r:id="rId5"/>
            </p:custDataLst>
          </p:nvPr>
        </p:nvSpPr>
        <p:spPr>
          <a:xfrm>
            <a:off x="3352799" y="4812029"/>
            <a:ext cx="6784731" cy="642938"/>
          </a:xfrm>
          <a:prstGeom prst="rect">
            <a:avLst/>
          </a:prstGeom>
          <a:noFill/>
        </p:spPr>
        <p:txBody>
          <a:bodyPr vert="horz"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距离计算方法不同，效果也可能有显著差别</a:t>
            </a:r>
            <a:endParaRPr kumimoji="0" lang="zh-CN" altLang="zh-CN" sz="2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椭圆 7"/>
          <p:cNvSpPr>
            <a:spLocks noChangeAspect="1"/>
          </p:cNvSpPr>
          <p:nvPr>
            <p:custDataLst>
              <p:tags r:id="rId6"/>
            </p:custDataLst>
          </p:nvPr>
        </p:nvSpPr>
        <p:spPr>
          <a:xfrm>
            <a:off x="2638425" y="230457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椭圆 8"/>
          <p:cNvSpPr>
            <a:spLocks noChangeAspect="1"/>
          </p:cNvSpPr>
          <p:nvPr>
            <p:custDataLst>
              <p:tags r:id="rId7"/>
            </p:custDataLst>
          </p:nvPr>
        </p:nvSpPr>
        <p:spPr>
          <a:xfrm>
            <a:off x="2638425" y="3161822"/>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椭圆 9"/>
          <p:cNvSpPr>
            <a:spLocks noChangeAspect="1"/>
          </p:cNvSpPr>
          <p:nvPr>
            <p:custDataLst>
              <p:tags r:id="rId8"/>
            </p:custDataLst>
          </p:nvPr>
        </p:nvSpPr>
        <p:spPr>
          <a:xfrm>
            <a:off x="2638425" y="401907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椭圆 10"/>
          <p:cNvSpPr>
            <a:spLocks noChangeAspect="1"/>
          </p:cNvSpPr>
          <p:nvPr>
            <p:custDataLst>
              <p:tags r:id="rId9"/>
            </p:custDataLst>
          </p:nvPr>
        </p:nvSpPr>
        <p:spPr>
          <a:xfrm>
            <a:off x="2638425" y="4876322"/>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圆角矩形 11"/>
          <p:cNvSpPr/>
          <p:nvPr>
            <p:custDataLst>
              <p:tags r:id="rId10"/>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7" name="组合 16"/>
          <p:cNvGrpSpPr/>
          <p:nvPr>
            <p:custDataLst>
              <p:tags r:id="rId11"/>
            </p:custDataLst>
          </p:nvPr>
        </p:nvGrpSpPr>
        <p:grpSpPr>
          <a:xfrm>
            <a:off x="0" y="0"/>
            <a:ext cx="9144000" cy="635000"/>
            <a:chOff x="0" y="0"/>
            <a:chExt cx="9144000" cy="635000"/>
          </a:xfrm>
        </p:grpSpPr>
        <p:sp>
          <p:nvSpPr>
            <p:cNvPr id="13"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单选题</a:t>
              </a:r>
              <a:endParaRPr kumimoji="0" lang="zh-CN" altLang="en-US" sz="2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a:t>
              </a:r>
              <a:r>
                <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a:t>
              </a:r>
              <a:endParaRPr kumimoji="0" lang="zh-CN" altLang="en-US" sz="2000" b="0" i="0" u="none" strike="noStrike" kern="1200" cap="none" spc="0" normalizeH="0" baseline="0" noProof="0">
                <a:ln>
                  <a:noFill/>
                </a:ln>
                <a:solidFill>
                  <a:srgbClr val="80808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26872" y="433255"/>
            <a:ext cx="3824582" cy="1089529"/>
          </a:xfrm>
        </p:spPr>
        <p:txBody>
          <a:bodyPr/>
          <a:lstStyle/>
          <a:p>
            <a:r>
              <a:rPr lang="zh-CN" altLang="en-US" sz="3600" dirty="0">
                <a:solidFill>
                  <a:srgbClr val="009999"/>
                </a:solidFill>
              </a:rPr>
              <a:t>第</a:t>
            </a:r>
            <a:r>
              <a:rPr lang="en-US" altLang="zh-CN" sz="3600" dirty="0">
                <a:solidFill>
                  <a:srgbClr val="009999"/>
                </a:solidFill>
              </a:rPr>
              <a:t>3</a:t>
            </a:r>
            <a:r>
              <a:rPr lang="zh-CN" altLang="en-US" sz="3600" dirty="0">
                <a:solidFill>
                  <a:srgbClr val="009999"/>
                </a:solidFill>
              </a:rPr>
              <a:t>章实验要求</a:t>
            </a:r>
            <a:endParaRPr lang="zh-CN" altLang="en-US" sz="3600" dirty="0">
              <a:solidFill>
                <a:srgbClr val="009999"/>
              </a:solidFill>
            </a:endParaRPr>
          </a:p>
        </p:txBody>
      </p:sp>
      <p:sp>
        <p:nvSpPr>
          <p:cNvPr id="3" name="TextBox 2"/>
          <p:cNvSpPr txBox="1"/>
          <p:nvPr/>
        </p:nvSpPr>
        <p:spPr>
          <a:xfrm>
            <a:off x="769433" y="1522784"/>
            <a:ext cx="11106615" cy="4247317"/>
          </a:xfrm>
          <a:prstGeom prst="rect">
            <a:avLst/>
          </a:prstGeom>
          <a:noFill/>
        </p:spPr>
        <p:txBody>
          <a:bodyPr wrap="square" rtlCol="0">
            <a:spAutoFit/>
          </a:bodyPr>
          <a:lstStyle/>
          <a:p>
            <a:pPr>
              <a:lnSpc>
                <a:spcPct val="125000"/>
              </a:lnSpc>
            </a:pPr>
            <a:r>
              <a:rPr lang="en-US" altLang="zh-CN" sz="2400" dirty="0"/>
              <a:t>1</a:t>
            </a:r>
            <a:r>
              <a:rPr lang="zh-CN" altLang="en-US" sz="2400" dirty="0"/>
              <a:t>、编写代码，实现对</a:t>
            </a:r>
            <a:r>
              <a:rPr lang="en-US" altLang="zh-CN" sz="2400" dirty="0"/>
              <a:t>iris</a:t>
            </a:r>
            <a:r>
              <a:rPr lang="zh-CN" altLang="en-US" sz="2400" dirty="0"/>
              <a:t>数据集的</a:t>
            </a:r>
            <a:r>
              <a:rPr lang="en-US" altLang="zh-CN" sz="2400" dirty="0"/>
              <a:t>KNN</a:t>
            </a:r>
            <a:r>
              <a:rPr lang="zh-CN" altLang="en-US" sz="2400" dirty="0"/>
              <a:t>算法分类及预测，要求：</a:t>
            </a:r>
            <a:endParaRPr lang="en-US" altLang="zh-CN" sz="2400" dirty="0"/>
          </a:p>
          <a:p>
            <a:pPr lvl="1">
              <a:lnSpc>
                <a:spcPct val="125000"/>
              </a:lnSpc>
            </a:pPr>
            <a:r>
              <a:rPr lang="zh-CN" altLang="en-US" sz="2400" dirty="0"/>
              <a:t>（</a:t>
            </a:r>
            <a:r>
              <a:rPr lang="en-US" altLang="zh-CN" sz="2400" dirty="0"/>
              <a:t>1</a:t>
            </a:r>
            <a:r>
              <a:rPr lang="zh-CN" altLang="en-US" sz="2400" dirty="0"/>
              <a:t>）数据集划分为测试集占</a:t>
            </a:r>
            <a:r>
              <a:rPr lang="en-US" altLang="zh-CN" sz="2400" dirty="0"/>
              <a:t>20%</a:t>
            </a:r>
            <a:r>
              <a:rPr lang="zh-CN" altLang="en-US" sz="2400" dirty="0"/>
              <a:t>；</a:t>
            </a:r>
            <a:endParaRPr lang="en-US" altLang="zh-CN" sz="2400" dirty="0"/>
          </a:p>
          <a:p>
            <a:pPr lvl="1">
              <a:lnSpc>
                <a:spcPct val="125000"/>
              </a:lnSpc>
            </a:pPr>
            <a:r>
              <a:rPr lang="zh-CN" altLang="en-US" sz="2400" dirty="0"/>
              <a:t>（</a:t>
            </a:r>
            <a:r>
              <a:rPr lang="en-US" altLang="zh-CN" sz="2400" dirty="0"/>
              <a:t>2</a:t>
            </a:r>
            <a:r>
              <a:rPr lang="zh-CN" altLang="en-US" sz="2400" dirty="0"/>
              <a:t>）</a:t>
            </a:r>
            <a:r>
              <a:rPr lang="en-US" altLang="zh-CN" sz="2400" dirty="0"/>
              <a:t>n_neighbors=5</a:t>
            </a:r>
            <a:r>
              <a:rPr lang="zh-CN" altLang="en-US" sz="2400" dirty="0"/>
              <a:t>；</a:t>
            </a:r>
            <a:endParaRPr lang="en-US" altLang="zh-CN" sz="2400" dirty="0"/>
          </a:p>
          <a:p>
            <a:pPr lvl="1">
              <a:lnSpc>
                <a:spcPct val="125000"/>
              </a:lnSpc>
            </a:pPr>
            <a:r>
              <a:rPr lang="zh-CN" altLang="en-US" sz="2400" dirty="0"/>
              <a:t>（</a:t>
            </a:r>
            <a:r>
              <a:rPr lang="en-US" altLang="zh-CN" sz="2400" dirty="0"/>
              <a:t>3</a:t>
            </a:r>
            <a:r>
              <a:rPr lang="zh-CN" altLang="en-US" sz="2400" dirty="0"/>
              <a:t>）评价模型的准确率；</a:t>
            </a:r>
            <a:endParaRPr lang="en-US" altLang="zh-CN" sz="2400" dirty="0"/>
          </a:p>
          <a:p>
            <a:pPr lvl="1">
              <a:lnSpc>
                <a:spcPct val="125000"/>
              </a:lnSpc>
            </a:pPr>
            <a:r>
              <a:rPr lang="zh-CN" altLang="en-US" sz="2400" dirty="0"/>
              <a:t>（</a:t>
            </a:r>
            <a:r>
              <a:rPr lang="en-US" altLang="zh-CN" sz="2400" dirty="0"/>
              <a:t>4</a:t>
            </a:r>
            <a:r>
              <a:rPr lang="zh-CN" altLang="en-US" sz="2400" dirty="0"/>
              <a:t>）使用模型预测未知种类的鸢尾花。</a:t>
            </a:r>
            <a:endParaRPr lang="en-US" altLang="zh-CN" sz="2400" dirty="0"/>
          </a:p>
          <a:p>
            <a:pPr>
              <a:lnSpc>
                <a:spcPct val="125000"/>
              </a:lnSpc>
            </a:pPr>
            <a:r>
              <a:rPr lang="en-US" altLang="zh-CN" sz="2400" dirty="0"/>
              <a:t>2</a:t>
            </a:r>
            <a:r>
              <a:rPr lang="zh-CN" altLang="en-US" sz="2400" dirty="0"/>
              <a:t>、改进模型，要求：</a:t>
            </a:r>
            <a:endParaRPr lang="en-US" altLang="zh-CN" sz="2400" dirty="0"/>
          </a:p>
          <a:p>
            <a:pPr lvl="1">
              <a:lnSpc>
                <a:spcPct val="125000"/>
              </a:lnSpc>
            </a:pPr>
            <a:r>
              <a:rPr lang="zh-CN" altLang="en-US" sz="2400" dirty="0"/>
              <a:t>（</a:t>
            </a:r>
            <a:r>
              <a:rPr lang="en-US" altLang="zh-CN" sz="2400" dirty="0"/>
              <a:t>1</a:t>
            </a:r>
            <a:r>
              <a:rPr lang="zh-CN" altLang="en-US" sz="2400" dirty="0"/>
              <a:t>）数据集划分采用</a:t>
            </a:r>
            <a:r>
              <a:rPr lang="en-US" altLang="zh-CN" sz="2400" dirty="0"/>
              <a:t>10</a:t>
            </a:r>
            <a:r>
              <a:rPr lang="zh-CN" altLang="en-US" sz="2400" dirty="0"/>
              <a:t>折交叉验证；</a:t>
            </a:r>
            <a:endParaRPr lang="en-US" altLang="zh-CN" sz="2400" dirty="0"/>
          </a:p>
          <a:p>
            <a:pPr lvl="1">
              <a:lnSpc>
                <a:spcPct val="125000"/>
              </a:lnSpc>
            </a:pPr>
            <a:r>
              <a:rPr lang="zh-CN" altLang="en-US" sz="2400" dirty="0"/>
              <a:t>（</a:t>
            </a:r>
            <a:r>
              <a:rPr lang="en-US" altLang="zh-CN" sz="2400" dirty="0"/>
              <a:t>2</a:t>
            </a:r>
            <a:r>
              <a:rPr lang="zh-CN" altLang="en-US" sz="2400" dirty="0"/>
              <a:t>）寻找最优的</a:t>
            </a:r>
            <a:r>
              <a:rPr lang="en-US" altLang="zh-CN" sz="2400" dirty="0"/>
              <a:t>n_neighbors</a:t>
            </a:r>
            <a:r>
              <a:rPr lang="zh-CN" altLang="en-US" sz="2400" dirty="0"/>
              <a:t>值（在</a:t>
            </a:r>
            <a:r>
              <a:rPr lang="en-US" altLang="zh-CN" sz="2400" dirty="0"/>
              <a:t>5-10</a:t>
            </a:r>
            <a:r>
              <a:rPr lang="zh-CN" altLang="en-US" sz="2400" dirty="0"/>
              <a:t>之间）；</a:t>
            </a:r>
            <a:endParaRPr lang="en-US" altLang="zh-CN" sz="2400" dirty="0"/>
          </a:p>
          <a:p>
            <a:pPr lvl="1">
              <a:lnSpc>
                <a:spcPct val="125000"/>
              </a:lnSpc>
            </a:pPr>
            <a:r>
              <a:rPr lang="zh-CN" altLang="en-US" sz="2400" dirty="0"/>
              <a:t>（</a:t>
            </a:r>
            <a:r>
              <a:rPr lang="en-US" altLang="zh-CN" sz="2400" dirty="0"/>
              <a:t>3</a:t>
            </a:r>
            <a:r>
              <a:rPr lang="zh-CN" altLang="en-US" sz="2400" dirty="0"/>
              <a:t>）使用新的模型预测未知种类的鸢尾花。</a:t>
            </a:r>
            <a:endParaRPr lang="zh-CN" altLang="en-US" sz="2400" dirty="0"/>
          </a:p>
        </p:txBody>
      </p:sp>
      <p:sp>
        <p:nvSpPr>
          <p:cNvPr id="4" name="TextBox 3"/>
          <p:cNvSpPr txBox="1"/>
          <p:nvPr/>
        </p:nvSpPr>
        <p:spPr>
          <a:xfrm>
            <a:off x="6585224" y="3230943"/>
            <a:ext cx="5389900" cy="83099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zh-CN" altLang="en-US" sz="2400" dirty="0"/>
              <a:t>待预测未知数据：</a:t>
            </a:r>
            <a:endParaRPr lang="en-US" altLang="zh-CN" sz="2400" dirty="0"/>
          </a:p>
          <a:p>
            <a:r>
              <a:rPr lang="en-US" altLang="zh-CN" sz="2400" dirty="0"/>
              <a:t>X1=[[1.5 , 3 , 5.8 , 2.2], [6.2 , 2.9 , 4.3 , 1.3]]</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案例研究：电影分类</a:t>
            </a:r>
            <a:endParaRPr lang="zh-CN" altLang="en-US" dirty="0"/>
          </a:p>
        </p:txBody>
      </p:sp>
      <p:sp>
        <p:nvSpPr>
          <p:cNvPr id="4" name="内容占位符 3"/>
          <p:cNvSpPr>
            <a:spLocks noGrp="1"/>
          </p:cNvSpPr>
          <p:nvPr>
            <p:ph idx="1"/>
          </p:nvPr>
        </p:nvSpPr>
        <p:spPr>
          <a:xfrm>
            <a:off x="0" y="1123122"/>
            <a:ext cx="10972800" cy="5218043"/>
          </a:xfrm>
        </p:spPr>
        <p:txBody>
          <a:bodyPr/>
          <a:lstStyle/>
          <a:p>
            <a:r>
              <a:rPr lang="zh-CN" altLang="en-US" sz="2400" b="1" dirty="0">
                <a:latin typeface="华光仿宋_CNKI" panose="02000500000000000000" pitchFamily="2" charset="-122"/>
                <a:ea typeface="华光仿宋_CNKI" panose="02000500000000000000" pitchFamily="2" charset="-122"/>
              </a:rPr>
              <a:t>创建训练集</a:t>
            </a:r>
            <a:r>
              <a:rPr lang="en-US" altLang="zh-CN" sz="2400" b="1" dirty="0">
                <a:latin typeface="华光仿宋_CNKI" panose="02000500000000000000" pitchFamily="2" charset="-122"/>
                <a:ea typeface="华光仿宋_CNKI" panose="02000500000000000000" pitchFamily="2" charset="-122"/>
              </a:rPr>
              <a:t>,</a:t>
            </a:r>
            <a:r>
              <a:rPr lang="zh-CN" altLang="en-US" sz="2400" b="1" dirty="0">
                <a:latin typeface="华光仿宋_CNKI" panose="02000500000000000000" pitchFamily="2" charset="-122"/>
                <a:ea typeface="华光仿宋_CNKI" panose="02000500000000000000" pitchFamily="2" charset="-122"/>
              </a:rPr>
              <a:t>特征值分别为搞笑镜头、拥抱镜头、打斗镜头的数量</a:t>
            </a:r>
            <a:endParaRPr lang="zh-CN" altLang="en-US" sz="2400" b="1" dirty="0">
              <a:latin typeface="华光仿宋_CNKI" panose="02000500000000000000" pitchFamily="2" charset="-122"/>
              <a:ea typeface="华光仿宋_CNKI" panose="02000500000000000000" pitchFamily="2" charset="-122"/>
            </a:endParaRPr>
          </a:p>
          <a:p>
            <a:r>
              <a:rPr lang="zh-CN" altLang="en-US" dirty="0">
                <a:solidFill>
                  <a:srgbClr val="D4D4D4"/>
                </a:solidFill>
                <a:latin typeface="Consolas" panose="020B0609020204030204" pitchFamily="49" charset="0"/>
              </a:rPr>
              <a:t>  </a:t>
            </a:r>
            <a:r>
              <a:rPr lang="en-US" altLang="zh-CN" sz="2000" b="1" dirty="0" err="1">
                <a:latin typeface="华光仿宋_CNKI" panose="02000500000000000000" pitchFamily="2" charset="-122"/>
                <a:ea typeface="华光仿宋_CNKI" panose="02000500000000000000" pitchFamily="2" charset="-122"/>
              </a:rPr>
              <a:t>learning_dataset</a:t>
            </a:r>
            <a:r>
              <a:rPr lang="en-US" altLang="zh-CN" sz="2000" dirty="0">
                <a:solidFill>
                  <a:srgbClr val="D4D4D4"/>
                </a:solidFill>
                <a:latin typeface="华光仿宋_CNKI" panose="02000500000000000000" pitchFamily="2" charset="-122"/>
                <a:ea typeface="华光仿宋_CNKI" panose="02000500000000000000" pitchFamily="2" charset="-122"/>
              </a:rPr>
              <a:t> = </a:t>
            </a:r>
            <a:r>
              <a:rPr lang="en-US" altLang="zh-CN" sz="2000" dirty="0">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宝贝当家</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[45, 2, 9,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美人鱼</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[21, 17, 5,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澳门风云</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[54, 9, 11,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功夫熊猫</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[39, 0, 31, "</a:t>
            </a:r>
            <a:r>
              <a:rPr lang="zh-CN" altLang="en-US" sz="2000" dirty="0">
                <a:latin typeface="华光仿宋_CNKI" panose="02000500000000000000" pitchFamily="2" charset="-122"/>
                <a:ea typeface="华光仿宋_CNKI" panose="02000500000000000000" pitchFamily="2" charset="-122"/>
              </a:rPr>
              <a:t>喜剧片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谍影重重</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[5, 2, 57,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叶问</a:t>
            </a:r>
            <a:r>
              <a:rPr lang="en-US" altLang="zh-CN" sz="2000" dirty="0">
                <a:solidFill>
                  <a:srgbClr val="CE9178"/>
                </a:solidFill>
                <a:latin typeface="华光仿宋_CNKI" panose="02000500000000000000" pitchFamily="2" charset="-122"/>
                <a:ea typeface="华光仿宋_CNKI" panose="02000500000000000000" pitchFamily="2" charset="-122"/>
              </a:rPr>
              <a:t>3"</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[3, 2, 65,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伦敦陷落</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[2, 3, 55,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我的特工爷爷</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[6, 4, 21, "</a:t>
            </a:r>
            <a:r>
              <a:rPr lang="zh-CN" altLang="en-US" sz="2000" dirty="0">
                <a:latin typeface="华光仿宋_CNKI" panose="02000500000000000000" pitchFamily="2" charset="-122"/>
                <a:ea typeface="华光仿宋_CNKI" panose="02000500000000000000" pitchFamily="2" charset="-122"/>
              </a:rPr>
              <a:t>动作片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奔爱</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[7, 46, 4,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夜孔雀</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[9, 39, 8,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代理情人</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a:t>
            </a:r>
            <a:r>
              <a:rPr lang="en-US" altLang="zh-CN" sz="2000" dirty="0">
                <a:latin typeface="华光仿宋_CNKI" panose="02000500000000000000" pitchFamily="2" charset="-122"/>
                <a:ea typeface="华光仿宋_CNKI" panose="02000500000000000000" pitchFamily="2" charset="-122"/>
              </a:rPr>
              <a:t> [9, 38, 2,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dirty="0">
              <a:latin typeface="华光仿宋_CNKI" panose="02000500000000000000" pitchFamily="2" charset="-122"/>
              <a:ea typeface="华光仿宋_CNKI" panose="02000500000000000000" pitchFamily="2" charset="-122"/>
            </a:endParaRPr>
          </a:p>
          <a:p>
            <a:r>
              <a:rPr lang="zh-CN" altLang="en-US" sz="2000" dirty="0">
                <a:solidFill>
                  <a:srgbClr val="9CDCFE"/>
                </a:solidFill>
                <a:latin typeface="华光仿宋_CNKI" panose="02000500000000000000" pitchFamily="2" charset="-122"/>
                <a:ea typeface="华光仿宋_CNKI" panose="02000500000000000000" pitchFamily="2" charset="-122"/>
              </a:rPr>
              <a:t>                              </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zh-CN" altLang="en-US" sz="2000" dirty="0">
                <a:solidFill>
                  <a:srgbClr val="CE9178"/>
                </a:solidFill>
                <a:latin typeface="华光仿宋_CNKI" panose="02000500000000000000" pitchFamily="2" charset="-122"/>
                <a:ea typeface="华光仿宋_CNKI" panose="02000500000000000000" pitchFamily="2" charset="-122"/>
              </a:rPr>
              <a:t>新步步惊心</a:t>
            </a:r>
            <a:r>
              <a:rPr lang="en-US" altLang="zh-CN" sz="2000" dirty="0">
                <a:solidFill>
                  <a:srgbClr val="CE9178"/>
                </a:solidFill>
                <a:latin typeface="华光仿宋_CNKI" panose="02000500000000000000" pitchFamily="2" charset="-122"/>
                <a:ea typeface="华光仿宋_CNKI" panose="02000500000000000000" pitchFamily="2" charset="-122"/>
              </a:rPr>
              <a:t>"</a:t>
            </a:r>
            <a:r>
              <a:rPr lang="en-US" altLang="zh-CN" sz="2000" dirty="0">
                <a:solidFill>
                  <a:srgbClr val="D4D4D4"/>
                </a:solidFill>
                <a:latin typeface="华光仿宋_CNKI" panose="02000500000000000000" pitchFamily="2" charset="-122"/>
                <a:ea typeface="华光仿宋_CNKI" panose="02000500000000000000" pitchFamily="2" charset="-122"/>
              </a:rPr>
              <a:t>: </a:t>
            </a:r>
            <a:r>
              <a:rPr lang="en-US" altLang="zh-CN" sz="2000" dirty="0">
                <a:latin typeface="华光仿宋_CNKI" panose="02000500000000000000" pitchFamily="2" charset="-122"/>
                <a:ea typeface="华光仿宋_CNKI" panose="02000500000000000000" pitchFamily="2" charset="-122"/>
              </a:rPr>
              <a:t>[8, 34, 17, "</a:t>
            </a:r>
            <a:r>
              <a:rPr lang="zh-CN" altLang="en-US" sz="2000" dirty="0">
                <a:latin typeface="华光仿宋_CNKI" panose="02000500000000000000" pitchFamily="2" charset="-122"/>
                <a:ea typeface="华光仿宋_CNKI" panose="02000500000000000000" pitchFamily="2" charset="-122"/>
              </a:rPr>
              <a:t>爱情片</a:t>
            </a:r>
            <a:r>
              <a:rPr lang="en-US" altLang="zh-CN" sz="2000" dirty="0">
                <a:latin typeface="华光仿宋_CNKI" panose="02000500000000000000" pitchFamily="2" charset="-122"/>
                <a:ea typeface="华光仿宋_CNKI" panose="02000500000000000000" pitchFamily="2" charset="-122"/>
              </a:rPr>
              <a:t>"]}</a:t>
            </a:r>
            <a:endParaRPr lang="en-US" altLang="zh-CN" sz="2000" b="0" dirty="0">
              <a:effectLst/>
              <a:latin typeface="华光仿宋_CNKI" panose="02000500000000000000" pitchFamily="2" charset="-122"/>
              <a:ea typeface="华光仿宋_CNKI" panose="02000500000000000000" pitchFamily="2" charset="-122"/>
            </a:endParaRPr>
          </a:p>
        </p:txBody>
      </p:sp>
      <p:pic>
        <p:nvPicPr>
          <p:cNvPr id="5" name="图片 4"/>
          <p:cNvPicPr>
            <a:picLocks noChangeAspect="1"/>
          </p:cNvPicPr>
          <p:nvPr/>
        </p:nvPicPr>
        <p:blipFill>
          <a:blip r:embed="rId1"/>
          <a:stretch>
            <a:fillRect/>
          </a:stretch>
        </p:blipFill>
        <p:spPr>
          <a:xfrm>
            <a:off x="6723414" y="5400827"/>
            <a:ext cx="5468586" cy="536494"/>
          </a:xfrm>
          <a:prstGeom prst="rect">
            <a:avLst/>
          </a:prstGeom>
          <a:solidFill>
            <a:schemeClr val="accent6">
              <a:lumMod val="85000"/>
            </a:schemeClr>
          </a:solidFill>
        </p:spPr>
      </p:pic>
      <p:sp>
        <p:nvSpPr>
          <p:cNvPr id="6" name="文本框 5"/>
          <p:cNvSpPr txBox="1"/>
          <p:nvPr/>
        </p:nvSpPr>
        <p:spPr>
          <a:xfrm>
            <a:off x="6723414" y="4796928"/>
            <a:ext cx="1843774" cy="400110"/>
          </a:xfrm>
          <a:prstGeom prst="rect">
            <a:avLst/>
          </a:prstGeom>
          <a:solidFill>
            <a:schemeClr val="accent6">
              <a:lumMod val="85000"/>
            </a:schemeClr>
          </a:solidFill>
        </p:spPr>
        <p:txBody>
          <a:bodyPr wrap="none" rtlCol="0">
            <a:spAutoFit/>
          </a:bodyPr>
          <a:lstStyle/>
          <a:p>
            <a:r>
              <a:rPr lang="zh-CN" altLang="en-US" sz="2000" b="1" dirty="0">
                <a:solidFill>
                  <a:srgbClr val="FF0000"/>
                </a:solidFill>
                <a:latin typeface="华光仿宋_CNKI" panose="02000500000000000000" pitchFamily="2" charset="-122"/>
                <a:ea typeface="华光仿宋_CNKI" panose="02000500000000000000" pitchFamily="2" charset="-122"/>
              </a:rPr>
              <a:t>使用</a:t>
            </a:r>
            <a:r>
              <a:rPr lang="en-US" altLang="zh-CN" sz="2000" b="1" dirty="0">
                <a:solidFill>
                  <a:srgbClr val="FF0000"/>
                </a:solidFill>
                <a:latin typeface="华光仿宋_CNKI" panose="02000500000000000000" pitchFamily="2" charset="-122"/>
                <a:ea typeface="华光仿宋_CNKI" panose="02000500000000000000" pitchFamily="2" charset="-122"/>
              </a:rPr>
              <a:t>KNN</a:t>
            </a:r>
            <a:r>
              <a:rPr lang="zh-CN" altLang="en-US" sz="2000" b="1" dirty="0">
                <a:solidFill>
                  <a:srgbClr val="FF0000"/>
                </a:solidFill>
                <a:latin typeface="华光仿宋_CNKI" panose="02000500000000000000" pitchFamily="2" charset="-122"/>
                <a:ea typeface="华光仿宋_CNKI" panose="02000500000000000000" pitchFamily="2" charset="-122"/>
              </a:rPr>
              <a:t>判断</a:t>
            </a:r>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103"/>
          <p:cNvSpPr>
            <a:spLocks noChangeArrowheads="1"/>
          </p:cNvSpPr>
          <p:nvPr/>
        </p:nvSpPr>
        <p:spPr bwMode="auto">
          <a:xfrm>
            <a:off x="0" y="1998889"/>
            <a:ext cx="12190413" cy="2168525"/>
          </a:xfrm>
          <a:prstGeom prst="rect">
            <a:avLst/>
          </a:prstGeom>
          <a:solidFill>
            <a:srgbClr val="006EBC"/>
          </a:solidFill>
          <a:ln>
            <a:solidFill>
              <a:srgbClr val="006EBC"/>
            </a:solidFill>
          </a:ln>
          <a:effectLst>
            <a:outerShdw blurRad="50800" dist="38100" dir="5400000" algn="t" rotWithShape="0">
              <a:srgbClr val="000000">
                <a:alpha val="0"/>
              </a:srgbClr>
            </a:outerShdw>
          </a:effectLst>
        </p:spPr>
        <p:txBody>
          <a:bodyPr anchor="ctr"/>
          <a:lstStyle/>
          <a:p>
            <a:pPr algn="ctr">
              <a:defRPr/>
            </a:pPr>
            <a:endParaRPr lang="zh-CN" altLang="en-US" sz="715" dirty="0">
              <a:solidFill>
                <a:schemeClr val="bg1"/>
              </a:solidFill>
              <a:latin typeface="Calibri" panose="020F0502020204030204"/>
              <a:ea typeface="宋体" panose="02010600030101010101" pitchFamily="2" charset="-122"/>
              <a:cs typeface="宋体" panose="02010600030101010101" pitchFamily="2" charset="-122"/>
            </a:endParaRPr>
          </a:p>
        </p:txBody>
      </p:sp>
      <p:sp>
        <p:nvSpPr>
          <p:cNvPr id="106" name="Title 1"/>
          <p:cNvSpPr txBox="1"/>
          <p:nvPr/>
        </p:nvSpPr>
        <p:spPr>
          <a:xfrm>
            <a:off x="5003888" y="1577696"/>
            <a:ext cx="7082051" cy="1950822"/>
          </a:xfrm>
          <a:prstGeom prst="rect">
            <a:avLst/>
          </a:prstGeom>
        </p:spPr>
        <p:txBody>
          <a:bodyPr lIns="68580" tIns="34290" rIns="68580" bIns="34290"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pPr>
              <a:defRPr/>
            </a:pPr>
            <a:r>
              <a:rPr altLang="zh-CN" sz="6600">
                <a:ln>
                  <a:solidFill>
                    <a:schemeClr val="bg1"/>
                  </a:solidFill>
                </a:ln>
                <a:effectLst>
                  <a:reflection blurRad="6350" stA="50000" endA="300" endPos="50000" dist="29997" dir="5400000" sy="-100000" algn="bl" rotWithShape="0"/>
                </a:effectLst>
              </a:rPr>
              <a:t>Thank you!</a:t>
            </a:r>
            <a:endParaRPr lang="zh-CN" altLang="en-US" sz="6600">
              <a:ln>
                <a:solidFill>
                  <a:schemeClr val="bg1"/>
                </a:solidFill>
              </a:ln>
              <a:effectLst>
                <a:reflection blurRad="6350" stA="50000" endA="300" endPos="50000" dist="29997" dir="5400000" sy="-100000" algn="bl" rotWithShape="0"/>
              </a:effectLst>
            </a:endParaRPr>
          </a:p>
        </p:txBody>
      </p:sp>
      <p:pic>
        <p:nvPicPr>
          <p:cNvPr id="107" name="图片 106" descr="AW视觉符号.jpg"/>
          <p:cNvPicPr>
            <a:picLocks noChangeAspect="1"/>
          </p:cNvPicPr>
          <p:nvPr/>
        </p:nvPicPr>
        <p:blipFill>
          <a:blip r:embed="rId1" cstate="print"/>
          <a:stretch>
            <a:fillRect/>
          </a:stretch>
        </p:blipFill>
        <p:spPr>
          <a:xfrm>
            <a:off x="202395" y="2277202"/>
            <a:ext cx="4697019"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ISLIDE.ADDREMOVEWATERMARK" val="TSZ3HzpXfZ"/>
</p:tagLst>
</file>

<file path=ppt/tags/tag11.xml><?xml version="1.0" encoding="utf-8"?>
<p:tagLst xmlns:p="http://schemas.openxmlformats.org/presentationml/2006/main">
  <p:tag name="ISLIDE.ADDREMOVEWATERMARK" val="TSZ3HzpXfZ"/>
</p:tagLst>
</file>

<file path=ppt/tags/tag12.xml><?xml version="1.0" encoding="utf-8"?>
<p:tagLst xmlns:p="http://schemas.openxmlformats.org/presentationml/2006/main">
  <p:tag name="ISLIDE.ADDREMOVEWATERMARK" val="TSZ3HzpXfZ"/>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ISLIDE.ADDREMOVEWATERMARK" val="TSZ3HzpXfZ"/>
</p:tagLst>
</file>

<file path=ppt/tags/tag15.xml><?xml version="1.0" encoding="utf-8"?>
<p:tagLst xmlns:p="http://schemas.openxmlformats.org/presentationml/2006/main">
  <p:tag name="ISLIDE.ADDREMOVEWATERMARK" val="TSZ3HzpXfZ"/>
</p:tagLst>
</file>

<file path=ppt/tags/tag16.xml><?xml version="1.0" encoding="utf-8"?>
<p:tagLst xmlns:p="http://schemas.openxmlformats.org/presentationml/2006/main">
  <p:tag name="RAINPROBLEM" val="ProblemBody"/>
</p:tagLst>
</file>

<file path=ppt/tags/tag17.xml><?xml version="1.0" encoding="utf-8"?>
<p:tagLst xmlns:p="http://schemas.openxmlformats.org/presentationml/2006/main">
  <p:tag name="RAINPROBLEM" val="ProblemItem"/>
  <p:tag name="KSO_WM_DIAGRAM_VIRTUALLY_FRAME" val="{&quot;height&quot;:253.1250393700787,&quot;left&quot;:243.9,&quot;top&quot;:182.6827559055118,&quot;width&quot;:560.25}"/>
</p:tagLst>
</file>

<file path=ppt/tags/tag18.xml><?xml version="1.0" encoding="utf-8"?>
<p:tagLst xmlns:p="http://schemas.openxmlformats.org/presentationml/2006/main">
  <p:tag name="RAINPROBLEM" val="ProblemItem"/>
  <p:tag name="KSO_WM_DIAGRAM_VIRTUALLY_FRAME" val="{&quot;height&quot;:253.1250393700787,&quot;left&quot;:243.9,&quot;top&quot;:182.6827559055118,&quot;width&quot;:560.25}"/>
</p:tagLst>
</file>

<file path=ppt/tags/tag19.xml><?xml version="1.0" encoding="utf-8"?>
<p:tagLst xmlns:p="http://schemas.openxmlformats.org/presentationml/2006/main">
  <p:tag name="RAINPROBLEM" val="ProblemItem"/>
  <p:tag name="KSO_WM_DIAGRAM_VIRTUALLY_FRAME" val="{&quot;height&quot;:253.1250393700787,&quot;left&quot;:243.9,&quot;top&quot;:182.6827559055118,&quot;width&quot;:560.25}"/>
</p:tagLst>
</file>

<file path=ppt/tags/tag20.xml><?xml version="1.0" encoding="utf-8"?>
<p:tagLst xmlns:p="http://schemas.openxmlformats.org/presentationml/2006/main">
  <p:tag name="RAINPROBLEM" val="ProblemItem"/>
  <p:tag name="KSO_WM_DIAGRAM_VIRTUALLY_FRAME" val="{&quot;height&quot;:253.1250393700787,&quot;left&quot;:243.9,&quot;top&quot;:182.6827559055118,&quot;width&quot;:560.25}"/>
</p:tagLst>
</file>

<file path=ppt/tags/tag21.xml><?xml version="1.0" encoding="utf-8"?>
<p:tagLst xmlns:p="http://schemas.openxmlformats.org/presentationml/2006/main">
  <p:tag name="RAINPROBLEM" val="ProblemBullet"/>
  <p:tag name="RAINPROBLEMTYPE" val="MultipleChoiceMA"/>
  <p:tag name="RAINBULLET" val="Correct"/>
  <p:tag name="KSO_WM_DIAGRAM_VIRTUALLY_FRAME" val="{&quot;height&quot;:253.1250393700787,&quot;left&quot;:243.9,&quot;top&quot;:182.6827559055118,&quot;width&quot;:560.25}"/>
</p:tagLst>
</file>

<file path=ppt/tags/tag22.xml><?xml version="1.0" encoding="utf-8"?>
<p:tagLst xmlns:p="http://schemas.openxmlformats.org/presentationml/2006/main">
  <p:tag name="RAINPROBLEM" val="ProblemBullet"/>
  <p:tag name="RAINPROBLEMTYPE" val="MultipleChoiceMA"/>
  <p:tag name="RAINBULLET" val="Correct"/>
  <p:tag name="KSO_WM_DIAGRAM_VIRTUALLY_FRAME" val="{&quot;height&quot;:253.1250393700787,&quot;left&quot;:243.9,&quot;top&quot;:182.6827559055118,&quot;width&quot;:560.25}"/>
</p:tagLst>
</file>

<file path=ppt/tags/tag23.xml><?xml version="1.0" encoding="utf-8"?>
<p:tagLst xmlns:p="http://schemas.openxmlformats.org/presentationml/2006/main">
  <p:tag name="RAINPROBLEM" val="ProblemBullet"/>
  <p:tag name="RAINPROBLEMTYPE" val="MultipleChoiceMA"/>
  <p:tag name="RAINBULLET" val="Wrong"/>
  <p:tag name="KSO_WM_DIAGRAM_VIRTUALLY_FRAME" val="{&quot;height&quot;:253.1250393700787,&quot;left&quot;:243.9,&quot;top&quot;:182.6827559055118,&quot;width&quot;:560.25}"/>
</p:tagLst>
</file>

<file path=ppt/tags/tag24.xml><?xml version="1.0" encoding="utf-8"?>
<p:tagLst xmlns:p="http://schemas.openxmlformats.org/presentationml/2006/main">
  <p:tag name="RAINPROBLEM" val="ProblemBullet"/>
  <p:tag name="RAINPROBLEMTYPE" val="MultipleChoiceMA"/>
  <p:tag name="RAINBULLET" val="Correct"/>
  <p:tag name="KSO_WM_DIAGRAM_VIRTUALLY_FRAME" val="{&quot;height&quot;:253.1250393700787,&quot;left&quot;:243.9,&quot;top&quot;:182.6827559055118,&quot;width&quot;:560.25}"/>
</p:tagLst>
</file>

<file path=ppt/tags/tag25.xml><?xml version="1.0" encoding="utf-8"?>
<p:tagLst xmlns:p="http://schemas.openxmlformats.org/presentationml/2006/main">
  <p:tag name="RAINPROBLEM" val="ProblemSubmit"/>
  <p:tag name="RAINPROBLEMTYPE" val="MultipleChoiceMA"/>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 val="ProblemSetting"/>
  <p:tag name="RAINPROBLEMTYPE" val="MultipleChoiceMA"/>
</p:tagLst>
</file>

<file path=ppt/tags/tag32.xml><?xml version="1.0" encoding="utf-8"?>
<p:tagLst xmlns:p="http://schemas.openxmlformats.org/presentationml/2006/main">
  <p:tag name="RAINPROBLEMTYPE" val="MultipleChoiceMA"/>
  <p:tag name="RAINPROBLEM" val="MultipleChoiceMA"/>
  <p:tag name="PROBLEMSCORE_HALF" val="0.0"/>
  <p:tag name="PROBLEMSCORE" val="2.0"/>
</p:tagLst>
</file>

<file path=ppt/tags/tag33.xml><?xml version="1.0" encoding="utf-8"?>
<p:tagLst xmlns:p="http://schemas.openxmlformats.org/presentationml/2006/main">
  <p:tag name="RAINPROBLEM" val="ProblemBody"/>
</p:tagLst>
</file>

<file path=ppt/tags/tag34.xml><?xml version="1.0" encoding="utf-8"?>
<p:tagLst xmlns:p="http://schemas.openxmlformats.org/presentationml/2006/main">
  <p:tag name="RAINPROBLEM" val="ProblemItem"/>
  <p:tag name="KSO_WM_DIAGRAM_VIRTUALLY_FRAME" val="{&quot;height&quot;:253.1250393700787,&quot;left&quot;:207.75,&quot;top&quot;:176.39992125984253,&quot;width&quot;:560.25}"/>
</p:tagLst>
</file>

<file path=ppt/tags/tag35.xml><?xml version="1.0" encoding="utf-8"?>
<p:tagLst xmlns:p="http://schemas.openxmlformats.org/presentationml/2006/main">
  <p:tag name="RAINPROBLEM" val="ProblemItem"/>
  <p:tag name="KSO_WM_DIAGRAM_VIRTUALLY_FRAME" val="{&quot;height&quot;:253.1250393700787,&quot;left&quot;:207.75,&quot;top&quot;:176.39992125984253,&quot;width&quot;:560.25}"/>
</p:tagLst>
</file>

<file path=ppt/tags/tag36.xml><?xml version="1.0" encoding="utf-8"?>
<p:tagLst xmlns:p="http://schemas.openxmlformats.org/presentationml/2006/main">
  <p:tag name="RAINPROBLEM" val="ProblemItem"/>
  <p:tag name="KSO_WM_DIAGRAM_VIRTUALLY_FRAME" val="{&quot;height&quot;:253.1250393700787,&quot;left&quot;:207.75,&quot;top&quot;:176.39992125984253,&quot;width&quot;:560.25}"/>
</p:tagLst>
</file>

<file path=ppt/tags/tag37.xml><?xml version="1.0" encoding="utf-8"?>
<p:tagLst xmlns:p="http://schemas.openxmlformats.org/presentationml/2006/main">
  <p:tag name="RAINPROBLEM" val="ProblemItem"/>
  <p:tag name="KSO_WM_DIAGRAM_VIRTUALLY_FRAME" val="{&quot;height&quot;:253.1250393700787,&quot;left&quot;:207.75,&quot;top&quot;:176.39992125984253,&quot;width&quot;:560.25}"/>
</p:tagLst>
</file>

<file path=ppt/tags/tag38.xml><?xml version="1.0" encoding="utf-8"?>
<p:tagLst xmlns:p="http://schemas.openxmlformats.org/presentationml/2006/main">
  <p:tag name="RAINPROBLEM" val="ProblemBullet"/>
  <p:tag name="RAINPROBLEMTYPE" val="MultipleChoice"/>
  <p:tag name="RAINBULLET" val="Wrong"/>
  <p:tag name="KSO_WM_DIAGRAM_VIRTUALLY_FRAME" val="{&quot;height&quot;:253.1250393700787,&quot;left&quot;:207.75,&quot;top&quot;:176.39992125984253,&quot;width&quot;:560.25}"/>
</p:tagLst>
</file>

<file path=ppt/tags/tag39.xml><?xml version="1.0" encoding="utf-8"?>
<p:tagLst xmlns:p="http://schemas.openxmlformats.org/presentationml/2006/main">
  <p:tag name="RAINPROBLEM" val="ProblemBullet"/>
  <p:tag name="RAINPROBLEMTYPE" val="MultipleChoice"/>
  <p:tag name="RAINBULLET" val="Wrong"/>
  <p:tag name="KSO_WM_DIAGRAM_VIRTUALLY_FRAME" val="{&quot;height&quot;:253.1250393700787,&quot;left&quot;:207.75,&quot;top&quot;:176.39992125984253,&quot;width&quot;:560.25}"/>
</p:tagLst>
</file>

<file path=ppt/tags/tag40.xml><?xml version="1.0" encoding="utf-8"?>
<p:tagLst xmlns:p="http://schemas.openxmlformats.org/presentationml/2006/main">
  <p:tag name="RAINPROBLEM" val="ProblemBullet"/>
  <p:tag name="RAINPROBLEMTYPE" val="MultipleChoice"/>
  <p:tag name="RAINBULLET" val="Wrong"/>
  <p:tag name="KSO_WM_DIAGRAM_VIRTUALLY_FRAME" val="{&quot;height&quot;:253.1250393700787,&quot;left&quot;:207.75,&quot;top&quot;:176.39992125984253,&quot;width&quot;:560.25}"/>
</p:tagLst>
</file>

<file path=ppt/tags/tag41.xml><?xml version="1.0" encoding="utf-8"?>
<p:tagLst xmlns:p="http://schemas.openxmlformats.org/presentationml/2006/main">
  <p:tag name="RAINPROBLEM" val="ProblemBullet"/>
  <p:tag name="RAINPROBLEMTYPE" val="MultipleChoice"/>
  <p:tag name="RAINBULLET" val="Correct"/>
  <p:tag name="KSO_WM_DIAGRAM_VIRTUALLY_FRAME" val="{&quot;height&quot;:253.1250393700787,&quot;left&quot;:207.75,&quot;top&quot;:176.39992125984253,&quot;width&quot;:560.25}"/>
</p:tagLst>
</file>

<file path=ppt/tags/tag42.xml><?xml version="1.0" encoding="utf-8"?>
<p:tagLst xmlns:p="http://schemas.openxmlformats.org/presentationml/2006/main">
  <p:tag name="RAINPROBLEM" val="ProblemSubmit"/>
  <p:tag name="RAINPROBLEMTYPE" val="MultipleChoice"/>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 val="ProblemSetting"/>
  <p:tag name="RAINPROBLEMTYPE" val="MultipleChoice"/>
</p:tagLst>
</file>

<file path=ppt/tags/tag49.xml><?xml version="1.0" encoding="utf-8"?>
<p:tagLst xmlns:p="http://schemas.openxmlformats.org/presentationml/2006/main">
  <p:tag name="PROBLEMSCORE_HALF" val="0.0"/>
  <p:tag name="PROBLEMSCORE" val="2.0"/>
  <p:tag name="RAINPROBLEMTYPE" val="MultipleChoice"/>
  <p:tag name="RAINPROBLEM" val="MultipleChoice"/>
</p:tagLst>
</file>

<file path=ppt/tags/tag50.xml><?xml version="1.0" encoding="utf-8"?>
<p:tagLst xmlns:p="http://schemas.openxmlformats.org/presentationml/2006/main">
  <p:tag name="RAINPROBLEM" val="ProblemBody"/>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Bullet"/>
  <p:tag name="RAINPROBLEMTYPE" val="MultipleChoice"/>
  <p:tag name="RAINBULLET" val="Wrong"/>
</p:tagLst>
</file>

<file path=ppt/tags/tag56.xml><?xml version="1.0" encoding="utf-8"?>
<p:tagLst xmlns:p="http://schemas.openxmlformats.org/presentationml/2006/main">
  <p:tag name="RAINPROBLEM" val="ProblemBullet"/>
  <p:tag name="RAINPROBLEMTYPE" val="MultipleChoice"/>
  <p:tag name="RAINBULLET" val="Correct"/>
</p:tagLst>
</file>

<file path=ppt/tags/tag57.xml><?xml version="1.0" encoding="utf-8"?>
<p:tagLst xmlns:p="http://schemas.openxmlformats.org/presentationml/2006/main">
  <p:tag name="RAINPROBLEM" val="ProblemBullet"/>
  <p:tag name="RAINPROBLEMTYPE" val="MultipleChoice"/>
  <p:tag name="RAINBULLET" val="Wrong"/>
</p:tagLst>
</file>

<file path=ppt/tags/tag58.xml><?xml version="1.0" encoding="utf-8"?>
<p:tagLst xmlns:p="http://schemas.openxmlformats.org/presentationml/2006/main">
  <p:tag name="RAINPROBLEM" val="ProblemBullet"/>
  <p:tag name="RAINPROBLEMTYPE" val="MultipleChoice"/>
  <p:tag name="RAINBULLET" val="Wrong"/>
</p:tagLst>
</file>

<file path=ppt/tags/tag59.xml><?xml version="1.0" encoding="utf-8"?>
<p:tagLst xmlns:p="http://schemas.openxmlformats.org/presentationml/2006/main">
  <p:tag name="RAINPROBLEM" val="ProblemSubmit"/>
  <p:tag name="RAINPROBLEMTYPE" val="MultipleChoice"/>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TYPE" val="ProblemTypeMarker"/>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 val="ProblemSetting"/>
  <p:tag name="RAINPROBLEMTYPE" val="MultipleChoice"/>
</p:tagLst>
</file>

<file path=ppt/tags/tag66.xml><?xml version="1.0" encoding="utf-8"?>
<p:tagLst xmlns:p="http://schemas.openxmlformats.org/presentationml/2006/main">
  <p:tag name="PROBLEMSCORE_HALF" val="0.0"/>
  <p:tag name="PROBLEMSCORE" val="2.0"/>
  <p:tag name="RAINPROBLEMTYPE" val="MultipleChoice"/>
  <p:tag name="RAINPROBLEM" val="MultipleChoice"/>
</p:tagLst>
</file>

<file path=ppt/tags/tag67.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7598</Words>
  <Application>WPS 演示</Application>
  <PresentationFormat>宽屏</PresentationFormat>
  <Paragraphs>766</Paragraphs>
  <Slides>65</Slides>
  <Notes>50</Notes>
  <HiddenSlides>2</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65</vt:i4>
      </vt:variant>
    </vt:vector>
  </HeadingPairs>
  <TitlesOfParts>
    <vt:vector size="91" baseType="lpstr">
      <vt:lpstr>Arial</vt:lpstr>
      <vt:lpstr>宋体</vt:lpstr>
      <vt:lpstr>Wingdings</vt:lpstr>
      <vt:lpstr>Verdana</vt:lpstr>
      <vt:lpstr>微软雅黑</vt:lpstr>
      <vt:lpstr>Calibri</vt:lpstr>
      <vt:lpstr>Noto Sans S Chinese Medium</vt:lpstr>
      <vt:lpstr>Century Gothic</vt:lpstr>
      <vt:lpstr>Times New Roman</vt:lpstr>
      <vt:lpstr>Arial</vt:lpstr>
      <vt:lpstr>Times New Roman</vt:lpstr>
      <vt:lpstr>Trebuchet MS</vt:lpstr>
      <vt:lpstr>Calibri Light</vt:lpstr>
      <vt:lpstr>Arial Unicode MS</vt:lpstr>
      <vt:lpstr>Wingdings</vt:lpstr>
      <vt:lpstr>Cambria Math</vt:lpstr>
      <vt:lpstr>Consolas</vt:lpstr>
      <vt:lpstr>华光仿宋_CNKI</vt:lpstr>
      <vt:lpstr>仿宋</vt:lpstr>
      <vt:lpstr>Courier New</vt:lpstr>
      <vt:lpstr>等线</vt:lpstr>
      <vt:lpstr>微软雅黑 Light</vt:lpstr>
      <vt:lpstr>BatangChe</vt:lpstr>
      <vt:lpstr>Segoe Print</vt:lpstr>
      <vt:lpstr>第一PPT，www.1ppt.com</vt:lpstr>
      <vt:lpstr>1_第一PPT，www.1ppt.com</vt:lpstr>
      <vt:lpstr>PowerPoint 演示文稿</vt:lpstr>
      <vt:lpstr>PowerPoint 演示文稿</vt:lpstr>
      <vt:lpstr>PowerPoint 演示文稿</vt:lpstr>
      <vt:lpstr>kNN算法概述</vt:lpstr>
      <vt:lpstr>分类需要什么？</vt:lpstr>
      <vt:lpstr>K近邻（KNN）分类</vt:lpstr>
      <vt:lpstr>K近邻（KNN）分类</vt:lpstr>
      <vt:lpstr>K近邻（KNN）分类</vt:lpstr>
      <vt:lpstr>K近邻（KNN）分类</vt:lpstr>
      <vt:lpstr>K近邻（KNN）分类</vt:lpstr>
      <vt:lpstr>K近邻（KNN）分类</vt:lpstr>
      <vt:lpstr>K近邻（KNN）分类</vt:lpstr>
      <vt:lpstr>K近邻模型需要选择</vt:lpstr>
      <vt:lpstr>PowerPoint 演示文稿</vt:lpstr>
      <vt:lpstr>1、相似性度量——欧氏距离</vt:lpstr>
      <vt:lpstr>1、相似性度量——欧氏距离</vt:lpstr>
      <vt:lpstr>PowerPoint 演示文稿</vt:lpstr>
      <vt:lpstr>PowerPoint 演示文稿</vt:lpstr>
      <vt:lpstr>2、K值的选取</vt:lpstr>
      <vt:lpstr>PowerPoint 演示文稿</vt:lpstr>
      <vt:lpstr>不同K值的分类决策边界</vt:lpstr>
      <vt:lpstr>PowerPoint 演示文稿</vt:lpstr>
      <vt:lpstr>KNN例子</vt:lpstr>
      <vt:lpstr>KNN例子</vt:lpstr>
      <vt:lpstr>KNN例子</vt:lpstr>
      <vt:lpstr>KNN例子</vt:lpstr>
      <vt:lpstr>kNN算法流程</vt:lpstr>
      <vt:lpstr>算法步骤</vt:lpstr>
      <vt:lpstr>算法实现</vt:lpstr>
      <vt:lpstr>PowerPoint 演示文稿</vt:lpstr>
      <vt:lpstr>数据的所有特征都要做可比较的量化</vt:lpstr>
      <vt:lpstr>离差标准化数据</vt:lpstr>
      <vt:lpstr>离差标准化数据</vt:lpstr>
      <vt:lpstr>离差标准化数据</vt:lpstr>
      <vt:lpstr>标准差标准化数据</vt:lpstr>
      <vt:lpstr>小数定标标准化数据</vt:lpstr>
      <vt:lpstr>使用sklearn转换器进行特征缩放</vt:lpstr>
      <vt:lpstr>特征缩放的不同方法</vt:lpstr>
      <vt:lpstr>特征缩放的语法</vt:lpstr>
      <vt:lpstr>PowerPoint 演示文稿</vt:lpstr>
      <vt:lpstr>PowerPoint 演示文稿</vt:lpstr>
      <vt:lpstr>PowerPoint 演示文稿</vt:lpstr>
      <vt:lpstr>PowerPoint 演示文稿</vt:lpstr>
      <vt:lpstr>PowerPoint 演示文稿</vt:lpstr>
      <vt:lpstr>PowerPoint 演示文稿</vt:lpstr>
      <vt:lpstr>案例研究：电影分类</vt:lpstr>
      <vt:lpstr>案例研究：鸢尾花数据集</vt:lpstr>
      <vt:lpstr>鸢尾花数据集</vt:lpstr>
      <vt:lpstr>PowerPoint 演示文稿</vt:lpstr>
      <vt:lpstr>K近邻模型的语法</vt:lpstr>
      <vt:lpstr>K折交叉验证的sklearn代码实现</vt:lpstr>
      <vt:lpstr>PowerPoint 演示文稿</vt:lpstr>
      <vt:lpstr>算法缺点</vt:lpstr>
      <vt:lpstr>K近邻模型的特点</vt:lpstr>
      <vt:lpstr>算法改进与优化</vt:lpstr>
      <vt:lpstr>快速检索</vt:lpstr>
      <vt:lpstr>快速检索</vt:lpstr>
      <vt:lpstr>算法改进与优化</vt:lpstr>
      <vt:lpstr>随堂小测试</vt:lpstr>
      <vt:lpstr>PowerPoint 演示文稿</vt:lpstr>
      <vt:lpstr>PowerPoint 演示文稿</vt:lpstr>
      <vt:lpstr>PowerPoint 演示文稿</vt:lpstr>
      <vt:lpstr>第3章实验要求</vt:lpstr>
      <vt:lpstr>案例研究：电影分类</vt:lpstr>
      <vt:lpstr>PowerPoint 演示文稿</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416</cp:revision>
  <dcterms:created xsi:type="dcterms:W3CDTF">2017-11-09T06:06:00Z</dcterms:created>
  <dcterms:modified xsi:type="dcterms:W3CDTF">2025-03-17T05:21:36Z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3C294CE2DE7942709B908F55F5EF5964_12</vt:lpwstr>
  </property>
  <property fmtid="{D5CDD505-2E9C-101B-9397-08002B2CF9AE}" pid="3" name="KSOProductBuildVer">
    <vt:lpwstr>2052-12.1.0.20305</vt:lpwstr>
  </property>
</Properties>
</file>