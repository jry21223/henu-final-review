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p:sldMasterIdLst>
    <p:sldMasterId id="2147483648" r:id="rId1"/>
    <p:sldMasterId id="2147483663" r:id="rId3"/>
  </p:sldMasterIdLst>
  <p:notesMasterIdLst>
    <p:notesMasterId r:id="rId5"/>
  </p:notesMasterIdLst>
  <p:sldIdLst>
    <p:sldId id="413" r:id="rId4"/>
    <p:sldId id="258" r:id="rId6"/>
    <p:sldId id="439" r:id="rId7"/>
    <p:sldId id="294" r:id="rId8"/>
    <p:sldId id="395" r:id="rId9"/>
    <p:sldId id="396" r:id="rId10"/>
    <p:sldId id="421" r:id="rId11"/>
    <p:sldId id="310" r:id="rId12"/>
    <p:sldId id="415" r:id="rId13"/>
    <p:sldId id="440" r:id="rId14"/>
    <p:sldId id="438" r:id="rId15"/>
    <p:sldId id="437" r:id="rId16"/>
    <p:sldId id="306" r:id="rId17"/>
    <p:sldId id="311" r:id="rId18"/>
    <p:sldId id="352" r:id="rId19"/>
    <p:sldId id="353" r:id="rId20"/>
    <p:sldId id="354" r:id="rId21"/>
    <p:sldId id="355" r:id="rId22"/>
    <p:sldId id="356" r:id="rId23"/>
    <p:sldId id="357" r:id="rId24"/>
    <p:sldId id="358" r:id="rId25"/>
    <p:sldId id="359" r:id="rId26"/>
    <p:sldId id="360" r:id="rId27"/>
    <p:sldId id="361" r:id="rId28"/>
    <p:sldId id="436" r:id="rId29"/>
    <p:sldId id="369" r:id="rId30"/>
    <p:sldId id="441" r:id="rId31"/>
    <p:sldId id="370" r:id="rId32"/>
    <p:sldId id="371" r:id="rId33"/>
    <p:sldId id="372" r:id="rId34"/>
    <p:sldId id="397" r:id="rId35"/>
    <p:sldId id="373" r:id="rId36"/>
    <p:sldId id="375" r:id="rId37"/>
    <p:sldId id="376" r:id="rId38"/>
    <p:sldId id="377" r:id="rId39"/>
    <p:sldId id="378" r:id="rId40"/>
    <p:sldId id="379" r:id="rId41"/>
    <p:sldId id="380" r:id="rId42"/>
    <p:sldId id="381" r:id="rId43"/>
    <p:sldId id="382" r:id="rId44"/>
    <p:sldId id="383" r:id="rId45"/>
    <p:sldId id="384" r:id="rId46"/>
    <p:sldId id="385" r:id="rId47"/>
    <p:sldId id="386" r:id="rId48"/>
    <p:sldId id="387" r:id="rId49"/>
    <p:sldId id="389" r:id="rId50"/>
    <p:sldId id="390" r:id="rId51"/>
    <p:sldId id="392" r:id="rId52"/>
    <p:sldId id="393" r:id="rId53"/>
    <p:sldId id="394" r:id="rId54"/>
    <p:sldId id="431" r:id="rId55"/>
    <p:sldId id="433" r:id="rId56"/>
    <p:sldId id="281" r:id="rId57"/>
    <p:sldId id="402" r:id="rId58"/>
    <p:sldId id="406" r:id="rId59"/>
    <p:sldId id="403" r:id="rId60"/>
    <p:sldId id="401" r:id="rId61"/>
    <p:sldId id="404" r:id="rId62"/>
    <p:sldId id="398" r:id="rId63"/>
    <p:sldId id="405" r:id="rId64"/>
    <p:sldId id="400" r:id="rId65"/>
    <p:sldId id="407" r:id="rId66"/>
    <p:sldId id="408" r:id="rId67"/>
    <p:sldId id="414" r:id="rId68"/>
    <p:sldId id="409" r:id="rId69"/>
    <p:sldId id="434" r:id="rId70"/>
    <p:sldId id="425" r:id="rId71"/>
    <p:sldId id="428" r:id="rId72"/>
    <p:sldId id="426" r:id="rId73"/>
    <p:sldId id="435" r:id="rId74"/>
    <p:sldId id="429" r:id="rId75"/>
    <p:sldId id="430" r:id="rId76"/>
    <p:sldId id="416" r:id="rId77"/>
    <p:sldId id="411" r:id="rId78"/>
    <p:sldId id="412" r:id="rId79"/>
    <p:sldId id="418" r:id="rId80"/>
    <p:sldId id="419" r:id="rId8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16944"/>
    <a:srgbClr val="63636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661" autoAdjust="0"/>
    <p:restoredTop sz="94660"/>
  </p:normalViewPr>
  <p:slideViewPr>
    <p:cSldViewPr snapToGrid="0" showGuides="1">
      <p:cViewPr varScale="1">
        <p:scale>
          <a:sx n="100" d="100"/>
          <a:sy n="100" d="100"/>
        </p:scale>
        <p:origin x="84" y="92"/>
      </p:cViewPr>
      <p:guideLst>
        <p:guide orient="horz" pos="2160"/>
        <p:guide pos="381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4" Type="http://schemas.openxmlformats.org/officeDocument/2006/relationships/tableStyles" Target="tableStyles.xml"/><Relationship Id="rId83" Type="http://schemas.openxmlformats.org/officeDocument/2006/relationships/viewProps" Target="viewProps.xml"/><Relationship Id="rId82" Type="http://schemas.openxmlformats.org/officeDocument/2006/relationships/presProps" Target="presProps.xml"/><Relationship Id="rId81" Type="http://schemas.openxmlformats.org/officeDocument/2006/relationships/slide" Target="slides/slide77.xml"/><Relationship Id="rId80" Type="http://schemas.openxmlformats.org/officeDocument/2006/relationships/slide" Target="slides/slide76.xml"/><Relationship Id="rId8" Type="http://schemas.openxmlformats.org/officeDocument/2006/relationships/slide" Target="slides/slide4.xml"/><Relationship Id="rId79" Type="http://schemas.openxmlformats.org/officeDocument/2006/relationships/slide" Target="slides/slide75.xml"/><Relationship Id="rId78" Type="http://schemas.openxmlformats.org/officeDocument/2006/relationships/slide" Target="slides/slide74.xml"/><Relationship Id="rId77" Type="http://schemas.openxmlformats.org/officeDocument/2006/relationships/slide" Target="slides/slide73.xml"/><Relationship Id="rId76" Type="http://schemas.openxmlformats.org/officeDocument/2006/relationships/slide" Target="slides/slide72.xml"/><Relationship Id="rId75" Type="http://schemas.openxmlformats.org/officeDocument/2006/relationships/slide" Target="slides/slide71.xml"/><Relationship Id="rId74" Type="http://schemas.openxmlformats.org/officeDocument/2006/relationships/slide" Target="slides/slide70.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slide" Target="slides/slide3.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2.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1.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72F7A3-4195-4F1A-BB6B-79C53153DCE8}"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AB5D3D7-CC87-4950-8197-26F7E3C63EEF}"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1E2743B-58E3-4952-98AC-60B7F3305738}"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AB5D3D7-CC87-4950-8197-26F7E3C63EEF}"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algn="l" defTabSz="914400">
              <a:buNone/>
            </a:pPr>
            <a:endParaRPr lang="zh-CN" altLang="en-US" sz="1200" b="0" i="0" baseline="0">
              <a:solidFill>
                <a:schemeClr val="tx1"/>
              </a:solidFill>
              <a:latin typeface="Calibri" panose="020F0502020204030204"/>
              <a:ea typeface="宋体" panose="02010600030101010101" pitchFamily="2" charset="-122"/>
              <a:cs typeface="+mn-cs"/>
            </a:endParaRPr>
          </a:p>
        </p:txBody>
      </p:sp>
      <p:sp>
        <p:nvSpPr>
          <p:cNvPr id="4" name="Slide Number Placeholder 3"/>
          <p:cNvSpPr>
            <a:spLocks noGrp="1"/>
          </p:cNvSpPr>
          <p:nvPr>
            <p:ph type="sldNum" sz="quarter" idx="10"/>
          </p:nvPr>
        </p:nvSpPr>
        <p:spPr/>
        <p:txBody>
          <a:bodyPr/>
          <a:lstStyle/>
          <a:p>
            <a:pPr algn="r" defTabSz="914400">
              <a:buNone/>
            </a:pPr>
            <a:fld id="{A5D78FC6-CE17-4259-A63C-DDFC12E048FC}" type="slidenum">
              <a:rPr lang="en-US" altLang="zh-CN" sz="1200" b="0" i="0" smtClean="0">
                <a:latin typeface="Calibri" panose="020F0502020204030204"/>
                <a:ea typeface="宋体" panose="02010600030101010101" pitchFamily="2" charset="-122"/>
                <a:cs typeface="+mn-cs"/>
              </a:rPr>
            </a:fld>
            <a:endParaRPr lang="zh-CN" altLang="en-US" sz="1200" b="0" i="0">
              <a:latin typeface="Calibri" panose="020F0502020204030204"/>
              <a:ea typeface="宋体" panose="02010600030101010101" pitchFamily="2" charset="-122"/>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algn="l" defTabSz="914400">
              <a:buNone/>
            </a:pPr>
            <a:endParaRPr lang="zh-CN" altLang="en-US" sz="1200" b="0" i="0" baseline="0">
              <a:solidFill>
                <a:schemeClr val="tx1"/>
              </a:solidFill>
              <a:latin typeface="Calibri" panose="020F0502020204030204"/>
              <a:ea typeface="宋体" panose="02010600030101010101" pitchFamily="2" charset="-122"/>
              <a:cs typeface="+mn-cs"/>
            </a:endParaRPr>
          </a:p>
        </p:txBody>
      </p:sp>
      <p:sp>
        <p:nvSpPr>
          <p:cNvPr id="4" name="Slide Number Placeholder 3"/>
          <p:cNvSpPr>
            <a:spLocks noGrp="1"/>
          </p:cNvSpPr>
          <p:nvPr>
            <p:ph type="sldNum" sz="quarter" idx="10"/>
          </p:nvPr>
        </p:nvSpPr>
        <p:spPr/>
        <p:txBody>
          <a:bodyPr/>
          <a:lstStyle/>
          <a:p>
            <a:pPr algn="r" defTabSz="914400">
              <a:buNone/>
            </a:pPr>
            <a:fld id="{A5D78FC6-CE17-4259-A63C-DDFC12E048FC}" type="slidenum">
              <a:rPr lang="en-US" altLang="zh-CN" sz="1200" b="0" i="0" smtClean="0">
                <a:latin typeface="Calibri" panose="020F0502020204030204"/>
                <a:ea typeface="宋体" panose="02010600030101010101" pitchFamily="2" charset="-122"/>
                <a:cs typeface="+mn-cs"/>
              </a:rPr>
            </a:fld>
            <a:endParaRPr lang="zh-CN" altLang="en-US" sz="1200" b="0" i="0">
              <a:latin typeface="Calibri" panose="020F0502020204030204"/>
              <a:ea typeface="宋体" panose="02010600030101010101" pitchFamily="2" charset="-122"/>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AB5D3D7-CC87-4950-8197-26F7E3C63EEF}"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AB5D3D7-CC87-4950-8197-26F7E3C63EEF}"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AB5D3D7-CC87-4950-8197-26F7E3C63EEF}"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AB5D3D7-CC87-4950-8197-26F7E3C63EEF}" type="slidenum">
              <a:rPr lang="zh-CN" altLang="en-US" smtClean="0"/>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AB5D3D7-CC87-4950-8197-26F7E3C63EEF}"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F206FCC-0CBB-4DF4-89C1-3C9DB4B6E7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342928" y="1393015"/>
            <a:ext cx="10237796" cy="4539834"/>
          </a:xfrm>
        </p:spPr>
        <p:txBody>
          <a:bodyPr>
            <a:normAutofit/>
          </a:bodyPr>
          <a:lstStyle>
            <a:lvl1pPr algn="just">
              <a:lnSpc>
                <a:spcPct val="150000"/>
              </a:lnSpc>
              <a:spcBef>
                <a:spcPts val="0"/>
              </a:spcBef>
              <a:spcAft>
                <a:spcPts val="600"/>
              </a:spcAft>
              <a:defRPr sz="2000" b="0">
                <a:solidFill>
                  <a:schemeClr val="tx1">
                    <a:lumMod val="95000"/>
                    <a:lumOff val="5000"/>
                  </a:schemeClr>
                </a:solidFill>
                <a:latin typeface="微软雅黑" panose="020B0503020204020204" pitchFamily="34" charset="-122"/>
                <a:ea typeface="微软雅黑" panose="020B0503020204020204" pitchFamily="34" charset="-122"/>
              </a:defRPr>
            </a:lvl1pPr>
            <a:lvl2pPr algn="just">
              <a:lnSpc>
                <a:spcPct val="150000"/>
              </a:lnSpc>
              <a:spcBef>
                <a:spcPts val="0"/>
              </a:spcBef>
              <a:spcAft>
                <a:spcPts val="600"/>
              </a:spcAft>
              <a:defRPr sz="1600" b="0">
                <a:solidFill>
                  <a:schemeClr val="tx1">
                    <a:lumMod val="75000"/>
                    <a:lumOff val="25000"/>
                  </a:schemeClr>
                </a:solidFill>
                <a:latin typeface="微软雅黑" panose="020B0503020204020204" pitchFamily="34" charset="-122"/>
                <a:ea typeface="微软雅黑" panose="020B0503020204020204" pitchFamily="34" charset="-122"/>
              </a:defRPr>
            </a:lvl2pPr>
            <a:lvl3pPr algn="just">
              <a:lnSpc>
                <a:spcPct val="150000"/>
              </a:lnSpc>
              <a:spcBef>
                <a:spcPts val="0"/>
              </a:spcBef>
              <a:spcAft>
                <a:spcPts val="600"/>
              </a:spcAft>
              <a:defRPr sz="1400" b="0">
                <a:solidFill>
                  <a:schemeClr val="tx1">
                    <a:lumMod val="75000"/>
                    <a:lumOff val="25000"/>
                  </a:schemeClr>
                </a:solidFill>
                <a:latin typeface="微软雅黑" panose="020B0503020204020204" pitchFamily="34" charset="-122"/>
                <a:ea typeface="微软雅黑" panose="020B0503020204020204" pitchFamily="34" charset="-122"/>
              </a:defRPr>
            </a:lvl3pPr>
            <a:lvl4pPr algn="just">
              <a:lnSpc>
                <a:spcPct val="150000"/>
              </a:lnSpc>
              <a:spcBef>
                <a:spcPts val="0"/>
              </a:spcBef>
              <a:spcAft>
                <a:spcPts val="600"/>
              </a:spcAft>
              <a:defRPr sz="1400" b="0">
                <a:solidFill>
                  <a:schemeClr val="tx1">
                    <a:lumMod val="75000"/>
                    <a:lumOff val="25000"/>
                  </a:schemeClr>
                </a:solidFill>
                <a:latin typeface="微软雅黑" panose="020B0503020204020204" pitchFamily="34" charset="-122"/>
                <a:ea typeface="微软雅黑" panose="020B0503020204020204" pitchFamily="34" charset="-122"/>
              </a:defRPr>
            </a:lvl4pPr>
            <a:lvl5pPr algn="just">
              <a:lnSpc>
                <a:spcPct val="150000"/>
              </a:lnSpc>
              <a:spcBef>
                <a:spcPts val="0"/>
              </a:spcBef>
              <a:spcAft>
                <a:spcPts val="600"/>
              </a:spcAft>
              <a:defRPr sz="1400" b="0">
                <a:solidFill>
                  <a:schemeClr val="tx1">
                    <a:lumMod val="75000"/>
                    <a:lumOff val="25000"/>
                  </a:schemeClr>
                </a:solidFill>
                <a:latin typeface="微软雅黑" panose="020B0503020204020204" pitchFamily="34" charset="-122"/>
                <a:ea typeface="微软雅黑" panose="020B0503020204020204" pitchFamily="34" charset="-122"/>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矩形 6"/>
          <p:cNvSpPr/>
          <p:nvPr userDrawn="1"/>
        </p:nvSpPr>
        <p:spPr>
          <a:xfrm>
            <a:off x="0" y="677575"/>
            <a:ext cx="141402" cy="207390"/>
          </a:xfrm>
          <a:prstGeom prst="rect">
            <a:avLst/>
          </a:prstGeom>
          <a:solidFill>
            <a:srgbClr val="6363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8" name="灯片编号占位符 697"/>
          <p:cNvSpPr>
            <a:spLocks noGrp="1"/>
          </p:cNvSpPr>
          <p:nvPr>
            <p:ph type="sldNum" sz="quarter" idx="12"/>
          </p:nvPr>
        </p:nvSpPr>
        <p:spPr>
          <a:xfrm>
            <a:off x="11290362" y="6239392"/>
            <a:ext cx="470488" cy="386552"/>
          </a:xfrm>
          <a:ln>
            <a:noFill/>
          </a:ln>
        </p:spPr>
        <p:txBody>
          <a:bodyPr/>
          <a:lstStyle>
            <a:lvl1pPr algn="ctr">
              <a:defRPr sz="1600">
                <a:ln>
                  <a:noFill/>
                </a:ln>
                <a:solidFill>
                  <a:schemeClr val="tx1">
                    <a:lumMod val="75000"/>
                    <a:lumOff val="25000"/>
                  </a:schemeClr>
                </a:solidFill>
                <a:latin typeface="Arial Unicode MS" panose="020B0604020202020204" pitchFamily="34" charset="-128"/>
                <a:ea typeface="Arial Unicode MS" panose="020B0604020202020204" pitchFamily="34" charset="-128"/>
                <a:cs typeface="Arial Unicode MS" panose="020B0604020202020204" pitchFamily="34" charset="-128"/>
              </a:defRPr>
            </a:lvl1pPr>
          </a:lstStyle>
          <a:p>
            <a:fld id="{FF206FCC-0CBB-4DF4-89C1-3C9DB4B6E776}" type="slidenum">
              <a:rPr lang="zh-CN" altLang="en-US" smtClean="0"/>
            </a:fld>
            <a:r>
              <a:rPr lang="zh-CN" altLang="en-US"/>
              <a:t>   </a:t>
            </a:r>
            <a:endParaRPr lang="zh-CN" altLang="en-US" dirty="0"/>
          </a:p>
        </p:txBody>
      </p:sp>
      <p:sp>
        <p:nvSpPr>
          <p:cNvPr id="2" name="标题 1"/>
          <p:cNvSpPr>
            <a:spLocks noGrp="1"/>
          </p:cNvSpPr>
          <p:nvPr>
            <p:ph type="title" hasCustomPrompt="1"/>
          </p:nvPr>
        </p:nvSpPr>
        <p:spPr>
          <a:xfrm>
            <a:off x="295625" y="509513"/>
            <a:ext cx="4776874" cy="606839"/>
          </a:xfrm>
          <a:ln>
            <a:noFill/>
          </a:ln>
        </p:spPr>
        <p:txBody>
          <a:bodyPr vert="horz">
            <a:noAutofit/>
          </a:bodyPr>
          <a:lstStyle>
            <a:lvl1pPr algn="l">
              <a:defRPr lang="zh-CN" altLang="en-US" sz="2800" kern="1200" dirty="0">
                <a:solidFill>
                  <a:schemeClr val="tx1"/>
                </a:solidFill>
                <a:latin typeface="Yuanti SC" panose="02010600040101010101" pitchFamily="2" charset="-122"/>
                <a:ea typeface="Yuanti SC" panose="02010600040101010101" pitchFamily="2" charset="-122"/>
                <a:cs typeface="+mn-cs"/>
              </a:defRPr>
            </a:lvl1pPr>
          </a:lstStyle>
          <a:p>
            <a:r>
              <a:rPr lang="en-US" altLang="zh-CN" dirty="0"/>
              <a:t>1.1</a:t>
            </a:r>
            <a:r>
              <a:rPr lang="zh-CN" altLang="en-US" dirty="0"/>
              <a:t> </a:t>
            </a:r>
            <a:r>
              <a:rPr lang="en-US" altLang="zh-CN" dirty="0"/>
              <a:t>Python</a:t>
            </a:r>
            <a:r>
              <a:rPr lang="zh-CN" altLang="en-US" dirty="0"/>
              <a:t>基础</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endParaRPr kumimoji="1" lang="zh-CN" altLang="en-US"/>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FF206FCC-0CBB-4DF4-89C1-3C9DB4B6E7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F206FCC-0CBB-4DF4-89C1-3C9DB4B6E7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FF206FCC-0CBB-4DF4-89C1-3C9DB4B6E7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FF206FCC-0CBB-4DF4-89C1-3C9DB4B6E7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FF206FCC-0CBB-4DF4-89C1-3C9DB4B6E7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F206FCC-0CBB-4DF4-89C1-3C9DB4B6E7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F206FCC-0CBB-4DF4-89C1-3C9DB4B6E7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F206FCC-0CBB-4DF4-89C1-3C9DB4B6E7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F206FCC-0CBB-4DF4-89C1-3C9DB4B6E7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1398863" y="0"/>
            <a:ext cx="10272890" cy="980728"/>
          </a:xfrm>
        </p:spPr>
        <p:txBody>
          <a:bodyPr/>
          <a:lstStyle>
            <a:lvl1pPr algn="l">
              <a:defRPr baseline="0">
                <a:solidFill>
                  <a:schemeClr val="accent3">
                    <a:lumMod val="50000"/>
                  </a:schemeClr>
                </a:solidFill>
                <a:latin typeface="Microsoft Sans Serif" panose="020B0604020202020204" pitchFamily="34" charset="0"/>
                <a:ea typeface="华文楷体" panose="02010600040101010101" pitchFamily="2"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a:xfrm>
            <a:off x="1398863" y="1878044"/>
            <a:ext cx="10272890" cy="2487061"/>
          </a:xfrm>
        </p:spPr>
        <p:txBody>
          <a:bodyPr anchor="ctr"/>
          <a:lstStyle>
            <a:lvl1pPr marL="285750" indent="-285750">
              <a:lnSpc>
                <a:spcPct val="120000"/>
              </a:lnSpc>
              <a:buClr>
                <a:srgbClr val="83AA67"/>
              </a:buClr>
              <a:buSzPct val="100000"/>
              <a:buFont typeface="Wingdings" panose="05000000000000000000" pitchFamily="2" charset="2"/>
              <a:buChar char="n"/>
              <a:defRPr sz="20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a:t>单击此处编辑母版文本样式</a:t>
            </a:r>
            <a:endParaRPr lang="en-US" altLang="zh-CN" dirty="0"/>
          </a:p>
          <a:p>
            <a:pPr lvl="1"/>
            <a:endParaRPr lang="zh-CN" altLang="en-US" dirty="0"/>
          </a:p>
        </p:txBody>
      </p:sp>
      <p:sp>
        <p:nvSpPr>
          <p:cNvPr id="4" name="Date Placeholder 3"/>
          <p:cNvSpPr>
            <a:spLocks noGrp="1"/>
          </p:cNvSpPr>
          <p:nvPr>
            <p:ph type="dt" sz="half" idx="10"/>
          </p:nvPr>
        </p:nvSpPr>
        <p:spPr>
          <a:xfrm>
            <a:off x="9792440" y="6108175"/>
            <a:ext cx="1143297" cy="365125"/>
          </a:xfrm>
        </p:spPr>
        <p:txBody>
          <a:bodyPr/>
          <a:lstStyle/>
          <a:p>
            <a:fld id="{87DE6118-2437-4B30-8E3C-4D2BE6020583}" type="datetimeFigureOut">
              <a:rPr lang="en-US" smtClean="0"/>
            </a:fld>
            <a:endParaRPr lang="en-US" dirty="0"/>
          </a:p>
        </p:txBody>
      </p:sp>
      <p:sp>
        <p:nvSpPr>
          <p:cNvPr id="5" name="Footer Placeholder 4"/>
          <p:cNvSpPr>
            <a:spLocks noGrp="1"/>
          </p:cNvSpPr>
          <p:nvPr>
            <p:ph type="ftr" sz="quarter" idx="11"/>
          </p:nvPr>
        </p:nvSpPr>
        <p:spPr>
          <a:xfrm>
            <a:off x="2630198" y="6108175"/>
            <a:ext cx="7086022" cy="365125"/>
          </a:xfrm>
        </p:spPr>
        <p:txBody>
          <a:bodyPr/>
          <a:lstStyle/>
          <a:p>
            <a:pPr algn="r"/>
            <a:endParaRPr lang="en-US" sz="1400" dirty="0">
              <a:solidFill>
                <a:schemeClr val="tx2"/>
              </a:solidFill>
            </a:endParaRPr>
          </a:p>
        </p:txBody>
      </p:sp>
      <p:sp>
        <p:nvSpPr>
          <p:cNvPr id="6" name="Slide Number Placeholder 5"/>
          <p:cNvSpPr>
            <a:spLocks noGrp="1"/>
          </p:cNvSpPr>
          <p:nvPr>
            <p:ph type="sldNum" sz="quarter" idx="12"/>
          </p:nvPr>
        </p:nvSpPr>
        <p:spPr>
          <a:xfrm>
            <a:off x="11011957" y="6108175"/>
            <a:ext cx="570444" cy="365125"/>
          </a:xfrm>
        </p:spPr>
        <p:txBody>
          <a:bodyPr/>
          <a:lstStyle/>
          <a:p>
            <a:fld id="{1AD93096-5B34-4342-9326-69289CEAE4C2}" type="slidenum">
              <a:rPr lang="en-US" smtClean="0"/>
            </a:fld>
            <a:endParaRPr lang="en-US" dirty="0">
              <a:solidFill>
                <a:srgbClr val="FFFFFF"/>
              </a:solidFill>
            </a:endParaRPr>
          </a:p>
        </p:txBody>
      </p:sp>
      <p:sp>
        <p:nvSpPr>
          <p:cNvPr id="7" name="Content Placeholder 2"/>
          <p:cNvSpPr>
            <a:spLocks noGrp="1"/>
          </p:cNvSpPr>
          <p:nvPr>
            <p:ph idx="13"/>
          </p:nvPr>
        </p:nvSpPr>
        <p:spPr>
          <a:xfrm>
            <a:off x="1398862" y="980729"/>
            <a:ext cx="10272890" cy="897315"/>
          </a:xfrm>
        </p:spPr>
        <p:txBody>
          <a:bodyPr anchor="ctr">
            <a:normAutofit/>
          </a:bodyPr>
          <a:lstStyle>
            <a:lvl1pPr marL="0" indent="0">
              <a:buClr>
                <a:srgbClr val="83AA67"/>
              </a:buClr>
              <a:buSzPct val="100000"/>
              <a:buFont typeface="Wingdings" panose="05000000000000000000" pitchFamily="2" charset="2"/>
              <a:buNone/>
              <a:defRPr sz="24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a:t>单击此处编辑母版文本样式</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1398863" y="0"/>
            <a:ext cx="10272890" cy="980728"/>
          </a:xfrm>
        </p:spPr>
        <p:txBody>
          <a:bodyPr/>
          <a:lstStyle>
            <a:lvl1pPr algn="l">
              <a:defRPr baseline="0">
                <a:solidFill>
                  <a:schemeClr val="accent3">
                    <a:lumMod val="50000"/>
                  </a:schemeClr>
                </a:solidFill>
                <a:latin typeface="Microsoft Sans Serif" panose="020B0604020202020204" pitchFamily="34" charset="0"/>
                <a:ea typeface="华文楷体" panose="02010600040101010101" pitchFamily="2"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a:xfrm>
            <a:off x="1398863" y="1878044"/>
            <a:ext cx="10272890" cy="2487061"/>
          </a:xfrm>
        </p:spPr>
        <p:txBody>
          <a:bodyPr anchor="ctr"/>
          <a:lstStyle>
            <a:lvl1pPr marL="285750" indent="-285750">
              <a:lnSpc>
                <a:spcPct val="120000"/>
              </a:lnSpc>
              <a:buClr>
                <a:srgbClr val="83AA67"/>
              </a:buClr>
              <a:buSzPct val="100000"/>
              <a:buFont typeface="Wingdings" panose="05000000000000000000" pitchFamily="2" charset="2"/>
              <a:buChar char="n"/>
              <a:defRPr sz="20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a:t>单击此处编辑母版文本样式</a:t>
            </a:r>
            <a:endParaRPr lang="en-US" altLang="zh-CN" dirty="0"/>
          </a:p>
          <a:p>
            <a:pPr lvl="1"/>
            <a:endParaRPr lang="zh-CN" altLang="en-US" dirty="0"/>
          </a:p>
        </p:txBody>
      </p:sp>
      <p:sp>
        <p:nvSpPr>
          <p:cNvPr id="4" name="Date Placeholder 3"/>
          <p:cNvSpPr>
            <a:spLocks noGrp="1"/>
          </p:cNvSpPr>
          <p:nvPr>
            <p:ph type="dt" sz="half" idx="10"/>
          </p:nvPr>
        </p:nvSpPr>
        <p:spPr>
          <a:xfrm>
            <a:off x="9792440" y="6108175"/>
            <a:ext cx="1143297" cy="365125"/>
          </a:xfrm>
        </p:spPr>
        <p:txBody>
          <a:bodyPr/>
          <a:lstStyle/>
          <a:p>
            <a:fld id="{87DE6118-2437-4B30-8E3C-4D2BE6020583}" type="datetimeFigureOut">
              <a:rPr lang="en-US" smtClean="0"/>
            </a:fld>
            <a:endParaRPr lang="en-US" dirty="0"/>
          </a:p>
        </p:txBody>
      </p:sp>
      <p:sp>
        <p:nvSpPr>
          <p:cNvPr id="5" name="Footer Placeholder 4"/>
          <p:cNvSpPr>
            <a:spLocks noGrp="1"/>
          </p:cNvSpPr>
          <p:nvPr>
            <p:ph type="ftr" sz="quarter" idx="11"/>
          </p:nvPr>
        </p:nvSpPr>
        <p:spPr>
          <a:xfrm>
            <a:off x="2630198" y="6108175"/>
            <a:ext cx="7086022" cy="365125"/>
          </a:xfrm>
        </p:spPr>
        <p:txBody>
          <a:bodyPr/>
          <a:lstStyle/>
          <a:p>
            <a:pPr algn="r"/>
            <a:endParaRPr lang="en-US" sz="1400" dirty="0">
              <a:solidFill>
                <a:schemeClr val="tx2"/>
              </a:solidFill>
            </a:endParaRPr>
          </a:p>
        </p:txBody>
      </p:sp>
      <p:sp>
        <p:nvSpPr>
          <p:cNvPr id="6" name="Slide Number Placeholder 5"/>
          <p:cNvSpPr>
            <a:spLocks noGrp="1"/>
          </p:cNvSpPr>
          <p:nvPr>
            <p:ph type="sldNum" sz="quarter" idx="12"/>
          </p:nvPr>
        </p:nvSpPr>
        <p:spPr>
          <a:xfrm>
            <a:off x="11011957" y="6108175"/>
            <a:ext cx="570444" cy="365125"/>
          </a:xfrm>
        </p:spPr>
        <p:txBody>
          <a:bodyPr/>
          <a:lstStyle/>
          <a:p>
            <a:fld id="{1AD93096-5B34-4342-9326-69289CEAE4C2}" type="slidenum">
              <a:rPr lang="en-US" smtClean="0"/>
            </a:fld>
            <a:endParaRPr lang="en-US" dirty="0">
              <a:solidFill>
                <a:srgbClr val="FFFFFF"/>
              </a:solidFill>
            </a:endParaRPr>
          </a:p>
        </p:txBody>
      </p:sp>
      <p:sp>
        <p:nvSpPr>
          <p:cNvPr id="7" name="Content Placeholder 2"/>
          <p:cNvSpPr>
            <a:spLocks noGrp="1"/>
          </p:cNvSpPr>
          <p:nvPr>
            <p:ph idx="13"/>
          </p:nvPr>
        </p:nvSpPr>
        <p:spPr>
          <a:xfrm>
            <a:off x="1398862" y="980729"/>
            <a:ext cx="10272890" cy="897315"/>
          </a:xfrm>
        </p:spPr>
        <p:txBody>
          <a:bodyPr anchor="ctr">
            <a:normAutofit/>
          </a:bodyPr>
          <a:lstStyle>
            <a:lvl1pPr marL="0" indent="0">
              <a:buClr>
                <a:srgbClr val="83AA67"/>
              </a:buClr>
              <a:buSzPct val="100000"/>
              <a:buFont typeface="Wingdings" panose="05000000000000000000" pitchFamily="2" charset="2"/>
              <a:buNone/>
              <a:defRPr sz="24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a:t>单击此处编辑母版文本样式</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1253108" y="299796"/>
            <a:ext cx="8015583" cy="535531"/>
          </a:xfrm>
          <a:prstGeom prst="rect">
            <a:avLst/>
          </a:prstGeom>
          <a:noFill/>
        </p:spPr>
        <p:txBody>
          <a:bodyPr wrap="square" rtlCol="0" anchor="ctr" anchorCtr="0">
            <a:spAutoFit/>
          </a:bodyPr>
          <a:lstStyle>
            <a:lvl1pPr>
              <a:defRPr lang="zh-CN" altLang="en-US" sz="3200" b="1">
                <a:gradFill flip="none" rotWithShape="1">
                  <a:gsLst>
                    <a:gs pos="0">
                      <a:schemeClr val="tx1">
                        <a:lumMod val="75000"/>
                        <a:lumOff val="25000"/>
                      </a:schemeClr>
                    </a:gs>
                    <a:gs pos="99000">
                      <a:schemeClr val="tx1">
                        <a:lumMod val="50000"/>
                        <a:lumOff val="50000"/>
                      </a:schemeClr>
                    </a:gs>
                  </a:gsLst>
                  <a:lin ang="16200000" scaled="1"/>
                  <a:tileRect/>
                </a:gradFill>
                <a:latin typeface="微软雅黑" panose="020B0503020204020204" pitchFamily="34" charset="-122"/>
                <a:ea typeface="+mn-ea"/>
                <a:cs typeface="+mn-cs"/>
              </a:defRPr>
            </a:lvl1pPr>
          </a:lstStyle>
          <a:p>
            <a:pPr marL="0" lvl="0" indent="0">
              <a:spcBef>
                <a:spcPts val="1000"/>
              </a:spcBef>
              <a:buFontTx/>
            </a:pPr>
            <a:r>
              <a:rPr lang="zh-CN" altLang="en-US"/>
              <a:t>单击此处编辑母版标题样式</a:t>
            </a:r>
            <a:endParaRPr lang="zh-CN" altLang="en-US"/>
          </a:p>
        </p:txBody>
      </p:sp>
      <p:sp>
        <p:nvSpPr>
          <p:cNvPr id="5" name="椭圆 4"/>
          <p:cNvSpPr>
            <a:spLocks noChangeAspect="1"/>
          </p:cNvSpPr>
          <p:nvPr userDrawn="1"/>
        </p:nvSpPr>
        <p:spPr>
          <a:xfrm>
            <a:off x="708348" y="341440"/>
            <a:ext cx="238542" cy="238544"/>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1270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6" name="椭圆 5"/>
          <p:cNvSpPr>
            <a:spLocks noChangeAspect="1"/>
          </p:cNvSpPr>
          <p:nvPr userDrawn="1"/>
        </p:nvSpPr>
        <p:spPr>
          <a:xfrm>
            <a:off x="828780" y="736168"/>
            <a:ext cx="278298" cy="278301"/>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1270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7" name="椭圆 6"/>
          <p:cNvSpPr>
            <a:spLocks noChangeAspect="1"/>
          </p:cNvSpPr>
          <p:nvPr userDrawn="1"/>
        </p:nvSpPr>
        <p:spPr>
          <a:xfrm>
            <a:off x="274609" y="360716"/>
            <a:ext cx="556599" cy="556603"/>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1270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6_标题幻灯片">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1253108" y="299796"/>
            <a:ext cx="8015583" cy="535531"/>
          </a:xfrm>
          <a:prstGeom prst="rect">
            <a:avLst/>
          </a:prstGeom>
          <a:noFill/>
        </p:spPr>
        <p:txBody>
          <a:bodyPr wrap="square" rtlCol="0" anchor="ctr" anchorCtr="0">
            <a:spAutoFit/>
          </a:bodyPr>
          <a:lstStyle>
            <a:lvl1pPr>
              <a:defRPr lang="zh-CN" altLang="en-US" sz="3200" b="1">
                <a:gradFill flip="none" rotWithShape="1">
                  <a:gsLst>
                    <a:gs pos="0">
                      <a:schemeClr val="tx1">
                        <a:lumMod val="75000"/>
                        <a:lumOff val="25000"/>
                      </a:schemeClr>
                    </a:gs>
                    <a:gs pos="99000">
                      <a:schemeClr val="tx1">
                        <a:lumMod val="50000"/>
                        <a:lumOff val="50000"/>
                      </a:schemeClr>
                    </a:gs>
                  </a:gsLst>
                  <a:lin ang="16200000" scaled="1"/>
                  <a:tileRect/>
                </a:gradFill>
                <a:latin typeface="微软雅黑" panose="020B0503020204020204" pitchFamily="34" charset="-122"/>
                <a:ea typeface="+mn-ea"/>
                <a:cs typeface="+mn-cs"/>
              </a:defRPr>
            </a:lvl1pPr>
          </a:lstStyle>
          <a:p>
            <a:pPr marL="0" lvl="0" indent="0">
              <a:spcBef>
                <a:spcPts val="1000"/>
              </a:spcBef>
              <a:buFontTx/>
            </a:pPr>
            <a:r>
              <a:rPr lang="zh-CN" altLang="en-US"/>
              <a:t>单击此处编辑母版标题样式</a:t>
            </a:r>
            <a:endParaRPr lang="zh-CN" altLang="en-US"/>
          </a:p>
        </p:txBody>
      </p:sp>
      <p:sp>
        <p:nvSpPr>
          <p:cNvPr id="5" name="椭圆 4"/>
          <p:cNvSpPr>
            <a:spLocks noChangeAspect="1"/>
          </p:cNvSpPr>
          <p:nvPr userDrawn="1"/>
        </p:nvSpPr>
        <p:spPr>
          <a:xfrm>
            <a:off x="708348" y="341440"/>
            <a:ext cx="238542" cy="238544"/>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1270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Light" panose="020F0302020204030204"/>
              <a:cs typeface="+mn-cs"/>
            </a:endParaRPr>
          </a:p>
        </p:txBody>
      </p:sp>
      <p:sp>
        <p:nvSpPr>
          <p:cNvPr id="6" name="椭圆 5"/>
          <p:cNvSpPr>
            <a:spLocks noChangeAspect="1"/>
          </p:cNvSpPr>
          <p:nvPr userDrawn="1"/>
        </p:nvSpPr>
        <p:spPr>
          <a:xfrm>
            <a:off x="828780" y="736168"/>
            <a:ext cx="278298" cy="278301"/>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1270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Light" panose="020F0302020204030204"/>
              <a:cs typeface="+mn-cs"/>
            </a:endParaRPr>
          </a:p>
        </p:txBody>
      </p:sp>
      <p:sp>
        <p:nvSpPr>
          <p:cNvPr id="7" name="椭圆 6"/>
          <p:cNvSpPr>
            <a:spLocks noChangeAspect="1"/>
          </p:cNvSpPr>
          <p:nvPr userDrawn="1"/>
        </p:nvSpPr>
        <p:spPr>
          <a:xfrm>
            <a:off x="274609" y="360716"/>
            <a:ext cx="556599" cy="556603"/>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1270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Light" panose="020F0302020204030204"/>
              <a:cs typeface="+mn-cs"/>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endParaRPr lang="zh-CN" altLang="en-US"/>
          </a:p>
        </p:txBody>
      </p:sp>
      <p:sp>
        <p:nvSpPr>
          <p:cNvPr id="4" name="矩形 3"/>
          <p:cNvSpPr/>
          <p:nvPr userDrawn="1"/>
        </p:nvSpPr>
        <p:spPr>
          <a:xfrm>
            <a:off x="8325228" y="6545425"/>
            <a:ext cx="775136" cy="24622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00" b="0"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rPr>
              <a:t>PPT</a:t>
            </a:r>
            <a:r>
              <a:rPr kumimoji="0" lang="zh-CN" altLang="en-US" sz="100" b="0"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rPr>
              <a:t>模板下载：</a:t>
            </a:r>
            <a:r>
              <a:rPr kumimoji="0" lang="en-US" altLang="zh-CN" sz="100" b="0"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rPr>
              <a:t>www.1ppt.com/moban/     </a:t>
            </a:r>
            <a:r>
              <a:rPr kumimoji="0" lang="zh-CN" altLang="en-US" sz="100" b="0"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rPr>
              <a:t>行业</a:t>
            </a:r>
            <a:r>
              <a:rPr kumimoji="0" lang="en-US" altLang="zh-CN" sz="100" b="0"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rPr>
              <a:t>PPT</a:t>
            </a:r>
            <a:r>
              <a:rPr kumimoji="0" lang="zh-CN" altLang="en-US" sz="100" b="0"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rPr>
              <a:t>模板：</a:t>
            </a:r>
            <a:r>
              <a:rPr kumimoji="0" lang="en-US" altLang="zh-CN" sz="100" b="0"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rPr>
              <a:t>www.1ppt.com/hangye/ </a:t>
            </a:r>
            <a:endParaRPr kumimoji="0" lang="en-US" altLang="zh-CN" sz="100" b="0"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 b="0"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rPr>
              <a:t>节日</a:t>
            </a:r>
            <a:r>
              <a:rPr kumimoji="0" lang="en-US" altLang="zh-CN" sz="100" b="0"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rPr>
              <a:t>PPT</a:t>
            </a:r>
            <a:r>
              <a:rPr kumimoji="0" lang="zh-CN" altLang="en-US" sz="100" b="0"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rPr>
              <a:t>模板：</a:t>
            </a:r>
            <a:r>
              <a:rPr kumimoji="0" lang="en-US" altLang="zh-CN" sz="100" b="0"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rPr>
              <a:t>www.1ppt.com/jieri/           PPT</a:t>
            </a:r>
            <a:r>
              <a:rPr kumimoji="0" lang="zh-CN" altLang="en-US" sz="100" b="0"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rPr>
              <a:t>素材下载：</a:t>
            </a:r>
            <a:r>
              <a:rPr kumimoji="0" lang="en-US" altLang="zh-CN" sz="100" b="0"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rPr>
              <a:t>www.1ppt.com/sucai/</a:t>
            </a:r>
            <a:endParaRPr kumimoji="0" lang="en-US" altLang="zh-CN" sz="100" b="0"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00" b="0"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rPr>
              <a:t>PPT</a:t>
            </a:r>
            <a:r>
              <a:rPr kumimoji="0" lang="zh-CN" altLang="en-US" sz="100" b="0"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rPr>
              <a:t>背景图片：</a:t>
            </a:r>
            <a:r>
              <a:rPr kumimoji="0" lang="en-US" altLang="zh-CN" sz="100" b="0"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rPr>
              <a:t>www.1ppt.com/beijing/      PPT</a:t>
            </a:r>
            <a:r>
              <a:rPr kumimoji="0" lang="zh-CN" altLang="en-US" sz="100" b="0"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rPr>
              <a:t>图表下载：</a:t>
            </a:r>
            <a:r>
              <a:rPr kumimoji="0" lang="en-US" altLang="zh-CN" sz="100" b="0"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rPr>
              <a:t>www.1ppt.com/tubiao/      </a:t>
            </a:r>
            <a:endParaRPr kumimoji="0" lang="en-US" altLang="zh-CN" sz="100" b="0"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 b="0"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rPr>
              <a:t>优秀</a:t>
            </a:r>
            <a:r>
              <a:rPr kumimoji="0" lang="en-US" altLang="zh-CN" sz="100" b="0"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rPr>
              <a:t>PPT</a:t>
            </a:r>
            <a:r>
              <a:rPr kumimoji="0" lang="zh-CN" altLang="en-US" sz="100" b="0"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rPr>
              <a:t>下载：</a:t>
            </a:r>
            <a:r>
              <a:rPr kumimoji="0" lang="en-US" altLang="zh-CN" sz="100" b="0"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rPr>
              <a:t>www.1ppt.com/xiazai/        PPT</a:t>
            </a:r>
            <a:r>
              <a:rPr kumimoji="0" lang="zh-CN" altLang="en-US" sz="100" b="0"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rPr>
              <a:t>教程： </a:t>
            </a:r>
            <a:r>
              <a:rPr kumimoji="0" lang="en-US" altLang="zh-CN" sz="100" b="0"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rPr>
              <a:t>www.1ppt.com/powerpoint/      </a:t>
            </a:r>
            <a:endParaRPr kumimoji="0" lang="en-US" altLang="zh-CN" sz="100" b="0"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00" b="0"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rPr>
              <a:t>Word</a:t>
            </a:r>
            <a:r>
              <a:rPr kumimoji="0" lang="zh-CN" altLang="en-US" sz="100" b="0"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rPr>
              <a:t>教程： </a:t>
            </a:r>
            <a:r>
              <a:rPr kumimoji="0" lang="en-US" altLang="zh-CN" sz="100" b="0"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rPr>
              <a:t>www.1ppt.com/word/              Excel</a:t>
            </a:r>
            <a:r>
              <a:rPr kumimoji="0" lang="zh-CN" altLang="en-US" sz="100" b="0"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rPr>
              <a:t>教程：</a:t>
            </a:r>
            <a:r>
              <a:rPr kumimoji="0" lang="en-US" altLang="zh-CN" sz="100" b="0"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rPr>
              <a:t>www.1ppt.com/excel/  </a:t>
            </a:r>
            <a:endParaRPr kumimoji="0" lang="en-US" altLang="zh-CN" sz="100" b="0"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 b="0"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rPr>
              <a:t>资料下载：</a:t>
            </a:r>
            <a:r>
              <a:rPr kumimoji="0" lang="en-US" altLang="zh-CN" sz="100" b="0"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rPr>
              <a:t>www.1ppt.com/ziliao/                PPT</a:t>
            </a:r>
            <a:r>
              <a:rPr kumimoji="0" lang="zh-CN" altLang="en-US" sz="100" b="0"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rPr>
              <a:t>课件下载：</a:t>
            </a:r>
            <a:r>
              <a:rPr kumimoji="0" lang="en-US" altLang="zh-CN" sz="100" b="0"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rPr>
              <a:t>www.1ppt.com/kejian/ </a:t>
            </a:r>
            <a:endParaRPr kumimoji="0" lang="en-US" altLang="zh-CN" sz="100" b="0"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 b="0"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rPr>
              <a:t>范文下载：</a:t>
            </a:r>
            <a:r>
              <a:rPr kumimoji="0" lang="en-US" altLang="zh-CN" sz="100" b="0"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rPr>
              <a:t>www.1ppt.com/fanwen/             </a:t>
            </a:r>
            <a:r>
              <a:rPr kumimoji="0" lang="zh-CN" altLang="en-US" sz="100" b="0"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rPr>
              <a:t>试卷下载：</a:t>
            </a:r>
            <a:r>
              <a:rPr kumimoji="0" lang="en-US" altLang="zh-CN" sz="100" b="0"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rPr>
              <a:t>www.1ppt.com/shiti/  </a:t>
            </a:r>
            <a:endParaRPr kumimoji="0" lang="en-US" altLang="zh-CN" sz="100" b="0"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 b="0"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rPr>
              <a:t>教案下载：</a:t>
            </a:r>
            <a:r>
              <a:rPr kumimoji="0" lang="en-US" altLang="zh-CN" sz="100" b="0"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rPr>
              <a:t>www.1ppt.com/jiaoan/        </a:t>
            </a:r>
            <a:endParaRPr kumimoji="0" lang="en-US" altLang="zh-CN" sz="100" b="0"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 b="0"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rPr>
              <a:t>字体下载：</a:t>
            </a:r>
            <a:r>
              <a:rPr kumimoji="0" lang="en-US" altLang="zh-CN" sz="100" b="0"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rPr>
              <a:t>www.1ppt.com/ziti/</a:t>
            </a:r>
            <a:endParaRPr kumimoji="0" lang="en-US" altLang="zh-CN" sz="100" b="0"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00" b="0"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rPr>
              <a:t> </a:t>
            </a:r>
            <a:endParaRPr kumimoji="0" lang="zh-CN" altLang="en-US" sz="100" b="0"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1398863" y="0"/>
            <a:ext cx="10272890" cy="980728"/>
          </a:xfrm>
        </p:spPr>
        <p:txBody>
          <a:bodyPr/>
          <a:lstStyle>
            <a:lvl1pPr algn="l">
              <a:defRPr baseline="0">
                <a:solidFill>
                  <a:schemeClr val="accent3">
                    <a:lumMod val="50000"/>
                  </a:schemeClr>
                </a:solidFill>
                <a:latin typeface="Microsoft Sans Serif" panose="020B0604020202020204" pitchFamily="34" charset="0"/>
                <a:ea typeface="华文楷体" panose="02010600040101010101" pitchFamily="2"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a:xfrm>
            <a:off x="1398863" y="1878044"/>
            <a:ext cx="10272890" cy="2487061"/>
          </a:xfrm>
        </p:spPr>
        <p:txBody>
          <a:bodyPr anchor="ctr"/>
          <a:lstStyle>
            <a:lvl1pPr marL="285750" indent="-285750">
              <a:lnSpc>
                <a:spcPct val="120000"/>
              </a:lnSpc>
              <a:buClr>
                <a:srgbClr val="83AA67"/>
              </a:buClr>
              <a:buSzPct val="100000"/>
              <a:buFont typeface="Wingdings" panose="05000000000000000000" pitchFamily="2" charset="2"/>
              <a:buChar char="n"/>
              <a:defRPr sz="20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a:t>单击此处编辑母版文本样式</a:t>
            </a:r>
            <a:endParaRPr lang="en-US" altLang="zh-CN" dirty="0"/>
          </a:p>
          <a:p>
            <a:pPr lvl="1"/>
            <a:endParaRPr lang="zh-CN" altLang="en-US" dirty="0"/>
          </a:p>
        </p:txBody>
      </p:sp>
      <p:sp>
        <p:nvSpPr>
          <p:cNvPr id="4" name="Date Placeholder 3"/>
          <p:cNvSpPr>
            <a:spLocks noGrp="1"/>
          </p:cNvSpPr>
          <p:nvPr>
            <p:ph type="dt" sz="half" idx="10"/>
          </p:nvPr>
        </p:nvSpPr>
        <p:spPr>
          <a:xfrm>
            <a:off x="9792440" y="6108175"/>
            <a:ext cx="1143297"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87DE6118-2437-4B30-8E3C-4D2BE6020583}" type="datetimeFigureOut">
              <a:rPr kumimoji="0" lang="en-US" sz="1800" b="0" i="0" u="none" strike="noStrike" kern="1200" cap="none" spc="0" normalizeH="0" baseline="0" noProof="0" smtClean="0">
                <a:ln>
                  <a:noFill/>
                </a:ln>
                <a:solidFill>
                  <a:srgbClr val="000000"/>
                </a:solidFill>
                <a:effectLst/>
                <a:uLnTx/>
                <a:uFillTx/>
                <a:latin typeface="Calibri Light" panose="020F0302020204030204"/>
                <a:cs typeface="+mn-cs"/>
              </a:rPr>
            </a:fld>
            <a:endParaRPr kumimoji="0" lang="en-US" sz="1800" b="0" i="0" u="none" strike="noStrike" kern="1200" cap="none" spc="0" normalizeH="0" baseline="0" noProof="0" dirty="0">
              <a:ln>
                <a:noFill/>
              </a:ln>
              <a:solidFill>
                <a:srgbClr val="000000"/>
              </a:solidFill>
              <a:effectLst/>
              <a:uLnTx/>
              <a:uFillTx/>
              <a:latin typeface="Calibri Light" panose="020F0302020204030204"/>
              <a:cs typeface="+mn-cs"/>
            </a:endParaRPr>
          </a:p>
        </p:txBody>
      </p:sp>
      <p:sp>
        <p:nvSpPr>
          <p:cNvPr id="5" name="Footer Placeholder 4"/>
          <p:cNvSpPr>
            <a:spLocks noGrp="1"/>
          </p:cNvSpPr>
          <p:nvPr>
            <p:ph type="ftr" sz="quarter" idx="11"/>
          </p:nvPr>
        </p:nvSpPr>
        <p:spPr>
          <a:xfrm>
            <a:off x="2630198" y="6108175"/>
            <a:ext cx="7086022"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en-US" sz="1400" b="0" i="0" u="none" strike="noStrike" kern="1200" cap="none" spc="0" normalizeH="0" baseline="0" noProof="0" dirty="0">
              <a:ln>
                <a:noFill/>
              </a:ln>
              <a:solidFill>
                <a:srgbClr val="44546A"/>
              </a:solidFill>
              <a:effectLst/>
              <a:uLnTx/>
              <a:uFillTx/>
              <a:latin typeface="Calibri Light" panose="020F0302020204030204"/>
              <a:cs typeface="+mn-cs"/>
            </a:endParaRPr>
          </a:p>
        </p:txBody>
      </p:sp>
      <p:sp>
        <p:nvSpPr>
          <p:cNvPr id="6" name="Slide Number Placeholder 5"/>
          <p:cNvSpPr>
            <a:spLocks noGrp="1"/>
          </p:cNvSpPr>
          <p:nvPr>
            <p:ph type="sldNum" sz="quarter" idx="12"/>
          </p:nvPr>
        </p:nvSpPr>
        <p:spPr>
          <a:xfrm>
            <a:off x="11011957" y="6108175"/>
            <a:ext cx="570444"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1AD93096-5B34-4342-9326-69289CEAE4C2}" type="slidenum">
              <a:rPr kumimoji="0" lang="en-US" sz="1800" b="0" i="0" u="none" strike="noStrike" kern="1200" cap="none" spc="0" normalizeH="0" baseline="0" noProof="0" smtClean="0">
                <a:ln>
                  <a:noFill/>
                </a:ln>
                <a:solidFill>
                  <a:srgbClr val="000000"/>
                </a:solidFill>
                <a:effectLst/>
                <a:uLnTx/>
                <a:uFillTx/>
                <a:latin typeface="Calibri Light" panose="020F0302020204030204"/>
                <a:cs typeface="+mn-cs"/>
              </a:rPr>
            </a:fld>
            <a:endParaRPr kumimoji="0" lang="en-US" sz="1800" b="0" i="0" u="none" strike="noStrike" kern="1200" cap="none" spc="0" normalizeH="0" baseline="0" noProof="0" dirty="0">
              <a:ln>
                <a:noFill/>
              </a:ln>
              <a:solidFill>
                <a:srgbClr val="FFFFFF"/>
              </a:solidFill>
              <a:effectLst/>
              <a:uLnTx/>
              <a:uFillTx/>
              <a:latin typeface="Calibri Light" panose="020F0302020204030204"/>
              <a:cs typeface="+mn-cs"/>
            </a:endParaRPr>
          </a:p>
        </p:txBody>
      </p:sp>
      <p:sp>
        <p:nvSpPr>
          <p:cNvPr id="7" name="Content Placeholder 2"/>
          <p:cNvSpPr>
            <a:spLocks noGrp="1"/>
          </p:cNvSpPr>
          <p:nvPr>
            <p:ph idx="13"/>
          </p:nvPr>
        </p:nvSpPr>
        <p:spPr>
          <a:xfrm>
            <a:off x="1398862" y="980729"/>
            <a:ext cx="10272890" cy="897315"/>
          </a:xfrm>
        </p:spPr>
        <p:txBody>
          <a:bodyPr anchor="ctr">
            <a:normAutofit/>
          </a:bodyPr>
          <a:lstStyle>
            <a:lvl1pPr marL="0" indent="0">
              <a:buClr>
                <a:srgbClr val="83AA67"/>
              </a:buClr>
              <a:buSzPct val="100000"/>
              <a:buFont typeface="Wingdings" panose="05000000000000000000" pitchFamily="2" charset="2"/>
              <a:buNone/>
              <a:defRPr sz="24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a:t>单击此处编辑母版文本样式</a:t>
            </a:r>
            <a:endParaRPr lang="zh-CN" alt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1398863" y="0"/>
            <a:ext cx="10272890" cy="980728"/>
          </a:xfrm>
        </p:spPr>
        <p:txBody>
          <a:bodyPr/>
          <a:lstStyle>
            <a:lvl1pPr algn="l">
              <a:defRPr baseline="0">
                <a:solidFill>
                  <a:schemeClr val="accent3">
                    <a:lumMod val="50000"/>
                  </a:schemeClr>
                </a:solidFill>
                <a:latin typeface="Microsoft Sans Serif" panose="020B0604020202020204" pitchFamily="34" charset="0"/>
                <a:ea typeface="华文楷体" panose="02010600040101010101" pitchFamily="2"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a:xfrm>
            <a:off x="1398863" y="1878044"/>
            <a:ext cx="10272890" cy="2487061"/>
          </a:xfrm>
        </p:spPr>
        <p:txBody>
          <a:bodyPr anchor="ctr"/>
          <a:lstStyle>
            <a:lvl1pPr marL="285750" indent="-285750">
              <a:lnSpc>
                <a:spcPct val="120000"/>
              </a:lnSpc>
              <a:buClr>
                <a:srgbClr val="83AA67"/>
              </a:buClr>
              <a:buSzPct val="100000"/>
              <a:buFont typeface="Wingdings" panose="05000000000000000000" pitchFamily="2" charset="2"/>
              <a:buChar char="n"/>
              <a:defRPr sz="20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a:t>单击此处编辑母版文本样式</a:t>
            </a:r>
            <a:endParaRPr lang="en-US" altLang="zh-CN" dirty="0"/>
          </a:p>
          <a:p>
            <a:pPr lvl="1"/>
            <a:endParaRPr lang="zh-CN" altLang="en-US" dirty="0"/>
          </a:p>
        </p:txBody>
      </p:sp>
      <p:sp>
        <p:nvSpPr>
          <p:cNvPr id="4" name="Date Placeholder 3"/>
          <p:cNvSpPr>
            <a:spLocks noGrp="1"/>
          </p:cNvSpPr>
          <p:nvPr>
            <p:ph type="dt" sz="half" idx="10"/>
          </p:nvPr>
        </p:nvSpPr>
        <p:spPr>
          <a:xfrm>
            <a:off x="9792440" y="6108175"/>
            <a:ext cx="1143297"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87DE6118-2437-4B30-8E3C-4D2BE6020583}" type="datetimeFigureOut">
              <a:rPr kumimoji="0" lang="en-US" sz="1800" b="0" i="0" u="none" strike="noStrike" kern="1200" cap="none" spc="0" normalizeH="0" baseline="0" noProof="0" smtClean="0">
                <a:ln>
                  <a:noFill/>
                </a:ln>
                <a:solidFill>
                  <a:srgbClr val="000000"/>
                </a:solidFill>
                <a:effectLst/>
                <a:uLnTx/>
                <a:uFillTx/>
                <a:latin typeface="Calibri Light" panose="020F0302020204030204"/>
                <a:cs typeface="+mn-cs"/>
              </a:rPr>
            </a:fld>
            <a:endParaRPr kumimoji="0" lang="en-US" sz="1800" b="0" i="0" u="none" strike="noStrike" kern="1200" cap="none" spc="0" normalizeH="0" baseline="0" noProof="0" dirty="0">
              <a:ln>
                <a:noFill/>
              </a:ln>
              <a:solidFill>
                <a:srgbClr val="000000"/>
              </a:solidFill>
              <a:effectLst/>
              <a:uLnTx/>
              <a:uFillTx/>
              <a:latin typeface="Calibri Light" panose="020F0302020204030204"/>
              <a:cs typeface="+mn-cs"/>
            </a:endParaRPr>
          </a:p>
        </p:txBody>
      </p:sp>
      <p:sp>
        <p:nvSpPr>
          <p:cNvPr id="5" name="Footer Placeholder 4"/>
          <p:cNvSpPr>
            <a:spLocks noGrp="1"/>
          </p:cNvSpPr>
          <p:nvPr>
            <p:ph type="ftr" sz="quarter" idx="11"/>
          </p:nvPr>
        </p:nvSpPr>
        <p:spPr>
          <a:xfrm>
            <a:off x="2630198" y="6108175"/>
            <a:ext cx="7086022"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en-US" sz="1400" b="0" i="0" u="none" strike="noStrike" kern="1200" cap="none" spc="0" normalizeH="0" baseline="0" noProof="0" dirty="0">
              <a:ln>
                <a:noFill/>
              </a:ln>
              <a:solidFill>
                <a:srgbClr val="44546A"/>
              </a:solidFill>
              <a:effectLst/>
              <a:uLnTx/>
              <a:uFillTx/>
              <a:latin typeface="Calibri Light" panose="020F0302020204030204"/>
              <a:cs typeface="+mn-cs"/>
            </a:endParaRPr>
          </a:p>
        </p:txBody>
      </p:sp>
      <p:sp>
        <p:nvSpPr>
          <p:cNvPr id="6" name="Slide Number Placeholder 5"/>
          <p:cNvSpPr>
            <a:spLocks noGrp="1"/>
          </p:cNvSpPr>
          <p:nvPr>
            <p:ph type="sldNum" sz="quarter" idx="12"/>
          </p:nvPr>
        </p:nvSpPr>
        <p:spPr>
          <a:xfrm>
            <a:off x="11011957" y="6108175"/>
            <a:ext cx="570444"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1AD93096-5B34-4342-9326-69289CEAE4C2}" type="slidenum">
              <a:rPr kumimoji="0" lang="en-US" sz="1800" b="0" i="0" u="none" strike="noStrike" kern="1200" cap="none" spc="0" normalizeH="0" baseline="0" noProof="0" smtClean="0">
                <a:ln>
                  <a:noFill/>
                </a:ln>
                <a:solidFill>
                  <a:srgbClr val="000000"/>
                </a:solidFill>
                <a:effectLst/>
                <a:uLnTx/>
                <a:uFillTx/>
                <a:latin typeface="Calibri Light" panose="020F0302020204030204"/>
                <a:cs typeface="+mn-cs"/>
              </a:rPr>
            </a:fld>
            <a:endParaRPr kumimoji="0" lang="en-US" sz="1800" b="0" i="0" u="none" strike="noStrike" kern="1200" cap="none" spc="0" normalizeH="0" baseline="0" noProof="0" dirty="0">
              <a:ln>
                <a:noFill/>
              </a:ln>
              <a:solidFill>
                <a:srgbClr val="FFFFFF"/>
              </a:solidFill>
              <a:effectLst/>
              <a:uLnTx/>
              <a:uFillTx/>
              <a:latin typeface="Calibri Light" panose="020F0302020204030204"/>
              <a:cs typeface="+mn-cs"/>
            </a:endParaRPr>
          </a:p>
        </p:txBody>
      </p:sp>
      <p:sp>
        <p:nvSpPr>
          <p:cNvPr id="7" name="Content Placeholder 2"/>
          <p:cNvSpPr>
            <a:spLocks noGrp="1"/>
          </p:cNvSpPr>
          <p:nvPr>
            <p:ph idx="13"/>
          </p:nvPr>
        </p:nvSpPr>
        <p:spPr>
          <a:xfrm>
            <a:off x="1398862" y="980729"/>
            <a:ext cx="10272890" cy="897315"/>
          </a:xfrm>
        </p:spPr>
        <p:txBody>
          <a:bodyPr anchor="ctr">
            <a:normAutofit/>
          </a:bodyPr>
          <a:lstStyle>
            <a:lvl1pPr marL="0" indent="0">
              <a:buClr>
                <a:srgbClr val="83AA67"/>
              </a:buClr>
              <a:buSzPct val="100000"/>
              <a:buFont typeface="Wingdings" panose="05000000000000000000" pitchFamily="2" charset="2"/>
              <a:buNone/>
              <a:defRPr sz="24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a:t>单击此处编辑母版文本样式</a:t>
            </a:r>
            <a:endParaRPr lang="zh-CN" alt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912284" y="1989138"/>
            <a:ext cx="5080000" cy="41148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5484" y="1989138"/>
            <a:ext cx="5080000" cy="41148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5"/>
          <p:cNvSpPr>
            <a:spLocks noGrp="1" noChangeArrowheads="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D36C6641-FD1E-493F-897A-CAD3233E938E}" type="datetime1">
              <a:rPr kumimoji="0" lang="zh-CN" altLang="en-US" sz="1800" b="0" i="0" u="none" strike="noStrike" kern="1200" cap="none" spc="0" normalizeH="0" baseline="0" noProof="0">
                <a:ln>
                  <a:noFill/>
                </a:ln>
                <a:solidFill>
                  <a:srgbClr val="000000"/>
                </a:solidFill>
                <a:effectLst/>
                <a:uLnTx/>
                <a:uFillTx/>
                <a:latin typeface="Calibri Light" panose="020F0302020204030204"/>
                <a:cs typeface="+mn-cs"/>
              </a:rPr>
            </a:fld>
            <a:endParaRPr kumimoji="0" lang="en-US" altLang="zh-CN" sz="1800" b="0" i="0" u="none" strike="noStrike" kern="1200" cap="none" spc="0" normalizeH="0" baseline="0" noProof="0">
              <a:ln>
                <a:noFill/>
              </a:ln>
              <a:solidFill>
                <a:srgbClr val="000000"/>
              </a:solidFill>
              <a:effectLst/>
              <a:uLnTx/>
              <a:uFillTx/>
              <a:latin typeface="Calibri Light" panose="020F0302020204030204"/>
              <a:cs typeface="+mn-cs"/>
            </a:endParaRPr>
          </a:p>
        </p:txBody>
      </p:sp>
      <p:sp>
        <p:nvSpPr>
          <p:cNvPr id="6" name="Rectangle 6"/>
          <p:cNvSpPr>
            <a:spLocks noGrp="1" noChangeArrowheads="1"/>
          </p:cNvSpPr>
          <p:nvPr>
            <p:ph type="ftr" sz="quarter" idx="11"/>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srgbClr val="000000"/>
                </a:solidFill>
                <a:effectLst/>
                <a:uLnTx/>
                <a:uFillTx/>
                <a:latin typeface="Calibri Light" panose="020F0302020204030204"/>
                <a:cs typeface="+mn-cs"/>
              </a:rPr>
              <a:t>计算机应用技术研究所</a:t>
            </a:r>
            <a:endParaRPr kumimoji="0" lang="zh-CN" altLang="en-US" sz="1800" b="0" i="0" u="none" strike="noStrike" kern="1200" cap="none" spc="0" normalizeH="0" baseline="0" noProof="0">
              <a:ln>
                <a:noFill/>
              </a:ln>
              <a:solidFill>
                <a:srgbClr val="000000"/>
              </a:solidFill>
              <a:effectLst/>
              <a:uLnTx/>
              <a:uFillTx/>
              <a:latin typeface="Calibri Light" panose="020F0302020204030204"/>
              <a:cs typeface="+mn-cs"/>
            </a:endParaRPr>
          </a:p>
        </p:txBody>
      </p:sp>
      <p:sp>
        <p:nvSpPr>
          <p:cNvPr id="7" name="Rectangle 7"/>
          <p:cNvSpPr>
            <a:spLocks noGrp="1" noChangeArrowheads="1"/>
          </p:cNvSpPr>
          <p:nvPr>
            <p:ph type="sldNum" sz="quarter" idx="12"/>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a:ln>
                  <a:noFill/>
                </a:ln>
                <a:solidFill>
                  <a:srgbClr val="000000"/>
                </a:solidFill>
                <a:effectLst/>
                <a:uLnTx/>
                <a:uFillTx/>
                <a:latin typeface="Calibri Light" panose="020F0302020204030204"/>
                <a:cs typeface="+mn-cs"/>
              </a:rPr>
              <a:t>50</a:t>
            </a:r>
            <a:r>
              <a:rPr kumimoji="0" lang="zh-CN" altLang="en-US" sz="1800" b="0" i="0" u="none" strike="noStrike" kern="1200" cap="none" spc="0" normalizeH="0" baseline="0" noProof="0">
                <a:ln>
                  <a:noFill/>
                </a:ln>
                <a:solidFill>
                  <a:srgbClr val="000000"/>
                </a:solidFill>
                <a:effectLst/>
                <a:uLnTx/>
                <a:uFillTx/>
                <a:latin typeface="Calibri Light" panose="020F0302020204030204"/>
                <a:cs typeface="+mn-cs"/>
              </a:rPr>
              <a:t>－</a:t>
            </a:r>
            <a:fld id="{332328F3-10DE-46FE-9DA3-05B3A25F526A}" type="slidenum">
              <a:rPr kumimoji="0" lang="en-US" altLang="zh-CN" sz="1800" b="0" i="0" u="none" strike="noStrike" kern="1200" cap="none" spc="0" normalizeH="0" baseline="0" noProof="0" smtClean="0">
                <a:ln>
                  <a:noFill/>
                </a:ln>
                <a:solidFill>
                  <a:srgbClr val="000000"/>
                </a:solidFill>
                <a:effectLst/>
                <a:uLnTx/>
                <a:uFillTx/>
                <a:latin typeface="Calibri Light" panose="020F0302020204030204"/>
                <a:cs typeface="+mn-cs"/>
              </a:rPr>
            </a:fld>
            <a:endParaRPr kumimoji="0" lang="en-US" altLang="zh-CN" sz="1800" b="0" i="0" u="none" strike="noStrike" kern="1200" cap="none" spc="0" normalizeH="0" baseline="0" noProof="0">
              <a:ln>
                <a:noFill/>
              </a:ln>
              <a:solidFill>
                <a:srgbClr val="000000"/>
              </a:solidFill>
              <a:effectLst/>
              <a:uLnTx/>
              <a:uFillTx/>
              <a:latin typeface="Calibri Light" panose="020F0302020204030204"/>
              <a:cs typeface="+mn-cs"/>
            </a:endParaRPr>
          </a:p>
        </p:txBody>
      </p:sp>
    </p:spTree>
  </p:cSld>
  <p:clrMapOvr>
    <a:masterClrMapping/>
  </p:clrMapOvr>
  <p:transition spd="med">
    <p:wipe dir="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4_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1398863" y="0"/>
            <a:ext cx="10272890" cy="980728"/>
          </a:xfrm>
        </p:spPr>
        <p:txBody>
          <a:bodyPr/>
          <a:lstStyle>
            <a:lvl1pPr algn="l">
              <a:defRPr baseline="0">
                <a:solidFill>
                  <a:schemeClr val="accent3">
                    <a:lumMod val="50000"/>
                  </a:schemeClr>
                </a:solidFill>
                <a:latin typeface="Microsoft Sans Serif" panose="020B0604020202020204" pitchFamily="34" charset="0"/>
                <a:ea typeface="华文楷体" panose="02010600040101010101" pitchFamily="2"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a:xfrm>
            <a:off x="1398863" y="1878044"/>
            <a:ext cx="10272890" cy="2487061"/>
          </a:xfrm>
        </p:spPr>
        <p:txBody>
          <a:bodyPr anchor="ctr"/>
          <a:lstStyle>
            <a:lvl1pPr marL="285750" indent="-285750">
              <a:lnSpc>
                <a:spcPct val="120000"/>
              </a:lnSpc>
              <a:buClr>
                <a:srgbClr val="83AA67"/>
              </a:buClr>
              <a:buSzPct val="100000"/>
              <a:buFont typeface="Wingdings" panose="05000000000000000000" pitchFamily="2" charset="2"/>
              <a:buChar char="n"/>
              <a:defRPr sz="20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a:t>单击此处编辑母版文本样式</a:t>
            </a:r>
            <a:endParaRPr lang="en-US" altLang="zh-CN" dirty="0"/>
          </a:p>
          <a:p>
            <a:pPr lvl="1"/>
            <a:endParaRPr lang="zh-CN" altLang="en-US" dirty="0"/>
          </a:p>
        </p:txBody>
      </p:sp>
      <p:sp>
        <p:nvSpPr>
          <p:cNvPr id="4" name="Date Placeholder 3"/>
          <p:cNvSpPr>
            <a:spLocks noGrp="1"/>
          </p:cNvSpPr>
          <p:nvPr>
            <p:ph type="dt" sz="half" idx="10"/>
          </p:nvPr>
        </p:nvSpPr>
        <p:spPr>
          <a:xfrm>
            <a:off x="9792440" y="6108175"/>
            <a:ext cx="1143297"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87DE6118-2437-4B30-8E3C-4D2BE6020583}" type="datetimeFigureOut">
              <a:rPr kumimoji="0" lang="en-US" sz="1800" b="0" i="0" u="none" strike="noStrike" kern="1200" cap="none" spc="0" normalizeH="0" baseline="0" noProof="0" smtClean="0">
                <a:ln>
                  <a:noFill/>
                </a:ln>
                <a:solidFill>
                  <a:srgbClr val="000000"/>
                </a:solidFill>
                <a:effectLst/>
                <a:uLnTx/>
                <a:uFillTx/>
                <a:latin typeface="Calibri Light" panose="020F0302020204030204"/>
                <a:cs typeface="+mn-cs"/>
              </a:rPr>
            </a:fld>
            <a:endParaRPr kumimoji="0" lang="en-US" sz="1800" b="0" i="0" u="none" strike="noStrike" kern="1200" cap="none" spc="0" normalizeH="0" baseline="0" noProof="0" dirty="0">
              <a:ln>
                <a:noFill/>
              </a:ln>
              <a:solidFill>
                <a:srgbClr val="000000"/>
              </a:solidFill>
              <a:effectLst/>
              <a:uLnTx/>
              <a:uFillTx/>
              <a:latin typeface="Calibri Light" panose="020F0302020204030204"/>
              <a:cs typeface="+mn-cs"/>
            </a:endParaRPr>
          </a:p>
        </p:txBody>
      </p:sp>
      <p:sp>
        <p:nvSpPr>
          <p:cNvPr id="5" name="Footer Placeholder 4"/>
          <p:cNvSpPr>
            <a:spLocks noGrp="1"/>
          </p:cNvSpPr>
          <p:nvPr>
            <p:ph type="ftr" sz="quarter" idx="11"/>
          </p:nvPr>
        </p:nvSpPr>
        <p:spPr>
          <a:xfrm>
            <a:off x="2630198" y="6108175"/>
            <a:ext cx="7086022"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en-US" sz="1400" b="0" i="0" u="none" strike="noStrike" kern="1200" cap="none" spc="0" normalizeH="0" baseline="0" noProof="0" dirty="0">
              <a:ln>
                <a:noFill/>
              </a:ln>
              <a:solidFill>
                <a:srgbClr val="44546A"/>
              </a:solidFill>
              <a:effectLst/>
              <a:uLnTx/>
              <a:uFillTx/>
              <a:latin typeface="Calibri Light" panose="020F0302020204030204"/>
              <a:cs typeface="+mn-cs"/>
            </a:endParaRPr>
          </a:p>
        </p:txBody>
      </p:sp>
      <p:sp>
        <p:nvSpPr>
          <p:cNvPr id="6" name="Slide Number Placeholder 5"/>
          <p:cNvSpPr>
            <a:spLocks noGrp="1"/>
          </p:cNvSpPr>
          <p:nvPr>
            <p:ph type="sldNum" sz="quarter" idx="12"/>
          </p:nvPr>
        </p:nvSpPr>
        <p:spPr>
          <a:xfrm>
            <a:off x="11011957" y="6108175"/>
            <a:ext cx="570444"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1AD93096-5B34-4342-9326-69289CEAE4C2}" type="slidenum">
              <a:rPr kumimoji="0" lang="en-US" sz="1800" b="0" i="0" u="none" strike="noStrike" kern="1200" cap="none" spc="0" normalizeH="0" baseline="0" noProof="0" smtClean="0">
                <a:ln>
                  <a:noFill/>
                </a:ln>
                <a:solidFill>
                  <a:srgbClr val="000000"/>
                </a:solidFill>
                <a:effectLst/>
                <a:uLnTx/>
                <a:uFillTx/>
                <a:latin typeface="Calibri Light" panose="020F0302020204030204"/>
                <a:cs typeface="+mn-cs"/>
              </a:rPr>
            </a:fld>
            <a:endParaRPr kumimoji="0" lang="en-US" sz="1800" b="0" i="0" u="none" strike="noStrike" kern="1200" cap="none" spc="0" normalizeH="0" baseline="0" noProof="0" dirty="0">
              <a:ln>
                <a:noFill/>
              </a:ln>
              <a:solidFill>
                <a:srgbClr val="FFFFFF"/>
              </a:solidFill>
              <a:effectLst/>
              <a:uLnTx/>
              <a:uFillTx/>
              <a:latin typeface="Calibri Light" panose="020F0302020204030204"/>
              <a:cs typeface="+mn-cs"/>
            </a:endParaRPr>
          </a:p>
        </p:txBody>
      </p:sp>
      <p:sp>
        <p:nvSpPr>
          <p:cNvPr id="7" name="Content Placeholder 2"/>
          <p:cNvSpPr>
            <a:spLocks noGrp="1"/>
          </p:cNvSpPr>
          <p:nvPr>
            <p:ph idx="13"/>
          </p:nvPr>
        </p:nvSpPr>
        <p:spPr>
          <a:xfrm>
            <a:off x="1398862" y="980729"/>
            <a:ext cx="10272890" cy="897315"/>
          </a:xfrm>
        </p:spPr>
        <p:txBody>
          <a:bodyPr anchor="ctr">
            <a:normAutofit/>
          </a:bodyPr>
          <a:lstStyle>
            <a:lvl1pPr marL="0" indent="0">
              <a:buClr>
                <a:srgbClr val="83AA67"/>
              </a:buClr>
              <a:buSzPct val="100000"/>
              <a:buFont typeface="Wingdings" panose="05000000000000000000" pitchFamily="2" charset="2"/>
              <a:buNone/>
              <a:defRPr sz="24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a:t>单击此处编辑母版文本样式</a:t>
            </a:r>
            <a:endParaRPr lang="zh-CN" alt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5_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1398863" y="0"/>
            <a:ext cx="10272890" cy="980728"/>
          </a:xfrm>
        </p:spPr>
        <p:txBody>
          <a:bodyPr/>
          <a:lstStyle>
            <a:lvl1pPr algn="l">
              <a:defRPr baseline="0">
                <a:solidFill>
                  <a:schemeClr val="accent3">
                    <a:lumMod val="50000"/>
                  </a:schemeClr>
                </a:solidFill>
                <a:latin typeface="Microsoft Sans Serif" panose="020B0604020202020204" pitchFamily="34" charset="0"/>
                <a:ea typeface="华文楷体" panose="02010600040101010101" pitchFamily="2"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a:xfrm>
            <a:off x="1398863" y="1878044"/>
            <a:ext cx="10272890" cy="2487061"/>
          </a:xfrm>
        </p:spPr>
        <p:txBody>
          <a:bodyPr anchor="ctr"/>
          <a:lstStyle>
            <a:lvl1pPr marL="285750" indent="-285750">
              <a:lnSpc>
                <a:spcPct val="120000"/>
              </a:lnSpc>
              <a:buClr>
                <a:srgbClr val="83AA67"/>
              </a:buClr>
              <a:buSzPct val="100000"/>
              <a:buFont typeface="Wingdings" panose="05000000000000000000" pitchFamily="2" charset="2"/>
              <a:buChar char="n"/>
              <a:defRPr sz="20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a:t>单击此处编辑母版文本样式</a:t>
            </a:r>
            <a:endParaRPr lang="en-US" altLang="zh-CN" dirty="0"/>
          </a:p>
          <a:p>
            <a:pPr lvl="1"/>
            <a:endParaRPr lang="zh-CN" altLang="en-US" dirty="0"/>
          </a:p>
        </p:txBody>
      </p:sp>
      <p:sp>
        <p:nvSpPr>
          <p:cNvPr id="4" name="Date Placeholder 3"/>
          <p:cNvSpPr>
            <a:spLocks noGrp="1"/>
          </p:cNvSpPr>
          <p:nvPr>
            <p:ph type="dt" sz="half" idx="10"/>
          </p:nvPr>
        </p:nvSpPr>
        <p:spPr>
          <a:xfrm>
            <a:off x="9792440" y="6108175"/>
            <a:ext cx="1143297"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87DE6118-2437-4B30-8E3C-4D2BE6020583}" type="datetimeFigureOut">
              <a:rPr kumimoji="0" lang="en-US" sz="1800" b="0" i="0" u="none" strike="noStrike" kern="1200" cap="none" spc="0" normalizeH="0" baseline="0" noProof="0" smtClean="0">
                <a:ln>
                  <a:noFill/>
                </a:ln>
                <a:solidFill>
                  <a:srgbClr val="000000"/>
                </a:solidFill>
                <a:effectLst/>
                <a:uLnTx/>
                <a:uFillTx/>
                <a:latin typeface="Calibri Light" panose="020F0302020204030204"/>
                <a:cs typeface="+mn-cs"/>
              </a:rPr>
            </a:fld>
            <a:endParaRPr kumimoji="0" lang="en-US" sz="1800" b="0" i="0" u="none" strike="noStrike" kern="1200" cap="none" spc="0" normalizeH="0" baseline="0" noProof="0" dirty="0">
              <a:ln>
                <a:noFill/>
              </a:ln>
              <a:solidFill>
                <a:srgbClr val="000000"/>
              </a:solidFill>
              <a:effectLst/>
              <a:uLnTx/>
              <a:uFillTx/>
              <a:latin typeface="Calibri Light" panose="020F0302020204030204"/>
              <a:cs typeface="+mn-cs"/>
            </a:endParaRPr>
          </a:p>
        </p:txBody>
      </p:sp>
      <p:sp>
        <p:nvSpPr>
          <p:cNvPr id="5" name="Footer Placeholder 4"/>
          <p:cNvSpPr>
            <a:spLocks noGrp="1"/>
          </p:cNvSpPr>
          <p:nvPr>
            <p:ph type="ftr" sz="quarter" idx="11"/>
          </p:nvPr>
        </p:nvSpPr>
        <p:spPr>
          <a:xfrm>
            <a:off x="2630198" y="6108175"/>
            <a:ext cx="7086022"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en-US" sz="1400" b="0" i="0" u="none" strike="noStrike" kern="1200" cap="none" spc="0" normalizeH="0" baseline="0" noProof="0" dirty="0">
              <a:ln>
                <a:noFill/>
              </a:ln>
              <a:solidFill>
                <a:srgbClr val="44546A"/>
              </a:solidFill>
              <a:effectLst/>
              <a:uLnTx/>
              <a:uFillTx/>
              <a:latin typeface="Calibri Light" panose="020F0302020204030204"/>
              <a:cs typeface="+mn-cs"/>
            </a:endParaRPr>
          </a:p>
        </p:txBody>
      </p:sp>
      <p:sp>
        <p:nvSpPr>
          <p:cNvPr id="6" name="Slide Number Placeholder 5"/>
          <p:cNvSpPr>
            <a:spLocks noGrp="1"/>
          </p:cNvSpPr>
          <p:nvPr>
            <p:ph type="sldNum" sz="quarter" idx="12"/>
          </p:nvPr>
        </p:nvSpPr>
        <p:spPr>
          <a:xfrm>
            <a:off x="11011957" y="6108175"/>
            <a:ext cx="570444"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1AD93096-5B34-4342-9326-69289CEAE4C2}" type="slidenum">
              <a:rPr kumimoji="0" lang="en-US" sz="1800" b="0" i="0" u="none" strike="noStrike" kern="1200" cap="none" spc="0" normalizeH="0" baseline="0" noProof="0" smtClean="0">
                <a:ln>
                  <a:noFill/>
                </a:ln>
                <a:solidFill>
                  <a:srgbClr val="000000"/>
                </a:solidFill>
                <a:effectLst/>
                <a:uLnTx/>
                <a:uFillTx/>
                <a:latin typeface="Calibri Light" panose="020F0302020204030204"/>
                <a:cs typeface="+mn-cs"/>
              </a:rPr>
            </a:fld>
            <a:endParaRPr kumimoji="0" lang="en-US" sz="1800" b="0" i="0" u="none" strike="noStrike" kern="1200" cap="none" spc="0" normalizeH="0" baseline="0" noProof="0" dirty="0">
              <a:ln>
                <a:noFill/>
              </a:ln>
              <a:solidFill>
                <a:srgbClr val="FFFFFF"/>
              </a:solidFill>
              <a:effectLst/>
              <a:uLnTx/>
              <a:uFillTx/>
              <a:latin typeface="Calibri Light" panose="020F0302020204030204"/>
              <a:cs typeface="+mn-cs"/>
            </a:endParaRPr>
          </a:p>
        </p:txBody>
      </p:sp>
      <p:sp>
        <p:nvSpPr>
          <p:cNvPr id="7" name="Content Placeholder 2"/>
          <p:cNvSpPr>
            <a:spLocks noGrp="1"/>
          </p:cNvSpPr>
          <p:nvPr>
            <p:ph idx="13"/>
          </p:nvPr>
        </p:nvSpPr>
        <p:spPr>
          <a:xfrm>
            <a:off x="1398862" y="980729"/>
            <a:ext cx="10272890" cy="897315"/>
          </a:xfrm>
        </p:spPr>
        <p:txBody>
          <a:bodyPr anchor="ctr">
            <a:normAutofit/>
          </a:bodyPr>
          <a:lstStyle>
            <a:lvl1pPr marL="0" indent="0">
              <a:buClr>
                <a:srgbClr val="83AA67"/>
              </a:buClr>
              <a:buSzPct val="100000"/>
              <a:buFont typeface="Wingdings" panose="05000000000000000000" pitchFamily="2" charset="2"/>
              <a:buNone/>
              <a:defRPr sz="24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a:t>单击此处编辑母版文本样式</a:t>
            </a:r>
            <a:endParaRPr lang="zh-CN" alt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6_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1398863" y="0"/>
            <a:ext cx="10272890" cy="980728"/>
          </a:xfrm>
        </p:spPr>
        <p:txBody>
          <a:bodyPr/>
          <a:lstStyle>
            <a:lvl1pPr algn="l">
              <a:defRPr baseline="0">
                <a:solidFill>
                  <a:schemeClr val="accent3">
                    <a:lumMod val="50000"/>
                  </a:schemeClr>
                </a:solidFill>
                <a:latin typeface="Microsoft Sans Serif" panose="020B0604020202020204" pitchFamily="34" charset="0"/>
                <a:ea typeface="华文楷体" panose="02010600040101010101" pitchFamily="2"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a:xfrm>
            <a:off x="1398863" y="1878044"/>
            <a:ext cx="10272890" cy="2487061"/>
          </a:xfrm>
        </p:spPr>
        <p:txBody>
          <a:bodyPr anchor="ctr"/>
          <a:lstStyle>
            <a:lvl1pPr marL="285750" indent="-285750">
              <a:lnSpc>
                <a:spcPct val="120000"/>
              </a:lnSpc>
              <a:buClr>
                <a:srgbClr val="83AA67"/>
              </a:buClr>
              <a:buSzPct val="100000"/>
              <a:buFont typeface="Wingdings" panose="05000000000000000000" pitchFamily="2" charset="2"/>
              <a:buChar char="n"/>
              <a:defRPr sz="20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a:t>单击此处编辑母版文本样式</a:t>
            </a:r>
            <a:endParaRPr lang="en-US" altLang="zh-CN" dirty="0"/>
          </a:p>
          <a:p>
            <a:pPr lvl="1"/>
            <a:endParaRPr lang="zh-CN" altLang="en-US" dirty="0"/>
          </a:p>
        </p:txBody>
      </p:sp>
      <p:sp>
        <p:nvSpPr>
          <p:cNvPr id="4" name="Date Placeholder 3"/>
          <p:cNvSpPr>
            <a:spLocks noGrp="1"/>
          </p:cNvSpPr>
          <p:nvPr>
            <p:ph type="dt" sz="half" idx="10"/>
          </p:nvPr>
        </p:nvSpPr>
        <p:spPr>
          <a:xfrm>
            <a:off x="9792440" y="6108175"/>
            <a:ext cx="1143297"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87DE6118-2437-4B30-8E3C-4D2BE6020583}" type="datetimeFigureOut">
              <a:rPr kumimoji="0" lang="en-US" sz="1800" b="0" i="0" u="none" strike="noStrike" kern="1200" cap="none" spc="0" normalizeH="0" baseline="0" noProof="0" smtClean="0">
                <a:ln>
                  <a:noFill/>
                </a:ln>
                <a:solidFill>
                  <a:srgbClr val="000000"/>
                </a:solidFill>
                <a:effectLst/>
                <a:uLnTx/>
                <a:uFillTx/>
                <a:latin typeface="Calibri Light" panose="020F0302020204030204"/>
                <a:cs typeface="+mn-cs"/>
              </a:rPr>
            </a:fld>
            <a:endParaRPr kumimoji="0" lang="en-US" sz="1800" b="0" i="0" u="none" strike="noStrike" kern="1200" cap="none" spc="0" normalizeH="0" baseline="0" noProof="0" dirty="0">
              <a:ln>
                <a:noFill/>
              </a:ln>
              <a:solidFill>
                <a:srgbClr val="000000"/>
              </a:solidFill>
              <a:effectLst/>
              <a:uLnTx/>
              <a:uFillTx/>
              <a:latin typeface="Calibri Light" panose="020F0302020204030204"/>
              <a:cs typeface="+mn-cs"/>
            </a:endParaRPr>
          </a:p>
        </p:txBody>
      </p:sp>
      <p:sp>
        <p:nvSpPr>
          <p:cNvPr id="5" name="Footer Placeholder 4"/>
          <p:cNvSpPr>
            <a:spLocks noGrp="1"/>
          </p:cNvSpPr>
          <p:nvPr>
            <p:ph type="ftr" sz="quarter" idx="11"/>
          </p:nvPr>
        </p:nvSpPr>
        <p:spPr>
          <a:xfrm>
            <a:off x="2630198" y="6108175"/>
            <a:ext cx="7086022"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en-US" sz="1400" b="0" i="0" u="none" strike="noStrike" kern="1200" cap="none" spc="0" normalizeH="0" baseline="0" noProof="0" dirty="0">
              <a:ln>
                <a:noFill/>
              </a:ln>
              <a:solidFill>
                <a:srgbClr val="44546A"/>
              </a:solidFill>
              <a:effectLst/>
              <a:uLnTx/>
              <a:uFillTx/>
              <a:latin typeface="Calibri Light" panose="020F0302020204030204"/>
              <a:cs typeface="+mn-cs"/>
            </a:endParaRPr>
          </a:p>
        </p:txBody>
      </p:sp>
      <p:sp>
        <p:nvSpPr>
          <p:cNvPr id="6" name="Slide Number Placeholder 5"/>
          <p:cNvSpPr>
            <a:spLocks noGrp="1"/>
          </p:cNvSpPr>
          <p:nvPr>
            <p:ph type="sldNum" sz="quarter" idx="12"/>
          </p:nvPr>
        </p:nvSpPr>
        <p:spPr>
          <a:xfrm>
            <a:off x="11011957" y="6108175"/>
            <a:ext cx="570444"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1AD93096-5B34-4342-9326-69289CEAE4C2}" type="slidenum">
              <a:rPr kumimoji="0" lang="en-US" sz="1800" b="0" i="0" u="none" strike="noStrike" kern="1200" cap="none" spc="0" normalizeH="0" baseline="0" noProof="0" smtClean="0">
                <a:ln>
                  <a:noFill/>
                </a:ln>
                <a:solidFill>
                  <a:srgbClr val="000000"/>
                </a:solidFill>
                <a:effectLst/>
                <a:uLnTx/>
                <a:uFillTx/>
                <a:latin typeface="Calibri Light" panose="020F0302020204030204"/>
                <a:cs typeface="+mn-cs"/>
              </a:rPr>
            </a:fld>
            <a:endParaRPr kumimoji="0" lang="en-US" sz="1800" b="0" i="0" u="none" strike="noStrike" kern="1200" cap="none" spc="0" normalizeH="0" baseline="0" noProof="0" dirty="0">
              <a:ln>
                <a:noFill/>
              </a:ln>
              <a:solidFill>
                <a:srgbClr val="FFFFFF"/>
              </a:solidFill>
              <a:effectLst/>
              <a:uLnTx/>
              <a:uFillTx/>
              <a:latin typeface="Calibri Light" panose="020F0302020204030204"/>
              <a:cs typeface="+mn-cs"/>
            </a:endParaRPr>
          </a:p>
        </p:txBody>
      </p:sp>
      <p:sp>
        <p:nvSpPr>
          <p:cNvPr id="7" name="Content Placeholder 2"/>
          <p:cNvSpPr>
            <a:spLocks noGrp="1"/>
          </p:cNvSpPr>
          <p:nvPr>
            <p:ph idx="13"/>
          </p:nvPr>
        </p:nvSpPr>
        <p:spPr>
          <a:xfrm>
            <a:off x="1398862" y="980729"/>
            <a:ext cx="10272890" cy="897315"/>
          </a:xfrm>
        </p:spPr>
        <p:txBody>
          <a:bodyPr anchor="ctr">
            <a:normAutofit/>
          </a:bodyPr>
          <a:lstStyle>
            <a:lvl1pPr marL="0" indent="0">
              <a:buClr>
                <a:srgbClr val="83AA67"/>
              </a:buClr>
              <a:buSzPct val="100000"/>
              <a:buFont typeface="Wingdings" panose="05000000000000000000" pitchFamily="2" charset="2"/>
              <a:buNone/>
              <a:defRPr sz="24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a:t>单击此处编辑母版文本样式</a:t>
            </a:r>
            <a:endParaRPr lang="zh-CN" alt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7_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1398863" y="0"/>
            <a:ext cx="10272890" cy="980728"/>
          </a:xfrm>
        </p:spPr>
        <p:txBody>
          <a:bodyPr/>
          <a:lstStyle>
            <a:lvl1pPr algn="l">
              <a:defRPr baseline="0">
                <a:solidFill>
                  <a:schemeClr val="accent3">
                    <a:lumMod val="50000"/>
                  </a:schemeClr>
                </a:solidFill>
                <a:latin typeface="Microsoft Sans Serif" panose="020B0604020202020204" pitchFamily="34" charset="0"/>
                <a:ea typeface="华文楷体" panose="02010600040101010101" pitchFamily="2"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a:xfrm>
            <a:off x="1398863" y="1878044"/>
            <a:ext cx="10272890" cy="2487061"/>
          </a:xfrm>
        </p:spPr>
        <p:txBody>
          <a:bodyPr anchor="ctr"/>
          <a:lstStyle>
            <a:lvl1pPr marL="285750" indent="-285750">
              <a:lnSpc>
                <a:spcPct val="120000"/>
              </a:lnSpc>
              <a:buClr>
                <a:srgbClr val="83AA67"/>
              </a:buClr>
              <a:buSzPct val="100000"/>
              <a:buFont typeface="Wingdings" panose="05000000000000000000" pitchFamily="2" charset="2"/>
              <a:buChar char="n"/>
              <a:defRPr sz="20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a:t>单击此处编辑母版文本样式</a:t>
            </a:r>
            <a:endParaRPr lang="en-US" altLang="zh-CN" dirty="0"/>
          </a:p>
          <a:p>
            <a:pPr lvl="1"/>
            <a:endParaRPr lang="zh-CN" altLang="en-US" dirty="0"/>
          </a:p>
        </p:txBody>
      </p:sp>
      <p:sp>
        <p:nvSpPr>
          <p:cNvPr id="4" name="Date Placeholder 3"/>
          <p:cNvSpPr>
            <a:spLocks noGrp="1"/>
          </p:cNvSpPr>
          <p:nvPr>
            <p:ph type="dt" sz="half" idx="10"/>
          </p:nvPr>
        </p:nvSpPr>
        <p:spPr>
          <a:xfrm>
            <a:off x="9792440" y="6108175"/>
            <a:ext cx="1143297"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87DE6118-2437-4B30-8E3C-4D2BE6020583}" type="datetimeFigureOut">
              <a:rPr kumimoji="0" lang="en-US" sz="1800" b="0" i="0" u="none" strike="noStrike" kern="1200" cap="none" spc="0" normalizeH="0" baseline="0" noProof="0" smtClean="0">
                <a:ln>
                  <a:noFill/>
                </a:ln>
                <a:solidFill>
                  <a:srgbClr val="000000"/>
                </a:solidFill>
                <a:effectLst/>
                <a:uLnTx/>
                <a:uFillTx/>
                <a:latin typeface="Calibri Light" panose="020F0302020204030204"/>
                <a:cs typeface="+mn-cs"/>
              </a:rPr>
            </a:fld>
            <a:endParaRPr kumimoji="0" lang="en-US" sz="1800" b="0" i="0" u="none" strike="noStrike" kern="1200" cap="none" spc="0" normalizeH="0" baseline="0" noProof="0" dirty="0">
              <a:ln>
                <a:noFill/>
              </a:ln>
              <a:solidFill>
                <a:srgbClr val="000000"/>
              </a:solidFill>
              <a:effectLst/>
              <a:uLnTx/>
              <a:uFillTx/>
              <a:latin typeface="Calibri Light" panose="020F0302020204030204"/>
              <a:cs typeface="+mn-cs"/>
            </a:endParaRPr>
          </a:p>
        </p:txBody>
      </p:sp>
      <p:sp>
        <p:nvSpPr>
          <p:cNvPr id="5" name="Footer Placeholder 4"/>
          <p:cNvSpPr>
            <a:spLocks noGrp="1"/>
          </p:cNvSpPr>
          <p:nvPr>
            <p:ph type="ftr" sz="quarter" idx="11"/>
          </p:nvPr>
        </p:nvSpPr>
        <p:spPr>
          <a:xfrm>
            <a:off x="2630198" y="6108175"/>
            <a:ext cx="7086022"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en-US" sz="1400" b="0" i="0" u="none" strike="noStrike" kern="1200" cap="none" spc="0" normalizeH="0" baseline="0" noProof="0" dirty="0">
              <a:ln>
                <a:noFill/>
              </a:ln>
              <a:solidFill>
                <a:srgbClr val="44546A"/>
              </a:solidFill>
              <a:effectLst/>
              <a:uLnTx/>
              <a:uFillTx/>
              <a:latin typeface="Calibri Light" panose="020F0302020204030204"/>
              <a:cs typeface="+mn-cs"/>
            </a:endParaRPr>
          </a:p>
        </p:txBody>
      </p:sp>
      <p:sp>
        <p:nvSpPr>
          <p:cNvPr id="6" name="Slide Number Placeholder 5"/>
          <p:cNvSpPr>
            <a:spLocks noGrp="1"/>
          </p:cNvSpPr>
          <p:nvPr>
            <p:ph type="sldNum" sz="quarter" idx="12"/>
          </p:nvPr>
        </p:nvSpPr>
        <p:spPr>
          <a:xfrm>
            <a:off x="11011957" y="6108175"/>
            <a:ext cx="570444"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1AD93096-5B34-4342-9326-69289CEAE4C2}" type="slidenum">
              <a:rPr kumimoji="0" lang="en-US" sz="1800" b="0" i="0" u="none" strike="noStrike" kern="1200" cap="none" spc="0" normalizeH="0" baseline="0" noProof="0" smtClean="0">
                <a:ln>
                  <a:noFill/>
                </a:ln>
                <a:solidFill>
                  <a:srgbClr val="000000"/>
                </a:solidFill>
                <a:effectLst/>
                <a:uLnTx/>
                <a:uFillTx/>
                <a:latin typeface="Calibri Light" panose="020F0302020204030204"/>
                <a:cs typeface="+mn-cs"/>
              </a:rPr>
            </a:fld>
            <a:endParaRPr kumimoji="0" lang="en-US" sz="1800" b="0" i="0" u="none" strike="noStrike" kern="1200" cap="none" spc="0" normalizeH="0" baseline="0" noProof="0" dirty="0">
              <a:ln>
                <a:noFill/>
              </a:ln>
              <a:solidFill>
                <a:srgbClr val="FFFFFF"/>
              </a:solidFill>
              <a:effectLst/>
              <a:uLnTx/>
              <a:uFillTx/>
              <a:latin typeface="Calibri Light" panose="020F0302020204030204"/>
              <a:cs typeface="+mn-cs"/>
            </a:endParaRPr>
          </a:p>
        </p:txBody>
      </p:sp>
      <p:sp>
        <p:nvSpPr>
          <p:cNvPr id="7" name="Content Placeholder 2"/>
          <p:cNvSpPr>
            <a:spLocks noGrp="1"/>
          </p:cNvSpPr>
          <p:nvPr>
            <p:ph idx="13"/>
          </p:nvPr>
        </p:nvSpPr>
        <p:spPr>
          <a:xfrm>
            <a:off x="1398862" y="980729"/>
            <a:ext cx="10272890" cy="897315"/>
          </a:xfrm>
        </p:spPr>
        <p:txBody>
          <a:bodyPr anchor="ctr">
            <a:normAutofit/>
          </a:bodyPr>
          <a:lstStyle>
            <a:lvl1pPr marL="0" indent="0">
              <a:buClr>
                <a:srgbClr val="83AA67"/>
              </a:buClr>
              <a:buSzPct val="100000"/>
              <a:buFont typeface="Wingdings" panose="05000000000000000000" pitchFamily="2" charset="2"/>
              <a:buNone/>
              <a:defRPr sz="24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a:t>单击此处编辑母版文本样式</a:t>
            </a:r>
            <a:endParaRPr lang="zh-CN" altLang="en-US"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8_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1398863" y="0"/>
            <a:ext cx="10272890" cy="980728"/>
          </a:xfrm>
        </p:spPr>
        <p:txBody>
          <a:bodyPr/>
          <a:lstStyle>
            <a:lvl1pPr algn="l">
              <a:defRPr baseline="0">
                <a:solidFill>
                  <a:schemeClr val="accent3">
                    <a:lumMod val="50000"/>
                  </a:schemeClr>
                </a:solidFill>
                <a:latin typeface="Microsoft Sans Serif" panose="020B0604020202020204" pitchFamily="34" charset="0"/>
                <a:ea typeface="华文楷体" panose="02010600040101010101" pitchFamily="2"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a:xfrm>
            <a:off x="1398863" y="1878044"/>
            <a:ext cx="10272890" cy="2487061"/>
          </a:xfrm>
        </p:spPr>
        <p:txBody>
          <a:bodyPr anchor="ctr"/>
          <a:lstStyle>
            <a:lvl1pPr marL="285750" indent="-285750">
              <a:lnSpc>
                <a:spcPct val="120000"/>
              </a:lnSpc>
              <a:buClr>
                <a:srgbClr val="83AA67"/>
              </a:buClr>
              <a:buSzPct val="100000"/>
              <a:buFont typeface="Wingdings" panose="05000000000000000000" pitchFamily="2" charset="2"/>
              <a:buChar char="n"/>
              <a:defRPr sz="20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a:t>单击此处编辑母版文本样式</a:t>
            </a:r>
            <a:endParaRPr lang="en-US" altLang="zh-CN" dirty="0"/>
          </a:p>
          <a:p>
            <a:pPr lvl="1"/>
            <a:endParaRPr lang="zh-CN" altLang="en-US" dirty="0"/>
          </a:p>
        </p:txBody>
      </p:sp>
      <p:sp>
        <p:nvSpPr>
          <p:cNvPr id="4" name="Date Placeholder 3"/>
          <p:cNvSpPr>
            <a:spLocks noGrp="1"/>
          </p:cNvSpPr>
          <p:nvPr>
            <p:ph type="dt" sz="half" idx="10"/>
          </p:nvPr>
        </p:nvSpPr>
        <p:spPr>
          <a:xfrm>
            <a:off x="9792440" y="6108175"/>
            <a:ext cx="1143297"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87DE6118-2437-4B30-8E3C-4D2BE6020583}" type="datetimeFigureOut">
              <a:rPr kumimoji="0" lang="en-US" sz="1800" b="0" i="0" u="none" strike="noStrike" kern="1200" cap="none" spc="0" normalizeH="0" baseline="0" noProof="0" smtClean="0">
                <a:ln>
                  <a:noFill/>
                </a:ln>
                <a:solidFill>
                  <a:srgbClr val="000000"/>
                </a:solidFill>
                <a:effectLst/>
                <a:uLnTx/>
                <a:uFillTx/>
                <a:latin typeface="Calibri Light" panose="020F0302020204030204"/>
                <a:cs typeface="+mn-cs"/>
              </a:rPr>
            </a:fld>
            <a:endParaRPr kumimoji="0" lang="en-US" sz="1800" b="0" i="0" u="none" strike="noStrike" kern="1200" cap="none" spc="0" normalizeH="0" baseline="0" noProof="0" dirty="0">
              <a:ln>
                <a:noFill/>
              </a:ln>
              <a:solidFill>
                <a:srgbClr val="000000"/>
              </a:solidFill>
              <a:effectLst/>
              <a:uLnTx/>
              <a:uFillTx/>
              <a:latin typeface="Calibri Light" panose="020F0302020204030204"/>
              <a:cs typeface="+mn-cs"/>
            </a:endParaRPr>
          </a:p>
        </p:txBody>
      </p:sp>
      <p:sp>
        <p:nvSpPr>
          <p:cNvPr id="5" name="Footer Placeholder 4"/>
          <p:cNvSpPr>
            <a:spLocks noGrp="1"/>
          </p:cNvSpPr>
          <p:nvPr>
            <p:ph type="ftr" sz="quarter" idx="11"/>
          </p:nvPr>
        </p:nvSpPr>
        <p:spPr>
          <a:xfrm>
            <a:off x="2630198" y="6108175"/>
            <a:ext cx="7086022"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en-US" sz="1400" b="0" i="0" u="none" strike="noStrike" kern="1200" cap="none" spc="0" normalizeH="0" baseline="0" noProof="0" dirty="0">
              <a:ln>
                <a:noFill/>
              </a:ln>
              <a:solidFill>
                <a:srgbClr val="44546A"/>
              </a:solidFill>
              <a:effectLst/>
              <a:uLnTx/>
              <a:uFillTx/>
              <a:latin typeface="Calibri Light" panose="020F0302020204030204"/>
              <a:cs typeface="+mn-cs"/>
            </a:endParaRPr>
          </a:p>
        </p:txBody>
      </p:sp>
      <p:sp>
        <p:nvSpPr>
          <p:cNvPr id="6" name="Slide Number Placeholder 5"/>
          <p:cNvSpPr>
            <a:spLocks noGrp="1"/>
          </p:cNvSpPr>
          <p:nvPr>
            <p:ph type="sldNum" sz="quarter" idx="12"/>
          </p:nvPr>
        </p:nvSpPr>
        <p:spPr>
          <a:xfrm>
            <a:off x="11011957" y="6108175"/>
            <a:ext cx="570444"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1AD93096-5B34-4342-9326-69289CEAE4C2}" type="slidenum">
              <a:rPr kumimoji="0" lang="en-US" sz="1800" b="0" i="0" u="none" strike="noStrike" kern="1200" cap="none" spc="0" normalizeH="0" baseline="0" noProof="0" smtClean="0">
                <a:ln>
                  <a:noFill/>
                </a:ln>
                <a:solidFill>
                  <a:srgbClr val="000000"/>
                </a:solidFill>
                <a:effectLst/>
                <a:uLnTx/>
                <a:uFillTx/>
                <a:latin typeface="Calibri Light" panose="020F0302020204030204"/>
                <a:cs typeface="+mn-cs"/>
              </a:rPr>
            </a:fld>
            <a:endParaRPr kumimoji="0" lang="en-US" sz="1800" b="0" i="0" u="none" strike="noStrike" kern="1200" cap="none" spc="0" normalizeH="0" baseline="0" noProof="0" dirty="0">
              <a:ln>
                <a:noFill/>
              </a:ln>
              <a:solidFill>
                <a:srgbClr val="FFFFFF"/>
              </a:solidFill>
              <a:effectLst/>
              <a:uLnTx/>
              <a:uFillTx/>
              <a:latin typeface="Calibri Light" panose="020F0302020204030204"/>
              <a:cs typeface="+mn-cs"/>
            </a:endParaRPr>
          </a:p>
        </p:txBody>
      </p:sp>
      <p:sp>
        <p:nvSpPr>
          <p:cNvPr id="7" name="Content Placeholder 2"/>
          <p:cNvSpPr>
            <a:spLocks noGrp="1"/>
          </p:cNvSpPr>
          <p:nvPr>
            <p:ph idx="13"/>
          </p:nvPr>
        </p:nvSpPr>
        <p:spPr>
          <a:xfrm>
            <a:off x="1398862" y="980729"/>
            <a:ext cx="10272890" cy="897315"/>
          </a:xfrm>
        </p:spPr>
        <p:txBody>
          <a:bodyPr anchor="ctr">
            <a:normAutofit/>
          </a:bodyPr>
          <a:lstStyle>
            <a:lvl1pPr marL="0" indent="0">
              <a:buClr>
                <a:srgbClr val="83AA67"/>
              </a:buClr>
              <a:buSzPct val="100000"/>
              <a:buFont typeface="Wingdings" panose="05000000000000000000" pitchFamily="2" charset="2"/>
              <a:buNone/>
              <a:defRPr sz="24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a:t>单击此处编辑母版文本样式</a:t>
            </a:r>
            <a:endParaRPr lang="zh-CN" altLang="en-US"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9_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1398863" y="0"/>
            <a:ext cx="10272890" cy="980728"/>
          </a:xfrm>
        </p:spPr>
        <p:txBody>
          <a:bodyPr/>
          <a:lstStyle>
            <a:lvl1pPr algn="l">
              <a:defRPr baseline="0">
                <a:solidFill>
                  <a:schemeClr val="accent3">
                    <a:lumMod val="50000"/>
                  </a:schemeClr>
                </a:solidFill>
                <a:latin typeface="Microsoft Sans Serif" panose="020B0604020202020204" pitchFamily="34" charset="0"/>
                <a:ea typeface="华文楷体" panose="02010600040101010101" pitchFamily="2"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a:xfrm>
            <a:off x="1398863" y="1878044"/>
            <a:ext cx="10272890" cy="2487061"/>
          </a:xfrm>
        </p:spPr>
        <p:txBody>
          <a:bodyPr anchor="ctr"/>
          <a:lstStyle>
            <a:lvl1pPr marL="285750" indent="-285750">
              <a:lnSpc>
                <a:spcPct val="120000"/>
              </a:lnSpc>
              <a:buClr>
                <a:srgbClr val="83AA67"/>
              </a:buClr>
              <a:buSzPct val="100000"/>
              <a:buFont typeface="Wingdings" panose="05000000000000000000" pitchFamily="2" charset="2"/>
              <a:buChar char="n"/>
              <a:defRPr sz="20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a:t>单击此处编辑母版文本样式</a:t>
            </a:r>
            <a:endParaRPr lang="en-US" altLang="zh-CN" dirty="0"/>
          </a:p>
          <a:p>
            <a:pPr lvl="1"/>
            <a:endParaRPr lang="zh-CN" altLang="en-US" dirty="0"/>
          </a:p>
        </p:txBody>
      </p:sp>
      <p:sp>
        <p:nvSpPr>
          <p:cNvPr id="4" name="Date Placeholder 3"/>
          <p:cNvSpPr>
            <a:spLocks noGrp="1"/>
          </p:cNvSpPr>
          <p:nvPr>
            <p:ph type="dt" sz="half" idx="10"/>
          </p:nvPr>
        </p:nvSpPr>
        <p:spPr>
          <a:xfrm>
            <a:off x="9792440" y="6108175"/>
            <a:ext cx="1143297"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87DE6118-2437-4B30-8E3C-4D2BE6020583}" type="datetimeFigureOut">
              <a:rPr kumimoji="0" lang="en-US" sz="1800" b="0" i="0" u="none" strike="noStrike" kern="1200" cap="none" spc="0" normalizeH="0" baseline="0" noProof="0" smtClean="0">
                <a:ln>
                  <a:noFill/>
                </a:ln>
                <a:solidFill>
                  <a:srgbClr val="000000"/>
                </a:solidFill>
                <a:effectLst/>
                <a:uLnTx/>
                <a:uFillTx/>
                <a:latin typeface="Calibri Light" panose="020F0302020204030204"/>
                <a:cs typeface="+mn-cs"/>
              </a:rPr>
            </a:fld>
            <a:endParaRPr kumimoji="0" lang="en-US" sz="1800" b="0" i="0" u="none" strike="noStrike" kern="1200" cap="none" spc="0" normalizeH="0" baseline="0" noProof="0" dirty="0">
              <a:ln>
                <a:noFill/>
              </a:ln>
              <a:solidFill>
                <a:srgbClr val="000000"/>
              </a:solidFill>
              <a:effectLst/>
              <a:uLnTx/>
              <a:uFillTx/>
              <a:latin typeface="Calibri Light" panose="020F0302020204030204"/>
              <a:cs typeface="+mn-cs"/>
            </a:endParaRPr>
          </a:p>
        </p:txBody>
      </p:sp>
      <p:sp>
        <p:nvSpPr>
          <p:cNvPr id="5" name="Footer Placeholder 4"/>
          <p:cNvSpPr>
            <a:spLocks noGrp="1"/>
          </p:cNvSpPr>
          <p:nvPr>
            <p:ph type="ftr" sz="quarter" idx="11"/>
          </p:nvPr>
        </p:nvSpPr>
        <p:spPr>
          <a:xfrm>
            <a:off x="2630198" y="6108175"/>
            <a:ext cx="7086022"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en-US" sz="1400" b="0" i="0" u="none" strike="noStrike" kern="1200" cap="none" spc="0" normalizeH="0" baseline="0" noProof="0" dirty="0">
              <a:ln>
                <a:noFill/>
              </a:ln>
              <a:solidFill>
                <a:srgbClr val="44546A"/>
              </a:solidFill>
              <a:effectLst/>
              <a:uLnTx/>
              <a:uFillTx/>
              <a:latin typeface="Calibri Light" panose="020F0302020204030204"/>
              <a:cs typeface="+mn-cs"/>
            </a:endParaRPr>
          </a:p>
        </p:txBody>
      </p:sp>
      <p:sp>
        <p:nvSpPr>
          <p:cNvPr id="6" name="Slide Number Placeholder 5"/>
          <p:cNvSpPr>
            <a:spLocks noGrp="1"/>
          </p:cNvSpPr>
          <p:nvPr>
            <p:ph type="sldNum" sz="quarter" idx="12"/>
          </p:nvPr>
        </p:nvSpPr>
        <p:spPr>
          <a:xfrm>
            <a:off x="11011957" y="6108175"/>
            <a:ext cx="570444"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1AD93096-5B34-4342-9326-69289CEAE4C2}" type="slidenum">
              <a:rPr kumimoji="0" lang="en-US" sz="1800" b="0" i="0" u="none" strike="noStrike" kern="1200" cap="none" spc="0" normalizeH="0" baseline="0" noProof="0" smtClean="0">
                <a:ln>
                  <a:noFill/>
                </a:ln>
                <a:solidFill>
                  <a:srgbClr val="000000"/>
                </a:solidFill>
                <a:effectLst/>
                <a:uLnTx/>
                <a:uFillTx/>
                <a:latin typeface="Calibri Light" panose="020F0302020204030204"/>
                <a:cs typeface="+mn-cs"/>
              </a:rPr>
            </a:fld>
            <a:endParaRPr kumimoji="0" lang="en-US" sz="1800" b="0" i="0" u="none" strike="noStrike" kern="1200" cap="none" spc="0" normalizeH="0" baseline="0" noProof="0" dirty="0">
              <a:ln>
                <a:noFill/>
              </a:ln>
              <a:solidFill>
                <a:srgbClr val="FFFFFF"/>
              </a:solidFill>
              <a:effectLst/>
              <a:uLnTx/>
              <a:uFillTx/>
              <a:latin typeface="Calibri Light" panose="020F0302020204030204"/>
              <a:cs typeface="+mn-cs"/>
            </a:endParaRPr>
          </a:p>
        </p:txBody>
      </p:sp>
      <p:sp>
        <p:nvSpPr>
          <p:cNvPr id="7" name="Content Placeholder 2"/>
          <p:cNvSpPr>
            <a:spLocks noGrp="1"/>
          </p:cNvSpPr>
          <p:nvPr>
            <p:ph idx="13"/>
          </p:nvPr>
        </p:nvSpPr>
        <p:spPr>
          <a:xfrm>
            <a:off x="1398862" y="980729"/>
            <a:ext cx="10272890" cy="897315"/>
          </a:xfrm>
        </p:spPr>
        <p:txBody>
          <a:bodyPr anchor="ctr">
            <a:normAutofit/>
          </a:bodyPr>
          <a:lstStyle>
            <a:lvl1pPr marL="0" indent="0">
              <a:buClr>
                <a:srgbClr val="83AA67"/>
              </a:buClr>
              <a:buSzPct val="100000"/>
              <a:buFont typeface="Wingdings" panose="05000000000000000000" pitchFamily="2" charset="2"/>
              <a:buNone/>
              <a:defRPr sz="24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a:t>单击此处编辑母版文本样式</a:t>
            </a:r>
            <a:endParaRPr lang="zh-CN" altLang="en-US"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B0F34D6F-F29A-4B09-B655-E0971D462D4D}" type="datetimeFigureOut">
              <a:rPr kumimoji="0" lang="zh-CN" altLang="en-US" sz="1800" b="0" i="0" u="none" strike="noStrike" kern="1200" cap="none" spc="0" normalizeH="0" baseline="0" noProof="0">
                <a:ln>
                  <a:noFill/>
                </a:ln>
                <a:solidFill>
                  <a:srgbClr val="000000"/>
                </a:solidFill>
                <a:effectLst/>
                <a:uLnTx/>
                <a:uFillTx/>
                <a:latin typeface="Calibri Light" panose="020F0302020204030204"/>
                <a:cs typeface="+mn-cs"/>
              </a:rPr>
            </a:fld>
            <a:endParaRPr kumimoji="0" lang="zh-CN" altLang="en-US" sz="1800" b="0" i="0" u="none" strike="noStrike" kern="1200" cap="none" spc="0" normalizeH="0" baseline="0" noProof="0">
              <a:ln>
                <a:noFill/>
              </a:ln>
              <a:solidFill>
                <a:srgbClr val="000000"/>
              </a:solidFill>
              <a:effectLst/>
              <a:uLnTx/>
              <a:uFillTx/>
              <a:latin typeface="Calibri Light" panose="020F0302020204030204"/>
              <a:cs typeface="+mn-cs"/>
            </a:endParaRPr>
          </a:p>
        </p:txBody>
      </p:sp>
      <p:sp>
        <p:nvSpPr>
          <p:cNvPr id="5" name="页脚占位符 4"/>
          <p:cNvSpPr>
            <a:spLocks noGrp="1"/>
          </p:cNvSpPr>
          <p:nvPr>
            <p:ph type="ftr" sz="quarter" idx="11"/>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Calibri Light" panose="020F0302020204030204"/>
              <a:cs typeface="+mn-cs"/>
            </a:endParaRPr>
          </a:p>
        </p:txBody>
      </p:sp>
      <p:sp>
        <p:nvSpPr>
          <p:cNvPr id="6" name="幻灯片编号占位符 5"/>
          <p:cNvSpPr>
            <a:spLocks noGrp="1"/>
          </p:cNvSpPr>
          <p:nvPr>
            <p:ph type="sldNum" sz="quarter" idx="12"/>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E4318774-2AFB-4BC6-A124-21C0A835992E}" type="slidenum">
              <a:rPr kumimoji="0" lang="zh-CN" altLang="en-US" sz="1800" b="0" i="0" u="none" strike="noStrike" kern="1200" cap="none" spc="0" normalizeH="0" baseline="0" noProof="0">
                <a:ln>
                  <a:noFill/>
                </a:ln>
                <a:solidFill>
                  <a:srgbClr val="000000"/>
                </a:solidFill>
                <a:effectLst/>
                <a:uLnTx/>
                <a:uFillTx/>
                <a:latin typeface="Calibri Light" panose="020F0302020204030204"/>
                <a:cs typeface="+mn-cs"/>
              </a:rPr>
            </a:fld>
            <a:endParaRPr kumimoji="0" lang="zh-CN" altLang="en-US" sz="1800" b="0" i="0" u="none" strike="noStrike" kern="1200" cap="none" spc="0" normalizeH="0" baseline="0" noProof="0">
              <a:ln>
                <a:noFill/>
              </a:ln>
              <a:solidFill>
                <a:srgbClr val="000000"/>
              </a:solidFill>
              <a:effectLst/>
              <a:uLnTx/>
              <a:uFillTx/>
              <a:latin typeface="Calibri Light" panose="020F0302020204030204"/>
              <a:cs typeface="+mn-cs"/>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11_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1398863" y="0"/>
            <a:ext cx="10272890" cy="980728"/>
          </a:xfrm>
          <a:prstGeom prst="rect">
            <a:avLst/>
          </a:prstGeom>
        </p:spPr>
        <p:txBody>
          <a:bodyPr/>
          <a:lstStyle>
            <a:lvl1pPr algn="l">
              <a:defRPr baseline="0">
                <a:solidFill>
                  <a:schemeClr val="accent3">
                    <a:lumMod val="50000"/>
                  </a:schemeClr>
                </a:solidFill>
                <a:latin typeface="Microsoft Sans Serif" panose="020B0604020202020204" pitchFamily="34" charset="0"/>
                <a:ea typeface="华文楷体" panose="02010600040101010101" pitchFamily="2"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a:xfrm>
            <a:off x="1398863" y="1878044"/>
            <a:ext cx="10272890" cy="2487061"/>
          </a:xfrm>
          <a:prstGeom prst="rect">
            <a:avLst/>
          </a:prstGeom>
        </p:spPr>
        <p:txBody>
          <a:bodyPr anchor="ctr"/>
          <a:lstStyle>
            <a:lvl1pPr marL="285750" indent="-285750">
              <a:lnSpc>
                <a:spcPct val="120000"/>
              </a:lnSpc>
              <a:buClr>
                <a:srgbClr val="83AA67"/>
              </a:buClr>
              <a:buSzPct val="100000"/>
              <a:buFont typeface="Wingdings" panose="05000000000000000000" pitchFamily="2" charset="2"/>
              <a:buChar char="n"/>
              <a:defRPr sz="20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a:t>单击此处编辑母版文本样式</a:t>
            </a:r>
            <a:endParaRPr lang="en-US" altLang="zh-CN" dirty="0"/>
          </a:p>
          <a:p>
            <a:pPr lvl="1"/>
            <a:endParaRPr lang="zh-CN" altLang="en-US" dirty="0"/>
          </a:p>
        </p:txBody>
      </p:sp>
      <p:sp>
        <p:nvSpPr>
          <p:cNvPr id="4" name="Date Placeholder 3"/>
          <p:cNvSpPr>
            <a:spLocks noGrp="1"/>
          </p:cNvSpPr>
          <p:nvPr>
            <p:ph type="dt" sz="half" idx="10"/>
          </p:nvPr>
        </p:nvSpPr>
        <p:spPr>
          <a:xfrm>
            <a:off x="9792440" y="6108175"/>
            <a:ext cx="1143297"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87DE6118-2437-4B30-8E3C-4D2BE6020583}" type="datetimeFigureOut">
              <a:rPr kumimoji="0" lang="en-US" sz="1800" b="0" i="0" u="none" strike="noStrike" kern="1200" cap="none" spc="0" normalizeH="0" baseline="0" noProof="0" smtClean="0">
                <a:ln>
                  <a:noFill/>
                </a:ln>
                <a:solidFill>
                  <a:srgbClr val="000000"/>
                </a:solidFill>
                <a:effectLst/>
                <a:uLnTx/>
                <a:uFillTx/>
                <a:latin typeface="Calibri Light" panose="020F0302020204030204"/>
                <a:cs typeface="+mn-cs"/>
              </a:rPr>
            </a:fld>
            <a:endParaRPr kumimoji="0" lang="en-US" sz="1800" b="0" i="0" u="none" strike="noStrike" kern="1200" cap="none" spc="0" normalizeH="0" baseline="0" noProof="0" dirty="0">
              <a:ln>
                <a:noFill/>
              </a:ln>
              <a:solidFill>
                <a:srgbClr val="000000"/>
              </a:solidFill>
              <a:effectLst/>
              <a:uLnTx/>
              <a:uFillTx/>
              <a:latin typeface="Calibri Light" panose="020F0302020204030204"/>
              <a:cs typeface="+mn-cs"/>
            </a:endParaRPr>
          </a:p>
        </p:txBody>
      </p:sp>
      <p:sp>
        <p:nvSpPr>
          <p:cNvPr id="5" name="Footer Placeholder 4"/>
          <p:cNvSpPr>
            <a:spLocks noGrp="1"/>
          </p:cNvSpPr>
          <p:nvPr>
            <p:ph type="ftr" sz="quarter" idx="11"/>
          </p:nvPr>
        </p:nvSpPr>
        <p:spPr>
          <a:xfrm>
            <a:off x="2630198" y="6108175"/>
            <a:ext cx="7086022" cy="365125"/>
          </a:xfrm>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en-US" sz="1400" b="0" i="0" u="none" strike="noStrike" kern="1200" cap="none" spc="0" normalizeH="0" baseline="0" noProof="0" dirty="0">
              <a:ln>
                <a:noFill/>
              </a:ln>
              <a:solidFill>
                <a:srgbClr val="44546A"/>
              </a:solidFill>
              <a:effectLst/>
              <a:uLnTx/>
              <a:uFillTx/>
              <a:latin typeface="Calibri Light" panose="020F0302020204030204"/>
              <a:cs typeface="+mn-cs"/>
            </a:endParaRPr>
          </a:p>
        </p:txBody>
      </p:sp>
      <p:sp>
        <p:nvSpPr>
          <p:cNvPr id="6" name="Slide Number Placeholder 5"/>
          <p:cNvSpPr>
            <a:spLocks noGrp="1"/>
          </p:cNvSpPr>
          <p:nvPr>
            <p:ph type="sldNum" sz="quarter" idx="12"/>
          </p:nvPr>
        </p:nvSpPr>
        <p:spPr>
          <a:xfrm>
            <a:off x="11011957" y="6108175"/>
            <a:ext cx="570444"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1AD93096-5B34-4342-9326-69289CEAE4C2}" type="slidenum">
              <a:rPr kumimoji="0" lang="en-US" sz="1800" b="0" i="0" u="none" strike="noStrike" kern="1200" cap="none" spc="0" normalizeH="0" baseline="0" noProof="0" smtClean="0">
                <a:ln>
                  <a:noFill/>
                </a:ln>
                <a:solidFill>
                  <a:srgbClr val="000000"/>
                </a:solidFill>
                <a:effectLst/>
                <a:uLnTx/>
                <a:uFillTx/>
                <a:latin typeface="Calibri Light" panose="020F0302020204030204"/>
                <a:cs typeface="+mn-cs"/>
              </a:rPr>
            </a:fld>
            <a:endParaRPr kumimoji="0" lang="en-US" sz="1800" b="0" i="0" u="none" strike="noStrike" kern="1200" cap="none" spc="0" normalizeH="0" baseline="0" noProof="0" dirty="0">
              <a:ln>
                <a:noFill/>
              </a:ln>
              <a:solidFill>
                <a:srgbClr val="FFFFFF"/>
              </a:solidFill>
              <a:effectLst/>
              <a:uLnTx/>
              <a:uFillTx/>
              <a:latin typeface="Calibri Light" panose="020F0302020204030204"/>
              <a:cs typeface="+mn-cs"/>
            </a:endParaRPr>
          </a:p>
        </p:txBody>
      </p:sp>
      <p:sp>
        <p:nvSpPr>
          <p:cNvPr id="7" name="Content Placeholder 2"/>
          <p:cNvSpPr>
            <a:spLocks noGrp="1"/>
          </p:cNvSpPr>
          <p:nvPr>
            <p:ph idx="13"/>
          </p:nvPr>
        </p:nvSpPr>
        <p:spPr>
          <a:xfrm>
            <a:off x="1398862" y="980729"/>
            <a:ext cx="10272890" cy="897315"/>
          </a:xfrm>
          <a:prstGeom prst="rect">
            <a:avLst/>
          </a:prstGeom>
        </p:spPr>
        <p:txBody>
          <a:bodyPr anchor="ctr">
            <a:normAutofit/>
          </a:bodyPr>
          <a:lstStyle>
            <a:lvl1pPr marL="0" indent="0">
              <a:buClr>
                <a:srgbClr val="83AA67"/>
              </a:buClr>
              <a:buSzPct val="100000"/>
              <a:buFont typeface="Wingdings" panose="05000000000000000000" pitchFamily="2" charset="2"/>
              <a:buNone/>
              <a:defRPr sz="24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3.xml"/><Relationship Id="rId8" Type="http://schemas.openxmlformats.org/officeDocument/2006/relationships/slideLayout" Target="../slideLayouts/slideLayout22.xml"/><Relationship Id="rId7" Type="http://schemas.openxmlformats.org/officeDocument/2006/relationships/slideLayout" Target="../slideLayouts/slideLayout21.xml"/><Relationship Id="rId6" Type="http://schemas.openxmlformats.org/officeDocument/2006/relationships/slideLayout" Target="../slideLayouts/slideLayout20.xml"/><Relationship Id="rId5" Type="http://schemas.openxmlformats.org/officeDocument/2006/relationships/slideLayout" Target="../slideLayouts/slideLayout19.xml"/><Relationship Id="rId4" Type="http://schemas.openxmlformats.org/officeDocument/2006/relationships/slideLayout" Target="../slideLayouts/slideLayout18.xml"/><Relationship Id="rId3" Type="http://schemas.openxmlformats.org/officeDocument/2006/relationships/slideLayout" Target="../slideLayouts/slideLayout17.xml"/><Relationship Id="rId2" Type="http://schemas.openxmlformats.org/officeDocument/2006/relationships/slideLayout" Target="../slideLayouts/slideLayout16.xml"/><Relationship Id="rId16" Type="http://schemas.openxmlformats.org/officeDocument/2006/relationships/theme" Target="../theme/theme2.xml"/><Relationship Id="rId15" Type="http://schemas.openxmlformats.org/officeDocument/2006/relationships/image" Target="../media/image1.png"/><Relationship Id="rId14" Type="http://schemas.openxmlformats.org/officeDocument/2006/relationships/slideLayout" Target="../slideLayouts/slideLayout28.xml"/><Relationship Id="rId13" Type="http://schemas.openxmlformats.org/officeDocument/2006/relationships/slideLayout" Target="../slideLayouts/slideLayout27.xml"/><Relationship Id="rId12" Type="http://schemas.openxmlformats.org/officeDocument/2006/relationships/slideLayout" Target="../slideLayouts/slideLayout26.xml"/><Relationship Id="rId11" Type="http://schemas.openxmlformats.org/officeDocument/2006/relationships/slideLayout" Target="../slideLayouts/slideLayout25.xml"/><Relationship Id="rId10" Type="http://schemas.openxmlformats.org/officeDocument/2006/relationships/slideLayout" Target="../slideLayouts/slideLayout24.xml"/><Relationship Id="rId1"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6"/>
            <a:ext cx="5257800" cy="955674"/>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F206FCC-0CBB-4DF4-89C1-3C9DB4B6E7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8FCFE"/>
        </a:solidFill>
        <a:effectLst/>
      </p:bgPr>
    </p:bg>
    <p:spTree>
      <p:nvGrpSpPr>
        <p:cNvPr id="1" name=""/>
        <p:cNvGrpSpPr/>
        <p:nvPr/>
      </p:nvGrpSpPr>
      <p:grpSpPr>
        <a:xfrm>
          <a:off x="0" y="0"/>
          <a:ext cx="0" cy="0"/>
          <a:chOff x="0" y="0"/>
          <a:chExt cx="0" cy="0"/>
        </a:xfrm>
      </p:grpSpPr>
      <p:sp>
        <p:nvSpPr>
          <p:cNvPr id="2" name="矩形 1"/>
          <p:cNvSpPr/>
          <p:nvPr userDrawn="1"/>
        </p:nvSpPr>
        <p:spPr>
          <a:xfrm>
            <a:off x="0" y="0"/>
            <a:ext cx="12192000" cy="6858000"/>
          </a:xfrm>
          <a:prstGeom prst="rect">
            <a:avLst/>
          </a:prstGeom>
          <a:blipFill dpi="0" rotWithShape="1">
            <a:blip r:embed="rId15" cstate="print">
              <a:alphaModFix amt="60000"/>
            </a:blip>
            <a:srcRect/>
            <a:tile tx="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Light" panose="020F0302020204030204"/>
              <a:cs typeface="+mn-cs"/>
            </a:endParaRPr>
          </a:p>
        </p:txBody>
      </p:sp>
      <p:sp>
        <p:nvSpPr>
          <p:cNvPr id="4" name="Rectangle 3"/>
          <p:cNvSpPr txBox="1">
            <a:spLocks noChangeArrowheads="1"/>
          </p:cNvSpPr>
          <p:nvPr userDrawn="1"/>
        </p:nvSpPr>
        <p:spPr bwMode="auto">
          <a:xfrm>
            <a:off x="4511824" y="6556138"/>
            <a:ext cx="3168352" cy="301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44546A"/>
              </a:buClr>
              <a:buSzTx/>
              <a:buFont typeface="Wingdings" panose="05000000000000000000" pitchFamily="2" charset="2"/>
              <a:buNone/>
              <a:defRPr/>
            </a:pPr>
            <a:r>
              <a:rPr kumimoji="0" lang="zh-CN" altLang="en-US" sz="1600" b="1" i="0" u="none" strike="noStrike" kern="1200" cap="none" spc="0" normalizeH="0" baseline="0" noProof="0" dirty="0">
                <a:ln>
                  <a:noFill/>
                </a:ln>
                <a:solidFill>
                  <a:srgbClr val="000000"/>
                </a:solidFill>
                <a:effectLst/>
                <a:uLnTx/>
                <a:uFillTx/>
                <a:latin typeface="Verdana" panose="020B0604030504040204" pitchFamily="34" charset="0"/>
                <a:ea typeface="宋体" panose="02010600030101010101" pitchFamily="2" charset="-122"/>
                <a:cs typeface="+mn-cs"/>
              </a:rPr>
              <a:t>河南大学软件学院</a:t>
            </a:r>
            <a:endParaRPr kumimoji="0" lang="zh-CN" altLang="en-US" sz="1600" b="1" i="0" u="none" strike="noStrike" kern="1200" cap="none" spc="0" normalizeH="0" baseline="0" noProof="0" dirty="0">
              <a:ln>
                <a:noFill/>
              </a:ln>
              <a:solidFill>
                <a:srgbClr val="000000"/>
              </a:solidFill>
              <a:effectLst/>
              <a:uLnTx/>
              <a:uFillTx/>
              <a:latin typeface="Verdana" panose="020B060403050404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 id="2147483677"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1" Type="http://schemas.openxmlformats.org/officeDocument/2006/relationships/notesSlide" Target="../notesSlides/notesSlide1.xml"/><Relationship Id="rId10" Type="http://schemas.openxmlformats.org/officeDocument/2006/relationships/slideLayout" Target="../slideLayouts/slideLayout15.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2.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9" Type="http://schemas.openxmlformats.org/officeDocument/2006/relationships/tags" Target="../tags/tag18.xml"/><Relationship Id="rId8" Type="http://schemas.openxmlformats.org/officeDocument/2006/relationships/tags" Target="../tags/tag17.xml"/><Relationship Id="rId7" Type="http://schemas.openxmlformats.org/officeDocument/2006/relationships/tags" Target="../tags/tag16.xml"/><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0" Type="http://schemas.openxmlformats.org/officeDocument/2006/relationships/notesSlide" Target="../notesSlides/notesSlide7.xml"/><Relationship Id="rId2" Type="http://schemas.openxmlformats.org/officeDocument/2006/relationships/tags" Target="../tags/tag11.xml"/><Relationship Id="rId19" Type="http://schemas.openxmlformats.org/officeDocument/2006/relationships/slideLayout" Target="../slideLayouts/slideLayout7.xml"/><Relationship Id="rId18" Type="http://schemas.openxmlformats.org/officeDocument/2006/relationships/tags" Target="../tags/tag26.xml"/><Relationship Id="rId17" Type="http://schemas.openxmlformats.org/officeDocument/2006/relationships/image" Target="../media/image4.png"/><Relationship Id="rId16" Type="http://schemas.openxmlformats.org/officeDocument/2006/relationships/tags" Target="../tags/tag25.xml"/><Relationship Id="rId15" Type="http://schemas.openxmlformats.org/officeDocument/2006/relationships/tags" Target="../tags/tag24.xml"/><Relationship Id="rId14" Type="http://schemas.openxmlformats.org/officeDocument/2006/relationships/tags" Target="../tags/tag23.xml"/><Relationship Id="rId13" Type="http://schemas.openxmlformats.org/officeDocument/2006/relationships/tags" Target="../tags/tag22.xml"/><Relationship Id="rId12" Type="http://schemas.openxmlformats.org/officeDocument/2006/relationships/tags" Target="../tags/tag21.xml"/><Relationship Id="rId11" Type="http://schemas.openxmlformats.org/officeDocument/2006/relationships/tags" Target="../tags/tag20.xml"/><Relationship Id="rId10" Type="http://schemas.openxmlformats.org/officeDocument/2006/relationships/tags" Target="../tags/tag19.xml"/><Relationship Id="rId1" Type="http://schemas.openxmlformats.org/officeDocument/2006/relationships/tags" Target="../tags/tag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5.jpeg"/></Relationships>
</file>

<file path=ppt/slides/_rels/slide11.xml.rels><?xml version="1.0" encoding="UTF-8" standalone="yes"?>
<Relationships xmlns="http://schemas.openxmlformats.org/package/2006/relationships"><Relationship Id="rId9" Type="http://schemas.openxmlformats.org/officeDocument/2006/relationships/tags" Target="../tags/tag35.xml"/><Relationship Id="rId8" Type="http://schemas.openxmlformats.org/officeDocument/2006/relationships/tags" Target="../tags/tag34.xml"/><Relationship Id="rId7" Type="http://schemas.openxmlformats.org/officeDocument/2006/relationships/tags" Target="../tags/tag33.xml"/><Relationship Id="rId6" Type="http://schemas.openxmlformats.org/officeDocument/2006/relationships/tags" Target="../tags/tag32.xml"/><Relationship Id="rId5" Type="http://schemas.openxmlformats.org/officeDocument/2006/relationships/tags" Target="../tags/tag31.xml"/><Relationship Id="rId4" Type="http://schemas.openxmlformats.org/officeDocument/2006/relationships/tags" Target="../tags/tag30.xml"/><Relationship Id="rId3" Type="http://schemas.openxmlformats.org/officeDocument/2006/relationships/tags" Target="../tags/tag29.xml"/><Relationship Id="rId2" Type="http://schemas.openxmlformats.org/officeDocument/2006/relationships/tags" Target="../tags/tag28.xml"/><Relationship Id="rId19" Type="http://schemas.openxmlformats.org/officeDocument/2006/relationships/slideLayout" Target="../slideLayouts/slideLayout7.xml"/><Relationship Id="rId18" Type="http://schemas.openxmlformats.org/officeDocument/2006/relationships/tags" Target="../tags/tag43.xml"/><Relationship Id="rId17" Type="http://schemas.openxmlformats.org/officeDocument/2006/relationships/image" Target="../media/image4.png"/><Relationship Id="rId16" Type="http://schemas.openxmlformats.org/officeDocument/2006/relationships/tags" Target="../tags/tag42.xml"/><Relationship Id="rId15" Type="http://schemas.openxmlformats.org/officeDocument/2006/relationships/tags" Target="../tags/tag41.xml"/><Relationship Id="rId14" Type="http://schemas.openxmlformats.org/officeDocument/2006/relationships/tags" Target="../tags/tag40.xml"/><Relationship Id="rId13" Type="http://schemas.openxmlformats.org/officeDocument/2006/relationships/tags" Target="../tags/tag39.xml"/><Relationship Id="rId12" Type="http://schemas.openxmlformats.org/officeDocument/2006/relationships/tags" Target="../tags/tag38.xml"/><Relationship Id="rId11" Type="http://schemas.openxmlformats.org/officeDocument/2006/relationships/tags" Target="../tags/tag37.xml"/><Relationship Id="rId10" Type="http://schemas.openxmlformats.org/officeDocument/2006/relationships/tags" Target="../tags/tag36.xml"/><Relationship Id="rId1" Type="http://schemas.openxmlformats.org/officeDocument/2006/relationships/tags" Target="../tags/tag2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image" Target="../media/image7.png"/></Relationships>
</file>

<file path=ppt/slides/_rels/slide25.xml.rels><?xml version="1.0" encoding="UTF-8" standalone="yes"?>
<Relationships xmlns="http://schemas.openxmlformats.org/package/2006/relationships"><Relationship Id="rId9" Type="http://schemas.openxmlformats.org/officeDocument/2006/relationships/tags" Target="../tags/tag52.xml"/><Relationship Id="rId8" Type="http://schemas.openxmlformats.org/officeDocument/2006/relationships/tags" Target="../tags/tag51.xml"/><Relationship Id="rId7" Type="http://schemas.openxmlformats.org/officeDocument/2006/relationships/tags" Target="../tags/tag50.xml"/><Relationship Id="rId6" Type="http://schemas.openxmlformats.org/officeDocument/2006/relationships/tags" Target="../tags/tag49.xml"/><Relationship Id="rId5" Type="http://schemas.openxmlformats.org/officeDocument/2006/relationships/tags" Target="../tags/tag48.xml"/><Relationship Id="rId4" Type="http://schemas.openxmlformats.org/officeDocument/2006/relationships/tags" Target="../tags/tag47.xml"/><Relationship Id="rId3" Type="http://schemas.openxmlformats.org/officeDocument/2006/relationships/tags" Target="../tags/tag46.xml"/><Relationship Id="rId20" Type="http://schemas.openxmlformats.org/officeDocument/2006/relationships/notesSlide" Target="../notesSlides/notesSlide17.xml"/><Relationship Id="rId2" Type="http://schemas.openxmlformats.org/officeDocument/2006/relationships/tags" Target="../tags/tag45.xml"/><Relationship Id="rId19" Type="http://schemas.openxmlformats.org/officeDocument/2006/relationships/slideLayout" Target="../slideLayouts/slideLayout7.xml"/><Relationship Id="rId18" Type="http://schemas.openxmlformats.org/officeDocument/2006/relationships/tags" Target="../tags/tag60.xml"/><Relationship Id="rId17" Type="http://schemas.openxmlformats.org/officeDocument/2006/relationships/image" Target="../media/image4.png"/><Relationship Id="rId16" Type="http://schemas.openxmlformats.org/officeDocument/2006/relationships/tags" Target="../tags/tag59.xml"/><Relationship Id="rId15" Type="http://schemas.openxmlformats.org/officeDocument/2006/relationships/tags" Target="../tags/tag58.xml"/><Relationship Id="rId14" Type="http://schemas.openxmlformats.org/officeDocument/2006/relationships/tags" Target="../tags/tag57.xml"/><Relationship Id="rId13" Type="http://schemas.openxmlformats.org/officeDocument/2006/relationships/tags" Target="../tags/tag56.xml"/><Relationship Id="rId12" Type="http://schemas.openxmlformats.org/officeDocument/2006/relationships/tags" Target="../tags/tag55.xml"/><Relationship Id="rId11" Type="http://schemas.openxmlformats.org/officeDocument/2006/relationships/tags" Target="../tags/tag54.xml"/><Relationship Id="rId10" Type="http://schemas.openxmlformats.org/officeDocument/2006/relationships/tags" Target="../tags/tag53.xml"/><Relationship Id="rId1" Type="http://schemas.openxmlformats.org/officeDocument/2006/relationships/tags" Target="../tags/tag4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5" Type="http://schemas.openxmlformats.org/officeDocument/2006/relationships/notesSlide" Target="../notesSlides/notesSlide23.xml"/><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11.emf"/><Relationship Id="rId1" Type="http://schemas.openxmlformats.org/officeDocument/2006/relationships/oleObject" Target="../embeddings/oleObject1.bin"/></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5.png"/><Relationship Id="rId1" Type="http://schemas.openxmlformats.org/officeDocument/2006/relationships/image" Target="../media/image14.png"/></Relationships>
</file>

<file path=ppt/slides/_rels/slide51.xml.rels><?xml version="1.0" encoding="UTF-8" standalone="yes"?>
<Relationships xmlns="http://schemas.openxmlformats.org/package/2006/relationships"><Relationship Id="rId9" Type="http://schemas.openxmlformats.org/officeDocument/2006/relationships/tags" Target="../tags/tag69.xml"/><Relationship Id="rId8" Type="http://schemas.openxmlformats.org/officeDocument/2006/relationships/tags" Target="../tags/tag68.xml"/><Relationship Id="rId7" Type="http://schemas.openxmlformats.org/officeDocument/2006/relationships/tags" Target="../tags/tag67.xml"/><Relationship Id="rId6" Type="http://schemas.openxmlformats.org/officeDocument/2006/relationships/tags" Target="../tags/tag66.xml"/><Relationship Id="rId5" Type="http://schemas.openxmlformats.org/officeDocument/2006/relationships/tags" Target="../tags/tag65.xml"/><Relationship Id="rId4" Type="http://schemas.openxmlformats.org/officeDocument/2006/relationships/tags" Target="../tags/tag64.xml"/><Relationship Id="rId3" Type="http://schemas.openxmlformats.org/officeDocument/2006/relationships/tags" Target="../tags/tag63.xml"/><Relationship Id="rId2" Type="http://schemas.openxmlformats.org/officeDocument/2006/relationships/tags" Target="../tags/tag62.xml"/><Relationship Id="rId19" Type="http://schemas.openxmlformats.org/officeDocument/2006/relationships/slideLayout" Target="../slideLayouts/slideLayout7.xml"/><Relationship Id="rId18" Type="http://schemas.openxmlformats.org/officeDocument/2006/relationships/tags" Target="../tags/tag77.xml"/><Relationship Id="rId17" Type="http://schemas.openxmlformats.org/officeDocument/2006/relationships/image" Target="../media/image4.png"/><Relationship Id="rId16" Type="http://schemas.openxmlformats.org/officeDocument/2006/relationships/tags" Target="../tags/tag76.xml"/><Relationship Id="rId15" Type="http://schemas.openxmlformats.org/officeDocument/2006/relationships/tags" Target="../tags/tag75.xml"/><Relationship Id="rId14" Type="http://schemas.openxmlformats.org/officeDocument/2006/relationships/tags" Target="../tags/tag74.xml"/><Relationship Id="rId13" Type="http://schemas.openxmlformats.org/officeDocument/2006/relationships/tags" Target="../tags/tag73.xml"/><Relationship Id="rId12" Type="http://schemas.openxmlformats.org/officeDocument/2006/relationships/tags" Target="../tags/tag72.xml"/><Relationship Id="rId11" Type="http://schemas.openxmlformats.org/officeDocument/2006/relationships/tags" Target="../tags/tag71.xml"/><Relationship Id="rId10" Type="http://schemas.openxmlformats.org/officeDocument/2006/relationships/tags" Target="../tags/tag70.xml"/><Relationship Id="rId1" Type="http://schemas.openxmlformats.org/officeDocument/2006/relationships/tags" Target="../tags/tag61.xml"/></Relationships>
</file>

<file path=ppt/slides/_rels/slide52.xml.rels><?xml version="1.0" encoding="UTF-8" standalone="yes"?>
<Relationships xmlns="http://schemas.openxmlformats.org/package/2006/relationships"><Relationship Id="rId9" Type="http://schemas.openxmlformats.org/officeDocument/2006/relationships/tags" Target="../tags/tag86.xml"/><Relationship Id="rId8" Type="http://schemas.openxmlformats.org/officeDocument/2006/relationships/tags" Target="../tags/tag85.xml"/><Relationship Id="rId7" Type="http://schemas.openxmlformats.org/officeDocument/2006/relationships/tags" Target="../tags/tag84.xml"/><Relationship Id="rId6" Type="http://schemas.openxmlformats.org/officeDocument/2006/relationships/tags" Target="../tags/tag83.xml"/><Relationship Id="rId5" Type="http://schemas.openxmlformats.org/officeDocument/2006/relationships/tags" Target="../tags/tag82.xml"/><Relationship Id="rId4" Type="http://schemas.openxmlformats.org/officeDocument/2006/relationships/tags" Target="../tags/tag81.xml"/><Relationship Id="rId3" Type="http://schemas.openxmlformats.org/officeDocument/2006/relationships/tags" Target="../tags/tag80.xml"/><Relationship Id="rId2" Type="http://schemas.openxmlformats.org/officeDocument/2006/relationships/tags" Target="../tags/tag79.xml"/><Relationship Id="rId19" Type="http://schemas.openxmlformats.org/officeDocument/2006/relationships/slideLayout" Target="../slideLayouts/slideLayout7.xml"/><Relationship Id="rId18" Type="http://schemas.openxmlformats.org/officeDocument/2006/relationships/tags" Target="../tags/tag94.xml"/><Relationship Id="rId17" Type="http://schemas.openxmlformats.org/officeDocument/2006/relationships/image" Target="../media/image4.png"/><Relationship Id="rId16" Type="http://schemas.openxmlformats.org/officeDocument/2006/relationships/tags" Target="../tags/tag93.xml"/><Relationship Id="rId15" Type="http://schemas.openxmlformats.org/officeDocument/2006/relationships/tags" Target="../tags/tag92.xml"/><Relationship Id="rId14" Type="http://schemas.openxmlformats.org/officeDocument/2006/relationships/tags" Target="../tags/tag91.xml"/><Relationship Id="rId13" Type="http://schemas.openxmlformats.org/officeDocument/2006/relationships/tags" Target="../tags/tag90.xml"/><Relationship Id="rId12" Type="http://schemas.openxmlformats.org/officeDocument/2006/relationships/tags" Target="../tags/tag89.xml"/><Relationship Id="rId11" Type="http://schemas.openxmlformats.org/officeDocument/2006/relationships/tags" Target="../tags/tag88.xml"/><Relationship Id="rId10" Type="http://schemas.openxmlformats.org/officeDocument/2006/relationships/tags" Target="../tags/tag87.xml"/><Relationship Id="rId1" Type="http://schemas.openxmlformats.org/officeDocument/2006/relationships/tags" Target="../tags/tag78.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7.png"/><Relationship Id="rId1" Type="http://schemas.openxmlformats.org/officeDocument/2006/relationships/image" Target="../media/image16.png"/></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3.xml"/><Relationship Id="rId1" Type="http://schemas.openxmlformats.org/officeDocument/2006/relationships/hyperlink" Target="https://www.zhihu.com/search?q=%E5%B9%B3%E5%9D%87%E5%80%BC&amp;search_source=Entity&amp;hybrid_search_source=Entity&amp;hybrid_search_extra=%7b%22sourceType%22:%22answer%22,%22sourceId%22:765401873%7d" TargetMode="External"/></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3.xml"/><Relationship Id="rId1" Type="http://schemas.openxmlformats.org/officeDocument/2006/relationships/image" Target="../media/image18.png"/></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9.jpeg"/></Relationships>
</file>

<file path=ppt/slides/_rels/slide59.xml.rels><?xml version="1.0" encoding="UTF-8" standalone="yes"?>
<Relationships xmlns="http://schemas.openxmlformats.org/package/2006/relationships"><Relationship Id="rId7" Type="http://schemas.openxmlformats.org/officeDocument/2006/relationships/notesSlide" Target="../notesSlides/notesSlide34.xml"/><Relationship Id="rId6" Type="http://schemas.openxmlformats.org/officeDocument/2006/relationships/slideLayout" Target="../slideLayouts/slideLayout3.xml"/><Relationship Id="rId5" Type="http://schemas.openxmlformats.org/officeDocument/2006/relationships/hyperlink" Target="https://www.zhihu.com/search?q=%E6%A0%B7%E6%9C%AC%E6%95%B0&amp;search_source=Entity&amp;hybrid_search_source=Entity&amp;hybrid_search_extra=%7b%22sourceType%22:%22answer%22,%22sourceId%22:765401873%7d" TargetMode="External"/><Relationship Id="rId4" Type="http://schemas.openxmlformats.org/officeDocument/2006/relationships/image" Target="../media/image23.png"/><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image" Target="../media/image20.png"/></Relationships>
</file>

<file path=ppt/slides/_rels/slide60.xml.rels><?xml version="1.0" encoding="UTF-8" standalone="yes"?>
<Relationships xmlns="http://schemas.openxmlformats.org/package/2006/relationships"><Relationship Id="rId4" Type="http://schemas.openxmlformats.org/officeDocument/2006/relationships/notesSlide" Target="../notesSlides/notesSlide35.xml"/><Relationship Id="rId3" Type="http://schemas.openxmlformats.org/officeDocument/2006/relationships/slideLayout" Target="../slideLayouts/slideLayout3.xml"/><Relationship Id="rId2" Type="http://schemas.openxmlformats.org/officeDocument/2006/relationships/image" Target="../media/image25.png"/><Relationship Id="rId1" Type="http://schemas.openxmlformats.org/officeDocument/2006/relationships/image" Target="../media/image24.png"/></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6.png"/></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3.xml"/><Relationship Id="rId1" Type="http://schemas.openxmlformats.org/officeDocument/2006/relationships/hyperlink" Target="https://www.zhihu.com/search?q=%E5%88%86%E7%B1%BB%E5%99%A8&amp;search_source=Entity&amp;hybrid_search_source=Entity&amp;hybrid_search_extra=%7b%22sourceType%22:%22answer%22,%22sourceId%22:765401873%7d" TargetMode="External"/></Relationships>
</file>

<file path=ppt/slides/_rels/slide66.xml.rels><?xml version="1.0" encoding="UTF-8" standalone="yes"?>
<Relationships xmlns="http://schemas.openxmlformats.org/package/2006/relationships"><Relationship Id="rId9" Type="http://schemas.openxmlformats.org/officeDocument/2006/relationships/tags" Target="../tags/tag103.xml"/><Relationship Id="rId8" Type="http://schemas.openxmlformats.org/officeDocument/2006/relationships/tags" Target="../tags/tag102.xml"/><Relationship Id="rId7" Type="http://schemas.openxmlformats.org/officeDocument/2006/relationships/tags" Target="../tags/tag101.xml"/><Relationship Id="rId6" Type="http://schemas.openxmlformats.org/officeDocument/2006/relationships/tags" Target="../tags/tag100.xml"/><Relationship Id="rId5" Type="http://schemas.openxmlformats.org/officeDocument/2006/relationships/tags" Target="../tags/tag99.xml"/><Relationship Id="rId4" Type="http://schemas.openxmlformats.org/officeDocument/2006/relationships/tags" Target="../tags/tag98.xml"/><Relationship Id="rId3" Type="http://schemas.openxmlformats.org/officeDocument/2006/relationships/tags" Target="../tags/tag97.xml"/><Relationship Id="rId2" Type="http://schemas.openxmlformats.org/officeDocument/2006/relationships/tags" Target="../tags/tag96.xml"/><Relationship Id="rId15" Type="http://schemas.openxmlformats.org/officeDocument/2006/relationships/slideLayout" Target="../slideLayouts/slideLayout7.xml"/><Relationship Id="rId14" Type="http://schemas.openxmlformats.org/officeDocument/2006/relationships/tags" Target="../tags/tag107.xml"/><Relationship Id="rId13" Type="http://schemas.openxmlformats.org/officeDocument/2006/relationships/image" Target="../media/image4.png"/><Relationship Id="rId12" Type="http://schemas.openxmlformats.org/officeDocument/2006/relationships/tags" Target="../tags/tag106.xml"/><Relationship Id="rId11" Type="http://schemas.openxmlformats.org/officeDocument/2006/relationships/tags" Target="../tags/tag105.xml"/><Relationship Id="rId10" Type="http://schemas.openxmlformats.org/officeDocument/2006/relationships/tags" Target="../tags/tag104.xml"/><Relationship Id="rId1" Type="http://schemas.openxmlformats.org/officeDocument/2006/relationships/tags" Target="../tags/tag95.xml"/></Relationships>
</file>

<file path=ppt/slides/_rels/slide67.xml.rels><?xml version="1.0" encoding="UTF-8" standalone="yes"?>
<Relationships xmlns="http://schemas.openxmlformats.org/package/2006/relationships"><Relationship Id="rId9" Type="http://schemas.openxmlformats.org/officeDocument/2006/relationships/tags" Target="../tags/tag116.xml"/><Relationship Id="rId8" Type="http://schemas.openxmlformats.org/officeDocument/2006/relationships/tags" Target="../tags/tag115.xml"/><Relationship Id="rId7" Type="http://schemas.openxmlformats.org/officeDocument/2006/relationships/tags" Target="../tags/tag114.xml"/><Relationship Id="rId6" Type="http://schemas.openxmlformats.org/officeDocument/2006/relationships/tags" Target="../tags/tag113.xml"/><Relationship Id="rId5" Type="http://schemas.openxmlformats.org/officeDocument/2006/relationships/tags" Target="../tags/tag112.xml"/><Relationship Id="rId4" Type="http://schemas.openxmlformats.org/officeDocument/2006/relationships/tags" Target="../tags/tag111.xml"/><Relationship Id="rId3" Type="http://schemas.openxmlformats.org/officeDocument/2006/relationships/tags" Target="../tags/tag110.xml"/><Relationship Id="rId2" Type="http://schemas.openxmlformats.org/officeDocument/2006/relationships/tags" Target="../tags/tag109.xml"/><Relationship Id="rId15" Type="http://schemas.openxmlformats.org/officeDocument/2006/relationships/slideLayout" Target="../slideLayouts/slideLayout7.xml"/><Relationship Id="rId14" Type="http://schemas.openxmlformats.org/officeDocument/2006/relationships/tags" Target="../tags/tag120.xml"/><Relationship Id="rId13" Type="http://schemas.openxmlformats.org/officeDocument/2006/relationships/image" Target="../media/image4.png"/><Relationship Id="rId12" Type="http://schemas.openxmlformats.org/officeDocument/2006/relationships/tags" Target="../tags/tag119.xml"/><Relationship Id="rId11" Type="http://schemas.openxmlformats.org/officeDocument/2006/relationships/tags" Target="../tags/tag118.xml"/><Relationship Id="rId10" Type="http://schemas.openxmlformats.org/officeDocument/2006/relationships/tags" Target="../tags/tag117.xml"/><Relationship Id="rId1" Type="http://schemas.openxmlformats.org/officeDocument/2006/relationships/tags" Target="../tags/tag108.xml"/></Relationships>
</file>

<file path=ppt/slides/_rels/slide68.xml.rels><?xml version="1.0" encoding="UTF-8" standalone="yes"?>
<Relationships xmlns="http://schemas.openxmlformats.org/package/2006/relationships"><Relationship Id="rId9" Type="http://schemas.openxmlformats.org/officeDocument/2006/relationships/tags" Target="../tags/tag129.xml"/><Relationship Id="rId8" Type="http://schemas.openxmlformats.org/officeDocument/2006/relationships/tags" Target="../tags/tag128.xml"/><Relationship Id="rId7" Type="http://schemas.openxmlformats.org/officeDocument/2006/relationships/tags" Target="../tags/tag127.xml"/><Relationship Id="rId6" Type="http://schemas.openxmlformats.org/officeDocument/2006/relationships/tags" Target="../tags/tag126.xml"/><Relationship Id="rId5" Type="http://schemas.openxmlformats.org/officeDocument/2006/relationships/tags" Target="../tags/tag125.xml"/><Relationship Id="rId4" Type="http://schemas.openxmlformats.org/officeDocument/2006/relationships/tags" Target="../tags/tag124.xml"/><Relationship Id="rId3" Type="http://schemas.openxmlformats.org/officeDocument/2006/relationships/tags" Target="../tags/tag123.xml"/><Relationship Id="rId2" Type="http://schemas.openxmlformats.org/officeDocument/2006/relationships/tags" Target="../tags/tag122.xml"/><Relationship Id="rId15" Type="http://schemas.openxmlformats.org/officeDocument/2006/relationships/slideLayout" Target="../slideLayouts/slideLayout7.xml"/><Relationship Id="rId14" Type="http://schemas.openxmlformats.org/officeDocument/2006/relationships/tags" Target="../tags/tag133.xml"/><Relationship Id="rId13" Type="http://schemas.openxmlformats.org/officeDocument/2006/relationships/image" Target="../media/image4.png"/><Relationship Id="rId12" Type="http://schemas.openxmlformats.org/officeDocument/2006/relationships/tags" Target="../tags/tag132.xml"/><Relationship Id="rId11" Type="http://schemas.openxmlformats.org/officeDocument/2006/relationships/tags" Target="../tags/tag131.xml"/><Relationship Id="rId10" Type="http://schemas.openxmlformats.org/officeDocument/2006/relationships/tags" Target="../tags/tag130.xml"/><Relationship Id="rId1" Type="http://schemas.openxmlformats.org/officeDocument/2006/relationships/tags" Target="../tags/tag121.xml"/></Relationships>
</file>

<file path=ppt/slides/_rels/slide69.xml.rels><?xml version="1.0" encoding="UTF-8" standalone="yes"?>
<Relationships xmlns="http://schemas.openxmlformats.org/package/2006/relationships"><Relationship Id="rId9" Type="http://schemas.openxmlformats.org/officeDocument/2006/relationships/tags" Target="../tags/tag142.xml"/><Relationship Id="rId8" Type="http://schemas.openxmlformats.org/officeDocument/2006/relationships/tags" Target="../tags/tag141.xml"/><Relationship Id="rId7" Type="http://schemas.openxmlformats.org/officeDocument/2006/relationships/tags" Target="../tags/tag140.xml"/><Relationship Id="rId6" Type="http://schemas.openxmlformats.org/officeDocument/2006/relationships/tags" Target="../tags/tag139.xml"/><Relationship Id="rId5" Type="http://schemas.openxmlformats.org/officeDocument/2006/relationships/tags" Target="../tags/tag138.xml"/><Relationship Id="rId4" Type="http://schemas.openxmlformats.org/officeDocument/2006/relationships/tags" Target="../tags/tag137.xml"/><Relationship Id="rId3" Type="http://schemas.openxmlformats.org/officeDocument/2006/relationships/tags" Target="../tags/tag136.xml"/><Relationship Id="rId2" Type="http://schemas.openxmlformats.org/officeDocument/2006/relationships/tags" Target="../tags/tag135.xml"/><Relationship Id="rId19" Type="http://schemas.openxmlformats.org/officeDocument/2006/relationships/slideLayout" Target="../slideLayouts/slideLayout7.xml"/><Relationship Id="rId18" Type="http://schemas.openxmlformats.org/officeDocument/2006/relationships/tags" Target="../tags/tag150.xml"/><Relationship Id="rId17" Type="http://schemas.openxmlformats.org/officeDocument/2006/relationships/image" Target="../media/image4.png"/><Relationship Id="rId16" Type="http://schemas.openxmlformats.org/officeDocument/2006/relationships/tags" Target="../tags/tag149.xml"/><Relationship Id="rId15" Type="http://schemas.openxmlformats.org/officeDocument/2006/relationships/tags" Target="../tags/tag148.xml"/><Relationship Id="rId14" Type="http://schemas.openxmlformats.org/officeDocument/2006/relationships/tags" Target="../tags/tag147.xml"/><Relationship Id="rId13" Type="http://schemas.openxmlformats.org/officeDocument/2006/relationships/tags" Target="../tags/tag146.xml"/><Relationship Id="rId12" Type="http://schemas.openxmlformats.org/officeDocument/2006/relationships/tags" Target="../tags/tag145.xml"/><Relationship Id="rId11" Type="http://schemas.openxmlformats.org/officeDocument/2006/relationships/tags" Target="../tags/tag144.xml"/><Relationship Id="rId10" Type="http://schemas.openxmlformats.org/officeDocument/2006/relationships/tags" Target="../tags/tag143.xml"/><Relationship Id="rId1" Type="http://schemas.openxmlformats.org/officeDocument/2006/relationships/tags" Target="../tags/tag134.xml"/></Relationships>
</file>

<file path=ppt/slides/_rels/slide70.xml.rels><?xml version="1.0" encoding="UTF-8" standalone="yes"?>
<Relationships xmlns="http://schemas.openxmlformats.org/package/2006/relationships"><Relationship Id="rId9" Type="http://schemas.openxmlformats.org/officeDocument/2006/relationships/tags" Target="../tags/tag159.xml"/><Relationship Id="rId8" Type="http://schemas.openxmlformats.org/officeDocument/2006/relationships/tags" Target="../tags/tag158.xml"/><Relationship Id="rId7" Type="http://schemas.openxmlformats.org/officeDocument/2006/relationships/tags" Target="../tags/tag157.xml"/><Relationship Id="rId6" Type="http://schemas.openxmlformats.org/officeDocument/2006/relationships/tags" Target="../tags/tag156.xml"/><Relationship Id="rId5" Type="http://schemas.openxmlformats.org/officeDocument/2006/relationships/tags" Target="../tags/tag155.xml"/><Relationship Id="rId4" Type="http://schemas.openxmlformats.org/officeDocument/2006/relationships/tags" Target="../tags/tag154.xml"/><Relationship Id="rId3" Type="http://schemas.openxmlformats.org/officeDocument/2006/relationships/tags" Target="../tags/tag153.xml"/><Relationship Id="rId2" Type="http://schemas.openxmlformats.org/officeDocument/2006/relationships/tags" Target="../tags/tag152.xml"/><Relationship Id="rId19" Type="http://schemas.openxmlformats.org/officeDocument/2006/relationships/slideLayout" Target="../slideLayouts/slideLayout7.xml"/><Relationship Id="rId18" Type="http://schemas.openxmlformats.org/officeDocument/2006/relationships/tags" Target="../tags/tag167.xml"/><Relationship Id="rId17" Type="http://schemas.openxmlformats.org/officeDocument/2006/relationships/image" Target="../media/image4.png"/><Relationship Id="rId16" Type="http://schemas.openxmlformats.org/officeDocument/2006/relationships/tags" Target="../tags/tag166.xml"/><Relationship Id="rId15" Type="http://schemas.openxmlformats.org/officeDocument/2006/relationships/tags" Target="../tags/tag165.xml"/><Relationship Id="rId14" Type="http://schemas.openxmlformats.org/officeDocument/2006/relationships/tags" Target="../tags/tag164.xml"/><Relationship Id="rId13" Type="http://schemas.openxmlformats.org/officeDocument/2006/relationships/tags" Target="../tags/tag163.xml"/><Relationship Id="rId12" Type="http://schemas.openxmlformats.org/officeDocument/2006/relationships/tags" Target="../tags/tag162.xml"/><Relationship Id="rId11" Type="http://schemas.openxmlformats.org/officeDocument/2006/relationships/tags" Target="../tags/tag161.xml"/><Relationship Id="rId10" Type="http://schemas.openxmlformats.org/officeDocument/2006/relationships/tags" Target="../tags/tag160.xml"/><Relationship Id="rId1" Type="http://schemas.openxmlformats.org/officeDocument/2006/relationships/tags" Target="../tags/tag15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7.png"/></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8.png"/></Relationships>
</file>

<file path=ppt/slides/_rels/slide7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30.png"/><Relationship Id="rId1" Type="http://schemas.openxmlformats.org/officeDocument/2006/relationships/image" Target="../media/image29.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1" name="PA_组合 110"/>
          <p:cNvGrpSpPr/>
          <p:nvPr>
            <p:custDataLst>
              <p:tags r:id="rId1"/>
            </p:custDataLst>
          </p:nvPr>
        </p:nvGrpSpPr>
        <p:grpSpPr>
          <a:xfrm flipH="1">
            <a:off x="6298564" y="-3082"/>
            <a:ext cx="5860641" cy="6861082"/>
            <a:chOff x="441028" y="108253"/>
            <a:chExt cx="4654180" cy="6678233"/>
          </a:xfrm>
        </p:grpSpPr>
        <p:cxnSp>
          <p:nvCxnSpPr>
            <p:cNvPr id="112" name="直接连接符 111"/>
            <p:cNvCxnSpPr/>
            <p:nvPr/>
          </p:nvCxnSpPr>
          <p:spPr>
            <a:xfrm>
              <a:off x="1397000" y="109248"/>
              <a:ext cx="3698208" cy="2003942"/>
            </a:xfrm>
            <a:prstGeom prst="line">
              <a:avLst/>
            </a:prstGeom>
            <a:ln w="12700" cap="rnd">
              <a:gradFill>
                <a:gsLst>
                  <a:gs pos="60000">
                    <a:srgbClr val="FFFFFF">
                      <a:alpha val="60000"/>
                    </a:srgbClr>
                  </a:gs>
                  <a:gs pos="0">
                    <a:schemeClr val="bg1">
                      <a:alpha val="90000"/>
                    </a:schemeClr>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13" name="直接连接符 112"/>
            <p:cNvCxnSpPr/>
            <p:nvPr/>
          </p:nvCxnSpPr>
          <p:spPr>
            <a:xfrm>
              <a:off x="441030" y="975564"/>
              <a:ext cx="4034133" cy="2193086"/>
            </a:xfrm>
            <a:prstGeom prst="line">
              <a:avLst/>
            </a:prstGeom>
            <a:ln w="12700" cap="rnd">
              <a:gradFill>
                <a:gsLst>
                  <a:gs pos="60000">
                    <a:srgbClr val="FFFFFF">
                      <a:alpha val="60000"/>
                    </a:srgbClr>
                  </a:gs>
                  <a:gs pos="0">
                    <a:schemeClr val="bg1"/>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14" name="直接连接符 113"/>
            <p:cNvCxnSpPr/>
            <p:nvPr/>
          </p:nvCxnSpPr>
          <p:spPr>
            <a:xfrm>
              <a:off x="441030" y="2325338"/>
              <a:ext cx="4259152" cy="2315413"/>
            </a:xfrm>
            <a:prstGeom prst="line">
              <a:avLst/>
            </a:prstGeom>
            <a:ln w="12700" cap="rnd">
              <a:gradFill>
                <a:gsLst>
                  <a:gs pos="60000">
                    <a:srgbClr val="FFFFFF">
                      <a:alpha val="60000"/>
                    </a:srgbClr>
                  </a:gs>
                  <a:gs pos="0">
                    <a:schemeClr val="bg1">
                      <a:alpha val="90000"/>
                    </a:schemeClr>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15" name="直接连接符 114"/>
            <p:cNvCxnSpPr/>
            <p:nvPr/>
          </p:nvCxnSpPr>
          <p:spPr>
            <a:xfrm>
              <a:off x="441030" y="3668759"/>
              <a:ext cx="4338247" cy="2358412"/>
            </a:xfrm>
            <a:prstGeom prst="line">
              <a:avLst/>
            </a:prstGeom>
            <a:ln w="12700" cap="rnd">
              <a:gradFill>
                <a:gsLst>
                  <a:gs pos="60000">
                    <a:srgbClr val="FFFFFF">
                      <a:alpha val="60000"/>
                    </a:srgbClr>
                  </a:gs>
                  <a:gs pos="0">
                    <a:schemeClr val="bg1"/>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16" name="直接连接符 115"/>
            <p:cNvCxnSpPr/>
            <p:nvPr/>
          </p:nvCxnSpPr>
          <p:spPr>
            <a:xfrm>
              <a:off x="442776" y="5064209"/>
              <a:ext cx="3204537" cy="1722277"/>
            </a:xfrm>
            <a:prstGeom prst="line">
              <a:avLst/>
            </a:prstGeom>
            <a:ln w="12700" cap="rnd">
              <a:gradFill>
                <a:gsLst>
                  <a:gs pos="60000">
                    <a:srgbClr val="FFFFFF">
                      <a:alpha val="60000"/>
                    </a:srgbClr>
                  </a:gs>
                  <a:gs pos="0">
                    <a:schemeClr val="bg1"/>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17" name="直接连接符 116"/>
            <p:cNvCxnSpPr/>
            <p:nvPr/>
          </p:nvCxnSpPr>
          <p:spPr>
            <a:xfrm>
              <a:off x="441030" y="6380062"/>
              <a:ext cx="754357" cy="405429"/>
            </a:xfrm>
            <a:prstGeom prst="line">
              <a:avLst/>
            </a:prstGeom>
            <a:ln w="12700" cap="rnd">
              <a:gradFill>
                <a:gsLst>
                  <a:gs pos="60000">
                    <a:srgbClr val="FFFFFF">
                      <a:alpha val="60000"/>
                    </a:srgbClr>
                  </a:gs>
                  <a:gs pos="0">
                    <a:schemeClr val="bg1">
                      <a:alpha val="70000"/>
                    </a:schemeClr>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18" name="直接连接符 117"/>
            <p:cNvCxnSpPr/>
            <p:nvPr/>
          </p:nvCxnSpPr>
          <p:spPr>
            <a:xfrm flipV="1">
              <a:off x="441030" y="935237"/>
              <a:ext cx="4034131" cy="2248000"/>
            </a:xfrm>
            <a:prstGeom prst="line">
              <a:avLst/>
            </a:prstGeom>
            <a:ln w="12700" cap="rnd">
              <a:gradFill>
                <a:gsLst>
                  <a:gs pos="60000">
                    <a:srgbClr val="FFFFFF">
                      <a:alpha val="60000"/>
                    </a:srgbClr>
                  </a:gs>
                  <a:gs pos="0">
                    <a:schemeClr val="bg1"/>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19" name="直接连接符 118"/>
            <p:cNvCxnSpPr/>
            <p:nvPr/>
          </p:nvCxnSpPr>
          <p:spPr>
            <a:xfrm flipV="1">
              <a:off x="441030" y="2083389"/>
              <a:ext cx="4314751" cy="2404374"/>
            </a:xfrm>
            <a:prstGeom prst="line">
              <a:avLst/>
            </a:prstGeom>
            <a:ln w="12700" cap="rnd">
              <a:gradFill>
                <a:gsLst>
                  <a:gs pos="60000">
                    <a:srgbClr val="FFFFFF">
                      <a:alpha val="60000"/>
                    </a:srgbClr>
                  </a:gs>
                  <a:gs pos="0">
                    <a:schemeClr val="bg1"/>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20" name="直接连接符 119"/>
            <p:cNvCxnSpPr/>
            <p:nvPr/>
          </p:nvCxnSpPr>
          <p:spPr>
            <a:xfrm flipV="1">
              <a:off x="441028" y="3440258"/>
              <a:ext cx="4425082" cy="2465854"/>
            </a:xfrm>
            <a:prstGeom prst="line">
              <a:avLst/>
            </a:prstGeom>
            <a:ln w="12700" cap="rnd">
              <a:gradFill>
                <a:gsLst>
                  <a:gs pos="60000">
                    <a:srgbClr val="FFFFFF">
                      <a:alpha val="50000"/>
                    </a:srgbClr>
                  </a:gs>
                  <a:gs pos="0">
                    <a:schemeClr val="bg1">
                      <a:alpha val="80000"/>
                    </a:schemeClr>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21" name="直接连接符 120"/>
            <p:cNvCxnSpPr/>
            <p:nvPr/>
          </p:nvCxnSpPr>
          <p:spPr>
            <a:xfrm flipV="1">
              <a:off x="1261223" y="4797682"/>
              <a:ext cx="3567204" cy="1987809"/>
            </a:xfrm>
            <a:prstGeom prst="line">
              <a:avLst/>
            </a:prstGeom>
            <a:ln w="12700" cap="rnd">
              <a:gradFill>
                <a:gsLst>
                  <a:gs pos="60000">
                    <a:srgbClr val="FFFFFF">
                      <a:alpha val="60000"/>
                    </a:srgbClr>
                  </a:gs>
                  <a:gs pos="0">
                    <a:schemeClr val="bg1">
                      <a:alpha val="70000"/>
                    </a:schemeClr>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22" name="直接连接符 121"/>
            <p:cNvCxnSpPr/>
            <p:nvPr/>
          </p:nvCxnSpPr>
          <p:spPr>
            <a:xfrm flipV="1">
              <a:off x="441028" y="108253"/>
              <a:ext cx="3103433" cy="1729372"/>
            </a:xfrm>
            <a:prstGeom prst="line">
              <a:avLst/>
            </a:prstGeom>
            <a:ln w="12700" cap="rnd">
              <a:gradFill>
                <a:gsLst>
                  <a:gs pos="60000">
                    <a:srgbClr val="FFFFFF">
                      <a:alpha val="60000"/>
                    </a:srgbClr>
                  </a:gs>
                  <a:gs pos="0">
                    <a:schemeClr val="bg1"/>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23" name="直接连接符 122"/>
            <p:cNvCxnSpPr/>
            <p:nvPr/>
          </p:nvCxnSpPr>
          <p:spPr>
            <a:xfrm flipV="1">
              <a:off x="441030" y="111253"/>
              <a:ext cx="682160" cy="377986"/>
            </a:xfrm>
            <a:prstGeom prst="line">
              <a:avLst/>
            </a:prstGeom>
            <a:ln w="12700" cap="rnd">
              <a:gradFill>
                <a:gsLst>
                  <a:gs pos="60000">
                    <a:srgbClr val="FFFFFF">
                      <a:alpha val="60000"/>
                    </a:srgbClr>
                  </a:gs>
                  <a:gs pos="0">
                    <a:schemeClr val="bg1">
                      <a:alpha val="70000"/>
                    </a:schemeClr>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24" name="直接连接符 123"/>
            <p:cNvCxnSpPr/>
            <p:nvPr/>
          </p:nvCxnSpPr>
          <p:spPr>
            <a:xfrm>
              <a:off x="1206647" y="109248"/>
              <a:ext cx="0" cy="6677238"/>
            </a:xfrm>
            <a:prstGeom prst="line">
              <a:avLst/>
            </a:prstGeom>
            <a:ln w="12700" cap="rnd">
              <a:gradFill>
                <a:gsLst>
                  <a:gs pos="60000">
                    <a:srgbClr val="FFFFFF">
                      <a:alpha val="60000"/>
                    </a:srgbClr>
                  </a:gs>
                  <a:gs pos="0">
                    <a:schemeClr val="bg1"/>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25" name="直接连接符 124"/>
            <p:cNvCxnSpPr/>
            <p:nvPr/>
          </p:nvCxnSpPr>
          <p:spPr>
            <a:xfrm>
              <a:off x="3676895" y="108253"/>
              <a:ext cx="0" cy="6678233"/>
            </a:xfrm>
            <a:prstGeom prst="line">
              <a:avLst/>
            </a:prstGeom>
            <a:ln w="12700" cap="rnd">
              <a:gradFill>
                <a:gsLst>
                  <a:gs pos="60000">
                    <a:srgbClr val="FFFFFF">
                      <a:alpha val="60000"/>
                    </a:srgbClr>
                  </a:gs>
                  <a:gs pos="0">
                    <a:schemeClr val="bg1">
                      <a:alpha val="70000"/>
                    </a:schemeClr>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grpSp>
      <p:sp>
        <p:nvSpPr>
          <p:cNvPr id="126" name="PA_弧形 125"/>
          <p:cNvSpPr/>
          <p:nvPr>
            <p:custDataLst>
              <p:tags r:id="rId2"/>
            </p:custDataLst>
          </p:nvPr>
        </p:nvSpPr>
        <p:spPr>
          <a:xfrm>
            <a:off x="-2182823" y="5138323"/>
            <a:ext cx="4767943" cy="4767943"/>
          </a:xfrm>
          <a:prstGeom prst="arc">
            <a:avLst>
              <a:gd name="adj1" fmla="val 15964885"/>
              <a:gd name="adj2" fmla="val 20622663"/>
            </a:avLst>
          </a:prstGeom>
          <a:ln>
            <a:solidFill>
              <a:schemeClr val="bg1">
                <a:lumMod val="75000"/>
              </a:schemeClr>
            </a:solidFill>
            <a:headEnd type="none" w="sm" len="sm"/>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Calibri Light" panose="020F0302020204030204"/>
              <a:cs typeface="+mn-ea"/>
              <a:sym typeface="+mn-lt"/>
            </a:endParaRPr>
          </a:p>
        </p:txBody>
      </p:sp>
      <p:grpSp>
        <p:nvGrpSpPr>
          <p:cNvPr id="96" name="PA_组合 95"/>
          <p:cNvGrpSpPr/>
          <p:nvPr>
            <p:custDataLst>
              <p:tags r:id="rId3"/>
            </p:custDataLst>
          </p:nvPr>
        </p:nvGrpSpPr>
        <p:grpSpPr>
          <a:xfrm>
            <a:off x="9272737" y="6173657"/>
            <a:ext cx="868978" cy="2556000"/>
            <a:chOff x="9272737" y="6173657"/>
            <a:chExt cx="868978" cy="2556000"/>
          </a:xfrm>
        </p:grpSpPr>
        <p:sp>
          <p:nvSpPr>
            <p:cNvPr id="31" name="等腰三角形 9_20"/>
            <p:cNvSpPr/>
            <p:nvPr/>
          </p:nvSpPr>
          <p:spPr>
            <a:xfrm rot="10800000">
              <a:off x="9272737" y="6568668"/>
              <a:ext cx="868978" cy="2160989"/>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Light" panose="020F0302020204030204"/>
                <a:cs typeface="+mn-ea"/>
                <a:sym typeface="+mn-lt"/>
              </a:endParaRPr>
            </a:p>
          </p:txBody>
        </p:sp>
        <p:sp>
          <p:nvSpPr>
            <p:cNvPr id="32" name="椭圆 31"/>
            <p:cNvSpPr>
              <a:spLocks noChangeAspect="1"/>
            </p:cNvSpPr>
            <p:nvPr/>
          </p:nvSpPr>
          <p:spPr>
            <a:xfrm>
              <a:off x="9312216" y="6173657"/>
              <a:ext cx="790021" cy="790021"/>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Light" panose="020F0302020204030204"/>
                <a:cs typeface="+mn-ea"/>
                <a:sym typeface="+mn-lt"/>
              </a:endParaRPr>
            </a:p>
          </p:txBody>
        </p:sp>
      </p:grpSp>
      <p:grpSp>
        <p:nvGrpSpPr>
          <p:cNvPr id="97" name="PA_组合 96"/>
          <p:cNvGrpSpPr/>
          <p:nvPr>
            <p:custDataLst>
              <p:tags r:id="rId4"/>
            </p:custDataLst>
          </p:nvPr>
        </p:nvGrpSpPr>
        <p:grpSpPr>
          <a:xfrm>
            <a:off x="8447464" y="5580235"/>
            <a:ext cx="1174957" cy="3455999"/>
            <a:chOff x="8447464" y="5580235"/>
            <a:chExt cx="1174957" cy="3455999"/>
          </a:xfrm>
        </p:grpSpPr>
        <p:sp>
          <p:nvSpPr>
            <p:cNvPr id="40" name="等腰三角形 9_22"/>
            <p:cNvSpPr/>
            <p:nvPr/>
          </p:nvSpPr>
          <p:spPr>
            <a:xfrm rot="10800000">
              <a:off x="8447464" y="6114333"/>
              <a:ext cx="1174957" cy="2921901"/>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Light" panose="020F0302020204030204"/>
                <a:cs typeface="+mn-ea"/>
                <a:sym typeface="+mn-lt"/>
              </a:endParaRPr>
            </a:p>
          </p:txBody>
        </p:sp>
        <p:sp>
          <p:nvSpPr>
            <p:cNvPr id="41" name="椭圆 40"/>
            <p:cNvSpPr>
              <a:spLocks noChangeAspect="1"/>
            </p:cNvSpPr>
            <p:nvPr/>
          </p:nvSpPr>
          <p:spPr>
            <a:xfrm>
              <a:off x="8500844" y="5580235"/>
              <a:ext cx="1068199" cy="1068198"/>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Light" panose="020F0302020204030204"/>
                <a:cs typeface="+mn-ea"/>
                <a:sym typeface="+mn-lt"/>
              </a:endParaRPr>
            </a:p>
          </p:txBody>
        </p:sp>
      </p:grpSp>
      <p:grpSp>
        <p:nvGrpSpPr>
          <p:cNvPr id="98" name="PA_组合 97"/>
          <p:cNvGrpSpPr/>
          <p:nvPr>
            <p:custDataLst>
              <p:tags r:id="rId5"/>
            </p:custDataLst>
          </p:nvPr>
        </p:nvGrpSpPr>
        <p:grpSpPr>
          <a:xfrm>
            <a:off x="5713365" y="4642065"/>
            <a:ext cx="1358547" cy="3996000"/>
            <a:chOff x="5713365" y="4642065"/>
            <a:chExt cx="1358547" cy="3996000"/>
          </a:xfrm>
        </p:grpSpPr>
        <p:sp>
          <p:nvSpPr>
            <p:cNvPr id="43" name="等腰三角形 9_24"/>
            <p:cNvSpPr/>
            <p:nvPr/>
          </p:nvSpPr>
          <p:spPr>
            <a:xfrm rot="10800000">
              <a:off x="5713365" y="5259617"/>
              <a:ext cx="1358547" cy="3378448"/>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Light" panose="020F0302020204030204"/>
                <a:cs typeface="+mn-ea"/>
                <a:sym typeface="+mn-lt"/>
              </a:endParaRPr>
            </a:p>
          </p:txBody>
        </p:sp>
        <p:sp>
          <p:nvSpPr>
            <p:cNvPr id="44" name="椭圆 43"/>
            <p:cNvSpPr>
              <a:spLocks noChangeAspect="1"/>
            </p:cNvSpPr>
            <p:nvPr/>
          </p:nvSpPr>
          <p:spPr>
            <a:xfrm>
              <a:off x="5775086" y="4642065"/>
              <a:ext cx="1235107" cy="1235104"/>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Light" panose="020F0302020204030204"/>
                <a:cs typeface="+mn-ea"/>
                <a:sym typeface="+mn-lt"/>
              </a:endParaRPr>
            </a:p>
          </p:txBody>
        </p:sp>
      </p:grpSp>
      <p:grpSp>
        <p:nvGrpSpPr>
          <p:cNvPr id="133" name="PA_组合 132"/>
          <p:cNvGrpSpPr/>
          <p:nvPr>
            <p:custDataLst>
              <p:tags r:id="rId6"/>
            </p:custDataLst>
          </p:nvPr>
        </p:nvGrpSpPr>
        <p:grpSpPr>
          <a:xfrm>
            <a:off x="7245345" y="5466330"/>
            <a:ext cx="1358542" cy="3996000"/>
            <a:chOff x="7245345" y="5466330"/>
            <a:chExt cx="1358542" cy="3996000"/>
          </a:xfrm>
        </p:grpSpPr>
        <p:sp>
          <p:nvSpPr>
            <p:cNvPr id="34" name="等腰三角形 9_46"/>
            <p:cNvSpPr/>
            <p:nvPr/>
          </p:nvSpPr>
          <p:spPr>
            <a:xfrm rot="10800000">
              <a:off x="7245345" y="6083882"/>
              <a:ext cx="1358542" cy="3378448"/>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Light" panose="020F0302020204030204"/>
                <a:cs typeface="+mn-ea"/>
                <a:sym typeface="+mn-lt"/>
              </a:endParaRPr>
            </a:p>
          </p:txBody>
        </p:sp>
        <p:sp>
          <p:nvSpPr>
            <p:cNvPr id="35" name="椭圆 34"/>
            <p:cNvSpPr>
              <a:spLocks noChangeAspect="1"/>
            </p:cNvSpPr>
            <p:nvPr/>
          </p:nvSpPr>
          <p:spPr>
            <a:xfrm>
              <a:off x="7307066" y="5466330"/>
              <a:ext cx="1235103" cy="1235104"/>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Light" panose="020F0302020204030204"/>
                <a:cs typeface="+mn-ea"/>
                <a:sym typeface="+mn-lt"/>
              </a:endParaRPr>
            </a:p>
          </p:txBody>
        </p:sp>
      </p:grpSp>
      <p:grpSp>
        <p:nvGrpSpPr>
          <p:cNvPr id="139" name="PA_组合 138"/>
          <p:cNvGrpSpPr/>
          <p:nvPr>
            <p:custDataLst>
              <p:tags r:id="rId7"/>
            </p:custDataLst>
          </p:nvPr>
        </p:nvGrpSpPr>
        <p:grpSpPr>
          <a:xfrm>
            <a:off x="10200063" y="5538058"/>
            <a:ext cx="1077041" cy="3168000"/>
            <a:chOff x="10231003" y="6243686"/>
            <a:chExt cx="1077041" cy="3168000"/>
          </a:xfrm>
        </p:grpSpPr>
        <p:sp>
          <p:nvSpPr>
            <p:cNvPr id="25" name="等腰三角形 9"/>
            <p:cNvSpPr/>
            <p:nvPr/>
          </p:nvSpPr>
          <p:spPr>
            <a:xfrm rot="10800000">
              <a:off x="10231003" y="6733277"/>
              <a:ext cx="1077041" cy="2678409"/>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Light" panose="020F0302020204030204"/>
                <a:cs typeface="+mn-ea"/>
                <a:sym typeface="+mn-lt"/>
              </a:endParaRPr>
            </a:p>
          </p:txBody>
        </p:sp>
        <p:sp>
          <p:nvSpPr>
            <p:cNvPr id="26" name="椭圆 25"/>
            <p:cNvSpPr>
              <a:spLocks noChangeAspect="1"/>
            </p:cNvSpPr>
            <p:nvPr/>
          </p:nvSpPr>
          <p:spPr>
            <a:xfrm>
              <a:off x="10279935" y="6243686"/>
              <a:ext cx="979179" cy="979182"/>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Light" panose="020F0302020204030204"/>
                <a:cs typeface="+mn-ea"/>
                <a:sym typeface="+mn-lt"/>
              </a:endParaRPr>
            </a:p>
          </p:txBody>
        </p:sp>
      </p:grpSp>
      <p:sp>
        <p:nvSpPr>
          <p:cNvPr id="103" name="PA_文本框 18"/>
          <p:cNvSpPr txBox="1"/>
          <p:nvPr>
            <p:custDataLst>
              <p:tags r:id="rId8"/>
            </p:custDataLst>
          </p:nvPr>
        </p:nvSpPr>
        <p:spPr>
          <a:xfrm>
            <a:off x="4390988" y="3156095"/>
            <a:ext cx="2954655" cy="923330"/>
          </a:xfrm>
          <a:prstGeom prst="rect">
            <a:avLst/>
          </a:prstGeom>
          <a:noFill/>
          <a:effectLst/>
        </p:spPr>
        <p:txBody>
          <a:bodyPr wrap="none" rtlCol="0" anchor="b" anchorCtr="0">
            <a:spAutoFit/>
          </a:bodyPr>
          <a:lstStyle>
            <a:defPPr>
              <a:defRPr lang="zh-CN"/>
            </a:defPPr>
            <a:lvl1pPr>
              <a:defRPr sz="5400" b="1">
                <a:solidFill>
                  <a:srgbClr val="6BB2E1">
                    <a:lumMod val="75000"/>
                  </a:srgbClr>
                </a:solidFill>
                <a:effectLst>
                  <a:innerShdw blurRad="127000" dist="63500" dir="16200000">
                    <a:prstClr val="black">
                      <a:alpha val="50000"/>
                    </a:prstClr>
                  </a:innerShdw>
                </a:effectLst>
                <a:latin typeface="微软雅黑" panose="020B0503020204020204" pitchFamily="34" charset="-122"/>
                <a:ea typeface="微软雅黑" panose="020B0503020204020204" pitchFamily="34"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5400" b="1" i="0" u="none" strike="noStrike" kern="1200" cap="none" spc="0" normalizeH="0" baseline="0" noProof="0" dirty="0">
                <a:ln>
                  <a:noFill/>
                </a:ln>
                <a:solidFill>
                  <a:srgbClr val="009999"/>
                </a:solidFill>
                <a:effectLst>
                  <a:innerShdw blurRad="127000" dist="63500" dir="16200000">
                    <a:prstClr val="black">
                      <a:alpha val="50000"/>
                    </a:prstClr>
                  </a:innerShdw>
                </a:effectLst>
                <a:uLnTx/>
                <a:uFillTx/>
                <a:latin typeface="Noto Sans S Chinese Medium" panose="020B0600000000000000" pitchFamily="34" charset="-122"/>
                <a:ea typeface="Noto Sans S Chinese Medium" panose="020B0600000000000000" pitchFamily="34" charset="-122"/>
                <a:cs typeface="+mn-cs"/>
                <a:sym typeface="+mn-lt"/>
              </a:rPr>
              <a:t>集成学习</a:t>
            </a:r>
            <a:endParaRPr kumimoji="0" lang="zh-CN" altLang="en-US" sz="5400" b="1" i="0" u="none" strike="noStrike" kern="1200" cap="none" spc="0" normalizeH="0" baseline="0" noProof="0" dirty="0">
              <a:ln>
                <a:noFill/>
              </a:ln>
              <a:solidFill>
                <a:srgbClr val="009999"/>
              </a:solidFill>
              <a:effectLst>
                <a:innerShdw blurRad="127000" dist="63500" dir="16200000">
                  <a:prstClr val="black">
                    <a:alpha val="50000"/>
                  </a:prstClr>
                </a:innerShdw>
              </a:effectLst>
              <a:uLnTx/>
              <a:uFillTx/>
              <a:latin typeface="Noto Sans S Chinese Medium" panose="020B0600000000000000" pitchFamily="34" charset="-122"/>
              <a:ea typeface="Noto Sans S Chinese Medium" panose="020B0600000000000000" pitchFamily="34" charset="-122"/>
              <a:cs typeface="+mn-cs"/>
              <a:sym typeface="+mn-lt"/>
            </a:endParaRPr>
          </a:p>
        </p:txBody>
      </p:sp>
      <p:sp>
        <p:nvSpPr>
          <p:cNvPr id="141" name="PA_文本框 140"/>
          <p:cNvSpPr txBox="1"/>
          <p:nvPr>
            <p:custDataLst>
              <p:tags r:id="rId9"/>
            </p:custDataLst>
          </p:nvPr>
        </p:nvSpPr>
        <p:spPr>
          <a:xfrm>
            <a:off x="986327" y="944000"/>
            <a:ext cx="2618024" cy="120032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7200" b="0" i="0" u="none" strike="noStrike" kern="1200" cap="none" spc="0" normalizeH="0" baseline="0" noProof="0" dirty="0">
                <a:ln>
                  <a:noFill/>
                </a:ln>
                <a:solidFill>
                  <a:srgbClr val="009999"/>
                </a:solidFill>
                <a:effectLst/>
                <a:uLnTx/>
                <a:uFillTx/>
                <a:latin typeface="Noto Sans S Chinese Medium" panose="020B0600000000000000" pitchFamily="34" charset="-122"/>
                <a:ea typeface="Noto Sans S Chinese Medium" panose="020B0600000000000000" pitchFamily="34" charset="-122"/>
                <a:cs typeface="+mn-ea"/>
                <a:sym typeface="+mn-lt"/>
              </a:rPr>
              <a:t>第</a:t>
            </a:r>
            <a:r>
              <a:rPr kumimoji="0" lang="en-US" altLang="zh-CN" sz="7200" b="0" i="0" u="none" strike="noStrike" kern="1200" cap="none" spc="0" normalizeH="0" baseline="0" noProof="0" dirty="0">
                <a:ln>
                  <a:noFill/>
                </a:ln>
                <a:solidFill>
                  <a:srgbClr val="009999"/>
                </a:solidFill>
                <a:effectLst/>
                <a:uLnTx/>
                <a:uFillTx/>
                <a:latin typeface="Noto Sans S Chinese Medium" panose="020B0600000000000000" pitchFamily="34" charset="-122"/>
                <a:ea typeface="Noto Sans S Chinese Medium" panose="020B0600000000000000" pitchFamily="34" charset="-122"/>
                <a:cs typeface="+mn-ea"/>
                <a:sym typeface="+mn-lt"/>
              </a:rPr>
              <a:t>7</a:t>
            </a:r>
            <a:r>
              <a:rPr kumimoji="0" lang="zh-CN" altLang="en-US" sz="7200" b="0" i="0" u="none" strike="noStrike" kern="1200" cap="none" spc="0" normalizeH="0" baseline="0" noProof="0" dirty="0">
                <a:ln>
                  <a:noFill/>
                </a:ln>
                <a:solidFill>
                  <a:srgbClr val="009999"/>
                </a:solidFill>
                <a:effectLst/>
                <a:uLnTx/>
                <a:uFillTx/>
                <a:latin typeface="Noto Sans S Chinese Medium" panose="020B0600000000000000" pitchFamily="34" charset="-122"/>
                <a:ea typeface="Noto Sans S Chinese Medium" panose="020B0600000000000000" pitchFamily="34" charset="-122"/>
                <a:cs typeface="+mn-ea"/>
                <a:sym typeface="+mn-lt"/>
              </a:rPr>
              <a:t>章</a:t>
            </a:r>
            <a:endParaRPr kumimoji="0" lang="zh-CN" altLang="en-US" sz="7200" b="0" i="0" u="none" strike="noStrike" kern="1200" cap="none" spc="0" normalizeH="0" baseline="0" noProof="0" dirty="0">
              <a:ln>
                <a:noFill/>
              </a:ln>
              <a:solidFill>
                <a:srgbClr val="009999"/>
              </a:solidFill>
              <a:effectLst/>
              <a:uLnTx/>
              <a:uFillTx/>
              <a:latin typeface="Noto Sans S Chinese Medium" panose="020B0600000000000000" pitchFamily="34" charset="-122"/>
              <a:ea typeface="Noto Sans S Chinese Medium" panose="020B0600000000000000" pitchFamily="34" charset="-122"/>
              <a:cs typeface="+mn-ea"/>
              <a:sym typeface="+mn-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80" name="八边形 1379"/>
          <p:cNvSpPr/>
          <p:nvPr/>
        </p:nvSpPr>
        <p:spPr>
          <a:xfrm>
            <a:off x="5687367" y="771205"/>
            <a:ext cx="793447" cy="705477"/>
          </a:xfrm>
          <a:prstGeom prst="octagon">
            <a:avLst/>
          </a:prstGeom>
          <a:solidFill>
            <a:schemeClr val="accent5"/>
          </a:solidFill>
          <a:ln>
            <a:solidFill>
              <a:schemeClr val="accent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sz="2000" dirty="0">
                <a:solidFill>
                  <a:schemeClr val="tx1"/>
                </a:solidFill>
                <a:latin typeface="Impact" panose="020B0806030902050204" pitchFamily="34" charset="0"/>
                <a:ea typeface="黑体" panose="02010609060101010101" pitchFamily="49" charset="-122"/>
              </a:rPr>
              <a:t>1</a:t>
            </a:r>
            <a:endParaRPr lang="zh-CN" altLang="en-US" sz="2400" dirty="0">
              <a:solidFill>
                <a:schemeClr val="tx1"/>
              </a:solidFill>
              <a:latin typeface="Impact" panose="020B0806030902050204" pitchFamily="34" charset="0"/>
              <a:ea typeface="黑体" panose="02010609060101010101" pitchFamily="49" charset="-122"/>
            </a:endParaRPr>
          </a:p>
        </p:txBody>
      </p:sp>
      <p:sp>
        <p:nvSpPr>
          <p:cNvPr id="1379" name="八边形 1378"/>
          <p:cNvSpPr/>
          <p:nvPr/>
        </p:nvSpPr>
        <p:spPr>
          <a:xfrm>
            <a:off x="1086522" y="1839558"/>
            <a:ext cx="2974009" cy="2556908"/>
          </a:xfrm>
          <a:prstGeom prst="octagon">
            <a:avLst/>
          </a:prstGeom>
          <a:solidFill>
            <a:schemeClr val="accent5">
              <a:lumMod val="75000"/>
            </a:schemeClr>
          </a:solidFill>
          <a:ln>
            <a:solidFill>
              <a:schemeClr val="accent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zh-CN" altLang="en-US" sz="3600" dirty="0">
                <a:solidFill>
                  <a:schemeClr val="tx1"/>
                </a:solidFill>
                <a:latin typeface="Yuanti SC" panose="02010600040101010101" pitchFamily="2" charset="-122"/>
                <a:ea typeface="Yuanti SC" panose="02010600040101010101" pitchFamily="2" charset="-122"/>
              </a:rPr>
              <a:t>目录</a:t>
            </a:r>
            <a:endParaRPr lang="zh-CN" altLang="en-US" sz="3600" dirty="0">
              <a:solidFill>
                <a:schemeClr val="tx1"/>
              </a:solidFill>
              <a:latin typeface="Yuanti SC" panose="02010600040101010101" pitchFamily="2" charset="-122"/>
              <a:ea typeface="Yuanti SC" panose="02010600040101010101" pitchFamily="2" charset="-122"/>
            </a:endParaRPr>
          </a:p>
        </p:txBody>
      </p:sp>
      <p:sp>
        <p:nvSpPr>
          <p:cNvPr id="1381" name="八边形 1380"/>
          <p:cNvSpPr/>
          <p:nvPr/>
        </p:nvSpPr>
        <p:spPr>
          <a:xfrm>
            <a:off x="5687367" y="1890322"/>
            <a:ext cx="795743" cy="705477"/>
          </a:xfrm>
          <a:prstGeom prst="octagon">
            <a:avLst/>
          </a:prstGeom>
          <a:solidFill>
            <a:schemeClr val="accent5"/>
          </a:solidFill>
          <a:ln>
            <a:solidFill>
              <a:schemeClr val="accent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sz="2000" dirty="0">
                <a:solidFill>
                  <a:schemeClr val="tx1"/>
                </a:solidFill>
                <a:latin typeface="Impact" panose="020B0806030902050204" pitchFamily="34" charset="0"/>
                <a:ea typeface="黑体" panose="02010609060101010101" pitchFamily="49" charset="-122"/>
              </a:rPr>
              <a:t>2</a:t>
            </a:r>
            <a:endParaRPr lang="zh-CN" altLang="en-US" sz="2000" dirty="0">
              <a:solidFill>
                <a:schemeClr val="tx1"/>
              </a:solidFill>
              <a:latin typeface="Impact" panose="020B0806030902050204" pitchFamily="34" charset="0"/>
              <a:ea typeface="黑体" panose="02010609060101010101" pitchFamily="49" charset="-122"/>
            </a:endParaRPr>
          </a:p>
        </p:txBody>
      </p:sp>
      <p:sp>
        <p:nvSpPr>
          <p:cNvPr id="1382" name="八边形 1381"/>
          <p:cNvSpPr/>
          <p:nvPr/>
        </p:nvSpPr>
        <p:spPr>
          <a:xfrm>
            <a:off x="5685071" y="3040842"/>
            <a:ext cx="795743" cy="705477"/>
          </a:xfrm>
          <a:prstGeom prst="octagon">
            <a:avLst/>
          </a:prstGeom>
          <a:solidFill>
            <a:schemeClr val="accent5"/>
          </a:solidFill>
          <a:ln>
            <a:solidFill>
              <a:schemeClr val="accent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sz="2400" dirty="0">
              <a:solidFill>
                <a:schemeClr val="tx1"/>
              </a:solidFill>
              <a:latin typeface="Impact" panose="020B0806030902050204" pitchFamily="34" charset="0"/>
              <a:ea typeface="黑体" panose="02010609060101010101" pitchFamily="49" charset="-122"/>
            </a:endParaRPr>
          </a:p>
        </p:txBody>
      </p:sp>
      <p:sp>
        <p:nvSpPr>
          <p:cNvPr id="1383" name="八边形 1382"/>
          <p:cNvSpPr/>
          <p:nvPr/>
        </p:nvSpPr>
        <p:spPr>
          <a:xfrm>
            <a:off x="5685070" y="4164621"/>
            <a:ext cx="795743" cy="705477"/>
          </a:xfrm>
          <a:prstGeom prst="octagon">
            <a:avLst/>
          </a:prstGeom>
          <a:solidFill>
            <a:schemeClr val="accent5"/>
          </a:solidFill>
          <a:ln>
            <a:solidFill>
              <a:schemeClr val="accent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sz="2000" dirty="0">
                <a:solidFill>
                  <a:schemeClr val="tx1"/>
                </a:solidFill>
                <a:latin typeface="Impact" panose="020B0806030902050204" pitchFamily="34" charset="0"/>
                <a:ea typeface="黑体" panose="02010609060101010101" pitchFamily="49" charset="-122"/>
              </a:rPr>
              <a:t>4</a:t>
            </a:r>
            <a:endParaRPr lang="zh-CN" altLang="en-US" sz="2000" dirty="0">
              <a:solidFill>
                <a:schemeClr val="tx1"/>
              </a:solidFill>
              <a:latin typeface="Impact" panose="020B0806030902050204" pitchFamily="34" charset="0"/>
              <a:ea typeface="黑体" panose="02010609060101010101" pitchFamily="49" charset="-122"/>
            </a:endParaRPr>
          </a:p>
        </p:txBody>
      </p:sp>
      <p:sp>
        <p:nvSpPr>
          <p:cNvPr id="1386" name="矩形 1385"/>
          <p:cNvSpPr/>
          <p:nvPr/>
        </p:nvSpPr>
        <p:spPr>
          <a:xfrm>
            <a:off x="5917374" y="3203833"/>
            <a:ext cx="320921" cy="400110"/>
          </a:xfrm>
          <a:prstGeom prst="rect">
            <a:avLst/>
          </a:prstGeom>
          <a:solidFill>
            <a:schemeClr val="accent5"/>
          </a:solidFill>
        </p:spPr>
        <p:txBody>
          <a:bodyPr wrap="none">
            <a:spAutoFit/>
          </a:bodyPr>
          <a:lstStyle/>
          <a:p>
            <a:pPr lvl="0" algn="ctr"/>
            <a:r>
              <a:rPr lang="en-US" altLang="zh-CN" sz="2000" dirty="0">
                <a:latin typeface="Impact" panose="020B0806030902050204" pitchFamily="34" charset="0"/>
                <a:ea typeface="黑体" panose="02010609060101010101" pitchFamily="49" charset="-122"/>
              </a:rPr>
              <a:t>3</a:t>
            </a:r>
            <a:endParaRPr lang="zh-CN" altLang="en-US" sz="2000" dirty="0">
              <a:latin typeface="Impact" panose="020B0806030902050204" pitchFamily="34" charset="0"/>
              <a:ea typeface="黑体" panose="02010609060101010101" pitchFamily="49" charset="-122"/>
            </a:endParaRPr>
          </a:p>
        </p:txBody>
      </p:sp>
      <p:sp>
        <p:nvSpPr>
          <p:cNvPr id="1387" name="文本框 1386"/>
          <p:cNvSpPr txBox="1"/>
          <p:nvPr/>
        </p:nvSpPr>
        <p:spPr>
          <a:xfrm>
            <a:off x="6665009" y="846140"/>
            <a:ext cx="2339102" cy="523220"/>
          </a:xfrm>
          <a:prstGeom prst="rect">
            <a:avLst/>
          </a:prstGeom>
          <a:noFill/>
        </p:spPr>
        <p:txBody>
          <a:bodyPr wrap="none" rtlCol="0">
            <a:spAutoFit/>
          </a:bodyPr>
          <a:lstStyle/>
          <a:p>
            <a:r>
              <a:rPr lang="zh-CN" altLang="en-US" sz="2800" b="1" dirty="0">
                <a:solidFill>
                  <a:schemeClr val="tx1">
                    <a:lumMod val="75000"/>
                    <a:lumOff val="25000"/>
                  </a:schemeClr>
                </a:solidFill>
                <a:latin typeface="楷体" panose="02010609060101010101" pitchFamily="49" charset="-122"/>
                <a:ea typeface="楷体" panose="02010609060101010101" pitchFamily="49" charset="-122"/>
              </a:rPr>
              <a:t>集成学习理论</a:t>
            </a:r>
            <a:endParaRPr lang="zh-CN" altLang="en-US" sz="2800" b="1" dirty="0">
              <a:solidFill>
                <a:schemeClr val="tx1">
                  <a:lumMod val="75000"/>
                  <a:lumOff val="25000"/>
                </a:schemeClr>
              </a:solidFill>
              <a:latin typeface="楷体" panose="02010609060101010101" pitchFamily="49" charset="-122"/>
              <a:ea typeface="楷体" panose="02010609060101010101" pitchFamily="49" charset="-122"/>
            </a:endParaRPr>
          </a:p>
        </p:txBody>
      </p:sp>
      <p:sp>
        <p:nvSpPr>
          <p:cNvPr id="1391" name="文本框 1390"/>
          <p:cNvSpPr txBox="1"/>
          <p:nvPr/>
        </p:nvSpPr>
        <p:spPr>
          <a:xfrm>
            <a:off x="6656416" y="1982454"/>
            <a:ext cx="3437159" cy="523220"/>
          </a:xfrm>
          <a:prstGeom prst="rect">
            <a:avLst/>
          </a:prstGeom>
          <a:noFill/>
        </p:spPr>
        <p:txBody>
          <a:bodyPr wrap="none" rtlCol="0">
            <a:spAutoFit/>
          </a:bodyPr>
          <a:lstStyle/>
          <a:p>
            <a:r>
              <a:rPr lang="en-US" altLang="zh-CN" sz="2800" b="1" dirty="0">
                <a:solidFill>
                  <a:schemeClr val="tx1">
                    <a:lumMod val="75000"/>
                    <a:lumOff val="25000"/>
                  </a:schemeClr>
                </a:solidFill>
                <a:latin typeface="Times New Roman" panose="02020603050405020304" pitchFamily="18" charset="0"/>
                <a:ea typeface="楷体" panose="02010609060101010101" pitchFamily="49" charset="-122"/>
                <a:cs typeface="Times New Roman" panose="02020603050405020304" pitchFamily="18" charset="0"/>
              </a:rPr>
              <a:t>Bagging </a:t>
            </a:r>
            <a:r>
              <a:rPr lang="zh-CN" altLang="en-US" sz="2800" b="1" dirty="0">
                <a:solidFill>
                  <a:schemeClr val="tx1">
                    <a:lumMod val="75000"/>
                    <a:lumOff val="25000"/>
                  </a:schemeClr>
                </a:solidFill>
                <a:latin typeface="楷体" panose="02010609060101010101" pitchFamily="49" charset="-122"/>
                <a:ea typeface="楷体" panose="02010609060101010101" pitchFamily="49" charset="-122"/>
              </a:rPr>
              <a:t>及随机森林</a:t>
            </a:r>
            <a:endParaRPr lang="zh-CN" altLang="en-US" sz="2800" b="1" dirty="0">
              <a:solidFill>
                <a:schemeClr val="tx1">
                  <a:lumMod val="75000"/>
                  <a:lumOff val="25000"/>
                </a:schemeClr>
              </a:solidFill>
              <a:latin typeface="楷体" panose="02010609060101010101" pitchFamily="49" charset="-122"/>
              <a:ea typeface="楷体" panose="02010609060101010101" pitchFamily="49" charset="-122"/>
            </a:endParaRPr>
          </a:p>
        </p:txBody>
      </p:sp>
      <p:sp>
        <p:nvSpPr>
          <p:cNvPr id="1397" name="文本框 1396"/>
          <p:cNvSpPr txBox="1"/>
          <p:nvPr/>
        </p:nvSpPr>
        <p:spPr>
          <a:xfrm>
            <a:off x="6723559" y="3126196"/>
            <a:ext cx="2579370" cy="521970"/>
          </a:xfrm>
          <a:prstGeom prst="rect">
            <a:avLst/>
          </a:prstGeom>
          <a:noFill/>
        </p:spPr>
        <p:txBody>
          <a:bodyPr wrap="none" rtlCol="0">
            <a:spAutoFit/>
          </a:bodyPr>
          <a:lstStyle/>
          <a:p>
            <a:pPr algn="l"/>
            <a:r>
              <a:rPr lang="en-US" altLang="zh-CN" sz="2800" b="1" dirty="0">
                <a:solidFill>
                  <a:schemeClr val="tx1">
                    <a:lumMod val="75000"/>
                    <a:lumOff val="25000"/>
                  </a:schemeClr>
                </a:solidFill>
                <a:latin typeface="Times New Roman" panose="02020603050405020304" pitchFamily="18" charset="0"/>
                <a:ea typeface="楷体" panose="02010609060101010101" pitchFamily="49" charset="-122"/>
                <a:cs typeface="Times New Roman" panose="02020603050405020304" pitchFamily="18" charset="0"/>
                <a:sym typeface="+mn-ea"/>
              </a:rPr>
              <a:t>Boosting</a:t>
            </a:r>
            <a:r>
              <a:rPr lang="zh-CN" altLang="en-US" sz="2800" b="1" dirty="0">
                <a:solidFill>
                  <a:schemeClr val="tx1">
                    <a:lumMod val="75000"/>
                    <a:lumOff val="25000"/>
                  </a:schemeClr>
                </a:solidFill>
                <a:latin typeface="楷体" panose="02010609060101010101" pitchFamily="49" charset="-122"/>
                <a:ea typeface="楷体" panose="02010609060101010101" pitchFamily="49" charset="-122"/>
              </a:rPr>
              <a:t>提升法</a:t>
            </a:r>
            <a:endParaRPr lang="zh-CN" altLang="en-US" sz="2800" b="1" dirty="0">
              <a:solidFill>
                <a:schemeClr val="tx1">
                  <a:lumMod val="75000"/>
                  <a:lumOff val="25000"/>
                </a:schemeClr>
              </a:solidFill>
              <a:latin typeface="楷体" panose="02010609060101010101" pitchFamily="49" charset="-122"/>
              <a:ea typeface="楷体" panose="02010609060101010101" pitchFamily="49" charset="-122"/>
            </a:endParaRPr>
          </a:p>
        </p:txBody>
      </p:sp>
      <p:sp>
        <p:nvSpPr>
          <p:cNvPr id="1385" name="文本框 1384"/>
          <p:cNvSpPr txBox="1"/>
          <p:nvPr/>
        </p:nvSpPr>
        <p:spPr>
          <a:xfrm>
            <a:off x="6738919" y="4279355"/>
            <a:ext cx="2179170" cy="523220"/>
          </a:xfrm>
          <a:prstGeom prst="rect">
            <a:avLst/>
          </a:prstGeom>
          <a:noFill/>
        </p:spPr>
        <p:txBody>
          <a:bodyPr wrap="square" rtlCol="0">
            <a:spAutoFit/>
          </a:bodyPr>
          <a:lstStyle/>
          <a:p>
            <a:r>
              <a:rPr lang="zh-CN" altLang="en-US" sz="2800" b="1" dirty="0">
                <a:solidFill>
                  <a:schemeClr val="tx1">
                    <a:lumMod val="75000"/>
                    <a:lumOff val="25000"/>
                  </a:schemeClr>
                </a:solidFill>
                <a:latin typeface="楷体" panose="02010609060101010101" pitchFamily="49" charset="-122"/>
                <a:ea typeface="楷体" panose="02010609060101010101" pitchFamily="49" charset="-122"/>
              </a:rPr>
              <a:t>偏差与方差</a:t>
            </a:r>
            <a:endParaRPr lang="zh-CN" altLang="en-US" sz="2800" b="1" dirty="0">
              <a:solidFill>
                <a:schemeClr val="tx1">
                  <a:lumMod val="75000"/>
                  <a:lumOff val="25000"/>
                </a:schemeClr>
              </a:solidFill>
              <a:latin typeface="楷体" panose="02010609060101010101" pitchFamily="49" charset="-122"/>
              <a:ea typeface="楷体" panose="02010609060101010101" pitchFamily="49" charset="-122"/>
            </a:endParaRPr>
          </a:p>
        </p:txBody>
      </p:sp>
      <p:sp>
        <p:nvSpPr>
          <p:cNvPr id="12" name="八边形 11"/>
          <p:cNvSpPr/>
          <p:nvPr/>
        </p:nvSpPr>
        <p:spPr>
          <a:xfrm>
            <a:off x="5669710" y="5262890"/>
            <a:ext cx="795743" cy="705477"/>
          </a:xfrm>
          <a:prstGeom prst="octagon">
            <a:avLst/>
          </a:prstGeom>
          <a:solidFill>
            <a:schemeClr val="accent5"/>
          </a:solidFill>
          <a:ln>
            <a:solidFill>
              <a:schemeClr val="accent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sz="2000" dirty="0">
                <a:solidFill>
                  <a:schemeClr val="tx1"/>
                </a:solidFill>
                <a:latin typeface="Impact" panose="020B0806030902050204" pitchFamily="34" charset="0"/>
                <a:ea typeface="黑体" panose="02010609060101010101" pitchFamily="49" charset="-122"/>
              </a:rPr>
              <a:t>5</a:t>
            </a:r>
            <a:endParaRPr lang="zh-CN" altLang="en-US" sz="2000" dirty="0">
              <a:solidFill>
                <a:schemeClr val="tx1"/>
              </a:solidFill>
              <a:latin typeface="Impact" panose="020B0806030902050204" pitchFamily="34" charset="0"/>
              <a:ea typeface="黑体" panose="02010609060101010101" pitchFamily="49" charset="-122"/>
            </a:endParaRPr>
          </a:p>
        </p:txBody>
      </p:sp>
      <p:sp>
        <p:nvSpPr>
          <p:cNvPr id="13" name="文本框 12"/>
          <p:cNvSpPr txBox="1"/>
          <p:nvPr/>
        </p:nvSpPr>
        <p:spPr>
          <a:xfrm>
            <a:off x="6723559" y="5377624"/>
            <a:ext cx="2179170" cy="523220"/>
          </a:xfrm>
          <a:prstGeom prst="rect">
            <a:avLst/>
          </a:prstGeom>
          <a:noFill/>
        </p:spPr>
        <p:txBody>
          <a:bodyPr wrap="square" rtlCol="0">
            <a:spAutoFit/>
          </a:bodyPr>
          <a:lstStyle/>
          <a:p>
            <a:r>
              <a:rPr lang="en-US" altLang="zh-CN" sz="2800" b="1" dirty="0">
                <a:solidFill>
                  <a:schemeClr val="tx1">
                    <a:lumMod val="75000"/>
                    <a:lumOff val="25000"/>
                  </a:schemeClr>
                </a:solidFill>
                <a:latin typeface="楷体" panose="02010609060101010101" pitchFamily="49" charset="-122"/>
                <a:ea typeface="楷体" panose="02010609060101010101" pitchFamily="49" charset="-122"/>
              </a:rPr>
              <a:t>Stacking</a:t>
            </a:r>
            <a:endParaRPr lang="zh-CN" altLang="en-US" sz="2800" b="1" dirty="0">
              <a:solidFill>
                <a:schemeClr val="tx1">
                  <a:lumMod val="75000"/>
                  <a:lumOff val="25000"/>
                </a:schemeClr>
              </a:solidFill>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1380"/>
                                        </p:tgtEl>
                                        <p:attrNameLst>
                                          <p:attrName>style.visibility</p:attrName>
                                        </p:attrNameLst>
                                      </p:cBhvr>
                                      <p:to>
                                        <p:strVal val="visible"/>
                                      </p:to>
                                    </p:set>
                                    <p:anim calcmode="lin" valueType="num">
                                      <p:cBhvr>
                                        <p:cTn id="7" dur="500" fill="hold"/>
                                        <p:tgtEl>
                                          <p:spTgt spid="1380"/>
                                        </p:tgtEl>
                                        <p:attrNameLst>
                                          <p:attrName>ppt_w</p:attrName>
                                        </p:attrNameLst>
                                      </p:cBhvr>
                                      <p:tavLst>
                                        <p:tav tm="0">
                                          <p:val>
                                            <p:fltVal val="0"/>
                                          </p:val>
                                        </p:tav>
                                        <p:tav tm="100000">
                                          <p:val>
                                            <p:strVal val="#ppt_w"/>
                                          </p:val>
                                        </p:tav>
                                      </p:tavLst>
                                    </p:anim>
                                    <p:anim calcmode="lin" valueType="num">
                                      <p:cBhvr>
                                        <p:cTn id="8" dur="500" fill="hold"/>
                                        <p:tgtEl>
                                          <p:spTgt spid="1380"/>
                                        </p:tgtEl>
                                        <p:attrNameLst>
                                          <p:attrName>ppt_h</p:attrName>
                                        </p:attrNameLst>
                                      </p:cBhvr>
                                      <p:tavLst>
                                        <p:tav tm="0">
                                          <p:val>
                                            <p:fltVal val="0"/>
                                          </p:val>
                                        </p:tav>
                                        <p:tav tm="100000">
                                          <p:val>
                                            <p:strVal val="#ppt_h"/>
                                          </p:val>
                                        </p:tav>
                                      </p:tavLst>
                                    </p:anim>
                                    <p:animEffect transition="in" filter="fade">
                                      <p:cBhvr>
                                        <p:cTn id="9" dur="500"/>
                                        <p:tgtEl>
                                          <p:spTgt spid="1380"/>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1386"/>
                                        </p:tgtEl>
                                        <p:attrNameLst>
                                          <p:attrName>style.visibility</p:attrName>
                                        </p:attrNameLst>
                                      </p:cBhvr>
                                      <p:to>
                                        <p:strVal val="visible"/>
                                      </p:to>
                                    </p:set>
                                    <p:anim calcmode="lin" valueType="num">
                                      <p:cBhvr>
                                        <p:cTn id="12" dur="500" fill="hold"/>
                                        <p:tgtEl>
                                          <p:spTgt spid="1386"/>
                                        </p:tgtEl>
                                        <p:attrNameLst>
                                          <p:attrName>ppt_w</p:attrName>
                                        </p:attrNameLst>
                                      </p:cBhvr>
                                      <p:tavLst>
                                        <p:tav tm="0">
                                          <p:val>
                                            <p:fltVal val="0"/>
                                          </p:val>
                                        </p:tav>
                                        <p:tav tm="100000">
                                          <p:val>
                                            <p:strVal val="#ppt_w"/>
                                          </p:val>
                                        </p:tav>
                                      </p:tavLst>
                                    </p:anim>
                                    <p:anim calcmode="lin" valueType="num">
                                      <p:cBhvr>
                                        <p:cTn id="13" dur="500" fill="hold"/>
                                        <p:tgtEl>
                                          <p:spTgt spid="1386"/>
                                        </p:tgtEl>
                                        <p:attrNameLst>
                                          <p:attrName>ppt_h</p:attrName>
                                        </p:attrNameLst>
                                      </p:cBhvr>
                                      <p:tavLst>
                                        <p:tav tm="0">
                                          <p:val>
                                            <p:fltVal val="0"/>
                                          </p:val>
                                        </p:tav>
                                        <p:tav tm="100000">
                                          <p:val>
                                            <p:strVal val="#ppt_h"/>
                                          </p:val>
                                        </p:tav>
                                      </p:tavLst>
                                    </p:anim>
                                    <p:animEffect transition="in" filter="fade">
                                      <p:cBhvr>
                                        <p:cTn id="14" dur="500"/>
                                        <p:tgtEl>
                                          <p:spTgt spid="1386"/>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1381"/>
                                        </p:tgtEl>
                                        <p:attrNameLst>
                                          <p:attrName>style.visibility</p:attrName>
                                        </p:attrNameLst>
                                      </p:cBhvr>
                                      <p:to>
                                        <p:strVal val="visible"/>
                                      </p:to>
                                    </p:set>
                                    <p:anim calcmode="lin" valueType="num">
                                      <p:cBhvr>
                                        <p:cTn id="17" dur="500" fill="hold"/>
                                        <p:tgtEl>
                                          <p:spTgt spid="1381"/>
                                        </p:tgtEl>
                                        <p:attrNameLst>
                                          <p:attrName>ppt_w</p:attrName>
                                        </p:attrNameLst>
                                      </p:cBhvr>
                                      <p:tavLst>
                                        <p:tav tm="0">
                                          <p:val>
                                            <p:fltVal val="0"/>
                                          </p:val>
                                        </p:tav>
                                        <p:tav tm="100000">
                                          <p:val>
                                            <p:strVal val="#ppt_w"/>
                                          </p:val>
                                        </p:tav>
                                      </p:tavLst>
                                    </p:anim>
                                    <p:anim calcmode="lin" valueType="num">
                                      <p:cBhvr>
                                        <p:cTn id="18" dur="500" fill="hold"/>
                                        <p:tgtEl>
                                          <p:spTgt spid="1381"/>
                                        </p:tgtEl>
                                        <p:attrNameLst>
                                          <p:attrName>ppt_h</p:attrName>
                                        </p:attrNameLst>
                                      </p:cBhvr>
                                      <p:tavLst>
                                        <p:tav tm="0">
                                          <p:val>
                                            <p:fltVal val="0"/>
                                          </p:val>
                                        </p:tav>
                                        <p:tav tm="100000">
                                          <p:val>
                                            <p:strVal val="#ppt_h"/>
                                          </p:val>
                                        </p:tav>
                                      </p:tavLst>
                                    </p:anim>
                                    <p:animEffect transition="in" filter="fade">
                                      <p:cBhvr>
                                        <p:cTn id="19" dur="500"/>
                                        <p:tgtEl>
                                          <p:spTgt spid="1381"/>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1382"/>
                                        </p:tgtEl>
                                        <p:attrNameLst>
                                          <p:attrName>style.visibility</p:attrName>
                                        </p:attrNameLst>
                                      </p:cBhvr>
                                      <p:to>
                                        <p:strVal val="visible"/>
                                      </p:to>
                                    </p:set>
                                    <p:anim calcmode="lin" valueType="num">
                                      <p:cBhvr>
                                        <p:cTn id="22" dur="500" fill="hold"/>
                                        <p:tgtEl>
                                          <p:spTgt spid="1382"/>
                                        </p:tgtEl>
                                        <p:attrNameLst>
                                          <p:attrName>ppt_w</p:attrName>
                                        </p:attrNameLst>
                                      </p:cBhvr>
                                      <p:tavLst>
                                        <p:tav tm="0">
                                          <p:val>
                                            <p:fltVal val="0"/>
                                          </p:val>
                                        </p:tav>
                                        <p:tav tm="100000">
                                          <p:val>
                                            <p:strVal val="#ppt_w"/>
                                          </p:val>
                                        </p:tav>
                                      </p:tavLst>
                                    </p:anim>
                                    <p:anim calcmode="lin" valueType="num">
                                      <p:cBhvr>
                                        <p:cTn id="23" dur="500" fill="hold"/>
                                        <p:tgtEl>
                                          <p:spTgt spid="1382"/>
                                        </p:tgtEl>
                                        <p:attrNameLst>
                                          <p:attrName>ppt_h</p:attrName>
                                        </p:attrNameLst>
                                      </p:cBhvr>
                                      <p:tavLst>
                                        <p:tav tm="0">
                                          <p:val>
                                            <p:fltVal val="0"/>
                                          </p:val>
                                        </p:tav>
                                        <p:tav tm="100000">
                                          <p:val>
                                            <p:strVal val="#ppt_h"/>
                                          </p:val>
                                        </p:tav>
                                      </p:tavLst>
                                    </p:anim>
                                    <p:animEffect transition="in" filter="fade">
                                      <p:cBhvr>
                                        <p:cTn id="24" dur="500"/>
                                        <p:tgtEl>
                                          <p:spTgt spid="1382"/>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1383"/>
                                        </p:tgtEl>
                                        <p:attrNameLst>
                                          <p:attrName>style.visibility</p:attrName>
                                        </p:attrNameLst>
                                      </p:cBhvr>
                                      <p:to>
                                        <p:strVal val="visible"/>
                                      </p:to>
                                    </p:set>
                                    <p:anim calcmode="lin" valueType="num">
                                      <p:cBhvr>
                                        <p:cTn id="27" dur="500" fill="hold"/>
                                        <p:tgtEl>
                                          <p:spTgt spid="1383"/>
                                        </p:tgtEl>
                                        <p:attrNameLst>
                                          <p:attrName>ppt_w</p:attrName>
                                        </p:attrNameLst>
                                      </p:cBhvr>
                                      <p:tavLst>
                                        <p:tav tm="0">
                                          <p:val>
                                            <p:fltVal val="0"/>
                                          </p:val>
                                        </p:tav>
                                        <p:tav tm="100000">
                                          <p:val>
                                            <p:strVal val="#ppt_w"/>
                                          </p:val>
                                        </p:tav>
                                      </p:tavLst>
                                    </p:anim>
                                    <p:anim calcmode="lin" valueType="num">
                                      <p:cBhvr>
                                        <p:cTn id="28" dur="500" fill="hold"/>
                                        <p:tgtEl>
                                          <p:spTgt spid="1383"/>
                                        </p:tgtEl>
                                        <p:attrNameLst>
                                          <p:attrName>ppt_h</p:attrName>
                                        </p:attrNameLst>
                                      </p:cBhvr>
                                      <p:tavLst>
                                        <p:tav tm="0">
                                          <p:val>
                                            <p:fltVal val="0"/>
                                          </p:val>
                                        </p:tav>
                                        <p:tav tm="100000">
                                          <p:val>
                                            <p:strVal val="#ppt_h"/>
                                          </p:val>
                                        </p:tav>
                                      </p:tavLst>
                                    </p:anim>
                                    <p:animEffect transition="in" filter="fade">
                                      <p:cBhvr>
                                        <p:cTn id="29" dur="500"/>
                                        <p:tgtEl>
                                          <p:spTgt spid="1383"/>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anim calcmode="lin" valueType="num">
                                      <p:cBhvr>
                                        <p:cTn id="32" dur="500" fill="hold"/>
                                        <p:tgtEl>
                                          <p:spTgt spid="12"/>
                                        </p:tgtEl>
                                        <p:attrNameLst>
                                          <p:attrName>ppt_w</p:attrName>
                                        </p:attrNameLst>
                                      </p:cBhvr>
                                      <p:tavLst>
                                        <p:tav tm="0">
                                          <p:val>
                                            <p:fltVal val="0"/>
                                          </p:val>
                                        </p:tav>
                                        <p:tav tm="100000">
                                          <p:val>
                                            <p:strVal val="#ppt_w"/>
                                          </p:val>
                                        </p:tav>
                                      </p:tavLst>
                                    </p:anim>
                                    <p:anim calcmode="lin" valueType="num">
                                      <p:cBhvr>
                                        <p:cTn id="33" dur="500" fill="hold"/>
                                        <p:tgtEl>
                                          <p:spTgt spid="12"/>
                                        </p:tgtEl>
                                        <p:attrNameLst>
                                          <p:attrName>ppt_h</p:attrName>
                                        </p:attrNameLst>
                                      </p:cBhvr>
                                      <p:tavLst>
                                        <p:tav tm="0">
                                          <p:val>
                                            <p:fltVal val="0"/>
                                          </p:val>
                                        </p:tav>
                                        <p:tav tm="100000">
                                          <p:val>
                                            <p:strVal val="#ppt_h"/>
                                          </p:val>
                                        </p:tav>
                                      </p:tavLst>
                                    </p:anim>
                                    <p:animEffect transition="in" filter="fade">
                                      <p:cBhvr>
                                        <p:cTn id="34"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0" grpId="0" animBg="1"/>
      <p:bldP spid="1381" grpId="0" animBg="1"/>
      <p:bldP spid="1382" grpId="0" animBg="1"/>
      <p:bldP spid="1383" grpId="0" animBg="1"/>
      <p:bldP spid="1386" grpId="0" animBg="1"/>
      <p:bldP spid="12"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FF206FCC-0CBB-4DF4-89C1-3C9DB4B6E776}" type="slidenum">
              <a:rPr lang="zh-CN" altLang="en-US" smtClean="0"/>
            </a:fld>
            <a:r>
              <a:rPr lang="zh-CN" altLang="en-US"/>
              <a:t>   </a:t>
            </a:r>
            <a:endParaRPr lang="zh-CN" altLang="en-US" dirty="0"/>
          </a:p>
        </p:txBody>
      </p:sp>
      <p:sp>
        <p:nvSpPr>
          <p:cNvPr id="4" name="标题 3"/>
          <p:cNvSpPr>
            <a:spLocks noGrp="1"/>
          </p:cNvSpPr>
          <p:nvPr>
            <p:ph type="title"/>
          </p:nvPr>
        </p:nvSpPr>
        <p:spPr>
          <a:solidFill>
            <a:srgbClr val="00B0F0"/>
          </a:solidFill>
        </p:spPr>
        <p:txBody>
          <a:bodyPr/>
          <a:lstStyle/>
          <a:p>
            <a:pPr algn="just"/>
            <a:r>
              <a:rPr lang="en-US" altLang="zh-CN" sz="3200" dirty="0">
                <a:solidFill>
                  <a:srgbClr val="FFFF00"/>
                </a:solidFill>
              </a:rPr>
              <a:t>1.</a:t>
            </a:r>
            <a:r>
              <a:rPr lang="zh-CN" altLang="en-US" sz="3200" dirty="0">
                <a:solidFill>
                  <a:srgbClr val="FFFF00"/>
                </a:solidFill>
              </a:rPr>
              <a:t>集成学习理论</a:t>
            </a:r>
            <a:endParaRPr lang="en-US" altLang="zh-CN" sz="3200" dirty="0">
              <a:solidFill>
                <a:srgbClr val="FFFF00"/>
              </a:solidFill>
            </a:endParaRPr>
          </a:p>
        </p:txBody>
      </p:sp>
      <p:pic>
        <p:nvPicPr>
          <p:cNvPr id="2" name="图片 1"/>
          <p:cNvPicPr>
            <a:picLocks noChangeAspect="1"/>
          </p:cNvPicPr>
          <p:nvPr/>
        </p:nvPicPr>
        <p:blipFill>
          <a:blip r:embed="rId1"/>
          <a:stretch>
            <a:fillRect/>
          </a:stretch>
        </p:blipFill>
        <p:spPr>
          <a:xfrm>
            <a:off x="1608754" y="1287092"/>
            <a:ext cx="7526006" cy="5145576"/>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FF206FCC-0CBB-4DF4-89C1-3C9DB4B6E776}" type="slidenum">
              <a:rPr lang="zh-CN" altLang="en-US" smtClean="0"/>
            </a:fld>
            <a:r>
              <a:rPr lang="zh-CN" altLang="en-US"/>
              <a:t>   </a:t>
            </a:r>
            <a:endParaRPr lang="zh-CN" altLang="en-US" dirty="0"/>
          </a:p>
        </p:txBody>
      </p:sp>
      <p:sp>
        <p:nvSpPr>
          <p:cNvPr id="4" name="标题 3"/>
          <p:cNvSpPr>
            <a:spLocks noGrp="1"/>
          </p:cNvSpPr>
          <p:nvPr>
            <p:ph type="title"/>
          </p:nvPr>
        </p:nvSpPr>
        <p:spPr>
          <a:solidFill>
            <a:srgbClr val="00B0F0"/>
          </a:solidFill>
        </p:spPr>
        <p:txBody>
          <a:bodyPr/>
          <a:lstStyle/>
          <a:p>
            <a:pPr algn="just"/>
            <a:r>
              <a:rPr lang="en-US" altLang="zh-CN" sz="3200" dirty="0">
                <a:solidFill>
                  <a:srgbClr val="FFFF00"/>
                </a:solidFill>
              </a:rPr>
              <a:t>1.</a:t>
            </a:r>
            <a:r>
              <a:rPr lang="zh-CN" altLang="en-US" sz="3200" dirty="0">
                <a:solidFill>
                  <a:srgbClr val="FFFF00"/>
                </a:solidFill>
              </a:rPr>
              <a:t>集成学习理论</a:t>
            </a:r>
            <a:endParaRPr lang="en-US" altLang="zh-CN" sz="3200" dirty="0">
              <a:solidFill>
                <a:srgbClr val="FFFF00"/>
              </a:solidFill>
            </a:endParaRPr>
          </a:p>
        </p:txBody>
      </p:sp>
      <p:sp>
        <p:nvSpPr>
          <p:cNvPr id="5" name="内容占位符 1"/>
          <p:cNvSpPr>
            <a:spLocks noGrp="1"/>
          </p:cNvSpPr>
          <p:nvPr>
            <p:ph idx="1"/>
          </p:nvPr>
        </p:nvSpPr>
        <p:spPr>
          <a:xfrm>
            <a:off x="675436" y="1529697"/>
            <a:ext cx="10430367" cy="4110528"/>
          </a:xfrm>
        </p:spPr>
        <p:txBody>
          <a:bodyPr vert="horz" lIns="91440" tIns="45720" rIns="91440" bIns="45720" rtlCol="0">
            <a:normAutofit/>
          </a:bodyPr>
          <a:lstStyle/>
          <a:p>
            <a:r>
              <a:rPr lang="zh-CN" altLang="en-US" dirty="0">
                <a:solidFill>
                  <a:srgbClr val="000000"/>
                </a:solidFill>
              </a:rPr>
              <a:t>集成学习</a:t>
            </a:r>
            <a:r>
              <a:rPr lang="en-US" altLang="zh-CN" dirty="0">
                <a:solidFill>
                  <a:srgbClr val="000000"/>
                </a:solidFill>
              </a:rPr>
              <a:t>(Ensemble learning)</a:t>
            </a:r>
            <a:r>
              <a:rPr lang="zh-CN" altLang="en-US" dirty="0">
                <a:solidFill>
                  <a:srgbClr val="000000"/>
                </a:solidFill>
              </a:rPr>
              <a:t>是机器学习中近年来的一大热门领域。其中的集成方法是用多种学习方法的组合来获取比原方法更优的结果。</a:t>
            </a:r>
            <a:endParaRPr lang="en-US" altLang="zh-CN" dirty="0">
              <a:solidFill>
                <a:srgbClr val="000000"/>
              </a:solidFill>
            </a:endParaRPr>
          </a:p>
          <a:p>
            <a:pPr indent="0">
              <a:buNone/>
            </a:pPr>
            <a:r>
              <a:rPr lang="en-US" altLang="zh-CN" sz="1800" kern="1000" dirty="0">
                <a:solidFill>
                  <a:srgbClr val="000000"/>
                </a:solidFill>
                <a:effectLst/>
              </a:rPr>
              <a:t>       </a:t>
            </a:r>
            <a:r>
              <a:rPr lang="zh-CN" altLang="zh-CN" sz="1800" kern="1000" dirty="0">
                <a:solidFill>
                  <a:srgbClr val="000000"/>
                </a:solidFill>
                <a:effectLst/>
              </a:rPr>
              <a:t>集成学习基本思想是先通过一定的规则生成一定数量的</a:t>
            </a:r>
            <a:r>
              <a:rPr lang="zh-CN" altLang="en-US" sz="1800" kern="1000" dirty="0">
                <a:solidFill>
                  <a:srgbClr val="000000"/>
                </a:solidFill>
              </a:rPr>
              <a:t>个体学习器</a:t>
            </a:r>
            <a:r>
              <a:rPr lang="zh-CN" altLang="en-US" sz="1800" kern="1000" dirty="0">
                <a:solidFill>
                  <a:srgbClr val="000000"/>
                </a:solidFill>
                <a:effectLst/>
              </a:rPr>
              <a:t>（</a:t>
            </a:r>
            <a:r>
              <a:rPr lang="zh-CN" altLang="zh-CN" sz="1800" kern="1000" dirty="0">
                <a:solidFill>
                  <a:srgbClr val="000000"/>
                </a:solidFill>
              </a:rPr>
              <a:t>基学习器</a:t>
            </a:r>
            <a:r>
              <a:rPr lang="zh-CN" altLang="en-US" sz="1800" kern="1000" dirty="0">
                <a:solidFill>
                  <a:srgbClr val="000000"/>
                </a:solidFill>
                <a:effectLst/>
              </a:rPr>
              <a:t>）</a:t>
            </a:r>
            <a:r>
              <a:rPr lang="zh-CN" altLang="zh-CN" sz="1800" kern="1000" dirty="0">
                <a:solidFill>
                  <a:srgbClr val="000000"/>
                </a:solidFill>
                <a:effectLst/>
              </a:rPr>
              <a:t>，再采用某种集成策略将这些基学习器的预测结果组合起来，从而形成最终结论。</a:t>
            </a:r>
            <a:endParaRPr lang="en-US" altLang="zh-CN" sz="1800" kern="1000" dirty="0">
              <a:solidFill>
                <a:srgbClr val="000000"/>
              </a:solidFill>
              <a:effectLst/>
            </a:endParaRPr>
          </a:p>
          <a:p>
            <a:pPr indent="0">
              <a:buNone/>
            </a:pPr>
            <a:r>
              <a:rPr lang="en-US" altLang="zh-CN" sz="1800" kern="1000" dirty="0">
                <a:solidFill>
                  <a:srgbClr val="000000"/>
                </a:solidFill>
              </a:rPr>
              <a:t>      </a:t>
            </a:r>
            <a:r>
              <a:rPr lang="zh-CN" altLang="zh-CN" sz="1800" kern="1000" dirty="0">
                <a:solidFill>
                  <a:srgbClr val="000000"/>
                </a:solidFill>
                <a:effectLst/>
              </a:rPr>
              <a:t>集成学习不是一个单独的机器学习算法，而是一个将多重或多个</a:t>
            </a:r>
            <a:r>
              <a:rPr lang="zh-CN" altLang="zh-CN" sz="1800" kern="1000" dirty="0">
                <a:solidFill>
                  <a:schemeClr val="tx1"/>
                </a:solidFill>
                <a:effectLst/>
              </a:rPr>
              <a:t>弱</a:t>
            </a:r>
            <a:r>
              <a:rPr lang="zh-CN" altLang="zh-CN" sz="1800" kern="1000" dirty="0">
                <a:solidFill>
                  <a:srgbClr val="000000"/>
                </a:solidFill>
                <a:effectLst/>
              </a:rPr>
              <a:t>学习器组合成一个强学习器，从而有效地提升分类效果。</a:t>
            </a:r>
            <a:endParaRPr lang="zh-CN" altLang="zh-CN" sz="1800" kern="1000" dirty="0">
              <a:solidFill>
                <a:srgbClr val="000000"/>
              </a:solidFill>
              <a:effectLst/>
            </a:endParaRPr>
          </a:p>
          <a:p>
            <a:pPr indent="0" algn="just">
              <a:buNone/>
            </a:pPr>
            <a:r>
              <a:rPr lang="en-US" altLang="zh-CN" sz="1800" kern="1000" dirty="0">
                <a:solidFill>
                  <a:srgbClr val="000000"/>
                </a:solidFill>
                <a:effectLst/>
              </a:rPr>
              <a:t>      </a:t>
            </a:r>
            <a:r>
              <a:rPr lang="zh-CN" altLang="zh-CN" sz="1800" kern="1000" dirty="0">
                <a:solidFill>
                  <a:srgbClr val="000000"/>
                </a:solidFill>
                <a:effectLst/>
              </a:rPr>
              <a:t>一般而言，集成学习中的基学习器可以是同质的“</a:t>
            </a:r>
            <a:r>
              <a:rPr lang="zh-CN" altLang="zh-CN" sz="1800" kern="1000" dirty="0">
                <a:solidFill>
                  <a:schemeClr val="tx1"/>
                </a:solidFill>
                <a:effectLst/>
              </a:rPr>
              <a:t>弱</a:t>
            </a:r>
            <a:r>
              <a:rPr lang="zh-CN" altLang="zh-CN" sz="1800" kern="1000" dirty="0">
                <a:solidFill>
                  <a:srgbClr val="000000"/>
                </a:solidFill>
                <a:effectLst/>
              </a:rPr>
              <a:t>学习器”，也可以是异质的“</a:t>
            </a:r>
            <a:r>
              <a:rPr lang="zh-CN" altLang="zh-CN" sz="1800" kern="1000" dirty="0">
                <a:solidFill>
                  <a:schemeClr val="tx1"/>
                </a:solidFill>
                <a:effectLst/>
              </a:rPr>
              <a:t>弱</a:t>
            </a:r>
            <a:r>
              <a:rPr lang="zh-CN" altLang="zh-CN" sz="1800" kern="1000" dirty="0">
                <a:solidFill>
                  <a:srgbClr val="000000"/>
                </a:solidFill>
                <a:effectLst/>
              </a:rPr>
              <a:t>学习器”。目前，同质基学习器的应用最为广泛，同质基学习器使用最多的模型是</a:t>
            </a:r>
            <a:r>
              <a:rPr lang="en-US" altLang="zh-CN" sz="1800" kern="1000" dirty="0">
                <a:solidFill>
                  <a:srgbClr val="000000"/>
                </a:solidFill>
                <a:effectLst/>
              </a:rPr>
              <a:t>CART</a:t>
            </a:r>
            <a:r>
              <a:rPr lang="zh-CN" altLang="zh-CN" sz="1800" kern="1000" dirty="0">
                <a:solidFill>
                  <a:srgbClr val="000000"/>
                </a:solidFill>
                <a:effectLst/>
              </a:rPr>
              <a:t>决策树和神经网络。</a:t>
            </a:r>
            <a:r>
              <a:rPr lang="en-US" altLang="zh-CN" sz="1800" kern="1000" dirty="0">
                <a:solidFill>
                  <a:srgbClr val="000000"/>
                </a:solidFill>
                <a:effectLst/>
              </a:rPr>
              <a:t>  </a:t>
            </a:r>
            <a:endParaRPr kumimoji="1" lang="en-US" altLang="zh-CN" sz="2400" dirty="0">
              <a:sym typeface="+mn-ea"/>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内容占位符 3"/>
          <p:cNvSpPr>
            <a:spLocks noGrp="1"/>
          </p:cNvSpPr>
          <p:nvPr>
            <p:ph idx="1"/>
          </p:nvPr>
        </p:nvSpPr>
        <p:spPr>
          <a:xfrm>
            <a:off x="145847" y="1613287"/>
            <a:ext cx="10014651" cy="3507353"/>
          </a:xfrm>
        </p:spPr>
        <p:txBody>
          <a:bodyPr>
            <a:noAutofit/>
          </a:bodyPr>
          <a:lstStyle/>
          <a:p>
            <a:pPr>
              <a:lnSpc>
                <a:spcPct val="150000"/>
              </a:lnSpc>
            </a:pPr>
            <a:r>
              <a:rPr lang="zh-CN" altLang="zh-CN" b="1" dirty="0">
                <a:latin typeface="Cambria" panose="02040503050406030204" pitchFamily="18" charset="0"/>
              </a:rPr>
              <a:t>集成学习主要包括三个部分：</a:t>
            </a:r>
            <a:endParaRPr lang="en-US" altLang="zh-CN" b="1" dirty="0">
              <a:latin typeface="Cambria" panose="02040503050406030204" pitchFamily="18" charset="0"/>
              <a:ea typeface="Cambria" panose="02040503050406030204" pitchFamily="18" charset="0"/>
            </a:endParaRPr>
          </a:p>
          <a:p>
            <a:pPr lvl="1">
              <a:lnSpc>
                <a:spcPct val="150000"/>
              </a:lnSpc>
            </a:pPr>
            <a:r>
              <a:rPr lang="zh-CN" altLang="zh-CN" sz="2000" dirty="0">
                <a:latin typeface="Cambria" panose="02040503050406030204" pitchFamily="18" charset="0"/>
              </a:rPr>
              <a:t>个体的生成方法</a:t>
            </a:r>
            <a:endParaRPr lang="en-US" altLang="zh-CN" sz="2000" dirty="0">
              <a:latin typeface="Cambria" panose="02040503050406030204" pitchFamily="18" charset="0"/>
              <a:ea typeface="Cambria" panose="02040503050406030204" pitchFamily="18" charset="0"/>
            </a:endParaRPr>
          </a:p>
          <a:p>
            <a:pPr lvl="1">
              <a:lnSpc>
                <a:spcPct val="150000"/>
              </a:lnSpc>
            </a:pPr>
            <a:r>
              <a:rPr lang="zh-CN" altLang="zh-CN" sz="2000" dirty="0">
                <a:latin typeface="Cambria" panose="02040503050406030204" pitchFamily="18" charset="0"/>
              </a:rPr>
              <a:t>个体学习器（基学习器）</a:t>
            </a:r>
            <a:endParaRPr lang="en-US" altLang="zh-CN" sz="2000" dirty="0">
              <a:latin typeface="Cambria" panose="02040503050406030204" pitchFamily="18" charset="0"/>
              <a:ea typeface="Cambria" panose="02040503050406030204" pitchFamily="18" charset="0"/>
            </a:endParaRPr>
          </a:p>
          <a:p>
            <a:pPr lvl="1">
              <a:lnSpc>
                <a:spcPct val="150000"/>
              </a:lnSpc>
            </a:pPr>
            <a:r>
              <a:rPr lang="zh-CN" altLang="zh-CN" sz="2000" dirty="0">
                <a:latin typeface="Cambria" panose="02040503050406030204" pitchFamily="18" charset="0"/>
              </a:rPr>
              <a:t>结论的合（集）成方法。</a:t>
            </a:r>
            <a:endParaRPr lang="en-US" altLang="zh-CN" sz="2000" dirty="0">
              <a:latin typeface="Cambria" panose="02040503050406030204" pitchFamily="18" charset="0"/>
              <a:ea typeface="Cambria" panose="02040503050406030204" pitchFamily="18" charset="0"/>
            </a:endParaRPr>
          </a:p>
          <a:p>
            <a:pPr>
              <a:lnSpc>
                <a:spcPct val="150000"/>
              </a:lnSpc>
            </a:pPr>
            <a:r>
              <a:rPr lang="zh-CN" altLang="zh-CN" b="1" dirty="0">
                <a:latin typeface="Cambria" panose="02040503050406030204" pitchFamily="18" charset="0"/>
              </a:rPr>
              <a:t>集成学习需要很好地解决如下两个问题</a:t>
            </a:r>
            <a:r>
              <a:rPr lang="en-US" altLang="zh-CN" b="1" dirty="0">
                <a:latin typeface="Cambria" panose="02040503050406030204" pitchFamily="18" charset="0"/>
              </a:rPr>
              <a:t>:</a:t>
            </a:r>
            <a:endParaRPr lang="zh-CN" altLang="zh-CN" b="1" dirty="0">
              <a:latin typeface="Cambria" panose="02040503050406030204" pitchFamily="18" charset="0"/>
            </a:endParaRPr>
          </a:p>
          <a:p>
            <a:pPr lvl="1">
              <a:lnSpc>
                <a:spcPct val="150000"/>
              </a:lnSpc>
            </a:pPr>
            <a:r>
              <a:rPr lang="zh-CN" altLang="zh-CN" sz="2000" dirty="0">
                <a:latin typeface="Cambria" panose="02040503050406030204" pitchFamily="18" charset="0"/>
              </a:rPr>
              <a:t>（</a:t>
            </a:r>
            <a:r>
              <a:rPr lang="en-US" altLang="zh-CN" sz="2000" dirty="0">
                <a:latin typeface="Cambria" panose="02040503050406030204" pitchFamily="18" charset="0"/>
                <a:ea typeface="Cambria" panose="02040503050406030204" pitchFamily="18" charset="0"/>
              </a:rPr>
              <a:t>1</a:t>
            </a:r>
            <a:r>
              <a:rPr lang="zh-CN" altLang="zh-CN" sz="2000" dirty="0">
                <a:latin typeface="Cambria" panose="02040503050406030204" pitchFamily="18" charset="0"/>
              </a:rPr>
              <a:t>）如何通过有效地训练，获得若干个基学习器</a:t>
            </a:r>
            <a:r>
              <a:rPr lang="zh-CN" altLang="en-US" sz="2000" dirty="0">
                <a:latin typeface="Cambria" panose="02040503050406030204" pitchFamily="18" charset="0"/>
              </a:rPr>
              <a:t>。</a:t>
            </a:r>
            <a:endParaRPr lang="zh-CN" altLang="zh-CN" sz="2000" dirty="0">
              <a:latin typeface="Cambria" panose="02040503050406030204" pitchFamily="18" charset="0"/>
            </a:endParaRPr>
          </a:p>
          <a:p>
            <a:pPr lvl="1">
              <a:lnSpc>
                <a:spcPct val="150000"/>
              </a:lnSpc>
            </a:pPr>
            <a:r>
              <a:rPr lang="zh-CN" altLang="zh-CN" sz="2000" dirty="0">
                <a:latin typeface="Cambria" panose="02040503050406030204" pitchFamily="18" charset="0"/>
              </a:rPr>
              <a:t>（</a:t>
            </a:r>
            <a:r>
              <a:rPr lang="en-US" altLang="zh-CN" sz="2000" dirty="0">
                <a:latin typeface="Cambria" panose="02040503050406030204" pitchFamily="18" charset="0"/>
                <a:ea typeface="Cambria" panose="02040503050406030204" pitchFamily="18" charset="0"/>
              </a:rPr>
              <a:t>2</a:t>
            </a:r>
            <a:r>
              <a:rPr lang="zh-CN" altLang="zh-CN" sz="2000" dirty="0">
                <a:latin typeface="Cambria" panose="02040503050406030204" pitchFamily="18" charset="0"/>
              </a:rPr>
              <a:t>）如何选择一个</a:t>
            </a:r>
            <a:r>
              <a:rPr lang="zh-CN" altLang="zh-CN" sz="2000" b="1" dirty="0">
                <a:latin typeface="Cambria" panose="02040503050406030204" pitchFamily="18" charset="0"/>
              </a:rPr>
              <a:t>组合策略</a:t>
            </a:r>
            <a:r>
              <a:rPr lang="zh-CN" altLang="zh-CN" sz="2000" dirty="0">
                <a:latin typeface="Cambria" panose="02040503050406030204" pitchFamily="18" charset="0"/>
              </a:rPr>
              <a:t>，将这些基学习器集合成为一个强学习器</a:t>
            </a:r>
            <a:r>
              <a:rPr lang="zh-CN" altLang="en-US" sz="2000" dirty="0">
                <a:latin typeface="Cambria" panose="02040503050406030204" pitchFamily="18" charset="0"/>
              </a:rPr>
              <a:t>。</a:t>
            </a:r>
            <a:endParaRPr lang="zh-CN" altLang="zh-CN" sz="2000" dirty="0">
              <a:latin typeface="Cambria" panose="02040503050406030204" pitchFamily="18" charset="0"/>
            </a:endParaRPr>
          </a:p>
        </p:txBody>
      </p:sp>
      <p:sp>
        <p:nvSpPr>
          <p:cNvPr id="7" name="内容占位符 6"/>
          <p:cNvSpPr>
            <a:spLocks noGrp="1"/>
          </p:cNvSpPr>
          <p:nvPr>
            <p:ph idx="13"/>
          </p:nvPr>
        </p:nvSpPr>
        <p:spPr>
          <a:xfrm>
            <a:off x="178093" y="1013372"/>
            <a:ext cx="10272890" cy="576064"/>
          </a:xfrm>
        </p:spPr>
        <p:txBody>
          <a:bodyPr/>
          <a:lstStyle/>
          <a:p>
            <a:r>
              <a:rPr lang="zh-CN" altLang="zh-CN" b="1" dirty="0">
                <a:latin typeface="Cambria" panose="02040503050406030204" pitchFamily="18" charset="0"/>
                <a:sym typeface="+mn-ea"/>
              </a:rPr>
              <a:t>集成学习</a:t>
            </a:r>
            <a:r>
              <a:rPr lang="zh-CN" altLang="zh-CN" b="1" dirty="0">
                <a:latin typeface="Cambria" panose="02040503050406030204" pitchFamily="18" charset="0"/>
              </a:rPr>
              <a:t>的</a:t>
            </a:r>
            <a:r>
              <a:rPr lang="zh-CN" altLang="en-US" b="1" dirty="0">
                <a:latin typeface="Cambria" panose="02040503050406030204" pitchFamily="18" charset="0"/>
              </a:rPr>
              <a:t>组成</a:t>
            </a:r>
            <a:endParaRPr lang="zh-CN" altLang="en-US" b="1" dirty="0">
              <a:latin typeface="Cambria" panose="02040503050406030204" pitchFamily="18" charset="0"/>
              <a:ea typeface="宋体" panose="02010600030101010101" pitchFamily="2" charset="-122"/>
            </a:endParaRPr>
          </a:p>
        </p:txBody>
      </p:sp>
      <p:pic>
        <p:nvPicPr>
          <p:cNvPr id="8" name="Picture 39"/>
          <p:cNvPicPr/>
          <p:nvPr/>
        </p:nvPicPr>
        <p:blipFill>
          <a:blip r:embed="rId1" cstate="print"/>
          <a:stretch>
            <a:fillRect/>
          </a:stretch>
        </p:blipFill>
        <p:spPr>
          <a:xfrm>
            <a:off x="6861039" y="1371372"/>
            <a:ext cx="4574339" cy="2673503"/>
          </a:xfrm>
          <a:prstGeom prst="rect">
            <a:avLst/>
          </a:prstGeom>
        </p:spPr>
      </p:pic>
      <p:sp>
        <p:nvSpPr>
          <p:cNvPr id="9" name="标题 3"/>
          <p:cNvSpPr>
            <a:spLocks noGrp="1"/>
          </p:cNvSpPr>
          <p:nvPr>
            <p:ph type="title"/>
          </p:nvPr>
        </p:nvSpPr>
        <p:spPr>
          <a:xfrm>
            <a:off x="145018" y="219056"/>
            <a:ext cx="4776874" cy="606839"/>
          </a:xfrm>
          <a:solidFill>
            <a:srgbClr val="00B0F0"/>
          </a:solidFill>
        </p:spPr>
        <p:txBody>
          <a:bodyPr>
            <a:normAutofit/>
          </a:bodyPr>
          <a:lstStyle/>
          <a:p>
            <a:pPr algn="just"/>
            <a:r>
              <a:rPr lang="en-US" altLang="zh-CN" sz="3200" dirty="0">
                <a:solidFill>
                  <a:srgbClr val="FFFF00"/>
                </a:solidFill>
              </a:rPr>
              <a:t>1.</a:t>
            </a:r>
            <a:r>
              <a:rPr lang="zh-CN" altLang="en-US" sz="3200" dirty="0">
                <a:solidFill>
                  <a:srgbClr val="FFFF00"/>
                </a:solidFill>
              </a:rPr>
              <a:t>集成学习理论</a:t>
            </a:r>
            <a:endParaRPr lang="en-US" altLang="zh-CN" sz="3200" dirty="0">
              <a:solidFill>
                <a:srgbClr val="FFFF00"/>
              </a:solidFill>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635483" y="1090046"/>
            <a:ext cx="9995877" cy="4680520"/>
          </a:xfrm>
        </p:spPr>
        <p:txBody>
          <a:bodyPr>
            <a:normAutofit/>
          </a:bodyPr>
          <a:lstStyle/>
          <a:p>
            <a:pPr marL="0" lvl="1" algn="just">
              <a:lnSpc>
                <a:spcPct val="150000"/>
              </a:lnSpc>
              <a:spcBef>
                <a:spcPts val="0"/>
              </a:spcBef>
              <a:spcAft>
                <a:spcPts val="0"/>
              </a:spcAft>
              <a:buClr>
                <a:schemeClr val="accent4"/>
              </a:buClr>
              <a:buSzPct val="100000"/>
              <a:buFont typeface="Wingdings" panose="05000000000000000000" pitchFamily="2" charset="2"/>
              <a:buChar char="n"/>
            </a:pPr>
            <a:r>
              <a:rPr lang="zh-CN" altLang="zh-CN" sz="2000" dirty="0">
                <a:latin typeface="Cambria" panose="02040503050406030204" pitchFamily="18" charset="0"/>
              </a:rPr>
              <a:t>同质个体学习器按照个体学习器之间是否存在依赖关系又可以分为两类：</a:t>
            </a:r>
            <a:endParaRPr lang="zh-CN" altLang="zh-CN" sz="2000" dirty="0">
              <a:latin typeface="Cambria" panose="02040503050406030204" pitchFamily="18" charset="0"/>
            </a:endParaRPr>
          </a:p>
          <a:p>
            <a:pPr marL="342900" lvl="3" algn="just">
              <a:lnSpc>
                <a:spcPct val="150000"/>
              </a:lnSpc>
              <a:spcBef>
                <a:spcPts val="0"/>
              </a:spcBef>
              <a:spcAft>
                <a:spcPts val="0"/>
              </a:spcAft>
            </a:pPr>
            <a:r>
              <a:rPr lang="zh-CN" altLang="zh-CN" sz="1800" dirty="0">
                <a:latin typeface="Cambria" panose="02040503050406030204" pitchFamily="18" charset="0"/>
                <a:sym typeface="+mn-ea"/>
              </a:rPr>
              <a:t>个体学习器之间存在着强依赖关系</a:t>
            </a:r>
            <a:r>
              <a:rPr lang="zh-CN" altLang="en-US" dirty="0">
                <a:latin typeface="Cambria" panose="02040503050406030204" pitchFamily="18" charset="0"/>
                <a:sym typeface="+mn-ea"/>
              </a:rPr>
              <a:t>，串行生成个体学习器。</a:t>
            </a:r>
            <a:r>
              <a:rPr lang="zh-CN" altLang="zh-CN" kern="1000" dirty="0">
                <a:solidFill>
                  <a:srgbClr val="000000"/>
                </a:solidFill>
                <a:cs typeface="Times New Roman" panose="02020603050405020304" pitchFamily="18" charset="0"/>
              </a:rPr>
              <a:t>原理是利用基学习器之间的依赖关系，对之前训练中错误标记的样本赋以较高的权重值，以提高整体的预测效果</a:t>
            </a:r>
            <a:r>
              <a:rPr lang="zh-CN" altLang="en-US" kern="1000" dirty="0">
                <a:solidFill>
                  <a:srgbClr val="000000"/>
                </a:solidFill>
                <a:cs typeface="Times New Roman" panose="02020603050405020304" pitchFamily="18" charset="0"/>
              </a:rPr>
              <a:t>。</a:t>
            </a:r>
            <a:r>
              <a:rPr lang="zh-CN" altLang="zh-CN" sz="1800" dirty="0">
                <a:latin typeface="Cambria" panose="02040503050406030204" pitchFamily="18" charset="0"/>
                <a:sym typeface="+mn-ea"/>
              </a:rPr>
              <a:t>其代表算法是</a:t>
            </a:r>
            <a:r>
              <a:rPr lang="en-US" altLang="zh-CN" sz="1800" dirty="0">
                <a:latin typeface="Cambria" panose="02040503050406030204" pitchFamily="18" charset="0"/>
                <a:ea typeface="Cambria" panose="02040503050406030204" pitchFamily="18" charset="0"/>
                <a:sym typeface="+mn-ea"/>
              </a:rPr>
              <a:t>B</a:t>
            </a:r>
            <a:r>
              <a:rPr lang="zh-CN" altLang="zh-CN" sz="1800" dirty="0">
                <a:latin typeface="Cambria" panose="02040503050406030204" pitchFamily="18" charset="0"/>
                <a:sym typeface="+mn-ea"/>
              </a:rPr>
              <a:t>oosting算法</a:t>
            </a:r>
            <a:r>
              <a:rPr lang="zh-CN" altLang="en-US" sz="1800" dirty="0">
                <a:latin typeface="Cambria" panose="02040503050406030204" pitchFamily="18" charset="0"/>
                <a:sym typeface="+mn-ea"/>
              </a:rPr>
              <a:t>。</a:t>
            </a:r>
            <a:endParaRPr lang="zh-CN" altLang="zh-CN" sz="1800" dirty="0">
              <a:latin typeface="Cambria" panose="02040503050406030204" pitchFamily="18" charset="0"/>
            </a:endParaRPr>
          </a:p>
          <a:p>
            <a:pPr marL="342900" lvl="3" algn="just">
              <a:lnSpc>
                <a:spcPct val="150000"/>
              </a:lnSpc>
              <a:spcBef>
                <a:spcPts val="0"/>
              </a:spcBef>
              <a:spcAft>
                <a:spcPts val="0"/>
              </a:spcAft>
            </a:pPr>
            <a:r>
              <a:rPr lang="zh-CN" altLang="zh-CN" sz="1800" dirty="0">
                <a:latin typeface="Cambria" panose="02040503050406030204" pitchFamily="18" charset="0"/>
                <a:sym typeface="+mn-ea"/>
              </a:rPr>
              <a:t>个体学习器之间不存在强依赖关系，可以并行生成这些个体学习器</a:t>
            </a:r>
            <a:r>
              <a:rPr lang="zh-CN" altLang="en-US" sz="1800" dirty="0">
                <a:latin typeface="Cambria" panose="02040503050406030204" pitchFamily="18" charset="0"/>
                <a:sym typeface="+mn-ea"/>
              </a:rPr>
              <a:t>。</a:t>
            </a:r>
            <a:r>
              <a:rPr lang="zh-CN" altLang="zh-CN" kern="1000" dirty="0">
                <a:solidFill>
                  <a:srgbClr val="000000"/>
                </a:solidFill>
                <a:cs typeface="Times New Roman" panose="02020603050405020304" pitchFamily="18" charset="0"/>
              </a:rPr>
              <a:t>并行方法的原理是利用基学习器之间的独立性，通过平均可以显著降低错误率，</a:t>
            </a:r>
            <a:r>
              <a:rPr lang="zh-CN" altLang="zh-CN" sz="1800" dirty="0">
                <a:latin typeface="Cambria" panose="02040503050406030204" pitchFamily="18" charset="0"/>
                <a:sym typeface="+mn-ea"/>
              </a:rPr>
              <a:t>其代表算法是</a:t>
            </a:r>
            <a:r>
              <a:rPr lang="en-US" altLang="zh-CN" sz="1800" dirty="0">
                <a:latin typeface="Cambria" panose="02040503050406030204" pitchFamily="18" charset="0"/>
                <a:ea typeface="Cambria" panose="02040503050406030204" pitchFamily="18" charset="0"/>
                <a:sym typeface="+mn-ea"/>
              </a:rPr>
              <a:t>B</a:t>
            </a:r>
            <a:r>
              <a:rPr lang="zh-CN" altLang="zh-CN" sz="1800" dirty="0">
                <a:latin typeface="Cambria" panose="02040503050406030204" pitchFamily="18" charset="0"/>
                <a:sym typeface="+mn-ea"/>
              </a:rPr>
              <a:t>agging和随机森林</a:t>
            </a:r>
            <a:r>
              <a:rPr lang="zh-CN" altLang="en-US" dirty="0">
                <a:latin typeface="Cambria" panose="02040503050406030204" pitchFamily="18" charset="0"/>
                <a:sym typeface="+mn-ea"/>
              </a:rPr>
              <a:t>（</a:t>
            </a:r>
            <a:r>
              <a:rPr lang="zh-CN" altLang="zh-CN" sz="1800" dirty="0">
                <a:latin typeface="Cambria" panose="02040503050406030204" pitchFamily="18" charset="0"/>
                <a:sym typeface="+mn-ea"/>
              </a:rPr>
              <a:t>Random Forest）算法。</a:t>
            </a:r>
            <a:endParaRPr lang="zh-CN" altLang="zh-CN" sz="1800" dirty="0">
              <a:latin typeface="Cambria" panose="02040503050406030204" pitchFamily="18" charset="0"/>
            </a:endParaRPr>
          </a:p>
          <a:p>
            <a:pPr marL="0" lvl="1" algn="just">
              <a:lnSpc>
                <a:spcPct val="150000"/>
              </a:lnSpc>
              <a:spcBef>
                <a:spcPts val="0"/>
              </a:spcBef>
              <a:spcAft>
                <a:spcPts val="0"/>
              </a:spcAft>
              <a:buClr>
                <a:schemeClr val="accent4"/>
              </a:buClr>
              <a:buSzPct val="100000"/>
              <a:buFont typeface="Wingdings" panose="05000000000000000000" pitchFamily="2" charset="2"/>
              <a:buChar char="n"/>
            </a:pPr>
            <a:r>
              <a:rPr lang="zh-CN" altLang="zh-CN" sz="2000" dirty="0">
                <a:latin typeface="Cambria" panose="02040503050406030204" pitchFamily="18" charset="0"/>
                <a:sym typeface="+mn-ea"/>
              </a:rPr>
              <a:t>根据集成学习的用途不同，结论合成的方法也各不相同。</a:t>
            </a:r>
            <a:endParaRPr lang="zh-CN" altLang="zh-CN" sz="2000" dirty="0">
              <a:latin typeface="Cambria" panose="02040503050406030204" pitchFamily="18" charset="0"/>
              <a:sym typeface="+mn-ea"/>
            </a:endParaRPr>
          </a:p>
          <a:p>
            <a:pPr marL="342900" lvl="3" algn="just">
              <a:lnSpc>
                <a:spcPct val="150000"/>
              </a:lnSpc>
              <a:spcBef>
                <a:spcPts val="0"/>
              </a:spcBef>
              <a:spcAft>
                <a:spcPts val="0"/>
              </a:spcAft>
            </a:pPr>
            <a:r>
              <a:rPr lang="zh-CN" altLang="en-US" dirty="0">
                <a:latin typeface="Cambria" panose="02040503050406030204" pitchFamily="18" charset="0"/>
                <a:sym typeface="+mn-ea"/>
              </a:rPr>
              <a:t>分类任务中，</a:t>
            </a:r>
            <a:r>
              <a:rPr lang="zh-CN" altLang="zh-CN" sz="1800" dirty="0">
                <a:latin typeface="Cambria" panose="02040503050406030204" pitchFamily="18" charset="0"/>
                <a:sym typeface="+mn-ea"/>
              </a:rPr>
              <a:t>集成的输出通常由各个体学习器的输出</a:t>
            </a:r>
            <a:r>
              <a:rPr lang="zh-CN" altLang="zh-CN" sz="1800" b="1" dirty="0">
                <a:latin typeface="Cambria" panose="02040503050406030204" pitchFamily="18" charset="0"/>
                <a:sym typeface="+mn-ea"/>
              </a:rPr>
              <a:t>投票</a:t>
            </a:r>
            <a:r>
              <a:rPr lang="zh-CN" altLang="zh-CN" sz="1800" dirty="0">
                <a:latin typeface="Cambria" panose="02040503050406030204" pitchFamily="18" charset="0"/>
                <a:sym typeface="+mn-ea"/>
              </a:rPr>
              <a:t>产生。通常采用绝对多数投票法或相对多数投票法。</a:t>
            </a:r>
            <a:endParaRPr lang="zh-CN" altLang="zh-CN" sz="1800" dirty="0">
              <a:latin typeface="Cambria" panose="02040503050406030204" pitchFamily="18" charset="0"/>
              <a:sym typeface="+mn-ea"/>
            </a:endParaRPr>
          </a:p>
          <a:p>
            <a:pPr marL="342900" lvl="3" algn="just">
              <a:lnSpc>
                <a:spcPct val="150000"/>
              </a:lnSpc>
              <a:spcBef>
                <a:spcPts val="0"/>
              </a:spcBef>
              <a:spcAft>
                <a:spcPts val="0"/>
              </a:spcAft>
            </a:pPr>
            <a:r>
              <a:rPr lang="zh-CN" altLang="zh-CN" sz="1800" dirty="0">
                <a:latin typeface="Cambria" panose="02040503050406030204" pitchFamily="18" charset="0"/>
                <a:sym typeface="+mn-ea"/>
              </a:rPr>
              <a:t>当集成学习用于回归估计时，集成的输出通常由各学习器的输出通过简单</a:t>
            </a:r>
            <a:r>
              <a:rPr lang="zh-CN" altLang="zh-CN" sz="1800" b="1" dirty="0">
                <a:latin typeface="Cambria" panose="02040503050406030204" pitchFamily="18" charset="0"/>
                <a:sym typeface="+mn-ea"/>
              </a:rPr>
              <a:t>平均或加权平均</a:t>
            </a:r>
            <a:r>
              <a:rPr lang="zh-CN" altLang="zh-CN" sz="1800" dirty="0">
                <a:latin typeface="Cambria" panose="02040503050406030204" pitchFamily="18" charset="0"/>
                <a:sym typeface="+mn-ea"/>
              </a:rPr>
              <a:t>产生。</a:t>
            </a:r>
            <a:endParaRPr lang="zh-CN" altLang="zh-CN" sz="1800" dirty="0">
              <a:latin typeface="Cambria" panose="02040503050406030204" pitchFamily="18" charset="0"/>
              <a:sym typeface="+mn-ea"/>
            </a:endParaRPr>
          </a:p>
        </p:txBody>
      </p:sp>
      <p:sp>
        <p:nvSpPr>
          <p:cNvPr id="8" name="标题 3"/>
          <p:cNvSpPr>
            <a:spLocks noGrp="1"/>
          </p:cNvSpPr>
          <p:nvPr>
            <p:ph type="title"/>
          </p:nvPr>
        </p:nvSpPr>
        <p:spPr>
          <a:xfrm>
            <a:off x="252594" y="348149"/>
            <a:ext cx="4776874" cy="606839"/>
          </a:xfrm>
          <a:solidFill>
            <a:srgbClr val="00B0F0"/>
          </a:solidFill>
        </p:spPr>
        <p:txBody>
          <a:bodyPr/>
          <a:lstStyle/>
          <a:p>
            <a:pPr algn="just"/>
            <a:r>
              <a:rPr lang="en-US" altLang="zh-CN" sz="3200" dirty="0">
                <a:solidFill>
                  <a:srgbClr val="FFFF00"/>
                </a:solidFill>
              </a:rPr>
              <a:t>1.</a:t>
            </a:r>
            <a:r>
              <a:rPr lang="zh-CN" altLang="en-US" sz="3200" dirty="0">
                <a:solidFill>
                  <a:srgbClr val="FFFF00"/>
                </a:solidFill>
              </a:rPr>
              <a:t>集成学习理论</a:t>
            </a:r>
            <a:endParaRPr lang="en-US" altLang="zh-CN" sz="3200" dirty="0">
              <a:solidFill>
                <a:srgbClr val="FFFF00"/>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custDataLst>
              <p:tags r:id="rId1"/>
            </p:custDataLst>
          </p:nvPr>
        </p:nvSpPr>
        <p:spPr>
          <a:xfrm>
            <a:off x="1524000" y="729885"/>
            <a:ext cx="8471770" cy="2143125"/>
          </a:xfrm>
          <a:prstGeom prst="rect">
            <a:avLst/>
          </a:prstGeom>
          <a:noFill/>
        </p:spPr>
        <p:txBody>
          <a:bodyPr vert="horz" wrap="square" rtlCol="0" anchor="ctr" anchorCtr="0">
            <a:noAutofit/>
          </a:bodyPr>
          <a:lstStyle/>
          <a:p>
            <a:r>
              <a:rPr lang="en-US" altLang="zh-CN" sz="2800" dirty="0"/>
              <a:t>1.</a:t>
            </a:r>
            <a:r>
              <a:rPr lang="zh-CN" altLang="en-US" sz="2800" dirty="0"/>
              <a:t>集成学习的主要思想是（）</a:t>
            </a:r>
            <a:r>
              <a:rPr lang="zh-CN" altLang="zh-CN" sz="2800" dirty="0"/>
              <a:t>。</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 name="TextBox 3"/>
          <p:cNvSpPr txBox="1"/>
          <p:nvPr>
            <p:custDataLst>
              <p:tags r:id="rId2"/>
            </p:custDataLst>
          </p:nvPr>
        </p:nvSpPr>
        <p:spPr>
          <a:xfrm>
            <a:off x="3327748" y="2435334"/>
            <a:ext cx="64008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将多源数据进行融合学习</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 name="TextBox 4"/>
          <p:cNvSpPr txBox="1"/>
          <p:nvPr>
            <p:custDataLst>
              <p:tags r:id="rId3"/>
            </p:custDataLst>
          </p:nvPr>
        </p:nvSpPr>
        <p:spPr>
          <a:xfrm>
            <a:off x="3327748" y="3292584"/>
            <a:ext cx="64008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将多个机器学习模型组合起来解决问题</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 name="椭圆 7"/>
          <p:cNvSpPr>
            <a:spLocks noChangeAspect="1"/>
          </p:cNvSpPr>
          <p:nvPr>
            <p:custDataLst>
              <p:tags r:id="rId4"/>
            </p:custDataLst>
          </p:nvPr>
        </p:nvSpPr>
        <p:spPr>
          <a:xfrm>
            <a:off x="2613373" y="2499627"/>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A</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 name="椭圆 8"/>
          <p:cNvSpPr>
            <a:spLocks noChangeAspect="1"/>
          </p:cNvSpPr>
          <p:nvPr>
            <p:custDataLst>
              <p:tags r:id="rId5"/>
            </p:custDataLst>
          </p:nvPr>
        </p:nvSpPr>
        <p:spPr>
          <a:xfrm>
            <a:off x="2613373" y="3356877"/>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B</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圆角矩形 11"/>
          <p:cNvSpPr/>
          <p:nvPr>
            <p:custDataLst>
              <p:tags r:id="rId6"/>
            </p:custDataLst>
          </p:nvPr>
        </p:nvSpPr>
        <p:spPr>
          <a:xfrm>
            <a:off x="7696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8" name="TextBox 3"/>
          <p:cNvSpPr txBox="1"/>
          <p:nvPr>
            <p:custDataLst>
              <p:tags r:id="rId7"/>
            </p:custDataLst>
          </p:nvPr>
        </p:nvSpPr>
        <p:spPr>
          <a:xfrm>
            <a:off x="3327748" y="4149834"/>
            <a:ext cx="64008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将多个数据集合集成在一起进行训练</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9" name="椭圆 18"/>
          <p:cNvSpPr>
            <a:spLocks noChangeAspect="1"/>
          </p:cNvSpPr>
          <p:nvPr>
            <p:custDataLst>
              <p:tags r:id="rId8"/>
            </p:custDataLst>
          </p:nvPr>
        </p:nvSpPr>
        <p:spPr>
          <a:xfrm>
            <a:off x="2613373" y="4214127"/>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C</a:t>
            </a:r>
            <a:endParaRPr lang="zh-CN" altLang="en-US"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0" name="TextBox 3"/>
          <p:cNvSpPr txBox="1"/>
          <p:nvPr>
            <p:custDataLst>
              <p:tags r:id="rId9"/>
            </p:custDataLst>
          </p:nvPr>
        </p:nvSpPr>
        <p:spPr>
          <a:xfrm>
            <a:off x="3327748" y="5007084"/>
            <a:ext cx="64008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通过聚类算法使数据集分为多个簇</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1" name="椭圆 20"/>
          <p:cNvSpPr>
            <a:spLocks noChangeAspect="1"/>
          </p:cNvSpPr>
          <p:nvPr>
            <p:custDataLst>
              <p:tags r:id="rId10"/>
            </p:custDataLst>
          </p:nvPr>
        </p:nvSpPr>
        <p:spPr>
          <a:xfrm>
            <a:off x="2613373" y="5071377"/>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D</a:t>
            </a:r>
            <a:endParaRPr lang="zh-CN" altLang="en-US"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17" name="组合 16"/>
          <p:cNvGrpSpPr/>
          <p:nvPr>
            <p:custDataLst>
              <p:tags r:id="rId11"/>
            </p:custDataLst>
          </p:nvPr>
        </p:nvGrpSpPr>
        <p:grpSpPr>
          <a:xfrm>
            <a:off x="0" y="0"/>
            <a:ext cx="9144000" cy="635000"/>
            <a:chOff x="-1524000" y="0"/>
            <a:chExt cx="9144000" cy="635000"/>
          </a:xfrm>
        </p:grpSpPr>
        <p:sp>
          <p:nvSpPr>
            <p:cNvPr id="13" name="TitleBackground"/>
            <p:cNvSpPr/>
            <p:nvPr>
              <p:custDataLst>
                <p:tags r:id="rId12"/>
              </p:custDataLst>
            </p:nvPr>
          </p:nvSpPr>
          <p:spPr>
            <a:xfrm>
              <a:off x="-152400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3"/>
              </p:custDataLst>
            </p:nvPr>
          </p:nvSpPr>
          <p:spPr>
            <a:xfrm>
              <a:off x="-152400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4"/>
              </p:custDataLst>
            </p:nvPr>
          </p:nvSpPr>
          <p:spPr>
            <a:xfrm>
              <a:off x="-1270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6" name="TipText"/>
            <p:cNvSpPr txBox="1"/>
            <p:nvPr>
              <p:custDataLst>
                <p:tags r:id="rId15"/>
              </p:custDataLst>
            </p:nvPr>
          </p:nvSpPr>
          <p:spPr>
            <a:xfrm>
              <a:off x="1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endPar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pic>
        <p:nvPicPr>
          <p:cNvPr id="2" name="图片 1"/>
          <p:cNvPicPr/>
          <p:nvPr>
            <p:custDataLst>
              <p:tags r:id="rId16"/>
            </p:custDataLst>
          </p:nvPr>
        </p:nvPicPr>
        <p:blipFill>
          <a:blip r:embed="rId17">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8"/>
    </p:custData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2229742" y="3356885"/>
            <a:ext cx="7472680" cy="706755"/>
          </a:xfrm>
          <a:prstGeom prst="rect">
            <a:avLst/>
          </a:prstGeom>
          <a:noFill/>
        </p:spPr>
        <p:txBody>
          <a:bodyPr wrap="square" rtlCol="0">
            <a:spAutoFit/>
          </a:bodyPr>
          <a:lstStyle/>
          <a:p>
            <a:pPr algn="ctr"/>
            <a:r>
              <a:rPr lang="en-US" altLang="zh-CN" sz="4000" b="1" dirty="0">
                <a:solidFill>
                  <a:schemeClr val="tx1">
                    <a:lumMod val="75000"/>
                    <a:lumOff val="25000"/>
                  </a:schemeClr>
                </a:solidFill>
                <a:latin typeface="Yuanti SC" panose="02010600040101010101" pitchFamily="2" charset="-122"/>
                <a:ea typeface="Yuanti SC" panose="02010600040101010101" pitchFamily="2" charset="-122"/>
              </a:rPr>
              <a:t>Bagging</a:t>
            </a:r>
            <a:r>
              <a:rPr lang="zh-CN" altLang="en-US" sz="4000" b="1" dirty="0">
                <a:solidFill>
                  <a:schemeClr val="tx1">
                    <a:lumMod val="75000"/>
                    <a:lumOff val="25000"/>
                  </a:schemeClr>
                </a:solidFill>
                <a:latin typeface="Yuanti SC" panose="02010600040101010101" pitchFamily="2" charset="-122"/>
                <a:ea typeface="Yuanti SC" panose="02010600040101010101" pitchFamily="2" charset="-122"/>
              </a:rPr>
              <a:t>及随机森林</a:t>
            </a:r>
            <a:endParaRPr lang="zh-CN" altLang="en-US" sz="4000" b="1" dirty="0">
              <a:solidFill>
                <a:schemeClr val="tx1">
                  <a:lumMod val="75000"/>
                  <a:lumOff val="25000"/>
                </a:schemeClr>
              </a:solidFill>
              <a:latin typeface="Yuanti SC" panose="02010600040101010101" pitchFamily="2" charset="-122"/>
              <a:ea typeface="Yuanti SC" panose="02010600040101010101" pitchFamily="2" charset="-122"/>
            </a:endParaRPr>
          </a:p>
        </p:txBody>
      </p:sp>
      <p:sp>
        <p:nvSpPr>
          <p:cNvPr id="1381" name="文本框 1380"/>
          <p:cNvSpPr txBox="1"/>
          <p:nvPr/>
        </p:nvSpPr>
        <p:spPr>
          <a:xfrm>
            <a:off x="4307156" y="4195259"/>
            <a:ext cx="5777865" cy="307777"/>
          </a:xfrm>
          <a:prstGeom prst="rect">
            <a:avLst/>
          </a:prstGeom>
          <a:noFill/>
        </p:spPr>
        <p:txBody>
          <a:bodyPr wrap="square" rtlCol="0">
            <a:spAutoFit/>
          </a:bodyPr>
          <a:lstStyle/>
          <a:p>
            <a:r>
              <a:rPr lang="zh-CN" altLang="en-US" sz="1400" b="1" dirty="0">
                <a:solidFill>
                  <a:schemeClr val="tx1">
                    <a:lumMod val="50000"/>
                    <a:lumOff val="50000"/>
                  </a:schemeClr>
                </a:solidFill>
                <a:latin typeface="微软雅黑" panose="020B0503020204020204" pitchFamily="34" charset="-122"/>
                <a:ea typeface="微软雅黑" panose="020B0503020204020204" pitchFamily="34" charset="-122"/>
              </a:rPr>
              <a:t>本节介绍</a:t>
            </a:r>
            <a:r>
              <a:rPr lang="en-US" altLang="zh-CN" sz="1400" b="1" dirty="0">
                <a:solidFill>
                  <a:schemeClr val="tx1">
                    <a:lumMod val="50000"/>
                    <a:lumOff val="50000"/>
                  </a:schemeClr>
                </a:solidFill>
                <a:latin typeface="微软雅黑" panose="020B0503020204020204" pitchFamily="34" charset="-122"/>
                <a:ea typeface="微软雅黑" panose="020B0503020204020204" pitchFamily="34" charset="-122"/>
              </a:rPr>
              <a:t>Bagging</a:t>
            </a:r>
            <a:r>
              <a:rPr lang="zh-CN" altLang="en-US" sz="1400" b="1" dirty="0">
                <a:solidFill>
                  <a:schemeClr val="tx1">
                    <a:lumMod val="50000"/>
                    <a:lumOff val="50000"/>
                  </a:schemeClr>
                </a:solidFill>
                <a:latin typeface="微软雅黑" panose="020B0503020204020204" pitchFamily="34" charset="-122"/>
                <a:ea typeface="微软雅黑" panose="020B0503020204020204" pitchFamily="34" charset="-122"/>
              </a:rPr>
              <a:t>及随机森林算法原理和实验及参数</a:t>
            </a:r>
            <a:endParaRPr lang="en-US" altLang="zh-CN" sz="14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2069" name="八边形 2068"/>
          <p:cNvSpPr/>
          <p:nvPr/>
        </p:nvSpPr>
        <p:spPr>
          <a:xfrm>
            <a:off x="4888197" y="1265693"/>
            <a:ext cx="2084254" cy="1961885"/>
          </a:xfrm>
          <a:prstGeom prst="octagon">
            <a:avLst/>
          </a:prstGeom>
          <a:solidFill>
            <a:schemeClr val="accent5"/>
          </a:solidFill>
          <a:ln>
            <a:solidFill>
              <a:schemeClr val="accent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sz="6600" dirty="0">
                <a:latin typeface="Impact" panose="020B0806030902050204" pitchFamily="34" charset="0"/>
                <a:ea typeface="方正综艺简体" panose="03000509000000000000" pitchFamily="65" charset="-122"/>
              </a:rPr>
              <a:t>2</a:t>
            </a:r>
            <a:endParaRPr lang="zh-CN" altLang="en-US" sz="6600" dirty="0">
              <a:latin typeface="Impact" panose="020B0806030902050204" pitchFamily="34" charset="0"/>
              <a:ea typeface="方正综艺简体" panose="03000509000000000000" pitchFamily="65"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FF206FCC-0CBB-4DF4-89C1-3C9DB4B6E776}" type="slidenum">
              <a:rPr lang="zh-CN" altLang="en-US" smtClean="0"/>
            </a:fld>
            <a:r>
              <a:rPr lang="zh-CN" altLang="en-US"/>
              <a:t>   </a:t>
            </a:r>
            <a:endParaRPr lang="zh-CN" altLang="en-US" dirty="0"/>
          </a:p>
        </p:txBody>
      </p:sp>
      <p:sp>
        <p:nvSpPr>
          <p:cNvPr id="5" name="内容占位符 1"/>
          <p:cNvSpPr>
            <a:spLocks noGrp="1"/>
          </p:cNvSpPr>
          <p:nvPr>
            <p:ph idx="1"/>
          </p:nvPr>
        </p:nvSpPr>
        <p:spPr>
          <a:xfrm>
            <a:off x="668803" y="1232731"/>
            <a:ext cx="10621559" cy="5123039"/>
          </a:xfrm>
        </p:spPr>
        <p:txBody>
          <a:bodyPr>
            <a:noAutofit/>
          </a:bodyPr>
          <a:lstStyle/>
          <a:p>
            <a:pPr marL="360045" indent="0" fontAlgn="auto">
              <a:buNone/>
            </a:pPr>
            <a:r>
              <a:rPr lang="en-US" altLang="zh-CN" b="1" kern="1000" dirty="0">
                <a:solidFill>
                  <a:srgbClr val="000000"/>
                </a:solidFill>
                <a:cs typeface="Times New Roman" panose="02020603050405020304" pitchFamily="18" charset="0"/>
              </a:rPr>
              <a:t>Bagging (Bootstrap aggregating) </a:t>
            </a:r>
            <a:r>
              <a:rPr lang="zh-CN" altLang="en-US" b="1" kern="1000" dirty="0">
                <a:solidFill>
                  <a:srgbClr val="000000"/>
                </a:solidFill>
                <a:cs typeface="Times New Roman" panose="02020603050405020304" pitchFamily="18" charset="0"/>
              </a:rPr>
              <a:t>是并行集成学习方法最经典的框架，其核心概念在于自助采样（</a:t>
            </a:r>
            <a:r>
              <a:rPr lang="en-US" altLang="zh-CN" b="1" kern="1000" dirty="0">
                <a:solidFill>
                  <a:srgbClr val="000000"/>
                </a:solidFill>
                <a:cs typeface="Times New Roman" panose="02020603050405020304" pitchFamily="18" charset="0"/>
              </a:rPr>
              <a:t>Bootstrap sampling</a:t>
            </a:r>
            <a:r>
              <a:rPr lang="zh-CN" altLang="en-US" b="1" kern="1000" dirty="0">
                <a:solidFill>
                  <a:srgbClr val="000000"/>
                </a:solidFill>
                <a:cs typeface="Times New Roman" panose="02020603050405020304" pitchFamily="18" charset="0"/>
              </a:rPr>
              <a:t>）。主要思路想：给定包含</a:t>
            </a:r>
            <a:r>
              <a:rPr lang="en-US" altLang="zh-CN" b="1" kern="1000" dirty="0">
                <a:solidFill>
                  <a:srgbClr val="000000"/>
                </a:solidFill>
                <a:cs typeface="Times New Roman" panose="02020603050405020304" pitchFamily="18" charset="0"/>
              </a:rPr>
              <a:t>m</a:t>
            </a:r>
            <a:r>
              <a:rPr lang="zh-CN" altLang="en-US" b="1" kern="1000" dirty="0">
                <a:solidFill>
                  <a:srgbClr val="000000"/>
                </a:solidFill>
                <a:cs typeface="Times New Roman" panose="02020603050405020304" pitchFamily="18" charset="0"/>
              </a:rPr>
              <a:t>个样本的数据集，有放回地随机抽取一个样本，经过</a:t>
            </a:r>
            <a:r>
              <a:rPr lang="en-US" altLang="zh-CN" b="1" kern="1000" dirty="0">
                <a:solidFill>
                  <a:srgbClr val="000000"/>
                </a:solidFill>
                <a:cs typeface="Times New Roman" panose="02020603050405020304" pitchFamily="18" charset="0"/>
              </a:rPr>
              <a:t>m</a:t>
            </a:r>
            <a:r>
              <a:rPr lang="zh-CN" altLang="en-US" b="1" kern="1000" dirty="0">
                <a:solidFill>
                  <a:srgbClr val="000000"/>
                </a:solidFill>
                <a:cs typeface="Times New Roman" panose="02020603050405020304" pitchFamily="18" charset="0"/>
              </a:rPr>
              <a:t>次采样，得到一个和原始数据集一样大小的采样集。最终可得采样得到</a:t>
            </a:r>
            <a:r>
              <a:rPr lang="en-US" altLang="zh-CN" b="1" kern="1000" dirty="0">
                <a:solidFill>
                  <a:srgbClr val="000000"/>
                </a:solidFill>
                <a:cs typeface="Times New Roman" panose="02020603050405020304" pitchFamily="18" charset="0"/>
              </a:rPr>
              <a:t>T</a:t>
            </a:r>
            <a:r>
              <a:rPr lang="zh-CN" altLang="en-US" b="1" kern="1000" dirty="0">
                <a:solidFill>
                  <a:srgbClr val="000000"/>
                </a:solidFill>
                <a:cs typeface="Times New Roman" panose="02020603050405020304" pitchFamily="18" charset="0"/>
              </a:rPr>
              <a:t>个包含</a:t>
            </a:r>
            <a:r>
              <a:rPr lang="en-US" altLang="zh-CN" b="1" kern="1000" dirty="0">
                <a:solidFill>
                  <a:srgbClr val="000000"/>
                </a:solidFill>
                <a:cs typeface="Times New Roman" panose="02020603050405020304" pitchFamily="18" charset="0"/>
              </a:rPr>
              <a:t>m</a:t>
            </a:r>
            <a:r>
              <a:rPr lang="zh-CN" altLang="en-US" b="1" kern="1000" dirty="0">
                <a:solidFill>
                  <a:srgbClr val="000000"/>
                </a:solidFill>
                <a:cs typeface="Times New Roman" panose="02020603050405020304" pitchFamily="18" charset="0"/>
              </a:rPr>
              <a:t>个样本的采样集，然后基于每个采样集训练得到一个基分类器，最后将这些基分类器组合。</a:t>
            </a:r>
            <a:endParaRPr lang="en-US" altLang="zh-CN" sz="600" kern="1000" dirty="0">
              <a:solidFill>
                <a:srgbClr val="000000"/>
              </a:solidFill>
              <a:effectLst/>
              <a:cs typeface="Times New Roman" panose="02020603050405020304" pitchFamily="18" charset="0"/>
            </a:endParaRPr>
          </a:p>
          <a:p>
            <a:pPr marL="360045" indent="0">
              <a:buNone/>
            </a:pPr>
            <a:r>
              <a:rPr lang="zh-CN" altLang="en-US" b="1" dirty="0">
                <a:solidFill>
                  <a:schemeClr val="tx1">
                    <a:lumMod val="75000"/>
                    <a:lumOff val="25000"/>
                  </a:schemeClr>
                </a:solidFill>
              </a:rPr>
              <a:t>用于训练的每个模型的样本集合</a:t>
            </a:r>
            <a:r>
              <a:rPr lang="en-US" altLang="zh-CN" b="1" dirty="0">
                <a:solidFill>
                  <a:schemeClr val="tx1">
                    <a:lumMod val="75000"/>
                    <a:lumOff val="25000"/>
                  </a:schemeClr>
                </a:solidFill>
              </a:rPr>
              <a:t>D</a:t>
            </a:r>
            <a:r>
              <a:rPr lang="en-US" altLang="zh-CN" b="1" baseline="-25000" dirty="0">
                <a:solidFill>
                  <a:schemeClr val="tx1">
                    <a:lumMod val="75000"/>
                    <a:lumOff val="25000"/>
                  </a:schemeClr>
                </a:solidFill>
              </a:rPr>
              <a:t>t</a:t>
            </a:r>
            <a:r>
              <a:rPr lang="zh-CN" altLang="en-US" b="1" dirty="0">
                <a:solidFill>
                  <a:schemeClr val="tx1">
                    <a:lumMod val="75000"/>
                    <a:lumOff val="25000"/>
                  </a:schemeClr>
                </a:solidFill>
              </a:rPr>
              <a:t>是从</a:t>
            </a:r>
            <a:r>
              <a:rPr lang="en-US" altLang="zh-CN" b="1" dirty="0">
                <a:solidFill>
                  <a:schemeClr val="tx1">
                    <a:lumMod val="75000"/>
                    <a:lumOff val="25000"/>
                  </a:schemeClr>
                </a:solidFill>
              </a:rPr>
              <a:t>D</a:t>
            </a:r>
            <a:r>
              <a:rPr lang="zh-CN" altLang="en-US" b="1" dirty="0">
                <a:solidFill>
                  <a:schemeClr val="tx1">
                    <a:lumMod val="75000"/>
                    <a:lumOff val="25000"/>
                  </a:schemeClr>
                </a:solidFill>
              </a:rPr>
              <a:t>中</a:t>
            </a:r>
            <a:r>
              <a:rPr lang="zh-CN" altLang="en-US" b="1" dirty="0">
                <a:solidFill>
                  <a:srgbClr val="C00000"/>
                </a:solidFill>
              </a:rPr>
              <a:t>有放回</a:t>
            </a:r>
            <a:r>
              <a:rPr lang="zh-CN" altLang="en-US" b="1" dirty="0">
                <a:solidFill>
                  <a:schemeClr val="tx1">
                    <a:lumMod val="75000"/>
                    <a:lumOff val="25000"/>
                  </a:schemeClr>
                </a:solidFill>
              </a:rPr>
              <a:t>采样得到的，所以基于此训练出来的每个模型可以看做是独立同分布的随机变量。</a:t>
            </a:r>
            <a:endParaRPr lang="en-US" altLang="zh-CN" b="1" dirty="0">
              <a:solidFill>
                <a:schemeClr val="tx1">
                  <a:lumMod val="75000"/>
                  <a:lumOff val="25000"/>
                </a:schemeClr>
              </a:solidFill>
            </a:endParaRPr>
          </a:p>
          <a:p>
            <a:pPr marL="360045" indent="0">
              <a:buNone/>
            </a:pPr>
            <a:endParaRPr lang="en-US" altLang="zh-CN" sz="600" b="1" dirty="0">
              <a:solidFill>
                <a:schemeClr val="tx1">
                  <a:lumMod val="75000"/>
                  <a:lumOff val="25000"/>
                </a:schemeClr>
              </a:solidFill>
            </a:endParaRPr>
          </a:p>
          <a:p>
            <a:pPr marL="360045" indent="0">
              <a:buNone/>
            </a:pPr>
            <a:r>
              <a:rPr lang="zh-CN" altLang="en-US" b="1" dirty="0">
                <a:solidFill>
                  <a:schemeClr val="tx1">
                    <a:lumMod val="75000"/>
                    <a:lumOff val="25000"/>
                  </a:schemeClr>
                </a:solidFill>
              </a:rPr>
              <a:t>训练得到的模型可用于分类也可用于回归</a:t>
            </a:r>
            <a:r>
              <a:rPr lang="en-US" altLang="zh-CN" b="1" dirty="0">
                <a:solidFill>
                  <a:schemeClr val="tx1">
                    <a:lumMod val="75000"/>
                    <a:lumOff val="25000"/>
                  </a:schemeClr>
                </a:solidFill>
              </a:rPr>
              <a:t>:</a:t>
            </a:r>
            <a:endParaRPr lang="en-US" altLang="zh-CN" b="1" dirty="0">
              <a:solidFill>
                <a:schemeClr val="tx1">
                  <a:lumMod val="75000"/>
                  <a:lumOff val="25000"/>
                </a:schemeClr>
              </a:solidFill>
            </a:endParaRPr>
          </a:p>
          <a:p>
            <a:pPr marL="360045" indent="0">
              <a:buNone/>
            </a:pPr>
            <a:r>
              <a:rPr lang="zh-CN" altLang="en-US" b="1" dirty="0">
                <a:solidFill>
                  <a:schemeClr val="tx1">
                    <a:lumMod val="75000"/>
                    <a:lumOff val="25000"/>
                  </a:schemeClr>
                </a:solidFill>
              </a:rPr>
              <a:t>    对于分类问题，使用投票法得到最终分类结果</a:t>
            </a:r>
            <a:endParaRPr lang="en-US" altLang="zh-CN" b="1" dirty="0">
              <a:solidFill>
                <a:schemeClr val="tx1">
                  <a:lumMod val="75000"/>
                  <a:lumOff val="25000"/>
                </a:schemeClr>
              </a:solidFill>
            </a:endParaRPr>
          </a:p>
          <a:p>
            <a:pPr marL="360045" indent="0">
              <a:buNone/>
            </a:pPr>
            <a:r>
              <a:rPr lang="zh-CN" altLang="en-US" b="1" dirty="0">
                <a:solidFill>
                  <a:schemeClr val="tx1">
                    <a:lumMod val="75000"/>
                    <a:lumOff val="25000"/>
                  </a:schemeClr>
                </a:solidFill>
              </a:rPr>
              <a:t>    对于回归问题，通过加权平均法得到最终预测结果</a:t>
            </a:r>
            <a:endParaRPr lang="en-US" altLang="zh-CN" b="1" dirty="0">
              <a:solidFill>
                <a:schemeClr val="tx1">
                  <a:lumMod val="75000"/>
                  <a:lumOff val="25000"/>
                </a:schemeClr>
              </a:solidFill>
            </a:endParaRPr>
          </a:p>
        </p:txBody>
      </p:sp>
      <p:sp>
        <p:nvSpPr>
          <p:cNvPr id="6" name="标题 3"/>
          <p:cNvSpPr>
            <a:spLocks noGrp="1"/>
          </p:cNvSpPr>
          <p:nvPr>
            <p:ph type="title"/>
          </p:nvPr>
        </p:nvSpPr>
        <p:spPr>
          <a:xfrm>
            <a:off x="252594" y="348149"/>
            <a:ext cx="4776874" cy="606839"/>
          </a:xfrm>
          <a:solidFill>
            <a:srgbClr val="00B0F0"/>
          </a:solidFill>
        </p:spPr>
        <p:txBody>
          <a:bodyPr/>
          <a:lstStyle/>
          <a:p>
            <a:pPr algn="just"/>
            <a:r>
              <a:rPr lang="en-US" altLang="zh-CN" sz="3200" dirty="0">
                <a:solidFill>
                  <a:srgbClr val="FFFF00"/>
                </a:solidFill>
              </a:rPr>
              <a:t>Bagging</a:t>
            </a:r>
            <a:endParaRPr lang="en-US" altLang="zh-CN" sz="3200" dirty="0">
              <a:solidFill>
                <a:srgbClr val="FFFF00"/>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FF206FCC-0CBB-4DF4-89C1-3C9DB4B6E776}" type="slidenum">
              <a:rPr lang="zh-CN" altLang="en-US" smtClean="0"/>
            </a:fld>
            <a:r>
              <a:rPr lang="zh-CN" altLang="en-US"/>
              <a:t>   </a:t>
            </a:r>
            <a:endParaRPr lang="zh-CN" altLang="en-US" dirty="0"/>
          </a:p>
        </p:txBody>
      </p:sp>
      <p:sp>
        <p:nvSpPr>
          <p:cNvPr id="6" name="标题 3"/>
          <p:cNvSpPr>
            <a:spLocks noGrp="1"/>
          </p:cNvSpPr>
          <p:nvPr>
            <p:ph type="title"/>
          </p:nvPr>
        </p:nvSpPr>
        <p:spPr>
          <a:xfrm>
            <a:off x="252594" y="348149"/>
            <a:ext cx="4776874" cy="606839"/>
          </a:xfrm>
          <a:solidFill>
            <a:srgbClr val="00B0F0"/>
          </a:solidFill>
        </p:spPr>
        <p:txBody>
          <a:bodyPr/>
          <a:lstStyle/>
          <a:p>
            <a:pPr algn="just"/>
            <a:r>
              <a:rPr lang="en-US" altLang="zh-CN" sz="3200" dirty="0">
                <a:solidFill>
                  <a:srgbClr val="FFFF00"/>
                </a:solidFill>
              </a:rPr>
              <a:t>Bagging</a:t>
            </a:r>
            <a:endParaRPr lang="en-US" altLang="zh-CN" sz="3200" dirty="0">
              <a:solidFill>
                <a:srgbClr val="FFFF00"/>
              </a:solidFill>
            </a:endParaRPr>
          </a:p>
        </p:txBody>
      </p:sp>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011680" y="1261732"/>
            <a:ext cx="7922029" cy="519725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custDataLst>
              <p:tags r:id="rId1"/>
            </p:custDataLst>
          </p:nvPr>
        </p:nvSpPr>
        <p:spPr>
          <a:xfrm>
            <a:off x="1778000" y="535782"/>
            <a:ext cx="10087627" cy="2143125"/>
          </a:xfrm>
          <a:prstGeom prst="rect">
            <a:avLst/>
          </a:prstGeom>
          <a:noFill/>
        </p:spPr>
        <p:txBody>
          <a:bodyPr vert="horz" wrap="square" rtlCol="0" anchor="ctr" anchorCtr="0">
            <a:noAutofit/>
          </a:bodyPr>
          <a:lstStyle/>
          <a:p>
            <a:r>
              <a:rPr lang="en-US" altLang="zh-CN" sz="2800" dirty="0"/>
              <a:t>2. </a:t>
            </a:r>
            <a:r>
              <a:rPr lang="zh-CN" altLang="en-US" sz="2800" dirty="0"/>
              <a:t>下列不是</a:t>
            </a:r>
            <a:r>
              <a:rPr lang="en-US" altLang="zh-CN" sz="2800" dirty="0"/>
              <a:t>Bagging</a:t>
            </a:r>
            <a:r>
              <a:rPr lang="zh-CN" altLang="en-US" sz="28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算法特点的是</a:t>
            </a:r>
            <a:r>
              <a:rPr lang="zh-CN" altLang="en-US" sz="2800" dirty="0"/>
              <a:t>（）</a:t>
            </a:r>
            <a:r>
              <a:rPr lang="zh-CN" altLang="en-US" sz="28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 name="TextBox 3"/>
          <p:cNvSpPr txBox="1"/>
          <p:nvPr>
            <p:custDataLst>
              <p:tags r:id="rId2"/>
            </p:custDataLst>
          </p:nvPr>
        </p:nvSpPr>
        <p:spPr>
          <a:xfrm>
            <a:off x="3302695" y="2357438"/>
            <a:ext cx="7532318"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各基分类器不存在强依赖关系，并行生成基分类器</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 name="TextBox 4"/>
          <p:cNvSpPr txBox="1"/>
          <p:nvPr>
            <p:custDataLst>
              <p:tags r:id="rId3"/>
            </p:custDataLst>
          </p:nvPr>
        </p:nvSpPr>
        <p:spPr>
          <a:xfrm>
            <a:off x="3302694" y="3214688"/>
            <a:ext cx="8158619"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各基分类器权重相同，训练出来的每个模型独立同分布</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 name="椭圆 7"/>
          <p:cNvSpPr>
            <a:spLocks noChangeAspect="1"/>
          </p:cNvSpPr>
          <p:nvPr>
            <p:custDataLst>
              <p:tags r:id="rId4"/>
            </p:custDataLst>
          </p:nvPr>
        </p:nvSpPr>
        <p:spPr>
          <a:xfrm>
            <a:off x="2588320" y="3214688"/>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B</a:t>
            </a:r>
            <a:endParaRPr lang="zh-CN" altLang="en-US"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 name="椭圆 8"/>
          <p:cNvSpPr>
            <a:spLocks noChangeAspect="1"/>
          </p:cNvSpPr>
          <p:nvPr>
            <p:custDataLst>
              <p:tags r:id="rId5"/>
            </p:custDataLst>
          </p:nvPr>
        </p:nvSpPr>
        <p:spPr>
          <a:xfrm>
            <a:off x="2588320" y="4146458"/>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C</a:t>
            </a:r>
            <a:endParaRPr lang="zh-CN" altLang="en-US"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圆角矩形 11"/>
          <p:cNvSpPr/>
          <p:nvPr>
            <p:custDataLst>
              <p:tags r:id="rId6"/>
            </p:custDataLst>
          </p:nvPr>
        </p:nvSpPr>
        <p:spPr>
          <a:xfrm>
            <a:off x="7696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8" name="TextBox 3"/>
          <p:cNvSpPr txBox="1"/>
          <p:nvPr>
            <p:custDataLst>
              <p:tags r:id="rId7"/>
            </p:custDataLst>
          </p:nvPr>
        </p:nvSpPr>
        <p:spPr>
          <a:xfrm>
            <a:off x="3302695" y="4071938"/>
            <a:ext cx="64008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只需要较少的基分类器</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9" name="椭圆 18"/>
          <p:cNvSpPr>
            <a:spLocks noChangeAspect="1"/>
          </p:cNvSpPr>
          <p:nvPr>
            <p:custDataLst>
              <p:tags r:id="rId8"/>
            </p:custDataLst>
          </p:nvPr>
        </p:nvSpPr>
        <p:spPr>
          <a:xfrm>
            <a:off x="2588320" y="4983354"/>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D</a:t>
            </a:r>
            <a:endParaRPr lang="zh-CN" altLang="en-US"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0" name="TextBox 3"/>
          <p:cNvSpPr txBox="1"/>
          <p:nvPr>
            <p:custDataLst>
              <p:tags r:id="rId9"/>
            </p:custDataLst>
          </p:nvPr>
        </p:nvSpPr>
        <p:spPr>
          <a:xfrm>
            <a:off x="3302695" y="4929188"/>
            <a:ext cx="64008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通过有放回采样获取每个模型的样本集合</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1" name="椭圆 20"/>
          <p:cNvSpPr>
            <a:spLocks noChangeAspect="1"/>
          </p:cNvSpPr>
          <p:nvPr>
            <p:custDataLst>
              <p:tags r:id="rId10"/>
            </p:custDataLst>
          </p:nvPr>
        </p:nvSpPr>
        <p:spPr>
          <a:xfrm>
            <a:off x="2588320" y="2390807"/>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A</a:t>
            </a:r>
            <a:endParaRPr lang="zh-CN" altLang="en-US"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17" name="组合 16"/>
          <p:cNvGrpSpPr/>
          <p:nvPr>
            <p:custDataLst>
              <p:tags r:id="rId11"/>
            </p:custDataLst>
          </p:nvPr>
        </p:nvGrpSpPr>
        <p:grpSpPr>
          <a:xfrm>
            <a:off x="0" y="0"/>
            <a:ext cx="9144000" cy="635000"/>
            <a:chOff x="-1524000" y="0"/>
            <a:chExt cx="9144000" cy="635000"/>
          </a:xfrm>
        </p:grpSpPr>
        <p:sp>
          <p:nvSpPr>
            <p:cNvPr id="13" name="TitleBackground"/>
            <p:cNvSpPr/>
            <p:nvPr>
              <p:custDataLst>
                <p:tags r:id="rId12"/>
              </p:custDataLst>
            </p:nvPr>
          </p:nvSpPr>
          <p:spPr>
            <a:xfrm>
              <a:off x="-152400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3"/>
              </p:custDataLst>
            </p:nvPr>
          </p:nvSpPr>
          <p:spPr>
            <a:xfrm>
              <a:off x="-152400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4"/>
              </p:custDataLst>
            </p:nvPr>
          </p:nvSpPr>
          <p:spPr>
            <a:xfrm>
              <a:off x="-1270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6" name="TipText"/>
            <p:cNvSpPr txBox="1"/>
            <p:nvPr>
              <p:custDataLst>
                <p:tags r:id="rId15"/>
              </p:custDataLst>
            </p:nvPr>
          </p:nvSpPr>
          <p:spPr>
            <a:xfrm>
              <a:off x="1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endPar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pic>
        <p:nvPicPr>
          <p:cNvPr id="2" name="图片 1"/>
          <p:cNvPicPr/>
          <p:nvPr>
            <p:custDataLst>
              <p:tags r:id="rId16"/>
            </p:custDataLst>
          </p:nvPr>
        </p:nvPicPr>
        <p:blipFill>
          <a:blip r:embed="rId17">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8"/>
    </p:custData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FF206FCC-0CBB-4DF4-89C1-3C9DB4B6E776}" type="slidenum">
              <a:rPr lang="zh-CN" altLang="en-US" smtClean="0"/>
            </a:fld>
            <a:r>
              <a:rPr lang="zh-CN" altLang="en-US"/>
              <a:t>   </a:t>
            </a:r>
            <a:endParaRPr lang="zh-CN" altLang="en-US" dirty="0"/>
          </a:p>
        </p:txBody>
      </p:sp>
      <p:sp>
        <p:nvSpPr>
          <p:cNvPr id="5" name="内容占位符 1"/>
          <p:cNvSpPr>
            <a:spLocks noGrp="1"/>
          </p:cNvSpPr>
          <p:nvPr>
            <p:ph idx="1"/>
          </p:nvPr>
        </p:nvSpPr>
        <p:spPr>
          <a:xfrm>
            <a:off x="252594" y="1415611"/>
            <a:ext cx="10621559" cy="5123039"/>
          </a:xfrm>
        </p:spPr>
        <p:txBody>
          <a:bodyPr>
            <a:noAutofit/>
          </a:bodyPr>
          <a:lstStyle/>
          <a:p>
            <a:pPr marL="360045" indent="0" fontAlgn="auto">
              <a:buNone/>
            </a:pPr>
            <a:r>
              <a:rPr lang="zh-CN" altLang="en-US" b="1" kern="1000" dirty="0">
                <a:solidFill>
                  <a:srgbClr val="000000"/>
                </a:solidFill>
                <a:cs typeface="Times New Roman" panose="02020603050405020304" pitchFamily="18" charset="0"/>
              </a:rPr>
              <a:t>随机森林（</a:t>
            </a:r>
            <a:r>
              <a:rPr lang="en-US" altLang="zh-CN" b="1" kern="1000" dirty="0">
                <a:solidFill>
                  <a:srgbClr val="000000"/>
                </a:solidFill>
                <a:cs typeface="Times New Roman" panose="02020603050405020304" pitchFamily="18" charset="0"/>
              </a:rPr>
              <a:t>Random Forest, RF</a:t>
            </a:r>
            <a:r>
              <a:rPr lang="zh-CN" altLang="en-US" b="1" kern="1000" dirty="0">
                <a:solidFill>
                  <a:srgbClr val="000000"/>
                </a:solidFill>
                <a:cs typeface="Times New Roman" panose="02020603050405020304" pitchFamily="18" charset="0"/>
              </a:rPr>
              <a:t>）基于</a:t>
            </a:r>
            <a:r>
              <a:rPr lang="en-US" altLang="zh-CN" b="1" kern="1000" dirty="0">
                <a:solidFill>
                  <a:srgbClr val="000000"/>
                </a:solidFill>
                <a:cs typeface="Times New Roman" panose="02020603050405020304" pitchFamily="18" charset="0"/>
              </a:rPr>
              <a:t>Bagging</a:t>
            </a:r>
            <a:r>
              <a:rPr lang="zh-CN" altLang="en-US" b="1" kern="1000" dirty="0">
                <a:solidFill>
                  <a:srgbClr val="000000"/>
                </a:solidFill>
                <a:cs typeface="Times New Roman" panose="02020603050405020304" pitchFamily="18" charset="0"/>
              </a:rPr>
              <a:t>框架设计的一种集成学习算法。随机森林以决策树为基分类器进行集成，进一步在决策树训练过程中引入随机选择数据特征的方法。因为构建过程中的这种随机性而得名。</a:t>
            </a:r>
            <a:endParaRPr lang="en-US" altLang="zh-CN" sz="600" b="1" dirty="0">
              <a:solidFill>
                <a:schemeClr val="tx1">
                  <a:lumMod val="75000"/>
                  <a:lumOff val="25000"/>
                </a:schemeClr>
              </a:solidFill>
            </a:endParaRPr>
          </a:p>
        </p:txBody>
      </p:sp>
      <p:sp>
        <p:nvSpPr>
          <p:cNvPr id="6" name="标题 3"/>
          <p:cNvSpPr>
            <a:spLocks noGrp="1"/>
          </p:cNvSpPr>
          <p:nvPr>
            <p:ph type="title"/>
          </p:nvPr>
        </p:nvSpPr>
        <p:spPr>
          <a:xfrm>
            <a:off x="252594" y="348149"/>
            <a:ext cx="4776874" cy="606839"/>
          </a:xfrm>
          <a:solidFill>
            <a:srgbClr val="00B0F0"/>
          </a:solidFill>
        </p:spPr>
        <p:txBody>
          <a:bodyPr/>
          <a:lstStyle/>
          <a:p>
            <a:pPr algn="just"/>
            <a:r>
              <a:rPr lang="zh-CN" altLang="en-US" sz="3200" dirty="0">
                <a:solidFill>
                  <a:srgbClr val="FFFF00"/>
                </a:solidFill>
              </a:rPr>
              <a:t>随机森林</a:t>
            </a:r>
            <a:endParaRPr lang="en-US" altLang="zh-CN" sz="3200" dirty="0">
              <a:solidFill>
                <a:srgbClr val="FFFF00"/>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FF206FCC-0CBB-4DF4-89C1-3C9DB4B6E776}" type="slidenum">
              <a:rPr lang="zh-CN" altLang="en-US" smtClean="0"/>
            </a:fld>
            <a:r>
              <a:rPr lang="zh-CN" altLang="en-US"/>
              <a:t>   </a:t>
            </a:r>
            <a:endParaRPr lang="zh-CN" altLang="en-US" dirty="0"/>
          </a:p>
        </p:txBody>
      </p:sp>
      <mc:AlternateContent xmlns:mc="http://schemas.openxmlformats.org/markup-compatibility/2006">
        <mc:Choice xmlns:a14="http://schemas.microsoft.com/office/drawing/2010/main" Requires="a14">
          <p:sp>
            <p:nvSpPr>
              <p:cNvPr id="5" name="内容占位符 1"/>
              <p:cNvSpPr>
                <a:spLocks noGrp="1"/>
              </p:cNvSpPr>
              <p:nvPr>
                <p:ph idx="1"/>
              </p:nvPr>
            </p:nvSpPr>
            <p:spPr>
              <a:xfrm>
                <a:off x="401118" y="1589157"/>
                <a:ext cx="10237796" cy="5123039"/>
              </a:xfrm>
            </p:spPr>
            <p:txBody>
              <a:bodyPr>
                <a:noAutofit/>
              </a:bodyPr>
              <a:lstStyle/>
              <a:p>
                <a:pPr marL="360045" indent="0" fontAlgn="auto">
                  <a:buNone/>
                </a:pPr>
                <a:r>
                  <a:rPr lang="en-US" altLang="zh-CN" sz="1600" b="1" dirty="0">
                    <a:solidFill>
                      <a:schemeClr val="tx1">
                        <a:lumMod val="75000"/>
                        <a:lumOff val="25000"/>
                      </a:schemeClr>
                    </a:solidFill>
                  </a:rPr>
                  <a:t>1）</a:t>
                </a:r>
                <a:r>
                  <a:rPr lang="zh-CN" altLang="zh-CN" sz="1600" b="1" kern="1000" dirty="0">
                    <a:solidFill>
                      <a:srgbClr val="000000"/>
                    </a:solidFill>
                    <a:effectLst/>
                    <a:cs typeface="Times New Roman" panose="02020603050405020304" pitchFamily="18" charset="0"/>
                  </a:rPr>
                  <a:t>抽样产生每棵决策树的训练数据集。</a:t>
                </a:r>
                <a:r>
                  <a:rPr lang="zh-CN" altLang="zh-CN" sz="1600" kern="1000" dirty="0">
                    <a:solidFill>
                      <a:srgbClr val="000000"/>
                    </a:solidFill>
                    <a:effectLst/>
                    <a:cs typeface="Times New Roman" panose="02020603050405020304" pitchFamily="18" charset="0"/>
                  </a:rPr>
                  <a:t>随机森林从原始训练数据集中产生</a:t>
                </a:r>
                <a:r>
                  <a:rPr lang="en-US" altLang="zh-CN" sz="1600" i="1" kern="1000" dirty="0">
                    <a:solidFill>
                      <a:srgbClr val="000000"/>
                    </a:solidFill>
                    <a:effectLst/>
                  </a:rPr>
                  <a:t>n</a:t>
                </a:r>
                <a:r>
                  <a:rPr lang="zh-CN" altLang="zh-CN" sz="1600" kern="1000" dirty="0">
                    <a:solidFill>
                      <a:srgbClr val="000000"/>
                    </a:solidFill>
                    <a:effectLst/>
                    <a:cs typeface="Times New Roman" panose="02020603050405020304" pitchFamily="18" charset="0"/>
                  </a:rPr>
                  <a:t>个训练子集（假设要随机生成</a:t>
                </a:r>
                <a:r>
                  <a:rPr lang="en-US" altLang="zh-CN" sz="1600" i="1" kern="1000" dirty="0">
                    <a:solidFill>
                      <a:srgbClr val="000000"/>
                    </a:solidFill>
                    <a:effectLst/>
                  </a:rPr>
                  <a:t>n</a:t>
                </a:r>
                <a:r>
                  <a:rPr lang="zh-CN" altLang="zh-CN" sz="1600" kern="1000" dirty="0">
                    <a:solidFill>
                      <a:schemeClr val="tx1"/>
                    </a:solidFill>
                    <a:effectLst/>
                    <a:cs typeface="Times New Roman" panose="02020603050405020304" pitchFamily="18" charset="0"/>
                  </a:rPr>
                  <a:t>棵</a:t>
                </a:r>
                <a:r>
                  <a:rPr lang="zh-CN" altLang="zh-CN" sz="1600" kern="1000" dirty="0">
                    <a:solidFill>
                      <a:srgbClr val="000000"/>
                    </a:solidFill>
                    <a:effectLst/>
                    <a:cs typeface="Times New Roman" panose="02020603050405020304" pitchFamily="18" charset="0"/>
                  </a:rPr>
                  <a:t>决策树）。训练子集中的样本存在一定的重复，主要是为了在训练模型时，每一棵树的输入样本都不是全部的样本，使森林中的决策树不至于产生局部最优解。</a:t>
                </a:r>
                <a:endParaRPr lang="en-US" altLang="zh-CN" sz="1600" kern="1000" dirty="0">
                  <a:solidFill>
                    <a:srgbClr val="000000"/>
                  </a:solidFill>
                  <a:effectLst/>
                  <a:cs typeface="Times New Roman" panose="02020603050405020304" pitchFamily="18" charset="0"/>
                </a:endParaRPr>
              </a:p>
              <a:p>
                <a:pPr marL="360045" indent="0" fontAlgn="auto">
                  <a:buNone/>
                </a:pPr>
                <a:r>
                  <a:rPr lang="en-US" altLang="zh-CN" sz="1600" b="1" dirty="0">
                    <a:solidFill>
                      <a:schemeClr val="tx1">
                        <a:lumMod val="75000"/>
                        <a:lumOff val="25000"/>
                      </a:schemeClr>
                    </a:solidFill>
                  </a:rPr>
                  <a:t>2）</a:t>
                </a:r>
                <a:r>
                  <a:rPr lang="zh-CN" altLang="zh-CN" sz="1600" b="1" kern="1000" dirty="0">
                    <a:solidFill>
                      <a:srgbClr val="000000"/>
                    </a:solidFill>
                    <a:effectLst/>
                    <a:cs typeface="Times New Roman" panose="02020603050405020304" pitchFamily="18" charset="0"/>
                  </a:rPr>
                  <a:t>构建</a:t>
                </a:r>
                <a:r>
                  <a:rPr lang="en-US" altLang="zh-CN" sz="1600" b="1" i="1" kern="1000" dirty="0">
                    <a:solidFill>
                      <a:srgbClr val="000000"/>
                    </a:solidFill>
                    <a:effectLst/>
                  </a:rPr>
                  <a:t>n</a:t>
                </a:r>
                <a:r>
                  <a:rPr lang="zh-CN" altLang="zh-CN" sz="1600" b="1" kern="1000" dirty="0">
                    <a:solidFill>
                      <a:schemeClr val="tx1"/>
                    </a:solidFill>
                    <a:effectLst/>
                    <a:cs typeface="Times New Roman" panose="02020603050405020304" pitchFamily="18" charset="0"/>
                  </a:rPr>
                  <a:t>棵</a:t>
                </a:r>
                <a:r>
                  <a:rPr lang="zh-CN" altLang="zh-CN" sz="1600" b="1" kern="1000" dirty="0">
                    <a:solidFill>
                      <a:srgbClr val="000000"/>
                    </a:solidFill>
                    <a:effectLst/>
                    <a:cs typeface="Times New Roman" panose="02020603050405020304" pitchFamily="18" charset="0"/>
                  </a:rPr>
                  <a:t>决策树（</a:t>
                </a:r>
                <a:r>
                  <a:rPr lang="zh-CN" altLang="zh-CN" sz="1600" b="1" kern="1000" dirty="0">
                    <a:solidFill>
                      <a:schemeClr val="tx1"/>
                    </a:solidFill>
                    <a:effectLst/>
                    <a:cs typeface="Times New Roman" panose="02020603050405020304" pitchFamily="18" charset="0"/>
                  </a:rPr>
                  <a:t>基</a:t>
                </a:r>
                <a:r>
                  <a:rPr lang="zh-CN" altLang="zh-CN" sz="1600" b="1" kern="1000" dirty="0">
                    <a:solidFill>
                      <a:srgbClr val="000000"/>
                    </a:solidFill>
                    <a:effectLst/>
                    <a:cs typeface="Times New Roman" panose="02020603050405020304" pitchFamily="18" charset="0"/>
                  </a:rPr>
                  <a:t>学习器）</a:t>
                </a:r>
                <a:r>
                  <a:rPr lang="zh-CN" altLang="zh-CN" sz="1600" kern="1000" dirty="0">
                    <a:solidFill>
                      <a:srgbClr val="000000"/>
                    </a:solidFill>
                    <a:effectLst/>
                    <a:cs typeface="Times New Roman" panose="02020603050405020304" pitchFamily="18" charset="0"/>
                  </a:rPr>
                  <a:t>。每一个训练子集生成一棵决策树，从而产生</a:t>
                </a:r>
                <a:r>
                  <a:rPr lang="en-US" altLang="zh-CN" sz="1600" i="1" kern="1000" dirty="0">
                    <a:solidFill>
                      <a:srgbClr val="000000"/>
                    </a:solidFill>
                    <a:effectLst/>
                  </a:rPr>
                  <a:t>n</a:t>
                </a:r>
                <a:r>
                  <a:rPr lang="zh-CN" altLang="zh-CN" sz="1600" kern="1000" dirty="0">
                    <a:solidFill>
                      <a:schemeClr val="tx1"/>
                    </a:solidFill>
                    <a:effectLst/>
                    <a:cs typeface="Times New Roman" panose="02020603050405020304" pitchFamily="18" charset="0"/>
                  </a:rPr>
                  <a:t>棵</a:t>
                </a:r>
                <a:r>
                  <a:rPr lang="zh-CN" altLang="zh-CN" sz="1600" kern="1000" dirty="0">
                    <a:solidFill>
                      <a:srgbClr val="000000"/>
                    </a:solidFill>
                    <a:effectLst/>
                    <a:cs typeface="Times New Roman" panose="02020603050405020304" pitchFamily="18" charset="0"/>
                  </a:rPr>
                  <a:t>决策树组成的森林，每棵决策树不需要剪枝处理。由于随机森林在进行结点分裂时，随机地选择</a:t>
                </a:r>
                <a:r>
                  <a:rPr lang="en-US" altLang="zh-CN" sz="1600" i="1" kern="1000" dirty="0">
                    <a:solidFill>
                      <a:srgbClr val="000000"/>
                    </a:solidFill>
                    <a:effectLst/>
                  </a:rPr>
                  <a:t>m</a:t>
                </a:r>
                <a:r>
                  <a:rPr lang="zh-CN" altLang="zh-CN" sz="1600" kern="1000" dirty="0">
                    <a:solidFill>
                      <a:srgbClr val="000000"/>
                    </a:solidFill>
                    <a:effectLst/>
                    <a:cs typeface="Times New Roman" panose="02020603050405020304" pitchFamily="18" charset="0"/>
                  </a:rPr>
                  <a:t>个特征（一般取</a:t>
                </a:r>
                <a14:m>
                  <m:oMath xmlns:m="http://schemas.openxmlformats.org/officeDocument/2006/math">
                    <m:r>
                      <a:rPr lang="en-US" altLang="zh-CN" sz="1600" i="1" kern="10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𝑚</m:t>
                    </m:r>
                    <m:r>
                      <a:rPr lang="en-US" altLang="zh-CN" sz="1600" i="1" kern="10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m:t>
                    </m:r>
                    <m:func>
                      <m:funcPr>
                        <m:ctrlPr>
                          <a:rPr lang="zh-CN" altLang="zh-CN" sz="1600" i="1">
                            <a:effectLst/>
                            <a:latin typeface="Cambria Math" panose="02040503050406030204" pitchFamily="18" charset="0"/>
                            <a:ea typeface="Cambria Math" panose="02040503050406030204" pitchFamily="18" charset="0"/>
                          </a:rPr>
                        </m:ctrlPr>
                      </m:funcPr>
                      <m:fName>
                        <m:sSub>
                          <m:sSubPr>
                            <m:ctrlPr>
                              <a:rPr lang="zh-CN" altLang="zh-CN" sz="1600" i="1">
                                <a:effectLst/>
                                <a:latin typeface="Cambria Math" panose="02040503050406030204" pitchFamily="18" charset="0"/>
                                <a:ea typeface="Cambria Math" panose="02040503050406030204" pitchFamily="18" charset="0"/>
                              </a:rPr>
                            </m:ctrlPr>
                          </m:sSubPr>
                          <m:e>
                            <m:r>
                              <a:rPr lang="en-US" altLang="zh-CN" sz="1600" i="1" kern="10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𝑙𝑜𝑔</m:t>
                            </m:r>
                          </m:e>
                          <m:sub>
                            <m:r>
                              <a:rPr lang="en-US" altLang="zh-CN" sz="1600" i="1" kern="10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2</m:t>
                            </m:r>
                          </m:sub>
                        </m:sSub>
                      </m:fName>
                      <m:e>
                        <m:r>
                          <a:rPr lang="en-US" altLang="zh-CN" sz="1600" i="1" kern="10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𝑀</m:t>
                        </m:r>
                      </m:e>
                    </m:func>
                    <m:r>
                      <a:rPr lang="en-US" altLang="zh-CN" sz="1600" i="1" kern="10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600" i="1" kern="10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𝑚</m:t>
                    </m:r>
                    <m:r>
                      <a:rPr lang="en-US" altLang="zh-CN" sz="1600" i="1" kern="10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600" i="1" kern="10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𝑀</m:t>
                    </m:r>
                  </m:oMath>
                </a14:m>
                <a:r>
                  <a:rPr lang="zh-CN" altLang="zh-CN" sz="1600" kern="1000" dirty="0">
                    <a:solidFill>
                      <a:srgbClr val="000000"/>
                    </a:solidFill>
                    <a:effectLst/>
                    <a:cs typeface="Times New Roman" panose="02020603050405020304" pitchFamily="18" charset="0"/>
                  </a:rPr>
                  <a:t>，其中</a:t>
                </a:r>
                <a:r>
                  <a:rPr lang="en-US" altLang="zh-CN" sz="1600" i="1" kern="1000" dirty="0">
                    <a:solidFill>
                      <a:srgbClr val="000000"/>
                    </a:solidFill>
                    <a:effectLst/>
                  </a:rPr>
                  <a:t>M</a:t>
                </a:r>
                <a:r>
                  <a:rPr lang="zh-CN" altLang="zh-CN" sz="1600" kern="1000" dirty="0">
                    <a:solidFill>
                      <a:srgbClr val="000000"/>
                    </a:solidFill>
                    <a:effectLst/>
                    <a:cs typeface="Times New Roman" panose="02020603050405020304" pitchFamily="18" charset="0"/>
                  </a:rPr>
                  <a:t>是数据集特征总数）参与比较，而不是像决策树将所有特征都参与特征指标的计算。这样减少了决策树之间的相关性，提升了决策树的分类精度，从而达到结点的随机性。</a:t>
                </a:r>
                <a:endParaRPr lang="en-US" altLang="zh-CN" sz="1600" dirty="0">
                  <a:solidFill>
                    <a:schemeClr val="tx1">
                      <a:lumMod val="75000"/>
                      <a:lumOff val="25000"/>
                    </a:schemeClr>
                  </a:solidFill>
                </a:endParaRPr>
              </a:p>
              <a:p>
                <a:pPr marL="360045" indent="0" fontAlgn="auto">
                  <a:buNone/>
                </a:pPr>
                <a:r>
                  <a:rPr lang="en-US" altLang="zh-CN" sz="1600" b="1" dirty="0">
                    <a:solidFill>
                      <a:schemeClr val="tx1">
                        <a:lumMod val="75000"/>
                        <a:lumOff val="25000"/>
                      </a:schemeClr>
                    </a:solidFill>
                  </a:rPr>
                  <a:t>3）</a:t>
                </a:r>
                <a:r>
                  <a:rPr lang="zh-CN" altLang="zh-CN" sz="1600" b="1" kern="1000" dirty="0">
                    <a:solidFill>
                      <a:srgbClr val="000000"/>
                    </a:solidFill>
                    <a:effectLst/>
                    <a:cs typeface="Times New Roman" panose="02020603050405020304" pitchFamily="18" charset="0"/>
                  </a:rPr>
                  <a:t>生成随机森林。</a:t>
                </a:r>
                <a:r>
                  <a:rPr lang="zh-CN" altLang="zh-CN" sz="1600" kern="1000" dirty="0">
                    <a:solidFill>
                      <a:srgbClr val="000000"/>
                    </a:solidFill>
                    <a:effectLst/>
                    <a:cs typeface="Times New Roman" panose="02020603050405020304" pitchFamily="18" charset="0"/>
                  </a:rPr>
                  <a:t>使用第</a:t>
                </a:r>
                <a:r>
                  <a:rPr lang="zh-CN" altLang="en-US" sz="1600" kern="1000" dirty="0">
                    <a:solidFill>
                      <a:srgbClr val="000000"/>
                    </a:solidFill>
                    <a:effectLst/>
                    <a:cs typeface="Times New Roman" panose="02020603050405020304" pitchFamily="18" charset="0"/>
                  </a:rPr>
                  <a:t>（</a:t>
                </a:r>
                <a:r>
                  <a:rPr lang="en-US" altLang="zh-CN" sz="1600" kern="1000" dirty="0">
                    <a:solidFill>
                      <a:srgbClr val="000000"/>
                    </a:solidFill>
                    <a:effectLst/>
                  </a:rPr>
                  <a:t>2</a:t>
                </a:r>
                <a:r>
                  <a:rPr lang="zh-CN" altLang="zh-CN" sz="1600" kern="1000" dirty="0">
                    <a:solidFill>
                      <a:srgbClr val="000000"/>
                    </a:solidFill>
                    <a:effectLst/>
                    <a:cs typeface="Times New Roman" panose="02020603050405020304" pitchFamily="18" charset="0"/>
                  </a:rPr>
                  <a:t>）步</a:t>
                </a:r>
                <a:r>
                  <a:rPr lang="en-US" altLang="zh-CN" sz="1600" i="1" kern="1000" dirty="0">
                    <a:solidFill>
                      <a:srgbClr val="000000"/>
                    </a:solidFill>
                    <a:effectLst/>
                  </a:rPr>
                  <a:t>n</a:t>
                </a:r>
                <a:r>
                  <a:rPr lang="zh-CN" altLang="zh-CN" sz="1600" kern="1000" dirty="0">
                    <a:solidFill>
                      <a:schemeClr val="tx1"/>
                    </a:solidFill>
                    <a:effectLst/>
                    <a:cs typeface="Times New Roman" panose="02020603050405020304" pitchFamily="18" charset="0"/>
                  </a:rPr>
                  <a:t>棵</a:t>
                </a:r>
                <a:r>
                  <a:rPr lang="zh-CN" altLang="zh-CN" sz="1600" kern="1000" dirty="0">
                    <a:solidFill>
                      <a:srgbClr val="000000"/>
                    </a:solidFill>
                    <a:effectLst/>
                    <a:cs typeface="Times New Roman" panose="02020603050405020304" pitchFamily="18" charset="0"/>
                  </a:rPr>
                  <a:t>决策树对测试样本进行分类，随机森林将每棵子树的结果汇总，以简单多数的原则决定该样本的类别。</a:t>
                </a:r>
                <a:endParaRPr lang="en-US" altLang="zh-CN" sz="1600" kern="1000" dirty="0">
                  <a:solidFill>
                    <a:srgbClr val="000000"/>
                  </a:solidFill>
                  <a:effectLst/>
                  <a:cs typeface="Times New Roman" panose="02020603050405020304" pitchFamily="18" charset="0"/>
                </a:endParaRPr>
              </a:p>
              <a:p>
                <a:pPr marL="360045" indent="0" fontAlgn="auto">
                  <a:buNone/>
                </a:pPr>
                <a:r>
                  <a:rPr lang="en-US" altLang="zh-CN" sz="1600" kern="1000" dirty="0">
                    <a:solidFill>
                      <a:srgbClr val="000000"/>
                    </a:solidFill>
                    <a:effectLst/>
                    <a:cs typeface="Times New Roman" panose="02020603050405020304" pitchFamily="18" charset="0"/>
                  </a:rPr>
                  <a:t>     </a:t>
                </a:r>
                <a:r>
                  <a:rPr lang="zh-CN" altLang="zh-CN" sz="1600" kern="1000" dirty="0">
                    <a:solidFill>
                      <a:srgbClr val="000000"/>
                    </a:solidFill>
                    <a:effectLst/>
                    <a:cs typeface="Times New Roman" panose="02020603050405020304" pitchFamily="18" charset="0"/>
                  </a:rPr>
                  <a:t>由于从原始训练集中随机产生</a:t>
                </a:r>
                <a:r>
                  <a:rPr lang="en-US" altLang="zh-CN" sz="1600" i="1" kern="1000" dirty="0">
                    <a:solidFill>
                      <a:srgbClr val="000000"/>
                    </a:solidFill>
                    <a:effectLst/>
                  </a:rPr>
                  <a:t>n</a:t>
                </a:r>
                <a:r>
                  <a:rPr lang="zh-CN" altLang="zh-CN" sz="1600" kern="1000" dirty="0">
                    <a:solidFill>
                      <a:srgbClr val="000000"/>
                    </a:solidFill>
                    <a:effectLst/>
                    <a:cs typeface="Times New Roman" panose="02020603050405020304" pitchFamily="18" charset="0"/>
                  </a:rPr>
                  <a:t>个训练子集用于随机生成</a:t>
                </a:r>
                <a:r>
                  <a:rPr lang="en-US" altLang="zh-CN" sz="1600" i="1" kern="1000" dirty="0">
                    <a:solidFill>
                      <a:srgbClr val="000000"/>
                    </a:solidFill>
                    <a:effectLst/>
                  </a:rPr>
                  <a:t>n</a:t>
                </a:r>
                <a:r>
                  <a:rPr lang="zh-CN" altLang="zh-CN" sz="1600" kern="1000" dirty="0">
                    <a:solidFill>
                      <a:schemeClr val="tx1"/>
                    </a:solidFill>
                    <a:effectLst/>
                    <a:cs typeface="Times New Roman" panose="02020603050405020304" pitchFamily="18" charset="0"/>
                  </a:rPr>
                  <a:t>棵</a:t>
                </a:r>
                <a:r>
                  <a:rPr lang="zh-CN" altLang="zh-CN" sz="1600" kern="1000" dirty="0">
                    <a:solidFill>
                      <a:srgbClr val="000000"/>
                    </a:solidFill>
                    <a:effectLst/>
                    <a:cs typeface="Times New Roman" panose="02020603050405020304" pitchFamily="18" charset="0"/>
                  </a:rPr>
                  <a:t>决策树，且在构建具体的决策树过程中随机地选择</a:t>
                </a:r>
                <a:r>
                  <a:rPr lang="en-US" altLang="zh-CN" sz="1600" i="1" kern="1000" dirty="0">
                    <a:solidFill>
                      <a:srgbClr val="000000"/>
                    </a:solidFill>
                    <a:effectLst/>
                  </a:rPr>
                  <a:t>m</a:t>
                </a:r>
                <a:r>
                  <a:rPr lang="zh-CN" altLang="zh-CN" sz="1600" kern="1000" dirty="0">
                    <a:solidFill>
                      <a:srgbClr val="000000"/>
                    </a:solidFill>
                    <a:effectLst/>
                    <a:cs typeface="Times New Roman" panose="02020603050405020304" pitchFamily="18" charset="0"/>
                  </a:rPr>
                  <a:t>个属性，随机森林的这两个随机性设置可以很大程度上降低过拟合出现的概率。虽然随机森林中的每一棵树分类的能力都很弱，但是多棵树组合起来就变得十分强大</a:t>
                </a:r>
                <a:r>
                  <a:rPr lang="zh-CN" altLang="en-US" sz="1400" kern="1000" dirty="0">
                    <a:solidFill>
                      <a:srgbClr val="000000"/>
                    </a:solidFill>
                    <a:effectLst/>
                    <a:cs typeface="Times New Roman" panose="02020603050405020304" pitchFamily="18" charset="0"/>
                  </a:rPr>
                  <a:t>。</a:t>
                </a:r>
                <a:endParaRPr lang="en-US" altLang="zh-CN" sz="1400" dirty="0">
                  <a:solidFill>
                    <a:schemeClr val="tx1">
                      <a:lumMod val="75000"/>
                      <a:lumOff val="25000"/>
                    </a:schemeClr>
                  </a:solidFill>
                </a:endParaRPr>
              </a:p>
            </p:txBody>
          </p:sp>
        </mc:Choice>
        <mc:Fallback>
          <p:sp>
            <p:nvSpPr>
              <p:cNvPr id="5" name="内容占位符 1"/>
              <p:cNvSpPr>
                <a:spLocks noRot="1" noChangeAspect="1" noMove="1" noResize="1" noEditPoints="1" noAdjustHandles="1" noChangeArrowheads="1" noChangeShapeType="1" noTextEdit="1"/>
              </p:cNvSpPr>
              <p:nvPr>
                <p:ph idx="1"/>
              </p:nvPr>
            </p:nvSpPr>
            <p:spPr>
              <a:xfrm>
                <a:off x="401118" y="1589157"/>
                <a:ext cx="10237796" cy="5123039"/>
              </a:xfrm>
              <a:blipFill rotWithShape="1">
                <a:blip r:embed="rId1"/>
                <a:stretch>
                  <a:fillRect l="-4" t="-8" r="-743" b="5"/>
                </a:stretch>
              </a:blipFill>
            </p:spPr>
            <p:txBody>
              <a:bodyPr/>
              <a:lstStyle/>
              <a:p>
                <a:r>
                  <a:rPr lang="zh-CN" altLang="en-US">
                    <a:noFill/>
                  </a:rPr>
                  <a:t> </a:t>
                </a:r>
              </a:p>
            </p:txBody>
          </p:sp>
        </mc:Fallback>
      </mc:AlternateContent>
      <p:sp>
        <p:nvSpPr>
          <p:cNvPr id="6" name="标题 3"/>
          <p:cNvSpPr>
            <a:spLocks noGrp="1"/>
          </p:cNvSpPr>
          <p:nvPr>
            <p:ph type="title"/>
          </p:nvPr>
        </p:nvSpPr>
        <p:spPr>
          <a:xfrm>
            <a:off x="252594" y="348149"/>
            <a:ext cx="4776874" cy="606839"/>
          </a:xfrm>
          <a:solidFill>
            <a:srgbClr val="00B0F0"/>
          </a:solidFill>
        </p:spPr>
        <p:txBody>
          <a:bodyPr/>
          <a:lstStyle/>
          <a:p>
            <a:pPr algn="just"/>
            <a:r>
              <a:rPr lang="zh-CN" altLang="en-US" sz="3200" dirty="0">
                <a:solidFill>
                  <a:srgbClr val="FFFF00"/>
                </a:solidFill>
              </a:rPr>
              <a:t>随机森林</a:t>
            </a:r>
            <a:endParaRPr lang="en-US" altLang="zh-CN" sz="3200" dirty="0">
              <a:solidFill>
                <a:srgbClr val="FFFF00"/>
              </a:solidFill>
            </a:endParaRPr>
          </a:p>
        </p:txBody>
      </p:sp>
      <p:sp>
        <p:nvSpPr>
          <p:cNvPr id="2" name="矩形 1"/>
          <p:cNvSpPr/>
          <p:nvPr/>
        </p:nvSpPr>
        <p:spPr>
          <a:xfrm>
            <a:off x="487864" y="1041240"/>
            <a:ext cx="1415772" cy="461665"/>
          </a:xfrm>
          <a:prstGeom prst="rect">
            <a:avLst/>
          </a:prstGeom>
        </p:spPr>
        <p:txBody>
          <a:bodyPr wrap="none">
            <a:spAutoFit/>
          </a:bodyPr>
          <a:lstStyle/>
          <a:p>
            <a:r>
              <a:rPr lang="zh-CN" altLang="en-US" sz="2400" b="1" dirty="0"/>
              <a:t>算法原理</a:t>
            </a:r>
            <a:endParaRPr lang="zh-CN" altLang="en-US" sz="2400" b="1"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FF206FCC-0CBB-4DF4-89C1-3C9DB4B6E776}" type="slidenum">
              <a:rPr lang="zh-CN" altLang="en-US" smtClean="0"/>
            </a:fld>
            <a:r>
              <a:rPr lang="zh-CN" altLang="en-US"/>
              <a:t>   </a:t>
            </a:r>
            <a:endParaRPr lang="zh-CN" altLang="en-US" dirty="0"/>
          </a:p>
        </p:txBody>
      </p:sp>
      <p:sp>
        <p:nvSpPr>
          <p:cNvPr id="4" name="标题 3"/>
          <p:cNvSpPr>
            <a:spLocks noGrp="1"/>
          </p:cNvSpPr>
          <p:nvPr>
            <p:ph type="title"/>
          </p:nvPr>
        </p:nvSpPr>
        <p:spPr/>
        <p:txBody>
          <a:bodyPr/>
          <a:lstStyle/>
          <a:p>
            <a:pPr algn="just"/>
            <a:r>
              <a:rPr lang="zh-CN" altLang="en-US" dirty="0"/>
              <a:t>实现及参数</a:t>
            </a:r>
            <a:endParaRPr lang="en-US" altLang="zh-CN" dirty="0"/>
          </a:p>
        </p:txBody>
      </p:sp>
      <p:sp>
        <p:nvSpPr>
          <p:cNvPr id="5" name="内容占位符 1"/>
          <p:cNvSpPr>
            <a:spLocks noGrp="1"/>
          </p:cNvSpPr>
          <p:nvPr>
            <p:ph idx="1"/>
          </p:nvPr>
        </p:nvSpPr>
        <p:spPr>
          <a:xfrm>
            <a:off x="342927" y="1468877"/>
            <a:ext cx="11560897" cy="4463972"/>
          </a:xfrm>
        </p:spPr>
        <p:txBody>
          <a:bodyPr>
            <a:normAutofit/>
          </a:bodyPr>
          <a:lstStyle/>
          <a:p>
            <a:pPr marL="0" indent="0"/>
            <a:r>
              <a:rPr kumimoji="1" lang="en-US" altLang="zh-CN" sz="1900" dirty="0"/>
              <a:t>  </a:t>
            </a:r>
            <a:r>
              <a:rPr lang="en-US" altLang="zh-CN" kern="1000" dirty="0">
                <a:solidFill>
                  <a:schemeClr val="tx1"/>
                </a:solidFill>
                <a:effectLst/>
              </a:rPr>
              <a:t>Scikit</a:t>
            </a:r>
            <a:r>
              <a:rPr lang="en-US" altLang="zh-CN" kern="1000" dirty="0">
                <a:solidFill>
                  <a:srgbClr val="000000"/>
                </a:solidFill>
                <a:effectLst/>
              </a:rPr>
              <a:t>-learn</a:t>
            </a:r>
            <a:r>
              <a:rPr lang="zh-CN" altLang="zh-CN" kern="1000" dirty="0">
                <a:solidFill>
                  <a:srgbClr val="000000"/>
                </a:solidFill>
                <a:effectLst/>
                <a:cs typeface="Times New Roman" panose="02020603050405020304" pitchFamily="18" charset="0"/>
              </a:rPr>
              <a:t>中提供了随机森林分类器，其函数原型如下：</a:t>
            </a:r>
            <a:endParaRPr kumimoji="1" lang="en-US" altLang="zh-CN" dirty="0"/>
          </a:p>
          <a:p>
            <a:pPr marL="457200" lvl="1" indent="0">
              <a:buNone/>
            </a:pPr>
            <a:r>
              <a:rPr lang="en-US" altLang="zh-CN" kern="1000" dirty="0" err="1">
                <a:solidFill>
                  <a:schemeClr val="tx1"/>
                </a:solidFill>
                <a:effectLst/>
              </a:rPr>
              <a:t>sklearn</a:t>
            </a:r>
            <a:r>
              <a:rPr lang="en-US" altLang="zh-CN" kern="1000" dirty="0" err="1">
                <a:solidFill>
                  <a:srgbClr val="000000"/>
                </a:solidFill>
                <a:effectLst/>
              </a:rPr>
              <a:t>.ensemble.RandomForestClassifier</a:t>
            </a:r>
            <a:r>
              <a:rPr lang="en-US" altLang="zh-CN" kern="1000" dirty="0">
                <a:solidFill>
                  <a:srgbClr val="000000"/>
                </a:solidFill>
                <a:effectLst/>
              </a:rPr>
              <a:t>(</a:t>
            </a:r>
            <a:r>
              <a:rPr lang="en-US" altLang="zh-CN" kern="1000" dirty="0" err="1">
                <a:solidFill>
                  <a:srgbClr val="000000"/>
                </a:solidFill>
                <a:effectLst/>
              </a:rPr>
              <a:t>n_estimators</a:t>
            </a:r>
            <a:r>
              <a:rPr lang="en-US" altLang="zh-CN" kern="1000" dirty="0">
                <a:solidFill>
                  <a:srgbClr val="000000"/>
                </a:solidFill>
                <a:effectLst/>
              </a:rPr>
              <a:t>=10,criterion='</a:t>
            </a:r>
            <a:r>
              <a:rPr lang="en-US" altLang="zh-CN" kern="1000" dirty="0" err="1">
                <a:solidFill>
                  <a:schemeClr val="tx1"/>
                </a:solidFill>
                <a:effectLst/>
              </a:rPr>
              <a:t>gini</a:t>
            </a:r>
            <a:r>
              <a:rPr lang="en-US" altLang="zh-CN" kern="1000" dirty="0">
                <a:solidFill>
                  <a:srgbClr val="000000"/>
                </a:solidFill>
                <a:effectLst/>
              </a:rPr>
              <a:t>',</a:t>
            </a:r>
            <a:r>
              <a:rPr lang="en-US" altLang="zh-CN" kern="1000" dirty="0" err="1">
                <a:solidFill>
                  <a:srgbClr val="000000"/>
                </a:solidFill>
                <a:effectLst/>
              </a:rPr>
              <a:t>max_depth</a:t>
            </a:r>
            <a:r>
              <a:rPr lang="en-US" altLang="zh-CN" kern="1000" dirty="0">
                <a:solidFill>
                  <a:srgbClr val="000000"/>
                </a:solidFill>
                <a:effectLst/>
              </a:rPr>
              <a:t>=</a:t>
            </a:r>
            <a:r>
              <a:rPr lang="en-US" altLang="zh-CN" kern="1000" dirty="0" err="1">
                <a:solidFill>
                  <a:srgbClr val="000000"/>
                </a:solidFill>
                <a:effectLst/>
              </a:rPr>
              <a:t>None,min_samples_split</a:t>
            </a:r>
            <a:r>
              <a:rPr lang="en-US" altLang="zh-CN" kern="1000" dirty="0">
                <a:solidFill>
                  <a:srgbClr val="000000"/>
                </a:solidFill>
                <a:effectLst/>
              </a:rPr>
              <a:t>=2,min_samples_leaf=1,min_weight_fraction_leaf=0.0,max_features='auto',</a:t>
            </a:r>
            <a:r>
              <a:rPr lang="en-US" altLang="zh-CN" kern="1000" dirty="0" err="1">
                <a:solidFill>
                  <a:srgbClr val="000000"/>
                </a:solidFill>
                <a:effectLst/>
              </a:rPr>
              <a:t>max_leaf_nodes</a:t>
            </a:r>
            <a:r>
              <a:rPr lang="en-US" altLang="zh-CN" kern="1000" dirty="0">
                <a:solidFill>
                  <a:srgbClr val="000000"/>
                </a:solidFill>
                <a:effectLst/>
              </a:rPr>
              <a:t>=</a:t>
            </a:r>
            <a:r>
              <a:rPr lang="en-US" altLang="zh-CN" kern="1000" dirty="0" err="1">
                <a:solidFill>
                  <a:srgbClr val="000000"/>
                </a:solidFill>
                <a:effectLst/>
              </a:rPr>
              <a:t>None,bootstrap</a:t>
            </a:r>
            <a:r>
              <a:rPr lang="en-US" altLang="zh-CN" kern="1000" dirty="0">
                <a:solidFill>
                  <a:srgbClr val="000000"/>
                </a:solidFill>
                <a:effectLst/>
              </a:rPr>
              <a:t>=</a:t>
            </a:r>
            <a:r>
              <a:rPr lang="en-US" altLang="zh-CN" kern="1000" dirty="0" err="1">
                <a:solidFill>
                  <a:srgbClr val="000000"/>
                </a:solidFill>
                <a:effectLst/>
              </a:rPr>
              <a:t>True,oob_score</a:t>
            </a:r>
            <a:r>
              <a:rPr lang="en-US" altLang="zh-CN" kern="1000" dirty="0">
                <a:solidFill>
                  <a:srgbClr val="000000"/>
                </a:solidFill>
                <a:effectLst/>
              </a:rPr>
              <a:t>=</a:t>
            </a:r>
            <a:r>
              <a:rPr lang="en-US" altLang="zh-CN" kern="1000" dirty="0" err="1">
                <a:solidFill>
                  <a:srgbClr val="000000"/>
                </a:solidFill>
                <a:effectLst/>
              </a:rPr>
              <a:t>False,n_jobs</a:t>
            </a:r>
            <a:r>
              <a:rPr lang="en-US" altLang="zh-CN" kern="1000" dirty="0">
                <a:solidFill>
                  <a:srgbClr val="000000"/>
                </a:solidFill>
                <a:effectLst/>
              </a:rPr>
              <a:t>=1,random_state=</a:t>
            </a:r>
            <a:r>
              <a:rPr lang="en-US" altLang="zh-CN" kern="1000" dirty="0" err="1">
                <a:solidFill>
                  <a:srgbClr val="000000"/>
                </a:solidFill>
                <a:effectLst/>
              </a:rPr>
              <a:t>None,verbose</a:t>
            </a:r>
            <a:r>
              <a:rPr lang="en-US" altLang="zh-CN" kern="1000" dirty="0">
                <a:solidFill>
                  <a:srgbClr val="000000"/>
                </a:solidFill>
                <a:effectLst/>
              </a:rPr>
              <a:t>=0,warm_start=False)</a:t>
            </a:r>
            <a:endParaRPr lang="en-US" altLang="zh-CN" kern="1000" dirty="0">
              <a:solidFill>
                <a:srgbClr val="000000"/>
              </a:solidFill>
              <a:effectLst/>
            </a:endParaRPr>
          </a:p>
          <a:p>
            <a:pPr marL="457200" lvl="1" indent="0">
              <a:buNone/>
            </a:pPr>
            <a:r>
              <a:rPr kumimoji="1" lang="en-US" altLang="zh-CN" dirty="0"/>
              <a:t> </a:t>
            </a:r>
            <a:endParaRPr kumimoji="1" lang="zh-CN" altLang="en-US" dirty="0"/>
          </a:p>
          <a:p>
            <a:pPr marL="0" indent="0">
              <a:buNone/>
            </a:pPr>
            <a:endParaRPr kumimoji="1" lang="zh-CN" altLang="en-US" dirty="0"/>
          </a:p>
        </p:txBody>
      </p:sp>
      <p:sp>
        <p:nvSpPr>
          <p:cNvPr id="100" name="文本框 99"/>
          <p:cNvSpPr txBox="1"/>
          <p:nvPr/>
        </p:nvSpPr>
        <p:spPr>
          <a:xfrm>
            <a:off x="1344930" y="5755005"/>
            <a:ext cx="4013200" cy="337185"/>
          </a:xfrm>
          <a:prstGeom prst="rect">
            <a:avLst/>
          </a:prstGeom>
          <a:noFill/>
          <a:ln w="9525">
            <a:noFill/>
          </a:ln>
        </p:spPr>
        <p:txBody>
          <a:bodyPr wrap="square">
            <a:spAutoFit/>
          </a:bodyPr>
          <a:lstStyle/>
          <a:p>
            <a:pPr indent="0" algn="ctr"/>
            <a:r>
              <a:rPr lang="en-US" sz="1600" b="0" dirty="0">
                <a:solidFill>
                  <a:srgbClr val="000000"/>
                </a:solidFill>
                <a:latin typeface="宋体" panose="02010600030101010101" pitchFamily="2" charset="-122"/>
              </a:rPr>
              <a:t>        </a:t>
            </a:r>
            <a:r>
              <a:rPr lang="en-US" sz="1600" b="0" dirty="0">
                <a:solidFill>
                  <a:srgbClr val="000000"/>
                </a:solidFill>
                <a:latin typeface="Calibri" panose="020F0502020204030204" pitchFamily="34" charset="0"/>
              </a:rPr>
              <a:t>               </a:t>
            </a:r>
            <a:r>
              <a:rPr lang="en-US" sz="1600" b="0" dirty="0">
                <a:solidFill>
                  <a:srgbClr val="000000"/>
                </a:solidFill>
                <a:latin typeface="宋体" panose="02010600030101010101" pitchFamily="2" charset="-122"/>
              </a:rPr>
              <a:t>                                                                               </a:t>
            </a:r>
            <a:endParaRPr lang="zh-CN" altLang="en-US" sz="1600" dirty="0"/>
          </a:p>
        </p:txBody>
      </p:sp>
      <p:sp>
        <p:nvSpPr>
          <p:cNvPr id="9" name="文本框 8"/>
          <p:cNvSpPr txBox="1"/>
          <p:nvPr/>
        </p:nvSpPr>
        <p:spPr>
          <a:xfrm>
            <a:off x="3351530" y="6264075"/>
            <a:ext cx="5080000" cy="337185"/>
          </a:xfrm>
          <a:prstGeom prst="rect">
            <a:avLst/>
          </a:prstGeom>
          <a:noFill/>
          <a:ln w="9525">
            <a:noFill/>
          </a:ln>
        </p:spPr>
        <p:txBody>
          <a:bodyPr>
            <a:spAutoFit/>
          </a:bodyPr>
          <a:lstStyle/>
          <a:p>
            <a:pPr indent="0" algn="ctr"/>
            <a:endParaRPr lang="zh-CN" altLang="en-US" sz="1600" dirty="0"/>
          </a:p>
        </p:txBody>
      </p:sp>
      <p:sp>
        <p:nvSpPr>
          <p:cNvPr id="10" name="文本框 9"/>
          <p:cNvSpPr txBox="1"/>
          <p:nvPr/>
        </p:nvSpPr>
        <p:spPr>
          <a:xfrm>
            <a:off x="6097270" y="5674995"/>
            <a:ext cx="4013200" cy="337185"/>
          </a:xfrm>
          <a:prstGeom prst="rect">
            <a:avLst/>
          </a:prstGeom>
          <a:noFill/>
          <a:ln w="9525">
            <a:noFill/>
          </a:ln>
        </p:spPr>
        <p:txBody>
          <a:bodyPr wrap="square">
            <a:spAutoFit/>
          </a:bodyPr>
          <a:lstStyle/>
          <a:p>
            <a:pPr indent="0" algn="ctr"/>
            <a:r>
              <a:rPr lang="en-US" sz="1600" b="0" dirty="0">
                <a:solidFill>
                  <a:srgbClr val="000000"/>
                </a:solidFill>
                <a:latin typeface="宋体" panose="02010600030101010101" pitchFamily="2" charset="-122"/>
              </a:rPr>
              <a:t>        </a:t>
            </a:r>
            <a:r>
              <a:rPr lang="en-US" sz="1600" b="0" dirty="0">
                <a:solidFill>
                  <a:srgbClr val="000000"/>
                </a:solidFill>
                <a:latin typeface="Calibri" panose="020F0502020204030204" pitchFamily="34" charset="0"/>
              </a:rPr>
              <a:t>               </a:t>
            </a:r>
            <a:r>
              <a:rPr lang="en-US" sz="1600" b="0" dirty="0">
                <a:solidFill>
                  <a:srgbClr val="000000"/>
                </a:solidFill>
                <a:latin typeface="宋体" panose="02010600030101010101" pitchFamily="2" charset="-122"/>
              </a:rPr>
              <a:t>                                                                               </a:t>
            </a:r>
            <a:endParaRPr lang="zh-CN" altLang="en-US" sz="16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FF206FCC-0CBB-4DF4-89C1-3C9DB4B6E776}" type="slidenum">
              <a:rPr lang="zh-CN" altLang="en-US" smtClean="0"/>
            </a:fld>
            <a:r>
              <a:rPr lang="zh-CN" altLang="en-US"/>
              <a:t>   </a:t>
            </a:r>
            <a:endParaRPr lang="zh-CN" altLang="en-US" dirty="0"/>
          </a:p>
        </p:txBody>
      </p:sp>
      <p:sp>
        <p:nvSpPr>
          <p:cNvPr id="4" name="标题 3"/>
          <p:cNvSpPr>
            <a:spLocks noGrp="1"/>
          </p:cNvSpPr>
          <p:nvPr>
            <p:ph type="title"/>
          </p:nvPr>
        </p:nvSpPr>
        <p:spPr/>
        <p:txBody>
          <a:bodyPr/>
          <a:lstStyle/>
          <a:p>
            <a:pPr algn="just"/>
            <a:r>
              <a:rPr lang="zh-CN" altLang="en-US" dirty="0"/>
              <a:t>实现及参数</a:t>
            </a:r>
            <a:endParaRPr lang="en-US" altLang="zh-CN" dirty="0"/>
          </a:p>
        </p:txBody>
      </p:sp>
      <p:sp>
        <p:nvSpPr>
          <p:cNvPr id="5" name="内容占位符 1"/>
          <p:cNvSpPr>
            <a:spLocks noGrp="1"/>
          </p:cNvSpPr>
          <p:nvPr>
            <p:ph idx="1"/>
          </p:nvPr>
        </p:nvSpPr>
        <p:spPr>
          <a:xfrm>
            <a:off x="342928" y="1051134"/>
            <a:ext cx="10237796" cy="5503490"/>
          </a:xfrm>
        </p:spPr>
        <p:txBody>
          <a:bodyPr>
            <a:normAutofit/>
          </a:bodyPr>
          <a:lstStyle/>
          <a:p>
            <a:pPr marL="0" indent="0"/>
            <a:r>
              <a:rPr kumimoji="1" lang="en-US" altLang="zh-CN" dirty="0"/>
              <a:t>  </a:t>
            </a:r>
            <a:r>
              <a:rPr kumimoji="1" lang="zh-CN" altLang="en-US" dirty="0"/>
              <a:t>主要参数</a:t>
            </a:r>
            <a:r>
              <a:rPr lang="zh-CN" altLang="zh-CN" kern="1000" dirty="0">
                <a:solidFill>
                  <a:srgbClr val="000000"/>
                </a:solidFill>
                <a:effectLst/>
                <a:cs typeface="Times New Roman" panose="02020603050405020304" pitchFamily="18" charset="0"/>
              </a:rPr>
              <a:t>：</a:t>
            </a:r>
            <a:endParaRPr kumimoji="1" lang="en-US" altLang="zh-CN" dirty="0"/>
          </a:p>
          <a:p>
            <a:pPr marL="360045" indent="0" fontAlgn="auto">
              <a:buNone/>
            </a:pPr>
            <a:r>
              <a:rPr lang="en-US" altLang="zh-CN" sz="1600" dirty="0">
                <a:solidFill>
                  <a:schemeClr val="tx1">
                    <a:lumMod val="75000"/>
                    <a:lumOff val="25000"/>
                  </a:schemeClr>
                </a:solidFill>
              </a:rPr>
              <a:t>1）</a:t>
            </a:r>
            <a:r>
              <a:rPr lang="en-US" altLang="zh-CN" sz="1600" kern="1000" dirty="0">
                <a:solidFill>
                  <a:srgbClr val="000000"/>
                </a:solidFill>
                <a:effectLst/>
              </a:rPr>
              <a:t>n_estimators</a:t>
            </a:r>
            <a:r>
              <a:rPr lang="zh-CN" altLang="zh-CN" sz="1600" kern="1000" dirty="0">
                <a:solidFill>
                  <a:srgbClr val="000000"/>
                </a:solidFill>
                <a:effectLst/>
                <a:cs typeface="Times New Roman" panose="02020603050405020304" pitchFamily="18" charset="0"/>
              </a:rPr>
              <a:t>：随机森林中树的数量。数据类型为整型，若不指定该参数值，则自动使用默认参数值</a:t>
            </a:r>
            <a:r>
              <a:rPr lang="en-US" altLang="zh-CN" sz="1600" kern="1000" dirty="0">
                <a:solidFill>
                  <a:srgbClr val="000000"/>
                </a:solidFill>
                <a:effectLst/>
              </a:rPr>
              <a:t>10</a:t>
            </a:r>
            <a:r>
              <a:rPr lang="zh-CN" altLang="en-US" sz="1600" kern="1000" dirty="0">
                <a:solidFill>
                  <a:srgbClr val="000000"/>
                </a:solidFill>
                <a:effectLst/>
              </a:rPr>
              <a:t>。</a:t>
            </a:r>
            <a:endParaRPr lang="en-US" altLang="zh-CN" sz="1600" dirty="0">
              <a:solidFill>
                <a:schemeClr val="tx1">
                  <a:lumMod val="75000"/>
                  <a:lumOff val="25000"/>
                </a:schemeClr>
              </a:solidFill>
            </a:endParaRPr>
          </a:p>
          <a:p>
            <a:pPr marL="360045" indent="0" fontAlgn="auto">
              <a:buNone/>
            </a:pPr>
            <a:r>
              <a:rPr lang="en-US" altLang="zh-CN" sz="1600" dirty="0">
                <a:solidFill>
                  <a:schemeClr val="tx1">
                    <a:lumMod val="75000"/>
                    <a:lumOff val="25000"/>
                  </a:schemeClr>
                </a:solidFill>
              </a:rPr>
              <a:t>2）</a:t>
            </a:r>
            <a:r>
              <a:rPr lang="en-US" altLang="zh-CN" sz="1600" kern="1000" dirty="0">
                <a:solidFill>
                  <a:srgbClr val="000000"/>
                </a:solidFill>
                <a:effectLst/>
              </a:rPr>
              <a:t>criterion</a:t>
            </a:r>
            <a:r>
              <a:rPr lang="zh-CN" altLang="zh-CN" sz="1600" kern="1000" dirty="0">
                <a:solidFill>
                  <a:srgbClr val="000000"/>
                </a:solidFill>
                <a:effectLst/>
                <a:cs typeface="Times New Roman" panose="02020603050405020304" pitchFamily="18" charset="0"/>
              </a:rPr>
              <a:t>：特征选择标准。数据类型为字符串，若不指定该参数值，则自动使用默认参数值</a:t>
            </a:r>
            <a:r>
              <a:rPr lang="en-US" altLang="zh-CN" sz="1600" kern="1000" dirty="0" err="1">
                <a:solidFill>
                  <a:srgbClr val="FF0000"/>
                </a:solidFill>
                <a:effectLst/>
              </a:rPr>
              <a:t>gini</a:t>
            </a:r>
            <a:r>
              <a:rPr lang="zh-CN" altLang="zh-CN" sz="1600" kern="1000" dirty="0">
                <a:solidFill>
                  <a:srgbClr val="000000"/>
                </a:solidFill>
                <a:effectLst/>
                <a:cs typeface="Times New Roman" panose="02020603050405020304" pitchFamily="18" charset="0"/>
              </a:rPr>
              <a:t>。其可选值如：</a:t>
            </a:r>
            <a:r>
              <a:rPr lang="en-US" altLang="zh-CN" sz="1600" kern="1000" dirty="0" err="1">
                <a:solidFill>
                  <a:schemeClr val="tx1"/>
                </a:solidFill>
                <a:effectLst/>
              </a:rPr>
              <a:t>gini</a:t>
            </a:r>
            <a:r>
              <a:rPr lang="zh-CN" altLang="zh-CN" sz="1600" kern="1000" dirty="0">
                <a:solidFill>
                  <a:srgbClr val="000000"/>
                </a:solidFill>
                <a:effectLst/>
                <a:cs typeface="Times New Roman" panose="02020603050405020304" pitchFamily="18" charset="0"/>
              </a:rPr>
              <a:t>：表示切分时的评价准则时</a:t>
            </a:r>
            <a:r>
              <a:rPr lang="en-US" altLang="zh-CN" sz="1600" kern="1000" dirty="0" err="1">
                <a:solidFill>
                  <a:schemeClr val="tx1"/>
                </a:solidFill>
                <a:effectLst/>
              </a:rPr>
              <a:t>gini</a:t>
            </a:r>
            <a:r>
              <a:rPr lang="zh-CN" altLang="zh-CN" sz="1600" kern="1000" dirty="0">
                <a:solidFill>
                  <a:srgbClr val="000000"/>
                </a:solidFill>
                <a:effectLst/>
                <a:cs typeface="Times New Roman" panose="02020603050405020304" pitchFamily="18" charset="0"/>
              </a:rPr>
              <a:t>系数</a:t>
            </a:r>
            <a:r>
              <a:rPr lang="zh-CN" altLang="en-US" sz="1600" kern="1000" dirty="0">
                <a:solidFill>
                  <a:srgbClr val="000000"/>
                </a:solidFill>
                <a:effectLst/>
                <a:cs typeface="Times New Roman" panose="02020603050405020304" pitchFamily="18" charset="0"/>
              </a:rPr>
              <a:t>；</a:t>
            </a:r>
            <a:r>
              <a:rPr lang="en-US" altLang="zh-CN" sz="1600" kern="1000" dirty="0">
                <a:solidFill>
                  <a:srgbClr val="000000"/>
                </a:solidFill>
                <a:effectLst/>
              </a:rPr>
              <a:t>entropy</a:t>
            </a:r>
            <a:r>
              <a:rPr lang="zh-CN" altLang="zh-CN" sz="1600" kern="1000" dirty="0">
                <a:solidFill>
                  <a:srgbClr val="000000"/>
                </a:solidFill>
                <a:effectLst/>
                <a:cs typeface="Times New Roman" panose="02020603050405020304" pitchFamily="18" charset="0"/>
              </a:rPr>
              <a:t>：表示切分的评价准则时信息熵</a:t>
            </a:r>
            <a:r>
              <a:rPr lang="zh-CN" altLang="en-US" sz="1600" kern="1000" dirty="0">
                <a:solidFill>
                  <a:srgbClr val="000000"/>
                </a:solidFill>
                <a:effectLst/>
                <a:cs typeface="Times New Roman" panose="02020603050405020304" pitchFamily="18" charset="0"/>
              </a:rPr>
              <a:t>。</a:t>
            </a:r>
            <a:endParaRPr lang="en-US" altLang="zh-CN" sz="1600" kern="1000" dirty="0">
              <a:solidFill>
                <a:srgbClr val="000000"/>
              </a:solidFill>
              <a:effectLst/>
              <a:cs typeface="Times New Roman" panose="02020603050405020304" pitchFamily="18" charset="0"/>
            </a:endParaRPr>
          </a:p>
          <a:p>
            <a:pPr marL="360045" indent="0" fontAlgn="auto">
              <a:buNone/>
            </a:pPr>
            <a:r>
              <a:rPr lang="en-US" altLang="zh-CN" sz="1600" dirty="0">
                <a:solidFill>
                  <a:schemeClr val="tx1">
                    <a:lumMod val="75000"/>
                    <a:lumOff val="25000"/>
                  </a:schemeClr>
                </a:solidFill>
              </a:rPr>
              <a:t>3）</a:t>
            </a:r>
            <a:r>
              <a:rPr lang="en-US" altLang="zh-CN" sz="1600" kern="1000" dirty="0">
                <a:solidFill>
                  <a:srgbClr val="000000"/>
                </a:solidFill>
                <a:effectLst/>
              </a:rPr>
              <a:t>max_depth</a:t>
            </a:r>
            <a:r>
              <a:rPr lang="zh-CN" altLang="zh-CN" sz="1600" kern="1000" dirty="0">
                <a:solidFill>
                  <a:srgbClr val="000000"/>
                </a:solidFill>
                <a:effectLst/>
                <a:cs typeface="Times New Roman" panose="02020603050405020304" pitchFamily="18" charset="0"/>
              </a:rPr>
              <a:t>：决策树的最大深度。数据类型为整型或</a:t>
            </a:r>
            <a:r>
              <a:rPr lang="en-US" altLang="zh-CN" sz="1600" kern="1000" dirty="0">
                <a:solidFill>
                  <a:srgbClr val="000000"/>
                </a:solidFill>
                <a:effectLst/>
              </a:rPr>
              <a:t>None</a:t>
            </a:r>
            <a:r>
              <a:rPr lang="zh-CN" altLang="zh-CN" sz="1600" kern="1000" dirty="0">
                <a:solidFill>
                  <a:srgbClr val="000000"/>
                </a:solidFill>
                <a:effectLst/>
                <a:cs typeface="Times New Roman" panose="02020603050405020304" pitchFamily="18" charset="0"/>
              </a:rPr>
              <a:t>，与决策树中一致。</a:t>
            </a:r>
            <a:endParaRPr lang="en-US" altLang="zh-CN" sz="1600" kern="1000" dirty="0">
              <a:solidFill>
                <a:srgbClr val="000000"/>
              </a:solidFill>
              <a:effectLst/>
              <a:cs typeface="Times New Roman" panose="02020603050405020304" pitchFamily="18" charset="0"/>
            </a:endParaRPr>
          </a:p>
          <a:p>
            <a:pPr marL="360045" indent="0" fontAlgn="auto">
              <a:buNone/>
            </a:pPr>
            <a:r>
              <a:rPr lang="en-US" altLang="zh-CN" sz="1600" dirty="0">
                <a:solidFill>
                  <a:schemeClr val="tx1">
                    <a:lumMod val="75000"/>
                    <a:lumOff val="25000"/>
                  </a:schemeClr>
                </a:solidFill>
              </a:rPr>
              <a:t>4）</a:t>
            </a:r>
            <a:r>
              <a:rPr lang="en-US" altLang="zh-CN" sz="1600" kern="1000" dirty="0">
                <a:solidFill>
                  <a:srgbClr val="000000"/>
                </a:solidFill>
                <a:effectLst/>
              </a:rPr>
              <a:t>min_samples_split</a:t>
            </a:r>
            <a:r>
              <a:rPr lang="zh-CN" altLang="zh-CN" sz="1600" kern="1000" dirty="0">
                <a:solidFill>
                  <a:srgbClr val="000000"/>
                </a:solidFill>
                <a:effectLst/>
                <a:cs typeface="Times New Roman" panose="02020603050405020304" pitchFamily="18" charset="0"/>
              </a:rPr>
              <a:t>：子数据集再切分需要的最小样本数。数据类型为整型或浮点型，与决策树中一致。</a:t>
            </a:r>
            <a:endParaRPr lang="en-US" altLang="zh-CN" sz="1600" kern="1000" dirty="0">
              <a:solidFill>
                <a:srgbClr val="000000"/>
              </a:solidFill>
              <a:effectLst/>
              <a:cs typeface="Times New Roman" panose="02020603050405020304" pitchFamily="18" charset="0"/>
            </a:endParaRPr>
          </a:p>
          <a:p>
            <a:pPr marL="360045" indent="0" fontAlgn="auto">
              <a:buNone/>
            </a:pPr>
            <a:r>
              <a:rPr lang="en-US" altLang="zh-CN" sz="1600" dirty="0">
                <a:solidFill>
                  <a:schemeClr val="tx1">
                    <a:lumMod val="75000"/>
                    <a:lumOff val="25000"/>
                  </a:schemeClr>
                </a:solidFill>
              </a:rPr>
              <a:t>5）</a:t>
            </a:r>
            <a:r>
              <a:rPr lang="en-US" altLang="zh-CN" sz="1600" kern="1000" dirty="0">
                <a:solidFill>
                  <a:srgbClr val="000000"/>
                </a:solidFill>
                <a:effectLst/>
              </a:rPr>
              <a:t>min_samples_leaf</a:t>
            </a:r>
            <a:r>
              <a:rPr lang="zh-CN" altLang="zh-CN" sz="1600" kern="1000" dirty="0">
                <a:solidFill>
                  <a:srgbClr val="000000"/>
                </a:solidFill>
                <a:effectLst/>
                <a:cs typeface="宋体" panose="02010600030101010101" pitchFamily="2" charset="-122"/>
              </a:rPr>
              <a:t>：</a:t>
            </a:r>
            <a:r>
              <a:rPr lang="zh-CN" altLang="zh-CN" sz="1600" kern="100" dirty="0">
                <a:solidFill>
                  <a:srgbClr val="000000"/>
                </a:solidFill>
                <a:effectLst/>
                <a:cs typeface="Times New Roman" panose="02020603050405020304" pitchFamily="18" charset="0"/>
              </a:rPr>
              <a:t>叶子结点上的最小样本数</a:t>
            </a:r>
            <a:r>
              <a:rPr lang="zh-CN" altLang="zh-CN" sz="1600" kern="1000" dirty="0">
                <a:solidFill>
                  <a:srgbClr val="000000"/>
                </a:solidFill>
                <a:effectLst/>
                <a:cs typeface="Times New Roman" panose="02020603050405020304" pitchFamily="18" charset="0"/>
              </a:rPr>
              <a:t>。数据类型为整型或浮点型，与决策树中一致</a:t>
            </a:r>
            <a:r>
              <a:rPr lang="zh-CN" altLang="zh-CN" sz="1600" kern="100" dirty="0">
                <a:solidFill>
                  <a:srgbClr val="000000"/>
                </a:solidFill>
                <a:effectLst/>
                <a:cs typeface="Times New Roman" panose="02020603050405020304" pitchFamily="18" charset="0"/>
              </a:rPr>
              <a:t>。</a:t>
            </a:r>
            <a:endParaRPr lang="en-US" altLang="zh-CN" sz="1600" dirty="0">
              <a:solidFill>
                <a:schemeClr val="tx1">
                  <a:lumMod val="75000"/>
                  <a:lumOff val="25000"/>
                </a:schemeClr>
              </a:solidFill>
            </a:endParaRPr>
          </a:p>
          <a:p>
            <a:pPr marL="360045" indent="0" fontAlgn="auto">
              <a:buNone/>
            </a:pPr>
            <a:r>
              <a:rPr lang="en-US" altLang="zh-CN" sz="1600" dirty="0">
                <a:solidFill>
                  <a:schemeClr val="tx1">
                    <a:lumMod val="75000"/>
                    <a:lumOff val="25000"/>
                  </a:schemeClr>
                </a:solidFill>
              </a:rPr>
              <a:t>6）</a:t>
            </a:r>
            <a:r>
              <a:rPr lang="en-US" altLang="zh-CN" sz="1600" kern="1000" dirty="0">
                <a:solidFill>
                  <a:srgbClr val="000000"/>
                </a:solidFill>
                <a:effectLst/>
              </a:rPr>
              <a:t>min_weight_fraction_leaf</a:t>
            </a:r>
            <a:r>
              <a:rPr lang="zh-CN" altLang="zh-CN" sz="1600" kern="1000" dirty="0">
                <a:solidFill>
                  <a:srgbClr val="000000"/>
                </a:solidFill>
                <a:effectLst/>
                <a:cs typeface="Times New Roman" panose="02020603050405020304" pitchFamily="18" charset="0"/>
              </a:rPr>
              <a:t>：叶子结点最小的样本权重和。数据类型为浮点型，与决策树中一致。</a:t>
            </a:r>
            <a:endParaRPr lang="en-US" altLang="zh-CN" sz="1600" kern="1000" dirty="0">
              <a:solidFill>
                <a:srgbClr val="000000"/>
              </a:solidFill>
              <a:effectLst/>
              <a:cs typeface="Times New Roman" panose="02020603050405020304" pitchFamily="18" charset="0"/>
            </a:endParaRPr>
          </a:p>
          <a:p>
            <a:pPr marL="360045" indent="0" fontAlgn="auto">
              <a:buNone/>
            </a:pPr>
            <a:r>
              <a:rPr lang="en-US" altLang="zh-CN" sz="1600" dirty="0">
                <a:solidFill>
                  <a:schemeClr val="tx1">
                    <a:lumMod val="75000"/>
                    <a:lumOff val="25000"/>
                  </a:schemeClr>
                </a:solidFill>
              </a:rPr>
              <a:t>7）</a:t>
            </a:r>
            <a:r>
              <a:rPr lang="en-US" altLang="zh-CN" sz="1600" kern="1000" dirty="0">
                <a:solidFill>
                  <a:srgbClr val="000000"/>
                </a:solidFill>
                <a:effectLst/>
              </a:rPr>
              <a:t>max_features</a:t>
            </a:r>
            <a:r>
              <a:rPr lang="zh-CN" altLang="zh-CN" sz="1600" kern="1000" dirty="0">
                <a:solidFill>
                  <a:srgbClr val="000000"/>
                </a:solidFill>
                <a:effectLst/>
                <a:cs typeface="宋体" panose="02010600030101010101" pitchFamily="2" charset="-122"/>
              </a:rPr>
              <a:t>：</a:t>
            </a:r>
            <a:r>
              <a:rPr lang="zh-CN" altLang="zh-CN" sz="1600" kern="1000" dirty="0">
                <a:solidFill>
                  <a:srgbClr val="000000"/>
                </a:solidFill>
                <a:effectLst/>
                <a:cs typeface="Times New Roman" panose="02020603050405020304" pitchFamily="18" charset="0"/>
              </a:rPr>
              <a:t>划分结点以寻找最优划分特征时，设置允许搜索的最大特征个数。数据类型为整型、浮点型、字符串型或</a:t>
            </a:r>
            <a:r>
              <a:rPr lang="en-US" altLang="zh-CN" sz="1600" kern="1000" dirty="0">
                <a:solidFill>
                  <a:srgbClr val="000000"/>
                </a:solidFill>
                <a:effectLst/>
              </a:rPr>
              <a:t>None</a:t>
            </a:r>
            <a:r>
              <a:rPr lang="zh-CN" altLang="zh-CN" sz="1600" kern="1000" dirty="0">
                <a:solidFill>
                  <a:srgbClr val="000000"/>
                </a:solidFill>
                <a:effectLst/>
                <a:cs typeface="Times New Roman" panose="02020603050405020304" pitchFamily="18" charset="0"/>
              </a:rPr>
              <a:t>，与决策树中一致。</a:t>
            </a:r>
            <a:r>
              <a:rPr kumimoji="1" lang="en-US" altLang="zh-CN" sz="1600" dirty="0"/>
              <a:t> </a:t>
            </a:r>
            <a:endParaRPr kumimoji="1" lang="zh-CN" altLang="en-US" sz="1600" dirty="0"/>
          </a:p>
          <a:p>
            <a:pPr marL="0" indent="0">
              <a:buNone/>
            </a:pP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FF206FCC-0CBB-4DF4-89C1-3C9DB4B6E776}" type="slidenum">
              <a:rPr lang="zh-CN" altLang="en-US" smtClean="0"/>
            </a:fld>
            <a:r>
              <a:rPr lang="zh-CN" altLang="en-US"/>
              <a:t>   </a:t>
            </a:r>
            <a:endParaRPr lang="zh-CN" altLang="en-US" dirty="0"/>
          </a:p>
        </p:txBody>
      </p:sp>
      <p:sp>
        <p:nvSpPr>
          <p:cNvPr id="4" name="标题 3"/>
          <p:cNvSpPr>
            <a:spLocks noGrp="1"/>
          </p:cNvSpPr>
          <p:nvPr>
            <p:ph type="title"/>
          </p:nvPr>
        </p:nvSpPr>
        <p:spPr/>
        <p:txBody>
          <a:bodyPr/>
          <a:lstStyle/>
          <a:p>
            <a:pPr algn="just"/>
            <a:r>
              <a:rPr lang="zh-CN" altLang="en-US" dirty="0"/>
              <a:t>实现及参数</a:t>
            </a:r>
            <a:endParaRPr lang="en-US" altLang="zh-CN" dirty="0"/>
          </a:p>
        </p:txBody>
      </p:sp>
      <p:sp>
        <p:nvSpPr>
          <p:cNvPr id="5" name="内容占位符 1"/>
          <p:cNvSpPr>
            <a:spLocks noGrp="1"/>
          </p:cNvSpPr>
          <p:nvPr>
            <p:ph idx="1"/>
          </p:nvPr>
        </p:nvSpPr>
        <p:spPr>
          <a:xfrm>
            <a:off x="342928" y="1008405"/>
            <a:ext cx="10237796" cy="5751318"/>
          </a:xfrm>
        </p:spPr>
        <p:txBody>
          <a:bodyPr>
            <a:normAutofit fontScale="25000" lnSpcReduction="20000"/>
          </a:bodyPr>
          <a:lstStyle/>
          <a:p>
            <a:pPr marL="0" indent="0"/>
            <a:r>
              <a:rPr kumimoji="1" lang="en-US" altLang="zh-CN" sz="7600" dirty="0"/>
              <a:t>  </a:t>
            </a:r>
            <a:r>
              <a:rPr kumimoji="1" lang="zh-CN" altLang="en-US" sz="7600" dirty="0"/>
              <a:t>主要参数</a:t>
            </a:r>
            <a:r>
              <a:rPr lang="zh-CN" altLang="zh-CN" sz="7600" kern="1000" dirty="0">
                <a:solidFill>
                  <a:srgbClr val="000000"/>
                </a:solidFill>
                <a:effectLst/>
                <a:cs typeface="Times New Roman" panose="02020603050405020304" pitchFamily="18" charset="0"/>
              </a:rPr>
              <a:t>：</a:t>
            </a:r>
            <a:endParaRPr kumimoji="1" lang="en-US" altLang="zh-CN" sz="7600" dirty="0"/>
          </a:p>
          <a:p>
            <a:pPr marL="360045" indent="0" fontAlgn="auto">
              <a:buNone/>
            </a:pPr>
            <a:r>
              <a:rPr lang="en-US" altLang="zh-CN" sz="6400" dirty="0">
                <a:solidFill>
                  <a:schemeClr val="tx1">
                    <a:lumMod val="75000"/>
                    <a:lumOff val="25000"/>
                  </a:schemeClr>
                </a:solidFill>
              </a:rPr>
              <a:t>8）</a:t>
            </a:r>
            <a:r>
              <a:rPr lang="en-US" altLang="zh-CN" sz="6400" kern="1000" dirty="0">
                <a:solidFill>
                  <a:srgbClr val="000000"/>
                </a:solidFill>
                <a:effectLst/>
              </a:rPr>
              <a:t>max_leaf_nodes</a:t>
            </a:r>
            <a:r>
              <a:rPr lang="zh-CN" altLang="zh-CN" sz="6400" kern="1000" dirty="0">
                <a:solidFill>
                  <a:srgbClr val="000000"/>
                </a:solidFill>
                <a:effectLst/>
                <a:cs typeface="Times New Roman" panose="02020603050405020304" pitchFamily="18" charset="0"/>
              </a:rPr>
              <a:t>：</a:t>
            </a:r>
            <a:r>
              <a:rPr lang="zh-CN" altLang="zh-CN" sz="6400" kern="1000" dirty="0">
                <a:solidFill>
                  <a:srgbClr val="000000"/>
                </a:solidFill>
                <a:effectLst/>
                <a:cs typeface="宋体" panose="02010600030101010101" pitchFamily="2" charset="-122"/>
              </a:rPr>
              <a:t>最大叶子结点数</a:t>
            </a:r>
            <a:r>
              <a:rPr lang="zh-CN" altLang="zh-CN" sz="6400" kern="1000" dirty="0">
                <a:solidFill>
                  <a:srgbClr val="000000"/>
                </a:solidFill>
                <a:effectLst/>
                <a:cs typeface="Times New Roman" panose="02020603050405020304" pitchFamily="18" charset="0"/>
              </a:rPr>
              <a:t>。数据类型为整型或</a:t>
            </a:r>
            <a:r>
              <a:rPr lang="en-US" altLang="zh-CN" sz="6400" kern="1000" dirty="0">
                <a:solidFill>
                  <a:srgbClr val="000000"/>
                </a:solidFill>
                <a:effectLst/>
              </a:rPr>
              <a:t>None</a:t>
            </a:r>
            <a:r>
              <a:rPr lang="zh-CN" altLang="zh-CN" sz="6400" kern="1000" dirty="0">
                <a:solidFill>
                  <a:srgbClr val="000000"/>
                </a:solidFill>
                <a:effectLst/>
                <a:cs typeface="Times New Roman" panose="02020603050405020304" pitchFamily="18" charset="0"/>
              </a:rPr>
              <a:t>，与决策树中一致。限制最大叶子结点数，可以防止过拟合</a:t>
            </a:r>
            <a:r>
              <a:rPr lang="zh-CN" altLang="en-US" sz="6400" kern="1000" dirty="0">
                <a:solidFill>
                  <a:srgbClr val="000000"/>
                </a:solidFill>
                <a:effectLst/>
              </a:rPr>
              <a:t>。</a:t>
            </a:r>
            <a:endParaRPr lang="en-US" altLang="zh-CN" sz="6400" dirty="0">
              <a:solidFill>
                <a:schemeClr val="tx1">
                  <a:lumMod val="75000"/>
                  <a:lumOff val="25000"/>
                </a:schemeClr>
              </a:solidFill>
            </a:endParaRPr>
          </a:p>
          <a:p>
            <a:pPr marL="360045" indent="0" fontAlgn="auto">
              <a:buNone/>
            </a:pPr>
            <a:r>
              <a:rPr lang="en-US" altLang="zh-CN" sz="6400" dirty="0">
                <a:solidFill>
                  <a:schemeClr val="tx1">
                    <a:lumMod val="75000"/>
                    <a:lumOff val="25000"/>
                  </a:schemeClr>
                </a:solidFill>
              </a:rPr>
              <a:t>9）</a:t>
            </a:r>
            <a:r>
              <a:rPr lang="en-US" altLang="zh-CN" sz="6400" kern="1000" dirty="0">
                <a:solidFill>
                  <a:srgbClr val="000000"/>
                </a:solidFill>
                <a:effectLst/>
              </a:rPr>
              <a:t>bootstrap</a:t>
            </a:r>
            <a:r>
              <a:rPr lang="zh-CN" altLang="zh-CN" sz="6400" kern="1000" dirty="0">
                <a:solidFill>
                  <a:srgbClr val="000000"/>
                </a:solidFill>
                <a:effectLst/>
                <a:cs typeface="Times New Roman" panose="02020603050405020304" pitchFamily="18" charset="0"/>
              </a:rPr>
              <a:t>：建立决策树时，是否使用有放回抽样。数据类型为布尔型，若不指定该参数值，则自动使用默认参数值</a:t>
            </a:r>
            <a:r>
              <a:rPr lang="en-US" altLang="zh-CN" sz="6400" kern="1000" dirty="0">
                <a:solidFill>
                  <a:srgbClr val="000000"/>
                </a:solidFill>
                <a:effectLst/>
              </a:rPr>
              <a:t>True</a:t>
            </a:r>
            <a:r>
              <a:rPr lang="zh-CN" altLang="zh-CN" sz="6400" kern="1000" dirty="0">
                <a:solidFill>
                  <a:srgbClr val="000000"/>
                </a:solidFill>
                <a:effectLst/>
                <a:cs typeface="Times New Roman" panose="02020603050405020304" pitchFamily="18" charset="0"/>
              </a:rPr>
              <a:t>，即放回抽样。</a:t>
            </a:r>
            <a:endParaRPr lang="en-US" altLang="zh-CN" sz="6400" kern="1000" dirty="0">
              <a:solidFill>
                <a:schemeClr val="tx1"/>
              </a:solidFill>
              <a:effectLst/>
              <a:cs typeface="Times New Roman" panose="02020603050405020304" pitchFamily="18" charset="0"/>
            </a:endParaRPr>
          </a:p>
          <a:p>
            <a:pPr marL="360045" indent="0" fontAlgn="auto">
              <a:buNone/>
            </a:pPr>
            <a:r>
              <a:rPr lang="en-US" altLang="zh-CN" sz="6400" dirty="0">
                <a:solidFill>
                  <a:schemeClr val="tx1"/>
                </a:solidFill>
              </a:rPr>
              <a:t>10）</a:t>
            </a:r>
            <a:r>
              <a:rPr lang="en-US" altLang="zh-CN" sz="6400" kern="1000" dirty="0">
                <a:solidFill>
                  <a:schemeClr val="tx1"/>
                </a:solidFill>
                <a:effectLst/>
              </a:rPr>
              <a:t>oob_score</a:t>
            </a:r>
            <a:r>
              <a:rPr lang="zh-CN" altLang="zh-CN" sz="6400" kern="1000" dirty="0">
                <a:solidFill>
                  <a:schemeClr val="tx1"/>
                </a:solidFill>
                <a:effectLst/>
                <a:cs typeface="Times New Roman" panose="02020603050405020304" pitchFamily="18" charset="0"/>
              </a:rPr>
              <a:t>：估计泛化误差时是否使用袋外样本（</a:t>
            </a:r>
            <a:r>
              <a:rPr lang="en-US" altLang="zh-CN" sz="6400" kern="1000" dirty="0">
                <a:solidFill>
                  <a:schemeClr val="tx1"/>
                </a:solidFill>
                <a:effectLst/>
              </a:rPr>
              <a:t>out-of-bag samples</a:t>
            </a:r>
            <a:r>
              <a:rPr lang="zh-CN" altLang="zh-CN" sz="6400" kern="1000" dirty="0">
                <a:solidFill>
                  <a:schemeClr val="tx1"/>
                </a:solidFill>
                <a:effectLst/>
                <a:cs typeface="Times New Roman" panose="02020603050405020304" pitchFamily="18" charset="0"/>
              </a:rPr>
              <a:t>）。数据类型为布尔型，若不指定该参数值，则自动使用默认参数值</a:t>
            </a:r>
            <a:r>
              <a:rPr lang="en-US" altLang="zh-CN" sz="6400" kern="1000" dirty="0">
                <a:solidFill>
                  <a:schemeClr val="tx1"/>
                </a:solidFill>
                <a:effectLst/>
              </a:rPr>
              <a:t>False</a:t>
            </a:r>
            <a:r>
              <a:rPr lang="zh-CN" altLang="zh-CN" sz="6400" kern="1000" dirty="0">
                <a:solidFill>
                  <a:schemeClr val="tx1"/>
                </a:solidFill>
                <a:effectLst/>
                <a:cs typeface="Times New Roman" panose="02020603050405020304" pitchFamily="18" charset="0"/>
              </a:rPr>
              <a:t>，即不使用袋外样本。</a:t>
            </a:r>
            <a:endParaRPr lang="en-US" altLang="zh-CN" sz="6400" kern="1000" dirty="0">
              <a:solidFill>
                <a:schemeClr val="tx1"/>
              </a:solidFill>
              <a:effectLst/>
              <a:cs typeface="Times New Roman" panose="02020603050405020304" pitchFamily="18" charset="0"/>
            </a:endParaRPr>
          </a:p>
          <a:p>
            <a:pPr marL="360045" indent="0" fontAlgn="auto">
              <a:buNone/>
            </a:pPr>
            <a:r>
              <a:rPr lang="en-US" altLang="zh-CN" sz="6400" dirty="0">
                <a:solidFill>
                  <a:schemeClr val="tx1">
                    <a:lumMod val="75000"/>
                    <a:lumOff val="25000"/>
                  </a:schemeClr>
                </a:solidFill>
              </a:rPr>
              <a:t>11）</a:t>
            </a:r>
            <a:r>
              <a:rPr lang="en-US" altLang="zh-CN" sz="6400" kern="1000" dirty="0">
                <a:solidFill>
                  <a:srgbClr val="000000"/>
                </a:solidFill>
                <a:effectLst/>
              </a:rPr>
              <a:t>n_jobs</a:t>
            </a:r>
            <a:r>
              <a:rPr lang="zh-CN" altLang="zh-CN" sz="6400" kern="1000" dirty="0">
                <a:solidFill>
                  <a:srgbClr val="000000"/>
                </a:solidFill>
                <a:effectLst/>
                <a:cs typeface="Times New Roman" panose="02020603050405020304" pitchFamily="18" charset="0"/>
              </a:rPr>
              <a:t>：用于拟合和预测的并行作业数量。数据类型为整型，若不指定该参数值，则自动使用默认参数值</a:t>
            </a:r>
            <a:r>
              <a:rPr lang="en-US" altLang="zh-CN" sz="6400" kern="1000" dirty="0">
                <a:solidFill>
                  <a:srgbClr val="000000"/>
                </a:solidFill>
                <a:effectLst/>
              </a:rPr>
              <a:t>1</a:t>
            </a:r>
            <a:r>
              <a:rPr lang="zh-CN" altLang="zh-CN" sz="6400" kern="1000" dirty="0">
                <a:solidFill>
                  <a:srgbClr val="000000"/>
                </a:solidFill>
                <a:effectLst/>
                <a:cs typeface="Times New Roman" panose="02020603050405020304" pitchFamily="18" charset="0"/>
              </a:rPr>
              <a:t>。如果值为</a:t>
            </a:r>
            <a:r>
              <a:rPr lang="en-US" altLang="zh-CN" sz="6400" kern="1000" dirty="0">
                <a:solidFill>
                  <a:srgbClr val="000000"/>
                </a:solidFill>
                <a:effectLst/>
              </a:rPr>
              <a:t>-1</a:t>
            </a:r>
            <a:r>
              <a:rPr lang="zh-CN" altLang="zh-CN" sz="6400" kern="1000" dirty="0">
                <a:solidFill>
                  <a:srgbClr val="000000"/>
                </a:solidFill>
                <a:effectLst/>
                <a:cs typeface="Times New Roman" panose="02020603050405020304" pitchFamily="18" charset="0"/>
              </a:rPr>
              <a:t>，则并行工作的数量被设置为</a:t>
            </a:r>
            <a:r>
              <a:rPr lang="en-US" altLang="zh-CN" sz="6400" kern="1000" dirty="0">
                <a:solidFill>
                  <a:srgbClr val="000000"/>
                </a:solidFill>
                <a:effectLst/>
              </a:rPr>
              <a:t>CPU</a:t>
            </a:r>
            <a:r>
              <a:rPr lang="zh-CN" altLang="zh-CN" sz="6400" kern="1000" dirty="0">
                <a:solidFill>
                  <a:srgbClr val="000000"/>
                </a:solidFill>
                <a:effectLst/>
                <a:cs typeface="Times New Roman" panose="02020603050405020304" pitchFamily="18" charset="0"/>
              </a:rPr>
              <a:t>核的数量。</a:t>
            </a:r>
            <a:endParaRPr lang="en-US" altLang="zh-CN" sz="6400" kern="1000" dirty="0">
              <a:solidFill>
                <a:srgbClr val="000000"/>
              </a:solidFill>
              <a:effectLst/>
              <a:cs typeface="Times New Roman" panose="02020603050405020304" pitchFamily="18" charset="0"/>
            </a:endParaRPr>
          </a:p>
          <a:p>
            <a:pPr marL="360045" indent="0" fontAlgn="auto">
              <a:buNone/>
            </a:pPr>
            <a:r>
              <a:rPr lang="en-US" altLang="zh-CN" sz="6400" dirty="0">
                <a:solidFill>
                  <a:schemeClr val="tx1">
                    <a:lumMod val="75000"/>
                    <a:lumOff val="25000"/>
                  </a:schemeClr>
                </a:solidFill>
              </a:rPr>
              <a:t>12）</a:t>
            </a:r>
            <a:r>
              <a:rPr lang="en-US" altLang="zh-CN" sz="6400" kern="1000" dirty="0">
                <a:solidFill>
                  <a:srgbClr val="000000"/>
                </a:solidFill>
                <a:effectLst/>
              </a:rPr>
              <a:t>random_state</a:t>
            </a:r>
            <a:r>
              <a:rPr lang="zh-CN" altLang="zh-CN" sz="6400" kern="1000" dirty="0">
                <a:solidFill>
                  <a:srgbClr val="000000"/>
                </a:solidFill>
                <a:effectLst/>
                <a:cs typeface="Times New Roman" panose="02020603050405020304" pitchFamily="18" charset="0"/>
              </a:rPr>
              <a:t>：随机种子的设置。数据类型为整型，若不指定该参数值，则自动使用默认参数值</a:t>
            </a:r>
            <a:r>
              <a:rPr lang="en-US" altLang="zh-CN" sz="6400" kern="1000" dirty="0">
                <a:solidFill>
                  <a:srgbClr val="000000"/>
                </a:solidFill>
                <a:effectLst/>
              </a:rPr>
              <a:t>None</a:t>
            </a:r>
            <a:r>
              <a:rPr lang="zh-CN" altLang="zh-CN" sz="6400" kern="1000" dirty="0">
                <a:solidFill>
                  <a:srgbClr val="000000"/>
                </a:solidFill>
                <a:effectLst/>
                <a:cs typeface="Times New Roman" panose="02020603050405020304" pitchFamily="18" charset="0"/>
              </a:rPr>
              <a:t>，即使用当前系统时间作为种子，每次随机结果不同。</a:t>
            </a:r>
            <a:endParaRPr lang="en-US" altLang="zh-CN" sz="6400" kern="1000" dirty="0">
              <a:solidFill>
                <a:srgbClr val="000000"/>
              </a:solidFill>
              <a:effectLst/>
              <a:cs typeface="Times New Roman" panose="02020603050405020304" pitchFamily="18" charset="0"/>
            </a:endParaRPr>
          </a:p>
          <a:p>
            <a:pPr marL="360045" indent="0" fontAlgn="auto">
              <a:buNone/>
            </a:pPr>
            <a:r>
              <a:rPr lang="en-US" altLang="zh-CN" sz="6400" dirty="0">
                <a:solidFill>
                  <a:schemeClr val="tx1">
                    <a:lumMod val="75000"/>
                    <a:lumOff val="25000"/>
                  </a:schemeClr>
                </a:solidFill>
              </a:rPr>
              <a:t>13）</a:t>
            </a:r>
            <a:r>
              <a:rPr lang="en-US" altLang="zh-CN" sz="6400" kern="1000" dirty="0">
                <a:solidFill>
                  <a:srgbClr val="000000"/>
                </a:solidFill>
                <a:effectLst/>
              </a:rPr>
              <a:t>verbose</a:t>
            </a:r>
            <a:r>
              <a:rPr lang="zh-CN" altLang="zh-CN" sz="6400" kern="1000" dirty="0">
                <a:solidFill>
                  <a:srgbClr val="000000"/>
                </a:solidFill>
                <a:effectLst/>
                <a:cs typeface="Times New Roman" panose="02020603050405020304" pitchFamily="18" charset="0"/>
              </a:rPr>
              <a:t>：控制决策树建立过程的冗余度。数据类型为整型，若不指定该参数值，则自动使用默认参数值</a:t>
            </a:r>
            <a:r>
              <a:rPr lang="en-US" altLang="zh-CN" sz="6400" kern="1000" dirty="0">
                <a:solidFill>
                  <a:srgbClr val="000000"/>
                </a:solidFill>
                <a:effectLst/>
              </a:rPr>
              <a:t>0</a:t>
            </a:r>
            <a:r>
              <a:rPr lang="zh-CN" altLang="zh-CN" sz="6400" kern="1000" dirty="0">
                <a:solidFill>
                  <a:srgbClr val="000000"/>
                </a:solidFill>
                <a:effectLst/>
                <a:cs typeface="Times New Roman" panose="02020603050405020304" pitchFamily="18" charset="0"/>
              </a:rPr>
              <a:t>。</a:t>
            </a:r>
            <a:endParaRPr lang="en-US" altLang="zh-CN" sz="6400" kern="1000" dirty="0">
              <a:solidFill>
                <a:srgbClr val="000000"/>
              </a:solidFill>
              <a:effectLst/>
              <a:cs typeface="Times New Roman" panose="02020603050405020304" pitchFamily="18" charset="0"/>
            </a:endParaRPr>
          </a:p>
          <a:p>
            <a:pPr marL="360045" indent="0">
              <a:buNone/>
            </a:pPr>
            <a:r>
              <a:rPr lang="en-US" altLang="zh-CN" sz="6400" dirty="0">
                <a:solidFill>
                  <a:schemeClr val="tx1">
                    <a:lumMod val="75000"/>
                    <a:lumOff val="25000"/>
                  </a:schemeClr>
                </a:solidFill>
              </a:rPr>
              <a:t>14）</a:t>
            </a:r>
            <a:r>
              <a:rPr lang="en-US" altLang="zh-CN" sz="6400" kern="1000" dirty="0">
                <a:solidFill>
                  <a:srgbClr val="000000"/>
                </a:solidFill>
                <a:effectLst/>
              </a:rPr>
              <a:t>warm_start</a:t>
            </a:r>
            <a:r>
              <a:rPr lang="zh-CN" altLang="zh-CN" sz="6400" kern="1000" dirty="0">
                <a:solidFill>
                  <a:srgbClr val="000000"/>
                </a:solidFill>
                <a:effectLst/>
                <a:cs typeface="Times New Roman" panose="02020603050405020304" pitchFamily="18" charset="0"/>
              </a:rPr>
              <a:t>：数据类型为布尔型。若不指定该参数值，则自动使用默认参数值</a:t>
            </a:r>
            <a:r>
              <a:rPr lang="en-US" altLang="zh-CN" sz="6400" kern="1000" dirty="0">
                <a:solidFill>
                  <a:srgbClr val="000000"/>
                </a:solidFill>
                <a:effectLst/>
              </a:rPr>
              <a:t>False</a:t>
            </a:r>
            <a:r>
              <a:rPr lang="zh-CN" altLang="zh-CN" sz="6400" kern="1000" dirty="0">
                <a:solidFill>
                  <a:srgbClr val="000000"/>
                </a:solidFill>
                <a:effectLst/>
                <a:cs typeface="Times New Roman" panose="02020603050405020304" pitchFamily="18" charset="0"/>
              </a:rPr>
              <a:t>。当被设置为</a:t>
            </a:r>
            <a:r>
              <a:rPr lang="en-US" altLang="zh-CN" sz="6400" kern="1000" dirty="0">
                <a:solidFill>
                  <a:srgbClr val="000000"/>
                </a:solidFill>
                <a:effectLst/>
              </a:rPr>
              <a:t>True</a:t>
            </a:r>
            <a:r>
              <a:rPr lang="zh-CN" altLang="zh-CN" sz="6400" kern="1000" dirty="0">
                <a:solidFill>
                  <a:srgbClr val="000000"/>
                </a:solidFill>
                <a:effectLst/>
                <a:cs typeface="Times New Roman" panose="02020603050405020304" pitchFamily="18" charset="0"/>
              </a:rPr>
              <a:t>时，调用之前的模型，用来拟合完整数据集或添加更多的基学习器，反之则创建一个全新的随机森林。</a:t>
            </a:r>
            <a:endParaRPr kumimoji="1" lang="zh-CN" altLang="en-US" sz="6400" dirty="0"/>
          </a:p>
          <a:p>
            <a:pPr marL="360045" indent="0" fontAlgn="auto">
              <a:buNone/>
            </a:pPr>
            <a:endParaRPr kumimoji="1" lang="zh-CN" altLang="en-US" dirty="0"/>
          </a:p>
          <a:p>
            <a:pPr marL="0" indent="0">
              <a:buNone/>
            </a:pP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FF206FCC-0CBB-4DF4-89C1-3C9DB4B6E776}" type="slidenum">
              <a:rPr lang="zh-CN" altLang="en-US" smtClean="0"/>
            </a:fld>
            <a:r>
              <a:rPr lang="zh-CN" altLang="en-US"/>
              <a:t>   </a:t>
            </a:r>
            <a:endParaRPr lang="zh-CN" altLang="en-US" dirty="0"/>
          </a:p>
        </p:txBody>
      </p:sp>
      <p:sp>
        <p:nvSpPr>
          <p:cNvPr id="4" name="标题 3"/>
          <p:cNvSpPr>
            <a:spLocks noGrp="1"/>
          </p:cNvSpPr>
          <p:nvPr>
            <p:ph type="title"/>
          </p:nvPr>
        </p:nvSpPr>
        <p:spPr/>
        <p:txBody>
          <a:bodyPr/>
          <a:lstStyle/>
          <a:p>
            <a:pPr algn="just"/>
            <a:r>
              <a:rPr lang="zh-CN" altLang="en-US" dirty="0"/>
              <a:t>实现及参数</a:t>
            </a:r>
            <a:endParaRPr lang="en-US" altLang="zh-CN" dirty="0"/>
          </a:p>
        </p:txBody>
      </p:sp>
      <p:sp>
        <p:nvSpPr>
          <p:cNvPr id="5" name="内容占位符 1"/>
          <p:cNvSpPr>
            <a:spLocks noGrp="1"/>
          </p:cNvSpPr>
          <p:nvPr>
            <p:ph idx="1"/>
          </p:nvPr>
        </p:nvSpPr>
        <p:spPr>
          <a:xfrm>
            <a:off x="342928" y="982766"/>
            <a:ext cx="10237796" cy="5618494"/>
          </a:xfrm>
        </p:spPr>
        <p:txBody>
          <a:bodyPr>
            <a:normAutofit/>
          </a:bodyPr>
          <a:lstStyle/>
          <a:p>
            <a:pPr marL="0" indent="0"/>
            <a:r>
              <a:rPr kumimoji="1" lang="en-US" altLang="zh-CN" sz="1900" dirty="0"/>
              <a:t> </a:t>
            </a:r>
            <a:r>
              <a:rPr kumimoji="1" lang="en-US" altLang="zh-CN" sz="3500" dirty="0"/>
              <a:t> </a:t>
            </a:r>
            <a:r>
              <a:rPr kumimoji="1" lang="zh-CN" altLang="en-US" dirty="0"/>
              <a:t>主要属性</a:t>
            </a:r>
            <a:r>
              <a:rPr lang="zh-CN" altLang="zh-CN" kern="1000" dirty="0">
                <a:solidFill>
                  <a:srgbClr val="000000"/>
                </a:solidFill>
                <a:effectLst/>
                <a:cs typeface="Times New Roman" panose="02020603050405020304" pitchFamily="18" charset="0"/>
              </a:rPr>
              <a:t>：</a:t>
            </a:r>
            <a:endParaRPr kumimoji="1" lang="en-US" altLang="zh-CN" dirty="0"/>
          </a:p>
          <a:p>
            <a:pPr marL="360045" indent="0" fontAlgn="auto">
              <a:buNone/>
            </a:pPr>
            <a:r>
              <a:rPr lang="en-US" altLang="zh-CN" sz="1600" dirty="0">
                <a:solidFill>
                  <a:schemeClr val="tx1">
                    <a:lumMod val="75000"/>
                    <a:lumOff val="25000"/>
                  </a:schemeClr>
                </a:solidFill>
              </a:rPr>
              <a:t>1）</a:t>
            </a:r>
            <a:r>
              <a:rPr lang="en-US" altLang="zh-CN" sz="1600" kern="1000" dirty="0">
                <a:solidFill>
                  <a:srgbClr val="000000"/>
                </a:solidFill>
                <a:effectLst/>
              </a:rPr>
              <a:t>estimators_</a:t>
            </a:r>
            <a:r>
              <a:rPr lang="zh-CN" altLang="zh-CN" sz="1600" kern="1000" dirty="0">
                <a:solidFill>
                  <a:srgbClr val="000000"/>
                </a:solidFill>
                <a:effectLst/>
                <a:cs typeface="Times New Roman" panose="02020603050405020304" pitchFamily="18" charset="0"/>
              </a:rPr>
              <a:t>：决策树实例的数组，存放所有训练过的决策树。</a:t>
            </a:r>
            <a:endParaRPr lang="en-US" altLang="zh-CN" sz="1600" dirty="0">
              <a:solidFill>
                <a:schemeClr val="tx1">
                  <a:lumMod val="75000"/>
                  <a:lumOff val="25000"/>
                </a:schemeClr>
              </a:solidFill>
            </a:endParaRPr>
          </a:p>
          <a:p>
            <a:pPr marL="360045" indent="0" fontAlgn="auto">
              <a:buNone/>
            </a:pPr>
            <a:r>
              <a:rPr lang="en-US" altLang="zh-CN" sz="1600" dirty="0">
                <a:solidFill>
                  <a:schemeClr val="tx1">
                    <a:lumMod val="75000"/>
                    <a:lumOff val="25000"/>
                  </a:schemeClr>
                </a:solidFill>
              </a:rPr>
              <a:t>2）</a:t>
            </a:r>
            <a:r>
              <a:rPr lang="en-US" altLang="zh-CN" sz="1600" kern="1000" dirty="0">
                <a:solidFill>
                  <a:srgbClr val="000000"/>
                </a:solidFill>
                <a:effectLst/>
              </a:rPr>
              <a:t>classes_</a:t>
            </a:r>
            <a:r>
              <a:rPr lang="zh-CN" altLang="zh-CN" sz="1600" kern="1000" dirty="0">
                <a:solidFill>
                  <a:srgbClr val="000000"/>
                </a:solidFill>
                <a:effectLst/>
                <a:cs typeface="Times New Roman" panose="02020603050405020304" pitchFamily="18" charset="0"/>
              </a:rPr>
              <a:t>：</a:t>
            </a:r>
            <a:r>
              <a:rPr lang="zh-CN" altLang="zh-CN" sz="1600" kern="1000" dirty="0">
                <a:solidFill>
                  <a:srgbClr val="000000"/>
                </a:solidFill>
                <a:effectLst/>
                <a:cs typeface="宋体" panose="02010600030101010101" pitchFamily="2" charset="-122"/>
              </a:rPr>
              <a:t>类别标签</a:t>
            </a:r>
            <a:r>
              <a:rPr lang="zh-CN" altLang="zh-CN" sz="1600" kern="1000" dirty="0">
                <a:solidFill>
                  <a:srgbClr val="000000"/>
                </a:solidFill>
                <a:effectLst/>
                <a:cs typeface="Times New Roman" panose="02020603050405020304" pitchFamily="18" charset="0"/>
              </a:rPr>
              <a:t>。</a:t>
            </a:r>
            <a:endParaRPr lang="en-US" altLang="zh-CN" sz="1600" kern="1000" dirty="0">
              <a:solidFill>
                <a:srgbClr val="000000"/>
              </a:solidFill>
              <a:effectLst/>
              <a:cs typeface="Times New Roman" panose="02020603050405020304" pitchFamily="18" charset="0"/>
            </a:endParaRPr>
          </a:p>
          <a:p>
            <a:pPr marL="360045" indent="0" fontAlgn="auto">
              <a:buNone/>
            </a:pPr>
            <a:r>
              <a:rPr lang="en-US" altLang="zh-CN" sz="1600" dirty="0">
                <a:solidFill>
                  <a:schemeClr val="tx1">
                    <a:lumMod val="75000"/>
                    <a:lumOff val="25000"/>
                  </a:schemeClr>
                </a:solidFill>
              </a:rPr>
              <a:t>3）</a:t>
            </a:r>
            <a:r>
              <a:rPr lang="en-US" altLang="zh-CN" sz="1600" kern="1000" dirty="0">
                <a:solidFill>
                  <a:srgbClr val="000000"/>
                </a:solidFill>
                <a:effectLst/>
              </a:rPr>
              <a:t>n_classes_</a:t>
            </a:r>
            <a:r>
              <a:rPr lang="zh-CN" altLang="zh-CN" sz="1600" kern="1000" dirty="0">
                <a:solidFill>
                  <a:srgbClr val="000000"/>
                </a:solidFill>
                <a:effectLst/>
                <a:cs typeface="Times New Roman" panose="02020603050405020304" pitchFamily="18" charset="0"/>
              </a:rPr>
              <a:t>：类别的数量。</a:t>
            </a:r>
            <a:endParaRPr lang="en-US" altLang="zh-CN" sz="1600" kern="1000" dirty="0">
              <a:solidFill>
                <a:srgbClr val="000000"/>
              </a:solidFill>
              <a:effectLst/>
              <a:cs typeface="Times New Roman" panose="02020603050405020304" pitchFamily="18" charset="0"/>
            </a:endParaRPr>
          </a:p>
          <a:p>
            <a:pPr marL="360045" indent="0" fontAlgn="auto">
              <a:buNone/>
            </a:pPr>
            <a:r>
              <a:rPr lang="en-US" altLang="zh-CN" sz="1600" dirty="0">
                <a:solidFill>
                  <a:schemeClr val="tx1">
                    <a:lumMod val="75000"/>
                    <a:lumOff val="25000"/>
                  </a:schemeClr>
                </a:solidFill>
              </a:rPr>
              <a:t>4）</a:t>
            </a:r>
            <a:r>
              <a:rPr lang="en-US" altLang="zh-CN" sz="1600" kern="1000" dirty="0">
                <a:solidFill>
                  <a:srgbClr val="000000"/>
                </a:solidFill>
                <a:effectLst/>
              </a:rPr>
              <a:t>n_features_</a:t>
            </a:r>
            <a:r>
              <a:rPr lang="zh-CN" altLang="zh-CN" sz="1600" kern="1000" dirty="0">
                <a:solidFill>
                  <a:srgbClr val="000000"/>
                </a:solidFill>
                <a:effectLst/>
                <a:cs typeface="Times New Roman" panose="02020603050405020304" pitchFamily="18" charset="0"/>
              </a:rPr>
              <a:t>：训练时使用的特征数量。</a:t>
            </a:r>
            <a:endParaRPr lang="en-US" altLang="zh-CN" sz="1600" kern="1000" dirty="0">
              <a:solidFill>
                <a:srgbClr val="000000"/>
              </a:solidFill>
              <a:effectLst/>
              <a:cs typeface="Times New Roman" panose="02020603050405020304" pitchFamily="18" charset="0"/>
            </a:endParaRPr>
          </a:p>
          <a:p>
            <a:pPr marL="360045" indent="0" fontAlgn="auto">
              <a:buNone/>
            </a:pPr>
            <a:r>
              <a:rPr lang="en-US" altLang="zh-CN" sz="1600" dirty="0">
                <a:solidFill>
                  <a:schemeClr val="tx1">
                    <a:lumMod val="75000"/>
                    <a:lumOff val="25000"/>
                  </a:schemeClr>
                </a:solidFill>
              </a:rPr>
              <a:t>5）</a:t>
            </a:r>
            <a:r>
              <a:rPr lang="en-US" altLang="zh-CN" sz="1600" kern="1000" dirty="0">
                <a:solidFill>
                  <a:srgbClr val="000000"/>
                </a:solidFill>
                <a:effectLst/>
              </a:rPr>
              <a:t>n_outputs_</a:t>
            </a:r>
            <a:r>
              <a:rPr lang="zh-CN" altLang="zh-CN" sz="1600" kern="1000" dirty="0">
                <a:solidFill>
                  <a:srgbClr val="000000"/>
                </a:solidFill>
                <a:effectLst/>
                <a:cs typeface="Times New Roman" panose="02020603050405020304" pitchFamily="18" charset="0"/>
              </a:rPr>
              <a:t>：训练时输出的数量。</a:t>
            </a:r>
            <a:endParaRPr lang="en-US" altLang="zh-CN" sz="1600" kern="1000" dirty="0">
              <a:solidFill>
                <a:srgbClr val="000000"/>
              </a:solidFill>
              <a:effectLst/>
              <a:cs typeface="Times New Roman" panose="02020603050405020304" pitchFamily="18" charset="0"/>
            </a:endParaRPr>
          </a:p>
          <a:p>
            <a:pPr marL="360045" indent="0" fontAlgn="auto">
              <a:buNone/>
            </a:pPr>
            <a:r>
              <a:rPr lang="en-US" altLang="zh-CN" sz="1600" dirty="0">
                <a:solidFill>
                  <a:schemeClr val="tx1">
                    <a:lumMod val="75000"/>
                    <a:lumOff val="25000"/>
                  </a:schemeClr>
                </a:solidFill>
              </a:rPr>
              <a:t>6）</a:t>
            </a:r>
            <a:r>
              <a:rPr lang="en-US" altLang="zh-CN" sz="1600" kern="1000" dirty="0">
                <a:solidFill>
                  <a:srgbClr val="000000"/>
                </a:solidFill>
                <a:effectLst/>
              </a:rPr>
              <a:t>features_</a:t>
            </a:r>
            <a:r>
              <a:rPr lang="en-US" altLang="zh-CN" sz="1600" kern="1000" dirty="0">
                <a:solidFill>
                  <a:schemeClr val="tx1"/>
                </a:solidFill>
                <a:effectLst/>
              </a:rPr>
              <a:t>importances</a:t>
            </a:r>
            <a:r>
              <a:rPr lang="zh-CN" altLang="zh-CN" sz="1600" kern="1000" dirty="0">
                <a:solidFill>
                  <a:srgbClr val="000000"/>
                </a:solidFill>
                <a:effectLst/>
                <a:cs typeface="Times New Roman" panose="02020603050405020304" pitchFamily="18" charset="0"/>
              </a:rPr>
              <a:t>：</a:t>
            </a:r>
            <a:r>
              <a:rPr lang="zh-CN" altLang="zh-CN" sz="1600" kern="1000" dirty="0">
                <a:solidFill>
                  <a:srgbClr val="000000"/>
                </a:solidFill>
                <a:effectLst/>
                <a:cs typeface="宋体" panose="02010600030101010101" pitchFamily="2" charset="-122"/>
              </a:rPr>
              <a:t>特征的重要程度</a:t>
            </a:r>
            <a:r>
              <a:rPr lang="zh-CN" altLang="zh-CN" sz="1600" kern="1000" dirty="0">
                <a:solidFill>
                  <a:srgbClr val="000000"/>
                </a:solidFill>
                <a:effectLst/>
                <a:cs typeface="Times New Roman" panose="02020603050405020304" pitchFamily="18" charset="0"/>
              </a:rPr>
              <a:t>。该值越高，则该特征越重要。</a:t>
            </a:r>
            <a:endParaRPr lang="en-US" altLang="zh-CN" sz="1600" kern="1000" dirty="0">
              <a:solidFill>
                <a:srgbClr val="000000"/>
              </a:solidFill>
              <a:effectLst/>
              <a:cs typeface="Times New Roman" panose="02020603050405020304" pitchFamily="18" charset="0"/>
            </a:endParaRPr>
          </a:p>
          <a:p>
            <a:pPr marL="360045" indent="0" fontAlgn="auto">
              <a:buNone/>
            </a:pPr>
            <a:r>
              <a:rPr lang="en-US" altLang="zh-CN" sz="1600" dirty="0">
                <a:solidFill>
                  <a:schemeClr val="tx1">
                    <a:lumMod val="75000"/>
                    <a:lumOff val="25000"/>
                  </a:schemeClr>
                </a:solidFill>
              </a:rPr>
              <a:t>7）</a:t>
            </a:r>
            <a:r>
              <a:rPr lang="en-US" altLang="zh-CN" sz="1600" kern="1000" dirty="0">
                <a:solidFill>
                  <a:srgbClr val="000000"/>
                </a:solidFill>
                <a:effectLst/>
              </a:rPr>
              <a:t>oob_score_</a:t>
            </a:r>
            <a:r>
              <a:rPr lang="zh-CN" altLang="zh-CN" sz="1600" kern="1000" dirty="0">
                <a:solidFill>
                  <a:srgbClr val="000000"/>
                </a:solidFill>
                <a:effectLst/>
                <a:cs typeface="Times New Roman" panose="02020603050405020304" pitchFamily="18" charset="0"/>
              </a:rPr>
              <a:t>：</a:t>
            </a:r>
            <a:r>
              <a:rPr lang="zh-CN" altLang="zh-CN" sz="1600" kern="1000" dirty="0">
                <a:solidFill>
                  <a:srgbClr val="000000"/>
                </a:solidFill>
                <a:effectLst/>
                <a:cs typeface="宋体" panose="02010600030101010101" pitchFamily="2" charset="-122"/>
              </a:rPr>
              <a:t>训练数据使用</a:t>
            </a:r>
            <a:r>
              <a:rPr lang="zh-CN" altLang="zh-CN" sz="1600" kern="1000" dirty="0">
                <a:solidFill>
                  <a:schemeClr val="tx1"/>
                </a:solidFill>
                <a:effectLst/>
                <a:cs typeface="宋体" panose="02010600030101010101" pitchFamily="2" charset="-122"/>
              </a:rPr>
              <a:t>包外</a:t>
            </a:r>
            <a:r>
              <a:rPr lang="zh-CN" altLang="zh-CN" sz="1600" kern="1000" dirty="0">
                <a:solidFill>
                  <a:srgbClr val="000000"/>
                </a:solidFill>
                <a:effectLst/>
                <a:cs typeface="宋体" panose="02010600030101010101" pitchFamily="2" charset="-122"/>
              </a:rPr>
              <a:t>估计时的得分</a:t>
            </a:r>
            <a:r>
              <a:rPr lang="zh-CN" altLang="zh-CN" sz="1600" kern="1000" dirty="0">
                <a:solidFill>
                  <a:srgbClr val="000000"/>
                </a:solidFill>
                <a:effectLst/>
                <a:cs typeface="Times New Roman" panose="02020603050405020304" pitchFamily="18" charset="0"/>
              </a:rPr>
              <a:t>。</a:t>
            </a:r>
            <a:endParaRPr kumimoji="1" lang="zh-CN" altLang="en-US" sz="1600" dirty="0"/>
          </a:p>
          <a:p>
            <a:pPr marL="0" indent="0">
              <a:buNone/>
            </a:pPr>
            <a:endParaRPr kumimoji="1" lang="zh-CN" altLang="en-US" dirty="0"/>
          </a:p>
        </p:txBody>
      </p:sp>
      <p:sp>
        <p:nvSpPr>
          <p:cNvPr id="100" name="文本框 99"/>
          <p:cNvSpPr txBox="1"/>
          <p:nvPr/>
        </p:nvSpPr>
        <p:spPr>
          <a:xfrm>
            <a:off x="1344930" y="5755005"/>
            <a:ext cx="4013200" cy="337185"/>
          </a:xfrm>
          <a:prstGeom prst="rect">
            <a:avLst/>
          </a:prstGeom>
          <a:noFill/>
          <a:ln w="9525">
            <a:noFill/>
          </a:ln>
        </p:spPr>
        <p:txBody>
          <a:bodyPr wrap="square">
            <a:spAutoFit/>
          </a:bodyPr>
          <a:lstStyle/>
          <a:p>
            <a:pPr indent="0" algn="ctr"/>
            <a:r>
              <a:rPr lang="en-US" sz="1600" b="0" dirty="0">
                <a:solidFill>
                  <a:srgbClr val="000000"/>
                </a:solidFill>
                <a:latin typeface="宋体" panose="02010600030101010101" pitchFamily="2" charset="-122"/>
              </a:rPr>
              <a:t>        </a:t>
            </a:r>
            <a:r>
              <a:rPr lang="en-US" sz="1600" b="0" dirty="0">
                <a:solidFill>
                  <a:srgbClr val="000000"/>
                </a:solidFill>
                <a:latin typeface="Calibri" panose="020F0502020204030204" pitchFamily="34" charset="0"/>
              </a:rPr>
              <a:t>               </a:t>
            </a:r>
            <a:r>
              <a:rPr lang="en-US" sz="1600" b="0" dirty="0">
                <a:solidFill>
                  <a:srgbClr val="000000"/>
                </a:solidFill>
                <a:latin typeface="宋体" panose="02010600030101010101" pitchFamily="2" charset="-122"/>
              </a:rPr>
              <a:t>                                                                               </a:t>
            </a:r>
            <a:endParaRPr lang="zh-CN" altLang="en-US" sz="1600" dirty="0"/>
          </a:p>
        </p:txBody>
      </p:sp>
      <p:sp>
        <p:nvSpPr>
          <p:cNvPr id="9" name="文本框 8"/>
          <p:cNvSpPr txBox="1"/>
          <p:nvPr/>
        </p:nvSpPr>
        <p:spPr>
          <a:xfrm>
            <a:off x="3351530" y="6264075"/>
            <a:ext cx="5080000" cy="337185"/>
          </a:xfrm>
          <a:prstGeom prst="rect">
            <a:avLst/>
          </a:prstGeom>
          <a:noFill/>
          <a:ln w="9525">
            <a:noFill/>
          </a:ln>
        </p:spPr>
        <p:txBody>
          <a:bodyPr>
            <a:spAutoFit/>
          </a:bodyPr>
          <a:lstStyle/>
          <a:p>
            <a:pPr indent="0" algn="ctr"/>
            <a:endParaRPr lang="zh-CN" altLang="en-US" sz="1600" dirty="0"/>
          </a:p>
        </p:txBody>
      </p:sp>
      <p:sp>
        <p:nvSpPr>
          <p:cNvPr id="10" name="文本框 9"/>
          <p:cNvSpPr txBox="1"/>
          <p:nvPr/>
        </p:nvSpPr>
        <p:spPr>
          <a:xfrm>
            <a:off x="6097270" y="5674995"/>
            <a:ext cx="4013200" cy="337185"/>
          </a:xfrm>
          <a:prstGeom prst="rect">
            <a:avLst/>
          </a:prstGeom>
          <a:noFill/>
          <a:ln w="9525">
            <a:noFill/>
          </a:ln>
        </p:spPr>
        <p:txBody>
          <a:bodyPr wrap="square">
            <a:spAutoFit/>
          </a:bodyPr>
          <a:lstStyle/>
          <a:p>
            <a:pPr indent="0" algn="ctr"/>
            <a:r>
              <a:rPr lang="en-US" sz="1600" b="0" dirty="0">
                <a:solidFill>
                  <a:srgbClr val="000000"/>
                </a:solidFill>
                <a:latin typeface="宋体" panose="02010600030101010101" pitchFamily="2" charset="-122"/>
              </a:rPr>
              <a:t>        </a:t>
            </a:r>
            <a:r>
              <a:rPr lang="en-US" sz="1600" b="0" dirty="0">
                <a:solidFill>
                  <a:srgbClr val="000000"/>
                </a:solidFill>
                <a:latin typeface="Calibri" panose="020F0502020204030204" pitchFamily="34" charset="0"/>
              </a:rPr>
              <a:t>               </a:t>
            </a:r>
            <a:r>
              <a:rPr lang="en-US" sz="1600" b="0" dirty="0">
                <a:solidFill>
                  <a:srgbClr val="000000"/>
                </a:solidFill>
                <a:latin typeface="宋体" panose="02010600030101010101" pitchFamily="2" charset="-122"/>
              </a:rPr>
              <a:t>                                                                               </a:t>
            </a:r>
            <a:endParaRPr lang="zh-CN" altLang="en-US" sz="16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FF206FCC-0CBB-4DF4-89C1-3C9DB4B6E776}" type="slidenum">
              <a:rPr lang="zh-CN" altLang="en-US" smtClean="0"/>
            </a:fld>
            <a:r>
              <a:rPr lang="zh-CN" altLang="en-US"/>
              <a:t>   </a:t>
            </a:r>
            <a:endParaRPr lang="zh-CN" altLang="en-US" dirty="0"/>
          </a:p>
        </p:txBody>
      </p:sp>
      <p:sp>
        <p:nvSpPr>
          <p:cNvPr id="4" name="标题 3"/>
          <p:cNvSpPr>
            <a:spLocks noGrp="1"/>
          </p:cNvSpPr>
          <p:nvPr>
            <p:ph type="title"/>
          </p:nvPr>
        </p:nvSpPr>
        <p:spPr/>
        <p:txBody>
          <a:bodyPr/>
          <a:lstStyle/>
          <a:p>
            <a:pPr algn="just"/>
            <a:r>
              <a:rPr lang="zh-CN" altLang="en-US" dirty="0"/>
              <a:t>实现及参数</a:t>
            </a:r>
            <a:endParaRPr lang="en-US" altLang="zh-CN" dirty="0"/>
          </a:p>
        </p:txBody>
      </p:sp>
      <p:sp>
        <p:nvSpPr>
          <p:cNvPr id="5" name="内容占位符 1"/>
          <p:cNvSpPr>
            <a:spLocks noGrp="1"/>
          </p:cNvSpPr>
          <p:nvPr>
            <p:ph idx="1"/>
          </p:nvPr>
        </p:nvSpPr>
        <p:spPr>
          <a:xfrm>
            <a:off x="342928" y="1116352"/>
            <a:ext cx="10237796" cy="5484908"/>
          </a:xfrm>
        </p:spPr>
        <p:txBody>
          <a:bodyPr>
            <a:normAutofit/>
          </a:bodyPr>
          <a:lstStyle/>
          <a:p>
            <a:pPr marL="0" indent="0"/>
            <a:r>
              <a:rPr kumimoji="1" lang="en-US" altLang="zh-CN" sz="1900" dirty="0"/>
              <a:t>  </a:t>
            </a:r>
            <a:r>
              <a:rPr kumimoji="1" lang="zh-CN" altLang="en-US" dirty="0"/>
              <a:t>主要方法</a:t>
            </a:r>
            <a:r>
              <a:rPr lang="zh-CN" altLang="zh-CN" kern="1000" dirty="0">
                <a:solidFill>
                  <a:srgbClr val="000000"/>
                </a:solidFill>
                <a:effectLst/>
                <a:cs typeface="Times New Roman" panose="02020603050405020304" pitchFamily="18" charset="0"/>
              </a:rPr>
              <a:t>：</a:t>
            </a:r>
            <a:endParaRPr kumimoji="1" lang="en-US" altLang="zh-CN" dirty="0"/>
          </a:p>
          <a:p>
            <a:pPr marL="360045" indent="0" fontAlgn="auto">
              <a:buNone/>
            </a:pPr>
            <a:r>
              <a:rPr lang="en-US" altLang="zh-CN" sz="1600" dirty="0">
                <a:solidFill>
                  <a:schemeClr val="tx1">
                    <a:lumMod val="75000"/>
                    <a:lumOff val="25000"/>
                  </a:schemeClr>
                </a:solidFill>
              </a:rPr>
              <a:t>1）</a:t>
            </a:r>
            <a:r>
              <a:rPr lang="en-US" altLang="zh-CN" sz="1600" kern="1000" dirty="0">
                <a:solidFill>
                  <a:srgbClr val="000000"/>
                </a:solidFill>
                <a:effectLst/>
              </a:rPr>
              <a:t>fit(X, y[, </a:t>
            </a:r>
            <a:r>
              <a:rPr lang="en-US" altLang="zh-CN" sz="1600" kern="1000" dirty="0" err="1">
                <a:solidFill>
                  <a:srgbClr val="000000"/>
                </a:solidFill>
                <a:effectLst/>
              </a:rPr>
              <a:t>sample_weight</a:t>
            </a:r>
            <a:r>
              <a:rPr lang="en-US" altLang="zh-CN" sz="1600" kern="1000" dirty="0">
                <a:solidFill>
                  <a:srgbClr val="000000"/>
                </a:solidFill>
                <a:effectLst/>
              </a:rPr>
              <a:t>])</a:t>
            </a:r>
            <a:r>
              <a:rPr lang="zh-CN" altLang="zh-CN" sz="1600" kern="1000" dirty="0">
                <a:solidFill>
                  <a:srgbClr val="000000"/>
                </a:solidFill>
                <a:effectLst/>
                <a:cs typeface="Times New Roman" panose="02020603050405020304" pitchFamily="18" charset="0"/>
              </a:rPr>
              <a:t>：训练模型。</a:t>
            </a:r>
            <a:endParaRPr lang="en-US" altLang="zh-CN" sz="1600" kern="1000" dirty="0">
              <a:solidFill>
                <a:srgbClr val="000000"/>
              </a:solidFill>
              <a:effectLst/>
              <a:cs typeface="Times New Roman" panose="02020603050405020304" pitchFamily="18" charset="0"/>
            </a:endParaRPr>
          </a:p>
          <a:p>
            <a:pPr marL="360045" indent="0" fontAlgn="auto">
              <a:buNone/>
            </a:pPr>
            <a:r>
              <a:rPr lang="en-US" altLang="zh-CN" sz="1600" dirty="0">
                <a:solidFill>
                  <a:schemeClr val="tx1">
                    <a:lumMod val="75000"/>
                    <a:lumOff val="25000"/>
                  </a:schemeClr>
                </a:solidFill>
              </a:rPr>
              <a:t>2）</a:t>
            </a:r>
            <a:r>
              <a:rPr lang="en-US" altLang="zh-CN" sz="1600" kern="1000" dirty="0">
                <a:solidFill>
                  <a:srgbClr val="000000"/>
                </a:solidFill>
                <a:effectLst/>
              </a:rPr>
              <a:t>predict(X)</a:t>
            </a:r>
            <a:r>
              <a:rPr lang="zh-CN" altLang="zh-CN" sz="1600" kern="1000" dirty="0">
                <a:solidFill>
                  <a:srgbClr val="000000"/>
                </a:solidFill>
                <a:effectLst/>
                <a:cs typeface="Times New Roman" panose="02020603050405020304" pitchFamily="18" charset="0"/>
              </a:rPr>
              <a:t>：用模型进行预测，返回预测值。</a:t>
            </a:r>
            <a:endParaRPr lang="en-US" altLang="zh-CN" sz="1600" kern="1000" dirty="0">
              <a:solidFill>
                <a:srgbClr val="000000"/>
              </a:solidFill>
              <a:effectLst/>
              <a:cs typeface="Times New Roman" panose="02020603050405020304" pitchFamily="18" charset="0"/>
            </a:endParaRPr>
          </a:p>
          <a:p>
            <a:pPr marL="360045" indent="0" fontAlgn="auto">
              <a:buNone/>
            </a:pPr>
            <a:r>
              <a:rPr lang="en-US" altLang="zh-CN" sz="1600" dirty="0">
                <a:solidFill>
                  <a:schemeClr val="tx1">
                    <a:lumMod val="75000"/>
                    <a:lumOff val="25000"/>
                  </a:schemeClr>
                </a:solidFill>
              </a:rPr>
              <a:t>3）</a:t>
            </a:r>
            <a:r>
              <a:rPr lang="en-US" altLang="zh-CN" sz="1600" kern="1000" dirty="0">
                <a:solidFill>
                  <a:srgbClr val="000000"/>
                </a:solidFill>
                <a:effectLst/>
              </a:rPr>
              <a:t>predict_log_</a:t>
            </a:r>
            <a:r>
              <a:rPr lang="en-US" altLang="zh-CN" sz="1600" kern="1000" dirty="0">
                <a:solidFill>
                  <a:schemeClr val="tx1"/>
                </a:solidFill>
                <a:effectLst/>
              </a:rPr>
              <a:t>proba</a:t>
            </a:r>
            <a:r>
              <a:rPr lang="en-US" altLang="zh-CN" sz="1600" kern="1000" dirty="0">
                <a:solidFill>
                  <a:srgbClr val="000000"/>
                </a:solidFill>
                <a:effectLst/>
              </a:rPr>
              <a:t>(X)</a:t>
            </a:r>
            <a:r>
              <a:rPr lang="zh-CN" altLang="zh-CN" sz="1600" kern="1000" dirty="0">
                <a:solidFill>
                  <a:srgbClr val="000000"/>
                </a:solidFill>
                <a:effectLst/>
                <a:cs typeface="Times New Roman" panose="02020603050405020304" pitchFamily="18" charset="0"/>
              </a:rPr>
              <a:t>：返回一个数组，数组的元素依次是</a:t>
            </a:r>
            <a:r>
              <a:rPr lang="en-US" altLang="zh-CN" sz="1600" kern="1000" dirty="0">
                <a:solidFill>
                  <a:srgbClr val="000000"/>
                </a:solidFill>
                <a:effectLst/>
              </a:rPr>
              <a:t>X</a:t>
            </a:r>
            <a:r>
              <a:rPr lang="zh-CN" altLang="zh-CN" sz="1600" kern="1000" dirty="0">
                <a:solidFill>
                  <a:srgbClr val="000000"/>
                </a:solidFill>
                <a:effectLst/>
                <a:cs typeface="Times New Roman" panose="02020603050405020304" pitchFamily="18" charset="0"/>
              </a:rPr>
              <a:t>预测为各个类别概率的对数值。</a:t>
            </a:r>
            <a:endParaRPr lang="en-US" altLang="zh-CN" sz="1600" kern="1000" dirty="0">
              <a:solidFill>
                <a:srgbClr val="000000"/>
              </a:solidFill>
              <a:effectLst/>
              <a:cs typeface="Times New Roman" panose="02020603050405020304" pitchFamily="18" charset="0"/>
            </a:endParaRPr>
          </a:p>
          <a:p>
            <a:pPr marL="360045" indent="0" fontAlgn="auto">
              <a:buNone/>
            </a:pPr>
            <a:r>
              <a:rPr lang="en-US" altLang="zh-CN" sz="1600" dirty="0">
                <a:solidFill>
                  <a:schemeClr val="tx1">
                    <a:lumMod val="75000"/>
                    <a:lumOff val="25000"/>
                  </a:schemeClr>
                </a:solidFill>
              </a:rPr>
              <a:t>4</a:t>
            </a:r>
            <a:r>
              <a:rPr lang="zh-CN" altLang="en-US" sz="1600" dirty="0">
                <a:solidFill>
                  <a:schemeClr val="tx1">
                    <a:lumMod val="75000"/>
                    <a:lumOff val="25000"/>
                  </a:schemeClr>
                </a:solidFill>
              </a:rPr>
              <a:t>）</a:t>
            </a:r>
            <a:r>
              <a:rPr lang="en-US" altLang="zh-CN" sz="1600" kern="1000" dirty="0" err="1">
                <a:solidFill>
                  <a:srgbClr val="000000"/>
                </a:solidFill>
                <a:effectLst/>
              </a:rPr>
              <a:t>predict_</a:t>
            </a:r>
            <a:r>
              <a:rPr lang="en-US" altLang="zh-CN" sz="1600" kern="1000" dirty="0" err="1">
                <a:solidFill>
                  <a:schemeClr val="tx1"/>
                </a:solidFill>
                <a:effectLst/>
              </a:rPr>
              <a:t>proba</a:t>
            </a:r>
            <a:r>
              <a:rPr lang="en-US" altLang="zh-CN" sz="1600" kern="1000" dirty="0">
                <a:solidFill>
                  <a:srgbClr val="000000"/>
                </a:solidFill>
                <a:effectLst/>
              </a:rPr>
              <a:t>(X)</a:t>
            </a:r>
            <a:r>
              <a:rPr lang="zh-CN" altLang="zh-CN" sz="1600" kern="1000" dirty="0">
                <a:solidFill>
                  <a:srgbClr val="000000"/>
                </a:solidFill>
                <a:effectLst/>
                <a:cs typeface="Times New Roman" panose="02020603050405020304" pitchFamily="18" charset="0"/>
              </a:rPr>
              <a:t>：返回一个数组，数组的元素依次是</a:t>
            </a:r>
            <a:r>
              <a:rPr lang="en-US" altLang="zh-CN" sz="1600" kern="1000" dirty="0">
                <a:solidFill>
                  <a:srgbClr val="000000"/>
                </a:solidFill>
                <a:effectLst/>
              </a:rPr>
              <a:t>X</a:t>
            </a:r>
            <a:r>
              <a:rPr lang="zh-CN" altLang="zh-CN" sz="1600" kern="1000" dirty="0">
                <a:solidFill>
                  <a:srgbClr val="000000"/>
                </a:solidFill>
                <a:effectLst/>
                <a:cs typeface="Times New Roman" panose="02020603050405020304" pitchFamily="18" charset="0"/>
              </a:rPr>
              <a:t>预测为各个类别的概率值。</a:t>
            </a:r>
            <a:endParaRPr lang="en-US" altLang="zh-CN" sz="1600" kern="1000" dirty="0">
              <a:solidFill>
                <a:srgbClr val="000000"/>
              </a:solidFill>
              <a:effectLst/>
              <a:cs typeface="Times New Roman" panose="02020603050405020304" pitchFamily="18" charset="0"/>
            </a:endParaRPr>
          </a:p>
          <a:p>
            <a:pPr marL="360045" indent="0" fontAlgn="auto">
              <a:buNone/>
            </a:pPr>
            <a:r>
              <a:rPr lang="en-US" altLang="zh-CN" sz="1600" dirty="0">
                <a:solidFill>
                  <a:schemeClr val="tx1">
                    <a:lumMod val="75000"/>
                    <a:lumOff val="25000"/>
                  </a:schemeClr>
                </a:solidFill>
              </a:rPr>
              <a:t>5）</a:t>
            </a:r>
            <a:r>
              <a:rPr lang="en-US" altLang="zh-CN" sz="1600" kern="1000" dirty="0">
                <a:solidFill>
                  <a:srgbClr val="000000"/>
                </a:solidFill>
                <a:effectLst/>
              </a:rPr>
              <a:t>score(X, y[, </a:t>
            </a:r>
            <a:r>
              <a:rPr lang="en-US" altLang="zh-CN" sz="1600" kern="1000" dirty="0" err="1">
                <a:solidFill>
                  <a:srgbClr val="000000"/>
                </a:solidFill>
                <a:effectLst/>
              </a:rPr>
              <a:t>sample_weight</a:t>
            </a:r>
            <a:r>
              <a:rPr lang="en-US" altLang="zh-CN" sz="1600" kern="1000" dirty="0">
                <a:solidFill>
                  <a:srgbClr val="000000"/>
                </a:solidFill>
                <a:effectLst/>
              </a:rPr>
              <a:t>])</a:t>
            </a:r>
            <a:r>
              <a:rPr lang="zh-CN" altLang="zh-CN" sz="1600" kern="1000" dirty="0">
                <a:solidFill>
                  <a:srgbClr val="000000"/>
                </a:solidFill>
                <a:effectLst/>
                <a:cs typeface="Times New Roman" panose="02020603050405020304" pitchFamily="18" charset="0"/>
              </a:rPr>
              <a:t>：返回在</a:t>
            </a:r>
            <a:r>
              <a:rPr lang="en-US" altLang="zh-CN" sz="1600" kern="1000" dirty="0">
                <a:solidFill>
                  <a:srgbClr val="000000"/>
                </a:solidFill>
                <a:effectLst/>
              </a:rPr>
              <a:t>(X, y)</a:t>
            </a:r>
            <a:r>
              <a:rPr lang="zh-CN" altLang="zh-CN" sz="1600" kern="1000" dirty="0">
                <a:solidFill>
                  <a:srgbClr val="000000"/>
                </a:solidFill>
                <a:effectLst/>
                <a:cs typeface="Times New Roman" panose="02020603050405020304" pitchFamily="18" charset="0"/>
              </a:rPr>
              <a:t>上预测的准确率。</a:t>
            </a:r>
            <a:endParaRPr lang="en-US" altLang="zh-CN" sz="1600" kern="1000" dirty="0">
              <a:solidFill>
                <a:srgbClr val="000000"/>
              </a:solidFill>
              <a:effectLst/>
              <a:cs typeface="Times New Roman" panose="02020603050405020304" pitchFamily="18" charset="0"/>
            </a:endParaRPr>
          </a:p>
          <a:p>
            <a:pPr marL="0" indent="0">
              <a:buNone/>
            </a:pPr>
            <a:endParaRPr kumimoji="1" lang="zh-CN" altLang="en-US" dirty="0"/>
          </a:p>
        </p:txBody>
      </p:sp>
      <p:sp>
        <p:nvSpPr>
          <p:cNvPr id="100" name="文本框 99"/>
          <p:cNvSpPr txBox="1"/>
          <p:nvPr/>
        </p:nvSpPr>
        <p:spPr>
          <a:xfrm>
            <a:off x="1344930" y="5755005"/>
            <a:ext cx="4013200" cy="337185"/>
          </a:xfrm>
          <a:prstGeom prst="rect">
            <a:avLst/>
          </a:prstGeom>
          <a:noFill/>
          <a:ln w="9525">
            <a:noFill/>
          </a:ln>
        </p:spPr>
        <p:txBody>
          <a:bodyPr wrap="square">
            <a:spAutoFit/>
          </a:bodyPr>
          <a:lstStyle/>
          <a:p>
            <a:pPr indent="0" algn="ctr"/>
            <a:r>
              <a:rPr lang="en-US" sz="1600" b="0" dirty="0">
                <a:solidFill>
                  <a:srgbClr val="000000"/>
                </a:solidFill>
                <a:latin typeface="宋体" panose="02010600030101010101" pitchFamily="2" charset="-122"/>
              </a:rPr>
              <a:t>        </a:t>
            </a:r>
            <a:r>
              <a:rPr lang="en-US" sz="1600" b="0" dirty="0">
                <a:solidFill>
                  <a:srgbClr val="000000"/>
                </a:solidFill>
                <a:latin typeface="Calibri" panose="020F0502020204030204" pitchFamily="34" charset="0"/>
              </a:rPr>
              <a:t>               </a:t>
            </a:r>
            <a:r>
              <a:rPr lang="en-US" sz="1600" b="0" dirty="0">
                <a:solidFill>
                  <a:srgbClr val="000000"/>
                </a:solidFill>
                <a:latin typeface="宋体" panose="02010600030101010101" pitchFamily="2" charset="-122"/>
              </a:rPr>
              <a:t>                                                                               </a:t>
            </a:r>
            <a:endParaRPr lang="zh-CN" altLang="en-US" sz="1600" dirty="0"/>
          </a:p>
        </p:txBody>
      </p:sp>
      <p:sp>
        <p:nvSpPr>
          <p:cNvPr id="9" name="文本框 8"/>
          <p:cNvSpPr txBox="1"/>
          <p:nvPr/>
        </p:nvSpPr>
        <p:spPr>
          <a:xfrm>
            <a:off x="3351530" y="6264075"/>
            <a:ext cx="5080000" cy="337185"/>
          </a:xfrm>
          <a:prstGeom prst="rect">
            <a:avLst/>
          </a:prstGeom>
          <a:noFill/>
          <a:ln w="9525">
            <a:noFill/>
          </a:ln>
        </p:spPr>
        <p:txBody>
          <a:bodyPr>
            <a:spAutoFit/>
          </a:bodyPr>
          <a:lstStyle/>
          <a:p>
            <a:pPr indent="0" algn="ctr"/>
            <a:endParaRPr lang="zh-CN" altLang="en-US" sz="1600" dirty="0"/>
          </a:p>
        </p:txBody>
      </p:sp>
      <p:sp>
        <p:nvSpPr>
          <p:cNvPr id="10" name="文本框 9"/>
          <p:cNvSpPr txBox="1"/>
          <p:nvPr/>
        </p:nvSpPr>
        <p:spPr>
          <a:xfrm>
            <a:off x="6097270" y="5674995"/>
            <a:ext cx="4013200" cy="337185"/>
          </a:xfrm>
          <a:prstGeom prst="rect">
            <a:avLst/>
          </a:prstGeom>
          <a:noFill/>
          <a:ln w="9525">
            <a:noFill/>
          </a:ln>
        </p:spPr>
        <p:txBody>
          <a:bodyPr wrap="square">
            <a:spAutoFit/>
          </a:bodyPr>
          <a:lstStyle/>
          <a:p>
            <a:pPr indent="0" algn="ctr"/>
            <a:r>
              <a:rPr lang="en-US" sz="1600" b="0" dirty="0">
                <a:solidFill>
                  <a:srgbClr val="000000"/>
                </a:solidFill>
                <a:latin typeface="宋体" panose="02010600030101010101" pitchFamily="2" charset="-122"/>
              </a:rPr>
              <a:t>        </a:t>
            </a:r>
            <a:r>
              <a:rPr lang="en-US" sz="1600" b="0" dirty="0">
                <a:solidFill>
                  <a:srgbClr val="000000"/>
                </a:solidFill>
                <a:latin typeface="Calibri" panose="020F0502020204030204" pitchFamily="34" charset="0"/>
              </a:rPr>
              <a:t>               </a:t>
            </a:r>
            <a:r>
              <a:rPr lang="en-US" sz="1600" b="0" dirty="0">
                <a:solidFill>
                  <a:srgbClr val="000000"/>
                </a:solidFill>
                <a:latin typeface="宋体" panose="02010600030101010101" pitchFamily="2" charset="-122"/>
              </a:rPr>
              <a:t>                                                                               </a:t>
            </a:r>
            <a:endParaRPr lang="zh-CN" altLang="en-US" sz="16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FF206FCC-0CBB-4DF4-89C1-3C9DB4B6E776}" type="slidenum">
              <a:rPr lang="zh-CN" altLang="en-US" smtClean="0"/>
            </a:fld>
            <a:r>
              <a:rPr lang="zh-CN" altLang="en-US"/>
              <a:t>   </a:t>
            </a:r>
            <a:endParaRPr lang="zh-CN" altLang="en-US" dirty="0"/>
          </a:p>
        </p:txBody>
      </p:sp>
      <p:sp>
        <p:nvSpPr>
          <p:cNvPr id="5" name="内容占位符 1"/>
          <p:cNvSpPr>
            <a:spLocks noGrp="1"/>
          </p:cNvSpPr>
          <p:nvPr>
            <p:ph idx="1"/>
          </p:nvPr>
        </p:nvSpPr>
        <p:spPr>
          <a:xfrm>
            <a:off x="633384" y="960949"/>
            <a:ext cx="10237796" cy="5600449"/>
          </a:xfrm>
        </p:spPr>
        <p:txBody>
          <a:bodyPr>
            <a:normAutofit/>
          </a:bodyPr>
          <a:lstStyle/>
          <a:p>
            <a:pPr marL="0" indent="0"/>
            <a:r>
              <a:rPr lang="en-US" altLang="zh-CN" kern="1000" dirty="0">
                <a:solidFill>
                  <a:srgbClr val="000000"/>
                </a:solidFill>
                <a:effectLst/>
                <a:cs typeface="Times New Roman" panose="02020603050405020304" pitchFamily="18" charset="0"/>
              </a:rPr>
              <a:t>【</a:t>
            </a:r>
            <a:r>
              <a:rPr lang="zh-CN" altLang="en-US" kern="1000" dirty="0">
                <a:solidFill>
                  <a:srgbClr val="000000"/>
                </a:solidFill>
                <a:effectLst/>
                <a:cs typeface="Times New Roman" panose="02020603050405020304" pitchFamily="18" charset="0"/>
              </a:rPr>
              <a:t>例</a:t>
            </a:r>
            <a:r>
              <a:rPr lang="en-US" altLang="zh-CN" kern="1000" dirty="0">
                <a:solidFill>
                  <a:srgbClr val="000000"/>
                </a:solidFill>
                <a:cs typeface="Times New Roman" panose="02020603050405020304" pitchFamily="18" charset="0"/>
              </a:rPr>
              <a:t>7-1</a:t>
            </a:r>
            <a:r>
              <a:rPr lang="en-US" altLang="zh-CN" kern="1000" dirty="0">
                <a:solidFill>
                  <a:srgbClr val="000000"/>
                </a:solidFill>
                <a:effectLst/>
                <a:cs typeface="Times New Roman" panose="02020603050405020304" pitchFamily="18" charset="0"/>
              </a:rPr>
              <a:t>】</a:t>
            </a:r>
            <a:r>
              <a:rPr lang="zh-CN" altLang="zh-CN" kern="1000" dirty="0">
                <a:solidFill>
                  <a:srgbClr val="000000"/>
                </a:solidFill>
                <a:effectLst/>
                <a:cs typeface="Times New Roman" panose="02020603050405020304" pitchFamily="18" charset="0"/>
              </a:rPr>
              <a:t>对随机森林分类器和决策树分类器进行比较：</a:t>
            </a:r>
            <a:endParaRPr kumimoji="1" lang="en-US" altLang="zh-CN" dirty="0"/>
          </a:p>
          <a:p>
            <a:pPr marL="533400" marR="120015" indent="0" algn="just">
              <a:buNone/>
            </a:pPr>
            <a:r>
              <a:rPr lang="en-US" altLang="zh-CN" sz="1600" kern="1000" dirty="0">
                <a:solidFill>
                  <a:schemeClr val="tx1"/>
                </a:solidFill>
                <a:effectLst/>
              </a:rPr>
              <a:t># </a:t>
            </a:r>
            <a:r>
              <a:rPr lang="zh-CN" altLang="zh-CN" sz="1600" kern="1000" dirty="0">
                <a:solidFill>
                  <a:schemeClr val="tx1"/>
                </a:solidFill>
                <a:effectLst/>
              </a:rPr>
              <a:t>导入内置数据集模块</a:t>
            </a:r>
            <a:endParaRPr lang="zh-CN" altLang="zh-CN" sz="1600" kern="1000" dirty="0">
              <a:solidFill>
                <a:schemeClr val="tx1"/>
              </a:solidFill>
              <a:effectLst/>
            </a:endParaRPr>
          </a:p>
          <a:p>
            <a:pPr marL="533400" marR="120015" indent="0" algn="just">
              <a:buNone/>
            </a:pPr>
            <a:r>
              <a:rPr lang="en-US" altLang="zh-CN" sz="1600" kern="1000" dirty="0">
                <a:solidFill>
                  <a:schemeClr val="tx1"/>
                </a:solidFill>
                <a:effectLst/>
              </a:rPr>
              <a:t>from </a:t>
            </a:r>
            <a:r>
              <a:rPr lang="en-US" altLang="zh-CN" sz="1600" kern="1000" dirty="0" err="1">
                <a:solidFill>
                  <a:schemeClr val="tx1"/>
                </a:solidFill>
                <a:effectLst/>
              </a:rPr>
              <a:t>sklearn.datasets</a:t>
            </a:r>
            <a:r>
              <a:rPr lang="en-US" altLang="zh-CN" sz="1600" kern="1000" dirty="0">
                <a:solidFill>
                  <a:schemeClr val="tx1"/>
                </a:solidFill>
                <a:effectLst/>
              </a:rPr>
              <a:t> import </a:t>
            </a:r>
            <a:r>
              <a:rPr lang="en-US" altLang="zh-CN" sz="1600" kern="1000" dirty="0" err="1">
                <a:solidFill>
                  <a:schemeClr val="tx1"/>
                </a:solidFill>
                <a:effectLst/>
              </a:rPr>
              <a:t>load_breast_cancer</a:t>
            </a:r>
            <a:endParaRPr lang="zh-CN" altLang="zh-CN" sz="1600" kern="1000" dirty="0">
              <a:solidFill>
                <a:schemeClr val="tx1"/>
              </a:solidFill>
              <a:effectLst/>
            </a:endParaRPr>
          </a:p>
          <a:p>
            <a:pPr marL="533400" marR="120015" indent="0" algn="just">
              <a:buNone/>
            </a:pPr>
            <a:r>
              <a:rPr lang="en-US" altLang="zh-CN" sz="1600" kern="1000" dirty="0">
                <a:solidFill>
                  <a:schemeClr val="tx1"/>
                </a:solidFill>
                <a:effectLst/>
              </a:rPr>
              <a:t># </a:t>
            </a:r>
            <a:r>
              <a:rPr lang="zh-CN" altLang="zh-CN" sz="1600" kern="1000" dirty="0">
                <a:solidFill>
                  <a:schemeClr val="tx1"/>
                </a:solidFill>
                <a:effectLst/>
              </a:rPr>
              <a:t>导入</a:t>
            </a:r>
            <a:r>
              <a:rPr lang="en-US" altLang="zh-CN" sz="1600" kern="1000" dirty="0" err="1">
                <a:solidFill>
                  <a:schemeClr val="tx1"/>
                </a:solidFill>
                <a:effectLst/>
              </a:rPr>
              <a:t>sklearn</a:t>
            </a:r>
            <a:r>
              <a:rPr lang="zh-CN" altLang="zh-CN" sz="1600" kern="1000" dirty="0">
                <a:solidFill>
                  <a:schemeClr val="tx1"/>
                </a:solidFill>
                <a:effectLst/>
              </a:rPr>
              <a:t>模块中的决策树分类器类和随机森林分类器类</a:t>
            </a:r>
            <a:endParaRPr lang="zh-CN" altLang="zh-CN" sz="1600" kern="1000" dirty="0">
              <a:solidFill>
                <a:schemeClr val="tx1"/>
              </a:solidFill>
              <a:effectLst/>
            </a:endParaRPr>
          </a:p>
          <a:p>
            <a:pPr marL="533400" marR="120015" indent="0" algn="just">
              <a:buNone/>
            </a:pPr>
            <a:r>
              <a:rPr lang="en-US" altLang="zh-CN" sz="1600" kern="1000" dirty="0">
                <a:solidFill>
                  <a:schemeClr val="tx1"/>
                </a:solidFill>
                <a:effectLst/>
              </a:rPr>
              <a:t>from </a:t>
            </a:r>
            <a:r>
              <a:rPr lang="en-US" altLang="zh-CN" sz="1600" kern="1000" dirty="0" err="1">
                <a:solidFill>
                  <a:schemeClr val="tx1"/>
                </a:solidFill>
                <a:effectLst/>
              </a:rPr>
              <a:t>sklearn.tree</a:t>
            </a:r>
            <a:r>
              <a:rPr lang="en-US" altLang="zh-CN" sz="1600" kern="1000" dirty="0">
                <a:solidFill>
                  <a:schemeClr val="tx1"/>
                </a:solidFill>
                <a:effectLst/>
              </a:rPr>
              <a:t> import </a:t>
            </a:r>
            <a:r>
              <a:rPr lang="en-US" altLang="zh-CN" sz="1600" kern="1000" dirty="0" err="1">
                <a:solidFill>
                  <a:schemeClr val="tx1"/>
                </a:solidFill>
                <a:effectLst/>
              </a:rPr>
              <a:t>DecisionTreeClassifier</a:t>
            </a:r>
            <a:endParaRPr lang="zh-CN" altLang="zh-CN" sz="1600" kern="1000" dirty="0">
              <a:solidFill>
                <a:schemeClr val="tx1"/>
              </a:solidFill>
              <a:effectLst/>
            </a:endParaRPr>
          </a:p>
          <a:p>
            <a:pPr marL="533400" marR="120015" indent="0" algn="just">
              <a:buNone/>
            </a:pPr>
            <a:r>
              <a:rPr lang="en-US" altLang="zh-CN" sz="1600" kern="1000" dirty="0">
                <a:solidFill>
                  <a:schemeClr val="tx1"/>
                </a:solidFill>
                <a:effectLst/>
              </a:rPr>
              <a:t>from </a:t>
            </a:r>
            <a:r>
              <a:rPr lang="en-US" altLang="zh-CN" sz="1600" kern="1000" dirty="0" err="1">
                <a:solidFill>
                  <a:schemeClr val="tx1"/>
                </a:solidFill>
                <a:effectLst/>
              </a:rPr>
              <a:t>sklearn.ensemble</a:t>
            </a:r>
            <a:r>
              <a:rPr lang="en-US" altLang="zh-CN" sz="1600" kern="1000" dirty="0">
                <a:solidFill>
                  <a:schemeClr val="tx1"/>
                </a:solidFill>
                <a:effectLst/>
              </a:rPr>
              <a:t> import </a:t>
            </a:r>
            <a:r>
              <a:rPr lang="en-US" altLang="zh-CN" sz="1600" kern="1000" dirty="0" err="1">
                <a:solidFill>
                  <a:schemeClr val="tx1"/>
                </a:solidFill>
                <a:effectLst/>
              </a:rPr>
              <a:t>RandomForestClassifier</a:t>
            </a:r>
            <a:endParaRPr lang="zh-CN" altLang="zh-CN" sz="1600" kern="1000" dirty="0">
              <a:solidFill>
                <a:schemeClr val="tx1"/>
              </a:solidFill>
              <a:effectLst/>
            </a:endParaRPr>
          </a:p>
          <a:p>
            <a:pPr marL="533400" marR="120015" indent="0" algn="just">
              <a:buNone/>
            </a:pPr>
            <a:r>
              <a:rPr lang="en-US" altLang="zh-CN" sz="1600" kern="1000" dirty="0">
                <a:solidFill>
                  <a:schemeClr val="tx1"/>
                </a:solidFill>
                <a:effectLst/>
              </a:rPr>
              <a:t># </a:t>
            </a:r>
            <a:r>
              <a:rPr lang="zh-CN" altLang="zh-CN" sz="1600" kern="1000" dirty="0">
                <a:solidFill>
                  <a:schemeClr val="tx1"/>
                </a:solidFill>
                <a:effectLst/>
              </a:rPr>
              <a:t>导入</a:t>
            </a:r>
            <a:r>
              <a:rPr lang="en-US" altLang="zh-CN" sz="1600" kern="1000" dirty="0" err="1">
                <a:solidFill>
                  <a:schemeClr val="tx1"/>
                </a:solidFill>
                <a:effectLst/>
              </a:rPr>
              <a:t>sklearn</a:t>
            </a:r>
            <a:r>
              <a:rPr lang="zh-CN" altLang="zh-CN" sz="1600" kern="1000" dirty="0">
                <a:solidFill>
                  <a:schemeClr val="tx1"/>
                </a:solidFill>
                <a:effectLst/>
              </a:rPr>
              <a:t>模块中的模型验证类</a:t>
            </a:r>
            <a:endParaRPr lang="zh-CN" altLang="zh-CN" sz="1600" kern="1000" dirty="0">
              <a:solidFill>
                <a:schemeClr val="tx1"/>
              </a:solidFill>
              <a:effectLst/>
            </a:endParaRPr>
          </a:p>
          <a:p>
            <a:pPr marL="533400" marR="120015" indent="0" algn="just">
              <a:buNone/>
            </a:pPr>
            <a:r>
              <a:rPr lang="en-US" altLang="zh-CN" sz="1600" kern="1000" dirty="0">
                <a:solidFill>
                  <a:schemeClr val="tx1"/>
                </a:solidFill>
                <a:effectLst/>
              </a:rPr>
              <a:t>from </a:t>
            </a:r>
            <a:r>
              <a:rPr lang="en-US" altLang="zh-CN" sz="1600" kern="1000" dirty="0" err="1">
                <a:solidFill>
                  <a:schemeClr val="tx1"/>
                </a:solidFill>
                <a:effectLst/>
              </a:rPr>
              <a:t>sklearn.model_selection</a:t>
            </a:r>
            <a:r>
              <a:rPr lang="en-US" altLang="zh-CN" sz="1600" kern="1000" dirty="0">
                <a:solidFill>
                  <a:schemeClr val="tx1"/>
                </a:solidFill>
                <a:effectLst/>
              </a:rPr>
              <a:t> import </a:t>
            </a:r>
            <a:r>
              <a:rPr lang="en-US" altLang="zh-CN" sz="1600" kern="1000" dirty="0" err="1">
                <a:solidFill>
                  <a:schemeClr val="tx1"/>
                </a:solidFill>
                <a:effectLst/>
              </a:rPr>
              <a:t>train_test_split,cross_val_score</a:t>
            </a:r>
            <a:endParaRPr lang="zh-CN" altLang="zh-CN" sz="1600" kern="1000" dirty="0">
              <a:solidFill>
                <a:schemeClr val="tx1"/>
              </a:solidFill>
              <a:effectLst/>
            </a:endParaRPr>
          </a:p>
          <a:p>
            <a:pPr marL="533400" marR="120015" indent="0" algn="just">
              <a:buNone/>
            </a:pPr>
            <a:r>
              <a:rPr lang="en-US" altLang="zh-CN" sz="1600" kern="1000" dirty="0">
                <a:solidFill>
                  <a:schemeClr val="tx1"/>
                </a:solidFill>
                <a:effectLst/>
              </a:rPr>
              <a:t>import </a:t>
            </a:r>
            <a:r>
              <a:rPr lang="en-US" altLang="zh-CN" sz="1600" kern="1000" dirty="0" err="1">
                <a:solidFill>
                  <a:schemeClr val="tx1"/>
                </a:solidFill>
                <a:effectLst/>
              </a:rPr>
              <a:t>matplotlib.pyplot</a:t>
            </a:r>
            <a:r>
              <a:rPr lang="en-US" altLang="zh-CN" sz="1600" kern="1000" dirty="0">
                <a:solidFill>
                  <a:schemeClr val="tx1"/>
                </a:solidFill>
                <a:effectLst/>
              </a:rPr>
              <a:t> as </a:t>
            </a:r>
            <a:r>
              <a:rPr lang="en-US" altLang="zh-CN" sz="1600" kern="1000" dirty="0" err="1">
                <a:solidFill>
                  <a:schemeClr val="tx1"/>
                </a:solidFill>
                <a:effectLst/>
              </a:rPr>
              <a:t>plt</a:t>
            </a:r>
            <a:endParaRPr lang="zh-CN" altLang="zh-CN" sz="1600" kern="1000" dirty="0">
              <a:solidFill>
                <a:schemeClr val="tx1"/>
              </a:solidFill>
              <a:effectLst/>
            </a:endParaRPr>
          </a:p>
          <a:p>
            <a:pPr marL="0" indent="0">
              <a:buNone/>
            </a:pPr>
            <a:endParaRPr kumimoji="1" lang="zh-CN" altLang="en-US" dirty="0"/>
          </a:p>
        </p:txBody>
      </p:sp>
      <p:sp>
        <p:nvSpPr>
          <p:cNvPr id="7" name="标题 3"/>
          <p:cNvSpPr>
            <a:spLocks noGrp="1"/>
          </p:cNvSpPr>
          <p:nvPr>
            <p:ph type="title"/>
          </p:nvPr>
        </p:nvSpPr>
        <p:spPr>
          <a:xfrm>
            <a:off x="327898" y="262087"/>
            <a:ext cx="4776874" cy="606839"/>
          </a:xfrm>
          <a:solidFill>
            <a:srgbClr val="92D050"/>
          </a:solidFill>
        </p:spPr>
        <p:txBody>
          <a:bodyPr/>
          <a:lstStyle/>
          <a:p>
            <a:pPr algn="just"/>
            <a:r>
              <a:rPr lang="zh-CN" altLang="en-US" dirty="0"/>
              <a:t>算法实例</a:t>
            </a:r>
            <a:endParaRPr lang="en-US" altLang="zh-CN"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FF206FCC-0CBB-4DF4-89C1-3C9DB4B6E776}" type="slidenum">
              <a:rPr lang="zh-CN" altLang="en-US" smtClean="0"/>
            </a:fld>
            <a:r>
              <a:rPr lang="zh-CN" altLang="en-US"/>
              <a:t>   </a:t>
            </a:r>
            <a:endParaRPr lang="zh-CN" altLang="en-US" dirty="0"/>
          </a:p>
        </p:txBody>
      </p:sp>
      <p:sp>
        <p:nvSpPr>
          <p:cNvPr id="5" name="内容占位符 1"/>
          <p:cNvSpPr>
            <a:spLocks noGrp="1"/>
          </p:cNvSpPr>
          <p:nvPr>
            <p:ph idx="1"/>
          </p:nvPr>
        </p:nvSpPr>
        <p:spPr>
          <a:xfrm>
            <a:off x="342928" y="1025495"/>
            <a:ext cx="10237796" cy="5600449"/>
          </a:xfrm>
        </p:spPr>
        <p:txBody>
          <a:bodyPr>
            <a:normAutofit/>
          </a:bodyPr>
          <a:lstStyle/>
          <a:p>
            <a:pPr marL="533400" marR="120015" indent="0" algn="just">
              <a:buNone/>
            </a:pPr>
            <a:r>
              <a:rPr lang="en-US" altLang="zh-CN" sz="1600" kern="1000" dirty="0">
                <a:solidFill>
                  <a:srgbClr val="000000"/>
                </a:solidFill>
                <a:effectLst/>
              </a:rPr>
              <a:t># </a:t>
            </a:r>
            <a:r>
              <a:rPr lang="zh-CN" altLang="zh-CN" sz="1600" kern="1000" dirty="0">
                <a:solidFill>
                  <a:srgbClr val="000000"/>
                </a:solidFill>
                <a:effectLst/>
              </a:rPr>
              <a:t>导入乳腺癌数据集</a:t>
            </a:r>
            <a:endParaRPr lang="zh-CN" altLang="zh-CN" sz="1600" kern="1000" dirty="0">
              <a:solidFill>
                <a:srgbClr val="000000"/>
              </a:solidFill>
              <a:effectLst/>
            </a:endParaRPr>
          </a:p>
          <a:p>
            <a:pPr marL="533400" marR="120015" indent="0" algn="just">
              <a:buNone/>
            </a:pPr>
            <a:r>
              <a:rPr lang="en-US" altLang="zh-CN" sz="1600" kern="1000" dirty="0">
                <a:solidFill>
                  <a:srgbClr val="000000"/>
                </a:solidFill>
                <a:effectLst/>
              </a:rPr>
              <a:t>cancer = </a:t>
            </a:r>
            <a:r>
              <a:rPr lang="en-US" altLang="zh-CN" sz="1600" kern="1000" dirty="0" err="1">
                <a:solidFill>
                  <a:srgbClr val="000000"/>
                </a:solidFill>
                <a:effectLst/>
              </a:rPr>
              <a:t>load_breast_cancer</a:t>
            </a:r>
            <a:r>
              <a:rPr lang="en-US" altLang="zh-CN" sz="1600" kern="1000" dirty="0">
                <a:solidFill>
                  <a:srgbClr val="000000"/>
                </a:solidFill>
                <a:effectLst/>
              </a:rPr>
              <a:t>()</a:t>
            </a:r>
            <a:endParaRPr lang="zh-CN" altLang="zh-CN" sz="1600" kern="1000" dirty="0">
              <a:solidFill>
                <a:srgbClr val="000000"/>
              </a:solidFill>
              <a:effectLst/>
            </a:endParaRPr>
          </a:p>
          <a:p>
            <a:pPr marL="533400" marR="120015" indent="0" algn="just">
              <a:buNone/>
            </a:pPr>
            <a:r>
              <a:rPr lang="en-US" altLang="zh-CN" sz="1600" kern="1000" dirty="0">
                <a:solidFill>
                  <a:srgbClr val="000000"/>
                </a:solidFill>
                <a:effectLst/>
              </a:rPr>
              <a:t># </a:t>
            </a:r>
            <a:r>
              <a:rPr lang="zh-CN" altLang="zh-CN" sz="1600" kern="1000" dirty="0">
                <a:solidFill>
                  <a:srgbClr val="000000"/>
                </a:solidFill>
                <a:effectLst/>
              </a:rPr>
              <a:t>使用</a:t>
            </a:r>
            <a:r>
              <a:rPr lang="en-US" altLang="zh-CN" sz="1600" kern="1000" dirty="0" err="1">
                <a:solidFill>
                  <a:srgbClr val="000000"/>
                </a:solidFill>
                <a:effectLst/>
              </a:rPr>
              <a:t>train_test_split</a:t>
            </a:r>
            <a:r>
              <a:rPr lang="zh-CN" altLang="zh-CN" sz="1600" kern="1000" dirty="0">
                <a:solidFill>
                  <a:srgbClr val="000000"/>
                </a:solidFill>
                <a:effectLst/>
              </a:rPr>
              <a:t>函数自动分割训练集与测试集，其中</a:t>
            </a:r>
            <a:r>
              <a:rPr lang="en-US" altLang="zh-CN" sz="1600" kern="1000" dirty="0" err="1">
                <a:solidFill>
                  <a:srgbClr val="000000"/>
                </a:solidFill>
                <a:effectLst/>
              </a:rPr>
              <a:t>test_size</a:t>
            </a:r>
            <a:r>
              <a:rPr lang="zh-CN" altLang="zh-CN" sz="1600" kern="1000" dirty="0">
                <a:solidFill>
                  <a:srgbClr val="000000"/>
                </a:solidFill>
                <a:effectLst/>
              </a:rPr>
              <a:t>为测试集所占比例</a:t>
            </a:r>
            <a:endParaRPr lang="zh-CN" altLang="zh-CN" sz="1600" kern="1000" dirty="0">
              <a:solidFill>
                <a:srgbClr val="000000"/>
              </a:solidFill>
              <a:effectLst/>
            </a:endParaRPr>
          </a:p>
          <a:p>
            <a:pPr marL="533400" marR="120015" indent="0" algn="just">
              <a:buNone/>
            </a:pPr>
            <a:r>
              <a:rPr lang="en-US" altLang="zh-CN" sz="1600" kern="1000" dirty="0" err="1">
                <a:solidFill>
                  <a:srgbClr val="000000"/>
                </a:solidFill>
                <a:effectLst/>
              </a:rPr>
              <a:t>x_train</a:t>
            </a:r>
            <a:r>
              <a:rPr lang="en-US" altLang="zh-CN" sz="1600" kern="1000" dirty="0">
                <a:solidFill>
                  <a:srgbClr val="000000"/>
                </a:solidFill>
                <a:effectLst/>
              </a:rPr>
              <a:t>, </a:t>
            </a:r>
            <a:r>
              <a:rPr lang="en-US" altLang="zh-CN" sz="1600" kern="1000" dirty="0" err="1">
                <a:solidFill>
                  <a:srgbClr val="000000"/>
                </a:solidFill>
                <a:effectLst/>
              </a:rPr>
              <a:t>x_test</a:t>
            </a:r>
            <a:r>
              <a:rPr lang="en-US" altLang="zh-CN" sz="1600" kern="1000" dirty="0">
                <a:solidFill>
                  <a:srgbClr val="000000"/>
                </a:solidFill>
                <a:effectLst/>
              </a:rPr>
              <a:t>, </a:t>
            </a:r>
            <a:r>
              <a:rPr lang="en-US" altLang="zh-CN" sz="1600" kern="1000" dirty="0" err="1">
                <a:solidFill>
                  <a:srgbClr val="000000"/>
                </a:solidFill>
                <a:effectLst/>
              </a:rPr>
              <a:t>y_train</a:t>
            </a:r>
            <a:r>
              <a:rPr lang="en-US" altLang="zh-CN" sz="1600" kern="1000" dirty="0">
                <a:solidFill>
                  <a:srgbClr val="000000"/>
                </a:solidFill>
                <a:effectLst/>
              </a:rPr>
              <a:t>, </a:t>
            </a:r>
            <a:r>
              <a:rPr lang="en-US" altLang="zh-CN" sz="1600" kern="1000" dirty="0" err="1">
                <a:solidFill>
                  <a:srgbClr val="000000"/>
                </a:solidFill>
                <a:effectLst/>
              </a:rPr>
              <a:t>y_test</a:t>
            </a:r>
            <a:r>
              <a:rPr lang="en-US" altLang="zh-CN" sz="1600" kern="1000" dirty="0">
                <a:solidFill>
                  <a:srgbClr val="000000"/>
                </a:solidFill>
                <a:effectLst/>
              </a:rPr>
              <a:t> = </a:t>
            </a:r>
            <a:r>
              <a:rPr lang="en-US" altLang="zh-CN" sz="1600" kern="1000" dirty="0" err="1">
                <a:solidFill>
                  <a:srgbClr val="000000"/>
                </a:solidFill>
                <a:effectLst/>
              </a:rPr>
              <a:t>train_test_split</a:t>
            </a:r>
            <a:r>
              <a:rPr lang="en-US" altLang="zh-CN" sz="1600" kern="1000" dirty="0">
                <a:solidFill>
                  <a:srgbClr val="000000"/>
                </a:solidFill>
                <a:effectLst/>
              </a:rPr>
              <a:t>(</a:t>
            </a:r>
            <a:r>
              <a:rPr lang="en-US" altLang="zh-CN" sz="1600" kern="1000" dirty="0" err="1">
                <a:solidFill>
                  <a:srgbClr val="000000"/>
                </a:solidFill>
                <a:effectLst/>
              </a:rPr>
              <a:t>cancer.data,cancer.target,test_size</a:t>
            </a:r>
            <a:r>
              <a:rPr lang="en-US" altLang="zh-CN" sz="1600" kern="1000" dirty="0">
                <a:solidFill>
                  <a:srgbClr val="000000"/>
                </a:solidFill>
                <a:effectLst/>
              </a:rPr>
              <a:t>=0.3)</a:t>
            </a:r>
            <a:endParaRPr lang="zh-CN" altLang="zh-CN" sz="1600" kern="1000" dirty="0">
              <a:solidFill>
                <a:srgbClr val="000000"/>
              </a:solidFill>
              <a:effectLst/>
            </a:endParaRPr>
          </a:p>
          <a:p>
            <a:pPr marL="533400" marR="120015" indent="0" algn="just">
              <a:buNone/>
            </a:pPr>
            <a:r>
              <a:rPr lang="en-US" altLang="zh-CN" sz="1600" kern="1000" dirty="0">
                <a:solidFill>
                  <a:srgbClr val="000000"/>
                </a:solidFill>
                <a:effectLst/>
              </a:rPr>
              <a:t># </a:t>
            </a:r>
            <a:r>
              <a:rPr lang="zh-CN" altLang="zh-CN" sz="1600" kern="1000" dirty="0">
                <a:solidFill>
                  <a:srgbClr val="000000"/>
                </a:solidFill>
                <a:effectLst/>
              </a:rPr>
              <a:t>定义一个决策树分类器对象用于做比较</a:t>
            </a:r>
            <a:endParaRPr lang="zh-CN" altLang="zh-CN" sz="1600" kern="1000" dirty="0">
              <a:solidFill>
                <a:srgbClr val="000000"/>
              </a:solidFill>
              <a:effectLst/>
            </a:endParaRPr>
          </a:p>
          <a:p>
            <a:pPr marL="533400" marR="120015" indent="0" algn="just">
              <a:buNone/>
            </a:pPr>
            <a:r>
              <a:rPr lang="en-US" altLang="zh-CN" sz="1600" kern="1000" dirty="0">
                <a:solidFill>
                  <a:srgbClr val="000000"/>
                </a:solidFill>
                <a:effectLst/>
              </a:rPr>
              <a:t>dt = </a:t>
            </a:r>
            <a:r>
              <a:rPr lang="en-US" altLang="zh-CN" sz="1600" kern="1000" dirty="0" err="1">
                <a:solidFill>
                  <a:srgbClr val="000000"/>
                </a:solidFill>
                <a:effectLst/>
              </a:rPr>
              <a:t>DecisionTreeClassifier</a:t>
            </a:r>
            <a:r>
              <a:rPr lang="en-US" altLang="zh-CN" sz="1600" kern="1000" dirty="0">
                <a:solidFill>
                  <a:srgbClr val="000000"/>
                </a:solidFill>
                <a:effectLst/>
              </a:rPr>
              <a:t>(</a:t>
            </a:r>
            <a:r>
              <a:rPr lang="en-US" altLang="zh-CN" sz="1600" kern="1000" dirty="0" err="1">
                <a:solidFill>
                  <a:srgbClr val="000000"/>
                </a:solidFill>
                <a:effectLst/>
              </a:rPr>
              <a:t>random_state</a:t>
            </a:r>
            <a:r>
              <a:rPr lang="en-US" altLang="zh-CN" sz="1600" kern="1000" dirty="0">
                <a:solidFill>
                  <a:srgbClr val="000000"/>
                </a:solidFill>
                <a:effectLst/>
              </a:rPr>
              <a:t>=0)</a:t>
            </a:r>
            <a:endParaRPr lang="zh-CN" altLang="zh-CN" sz="1600" kern="1000" dirty="0">
              <a:solidFill>
                <a:srgbClr val="000000"/>
              </a:solidFill>
              <a:effectLst/>
            </a:endParaRPr>
          </a:p>
          <a:p>
            <a:pPr marL="533400" marR="120015" indent="0" algn="just">
              <a:buNone/>
            </a:pPr>
            <a:r>
              <a:rPr lang="en-US" altLang="zh-CN" sz="1600" kern="1000" dirty="0">
                <a:solidFill>
                  <a:srgbClr val="000000"/>
                </a:solidFill>
                <a:effectLst/>
              </a:rPr>
              <a:t># </a:t>
            </a:r>
            <a:r>
              <a:rPr lang="zh-CN" altLang="zh-CN" sz="1600" kern="1000" dirty="0">
                <a:solidFill>
                  <a:srgbClr val="000000"/>
                </a:solidFill>
                <a:effectLst/>
              </a:rPr>
              <a:t>定义一个随机森林分类器对象</a:t>
            </a:r>
            <a:endParaRPr lang="zh-CN" altLang="zh-CN" sz="1600" kern="1000" dirty="0">
              <a:solidFill>
                <a:srgbClr val="000000"/>
              </a:solidFill>
              <a:effectLst/>
            </a:endParaRPr>
          </a:p>
          <a:p>
            <a:pPr marL="533400" marR="120015" indent="0" algn="just">
              <a:buNone/>
            </a:pPr>
            <a:r>
              <a:rPr lang="en-US" altLang="zh-CN" sz="1600" kern="1000" dirty="0">
                <a:solidFill>
                  <a:srgbClr val="000000"/>
                </a:solidFill>
                <a:effectLst/>
              </a:rPr>
              <a:t>rf = </a:t>
            </a:r>
            <a:r>
              <a:rPr lang="en-US" altLang="zh-CN" sz="1600" kern="1000" dirty="0" err="1">
                <a:solidFill>
                  <a:srgbClr val="000000"/>
                </a:solidFill>
                <a:effectLst/>
              </a:rPr>
              <a:t>RandomForestClassifier</a:t>
            </a:r>
            <a:r>
              <a:rPr lang="en-US" altLang="zh-CN" sz="1600" kern="1000" dirty="0">
                <a:solidFill>
                  <a:srgbClr val="000000"/>
                </a:solidFill>
                <a:effectLst/>
              </a:rPr>
              <a:t>(</a:t>
            </a:r>
            <a:r>
              <a:rPr lang="en-US" altLang="zh-CN" sz="1600" kern="1000" dirty="0" err="1">
                <a:solidFill>
                  <a:srgbClr val="000000"/>
                </a:solidFill>
                <a:effectLst/>
              </a:rPr>
              <a:t>random_state</a:t>
            </a:r>
            <a:r>
              <a:rPr lang="en-US" altLang="zh-CN" sz="1600" kern="1000" dirty="0">
                <a:solidFill>
                  <a:srgbClr val="000000"/>
                </a:solidFill>
                <a:effectLst/>
              </a:rPr>
              <a:t>=0)</a:t>
            </a:r>
            <a:endParaRPr lang="zh-CN" altLang="zh-CN" sz="1600" kern="1000" dirty="0">
              <a:solidFill>
                <a:srgbClr val="000000"/>
              </a:solidFill>
              <a:effectLst/>
            </a:endParaRPr>
          </a:p>
          <a:p>
            <a:pPr marL="533400" marR="120015" indent="0" algn="just">
              <a:buNone/>
            </a:pPr>
            <a:r>
              <a:rPr lang="en-US" altLang="zh-CN" sz="1600" kern="1000" dirty="0" err="1">
                <a:solidFill>
                  <a:srgbClr val="000000"/>
                </a:solidFill>
                <a:effectLst/>
              </a:rPr>
              <a:t>dt.fit</a:t>
            </a:r>
            <a:r>
              <a:rPr lang="en-US" altLang="zh-CN" sz="1600" kern="1000" dirty="0">
                <a:solidFill>
                  <a:srgbClr val="000000"/>
                </a:solidFill>
                <a:effectLst/>
              </a:rPr>
              <a:t>(</a:t>
            </a:r>
            <a:r>
              <a:rPr lang="en-US" altLang="zh-CN" sz="1600" kern="1000" dirty="0" err="1">
                <a:solidFill>
                  <a:srgbClr val="000000"/>
                </a:solidFill>
                <a:effectLst/>
              </a:rPr>
              <a:t>x_train,y_train</a:t>
            </a:r>
            <a:r>
              <a:rPr lang="en-US" altLang="zh-CN" sz="1600" kern="1000" dirty="0">
                <a:solidFill>
                  <a:srgbClr val="000000"/>
                </a:solidFill>
                <a:effectLst/>
              </a:rPr>
              <a:t>)</a:t>
            </a:r>
            <a:endParaRPr lang="zh-CN" altLang="zh-CN" sz="1600" kern="1000" dirty="0">
              <a:solidFill>
                <a:srgbClr val="000000"/>
              </a:solidFill>
              <a:effectLst/>
            </a:endParaRPr>
          </a:p>
          <a:p>
            <a:pPr marL="533400" marR="120015" indent="0" algn="just">
              <a:buNone/>
            </a:pPr>
            <a:r>
              <a:rPr lang="en-US" altLang="zh-CN" sz="1600" kern="1000" dirty="0" err="1">
                <a:solidFill>
                  <a:srgbClr val="000000"/>
                </a:solidFill>
                <a:effectLst/>
              </a:rPr>
              <a:t>rf.fit</a:t>
            </a:r>
            <a:r>
              <a:rPr lang="en-US" altLang="zh-CN" sz="1600" kern="1000" dirty="0">
                <a:solidFill>
                  <a:srgbClr val="000000"/>
                </a:solidFill>
                <a:effectLst/>
              </a:rPr>
              <a:t>(</a:t>
            </a:r>
            <a:r>
              <a:rPr lang="en-US" altLang="zh-CN" sz="1600" kern="1000" dirty="0" err="1">
                <a:solidFill>
                  <a:srgbClr val="000000"/>
                </a:solidFill>
                <a:effectLst/>
              </a:rPr>
              <a:t>x_train,y_train</a:t>
            </a:r>
            <a:r>
              <a:rPr lang="en-US" altLang="zh-CN" sz="1600" kern="1000" dirty="0">
                <a:solidFill>
                  <a:srgbClr val="000000"/>
                </a:solidFill>
                <a:effectLst/>
              </a:rPr>
              <a:t>)</a:t>
            </a:r>
            <a:endParaRPr lang="zh-CN" altLang="zh-CN" sz="1600" kern="1000" dirty="0">
              <a:solidFill>
                <a:srgbClr val="000000"/>
              </a:solidFill>
              <a:effectLst/>
            </a:endParaRPr>
          </a:p>
          <a:p>
            <a:pPr marL="533400" marR="120015" indent="0" algn="just">
              <a:buNone/>
            </a:pPr>
            <a:r>
              <a:rPr lang="en-US" altLang="zh-CN" sz="1600" kern="1000" dirty="0" err="1">
                <a:solidFill>
                  <a:srgbClr val="000000"/>
                </a:solidFill>
                <a:effectLst/>
              </a:rPr>
              <a:t>score_dt</a:t>
            </a:r>
            <a:r>
              <a:rPr lang="en-US" altLang="zh-CN" sz="1600" kern="1000" dirty="0">
                <a:solidFill>
                  <a:srgbClr val="000000"/>
                </a:solidFill>
                <a:effectLst/>
              </a:rPr>
              <a:t> = </a:t>
            </a:r>
            <a:r>
              <a:rPr lang="en-US" altLang="zh-CN" sz="1600" kern="1000" dirty="0" err="1">
                <a:solidFill>
                  <a:srgbClr val="000000"/>
                </a:solidFill>
                <a:effectLst/>
              </a:rPr>
              <a:t>dt.score</a:t>
            </a:r>
            <a:r>
              <a:rPr lang="en-US" altLang="zh-CN" sz="1600" kern="1000" dirty="0">
                <a:solidFill>
                  <a:srgbClr val="000000"/>
                </a:solidFill>
                <a:effectLst/>
              </a:rPr>
              <a:t>(</a:t>
            </a:r>
            <a:r>
              <a:rPr lang="en-US" altLang="zh-CN" sz="1600" kern="1000" dirty="0" err="1">
                <a:solidFill>
                  <a:srgbClr val="000000"/>
                </a:solidFill>
                <a:effectLst/>
              </a:rPr>
              <a:t>x_test,y_test</a:t>
            </a:r>
            <a:r>
              <a:rPr lang="en-US" altLang="zh-CN" sz="1600" kern="1000" dirty="0">
                <a:solidFill>
                  <a:srgbClr val="000000"/>
                </a:solidFill>
                <a:effectLst/>
              </a:rPr>
              <a:t>)</a:t>
            </a:r>
            <a:endParaRPr lang="zh-CN" altLang="zh-CN" sz="1600" kern="1000" dirty="0">
              <a:solidFill>
                <a:srgbClr val="000000"/>
              </a:solidFill>
              <a:effectLst/>
            </a:endParaRPr>
          </a:p>
          <a:p>
            <a:pPr marL="533400" marR="120015" indent="0" algn="just">
              <a:buNone/>
            </a:pPr>
            <a:r>
              <a:rPr lang="en-US" altLang="zh-CN" sz="1600" kern="1000" dirty="0" err="1">
                <a:solidFill>
                  <a:srgbClr val="000000"/>
                </a:solidFill>
                <a:effectLst/>
              </a:rPr>
              <a:t>score_rf</a:t>
            </a:r>
            <a:r>
              <a:rPr lang="en-US" altLang="zh-CN" sz="1600" kern="1000" dirty="0">
                <a:solidFill>
                  <a:srgbClr val="000000"/>
                </a:solidFill>
                <a:effectLst/>
              </a:rPr>
              <a:t> = </a:t>
            </a:r>
            <a:r>
              <a:rPr lang="en-US" altLang="zh-CN" sz="1600" kern="1000" dirty="0" err="1">
                <a:solidFill>
                  <a:srgbClr val="000000"/>
                </a:solidFill>
                <a:effectLst/>
              </a:rPr>
              <a:t>rf.score</a:t>
            </a:r>
            <a:r>
              <a:rPr lang="en-US" altLang="zh-CN" sz="1600" kern="1000" dirty="0">
                <a:solidFill>
                  <a:srgbClr val="000000"/>
                </a:solidFill>
                <a:effectLst/>
              </a:rPr>
              <a:t>(</a:t>
            </a:r>
            <a:r>
              <a:rPr lang="en-US" altLang="zh-CN" sz="1600" kern="1000" dirty="0" err="1">
                <a:solidFill>
                  <a:srgbClr val="000000"/>
                </a:solidFill>
                <a:effectLst/>
              </a:rPr>
              <a:t>x_test,y_test</a:t>
            </a:r>
            <a:r>
              <a:rPr lang="en-US" altLang="zh-CN" sz="1600" kern="1000" dirty="0">
                <a:solidFill>
                  <a:srgbClr val="000000"/>
                </a:solidFill>
                <a:effectLst/>
              </a:rPr>
              <a:t>)</a:t>
            </a:r>
            <a:endParaRPr lang="zh-CN" altLang="zh-CN" sz="1600" kern="1000" dirty="0">
              <a:solidFill>
                <a:srgbClr val="000000"/>
              </a:solidFill>
              <a:effectLst/>
            </a:endParaRPr>
          </a:p>
          <a:p>
            <a:pPr marL="0" indent="0">
              <a:buNone/>
            </a:pP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FF206FCC-0CBB-4DF4-89C1-3C9DB4B6E776}" type="slidenum">
              <a:rPr lang="zh-CN" altLang="en-US" smtClean="0"/>
            </a:fld>
            <a:r>
              <a:rPr lang="zh-CN" altLang="en-US" dirty="0"/>
              <a:t>   </a:t>
            </a:r>
            <a:endParaRPr lang="zh-CN" altLang="en-US" dirty="0"/>
          </a:p>
        </p:txBody>
      </p:sp>
      <p:sp>
        <p:nvSpPr>
          <p:cNvPr id="5" name="内容占位符 1"/>
          <p:cNvSpPr>
            <a:spLocks noGrp="1"/>
          </p:cNvSpPr>
          <p:nvPr>
            <p:ph idx="1"/>
          </p:nvPr>
        </p:nvSpPr>
        <p:spPr>
          <a:xfrm>
            <a:off x="342928" y="1025495"/>
            <a:ext cx="10237796" cy="5600449"/>
          </a:xfrm>
        </p:spPr>
        <p:txBody>
          <a:bodyPr>
            <a:normAutofit fontScale="85000" lnSpcReduction="20000"/>
          </a:bodyPr>
          <a:lstStyle/>
          <a:p>
            <a:pPr marL="533400" marR="120015" indent="0" algn="just">
              <a:buNone/>
            </a:pPr>
            <a:r>
              <a:rPr lang="en-US" altLang="zh-CN" sz="1900" kern="1000" dirty="0">
                <a:solidFill>
                  <a:srgbClr val="000000"/>
                </a:solidFill>
                <a:effectLst/>
              </a:rPr>
              <a:t># </a:t>
            </a:r>
            <a:r>
              <a:rPr lang="zh-CN" altLang="zh-CN" sz="1900" kern="1000" dirty="0">
                <a:solidFill>
                  <a:srgbClr val="000000"/>
                </a:solidFill>
                <a:effectLst/>
              </a:rPr>
              <a:t>输出准确率</a:t>
            </a:r>
            <a:endParaRPr lang="zh-CN" altLang="zh-CN" sz="1900" kern="1000" dirty="0">
              <a:solidFill>
                <a:srgbClr val="000000"/>
              </a:solidFill>
              <a:effectLst/>
            </a:endParaRPr>
          </a:p>
          <a:p>
            <a:pPr marL="533400" marR="120015" indent="0" algn="just">
              <a:buNone/>
            </a:pPr>
            <a:r>
              <a:rPr lang="en-US" altLang="zh-CN" sz="1900" kern="1000" dirty="0">
                <a:solidFill>
                  <a:srgbClr val="000000"/>
                </a:solidFill>
                <a:effectLst/>
              </a:rPr>
              <a:t>print('Single Tree : ', </a:t>
            </a:r>
            <a:r>
              <a:rPr lang="en-US" altLang="zh-CN" sz="1900" kern="1000" dirty="0" err="1">
                <a:solidFill>
                  <a:srgbClr val="000000"/>
                </a:solidFill>
                <a:effectLst/>
              </a:rPr>
              <a:t>score_dt</a:t>
            </a:r>
            <a:r>
              <a:rPr lang="en-US" altLang="zh-CN" sz="1900" kern="1000" dirty="0">
                <a:solidFill>
                  <a:srgbClr val="000000"/>
                </a:solidFill>
                <a:effectLst/>
              </a:rPr>
              <a:t>)</a:t>
            </a:r>
            <a:endParaRPr lang="zh-CN" altLang="zh-CN" sz="1900" kern="1000" dirty="0">
              <a:solidFill>
                <a:srgbClr val="000000"/>
              </a:solidFill>
              <a:effectLst/>
            </a:endParaRPr>
          </a:p>
          <a:p>
            <a:pPr marL="533400" marR="120015" indent="0" algn="just">
              <a:buNone/>
            </a:pPr>
            <a:r>
              <a:rPr lang="en-US" altLang="zh-CN" sz="1900" kern="1000" dirty="0">
                <a:solidFill>
                  <a:srgbClr val="000000"/>
                </a:solidFill>
                <a:effectLst/>
              </a:rPr>
              <a:t>print('Random Forest : ', </a:t>
            </a:r>
            <a:r>
              <a:rPr lang="en-US" altLang="zh-CN" sz="1900" kern="1000" dirty="0" err="1">
                <a:solidFill>
                  <a:srgbClr val="000000"/>
                </a:solidFill>
                <a:effectLst/>
              </a:rPr>
              <a:t>score_rf</a:t>
            </a:r>
            <a:r>
              <a:rPr lang="en-US" altLang="zh-CN" sz="1900" kern="1000" dirty="0">
                <a:solidFill>
                  <a:srgbClr val="000000"/>
                </a:solidFill>
                <a:effectLst/>
              </a:rPr>
              <a:t>)</a:t>
            </a:r>
            <a:endParaRPr lang="zh-CN" altLang="zh-CN" sz="1900" kern="1000" dirty="0">
              <a:solidFill>
                <a:srgbClr val="000000"/>
              </a:solidFill>
              <a:effectLst/>
            </a:endParaRPr>
          </a:p>
          <a:p>
            <a:pPr marL="533400" marR="120015" indent="0" algn="just">
              <a:buNone/>
            </a:pPr>
            <a:r>
              <a:rPr lang="en-US" altLang="zh-CN" sz="1900" kern="1000" dirty="0" err="1">
                <a:solidFill>
                  <a:srgbClr val="000000"/>
                </a:solidFill>
                <a:effectLst/>
              </a:rPr>
              <a:t>dt_scores</a:t>
            </a:r>
            <a:r>
              <a:rPr lang="en-US" altLang="zh-CN" sz="1900" kern="1000" dirty="0">
                <a:solidFill>
                  <a:srgbClr val="000000"/>
                </a:solidFill>
                <a:effectLst/>
              </a:rPr>
              <a:t> = []</a:t>
            </a:r>
            <a:endParaRPr lang="zh-CN" altLang="zh-CN" sz="1900" kern="1000" dirty="0">
              <a:solidFill>
                <a:srgbClr val="000000"/>
              </a:solidFill>
              <a:effectLst/>
            </a:endParaRPr>
          </a:p>
          <a:p>
            <a:pPr marL="533400" marR="120015" indent="0" algn="just">
              <a:buNone/>
            </a:pPr>
            <a:r>
              <a:rPr lang="en-US" altLang="zh-CN" sz="1900" kern="1000" dirty="0" err="1">
                <a:solidFill>
                  <a:srgbClr val="000000"/>
                </a:solidFill>
                <a:effectLst/>
              </a:rPr>
              <a:t>rf_scores</a:t>
            </a:r>
            <a:r>
              <a:rPr lang="en-US" altLang="zh-CN" sz="1900" kern="1000" dirty="0">
                <a:solidFill>
                  <a:srgbClr val="000000"/>
                </a:solidFill>
                <a:effectLst/>
              </a:rPr>
              <a:t> = []</a:t>
            </a:r>
            <a:endParaRPr lang="zh-CN" altLang="zh-CN" sz="1900" kern="1000" dirty="0">
              <a:solidFill>
                <a:srgbClr val="000000"/>
              </a:solidFill>
              <a:effectLst/>
            </a:endParaRPr>
          </a:p>
          <a:p>
            <a:pPr marL="533400" marR="120015" indent="0" algn="just">
              <a:buNone/>
            </a:pPr>
            <a:r>
              <a:rPr lang="en-US" altLang="zh-CN" sz="1900" kern="1000" dirty="0">
                <a:solidFill>
                  <a:srgbClr val="000000"/>
                </a:solidFill>
                <a:effectLst/>
              </a:rPr>
              <a:t># </a:t>
            </a:r>
            <a:r>
              <a:rPr lang="zh-CN" altLang="zh-CN" sz="1900" kern="1000" dirty="0">
                <a:solidFill>
                  <a:srgbClr val="000000"/>
                </a:solidFill>
                <a:effectLst/>
              </a:rPr>
              <a:t>使用</a:t>
            </a:r>
            <a:r>
              <a:rPr lang="en-US" altLang="zh-CN" sz="1900" kern="1000" dirty="0" err="1">
                <a:solidFill>
                  <a:srgbClr val="000000"/>
                </a:solidFill>
                <a:effectLst/>
              </a:rPr>
              <a:t>cross_val_score</a:t>
            </a:r>
            <a:r>
              <a:rPr lang="zh-CN" altLang="zh-CN" sz="1900" kern="1000" dirty="0">
                <a:solidFill>
                  <a:srgbClr val="000000"/>
                </a:solidFill>
                <a:effectLst/>
              </a:rPr>
              <a:t>进行交叉验证，其中：</a:t>
            </a:r>
            <a:endParaRPr lang="zh-CN" altLang="zh-CN" sz="1900" kern="1000" dirty="0">
              <a:solidFill>
                <a:schemeClr val="tx1"/>
              </a:solidFill>
              <a:effectLst/>
            </a:endParaRPr>
          </a:p>
          <a:p>
            <a:pPr marL="533400" marR="120015" indent="0" algn="just">
              <a:buNone/>
            </a:pPr>
            <a:r>
              <a:rPr lang="en-US" altLang="zh-CN" sz="1900" kern="1000" dirty="0">
                <a:solidFill>
                  <a:schemeClr val="tx1"/>
                </a:solidFill>
                <a:effectLst/>
              </a:rPr>
              <a:t># cv</a:t>
            </a:r>
            <a:r>
              <a:rPr lang="zh-CN" altLang="zh-CN" sz="1900" kern="1000" dirty="0">
                <a:solidFill>
                  <a:schemeClr val="tx1"/>
                </a:solidFill>
                <a:effectLst/>
              </a:rPr>
              <a:t>为份数，即将数据集划分为</a:t>
            </a:r>
            <a:r>
              <a:rPr lang="en-US" altLang="zh-CN" sz="1900" kern="1000" dirty="0">
                <a:solidFill>
                  <a:schemeClr val="tx1"/>
                </a:solidFill>
                <a:effectLst/>
              </a:rPr>
              <a:t>n</a:t>
            </a:r>
            <a:r>
              <a:rPr lang="zh-CN" altLang="zh-CN" sz="1900" kern="1000" dirty="0">
                <a:solidFill>
                  <a:schemeClr val="tx1"/>
                </a:solidFill>
                <a:effectLst/>
              </a:rPr>
              <a:t>分，依次取每一份做测试集，其他</a:t>
            </a:r>
            <a:r>
              <a:rPr lang="en-US" altLang="zh-CN" sz="1900" kern="1000" dirty="0">
                <a:solidFill>
                  <a:schemeClr val="tx1"/>
                </a:solidFill>
                <a:effectLst/>
              </a:rPr>
              <a:t>n-1</a:t>
            </a:r>
            <a:r>
              <a:rPr lang="zh-CN" altLang="zh-CN" sz="1900" kern="1000" dirty="0">
                <a:solidFill>
                  <a:schemeClr val="tx1"/>
                </a:solidFill>
                <a:effectLst/>
              </a:rPr>
              <a:t>份做训练集</a:t>
            </a:r>
            <a:r>
              <a:rPr lang="zh-CN" altLang="zh-CN" sz="1900" kern="1000" dirty="0">
                <a:solidFill>
                  <a:srgbClr val="000000"/>
                </a:solidFill>
                <a:effectLst/>
              </a:rPr>
              <a:t>，</a:t>
            </a:r>
            <a:endParaRPr lang="zh-CN" altLang="zh-CN" sz="1900" kern="1000" dirty="0">
              <a:solidFill>
                <a:srgbClr val="000000"/>
              </a:solidFill>
              <a:effectLst/>
            </a:endParaRPr>
          </a:p>
          <a:p>
            <a:pPr marL="533400" marR="120015" indent="0" algn="just">
              <a:buNone/>
            </a:pPr>
            <a:r>
              <a:rPr lang="en-US" altLang="zh-CN" sz="1900" kern="1000" dirty="0">
                <a:solidFill>
                  <a:srgbClr val="000000"/>
                </a:solidFill>
                <a:effectLst/>
              </a:rPr>
              <a:t># </a:t>
            </a:r>
            <a:r>
              <a:rPr lang="zh-CN" altLang="zh-CN" sz="1900" kern="1000" dirty="0">
                <a:solidFill>
                  <a:srgbClr val="000000"/>
                </a:solidFill>
                <a:effectLst/>
              </a:rPr>
              <a:t>返回每次测试准确率评分的列表</a:t>
            </a:r>
            <a:endParaRPr lang="zh-CN" altLang="zh-CN" sz="1900" kern="1000" dirty="0">
              <a:solidFill>
                <a:srgbClr val="000000"/>
              </a:solidFill>
              <a:effectLst/>
            </a:endParaRPr>
          </a:p>
          <a:p>
            <a:pPr marL="533400" marR="120015" indent="0" algn="just">
              <a:buNone/>
            </a:pPr>
            <a:r>
              <a:rPr lang="en-US" altLang="zh-CN" sz="1900" kern="1000" dirty="0">
                <a:solidFill>
                  <a:srgbClr val="000000"/>
                </a:solidFill>
                <a:effectLst/>
              </a:rPr>
              <a:t>for </a:t>
            </a:r>
            <a:r>
              <a:rPr lang="en-US" altLang="zh-CN" sz="1900" kern="1000" dirty="0" err="1">
                <a:solidFill>
                  <a:srgbClr val="000000"/>
                </a:solidFill>
                <a:effectLst/>
              </a:rPr>
              <a:t>i</a:t>
            </a:r>
            <a:r>
              <a:rPr lang="en-US" altLang="zh-CN" sz="1900" kern="1000" dirty="0">
                <a:solidFill>
                  <a:srgbClr val="000000"/>
                </a:solidFill>
                <a:effectLst/>
              </a:rPr>
              <a:t> in range(10):</a:t>
            </a:r>
            <a:endParaRPr lang="zh-CN" altLang="zh-CN" sz="1900" kern="1000" dirty="0">
              <a:solidFill>
                <a:srgbClr val="000000"/>
              </a:solidFill>
              <a:effectLst/>
            </a:endParaRPr>
          </a:p>
          <a:p>
            <a:pPr marL="533400" marR="120015" indent="0" algn="l">
              <a:buNone/>
            </a:pPr>
            <a:r>
              <a:rPr lang="en-US" altLang="zh-CN" sz="1900" kern="1000" dirty="0">
                <a:solidFill>
                  <a:srgbClr val="000000"/>
                </a:solidFill>
                <a:effectLst/>
              </a:rPr>
              <a:t>     </a:t>
            </a:r>
            <a:r>
              <a:rPr lang="en-US" altLang="zh-CN" sz="1900" kern="1000" dirty="0" err="1">
                <a:solidFill>
                  <a:srgbClr val="000000"/>
                </a:solidFill>
                <a:effectLst/>
              </a:rPr>
              <a:t>rf_score</a:t>
            </a:r>
            <a:r>
              <a:rPr lang="en-US" altLang="zh-CN" sz="1900" kern="1000" dirty="0">
                <a:solidFill>
                  <a:srgbClr val="000000"/>
                </a:solidFill>
                <a:effectLst/>
              </a:rPr>
              <a:t> = </a:t>
            </a:r>
            <a:r>
              <a:rPr lang="en-US" altLang="zh-CN" sz="1900" kern="1000" dirty="0" err="1">
                <a:solidFill>
                  <a:srgbClr val="000000"/>
                </a:solidFill>
                <a:effectLst/>
              </a:rPr>
              <a:t>cross_val_score</a:t>
            </a:r>
            <a:r>
              <a:rPr lang="en-US" altLang="zh-CN" sz="1900" kern="1000" dirty="0">
                <a:solidFill>
                  <a:srgbClr val="000000"/>
                </a:solidFill>
                <a:effectLst/>
              </a:rPr>
              <a:t>(</a:t>
            </a:r>
            <a:r>
              <a:rPr lang="en-US" altLang="zh-CN" sz="1900" kern="1000" dirty="0" err="1">
                <a:solidFill>
                  <a:srgbClr val="000000"/>
                </a:solidFill>
                <a:effectLst/>
              </a:rPr>
              <a:t>RandomForestClassifier</a:t>
            </a:r>
            <a:r>
              <a:rPr lang="en-US" altLang="zh-CN" sz="1900" kern="1000" dirty="0">
                <a:solidFill>
                  <a:srgbClr val="000000"/>
                </a:solidFill>
                <a:effectLst/>
              </a:rPr>
              <a:t>(</a:t>
            </a:r>
            <a:r>
              <a:rPr lang="en-US" altLang="zh-CN" sz="1900" kern="1000" dirty="0" err="1">
                <a:solidFill>
                  <a:srgbClr val="000000"/>
                </a:solidFill>
                <a:effectLst/>
              </a:rPr>
              <a:t>n_estimators</a:t>
            </a:r>
            <a:r>
              <a:rPr lang="en-US" altLang="zh-CN" sz="1900" kern="1000" dirty="0">
                <a:solidFill>
                  <a:srgbClr val="000000"/>
                </a:solidFill>
                <a:effectLst/>
              </a:rPr>
              <a:t>=25),</a:t>
            </a:r>
            <a:r>
              <a:rPr lang="en-US" altLang="zh-CN" sz="1900" kern="1000" dirty="0" err="1">
                <a:solidFill>
                  <a:srgbClr val="000000"/>
                </a:solidFill>
                <a:effectLst/>
              </a:rPr>
              <a:t>cancer.data</a:t>
            </a:r>
            <a:r>
              <a:rPr lang="en-US" altLang="zh-CN" sz="1900" kern="1000" dirty="0">
                <a:solidFill>
                  <a:srgbClr val="000000"/>
                </a:solidFill>
                <a:effectLst/>
              </a:rPr>
              <a:t>, </a:t>
            </a:r>
            <a:r>
              <a:rPr lang="en-US" altLang="zh-CN" sz="1900" kern="1000" dirty="0" err="1">
                <a:solidFill>
                  <a:srgbClr val="000000"/>
                </a:solidFill>
                <a:effectLst/>
              </a:rPr>
              <a:t>cancer.target,cv</a:t>
            </a:r>
            <a:r>
              <a:rPr lang="en-US" altLang="zh-CN" sz="1900" kern="1000" dirty="0">
                <a:solidFill>
                  <a:srgbClr val="000000"/>
                </a:solidFill>
                <a:effectLst/>
              </a:rPr>
              <a:t>=10).mean()</a:t>
            </a:r>
            <a:endParaRPr lang="zh-CN" altLang="zh-CN" sz="1900" kern="1000" dirty="0">
              <a:solidFill>
                <a:srgbClr val="000000"/>
              </a:solidFill>
              <a:effectLst/>
            </a:endParaRPr>
          </a:p>
          <a:p>
            <a:pPr marL="533400" marR="120015" indent="0" algn="just">
              <a:buNone/>
            </a:pPr>
            <a:r>
              <a:rPr lang="en-US" altLang="zh-CN" sz="1900" kern="1000" dirty="0">
                <a:solidFill>
                  <a:srgbClr val="000000"/>
                </a:solidFill>
                <a:effectLst/>
              </a:rPr>
              <a:t>     </a:t>
            </a:r>
            <a:r>
              <a:rPr lang="en-US" altLang="zh-CN" sz="1900" kern="1000" dirty="0" err="1">
                <a:solidFill>
                  <a:srgbClr val="000000"/>
                </a:solidFill>
                <a:effectLst/>
              </a:rPr>
              <a:t>rf_scores.append</a:t>
            </a:r>
            <a:r>
              <a:rPr lang="en-US" altLang="zh-CN" sz="1900" kern="1000" dirty="0">
                <a:solidFill>
                  <a:srgbClr val="000000"/>
                </a:solidFill>
                <a:effectLst/>
              </a:rPr>
              <a:t>(</a:t>
            </a:r>
            <a:r>
              <a:rPr lang="en-US" altLang="zh-CN" sz="1900" kern="1000" dirty="0" err="1">
                <a:solidFill>
                  <a:srgbClr val="000000"/>
                </a:solidFill>
                <a:effectLst/>
              </a:rPr>
              <a:t>rf_score</a:t>
            </a:r>
            <a:r>
              <a:rPr lang="en-US" altLang="zh-CN" sz="1900" kern="1000" dirty="0">
                <a:solidFill>
                  <a:srgbClr val="000000"/>
                </a:solidFill>
                <a:effectLst/>
              </a:rPr>
              <a:t>)</a:t>
            </a:r>
            <a:endParaRPr lang="zh-CN" altLang="zh-CN" sz="1900" kern="1000" dirty="0">
              <a:solidFill>
                <a:srgbClr val="000000"/>
              </a:solidFill>
              <a:effectLst/>
            </a:endParaRPr>
          </a:p>
          <a:p>
            <a:pPr marL="533400" marR="120015" indent="0" algn="l">
              <a:buNone/>
            </a:pPr>
            <a:r>
              <a:rPr lang="en-US" altLang="zh-CN" sz="1900" kern="1000" dirty="0">
                <a:solidFill>
                  <a:srgbClr val="000000"/>
                </a:solidFill>
                <a:effectLst/>
              </a:rPr>
              <a:t>     </a:t>
            </a:r>
            <a:r>
              <a:rPr lang="en-US" altLang="zh-CN" sz="1900" kern="1000" dirty="0" err="1">
                <a:solidFill>
                  <a:srgbClr val="000000"/>
                </a:solidFill>
                <a:effectLst/>
              </a:rPr>
              <a:t>dt_score</a:t>
            </a:r>
            <a:r>
              <a:rPr lang="en-US" altLang="zh-CN" sz="1900" kern="1000" dirty="0">
                <a:solidFill>
                  <a:srgbClr val="000000"/>
                </a:solidFill>
                <a:effectLst/>
              </a:rPr>
              <a:t> = </a:t>
            </a:r>
            <a:r>
              <a:rPr lang="en-US" altLang="zh-CN" sz="1900" kern="1000" dirty="0" err="1">
                <a:solidFill>
                  <a:srgbClr val="000000"/>
                </a:solidFill>
                <a:effectLst/>
              </a:rPr>
              <a:t>cross_val_score</a:t>
            </a:r>
            <a:r>
              <a:rPr lang="en-US" altLang="zh-CN" sz="1900" kern="1000" dirty="0">
                <a:solidFill>
                  <a:srgbClr val="000000"/>
                </a:solidFill>
                <a:effectLst/>
              </a:rPr>
              <a:t>(</a:t>
            </a:r>
            <a:r>
              <a:rPr lang="en-US" altLang="zh-CN" sz="1900" kern="1000" dirty="0" err="1">
                <a:solidFill>
                  <a:srgbClr val="000000"/>
                </a:solidFill>
                <a:effectLst/>
              </a:rPr>
              <a:t>DecisionTreeClassifier</a:t>
            </a:r>
            <a:r>
              <a:rPr lang="en-US" altLang="zh-CN" sz="1900" kern="1000" dirty="0">
                <a:solidFill>
                  <a:srgbClr val="000000"/>
                </a:solidFill>
                <a:effectLst/>
              </a:rPr>
              <a:t>(),</a:t>
            </a:r>
            <a:r>
              <a:rPr lang="en-US" altLang="zh-CN" sz="1900" kern="1000" dirty="0" err="1">
                <a:solidFill>
                  <a:srgbClr val="000000"/>
                </a:solidFill>
                <a:effectLst/>
              </a:rPr>
              <a:t>cancer.data</a:t>
            </a:r>
            <a:r>
              <a:rPr lang="en-US" altLang="zh-CN" sz="1900" kern="1000" dirty="0">
                <a:solidFill>
                  <a:srgbClr val="000000"/>
                </a:solidFill>
                <a:effectLst/>
              </a:rPr>
              <a:t>, </a:t>
            </a:r>
            <a:r>
              <a:rPr lang="en-US" altLang="zh-CN" sz="1900" kern="1000" dirty="0" err="1">
                <a:solidFill>
                  <a:srgbClr val="000000"/>
                </a:solidFill>
                <a:effectLst/>
              </a:rPr>
              <a:t>cancer.target</a:t>
            </a:r>
            <a:r>
              <a:rPr lang="en-US" altLang="zh-CN" sz="1900" kern="1000" dirty="0">
                <a:solidFill>
                  <a:srgbClr val="000000"/>
                </a:solidFill>
                <a:effectLst/>
              </a:rPr>
              <a:t>, cv=10).mean()</a:t>
            </a:r>
            <a:endParaRPr lang="zh-CN" altLang="zh-CN" sz="1900" kern="1000" dirty="0">
              <a:solidFill>
                <a:srgbClr val="000000"/>
              </a:solidFill>
              <a:effectLst/>
            </a:endParaRPr>
          </a:p>
          <a:p>
            <a:pPr marL="533400" marR="120015" indent="0" algn="just">
              <a:buNone/>
            </a:pPr>
            <a:r>
              <a:rPr lang="en-US" altLang="zh-CN" sz="1900" kern="1000" dirty="0">
                <a:solidFill>
                  <a:srgbClr val="000000"/>
                </a:solidFill>
                <a:effectLst/>
              </a:rPr>
              <a:t>     </a:t>
            </a:r>
            <a:r>
              <a:rPr lang="en-US" altLang="zh-CN" sz="1900" kern="1000" dirty="0" err="1">
                <a:solidFill>
                  <a:srgbClr val="000000"/>
                </a:solidFill>
                <a:effectLst/>
              </a:rPr>
              <a:t>dt_scores.append</a:t>
            </a:r>
            <a:r>
              <a:rPr lang="en-US" altLang="zh-CN" sz="1900" kern="1000" dirty="0">
                <a:solidFill>
                  <a:srgbClr val="000000"/>
                </a:solidFill>
                <a:effectLst/>
              </a:rPr>
              <a:t>(</a:t>
            </a:r>
            <a:r>
              <a:rPr lang="en-US" altLang="zh-CN" sz="1900" kern="1000" dirty="0" err="1">
                <a:solidFill>
                  <a:srgbClr val="000000"/>
                </a:solidFill>
                <a:effectLst/>
              </a:rPr>
              <a:t>dt_score</a:t>
            </a:r>
            <a:r>
              <a:rPr lang="en-US" altLang="zh-CN" sz="1900" kern="1000" dirty="0">
                <a:solidFill>
                  <a:srgbClr val="000000"/>
                </a:solidFill>
                <a:effectLst/>
              </a:rPr>
              <a:t>)</a:t>
            </a:r>
            <a:endParaRPr lang="zh-CN" altLang="zh-CN" sz="1900" kern="1000" dirty="0">
              <a:solidFill>
                <a:srgbClr val="000000"/>
              </a:solidFill>
              <a:effectLst/>
            </a:endParaRPr>
          </a:p>
          <a:p>
            <a:pPr marL="0" indent="0">
              <a:buNone/>
            </a:pP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FF206FCC-0CBB-4DF4-89C1-3C9DB4B6E776}" type="slidenum">
              <a:rPr lang="zh-CN" altLang="en-US" smtClean="0"/>
            </a:fld>
            <a:r>
              <a:rPr lang="zh-CN" altLang="en-US" dirty="0"/>
              <a:t>   </a:t>
            </a:r>
            <a:endParaRPr lang="zh-CN" altLang="en-US" dirty="0"/>
          </a:p>
        </p:txBody>
      </p:sp>
      <p:sp>
        <p:nvSpPr>
          <p:cNvPr id="5" name="内容占位符 1"/>
          <p:cNvSpPr>
            <a:spLocks noGrp="1"/>
          </p:cNvSpPr>
          <p:nvPr>
            <p:ph idx="1"/>
          </p:nvPr>
        </p:nvSpPr>
        <p:spPr>
          <a:xfrm>
            <a:off x="342928" y="1025495"/>
            <a:ext cx="10237796" cy="5600449"/>
          </a:xfrm>
        </p:spPr>
        <p:txBody>
          <a:bodyPr>
            <a:normAutofit/>
          </a:bodyPr>
          <a:lstStyle/>
          <a:p>
            <a:pPr marL="533400" marR="120015" indent="0" algn="just">
              <a:buNone/>
            </a:pPr>
            <a:r>
              <a:rPr lang="en-US" altLang="zh-CN" sz="1600" kern="1000" dirty="0">
                <a:solidFill>
                  <a:schemeClr val="tx1"/>
                </a:solidFill>
                <a:effectLst/>
              </a:rPr>
              <a:t># </a:t>
            </a:r>
            <a:r>
              <a:rPr lang="zh-CN" altLang="zh-CN" sz="1600" kern="1000" dirty="0">
                <a:solidFill>
                  <a:schemeClr val="tx1"/>
                </a:solidFill>
                <a:effectLst/>
              </a:rPr>
              <a:t>绘制评分对比曲线</a:t>
            </a:r>
            <a:endParaRPr lang="zh-CN" altLang="zh-CN" sz="1600" kern="1000" dirty="0">
              <a:solidFill>
                <a:schemeClr val="tx1"/>
              </a:solidFill>
              <a:effectLst/>
            </a:endParaRPr>
          </a:p>
          <a:p>
            <a:pPr marL="533400" marR="120015" indent="0" algn="just">
              <a:buNone/>
            </a:pPr>
            <a:r>
              <a:rPr lang="en-US" altLang="zh-CN" sz="1600" kern="1000" dirty="0" err="1">
                <a:solidFill>
                  <a:schemeClr val="tx1"/>
                </a:solidFill>
                <a:effectLst/>
              </a:rPr>
              <a:t>plt.figure</a:t>
            </a:r>
            <a:r>
              <a:rPr lang="en-US" altLang="zh-CN" sz="1600" kern="1000" dirty="0">
                <a:solidFill>
                  <a:schemeClr val="tx1"/>
                </a:solidFill>
                <a:effectLst/>
              </a:rPr>
              <a:t>()</a:t>
            </a:r>
            <a:endParaRPr lang="zh-CN" altLang="zh-CN" sz="1600" kern="1000" dirty="0">
              <a:solidFill>
                <a:schemeClr val="tx1"/>
              </a:solidFill>
              <a:effectLst/>
            </a:endParaRPr>
          </a:p>
          <a:p>
            <a:pPr marL="533400" marR="120015" indent="0" algn="just">
              <a:buNone/>
            </a:pPr>
            <a:r>
              <a:rPr lang="en-US" altLang="zh-CN" sz="1600" kern="1000" dirty="0" err="1">
                <a:solidFill>
                  <a:schemeClr val="tx1"/>
                </a:solidFill>
                <a:effectLst/>
              </a:rPr>
              <a:t>plt.title</a:t>
            </a:r>
            <a:r>
              <a:rPr lang="en-US" altLang="zh-CN" sz="1600" kern="1000" dirty="0">
                <a:solidFill>
                  <a:schemeClr val="tx1"/>
                </a:solidFill>
                <a:effectLst/>
              </a:rPr>
              <a:t>('Random Forest VS Decision Tree')</a:t>
            </a:r>
            <a:endParaRPr lang="zh-CN" altLang="zh-CN" sz="1600" kern="1000" dirty="0">
              <a:solidFill>
                <a:schemeClr val="tx1"/>
              </a:solidFill>
              <a:effectLst/>
            </a:endParaRPr>
          </a:p>
          <a:p>
            <a:pPr marL="533400" marR="120015" indent="0" algn="just">
              <a:buNone/>
            </a:pPr>
            <a:r>
              <a:rPr lang="en-US" altLang="zh-CN" sz="1600" kern="1000" dirty="0" err="1">
                <a:solidFill>
                  <a:schemeClr val="tx1"/>
                </a:solidFill>
                <a:effectLst/>
              </a:rPr>
              <a:t>plt.xlabel</a:t>
            </a:r>
            <a:r>
              <a:rPr lang="en-US" altLang="zh-CN" sz="1600" kern="1000" dirty="0">
                <a:solidFill>
                  <a:schemeClr val="tx1"/>
                </a:solidFill>
                <a:effectLst/>
              </a:rPr>
              <a:t>('Index')</a:t>
            </a:r>
            <a:endParaRPr lang="zh-CN" altLang="zh-CN" sz="1600" kern="1000" dirty="0">
              <a:solidFill>
                <a:schemeClr val="tx1"/>
              </a:solidFill>
              <a:effectLst/>
            </a:endParaRPr>
          </a:p>
          <a:p>
            <a:pPr marL="533400" marR="120015" indent="0" algn="just">
              <a:buNone/>
            </a:pPr>
            <a:r>
              <a:rPr lang="en-US" altLang="zh-CN" sz="1600" kern="1000" dirty="0" err="1">
                <a:solidFill>
                  <a:schemeClr val="tx1"/>
                </a:solidFill>
                <a:effectLst/>
              </a:rPr>
              <a:t>plt.ylabel</a:t>
            </a:r>
            <a:r>
              <a:rPr lang="en-US" altLang="zh-CN" sz="1600" kern="1000" dirty="0">
                <a:solidFill>
                  <a:schemeClr val="tx1"/>
                </a:solidFill>
                <a:effectLst/>
              </a:rPr>
              <a:t>('Accuracy')</a:t>
            </a:r>
            <a:endParaRPr lang="zh-CN" altLang="zh-CN" sz="1600" kern="1000" dirty="0">
              <a:solidFill>
                <a:schemeClr val="tx1"/>
              </a:solidFill>
              <a:effectLst/>
            </a:endParaRPr>
          </a:p>
          <a:p>
            <a:pPr marL="533400" marR="120015" indent="0" algn="just">
              <a:buNone/>
            </a:pPr>
            <a:r>
              <a:rPr lang="en-US" altLang="zh-CN" sz="1600" kern="1000" dirty="0" err="1">
                <a:solidFill>
                  <a:schemeClr val="tx1"/>
                </a:solidFill>
                <a:effectLst/>
              </a:rPr>
              <a:t>plt.plot</a:t>
            </a:r>
            <a:r>
              <a:rPr lang="en-US" altLang="zh-CN" sz="1600" kern="1000" dirty="0">
                <a:solidFill>
                  <a:schemeClr val="tx1"/>
                </a:solidFill>
                <a:effectLst/>
              </a:rPr>
              <a:t>(range(10),</a:t>
            </a:r>
            <a:r>
              <a:rPr lang="en-US" altLang="zh-CN" sz="1600" kern="1000" dirty="0" err="1">
                <a:solidFill>
                  <a:schemeClr val="tx1"/>
                </a:solidFill>
                <a:effectLst/>
              </a:rPr>
              <a:t>rf_scores,label</a:t>
            </a:r>
            <a:r>
              <a:rPr lang="en-US" altLang="zh-CN" sz="1600" kern="1000" dirty="0">
                <a:solidFill>
                  <a:schemeClr val="tx1"/>
                </a:solidFill>
                <a:effectLst/>
              </a:rPr>
              <a:t> = 'Random Forest')</a:t>
            </a:r>
            <a:endParaRPr lang="zh-CN" altLang="zh-CN" sz="1600" kern="1000" dirty="0">
              <a:solidFill>
                <a:schemeClr val="tx1"/>
              </a:solidFill>
              <a:effectLst/>
            </a:endParaRPr>
          </a:p>
          <a:p>
            <a:pPr marL="533400" marR="120015" indent="0" algn="just">
              <a:buNone/>
            </a:pPr>
            <a:r>
              <a:rPr lang="en-US" altLang="zh-CN" sz="1600" kern="1000" dirty="0" err="1">
                <a:solidFill>
                  <a:schemeClr val="tx1"/>
                </a:solidFill>
                <a:effectLst/>
              </a:rPr>
              <a:t>plt.plot</a:t>
            </a:r>
            <a:r>
              <a:rPr lang="en-US" altLang="zh-CN" sz="1600" kern="1000" dirty="0">
                <a:solidFill>
                  <a:schemeClr val="tx1"/>
                </a:solidFill>
                <a:effectLst/>
              </a:rPr>
              <a:t>(range(10),</a:t>
            </a:r>
            <a:r>
              <a:rPr lang="en-US" altLang="zh-CN" sz="1600" kern="1000" dirty="0" err="1">
                <a:solidFill>
                  <a:schemeClr val="tx1"/>
                </a:solidFill>
                <a:effectLst/>
              </a:rPr>
              <a:t>dt_scores,label</a:t>
            </a:r>
            <a:r>
              <a:rPr lang="en-US" altLang="zh-CN" sz="1600" kern="1000" dirty="0">
                <a:solidFill>
                  <a:schemeClr val="tx1"/>
                </a:solidFill>
                <a:effectLst/>
              </a:rPr>
              <a:t> = 'Decision Tree')</a:t>
            </a:r>
            <a:endParaRPr lang="zh-CN" altLang="zh-CN" sz="1600" kern="1000" dirty="0">
              <a:solidFill>
                <a:schemeClr val="tx1"/>
              </a:solidFill>
              <a:effectLst/>
            </a:endParaRPr>
          </a:p>
          <a:p>
            <a:pPr marL="533400" marR="120015" indent="0" algn="just">
              <a:buNone/>
            </a:pPr>
            <a:r>
              <a:rPr lang="en-US" altLang="zh-CN" sz="1600" kern="1000" dirty="0" err="1">
                <a:solidFill>
                  <a:schemeClr val="tx1"/>
                </a:solidFill>
                <a:effectLst/>
              </a:rPr>
              <a:t>plt.legend</a:t>
            </a:r>
            <a:r>
              <a:rPr lang="en-US" altLang="zh-CN" sz="1600" kern="1000" dirty="0">
                <a:solidFill>
                  <a:schemeClr val="tx1"/>
                </a:solidFill>
                <a:effectLst/>
              </a:rPr>
              <a:t>()</a:t>
            </a:r>
            <a:endParaRPr lang="zh-CN" altLang="zh-CN" sz="1600" kern="1000" dirty="0">
              <a:solidFill>
                <a:schemeClr val="tx1"/>
              </a:solidFill>
              <a:effectLst/>
            </a:endParaRPr>
          </a:p>
          <a:p>
            <a:pPr marL="533400" marR="120015" indent="0" algn="just">
              <a:buNone/>
            </a:pPr>
            <a:r>
              <a:rPr lang="en-US" altLang="zh-CN" sz="1600" kern="1000" dirty="0" err="1">
                <a:solidFill>
                  <a:schemeClr val="tx1"/>
                </a:solidFill>
                <a:effectLst/>
              </a:rPr>
              <a:t>plt.show</a:t>
            </a:r>
            <a:r>
              <a:rPr lang="en-US" altLang="zh-CN" sz="1600" kern="1000" dirty="0">
                <a:solidFill>
                  <a:schemeClr val="tx1"/>
                </a:solidFill>
                <a:effectLst/>
              </a:rPr>
              <a:t>()</a:t>
            </a:r>
            <a:endParaRPr lang="zh-CN" altLang="zh-CN" sz="1600" kern="1000" dirty="0">
              <a:solidFill>
                <a:schemeClr val="tx1"/>
              </a:solidFill>
              <a:effectLst/>
            </a:endParaRPr>
          </a:p>
          <a:p>
            <a:pPr marL="0" indent="0">
              <a:buNone/>
            </a:pP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FF206FCC-0CBB-4DF4-89C1-3C9DB4B6E776}" type="slidenum">
              <a:rPr lang="zh-CN" altLang="en-US" smtClean="0"/>
            </a:fld>
            <a:r>
              <a:rPr lang="zh-CN" altLang="en-US" dirty="0"/>
              <a:t>   </a:t>
            </a:r>
            <a:endParaRPr lang="zh-CN" altLang="en-US" dirty="0"/>
          </a:p>
        </p:txBody>
      </p:sp>
      <p:sp>
        <p:nvSpPr>
          <p:cNvPr id="5" name="内容占位符 1"/>
          <p:cNvSpPr>
            <a:spLocks noGrp="1"/>
          </p:cNvSpPr>
          <p:nvPr>
            <p:ph idx="1"/>
          </p:nvPr>
        </p:nvSpPr>
        <p:spPr>
          <a:xfrm>
            <a:off x="342928" y="1034041"/>
            <a:ext cx="10237796" cy="5600449"/>
          </a:xfrm>
        </p:spPr>
        <p:txBody>
          <a:bodyPr>
            <a:normAutofit lnSpcReduction="10000"/>
          </a:bodyPr>
          <a:lstStyle/>
          <a:p>
            <a:pPr marL="533400" marR="120015" indent="0" algn="just">
              <a:buNone/>
            </a:pPr>
            <a:r>
              <a:rPr lang="en-US" altLang="zh-CN" sz="1700" kern="1000" dirty="0">
                <a:solidFill>
                  <a:schemeClr val="tx1"/>
                </a:solidFill>
                <a:effectLst/>
              </a:rPr>
              <a:t># </a:t>
            </a:r>
            <a:r>
              <a:rPr lang="zh-CN" altLang="zh-CN" sz="1700" kern="1000" dirty="0">
                <a:solidFill>
                  <a:schemeClr val="tx1"/>
                </a:solidFill>
                <a:effectLst/>
              </a:rPr>
              <a:t>观察弱分类器数量对分类准确度的影响</a:t>
            </a:r>
            <a:endParaRPr lang="zh-CN" altLang="zh-CN" sz="1700" kern="1000" dirty="0">
              <a:solidFill>
                <a:schemeClr val="tx1"/>
              </a:solidFill>
              <a:effectLst/>
            </a:endParaRPr>
          </a:p>
          <a:p>
            <a:pPr marL="533400" marR="120015" indent="0" algn="just">
              <a:buNone/>
            </a:pPr>
            <a:r>
              <a:rPr lang="en-US" altLang="zh-CN" sz="1700" kern="1000" dirty="0" err="1">
                <a:solidFill>
                  <a:schemeClr val="tx1"/>
                </a:solidFill>
                <a:effectLst/>
              </a:rPr>
              <a:t>rf_scores</a:t>
            </a:r>
            <a:r>
              <a:rPr lang="en-US" altLang="zh-CN" sz="1700" kern="1000" dirty="0">
                <a:solidFill>
                  <a:schemeClr val="tx1"/>
                </a:solidFill>
                <a:effectLst/>
              </a:rPr>
              <a:t> = []</a:t>
            </a:r>
            <a:endParaRPr lang="zh-CN" altLang="zh-CN" sz="1700" kern="1000" dirty="0">
              <a:solidFill>
                <a:schemeClr val="tx1"/>
              </a:solidFill>
              <a:effectLst/>
            </a:endParaRPr>
          </a:p>
          <a:p>
            <a:pPr marL="533400" marR="120015" indent="0" algn="just">
              <a:buNone/>
            </a:pPr>
            <a:r>
              <a:rPr lang="en-US" altLang="zh-CN" sz="1700" kern="1000" dirty="0">
                <a:solidFill>
                  <a:schemeClr val="tx1"/>
                </a:solidFill>
                <a:effectLst/>
              </a:rPr>
              <a:t>for </a:t>
            </a:r>
            <a:r>
              <a:rPr lang="en-US" altLang="zh-CN" sz="1700" kern="1000" dirty="0" err="1">
                <a:solidFill>
                  <a:schemeClr val="tx1"/>
                </a:solidFill>
                <a:effectLst/>
              </a:rPr>
              <a:t>i</a:t>
            </a:r>
            <a:r>
              <a:rPr lang="en-US" altLang="zh-CN" sz="1700" kern="1000" dirty="0">
                <a:solidFill>
                  <a:schemeClr val="tx1"/>
                </a:solidFill>
                <a:effectLst/>
              </a:rPr>
              <a:t> in range(1,50):</a:t>
            </a:r>
            <a:endParaRPr lang="zh-CN" altLang="zh-CN" sz="1700" kern="1000" dirty="0">
              <a:solidFill>
                <a:schemeClr val="tx1"/>
              </a:solidFill>
              <a:effectLst/>
            </a:endParaRPr>
          </a:p>
          <a:p>
            <a:pPr marL="533400" marR="120015" indent="0" algn="just">
              <a:buNone/>
            </a:pPr>
            <a:r>
              <a:rPr lang="en-US" altLang="zh-CN" sz="1700" kern="1000" dirty="0">
                <a:solidFill>
                  <a:schemeClr val="tx1"/>
                </a:solidFill>
                <a:effectLst/>
              </a:rPr>
              <a:t> rf = </a:t>
            </a:r>
            <a:r>
              <a:rPr lang="en-US" altLang="zh-CN" sz="1700" kern="1000" dirty="0" err="1">
                <a:solidFill>
                  <a:schemeClr val="tx1"/>
                </a:solidFill>
                <a:effectLst/>
              </a:rPr>
              <a:t>RandomForestClassifier</a:t>
            </a:r>
            <a:r>
              <a:rPr lang="en-US" altLang="zh-CN" sz="1700" kern="1000" dirty="0">
                <a:solidFill>
                  <a:schemeClr val="tx1"/>
                </a:solidFill>
                <a:effectLst/>
              </a:rPr>
              <a:t>(</a:t>
            </a:r>
            <a:r>
              <a:rPr lang="en-US" altLang="zh-CN" sz="1700" kern="1000" dirty="0" err="1">
                <a:solidFill>
                  <a:schemeClr val="tx1"/>
                </a:solidFill>
                <a:effectLst/>
              </a:rPr>
              <a:t>n_estimators</a:t>
            </a:r>
            <a:r>
              <a:rPr lang="en-US" altLang="zh-CN" sz="1700" kern="1000" dirty="0">
                <a:solidFill>
                  <a:schemeClr val="tx1"/>
                </a:solidFill>
                <a:effectLst/>
              </a:rPr>
              <a:t>=</a:t>
            </a:r>
            <a:r>
              <a:rPr lang="en-US" altLang="zh-CN" sz="1700" kern="1000" dirty="0" err="1">
                <a:solidFill>
                  <a:schemeClr val="tx1"/>
                </a:solidFill>
                <a:effectLst/>
              </a:rPr>
              <a:t>i</a:t>
            </a:r>
            <a:r>
              <a:rPr lang="en-US" altLang="zh-CN" sz="1700" kern="1000" dirty="0">
                <a:solidFill>
                  <a:schemeClr val="tx1"/>
                </a:solidFill>
                <a:effectLst/>
              </a:rPr>
              <a:t>)</a:t>
            </a:r>
            <a:endParaRPr lang="zh-CN" altLang="zh-CN" sz="1700" kern="1000" dirty="0">
              <a:solidFill>
                <a:schemeClr val="tx1"/>
              </a:solidFill>
              <a:effectLst/>
            </a:endParaRPr>
          </a:p>
          <a:p>
            <a:pPr marL="533400" marR="120015" indent="0" algn="just">
              <a:buNone/>
            </a:pPr>
            <a:r>
              <a:rPr lang="en-US" altLang="zh-CN" sz="1700" kern="1000" dirty="0">
                <a:solidFill>
                  <a:schemeClr val="tx1"/>
                </a:solidFill>
                <a:effectLst/>
              </a:rPr>
              <a:t> </a:t>
            </a:r>
            <a:r>
              <a:rPr lang="en-US" altLang="zh-CN" sz="1700" kern="1000" dirty="0" err="1">
                <a:solidFill>
                  <a:schemeClr val="tx1"/>
                </a:solidFill>
                <a:effectLst/>
              </a:rPr>
              <a:t>rf_score</a:t>
            </a:r>
            <a:r>
              <a:rPr lang="en-US" altLang="zh-CN" sz="1700" kern="1000" dirty="0">
                <a:solidFill>
                  <a:schemeClr val="tx1"/>
                </a:solidFill>
                <a:effectLst/>
              </a:rPr>
              <a:t> = </a:t>
            </a:r>
            <a:r>
              <a:rPr lang="en-US" altLang="zh-CN" sz="1700" kern="1000" dirty="0" err="1">
                <a:solidFill>
                  <a:schemeClr val="tx1"/>
                </a:solidFill>
                <a:effectLst/>
              </a:rPr>
              <a:t>cross_val_score</a:t>
            </a:r>
            <a:r>
              <a:rPr lang="en-US" altLang="zh-CN" sz="1700" kern="1000" dirty="0">
                <a:solidFill>
                  <a:schemeClr val="tx1"/>
                </a:solidFill>
                <a:effectLst/>
              </a:rPr>
              <a:t>(rf, </a:t>
            </a:r>
            <a:r>
              <a:rPr lang="en-US" altLang="zh-CN" sz="1700" kern="1000" dirty="0" err="1">
                <a:solidFill>
                  <a:schemeClr val="tx1"/>
                </a:solidFill>
                <a:effectLst/>
              </a:rPr>
              <a:t>cancer.data</a:t>
            </a:r>
            <a:r>
              <a:rPr lang="en-US" altLang="zh-CN" sz="1700" kern="1000" dirty="0">
                <a:solidFill>
                  <a:schemeClr val="tx1"/>
                </a:solidFill>
                <a:effectLst/>
              </a:rPr>
              <a:t>, </a:t>
            </a:r>
            <a:r>
              <a:rPr lang="en-US" altLang="zh-CN" sz="1700" kern="1000" dirty="0" err="1">
                <a:solidFill>
                  <a:schemeClr val="tx1"/>
                </a:solidFill>
                <a:effectLst/>
              </a:rPr>
              <a:t>cancer.target,cv</a:t>
            </a:r>
            <a:r>
              <a:rPr lang="en-US" altLang="zh-CN" sz="1700" kern="1000" dirty="0">
                <a:solidFill>
                  <a:schemeClr val="tx1"/>
                </a:solidFill>
                <a:effectLst/>
              </a:rPr>
              <a:t>=10).mean()</a:t>
            </a:r>
            <a:endParaRPr lang="zh-CN" altLang="zh-CN" sz="1700" kern="1000" dirty="0">
              <a:solidFill>
                <a:schemeClr val="tx1"/>
              </a:solidFill>
              <a:effectLst/>
            </a:endParaRPr>
          </a:p>
          <a:p>
            <a:pPr marL="533400" marR="120015" indent="0" algn="just">
              <a:buNone/>
            </a:pPr>
            <a:r>
              <a:rPr lang="en-US" altLang="zh-CN" sz="1700" kern="1000" dirty="0">
                <a:solidFill>
                  <a:schemeClr val="tx1"/>
                </a:solidFill>
                <a:effectLst/>
              </a:rPr>
              <a:t> </a:t>
            </a:r>
            <a:r>
              <a:rPr lang="en-US" altLang="zh-CN" sz="1700" kern="1000" dirty="0" err="1">
                <a:solidFill>
                  <a:schemeClr val="tx1"/>
                </a:solidFill>
                <a:effectLst/>
              </a:rPr>
              <a:t>rf_scores.append</a:t>
            </a:r>
            <a:r>
              <a:rPr lang="en-US" altLang="zh-CN" sz="1700" kern="1000" dirty="0">
                <a:solidFill>
                  <a:schemeClr val="tx1"/>
                </a:solidFill>
                <a:effectLst/>
              </a:rPr>
              <a:t>(</a:t>
            </a:r>
            <a:r>
              <a:rPr lang="en-US" altLang="zh-CN" sz="1700" kern="1000" dirty="0" err="1">
                <a:solidFill>
                  <a:schemeClr val="tx1"/>
                </a:solidFill>
                <a:effectLst/>
              </a:rPr>
              <a:t>rf_score</a:t>
            </a:r>
            <a:r>
              <a:rPr lang="en-US" altLang="zh-CN" sz="1700" kern="1000" dirty="0">
                <a:solidFill>
                  <a:schemeClr val="tx1"/>
                </a:solidFill>
                <a:effectLst/>
              </a:rPr>
              <a:t>) </a:t>
            </a:r>
            <a:endParaRPr lang="zh-CN" altLang="zh-CN" sz="1700" kern="1000" dirty="0">
              <a:solidFill>
                <a:schemeClr val="tx1"/>
              </a:solidFill>
              <a:effectLst/>
            </a:endParaRPr>
          </a:p>
          <a:p>
            <a:pPr marL="533400" marR="120015" indent="0" algn="just">
              <a:buNone/>
            </a:pPr>
            <a:r>
              <a:rPr lang="en-US" altLang="zh-CN" sz="1700" kern="1000" dirty="0" err="1">
                <a:solidFill>
                  <a:schemeClr val="tx1"/>
                </a:solidFill>
                <a:effectLst/>
              </a:rPr>
              <a:t>plt.figure</a:t>
            </a:r>
            <a:r>
              <a:rPr lang="en-US" altLang="zh-CN" sz="1700" kern="1000" dirty="0">
                <a:solidFill>
                  <a:schemeClr val="tx1"/>
                </a:solidFill>
                <a:effectLst/>
              </a:rPr>
              <a:t>()</a:t>
            </a:r>
            <a:endParaRPr lang="zh-CN" altLang="zh-CN" sz="1700" kern="1000" dirty="0">
              <a:solidFill>
                <a:schemeClr val="tx1"/>
              </a:solidFill>
              <a:effectLst/>
            </a:endParaRPr>
          </a:p>
          <a:p>
            <a:pPr marL="533400" marR="120015" indent="0" algn="just">
              <a:buNone/>
            </a:pPr>
            <a:r>
              <a:rPr lang="en-US" altLang="zh-CN" sz="1700" kern="1000" dirty="0" err="1">
                <a:solidFill>
                  <a:schemeClr val="tx1"/>
                </a:solidFill>
                <a:effectLst/>
              </a:rPr>
              <a:t>plt.title</a:t>
            </a:r>
            <a:r>
              <a:rPr lang="en-US" altLang="zh-CN" sz="1700" kern="1000" dirty="0">
                <a:solidFill>
                  <a:schemeClr val="tx1"/>
                </a:solidFill>
                <a:effectLst/>
              </a:rPr>
              <a:t>('Random Forest')</a:t>
            </a:r>
            <a:endParaRPr lang="zh-CN" altLang="zh-CN" sz="1700" kern="1000" dirty="0">
              <a:solidFill>
                <a:schemeClr val="tx1"/>
              </a:solidFill>
              <a:effectLst/>
            </a:endParaRPr>
          </a:p>
          <a:p>
            <a:pPr marL="533400" marR="120015" indent="0" algn="just">
              <a:buNone/>
            </a:pPr>
            <a:r>
              <a:rPr lang="en-US" altLang="zh-CN" sz="1700" kern="1000" dirty="0" err="1">
                <a:solidFill>
                  <a:schemeClr val="tx1"/>
                </a:solidFill>
                <a:effectLst/>
              </a:rPr>
              <a:t>plt.xlabel</a:t>
            </a:r>
            <a:r>
              <a:rPr lang="en-US" altLang="zh-CN" sz="1700" kern="1000" dirty="0">
                <a:solidFill>
                  <a:schemeClr val="tx1"/>
                </a:solidFill>
                <a:effectLst/>
              </a:rPr>
              <a:t>('</a:t>
            </a:r>
            <a:r>
              <a:rPr lang="en-US" altLang="zh-CN" sz="1700" kern="1000" dirty="0" err="1">
                <a:solidFill>
                  <a:schemeClr val="tx1"/>
                </a:solidFill>
                <a:effectLst/>
              </a:rPr>
              <a:t>n_estimators</a:t>
            </a:r>
            <a:r>
              <a:rPr lang="en-US" altLang="zh-CN" sz="1700" kern="1000" dirty="0">
                <a:solidFill>
                  <a:schemeClr val="tx1"/>
                </a:solidFill>
                <a:effectLst/>
              </a:rPr>
              <a:t>')</a:t>
            </a:r>
            <a:endParaRPr lang="zh-CN" altLang="zh-CN" sz="1700" kern="1000" dirty="0">
              <a:solidFill>
                <a:schemeClr val="tx1"/>
              </a:solidFill>
              <a:effectLst/>
            </a:endParaRPr>
          </a:p>
          <a:p>
            <a:pPr marL="533400" marR="120015" indent="0" algn="just">
              <a:buNone/>
            </a:pPr>
            <a:r>
              <a:rPr lang="en-US" altLang="zh-CN" sz="1700" kern="1000" dirty="0" err="1">
                <a:solidFill>
                  <a:schemeClr val="tx1"/>
                </a:solidFill>
                <a:effectLst/>
              </a:rPr>
              <a:t>plt.ylabel</a:t>
            </a:r>
            <a:r>
              <a:rPr lang="en-US" altLang="zh-CN" sz="1700" kern="1000" dirty="0">
                <a:solidFill>
                  <a:schemeClr val="tx1"/>
                </a:solidFill>
                <a:effectLst/>
              </a:rPr>
              <a:t>('Accuracy')</a:t>
            </a:r>
            <a:endParaRPr lang="zh-CN" altLang="zh-CN" sz="1700" kern="1000" dirty="0">
              <a:solidFill>
                <a:schemeClr val="tx1"/>
              </a:solidFill>
              <a:effectLst/>
            </a:endParaRPr>
          </a:p>
          <a:p>
            <a:pPr marL="533400" marR="120015" indent="0" algn="just">
              <a:buNone/>
            </a:pPr>
            <a:r>
              <a:rPr lang="en-US" altLang="zh-CN" sz="1700" kern="1000" dirty="0" err="1">
                <a:solidFill>
                  <a:schemeClr val="tx1"/>
                </a:solidFill>
                <a:effectLst/>
              </a:rPr>
              <a:t>plt.plot</a:t>
            </a:r>
            <a:r>
              <a:rPr lang="en-US" altLang="zh-CN" sz="1700" kern="1000" dirty="0">
                <a:solidFill>
                  <a:schemeClr val="tx1"/>
                </a:solidFill>
                <a:effectLst/>
              </a:rPr>
              <a:t>(range(1,50),</a:t>
            </a:r>
            <a:r>
              <a:rPr lang="en-US" altLang="zh-CN" sz="1700" kern="1000" dirty="0" err="1">
                <a:solidFill>
                  <a:schemeClr val="tx1"/>
                </a:solidFill>
                <a:effectLst/>
              </a:rPr>
              <a:t>rf_scores</a:t>
            </a:r>
            <a:r>
              <a:rPr lang="en-US" altLang="zh-CN" sz="1700" kern="1000" dirty="0">
                <a:solidFill>
                  <a:schemeClr val="tx1"/>
                </a:solidFill>
                <a:effectLst/>
              </a:rPr>
              <a:t>)</a:t>
            </a:r>
            <a:endParaRPr lang="zh-CN" altLang="zh-CN" sz="1700" kern="1000" dirty="0">
              <a:solidFill>
                <a:schemeClr val="tx1"/>
              </a:solidFill>
              <a:effectLst/>
            </a:endParaRPr>
          </a:p>
          <a:p>
            <a:pPr marL="533400" marR="120015" indent="0" algn="just">
              <a:buNone/>
            </a:pPr>
            <a:r>
              <a:rPr lang="en-US" altLang="zh-CN" sz="1700" kern="1000" dirty="0" err="1">
                <a:solidFill>
                  <a:schemeClr val="tx1"/>
                </a:solidFill>
                <a:effectLst/>
              </a:rPr>
              <a:t>plt.show</a:t>
            </a:r>
            <a:r>
              <a:rPr lang="en-US" altLang="zh-CN" sz="1700" kern="1000" dirty="0">
                <a:solidFill>
                  <a:schemeClr val="tx1"/>
                </a:solidFill>
                <a:effectLst/>
              </a:rPr>
              <a:t>()</a:t>
            </a:r>
            <a:endParaRPr lang="zh-CN" altLang="zh-CN" sz="1700" kern="1000" dirty="0">
              <a:solidFill>
                <a:schemeClr val="tx1"/>
              </a:solidFill>
              <a:effectLst/>
            </a:endParaRPr>
          </a:p>
          <a:p>
            <a:pPr marL="0" indent="0">
              <a:buNone/>
            </a:pP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FF206FCC-0CBB-4DF4-89C1-3C9DB4B6E776}" type="slidenum">
              <a:rPr lang="zh-CN" altLang="en-US" smtClean="0"/>
            </a:fld>
            <a:r>
              <a:rPr lang="zh-CN" altLang="en-US"/>
              <a:t>   </a:t>
            </a:r>
            <a:endParaRPr lang="zh-CN" altLang="en-US" dirty="0"/>
          </a:p>
        </p:txBody>
      </p:sp>
      <p:sp>
        <p:nvSpPr>
          <p:cNvPr id="5" name="内容占位符 1"/>
          <p:cNvSpPr>
            <a:spLocks noGrp="1"/>
          </p:cNvSpPr>
          <p:nvPr>
            <p:ph idx="1"/>
          </p:nvPr>
        </p:nvSpPr>
        <p:spPr>
          <a:xfrm>
            <a:off x="342928" y="1116352"/>
            <a:ext cx="10237796" cy="5484908"/>
          </a:xfrm>
        </p:spPr>
        <p:txBody>
          <a:bodyPr>
            <a:normAutofit/>
          </a:bodyPr>
          <a:lstStyle/>
          <a:p>
            <a:pPr marL="0" indent="0"/>
            <a:r>
              <a:rPr lang="zh-CN" altLang="zh-CN" kern="1000" dirty="0">
                <a:solidFill>
                  <a:srgbClr val="000000"/>
                </a:solidFill>
                <a:effectLst/>
                <a:cs typeface="Times New Roman" panose="02020603050405020304" pitchFamily="18" charset="0"/>
              </a:rPr>
              <a:t>程序运行结果如下，绘制的结果图如图</a:t>
            </a:r>
            <a:r>
              <a:rPr lang="en-US" altLang="zh-CN" kern="1000" dirty="0">
                <a:solidFill>
                  <a:srgbClr val="000000"/>
                </a:solidFill>
                <a:effectLst/>
              </a:rPr>
              <a:t>7-1</a:t>
            </a:r>
            <a:r>
              <a:rPr lang="zh-CN" altLang="zh-CN" kern="1000" dirty="0">
                <a:solidFill>
                  <a:srgbClr val="000000"/>
                </a:solidFill>
                <a:effectLst/>
                <a:cs typeface="Times New Roman" panose="02020603050405020304" pitchFamily="18" charset="0"/>
              </a:rPr>
              <a:t>、图</a:t>
            </a:r>
            <a:r>
              <a:rPr lang="en-US" altLang="zh-CN" kern="1000" dirty="0">
                <a:solidFill>
                  <a:srgbClr val="000000"/>
                </a:solidFill>
                <a:effectLst/>
              </a:rPr>
              <a:t>7-2</a:t>
            </a:r>
            <a:r>
              <a:rPr lang="zh-CN" altLang="zh-CN" kern="1000" dirty="0">
                <a:solidFill>
                  <a:srgbClr val="000000"/>
                </a:solidFill>
                <a:effectLst/>
                <a:cs typeface="Times New Roman" panose="02020603050405020304" pitchFamily="18" charset="0"/>
              </a:rPr>
              <a:t>所示：</a:t>
            </a:r>
            <a:endParaRPr kumimoji="1" lang="en-US" altLang="zh-CN" dirty="0"/>
          </a:p>
          <a:p>
            <a:pPr marL="533400" marR="120015" indent="0" algn="just">
              <a:buNone/>
            </a:pPr>
            <a:r>
              <a:rPr lang="en-US" altLang="zh-CN" sz="1600" kern="1000" dirty="0">
                <a:solidFill>
                  <a:srgbClr val="000000"/>
                </a:solidFill>
                <a:effectLst/>
              </a:rPr>
              <a:t>Single Tree : 0.9181286549707602</a:t>
            </a:r>
            <a:endParaRPr lang="zh-CN" altLang="zh-CN" sz="1600" kern="1000" dirty="0">
              <a:solidFill>
                <a:srgbClr val="000000"/>
              </a:solidFill>
              <a:effectLst/>
            </a:endParaRPr>
          </a:p>
          <a:p>
            <a:pPr marL="533400" marR="120015" indent="0" algn="just">
              <a:buNone/>
            </a:pPr>
            <a:r>
              <a:rPr lang="en-US" altLang="zh-CN" sz="1600" kern="1000" dirty="0">
                <a:solidFill>
                  <a:srgbClr val="000000"/>
                </a:solidFill>
                <a:effectLst/>
              </a:rPr>
              <a:t>Random Forest : 0.9473684210526315</a:t>
            </a:r>
            <a:endParaRPr lang="zh-CN" altLang="zh-CN" sz="1600" kern="1000" dirty="0">
              <a:solidFill>
                <a:srgbClr val="000000"/>
              </a:solidFill>
              <a:effectLst/>
            </a:endParaRPr>
          </a:p>
          <a:p>
            <a:pPr marL="0" indent="0">
              <a:buNone/>
            </a:pPr>
            <a:endParaRPr lang="en-US" altLang="zh-CN" sz="1600" kern="1000" dirty="0">
              <a:solidFill>
                <a:srgbClr val="000000"/>
              </a:solidFill>
              <a:effectLst/>
            </a:endParaRPr>
          </a:p>
          <a:p>
            <a:pPr marL="0" indent="0">
              <a:buNone/>
            </a:pPr>
            <a:endParaRPr lang="en-US" altLang="zh-CN" sz="1600" kern="1000" dirty="0">
              <a:solidFill>
                <a:srgbClr val="000000"/>
              </a:solidFill>
            </a:endParaRPr>
          </a:p>
          <a:p>
            <a:pPr marL="0" indent="0">
              <a:buNone/>
            </a:pPr>
            <a:endParaRPr lang="en-US" altLang="zh-CN" sz="1600" kern="1000" dirty="0">
              <a:solidFill>
                <a:srgbClr val="000000"/>
              </a:solidFill>
              <a:effectLst/>
            </a:endParaRPr>
          </a:p>
          <a:p>
            <a:pPr marL="0" indent="0">
              <a:buNone/>
            </a:pPr>
            <a:endParaRPr lang="en-US" altLang="zh-CN" sz="1600" kern="1000" dirty="0">
              <a:solidFill>
                <a:srgbClr val="000000"/>
              </a:solidFill>
            </a:endParaRPr>
          </a:p>
          <a:p>
            <a:pPr marL="0" indent="0">
              <a:buNone/>
            </a:pPr>
            <a:endParaRPr lang="en-US" altLang="zh-CN" sz="1600" kern="1000" dirty="0">
              <a:solidFill>
                <a:srgbClr val="000000"/>
              </a:solidFill>
              <a:effectLst/>
            </a:endParaRPr>
          </a:p>
          <a:p>
            <a:pPr marL="0" indent="0">
              <a:buNone/>
            </a:pPr>
            <a:endParaRPr lang="en-US" altLang="zh-CN" sz="1600" kern="1000" dirty="0">
              <a:solidFill>
                <a:srgbClr val="000000"/>
              </a:solidFill>
            </a:endParaRPr>
          </a:p>
          <a:p>
            <a:pPr marL="0" indent="0">
              <a:buNone/>
            </a:pPr>
            <a:r>
              <a:rPr lang="en-US" altLang="zh-CN" sz="1600" kern="1000" dirty="0">
                <a:solidFill>
                  <a:srgbClr val="000000"/>
                </a:solidFill>
                <a:effectLst/>
                <a:latin typeface="宋体" panose="02010600030101010101" pitchFamily="2" charset="-122"/>
                <a:ea typeface="宋体" panose="02010600030101010101" pitchFamily="2" charset="-122"/>
              </a:rPr>
              <a:t>           </a:t>
            </a:r>
            <a:r>
              <a:rPr lang="zh-CN" altLang="zh-CN" sz="1600" kern="1000" dirty="0">
                <a:solidFill>
                  <a:srgbClr val="000000"/>
                </a:solidFill>
                <a:effectLst/>
                <a:latin typeface="宋体" panose="02010600030101010101" pitchFamily="2" charset="-122"/>
                <a:ea typeface="宋体" panose="02010600030101010101" pitchFamily="2" charset="-122"/>
              </a:rPr>
              <a:t>图</a:t>
            </a:r>
            <a:r>
              <a:rPr lang="en-US" altLang="zh-CN" sz="1600" kern="1000" dirty="0">
                <a:solidFill>
                  <a:srgbClr val="000000"/>
                </a:solidFill>
                <a:effectLst/>
                <a:latin typeface="宋体" panose="02010600030101010101" pitchFamily="2" charset="-122"/>
                <a:ea typeface="宋体" panose="02010600030101010101" pitchFamily="2" charset="-122"/>
              </a:rPr>
              <a:t>7-1  </a:t>
            </a:r>
            <a:r>
              <a:rPr lang="zh-CN" altLang="zh-CN" sz="1600" kern="1000" dirty="0">
                <a:solidFill>
                  <a:srgbClr val="000000"/>
                </a:solidFill>
                <a:effectLst/>
                <a:latin typeface="宋体" panose="02010600030101010101" pitchFamily="2" charset="-122"/>
                <a:ea typeface="宋体" panose="02010600030101010101" pitchFamily="2" charset="-122"/>
              </a:rPr>
              <a:t>随机森林和决策树对比图</a:t>
            </a:r>
            <a:r>
              <a:rPr lang="en-US" altLang="zh-CN" sz="1600" kern="1000" dirty="0">
                <a:solidFill>
                  <a:srgbClr val="000000"/>
                </a:solidFill>
                <a:effectLst/>
                <a:latin typeface="宋体" panose="02010600030101010101" pitchFamily="2" charset="-122"/>
                <a:ea typeface="宋体" panose="02010600030101010101" pitchFamily="2" charset="-122"/>
              </a:rPr>
              <a:t>          </a:t>
            </a:r>
            <a:r>
              <a:rPr lang="zh-CN" altLang="zh-CN" sz="1600" kern="1000" dirty="0">
                <a:solidFill>
                  <a:srgbClr val="000000"/>
                </a:solidFill>
                <a:effectLst/>
                <a:latin typeface="宋体" panose="02010600030101010101" pitchFamily="2" charset="-122"/>
                <a:ea typeface="宋体" panose="02010600030101010101" pitchFamily="2" charset="-122"/>
              </a:rPr>
              <a:t>图</a:t>
            </a:r>
            <a:r>
              <a:rPr lang="en-US" altLang="zh-CN" sz="1600" kern="1000" dirty="0">
                <a:solidFill>
                  <a:srgbClr val="000000"/>
                </a:solidFill>
                <a:effectLst/>
                <a:latin typeface="宋体" panose="02010600030101010101" pitchFamily="2" charset="-122"/>
                <a:ea typeface="宋体" panose="02010600030101010101" pitchFamily="2" charset="-122"/>
              </a:rPr>
              <a:t>7-2  </a:t>
            </a:r>
            <a:r>
              <a:rPr lang="zh-CN" altLang="zh-CN" sz="1600" kern="1000" dirty="0">
                <a:solidFill>
                  <a:srgbClr val="000000"/>
                </a:solidFill>
                <a:effectLst/>
                <a:latin typeface="宋体" panose="02010600030101010101" pitchFamily="2" charset="-122"/>
                <a:ea typeface="宋体" panose="02010600030101010101" pitchFamily="2" charset="-122"/>
              </a:rPr>
              <a:t>随机森林算法准确率随弱分类器数量变化图</a:t>
            </a:r>
            <a:endParaRPr lang="zh-CN" altLang="zh-CN" sz="1600" kern="1000" dirty="0">
              <a:solidFill>
                <a:srgbClr val="000000"/>
              </a:solidFill>
              <a:effectLst/>
              <a:latin typeface="宋体" panose="02010600030101010101" pitchFamily="2" charset="-122"/>
              <a:ea typeface="宋体" panose="02010600030101010101" pitchFamily="2" charset="-122"/>
            </a:endParaRPr>
          </a:p>
          <a:p>
            <a:pPr marL="0" indent="0">
              <a:buNone/>
            </a:pPr>
            <a:endParaRPr lang="zh-CN" altLang="zh-CN" sz="1600" kern="1000" dirty="0">
              <a:solidFill>
                <a:srgbClr val="000000"/>
              </a:solidFill>
              <a:effectLst/>
            </a:endParaRPr>
          </a:p>
          <a:p>
            <a:pPr marL="0" indent="0">
              <a:buNone/>
            </a:pPr>
            <a:endParaRPr kumimoji="1" lang="zh-CN" altLang="en-US" dirty="0"/>
          </a:p>
        </p:txBody>
      </p:sp>
      <p:sp>
        <p:nvSpPr>
          <p:cNvPr id="100" name="文本框 99"/>
          <p:cNvSpPr txBox="1"/>
          <p:nvPr/>
        </p:nvSpPr>
        <p:spPr>
          <a:xfrm>
            <a:off x="1344930" y="5755005"/>
            <a:ext cx="4013200" cy="337185"/>
          </a:xfrm>
          <a:prstGeom prst="rect">
            <a:avLst/>
          </a:prstGeom>
          <a:noFill/>
          <a:ln w="9525">
            <a:noFill/>
          </a:ln>
        </p:spPr>
        <p:txBody>
          <a:bodyPr wrap="square">
            <a:spAutoFit/>
          </a:bodyPr>
          <a:lstStyle/>
          <a:p>
            <a:pPr indent="0" algn="ctr"/>
            <a:r>
              <a:rPr lang="en-US" sz="1600" b="0" dirty="0">
                <a:solidFill>
                  <a:srgbClr val="000000"/>
                </a:solidFill>
                <a:latin typeface="宋体" panose="02010600030101010101" pitchFamily="2" charset="-122"/>
              </a:rPr>
              <a:t>        </a:t>
            </a:r>
            <a:r>
              <a:rPr lang="en-US" sz="1600" b="0" dirty="0">
                <a:solidFill>
                  <a:srgbClr val="000000"/>
                </a:solidFill>
                <a:latin typeface="Calibri" panose="020F0502020204030204" pitchFamily="34" charset="0"/>
              </a:rPr>
              <a:t>               </a:t>
            </a:r>
            <a:r>
              <a:rPr lang="en-US" sz="1600" b="0" dirty="0">
                <a:solidFill>
                  <a:srgbClr val="000000"/>
                </a:solidFill>
                <a:latin typeface="宋体" panose="02010600030101010101" pitchFamily="2" charset="-122"/>
              </a:rPr>
              <a:t>                                                                               </a:t>
            </a:r>
            <a:endParaRPr lang="zh-CN" altLang="en-US" sz="1600" dirty="0"/>
          </a:p>
        </p:txBody>
      </p:sp>
      <p:sp>
        <p:nvSpPr>
          <p:cNvPr id="9" name="文本框 8"/>
          <p:cNvSpPr txBox="1"/>
          <p:nvPr/>
        </p:nvSpPr>
        <p:spPr>
          <a:xfrm>
            <a:off x="3351530" y="6264075"/>
            <a:ext cx="5080000" cy="337185"/>
          </a:xfrm>
          <a:prstGeom prst="rect">
            <a:avLst/>
          </a:prstGeom>
          <a:noFill/>
          <a:ln w="9525">
            <a:noFill/>
          </a:ln>
        </p:spPr>
        <p:txBody>
          <a:bodyPr>
            <a:spAutoFit/>
          </a:bodyPr>
          <a:lstStyle/>
          <a:p>
            <a:pPr indent="0" algn="ctr"/>
            <a:endParaRPr lang="zh-CN" altLang="en-US" sz="1600" dirty="0"/>
          </a:p>
        </p:txBody>
      </p:sp>
      <p:sp>
        <p:nvSpPr>
          <p:cNvPr id="10" name="文本框 9"/>
          <p:cNvSpPr txBox="1"/>
          <p:nvPr/>
        </p:nvSpPr>
        <p:spPr>
          <a:xfrm>
            <a:off x="6097270" y="5674995"/>
            <a:ext cx="4013200" cy="337185"/>
          </a:xfrm>
          <a:prstGeom prst="rect">
            <a:avLst/>
          </a:prstGeom>
          <a:noFill/>
          <a:ln w="9525">
            <a:noFill/>
          </a:ln>
        </p:spPr>
        <p:txBody>
          <a:bodyPr wrap="square">
            <a:spAutoFit/>
          </a:bodyPr>
          <a:lstStyle/>
          <a:p>
            <a:pPr indent="0" algn="ctr"/>
            <a:r>
              <a:rPr lang="en-US" sz="1600" b="0" dirty="0">
                <a:solidFill>
                  <a:srgbClr val="000000"/>
                </a:solidFill>
                <a:latin typeface="宋体" panose="02010600030101010101" pitchFamily="2" charset="-122"/>
              </a:rPr>
              <a:t>        </a:t>
            </a:r>
            <a:r>
              <a:rPr lang="en-US" sz="1600" b="0" dirty="0">
                <a:solidFill>
                  <a:srgbClr val="000000"/>
                </a:solidFill>
                <a:latin typeface="Calibri" panose="020F0502020204030204" pitchFamily="34" charset="0"/>
              </a:rPr>
              <a:t>               </a:t>
            </a:r>
            <a:r>
              <a:rPr lang="en-US" sz="1600" b="0" dirty="0">
                <a:solidFill>
                  <a:srgbClr val="000000"/>
                </a:solidFill>
                <a:latin typeface="宋体" panose="02010600030101010101" pitchFamily="2" charset="-122"/>
              </a:rPr>
              <a:t>                                                                               </a:t>
            </a:r>
            <a:endParaRPr lang="zh-CN" altLang="en-US" sz="1600" dirty="0"/>
          </a:p>
        </p:txBody>
      </p:sp>
      <p:pic>
        <p:nvPicPr>
          <p:cNvPr id="8" name="图片 7"/>
          <p:cNvPicPr/>
          <p:nvPr/>
        </p:nvPicPr>
        <p:blipFill>
          <a:blip r:embed="rId1" cstate="print">
            <a:extLst>
              <a:ext uri="{28A0092B-C50C-407E-A947-70E740481C1C}">
                <a14:useLocalDpi xmlns:a14="http://schemas.microsoft.com/office/drawing/2010/main" val="0"/>
              </a:ext>
            </a:extLst>
          </a:blip>
          <a:stretch>
            <a:fillRect/>
          </a:stretch>
        </p:blipFill>
        <p:spPr>
          <a:xfrm>
            <a:off x="1647631" y="2880578"/>
            <a:ext cx="3124200" cy="2198370"/>
          </a:xfrm>
          <a:prstGeom prst="rect">
            <a:avLst/>
          </a:prstGeom>
        </p:spPr>
      </p:pic>
      <p:pic>
        <p:nvPicPr>
          <p:cNvPr id="11" name="图片 10"/>
          <p:cNvPicPr/>
          <p:nvPr/>
        </p:nvPicPr>
        <p:blipFill>
          <a:blip r:embed="rId2" cstate="print">
            <a:extLst>
              <a:ext uri="{28A0092B-C50C-407E-A947-70E740481C1C}">
                <a14:useLocalDpi xmlns:a14="http://schemas.microsoft.com/office/drawing/2010/main" val="0"/>
              </a:ext>
            </a:extLst>
          </a:blip>
          <a:stretch>
            <a:fillRect/>
          </a:stretch>
        </p:blipFill>
        <p:spPr>
          <a:xfrm>
            <a:off x="6096000" y="2800568"/>
            <a:ext cx="3225800" cy="227838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custDataLst>
              <p:tags r:id="rId1"/>
            </p:custDataLst>
          </p:nvPr>
        </p:nvSpPr>
        <p:spPr>
          <a:xfrm>
            <a:off x="1778000" y="535782"/>
            <a:ext cx="10087627" cy="2143125"/>
          </a:xfrm>
          <a:prstGeom prst="rect">
            <a:avLst/>
          </a:prstGeom>
          <a:noFill/>
        </p:spPr>
        <p:txBody>
          <a:bodyPr vert="horz" wrap="square" rtlCol="0" anchor="ctr" anchorCtr="0">
            <a:noAutofit/>
          </a:bodyPr>
          <a:lstStyle/>
          <a:p>
            <a:r>
              <a:rPr lang="en-US" altLang="zh-CN" sz="2800" dirty="0"/>
              <a:t>3. </a:t>
            </a:r>
            <a:r>
              <a:rPr lang="zh-CN" altLang="en-US" sz="2800" dirty="0"/>
              <a:t>下列关于随机森林的说法错误</a:t>
            </a:r>
            <a:r>
              <a:rPr lang="zh-CN" altLang="en-US" sz="28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的是</a:t>
            </a:r>
            <a:r>
              <a:rPr lang="zh-CN" altLang="en-US" sz="2800" dirty="0"/>
              <a:t>（）</a:t>
            </a:r>
            <a:r>
              <a:rPr lang="zh-CN" altLang="en-US" sz="28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 name="TextBox 3"/>
          <p:cNvSpPr txBox="1"/>
          <p:nvPr>
            <p:custDataLst>
              <p:tags r:id="rId2"/>
            </p:custDataLst>
          </p:nvPr>
        </p:nvSpPr>
        <p:spPr>
          <a:xfrm>
            <a:off x="3302694" y="2357438"/>
            <a:ext cx="7532318"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通过集成学习的思想将多棵树集成的一种算法。</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 name="TextBox 4"/>
          <p:cNvSpPr txBox="1"/>
          <p:nvPr>
            <p:custDataLst>
              <p:tags r:id="rId3"/>
            </p:custDataLst>
          </p:nvPr>
        </p:nvSpPr>
        <p:spPr>
          <a:xfrm>
            <a:off x="3302694" y="3214688"/>
            <a:ext cx="8158619"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在引入样本扰动的基础上，又引入了属性扰动。</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 name="椭圆 7"/>
          <p:cNvSpPr>
            <a:spLocks noChangeAspect="1"/>
          </p:cNvSpPr>
          <p:nvPr>
            <p:custDataLst>
              <p:tags r:id="rId4"/>
            </p:custDataLst>
          </p:nvPr>
        </p:nvSpPr>
        <p:spPr>
          <a:xfrm>
            <a:off x="2588320" y="3214688"/>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B</a:t>
            </a:r>
            <a:endParaRPr lang="zh-CN" altLang="en-US"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 name="椭圆 8"/>
          <p:cNvSpPr>
            <a:spLocks noChangeAspect="1"/>
          </p:cNvSpPr>
          <p:nvPr>
            <p:custDataLst>
              <p:tags r:id="rId5"/>
            </p:custDataLst>
          </p:nvPr>
        </p:nvSpPr>
        <p:spPr>
          <a:xfrm>
            <a:off x="2588320" y="4146458"/>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C</a:t>
            </a:r>
            <a:endParaRPr lang="zh-CN" altLang="en-US"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圆角矩形 11"/>
          <p:cNvSpPr/>
          <p:nvPr>
            <p:custDataLst>
              <p:tags r:id="rId6"/>
            </p:custDataLst>
          </p:nvPr>
        </p:nvSpPr>
        <p:spPr>
          <a:xfrm>
            <a:off x="7696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8" name="TextBox 3"/>
          <p:cNvSpPr txBox="1"/>
          <p:nvPr>
            <p:custDataLst>
              <p:tags r:id="rId7"/>
            </p:custDataLst>
          </p:nvPr>
        </p:nvSpPr>
        <p:spPr>
          <a:xfrm>
            <a:off x="3302694" y="4071938"/>
            <a:ext cx="7339905"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基本单元是决策树，</a:t>
            </a:r>
            <a:r>
              <a:rPr lang="zh-CN" altLang="zh-CN" sz="2600" dirty="0">
                <a:solidFill>
                  <a:srgbClr val="000000"/>
                </a:solidFill>
                <a:latin typeface="微软雅黑" panose="020B0503020204020204" pitchFamily="34" charset="-122"/>
                <a:ea typeface="微软雅黑" panose="020B0503020204020204" pitchFamily="34" charset="-122"/>
              </a:rPr>
              <a:t>将所有特征都参与特征指标的计算</a:t>
            </a:r>
            <a:r>
              <a:rPr lang="zh-CN" altLang="en-US" sz="2600" dirty="0">
                <a:solidFill>
                  <a:srgbClr val="000000"/>
                </a:solidFill>
                <a:latin typeface="微软雅黑" panose="020B0503020204020204" pitchFamily="34" charset="-122"/>
                <a:ea typeface="微软雅黑" panose="020B0503020204020204" pitchFamily="34" charset="-122"/>
              </a:rPr>
              <a:t>。</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9" name="椭圆 18"/>
          <p:cNvSpPr>
            <a:spLocks noChangeAspect="1"/>
          </p:cNvSpPr>
          <p:nvPr>
            <p:custDataLst>
              <p:tags r:id="rId8"/>
            </p:custDataLst>
          </p:nvPr>
        </p:nvSpPr>
        <p:spPr>
          <a:xfrm>
            <a:off x="2588320" y="4983354"/>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D</a:t>
            </a:r>
            <a:endParaRPr lang="zh-CN" altLang="en-US"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0" name="TextBox 3"/>
          <p:cNvSpPr txBox="1"/>
          <p:nvPr>
            <p:custDataLst>
              <p:tags r:id="rId9"/>
            </p:custDataLst>
          </p:nvPr>
        </p:nvSpPr>
        <p:spPr>
          <a:xfrm>
            <a:off x="3302695" y="4929188"/>
            <a:ext cx="64008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易于实现、易于并行。</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1" name="椭圆 20"/>
          <p:cNvSpPr>
            <a:spLocks noChangeAspect="1"/>
          </p:cNvSpPr>
          <p:nvPr>
            <p:custDataLst>
              <p:tags r:id="rId10"/>
            </p:custDataLst>
          </p:nvPr>
        </p:nvSpPr>
        <p:spPr>
          <a:xfrm>
            <a:off x="2588320" y="2390807"/>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A</a:t>
            </a:r>
            <a:endParaRPr lang="zh-CN" altLang="en-US"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17" name="组合 16"/>
          <p:cNvGrpSpPr/>
          <p:nvPr>
            <p:custDataLst>
              <p:tags r:id="rId11"/>
            </p:custDataLst>
          </p:nvPr>
        </p:nvGrpSpPr>
        <p:grpSpPr>
          <a:xfrm>
            <a:off x="0" y="0"/>
            <a:ext cx="9144000" cy="635000"/>
            <a:chOff x="-1524000" y="0"/>
            <a:chExt cx="9144000" cy="635000"/>
          </a:xfrm>
        </p:grpSpPr>
        <p:sp>
          <p:nvSpPr>
            <p:cNvPr id="13" name="TitleBackground"/>
            <p:cNvSpPr/>
            <p:nvPr>
              <p:custDataLst>
                <p:tags r:id="rId12"/>
              </p:custDataLst>
            </p:nvPr>
          </p:nvSpPr>
          <p:spPr>
            <a:xfrm>
              <a:off x="-152400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3"/>
              </p:custDataLst>
            </p:nvPr>
          </p:nvSpPr>
          <p:spPr>
            <a:xfrm>
              <a:off x="-152400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4"/>
              </p:custDataLst>
            </p:nvPr>
          </p:nvSpPr>
          <p:spPr>
            <a:xfrm>
              <a:off x="-1270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6" name="TipText"/>
            <p:cNvSpPr txBox="1"/>
            <p:nvPr>
              <p:custDataLst>
                <p:tags r:id="rId15"/>
              </p:custDataLst>
            </p:nvPr>
          </p:nvSpPr>
          <p:spPr>
            <a:xfrm>
              <a:off x="1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endPar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pic>
        <p:nvPicPr>
          <p:cNvPr id="2" name="图片 1"/>
          <p:cNvPicPr/>
          <p:nvPr>
            <p:custDataLst>
              <p:tags r:id="rId16"/>
            </p:custDataLst>
          </p:nvPr>
        </p:nvPicPr>
        <p:blipFill>
          <a:blip r:embed="rId17">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8"/>
    </p:custData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2537207" y="3409894"/>
            <a:ext cx="7472680" cy="706755"/>
          </a:xfrm>
          <a:prstGeom prst="rect">
            <a:avLst/>
          </a:prstGeom>
          <a:noFill/>
        </p:spPr>
        <p:txBody>
          <a:bodyPr wrap="square" rtlCol="0">
            <a:spAutoFit/>
          </a:bodyPr>
          <a:lstStyle/>
          <a:p>
            <a:pPr algn="ctr"/>
            <a:r>
              <a:rPr lang="zh-CN" altLang="en-US" sz="4000" b="1" dirty="0">
                <a:solidFill>
                  <a:schemeClr val="tx1">
                    <a:lumMod val="75000"/>
                    <a:lumOff val="25000"/>
                  </a:schemeClr>
                </a:solidFill>
                <a:latin typeface="Yuanti SC" panose="02010600040101010101" pitchFamily="2" charset="-122"/>
                <a:ea typeface="Yuanti SC" panose="02010600040101010101" pitchFamily="2" charset="-122"/>
              </a:rPr>
              <a:t>提升法</a:t>
            </a:r>
            <a:endParaRPr lang="zh-CN" altLang="en-US" sz="4000" b="1" dirty="0">
              <a:solidFill>
                <a:schemeClr val="tx1">
                  <a:lumMod val="75000"/>
                  <a:lumOff val="25000"/>
                </a:schemeClr>
              </a:solidFill>
              <a:latin typeface="Yuanti SC" panose="02010600040101010101" pitchFamily="2" charset="-122"/>
              <a:ea typeface="Yuanti SC" panose="02010600040101010101" pitchFamily="2" charset="-122"/>
            </a:endParaRPr>
          </a:p>
        </p:txBody>
      </p:sp>
      <p:sp>
        <p:nvSpPr>
          <p:cNvPr id="1381" name="文本框 1380"/>
          <p:cNvSpPr txBox="1"/>
          <p:nvPr/>
        </p:nvSpPr>
        <p:spPr>
          <a:xfrm>
            <a:off x="4733478" y="4297235"/>
            <a:ext cx="3236784" cy="307777"/>
          </a:xfrm>
          <a:prstGeom prst="rect">
            <a:avLst/>
          </a:prstGeom>
          <a:noFill/>
        </p:spPr>
        <p:txBody>
          <a:bodyPr wrap="none" rtlCol="0">
            <a:spAutoFit/>
          </a:bodyPr>
          <a:lstStyle/>
          <a:p>
            <a:pPr algn="l"/>
            <a:r>
              <a:rPr lang="zh-CN" altLang="en-US" sz="1400" b="1" dirty="0">
                <a:solidFill>
                  <a:schemeClr val="tx1">
                    <a:lumMod val="50000"/>
                    <a:lumOff val="50000"/>
                  </a:schemeClr>
                </a:solidFill>
                <a:latin typeface="微软雅黑" panose="020B0503020204020204" pitchFamily="34" charset="-122"/>
                <a:ea typeface="微软雅黑" panose="020B0503020204020204" pitchFamily="34" charset="-122"/>
              </a:rPr>
              <a:t>本节介绍提升法算法原理和实现及参数</a:t>
            </a:r>
            <a:endParaRPr lang="zh-CN" altLang="en-US" sz="14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2069" name="八边形 2068"/>
          <p:cNvSpPr/>
          <p:nvPr/>
        </p:nvSpPr>
        <p:spPr>
          <a:xfrm>
            <a:off x="5231420" y="1467316"/>
            <a:ext cx="2084254" cy="1761993"/>
          </a:xfrm>
          <a:prstGeom prst="octagon">
            <a:avLst/>
          </a:prstGeom>
          <a:solidFill>
            <a:schemeClr val="accent5"/>
          </a:solidFill>
          <a:ln>
            <a:solidFill>
              <a:schemeClr val="accent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sz="6600" dirty="0">
                <a:latin typeface="Impact" panose="020B0806030902050204" pitchFamily="34" charset="0"/>
                <a:ea typeface="方正综艺简体" panose="03000509000000000000" pitchFamily="65" charset="-122"/>
              </a:rPr>
              <a:t>3</a:t>
            </a:r>
            <a:endParaRPr lang="zh-CN" altLang="en-US" sz="6600" dirty="0">
              <a:latin typeface="Impact" panose="020B0806030902050204" pitchFamily="34" charset="0"/>
              <a:ea typeface="方正综艺简体" panose="03000509000000000000" pitchFamily="65"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FF206FCC-0CBB-4DF4-89C1-3C9DB4B6E776}" type="slidenum">
              <a:rPr lang="zh-CN" altLang="en-US" smtClean="0"/>
            </a:fld>
            <a:r>
              <a:rPr lang="zh-CN" altLang="en-US"/>
              <a:t>   </a:t>
            </a:r>
            <a:endParaRPr lang="zh-CN" altLang="en-US" dirty="0"/>
          </a:p>
        </p:txBody>
      </p:sp>
      <p:sp>
        <p:nvSpPr>
          <p:cNvPr id="5" name="内容占位符 1"/>
          <p:cNvSpPr>
            <a:spLocks noGrp="1"/>
          </p:cNvSpPr>
          <p:nvPr>
            <p:ph idx="1"/>
          </p:nvPr>
        </p:nvSpPr>
        <p:spPr>
          <a:xfrm>
            <a:off x="295625" y="1116352"/>
            <a:ext cx="11278424" cy="5509592"/>
          </a:xfrm>
        </p:spPr>
        <p:txBody>
          <a:bodyPr vert="horz" lIns="91440" tIns="45720" rIns="91440" bIns="45720" rtlCol="0">
            <a:normAutofit/>
          </a:bodyPr>
          <a:lstStyle/>
          <a:p>
            <a:pPr lvl="0" algn="just"/>
            <a:r>
              <a:rPr kumimoji="1" lang="zh-CN" altLang="en-US" sz="2400" dirty="0">
                <a:sym typeface="+mn-ea"/>
              </a:rPr>
              <a:t>提升法原理</a:t>
            </a:r>
            <a:endParaRPr kumimoji="1" lang="en-US" altLang="zh-CN" sz="2400" dirty="0">
              <a:sym typeface="+mn-ea"/>
            </a:endParaRPr>
          </a:p>
          <a:p>
            <a:pPr indent="0" algn="just">
              <a:buNone/>
            </a:pPr>
            <a:r>
              <a:rPr lang="en-US" altLang="zh-CN" sz="1800" kern="1000" dirty="0">
                <a:solidFill>
                  <a:schemeClr val="tx1"/>
                </a:solidFill>
                <a:effectLst/>
                <a:cs typeface="Times New Roman" panose="02020603050405020304" pitchFamily="18" charset="0"/>
              </a:rPr>
              <a:t>    </a:t>
            </a:r>
            <a:r>
              <a:rPr lang="en-US" altLang="zh-CN" sz="1800" kern="1000" dirty="0">
                <a:solidFill>
                  <a:schemeClr val="tx1"/>
                </a:solidFill>
                <a:effectLst/>
              </a:rPr>
              <a:t>Boosting</a:t>
            </a:r>
            <a:r>
              <a:rPr lang="zh-CN" altLang="zh-CN" sz="1800" kern="1000" dirty="0">
                <a:solidFill>
                  <a:schemeClr val="tx1"/>
                </a:solidFill>
                <a:effectLst/>
              </a:rPr>
              <a:t>是一种可将弱学习器提升为强学习器的算法。这种算法先从初始训练集训练出一个基学习器，再根据基学习器的表现对训练样本分布进行调整，使得先前基学习器做错的训练样本在后续受到更多关注，然后基于调整后的样本分布来训练下一个基学习器。如此重复进行，直至基学习器数目达到事先指定的值</a:t>
            </a:r>
            <a:r>
              <a:rPr lang="en-US" altLang="zh-CN" sz="1800" i="1" kern="1000" dirty="0">
                <a:solidFill>
                  <a:schemeClr val="tx1"/>
                </a:solidFill>
                <a:effectLst/>
              </a:rPr>
              <a:t>T</a:t>
            </a:r>
            <a:r>
              <a:rPr lang="zh-CN" altLang="zh-CN" sz="1800" kern="1000" dirty="0">
                <a:solidFill>
                  <a:schemeClr val="tx1"/>
                </a:solidFill>
                <a:effectLst/>
              </a:rPr>
              <a:t>，最终将这</a:t>
            </a:r>
            <a:r>
              <a:rPr lang="en-US" altLang="zh-CN" sz="1800" i="1" kern="1000" dirty="0">
                <a:solidFill>
                  <a:schemeClr val="tx1"/>
                </a:solidFill>
                <a:effectLst/>
              </a:rPr>
              <a:t>T</a:t>
            </a:r>
            <a:r>
              <a:rPr lang="zh-CN" altLang="zh-CN" sz="1800" kern="1000" dirty="0">
                <a:solidFill>
                  <a:schemeClr val="tx1"/>
                </a:solidFill>
                <a:effectLst/>
              </a:rPr>
              <a:t>个基学习器进行加权结合。</a:t>
            </a:r>
            <a:endParaRPr lang="en-US" altLang="zh-CN" sz="1800" kern="1000" dirty="0">
              <a:solidFill>
                <a:schemeClr val="tx1"/>
              </a:solidFill>
              <a:effectLst/>
            </a:endParaRPr>
          </a:p>
          <a:p>
            <a:pPr indent="0" algn="just">
              <a:buNone/>
            </a:pPr>
            <a:r>
              <a:rPr lang="en-US" altLang="zh-CN" sz="1800" kern="1000" dirty="0">
                <a:solidFill>
                  <a:schemeClr val="tx1"/>
                </a:solidFill>
                <a:effectLst/>
              </a:rPr>
              <a:t>    Boosting</a:t>
            </a:r>
            <a:r>
              <a:rPr lang="zh-CN" altLang="zh-CN" sz="1800" kern="1000" dirty="0">
                <a:solidFill>
                  <a:schemeClr val="tx1"/>
                </a:solidFill>
                <a:effectLst/>
              </a:rPr>
              <a:t>拥有系列算法，如</a:t>
            </a:r>
            <a:r>
              <a:rPr lang="en-US" altLang="zh-CN" sz="1800" kern="1000" dirty="0">
                <a:solidFill>
                  <a:schemeClr val="tx1"/>
                </a:solidFill>
                <a:effectLst/>
              </a:rPr>
              <a:t>AdaBoost</a:t>
            </a:r>
            <a:r>
              <a:rPr lang="zh-CN" altLang="zh-CN" sz="1800" kern="1000" dirty="0">
                <a:solidFill>
                  <a:schemeClr val="tx1"/>
                </a:solidFill>
                <a:effectLst/>
              </a:rPr>
              <a:t>，</a:t>
            </a:r>
            <a:r>
              <a:rPr lang="en-US" altLang="zh-CN" sz="1800" kern="1000" dirty="0" err="1">
                <a:solidFill>
                  <a:schemeClr val="tx1"/>
                </a:solidFill>
                <a:effectLst/>
              </a:rPr>
              <a:t>GradientBoosting</a:t>
            </a:r>
            <a:r>
              <a:rPr lang="zh-CN" altLang="zh-CN" sz="1800" kern="1000" dirty="0">
                <a:solidFill>
                  <a:schemeClr val="tx1"/>
                </a:solidFill>
                <a:effectLst/>
              </a:rPr>
              <a:t>，</a:t>
            </a:r>
            <a:r>
              <a:rPr lang="en-US" altLang="zh-CN" sz="1800" kern="1000" dirty="0" err="1">
                <a:solidFill>
                  <a:schemeClr val="tx1"/>
                </a:solidFill>
                <a:effectLst/>
              </a:rPr>
              <a:t>LogitBoost</a:t>
            </a:r>
            <a:r>
              <a:rPr lang="zh-CN" altLang="zh-CN" sz="1800" kern="1000" dirty="0">
                <a:solidFill>
                  <a:schemeClr val="tx1"/>
                </a:solidFill>
                <a:effectLst/>
              </a:rPr>
              <a:t>等，其中最著名的代表是</a:t>
            </a:r>
            <a:r>
              <a:rPr lang="en-US" altLang="zh-CN" sz="1800" kern="1000" dirty="0">
                <a:solidFill>
                  <a:schemeClr val="tx1"/>
                </a:solidFill>
                <a:effectLst/>
              </a:rPr>
              <a:t>AdaBoost</a:t>
            </a:r>
            <a:r>
              <a:rPr lang="zh-CN" altLang="zh-CN" sz="1800" kern="1000" dirty="0">
                <a:solidFill>
                  <a:schemeClr val="tx1"/>
                </a:solidFill>
                <a:effectLst/>
              </a:rPr>
              <a:t>算法。</a:t>
            </a:r>
            <a:r>
              <a:rPr lang="en-US" altLang="zh-CN" sz="1800" kern="1000" dirty="0">
                <a:solidFill>
                  <a:schemeClr val="tx1"/>
                </a:solidFill>
                <a:effectLst/>
              </a:rPr>
              <a:t>Boosting</a:t>
            </a:r>
            <a:r>
              <a:rPr lang="zh-CN" altLang="zh-CN" sz="1800" kern="1000" dirty="0">
                <a:solidFill>
                  <a:schemeClr val="tx1"/>
                </a:solidFill>
                <a:effectLst/>
              </a:rPr>
              <a:t>中的个体分类器可以是不同类的分类器。</a:t>
            </a:r>
            <a:endParaRPr lang="zh-CN" altLang="zh-CN" sz="1800" kern="1000" dirty="0">
              <a:solidFill>
                <a:schemeClr val="tx1"/>
              </a:solidFill>
              <a:effectLst/>
            </a:endParaRPr>
          </a:p>
          <a:p>
            <a:pPr indent="0" algn="just">
              <a:buNone/>
            </a:pPr>
            <a:endParaRPr lang="zh-CN" altLang="zh-CN" sz="1800" kern="1000" dirty="0">
              <a:solidFill>
                <a:schemeClr val="tx1"/>
              </a:solidFill>
              <a:effectLst/>
            </a:endParaRPr>
          </a:p>
          <a:p>
            <a:pPr marL="0" lvl="0" indent="0" algn="just">
              <a:buNone/>
            </a:pPr>
            <a:endParaRPr kumimoji="1" lang="en-US" altLang="zh-CN" sz="2400" dirty="0">
              <a:sym typeface="+mn-ea"/>
            </a:endParaRPr>
          </a:p>
        </p:txBody>
      </p:sp>
      <p:sp>
        <p:nvSpPr>
          <p:cNvPr id="6" name="标题 3"/>
          <p:cNvSpPr>
            <a:spLocks noGrp="1"/>
          </p:cNvSpPr>
          <p:nvPr>
            <p:ph type="title"/>
          </p:nvPr>
        </p:nvSpPr>
        <p:spPr>
          <a:xfrm>
            <a:off x="295625" y="509513"/>
            <a:ext cx="4776874" cy="606839"/>
          </a:xfrm>
          <a:solidFill>
            <a:srgbClr val="92D050"/>
          </a:solidFill>
        </p:spPr>
        <p:txBody>
          <a:bodyPr/>
          <a:lstStyle/>
          <a:p>
            <a:pPr algn="just"/>
            <a:r>
              <a:rPr lang="zh-CN" altLang="en-US" dirty="0"/>
              <a:t>提升法</a:t>
            </a:r>
            <a:endParaRPr lang="en-US" altLang="zh-CN"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FF206FCC-0CBB-4DF4-89C1-3C9DB4B6E776}" type="slidenum">
              <a:rPr lang="zh-CN" altLang="en-US" smtClean="0"/>
            </a:fld>
            <a:r>
              <a:rPr lang="zh-CN" altLang="en-US"/>
              <a:t>   </a:t>
            </a:r>
            <a:endParaRPr lang="zh-CN" altLang="en-US" dirty="0"/>
          </a:p>
        </p:txBody>
      </p:sp>
      <p:sp>
        <p:nvSpPr>
          <p:cNvPr id="6" name="标题 3"/>
          <p:cNvSpPr>
            <a:spLocks noGrp="1"/>
          </p:cNvSpPr>
          <p:nvPr>
            <p:ph type="title"/>
          </p:nvPr>
        </p:nvSpPr>
        <p:spPr>
          <a:xfrm>
            <a:off x="295625" y="509513"/>
            <a:ext cx="4776874" cy="606839"/>
          </a:xfrm>
          <a:solidFill>
            <a:srgbClr val="92D050"/>
          </a:solidFill>
        </p:spPr>
        <p:txBody>
          <a:bodyPr/>
          <a:lstStyle/>
          <a:p>
            <a:pPr algn="just"/>
            <a:r>
              <a:rPr lang="zh-CN" altLang="en-US" dirty="0"/>
              <a:t>提升法</a:t>
            </a:r>
            <a:endParaRPr lang="en-US" altLang="zh-CN" dirty="0"/>
          </a:p>
        </p:txBody>
      </p:sp>
      <p:pic>
        <p:nvPicPr>
          <p:cNvPr id="7" name="图片 6"/>
          <p:cNvPicPr>
            <a:picLocks noChangeAspect="1"/>
          </p:cNvPicPr>
          <p:nvPr/>
        </p:nvPicPr>
        <p:blipFill>
          <a:blip r:embed="rId1"/>
          <a:stretch>
            <a:fillRect/>
          </a:stretch>
        </p:blipFill>
        <p:spPr>
          <a:xfrm>
            <a:off x="914399" y="1491560"/>
            <a:ext cx="8968149" cy="4591974"/>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FF206FCC-0CBB-4DF4-89C1-3C9DB4B6E776}" type="slidenum">
              <a:rPr lang="zh-CN" altLang="en-US" smtClean="0"/>
            </a:fld>
            <a:r>
              <a:rPr lang="zh-CN" altLang="en-US"/>
              <a:t>   </a:t>
            </a:r>
            <a:endParaRPr lang="zh-CN" altLang="en-US" dirty="0"/>
          </a:p>
        </p:txBody>
      </p:sp>
      <mc:AlternateContent xmlns:mc="http://schemas.openxmlformats.org/markup-compatibility/2006">
        <mc:Choice xmlns:a14="http://schemas.microsoft.com/office/drawing/2010/main" Requires="a14">
          <p:sp>
            <p:nvSpPr>
              <p:cNvPr id="5" name="内容占位符 1"/>
              <p:cNvSpPr>
                <a:spLocks noGrp="1"/>
              </p:cNvSpPr>
              <p:nvPr>
                <p:ph idx="1"/>
              </p:nvPr>
            </p:nvSpPr>
            <p:spPr>
              <a:xfrm>
                <a:off x="295624" y="1124898"/>
                <a:ext cx="11278425" cy="5509592"/>
              </a:xfrm>
            </p:spPr>
            <p:txBody>
              <a:bodyPr vert="horz" lIns="91440" tIns="45720" rIns="91440" bIns="45720" rtlCol="0">
                <a:normAutofit/>
              </a:bodyPr>
              <a:lstStyle/>
              <a:p>
                <a:pPr lvl="0" algn="just"/>
                <a:r>
                  <a:rPr kumimoji="1" lang="zh-CN" altLang="en-US" sz="2400" dirty="0">
                    <a:sym typeface="+mn-ea"/>
                  </a:rPr>
                  <a:t>提升法原理</a:t>
                </a:r>
                <a:endParaRPr kumimoji="1" lang="en-US" altLang="zh-CN" sz="2400" dirty="0">
                  <a:sym typeface="+mn-ea"/>
                </a:endParaRPr>
              </a:p>
              <a:p>
                <a:pPr indent="0" algn="just">
                  <a:buNone/>
                </a:pPr>
                <a:r>
                  <a:rPr lang="en-US" altLang="zh-CN" sz="1800" kern="1000" dirty="0">
                    <a:solidFill>
                      <a:srgbClr val="000000"/>
                    </a:solidFill>
                    <a:effectLst/>
                  </a:rPr>
                  <a:t>Boosting</a:t>
                </a:r>
                <a:r>
                  <a:rPr lang="zh-CN" altLang="zh-CN" sz="1800" kern="1000" dirty="0">
                    <a:solidFill>
                      <a:srgbClr val="000000"/>
                    </a:solidFill>
                    <a:effectLst/>
                  </a:rPr>
                  <a:t>算法分为以下两个阶段</a:t>
                </a:r>
                <a:r>
                  <a:rPr lang="zh-CN" altLang="en-US" sz="1800" kern="1000" dirty="0">
                    <a:solidFill>
                      <a:srgbClr val="000000"/>
                    </a:solidFill>
                    <a:effectLst/>
                  </a:rPr>
                  <a:t>：</a:t>
                </a:r>
                <a:endParaRPr lang="zh-CN" altLang="zh-CN" sz="1800" kern="1000" dirty="0">
                  <a:solidFill>
                    <a:srgbClr val="000000"/>
                  </a:solidFill>
                  <a:effectLst/>
                </a:endParaRPr>
              </a:p>
              <a:p>
                <a:pPr indent="0">
                  <a:buNone/>
                </a:pPr>
                <a:r>
                  <a:rPr lang="en-US" altLang="zh-CN" sz="1800" kern="1000" dirty="0">
                    <a:solidFill>
                      <a:srgbClr val="000000"/>
                    </a:solidFill>
                    <a:effectLst/>
                  </a:rPr>
                  <a:t>        1</a:t>
                </a:r>
                <a:r>
                  <a:rPr lang="zh-CN" altLang="zh-CN" sz="1800" kern="1000" dirty="0">
                    <a:solidFill>
                      <a:srgbClr val="000000"/>
                    </a:solidFill>
                    <a:effectLst/>
                  </a:rPr>
                  <a:t>）训练阶段。给定一个训练集</a:t>
                </a:r>
                <a:r>
                  <a:rPr lang="en-US" altLang="zh-CN" sz="1800" i="1" kern="1000" dirty="0">
                    <a:solidFill>
                      <a:srgbClr val="000000"/>
                    </a:solidFill>
                    <a:effectLst/>
                  </a:rPr>
                  <a:t>X</a:t>
                </a:r>
                <a:r>
                  <a:rPr lang="zh-CN" altLang="zh-CN" sz="1800" kern="1000" dirty="0">
                    <a:solidFill>
                      <a:srgbClr val="000000"/>
                    </a:solidFill>
                    <a:effectLst/>
                  </a:rPr>
                  <a:t>，随机地将其划分为</a:t>
                </a:r>
                <a:r>
                  <a:rPr lang="en-US" altLang="zh-CN" sz="1800" kern="1000" dirty="0">
                    <a:solidFill>
                      <a:srgbClr val="000000"/>
                    </a:solidFill>
                    <a:effectLst/>
                  </a:rPr>
                  <a:t>3</a:t>
                </a:r>
                <a:r>
                  <a:rPr lang="zh-CN" altLang="zh-CN" sz="1800" kern="1000" dirty="0">
                    <a:solidFill>
                      <a:srgbClr val="000000"/>
                    </a:solidFill>
                    <a:effectLst/>
                  </a:rPr>
                  <a:t>个子集</a:t>
                </a:r>
                <a14:m>
                  <m:oMath xmlns:m="http://schemas.openxmlformats.org/officeDocument/2006/math">
                    <m:r>
                      <a:rPr lang="en-US" altLang="zh-CN" sz="1800" i="1" kern="1000">
                        <a:solidFill>
                          <a:srgbClr val="000000"/>
                        </a:solidFill>
                        <a:effectLst/>
                        <a:latin typeface="Cambria Math" panose="02040503050406030204" pitchFamily="18" charset="0"/>
                        <a:ea typeface="宋体" panose="02010600030101010101" pitchFamily="2" charset="-122"/>
                      </a:rPr>
                      <m:t>𝑋</m:t>
                    </m:r>
                    <m:r>
                      <a:rPr lang="en-US" altLang="zh-CN" sz="1800" i="1" kern="1000">
                        <a:solidFill>
                          <a:srgbClr val="000000"/>
                        </a:solidFill>
                        <a:effectLst/>
                        <a:latin typeface="Cambria Math" panose="02040503050406030204" pitchFamily="18" charset="0"/>
                        <a:ea typeface="宋体" panose="02010600030101010101" pitchFamily="2" charset="-122"/>
                      </a:rPr>
                      <m:t>=</m:t>
                    </m:r>
                    <m:d>
                      <m:dPr>
                        <m:begChr m:val="{"/>
                        <m:endChr m:val="}"/>
                        <m:ctrlPr>
                          <a:rPr lang="zh-CN" altLang="zh-CN" sz="1800" i="1" kern="1000">
                            <a:solidFill>
                              <a:srgbClr val="000000"/>
                            </a:solidFill>
                            <a:effectLst/>
                            <a:latin typeface="Cambria Math" panose="02040503050406030204" pitchFamily="18" charset="0"/>
                            <a:ea typeface="Cambria Math" panose="02040503050406030204" pitchFamily="18" charset="0"/>
                          </a:rPr>
                        </m:ctrlPr>
                      </m:dPr>
                      <m:e>
                        <m:sSub>
                          <m:sSubPr>
                            <m:ctrlPr>
                              <a:rPr lang="zh-CN" altLang="zh-CN" sz="1800" i="1" kern="1000">
                                <a:solidFill>
                                  <a:srgbClr val="000000"/>
                                </a:solidFill>
                                <a:effectLst/>
                                <a:latin typeface="Cambria Math" panose="02040503050406030204" pitchFamily="18" charset="0"/>
                                <a:ea typeface="Cambria Math" panose="02040503050406030204" pitchFamily="18" charset="0"/>
                              </a:rPr>
                            </m:ctrlPr>
                          </m:sSubPr>
                          <m:e>
                            <m:r>
                              <a:rPr lang="en-US" altLang="zh-CN" sz="1800" i="1" kern="1000">
                                <a:solidFill>
                                  <a:srgbClr val="000000"/>
                                </a:solidFill>
                                <a:effectLst/>
                                <a:latin typeface="Cambria Math" panose="02040503050406030204" pitchFamily="18" charset="0"/>
                                <a:ea typeface="宋体" panose="02010600030101010101" pitchFamily="2" charset="-122"/>
                              </a:rPr>
                              <m:t>𝑋</m:t>
                            </m:r>
                          </m:e>
                          <m:sub>
                            <m:r>
                              <a:rPr lang="en-US" altLang="zh-CN" sz="1800" i="1" kern="1000">
                                <a:solidFill>
                                  <a:srgbClr val="000000"/>
                                </a:solidFill>
                                <a:effectLst/>
                                <a:latin typeface="Cambria Math" panose="02040503050406030204" pitchFamily="18" charset="0"/>
                                <a:ea typeface="宋体" panose="02010600030101010101" pitchFamily="2" charset="-122"/>
                              </a:rPr>
                              <m:t>1</m:t>
                            </m:r>
                          </m:sub>
                        </m:sSub>
                        <m:r>
                          <a:rPr lang="en-US" altLang="zh-CN" sz="1800" i="1" kern="1000">
                            <a:solidFill>
                              <a:srgbClr val="000000"/>
                            </a:solidFill>
                            <a:effectLst/>
                            <a:latin typeface="Cambria Math" panose="02040503050406030204" pitchFamily="18" charset="0"/>
                            <a:ea typeface="宋体" panose="02010600030101010101" pitchFamily="2" charset="-122"/>
                          </a:rPr>
                          <m:t>,</m:t>
                        </m:r>
                        <m:sSub>
                          <m:sSubPr>
                            <m:ctrlPr>
                              <a:rPr lang="zh-CN" altLang="zh-CN" sz="1800" i="1" kern="1000">
                                <a:solidFill>
                                  <a:srgbClr val="000000"/>
                                </a:solidFill>
                                <a:latin typeface="Cambria Math" panose="02040503050406030204" pitchFamily="18" charset="0"/>
                                <a:ea typeface="Cambria Math" panose="02040503050406030204" pitchFamily="18" charset="0"/>
                              </a:rPr>
                            </m:ctrlPr>
                          </m:sSubPr>
                          <m:e>
                            <m:r>
                              <a:rPr lang="en-US" altLang="zh-CN" sz="1800" i="1" kern="1000">
                                <a:solidFill>
                                  <a:srgbClr val="000000"/>
                                </a:solidFill>
                                <a:latin typeface="Cambria Math" panose="02040503050406030204" pitchFamily="18" charset="0"/>
                                <a:ea typeface="宋体" panose="02010600030101010101" pitchFamily="2" charset="-122"/>
                              </a:rPr>
                              <m:t>𝑋</m:t>
                            </m:r>
                          </m:e>
                          <m:sub>
                            <m:r>
                              <a:rPr lang="en-US" altLang="zh-CN" sz="1800" i="1" kern="1000">
                                <a:solidFill>
                                  <a:srgbClr val="000000"/>
                                </a:solidFill>
                                <a:latin typeface="Cambria Math" panose="02040503050406030204" pitchFamily="18" charset="0"/>
                                <a:ea typeface="宋体" panose="02010600030101010101" pitchFamily="2" charset="-122"/>
                              </a:rPr>
                              <m:t>2</m:t>
                            </m:r>
                          </m:sub>
                        </m:sSub>
                        <m:r>
                          <a:rPr lang="en-US" altLang="zh-CN" sz="1800" i="1" kern="1000">
                            <a:solidFill>
                              <a:srgbClr val="000000"/>
                            </a:solidFill>
                            <a:effectLst/>
                            <a:latin typeface="Cambria Math" panose="02040503050406030204" pitchFamily="18" charset="0"/>
                            <a:ea typeface="宋体" panose="02010600030101010101" pitchFamily="2" charset="-122"/>
                          </a:rPr>
                          <m:t>,</m:t>
                        </m:r>
                        <m:sSub>
                          <m:sSubPr>
                            <m:ctrlPr>
                              <a:rPr lang="zh-CN" altLang="zh-CN" sz="1800" i="1" kern="1000">
                                <a:solidFill>
                                  <a:srgbClr val="000000"/>
                                </a:solidFill>
                                <a:effectLst/>
                                <a:latin typeface="Cambria Math" panose="02040503050406030204" pitchFamily="18" charset="0"/>
                                <a:ea typeface="Cambria Math" panose="02040503050406030204" pitchFamily="18" charset="0"/>
                              </a:rPr>
                            </m:ctrlPr>
                          </m:sSubPr>
                          <m:e>
                            <m:r>
                              <a:rPr lang="en-US" altLang="zh-CN" sz="1800" i="1" kern="1000">
                                <a:solidFill>
                                  <a:srgbClr val="000000"/>
                                </a:solidFill>
                                <a:effectLst/>
                                <a:latin typeface="Cambria Math" panose="02040503050406030204" pitchFamily="18" charset="0"/>
                                <a:ea typeface="宋体" panose="02010600030101010101" pitchFamily="2" charset="-122"/>
                              </a:rPr>
                              <m:t>𝑋</m:t>
                            </m:r>
                          </m:e>
                          <m:sub>
                            <m:r>
                              <a:rPr lang="en-US" altLang="zh-CN" sz="1800" i="1" kern="1000">
                                <a:solidFill>
                                  <a:srgbClr val="000000"/>
                                </a:solidFill>
                                <a:effectLst/>
                                <a:latin typeface="Cambria Math" panose="02040503050406030204" pitchFamily="18" charset="0"/>
                                <a:ea typeface="宋体" panose="02010600030101010101" pitchFamily="2" charset="-122"/>
                              </a:rPr>
                              <m:t>3</m:t>
                            </m:r>
                          </m:sub>
                        </m:sSub>
                      </m:e>
                    </m:d>
                  </m:oMath>
                </a14:m>
                <a:r>
                  <a:rPr lang="zh-CN" altLang="zh-CN" sz="1800" kern="1000" dirty="0">
                    <a:solidFill>
                      <a:srgbClr val="000000"/>
                    </a:solidFill>
                    <a:effectLst/>
                  </a:rPr>
                  <a:t>。首先使用</a:t>
                </a:r>
                <a14:m>
                  <m:oMath xmlns:m="http://schemas.openxmlformats.org/officeDocument/2006/math">
                    <m:sSub>
                      <m:sSubPr>
                        <m:ctrlPr>
                          <a:rPr lang="zh-CN" altLang="zh-CN" sz="1800" i="1" kern="1000">
                            <a:solidFill>
                              <a:srgbClr val="000000"/>
                            </a:solidFill>
                            <a:effectLst/>
                            <a:latin typeface="Cambria Math" panose="02040503050406030204" pitchFamily="18" charset="0"/>
                            <a:ea typeface="Cambria Math" panose="02040503050406030204" pitchFamily="18" charset="0"/>
                          </a:rPr>
                        </m:ctrlPr>
                      </m:sSubPr>
                      <m:e>
                        <m:r>
                          <a:rPr lang="en-US" altLang="zh-CN" sz="1800" i="1" kern="1000">
                            <a:solidFill>
                              <a:srgbClr val="000000"/>
                            </a:solidFill>
                            <a:effectLst/>
                            <a:latin typeface="Cambria Math" panose="02040503050406030204" pitchFamily="18" charset="0"/>
                            <a:ea typeface="宋体" panose="02010600030101010101" pitchFamily="2" charset="-122"/>
                          </a:rPr>
                          <m:t>𝑋</m:t>
                        </m:r>
                      </m:e>
                      <m:sub>
                        <m:r>
                          <a:rPr lang="en-US" altLang="zh-CN" sz="1800" i="1" kern="1000">
                            <a:solidFill>
                              <a:srgbClr val="000000"/>
                            </a:solidFill>
                            <a:effectLst/>
                            <a:latin typeface="Cambria Math" panose="02040503050406030204" pitchFamily="18" charset="0"/>
                            <a:ea typeface="宋体" panose="02010600030101010101" pitchFamily="2" charset="-122"/>
                          </a:rPr>
                          <m:t>1</m:t>
                        </m:r>
                      </m:sub>
                    </m:sSub>
                  </m:oMath>
                </a14:m>
                <a:r>
                  <a:rPr lang="zh-CN" altLang="zh-CN" sz="1800" kern="1000" dirty="0">
                    <a:solidFill>
                      <a:srgbClr val="000000"/>
                    </a:solidFill>
                    <a:effectLst/>
                  </a:rPr>
                  <a:t>训练基分类器</a:t>
                </a:r>
                <a14:m>
                  <m:oMath xmlns:m="http://schemas.openxmlformats.org/officeDocument/2006/math">
                    <m:sSub>
                      <m:sSubPr>
                        <m:ctrlPr>
                          <a:rPr lang="zh-CN" altLang="zh-CN" sz="1800" i="1" kern="1000">
                            <a:solidFill>
                              <a:srgbClr val="000000"/>
                            </a:solidFill>
                            <a:effectLst/>
                            <a:latin typeface="Cambria Math" panose="02040503050406030204" pitchFamily="18" charset="0"/>
                            <a:ea typeface="Cambria Math" panose="02040503050406030204" pitchFamily="18" charset="0"/>
                          </a:rPr>
                        </m:ctrlPr>
                      </m:sSubPr>
                      <m:e>
                        <m:r>
                          <a:rPr lang="en-US" altLang="zh-CN" sz="1800" i="1" kern="1000">
                            <a:solidFill>
                              <a:srgbClr val="000000"/>
                            </a:solidFill>
                            <a:effectLst/>
                            <a:latin typeface="Cambria Math" panose="02040503050406030204" pitchFamily="18" charset="0"/>
                            <a:ea typeface="宋体" panose="02010600030101010101" pitchFamily="2" charset="-122"/>
                          </a:rPr>
                          <m:t>𝑑</m:t>
                        </m:r>
                      </m:e>
                      <m:sub>
                        <m:r>
                          <a:rPr lang="en-US" altLang="zh-CN" sz="1800" i="1" kern="1000">
                            <a:solidFill>
                              <a:srgbClr val="000000"/>
                            </a:solidFill>
                            <a:effectLst/>
                            <a:latin typeface="Cambria Math" panose="02040503050406030204" pitchFamily="18" charset="0"/>
                            <a:ea typeface="宋体" panose="02010600030101010101" pitchFamily="2" charset="-122"/>
                          </a:rPr>
                          <m:t>1</m:t>
                        </m:r>
                      </m:sub>
                    </m:sSub>
                  </m:oMath>
                </a14:m>
                <a:r>
                  <a:rPr lang="zh-CN" altLang="zh-CN" sz="1800" kern="1000" dirty="0">
                    <a:solidFill>
                      <a:srgbClr val="000000"/>
                    </a:solidFill>
                    <a:effectLst/>
                  </a:rPr>
                  <a:t>，接着提取</a:t>
                </a:r>
                <a14:m>
                  <m:oMath xmlns:m="http://schemas.openxmlformats.org/officeDocument/2006/math">
                    <m:sSub>
                      <m:sSubPr>
                        <m:ctrlPr>
                          <a:rPr lang="zh-CN" altLang="zh-CN" sz="1800" i="1" kern="1000">
                            <a:solidFill>
                              <a:srgbClr val="000000"/>
                            </a:solidFill>
                            <a:effectLst/>
                            <a:latin typeface="Cambria Math" panose="02040503050406030204" pitchFamily="18" charset="0"/>
                            <a:ea typeface="Cambria Math" panose="02040503050406030204" pitchFamily="18" charset="0"/>
                          </a:rPr>
                        </m:ctrlPr>
                      </m:sSubPr>
                      <m:e>
                        <m:r>
                          <a:rPr lang="en-US" altLang="zh-CN" sz="1800" i="1" kern="1000">
                            <a:solidFill>
                              <a:srgbClr val="000000"/>
                            </a:solidFill>
                            <a:effectLst/>
                            <a:latin typeface="Cambria Math" panose="02040503050406030204" pitchFamily="18" charset="0"/>
                            <a:ea typeface="宋体" panose="02010600030101010101" pitchFamily="2" charset="-122"/>
                          </a:rPr>
                          <m:t>𝑋</m:t>
                        </m:r>
                      </m:e>
                      <m:sub>
                        <m:r>
                          <a:rPr lang="en-US" altLang="zh-CN" sz="1800" i="1" kern="1000">
                            <a:solidFill>
                              <a:srgbClr val="000000"/>
                            </a:solidFill>
                            <a:effectLst/>
                            <a:latin typeface="Cambria Math" panose="02040503050406030204" pitchFamily="18" charset="0"/>
                            <a:ea typeface="宋体" panose="02010600030101010101" pitchFamily="2" charset="-122"/>
                          </a:rPr>
                          <m:t>2</m:t>
                        </m:r>
                      </m:sub>
                    </m:sSub>
                  </m:oMath>
                </a14:m>
                <a:r>
                  <a:rPr lang="zh-CN" altLang="zh-CN" sz="1800" kern="1000" dirty="0">
                    <a:solidFill>
                      <a:srgbClr val="000000"/>
                    </a:solidFill>
                    <a:effectLst/>
                  </a:rPr>
                  <a:t>并将它作为</a:t>
                </a:r>
                <a14:m>
                  <m:oMath xmlns:m="http://schemas.openxmlformats.org/officeDocument/2006/math">
                    <m:sSub>
                      <m:sSubPr>
                        <m:ctrlPr>
                          <a:rPr lang="zh-CN" altLang="zh-CN" sz="1800" i="1" kern="1000">
                            <a:solidFill>
                              <a:srgbClr val="000000"/>
                            </a:solidFill>
                            <a:effectLst/>
                            <a:latin typeface="Cambria Math" panose="02040503050406030204" pitchFamily="18" charset="0"/>
                            <a:ea typeface="Cambria Math" panose="02040503050406030204" pitchFamily="18" charset="0"/>
                          </a:rPr>
                        </m:ctrlPr>
                      </m:sSubPr>
                      <m:e>
                        <m:r>
                          <a:rPr lang="en-US" altLang="zh-CN" sz="1800" i="1" kern="1000">
                            <a:solidFill>
                              <a:srgbClr val="000000"/>
                            </a:solidFill>
                            <a:effectLst/>
                            <a:latin typeface="Cambria Math" panose="02040503050406030204" pitchFamily="18" charset="0"/>
                            <a:ea typeface="宋体" panose="02010600030101010101" pitchFamily="2" charset="-122"/>
                          </a:rPr>
                          <m:t>𝑑</m:t>
                        </m:r>
                      </m:e>
                      <m:sub>
                        <m:r>
                          <a:rPr lang="en-US" altLang="zh-CN" sz="1800" i="1" kern="1000">
                            <a:solidFill>
                              <a:srgbClr val="000000"/>
                            </a:solidFill>
                            <a:effectLst/>
                            <a:latin typeface="Cambria Math" panose="02040503050406030204" pitchFamily="18" charset="0"/>
                            <a:ea typeface="宋体" panose="02010600030101010101" pitchFamily="2" charset="-122"/>
                          </a:rPr>
                          <m:t>1</m:t>
                        </m:r>
                      </m:sub>
                    </m:sSub>
                  </m:oMath>
                </a14:m>
                <a:r>
                  <a:rPr lang="zh-CN" altLang="zh-CN" sz="1800" kern="1000" dirty="0">
                    <a:solidFill>
                      <a:srgbClr val="000000"/>
                    </a:solidFill>
                    <a:effectLst/>
                  </a:rPr>
                  <a:t>的输入，将</a:t>
                </a:r>
                <a14:m>
                  <m:oMath xmlns:m="http://schemas.openxmlformats.org/officeDocument/2006/math">
                    <m:sSub>
                      <m:sSubPr>
                        <m:ctrlPr>
                          <a:rPr lang="zh-CN" altLang="zh-CN" sz="1800" i="1" kern="1000">
                            <a:solidFill>
                              <a:srgbClr val="000000"/>
                            </a:solidFill>
                            <a:effectLst/>
                            <a:latin typeface="Cambria Math" panose="02040503050406030204" pitchFamily="18" charset="0"/>
                            <a:ea typeface="Cambria Math" panose="02040503050406030204" pitchFamily="18" charset="0"/>
                          </a:rPr>
                        </m:ctrlPr>
                      </m:sSubPr>
                      <m:e>
                        <m:r>
                          <a:rPr lang="en-US" altLang="zh-CN" sz="1800" i="1" kern="1000">
                            <a:solidFill>
                              <a:srgbClr val="000000"/>
                            </a:solidFill>
                            <a:effectLst/>
                            <a:latin typeface="Cambria Math" panose="02040503050406030204" pitchFamily="18" charset="0"/>
                            <a:ea typeface="宋体" panose="02010600030101010101" pitchFamily="2" charset="-122"/>
                          </a:rPr>
                          <m:t>𝑑</m:t>
                        </m:r>
                      </m:e>
                      <m:sub>
                        <m:r>
                          <a:rPr lang="en-US" altLang="zh-CN" sz="1800" i="1" kern="1000">
                            <a:solidFill>
                              <a:srgbClr val="000000"/>
                            </a:solidFill>
                            <a:effectLst/>
                            <a:latin typeface="Cambria Math" panose="02040503050406030204" pitchFamily="18" charset="0"/>
                            <a:ea typeface="宋体" panose="02010600030101010101" pitchFamily="2" charset="-122"/>
                          </a:rPr>
                          <m:t>1</m:t>
                        </m:r>
                      </m:sub>
                    </m:sSub>
                  </m:oMath>
                </a14:m>
                <a:r>
                  <a:rPr lang="zh-CN" altLang="zh-CN" sz="1800" kern="1000" dirty="0">
                    <a:solidFill>
                      <a:srgbClr val="000000"/>
                    </a:solidFill>
                    <a:effectLst/>
                  </a:rPr>
                  <a:t>错误分类的所有样本以及</a:t>
                </a:r>
                <a14:m>
                  <m:oMath xmlns:m="http://schemas.openxmlformats.org/officeDocument/2006/math">
                    <m:sSub>
                      <m:sSubPr>
                        <m:ctrlPr>
                          <a:rPr lang="zh-CN" altLang="zh-CN" sz="1800" i="1" kern="1000">
                            <a:solidFill>
                              <a:srgbClr val="000000"/>
                            </a:solidFill>
                            <a:effectLst/>
                            <a:latin typeface="Cambria Math" panose="02040503050406030204" pitchFamily="18" charset="0"/>
                            <a:ea typeface="Cambria Math" panose="02040503050406030204" pitchFamily="18" charset="0"/>
                          </a:rPr>
                        </m:ctrlPr>
                      </m:sSubPr>
                      <m:e>
                        <m:r>
                          <a:rPr lang="en-US" altLang="zh-CN" sz="1800" i="1" kern="1000">
                            <a:solidFill>
                              <a:srgbClr val="000000"/>
                            </a:solidFill>
                            <a:effectLst/>
                            <a:latin typeface="Cambria Math" panose="02040503050406030204" pitchFamily="18" charset="0"/>
                            <a:ea typeface="宋体" panose="02010600030101010101" pitchFamily="2" charset="-122"/>
                          </a:rPr>
                          <m:t>𝑋</m:t>
                        </m:r>
                      </m:e>
                      <m:sub>
                        <m:r>
                          <a:rPr lang="en-US" altLang="zh-CN" sz="1800" i="1" kern="1000">
                            <a:solidFill>
                              <a:srgbClr val="000000"/>
                            </a:solidFill>
                            <a:effectLst/>
                            <a:latin typeface="Cambria Math" panose="02040503050406030204" pitchFamily="18" charset="0"/>
                            <a:ea typeface="宋体" panose="02010600030101010101" pitchFamily="2" charset="-122"/>
                          </a:rPr>
                          <m:t>2</m:t>
                        </m:r>
                      </m:sub>
                    </m:sSub>
                  </m:oMath>
                </a14:m>
                <a:r>
                  <a:rPr lang="zh-CN" altLang="zh-CN" sz="1800" kern="1000" dirty="0">
                    <a:solidFill>
                      <a:srgbClr val="000000"/>
                    </a:solidFill>
                    <a:effectLst/>
                  </a:rPr>
                  <a:t>中被</a:t>
                </a:r>
                <a14:m>
                  <m:oMath xmlns:m="http://schemas.openxmlformats.org/officeDocument/2006/math">
                    <m:sSub>
                      <m:sSubPr>
                        <m:ctrlPr>
                          <a:rPr lang="zh-CN" altLang="zh-CN" sz="1800" i="1" kern="1000">
                            <a:solidFill>
                              <a:srgbClr val="000000"/>
                            </a:solidFill>
                            <a:effectLst/>
                            <a:latin typeface="Cambria Math" panose="02040503050406030204" pitchFamily="18" charset="0"/>
                            <a:ea typeface="Cambria Math" panose="02040503050406030204" pitchFamily="18" charset="0"/>
                          </a:rPr>
                        </m:ctrlPr>
                      </m:sSubPr>
                      <m:e>
                        <m:r>
                          <a:rPr lang="en-US" altLang="zh-CN" sz="1800" i="1" kern="1000">
                            <a:solidFill>
                              <a:srgbClr val="000000"/>
                            </a:solidFill>
                            <a:effectLst/>
                            <a:latin typeface="Cambria Math" panose="02040503050406030204" pitchFamily="18" charset="0"/>
                            <a:ea typeface="宋体" panose="02010600030101010101" pitchFamily="2" charset="-122"/>
                          </a:rPr>
                          <m:t>𝑑</m:t>
                        </m:r>
                      </m:e>
                      <m:sub>
                        <m:r>
                          <a:rPr lang="en-US" altLang="zh-CN" sz="1800" i="1" kern="1000">
                            <a:solidFill>
                              <a:srgbClr val="000000"/>
                            </a:solidFill>
                            <a:effectLst/>
                            <a:latin typeface="Cambria Math" panose="02040503050406030204" pitchFamily="18" charset="0"/>
                            <a:ea typeface="宋体" panose="02010600030101010101" pitchFamily="2" charset="-122"/>
                          </a:rPr>
                          <m:t>1</m:t>
                        </m:r>
                      </m:sub>
                    </m:sSub>
                  </m:oMath>
                </a14:m>
                <a:r>
                  <a:rPr lang="zh-CN" altLang="zh-CN" sz="1800" kern="1000" dirty="0">
                    <a:solidFill>
                      <a:srgbClr val="000000"/>
                    </a:solidFill>
                    <a:effectLst/>
                  </a:rPr>
                  <a:t>正确分类的部分样本一起作为</a:t>
                </a:r>
                <a14:m>
                  <m:oMath xmlns:m="http://schemas.openxmlformats.org/officeDocument/2006/math">
                    <m:sSub>
                      <m:sSubPr>
                        <m:ctrlPr>
                          <a:rPr lang="zh-CN" altLang="zh-CN" sz="1800" i="1" kern="1000">
                            <a:solidFill>
                              <a:srgbClr val="000000"/>
                            </a:solidFill>
                            <a:effectLst/>
                            <a:latin typeface="Cambria Math" panose="02040503050406030204" pitchFamily="18" charset="0"/>
                            <a:ea typeface="Cambria Math" panose="02040503050406030204" pitchFamily="18" charset="0"/>
                          </a:rPr>
                        </m:ctrlPr>
                      </m:sSubPr>
                      <m:e>
                        <m:r>
                          <a:rPr lang="en-US" altLang="zh-CN" sz="1800" i="1" kern="1000">
                            <a:solidFill>
                              <a:srgbClr val="000000"/>
                            </a:solidFill>
                            <a:effectLst/>
                            <a:latin typeface="Cambria Math" panose="02040503050406030204" pitchFamily="18" charset="0"/>
                            <a:ea typeface="宋体" panose="02010600030101010101" pitchFamily="2" charset="-122"/>
                          </a:rPr>
                          <m:t>𝑑</m:t>
                        </m:r>
                      </m:e>
                      <m:sub>
                        <m:r>
                          <a:rPr lang="en-US" altLang="zh-CN" sz="1800" i="1" kern="1000">
                            <a:solidFill>
                              <a:srgbClr val="000000"/>
                            </a:solidFill>
                            <a:effectLst/>
                            <a:latin typeface="Cambria Math" panose="02040503050406030204" pitchFamily="18" charset="0"/>
                            <a:ea typeface="宋体" panose="02010600030101010101" pitchFamily="2" charset="-122"/>
                          </a:rPr>
                          <m:t>2</m:t>
                        </m:r>
                      </m:sub>
                    </m:sSub>
                  </m:oMath>
                </a14:m>
                <a:r>
                  <a:rPr lang="zh-CN" altLang="zh-CN" sz="1800" kern="1000" dirty="0">
                    <a:solidFill>
                      <a:srgbClr val="000000"/>
                    </a:solidFill>
                    <a:effectLst/>
                  </a:rPr>
                  <a:t>的训练集。最后提取</a:t>
                </a:r>
                <a14:m>
                  <m:oMath xmlns:m="http://schemas.openxmlformats.org/officeDocument/2006/math">
                    <m:sSub>
                      <m:sSubPr>
                        <m:ctrlPr>
                          <a:rPr lang="zh-CN" altLang="zh-CN" sz="1800" i="1" kern="1000">
                            <a:solidFill>
                              <a:srgbClr val="000000"/>
                            </a:solidFill>
                            <a:effectLst/>
                            <a:latin typeface="Cambria Math" panose="02040503050406030204" pitchFamily="18" charset="0"/>
                            <a:ea typeface="Cambria Math" panose="02040503050406030204" pitchFamily="18" charset="0"/>
                          </a:rPr>
                        </m:ctrlPr>
                      </m:sSubPr>
                      <m:e>
                        <m:r>
                          <a:rPr lang="en-US" altLang="zh-CN" sz="1800" i="1" kern="1000">
                            <a:solidFill>
                              <a:srgbClr val="000000"/>
                            </a:solidFill>
                            <a:effectLst/>
                            <a:latin typeface="Cambria Math" panose="02040503050406030204" pitchFamily="18" charset="0"/>
                            <a:ea typeface="宋体" panose="02010600030101010101" pitchFamily="2" charset="-122"/>
                          </a:rPr>
                          <m:t>𝑋</m:t>
                        </m:r>
                      </m:e>
                      <m:sub>
                        <m:r>
                          <a:rPr lang="en-US" altLang="zh-CN" sz="1800" i="1" kern="1000">
                            <a:solidFill>
                              <a:srgbClr val="000000"/>
                            </a:solidFill>
                            <a:effectLst/>
                            <a:latin typeface="Cambria Math" panose="02040503050406030204" pitchFamily="18" charset="0"/>
                            <a:ea typeface="宋体" panose="02010600030101010101" pitchFamily="2" charset="-122"/>
                          </a:rPr>
                          <m:t>3</m:t>
                        </m:r>
                      </m:sub>
                    </m:sSub>
                  </m:oMath>
                </a14:m>
                <a:r>
                  <a:rPr lang="zh-CN" altLang="zh-CN" sz="1800" kern="1000" dirty="0">
                    <a:solidFill>
                      <a:srgbClr val="000000"/>
                    </a:solidFill>
                    <a:effectLst/>
                  </a:rPr>
                  <a:t>，并将它输入给</a:t>
                </a:r>
                <a14:m>
                  <m:oMath xmlns:m="http://schemas.openxmlformats.org/officeDocument/2006/math">
                    <m:sSub>
                      <m:sSubPr>
                        <m:ctrlPr>
                          <a:rPr lang="zh-CN" altLang="zh-CN" sz="1800" i="1" kern="1000">
                            <a:solidFill>
                              <a:srgbClr val="000000"/>
                            </a:solidFill>
                            <a:effectLst/>
                            <a:latin typeface="Cambria Math" panose="02040503050406030204" pitchFamily="18" charset="0"/>
                            <a:ea typeface="Cambria Math" panose="02040503050406030204" pitchFamily="18" charset="0"/>
                          </a:rPr>
                        </m:ctrlPr>
                      </m:sSubPr>
                      <m:e>
                        <m:r>
                          <a:rPr lang="en-US" altLang="zh-CN" sz="1800" i="1" kern="1000">
                            <a:solidFill>
                              <a:srgbClr val="000000"/>
                            </a:solidFill>
                            <a:effectLst/>
                            <a:latin typeface="Cambria Math" panose="02040503050406030204" pitchFamily="18" charset="0"/>
                            <a:ea typeface="宋体" panose="02010600030101010101" pitchFamily="2" charset="-122"/>
                          </a:rPr>
                          <m:t>𝑑</m:t>
                        </m:r>
                      </m:e>
                      <m:sub>
                        <m:r>
                          <a:rPr lang="en-US" altLang="zh-CN" sz="1800" i="1" kern="1000">
                            <a:solidFill>
                              <a:srgbClr val="000000"/>
                            </a:solidFill>
                            <a:effectLst/>
                            <a:latin typeface="Cambria Math" panose="02040503050406030204" pitchFamily="18" charset="0"/>
                            <a:ea typeface="宋体" panose="02010600030101010101" pitchFamily="2" charset="-122"/>
                          </a:rPr>
                          <m:t>1</m:t>
                        </m:r>
                      </m:sub>
                    </m:sSub>
                  </m:oMath>
                </a14:m>
                <a:r>
                  <a:rPr lang="zh-CN" altLang="zh-CN" sz="1800" kern="1000" dirty="0">
                    <a:solidFill>
                      <a:srgbClr val="000000"/>
                    </a:solidFill>
                    <a:effectLst/>
                  </a:rPr>
                  <a:t>和</a:t>
                </a:r>
                <a14:m>
                  <m:oMath xmlns:m="http://schemas.openxmlformats.org/officeDocument/2006/math">
                    <m:sSub>
                      <m:sSubPr>
                        <m:ctrlPr>
                          <a:rPr lang="zh-CN" altLang="zh-CN" sz="1800" i="1" kern="1000">
                            <a:solidFill>
                              <a:srgbClr val="000000"/>
                            </a:solidFill>
                            <a:effectLst/>
                            <a:latin typeface="Cambria Math" panose="02040503050406030204" pitchFamily="18" charset="0"/>
                            <a:ea typeface="Cambria Math" panose="02040503050406030204" pitchFamily="18" charset="0"/>
                          </a:rPr>
                        </m:ctrlPr>
                      </m:sSubPr>
                      <m:e>
                        <m:r>
                          <a:rPr lang="en-US" altLang="zh-CN" sz="1800" i="1" kern="1000">
                            <a:solidFill>
                              <a:srgbClr val="000000"/>
                            </a:solidFill>
                            <a:effectLst/>
                            <a:latin typeface="Cambria Math" panose="02040503050406030204" pitchFamily="18" charset="0"/>
                            <a:ea typeface="宋体" panose="02010600030101010101" pitchFamily="2" charset="-122"/>
                          </a:rPr>
                          <m:t>𝑑</m:t>
                        </m:r>
                      </m:e>
                      <m:sub>
                        <m:r>
                          <a:rPr lang="en-US" altLang="zh-CN" sz="1800" i="1" kern="1000">
                            <a:solidFill>
                              <a:srgbClr val="000000"/>
                            </a:solidFill>
                            <a:effectLst/>
                            <a:latin typeface="Cambria Math" panose="02040503050406030204" pitchFamily="18" charset="0"/>
                            <a:ea typeface="宋体" panose="02010600030101010101" pitchFamily="2" charset="-122"/>
                          </a:rPr>
                          <m:t>2</m:t>
                        </m:r>
                      </m:sub>
                    </m:sSub>
                  </m:oMath>
                </a14:m>
                <a:r>
                  <a:rPr lang="zh-CN" altLang="zh-CN" sz="1800" kern="1000" dirty="0">
                    <a:solidFill>
                      <a:srgbClr val="000000"/>
                    </a:solidFill>
                    <a:effectLst/>
                  </a:rPr>
                  <a:t>，其中用</a:t>
                </a:r>
                <a14:m>
                  <m:oMath xmlns:m="http://schemas.openxmlformats.org/officeDocument/2006/math">
                    <m:sSub>
                      <m:sSubPr>
                        <m:ctrlPr>
                          <a:rPr lang="zh-CN" altLang="zh-CN" sz="1800" i="1" kern="1000">
                            <a:solidFill>
                              <a:srgbClr val="000000"/>
                            </a:solidFill>
                            <a:effectLst/>
                            <a:latin typeface="Cambria Math" panose="02040503050406030204" pitchFamily="18" charset="0"/>
                            <a:ea typeface="Cambria Math" panose="02040503050406030204" pitchFamily="18" charset="0"/>
                          </a:rPr>
                        </m:ctrlPr>
                      </m:sSubPr>
                      <m:e>
                        <m:r>
                          <a:rPr lang="en-US" altLang="zh-CN" sz="1800" i="1" kern="1000">
                            <a:solidFill>
                              <a:srgbClr val="000000"/>
                            </a:solidFill>
                            <a:effectLst/>
                            <a:latin typeface="Cambria Math" panose="02040503050406030204" pitchFamily="18" charset="0"/>
                            <a:ea typeface="宋体" panose="02010600030101010101" pitchFamily="2" charset="-122"/>
                          </a:rPr>
                          <m:t>𝑑</m:t>
                        </m:r>
                      </m:e>
                      <m:sub>
                        <m:r>
                          <a:rPr lang="en-US" altLang="zh-CN" sz="1800" i="1" kern="1000">
                            <a:solidFill>
                              <a:srgbClr val="000000"/>
                            </a:solidFill>
                            <a:effectLst/>
                            <a:latin typeface="Cambria Math" panose="02040503050406030204" pitchFamily="18" charset="0"/>
                            <a:ea typeface="宋体" panose="02010600030101010101" pitchFamily="2" charset="-122"/>
                          </a:rPr>
                          <m:t>1</m:t>
                        </m:r>
                      </m:sub>
                    </m:sSub>
                  </m:oMath>
                </a14:m>
                <a:r>
                  <a:rPr lang="zh-CN" altLang="zh-CN" sz="1800" kern="1000" dirty="0">
                    <a:solidFill>
                      <a:srgbClr val="000000"/>
                    </a:solidFill>
                    <a:effectLst/>
                  </a:rPr>
                  <a:t>和</a:t>
                </a:r>
                <a14:m>
                  <m:oMath xmlns:m="http://schemas.openxmlformats.org/officeDocument/2006/math">
                    <m:sSub>
                      <m:sSubPr>
                        <m:ctrlPr>
                          <a:rPr lang="zh-CN" altLang="zh-CN" sz="1800" i="1" kern="1000">
                            <a:solidFill>
                              <a:srgbClr val="000000"/>
                            </a:solidFill>
                            <a:effectLst/>
                            <a:latin typeface="Cambria Math" panose="02040503050406030204" pitchFamily="18" charset="0"/>
                            <a:ea typeface="Cambria Math" panose="02040503050406030204" pitchFamily="18" charset="0"/>
                          </a:rPr>
                        </m:ctrlPr>
                      </m:sSubPr>
                      <m:e>
                        <m:r>
                          <a:rPr lang="en-US" altLang="zh-CN" sz="1800" i="1" kern="1000">
                            <a:solidFill>
                              <a:srgbClr val="000000"/>
                            </a:solidFill>
                            <a:effectLst/>
                            <a:latin typeface="Cambria Math" panose="02040503050406030204" pitchFamily="18" charset="0"/>
                            <a:ea typeface="宋体" panose="02010600030101010101" pitchFamily="2" charset="-122"/>
                          </a:rPr>
                          <m:t>𝑑</m:t>
                        </m:r>
                      </m:e>
                      <m:sub>
                        <m:r>
                          <a:rPr lang="en-US" altLang="zh-CN" sz="1800" i="1" kern="1000">
                            <a:solidFill>
                              <a:srgbClr val="000000"/>
                            </a:solidFill>
                            <a:effectLst/>
                            <a:latin typeface="Cambria Math" panose="02040503050406030204" pitchFamily="18" charset="0"/>
                            <a:ea typeface="宋体" panose="02010600030101010101" pitchFamily="2" charset="-122"/>
                          </a:rPr>
                          <m:t>2</m:t>
                        </m:r>
                      </m:sub>
                    </m:sSub>
                  </m:oMath>
                </a14:m>
                <a:r>
                  <a:rPr lang="zh-CN" altLang="zh-CN" sz="1800" kern="1000" dirty="0">
                    <a:solidFill>
                      <a:srgbClr val="000000"/>
                    </a:solidFill>
                    <a:effectLst/>
                  </a:rPr>
                  <a:t>输出不一致的样本作为</a:t>
                </a:r>
                <a14:m>
                  <m:oMath xmlns:m="http://schemas.openxmlformats.org/officeDocument/2006/math">
                    <m:sSub>
                      <m:sSubPr>
                        <m:ctrlPr>
                          <a:rPr lang="zh-CN" altLang="zh-CN" sz="1800" i="1" kern="1000">
                            <a:solidFill>
                              <a:srgbClr val="000000"/>
                            </a:solidFill>
                            <a:effectLst/>
                            <a:latin typeface="Cambria Math" panose="02040503050406030204" pitchFamily="18" charset="0"/>
                            <a:ea typeface="Cambria Math" panose="02040503050406030204" pitchFamily="18" charset="0"/>
                          </a:rPr>
                        </m:ctrlPr>
                      </m:sSubPr>
                      <m:e>
                        <m:r>
                          <a:rPr lang="en-US" altLang="zh-CN" sz="1800" i="1" kern="1000">
                            <a:solidFill>
                              <a:srgbClr val="000000"/>
                            </a:solidFill>
                            <a:effectLst/>
                            <a:latin typeface="Cambria Math" panose="02040503050406030204" pitchFamily="18" charset="0"/>
                            <a:ea typeface="宋体" panose="02010600030101010101" pitchFamily="2" charset="-122"/>
                          </a:rPr>
                          <m:t>𝑑</m:t>
                        </m:r>
                      </m:e>
                      <m:sub>
                        <m:r>
                          <a:rPr lang="en-US" altLang="zh-CN" sz="1800" i="1" kern="1000">
                            <a:solidFill>
                              <a:srgbClr val="000000"/>
                            </a:solidFill>
                            <a:effectLst/>
                            <a:latin typeface="Cambria Math" panose="02040503050406030204" pitchFamily="18" charset="0"/>
                            <a:ea typeface="宋体" panose="02010600030101010101" pitchFamily="2" charset="-122"/>
                          </a:rPr>
                          <m:t>3</m:t>
                        </m:r>
                      </m:sub>
                    </m:sSub>
                  </m:oMath>
                </a14:m>
                <a:r>
                  <a:rPr lang="zh-CN" altLang="zh-CN" sz="1800" kern="1000" dirty="0">
                    <a:solidFill>
                      <a:srgbClr val="000000"/>
                    </a:solidFill>
                    <a:effectLst/>
                  </a:rPr>
                  <a:t>的训练集。</a:t>
                </a:r>
                <a:endParaRPr lang="zh-CN" altLang="zh-CN" sz="1800" kern="1000" dirty="0">
                  <a:solidFill>
                    <a:srgbClr val="000000"/>
                  </a:solidFill>
                  <a:effectLst/>
                </a:endParaRPr>
              </a:p>
              <a:p>
                <a:pPr indent="0" algn="just">
                  <a:buNone/>
                </a:pPr>
                <a:r>
                  <a:rPr lang="en-US" altLang="zh-CN" sz="1800" kern="1000" dirty="0">
                    <a:solidFill>
                      <a:srgbClr val="000000"/>
                    </a:solidFill>
                    <a:effectLst/>
                  </a:rPr>
                  <a:t>         2</a:t>
                </a:r>
                <a:r>
                  <a:rPr lang="zh-CN" altLang="zh-CN" sz="1800" kern="1000" dirty="0">
                    <a:solidFill>
                      <a:srgbClr val="000000"/>
                    </a:solidFill>
                    <a:effectLst/>
                  </a:rPr>
                  <a:t>）检验阶段。给定一个样本，首先将其提供给</a:t>
                </a:r>
                <a14:m>
                  <m:oMath xmlns:m="http://schemas.openxmlformats.org/officeDocument/2006/math">
                    <m:sSub>
                      <m:sSubPr>
                        <m:ctrlPr>
                          <a:rPr lang="zh-CN" altLang="zh-CN" sz="1800" i="1" kern="1000">
                            <a:solidFill>
                              <a:srgbClr val="000000"/>
                            </a:solidFill>
                            <a:effectLst/>
                            <a:latin typeface="Cambria Math" panose="02040503050406030204" pitchFamily="18" charset="0"/>
                            <a:ea typeface="Cambria Math" panose="02040503050406030204" pitchFamily="18" charset="0"/>
                          </a:rPr>
                        </m:ctrlPr>
                      </m:sSubPr>
                      <m:e>
                        <m:r>
                          <a:rPr lang="en-US" altLang="zh-CN" sz="1800" i="1" kern="1000">
                            <a:solidFill>
                              <a:srgbClr val="000000"/>
                            </a:solidFill>
                            <a:effectLst/>
                            <a:latin typeface="Cambria Math" panose="02040503050406030204" pitchFamily="18" charset="0"/>
                            <a:ea typeface="宋体" panose="02010600030101010101" pitchFamily="2" charset="-122"/>
                          </a:rPr>
                          <m:t>𝑑</m:t>
                        </m:r>
                      </m:e>
                      <m:sub>
                        <m:r>
                          <a:rPr lang="en-US" altLang="zh-CN" sz="1800" i="1" kern="1000">
                            <a:solidFill>
                              <a:srgbClr val="000000"/>
                            </a:solidFill>
                            <a:effectLst/>
                            <a:latin typeface="Cambria Math" panose="02040503050406030204" pitchFamily="18" charset="0"/>
                            <a:ea typeface="宋体" panose="02010600030101010101" pitchFamily="2" charset="-122"/>
                          </a:rPr>
                          <m:t>1</m:t>
                        </m:r>
                      </m:sub>
                    </m:sSub>
                  </m:oMath>
                </a14:m>
                <a:r>
                  <a:rPr lang="zh-CN" altLang="zh-CN" sz="1800" kern="1000" dirty="0">
                    <a:solidFill>
                      <a:srgbClr val="000000"/>
                    </a:solidFill>
                    <a:effectLst/>
                  </a:rPr>
                  <a:t>和</a:t>
                </a:r>
                <a14:m>
                  <m:oMath xmlns:m="http://schemas.openxmlformats.org/officeDocument/2006/math">
                    <m:sSub>
                      <m:sSubPr>
                        <m:ctrlPr>
                          <a:rPr lang="zh-CN" altLang="zh-CN" sz="1800" i="1" kern="1000">
                            <a:solidFill>
                              <a:srgbClr val="000000"/>
                            </a:solidFill>
                            <a:effectLst/>
                            <a:latin typeface="Cambria Math" panose="02040503050406030204" pitchFamily="18" charset="0"/>
                            <a:ea typeface="Cambria Math" panose="02040503050406030204" pitchFamily="18" charset="0"/>
                          </a:rPr>
                        </m:ctrlPr>
                      </m:sSubPr>
                      <m:e>
                        <m:r>
                          <a:rPr lang="en-US" altLang="zh-CN" sz="1800" i="1" kern="1000">
                            <a:solidFill>
                              <a:srgbClr val="000000"/>
                            </a:solidFill>
                            <a:effectLst/>
                            <a:latin typeface="Cambria Math" panose="02040503050406030204" pitchFamily="18" charset="0"/>
                            <a:ea typeface="宋体" panose="02010600030101010101" pitchFamily="2" charset="-122"/>
                          </a:rPr>
                          <m:t>𝑑</m:t>
                        </m:r>
                      </m:e>
                      <m:sub>
                        <m:r>
                          <a:rPr lang="en-US" altLang="zh-CN" sz="1800" i="1" kern="1000">
                            <a:solidFill>
                              <a:srgbClr val="000000"/>
                            </a:solidFill>
                            <a:effectLst/>
                            <a:latin typeface="Cambria Math" panose="02040503050406030204" pitchFamily="18" charset="0"/>
                            <a:ea typeface="宋体" panose="02010600030101010101" pitchFamily="2" charset="-122"/>
                          </a:rPr>
                          <m:t>2</m:t>
                        </m:r>
                      </m:sub>
                    </m:sSub>
                  </m:oMath>
                </a14:m>
                <a:r>
                  <a:rPr lang="zh-CN" altLang="zh-CN" sz="1800" kern="1000" dirty="0">
                    <a:solidFill>
                      <a:srgbClr val="000000"/>
                    </a:solidFill>
                    <a:effectLst/>
                  </a:rPr>
                  <a:t>，如果二者输出一致，这就是输出结果，否则以</a:t>
                </a:r>
                <a14:m>
                  <m:oMath xmlns:m="http://schemas.openxmlformats.org/officeDocument/2006/math">
                    <m:sSub>
                      <m:sSubPr>
                        <m:ctrlPr>
                          <a:rPr lang="zh-CN" altLang="zh-CN" sz="1800" i="1" kern="1000">
                            <a:solidFill>
                              <a:srgbClr val="000000"/>
                            </a:solidFill>
                            <a:effectLst/>
                            <a:latin typeface="Cambria Math" panose="02040503050406030204" pitchFamily="18" charset="0"/>
                            <a:ea typeface="Cambria Math" panose="02040503050406030204" pitchFamily="18" charset="0"/>
                          </a:rPr>
                        </m:ctrlPr>
                      </m:sSubPr>
                      <m:e>
                        <m:r>
                          <a:rPr lang="en-US" altLang="zh-CN" sz="1800" i="1" kern="1000">
                            <a:solidFill>
                              <a:srgbClr val="000000"/>
                            </a:solidFill>
                            <a:effectLst/>
                            <a:latin typeface="Cambria Math" panose="02040503050406030204" pitchFamily="18" charset="0"/>
                            <a:ea typeface="宋体" panose="02010600030101010101" pitchFamily="2" charset="-122"/>
                          </a:rPr>
                          <m:t>𝑑</m:t>
                        </m:r>
                      </m:e>
                      <m:sub>
                        <m:r>
                          <a:rPr lang="en-US" altLang="zh-CN" sz="1800" i="1" kern="1000">
                            <a:solidFill>
                              <a:srgbClr val="000000"/>
                            </a:solidFill>
                            <a:effectLst/>
                            <a:latin typeface="Cambria Math" panose="02040503050406030204" pitchFamily="18" charset="0"/>
                            <a:ea typeface="宋体" panose="02010600030101010101" pitchFamily="2" charset="-122"/>
                          </a:rPr>
                          <m:t>3</m:t>
                        </m:r>
                      </m:sub>
                    </m:sSub>
                  </m:oMath>
                </a14:m>
                <a:r>
                  <a:rPr lang="zh-CN" altLang="zh-CN" sz="1800" kern="1000" dirty="0">
                    <a:solidFill>
                      <a:srgbClr val="000000"/>
                    </a:solidFill>
                    <a:effectLst/>
                  </a:rPr>
                  <a:t>的输出作为最终输出结果。</a:t>
                </a:r>
                <a:endParaRPr lang="zh-CN" altLang="zh-CN" sz="1800" kern="1000" dirty="0">
                  <a:solidFill>
                    <a:srgbClr val="000000"/>
                  </a:solidFill>
                  <a:effectLst/>
                </a:endParaRPr>
              </a:p>
              <a:p>
                <a:pPr indent="0" algn="just">
                  <a:buNone/>
                </a:pPr>
                <a:r>
                  <a:rPr lang="en-US" altLang="zh-CN" sz="1800" kern="1000" dirty="0">
                    <a:solidFill>
                      <a:srgbClr val="000000"/>
                    </a:solidFill>
                    <a:effectLst/>
                  </a:rPr>
                  <a:t>         </a:t>
                </a:r>
                <a:r>
                  <a:rPr lang="zh-CN" altLang="zh-CN" sz="1800" kern="1000" dirty="0">
                    <a:solidFill>
                      <a:srgbClr val="000000"/>
                    </a:solidFill>
                    <a:effectLst/>
                  </a:rPr>
                  <a:t>由于</a:t>
                </a:r>
                <a:r>
                  <a:rPr lang="en-US" altLang="zh-CN" sz="1800" kern="1000" dirty="0">
                    <a:solidFill>
                      <a:srgbClr val="000000"/>
                    </a:solidFill>
                    <a:effectLst/>
                  </a:rPr>
                  <a:t>Boosting</a:t>
                </a:r>
                <a:r>
                  <a:rPr lang="zh-CN" altLang="zh-CN" sz="1800" kern="1000" dirty="0">
                    <a:solidFill>
                      <a:srgbClr val="000000"/>
                    </a:solidFill>
                    <a:effectLst/>
                  </a:rPr>
                  <a:t>算法需要将训练集分割成多个子集，并且第二和第三个分类器只在其前面分类器犯错的实例数据子集上训练，因此要求训练集包含较多数量的样本，否则</a:t>
                </a:r>
                <a14:m>
                  <m:oMath xmlns:m="http://schemas.openxmlformats.org/officeDocument/2006/math">
                    <m:sSub>
                      <m:sSubPr>
                        <m:ctrlPr>
                          <a:rPr lang="zh-CN" altLang="zh-CN" sz="1800" i="1" kern="1000">
                            <a:solidFill>
                              <a:srgbClr val="000000"/>
                            </a:solidFill>
                            <a:effectLst/>
                            <a:latin typeface="Cambria Math" panose="02040503050406030204" pitchFamily="18" charset="0"/>
                            <a:ea typeface="Cambria Math" panose="02040503050406030204" pitchFamily="18" charset="0"/>
                          </a:rPr>
                        </m:ctrlPr>
                      </m:sSubPr>
                      <m:e>
                        <m:r>
                          <a:rPr lang="en-US" altLang="zh-CN" sz="1800" i="1" kern="1000">
                            <a:solidFill>
                              <a:srgbClr val="000000"/>
                            </a:solidFill>
                            <a:effectLst/>
                            <a:latin typeface="Cambria Math" panose="02040503050406030204" pitchFamily="18" charset="0"/>
                            <a:ea typeface="宋体" panose="02010600030101010101" pitchFamily="2" charset="-122"/>
                          </a:rPr>
                          <m:t>𝑑</m:t>
                        </m:r>
                      </m:e>
                      <m:sub>
                        <m:r>
                          <a:rPr lang="en-US" altLang="zh-CN" sz="1800" i="1" kern="1000">
                            <a:solidFill>
                              <a:srgbClr val="000000"/>
                            </a:solidFill>
                            <a:effectLst/>
                            <a:latin typeface="Cambria Math" panose="02040503050406030204" pitchFamily="18" charset="0"/>
                            <a:ea typeface="宋体" panose="02010600030101010101" pitchFamily="2" charset="-122"/>
                          </a:rPr>
                          <m:t>2</m:t>
                        </m:r>
                      </m:sub>
                    </m:sSub>
                  </m:oMath>
                </a14:m>
                <a:r>
                  <a:rPr lang="zh-CN" altLang="zh-CN" sz="1800" kern="1000" dirty="0">
                    <a:solidFill>
                      <a:srgbClr val="000000"/>
                    </a:solidFill>
                    <a:effectLst/>
                  </a:rPr>
                  <a:t>和</a:t>
                </a:r>
                <a14:m>
                  <m:oMath xmlns:m="http://schemas.openxmlformats.org/officeDocument/2006/math">
                    <m:sSub>
                      <m:sSubPr>
                        <m:ctrlPr>
                          <a:rPr lang="zh-CN" altLang="zh-CN" sz="1800" i="1" kern="1000">
                            <a:solidFill>
                              <a:srgbClr val="000000"/>
                            </a:solidFill>
                            <a:effectLst/>
                            <a:latin typeface="Cambria Math" panose="02040503050406030204" pitchFamily="18" charset="0"/>
                            <a:ea typeface="Cambria Math" panose="02040503050406030204" pitchFamily="18" charset="0"/>
                          </a:rPr>
                        </m:ctrlPr>
                      </m:sSubPr>
                      <m:e>
                        <m:r>
                          <a:rPr lang="en-US" altLang="zh-CN" sz="1800" i="1" kern="1000">
                            <a:solidFill>
                              <a:srgbClr val="000000"/>
                            </a:solidFill>
                            <a:effectLst/>
                            <a:latin typeface="Cambria Math" panose="02040503050406030204" pitchFamily="18" charset="0"/>
                            <a:ea typeface="宋体" panose="02010600030101010101" pitchFamily="2" charset="-122"/>
                          </a:rPr>
                          <m:t>𝑑</m:t>
                        </m:r>
                      </m:e>
                      <m:sub>
                        <m:r>
                          <a:rPr lang="en-US" altLang="zh-CN" sz="1800" i="1" kern="1000">
                            <a:solidFill>
                              <a:srgbClr val="000000"/>
                            </a:solidFill>
                            <a:effectLst/>
                            <a:latin typeface="Cambria Math" panose="02040503050406030204" pitchFamily="18" charset="0"/>
                            <a:ea typeface="宋体" panose="02010600030101010101" pitchFamily="2" charset="-122"/>
                          </a:rPr>
                          <m:t>3</m:t>
                        </m:r>
                      </m:sub>
                    </m:sSub>
                  </m:oMath>
                </a14:m>
                <a:r>
                  <a:rPr lang="zh-CN" altLang="zh-CN" sz="1800" kern="1000" dirty="0">
                    <a:solidFill>
                      <a:srgbClr val="000000"/>
                    </a:solidFill>
                    <a:effectLst/>
                  </a:rPr>
                  <a:t>将无法拥有合理大小的训练集。</a:t>
                </a:r>
                <a:endParaRPr kumimoji="1" lang="en-US" altLang="zh-CN" sz="2400" dirty="0">
                  <a:sym typeface="+mn-ea"/>
                </a:endParaRPr>
              </a:p>
            </p:txBody>
          </p:sp>
        </mc:Choice>
        <mc:Fallback>
          <p:sp>
            <p:nvSpPr>
              <p:cNvPr id="5" name="内容占位符 1"/>
              <p:cNvSpPr>
                <a:spLocks noRot="1" noChangeAspect="1" noMove="1" noResize="1" noEditPoints="1" noAdjustHandles="1" noChangeArrowheads="1" noChangeShapeType="1" noTextEdit="1"/>
              </p:cNvSpPr>
              <p:nvPr>
                <p:ph idx="1"/>
              </p:nvPr>
            </p:nvSpPr>
            <p:spPr>
              <a:xfrm>
                <a:off x="295624" y="1124898"/>
                <a:ext cx="11278425" cy="5509592"/>
              </a:xfrm>
              <a:blipFill rotWithShape="1">
                <a:blip r:embed="rId1"/>
                <a:stretch>
                  <a:fillRect l="-3" t="-6" r="5"/>
                </a:stretch>
              </a:blipFill>
            </p:spPr>
            <p:txBody>
              <a:bodyPr/>
              <a:lstStyle/>
              <a:p>
                <a:r>
                  <a:rPr lang="zh-CN" altLang="en-US">
                    <a:noFill/>
                  </a:rPr>
                  <a:t> </a:t>
                </a:r>
              </a:p>
            </p:txBody>
          </p:sp>
        </mc:Fallback>
      </mc:AlternateContent>
      <p:sp>
        <p:nvSpPr>
          <p:cNvPr id="6" name="标题 3"/>
          <p:cNvSpPr txBox="1"/>
          <p:nvPr/>
        </p:nvSpPr>
        <p:spPr>
          <a:xfrm>
            <a:off x="295625" y="518059"/>
            <a:ext cx="4776874" cy="606839"/>
          </a:xfrm>
          <a:prstGeom prst="rect">
            <a:avLst/>
          </a:prstGeom>
          <a:solidFill>
            <a:srgbClr val="92D050"/>
          </a:solidFill>
          <a:ln>
            <a:noFill/>
          </a:ln>
        </p:spPr>
        <p:txBody>
          <a:bodyPr vert="horz" lIns="91440" tIns="45720" rIns="91440" bIns="45720" rtlCol="0" anchor="ctr">
            <a:noAutofit/>
          </a:bodyPr>
          <a:lstStyle>
            <a:lvl1pPr algn="l" defTabSz="914400" rtl="0" eaLnBrk="1" latinLnBrk="0" hangingPunct="1">
              <a:lnSpc>
                <a:spcPct val="90000"/>
              </a:lnSpc>
              <a:spcBef>
                <a:spcPct val="0"/>
              </a:spcBef>
              <a:buNone/>
              <a:defRPr lang="zh-CN" altLang="en-US" sz="2800" kern="1200" dirty="0">
                <a:solidFill>
                  <a:schemeClr val="tx1"/>
                </a:solidFill>
                <a:latin typeface="Yuanti SC" panose="02010600040101010101" pitchFamily="2" charset="-122"/>
                <a:ea typeface="Yuanti SC" panose="02010600040101010101" pitchFamily="2" charset="-122"/>
                <a:cs typeface="+mn-cs"/>
              </a:defRPr>
            </a:lvl1pPr>
          </a:lstStyle>
          <a:p>
            <a:pPr algn="just"/>
            <a:r>
              <a:rPr lang="zh-CN" altLang="en-US" dirty="0"/>
              <a:t>提升法</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FF206FCC-0CBB-4DF4-89C1-3C9DB4B6E776}" type="slidenum">
              <a:rPr lang="zh-CN" altLang="en-US" smtClean="0"/>
            </a:fld>
            <a:r>
              <a:rPr lang="zh-CN" altLang="en-US"/>
              <a:t>   </a:t>
            </a:r>
            <a:endParaRPr lang="zh-CN" altLang="en-US" dirty="0"/>
          </a:p>
        </p:txBody>
      </p:sp>
      <p:sp>
        <p:nvSpPr>
          <p:cNvPr id="4" name="标题 3"/>
          <p:cNvSpPr>
            <a:spLocks noGrp="1"/>
          </p:cNvSpPr>
          <p:nvPr>
            <p:ph type="title"/>
          </p:nvPr>
        </p:nvSpPr>
        <p:spPr>
          <a:solidFill>
            <a:srgbClr val="92D050"/>
          </a:solidFill>
        </p:spPr>
        <p:txBody>
          <a:bodyPr/>
          <a:lstStyle/>
          <a:p>
            <a:pPr algn="just"/>
            <a:r>
              <a:rPr lang="zh-CN" altLang="en-US" dirty="0"/>
              <a:t>提升法</a:t>
            </a:r>
            <a:r>
              <a:rPr lang="en-US" altLang="zh-CN" dirty="0"/>
              <a:t>--AdaBoost</a:t>
            </a:r>
            <a:endParaRPr lang="en-US" altLang="zh-CN" dirty="0"/>
          </a:p>
        </p:txBody>
      </p:sp>
      <p:sp>
        <p:nvSpPr>
          <p:cNvPr id="8" name="矩形 7"/>
          <p:cNvSpPr/>
          <p:nvPr/>
        </p:nvSpPr>
        <p:spPr>
          <a:xfrm>
            <a:off x="570156" y="1360522"/>
            <a:ext cx="10445676" cy="4662815"/>
          </a:xfrm>
          <a:prstGeom prst="rect">
            <a:avLst/>
          </a:prstGeom>
        </p:spPr>
        <p:txBody>
          <a:bodyPr wrap="square">
            <a:spAutoFit/>
          </a:bodyPr>
          <a:lstStyle/>
          <a:p>
            <a:pPr marL="285750" indent="-285750">
              <a:lnSpc>
                <a:spcPct val="150000"/>
              </a:lnSpc>
              <a:buFont typeface="Wingdings" panose="05000000000000000000" pitchFamily="2" charset="2"/>
              <a:buChar char="n"/>
            </a:pPr>
            <a:r>
              <a:rPr lang="zh-CN" altLang="zh-CN" dirty="0">
                <a:latin typeface="Cambria" panose="02040503050406030204" pitchFamily="18" charset="0"/>
              </a:rPr>
              <a:t>尽管</a:t>
            </a:r>
            <a:r>
              <a:rPr lang="en-US" altLang="zh-CN" dirty="0">
                <a:latin typeface="Cambria" panose="02040503050406030204" pitchFamily="18" charset="0"/>
              </a:rPr>
              <a:t>Boosting</a:t>
            </a:r>
            <a:r>
              <a:rPr lang="zh-CN" altLang="zh-CN" dirty="0">
                <a:latin typeface="Cambria" panose="02040503050406030204" pitchFamily="18" charset="0"/>
              </a:rPr>
              <a:t>非常成功，但是需要一个非常大的训练样本集</a:t>
            </a:r>
            <a:r>
              <a:rPr lang="zh-CN" altLang="en-US" dirty="0">
                <a:latin typeface="Cambria" panose="02040503050406030204" pitchFamily="18" charset="0"/>
              </a:rPr>
              <a:t>，将样本集一分为三</a:t>
            </a:r>
            <a:r>
              <a:rPr lang="zh-CN" altLang="zh-CN" dirty="0">
                <a:latin typeface="Cambria" panose="02040503050406030204" pitchFamily="18" charset="0"/>
              </a:rPr>
              <a:t>。</a:t>
            </a:r>
            <a:r>
              <a:rPr lang="zh-CN" altLang="en-US" dirty="0">
                <a:latin typeface="Cambria" panose="02040503050406030204" pitchFamily="18" charset="0"/>
              </a:rPr>
              <a:t>（</a:t>
            </a:r>
            <a:r>
              <a:rPr lang="zh-CN" altLang="en-US" b="1" dirty="0">
                <a:solidFill>
                  <a:srgbClr val="FF0000"/>
                </a:solidFill>
                <a:effectLst>
                  <a:outerShdw blurRad="38100" dist="38100" dir="2700000" algn="tl">
                    <a:srgbClr val="000000">
                      <a:alpha val="43137"/>
                    </a:srgbClr>
                  </a:outerShdw>
                </a:effectLst>
                <a:latin typeface="Cambria" panose="02040503050406030204" pitchFamily="18" charset="0"/>
              </a:rPr>
              <a:t>很多场合不太现实</a:t>
            </a:r>
            <a:r>
              <a:rPr lang="zh-CN" altLang="en-US" dirty="0">
                <a:latin typeface="Cambria" panose="02040503050406030204" pitchFamily="18" charset="0"/>
              </a:rPr>
              <a:t>）</a:t>
            </a:r>
            <a:endParaRPr lang="en-US" altLang="zh-CN" dirty="0">
              <a:latin typeface="Cambria" panose="02040503050406030204" pitchFamily="18" charset="0"/>
            </a:endParaRPr>
          </a:p>
          <a:p>
            <a:pPr marL="285750" indent="-285750">
              <a:lnSpc>
                <a:spcPct val="150000"/>
              </a:lnSpc>
              <a:buFont typeface="Wingdings" panose="05000000000000000000" pitchFamily="2" charset="2"/>
              <a:buChar char="n"/>
            </a:pPr>
            <a:r>
              <a:rPr lang="en-US" altLang="zh-CN" dirty="0">
                <a:latin typeface="Cambria" panose="02040503050406030204" pitchFamily="18" charset="0"/>
              </a:rPr>
              <a:t>1996</a:t>
            </a:r>
            <a:r>
              <a:rPr lang="zh-CN" altLang="zh-CN" dirty="0">
                <a:latin typeface="Cambria" panose="02040503050406030204" pitchFamily="18" charset="0"/>
              </a:rPr>
              <a:t>年，</a:t>
            </a:r>
            <a:r>
              <a:rPr lang="en-US" altLang="zh-CN" dirty="0">
                <a:latin typeface="Cambria" panose="02040503050406030204" pitchFamily="18" charset="0"/>
              </a:rPr>
              <a:t>Yoav Freund</a:t>
            </a:r>
            <a:r>
              <a:rPr lang="zh-CN" altLang="zh-CN" dirty="0">
                <a:latin typeface="Cambria" panose="02040503050406030204" pitchFamily="18" charset="0"/>
              </a:rPr>
              <a:t>和</a:t>
            </a:r>
            <a:r>
              <a:rPr lang="en-US" altLang="zh-CN" dirty="0">
                <a:latin typeface="Cambria" panose="02040503050406030204" pitchFamily="18" charset="0"/>
              </a:rPr>
              <a:t>Robert Schapire</a:t>
            </a:r>
            <a:r>
              <a:rPr lang="zh-CN" altLang="zh-CN" dirty="0">
                <a:latin typeface="Cambria" panose="02040503050406030204" pitchFamily="18" charset="0"/>
              </a:rPr>
              <a:t>提出了提升的一个变种，即</a:t>
            </a:r>
            <a:r>
              <a:rPr lang="zh-CN" altLang="zh-CN" b="1" dirty="0">
                <a:latin typeface="Cambria" panose="02040503050406030204" pitchFamily="18" charset="0"/>
              </a:rPr>
              <a:t>自适应提升</a:t>
            </a:r>
            <a:r>
              <a:rPr lang="zh-CN" altLang="zh-CN" dirty="0">
                <a:latin typeface="Cambria" panose="02040503050406030204" pitchFamily="18" charset="0"/>
              </a:rPr>
              <a:t>（</a:t>
            </a:r>
            <a:r>
              <a:rPr lang="en-US" altLang="zh-CN" dirty="0">
                <a:latin typeface="Cambria" panose="02040503050406030204" pitchFamily="18" charset="0"/>
              </a:rPr>
              <a:t>Adaptive Boosting</a:t>
            </a:r>
            <a:r>
              <a:rPr lang="zh-CN" altLang="zh-CN" dirty="0">
                <a:latin typeface="Cambria" panose="02040503050406030204" pitchFamily="18" charset="0"/>
              </a:rPr>
              <a:t>，</a:t>
            </a:r>
            <a:r>
              <a:rPr lang="en-US" altLang="zh-CN" dirty="0">
                <a:latin typeface="Cambria" panose="02040503050406030204" pitchFamily="18" charset="0"/>
              </a:rPr>
              <a:t>AdaBoost</a:t>
            </a:r>
            <a:r>
              <a:rPr lang="zh-CN" altLang="zh-CN" dirty="0">
                <a:latin typeface="Cambria" panose="02040503050406030204" pitchFamily="18" charset="0"/>
              </a:rPr>
              <a:t>），它</a:t>
            </a:r>
            <a:r>
              <a:rPr lang="zh-CN" altLang="zh-CN" b="1" dirty="0">
                <a:latin typeface="Cambria" panose="02040503050406030204" pitchFamily="18" charset="0"/>
              </a:rPr>
              <a:t>重复使用相同的训练集</a:t>
            </a:r>
            <a:r>
              <a:rPr lang="zh-CN" altLang="zh-CN" dirty="0">
                <a:latin typeface="Cambria" panose="02040503050406030204" pitchFamily="18" charset="0"/>
              </a:rPr>
              <a:t>，而不再要求很大的数据集。</a:t>
            </a:r>
            <a:endParaRPr lang="en-US" altLang="zh-CN" dirty="0">
              <a:latin typeface="Cambria" panose="02040503050406030204" pitchFamily="18" charset="0"/>
            </a:endParaRPr>
          </a:p>
          <a:p>
            <a:pPr marL="285750" indent="-285750">
              <a:lnSpc>
                <a:spcPct val="150000"/>
              </a:lnSpc>
              <a:buFont typeface="Wingdings" panose="05000000000000000000" pitchFamily="2" charset="2"/>
              <a:buChar char="n"/>
            </a:pPr>
            <a:r>
              <a:rPr lang="en-US" altLang="zh-CN" dirty="0">
                <a:latin typeface="Cambria" panose="02040503050406030204" pitchFamily="18" charset="0"/>
              </a:rPr>
              <a:t>AdaBoost</a:t>
            </a:r>
            <a:r>
              <a:rPr lang="zh-CN" altLang="zh-CN" dirty="0">
                <a:latin typeface="Cambria" panose="02040503050406030204" pitchFamily="18" charset="0"/>
              </a:rPr>
              <a:t>算法的工作机制</a:t>
            </a:r>
            <a:endParaRPr lang="en-US" altLang="zh-CN" dirty="0">
              <a:latin typeface="Cambria" panose="02040503050406030204" pitchFamily="18" charset="0"/>
            </a:endParaRPr>
          </a:p>
          <a:p>
            <a:pPr marL="742950" lvl="1" indent="-285750">
              <a:lnSpc>
                <a:spcPct val="150000"/>
              </a:lnSpc>
              <a:buFont typeface="Wingdings" panose="05000000000000000000" pitchFamily="2" charset="2"/>
              <a:buChar char="ü"/>
            </a:pPr>
            <a:r>
              <a:rPr lang="zh-CN" altLang="zh-CN" dirty="0">
                <a:latin typeface="Cambria" panose="02040503050406030204" pitchFamily="18" charset="0"/>
              </a:rPr>
              <a:t>首先</a:t>
            </a:r>
            <a:r>
              <a:rPr lang="zh-CN" altLang="en-US" dirty="0">
                <a:latin typeface="Cambria" panose="02040503050406030204" pitchFamily="18" charset="0"/>
              </a:rPr>
              <a:t>，</a:t>
            </a:r>
            <a:r>
              <a:rPr lang="zh-CN" altLang="zh-CN" dirty="0">
                <a:latin typeface="Cambria" panose="02040503050406030204" pitchFamily="18" charset="0"/>
              </a:rPr>
              <a:t>训练集用初始权重训练出一个弱学习器</a:t>
            </a:r>
            <a:r>
              <a:rPr lang="en-US" altLang="zh-CN" dirty="0">
                <a:latin typeface="Cambria" panose="02040503050406030204" pitchFamily="18" charset="0"/>
              </a:rPr>
              <a:t>1</a:t>
            </a:r>
            <a:r>
              <a:rPr lang="zh-CN" altLang="zh-CN" dirty="0">
                <a:latin typeface="Cambria" panose="02040503050406030204" pitchFamily="18" charset="0"/>
              </a:rPr>
              <a:t>，根据弱学习的学习误差率表现来更新训练样本的权重，使得之前弱学习器</a:t>
            </a:r>
            <a:r>
              <a:rPr lang="en-US" altLang="zh-CN" dirty="0">
                <a:latin typeface="Cambria" panose="02040503050406030204" pitchFamily="18" charset="0"/>
              </a:rPr>
              <a:t>1</a:t>
            </a:r>
            <a:r>
              <a:rPr lang="zh-CN" altLang="zh-CN" dirty="0">
                <a:latin typeface="Cambria" panose="02040503050406030204" pitchFamily="18" charset="0"/>
              </a:rPr>
              <a:t>学习误差率高的训练样本点的权重变高，使得这些误差率高的点在后面的弱学习器</a:t>
            </a:r>
            <a:r>
              <a:rPr lang="en-US" altLang="zh-CN" dirty="0">
                <a:latin typeface="Cambria" panose="02040503050406030204" pitchFamily="18" charset="0"/>
              </a:rPr>
              <a:t>2</a:t>
            </a:r>
            <a:r>
              <a:rPr lang="zh-CN" altLang="zh-CN" dirty="0">
                <a:latin typeface="Cambria" panose="02040503050406030204" pitchFamily="18" charset="0"/>
              </a:rPr>
              <a:t>中得到更多的重视。</a:t>
            </a:r>
            <a:endParaRPr lang="en-US" altLang="zh-CN" dirty="0">
              <a:latin typeface="Cambria" panose="02040503050406030204" pitchFamily="18" charset="0"/>
            </a:endParaRPr>
          </a:p>
          <a:p>
            <a:pPr marL="742950" lvl="1" indent="-285750">
              <a:lnSpc>
                <a:spcPct val="150000"/>
              </a:lnSpc>
              <a:buFont typeface="Wingdings" panose="05000000000000000000" pitchFamily="2" charset="2"/>
              <a:buChar char="ü"/>
            </a:pPr>
            <a:r>
              <a:rPr lang="zh-CN" altLang="zh-CN" dirty="0">
                <a:latin typeface="Cambria" panose="02040503050406030204" pitchFamily="18" charset="0"/>
              </a:rPr>
              <a:t>然后</a:t>
            </a:r>
            <a:r>
              <a:rPr lang="zh-CN" altLang="en-US" dirty="0">
                <a:latin typeface="Cambria" panose="02040503050406030204" pitchFamily="18" charset="0"/>
              </a:rPr>
              <a:t>，</a:t>
            </a:r>
            <a:r>
              <a:rPr lang="zh-CN" altLang="zh-CN" dirty="0">
                <a:latin typeface="Cambria" panose="02040503050406030204" pitchFamily="18" charset="0"/>
              </a:rPr>
              <a:t>基于调整权重后的训练集来训练弱学习器</a:t>
            </a:r>
            <a:r>
              <a:rPr lang="en-US" altLang="zh-CN" dirty="0">
                <a:latin typeface="Cambria" panose="02040503050406030204" pitchFamily="18" charset="0"/>
              </a:rPr>
              <a:t>2</a:t>
            </a:r>
            <a:r>
              <a:rPr lang="zh-CN" altLang="zh-CN" dirty="0">
                <a:latin typeface="Cambria" panose="02040503050406030204" pitchFamily="18" charset="0"/>
              </a:rPr>
              <a:t>，如此重复进行，直到训练到指定的弱学习器数量。</a:t>
            </a:r>
            <a:endParaRPr lang="en-US" altLang="zh-CN" dirty="0">
              <a:latin typeface="Cambria" panose="02040503050406030204" pitchFamily="18" charset="0"/>
            </a:endParaRPr>
          </a:p>
          <a:p>
            <a:pPr marL="742950" lvl="1" indent="-285750">
              <a:lnSpc>
                <a:spcPct val="150000"/>
              </a:lnSpc>
              <a:buFont typeface="Wingdings" panose="05000000000000000000" pitchFamily="2" charset="2"/>
              <a:buChar char="ü"/>
            </a:pPr>
            <a:r>
              <a:rPr lang="zh-CN" altLang="zh-CN" dirty="0">
                <a:latin typeface="Cambria" panose="02040503050406030204" pitchFamily="18" charset="0"/>
              </a:rPr>
              <a:t>最后，将这些弱学习器通过集合策略进行整合，得到最终的强学习器</a:t>
            </a:r>
            <a:r>
              <a:rPr lang="zh-CN" altLang="en-US" dirty="0">
                <a:latin typeface="Cambria" panose="02040503050406030204" pitchFamily="18" charset="0"/>
              </a:rPr>
              <a:t>。</a:t>
            </a:r>
            <a:endParaRPr lang="zh-CN" altLang="en-US" dirty="0">
              <a:latin typeface="Cambria" panose="02040503050406030204" pitchFamily="18" charset="0"/>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FF206FCC-0CBB-4DF4-89C1-3C9DB4B6E776}" type="slidenum">
              <a:rPr lang="zh-CN" altLang="en-US" smtClean="0"/>
            </a:fld>
            <a:r>
              <a:rPr lang="zh-CN" altLang="en-US"/>
              <a:t>   </a:t>
            </a:r>
            <a:endParaRPr lang="zh-CN" altLang="en-US" dirty="0"/>
          </a:p>
        </p:txBody>
      </p:sp>
      <p:sp>
        <p:nvSpPr>
          <p:cNvPr id="5" name="标题 3"/>
          <p:cNvSpPr>
            <a:spLocks noGrp="1"/>
          </p:cNvSpPr>
          <p:nvPr>
            <p:ph type="title"/>
          </p:nvPr>
        </p:nvSpPr>
        <p:spPr>
          <a:xfrm>
            <a:off x="295625" y="509513"/>
            <a:ext cx="4776874" cy="606839"/>
          </a:xfrm>
          <a:solidFill>
            <a:srgbClr val="92D050"/>
          </a:solidFill>
        </p:spPr>
        <p:txBody>
          <a:bodyPr/>
          <a:lstStyle/>
          <a:p>
            <a:pPr algn="just"/>
            <a:r>
              <a:rPr lang="zh-CN" altLang="en-US" dirty="0"/>
              <a:t>提升法</a:t>
            </a:r>
            <a:r>
              <a:rPr lang="en-US" altLang="zh-CN" dirty="0"/>
              <a:t>--AdaBoost</a:t>
            </a:r>
            <a:endParaRPr lang="en-US" altLang="zh-CN" dirty="0"/>
          </a:p>
        </p:txBody>
      </p:sp>
      <p:graphicFrame>
        <p:nvGraphicFramePr>
          <p:cNvPr id="2050" name="Object 2"/>
          <p:cNvGraphicFramePr>
            <a:graphicFrameLocks noChangeAspect="1"/>
          </p:cNvGraphicFramePr>
          <p:nvPr/>
        </p:nvGraphicFramePr>
        <p:xfrm>
          <a:off x="1656678" y="1700904"/>
          <a:ext cx="8864600" cy="3886200"/>
        </p:xfrm>
        <a:graphic>
          <a:graphicData uri="http://schemas.openxmlformats.org/presentationml/2006/ole">
            <mc:AlternateContent xmlns:mc="http://schemas.openxmlformats.org/markup-compatibility/2006">
              <mc:Choice xmlns:v="urn:schemas-microsoft-com:vml" Requires="v">
                <p:oleObj spid="_x0000_s2066" name="Visio" r:id="rId1" imgW="6670675" imgH="2920365" progId="Visio.Drawing.15">
                  <p:embed/>
                </p:oleObj>
              </mc:Choice>
              <mc:Fallback>
                <p:oleObj name="Visio" r:id="rId1" imgW="6670675" imgH="2920365" progId="Visio.Drawing.15">
                  <p:embed/>
                  <p:pic>
                    <p:nvPicPr>
                      <p:cNvPr id="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56678" y="1700904"/>
                        <a:ext cx="8864600" cy="3886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FF206FCC-0CBB-4DF4-89C1-3C9DB4B6E776}" type="slidenum">
              <a:rPr lang="zh-CN" altLang="en-US" smtClean="0"/>
            </a:fld>
            <a:r>
              <a:rPr lang="zh-CN" altLang="en-US" dirty="0"/>
              <a:t>   </a:t>
            </a:r>
            <a:endParaRPr lang="zh-CN" altLang="en-US" dirty="0"/>
          </a:p>
        </p:txBody>
      </p:sp>
      <p:sp>
        <p:nvSpPr>
          <p:cNvPr id="4" name="标题 3"/>
          <p:cNvSpPr>
            <a:spLocks noGrp="1"/>
          </p:cNvSpPr>
          <p:nvPr>
            <p:ph type="title"/>
          </p:nvPr>
        </p:nvSpPr>
        <p:spPr>
          <a:xfrm>
            <a:off x="188048" y="132995"/>
            <a:ext cx="4776874" cy="606839"/>
          </a:xfrm>
        </p:spPr>
        <p:txBody>
          <a:bodyPr/>
          <a:lstStyle/>
          <a:p>
            <a:pPr algn="just"/>
            <a:r>
              <a:rPr lang="zh-CN" altLang="en-US" dirty="0"/>
              <a:t>实现及参数</a:t>
            </a:r>
            <a:endParaRPr lang="en-US" altLang="zh-CN" dirty="0"/>
          </a:p>
        </p:txBody>
      </p:sp>
      <p:sp>
        <p:nvSpPr>
          <p:cNvPr id="5" name="内容占位符 1"/>
          <p:cNvSpPr>
            <a:spLocks noGrp="1"/>
          </p:cNvSpPr>
          <p:nvPr>
            <p:ph idx="1"/>
          </p:nvPr>
        </p:nvSpPr>
        <p:spPr>
          <a:xfrm>
            <a:off x="525807" y="659736"/>
            <a:ext cx="10855783" cy="1287398"/>
          </a:xfrm>
        </p:spPr>
        <p:txBody>
          <a:bodyPr>
            <a:noAutofit/>
          </a:bodyPr>
          <a:lstStyle/>
          <a:p>
            <a:pPr marL="571500" indent="-342900" algn="l"/>
            <a:r>
              <a:rPr lang="en-US" altLang="zh-CN" sz="1800" kern="1000" dirty="0">
                <a:solidFill>
                  <a:schemeClr val="tx1"/>
                </a:solidFill>
                <a:effectLst/>
              </a:rPr>
              <a:t>Scikit-learn</a:t>
            </a:r>
            <a:r>
              <a:rPr lang="zh-CN" altLang="zh-CN" sz="1800" kern="1000" dirty="0">
                <a:solidFill>
                  <a:schemeClr val="tx1"/>
                </a:solidFill>
                <a:effectLst/>
              </a:rPr>
              <a:t>中提</a:t>
            </a:r>
            <a:r>
              <a:rPr lang="zh-CN" altLang="zh-CN" sz="1800" kern="1000" dirty="0">
                <a:solidFill>
                  <a:schemeClr val="tx1"/>
                </a:solidFill>
                <a:effectLst/>
                <a:cs typeface="宋体" panose="02010600030101010101" pitchFamily="2" charset="-122"/>
              </a:rPr>
              <a:t>供了一种投票法分类器</a:t>
            </a:r>
            <a:r>
              <a:rPr lang="zh-CN" altLang="zh-CN" sz="1800" kern="1000" dirty="0">
                <a:solidFill>
                  <a:schemeClr val="tx1"/>
                </a:solidFill>
                <a:effectLst/>
              </a:rPr>
              <a:t>，其函数原型如下：</a:t>
            </a:r>
            <a:r>
              <a:rPr lang="en-US" altLang="zh-CN" sz="1800" kern="1000" dirty="0">
                <a:solidFill>
                  <a:schemeClr val="tx1"/>
                </a:solidFill>
                <a:effectLst/>
              </a:rPr>
              <a:t>   </a:t>
            </a:r>
            <a:r>
              <a:rPr lang="en-US" altLang="zh-CN" sz="1800" kern="1000" dirty="0">
                <a:solidFill>
                  <a:schemeClr val="accent6">
                    <a:lumMod val="50000"/>
                  </a:schemeClr>
                </a:solidFill>
                <a:effectLst/>
              </a:rPr>
              <a:t>sklearn.ensemble.AdaBoostClassifier(base_estimator=None,n_estimators=50</a:t>
            </a:r>
            <a:r>
              <a:rPr lang="zh-CN" altLang="en-US" sz="1800" kern="1000" dirty="0">
                <a:solidFill>
                  <a:schemeClr val="accent6">
                    <a:lumMod val="50000"/>
                  </a:schemeClr>
                </a:solidFill>
                <a:effectLst/>
              </a:rPr>
              <a:t>，</a:t>
            </a:r>
            <a:r>
              <a:rPr lang="en-US" altLang="zh-CN" sz="1800" kern="1000" dirty="0">
                <a:solidFill>
                  <a:schemeClr val="accent6">
                    <a:lumMod val="50000"/>
                  </a:schemeClr>
                </a:solidFill>
                <a:effectLst/>
              </a:rPr>
              <a:t>learning_rate=1.0,algorithm='SAMME.R', random_state=None)</a:t>
            </a:r>
            <a:endParaRPr kumimoji="1" lang="zh-CN" altLang="en-US" sz="1800" dirty="0">
              <a:solidFill>
                <a:schemeClr val="accent6">
                  <a:lumMod val="50000"/>
                </a:schemeClr>
              </a:solidFill>
            </a:endParaRPr>
          </a:p>
        </p:txBody>
      </p:sp>
      <p:sp>
        <p:nvSpPr>
          <p:cNvPr id="6" name="内容占位符 1"/>
          <p:cNvSpPr txBox="1"/>
          <p:nvPr/>
        </p:nvSpPr>
        <p:spPr>
          <a:xfrm>
            <a:off x="310654" y="1804842"/>
            <a:ext cx="11092451" cy="4768081"/>
          </a:xfrm>
          <a:prstGeom prst="rect">
            <a:avLst/>
          </a:prstGeom>
        </p:spPr>
        <p:txBody>
          <a:bodyPr vert="horz" lIns="91440" tIns="45720" rIns="91440" bIns="45720" rtlCol="0">
            <a:normAutofit/>
          </a:bodyPr>
          <a:lstStyle/>
          <a:p>
            <a:pPr marL="0" marR="0" lvl="0" indent="0" algn="just" defTabSz="914400" rtl="0" eaLnBrk="1" fontAlgn="auto" latinLnBrk="0" hangingPunct="1">
              <a:lnSpc>
                <a:spcPct val="150000"/>
              </a:lnSpc>
              <a:spcBef>
                <a:spcPts val="0"/>
              </a:spcBef>
              <a:spcAft>
                <a:spcPts val="600"/>
              </a:spcAft>
              <a:buClrTx/>
              <a:buSzTx/>
              <a:buFont typeface="Arial" panose="020B0604020202020204" pitchFamily="34" charset="0"/>
              <a:buChar char="•"/>
              <a:defRPr/>
            </a:pPr>
            <a:r>
              <a:rPr kumimoji="1" lang="en-US" altLang="zh-CN" sz="1900" b="0" i="0" u="none" strike="noStrike" kern="1200" cap="none" spc="0" normalizeH="0" baseline="0" noProof="0" dirty="0">
                <a:ln>
                  <a:noFill/>
                </a:ln>
                <a:solidFill>
                  <a:schemeClr val="tx1">
                    <a:lumMod val="95000"/>
                    <a:lumOff val="5000"/>
                  </a:schemeClr>
                </a:solidFill>
                <a:effectLst/>
                <a:uLnTx/>
                <a:uFillTx/>
                <a:latin typeface="微软雅黑" panose="020B0503020204020204" pitchFamily="34" charset="-122"/>
                <a:ea typeface="微软雅黑" panose="020B0503020204020204" pitchFamily="34" charset="-122"/>
                <a:cs typeface="+mn-cs"/>
              </a:rPr>
              <a:t>  </a:t>
            </a:r>
            <a:r>
              <a:rPr kumimoji="1" lang="zh-CN" altLang="en-US" sz="2000" b="0" i="0" u="none" strike="noStrike" kern="1200" cap="none" spc="0" normalizeH="0" baseline="0" noProof="0" dirty="0">
                <a:ln>
                  <a:noFill/>
                </a:ln>
                <a:solidFill>
                  <a:schemeClr val="tx1">
                    <a:lumMod val="95000"/>
                    <a:lumOff val="5000"/>
                  </a:schemeClr>
                </a:solidFill>
                <a:effectLst/>
                <a:uLnTx/>
                <a:uFillTx/>
                <a:latin typeface="微软雅黑" panose="020B0503020204020204" pitchFamily="34" charset="-122"/>
                <a:ea typeface="微软雅黑" panose="020B0503020204020204" pitchFamily="34" charset="-122"/>
                <a:cs typeface="+mn-cs"/>
              </a:rPr>
              <a:t>主要参数</a:t>
            </a:r>
            <a:r>
              <a:rPr kumimoji="0" lang="zh-CN" altLang="zh-CN" sz="2000" b="0" i="0" u="none" strike="noStrike" kern="10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endParaRPr kumimoji="1" lang="en-US" altLang="zh-CN" sz="2000" b="0" i="0" u="none" strike="noStrike" kern="1200" cap="none" spc="0" normalizeH="0" baseline="0" noProof="0" dirty="0">
              <a:ln>
                <a:noFill/>
              </a:ln>
              <a:solidFill>
                <a:schemeClr val="tx1">
                  <a:lumMod val="95000"/>
                  <a:lumOff val="5000"/>
                </a:schemeClr>
              </a:solidFill>
              <a:effectLst/>
              <a:uLnTx/>
              <a:uFillTx/>
              <a:latin typeface="微软雅黑" panose="020B0503020204020204" pitchFamily="34" charset="-122"/>
              <a:ea typeface="微软雅黑" panose="020B0503020204020204" pitchFamily="34" charset="-122"/>
              <a:cs typeface="+mn-cs"/>
            </a:endParaRPr>
          </a:p>
          <a:p>
            <a:pPr marL="360045" marR="0" lvl="0" indent="0" algn="just" defTabSz="914400" rtl="0" eaLnBrk="1" fontAlgn="auto" latinLnBrk="0" hangingPunct="1">
              <a:lnSpc>
                <a:spcPct val="150000"/>
              </a:lnSpc>
              <a:spcBef>
                <a:spcPts val="0"/>
              </a:spcBef>
              <a:spcAft>
                <a:spcPts val="600"/>
              </a:spcAft>
              <a:buClrTx/>
              <a:buSzTx/>
              <a:buFont typeface="Arial" panose="020B0604020202020204" pitchFamily="34" charset="0"/>
              <a:buNone/>
              <a:defRPr/>
            </a:pPr>
            <a:r>
              <a:rPr kumimoji="0" lang="en-US" altLang="zh-CN" sz="16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1）</a:t>
            </a:r>
            <a:r>
              <a:rPr kumimoji="0" lang="en-US" altLang="zh-CN" sz="1600" b="0" i="0" u="none" strike="noStrike" kern="10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base_estimator</a:t>
            </a:r>
            <a:r>
              <a:rPr kumimoji="0" lang="zh-CN" altLang="zh-CN" sz="1600" b="0" i="0" u="none" strike="noStrike" kern="10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：基分类器，在该分类器基础上进行</a:t>
            </a:r>
            <a:r>
              <a:rPr kumimoji="0" lang="en-US" altLang="zh-CN" sz="1600" b="0" i="0" u="none" strike="noStrike" kern="10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boosting</a:t>
            </a:r>
            <a:r>
              <a:rPr kumimoji="0" lang="zh-CN" altLang="zh-CN" sz="1600" b="0" i="0" u="none" strike="noStrike" kern="10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。默认为决策树，理论上可以是任意一个分类器，但是如果使用其他分类器时需要指明样本权重。</a:t>
            </a:r>
            <a:endParaRPr kumimoji="0" lang="en-US" altLang="zh-CN" sz="1600" b="0" i="0" u="none" strike="noStrike" kern="10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360045" marR="0" lvl="0" indent="0" algn="just" defTabSz="914400" rtl="0" eaLnBrk="1" fontAlgn="auto" latinLnBrk="0" hangingPunct="1">
              <a:lnSpc>
                <a:spcPct val="150000"/>
              </a:lnSpc>
              <a:spcBef>
                <a:spcPts val="0"/>
              </a:spcBef>
              <a:spcAft>
                <a:spcPts val="600"/>
              </a:spcAft>
              <a:buClrTx/>
              <a:buSzTx/>
              <a:buFont typeface="Arial" panose="020B0604020202020204" pitchFamily="34" charset="0"/>
              <a:buNone/>
              <a:defRPr/>
            </a:pPr>
            <a:r>
              <a:rPr kumimoji="0" lang="en-US" altLang="zh-CN" sz="16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2）</a:t>
            </a:r>
            <a:r>
              <a:rPr kumimoji="0" lang="en-US" altLang="zh-CN" sz="1600" b="0" i="0" u="none" strike="noStrike" kern="10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n_estimators</a:t>
            </a:r>
            <a:r>
              <a:rPr kumimoji="0" lang="zh-CN" altLang="zh-CN" sz="1600" b="0" i="0" u="none" strike="noStrike" kern="10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：基分类器提升（循环）次数。数据类型为整型，若不指定该参数值，则自动使用默认参数值</a:t>
            </a:r>
            <a:r>
              <a:rPr kumimoji="0" lang="en-US" altLang="zh-CN" sz="1600" b="0" i="0" u="none" strike="noStrike" kern="10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50</a:t>
            </a:r>
            <a:r>
              <a:rPr kumimoji="0" lang="zh-CN" altLang="zh-CN" sz="1600" b="0" i="0" u="none" strike="noStrike" kern="10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。这个值过大，模型容易过拟合，值过小，模型容易欠拟合。。</a:t>
            </a:r>
            <a:endParaRPr kumimoji="0" lang="en-US" altLang="zh-CN" sz="1600" b="0" i="0" u="none" strike="noStrike" kern="10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360045" marR="0" lvl="0" indent="0" algn="just" defTabSz="914400" rtl="0" eaLnBrk="1" fontAlgn="auto" latinLnBrk="0" hangingPunct="1">
              <a:lnSpc>
                <a:spcPct val="150000"/>
              </a:lnSpc>
              <a:spcBef>
                <a:spcPts val="0"/>
              </a:spcBef>
              <a:spcAft>
                <a:spcPts val="600"/>
              </a:spcAft>
              <a:buClrTx/>
              <a:buSzTx/>
              <a:buFont typeface="Arial" panose="020B0604020202020204" pitchFamily="34" charset="0"/>
              <a:buNone/>
              <a:defRPr/>
            </a:pPr>
            <a:r>
              <a:rPr kumimoji="0" lang="en-US" altLang="zh-CN" sz="16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3）</a:t>
            </a:r>
            <a:r>
              <a:rPr kumimoji="0" lang="en-US" altLang="zh-CN" sz="1600" b="0" i="0" u="none" strike="noStrike" kern="10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learning_rate</a:t>
            </a:r>
            <a:r>
              <a:rPr kumimoji="0" lang="zh-CN" altLang="zh-CN" sz="1600" b="0" i="0" u="none" strike="noStrike" kern="10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：学习率，表示梯度收敛速度。数据类型为整型，若不指定该参数值，则自动使用默认参数值</a:t>
            </a:r>
            <a:r>
              <a:rPr kumimoji="0" lang="en-US" altLang="zh-CN" sz="1600" b="0" i="0" u="none" strike="noStrike" kern="10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1</a:t>
            </a:r>
            <a:r>
              <a:rPr kumimoji="0" lang="zh-CN" altLang="zh-CN" sz="1600" b="0" i="0" u="none" strike="noStrike" kern="10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。如果过大，容易错过最优值，如果过小，则收敛速度会很慢。该值需要和</a:t>
            </a:r>
            <a:r>
              <a:rPr kumimoji="0" lang="en-US" altLang="zh-CN" sz="1600" b="0" i="0" u="none" strike="noStrike" kern="10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n_estimators</a:t>
            </a:r>
            <a:r>
              <a:rPr kumimoji="0" lang="zh-CN" altLang="zh-CN" sz="1600" b="0" i="0" u="none" strike="noStrike" kern="10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进行一个权衡，当分类器迭代次数较少时，学习率可以小一些，当迭代次数较多时，学习率可以适当放大。</a:t>
            </a:r>
            <a:endParaRPr kumimoji="0" lang="en-US" altLang="zh-CN" sz="1600" b="0" i="0" u="none" strike="noStrike" kern="10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360045" marR="0" lvl="0" indent="0" algn="just" defTabSz="914400" rtl="0" eaLnBrk="1" fontAlgn="auto" latinLnBrk="0" hangingPunct="1">
              <a:lnSpc>
                <a:spcPct val="150000"/>
              </a:lnSpc>
              <a:spcBef>
                <a:spcPts val="0"/>
              </a:spcBef>
              <a:spcAft>
                <a:spcPts val="600"/>
              </a:spcAft>
              <a:buClrTx/>
              <a:buSzTx/>
              <a:buFont typeface="Arial" panose="020B0604020202020204" pitchFamily="34" charset="0"/>
              <a:buNone/>
              <a:defRPr/>
            </a:pPr>
            <a:r>
              <a:rPr kumimoji="0" lang="en-US" altLang="zh-CN" sz="16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4）</a:t>
            </a:r>
            <a:r>
              <a:rPr kumimoji="0" lang="en-US" altLang="zh-CN" sz="1600" b="0" i="0" u="none" strike="noStrike" kern="10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algorithm</a:t>
            </a:r>
            <a:r>
              <a:rPr kumimoji="0" lang="zh-CN" altLang="zh-CN" sz="1600" b="0" i="0" u="none" strike="noStrike" kern="10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：模型提升准则。数据类型为字符串型，若不指定该参数值，则自动使用默认参数值</a:t>
            </a:r>
            <a:r>
              <a:rPr kumimoji="0" lang="en-US" altLang="zh-CN" sz="1600" b="0" i="0" u="none" strike="noStrike" kern="10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SAMME.R</a:t>
            </a:r>
            <a:r>
              <a:rPr kumimoji="0" lang="zh-CN" altLang="zh-CN" sz="1600" b="0" i="0" u="none" strike="noStrike" kern="10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。可选值如：</a:t>
            </a:r>
            <a:r>
              <a:rPr kumimoji="0" lang="en-US" altLang="zh-CN" sz="1600" b="0" i="0" u="none" strike="noStrike" kern="10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600" b="0" i="0" u="none" strike="noStrike" kern="10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SAMME</a:t>
            </a:r>
            <a:r>
              <a:rPr kumimoji="0" lang="zh-CN" altLang="zh-CN" sz="1600" b="0" i="0" u="none" strike="noStrike" kern="10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：对样本集预测错误的概率进行划分</a:t>
            </a:r>
            <a:r>
              <a:rPr kumimoji="0" lang="zh-CN" altLang="en-US" sz="1600" b="0" i="0" u="none" strike="noStrike" kern="10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600" b="0" i="0" u="none" strike="noStrike" kern="10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SAMME.R</a:t>
            </a:r>
            <a:r>
              <a:rPr kumimoji="0" lang="zh-CN" altLang="zh-CN" sz="1600" b="0" i="0" u="none" strike="noStrike" kern="10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：对样本集的预测错误的比例，即错分率进行划分。</a:t>
            </a:r>
            <a:endParaRPr kumimoji="0" lang="en-US" altLang="zh-CN" sz="1600" b="0" i="0" u="none" strike="noStrike" kern="10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360045" marR="0" lvl="0" indent="0" algn="just" defTabSz="914400" rtl="0" eaLnBrk="1" fontAlgn="auto" latinLnBrk="0" hangingPunct="1">
              <a:lnSpc>
                <a:spcPct val="150000"/>
              </a:lnSpc>
              <a:spcBef>
                <a:spcPts val="0"/>
              </a:spcBef>
              <a:spcAft>
                <a:spcPts val="600"/>
              </a:spcAft>
              <a:buClrTx/>
              <a:buSzTx/>
              <a:buFont typeface="Arial" panose="020B0604020202020204" pitchFamily="34" charset="0"/>
              <a:buNone/>
              <a:defRPr/>
            </a:pPr>
            <a:r>
              <a:rPr kumimoji="0" lang="en-US" altLang="zh-CN" sz="1600" b="0" i="0" u="none" strike="noStrike" kern="10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5</a:t>
            </a:r>
            <a:r>
              <a:rPr kumimoji="0" lang="zh-CN" altLang="zh-CN" sz="1600" b="0" i="0" u="none" strike="noStrike" kern="10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r>
              <a:rPr kumimoji="0" lang="en-US" altLang="zh-CN" sz="1600" b="0" i="0" u="none" strike="noStrike" kern="10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random_state</a:t>
            </a:r>
            <a:r>
              <a:rPr kumimoji="0" lang="zh-CN" altLang="zh-CN" sz="1600" b="0" i="0" u="none" strike="noStrike" kern="10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：设置随机种子。数据类型为整型，若不指定该参数值，则自动使用默认参数值</a:t>
            </a:r>
            <a:r>
              <a:rPr kumimoji="0" lang="en-US" altLang="zh-CN" sz="1600" b="0" i="0" u="none" strike="noStrike" kern="10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None</a:t>
            </a:r>
            <a:r>
              <a:rPr kumimoji="0" lang="zh-CN" altLang="zh-CN" sz="1600" b="0" i="0" u="none" strike="noStrike" kern="10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endParaRPr kumimoji="0" lang="zh-CN" altLang="zh-CN" sz="1600" b="0" i="0" u="none" strike="noStrike" kern="10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360045" marR="0" lvl="0" indent="0" algn="just" defTabSz="914400" rtl="0" eaLnBrk="1" fontAlgn="auto" latinLnBrk="0" hangingPunct="1">
              <a:lnSpc>
                <a:spcPct val="150000"/>
              </a:lnSpc>
              <a:spcBef>
                <a:spcPts val="0"/>
              </a:spcBef>
              <a:spcAft>
                <a:spcPts val="600"/>
              </a:spcAft>
              <a:buClrTx/>
              <a:buSzTx/>
              <a:buFont typeface="Arial" panose="020B0604020202020204" pitchFamily="34" charset="0"/>
              <a:buNone/>
              <a:defRPr/>
            </a:pPr>
            <a:endParaRPr kumimoji="1" lang="zh-CN" altLang="en-US" sz="16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FF206FCC-0CBB-4DF4-89C1-3C9DB4B6E776}" type="slidenum">
              <a:rPr lang="zh-CN" altLang="en-US" smtClean="0"/>
            </a:fld>
            <a:r>
              <a:rPr lang="zh-CN" altLang="en-US"/>
              <a:t>   </a:t>
            </a:r>
            <a:endParaRPr lang="zh-CN" altLang="en-US" dirty="0"/>
          </a:p>
        </p:txBody>
      </p:sp>
      <p:sp>
        <p:nvSpPr>
          <p:cNvPr id="4" name="标题 3"/>
          <p:cNvSpPr>
            <a:spLocks noGrp="1"/>
          </p:cNvSpPr>
          <p:nvPr>
            <p:ph type="title"/>
          </p:nvPr>
        </p:nvSpPr>
        <p:spPr/>
        <p:txBody>
          <a:bodyPr/>
          <a:lstStyle/>
          <a:p>
            <a:pPr algn="just"/>
            <a:r>
              <a:rPr lang="zh-CN" altLang="en-US" dirty="0"/>
              <a:t>实现及参数</a:t>
            </a:r>
            <a:endParaRPr lang="en-US" altLang="zh-CN" dirty="0"/>
          </a:p>
        </p:txBody>
      </p:sp>
      <p:sp>
        <p:nvSpPr>
          <p:cNvPr id="5" name="内容占位符 1"/>
          <p:cNvSpPr>
            <a:spLocks noGrp="1"/>
          </p:cNvSpPr>
          <p:nvPr>
            <p:ph idx="1"/>
          </p:nvPr>
        </p:nvSpPr>
        <p:spPr>
          <a:xfrm>
            <a:off x="342928" y="1116352"/>
            <a:ext cx="10237796" cy="5484908"/>
          </a:xfrm>
        </p:spPr>
        <p:txBody>
          <a:bodyPr>
            <a:normAutofit/>
          </a:bodyPr>
          <a:lstStyle/>
          <a:p>
            <a:pPr marL="0" indent="0"/>
            <a:r>
              <a:rPr kumimoji="1" lang="en-US" altLang="zh-CN" dirty="0"/>
              <a:t>  </a:t>
            </a:r>
            <a:r>
              <a:rPr kumimoji="1" lang="zh-CN" altLang="en-US" dirty="0"/>
              <a:t>主要属性</a:t>
            </a:r>
            <a:r>
              <a:rPr lang="zh-CN" altLang="zh-CN" kern="1000" dirty="0">
                <a:solidFill>
                  <a:srgbClr val="000000"/>
                </a:solidFill>
                <a:effectLst/>
                <a:cs typeface="Times New Roman" panose="02020603050405020304" pitchFamily="18" charset="0"/>
              </a:rPr>
              <a:t>：</a:t>
            </a:r>
            <a:endParaRPr kumimoji="1" lang="en-US" altLang="zh-CN" dirty="0"/>
          </a:p>
          <a:p>
            <a:pPr marL="360045" indent="0" fontAlgn="auto">
              <a:buNone/>
            </a:pPr>
            <a:r>
              <a:rPr lang="en-US" altLang="zh-CN" sz="1600" dirty="0">
                <a:solidFill>
                  <a:schemeClr val="tx1">
                    <a:lumMod val="75000"/>
                    <a:lumOff val="25000"/>
                  </a:schemeClr>
                </a:solidFill>
              </a:rPr>
              <a:t>1）</a:t>
            </a:r>
            <a:r>
              <a:rPr lang="en-US" altLang="zh-CN" sz="1600" kern="1000" dirty="0">
                <a:solidFill>
                  <a:srgbClr val="000000"/>
                </a:solidFill>
                <a:effectLst/>
              </a:rPr>
              <a:t>estimators_</a:t>
            </a:r>
            <a:r>
              <a:rPr lang="zh-CN" altLang="zh-CN" sz="1600" kern="1000" dirty="0">
                <a:solidFill>
                  <a:srgbClr val="000000"/>
                </a:solidFill>
                <a:effectLst/>
                <a:cs typeface="Times New Roman" panose="02020603050405020304" pitchFamily="18" charset="0"/>
              </a:rPr>
              <a:t>：所有训练过的基础分类器。</a:t>
            </a:r>
            <a:endParaRPr lang="en-US" altLang="zh-CN" sz="1600" kern="1000" dirty="0">
              <a:solidFill>
                <a:srgbClr val="000000"/>
              </a:solidFill>
              <a:effectLst/>
              <a:cs typeface="Times New Roman" panose="02020603050405020304" pitchFamily="18" charset="0"/>
            </a:endParaRPr>
          </a:p>
          <a:p>
            <a:pPr marL="360045" indent="0" fontAlgn="auto">
              <a:buNone/>
            </a:pPr>
            <a:r>
              <a:rPr lang="en-US" altLang="zh-CN" sz="1600" dirty="0">
                <a:solidFill>
                  <a:schemeClr val="tx1">
                    <a:lumMod val="75000"/>
                    <a:lumOff val="25000"/>
                  </a:schemeClr>
                </a:solidFill>
              </a:rPr>
              <a:t>2）</a:t>
            </a:r>
            <a:r>
              <a:rPr lang="en-US" altLang="zh-CN" sz="1600" kern="1000" dirty="0">
                <a:solidFill>
                  <a:srgbClr val="000000"/>
                </a:solidFill>
                <a:effectLst/>
              </a:rPr>
              <a:t>classes_</a:t>
            </a:r>
            <a:r>
              <a:rPr lang="zh-CN" altLang="zh-CN" sz="1600" kern="1000" dirty="0">
                <a:solidFill>
                  <a:srgbClr val="000000"/>
                </a:solidFill>
                <a:effectLst/>
                <a:cs typeface="Times New Roman" panose="02020603050405020304" pitchFamily="18" charset="0"/>
              </a:rPr>
              <a:t>：类别标签。</a:t>
            </a:r>
            <a:endParaRPr lang="en-US" altLang="zh-CN" sz="1600" kern="1000" dirty="0">
              <a:solidFill>
                <a:srgbClr val="000000"/>
              </a:solidFill>
              <a:effectLst/>
              <a:cs typeface="Times New Roman" panose="02020603050405020304" pitchFamily="18" charset="0"/>
            </a:endParaRPr>
          </a:p>
          <a:p>
            <a:pPr marL="360045" indent="0" fontAlgn="auto">
              <a:buNone/>
            </a:pPr>
            <a:r>
              <a:rPr lang="en-US" altLang="zh-CN" sz="1600" dirty="0">
                <a:solidFill>
                  <a:schemeClr val="tx1"/>
                </a:solidFill>
              </a:rPr>
              <a:t>3）</a:t>
            </a:r>
            <a:r>
              <a:rPr lang="en-US" altLang="zh-CN" sz="1600" kern="1000" dirty="0">
                <a:solidFill>
                  <a:srgbClr val="000000"/>
                </a:solidFill>
                <a:effectLst/>
              </a:rPr>
              <a:t>n_classes_</a:t>
            </a:r>
            <a:r>
              <a:rPr lang="zh-CN" altLang="zh-CN" sz="1600" kern="1000" dirty="0">
                <a:solidFill>
                  <a:srgbClr val="000000"/>
                </a:solidFill>
                <a:effectLst/>
                <a:cs typeface="Times New Roman" panose="02020603050405020304" pitchFamily="18" charset="0"/>
              </a:rPr>
              <a:t>：类别的数量。</a:t>
            </a:r>
            <a:endParaRPr lang="en-US" altLang="zh-CN" sz="1600" kern="1000" dirty="0">
              <a:solidFill>
                <a:srgbClr val="000000"/>
              </a:solidFill>
              <a:effectLst/>
              <a:cs typeface="Times New Roman" panose="02020603050405020304" pitchFamily="18" charset="0"/>
            </a:endParaRPr>
          </a:p>
          <a:p>
            <a:pPr indent="0" algn="just" fontAlgn="auto">
              <a:buNone/>
            </a:pPr>
            <a:r>
              <a:rPr lang="en-US" altLang="zh-CN" sz="1600" kern="1000" dirty="0">
                <a:solidFill>
                  <a:srgbClr val="000000"/>
                </a:solidFill>
                <a:effectLst/>
              </a:rPr>
              <a:t>  4</a:t>
            </a:r>
            <a:r>
              <a:rPr lang="zh-CN" altLang="zh-CN" sz="1600" kern="1000" dirty="0">
                <a:solidFill>
                  <a:srgbClr val="000000"/>
                </a:solidFill>
                <a:effectLst/>
              </a:rPr>
              <a:t>）</a:t>
            </a:r>
            <a:r>
              <a:rPr lang="en-US" altLang="zh-CN" sz="1600" kern="1000" dirty="0" err="1">
                <a:solidFill>
                  <a:srgbClr val="000000"/>
                </a:solidFill>
                <a:effectLst/>
              </a:rPr>
              <a:t>estimator_weights</a:t>
            </a:r>
            <a:r>
              <a:rPr lang="en-US" altLang="zh-CN" sz="1600" kern="1000" dirty="0">
                <a:solidFill>
                  <a:srgbClr val="000000"/>
                </a:solidFill>
                <a:effectLst/>
              </a:rPr>
              <a:t>_</a:t>
            </a:r>
            <a:r>
              <a:rPr lang="zh-CN" altLang="zh-CN" sz="1600" kern="1000" dirty="0">
                <a:solidFill>
                  <a:srgbClr val="000000"/>
                </a:solidFill>
                <a:effectLst/>
              </a:rPr>
              <a:t>：每个基础分类器的权重。</a:t>
            </a:r>
            <a:endParaRPr lang="zh-CN" altLang="zh-CN" sz="1600" kern="1000" dirty="0">
              <a:solidFill>
                <a:srgbClr val="000000"/>
              </a:solidFill>
              <a:effectLst/>
            </a:endParaRPr>
          </a:p>
          <a:p>
            <a:pPr indent="0" algn="just" fontAlgn="auto">
              <a:buNone/>
            </a:pPr>
            <a:r>
              <a:rPr lang="en-US" altLang="zh-CN" sz="1600" kern="1000" dirty="0">
                <a:solidFill>
                  <a:srgbClr val="000000"/>
                </a:solidFill>
                <a:effectLst/>
              </a:rPr>
              <a:t>  5</a:t>
            </a:r>
            <a:r>
              <a:rPr lang="zh-CN" altLang="zh-CN" sz="1600" kern="1000" dirty="0">
                <a:solidFill>
                  <a:srgbClr val="000000"/>
                </a:solidFill>
                <a:effectLst/>
              </a:rPr>
              <a:t>）</a:t>
            </a:r>
            <a:r>
              <a:rPr lang="en-US" altLang="zh-CN" sz="1600" kern="1000" dirty="0" err="1">
                <a:solidFill>
                  <a:srgbClr val="000000"/>
                </a:solidFill>
                <a:effectLst/>
              </a:rPr>
              <a:t>feature</a:t>
            </a:r>
            <a:r>
              <a:rPr lang="en-US" altLang="zh-CN" sz="1600" kern="1000" dirty="0" err="1">
                <a:solidFill>
                  <a:schemeClr val="tx1"/>
                </a:solidFill>
                <a:effectLst/>
              </a:rPr>
              <a:t>_importances</a:t>
            </a:r>
            <a:r>
              <a:rPr lang="zh-CN" altLang="zh-CN" sz="1600" kern="1000" dirty="0">
                <a:solidFill>
                  <a:srgbClr val="000000"/>
                </a:solidFill>
                <a:effectLst/>
              </a:rPr>
              <a:t>：每个特征的重要性。</a:t>
            </a:r>
            <a:endParaRPr lang="zh-CN" altLang="zh-CN" sz="1600" kern="1000" dirty="0">
              <a:solidFill>
                <a:srgbClr val="000000"/>
              </a:solidFill>
              <a:effectLst/>
            </a:endParaRPr>
          </a:p>
          <a:p>
            <a:pPr indent="0" algn="just" fontAlgn="auto">
              <a:buNone/>
            </a:pPr>
            <a:r>
              <a:rPr lang="en-US" altLang="zh-CN" sz="1600" kern="1000" dirty="0">
                <a:solidFill>
                  <a:srgbClr val="000000"/>
                </a:solidFill>
                <a:effectLst/>
              </a:rPr>
              <a:t>  6</a:t>
            </a:r>
            <a:r>
              <a:rPr lang="zh-CN" altLang="zh-CN" sz="1600" kern="1000" dirty="0">
                <a:solidFill>
                  <a:srgbClr val="000000"/>
                </a:solidFill>
                <a:effectLst/>
              </a:rPr>
              <a:t>）</a:t>
            </a:r>
            <a:r>
              <a:rPr lang="en-US" altLang="zh-CN" sz="1600" kern="1000" dirty="0" err="1">
                <a:solidFill>
                  <a:srgbClr val="000000"/>
                </a:solidFill>
                <a:effectLst/>
              </a:rPr>
              <a:t>estimator_errors</a:t>
            </a:r>
            <a:r>
              <a:rPr lang="en-US" altLang="zh-CN" sz="1600" kern="1000" dirty="0">
                <a:solidFill>
                  <a:srgbClr val="000000"/>
                </a:solidFill>
                <a:effectLst/>
              </a:rPr>
              <a:t>_</a:t>
            </a:r>
            <a:r>
              <a:rPr lang="zh-CN" altLang="zh-CN" sz="1600" kern="1000" dirty="0">
                <a:solidFill>
                  <a:srgbClr val="000000"/>
                </a:solidFill>
                <a:effectLst/>
              </a:rPr>
              <a:t>：每个基础分类器的分类误差。</a:t>
            </a:r>
            <a:endParaRPr lang="zh-CN" altLang="zh-CN" sz="1600" kern="1000" dirty="0">
              <a:solidFill>
                <a:srgbClr val="000000"/>
              </a:solidFill>
              <a:effectLst/>
            </a:endParaRPr>
          </a:p>
          <a:p>
            <a:pPr marL="360045" indent="0" fontAlgn="auto">
              <a:buNone/>
            </a:pPr>
            <a:endParaRPr kumimoji="1" lang="zh-CN" altLang="en-US" sz="1600" dirty="0">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FF206FCC-0CBB-4DF4-89C1-3C9DB4B6E776}" type="slidenum">
              <a:rPr lang="zh-CN" altLang="en-US" smtClean="0"/>
            </a:fld>
            <a:r>
              <a:rPr lang="zh-CN" altLang="en-US"/>
              <a:t>   </a:t>
            </a:r>
            <a:endParaRPr lang="zh-CN" altLang="en-US" dirty="0"/>
          </a:p>
        </p:txBody>
      </p:sp>
      <p:sp>
        <p:nvSpPr>
          <p:cNvPr id="4" name="标题 3"/>
          <p:cNvSpPr>
            <a:spLocks noGrp="1"/>
          </p:cNvSpPr>
          <p:nvPr>
            <p:ph type="title"/>
          </p:nvPr>
        </p:nvSpPr>
        <p:spPr/>
        <p:txBody>
          <a:bodyPr/>
          <a:lstStyle/>
          <a:p>
            <a:pPr algn="just"/>
            <a:r>
              <a:rPr lang="zh-CN" altLang="en-US" dirty="0"/>
              <a:t>实现及参数</a:t>
            </a:r>
            <a:endParaRPr lang="en-US" altLang="zh-CN" dirty="0"/>
          </a:p>
        </p:txBody>
      </p:sp>
      <p:sp>
        <p:nvSpPr>
          <p:cNvPr id="5" name="内容占位符 1"/>
          <p:cNvSpPr>
            <a:spLocks noGrp="1"/>
          </p:cNvSpPr>
          <p:nvPr>
            <p:ph idx="1"/>
          </p:nvPr>
        </p:nvSpPr>
        <p:spPr>
          <a:xfrm>
            <a:off x="342928" y="1116352"/>
            <a:ext cx="10237796" cy="5484908"/>
          </a:xfrm>
        </p:spPr>
        <p:txBody>
          <a:bodyPr>
            <a:normAutofit/>
          </a:bodyPr>
          <a:lstStyle/>
          <a:p>
            <a:pPr marL="0" indent="0"/>
            <a:r>
              <a:rPr kumimoji="1" lang="en-US" altLang="zh-CN" sz="1900" dirty="0"/>
              <a:t>  </a:t>
            </a:r>
            <a:r>
              <a:rPr kumimoji="1" lang="zh-CN" altLang="en-US" dirty="0"/>
              <a:t>主要方法</a:t>
            </a:r>
            <a:r>
              <a:rPr lang="zh-CN" altLang="zh-CN" kern="1000" dirty="0">
                <a:solidFill>
                  <a:srgbClr val="000000"/>
                </a:solidFill>
                <a:effectLst/>
                <a:cs typeface="Times New Roman" panose="02020603050405020304" pitchFamily="18" charset="0"/>
              </a:rPr>
              <a:t>：</a:t>
            </a:r>
            <a:endParaRPr kumimoji="1" lang="en-US" altLang="zh-CN" dirty="0"/>
          </a:p>
          <a:p>
            <a:pPr indent="0" algn="just" fontAlgn="auto">
              <a:buNone/>
            </a:pPr>
            <a:r>
              <a:rPr lang="en-US" altLang="zh-CN" sz="1600" kern="1000" dirty="0">
                <a:solidFill>
                  <a:schemeClr val="tx1"/>
                </a:solidFill>
                <a:effectLst/>
              </a:rPr>
              <a:t>1</a:t>
            </a:r>
            <a:r>
              <a:rPr lang="zh-CN" altLang="zh-CN" sz="1600" kern="1000" dirty="0">
                <a:solidFill>
                  <a:schemeClr val="tx1"/>
                </a:solidFill>
                <a:effectLst/>
              </a:rPr>
              <a:t>）</a:t>
            </a:r>
            <a:r>
              <a:rPr lang="en-US" altLang="zh-CN" sz="1600" kern="1000" dirty="0">
                <a:solidFill>
                  <a:schemeClr val="tx1"/>
                </a:solidFill>
                <a:effectLst/>
              </a:rPr>
              <a:t>fit(X, y[, </a:t>
            </a:r>
            <a:r>
              <a:rPr lang="en-US" altLang="zh-CN" sz="1600" kern="1000" dirty="0" err="1">
                <a:solidFill>
                  <a:schemeClr val="tx1"/>
                </a:solidFill>
                <a:effectLst/>
              </a:rPr>
              <a:t>sample_weight</a:t>
            </a:r>
            <a:r>
              <a:rPr lang="en-US" altLang="zh-CN" sz="1600" kern="1000" dirty="0">
                <a:solidFill>
                  <a:schemeClr val="tx1"/>
                </a:solidFill>
                <a:effectLst/>
              </a:rPr>
              <a:t>])</a:t>
            </a:r>
            <a:r>
              <a:rPr lang="zh-CN" altLang="zh-CN" sz="1600" kern="1000" dirty="0">
                <a:solidFill>
                  <a:schemeClr val="tx1"/>
                </a:solidFill>
                <a:effectLst/>
              </a:rPr>
              <a:t>：训练模型。</a:t>
            </a:r>
            <a:endParaRPr lang="zh-CN" altLang="zh-CN" sz="1600" kern="1000" dirty="0">
              <a:solidFill>
                <a:schemeClr val="tx1"/>
              </a:solidFill>
              <a:effectLst/>
            </a:endParaRPr>
          </a:p>
          <a:p>
            <a:pPr indent="0" algn="just" fontAlgn="auto">
              <a:buNone/>
            </a:pPr>
            <a:r>
              <a:rPr lang="en-US" altLang="zh-CN" sz="1600" kern="1000" dirty="0">
                <a:solidFill>
                  <a:schemeClr val="tx1"/>
                </a:solidFill>
                <a:effectLst/>
              </a:rPr>
              <a:t>2</a:t>
            </a:r>
            <a:r>
              <a:rPr lang="zh-CN" altLang="zh-CN" sz="1600" kern="1000" dirty="0">
                <a:solidFill>
                  <a:schemeClr val="tx1"/>
                </a:solidFill>
                <a:effectLst/>
              </a:rPr>
              <a:t>）</a:t>
            </a:r>
            <a:r>
              <a:rPr lang="en-US" altLang="zh-CN" sz="1600" kern="1000" dirty="0">
                <a:solidFill>
                  <a:schemeClr val="tx1"/>
                </a:solidFill>
                <a:effectLst/>
              </a:rPr>
              <a:t>predict(X)</a:t>
            </a:r>
            <a:r>
              <a:rPr lang="zh-CN" altLang="zh-CN" sz="1600" kern="1000" dirty="0">
                <a:solidFill>
                  <a:schemeClr val="tx1"/>
                </a:solidFill>
                <a:effectLst/>
              </a:rPr>
              <a:t>：用模型进行预测，返回预测值。</a:t>
            </a:r>
            <a:endParaRPr lang="zh-CN" altLang="zh-CN" sz="1600" kern="1000" dirty="0">
              <a:solidFill>
                <a:schemeClr val="tx1"/>
              </a:solidFill>
              <a:effectLst/>
            </a:endParaRPr>
          </a:p>
          <a:p>
            <a:pPr indent="0" algn="just" fontAlgn="auto">
              <a:buNone/>
            </a:pPr>
            <a:r>
              <a:rPr lang="en-US" altLang="zh-CN" sz="1600" kern="1000" dirty="0">
                <a:solidFill>
                  <a:schemeClr val="tx1"/>
                </a:solidFill>
                <a:effectLst/>
              </a:rPr>
              <a:t>3</a:t>
            </a:r>
            <a:r>
              <a:rPr lang="zh-CN" altLang="zh-CN" sz="1600" kern="1000" dirty="0">
                <a:solidFill>
                  <a:schemeClr val="tx1"/>
                </a:solidFill>
                <a:effectLst/>
              </a:rPr>
              <a:t>）</a:t>
            </a:r>
            <a:r>
              <a:rPr lang="en-US" altLang="zh-CN" sz="1600" kern="1000" dirty="0" err="1">
                <a:solidFill>
                  <a:schemeClr val="tx1"/>
                </a:solidFill>
                <a:effectLst/>
              </a:rPr>
              <a:t>predict_log_proba</a:t>
            </a:r>
            <a:r>
              <a:rPr lang="en-US" altLang="zh-CN" sz="1600" kern="1000" dirty="0">
                <a:solidFill>
                  <a:schemeClr val="tx1"/>
                </a:solidFill>
                <a:effectLst/>
              </a:rPr>
              <a:t>(X)</a:t>
            </a:r>
            <a:r>
              <a:rPr lang="zh-CN" altLang="zh-CN" sz="1600" kern="1000" dirty="0">
                <a:solidFill>
                  <a:schemeClr val="tx1"/>
                </a:solidFill>
                <a:effectLst/>
              </a:rPr>
              <a:t>：返回一个数组，数组的元素依次是</a:t>
            </a:r>
            <a:r>
              <a:rPr lang="en-US" altLang="zh-CN" sz="1600" kern="1000" dirty="0">
                <a:solidFill>
                  <a:schemeClr val="tx1"/>
                </a:solidFill>
                <a:effectLst/>
              </a:rPr>
              <a:t>X</a:t>
            </a:r>
            <a:r>
              <a:rPr lang="zh-CN" altLang="zh-CN" sz="1600" kern="1000" dirty="0">
                <a:solidFill>
                  <a:schemeClr val="tx1"/>
                </a:solidFill>
                <a:effectLst/>
              </a:rPr>
              <a:t>预测为各个类别的概率的对数值。</a:t>
            </a:r>
            <a:endParaRPr lang="zh-CN" altLang="zh-CN" sz="1600" kern="1000" dirty="0">
              <a:solidFill>
                <a:schemeClr val="tx1"/>
              </a:solidFill>
              <a:effectLst/>
            </a:endParaRPr>
          </a:p>
          <a:p>
            <a:pPr indent="0" algn="just" fontAlgn="auto">
              <a:buNone/>
            </a:pPr>
            <a:r>
              <a:rPr lang="en-US" altLang="zh-CN" sz="1600" kern="1000" dirty="0">
                <a:solidFill>
                  <a:schemeClr val="tx1"/>
                </a:solidFill>
                <a:effectLst/>
              </a:rPr>
              <a:t>4</a:t>
            </a:r>
            <a:r>
              <a:rPr lang="zh-CN" altLang="zh-CN" sz="1600" kern="1000" dirty="0">
                <a:solidFill>
                  <a:schemeClr val="tx1"/>
                </a:solidFill>
                <a:effectLst/>
              </a:rPr>
              <a:t>）</a:t>
            </a:r>
            <a:r>
              <a:rPr lang="en-US" altLang="zh-CN" sz="1600" kern="1000" dirty="0" err="1">
                <a:solidFill>
                  <a:schemeClr val="tx1"/>
                </a:solidFill>
                <a:effectLst/>
              </a:rPr>
              <a:t>predict_proba</a:t>
            </a:r>
            <a:r>
              <a:rPr lang="en-US" altLang="zh-CN" sz="1600" kern="1000" dirty="0">
                <a:solidFill>
                  <a:schemeClr val="tx1"/>
                </a:solidFill>
                <a:effectLst/>
              </a:rPr>
              <a:t>(X)</a:t>
            </a:r>
            <a:r>
              <a:rPr lang="zh-CN" altLang="zh-CN" sz="1600" kern="1000" dirty="0">
                <a:solidFill>
                  <a:schemeClr val="tx1"/>
                </a:solidFill>
                <a:effectLst/>
              </a:rPr>
              <a:t>：返回一个数组，数组的元素依次是</a:t>
            </a:r>
            <a:r>
              <a:rPr lang="en-US" altLang="zh-CN" sz="1600" kern="1000" dirty="0">
                <a:solidFill>
                  <a:schemeClr val="tx1"/>
                </a:solidFill>
                <a:effectLst/>
              </a:rPr>
              <a:t>X</a:t>
            </a:r>
            <a:r>
              <a:rPr lang="zh-CN" altLang="zh-CN" sz="1600" kern="1000" dirty="0">
                <a:solidFill>
                  <a:schemeClr val="tx1"/>
                </a:solidFill>
                <a:effectLst/>
              </a:rPr>
              <a:t>预测为各个类别的概率值。</a:t>
            </a:r>
            <a:endParaRPr lang="zh-CN" altLang="zh-CN" sz="1600" kern="1000" dirty="0">
              <a:solidFill>
                <a:schemeClr val="tx1"/>
              </a:solidFill>
              <a:effectLst/>
            </a:endParaRPr>
          </a:p>
          <a:p>
            <a:pPr indent="0" algn="just" fontAlgn="auto">
              <a:buNone/>
            </a:pPr>
            <a:r>
              <a:rPr lang="en-US" altLang="zh-CN" sz="1600" kern="1000" dirty="0">
                <a:solidFill>
                  <a:schemeClr val="tx1"/>
                </a:solidFill>
                <a:effectLst/>
              </a:rPr>
              <a:t>5</a:t>
            </a:r>
            <a:r>
              <a:rPr lang="zh-CN" altLang="zh-CN" sz="1600" kern="1000" dirty="0">
                <a:solidFill>
                  <a:schemeClr val="tx1"/>
                </a:solidFill>
                <a:effectLst/>
              </a:rPr>
              <a:t>）</a:t>
            </a:r>
            <a:r>
              <a:rPr lang="en-US" altLang="zh-CN" sz="1600" kern="1000" dirty="0">
                <a:solidFill>
                  <a:schemeClr val="tx1"/>
                </a:solidFill>
                <a:effectLst/>
              </a:rPr>
              <a:t>score(X, y[, </a:t>
            </a:r>
            <a:r>
              <a:rPr lang="en-US" altLang="zh-CN" sz="1600" kern="1000" dirty="0" err="1">
                <a:solidFill>
                  <a:schemeClr val="tx1"/>
                </a:solidFill>
                <a:effectLst/>
              </a:rPr>
              <a:t>sample_weight</a:t>
            </a:r>
            <a:r>
              <a:rPr lang="en-US" altLang="zh-CN" sz="1600" kern="1000" dirty="0">
                <a:solidFill>
                  <a:schemeClr val="tx1"/>
                </a:solidFill>
                <a:effectLst/>
              </a:rPr>
              <a:t>])</a:t>
            </a:r>
            <a:r>
              <a:rPr lang="zh-CN" altLang="zh-CN" sz="1600" kern="1000" dirty="0">
                <a:solidFill>
                  <a:schemeClr val="tx1"/>
                </a:solidFill>
                <a:effectLst/>
              </a:rPr>
              <a:t>：返回在</a:t>
            </a:r>
            <a:r>
              <a:rPr lang="en-US" altLang="zh-CN" sz="1600" kern="1000" dirty="0">
                <a:solidFill>
                  <a:schemeClr val="tx1"/>
                </a:solidFill>
                <a:effectLst/>
              </a:rPr>
              <a:t>(X, y)</a:t>
            </a:r>
            <a:r>
              <a:rPr lang="zh-CN" altLang="zh-CN" sz="1600" kern="1000" dirty="0">
                <a:solidFill>
                  <a:schemeClr val="tx1"/>
                </a:solidFill>
                <a:effectLst/>
              </a:rPr>
              <a:t>上预测的准确率。</a:t>
            </a:r>
            <a:endParaRPr lang="zh-CN" altLang="zh-CN" sz="1600" kern="1000" dirty="0">
              <a:solidFill>
                <a:schemeClr val="tx1"/>
              </a:solidFill>
              <a:effectLst/>
            </a:endParaRPr>
          </a:p>
          <a:p>
            <a:pPr indent="0" algn="just" fontAlgn="auto">
              <a:buNone/>
            </a:pPr>
            <a:r>
              <a:rPr lang="en-US" altLang="zh-CN" sz="1600" kern="1000" dirty="0">
                <a:solidFill>
                  <a:schemeClr val="tx1"/>
                </a:solidFill>
                <a:effectLst/>
              </a:rPr>
              <a:t>6</a:t>
            </a:r>
            <a:r>
              <a:rPr lang="zh-CN" altLang="zh-CN" sz="1600" kern="1000" dirty="0">
                <a:solidFill>
                  <a:schemeClr val="tx1"/>
                </a:solidFill>
                <a:effectLst/>
              </a:rPr>
              <a:t>）</a:t>
            </a:r>
            <a:r>
              <a:rPr lang="en-US" altLang="zh-CN" sz="1600" kern="1000" dirty="0" err="1">
                <a:solidFill>
                  <a:schemeClr val="tx1"/>
                </a:solidFill>
                <a:effectLst/>
              </a:rPr>
              <a:t>staged_predict_proba</a:t>
            </a:r>
            <a:r>
              <a:rPr lang="en-US" altLang="zh-CN" sz="1600" kern="1000" dirty="0">
                <a:solidFill>
                  <a:schemeClr val="tx1"/>
                </a:solidFill>
                <a:effectLst/>
              </a:rPr>
              <a:t>(X)</a:t>
            </a:r>
            <a:r>
              <a:rPr lang="zh-CN" altLang="zh-CN" sz="1600" kern="1000" dirty="0">
                <a:solidFill>
                  <a:schemeClr val="tx1"/>
                </a:solidFill>
                <a:effectLst/>
              </a:rPr>
              <a:t>：返回一个二维数组，数组的元素依次是每一轮迭代结束时尚未完成的集成分类器预测</a:t>
            </a:r>
            <a:r>
              <a:rPr lang="en-US" altLang="zh-CN" sz="1600" kern="1000" dirty="0">
                <a:solidFill>
                  <a:schemeClr val="tx1"/>
                </a:solidFill>
                <a:effectLst/>
              </a:rPr>
              <a:t>X</a:t>
            </a:r>
            <a:r>
              <a:rPr lang="zh-CN" altLang="zh-CN" sz="1600" kern="1000" dirty="0">
                <a:solidFill>
                  <a:schemeClr val="tx1"/>
                </a:solidFill>
                <a:effectLst/>
              </a:rPr>
              <a:t>为各个类别的概率值。</a:t>
            </a:r>
            <a:endParaRPr lang="zh-CN" altLang="zh-CN" sz="1600" kern="1000" dirty="0">
              <a:solidFill>
                <a:schemeClr val="tx1"/>
              </a:solidFill>
              <a:effectLst/>
            </a:endParaRPr>
          </a:p>
          <a:p>
            <a:pPr indent="0" algn="just" fontAlgn="auto">
              <a:buNone/>
            </a:pPr>
            <a:r>
              <a:rPr lang="en-US" altLang="zh-CN" sz="1600" kern="1000" dirty="0">
                <a:solidFill>
                  <a:schemeClr val="tx1"/>
                </a:solidFill>
                <a:effectLst/>
              </a:rPr>
              <a:t>7</a:t>
            </a:r>
            <a:r>
              <a:rPr lang="zh-CN" altLang="zh-CN" sz="1600" kern="1000" dirty="0">
                <a:solidFill>
                  <a:schemeClr val="tx1"/>
                </a:solidFill>
                <a:effectLst/>
              </a:rPr>
              <a:t>）</a:t>
            </a:r>
            <a:r>
              <a:rPr lang="en-US" altLang="zh-CN" sz="1600" kern="1000" dirty="0" err="1">
                <a:solidFill>
                  <a:schemeClr val="tx1"/>
                </a:solidFill>
                <a:effectLst/>
              </a:rPr>
              <a:t>staged_predict</a:t>
            </a:r>
            <a:r>
              <a:rPr lang="en-US" altLang="zh-CN" sz="1600" kern="1000" dirty="0">
                <a:solidFill>
                  <a:schemeClr val="tx1"/>
                </a:solidFill>
                <a:effectLst/>
              </a:rPr>
              <a:t>(X)</a:t>
            </a:r>
            <a:r>
              <a:rPr lang="zh-CN" altLang="zh-CN" sz="1600" kern="1000" dirty="0">
                <a:solidFill>
                  <a:schemeClr val="tx1"/>
                </a:solidFill>
                <a:effectLst/>
              </a:rPr>
              <a:t>：返回一个数组，数组</a:t>
            </a:r>
            <a:r>
              <a:rPr lang="zh-CN" altLang="zh-CN" sz="1600" kern="1000" dirty="0">
                <a:solidFill>
                  <a:srgbClr val="000000"/>
                </a:solidFill>
                <a:effectLst/>
              </a:rPr>
              <a:t>的元素依次是每一轮迭代结束时尚未完成的集成分类器的预测值。</a:t>
            </a:r>
            <a:r>
              <a:rPr lang="en-US" altLang="zh-CN" sz="1600" kern="1000" dirty="0">
                <a:solidFill>
                  <a:srgbClr val="000000"/>
                </a:solidFill>
                <a:effectLst/>
              </a:rPr>
              <a:t>8</a:t>
            </a:r>
            <a:r>
              <a:rPr lang="zh-CN" altLang="zh-CN" sz="1600" kern="1000" dirty="0">
                <a:solidFill>
                  <a:srgbClr val="000000"/>
                </a:solidFill>
                <a:effectLst/>
              </a:rPr>
              <a:t>）</a:t>
            </a:r>
            <a:r>
              <a:rPr lang="en-US" altLang="zh-CN" sz="1600" kern="1000" dirty="0" err="1">
                <a:solidFill>
                  <a:srgbClr val="000000"/>
                </a:solidFill>
                <a:effectLst/>
              </a:rPr>
              <a:t>staged_score</a:t>
            </a:r>
            <a:r>
              <a:rPr lang="en-US" altLang="zh-CN" sz="1600" kern="1000" dirty="0">
                <a:solidFill>
                  <a:srgbClr val="000000"/>
                </a:solidFill>
                <a:effectLst/>
              </a:rPr>
              <a:t>(X, y[, </a:t>
            </a:r>
            <a:r>
              <a:rPr lang="en-US" altLang="zh-CN" sz="1600" kern="1000" dirty="0" err="1">
                <a:solidFill>
                  <a:srgbClr val="000000"/>
                </a:solidFill>
                <a:effectLst/>
              </a:rPr>
              <a:t>sample_weight</a:t>
            </a:r>
            <a:r>
              <a:rPr lang="en-US" altLang="zh-CN" sz="1600" kern="1000" dirty="0">
                <a:solidFill>
                  <a:srgbClr val="000000"/>
                </a:solidFill>
                <a:effectLst/>
              </a:rPr>
              <a:t>])</a:t>
            </a:r>
            <a:r>
              <a:rPr lang="zh-CN" altLang="zh-CN" sz="1600" kern="1000" dirty="0">
                <a:solidFill>
                  <a:srgbClr val="000000"/>
                </a:solidFill>
                <a:effectLst/>
              </a:rPr>
              <a:t>：返回一个数组，数组的元素依次是每一轮迭代结束时尚未完成的集成分类器的预测准确率。</a:t>
            </a:r>
            <a:endParaRPr lang="zh-CN" altLang="zh-CN" sz="1600" kern="1000" dirty="0">
              <a:solidFill>
                <a:srgbClr val="000000"/>
              </a:solidFill>
              <a:effectLst/>
            </a:endParaRPr>
          </a:p>
          <a:p>
            <a:pPr marL="360045" indent="0" fontAlgn="auto">
              <a:buNone/>
            </a:pPr>
            <a:endParaRPr kumimoji="1" lang="zh-CN" altLang="en-US" sz="1600" dirty="0">
              <a:solidFill>
                <a:schemeClr val="tx1"/>
              </a:solidFill>
            </a:endParaRPr>
          </a:p>
        </p:txBody>
      </p:sp>
      <p:sp>
        <p:nvSpPr>
          <p:cNvPr id="100" name="文本框 99"/>
          <p:cNvSpPr txBox="1"/>
          <p:nvPr/>
        </p:nvSpPr>
        <p:spPr>
          <a:xfrm>
            <a:off x="-2373310" y="5902207"/>
            <a:ext cx="4013200" cy="337185"/>
          </a:xfrm>
          <a:prstGeom prst="rect">
            <a:avLst/>
          </a:prstGeom>
          <a:noFill/>
          <a:ln w="9525">
            <a:noFill/>
          </a:ln>
        </p:spPr>
        <p:txBody>
          <a:bodyPr wrap="square">
            <a:spAutoFit/>
          </a:bodyPr>
          <a:lstStyle/>
          <a:p>
            <a:pPr indent="0" algn="ctr"/>
            <a:r>
              <a:rPr lang="en-US" sz="1600" b="0" dirty="0">
                <a:solidFill>
                  <a:srgbClr val="000000"/>
                </a:solidFill>
                <a:latin typeface="宋体" panose="02010600030101010101" pitchFamily="2" charset="-122"/>
              </a:rPr>
              <a:t>        </a:t>
            </a:r>
            <a:r>
              <a:rPr lang="en-US" sz="1600" b="0" dirty="0">
                <a:solidFill>
                  <a:srgbClr val="000000"/>
                </a:solidFill>
                <a:latin typeface="Calibri" panose="020F0502020204030204" pitchFamily="34" charset="0"/>
              </a:rPr>
              <a:t>               </a:t>
            </a:r>
            <a:r>
              <a:rPr lang="en-US" sz="1600" b="0" dirty="0">
                <a:solidFill>
                  <a:srgbClr val="000000"/>
                </a:solidFill>
                <a:latin typeface="宋体" panose="02010600030101010101" pitchFamily="2" charset="-122"/>
              </a:rPr>
              <a:t>                                                                               </a:t>
            </a:r>
            <a:endParaRPr lang="zh-CN" altLang="en-US" sz="1600" dirty="0"/>
          </a:p>
        </p:txBody>
      </p:sp>
      <p:sp>
        <p:nvSpPr>
          <p:cNvPr id="9" name="文本框 8"/>
          <p:cNvSpPr txBox="1"/>
          <p:nvPr/>
        </p:nvSpPr>
        <p:spPr>
          <a:xfrm>
            <a:off x="6445606" y="6727207"/>
            <a:ext cx="5080000" cy="337185"/>
          </a:xfrm>
          <a:prstGeom prst="rect">
            <a:avLst/>
          </a:prstGeom>
          <a:noFill/>
          <a:ln w="9525">
            <a:noFill/>
          </a:ln>
        </p:spPr>
        <p:txBody>
          <a:bodyPr>
            <a:spAutoFit/>
          </a:bodyPr>
          <a:lstStyle/>
          <a:p>
            <a:pPr indent="0" algn="ctr"/>
            <a:endParaRPr lang="zh-CN" altLang="en-US" sz="1600" dirty="0"/>
          </a:p>
        </p:txBody>
      </p:sp>
      <p:sp>
        <p:nvSpPr>
          <p:cNvPr id="10" name="文本框 9"/>
          <p:cNvSpPr txBox="1"/>
          <p:nvPr/>
        </p:nvSpPr>
        <p:spPr>
          <a:xfrm>
            <a:off x="6097270" y="5674995"/>
            <a:ext cx="4013200" cy="337185"/>
          </a:xfrm>
          <a:prstGeom prst="rect">
            <a:avLst/>
          </a:prstGeom>
          <a:noFill/>
          <a:ln w="9525">
            <a:noFill/>
          </a:ln>
        </p:spPr>
        <p:txBody>
          <a:bodyPr wrap="square">
            <a:spAutoFit/>
          </a:bodyPr>
          <a:lstStyle/>
          <a:p>
            <a:pPr indent="0" algn="ctr"/>
            <a:r>
              <a:rPr lang="en-US" sz="1600" b="0" dirty="0">
                <a:solidFill>
                  <a:srgbClr val="000000"/>
                </a:solidFill>
                <a:latin typeface="宋体" panose="02010600030101010101" pitchFamily="2" charset="-122"/>
              </a:rPr>
              <a:t>        </a:t>
            </a:r>
            <a:r>
              <a:rPr lang="en-US" sz="1600" b="0" dirty="0">
                <a:solidFill>
                  <a:srgbClr val="000000"/>
                </a:solidFill>
                <a:latin typeface="Calibri" panose="020F0502020204030204" pitchFamily="34" charset="0"/>
              </a:rPr>
              <a:t>               </a:t>
            </a:r>
            <a:r>
              <a:rPr lang="en-US" sz="1600" b="0" dirty="0">
                <a:solidFill>
                  <a:srgbClr val="000000"/>
                </a:solidFill>
                <a:latin typeface="宋体" panose="02010600030101010101" pitchFamily="2" charset="-122"/>
              </a:rPr>
              <a:t>                                                                               </a:t>
            </a:r>
            <a:endParaRPr lang="zh-CN" altLang="en-US" sz="16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FF206FCC-0CBB-4DF4-89C1-3C9DB4B6E776}" type="slidenum">
              <a:rPr lang="zh-CN" altLang="en-US" smtClean="0"/>
            </a:fld>
            <a:r>
              <a:rPr lang="zh-CN" altLang="en-US"/>
              <a:t>   </a:t>
            </a:r>
            <a:endParaRPr lang="zh-CN" altLang="en-US" dirty="0"/>
          </a:p>
        </p:txBody>
      </p:sp>
      <p:sp>
        <p:nvSpPr>
          <p:cNvPr id="5" name="内容占位符 1"/>
          <p:cNvSpPr>
            <a:spLocks noGrp="1"/>
          </p:cNvSpPr>
          <p:nvPr>
            <p:ph idx="1"/>
          </p:nvPr>
        </p:nvSpPr>
        <p:spPr>
          <a:xfrm>
            <a:off x="342928" y="1116352"/>
            <a:ext cx="10237796" cy="5484908"/>
          </a:xfrm>
        </p:spPr>
        <p:txBody>
          <a:bodyPr>
            <a:normAutofit/>
          </a:bodyPr>
          <a:lstStyle/>
          <a:p>
            <a:pPr marL="0" indent="0"/>
            <a:r>
              <a:rPr lang="en-US" altLang="zh-CN" kern="1000" dirty="0">
                <a:solidFill>
                  <a:schemeClr val="tx1"/>
                </a:solidFill>
                <a:effectLst/>
              </a:rPr>
              <a:t>【</a:t>
            </a:r>
            <a:r>
              <a:rPr lang="zh-CN" altLang="en-US" kern="1000" dirty="0">
                <a:solidFill>
                  <a:schemeClr val="tx1"/>
                </a:solidFill>
                <a:effectLst/>
              </a:rPr>
              <a:t>例</a:t>
            </a:r>
            <a:r>
              <a:rPr lang="en-US" altLang="zh-CN" kern="1000" dirty="0">
                <a:solidFill>
                  <a:schemeClr val="tx1"/>
                </a:solidFill>
                <a:effectLst/>
              </a:rPr>
              <a:t>7-2】</a:t>
            </a:r>
            <a:r>
              <a:rPr lang="zh-CN" altLang="zh-CN" kern="1000" dirty="0">
                <a:solidFill>
                  <a:schemeClr val="tx1"/>
                </a:solidFill>
                <a:effectLst/>
              </a:rPr>
              <a:t>对</a:t>
            </a:r>
            <a:r>
              <a:rPr lang="en-US" altLang="zh-CN" kern="1000" dirty="0">
                <a:solidFill>
                  <a:schemeClr val="tx1"/>
                </a:solidFill>
                <a:effectLst/>
              </a:rPr>
              <a:t>AdaBoost</a:t>
            </a:r>
            <a:r>
              <a:rPr lang="zh-CN" altLang="zh-CN" kern="1000" dirty="0">
                <a:solidFill>
                  <a:schemeClr val="tx1"/>
                </a:solidFill>
                <a:effectLst/>
              </a:rPr>
              <a:t>分类器和决策树分类器进行比较</a:t>
            </a:r>
            <a:r>
              <a:rPr lang="zh-CN" altLang="zh-CN" kern="1000" dirty="0">
                <a:solidFill>
                  <a:schemeClr val="tx1"/>
                </a:solidFill>
                <a:effectLst/>
                <a:cs typeface="Times New Roman" panose="02020603050405020304" pitchFamily="18" charset="0"/>
              </a:rPr>
              <a:t>：</a:t>
            </a:r>
            <a:endParaRPr kumimoji="1" lang="en-US" altLang="zh-CN" dirty="0">
              <a:solidFill>
                <a:schemeClr val="tx1"/>
              </a:solidFill>
            </a:endParaRPr>
          </a:p>
          <a:p>
            <a:pPr marL="533400" marR="120015" indent="0" algn="just">
              <a:buNone/>
            </a:pPr>
            <a:r>
              <a:rPr lang="en-US" altLang="zh-CN" sz="1600" kern="1000" dirty="0">
                <a:solidFill>
                  <a:schemeClr val="tx1"/>
                </a:solidFill>
                <a:effectLst/>
              </a:rPr>
              <a:t>from </a:t>
            </a:r>
            <a:r>
              <a:rPr lang="en-US" altLang="zh-CN" sz="1600" kern="1000" dirty="0" err="1">
                <a:solidFill>
                  <a:schemeClr val="tx1"/>
                </a:solidFill>
                <a:effectLst/>
              </a:rPr>
              <a:t>sklearn.datasets</a:t>
            </a:r>
            <a:r>
              <a:rPr lang="en-US" altLang="zh-CN" sz="1600" kern="1000" dirty="0">
                <a:solidFill>
                  <a:schemeClr val="tx1"/>
                </a:solidFill>
                <a:effectLst/>
              </a:rPr>
              <a:t> import </a:t>
            </a:r>
            <a:r>
              <a:rPr lang="en-US" altLang="zh-CN" sz="1600" kern="1000" dirty="0" err="1">
                <a:solidFill>
                  <a:schemeClr val="tx1"/>
                </a:solidFill>
                <a:effectLst/>
              </a:rPr>
              <a:t>load_breast_cancer</a:t>
            </a:r>
            <a:endParaRPr lang="zh-CN" altLang="zh-CN" sz="1600" kern="1000" dirty="0">
              <a:solidFill>
                <a:schemeClr val="tx1"/>
              </a:solidFill>
              <a:effectLst/>
            </a:endParaRPr>
          </a:p>
          <a:p>
            <a:pPr marL="533400" marR="120015" indent="0" algn="just">
              <a:buNone/>
            </a:pPr>
            <a:r>
              <a:rPr lang="en-US" altLang="zh-CN" sz="1600" kern="1000" dirty="0">
                <a:solidFill>
                  <a:schemeClr val="tx1"/>
                </a:solidFill>
                <a:effectLst/>
              </a:rPr>
              <a:t>from </a:t>
            </a:r>
            <a:r>
              <a:rPr lang="en-US" altLang="zh-CN" sz="1600" kern="1000" dirty="0" err="1">
                <a:solidFill>
                  <a:schemeClr val="tx1"/>
                </a:solidFill>
                <a:effectLst/>
              </a:rPr>
              <a:t>sklearn.tree</a:t>
            </a:r>
            <a:r>
              <a:rPr lang="en-US" altLang="zh-CN" sz="1600" kern="1000" dirty="0">
                <a:solidFill>
                  <a:schemeClr val="tx1"/>
                </a:solidFill>
                <a:effectLst/>
              </a:rPr>
              <a:t> import </a:t>
            </a:r>
            <a:r>
              <a:rPr lang="en-US" altLang="zh-CN" sz="1600" kern="1000" dirty="0" err="1">
                <a:solidFill>
                  <a:schemeClr val="accent6">
                    <a:lumMod val="50000"/>
                  </a:schemeClr>
                </a:solidFill>
                <a:effectLst/>
              </a:rPr>
              <a:t>DecisionTreeClassifier</a:t>
            </a:r>
            <a:endParaRPr lang="zh-CN" altLang="zh-CN" sz="1600" kern="1000" dirty="0">
              <a:solidFill>
                <a:schemeClr val="accent6">
                  <a:lumMod val="50000"/>
                </a:schemeClr>
              </a:solidFill>
              <a:effectLst/>
            </a:endParaRPr>
          </a:p>
          <a:p>
            <a:pPr marL="533400" marR="120015" indent="0" algn="just">
              <a:buNone/>
            </a:pPr>
            <a:r>
              <a:rPr lang="en-US" altLang="zh-CN" sz="1600" kern="1000" dirty="0">
                <a:solidFill>
                  <a:schemeClr val="tx1"/>
                </a:solidFill>
                <a:effectLst/>
              </a:rPr>
              <a:t>from </a:t>
            </a:r>
            <a:r>
              <a:rPr lang="en-US" altLang="zh-CN" sz="1600" kern="1000" dirty="0" err="1">
                <a:solidFill>
                  <a:schemeClr val="tx1"/>
                </a:solidFill>
                <a:effectLst/>
              </a:rPr>
              <a:t>sklearn.ensemble</a:t>
            </a:r>
            <a:r>
              <a:rPr lang="en-US" altLang="zh-CN" sz="1600" kern="1000" dirty="0">
                <a:solidFill>
                  <a:schemeClr val="tx1"/>
                </a:solidFill>
                <a:effectLst/>
              </a:rPr>
              <a:t> import </a:t>
            </a:r>
            <a:r>
              <a:rPr lang="en-US" altLang="zh-CN" sz="1600" kern="1000" dirty="0" err="1">
                <a:solidFill>
                  <a:schemeClr val="accent6">
                    <a:lumMod val="50000"/>
                  </a:schemeClr>
                </a:solidFill>
                <a:effectLst/>
              </a:rPr>
              <a:t>AdaBoostClassifier</a:t>
            </a:r>
            <a:endParaRPr lang="zh-CN" altLang="zh-CN" sz="1600" kern="1000" dirty="0">
              <a:solidFill>
                <a:schemeClr val="accent6">
                  <a:lumMod val="50000"/>
                </a:schemeClr>
              </a:solidFill>
              <a:effectLst/>
            </a:endParaRPr>
          </a:p>
          <a:p>
            <a:pPr marL="533400" marR="120015" indent="0" algn="just">
              <a:buNone/>
            </a:pPr>
            <a:r>
              <a:rPr lang="en-US" altLang="zh-CN" sz="1600" kern="1000" dirty="0">
                <a:solidFill>
                  <a:schemeClr val="tx1"/>
                </a:solidFill>
                <a:effectLst/>
              </a:rPr>
              <a:t>from </a:t>
            </a:r>
            <a:r>
              <a:rPr lang="en-US" altLang="zh-CN" sz="1600" kern="1000" dirty="0" err="1">
                <a:solidFill>
                  <a:schemeClr val="tx1"/>
                </a:solidFill>
                <a:effectLst/>
              </a:rPr>
              <a:t>sklearn.model_selection</a:t>
            </a:r>
            <a:r>
              <a:rPr lang="en-US" altLang="zh-CN" sz="1600" kern="1000" dirty="0">
                <a:solidFill>
                  <a:schemeClr val="tx1"/>
                </a:solidFill>
                <a:effectLst/>
              </a:rPr>
              <a:t> import </a:t>
            </a:r>
            <a:r>
              <a:rPr lang="en-US" altLang="zh-CN" sz="1600" kern="1000" dirty="0" err="1">
                <a:solidFill>
                  <a:schemeClr val="tx1"/>
                </a:solidFill>
                <a:effectLst/>
              </a:rPr>
              <a:t>train_test_split,cross_val_score</a:t>
            </a:r>
            <a:endParaRPr lang="zh-CN" altLang="zh-CN" sz="1600" kern="1000" dirty="0">
              <a:solidFill>
                <a:schemeClr val="tx1"/>
              </a:solidFill>
              <a:effectLst/>
            </a:endParaRPr>
          </a:p>
          <a:p>
            <a:pPr marL="533400" marR="120015" indent="0" algn="just">
              <a:buNone/>
            </a:pPr>
            <a:r>
              <a:rPr lang="en-US" altLang="zh-CN" sz="1600" kern="1000" dirty="0">
                <a:solidFill>
                  <a:schemeClr val="tx1"/>
                </a:solidFill>
                <a:effectLst/>
              </a:rPr>
              <a:t>import </a:t>
            </a:r>
            <a:r>
              <a:rPr lang="en-US" altLang="zh-CN" sz="1600" kern="1000" dirty="0" err="1">
                <a:solidFill>
                  <a:schemeClr val="tx1"/>
                </a:solidFill>
                <a:effectLst/>
              </a:rPr>
              <a:t>matplotlib.pyplot</a:t>
            </a:r>
            <a:r>
              <a:rPr lang="en-US" altLang="zh-CN" sz="1600" kern="1000" dirty="0">
                <a:solidFill>
                  <a:schemeClr val="tx1"/>
                </a:solidFill>
                <a:effectLst/>
              </a:rPr>
              <a:t> as </a:t>
            </a:r>
            <a:r>
              <a:rPr lang="en-US" altLang="zh-CN" sz="1600" kern="1000" dirty="0" err="1">
                <a:solidFill>
                  <a:schemeClr val="tx1"/>
                </a:solidFill>
                <a:effectLst/>
              </a:rPr>
              <a:t>plt</a:t>
            </a:r>
            <a:endParaRPr lang="zh-CN" altLang="zh-CN" sz="1600" kern="1000" dirty="0">
              <a:solidFill>
                <a:schemeClr val="tx1"/>
              </a:solidFill>
              <a:effectLst/>
            </a:endParaRPr>
          </a:p>
          <a:p>
            <a:pPr marL="533400" marR="120015" indent="0" algn="just">
              <a:buNone/>
            </a:pPr>
            <a:r>
              <a:rPr lang="en-US" altLang="zh-CN" sz="1600" kern="1000" dirty="0">
                <a:solidFill>
                  <a:schemeClr val="tx1"/>
                </a:solidFill>
                <a:effectLst/>
              </a:rPr>
              <a:t>cancer = </a:t>
            </a:r>
            <a:r>
              <a:rPr lang="en-US" altLang="zh-CN" sz="1600" kern="1000" dirty="0" err="1">
                <a:solidFill>
                  <a:schemeClr val="tx1"/>
                </a:solidFill>
                <a:effectLst/>
              </a:rPr>
              <a:t>load_breast_cancer</a:t>
            </a:r>
            <a:r>
              <a:rPr lang="en-US" altLang="zh-CN" sz="1600" kern="1000" dirty="0">
                <a:solidFill>
                  <a:schemeClr val="tx1"/>
                </a:solidFill>
                <a:effectLst/>
              </a:rPr>
              <a:t>()</a:t>
            </a:r>
            <a:endParaRPr lang="zh-CN" altLang="zh-CN" sz="1600" kern="1000" dirty="0">
              <a:solidFill>
                <a:schemeClr val="tx1"/>
              </a:solidFill>
              <a:effectLst/>
            </a:endParaRPr>
          </a:p>
          <a:p>
            <a:pPr marL="533400" marR="120015" indent="0" algn="l">
              <a:buNone/>
            </a:pPr>
            <a:r>
              <a:rPr lang="en-US" altLang="zh-CN" sz="1600" kern="1000" dirty="0" err="1">
                <a:solidFill>
                  <a:schemeClr val="tx1"/>
                </a:solidFill>
                <a:effectLst/>
              </a:rPr>
              <a:t>x_train</a:t>
            </a:r>
            <a:r>
              <a:rPr lang="en-US" altLang="zh-CN" sz="1600" kern="1000" dirty="0">
                <a:solidFill>
                  <a:schemeClr val="tx1"/>
                </a:solidFill>
                <a:effectLst/>
              </a:rPr>
              <a:t>, </a:t>
            </a:r>
            <a:r>
              <a:rPr lang="en-US" altLang="zh-CN" sz="1600" kern="1000" dirty="0" err="1">
                <a:solidFill>
                  <a:schemeClr val="tx1"/>
                </a:solidFill>
                <a:effectLst/>
              </a:rPr>
              <a:t>x_test</a:t>
            </a:r>
            <a:r>
              <a:rPr lang="en-US" altLang="zh-CN" sz="1600" kern="1000" dirty="0">
                <a:solidFill>
                  <a:schemeClr val="tx1"/>
                </a:solidFill>
                <a:effectLst/>
              </a:rPr>
              <a:t>, </a:t>
            </a:r>
            <a:r>
              <a:rPr lang="en-US" altLang="zh-CN" sz="1600" kern="1000" dirty="0" err="1">
                <a:solidFill>
                  <a:schemeClr val="tx1"/>
                </a:solidFill>
                <a:effectLst/>
              </a:rPr>
              <a:t>y_train</a:t>
            </a:r>
            <a:r>
              <a:rPr lang="en-US" altLang="zh-CN" sz="1600" kern="1000" dirty="0">
                <a:solidFill>
                  <a:schemeClr val="tx1"/>
                </a:solidFill>
                <a:effectLst/>
              </a:rPr>
              <a:t>, </a:t>
            </a:r>
            <a:r>
              <a:rPr lang="en-US" altLang="zh-CN" sz="1600" kern="1000" dirty="0" err="1">
                <a:solidFill>
                  <a:schemeClr val="tx1"/>
                </a:solidFill>
                <a:effectLst/>
              </a:rPr>
              <a:t>y_test</a:t>
            </a:r>
            <a:r>
              <a:rPr lang="en-US" altLang="zh-CN" sz="1600" kern="1000" dirty="0">
                <a:solidFill>
                  <a:schemeClr val="tx1"/>
                </a:solidFill>
                <a:effectLst/>
              </a:rPr>
              <a:t> = </a:t>
            </a:r>
            <a:r>
              <a:rPr lang="en-US" altLang="zh-CN" sz="1600" kern="1000" dirty="0" err="1">
                <a:solidFill>
                  <a:schemeClr val="tx1"/>
                </a:solidFill>
                <a:effectLst/>
              </a:rPr>
              <a:t>train_test_split</a:t>
            </a:r>
            <a:r>
              <a:rPr lang="en-US" altLang="zh-CN" sz="1600" kern="1000" dirty="0">
                <a:solidFill>
                  <a:schemeClr val="tx1"/>
                </a:solidFill>
                <a:effectLst/>
              </a:rPr>
              <a:t>(</a:t>
            </a:r>
            <a:r>
              <a:rPr lang="en-US" altLang="zh-CN" sz="1600" kern="1000" dirty="0" err="1">
                <a:solidFill>
                  <a:schemeClr val="tx1"/>
                </a:solidFill>
                <a:effectLst/>
              </a:rPr>
              <a:t>cancer.data,cancer.target</a:t>
            </a:r>
            <a:r>
              <a:rPr lang="en-US" altLang="zh-CN" sz="1600" kern="1000" dirty="0">
                <a:solidFill>
                  <a:schemeClr val="tx1"/>
                </a:solidFill>
                <a:effectLst/>
              </a:rPr>
              <a:t>, </a:t>
            </a:r>
            <a:r>
              <a:rPr lang="en-US" altLang="zh-CN" sz="1600" kern="1000" dirty="0" err="1">
                <a:solidFill>
                  <a:schemeClr val="tx1"/>
                </a:solidFill>
                <a:effectLst/>
              </a:rPr>
              <a:t>test_size</a:t>
            </a:r>
            <a:r>
              <a:rPr lang="en-US" altLang="zh-CN" sz="1600" kern="1000" dirty="0">
                <a:solidFill>
                  <a:schemeClr val="tx1"/>
                </a:solidFill>
                <a:effectLst/>
              </a:rPr>
              <a:t>=0.3, </a:t>
            </a:r>
            <a:r>
              <a:rPr lang="en-US" altLang="zh-CN" sz="1600" kern="1000" dirty="0" err="1">
                <a:solidFill>
                  <a:schemeClr val="tx1"/>
                </a:solidFill>
                <a:effectLst/>
              </a:rPr>
              <a:t>random_state</a:t>
            </a:r>
            <a:r>
              <a:rPr lang="en-US" altLang="zh-CN" sz="1600" kern="1000" dirty="0">
                <a:solidFill>
                  <a:schemeClr val="tx1"/>
                </a:solidFill>
                <a:effectLst/>
              </a:rPr>
              <a:t>=1)</a:t>
            </a:r>
            <a:endParaRPr lang="zh-CN" altLang="zh-CN" sz="1600" kern="1000" dirty="0">
              <a:solidFill>
                <a:schemeClr val="tx1"/>
              </a:solidFill>
              <a:effectLst/>
            </a:endParaRPr>
          </a:p>
          <a:p>
            <a:pPr marL="360045" indent="0" fontAlgn="auto">
              <a:buNone/>
            </a:pPr>
            <a:endParaRPr kumimoji="1" lang="zh-CN" altLang="en-US" sz="1600" dirty="0">
              <a:solidFill>
                <a:schemeClr val="tx1"/>
              </a:solidFill>
            </a:endParaRPr>
          </a:p>
        </p:txBody>
      </p:sp>
      <p:sp>
        <p:nvSpPr>
          <p:cNvPr id="100" name="文本框 99"/>
          <p:cNvSpPr txBox="1"/>
          <p:nvPr/>
        </p:nvSpPr>
        <p:spPr>
          <a:xfrm>
            <a:off x="-2373310" y="5902207"/>
            <a:ext cx="4013200" cy="337185"/>
          </a:xfrm>
          <a:prstGeom prst="rect">
            <a:avLst/>
          </a:prstGeom>
          <a:noFill/>
          <a:ln w="9525">
            <a:noFill/>
          </a:ln>
        </p:spPr>
        <p:txBody>
          <a:bodyPr wrap="square">
            <a:spAutoFit/>
          </a:bodyPr>
          <a:lstStyle/>
          <a:p>
            <a:pPr indent="0" algn="ctr"/>
            <a:r>
              <a:rPr lang="en-US" sz="1600" b="0" dirty="0">
                <a:solidFill>
                  <a:srgbClr val="000000"/>
                </a:solidFill>
                <a:latin typeface="宋体" panose="02010600030101010101" pitchFamily="2" charset="-122"/>
              </a:rPr>
              <a:t>        </a:t>
            </a:r>
            <a:r>
              <a:rPr lang="en-US" sz="1600" b="0" dirty="0">
                <a:solidFill>
                  <a:srgbClr val="000000"/>
                </a:solidFill>
                <a:latin typeface="Calibri" panose="020F0502020204030204" pitchFamily="34" charset="0"/>
              </a:rPr>
              <a:t>               </a:t>
            </a:r>
            <a:r>
              <a:rPr lang="en-US" sz="1600" b="0" dirty="0">
                <a:solidFill>
                  <a:srgbClr val="000000"/>
                </a:solidFill>
                <a:latin typeface="宋体" panose="02010600030101010101" pitchFamily="2" charset="-122"/>
              </a:rPr>
              <a:t>                                                                               </a:t>
            </a:r>
            <a:endParaRPr lang="zh-CN" altLang="en-US" sz="1600" dirty="0"/>
          </a:p>
        </p:txBody>
      </p:sp>
      <p:sp>
        <p:nvSpPr>
          <p:cNvPr id="9" name="文本框 8"/>
          <p:cNvSpPr txBox="1"/>
          <p:nvPr/>
        </p:nvSpPr>
        <p:spPr>
          <a:xfrm>
            <a:off x="6445606" y="6727207"/>
            <a:ext cx="5080000" cy="337185"/>
          </a:xfrm>
          <a:prstGeom prst="rect">
            <a:avLst/>
          </a:prstGeom>
          <a:noFill/>
          <a:ln w="9525">
            <a:noFill/>
          </a:ln>
        </p:spPr>
        <p:txBody>
          <a:bodyPr>
            <a:spAutoFit/>
          </a:bodyPr>
          <a:lstStyle/>
          <a:p>
            <a:pPr indent="0" algn="ctr"/>
            <a:endParaRPr lang="zh-CN" altLang="en-US" sz="1600" dirty="0"/>
          </a:p>
        </p:txBody>
      </p:sp>
      <p:sp>
        <p:nvSpPr>
          <p:cNvPr id="10" name="文本框 9"/>
          <p:cNvSpPr txBox="1"/>
          <p:nvPr/>
        </p:nvSpPr>
        <p:spPr>
          <a:xfrm>
            <a:off x="6097270" y="5674995"/>
            <a:ext cx="4013200" cy="337185"/>
          </a:xfrm>
          <a:prstGeom prst="rect">
            <a:avLst/>
          </a:prstGeom>
          <a:noFill/>
          <a:ln w="9525">
            <a:noFill/>
          </a:ln>
        </p:spPr>
        <p:txBody>
          <a:bodyPr wrap="square">
            <a:spAutoFit/>
          </a:bodyPr>
          <a:lstStyle/>
          <a:p>
            <a:pPr indent="0" algn="ctr"/>
            <a:r>
              <a:rPr lang="en-US" sz="1600" b="0" dirty="0">
                <a:solidFill>
                  <a:srgbClr val="000000"/>
                </a:solidFill>
                <a:latin typeface="宋体" panose="02010600030101010101" pitchFamily="2" charset="-122"/>
              </a:rPr>
              <a:t>        </a:t>
            </a:r>
            <a:r>
              <a:rPr lang="en-US" sz="1600" b="0" dirty="0">
                <a:solidFill>
                  <a:srgbClr val="000000"/>
                </a:solidFill>
                <a:latin typeface="Calibri" panose="020F0502020204030204" pitchFamily="34" charset="0"/>
              </a:rPr>
              <a:t>               </a:t>
            </a:r>
            <a:r>
              <a:rPr lang="en-US" sz="1600" b="0" dirty="0">
                <a:solidFill>
                  <a:srgbClr val="000000"/>
                </a:solidFill>
                <a:latin typeface="宋体" panose="02010600030101010101" pitchFamily="2" charset="-122"/>
              </a:rPr>
              <a:t>                                                                               </a:t>
            </a:r>
            <a:endParaRPr lang="zh-CN" altLang="en-US" sz="1600" dirty="0"/>
          </a:p>
        </p:txBody>
      </p:sp>
      <p:sp>
        <p:nvSpPr>
          <p:cNvPr id="11" name="标题 3"/>
          <p:cNvSpPr>
            <a:spLocks noGrp="1"/>
          </p:cNvSpPr>
          <p:nvPr>
            <p:ph type="title"/>
          </p:nvPr>
        </p:nvSpPr>
        <p:spPr>
          <a:xfrm>
            <a:off x="425869" y="316516"/>
            <a:ext cx="4776874" cy="606839"/>
          </a:xfrm>
          <a:solidFill>
            <a:srgbClr val="92D050"/>
          </a:solidFill>
        </p:spPr>
        <p:txBody>
          <a:bodyPr/>
          <a:lstStyle/>
          <a:p>
            <a:pPr algn="just"/>
            <a:r>
              <a:rPr lang="zh-CN" altLang="en-US" dirty="0"/>
              <a:t>算法实例</a:t>
            </a:r>
            <a:endParaRPr lang="en-US" altLang="zh-CN"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FF206FCC-0CBB-4DF4-89C1-3C9DB4B6E776}" type="slidenum">
              <a:rPr lang="zh-CN" altLang="en-US" smtClean="0"/>
            </a:fld>
            <a:r>
              <a:rPr lang="zh-CN" altLang="en-US"/>
              <a:t>   </a:t>
            </a:r>
            <a:endParaRPr lang="zh-CN" altLang="en-US" dirty="0"/>
          </a:p>
        </p:txBody>
      </p:sp>
      <p:sp>
        <p:nvSpPr>
          <p:cNvPr id="5" name="内容占位符 1"/>
          <p:cNvSpPr>
            <a:spLocks noGrp="1"/>
          </p:cNvSpPr>
          <p:nvPr>
            <p:ph idx="1"/>
          </p:nvPr>
        </p:nvSpPr>
        <p:spPr>
          <a:xfrm>
            <a:off x="873963" y="1242468"/>
            <a:ext cx="10651643" cy="4167732"/>
          </a:xfrm>
        </p:spPr>
        <p:txBody>
          <a:bodyPr>
            <a:normAutofit fontScale="92500"/>
          </a:bodyPr>
          <a:lstStyle/>
          <a:p>
            <a:pPr marL="533400" marR="120015" indent="0">
              <a:buNone/>
            </a:pPr>
            <a:r>
              <a:rPr lang="en-US" altLang="zh-CN" sz="1600" kern="1000" dirty="0" err="1">
                <a:solidFill>
                  <a:schemeClr val="tx1"/>
                </a:solidFill>
              </a:rPr>
              <a:t>abc</a:t>
            </a:r>
            <a:r>
              <a:rPr lang="en-US" altLang="zh-CN" sz="1600" kern="1000" dirty="0">
                <a:solidFill>
                  <a:schemeClr val="tx1"/>
                </a:solidFill>
              </a:rPr>
              <a:t> = </a:t>
            </a:r>
            <a:r>
              <a:rPr lang="en-US" altLang="zh-CN" sz="1600" kern="1000" dirty="0" err="1">
                <a:solidFill>
                  <a:schemeClr val="tx1"/>
                </a:solidFill>
              </a:rPr>
              <a:t>AdaBoostClassifier</a:t>
            </a:r>
            <a:r>
              <a:rPr lang="en-US" altLang="zh-CN" sz="1600" kern="1000" dirty="0">
                <a:solidFill>
                  <a:schemeClr val="tx1"/>
                </a:solidFill>
              </a:rPr>
              <a:t>(</a:t>
            </a:r>
            <a:r>
              <a:rPr lang="en-US" altLang="zh-CN" sz="1600" kern="1000" dirty="0" err="1">
                <a:solidFill>
                  <a:schemeClr val="tx1"/>
                </a:solidFill>
              </a:rPr>
              <a:t>DecisionTreeClassifier</a:t>
            </a:r>
            <a:r>
              <a:rPr lang="en-US" altLang="zh-CN" sz="1600" kern="1000" dirty="0">
                <a:solidFill>
                  <a:schemeClr val="tx1"/>
                </a:solidFill>
              </a:rPr>
              <a:t>(), algorithm='SAMME', </a:t>
            </a:r>
            <a:r>
              <a:rPr lang="en-US" altLang="zh-CN" sz="1600" kern="1000" dirty="0" err="1">
                <a:solidFill>
                  <a:schemeClr val="tx1"/>
                </a:solidFill>
              </a:rPr>
              <a:t>n_estimators</a:t>
            </a:r>
            <a:r>
              <a:rPr lang="en-US" altLang="zh-CN" sz="1600" kern="1000" dirty="0">
                <a:solidFill>
                  <a:schemeClr val="tx1"/>
                </a:solidFill>
              </a:rPr>
              <a:t>=50, </a:t>
            </a:r>
            <a:r>
              <a:rPr lang="en-US" altLang="zh-CN" sz="1600" kern="1000" dirty="0" err="1">
                <a:solidFill>
                  <a:schemeClr val="tx1"/>
                </a:solidFill>
              </a:rPr>
              <a:t>learning_rate</a:t>
            </a:r>
            <a:r>
              <a:rPr lang="en-US" altLang="zh-CN" sz="1600" kern="1000" dirty="0">
                <a:solidFill>
                  <a:schemeClr val="tx1"/>
                </a:solidFill>
              </a:rPr>
              <a:t>=0.1) </a:t>
            </a:r>
            <a:endParaRPr lang="zh-CN" altLang="zh-CN" sz="1600" kern="1000" dirty="0">
              <a:solidFill>
                <a:schemeClr val="tx1"/>
              </a:solidFill>
            </a:endParaRPr>
          </a:p>
          <a:p>
            <a:pPr marL="533400" marR="120015" indent="0" algn="just">
              <a:buNone/>
            </a:pPr>
            <a:r>
              <a:rPr lang="en-US" altLang="zh-CN" sz="1600" kern="1000" dirty="0" err="1">
                <a:solidFill>
                  <a:srgbClr val="000000"/>
                </a:solidFill>
                <a:effectLst/>
              </a:rPr>
              <a:t>dt</a:t>
            </a:r>
            <a:r>
              <a:rPr lang="en-US" altLang="zh-CN" sz="1600" kern="1000" dirty="0">
                <a:solidFill>
                  <a:srgbClr val="000000"/>
                </a:solidFill>
                <a:effectLst/>
              </a:rPr>
              <a:t> = DecisionTreeClassifier()</a:t>
            </a:r>
            <a:endParaRPr lang="zh-CN" altLang="zh-CN" sz="1600" kern="1000" dirty="0">
              <a:solidFill>
                <a:srgbClr val="000000"/>
              </a:solidFill>
              <a:effectLst/>
            </a:endParaRPr>
          </a:p>
          <a:p>
            <a:pPr marL="533400" marR="120015" indent="0" algn="just">
              <a:buNone/>
            </a:pPr>
            <a:r>
              <a:rPr lang="en-US" altLang="zh-CN" sz="1600" kern="1000" dirty="0" err="1">
                <a:solidFill>
                  <a:srgbClr val="000000"/>
                </a:solidFill>
                <a:effectLst/>
              </a:rPr>
              <a:t>abc.fit</a:t>
            </a:r>
            <a:r>
              <a:rPr lang="en-US" altLang="zh-CN" sz="1600" kern="1000" dirty="0">
                <a:solidFill>
                  <a:srgbClr val="000000"/>
                </a:solidFill>
                <a:effectLst/>
              </a:rPr>
              <a:t>(</a:t>
            </a:r>
            <a:r>
              <a:rPr lang="en-US" altLang="zh-CN" sz="1600" kern="1000" dirty="0" err="1">
                <a:solidFill>
                  <a:srgbClr val="000000"/>
                </a:solidFill>
                <a:effectLst/>
              </a:rPr>
              <a:t>x_train,y_train</a:t>
            </a:r>
            <a:r>
              <a:rPr lang="en-US" altLang="zh-CN" sz="1600" kern="1000" dirty="0">
                <a:solidFill>
                  <a:srgbClr val="000000"/>
                </a:solidFill>
                <a:effectLst/>
              </a:rPr>
              <a:t>)</a:t>
            </a:r>
            <a:endParaRPr lang="zh-CN" altLang="zh-CN" sz="1600" kern="1000" dirty="0">
              <a:solidFill>
                <a:srgbClr val="000000"/>
              </a:solidFill>
              <a:effectLst/>
            </a:endParaRPr>
          </a:p>
          <a:p>
            <a:pPr marL="533400" marR="120015" indent="0" algn="just">
              <a:buNone/>
            </a:pPr>
            <a:r>
              <a:rPr lang="en-US" altLang="zh-CN" sz="1600" kern="1000" dirty="0" err="1">
                <a:solidFill>
                  <a:srgbClr val="000000"/>
                </a:solidFill>
                <a:effectLst/>
              </a:rPr>
              <a:t>dt.fit</a:t>
            </a:r>
            <a:r>
              <a:rPr lang="en-US" altLang="zh-CN" sz="1600" kern="1000" dirty="0">
                <a:solidFill>
                  <a:srgbClr val="000000"/>
                </a:solidFill>
                <a:effectLst/>
              </a:rPr>
              <a:t>(</a:t>
            </a:r>
            <a:r>
              <a:rPr lang="en-US" altLang="zh-CN" sz="1600" kern="1000" dirty="0" err="1">
                <a:solidFill>
                  <a:srgbClr val="000000"/>
                </a:solidFill>
                <a:effectLst/>
              </a:rPr>
              <a:t>x_train,y_train</a:t>
            </a:r>
            <a:r>
              <a:rPr lang="en-US" altLang="zh-CN" sz="1600" kern="1000" dirty="0">
                <a:solidFill>
                  <a:srgbClr val="000000"/>
                </a:solidFill>
                <a:effectLst/>
              </a:rPr>
              <a:t>)</a:t>
            </a:r>
            <a:endParaRPr lang="zh-CN" altLang="zh-CN" sz="1600" kern="1000" dirty="0">
              <a:solidFill>
                <a:srgbClr val="000000"/>
              </a:solidFill>
              <a:effectLst/>
            </a:endParaRPr>
          </a:p>
          <a:p>
            <a:pPr marL="533400" marR="120015" indent="0" algn="just">
              <a:buNone/>
            </a:pPr>
            <a:r>
              <a:rPr lang="en-US" altLang="zh-CN" sz="1600" kern="1000" dirty="0" err="1">
                <a:solidFill>
                  <a:srgbClr val="000000"/>
                </a:solidFill>
                <a:effectLst/>
              </a:rPr>
              <a:t>score_abc</a:t>
            </a:r>
            <a:r>
              <a:rPr lang="en-US" altLang="zh-CN" sz="1600" kern="1000" dirty="0">
                <a:solidFill>
                  <a:srgbClr val="000000"/>
                </a:solidFill>
                <a:effectLst/>
              </a:rPr>
              <a:t> = </a:t>
            </a:r>
            <a:r>
              <a:rPr lang="en-US" altLang="zh-CN" sz="1600" kern="1000" dirty="0" err="1">
                <a:solidFill>
                  <a:srgbClr val="000000"/>
                </a:solidFill>
                <a:effectLst/>
              </a:rPr>
              <a:t>abc.score</a:t>
            </a:r>
            <a:r>
              <a:rPr lang="en-US" altLang="zh-CN" sz="1600" kern="1000" dirty="0">
                <a:solidFill>
                  <a:srgbClr val="000000"/>
                </a:solidFill>
                <a:effectLst/>
              </a:rPr>
              <a:t>(</a:t>
            </a:r>
            <a:r>
              <a:rPr lang="en-US" altLang="zh-CN" sz="1600" kern="1000" dirty="0" err="1">
                <a:solidFill>
                  <a:srgbClr val="000000"/>
                </a:solidFill>
                <a:effectLst/>
              </a:rPr>
              <a:t>x_test,y_test</a:t>
            </a:r>
            <a:r>
              <a:rPr lang="en-US" altLang="zh-CN" sz="1600" kern="1000" dirty="0">
                <a:solidFill>
                  <a:srgbClr val="000000"/>
                </a:solidFill>
                <a:effectLst/>
              </a:rPr>
              <a:t>)</a:t>
            </a:r>
            <a:endParaRPr lang="zh-CN" altLang="zh-CN" sz="1600" kern="1000" dirty="0">
              <a:solidFill>
                <a:srgbClr val="000000"/>
              </a:solidFill>
              <a:effectLst/>
            </a:endParaRPr>
          </a:p>
          <a:p>
            <a:pPr marL="533400" marR="120015" indent="0" algn="just">
              <a:buNone/>
            </a:pPr>
            <a:r>
              <a:rPr lang="en-US" altLang="zh-CN" sz="1600" kern="1000" dirty="0" err="1">
                <a:solidFill>
                  <a:srgbClr val="000000"/>
                </a:solidFill>
                <a:effectLst/>
              </a:rPr>
              <a:t>score_dt</a:t>
            </a:r>
            <a:r>
              <a:rPr lang="en-US" altLang="zh-CN" sz="1600" kern="1000" dirty="0">
                <a:solidFill>
                  <a:srgbClr val="000000"/>
                </a:solidFill>
                <a:effectLst/>
              </a:rPr>
              <a:t> = </a:t>
            </a:r>
            <a:r>
              <a:rPr lang="en-US" altLang="zh-CN" sz="1600" kern="1000" dirty="0" err="1">
                <a:solidFill>
                  <a:srgbClr val="000000"/>
                </a:solidFill>
                <a:effectLst/>
              </a:rPr>
              <a:t>dt.score</a:t>
            </a:r>
            <a:r>
              <a:rPr lang="en-US" altLang="zh-CN" sz="1600" kern="1000" dirty="0">
                <a:solidFill>
                  <a:srgbClr val="000000"/>
                </a:solidFill>
                <a:effectLst/>
              </a:rPr>
              <a:t>(</a:t>
            </a:r>
            <a:r>
              <a:rPr lang="en-US" altLang="zh-CN" sz="1600" kern="1000" dirty="0" err="1">
                <a:solidFill>
                  <a:srgbClr val="000000"/>
                </a:solidFill>
                <a:effectLst/>
              </a:rPr>
              <a:t>x_test,y_test</a:t>
            </a:r>
            <a:r>
              <a:rPr lang="en-US" altLang="zh-CN" sz="1600" kern="1000" dirty="0">
                <a:solidFill>
                  <a:srgbClr val="000000"/>
                </a:solidFill>
                <a:effectLst/>
              </a:rPr>
              <a:t>) </a:t>
            </a:r>
            <a:endParaRPr lang="zh-CN" altLang="zh-CN" sz="1600" kern="1000" dirty="0">
              <a:solidFill>
                <a:srgbClr val="000000"/>
              </a:solidFill>
              <a:effectLst/>
            </a:endParaRPr>
          </a:p>
          <a:p>
            <a:pPr marL="533400" marR="120015" indent="0" algn="just">
              <a:buNone/>
            </a:pPr>
            <a:r>
              <a:rPr lang="en-US" altLang="zh-CN" sz="1600" kern="1000" dirty="0">
                <a:solidFill>
                  <a:srgbClr val="000000"/>
                </a:solidFill>
                <a:effectLst/>
              </a:rPr>
              <a:t># </a:t>
            </a:r>
            <a:r>
              <a:rPr lang="zh-CN" altLang="zh-CN" sz="1600" kern="1000" dirty="0">
                <a:solidFill>
                  <a:srgbClr val="000000"/>
                </a:solidFill>
                <a:effectLst/>
              </a:rPr>
              <a:t>输出准确率</a:t>
            </a:r>
            <a:endParaRPr lang="zh-CN" altLang="zh-CN" sz="1600" kern="1000" dirty="0">
              <a:solidFill>
                <a:srgbClr val="000000"/>
              </a:solidFill>
              <a:effectLst/>
            </a:endParaRPr>
          </a:p>
          <a:p>
            <a:pPr marL="533400" marR="120015" indent="0" algn="just">
              <a:buNone/>
            </a:pPr>
            <a:r>
              <a:rPr lang="en-US" altLang="zh-CN" sz="1600" kern="1000" dirty="0">
                <a:solidFill>
                  <a:srgbClr val="000000"/>
                </a:solidFill>
                <a:effectLst/>
              </a:rPr>
              <a:t>print('Ada Boost : ', </a:t>
            </a:r>
            <a:r>
              <a:rPr lang="en-US" altLang="zh-CN" sz="1600" kern="1000" dirty="0" err="1">
                <a:solidFill>
                  <a:srgbClr val="000000"/>
                </a:solidFill>
                <a:effectLst/>
              </a:rPr>
              <a:t>score_abc</a:t>
            </a:r>
            <a:r>
              <a:rPr lang="en-US" altLang="zh-CN" sz="1600" kern="1000" dirty="0">
                <a:solidFill>
                  <a:srgbClr val="000000"/>
                </a:solidFill>
                <a:effectLst/>
              </a:rPr>
              <a:t>)</a:t>
            </a:r>
            <a:endParaRPr lang="zh-CN" altLang="zh-CN" sz="1600" kern="1000" dirty="0">
              <a:solidFill>
                <a:srgbClr val="000000"/>
              </a:solidFill>
              <a:effectLst/>
            </a:endParaRPr>
          </a:p>
          <a:p>
            <a:pPr marL="533400" marR="120015" indent="0" algn="just">
              <a:buNone/>
            </a:pPr>
            <a:r>
              <a:rPr lang="en-US" altLang="zh-CN" sz="1600" kern="1000" dirty="0">
                <a:solidFill>
                  <a:srgbClr val="000000"/>
                </a:solidFill>
                <a:effectLst/>
              </a:rPr>
              <a:t>print('Decision Tree : ', </a:t>
            </a:r>
            <a:r>
              <a:rPr lang="en-US" altLang="zh-CN" sz="1600" kern="1000" dirty="0" err="1">
                <a:solidFill>
                  <a:srgbClr val="000000"/>
                </a:solidFill>
                <a:effectLst/>
              </a:rPr>
              <a:t>score_dt</a:t>
            </a:r>
            <a:r>
              <a:rPr lang="en-US" altLang="zh-CN" sz="1600" kern="1000" dirty="0">
                <a:solidFill>
                  <a:srgbClr val="000000"/>
                </a:solidFill>
                <a:effectLst/>
              </a:rPr>
              <a:t>)</a:t>
            </a:r>
            <a:endParaRPr lang="zh-CN" altLang="zh-CN" sz="1600" kern="1000" dirty="0">
              <a:solidFill>
                <a:srgbClr val="000000"/>
              </a:solidFill>
              <a:effectLst/>
            </a:endParaRPr>
          </a:p>
          <a:p>
            <a:pPr marL="360045" indent="0" fontAlgn="auto">
              <a:buNone/>
            </a:pPr>
            <a:endParaRPr kumimoji="1" lang="zh-CN" altLang="en-US" sz="1600" dirty="0">
              <a:solidFill>
                <a:schemeClr val="tx1"/>
              </a:solidFill>
            </a:endParaRPr>
          </a:p>
        </p:txBody>
      </p:sp>
      <p:sp>
        <p:nvSpPr>
          <p:cNvPr id="100" name="文本框 99"/>
          <p:cNvSpPr txBox="1"/>
          <p:nvPr/>
        </p:nvSpPr>
        <p:spPr>
          <a:xfrm>
            <a:off x="-2373310" y="5902207"/>
            <a:ext cx="4013200" cy="337185"/>
          </a:xfrm>
          <a:prstGeom prst="rect">
            <a:avLst/>
          </a:prstGeom>
          <a:noFill/>
          <a:ln w="9525">
            <a:noFill/>
          </a:ln>
        </p:spPr>
        <p:txBody>
          <a:bodyPr wrap="square">
            <a:spAutoFit/>
          </a:bodyPr>
          <a:lstStyle/>
          <a:p>
            <a:pPr indent="0" algn="ctr"/>
            <a:r>
              <a:rPr lang="en-US" sz="1600" b="0" dirty="0">
                <a:solidFill>
                  <a:srgbClr val="000000"/>
                </a:solidFill>
                <a:latin typeface="宋体" panose="02010600030101010101" pitchFamily="2" charset="-122"/>
              </a:rPr>
              <a:t>        </a:t>
            </a:r>
            <a:r>
              <a:rPr lang="en-US" sz="1600" b="0" dirty="0">
                <a:solidFill>
                  <a:srgbClr val="000000"/>
                </a:solidFill>
                <a:latin typeface="Calibri" panose="020F0502020204030204" pitchFamily="34" charset="0"/>
              </a:rPr>
              <a:t>               </a:t>
            </a:r>
            <a:r>
              <a:rPr lang="en-US" sz="1600" b="0" dirty="0">
                <a:solidFill>
                  <a:srgbClr val="000000"/>
                </a:solidFill>
                <a:latin typeface="宋体" panose="02010600030101010101" pitchFamily="2" charset="-122"/>
              </a:rPr>
              <a:t>                                                                               </a:t>
            </a:r>
            <a:endParaRPr lang="zh-CN" altLang="en-US" sz="1600" dirty="0"/>
          </a:p>
        </p:txBody>
      </p:sp>
      <p:sp>
        <p:nvSpPr>
          <p:cNvPr id="9" name="文本框 8"/>
          <p:cNvSpPr txBox="1"/>
          <p:nvPr/>
        </p:nvSpPr>
        <p:spPr>
          <a:xfrm>
            <a:off x="6445606" y="6727207"/>
            <a:ext cx="5080000" cy="337185"/>
          </a:xfrm>
          <a:prstGeom prst="rect">
            <a:avLst/>
          </a:prstGeom>
          <a:noFill/>
          <a:ln w="9525">
            <a:noFill/>
          </a:ln>
        </p:spPr>
        <p:txBody>
          <a:bodyPr>
            <a:spAutoFit/>
          </a:bodyPr>
          <a:lstStyle/>
          <a:p>
            <a:pPr indent="0" algn="ctr"/>
            <a:endParaRPr lang="zh-CN" altLang="en-US" sz="1600" dirty="0"/>
          </a:p>
        </p:txBody>
      </p:sp>
      <p:sp>
        <p:nvSpPr>
          <p:cNvPr id="10" name="文本框 9"/>
          <p:cNvSpPr txBox="1"/>
          <p:nvPr/>
        </p:nvSpPr>
        <p:spPr>
          <a:xfrm>
            <a:off x="6097270" y="5674995"/>
            <a:ext cx="4013200" cy="337185"/>
          </a:xfrm>
          <a:prstGeom prst="rect">
            <a:avLst/>
          </a:prstGeom>
          <a:noFill/>
          <a:ln w="9525">
            <a:noFill/>
          </a:ln>
        </p:spPr>
        <p:txBody>
          <a:bodyPr wrap="square">
            <a:spAutoFit/>
          </a:bodyPr>
          <a:lstStyle/>
          <a:p>
            <a:pPr indent="0" algn="ctr"/>
            <a:r>
              <a:rPr lang="en-US" sz="1600" b="0" dirty="0">
                <a:solidFill>
                  <a:srgbClr val="000000"/>
                </a:solidFill>
                <a:latin typeface="宋体" panose="02010600030101010101" pitchFamily="2" charset="-122"/>
              </a:rPr>
              <a:t>        </a:t>
            </a:r>
            <a:r>
              <a:rPr lang="en-US" sz="1600" b="0" dirty="0">
                <a:solidFill>
                  <a:srgbClr val="000000"/>
                </a:solidFill>
                <a:latin typeface="Calibri" panose="020F0502020204030204" pitchFamily="34" charset="0"/>
              </a:rPr>
              <a:t>               </a:t>
            </a:r>
            <a:r>
              <a:rPr lang="en-US" sz="1600" b="0" dirty="0">
                <a:solidFill>
                  <a:srgbClr val="000000"/>
                </a:solidFill>
                <a:latin typeface="宋体" panose="02010600030101010101" pitchFamily="2" charset="-122"/>
              </a:rPr>
              <a:t>                                                                               </a:t>
            </a:r>
            <a:endParaRPr lang="zh-CN" altLang="en-US" sz="16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FF206FCC-0CBB-4DF4-89C1-3C9DB4B6E776}" type="slidenum">
              <a:rPr lang="zh-CN" altLang="en-US" smtClean="0"/>
            </a:fld>
            <a:r>
              <a:rPr lang="zh-CN" altLang="en-US"/>
              <a:t>   </a:t>
            </a:r>
            <a:endParaRPr lang="zh-CN" altLang="en-US" dirty="0"/>
          </a:p>
        </p:txBody>
      </p:sp>
      <p:sp>
        <p:nvSpPr>
          <p:cNvPr id="5" name="内容占位符 1"/>
          <p:cNvSpPr>
            <a:spLocks noGrp="1"/>
          </p:cNvSpPr>
          <p:nvPr>
            <p:ph idx="1"/>
          </p:nvPr>
        </p:nvSpPr>
        <p:spPr>
          <a:xfrm>
            <a:off x="636843" y="691809"/>
            <a:ext cx="10237796" cy="5484908"/>
          </a:xfrm>
        </p:spPr>
        <p:txBody>
          <a:bodyPr>
            <a:normAutofit fontScale="85000" lnSpcReduction="10000"/>
          </a:bodyPr>
          <a:lstStyle/>
          <a:p>
            <a:pPr marL="533400" marR="120015" indent="0">
              <a:buNone/>
            </a:pPr>
            <a:r>
              <a:rPr lang="en-US" altLang="zh-CN" sz="1800" kern="1000" dirty="0">
                <a:solidFill>
                  <a:srgbClr val="000000"/>
                </a:solidFill>
              </a:rPr>
              <a:t># </a:t>
            </a:r>
            <a:r>
              <a:rPr lang="zh-CN" altLang="zh-CN" sz="1800" kern="1000" dirty="0">
                <a:solidFill>
                  <a:srgbClr val="000000"/>
                </a:solidFill>
              </a:rPr>
              <a:t>测试</a:t>
            </a:r>
            <a:r>
              <a:rPr lang="en-US" altLang="zh-CN" sz="1800" kern="1000" dirty="0" err="1">
                <a:solidFill>
                  <a:srgbClr val="000000"/>
                </a:solidFill>
              </a:rPr>
              <a:t>n_estimators</a:t>
            </a:r>
            <a:r>
              <a:rPr lang="zh-CN" altLang="zh-CN" sz="1800" kern="1000" dirty="0">
                <a:solidFill>
                  <a:srgbClr val="000000"/>
                </a:solidFill>
              </a:rPr>
              <a:t>参数对分类效果的影响</a:t>
            </a:r>
            <a:endParaRPr lang="zh-CN" altLang="zh-CN" sz="1800" kern="1000" dirty="0">
              <a:solidFill>
                <a:srgbClr val="000000"/>
              </a:solidFill>
            </a:endParaRPr>
          </a:p>
          <a:p>
            <a:pPr marL="533400" marR="120015" indent="0">
              <a:buNone/>
            </a:pPr>
            <a:r>
              <a:rPr lang="en-US" altLang="zh-CN" sz="1800" kern="1000" dirty="0" err="1">
                <a:solidFill>
                  <a:srgbClr val="000000"/>
                </a:solidFill>
              </a:rPr>
              <a:t>abc_scores</a:t>
            </a:r>
            <a:r>
              <a:rPr lang="en-US" altLang="zh-CN" sz="1800" kern="1000" dirty="0">
                <a:solidFill>
                  <a:srgbClr val="000000"/>
                </a:solidFill>
              </a:rPr>
              <a:t> = []</a:t>
            </a:r>
            <a:endParaRPr lang="en-US" altLang="zh-CN" sz="1700" kern="1000" dirty="0">
              <a:solidFill>
                <a:schemeClr val="tx1"/>
              </a:solidFill>
              <a:effectLst/>
            </a:endParaRPr>
          </a:p>
          <a:p>
            <a:pPr marL="533400" marR="120015" indent="0" algn="just">
              <a:buNone/>
            </a:pPr>
            <a:r>
              <a:rPr lang="en-US" altLang="zh-CN" sz="1700" kern="1000" dirty="0">
                <a:solidFill>
                  <a:schemeClr val="tx1"/>
                </a:solidFill>
                <a:effectLst/>
              </a:rPr>
              <a:t>for i in range(1,50):</a:t>
            </a:r>
            <a:endParaRPr lang="zh-CN" altLang="zh-CN" sz="1700" kern="1000" dirty="0">
              <a:solidFill>
                <a:schemeClr val="tx1"/>
              </a:solidFill>
              <a:effectLst/>
            </a:endParaRPr>
          </a:p>
          <a:p>
            <a:pPr marL="533400" marR="120015" indent="0" algn="just">
              <a:buNone/>
            </a:pPr>
            <a:r>
              <a:rPr lang="en-US" altLang="zh-CN" sz="1700" kern="1000" dirty="0">
                <a:solidFill>
                  <a:schemeClr val="tx1"/>
                </a:solidFill>
                <a:effectLst/>
              </a:rPr>
              <a:t>    </a:t>
            </a:r>
            <a:r>
              <a:rPr lang="en-US" altLang="zh-CN" sz="1700" kern="1000" dirty="0" err="1">
                <a:solidFill>
                  <a:schemeClr val="tx1"/>
                </a:solidFill>
                <a:effectLst/>
              </a:rPr>
              <a:t>abc.estimators</a:t>
            </a:r>
            <a:r>
              <a:rPr lang="en-US" altLang="zh-CN" sz="1700" kern="1000" dirty="0">
                <a:solidFill>
                  <a:schemeClr val="tx1"/>
                </a:solidFill>
                <a:effectLst/>
              </a:rPr>
              <a:t>_ = </a:t>
            </a:r>
            <a:r>
              <a:rPr lang="en-US" altLang="zh-CN" sz="1700" kern="1000" dirty="0" err="1">
                <a:solidFill>
                  <a:schemeClr val="tx1"/>
                </a:solidFill>
                <a:effectLst/>
              </a:rPr>
              <a:t>i</a:t>
            </a:r>
            <a:endParaRPr lang="zh-CN" altLang="zh-CN" sz="1700" kern="1000" dirty="0">
              <a:solidFill>
                <a:schemeClr val="tx1"/>
              </a:solidFill>
              <a:effectLst/>
            </a:endParaRPr>
          </a:p>
          <a:p>
            <a:pPr marL="533400" marR="120015" indent="0" algn="just">
              <a:buNone/>
            </a:pPr>
            <a:r>
              <a:rPr lang="en-US" altLang="zh-CN" sz="1700" kern="1000" dirty="0">
                <a:solidFill>
                  <a:schemeClr val="tx1"/>
                </a:solidFill>
                <a:effectLst/>
              </a:rPr>
              <a:t>    </a:t>
            </a:r>
            <a:r>
              <a:rPr lang="en-US" altLang="zh-CN" sz="1700" kern="1000" dirty="0" err="1">
                <a:solidFill>
                  <a:schemeClr val="tx1"/>
                </a:solidFill>
                <a:effectLst/>
              </a:rPr>
              <a:t>abc.fit</a:t>
            </a:r>
            <a:r>
              <a:rPr lang="en-US" altLang="zh-CN" sz="1700" kern="1000" dirty="0">
                <a:solidFill>
                  <a:schemeClr val="tx1"/>
                </a:solidFill>
                <a:effectLst/>
              </a:rPr>
              <a:t>(</a:t>
            </a:r>
            <a:r>
              <a:rPr lang="en-US" altLang="zh-CN" sz="1700" kern="1000" dirty="0" err="1">
                <a:solidFill>
                  <a:schemeClr val="tx1"/>
                </a:solidFill>
                <a:effectLst/>
              </a:rPr>
              <a:t>x_train,y_train</a:t>
            </a:r>
            <a:r>
              <a:rPr lang="en-US" altLang="zh-CN" sz="1700" kern="1000" dirty="0">
                <a:solidFill>
                  <a:schemeClr val="tx1"/>
                </a:solidFill>
                <a:effectLst/>
              </a:rPr>
              <a:t>)</a:t>
            </a:r>
            <a:endParaRPr lang="zh-CN" altLang="zh-CN" sz="1700" kern="1000" dirty="0">
              <a:solidFill>
                <a:schemeClr val="tx1"/>
              </a:solidFill>
              <a:effectLst/>
            </a:endParaRPr>
          </a:p>
          <a:p>
            <a:pPr marL="533400" marR="120015" indent="0" algn="just">
              <a:buNone/>
            </a:pPr>
            <a:r>
              <a:rPr lang="en-US" altLang="zh-CN" sz="1700" kern="1000" dirty="0">
                <a:solidFill>
                  <a:schemeClr val="tx1"/>
                </a:solidFill>
                <a:effectLst/>
              </a:rPr>
              <a:t>    </a:t>
            </a:r>
            <a:r>
              <a:rPr lang="en-US" altLang="zh-CN" sz="1700" kern="1000" dirty="0" err="1">
                <a:solidFill>
                  <a:schemeClr val="tx1"/>
                </a:solidFill>
                <a:effectLst/>
              </a:rPr>
              <a:t>abc_score</a:t>
            </a:r>
            <a:r>
              <a:rPr lang="en-US" altLang="zh-CN" sz="1700" kern="1000" dirty="0">
                <a:solidFill>
                  <a:schemeClr val="tx1"/>
                </a:solidFill>
                <a:effectLst/>
              </a:rPr>
              <a:t> = </a:t>
            </a:r>
            <a:r>
              <a:rPr lang="en-US" altLang="zh-CN" sz="1700" kern="1000" dirty="0" err="1">
                <a:solidFill>
                  <a:schemeClr val="tx1"/>
                </a:solidFill>
                <a:effectLst/>
              </a:rPr>
              <a:t>abc.score</a:t>
            </a:r>
            <a:r>
              <a:rPr lang="en-US" altLang="zh-CN" sz="1700" kern="1000" dirty="0">
                <a:solidFill>
                  <a:schemeClr val="tx1"/>
                </a:solidFill>
                <a:effectLst/>
              </a:rPr>
              <a:t>(</a:t>
            </a:r>
            <a:r>
              <a:rPr lang="en-US" altLang="zh-CN" sz="1700" kern="1000" dirty="0" err="1">
                <a:solidFill>
                  <a:schemeClr val="tx1"/>
                </a:solidFill>
                <a:effectLst/>
              </a:rPr>
              <a:t>x_test,y_test</a:t>
            </a:r>
            <a:r>
              <a:rPr lang="en-US" altLang="zh-CN" sz="1700" kern="1000" dirty="0">
                <a:solidFill>
                  <a:schemeClr val="tx1"/>
                </a:solidFill>
                <a:effectLst/>
              </a:rPr>
              <a:t>)</a:t>
            </a:r>
            <a:endParaRPr lang="zh-CN" altLang="zh-CN" sz="1700" kern="1000" dirty="0">
              <a:solidFill>
                <a:schemeClr val="tx1"/>
              </a:solidFill>
              <a:effectLst/>
            </a:endParaRPr>
          </a:p>
          <a:p>
            <a:pPr marL="533400" marR="120015" indent="0" algn="just">
              <a:buNone/>
            </a:pPr>
            <a:r>
              <a:rPr lang="en-US" altLang="zh-CN" sz="1700" kern="1000" dirty="0">
                <a:solidFill>
                  <a:schemeClr val="tx1"/>
                </a:solidFill>
                <a:effectLst/>
              </a:rPr>
              <a:t>    </a:t>
            </a:r>
            <a:r>
              <a:rPr lang="en-US" altLang="zh-CN" sz="1700" kern="1000" dirty="0" err="1">
                <a:solidFill>
                  <a:schemeClr val="tx1"/>
                </a:solidFill>
                <a:effectLst/>
              </a:rPr>
              <a:t>abc_scores.append</a:t>
            </a:r>
            <a:r>
              <a:rPr lang="en-US" altLang="zh-CN" sz="1700" kern="1000" dirty="0">
                <a:solidFill>
                  <a:schemeClr val="tx1"/>
                </a:solidFill>
                <a:effectLst/>
              </a:rPr>
              <a:t>(</a:t>
            </a:r>
            <a:r>
              <a:rPr lang="en-US" altLang="zh-CN" sz="1700" kern="1000" dirty="0" err="1">
                <a:solidFill>
                  <a:schemeClr val="tx1"/>
                </a:solidFill>
                <a:effectLst/>
              </a:rPr>
              <a:t>abc_score</a:t>
            </a:r>
            <a:r>
              <a:rPr lang="en-US" altLang="zh-CN" sz="1700" kern="1000" dirty="0">
                <a:solidFill>
                  <a:schemeClr val="tx1"/>
                </a:solidFill>
                <a:effectLst/>
              </a:rPr>
              <a:t>)</a:t>
            </a:r>
            <a:endParaRPr lang="zh-CN" altLang="zh-CN" sz="1700" kern="1000" dirty="0">
              <a:solidFill>
                <a:schemeClr val="tx1"/>
              </a:solidFill>
              <a:effectLst/>
            </a:endParaRPr>
          </a:p>
          <a:p>
            <a:pPr marL="533400" marR="120015" indent="0" algn="just">
              <a:buNone/>
            </a:pPr>
            <a:r>
              <a:rPr lang="en-US" altLang="zh-CN" sz="1700" kern="1000" dirty="0">
                <a:solidFill>
                  <a:schemeClr val="tx1"/>
                </a:solidFill>
                <a:effectLst/>
              </a:rPr>
              <a:t># </a:t>
            </a:r>
            <a:r>
              <a:rPr lang="zh-CN" altLang="zh-CN" sz="1700" kern="1000" dirty="0">
                <a:solidFill>
                  <a:schemeClr val="tx1"/>
                </a:solidFill>
                <a:effectLst/>
              </a:rPr>
              <a:t>绘制结果</a:t>
            </a:r>
            <a:endParaRPr lang="zh-CN" altLang="zh-CN" sz="1700" kern="1000" dirty="0">
              <a:solidFill>
                <a:schemeClr val="tx1"/>
              </a:solidFill>
              <a:effectLst/>
            </a:endParaRPr>
          </a:p>
          <a:p>
            <a:pPr marL="533400" marR="120015" indent="0" algn="just">
              <a:buNone/>
            </a:pPr>
            <a:r>
              <a:rPr lang="en-US" altLang="zh-CN" sz="1700" kern="1000" dirty="0" err="1">
                <a:solidFill>
                  <a:schemeClr val="tx1"/>
                </a:solidFill>
                <a:effectLst/>
              </a:rPr>
              <a:t>plt.figure</a:t>
            </a:r>
            <a:r>
              <a:rPr lang="en-US" altLang="zh-CN" sz="1700" kern="1000" dirty="0">
                <a:solidFill>
                  <a:schemeClr val="tx1"/>
                </a:solidFill>
                <a:effectLst/>
              </a:rPr>
              <a:t>()</a:t>
            </a:r>
            <a:endParaRPr lang="zh-CN" altLang="zh-CN" sz="1700" kern="1000" dirty="0">
              <a:solidFill>
                <a:schemeClr val="tx1"/>
              </a:solidFill>
              <a:effectLst/>
            </a:endParaRPr>
          </a:p>
          <a:p>
            <a:pPr marL="533400" marR="120015" indent="0" algn="just">
              <a:buNone/>
            </a:pPr>
            <a:r>
              <a:rPr lang="en-US" altLang="zh-CN" sz="1700" kern="1000" dirty="0" err="1">
                <a:solidFill>
                  <a:schemeClr val="tx1"/>
                </a:solidFill>
                <a:effectLst/>
              </a:rPr>
              <a:t>plt.title</a:t>
            </a:r>
            <a:r>
              <a:rPr lang="en-US" altLang="zh-CN" sz="1700" kern="1000" dirty="0">
                <a:solidFill>
                  <a:schemeClr val="tx1"/>
                </a:solidFill>
                <a:effectLst/>
              </a:rPr>
              <a:t>('AdaBoost')</a:t>
            </a:r>
            <a:endParaRPr lang="zh-CN" altLang="zh-CN" sz="1700" kern="1000" dirty="0">
              <a:solidFill>
                <a:schemeClr val="tx1"/>
              </a:solidFill>
              <a:effectLst/>
            </a:endParaRPr>
          </a:p>
          <a:p>
            <a:pPr marL="533400" marR="120015" indent="0" algn="just">
              <a:buNone/>
            </a:pPr>
            <a:r>
              <a:rPr lang="en-US" altLang="zh-CN" sz="1700" kern="1000" dirty="0" err="1">
                <a:solidFill>
                  <a:schemeClr val="tx1"/>
                </a:solidFill>
                <a:effectLst/>
              </a:rPr>
              <a:t>plt.xlabel</a:t>
            </a:r>
            <a:r>
              <a:rPr lang="en-US" altLang="zh-CN" sz="1700" kern="1000" dirty="0">
                <a:solidFill>
                  <a:schemeClr val="tx1"/>
                </a:solidFill>
                <a:effectLst/>
              </a:rPr>
              <a:t>('</a:t>
            </a:r>
            <a:r>
              <a:rPr lang="en-US" altLang="zh-CN" sz="1700" kern="1000" dirty="0" err="1">
                <a:solidFill>
                  <a:schemeClr val="tx1"/>
                </a:solidFill>
                <a:effectLst/>
              </a:rPr>
              <a:t>n_estimators</a:t>
            </a:r>
            <a:r>
              <a:rPr lang="en-US" altLang="zh-CN" sz="1700" kern="1000" dirty="0">
                <a:solidFill>
                  <a:schemeClr val="tx1"/>
                </a:solidFill>
                <a:effectLst/>
              </a:rPr>
              <a:t>')</a:t>
            </a:r>
            <a:endParaRPr lang="zh-CN" altLang="zh-CN" sz="1700" kern="1000" dirty="0">
              <a:solidFill>
                <a:schemeClr val="tx1"/>
              </a:solidFill>
              <a:effectLst/>
            </a:endParaRPr>
          </a:p>
          <a:p>
            <a:pPr marL="533400" marR="120015" indent="0" algn="just">
              <a:buNone/>
            </a:pPr>
            <a:r>
              <a:rPr lang="en-US" altLang="zh-CN" sz="1700" kern="1000" dirty="0" err="1">
                <a:solidFill>
                  <a:schemeClr val="tx1"/>
                </a:solidFill>
                <a:effectLst/>
              </a:rPr>
              <a:t>plt.ylabel</a:t>
            </a:r>
            <a:r>
              <a:rPr lang="en-US" altLang="zh-CN" sz="1700" kern="1000" dirty="0">
                <a:solidFill>
                  <a:schemeClr val="tx1"/>
                </a:solidFill>
                <a:effectLst/>
              </a:rPr>
              <a:t>('Accuracy')</a:t>
            </a:r>
            <a:endParaRPr lang="zh-CN" altLang="zh-CN" sz="1700" kern="1000" dirty="0">
              <a:solidFill>
                <a:schemeClr val="tx1"/>
              </a:solidFill>
              <a:effectLst/>
            </a:endParaRPr>
          </a:p>
          <a:p>
            <a:pPr marL="533400" marR="120015" indent="0" algn="just">
              <a:buNone/>
            </a:pPr>
            <a:r>
              <a:rPr lang="en-US" altLang="zh-CN" sz="1700" kern="1000" dirty="0" err="1">
                <a:solidFill>
                  <a:schemeClr val="tx1"/>
                </a:solidFill>
                <a:effectLst/>
              </a:rPr>
              <a:t>plt.plot</a:t>
            </a:r>
            <a:r>
              <a:rPr lang="en-US" altLang="zh-CN" sz="1700" kern="1000" dirty="0">
                <a:solidFill>
                  <a:schemeClr val="tx1"/>
                </a:solidFill>
                <a:effectLst/>
              </a:rPr>
              <a:t>(range(1,50),</a:t>
            </a:r>
            <a:r>
              <a:rPr lang="en-US" altLang="zh-CN" sz="1700" kern="1000" dirty="0" err="1">
                <a:solidFill>
                  <a:schemeClr val="tx1"/>
                </a:solidFill>
                <a:effectLst/>
              </a:rPr>
              <a:t>abc_scores</a:t>
            </a:r>
            <a:r>
              <a:rPr lang="en-US" altLang="zh-CN" sz="1700" kern="1000" dirty="0">
                <a:solidFill>
                  <a:schemeClr val="tx1"/>
                </a:solidFill>
                <a:effectLst/>
              </a:rPr>
              <a:t>)</a:t>
            </a:r>
            <a:endParaRPr lang="zh-CN" altLang="zh-CN" sz="1700" kern="1000" dirty="0">
              <a:solidFill>
                <a:schemeClr val="tx1"/>
              </a:solidFill>
              <a:effectLst/>
            </a:endParaRPr>
          </a:p>
          <a:p>
            <a:pPr marL="533400" marR="120015" indent="0" algn="just">
              <a:buNone/>
            </a:pPr>
            <a:r>
              <a:rPr lang="en-US" altLang="zh-CN" sz="1700" kern="1000" dirty="0" err="1">
                <a:solidFill>
                  <a:schemeClr val="tx1"/>
                </a:solidFill>
                <a:effectLst/>
              </a:rPr>
              <a:t>plt.show</a:t>
            </a:r>
            <a:r>
              <a:rPr lang="en-US" altLang="zh-CN" sz="1700" kern="1000" dirty="0">
                <a:solidFill>
                  <a:schemeClr val="tx1"/>
                </a:solidFill>
                <a:effectLst/>
              </a:rPr>
              <a:t>()</a:t>
            </a:r>
            <a:endParaRPr lang="zh-CN" altLang="zh-CN" sz="1700" kern="1000" dirty="0">
              <a:solidFill>
                <a:schemeClr val="tx1"/>
              </a:solidFill>
              <a:effectLst/>
            </a:endParaRPr>
          </a:p>
          <a:p>
            <a:pPr marL="360045" indent="0" fontAlgn="auto">
              <a:buNone/>
            </a:pPr>
            <a:endParaRPr kumimoji="1" lang="zh-CN" altLang="en-US" sz="1600" dirty="0">
              <a:solidFill>
                <a:schemeClr val="tx1"/>
              </a:solidFill>
            </a:endParaRPr>
          </a:p>
        </p:txBody>
      </p:sp>
      <p:sp>
        <p:nvSpPr>
          <p:cNvPr id="100" name="文本框 99"/>
          <p:cNvSpPr txBox="1"/>
          <p:nvPr/>
        </p:nvSpPr>
        <p:spPr>
          <a:xfrm>
            <a:off x="-2373310" y="5902207"/>
            <a:ext cx="4013200" cy="337185"/>
          </a:xfrm>
          <a:prstGeom prst="rect">
            <a:avLst/>
          </a:prstGeom>
          <a:noFill/>
          <a:ln w="9525">
            <a:noFill/>
          </a:ln>
        </p:spPr>
        <p:txBody>
          <a:bodyPr wrap="square">
            <a:spAutoFit/>
          </a:bodyPr>
          <a:lstStyle/>
          <a:p>
            <a:pPr indent="0" algn="ctr"/>
            <a:r>
              <a:rPr lang="en-US" sz="1600" b="0" dirty="0">
                <a:solidFill>
                  <a:srgbClr val="000000"/>
                </a:solidFill>
                <a:latin typeface="宋体" panose="02010600030101010101" pitchFamily="2" charset="-122"/>
              </a:rPr>
              <a:t>        </a:t>
            </a:r>
            <a:r>
              <a:rPr lang="en-US" sz="1600" b="0" dirty="0">
                <a:solidFill>
                  <a:srgbClr val="000000"/>
                </a:solidFill>
                <a:latin typeface="Calibri" panose="020F0502020204030204" pitchFamily="34" charset="0"/>
              </a:rPr>
              <a:t>               </a:t>
            </a:r>
            <a:r>
              <a:rPr lang="en-US" sz="1600" b="0" dirty="0">
                <a:solidFill>
                  <a:srgbClr val="000000"/>
                </a:solidFill>
                <a:latin typeface="宋体" panose="02010600030101010101" pitchFamily="2" charset="-122"/>
              </a:rPr>
              <a:t>                                                                               </a:t>
            </a:r>
            <a:endParaRPr lang="zh-CN" altLang="en-US" sz="1600" dirty="0"/>
          </a:p>
        </p:txBody>
      </p:sp>
      <p:sp>
        <p:nvSpPr>
          <p:cNvPr id="9" name="文本框 8"/>
          <p:cNvSpPr txBox="1"/>
          <p:nvPr/>
        </p:nvSpPr>
        <p:spPr>
          <a:xfrm>
            <a:off x="6445606" y="6727207"/>
            <a:ext cx="5080000" cy="337185"/>
          </a:xfrm>
          <a:prstGeom prst="rect">
            <a:avLst/>
          </a:prstGeom>
          <a:noFill/>
          <a:ln w="9525">
            <a:noFill/>
          </a:ln>
        </p:spPr>
        <p:txBody>
          <a:bodyPr>
            <a:spAutoFit/>
          </a:bodyPr>
          <a:lstStyle/>
          <a:p>
            <a:pPr indent="0" algn="ctr"/>
            <a:endParaRPr lang="zh-CN" altLang="en-US" sz="1600" dirty="0"/>
          </a:p>
        </p:txBody>
      </p:sp>
      <p:sp>
        <p:nvSpPr>
          <p:cNvPr id="10" name="文本框 9"/>
          <p:cNvSpPr txBox="1"/>
          <p:nvPr/>
        </p:nvSpPr>
        <p:spPr>
          <a:xfrm>
            <a:off x="6097270" y="5674995"/>
            <a:ext cx="4013200" cy="337185"/>
          </a:xfrm>
          <a:prstGeom prst="rect">
            <a:avLst/>
          </a:prstGeom>
          <a:noFill/>
          <a:ln w="9525">
            <a:noFill/>
          </a:ln>
        </p:spPr>
        <p:txBody>
          <a:bodyPr wrap="square">
            <a:spAutoFit/>
          </a:bodyPr>
          <a:lstStyle/>
          <a:p>
            <a:pPr indent="0" algn="ctr"/>
            <a:r>
              <a:rPr lang="en-US" sz="1600" b="0" dirty="0">
                <a:solidFill>
                  <a:srgbClr val="000000"/>
                </a:solidFill>
                <a:latin typeface="宋体" panose="02010600030101010101" pitchFamily="2" charset="-122"/>
              </a:rPr>
              <a:t>        </a:t>
            </a:r>
            <a:r>
              <a:rPr lang="en-US" sz="1600" b="0" dirty="0">
                <a:solidFill>
                  <a:srgbClr val="000000"/>
                </a:solidFill>
                <a:latin typeface="Calibri" panose="020F0502020204030204" pitchFamily="34" charset="0"/>
              </a:rPr>
              <a:t>               </a:t>
            </a:r>
            <a:r>
              <a:rPr lang="en-US" sz="1600" b="0" dirty="0">
                <a:solidFill>
                  <a:srgbClr val="000000"/>
                </a:solidFill>
                <a:latin typeface="宋体" panose="02010600030101010101" pitchFamily="2" charset="-122"/>
              </a:rPr>
              <a:t>                                                                               </a:t>
            </a:r>
            <a:endParaRPr lang="zh-CN" altLang="en-US" sz="16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FF206FCC-0CBB-4DF4-89C1-3C9DB4B6E776}" type="slidenum">
              <a:rPr lang="zh-CN" altLang="en-US" smtClean="0"/>
            </a:fld>
            <a:r>
              <a:rPr lang="zh-CN" altLang="en-US"/>
              <a:t>   </a:t>
            </a:r>
            <a:endParaRPr lang="zh-CN" altLang="en-US" dirty="0"/>
          </a:p>
        </p:txBody>
      </p:sp>
      <p:sp>
        <p:nvSpPr>
          <p:cNvPr id="5" name="内容占位符 1"/>
          <p:cNvSpPr>
            <a:spLocks noGrp="1"/>
          </p:cNvSpPr>
          <p:nvPr>
            <p:ph idx="1"/>
          </p:nvPr>
        </p:nvSpPr>
        <p:spPr>
          <a:xfrm>
            <a:off x="676415" y="750592"/>
            <a:ext cx="10237796" cy="5484908"/>
          </a:xfrm>
        </p:spPr>
        <p:txBody>
          <a:bodyPr>
            <a:normAutofit/>
          </a:bodyPr>
          <a:lstStyle/>
          <a:p>
            <a:pPr marL="0" indent="0"/>
            <a:r>
              <a:rPr lang="zh-CN" altLang="zh-CN" kern="1000" dirty="0">
                <a:solidFill>
                  <a:srgbClr val="000000"/>
                </a:solidFill>
                <a:effectLst/>
                <a:cs typeface="Times New Roman" panose="02020603050405020304" pitchFamily="18" charset="0"/>
              </a:rPr>
              <a:t>程序运行结果如下，绘制的结果图如</a:t>
            </a:r>
            <a:r>
              <a:rPr lang="zh-CN" altLang="en-US" kern="1000" dirty="0">
                <a:solidFill>
                  <a:srgbClr val="000000"/>
                </a:solidFill>
                <a:effectLst/>
                <a:cs typeface="Times New Roman" panose="02020603050405020304" pitchFamily="18" charset="0"/>
              </a:rPr>
              <a:t>下</a:t>
            </a:r>
            <a:r>
              <a:rPr lang="zh-CN" altLang="zh-CN" kern="1000" dirty="0">
                <a:solidFill>
                  <a:srgbClr val="000000"/>
                </a:solidFill>
                <a:effectLst/>
                <a:cs typeface="Times New Roman" panose="02020603050405020304" pitchFamily="18" charset="0"/>
              </a:rPr>
              <a:t>图所示</a:t>
            </a:r>
            <a:r>
              <a:rPr lang="zh-CN" altLang="zh-CN" kern="1000" dirty="0">
                <a:solidFill>
                  <a:schemeClr val="tx1"/>
                </a:solidFill>
                <a:effectLst/>
                <a:cs typeface="Times New Roman" panose="02020603050405020304" pitchFamily="18" charset="0"/>
              </a:rPr>
              <a:t>：</a:t>
            </a:r>
            <a:endParaRPr kumimoji="1" lang="en-US" altLang="zh-CN" dirty="0">
              <a:solidFill>
                <a:schemeClr val="tx1"/>
              </a:solidFill>
            </a:endParaRPr>
          </a:p>
          <a:p>
            <a:pPr marL="533400" marR="120015" indent="0" algn="just">
              <a:buNone/>
            </a:pPr>
            <a:r>
              <a:rPr lang="en-US" altLang="zh-CN" sz="1600" kern="1000" dirty="0">
                <a:solidFill>
                  <a:schemeClr val="tx1"/>
                </a:solidFill>
                <a:effectLst/>
              </a:rPr>
              <a:t>Ada Boost : 0.9590643274853801</a:t>
            </a:r>
            <a:endParaRPr lang="zh-CN" altLang="zh-CN" sz="1600" kern="1000" dirty="0">
              <a:solidFill>
                <a:schemeClr val="tx1"/>
              </a:solidFill>
              <a:effectLst/>
            </a:endParaRPr>
          </a:p>
          <a:p>
            <a:pPr marL="533400" marR="120015" indent="0" algn="just">
              <a:buNone/>
            </a:pPr>
            <a:r>
              <a:rPr lang="en-US" altLang="zh-CN" sz="1600" kern="1000" dirty="0">
                <a:solidFill>
                  <a:schemeClr val="tx1"/>
                </a:solidFill>
                <a:effectLst/>
              </a:rPr>
              <a:t>Decision Tree : 0.9181286549707602</a:t>
            </a:r>
            <a:endParaRPr lang="en-US" altLang="zh-CN" sz="1600" kern="1000" dirty="0">
              <a:solidFill>
                <a:schemeClr val="tx1"/>
              </a:solidFill>
              <a:effectLst/>
            </a:endParaRPr>
          </a:p>
          <a:p>
            <a:pPr marL="533400" marR="120015" indent="0">
              <a:buNone/>
            </a:pPr>
            <a:endParaRPr lang="en-US" altLang="zh-CN" sz="1800" kern="1000" dirty="0">
              <a:solidFill>
                <a:schemeClr val="tx1"/>
              </a:solidFill>
              <a:effectLst/>
            </a:endParaRPr>
          </a:p>
          <a:p>
            <a:pPr marL="533400" marR="120015" indent="0">
              <a:buNone/>
            </a:pPr>
            <a:endParaRPr lang="en-US" altLang="zh-CN" sz="1800" kern="1000" dirty="0">
              <a:solidFill>
                <a:schemeClr val="tx1"/>
              </a:solidFill>
            </a:endParaRPr>
          </a:p>
          <a:p>
            <a:pPr marL="533400" marR="120015" indent="0">
              <a:buNone/>
            </a:pPr>
            <a:endParaRPr lang="en-US" altLang="zh-CN" sz="1800" kern="1000" dirty="0">
              <a:solidFill>
                <a:schemeClr val="tx1"/>
              </a:solidFill>
              <a:effectLst/>
            </a:endParaRPr>
          </a:p>
          <a:p>
            <a:pPr marL="533400" marR="120015" indent="0">
              <a:buNone/>
            </a:pPr>
            <a:endParaRPr lang="en-US" altLang="zh-CN" sz="1800" kern="1000" dirty="0">
              <a:solidFill>
                <a:schemeClr val="tx1"/>
              </a:solidFill>
            </a:endParaRPr>
          </a:p>
          <a:p>
            <a:pPr marL="533400" marR="120015" indent="0">
              <a:buNone/>
            </a:pPr>
            <a:endParaRPr lang="en-US" altLang="zh-CN" sz="1800" kern="1000" dirty="0">
              <a:solidFill>
                <a:schemeClr val="tx1"/>
              </a:solidFill>
              <a:effectLst/>
            </a:endParaRPr>
          </a:p>
          <a:p>
            <a:pPr marL="533400" marR="120015" indent="0">
              <a:buNone/>
            </a:pPr>
            <a:endParaRPr lang="en-US" altLang="zh-CN" sz="1800" kern="1000" dirty="0">
              <a:solidFill>
                <a:schemeClr val="tx1"/>
              </a:solidFill>
            </a:endParaRPr>
          </a:p>
          <a:p>
            <a:pPr marL="533400" marR="120015" indent="0">
              <a:buNone/>
            </a:pPr>
            <a:endParaRPr lang="en-US" altLang="zh-CN" sz="1800" kern="1000" dirty="0">
              <a:solidFill>
                <a:schemeClr val="tx1"/>
              </a:solidFill>
              <a:effectLst/>
            </a:endParaRPr>
          </a:p>
          <a:p>
            <a:pPr marL="533400" marR="120015" indent="0" algn="ctr">
              <a:buNone/>
            </a:pPr>
            <a:r>
              <a:rPr lang="en-US" altLang="zh-CN" sz="1600" kern="1000" dirty="0">
                <a:solidFill>
                  <a:schemeClr val="tx1"/>
                </a:solidFill>
                <a:effectLst/>
                <a:latin typeface="宋体" panose="02010600030101010101" pitchFamily="2" charset="-122"/>
                <a:ea typeface="宋体" panose="02010600030101010101" pitchFamily="2" charset="-122"/>
              </a:rPr>
              <a:t>Adaboost</a:t>
            </a:r>
            <a:r>
              <a:rPr lang="zh-CN" altLang="zh-CN" sz="1600" kern="1000" dirty="0">
                <a:solidFill>
                  <a:schemeClr val="tx1"/>
                </a:solidFill>
                <a:effectLst/>
                <a:latin typeface="宋体" panose="02010600030101010101" pitchFamily="2" charset="-122"/>
                <a:ea typeface="宋体" panose="02010600030101010101" pitchFamily="2" charset="-122"/>
              </a:rPr>
              <a:t>算法准确率随</a:t>
            </a:r>
            <a:r>
              <a:rPr lang="en-US" altLang="zh-CN" sz="1600" kern="1000" dirty="0" err="1">
                <a:solidFill>
                  <a:schemeClr val="tx1"/>
                </a:solidFill>
                <a:effectLst/>
                <a:latin typeface="宋体" panose="02010600030101010101" pitchFamily="2" charset="-122"/>
                <a:ea typeface="宋体" panose="02010600030101010101" pitchFamily="2" charset="-122"/>
              </a:rPr>
              <a:t>n_estimators</a:t>
            </a:r>
            <a:r>
              <a:rPr lang="zh-CN" altLang="zh-CN" sz="1600" kern="1000" dirty="0">
                <a:solidFill>
                  <a:schemeClr val="tx1"/>
                </a:solidFill>
                <a:effectLst/>
                <a:latin typeface="宋体" panose="02010600030101010101" pitchFamily="2" charset="-122"/>
                <a:ea typeface="宋体" panose="02010600030101010101" pitchFamily="2" charset="-122"/>
              </a:rPr>
              <a:t>参数变化图</a:t>
            </a:r>
            <a:endParaRPr lang="zh-CN" altLang="zh-CN" sz="1600" kern="1000" dirty="0">
              <a:solidFill>
                <a:schemeClr val="tx1"/>
              </a:solidFill>
              <a:effectLst/>
              <a:latin typeface="宋体" panose="02010600030101010101" pitchFamily="2" charset="-122"/>
              <a:ea typeface="宋体" panose="02010600030101010101" pitchFamily="2" charset="-122"/>
            </a:endParaRPr>
          </a:p>
          <a:p>
            <a:pPr marL="533400" marR="120015" indent="0" algn="just">
              <a:buNone/>
            </a:pPr>
            <a:endParaRPr lang="zh-CN" altLang="zh-CN" sz="1600" kern="1000" dirty="0">
              <a:solidFill>
                <a:srgbClr val="000000"/>
              </a:solidFill>
              <a:effectLst/>
            </a:endParaRPr>
          </a:p>
          <a:p>
            <a:pPr marL="360045" indent="0" fontAlgn="auto">
              <a:buNone/>
            </a:pPr>
            <a:endParaRPr kumimoji="1" lang="zh-CN" altLang="en-US" sz="1600" dirty="0">
              <a:solidFill>
                <a:schemeClr val="tx1"/>
              </a:solidFill>
            </a:endParaRPr>
          </a:p>
        </p:txBody>
      </p:sp>
      <p:pic>
        <p:nvPicPr>
          <p:cNvPr id="8" name="图片 7"/>
          <p:cNvPicPr/>
          <p:nvPr/>
        </p:nvPicPr>
        <p:blipFill>
          <a:blip r:embed="rId1" cstate="print">
            <a:extLst>
              <a:ext uri="{28A0092B-C50C-407E-A947-70E740481C1C}">
                <a14:useLocalDpi xmlns:a14="http://schemas.microsoft.com/office/drawing/2010/main" val="0"/>
              </a:ext>
            </a:extLst>
          </a:blip>
          <a:stretch>
            <a:fillRect/>
          </a:stretch>
        </p:blipFill>
        <p:spPr>
          <a:xfrm>
            <a:off x="3603812" y="2506531"/>
            <a:ext cx="4329098" cy="3074732"/>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FF206FCC-0CBB-4DF4-89C1-3C9DB4B6E776}" type="slidenum">
              <a:rPr lang="zh-CN" altLang="en-US" smtClean="0"/>
            </a:fld>
            <a:r>
              <a:rPr lang="zh-CN" altLang="en-US"/>
              <a:t>   </a:t>
            </a:r>
            <a:endParaRPr lang="zh-CN" altLang="en-US" dirty="0"/>
          </a:p>
        </p:txBody>
      </p:sp>
      <p:sp>
        <p:nvSpPr>
          <p:cNvPr id="4" name="标题 3"/>
          <p:cNvSpPr>
            <a:spLocks noGrp="1"/>
          </p:cNvSpPr>
          <p:nvPr>
            <p:ph type="title"/>
          </p:nvPr>
        </p:nvSpPr>
        <p:spPr>
          <a:xfrm>
            <a:off x="284867" y="337390"/>
            <a:ext cx="4776874" cy="606839"/>
          </a:xfrm>
          <a:solidFill>
            <a:srgbClr val="92D050"/>
          </a:solidFill>
        </p:spPr>
        <p:txBody>
          <a:bodyPr/>
          <a:lstStyle/>
          <a:p>
            <a:pPr algn="just"/>
            <a:r>
              <a:rPr lang="zh-CN" altLang="en-US" dirty="0"/>
              <a:t>提升法</a:t>
            </a:r>
            <a:r>
              <a:rPr lang="en-US" altLang="zh-CN" dirty="0"/>
              <a:t>--GBDT</a:t>
            </a:r>
            <a:endParaRPr lang="en-US" altLang="zh-CN" dirty="0"/>
          </a:p>
        </p:txBody>
      </p:sp>
      <mc:AlternateContent xmlns:mc="http://schemas.openxmlformats.org/markup-compatibility/2006">
        <mc:Choice xmlns:a14="http://schemas.microsoft.com/office/drawing/2010/main" Requires="a14">
          <p:sp>
            <p:nvSpPr>
              <p:cNvPr id="5" name="内容占位符 1"/>
              <p:cNvSpPr>
                <a:spLocks noGrp="1"/>
              </p:cNvSpPr>
              <p:nvPr>
                <p:ph idx="1"/>
              </p:nvPr>
            </p:nvSpPr>
            <p:spPr>
              <a:xfrm>
                <a:off x="1088968" y="1116352"/>
                <a:ext cx="10050088" cy="5509592"/>
              </a:xfrm>
            </p:spPr>
            <p:txBody>
              <a:bodyPr vert="horz" lIns="91440" tIns="45720" rIns="91440" bIns="45720" rtlCol="0">
                <a:normAutofit fontScale="92500"/>
              </a:bodyPr>
              <a:lstStyle/>
              <a:p>
                <a:pPr lvl="0" algn="just"/>
                <a:r>
                  <a:rPr lang="en-US" altLang="zh-CN" sz="1900" kern="1000" dirty="0">
                    <a:solidFill>
                      <a:srgbClr val="000000"/>
                    </a:solidFill>
                    <a:effectLst/>
                  </a:rPr>
                  <a:t>Gradient Boosting</a:t>
                </a:r>
                <a:r>
                  <a:rPr kumimoji="1" lang="zh-CN" altLang="en-US" sz="1900" dirty="0">
                    <a:sym typeface="+mn-ea"/>
                  </a:rPr>
                  <a:t>算法原理</a:t>
                </a:r>
                <a:endParaRPr kumimoji="1" lang="en-US" altLang="zh-CN" sz="1900" dirty="0">
                  <a:sym typeface="+mn-ea"/>
                </a:endParaRPr>
              </a:p>
              <a:p>
                <a:pPr marL="0" indent="0">
                  <a:buNone/>
                </a:pPr>
                <a:r>
                  <a:rPr lang="en-US" altLang="zh-CN" sz="1700" dirty="0"/>
                  <a:t>     </a:t>
                </a:r>
                <a:r>
                  <a:rPr lang="zh-CN" altLang="zh-CN" sz="1600" dirty="0"/>
                  <a:t>梯度提升（</a:t>
                </a:r>
                <a:r>
                  <a:rPr lang="en-US" altLang="zh-CN" sz="1600" dirty="0"/>
                  <a:t>Gradient Boosting</a:t>
                </a:r>
                <a:r>
                  <a:rPr lang="zh-CN" altLang="zh-CN" sz="1600" dirty="0"/>
                  <a:t>）是一种用于回归和分类问题的集成学习方法，生成一个由弱学习器（通常是决策树）组成的强学习器。梯度提升的思想源于</a:t>
                </a:r>
                <a:r>
                  <a:rPr lang="zh-CN" altLang="en-US" sz="1600" dirty="0"/>
                  <a:t>里奥</a:t>
                </a:r>
                <a:r>
                  <a:rPr lang="en-US" altLang="zh-CN" sz="1600" dirty="0"/>
                  <a:t>.</a:t>
                </a:r>
                <a:r>
                  <a:rPr lang="zh-CN" altLang="en-US" sz="1600" dirty="0"/>
                  <a:t>布莱曼 </a:t>
                </a:r>
                <a:r>
                  <a:rPr lang="en-US" altLang="zh-CN" sz="1600" dirty="0"/>
                  <a:t>Leo </a:t>
                </a:r>
                <a:r>
                  <a:rPr lang="en-US" altLang="zh-CN" sz="1600" dirty="0" err="1"/>
                  <a:t>Breiman</a:t>
                </a:r>
                <a:r>
                  <a:rPr lang="zh-CN" altLang="zh-CN" sz="1600" dirty="0"/>
                  <a:t>的一次观察，提升可以被解释为基于一个合适的代价函数的优化算法。随后，</a:t>
                </a:r>
                <a:r>
                  <a:rPr lang="en-US" altLang="zh-CN" sz="1600" dirty="0"/>
                  <a:t>Jerome H. Friedman</a:t>
                </a:r>
                <a:r>
                  <a:rPr lang="zh-CN" altLang="zh-CN" sz="1600" dirty="0"/>
                  <a:t>开发了一个显式回归梯度提升算法，通过迭代选择一个指向负梯度方向上的函数（弱假设），优化函数空间上的成本函数，拟合一棵决策树。在回归问题中，称为梯度提升回归树（</a:t>
                </a:r>
                <a:r>
                  <a:rPr lang="en-US" altLang="zh-CN" sz="1600" dirty="0"/>
                  <a:t>Gradient Boosting </a:t>
                </a:r>
                <a:r>
                  <a:rPr lang="en-US" altLang="zh-CN" sz="1600" dirty="0" err="1"/>
                  <a:t>Rgression</a:t>
                </a:r>
                <a:r>
                  <a:rPr lang="en-US" altLang="zh-CN" sz="1600" dirty="0"/>
                  <a:t> Tree</a:t>
                </a:r>
                <a:r>
                  <a:rPr lang="zh-CN" altLang="zh-CN" sz="1600" dirty="0"/>
                  <a:t>，</a:t>
                </a:r>
                <a:r>
                  <a:rPr lang="en-US" altLang="zh-CN" sz="1600" dirty="0"/>
                  <a:t>GBRT</a:t>
                </a:r>
                <a:r>
                  <a:rPr lang="zh-CN" altLang="zh-CN" sz="1600" dirty="0"/>
                  <a:t>）。在分类问题中，又被称为</a:t>
                </a:r>
                <a:r>
                  <a:rPr lang="zh-CN" altLang="en-US" sz="1600" dirty="0"/>
                  <a:t>梯度</a:t>
                </a:r>
                <a:r>
                  <a:rPr lang="zh-CN" altLang="zh-CN" sz="1600" dirty="0"/>
                  <a:t>提升决策树（</a:t>
                </a:r>
                <a:r>
                  <a:rPr lang="en-US" altLang="zh-CN" sz="1600" dirty="0"/>
                  <a:t>Gradient Boosting Decision Tree</a:t>
                </a:r>
                <a:r>
                  <a:rPr lang="zh-CN" altLang="zh-CN" sz="1600" dirty="0"/>
                  <a:t>，</a:t>
                </a:r>
                <a:r>
                  <a:rPr lang="en-US" altLang="zh-CN" sz="1600" dirty="0"/>
                  <a:t>GBDT</a:t>
                </a:r>
                <a:r>
                  <a:rPr lang="zh-CN" altLang="zh-CN" sz="1600" dirty="0"/>
                  <a:t>）。</a:t>
                </a:r>
                <a:endParaRPr lang="zh-CN" altLang="zh-CN" sz="1600" dirty="0"/>
              </a:p>
              <a:p>
                <a:pPr marL="0" indent="0">
                  <a:buNone/>
                </a:pPr>
                <a:r>
                  <a:rPr lang="en-US" altLang="zh-CN" sz="1600" dirty="0"/>
                  <a:t>      </a:t>
                </a:r>
                <a:r>
                  <a:rPr lang="zh-CN" altLang="zh-CN" sz="1600" dirty="0"/>
                  <a:t>提升决策树的弱学习器只使用</a:t>
                </a:r>
                <a:r>
                  <a:rPr lang="en-US" altLang="zh-CN" sz="1600" dirty="0"/>
                  <a:t>CART</a:t>
                </a:r>
                <a:r>
                  <a:rPr lang="zh-CN" altLang="zh-CN" sz="1600" dirty="0"/>
                  <a:t>回归树模型，迭代方法也与</a:t>
                </a:r>
                <a:r>
                  <a:rPr lang="en-US" altLang="zh-CN" sz="1600" dirty="0" err="1"/>
                  <a:t>Adaboost</a:t>
                </a:r>
                <a:r>
                  <a:rPr lang="zh-CN" altLang="zh-CN" sz="1600" dirty="0"/>
                  <a:t>有所不同。在</a:t>
                </a:r>
                <a:r>
                  <a:rPr lang="en-US" altLang="zh-CN" sz="1600" dirty="0"/>
                  <a:t>GBDT</a:t>
                </a:r>
                <a:r>
                  <a:rPr lang="zh-CN" altLang="zh-CN" sz="1600" dirty="0"/>
                  <a:t>的迭代中，假设前一轮迭代得到的强学习器是</a:t>
                </a:r>
                <a14:m>
                  <m:oMath xmlns:m="http://schemas.openxmlformats.org/officeDocument/2006/math">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𝑓</m:t>
                        </m:r>
                      </m:e>
                      <m:sub>
                        <m:r>
                          <a:rPr lang="en-US" altLang="zh-CN" sz="1600" i="1">
                            <a:latin typeface="Cambria Math" panose="02040503050406030204" pitchFamily="18" charset="0"/>
                          </a:rPr>
                          <m:t>𝑚</m:t>
                        </m:r>
                        <m:r>
                          <a:rPr lang="en-US" altLang="zh-CN" sz="1600" i="1">
                            <a:latin typeface="Cambria Math" panose="02040503050406030204" pitchFamily="18" charset="0"/>
                          </a:rPr>
                          <m:t>−</m:t>
                        </m:r>
                        <m:r>
                          <a:rPr lang="en-US" altLang="zh-CN" sz="1600" i="1">
                            <a:latin typeface="Cambria Math" panose="02040503050406030204" pitchFamily="18" charset="0"/>
                          </a:rPr>
                          <m:t>1</m:t>
                        </m:r>
                      </m:sub>
                    </m:sSub>
                    <m:d>
                      <m:dPr>
                        <m:ctrlPr>
                          <a:rPr lang="zh-CN" altLang="zh-CN" sz="1600" i="1">
                            <a:latin typeface="Cambria Math" panose="02040503050406030204" pitchFamily="18" charset="0"/>
                          </a:rPr>
                        </m:ctrlPr>
                      </m:dPr>
                      <m:e>
                        <m:r>
                          <a:rPr lang="en-US" altLang="zh-CN" sz="1600" i="1">
                            <a:latin typeface="Cambria Math" panose="02040503050406030204" pitchFamily="18" charset="0"/>
                          </a:rPr>
                          <m:t>𝑥</m:t>
                        </m:r>
                      </m:e>
                    </m:d>
                  </m:oMath>
                </a14:m>
                <a:r>
                  <a:rPr lang="zh-CN" altLang="zh-CN" sz="1600" dirty="0"/>
                  <a:t>，损失函数是</a:t>
                </a:r>
                <a14:m>
                  <m:oMath xmlns:m="http://schemas.openxmlformats.org/officeDocument/2006/math">
                    <m:r>
                      <m:rPr>
                        <m:sty m:val="p"/>
                      </m:rPr>
                      <a:rPr lang="en-US" altLang="zh-CN" sz="1600">
                        <a:latin typeface="Cambria Math" panose="02040503050406030204" pitchFamily="18" charset="0"/>
                      </a:rPr>
                      <m:t>L</m:t>
                    </m:r>
                    <m:d>
                      <m:dPr>
                        <m:ctrlPr>
                          <a:rPr lang="zh-CN" altLang="zh-CN" sz="1600" i="1">
                            <a:latin typeface="Cambria Math" panose="02040503050406030204" pitchFamily="18" charset="0"/>
                          </a:rPr>
                        </m:ctrlPr>
                      </m:dPr>
                      <m:e>
                        <m:r>
                          <a:rPr lang="en-US" altLang="zh-CN" sz="1600" i="1">
                            <a:latin typeface="Cambria Math" panose="02040503050406030204" pitchFamily="18" charset="0"/>
                          </a:rPr>
                          <m:t>𝑦</m:t>
                        </m:r>
                        <m:r>
                          <a:rPr lang="en-US" altLang="zh-CN" sz="1600" i="1">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𝑓</m:t>
                            </m:r>
                          </m:e>
                          <m:sub>
                            <m:r>
                              <a:rPr lang="en-US" altLang="zh-CN" sz="1600" i="1">
                                <a:latin typeface="Cambria Math" panose="02040503050406030204" pitchFamily="18" charset="0"/>
                              </a:rPr>
                              <m:t>𝑚</m:t>
                            </m:r>
                            <m:r>
                              <a:rPr lang="en-US" altLang="zh-CN" sz="1600" i="1">
                                <a:latin typeface="Cambria Math" panose="02040503050406030204" pitchFamily="18" charset="0"/>
                              </a:rPr>
                              <m:t>−</m:t>
                            </m:r>
                            <m:r>
                              <a:rPr lang="en-US" altLang="zh-CN" sz="1600" i="1">
                                <a:latin typeface="Cambria Math" panose="02040503050406030204" pitchFamily="18" charset="0"/>
                              </a:rPr>
                              <m:t>1</m:t>
                            </m:r>
                          </m:sub>
                        </m:sSub>
                        <m:d>
                          <m:dPr>
                            <m:ctrlPr>
                              <a:rPr lang="zh-CN" altLang="zh-CN" sz="1600" i="1">
                                <a:latin typeface="Cambria Math" panose="02040503050406030204" pitchFamily="18" charset="0"/>
                              </a:rPr>
                            </m:ctrlPr>
                          </m:dPr>
                          <m:e>
                            <m:r>
                              <a:rPr lang="en-US" altLang="zh-CN" sz="1600" i="1">
                                <a:latin typeface="Cambria Math" panose="02040503050406030204" pitchFamily="18" charset="0"/>
                              </a:rPr>
                              <m:t>𝑥</m:t>
                            </m:r>
                          </m:e>
                        </m:d>
                      </m:e>
                    </m:d>
                  </m:oMath>
                </a14:m>
                <a:r>
                  <a:rPr lang="zh-CN" altLang="zh-CN" sz="1600" dirty="0"/>
                  <a:t>，本轮迭代的目标是找到一棵</a:t>
                </a:r>
                <a:r>
                  <a:rPr lang="en-US" altLang="zh-CN" sz="1600" dirty="0"/>
                  <a:t>CART</a:t>
                </a:r>
                <a:r>
                  <a:rPr lang="zh-CN" altLang="zh-CN" sz="1600" dirty="0"/>
                  <a:t>回归树模型的弱学习器</a:t>
                </a:r>
                <a14:m>
                  <m:oMath xmlns:m="http://schemas.openxmlformats.org/officeDocument/2006/math">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ℎ</m:t>
                        </m:r>
                      </m:e>
                      <m:sub>
                        <m:r>
                          <a:rPr lang="en-US" altLang="zh-CN" sz="1600" i="1">
                            <a:latin typeface="Cambria Math" panose="02040503050406030204" pitchFamily="18" charset="0"/>
                          </a:rPr>
                          <m:t>𝑚</m:t>
                        </m:r>
                      </m:sub>
                    </m:sSub>
                    <m:d>
                      <m:dPr>
                        <m:ctrlPr>
                          <a:rPr lang="zh-CN" altLang="zh-CN" sz="1600" i="1">
                            <a:latin typeface="Cambria Math" panose="02040503050406030204" pitchFamily="18" charset="0"/>
                          </a:rPr>
                        </m:ctrlPr>
                      </m:dPr>
                      <m:e>
                        <m:r>
                          <a:rPr lang="en-US" altLang="zh-CN" sz="1600" i="1">
                            <a:latin typeface="Cambria Math" panose="02040503050406030204" pitchFamily="18" charset="0"/>
                          </a:rPr>
                          <m:t>𝑥</m:t>
                        </m:r>
                      </m:e>
                    </m:d>
                  </m:oMath>
                </a14:m>
                <a:r>
                  <a:rPr lang="zh-CN" altLang="zh-CN" sz="1600" dirty="0"/>
                  <a:t>，让本轮的损失</a:t>
                </a:r>
                <a14:m>
                  <m:oMath xmlns:m="http://schemas.openxmlformats.org/officeDocument/2006/math">
                    <m:r>
                      <m:rPr>
                        <m:sty m:val="p"/>
                      </m:rPr>
                      <a:rPr lang="en-US" altLang="zh-CN" sz="1600">
                        <a:latin typeface="Cambria Math" panose="02040503050406030204" pitchFamily="18" charset="0"/>
                      </a:rPr>
                      <m:t>L</m:t>
                    </m:r>
                    <m:d>
                      <m:dPr>
                        <m:ctrlPr>
                          <a:rPr lang="zh-CN" altLang="zh-CN" sz="1600" i="1">
                            <a:latin typeface="Cambria Math" panose="02040503050406030204" pitchFamily="18" charset="0"/>
                          </a:rPr>
                        </m:ctrlPr>
                      </m:dPr>
                      <m:e>
                        <m:r>
                          <a:rPr lang="en-US" altLang="zh-CN" sz="1600" i="1">
                            <a:latin typeface="Cambria Math" panose="02040503050406030204" pitchFamily="18" charset="0"/>
                          </a:rPr>
                          <m:t>𝑦</m:t>
                        </m:r>
                        <m:r>
                          <a:rPr lang="en-US" altLang="zh-CN" sz="1600" i="1">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𝑓</m:t>
                            </m:r>
                          </m:e>
                          <m:sub>
                            <m:r>
                              <a:rPr lang="en-US" altLang="zh-CN" sz="1600" i="1">
                                <a:latin typeface="Cambria Math" panose="02040503050406030204" pitchFamily="18" charset="0"/>
                              </a:rPr>
                              <m:t>𝑚</m:t>
                            </m:r>
                          </m:sub>
                        </m:sSub>
                        <m:d>
                          <m:dPr>
                            <m:ctrlPr>
                              <a:rPr lang="zh-CN" altLang="zh-CN" sz="1600" i="1">
                                <a:latin typeface="Cambria Math" panose="02040503050406030204" pitchFamily="18" charset="0"/>
                              </a:rPr>
                            </m:ctrlPr>
                          </m:dPr>
                          <m:e>
                            <m:r>
                              <a:rPr lang="en-US" altLang="zh-CN" sz="1600" i="1">
                                <a:latin typeface="Cambria Math" panose="02040503050406030204" pitchFamily="18" charset="0"/>
                              </a:rPr>
                              <m:t>𝑥</m:t>
                            </m:r>
                          </m:e>
                        </m:d>
                        <m:r>
                          <a:rPr lang="en-US" altLang="zh-CN" sz="1600" i="1">
                            <a:latin typeface="Cambria Math" panose="02040503050406030204" pitchFamily="18" charset="0"/>
                          </a:rPr>
                          <m:t>=</m:t>
                        </m:r>
                        <m:r>
                          <m:rPr>
                            <m:sty m:val="p"/>
                          </m:rPr>
                          <a:rPr lang="en-US" altLang="zh-CN" sz="1600">
                            <a:latin typeface="Cambria Math" panose="02040503050406030204" pitchFamily="18" charset="0"/>
                          </a:rPr>
                          <m:t>L</m:t>
                        </m:r>
                        <m:d>
                          <m:dPr>
                            <m:ctrlPr>
                              <a:rPr lang="zh-CN" altLang="zh-CN" sz="1600" i="1">
                                <a:latin typeface="Cambria Math" panose="02040503050406030204" pitchFamily="18" charset="0"/>
                              </a:rPr>
                            </m:ctrlPr>
                          </m:dPr>
                          <m:e>
                            <m:r>
                              <a:rPr lang="en-US" altLang="zh-CN" sz="1600" i="1">
                                <a:latin typeface="Cambria Math" panose="02040503050406030204" pitchFamily="18" charset="0"/>
                              </a:rPr>
                              <m:t>𝑦</m:t>
                            </m:r>
                            <m:r>
                              <a:rPr lang="en-US" altLang="zh-CN" sz="1600" i="1">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𝑓</m:t>
                                </m:r>
                              </m:e>
                              <m:sub>
                                <m:r>
                                  <a:rPr lang="en-US" altLang="zh-CN" sz="1600" i="1">
                                    <a:latin typeface="Cambria Math" panose="02040503050406030204" pitchFamily="18" charset="0"/>
                                  </a:rPr>
                                  <m:t>𝑚</m:t>
                                </m:r>
                                <m:r>
                                  <a:rPr lang="en-US" altLang="zh-CN" sz="1600" i="1">
                                    <a:latin typeface="Cambria Math" panose="02040503050406030204" pitchFamily="18" charset="0"/>
                                  </a:rPr>
                                  <m:t>−</m:t>
                                </m:r>
                                <m:r>
                                  <a:rPr lang="en-US" altLang="zh-CN" sz="1600" i="1">
                                    <a:latin typeface="Cambria Math" panose="02040503050406030204" pitchFamily="18" charset="0"/>
                                  </a:rPr>
                                  <m:t>1</m:t>
                                </m:r>
                              </m:sub>
                            </m:sSub>
                            <m:d>
                              <m:dPr>
                                <m:ctrlPr>
                                  <a:rPr lang="zh-CN" altLang="zh-CN" sz="1600" i="1">
                                    <a:latin typeface="Cambria Math" panose="02040503050406030204" pitchFamily="18" charset="0"/>
                                  </a:rPr>
                                </m:ctrlPr>
                              </m:dPr>
                              <m:e>
                                <m:r>
                                  <a:rPr lang="en-US" altLang="zh-CN" sz="1600" i="1">
                                    <a:latin typeface="Cambria Math" panose="02040503050406030204" pitchFamily="18" charset="0"/>
                                  </a:rPr>
                                  <m:t>𝑥</m:t>
                                </m:r>
                              </m:e>
                            </m:d>
                          </m:e>
                        </m:d>
                        <m:r>
                          <a:rPr lang="en-US" altLang="zh-CN" sz="1600" i="1">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ℎ</m:t>
                            </m:r>
                          </m:e>
                          <m:sub>
                            <m:r>
                              <a:rPr lang="en-US" altLang="zh-CN" sz="1600" i="1">
                                <a:latin typeface="Cambria Math" panose="02040503050406030204" pitchFamily="18" charset="0"/>
                              </a:rPr>
                              <m:t>𝑚</m:t>
                            </m:r>
                          </m:sub>
                        </m:sSub>
                        <m:d>
                          <m:dPr>
                            <m:ctrlPr>
                              <a:rPr lang="zh-CN" altLang="zh-CN" sz="1600" i="1">
                                <a:latin typeface="Cambria Math" panose="02040503050406030204" pitchFamily="18" charset="0"/>
                              </a:rPr>
                            </m:ctrlPr>
                          </m:dPr>
                          <m:e>
                            <m:r>
                              <a:rPr lang="en-US" altLang="zh-CN" sz="1600" i="1">
                                <a:latin typeface="Cambria Math" panose="02040503050406030204" pitchFamily="18" charset="0"/>
                              </a:rPr>
                              <m:t>𝑥</m:t>
                            </m:r>
                          </m:e>
                        </m:d>
                      </m:e>
                    </m:d>
                  </m:oMath>
                </a14:m>
                <a:r>
                  <a:rPr lang="zh-CN" altLang="zh-CN" sz="1600" dirty="0"/>
                  <a:t>最小，即本轮迭代找到的决策树，要使样本的损失尽量变得更小</a:t>
                </a:r>
                <a:r>
                  <a:rPr lang="zh-CN" altLang="en-US" sz="1600" dirty="0"/>
                  <a:t>。</a:t>
                </a:r>
                <a:endParaRPr kumimoji="1" lang="en-US" altLang="zh-CN" sz="1600" dirty="0">
                  <a:sym typeface="+mn-ea"/>
                </a:endParaRPr>
              </a:p>
            </p:txBody>
          </p:sp>
        </mc:Choice>
        <mc:Fallback>
          <p:sp>
            <p:nvSpPr>
              <p:cNvPr id="5" name="内容占位符 1"/>
              <p:cNvSpPr>
                <a:spLocks noRot="1" noChangeAspect="1" noMove="1" noResize="1" noEditPoints="1" noAdjustHandles="1" noChangeArrowheads="1" noChangeShapeType="1" noTextEdit="1"/>
              </p:cNvSpPr>
              <p:nvPr>
                <p:ph idx="1"/>
              </p:nvPr>
            </p:nvSpPr>
            <p:spPr>
              <a:xfrm>
                <a:off x="1088968" y="1116352"/>
                <a:ext cx="10050088" cy="5509592"/>
              </a:xfrm>
              <a:blipFill rotWithShape="1">
                <a:blip r:embed="rId1"/>
                <a:stretch>
                  <a:fillRect l="-6" r="5" b="6"/>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FF206FCC-0CBB-4DF4-89C1-3C9DB4B6E776}" type="slidenum">
              <a:rPr lang="zh-CN" altLang="en-US" smtClean="0"/>
            </a:fld>
            <a:r>
              <a:rPr lang="zh-CN" altLang="en-US" dirty="0"/>
              <a:t>   </a:t>
            </a:r>
            <a:endParaRPr lang="zh-CN" altLang="en-US" dirty="0"/>
          </a:p>
        </p:txBody>
      </p:sp>
      <p:sp>
        <p:nvSpPr>
          <p:cNvPr id="4" name="标题 3"/>
          <p:cNvSpPr>
            <a:spLocks noGrp="1"/>
          </p:cNvSpPr>
          <p:nvPr>
            <p:ph type="title"/>
          </p:nvPr>
        </p:nvSpPr>
        <p:spPr/>
        <p:txBody>
          <a:bodyPr/>
          <a:lstStyle/>
          <a:p>
            <a:pPr algn="just"/>
            <a:r>
              <a:rPr lang="zh-CN" altLang="en-US" dirty="0"/>
              <a:t>实现及参数</a:t>
            </a:r>
            <a:endParaRPr lang="en-US" altLang="zh-CN" dirty="0"/>
          </a:p>
        </p:txBody>
      </p:sp>
      <p:sp>
        <p:nvSpPr>
          <p:cNvPr id="5" name="内容占位符 1"/>
          <p:cNvSpPr>
            <a:spLocks noGrp="1"/>
          </p:cNvSpPr>
          <p:nvPr>
            <p:ph idx="1"/>
          </p:nvPr>
        </p:nvSpPr>
        <p:spPr>
          <a:xfrm>
            <a:off x="342928" y="1025495"/>
            <a:ext cx="10237796" cy="2403505"/>
          </a:xfrm>
        </p:spPr>
        <p:txBody>
          <a:bodyPr>
            <a:normAutofit/>
          </a:bodyPr>
          <a:lstStyle/>
          <a:p>
            <a:pPr marL="876300" marR="120015" indent="-342900" algn="l"/>
            <a:r>
              <a:rPr lang="en-US" altLang="zh-CN" kern="1000" dirty="0">
                <a:solidFill>
                  <a:schemeClr val="tx1"/>
                </a:solidFill>
                <a:effectLst/>
              </a:rPr>
              <a:t>Scikit-learn</a:t>
            </a:r>
            <a:r>
              <a:rPr lang="zh-CN" altLang="zh-CN" kern="1000" dirty="0">
                <a:solidFill>
                  <a:schemeClr val="tx1"/>
                </a:solidFill>
                <a:effectLst/>
                <a:cs typeface="Times New Roman" panose="02020603050405020304" pitchFamily="18" charset="0"/>
              </a:rPr>
              <a:t>中的梯度提升分类器的函数原型如下</a:t>
            </a:r>
            <a:r>
              <a:rPr lang="zh-CN" altLang="zh-CN" kern="1000" dirty="0">
                <a:solidFill>
                  <a:schemeClr val="tx1"/>
                </a:solidFill>
                <a:effectLst/>
              </a:rPr>
              <a:t>：</a:t>
            </a:r>
            <a:r>
              <a:rPr lang="en-US" altLang="zh-CN" kern="1000" dirty="0">
                <a:solidFill>
                  <a:schemeClr val="tx1"/>
                </a:solidFill>
                <a:effectLst/>
              </a:rPr>
              <a:t>   </a:t>
            </a:r>
            <a:r>
              <a:rPr lang="en-US" altLang="zh-CN" sz="1600" kern="1000" dirty="0" err="1">
                <a:solidFill>
                  <a:schemeClr val="tx1"/>
                </a:solidFill>
                <a:effectLst/>
              </a:rPr>
              <a:t>sklearn.ensemble.GradientBoostingClassifier</a:t>
            </a:r>
            <a:r>
              <a:rPr lang="en-US" altLang="zh-CN" sz="1600" kern="1000" dirty="0">
                <a:solidFill>
                  <a:schemeClr val="tx1"/>
                </a:solidFill>
                <a:effectLst/>
              </a:rPr>
              <a:t>(</a:t>
            </a:r>
            <a:r>
              <a:rPr lang="en-US" altLang="zh-CN" sz="1600" kern="1000" dirty="0" err="1">
                <a:solidFill>
                  <a:schemeClr val="tx1"/>
                </a:solidFill>
                <a:effectLst/>
              </a:rPr>
              <a:t>learning_rate</a:t>
            </a:r>
            <a:r>
              <a:rPr lang="en-US" altLang="zh-CN" sz="1600" kern="1000" dirty="0">
                <a:solidFill>
                  <a:schemeClr val="tx1"/>
                </a:solidFill>
                <a:effectLst/>
              </a:rPr>
              <a:t>=0.1,n_estimators=100,subsample=1.0, </a:t>
            </a:r>
            <a:r>
              <a:rPr lang="en-US" altLang="zh-CN" sz="1600" kern="1000" dirty="0" err="1">
                <a:solidFill>
                  <a:schemeClr val="tx1"/>
                </a:solidFill>
                <a:effectLst/>
              </a:rPr>
              <a:t>min_samples_split</a:t>
            </a:r>
            <a:r>
              <a:rPr lang="en-US" altLang="zh-CN" sz="1600" kern="1000" dirty="0">
                <a:solidFill>
                  <a:schemeClr val="tx1"/>
                </a:solidFill>
                <a:effectLst/>
              </a:rPr>
              <a:t>=2, </a:t>
            </a:r>
            <a:r>
              <a:rPr lang="en-US" altLang="zh-CN" sz="1600" kern="1000" dirty="0" err="1">
                <a:solidFill>
                  <a:schemeClr val="tx1"/>
                </a:solidFill>
                <a:effectLst/>
              </a:rPr>
              <a:t>min_samples_leaf</a:t>
            </a:r>
            <a:r>
              <a:rPr lang="en-US" altLang="zh-CN" sz="1600" kern="1000" dirty="0">
                <a:solidFill>
                  <a:schemeClr val="tx1"/>
                </a:solidFill>
                <a:effectLst/>
              </a:rPr>
              <a:t>=1, </a:t>
            </a:r>
            <a:r>
              <a:rPr lang="en-US" altLang="zh-CN" sz="1600" kern="1000" dirty="0" err="1">
                <a:solidFill>
                  <a:schemeClr val="tx1"/>
                </a:solidFill>
                <a:effectLst/>
              </a:rPr>
              <a:t>min_weight_fraction_leaf</a:t>
            </a:r>
            <a:r>
              <a:rPr lang="en-US" altLang="zh-CN" sz="1600" kern="1000" dirty="0">
                <a:solidFill>
                  <a:schemeClr val="tx1"/>
                </a:solidFill>
                <a:effectLst/>
              </a:rPr>
              <a:t>=0.0,max_depth=3, </a:t>
            </a:r>
            <a:r>
              <a:rPr lang="en-US" altLang="zh-CN" sz="1600" kern="1000" dirty="0" err="1">
                <a:solidFill>
                  <a:schemeClr val="tx1"/>
                </a:solidFill>
                <a:effectLst/>
              </a:rPr>
              <a:t>random_state</a:t>
            </a:r>
            <a:r>
              <a:rPr lang="en-US" altLang="zh-CN" sz="1600" kern="1000" dirty="0">
                <a:solidFill>
                  <a:schemeClr val="tx1"/>
                </a:solidFill>
                <a:effectLst/>
              </a:rPr>
              <a:t>=None, </a:t>
            </a:r>
            <a:r>
              <a:rPr lang="en-US" altLang="zh-CN" sz="1600" kern="1000" dirty="0" err="1">
                <a:solidFill>
                  <a:schemeClr val="tx1"/>
                </a:solidFill>
                <a:effectLst/>
              </a:rPr>
              <a:t>max_features</a:t>
            </a:r>
            <a:r>
              <a:rPr lang="en-US" altLang="zh-CN" sz="1600" kern="1000" dirty="0">
                <a:solidFill>
                  <a:schemeClr val="tx1"/>
                </a:solidFill>
                <a:effectLst/>
              </a:rPr>
              <a:t>=None, verbose=0,max_leaf_nodes=None, presort=‘auto</a:t>
            </a:r>
            <a:r>
              <a:rPr lang="zh-CN" altLang="en-US" sz="1600" kern="1000" dirty="0">
                <a:solidFill>
                  <a:schemeClr val="tx1"/>
                </a:solidFill>
              </a:rPr>
              <a:t>’）</a:t>
            </a:r>
            <a:endParaRPr kumimoji="1" lang="zh-CN" altLang="en-US" sz="1600" dirty="0">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FF206FCC-0CBB-4DF4-89C1-3C9DB4B6E776}" type="slidenum">
              <a:rPr lang="zh-CN" altLang="en-US" smtClean="0"/>
            </a:fld>
            <a:r>
              <a:rPr lang="zh-CN" altLang="en-US"/>
              <a:t>   </a:t>
            </a:r>
            <a:endParaRPr lang="zh-CN" altLang="en-US" dirty="0"/>
          </a:p>
        </p:txBody>
      </p:sp>
      <p:sp>
        <p:nvSpPr>
          <p:cNvPr id="4" name="标题 3"/>
          <p:cNvSpPr>
            <a:spLocks noGrp="1"/>
          </p:cNvSpPr>
          <p:nvPr>
            <p:ph type="title"/>
          </p:nvPr>
        </p:nvSpPr>
        <p:spPr/>
        <p:txBody>
          <a:bodyPr/>
          <a:lstStyle/>
          <a:p>
            <a:pPr algn="just"/>
            <a:r>
              <a:rPr lang="zh-CN" altLang="en-US" dirty="0"/>
              <a:t>实现及参数</a:t>
            </a:r>
            <a:endParaRPr lang="en-US" altLang="zh-CN" dirty="0"/>
          </a:p>
        </p:txBody>
      </p:sp>
      <p:sp>
        <p:nvSpPr>
          <p:cNvPr id="5" name="内容占位符 1"/>
          <p:cNvSpPr>
            <a:spLocks noGrp="1"/>
          </p:cNvSpPr>
          <p:nvPr>
            <p:ph idx="1"/>
          </p:nvPr>
        </p:nvSpPr>
        <p:spPr>
          <a:xfrm>
            <a:off x="342928" y="1116352"/>
            <a:ext cx="10237796" cy="5484908"/>
          </a:xfrm>
        </p:spPr>
        <p:txBody>
          <a:bodyPr>
            <a:normAutofit/>
          </a:bodyPr>
          <a:lstStyle/>
          <a:p>
            <a:pPr marL="0" indent="0"/>
            <a:r>
              <a:rPr kumimoji="1" lang="en-US" altLang="zh-CN" dirty="0"/>
              <a:t>  </a:t>
            </a:r>
            <a:r>
              <a:rPr kumimoji="1" lang="zh-CN" altLang="en-US" dirty="0"/>
              <a:t>主要参数</a:t>
            </a:r>
            <a:r>
              <a:rPr lang="zh-CN" altLang="zh-CN" kern="1000" dirty="0">
                <a:solidFill>
                  <a:srgbClr val="000000"/>
                </a:solidFill>
                <a:effectLst/>
                <a:cs typeface="Times New Roman" panose="02020603050405020304" pitchFamily="18" charset="0"/>
              </a:rPr>
              <a:t>：</a:t>
            </a:r>
            <a:endParaRPr kumimoji="1" lang="en-US" altLang="zh-CN" dirty="0"/>
          </a:p>
          <a:p>
            <a:pPr indent="0" algn="just">
              <a:buNone/>
            </a:pPr>
            <a:r>
              <a:rPr lang="en-US" altLang="zh-CN" sz="1600" kern="1000" dirty="0">
                <a:solidFill>
                  <a:srgbClr val="000000"/>
                </a:solidFill>
                <a:effectLst/>
              </a:rPr>
              <a:t>1</a:t>
            </a:r>
            <a:r>
              <a:rPr lang="zh-CN" altLang="zh-CN" sz="1600" kern="1000" dirty="0">
                <a:solidFill>
                  <a:srgbClr val="000000"/>
                </a:solidFill>
                <a:effectLst/>
              </a:rPr>
              <a:t>）</a:t>
            </a:r>
            <a:r>
              <a:rPr lang="en-US" altLang="zh-CN" sz="1600" kern="1000" dirty="0" err="1">
                <a:solidFill>
                  <a:srgbClr val="000000"/>
                </a:solidFill>
                <a:effectLst/>
              </a:rPr>
              <a:t>min_samples_split</a:t>
            </a:r>
            <a:r>
              <a:rPr lang="zh-CN" altLang="zh-CN" sz="1600" kern="1000" dirty="0">
                <a:solidFill>
                  <a:srgbClr val="000000"/>
                </a:solidFill>
                <a:effectLst/>
              </a:rPr>
              <a:t>：子数据集再切分需要的最小样本数。数据类型为整型或浮点型，与决策树中一致。</a:t>
            </a:r>
            <a:endParaRPr lang="zh-CN" altLang="zh-CN" sz="1600" kern="1000" dirty="0">
              <a:solidFill>
                <a:srgbClr val="000000"/>
              </a:solidFill>
              <a:effectLst/>
            </a:endParaRPr>
          </a:p>
          <a:p>
            <a:pPr indent="0" algn="just">
              <a:buNone/>
            </a:pPr>
            <a:r>
              <a:rPr lang="en-US" altLang="zh-CN" sz="1600" kern="1000" dirty="0">
                <a:solidFill>
                  <a:srgbClr val="000000"/>
                </a:solidFill>
                <a:effectLst/>
              </a:rPr>
              <a:t>2</a:t>
            </a:r>
            <a:r>
              <a:rPr lang="zh-CN" altLang="zh-CN" sz="1600" kern="1000" dirty="0">
                <a:solidFill>
                  <a:srgbClr val="000000"/>
                </a:solidFill>
                <a:effectLst/>
              </a:rPr>
              <a:t>）</a:t>
            </a:r>
            <a:r>
              <a:rPr lang="en-US" altLang="zh-CN" sz="1600" kern="1000" dirty="0" err="1">
                <a:solidFill>
                  <a:srgbClr val="000000"/>
                </a:solidFill>
                <a:effectLst/>
              </a:rPr>
              <a:t>min_samples_leaf</a:t>
            </a:r>
            <a:r>
              <a:rPr lang="zh-CN" altLang="zh-CN" sz="1600" kern="1000" dirty="0">
                <a:solidFill>
                  <a:srgbClr val="000000"/>
                </a:solidFill>
                <a:effectLst/>
              </a:rPr>
              <a:t>：叶子结点上的最小样本数。数据类型为整型或浮点型，与决策树中一致。</a:t>
            </a:r>
            <a:endParaRPr lang="zh-CN" altLang="zh-CN" sz="1600" kern="1000" dirty="0">
              <a:solidFill>
                <a:srgbClr val="000000"/>
              </a:solidFill>
              <a:effectLst/>
            </a:endParaRPr>
          </a:p>
          <a:p>
            <a:pPr indent="0" algn="just">
              <a:buNone/>
            </a:pPr>
            <a:r>
              <a:rPr lang="en-US" altLang="zh-CN" sz="1600" kern="1000" dirty="0">
                <a:solidFill>
                  <a:srgbClr val="000000"/>
                </a:solidFill>
                <a:effectLst/>
              </a:rPr>
              <a:t>3</a:t>
            </a:r>
            <a:r>
              <a:rPr lang="zh-CN" altLang="zh-CN" sz="1600" kern="1000" dirty="0">
                <a:solidFill>
                  <a:srgbClr val="000000"/>
                </a:solidFill>
                <a:effectLst/>
              </a:rPr>
              <a:t>）</a:t>
            </a:r>
            <a:r>
              <a:rPr lang="en-US" altLang="zh-CN" sz="1600" kern="1000" dirty="0" err="1">
                <a:solidFill>
                  <a:srgbClr val="000000"/>
                </a:solidFill>
                <a:effectLst/>
              </a:rPr>
              <a:t>min_weight_fraction_leaf</a:t>
            </a:r>
            <a:r>
              <a:rPr lang="zh-CN" altLang="zh-CN" sz="1600" kern="1000" dirty="0">
                <a:solidFill>
                  <a:srgbClr val="000000"/>
                </a:solidFill>
                <a:effectLst/>
              </a:rPr>
              <a:t>：叶子结点最小的样本权重和。数据类型为浮点型，与决策树中一致。</a:t>
            </a:r>
            <a:endParaRPr lang="zh-CN" altLang="zh-CN" sz="1600" kern="1000" dirty="0">
              <a:solidFill>
                <a:srgbClr val="000000"/>
              </a:solidFill>
              <a:effectLst/>
            </a:endParaRPr>
          </a:p>
          <a:p>
            <a:pPr indent="0" algn="just">
              <a:buNone/>
            </a:pPr>
            <a:r>
              <a:rPr lang="en-US" altLang="zh-CN" sz="1600" kern="1000" dirty="0">
                <a:solidFill>
                  <a:srgbClr val="000000"/>
                </a:solidFill>
                <a:effectLst/>
              </a:rPr>
              <a:t>4</a:t>
            </a:r>
            <a:r>
              <a:rPr lang="zh-CN" altLang="zh-CN" sz="1600" kern="1000" dirty="0">
                <a:solidFill>
                  <a:srgbClr val="000000"/>
                </a:solidFill>
                <a:effectLst/>
              </a:rPr>
              <a:t>）</a:t>
            </a:r>
            <a:r>
              <a:rPr lang="en-US" altLang="zh-CN" sz="1600" kern="1000" dirty="0" err="1">
                <a:solidFill>
                  <a:srgbClr val="000000"/>
                </a:solidFill>
                <a:effectLst/>
              </a:rPr>
              <a:t>max_depth</a:t>
            </a:r>
            <a:r>
              <a:rPr lang="zh-CN" altLang="zh-CN" sz="1600" kern="1000" dirty="0">
                <a:solidFill>
                  <a:srgbClr val="000000"/>
                </a:solidFill>
                <a:effectLst/>
              </a:rPr>
              <a:t>：决策树的最大深度。数据类型为整型或</a:t>
            </a:r>
            <a:r>
              <a:rPr lang="en-US" altLang="zh-CN" sz="1600" kern="1000" dirty="0">
                <a:solidFill>
                  <a:srgbClr val="000000"/>
                </a:solidFill>
                <a:effectLst/>
              </a:rPr>
              <a:t>None</a:t>
            </a:r>
            <a:r>
              <a:rPr lang="zh-CN" altLang="zh-CN" sz="1600" kern="1000" dirty="0">
                <a:solidFill>
                  <a:srgbClr val="000000"/>
                </a:solidFill>
                <a:effectLst/>
              </a:rPr>
              <a:t>，与决策树中一致。</a:t>
            </a:r>
            <a:endParaRPr lang="zh-CN" altLang="zh-CN" sz="1600" kern="1000" dirty="0">
              <a:solidFill>
                <a:srgbClr val="000000"/>
              </a:solidFill>
              <a:effectLst/>
            </a:endParaRPr>
          </a:p>
          <a:p>
            <a:pPr indent="0" algn="just">
              <a:buNone/>
            </a:pPr>
            <a:r>
              <a:rPr lang="en-US" altLang="zh-CN" sz="1600" kern="1000" dirty="0">
                <a:solidFill>
                  <a:srgbClr val="000000"/>
                </a:solidFill>
                <a:effectLst/>
              </a:rPr>
              <a:t>5</a:t>
            </a:r>
            <a:r>
              <a:rPr lang="zh-CN" altLang="zh-CN" sz="1600" kern="1000" dirty="0">
                <a:solidFill>
                  <a:srgbClr val="000000"/>
                </a:solidFill>
                <a:effectLst/>
              </a:rPr>
              <a:t>）</a:t>
            </a:r>
            <a:r>
              <a:rPr lang="en-US" altLang="zh-CN" sz="1600" kern="1000" dirty="0" err="1">
                <a:solidFill>
                  <a:srgbClr val="000000"/>
                </a:solidFill>
                <a:effectLst/>
              </a:rPr>
              <a:t>max_leaf_nodes</a:t>
            </a:r>
            <a:r>
              <a:rPr lang="zh-CN" altLang="zh-CN" sz="1600" kern="1000" dirty="0">
                <a:solidFill>
                  <a:srgbClr val="000000"/>
                </a:solidFill>
                <a:effectLst/>
              </a:rPr>
              <a:t>：</a:t>
            </a:r>
            <a:r>
              <a:rPr lang="zh-CN" altLang="zh-CN" sz="1600" kern="1000" dirty="0">
                <a:solidFill>
                  <a:srgbClr val="000000"/>
                </a:solidFill>
                <a:effectLst/>
                <a:cs typeface="宋体" panose="02010600030101010101" pitchFamily="2" charset="-122"/>
              </a:rPr>
              <a:t>最大叶子结点数</a:t>
            </a:r>
            <a:r>
              <a:rPr lang="zh-CN" altLang="zh-CN" sz="1600" kern="1000" dirty="0">
                <a:solidFill>
                  <a:srgbClr val="000000"/>
                </a:solidFill>
                <a:effectLst/>
              </a:rPr>
              <a:t>。数据类型为整型或</a:t>
            </a:r>
            <a:r>
              <a:rPr lang="en-US" altLang="zh-CN" sz="1600" kern="1000" dirty="0">
                <a:solidFill>
                  <a:srgbClr val="000000"/>
                </a:solidFill>
                <a:effectLst/>
              </a:rPr>
              <a:t>None</a:t>
            </a:r>
            <a:r>
              <a:rPr lang="zh-CN" altLang="zh-CN" sz="1600" kern="1000" dirty="0">
                <a:solidFill>
                  <a:srgbClr val="000000"/>
                </a:solidFill>
                <a:effectLst/>
              </a:rPr>
              <a:t>，与决策树中一致。</a:t>
            </a:r>
            <a:endParaRPr lang="zh-CN" altLang="zh-CN" sz="1600" kern="1000" dirty="0">
              <a:solidFill>
                <a:srgbClr val="000000"/>
              </a:solidFill>
              <a:effectLst/>
            </a:endParaRPr>
          </a:p>
          <a:p>
            <a:pPr indent="0" algn="just">
              <a:buNone/>
            </a:pPr>
            <a:r>
              <a:rPr lang="en-US" altLang="zh-CN" sz="1600" kern="1000" dirty="0">
                <a:solidFill>
                  <a:srgbClr val="000000"/>
                </a:solidFill>
                <a:effectLst/>
              </a:rPr>
              <a:t>6</a:t>
            </a:r>
            <a:r>
              <a:rPr lang="zh-CN" altLang="zh-CN" sz="1600" kern="1000" dirty="0">
                <a:solidFill>
                  <a:srgbClr val="000000"/>
                </a:solidFill>
                <a:effectLst/>
              </a:rPr>
              <a:t>）</a:t>
            </a:r>
            <a:r>
              <a:rPr lang="en-US" altLang="zh-CN" sz="1600" kern="1000" dirty="0" err="1">
                <a:solidFill>
                  <a:srgbClr val="000000"/>
                </a:solidFill>
                <a:effectLst/>
              </a:rPr>
              <a:t>max_features</a:t>
            </a:r>
            <a:r>
              <a:rPr lang="zh-CN" altLang="zh-CN" sz="1600" kern="1000" dirty="0">
                <a:solidFill>
                  <a:srgbClr val="000000"/>
                </a:solidFill>
                <a:effectLst/>
                <a:cs typeface="宋体" panose="02010600030101010101" pitchFamily="2" charset="-122"/>
              </a:rPr>
              <a:t>：</a:t>
            </a:r>
            <a:r>
              <a:rPr lang="zh-CN" altLang="zh-CN" sz="1600" kern="1000" dirty="0">
                <a:solidFill>
                  <a:srgbClr val="000000"/>
                </a:solidFill>
                <a:effectLst/>
              </a:rPr>
              <a:t>随机森林允许单个决策树使用特征的最大数量。数据类型为整型、浮点型、字符串型或</a:t>
            </a:r>
            <a:r>
              <a:rPr lang="en-US" altLang="zh-CN" sz="1600" kern="1000" dirty="0">
                <a:solidFill>
                  <a:srgbClr val="000000"/>
                </a:solidFill>
                <a:effectLst/>
              </a:rPr>
              <a:t>None</a:t>
            </a:r>
            <a:r>
              <a:rPr lang="zh-CN" altLang="zh-CN" sz="1600" kern="1000" dirty="0">
                <a:solidFill>
                  <a:srgbClr val="000000"/>
                </a:solidFill>
                <a:effectLst/>
              </a:rPr>
              <a:t>，与决策树中一致。</a:t>
            </a:r>
            <a:endParaRPr lang="zh-CN" altLang="zh-CN" sz="1600" kern="1000" dirty="0">
              <a:solidFill>
                <a:srgbClr val="000000"/>
              </a:solidFill>
              <a:effectLst/>
            </a:endParaRPr>
          </a:p>
          <a:p>
            <a:pPr marL="360045" indent="0" fontAlgn="auto">
              <a:buNone/>
            </a:pPr>
            <a:endParaRPr kumimoji="1" lang="zh-CN" altLang="en-US" sz="1600" dirty="0">
              <a:solidFill>
                <a:schemeClr val="tx1"/>
              </a:solidFill>
            </a:endParaRPr>
          </a:p>
        </p:txBody>
      </p:sp>
      <p:sp>
        <p:nvSpPr>
          <p:cNvPr id="100" name="文本框 99"/>
          <p:cNvSpPr txBox="1"/>
          <p:nvPr/>
        </p:nvSpPr>
        <p:spPr>
          <a:xfrm>
            <a:off x="-2373310" y="5902207"/>
            <a:ext cx="4013200" cy="337185"/>
          </a:xfrm>
          <a:prstGeom prst="rect">
            <a:avLst/>
          </a:prstGeom>
          <a:noFill/>
          <a:ln w="9525">
            <a:noFill/>
          </a:ln>
        </p:spPr>
        <p:txBody>
          <a:bodyPr wrap="square">
            <a:spAutoFit/>
          </a:bodyPr>
          <a:lstStyle/>
          <a:p>
            <a:pPr indent="0" algn="ctr"/>
            <a:r>
              <a:rPr lang="en-US" sz="1600" b="0" dirty="0">
                <a:solidFill>
                  <a:srgbClr val="000000"/>
                </a:solidFill>
                <a:latin typeface="宋体" panose="02010600030101010101" pitchFamily="2" charset="-122"/>
              </a:rPr>
              <a:t>        </a:t>
            </a:r>
            <a:r>
              <a:rPr lang="en-US" sz="1600" b="0" dirty="0">
                <a:solidFill>
                  <a:srgbClr val="000000"/>
                </a:solidFill>
                <a:latin typeface="Calibri" panose="020F0502020204030204" pitchFamily="34" charset="0"/>
              </a:rPr>
              <a:t>               </a:t>
            </a:r>
            <a:r>
              <a:rPr lang="en-US" sz="1600" b="0" dirty="0">
                <a:solidFill>
                  <a:srgbClr val="000000"/>
                </a:solidFill>
                <a:latin typeface="宋体" panose="02010600030101010101" pitchFamily="2" charset="-122"/>
              </a:rPr>
              <a:t>                                                                               </a:t>
            </a:r>
            <a:endParaRPr lang="zh-CN" altLang="en-US" sz="1600" dirty="0"/>
          </a:p>
        </p:txBody>
      </p:sp>
      <p:sp>
        <p:nvSpPr>
          <p:cNvPr id="9" name="文本框 8"/>
          <p:cNvSpPr txBox="1"/>
          <p:nvPr/>
        </p:nvSpPr>
        <p:spPr>
          <a:xfrm>
            <a:off x="6445606" y="6727207"/>
            <a:ext cx="5080000" cy="337185"/>
          </a:xfrm>
          <a:prstGeom prst="rect">
            <a:avLst/>
          </a:prstGeom>
          <a:noFill/>
          <a:ln w="9525">
            <a:noFill/>
          </a:ln>
        </p:spPr>
        <p:txBody>
          <a:bodyPr>
            <a:spAutoFit/>
          </a:bodyPr>
          <a:lstStyle/>
          <a:p>
            <a:pPr indent="0" algn="ctr"/>
            <a:endParaRPr lang="zh-CN" altLang="en-US" sz="1600" dirty="0"/>
          </a:p>
        </p:txBody>
      </p:sp>
      <p:sp>
        <p:nvSpPr>
          <p:cNvPr id="10" name="文本框 9"/>
          <p:cNvSpPr txBox="1"/>
          <p:nvPr/>
        </p:nvSpPr>
        <p:spPr>
          <a:xfrm>
            <a:off x="6097270" y="5674995"/>
            <a:ext cx="4013200" cy="337185"/>
          </a:xfrm>
          <a:prstGeom prst="rect">
            <a:avLst/>
          </a:prstGeom>
          <a:noFill/>
          <a:ln w="9525">
            <a:noFill/>
          </a:ln>
        </p:spPr>
        <p:txBody>
          <a:bodyPr wrap="square">
            <a:spAutoFit/>
          </a:bodyPr>
          <a:lstStyle/>
          <a:p>
            <a:pPr indent="0" algn="ctr"/>
            <a:r>
              <a:rPr lang="en-US" sz="1600" b="0" dirty="0">
                <a:solidFill>
                  <a:srgbClr val="000000"/>
                </a:solidFill>
                <a:latin typeface="宋体" panose="02010600030101010101" pitchFamily="2" charset="-122"/>
              </a:rPr>
              <a:t>        </a:t>
            </a:r>
            <a:r>
              <a:rPr lang="en-US" sz="1600" b="0" dirty="0">
                <a:solidFill>
                  <a:srgbClr val="000000"/>
                </a:solidFill>
                <a:latin typeface="Calibri" panose="020F0502020204030204" pitchFamily="34" charset="0"/>
              </a:rPr>
              <a:t>               </a:t>
            </a:r>
            <a:r>
              <a:rPr lang="en-US" sz="1600" b="0" dirty="0">
                <a:solidFill>
                  <a:srgbClr val="000000"/>
                </a:solidFill>
                <a:latin typeface="宋体" panose="02010600030101010101" pitchFamily="2" charset="-122"/>
              </a:rPr>
              <a:t>                                                                               </a:t>
            </a:r>
            <a:endParaRPr lang="zh-CN" altLang="en-US" sz="16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FF206FCC-0CBB-4DF4-89C1-3C9DB4B6E776}" type="slidenum">
              <a:rPr lang="zh-CN" altLang="en-US" smtClean="0"/>
            </a:fld>
            <a:r>
              <a:rPr lang="zh-CN" altLang="en-US"/>
              <a:t>   </a:t>
            </a:r>
            <a:endParaRPr lang="zh-CN" altLang="en-US" dirty="0"/>
          </a:p>
        </p:txBody>
      </p:sp>
      <p:sp>
        <p:nvSpPr>
          <p:cNvPr id="4" name="标题 3"/>
          <p:cNvSpPr>
            <a:spLocks noGrp="1"/>
          </p:cNvSpPr>
          <p:nvPr>
            <p:ph type="title"/>
          </p:nvPr>
        </p:nvSpPr>
        <p:spPr/>
        <p:txBody>
          <a:bodyPr/>
          <a:lstStyle/>
          <a:p>
            <a:pPr algn="just"/>
            <a:r>
              <a:rPr lang="zh-CN" altLang="en-US" dirty="0"/>
              <a:t>实现及参数</a:t>
            </a:r>
            <a:endParaRPr lang="en-US" altLang="zh-CN" dirty="0"/>
          </a:p>
        </p:txBody>
      </p:sp>
      <p:sp>
        <p:nvSpPr>
          <p:cNvPr id="5" name="内容占位符 1"/>
          <p:cNvSpPr>
            <a:spLocks noGrp="1"/>
          </p:cNvSpPr>
          <p:nvPr>
            <p:ph idx="1"/>
          </p:nvPr>
        </p:nvSpPr>
        <p:spPr>
          <a:xfrm>
            <a:off x="342928" y="1116352"/>
            <a:ext cx="10237796" cy="5484908"/>
          </a:xfrm>
        </p:spPr>
        <p:txBody>
          <a:bodyPr>
            <a:normAutofit/>
          </a:bodyPr>
          <a:lstStyle/>
          <a:p>
            <a:pPr marL="0" indent="0"/>
            <a:r>
              <a:rPr kumimoji="1" lang="en-US" altLang="zh-CN" dirty="0"/>
              <a:t>  </a:t>
            </a:r>
            <a:r>
              <a:rPr kumimoji="1" lang="zh-CN" altLang="en-US" dirty="0"/>
              <a:t>主要参数</a:t>
            </a:r>
            <a:r>
              <a:rPr lang="zh-CN" altLang="zh-CN" kern="1000" dirty="0">
                <a:solidFill>
                  <a:srgbClr val="000000"/>
                </a:solidFill>
                <a:effectLst/>
                <a:cs typeface="Times New Roman" panose="02020603050405020304" pitchFamily="18" charset="0"/>
              </a:rPr>
              <a:t>：</a:t>
            </a:r>
            <a:endParaRPr kumimoji="1" lang="en-US" altLang="zh-CN" dirty="0"/>
          </a:p>
          <a:p>
            <a:pPr indent="0" algn="just">
              <a:buNone/>
            </a:pPr>
            <a:r>
              <a:rPr lang="en-US" altLang="zh-CN" sz="1600" kern="1000" dirty="0">
                <a:solidFill>
                  <a:schemeClr val="tx1"/>
                </a:solidFill>
                <a:effectLst/>
              </a:rPr>
              <a:t>7</a:t>
            </a:r>
            <a:r>
              <a:rPr lang="zh-CN" altLang="zh-CN" sz="1600" kern="1000" dirty="0">
                <a:solidFill>
                  <a:schemeClr val="tx1"/>
                </a:solidFill>
                <a:effectLst/>
              </a:rPr>
              <a:t>）</a:t>
            </a:r>
            <a:r>
              <a:rPr lang="en-US" altLang="zh-CN" sz="1600" kern="1000" dirty="0" err="1">
                <a:solidFill>
                  <a:schemeClr val="tx1"/>
                </a:solidFill>
                <a:effectLst/>
              </a:rPr>
              <a:t>learning_rate</a:t>
            </a:r>
            <a:r>
              <a:rPr lang="zh-CN" altLang="zh-CN" sz="1600" kern="1000" dirty="0">
                <a:solidFill>
                  <a:schemeClr val="tx1"/>
                </a:solidFill>
                <a:effectLst/>
              </a:rPr>
              <a:t>：每个弱学习器的权重缩减系数。数据类型为浮点型，若不指定该参数值，则自动使用默认参数值</a:t>
            </a:r>
            <a:r>
              <a:rPr lang="en-US" altLang="zh-CN" sz="1600" kern="1000" dirty="0">
                <a:solidFill>
                  <a:schemeClr val="tx1"/>
                </a:solidFill>
                <a:effectLst/>
              </a:rPr>
              <a:t>1.0</a:t>
            </a:r>
            <a:r>
              <a:rPr lang="zh-CN" altLang="zh-CN" sz="1600" kern="1000" dirty="0">
                <a:solidFill>
                  <a:schemeClr val="tx1"/>
                </a:solidFill>
                <a:effectLst/>
              </a:rPr>
              <a:t>。</a:t>
            </a:r>
            <a:endParaRPr lang="zh-CN" altLang="zh-CN" sz="1600" kern="1000" dirty="0">
              <a:solidFill>
                <a:schemeClr val="tx1"/>
              </a:solidFill>
              <a:effectLst/>
            </a:endParaRPr>
          </a:p>
          <a:p>
            <a:pPr indent="0" algn="just">
              <a:buNone/>
            </a:pPr>
            <a:r>
              <a:rPr lang="en-US" altLang="zh-CN" sz="1600" kern="1000" dirty="0">
                <a:solidFill>
                  <a:schemeClr val="tx1"/>
                </a:solidFill>
                <a:effectLst/>
              </a:rPr>
              <a:t>8</a:t>
            </a:r>
            <a:r>
              <a:rPr lang="zh-CN" altLang="zh-CN" sz="1600" kern="1000" dirty="0">
                <a:solidFill>
                  <a:schemeClr val="tx1"/>
                </a:solidFill>
                <a:effectLst/>
              </a:rPr>
              <a:t>）</a:t>
            </a:r>
            <a:r>
              <a:rPr lang="en-US" altLang="zh-CN" sz="1600" kern="1000" dirty="0" err="1">
                <a:solidFill>
                  <a:schemeClr val="tx1"/>
                </a:solidFill>
                <a:effectLst/>
              </a:rPr>
              <a:t>n_estimators</a:t>
            </a:r>
            <a:r>
              <a:rPr lang="zh-CN" altLang="zh-CN" sz="1600" kern="1000" dirty="0">
                <a:solidFill>
                  <a:schemeClr val="tx1"/>
                </a:solidFill>
                <a:effectLst/>
              </a:rPr>
              <a:t>：弱学习器的最大个数。数据类型为整型，若不指定该参数值，则自动使用默认参数值</a:t>
            </a:r>
            <a:r>
              <a:rPr lang="en-US" altLang="zh-CN" sz="1600" kern="1000" dirty="0">
                <a:solidFill>
                  <a:schemeClr val="tx1"/>
                </a:solidFill>
                <a:effectLst/>
              </a:rPr>
              <a:t>100</a:t>
            </a:r>
            <a:r>
              <a:rPr lang="zh-CN" altLang="zh-CN" sz="1600" kern="1000" dirty="0">
                <a:solidFill>
                  <a:schemeClr val="tx1"/>
                </a:solidFill>
                <a:effectLst/>
              </a:rPr>
              <a:t>。</a:t>
            </a:r>
            <a:endParaRPr lang="zh-CN" altLang="zh-CN" sz="1600" kern="1000" dirty="0">
              <a:solidFill>
                <a:schemeClr val="tx1"/>
              </a:solidFill>
              <a:effectLst/>
            </a:endParaRPr>
          </a:p>
          <a:p>
            <a:pPr indent="0" algn="just">
              <a:buNone/>
            </a:pPr>
            <a:r>
              <a:rPr lang="en-US" altLang="zh-CN" sz="1600" kern="1000" dirty="0">
                <a:solidFill>
                  <a:schemeClr val="tx1"/>
                </a:solidFill>
                <a:effectLst/>
              </a:rPr>
              <a:t>9</a:t>
            </a:r>
            <a:r>
              <a:rPr lang="zh-CN" altLang="zh-CN" sz="1600" kern="1000" dirty="0">
                <a:solidFill>
                  <a:schemeClr val="tx1"/>
                </a:solidFill>
                <a:effectLst/>
              </a:rPr>
              <a:t>）</a:t>
            </a:r>
            <a:r>
              <a:rPr lang="en-US" altLang="zh-CN" sz="1600" kern="1000" dirty="0">
                <a:solidFill>
                  <a:schemeClr val="tx1"/>
                </a:solidFill>
                <a:effectLst/>
              </a:rPr>
              <a:t>subsample</a:t>
            </a:r>
            <a:r>
              <a:rPr lang="zh-CN" altLang="zh-CN" sz="1600" kern="1000" dirty="0">
                <a:solidFill>
                  <a:schemeClr val="tx1"/>
                </a:solidFill>
                <a:effectLst/>
              </a:rPr>
              <a:t>：放回抽样比例。数据类型为浮点型，取值范围为</a:t>
            </a:r>
            <a:r>
              <a:rPr lang="en-US" altLang="zh-CN" sz="1600" kern="1000" dirty="0">
                <a:solidFill>
                  <a:schemeClr val="tx1"/>
                </a:solidFill>
                <a:effectLst/>
              </a:rPr>
              <a:t>[0,1]</a:t>
            </a:r>
            <a:r>
              <a:rPr lang="zh-CN" altLang="zh-CN" sz="1600" kern="1000" dirty="0">
                <a:solidFill>
                  <a:schemeClr val="tx1"/>
                </a:solidFill>
                <a:effectLst/>
              </a:rPr>
              <a:t>，若不指定该参数值，则自动使用默认参数值</a:t>
            </a:r>
            <a:r>
              <a:rPr lang="en-US" altLang="zh-CN" sz="1600" kern="1000" dirty="0">
                <a:solidFill>
                  <a:schemeClr val="tx1"/>
                </a:solidFill>
                <a:effectLst/>
              </a:rPr>
              <a:t>1</a:t>
            </a:r>
            <a:r>
              <a:rPr lang="zh-CN" altLang="zh-CN" sz="1600" kern="1000" dirty="0">
                <a:solidFill>
                  <a:schemeClr val="tx1"/>
                </a:solidFill>
                <a:effectLst/>
              </a:rPr>
              <a:t>。如果取值为</a:t>
            </a:r>
            <a:r>
              <a:rPr lang="en-US" altLang="zh-CN" sz="1600" kern="1000" dirty="0">
                <a:solidFill>
                  <a:schemeClr val="tx1"/>
                </a:solidFill>
                <a:effectLst/>
              </a:rPr>
              <a:t>1</a:t>
            </a:r>
            <a:r>
              <a:rPr lang="zh-CN" altLang="zh-CN" sz="1600" kern="1000" dirty="0">
                <a:solidFill>
                  <a:schemeClr val="tx1"/>
                </a:solidFill>
                <a:effectLst/>
              </a:rPr>
              <a:t>，则全部样本都使用，等于没有使用子采样。如果取值小于</a:t>
            </a:r>
            <a:r>
              <a:rPr lang="en-US" altLang="zh-CN" sz="1600" kern="1000" dirty="0">
                <a:solidFill>
                  <a:schemeClr val="tx1"/>
                </a:solidFill>
                <a:effectLst/>
              </a:rPr>
              <a:t>1</a:t>
            </a:r>
            <a:r>
              <a:rPr lang="zh-CN" altLang="zh-CN" sz="1600" kern="1000" dirty="0">
                <a:solidFill>
                  <a:schemeClr val="tx1"/>
                </a:solidFill>
                <a:effectLst/>
              </a:rPr>
              <a:t>，则只有一部分样本会去做</a:t>
            </a:r>
            <a:r>
              <a:rPr lang="en-US" altLang="zh-CN" sz="1600" kern="1000" dirty="0">
                <a:solidFill>
                  <a:schemeClr val="tx1"/>
                </a:solidFill>
                <a:effectLst/>
              </a:rPr>
              <a:t>GBDT</a:t>
            </a:r>
            <a:r>
              <a:rPr lang="zh-CN" altLang="zh-CN" sz="1600" kern="1000" dirty="0">
                <a:solidFill>
                  <a:schemeClr val="tx1"/>
                </a:solidFill>
                <a:effectLst/>
              </a:rPr>
              <a:t>的决策树拟合。选择小于</a:t>
            </a:r>
            <a:r>
              <a:rPr lang="en-US" altLang="zh-CN" sz="1600" kern="1000" dirty="0">
                <a:solidFill>
                  <a:schemeClr val="tx1"/>
                </a:solidFill>
                <a:effectLst/>
              </a:rPr>
              <a:t>1</a:t>
            </a:r>
            <a:r>
              <a:rPr lang="zh-CN" altLang="zh-CN" sz="1600" kern="1000" dirty="0">
                <a:solidFill>
                  <a:schemeClr val="tx1"/>
                </a:solidFill>
                <a:effectLst/>
              </a:rPr>
              <a:t>的比例可以减少方差，即防止过拟合，但是会增加样本拟合的偏差，因此取值不能太低，推荐在</a:t>
            </a:r>
            <a:r>
              <a:rPr lang="en-US" altLang="zh-CN" sz="1600" kern="1000" dirty="0">
                <a:solidFill>
                  <a:schemeClr val="tx1"/>
                </a:solidFill>
                <a:effectLst/>
              </a:rPr>
              <a:t>[0.5, 0.8]</a:t>
            </a:r>
            <a:r>
              <a:rPr lang="zh-CN" altLang="zh-CN" sz="1600" kern="1000" dirty="0">
                <a:solidFill>
                  <a:schemeClr val="tx1"/>
                </a:solidFill>
                <a:effectLst/>
              </a:rPr>
              <a:t>之间。</a:t>
            </a:r>
            <a:endParaRPr lang="zh-CN" altLang="zh-CN" sz="1600" kern="1000" dirty="0">
              <a:solidFill>
                <a:schemeClr val="tx1"/>
              </a:solidFill>
              <a:effectLst/>
            </a:endParaRPr>
          </a:p>
          <a:p>
            <a:pPr indent="0" algn="just">
              <a:buNone/>
            </a:pPr>
            <a:r>
              <a:rPr lang="en-US" altLang="zh-CN" sz="1600" kern="1000" dirty="0">
                <a:solidFill>
                  <a:schemeClr val="tx1"/>
                </a:solidFill>
                <a:effectLst/>
              </a:rPr>
              <a:t>10</a:t>
            </a:r>
            <a:r>
              <a:rPr lang="zh-CN" altLang="zh-CN" sz="1600" kern="1000" dirty="0">
                <a:solidFill>
                  <a:schemeClr val="tx1"/>
                </a:solidFill>
                <a:effectLst/>
              </a:rPr>
              <a:t>）</a:t>
            </a:r>
            <a:r>
              <a:rPr lang="en-US" altLang="zh-CN" sz="1600" kern="1000" dirty="0" err="1">
                <a:solidFill>
                  <a:schemeClr val="tx1"/>
                </a:solidFill>
                <a:effectLst/>
              </a:rPr>
              <a:t>random_state</a:t>
            </a:r>
            <a:r>
              <a:rPr lang="zh-CN" altLang="zh-CN" sz="1600" kern="1000" dirty="0">
                <a:solidFill>
                  <a:schemeClr val="tx1"/>
                </a:solidFill>
                <a:effectLst/>
              </a:rPr>
              <a:t>：随机种子的设置。数据类型为整型，与决策树中一致。</a:t>
            </a:r>
            <a:endParaRPr lang="zh-CN" altLang="zh-CN" sz="1600" kern="1000" dirty="0">
              <a:solidFill>
                <a:schemeClr val="tx1"/>
              </a:solidFill>
              <a:effectLst/>
            </a:endParaRPr>
          </a:p>
          <a:p>
            <a:pPr indent="0" algn="just">
              <a:buNone/>
            </a:pPr>
            <a:r>
              <a:rPr lang="en-US" altLang="zh-CN" sz="1600" kern="1000" dirty="0">
                <a:solidFill>
                  <a:schemeClr val="tx1"/>
                </a:solidFill>
                <a:effectLst/>
              </a:rPr>
              <a:t>11</a:t>
            </a:r>
            <a:r>
              <a:rPr lang="zh-CN" altLang="zh-CN" sz="1600" kern="1000" dirty="0">
                <a:solidFill>
                  <a:schemeClr val="tx1"/>
                </a:solidFill>
                <a:effectLst/>
              </a:rPr>
              <a:t>）</a:t>
            </a:r>
            <a:r>
              <a:rPr lang="en-US" altLang="zh-CN" sz="1600" kern="1000" dirty="0">
                <a:solidFill>
                  <a:schemeClr val="tx1"/>
                </a:solidFill>
                <a:effectLst/>
              </a:rPr>
              <a:t>verbose </a:t>
            </a:r>
            <a:r>
              <a:rPr lang="zh-CN" altLang="zh-CN" sz="1600" kern="1000" dirty="0">
                <a:solidFill>
                  <a:schemeClr val="tx1"/>
                </a:solidFill>
                <a:effectLst/>
              </a:rPr>
              <a:t>：控制决策树建立过程的冗余度。数据类型为整型，与决策树中一致。</a:t>
            </a:r>
            <a:endParaRPr lang="zh-CN" altLang="zh-CN" sz="1600" kern="1000" dirty="0">
              <a:solidFill>
                <a:schemeClr val="tx1"/>
              </a:solidFill>
              <a:effectLst/>
            </a:endParaRPr>
          </a:p>
          <a:p>
            <a:pPr indent="0" algn="just">
              <a:buNone/>
            </a:pPr>
            <a:r>
              <a:rPr lang="en-US" altLang="zh-CN" sz="1600" kern="1000" dirty="0">
                <a:solidFill>
                  <a:schemeClr val="tx1"/>
                </a:solidFill>
                <a:effectLst/>
              </a:rPr>
              <a:t>12</a:t>
            </a:r>
            <a:r>
              <a:rPr lang="zh-CN" altLang="zh-CN" sz="1600" kern="1000" dirty="0">
                <a:solidFill>
                  <a:schemeClr val="tx1"/>
                </a:solidFill>
                <a:effectLst/>
              </a:rPr>
              <a:t>）</a:t>
            </a:r>
            <a:r>
              <a:rPr lang="en-US" altLang="zh-CN" sz="1600" kern="1000" dirty="0" err="1">
                <a:solidFill>
                  <a:schemeClr val="tx1"/>
                </a:solidFill>
                <a:effectLst/>
              </a:rPr>
              <a:t>persort</a:t>
            </a:r>
            <a:r>
              <a:rPr lang="zh-CN" altLang="zh-CN" sz="1600" kern="1000" dirty="0">
                <a:solidFill>
                  <a:schemeClr val="tx1"/>
                </a:solidFill>
                <a:effectLst/>
              </a:rPr>
              <a:t>：是否进行预排序。数据类型为布尔型，与决策树中一致。</a:t>
            </a:r>
            <a:endParaRPr lang="zh-CN" altLang="zh-CN" sz="1600" kern="1000" dirty="0">
              <a:solidFill>
                <a:schemeClr val="tx1"/>
              </a:solidFill>
              <a:effectLst/>
            </a:endParaRPr>
          </a:p>
        </p:txBody>
      </p:sp>
      <p:sp>
        <p:nvSpPr>
          <p:cNvPr id="100" name="文本框 99"/>
          <p:cNvSpPr txBox="1"/>
          <p:nvPr/>
        </p:nvSpPr>
        <p:spPr>
          <a:xfrm>
            <a:off x="-2373310" y="5902207"/>
            <a:ext cx="4013200" cy="337185"/>
          </a:xfrm>
          <a:prstGeom prst="rect">
            <a:avLst/>
          </a:prstGeom>
          <a:noFill/>
          <a:ln w="9525">
            <a:noFill/>
          </a:ln>
        </p:spPr>
        <p:txBody>
          <a:bodyPr wrap="square">
            <a:spAutoFit/>
          </a:bodyPr>
          <a:lstStyle/>
          <a:p>
            <a:pPr indent="0" algn="ctr"/>
            <a:r>
              <a:rPr lang="en-US" sz="1600" b="0" dirty="0">
                <a:solidFill>
                  <a:srgbClr val="000000"/>
                </a:solidFill>
                <a:latin typeface="宋体" panose="02010600030101010101" pitchFamily="2" charset="-122"/>
              </a:rPr>
              <a:t>        </a:t>
            </a:r>
            <a:r>
              <a:rPr lang="en-US" sz="1600" b="0" dirty="0">
                <a:solidFill>
                  <a:srgbClr val="000000"/>
                </a:solidFill>
                <a:latin typeface="Calibri" panose="020F0502020204030204" pitchFamily="34" charset="0"/>
              </a:rPr>
              <a:t>               </a:t>
            </a:r>
            <a:r>
              <a:rPr lang="en-US" sz="1600" b="0" dirty="0">
                <a:solidFill>
                  <a:srgbClr val="000000"/>
                </a:solidFill>
                <a:latin typeface="宋体" panose="02010600030101010101" pitchFamily="2" charset="-122"/>
              </a:rPr>
              <a:t>                                                                               </a:t>
            </a:r>
            <a:endParaRPr lang="zh-CN" altLang="en-US" sz="1600" dirty="0"/>
          </a:p>
        </p:txBody>
      </p:sp>
      <p:sp>
        <p:nvSpPr>
          <p:cNvPr id="9" name="文本框 8"/>
          <p:cNvSpPr txBox="1"/>
          <p:nvPr/>
        </p:nvSpPr>
        <p:spPr>
          <a:xfrm>
            <a:off x="6445606" y="6727207"/>
            <a:ext cx="5080000" cy="337185"/>
          </a:xfrm>
          <a:prstGeom prst="rect">
            <a:avLst/>
          </a:prstGeom>
          <a:noFill/>
          <a:ln w="9525">
            <a:noFill/>
          </a:ln>
        </p:spPr>
        <p:txBody>
          <a:bodyPr>
            <a:spAutoFit/>
          </a:bodyPr>
          <a:lstStyle/>
          <a:p>
            <a:pPr indent="0" algn="ctr"/>
            <a:endParaRPr lang="zh-CN" altLang="en-US" sz="1600" dirty="0"/>
          </a:p>
        </p:txBody>
      </p:sp>
      <p:sp>
        <p:nvSpPr>
          <p:cNvPr id="10" name="文本框 9"/>
          <p:cNvSpPr txBox="1"/>
          <p:nvPr/>
        </p:nvSpPr>
        <p:spPr>
          <a:xfrm>
            <a:off x="6097270" y="5674995"/>
            <a:ext cx="4013200" cy="337185"/>
          </a:xfrm>
          <a:prstGeom prst="rect">
            <a:avLst/>
          </a:prstGeom>
          <a:noFill/>
          <a:ln w="9525">
            <a:noFill/>
          </a:ln>
        </p:spPr>
        <p:txBody>
          <a:bodyPr wrap="square">
            <a:spAutoFit/>
          </a:bodyPr>
          <a:lstStyle/>
          <a:p>
            <a:pPr indent="0" algn="ctr"/>
            <a:r>
              <a:rPr lang="en-US" sz="1600" b="0" dirty="0">
                <a:solidFill>
                  <a:srgbClr val="000000"/>
                </a:solidFill>
                <a:latin typeface="宋体" panose="02010600030101010101" pitchFamily="2" charset="-122"/>
              </a:rPr>
              <a:t>        </a:t>
            </a:r>
            <a:r>
              <a:rPr lang="en-US" sz="1600" b="0" dirty="0">
                <a:solidFill>
                  <a:srgbClr val="000000"/>
                </a:solidFill>
                <a:latin typeface="Calibri" panose="020F0502020204030204" pitchFamily="34" charset="0"/>
              </a:rPr>
              <a:t>               </a:t>
            </a:r>
            <a:r>
              <a:rPr lang="en-US" sz="1600" b="0" dirty="0">
                <a:solidFill>
                  <a:srgbClr val="000000"/>
                </a:solidFill>
                <a:latin typeface="宋体" panose="02010600030101010101" pitchFamily="2" charset="-122"/>
              </a:rPr>
              <a:t>                                                                               </a:t>
            </a:r>
            <a:endParaRPr lang="zh-CN" altLang="en-US" sz="16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FF206FCC-0CBB-4DF4-89C1-3C9DB4B6E776}" type="slidenum">
              <a:rPr lang="zh-CN" altLang="en-US" smtClean="0"/>
            </a:fld>
            <a:r>
              <a:rPr lang="zh-CN" altLang="en-US"/>
              <a:t>   </a:t>
            </a:r>
            <a:endParaRPr lang="zh-CN" altLang="en-US" dirty="0"/>
          </a:p>
        </p:txBody>
      </p:sp>
      <p:sp>
        <p:nvSpPr>
          <p:cNvPr id="4" name="标题 3"/>
          <p:cNvSpPr>
            <a:spLocks noGrp="1"/>
          </p:cNvSpPr>
          <p:nvPr>
            <p:ph type="title"/>
          </p:nvPr>
        </p:nvSpPr>
        <p:spPr/>
        <p:txBody>
          <a:bodyPr/>
          <a:lstStyle/>
          <a:p>
            <a:pPr algn="just"/>
            <a:r>
              <a:rPr lang="zh-CN" altLang="en-US" dirty="0"/>
              <a:t>实现及参数</a:t>
            </a:r>
            <a:endParaRPr lang="en-US" altLang="zh-CN" dirty="0"/>
          </a:p>
        </p:txBody>
      </p:sp>
      <p:sp>
        <p:nvSpPr>
          <p:cNvPr id="5" name="内容占位符 1"/>
          <p:cNvSpPr>
            <a:spLocks noGrp="1"/>
          </p:cNvSpPr>
          <p:nvPr>
            <p:ph idx="1"/>
          </p:nvPr>
        </p:nvSpPr>
        <p:spPr>
          <a:xfrm>
            <a:off x="342928" y="1116352"/>
            <a:ext cx="10237796" cy="5484908"/>
          </a:xfrm>
        </p:spPr>
        <p:txBody>
          <a:bodyPr>
            <a:normAutofit/>
          </a:bodyPr>
          <a:lstStyle/>
          <a:p>
            <a:pPr marL="0" indent="0"/>
            <a:r>
              <a:rPr kumimoji="1" lang="en-US" altLang="zh-CN" dirty="0"/>
              <a:t>  </a:t>
            </a:r>
            <a:r>
              <a:rPr kumimoji="1" lang="zh-CN" altLang="en-US" dirty="0"/>
              <a:t>主要属性</a:t>
            </a:r>
            <a:r>
              <a:rPr lang="zh-CN" altLang="zh-CN" kern="1000" dirty="0">
                <a:solidFill>
                  <a:srgbClr val="000000"/>
                </a:solidFill>
                <a:effectLst/>
                <a:cs typeface="Times New Roman" panose="02020603050405020304" pitchFamily="18" charset="0"/>
              </a:rPr>
              <a:t>：</a:t>
            </a:r>
            <a:endParaRPr kumimoji="1" lang="en-US" altLang="zh-CN" dirty="0"/>
          </a:p>
          <a:p>
            <a:pPr indent="0" algn="just">
              <a:buNone/>
            </a:pPr>
            <a:r>
              <a:rPr lang="en-US" altLang="zh-CN" sz="1600" kern="1000" dirty="0">
                <a:solidFill>
                  <a:schemeClr val="tx1"/>
                </a:solidFill>
                <a:effectLst/>
              </a:rPr>
              <a:t>1</a:t>
            </a:r>
            <a:r>
              <a:rPr lang="zh-CN" altLang="zh-CN" sz="1600" kern="1000" dirty="0">
                <a:solidFill>
                  <a:schemeClr val="tx1"/>
                </a:solidFill>
                <a:effectLst/>
              </a:rPr>
              <a:t>）</a:t>
            </a:r>
            <a:r>
              <a:rPr lang="en-US" altLang="zh-CN" sz="1600" kern="1000" dirty="0">
                <a:solidFill>
                  <a:schemeClr val="tx1"/>
                </a:solidFill>
                <a:effectLst/>
              </a:rPr>
              <a:t>estimators_</a:t>
            </a:r>
            <a:r>
              <a:rPr lang="zh-CN" altLang="zh-CN" sz="1600" kern="1000" dirty="0">
                <a:solidFill>
                  <a:schemeClr val="tx1"/>
                </a:solidFill>
                <a:effectLst/>
              </a:rPr>
              <a:t>：每棵基础决策树。</a:t>
            </a:r>
            <a:endParaRPr lang="zh-CN" altLang="zh-CN" sz="1600" kern="1000" dirty="0">
              <a:solidFill>
                <a:schemeClr val="tx1"/>
              </a:solidFill>
              <a:effectLst/>
            </a:endParaRPr>
          </a:p>
          <a:p>
            <a:pPr indent="0" algn="just">
              <a:buNone/>
            </a:pPr>
            <a:r>
              <a:rPr lang="en-US" altLang="zh-CN" sz="1600" kern="1000" dirty="0">
                <a:solidFill>
                  <a:schemeClr val="tx1"/>
                </a:solidFill>
                <a:effectLst/>
              </a:rPr>
              <a:t>2</a:t>
            </a:r>
            <a:r>
              <a:rPr lang="zh-CN" altLang="zh-CN" sz="1600" kern="1000" dirty="0">
                <a:solidFill>
                  <a:schemeClr val="tx1"/>
                </a:solidFill>
                <a:effectLst/>
              </a:rPr>
              <a:t>）</a:t>
            </a:r>
            <a:r>
              <a:rPr lang="en-US" altLang="zh-CN" sz="1600" kern="1000" dirty="0" err="1">
                <a:solidFill>
                  <a:schemeClr val="tx1"/>
                </a:solidFill>
                <a:effectLst/>
              </a:rPr>
              <a:t>init</a:t>
            </a:r>
            <a:r>
              <a:rPr lang="zh-CN" altLang="zh-CN" sz="1600" kern="1000" dirty="0">
                <a:solidFill>
                  <a:schemeClr val="tx1"/>
                </a:solidFill>
                <a:effectLst/>
              </a:rPr>
              <a:t>：初始预测使用的分类器。</a:t>
            </a:r>
            <a:endParaRPr lang="zh-CN" altLang="zh-CN" sz="1600" kern="1000" dirty="0">
              <a:solidFill>
                <a:schemeClr val="tx1"/>
              </a:solidFill>
              <a:effectLst/>
            </a:endParaRPr>
          </a:p>
          <a:p>
            <a:pPr indent="0" algn="just">
              <a:buNone/>
            </a:pPr>
            <a:r>
              <a:rPr lang="en-US" altLang="zh-CN" sz="1600" kern="1000" dirty="0">
                <a:solidFill>
                  <a:schemeClr val="tx1"/>
                </a:solidFill>
                <a:effectLst/>
              </a:rPr>
              <a:t>3</a:t>
            </a:r>
            <a:r>
              <a:rPr lang="zh-CN" altLang="zh-CN" sz="1600" kern="1000" dirty="0">
                <a:solidFill>
                  <a:schemeClr val="tx1"/>
                </a:solidFill>
                <a:effectLst/>
              </a:rPr>
              <a:t>）</a:t>
            </a:r>
            <a:r>
              <a:rPr lang="en-US" altLang="zh-CN" sz="1600" kern="1000" dirty="0" err="1">
                <a:solidFill>
                  <a:schemeClr val="tx1"/>
                </a:solidFill>
                <a:effectLst/>
              </a:rPr>
              <a:t>oob_improvement</a:t>
            </a:r>
            <a:r>
              <a:rPr lang="en-US" altLang="zh-CN" sz="1600" kern="1000" dirty="0">
                <a:solidFill>
                  <a:schemeClr val="tx1"/>
                </a:solidFill>
                <a:effectLst/>
              </a:rPr>
              <a:t>_</a:t>
            </a:r>
            <a:r>
              <a:rPr lang="zh-CN" altLang="zh-CN" sz="1600" kern="1000" dirty="0">
                <a:solidFill>
                  <a:schemeClr val="tx1"/>
                </a:solidFill>
                <a:effectLst/>
              </a:rPr>
              <a:t>：输出一个数组，给出了每增加一棵基础决策树，在包外估计的损失函数的改善情况。</a:t>
            </a:r>
            <a:endParaRPr lang="zh-CN" altLang="zh-CN" sz="1600" kern="1000" dirty="0">
              <a:solidFill>
                <a:schemeClr val="tx1"/>
              </a:solidFill>
              <a:effectLst/>
            </a:endParaRPr>
          </a:p>
          <a:p>
            <a:pPr indent="0" algn="just">
              <a:buNone/>
            </a:pPr>
            <a:r>
              <a:rPr lang="en-US" altLang="zh-CN" sz="1600" kern="1000" dirty="0">
                <a:solidFill>
                  <a:schemeClr val="tx1"/>
                </a:solidFill>
                <a:effectLst/>
              </a:rPr>
              <a:t>4</a:t>
            </a:r>
            <a:r>
              <a:rPr lang="zh-CN" altLang="zh-CN" sz="1600" kern="1000" dirty="0">
                <a:solidFill>
                  <a:schemeClr val="tx1"/>
                </a:solidFill>
                <a:effectLst/>
              </a:rPr>
              <a:t>）</a:t>
            </a:r>
            <a:r>
              <a:rPr lang="en-US" altLang="zh-CN" sz="1600" kern="1000" dirty="0" err="1">
                <a:solidFill>
                  <a:schemeClr val="tx1"/>
                </a:solidFill>
                <a:effectLst/>
              </a:rPr>
              <a:t>train_score</a:t>
            </a:r>
            <a:r>
              <a:rPr lang="en-US" altLang="zh-CN" sz="1600" kern="1000" dirty="0">
                <a:solidFill>
                  <a:schemeClr val="tx1"/>
                </a:solidFill>
                <a:effectLst/>
              </a:rPr>
              <a:t>_</a:t>
            </a:r>
            <a:r>
              <a:rPr lang="zh-CN" altLang="zh-CN" sz="1600" kern="1000" dirty="0">
                <a:solidFill>
                  <a:schemeClr val="tx1"/>
                </a:solidFill>
                <a:effectLst/>
              </a:rPr>
              <a:t>：输出一个数组，给出了每增加一棵基础决策树，在训练集上的损失函数的值。</a:t>
            </a:r>
            <a:endParaRPr lang="zh-CN" altLang="zh-CN" sz="1600" kern="1000" dirty="0">
              <a:solidFill>
                <a:schemeClr val="tx1"/>
              </a:solidFill>
              <a:effectLst/>
            </a:endParaRPr>
          </a:p>
          <a:p>
            <a:pPr indent="0" algn="just">
              <a:buNone/>
            </a:pPr>
            <a:r>
              <a:rPr lang="en-US" altLang="zh-CN" sz="1600" kern="1000" dirty="0">
                <a:solidFill>
                  <a:schemeClr val="tx1"/>
                </a:solidFill>
                <a:effectLst/>
              </a:rPr>
              <a:t>5</a:t>
            </a:r>
            <a:r>
              <a:rPr lang="zh-CN" altLang="zh-CN" sz="1600" kern="1000" dirty="0">
                <a:solidFill>
                  <a:schemeClr val="tx1"/>
                </a:solidFill>
                <a:effectLst/>
              </a:rPr>
              <a:t>）</a:t>
            </a:r>
            <a:r>
              <a:rPr lang="en-US" altLang="zh-CN" sz="1600" kern="1000" dirty="0" err="1">
                <a:solidFill>
                  <a:schemeClr val="tx1"/>
                </a:solidFill>
                <a:effectLst/>
              </a:rPr>
              <a:t>feature_importances</a:t>
            </a:r>
            <a:r>
              <a:rPr lang="zh-CN" altLang="zh-CN" sz="1600" kern="1000" dirty="0">
                <a:solidFill>
                  <a:schemeClr val="tx1"/>
                </a:solidFill>
                <a:effectLst/>
              </a:rPr>
              <a:t>：每个特征的重要性。</a:t>
            </a:r>
            <a:endParaRPr lang="zh-CN" altLang="zh-CN" sz="1600" kern="1000" dirty="0">
              <a:solidFill>
                <a:schemeClr val="tx1"/>
              </a:solidFill>
              <a:effectLst/>
            </a:endParaRPr>
          </a:p>
          <a:p>
            <a:pPr indent="0" algn="just">
              <a:buNone/>
            </a:pPr>
            <a:endParaRPr lang="zh-CN" altLang="zh-CN" sz="1600" kern="1000" dirty="0">
              <a:solidFill>
                <a:schemeClr val="tx1"/>
              </a:solidFill>
              <a:effectLst/>
            </a:endParaRPr>
          </a:p>
        </p:txBody>
      </p:sp>
      <p:sp>
        <p:nvSpPr>
          <p:cNvPr id="100" name="文本框 99"/>
          <p:cNvSpPr txBox="1"/>
          <p:nvPr/>
        </p:nvSpPr>
        <p:spPr>
          <a:xfrm>
            <a:off x="-2373310" y="5902207"/>
            <a:ext cx="4013200" cy="337185"/>
          </a:xfrm>
          <a:prstGeom prst="rect">
            <a:avLst/>
          </a:prstGeom>
          <a:noFill/>
          <a:ln w="9525">
            <a:noFill/>
          </a:ln>
        </p:spPr>
        <p:txBody>
          <a:bodyPr wrap="square">
            <a:spAutoFit/>
          </a:bodyPr>
          <a:lstStyle/>
          <a:p>
            <a:pPr indent="0" algn="ctr"/>
            <a:r>
              <a:rPr lang="en-US" sz="1600" b="0" dirty="0">
                <a:solidFill>
                  <a:srgbClr val="000000"/>
                </a:solidFill>
                <a:latin typeface="宋体" panose="02010600030101010101" pitchFamily="2" charset="-122"/>
              </a:rPr>
              <a:t>        </a:t>
            </a:r>
            <a:r>
              <a:rPr lang="en-US" sz="1600" b="0" dirty="0">
                <a:solidFill>
                  <a:srgbClr val="000000"/>
                </a:solidFill>
                <a:latin typeface="Calibri" panose="020F0502020204030204" pitchFamily="34" charset="0"/>
              </a:rPr>
              <a:t>               </a:t>
            </a:r>
            <a:r>
              <a:rPr lang="en-US" sz="1600" b="0" dirty="0">
                <a:solidFill>
                  <a:srgbClr val="000000"/>
                </a:solidFill>
                <a:latin typeface="宋体" panose="02010600030101010101" pitchFamily="2" charset="-122"/>
              </a:rPr>
              <a:t>                                                                               </a:t>
            </a:r>
            <a:endParaRPr lang="zh-CN" altLang="en-US" sz="1600" dirty="0"/>
          </a:p>
        </p:txBody>
      </p:sp>
      <p:sp>
        <p:nvSpPr>
          <p:cNvPr id="9" name="文本框 8"/>
          <p:cNvSpPr txBox="1"/>
          <p:nvPr/>
        </p:nvSpPr>
        <p:spPr>
          <a:xfrm>
            <a:off x="6445606" y="6727207"/>
            <a:ext cx="5080000" cy="337185"/>
          </a:xfrm>
          <a:prstGeom prst="rect">
            <a:avLst/>
          </a:prstGeom>
          <a:noFill/>
          <a:ln w="9525">
            <a:noFill/>
          </a:ln>
        </p:spPr>
        <p:txBody>
          <a:bodyPr>
            <a:spAutoFit/>
          </a:bodyPr>
          <a:lstStyle/>
          <a:p>
            <a:pPr indent="0" algn="ctr"/>
            <a:endParaRPr lang="zh-CN" altLang="en-US" sz="1600" dirty="0"/>
          </a:p>
        </p:txBody>
      </p:sp>
      <p:sp>
        <p:nvSpPr>
          <p:cNvPr id="10" name="文本框 9"/>
          <p:cNvSpPr txBox="1"/>
          <p:nvPr/>
        </p:nvSpPr>
        <p:spPr>
          <a:xfrm>
            <a:off x="6097270" y="5674995"/>
            <a:ext cx="4013200" cy="337185"/>
          </a:xfrm>
          <a:prstGeom prst="rect">
            <a:avLst/>
          </a:prstGeom>
          <a:noFill/>
          <a:ln w="9525">
            <a:noFill/>
          </a:ln>
        </p:spPr>
        <p:txBody>
          <a:bodyPr wrap="square">
            <a:spAutoFit/>
          </a:bodyPr>
          <a:lstStyle/>
          <a:p>
            <a:pPr indent="0" algn="ctr"/>
            <a:r>
              <a:rPr lang="en-US" sz="1600" b="0" dirty="0">
                <a:solidFill>
                  <a:srgbClr val="000000"/>
                </a:solidFill>
                <a:latin typeface="宋体" panose="02010600030101010101" pitchFamily="2" charset="-122"/>
              </a:rPr>
              <a:t>        </a:t>
            </a:r>
            <a:r>
              <a:rPr lang="en-US" sz="1600" b="0" dirty="0">
                <a:solidFill>
                  <a:srgbClr val="000000"/>
                </a:solidFill>
                <a:latin typeface="Calibri" panose="020F0502020204030204" pitchFamily="34" charset="0"/>
              </a:rPr>
              <a:t>               </a:t>
            </a:r>
            <a:r>
              <a:rPr lang="en-US" sz="1600" b="0" dirty="0">
                <a:solidFill>
                  <a:srgbClr val="000000"/>
                </a:solidFill>
                <a:latin typeface="宋体" panose="02010600030101010101" pitchFamily="2" charset="-122"/>
              </a:rPr>
              <a:t>                                                                               </a:t>
            </a:r>
            <a:endParaRPr lang="zh-CN" altLang="en-US" sz="16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FF206FCC-0CBB-4DF4-89C1-3C9DB4B6E776}" type="slidenum">
              <a:rPr lang="zh-CN" altLang="en-US" smtClean="0"/>
            </a:fld>
            <a:r>
              <a:rPr lang="zh-CN" altLang="en-US"/>
              <a:t>   </a:t>
            </a:r>
            <a:endParaRPr lang="zh-CN" altLang="en-US" dirty="0"/>
          </a:p>
        </p:txBody>
      </p:sp>
      <p:sp>
        <p:nvSpPr>
          <p:cNvPr id="4" name="标题 3"/>
          <p:cNvSpPr>
            <a:spLocks noGrp="1"/>
          </p:cNvSpPr>
          <p:nvPr>
            <p:ph type="title"/>
          </p:nvPr>
        </p:nvSpPr>
        <p:spPr/>
        <p:txBody>
          <a:bodyPr/>
          <a:lstStyle/>
          <a:p>
            <a:pPr algn="just"/>
            <a:r>
              <a:rPr lang="zh-CN" altLang="en-US" dirty="0"/>
              <a:t>实现及参数</a:t>
            </a:r>
            <a:endParaRPr lang="en-US" altLang="zh-CN" dirty="0"/>
          </a:p>
        </p:txBody>
      </p:sp>
      <p:sp>
        <p:nvSpPr>
          <p:cNvPr id="5" name="内容占位符 1"/>
          <p:cNvSpPr>
            <a:spLocks noGrp="1"/>
          </p:cNvSpPr>
          <p:nvPr>
            <p:ph idx="1"/>
          </p:nvPr>
        </p:nvSpPr>
        <p:spPr>
          <a:xfrm>
            <a:off x="342928" y="1116352"/>
            <a:ext cx="10237796" cy="5484908"/>
          </a:xfrm>
        </p:spPr>
        <p:txBody>
          <a:bodyPr>
            <a:normAutofit/>
          </a:bodyPr>
          <a:lstStyle/>
          <a:p>
            <a:pPr marL="0" indent="0"/>
            <a:r>
              <a:rPr kumimoji="1" lang="en-US" altLang="zh-CN" sz="1900" dirty="0"/>
              <a:t>  </a:t>
            </a:r>
            <a:r>
              <a:rPr kumimoji="1" lang="zh-CN" altLang="en-US" dirty="0"/>
              <a:t>主要方法</a:t>
            </a:r>
            <a:r>
              <a:rPr lang="zh-CN" altLang="zh-CN" kern="1000" dirty="0">
                <a:solidFill>
                  <a:srgbClr val="000000"/>
                </a:solidFill>
                <a:effectLst/>
                <a:cs typeface="Times New Roman" panose="02020603050405020304" pitchFamily="18" charset="0"/>
              </a:rPr>
              <a:t>：</a:t>
            </a:r>
            <a:endParaRPr kumimoji="1" lang="en-US" altLang="zh-CN" dirty="0"/>
          </a:p>
          <a:p>
            <a:pPr indent="0" algn="just">
              <a:buNone/>
            </a:pPr>
            <a:r>
              <a:rPr lang="en-US" altLang="zh-CN" sz="1600" kern="1000" dirty="0">
                <a:solidFill>
                  <a:schemeClr val="tx1"/>
                </a:solidFill>
                <a:effectLst/>
              </a:rPr>
              <a:t>1</a:t>
            </a:r>
            <a:r>
              <a:rPr lang="zh-CN" altLang="zh-CN" sz="1600" kern="1000" dirty="0">
                <a:solidFill>
                  <a:schemeClr val="tx1"/>
                </a:solidFill>
                <a:effectLst/>
              </a:rPr>
              <a:t>）</a:t>
            </a:r>
            <a:r>
              <a:rPr lang="en-US" altLang="zh-CN" sz="1600" kern="1000" dirty="0">
                <a:solidFill>
                  <a:schemeClr val="tx1"/>
                </a:solidFill>
                <a:effectLst/>
              </a:rPr>
              <a:t>fit(X, y[, </a:t>
            </a:r>
            <a:r>
              <a:rPr lang="en-US" altLang="zh-CN" sz="1600" kern="1000" dirty="0" err="1">
                <a:solidFill>
                  <a:schemeClr val="tx1"/>
                </a:solidFill>
                <a:effectLst/>
              </a:rPr>
              <a:t>sample_weight</a:t>
            </a:r>
            <a:r>
              <a:rPr lang="en-US" altLang="zh-CN" sz="1600" kern="1000" dirty="0">
                <a:solidFill>
                  <a:schemeClr val="tx1"/>
                </a:solidFill>
                <a:effectLst/>
              </a:rPr>
              <a:t>, monitor])</a:t>
            </a:r>
            <a:r>
              <a:rPr lang="zh-CN" altLang="zh-CN" sz="1600" kern="1000" dirty="0">
                <a:solidFill>
                  <a:schemeClr val="tx1"/>
                </a:solidFill>
                <a:effectLst/>
              </a:rPr>
              <a:t>：训练模型。其中</a:t>
            </a:r>
            <a:r>
              <a:rPr lang="en-US" altLang="zh-CN" sz="1600" kern="1000" dirty="0">
                <a:solidFill>
                  <a:schemeClr val="tx1"/>
                </a:solidFill>
                <a:effectLst/>
              </a:rPr>
              <a:t>monitor</a:t>
            </a:r>
            <a:r>
              <a:rPr lang="zh-CN" altLang="zh-CN" sz="1600" kern="1000" dirty="0">
                <a:solidFill>
                  <a:schemeClr val="tx1"/>
                </a:solidFill>
                <a:effectLst/>
              </a:rPr>
              <a:t>是一个可调用对象，它在当前迭代过程结束时调用。如果返回</a:t>
            </a:r>
            <a:r>
              <a:rPr lang="en-US" altLang="zh-CN" sz="1600" kern="1000" dirty="0">
                <a:solidFill>
                  <a:schemeClr val="tx1"/>
                </a:solidFill>
                <a:effectLst/>
              </a:rPr>
              <a:t>True</a:t>
            </a:r>
            <a:r>
              <a:rPr lang="zh-CN" altLang="zh-CN" sz="1600" kern="1000" dirty="0">
                <a:solidFill>
                  <a:schemeClr val="tx1"/>
                </a:solidFill>
                <a:effectLst/>
              </a:rPr>
              <a:t>，则训练过程提前终止。</a:t>
            </a:r>
            <a:endParaRPr lang="zh-CN" altLang="zh-CN" sz="1600" kern="1000" dirty="0">
              <a:solidFill>
                <a:schemeClr val="tx1"/>
              </a:solidFill>
              <a:effectLst/>
            </a:endParaRPr>
          </a:p>
          <a:p>
            <a:pPr indent="0" algn="just">
              <a:buNone/>
            </a:pPr>
            <a:r>
              <a:rPr lang="en-US" altLang="zh-CN" sz="1600" kern="1000" dirty="0">
                <a:solidFill>
                  <a:schemeClr val="tx1"/>
                </a:solidFill>
                <a:effectLst/>
              </a:rPr>
              <a:t>2</a:t>
            </a:r>
            <a:r>
              <a:rPr lang="zh-CN" altLang="zh-CN" sz="1600" kern="1000" dirty="0">
                <a:solidFill>
                  <a:schemeClr val="tx1"/>
                </a:solidFill>
                <a:effectLst/>
              </a:rPr>
              <a:t>）</a:t>
            </a:r>
            <a:r>
              <a:rPr lang="en-US" altLang="zh-CN" sz="1600" kern="1000" dirty="0">
                <a:solidFill>
                  <a:schemeClr val="tx1"/>
                </a:solidFill>
                <a:effectLst/>
              </a:rPr>
              <a:t>predict(X)</a:t>
            </a:r>
            <a:r>
              <a:rPr lang="zh-CN" altLang="zh-CN" sz="1600" kern="1000" dirty="0">
                <a:solidFill>
                  <a:schemeClr val="tx1"/>
                </a:solidFill>
                <a:effectLst/>
              </a:rPr>
              <a:t>：用模型进行预测，返回预测值。</a:t>
            </a:r>
            <a:endParaRPr lang="zh-CN" altLang="zh-CN" sz="1600" kern="1000" dirty="0">
              <a:solidFill>
                <a:schemeClr val="tx1"/>
              </a:solidFill>
              <a:effectLst/>
            </a:endParaRPr>
          </a:p>
          <a:p>
            <a:pPr indent="0" algn="just">
              <a:buNone/>
            </a:pPr>
            <a:r>
              <a:rPr lang="en-US" altLang="zh-CN" sz="1600" kern="1000" dirty="0">
                <a:solidFill>
                  <a:schemeClr val="tx1"/>
                </a:solidFill>
                <a:effectLst/>
              </a:rPr>
              <a:t>3</a:t>
            </a:r>
            <a:r>
              <a:rPr lang="zh-CN" altLang="zh-CN" sz="1600" kern="1000" dirty="0">
                <a:solidFill>
                  <a:schemeClr val="tx1"/>
                </a:solidFill>
                <a:effectLst/>
              </a:rPr>
              <a:t>）</a:t>
            </a:r>
            <a:r>
              <a:rPr lang="en-US" altLang="zh-CN" sz="1600" kern="1000" dirty="0" err="1">
                <a:solidFill>
                  <a:schemeClr val="tx1"/>
                </a:solidFill>
                <a:effectLst/>
              </a:rPr>
              <a:t>predict_log_proba</a:t>
            </a:r>
            <a:r>
              <a:rPr lang="en-US" altLang="zh-CN" sz="1600" kern="1000" dirty="0">
                <a:solidFill>
                  <a:schemeClr val="tx1"/>
                </a:solidFill>
                <a:effectLst/>
              </a:rPr>
              <a:t>(X)</a:t>
            </a:r>
            <a:r>
              <a:rPr lang="zh-CN" altLang="zh-CN" sz="1600" kern="1000" dirty="0">
                <a:solidFill>
                  <a:schemeClr val="tx1"/>
                </a:solidFill>
                <a:effectLst/>
              </a:rPr>
              <a:t>：返回一个数组，数组的元素依次是</a:t>
            </a:r>
            <a:r>
              <a:rPr lang="en-US" altLang="zh-CN" sz="1600" kern="1000" dirty="0">
                <a:solidFill>
                  <a:schemeClr val="tx1"/>
                </a:solidFill>
                <a:effectLst/>
              </a:rPr>
              <a:t>X</a:t>
            </a:r>
            <a:r>
              <a:rPr lang="zh-CN" altLang="zh-CN" sz="1600" kern="1000" dirty="0">
                <a:solidFill>
                  <a:schemeClr val="tx1"/>
                </a:solidFill>
                <a:effectLst/>
              </a:rPr>
              <a:t>预测为各个类别的概率的对数值。</a:t>
            </a:r>
            <a:endParaRPr lang="zh-CN" altLang="zh-CN" sz="1600" kern="1000" dirty="0">
              <a:solidFill>
                <a:schemeClr val="tx1"/>
              </a:solidFill>
              <a:effectLst/>
            </a:endParaRPr>
          </a:p>
          <a:p>
            <a:pPr indent="0" algn="just">
              <a:buNone/>
            </a:pPr>
            <a:r>
              <a:rPr lang="en-US" altLang="zh-CN" sz="1600" kern="1000" dirty="0">
                <a:solidFill>
                  <a:schemeClr val="tx1"/>
                </a:solidFill>
                <a:effectLst/>
              </a:rPr>
              <a:t>4</a:t>
            </a:r>
            <a:r>
              <a:rPr lang="zh-CN" altLang="zh-CN" sz="1600" kern="1000" dirty="0">
                <a:solidFill>
                  <a:schemeClr val="tx1"/>
                </a:solidFill>
                <a:effectLst/>
              </a:rPr>
              <a:t>）</a:t>
            </a:r>
            <a:r>
              <a:rPr lang="en-US" altLang="zh-CN" sz="1600" kern="1000" dirty="0" err="1">
                <a:solidFill>
                  <a:schemeClr val="tx1"/>
                </a:solidFill>
                <a:effectLst/>
              </a:rPr>
              <a:t>predict_proba</a:t>
            </a:r>
            <a:r>
              <a:rPr lang="en-US" altLang="zh-CN" sz="1600" kern="1000" dirty="0">
                <a:solidFill>
                  <a:schemeClr val="tx1"/>
                </a:solidFill>
                <a:effectLst/>
              </a:rPr>
              <a:t>(X)</a:t>
            </a:r>
            <a:r>
              <a:rPr lang="zh-CN" altLang="zh-CN" sz="1600" kern="1000" dirty="0">
                <a:solidFill>
                  <a:schemeClr val="tx1"/>
                </a:solidFill>
                <a:effectLst/>
              </a:rPr>
              <a:t>：返回一个数组，数组的元素依次是</a:t>
            </a:r>
            <a:r>
              <a:rPr lang="en-US" altLang="zh-CN" sz="1600" kern="1000" dirty="0">
                <a:solidFill>
                  <a:schemeClr val="tx1"/>
                </a:solidFill>
                <a:effectLst/>
              </a:rPr>
              <a:t>X</a:t>
            </a:r>
            <a:r>
              <a:rPr lang="zh-CN" altLang="zh-CN" sz="1600" kern="1000" dirty="0">
                <a:solidFill>
                  <a:schemeClr val="tx1"/>
                </a:solidFill>
                <a:effectLst/>
              </a:rPr>
              <a:t>预测为各个类别的概率值。</a:t>
            </a:r>
            <a:endParaRPr lang="zh-CN" altLang="zh-CN" sz="1600" kern="1000" dirty="0">
              <a:solidFill>
                <a:schemeClr val="tx1"/>
              </a:solidFill>
              <a:effectLst/>
            </a:endParaRPr>
          </a:p>
          <a:p>
            <a:pPr indent="0" algn="just">
              <a:buNone/>
            </a:pPr>
            <a:r>
              <a:rPr lang="en-US" altLang="zh-CN" sz="1600" kern="1000" dirty="0">
                <a:solidFill>
                  <a:schemeClr val="tx1"/>
                </a:solidFill>
                <a:effectLst/>
              </a:rPr>
              <a:t>5</a:t>
            </a:r>
            <a:r>
              <a:rPr lang="zh-CN" altLang="zh-CN" sz="1600" kern="1000" dirty="0">
                <a:solidFill>
                  <a:schemeClr val="tx1"/>
                </a:solidFill>
                <a:effectLst/>
              </a:rPr>
              <a:t>）</a:t>
            </a:r>
            <a:r>
              <a:rPr lang="en-US" altLang="zh-CN" sz="1600" kern="1000" dirty="0">
                <a:solidFill>
                  <a:schemeClr val="tx1"/>
                </a:solidFill>
                <a:effectLst/>
              </a:rPr>
              <a:t>score(X, y[, </a:t>
            </a:r>
            <a:r>
              <a:rPr lang="en-US" altLang="zh-CN" sz="1600" kern="1000" dirty="0" err="1">
                <a:solidFill>
                  <a:schemeClr val="tx1"/>
                </a:solidFill>
                <a:effectLst/>
              </a:rPr>
              <a:t>sample_weight</a:t>
            </a:r>
            <a:r>
              <a:rPr lang="en-US" altLang="zh-CN" sz="1600" kern="1000" dirty="0">
                <a:solidFill>
                  <a:schemeClr val="tx1"/>
                </a:solidFill>
                <a:effectLst/>
              </a:rPr>
              <a:t>])</a:t>
            </a:r>
            <a:r>
              <a:rPr lang="zh-CN" altLang="zh-CN" sz="1600" kern="1000" dirty="0">
                <a:solidFill>
                  <a:schemeClr val="tx1"/>
                </a:solidFill>
                <a:effectLst/>
              </a:rPr>
              <a:t>：返回在</a:t>
            </a:r>
            <a:r>
              <a:rPr lang="en-US" altLang="zh-CN" sz="1600" kern="1000" dirty="0">
                <a:solidFill>
                  <a:schemeClr val="tx1"/>
                </a:solidFill>
                <a:effectLst/>
              </a:rPr>
              <a:t>(X, y)</a:t>
            </a:r>
            <a:r>
              <a:rPr lang="zh-CN" altLang="zh-CN" sz="1600" kern="1000" dirty="0">
                <a:solidFill>
                  <a:schemeClr val="tx1"/>
                </a:solidFill>
                <a:effectLst/>
              </a:rPr>
              <a:t>上预测的准确率。</a:t>
            </a:r>
            <a:endParaRPr lang="zh-CN" altLang="zh-CN" sz="1600" kern="1000" dirty="0">
              <a:solidFill>
                <a:schemeClr val="tx1"/>
              </a:solidFill>
              <a:effectLst/>
            </a:endParaRPr>
          </a:p>
          <a:p>
            <a:pPr indent="0" algn="just">
              <a:buNone/>
            </a:pPr>
            <a:r>
              <a:rPr lang="en-US" altLang="zh-CN" sz="1600" kern="1000" dirty="0">
                <a:solidFill>
                  <a:schemeClr val="tx1"/>
                </a:solidFill>
                <a:effectLst/>
              </a:rPr>
              <a:t>6</a:t>
            </a:r>
            <a:r>
              <a:rPr lang="zh-CN" altLang="zh-CN" sz="1600" kern="1000" dirty="0">
                <a:solidFill>
                  <a:schemeClr val="tx1"/>
                </a:solidFill>
                <a:effectLst/>
              </a:rPr>
              <a:t>）</a:t>
            </a:r>
            <a:r>
              <a:rPr lang="en-US" altLang="zh-CN" sz="1600" kern="1000" dirty="0" err="1">
                <a:solidFill>
                  <a:schemeClr val="tx1"/>
                </a:solidFill>
                <a:effectLst/>
              </a:rPr>
              <a:t>staged_predict_proba</a:t>
            </a:r>
            <a:r>
              <a:rPr lang="en-US" altLang="zh-CN" sz="1600" kern="1000" dirty="0">
                <a:solidFill>
                  <a:schemeClr val="tx1"/>
                </a:solidFill>
                <a:effectLst/>
              </a:rPr>
              <a:t>(X)</a:t>
            </a:r>
            <a:r>
              <a:rPr lang="zh-CN" altLang="zh-CN" sz="1600" kern="1000" dirty="0">
                <a:solidFill>
                  <a:schemeClr val="tx1"/>
                </a:solidFill>
                <a:effectLst/>
              </a:rPr>
              <a:t>：返回一个二维数组，数组的元素依次是每一轮迭代结束时集成分类器预测</a:t>
            </a:r>
            <a:r>
              <a:rPr lang="en-US" altLang="zh-CN" sz="1600" kern="1000" dirty="0">
                <a:solidFill>
                  <a:schemeClr val="tx1"/>
                </a:solidFill>
                <a:effectLst/>
              </a:rPr>
              <a:t>X</a:t>
            </a:r>
            <a:r>
              <a:rPr lang="zh-CN" altLang="zh-CN" sz="1600" kern="1000" dirty="0">
                <a:solidFill>
                  <a:schemeClr val="tx1"/>
                </a:solidFill>
                <a:effectLst/>
              </a:rPr>
              <a:t>为各个类别的概率值。</a:t>
            </a:r>
            <a:endParaRPr lang="zh-CN" altLang="zh-CN" sz="1600" kern="1000" dirty="0">
              <a:solidFill>
                <a:schemeClr val="tx1"/>
              </a:solidFill>
              <a:effectLst/>
            </a:endParaRPr>
          </a:p>
          <a:p>
            <a:pPr indent="0" algn="just">
              <a:buNone/>
            </a:pPr>
            <a:r>
              <a:rPr lang="en-US" altLang="zh-CN" sz="1600" kern="1000" dirty="0">
                <a:solidFill>
                  <a:schemeClr val="tx1"/>
                </a:solidFill>
                <a:effectLst/>
              </a:rPr>
              <a:t>7</a:t>
            </a:r>
            <a:r>
              <a:rPr lang="zh-CN" altLang="zh-CN" sz="1600" kern="1000" dirty="0">
                <a:solidFill>
                  <a:schemeClr val="tx1"/>
                </a:solidFill>
                <a:effectLst/>
              </a:rPr>
              <a:t>）</a:t>
            </a:r>
            <a:r>
              <a:rPr lang="en-US" altLang="zh-CN" sz="1600" kern="1000" dirty="0" err="1">
                <a:solidFill>
                  <a:schemeClr val="tx1"/>
                </a:solidFill>
                <a:effectLst/>
              </a:rPr>
              <a:t>staged_predict</a:t>
            </a:r>
            <a:r>
              <a:rPr lang="en-US" altLang="zh-CN" sz="1600" kern="1000" dirty="0">
                <a:solidFill>
                  <a:schemeClr val="tx1"/>
                </a:solidFill>
                <a:effectLst/>
              </a:rPr>
              <a:t>(X)</a:t>
            </a:r>
            <a:r>
              <a:rPr lang="zh-CN" altLang="zh-CN" sz="1600" kern="1000" dirty="0">
                <a:solidFill>
                  <a:schemeClr val="tx1"/>
                </a:solidFill>
                <a:effectLst/>
              </a:rPr>
              <a:t>：返回一个数组，数组的元素依次是每一轮迭代结束时集成分类器的预测值</a:t>
            </a:r>
            <a:r>
              <a:rPr lang="zh-CN" altLang="en-US" sz="1800" kern="1000" dirty="0">
                <a:solidFill>
                  <a:schemeClr val="tx1"/>
                </a:solidFill>
                <a:latin typeface="Times New Roman" panose="02020603050405020304" pitchFamily="18" charset="0"/>
                <a:ea typeface="宋体" panose="02010600030101010101" pitchFamily="2" charset="-122"/>
              </a:rPr>
              <a:t>。</a:t>
            </a:r>
            <a:endParaRPr lang="zh-CN" altLang="zh-CN" sz="1800" kern="1000" dirty="0">
              <a:solidFill>
                <a:schemeClr val="tx1"/>
              </a:solidFill>
              <a:effectLst/>
              <a:latin typeface="Times New Roman" panose="02020603050405020304" pitchFamily="18" charset="0"/>
              <a:ea typeface="宋体" panose="02010600030101010101" pitchFamily="2" charset="-122"/>
            </a:endParaRPr>
          </a:p>
          <a:p>
            <a:pPr indent="0" algn="just">
              <a:buNone/>
            </a:pPr>
            <a:endParaRPr lang="zh-CN" altLang="zh-CN" sz="1600" kern="1000" dirty="0">
              <a:solidFill>
                <a:schemeClr val="tx1"/>
              </a:solidFill>
              <a:effectLst/>
            </a:endParaRPr>
          </a:p>
        </p:txBody>
      </p:sp>
      <p:sp>
        <p:nvSpPr>
          <p:cNvPr id="100" name="文本框 99"/>
          <p:cNvSpPr txBox="1"/>
          <p:nvPr/>
        </p:nvSpPr>
        <p:spPr>
          <a:xfrm>
            <a:off x="-2373310" y="5902207"/>
            <a:ext cx="4013200" cy="337185"/>
          </a:xfrm>
          <a:prstGeom prst="rect">
            <a:avLst/>
          </a:prstGeom>
          <a:noFill/>
          <a:ln w="9525">
            <a:noFill/>
          </a:ln>
        </p:spPr>
        <p:txBody>
          <a:bodyPr wrap="square">
            <a:spAutoFit/>
          </a:bodyPr>
          <a:lstStyle/>
          <a:p>
            <a:pPr indent="0" algn="ctr"/>
            <a:r>
              <a:rPr lang="en-US" sz="1600" b="0" dirty="0">
                <a:solidFill>
                  <a:srgbClr val="000000"/>
                </a:solidFill>
                <a:latin typeface="宋体" panose="02010600030101010101" pitchFamily="2" charset="-122"/>
              </a:rPr>
              <a:t>        </a:t>
            </a:r>
            <a:r>
              <a:rPr lang="en-US" sz="1600" b="0" dirty="0">
                <a:solidFill>
                  <a:srgbClr val="000000"/>
                </a:solidFill>
                <a:latin typeface="Calibri" panose="020F0502020204030204" pitchFamily="34" charset="0"/>
              </a:rPr>
              <a:t>               </a:t>
            </a:r>
            <a:r>
              <a:rPr lang="en-US" sz="1600" b="0" dirty="0">
                <a:solidFill>
                  <a:srgbClr val="000000"/>
                </a:solidFill>
                <a:latin typeface="宋体" panose="02010600030101010101" pitchFamily="2" charset="-122"/>
              </a:rPr>
              <a:t>                                                                               </a:t>
            </a:r>
            <a:endParaRPr lang="zh-CN" altLang="en-US" sz="1600" dirty="0"/>
          </a:p>
        </p:txBody>
      </p:sp>
      <p:sp>
        <p:nvSpPr>
          <p:cNvPr id="9" name="文本框 8"/>
          <p:cNvSpPr txBox="1"/>
          <p:nvPr/>
        </p:nvSpPr>
        <p:spPr>
          <a:xfrm>
            <a:off x="6445606" y="6727207"/>
            <a:ext cx="5080000" cy="337185"/>
          </a:xfrm>
          <a:prstGeom prst="rect">
            <a:avLst/>
          </a:prstGeom>
          <a:noFill/>
          <a:ln w="9525">
            <a:noFill/>
          </a:ln>
        </p:spPr>
        <p:txBody>
          <a:bodyPr>
            <a:spAutoFit/>
          </a:bodyPr>
          <a:lstStyle/>
          <a:p>
            <a:pPr indent="0" algn="ctr"/>
            <a:endParaRPr lang="zh-CN" altLang="en-US" sz="1600" dirty="0"/>
          </a:p>
        </p:txBody>
      </p:sp>
      <p:sp>
        <p:nvSpPr>
          <p:cNvPr id="10" name="文本框 9"/>
          <p:cNvSpPr txBox="1"/>
          <p:nvPr/>
        </p:nvSpPr>
        <p:spPr>
          <a:xfrm>
            <a:off x="6097270" y="5674995"/>
            <a:ext cx="4013200" cy="337185"/>
          </a:xfrm>
          <a:prstGeom prst="rect">
            <a:avLst/>
          </a:prstGeom>
          <a:noFill/>
          <a:ln w="9525">
            <a:noFill/>
          </a:ln>
        </p:spPr>
        <p:txBody>
          <a:bodyPr wrap="square">
            <a:spAutoFit/>
          </a:bodyPr>
          <a:lstStyle/>
          <a:p>
            <a:pPr indent="0" algn="ctr"/>
            <a:r>
              <a:rPr lang="en-US" sz="1600" b="0" dirty="0">
                <a:solidFill>
                  <a:srgbClr val="000000"/>
                </a:solidFill>
                <a:latin typeface="宋体" panose="02010600030101010101" pitchFamily="2" charset="-122"/>
              </a:rPr>
              <a:t>        </a:t>
            </a:r>
            <a:r>
              <a:rPr lang="en-US" sz="1600" b="0" dirty="0">
                <a:solidFill>
                  <a:srgbClr val="000000"/>
                </a:solidFill>
                <a:latin typeface="Calibri" panose="020F0502020204030204" pitchFamily="34" charset="0"/>
              </a:rPr>
              <a:t>               </a:t>
            </a:r>
            <a:r>
              <a:rPr lang="en-US" sz="1600" b="0" dirty="0">
                <a:solidFill>
                  <a:srgbClr val="000000"/>
                </a:solidFill>
                <a:latin typeface="宋体" panose="02010600030101010101" pitchFamily="2" charset="-122"/>
              </a:rPr>
              <a:t>                                                                               </a:t>
            </a:r>
            <a:endParaRPr lang="zh-CN" altLang="en-US" sz="16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FF206FCC-0CBB-4DF4-89C1-3C9DB4B6E776}" type="slidenum">
              <a:rPr lang="zh-CN" altLang="en-US" smtClean="0"/>
            </a:fld>
            <a:r>
              <a:rPr lang="zh-CN" altLang="en-US"/>
              <a:t>   </a:t>
            </a:r>
            <a:endParaRPr lang="zh-CN" altLang="en-US" dirty="0"/>
          </a:p>
        </p:txBody>
      </p:sp>
      <p:sp>
        <p:nvSpPr>
          <p:cNvPr id="4" name="标题 3"/>
          <p:cNvSpPr>
            <a:spLocks noGrp="1"/>
          </p:cNvSpPr>
          <p:nvPr>
            <p:ph type="title"/>
          </p:nvPr>
        </p:nvSpPr>
        <p:spPr/>
        <p:txBody>
          <a:bodyPr/>
          <a:lstStyle/>
          <a:p>
            <a:pPr algn="just"/>
            <a:r>
              <a:rPr lang="en-US" altLang="zh-CN" dirty="0"/>
              <a:t>12.4 </a:t>
            </a:r>
            <a:r>
              <a:rPr lang="zh-CN" altLang="en-US" dirty="0"/>
              <a:t>提升法</a:t>
            </a:r>
            <a:endParaRPr lang="en-US" altLang="zh-CN" dirty="0"/>
          </a:p>
        </p:txBody>
      </p:sp>
      <p:sp>
        <p:nvSpPr>
          <p:cNvPr id="5" name="内容占位符 1"/>
          <p:cNvSpPr>
            <a:spLocks noGrp="1"/>
          </p:cNvSpPr>
          <p:nvPr>
            <p:ph idx="1"/>
          </p:nvPr>
        </p:nvSpPr>
        <p:spPr>
          <a:xfrm>
            <a:off x="342928" y="1116352"/>
            <a:ext cx="10237796" cy="5484908"/>
          </a:xfrm>
        </p:spPr>
        <p:txBody>
          <a:bodyPr>
            <a:normAutofit/>
          </a:bodyPr>
          <a:lstStyle/>
          <a:p>
            <a:pPr marL="0" indent="0"/>
            <a:r>
              <a:rPr lang="en-US" altLang="zh-CN" kern="1000" dirty="0">
                <a:solidFill>
                  <a:schemeClr val="tx1"/>
                </a:solidFill>
                <a:effectLst/>
              </a:rPr>
              <a:t>【</a:t>
            </a:r>
            <a:r>
              <a:rPr lang="zh-CN" altLang="en-US" kern="1000" dirty="0">
                <a:solidFill>
                  <a:schemeClr val="tx1"/>
                </a:solidFill>
                <a:effectLst/>
              </a:rPr>
              <a:t>例</a:t>
            </a:r>
            <a:r>
              <a:rPr lang="en-US" altLang="zh-CN" kern="1000" dirty="0">
                <a:solidFill>
                  <a:schemeClr val="tx1"/>
                </a:solidFill>
                <a:effectLst/>
              </a:rPr>
              <a:t>7-3】</a:t>
            </a:r>
            <a:r>
              <a:rPr lang="zh-CN" altLang="zh-CN" kern="1000" dirty="0">
                <a:solidFill>
                  <a:srgbClr val="000000"/>
                </a:solidFill>
                <a:effectLst/>
                <a:cs typeface="Times New Roman" panose="02020603050405020304" pitchFamily="18" charset="0"/>
              </a:rPr>
              <a:t>对梯度提升分类器和决策树分类器进行比较</a:t>
            </a:r>
            <a:r>
              <a:rPr lang="zh-CN" altLang="zh-CN" kern="1000" dirty="0">
                <a:solidFill>
                  <a:schemeClr val="tx1"/>
                </a:solidFill>
                <a:effectLst/>
                <a:cs typeface="Times New Roman" panose="02020603050405020304" pitchFamily="18" charset="0"/>
              </a:rPr>
              <a:t>：</a:t>
            </a:r>
            <a:endParaRPr kumimoji="1" lang="en-US" altLang="zh-CN" dirty="0">
              <a:solidFill>
                <a:schemeClr val="tx1"/>
              </a:solidFill>
            </a:endParaRPr>
          </a:p>
          <a:p>
            <a:pPr marL="533400" marR="120015" indent="0" algn="just">
              <a:buNone/>
            </a:pPr>
            <a:r>
              <a:rPr lang="en-US" altLang="zh-CN" sz="1600" kern="1000" dirty="0">
                <a:solidFill>
                  <a:schemeClr val="tx1"/>
                </a:solidFill>
                <a:effectLst/>
              </a:rPr>
              <a:t>from </a:t>
            </a:r>
            <a:r>
              <a:rPr lang="en-US" altLang="zh-CN" sz="1600" kern="1000" dirty="0" err="1">
                <a:solidFill>
                  <a:schemeClr val="tx1"/>
                </a:solidFill>
                <a:effectLst/>
              </a:rPr>
              <a:t>sklearn.datasets</a:t>
            </a:r>
            <a:r>
              <a:rPr lang="en-US" altLang="zh-CN" sz="1600" kern="1000" dirty="0">
                <a:solidFill>
                  <a:schemeClr val="tx1"/>
                </a:solidFill>
                <a:effectLst/>
              </a:rPr>
              <a:t> import </a:t>
            </a:r>
            <a:r>
              <a:rPr lang="en-US" altLang="zh-CN" sz="1600" kern="1000" dirty="0" err="1">
                <a:solidFill>
                  <a:schemeClr val="tx1"/>
                </a:solidFill>
                <a:effectLst/>
              </a:rPr>
              <a:t>load_breast_cancer</a:t>
            </a:r>
            <a:endParaRPr lang="zh-CN" altLang="zh-CN" sz="1600" kern="1000" dirty="0">
              <a:solidFill>
                <a:schemeClr val="tx1"/>
              </a:solidFill>
              <a:effectLst/>
            </a:endParaRPr>
          </a:p>
          <a:p>
            <a:pPr marL="533400" marR="120015" indent="0" algn="just">
              <a:buNone/>
            </a:pPr>
            <a:r>
              <a:rPr lang="en-US" altLang="zh-CN" sz="1600" kern="1000" dirty="0">
                <a:solidFill>
                  <a:schemeClr val="tx1"/>
                </a:solidFill>
                <a:effectLst/>
              </a:rPr>
              <a:t>from </a:t>
            </a:r>
            <a:r>
              <a:rPr lang="en-US" altLang="zh-CN" sz="1600" kern="1000" dirty="0" err="1">
                <a:solidFill>
                  <a:schemeClr val="tx1"/>
                </a:solidFill>
                <a:effectLst/>
              </a:rPr>
              <a:t>sklearn.tree</a:t>
            </a:r>
            <a:r>
              <a:rPr lang="en-US" altLang="zh-CN" sz="1600" kern="1000" dirty="0">
                <a:solidFill>
                  <a:schemeClr val="tx1"/>
                </a:solidFill>
                <a:effectLst/>
              </a:rPr>
              <a:t> import </a:t>
            </a:r>
            <a:r>
              <a:rPr lang="en-US" altLang="zh-CN" sz="1600" kern="1000" dirty="0" err="1">
                <a:solidFill>
                  <a:schemeClr val="tx1"/>
                </a:solidFill>
                <a:effectLst/>
              </a:rPr>
              <a:t>DecisionTreeClassifier</a:t>
            </a:r>
            <a:endParaRPr lang="zh-CN" altLang="zh-CN" sz="1600" kern="1000" dirty="0">
              <a:solidFill>
                <a:schemeClr val="tx1"/>
              </a:solidFill>
              <a:effectLst/>
            </a:endParaRPr>
          </a:p>
          <a:p>
            <a:pPr marL="533400" marR="120015" indent="0" algn="just">
              <a:buNone/>
            </a:pPr>
            <a:r>
              <a:rPr lang="en-US" altLang="zh-CN" sz="1600" kern="1000" dirty="0">
                <a:solidFill>
                  <a:schemeClr val="tx1"/>
                </a:solidFill>
                <a:effectLst/>
              </a:rPr>
              <a:t>from </a:t>
            </a:r>
            <a:r>
              <a:rPr lang="en-US" altLang="zh-CN" sz="1600" kern="1000" dirty="0" err="1">
                <a:solidFill>
                  <a:schemeClr val="tx1"/>
                </a:solidFill>
                <a:effectLst/>
              </a:rPr>
              <a:t>sklearn.ensemble</a:t>
            </a:r>
            <a:r>
              <a:rPr lang="en-US" altLang="zh-CN" sz="1600" kern="1000" dirty="0">
                <a:solidFill>
                  <a:schemeClr val="tx1"/>
                </a:solidFill>
                <a:effectLst/>
              </a:rPr>
              <a:t> import </a:t>
            </a:r>
            <a:r>
              <a:rPr lang="en-US" altLang="zh-CN" sz="1600" kern="1000" dirty="0" err="1">
                <a:solidFill>
                  <a:schemeClr val="tx1"/>
                </a:solidFill>
                <a:effectLst/>
              </a:rPr>
              <a:t>GradientBoostingClassifier</a:t>
            </a:r>
            <a:endParaRPr lang="zh-CN" altLang="zh-CN" sz="1600" kern="1000" dirty="0">
              <a:solidFill>
                <a:schemeClr val="tx1"/>
              </a:solidFill>
              <a:effectLst/>
            </a:endParaRPr>
          </a:p>
          <a:p>
            <a:pPr marL="533400" marR="120015" indent="0" algn="just">
              <a:buNone/>
            </a:pPr>
            <a:r>
              <a:rPr lang="en-US" altLang="zh-CN" sz="1600" kern="1000" dirty="0">
                <a:solidFill>
                  <a:schemeClr val="tx1"/>
                </a:solidFill>
                <a:effectLst/>
              </a:rPr>
              <a:t>from </a:t>
            </a:r>
            <a:r>
              <a:rPr lang="en-US" altLang="zh-CN" sz="1600" kern="1000" dirty="0" err="1">
                <a:solidFill>
                  <a:schemeClr val="tx1"/>
                </a:solidFill>
                <a:effectLst/>
              </a:rPr>
              <a:t>sklearn.model_selection</a:t>
            </a:r>
            <a:r>
              <a:rPr lang="en-US" altLang="zh-CN" sz="1600" kern="1000" dirty="0">
                <a:solidFill>
                  <a:schemeClr val="tx1"/>
                </a:solidFill>
                <a:effectLst/>
              </a:rPr>
              <a:t> import </a:t>
            </a:r>
            <a:r>
              <a:rPr lang="en-US" altLang="zh-CN" sz="1600" kern="1000" dirty="0" err="1">
                <a:solidFill>
                  <a:schemeClr val="tx1"/>
                </a:solidFill>
                <a:effectLst/>
              </a:rPr>
              <a:t>train_test_split,cross_val_score</a:t>
            </a:r>
            <a:endParaRPr lang="zh-CN" altLang="zh-CN" sz="1600" kern="1000" dirty="0">
              <a:solidFill>
                <a:schemeClr val="tx1"/>
              </a:solidFill>
              <a:effectLst/>
            </a:endParaRPr>
          </a:p>
          <a:p>
            <a:pPr marL="533400" marR="120015" indent="0" algn="just">
              <a:buNone/>
            </a:pPr>
            <a:r>
              <a:rPr lang="en-US" altLang="zh-CN" sz="1600" kern="1000" dirty="0">
                <a:solidFill>
                  <a:schemeClr val="tx1"/>
                </a:solidFill>
                <a:effectLst/>
              </a:rPr>
              <a:t>import </a:t>
            </a:r>
            <a:r>
              <a:rPr lang="en-US" altLang="zh-CN" sz="1600" kern="1000" dirty="0" err="1">
                <a:solidFill>
                  <a:schemeClr val="tx1"/>
                </a:solidFill>
                <a:effectLst/>
              </a:rPr>
              <a:t>matplotlib.pyplot</a:t>
            </a:r>
            <a:r>
              <a:rPr lang="en-US" altLang="zh-CN" sz="1600" kern="1000" dirty="0">
                <a:solidFill>
                  <a:schemeClr val="tx1"/>
                </a:solidFill>
                <a:effectLst/>
              </a:rPr>
              <a:t> as </a:t>
            </a:r>
            <a:r>
              <a:rPr lang="en-US" altLang="zh-CN" sz="1600" kern="1000" dirty="0" err="1">
                <a:solidFill>
                  <a:schemeClr val="tx1"/>
                </a:solidFill>
                <a:effectLst/>
              </a:rPr>
              <a:t>plt</a:t>
            </a:r>
            <a:endParaRPr lang="zh-CN" altLang="zh-CN" sz="1600" kern="1000" dirty="0">
              <a:solidFill>
                <a:schemeClr val="tx1"/>
              </a:solidFill>
              <a:effectLst/>
            </a:endParaRPr>
          </a:p>
          <a:p>
            <a:pPr marL="533400" marR="120015" indent="0" algn="just">
              <a:buNone/>
            </a:pPr>
            <a:r>
              <a:rPr lang="en-US" altLang="zh-CN" sz="1600" kern="1000" dirty="0">
                <a:solidFill>
                  <a:schemeClr val="tx1"/>
                </a:solidFill>
                <a:effectLst/>
              </a:rPr>
              <a:t>import </a:t>
            </a:r>
            <a:r>
              <a:rPr lang="en-US" altLang="zh-CN" sz="1600" kern="1000" dirty="0" err="1">
                <a:solidFill>
                  <a:schemeClr val="tx1"/>
                </a:solidFill>
                <a:effectLst/>
              </a:rPr>
              <a:t>numpy</a:t>
            </a:r>
            <a:r>
              <a:rPr lang="en-US" altLang="zh-CN" sz="1600" kern="1000" dirty="0">
                <a:solidFill>
                  <a:schemeClr val="tx1"/>
                </a:solidFill>
                <a:effectLst/>
              </a:rPr>
              <a:t> as np</a:t>
            </a:r>
            <a:endParaRPr lang="zh-CN" altLang="zh-CN" sz="1600" kern="1000" dirty="0">
              <a:solidFill>
                <a:schemeClr val="tx1"/>
              </a:solidFill>
              <a:effectLst/>
            </a:endParaRPr>
          </a:p>
          <a:p>
            <a:pPr marL="533400" marR="120015" indent="0" algn="just">
              <a:buNone/>
            </a:pPr>
            <a:r>
              <a:rPr lang="en-US" altLang="zh-CN" sz="1600" kern="1000" dirty="0">
                <a:solidFill>
                  <a:schemeClr val="tx1"/>
                </a:solidFill>
                <a:effectLst/>
              </a:rPr>
              <a:t>cancer = </a:t>
            </a:r>
            <a:r>
              <a:rPr lang="en-US" altLang="zh-CN" sz="1600" kern="1000" dirty="0" err="1">
                <a:solidFill>
                  <a:schemeClr val="tx1"/>
                </a:solidFill>
                <a:effectLst/>
              </a:rPr>
              <a:t>load_breast_cancer</a:t>
            </a:r>
            <a:r>
              <a:rPr lang="en-US" altLang="zh-CN" sz="1600" kern="1000" dirty="0">
                <a:solidFill>
                  <a:schemeClr val="tx1"/>
                </a:solidFill>
                <a:effectLst/>
              </a:rPr>
              <a:t>()</a:t>
            </a:r>
            <a:endParaRPr lang="zh-CN" altLang="zh-CN" sz="1600" kern="1000" dirty="0">
              <a:solidFill>
                <a:schemeClr val="tx1"/>
              </a:solidFill>
              <a:effectLst/>
            </a:endParaRPr>
          </a:p>
          <a:p>
            <a:pPr marL="533400" marR="120015" indent="0" algn="l">
              <a:buNone/>
            </a:pPr>
            <a:r>
              <a:rPr lang="en-US" altLang="zh-CN" sz="1600" kern="1000" dirty="0" err="1">
                <a:solidFill>
                  <a:schemeClr val="tx1"/>
                </a:solidFill>
                <a:effectLst/>
              </a:rPr>
              <a:t>x_train</a:t>
            </a:r>
            <a:r>
              <a:rPr lang="en-US" altLang="zh-CN" sz="1600" kern="1000" dirty="0">
                <a:solidFill>
                  <a:schemeClr val="tx1"/>
                </a:solidFill>
                <a:effectLst/>
              </a:rPr>
              <a:t>, </a:t>
            </a:r>
            <a:r>
              <a:rPr lang="en-US" altLang="zh-CN" sz="1600" kern="1000" dirty="0" err="1">
                <a:solidFill>
                  <a:schemeClr val="tx1"/>
                </a:solidFill>
                <a:effectLst/>
              </a:rPr>
              <a:t>x_test</a:t>
            </a:r>
            <a:r>
              <a:rPr lang="en-US" altLang="zh-CN" sz="1600" kern="1000" dirty="0">
                <a:solidFill>
                  <a:schemeClr val="tx1"/>
                </a:solidFill>
                <a:effectLst/>
              </a:rPr>
              <a:t>, </a:t>
            </a:r>
            <a:r>
              <a:rPr lang="en-US" altLang="zh-CN" sz="1600" kern="1000" dirty="0" err="1">
                <a:solidFill>
                  <a:schemeClr val="tx1"/>
                </a:solidFill>
                <a:effectLst/>
              </a:rPr>
              <a:t>y_train</a:t>
            </a:r>
            <a:r>
              <a:rPr lang="en-US" altLang="zh-CN" sz="1600" kern="1000" dirty="0">
                <a:solidFill>
                  <a:schemeClr val="tx1"/>
                </a:solidFill>
                <a:effectLst/>
              </a:rPr>
              <a:t>, </a:t>
            </a:r>
            <a:r>
              <a:rPr lang="en-US" altLang="zh-CN" sz="1600" kern="1000" dirty="0" err="1">
                <a:solidFill>
                  <a:schemeClr val="tx1"/>
                </a:solidFill>
                <a:effectLst/>
              </a:rPr>
              <a:t>y_test</a:t>
            </a:r>
            <a:r>
              <a:rPr lang="en-US" altLang="zh-CN" sz="1600" kern="1000" dirty="0">
                <a:solidFill>
                  <a:schemeClr val="tx1"/>
                </a:solidFill>
                <a:effectLst/>
              </a:rPr>
              <a:t> = </a:t>
            </a:r>
            <a:r>
              <a:rPr lang="en-US" altLang="zh-CN" sz="1600" kern="1000" dirty="0" err="1">
                <a:solidFill>
                  <a:schemeClr val="tx1"/>
                </a:solidFill>
                <a:effectLst/>
              </a:rPr>
              <a:t>train_test_split</a:t>
            </a:r>
            <a:r>
              <a:rPr lang="en-US" altLang="zh-CN" sz="1600" kern="1000" dirty="0">
                <a:solidFill>
                  <a:schemeClr val="tx1"/>
                </a:solidFill>
                <a:effectLst/>
              </a:rPr>
              <a:t>(</a:t>
            </a:r>
            <a:r>
              <a:rPr lang="en-US" altLang="zh-CN" sz="1600" kern="1000" dirty="0" err="1">
                <a:solidFill>
                  <a:schemeClr val="tx1"/>
                </a:solidFill>
                <a:effectLst/>
              </a:rPr>
              <a:t>cancer.data,cancer.target,test_size</a:t>
            </a:r>
            <a:r>
              <a:rPr lang="en-US" altLang="zh-CN" sz="1600" kern="1000" dirty="0">
                <a:solidFill>
                  <a:schemeClr val="tx1"/>
                </a:solidFill>
                <a:effectLst/>
              </a:rPr>
              <a:t>=0.3, </a:t>
            </a:r>
            <a:r>
              <a:rPr lang="en-US" altLang="zh-CN" sz="1600" kern="1000" dirty="0" err="1">
                <a:solidFill>
                  <a:schemeClr val="tx1"/>
                </a:solidFill>
                <a:effectLst/>
              </a:rPr>
              <a:t>random_state</a:t>
            </a:r>
            <a:r>
              <a:rPr lang="en-US" altLang="zh-CN" sz="1600" kern="1000" dirty="0">
                <a:solidFill>
                  <a:schemeClr val="tx1"/>
                </a:solidFill>
                <a:effectLst/>
              </a:rPr>
              <a:t>=1)</a:t>
            </a:r>
            <a:endParaRPr lang="zh-CN" altLang="zh-CN" sz="1600" kern="1000" dirty="0">
              <a:solidFill>
                <a:schemeClr val="tx1"/>
              </a:solidFill>
              <a:effectLst/>
            </a:endParaRPr>
          </a:p>
          <a:p>
            <a:pPr marL="360045" indent="0">
              <a:buNone/>
            </a:pPr>
            <a:r>
              <a:rPr lang="en-US" altLang="zh-CN" sz="1600" kern="1000" dirty="0">
                <a:solidFill>
                  <a:schemeClr val="tx1"/>
                </a:solidFill>
                <a:effectLst/>
              </a:rPr>
              <a:t>  </a:t>
            </a:r>
            <a:endParaRPr kumimoji="1" lang="zh-CN" altLang="en-US" sz="1600" dirty="0">
              <a:solidFill>
                <a:schemeClr val="tx1"/>
              </a:solidFill>
            </a:endParaRPr>
          </a:p>
        </p:txBody>
      </p:sp>
      <p:sp>
        <p:nvSpPr>
          <p:cNvPr id="100" name="文本框 99"/>
          <p:cNvSpPr txBox="1"/>
          <p:nvPr/>
        </p:nvSpPr>
        <p:spPr>
          <a:xfrm>
            <a:off x="-2373310" y="5902207"/>
            <a:ext cx="4013200" cy="337185"/>
          </a:xfrm>
          <a:prstGeom prst="rect">
            <a:avLst/>
          </a:prstGeom>
          <a:noFill/>
          <a:ln w="9525">
            <a:noFill/>
          </a:ln>
        </p:spPr>
        <p:txBody>
          <a:bodyPr wrap="square">
            <a:spAutoFit/>
          </a:bodyPr>
          <a:lstStyle/>
          <a:p>
            <a:pPr indent="0" algn="ctr"/>
            <a:r>
              <a:rPr lang="en-US" sz="1600" b="0" dirty="0">
                <a:solidFill>
                  <a:srgbClr val="000000"/>
                </a:solidFill>
                <a:latin typeface="宋体" panose="02010600030101010101" pitchFamily="2" charset="-122"/>
              </a:rPr>
              <a:t>        </a:t>
            </a:r>
            <a:r>
              <a:rPr lang="en-US" sz="1600" b="0" dirty="0">
                <a:solidFill>
                  <a:srgbClr val="000000"/>
                </a:solidFill>
                <a:latin typeface="Calibri" panose="020F0502020204030204" pitchFamily="34" charset="0"/>
              </a:rPr>
              <a:t>               </a:t>
            </a:r>
            <a:r>
              <a:rPr lang="en-US" sz="1600" b="0" dirty="0">
                <a:solidFill>
                  <a:srgbClr val="000000"/>
                </a:solidFill>
                <a:latin typeface="宋体" panose="02010600030101010101" pitchFamily="2" charset="-122"/>
              </a:rPr>
              <a:t>                                                                               </a:t>
            </a:r>
            <a:endParaRPr lang="zh-CN" altLang="en-US" sz="1600" dirty="0"/>
          </a:p>
        </p:txBody>
      </p:sp>
      <p:sp>
        <p:nvSpPr>
          <p:cNvPr id="9" name="文本框 8"/>
          <p:cNvSpPr txBox="1"/>
          <p:nvPr/>
        </p:nvSpPr>
        <p:spPr>
          <a:xfrm>
            <a:off x="6445606" y="6727207"/>
            <a:ext cx="5080000" cy="337185"/>
          </a:xfrm>
          <a:prstGeom prst="rect">
            <a:avLst/>
          </a:prstGeom>
          <a:noFill/>
          <a:ln w="9525">
            <a:noFill/>
          </a:ln>
        </p:spPr>
        <p:txBody>
          <a:bodyPr>
            <a:spAutoFit/>
          </a:bodyPr>
          <a:lstStyle/>
          <a:p>
            <a:pPr indent="0" algn="ctr"/>
            <a:endParaRPr lang="zh-CN" altLang="en-US" sz="1600" dirty="0"/>
          </a:p>
        </p:txBody>
      </p:sp>
      <p:sp>
        <p:nvSpPr>
          <p:cNvPr id="7" name="标题 3"/>
          <p:cNvSpPr txBox="1"/>
          <p:nvPr/>
        </p:nvSpPr>
        <p:spPr>
          <a:xfrm>
            <a:off x="425869" y="403602"/>
            <a:ext cx="4776874" cy="606839"/>
          </a:xfrm>
          <a:prstGeom prst="rect">
            <a:avLst/>
          </a:prstGeom>
          <a:solidFill>
            <a:srgbClr val="92D050"/>
          </a:solidFill>
          <a:ln>
            <a:noFill/>
          </a:ln>
        </p:spPr>
        <p:txBody>
          <a:bodyPr vert="horz" lIns="91440" tIns="45720" rIns="91440" bIns="45720" rtlCol="0" anchor="ctr">
            <a:noAutofit/>
          </a:bodyPr>
          <a:lstStyle/>
          <a:p>
            <a:pPr marL="0" marR="0" lvl="0" indent="0" algn="just" defTabSz="914400" rtl="0" eaLnBrk="1" fontAlgn="auto" latinLnBrk="0" hangingPunct="1">
              <a:lnSpc>
                <a:spcPct val="90000"/>
              </a:lnSpc>
              <a:spcBef>
                <a:spcPct val="0"/>
              </a:spcBef>
              <a:spcAft>
                <a:spcPts val="0"/>
              </a:spcAft>
              <a:buClrTx/>
              <a:buSzTx/>
              <a:buFontTx/>
              <a:buNone/>
              <a:defRPr/>
            </a:pPr>
            <a:r>
              <a:rPr kumimoji="0" lang="zh-CN" altLang="en-US" sz="2800" b="0" i="0" u="none" strike="noStrike" kern="1200" cap="none" spc="0" normalizeH="0" baseline="0" noProof="0">
                <a:ln>
                  <a:noFill/>
                </a:ln>
                <a:solidFill>
                  <a:schemeClr val="tx1"/>
                </a:solidFill>
                <a:effectLst/>
                <a:uLnTx/>
                <a:uFillTx/>
                <a:latin typeface="Yuanti SC" panose="02010600040101010101" pitchFamily="2" charset="-122"/>
                <a:ea typeface="Yuanti SC" panose="02010600040101010101" pitchFamily="2" charset="-122"/>
                <a:cs typeface="+mn-cs"/>
              </a:rPr>
              <a:t>算法实例</a:t>
            </a:r>
            <a:endParaRPr kumimoji="0" lang="en-US" altLang="zh-CN" sz="2800" b="0" i="0" u="none" strike="noStrike" kern="1200" cap="none" spc="0" normalizeH="0" baseline="0" noProof="0" dirty="0">
              <a:ln>
                <a:noFill/>
              </a:ln>
              <a:solidFill>
                <a:schemeClr val="tx1"/>
              </a:solidFill>
              <a:effectLst/>
              <a:uLnTx/>
              <a:uFillTx/>
              <a:latin typeface="Yuanti SC" panose="02010600040101010101" pitchFamily="2" charset="-122"/>
              <a:ea typeface="Yuanti SC" panose="02010600040101010101" pitchFamily="2"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FF206FCC-0CBB-4DF4-89C1-3C9DB4B6E776}" type="slidenum">
              <a:rPr lang="zh-CN" altLang="en-US" smtClean="0"/>
            </a:fld>
            <a:r>
              <a:rPr lang="zh-CN" altLang="en-US"/>
              <a:t>   </a:t>
            </a:r>
            <a:endParaRPr lang="zh-CN" altLang="en-US" dirty="0"/>
          </a:p>
        </p:txBody>
      </p:sp>
      <p:sp>
        <p:nvSpPr>
          <p:cNvPr id="5" name="内容占位符 1"/>
          <p:cNvSpPr>
            <a:spLocks noGrp="1"/>
          </p:cNvSpPr>
          <p:nvPr>
            <p:ph idx="1"/>
          </p:nvPr>
        </p:nvSpPr>
        <p:spPr>
          <a:xfrm>
            <a:off x="342928" y="1116352"/>
            <a:ext cx="10237796" cy="5484908"/>
          </a:xfrm>
        </p:spPr>
        <p:txBody>
          <a:bodyPr>
            <a:normAutofit/>
          </a:bodyPr>
          <a:lstStyle/>
          <a:p>
            <a:pPr marL="533400" marR="120015" indent="0">
              <a:buNone/>
            </a:pPr>
            <a:r>
              <a:rPr lang="en-US" altLang="zh-CN" sz="1600" kern="1000" dirty="0" err="1">
                <a:solidFill>
                  <a:schemeClr val="tx1"/>
                </a:solidFill>
              </a:rPr>
              <a:t>gbc</a:t>
            </a:r>
            <a:r>
              <a:rPr lang="en-US" altLang="zh-CN" sz="1600" kern="1000" dirty="0">
                <a:solidFill>
                  <a:schemeClr val="tx1"/>
                </a:solidFill>
              </a:rPr>
              <a:t> = </a:t>
            </a:r>
            <a:r>
              <a:rPr lang="en-US" altLang="zh-CN" sz="1600" kern="1000" dirty="0" err="1">
                <a:solidFill>
                  <a:schemeClr val="tx1"/>
                </a:solidFill>
              </a:rPr>
              <a:t>GradientBoostingClassifier</a:t>
            </a:r>
            <a:r>
              <a:rPr lang="en-US" altLang="zh-CN" sz="1600" kern="1000" dirty="0">
                <a:solidFill>
                  <a:schemeClr val="tx1"/>
                </a:solidFill>
              </a:rPr>
              <a:t>(</a:t>
            </a:r>
            <a:r>
              <a:rPr lang="en-US" altLang="zh-CN" sz="1600" kern="1000" dirty="0" err="1">
                <a:solidFill>
                  <a:schemeClr val="tx1"/>
                </a:solidFill>
              </a:rPr>
              <a:t>n_estimators</a:t>
            </a:r>
            <a:r>
              <a:rPr lang="en-US" altLang="zh-CN" sz="1600" kern="1000" dirty="0">
                <a:solidFill>
                  <a:schemeClr val="tx1"/>
                </a:solidFill>
              </a:rPr>
              <a:t>=100, </a:t>
            </a:r>
            <a:r>
              <a:rPr lang="en-US" altLang="zh-CN" sz="1600" kern="1000" dirty="0" err="1">
                <a:solidFill>
                  <a:schemeClr val="tx1"/>
                </a:solidFill>
              </a:rPr>
              <a:t>learning_rate</a:t>
            </a:r>
            <a:r>
              <a:rPr lang="en-US" altLang="zh-CN" sz="1600" kern="1000" dirty="0">
                <a:solidFill>
                  <a:schemeClr val="tx1"/>
                </a:solidFill>
              </a:rPr>
              <a:t>=0.1)</a:t>
            </a:r>
            <a:endParaRPr lang="en-US" altLang="zh-CN" sz="1600" kern="1000" dirty="0">
              <a:solidFill>
                <a:schemeClr val="tx1"/>
              </a:solidFill>
              <a:effectLst/>
            </a:endParaRPr>
          </a:p>
          <a:p>
            <a:pPr marL="533400" marR="120015" indent="0" algn="just">
              <a:buNone/>
            </a:pPr>
            <a:r>
              <a:rPr lang="en-US" altLang="zh-CN" sz="1600" kern="1000" dirty="0" err="1">
                <a:solidFill>
                  <a:schemeClr val="tx1"/>
                </a:solidFill>
                <a:effectLst/>
              </a:rPr>
              <a:t>dt</a:t>
            </a:r>
            <a:r>
              <a:rPr lang="en-US" altLang="zh-CN" sz="1600" kern="1000" dirty="0">
                <a:solidFill>
                  <a:schemeClr val="tx1"/>
                </a:solidFill>
                <a:effectLst/>
              </a:rPr>
              <a:t> = DecisionTreeClassifier()</a:t>
            </a:r>
            <a:endParaRPr lang="zh-CN" altLang="zh-CN" sz="1600" kern="1000" dirty="0">
              <a:solidFill>
                <a:schemeClr val="tx1"/>
              </a:solidFill>
              <a:effectLst/>
            </a:endParaRPr>
          </a:p>
          <a:p>
            <a:pPr marL="533400" marR="120015" indent="0" algn="just">
              <a:buNone/>
            </a:pPr>
            <a:r>
              <a:rPr lang="en-US" altLang="zh-CN" sz="1600" kern="1000" dirty="0" err="1">
                <a:solidFill>
                  <a:schemeClr val="tx1"/>
                </a:solidFill>
                <a:effectLst/>
              </a:rPr>
              <a:t>gbc.fit</a:t>
            </a:r>
            <a:r>
              <a:rPr lang="en-US" altLang="zh-CN" sz="1600" kern="1000" dirty="0">
                <a:solidFill>
                  <a:schemeClr val="tx1"/>
                </a:solidFill>
                <a:effectLst/>
              </a:rPr>
              <a:t>(</a:t>
            </a:r>
            <a:r>
              <a:rPr lang="en-US" altLang="zh-CN" sz="1600" kern="1000" dirty="0" err="1">
                <a:solidFill>
                  <a:schemeClr val="tx1"/>
                </a:solidFill>
                <a:effectLst/>
              </a:rPr>
              <a:t>x_train,y_train</a:t>
            </a:r>
            <a:r>
              <a:rPr lang="en-US" altLang="zh-CN" sz="1600" kern="1000" dirty="0">
                <a:solidFill>
                  <a:schemeClr val="tx1"/>
                </a:solidFill>
                <a:effectLst/>
              </a:rPr>
              <a:t>)</a:t>
            </a:r>
            <a:endParaRPr lang="zh-CN" altLang="zh-CN" sz="1600" kern="1000" dirty="0">
              <a:solidFill>
                <a:schemeClr val="tx1"/>
              </a:solidFill>
              <a:effectLst/>
            </a:endParaRPr>
          </a:p>
          <a:p>
            <a:pPr marL="533400" marR="120015" indent="0" algn="just">
              <a:buNone/>
            </a:pPr>
            <a:r>
              <a:rPr lang="en-US" altLang="zh-CN" sz="1600" kern="1000" dirty="0" err="1">
                <a:solidFill>
                  <a:schemeClr val="tx1"/>
                </a:solidFill>
                <a:effectLst/>
              </a:rPr>
              <a:t>dt.fit</a:t>
            </a:r>
            <a:r>
              <a:rPr lang="en-US" altLang="zh-CN" sz="1600" kern="1000" dirty="0">
                <a:solidFill>
                  <a:schemeClr val="tx1"/>
                </a:solidFill>
                <a:effectLst/>
              </a:rPr>
              <a:t>(</a:t>
            </a:r>
            <a:r>
              <a:rPr lang="en-US" altLang="zh-CN" sz="1600" kern="1000" dirty="0" err="1">
                <a:solidFill>
                  <a:schemeClr val="tx1"/>
                </a:solidFill>
                <a:effectLst/>
              </a:rPr>
              <a:t>x_train,y_train</a:t>
            </a:r>
            <a:r>
              <a:rPr lang="en-US" altLang="zh-CN" sz="1600" kern="1000" dirty="0">
                <a:solidFill>
                  <a:schemeClr val="tx1"/>
                </a:solidFill>
                <a:effectLst/>
              </a:rPr>
              <a:t>)</a:t>
            </a:r>
            <a:endParaRPr lang="zh-CN" altLang="zh-CN" sz="1600" kern="1000" dirty="0">
              <a:solidFill>
                <a:schemeClr val="tx1"/>
              </a:solidFill>
              <a:effectLst/>
            </a:endParaRPr>
          </a:p>
          <a:p>
            <a:pPr marL="533400" marR="120015" indent="0" algn="just">
              <a:buNone/>
            </a:pPr>
            <a:r>
              <a:rPr lang="en-US" altLang="zh-CN" sz="1600" kern="1000" dirty="0" err="1">
                <a:solidFill>
                  <a:schemeClr val="tx1"/>
                </a:solidFill>
                <a:effectLst/>
              </a:rPr>
              <a:t>score_gbc</a:t>
            </a:r>
            <a:r>
              <a:rPr lang="en-US" altLang="zh-CN" sz="1600" kern="1000" dirty="0">
                <a:solidFill>
                  <a:schemeClr val="tx1"/>
                </a:solidFill>
                <a:effectLst/>
              </a:rPr>
              <a:t> = </a:t>
            </a:r>
            <a:r>
              <a:rPr lang="en-US" altLang="zh-CN" sz="1600" kern="1000" dirty="0" err="1">
                <a:solidFill>
                  <a:schemeClr val="tx1"/>
                </a:solidFill>
                <a:effectLst/>
              </a:rPr>
              <a:t>gbc.score</a:t>
            </a:r>
            <a:r>
              <a:rPr lang="en-US" altLang="zh-CN" sz="1600" kern="1000" dirty="0">
                <a:solidFill>
                  <a:schemeClr val="tx1"/>
                </a:solidFill>
                <a:effectLst/>
              </a:rPr>
              <a:t>(</a:t>
            </a:r>
            <a:r>
              <a:rPr lang="en-US" altLang="zh-CN" sz="1600" kern="1000" dirty="0" err="1">
                <a:solidFill>
                  <a:schemeClr val="tx1"/>
                </a:solidFill>
                <a:effectLst/>
              </a:rPr>
              <a:t>x_test,y_test</a:t>
            </a:r>
            <a:r>
              <a:rPr lang="en-US" altLang="zh-CN" sz="1600" kern="1000" dirty="0">
                <a:solidFill>
                  <a:schemeClr val="tx1"/>
                </a:solidFill>
                <a:effectLst/>
              </a:rPr>
              <a:t>)</a:t>
            </a:r>
            <a:endParaRPr lang="zh-CN" altLang="zh-CN" sz="1600" kern="1000" dirty="0">
              <a:solidFill>
                <a:schemeClr val="tx1"/>
              </a:solidFill>
              <a:effectLst/>
            </a:endParaRPr>
          </a:p>
          <a:p>
            <a:pPr marL="533400" marR="120015" indent="0" algn="just">
              <a:buNone/>
            </a:pPr>
            <a:r>
              <a:rPr lang="en-US" altLang="zh-CN" sz="1600" kern="1000" dirty="0" err="1">
                <a:solidFill>
                  <a:schemeClr val="tx1"/>
                </a:solidFill>
                <a:effectLst/>
              </a:rPr>
              <a:t>score_dt</a:t>
            </a:r>
            <a:r>
              <a:rPr lang="en-US" altLang="zh-CN" sz="1600" kern="1000" dirty="0">
                <a:solidFill>
                  <a:schemeClr val="tx1"/>
                </a:solidFill>
                <a:effectLst/>
              </a:rPr>
              <a:t> = </a:t>
            </a:r>
            <a:r>
              <a:rPr lang="en-US" altLang="zh-CN" sz="1600" kern="1000" dirty="0" err="1">
                <a:solidFill>
                  <a:schemeClr val="tx1"/>
                </a:solidFill>
                <a:effectLst/>
              </a:rPr>
              <a:t>dt.score</a:t>
            </a:r>
            <a:r>
              <a:rPr lang="en-US" altLang="zh-CN" sz="1600" kern="1000" dirty="0">
                <a:solidFill>
                  <a:schemeClr val="tx1"/>
                </a:solidFill>
                <a:effectLst/>
              </a:rPr>
              <a:t>(</a:t>
            </a:r>
            <a:r>
              <a:rPr lang="en-US" altLang="zh-CN" sz="1600" kern="1000" dirty="0" err="1">
                <a:solidFill>
                  <a:schemeClr val="tx1"/>
                </a:solidFill>
                <a:effectLst/>
              </a:rPr>
              <a:t>x_test,y_test</a:t>
            </a:r>
            <a:r>
              <a:rPr lang="en-US" altLang="zh-CN" sz="1600" kern="1000" dirty="0">
                <a:solidFill>
                  <a:schemeClr val="tx1"/>
                </a:solidFill>
                <a:effectLst/>
              </a:rPr>
              <a:t>)</a:t>
            </a:r>
            <a:endParaRPr lang="zh-CN" altLang="zh-CN" sz="1600" kern="1000" dirty="0">
              <a:solidFill>
                <a:schemeClr val="tx1"/>
              </a:solidFill>
              <a:effectLst/>
            </a:endParaRPr>
          </a:p>
          <a:p>
            <a:pPr marL="533400" marR="120015" indent="0" algn="just">
              <a:buNone/>
            </a:pPr>
            <a:r>
              <a:rPr lang="en-US" altLang="zh-CN" sz="1600" kern="1000" dirty="0">
                <a:solidFill>
                  <a:schemeClr val="tx1"/>
                </a:solidFill>
                <a:effectLst/>
              </a:rPr>
              <a:t># </a:t>
            </a:r>
            <a:r>
              <a:rPr lang="zh-CN" altLang="zh-CN" sz="1600" kern="1000" dirty="0">
                <a:solidFill>
                  <a:schemeClr val="tx1"/>
                </a:solidFill>
                <a:effectLst/>
              </a:rPr>
              <a:t>输出准确率</a:t>
            </a:r>
            <a:endParaRPr lang="zh-CN" altLang="zh-CN" sz="1600" kern="1000" dirty="0">
              <a:solidFill>
                <a:schemeClr val="tx1"/>
              </a:solidFill>
              <a:effectLst/>
            </a:endParaRPr>
          </a:p>
          <a:p>
            <a:pPr marL="533400" marR="120015" indent="0" algn="just">
              <a:buNone/>
            </a:pPr>
            <a:r>
              <a:rPr lang="en-US" altLang="zh-CN" sz="1600" kern="1000" dirty="0">
                <a:solidFill>
                  <a:schemeClr val="tx1"/>
                </a:solidFill>
                <a:effectLst/>
              </a:rPr>
              <a:t>print('Gradient Boost : ', </a:t>
            </a:r>
            <a:r>
              <a:rPr lang="en-US" altLang="zh-CN" sz="1600" kern="1000" dirty="0" err="1">
                <a:solidFill>
                  <a:schemeClr val="tx1"/>
                </a:solidFill>
                <a:effectLst/>
              </a:rPr>
              <a:t>score_gbc</a:t>
            </a:r>
            <a:r>
              <a:rPr lang="en-US" altLang="zh-CN" sz="1600" kern="1000" dirty="0">
                <a:solidFill>
                  <a:schemeClr val="tx1"/>
                </a:solidFill>
                <a:effectLst/>
              </a:rPr>
              <a:t>)</a:t>
            </a:r>
            <a:endParaRPr lang="zh-CN" altLang="zh-CN" sz="1600" kern="1000" dirty="0">
              <a:solidFill>
                <a:schemeClr val="tx1"/>
              </a:solidFill>
              <a:effectLst/>
            </a:endParaRPr>
          </a:p>
          <a:p>
            <a:pPr marL="533400" marR="120015" indent="0" algn="just">
              <a:buNone/>
            </a:pPr>
            <a:r>
              <a:rPr lang="en-US" altLang="zh-CN" sz="1600" kern="1000" dirty="0">
                <a:solidFill>
                  <a:schemeClr val="tx1"/>
                </a:solidFill>
                <a:effectLst/>
              </a:rPr>
              <a:t>print('Decision Tree : ', </a:t>
            </a:r>
            <a:r>
              <a:rPr lang="en-US" altLang="zh-CN" sz="1600" kern="1000" dirty="0" err="1">
                <a:solidFill>
                  <a:schemeClr val="tx1"/>
                </a:solidFill>
                <a:effectLst/>
              </a:rPr>
              <a:t>score_dt</a:t>
            </a:r>
            <a:r>
              <a:rPr lang="en-US" altLang="zh-CN" sz="1600" kern="1000" dirty="0">
                <a:solidFill>
                  <a:schemeClr val="tx1"/>
                </a:solidFill>
                <a:effectLst/>
              </a:rPr>
              <a:t>)</a:t>
            </a:r>
            <a:endParaRPr lang="zh-CN" altLang="zh-CN" sz="1600" kern="1000" dirty="0">
              <a:solidFill>
                <a:schemeClr val="tx1"/>
              </a:solidFill>
              <a:effectLst/>
            </a:endParaRPr>
          </a:p>
          <a:p>
            <a:pPr marL="533400" marR="120015" indent="0" algn="just">
              <a:buNone/>
            </a:pPr>
            <a:endParaRPr lang="zh-CN" altLang="zh-CN" sz="1800" kern="1000" dirty="0">
              <a:solidFill>
                <a:srgbClr val="000000"/>
              </a:solidFill>
              <a:effectLst/>
              <a:latin typeface="Times New Roman" panose="02020603050405020304" pitchFamily="18" charset="0"/>
              <a:ea typeface="宋体" panose="02010600030101010101" pitchFamily="2" charset="-122"/>
            </a:endParaRPr>
          </a:p>
          <a:p>
            <a:pPr marL="360045" indent="0" fontAlgn="auto">
              <a:buNone/>
            </a:pPr>
            <a:endParaRPr kumimoji="1" lang="zh-CN" altLang="en-US" sz="1600" dirty="0">
              <a:solidFill>
                <a:schemeClr val="tx1"/>
              </a:solidFill>
            </a:endParaRPr>
          </a:p>
        </p:txBody>
      </p:sp>
      <p:sp>
        <p:nvSpPr>
          <p:cNvPr id="100" name="文本框 99"/>
          <p:cNvSpPr txBox="1"/>
          <p:nvPr/>
        </p:nvSpPr>
        <p:spPr>
          <a:xfrm>
            <a:off x="-2373310" y="5902207"/>
            <a:ext cx="4013200" cy="337185"/>
          </a:xfrm>
          <a:prstGeom prst="rect">
            <a:avLst/>
          </a:prstGeom>
          <a:noFill/>
          <a:ln w="9525">
            <a:noFill/>
          </a:ln>
        </p:spPr>
        <p:txBody>
          <a:bodyPr wrap="square">
            <a:spAutoFit/>
          </a:bodyPr>
          <a:lstStyle/>
          <a:p>
            <a:pPr indent="0" algn="ctr"/>
            <a:r>
              <a:rPr lang="en-US" sz="1600" b="0" dirty="0">
                <a:solidFill>
                  <a:srgbClr val="000000"/>
                </a:solidFill>
                <a:latin typeface="宋体" panose="02010600030101010101" pitchFamily="2" charset="-122"/>
              </a:rPr>
              <a:t>        </a:t>
            </a:r>
            <a:r>
              <a:rPr lang="en-US" sz="1600" b="0" dirty="0">
                <a:solidFill>
                  <a:srgbClr val="000000"/>
                </a:solidFill>
                <a:latin typeface="Calibri" panose="020F0502020204030204" pitchFamily="34" charset="0"/>
              </a:rPr>
              <a:t>               </a:t>
            </a:r>
            <a:r>
              <a:rPr lang="en-US" sz="1600" b="0" dirty="0">
                <a:solidFill>
                  <a:srgbClr val="000000"/>
                </a:solidFill>
                <a:latin typeface="宋体" panose="02010600030101010101" pitchFamily="2" charset="-122"/>
              </a:rPr>
              <a:t>                                                                               </a:t>
            </a:r>
            <a:endParaRPr lang="zh-CN" altLang="en-US" sz="1600" dirty="0"/>
          </a:p>
        </p:txBody>
      </p:sp>
      <p:sp>
        <p:nvSpPr>
          <p:cNvPr id="9" name="文本框 8"/>
          <p:cNvSpPr txBox="1"/>
          <p:nvPr/>
        </p:nvSpPr>
        <p:spPr>
          <a:xfrm>
            <a:off x="6445606" y="6727207"/>
            <a:ext cx="5080000" cy="337185"/>
          </a:xfrm>
          <a:prstGeom prst="rect">
            <a:avLst/>
          </a:prstGeom>
          <a:noFill/>
          <a:ln w="9525">
            <a:noFill/>
          </a:ln>
        </p:spPr>
        <p:txBody>
          <a:bodyPr>
            <a:spAutoFit/>
          </a:bodyPr>
          <a:lstStyle/>
          <a:p>
            <a:pPr indent="0" algn="ctr"/>
            <a:endParaRPr lang="zh-CN" altLang="en-US" sz="16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FF206FCC-0CBB-4DF4-89C1-3C9DB4B6E776}" type="slidenum">
              <a:rPr lang="zh-CN" altLang="en-US" smtClean="0"/>
            </a:fld>
            <a:r>
              <a:rPr lang="zh-CN" altLang="en-US"/>
              <a:t>   </a:t>
            </a:r>
            <a:endParaRPr lang="zh-CN" altLang="en-US" dirty="0"/>
          </a:p>
        </p:txBody>
      </p:sp>
      <p:sp>
        <p:nvSpPr>
          <p:cNvPr id="5" name="内容占位符 1"/>
          <p:cNvSpPr>
            <a:spLocks noGrp="1"/>
          </p:cNvSpPr>
          <p:nvPr>
            <p:ph idx="1"/>
          </p:nvPr>
        </p:nvSpPr>
        <p:spPr>
          <a:xfrm>
            <a:off x="419128" y="909523"/>
            <a:ext cx="10237796" cy="5484908"/>
          </a:xfrm>
        </p:spPr>
        <p:txBody>
          <a:bodyPr>
            <a:normAutofit lnSpcReduction="10000"/>
          </a:bodyPr>
          <a:lstStyle/>
          <a:p>
            <a:pPr marL="533400" marR="120015" indent="0" algn="just">
              <a:buNone/>
            </a:pPr>
            <a:r>
              <a:rPr lang="en-US" altLang="zh-CN" sz="1700" kern="1000" dirty="0">
                <a:solidFill>
                  <a:schemeClr val="tx1"/>
                </a:solidFill>
                <a:effectLst/>
              </a:rPr>
              <a:t># </a:t>
            </a:r>
            <a:r>
              <a:rPr lang="zh-CN" altLang="zh-CN" sz="1700" kern="1000" dirty="0">
                <a:solidFill>
                  <a:schemeClr val="tx1"/>
                </a:solidFill>
                <a:effectLst/>
              </a:rPr>
              <a:t>测试</a:t>
            </a:r>
            <a:r>
              <a:rPr lang="en-US" altLang="zh-CN" sz="1700" kern="1000" dirty="0" err="1">
                <a:solidFill>
                  <a:schemeClr val="tx1"/>
                </a:solidFill>
                <a:effectLst/>
              </a:rPr>
              <a:t>learning_rate</a:t>
            </a:r>
            <a:r>
              <a:rPr lang="zh-CN" altLang="zh-CN" sz="1700" kern="1000" dirty="0">
                <a:solidFill>
                  <a:schemeClr val="tx1"/>
                </a:solidFill>
                <a:effectLst/>
              </a:rPr>
              <a:t>参数对分类效果的影响</a:t>
            </a:r>
            <a:endParaRPr lang="zh-CN" altLang="zh-CN" sz="1700" kern="1000" dirty="0">
              <a:solidFill>
                <a:schemeClr val="tx1"/>
              </a:solidFill>
              <a:effectLst/>
            </a:endParaRPr>
          </a:p>
          <a:p>
            <a:pPr marL="533400" marR="120015" indent="0" algn="just">
              <a:buNone/>
            </a:pPr>
            <a:r>
              <a:rPr lang="en-US" altLang="zh-CN" sz="1700" kern="1000" dirty="0" err="1">
                <a:solidFill>
                  <a:schemeClr val="tx1"/>
                </a:solidFill>
                <a:effectLst/>
              </a:rPr>
              <a:t>gbc_scores</a:t>
            </a:r>
            <a:r>
              <a:rPr lang="en-US" altLang="zh-CN" sz="1700" kern="1000" dirty="0">
                <a:solidFill>
                  <a:schemeClr val="tx1"/>
                </a:solidFill>
                <a:effectLst/>
              </a:rPr>
              <a:t> = []</a:t>
            </a:r>
            <a:endParaRPr lang="zh-CN" altLang="zh-CN" sz="1700" kern="1000" dirty="0">
              <a:solidFill>
                <a:schemeClr val="tx1"/>
              </a:solidFill>
              <a:effectLst/>
            </a:endParaRPr>
          </a:p>
          <a:p>
            <a:pPr marL="533400" marR="120015" indent="0" algn="just">
              <a:buNone/>
            </a:pPr>
            <a:r>
              <a:rPr lang="en-US" altLang="zh-CN" sz="1700" kern="1000" dirty="0">
                <a:solidFill>
                  <a:schemeClr val="tx1"/>
                </a:solidFill>
                <a:effectLst/>
              </a:rPr>
              <a:t>for </a:t>
            </a:r>
            <a:r>
              <a:rPr lang="en-US" altLang="zh-CN" sz="1700" kern="1000" dirty="0" err="1">
                <a:solidFill>
                  <a:schemeClr val="tx1"/>
                </a:solidFill>
                <a:effectLst/>
              </a:rPr>
              <a:t>i</a:t>
            </a:r>
            <a:r>
              <a:rPr lang="en-US" altLang="zh-CN" sz="1700" kern="1000" dirty="0">
                <a:solidFill>
                  <a:schemeClr val="tx1"/>
                </a:solidFill>
                <a:effectLst/>
              </a:rPr>
              <a:t> in </a:t>
            </a:r>
            <a:r>
              <a:rPr lang="en-US" altLang="zh-CN" sz="1700" kern="1000" dirty="0" err="1">
                <a:solidFill>
                  <a:schemeClr val="tx1"/>
                </a:solidFill>
                <a:effectLst/>
              </a:rPr>
              <a:t>np.arange</a:t>
            </a:r>
            <a:r>
              <a:rPr lang="en-US" altLang="zh-CN" sz="1700" kern="1000" dirty="0">
                <a:solidFill>
                  <a:schemeClr val="tx1"/>
                </a:solidFill>
                <a:effectLst/>
              </a:rPr>
              <a:t>(0.1,1,0.05):</a:t>
            </a:r>
            <a:endParaRPr lang="zh-CN" altLang="zh-CN" sz="1700" kern="1000" dirty="0">
              <a:solidFill>
                <a:schemeClr val="tx1"/>
              </a:solidFill>
              <a:effectLst/>
            </a:endParaRPr>
          </a:p>
          <a:p>
            <a:pPr marL="533400" marR="120015" indent="0" algn="just">
              <a:buNone/>
            </a:pPr>
            <a:r>
              <a:rPr lang="en-US" altLang="zh-CN" sz="1700" kern="1000" dirty="0">
                <a:solidFill>
                  <a:schemeClr val="tx1"/>
                </a:solidFill>
                <a:effectLst/>
              </a:rPr>
              <a:t>    </a:t>
            </a:r>
            <a:r>
              <a:rPr lang="en-US" altLang="zh-CN" sz="1700" kern="1000" dirty="0" err="1">
                <a:solidFill>
                  <a:schemeClr val="tx1"/>
                </a:solidFill>
                <a:effectLst/>
              </a:rPr>
              <a:t>gbc.learning_rate</a:t>
            </a:r>
            <a:r>
              <a:rPr lang="en-US" altLang="zh-CN" sz="1700" kern="1000" dirty="0">
                <a:solidFill>
                  <a:schemeClr val="tx1"/>
                </a:solidFill>
                <a:effectLst/>
              </a:rPr>
              <a:t> = </a:t>
            </a:r>
            <a:r>
              <a:rPr lang="en-US" altLang="zh-CN" sz="1700" kern="1000" dirty="0" err="1">
                <a:solidFill>
                  <a:schemeClr val="tx1"/>
                </a:solidFill>
                <a:effectLst/>
              </a:rPr>
              <a:t>i</a:t>
            </a:r>
            <a:endParaRPr lang="zh-CN" altLang="zh-CN" sz="1700" kern="1000" dirty="0">
              <a:solidFill>
                <a:schemeClr val="tx1"/>
              </a:solidFill>
              <a:effectLst/>
            </a:endParaRPr>
          </a:p>
          <a:p>
            <a:pPr marL="533400" marR="120015" indent="0" algn="just">
              <a:buNone/>
            </a:pPr>
            <a:r>
              <a:rPr lang="en-US" altLang="zh-CN" sz="1700" kern="1000" dirty="0">
                <a:solidFill>
                  <a:schemeClr val="tx1"/>
                </a:solidFill>
                <a:effectLst/>
              </a:rPr>
              <a:t>    </a:t>
            </a:r>
            <a:r>
              <a:rPr lang="en-US" altLang="zh-CN" sz="1700" kern="1000" dirty="0" err="1">
                <a:solidFill>
                  <a:schemeClr val="tx1"/>
                </a:solidFill>
                <a:effectLst/>
              </a:rPr>
              <a:t>gbc.fit</a:t>
            </a:r>
            <a:r>
              <a:rPr lang="en-US" altLang="zh-CN" sz="1700" kern="1000" dirty="0">
                <a:solidFill>
                  <a:schemeClr val="tx1"/>
                </a:solidFill>
                <a:effectLst/>
              </a:rPr>
              <a:t>(</a:t>
            </a:r>
            <a:r>
              <a:rPr lang="en-US" altLang="zh-CN" sz="1700" kern="1000" dirty="0" err="1">
                <a:solidFill>
                  <a:schemeClr val="tx1"/>
                </a:solidFill>
                <a:effectLst/>
              </a:rPr>
              <a:t>x_train,y_train</a:t>
            </a:r>
            <a:r>
              <a:rPr lang="en-US" altLang="zh-CN" sz="1700" kern="1000" dirty="0">
                <a:solidFill>
                  <a:schemeClr val="tx1"/>
                </a:solidFill>
                <a:effectLst/>
              </a:rPr>
              <a:t>)</a:t>
            </a:r>
            <a:endParaRPr lang="zh-CN" altLang="zh-CN" sz="1700" kern="1000" dirty="0">
              <a:solidFill>
                <a:schemeClr val="tx1"/>
              </a:solidFill>
              <a:effectLst/>
            </a:endParaRPr>
          </a:p>
          <a:p>
            <a:pPr marL="533400" marR="120015" indent="0" algn="just">
              <a:buNone/>
            </a:pPr>
            <a:r>
              <a:rPr lang="en-US" altLang="zh-CN" sz="1700" kern="1000" dirty="0">
                <a:solidFill>
                  <a:schemeClr val="tx1"/>
                </a:solidFill>
                <a:effectLst/>
              </a:rPr>
              <a:t>    </a:t>
            </a:r>
            <a:r>
              <a:rPr lang="en-US" altLang="zh-CN" sz="1700" kern="1000" dirty="0" err="1">
                <a:solidFill>
                  <a:schemeClr val="tx1"/>
                </a:solidFill>
                <a:effectLst/>
              </a:rPr>
              <a:t>gbc_score</a:t>
            </a:r>
            <a:r>
              <a:rPr lang="en-US" altLang="zh-CN" sz="1700" kern="1000" dirty="0">
                <a:solidFill>
                  <a:schemeClr val="tx1"/>
                </a:solidFill>
                <a:effectLst/>
              </a:rPr>
              <a:t> = </a:t>
            </a:r>
            <a:r>
              <a:rPr lang="en-US" altLang="zh-CN" sz="1700" kern="1000" dirty="0" err="1">
                <a:solidFill>
                  <a:schemeClr val="tx1"/>
                </a:solidFill>
                <a:effectLst/>
              </a:rPr>
              <a:t>gbc.score</a:t>
            </a:r>
            <a:r>
              <a:rPr lang="en-US" altLang="zh-CN" sz="1700" kern="1000" dirty="0">
                <a:solidFill>
                  <a:schemeClr val="tx1"/>
                </a:solidFill>
                <a:effectLst/>
              </a:rPr>
              <a:t>(</a:t>
            </a:r>
            <a:r>
              <a:rPr lang="en-US" altLang="zh-CN" sz="1700" kern="1000" dirty="0" err="1">
                <a:solidFill>
                  <a:schemeClr val="tx1"/>
                </a:solidFill>
                <a:effectLst/>
              </a:rPr>
              <a:t>x_test,y_test</a:t>
            </a:r>
            <a:r>
              <a:rPr lang="en-US" altLang="zh-CN" sz="1700" kern="1000" dirty="0">
                <a:solidFill>
                  <a:schemeClr val="tx1"/>
                </a:solidFill>
                <a:effectLst/>
              </a:rPr>
              <a:t>)</a:t>
            </a:r>
            <a:endParaRPr lang="zh-CN" altLang="zh-CN" sz="1700" kern="1000" dirty="0">
              <a:solidFill>
                <a:schemeClr val="tx1"/>
              </a:solidFill>
              <a:effectLst/>
            </a:endParaRPr>
          </a:p>
          <a:p>
            <a:pPr marL="533400" marR="120015" indent="0" algn="just">
              <a:buNone/>
            </a:pPr>
            <a:r>
              <a:rPr lang="en-US" altLang="zh-CN" sz="1700" kern="1000" dirty="0">
                <a:solidFill>
                  <a:schemeClr val="tx1"/>
                </a:solidFill>
                <a:effectLst/>
              </a:rPr>
              <a:t>    </a:t>
            </a:r>
            <a:r>
              <a:rPr lang="en-US" altLang="zh-CN" sz="1700" kern="1000" dirty="0" err="1">
                <a:solidFill>
                  <a:schemeClr val="tx1"/>
                </a:solidFill>
                <a:effectLst/>
              </a:rPr>
              <a:t>gbc_scores.append</a:t>
            </a:r>
            <a:r>
              <a:rPr lang="en-US" altLang="zh-CN" sz="1700" kern="1000" dirty="0">
                <a:solidFill>
                  <a:schemeClr val="tx1"/>
                </a:solidFill>
                <a:effectLst/>
              </a:rPr>
              <a:t>(</a:t>
            </a:r>
            <a:r>
              <a:rPr lang="en-US" altLang="zh-CN" sz="1700" kern="1000" dirty="0" err="1">
                <a:solidFill>
                  <a:schemeClr val="tx1"/>
                </a:solidFill>
                <a:effectLst/>
              </a:rPr>
              <a:t>gbc_score</a:t>
            </a:r>
            <a:r>
              <a:rPr lang="en-US" altLang="zh-CN" sz="1700" kern="1000" dirty="0">
                <a:solidFill>
                  <a:schemeClr val="tx1"/>
                </a:solidFill>
                <a:effectLst/>
              </a:rPr>
              <a:t>)</a:t>
            </a:r>
            <a:endParaRPr lang="zh-CN" altLang="zh-CN" sz="1700" kern="1000" dirty="0">
              <a:solidFill>
                <a:schemeClr val="tx1"/>
              </a:solidFill>
              <a:effectLst/>
            </a:endParaRPr>
          </a:p>
          <a:p>
            <a:pPr marL="533400" marR="120015" indent="0" algn="just">
              <a:buNone/>
            </a:pPr>
            <a:r>
              <a:rPr lang="en-US" altLang="zh-CN" sz="1700" kern="1000" dirty="0">
                <a:solidFill>
                  <a:schemeClr val="tx1"/>
                </a:solidFill>
                <a:effectLst/>
              </a:rPr>
              <a:t> # </a:t>
            </a:r>
            <a:r>
              <a:rPr lang="zh-CN" altLang="zh-CN" sz="1700" kern="1000" dirty="0">
                <a:solidFill>
                  <a:schemeClr val="tx1"/>
                </a:solidFill>
                <a:effectLst/>
              </a:rPr>
              <a:t>绘制测试结果</a:t>
            </a:r>
            <a:endParaRPr lang="zh-CN" altLang="zh-CN" sz="1700" kern="1000" dirty="0">
              <a:solidFill>
                <a:schemeClr val="tx1"/>
              </a:solidFill>
              <a:effectLst/>
            </a:endParaRPr>
          </a:p>
          <a:p>
            <a:pPr marL="533400" marR="120015" indent="0" algn="just">
              <a:buNone/>
            </a:pPr>
            <a:r>
              <a:rPr lang="en-US" altLang="zh-CN" sz="1700" kern="1000" dirty="0" err="1">
                <a:solidFill>
                  <a:schemeClr val="tx1"/>
                </a:solidFill>
                <a:effectLst/>
              </a:rPr>
              <a:t>plt.figure</a:t>
            </a:r>
            <a:r>
              <a:rPr lang="en-US" altLang="zh-CN" sz="1700" kern="1000" dirty="0">
                <a:solidFill>
                  <a:schemeClr val="tx1"/>
                </a:solidFill>
                <a:effectLst/>
              </a:rPr>
              <a:t>()</a:t>
            </a:r>
            <a:endParaRPr lang="zh-CN" altLang="zh-CN" sz="1700" kern="1000" dirty="0">
              <a:solidFill>
                <a:schemeClr val="tx1"/>
              </a:solidFill>
              <a:effectLst/>
            </a:endParaRPr>
          </a:p>
          <a:p>
            <a:pPr marL="533400" marR="120015" indent="0" algn="just">
              <a:buNone/>
            </a:pPr>
            <a:r>
              <a:rPr lang="en-US" altLang="zh-CN" sz="1700" kern="1000" dirty="0" err="1">
                <a:solidFill>
                  <a:schemeClr val="tx1"/>
                </a:solidFill>
                <a:effectLst/>
              </a:rPr>
              <a:t>plt.title</a:t>
            </a:r>
            <a:r>
              <a:rPr lang="en-US" altLang="zh-CN" sz="1700" kern="1000" dirty="0">
                <a:solidFill>
                  <a:schemeClr val="tx1"/>
                </a:solidFill>
                <a:effectLst/>
              </a:rPr>
              <a:t>('Gradient Boost')</a:t>
            </a:r>
            <a:endParaRPr lang="zh-CN" altLang="zh-CN" sz="1700" kern="1000" dirty="0">
              <a:solidFill>
                <a:schemeClr val="tx1"/>
              </a:solidFill>
              <a:effectLst/>
            </a:endParaRPr>
          </a:p>
          <a:p>
            <a:pPr marL="533400" marR="120015" indent="0" algn="just">
              <a:buNone/>
            </a:pPr>
            <a:r>
              <a:rPr lang="en-US" altLang="zh-CN" sz="1700" kern="1000" dirty="0" err="1">
                <a:solidFill>
                  <a:schemeClr val="tx1"/>
                </a:solidFill>
                <a:effectLst/>
              </a:rPr>
              <a:t>plt.xlabel</a:t>
            </a:r>
            <a:r>
              <a:rPr lang="en-US" altLang="zh-CN" sz="1700" kern="1000" dirty="0">
                <a:solidFill>
                  <a:schemeClr val="tx1"/>
                </a:solidFill>
                <a:effectLst/>
              </a:rPr>
              <a:t>('</a:t>
            </a:r>
            <a:r>
              <a:rPr lang="en-US" altLang="zh-CN" sz="1700" kern="1000" dirty="0" err="1">
                <a:solidFill>
                  <a:schemeClr val="tx1"/>
                </a:solidFill>
                <a:effectLst/>
              </a:rPr>
              <a:t>learning_rate</a:t>
            </a:r>
            <a:r>
              <a:rPr lang="en-US" altLang="zh-CN" sz="1700" kern="1000" dirty="0">
                <a:solidFill>
                  <a:schemeClr val="tx1"/>
                </a:solidFill>
                <a:effectLst/>
              </a:rPr>
              <a:t>')</a:t>
            </a:r>
            <a:endParaRPr lang="zh-CN" altLang="zh-CN" sz="1700" kern="1000" dirty="0">
              <a:solidFill>
                <a:schemeClr val="tx1"/>
              </a:solidFill>
              <a:effectLst/>
            </a:endParaRPr>
          </a:p>
          <a:p>
            <a:pPr marL="533400" marR="120015" indent="0" algn="just">
              <a:buNone/>
            </a:pPr>
            <a:r>
              <a:rPr lang="en-US" altLang="zh-CN" sz="1700" kern="1000" dirty="0" err="1">
                <a:solidFill>
                  <a:schemeClr val="tx1"/>
                </a:solidFill>
                <a:effectLst/>
              </a:rPr>
              <a:t>plt.ylabel</a:t>
            </a:r>
            <a:r>
              <a:rPr lang="en-US" altLang="zh-CN" sz="1700" kern="1000" dirty="0">
                <a:solidFill>
                  <a:schemeClr val="tx1"/>
                </a:solidFill>
                <a:effectLst/>
              </a:rPr>
              <a:t>('Accuracy')</a:t>
            </a:r>
            <a:endParaRPr lang="zh-CN" altLang="zh-CN" sz="1700" kern="1000" dirty="0">
              <a:solidFill>
                <a:schemeClr val="tx1"/>
              </a:solidFill>
              <a:effectLst/>
            </a:endParaRPr>
          </a:p>
          <a:p>
            <a:pPr marL="533400" marR="120015" indent="0" algn="just">
              <a:buNone/>
            </a:pPr>
            <a:endParaRPr lang="zh-CN" altLang="zh-CN" sz="1600" kern="1000" dirty="0">
              <a:solidFill>
                <a:srgbClr val="000000"/>
              </a:solidFill>
              <a:effectLst/>
            </a:endParaRPr>
          </a:p>
          <a:p>
            <a:pPr marL="533400" marR="120015" indent="0" algn="just">
              <a:buNone/>
            </a:pPr>
            <a:endParaRPr lang="zh-CN" altLang="zh-CN" sz="1800" kern="1000" dirty="0">
              <a:solidFill>
                <a:srgbClr val="000000"/>
              </a:solidFill>
              <a:effectLst/>
              <a:latin typeface="Times New Roman" panose="02020603050405020304" pitchFamily="18" charset="0"/>
              <a:ea typeface="宋体" panose="02010600030101010101" pitchFamily="2" charset="-122"/>
            </a:endParaRPr>
          </a:p>
          <a:p>
            <a:pPr marL="360045" indent="0" fontAlgn="auto">
              <a:buNone/>
            </a:pPr>
            <a:endParaRPr kumimoji="1" lang="zh-CN" altLang="en-US" sz="1600" dirty="0">
              <a:solidFill>
                <a:schemeClr val="tx1"/>
              </a:solidFill>
            </a:endParaRPr>
          </a:p>
        </p:txBody>
      </p:sp>
      <p:sp>
        <p:nvSpPr>
          <p:cNvPr id="100" name="文本框 99"/>
          <p:cNvSpPr txBox="1"/>
          <p:nvPr/>
        </p:nvSpPr>
        <p:spPr>
          <a:xfrm>
            <a:off x="-2373310" y="5902207"/>
            <a:ext cx="4013200" cy="337185"/>
          </a:xfrm>
          <a:prstGeom prst="rect">
            <a:avLst/>
          </a:prstGeom>
          <a:noFill/>
          <a:ln w="9525">
            <a:noFill/>
          </a:ln>
        </p:spPr>
        <p:txBody>
          <a:bodyPr wrap="square">
            <a:spAutoFit/>
          </a:bodyPr>
          <a:lstStyle/>
          <a:p>
            <a:pPr indent="0" algn="ctr"/>
            <a:r>
              <a:rPr lang="en-US" sz="1600" b="0" dirty="0">
                <a:solidFill>
                  <a:srgbClr val="000000"/>
                </a:solidFill>
                <a:latin typeface="宋体" panose="02010600030101010101" pitchFamily="2" charset="-122"/>
              </a:rPr>
              <a:t>        </a:t>
            </a:r>
            <a:r>
              <a:rPr lang="en-US" sz="1600" b="0" dirty="0">
                <a:solidFill>
                  <a:srgbClr val="000000"/>
                </a:solidFill>
                <a:latin typeface="Calibri" panose="020F0502020204030204" pitchFamily="34" charset="0"/>
              </a:rPr>
              <a:t>               </a:t>
            </a:r>
            <a:r>
              <a:rPr lang="en-US" sz="1600" b="0" dirty="0">
                <a:solidFill>
                  <a:srgbClr val="000000"/>
                </a:solidFill>
                <a:latin typeface="宋体" panose="02010600030101010101" pitchFamily="2" charset="-122"/>
              </a:rPr>
              <a:t>                                                                               </a:t>
            </a:r>
            <a:endParaRPr lang="zh-CN" altLang="en-US" sz="1600" dirty="0"/>
          </a:p>
        </p:txBody>
      </p:sp>
      <p:sp>
        <p:nvSpPr>
          <p:cNvPr id="9" name="文本框 8"/>
          <p:cNvSpPr txBox="1"/>
          <p:nvPr/>
        </p:nvSpPr>
        <p:spPr>
          <a:xfrm>
            <a:off x="6445606" y="6727207"/>
            <a:ext cx="5080000" cy="337185"/>
          </a:xfrm>
          <a:prstGeom prst="rect">
            <a:avLst/>
          </a:prstGeom>
          <a:noFill/>
          <a:ln w="9525">
            <a:noFill/>
          </a:ln>
        </p:spPr>
        <p:txBody>
          <a:bodyPr>
            <a:spAutoFit/>
          </a:bodyPr>
          <a:lstStyle/>
          <a:p>
            <a:pPr indent="0" algn="ctr"/>
            <a:endParaRPr lang="zh-CN" altLang="en-US" sz="16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FF206FCC-0CBB-4DF4-89C1-3C9DB4B6E776}" type="slidenum">
              <a:rPr lang="zh-CN" altLang="en-US" smtClean="0"/>
            </a:fld>
            <a:r>
              <a:rPr lang="zh-CN" altLang="en-US"/>
              <a:t>   </a:t>
            </a:r>
            <a:endParaRPr lang="zh-CN" altLang="en-US" dirty="0"/>
          </a:p>
        </p:txBody>
      </p:sp>
      <p:sp>
        <p:nvSpPr>
          <p:cNvPr id="5" name="内容占位符 1"/>
          <p:cNvSpPr>
            <a:spLocks noGrp="1"/>
          </p:cNvSpPr>
          <p:nvPr>
            <p:ph idx="1"/>
          </p:nvPr>
        </p:nvSpPr>
        <p:spPr>
          <a:xfrm>
            <a:off x="517099" y="865980"/>
            <a:ext cx="10237796" cy="5484908"/>
          </a:xfrm>
        </p:spPr>
        <p:txBody>
          <a:bodyPr>
            <a:normAutofit/>
          </a:bodyPr>
          <a:lstStyle/>
          <a:p>
            <a:pPr marL="533400" marR="120015" indent="0" algn="just">
              <a:buNone/>
            </a:pPr>
            <a:r>
              <a:rPr lang="en-US" altLang="zh-CN" sz="1600" kern="1000" dirty="0">
                <a:solidFill>
                  <a:schemeClr val="tx1"/>
                </a:solidFill>
                <a:effectLst/>
              </a:rPr>
              <a:t>plt.plot(range(len(gbc_scores)),gbc_scores)</a:t>
            </a:r>
            <a:endParaRPr lang="zh-CN" altLang="zh-CN" sz="1600" kern="1000" dirty="0">
              <a:solidFill>
                <a:schemeClr val="tx1"/>
              </a:solidFill>
              <a:effectLst/>
            </a:endParaRPr>
          </a:p>
          <a:p>
            <a:pPr marL="533400" marR="120015" indent="0" algn="just">
              <a:buNone/>
            </a:pPr>
            <a:r>
              <a:rPr lang="en-US" altLang="zh-CN" sz="1600" kern="1000" dirty="0" err="1">
                <a:solidFill>
                  <a:schemeClr val="tx1"/>
                </a:solidFill>
                <a:effectLst/>
              </a:rPr>
              <a:t>plt.show</a:t>
            </a:r>
            <a:r>
              <a:rPr lang="en-US" altLang="zh-CN" sz="1600" kern="1000" dirty="0">
                <a:solidFill>
                  <a:schemeClr val="tx1"/>
                </a:solidFill>
                <a:effectLst/>
              </a:rPr>
              <a:t>()</a:t>
            </a:r>
            <a:endParaRPr lang="zh-CN" altLang="zh-CN" sz="1600" kern="1000" dirty="0">
              <a:solidFill>
                <a:schemeClr val="tx1"/>
              </a:solidFill>
              <a:effectLst/>
            </a:endParaRPr>
          </a:p>
          <a:p>
            <a:pPr marL="533400" marR="120015" indent="0" algn="just">
              <a:buNone/>
            </a:pPr>
            <a:r>
              <a:rPr lang="en-US" altLang="zh-CN" sz="1600" kern="1000" dirty="0" err="1">
                <a:solidFill>
                  <a:schemeClr val="tx1"/>
                </a:solidFill>
                <a:effectLst/>
              </a:rPr>
              <a:t>gbc_scores</a:t>
            </a:r>
            <a:r>
              <a:rPr lang="en-US" altLang="zh-CN" sz="1600" kern="1000" dirty="0">
                <a:solidFill>
                  <a:schemeClr val="tx1"/>
                </a:solidFill>
                <a:effectLst/>
              </a:rPr>
              <a:t> = []</a:t>
            </a:r>
            <a:endParaRPr lang="zh-CN" altLang="zh-CN" sz="1600" kern="1000" dirty="0">
              <a:solidFill>
                <a:schemeClr val="tx1"/>
              </a:solidFill>
              <a:effectLst/>
            </a:endParaRPr>
          </a:p>
          <a:p>
            <a:pPr marL="533400" marR="120015" indent="0" algn="just">
              <a:buNone/>
            </a:pPr>
            <a:r>
              <a:rPr lang="en-US" altLang="zh-CN" sz="1600" kern="1000" dirty="0" err="1">
                <a:solidFill>
                  <a:schemeClr val="tx1"/>
                </a:solidFill>
                <a:effectLst/>
              </a:rPr>
              <a:t>dt_scores</a:t>
            </a:r>
            <a:r>
              <a:rPr lang="en-US" altLang="zh-CN" sz="1600" kern="1000" dirty="0">
                <a:solidFill>
                  <a:schemeClr val="tx1"/>
                </a:solidFill>
                <a:effectLst/>
              </a:rPr>
              <a:t> = []</a:t>
            </a:r>
            <a:endParaRPr lang="zh-CN" altLang="zh-CN" sz="1600" kern="1000" dirty="0">
              <a:solidFill>
                <a:schemeClr val="tx1"/>
              </a:solidFill>
              <a:effectLst/>
            </a:endParaRPr>
          </a:p>
          <a:p>
            <a:pPr marL="533400" marR="120015" indent="0" algn="just">
              <a:buNone/>
            </a:pPr>
            <a:r>
              <a:rPr lang="en-US" altLang="zh-CN" sz="1600" kern="1000" dirty="0">
                <a:solidFill>
                  <a:schemeClr val="tx1"/>
                </a:solidFill>
                <a:effectLst/>
              </a:rPr>
              <a:t># </a:t>
            </a:r>
            <a:r>
              <a:rPr lang="zh-CN" altLang="zh-CN" sz="1600" kern="1000" dirty="0">
                <a:solidFill>
                  <a:schemeClr val="tx1"/>
                </a:solidFill>
                <a:effectLst/>
              </a:rPr>
              <a:t>使用</a:t>
            </a:r>
            <a:r>
              <a:rPr lang="en-US" altLang="zh-CN" sz="1600" kern="1000" dirty="0" err="1">
                <a:solidFill>
                  <a:schemeClr val="tx1"/>
                </a:solidFill>
                <a:effectLst/>
              </a:rPr>
              <a:t>cross_val_score</a:t>
            </a:r>
            <a:r>
              <a:rPr lang="zh-CN" altLang="zh-CN" sz="1600" kern="1000" dirty="0">
                <a:solidFill>
                  <a:schemeClr val="tx1"/>
                </a:solidFill>
                <a:effectLst/>
              </a:rPr>
              <a:t>进行交叉验证</a:t>
            </a:r>
            <a:endParaRPr lang="zh-CN" altLang="zh-CN" sz="1600" kern="1000" dirty="0">
              <a:solidFill>
                <a:schemeClr val="tx1"/>
              </a:solidFill>
              <a:effectLst/>
            </a:endParaRPr>
          </a:p>
          <a:p>
            <a:pPr marL="533400" marR="120015" indent="0" algn="just">
              <a:buNone/>
            </a:pPr>
            <a:r>
              <a:rPr lang="en-US" altLang="zh-CN" sz="1600" kern="1000" dirty="0">
                <a:solidFill>
                  <a:schemeClr val="tx1"/>
                </a:solidFill>
                <a:effectLst/>
              </a:rPr>
              <a:t>for </a:t>
            </a:r>
            <a:r>
              <a:rPr lang="en-US" altLang="zh-CN" sz="1600" kern="1000" dirty="0" err="1">
                <a:solidFill>
                  <a:schemeClr val="tx1"/>
                </a:solidFill>
                <a:effectLst/>
              </a:rPr>
              <a:t>i</a:t>
            </a:r>
            <a:r>
              <a:rPr lang="en-US" altLang="zh-CN" sz="1600" kern="1000" dirty="0">
                <a:solidFill>
                  <a:schemeClr val="tx1"/>
                </a:solidFill>
                <a:effectLst/>
              </a:rPr>
              <a:t> in range(20):</a:t>
            </a:r>
            <a:endParaRPr lang="zh-CN" altLang="zh-CN" sz="1600" kern="1000" dirty="0">
              <a:solidFill>
                <a:schemeClr val="tx1"/>
              </a:solidFill>
              <a:effectLst/>
            </a:endParaRPr>
          </a:p>
          <a:p>
            <a:pPr marL="533400" marR="120015" indent="0">
              <a:buNone/>
            </a:pPr>
            <a:r>
              <a:rPr lang="en-US" altLang="zh-CN" sz="1600" kern="1000" dirty="0">
                <a:solidFill>
                  <a:schemeClr val="tx1"/>
                </a:solidFill>
                <a:effectLst/>
              </a:rPr>
              <a:t>    </a:t>
            </a:r>
            <a:r>
              <a:rPr lang="en-US" altLang="zh-CN" sz="1600" kern="1000" dirty="0" err="1">
                <a:solidFill>
                  <a:schemeClr val="tx1"/>
                </a:solidFill>
                <a:effectLst/>
              </a:rPr>
              <a:t>gbc_score</a:t>
            </a:r>
            <a:r>
              <a:rPr lang="en-US" altLang="zh-CN" sz="1600" kern="1000" dirty="0">
                <a:solidFill>
                  <a:schemeClr val="tx1"/>
                </a:solidFill>
                <a:effectLst/>
              </a:rPr>
              <a:t> = </a:t>
            </a:r>
            <a:r>
              <a:rPr lang="en-US" altLang="zh-CN" sz="1600" kern="1000" dirty="0" err="1">
                <a:solidFill>
                  <a:schemeClr val="tx1"/>
                </a:solidFill>
                <a:effectLst/>
              </a:rPr>
              <a:t>cross_val_score</a:t>
            </a:r>
            <a:r>
              <a:rPr lang="en-US" altLang="zh-CN" sz="1600" kern="1000" dirty="0">
                <a:solidFill>
                  <a:schemeClr val="tx1"/>
                </a:solidFill>
                <a:effectLst/>
              </a:rPr>
              <a:t>(</a:t>
            </a:r>
            <a:r>
              <a:rPr lang="en-US" altLang="zh-CN" sz="1600" kern="1000" dirty="0" err="1">
                <a:solidFill>
                  <a:schemeClr val="tx1"/>
                </a:solidFill>
                <a:effectLst/>
              </a:rPr>
              <a:t>gbc</a:t>
            </a:r>
            <a:r>
              <a:rPr lang="en-US" altLang="zh-CN" sz="1600" kern="1000" dirty="0">
                <a:solidFill>
                  <a:schemeClr val="tx1"/>
                </a:solidFill>
              </a:rPr>
              <a:t>, </a:t>
            </a:r>
            <a:r>
              <a:rPr lang="en-US" altLang="zh-CN" sz="1600" kern="1000" dirty="0" err="1">
                <a:solidFill>
                  <a:schemeClr val="tx1"/>
                </a:solidFill>
              </a:rPr>
              <a:t>cancer.data</a:t>
            </a:r>
            <a:r>
              <a:rPr lang="en-US" altLang="zh-CN" sz="1600" kern="1000" dirty="0">
                <a:solidFill>
                  <a:schemeClr val="tx1"/>
                </a:solidFill>
              </a:rPr>
              <a:t>, </a:t>
            </a:r>
            <a:r>
              <a:rPr lang="en-US" altLang="zh-CN" sz="1600" kern="1000" dirty="0" err="1">
                <a:solidFill>
                  <a:schemeClr val="tx1"/>
                </a:solidFill>
              </a:rPr>
              <a:t>cancer.target,cv</a:t>
            </a:r>
            <a:r>
              <a:rPr lang="en-US" altLang="zh-CN" sz="1600" kern="1000" dirty="0">
                <a:solidFill>
                  <a:schemeClr val="tx1"/>
                </a:solidFill>
              </a:rPr>
              <a:t>=10</a:t>
            </a:r>
            <a:r>
              <a:rPr lang="en-US" altLang="zh-CN" sz="1600" kern="1000" dirty="0">
                <a:solidFill>
                  <a:schemeClr val="tx1"/>
                </a:solidFill>
                <a:effectLst/>
              </a:rPr>
              <a:t>).mean()</a:t>
            </a:r>
            <a:endParaRPr lang="zh-CN" altLang="zh-CN" sz="1600" kern="1000" dirty="0">
              <a:solidFill>
                <a:schemeClr val="tx1"/>
              </a:solidFill>
              <a:effectLst/>
            </a:endParaRPr>
          </a:p>
          <a:p>
            <a:pPr marL="533400" marR="120015" indent="0" algn="just">
              <a:buNone/>
            </a:pPr>
            <a:r>
              <a:rPr lang="en-US" altLang="zh-CN" sz="1600" kern="1000" dirty="0">
                <a:solidFill>
                  <a:schemeClr val="tx1"/>
                </a:solidFill>
                <a:effectLst/>
              </a:rPr>
              <a:t>    </a:t>
            </a:r>
            <a:r>
              <a:rPr lang="en-US" altLang="zh-CN" sz="1600" kern="1000" dirty="0" err="1">
                <a:solidFill>
                  <a:schemeClr val="tx1"/>
                </a:solidFill>
                <a:effectLst/>
              </a:rPr>
              <a:t>gbc_scores.append</a:t>
            </a:r>
            <a:r>
              <a:rPr lang="en-US" altLang="zh-CN" sz="1600" kern="1000" dirty="0">
                <a:solidFill>
                  <a:schemeClr val="tx1"/>
                </a:solidFill>
                <a:effectLst/>
              </a:rPr>
              <a:t>(</a:t>
            </a:r>
            <a:r>
              <a:rPr lang="en-US" altLang="zh-CN" sz="1600" kern="1000" dirty="0" err="1">
                <a:solidFill>
                  <a:schemeClr val="tx1"/>
                </a:solidFill>
                <a:effectLst/>
              </a:rPr>
              <a:t>gbc_score</a:t>
            </a:r>
            <a:r>
              <a:rPr lang="en-US" altLang="zh-CN" sz="1600" kern="1000" dirty="0">
                <a:solidFill>
                  <a:schemeClr val="tx1"/>
                </a:solidFill>
                <a:effectLst/>
              </a:rPr>
              <a:t>)</a:t>
            </a:r>
            <a:endParaRPr lang="zh-CN" altLang="zh-CN" sz="1600" kern="1000" dirty="0">
              <a:solidFill>
                <a:schemeClr val="tx1"/>
              </a:solidFill>
              <a:effectLst/>
            </a:endParaRPr>
          </a:p>
          <a:p>
            <a:pPr marL="533400" marR="120015" indent="0">
              <a:buNone/>
            </a:pPr>
            <a:r>
              <a:rPr lang="en-US" altLang="zh-CN" sz="1600" kern="1000" dirty="0">
                <a:solidFill>
                  <a:schemeClr val="tx1"/>
                </a:solidFill>
                <a:effectLst/>
              </a:rPr>
              <a:t>    </a:t>
            </a:r>
            <a:r>
              <a:rPr lang="en-US" altLang="zh-CN" sz="1600" kern="1000" dirty="0" err="1">
                <a:solidFill>
                  <a:schemeClr val="tx1"/>
                </a:solidFill>
                <a:effectLst/>
              </a:rPr>
              <a:t>dt_score</a:t>
            </a:r>
            <a:r>
              <a:rPr lang="en-US" altLang="zh-CN" sz="1600" kern="1000" dirty="0">
                <a:solidFill>
                  <a:schemeClr val="tx1"/>
                </a:solidFill>
                <a:effectLst/>
              </a:rPr>
              <a:t> = </a:t>
            </a:r>
            <a:r>
              <a:rPr lang="en-US" altLang="zh-CN" sz="1600" kern="1000" dirty="0" err="1">
                <a:solidFill>
                  <a:schemeClr val="tx1"/>
                </a:solidFill>
                <a:effectLst/>
              </a:rPr>
              <a:t>cross_val_score</a:t>
            </a:r>
            <a:r>
              <a:rPr lang="en-US" altLang="zh-CN" sz="1600" kern="1000" dirty="0">
                <a:solidFill>
                  <a:schemeClr val="tx1"/>
                </a:solidFill>
                <a:effectLst/>
              </a:rPr>
              <a:t>(</a:t>
            </a:r>
            <a:r>
              <a:rPr lang="en-US" altLang="zh-CN" sz="1600" kern="1000" dirty="0" err="1">
                <a:solidFill>
                  <a:schemeClr val="tx1"/>
                </a:solidFill>
                <a:effectLst/>
              </a:rPr>
              <a:t>dt</a:t>
            </a:r>
            <a:r>
              <a:rPr lang="en-US" altLang="zh-CN" sz="1600" kern="1000" dirty="0">
                <a:solidFill>
                  <a:schemeClr val="tx1"/>
                </a:solidFill>
              </a:rPr>
              <a:t>, </a:t>
            </a:r>
            <a:r>
              <a:rPr lang="en-US" altLang="zh-CN" sz="1600" kern="1000" dirty="0" err="1">
                <a:solidFill>
                  <a:schemeClr val="tx1"/>
                </a:solidFill>
              </a:rPr>
              <a:t>cancer.data</a:t>
            </a:r>
            <a:r>
              <a:rPr lang="en-US" altLang="zh-CN" sz="1600" kern="1000" dirty="0">
                <a:solidFill>
                  <a:schemeClr val="tx1"/>
                </a:solidFill>
              </a:rPr>
              <a:t>, </a:t>
            </a:r>
            <a:r>
              <a:rPr lang="en-US" altLang="zh-CN" sz="1600" kern="1000" dirty="0" err="1">
                <a:solidFill>
                  <a:schemeClr val="tx1"/>
                </a:solidFill>
              </a:rPr>
              <a:t>cancer.target,cv</a:t>
            </a:r>
            <a:r>
              <a:rPr lang="en-US" altLang="zh-CN" sz="1600" kern="1000" dirty="0">
                <a:solidFill>
                  <a:schemeClr val="tx1"/>
                </a:solidFill>
              </a:rPr>
              <a:t>=10</a:t>
            </a:r>
            <a:r>
              <a:rPr lang="en-US" altLang="zh-CN" sz="1600" kern="1000" dirty="0">
                <a:solidFill>
                  <a:schemeClr val="tx1"/>
                </a:solidFill>
                <a:effectLst/>
              </a:rPr>
              <a:t>).mean()</a:t>
            </a:r>
            <a:endParaRPr lang="zh-CN" altLang="zh-CN" sz="1600" kern="1000" dirty="0">
              <a:solidFill>
                <a:schemeClr val="tx1"/>
              </a:solidFill>
              <a:effectLst/>
            </a:endParaRPr>
          </a:p>
          <a:p>
            <a:pPr marL="533400" marR="120015" indent="0" algn="just">
              <a:buNone/>
            </a:pPr>
            <a:r>
              <a:rPr lang="en-US" altLang="zh-CN" sz="1600" kern="1000" dirty="0">
                <a:solidFill>
                  <a:schemeClr val="tx1"/>
                </a:solidFill>
                <a:effectLst/>
              </a:rPr>
              <a:t>    </a:t>
            </a:r>
            <a:r>
              <a:rPr lang="en-US" altLang="zh-CN" sz="1600" kern="1000" dirty="0" err="1">
                <a:solidFill>
                  <a:schemeClr val="tx1"/>
                </a:solidFill>
                <a:effectLst/>
              </a:rPr>
              <a:t>dt_scores.append</a:t>
            </a:r>
            <a:r>
              <a:rPr lang="en-US" altLang="zh-CN" sz="1600" kern="1000" dirty="0">
                <a:solidFill>
                  <a:schemeClr val="tx1"/>
                </a:solidFill>
                <a:effectLst/>
              </a:rPr>
              <a:t>(</a:t>
            </a:r>
            <a:r>
              <a:rPr lang="en-US" altLang="zh-CN" sz="1600" kern="1000" dirty="0" err="1">
                <a:solidFill>
                  <a:schemeClr val="tx1"/>
                </a:solidFill>
                <a:effectLst/>
              </a:rPr>
              <a:t>dt_score</a:t>
            </a:r>
            <a:r>
              <a:rPr lang="en-US" altLang="zh-CN" sz="1600" kern="1000" dirty="0">
                <a:solidFill>
                  <a:schemeClr val="tx1"/>
                </a:solidFill>
                <a:effectLst/>
              </a:rPr>
              <a:t>)</a:t>
            </a:r>
            <a:endParaRPr lang="zh-CN" altLang="zh-CN" sz="1600" kern="1000" dirty="0">
              <a:solidFill>
                <a:schemeClr val="tx1"/>
              </a:solidFill>
              <a:effectLst/>
            </a:endParaRPr>
          </a:p>
          <a:p>
            <a:pPr marL="533400" marR="120015" indent="0" algn="just">
              <a:buNone/>
            </a:pPr>
            <a:endParaRPr lang="zh-CN" altLang="zh-CN" sz="1600" kern="1000" dirty="0">
              <a:solidFill>
                <a:srgbClr val="000000"/>
              </a:solidFill>
              <a:effectLst/>
            </a:endParaRPr>
          </a:p>
          <a:p>
            <a:pPr marL="533400" marR="120015" indent="0" algn="just">
              <a:buNone/>
            </a:pPr>
            <a:endParaRPr lang="zh-CN" altLang="zh-CN" sz="1800" kern="1000" dirty="0">
              <a:solidFill>
                <a:srgbClr val="000000"/>
              </a:solidFill>
              <a:effectLst/>
              <a:latin typeface="Times New Roman" panose="02020603050405020304" pitchFamily="18" charset="0"/>
              <a:ea typeface="宋体" panose="02010600030101010101" pitchFamily="2" charset="-122"/>
            </a:endParaRPr>
          </a:p>
          <a:p>
            <a:pPr marL="360045" indent="0" fontAlgn="auto">
              <a:buNone/>
            </a:pPr>
            <a:endParaRPr kumimoji="1" lang="zh-CN" altLang="en-US" sz="1600" dirty="0">
              <a:solidFill>
                <a:schemeClr val="tx1"/>
              </a:solidFill>
            </a:endParaRPr>
          </a:p>
        </p:txBody>
      </p:sp>
      <p:sp>
        <p:nvSpPr>
          <p:cNvPr id="100" name="文本框 99"/>
          <p:cNvSpPr txBox="1"/>
          <p:nvPr/>
        </p:nvSpPr>
        <p:spPr>
          <a:xfrm>
            <a:off x="-2373310" y="5902207"/>
            <a:ext cx="4013200" cy="337185"/>
          </a:xfrm>
          <a:prstGeom prst="rect">
            <a:avLst/>
          </a:prstGeom>
          <a:noFill/>
          <a:ln w="9525">
            <a:noFill/>
          </a:ln>
        </p:spPr>
        <p:txBody>
          <a:bodyPr wrap="square">
            <a:spAutoFit/>
          </a:bodyPr>
          <a:lstStyle/>
          <a:p>
            <a:pPr indent="0" algn="ctr"/>
            <a:r>
              <a:rPr lang="en-US" sz="1600" b="0" dirty="0">
                <a:solidFill>
                  <a:srgbClr val="000000"/>
                </a:solidFill>
                <a:latin typeface="宋体" panose="02010600030101010101" pitchFamily="2" charset="-122"/>
              </a:rPr>
              <a:t>        </a:t>
            </a:r>
            <a:r>
              <a:rPr lang="en-US" sz="1600" b="0" dirty="0">
                <a:solidFill>
                  <a:srgbClr val="000000"/>
                </a:solidFill>
                <a:latin typeface="Calibri" panose="020F0502020204030204" pitchFamily="34" charset="0"/>
              </a:rPr>
              <a:t>               </a:t>
            </a:r>
            <a:r>
              <a:rPr lang="en-US" sz="1600" b="0" dirty="0">
                <a:solidFill>
                  <a:srgbClr val="000000"/>
                </a:solidFill>
                <a:latin typeface="宋体" panose="02010600030101010101" pitchFamily="2" charset="-122"/>
              </a:rPr>
              <a:t>                                                                               </a:t>
            </a:r>
            <a:endParaRPr lang="zh-CN" altLang="en-US" sz="1600" dirty="0"/>
          </a:p>
        </p:txBody>
      </p:sp>
      <p:sp>
        <p:nvSpPr>
          <p:cNvPr id="9" name="文本框 8"/>
          <p:cNvSpPr txBox="1"/>
          <p:nvPr/>
        </p:nvSpPr>
        <p:spPr>
          <a:xfrm>
            <a:off x="6445606" y="6727207"/>
            <a:ext cx="5080000" cy="337185"/>
          </a:xfrm>
          <a:prstGeom prst="rect">
            <a:avLst/>
          </a:prstGeom>
          <a:noFill/>
          <a:ln w="9525">
            <a:noFill/>
          </a:ln>
        </p:spPr>
        <p:txBody>
          <a:bodyPr>
            <a:spAutoFit/>
          </a:bodyPr>
          <a:lstStyle/>
          <a:p>
            <a:pPr indent="0" algn="ctr"/>
            <a:endParaRPr lang="zh-CN" altLang="en-US" sz="16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FF206FCC-0CBB-4DF4-89C1-3C9DB4B6E776}" type="slidenum">
              <a:rPr lang="zh-CN" altLang="en-US" smtClean="0"/>
            </a:fld>
            <a:r>
              <a:rPr lang="zh-CN" altLang="en-US"/>
              <a:t>   </a:t>
            </a:r>
            <a:endParaRPr lang="zh-CN" altLang="en-US" dirty="0"/>
          </a:p>
        </p:txBody>
      </p:sp>
      <p:sp>
        <p:nvSpPr>
          <p:cNvPr id="5" name="内容占位符 1"/>
          <p:cNvSpPr>
            <a:spLocks noGrp="1"/>
          </p:cNvSpPr>
          <p:nvPr>
            <p:ph idx="1"/>
          </p:nvPr>
        </p:nvSpPr>
        <p:spPr>
          <a:xfrm>
            <a:off x="615071" y="768009"/>
            <a:ext cx="10237796" cy="5484908"/>
          </a:xfrm>
        </p:spPr>
        <p:txBody>
          <a:bodyPr>
            <a:normAutofit/>
          </a:bodyPr>
          <a:lstStyle/>
          <a:p>
            <a:pPr marL="533400" marR="120015" indent="0" algn="just">
              <a:buNone/>
            </a:pPr>
            <a:r>
              <a:rPr lang="en-US" altLang="zh-CN" sz="1600" kern="1000" dirty="0">
                <a:solidFill>
                  <a:schemeClr val="tx1"/>
                </a:solidFill>
                <a:effectLst/>
              </a:rPr>
              <a:t># </a:t>
            </a:r>
            <a:r>
              <a:rPr lang="zh-CN" altLang="zh-CN" sz="1600" kern="1000" dirty="0">
                <a:solidFill>
                  <a:schemeClr val="tx1"/>
                </a:solidFill>
                <a:effectLst/>
              </a:rPr>
              <a:t>绘制评分对比曲线</a:t>
            </a:r>
            <a:endParaRPr lang="zh-CN" altLang="zh-CN" sz="1600" kern="1000" dirty="0">
              <a:solidFill>
                <a:schemeClr val="tx1"/>
              </a:solidFill>
              <a:effectLst/>
            </a:endParaRPr>
          </a:p>
          <a:p>
            <a:pPr marL="533400" marR="120015" indent="0" algn="just">
              <a:buNone/>
            </a:pPr>
            <a:r>
              <a:rPr lang="en-US" altLang="zh-CN" sz="1600" kern="1000" dirty="0" err="1">
                <a:solidFill>
                  <a:schemeClr val="tx1"/>
                </a:solidFill>
                <a:effectLst/>
              </a:rPr>
              <a:t>plt.figure</a:t>
            </a:r>
            <a:r>
              <a:rPr lang="en-US" altLang="zh-CN" sz="1600" kern="1000" dirty="0">
                <a:solidFill>
                  <a:schemeClr val="tx1"/>
                </a:solidFill>
                <a:effectLst/>
              </a:rPr>
              <a:t>()</a:t>
            </a:r>
            <a:endParaRPr lang="zh-CN" altLang="zh-CN" sz="1600" kern="1000" dirty="0">
              <a:solidFill>
                <a:schemeClr val="tx1"/>
              </a:solidFill>
              <a:effectLst/>
            </a:endParaRPr>
          </a:p>
          <a:p>
            <a:pPr marL="533400" marR="120015" indent="0" algn="just">
              <a:buNone/>
            </a:pPr>
            <a:r>
              <a:rPr lang="en-US" altLang="zh-CN" sz="1600" kern="1000" dirty="0" err="1">
                <a:solidFill>
                  <a:schemeClr val="tx1"/>
                </a:solidFill>
                <a:effectLst/>
              </a:rPr>
              <a:t>plt.title</a:t>
            </a:r>
            <a:r>
              <a:rPr lang="en-US" altLang="zh-CN" sz="1600" kern="1000" dirty="0">
                <a:solidFill>
                  <a:schemeClr val="tx1"/>
                </a:solidFill>
                <a:effectLst/>
              </a:rPr>
              <a:t>('Gradient Boost VS Decision Tree')</a:t>
            </a:r>
            <a:endParaRPr lang="zh-CN" altLang="zh-CN" sz="1600" kern="1000" dirty="0">
              <a:solidFill>
                <a:schemeClr val="tx1"/>
              </a:solidFill>
              <a:effectLst/>
            </a:endParaRPr>
          </a:p>
          <a:p>
            <a:pPr marL="533400" marR="120015" indent="0" algn="just">
              <a:buNone/>
            </a:pPr>
            <a:r>
              <a:rPr lang="en-US" altLang="zh-CN" sz="1600" kern="1000" dirty="0" err="1">
                <a:solidFill>
                  <a:schemeClr val="tx1"/>
                </a:solidFill>
                <a:effectLst/>
              </a:rPr>
              <a:t>plt.xlabel</a:t>
            </a:r>
            <a:r>
              <a:rPr lang="en-US" altLang="zh-CN" sz="1600" kern="1000" dirty="0">
                <a:solidFill>
                  <a:schemeClr val="tx1"/>
                </a:solidFill>
                <a:effectLst/>
              </a:rPr>
              <a:t>('Index')</a:t>
            </a:r>
            <a:endParaRPr lang="zh-CN" altLang="zh-CN" sz="1600" kern="1000" dirty="0">
              <a:solidFill>
                <a:schemeClr val="tx1"/>
              </a:solidFill>
              <a:effectLst/>
            </a:endParaRPr>
          </a:p>
          <a:p>
            <a:pPr marL="533400" marR="120015" indent="0" algn="just">
              <a:buNone/>
            </a:pPr>
            <a:r>
              <a:rPr lang="en-US" altLang="zh-CN" sz="1600" kern="1000" dirty="0" err="1">
                <a:solidFill>
                  <a:schemeClr val="tx1"/>
                </a:solidFill>
                <a:effectLst/>
              </a:rPr>
              <a:t>plt.ylabel</a:t>
            </a:r>
            <a:r>
              <a:rPr lang="en-US" altLang="zh-CN" sz="1600" kern="1000" dirty="0">
                <a:solidFill>
                  <a:schemeClr val="tx1"/>
                </a:solidFill>
                <a:effectLst/>
              </a:rPr>
              <a:t>('Accuracy')</a:t>
            </a:r>
            <a:endParaRPr lang="zh-CN" altLang="zh-CN" sz="1600" kern="1000" dirty="0">
              <a:solidFill>
                <a:schemeClr val="tx1"/>
              </a:solidFill>
              <a:effectLst/>
            </a:endParaRPr>
          </a:p>
          <a:p>
            <a:pPr marL="533400" marR="120015" indent="0" algn="just">
              <a:buNone/>
            </a:pPr>
            <a:r>
              <a:rPr lang="en-US" altLang="zh-CN" sz="1600" kern="1000" dirty="0" err="1">
                <a:solidFill>
                  <a:schemeClr val="tx1"/>
                </a:solidFill>
                <a:effectLst/>
              </a:rPr>
              <a:t>plt.plot</a:t>
            </a:r>
            <a:r>
              <a:rPr lang="en-US" altLang="zh-CN" sz="1600" kern="1000" dirty="0">
                <a:solidFill>
                  <a:schemeClr val="tx1"/>
                </a:solidFill>
                <a:effectLst/>
              </a:rPr>
              <a:t>(range(20),</a:t>
            </a:r>
            <a:r>
              <a:rPr lang="en-US" altLang="zh-CN" sz="1600" kern="1000" dirty="0" err="1">
                <a:solidFill>
                  <a:schemeClr val="tx1"/>
                </a:solidFill>
                <a:effectLst/>
              </a:rPr>
              <a:t>dt_scores,label</a:t>
            </a:r>
            <a:r>
              <a:rPr lang="en-US" altLang="zh-CN" sz="1600" kern="1000" dirty="0">
                <a:solidFill>
                  <a:schemeClr val="tx1"/>
                </a:solidFill>
                <a:effectLst/>
              </a:rPr>
              <a:t> = 'Decision Tree')</a:t>
            </a:r>
            <a:endParaRPr lang="zh-CN" altLang="zh-CN" sz="1600" kern="1000" dirty="0">
              <a:solidFill>
                <a:schemeClr val="tx1"/>
              </a:solidFill>
              <a:effectLst/>
            </a:endParaRPr>
          </a:p>
          <a:p>
            <a:pPr marL="533400" marR="120015" indent="0" algn="just">
              <a:buNone/>
            </a:pPr>
            <a:r>
              <a:rPr lang="en-US" altLang="zh-CN" sz="1600" kern="1000" dirty="0" err="1">
                <a:solidFill>
                  <a:schemeClr val="tx1"/>
                </a:solidFill>
                <a:effectLst/>
              </a:rPr>
              <a:t>plt.plot</a:t>
            </a:r>
            <a:r>
              <a:rPr lang="en-US" altLang="zh-CN" sz="1600" kern="1000" dirty="0">
                <a:solidFill>
                  <a:schemeClr val="tx1"/>
                </a:solidFill>
                <a:effectLst/>
              </a:rPr>
              <a:t>(range(20),</a:t>
            </a:r>
            <a:r>
              <a:rPr lang="en-US" altLang="zh-CN" sz="1600" kern="1000" dirty="0" err="1">
                <a:solidFill>
                  <a:schemeClr val="tx1"/>
                </a:solidFill>
                <a:effectLst/>
              </a:rPr>
              <a:t>gbc_scores,label</a:t>
            </a:r>
            <a:r>
              <a:rPr lang="en-US" altLang="zh-CN" sz="1600" kern="1000" dirty="0">
                <a:solidFill>
                  <a:schemeClr val="tx1"/>
                </a:solidFill>
                <a:effectLst/>
              </a:rPr>
              <a:t> = 'Gradient Boost')</a:t>
            </a:r>
            <a:endParaRPr lang="zh-CN" altLang="zh-CN" sz="1600" kern="1000" dirty="0">
              <a:solidFill>
                <a:schemeClr val="tx1"/>
              </a:solidFill>
              <a:effectLst/>
            </a:endParaRPr>
          </a:p>
          <a:p>
            <a:pPr marL="533400" marR="120015" indent="0" algn="just">
              <a:buNone/>
            </a:pPr>
            <a:r>
              <a:rPr lang="en-US" altLang="zh-CN" sz="1600" kern="1000" dirty="0" err="1">
                <a:solidFill>
                  <a:schemeClr val="tx1"/>
                </a:solidFill>
                <a:effectLst/>
              </a:rPr>
              <a:t>plt.legend</a:t>
            </a:r>
            <a:r>
              <a:rPr lang="en-US" altLang="zh-CN" sz="1600" kern="1000" dirty="0">
                <a:solidFill>
                  <a:schemeClr val="tx1"/>
                </a:solidFill>
                <a:effectLst/>
              </a:rPr>
              <a:t>()</a:t>
            </a:r>
            <a:endParaRPr lang="zh-CN" altLang="zh-CN" sz="1600" kern="1000" dirty="0">
              <a:solidFill>
                <a:schemeClr val="tx1"/>
              </a:solidFill>
              <a:effectLst/>
            </a:endParaRPr>
          </a:p>
          <a:p>
            <a:pPr marL="533400" marR="120015" indent="0" algn="just">
              <a:buNone/>
            </a:pPr>
            <a:r>
              <a:rPr lang="en-US" altLang="zh-CN" sz="1600" kern="1000" dirty="0" err="1">
                <a:solidFill>
                  <a:schemeClr val="tx1"/>
                </a:solidFill>
                <a:effectLst/>
              </a:rPr>
              <a:t>plt.show</a:t>
            </a:r>
            <a:r>
              <a:rPr lang="en-US" altLang="zh-CN" sz="1600" kern="1000" dirty="0">
                <a:solidFill>
                  <a:schemeClr val="tx1"/>
                </a:solidFill>
                <a:effectLst/>
              </a:rPr>
              <a:t>()</a:t>
            </a:r>
            <a:endParaRPr lang="zh-CN" altLang="zh-CN" sz="1600" kern="1000" dirty="0">
              <a:solidFill>
                <a:schemeClr val="tx1"/>
              </a:solidFill>
              <a:effectLst/>
            </a:endParaRPr>
          </a:p>
          <a:p>
            <a:pPr marL="533400" marR="120015" indent="0" algn="just">
              <a:buNone/>
            </a:pPr>
            <a:r>
              <a:rPr lang="en-US" altLang="zh-CN" sz="1600" kern="1000" dirty="0" err="1">
                <a:solidFill>
                  <a:schemeClr val="tx1"/>
                </a:solidFill>
                <a:effectLst/>
              </a:rPr>
              <a:t>plt.show</a:t>
            </a:r>
            <a:r>
              <a:rPr lang="en-US" altLang="zh-CN" sz="1600" kern="1000" dirty="0">
                <a:solidFill>
                  <a:schemeClr val="tx1"/>
                </a:solidFill>
                <a:effectLst/>
              </a:rPr>
              <a:t>()</a:t>
            </a:r>
            <a:endParaRPr lang="zh-CN" altLang="zh-CN" sz="1600" kern="1000" dirty="0">
              <a:solidFill>
                <a:schemeClr val="tx1"/>
              </a:solidFill>
              <a:effectLst/>
            </a:endParaRPr>
          </a:p>
          <a:p>
            <a:pPr marL="533400" marR="120015" indent="0" algn="just">
              <a:buNone/>
            </a:pPr>
            <a:endParaRPr lang="zh-CN" altLang="zh-CN" sz="1600" kern="1000" dirty="0">
              <a:solidFill>
                <a:srgbClr val="000000"/>
              </a:solidFill>
              <a:effectLst/>
            </a:endParaRPr>
          </a:p>
          <a:p>
            <a:pPr marL="533400" marR="120015" indent="0" algn="just">
              <a:buNone/>
            </a:pPr>
            <a:endParaRPr lang="zh-CN" altLang="zh-CN" sz="1800" kern="1000" dirty="0">
              <a:solidFill>
                <a:srgbClr val="000000"/>
              </a:solidFill>
              <a:effectLst/>
              <a:latin typeface="Times New Roman" panose="02020603050405020304" pitchFamily="18" charset="0"/>
              <a:ea typeface="宋体" panose="02010600030101010101" pitchFamily="2" charset="-122"/>
            </a:endParaRPr>
          </a:p>
          <a:p>
            <a:pPr marL="360045" indent="0" fontAlgn="auto">
              <a:buNone/>
            </a:pPr>
            <a:endParaRPr kumimoji="1" lang="zh-CN" altLang="en-US" sz="1600" dirty="0">
              <a:solidFill>
                <a:schemeClr val="tx1"/>
              </a:solidFill>
            </a:endParaRPr>
          </a:p>
        </p:txBody>
      </p:sp>
      <p:sp>
        <p:nvSpPr>
          <p:cNvPr id="100" name="文本框 99"/>
          <p:cNvSpPr txBox="1"/>
          <p:nvPr/>
        </p:nvSpPr>
        <p:spPr>
          <a:xfrm>
            <a:off x="-2373310" y="5902207"/>
            <a:ext cx="4013200" cy="337185"/>
          </a:xfrm>
          <a:prstGeom prst="rect">
            <a:avLst/>
          </a:prstGeom>
          <a:noFill/>
          <a:ln w="9525">
            <a:noFill/>
          </a:ln>
        </p:spPr>
        <p:txBody>
          <a:bodyPr wrap="square">
            <a:spAutoFit/>
          </a:bodyPr>
          <a:lstStyle/>
          <a:p>
            <a:pPr indent="0" algn="ctr"/>
            <a:r>
              <a:rPr lang="en-US" sz="1600" b="0" dirty="0">
                <a:solidFill>
                  <a:srgbClr val="000000"/>
                </a:solidFill>
                <a:latin typeface="宋体" panose="02010600030101010101" pitchFamily="2" charset="-122"/>
              </a:rPr>
              <a:t>        </a:t>
            </a:r>
            <a:r>
              <a:rPr lang="en-US" sz="1600" b="0" dirty="0">
                <a:solidFill>
                  <a:srgbClr val="000000"/>
                </a:solidFill>
                <a:latin typeface="Calibri" panose="020F0502020204030204" pitchFamily="34" charset="0"/>
              </a:rPr>
              <a:t>               </a:t>
            </a:r>
            <a:r>
              <a:rPr lang="en-US" sz="1600" b="0" dirty="0">
                <a:solidFill>
                  <a:srgbClr val="000000"/>
                </a:solidFill>
                <a:latin typeface="宋体" panose="02010600030101010101" pitchFamily="2" charset="-122"/>
              </a:rPr>
              <a:t>                                                                               </a:t>
            </a:r>
            <a:endParaRPr lang="zh-CN" altLang="en-US" sz="1600" dirty="0"/>
          </a:p>
        </p:txBody>
      </p:sp>
      <p:sp>
        <p:nvSpPr>
          <p:cNvPr id="9" name="文本框 8"/>
          <p:cNvSpPr txBox="1"/>
          <p:nvPr/>
        </p:nvSpPr>
        <p:spPr>
          <a:xfrm>
            <a:off x="6445606" y="6727207"/>
            <a:ext cx="5080000" cy="337185"/>
          </a:xfrm>
          <a:prstGeom prst="rect">
            <a:avLst/>
          </a:prstGeom>
          <a:noFill/>
          <a:ln w="9525">
            <a:noFill/>
          </a:ln>
        </p:spPr>
        <p:txBody>
          <a:bodyPr>
            <a:spAutoFit/>
          </a:bodyPr>
          <a:lstStyle/>
          <a:p>
            <a:pPr indent="0" algn="ctr"/>
            <a:endParaRPr lang="zh-CN" altLang="en-US" sz="16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FF206FCC-0CBB-4DF4-89C1-3C9DB4B6E776}" type="slidenum">
              <a:rPr lang="zh-CN" altLang="en-US" smtClean="0"/>
            </a:fld>
            <a:r>
              <a:rPr lang="zh-CN" altLang="en-US"/>
              <a:t>   </a:t>
            </a:r>
            <a:endParaRPr lang="zh-CN" altLang="en-US" dirty="0"/>
          </a:p>
        </p:txBody>
      </p:sp>
      <p:sp>
        <p:nvSpPr>
          <p:cNvPr id="5" name="内容占位符 1"/>
          <p:cNvSpPr>
            <a:spLocks noGrp="1"/>
          </p:cNvSpPr>
          <p:nvPr>
            <p:ph idx="1"/>
          </p:nvPr>
        </p:nvSpPr>
        <p:spPr>
          <a:xfrm>
            <a:off x="450504" y="804380"/>
            <a:ext cx="10237796" cy="5484908"/>
          </a:xfrm>
        </p:spPr>
        <p:txBody>
          <a:bodyPr>
            <a:normAutofit/>
          </a:bodyPr>
          <a:lstStyle/>
          <a:p>
            <a:pPr marL="0" indent="0"/>
            <a:r>
              <a:rPr lang="zh-CN" altLang="zh-CN" kern="1000" dirty="0">
                <a:solidFill>
                  <a:srgbClr val="000000"/>
                </a:solidFill>
                <a:effectLst/>
                <a:cs typeface="Times New Roman" panose="02020603050405020304" pitchFamily="18" charset="0"/>
              </a:rPr>
              <a:t>程序运行结果如下，绘制的结果图如</a:t>
            </a:r>
            <a:r>
              <a:rPr lang="zh-CN" altLang="en-US" kern="1000" dirty="0">
                <a:solidFill>
                  <a:srgbClr val="000000"/>
                </a:solidFill>
                <a:cs typeface="Times New Roman" panose="02020603050405020304" pitchFamily="18" charset="0"/>
              </a:rPr>
              <a:t>下</a:t>
            </a:r>
            <a:r>
              <a:rPr lang="zh-CN" altLang="zh-CN" kern="1000" dirty="0">
                <a:solidFill>
                  <a:srgbClr val="000000"/>
                </a:solidFill>
                <a:effectLst/>
                <a:cs typeface="Times New Roman" panose="02020603050405020304" pitchFamily="18" charset="0"/>
              </a:rPr>
              <a:t>图</a:t>
            </a:r>
            <a:r>
              <a:rPr lang="en-US" altLang="zh-CN" kern="1000" dirty="0">
                <a:solidFill>
                  <a:srgbClr val="000000"/>
                </a:solidFill>
                <a:effectLst/>
              </a:rPr>
              <a:t>1</a:t>
            </a:r>
            <a:r>
              <a:rPr lang="zh-CN" altLang="zh-CN" kern="1000" dirty="0">
                <a:solidFill>
                  <a:srgbClr val="000000"/>
                </a:solidFill>
                <a:effectLst/>
                <a:cs typeface="Times New Roman" panose="02020603050405020304" pitchFamily="18" charset="0"/>
              </a:rPr>
              <a:t>和图</a:t>
            </a:r>
            <a:r>
              <a:rPr lang="en-US" altLang="zh-CN" kern="1000" dirty="0">
                <a:solidFill>
                  <a:srgbClr val="000000"/>
                </a:solidFill>
                <a:effectLst/>
              </a:rPr>
              <a:t>2</a:t>
            </a:r>
            <a:r>
              <a:rPr lang="zh-CN" altLang="zh-CN" kern="1000" dirty="0">
                <a:solidFill>
                  <a:srgbClr val="000000"/>
                </a:solidFill>
                <a:effectLst/>
                <a:cs typeface="Times New Roman" panose="02020603050405020304" pitchFamily="18" charset="0"/>
              </a:rPr>
              <a:t>所示</a:t>
            </a:r>
            <a:r>
              <a:rPr lang="zh-CN" altLang="zh-CN" kern="1000" dirty="0">
                <a:solidFill>
                  <a:schemeClr val="tx1"/>
                </a:solidFill>
                <a:effectLst/>
                <a:cs typeface="Times New Roman" panose="02020603050405020304" pitchFamily="18" charset="0"/>
              </a:rPr>
              <a:t>：</a:t>
            </a:r>
            <a:endParaRPr kumimoji="1" lang="en-US" altLang="zh-CN" dirty="0">
              <a:solidFill>
                <a:schemeClr val="tx1"/>
              </a:solidFill>
            </a:endParaRPr>
          </a:p>
          <a:p>
            <a:pPr marL="533400" marR="120015" indent="0" algn="just">
              <a:buNone/>
            </a:pPr>
            <a:r>
              <a:rPr lang="en-US" altLang="zh-CN" sz="1600" kern="1000" dirty="0">
                <a:solidFill>
                  <a:srgbClr val="000000"/>
                </a:solidFill>
                <a:effectLst/>
              </a:rPr>
              <a:t>Gradient Boost : 0.9629629629629629</a:t>
            </a:r>
            <a:endParaRPr lang="zh-CN" altLang="zh-CN" sz="1600" kern="1000" dirty="0">
              <a:solidFill>
                <a:srgbClr val="000000"/>
              </a:solidFill>
              <a:effectLst/>
            </a:endParaRPr>
          </a:p>
          <a:p>
            <a:pPr marL="533400" marR="120015" indent="0" algn="just">
              <a:buNone/>
            </a:pPr>
            <a:r>
              <a:rPr lang="en-US" altLang="zh-CN" sz="1600" kern="1000" dirty="0">
                <a:solidFill>
                  <a:srgbClr val="000000"/>
                </a:solidFill>
                <a:effectLst/>
              </a:rPr>
              <a:t>Decision Tree : 0.8703703703703703</a:t>
            </a:r>
            <a:endParaRPr lang="zh-CN" altLang="zh-CN" sz="1600" kern="1000" dirty="0">
              <a:solidFill>
                <a:srgbClr val="000000"/>
              </a:solidFill>
              <a:effectLst/>
            </a:endParaRPr>
          </a:p>
          <a:p>
            <a:pPr marL="533400" marR="120015" indent="0">
              <a:buNone/>
            </a:pPr>
            <a:endParaRPr lang="en-US" altLang="zh-CN" sz="1800" kern="1000" dirty="0">
              <a:solidFill>
                <a:schemeClr val="tx1"/>
              </a:solidFill>
              <a:effectLst/>
            </a:endParaRPr>
          </a:p>
          <a:p>
            <a:pPr marL="533400" marR="120015" indent="0">
              <a:buNone/>
            </a:pPr>
            <a:endParaRPr lang="en-US" altLang="zh-CN" sz="1800" kern="1000" dirty="0">
              <a:solidFill>
                <a:schemeClr val="tx1"/>
              </a:solidFill>
            </a:endParaRPr>
          </a:p>
          <a:p>
            <a:pPr marL="533400" marR="120015" indent="0">
              <a:buNone/>
            </a:pPr>
            <a:endParaRPr lang="en-US" altLang="zh-CN" sz="1800" kern="1000" dirty="0">
              <a:solidFill>
                <a:schemeClr val="tx1"/>
              </a:solidFill>
              <a:effectLst/>
            </a:endParaRPr>
          </a:p>
          <a:p>
            <a:pPr marL="533400" marR="120015" indent="0">
              <a:buNone/>
            </a:pPr>
            <a:endParaRPr lang="en-US" altLang="zh-CN" sz="1800" kern="1000" dirty="0">
              <a:solidFill>
                <a:schemeClr val="tx1"/>
              </a:solidFill>
            </a:endParaRPr>
          </a:p>
          <a:p>
            <a:pPr marL="533400" marR="120015" indent="0">
              <a:buNone/>
            </a:pPr>
            <a:endParaRPr lang="en-US" altLang="zh-CN" sz="1800" kern="1000" dirty="0">
              <a:solidFill>
                <a:schemeClr val="tx1"/>
              </a:solidFill>
              <a:effectLst/>
            </a:endParaRPr>
          </a:p>
          <a:p>
            <a:pPr marL="533400" marR="120015" indent="0">
              <a:buNone/>
            </a:pPr>
            <a:endParaRPr lang="en-US" altLang="zh-CN" sz="1800" kern="1000" dirty="0">
              <a:solidFill>
                <a:schemeClr val="tx1"/>
              </a:solidFill>
            </a:endParaRPr>
          </a:p>
          <a:p>
            <a:pPr marL="533400" marR="120015" indent="0" algn="ctr">
              <a:buNone/>
            </a:pPr>
            <a:r>
              <a:rPr lang="zh-CN" altLang="zh-CN" sz="1600" kern="1000" dirty="0">
                <a:solidFill>
                  <a:srgbClr val="000000"/>
                </a:solidFill>
                <a:effectLst/>
                <a:latin typeface="宋体" panose="02010600030101010101" pitchFamily="2" charset="-122"/>
                <a:ea typeface="宋体" panose="02010600030101010101" pitchFamily="2" charset="-122"/>
              </a:rPr>
              <a:t>图</a:t>
            </a:r>
            <a:r>
              <a:rPr lang="en-US" altLang="zh-CN" sz="1600" kern="1000" dirty="0">
                <a:solidFill>
                  <a:srgbClr val="000000"/>
                </a:solidFill>
                <a:effectLst/>
                <a:latin typeface="宋体" panose="02010600030101010101" pitchFamily="2" charset="-122"/>
                <a:ea typeface="宋体" panose="02010600030101010101" pitchFamily="2" charset="-122"/>
              </a:rPr>
              <a:t>1  </a:t>
            </a:r>
            <a:r>
              <a:rPr lang="zh-CN" altLang="zh-CN" sz="1600" kern="1000" dirty="0">
                <a:solidFill>
                  <a:srgbClr val="000000"/>
                </a:solidFill>
                <a:effectLst/>
                <a:latin typeface="宋体" panose="02010600030101010101" pitchFamily="2" charset="-122"/>
                <a:ea typeface="宋体" panose="02010600030101010101" pitchFamily="2" charset="-122"/>
              </a:rPr>
              <a:t>梯度提升法准确率随</a:t>
            </a:r>
            <a:r>
              <a:rPr lang="en-US" altLang="zh-CN" sz="1600" kern="1000" dirty="0" err="1">
                <a:solidFill>
                  <a:srgbClr val="000000"/>
                </a:solidFill>
                <a:effectLst/>
                <a:latin typeface="宋体" panose="02010600030101010101" pitchFamily="2" charset="-122"/>
                <a:ea typeface="宋体" panose="02010600030101010101" pitchFamily="2" charset="-122"/>
              </a:rPr>
              <a:t>learning_rate</a:t>
            </a:r>
            <a:r>
              <a:rPr lang="zh-CN" altLang="zh-CN" sz="1600" kern="1000" dirty="0">
                <a:solidFill>
                  <a:srgbClr val="000000"/>
                </a:solidFill>
                <a:effectLst/>
                <a:latin typeface="宋体" panose="02010600030101010101" pitchFamily="2" charset="-122"/>
                <a:ea typeface="宋体" panose="02010600030101010101" pitchFamily="2" charset="-122"/>
              </a:rPr>
              <a:t>参数变化图</a:t>
            </a:r>
            <a:r>
              <a:rPr lang="en-US" altLang="zh-CN" sz="1600" kern="1000" dirty="0">
                <a:solidFill>
                  <a:srgbClr val="000000"/>
                </a:solidFill>
                <a:effectLst/>
                <a:latin typeface="宋体" panose="02010600030101010101" pitchFamily="2" charset="-122"/>
                <a:ea typeface="宋体" panose="02010600030101010101" pitchFamily="2" charset="-122"/>
              </a:rPr>
              <a:t>     </a:t>
            </a:r>
            <a:r>
              <a:rPr lang="zh-CN" altLang="zh-CN" sz="1600" kern="1000" dirty="0">
                <a:solidFill>
                  <a:srgbClr val="000000"/>
                </a:solidFill>
                <a:effectLst/>
                <a:latin typeface="宋体" panose="02010600030101010101" pitchFamily="2" charset="-122"/>
                <a:ea typeface="宋体" panose="02010600030101010101" pitchFamily="2" charset="-122"/>
              </a:rPr>
              <a:t>图</a:t>
            </a:r>
            <a:r>
              <a:rPr lang="en-US" altLang="zh-CN" sz="1600" kern="1000" dirty="0">
                <a:solidFill>
                  <a:srgbClr val="000000"/>
                </a:solidFill>
                <a:effectLst/>
                <a:latin typeface="宋体" panose="02010600030101010101" pitchFamily="2" charset="-122"/>
                <a:ea typeface="宋体" panose="02010600030101010101" pitchFamily="2" charset="-122"/>
              </a:rPr>
              <a:t>2 </a:t>
            </a:r>
            <a:r>
              <a:rPr lang="zh-CN" altLang="zh-CN" sz="1600" kern="1000" dirty="0">
                <a:solidFill>
                  <a:srgbClr val="000000"/>
                </a:solidFill>
                <a:effectLst/>
                <a:latin typeface="宋体" panose="02010600030101010101" pitchFamily="2" charset="-122"/>
                <a:ea typeface="宋体" panose="02010600030101010101" pitchFamily="2" charset="-122"/>
              </a:rPr>
              <a:t>梯度提升法和决策树准确率对比图</a:t>
            </a:r>
            <a:endParaRPr lang="zh-CN" altLang="zh-CN" sz="1600" kern="1000" dirty="0">
              <a:solidFill>
                <a:srgbClr val="000000"/>
              </a:solidFill>
              <a:effectLst/>
              <a:latin typeface="宋体" panose="02010600030101010101" pitchFamily="2" charset="-122"/>
              <a:ea typeface="宋体" panose="02010600030101010101" pitchFamily="2" charset="-122"/>
            </a:endParaRPr>
          </a:p>
          <a:p>
            <a:pPr marL="533400" marR="120015" indent="0" algn="ctr">
              <a:buNone/>
            </a:pPr>
            <a:endParaRPr lang="zh-CN" altLang="zh-CN" sz="1800" kern="1000" dirty="0">
              <a:solidFill>
                <a:srgbClr val="000000"/>
              </a:solidFill>
              <a:effectLst/>
              <a:latin typeface="Times New Roman" panose="02020603050405020304" pitchFamily="18" charset="0"/>
              <a:ea typeface="宋体" panose="02010600030101010101" pitchFamily="2" charset="-122"/>
            </a:endParaRPr>
          </a:p>
          <a:p>
            <a:pPr marL="533400" marR="120015" indent="0" algn="ctr">
              <a:buNone/>
            </a:pPr>
            <a:endParaRPr lang="zh-CN" altLang="zh-CN" sz="1600" kern="1000" dirty="0">
              <a:solidFill>
                <a:srgbClr val="000000"/>
              </a:solidFill>
              <a:effectLst/>
            </a:endParaRPr>
          </a:p>
          <a:p>
            <a:pPr marL="360045" indent="0" fontAlgn="auto">
              <a:buNone/>
            </a:pPr>
            <a:endParaRPr kumimoji="1" lang="zh-CN" altLang="en-US" sz="1600" dirty="0">
              <a:solidFill>
                <a:schemeClr val="tx1"/>
              </a:solidFill>
            </a:endParaRPr>
          </a:p>
        </p:txBody>
      </p:sp>
      <p:pic>
        <p:nvPicPr>
          <p:cNvPr id="7" name="图片 6"/>
          <p:cNvPicPr/>
          <p:nvPr/>
        </p:nvPicPr>
        <p:blipFill>
          <a:blip r:embed="rId1" cstate="print">
            <a:extLst>
              <a:ext uri="{28A0092B-C50C-407E-A947-70E740481C1C}">
                <a14:useLocalDpi xmlns:a14="http://schemas.microsoft.com/office/drawing/2010/main" val="0"/>
              </a:ext>
            </a:extLst>
          </a:blip>
          <a:stretch>
            <a:fillRect/>
          </a:stretch>
        </p:blipFill>
        <p:spPr>
          <a:xfrm>
            <a:off x="1906389" y="3129390"/>
            <a:ext cx="3166110" cy="2154555"/>
          </a:xfrm>
          <a:prstGeom prst="rect">
            <a:avLst/>
          </a:prstGeom>
        </p:spPr>
      </p:pic>
      <p:pic>
        <p:nvPicPr>
          <p:cNvPr id="10" name="图片 9"/>
          <p:cNvPicPr/>
          <p:nvPr/>
        </p:nvPicPr>
        <p:blipFill>
          <a:blip r:embed="rId2" cstate="print">
            <a:extLst>
              <a:ext uri="{28A0092B-C50C-407E-A947-70E740481C1C}">
                <a14:useLocalDpi xmlns:a14="http://schemas.microsoft.com/office/drawing/2010/main" val="0"/>
              </a:ext>
            </a:extLst>
          </a:blip>
          <a:stretch>
            <a:fillRect/>
          </a:stretch>
        </p:blipFill>
        <p:spPr>
          <a:xfrm>
            <a:off x="6635960" y="3068112"/>
            <a:ext cx="3235960" cy="227711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custDataLst>
              <p:tags r:id="rId1"/>
            </p:custDataLst>
          </p:nvPr>
        </p:nvSpPr>
        <p:spPr>
          <a:xfrm>
            <a:off x="1524000" y="729885"/>
            <a:ext cx="9144000" cy="2143125"/>
          </a:xfrm>
          <a:prstGeom prst="rect">
            <a:avLst/>
          </a:prstGeom>
          <a:noFill/>
        </p:spPr>
        <p:txBody>
          <a:bodyPr vert="horz" wrap="square"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rPr>
              <a:t>4.</a:t>
            </a:r>
            <a:r>
              <a:rPr kumimoji="0" lang="zh-CN" altLang="en-US" sz="28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rPr>
              <a:t>下列哪个集成学习器的个体学习器存在强依赖关系（）</a:t>
            </a:r>
            <a:r>
              <a:rPr kumimoji="0" lang="zh-CN" altLang="zh-CN" sz="28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rPr>
              <a:t>。</a:t>
            </a:r>
            <a:endParaRPr kumimoji="0" lang="zh-CN" altLang="en-US" sz="2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4" name="TextBox 3"/>
          <p:cNvSpPr txBox="1"/>
          <p:nvPr>
            <p:custDataLst>
              <p:tags r:id="rId2"/>
            </p:custDataLst>
          </p:nvPr>
        </p:nvSpPr>
        <p:spPr>
          <a:xfrm>
            <a:off x="3352800" y="2786063"/>
            <a:ext cx="6400800" cy="642938"/>
          </a:xfrm>
          <a:prstGeom prst="rect">
            <a:avLst/>
          </a:prstGeom>
          <a:noFill/>
        </p:spPr>
        <p:txBody>
          <a:bodyPr vert="horz"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Boosting</a:t>
            </a:r>
            <a:endParaRPr kumimoji="0" lang="zh-CN" altLang="en-US" sz="2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5" name="TextBox 4"/>
          <p:cNvSpPr txBox="1"/>
          <p:nvPr>
            <p:custDataLst>
              <p:tags r:id="rId3"/>
            </p:custDataLst>
          </p:nvPr>
        </p:nvSpPr>
        <p:spPr>
          <a:xfrm>
            <a:off x="3352800" y="3643313"/>
            <a:ext cx="6400800" cy="642938"/>
          </a:xfrm>
          <a:prstGeom prst="rect">
            <a:avLst/>
          </a:prstGeom>
          <a:noFill/>
        </p:spPr>
        <p:txBody>
          <a:bodyPr vert="horz"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Bagging</a:t>
            </a:r>
            <a:endParaRPr kumimoji="0" lang="zh-CN" altLang="en-US" sz="2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8" name="椭圆 7"/>
          <p:cNvSpPr>
            <a:spLocks noChangeAspect="1"/>
          </p:cNvSpPr>
          <p:nvPr>
            <p:custDataLst>
              <p:tags r:id="rId4"/>
            </p:custDataLst>
          </p:nvPr>
        </p:nvSpPr>
        <p:spPr>
          <a:xfrm>
            <a:off x="2638425" y="3643313"/>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B</a:t>
            </a:r>
            <a:endParaRPr kumimoji="0" lang="zh-CN" altLang="en-US" sz="16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9" name="椭圆 8"/>
          <p:cNvSpPr>
            <a:spLocks noChangeAspect="1"/>
          </p:cNvSpPr>
          <p:nvPr>
            <p:custDataLst>
              <p:tags r:id="rId5"/>
            </p:custDataLst>
          </p:nvPr>
        </p:nvSpPr>
        <p:spPr>
          <a:xfrm>
            <a:off x="2638425" y="2850357"/>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A</a:t>
            </a:r>
            <a:endParaRPr kumimoji="0" lang="zh-CN" altLang="en-US" sz="16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2" name="圆角矩形 11"/>
          <p:cNvSpPr/>
          <p:nvPr>
            <p:custDataLst>
              <p:tags r:id="rId6"/>
            </p:custDataLst>
          </p:nvPr>
        </p:nvSpPr>
        <p:spPr>
          <a:xfrm>
            <a:off x="7696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提交</a:t>
            </a:r>
            <a:endParaRPr kumimoji="0" lang="zh-CN" altLang="en-US" sz="16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8" name="TextBox 3"/>
          <p:cNvSpPr txBox="1"/>
          <p:nvPr>
            <p:custDataLst>
              <p:tags r:id="rId7"/>
            </p:custDataLst>
          </p:nvPr>
        </p:nvSpPr>
        <p:spPr>
          <a:xfrm>
            <a:off x="3352800" y="4500563"/>
            <a:ext cx="6400800" cy="642938"/>
          </a:xfrm>
          <a:prstGeom prst="rect">
            <a:avLst/>
          </a:prstGeom>
          <a:noFill/>
        </p:spPr>
        <p:txBody>
          <a:bodyPr vert="horz"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Random Forest</a:t>
            </a:r>
            <a:endParaRPr kumimoji="0" lang="zh-CN" altLang="en-US" sz="2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9" name="椭圆 18"/>
          <p:cNvSpPr>
            <a:spLocks noChangeAspect="1"/>
          </p:cNvSpPr>
          <p:nvPr>
            <p:custDataLst>
              <p:tags r:id="rId8"/>
            </p:custDataLst>
          </p:nvPr>
        </p:nvSpPr>
        <p:spPr>
          <a:xfrm>
            <a:off x="2638425" y="45648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C</a:t>
            </a:r>
            <a:endParaRPr kumimoji="0" lang="zh-CN" altLang="en-US" sz="16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20" name="TextBox 3"/>
          <p:cNvSpPr txBox="1"/>
          <p:nvPr>
            <p:custDataLst>
              <p:tags r:id="rId9"/>
            </p:custDataLst>
          </p:nvPr>
        </p:nvSpPr>
        <p:spPr>
          <a:xfrm>
            <a:off x="3352800" y="5357813"/>
            <a:ext cx="6400800" cy="642938"/>
          </a:xfrm>
          <a:prstGeom prst="rect">
            <a:avLst/>
          </a:prstGeom>
          <a:noFill/>
        </p:spPr>
        <p:txBody>
          <a:bodyPr vert="horz"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EM</a:t>
            </a:r>
            <a:endParaRPr kumimoji="0" lang="zh-CN" altLang="en-US" sz="2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21" name="椭圆 20"/>
          <p:cNvSpPr>
            <a:spLocks noChangeAspect="1"/>
          </p:cNvSpPr>
          <p:nvPr>
            <p:custDataLst>
              <p:tags r:id="rId10"/>
            </p:custDataLst>
          </p:nvPr>
        </p:nvSpPr>
        <p:spPr>
          <a:xfrm>
            <a:off x="2638425" y="54221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D</a:t>
            </a:r>
            <a:endParaRPr kumimoji="0" lang="zh-CN" altLang="en-US" sz="16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grpSp>
        <p:nvGrpSpPr>
          <p:cNvPr id="17" name="组合 16"/>
          <p:cNvGrpSpPr/>
          <p:nvPr>
            <p:custDataLst>
              <p:tags r:id="rId11"/>
            </p:custDataLst>
          </p:nvPr>
        </p:nvGrpSpPr>
        <p:grpSpPr>
          <a:xfrm>
            <a:off x="0" y="0"/>
            <a:ext cx="9144000" cy="635000"/>
            <a:chOff x="-1524000" y="0"/>
            <a:chExt cx="9144000" cy="635000"/>
          </a:xfrm>
        </p:grpSpPr>
        <p:sp>
          <p:nvSpPr>
            <p:cNvPr id="13" name="TitleBackground"/>
            <p:cNvSpPr/>
            <p:nvPr>
              <p:custDataLst>
                <p:tags r:id="rId12"/>
              </p:custDataLst>
            </p:nvPr>
          </p:nvSpPr>
          <p:spPr>
            <a:xfrm>
              <a:off x="-152400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4" name="ColorBlock"/>
            <p:cNvSpPr/>
            <p:nvPr>
              <p:custDataLst>
                <p:tags r:id="rId13"/>
              </p:custDataLst>
            </p:nvPr>
          </p:nvSpPr>
          <p:spPr>
            <a:xfrm>
              <a:off x="-152400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5" name="TypeText"/>
            <p:cNvSpPr txBox="1"/>
            <p:nvPr>
              <p:custDataLst>
                <p:tags r:id="rId14"/>
              </p:custDataLst>
            </p:nvPr>
          </p:nvSpPr>
          <p:spPr>
            <a:xfrm>
              <a:off x="-1270000" y="0"/>
              <a:ext cx="1905000" cy="635000"/>
            </a:xfrm>
            <a:prstGeom prst="rect">
              <a:avLst/>
            </a:prstGeom>
            <a:noFill/>
          </p:spPr>
          <p:txBody>
            <a:bodyPr vert="horz" wrap="none"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单选题</a:t>
              </a:r>
              <a:endParaRPr kumimoji="0" lang="zh-CN" altLang="en-US" sz="2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6" name="TipText"/>
            <p:cNvSpPr txBox="1"/>
            <p:nvPr>
              <p:custDataLst>
                <p:tags r:id="rId15"/>
              </p:custDataLst>
            </p:nvPr>
          </p:nvSpPr>
          <p:spPr>
            <a:xfrm>
              <a:off x="1905" y="109220"/>
              <a:ext cx="2286000" cy="508000"/>
            </a:xfrm>
            <a:prstGeom prst="rect">
              <a:avLst/>
            </a:prstGeom>
            <a:noFill/>
          </p:spPr>
          <p:txBody>
            <a:bodyPr vert="horz" wrap="none"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80808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1</a:t>
              </a:r>
              <a:r>
                <a:rPr kumimoji="0" lang="zh-CN" altLang="en-US" sz="2000" b="0" i="0" u="none" strike="noStrike" kern="1200" cap="none" spc="0" normalizeH="0" baseline="0" noProof="0">
                  <a:ln>
                    <a:noFill/>
                  </a:ln>
                  <a:solidFill>
                    <a:srgbClr val="80808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分</a:t>
              </a:r>
              <a:endParaRPr kumimoji="0" lang="zh-CN" altLang="en-US" sz="2000" b="0" i="0" u="none" strike="noStrike" kern="1200" cap="none" spc="0" normalizeH="0" baseline="0" noProof="0">
                <a:ln>
                  <a:noFill/>
                </a:ln>
                <a:solidFill>
                  <a:srgbClr val="80808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grpSp>
      <p:pic>
        <p:nvPicPr>
          <p:cNvPr id="2" name="图片 1"/>
          <p:cNvPicPr/>
          <p:nvPr>
            <p:custDataLst>
              <p:tags r:id="rId16"/>
            </p:custDataLst>
          </p:nvPr>
        </p:nvPicPr>
        <p:blipFill>
          <a:blip r:embed="rId17">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8"/>
    </p:custData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custDataLst>
              <p:tags r:id="rId1"/>
            </p:custDataLst>
          </p:nvPr>
        </p:nvSpPr>
        <p:spPr>
          <a:xfrm>
            <a:off x="1524000" y="729885"/>
            <a:ext cx="9144000" cy="2143125"/>
          </a:xfrm>
          <a:prstGeom prst="rect">
            <a:avLst/>
          </a:prstGeom>
          <a:noFill/>
        </p:spPr>
        <p:txBody>
          <a:bodyPr vert="horz" wrap="square" rtlCol="0" anchor="ctr" anchorCtr="0">
            <a:noAutofit/>
          </a:bodyPr>
          <a:lstStyle/>
          <a:p>
            <a:r>
              <a:rPr lang="en-US" altLang="zh-CN" sz="2800" dirty="0"/>
              <a:t>5.</a:t>
            </a:r>
            <a:r>
              <a:rPr lang="zh-CN" altLang="en-US" sz="2800" dirty="0"/>
              <a:t>下列哪个不是</a:t>
            </a:r>
            <a:r>
              <a:rPr lang="en-US" altLang="zh-CN" sz="2800" dirty="0"/>
              <a:t>Boosting </a:t>
            </a:r>
            <a:r>
              <a:rPr lang="zh-CN" altLang="en-US" sz="2800" dirty="0"/>
              <a:t>的特点（）</a:t>
            </a:r>
            <a:r>
              <a:rPr lang="zh-CN" altLang="zh-CN" sz="2800" dirty="0"/>
              <a:t>。</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 name="TextBox 3"/>
          <p:cNvSpPr txBox="1"/>
          <p:nvPr>
            <p:custDataLst>
              <p:tags r:id="rId2"/>
            </p:custDataLst>
          </p:nvPr>
        </p:nvSpPr>
        <p:spPr>
          <a:xfrm>
            <a:off x="3352800" y="2786063"/>
            <a:ext cx="64008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串行训练算法</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 name="TextBox 4"/>
          <p:cNvSpPr txBox="1"/>
          <p:nvPr>
            <p:custDataLst>
              <p:tags r:id="rId3"/>
            </p:custDataLst>
          </p:nvPr>
        </p:nvSpPr>
        <p:spPr>
          <a:xfrm>
            <a:off x="3352800" y="3643313"/>
            <a:ext cx="64008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基分类器彼此关联</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 name="椭圆 7"/>
          <p:cNvSpPr>
            <a:spLocks noChangeAspect="1"/>
          </p:cNvSpPr>
          <p:nvPr>
            <p:custDataLst>
              <p:tags r:id="rId4"/>
            </p:custDataLst>
          </p:nvPr>
        </p:nvSpPr>
        <p:spPr>
          <a:xfrm>
            <a:off x="2638425" y="3643313"/>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B</a:t>
            </a:r>
            <a:endParaRPr lang="zh-CN" altLang="en-US"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 name="椭圆 8"/>
          <p:cNvSpPr>
            <a:spLocks noChangeAspect="1"/>
          </p:cNvSpPr>
          <p:nvPr>
            <p:custDataLst>
              <p:tags r:id="rId5"/>
            </p:custDataLst>
          </p:nvPr>
        </p:nvSpPr>
        <p:spPr>
          <a:xfrm>
            <a:off x="2638425" y="452086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C</a:t>
            </a:r>
            <a:endParaRPr lang="zh-CN" altLang="en-US"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圆角矩形 11"/>
          <p:cNvSpPr/>
          <p:nvPr>
            <p:custDataLst>
              <p:tags r:id="rId6"/>
            </p:custDataLst>
          </p:nvPr>
        </p:nvSpPr>
        <p:spPr>
          <a:xfrm>
            <a:off x="7696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8" name="TextBox 3"/>
          <p:cNvSpPr txBox="1"/>
          <p:nvPr>
            <p:custDataLst>
              <p:tags r:id="rId7"/>
            </p:custDataLst>
          </p:nvPr>
        </p:nvSpPr>
        <p:spPr>
          <a:xfrm>
            <a:off x="3352799" y="4500563"/>
            <a:ext cx="7018751"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Boosting</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中的基分类器只能是不同类的分类器</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9" name="椭圆 18"/>
          <p:cNvSpPr>
            <a:spLocks noChangeAspect="1"/>
          </p:cNvSpPr>
          <p:nvPr>
            <p:custDataLst>
              <p:tags r:id="rId8"/>
            </p:custDataLst>
          </p:nvPr>
        </p:nvSpPr>
        <p:spPr>
          <a:xfrm>
            <a:off x="2638425" y="2831468"/>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A</a:t>
            </a:r>
            <a:endParaRPr lang="zh-CN" altLang="en-US"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0" name="TextBox 3"/>
          <p:cNvSpPr txBox="1"/>
          <p:nvPr>
            <p:custDataLst>
              <p:tags r:id="rId9"/>
            </p:custDataLst>
          </p:nvPr>
        </p:nvSpPr>
        <p:spPr>
          <a:xfrm>
            <a:off x="3352800" y="5357813"/>
            <a:ext cx="64008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通过不断减小分类器的训练偏差</a:t>
            </a:r>
            <a:r>
              <a:rPr lang="zh-CN" altLang="zh-CN" sz="2600" dirty="0">
                <a:solidFill>
                  <a:srgbClr val="000000"/>
                </a:solidFill>
                <a:latin typeface="微软雅黑" panose="020B0503020204020204" pitchFamily="34" charset="-122"/>
                <a:ea typeface="微软雅黑" panose="020B0503020204020204" pitchFamily="34" charset="-122"/>
              </a:rPr>
              <a:t>将弱学习器提升为强学习器</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1" name="椭圆 20"/>
          <p:cNvSpPr>
            <a:spLocks noChangeAspect="1"/>
          </p:cNvSpPr>
          <p:nvPr>
            <p:custDataLst>
              <p:tags r:id="rId10"/>
            </p:custDataLst>
          </p:nvPr>
        </p:nvSpPr>
        <p:spPr>
          <a:xfrm>
            <a:off x="2638425" y="54221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D</a:t>
            </a:r>
            <a:endParaRPr lang="zh-CN" altLang="en-US"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17" name="组合 16"/>
          <p:cNvGrpSpPr/>
          <p:nvPr>
            <p:custDataLst>
              <p:tags r:id="rId11"/>
            </p:custDataLst>
          </p:nvPr>
        </p:nvGrpSpPr>
        <p:grpSpPr>
          <a:xfrm>
            <a:off x="0" y="0"/>
            <a:ext cx="9144000" cy="635000"/>
            <a:chOff x="-1524000" y="0"/>
            <a:chExt cx="9144000" cy="635000"/>
          </a:xfrm>
        </p:grpSpPr>
        <p:sp>
          <p:nvSpPr>
            <p:cNvPr id="13" name="TitleBackground"/>
            <p:cNvSpPr/>
            <p:nvPr>
              <p:custDataLst>
                <p:tags r:id="rId12"/>
              </p:custDataLst>
            </p:nvPr>
          </p:nvSpPr>
          <p:spPr>
            <a:xfrm>
              <a:off x="-152400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3"/>
              </p:custDataLst>
            </p:nvPr>
          </p:nvSpPr>
          <p:spPr>
            <a:xfrm>
              <a:off x="-152400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4"/>
              </p:custDataLst>
            </p:nvPr>
          </p:nvSpPr>
          <p:spPr>
            <a:xfrm>
              <a:off x="-1270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6" name="TipText"/>
            <p:cNvSpPr txBox="1"/>
            <p:nvPr>
              <p:custDataLst>
                <p:tags r:id="rId15"/>
              </p:custDataLst>
            </p:nvPr>
          </p:nvSpPr>
          <p:spPr>
            <a:xfrm>
              <a:off x="1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endPar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pic>
        <p:nvPicPr>
          <p:cNvPr id="2" name="图片 1"/>
          <p:cNvPicPr/>
          <p:nvPr>
            <p:custDataLst>
              <p:tags r:id="rId16"/>
            </p:custDataLst>
          </p:nvPr>
        </p:nvPicPr>
        <p:blipFill>
          <a:blip r:embed="rId17">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8"/>
    </p:custData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985409" y="3515111"/>
            <a:ext cx="2749472" cy="707886"/>
          </a:xfrm>
          <a:prstGeom prst="rect">
            <a:avLst/>
          </a:prstGeom>
          <a:noFill/>
        </p:spPr>
        <p:txBody>
          <a:bodyPr wrap="none" rtlCol="0">
            <a:spAutoFit/>
          </a:bodyPr>
          <a:lstStyle/>
          <a:p>
            <a:pPr algn="ctr"/>
            <a:r>
              <a:rPr lang="zh-CN" altLang="en-US" sz="4000" dirty="0">
                <a:solidFill>
                  <a:schemeClr val="tx1">
                    <a:lumMod val="75000"/>
                    <a:lumOff val="25000"/>
                  </a:schemeClr>
                </a:solidFill>
                <a:latin typeface="Yuanti SC" panose="02010600040101010101" pitchFamily="2" charset="-122"/>
                <a:ea typeface="Yuanti SC" panose="02010600040101010101" pitchFamily="2" charset="-122"/>
              </a:rPr>
              <a:t>偏差与方差</a:t>
            </a:r>
            <a:endParaRPr lang="zh-CN" altLang="en-US" sz="4000" dirty="0">
              <a:solidFill>
                <a:schemeClr val="tx1">
                  <a:lumMod val="75000"/>
                  <a:lumOff val="25000"/>
                </a:schemeClr>
              </a:solidFill>
              <a:latin typeface="Yuanti SC" panose="02010600040101010101" pitchFamily="2" charset="-122"/>
              <a:ea typeface="Yuanti SC" panose="02010600040101010101" pitchFamily="2" charset="-122"/>
            </a:endParaRPr>
          </a:p>
        </p:txBody>
      </p:sp>
      <p:sp>
        <p:nvSpPr>
          <p:cNvPr id="2069" name="八边形 2068"/>
          <p:cNvSpPr/>
          <p:nvPr/>
        </p:nvSpPr>
        <p:spPr>
          <a:xfrm>
            <a:off x="5231420" y="1534463"/>
            <a:ext cx="2032202" cy="1694846"/>
          </a:xfrm>
          <a:prstGeom prst="octagon">
            <a:avLst/>
          </a:prstGeom>
          <a:solidFill>
            <a:schemeClr val="accent5"/>
          </a:solidFill>
          <a:ln>
            <a:solidFill>
              <a:schemeClr val="accent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sz="6600" dirty="0">
                <a:latin typeface="Impact" panose="020B0806030902050204" pitchFamily="34" charset="0"/>
                <a:ea typeface="方正综艺简体" panose="03000509000000000000" pitchFamily="65" charset="-122"/>
              </a:rPr>
              <a:t>4</a:t>
            </a:r>
            <a:endParaRPr lang="zh-CN" altLang="en-US" sz="6600" dirty="0">
              <a:latin typeface="Impact" panose="020B0806030902050204" pitchFamily="34" charset="0"/>
              <a:ea typeface="方正综艺简体" panose="03000509000000000000" pitchFamily="65" charset="-122"/>
            </a:endParaRPr>
          </a:p>
        </p:txBody>
      </p:sp>
      <p:sp>
        <p:nvSpPr>
          <p:cNvPr id="2070" name="文本框 2069"/>
          <p:cNvSpPr txBox="1"/>
          <p:nvPr/>
        </p:nvSpPr>
        <p:spPr>
          <a:xfrm>
            <a:off x="3342640" y="4182745"/>
            <a:ext cx="5843270" cy="306705"/>
          </a:xfrm>
          <a:prstGeom prst="rect">
            <a:avLst/>
          </a:prstGeom>
          <a:noFill/>
        </p:spPr>
        <p:txBody>
          <a:bodyPr wrap="square" rtlCol="0">
            <a:spAutoFit/>
          </a:bodyPr>
          <a:lstStyle/>
          <a:p>
            <a:pPr algn="ctr"/>
            <a:endParaRPr sz="14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48640" y="304520"/>
            <a:ext cx="5257800" cy="613820"/>
          </a:xfrm>
        </p:spPr>
        <p:txBody>
          <a:bodyPr>
            <a:normAutofit/>
          </a:bodyPr>
          <a:lstStyle/>
          <a:p>
            <a:r>
              <a:rPr lang="zh-CN" altLang="en-US" sz="3200" b="1" dirty="0">
                <a:latin typeface="楷体" panose="02010609060101010101" pitchFamily="49" charset="-122"/>
                <a:ea typeface="楷体" panose="02010609060101010101" pitchFamily="49" charset="-122"/>
              </a:rPr>
              <a:t>一、基本概念</a:t>
            </a:r>
            <a:endParaRPr lang="zh-CN" altLang="en-US" sz="3200" dirty="0">
              <a:latin typeface="楷体" panose="02010609060101010101" pitchFamily="49" charset="-122"/>
              <a:ea typeface="楷体" panose="02010609060101010101" pitchFamily="49" charset="-122"/>
            </a:endParaRPr>
          </a:p>
        </p:txBody>
      </p:sp>
      <p:sp>
        <p:nvSpPr>
          <p:cNvPr id="3" name="灯片编号占位符 2"/>
          <p:cNvSpPr>
            <a:spLocks noGrp="1"/>
          </p:cNvSpPr>
          <p:nvPr>
            <p:ph type="sldNum" sz="quarter" idx="12"/>
          </p:nvPr>
        </p:nvSpPr>
        <p:spPr/>
        <p:txBody>
          <a:bodyPr/>
          <a:lstStyle/>
          <a:p>
            <a:fld id="{FF206FCC-0CBB-4DF4-89C1-3C9DB4B6E776}" type="slidenum">
              <a:rPr lang="zh-CN" altLang="en-US" smtClean="0"/>
            </a:fld>
            <a:endParaRPr lang="zh-CN" altLang="en-US"/>
          </a:p>
        </p:txBody>
      </p:sp>
      <p:sp>
        <p:nvSpPr>
          <p:cNvPr id="4" name="矩形 3"/>
          <p:cNvSpPr/>
          <p:nvPr/>
        </p:nvSpPr>
        <p:spPr>
          <a:xfrm>
            <a:off x="548640" y="918340"/>
            <a:ext cx="10919012" cy="5909310"/>
          </a:xfrm>
          <a:prstGeom prst="rect">
            <a:avLst/>
          </a:prstGeom>
        </p:spPr>
        <p:txBody>
          <a:bodyPr wrap="square">
            <a:spAutoFit/>
          </a:bodyPr>
          <a:lstStyle/>
          <a:p>
            <a:r>
              <a:rPr lang="en-US" altLang="zh-CN" sz="2400" b="1" dirty="0">
                <a:latin typeface="楷体" panose="02010609060101010101" pitchFamily="49" charset="-122"/>
                <a:ea typeface="楷体" panose="02010609060101010101" pitchFamily="49" charset="-122"/>
              </a:rPr>
              <a:t>1.</a:t>
            </a:r>
            <a:r>
              <a:rPr lang="zh-CN" altLang="en-US" sz="2400" b="1" dirty="0">
                <a:latin typeface="楷体" panose="02010609060101010101" pitchFamily="49" charset="-122"/>
                <a:ea typeface="楷体" panose="02010609060101010101" pitchFamily="49" charset="-122"/>
              </a:rPr>
              <a:t>偏差</a:t>
            </a:r>
            <a:r>
              <a:rPr lang="en-US" altLang="zh-CN" sz="2400" b="1" dirty="0">
                <a:latin typeface="楷体" panose="02010609060101010101" pitchFamily="49" charset="-122"/>
                <a:ea typeface="楷体" panose="02010609060101010101" pitchFamily="49" charset="-122"/>
              </a:rPr>
              <a:t>bias</a:t>
            </a:r>
            <a:endParaRPr lang="en-US" altLang="zh-CN" sz="2400" b="1" dirty="0">
              <a:latin typeface="楷体" panose="02010609060101010101" pitchFamily="49" charset="-122"/>
              <a:ea typeface="楷体" panose="02010609060101010101" pitchFamily="49" charset="-122"/>
            </a:endParaRPr>
          </a:p>
          <a:p>
            <a:pPr indent="575945">
              <a:lnSpc>
                <a:spcPct val="125000"/>
              </a:lnSpc>
            </a:pPr>
            <a:r>
              <a:rPr lang="zh-CN" altLang="en-US" sz="2400" dirty="0">
                <a:latin typeface="楷体" panose="02010609060101010101" pitchFamily="49" charset="-122"/>
                <a:ea typeface="楷体" panose="02010609060101010101" pitchFamily="49" charset="-122"/>
              </a:rPr>
              <a:t>偏差是指预测结果与真实值之间的差异。排除噪声的影响，偏差更多的是针对某个模型输出的样本误差。偏差是模型无法准确表达数据关系导致，比如模型过于简单，非线性的数据关系采用线性模型建模，偏差较大的模型是错的模型。</a:t>
            </a:r>
            <a:endParaRPr lang="zh-CN" altLang="en-US" sz="2400" dirty="0">
              <a:latin typeface="楷体" panose="02010609060101010101" pitchFamily="49" charset="-122"/>
              <a:ea typeface="楷体" panose="02010609060101010101" pitchFamily="49" charset="-122"/>
            </a:endParaRPr>
          </a:p>
          <a:p>
            <a:r>
              <a:rPr lang="en-US" altLang="zh-CN" sz="2400" b="1" dirty="0">
                <a:latin typeface="楷体" panose="02010609060101010101" pitchFamily="49" charset="-122"/>
                <a:ea typeface="楷体" panose="02010609060101010101" pitchFamily="49" charset="-122"/>
              </a:rPr>
              <a:t>2.</a:t>
            </a:r>
            <a:r>
              <a:rPr lang="zh-CN" altLang="en-US" sz="2400" b="1" dirty="0">
                <a:latin typeface="楷体" panose="02010609060101010101" pitchFamily="49" charset="-122"/>
                <a:ea typeface="楷体" panose="02010609060101010101" pitchFamily="49" charset="-122"/>
              </a:rPr>
              <a:t>方差</a:t>
            </a:r>
            <a:r>
              <a:rPr lang="en-US" altLang="zh-CN" sz="2400" b="1" dirty="0">
                <a:latin typeface="楷体" panose="02010609060101010101" pitchFamily="49" charset="-122"/>
                <a:ea typeface="楷体" panose="02010609060101010101" pitchFamily="49" charset="-122"/>
              </a:rPr>
              <a:t>variance</a:t>
            </a:r>
            <a:endParaRPr lang="en-US" altLang="zh-CN" sz="2400" b="1" dirty="0">
              <a:latin typeface="楷体" panose="02010609060101010101" pitchFamily="49" charset="-122"/>
              <a:ea typeface="楷体" panose="02010609060101010101" pitchFamily="49" charset="-122"/>
            </a:endParaRPr>
          </a:p>
          <a:p>
            <a:pPr indent="575945">
              <a:lnSpc>
                <a:spcPct val="125000"/>
              </a:lnSpc>
            </a:pPr>
            <a:r>
              <a:rPr lang="zh-CN" altLang="en-US" sz="2400" dirty="0">
                <a:latin typeface="楷体" panose="02010609060101010101" pitchFamily="49" charset="-122"/>
                <a:ea typeface="楷体" panose="02010609060101010101" pitchFamily="49" charset="-122"/>
              </a:rPr>
              <a:t>模型方差不是针对某一个模型输出样本进行判定，而是指多个</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次</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模型输出的结果之间的离散差异，注意这里写的是多个模型或者多次模型，即不同模型或同一模型不同时间的输出结果方差较大。方差是由训练集的数据不够导致，一方面量 </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数据量</a:t>
            </a:r>
            <a:r>
              <a:rPr lang="en-US" altLang="zh-CN" sz="2400" dirty="0">
                <a:latin typeface="楷体" panose="02010609060101010101" pitchFamily="49" charset="-122"/>
                <a:ea typeface="楷体" panose="02010609060101010101" pitchFamily="49" charset="-122"/>
              </a:rPr>
              <a:t>) </a:t>
            </a:r>
            <a:r>
              <a:rPr lang="zh-CN" altLang="en-US" sz="2400" dirty="0">
                <a:latin typeface="楷体" panose="02010609060101010101" pitchFamily="49" charset="-122"/>
                <a:ea typeface="楷体" panose="02010609060101010101" pitchFamily="49" charset="-122"/>
              </a:rPr>
              <a:t>不够，有限的数据集过度训练导致模型复杂，另一方面质</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样本质量</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不行，测试集中的数据分布未在训练集中，导致每次抽样训练模型时，每次模型参数不同，输出的结果都无法准确的预测出正确结果。</a:t>
            </a:r>
            <a:endParaRPr lang="zh-CN" altLang="en-US" sz="2400" dirty="0">
              <a:latin typeface="楷体" panose="02010609060101010101" pitchFamily="49" charset="-122"/>
              <a:ea typeface="楷体" panose="02010609060101010101" pitchFamily="49" charset="-122"/>
            </a:endParaRPr>
          </a:p>
          <a:p>
            <a:br>
              <a:rPr lang="zh-CN" altLang="en-US" sz="2400" dirty="0">
                <a:latin typeface="楷体" panose="02010609060101010101" pitchFamily="49" charset="-122"/>
                <a:ea typeface="楷体" panose="02010609060101010101" pitchFamily="49" charset="-122"/>
              </a:rPr>
            </a:br>
            <a:br>
              <a:rPr lang="zh-CN" altLang="en-US" dirty="0">
                <a:latin typeface="楷体" panose="02010609060101010101" pitchFamily="49" charset="-122"/>
                <a:ea typeface="楷体" panose="02010609060101010101" pitchFamily="49" charset="-122"/>
              </a:rPr>
            </a:br>
            <a:endParaRPr lang="zh-CN" altLang="en-US" dirty="0">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FF206FCC-0CBB-4DF4-89C1-3C9DB4B6E776}" type="slidenum">
              <a:rPr lang="zh-CN" altLang="en-US" smtClean="0"/>
            </a:fld>
            <a:endParaRPr lang="zh-CN" altLang="en-US"/>
          </a:p>
        </p:txBody>
      </p:sp>
      <p:pic>
        <p:nvPicPr>
          <p:cNvPr id="6146" name="Picture 2" descr="preview"/>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71941" y="1849605"/>
            <a:ext cx="5190017" cy="3626038"/>
          </a:xfrm>
          <a:prstGeom prst="rect">
            <a:avLst/>
          </a:prstGeom>
          <a:noFill/>
          <a:extLst>
            <a:ext uri="{909E8E84-426E-40DD-AFC4-6F175D3DCCD1}">
              <a14:hiddenFill xmlns:a14="http://schemas.microsoft.com/office/drawing/2010/main">
                <a:solidFill>
                  <a:srgbClr val="FFFFFF"/>
                </a:solidFill>
              </a14:hiddenFill>
            </a:ext>
          </a:extLst>
        </p:spPr>
      </p:pic>
      <p:pic>
        <p:nvPicPr>
          <p:cNvPr id="6147" name="Picture 3" descr="C:\Users\Administrator\AppData\Roaming\Tencent\Users\8306743\QQ\WinTemp\RichOle\R8IW666]G2C4DTC0MK2TUCG.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27925" y="2355924"/>
            <a:ext cx="4095750" cy="2971800"/>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3"/>
          <p:cNvSpPr/>
          <p:nvPr/>
        </p:nvSpPr>
        <p:spPr>
          <a:xfrm>
            <a:off x="559399" y="585421"/>
            <a:ext cx="10381128" cy="830997"/>
          </a:xfrm>
          <a:prstGeom prst="rect">
            <a:avLst/>
          </a:prstGeom>
        </p:spPr>
        <p:txBody>
          <a:bodyPr wrap="square">
            <a:spAutoFit/>
          </a:bodyPr>
          <a:lstStyle/>
          <a:p>
            <a:r>
              <a:rPr lang="zh-CN" altLang="en-US" sz="2400" dirty="0"/>
              <a:t>从同一个数据集中，用科学的采样方法得到几个不同的子训练集，用这些训练集训练得到的模型往往并不相同。</a:t>
            </a:r>
            <a:endParaRPr lang="zh-CN" altLang="en-US" sz="24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43436" y="181722"/>
            <a:ext cx="6572922" cy="955674"/>
          </a:xfrm>
        </p:spPr>
        <p:txBody>
          <a:bodyPr>
            <a:normAutofit/>
          </a:bodyPr>
          <a:lstStyle/>
          <a:p>
            <a:r>
              <a:rPr lang="zh-CN" altLang="en-US" sz="3200" b="1" dirty="0">
                <a:latin typeface="楷体" panose="02010609060101010101" pitchFamily="49" charset="-122"/>
                <a:ea typeface="楷体" panose="02010609060101010101" pitchFamily="49" charset="-122"/>
              </a:rPr>
              <a:t>二、为什么会有偏差和方差？</a:t>
            </a:r>
            <a:endParaRPr lang="zh-CN" altLang="en-US" sz="3200" dirty="0">
              <a:latin typeface="楷体" panose="02010609060101010101" pitchFamily="49" charset="-122"/>
              <a:ea typeface="楷体" panose="02010609060101010101" pitchFamily="49" charset="-122"/>
            </a:endParaRPr>
          </a:p>
        </p:txBody>
      </p:sp>
      <p:sp>
        <p:nvSpPr>
          <p:cNvPr id="3" name="灯片编号占位符 2"/>
          <p:cNvSpPr>
            <a:spLocks noGrp="1"/>
          </p:cNvSpPr>
          <p:nvPr>
            <p:ph type="sldNum" sz="quarter" idx="12"/>
          </p:nvPr>
        </p:nvSpPr>
        <p:spPr/>
        <p:txBody>
          <a:bodyPr/>
          <a:lstStyle/>
          <a:p>
            <a:fld id="{FF206FCC-0CBB-4DF4-89C1-3C9DB4B6E776}" type="slidenum">
              <a:rPr lang="zh-CN" altLang="en-US" smtClean="0"/>
            </a:fld>
            <a:endParaRPr lang="zh-CN" altLang="en-US"/>
          </a:p>
        </p:txBody>
      </p:sp>
      <p:sp>
        <p:nvSpPr>
          <p:cNvPr id="4" name="矩形 3"/>
          <p:cNvSpPr/>
          <p:nvPr/>
        </p:nvSpPr>
        <p:spPr>
          <a:xfrm>
            <a:off x="218251" y="987767"/>
            <a:ext cx="11790381" cy="5632311"/>
          </a:xfrm>
          <a:prstGeom prst="rect">
            <a:avLst/>
          </a:prstGeom>
        </p:spPr>
        <p:txBody>
          <a:bodyPr wrap="square">
            <a:spAutoFit/>
          </a:bodyPr>
          <a:lstStyle/>
          <a:p>
            <a:pPr marL="285750" indent="-285750">
              <a:lnSpc>
                <a:spcPct val="150000"/>
              </a:lnSpc>
              <a:spcBef>
                <a:spcPts val="600"/>
              </a:spcBef>
              <a:buFont typeface="Wingdings" panose="05000000000000000000" pitchFamily="2" charset="2"/>
              <a:buChar char="u"/>
            </a:pPr>
            <a:r>
              <a:rPr lang="zh-CN" altLang="en-US" sz="2000" b="1" dirty="0">
                <a:latin typeface="楷体" panose="02010609060101010101" pitchFamily="49" charset="-122"/>
                <a:ea typeface="楷体" panose="02010609060101010101" pitchFamily="49" charset="-122"/>
              </a:rPr>
              <a:t>“偏差</a:t>
            </a:r>
            <a:r>
              <a:rPr lang="en-US" altLang="zh-CN" sz="2000" b="1" dirty="0">
                <a:latin typeface="楷体" panose="02010609060101010101" pitchFamily="49" charset="-122"/>
                <a:ea typeface="楷体" panose="02010609060101010101" pitchFamily="49" charset="-122"/>
              </a:rPr>
              <a:t>-</a:t>
            </a:r>
            <a:r>
              <a:rPr lang="zh-CN" altLang="en-US" sz="2000" b="1" dirty="0">
                <a:latin typeface="楷体" panose="02010609060101010101" pitchFamily="49" charset="-122"/>
                <a:ea typeface="楷体" panose="02010609060101010101" pitchFamily="49" charset="-122"/>
              </a:rPr>
              <a:t>方差分解”（</a:t>
            </a:r>
            <a:r>
              <a:rPr lang="en-US" altLang="zh-CN" sz="2000" b="1" dirty="0">
                <a:latin typeface="楷体" panose="02010609060101010101" pitchFamily="49" charset="-122"/>
                <a:ea typeface="楷体" panose="02010609060101010101" pitchFamily="49" charset="-122"/>
              </a:rPr>
              <a:t>bias-variance decomposition</a:t>
            </a:r>
            <a:r>
              <a:rPr lang="zh-CN" altLang="en-US" sz="2000" b="1" dirty="0">
                <a:latin typeface="楷体" panose="02010609060101010101" pitchFamily="49" charset="-122"/>
                <a:ea typeface="楷体" panose="02010609060101010101" pitchFamily="49" charset="-122"/>
              </a:rPr>
              <a:t>）</a:t>
            </a:r>
            <a:r>
              <a:rPr lang="zh-CN" altLang="en-US" sz="2000" dirty="0">
                <a:latin typeface="楷体" panose="02010609060101010101" pitchFamily="49" charset="-122"/>
                <a:ea typeface="楷体" panose="02010609060101010101" pitchFamily="49" charset="-122"/>
              </a:rPr>
              <a:t>就是从偏差和方差的角度来解释学习算法泛化性能的一种重要工具。</a:t>
            </a:r>
            <a:endParaRPr lang="zh-CN" altLang="en-US" sz="2000" dirty="0">
              <a:latin typeface="楷体" panose="02010609060101010101" pitchFamily="49" charset="-122"/>
              <a:ea typeface="楷体" panose="02010609060101010101" pitchFamily="49" charset="-122"/>
            </a:endParaRPr>
          </a:p>
          <a:p>
            <a:pPr marL="285750" indent="-285750">
              <a:lnSpc>
                <a:spcPct val="150000"/>
              </a:lnSpc>
              <a:spcBef>
                <a:spcPts val="600"/>
              </a:spcBef>
              <a:buFont typeface="Wingdings" panose="05000000000000000000" pitchFamily="2" charset="2"/>
              <a:buChar char="u"/>
            </a:pPr>
            <a:r>
              <a:rPr lang="zh-CN" altLang="en-US" sz="2000" dirty="0">
                <a:latin typeface="楷体" panose="02010609060101010101" pitchFamily="49" charset="-122"/>
                <a:ea typeface="楷体" panose="02010609060101010101" pitchFamily="49" charset="-122"/>
              </a:rPr>
              <a:t>泛化误差可以分解为</a:t>
            </a:r>
            <a:r>
              <a:rPr lang="zh-CN" altLang="en-US" sz="2000" b="1" dirty="0">
                <a:latin typeface="楷体" panose="02010609060101010101" pitchFamily="49" charset="-122"/>
                <a:ea typeface="楷体" panose="02010609060101010101" pitchFamily="49" charset="-122"/>
              </a:rPr>
              <a:t>偏差（</a:t>
            </a:r>
            <a:r>
              <a:rPr lang="en-US" altLang="zh-CN" sz="2000" b="1" dirty="0" err="1">
                <a:latin typeface="楷体" panose="02010609060101010101" pitchFamily="49" charset="-122"/>
                <a:ea typeface="楷体" panose="02010609060101010101" pitchFamily="49" charset="-122"/>
              </a:rPr>
              <a:t>Biase</a:t>
            </a:r>
            <a:r>
              <a:rPr lang="zh-CN" altLang="en-US" sz="2000" b="1" dirty="0">
                <a:latin typeface="楷体" panose="02010609060101010101" pitchFamily="49" charset="-122"/>
                <a:ea typeface="楷体" panose="02010609060101010101" pitchFamily="49" charset="-122"/>
              </a:rPr>
              <a:t>）</a:t>
            </a:r>
            <a:r>
              <a:rPr lang="zh-CN" altLang="en-US" sz="2000" dirty="0">
                <a:latin typeface="楷体" panose="02010609060101010101" pitchFamily="49" charset="-122"/>
                <a:ea typeface="楷体" panose="02010609060101010101" pitchFamily="49" charset="-122"/>
              </a:rPr>
              <a:t>、</a:t>
            </a:r>
            <a:r>
              <a:rPr lang="zh-CN" altLang="en-US" sz="2000" b="1" dirty="0">
                <a:latin typeface="楷体" panose="02010609060101010101" pitchFamily="49" charset="-122"/>
                <a:ea typeface="楷体" panose="02010609060101010101" pitchFamily="49" charset="-122"/>
              </a:rPr>
              <a:t>方差（</a:t>
            </a:r>
            <a:r>
              <a:rPr lang="en-US" altLang="zh-CN" sz="2000" b="1" dirty="0">
                <a:latin typeface="楷体" panose="02010609060101010101" pitchFamily="49" charset="-122"/>
                <a:ea typeface="楷体" panose="02010609060101010101" pitchFamily="49" charset="-122"/>
              </a:rPr>
              <a:t>Variance</a:t>
            </a:r>
            <a:r>
              <a:rPr lang="zh-CN" altLang="en-US" sz="2000" b="1" dirty="0">
                <a:latin typeface="楷体" panose="02010609060101010101" pitchFamily="49" charset="-122"/>
                <a:ea typeface="楷体" panose="02010609060101010101" pitchFamily="49" charset="-122"/>
              </a:rPr>
              <a:t>）</a:t>
            </a:r>
            <a:r>
              <a:rPr lang="zh-CN" altLang="en-US" sz="2000" dirty="0">
                <a:latin typeface="楷体" panose="02010609060101010101" pitchFamily="49" charset="-122"/>
                <a:ea typeface="楷体" panose="02010609060101010101" pitchFamily="49" charset="-122"/>
              </a:rPr>
              <a:t>和</a:t>
            </a:r>
            <a:r>
              <a:rPr lang="zh-CN" altLang="en-US" sz="2000" b="1" dirty="0">
                <a:latin typeface="楷体" panose="02010609060101010101" pitchFamily="49" charset="-122"/>
                <a:ea typeface="楷体" panose="02010609060101010101" pitchFamily="49" charset="-122"/>
              </a:rPr>
              <a:t>噪声（</a:t>
            </a:r>
            <a:r>
              <a:rPr lang="en-US" altLang="zh-CN" sz="2000" b="1" dirty="0">
                <a:latin typeface="楷体" panose="02010609060101010101" pitchFamily="49" charset="-122"/>
                <a:ea typeface="楷体" panose="02010609060101010101" pitchFamily="49" charset="-122"/>
              </a:rPr>
              <a:t>Noise</a:t>
            </a:r>
            <a:r>
              <a:rPr lang="zh-CN" altLang="en-US" sz="2000" b="1" dirty="0">
                <a:latin typeface="楷体" panose="02010609060101010101" pitchFamily="49" charset="-122"/>
                <a:ea typeface="楷体" panose="02010609060101010101" pitchFamily="49" charset="-122"/>
              </a:rPr>
              <a:t>）</a:t>
            </a:r>
            <a:r>
              <a:rPr lang="zh-CN" altLang="en-US" sz="2000" dirty="0">
                <a:latin typeface="楷体" panose="02010609060101010101" pitchFamily="49" charset="-122"/>
                <a:ea typeface="楷体" panose="02010609060101010101" pitchFamily="49" charset="-122"/>
              </a:rPr>
              <a:t>。</a:t>
            </a:r>
            <a:endParaRPr lang="zh-CN" altLang="en-US" sz="2000" dirty="0">
              <a:latin typeface="楷体" panose="02010609060101010101" pitchFamily="49" charset="-122"/>
              <a:ea typeface="楷体" panose="02010609060101010101" pitchFamily="49" charset="-122"/>
            </a:endParaRPr>
          </a:p>
          <a:p>
            <a:pPr marL="285750" indent="-285750">
              <a:lnSpc>
                <a:spcPct val="150000"/>
              </a:lnSpc>
              <a:spcBef>
                <a:spcPts val="600"/>
              </a:spcBef>
              <a:buFont typeface="Wingdings" panose="05000000000000000000" pitchFamily="2" charset="2"/>
              <a:buChar char="u"/>
            </a:pPr>
            <a:r>
              <a:rPr lang="en-US" altLang="zh-CN" sz="2000" dirty="0">
                <a:latin typeface="楷体" panose="02010609060101010101" pitchFamily="49" charset="-122"/>
                <a:ea typeface="楷体" panose="02010609060101010101" pitchFamily="49" charset="-122"/>
              </a:rPr>
              <a:t>Bias</a:t>
            </a:r>
            <a:r>
              <a:rPr lang="zh-CN" altLang="en-US" sz="2000" dirty="0">
                <a:latin typeface="楷体" panose="02010609060101010101" pitchFamily="49" charset="-122"/>
                <a:ea typeface="楷体" panose="02010609060101010101" pitchFamily="49" charset="-122"/>
              </a:rPr>
              <a:t>和</a:t>
            </a:r>
            <a:r>
              <a:rPr lang="en-US" altLang="zh-CN" sz="2000" dirty="0">
                <a:latin typeface="楷体" panose="02010609060101010101" pitchFamily="49" charset="-122"/>
                <a:ea typeface="楷体" panose="02010609060101010101" pitchFamily="49" charset="-122"/>
              </a:rPr>
              <a:t>Variance</a:t>
            </a:r>
            <a:r>
              <a:rPr lang="zh-CN" altLang="en-US" sz="2000" dirty="0">
                <a:latin typeface="楷体" panose="02010609060101010101" pitchFamily="49" charset="-122"/>
                <a:ea typeface="楷体" panose="02010609060101010101" pitchFamily="49" charset="-122"/>
              </a:rPr>
              <a:t>分别从两个方面来描述学习到的模型与真实模型之间的差距。</a:t>
            </a:r>
            <a:endParaRPr lang="zh-CN" altLang="en-US" sz="2000" dirty="0">
              <a:latin typeface="楷体" panose="02010609060101010101" pitchFamily="49" charset="-122"/>
              <a:ea typeface="楷体" panose="02010609060101010101" pitchFamily="49" charset="-122"/>
            </a:endParaRPr>
          </a:p>
          <a:p>
            <a:pPr marL="285750" indent="-285750">
              <a:lnSpc>
                <a:spcPct val="150000"/>
              </a:lnSpc>
              <a:spcBef>
                <a:spcPts val="600"/>
              </a:spcBef>
              <a:buFont typeface="Wingdings" panose="05000000000000000000" pitchFamily="2" charset="2"/>
              <a:buChar char="u"/>
            </a:pPr>
            <a:r>
              <a:rPr lang="en-US" altLang="zh-CN" sz="2000" b="1" dirty="0">
                <a:latin typeface="楷体" panose="02010609060101010101" pitchFamily="49" charset="-122"/>
                <a:ea typeface="楷体" panose="02010609060101010101" pitchFamily="49" charset="-122"/>
              </a:rPr>
              <a:t>Bias</a:t>
            </a:r>
            <a:r>
              <a:rPr lang="zh-CN" altLang="en-US" sz="2000" dirty="0">
                <a:latin typeface="楷体" panose="02010609060101010101" pitchFamily="49" charset="-122"/>
                <a:ea typeface="楷体" panose="02010609060101010101" pitchFamily="49" charset="-122"/>
              </a:rPr>
              <a:t>是用</a:t>
            </a:r>
            <a:r>
              <a:rPr lang="zh-CN" altLang="en-US" sz="2000" b="1" dirty="0">
                <a:latin typeface="楷体" panose="02010609060101010101" pitchFamily="49" charset="-122"/>
                <a:ea typeface="楷体" panose="02010609060101010101" pitchFamily="49" charset="-122"/>
              </a:rPr>
              <a:t>所有可能的训练数据集</a:t>
            </a:r>
            <a:r>
              <a:rPr lang="zh-CN" altLang="en-US" sz="2000" dirty="0">
                <a:latin typeface="楷体" panose="02010609060101010101" pitchFamily="49" charset="-122"/>
                <a:ea typeface="楷体" panose="02010609060101010101" pitchFamily="49" charset="-122"/>
              </a:rPr>
              <a:t>训练出的</a:t>
            </a:r>
            <a:r>
              <a:rPr lang="zh-CN" altLang="en-US" sz="2000" b="1" dirty="0">
                <a:latin typeface="楷体" panose="02010609060101010101" pitchFamily="49" charset="-122"/>
                <a:ea typeface="楷体" panose="02010609060101010101" pitchFamily="49" charset="-122"/>
              </a:rPr>
              <a:t>所有模型</a:t>
            </a:r>
            <a:r>
              <a:rPr lang="zh-CN" altLang="en-US" sz="2000" dirty="0">
                <a:latin typeface="楷体" panose="02010609060101010101" pitchFamily="49" charset="-122"/>
                <a:ea typeface="楷体" panose="02010609060101010101" pitchFamily="49" charset="-122"/>
              </a:rPr>
              <a:t>输出的</a:t>
            </a:r>
            <a:r>
              <a:rPr lang="zh-CN" altLang="en-US" sz="2000" b="1" dirty="0">
                <a:latin typeface="楷体" panose="02010609060101010101" pitchFamily="49" charset="-122"/>
                <a:ea typeface="楷体" panose="02010609060101010101" pitchFamily="49" charset="-122"/>
                <a:hlinkClick r:id="rId1"/>
              </a:rPr>
              <a:t>平均值</a:t>
            </a:r>
            <a:r>
              <a:rPr lang="zh-CN" altLang="en-US" sz="2000" dirty="0">
                <a:latin typeface="楷体" panose="02010609060101010101" pitchFamily="49" charset="-122"/>
                <a:ea typeface="楷体" panose="02010609060101010101" pitchFamily="49" charset="-122"/>
              </a:rPr>
              <a:t>与</a:t>
            </a:r>
            <a:r>
              <a:rPr lang="zh-CN" altLang="en-US" sz="2000" b="1" dirty="0">
                <a:latin typeface="楷体" panose="02010609060101010101" pitchFamily="49" charset="-122"/>
                <a:ea typeface="楷体" panose="02010609060101010101" pitchFamily="49" charset="-122"/>
              </a:rPr>
              <a:t>真实模型</a:t>
            </a:r>
            <a:r>
              <a:rPr lang="zh-CN" altLang="en-US" sz="2000" dirty="0">
                <a:latin typeface="楷体" panose="02010609060101010101" pitchFamily="49" charset="-122"/>
                <a:ea typeface="楷体" panose="02010609060101010101" pitchFamily="49" charset="-122"/>
              </a:rPr>
              <a:t>的输出值之间的差异。</a:t>
            </a:r>
            <a:endParaRPr lang="zh-CN" altLang="en-US" sz="2000" dirty="0">
              <a:latin typeface="楷体" panose="02010609060101010101" pitchFamily="49" charset="-122"/>
              <a:ea typeface="楷体" panose="02010609060101010101" pitchFamily="49" charset="-122"/>
            </a:endParaRPr>
          </a:p>
          <a:p>
            <a:pPr marL="285750" indent="-285750">
              <a:lnSpc>
                <a:spcPct val="150000"/>
              </a:lnSpc>
              <a:spcBef>
                <a:spcPts val="600"/>
              </a:spcBef>
              <a:buFont typeface="Wingdings" panose="05000000000000000000" pitchFamily="2" charset="2"/>
              <a:buChar char="u"/>
            </a:pPr>
            <a:r>
              <a:rPr lang="en-US" altLang="zh-CN" sz="2000" b="1" dirty="0">
                <a:latin typeface="楷体" panose="02010609060101010101" pitchFamily="49" charset="-122"/>
                <a:ea typeface="楷体" panose="02010609060101010101" pitchFamily="49" charset="-122"/>
              </a:rPr>
              <a:t>Variance</a:t>
            </a:r>
            <a:r>
              <a:rPr lang="zh-CN" altLang="en-US" sz="2000" dirty="0">
                <a:latin typeface="楷体" panose="02010609060101010101" pitchFamily="49" charset="-122"/>
                <a:ea typeface="楷体" panose="02010609060101010101" pitchFamily="49" charset="-122"/>
              </a:rPr>
              <a:t>是</a:t>
            </a:r>
            <a:r>
              <a:rPr lang="zh-CN" altLang="en-US" sz="2000" b="1" dirty="0">
                <a:latin typeface="楷体" panose="02010609060101010101" pitchFamily="49" charset="-122"/>
                <a:ea typeface="楷体" panose="02010609060101010101" pitchFamily="49" charset="-122"/>
              </a:rPr>
              <a:t>不同的训练数据集训练出的模型</a:t>
            </a:r>
            <a:r>
              <a:rPr lang="zh-CN" altLang="en-US" sz="2000" dirty="0">
                <a:latin typeface="楷体" panose="02010609060101010101" pitchFamily="49" charset="-122"/>
                <a:ea typeface="楷体" panose="02010609060101010101" pitchFamily="49" charset="-122"/>
              </a:rPr>
              <a:t>输出值之间的差异。</a:t>
            </a:r>
            <a:endParaRPr lang="zh-CN" altLang="en-US" sz="2000" dirty="0">
              <a:latin typeface="楷体" panose="02010609060101010101" pitchFamily="49" charset="-122"/>
              <a:ea typeface="楷体" panose="02010609060101010101" pitchFamily="49" charset="-122"/>
            </a:endParaRPr>
          </a:p>
          <a:p>
            <a:pPr marL="285750" indent="-285750">
              <a:lnSpc>
                <a:spcPct val="150000"/>
              </a:lnSpc>
              <a:spcBef>
                <a:spcPts val="600"/>
              </a:spcBef>
              <a:buFont typeface="Wingdings" panose="05000000000000000000" pitchFamily="2" charset="2"/>
              <a:buChar char="u"/>
            </a:pPr>
            <a:r>
              <a:rPr lang="zh-CN" altLang="en-US" sz="2000" b="1" dirty="0">
                <a:latin typeface="楷体" panose="02010609060101010101" pitchFamily="49" charset="-122"/>
                <a:ea typeface="楷体" panose="02010609060101010101" pitchFamily="49" charset="-122"/>
              </a:rPr>
              <a:t>噪声</a:t>
            </a:r>
            <a:r>
              <a:rPr lang="zh-CN" altLang="en-US" sz="2000" dirty="0">
                <a:latin typeface="楷体" panose="02010609060101010101" pitchFamily="49" charset="-122"/>
                <a:ea typeface="楷体" panose="02010609060101010101" pitchFamily="49" charset="-122"/>
              </a:rPr>
              <a:t>的存在是学习算法所无法解决的问题，数据的质量决定了学习的上限。假设在数据已经给定的情况下，此时上限已定，我们要做的就是尽可能的接近这个上限。</a:t>
            </a:r>
            <a:endParaRPr lang="zh-CN" altLang="en-US" sz="2000" dirty="0">
              <a:latin typeface="楷体" panose="02010609060101010101" pitchFamily="49" charset="-122"/>
              <a:ea typeface="楷体" panose="02010609060101010101" pitchFamily="49" charset="-122"/>
            </a:endParaRPr>
          </a:p>
          <a:p>
            <a:pPr marL="285750" indent="-285750">
              <a:lnSpc>
                <a:spcPct val="150000"/>
              </a:lnSpc>
              <a:spcBef>
                <a:spcPts val="600"/>
              </a:spcBef>
              <a:buFont typeface="Wingdings" panose="05000000000000000000" pitchFamily="2" charset="2"/>
              <a:buChar char="u"/>
            </a:pPr>
            <a:r>
              <a:rPr lang="zh-CN" altLang="en-US" sz="2000" b="1" dirty="0">
                <a:latin typeface="楷体" panose="02010609060101010101" pitchFamily="49" charset="-122"/>
                <a:ea typeface="楷体" panose="02010609060101010101" pitchFamily="49" charset="-122"/>
              </a:rPr>
              <a:t>注意：</a:t>
            </a:r>
            <a:r>
              <a:rPr lang="zh-CN" altLang="en-US" sz="2000" dirty="0">
                <a:latin typeface="楷体" panose="02010609060101010101" pitchFamily="49" charset="-122"/>
                <a:ea typeface="楷体" panose="02010609060101010101" pitchFamily="49" charset="-122"/>
              </a:rPr>
              <a:t>能够用来学习的训练数据集只是全部数据中的一个子集。想象一下，现在收集几组不同的数据，因为每一组数据的不同，学习到模型的最小损失值也会有所不同，它们与“真实模型”的最小损失也是不一样的。</a:t>
            </a:r>
            <a:endParaRPr lang="zh-CN" altLang="en-US" sz="2000" dirty="0">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65355" y="130814"/>
            <a:ext cx="4981561" cy="869647"/>
          </a:xfrm>
        </p:spPr>
        <p:txBody>
          <a:bodyPr/>
          <a:lstStyle/>
          <a:p>
            <a:r>
              <a:rPr lang="zh-CN" altLang="en-US" dirty="0">
                <a:latin typeface="楷体" panose="02010609060101010101" pitchFamily="49" charset="-122"/>
                <a:ea typeface="楷体" panose="02010609060101010101" pitchFamily="49" charset="-122"/>
              </a:rPr>
              <a:t>偏差与方差</a:t>
            </a:r>
            <a:endParaRPr lang="zh-CN" altLang="en-US" dirty="0">
              <a:latin typeface="楷体" panose="02010609060101010101" pitchFamily="49" charset="-122"/>
              <a:ea typeface="楷体" panose="02010609060101010101" pitchFamily="49" charset="-122"/>
            </a:endParaRPr>
          </a:p>
        </p:txBody>
      </p:sp>
      <p:sp>
        <p:nvSpPr>
          <p:cNvPr id="5" name="文本框 4"/>
          <p:cNvSpPr txBox="1"/>
          <p:nvPr/>
        </p:nvSpPr>
        <p:spPr>
          <a:xfrm>
            <a:off x="375331" y="1216433"/>
            <a:ext cx="5885620" cy="2308324"/>
          </a:xfrm>
          <a:prstGeom prst="rect">
            <a:avLst/>
          </a:prstGeom>
          <a:noFill/>
        </p:spPr>
        <p:txBody>
          <a:bodyPr wrap="square">
            <a:spAutoFit/>
          </a:bodyPr>
          <a:lstStyle/>
          <a:p>
            <a:pPr indent="304800">
              <a:spcAft>
                <a:spcPts val="800"/>
              </a:spcAft>
            </a:pPr>
            <a:r>
              <a:rPr lang="zh-CN" altLang="en-US" sz="2400" dirty="0">
                <a:latin typeface="楷体" panose="02010609060101010101" pitchFamily="49" charset="-122"/>
                <a:ea typeface="楷体" panose="02010609060101010101" pitchFamily="49" charset="-122"/>
              </a:rPr>
              <a:t>如图，</a:t>
            </a:r>
            <a:r>
              <a:rPr lang="zh-CN" altLang="zh-CN" sz="2400" dirty="0">
                <a:latin typeface="楷体" panose="02010609060101010101" pitchFamily="49" charset="-122"/>
                <a:ea typeface="楷体" panose="02010609060101010101" pitchFamily="49" charset="-122"/>
              </a:rPr>
              <a:t>红色的圆心代表理想的优化目标，黑色的点代表在不同采样集合上训练模型的优化结果。可以看到左边一列低方差的优化结果要比右边一列高方差的优化结果更为集中，上边一行低偏差的优化结果要比下边一行高偏差的优化结果更靠近中心</a:t>
            </a:r>
            <a:r>
              <a:rPr lang="zh-CN" altLang="en-US" sz="2400" dirty="0">
                <a:latin typeface="楷体" panose="02010609060101010101" pitchFamily="49" charset="-122"/>
                <a:ea typeface="楷体" panose="02010609060101010101" pitchFamily="49" charset="-122"/>
              </a:rPr>
              <a:t>。</a:t>
            </a:r>
            <a:endParaRPr lang="zh-CN" altLang="en-US" sz="2400" dirty="0">
              <a:solidFill>
                <a:srgbClr val="000000"/>
              </a:solidFill>
              <a:latin typeface="楷体" panose="02010609060101010101" pitchFamily="49" charset="-122"/>
              <a:ea typeface="楷体" panose="02010609060101010101" pitchFamily="49" charset="-122"/>
              <a:cs typeface="Times New Roman" panose="02020603050405020304" pitchFamily="18" charset="0"/>
            </a:endParaRPr>
          </a:p>
        </p:txBody>
      </p:sp>
      <p:pic>
        <p:nvPicPr>
          <p:cNvPr id="12" name="图片 11"/>
          <p:cNvPicPr/>
          <p:nvPr/>
        </p:nvPicPr>
        <p:blipFill>
          <a:blip r:embed="rId1" cstate="print">
            <a:extLst>
              <a:ext uri="{28A0092B-C50C-407E-A947-70E740481C1C}">
                <a14:useLocalDpi xmlns:a14="http://schemas.microsoft.com/office/drawing/2010/main" val="0"/>
              </a:ext>
            </a:extLst>
          </a:blip>
          <a:stretch>
            <a:fillRect/>
          </a:stretch>
        </p:blipFill>
        <p:spPr>
          <a:xfrm>
            <a:off x="6260951" y="1000461"/>
            <a:ext cx="5321449" cy="4734011"/>
          </a:xfrm>
          <a:prstGeom prst="rect">
            <a:avLst/>
          </a:prstGeom>
        </p:spPr>
      </p:pic>
      <p:sp>
        <p:nvSpPr>
          <p:cNvPr id="3" name="矩形 2"/>
          <p:cNvSpPr/>
          <p:nvPr/>
        </p:nvSpPr>
        <p:spPr>
          <a:xfrm>
            <a:off x="375331" y="3740729"/>
            <a:ext cx="5687209" cy="2308324"/>
          </a:xfrm>
          <a:prstGeom prst="rect">
            <a:avLst/>
          </a:prstGeom>
        </p:spPr>
        <p:txBody>
          <a:bodyPr wrap="square">
            <a:spAutoFit/>
          </a:bodyPr>
          <a:lstStyle/>
          <a:p>
            <a:r>
              <a:rPr lang="en-US" altLang="zh-CN" sz="2400" dirty="0">
                <a:latin typeface="楷体" panose="02010609060101010101" pitchFamily="49" charset="-122"/>
                <a:ea typeface="楷体" panose="02010609060101010101" pitchFamily="49" charset="-122"/>
              </a:rPr>
              <a:t>  Bias</a:t>
            </a:r>
            <a:r>
              <a:rPr lang="zh-CN" altLang="en-US" sz="2400" dirty="0">
                <a:latin typeface="楷体" panose="02010609060101010101" pitchFamily="49" charset="-122"/>
                <a:ea typeface="楷体" panose="02010609060101010101" pitchFamily="49" charset="-122"/>
              </a:rPr>
              <a:t>的对象是单个模型，是期望输出与真实标记的差别。它描述了模型对本训练集的拟合程度。</a:t>
            </a:r>
            <a:r>
              <a:rPr lang="en-US" altLang="zh-CN" sz="2400" dirty="0">
                <a:latin typeface="楷体" panose="02010609060101010101" pitchFamily="49" charset="-122"/>
                <a:ea typeface="楷体" panose="02010609060101010101" pitchFamily="49" charset="-122"/>
              </a:rPr>
              <a:t>Variance</a:t>
            </a:r>
            <a:r>
              <a:rPr lang="zh-CN" altLang="en-US" sz="2400" dirty="0">
                <a:latin typeface="楷体" panose="02010609060101010101" pitchFamily="49" charset="-122"/>
                <a:ea typeface="楷体" panose="02010609060101010101" pitchFamily="49" charset="-122"/>
              </a:rPr>
              <a:t>的对象是多个模型，是相同分布的不同数据集训练出模型的输出值之间的差异，它刻画的是数据扰动对模型的影响。</a:t>
            </a:r>
            <a:endParaRPr lang="zh-CN" altLang="en-US" sz="2400" dirty="0">
              <a:latin typeface="楷体" panose="02010609060101010101" pitchFamily="49" charset="-122"/>
              <a:ea typeface="楷体" panose="02010609060101010101" pitchFamily="49" charset="-122"/>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a:xfrm>
            <a:off x="655320" y="301195"/>
            <a:ext cx="8370346" cy="955674"/>
          </a:xfrm>
        </p:spPr>
        <p:txBody>
          <a:bodyPr>
            <a:noAutofit/>
          </a:bodyPr>
          <a:lstStyle/>
          <a:p>
            <a:r>
              <a:rPr lang="zh-CN" altLang="en-US" sz="3200" b="1" dirty="0"/>
              <a:t>三、数学公式定义偏差、方差、噪声</a:t>
            </a:r>
            <a:endParaRPr lang="zh-CN" altLang="en-US" sz="3200" dirty="0"/>
          </a:p>
        </p:txBody>
      </p:sp>
      <p:sp>
        <p:nvSpPr>
          <p:cNvPr id="3" name="灯片编号占位符 2"/>
          <p:cNvSpPr>
            <a:spLocks noGrp="1"/>
          </p:cNvSpPr>
          <p:nvPr>
            <p:ph type="sldNum" sz="quarter" idx="12"/>
          </p:nvPr>
        </p:nvSpPr>
        <p:spPr/>
        <p:txBody>
          <a:bodyPr/>
          <a:lstStyle/>
          <a:p>
            <a:fld id="{FF206FCC-0CBB-4DF4-89C1-3C9DB4B6E776}" type="slidenum">
              <a:rPr lang="zh-CN" altLang="en-US" smtClean="0"/>
            </a:fld>
            <a:endParaRPr lang="zh-CN" altLang="en-US"/>
          </a:p>
        </p:txBody>
      </p:sp>
      <p:sp>
        <p:nvSpPr>
          <p:cNvPr id="4" name="矩形 3"/>
          <p:cNvSpPr/>
          <p:nvPr/>
        </p:nvSpPr>
        <p:spPr>
          <a:xfrm>
            <a:off x="831924" y="1256869"/>
            <a:ext cx="10044057" cy="830997"/>
          </a:xfrm>
          <a:prstGeom prst="rect">
            <a:avLst/>
          </a:prstGeom>
        </p:spPr>
        <p:txBody>
          <a:bodyPr wrap="square">
            <a:spAutoFit/>
          </a:bodyPr>
          <a:lstStyle/>
          <a:p>
            <a:r>
              <a:rPr lang="zh-CN" altLang="en-US" sz="2400" dirty="0"/>
              <a:t>要进一步理解偏差、方差、噪声，需要了解它们的数学公式。</a:t>
            </a:r>
            <a:br>
              <a:rPr lang="zh-CN" altLang="en-US" sz="2400" dirty="0"/>
            </a:br>
            <a:endParaRPr lang="zh-CN" altLang="en-US" sz="2400" dirty="0"/>
          </a:p>
        </p:txBody>
      </p:sp>
      <p:pic>
        <p:nvPicPr>
          <p:cNvPr id="3074" name="Picture 2" descr="preview"/>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474259" y="1871626"/>
            <a:ext cx="6723529" cy="458530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35429" y="166050"/>
            <a:ext cx="4981561" cy="869647"/>
          </a:xfrm>
        </p:spPr>
        <p:txBody>
          <a:bodyPr>
            <a:normAutofit/>
          </a:bodyPr>
          <a:lstStyle/>
          <a:p>
            <a:r>
              <a:rPr lang="zh-CN" altLang="en-US" sz="3200" dirty="0"/>
              <a:t>偏差与方差定义</a:t>
            </a:r>
            <a:endParaRPr lang="zh-CN" altLang="en-US" sz="3200" dirty="0"/>
          </a:p>
        </p:txBody>
      </p:sp>
      <p:grpSp>
        <p:nvGrpSpPr>
          <p:cNvPr id="1092" name="组合 1091"/>
          <p:cNvGrpSpPr/>
          <p:nvPr/>
        </p:nvGrpSpPr>
        <p:grpSpPr>
          <a:xfrm>
            <a:off x="0" y="130628"/>
            <a:ext cx="12192000" cy="5566720"/>
            <a:chOff x="0" y="0"/>
            <a:chExt cx="12192000" cy="5566720"/>
          </a:xfrm>
        </p:grpSpPr>
        <mc:AlternateContent xmlns:mc="http://schemas.openxmlformats.org/markup-compatibility/2006">
          <mc:Choice xmlns:a14="http://schemas.microsoft.com/office/drawing/2010/main" Requires="a14">
            <p:sp>
              <p:nvSpPr>
                <p:cNvPr id="5" name="文本框 4"/>
                <p:cNvSpPr txBox="1"/>
                <p:nvPr/>
              </p:nvSpPr>
              <p:spPr>
                <a:xfrm>
                  <a:off x="566056" y="960331"/>
                  <a:ext cx="10667999" cy="4606389"/>
                </a:xfrm>
                <a:prstGeom prst="rect">
                  <a:avLst/>
                </a:prstGeom>
                <a:noFill/>
              </p:spPr>
              <p:txBody>
                <a:bodyPr wrap="square">
                  <a:spAutoFit/>
                </a:bodyPr>
                <a:lstStyle/>
                <a:p>
                  <a:pPr indent="304800" algn="just">
                    <a:spcAft>
                      <a:spcPts val="800"/>
                    </a:spcAft>
                  </a:pPr>
                  <a:r>
                    <a:rPr lang="zh-CN" altLang="en-US" sz="2000" dirty="0">
                      <a:latin typeface="+mn-ea"/>
                      <a:cs typeface="Times New Roman" panose="02020603050405020304" pitchFamily="18" charset="0"/>
                    </a:rPr>
                    <a:t>对于一个回归问题，假设样本</a:t>
                  </a:r>
                  <a14:m>
                    <m:oMath xmlns:m="http://schemas.openxmlformats.org/officeDocument/2006/math">
                      <m:d>
                        <m:dPr>
                          <m:ctrlPr>
                            <a:rPr lang="zh-CN" altLang="en-US" sz="2000" i="1">
                              <a:latin typeface="Cambria Math" panose="02040503050406030204" pitchFamily="18" charset="0"/>
                            </a:rPr>
                          </m:ctrlPr>
                        </m:dPr>
                        <m:e>
                          <m:acc>
                            <m:accPr>
                              <m:chr m:val="⃗"/>
                              <m:ctrlPr>
                                <a:rPr lang="zh-CN" altLang="en-US" sz="2000" i="1">
                                  <a:latin typeface="Cambria Math" panose="02040503050406030204" pitchFamily="18" charset="0"/>
                                </a:rPr>
                              </m:ctrlPr>
                            </m:accPr>
                            <m:e>
                              <m:r>
                                <a:rPr lang="zh-CN" altLang="en-US" sz="2000" i="1">
                                  <a:latin typeface="Cambria Math" panose="02040503050406030204" pitchFamily="18" charset="0"/>
                                </a:rPr>
                                <m:t>𝑥</m:t>
                              </m:r>
                            </m:e>
                          </m:acc>
                          <m:r>
                            <a:rPr lang="zh-CN" altLang="en-US" sz="2000">
                              <a:latin typeface="Cambria Math" panose="02040503050406030204" pitchFamily="18" charset="0"/>
                            </a:rPr>
                            <m:t>,</m:t>
                          </m:r>
                          <m:r>
                            <a:rPr lang="zh-CN" altLang="en-US" sz="2000" i="1">
                              <a:latin typeface="Cambria Math" panose="02040503050406030204" pitchFamily="18" charset="0"/>
                            </a:rPr>
                            <m:t>𝑦</m:t>
                          </m:r>
                        </m:e>
                      </m:d>
                    </m:oMath>
                  </a14:m>
                  <a:r>
                    <a:rPr lang="zh-CN" altLang="en-US" sz="2000" dirty="0">
                      <a:latin typeface="+mn-ea"/>
                      <a:cs typeface="Times New Roman" panose="02020603050405020304" pitchFamily="18" charset="0"/>
                    </a:rPr>
                    <a:t>服从的真实分布为</a:t>
                  </a:r>
                  <a14:m>
                    <m:oMath xmlns:m="http://schemas.openxmlformats.org/officeDocument/2006/math">
                      <m:d>
                        <m:dPr>
                          <m:begChr m:val=""/>
                          <m:ctrlPr>
                            <a:rPr lang="zh-CN" altLang="en-US" sz="2000" i="1">
                              <a:latin typeface="Cambria Math" panose="02040503050406030204" pitchFamily="18" charset="0"/>
                            </a:rPr>
                          </m:ctrlPr>
                        </m:dPr>
                        <m:e>
                          <m:r>
                            <a:rPr lang="zh-CN" altLang="en-US" sz="2000" i="1">
                              <a:latin typeface="Cambria Math" panose="02040503050406030204" pitchFamily="18" charset="0"/>
                            </a:rPr>
                            <m:t>𝑃</m:t>
                          </m:r>
                          <m:r>
                            <a:rPr lang="zh-CN" altLang="en-US" sz="2000">
                              <a:latin typeface="Cambria Math" panose="02040503050406030204" pitchFamily="18" charset="0"/>
                            </a:rPr>
                            <m:t>(</m:t>
                          </m:r>
                          <m:acc>
                            <m:accPr>
                              <m:chr m:val="⃗"/>
                              <m:ctrlPr>
                                <a:rPr lang="zh-CN" altLang="en-US" sz="2000" i="1">
                                  <a:latin typeface="Cambria Math" panose="02040503050406030204" pitchFamily="18" charset="0"/>
                                </a:rPr>
                              </m:ctrlPr>
                            </m:accPr>
                            <m:e>
                              <m:r>
                                <a:rPr lang="zh-CN" altLang="en-US" sz="2000" i="1">
                                  <a:latin typeface="Cambria Math" panose="02040503050406030204" pitchFamily="18" charset="0"/>
                                </a:rPr>
                                <m:t>𝑥</m:t>
                              </m:r>
                            </m:e>
                          </m:acc>
                          <m:r>
                            <a:rPr lang="zh-CN" altLang="en-US" sz="2000">
                              <a:latin typeface="Cambria Math" panose="02040503050406030204" pitchFamily="18" charset="0"/>
                            </a:rPr>
                            <m:t>,</m:t>
                          </m:r>
                          <m:r>
                            <a:rPr lang="zh-CN" altLang="en-US" sz="2000" i="1">
                              <a:latin typeface="Cambria Math" panose="02040503050406030204" pitchFamily="18" charset="0"/>
                            </a:rPr>
                            <m:t>𝑦</m:t>
                          </m:r>
                        </m:e>
                      </m:d>
                      <m:r>
                        <a:rPr lang="zh-CN" altLang="en-US" sz="2000" i="1">
                          <a:latin typeface="Cambria Math" panose="02040503050406030204" pitchFamily="18" charset="0"/>
                        </a:rPr>
                        <m:t> </m:t>
                      </m:r>
                    </m:oMath>
                  </a14:m>
                  <a:r>
                    <a:rPr lang="zh-CN" altLang="en-US" sz="2000" dirty="0">
                      <a:latin typeface="+mn-ea"/>
                      <a:cs typeface="Times New Roman" panose="02020603050405020304" pitchFamily="18" charset="0"/>
                    </a:rPr>
                    <a:t>。设</a:t>
                  </a:r>
                  <a:r>
                    <a:rPr lang="en-US" altLang="zh-CN" sz="2000" dirty="0">
                      <a:latin typeface="+mn-ea"/>
                      <a:cs typeface="Times New Roman" panose="02020603050405020304" pitchFamily="18" charset="0"/>
                    </a:rPr>
                    <a:t>D</a:t>
                  </a:r>
                  <a:r>
                    <a:rPr lang="zh-CN" altLang="en-US" sz="2000" dirty="0">
                      <a:latin typeface="+mn-ea"/>
                      <a:cs typeface="Times New Roman" panose="02020603050405020304" pitchFamily="18" charset="0"/>
                    </a:rPr>
                    <a:t>表示含噪采样点集，</a:t>
                  </a:r>
                  <a:r>
                    <a:rPr lang="zh-CN" altLang="en-US" sz="2000" dirty="0"/>
                    <a:t> </a:t>
                  </a:r>
                  <a14:m>
                    <m:oMath xmlns:m="http://schemas.openxmlformats.org/officeDocument/2006/math">
                      <m:d>
                        <m:dPr>
                          <m:ctrlPr>
                            <a:rPr lang="zh-CN" altLang="en-US" sz="2000" i="1">
                              <a:latin typeface="Cambria Math" panose="02040503050406030204" pitchFamily="18" charset="0"/>
                            </a:rPr>
                          </m:ctrlPr>
                        </m:dPr>
                        <m:e>
                          <m:acc>
                            <m:accPr>
                              <m:chr m:val="⃗"/>
                              <m:ctrlPr>
                                <a:rPr lang="zh-CN" altLang="en-US" sz="2000" i="1">
                                  <a:latin typeface="Cambria Math" panose="02040503050406030204" pitchFamily="18" charset="0"/>
                                </a:rPr>
                              </m:ctrlPr>
                            </m:accPr>
                            <m:e>
                              <m:r>
                                <a:rPr lang="zh-CN" altLang="en-US" sz="2000" i="1">
                                  <a:latin typeface="Cambria Math" panose="02040503050406030204" pitchFamily="18" charset="0"/>
                                </a:rPr>
                                <m:t>𝑥</m:t>
                              </m:r>
                            </m:e>
                          </m:acc>
                          <m:r>
                            <a:rPr lang="zh-CN" altLang="en-US" sz="2000">
                              <a:latin typeface="Cambria Math" panose="02040503050406030204" pitchFamily="18" charset="0"/>
                            </a:rPr>
                            <m:t>,</m:t>
                          </m:r>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𝑦</m:t>
                              </m:r>
                            </m:e>
                            <m:sub>
                              <m:r>
                                <a:rPr lang="zh-CN" altLang="en-US" sz="2000" i="1">
                                  <a:latin typeface="Cambria Math" panose="02040503050406030204" pitchFamily="18" charset="0"/>
                                </a:rPr>
                                <m:t>𝐷</m:t>
                              </m:r>
                            </m:sub>
                          </m:sSub>
                        </m:e>
                      </m:d>
                    </m:oMath>
                  </a14:m>
                  <a:r>
                    <a:rPr lang="zh-CN" altLang="en-US" sz="2000" dirty="0">
                      <a:latin typeface="+mn-ea"/>
                      <a:cs typeface="Times New Roman" panose="02020603050405020304" pitchFamily="18" charset="0"/>
                    </a:rPr>
                    <a:t>服从分布</a:t>
                  </a:r>
                  <a:r>
                    <a:rPr lang="en-US" altLang="zh-CN" sz="2000" dirty="0">
                      <a:latin typeface="+mn-ea"/>
                      <a:cs typeface="Times New Roman" panose="02020603050405020304" pitchFamily="18" charset="0"/>
                    </a:rPr>
                    <a:t>D</a:t>
                  </a:r>
                  <a:r>
                    <a:rPr lang="zh-CN" altLang="en-US" sz="2000" dirty="0">
                      <a:latin typeface="+mn-ea"/>
                      <a:cs typeface="Times New Roman" panose="02020603050405020304" pitchFamily="18" charset="0"/>
                    </a:rPr>
                    <a:t>，</a:t>
                  </a:r>
                  <a:r>
                    <a:rPr lang="zh-CN" altLang="en-US" sz="2000" dirty="0"/>
                    <a:t> </a:t>
                  </a:r>
                  <a14:m>
                    <m:oMath xmlns:m="http://schemas.openxmlformats.org/officeDocument/2006/math">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𝑦</m:t>
                          </m:r>
                        </m:e>
                        <m:sub>
                          <m:r>
                            <a:rPr lang="zh-CN" altLang="en-US" sz="2000" i="1">
                              <a:latin typeface="Cambria Math" panose="02040503050406030204" pitchFamily="18" charset="0"/>
                            </a:rPr>
                            <m:t>𝐷</m:t>
                          </m:r>
                        </m:sub>
                      </m:sSub>
                    </m:oMath>
                  </a14:m>
                  <a:r>
                    <a:rPr lang="zh-CN" altLang="en-US" sz="2000" dirty="0">
                      <a:latin typeface="+mn-ea"/>
                      <a:cs typeface="Times New Roman" panose="02020603050405020304" pitchFamily="18" charset="0"/>
                    </a:rPr>
                    <a:t>为输入</a:t>
                  </a:r>
                  <a14:m>
                    <m:oMath xmlns:m="http://schemas.openxmlformats.org/officeDocument/2006/math">
                      <m:acc>
                        <m:accPr>
                          <m:chr m:val="⃗"/>
                          <m:ctrlPr>
                            <a:rPr lang="zh-CN" altLang="en-US" sz="2000" i="1">
                              <a:latin typeface="Cambria Math" panose="02040503050406030204" pitchFamily="18" charset="0"/>
                            </a:rPr>
                          </m:ctrlPr>
                        </m:accPr>
                        <m:e>
                          <m:r>
                            <a:rPr lang="zh-CN" altLang="en-US" sz="2000" i="1">
                              <a:latin typeface="Cambria Math" panose="02040503050406030204" pitchFamily="18" charset="0"/>
                            </a:rPr>
                            <m:t>𝑥</m:t>
                          </m:r>
                        </m:e>
                      </m:acc>
                    </m:oMath>
                  </a14:m>
                  <a:r>
                    <a:rPr lang="zh-CN" altLang="en-US" sz="2000" dirty="0">
                      <a:latin typeface="+mn-ea"/>
                      <a:cs typeface="Times New Roman" panose="02020603050405020304" pitchFamily="18" charset="0"/>
                    </a:rPr>
                    <a:t>在实际分布</a:t>
                  </a:r>
                  <a:r>
                    <a:rPr lang="en-US" altLang="zh-CN" sz="2000" dirty="0">
                      <a:latin typeface="+mn-ea"/>
                      <a:cs typeface="Times New Roman" panose="02020603050405020304" pitchFamily="18" charset="0"/>
                    </a:rPr>
                    <a:t>D</a:t>
                  </a:r>
                  <a:r>
                    <a:rPr lang="zh-CN" altLang="en-US" sz="2000" dirty="0">
                      <a:latin typeface="+mn-ea"/>
                      <a:cs typeface="Times New Roman" panose="02020603050405020304" pitchFamily="18" charset="0"/>
                    </a:rPr>
                    <a:t>中的标记，而噪声一般服从高斯分布。</a:t>
                  </a:r>
                  <a:r>
                    <a:rPr lang="zh-CN" altLang="zh-CN" sz="2000" dirty="0"/>
                    <a:t>设优化得到的模型为</a:t>
                  </a:r>
                  <a14:m>
                    <m:oMath xmlns:m="http://schemas.openxmlformats.org/officeDocument/2006/math">
                      <m:d>
                        <m:dPr>
                          <m:begChr m:val=""/>
                          <m:ctrlPr>
                            <a:rPr lang="zh-CN" altLang="en-US" sz="2000" i="1">
                              <a:latin typeface="Cambria Math" panose="02040503050406030204" pitchFamily="18" charset="0"/>
                            </a:rPr>
                          </m:ctrlPr>
                        </m:dPr>
                        <m:e>
                          <m:r>
                            <a:rPr lang="zh-CN" altLang="en-US" sz="2000" i="1">
                              <a:latin typeface="Cambria Math" panose="02040503050406030204" pitchFamily="18" charset="0"/>
                            </a:rPr>
                            <m:t>𝑓</m:t>
                          </m:r>
                          <m:r>
                            <a:rPr lang="zh-CN" altLang="en-US" sz="2000">
                              <a:latin typeface="Cambria Math" panose="02040503050406030204" pitchFamily="18" charset="0"/>
                            </a:rPr>
                            <m:t>(</m:t>
                          </m:r>
                          <m:acc>
                            <m:accPr>
                              <m:chr m:val="⃗"/>
                              <m:ctrlPr>
                                <a:rPr lang="zh-CN" altLang="en-US" sz="2000" i="1">
                                  <a:latin typeface="Cambria Math" panose="02040503050406030204" pitchFamily="18" charset="0"/>
                                </a:rPr>
                              </m:ctrlPr>
                            </m:accPr>
                            <m:e>
                              <m:r>
                                <a:rPr lang="zh-CN" altLang="en-US" sz="2000" i="1">
                                  <a:latin typeface="Cambria Math" panose="02040503050406030204" pitchFamily="18" charset="0"/>
                                </a:rPr>
                                <m:t>𝑥</m:t>
                              </m:r>
                            </m:e>
                          </m:acc>
                        </m:e>
                      </m:d>
                    </m:oMath>
                  </a14:m>
                  <a:r>
                    <a:rPr lang="zh-CN" altLang="en-US" sz="2000" dirty="0">
                      <a:latin typeface="+mn-ea"/>
                      <a:cs typeface="Times New Roman" panose="02020603050405020304" pitchFamily="18" charset="0"/>
                    </a:rPr>
                    <a:t>，</a:t>
                  </a:r>
                  <a:r>
                    <a:rPr lang="zh-CN" altLang="en-US" sz="2000" dirty="0"/>
                    <a:t> </a:t>
                  </a:r>
                  <a14:m>
                    <m:oMath xmlns:m="http://schemas.openxmlformats.org/officeDocument/2006/math">
                      <m:d>
                        <m:dPr>
                          <m:begChr m:val=""/>
                          <m:ctrlPr>
                            <a:rPr lang="zh-CN" altLang="en-US" sz="2000" i="1" smtClean="0">
                              <a:latin typeface="Cambria Math" panose="02040503050406030204" pitchFamily="18" charset="0"/>
                            </a:rPr>
                          </m:ctrlPr>
                        </m:dPr>
                        <m:e>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𝑓</m:t>
                              </m:r>
                            </m:e>
                            <m:sub>
                              <m:r>
                                <a:rPr lang="zh-CN" altLang="en-US" sz="2000">
                                  <a:latin typeface="Cambria Math" panose="02040503050406030204" pitchFamily="18" charset="0"/>
                                </a:rPr>
                                <m:t>𝒟</m:t>
                              </m:r>
                            </m:sub>
                          </m:sSub>
                          <m:r>
                            <a:rPr lang="zh-CN" altLang="en-US" sz="2000">
                              <a:latin typeface="Cambria Math" panose="02040503050406030204" pitchFamily="18" charset="0"/>
                            </a:rPr>
                            <m:t>(</m:t>
                          </m:r>
                          <m:acc>
                            <m:accPr>
                              <m:chr m:val="⃗"/>
                              <m:ctrlPr>
                                <a:rPr lang="zh-CN" altLang="en-US" sz="2000" i="1">
                                  <a:latin typeface="Cambria Math" panose="02040503050406030204" pitchFamily="18" charset="0"/>
                                </a:rPr>
                              </m:ctrlPr>
                            </m:accPr>
                            <m:e>
                              <m:r>
                                <a:rPr lang="zh-CN" altLang="en-US" sz="2000" i="1">
                                  <a:latin typeface="Cambria Math" panose="02040503050406030204" pitchFamily="18" charset="0"/>
                                </a:rPr>
                                <m:t>𝑥</m:t>
                              </m:r>
                            </m:e>
                          </m:acc>
                        </m:e>
                      </m:d>
                    </m:oMath>
                  </a14:m>
                  <a:r>
                    <a:rPr lang="zh-CN" altLang="zh-CN" sz="2000" dirty="0"/>
                    <a:t>为其在分布</a:t>
                  </a:r>
                  <a:r>
                    <a:rPr lang="en-US" altLang="zh-CN" sz="2000" dirty="0"/>
                    <a:t>D</a:t>
                  </a:r>
                  <a:r>
                    <a:rPr lang="zh-CN" altLang="en-US" sz="2000" dirty="0"/>
                    <a:t>上的优化结果，则模型随机变量</a:t>
                  </a:r>
                  <a14:m>
                    <m:oMath xmlns:m="http://schemas.openxmlformats.org/officeDocument/2006/math">
                      <m:d>
                        <m:dPr>
                          <m:begChr m:val=""/>
                          <m:ctrlPr>
                            <a:rPr lang="zh-CN" altLang="en-US" sz="2000" i="1">
                              <a:latin typeface="Cambria Math" panose="02040503050406030204" pitchFamily="18" charset="0"/>
                            </a:rPr>
                          </m:ctrlPr>
                        </m:dPr>
                        <m:e>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𝑓</m:t>
                              </m:r>
                            </m:e>
                            <m:sub>
                              <m:r>
                                <a:rPr lang="zh-CN" altLang="en-US" sz="2000">
                                  <a:latin typeface="Cambria Math" panose="02040503050406030204" pitchFamily="18" charset="0"/>
                                </a:rPr>
                                <m:t>𝒟</m:t>
                              </m:r>
                            </m:sub>
                          </m:sSub>
                          <m:r>
                            <a:rPr lang="zh-CN" altLang="en-US" sz="2000">
                              <a:latin typeface="Cambria Math" panose="02040503050406030204" pitchFamily="18" charset="0"/>
                            </a:rPr>
                            <m:t>(</m:t>
                          </m:r>
                          <m:acc>
                            <m:accPr>
                              <m:chr m:val="⃗"/>
                              <m:ctrlPr>
                                <a:rPr lang="zh-CN" altLang="en-US" sz="2000" i="1">
                                  <a:latin typeface="Cambria Math" panose="02040503050406030204" pitchFamily="18" charset="0"/>
                                </a:rPr>
                              </m:ctrlPr>
                            </m:accPr>
                            <m:e>
                              <m:r>
                                <a:rPr lang="zh-CN" altLang="en-US" sz="2000" i="1">
                                  <a:latin typeface="Cambria Math" panose="02040503050406030204" pitchFamily="18" charset="0"/>
                                </a:rPr>
                                <m:t>𝑥</m:t>
                              </m:r>
                            </m:e>
                          </m:acc>
                        </m:e>
                      </m:d>
                    </m:oMath>
                  </a14:m>
                  <a:r>
                    <a:rPr lang="zh-CN" altLang="zh-CN" sz="2000" dirty="0"/>
                    <a:t>在所有可能的样本集合分布</a:t>
                  </a:r>
                  <a:r>
                    <a:rPr lang="en-US" altLang="zh-CN" sz="2000" dirty="0"/>
                    <a:t>D</a:t>
                  </a:r>
                  <a:r>
                    <a:rPr lang="zh-CN" altLang="zh-CN" sz="2000" dirty="0"/>
                    <a:t>上的期望为</a:t>
                  </a:r>
                  <a14:m>
                    <m:oMath xmlns:m="http://schemas.openxmlformats.org/officeDocument/2006/math">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𝐸</m:t>
                          </m:r>
                        </m:e>
                        <m:sub>
                          <m:r>
                            <a:rPr lang="zh-CN" altLang="en-US" sz="2000" i="1">
                              <a:latin typeface="Cambria Math" panose="02040503050406030204" pitchFamily="18" charset="0"/>
                            </a:rPr>
                            <m:t>𝐷</m:t>
                          </m:r>
                        </m:sub>
                      </m:sSub>
                      <m:d>
                        <m:dPr>
                          <m:begChr m:val="["/>
                          <m:endChr m:val="]"/>
                          <m:ctrlPr>
                            <a:rPr lang="zh-CN" altLang="en-US" sz="2000" i="1">
                              <a:latin typeface="Cambria Math" panose="02040503050406030204" pitchFamily="18" charset="0"/>
                            </a:rPr>
                          </m:ctrlPr>
                        </m:dPr>
                        <m:e>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𝑓</m:t>
                              </m:r>
                            </m:e>
                            <m:sub>
                              <m:r>
                                <a:rPr lang="zh-CN" altLang="en-US" sz="2000" i="1">
                                  <a:latin typeface="Cambria Math" panose="02040503050406030204" pitchFamily="18" charset="0"/>
                                </a:rPr>
                                <m:t>𝐷</m:t>
                              </m:r>
                            </m:sub>
                          </m:sSub>
                          <m:d>
                            <m:dPr>
                              <m:ctrlPr>
                                <a:rPr lang="zh-CN" altLang="en-US" sz="2000" i="1">
                                  <a:latin typeface="Cambria Math" panose="02040503050406030204" pitchFamily="18" charset="0"/>
                                </a:rPr>
                              </m:ctrlPr>
                            </m:dPr>
                            <m:e>
                              <m:acc>
                                <m:accPr>
                                  <m:chr m:val="⃗"/>
                                  <m:ctrlPr>
                                    <a:rPr lang="zh-CN" altLang="en-US" sz="2000" i="1">
                                      <a:latin typeface="Cambria Math" panose="02040503050406030204" pitchFamily="18" charset="0"/>
                                    </a:rPr>
                                  </m:ctrlPr>
                                </m:accPr>
                                <m:e>
                                  <m:r>
                                    <a:rPr lang="zh-CN" altLang="en-US" sz="2000" i="1">
                                      <a:latin typeface="Cambria Math" panose="02040503050406030204" pitchFamily="18" charset="0"/>
                                    </a:rPr>
                                    <m:t>𝑥</m:t>
                                  </m:r>
                                </m:e>
                              </m:acc>
                            </m:e>
                          </m:d>
                        </m:e>
                      </m:d>
                    </m:oMath>
                  </a14:m>
                  <a:r>
                    <a:rPr lang="zh-CN" altLang="en-US" sz="2000" dirty="0">
                      <a:latin typeface="+mn-ea"/>
                      <a:cs typeface="Times New Roman" panose="02020603050405020304" pitchFamily="18" charset="0"/>
                    </a:rPr>
                    <a:t>，则有：</a:t>
                  </a:r>
                  <a:endParaRPr lang="en-US" altLang="zh-CN" sz="2000" dirty="0">
                    <a:latin typeface="+mn-ea"/>
                    <a:cs typeface="Times New Roman" panose="02020603050405020304" pitchFamily="18" charset="0"/>
                  </a:endParaRPr>
                </a:p>
                <a:p>
                  <a:pPr indent="304800">
                    <a:spcAft>
                      <a:spcPts val="800"/>
                    </a:spcAft>
                  </a:pPr>
                  <a:endParaRPr lang="en-US" altLang="zh-CN" sz="2000" dirty="0">
                    <a:latin typeface="+mn-ea"/>
                    <a:cs typeface="Times New Roman" panose="02020603050405020304" pitchFamily="18" charset="0"/>
                  </a:endParaRPr>
                </a:p>
                <a:p>
                  <a:pPr indent="304800">
                    <a:spcAft>
                      <a:spcPts val="800"/>
                    </a:spcAft>
                  </a:pPr>
                  <a:r>
                    <a:rPr lang="zh-CN" altLang="en-US" sz="2000" dirty="0">
                      <a:latin typeface="+mn-ea"/>
                      <a:cs typeface="Times New Roman" panose="02020603050405020304" pitchFamily="18" charset="0"/>
                    </a:rPr>
                    <a:t>偏差：</a:t>
                  </a:r>
                  <a:endParaRPr lang="en-US" altLang="zh-CN" sz="2000" dirty="0">
                    <a:latin typeface="+mn-ea"/>
                    <a:cs typeface="Times New Roman" panose="02020603050405020304" pitchFamily="18" charset="0"/>
                  </a:endParaRPr>
                </a:p>
                <a:p>
                  <a:pPr indent="304800">
                    <a:spcAft>
                      <a:spcPts val="800"/>
                    </a:spcAft>
                  </a:pPr>
                  <a:endParaRPr lang="en-US" altLang="zh-CN" sz="2000" dirty="0">
                    <a:latin typeface="+mn-ea"/>
                    <a:cs typeface="Times New Roman" panose="02020603050405020304" pitchFamily="18" charset="0"/>
                  </a:endParaRPr>
                </a:p>
                <a:p>
                  <a:pPr indent="304800">
                    <a:spcAft>
                      <a:spcPts val="800"/>
                    </a:spcAft>
                  </a:pPr>
                  <a:endParaRPr lang="en-US" altLang="zh-CN" sz="2000" dirty="0">
                    <a:latin typeface="+mn-ea"/>
                    <a:cs typeface="Times New Roman" panose="02020603050405020304" pitchFamily="18" charset="0"/>
                  </a:endParaRPr>
                </a:p>
                <a:p>
                  <a:pPr indent="304800">
                    <a:spcAft>
                      <a:spcPts val="800"/>
                    </a:spcAft>
                  </a:pPr>
                  <a:endParaRPr lang="en-US" altLang="zh-CN" sz="2000" dirty="0">
                    <a:latin typeface="+mn-ea"/>
                    <a:cs typeface="Times New Roman" panose="02020603050405020304" pitchFamily="18" charset="0"/>
                  </a:endParaRPr>
                </a:p>
                <a:p>
                  <a:pPr indent="304800">
                    <a:spcAft>
                      <a:spcPts val="800"/>
                    </a:spcAft>
                  </a:pPr>
                  <a:endParaRPr lang="en-US" altLang="zh-CN" sz="2000" dirty="0">
                    <a:latin typeface="+mn-ea"/>
                    <a:cs typeface="Times New Roman" panose="02020603050405020304" pitchFamily="18" charset="0"/>
                  </a:endParaRPr>
                </a:p>
                <a:p>
                  <a:pPr indent="304800">
                    <a:spcAft>
                      <a:spcPts val="800"/>
                    </a:spcAft>
                  </a:pPr>
                  <a:r>
                    <a:rPr lang="zh-CN" altLang="en-US" sz="2000" dirty="0">
                      <a:latin typeface="+mn-ea"/>
                      <a:cs typeface="Times New Roman" panose="02020603050405020304" pitchFamily="18" charset="0"/>
                    </a:rPr>
                    <a:t>方差：</a:t>
                  </a:r>
                  <a:endParaRPr lang="en-US" altLang="zh-CN" sz="2000" dirty="0">
                    <a:latin typeface="+mn-ea"/>
                    <a:cs typeface="Times New Roman" panose="02020603050405020304" pitchFamily="18" charset="0"/>
                  </a:endParaRPr>
                </a:p>
                <a:p>
                  <a:pPr indent="304800">
                    <a:spcAft>
                      <a:spcPts val="800"/>
                    </a:spcAft>
                  </a:pPr>
                  <a:endParaRPr lang="en-US" altLang="zh-CN" sz="2000" dirty="0">
                    <a:latin typeface="+mn-ea"/>
                    <a:cs typeface="Times New Roman" panose="02020603050405020304" pitchFamily="18" charset="0"/>
                  </a:endParaRPr>
                </a:p>
              </p:txBody>
            </p:sp>
          </mc:Choice>
          <mc:Fallback>
            <p:sp>
              <p:nvSpPr>
                <p:cNvPr id="5" name="文本框 4"/>
                <p:cNvSpPr txBox="1">
                  <a:spLocks noRot="1" noChangeAspect="1" noMove="1" noResize="1" noEditPoints="1" noAdjustHandles="1" noChangeArrowheads="1" noChangeShapeType="1" noTextEdit="1"/>
                </p:cNvSpPr>
                <p:nvPr/>
              </p:nvSpPr>
              <p:spPr>
                <a:xfrm>
                  <a:off x="566056" y="960331"/>
                  <a:ext cx="10667999" cy="4606389"/>
                </a:xfrm>
                <a:prstGeom prst="rect">
                  <a:avLst/>
                </a:prstGeom>
                <a:blipFill rotWithShape="1">
                  <a:blip r:embed="rId1"/>
                </a:blipFill>
              </p:spPr>
              <p:txBody>
                <a:bodyPr/>
                <a:lstStyle/>
                <a:p>
                  <a:r>
                    <a:rPr lang="zh-CN" altLang="en-US">
                      <a:noFill/>
                    </a:rPr>
                    <a:t> </a:t>
                  </a:r>
                </a:p>
              </p:txBody>
            </p:sp>
          </mc:Fallback>
        </mc:AlternateContent>
        <p:sp>
          <p:nvSpPr>
            <p:cNvPr id="1090" name="Rectangle 12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mc:AlternateContent xmlns:mc="http://schemas.openxmlformats.org/markup-compatibility/2006">
        <mc:Choice xmlns:a14="http://schemas.microsoft.com/office/drawing/2010/main" Requires="a14">
          <p:sp>
            <p:nvSpPr>
              <p:cNvPr id="1119" name="矩形 1118"/>
              <p:cNvSpPr/>
              <p:nvPr/>
            </p:nvSpPr>
            <p:spPr>
              <a:xfrm>
                <a:off x="1664017" y="3854509"/>
                <a:ext cx="4150945" cy="400110"/>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sSub>
                        <m:sSubPr>
                          <m:ctrlPr>
                            <a:rPr lang="zh-CN" altLang="en-US" sz="2000" i="1">
                              <a:latin typeface="Cambria Math" panose="02040503050406030204" pitchFamily="18" charset="0"/>
                            </a:rPr>
                          </m:ctrlPr>
                        </m:sSubPr>
                        <m:e>
                          <m:r>
                            <m:rPr>
                              <m:nor/>
                            </m:rPr>
                            <a:rPr lang="zh-CN" altLang="en-US" sz="2000">
                              <a:latin typeface="Cambria Math" panose="02040503050406030204" pitchFamily="18" charset="0"/>
                            </a:rPr>
                            <m:t>bias</m:t>
                          </m:r>
                        </m:e>
                        <m:sub>
                          <m:r>
                            <a:rPr lang="zh-CN" altLang="en-US" sz="2000" i="1">
                              <a:latin typeface="Cambria Math" panose="02040503050406030204" pitchFamily="18" charset="0"/>
                            </a:rPr>
                            <m:t>𝐷</m:t>
                          </m:r>
                        </m:sub>
                      </m:sSub>
                      <m:r>
                        <a:rPr lang="zh-CN" altLang="en-US" sz="2000" i="0">
                          <a:latin typeface="Cambria Math" panose="02040503050406030204" pitchFamily="18" charset="0"/>
                        </a:rPr>
                        <m:t>(</m:t>
                      </m:r>
                      <m:acc>
                        <m:accPr>
                          <m:chr m:val="⃗"/>
                          <m:ctrlPr>
                            <a:rPr lang="zh-CN" altLang="en-US" sz="2000" i="1">
                              <a:latin typeface="Cambria Math" panose="02040503050406030204" pitchFamily="18" charset="0"/>
                            </a:rPr>
                          </m:ctrlPr>
                        </m:accPr>
                        <m:e>
                          <m:r>
                            <a:rPr lang="zh-CN" altLang="en-US" sz="2000" i="1">
                              <a:latin typeface="Cambria Math" panose="02040503050406030204" pitchFamily="18" charset="0"/>
                            </a:rPr>
                            <m:t>𝑥</m:t>
                          </m:r>
                        </m:e>
                      </m:acc>
                      <m:r>
                        <a:rPr lang="zh-CN" altLang="en-US" sz="2000" i="0">
                          <a:latin typeface="Cambria Math" panose="02040503050406030204" pitchFamily="18" charset="0"/>
                        </a:rPr>
                        <m:t>)=</m:t>
                      </m:r>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𝐸</m:t>
                          </m:r>
                        </m:e>
                        <m:sub>
                          <m:r>
                            <a:rPr lang="zh-CN" altLang="en-US" sz="2000" i="1">
                              <a:latin typeface="Cambria Math" panose="02040503050406030204" pitchFamily="18" charset="0"/>
                            </a:rPr>
                            <m:t>𝐷</m:t>
                          </m:r>
                        </m:sub>
                      </m:sSub>
                      <m:d>
                        <m:dPr>
                          <m:begChr m:val="["/>
                          <m:endChr m:val="]"/>
                          <m:ctrlPr>
                            <a:rPr lang="zh-CN" altLang="en-US" sz="2000" i="1">
                              <a:latin typeface="Cambria Math" panose="02040503050406030204" pitchFamily="18" charset="0"/>
                            </a:rPr>
                          </m:ctrlPr>
                        </m:dPr>
                        <m:e>
                          <m:sSup>
                            <m:sSupPr>
                              <m:ctrlPr>
                                <a:rPr lang="zh-CN" altLang="en-US" sz="2000" i="1">
                                  <a:latin typeface="Cambria Math" panose="02040503050406030204" pitchFamily="18" charset="0"/>
                                </a:rPr>
                              </m:ctrlPr>
                            </m:sSupPr>
                            <m:e>
                              <m:d>
                                <m:dPr>
                                  <m:ctrlPr>
                                    <a:rPr lang="zh-CN" altLang="en-US" sz="2000" i="1">
                                      <a:latin typeface="Cambria Math" panose="02040503050406030204" pitchFamily="18" charset="0"/>
                                    </a:rPr>
                                  </m:ctrlPr>
                                </m:dPr>
                                <m:e>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𝐸</m:t>
                                      </m:r>
                                    </m:e>
                                    <m:sub>
                                      <m:r>
                                        <a:rPr lang="zh-CN" altLang="en-US" sz="2000" i="1">
                                          <a:latin typeface="Cambria Math" panose="02040503050406030204" pitchFamily="18" charset="0"/>
                                        </a:rPr>
                                        <m:t>𝐷</m:t>
                                      </m:r>
                                    </m:sub>
                                  </m:sSub>
                                  <m:d>
                                    <m:dPr>
                                      <m:begChr m:val="["/>
                                      <m:endChr m:val="]"/>
                                      <m:ctrlPr>
                                        <a:rPr lang="zh-CN" altLang="en-US" sz="2000" i="1">
                                          <a:latin typeface="Cambria Math" panose="02040503050406030204" pitchFamily="18" charset="0"/>
                                        </a:rPr>
                                      </m:ctrlPr>
                                    </m:dPr>
                                    <m:e>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𝑓</m:t>
                                          </m:r>
                                        </m:e>
                                        <m:sub>
                                          <m:r>
                                            <a:rPr lang="zh-CN" altLang="en-US" sz="2000" i="1">
                                              <a:latin typeface="Cambria Math" panose="02040503050406030204" pitchFamily="18" charset="0"/>
                                            </a:rPr>
                                            <m:t>𝐷</m:t>
                                          </m:r>
                                        </m:sub>
                                      </m:sSub>
                                      <m:d>
                                        <m:dPr>
                                          <m:ctrlPr>
                                            <a:rPr lang="zh-CN" altLang="en-US" sz="2000" i="1">
                                              <a:latin typeface="Cambria Math" panose="02040503050406030204" pitchFamily="18" charset="0"/>
                                            </a:rPr>
                                          </m:ctrlPr>
                                        </m:dPr>
                                        <m:e>
                                          <m:acc>
                                            <m:accPr>
                                              <m:chr m:val="⃗"/>
                                              <m:ctrlPr>
                                                <a:rPr lang="zh-CN" altLang="en-US" sz="2000" i="1">
                                                  <a:latin typeface="Cambria Math" panose="02040503050406030204" pitchFamily="18" charset="0"/>
                                                </a:rPr>
                                              </m:ctrlPr>
                                            </m:accPr>
                                            <m:e>
                                              <m:r>
                                                <a:rPr lang="zh-CN" altLang="en-US" sz="2000" i="1">
                                                  <a:latin typeface="Cambria Math" panose="02040503050406030204" pitchFamily="18" charset="0"/>
                                                </a:rPr>
                                                <m:t>𝑥</m:t>
                                              </m:r>
                                            </m:e>
                                          </m:acc>
                                        </m:e>
                                      </m:d>
                                    </m:e>
                                  </m:d>
                                  <m:r>
                                    <a:rPr lang="zh-CN" altLang="en-US" sz="2000" i="0">
                                      <a:latin typeface="Cambria Math" panose="02040503050406030204" pitchFamily="18" charset="0"/>
                                    </a:rPr>
                                    <m:t>−</m:t>
                                  </m:r>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𝑦</m:t>
                                      </m:r>
                                    </m:e>
                                    <m:sub>
                                      <m:r>
                                        <a:rPr lang="zh-CN" altLang="en-US" sz="2000" i="1">
                                          <a:latin typeface="Cambria Math" panose="02040503050406030204" pitchFamily="18" charset="0"/>
                                        </a:rPr>
                                        <m:t>𝐷</m:t>
                                      </m:r>
                                    </m:sub>
                                  </m:sSub>
                                </m:e>
                              </m:d>
                            </m:e>
                            <m:sup>
                              <m:r>
                                <a:rPr lang="zh-CN" altLang="en-US" sz="2000" i="0">
                                  <a:latin typeface="Cambria Math" panose="02040503050406030204" pitchFamily="18" charset="0"/>
                                </a:rPr>
                                <m:t>2</m:t>
                              </m:r>
                            </m:sup>
                          </m:sSup>
                        </m:e>
                      </m:d>
                    </m:oMath>
                  </m:oMathPara>
                </a14:m>
                <a:endParaRPr lang="zh-CN" altLang="en-US" sz="2000" dirty="0"/>
              </a:p>
            </p:txBody>
          </p:sp>
        </mc:Choice>
        <mc:Fallback>
          <p:sp>
            <p:nvSpPr>
              <p:cNvPr id="1119" name="矩形 1118"/>
              <p:cNvSpPr>
                <a:spLocks noRot="1" noChangeAspect="1" noMove="1" noResize="1" noEditPoints="1" noAdjustHandles="1" noChangeArrowheads="1" noChangeShapeType="1" noTextEdit="1"/>
              </p:cNvSpPr>
              <p:nvPr/>
            </p:nvSpPr>
            <p:spPr>
              <a:xfrm>
                <a:off x="1664017" y="3854509"/>
                <a:ext cx="4150945" cy="400110"/>
              </a:xfrm>
              <a:prstGeom prst="rect">
                <a:avLst/>
              </a:prstGeom>
              <a:blipFill rotWithShape="1">
                <a:blip r:embed="rId2"/>
                <a:stretch>
                  <a:fillRect l="-8" t="-15" r="6" b="3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20" name="矩形 1119"/>
              <p:cNvSpPr/>
              <p:nvPr/>
            </p:nvSpPr>
            <p:spPr>
              <a:xfrm>
                <a:off x="1667017" y="3365016"/>
                <a:ext cx="3388748" cy="400110"/>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m:rPr>
                          <m:nor/>
                        </m:rPr>
                        <a:rPr lang="zh-CN" altLang="en-US" sz="2000">
                          <a:latin typeface="Cambria Math" panose="02040503050406030204" pitchFamily="18" charset="0"/>
                        </a:rPr>
                        <m:t>bias</m:t>
                      </m:r>
                      <m:d>
                        <m:dPr>
                          <m:ctrlPr>
                            <a:rPr lang="zh-CN" altLang="en-US" sz="2000" i="1">
                              <a:latin typeface="Cambria Math" panose="02040503050406030204" pitchFamily="18" charset="0"/>
                            </a:rPr>
                          </m:ctrlPr>
                        </m:dPr>
                        <m:e>
                          <m:acc>
                            <m:accPr>
                              <m:chr m:val="⃗"/>
                              <m:ctrlPr>
                                <a:rPr lang="zh-CN" altLang="en-US" sz="2000" i="1">
                                  <a:latin typeface="Cambria Math" panose="02040503050406030204" pitchFamily="18" charset="0"/>
                                </a:rPr>
                              </m:ctrlPr>
                            </m:accPr>
                            <m:e>
                              <m:r>
                                <a:rPr lang="zh-CN" altLang="en-US" sz="2000" i="1">
                                  <a:latin typeface="Cambria Math" panose="02040503050406030204" pitchFamily="18" charset="0"/>
                                </a:rPr>
                                <m:t>𝑥</m:t>
                              </m:r>
                            </m:e>
                          </m:acc>
                        </m:e>
                      </m:d>
                      <m:r>
                        <a:rPr lang="zh-CN" altLang="en-US" sz="2000" i="0">
                          <a:latin typeface="Cambria Math" panose="02040503050406030204" pitchFamily="18" charset="0"/>
                        </a:rPr>
                        <m:t>=</m:t>
                      </m:r>
                      <m:sSup>
                        <m:sSupPr>
                          <m:ctrlPr>
                            <a:rPr lang="zh-CN" altLang="en-US" sz="2000" i="1">
                              <a:latin typeface="Cambria Math" panose="02040503050406030204" pitchFamily="18" charset="0"/>
                            </a:rPr>
                          </m:ctrlPr>
                        </m:sSupPr>
                        <m:e>
                          <m:d>
                            <m:dPr>
                              <m:ctrlPr>
                                <a:rPr lang="zh-CN" altLang="en-US" sz="2000" i="1">
                                  <a:latin typeface="Cambria Math" panose="02040503050406030204" pitchFamily="18" charset="0"/>
                                </a:rPr>
                              </m:ctrlPr>
                            </m:dPr>
                            <m:e>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𝐸</m:t>
                                  </m:r>
                                </m:e>
                                <m:sub>
                                  <m:r>
                                    <a:rPr lang="zh-CN" altLang="en-US" sz="2000" i="1">
                                      <a:latin typeface="Cambria Math" panose="02040503050406030204" pitchFamily="18" charset="0"/>
                                    </a:rPr>
                                    <m:t>𝐷</m:t>
                                  </m:r>
                                </m:sub>
                              </m:sSub>
                              <m:d>
                                <m:dPr>
                                  <m:begChr m:val="["/>
                                  <m:endChr m:val="]"/>
                                  <m:ctrlPr>
                                    <a:rPr lang="zh-CN" altLang="en-US" sz="2000" i="1">
                                      <a:latin typeface="Cambria Math" panose="02040503050406030204" pitchFamily="18" charset="0"/>
                                    </a:rPr>
                                  </m:ctrlPr>
                                </m:dPr>
                                <m:e>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𝑓</m:t>
                                      </m:r>
                                    </m:e>
                                    <m:sub>
                                      <m:r>
                                        <a:rPr lang="zh-CN" altLang="en-US" sz="2000" i="1">
                                          <a:latin typeface="Cambria Math" panose="02040503050406030204" pitchFamily="18" charset="0"/>
                                        </a:rPr>
                                        <m:t>𝐷</m:t>
                                      </m:r>
                                    </m:sub>
                                  </m:sSub>
                                  <m:d>
                                    <m:dPr>
                                      <m:ctrlPr>
                                        <a:rPr lang="zh-CN" altLang="en-US" sz="2000" i="1">
                                          <a:latin typeface="Cambria Math" panose="02040503050406030204" pitchFamily="18" charset="0"/>
                                        </a:rPr>
                                      </m:ctrlPr>
                                    </m:dPr>
                                    <m:e>
                                      <m:acc>
                                        <m:accPr>
                                          <m:chr m:val="⃗"/>
                                          <m:ctrlPr>
                                            <a:rPr lang="zh-CN" altLang="en-US" sz="2000" i="1">
                                              <a:latin typeface="Cambria Math" panose="02040503050406030204" pitchFamily="18" charset="0"/>
                                            </a:rPr>
                                          </m:ctrlPr>
                                        </m:accPr>
                                        <m:e>
                                          <m:r>
                                            <a:rPr lang="zh-CN" altLang="en-US" sz="2000" i="1">
                                              <a:latin typeface="Cambria Math" panose="02040503050406030204" pitchFamily="18" charset="0"/>
                                            </a:rPr>
                                            <m:t>𝑥</m:t>
                                          </m:r>
                                        </m:e>
                                      </m:acc>
                                    </m:e>
                                  </m:d>
                                </m:e>
                              </m:d>
                              <m:r>
                                <a:rPr lang="zh-CN" altLang="en-US" sz="2000" i="0">
                                  <a:latin typeface="Cambria Math" panose="02040503050406030204" pitchFamily="18" charset="0"/>
                                </a:rPr>
                                <m:t>−</m:t>
                              </m:r>
                              <m:r>
                                <a:rPr lang="zh-CN" altLang="en-US" sz="2000" i="1">
                                  <a:latin typeface="Cambria Math" panose="02040503050406030204" pitchFamily="18" charset="0"/>
                                </a:rPr>
                                <m:t>𝑦</m:t>
                              </m:r>
                            </m:e>
                          </m:d>
                        </m:e>
                        <m:sup>
                          <m:r>
                            <a:rPr lang="zh-CN" altLang="en-US" sz="2000" i="0">
                              <a:latin typeface="Cambria Math" panose="02040503050406030204" pitchFamily="18" charset="0"/>
                            </a:rPr>
                            <m:t>2</m:t>
                          </m:r>
                        </m:sup>
                      </m:sSup>
                    </m:oMath>
                  </m:oMathPara>
                </a14:m>
                <a:endParaRPr lang="zh-CN" altLang="en-US" sz="2000" dirty="0"/>
              </a:p>
            </p:txBody>
          </p:sp>
        </mc:Choice>
        <mc:Fallback>
          <p:sp>
            <p:nvSpPr>
              <p:cNvPr id="1120" name="矩形 1119"/>
              <p:cNvSpPr>
                <a:spLocks noRot="1" noChangeAspect="1" noMove="1" noResize="1" noEditPoints="1" noAdjustHandles="1" noChangeArrowheads="1" noChangeShapeType="1" noTextEdit="1"/>
              </p:cNvSpPr>
              <p:nvPr/>
            </p:nvSpPr>
            <p:spPr>
              <a:xfrm>
                <a:off x="1667017" y="3365016"/>
                <a:ext cx="3388748" cy="400110"/>
              </a:xfrm>
              <a:prstGeom prst="rect">
                <a:avLst/>
              </a:prstGeom>
              <a:blipFill rotWithShape="1">
                <a:blip r:embed="rId3"/>
                <a:stretch>
                  <a:fillRect l="-4" t="-38" r="16" b="5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21" name="矩形 1120"/>
              <p:cNvSpPr/>
              <p:nvPr/>
            </p:nvSpPr>
            <p:spPr>
              <a:xfrm>
                <a:off x="1480704" y="5384907"/>
                <a:ext cx="4517570" cy="400110"/>
              </a:xfrm>
              <a:prstGeom prst="rect">
                <a:avLst/>
              </a:prstGeom>
            </p:spPr>
            <p:txBody>
              <a:bodyPr wrap="square">
                <a:spAutoFit/>
              </a:bodyPr>
              <a:lstStyle/>
              <a:p>
                <a14:m>
                  <m:oMathPara xmlns:m="http://schemas.openxmlformats.org/officeDocument/2006/math">
                    <m:oMathParaPr>
                      <m:jc m:val="centerGroup"/>
                    </m:oMathParaPr>
                    <m:oMath xmlns:m="http://schemas.openxmlformats.org/officeDocument/2006/math">
                      <m:r>
                        <m:rPr>
                          <m:nor/>
                        </m:rPr>
                        <a:rPr lang="zh-CN" altLang="en-US" sz="2000" smtClean="0">
                          <a:latin typeface="Cambria Math" panose="02040503050406030204" pitchFamily="18" charset="0"/>
                        </a:rPr>
                        <m:t>var</m:t>
                      </m:r>
                      <m:r>
                        <a:rPr lang="zh-CN" altLang="en-US" sz="2000" i="0">
                          <a:latin typeface="Cambria Math" panose="02040503050406030204" pitchFamily="18" charset="0"/>
                        </a:rPr>
                        <m:t>(</m:t>
                      </m:r>
                      <m:acc>
                        <m:accPr>
                          <m:chr m:val="⃗"/>
                          <m:ctrlPr>
                            <a:rPr lang="zh-CN" altLang="en-US" sz="2000" i="1">
                              <a:latin typeface="Cambria Math" panose="02040503050406030204" pitchFamily="18" charset="0"/>
                            </a:rPr>
                          </m:ctrlPr>
                        </m:accPr>
                        <m:e>
                          <m:r>
                            <a:rPr lang="zh-CN" altLang="en-US" sz="2000" i="1">
                              <a:latin typeface="Cambria Math" panose="02040503050406030204" pitchFamily="18" charset="0"/>
                            </a:rPr>
                            <m:t>𝑥</m:t>
                          </m:r>
                        </m:e>
                      </m:acc>
                      <m:r>
                        <a:rPr lang="zh-CN" altLang="en-US" sz="2000" i="0">
                          <a:latin typeface="Cambria Math" panose="02040503050406030204" pitchFamily="18" charset="0"/>
                        </a:rPr>
                        <m:t>)=</m:t>
                      </m:r>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𝐸</m:t>
                          </m:r>
                        </m:e>
                        <m:sub>
                          <m:r>
                            <a:rPr lang="zh-CN" altLang="en-US" sz="2000" i="1">
                              <a:latin typeface="Cambria Math" panose="02040503050406030204" pitchFamily="18" charset="0"/>
                            </a:rPr>
                            <m:t>𝐷</m:t>
                          </m:r>
                        </m:sub>
                      </m:sSub>
                      <m:d>
                        <m:dPr>
                          <m:begChr m:val="["/>
                          <m:endChr m:val="]"/>
                          <m:ctrlPr>
                            <a:rPr lang="zh-CN" altLang="en-US" sz="2000" i="1">
                              <a:latin typeface="Cambria Math" panose="02040503050406030204" pitchFamily="18" charset="0"/>
                            </a:rPr>
                          </m:ctrlPr>
                        </m:dPr>
                        <m:e>
                          <m:sSup>
                            <m:sSupPr>
                              <m:ctrlPr>
                                <a:rPr lang="zh-CN" altLang="en-US" sz="2000" i="1">
                                  <a:latin typeface="Cambria Math" panose="02040503050406030204" pitchFamily="18" charset="0"/>
                                </a:rPr>
                              </m:ctrlPr>
                            </m:sSupPr>
                            <m:e>
                              <m:d>
                                <m:dPr>
                                  <m:ctrlPr>
                                    <a:rPr lang="zh-CN" altLang="en-US" sz="2000" i="1">
                                      <a:latin typeface="Cambria Math" panose="02040503050406030204" pitchFamily="18" charset="0"/>
                                    </a:rPr>
                                  </m:ctrlPr>
                                </m:dPr>
                                <m:e>
                                  <m:d>
                                    <m:dPr>
                                      <m:begChr m:val=""/>
                                      <m:endChr m:val="]"/>
                                      <m:ctrlPr>
                                        <a:rPr lang="zh-CN" altLang="en-US" sz="2000" i="1">
                                          <a:latin typeface="Cambria Math" panose="02040503050406030204" pitchFamily="18" charset="0"/>
                                        </a:rPr>
                                      </m:ctrlPr>
                                    </m:dPr>
                                    <m:e>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𝑓</m:t>
                                          </m:r>
                                        </m:e>
                                        <m:sub>
                                          <m:r>
                                            <a:rPr lang="zh-CN" altLang="en-US" sz="2000" i="1">
                                              <a:latin typeface="Cambria Math" panose="02040503050406030204" pitchFamily="18" charset="0"/>
                                            </a:rPr>
                                            <m:t>𝐷</m:t>
                                          </m:r>
                                        </m:sub>
                                      </m:sSub>
                                      <m:r>
                                        <a:rPr lang="zh-CN" altLang="en-US" sz="2000" i="0">
                                          <a:latin typeface="Cambria Math" panose="02040503050406030204" pitchFamily="18" charset="0"/>
                                        </a:rPr>
                                        <m:t>(</m:t>
                                      </m:r>
                                      <m:acc>
                                        <m:accPr>
                                          <m:chr m:val="⃗"/>
                                          <m:ctrlPr>
                                            <a:rPr lang="zh-CN" altLang="en-US" sz="2000" i="1">
                                              <a:latin typeface="Cambria Math" panose="02040503050406030204" pitchFamily="18" charset="0"/>
                                            </a:rPr>
                                          </m:ctrlPr>
                                        </m:accPr>
                                        <m:e>
                                          <m:r>
                                            <a:rPr lang="zh-CN" altLang="en-US" sz="2000" i="1">
                                              <a:latin typeface="Cambria Math" panose="02040503050406030204" pitchFamily="18" charset="0"/>
                                            </a:rPr>
                                            <m:t>𝑥</m:t>
                                          </m:r>
                                        </m:e>
                                      </m:acc>
                                      <m:r>
                                        <a:rPr lang="zh-CN" altLang="en-US" sz="2000" i="0">
                                          <a:latin typeface="Cambria Math" panose="02040503050406030204" pitchFamily="18" charset="0"/>
                                        </a:rPr>
                                        <m:t>)−</m:t>
                                      </m:r>
                                      <m:sSub>
                                        <m:sSubPr>
                                          <m:ctrlPr>
                                            <a:rPr lang="zh-CN" altLang="en-US" sz="2000" i="1">
                                              <a:latin typeface="Cambria Math" panose="02040503050406030204" pitchFamily="18" charset="0"/>
                                            </a:rPr>
                                          </m:ctrlPr>
                                        </m:sSubPr>
                                        <m:e>
                                          <m:r>
                                            <a:rPr lang="en-US" altLang="zh-CN" sz="2000" b="0" i="1" smtClean="0">
                                              <a:latin typeface="Cambria Math" panose="02040503050406030204" pitchFamily="18" charset="0"/>
                                            </a:rPr>
                                            <m:t>𝐸</m:t>
                                          </m:r>
                                        </m:e>
                                        <m:sub>
                                          <m:r>
                                            <a:rPr lang="zh-CN" altLang="en-US" sz="2000" i="1">
                                              <a:latin typeface="Cambria Math" panose="02040503050406030204" pitchFamily="18" charset="0"/>
                                            </a:rPr>
                                            <m:t>𝐷</m:t>
                                          </m:r>
                                        </m:sub>
                                      </m:sSub>
                                      <m:r>
                                        <a:rPr lang="zh-CN" altLang="en-US" sz="2000" i="0">
                                          <a:latin typeface="Cambria Math" panose="02040503050406030204" pitchFamily="18" charset="0"/>
                                        </a:rPr>
                                        <m:t>[</m:t>
                                      </m:r>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𝑓</m:t>
                                          </m:r>
                                        </m:e>
                                        <m:sub>
                                          <m:r>
                                            <a:rPr lang="zh-CN" altLang="en-US" sz="2000" i="1">
                                              <a:latin typeface="Cambria Math" panose="02040503050406030204" pitchFamily="18" charset="0"/>
                                            </a:rPr>
                                            <m:t>𝐷</m:t>
                                          </m:r>
                                        </m:sub>
                                      </m:sSub>
                                      <m:r>
                                        <a:rPr lang="zh-CN" altLang="en-US" sz="2000" i="0">
                                          <a:latin typeface="Cambria Math" panose="02040503050406030204" pitchFamily="18" charset="0"/>
                                        </a:rPr>
                                        <m:t>(</m:t>
                                      </m:r>
                                      <m:acc>
                                        <m:accPr>
                                          <m:chr m:val="⃗"/>
                                          <m:ctrlPr>
                                            <a:rPr lang="zh-CN" altLang="en-US" sz="2000" i="1">
                                              <a:latin typeface="Cambria Math" panose="02040503050406030204" pitchFamily="18" charset="0"/>
                                            </a:rPr>
                                          </m:ctrlPr>
                                        </m:accPr>
                                        <m:e>
                                          <m:r>
                                            <a:rPr lang="zh-CN" altLang="en-US" sz="2000" i="1">
                                              <a:latin typeface="Cambria Math" panose="02040503050406030204" pitchFamily="18" charset="0"/>
                                            </a:rPr>
                                            <m:t>𝑥</m:t>
                                          </m:r>
                                        </m:e>
                                      </m:acc>
                                      <m:r>
                                        <a:rPr lang="zh-CN" altLang="en-US" sz="2000" i="0">
                                          <a:latin typeface="Cambria Math" panose="02040503050406030204" pitchFamily="18" charset="0"/>
                                        </a:rPr>
                                        <m:t>)</m:t>
                                      </m:r>
                                    </m:e>
                                  </m:d>
                                </m:e>
                              </m:d>
                            </m:e>
                            <m:sup>
                              <m:r>
                                <a:rPr lang="zh-CN" altLang="en-US" sz="2000" i="0">
                                  <a:latin typeface="Cambria Math" panose="02040503050406030204" pitchFamily="18" charset="0"/>
                                </a:rPr>
                                <m:t>2</m:t>
                              </m:r>
                            </m:sup>
                          </m:sSup>
                        </m:e>
                      </m:d>
                    </m:oMath>
                  </m:oMathPara>
                </a14:m>
                <a:endParaRPr lang="zh-CN" altLang="en-US" sz="2000" dirty="0"/>
              </a:p>
            </p:txBody>
          </p:sp>
        </mc:Choice>
        <mc:Fallback>
          <p:sp>
            <p:nvSpPr>
              <p:cNvPr id="1121" name="矩形 1120"/>
              <p:cNvSpPr>
                <a:spLocks noRot="1" noChangeAspect="1" noMove="1" noResize="1" noEditPoints="1" noAdjustHandles="1" noChangeArrowheads="1" noChangeShapeType="1" noTextEdit="1"/>
              </p:cNvSpPr>
              <p:nvPr/>
            </p:nvSpPr>
            <p:spPr>
              <a:xfrm>
                <a:off x="1480704" y="5384907"/>
                <a:ext cx="4517570" cy="400110"/>
              </a:xfrm>
              <a:prstGeom prst="rect">
                <a:avLst/>
              </a:prstGeom>
              <a:blipFill rotWithShape="1">
                <a:blip r:embed="rId4"/>
                <a:stretch>
                  <a:fillRect l="-11" t="-27" r="1" b="42"/>
                </a:stretch>
              </a:blipFill>
            </p:spPr>
            <p:txBody>
              <a:bodyPr/>
              <a:lstStyle/>
              <a:p>
                <a:r>
                  <a:rPr lang="zh-CN" altLang="en-US">
                    <a:noFill/>
                  </a:rPr>
                  <a:t> </a:t>
                </a:r>
              </a:p>
            </p:txBody>
          </p:sp>
        </mc:Fallback>
      </mc:AlternateContent>
      <p:sp>
        <p:nvSpPr>
          <p:cNvPr id="3" name="矩形 2"/>
          <p:cNvSpPr/>
          <p:nvPr/>
        </p:nvSpPr>
        <p:spPr>
          <a:xfrm>
            <a:off x="6781049" y="4917865"/>
            <a:ext cx="4116935" cy="923330"/>
          </a:xfrm>
          <a:prstGeom prst="rect">
            <a:avLst/>
          </a:prstGeom>
        </p:spPr>
        <p:txBody>
          <a:bodyPr wrap="square">
            <a:spAutoFit/>
          </a:bodyPr>
          <a:lstStyle/>
          <a:p>
            <a:r>
              <a:rPr lang="zh-CN" altLang="en-US" b="1" dirty="0"/>
              <a:t>方差的含义：方差度量了同样大小的</a:t>
            </a:r>
            <a:endParaRPr lang="en-US" altLang="zh-CN" b="1" dirty="0"/>
          </a:p>
          <a:p>
            <a:r>
              <a:rPr lang="zh-CN" altLang="en-US" b="1" dirty="0"/>
              <a:t>训练集的变动所导致的学习性能的变化，即刻画了数据扰动所造成的影响。</a:t>
            </a:r>
            <a:endParaRPr lang="zh-CN" altLang="en-US" dirty="0"/>
          </a:p>
        </p:txBody>
      </p:sp>
      <p:sp>
        <p:nvSpPr>
          <p:cNvPr id="4" name="矩形 3"/>
          <p:cNvSpPr/>
          <p:nvPr/>
        </p:nvSpPr>
        <p:spPr>
          <a:xfrm>
            <a:off x="6782985" y="2964906"/>
            <a:ext cx="3674426" cy="923330"/>
          </a:xfrm>
          <a:prstGeom prst="rect">
            <a:avLst/>
          </a:prstGeom>
        </p:spPr>
        <p:txBody>
          <a:bodyPr wrap="square">
            <a:spAutoFit/>
          </a:bodyPr>
          <a:lstStyle/>
          <a:p>
            <a:r>
              <a:rPr lang="zh-CN" altLang="en-US" b="1" dirty="0"/>
              <a:t>偏差的含义：偏差度量了学习算法的期望预测与真实结果的偏离程度，即刻画了学习算法本身的拟合能力。</a:t>
            </a:r>
            <a:endParaRPr lang="zh-CN" altLang="en-US" dirty="0"/>
          </a:p>
        </p:txBody>
      </p:sp>
      <p:sp>
        <p:nvSpPr>
          <p:cNvPr id="6" name="矩形 5"/>
          <p:cNvSpPr/>
          <p:nvPr/>
        </p:nvSpPr>
        <p:spPr>
          <a:xfrm>
            <a:off x="1753144" y="2820346"/>
            <a:ext cx="2954655" cy="369332"/>
          </a:xfrm>
          <a:prstGeom prst="rect">
            <a:avLst/>
          </a:prstGeom>
        </p:spPr>
        <p:txBody>
          <a:bodyPr wrap="none">
            <a:spAutoFit/>
          </a:bodyPr>
          <a:lstStyle/>
          <a:p>
            <a:r>
              <a:rPr lang="zh-CN" altLang="en-US" dirty="0"/>
              <a:t>期望输出与真实标记的差别</a:t>
            </a:r>
            <a:endParaRPr lang="zh-CN" altLang="en-US" dirty="0"/>
          </a:p>
        </p:txBody>
      </p:sp>
      <p:sp>
        <p:nvSpPr>
          <p:cNvPr id="7" name="矩形 6"/>
          <p:cNvSpPr/>
          <p:nvPr/>
        </p:nvSpPr>
        <p:spPr>
          <a:xfrm>
            <a:off x="1753144" y="4839250"/>
            <a:ext cx="4342856" cy="369332"/>
          </a:xfrm>
          <a:prstGeom prst="rect">
            <a:avLst/>
          </a:prstGeom>
        </p:spPr>
        <p:txBody>
          <a:bodyPr wrap="none">
            <a:spAutoFit/>
          </a:bodyPr>
          <a:lstStyle/>
          <a:p>
            <a:r>
              <a:rPr lang="zh-CN" altLang="en-US" dirty="0"/>
              <a:t>使用</a:t>
            </a:r>
            <a:r>
              <a:rPr lang="zh-CN" altLang="en-US" dirty="0">
                <a:hlinkClick r:id="rId5"/>
              </a:rPr>
              <a:t>样本数</a:t>
            </a:r>
            <a:r>
              <a:rPr lang="zh-CN" altLang="en-US" dirty="0"/>
              <a:t>相同的不同训练集产生的</a:t>
            </a:r>
            <a:r>
              <a:rPr lang="zh-CN" altLang="en-US" b="1" dirty="0"/>
              <a:t>方差</a:t>
            </a:r>
            <a:endParaRPr lang="zh-CN" altLang="en-US" dirty="0"/>
          </a:p>
        </p:txBody>
      </p:sp>
    </p:spTree>
  </p:cSld>
  <p:clrMapOvr>
    <a:masterClrMapping/>
  </p:clrMapOvr>
  <p:transition spd="slow">
    <p:fad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4000" b="1" dirty="0"/>
              <a:t>“偏差</a:t>
            </a:r>
            <a:r>
              <a:rPr lang="en-US" altLang="zh-CN" sz="4000" b="1" dirty="0"/>
              <a:t>-</a:t>
            </a:r>
            <a:r>
              <a:rPr lang="zh-CN" altLang="en-US" sz="4000" b="1" dirty="0"/>
              <a:t>方差分解”</a:t>
            </a:r>
            <a:endParaRPr lang="zh-CN" altLang="en-US" sz="4000" dirty="0"/>
          </a:p>
        </p:txBody>
      </p:sp>
      <p:sp>
        <p:nvSpPr>
          <p:cNvPr id="3" name="灯片编号占位符 2"/>
          <p:cNvSpPr>
            <a:spLocks noGrp="1"/>
          </p:cNvSpPr>
          <p:nvPr>
            <p:ph type="sldNum" sz="quarter" idx="12"/>
          </p:nvPr>
        </p:nvSpPr>
        <p:spPr/>
        <p:txBody>
          <a:bodyPr/>
          <a:lstStyle/>
          <a:p>
            <a:fld id="{FF206FCC-0CBB-4DF4-89C1-3C9DB4B6E776}" type="slidenum">
              <a:rPr lang="zh-CN" altLang="en-US" smtClean="0"/>
            </a:fld>
            <a:endParaRPr lang="zh-CN" altLang="en-US"/>
          </a:p>
        </p:txBody>
      </p:sp>
      <p:sp>
        <p:nvSpPr>
          <p:cNvPr id="4" name="矩形 3"/>
          <p:cNvSpPr/>
          <p:nvPr/>
        </p:nvSpPr>
        <p:spPr>
          <a:xfrm>
            <a:off x="1350961" y="1437517"/>
            <a:ext cx="9040926" cy="830997"/>
          </a:xfrm>
          <a:prstGeom prst="rect">
            <a:avLst/>
          </a:prstGeom>
        </p:spPr>
        <p:txBody>
          <a:bodyPr wrap="square">
            <a:spAutoFit/>
          </a:bodyPr>
          <a:lstStyle/>
          <a:p>
            <a:r>
              <a:rPr lang="zh-CN" altLang="en-US" sz="2400" b="1" dirty="0"/>
              <a:t>噪声的含义：噪声则表达了在当前任务上任何学习算法所能达到的期望泛化误差的下界，即刻画了学习问题本身的难度。</a:t>
            </a:r>
            <a:endParaRPr lang="zh-CN" altLang="en-US" sz="2400" dirty="0"/>
          </a:p>
        </p:txBody>
      </p:sp>
      <p:sp>
        <p:nvSpPr>
          <p:cNvPr id="6" name="矩形 5"/>
          <p:cNvSpPr/>
          <p:nvPr/>
        </p:nvSpPr>
        <p:spPr>
          <a:xfrm>
            <a:off x="1255221" y="4793451"/>
            <a:ext cx="9493135" cy="1015663"/>
          </a:xfrm>
          <a:prstGeom prst="rect">
            <a:avLst/>
          </a:prstGeom>
        </p:spPr>
        <p:txBody>
          <a:bodyPr wrap="square">
            <a:spAutoFit/>
          </a:bodyPr>
          <a:lstStyle/>
          <a:p>
            <a:pPr algn="just"/>
            <a:r>
              <a:rPr lang="zh-CN" altLang="en-US" sz="2000" b="1" dirty="0"/>
              <a:t>“偏差</a:t>
            </a:r>
            <a:r>
              <a:rPr lang="en-US" altLang="zh-CN" sz="2000" b="1" dirty="0"/>
              <a:t>-</a:t>
            </a:r>
            <a:r>
              <a:rPr lang="zh-CN" altLang="en-US" sz="2000" b="1" dirty="0"/>
              <a:t>方差分解”说明</a:t>
            </a:r>
            <a:r>
              <a:rPr lang="zh-CN" altLang="en-US" sz="2000" dirty="0"/>
              <a:t>，泛化性能是由学习算法的能力、数据的充分性以及学习任务本身的难度所共同决定的。给定学习任务，为了取得好的泛化性能，则需使偏差较小，即能够充分拟合数据，并且使方差较小，即使得数据扰动产生的影响小。</a:t>
            </a:r>
            <a:endParaRPr lang="zh-CN" altLang="en-US" sz="2000" dirty="0"/>
          </a:p>
        </p:txBody>
      </p:sp>
      <p:sp>
        <p:nvSpPr>
          <p:cNvPr id="7" name="矩形 6"/>
          <p:cNvSpPr/>
          <p:nvPr/>
        </p:nvSpPr>
        <p:spPr>
          <a:xfrm>
            <a:off x="1350962" y="3081627"/>
            <a:ext cx="9397394" cy="830997"/>
          </a:xfrm>
          <a:prstGeom prst="rect">
            <a:avLst/>
          </a:prstGeom>
        </p:spPr>
        <p:txBody>
          <a:bodyPr wrap="square">
            <a:spAutoFit/>
          </a:bodyPr>
          <a:lstStyle/>
          <a:p>
            <a:r>
              <a:rPr lang="zh-CN" altLang="en-US" sz="2400" dirty="0"/>
              <a:t>也就是说，泛化误差可以通过一系列公式分解运算证明：</a:t>
            </a:r>
            <a:endParaRPr lang="en-US" altLang="zh-CN" sz="2400" dirty="0"/>
          </a:p>
          <a:p>
            <a:r>
              <a:rPr lang="zh-CN" altLang="en-US" sz="2400" dirty="0"/>
              <a:t>泛化误差为偏差、方差与噪声之和。</a:t>
            </a:r>
            <a:endParaRPr lang="zh-CN" altLang="en-US" sz="2400" dirty="0"/>
          </a:p>
        </p:txBody>
      </p:sp>
      <mc:AlternateContent xmlns:mc="http://schemas.openxmlformats.org/markup-compatibility/2006">
        <mc:Choice xmlns:a14="http://schemas.microsoft.com/office/drawing/2010/main" Requires="a14">
          <p:sp>
            <p:nvSpPr>
              <p:cNvPr id="9" name="矩形 8"/>
              <p:cNvSpPr/>
              <p:nvPr/>
            </p:nvSpPr>
            <p:spPr>
              <a:xfrm>
                <a:off x="3198860" y="2395892"/>
                <a:ext cx="2969183" cy="461665"/>
              </a:xfrm>
              <a:prstGeom prst="rect">
                <a:avLst/>
              </a:prstGeom>
            </p:spPr>
            <p:txBody>
              <a:bodyPr wrap="square">
                <a:spAutoFit/>
              </a:bodyPr>
              <a:lstStyle/>
              <a:p>
                <a14:m>
                  <m:oMath xmlns:m="http://schemas.openxmlformats.org/officeDocument/2006/math">
                    <m:sSup>
                      <m:sSupPr>
                        <m:ctrlPr>
                          <a:rPr lang="el-GR" altLang="zh-CN" sz="2400" i="1" smtClean="0">
                            <a:latin typeface="Cambria Math" panose="02040503050406030204" pitchFamily="18" charset="0"/>
                            <a:ea typeface="Cambria Math" panose="02040503050406030204" pitchFamily="18" charset="0"/>
                          </a:rPr>
                        </m:ctrlPr>
                      </m:sSupPr>
                      <m:e>
                        <m:r>
                          <m:rPr>
                            <m:sty m:val="p"/>
                          </m:rPr>
                          <a:rPr lang="el-GR" altLang="zh-CN" sz="2400" i="1">
                            <a:latin typeface="Cambria Math" panose="02040503050406030204" pitchFamily="18" charset="0"/>
                            <a:ea typeface="Cambria Math" panose="02040503050406030204" pitchFamily="18" charset="0"/>
                          </a:rPr>
                          <m:t>ε</m:t>
                        </m:r>
                      </m:e>
                      <m:sup>
                        <m:r>
                          <a:rPr lang="en-US" altLang="zh-CN" sz="2400" b="0" i="1" smtClean="0">
                            <a:latin typeface="Cambria Math" panose="02040503050406030204" pitchFamily="18" charset="0"/>
                            <a:ea typeface="Cambria Math" panose="02040503050406030204" pitchFamily="18" charset="0"/>
                          </a:rPr>
                          <m:t>2</m:t>
                        </m:r>
                      </m:sup>
                    </m:sSup>
                    <m:r>
                      <a:rPr lang="zh-CN" altLang="en-US" sz="2400" i="0">
                        <a:latin typeface="Cambria Math" panose="02040503050406030204" pitchFamily="18" charset="0"/>
                      </a:rPr>
                      <m:t>=</m:t>
                    </m:r>
                    <m:sSup>
                      <m:sSupPr>
                        <m:ctrlPr>
                          <a:rPr lang="zh-CN" altLang="en-US" sz="2400" i="1">
                            <a:latin typeface="Cambria Math" panose="02040503050406030204" pitchFamily="18" charset="0"/>
                          </a:rPr>
                        </m:ctrlPr>
                      </m:sSupPr>
                      <m:e>
                        <m:r>
                          <a:rPr lang="en-US" altLang="zh-CN" sz="2400" b="0" i="1" smtClean="0">
                            <a:latin typeface="Cambria Math" panose="02040503050406030204" pitchFamily="18" charset="0"/>
                          </a:rPr>
                          <m:t>𝐸</m:t>
                        </m:r>
                        <m:r>
                          <a:rPr lang="en-US" altLang="zh-CN" sz="2400" b="0" i="1" baseline="-25000" smtClean="0">
                            <a:latin typeface="Cambria Math" panose="02040503050406030204" pitchFamily="18" charset="0"/>
                          </a:rPr>
                          <m:t>𝐷</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𝑦𝐷</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𝑦</m:t>
                        </m:r>
                        <m:r>
                          <a:rPr lang="en-US" altLang="zh-CN" sz="2400" b="0" i="1" smtClean="0">
                            <a:latin typeface="Cambria Math" panose="02040503050406030204" pitchFamily="18" charset="0"/>
                          </a:rPr>
                          <m:t>)</m:t>
                        </m:r>
                      </m:e>
                      <m:sup>
                        <m:r>
                          <a:rPr lang="zh-CN" altLang="en-US" sz="2400" i="0">
                            <a:latin typeface="Cambria Math" panose="02040503050406030204" pitchFamily="18" charset="0"/>
                          </a:rPr>
                          <m:t>2</m:t>
                        </m:r>
                      </m:sup>
                    </m:sSup>
                  </m:oMath>
                </a14:m>
                <a:r>
                  <a:rPr lang="en-US" altLang="zh-CN" sz="2400" dirty="0"/>
                  <a:t>]</a:t>
                </a:r>
                <a:endParaRPr lang="zh-CN" altLang="en-US" sz="2400" dirty="0"/>
              </a:p>
            </p:txBody>
          </p:sp>
        </mc:Choice>
        <mc:Fallback>
          <p:sp>
            <p:nvSpPr>
              <p:cNvPr id="9" name="矩形 8"/>
              <p:cNvSpPr>
                <a:spLocks noRot="1" noChangeAspect="1" noMove="1" noResize="1" noEditPoints="1" noAdjustHandles="1" noChangeArrowheads="1" noChangeShapeType="1" noTextEdit="1"/>
              </p:cNvSpPr>
              <p:nvPr/>
            </p:nvSpPr>
            <p:spPr>
              <a:xfrm>
                <a:off x="3198860" y="2395892"/>
                <a:ext cx="2969183" cy="461665"/>
              </a:xfrm>
              <a:prstGeom prst="rect">
                <a:avLst/>
              </a:prstGeom>
              <a:blipFill rotWithShape="1">
                <a:blip r:embed="rId1"/>
                <a:stretch>
                  <a:fillRect l="-12" t="-8" r="10" b="-604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矩形 9"/>
              <p:cNvSpPr/>
              <p:nvPr/>
            </p:nvSpPr>
            <p:spPr>
              <a:xfrm>
                <a:off x="1238597" y="4085957"/>
                <a:ext cx="6475614" cy="461665"/>
              </a:xfrm>
              <a:prstGeom prst="rect">
                <a:avLst/>
              </a:prstGeom>
            </p:spPr>
            <p:txBody>
              <a:bodyPr wrap="square">
                <a:spAutoFit/>
              </a:bodyPr>
              <a:lstStyle/>
              <a:p>
                <a14:m>
                  <m:oMathPara xmlns:m="http://schemas.openxmlformats.org/officeDocument/2006/math">
                    <m:oMathParaPr>
                      <m:jc m:val="centerGroup"/>
                    </m:oMathParaPr>
                    <m:oMath xmlns:m="http://schemas.openxmlformats.org/officeDocument/2006/math">
                      <m:sSup>
                        <m:sSupPr>
                          <m:ctrlPr>
                            <a:rPr lang="el-GR" altLang="zh-CN" sz="2400" i="1" smtClean="0">
                              <a:latin typeface="Cambria Math" panose="02040503050406030204" pitchFamily="18" charset="0"/>
                              <a:ea typeface="Cambria Math" panose="02040503050406030204" pitchFamily="18" charset="0"/>
                            </a:rPr>
                          </m:ctrlPr>
                        </m:sSupPr>
                        <m:e>
                          <m:r>
                            <a:rPr lang="zh-CN" altLang="en-US" sz="2400" i="1">
                              <a:latin typeface="Cambria Math" panose="02040503050406030204" pitchFamily="18" charset="0"/>
                              <a:ea typeface="Cambria Math" panose="02040503050406030204" pitchFamily="18" charset="0"/>
                            </a:rPr>
                            <m:t>泛</m:t>
                          </m:r>
                          <m:r>
                            <a:rPr lang="zh-CN" altLang="en-US" sz="2400" b="0" i="1" smtClean="0">
                              <a:latin typeface="Cambria Math" panose="02040503050406030204" pitchFamily="18" charset="0"/>
                              <a:ea typeface="Cambria Math" panose="02040503050406030204" pitchFamily="18" charset="0"/>
                            </a:rPr>
                            <m:t>化</m:t>
                          </m:r>
                          <m:r>
                            <a:rPr lang="zh-CN" altLang="en-US" sz="2400" i="1">
                              <a:latin typeface="Cambria Math" panose="02040503050406030204" pitchFamily="18" charset="0"/>
                              <a:ea typeface="Cambria Math" panose="02040503050406030204" pitchFamily="18" charset="0"/>
                            </a:rPr>
                            <m:t>误差</m:t>
                          </m:r>
                          <m:r>
                            <a:rPr lang="en-US" altLang="zh-CN" sz="2400" b="0" i="1" smtClean="0">
                              <a:latin typeface="Cambria Math" panose="02040503050406030204" pitchFamily="18" charset="0"/>
                              <a:ea typeface="Cambria Math" panose="02040503050406030204" pitchFamily="18" charset="0"/>
                            </a:rPr>
                            <m:t>=</m:t>
                          </m:r>
                          <m:r>
                            <a:rPr lang="zh-CN" altLang="en-US" sz="2400" i="1">
                              <a:latin typeface="Cambria Math" panose="02040503050406030204" pitchFamily="18" charset="0"/>
                              <a:ea typeface="Cambria Math" panose="02040503050406030204" pitchFamily="18" charset="0"/>
                            </a:rPr>
                            <m:t>错误率</m:t>
                          </m:r>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𝑏𝑖𝑎𝑠</m:t>
                          </m:r>
                          <m:r>
                            <a:rPr lang="en-US" altLang="zh-CN" sz="2400" b="0" i="1" baseline="30000" smtClean="0">
                              <a:latin typeface="Cambria Math" panose="02040503050406030204" pitchFamily="18" charset="0"/>
                              <a:ea typeface="Cambria Math" panose="02040503050406030204" pitchFamily="18" charset="0"/>
                            </a:rPr>
                            <m:t>2</m:t>
                          </m:r>
                          <m:d>
                            <m:dPr>
                              <m:ctrlPr>
                                <a:rPr lang="en-US" altLang="zh-CN" sz="2400" b="0" i="1" smtClean="0">
                                  <a:latin typeface="Cambria Math" panose="02040503050406030204" pitchFamily="18" charset="0"/>
                                  <a:ea typeface="Cambria Math" panose="02040503050406030204" pitchFamily="18" charset="0"/>
                                </a:rPr>
                              </m:ctrlPr>
                            </m:dPr>
                            <m:e>
                              <m:r>
                                <a:rPr lang="en-US" altLang="zh-CN" sz="2400" b="0" i="1" smtClean="0">
                                  <a:latin typeface="Cambria Math" panose="02040503050406030204" pitchFamily="18" charset="0"/>
                                  <a:ea typeface="Cambria Math" panose="02040503050406030204" pitchFamily="18" charset="0"/>
                                </a:rPr>
                                <m:t>𝑥</m:t>
                              </m:r>
                            </m:e>
                          </m:d>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𝑣𝑎𝑟</m:t>
                          </m:r>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𝑥</m:t>
                          </m:r>
                          <m:r>
                            <a:rPr lang="en-US" altLang="zh-CN" sz="2400" b="0" i="1" smtClean="0">
                              <a:latin typeface="Cambria Math" panose="02040503050406030204" pitchFamily="18" charset="0"/>
                              <a:ea typeface="Cambria Math" panose="02040503050406030204" pitchFamily="18" charset="0"/>
                            </a:rPr>
                            <m:t>)+</m:t>
                          </m:r>
                          <m:r>
                            <m:rPr>
                              <m:sty m:val="p"/>
                            </m:rPr>
                            <a:rPr lang="el-GR" altLang="zh-CN" sz="2400" i="1">
                              <a:latin typeface="Cambria Math" panose="02040503050406030204" pitchFamily="18" charset="0"/>
                              <a:ea typeface="Cambria Math" panose="02040503050406030204" pitchFamily="18" charset="0"/>
                            </a:rPr>
                            <m:t>ε</m:t>
                          </m:r>
                        </m:e>
                        <m:sup>
                          <m:r>
                            <a:rPr lang="en-US" altLang="zh-CN" sz="2400" b="0" i="1" smtClean="0">
                              <a:latin typeface="Cambria Math" panose="02040503050406030204" pitchFamily="18" charset="0"/>
                              <a:ea typeface="Cambria Math" panose="02040503050406030204" pitchFamily="18" charset="0"/>
                            </a:rPr>
                            <m:t>2</m:t>
                          </m:r>
                        </m:sup>
                      </m:sSup>
                    </m:oMath>
                  </m:oMathPara>
                </a14:m>
                <a:endParaRPr lang="zh-CN" altLang="en-US" sz="2400" dirty="0"/>
              </a:p>
            </p:txBody>
          </p:sp>
        </mc:Choice>
        <mc:Fallback>
          <p:sp>
            <p:nvSpPr>
              <p:cNvPr id="10" name="矩形 9"/>
              <p:cNvSpPr>
                <a:spLocks noRot="1" noChangeAspect="1" noMove="1" noResize="1" noEditPoints="1" noAdjustHandles="1" noChangeArrowheads="1" noChangeShapeType="1" noTextEdit="1"/>
              </p:cNvSpPr>
              <p:nvPr/>
            </p:nvSpPr>
            <p:spPr>
              <a:xfrm>
                <a:off x="1238597" y="4085957"/>
                <a:ext cx="6475614" cy="461665"/>
              </a:xfrm>
              <a:prstGeom prst="rect">
                <a:avLst/>
              </a:prstGeom>
              <a:blipFill rotWithShape="1">
                <a:blip r:embed="rId2"/>
                <a:stretch>
                  <a:fillRect l="-5" t="-6682" r="4" b="84"/>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09353" y="1428187"/>
            <a:ext cx="4981561" cy="869647"/>
          </a:xfrm>
        </p:spPr>
        <p:txBody>
          <a:bodyPr>
            <a:normAutofit/>
          </a:bodyPr>
          <a:lstStyle/>
          <a:p>
            <a:r>
              <a:rPr lang="zh-CN" altLang="en-US" sz="3600" dirty="0"/>
              <a:t>偏差</a:t>
            </a:r>
            <a:r>
              <a:rPr lang="en-US" altLang="zh-CN" sz="3600" dirty="0"/>
              <a:t>-</a:t>
            </a:r>
            <a:r>
              <a:rPr lang="zh-CN" altLang="en-US" sz="3600" dirty="0"/>
              <a:t>方差窘境</a:t>
            </a:r>
            <a:endParaRPr lang="zh-CN" altLang="en-US" sz="3600" dirty="0"/>
          </a:p>
        </p:txBody>
      </p:sp>
      <p:sp>
        <p:nvSpPr>
          <p:cNvPr id="5" name="文本框 4"/>
          <p:cNvSpPr txBox="1"/>
          <p:nvPr/>
        </p:nvSpPr>
        <p:spPr>
          <a:xfrm>
            <a:off x="591671" y="2574583"/>
            <a:ext cx="5873675" cy="1938992"/>
          </a:xfrm>
          <a:prstGeom prst="rect">
            <a:avLst/>
          </a:prstGeom>
          <a:noFill/>
        </p:spPr>
        <p:txBody>
          <a:bodyPr wrap="square">
            <a:spAutoFit/>
          </a:bodyPr>
          <a:lstStyle/>
          <a:p>
            <a:pPr indent="304800">
              <a:spcAft>
                <a:spcPts val="800"/>
              </a:spcAft>
            </a:pPr>
            <a:r>
              <a:rPr lang="zh-CN" altLang="en-US" sz="2400" dirty="0">
                <a:solidFill>
                  <a:srgbClr val="000000"/>
                </a:solidFill>
                <a:latin typeface="+mn-ea"/>
                <a:cs typeface="Times New Roman" panose="02020603050405020304" pitchFamily="18" charset="0"/>
              </a:rPr>
              <a:t>实际</a:t>
            </a:r>
            <a:r>
              <a:rPr lang="zh-CN" altLang="zh-CN" sz="2400" dirty="0"/>
              <a:t>在选择模型时，随着模型复杂度的增加，模型的偏差越来越小，而方差会越来越大</a:t>
            </a:r>
            <a:r>
              <a:rPr lang="zh-CN" altLang="en-US" sz="2400" dirty="0"/>
              <a:t>。如图所示，</a:t>
            </a:r>
            <a:r>
              <a:rPr lang="zh-CN" altLang="zh-CN" sz="2400" dirty="0"/>
              <a:t>存在某一时刻，模型的方差和偏差之和最小，此时模型性能在误差及泛化能力方面达到最优</a:t>
            </a:r>
            <a:r>
              <a:rPr lang="zh-CN" altLang="en-US" sz="2400" dirty="0"/>
              <a:t>。</a:t>
            </a:r>
            <a:endParaRPr lang="zh-CN" altLang="en-US" sz="2400" dirty="0">
              <a:latin typeface="+mn-ea"/>
            </a:endParaRPr>
          </a:p>
        </p:txBody>
      </p:sp>
      <p:pic>
        <p:nvPicPr>
          <p:cNvPr id="6" name="图片 5"/>
          <p:cNvPicPr/>
          <p:nvPr/>
        </p:nvPicPr>
        <p:blipFill>
          <a:blip r:embed="rId1" cstate="print">
            <a:extLst>
              <a:ext uri="{28A0092B-C50C-407E-A947-70E740481C1C}">
                <a14:useLocalDpi xmlns:a14="http://schemas.microsoft.com/office/drawing/2010/main" val="0"/>
              </a:ext>
            </a:extLst>
          </a:blip>
          <a:stretch>
            <a:fillRect/>
          </a:stretch>
        </p:blipFill>
        <p:spPr>
          <a:xfrm>
            <a:off x="6350434" y="1803862"/>
            <a:ext cx="4215042" cy="3374967"/>
          </a:xfrm>
          <a:prstGeom prst="rect">
            <a:avLst/>
          </a:prstGeom>
        </p:spPr>
      </p:pic>
      <p:sp>
        <p:nvSpPr>
          <p:cNvPr id="7" name="标题 1"/>
          <p:cNvSpPr txBox="1"/>
          <p:nvPr/>
        </p:nvSpPr>
        <p:spPr>
          <a:xfrm>
            <a:off x="222325" y="281792"/>
            <a:ext cx="8846371" cy="869647"/>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b="1" dirty="0"/>
              <a:t>四、 泛化误差、偏差和方差的关系</a:t>
            </a:r>
            <a:endParaRPr lang="zh-CN" altLang="en-US" sz="3600" b="1"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19382" y="496044"/>
            <a:ext cx="7875494" cy="667608"/>
          </a:xfrm>
        </p:spPr>
        <p:txBody>
          <a:bodyPr>
            <a:noAutofit/>
          </a:bodyPr>
          <a:lstStyle/>
          <a:p>
            <a:r>
              <a:rPr lang="zh-CN" altLang="en-US" sz="3200" b="1" dirty="0"/>
              <a:t>偏差、方差与过拟合、欠拟合的关系</a:t>
            </a:r>
            <a:endParaRPr lang="zh-CN" altLang="en-US" sz="3200" dirty="0"/>
          </a:p>
        </p:txBody>
      </p:sp>
      <p:sp>
        <p:nvSpPr>
          <p:cNvPr id="3" name="灯片编号占位符 2"/>
          <p:cNvSpPr>
            <a:spLocks noGrp="1"/>
          </p:cNvSpPr>
          <p:nvPr>
            <p:ph type="sldNum" sz="quarter" idx="12"/>
          </p:nvPr>
        </p:nvSpPr>
        <p:spPr/>
        <p:txBody>
          <a:bodyPr/>
          <a:lstStyle/>
          <a:p>
            <a:fld id="{FF206FCC-0CBB-4DF4-89C1-3C9DB4B6E776}" type="slidenum">
              <a:rPr lang="zh-CN" altLang="en-US" smtClean="0"/>
            </a:fld>
            <a:endParaRPr lang="zh-CN" altLang="en-US"/>
          </a:p>
        </p:txBody>
      </p:sp>
      <p:sp>
        <p:nvSpPr>
          <p:cNvPr id="4" name="矩形 3"/>
          <p:cNvSpPr/>
          <p:nvPr/>
        </p:nvSpPr>
        <p:spPr>
          <a:xfrm>
            <a:off x="731520" y="1372629"/>
            <a:ext cx="10622280" cy="4708981"/>
          </a:xfrm>
          <a:prstGeom prst="rect">
            <a:avLst/>
          </a:prstGeom>
        </p:spPr>
        <p:txBody>
          <a:bodyPr wrap="square">
            <a:spAutoFit/>
          </a:bodyPr>
          <a:lstStyle/>
          <a:p>
            <a:pPr>
              <a:spcBef>
                <a:spcPts val="600"/>
              </a:spcBef>
              <a:spcAft>
                <a:spcPts val="600"/>
              </a:spcAft>
            </a:pPr>
            <a:r>
              <a:rPr lang="zh-CN" altLang="en-US" sz="2400" dirty="0"/>
              <a:t>    一般来说，简单的模型会有一个较大的偏差和较小的方差，复杂的模型偏差较小方差较大。</a:t>
            </a:r>
            <a:endParaRPr lang="zh-CN" altLang="en-US" sz="2400" dirty="0"/>
          </a:p>
          <a:p>
            <a:pPr>
              <a:spcBef>
                <a:spcPts val="600"/>
              </a:spcBef>
              <a:spcAft>
                <a:spcPts val="600"/>
              </a:spcAft>
            </a:pPr>
            <a:r>
              <a:rPr lang="zh-CN" altLang="en-US" sz="2400" b="1" dirty="0"/>
              <a:t>欠拟合：模型不能适配训练样本，有一个很大的偏差。</a:t>
            </a:r>
            <a:endParaRPr lang="zh-CN" altLang="en-US" sz="2400" b="1" dirty="0"/>
          </a:p>
          <a:p>
            <a:pPr>
              <a:spcBef>
                <a:spcPts val="600"/>
              </a:spcBef>
              <a:spcAft>
                <a:spcPts val="600"/>
              </a:spcAft>
            </a:pPr>
            <a:r>
              <a:rPr lang="zh-CN" altLang="en-US" sz="2000" dirty="0"/>
              <a:t>举个例子：本质上是多项式的连续非线性数据，但模型只能表示线性关系。在此情况下，向模型提供多少数据不重要，因为模型根本无法表示数据的基本关系，模型不能适配训练样本，偏差很大，因此需要更复杂的模型。那么，是不是模型越复杂拟合程度越高越好呢？也不是，因为还有方差。</a:t>
            </a:r>
            <a:endParaRPr lang="zh-CN" altLang="en-US" sz="2000" dirty="0"/>
          </a:p>
          <a:p>
            <a:pPr>
              <a:spcBef>
                <a:spcPts val="600"/>
              </a:spcBef>
              <a:spcAft>
                <a:spcPts val="600"/>
              </a:spcAft>
            </a:pPr>
            <a:r>
              <a:rPr lang="zh-CN" altLang="en-US" sz="2400" b="1" dirty="0"/>
              <a:t>过拟合：模型很好的适配训练样本，但在测试集上表现很糟，有一个很大的方差。</a:t>
            </a:r>
            <a:endParaRPr lang="zh-CN" altLang="en-US" sz="2400" b="1" dirty="0"/>
          </a:p>
          <a:p>
            <a:pPr>
              <a:spcBef>
                <a:spcPts val="600"/>
              </a:spcBef>
              <a:spcAft>
                <a:spcPts val="600"/>
              </a:spcAft>
            </a:pPr>
            <a:r>
              <a:rPr lang="zh-CN" altLang="en-US" sz="2000" dirty="0"/>
              <a:t>方差就是指模型过于拟合训练数据，以至于没办法把模型的结果泛化。而泛化正是机器学习要解决的问题，如果一个模型只能对一组特定的数据有效，换了数据就无效，我们就说这个模型过拟合。这就是模型很好地适配训练样本，但在测试集上表现很糟，有一个很大的方差。</a:t>
            </a:r>
            <a:endParaRPr lang="zh-CN" altLang="en-US" sz="20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55002" y="514755"/>
            <a:ext cx="6755802" cy="955674"/>
          </a:xfrm>
        </p:spPr>
        <p:txBody>
          <a:bodyPr>
            <a:noAutofit/>
          </a:bodyPr>
          <a:lstStyle/>
          <a:p>
            <a:r>
              <a:rPr lang="zh-CN" altLang="en-US" sz="3200" b="1" dirty="0"/>
              <a:t>如何解决偏差、方差问题？</a:t>
            </a:r>
            <a:endParaRPr lang="zh-CN" altLang="en-US" sz="3200" dirty="0"/>
          </a:p>
        </p:txBody>
      </p:sp>
      <p:sp>
        <p:nvSpPr>
          <p:cNvPr id="3" name="灯片编号占位符 2"/>
          <p:cNvSpPr>
            <a:spLocks noGrp="1"/>
          </p:cNvSpPr>
          <p:nvPr>
            <p:ph type="sldNum" sz="quarter" idx="12"/>
          </p:nvPr>
        </p:nvSpPr>
        <p:spPr/>
        <p:txBody>
          <a:bodyPr/>
          <a:lstStyle/>
          <a:p>
            <a:fld id="{FF206FCC-0CBB-4DF4-89C1-3C9DB4B6E776}" type="slidenum">
              <a:rPr lang="zh-CN" altLang="en-US" smtClean="0"/>
            </a:fld>
            <a:endParaRPr lang="zh-CN" altLang="en-US"/>
          </a:p>
        </p:txBody>
      </p:sp>
      <p:sp>
        <p:nvSpPr>
          <p:cNvPr id="4" name="矩形 3"/>
          <p:cNvSpPr/>
          <p:nvPr/>
        </p:nvSpPr>
        <p:spPr>
          <a:xfrm>
            <a:off x="656705" y="1590730"/>
            <a:ext cx="10431088" cy="4015105"/>
          </a:xfrm>
          <a:prstGeom prst="rect">
            <a:avLst/>
          </a:prstGeom>
        </p:spPr>
        <p:txBody>
          <a:bodyPr wrap="square">
            <a:spAutoFit/>
          </a:bodyPr>
          <a:lstStyle/>
          <a:p>
            <a:pPr>
              <a:lnSpc>
                <a:spcPct val="150000"/>
              </a:lnSpc>
              <a:spcBef>
                <a:spcPts val="600"/>
              </a:spcBef>
            </a:pPr>
            <a:r>
              <a:rPr lang="zh-CN" altLang="en-US" sz="2000" b="1" dirty="0"/>
              <a:t>   整体思路：</a:t>
            </a:r>
            <a:r>
              <a:rPr lang="zh-CN" altLang="en-US" sz="2000" dirty="0"/>
              <a:t>首先，要知道偏差和方差是无法完全避免的，只能尽量减少其影响。 </a:t>
            </a:r>
            <a:endParaRPr lang="zh-CN" altLang="en-US" sz="2000" dirty="0"/>
          </a:p>
          <a:p>
            <a:pPr>
              <a:lnSpc>
                <a:spcPct val="150000"/>
              </a:lnSpc>
              <a:spcBef>
                <a:spcPts val="600"/>
              </a:spcBef>
            </a:pPr>
            <a:r>
              <a:rPr lang="zh-CN" altLang="en-US" sz="2000" dirty="0"/>
              <a:t>    （</a:t>
            </a:r>
            <a:r>
              <a:rPr lang="en-US" altLang="zh-CN" sz="2000" dirty="0"/>
              <a:t>1</a:t>
            </a:r>
            <a:r>
              <a:rPr lang="zh-CN" altLang="en-US" sz="2000" dirty="0"/>
              <a:t>）在避免偏差时，需尽量选择正确的模型。一个非线性问题一直用线性模型去解决，无论如何是无法避免高偏差的。</a:t>
            </a:r>
            <a:endParaRPr lang="zh-CN" altLang="en-US" sz="2000" dirty="0"/>
          </a:p>
          <a:p>
            <a:pPr>
              <a:lnSpc>
                <a:spcPct val="150000"/>
              </a:lnSpc>
              <a:spcBef>
                <a:spcPts val="600"/>
              </a:spcBef>
            </a:pPr>
            <a:r>
              <a:rPr lang="zh-CN" altLang="en-US" sz="2000" dirty="0"/>
              <a:t>    （</a:t>
            </a:r>
            <a:r>
              <a:rPr lang="en-US" altLang="zh-CN" sz="2000" dirty="0"/>
              <a:t>2</a:t>
            </a:r>
            <a:r>
              <a:rPr lang="zh-CN" altLang="en-US" sz="2000" dirty="0"/>
              <a:t>）有了正确的模型，还要慎重选择数据集的大小。通常数据集越大越好，当数据已经对整体所有数据有了一定的代表性后，再多的数据已经不能提升模型了，反而会带来计算量的增加。而训练数据太小一定是不好的，这会带来过拟合，模型复杂度太高，方差很大，不同数据集训练出来的模型变化非常大。</a:t>
            </a:r>
            <a:endParaRPr lang="zh-CN" altLang="en-US" sz="2000" dirty="0"/>
          </a:p>
          <a:p>
            <a:pPr>
              <a:lnSpc>
                <a:spcPct val="150000"/>
              </a:lnSpc>
              <a:spcBef>
                <a:spcPts val="600"/>
              </a:spcBef>
            </a:pPr>
            <a:r>
              <a:rPr lang="zh-CN" altLang="en-US" sz="2000" dirty="0"/>
              <a:t>    （</a:t>
            </a:r>
            <a:r>
              <a:rPr lang="en-US" altLang="zh-CN" sz="2000" dirty="0"/>
              <a:t>3</a:t>
            </a:r>
            <a:r>
              <a:rPr lang="zh-CN" altLang="en-US" sz="2000" dirty="0"/>
              <a:t>）选择合适的模型复杂度，复杂度高的模型通常对训练数据有很好的拟合能力。</a:t>
            </a:r>
            <a:endParaRPr lang="zh-CN" altLang="en-US" sz="20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38376" y="447875"/>
            <a:ext cx="6755802" cy="955674"/>
          </a:xfrm>
        </p:spPr>
        <p:txBody>
          <a:bodyPr>
            <a:noAutofit/>
          </a:bodyPr>
          <a:lstStyle/>
          <a:p>
            <a:r>
              <a:rPr lang="zh-CN" altLang="en-US" sz="3200" b="1" dirty="0"/>
              <a:t>如何解决偏差、方差问题？</a:t>
            </a:r>
            <a:endParaRPr lang="zh-CN" altLang="en-US" sz="3200" dirty="0"/>
          </a:p>
        </p:txBody>
      </p:sp>
      <p:sp>
        <p:nvSpPr>
          <p:cNvPr id="3" name="灯片编号占位符 2"/>
          <p:cNvSpPr>
            <a:spLocks noGrp="1"/>
          </p:cNvSpPr>
          <p:nvPr>
            <p:ph type="sldNum" sz="quarter" idx="12"/>
          </p:nvPr>
        </p:nvSpPr>
        <p:spPr/>
        <p:txBody>
          <a:bodyPr/>
          <a:lstStyle/>
          <a:p>
            <a:fld id="{FF206FCC-0CBB-4DF4-89C1-3C9DB4B6E776}" type="slidenum">
              <a:rPr lang="zh-CN" altLang="en-US" smtClean="0"/>
            </a:fld>
            <a:endParaRPr lang="zh-CN" altLang="en-US"/>
          </a:p>
        </p:txBody>
      </p:sp>
      <p:sp>
        <p:nvSpPr>
          <p:cNvPr id="4" name="矩形 3"/>
          <p:cNvSpPr/>
          <p:nvPr/>
        </p:nvSpPr>
        <p:spPr>
          <a:xfrm>
            <a:off x="1084239" y="1403549"/>
            <a:ext cx="9963376" cy="4815998"/>
          </a:xfrm>
          <a:prstGeom prst="rect">
            <a:avLst/>
          </a:prstGeom>
        </p:spPr>
        <p:txBody>
          <a:bodyPr wrap="square">
            <a:spAutoFit/>
          </a:bodyPr>
          <a:lstStyle/>
          <a:p>
            <a:pPr>
              <a:lnSpc>
                <a:spcPct val="150000"/>
              </a:lnSpc>
              <a:spcBef>
                <a:spcPts val="600"/>
              </a:spcBef>
            </a:pPr>
            <a:r>
              <a:rPr lang="zh-CN" altLang="en-US" sz="2000" b="1" dirty="0"/>
              <a:t>针对偏差和方差的思路：</a:t>
            </a:r>
            <a:endParaRPr lang="zh-CN" altLang="en-US" sz="2000" dirty="0"/>
          </a:p>
          <a:p>
            <a:pPr>
              <a:lnSpc>
                <a:spcPct val="150000"/>
              </a:lnSpc>
              <a:spcBef>
                <a:spcPts val="600"/>
              </a:spcBef>
            </a:pPr>
            <a:r>
              <a:rPr lang="zh-CN" altLang="en-US" sz="2000" b="1" dirty="0"/>
              <a:t>    偏差：</a:t>
            </a:r>
            <a:r>
              <a:rPr lang="zh-CN" altLang="en-US" sz="2000" dirty="0"/>
              <a:t>实际上也可以称为避免欠拟合。 </a:t>
            </a:r>
            <a:endParaRPr lang="zh-CN" altLang="en-US" sz="2000" dirty="0"/>
          </a:p>
          <a:p>
            <a:pPr>
              <a:lnSpc>
                <a:spcPct val="150000"/>
              </a:lnSpc>
              <a:spcBef>
                <a:spcPts val="600"/>
              </a:spcBef>
            </a:pPr>
            <a:r>
              <a:rPr lang="en-US" altLang="zh-CN" sz="2000" dirty="0"/>
              <a:t>             1.</a:t>
            </a:r>
            <a:r>
              <a:rPr lang="zh-CN" altLang="en-US" sz="2000" dirty="0"/>
              <a:t>寻找更好的特征 </a:t>
            </a:r>
            <a:r>
              <a:rPr lang="en-US" altLang="zh-CN" sz="2000" dirty="0"/>
              <a:t>-- </a:t>
            </a:r>
            <a:r>
              <a:rPr lang="zh-CN" altLang="en-US" sz="2000" dirty="0"/>
              <a:t>具有代表性。 </a:t>
            </a:r>
            <a:endParaRPr lang="zh-CN" altLang="en-US" sz="2000" dirty="0"/>
          </a:p>
          <a:p>
            <a:pPr>
              <a:lnSpc>
                <a:spcPct val="150000"/>
              </a:lnSpc>
              <a:spcBef>
                <a:spcPts val="600"/>
              </a:spcBef>
            </a:pPr>
            <a:r>
              <a:rPr lang="en-US" altLang="zh-CN" sz="2000" dirty="0"/>
              <a:t>             2.</a:t>
            </a:r>
            <a:r>
              <a:rPr lang="zh-CN" altLang="en-US" sz="2000" dirty="0"/>
              <a:t>更多的特征 </a:t>
            </a:r>
            <a:r>
              <a:rPr lang="en-US" altLang="zh-CN" sz="2000" dirty="0"/>
              <a:t>-- </a:t>
            </a:r>
            <a:r>
              <a:rPr lang="zh-CN" altLang="en-US" sz="2000" dirty="0"/>
              <a:t>增大输入向量的维度，增加模型复杂度。</a:t>
            </a:r>
            <a:endParaRPr lang="zh-CN" altLang="en-US" sz="2000" dirty="0"/>
          </a:p>
          <a:p>
            <a:pPr>
              <a:lnSpc>
                <a:spcPct val="150000"/>
              </a:lnSpc>
              <a:spcBef>
                <a:spcPts val="600"/>
              </a:spcBef>
            </a:pPr>
            <a:r>
              <a:rPr lang="zh-CN" altLang="en-US" sz="2000" b="1" dirty="0"/>
              <a:t>    方差：</a:t>
            </a:r>
            <a:r>
              <a:rPr lang="zh-CN" altLang="en-US" sz="2000" dirty="0"/>
              <a:t>避免过拟合 。</a:t>
            </a:r>
            <a:endParaRPr lang="zh-CN" altLang="en-US" sz="2000" dirty="0"/>
          </a:p>
          <a:p>
            <a:pPr>
              <a:lnSpc>
                <a:spcPct val="150000"/>
              </a:lnSpc>
              <a:spcBef>
                <a:spcPts val="600"/>
              </a:spcBef>
            </a:pPr>
            <a:r>
              <a:rPr lang="en-US" altLang="zh-CN" sz="2000" dirty="0"/>
              <a:t>             1.</a:t>
            </a:r>
            <a:r>
              <a:rPr lang="zh-CN" altLang="en-US" sz="2000" dirty="0"/>
              <a:t>增大数据集合 </a:t>
            </a:r>
            <a:r>
              <a:rPr lang="en-US" altLang="zh-CN" sz="2000" dirty="0"/>
              <a:t>-- </a:t>
            </a:r>
            <a:r>
              <a:rPr lang="zh-CN" altLang="en-US" sz="2000" dirty="0"/>
              <a:t>使用更多的数据，减少数据扰动所造成的影响</a:t>
            </a:r>
            <a:endParaRPr lang="zh-CN" altLang="en-US" sz="2000" dirty="0"/>
          </a:p>
          <a:p>
            <a:pPr>
              <a:lnSpc>
                <a:spcPct val="150000"/>
              </a:lnSpc>
              <a:spcBef>
                <a:spcPts val="600"/>
              </a:spcBef>
            </a:pPr>
            <a:r>
              <a:rPr lang="en-US" altLang="zh-CN" sz="2000" dirty="0"/>
              <a:t>             2.</a:t>
            </a:r>
            <a:r>
              <a:rPr lang="zh-CN" altLang="en-US" sz="2000" dirty="0"/>
              <a:t>减少数据特征 </a:t>
            </a:r>
            <a:r>
              <a:rPr lang="en-US" altLang="zh-CN" sz="2000" dirty="0"/>
              <a:t>-- </a:t>
            </a:r>
            <a:r>
              <a:rPr lang="zh-CN" altLang="en-US" sz="2000" dirty="0"/>
              <a:t>减少数据维度，减少模型复杂度</a:t>
            </a:r>
            <a:endParaRPr lang="zh-CN" altLang="en-US" sz="2000" dirty="0"/>
          </a:p>
          <a:p>
            <a:pPr>
              <a:lnSpc>
                <a:spcPct val="150000"/>
              </a:lnSpc>
              <a:spcBef>
                <a:spcPts val="600"/>
              </a:spcBef>
            </a:pPr>
            <a:r>
              <a:rPr lang="en-US" altLang="zh-CN" sz="2000" dirty="0"/>
              <a:t>             3.</a:t>
            </a:r>
            <a:r>
              <a:rPr lang="zh-CN" altLang="en-US" sz="2000" dirty="0"/>
              <a:t>正则化方法 </a:t>
            </a:r>
            <a:endParaRPr lang="zh-CN" altLang="en-US" sz="2000" dirty="0"/>
          </a:p>
          <a:p>
            <a:pPr>
              <a:lnSpc>
                <a:spcPct val="150000"/>
              </a:lnSpc>
              <a:spcBef>
                <a:spcPts val="600"/>
              </a:spcBef>
            </a:pPr>
            <a:r>
              <a:rPr lang="en-US" altLang="zh-CN" sz="2000" dirty="0"/>
              <a:t>             4.</a:t>
            </a:r>
            <a:r>
              <a:rPr lang="zh-CN" altLang="en-US" sz="2000" dirty="0"/>
              <a:t>交叉验证法</a:t>
            </a:r>
            <a:endParaRPr lang="zh-CN" altLang="en-US" sz="20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39431" y="578987"/>
            <a:ext cx="10059296" cy="955674"/>
          </a:xfrm>
        </p:spPr>
        <p:txBody>
          <a:bodyPr>
            <a:normAutofit/>
          </a:bodyPr>
          <a:lstStyle/>
          <a:p>
            <a:r>
              <a:rPr lang="zh-CN" altLang="en-US" sz="3200" b="1" dirty="0"/>
              <a:t>偏差、方差与</a:t>
            </a:r>
            <a:r>
              <a:rPr lang="en-US" altLang="zh-CN" sz="3200" b="1" dirty="0"/>
              <a:t>bagging</a:t>
            </a:r>
            <a:r>
              <a:rPr lang="zh-CN" altLang="en-US" sz="3200" b="1" dirty="0"/>
              <a:t>、</a:t>
            </a:r>
            <a:r>
              <a:rPr lang="en-US" altLang="zh-CN" sz="3200" b="1" dirty="0"/>
              <a:t>boosting</a:t>
            </a:r>
            <a:r>
              <a:rPr lang="zh-CN" altLang="en-US" sz="3200" b="1" dirty="0"/>
              <a:t>的关系</a:t>
            </a:r>
            <a:endParaRPr lang="zh-CN" altLang="en-US" sz="3200" dirty="0"/>
          </a:p>
        </p:txBody>
      </p:sp>
      <p:sp>
        <p:nvSpPr>
          <p:cNvPr id="3" name="灯片编号占位符 2"/>
          <p:cNvSpPr>
            <a:spLocks noGrp="1"/>
          </p:cNvSpPr>
          <p:nvPr>
            <p:ph type="sldNum" sz="quarter" idx="12"/>
          </p:nvPr>
        </p:nvSpPr>
        <p:spPr/>
        <p:txBody>
          <a:bodyPr/>
          <a:lstStyle/>
          <a:p>
            <a:fld id="{FF206FCC-0CBB-4DF4-89C1-3C9DB4B6E776}" type="slidenum">
              <a:rPr lang="zh-CN" altLang="en-US" smtClean="0"/>
            </a:fld>
            <a:endParaRPr lang="zh-CN" altLang="en-US"/>
          </a:p>
        </p:txBody>
      </p:sp>
      <p:sp>
        <p:nvSpPr>
          <p:cNvPr id="4" name="矩形 3"/>
          <p:cNvSpPr/>
          <p:nvPr/>
        </p:nvSpPr>
        <p:spPr>
          <a:xfrm>
            <a:off x="872633" y="1393613"/>
            <a:ext cx="10682058" cy="4293483"/>
          </a:xfrm>
          <a:prstGeom prst="rect">
            <a:avLst/>
          </a:prstGeom>
        </p:spPr>
        <p:txBody>
          <a:bodyPr wrap="square">
            <a:spAutoFit/>
          </a:bodyPr>
          <a:lstStyle/>
          <a:p>
            <a:pPr algn="just">
              <a:lnSpc>
                <a:spcPct val="150000"/>
              </a:lnSpc>
            </a:pPr>
            <a:endParaRPr lang="zh-CN" altLang="en-US" b="1" dirty="0"/>
          </a:p>
          <a:p>
            <a:pPr indent="457200" algn="just">
              <a:lnSpc>
                <a:spcPct val="150000"/>
              </a:lnSpc>
              <a:spcBef>
                <a:spcPts val="1200"/>
              </a:spcBef>
              <a:spcAft>
                <a:spcPts val="1200"/>
              </a:spcAft>
            </a:pPr>
            <a:r>
              <a:rPr lang="en-US" altLang="zh-CN" sz="2400" b="1" dirty="0"/>
              <a:t>Bagging</a:t>
            </a:r>
            <a:r>
              <a:rPr lang="zh-CN" altLang="en-US" sz="2400" dirty="0"/>
              <a:t>算法是对训练样本进行采样，产生出若干不同的子集，再从每个数据子集中训练出一个</a:t>
            </a:r>
            <a:r>
              <a:rPr lang="zh-CN" altLang="en-US" sz="2400" dirty="0">
                <a:hlinkClick r:id="rId1"/>
              </a:rPr>
              <a:t>分类器</a:t>
            </a:r>
            <a:r>
              <a:rPr lang="zh-CN" altLang="en-US" sz="2400" dirty="0"/>
              <a:t>，取这些分类器的平均，所以是降低模型的</a:t>
            </a:r>
            <a:r>
              <a:rPr lang="zh-CN" altLang="en-US" sz="2400" b="1" dirty="0"/>
              <a:t>方差</a:t>
            </a:r>
            <a:r>
              <a:rPr lang="zh-CN" altLang="en-US" sz="2400" dirty="0"/>
              <a:t>（</a:t>
            </a:r>
            <a:r>
              <a:rPr lang="en-US" altLang="zh-CN" sz="2400" dirty="0"/>
              <a:t>variance</a:t>
            </a:r>
            <a:r>
              <a:rPr lang="zh-CN" altLang="en-US" sz="2400" dirty="0"/>
              <a:t>）。</a:t>
            </a:r>
            <a:r>
              <a:rPr lang="en-US" altLang="zh-CN" sz="2400" dirty="0"/>
              <a:t>Bagging</a:t>
            </a:r>
            <a:r>
              <a:rPr lang="zh-CN" altLang="en-US" sz="2400" dirty="0"/>
              <a:t>算法和</a:t>
            </a:r>
            <a:r>
              <a:rPr lang="en-US" altLang="zh-CN" sz="2400" dirty="0"/>
              <a:t>Random Forest</a:t>
            </a:r>
            <a:r>
              <a:rPr lang="zh-CN" altLang="en-US" sz="2400" dirty="0"/>
              <a:t>这种并行算法都有这个效果。</a:t>
            </a:r>
            <a:endParaRPr lang="zh-CN" altLang="en-US" sz="2400" dirty="0"/>
          </a:p>
          <a:p>
            <a:pPr indent="457200" algn="just">
              <a:lnSpc>
                <a:spcPct val="150000"/>
              </a:lnSpc>
              <a:spcBef>
                <a:spcPts val="1200"/>
              </a:spcBef>
              <a:spcAft>
                <a:spcPts val="1200"/>
              </a:spcAft>
            </a:pPr>
            <a:r>
              <a:rPr lang="en-US" altLang="zh-CN" sz="2400" b="1" dirty="0"/>
              <a:t>Boosting</a:t>
            </a:r>
            <a:r>
              <a:rPr lang="zh-CN" altLang="en-US" sz="2400" dirty="0"/>
              <a:t>则是迭代算法，每一次迭代都根据上一次迭代的预测结果对样本进行权重调整，所以随着迭代不断进行，误差会越来越小，所以模型的</a:t>
            </a:r>
            <a:r>
              <a:rPr lang="zh-CN" altLang="en-US" sz="2400" b="1" dirty="0"/>
              <a:t>偏差</a:t>
            </a:r>
            <a:r>
              <a:rPr lang="zh-CN" altLang="en-US" sz="2400" dirty="0"/>
              <a:t>（</a:t>
            </a:r>
            <a:r>
              <a:rPr lang="en-US" altLang="zh-CN" sz="2400" dirty="0"/>
              <a:t>bias</a:t>
            </a:r>
            <a:r>
              <a:rPr lang="zh-CN" altLang="en-US" sz="2400" dirty="0"/>
              <a:t>）会不断降低。</a:t>
            </a:r>
            <a:endParaRPr lang="zh-CN" altLang="en-US" sz="24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custDataLst>
              <p:tags r:id="rId1"/>
            </p:custDataLst>
          </p:nvPr>
        </p:nvSpPr>
        <p:spPr>
          <a:xfrm>
            <a:off x="1524000" y="729885"/>
            <a:ext cx="8471770" cy="2143125"/>
          </a:xfrm>
          <a:prstGeom prst="rect">
            <a:avLst/>
          </a:prstGeom>
          <a:noFill/>
        </p:spPr>
        <p:txBody>
          <a:bodyPr vert="horz" wrap="square" rtlCol="0" anchor="ctr" anchorCtr="0">
            <a:noAutofit/>
          </a:bodyPr>
          <a:lstStyle/>
          <a:p>
            <a:r>
              <a:rPr lang="en-US" altLang="zh-CN" sz="2800" dirty="0"/>
              <a:t>6. </a:t>
            </a:r>
            <a:r>
              <a:rPr lang="zh-CN" altLang="en-US" sz="2800" dirty="0"/>
              <a:t>低方差的优化结果比高方差的优化结果更集中（）</a:t>
            </a:r>
            <a:r>
              <a:rPr lang="zh-CN" altLang="zh-CN" sz="2800" dirty="0"/>
              <a:t>。</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 name="TextBox 3"/>
          <p:cNvSpPr txBox="1"/>
          <p:nvPr>
            <p:custDataLst>
              <p:tags r:id="rId2"/>
            </p:custDataLst>
          </p:nvPr>
        </p:nvSpPr>
        <p:spPr>
          <a:xfrm>
            <a:off x="3352800" y="2786063"/>
            <a:ext cx="64008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错误</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 name="TextBox 4"/>
          <p:cNvSpPr txBox="1"/>
          <p:nvPr>
            <p:custDataLst>
              <p:tags r:id="rId3"/>
            </p:custDataLst>
          </p:nvPr>
        </p:nvSpPr>
        <p:spPr>
          <a:xfrm>
            <a:off x="3352800" y="3643313"/>
            <a:ext cx="64008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正确</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 name="椭圆 7"/>
          <p:cNvSpPr>
            <a:spLocks noChangeAspect="1"/>
          </p:cNvSpPr>
          <p:nvPr>
            <p:custDataLst>
              <p:tags r:id="rId4"/>
            </p:custDataLst>
          </p:nvPr>
        </p:nvSpPr>
        <p:spPr>
          <a:xfrm>
            <a:off x="2638425" y="28503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A</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 name="椭圆 8"/>
          <p:cNvSpPr>
            <a:spLocks noChangeAspect="1"/>
          </p:cNvSpPr>
          <p:nvPr>
            <p:custDataLst>
              <p:tags r:id="rId5"/>
            </p:custDataLst>
          </p:nvPr>
        </p:nvSpPr>
        <p:spPr>
          <a:xfrm>
            <a:off x="2638425" y="370760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B</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圆角矩形 11"/>
          <p:cNvSpPr/>
          <p:nvPr>
            <p:custDataLst>
              <p:tags r:id="rId6"/>
            </p:custDataLst>
          </p:nvPr>
        </p:nvSpPr>
        <p:spPr>
          <a:xfrm>
            <a:off x="7696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17" name="组合 16"/>
          <p:cNvGrpSpPr/>
          <p:nvPr>
            <p:custDataLst>
              <p:tags r:id="rId7"/>
            </p:custDataLst>
          </p:nvPr>
        </p:nvGrpSpPr>
        <p:grpSpPr>
          <a:xfrm>
            <a:off x="0" y="0"/>
            <a:ext cx="9144000" cy="635000"/>
            <a:chOff x="-1524000" y="0"/>
            <a:chExt cx="9144000" cy="635000"/>
          </a:xfrm>
        </p:grpSpPr>
        <p:sp>
          <p:nvSpPr>
            <p:cNvPr id="13" name="TitleBackground"/>
            <p:cNvSpPr/>
            <p:nvPr>
              <p:custDataLst>
                <p:tags r:id="rId8"/>
              </p:custDataLst>
            </p:nvPr>
          </p:nvSpPr>
          <p:spPr>
            <a:xfrm>
              <a:off x="-152400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9"/>
              </p:custDataLst>
            </p:nvPr>
          </p:nvSpPr>
          <p:spPr>
            <a:xfrm>
              <a:off x="-152400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0"/>
              </p:custDataLst>
            </p:nvPr>
          </p:nvSpPr>
          <p:spPr>
            <a:xfrm>
              <a:off x="-1270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6" name="TipText"/>
            <p:cNvSpPr txBox="1"/>
            <p:nvPr>
              <p:custDataLst>
                <p:tags r:id="rId11"/>
              </p:custDataLst>
            </p:nvPr>
          </p:nvSpPr>
          <p:spPr>
            <a:xfrm>
              <a:off x="1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endPar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pic>
        <p:nvPicPr>
          <p:cNvPr id="2" name="图片 1"/>
          <p:cNvPicPr/>
          <p:nvPr>
            <p:custDataLst>
              <p:tags r:id="rId12"/>
            </p:custDataLst>
          </p:nvPr>
        </p:nvPicPr>
        <p:blipFill>
          <a:blip r:embed="rId13">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4"/>
    </p:custData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custDataLst>
              <p:tags r:id="rId1"/>
            </p:custDataLst>
          </p:nvPr>
        </p:nvSpPr>
        <p:spPr>
          <a:xfrm>
            <a:off x="1524000" y="729885"/>
            <a:ext cx="8471770" cy="2143125"/>
          </a:xfrm>
          <a:prstGeom prst="rect">
            <a:avLst/>
          </a:prstGeom>
          <a:noFill/>
        </p:spPr>
        <p:txBody>
          <a:bodyPr vert="horz" wrap="square"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rPr>
              <a:t>7. </a:t>
            </a:r>
            <a:r>
              <a:rPr kumimoji="0" lang="zh-CN" altLang="en-US" sz="28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rPr>
              <a:t>模型的方差与偏差之和越大，模型的性能误差越小，泛化能力越强。（）</a:t>
            </a:r>
            <a:r>
              <a:rPr kumimoji="0" lang="zh-CN" altLang="zh-CN" sz="28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rPr>
              <a:t>。</a:t>
            </a:r>
            <a:endParaRPr kumimoji="0" lang="zh-CN" altLang="en-US" sz="2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4" name="TextBox 3"/>
          <p:cNvSpPr txBox="1"/>
          <p:nvPr>
            <p:custDataLst>
              <p:tags r:id="rId2"/>
            </p:custDataLst>
          </p:nvPr>
        </p:nvSpPr>
        <p:spPr>
          <a:xfrm>
            <a:off x="3352800" y="2786063"/>
            <a:ext cx="6400800" cy="642938"/>
          </a:xfrm>
          <a:prstGeom prst="rect">
            <a:avLst/>
          </a:prstGeom>
          <a:noFill/>
        </p:spPr>
        <p:txBody>
          <a:bodyPr vert="horz"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正确</a:t>
            </a:r>
            <a:endParaRPr kumimoji="0" lang="zh-CN" altLang="en-US" sz="2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5" name="TextBox 4"/>
          <p:cNvSpPr txBox="1"/>
          <p:nvPr>
            <p:custDataLst>
              <p:tags r:id="rId3"/>
            </p:custDataLst>
          </p:nvPr>
        </p:nvSpPr>
        <p:spPr>
          <a:xfrm>
            <a:off x="3352800" y="3643313"/>
            <a:ext cx="6400800" cy="642938"/>
          </a:xfrm>
          <a:prstGeom prst="rect">
            <a:avLst/>
          </a:prstGeom>
          <a:noFill/>
        </p:spPr>
        <p:txBody>
          <a:bodyPr vert="horz"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错误</a:t>
            </a:r>
            <a:endParaRPr kumimoji="0" lang="zh-CN" altLang="en-US" sz="2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8" name="椭圆 7"/>
          <p:cNvSpPr>
            <a:spLocks noChangeAspect="1"/>
          </p:cNvSpPr>
          <p:nvPr>
            <p:custDataLst>
              <p:tags r:id="rId4"/>
            </p:custDataLst>
          </p:nvPr>
        </p:nvSpPr>
        <p:spPr>
          <a:xfrm>
            <a:off x="2638425" y="28503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A</a:t>
            </a:r>
            <a:endParaRPr kumimoji="0" lang="zh-CN" altLang="en-US" sz="16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9" name="椭圆 8"/>
          <p:cNvSpPr>
            <a:spLocks noChangeAspect="1"/>
          </p:cNvSpPr>
          <p:nvPr>
            <p:custDataLst>
              <p:tags r:id="rId5"/>
            </p:custDataLst>
          </p:nvPr>
        </p:nvSpPr>
        <p:spPr>
          <a:xfrm>
            <a:off x="2638425" y="370760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B</a:t>
            </a:r>
            <a:endParaRPr kumimoji="0" lang="zh-CN" altLang="en-US" sz="16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2" name="圆角矩形 11"/>
          <p:cNvSpPr/>
          <p:nvPr>
            <p:custDataLst>
              <p:tags r:id="rId6"/>
            </p:custDataLst>
          </p:nvPr>
        </p:nvSpPr>
        <p:spPr>
          <a:xfrm>
            <a:off x="7696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提交</a:t>
            </a:r>
            <a:endParaRPr kumimoji="0" lang="zh-CN" altLang="en-US" sz="16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grpSp>
        <p:nvGrpSpPr>
          <p:cNvPr id="17" name="组合 16"/>
          <p:cNvGrpSpPr/>
          <p:nvPr>
            <p:custDataLst>
              <p:tags r:id="rId7"/>
            </p:custDataLst>
          </p:nvPr>
        </p:nvGrpSpPr>
        <p:grpSpPr>
          <a:xfrm>
            <a:off x="0" y="0"/>
            <a:ext cx="9144000" cy="635000"/>
            <a:chOff x="-1524000" y="0"/>
            <a:chExt cx="9144000" cy="635000"/>
          </a:xfrm>
        </p:grpSpPr>
        <p:sp>
          <p:nvSpPr>
            <p:cNvPr id="13" name="TitleBackground"/>
            <p:cNvSpPr/>
            <p:nvPr>
              <p:custDataLst>
                <p:tags r:id="rId8"/>
              </p:custDataLst>
            </p:nvPr>
          </p:nvSpPr>
          <p:spPr>
            <a:xfrm>
              <a:off x="-152400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4" name="ColorBlock"/>
            <p:cNvSpPr/>
            <p:nvPr>
              <p:custDataLst>
                <p:tags r:id="rId9"/>
              </p:custDataLst>
            </p:nvPr>
          </p:nvSpPr>
          <p:spPr>
            <a:xfrm>
              <a:off x="-152400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5" name="TypeText"/>
            <p:cNvSpPr txBox="1"/>
            <p:nvPr>
              <p:custDataLst>
                <p:tags r:id="rId10"/>
              </p:custDataLst>
            </p:nvPr>
          </p:nvSpPr>
          <p:spPr>
            <a:xfrm>
              <a:off x="-1270000" y="0"/>
              <a:ext cx="1905000" cy="635000"/>
            </a:xfrm>
            <a:prstGeom prst="rect">
              <a:avLst/>
            </a:prstGeom>
            <a:noFill/>
          </p:spPr>
          <p:txBody>
            <a:bodyPr vert="horz" wrap="none"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单选题</a:t>
              </a:r>
              <a:endParaRPr kumimoji="0" lang="zh-CN" altLang="en-US" sz="2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6" name="TipText"/>
            <p:cNvSpPr txBox="1"/>
            <p:nvPr>
              <p:custDataLst>
                <p:tags r:id="rId11"/>
              </p:custDataLst>
            </p:nvPr>
          </p:nvSpPr>
          <p:spPr>
            <a:xfrm>
              <a:off x="1905" y="109220"/>
              <a:ext cx="2286000" cy="508000"/>
            </a:xfrm>
            <a:prstGeom prst="rect">
              <a:avLst/>
            </a:prstGeom>
            <a:noFill/>
          </p:spPr>
          <p:txBody>
            <a:bodyPr vert="horz" wrap="none"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80808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1</a:t>
              </a:r>
              <a:r>
                <a:rPr kumimoji="0" lang="zh-CN" altLang="en-US" sz="2000" b="0" i="0" u="none" strike="noStrike" kern="1200" cap="none" spc="0" normalizeH="0" baseline="0" noProof="0">
                  <a:ln>
                    <a:noFill/>
                  </a:ln>
                  <a:solidFill>
                    <a:srgbClr val="80808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分</a:t>
              </a:r>
              <a:endParaRPr kumimoji="0" lang="zh-CN" altLang="en-US" sz="2000" b="0" i="0" u="none" strike="noStrike" kern="1200" cap="none" spc="0" normalizeH="0" baseline="0" noProof="0">
                <a:ln>
                  <a:noFill/>
                </a:ln>
                <a:solidFill>
                  <a:srgbClr val="80808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grpSp>
      <p:pic>
        <p:nvPicPr>
          <p:cNvPr id="2" name="图片 1"/>
          <p:cNvPicPr/>
          <p:nvPr>
            <p:custDataLst>
              <p:tags r:id="rId12"/>
            </p:custDataLst>
          </p:nvPr>
        </p:nvPicPr>
        <p:blipFill>
          <a:blip r:embed="rId13">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4"/>
    </p:custData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custDataLst>
              <p:tags r:id="rId1"/>
            </p:custDataLst>
          </p:nvPr>
        </p:nvSpPr>
        <p:spPr>
          <a:xfrm>
            <a:off x="1524000" y="729885"/>
            <a:ext cx="8471770" cy="2143125"/>
          </a:xfrm>
          <a:prstGeom prst="rect">
            <a:avLst/>
          </a:prstGeom>
          <a:noFill/>
        </p:spPr>
        <p:txBody>
          <a:bodyPr vert="horz" wrap="square" rtlCol="0" anchor="ctr" anchorCtr="0">
            <a:noAutofit/>
          </a:bodyPr>
          <a:lstStyle/>
          <a:p>
            <a:pPr lvl="0"/>
            <a:r>
              <a:rPr kumimoji="0" lang="en-US" altLang="zh-CN" sz="28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rPr>
              <a:t>8. </a:t>
            </a:r>
            <a:r>
              <a:rPr lang="zh-CN" altLang="en-US" sz="2800" dirty="0">
                <a:solidFill>
                  <a:prstClr val="black"/>
                </a:solidFill>
                <a:latin typeface="等线" panose="02010600030101010101" charset="-122"/>
                <a:ea typeface="等线" panose="02010600030101010101" charset="-122"/>
              </a:rPr>
              <a:t>从方差</a:t>
            </a:r>
            <a:r>
              <a:rPr lang="en-US" altLang="zh-CN" sz="2800" dirty="0">
                <a:solidFill>
                  <a:prstClr val="black"/>
                </a:solidFill>
                <a:latin typeface="等线" panose="02010600030101010101" charset="-122"/>
                <a:ea typeface="等线" panose="02010600030101010101" charset="-122"/>
              </a:rPr>
              <a:t>-</a:t>
            </a:r>
            <a:r>
              <a:rPr lang="zh-CN" altLang="en-US" sz="2800" dirty="0">
                <a:solidFill>
                  <a:prstClr val="black"/>
                </a:solidFill>
                <a:latin typeface="等线" panose="02010600030101010101" charset="-122"/>
                <a:ea typeface="等线" panose="02010600030101010101" charset="-122"/>
              </a:rPr>
              <a:t>偏差的角度，</a:t>
            </a:r>
            <a:r>
              <a:rPr kumimoji="0" lang="en-US" altLang="zh-CN" sz="28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rPr>
              <a:t>Bagging</a:t>
            </a:r>
            <a:r>
              <a:rPr kumimoji="0" lang="zh-CN" altLang="en-US" sz="28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rPr>
              <a:t>是</a:t>
            </a:r>
            <a:r>
              <a:rPr lang="zh-CN" altLang="en-US" sz="2800" dirty="0"/>
              <a:t>降低模型的</a:t>
            </a:r>
            <a:r>
              <a:rPr lang="zh-CN" altLang="en-US" sz="2800" b="1" dirty="0"/>
              <a:t>方差</a:t>
            </a:r>
            <a:r>
              <a:rPr kumimoji="0" lang="zh-CN" altLang="en-US" sz="28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rPr>
              <a:t>，</a:t>
            </a:r>
            <a:r>
              <a:rPr kumimoji="0" lang="en-US" altLang="zh-CN" sz="28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rPr>
              <a:t>Boosting</a:t>
            </a:r>
            <a:r>
              <a:rPr kumimoji="0" lang="zh-CN" altLang="en-US" sz="28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rPr>
              <a:t>是降低</a:t>
            </a:r>
            <a:r>
              <a:rPr lang="zh-CN" altLang="en-US" sz="2800" dirty="0"/>
              <a:t>模型的</a:t>
            </a:r>
            <a:r>
              <a:rPr lang="zh-CN" altLang="en-US" sz="2800" b="1" dirty="0"/>
              <a:t>偏差</a:t>
            </a:r>
            <a:r>
              <a:rPr kumimoji="0" lang="zh-CN" altLang="en-US" sz="28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rPr>
              <a:t>。（）</a:t>
            </a:r>
            <a:r>
              <a:rPr kumimoji="0" lang="zh-CN" altLang="zh-CN" sz="28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rPr>
              <a:t>。</a:t>
            </a:r>
            <a:endParaRPr kumimoji="0" lang="zh-CN" altLang="en-US" sz="2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4" name="TextBox 3"/>
          <p:cNvSpPr txBox="1"/>
          <p:nvPr>
            <p:custDataLst>
              <p:tags r:id="rId2"/>
            </p:custDataLst>
          </p:nvPr>
        </p:nvSpPr>
        <p:spPr>
          <a:xfrm>
            <a:off x="3352800" y="2786063"/>
            <a:ext cx="6400800" cy="642938"/>
          </a:xfrm>
          <a:prstGeom prst="rect">
            <a:avLst/>
          </a:prstGeom>
          <a:noFill/>
        </p:spPr>
        <p:txBody>
          <a:bodyPr vert="horz"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正确</a:t>
            </a:r>
            <a:endParaRPr kumimoji="0" lang="zh-CN" altLang="en-US" sz="2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5" name="TextBox 4"/>
          <p:cNvSpPr txBox="1"/>
          <p:nvPr>
            <p:custDataLst>
              <p:tags r:id="rId3"/>
            </p:custDataLst>
          </p:nvPr>
        </p:nvSpPr>
        <p:spPr>
          <a:xfrm>
            <a:off x="3352800" y="3643313"/>
            <a:ext cx="6400800" cy="642938"/>
          </a:xfrm>
          <a:prstGeom prst="rect">
            <a:avLst/>
          </a:prstGeom>
          <a:noFill/>
        </p:spPr>
        <p:txBody>
          <a:bodyPr vert="horz"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错误</a:t>
            </a:r>
            <a:endParaRPr kumimoji="0" lang="zh-CN" altLang="en-US" sz="2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8" name="椭圆 7"/>
          <p:cNvSpPr>
            <a:spLocks noChangeAspect="1"/>
          </p:cNvSpPr>
          <p:nvPr>
            <p:custDataLst>
              <p:tags r:id="rId4"/>
            </p:custDataLst>
          </p:nvPr>
        </p:nvSpPr>
        <p:spPr>
          <a:xfrm>
            <a:off x="2664990" y="3711179"/>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B</a:t>
            </a:r>
            <a:endParaRPr kumimoji="0" lang="zh-CN" altLang="en-US" sz="16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9" name="椭圆 8"/>
          <p:cNvSpPr>
            <a:spLocks noChangeAspect="1"/>
          </p:cNvSpPr>
          <p:nvPr>
            <p:custDataLst>
              <p:tags r:id="rId5"/>
            </p:custDataLst>
          </p:nvPr>
        </p:nvSpPr>
        <p:spPr>
          <a:xfrm>
            <a:off x="2664990" y="293238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A</a:t>
            </a:r>
            <a:endParaRPr kumimoji="0" lang="zh-CN" altLang="en-US" sz="16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2" name="圆角矩形 11"/>
          <p:cNvSpPr/>
          <p:nvPr>
            <p:custDataLst>
              <p:tags r:id="rId6"/>
            </p:custDataLst>
          </p:nvPr>
        </p:nvSpPr>
        <p:spPr>
          <a:xfrm>
            <a:off x="7696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提交</a:t>
            </a:r>
            <a:endParaRPr kumimoji="0" lang="zh-CN" altLang="en-US" sz="16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grpSp>
        <p:nvGrpSpPr>
          <p:cNvPr id="17" name="组合 16"/>
          <p:cNvGrpSpPr/>
          <p:nvPr>
            <p:custDataLst>
              <p:tags r:id="rId7"/>
            </p:custDataLst>
          </p:nvPr>
        </p:nvGrpSpPr>
        <p:grpSpPr>
          <a:xfrm>
            <a:off x="0" y="0"/>
            <a:ext cx="9144000" cy="635000"/>
            <a:chOff x="-1524000" y="0"/>
            <a:chExt cx="9144000" cy="635000"/>
          </a:xfrm>
        </p:grpSpPr>
        <p:sp>
          <p:nvSpPr>
            <p:cNvPr id="13" name="TitleBackground"/>
            <p:cNvSpPr/>
            <p:nvPr>
              <p:custDataLst>
                <p:tags r:id="rId8"/>
              </p:custDataLst>
            </p:nvPr>
          </p:nvSpPr>
          <p:spPr>
            <a:xfrm>
              <a:off x="-152400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4" name="ColorBlock"/>
            <p:cNvSpPr/>
            <p:nvPr>
              <p:custDataLst>
                <p:tags r:id="rId9"/>
              </p:custDataLst>
            </p:nvPr>
          </p:nvSpPr>
          <p:spPr>
            <a:xfrm>
              <a:off x="-152400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5" name="TypeText"/>
            <p:cNvSpPr txBox="1"/>
            <p:nvPr>
              <p:custDataLst>
                <p:tags r:id="rId10"/>
              </p:custDataLst>
            </p:nvPr>
          </p:nvSpPr>
          <p:spPr>
            <a:xfrm>
              <a:off x="-1270000" y="0"/>
              <a:ext cx="1905000" cy="635000"/>
            </a:xfrm>
            <a:prstGeom prst="rect">
              <a:avLst/>
            </a:prstGeom>
            <a:noFill/>
          </p:spPr>
          <p:txBody>
            <a:bodyPr vert="horz" wrap="none"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单选题</a:t>
              </a:r>
              <a:endParaRPr kumimoji="0" lang="zh-CN" altLang="en-US" sz="2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6" name="TipText"/>
            <p:cNvSpPr txBox="1"/>
            <p:nvPr>
              <p:custDataLst>
                <p:tags r:id="rId11"/>
              </p:custDataLst>
            </p:nvPr>
          </p:nvSpPr>
          <p:spPr>
            <a:xfrm>
              <a:off x="1905" y="109220"/>
              <a:ext cx="2286000" cy="508000"/>
            </a:xfrm>
            <a:prstGeom prst="rect">
              <a:avLst/>
            </a:prstGeom>
            <a:noFill/>
          </p:spPr>
          <p:txBody>
            <a:bodyPr vert="horz" wrap="none"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80808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1</a:t>
              </a:r>
              <a:r>
                <a:rPr kumimoji="0" lang="zh-CN" altLang="en-US" sz="2000" b="0" i="0" u="none" strike="noStrike" kern="1200" cap="none" spc="0" normalizeH="0" baseline="0" noProof="0">
                  <a:ln>
                    <a:noFill/>
                  </a:ln>
                  <a:solidFill>
                    <a:srgbClr val="80808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分</a:t>
              </a:r>
              <a:endParaRPr kumimoji="0" lang="zh-CN" altLang="en-US" sz="2000" b="0" i="0" u="none" strike="noStrike" kern="1200" cap="none" spc="0" normalizeH="0" baseline="0" noProof="0">
                <a:ln>
                  <a:noFill/>
                </a:ln>
                <a:solidFill>
                  <a:srgbClr val="80808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grpSp>
      <p:pic>
        <p:nvPicPr>
          <p:cNvPr id="2" name="图片 1"/>
          <p:cNvPicPr/>
          <p:nvPr>
            <p:custDataLst>
              <p:tags r:id="rId12"/>
            </p:custDataLst>
          </p:nvPr>
        </p:nvPicPr>
        <p:blipFill>
          <a:blip r:embed="rId13">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4"/>
    </p:custData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custDataLst>
              <p:tags r:id="rId1"/>
            </p:custDataLst>
          </p:nvPr>
        </p:nvSpPr>
        <p:spPr>
          <a:xfrm>
            <a:off x="883919" y="778706"/>
            <a:ext cx="9962367" cy="2143125"/>
          </a:xfrm>
          <a:prstGeom prst="rect">
            <a:avLst/>
          </a:prstGeom>
          <a:noFill/>
        </p:spPr>
        <p:txBody>
          <a:bodyPr vert="horz" wrap="square" rtlCol="0" anchor="ctr" anchorCtr="0">
            <a:noAutofit/>
          </a:bodyPr>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rPr>
              <a:t>9. </a:t>
            </a:r>
            <a:r>
              <a:rPr kumimoji="0" lang="zh-CN" altLang="en-US" sz="24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rPr>
              <a:t>模型的方差（），说明模型在不同采样分布</a:t>
            </a:r>
            <a:r>
              <a:rPr kumimoji="0" lang="en-US" altLang="zh-CN" sz="24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rPr>
              <a:t>D</a:t>
            </a:r>
            <a:r>
              <a:rPr kumimoji="0" lang="zh-CN" altLang="en-US" sz="24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rPr>
              <a:t>下，泛化能力</a:t>
            </a:r>
            <a:r>
              <a:rPr lang="zh-CN" altLang="en-US" sz="2400" dirty="0">
                <a:solidFill>
                  <a:prstClr val="black"/>
                </a:solidFill>
                <a:latin typeface="等线" panose="02010600030101010101" charset="-122"/>
                <a:ea typeface="等线" panose="02010600030101010101" charset="-122"/>
              </a:rPr>
              <a:t>大致相当</a:t>
            </a:r>
            <a:r>
              <a:rPr kumimoji="0" lang="zh-CN" altLang="en-US" sz="24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rPr>
              <a:t>；        </a:t>
            </a:r>
            <a:endParaRPr kumimoji="0" lang="en-US" altLang="zh-CN" sz="24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endParaRPr>
          </a:p>
          <a:p>
            <a:pPr marL="0" marR="0" lvl="0" indent="0" algn="just" defTabSz="914400" rtl="0" eaLnBrk="1" fontAlgn="auto" latinLnBrk="0" hangingPunct="1">
              <a:lnSpc>
                <a:spcPct val="100000"/>
              </a:lnSpc>
              <a:spcBef>
                <a:spcPts val="0"/>
              </a:spcBef>
              <a:spcAft>
                <a:spcPts val="0"/>
              </a:spcAft>
              <a:buClrTx/>
              <a:buSzTx/>
              <a:buFontTx/>
              <a:buNone/>
              <a:defRPr/>
            </a:pPr>
            <a:endParaRPr lang="en-US" altLang="zh-CN" sz="2400" dirty="0">
              <a:solidFill>
                <a:prstClr val="black"/>
              </a:solidFill>
              <a:latin typeface="等线" panose="02010600030101010101" charset="-122"/>
              <a:ea typeface="等线" panose="02010600030101010101" charset="-122"/>
            </a:endParaRPr>
          </a:p>
          <a:p>
            <a:pPr marL="0" marR="0" lvl="0" indent="0" algn="just"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rPr>
              <a:t>    </a:t>
            </a:r>
            <a:r>
              <a:rPr kumimoji="0" lang="zh-CN" altLang="en-US" sz="24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rPr>
              <a:t>模型的偏差（），说明模型对样本的预测越准，模型的拟合性越好</a:t>
            </a:r>
            <a:r>
              <a:rPr kumimoji="0" lang="zh-CN" altLang="zh-CN" sz="24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rPr>
              <a:t>。</a:t>
            </a:r>
            <a:endPar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4" name="TextBox 3"/>
          <p:cNvSpPr txBox="1"/>
          <p:nvPr>
            <p:custDataLst>
              <p:tags r:id="rId2"/>
            </p:custDataLst>
          </p:nvPr>
        </p:nvSpPr>
        <p:spPr>
          <a:xfrm>
            <a:off x="3352800" y="2786063"/>
            <a:ext cx="6400800" cy="642938"/>
          </a:xfrm>
          <a:prstGeom prst="rect">
            <a:avLst/>
          </a:prstGeom>
          <a:noFill/>
        </p:spPr>
        <p:txBody>
          <a:bodyPr vert="horz"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越小    越大</a:t>
            </a:r>
            <a:endParaRPr kumimoji="0" lang="zh-CN" altLang="en-US" sz="2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5" name="TextBox 4"/>
          <p:cNvSpPr txBox="1"/>
          <p:nvPr>
            <p:custDataLst>
              <p:tags r:id="rId3"/>
            </p:custDataLst>
          </p:nvPr>
        </p:nvSpPr>
        <p:spPr>
          <a:xfrm>
            <a:off x="3352800" y="3643313"/>
            <a:ext cx="6400800" cy="642938"/>
          </a:xfrm>
          <a:prstGeom prst="rect">
            <a:avLst/>
          </a:prstGeom>
          <a:noFill/>
        </p:spPr>
        <p:txBody>
          <a:bodyPr vert="horz"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越小    越小 </a:t>
            </a:r>
            <a:endParaRPr kumimoji="0" lang="zh-CN" altLang="en-US" sz="2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8" name="椭圆 7"/>
          <p:cNvSpPr>
            <a:spLocks noChangeAspect="1"/>
          </p:cNvSpPr>
          <p:nvPr>
            <p:custDataLst>
              <p:tags r:id="rId4"/>
            </p:custDataLst>
          </p:nvPr>
        </p:nvSpPr>
        <p:spPr>
          <a:xfrm>
            <a:off x="2638425" y="28503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A</a:t>
            </a:r>
            <a:endParaRPr kumimoji="0" lang="zh-CN" altLang="en-US" sz="16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9" name="椭圆 8"/>
          <p:cNvSpPr>
            <a:spLocks noChangeAspect="1"/>
          </p:cNvSpPr>
          <p:nvPr>
            <p:custDataLst>
              <p:tags r:id="rId5"/>
            </p:custDataLst>
          </p:nvPr>
        </p:nvSpPr>
        <p:spPr>
          <a:xfrm>
            <a:off x="2638425" y="370760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B</a:t>
            </a:r>
            <a:endParaRPr kumimoji="0" lang="zh-CN" altLang="en-US" sz="16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2" name="圆角矩形 11"/>
          <p:cNvSpPr/>
          <p:nvPr>
            <p:custDataLst>
              <p:tags r:id="rId6"/>
            </p:custDataLst>
          </p:nvPr>
        </p:nvSpPr>
        <p:spPr>
          <a:xfrm>
            <a:off x="7696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提交</a:t>
            </a:r>
            <a:endParaRPr kumimoji="0" lang="zh-CN" altLang="en-US" sz="16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8" name="TextBox 3"/>
          <p:cNvSpPr txBox="1"/>
          <p:nvPr>
            <p:custDataLst>
              <p:tags r:id="rId7"/>
            </p:custDataLst>
          </p:nvPr>
        </p:nvSpPr>
        <p:spPr>
          <a:xfrm>
            <a:off x="3352800" y="4429957"/>
            <a:ext cx="6400800" cy="642938"/>
          </a:xfrm>
          <a:prstGeom prst="rect">
            <a:avLst/>
          </a:prstGeom>
          <a:noFill/>
        </p:spPr>
        <p:txBody>
          <a:bodyPr vert="horz" rtlCol="0" anchor="ctr" anchorCtr="0">
            <a:noAutofit/>
          </a:bodyPr>
          <a:lstStyle/>
          <a:p>
            <a:pPr lvl="0">
              <a:defRPr/>
            </a:pP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越大    越小</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9" name="椭圆 18"/>
          <p:cNvSpPr>
            <a:spLocks noChangeAspect="1"/>
          </p:cNvSpPr>
          <p:nvPr>
            <p:custDataLst>
              <p:tags r:id="rId8"/>
            </p:custDataLst>
          </p:nvPr>
        </p:nvSpPr>
        <p:spPr>
          <a:xfrm>
            <a:off x="2638425" y="4494250"/>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C</a:t>
            </a:r>
            <a:endParaRPr kumimoji="0" lang="zh-CN" altLang="en-US" sz="16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20" name="TextBox 3"/>
          <p:cNvSpPr txBox="1"/>
          <p:nvPr>
            <p:custDataLst>
              <p:tags r:id="rId9"/>
            </p:custDataLst>
          </p:nvPr>
        </p:nvSpPr>
        <p:spPr>
          <a:xfrm>
            <a:off x="3352800" y="5299022"/>
            <a:ext cx="6400800" cy="642938"/>
          </a:xfrm>
          <a:prstGeom prst="rect">
            <a:avLst/>
          </a:prstGeom>
          <a:noFill/>
        </p:spPr>
        <p:txBody>
          <a:bodyPr vert="horz" rtlCol="0" anchor="ctr" anchorCtr="0">
            <a:noAutofit/>
          </a:bodyPr>
          <a:lstStyle/>
          <a:p>
            <a:pPr lvl="0">
              <a:defRPr/>
            </a:pP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越大    越 大</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1" name="椭圆 20"/>
          <p:cNvSpPr>
            <a:spLocks noChangeAspect="1"/>
          </p:cNvSpPr>
          <p:nvPr>
            <p:custDataLst>
              <p:tags r:id="rId10"/>
            </p:custDataLst>
          </p:nvPr>
        </p:nvSpPr>
        <p:spPr>
          <a:xfrm>
            <a:off x="2638425" y="5363315"/>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D</a:t>
            </a:r>
            <a:endParaRPr kumimoji="0" lang="zh-CN" altLang="en-US" sz="16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grpSp>
        <p:nvGrpSpPr>
          <p:cNvPr id="17" name="组合 16"/>
          <p:cNvGrpSpPr/>
          <p:nvPr>
            <p:custDataLst>
              <p:tags r:id="rId11"/>
            </p:custDataLst>
          </p:nvPr>
        </p:nvGrpSpPr>
        <p:grpSpPr>
          <a:xfrm>
            <a:off x="0" y="0"/>
            <a:ext cx="9144000" cy="635000"/>
            <a:chOff x="-1524000" y="0"/>
            <a:chExt cx="9144000" cy="635000"/>
          </a:xfrm>
        </p:grpSpPr>
        <p:sp>
          <p:nvSpPr>
            <p:cNvPr id="13" name="TitleBackground"/>
            <p:cNvSpPr/>
            <p:nvPr>
              <p:custDataLst>
                <p:tags r:id="rId12"/>
              </p:custDataLst>
            </p:nvPr>
          </p:nvSpPr>
          <p:spPr>
            <a:xfrm>
              <a:off x="-152400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4" name="ColorBlock"/>
            <p:cNvSpPr/>
            <p:nvPr>
              <p:custDataLst>
                <p:tags r:id="rId13"/>
              </p:custDataLst>
            </p:nvPr>
          </p:nvSpPr>
          <p:spPr>
            <a:xfrm>
              <a:off x="-152400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5" name="TypeText"/>
            <p:cNvSpPr txBox="1"/>
            <p:nvPr>
              <p:custDataLst>
                <p:tags r:id="rId14"/>
              </p:custDataLst>
            </p:nvPr>
          </p:nvSpPr>
          <p:spPr>
            <a:xfrm>
              <a:off x="-1270000" y="0"/>
              <a:ext cx="1905000" cy="635000"/>
            </a:xfrm>
            <a:prstGeom prst="rect">
              <a:avLst/>
            </a:prstGeom>
            <a:noFill/>
          </p:spPr>
          <p:txBody>
            <a:bodyPr vert="horz" wrap="none"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单选题</a:t>
              </a:r>
              <a:endParaRPr kumimoji="0" lang="zh-CN" altLang="en-US" sz="2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6" name="TipText"/>
            <p:cNvSpPr txBox="1"/>
            <p:nvPr>
              <p:custDataLst>
                <p:tags r:id="rId15"/>
              </p:custDataLst>
            </p:nvPr>
          </p:nvSpPr>
          <p:spPr>
            <a:xfrm>
              <a:off x="1905" y="109220"/>
              <a:ext cx="2286000" cy="508000"/>
            </a:xfrm>
            <a:prstGeom prst="rect">
              <a:avLst/>
            </a:prstGeom>
            <a:noFill/>
          </p:spPr>
          <p:txBody>
            <a:bodyPr vert="horz" wrap="none"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srgbClr val="80808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1</a:t>
              </a:r>
              <a:r>
                <a:rPr kumimoji="0" lang="zh-CN" altLang="en-US" sz="2000" b="0" i="0" u="none" strike="noStrike" kern="1200" cap="none" spc="0" normalizeH="0" baseline="0" noProof="0" dirty="0">
                  <a:ln>
                    <a:noFill/>
                  </a:ln>
                  <a:solidFill>
                    <a:srgbClr val="80808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分</a:t>
              </a:r>
              <a:endParaRPr kumimoji="0" lang="zh-CN" altLang="en-US" sz="2000" b="0" i="0" u="none" strike="noStrike" kern="1200" cap="none" spc="0" normalizeH="0" baseline="0" noProof="0" dirty="0">
                <a:ln>
                  <a:noFill/>
                </a:ln>
                <a:solidFill>
                  <a:srgbClr val="80808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grpSp>
      <p:pic>
        <p:nvPicPr>
          <p:cNvPr id="2" name="图片 1"/>
          <p:cNvPicPr/>
          <p:nvPr>
            <p:custDataLst>
              <p:tags r:id="rId16"/>
            </p:custDataLst>
          </p:nvPr>
        </p:nvPicPr>
        <p:blipFill>
          <a:blip r:embed="rId17">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8"/>
    </p:custData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custDataLst>
              <p:tags r:id="rId1"/>
            </p:custDataLst>
          </p:nvPr>
        </p:nvSpPr>
        <p:spPr>
          <a:xfrm>
            <a:off x="825730" y="726440"/>
            <a:ext cx="10163695" cy="2143125"/>
          </a:xfrm>
          <a:prstGeom prst="rect">
            <a:avLst/>
          </a:prstGeom>
          <a:noFill/>
        </p:spPr>
        <p:txBody>
          <a:bodyPr vert="horz" wrap="square" rtlCol="0" anchor="ctr" anchorCtr="0">
            <a:noAutofit/>
          </a:bodyPr>
          <a:lstStyle/>
          <a:p>
            <a:pPr lvl="0">
              <a:defRPr/>
            </a:pPr>
            <a:r>
              <a:rPr lang="en-US" altLang="zh-CN" sz="2800" dirty="0">
                <a:solidFill>
                  <a:prstClr val="black"/>
                </a:solidFill>
                <a:latin typeface="等线" panose="02010600030101010101" charset="-122"/>
                <a:ea typeface="等线" panose="02010600030101010101" charset="-122"/>
              </a:rPr>
              <a:t>10.</a:t>
            </a:r>
            <a:r>
              <a:rPr lang="zh-CN" altLang="zh-CN" sz="2800" dirty="0">
                <a:solidFill>
                  <a:prstClr val="black"/>
                </a:solidFill>
                <a:latin typeface="等线" panose="02010600030101010101" charset="-122"/>
                <a:ea typeface="等线" panose="02010600030101010101" charset="-122"/>
              </a:rPr>
              <a:t>在集成学习两大类策略中，</a:t>
            </a:r>
            <a:r>
              <a:rPr lang="en-US" altLang="zh-CN" sz="2800" dirty="0">
                <a:solidFill>
                  <a:prstClr val="black"/>
                </a:solidFill>
                <a:latin typeface="等线" panose="02010600030101010101" charset="-122"/>
                <a:ea typeface="等线" panose="02010600030101010101" charset="-122"/>
              </a:rPr>
              <a:t>boosting</a:t>
            </a:r>
            <a:r>
              <a:rPr lang="zh-CN" altLang="zh-CN" sz="2800" dirty="0">
                <a:solidFill>
                  <a:prstClr val="black"/>
                </a:solidFill>
                <a:latin typeface="等线" panose="02010600030101010101" charset="-122"/>
                <a:ea typeface="等线" panose="02010600030101010101" charset="-122"/>
              </a:rPr>
              <a:t>和</a:t>
            </a:r>
            <a:r>
              <a:rPr lang="en-US" altLang="zh-CN" sz="2800" dirty="0">
                <a:solidFill>
                  <a:prstClr val="black"/>
                </a:solidFill>
                <a:latin typeface="等线" panose="02010600030101010101" charset="-122"/>
                <a:ea typeface="等线" panose="02010600030101010101" charset="-122"/>
              </a:rPr>
              <a:t>bagging</a:t>
            </a:r>
            <a:r>
              <a:rPr lang="zh-CN" altLang="zh-CN" sz="2800" dirty="0">
                <a:solidFill>
                  <a:prstClr val="black"/>
                </a:solidFill>
                <a:latin typeface="等线" panose="02010600030101010101" charset="-122"/>
                <a:ea typeface="等线" panose="02010600030101010101" charset="-122"/>
              </a:rPr>
              <a:t>如何影响模型的偏差（</a:t>
            </a:r>
            <a:r>
              <a:rPr lang="en-US" altLang="zh-CN" sz="2800" dirty="0">
                <a:solidFill>
                  <a:prstClr val="black"/>
                </a:solidFill>
                <a:latin typeface="等线" panose="02010600030101010101" charset="-122"/>
                <a:ea typeface="等线" panose="02010600030101010101" charset="-122"/>
              </a:rPr>
              <a:t>bias</a:t>
            </a:r>
            <a:r>
              <a:rPr lang="zh-CN" altLang="zh-CN" sz="2800" dirty="0">
                <a:solidFill>
                  <a:prstClr val="black"/>
                </a:solidFill>
                <a:latin typeface="等线" panose="02010600030101010101" charset="-122"/>
                <a:ea typeface="等线" panose="02010600030101010101" charset="-122"/>
              </a:rPr>
              <a:t>）和方差（</a:t>
            </a:r>
            <a:r>
              <a:rPr lang="en-US" altLang="zh-CN" sz="2800" dirty="0">
                <a:solidFill>
                  <a:prstClr val="black"/>
                </a:solidFill>
                <a:latin typeface="等线" panose="02010600030101010101" charset="-122"/>
                <a:ea typeface="等线" panose="02010600030101010101" charset="-122"/>
              </a:rPr>
              <a:t>variance</a:t>
            </a:r>
            <a:r>
              <a:rPr lang="zh-CN" altLang="zh-CN" sz="2800" dirty="0">
                <a:solidFill>
                  <a:prstClr val="black"/>
                </a:solidFill>
                <a:latin typeface="等线" panose="02010600030101010101" charset="-122"/>
                <a:ea typeface="等线" panose="02010600030101010101" charset="-122"/>
              </a:rPr>
              <a:t>）（   ）。</a:t>
            </a:r>
            <a:endParaRPr lang="zh-CN" altLang="en-US" sz="2800" dirty="0">
              <a:solidFill>
                <a:prstClr val="black"/>
              </a:solidFill>
              <a:latin typeface="等线" panose="02010600030101010101" charset="-122"/>
              <a:ea typeface="等线" panose="02010600030101010101" charset="-122"/>
              <a:sym typeface="微软雅黑" panose="020B0503020204020204" pitchFamily="34" charset="-122"/>
            </a:endParaRPr>
          </a:p>
        </p:txBody>
      </p:sp>
      <p:sp>
        <p:nvSpPr>
          <p:cNvPr id="4" name="TextBox 3"/>
          <p:cNvSpPr txBox="1"/>
          <p:nvPr>
            <p:custDataLst>
              <p:tags r:id="rId2"/>
            </p:custDataLst>
          </p:nvPr>
        </p:nvSpPr>
        <p:spPr>
          <a:xfrm>
            <a:off x="3352800" y="2786063"/>
            <a:ext cx="6400800" cy="642938"/>
          </a:xfrm>
          <a:prstGeom prst="rect">
            <a:avLst/>
          </a:prstGeom>
          <a:noFill/>
        </p:spPr>
        <p:txBody>
          <a:bodyPr vert="horz" rtlCol="0" anchor="ctr" anchorCtr="0">
            <a:noAutofit/>
          </a:bodyPr>
          <a:lstStyle/>
          <a:p>
            <a:r>
              <a:rPr lang="en-US" altLang="zh-CN" sz="2400" dirty="0"/>
              <a:t>boosting</a:t>
            </a:r>
            <a:r>
              <a:rPr lang="zh-CN" altLang="zh-CN" sz="2400" dirty="0"/>
              <a:t>和</a:t>
            </a:r>
            <a:r>
              <a:rPr lang="en-US" altLang="zh-CN" sz="2400" dirty="0"/>
              <a:t>bagging</a:t>
            </a:r>
            <a:r>
              <a:rPr lang="zh-CN" altLang="zh-CN" sz="2400" dirty="0"/>
              <a:t>均使得方差减小</a:t>
            </a:r>
            <a:endParaRPr lang="zh-CN" altLang="zh-CN" sz="2400" dirty="0"/>
          </a:p>
        </p:txBody>
      </p:sp>
      <p:sp>
        <p:nvSpPr>
          <p:cNvPr id="5" name="TextBox 4"/>
          <p:cNvSpPr txBox="1"/>
          <p:nvPr>
            <p:custDataLst>
              <p:tags r:id="rId3"/>
            </p:custDataLst>
          </p:nvPr>
        </p:nvSpPr>
        <p:spPr>
          <a:xfrm>
            <a:off x="3352800" y="3643313"/>
            <a:ext cx="6400800" cy="642938"/>
          </a:xfrm>
          <a:prstGeom prst="rect">
            <a:avLst/>
          </a:prstGeom>
          <a:noFill/>
        </p:spPr>
        <p:txBody>
          <a:bodyPr vert="horz" rtlCol="0" anchor="ctr" anchorCtr="0">
            <a:noAutofit/>
          </a:bodyPr>
          <a:lstStyle/>
          <a:p>
            <a:pPr lvl="0">
              <a:defRPr/>
            </a:pPr>
            <a:r>
              <a:rPr lang="en-US" altLang="zh-CN" sz="2400" dirty="0"/>
              <a:t>boosting</a:t>
            </a:r>
            <a:r>
              <a:rPr lang="zh-CN" altLang="zh-CN" sz="2400" dirty="0"/>
              <a:t>和</a:t>
            </a:r>
            <a:r>
              <a:rPr lang="en-US" altLang="zh-CN" sz="2400" dirty="0"/>
              <a:t>bagging</a:t>
            </a:r>
            <a:r>
              <a:rPr lang="zh-CN" altLang="zh-CN" sz="2400" dirty="0"/>
              <a:t>均使得偏差减小</a:t>
            </a:r>
            <a:endParaRPr kumimoji="0" lang="zh-CN" altLang="en-US" sz="3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8" name="椭圆 7"/>
          <p:cNvSpPr>
            <a:spLocks noChangeAspect="1"/>
          </p:cNvSpPr>
          <p:nvPr>
            <p:custDataLst>
              <p:tags r:id="rId4"/>
            </p:custDataLst>
          </p:nvPr>
        </p:nvSpPr>
        <p:spPr>
          <a:xfrm>
            <a:off x="2638425" y="28503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A</a:t>
            </a:r>
            <a:endParaRPr kumimoji="0" lang="zh-CN" altLang="en-US" sz="16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9" name="椭圆 8"/>
          <p:cNvSpPr>
            <a:spLocks noChangeAspect="1"/>
          </p:cNvSpPr>
          <p:nvPr>
            <p:custDataLst>
              <p:tags r:id="rId5"/>
            </p:custDataLst>
          </p:nvPr>
        </p:nvSpPr>
        <p:spPr>
          <a:xfrm>
            <a:off x="2638425" y="37076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B</a:t>
            </a:r>
            <a:endParaRPr kumimoji="0" lang="zh-CN" altLang="en-US" sz="16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2" name="圆角矩形 11"/>
          <p:cNvSpPr/>
          <p:nvPr>
            <p:custDataLst>
              <p:tags r:id="rId6"/>
            </p:custDataLst>
          </p:nvPr>
        </p:nvSpPr>
        <p:spPr>
          <a:xfrm>
            <a:off x="7696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提交</a:t>
            </a:r>
            <a:endParaRPr kumimoji="0" lang="zh-CN" altLang="en-US" sz="16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8" name="TextBox 3"/>
          <p:cNvSpPr txBox="1"/>
          <p:nvPr>
            <p:custDataLst>
              <p:tags r:id="rId7"/>
            </p:custDataLst>
          </p:nvPr>
        </p:nvSpPr>
        <p:spPr>
          <a:xfrm>
            <a:off x="3352800" y="4429957"/>
            <a:ext cx="6400800" cy="642938"/>
          </a:xfrm>
          <a:prstGeom prst="rect">
            <a:avLst/>
          </a:prstGeom>
          <a:noFill/>
        </p:spPr>
        <p:txBody>
          <a:bodyPr vert="horz" rtlCol="0" anchor="ctr" anchorCtr="0">
            <a:noAutofit/>
          </a:bodyPr>
          <a:lstStyle/>
          <a:p>
            <a:pPr lvl="0">
              <a:defRPr/>
            </a:pPr>
            <a:r>
              <a:rPr lang="en-US" altLang="zh-CN" sz="2400" dirty="0"/>
              <a:t>boosting</a:t>
            </a:r>
            <a:r>
              <a:rPr lang="zh-CN" altLang="zh-CN" sz="2400" dirty="0"/>
              <a:t>使得偏差减小，</a:t>
            </a:r>
            <a:r>
              <a:rPr lang="en-US" altLang="zh-CN" sz="2400" dirty="0"/>
              <a:t>bagging</a:t>
            </a:r>
            <a:r>
              <a:rPr lang="zh-CN" altLang="zh-CN" sz="2400" dirty="0"/>
              <a:t>使得方差减小</a:t>
            </a:r>
            <a:endParaRPr lang="zh-CN" altLang="en-US" sz="32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9" name="椭圆 18"/>
          <p:cNvSpPr>
            <a:spLocks noChangeAspect="1"/>
          </p:cNvSpPr>
          <p:nvPr>
            <p:custDataLst>
              <p:tags r:id="rId8"/>
            </p:custDataLst>
          </p:nvPr>
        </p:nvSpPr>
        <p:spPr>
          <a:xfrm>
            <a:off x="2638425" y="4494250"/>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C</a:t>
            </a:r>
            <a:endParaRPr kumimoji="0" lang="zh-CN" altLang="en-US" sz="16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20" name="TextBox 3"/>
          <p:cNvSpPr txBox="1"/>
          <p:nvPr>
            <p:custDataLst>
              <p:tags r:id="rId9"/>
            </p:custDataLst>
          </p:nvPr>
        </p:nvSpPr>
        <p:spPr>
          <a:xfrm>
            <a:off x="3352800" y="5299022"/>
            <a:ext cx="6400800" cy="642938"/>
          </a:xfrm>
          <a:prstGeom prst="rect">
            <a:avLst/>
          </a:prstGeom>
          <a:noFill/>
        </p:spPr>
        <p:txBody>
          <a:bodyPr vert="horz" rtlCol="0" anchor="ctr" anchorCtr="0">
            <a:noAutofit/>
          </a:bodyPr>
          <a:lstStyle/>
          <a:p>
            <a:r>
              <a:rPr lang="en-US" altLang="zh-CN" sz="2400" dirty="0"/>
              <a:t>boosting</a:t>
            </a:r>
            <a:r>
              <a:rPr lang="zh-CN" altLang="zh-CN" sz="2400" dirty="0"/>
              <a:t>使得方差减小，</a:t>
            </a:r>
            <a:r>
              <a:rPr lang="en-US" altLang="zh-CN" sz="2400" dirty="0"/>
              <a:t>bagging</a:t>
            </a:r>
            <a:r>
              <a:rPr lang="zh-CN" altLang="zh-CN" sz="2400" dirty="0"/>
              <a:t>使得偏差减小</a:t>
            </a:r>
            <a:endParaRPr lang="zh-CN" altLang="zh-CN" sz="2400" dirty="0"/>
          </a:p>
        </p:txBody>
      </p:sp>
      <p:sp>
        <p:nvSpPr>
          <p:cNvPr id="21" name="椭圆 20"/>
          <p:cNvSpPr>
            <a:spLocks noChangeAspect="1"/>
          </p:cNvSpPr>
          <p:nvPr>
            <p:custDataLst>
              <p:tags r:id="rId10"/>
            </p:custDataLst>
          </p:nvPr>
        </p:nvSpPr>
        <p:spPr>
          <a:xfrm>
            <a:off x="2638425" y="5363315"/>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D</a:t>
            </a:r>
            <a:endParaRPr kumimoji="0" lang="zh-CN" altLang="en-US" sz="16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grpSp>
        <p:nvGrpSpPr>
          <p:cNvPr id="17" name="组合 16"/>
          <p:cNvGrpSpPr/>
          <p:nvPr>
            <p:custDataLst>
              <p:tags r:id="rId11"/>
            </p:custDataLst>
          </p:nvPr>
        </p:nvGrpSpPr>
        <p:grpSpPr>
          <a:xfrm>
            <a:off x="0" y="0"/>
            <a:ext cx="9144000" cy="635000"/>
            <a:chOff x="-1524000" y="0"/>
            <a:chExt cx="9144000" cy="635000"/>
          </a:xfrm>
        </p:grpSpPr>
        <p:sp>
          <p:nvSpPr>
            <p:cNvPr id="13" name="TitleBackground"/>
            <p:cNvSpPr/>
            <p:nvPr>
              <p:custDataLst>
                <p:tags r:id="rId12"/>
              </p:custDataLst>
            </p:nvPr>
          </p:nvSpPr>
          <p:spPr>
            <a:xfrm>
              <a:off x="-152400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4" name="ColorBlock"/>
            <p:cNvSpPr/>
            <p:nvPr>
              <p:custDataLst>
                <p:tags r:id="rId13"/>
              </p:custDataLst>
            </p:nvPr>
          </p:nvSpPr>
          <p:spPr>
            <a:xfrm>
              <a:off x="-152400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5" name="TypeText"/>
            <p:cNvSpPr txBox="1"/>
            <p:nvPr>
              <p:custDataLst>
                <p:tags r:id="rId14"/>
              </p:custDataLst>
            </p:nvPr>
          </p:nvSpPr>
          <p:spPr>
            <a:xfrm>
              <a:off x="-1270000" y="0"/>
              <a:ext cx="1905000" cy="635000"/>
            </a:xfrm>
            <a:prstGeom prst="rect">
              <a:avLst/>
            </a:prstGeom>
            <a:noFill/>
          </p:spPr>
          <p:txBody>
            <a:bodyPr vert="horz" wrap="none"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单选题</a:t>
              </a:r>
              <a:endParaRPr kumimoji="0" lang="zh-CN" altLang="en-US" sz="2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6" name="TipText"/>
            <p:cNvSpPr txBox="1"/>
            <p:nvPr>
              <p:custDataLst>
                <p:tags r:id="rId15"/>
              </p:custDataLst>
            </p:nvPr>
          </p:nvSpPr>
          <p:spPr>
            <a:xfrm>
              <a:off x="1905" y="109220"/>
              <a:ext cx="2286000" cy="508000"/>
            </a:xfrm>
            <a:prstGeom prst="rect">
              <a:avLst/>
            </a:prstGeom>
            <a:noFill/>
          </p:spPr>
          <p:txBody>
            <a:bodyPr vert="horz" wrap="none"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srgbClr val="80808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1</a:t>
              </a:r>
              <a:r>
                <a:rPr kumimoji="0" lang="zh-CN" altLang="en-US" sz="2000" b="0" i="0" u="none" strike="noStrike" kern="1200" cap="none" spc="0" normalizeH="0" baseline="0" noProof="0" dirty="0">
                  <a:ln>
                    <a:noFill/>
                  </a:ln>
                  <a:solidFill>
                    <a:srgbClr val="80808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分</a:t>
              </a:r>
              <a:endParaRPr kumimoji="0" lang="zh-CN" altLang="en-US" sz="2000" b="0" i="0" u="none" strike="noStrike" kern="1200" cap="none" spc="0" normalizeH="0" baseline="0" noProof="0" dirty="0">
                <a:ln>
                  <a:noFill/>
                </a:ln>
                <a:solidFill>
                  <a:srgbClr val="80808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grpSp>
      <p:pic>
        <p:nvPicPr>
          <p:cNvPr id="2" name="图片 1"/>
          <p:cNvPicPr/>
          <p:nvPr>
            <p:custDataLst>
              <p:tags r:id="rId16"/>
            </p:custDataLst>
          </p:nvPr>
        </p:nvPicPr>
        <p:blipFill>
          <a:blip r:embed="rId17">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8"/>
    </p:custData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5374137" y="3515111"/>
            <a:ext cx="1972015" cy="707886"/>
          </a:xfrm>
          <a:prstGeom prst="rect">
            <a:avLst/>
          </a:prstGeom>
          <a:noFill/>
        </p:spPr>
        <p:txBody>
          <a:bodyPr wrap="none" rtlCol="0">
            <a:spAutoFit/>
          </a:bodyPr>
          <a:lstStyle/>
          <a:p>
            <a:pPr algn="ctr"/>
            <a:r>
              <a:rPr lang="en-US" altLang="zh-CN" sz="4000" dirty="0">
                <a:solidFill>
                  <a:schemeClr val="tx1">
                    <a:lumMod val="75000"/>
                    <a:lumOff val="25000"/>
                  </a:schemeClr>
                </a:solidFill>
                <a:latin typeface="Yuanti SC" panose="02010600040101010101" pitchFamily="2" charset="-122"/>
                <a:ea typeface="Yuanti SC" panose="02010600040101010101" pitchFamily="2" charset="-122"/>
              </a:rPr>
              <a:t>Stacking</a:t>
            </a:r>
            <a:endParaRPr lang="zh-CN" altLang="en-US" sz="4000" dirty="0">
              <a:solidFill>
                <a:schemeClr val="tx1">
                  <a:lumMod val="75000"/>
                  <a:lumOff val="25000"/>
                </a:schemeClr>
              </a:solidFill>
              <a:latin typeface="Yuanti SC" panose="02010600040101010101" pitchFamily="2" charset="-122"/>
              <a:ea typeface="Yuanti SC" panose="02010600040101010101" pitchFamily="2" charset="-122"/>
            </a:endParaRPr>
          </a:p>
        </p:txBody>
      </p:sp>
      <p:sp>
        <p:nvSpPr>
          <p:cNvPr id="2069" name="八边形 2068"/>
          <p:cNvSpPr/>
          <p:nvPr/>
        </p:nvSpPr>
        <p:spPr>
          <a:xfrm>
            <a:off x="5231420" y="1534463"/>
            <a:ext cx="2032202" cy="1694846"/>
          </a:xfrm>
          <a:prstGeom prst="octagon">
            <a:avLst/>
          </a:prstGeom>
          <a:solidFill>
            <a:schemeClr val="accent5"/>
          </a:solidFill>
          <a:ln>
            <a:solidFill>
              <a:schemeClr val="accent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sz="6600" dirty="0">
                <a:latin typeface="Impact" panose="020B0806030902050204" pitchFamily="34" charset="0"/>
                <a:ea typeface="方正综艺简体" panose="03000509000000000000" pitchFamily="65" charset="-122"/>
              </a:rPr>
              <a:t>5</a:t>
            </a:r>
            <a:endParaRPr lang="zh-CN" altLang="en-US" sz="6600" dirty="0">
              <a:latin typeface="Impact" panose="020B0806030902050204" pitchFamily="34" charset="0"/>
              <a:ea typeface="方正综艺简体" panose="03000509000000000000" pitchFamily="65" charset="-122"/>
            </a:endParaRPr>
          </a:p>
        </p:txBody>
      </p:sp>
      <p:sp>
        <p:nvSpPr>
          <p:cNvPr id="2070" name="文本框 2069"/>
          <p:cNvSpPr txBox="1"/>
          <p:nvPr/>
        </p:nvSpPr>
        <p:spPr>
          <a:xfrm>
            <a:off x="3342640" y="4182745"/>
            <a:ext cx="5843270" cy="306705"/>
          </a:xfrm>
          <a:prstGeom prst="rect">
            <a:avLst/>
          </a:prstGeom>
          <a:noFill/>
        </p:spPr>
        <p:txBody>
          <a:bodyPr wrap="square" rtlCol="0">
            <a:spAutoFit/>
          </a:bodyPr>
          <a:lstStyle/>
          <a:p>
            <a:pPr algn="ctr"/>
            <a:endParaRPr sz="14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140340" y="809489"/>
            <a:ext cx="1972015" cy="707886"/>
          </a:xfrm>
          <a:prstGeom prst="rect">
            <a:avLst/>
          </a:prstGeom>
          <a:noFill/>
        </p:spPr>
        <p:txBody>
          <a:bodyPr wrap="none" rtlCol="0">
            <a:spAutoFit/>
          </a:bodyPr>
          <a:lstStyle/>
          <a:p>
            <a:pPr algn="ctr"/>
            <a:r>
              <a:rPr lang="en-US" altLang="zh-CN" sz="4000" b="1" dirty="0">
                <a:solidFill>
                  <a:schemeClr val="tx1">
                    <a:lumMod val="75000"/>
                    <a:lumOff val="25000"/>
                  </a:schemeClr>
                </a:solidFill>
                <a:latin typeface="Yuanti SC" panose="02010600040101010101" pitchFamily="2" charset="-122"/>
                <a:ea typeface="Yuanti SC" panose="02010600040101010101" pitchFamily="2" charset="-122"/>
              </a:rPr>
              <a:t>Stacking</a:t>
            </a:r>
            <a:endParaRPr lang="zh-CN" altLang="en-US" sz="4000" b="1" dirty="0">
              <a:solidFill>
                <a:schemeClr val="tx1">
                  <a:lumMod val="75000"/>
                  <a:lumOff val="25000"/>
                </a:schemeClr>
              </a:solidFill>
              <a:latin typeface="Yuanti SC" panose="02010600040101010101" pitchFamily="2" charset="-122"/>
              <a:ea typeface="Yuanti SC" panose="02010600040101010101" pitchFamily="2" charset="-122"/>
            </a:endParaRPr>
          </a:p>
        </p:txBody>
      </p:sp>
      <p:sp>
        <p:nvSpPr>
          <p:cNvPr id="2070" name="文本框 2069"/>
          <p:cNvSpPr txBox="1"/>
          <p:nvPr/>
        </p:nvSpPr>
        <p:spPr>
          <a:xfrm>
            <a:off x="3342640" y="4182745"/>
            <a:ext cx="5843270" cy="306705"/>
          </a:xfrm>
          <a:prstGeom prst="rect">
            <a:avLst/>
          </a:prstGeom>
          <a:noFill/>
        </p:spPr>
        <p:txBody>
          <a:bodyPr wrap="square" rtlCol="0">
            <a:spAutoFit/>
          </a:bodyPr>
          <a:lstStyle/>
          <a:p>
            <a:pPr algn="ctr"/>
            <a:endParaRPr sz="14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2" name="矩形 1"/>
          <p:cNvSpPr/>
          <p:nvPr/>
        </p:nvSpPr>
        <p:spPr>
          <a:xfrm>
            <a:off x="1140340" y="2053648"/>
            <a:ext cx="9753600" cy="2031325"/>
          </a:xfrm>
          <a:prstGeom prst="rect">
            <a:avLst/>
          </a:prstGeom>
        </p:spPr>
        <p:txBody>
          <a:bodyPr wrap="square">
            <a:spAutoFit/>
          </a:bodyPr>
          <a:lstStyle/>
          <a:p>
            <a:pPr algn="just">
              <a:lnSpc>
                <a:spcPct val="150000"/>
              </a:lnSpc>
            </a:pPr>
            <a:r>
              <a:rPr lang="en-US" altLang="zh-CN" sz="2800" dirty="0">
                <a:solidFill>
                  <a:schemeClr val="tx1">
                    <a:lumMod val="75000"/>
                    <a:lumOff val="25000"/>
                  </a:schemeClr>
                </a:solidFill>
                <a:latin typeface="Yuanti SC" panose="02010600040101010101" pitchFamily="2" charset="-122"/>
                <a:ea typeface="Yuanti SC" panose="02010600040101010101" pitchFamily="2" charset="-122"/>
              </a:rPr>
              <a:t>Stacking</a:t>
            </a:r>
            <a:r>
              <a:rPr lang="zh-CN" altLang="en-US" sz="2800" dirty="0"/>
              <a:t>算法的思想是用不同的子模型对输入提取不同的特征，然后拼接成一个特征向量，得到原始样本在特征空间的表示，然后在特征空间再训练一个学习器进行预测。</a:t>
            </a:r>
            <a:endParaRPr lang="zh-CN" altLang="en-US" sz="28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1287" y="377733"/>
            <a:ext cx="10012680" cy="869647"/>
          </a:xfrm>
        </p:spPr>
        <p:txBody>
          <a:bodyPr>
            <a:normAutofit/>
          </a:bodyPr>
          <a:lstStyle/>
          <a:p>
            <a:r>
              <a:rPr lang="zh-CN" altLang="zh-CN" sz="3200" b="1" dirty="0"/>
              <a:t>实例：基于梯度下降树实现波士顿房价预测</a:t>
            </a:r>
            <a:endParaRPr lang="zh-CN" altLang="en-US" sz="3200" b="1" dirty="0"/>
          </a:p>
        </p:txBody>
      </p:sp>
      <p:pic>
        <p:nvPicPr>
          <p:cNvPr id="5" name="图片 4"/>
          <p:cNvPicPr>
            <a:picLocks noChangeAspect="1"/>
          </p:cNvPicPr>
          <p:nvPr/>
        </p:nvPicPr>
        <p:blipFill>
          <a:blip r:embed="rId1"/>
          <a:stretch>
            <a:fillRect/>
          </a:stretch>
        </p:blipFill>
        <p:spPr>
          <a:xfrm>
            <a:off x="1569920" y="1247380"/>
            <a:ext cx="6789913" cy="4842589"/>
          </a:xfrm>
          <a:prstGeom prst="rect">
            <a:avLst/>
          </a:prstGeom>
        </p:spPr>
      </p:pic>
      <p:sp>
        <p:nvSpPr>
          <p:cNvPr id="3" name="矩形 2"/>
          <p:cNvSpPr/>
          <p:nvPr/>
        </p:nvSpPr>
        <p:spPr>
          <a:xfrm>
            <a:off x="5782888" y="3876378"/>
            <a:ext cx="5938058" cy="1323439"/>
          </a:xfrm>
          <a:prstGeom prst="rect">
            <a:avLst/>
          </a:prstGeom>
        </p:spPr>
        <p:txBody>
          <a:bodyPr wrap="square">
            <a:spAutoFit/>
          </a:bodyPr>
          <a:lstStyle/>
          <a:p>
            <a:r>
              <a:rPr lang="zh-CN" altLang="en-US" sz="1600" dirty="0"/>
              <a:t>其构造函数的</a:t>
            </a:r>
            <a:r>
              <a:rPr lang="en-US" altLang="zh-CN" sz="1600" dirty="0" err="1"/>
              <a:t>n_estimators</a:t>
            </a:r>
            <a:r>
              <a:rPr lang="zh-CN" altLang="en-US" sz="1600" dirty="0"/>
              <a:t>参数决定了集成模型中包含的决策树的个数，默认值为</a:t>
            </a:r>
            <a:r>
              <a:rPr lang="en-US" altLang="zh-CN" sz="1600" dirty="0"/>
              <a:t>100</a:t>
            </a:r>
            <a:r>
              <a:rPr lang="zh-CN" altLang="en-US" sz="1600" dirty="0"/>
              <a:t>。这里取</a:t>
            </a:r>
            <a:r>
              <a:rPr lang="en-US" altLang="zh-CN" sz="1600" dirty="0" err="1"/>
              <a:t>n_estimators</a:t>
            </a:r>
            <a:r>
              <a:rPr lang="en-US" altLang="zh-CN" sz="1600" dirty="0"/>
              <a:t>=50</a:t>
            </a:r>
            <a:r>
              <a:rPr lang="zh-CN" altLang="en-US" sz="1600" dirty="0"/>
              <a:t>，可以得到模型在训练集和测试集的准确率分别为</a:t>
            </a:r>
            <a:r>
              <a:rPr lang="en-US" altLang="zh-CN" sz="1600" dirty="0"/>
              <a:t>0.96</a:t>
            </a:r>
            <a:r>
              <a:rPr lang="zh-CN" altLang="en-US" sz="1600" dirty="0"/>
              <a:t>和</a:t>
            </a:r>
            <a:r>
              <a:rPr lang="en-US" altLang="zh-CN" sz="1600" dirty="0"/>
              <a:t>0.93</a:t>
            </a:r>
            <a:r>
              <a:rPr lang="zh-CN" altLang="en-US" sz="1600" dirty="0"/>
              <a:t>。当决策树过多时，集成模型整体表现为过拟合，反之则为欠拟合。因此在使用</a:t>
            </a:r>
            <a:r>
              <a:rPr lang="en-US" altLang="zh-CN" sz="1600" dirty="0"/>
              <a:t>GBDT</a:t>
            </a:r>
            <a:r>
              <a:rPr lang="zh-CN" altLang="en-US" sz="1600" dirty="0"/>
              <a:t>模型时，</a:t>
            </a:r>
            <a:r>
              <a:rPr lang="en-US" altLang="zh-CN" sz="1600" dirty="0" err="1"/>
              <a:t>n_estimators</a:t>
            </a:r>
            <a:r>
              <a:rPr lang="zh-CN" altLang="en-US" sz="1600" dirty="0"/>
              <a:t>是一个非常重要的超参数。</a:t>
            </a:r>
            <a:endParaRPr lang="zh-CN" altLang="en-US" sz="160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777240" y="584573"/>
            <a:ext cx="10012680" cy="869647"/>
          </a:xfrm>
        </p:spPr>
        <p:txBody>
          <a:bodyPr>
            <a:normAutofit fontScale="90000"/>
          </a:bodyPr>
          <a:p>
            <a:r>
              <a:rPr lang="zh-CN" altLang="zh-CN" dirty="0"/>
              <a:t>实例：基于梯度下降树实现波士顿房价预测</a:t>
            </a:r>
            <a:endParaRPr lang="zh-CN" altLang="en-US" dirty="0"/>
          </a:p>
        </p:txBody>
      </p:sp>
      <p:sp>
        <p:nvSpPr>
          <p:cNvPr id="7" name="文本框 6"/>
          <p:cNvSpPr txBox="1"/>
          <p:nvPr/>
        </p:nvSpPr>
        <p:spPr>
          <a:xfrm>
            <a:off x="777240" y="2853144"/>
            <a:ext cx="4191000" cy="2308324"/>
          </a:xfrm>
          <a:prstGeom prst="rect">
            <a:avLst/>
          </a:prstGeom>
          <a:noFill/>
        </p:spPr>
        <p:txBody>
          <a:bodyPr wrap="square" rtlCol="0">
            <a:spAutoFit/>
          </a:bodyPr>
          <a:p>
            <a:r>
              <a:rPr lang="zh-CN" altLang="zh-CN" sz="2400" dirty="0"/>
              <a:t>为了方便搜索超参数，</a:t>
            </a:r>
            <a:r>
              <a:rPr lang="en-US" altLang="zh-CN" sz="2400" dirty="0"/>
              <a:t>sklearn</a:t>
            </a:r>
            <a:r>
              <a:rPr lang="zh-CN" altLang="zh-CN" sz="2400" dirty="0"/>
              <a:t>还提供了一个辅助函数</a:t>
            </a:r>
            <a:r>
              <a:rPr lang="en-US" altLang="zh-CN" sz="2400" dirty="0"/>
              <a:t>validation_curve</a:t>
            </a:r>
            <a:r>
              <a:rPr lang="zh-CN" altLang="zh-CN" sz="2400" dirty="0"/>
              <a:t>。这个函数可以帮助我们看到</a:t>
            </a:r>
            <a:r>
              <a:rPr lang="en-US" altLang="zh-CN" sz="2400" dirty="0"/>
              <a:t>n_estimators</a:t>
            </a:r>
            <a:r>
              <a:rPr lang="zh-CN" altLang="zh-CN" sz="2400" dirty="0"/>
              <a:t>的取值是如何影响模型准确性</a:t>
            </a:r>
            <a:r>
              <a:rPr lang="zh-CN" altLang="zh-CN" sz="2400" dirty="0" smtClean="0"/>
              <a:t>的</a:t>
            </a:r>
            <a:r>
              <a:rPr lang="zh-CN" altLang="en-US" sz="2400" dirty="0" smtClean="0"/>
              <a:t>。</a:t>
            </a:r>
            <a:endParaRPr lang="zh-CN" altLang="en-US" sz="2400" dirty="0"/>
          </a:p>
        </p:txBody>
      </p:sp>
      <p:pic>
        <p:nvPicPr>
          <p:cNvPr id="8" name="图片 7"/>
          <p:cNvPicPr>
            <a:picLocks noChangeAspect="1"/>
          </p:cNvPicPr>
          <p:nvPr/>
        </p:nvPicPr>
        <p:blipFill>
          <a:blip r:embed="rId1"/>
          <a:stretch>
            <a:fillRect/>
          </a:stretch>
        </p:blipFill>
        <p:spPr>
          <a:xfrm>
            <a:off x="6096000" y="1484708"/>
            <a:ext cx="5185712" cy="5045196"/>
          </a:xfrm>
          <a:prstGeom prst="rect">
            <a:avLst/>
          </a:prstGeom>
        </p:spPr>
      </p:pic>
    </p:spTree>
  </p:cSld>
  <p:clrMapOvr>
    <a:masterClrMapping/>
  </p:clrMapOvr>
  <p:transition spd="slow">
    <p:fade/>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63388" y="412451"/>
            <a:ext cx="10012680" cy="869647"/>
          </a:xfrm>
        </p:spPr>
        <p:txBody>
          <a:bodyPr>
            <a:normAutofit/>
          </a:bodyPr>
          <a:lstStyle/>
          <a:p>
            <a:r>
              <a:rPr lang="zh-CN" altLang="zh-CN" sz="3200" b="1" dirty="0"/>
              <a:t>实例：基于梯度下降树实现波士顿房价预测</a:t>
            </a:r>
            <a:endParaRPr lang="zh-CN" altLang="en-US" sz="3200" b="1" dirty="0"/>
          </a:p>
        </p:txBody>
      </p:sp>
      <p:sp>
        <p:nvSpPr>
          <p:cNvPr id="6" name="文本框 5"/>
          <p:cNvSpPr txBox="1"/>
          <p:nvPr/>
        </p:nvSpPr>
        <p:spPr>
          <a:xfrm>
            <a:off x="777240" y="1809652"/>
            <a:ext cx="4191000" cy="646331"/>
          </a:xfrm>
          <a:prstGeom prst="rect">
            <a:avLst/>
          </a:prstGeom>
          <a:noFill/>
        </p:spPr>
        <p:txBody>
          <a:bodyPr wrap="square" rtlCol="0">
            <a:spAutoFit/>
          </a:bodyPr>
          <a:lstStyle/>
          <a:p>
            <a:r>
              <a:rPr lang="zh-CN" altLang="zh-CN" dirty="0"/>
              <a:t>对</a:t>
            </a:r>
            <a:r>
              <a:rPr lang="en-US" altLang="zh-CN" dirty="0"/>
              <a:t>validation_curve</a:t>
            </a:r>
            <a:r>
              <a:rPr lang="zh-CN" altLang="zh-CN" dirty="0"/>
              <a:t>的输出进行可视化</a:t>
            </a:r>
            <a:r>
              <a:rPr lang="zh-CN" altLang="en-US" dirty="0"/>
              <a:t>，得到如下结果</a:t>
            </a:r>
            <a:endParaRPr lang="zh-CN" altLang="en-US" dirty="0"/>
          </a:p>
        </p:txBody>
      </p:sp>
      <p:pic>
        <p:nvPicPr>
          <p:cNvPr id="4" name="图片 3"/>
          <p:cNvPicPr>
            <a:picLocks noChangeAspect="1"/>
          </p:cNvPicPr>
          <p:nvPr/>
        </p:nvPicPr>
        <p:blipFill>
          <a:blip r:embed="rId1"/>
          <a:stretch>
            <a:fillRect/>
          </a:stretch>
        </p:blipFill>
        <p:spPr>
          <a:xfrm>
            <a:off x="5176737" y="1411190"/>
            <a:ext cx="6664743" cy="4994989"/>
          </a:xfrm>
          <a:prstGeom prst="rect">
            <a:avLst/>
          </a:prstGeom>
        </p:spPr>
      </p:pic>
      <p:pic>
        <p:nvPicPr>
          <p:cNvPr id="8" name="图片 7"/>
          <p:cNvPicPr>
            <a:picLocks noChangeAspect="1"/>
          </p:cNvPicPr>
          <p:nvPr/>
        </p:nvPicPr>
        <p:blipFill>
          <a:blip r:embed="rId2"/>
          <a:stretch>
            <a:fillRect/>
          </a:stretch>
        </p:blipFill>
        <p:spPr>
          <a:xfrm>
            <a:off x="484297" y="3055172"/>
            <a:ext cx="4776885" cy="3068619"/>
          </a:xfrm>
          <a:prstGeom prst="rect">
            <a:avLst/>
          </a:prstGeom>
        </p:spPr>
      </p:pic>
    </p:spTree>
  </p:cSld>
  <p:clrMapOvr>
    <a:masterClrMapping/>
  </p:clrMapOvr>
  <p:transition spd="slow">
    <p:fade/>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61421" y="475111"/>
            <a:ext cx="8015583" cy="534035"/>
          </a:xfrm>
        </p:spPr>
        <p:txBody>
          <a:bodyPr/>
          <a:lstStyle/>
          <a:p>
            <a:pPr eaLnBrk="1" fontAlgn="auto" hangingPunct="1">
              <a:defRPr/>
            </a:pPr>
            <a:r>
              <a:rPr lang="zh-CN" altLang="en-US" noProof="1"/>
              <a:t>上机练习</a:t>
            </a:r>
            <a:endParaRPr noProof="1"/>
          </a:p>
        </p:txBody>
      </p:sp>
      <p:sp>
        <p:nvSpPr>
          <p:cNvPr id="30723" name="文本框 2"/>
          <p:cNvSpPr txBox="1">
            <a:spLocks noChangeArrowheads="1"/>
          </p:cNvSpPr>
          <p:nvPr/>
        </p:nvSpPr>
        <p:spPr bwMode="auto">
          <a:xfrm>
            <a:off x="1450975" y="1427525"/>
            <a:ext cx="10010340" cy="4893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Light" panose="020F0302020204030204" pitchFamily="34" charset="0"/>
                <a:ea typeface="微软雅黑 Light" panose="020B0502040204020203" pitchFamily="34" charset="-122"/>
              </a:defRPr>
            </a:lvl1pPr>
            <a:lvl2pPr marL="742950" indent="-285750">
              <a:defRPr>
                <a:solidFill>
                  <a:schemeClr val="tx1"/>
                </a:solidFill>
                <a:latin typeface="Calibri Light" panose="020F0302020204030204" pitchFamily="34" charset="0"/>
                <a:ea typeface="微软雅黑 Light" panose="020B0502040204020203" pitchFamily="34" charset="-122"/>
              </a:defRPr>
            </a:lvl2pPr>
            <a:lvl3pPr marL="1143000" indent="-228600">
              <a:defRPr>
                <a:solidFill>
                  <a:schemeClr val="tx1"/>
                </a:solidFill>
                <a:latin typeface="Calibri Light" panose="020F0302020204030204" pitchFamily="34" charset="0"/>
                <a:ea typeface="微软雅黑 Light" panose="020B0502040204020203" pitchFamily="34" charset="-122"/>
              </a:defRPr>
            </a:lvl3pPr>
            <a:lvl4pPr marL="1600200" indent="-228600">
              <a:defRPr>
                <a:solidFill>
                  <a:schemeClr val="tx1"/>
                </a:solidFill>
                <a:latin typeface="Calibri Light" panose="020F0302020204030204" pitchFamily="34" charset="0"/>
                <a:ea typeface="微软雅黑 Light" panose="020B0502040204020203" pitchFamily="34" charset="-122"/>
              </a:defRPr>
            </a:lvl4pPr>
            <a:lvl5pPr marL="2057400" indent="-228600">
              <a:defRPr>
                <a:solidFill>
                  <a:schemeClr val="tx1"/>
                </a:solidFill>
                <a:latin typeface="Calibri Light" panose="020F0302020204030204" pitchFamily="34" charset="0"/>
                <a:ea typeface="微软雅黑 Light" panose="020B0502040204020203" pitchFamily="34" charset="-122"/>
              </a:defRPr>
            </a:lvl5pPr>
            <a:lvl6pPr marL="2514600" indent="-228600" eaLnBrk="0" fontAlgn="base" hangingPunct="0">
              <a:spcBef>
                <a:spcPct val="0"/>
              </a:spcBef>
              <a:spcAft>
                <a:spcPct val="0"/>
              </a:spcAft>
              <a:defRPr>
                <a:solidFill>
                  <a:schemeClr val="tx1"/>
                </a:solidFill>
                <a:latin typeface="Calibri Light" panose="020F0302020204030204" pitchFamily="34" charset="0"/>
                <a:ea typeface="微软雅黑 Light" panose="020B0502040204020203" pitchFamily="34" charset="-122"/>
              </a:defRPr>
            </a:lvl6pPr>
            <a:lvl7pPr marL="2971800" indent="-228600" eaLnBrk="0" fontAlgn="base" hangingPunct="0">
              <a:spcBef>
                <a:spcPct val="0"/>
              </a:spcBef>
              <a:spcAft>
                <a:spcPct val="0"/>
              </a:spcAft>
              <a:defRPr>
                <a:solidFill>
                  <a:schemeClr val="tx1"/>
                </a:solidFill>
                <a:latin typeface="Calibri Light" panose="020F0302020204030204" pitchFamily="34" charset="0"/>
                <a:ea typeface="微软雅黑 Light" panose="020B0502040204020203" pitchFamily="34" charset="-122"/>
              </a:defRPr>
            </a:lvl7pPr>
            <a:lvl8pPr marL="3429000" indent="-228600" eaLnBrk="0" fontAlgn="base" hangingPunct="0">
              <a:spcBef>
                <a:spcPct val="0"/>
              </a:spcBef>
              <a:spcAft>
                <a:spcPct val="0"/>
              </a:spcAft>
              <a:defRPr>
                <a:solidFill>
                  <a:schemeClr val="tx1"/>
                </a:solidFill>
                <a:latin typeface="Calibri Light" panose="020F0302020204030204" pitchFamily="34" charset="0"/>
                <a:ea typeface="微软雅黑 Light" panose="020B0502040204020203" pitchFamily="34" charset="-122"/>
              </a:defRPr>
            </a:lvl8pPr>
            <a:lvl9pPr marL="3886200" indent="-228600" eaLnBrk="0" fontAlgn="base" hangingPunct="0">
              <a:spcBef>
                <a:spcPct val="0"/>
              </a:spcBef>
              <a:spcAft>
                <a:spcPct val="0"/>
              </a:spcAft>
              <a:defRPr>
                <a:solidFill>
                  <a:schemeClr val="tx1"/>
                </a:solidFill>
                <a:latin typeface="Calibri Light" panose="020F0302020204030204" pitchFamily="34" charset="0"/>
                <a:ea typeface="微软雅黑 Light" panose="020B0502040204020203" pitchFamily="34" charset="-122"/>
              </a:defRPr>
            </a:lvl9pPr>
          </a:lstStyle>
          <a:p>
            <a:pPr>
              <a:lnSpc>
                <a:spcPct val="150000"/>
              </a:lnSpc>
            </a:pPr>
            <a:r>
              <a:rPr lang="en-US" altLang="zh-CN" sz="2400" dirty="0">
                <a:latin typeface="宋体" panose="02010600030101010101" pitchFamily="2" charset="-122"/>
                <a:ea typeface="宋体" panose="02010600030101010101" pitchFamily="2" charset="-122"/>
              </a:rPr>
              <a:t>1.</a:t>
            </a:r>
            <a:r>
              <a:rPr lang="zh-CN" altLang="zh-CN" sz="2400" dirty="0">
                <a:latin typeface="宋体" panose="02010600030101010101" pitchFamily="2" charset="-122"/>
                <a:ea typeface="宋体" panose="02010600030101010101" pitchFamily="2" charset="-122"/>
              </a:rPr>
              <a:t>使用</a:t>
            </a:r>
            <a:r>
              <a:rPr lang="en-US" altLang="zh-CN" sz="2400" dirty="0" err="1">
                <a:latin typeface="宋体" panose="02010600030101010101" pitchFamily="2" charset="-122"/>
                <a:ea typeface="宋体" panose="02010600030101010101" pitchFamily="2" charset="-122"/>
              </a:rPr>
              <a:t>sklearn</a:t>
            </a:r>
            <a:r>
              <a:rPr lang="zh-CN" altLang="zh-CN" sz="2400" dirty="0">
                <a:latin typeface="宋体" panose="02010600030101010101" pitchFamily="2" charset="-122"/>
                <a:ea typeface="宋体" panose="02010600030101010101" pitchFamily="2" charset="-122"/>
              </a:rPr>
              <a:t>的随机森林算法对样本数据进行分类，要求：</a:t>
            </a:r>
            <a:endParaRPr lang="zh-CN" altLang="zh-CN" sz="2400" dirty="0">
              <a:latin typeface="宋体" panose="02010600030101010101" pitchFamily="2" charset="-122"/>
              <a:ea typeface="宋体" panose="02010600030101010101" pitchFamily="2" charset="-122"/>
            </a:endParaRPr>
          </a:p>
          <a:p>
            <a:pPr fontAlgn="ctr">
              <a:lnSpc>
                <a:spcPct val="150000"/>
              </a:lnSpc>
            </a:pPr>
            <a:r>
              <a:rPr lang="en-US" altLang="zh-CN" sz="2400" dirty="0">
                <a:latin typeface="宋体" panose="02010600030101010101" pitchFamily="2" charset="-122"/>
                <a:ea typeface="宋体" panose="02010600030101010101" pitchFamily="2" charset="-122"/>
              </a:rPr>
              <a:t>(1) </a:t>
            </a:r>
            <a:r>
              <a:rPr lang="zh-CN" altLang="zh-CN" sz="2400" dirty="0">
                <a:latin typeface="宋体" panose="02010600030101010101" pitchFamily="2" charset="-122"/>
                <a:ea typeface="宋体" panose="02010600030101010101" pitchFamily="2" charset="-122"/>
              </a:rPr>
              <a:t>导入乳腺癌数据集 </a:t>
            </a:r>
            <a:endParaRPr lang="zh-CN" altLang="zh-CN" sz="2400" dirty="0">
              <a:latin typeface="宋体" panose="02010600030101010101" pitchFamily="2" charset="-122"/>
              <a:ea typeface="宋体" panose="02010600030101010101" pitchFamily="2" charset="-122"/>
            </a:endParaRPr>
          </a:p>
          <a:p>
            <a:pPr fontAlgn="ctr">
              <a:lnSpc>
                <a:spcPct val="150000"/>
              </a:lnSpc>
            </a:pPr>
            <a:r>
              <a:rPr lang="en-US" altLang="zh-CN" sz="2400" dirty="0">
                <a:latin typeface="宋体" panose="02010600030101010101" pitchFamily="2" charset="-122"/>
                <a:ea typeface="宋体" panose="02010600030101010101" pitchFamily="2" charset="-122"/>
              </a:rPr>
              <a:t>(2) </a:t>
            </a:r>
            <a:r>
              <a:rPr lang="zh-CN" altLang="en-US" sz="2400" dirty="0">
                <a:latin typeface="宋体" panose="02010600030101010101" pitchFamily="2" charset="-122"/>
                <a:ea typeface="宋体" panose="02010600030101010101" pitchFamily="2" charset="-122"/>
              </a:rPr>
              <a:t>利用交叉验证对比</a:t>
            </a:r>
            <a:r>
              <a:rPr lang="zh-CN" altLang="zh-CN" sz="2400" dirty="0">
                <a:latin typeface="宋体" panose="02010600030101010101" pitchFamily="2" charset="-122"/>
                <a:ea typeface="宋体" panose="02010600030101010101" pitchFamily="2" charset="-122"/>
              </a:rPr>
              <a:t>随机森林算法和决策树的分类效果；</a:t>
            </a:r>
            <a:endParaRPr lang="en-US" altLang="zh-CN" sz="2400" dirty="0">
              <a:latin typeface="宋体" panose="02010600030101010101" pitchFamily="2" charset="-122"/>
              <a:ea typeface="宋体" panose="02010600030101010101" pitchFamily="2" charset="-122"/>
            </a:endParaRPr>
          </a:p>
          <a:p>
            <a:pPr fontAlgn="ctr">
              <a:lnSpc>
                <a:spcPct val="150000"/>
              </a:lnSpc>
            </a:pPr>
            <a:r>
              <a:rPr lang="en-US" altLang="zh-CN" sz="2400" dirty="0">
                <a:latin typeface="宋体" panose="02010600030101010101" pitchFamily="2" charset="-122"/>
                <a:ea typeface="宋体" panose="02010600030101010101" pitchFamily="2" charset="-122"/>
              </a:rPr>
              <a:t>(3) </a:t>
            </a:r>
            <a:r>
              <a:rPr lang="zh-CN" altLang="zh-CN" sz="2400" dirty="0">
                <a:latin typeface="宋体" panose="02010600030101010101" pitchFamily="2" charset="-122"/>
                <a:ea typeface="宋体" panose="02010600030101010101" pitchFamily="2" charset="-122"/>
              </a:rPr>
              <a:t>测试弱分类器个数</a:t>
            </a:r>
            <a:r>
              <a:rPr lang="en-US" altLang="zh-CN" sz="2400" dirty="0" err="1">
                <a:latin typeface="宋体" panose="02010600030101010101" pitchFamily="2" charset="-122"/>
                <a:ea typeface="宋体" panose="02010600030101010101" pitchFamily="2" charset="-122"/>
              </a:rPr>
              <a:t>n_estimators</a:t>
            </a:r>
            <a:r>
              <a:rPr lang="zh-CN" altLang="zh-CN" sz="2400" dirty="0">
                <a:latin typeface="宋体" panose="02010600030101010101" pitchFamily="2" charset="-122"/>
                <a:ea typeface="宋体" panose="02010600030101010101" pitchFamily="2" charset="-122"/>
              </a:rPr>
              <a:t>对分类精度的影响。</a:t>
            </a:r>
            <a:endParaRPr lang="en-US" altLang="zh-CN" sz="2400" dirty="0">
              <a:latin typeface="宋体" panose="02010600030101010101" pitchFamily="2" charset="-122"/>
              <a:ea typeface="宋体" panose="02010600030101010101" pitchFamily="2" charset="-122"/>
            </a:endParaRPr>
          </a:p>
          <a:p>
            <a:pPr fontAlgn="ctr"/>
            <a:endParaRPr lang="zh-CN" altLang="zh-CN" sz="2400" dirty="0">
              <a:latin typeface="宋体" panose="02010600030101010101" pitchFamily="2" charset="-122"/>
              <a:ea typeface="宋体" panose="02010600030101010101" pitchFamily="2" charset="-122"/>
            </a:endParaRPr>
          </a:p>
          <a:p>
            <a:pPr>
              <a:lnSpc>
                <a:spcPct val="150000"/>
              </a:lnSpc>
            </a:pPr>
            <a:r>
              <a:rPr lang="en-US" altLang="zh-CN" sz="2400" dirty="0">
                <a:latin typeface="宋体" panose="02010600030101010101" pitchFamily="2" charset="-122"/>
                <a:ea typeface="宋体" panose="02010600030101010101" pitchFamily="2" charset="-122"/>
              </a:rPr>
              <a:t>2.</a:t>
            </a:r>
            <a:r>
              <a:rPr lang="zh-CN" altLang="en-US" sz="2400" dirty="0">
                <a:latin typeface="宋体" panose="02010600030101010101" pitchFamily="2" charset="-122"/>
                <a:ea typeface="宋体" panose="02010600030101010101" pitchFamily="2" charset="-122"/>
              </a:rPr>
              <a:t>使用</a:t>
            </a:r>
            <a:r>
              <a:rPr lang="en-US" altLang="zh-CN" sz="2400" dirty="0" err="1">
                <a:latin typeface="宋体" panose="02010600030101010101" pitchFamily="2" charset="-122"/>
                <a:ea typeface="宋体" panose="02010600030101010101" pitchFamily="2" charset="-122"/>
              </a:rPr>
              <a:t>sklearn</a:t>
            </a:r>
            <a:r>
              <a:rPr lang="zh-CN" altLang="en-US" sz="2400" dirty="0">
                <a:latin typeface="宋体" panose="02010600030101010101" pitchFamily="2" charset="-122"/>
                <a:ea typeface="宋体" panose="02010600030101010101" pitchFamily="2" charset="-122"/>
              </a:rPr>
              <a:t>的</a:t>
            </a:r>
            <a:r>
              <a:rPr lang="en-US" altLang="zh-CN" sz="2400" dirty="0" err="1">
                <a:latin typeface="宋体" panose="02010600030101010101" pitchFamily="2" charset="-122"/>
                <a:ea typeface="宋体" panose="02010600030101010101" pitchFamily="2" charset="-122"/>
              </a:rPr>
              <a:t>AdaBoost</a:t>
            </a:r>
            <a:r>
              <a:rPr lang="zh-CN" altLang="en-US" sz="2400" dirty="0">
                <a:latin typeface="宋体" panose="02010600030101010101" pitchFamily="2" charset="-122"/>
                <a:ea typeface="宋体" panose="02010600030101010101" pitchFamily="2" charset="-122"/>
              </a:rPr>
              <a:t>算法对样本数据进行分类，要求：</a:t>
            </a:r>
            <a:endParaRPr lang="zh-CN" altLang="en-US" sz="2400" dirty="0">
              <a:latin typeface="宋体" panose="02010600030101010101" pitchFamily="2" charset="-122"/>
              <a:ea typeface="宋体" panose="02010600030101010101" pitchFamily="2" charset="-122"/>
            </a:endParaRPr>
          </a:p>
          <a:p>
            <a:pPr>
              <a:lnSpc>
                <a:spcPct val="150000"/>
              </a:lnSpc>
            </a:pPr>
            <a:r>
              <a:rPr lang="en-US" altLang="zh-CN" sz="2400" dirty="0">
                <a:latin typeface="宋体" panose="02010600030101010101" pitchFamily="2" charset="-122"/>
                <a:ea typeface="宋体" panose="02010600030101010101" pitchFamily="2" charset="-122"/>
              </a:rPr>
              <a:t>(1) </a:t>
            </a:r>
            <a:r>
              <a:rPr lang="zh-CN" altLang="en-US" sz="2400" dirty="0">
                <a:latin typeface="宋体" panose="02010600030101010101" pitchFamily="2" charset="-122"/>
                <a:ea typeface="宋体" panose="02010600030101010101" pitchFamily="2" charset="-122"/>
              </a:rPr>
              <a:t>导入乳腺癌数据集 </a:t>
            </a:r>
            <a:endParaRPr lang="zh-CN" altLang="en-US" sz="2400" dirty="0">
              <a:latin typeface="宋体" panose="02010600030101010101" pitchFamily="2" charset="-122"/>
              <a:ea typeface="宋体" panose="02010600030101010101" pitchFamily="2" charset="-122"/>
            </a:endParaRPr>
          </a:p>
          <a:p>
            <a:pPr fontAlgn="ctr">
              <a:lnSpc>
                <a:spcPct val="150000"/>
              </a:lnSpc>
            </a:pPr>
            <a:r>
              <a:rPr lang="en-US" altLang="zh-CN" sz="2400" dirty="0">
                <a:latin typeface="宋体" panose="02010600030101010101" pitchFamily="2" charset="-122"/>
                <a:ea typeface="宋体" panose="02010600030101010101" pitchFamily="2" charset="-122"/>
              </a:rPr>
              <a:t>(2) </a:t>
            </a:r>
            <a:r>
              <a:rPr lang="zh-CN" altLang="zh-CN" sz="2400" dirty="0">
                <a:latin typeface="宋体" panose="02010600030101010101" pitchFamily="2" charset="-122"/>
                <a:ea typeface="宋体" panose="02010600030101010101" pitchFamily="2" charset="-122"/>
              </a:rPr>
              <a:t>对比</a:t>
            </a:r>
            <a:r>
              <a:rPr lang="en-US" altLang="zh-CN" sz="2400" dirty="0" err="1">
                <a:latin typeface="宋体" panose="02010600030101010101" pitchFamily="2" charset="-122"/>
                <a:ea typeface="宋体" panose="02010600030101010101" pitchFamily="2" charset="-122"/>
              </a:rPr>
              <a:t>AdaBoost</a:t>
            </a:r>
            <a:r>
              <a:rPr lang="zh-CN" altLang="zh-CN" sz="2400" dirty="0">
                <a:latin typeface="宋体" panose="02010600030101010101" pitchFamily="2" charset="-122"/>
                <a:ea typeface="宋体" panose="02010600030101010101" pitchFamily="2" charset="-122"/>
              </a:rPr>
              <a:t>和决策树的分类效果；</a:t>
            </a:r>
            <a:endParaRPr lang="zh-CN" altLang="zh-CN" sz="2400" dirty="0">
              <a:latin typeface="宋体" panose="02010600030101010101" pitchFamily="2" charset="-122"/>
              <a:ea typeface="宋体" panose="02010600030101010101" pitchFamily="2" charset="-122"/>
            </a:endParaRPr>
          </a:p>
          <a:p>
            <a:pPr>
              <a:lnSpc>
                <a:spcPct val="150000"/>
              </a:lnSpc>
            </a:pPr>
            <a:r>
              <a:rPr lang="en-US" altLang="zh-CN" sz="2400" dirty="0">
                <a:latin typeface="宋体" panose="02010600030101010101" pitchFamily="2" charset="-122"/>
                <a:ea typeface="宋体" panose="02010600030101010101" pitchFamily="2" charset="-122"/>
              </a:rPr>
              <a:t>(3) </a:t>
            </a:r>
            <a:r>
              <a:rPr lang="zh-CN" altLang="en-US" sz="2400" dirty="0">
                <a:latin typeface="宋体" panose="02010600030101010101" pitchFamily="2" charset="-122"/>
                <a:ea typeface="宋体" panose="02010600030101010101" pitchFamily="2" charset="-122"/>
              </a:rPr>
              <a:t>测试</a:t>
            </a:r>
            <a:r>
              <a:rPr lang="en-US" altLang="zh-CN" sz="2400" dirty="0" err="1">
                <a:latin typeface="宋体" panose="02010600030101010101" pitchFamily="2" charset="-122"/>
                <a:ea typeface="宋体" panose="02010600030101010101" pitchFamily="2" charset="-122"/>
              </a:rPr>
              <a:t>n_estimators</a:t>
            </a:r>
            <a:r>
              <a:rPr lang="zh-CN" altLang="en-US" sz="2400" dirty="0">
                <a:latin typeface="宋体" panose="02010600030101010101" pitchFamily="2" charset="-122"/>
                <a:ea typeface="宋体" panose="02010600030101010101" pitchFamily="2" charset="-122"/>
              </a:rPr>
              <a:t>参数对分类效果的影响。</a:t>
            </a:r>
            <a:endParaRPr lang="zh-CN" altLang="en-US" sz="2400"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61421" y="475111"/>
            <a:ext cx="8015583" cy="534035"/>
          </a:xfrm>
        </p:spPr>
        <p:txBody>
          <a:bodyPr/>
          <a:lstStyle/>
          <a:p>
            <a:pPr eaLnBrk="1" fontAlgn="auto" hangingPunct="1">
              <a:defRPr/>
            </a:pPr>
            <a:r>
              <a:rPr lang="zh-CN" altLang="en-US" noProof="1"/>
              <a:t>上机练习</a:t>
            </a:r>
            <a:endParaRPr noProof="1"/>
          </a:p>
        </p:txBody>
      </p:sp>
      <p:sp>
        <p:nvSpPr>
          <p:cNvPr id="30723" name="文本框 2"/>
          <p:cNvSpPr txBox="1">
            <a:spLocks noChangeArrowheads="1"/>
          </p:cNvSpPr>
          <p:nvPr/>
        </p:nvSpPr>
        <p:spPr bwMode="auto">
          <a:xfrm>
            <a:off x="1450975" y="1427525"/>
            <a:ext cx="10010340" cy="3970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Light" panose="020F0302020204030204" pitchFamily="34" charset="0"/>
                <a:ea typeface="微软雅黑 Light" panose="020B0502040204020203" pitchFamily="34" charset="-122"/>
              </a:defRPr>
            </a:lvl1pPr>
            <a:lvl2pPr marL="742950" indent="-285750">
              <a:defRPr>
                <a:solidFill>
                  <a:schemeClr val="tx1"/>
                </a:solidFill>
                <a:latin typeface="Calibri Light" panose="020F0302020204030204" pitchFamily="34" charset="0"/>
                <a:ea typeface="微软雅黑 Light" panose="020B0502040204020203" pitchFamily="34" charset="-122"/>
              </a:defRPr>
            </a:lvl2pPr>
            <a:lvl3pPr marL="1143000" indent="-228600">
              <a:defRPr>
                <a:solidFill>
                  <a:schemeClr val="tx1"/>
                </a:solidFill>
                <a:latin typeface="Calibri Light" panose="020F0302020204030204" pitchFamily="34" charset="0"/>
                <a:ea typeface="微软雅黑 Light" panose="020B0502040204020203" pitchFamily="34" charset="-122"/>
              </a:defRPr>
            </a:lvl3pPr>
            <a:lvl4pPr marL="1600200" indent="-228600">
              <a:defRPr>
                <a:solidFill>
                  <a:schemeClr val="tx1"/>
                </a:solidFill>
                <a:latin typeface="Calibri Light" panose="020F0302020204030204" pitchFamily="34" charset="0"/>
                <a:ea typeface="微软雅黑 Light" panose="020B0502040204020203" pitchFamily="34" charset="-122"/>
              </a:defRPr>
            </a:lvl4pPr>
            <a:lvl5pPr marL="2057400" indent="-228600">
              <a:defRPr>
                <a:solidFill>
                  <a:schemeClr val="tx1"/>
                </a:solidFill>
                <a:latin typeface="Calibri Light" panose="020F0302020204030204" pitchFamily="34" charset="0"/>
                <a:ea typeface="微软雅黑 Light" panose="020B0502040204020203" pitchFamily="34" charset="-122"/>
              </a:defRPr>
            </a:lvl5pPr>
            <a:lvl6pPr marL="2514600" indent="-228600" eaLnBrk="0" fontAlgn="base" hangingPunct="0">
              <a:spcBef>
                <a:spcPct val="0"/>
              </a:spcBef>
              <a:spcAft>
                <a:spcPct val="0"/>
              </a:spcAft>
              <a:defRPr>
                <a:solidFill>
                  <a:schemeClr val="tx1"/>
                </a:solidFill>
                <a:latin typeface="Calibri Light" panose="020F0302020204030204" pitchFamily="34" charset="0"/>
                <a:ea typeface="微软雅黑 Light" panose="020B0502040204020203" pitchFamily="34" charset="-122"/>
              </a:defRPr>
            </a:lvl6pPr>
            <a:lvl7pPr marL="2971800" indent="-228600" eaLnBrk="0" fontAlgn="base" hangingPunct="0">
              <a:spcBef>
                <a:spcPct val="0"/>
              </a:spcBef>
              <a:spcAft>
                <a:spcPct val="0"/>
              </a:spcAft>
              <a:defRPr>
                <a:solidFill>
                  <a:schemeClr val="tx1"/>
                </a:solidFill>
                <a:latin typeface="Calibri Light" panose="020F0302020204030204" pitchFamily="34" charset="0"/>
                <a:ea typeface="微软雅黑 Light" panose="020B0502040204020203" pitchFamily="34" charset="-122"/>
              </a:defRPr>
            </a:lvl7pPr>
            <a:lvl8pPr marL="3429000" indent="-228600" eaLnBrk="0" fontAlgn="base" hangingPunct="0">
              <a:spcBef>
                <a:spcPct val="0"/>
              </a:spcBef>
              <a:spcAft>
                <a:spcPct val="0"/>
              </a:spcAft>
              <a:defRPr>
                <a:solidFill>
                  <a:schemeClr val="tx1"/>
                </a:solidFill>
                <a:latin typeface="Calibri Light" panose="020F0302020204030204" pitchFamily="34" charset="0"/>
                <a:ea typeface="微软雅黑 Light" panose="020B0502040204020203" pitchFamily="34" charset="-122"/>
              </a:defRPr>
            </a:lvl8pPr>
            <a:lvl9pPr marL="3886200" indent="-228600" eaLnBrk="0" fontAlgn="base" hangingPunct="0">
              <a:spcBef>
                <a:spcPct val="0"/>
              </a:spcBef>
              <a:spcAft>
                <a:spcPct val="0"/>
              </a:spcAft>
              <a:defRPr>
                <a:solidFill>
                  <a:schemeClr val="tx1"/>
                </a:solidFill>
                <a:latin typeface="Calibri Light" panose="020F0302020204030204" pitchFamily="34" charset="0"/>
                <a:ea typeface="微软雅黑 Light" panose="020B0502040204020203" pitchFamily="34" charset="-122"/>
              </a:defRPr>
            </a:lvl9pPr>
          </a:lstStyle>
          <a:p>
            <a:pPr>
              <a:lnSpc>
                <a:spcPct val="150000"/>
              </a:lnSpc>
            </a:pPr>
            <a:r>
              <a:rPr lang="en-US" altLang="zh-CN" sz="2400" dirty="0">
                <a:latin typeface="宋体" panose="02010600030101010101" pitchFamily="2" charset="-122"/>
                <a:ea typeface="宋体" panose="02010600030101010101" pitchFamily="2" charset="-122"/>
              </a:rPr>
              <a:t>3.</a:t>
            </a:r>
            <a:r>
              <a:rPr lang="zh-CN" altLang="en-US" sz="2400" dirty="0">
                <a:latin typeface="宋体" panose="02010600030101010101" pitchFamily="2" charset="-122"/>
                <a:ea typeface="宋体" panose="02010600030101010101" pitchFamily="2" charset="-122"/>
              </a:rPr>
              <a:t>使用</a:t>
            </a:r>
            <a:r>
              <a:rPr lang="en-US" altLang="zh-CN" sz="2400" dirty="0" err="1">
                <a:latin typeface="宋体" panose="02010600030101010101" pitchFamily="2" charset="-122"/>
                <a:ea typeface="宋体" panose="02010600030101010101" pitchFamily="2" charset="-122"/>
              </a:rPr>
              <a:t>sklearn</a:t>
            </a:r>
            <a:r>
              <a:rPr lang="zh-CN" altLang="en-US" sz="2400" dirty="0">
                <a:latin typeface="宋体" panose="02010600030101010101" pitchFamily="2" charset="-122"/>
                <a:ea typeface="宋体" panose="02010600030101010101" pitchFamily="2" charset="-122"/>
              </a:rPr>
              <a:t>的</a:t>
            </a:r>
            <a:r>
              <a:rPr lang="en-US" altLang="zh-CN" sz="2400" dirty="0" err="1">
                <a:latin typeface="宋体" panose="02010600030101010101" pitchFamily="2" charset="-122"/>
                <a:ea typeface="宋体" panose="02010600030101010101" pitchFamily="2" charset="-122"/>
              </a:rPr>
              <a:t>GradientBoost</a:t>
            </a:r>
            <a:r>
              <a:rPr lang="zh-CN" altLang="en-US" sz="2400" dirty="0">
                <a:latin typeface="宋体" panose="02010600030101010101" pitchFamily="2" charset="-122"/>
                <a:ea typeface="宋体" panose="02010600030101010101" pitchFamily="2" charset="-122"/>
              </a:rPr>
              <a:t>对乳腺癌数据进行分类，要求：</a:t>
            </a:r>
            <a:endParaRPr lang="zh-CN" altLang="en-US" sz="2400" dirty="0">
              <a:latin typeface="宋体" panose="02010600030101010101" pitchFamily="2" charset="-122"/>
              <a:ea typeface="宋体" panose="02010600030101010101" pitchFamily="2" charset="-122"/>
            </a:endParaRPr>
          </a:p>
          <a:p>
            <a:pPr marL="457200" indent="-457200">
              <a:lnSpc>
                <a:spcPct val="150000"/>
              </a:lnSpc>
              <a:buAutoNum type="arabicParenBoth"/>
            </a:pPr>
            <a:r>
              <a:rPr lang="zh-CN" altLang="en-US" sz="2400" dirty="0">
                <a:latin typeface="宋体" panose="02010600030101010101" pitchFamily="2" charset="-122"/>
                <a:ea typeface="宋体" panose="02010600030101010101" pitchFamily="2" charset="-122"/>
              </a:rPr>
              <a:t>导入乳腺癌数据集 </a:t>
            </a:r>
            <a:endParaRPr lang="en-US" altLang="zh-CN" sz="2400" dirty="0">
              <a:latin typeface="宋体" panose="02010600030101010101" pitchFamily="2" charset="-122"/>
              <a:ea typeface="宋体" panose="02010600030101010101" pitchFamily="2" charset="-122"/>
            </a:endParaRPr>
          </a:p>
          <a:p>
            <a:pPr marL="457200" indent="-457200">
              <a:lnSpc>
                <a:spcPct val="150000"/>
              </a:lnSpc>
              <a:buFontTx/>
              <a:buAutoNum type="arabicParenBoth"/>
            </a:pPr>
            <a:r>
              <a:rPr lang="zh-CN" altLang="en-US" sz="2400" dirty="0">
                <a:latin typeface="宋体" panose="02010600030101010101" pitchFamily="2" charset="-122"/>
                <a:ea typeface="宋体" panose="02010600030101010101" pitchFamily="2" charset="-122"/>
              </a:rPr>
              <a:t>利用交叉验证</a:t>
            </a:r>
            <a:r>
              <a:rPr lang="zh-CN" altLang="zh-CN" sz="2400" dirty="0">
                <a:latin typeface="宋体" panose="02010600030101010101" pitchFamily="2" charset="-122"/>
                <a:ea typeface="宋体" panose="02010600030101010101" pitchFamily="2" charset="-122"/>
              </a:rPr>
              <a:t>对比</a:t>
            </a:r>
            <a:r>
              <a:rPr lang="en-US" altLang="zh-CN" sz="2400" dirty="0" err="1">
                <a:latin typeface="宋体" panose="02010600030101010101" pitchFamily="2" charset="-122"/>
                <a:ea typeface="宋体" panose="02010600030101010101" pitchFamily="2" charset="-122"/>
              </a:rPr>
              <a:t>GradientBoost</a:t>
            </a:r>
            <a:r>
              <a:rPr lang="zh-CN" altLang="zh-CN" sz="2400" dirty="0">
                <a:latin typeface="宋体" panose="02010600030101010101" pitchFamily="2" charset="-122"/>
                <a:ea typeface="宋体" panose="02010600030101010101" pitchFamily="2" charset="-122"/>
              </a:rPr>
              <a:t>算法和决策树的分类效果；</a:t>
            </a:r>
            <a:endParaRPr lang="zh-CN" altLang="zh-CN" sz="2400" dirty="0">
              <a:latin typeface="宋体" panose="02010600030101010101" pitchFamily="2" charset="-122"/>
              <a:ea typeface="宋体" panose="02010600030101010101" pitchFamily="2" charset="-122"/>
            </a:endParaRPr>
          </a:p>
          <a:p>
            <a:pPr marL="457200" indent="-457200">
              <a:lnSpc>
                <a:spcPct val="150000"/>
              </a:lnSpc>
              <a:buFontTx/>
              <a:buAutoNum type="arabicParenBoth"/>
            </a:pPr>
            <a:r>
              <a:rPr lang="zh-CN" altLang="en-US" sz="2400" dirty="0">
                <a:latin typeface="宋体" panose="02010600030101010101" pitchFamily="2" charset="-122"/>
                <a:ea typeface="宋体" panose="02010600030101010101" pitchFamily="2" charset="-122"/>
              </a:rPr>
              <a:t>测试</a:t>
            </a:r>
            <a:r>
              <a:rPr lang="en-US" altLang="zh-CN" sz="2400" dirty="0" err="1">
                <a:latin typeface="宋体" panose="02010600030101010101" pitchFamily="2" charset="-122"/>
                <a:ea typeface="宋体" panose="02010600030101010101" pitchFamily="2" charset="-122"/>
              </a:rPr>
              <a:t>learning_rate</a:t>
            </a:r>
            <a:r>
              <a:rPr lang="zh-CN" altLang="en-US" sz="2400" dirty="0">
                <a:latin typeface="宋体" panose="02010600030101010101" pitchFamily="2" charset="-122"/>
                <a:ea typeface="宋体" panose="02010600030101010101" pitchFamily="2" charset="-122"/>
              </a:rPr>
              <a:t>参数对分类效果的影响；</a:t>
            </a:r>
            <a:endParaRPr lang="en-US" altLang="zh-CN" sz="2400" dirty="0">
              <a:latin typeface="宋体" panose="02010600030101010101" pitchFamily="2" charset="-122"/>
              <a:ea typeface="宋体" panose="02010600030101010101" pitchFamily="2" charset="-122"/>
            </a:endParaRPr>
          </a:p>
          <a:p>
            <a:pPr marL="457200" indent="-457200">
              <a:lnSpc>
                <a:spcPct val="150000"/>
              </a:lnSpc>
              <a:buFontTx/>
              <a:buAutoNum type="arabicParenBoth"/>
            </a:pPr>
            <a:r>
              <a:rPr lang="zh-CN" altLang="en-US" sz="2400" dirty="0">
                <a:latin typeface="宋体" panose="02010600030101010101" pitchFamily="2" charset="-122"/>
                <a:ea typeface="宋体" panose="02010600030101010101" pitchFamily="2" charset="-122"/>
              </a:rPr>
              <a:t>测试</a:t>
            </a:r>
            <a:r>
              <a:rPr lang="en-US" altLang="zh-CN" sz="2400" dirty="0" err="1">
                <a:latin typeface="宋体" panose="02010600030101010101" pitchFamily="2" charset="-122"/>
                <a:ea typeface="宋体" panose="02010600030101010101" pitchFamily="2" charset="-122"/>
              </a:rPr>
              <a:t>n_estimators</a:t>
            </a:r>
            <a:r>
              <a:rPr lang="zh-CN" altLang="en-US" sz="2400" dirty="0">
                <a:latin typeface="宋体" panose="02010600030101010101" pitchFamily="2" charset="-122"/>
                <a:ea typeface="宋体" panose="02010600030101010101" pitchFamily="2" charset="-122"/>
              </a:rPr>
              <a:t>参数对分类效果的影响。</a:t>
            </a:r>
            <a:endParaRPr lang="en-US" altLang="zh-CN" sz="2400" dirty="0">
              <a:latin typeface="宋体" panose="02010600030101010101" pitchFamily="2" charset="-122"/>
              <a:ea typeface="宋体" panose="02010600030101010101" pitchFamily="2" charset="-122"/>
            </a:endParaRPr>
          </a:p>
          <a:p>
            <a:pPr>
              <a:lnSpc>
                <a:spcPct val="150000"/>
              </a:lnSpc>
            </a:pPr>
            <a:endParaRPr lang="en-US" altLang="zh-CN" sz="2400" dirty="0">
              <a:latin typeface="宋体" panose="02010600030101010101" pitchFamily="2" charset="-122"/>
              <a:ea typeface="宋体" panose="02010600030101010101" pitchFamily="2" charset="-122"/>
            </a:endParaRPr>
          </a:p>
          <a:p>
            <a:pPr>
              <a:lnSpc>
                <a:spcPct val="150000"/>
              </a:lnSpc>
            </a:pPr>
            <a:r>
              <a:rPr lang="en-US" altLang="zh-CN" sz="2400" dirty="0">
                <a:latin typeface="宋体" panose="02010600030101010101" pitchFamily="2" charset="-122"/>
                <a:ea typeface="宋体" panose="02010600030101010101" pitchFamily="2" charset="-122"/>
              </a:rPr>
              <a:t>4. </a:t>
            </a:r>
            <a:r>
              <a:rPr lang="zh-CN" altLang="en-US" sz="2400" dirty="0">
                <a:latin typeface="宋体" panose="02010600030101010101" pitchFamily="2" charset="-122"/>
                <a:ea typeface="宋体" panose="02010600030101010101" pitchFamily="2" charset="-122"/>
              </a:rPr>
              <a:t>使用</a:t>
            </a:r>
            <a:r>
              <a:rPr lang="en-US" altLang="zh-CN" sz="2400" dirty="0">
                <a:latin typeface="宋体" panose="02010600030101010101" pitchFamily="2" charset="-122"/>
                <a:ea typeface="宋体" panose="02010600030101010101" pitchFamily="2" charset="-122"/>
              </a:rPr>
              <a:t>GBDT</a:t>
            </a:r>
            <a:r>
              <a:rPr lang="zh-CN" altLang="en-US" sz="2400" dirty="0">
                <a:latin typeface="宋体" panose="02010600030101010101" pitchFamily="2" charset="-122"/>
                <a:ea typeface="宋体" panose="02010600030101010101" pitchFamily="2" charset="-122"/>
              </a:rPr>
              <a:t>模型实现波士顿房价预测（教材实例</a:t>
            </a:r>
            <a:r>
              <a:rPr lang="en-US" altLang="zh-CN" sz="2400" dirty="0">
                <a:latin typeface="宋体" panose="02010600030101010101" pitchFamily="2" charset="-122"/>
                <a:ea typeface="宋体" panose="02010600030101010101" pitchFamily="2" charset="-122"/>
              </a:rPr>
              <a:t>7.6</a:t>
            </a:r>
            <a:r>
              <a:rPr lang="zh-CN" altLang="en-US" sz="2400" dirty="0">
                <a:latin typeface="宋体" panose="02010600030101010101" pitchFamily="2" charset="-122"/>
                <a:ea typeface="宋体" panose="02010600030101010101" pitchFamily="2" charset="-122"/>
              </a:rPr>
              <a:t>）</a:t>
            </a:r>
            <a:endParaRPr lang="zh-CN" altLang="en-US" sz="2400"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tags/tag1.xml><?xml version="1.0" encoding="utf-8"?>
<p:tagLst xmlns:p="http://schemas.openxmlformats.org/presentationml/2006/main">
  <p:tag name="PA" val="v4.1.3"/>
</p:tagLst>
</file>

<file path=ppt/tags/tag2.xml><?xml version="1.0" encoding="utf-8"?>
<p:tagLst xmlns:p="http://schemas.openxmlformats.org/presentationml/2006/main">
  <p:tag name="PA" val="v4.1.3"/>
</p:tagLst>
</file>

<file path=ppt/tags/tag3.xml><?xml version="1.0" encoding="utf-8"?>
<p:tagLst xmlns:p="http://schemas.openxmlformats.org/presentationml/2006/main">
  <p:tag name="PA" val="v4.1.3"/>
</p:tagLst>
</file>

<file path=ppt/tags/tag4.xml><?xml version="1.0" encoding="utf-8"?>
<p:tagLst xmlns:p="http://schemas.openxmlformats.org/presentationml/2006/main">
  <p:tag name="PA" val="v4.1.3"/>
</p:tagLst>
</file>

<file path=ppt/tags/tag5.xml><?xml version="1.0" encoding="utf-8"?>
<p:tagLst xmlns:p="http://schemas.openxmlformats.org/presentationml/2006/main">
  <p:tag name="PA" val="v4.1.3"/>
</p:tagLst>
</file>

<file path=ppt/tags/tag6.xml><?xml version="1.0" encoding="utf-8"?>
<p:tagLst xmlns:p="http://schemas.openxmlformats.org/presentationml/2006/main">
  <p:tag name="PA" val="v4.1.3"/>
</p:tagLst>
</file>

<file path=ppt/tags/tag7.xml><?xml version="1.0" encoding="utf-8"?>
<p:tagLst xmlns:p="http://schemas.openxmlformats.org/presentationml/2006/main">
  <p:tag name="PA" val="v4.1.3"/>
</p:tagLst>
</file>

<file path=ppt/tags/tag8.xml><?xml version="1.0" encoding="utf-8"?>
<p:tagLst xmlns:p="http://schemas.openxmlformats.org/presentationml/2006/main">
  <p:tag name="PA" val="v4.1.3"/>
</p:tagLst>
</file>

<file path=ppt/tags/tag9.xml><?xml version="1.0" encoding="utf-8"?>
<p:tagLst xmlns:p="http://schemas.openxmlformats.org/presentationml/2006/main">
  <p:tag name="PA" val="v4.1.3"/>
</p:tagLst>
</file>

<file path=ppt/tags/tag10.xml><?xml version="1.0" encoding="utf-8"?>
<p:tagLst xmlns:p="http://schemas.openxmlformats.org/presentationml/2006/main">
  <p:tag name="RAINPROBLEM" val="ProblemBody"/>
</p:tagLst>
</file>

<file path=ppt/tags/tag11.xml><?xml version="1.0" encoding="utf-8"?>
<p:tagLst xmlns:p="http://schemas.openxmlformats.org/presentationml/2006/main">
  <p:tag name="RAINPROBLEM" val="ProblemItem"/>
</p:tagLst>
</file>

<file path=ppt/tags/tag12.xml><?xml version="1.0" encoding="utf-8"?>
<p:tagLst xmlns:p="http://schemas.openxmlformats.org/presentationml/2006/main">
  <p:tag name="RAINPROBLEM" val="ProblemItem"/>
</p:tagLst>
</file>

<file path=ppt/tags/tag13.xml><?xml version="1.0" encoding="utf-8"?>
<p:tagLst xmlns:p="http://schemas.openxmlformats.org/presentationml/2006/main">
  <p:tag name="RAINPROBLEM" val="ProblemBullet"/>
  <p:tag name="RAINPROBLEMTYPE" val="MultipleChoice"/>
  <p:tag name="RAINBULLET" val="Wrong"/>
</p:tagLst>
</file>

<file path=ppt/tags/tag14.xml><?xml version="1.0" encoding="utf-8"?>
<p:tagLst xmlns:p="http://schemas.openxmlformats.org/presentationml/2006/main">
  <p:tag name="RAINPROBLEM" val="ProblemBullet"/>
  <p:tag name="RAINPROBLEMTYPE" val="MultipleChoice"/>
  <p:tag name="RAINBULLET" val="Correct"/>
</p:tagLst>
</file>

<file path=ppt/tags/tag15.xml><?xml version="1.0" encoding="utf-8"?>
<p:tagLst xmlns:p="http://schemas.openxmlformats.org/presentationml/2006/main">
  <p:tag name="RAINPROBLEM" val="ProblemSubmit"/>
  <p:tag name="RAINPROBLEMTYPE" val="MultipleChoice"/>
</p:tagLst>
</file>

<file path=ppt/tags/tag16.xml><?xml version="1.0" encoding="utf-8"?>
<p:tagLst xmlns:p="http://schemas.openxmlformats.org/presentationml/2006/main">
  <p:tag name="RAINPROBLEM" val="ProblemItem"/>
</p:tagLst>
</file>

<file path=ppt/tags/tag17.xml><?xml version="1.0" encoding="utf-8"?>
<p:tagLst xmlns:p="http://schemas.openxmlformats.org/presentationml/2006/main">
  <p:tag name="RAINPROBLEM" val="ProblemBullet"/>
  <p:tag name="RAINPROBLEMTYPE" val="MultipleChoice"/>
  <p:tag name="RAINBULLET" val="Wrong"/>
</p:tagLst>
</file>

<file path=ppt/tags/tag18.xml><?xml version="1.0" encoding="utf-8"?>
<p:tagLst xmlns:p="http://schemas.openxmlformats.org/presentationml/2006/main">
  <p:tag name="RAINPROBLEM" val="ProblemItem"/>
</p:tagLst>
</file>

<file path=ppt/tags/tag19.xml><?xml version="1.0" encoding="utf-8"?>
<p:tagLst xmlns:p="http://schemas.openxmlformats.org/presentationml/2006/main">
  <p:tag name="RAINPROBLEM" val="ProblemBullet"/>
  <p:tag name="RAINPROBLEMTYPE" val="MultipleChoice"/>
  <p:tag name="RAINBULLET" val="Wrong"/>
</p:tagLst>
</file>

<file path=ppt/tags/tag20.xml><?xml version="1.0" encoding="utf-8"?>
<p:tagLst xmlns:p="http://schemas.openxmlformats.org/presentationml/2006/main">
  <p:tag name="RAINPROBLEMTYPE" val="ProblemTypeMarker"/>
</p:tagLst>
</file>

<file path=ppt/tags/tag21.xml><?xml version="1.0" encoding="utf-8"?>
<p:tagLst xmlns:p="http://schemas.openxmlformats.org/presentationml/2006/main">
  <p:tag name="RAINPROBLEMTYPE" val="ProblemTypeMarker"/>
</p:tagLst>
</file>

<file path=ppt/tags/tag22.xml><?xml version="1.0" encoding="utf-8"?>
<p:tagLst xmlns:p="http://schemas.openxmlformats.org/presentationml/2006/main">
  <p:tag name="RAINPROBLEMTYPE" val="ProblemTypeMarker"/>
</p:tagLst>
</file>

<file path=ppt/tags/tag23.xml><?xml version="1.0" encoding="utf-8"?>
<p:tagLst xmlns:p="http://schemas.openxmlformats.org/presentationml/2006/main">
  <p:tag name="RAINPROBLEMTYPE" val="ProblemTypeMarker"/>
</p:tagLst>
</file>

<file path=ppt/tags/tag24.xml><?xml version="1.0" encoding="utf-8"?>
<p:tagLst xmlns:p="http://schemas.openxmlformats.org/presentationml/2006/main">
  <p:tag name="RAINPROBLEMTYPE" val="ProblemTypeMarker"/>
</p:tagLst>
</file>

<file path=ppt/tags/tag25.xml><?xml version="1.0" encoding="utf-8"?>
<p:tagLst xmlns:p="http://schemas.openxmlformats.org/presentationml/2006/main">
  <p:tag name="RAINPROBLEM" val="ProblemSetting"/>
  <p:tag name="RAINPROBLEMTYPE" val="MultipleChoice"/>
</p:tagLst>
</file>

<file path=ppt/tags/tag26.xml><?xml version="1.0" encoding="utf-8"?>
<p:tagLst xmlns:p="http://schemas.openxmlformats.org/presentationml/2006/main">
  <p:tag name="RAINPROBLEM" val="MultipleChoice"/>
  <p:tag name="PROBLEMSCORE" val="1.0"/>
</p:tagLst>
</file>

<file path=ppt/tags/tag27.xml><?xml version="1.0" encoding="utf-8"?>
<p:tagLst xmlns:p="http://schemas.openxmlformats.org/presentationml/2006/main">
  <p:tag name="RAINPROBLEM" val="ProblemBody"/>
</p:tagLst>
</file>

<file path=ppt/tags/tag28.xml><?xml version="1.0" encoding="utf-8"?>
<p:tagLst xmlns:p="http://schemas.openxmlformats.org/presentationml/2006/main">
  <p:tag name="RAINPROBLEM" val="ProblemItem"/>
</p:tagLst>
</file>

<file path=ppt/tags/tag29.xml><?xml version="1.0" encoding="utf-8"?>
<p:tagLst xmlns:p="http://schemas.openxmlformats.org/presentationml/2006/main">
  <p:tag name="RAINPROBLEM" val="ProblemItem"/>
</p:tagLst>
</file>

<file path=ppt/tags/tag30.xml><?xml version="1.0" encoding="utf-8"?>
<p:tagLst xmlns:p="http://schemas.openxmlformats.org/presentationml/2006/main">
  <p:tag name="RAINPROBLEM" val="ProblemBullet"/>
  <p:tag name="RAINPROBLEMTYPE" val="MultipleChoice"/>
  <p:tag name="RAINBULLET" val="Wrong"/>
</p:tagLst>
</file>

<file path=ppt/tags/tag31.xml><?xml version="1.0" encoding="utf-8"?>
<p:tagLst xmlns:p="http://schemas.openxmlformats.org/presentationml/2006/main">
  <p:tag name="RAINPROBLEM" val="ProblemBullet"/>
  <p:tag name="RAINPROBLEMTYPE" val="MultipleChoice"/>
  <p:tag name="RAINBULLET" val="Correct"/>
</p:tagLst>
</file>

<file path=ppt/tags/tag32.xml><?xml version="1.0" encoding="utf-8"?>
<p:tagLst xmlns:p="http://schemas.openxmlformats.org/presentationml/2006/main">
  <p:tag name="RAINPROBLEM" val="ProblemSubmit"/>
  <p:tag name="RAINPROBLEMTYPE" val="MultipleChoice"/>
</p:tagLst>
</file>

<file path=ppt/tags/tag33.xml><?xml version="1.0" encoding="utf-8"?>
<p:tagLst xmlns:p="http://schemas.openxmlformats.org/presentationml/2006/main">
  <p:tag name="RAINPROBLEM" val="ProblemItem"/>
</p:tagLst>
</file>

<file path=ppt/tags/tag34.xml><?xml version="1.0" encoding="utf-8"?>
<p:tagLst xmlns:p="http://schemas.openxmlformats.org/presentationml/2006/main">
  <p:tag name="RAINPROBLEM" val="ProblemBullet"/>
  <p:tag name="RAINPROBLEMTYPE" val="MultipleChoice"/>
  <p:tag name="RAINBULLET" val="Wrong"/>
</p:tagLst>
</file>

<file path=ppt/tags/tag35.xml><?xml version="1.0" encoding="utf-8"?>
<p:tagLst xmlns:p="http://schemas.openxmlformats.org/presentationml/2006/main">
  <p:tag name="RAINPROBLEM" val="ProblemItem"/>
</p:tagLst>
</file>

<file path=ppt/tags/tag36.xml><?xml version="1.0" encoding="utf-8"?>
<p:tagLst xmlns:p="http://schemas.openxmlformats.org/presentationml/2006/main">
  <p:tag name="RAINPROBLEM" val="ProblemBullet"/>
  <p:tag name="RAINPROBLEMTYPE" val="MultipleChoice"/>
  <p:tag name="RAINBULLET" val="Wrong"/>
</p:tagLst>
</file>

<file path=ppt/tags/tag37.xml><?xml version="1.0" encoding="utf-8"?>
<p:tagLst xmlns:p="http://schemas.openxmlformats.org/presentationml/2006/main">
  <p:tag name="RAINPROBLEMTYPE" val="ProblemTypeMarker"/>
</p:tagLst>
</file>

<file path=ppt/tags/tag38.xml><?xml version="1.0" encoding="utf-8"?>
<p:tagLst xmlns:p="http://schemas.openxmlformats.org/presentationml/2006/main">
  <p:tag name="RAINPROBLEMTYPE" val="ProblemTypeMarker"/>
</p:tagLst>
</file>

<file path=ppt/tags/tag39.xml><?xml version="1.0" encoding="utf-8"?>
<p:tagLst xmlns:p="http://schemas.openxmlformats.org/presentationml/2006/main">
  <p:tag name="RAINPROBLEMTYPE" val="ProblemTypeMarker"/>
</p:tagLst>
</file>

<file path=ppt/tags/tag40.xml><?xml version="1.0" encoding="utf-8"?>
<p:tagLst xmlns:p="http://schemas.openxmlformats.org/presentationml/2006/main">
  <p:tag name="RAINPROBLEMTYPE" val="ProblemTypeMarker"/>
</p:tagLst>
</file>

<file path=ppt/tags/tag41.xml><?xml version="1.0" encoding="utf-8"?>
<p:tagLst xmlns:p="http://schemas.openxmlformats.org/presentationml/2006/main">
  <p:tag name="RAINPROBLEMTYPE" val="ProblemTypeMarker"/>
</p:tagLst>
</file>

<file path=ppt/tags/tag42.xml><?xml version="1.0" encoding="utf-8"?>
<p:tagLst xmlns:p="http://schemas.openxmlformats.org/presentationml/2006/main">
  <p:tag name="RAINPROBLEM" val="ProblemSetting"/>
  <p:tag name="RAINPROBLEMTYPE" val="MultipleChoice"/>
</p:tagLst>
</file>

<file path=ppt/tags/tag43.xml><?xml version="1.0" encoding="utf-8"?>
<p:tagLst xmlns:p="http://schemas.openxmlformats.org/presentationml/2006/main">
  <p:tag name="RAINPROBLEM" val="MultipleChoice"/>
  <p:tag name="PROBLEMSCORE" val="1.0"/>
</p:tagLst>
</file>

<file path=ppt/tags/tag44.xml><?xml version="1.0" encoding="utf-8"?>
<p:tagLst xmlns:p="http://schemas.openxmlformats.org/presentationml/2006/main">
  <p:tag name="RAINPROBLEM" val="ProblemBody"/>
</p:tagLst>
</file>

<file path=ppt/tags/tag45.xml><?xml version="1.0" encoding="utf-8"?>
<p:tagLst xmlns:p="http://schemas.openxmlformats.org/presentationml/2006/main">
  <p:tag name="RAINPROBLEM" val="ProblemItem"/>
  <p:tag name="KSO_WM_DIAGRAM_VIRTUALLY_FRAME" val="{&quot;height&quot;:253.12503937007872,&quot;left&quot;:203.80472440944882,&quot;top&quot;:185.62503937007872,&quot;width&quot;:698.6608661417322}"/>
</p:tagLst>
</file>

<file path=ppt/tags/tag46.xml><?xml version="1.0" encoding="utf-8"?>
<p:tagLst xmlns:p="http://schemas.openxmlformats.org/presentationml/2006/main">
  <p:tag name="RAINPROBLEM" val="ProblemItem"/>
  <p:tag name="KSO_WM_DIAGRAM_VIRTUALLY_FRAME" val="{&quot;height&quot;:253.12503937007872,&quot;left&quot;:203.80472440944882,&quot;top&quot;:185.62503937007872,&quot;width&quot;:698.6608661417322}"/>
</p:tagLst>
</file>

<file path=ppt/tags/tag47.xml><?xml version="1.0" encoding="utf-8"?>
<p:tagLst xmlns:p="http://schemas.openxmlformats.org/presentationml/2006/main">
  <p:tag name="RAINPROBLEM" val="ProblemBullet"/>
  <p:tag name="RAINPROBLEMTYPE" val="MultipleChoice"/>
  <p:tag name="RAINBULLET" val="Wrong"/>
  <p:tag name="KSO_WM_DIAGRAM_VIRTUALLY_FRAME" val="{&quot;height&quot;:253.12503937007872,&quot;left&quot;:203.80472440944882,&quot;top&quot;:185.62503937007872,&quot;width&quot;:698.6608661417322}"/>
</p:tagLst>
</file>

<file path=ppt/tags/tag48.xml><?xml version="1.0" encoding="utf-8"?>
<p:tagLst xmlns:p="http://schemas.openxmlformats.org/presentationml/2006/main">
  <p:tag name="RAINPROBLEM" val="ProblemBullet"/>
  <p:tag name="RAINPROBLEMTYPE" val="MultipleChoice"/>
  <p:tag name="RAINBULLET" val="Correct"/>
  <p:tag name="KSO_WM_DIAGRAM_VIRTUALLY_FRAME" val="{&quot;height&quot;:253.12503937007872,&quot;left&quot;:203.80472440944882,&quot;top&quot;:185.62503937007872,&quot;width&quot;:698.6608661417322}"/>
</p:tagLst>
</file>

<file path=ppt/tags/tag49.xml><?xml version="1.0" encoding="utf-8"?>
<p:tagLst xmlns:p="http://schemas.openxmlformats.org/presentationml/2006/main">
  <p:tag name="RAINPROBLEM" val="ProblemSubmit"/>
  <p:tag name="RAINPROBLEMTYPE" val="MultipleChoice"/>
</p:tagLst>
</file>

<file path=ppt/tags/tag50.xml><?xml version="1.0" encoding="utf-8"?>
<p:tagLst xmlns:p="http://schemas.openxmlformats.org/presentationml/2006/main">
  <p:tag name="RAINPROBLEM" val="ProblemItem"/>
  <p:tag name="KSO_WM_DIAGRAM_VIRTUALLY_FRAME" val="{&quot;height&quot;:253.12503937007872,&quot;left&quot;:203.80472440944882,&quot;top&quot;:185.62503937007872,&quot;width&quot;:698.6608661417322}"/>
</p:tagLst>
</file>

<file path=ppt/tags/tag51.xml><?xml version="1.0" encoding="utf-8"?>
<p:tagLst xmlns:p="http://schemas.openxmlformats.org/presentationml/2006/main">
  <p:tag name="RAINPROBLEM" val="ProblemBullet"/>
  <p:tag name="RAINPROBLEMTYPE" val="MultipleChoice"/>
  <p:tag name="RAINBULLET" val="Wrong"/>
  <p:tag name="KSO_WM_DIAGRAM_VIRTUALLY_FRAME" val="{&quot;height&quot;:253.12503937007872,&quot;left&quot;:203.80472440944882,&quot;top&quot;:185.62503937007872,&quot;width&quot;:698.6608661417322}"/>
</p:tagLst>
</file>

<file path=ppt/tags/tag52.xml><?xml version="1.0" encoding="utf-8"?>
<p:tagLst xmlns:p="http://schemas.openxmlformats.org/presentationml/2006/main">
  <p:tag name="RAINPROBLEM" val="ProblemItem"/>
  <p:tag name="KSO_WM_DIAGRAM_VIRTUALLY_FRAME" val="{&quot;height&quot;:253.12503937007872,&quot;left&quot;:203.80472440944882,&quot;top&quot;:185.62503937007872,&quot;width&quot;:698.6608661417322}"/>
</p:tagLst>
</file>

<file path=ppt/tags/tag53.xml><?xml version="1.0" encoding="utf-8"?>
<p:tagLst xmlns:p="http://schemas.openxmlformats.org/presentationml/2006/main">
  <p:tag name="RAINPROBLEM" val="ProblemBullet"/>
  <p:tag name="RAINPROBLEMTYPE" val="MultipleChoice"/>
  <p:tag name="RAINBULLET" val="Wrong"/>
  <p:tag name="KSO_WM_DIAGRAM_VIRTUALLY_FRAME" val="{&quot;height&quot;:253.12503937007872,&quot;left&quot;:203.80472440944882,&quot;top&quot;:185.62503937007872,&quot;width&quot;:698.6608661417322}"/>
</p:tagLst>
</file>

<file path=ppt/tags/tag54.xml><?xml version="1.0" encoding="utf-8"?>
<p:tagLst xmlns:p="http://schemas.openxmlformats.org/presentationml/2006/main">
  <p:tag name="RAINPROBLEMTYPE" val="ProblemTypeMarker"/>
</p:tagLst>
</file>

<file path=ppt/tags/tag55.xml><?xml version="1.0" encoding="utf-8"?>
<p:tagLst xmlns:p="http://schemas.openxmlformats.org/presentationml/2006/main">
  <p:tag name="RAINPROBLEMTYPE" val="ProblemTypeMarker"/>
</p:tagLst>
</file>

<file path=ppt/tags/tag56.xml><?xml version="1.0" encoding="utf-8"?>
<p:tagLst xmlns:p="http://schemas.openxmlformats.org/presentationml/2006/main">
  <p:tag name="RAINPROBLEMTYPE" val="ProblemTypeMarker"/>
</p:tagLst>
</file>

<file path=ppt/tags/tag57.xml><?xml version="1.0" encoding="utf-8"?>
<p:tagLst xmlns:p="http://schemas.openxmlformats.org/presentationml/2006/main">
  <p:tag name="RAINPROBLEMTYPE" val="ProblemTypeMarker"/>
</p:tagLst>
</file>

<file path=ppt/tags/tag58.xml><?xml version="1.0" encoding="utf-8"?>
<p:tagLst xmlns:p="http://schemas.openxmlformats.org/presentationml/2006/main">
  <p:tag name="RAINPROBLEMTYPE" val="ProblemTypeMarker"/>
</p:tagLst>
</file>

<file path=ppt/tags/tag59.xml><?xml version="1.0" encoding="utf-8"?>
<p:tagLst xmlns:p="http://schemas.openxmlformats.org/presentationml/2006/main">
  <p:tag name="RAINPROBLEM" val="ProblemSetting"/>
  <p:tag name="RAINPROBLEMTYPE" val="MultipleChoice"/>
</p:tagLst>
</file>

<file path=ppt/tags/tag60.xml><?xml version="1.0" encoding="utf-8"?>
<p:tagLst xmlns:p="http://schemas.openxmlformats.org/presentationml/2006/main">
  <p:tag name="RAINPROBLEM" val="MultipleChoice"/>
  <p:tag name="PROBLEMSCORE" val="1.0"/>
</p:tagLst>
</file>

<file path=ppt/tags/tag61.xml><?xml version="1.0" encoding="utf-8"?>
<p:tagLst xmlns:p="http://schemas.openxmlformats.org/presentationml/2006/main">
  <p:tag name="RAINPROBLEM" val="ProblemBody"/>
</p:tagLst>
</file>

<file path=ppt/tags/tag62.xml><?xml version="1.0" encoding="utf-8"?>
<p:tagLst xmlns:p="http://schemas.openxmlformats.org/presentationml/2006/main">
  <p:tag name="RAINPROBLEM" val="ProblemItem"/>
</p:tagLst>
</file>

<file path=ppt/tags/tag63.xml><?xml version="1.0" encoding="utf-8"?>
<p:tagLst xmlns:p="http://schemas.openxmlformats.org/presentationml/2006/main">
  <p:tag name="RAINPROBLEM" val="ProblemItem"/>
</p:tagLst>
</file>

<file path=ppt/tags/tag64.xml><?xml version="1.0" encoding="utf-8"?>
<p:tagLst xmlns:p="http://schemas.openxmlformats.org/presentationml/2006/main">
  <p:tag name="RAINPROBLEM" val="ProblemBullet"/>
  <p:tag name="RAINPROBLEMTYPE" val="MultipleChoice"/>
  <p:tag name="RAINBULLET" val="Wrong"/>
</p:tagLst>
</file>

<file path=ppt/tags/tag65.xml><?xml version="1.0" encoding="utf-8"?>
<p:tagLst xmlns:p="http://schemas.openxmlformats.org/presentationml/2006/main">
  <p:tag name="RAINPROBLEM" val="ProblemBullet"/>
  <p:tag name="RAINPROBLEMTYPE" val="MultipleChoice"/>
  <p:tag name="RAINBULLET" val="Correct"/>
</p:tagLst>
</file>

<file path=ppt/tags/tag66.xml><?xml version="1.0" encoding="utf-8"?>
<p:tagLst xmlns:p="http://schemas.openxmlformats.org/presentationml/2006/main">
  <p:tag name="RAINPROBLEM" val="ProblemSubmit"/>
  <p:tag name="RAINPROBLEMTYPE" val="MultipleChoice"/>
</p:tagLst>
</file>

<file path=ppt/tags/tag67.xml><?xml version="1.0" encoding="utf-8"?>
<p:tagLst xmlns:p="http://schemas.openxmlformats.org/presentationml/2006/main">
  <p:tag name="RAINPROBLEM" val="ProblemItem"/>
</p:tagLst>
</file>

<file path=ppt/tags/tag68.xml><?xml version="1.0" encoding="utf-8"?>
<p:tagLst xmlns:p="http://schemas.openxmlformats.org/presentationml/2006/main">
  <p:tag name="RAINPROBLEM" val="ProblemBullet"/>
  <p:tag name="RAINPROBLEMTYPE" val="MultipleChoice"/>
  <p:tag name="RAINBULLET" val="Wrong"/>
</p:tagLst>
</file>

<file path=ppt/tags/tag69.xml><?xml version="1.0" encoding="utf-8"?>
<p:tagLst xmlns:p="http://schemas.openxmlformats.org/presentationml/2006/main">
  <p:tag name="RAINPROBLEM" val="ProblemItem"/>
</p:tagLst>
</file>

<file path=ppt/tags/tag70.xml><?xml version="1.0" encoding="utf-8"?>
<p:tagLst xmlns:p="http://schemas.openxmlformats.org/presentationml/2006/main">
  <p:tag name="RAINPROBLEM" val="ProblemBullet"/>
  <p:tag name="RAINPROBLEMTYPE" val="MultipleChoice"/>
  <p:tag name="RAINBULLET" val="Wrong"/>
</p:tagLst>
</file>

<file path=ppt/tags/tag71.xml><?xml version="1.0" encoding="utf-8"?>
<p:tagLst xmlns:p="http://schemas.openxmlformats.org/presentationml/2006/main">
  <p:tag name="RAINPROBLEMTYPE" val="ProblemTypeMarker"/>
</p:tagLst>
</file>

<file path=ppt/tags/tag72.xml><?xml version="1.0" encoding="utf-8"?>
<p:tagLst xmlns:p="http://schemas.openxmlformats.org/presentationml/2006/main">
  <p:tag name="RAINPROBLEMTYPE" val="ProblemTypeMarker"/>
</p:tagLst>
</file>

<file path=ppt/tags/tag73.xml><?xml version="1.0" encoding="utf-8"?>
<p:tagLst xmlns:p="http://schemas.openxmlformats.org/presentationml/2006/main">
  <p:tag name="RAINPROBLEMTYPE" val="ProblemTypeMarker"/>
</p:tagLst>
</file>

<file path=ppt/tags/tag74.xml><?xml version="1.0" encoding="utf-8"?>
<p:tagLst xmlns:p="http://schemas.openxmlformats.org/presentationml/2006/main">
  <p:tag name="RAINPROBLEMTYPE" val="ProblemTypeMarker"/>
</p:tagLst>
</file>

<file path=ppt/tags/tag75.xml><?xml version="1.0" encoding="utf-8"?>
<p:tagLst xmlns:p="http://schemas.openxmlformats.org/presentationml/2006/main">
  <p:tag name="RAINPROBLEMTYPE" val="ProblemTypeMarker"/>
</p:tagLst>
</file>

<file path=ppt/tags/tag76.xml><?xml version="1.0" encoding="utf-8"?>
<p:tagLst xmlns:p="http://schemas.openxmlformats.org/presentationml/2006/main">
  <p:tag name="RAINPROBLEM" val="ProblemSetting"/>
  <p:tag name="RAINPROBLEMTYPE" val="MultipleChoice"/>
</p:tagLst>
</file>

<file path=ppt/tags/tag77.xml><?xml version="1.0" encoding="utf-8"?>
<p:tagLst xmlns:p="http://schemas.openxmlformats.org/presentationml/2006/main">
  <p:tag name="RAINPROBLEM" val="MultipleChoice"/>
  <p:tag name="PROBLEMSCORE" val="1.0"/>
</p:tagLst>
</file>

<file path=ppt/tags/tag78.xml><?xml version="1.0" encoding="utf-8"?>
<p:tagLst xmlns:p="http://schemas.openxmlformats.org/presentationml/2006/main">
  <p:tag name="RAINPROBLEM" val="ProblemBody"/>
</p:tagLst>
</file>

<file path=ppt/tags/tag79.xml><?xml version="1.0" encoding="utf-8"?>
<p:tagLst xmlns:p="http://schemas.openxmlformats.org/presentationml/2006/main">
  <p:tag name="RAINPROBLEM" val="ProblemItem"/>
</p:tagLst>
</file>

<file path=ppt/tags/tag80.xml><?xml version="1.0" encoding="utf-8"?>
<p:tagLst xmlns:p="http://schemas.openxmlformats.org/presentationml/2006/main">
  <p:tag name="RAINPROBLEM" val="ProblemItem"/>
</p:tagLst>
</file>

<file path=ppt/tags/tag81.xml><?xml version="1.0" encoding="utf-8"?>
<p:tagLst xmlns:p="http://schemas.openxmlformats.org/presentationml/2006/main">
  <p:tag name="RAINPROBLEM" val="ProblemBullet"/>
  <p:tag name="RAINPROBLEMTYPE" val="MultipleChoice"/>
  <p:tag name="RAINBULLET" val="Wrong"/>
</p:tagLst>
</file>

<file path=ppt/tags/tag82.xml><?xml version="1.0" encoding="utf-8"?>
<p:tagLst xmlns:p="http://schemas.openxmlformats.org/presentationml/2006/main">
  <p:tag name="RAINPROBLEM" val="ProblemBullet"/>
  <p:tag name="RAINPROBLEMTYPE" val="MultipleChoice"/>
  <p:tag name="RAINBULLET" val="Correct"/>
</p:tagLst>
</file>

<file path=ppt/tags/tag83.xml><?xml version="1.0" encoding="utf-8"?>
<p:tagLst xmlns:p="http://schemas.openxmlformats.org/presentationml/2006/main">
  <p:tag name="RAINPROBLEM" val="ProblemSubmit"/>
  <p:tag name="RAINPROBLEMTYPE" val="MultipleChoice"/>
</p:tagLst>
</file>

<file path=ppt/tags/tag84.xml><?xml version="1.0" encoding="utf-8"?>
<p:tagLst xmlns:p="http://schemas.openxmlformats.org/presentationml/2006/main">
  <p:tag name="RAINPROBLEM" val="ProblemItem"/>
</p:tagLst>
</file>

<file path=ppt/tags/tag85.xml><?xml version="1.0" encoding="utf-8"?>
<p:tagLst xmlns:p="http://schemas.openxmlformats.org/presentationml/2006/main">
  <p:tag name="RAINPROBLEM" val="ProblemBullet"/>
  <p:tag name="RAINPROBLEMTYPE" val="MultipleChoice"/>
  <p:tag name="RAINBULLET" val="Wrong"/>
</p:tagLst>
</file>

<file path=ppt/tags/tag86.xml><?xml version="1.0" encoding="utf-8"?>
<p:tagLst xmlns:p="http://schemas.openxmlformats.org/presentationml/2006/main">
  <p:tag name="RAINPROBLEM" val="ProblemItem"/>
</p:tagLst>
</file>

<file path=ppt/tags/tag87.xml><?xml version="1.0" encoding="utf-8"?>
<p:tagLst xmlns:p="http://schemas.openxmlformats.org/presentationml/2006/main">
  <p:tag name="RAINPROBLEM" val="ProblemBullet"/>
  <p:tag name="RAINPROBLEMTYPE" val="MultipleChoice"/>
  <p:tag name="RAINBULLET" val="Wrong"/>
</p:tagLst>
</file>

<file path=ppt/tags/tag88.xml><?xml version="1.0" encoding="utf-8"?>
<p:tagLst xmlns:p="http://schemas.openxmlformats.org/presentationml/2006/main">
  <p:tag name="RAINPROBLEMTYPE" val="ProblemTypeMarker"/>
</p:tagLst>
</file>

<file path=ppt/tags/tag89.xml><?xml version="1.0" encoding="utf-8"?>
<p:tagLst xmlns:p="http://schemas.openxmlformats.org/presentationml/2006/main">
  <p:tag name="RAINPROBLEMTYPE" val="ProblemTypeMarker"/>
</p:tagLst>
</file>

<file path=ppt/tags/tag90.xml><?xml version="1.0" encoding="utf-8"?>
<p:tagLst xmlns:p="http://schemas.openxmlformats.org/presentationml/2006/main">
  <p:tag name="RAINPROBLEMTYPE" val="ProblemTypeMarker"/>
</p:tagLst>
</file>

<file path=ppt/tags/tag91.xml><?xml version="1.0" encoding="utf-8"?>
<p:tagLst xmlns:p="http://schemas.openxmlformats.org/presentationml/2006/main">
  <p:tag name="RAINPROBLEMTYPE" val="ProblemTypeMarker"/>
</p:tagLst>
</file>

<file path=ppt/tags/tag92.xml><?xml version="1.0" encoding="utf-8"?>
<p:tagLst xmlns:p="http://schemas.openxmlformats.org/presentationml/2006/main">
  <p:tag name="RAINPROBLEMTYPE" val="ProblemTypeMarker"/>
</p:tagLst>
</file>

<file path=ppt/tags/tag93.xml><?xml version="1.0" encoding="utf-8"?>
<p:tagLst xmlns:p="http://schemas.openxmlformats.org/presentationml/2006/main">
  <p:tag name="RAINPROBLEM" val="ProblemSetting"/>
  <p:tag name="RAINPROBLEMTYPE" val="MultipleChoice"/>
</p:tagLst>
</file>

<file path=ppt/tags/tag94.xml><?xml version="1.0" encoding="utf-8"?>
<p:tagLst xmlns:p="http://schemas.openxmlformats.org/presentationml/2006/main">
  <p:tag name="RAINPROBLEM" val="MultipleChoice"/>
  <p:tag name="PROBLEMSCORE" val="1.0"/>
</p:tagLst>
</file>

<file path=ppt/tags/tag95.xml><?xml version="1.0" encoding="utf-8"?>
<p:tagLst xmlns:p="http://schemas.openxmlformats.org/presentationml/2006/main">
  <p:tag name="RAINPROBLEM" val="ProblemBody"/>
</p:tagLst>
</file>

<file path=ppt/tags/tag96.xml><?xml version="1.0" encoding="utf-8"?>
<p:tagLst xmlns:p="http://schemas.openxmlformats.org/presentationml/2006/main">
  <p:tag name="RAINPROBLEM" val="ProblemItem"/>
</p:tagLst>
</file>

<file path=ppt/tags/tag97.xml><?xml version="1.0" encoding="utf-8"?>
<p:tagLst xmlns:p="http://schemas.openxmlformats.org/presentationml/2006/main">
  <p:tag name="RAINPROBLEM" val="ProblemItem"/>
</p:tagLst>
</file>

<file path=ppt/tags/tag98.xml><?xml version="1.0" encoding="utf-8"?>
<p:tagLst xmlns:p="http://schemas.openxmlformats.org/presentationml/2006/main">
  <p:tag name="RAINPROBLEM" val="ProblemBullet"/>
  <p:tag name="RAINPROBLEMTYPE" val="MultipleChoice"/>
  <p:tag name="RAINBULLET" val="Wrong"/>
</p:tagLst>
</file>

<file path=ppt/tags/tag99.xml><?xml version="1.0" encoding="utf-8"?>
<p:tagLst xmlns:p="http://schemas.openxmlformats.org/presentationml/2006/main">
  <p:tag name="RAINPROBLEM" val="ProblemBullet"/>
  <p:tag name="RAINPROBLEMTYPE" val="MultipleChoice"/>
  <p:tag name="RAINBULLET" val="Correct"/>
</p:tagLst>
</file>

<file path=ppt/tags/tag100.xml><?xml version="1.0" encoding="utf-8"?>
<p:tagLst xmlns:p="http://schemas.openxmlformats.org/presentationml/2006/main">
  <p:tag name="RAINPROBLEM" val="ProblemSubmit"/>
  <p:tag name="RAINPROBLEMTYPE" val="MultipleChoice"/>
</p:tagLst>
</file>

<file path=ppt/tags/tag101.xml><?xml version="1.0" encoding="utf-8"?>
<p:tagLst xmlns:p="http://schemas.openxmlformats.org/presentationml/2006/main">
  <p:tag name="RAINPROBLEMTYPE" val="ProblemTypeMarker"/>
</p:tagLst>
</file>

<file path=ppt/tags/tag102.xml><?xml version="1.0" encoding="utf-8"?>
<p:tagLst xmlns:p="http://schemas.openxmlformats.org/presentationml/2006/main">
  <p:tag name="RAINPROBLEMTYPE" val="ProblemTypeMarker"/>
</p:tagLst>
</file>

<file path=ppt/tags/tag103.xml><?xml version="1.0" encoding="utf-8"?>
<p:tagLst xmlns:p="http://schemas.openxmlformats.org/presentationml/2006/main">
  <p:tag name="RAINPROBLEMTYPE" val="ProblemTypeMarker"/>
</p:tagLst>
</file>

<file path=ppt/tags/tag104.xml><?xml version="1.0" encoding="utf-8"?>
<p:tagLst xmlns:p="http://schemas.openxmlformats.org/presentationml/2006/main">
  <p:tag name="RAINPROBLEMTYPE" val="ProblemTypeMarker"/>
</p:tagLst>
</file>

<file path=ppt/tags/tag105.xml><?xml version="1.0" encoding="utf-8"?>
<p:tagLst xmlns:p="http://schemas.openxmlformats.org/presentationml/2006/main">
  <p:tag name="RAINPROBLEMTYPE" val="ProblemTypeMarker"/>
</p:tagLst>
</file>

<file path=ppt/tags/tag106.xml><?xml version="1.0" encoding="utf-8"?>
<p:tagLst xmlns:p="http://schemas.openxmlformats.org/presentationml/2006/main">
  <p:tag name="RAINPROBLEM" val="ProblemSetting"/>
  <p:tag name="RAINPROBLEMTYPE" val="MultipleChoice"/>
</p:tagLst>
</file>

<file path=ppt/tags/tag107.xml><?xml version="1.0" encoding="utf-8"?>
<p:tagLst xmlns:p="http://schemas.openxmlformats.org/presentationml/2006/main">
  <p:tag name="RAINPROBLEM" val="MultipleChoice"/>
  <p:tag name="PROBLEMSCORE" val="1.0"/>
</p:tagLst>
</file>

<file path=ppt/tags/tag108.xml><?xml version="1.0" encoding="utf-8"?>
<p:tagLst xmlns:p="http://schemas.openxmlformats.org/presentationml/2006/main">
  <p:tag name="RAINPROBLEM" val="ProblemBody"/>
</p:tagLst>
</file>

<file path=ppt/tags/tag109.xml><?xml version="1.0" encoding="utf-8"?>
<p:tagLst xmlns:p="http://schemas.openxmlformats.org/presentationml/2006/main">
  <p:tag name="RAINPROBLEM" val="ProblemItem"/>
</p:tagLst>
</file>

<file path=ppt/tags/tag110.xml><?xml version="1.0" encoding="utf-8"?>
<p:tagLst xmlns:p="http://schemas.openxmlformats.org/presentationml/2006/main">
  <p:tag name="RAINPROBLEM" val="ProblemItem"/>
</p:tagLst>
</file>

<file path=ppt/tags/tag111.xml><?xml version="1.0" encoding="utf-8"?>
<p:tagLst xmlns:p="http://schemas.openxmlformats.org/presentationml/2006/main">
  <p:tag name="RAINPROBLEM" val="ProblemBullet"/>
  <p:tag name="RAINPROBLEMTYPE" val="MultipleChoice"/>
  <p:tag name="RAINBULLET" val="Wrong"/>
</p:tagLst>
</file>

<file path=ppt/tags/tag112.xml><?xml version="1.0" encoding="utf-8"?>
<p:tagLst xmlns:p="http://schemas.openxmlformats.org/presentationml/2006/main">
  <p:tag name="RAINPROBLEM" val="ProblemBullet"/>
  <p:tag name="RAINPROBLEMTYPE" val="MultipleChoice"/>
  <p:tag name="RAINBULLET" val="Correct"/>
</p:tagLst>
</file>

<file path=ppt/tags/tag113.xml><?xml version="1.0" encoding="utf-8"?>
<p:tagLst xmlns:p="http://schemas.openxmlformats.org/presentationml/2006/main">
  <p:tag name="RAINPROBLEM" val="ProblemSubmit"/>
  <p:tag name="RAINPROBLEMTYPE" val="MultipleChoice"/>
</p:tagLst>
</file>

<file path=ppt/tags/tag114.xml><?xml version="1.0" encoding="utf-8"?>
<p:tagLst xmlns:p="http://schemas.openxmlformats.org/presentationml/2006/main">
  <p:tag name="RAINPROBLEMTYPE" val="ProblemTypeMarker"/>
</p:tagLst>
</file>

<file path=ppt/tags/tag115.xml><?xml version="1.0" encoding="utf-8"?>
<p:tagLst xmlns:p="http://schemas.openxmlformats.org/presentationml/2006/main">
  <p:tag name="RAINPROBLEMTYPE" val="ProblemTypeMarker"/>
</p:tagLst>
</file>

<file path=ppt/tags/tag116.xml><?xml version="1.0" encoding="utf-8"?>
<p:tagLst xmlns:p="http://schemas.openxmlformats.org/presentationml/2006/main">
  <p:tag name="RAINPROBLEMTYPE" val="ProblemTypeMarker"/>
</p:tagLst>
</file>

<file path=ppt/tags/tag117.xml><?xml version="1.0" encoding="utf-8"?>
<p:tagLst xmlns:p="http://schemas.openxmlformats.org/presentationml/2006/main">
  <p:tag name="RAINPROBLEMTYPE" val="ProblemTypeMarker"/>
</p:tagLst>
</file>

<file path=ppt/tags/tag118.xml><?xml version="1.0" encoding="utf-8"?>
<p:tagLst xmlns:p="http://schemas.openxmlformats.org/presentationml/2006/main">
  <p:tag name="RAINPROBLEMTYPE" val="ProblemTypeMarker"/>
</p:tagLst>
</file>

<file path=ppt/tags/tag119.xml><?xml version="1.0" encoding="utf-8"?>
<p:tagLst xmlns:p="http://schemas.openxmlformats.org/presentationml/2006/main">
  <p:tag name="RAINPROBLEM" val="ProblemSetting"/>
  <p:tag name="RAINPROBLEMTYPE" val="MultipleChoice"/>
</p:tagLst>
</file>

<file path=ppt/tags/tag120.xml><?xml version="1.0" encoding="utf-8"?>
<p:tagLst xmlns:p="http://schemas.openxmlformats.org/presentationml/2006/main">
  <p:tag name="RAINPROBLEM" val="MultipleChoice"/>
  <p:tag name="PROBLEMSCORE" val="1.0"/>
</p:tagLst>
</file>

<file path=ppt/tags/tag121.xml><?xml version="1.0" encoding="utf-8"?>
<p:tagLst xmlns:p="http://schemas.openxmlformats.org/presentationml/2006/main">
  <p:tag name="RAINPROBLEM" val="ProblemBody"/>
</p:tagLst>
</file>

<file path=ppt/tags/tag122.xml><?xml version="1.0" encoding="utf-8"?>
<p:tagLst xmlns:p="http://schemas.openxmlformats.org/presentationml/2006/main">
  <p:tag name="RAINPROBLEM" val="ProblemItem"/>
</p:tagLst>
</file>

<file path=ppt/tags/tag123.xml><?xml version="1.0" encoding="utf-8"?>
<p:tagLst xmlns:p="http://schemas.openxmlformats.org/presentationml/2006/main">
  <p:tag name="RAINPROBLEM" val="ProblemItem"/>
</p:tagLst>
</file>

<file path=ppt/tags/tag124.xml><?xml version="1.0" encoding="utf-8"?>
<p:tagLst xmlns:p="http://schemas.openxmlformats.org/presentationml/2006/main">
  <p:tag name="RAINPROBLEM" val="ProblemBullet"/>
  <p:tag name="RAINPROBLEMTYPE" val="MultipleChoice"/>
  <p:tag name="RAINBULLET" val="Wrong"/>
</p:tagLst>
</file>

<file path=ppt/tags/tag125.xml><?xml version="1.0" encoding="utf-8"?>
<p:tagLst xmlns:p="http://schemas.openxmlformats.org/presentationml/2006/main">
  <p:tag name="RAINPROBLEM" val="ProblemBullet"/>
  <p:tag name="RAINPROBLEMTYPE" val="MultipleChoice"/>
  <p:tag name="RAINBULLET" val="Correct"/>
</p:tagLst>
</file>

<file path=ppt/tags/tag126.xml><?xml version="1.0" encoding="utf-8"?>
<p:tagLst xmlns:p="http://schemas.openxmlformats.org/presentationml/2006/main">
  <p:tag name="RAINPROBLEM" val="ProblemSubmit"/>
  <p:tag name="RAINPROBLEMTYPE" val="MultipleChoice"/>
</p:tagLst>
</file>

<file path=ppt/tags/tag127.xml><?xml version="1.0" encoding="utf-8"?>
<p:tagLst xmlns:p="http://schemas.openxmlformats.org/presentationml/2006/main">
  <p:tag name="RAINPROBLEMTYPE" val="ProblemTypeMarker"/>
</p:tagLst>
</file>

<file path=ppt/tags/tag128.xml><?xml version="1.0" encoding="utf-8"?>
<p:tagLst xmlns:p="http://schemas.openxmlformats.org/presentationml/2006/main">
  <p:tag name="RAINPROBLEMTYPE" val="ProblemTypeMarker"/>
</p:tagLst>
</file>

<file path=ppt/tags/tag129.xml><?xml version="1.0" encoding="utf-8"?>
<p:tagLst xmlns:p="http://schemas.openxmlformats.org/presentationml/2006/main">
  <p:tag name="RAINPROBLEMTYPE" val="ProblemTypeMarker"/>
</p:tagLst>
</file>

<file path=ppt/tags/tag130.xml><?xml version="1.0" encoding="utf-8"?>
<p:tagLst xmlns:p="http://schemas.openxmlformats.org/presentationml/2006/main">
  <p:tag name="RAINPROBLEMTYPE" val="ProblemTypeMarker"/>
</p:tagLst>
</file>

<file path=ppt/tags/tag131.xml><?xml version="1.0" encoding="utf-8"?>
<p:tagLst xmlns:p="http://schemas.openxmlformats.org/presentationml/2006/main">
  <p:tag name="RAINPROBLEMTYPE" val="ProblemTypeMarker"/>
</p:tagLst>
</file>

<file path=ppt/tags/tag132.xml><?xml version="1.0" encoding="utf-8"?>
<p:tagLst xmlns:p="http://schemas.openxmlformats.org/presentationml/2006/main">
  <p:tag name="RAINPROBLEM" val="ProblemSetting"/>
  <p:tag name="RAINPROBLEMTYPE" val="MultipleChoice"/>
</p:tagLst>
</file>

<file path=ppt/tags/tag133.xml><?xml version="1.0" encoding="utf-8"?>
<p:tagLst xmlns:p="http://schemas.openxmlformats.org/presentationml/2006/main">
  <p:tag name="RAINPROBLEM" val="MultipleChoice"/>
  <p:tag name="PROBLEMSCORE" val="1.0"/>
</p:tagLst>
</file>

<file path=ppt/tags/tag134.xml><?xml version="1.0" encoding="utf-8"?>
<p:tagLst xmlns:p="http://schemas.openxmlformats.org/presentationml/2006/main">
  <p:tag name="RAINPROBLEM" val="ProblemBody"/>
</p:tagLst>
</file>

<file path=ppt/tags/tag135.xml><?xml version="1.0" encoding="utf-8"?>
<p:tagLst xmlns:p="http://schemas.openxmlformats.org/presentationml/2006/main">
  <p:tag name="RAINPROBLEM" val="ProblemItem"/>
</p:tagLst>
</file>

<file path=ppt/tags/tag136.xml><?xml version="1.0" encoding="utf-8"?>
<p:tagLst xmlns:p="http://schemas.openxmlformats.org/presentationml/2006/main">
  <p:tag name="RAINPROBLEM" val="ProblemItem"/>
</p:tagLst>
</file>

<file path=ppt/tags/tag137.xml><?xml version="1.0" encoding="utf-8"?>
<p:tagLst xmlns:p="http://schemas.openxmlformats.org/presentationml/2006/main">
  <p:tag name="RAINPROBLEM" val="ProblemBullet"/>
  <p:tag name="RAINPROBLEMTYPE" val="MultipleChoice"/>
  <p:tag name="RAINBULLET" val="Wrong"/>
</p:tagLst>
</file>

<file path=ppt/tags/tag138.xml><?xml version="1.0" encoding="utf-8"?>
<p:tagLst xmlns:p="http://schemas.openxmlformats.org/presentationml/2006/main">
  <p:tag name="RAINPROBLEM" val="ProblemBullet"/>
  <p:tag name="RAINPROBLEMTYPE" val="MultipleChoice"/>
  <p:tag name="RAINBULLET" val="Correct"/>
</p:tagLst>
</file>

<file path=ppt/tags/tag139.xml><?xml version="1.0" encoding="utf-8"?>
<p:tagLst xmlns:p="http://schemas.openxmlformats.org/presentationml/2006/main">
  <p:tag name="RAINPROBLEM" val="ProblemSubmit"/>
  <p:tag name="RAINPROBLEMTYPE" val="MultipleChoice"/>
</p:tagLst>
</file>

<file path=ppt/tags/tag140.xml><?xml version="1.0" encoding="utf-8"?>
<p:tagLst xmlns:p="http://schemas.openxmlformats.org/presentationml/2006/main">
  <p:tag name="RAINPROBLEM" val="ProblemItem"/>
</p:tagLst>
</file>

<file path=ppt/tags/tag141.xml><?xml version="1.0" encoding="utf-8"?>
<p:tagLst xmlns:p="http://schemas.openxmlformats.org/presentationml/2006/main">
  <p:tag name="RAINPROBLEM" val="ProblemBullet"/>
  <p:tag name="RAINPROBLEMTYPE" val="MultipleChoice"/>
  <p:tag name="RAINBULLET" val="Wrong"/>
</p:tagLst>
</file>

<file path=ppt/tags/tag142.xml><?xml version="1.0" encoding="utf-8"?>
<p:tagLst xmlns:p="http://schemas.openxmlformats.org/presentationml/2006/main">
  <p:tag name="RAINPROBLEM" val="ProblemItem"/>
</p:tagLst>
</file>

<file path=ppt/tags/tag143.xml><?xml version="1.0" encoding="utf-8"?>
<p:tagLst xmlns:p="http://schemas.openxmlformats.org/presentationml/2006/main">
  <p:tag name="RAINPROBLEM" val="ProblemBullet"/>
  <p:tag name="RAINPROBLEMTYPE" val="MultipleChoice"/>
  <p:tag name="RAINBULLET" val="Wrong"/>
</p:tagLst>
</file>

<file path=ppt/tags/tag144.xml><?xml version="1.0" encoding="utf-8"?>
<p:tagLst xmlns:p="http://schemas.openxmlformats.org/presentationml/2006/main">
  <p:tag name="RAINPROBLEMTYPE" val="ProblemTypeMarker"/>
</p:tagLst>
</file>

<file path=ppt/tags/tag145.xml><?xml version="1.0" encoding="utf-8"?>
<p:tagLst xmlns:p="http://schemas.openxmlformats.org/presentationml/2006/main">
  <p:tag name="RAINPROBLEMTYPE" val="ProblemTypeMarker"/>
</p:tagLst>
</file>

<file path=ppt/tags/tag146.xml><?xml version="1.0" encoding="utf-8"?>
<p:tagLst xmlns:p="http://schemas.openxmlformats.org/presentationml/2006/main">
  <p:tag name="RAINPROBLEMTYPE" val="ProblemTypeMarker"/>
</p:tagLst>
</file>

<file path=ppt/tags/tag147.xml><?xml version="1.0" encoding="utf-8"?>
<p:tagLst xmlns:p="http://schemas.openxmlformats.org/presentationml/2006/main">
  <p:tag name="RAINPROBLEMTYPE" val="ProblemTypeMarker"/>
</p:tagLst>
</file>

<file path=ppt/tags/tag148.xml><?xml version="1.0" encoding="utf-8"?>
<p:tagLst xmlns:p="http://schemas.openxmlformats.org/presentationml/2006/main">
  <p:tag name="RAINPROBLEMTYPE" val="ProblemTypeMarker"/>
</p:tagLst>
</file>

<file path=ppt/tags/tag149.xml><?xml version="1.0" encoding="utf-8"?>
<p:tagLst xmlns:p="http://schemas.openxmlformats.org/presentationml/2006/main">
  <p:tag name="RAINPROBLEM" val="ProblemSetting"/>
  <p:tag name="RAINPROBLEMTYPE" val="MultipleChoice"/>
</p:tagLst>
</file>

<file path=ppt/tags/tag150.xml><?xml version="1.0" encoding="utf-8"?>
<p:tagLst xmlns:p="http://schemas.openxmlformats.org/presentationml/2006/main">
  <p:tag name="RAINPROBLEM" val="MultipleChoice"/>
  <p:tag name="PROBLEMSCORE" val="1.0"/>
</p:tagLst>
</file>

<file path=ppt/tags/tag151.xml><?xml version="1.0" encoding="utf-8"?>
<p:tagLst xmlns:p="http://schemas.openxmlformats.org/presentationml/2006/main">
  <p:tag name="RAINPROBLEM" val="ProblemBody"/>
</p:tagLst>
</file>

<file path=ppt/tags/tag152.xml><?xml version="1.0" encoding="utf-8"?>
<p:tagLst xmlns:p="http://schemas.openxmlformats.org/presentationml/2006/main">
  <p:tag name="RAINPROBLEM" val="ProblemItem"/>
</p:tagLst>
</file>

<file path=ppt/tags/tag153.xml><?xml version="1.0" encoding="utf-8"?>
<p:tagLst xmlns:p="http://schemas.openxmlformats.org/presentationml/2006/main">
  <p:tag name="RAINPROBLEM" val="ProblemItem"/>
</p:tagLst>
</file>

<file path=ppt/tags/tag154.xml><?xml version="1.0" encoding="utf-8"?>
<p:tagLst xmlns:p="http://schemas.openxmlformats.org/presentationml/2006/main">
  <p:tag name="RAINPROBLEM" val="ProblemBullet"/>
  <p:tag name="RAINPROBLEMTYPE" val="MultipleChoice"/>
  <p:tag name="RAINBULLET" val="Wrong"/>
</p:tagLst>
</file>

<file path=ppt/tags/tag155.xml><?xml version="1.0" encoding="utf-8"?>
<p:tagLst xmlns:p="http://schemas.openxmlformats.org/presentationml/2006/main">
  <p:tag name="RAINPROBLEM" val="ProblemBullet"/>
  <p:tag name="RAINPROBLEMTYPE" val="MultipleChoice"/>
  <p:tag name="RAINBULLET" val="Wrong"/>
</p:tagLst>
</file>

<file path=ppt/tags/tag156.xml><?xml version="1.0" encoding="utf-8"?>
<p:tagLst xmlns:p="http://schemas.openxmlformats.org/presentationml/2006/main">
  <p:tag name="RAINPROBLEM" val="ProblemSubmit"/>
  <p:tag name="RAINPROBLEMTYPE" val="MultipleChoice"/>
</p:tagLst>
</file>

<file path=ppt/tags/tag157.xml><?xml version="1.0" encoding="utf-8"?>
<p:tagLst xmlns:p="http://schemas.openxmlformats.org/presentationml/2006/main">
  <p:tag name="RAINPROBLEM" val="ProblemItem"/>
</p:tagLst>
</file>

<file path=ppt/tags/tag158.xml><?xml version="1.0" encoding="utf-8"?>
<p:tagLst xmlns:p="http://schemas.openxmlformats.org/presentationml/2006/main">
  <p:tag name="RAINPROBLEM" val="ProblemBullet"/>
  <p:tag name="RAINPROBLEMTYPE" val="MultipleChoice"/>
  <p:tag name="RAINBULLET" val="Correct"/>
</p:tagLst>
</file>

<file path=ppt/tags/tag159.xml><?xml version="1.0" encoding="utf-8"?>
<p:tagLst xmlns:p="http://schemas.openxmlformats.org/presentationml/2006/main">
  <p:tag name="RAINPROBLEM" val="ProblemItem"/>
</p:tagLst>
</file>

<file path=ppt/tags/tag160.xml><?xml version="1.0" encoding="utf-8"?>
<p:tagLst xmlns:p="http://schemas.openxmlformats.org/presentationml/2006/main">
  <p:tag name="RAINPROBLEM" val="ProblemBullet"/>
  <p:tag name="RAINPROBLEMTYPE" val="MultipleChoice"/>
  <p:tag name="RAINBULLET" val="Wrong"/>
</p:tagLst>
</file>

<file path=ppt/tags/tag161.xml><?xml version="1.0" encoding="utf-8"?>
<p:tagLst xmlns:p="http://schemas.openxmlformats.org/presentationml/2006/main">
  <p:tag name="RAINPROBLEMTYPE" val="ProblemTypeMarker"/>
</p:tagLst>
</file>

<file path=ppt/tags/tag162.xml><?xml version="1.0" encoding="utf-8"?>
<p:tagLst xmlns:p="http://schemas.openxmlformats.org/presentationml/2006/main">
  <p:tag name="RAINPROBLEMTYPE" val="ProblemTypeMarker"/>
</p:tagLst>
</file>

<file path=ppt/tags/tag163.xml><?xml version="1.0" encoding="utf-8"?>
<p:tagLst xmlns:p="http://schemas.openxmlformats.org/presentationml/2006/main">
  <p:tag name="RAINPROBLEMTYPE" val="ProblemTypeMarker"/>
</p:tagLst>
</file>

<file path=ppt/tags/tag164.xml><?xml version="1.0" encoding="utf-8"?>
<p:tagLst xmlns:p="http://schemas.openxmlformats.org/presentationml/2006/main">
  <p:tag name="RAINPROBLEMTYPE" val="ProblemTypeMarker"/>
</p:tagLst>
</file>

<file path=ppt/tags/tag165.xml><?xml version="1.0" encoding="utf-8"?>
<p:tagLst xmlns:p="http://schemas.openxmlformats.org/presentationml/2006/main">
  <p:tag name="RAINPROBLEMTYPE" val="ProblemTypeMarker"/>
</p:tagLst>
</file>

<file path=ppt/tags/tag166.xml><?xml version="1.0" encoding="utf-8"?>
<p:tagLst xmlns:p="http://schemas.openxmlformats.org/presentationml/2006/main">
  <p:tag name="RAINPROBLEM" val="ProblemSetting"/>
  <p:tag name="RAINPROBLEMTYPE" val="MultipleChoice"/>
</p:tagLst>
</file>

<file path=ppt/tags/tag167.xml><?xml version="1.0" encoding="utf-8"?>
<p:tagLst xmlns:p="http://schemas.openxmlformats.org/presentationml/2006/main">
  <p:tag name="RAINPROBLEM" val="MultipleChoice"/>
  <p:tag name="PROBLEMSCORE" val="1.0"/>
</p:tagLst>
</file>

<file path=ppt/theme/theme1.xml><?xml version="1.0" encoding="utf-8"?>
<a:theme xmlns:a="http://schemas.openxmlformats.org/drawingml/2006/main" name="Office 主题​​">
  <a:themeElements>
    <a:clrScheme name="绿色">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第一PPT，www.1ppt.com">
  <a:themeElements>
    <a:clrScheme name="自定义 10">
      <a:dk1>
        <a:srgbClr val="000000"/>
      </a:dk1>
      <a:lt1>
        <a:sysClr val="window" lastClr="FFFFFF"/>
      </a:lt1>
      <a:dk2>
        <a:srgbClr val="44546A"/>
      </a:dk2>
      <a:lt2>
        <a:srgbClr val="E7E6E6"/>
      </a:lt2>
      <a:accent1>
        <a:srgbClr val="6BB2E1"/>
      </a:accent1>
      <a:accent2>
        <a:srgbClr val="265B85"/>
      </a:accent2>
      <a:accent3>
        <a:srgbClr val="FFA500"/>
      </a:accent3>
      <a:accent4>
        <a:srgbClr val="FFD20E"/>
      </a:accent4>
      <a:accent5>
        <a:srgbClr val="B03A05"/>
      </a:accent5>
      <a:accent6>
        <a:srgbClr val="FFFFFF"/>
      </a:accent6>
      <a:hlink>
        <a:srgbClr val="0563C1"/>
      </a:hlink>
      <a:folHlink>
        <a:srgbClr val="954F72"/>
      </a:folHlink>
    </a:clrScheme>
    <a:fontScheme name="自定义 1">
      <a:majorFont>
        <a:latin typeface="Calibri"/>
        <a:ea typeface="微软雅黑"/>
        <a:cs typeface=""/>
      </a:majorFont>
      <a:minorFont>
        <a:latin typeface="Calibri Light"/>
        <a:ea typeface="微软雅黑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21074</Words>
  <Application>WPS 演示</Application>
  <PresentationFormat>宽屏</PresentationFormat>
  <Paragraphs>1011</Paragraphs>
  <Slides>77</Slides>
  <Notes>9</Notes>
  <HiddenSlides>0</HiddenSlides>
  <MMClips>0</MMClips>
  <ScaleCrop>false</ScaleCrop>
  <HeadingPairs>
    <vt:vector size="8" baseType="variant">
      <vt:variant>
        <vt:lpstr>已用的字体</vt:lpstr>
      </vt:variant>
      <vt:variant>
        <vt:i4>24</vt:i4>
      </vt:variant>
      <vt:variant>
        <vt:lpstr>主题</vt:lpstr>
      </vt:variant>
      <vt:variant>
        <vt:i4>2</vt:i4>
      </vt:variant>
      <vt:variant>
        <vt:lpstr>嵌入 OLE 服务器</vt:lpstr>
      </vt:variant>
      <vt:variant>
        <vt:i4>1</vt:i4>
      </vt:variant>
      <vt:variant>
        <vt:lpstr>幻灯片标题</vt:lpstr>
      </vt:variant>
      <vt:variant>
        <vt:i4>77</vt:i4>
      </vt:variant>
    </vt:vector>
  </HeadingPairs>
  <TitlesOfParts>
    <vt:vector size="104" baseType="lpstr">
      <vt:lpstr>Arial</vt:lpstr>
      <vt:lpstr>宋体</vt:lpstr>
      <vt:lpstr>Wingdings</vt:lpstr>
      <vt:lpstr>微软雅黑</vt:lpstr>
      <vt:lpstr>Arial Unicode MS</vt:lpstr>
      <vt:lpstr>Yuanti SC</vt:lpstr>
      <vt:lpstr>Microsoft Sans Serif</vt:lpstr>
      <vt:lpstr>华文楷体</vt:lpstr>
      <vt:lpstr>Calibri Light</vt:lpstr>
      <vt:lpstr>Verdana</vt:lpstr>
      <vt:lpstr>Calibri</vt:lpstr>
      <vt:lpstr>Noto Sans S Chinese Medium</vt:lpstr>
      <vt:lpstr>Impact</vt:lpstr>
      <vt:lpstr>黑体</vt:lpstr>
      <vt:lpstr>楷体</vt:lpstr>
      <vt:lpstr>Times New Roman</vt:lpstr>
      <vt:lpstr>Cambria</vt:lpstr>
      <vt:lpstr>方正综艺简体</vt:lpstr>
      <vt:lpstr>Arial Unicode MS</vt:lpstr>
      <vt:lpstr>等线</vt:lpstr>
      <vt:lpstr>Cambria Math</vt:lpstr>
      <vt:lpstr>Calibri</vt:lpstr>
      <vt:lpstr>Calibri Light</vt:lpstr>
      <vt:lpstr>微软雅黑 Light</vt:lpstr>
      <vt:lpstr>Office 主题​​</vt:lpstr>
      <vt:lpstr>第一PPT，www.1ppt.com</vt:lpstr>
      <vt:lpstr>Visio.Drawing.15</vt:lpstr>
      <vt:lpstr>PowerPoint 演示文稿</vt:lpstr>
      <vt:lpstr>PowerPoint 演示文稿</vt:lpstr>
      <vt:lpstr>1.集成学习理论</vt:lpstr>
      <vt:lpstr>1.集成学习理论</vt:lpstr>
      <vt:lpstr>1.集成学习理论</vt:lpstr>
      <vt:lpstr>1.集成学习理论</vt:lpstr>
      <vt:lpstr>PowerPoint 演示文稿</vt:lpstr>
      <vt:lpstr>PowerPoint 演示文稿</vt:lpstr>
      <vt:lpstr>Bagging</vt:lpstr>
      <vt:lpstr>Bagging</vt:lpstr>
      <vt:lpstr>PowerPoint 演示文稿</vt:lpstr>
      <vt:lpstr>随机森林</vt:lpstr>
      <vt:lpstr>随机森林</vt:lpstr>
      <vt:lpstr>实现及参数</vt:lpstr>
      <vt:lpstr>实现及参数</vt:lpstr>
      <vt:lpstr>实现及参数</vt:lpstr>
      <vt:lpstr>实现及参数</vt:lpstr>
      <vt:lpstr>实现及参数</vt:lpstr>
      <vt:lpstr>算法实例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提升法</vt:lpstr>
      <vt:lpstr>提升法</vt:lpstr>
      <vt:lpstr>PowerPoint 演示文稿</vt:lpstr>
      <vt:lpstr>提升法--AdaBoost</vt:lpstr>
      <vt:lpstr>提升法--AdaBoost</vt:lpstr>
      <vt:lpstr>实现及参数</vt:lpstr>
      <vt:lpstr>实现及参数</vt:lpstr>
      <vt:lpstr>实现及参数</vt:lpstr>
      <vt:lpstr>算法实例</vt:lpstr>
      <vt:lpstr>PowerPoint 演示文稿</vt:lpstr>
      <vt:lpstr>PowerPoint 演示文稿</vt:lpstr>
      <vt:lpstr>PowerPoint 演示文稿</vt:lpstr>
      <vt:lpstr>提升法--GBDT</vt:lpstr>
      <vt:lpstr>实现及参数</vt:lpstr>
      <vt:lpstr>实现及参数</vt:lpstr>
      <vt:lpstr>实现及参数</vt:lpstr>
      <vt:lpstr>实现及参数</vt:lpstr>
      <vt:lpstr>实现及参数</vt:lpstr>
      <vt:lpstr>12.4 提升法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一、基本概念</vt:lpstr>
      <vt:lpstr>PowerPoint 演示文稿</vt:lpstr>
      <vt:lpstr>二、为什么会有偏差和方差？</vt:lpstr>
      <vt:lpstr>偏差与方差</vt:lpstr>
      <vt:lpstr>三、数学公式定义偏差、方差、噪声</vt:lpstr>
      <vt:lpstr>偏差与方差定义</vt:lpstr>
      <vt:lpstr>“偏差-方差分解”</vt:lpstr>
      <vt:lpstr>偏差-方差窘境</vt:lpstr>
      <vt:lpstr>偏差、方差与过拟合、欠拟合的关系</vt:lpstr>
      <vt:lpstr>如何解决偏差、方差问题？</vt:lpstr>
      <vt:lpstr>如何解决偏差、方差问题？</vt:lpstr>
      <vt:lpstr>偏差、方差与bagging、boosting的关系</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实例：基于梯度下降树实现波士顿房价预测</vt:lpstr>
      <vt:lpstr>实例：基于梯度下降树实现波士顿房价预测</vt:lpstr>
      <vt:lpstr>实例：基于梯度下降树实现波士顿房价预测</vt:lpstr>
      <vt:lpstr>上机练习</vt:lpstr>
      <vt:lpstr>上机练习</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170322</dc:title>
  <dc:creator>cpk</dc:creator>
  <cp:lastModifiedBy>难得糊涂</cp:lastModifiedBy>
  <cp:revision>353</cp:revision>
  <dcterms:created xsi:type="dcterms:W3CDTF">2017-03-22T09:00:00Z</dcterms:created>
  <dcterms:modified xsi:type="dcterms:W3CDTF">2025-04-20T07:16:46Z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2052-12.1.0.20784</vt:lpwstr>
  </property>
  <property fmtid="{D5CDD505-2E9C-101B-9397-08002B2CF9AE}" pid="3" name="ICV">
    <vt:lpwstr>B43B8F91964444438D556837F9AD3B6D_12</vt:lpwstr>
  </property>
</Properties>
</file>