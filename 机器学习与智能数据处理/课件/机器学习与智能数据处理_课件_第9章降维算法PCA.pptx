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Lst>
  <p:notesMasterIdLst>
    <p:notesMasterId r:id="rId6"/>
  </p:notesMasterIdLst>
  <p:handoutMasterIdLst>
    <p:handoutMasterId r:id="rId83"/>
  </p:handoutMasterIdLst>
  <p:sldIdLst>
    <p:sldId id="256" r:id="rId5"/>
    <p:sldId id="378" r:id="rId7"/>
    <p:sldId id="259" r:id="rId8"/>
    <p:sldId id="394" r:id="rId9"/>
    <p:sldId id="398" r:id="rId10"/>
    <p:sldId id="395" r:id="rId11"/>
    <p:sldId id="399" r:id="rId12"/>
    <p:sldId id="343" r:id="rId13"/>
    <p:sldId id="358" r:id="rId14"/>
    <p:sldId id="396" r:id="rId15"/>
    <p:sldId id="397" r:id="rId16"/>
    <p:sldId id="359" r:id="rId17"/>
    <p:sldId id="379" r:id="rId18"/>
    <p:sldId id="347" r:id="rId19"/>
    <p:sldId id="380" r:id="rId20"/>
    <p:sldId id="381" r:id="rId21"/>
    <p:sldId id="332" r:id="rId22"/>
    <p:sldId id="333" r:id="rId23"/>
    <p:sldId id="334" r:id="rId24"/>
    <p:sldId id="335" r:id="rId25"/>
    <p:sldId id="336" r:id="rId26"/>
    <p:sldId id="337" r:id="rId27"/>
    <p:sldId id="383" r:id="rId28"/>
    <p:sldId id="346" r:id="rId29"/>
    <p:sldId id="384" r:id="rId30"/>
    <p:sldId id="310" r:id="rId31"/>
    <p:sldId id="400" r:id="rId32"/>
    <p:sldId id="401" r:id="rId33"/>
    <p:sldId id="402" r:id="rId34"/>
    <p:sldId id="403" r:id="rId35"/>
    <p:sldId id="404" r:id="rId36"/>
    <p:sldId id="385" r:id="rId37"/>
    <p:sldId id="313" r:id="rId38"/>
    <p:sldId id="386" r:id="rId39"/>
    <p:sldId id="340" r:id="rId40"/>
    <p:sldId id="342" r:id="rId41"/>
    <p:sldId id="341" r:id="rId42"/>
    <p:sldId id="368" r:id="rId43"/>
    <p:sldId id="369" r:id="rId44"/>
    <p:sldId id="370" r:id="rId45"/>
    <p:sldId id="371" r:id="rId46"/>
    <p:sldId id="372" r:id="rId47"/>
    <p:sldId id="373" r:id="rId48"/>
    <p:sldId id="374" r:id="rId49"/>
    <p:sldId id="375" r:id="rId50"/>
    <p:sldId id="389" r:id="rId51"/>
    <p:sldId id="319" r:id="rId52"/>
    <p:sldId id="320" r:id="rId53"/>
    <p:sldId id="321" r:id="rId54"/>
    <p:sldId id="367" r:id="rId55"/>
    <p:sldId id="390" r:id="rId56"/>
    <p:sldId id="322" r:id="rId57"/>
    <p:sldId id="360" r:id="rId58"/>
    <p:sldId id="408" r:id="rId59"/>
    <p:sldId id="409" r:id="rId60"/>
    <p:sldId id="410" r:id="rId61"/>
    <p:sldId id="411" r:id="rId62"/>
    <p:sldId id="412" r:id="rId63"/>
    <p:sldId id="323" r:id="rId64"/>
    <p:sldId id="405" r:id="rId65"/>
    <p:sldId id="406" r:id="rId66"/>
    <p:sldId id="324" r:id="rId67"/>
    <p:sldId id="325" r:id="rId68"/>
    <p:sldId id="326" r:id="rId69"/>
    <p:sldId id="361" r:id="rId70"/>
    <p:sldId id="364" r:id="rId71"/>
    <p:sldId id="362" r:id="rId72"/>
    <p:sldId id="363" r:id="rId73"/>
    <p:sldId id="365" r:id="rId74"/>
    <p:sldId id="366" r:id="rId75"/>
    <p:sldId id="315" r:id="rId76"/>
    <p:sldId id="316" r:id="rId77"/>
    <p:sldId id="391" r:id="rId78"/>
    <p:sldId id="328" r:id="rId79"/>
    <p:sldId id="329" r:id="rId80"/>
    <p:sldId id="393" r:id="rId81"/>
    <p:sldId id="407" r:id="rId82"/>
  </p:sldIdLst>
  <p:sldSz cx="12192000" cy="6858000"/>
  <p:notesSz cx="6858000" cy="9144000"/>
  <p:custDataLst>
    <p:tags r:id="rId8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9" userDrawn="1">
          <p15:clr>
            <a:srgbClr val="A4A3A4"/>
          </p15:clr>
        </p15:guide>
        <p15:guide id="3" pos="642" userDrawn="1">
          <p15:clr>
            <a:srgbClr val="A4A3A4"/>
          </p15:clr>
        </p15:guide>
        <p15:guide id="4" pos="7056" userDrawn="1">
          <p15:clr>
            <a:srgbClr val="A4A3A4"/>
          </p15:clr>
        </p15:guide>
        <p15:guide id="5" orient="horz" pos="3793" userDrawn="1">
          <p15:clr>
            <a:srgbClr val="A4A3A4"/>
          </p15:clr>
        </p15:guide>
        <p15:guide id="6" orient="horz" pos="7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FF05"/>
    <a:srgbClr val="009999"/>
    <a:srgbClr val="A5A5A5"/>
    <a:srgbClr val="5F5F5F"/>
    <a:srgbClr val="606060"/>
    <a:srgbClr val="FEA205"/>
    <a:srgbClr val="E9EBEC"/>
    <a:srgbClr val="EAECED"/>
    <a:srgbClr val="E8EBEC"/>
    <a:srgbClr val="E3E6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0" autoAdjust="0"/>
    <p:restoredTop sz="95317" autoAdjust="0"/>
  </p:normalViewPr>
  <p:slideViewPr>
    <p:cSldViewPr snapToGrid="0" showGuides="1">
      <p:cViewPr varScale="1">
        <p:scale>
          <a:sx n="73" d="100"/>
          <a:sy n="73" d="100"/>
        </p:scale>
        <p:origin x="750" y="18"/>
      </p:cViewPr>
      <p:guideLst>
        <p:guide orient="horz" pos="2160"/>
        <p:guide pos="3819"/>
        <p:guide pos="642"/>
        <p:guide pos="7056"/>
        <p:guide orient="horz" pos="3793"/>
        <p:guide orient="horz" pos="799"/>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7" Type="http://schemas.openxmlformats.org/officeDocument/2006/relationships/tags" Target="tags/tag17.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smtClean="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C45721-996D-4E5A-B4CC-9D53169AB1F0}" type="slidenum">
              <a:rPr lang="zh-CN" altLang="en-US"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2284" y="1989138"/>
            <a:ext cx="5080000" cy="4114800"/>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5484" y="1989138"/>
            <a:ext cx="5080000" cy="4114800"/>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dt" sz="half" idx="10"/>
          </p:nvPr>
        </p:nvSpPr>
        <p:spPr>
          <a:xfrm>
            <a:off x="912284" y="6381750"/>
            <a:ext cx="2540000" cy="457200"/>
          </a:xfrm>
          <a:prstGeom prst="rect">
            <a:avLst/>
          </a:prstGeom>
        </p:spPr>
        <p:txBody>
          <a:bodyPr/>
          <a:lstStyle>
            <a:lvl1pPr>
              <a:defRPr/>
            </a:lvl1pPr>
          </a:lstStyle>
          <a:p>
            <a:pPr>
              <a:defRPr/>
            </a:pPr>
            <a:fld id="{B2F2E8A0-3C8A-4900-963F-0917249A9029}" type="datetime1">
              <a:rPr lang="zh-CN" altLang="en-US"/>
            </a:fld>
            <a:endParaRPr lang="en-US" altLang="zh-CN"/>
          </a:p>
        </p:txBody>
      </p:sp>
      <p:sp>
        <p:nvSpPr>
          <p:cNvPr id="6" name="Rectangle 6"/>
          <p:cNvSpPr>
            <a:spLocks noGrp="1" noChangeArrowheads="1"/>
          </p:cNvSpPr>
          <p:nvPr>
            <p:ph type="ftr" sz="quarter" idx="11"/>
          </p:nvPr>
        </p:nvSpPr>
        <p:spPr>
          <a:xfrm>
            <a:off x="4165600" y="6356350"/>
            <a:ext cx="3860800" cy="457200"/>
          </a:xfrm>
          <a:prstGeom prst="rect">
            <a:avLst/>
          </a:prstGeom>
        </p:spPr>
        <p:txBody>
          <a:bodyPr/>
          <a:lstStyle>
            <a:lvl1pPr>
              <a:defRPr/>
            </a:lvl1pPr>
          </a:lstStyle>
          <a:p>
            <a:pPr>
              <a:defRPr/>
            </a:pPr>
            <a:r>
              <a:rPr lang="zh-CN" altLang="en-US"/>
              <a:t>计算机应用技术研究所</a:t>
            </a:r>
            <a:endParaRPr lang="zh-CN" altLang="en-US"/>
          </a:p>
        </p:txBody>
      </p:sp>
      <p:sp>
        <p:nvSpPr>
          <p:cNvPr id="7" name="Rectangle 7"/>
          <p:cNvSpPr>
            <a:spLocks noGrp="1" noChangeArrowheads="1"/>
          </p:cNvSpPr>
          <p:nvPr>
            <p:ph type="sldNum" sz="quarter" idx="12"/>
          </p:nvPr>
        </p:nvSpPr>
        <p:spPr>
          <a:xfrm>
            <a:off x="8737600" y="6356350"/>
            <a:ext cx="2540000" cy="457200"/>
          </a:xfrm>
          <a:prstGeom prst="rect">
            <a:avLst/>
          </a:prstGeom>
        </p:spPr>
        <p:txBody>
          <a:bodyPr/>
          <a:lstStyle>
            <a:lvl1pPr>
              <a:defRPr/>
            </a:lvl1pPr>
          </a:lstStyle>
          <a:p>
            <a:pPr>
              <a:defRPr/>
            </a:pPr>
            <a:r>
              <a:rPr lang="en-US" altLang="zh-CN"/>
              <a:t>50</a:t>
            </a:r>
            <a:r>
              <a:rPr lang="zh-CN" altLang="en-US"/>
              <a:t>－</a:t>
            </a:r>
            <a:fld id="{562B1C36-340F-4FE0-BCFF-474C5157CF6C}" type="slidenum">
              <a:rPr lang="en-US" altLang="zh-CN" smtClean="0"/>
            </a:fld>
            <a:endParaRPr lang="en-US" altLang="zh-CN"/>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ACCDA3-AF6E-43B7-BFD8-4B49DAB3F0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659467" y="4991100"/>
            <a:ext cx="10363200" cy="762000"/>
          </a:xfrm>
        </p:spPr>
        <p:txBody>
          <a:bodyPr anchor="b">
            <a:normAutofit/>
          </a:bodyPr>
          <a:lstStyle>
            <a:lvl1pPr algn="ctr">
              <a:defRPr sz="4000"/>
            </a:lvl1pPr>
          </a:lstStyle>
          <a:p>
            <a:r>
              <a:rPr lang="zh-CN" altLang="en-US"/>
              <a:t>单击此处编辑母版标题样式</a:t>
            </a:r>
            <a:endParaRPr lang="en-US" dirty="0"/>
          </a:p>
        </p:txBody>
      </p:sp>
      <p:sp>
        <p:nvSpPr>
          <p:cNvPr id="4" name="Date Placeholder 3"/>
          <p:cNvSpPr>
            <a:spLocks noGrp="1"/>
          </p:cNvSpPr>
          <p:nvPr>
            <p:ph type="dt" sz="half" idx="10"/>
          </p:nvPr>
        </p:nvSpPr>
        <p:spPr>
          <a:xfrm>
            <a:off x="1917843" y="6356352"/>
            <a:ext cx="1663556" cy="365125"/>
          </a:xfrm>
        </p:spPr>
        <p:txBody>
          <a:bodyPr/>
          <a:lstStyle/>
          <a:p>
            <a:fld id="{CEBA35BA-D686-4C5B-8934-1BF98F7479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2DACDF0-C2BD-4492-A170-FFA0B0A5720C}"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3888" y="0"/>
            <a:ext cx="12188113" cy="478132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dirty="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3"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CCDA3-AF6E-43B7-BFD8-4B49DAB3F0E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0A8B1F-62E6-4FD6-A0B0-93288694D17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2">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4.x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14.xml"/><Relationship Id="rId5" Type="http://schemas.openxmlformats.org/officeDocument/2006/relationships/image" Target="../media/image22.png"/><Relationship Id="rId4" Type="http://schemas.openxmlformats.org/officeDocument/2006/relationships/image" Target="../media/image21.wmf"/><Relationship Id="rId3" Type="http://schemas.openxmlformats.org/officeDocument/2006/relationships/oleObject" Target="../embeddings/oleObject6.bin"/><Relationship Id="rId2" Type="http://schemas.openxmlformats.org/officeDocument/2006/relationships/image" Target="../media/image7.wmf"/><Relationship Id="rId1"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5.png"/><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4.xml"/><Relationship Id="rId2" Type="http://schemas.openxmlformats.org/officeDocument/2006/relationships/image" Target="../media/image26.wmf"/><Relationship Id="rId1"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30.wmf"/><Relationship Id="rId7" Type="http://schemas.openxmlformats.org/officeDocument/2006/relationships/oleObject" Target="../embeddings/oleObject11.bin"/><Relationship Id="rId6" Type="http://schemas.openxmlformats.org/officeDocument/2006/relationships/image" Target="../media/image29.wmf"/><Relationship Id="rId5" Type="http://schemas.openxmlformats.org/officeDocument/2006/relationships/oleObject" Target="../embeddings/oleObject10.bin"/><Relationship Id="rId4" Type="http://schemas.openxmlformats.org/officeDocument/2006/relationships/image" Target="../media/image28.wmf"/><Relationship Id="rId3" Type="http://schemas.openxmlformats.org/officeDocument/2006/relationships/oleObject" Target="../embeddings/oleObject9.bin"/><Relationship Id="rId2" Type="http://schemas.openxmlformats.org/officeDocument/2006/relationships/image" Target="../media/image27.wmf"/><Relationship Id="rId12" Type="http://schemas.openxmlformats.org/officeDocument/2006/relationships/vmlDrawing" Target="../drawings/vmlDrawing5.vml"/><Relationship Id="rId11" Type="http://schemas.openxmlformats.org/officeDocument/2006/relationships/slideLayout" Target="../slideLayouts/slideLayout14.xml"/><Relationship Id="rId10" Type="http://schemas.openxmlformats.org/officeDocument/2006/relationships/image" Target="../media/image31.wmf"/><Relationship Id="rId1" Type="http://schemas.openxmlformats.org/officeDocument/2006/relationships/oleObject" Target="../embeddings/oleObject8.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7.png"/><Relationship Id="rId1" Type="http://schemas.openxmlformats.org/officeDocument/2006/relationships/image" Target="../media/image36.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2.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40.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37.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43.png"/><Relationship Id="rId1" Type="http://schemas.openxmlformats.org/officeDocument/2006/relationships/image" Target="../media/image37.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2.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37.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image" Target="../media/image37.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2.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6.xml"/><Relationship Id="rId1" Type="http://schemas.openxmlformats.org/officeDocument/2006/relationships/image" Target="../media/image50.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6.xml"/><Relationship Id="rId1"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6.xml"/><Relationship Id="rId1" Type="http://schemas.openxmlformats.org/officeDocument/2006/relationships/image" Target="../media/image5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6.xml"/><Relationship Id="rId1" Type="http://schemas.openxmlformats.org/officeDocument/2006/relationships/image" Target="../media/image5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6.xml"/><Relationship Id="rId1" Type="http://schemas.openxmlformats.org/officeDocument/2006/relationships/image" Target="../media/image54.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4.xml"/><Relationship Id="rId4" Type="http://schemas.openxmlformats.org/officeDocument/2006/relationships/image" Target="../media/image57.png"/><Relationship Id="rId3" Type="http://schemas.openxmlformats.org/officeDocument/2006/relationships/image" Target="../media/image56.wmf"/><Relationship Id="rId2" Type="http://schemas.openxmlformats.org/officeDocument/2006/relationships/oleObject" Target="../embeddings/oleObject13.bin"/><Relationship Id="rId1" Type="http://schemas.openxmlformats.org/officeDocument/2006/relationships/image" Target="../media/image5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5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31718" y="5088158"/>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41" name="PA_文本框 140"/>
          <p:cNvSpPr txBox="1"/>
          <p:nvPr>
            <p:custDataLst>
              <p:tags r:id="rId8"/>
            </p:custDataLst>
          </p:nvPr>
        </p:nvSpPr>
        <p:spPr>
          <a:xfrm>
            <a:off x="986327" y="944000"/>
            <a:ext cx="2573140" cy="1200329"/>
          </a:xfrm>
          <a:prstGeom prst="rect">
            <a:avLst/>
          </a:prstGeom>
          <a:noFill/>
        </p:spPr>
        <p:txBody>
          <a:bodyPr wrap="none" rtlCol="0">
            <a:spAutoFit/>
          </a:bodyPr>
          <a:lstStyle/>
          <a:p>
            <a:r>
              <a:rPr lang="zh-CN" altLang="en-US" sz="7200" dirty="0" smtClean="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smtClean="0">
                <a:solidFill>
                  <a:srgbClr val="009999"/>
                </a:solidFill>
                <a:latin typeface="Noto Sans S Chinese Medium" panose="020B0600000000000000" pitchFamily="34" charset="-122"/>
                <a:ea typeface="Noto Sans S Chinese Medium" panose="020B0600000000000000" pitchFamily="34" charset="-122"/>
                <a:cs typeface="+mn-ea"/>
                <a:sym typeface="+mn-lt"/>
              </a:rPr>
              <a:t>9</a:t>
            </a:r>
            <a:r>
              <a:rPr lang="zh-CN" altLang="en-US" sz="7200" dirty="0" smtClean="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endPar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36" name="PA_文本框 18"/>
          <p:cNvSpPr txBox="1"/>
          <p:nvPr>
            <p:custDataLst>
              <p:tags r:id="rId9"/>
            </p:custDataLst>
          </p:nvPr>
        </p:nvSpPr>
        <p:spPr>
          <a:xfrm>
            <a:off x="4391654" y="2592184"/>
            <a:ext cx="5707380" cy="1753235"/>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降维算法</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 </a:t>
            </a:r>
            <a:r>
              <a:rPr lang="en-US" altLang="zh-CN" dirty="0">
                <a:solidFill>
                  <a:srgbClr val="009999"/>
                </a:solidFill>
                <a:latin typeface="Noto Sans S Chinese Medium" panose="020B0600000000000000" pitchFamily="34" charset="-122"/>
                <a:ea typeface="Noto Sans S Chinese Medium" panose="020B0600000000000000" pitchFamily="34" charset="-122"/>
                <a:sym typeface="+mn-lt"/>
              </a:rPr>
              <a:t>    ——PCA</a:t>
            </a:r>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降维</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sp>
        <p:nvSpPr>
          <p:cNvPr id="49" name="椭圆 48"/>
          <p:cNvSpPr>
            <a:spLocks noChangeAspect="1"/>
          </p:cNvSpPr>
          <p:nvPr/>
        </p:nvSpPr>
        <p:spPr>
          <a:xfrm>
            <a:off x="517029" y="51670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7821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1834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446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719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91" name="文本框 90"/>
          <p:cNvSpPr txBox="1"/>
          <p:nvPr/>
        </p:nvSpPr>
        <p:spPr>
          <a:xfrm>
            <a:off x="1687385" y="671150"/>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endPar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endParaRPr>
          </a:p>
        </p:txBody>
      </p:sp>
      <p:sp>
        <p:nvSpPr>
          <p:cNvPr id="13" name="椭圆 12"/>
          <p:cNvSpPr>
            <a:spLocks noChangeAspect="1"/>
          </p:cNvSpPr>
          <p:nvPr/>
        </p:nvSpPr>
        <p:spPr>
          <a:xfrm>
            <a:off x="2152071"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1</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15" name="文本框 14"/>
          <p:cNvSpPr txBox="1"/>
          <p:nvPr/>
        </p:nvSpPr>
        <p:spPr>
          <a:xfrm>
            <a:off x="2816070" y="2425583"/>
            <a:ext cx="1826141" cy="584775"/>
          </a:xfrm>
          <a:prstGeom prst="rect">
            <a:avLst/>
          </a:prstGeom>
          <a:noFill/>
        </p:spPr>
        <p:txBody>
          <a:bodyPr wrap="none" rtlCol="0">
            <a:spAutoFit/>
          </a:bodyPr>
          <a:lstStyle>
            <a:defPPr>
              <a:defRPr lang="zh-CN"/>
            </a:defPPr>
            <a:lvl1pPr>
              <a:defRPr sz="2800">
                <a:solidFill>
                  <a:schemeClr val="tx1">
                    <a:lumMod val="75000"/>
                    <a:lumOff val="25000"/>
                  </a:schemeClr>
                </a:solidFill>
                <a:cs typeface="+mn-ea"/>
              </a:defRPr>
            </a:lvl1pPr>
          </a:lstStyle>
          <a:p>
            <a:r>
              <a:rPr lang="zh-CN" altLang="en-US" sz="3200" dirty="0">
                <a:latin typeface="Noto Sans S Chinese Medium" panose="020B0600000000000000" pitchFamily="34" charset="-122"/>
                <a:ea typeface="Noto Sans S Chinese Medium" panose="020B0600000000000000" pitchFamily="34" charset="-122"/>
                <a:sym typeface="+mn-lt"/>
              </a:rPr>
              <a:t>算法概述</a:t>
            </a:r>
            <a:endParaRPr lang="en-US" altLang="zh-CN" sz="3200" dirty="0">
              <a:latin typeface="Noto Sans S Chinese Medium" panose="020B0600000000000000" pitchFamily="34" charset="-122"/>
              <a:ea typeface="Noto Sans S Chinese Medium" panose="020B0600000000000000" pitchFamily="34" charset="-122"/>
              <a:sym typeface="+mn-lt"/>
            </a:endParaRPr>
          </a:p>
        </p:txBody>
      </p:sp>
      <p:grpSp>
        <p:nvGrpSpPr>
          <p:cNvPr id="9" name="组合 8"/>
          <p:cNvGrpSpPr/>
          <p:nvPr/>
        </p:nvGrpSpPr>
        <p:grpSpPr>
          <a:xfrm>
            <a:off x="2152071" y="3512132"/>
            <a:ext cx="2575574" cy="584776"/>
            <a:chOff x="6566362" y="2425582"/>
            <a:chExt cx="2575574" cy="584776"/>
          </a:xfrm>
        </p:grpSpPr>
        <p:sp>
          <p:nvSpPr>
            <p:cNvPr id="19" name="椭圆 18"/>
            <p:cNvSpPr>
              <a:spLocks noChangeAspect="1"/>
            </p:cNvSpPr>
            <p:nvPr/>
          </p:nvSpPr>
          <p:spPr>
            <a:xfrm>
              <a:off x="6566362"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2</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1" name="文本框 20"/>
            <p:cNvSpPr txBox="1"/>
            <p:nvPr/>
          </p:nvSpPr>
          <p:spPr>
            <a:xfrm>
              <a:off x="7315795" y="2425582"/>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算法流程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4" name="组合 3"/>
          <p:cNvGrpSpPr/>
          <p:nvPr/>
        </p:nvGrpSpPr>
        <p:grpSpPr>
          <a:xfrm>
            <a:off x="2151901" y="4626910"/>
            <a:ext cx="2490139" cy="596266"/>
            <a:chOff x="2156731" y="3537582"/>
            <a:chExt cx="2490139" cy="596266"/>
          </a:xfrm>
        </p:grpSpPr>
        <p:sp>
          <p:nvSpPr>
            <p:cNvPr id="24" name="椭圆 23"/>
            <p:cNvSpPr>
              <a:spLocks noChangeAspect="1"/>
            </p:cNvSpPr>
            <p:nvPr/>
          </p:nvSpPr>
          <p:spPr>
            <a:xfrm>
              <a:off x="2156731" y="3537582"/>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3</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5" name="文本框 24"/>
            <p:cNvSpPr txBox="1"/>
            <p:nvPr/>
          </p:nvSpPr>
          <p:spPr>
            <a:xfrm>
              <a:off x="2820729" y="3549073"/>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算法步骤</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11" name="组合 10"/>
          <p:cNvGrpSpPr/>
          <p:nvPr/>
        </p:nvGrpSpPr>
        <p:grpSpPr>
          <a:xfrm>
            <a:off x="6243788" y="2409696"/>
            <a:ext cx="2575574" cy="601320"/>
            <a:chOff x="6567695" y="3504907"/>
            <a:chExt cx="2575574" cy="601320"/>
          </a:xfrm>
        </p:grpSpPr>
        <p:sp>
          <p:nvSpPr>
            <p:cNvPr id="28" name="椭圆 27"/>
            <p:cNvSpPr>
              <a:spLocks noChangeAspect="1"/>
            </p:cNvSpPr>
            <p:nvPr/>
          </p:nvSpPr>
          <p:spPr>
            <a:xfrm>
              <a:off x="6567695" y="3504907"/>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4</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9" name="文本框 28"/>
            <p:cNvSpPr txBox="1"/>
            <p:nvPr/>
          </p:nvSpPr>
          <p:spPr>
            <a:xfrm>
              <a:off x="7317128" y="3521452"/>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算法实例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10" name="组合 9"/>
          <p:cNvGrpSpPr/>
          <p:nvPr/>
        </p:nvGrpSpPr>
        <p:grpSpPr>
          <a:xfrm>
            <a:off x="6243788" y="3502363"/>
            <a:ext cx="2575573" cy="614194"/>
            <a:chOff x="2152071" y="4668438"/>
            <a:chExt cx="2575573" cy="614194"/>
          </a:xfrm>
        </p:grpSpPr>
        <p:sp>
          <p:nvSpPr>
            <p:cNvPr id="87" name="椭圆 86"/>
            <p:cNvSpPr>
              <a:spLocks noChangeAspect="1"/>
            </p:cNvSpPr>
            <p:nvPr/>
          </p:nvSpPr>
          <p:spPr>
            <a:xfrm>
              <a:off x="2152071" y="466843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5</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0" name="文本框 89"/>
            <p:cNvSpPr txBox="1"/>
            <p:nvPr/>
          </p:nvSpPr>
          <p:spPr>
            <a:xfrm>
              <a:off x="2901503" y="4697857"/>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算法应用</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sp>
        <p:nvSpPr>
          <p:cNvPr id="92" name="椭圆 91"/>
          <p:cNvSpPr>
            <a:spLocks noChangeAspect="1"/>
          </p:cNvSpPr>
          <p:nvPr/>
        </p:nvSpPr>
        <p:spPr>
          <a:xfrm>
            <a:off x="6297768" y="4661184"/>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6</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3" name="文本框 92"/>
          <p:cNvSpPr txBox="1"/>
          <p:nvPr/>
        </p:nvSpPr>
        <p:spPr>
          <a:xfrm>
            <a:off x="7000872" y="4656796"/>
            <a:ext cx="3057247"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算法改进与优化</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5123" name="TextBox 5"/>
          <p:cNvSpPr txBox="1">
            <a:spLocks noChangeArrowheads="1"/>
          </p:cNvSpPr>
          <p:nvPr/>
        </p:nvSpPr>
        <p:spPr bwMode="auto">
          <a:xfrm>
            <a:off x="810684" y="573617"/>
            <a:ext cx="2793907" cy="584775"/>
          </a:xfrm>
          <a:prstGeom prst="rect">
            <a:avLst/>
          </a:prstGeom>
          <a:solidFill>
            <a:srgbClr val="009999"/>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en-US" altLang="zh-CN" dirty="0" smtClean="0">
                <a:solidFill>
                  <a:schemeClr val="bg1"/>
                </a:solidFill>
                <a:latin typeface="微软雅黑" panose="020B0503020204020204" pitchFamily="34" charset="-122"/>
                <a:ea typeface="微软雅黑" panose="020B0503020204020204" pitchFamily="34" charset="-122"/>
              </a:rPr>
              <a:t>PCA</a:t>
            </a:r>
            <a:r>
              <a:rPr kumimoji="0" lang="zh-CN" altLang="en-US" dirty="0" smtClean="0">
                <a:solidFill>
                  <a:schemeClr val="bg1"/>
                </a:solidFill>
                <a:latin typeface="微软雅黑" panose="020B0503020204020204" pitchFamily="34" charset="-122"/>
                <a:ea typeface="微软雅黑" panose="020B0503020204020204" pitchFamily="34" charset="-122"/>
              </a:rPr>
              <a:t>是什么？</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795867" y="1307457"/>
            <a:ext cx="9467525" cy="461665"/>
          </a:xfrm>
          <a:prstGeom prst="rect">
            <a:avLst/>
          </a:prstGeom>
          <a:noFill/>
        </p:spPr>
        <p:txBody>
          <a:bodyPr wrap="square">
            <a:spAutoFit/>
          </a:bodyPr>
          <a:lstStyle/>
          <a:p>
            <a:r>
              <a:rPr lang="zh-CN" altLang="en-US" sz="2400" dirty="0"/>
              <a:t>主成分分析</a:t>
            </a:r>
            <a:r>
              <a:rPr lang="zh-CN" altLang="en-US" sz="2000" dirty="0"/>
              <a:t>（</a:t>
            </a:r>
            <a:r>
              <a:rPr lang="en-US" altLang="zh-CN" sz="2000" dirty="0"/>
              <a:t>Principal </a:t>
            </a:r>
            <a:r>
              <a:rPr lang="en-US" altLang="zh-CN" sz="2000" dirty="0" err="1"/>
              <a:t>ComponentAnalysis</a:t>
            </a:r>
            <a:r>
              <a:rPr lang="zh-CN" altLang="en-US" sz="2000" dirty="0"/>
              <a:t>，</a:t>
            </a:r>
            <a:r>
              <a:rPr lang="en-US" altLang="zh-CN" sz="2000" dirty="0"/>
              <a:t>PCA</a:t>
            </a:r>
            <a:r>
              <a:rPr lang="zh-CN" altLang="en-US" sz="2000" dirty="0" smtClean="0"/>
              <a:t>）一种经典的线性降维分析算法。</a:t>
            </a:r>
            <a:endParaRPr lang="zh-CN" altLang="en-US" sz="2000" dirty="0"/>
          </a:p>
        </p:txBody>
      </p:sp>
      <p:sp>
        <p:nvSpPr>
          <p:cNvPr id="7" name="内容占位符 2"/>
          <p:cNvSpPr txBox="1"/>
          <p:nvPr/>
        </p:nvSpPr>
        <p:spPr>
          <a:xfrm>
            <a:off x="433754" y="2126661"/>
            <a:ext cx="10515600" cy="4351338"/>
          </a:xfrm>
          <a:prstGeom prst="rect">
            <a:avLst/>
          </a:prstGeom>
        </p:spPr>
        <p:txBody>
          <a:bodyPr vert="horz" lIns="91440" tIns="45720" rIns="91440" bIns="45720" rtlCol="0">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smtClean="0">
                <a:ln>
                  <a:noFill/>
                </a:ln>
                <a:solidFill>
                  <a:sysClr val="windowText" lastClr="000000"/>
                </a:solidFill>
                <a:effectLst/>
                <a:uLnTx/>
                <a:uFillTx/>
                <a:latin typeface="等线" panose="02010600030101010101" charset="-122"/>
                <a:ea typeface="等线" panose="02010600030101010101" charset="-122"/>
                <a:cs typeface="+mn-cs"/>
              </a:rPr>
              <a:t>给定一个特征变量                               ，</a:t>
            </a:r>
            <a:endParaRPr kumimoji="0" lang="en-US" altLang="zh-CN" sz="2400" b="0" i="0" u="none" strike="noStrike" kern="1200" cap="none" spc="0" normalizeH="0" baseline="0" noProof="0" dirty="0" smtClean="0">
              <a:ln>
                <a:noFill/>
              </a:ln>
              <a:solidFill>
                <a:sysClr val="windowText" lastClr="000000"/>
              </a:solidFill>
              <a:effectLst/>
              <a:uLnTx/>
              <a:uFillTx/>
              <a:latin typeface="等线" panose="02010600030101010101" charset="-122"/>
              <a:ea typeface="等线" panose="02010600030101010101" charset="-122"/>
              <a:cs typeface="+mn-cs"/>
            </a:endParaRPr>
          </a:p>
          <a:p>
            <a:pPr marL="457200" marR="0" lvl="1" indent="0" algn="l" defTabSz="914400" rtl="0" eaLnBrk="1" fontAlgn="auto" latinLnBrk="0" hangingPunct="1">
              <a:lnSpc>
                <a:spcPct val="90000"/>
              </a:lnSpc>
              <a:spcBef>
                <a:spcPts val="500"/>
              </a:spcBef>
              <a:spcAft>
                <a:spcPts val="0"/>
              </a:spcAft>
              <a:buClrTx/>
              <a:buSzTx/>
              <a:buNone/>
              <a:defRPr/>
            </a:pPr>
            <a:endParaRPr kumimoji="0" lang="zh-CN" altLang="en-US" sz="2400" b="0" i="0" u="none" strike="noStrike" kern="1200" cap="none" spc="0" normalizeH="0" baseline="0" noProof="0" dirty="0" smtClean="0">
              <a:ln>
                <a:noFill/>
              </a:ln>
              <a:solidFill>
                <a:sysClr val="windowText" lastClr="000000"/>
              </a:solidFill>
              <a:effectLst/>
              <a:uLnTx/>
              <a:uFillTx/>
              <a:latin typeface="等线" panose="02010600030101010101" charset="-122"/>
              <a:ea typeface="等线" panose="02010600030101010101" charset="-122"/>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smtClean="0">
                <a:ln>
                  <a:noFill/>
                </a:ln>
                <a:solidFill>
                  <a:sysClr val="windowText" lastClr="000000"/>
                </a:solidFill>
                <a:effectLst/>
                <a:uLnTx/>
                <a:uFillTx/>
                <a:latin typeface="等线" panose="02010600030101010101" charset="-122"/>
                <a:ea typeface="等线" panose="02010600030101010101" charset="-122"/>
                <a:cs typeface="+mn-cs"/>
              </a:rPr>
              <a:t>主成分分析希望能够通过旋转坐标系将数据在新的坐标系下表示，如果新的坐标系下某些轴包含的信息太少，则可以将其省略，从而达到降维的目的。</a:t>
            </a:r>
            <a:endParaRPr kumimoji="0" lang="zh-CN" altLang="en-US" sz="2400" b="0" i="0" u="none" strike="noStrike" kern="1200" cap="none" spc="0" normalizeH="0" baseline="0" noProof="0" dirty="0" smtClean="0">
              <a:ln>
                <a:noFill/>
              </a:ln>
              <a:solidFill>
                <a:sysClr val="windowText" lastClr="000000"/>
              </a:solidFill>
              <a:effectLst/>
              <a:uLnTx/>
              <a:uFillTx/>
              <a:latin typeface="等线" panose="02010600030101010101" charset="-122"/>
              <a:ea typeface="等线" panose="02010600030101010101" charset="-122"/>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kumimoji="0" lang="zh-CN" altLang="en-US" sz="2400" b="0" i="0" u="none" strike="noStrike" kern="1200" cap="none" spc="0" normalizeH="0" baseline="0" noProof="0" dirty="0" smtClean="0">
              <a:ln>
                <a:noFill/>
              </a:ln>
              <a:solidFill>
                <a:srgbClr val="5B9BD5"/>
              </a:solidFill>
              <a:effectLst>
                <a:outerShdw blurRad="38100" dist="25400" dir="5400000" algn="ctr" rotWithShape="0">
                  <a:srgbClr val="6E747A">
                    <a:alpha val="43000"/>
                  </a:srgbClr>
                </a:outerShdw>
              </a:effectLst>
              <a:uLnTx/>
              <a:uFillTx/>
              <a:latin typeface="等线" panose="02010600030101010101" charset="-122"/>
              <a:ea typeface="等线" panose="02010600030101010101"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smtClean="0">
                <a:ln>
                  <a:noFill/>
                </a:ln>
                <a:solidFill>
                  <a:sysClr val="windowText" lastClr="000000"/>
                </a:solidFill>
                <a:effectLst/>
                <a:uLnTx/>
                <a:uFillTx/>
                <a:latin typeface="等线" panose="02010600030101010101" charset="-122"/>
                <a:ea typeface="等线" panose="02010600030101010101" charset="-122"/>
                <a:cs typeface="+mn-cs"/>
              </a:rPr>
              <a:t>如果二维空间中数据点的分布在一条直线周围，那么可以旋转坐标系，将x轴旋转到该直线的位置，此时每个数据点在y轴方向上的取值基本接近于零。也即y方向上数据的方差极小，携带信息量极少，可以将y轴略去。这样就相当于在一维空间对数据进行了表示，也相当于将原始数据投影到了该直线上。</a:t>
            </a:r>
            <a:endParaRPr kumimoji="0" lang="zh-CN" altLang="en-US"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graphicFrame>
        <p:nvGraphicFramePr>
          <p:cNvPr id="8" name="对象 -2147482619"/>
          <p:cNvGraphicFramePr>
            <a:graphicFrameLocks noChangeAspect="1"/>
          </p:cNvGraphicFramePr>
          <p:nvPr/>
        </p:nvGraphicFramePr>
        <p:xfrm>
          <a:off x="3658638" y="2032404"/>
          <a:ext cx="2479602" cy="560687"/>
        </p:xfrm>
        <a:graphic>
          <a:graphicData uri="http://schemas.openxmlformats.org/presentationml/2006/ole">
            <mc:AlternateContent xmlns:mc="http://schemas.openxmlformats.org/markup-compatibility/2006">
              <mc:Choice xmlns:v="urn:schemas-microsoft-com:vml" Requires="v">
                <p:oleObj spid="_x0000_s2072" name="" r:id="rId1" imgW="1091565" imgH="228600" progId="Equation.DSMT4">
                  <p:embed/>
                </p:oleObj>
              </mc:Choice>
              <mc:Fallback>
                <p:oleObj name="" r:id="rId1" imgW="1091565" imgH="228600" progId="Equation.DSMT4">
                  <p:embed/>
                  <p:pic>
                    <p:nvPicPr>
                      <p:cNvPr id="0" name="对象 -2147482619"/>
                      <p:cNvPicPr/>
                      <p:nvPr/>
                    </p:nvPicPr>
                    <p:blipFill>
                      <a:blip r:embed="rId2"/>
                      <a:stretch>
                        <a:fillRect/>
                      </a:stretch>
                    </p:blipFill>
                    <p:spPr>
                      <a:xfrm>
                        <a:off x="3658638" y="2032404"/>
                        <a:ext cx="2479602" cy="560687"/>
                      </a:xfrm>
                      <a:prstGeom prst="rect">
                        <a:avLst/>
                      </a:prstGeom>
                      <a:noFill/>
                      <a:ln w="38100">
                        <a:noFill/>
                        <a:miter/>
                      </a:ln>
                    </p:spPr>
                  </p:pic>
                </p:oleObj>
              </mc:Fallback>
            </mc:AlternateContent>
          </a:graphicData>
        </a:graphic>
      </p:graphicFrame>
    </p:spTree>
  </p:cSld>
  <p:clrMapOvr>
    <a:masterClrMapping/>
  </p:clrMapOvr>
  <p:transition spd="slow">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5123" name="TextBox 5"/>
          <p:cNvSpPr txBox="1">
            <a:spLocks noChangeArrowheads="1"/>
          </p:cNvSpPr>
          <p:nvPr/>
        </p:nvSpPr>
        <p:spPr bwMode="auto">
          <a:xfrm>
            <a:off x="810684" y="573617"/>
            <a:ext cx="2793907" cy="584775"/>
          </a:xfrm>
          <a:prstGeom prst="rect">
            <a:avLst/>
          </a:prstGeom>
          <a:solidFill>
            <a:srgbClr val="009999"/>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en-US" altLang="zh-CN" dirty="0" smtClean="0">
                <a:solidFill>
                  <a:schemeClr val="bg1"/>
                </a:solidFill>
                <a:latin typeface="微软雅黑" panose="020B0503020204020204" pitchFamily="34" charset="-122"/>
                <a:ea typeface="微软雅黑" panose="020B0503020204020204" pitchFamily="34" charset="-122"/>
              </a:rPr>
              <a:t>PCA</a:t>
            </a:r>
            <a:r>
              <a:rPr kumimoji="0" lang="zh-CN" altLang="en-US" dirty="0" smtClean="0">
                <a:solidFill>
                  <a:schemeClr val="bg1"/>
                </a:solidFill>
                <a:latin typeface="微软雅黑" panose="020B0503020204020204" pitchFamily="34" charset="-122"/>
                <a:ea typeface="微软雅黑" panose="020B0503020204020204" pitchFamily="34" charset="-122"/>
              </a:rPr>
              <a:t>是什么？</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44275" y="1407660"/>
            <a:ext cx="9482341" cy="4959156"/>
          </a:xfrm>
          <a:prstGeom prst="rect">
            <a:avLst/>
          </a:prstGeom>
        </p:spPr>
      </p:pic>
    </p:spTree>
  </p:cSld>
  <p:clrMapOvr>
    <a:masterClrMapping/>
  </p:clrMapOvr>
  <p:transition spd="slow">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5123" name="TextBox 5"/>
          <p:cNvSpPr txBox="1">
            <a:spLocks noChangeArrowheads="1"/>
          </p:cNvSpPr>
          <p:nvPr/>
        </p:nvSpPr>
        <p:spPr bwMode="auto">
          <a:xfrm>
            <a:off x="810684" y="573617"/>
            <a:ext cx="2793907" cy="584775"/>
          </a:xfrm>
          <a:prstGeom prst="rect">
            <a:avLst/>
          </a:prstGeom>
          <a:solidFill>
            <a:srgbClr val="009999"/>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en-US" altLang="zh-CN" dirty="0" smtClean="0">
                <a:solidFill>
                  <a:schemeClr val="bg1"/>
                </a:solidFill>
                <a:latin typeface="微软雅黑" panose="020B0503020204020204" pitchFamily="34" charset="-122"/>
                <a:ea typeface="微软雅黑" panose="020B0503020204020204" pitchFamily="34" charset="-122"/>
              </a:rPr>
              <a:t>PCA</a:t>
            </a:r>
            <a:r>
              <a:rPr kumimoji="0" lang="zh-CN" altLang="en-US" dirty="0" smtClean="0">
                <a:solidFill>
                  <a:schemeClr val="bg1"/>
                </a:solidFill>
                <a:latin typeface="微软雅黑" panose="020B0503020204020204" pitchFamily="34" charset="-122"/>
                <a:ea typeface="微软雅黑" panose="020B0503020204020204" pitchFamily="34" charset="-122"/>
              </a:rPr>
              <a:t>是什么？</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810684" y="1158392"/>
            <a:ext cx="10646062" cy="5397359"/>
          </a:xfrm>
          <a:prstGeom prst="rect">
            <a:avLst/>
          </a:prstGeom>
        </p:spPr>
      </p:pic>
    </p:spTree>
  </p:cSld>
  <p:clrMapOvr>
    <a:masterClrMapping/>
  </p:clrMapOvr>
  <p:transition spd="slow">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6123" y="1509102"/>
            <a:ext cx="10275277" cy="4351338"/>
          </a:xfrm>
        </p:spPr>
        <p:txBody>
          <a:bodyPr/>
          <a:lstStyle/>
          <a:p>
            <a:r>
              <a:rPr lang="zh-CN" altLang="en-US" dirty="0"/>
              <a:t>对于维特征变量中的每个子变量，主成分分析使用样本集合中对应子变量上取值的方差来表示该特征的重要程度。</a:t>
            </a:r>
            <a:endParaRPr lang="zh-CN" altLang="en-US" dirty="0"/>
          </a:p>
          <a:p>
            <a:r>
              <a:rPr lang="zh-CN" altLang="en-US" dirty="0"/>
              <a:t>方差越大，特征的重要程度越大；方差越小，特征的重要程度越小。直观上，方差越大，样本集合中的数据在该轴上的取值分散的越开，混乱度越大，携带信息量越大；反之分布越集中，混乱度越小，携带信息量越小。</a:t>
            </a:r>
            <a:endParaRPr lang="zh-CN" altLang="en-US" dirty="0"/>
          </a:p>
          <a:p>
            <a:r>
              <a:rPr lang="zh-CN" altLang="en-US" dirty="0"/>
              <a:t>如上面的例子中，样本集合中的数据在旋转过后的新的y轴上的方差接近于0，几乎不携带任何信息量，故可将其省去，达到降维的目的。</a:t>
            </a:r>
            <a:endParaRPr lang="zh-CN" altLang="en-US" dirty="0"/>
          </a:p>
        </p:txBody>
      </p:sp>
      <p:sp>
        <p:nvSpPr>
          <p:cNvPr id="6" name="TextBox 5"/>
          <p:cNvSpPr txBox="1">
            <a:spLocks noChangeArrowheads="1"/>
          </p:cNvSpPr>
          <p:nvPr/>
        </p:nvSpPr>
        <p:spPr bwMode="auto">
          <a:xfrm>
            <a:off x="810684" y="573617"/>
            <a:ext cx="2793907" cy="584775"/>
          </a:xfrm>
          <a:prstGeom prst="rect">
            <a:avLst/>
          </a:prstGeom>
          <a:solidFill>
            <a:srgbClr val="009999"/>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kumimoji="0" lang="en-US" altLang="zh-CN" dirty="0" smtClean="0">
                <a:solidFill>
                  <a:prstClr val="white"/>
                </a:solidFill>
                <a:latin typeface="微软雅黑" panose="020B0503020204020204" pitchFamily="34" charset="-122"/>
                <a:ea typeface="微软雅黑" panose="020B0503020204020204" pitchFamily="34" charset="-122"/>
              </a:rPr>
              <a:t>PCA</a:t>
            </a:r>
            <a:r>
              <a:rPr kumimoji="0" lang="zh-CN" altLang="en-US" dirty="0" smtClean="0">
                <a:solidFill>
                  <a:prstClr val="white"/>
                </a:solidFill>
                <a:latin typeface="微软雅黑" panose="020B0503020204020204" pitchFamily="34" charset="-122"/>
                <a:ea typeface="微软雅黑" panose="020B0503020204020204" pitchFamily="34" charset="-122"/>
              </a:rPr>
              <a:t>是什么？</a:t>
            </a:r>
            <a:endParaRPr kumimoji="0" lang="zh-CN" altLang="en-US"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5123" name="TextBox 5"/>
          <p:cNvSpPr txBox="1">
            <a:spLocks noChangeArrowheads="1"/>
          </p:cNvSpPr>
          <p:nvPr/>
        </p:nvSpPr>
        <p:spPr bwMode="auto">
          <a:xfrm>
            <a:off x="810684" y="573617"/>
            <a:ext cx="2793907" cy="584775"/>
          </a:xfrm>
          <a:prstGeom prst="rect">
            <a:avLst/>
          </a:prstGeom>
          <a:solidFill>
            <a:srgbClr val="009999"/>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高维数据降维</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矩形 3"/>
              <p:cNvSpPr>
                <a:spLocks noChangeArrowheads="1"/>
              </p:cNvSpPr>
              <p:nvPr/>
            </p:nvSpPr>
            <p:spPr bwMode="auto">
              <a:xfrm>
                <a:off x="795867" y="1333961"/>
                <a:ext cx="10727267" cy="405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0000"/>
                    </a:solidFill>
                  </a:rPr>
                  <a:t>机器学习领域中的降维就是指采用某种</a:t>
                </a:r>
                <a:r>
                  <a:rPr lang="zh-CN" altLang="en-US" sz="2800" b="1" dirty="0">
                    <a:solidFill>
                      <a:srgbClr val="000000"/>
                    </a:solidFill>
                  </a:rPr>
                  <a:t>映射</a:t>
                </a:r>
                <a:r>
                  <a:rPr lang="zh-CN" altLang="en-US" sz="2800" dirty="0">
                    <a:solidFill>
                      <a:srgbClr val="000000"/>
                    </a:solidFill>
                  </a:rPr>
                  <a:t>方法，将原高维空间中的数据点映射到低维度的空间中</a:t>
                </a:r>
                <a:r>
                  <a:rPr lang="zh-CN" altLang="en-US" sz="2800" dirty="0" smtClean="0">
                    <a:solidFill>
                      <a:srgbClr val="000000"/>
                    </a:solidFill>
                  </a:rPr>
                  <a:t>。在</a:t>
                </a:r>
                <a:r>
                  <a:rPr lang="zh-CN" altLang="en-US" sz="2800" dirty="0">
                    <a:solidFill>
                      <a:srgbClr val="000000"/>
                    </a:solidFill>
                  </a:rPr>
                  <a:t>原始的高维空间中，包含有冗余信息以及噪声</a:t>
                </a:r>
                <a:r>
                  <a:rPr lang="zh-CN" altLang="en-US" sz="2800" dirty="0" smtClean="0">
                    <a:solidFill>
                      <a:srgbClr val="000000"/>
                    </a:solidFill>
                  </a:rPr>
                  <a:t>信息，通过降维可以</a:t>
                </a:r>
                <a:r>
                  <a:rPr lang="zh-CN" altLang="en-US" sz="2800" dirty="0">
                    <a:solidFill>
                      <a:srgbClr val="000000"/>
                    </a:solidFill>
                  </a:rPr>
                  <a:t>减少冗余信息所造成的误差，提高识别的精度。此外，通过降维可以寻找数据内部的本质结构</a:t>
                </a:r>
                <a:r>
                  <a:rPr lang="zh-CN" altLang="en-US" sz="2800" dirty="0" smtClean="0">
                    <a:solidFill>
                      <a:srgbClr val="000000"/>
                    </a:solidFill>
                  </a:rPr>
                  <a:t>特征。</a:t>
                </a:r>
                <a:endParaRPr lang="en-US" altLang="zh-CN" sz="2800" dirty="0">
                  <a:solidFill>
                    <a:srgbClr val="000000"/>
                  </a:solidFill>
                </a:endParaRPr>
              </a:p>
              <a:p>
                <a:r>
                  <a:rPr lang="zh-CN" altLang="en-US" sz="2800" dirty="0">
                    <a:solidFill>
                      <a:srgbClr val="000000"/>
                    </a:solidFill>
                  </a:rPr>
                  <a:t>降维的本质是学习一个</a:t>
                </a:r>
                <a:r>
                  <a:rPr lang="zh-CN" altLang="en-US" sz="2800" b="1" dirty="0">
                    <a:solidFill>
                      <a:srgbClr val="000000"/>
                    </a:solidFill>
                  </a:rPr>
                  <a:t>映射函数</a:t>
                </a:r>
                <a14:m>
                  <m:oMath xmlns:m="http://schemas.openxmlformats.org/officeDocument/2006/math">
                    <m:r>
                      <a:rPr lang="en-US" altLang="zh-CN" sz="2800" b="1" i="1" dirty="0">
                        <a:solidFill>
                          <a:srgbClr val="000000"/>
                        </a:solidFill>
                        <a:latin typeface="Cambria Math" panose="02040503050406030204" pitchFamily="18" charset="0"/>
                      </a:rPr>
                      <m:t>𝒇</m:t>
                    </m:r>
                    <m:r>
                      <a:rPr lang="zh-CN" altLang="en-US"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𝑥</m:t>
                    </m:r>
                    <m:r>
                      <a:rPr lang="en-US" altLang="zh-CN" sz="2800" i="1" dirty="0">
                        <a:solidFill>
                          <a:srgbClr val="000000"/>
                        </a:solidFill>
                        <a:latin typeface="Cambria Math" panose="02040503050406030204" pitchFamily="18" charset="0"/>
                      </a:rPr>
                      <m:t>−&gt; </m:t>
                    </m:r>
                    <m:r>
                      <a:rPr lang="en-US" altLang="zh-CN" sz="2800" i="1" dirty="0">
                        <a:solidFill>
                          <a:srgbClr val="000000"/>
                        </a:solidFill>
                        <a:latin typeface="Cambria Math" panose="02040503050406030204" pitchFamily="18" charset="0"/>
                      </a:rPr>
                      <m:t>𝑦</m:t>
                    </m:r>
                  </m:oMath>
                </a14:m>
                <a:r>
                  <a:rPr lang="zh-CN" altLang="en-US" sz="2800" dirty="0">
                    <a:solidFill>
                      <a:srgbClr val="000000"/>
                    </a:solidFill>
                  </a:rPr>
                  <a:t>，其中</a:t>
                </a:r>
                <a:r>
                  <a:rPr lang="en-US" altLang="zh-CN" sz="2800" dirty="0">
                    <a:solidFill>
                      <a:srgbClr val="000000"/>
                    </a:solidFill>
                  </a:rPr>
                  <a:t>x</a:t>
                </a:r>
                <a:r>
                  <a:rPr lang="zh-CN" altLang="en-US" sz="2800" dirty="0">
                    <a:solidFill>
                      <a:srgbClr val="000000"/>
                    </a:solidFill>
                  </a:rPr>
                  <a:t>是原始数据点的表达，目前最多使用向量表达形式。</a:t>
                </a:r>
                <a:r>
                  <a:rPr lang="en-US" altLang="zh-CN" sz="2800" dirty="0">
                    <a:solidFill>
                      <a:srgbClr val="000000"/>
                    </a:solidFill>
                  </a:rPr>
                  <a:t>y</a:t>
                </a:r>
                <a:r>
                  <a:rPr lang="zh-CN" altLang="en-US" sz="2800" dirty="0">
                    <a:solidFill>
                      <a:srgbClr val="000000"/>
                    </a:solidFill>
                  </a:rPr>
                  <a:t>是数据点映射后的低维向量表达，通常</a:t>
                </a:r>
                <a:r>
                  <a:rPr lang="en-US" altLang="zh-CN" sz="2800" dirty="0">
                    <a:solidFill>
                      <a:srgbClr val="000000"/>
                    </a:solidFill>
                  </a:rPr>
                  <a:t>y</a:t>
                </a:r>
                <a:r>
                  <a:rPr lang="zh-CN" altLang="en-US" sz="2800" dirty="0">
                    <a:solidFill>
                      <a:srgbClr val="000000"/>
                    </a:solidFill>
                  </a:rPr>
                  <a:t>的维度小于</a:t>
                </a:r>
                <a:r>
                  <a:rPr lang="en-US" altLang="zh-CN" sz="2800" dirty="0">
                    <a:solidFill>
                      <a:srgbClr val="000000"/>
                    </a:solidFill>
                  </a:rPr>
                  <a:t>x</a:t>
                </a:r>
                <a:r>
                  <a:rPr lang="zh-CN" altLang="en-US" sz="2800" dirty="0">
                    <a:solidFill>
                      <a:srgbClr val="000000"/>
                    </a:solidFill>
                  </a:rPr>
                  <a:t>的维度。</a:t>
                </a:r>
                <a:r>
                  <a:rPr lang="en-US" altLang="zh-CN" sz="2800" dirty="0">
                    <a:solidFill>
                      <a:srgbClr val="000000"/>
                    </a:solidFill>
                  </a:rPr>
                  <a:t>y</a:t>
                </a:r>
                <a:r>
                  <a:rPr lang="zh-CN" altLang="en-US" sz="2800" dirty="0">
                    <a:solidFill>
                      <a:srgbClr val="000000"/>
                    </a:solidFill>
                  </a:rPr>
                  <a:t>可能是显式的或隐式的、线性的或非线性的函数</a:t>
                </a:r>
                <a:r>
                  <a:rPr lang="zh-CN" altLang="en-US" sz="2800" dirty="0" smtClean="0">
                    <a:solidFill>
                      <a:srgbClr val="000000"/>
                    </a:solidFill>
                  </a:rPr>
                  <a:t>。</a:t>
                </a:r>
                <a:endParaRPr lang="en-US" altLang="zh-CN" sz="2800" dirty="0">
                  <a:solidFill>
                    <a:srgbClr val="000000"/>
                  </a:solidFill>
                </a:endParaRPr>
              </a:p>
            </p:txBody>
          </p:sp>
        </mc:Choice>
        <mc:Fallback>
          <p:sp>
            <p:nvSpPr>
              <p:cNvPr id="12" name="矩形 3"/>
              <p:cNvSpPr>
                <a:spLocks noRot="1" noChangeAspect="1" noMove="1" noResize="1" noEditPoints="1" noAdjustHandles="1" noChangeArrowheads="1" noChangeShapeType="1" noTextEdit="1"/>
              </p:cNvSpPr>
              <p:nvPr/>
            </p:nvSpPr>
            <p:spPr bwMode="auto">
              <a:xfrm>
                <a:off x="795867" y="1333961"/>
                <a:ext cx="10727267" cy="4055110"/>
              </a:xfrm>
              <a:prstGeom prst="rect">
                <a:avLst/>
              </a:prstGeom>
              <a:blipFill rotWithShape="1">
                <a:blip r:embed="rId1"/>
                <a:stretch>
                  <a:fillRect l="-2" t="-11" r="4" b="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09600" y="274638"/>
            <a:ext cx="10972800" cy="740123"/>
          </a:xfrm>
        </p:spPr>
        <p:txBody>
          <a:bodyPr/>
          <a:lstStyle/>
          <a:p>
            <a:r>
              <a:rPr lang="zh-CN" altLang="en-US" dirty="0" smtClean="0"/>
              <a:t>降维的概念</a:t>
            </a:r>
            <a:endParaRPr lang="zh-CN" altLang="en-US" dirty="0"/>
          </a:p>
        </p:txBody>
      </p:sp>
      <p:sp>
        <p:nvSpPr>
          <p:cNvPr id="5" name="内容占位符 3"/>
          <p:cNvSpPr txBox="1"/>
          <p:nvPr/>
        </p:nvSpPr>
        <p:spPr>
          <a:xfrm>
            <a:off x="356838" y="1182752"/>
            <a:ext cx="11382316" cy="506193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buClr>
                <a:schemeClr val="accent4"/>
              </a:buClr>
              <a:buSzPct val="100000"/>
              <a:buFont typeface="Wingdings" panose="05000000000000000000" pitchFamily="2" charset="2"/>
              <a:buChar char="n"/>
            </a:pPr>
            <a:r>
              <a:rPr lang="zh-CN" altLang="zh-CN" sz="2800" dirty="0" smtClean="0">
                <a:latin typeface="Cambria" panose="02040503050406030204" pitchFamily="18" charset="0"/>
              </a:rPr>
              <a:t>降维（</a:t>
            </a:r>
            <a:r>
              <a:rPr lang="en-US" altLang="zh-CN" sz="2800" dirty="0" smtClean="0">
                <a:latin typeface="Cambria" panose="02040503050406030204" pitchFamily="18" charset="0"/>
                <a:ea typeface="Cambria" panose="02040503050406030204" pitchFamily="18" charset="0"/>
              </a:rPr>
              <a:t>Dimensionality Reduction</a:t>
            </a:r>
            <a:r>
              <a:rPr lang="zh-CN" altLang="zh-CN" sz="2800" dirty="0" smtClean="0">
                <a:latin typeface="Cambria" panose="02040503050406030204" pitchFamily="18" charset="0"/>
              </a:rPr>
              <a:t>，</a:t>
            </a:r>
            <a:r>
              <a:rPr lang="en-US" altLang="zh-CN" sz="2800" dirty="0" smtClean="0">
                <a:latin typeface="Cambria" panose="02040503050406030204" pitchFamily="18" charset="0"/>
                <a:ea typeface="Cambria" panose="02040503050406030204" pitchFamily="18" charset="0"/>
              </a:rPr>
              <a:t>DR</a:t>
            </a:r>
            <a:r>
              <a:rPr lang="zh-CN" altLang="zh-CN" sz="2800" dirty="0" smtClean="0">
                <a:latin typeface="Cambria" panose="02040503050406030204" pitchFamily="18" charset="0"/>
              </a:rPr>
              <a:t>）是指采用线性或者非线性的映射方法将高维空间的样本映射到低维空间中。</a:t>
            </a:r>
            <a:endParaRPr lang="zh-CN" altLang="en-US" sz="2800" dirty="0" smtClean="0">
              <a:latin typeface="Cambria" panose="02040503050406030204" pitchFamily="18" charset="0"/>
            </a:endParaRPr>
          </a:p>
          <a:p>
            <a:pPr lvl="1">
              <a:lnSpc>
                <a:spcPct val="120000"/>
              </a:lnSpc>
              <a:buClr>
                <a:schemeClr val="accent4"/>
              </a:buClr>
              <a:buSzPct val="100000"/>
              <a:buFont typeface="Wingdings" panose="05000000000000000000" pitchFamily="2" charset="2"/>
              <a:buChar char="n"/>
            </a:pPr>
            <a:r>
              <a:rPr lang="zh-CN" altLang="en-US" sz="2800" dirty="0" smtClean="0">
                <a:latin typeface="Cambria" panose="02040503050406030204" pitchFamily="18" charset="0"/>
              </a:rPr>
              <a:t>降维</a:t>
            </a:r>
            <a:r>
              <a:rPr lang="zh-CN" altLang="zh-CN" sz="2800" dirty="0" smtClean="0">
                <a:latin typeface="Cambria" panose="02040503050406030204" pitchFamily="18" charset="0"/>
              </a:rPr>
              <a:t>获得低维空间</a:t>
            </a:r>
            <a:r>
              <a:rPr lang="zh-CN" altLang="en-US" sz="2800" dirty="0" smtClean="0">
                <a:latin typeface="Cambria" panose="02040503050406030204" pitchFamily="18" charset="0"/>
              </a:rPr>
              <a:t>下数据的</a:t>
            </a:r>
            <a:r>
              <a:rPr lang="zh-CN" altLang="zh-CN" sz="2800" dirty="0" smtClean="0">
                <a:latin typeface="Cambria" panose="02040503050406030204" pitchFamily="18" charset="0"/>
              </a:rPr>
              <a:t>等价表示，</a:t>
            </a:r>
            <a:r>
              <a:rPr lang="zh-CN" altLang="en-US" sz="2800" dirty="0" smtClean="0">
                <a:latin typeface="Cambria" panose="02040503050406030204" pitchFamily="18" charset="0"/>
              </a:rPr>
              <a:t>实现</a:t>
            </a:r>
            <a:r>
              <a:rPr lang="zh-CN" altLang="zh-CN" sz="2800" dirty="0" smtClean="0">
                <a:latin typeface="Cambria" panose="02040503050406030204" pitchFamily="18" charset="0"/>
              </a:rPr>
              <a:t>高维数据的可视化呈现。</a:t>
            </a:r>
            <a:endParaRPr lang="en-US" altLang="zh-CN" sz="2800" dirty="0" smtClean="0">
              <a:latin typeface="Cambria" panose="02040503050406030204" pitchFamily="18" charset="0"/>
              <a:ea typeface="Cambria" panose="02040503050406030204" pitchFamily="18" charset="0"/>
            </a:endParaRPr>
          </a:p>
          <a:p>
            <a:pPr lvl="1">
              <a:lnSpc>
                <a:spcPct val="120000"/>
              </a:lnSpc>
              <a:buClr>
                <a:schemeClr val="accent4"/>
              </a:buClr>
              <a:buSzPct val="100000"/>
              <a:buFont typeface="Wingdings" panose="05000000000000000000" pitchFamily="2" charset="2"/>
              <a:buChar char="n"/>
            </a:pPr>
            <a:r>
              <a:rPr lang="zh-CN" altLang="zh-CN" sz="2800" dirty="0" smtClean="0">
                <a:latin typeface="Cambria" panose="02040503050406030204" pitchFamily="18" charset="0"/>
              </a:rPr>
              <a:t>等价的低维数据更方便存储、处理、计算和使用</a:t>
            </a:r>
            <a:r>
              <a:rPr lang="zh-CN" altLang="en-US" sz="2800" dirty="0" smtClean="0">
                <a:latin typeface="Cambria" panose="02040503050406030204" pitchFamily="18" charset="0"/>
              </a:rPr>
              <a:t>。</a:t>
            </a:r>
            <a:endParaRPr lang="zh-CN" altLang="en-US" sz="2800" dirty="0" smtClean="0">
              <a:latin typeface="Cambria" panose="02040503050406030204" pitchFamily="18" charset="0"/>
            </a:endParaRPr>
          </a:p>
          <a:p>
            <a:pPr lvl="1">
              <a:lnSpc>
                <a:spcPct val="120000"/>
              </a:lnSpc>
              <a:buClr>
                <a:schemeClr val="accent4"/>
              </a:buClr>
              <a:buSzPct val="100000"/>
              <a:buFont typeface="Wingdings" panose="05000000000000000000" pitchFamily="2" charset="2"/>
              <a:buChar char="n"/>
            </a:pPr>
            <a:r>
              <a:rPr lang="zh-CN" altLang="en-US" sz="2800" dirty="0" smtClean="0">
                <a:latin typeface="Cambria" panose="02040503050406030204" pitchFamily="18" charset="0"/>
              </a:rPr>
              <a:t>降维能够</a:t>
            </a:r>
            <a:r>
              <a:rPr lang="zh-CN" altLang="zh-CN" sz="2800" dirty="0" smtClean="0">
                <a:latin typeface="Cambria" panose="02040503050406030204" pitchFamily="18" charset="0"/>
              </a:rPr>
              <a:t>去除数据噪声、降低算法开销</a:t>
            </a:r>
            <a:r>
              <a:rPr lang="zh-CN" altLang="en-US" sz="2800" dirty="0" smtClean="0">
                <a:latin typeface="Cambria" panose="02040503050406030204" pitchFamily="18" charset="0"/>
              </a:rPr>
              <a:t>。</a:t>
            </a:r>
            <a:endParaRPr lang="en-US" altLang="zh-CN" sz="2800" dirty="0" smtClean="0">
              <a:latin typeface="Cambria" panose="02040503050406030204" pitchFamily="18" charset="0"/>
              <a:ea typeface="Cambria" panose="02040503050406030204" pitchFamily="18" charset="0"/>
            </a:endParaRPr>
          </a:p>
          <a:p>
            <a:pPr lvl="1">
              <a:lnSpc>
                <a:spcPct val="120000"/>
              </a:lnSpc>
              <a:buClr>
                <a:schemeClr val="accent4"/>
              </a:buClr>
              <a:buSzPct val="100000"/>
              <a:buFont typeface="Wingdings" panose="05000000000000000000" pitchFamily="2" charset="2"/>
              <a:buChar char="n"/>
            </a:pPr>
            <a:r>
              <a:rPr lang="zh-CN" altLang="zh-CN" sz="2800" dirty="0" smtClean="0">
                <a:latin typeface="Cambria" panose="02040503050406030204" pitchFamily="18" charset="0"/>
              </a:rPr>
              <a:t>降维还可应用于文本分类和数据压缩等领域</a:t>
            </a:r>
            <a:r>
              <a:rPr lang="zh-CN" altLang="en-US" sz="2800" dirty="0" smtClean="0">
                <a:latin typeface="Cambria" panose="02040503050406030204" pitchFamily="18" charset="0"/>
              </a:rPr>
              <a:t>。</a:t>
            </a:r>
            <a:endParaRPr lang="zh-CN" altLang="en-US" sz="2800" dirty="0" smtClean="0">
              <a:latin typeface="Cambria" panose="02040503050406030204" pitchFamily="18" charset="0"/>
            </a:endParaRPr>
          </a:p>
          <a:p>
            <a:pPr lvl="1">
              <a:lnSpc>
                <a:spcPct val="120000"/>
              </a:lnSpc>
              <a:buClr>
                <a:schemeClr val="accent4"/>
              </a:buClr>
              <a:buSzPct val="100000"/>
              <a:buFont typeface="Wingdings" panose="05000000000000000000" pitchFamily="2" charset="2"/>
              <a:buChar char="n"/>
            </a:pPr>
            <a:r>
              <a:rPr lang="zh-CN" altLang="en-US" sz="2800" dirty="0" smtClean="0">
                <a:latin typeface="Cambria" panose="02040503050406030204" pitchFamily="18" charset="0"/>
              </a:rPr>
              <a:t>降维可以</a:t>
            </a:r>
            <a:r>
              <a:rPr lang="zh-CN" altLang="zh-CN" sz="2800" dirty="0" smtClean="0">
                <a:latin typeface="Cambria" panose="02040503050406030204" pitchFamily="18" charset="0"/>
              </a:rPr>
              <a:t>得到原始数据的简化表示</a:t>
            </a:r>
            <a:r>
              <a:rPr lang="zh-CN" altLang="en-US" sz="2800" dirty="0" smtClean="0">
                <a:latin typeface="Cambria" panose="02040503050406030204" pitchFamily="18" charset="0"/>
              </a:rPr>
              <a:t>，</a:t>
            </a:r>
            <a:r>
              <a:rPr lang="zh-CN" altLang="zh-CN" sz="2800" dirty="0" smtClean="0">
                <a:latin typeface="Cambria" panose="02040503050406030204" pitchFamily="18" charset="0"/>
              </a:rPr>
              <a:t>以加速后续处理或者改进输出结果</a:t>
            </a:r>
            <a:r>
              <a:rPr lang="zh-CN" altLang="en-US" sz="2800" dirty="0" smtClean="0">
                <a:latin typeface="Cambria" panose="02040503050406030204" pitchFamily="18" charset="0"/>
              </a:rPr>
              <a:t>，</a:t>
            </a:r>
            <a:r>
              <a:rPr lang="zh-CN" altLang="zh-CN" sz="2800" dirty="0" smtClean="0">
                <a:latin typeface="Cambria" panose="02040503050406030204" pitchFamily="18" charset="0"/>
              </a:rPr>
              <a:t>因此</a:t>
            </a:r>
            <a:r>
              <a:rPr lang="zh-CN" altLang="en-US" sz="2800" dirty="0" smtClean="0">
                <a:latin typeface="Cambria" panose="02040503050406030204" pitchFamily="18" charset="0"/>
              </a:rPr>
              <a:t>它</a:t>
            </a:r>
            <a:r>
              <a:rPr lang="zh-CN" altLang="zh-CN" sz="2800" dirty="0" smtClean="0">
                <a:latin typeface="Cambria" panose="02040503050406030204" pitchFamily="18" charset="0"/>
              </a:rPr>
              <a:t>已经成为很多算法数据进行预处理的重要手段。</a:t>
            </a:r>
            <a:endParaRPr lang="zh-CN" altLang="en-US" sz="28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给定一个数据集：                               </a:t>
            </a:r>
            <a:endParaRPr lang="zh-CN" altLang="en-US" dirty="0"/>
          </a:p>
          <a:p>
            <a:endParaRPr lang="zh-CN" altLang="en-US" dirty="0"/>
          </a:p>
          <a:p>
            <a:endParaRPr lang="zh-CN" altLang="en-US" dirty="0"/>
          </a:p>
          <a:p>
            <a:r>
              <a:rPr lang="zh-CN" altLang="en-US" dirty="0"/>
              <a:t>其中，</a:t>
            </a:r>
            <a:endParaRPr lang="zh-CN" altLang="en-US" dirty="0"/>
          </a:p>
          <a:p>
            <a:endParaRPr lang="zh-CN" altLang="en-US" dirty="0"/>
          </a:p>
          <a:p>
            <a:r>
              <a:rPr lang="zh-CN" altLang="en-US" dirty="0"/>
              <a:t>当</a:t>
            </a:r>
            <a:r>
              <a:rPr lang="en-US" altLang="zh-CN" dirty="0"/>
              <a:t>n</a:t>
            </a:r>
            <a:r>
              <a:rPr lang="zh-CN" altLang="en-US" dirty="0"/>
              <a:t>非常大时，     是一个高维的数据。降维的目的就是降低数据的维度从而方便后续对数据的存储、可视化、建模等操作。</a:t>
            </a:r>
            <a:endParaRPr lang="zh-CN" altLang="en-US" dirty="0"/>
          </a:p>
        </p:txBody>
      </p:sp>
      <p:graphicFrame>
        <p:nvGraphicFramePr>
          <p:cNvPr id="4" name="对象 -2147482624"/>
          <p:cNvGraphicFramePr>
            <a:graphicFrameLocks noChangeAspect="1"/>
          </p:cNvGraphicFramePr>
          <p:nvPr/>
        </p:nvGraphicFramePr>
        <p:xfrm>
          <a:off x="1684655" y="2434590"/>
          <a:ext cx="3421380" cy="766445"/>
        </p:xfrm>
        <a:graphic>
          <a:graphicData uri="http://schemas.openxmlformats.org/presentationml/2006/ole">
            <mc:AlternateContent xmlns:mc="http://schemas.openxmlformats.org/markup-compatibility/2006">
              <mc:Choice xmlns:v="urn:schemas-microsoft-com:vml" Requires="v">
                <p:oleObj spid="_x0000_s1095" name="" r:id="rId1" imgW="1155700" imgH="254000" progId="Equation.DSMT4">
                  <p:embed/>
                </p:oleObj>
              </mc:Choice>
              <mc:Fallback>
                <p:oleObj name="" r:id="rId1" imgW="1155700" imgH="254000" progId="Equation.DSMT4">
                  <p:embed/>
                  <p:pic>
                    <p:nvPicPr>
                      <p:cNvPr id="0" name="对象 -2147482624"/>
                      <p:cNvPicPr/>
                      <p:nvPr/>
                    </p:nvPicPr>
                    <p:blipFill>
                      <a:blip r:embed="rId2"/>
                      <a:stretch>
                        <a:fillRect/>
                      </a:stretch>
                    </p:blipFill>
                    <p:spPr>
                      <a:xfrm>
                        <a:off x="1684655" y="2434590"/>
                        <a:ext cx="3421380" cy="766445"/>
                      </a:xfrm>
                      <a:prstGeom prst="rect">
                        <a:avLst/>
                      </a:prstGeom>
                      <a:noFill/>
                      <a:ln w="38100">
                        <a:noFill/>
                        <a:miter/>
                      </a:ln>
                    </p:spPr>
                  </p:pic>
                </p:oleObj>
              </mc:Fallback>
            </mc:AlternateContent>
          </a:graphicData>
        </a:graphic>
      </p:graphicFrame>
      <p:graphicFrame>
        <p:nvGraphicFramePr>
          <p:cNvPr id="5" name="对象 -2147482375"/>
          <p:cNvGraphicFramePr>
            <a:graphicFrameLocks noChangeAspect="1"/>
          </p:cNvGraphicFramePr>
          <p:nvPr/>
        </p:nvGraphicFramePr>
        <p:xfrm>
          <a:off x="2170430" y="3376295"/>
          <a:ext cx="3292475" cy="719455"/>
        </p:xfrm>
        <a:graphic>
          <a:graphicData uri="http://schemas.openxmlformats.org/presentationml/2006/ole">
            <mc:AlternateContent xmlns:mc="http://schemas.openxmlformats.org/markup-compatibility/2006">
              <mc:Choice xmlns:v="urn:schemas-microsoft-com:vml" Requires="v">
                <p:oleObj spid="_x0000_s1096" name="" r:id="rId3" imgW="1143000" imgH="241300" progId="Equation.DSMT4">
                  <p:embed/>
                </p:oleObj>
              </mc:Choice>
              <mc:Fallback>
                <p:oleObj name="" r:id="rId3" imgW="1143000" imgH="241300" progId="Equation.DSMT4">
                  <p:embed/>
                  <p:pic>
                    <p:nvPicPr>
                      <p:cNvPr id="0" name="对象 -2147482375"/>
                      <p:cNvPicPr/>
                      <p:nvPr/>
                    </p:nvPicPr>
                    <p:blipFill>
                      <a:blip r:embed="rId4"/>
                      <a:stretch>
                        <a:fillRect/>
                      </a:stretch>
                    </p:blipFill>
                    <p:spPr>
                      <a:xfrm>
                        <a:off x="2170430" y="3376295"/>
                        <a:ext cx="3292475" cy="719455"/>
                      </a:xfrm>
                      <a:prstGeom prst="rect">
                        <a:avLst/>
                      </a:prstGeom>
                      <a:noFill/>
                      <a:ln w="38100">
                        <a:noFill/>
                        <a:miter/>
                      </a:ln>
                    </p:spPr>
                  </p:pic>
                </p:oleObj>
              </mc:Fallback>
            </mc:AlternateContent>
          </a:graphicData>
        </a:graphic>
      </p:graphicFrame>
      <p:graphicFrame>
        <p:nvGraphicFramePr>
          <p:cNvPr id="7" name="对象 -2147482621"/>
          <p:cNvGraphicFramePr>
            <a:graphicFrameLocks noChangeAspect="1"/>
          </p:cNvGraphicFramePr>
          <p:nvPr/>
        </p:nvGraphicFramePr>
        <p:xfrm>
          <a:off x="3408680" y="4224655"/>
          <a:ext cx="471170" cy="680720"/>
        </p:xfrm>
        <a:graphic>
          <a:graphicData uri="http://schemas.openxmlformats.org/presentationml/2006/ole">
            <mc:AlternateContent xmlns:mc="http://schemas.openxmlformats.org/markup-compatibility/2006">
              <mc:Choice xmlns:v="urn:schemas-microsoft-com:vml" Requires="v">
                <p:oleObj spid="_x0000_s1097" name="" r:id="rId5" imgW="152400" imgH="228600" progId="Equation.DSMT4">
                  <p:embed/>
                </p:oleObj>
              </mc:Choice>
              <mc:Fallback>
                <p:oleObj name="" r:id="rId5" imgW="152400" imgH="228600" progId="Equation.DSMT4">
                  <p:embed/>
                  <p:pic>
                    <p:nvPicPr>
                      <p:cNvPr id="0" name="对象 -2147482621"/>
                      <p:cNvPicPr/>
                      <p:nvPr/>
                    </p:nvPicPr>
                    <p:blipFill>
                      <a:blip r:embed="rId6"/>
                      <a:stretch>
                        <a:fillRect/>
                      </a:stretch>
                    </p:blipFill>
                    <p:spPr>
                      <a:xfrm>
                        <a:off x="3408680" y="4224655"/>
                        <a:ext cx="471170" cy="680720"/>
                      </a:xfrm>
                      <a:prstGeom prst="rect">
                        <a:avLst/>
                      </a:prstGeom>
                      <a:noFill/>
                      <a:ln w="38100">
                        <a:noFill/>
                        <a:miter/>
                      </a:ln>
                    </p:spPr>
                  </p:pic>
                </p:oleObj>
              </mc:Fallback>
            </mc:AlternateContent>
          </a:graphicData>
        </a:graphic>
      </p:graphicFrame>
      <p:sp>
        <p:nvSpPr>
          <p:cNvPr id="9" name="标题 8"/>
          <p:cNvSpPr>
            <a:spLocks noGrp="1"/>
          </p:cNvSpPr>
          <p:nvPr>
            <p:ph type="title"/>
          </p:nvPr>
        </p:nvSpPr>
        <p:spPr/>
        <p:txBody>
          <a:bodyPr/>
          <a:lstStyle/>
          <a:p>
            <a:r>
              <a:rPr lang="zh-CN" altLang="en-US" dirty="0">
                <a:sym typeface="+mn-ea"/>
              </a:rPr>
              <a:t>降维的基本概念</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a:t>降维对数据的处理主要包含特征筛选和特征提取。</a:t>
            </a:r>
            <a:endParaRPr lang="zh-CN" altLang="en-US"/>
          </a:p>
          <a:p>
            <a:endParaRPr lang="zh-CN" altLang="en-US"/>
          </a:p>
        </p:txBody>
      </p:sp>
      <p:graphicFrame>
        <p:nvGraphicFramePr>
          <p:cNvPr id="6" name="表格 5"/>
          <p:cNvGraphicFramePr/>
          <p:nvPr>
            <p:custDataLst>
              <p:tags r:id="rId1"/>
            </p:custDataLst>
          </p:nvPr>
        </p:nvGraphicFramePr>
        <p:xfrm>
          <a:off x="1099820" y="2800985"/>
          <a:ext cx="9877425" cy="2214880"/>
        </p:xfrm>
        <a:graphic>
          <a:graphicData uri="http://schemas.openxmlformats.org/drawingml/2006/table">
            <a:tbl>
              <a:tblPr firstRow="1" bandRow="1">
                <a:tableStyleId>{5C22544A-7EE6-4342-B048-85BDC9FD1C3A}</a:tableStyleId>
              </a:tblPr>
              <a:tblGrid>
                <a:gridCol w="2118165"/>
                <a:gridCol w="4466785"/>
                <a:gridCol w="3292475"/>
              </a:tblGrid>
              <a:tr h="775970">
                <a:tc>
                  <a:txBody>
                    <a:bodyPr/>
                    <a:lstStyle/>
                    <a:p>
                      <a:pPr algn="ctr">
                        <a:buNone/>
                      </a:pPr>
                      <a:r>
                        <a:rPr lang="zh-CN" altLang="en-US" sz="2800" dirty="0">
                          <a:solidFill>
                            <a:srgbClr val="FF6238"/>
                          </a:solidFill>
                        </a:rPr>
                        <a:t>项目</a:t>
                      </a:r>
                      <a:endParaRPr lang="zh-CN" altLang="en-US" sz="2800" dirty="0">
                        <a:solidFill>
                          <a:srgbClr val="FF6238"/>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c>
                  <a:txBody>
                    <a:bodyPr/>
                    <a:lstStyle/>
                    <a:p>
                      <a:pPr algn="ctr">
                        <a:buNone/>
                      </a:pPr>
                      <a:r>
                        <a:rPr lang="zh-CN" altLang="en-US" sz="2800" dirty="0">
                          <a:solidFill>
                            <a:srgbClr val="FF6238"/>
                          </a:solidFill>
                        </a:rPr>
                        <a:t>特征筛选</a:t>
                      </a:r>
                      <a:endParaRPr lang="zh-CN" altLang="en-US" sz="2800" dirty="0">
                        <a:solidFill>
                          <a:srgbClr val="FF6238"/>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c>
                  <a:txBody>
                    <a:bodyPr/>
                    <a:lstStyle/>
                    <a:p>
                      <a:pPr algn="ctr">
                        <a:buNone/>
                      </a:pPr>
                      <a:r>
                        <a:rPr lang="zh-CN" altLang="en-US" sz="2800" dirty="0">
                          <a:solidFill>
                            <a:srgbClr val="FF6238"/>
                          </a:solidFill>
                        </a:rPr>
                        <a:t>特征提取</a:t>
                      </a:r>
                      <a:endParaRPr lang="zh-CN" altLang="en-US" sz="2800" dirty="0">
                        <a:solidFill>
                          <a:srgbClr val="FF6238"/>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r>
              <a:tr h="719455">
                <a:tc>
                  <a:txBody>
                    <a:bodyPr/>
                    <a:lstStyle/>
                    <a:p>
                      <a:pPr algn="ctr">
                        <a:buNone/>
                      </a:pPr>
                      <a:r>
                        <a:rPr lang="zh-CN" altLang="en-US" sz="2800" dirty="0">
                          <a:solidFill>
                            <a:srgbClr val="FF6238"/>
                          </a:solidFill>
                        </a:rPr>
                        <a:t>概念</a:t>
                      </a:r>
                      <a:endParaRPr lang="zh-CN" altLang="en-US" sz="2800" dirty="0">
                        <a:solidFill>
                          <a:srgbClr val="FF6238"/>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c>
                  <a:txBody>
                    <a:bodyPr/>
                    <a:lstStyle/>
                    <a:p>
                      <a:pPr algn="l">
                        <a:buNone/>
                      </a:pPr>
                      <a:r>
                        <a:rPr lang="zh-CN" altLang="en-US" dirty="0">
                          <a:solidFill>
                            <a:srgbClr val="404040"/>
                          </a:solidFill>
                        </a:rPr>
                        <a:t>过滤掉数据中无用或冗余的特征</a:t>
                      </a:r>
                      <a:endParaRPr lang="zh-CN" altLang="en-US" dirty="0">
                        <a:solidFill>
                          <a:srgbClr val="404040"/>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c>
                  <a:txBody>
                    <a:bodyPr/>
                    <a:lstStyle/>
                    <a:p>
                      <a:pPr algn="just">
                        <a:buNone/>
                      </a:pPr>
                      <a:r>
                        <a:rPr lang="zh-CN" altLang="en-US">
                          <a:solidFill>
                            <a:srgbClr val="404040"/>
                          </a:solidFill>
                        </a:rPr>
                        <a:t>对现有特征进行重新组合产生新的特征</a:t>
                      </a:r>
                      <a:endParaRPr lang="zh-CN" altLang="en-US">
                        <a:solidFill>
                          <a:srgbClr val="404040"/>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r>
              <a:tr h="719455">
                <a:tc>
                  <a:txBody>
                    <a:bodyPr/>
                    <a:lstStyle/>
                    <a:p>
                      <a:pPr algn="ctr">
                        <a:buNone/>
                      </a:pPr>
                      <a:r>
                        <a:rPr lang="zh-CN" altLang="en-US" sz="2800" dirty="0">
                          <a:solidFill>
                            <a:srgbClr val="FF6238"/>
                          </a:solidFill>
                        </a:rPr>
                        <a:t>举例</a:t>
                      </a:r>
                      <a:endParaRPr lang="zh-CN" altLang="en-US" sz="2800" dirty="0">
                        <a:solidFill>
                          <a:srgbClr val="FF6238"/>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c>
                  <a:txBody>
                    <a:bodyPr/>
                    <a:lstStyle/>
                    <a:p>
                      <a:pPr algn="l">
                        <a:buNone/>
                      </a:pPr>
                      <a:r>
                        <a:rPr lang="zh-CN" altLang="en-US" dirty="0">
                          <a:solidFill>
                            <a:srgbClr val="404040"/>
                          </a:solidFill>
                        </a:rPr>
                        <a:t>相对于年龄，出生年月就是冗余特征</a:t>
                      </a:r>
                      <a:endParaRPr lang="zh-CN" altLang="en-US" dirty="0">
                        <a:solidFill>
                          <a:srgbClr val="404040"/>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c>
                  <a:txBody>
                    <a:bodyPr/>
                    <a:lstStyle/>
                    <a:p>
                      <a:pPr algn="just">
                        <a:buNone/>
                      </a:pPr>
                      <a:r>
                        <a:rPr lang="zh-CN" altLang="en-US" dirty="0">
                          <a:solidFill>
                            <a:srgbClr val="404040"/>
                          </a:solidFill>
                        </a:rPr>
                        <a:t>用质量特征除以体积特征就可以得到密度特征</a:t>
                      </a:r>
                      <a:endParaRPr lang="zh-CN" altLang="en-US" dirty="0">
                        <a:solidFill>
                          <a:srgbClr val="404040"/>
                        </a:solidFill>
                      </a:endParaRPr>
                    </a:p>
                  </a:txBody>
                  <a:tcP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solidFill>
                      <a:srgbClr val="FFFFFF"/>
                    </a:solidFill>
                  </a:tcPr>
                </a:tc>
              </a:tr>
            </a:tbl>
          </a:graphicData>
        </a:graphic>
      </p:graphicFrame>
      <p:sp>
        <p:nvSpPr>
          <p:cNvPr id="4" name="标题 3"/>
          <p:cNvSpPr>
            <a:spLocks noGrp="1"/>
          </p:cNvSpPr>
          <p:nvPr>
            <p:ph type="title"/>
          </p:nvPr>
        </p:nvSpPr>
        <p:spPr/>
        <p:txBody>
          <a:bodyPr/>
          <a:lstStyle/>
          <a:p>
            <a:r>
              <a:rPr lang="zh-CN" altLang="en-US">
                <a:sym typeface="+mn-ea"/>
              </a:rPr>
              <a:t>降维的基本概念</a:t>
            </a: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8011" y="338678"/>
            <a:ext cx="10972800" cy="706669"/>
          </a:xfrm>
        </p:spPr>
        <p:txBody>
          <a:bodyPr/>
          <a:lstStyle/>
          <a:p>
            <a:r>
              <a:rPr lang="zh-CN" altLang="en-US" sz="3600" dirty="0" smtClean="0">
                <a:latin typeface="Cambria" panose="02040503050406030204" pitchFamily="18" charset="0"/>
              </a:rPr>
              <a:t>常见降维算法</a:t>
            </a:r>
            <a:endParaRPr lang="zh-CN" altLang="en-US" sz="3600" dirty="0"/>
          </a:p>
        </p:txBody>
      </p:sp>
      <p:sp>
        <p:nvSpPr>
          <p:cNvPr id="3" name="内容占位符 2"/>
          <p:cNvSpPr txBox="1"/>
          <p:nvPr/>
        </p:nvSpPr>
        <p:spPr>
          <a:xfrm>
            <a:off x="0" y="965776"/>
            <a:ext cx="11913577" cy="52677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0" lvl="1" indent="0">
              <a:lnSpc>
                <a:spcPct val="120000"/>
              </a:lnSpc>
              <a:spcAft>
                <a:spcPts val="600"/>
              </a:spcAft>
              <a:buClr>
                <a:srgbClr val="3891A7"/>
              </a:buClr>
              <a:buFont typeface="Arial" panose="020B0604020202020204" pitchFamily="34" charset="0"/>
              <a:buNone/>
            </a:pPr>
            <a:r>
              <a:rPr lang="zh-CN" altLang="zh-CN" dirty="0" smtClean="0">
                <a:latin typeface="Cambria" panose="02040503050406030204" pitchFamily="18" charset="0"/>
              </a:rPr>
              <a:t>降维方法可分为线性降维和非线性降维两大类。</a:t>
            </a:r>
            <a:endParaRPr lang="en-US" altLang="zh-CN" dirty="0" smtClean="0">
              <a:latin typeface="Cambria" panose="02040503050406030204" pitchFamily="18" charset="0"/>
              <a:ea typeface="Cambria" panose="02040503050406030204" pitchFamily="18" charset="0"/>
            </a:endParaRPr>
          </a:p>
          <a:p>
            <a:pPr lvl="1">
              <a:lnSpc>
                <a:spcPct val="120000"/>
              </a:lnSpc>
              <a:buClr>
                <a:schemeClr val="accent4">
                  <a:lumMod val="75000"/>
                </a:schemeClr>
              </a:buClr>
              <a:buSzPct val="100000"/>
              <a:buFont typeface="Wingdings" panose="05000000000000000000" pitchFamily="2" charset="2"/>
              <a:buChar char="n"/>
            </a:pPr>
            <a:r>
              <a:rPr lang="zh-CN" altLang="zh-CN" b="1" dirty="0" smtClean="0">
                <a:latin typeface="Cambria" panose="02040503050406030204" pitchFamily="18" charset="0"/>
              </a:rPr>
              <a:t>线性降维</a:t>
            </a:r>
            <a:r>
              <a:rPr lang="zh-CN" altLang="zh-CN" dirty="0" smtClean="0">
                <a:latin typeface="Cambria" panose="02040503050406030204" pitchFamily="18" charset="0"/>
              </a:rPr>
              <a:t>假设构成数据集的各变量间独立无关。</a:t>
            </a:r>
            <a:endParaRPr lang="en-US" altLang="zh-CN" dirty="0" smtClean="0">
              <a:latin typeface="Cambria" panose="02040503050406030204" pitchFamily="18" charset="0"/>
              <a:ea typeface="Cambria" panose="02040503050406030204" pitchFamily="18" charset="0"/>
            </a:endParaRPr>
          </a:p>
          <a:p>
            <a:pPr lvl="2">
              <a:lnSpc>
                <a:spcPct val="120000"/>
              </a:lnSpc>
              <a:buClr>
                <a:schemeClr val="accent2"/>
              </a:buClr>
              <a:buSzPct val="144000"/>
            </a:pPr>
            <a:r>
              <a:rPr lang="en-US" altLang="zh-CN" sz="2400" dirty="0" smtClean="0">
                <a:latin typeface="Cambria" panose="02040503050406030204" pitchFamily="18" charset="0"/>
                <a:ea typeface="Cambria" panose="02040503050406030204" pitchFamily="18" charset="0"/>
              </a:rPr>
              <a:t> </a:t>
            </a:r>
            <a:r>
              <a:rPr lang="zh-CN" altLang="zh-CN" sz="2400" dirty="0" smtClean="0">
                <a:latin typeface="Cambria" panose="02040503050406030204" pitchFamily="18" charset="0"/>
              </a:rPr>
              <a:t>主成分分析（</a:t>
            </a:r>
            <a:r>
              <a:rPr lang="en-US" altLang="zh-CN" sz="2400" dirty="0" smtClean="0">
                <a:latin typeface="Cambria" panose="02040503050406030204" pitchFamily="18" charset="0"/>
                <a:ea typeface="Cambria" panose="02040503050406030204" pitchFamily="18" charset="0"/>
              </a:rPr>
              <a:t>Principal Component Analysis</a:t>
            </a:r>
            <a:r>
              <a:rPr lang="zh-CN" altLang="zh-CN" sz="2400" dirty="0" smtClean="0">
                <a:latin typeface="Cambria" panose="02040503050406030204" pitchFamily="18" charset="0"/>
              </a:rPr>
              <a:t>，</a:t>
            </a:r>
            <a:r>
              <a:rPr lang="en-US" altLang="zh-CN" sz="2400" dirty="0" smtClean="0">
                <a:latin typeface="Cambria" panose="02040503050406030204" pitchFamily="18" charset="0"/>
                <a:ea typeface="Cambria" panose="02040503050406030204" pitchFamily="18" charset="0"/>
              </a:rPr>
              <a:t>PCA</a:t>
            </a:r>
            <a:r>
              <a:rPr lang="zh-CN" altLang="zh-CN"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lvl="2">
              <a:lnSpc>
                <a:spcPct val="120000"/>
              </a:lnSpc>
              <a:buClr>
                <a:schemeClr val="accent2"/>
              </a:buClr>
              <a:buSzPct val="144000"/>
            </a:pPr>
            <a:r>
              <a:rPr lang="en-US" altLang="zh-CN" sz="2400" dirty="0" smtClean="0">
                <a:latin typeface="Cambria" panose="02040503050406030204" pitchFamily="18" charset="0"/>
                <a:ea typeface="Cambria" panose="02040503050406030204" pitchFamily="18" charset="0"/>
              </a:rPr>
              <a:t> </a:t>
            </a:r>
            <a:r>
              <a:rPr lang="zh-CN" altLang="zh-CN" sz="2400" dirty="0" smtClean="0">
                <a:latin typeface="Cambria" panose="02040503050406030204" pitchFamily="18" charset="0"/>
              </a:rPr>
              <a:t>独立成分分析（</a:t>
            </a:r>
            <a:r>
              <a:rPr lang="en-US" altLang="zh-CN" sz="2400" dirty="0" smtClean="0">
                <a:latin typeface="Cambria" panose="02040503050406030204" pitchFamily="18" charset="0"/>
                <a:ea typeface="Cambria" panose="02040503050406030204" pitchFamily="18" charset="0"/>
              </a:rPr>
              <a:t>Independent Component Analysis</a:t>
            </a:r>
            <a:r>
              <a:rPr lang="zh-CN" altLang="zh-CN" sz="2400" dirty="0" smtClean="0">
                <a:latin typeface="Cambria" panose="02040503050406030204" pitchFamily="18" charset="0"/>
              </a:rPr>
              <a:t>，</a:t>
            </a:r>
            <a:r>
              <a:rPr lang="en-US" altLang="zh-CN" sz="2400" dirty="0" smtClean="0">
                <a:latin typeface="Cambria" panose="02040503050406030204" pitchFamily="18" charset="0"/>
                <a:ea typeface="Cambria" panose="02040503050406030204" pitchFamily="18" charset="0"/>
              </a:rPr>
              <a:t>ICA</a:t>
            </a:r>
            <a:r>
              <a:rPr lang="zh-CN" altLang="zh-CN"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lvl="2">
              <a:lnSpc>
                <a:spcPct val="120000"/>
              </a:lnSpc>
              <a:buClr>
                <a:schemeClr val="accent2"/>
              </a:buClr>
              <a:buSzPct val="144000"/>
            </a:pPr>
            <a:r>
              <a:rPr lang="en-US" altLang="zh-CN" sz="2400" dirty="0" smtClean="0">
                <a:latin typeface="Cambria" panose="02040503050406030204" pitchFamily="18" charset="0"/>
                <a:ea typeface="Cambria" panose="02040503050406030204" pitchFamily="18" charset="0"/>
              </a:rPr>
              <a:t> </a:t>
            </a:r>
            <a:r>
              <a:rPr lang="zh-CN" altLang="en-US" sz="2400" dirty="0" smtClean="0">
                <a:latin typeface="Cambria" panose="02040503050406030204" pitchFamily="18" charset="0"/>
              </a:rPr>
              <a:t>线性</a:t>
            </a:r>
            <a:r>
              <a:rPr lang="zh-CN" altLang="zh-CN" sz="2400" dirty="0" smtClean="0">
                <a:latin typeface="Cambria" panose="02040503050406030204" pitchFamily="18" charset="0"/>
              </a:rPr>
              <a:t>判别分析（</a:t>
            </a:r>
            <a:r>
              <a:rPr lang="en-US" altLang="zh-CN" sz="2400" dirty="0" smtClean="0">
                <a:latin typeface="Cambria" panose="02040503050406030204" pitchFamily="18" charset="0"/>
                <a:ea typeface="Cambria" panose="02040503050406030204" pitchFamily="18" charset="0"/>
              </a:rPr>
              <a:t>Linear Discriminant Analysis</a:t>
            </a:r>
            <a:r>
              <a:rPr lang="zh-CN" altLang="zh-CN" sz="2400" dirty="0" smtClean="0">
                <a:latin typeface="Cambria" panose="02040503050406030204" pitchFamily="18" charset="0"/>
              </a:rPr>
              <a:t>，</a:t>
            </a:r>
            <a:r>
              <a:rPr lang="en-US" altLang="zh-CN" sz="2400" dirty="0" smtClean="0">
                <a:latin typeface="Cambria" panose="02040503050406030204" pitchFamily="18" charset="0"/>
                <a:ea typeface="Cambria" panose="02040503050406030204" pitchFamily="18" charset="0"/>
              </a:rPr>
              <a:t>LDA</a:t>
            </a:r>
            <a:r>
              <a:rPr lang="zh-CN" altLang="zh-CN"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lvl="1">
              <a:lnSpc>
                <a:spcPct val="120000"/>
              </a:lnSpc>
              <a:buClr>
                <a:schemeClr val="accent4">
                  <a:lumMod val="75000"/>
                </a:schemeClr>
              </a:buClr>
              <a:buSzPct val="100000"/>
              <a:buFont typeface="Wingdings" panose="05000000000000000000" pitchFamily="2" charset="2"/>
              <a:buChar char="n"/>
            </a:pPr>
            <a:r>
              <a:rPr lang="zh-CN" altLang="zh-CN" b="1" dirty="0" smtClean="0">
                <a:latin typeface="Cambria" panose="02040503050406030204" pitchFamily="18" charset="0"/>
              </a:rPr>
              <a:t>非线性降维</a:t>
            </a:r>
            <a:r>
              <a:rPr lang="zh-CN" altLang="zh-CN" dirty="0" smtClean="0">
                <a:latin typeface="Cambria" panose="02040503050406030204" pitchFamily="18" charset="0"/>
              </a:rPr>
              <a:t>方法，也称之为流形学习方法（</a:t>
            </a:r>
            <a:r>
              <a:rPr lang="en-US" altLang="zh-CN" dirty="0" smtClean="0">
                <a:latin typeface="Cambria" panose="02040503050406030204" pitchFamily="18" charset="0"/>
                <a:ea typeface="Cambria" panose="02040503050406030204" pitchFamily="18" charset="0"/>
              </a:rPr>
              <a:t>Manifold Learning</a:t>
            </a:r>
            <a:r>
              <a:rPr lang="zh-CN" altLang="zh-CN" dirty="0" smtClean="0">
                <a:latin typeface="Cambria" panose="02040503050406030204" pitchFamily="18" charset="0"/>
              </a:rPr>
              <a:t>），其目标是从高维采样数据中恢复低维流形结构</a:t>
            </a:r>
            <a:r>
              <a:rPr lang="zh-CN" altLang="en-US" dirty="0" smtClean="0">
                <a:latin typeface="Cambria" panose="02040503050406030204" pitchFamily="18" charset="0"/>
              </a:rPr>
              <a:t>，</a:t>
            </a:r>
            <a:r>
              <a:rPr lang="zh-CN" altLang="zh-CN" dirty="0" smtClean="0">
                <a:latin typeface="Cambria" panose="02040503050406030204" pitchFamily="18" charset="0"/>
              </a:rPr>
              <a:t>不改变数据本身的拓扑特性</a:t>
            </a:r>
            <a:r>
              <a:rPr lang="zh-CN" altLang="en-US" dirty="0" smtClean="0">
                <a:latin typeface="Cambria" panose="02040503050406030204" pitchFamily="18" charset="0"/>
              </a:rPr>
              <a:t>。</a:t>
            </a:r>
            <a:endParaRPr lang="en-US" altLang="zh-CN" dirty="0" smtClean="0">
              <a:latin typeface="Cambria" panose="02040503050406030204" pitchFamily="18" charset="0"/>
              <a:ea typeface="Cambria" panose="02040503050406030204" pitchFamily="18" charset="0"/>
            </a:endParaRPr>
          </a:p>
          <a:p>
            <a:pPr lvl="2">
              <a:lnSpc>
                <a:spcPct val="120000"/>
              </a:lnSpc>
              <a:buClr>
                <a:schemeClr val="accent2"/>
              </a:buClr>
              <a:buSzPct val="144000"/>
            </a:pPr>
            <a:r>
              <a:rPr lang="en-US" altLang="zh-CN" sz="2400" dirty="0" smtClean="0">
                <a:latin typeface="Cambria" panose="02040503050406030204" pitchFamily="18" charset="0"/>
                <a:ea typeface="Cambria" panose="02040503050406030204" pitchFamily="18" charset="0"/>
              </a:rPr>
              <a:t> </a:t>
            </a:r>
            <a:r>
              <a:rPr lang="zh-CN" altLang="zh-CN" sz="2400" dirty="0" smtClean="0">
                <a:latin typeface="Cambria" panose="02040503050406030204" pitchFamily="18" charset="0"/>
              </a:rPr>
              <a:t>基于保持全局结构信息，</a:t>
            </a:r>
            <a:r>
              <a:rPr lang="zh-CN" altLang="en-US" sz="2400" dirty="0" smtClean="0">
                <a:latin typeface="Cambria" panose="02040503050406030204" pitchFamily="18" charset="0"/>
              </a:rPr>
              <a:t>如</a:t>
            </a:r>
            <a:r>
              <a:rPr lang="zh-CN" altLang="zh-CN" sz="2400" dirty="0" smtClean="0">
                <a:latin typeface="Cambria" panose="02040503050406030204" pitchFamily="18" charset="0"/>
              </a:rPr>
              <a:t>等距离映射算法</a:t>
            </a:r>
            <a:r>
              <a:rPr lang="en-US" altLang="zh-CN" sz="2400" dirty="0" smtClean="0">
                <a:latin typeface="Cambria" panose="02040503050406030204" pitchFamily="18" charset="0"/>
                <a:ea typeface="Cambria" panose="02040503050406030204" pitchFamily="18" charset="0"/>
              </a:rPr>
              <a:t>ISOMAP</a:t>
            </a:r>
            <a:endParaRPr lang="en-US" altLang="zh-CN" sz="2400" dirty="0" smtClean="0">
              <a:latin typeface="Cambria" panose="02040503050406030204" pitchFamily="18" charset="0"/>
              <a:ea typeface="Cambria" panose="02040503050406030204" pitchFamily="18" charset="0"/>
            </a:endParaRPr>
          </a:p>
          <a:p>
            <a:pPr lvl="2">
              <a:lnSpc>
                <a:spcPct val="120000"/>
              </a:lnSpc>
              <a:buClr>
                <a:schemeClr val="accent2"/>
              </a:buClr>
              <a:buSzPct val="144000"/>
            </a:pPr>
            <a:r>
              <a:rPr lang="en-US" altLang="zh-CN" sz="2400" dirty="0" smtClean="0">
                <a:latin typeface="Cambria" panose="02040503050406030204" pitchFamily="18" charset="0"/>
                <a:ea typeface="Cambria" panose="02040503050406030204" pitchFamily="18" charset="0"/>
              </a:rPr>
              <a:t> </a:t>
            </a:r>
            <a:r>
              <a:rPr lang="zh-CN" altLang="en-US" sz="2400" dirty="0" smtClean="0">
                <a:latin typeface="Cambria" panose="02040503050406030204" pitchFamily="18" charset="0"/>
              </a:rPr>
              <a:t>关注</a:t>
            </a:r>
            <a:r>
              <a:rPr lang="zh-CN" altLang="zh-CN" sz="2400" dirty="0" smtClean="0">
                <a:latin typeface="Cambria" panose="02040503050406030204" pitchFamily="18" charset="0"/>
              </a:rPr>
              <a:t>局部结构信息</a:t>
            </a:r>
            <a:r>
              <a:rPr lang="zh-CN" altLang="en-US" sz="2400" dirty="0" smtClean="0">
                <a:latin typeface="Cambria" panose="02040503050406030204" pitchFamily="18" charset="0"/>
              </a:rPr>
              <a:t>，</a:t>
            </a:r>
            <a:r>
              <a:rPr lang="zh-CN" altLang="zh-CN" sz="2400" dirty="0" smtClean="0">
                <a:latin typeface="Cambria" panose="02040503050406030204" pitchFamily="18" charset="0"/>
              </a:rPr>
              <a:t>如</a:t>
            </a:r>
            <a:r>
              <a:rPr lang="zh-CN" altLang="en-US" sz="2400" dirty="0" smtClean="0">
                <a:latin typeface="Cambria" panose="02040503050406030204" pitchFamily="18" charset="0"/>
              </a:rPr>
              <a:t>局部线性重构</a:t>
            </a:r>
            <a:r>
              <a:rPr lang="en-US" altLang="zh-CN" sz="2400" dirty="0" smtClean="0">
                <a:latin typeface="Cambria" panose="02040503050406030204" pitchFamily="18" charset="0"/>
                <a:ea typeface="Cambria" panose="02040503050406030204" pitchFamily="18" charset="0"/>
              </a:rPr>
              <a:t>LLE</a:t>
            </a:r>
            <a:r>
              <a:rPr lang="zh-CN" altLang="en-US" sz="2400" dirty="0" smtClean="0">
                <a:latin typeface="Cambria" panose="02040503050406030204" pitchFamily="18" charset="0"/>
              </a:rPr>
              <a:t>、局部邻域相似度</a:t>
            </a:r>
            <a:r>
              <a:rPr lang="en-US" altLang="zh-CN" sz="2400" dirty="0" smtClean="0">
                <a:latin typeface="Cambria" panose="02040503050406030204" pitchFamily="18" charset="0"/>
                <a:ea typeface="Cambria" panose="02040503050406030204" pitchFamily="18" charset="0"/>
              </a:rPr>
              <a:t>LE</a:t>
            </a:r>
            <a:r>
              <a:rPr lang="zh-CN" altLang="en-US" sz="2400" dirty="0" smtClean="0">
                <a:latin typeface="Cambria" panose="02040503050406030204" pitchFamily="18" charset="0"/>
              </a:rPr>
              <a:t>、局部等距</a:t>
            </a:r>
            <a:r>
              <a:rPr lang="en-US" altLang="zh-CN" sz="2400" dirty="0" smtClean="0">
                <a:latin typeface="Cambria" panose="02040503050406030204" pitchFamily="18" charset="0"/>
                <a:ea typeface="Cambria" panose="02040503050406030204" pitchFamily="18" charset="0"/>
              </a:rPr>
              <a:t>HLLE</a:t>
            </a:r>
            <a:endParaRPr lang="zh-CN" altLang="en-US" sz="24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207819" y="600005"/>
            <a:ext cx="7821705" cy="4992052"/>
          </a:xfrm>
          <a:prstGeom prst="rect">
            <a:avLst/>
          </a:prstGeom>
        </p:spPr>
      </p:pic>
    </p:spTree>
  </p:cSld>
  <p:clrMapOvr>
    <a:masterClrMapping/>
  </p:clrMapOvr>
  <p:transition spd="slow">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1330394" y="674264"/>
            <a:ext cx="8015583" cy="535531"/>
          </a:xfrm>
        </p:spPr>
        <p:txBody>
          <a:bodyPr/>
          <a:lstStyle/>
          <a:p>
            <a:r>
              <a:rPr lang="zh-CN" altLang="en-US" dirty="0" smtClean="0">
                <a:solidFill>
                  <a:schemeClr val="tx1"/>
                </a:solidFill>
              </a:rPr>
              <a:t>问题的提出</a:t>
            </a:r>
            <a:endParaRPr lang="zh-CN" altLang="en-US" dirty="0">
              <a:solidFill>
                <a:schemeClr val="tx1"/>
              </a:solidFill>
            </a:endParaRPr>
          </a:p>
        </p:txBody>
      </p:sp>
      <p:sp>
        <p:nvSpPr>
          <p:cNvPr id="5" name="标题 1"/>
          <p:cNvSpPr txBox="1"/>
          <p:nvPr/>
        </p:nvSpPr>
        <p:spPr>
          <a:xfrm>
            <a:off x="1330394" y="1415219"/>
            <a:ext cx="9320190" cy="4708981"/>
          </a:xfrm>
          <a:prstGeom prst="rect">
            <a:avLst/>
          </a:prstGeom>
          <a:noFill/>
        </p:spPr>
        <p:txBody>
          <a:bodyPr wrap="square" rtlCol="0" anchor="ctr" anchorCtr="0">
            <a:spAutoFit/>
          </a:bodyPr>
          <a:lstStyle>
            <a:lvl1pPr algn="l" defTabSz="914400" rtl="0" eaLnBrk="1" latinLnBrk="0" hangingPunct="1">
              <a:lnSpc>
                <a:spcPct val="90000"/>
              </a:lnSpc>
              <a:spcBef>
                <a:spcPct val="0"/>
              </a:spcBef>
              <a:buNone/>
              <a:defRPr lang="zh-CN" altLang="en-US" sz="3200" b="1" kern="1200">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a:lnSpc>
                <a:spcPct val="150000"/>
              </a:lnSpc>
            </a:pPr>
            <a:r>
              <a:rPr lang="zh-CN" altLang="en-US" sz="2800" b="0" dirty="0">
                <a:solidFill>
                  <a:schemeClr val="tx1"/>
                </a:solidFill>
              </a:rPr>
              <a:t>实际</a:t>
            </a:r>
            <a:r>
              <a:rPr lang="zh-CN" altLang="en-US" sz="2800" b="0" dirty="0" smtClean="0">
                <a:solidFill>
                  <a:schemeClr val="tx1"/>
                </a:solidFill>
              </a:rPr>
              <a:t>问题往往需要研究多个特征，而这些特征存在一定的相关性。</a:t>
            </a:r>
            <a:endParaRPr lang="en-US" altLang="zh-CN" sz="2800" b="0" dirty="0" smtClean="0">
              <a:solidFill>
                <a:schemeClr val="tx1"/>
              </a:solidFill>
            </a:endParaRPr>
          </a:p>
          <a:p>
            <a:pPr>
              <a:lnSpc>
                <a:spcPct val="150000"/>
              </a:lnSpc>
            </a:pPr>
            <a:r>
              <a:rPr lang="zh-CN" altLang="en-US" sz="2800" b="0" dirty="0" smtClean="0">
                <a:solidFill>
                  <a:schemeClr val="tx1"/>
                </a:solidFill>
              </a:rPr>
              <a:t>数据量增加了问题的复杂性。</a:t>
            </a:r>
            <a:endParaRPr lang="en-US" altLang="zh-CN" sz="2800" b="0" dirty="0" smtClean="0">
              <a:solidFill>
                <a:schemeClr val="tx1"/>
              </a:solidFill>
            </a:endParaRPr>
          </a:p>
          <a:p>
            <a:pPr>
              <a:lnSpc>
                <a:spcPct val="150000"/>
              </a:lnSpc>
            </a:pPr>
            <a:endParaRPr lang="en-US" altLang="zh-CN" sz="2800" b="0" dirty="0" smtClean="0">
              <a:solidFill>
                <a:schemeClr val="tx1"/>
              </a:solidFill>
            </a:endParaRPr>
          </a:p>
          <a:p>
            <a:pPr>
              <a:lnSpc>
                <a:spcPct val="150000"/>
              </a:lnSpc>
            </a:pPr>
            <a:r>
              <a:rPr lang="zh-CN" altLang="en-US" sz="2800" b="0" dirty="0">
                <a:solidFill>
                  <a:schemeClr val="tx1"/>
                </a:solidFill>
              </a:rPr>
              <a:t>将多</a:t>
            </a:r>
            <a:r>
              <a:rPr lang="zh-CN" altLang="en-US" sz="2800" b="0" dirty="0" smtClean="0">
                <a:solidFill>
                  <a:schemeClr val="tx1"/>
                </a:solidFill>
              </a:rPr>
              <a:t>个特征综合为少数几个代表性特征：</a:t>
            </a:r>
            <a:endParaRPr lang="en-US" altLang="zh-CN" sz="2800" b="0" dirty="0" smtClean="0">
              <a:solidFill>
                <a:schemeClr val="tx1"/>
              </a:solidFill>
            </a:endParaRPr>
          </a:p>
          <a:p>
            <a:pPr marL="457200" indent="-457200">
              <a:lnSpc>
                <a:spcPct val="150000"/>
              </a:lnSpc>
              <a:buFont typeface="Wingdings" panose="05000000000000000000" pitchFamily="2" charset="2"/>
              <a:buChar char="n"/>
            </a:pPr>
            <a:r>
              <a:rPr lang="zh-CN" altLang="en-US" sz="2800" b="0" dirty="0">
                <a:solidFill>
                  <a:schemeClr val="tx1"/>
                </a:solidFill>
              </a:rPr>
              <a:t>既</a:t>
            </a:r>
            <a:r>
              <a:rPr lang="zh-CN" altLang="en-US" sz="2800" b="0" dirty="0" smtClean="0">
                <a:solidFill>
                  <a:schemeClr val="tx1"/>
                </a:solidFill>
              </a:rPr>
              <a:t>能够代表原始特征的绝大数信息</a:t>
            </a:r>
            <a:endParaRPr lang="en-US" altLang="zh-CN" sz="2800" b="0" dirty="0" smtClean="0">
              <a:solidFill>
                <a:schemeClr val="tx1"/>
              </a:solidFill>
            </a:endParaRPr>
          </a:p>
          <a:p>
            <a:pPr marL="514350" indent="-514350">
              <a:lnSpc>
                <a:spcPct val="150000"/>
              </a:lnSpc>
              <a:buFont typeface="Wingdings" panose="05000000000000000000" pitchFamily="2" charset="2"/>
              <a:buChar char="n"/>
            </a:pPr>
            <a:r>
              <a:rPr lang="zh-CN" altLang="en-US" sz="2800" b="0" dirty="0" smtClean="0">
                <a:solidFill>
                  <a:schemeClr val="tx1"/>
                </a:solidFill>
              </a:rPr>
              <a:t>组合后的特征又互不相关，降低相关性。</a:t>
            </a:r>
            <a:endParaRPr lang="zh-CN" altLang="en-US" sz="2800" b="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61180" y="1363976"/>
            <a:ext cx="10378955" cy="4524315"/>
          </a:xfrm>
          <a:prstGeom prst="rect">
            <a:avLst/>
          </a:prstGeom>
          <a:noFill/>
        </p:spPr>
        <p:txBody>
          <a:bodyPr wrap="square" rtlCol="0">
            <a:spAutoFit/>
          </a:bodyPr>
          <a:lstStyle/>
          <a:p>
            <a:pPr>
              <a:lnSpc>
                <a:spcPct val="150000"/>
              </a:lnSpc>
            </a:pPr>
            <a:r>
              <a:rPr lang="en-US" altLang="zh-CN" sz="2400" dirty="0" smtClean="0">
                <a:latin typeface="Times New Roman" panose="02020603050405020304" pitchFamily="18" charset="0"/>
                <a:cs typeface="Times New Roman" panose="02020603050405020304" pitchFamily="18" charset="0"/>
              </a:rPr>
              <a:t>PCA</a:t>
            </a:r>
            <a:r>
              <a:rPr lang="zh-CN" altLang="en-US" sz="2400" dirty="0" smtClean="0"/>
              <a:t>是</a:t>
            </a:r>
            <a:r>
              <a:rPr lang="zh-CN" altLang="en-US" sz="2400" dirty="0"/>
              <a:t>一种掌握事物主要矛盾的统计分析方法，它可以从多元事物中解析出主要影响因素，揭示事物的本质，简化复杂的问题。在理解特征提取与处理时，涉及高维特征向量的问题往往容易陷入维度灾难。随着数据集维度的增加，算法学习需要的样本数量呈指数级增加。</a:t>
            </a:r>
            <a:endParaRPr lang="en-US" altLang="zh-CN" sz="2400" dirty="0"/>
          </a:p>
          <a:p>
            <a:pPr>
              <a:lnSpc>
                <a:spcPct val="150000"/>
              </a:lnSpc>
            </a:pPr>
            <a:r>
              <a:rPr lang="en-US" altLang="zh-CN" sz="2400" dirty="0" smtClean="0"/>
              <a:t>PCA</a:t>
            </a:r>
            <a:r>
              <a:rPr lang="zh-CN" altLang="en-US" sz="2400" dirty="0"/>
              <a:t>将数据投射到一个低维子空间实现降维。例如，二维数据集降维就是把点投射成一条线，数据集的每个样本都可以用一个值表示，不需要两个值。三维数据集可以降成二维，就是把变量映射成一个平面。一般情况下，</a:t>
            </a:r>
            <a:r>
              <a:rPr lang="en-US" altLang="zh-CN" sz="2400" dirty="0"/>
              <a:t>n </a:t>
            </a:r>
            <a:r>
              <a:rPr lang="zh-CN" altLang="en-US" sz="2400" dirty="0"/>
              <a:t>维数据集可以通过映射降成</a:t>
            </a:r>
            <a:r>
              <a:rPr lang="en-US" altLang="zh-CN" sz="2400" dirty="0"/>
              <a:t>k</a:t>
            </a:r>
            <a:r>
              <a:rPr lang="zh-CN" altLang="en-US" sz="2400" dirty="0"/>
              <a:t>维子空间，其中</a:t>
            </a:r>
            <a:r>
              <a:rPr lang="en-US" altLang="zh-CN" sz="2400" dirty="0"/>
              <a:t>k&lt;n</a:t>
            </a:r>
            <a:r>
              <a:rPr lang="zh-CN" altLang="en-US" sz="2400" dirty="0"/>
              <a:t>。</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数据压缩</a:t>
            </a:r>
            <a:r>
              <a:rPr lang="en-US" altLang="zh-CN" dirty="0" smtClean="0"/>
              <a:t>2D-1D</a:t>
            </a:r>
            <a:endParaRPr lang="zh-CN" altLang="en-US" dirty="0"/>
          </a:p>
        </p:txBody>
      </p:sp>
      <p:pic>
        <p:nvPicPr>
          <p:cNvPr id="4" name="图片 3"/>
          <p:cNvPicPr>
            <a:picLocks noChangeAspect="1"/>
          </p:cNvPicPr>
          <p:nvPr/>
        </p:nvPicPr>
        <p:blipFill>
          <a:blip r:embed="rId1"/>
          <a:stretch>
            <a:fillRect/>
          </a:stretch>
        </p:blipFill>
        <p:spPr>
          <a:xfrm>
            <a:off x="1672677" y="1318674"/>
            <a:ext cx="8884486" cy="4697542"/>
          </a:xfrm>
          <a:prstGeom prst="rect">
            <a:avLst/>
          </a:prstGeom>
        </p:spPr>
      </p:pic>
      <p:cxnSp>
        <p:nvCxnSpPr>
          <p:cNvPr id="5" name="直接箭头连接符 4"/>
          <p:cNvCxnSpPr/>
          <p:nvPr/>
        </p:nvCxnSpPr>
        <p:spPr>
          <a:xfrm flipV="1">
            <a:off x="2057400" y="5486400"/>
            <a:ext cx="4057520" cy="8792"/>
          </a:xfrm>
          <a:prstGeom prst="straightConnector1">
            <a:avLst/>
          </a:prstGeom>
          <a:ln w="28575">
            <a:solidFill>
              <a:srgbClr val="05FF05"/>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数据压缩</a:t>
            </a:r>
            <a:r>
              <a:rPr lang="en-US" altLang="zh-CN" dirty="0" smtClean="0"/>
              <a:t>3D-2D</a:t>
            </a:r>
            <a:endParaRPr lang="zh-CN" altLang="en-US" dirty="0"/>
          </a:p>
        </p:txBody>
      </p:sp>
      <p:pic>
        <p:nvPicPr>
          <p:cNvPr id="3" name="图片 2"/>
          <p:cNvPicPr>
            <a:picLocks noChangeAspect="1"/>
          </p:cNvPicPr>
          <p:nvPr/>
        </p:nvPicPr>
        <p:blipFill>
          <a:blip r:embed="rId1" cstate="print"/>
          <a:stretch>
            <a:fillRect/>
          </a:stretch>
        </p:blipFill>
        <p:spPr>
          <a:xfrm>
            <a:off x="467004" y="2118972"/>
            <a:ext cx="3038901" cy="2893325"/>
          </a:xfrm>
          <a:prstGeom prst="rect">
            <a:avLst/>
          </a:prstGeom>
        </p:spPr>
      </p:pic>
      <p:pic>
        <p:nvPicPr>
          <p:cNvPr id="4" name="图片 3"/>
          <p:cNvPicPr>
            <a:picLocks noChangeAspect="1"/>
          </p:cNvPicPr>
          <p:nvPr/>
        </p:nvPicPr>
        <p:blipFill>
          <a:blip r:embed="rId2" cstate="print"/>
          <a:stretch>
            <a:fillRect/>
          </a:stretch>
        </p:blipFill>
        <p:spPr>
          <a:xfrm>
            <a:off x="4576549" y="2118972"/>
            <a:ext cx="3038901" cy="2893325"/>
          </a:xfrm>
          <a:prstGeom prst="rect">
            <a:avLst/>
          </a:prstGeom>
        </p:spPr>
      </p:pic>
      <p:pic>
        <p:nvPicPr>
          <p:cNvPr id="6" name="图片 5"/>
          <p:cNvPicPr>
            <a:picLocks noChangeAspect="1"/>
          </p:cNvPicPr>
          <p:nvPr/>
        </p:nvPicPr>
        <p:blipFill>
          <a:blip r:embed="rId3" cstate="print"/>
          <a:stretch>
            <a:fillRect/>
          </a:stretch>
        </p:blipFill>
        <p:spPr>
          <a:xfrm>
            <a:off x="8595422" y="2118972"/>
            <a:ext cx="3312798" cy="28933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数据可视化</a:t>
            </a:r>
            <a:endParaRPr lang="zh-CN" altLang="en-US" dirty="0"/>
          </a:p>
        </p:txBody>
      </p:sp>
      <p:pic>
        <p:nvPicPr>
          <p:cNvPr id="5" name="图片 4"/>
          <p:cNvPicPr>
            <a:picLocks noChangeAspect="1"/>
          </p:cNvPicPr>
          <p:nvPr/>
        </p:nvPicPr>
        <p:blipFill>
          <a:blip r:embed="rId1" cstate="print"/>
          <a:stretch>
            <a:fillRect/>
          </a:stretch>
        </p:blipFill>
        <p:spPr>
          <a:xfrm>
            <a:off x="1104530" y="1366295"/>
            <a:ext cx="9858201" cy="487684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数据可视化</a:t>
            </a:r>
            <a:endParaRPr lang="zh-CN" altLang="en-US" dirty="0"/>
          </a:p>
        </p:txBody>
      </p:sp>
      <p:pic>
        <p:nvPicPr>
          <p:cNvPr id="3" name="图片 2"/>
          <p:cNvPicPr>
            <a:picLocks noChangeAspect="1"/>
          </p:cNvPicPr>
          <p:nvPr/>
        </p:nvPicPr>
        <p:blipFill>
          <a:blip r:embed="rId1" cstate="print"/>
          <a:stretch>
            <a:fillRect/>
          </a:stretch>
        </p:blipFill>
        <p:spPr>
          <a:xfrm>
            <a:off x="1253108" y="1267201"/>
            <a:ext cx="9532401" cy="480777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数据可视化</a:t>
            </a:r>
            <a:endParaRPr lang="zh-CN" altLang="en-US" dirty="0"/>
          </a:p>
        </p:txBody>
      </p:sp>
      <p:pic>
        <p:nvPicPr>
          <p:cNvPr id="3" name="图片 2"/>
          <p:cNvPicPr>
            <a:picLocks noChangeAspect="1"/>
          </p:cNvPicPr>
          <p:nvPr/>
        </p:nvPicPr>
        <p:blipFill>
          <a:blip r:embed="rId1" cstate="print"/>
          <a:stretch>
            <a:fillRect/>
          </a:stretch>
        </p:blipFill>
        <p:spPr>
          <a:xfrm>
            <a:off x="1788265" y="1372957"/>
            <a:ext cx="8602934" cy="480712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降</a:t>
            </a:r>
            <a:r>
              <a:rPr lang="zh-CN" altLang="en-US" dirty="0" smtClean="0"/>
              <a:t>维分析</a:t>
            </a:r>
            <a:endParaRPr lang="zh-CN" altLang="en-US" dirty="0"/>
          </a:p>
        </p:txBody>
      </p:sp>
      <p:pic>
        <p:nvPicPr>
          <p:cNvPr id="3" name="图片 2"/>
          <p:cNvPicPr>
            <a:picLocks noChangeAspect="1"/>
          </p:cNvPicPr>
          <p:nvPr/>
        </p:nvPicPr>
        <p:blipFill>
          <a:blip r:embed="rId1" cstate="print"/>
          <a:stretch>
            <a:fillRect/>
          </a:stretch>
        </p:blipFill>
        <p:spPr>
          <a:xfrm>
            <a:off x="1791830" y="1183862"/>
            <a:ext cx="8710840" cy="511183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降维分析</a:t>
            </a:r>
            <a:endParaRPr lang="zh-CN" altLang="en-US" dirty="0"/>
          </a:p>
        </p:txBody>
      </p:sp>
      <p:pic>
        <p:nvPicPr>
          <p:cNvPr id="4" name="图片 3"/>
          <p:cNvPicPr>
            <a:picLocks noChangeAspect="1"/>
          </p:cNvPicPr>
          <p:nvPr/>
        </p:nvPicPr>
        <p:blipFill>
          <a:blip r:embed="rId1" cstate="print"/>
          <a:stretch>
            <a:fillRect/>
          </a:stretch>
        </p:blipFill>
        <p:spPr>
          <a:xfrm>
            <a:off x="1673836" y="1212763"/>
            <a:ext cx="8725146" cy="496731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6" y="573618"/>
            <a:ext cx="9151021" cy="584774"/>
          </a:xfrm>
          <a:prstGeom prst="rect">
            <a:avLst/>
          </a:prstGeom>
          <a:solidFill>
            <a:srgbClr val="009999"/>
          </a:solidFill>
          <a:ln>
            <a:noFill/>
          </a:ln>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主成分分</a:t>
            </a:r>
            <a:r>
              <a:rPr kumimoji="0" lang="zh-CN" altLang="en-US" sz="32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析</a:t>
            </a:r>
            <a:r>
              <a:rPr kumimoji="0" lang="zh-CN" altLang="en-US" sz="3200" b="0" i="0" u="none" strike="noStrike" kern="1200" cap="none" spc="0" normalizeH="0" baseline="0" noProof="0" dirty="0" smtClean="0">
                <a:ln>
                  <a:noFill/>
                </a:ln>
                <a:solidFill>
                  <a:prstClr val="white"/>
                </a:solidFill>
                <a:effectLst/>
                <a:uLnTx/>
                <a:uFillTx/>
                <a:latin typeface="Calibri Light" panose="020F0302020204030204"/>
                <a:cs typeface="+mn-cs"/>
              </a:rPr>
              <a:t>（</a:t>
            </a:r>
            <a:r>
              <a:rPr kumimoji="0" lang="en-US" altLang="zh-CN" sz="3200" b="0" i="0" u="none" strike="noStrike" kern="1200" cap="none" spc="0" normalizeH="0" baseline="0" noProof="0" dirty="0" smtClean="0">
                <a:ln>
                  <a:noFill/>
                </a:ln>
                <a:solidFill>
                  <a:prstClr val="white"/>
                </a:solidFill>
                <a:effectLst/>
                <a:uLnTx/>
                <a:uFillTx/>
                <a:latin typeface="Calibri Light" panose="020F0302020204030204"/>
                <a:cs typeface="+mn-cs"/>
              </a:rPr>
              <a:t>Principal ComponentAnalysis</a:t>
            </a:r>
            <a:r>
              <a:rPr kumimoji="0" lang="zh-CN" altLang="en-US" sz="3200" b="0" i="0" u="none" strike="noStrike" kern="1200" cap="none" spc="0" normalizeH="0" baseline="0" noProof="0" dirty="0" smtClean="0">
                <a:ln>
                  <a:noFill/>
                </a:ln>
                <a:solidFill>
                  <a:prstClr val="white"/>
                </a:solidFill>
                <a:effectLst/>
                <a:uLnTx/>
                <a:uFillTx/>
                <a:latin typeface="Calibri Light" panose="020F0302020204030204"/>
                <a:cs typeface="+mn-cs"/>
              </a:rPr>
              <a:t>，</a:t>
            </a:r>
            <a:r>
              <a:rPr kumimoji="0" lang="en-US" altLang="zh-CN" sz="3200" b="0" i="0" u="none" strike="noStrike" kern="1200" cap="none" spc="0" normalizeH="0" baseline="0" noProof="0" dirty="0" smtClean="0">
                <a:ln>
                  <a:noFill/>
                </a:ln>
                <a:solidFill>
                  <a:prstClr val="white"/>
                </a:solidFill>
                <a:effectLst/>
                <a:uLnTx/>
                <a:uFillTx/>
                <a:latin typeface="Calibri Light" panose="020F0302020204030204"/>
                <a:cs typeface="+mn-cs"/>
              </a:rPr>
              <a:t>PCA</a:t>
            </a:r>
            <a:r>
              <a:rPr kumimoji="0" lang="zh-CN" altLang="en-US" sz="3200" b="0" i="0" u="none" strike="noStrike" kern="1200" cap="none" spc="0" normalizeH="0" baseline="0" noProof="0" dirty="0" smtClean="0">
                <a:ln>
                  <a:noFill/>
                </a:ln>
                <a:solidFill>
                  <a:prstClr val="white"/>
                </a:solidFill>
                <a:effectLst/>
                <a:uLnTx/>
                <a:uFillTx/>
                <a:latin typeface="Calibri Light" panose="020F0302020204030204"/>
                <a:cs typeface="+mn-cs"/>
              </a:rPr>
              <a:t>）</a:t>
            </a:r>
            <a:endParaRPr kumimoji="0" lang="zh-CN" altLang="en-US"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2"/>
            <a:ext cx="10727267" cy="356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主成分分析是最常用的线性降维方法，它的目标是通过某种线性投影，将高维的数据映射到低维的空间中，并期望在所投影的维度上数据的方差最大，以此使用较少的维度，同时保留较多原数据的维</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度。</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lvl="0">
              <a:defRPr/>
            </a:pPr>
            <a:r>
              <a:rPr lang="zh-CN" altLang="en-US" sz="2400" dirty="0" smtClean="0">
                <a:solidFill>
                  <a:srgbClr val="000000"/>
                </a:solidFill>
              </a:rPr>
              <a:t>如果</a:t>
            </a:r>
            <a:r>
              <a:rPr lang="zh-CN" altLang="en-US" sz="2400" dirty="0">
                <a:solidFill>
                  <a:srgbClr val="000000"/>
                </a:solidFill>
              </a:rPr>
              <a:t>尽可能把</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所</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有点</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都映射到一起，那么几乎所有</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的可区分</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信息都丢失了，而如果映射后方差</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尽可能大</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，那么数据点则会分散开来，特征更加明显。</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PCA</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是丢失原始数据信息最少的一种线性降维方法，最接近</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原始数据。</a:t>
            </a:r>
            <a:endPar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PCA</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算法目标是求出样本数据的协方差矩阵的特征值和特征向量，而协方差矩阵的特征向量的方向就是</a:t>
            </a:r>
            <a:r>
              <a:rPr kumimoji="1" lang="en-US" altLang="zh-CN"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PCA</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投影</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的方向。使样本数据向低维投影后，能尽可能表征原始的数据</a:t>
            </a:r>
            <a:r>
              <a:rPr kumimoji="1" lang="zh-CN" altLang="en-US" sz="2400" b="0" i="0" u="none" strike="noStrike" kern="1200" cap="none" spc="0" normalizeH="0" baseline="0" noProof="0" dirty="0" smtClean="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print"/>
          <a:stretch>
            <a:fillRect/>
          </a:stretch>
        </p:blipFill>
        <p:spPr>
          <a:xfrm>
            <a:off x="1336963" y="988067"/>
            <a:ext cx="9654132" cy="545429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sp>
        <p:nvSpPr>
          <p:cNvPr id="8" name="椭圆 7"/>
          <p:cNvSpPr>
            <a:spLocks noChangeAspect="1"/>
          </p:cNvSpPr>
          <p:nvPr/>
        </p:nvSpPr>
        <p:spPr>
          <a:xfrm>
            <a:off x="2037478" y="4924888"/>
            <a:ext cx="1078492" cy="1078501"/>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算法流程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4012980" cy="584775"/>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FLOW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191369"/>
            <a:ext cx="8015583" cy="752385"/>
          </a:xfrm>
        </p:spPr>
        <p:txBody>
          <a:bodyPr/>
          <a:lstStyle/>
          <a:p>
            <a:pPr>
              <a:lnSpc>
                <a:spcPct val="150000"/>
              </a:lnSpc>
            </a:pPr>
            <a:r>
              <a:rPr lang="en-US" altLang="zh-CN" dirty="0">
                <a:latin typeface="+mn-ea"/>
              </a:rPr>
              <a:t>PCA</a:t>
            </a:r>
            <a:r>
              <a:rPr lang="zh-CN" altLang="en-US" dirty="0">
                <a:latin typeface="+mn-ea"/>
              </a:rPr>
              <a:t>算法的流程图</a:t>
            </a:r>
            <a:endParaRPr lang="zh-CN" altLang="zh-CN" dirty="0">
              <a:latin typeface="+mn-ea"/>
            </a:endParaRPr>
          </a:p>
        </p:txBody>
      </p:sp>
      <p:sp>
        <p:nvSpPr>
          <p:cNvPr id="4" name="矩形 3"/>
          <p:cNvSpPr/>
          <p:nvPr/>
        </p:nvSpPr>
        <p:spPr>
          <a:xfrm>
            <a:off x="496083" y="2825351"/>
            <a:ext cx="393404" cy="7761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开</a:t>
            </a:r>
            <a:endParaRPr lang="en-US" altLang="zh-CN" sz="2000" b="1" dirty="0" smtClean="0">
              <a:solidFill>
                <a:schemeClr val="tx1"/>
              </a:solidFill>
            </a:endParaRPr>
          </a:p>
          <a:p>
            <a:pPr algn="ctr"/>
            <a:r>
              <a:rPr lang="zh-CN" altLang="en-US" sz="2000" b="1" dirty="0" smtClean="0">
                <a:solidFill>
                  <a:schemeClr val="tx1"/>
                </a:solidFill>
              </a:rPr>
              <a:t>始</a:t>
            </a:r>
            <a:endParaRPr lang="zh-CN" altLang="en-US" sz="2000" b="1" dirty="0">
              <a:solidFill>
                <a:schemeClr val="tx1"/>
              </a:solidFill>
            </a:endParaRPr>
          </a:p>
        </p:txBody>
      </p:sp>
      <p:sp>
        <p:nvSpPr>
          <p:cNvPr id="5" name="矩形 4"/>
          <p:cNvSpPr/>
          <p:nvPr/>
        </p:nvSpPr>
        <p:spPr>
          <a:xfrm>
            <a:off x="1208463" y="2229928"/>
            <a:ext cx="555026" cy="19670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读</a:t>
            </a:r>
            <a:endParaRPr lang="en-US" altLang="zh-CN" sz="2000" b="1" dirty="0" smtClean="0">
              <a:solidFill>
                <a:schemeClr val="tx1"/>
              </a:solidFill>
            </a:endParaRPr>
          </a:p>
          <a:p>
            <a:pPr algn="ctr"/>
            <a:r>
              <a:rPr lang="zh-CN" altLang="en-US" sz="2000" b="1" dirty="0" smtClean="0">
                <a:solidFill>
                  <a:schemeClr val="tx1"/>
                </a:solidFill>
              </a:rPr>
              <a:t>入</a:t>
            </a:r>
            <a:endParaRPr lang="en-US" altLang="zh-CN" sz="2000" b="1" dirty="0" smtClean="0">
              <a:solidFill>
                <a:schemeClr val="tx1"/>
              </a:solidFill>
            </a:endParaRPr>
          </a:p>
          <a:p>
            <a:pPr algn="ctr"/>
            <a:r>
              <a:rPr lang="zh-CN" altLang="en-US" sz="2000" b="1" dirty="0" smtClean="0">
                <a:solidFill>
                  <a:schemeClr val="tx1"/>
                </a:solidFill>
              </a:rPr>
              <a:t>数</a:t>
            </a:r>
            <a:endParaRPr lang="en-US" altLang="zh-CN" sz="2000" b="1" dirty="0" smtClean="0">
              <a:solidFill>
                <a:schemeClr val="tx1"/>
              </a:solidFill>
            </a:endParaRPr>
          </a:p>
          <a:p>
            <a:pPr algn="ctr"/>
            <a:r>
              <a:rPr lang="zh-CN" altLang="en-US" sz="2000" b="1" dirty="0" smtClean="0">
                <a:solidFill>
                  <a:schemeClr val="tx1"/>
                </a:solidFill>
              </a:rPr>
              <a:t>据</a:t>
            </a:r>
            <a:endParaRPr lang="en-US" altLang="zh-CN" sz="2000" b="1" dirty="0" smtClean="0">
              <a:solidFill>
                <a:schemeClr val="tx1"/>
              </a:solidFill>
            </a:endParaRPr>
          </a:p>
          <a:p>
            <a:pPr algn="ctr"/>
            <a:r>
              <a:rPr lang="zh-CN" altLang="en-US" sz="2000" b="1" dirty="0" smtClean="0">
                <a:solidFill>
                  <a:schemeClr val="tx1"/>
                </a:solidFill>
              </a:rPr>
              <a:t>矩</a:t>
            </a:r>
            <a:endParaRPr lang="en-US" altLang="zh-CN" sz="2000" b="1" dirty="0" smtClean="0">
              <a:solidFill>
                <a:schemeClr val="tx1"/>
              </a:solidFill>
            </a:endParaRPr>
          </a:p>
          <a:p>
            <a:pPr algn="ctr"/>
            <a:r>
              <a:rPr lang="zh-CN" altLang="en-US" sz="2000" b="1" dirty="0" smtClean="0">
                <a:solidFill>
                  <a:schemeClr val="tx1"/>
                </a:solidFill>
              </a:rPr>
              <a:t>阵</a:t>
            </a:r>
            <a:endParaRPr lang="zh-CN" altLang="en-US" sz="2000" b="1" dirty="0">
              <a:solidFill>
                <a:schemeClr val="tx1"/>
              </a:solidFill>
            </a:endParaRPr>
          </a:p>
        </p:txBody>
      </p:sp>
      <p:cxnSp>
        <p:nvCxnSpPr>
          <p:cNvPr id="7" name="直接箭头连接符 6"/>
          <p:cNvCxnSpPr>
            <a:stCxn id="4" idx="3"/>
            <a:endCxn id="5" idx="1"/>
          </p:cNvCxnSpPr>
          <p:nvPr/>
        </p:nvCxnSpPr>
        <p:spPr>
          <a:xfrm>
            <a:off x="889487" y="3213440"/>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763489" y="3213439"/>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065434" y="2229928"/>
            <a:ext cx="555026" cy="19670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去除平均值</a:t>
            </a:r>
            <a:endParaRPr lang="zh-CN" altLang="en-US" sz="2000" b="1" dirty="0">
              <a:solidFill>
                <a:schemeClr val="tx1"/>
              </a:solidFill>
            </a:endParaRPr>
          </a:p>
        </p:txBody>
      </p:sp>
      <p:sp>
        <p:nvSpPr>
          <p:cNvPr id="11" name="矩形 10"/>
          <p:cNvSpPr/>
          <p:nvPr/>
        </p:nvSpPr>
        <p:spPr>
          <a:xfrm>
            <a:off x="2963501" y="2002600"/>
            <a:ext cx="555026" cy="2413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计算协方差矩阵</a:t>
            </a:r>
            <a:endParaRPr lang="zh-CN" altLang="en-US" sz="2000" b="1" dirty="0">
              <a:solidFill>
                <a:schemeClr val="tx1"/>
              </a:solidFill>
            </a:endParaRPr>
          </a:p>
        </p:txBody>
      </p:sp>
      <p:sp>
        <p:nvSpPr>
          <p:cNvPr id="12" name="矩形 11"/>
          <p:cNvSpPr/>
          <p:nvPr/>
        </p:nvSpPr>
        <p:spPr>
          <a:xfrm>
            <a:off x="3861568" y="1800582"/>
            <a:ext cx="555026" cy="28707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求特征值与特征向量</a:t>
            </a:r>
            <a:endParaRPr lang="zh-CN" altLang="en-US" sz="2000" b="1" dirty="0">
              <a:solidFill>
                <a:schemeClr val="tx1"/>
              </a:solidFill>
            </a:endParaRPr>
          </a:p>
        </p:txBody>
      </p:sp>
      <p:sp>
        <p:nvSpPr>
          <p:cNvPr id="13" name="矩形 12"/>
          <p:cNvSpPr/>
          <p:nvPr/>
        </p:nvSpPr>
        <p:spPr>
          <a:xfrm>
            <a:off x="4714648" y="1800582"/>
            <a:ext cx="555026" cy="28707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特征值排序</a:t>
            </a:r>
            <a:endParaRPr lang="zh-CN" altLang="en-US" sz="2000" b="1" dirty="0">
              <a:solidFill>
                <a:schemeClr val="tx1"/>
              </a:solidFill>
            </a:endParaRPr>
          </a:p>
        </p:txBody>
      </p:sp>
      <p:sp>
        <p:nvSpPr>
          <p:cNvPr id="14" name="矩形 13"/>
          <p:cNvSpPr/>
          <p:nvPr/>
        </p:nvSpPr>
        <p:spPr>
          <a:xfrm>
            <a:off x="5588650" y="1379572"/>
            <a:ext cx="555026" cy="3608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保留由大到小</a:t>
            </a:r>
            <a:r>
              <a:rPr lang="en-US" altLang="zh-CN" sz="2000" b="1" dirty="0" smtClean="0">
                <a:solidFill>
                  <a:schemeClr val="tx1"/>
                </a:solidFill>
              </a:rPr>
              <a:t>N</a:t>
            </a:r>
            <a:r>
              <a:rPr lang="zh-CN" altLang="en-US" sz="2000" b="1" dirty="0" smtClean="0">
                <a:solidFill>
                  <a:schemeClr val="tx1"/>
                </a:solidFill>
              </a:rPr>
              <a:t>个特征向量</a:t>
            </a:r>
            <a:endParaRPr lang="zh-CN" altLang="en-US" sz="2000" b="1" dirty="0">
              <a:solidFill>
                <a:schemeClr val="tx1"/>
              </a:solidFill>
            </a:endParaRPr>
          </a:p>
        </p:txBody>
      </p:sp>
      <p:sp>
        <p:nvSpPr>
          <p:cNvPr id="15" name="矩形 14"/>
          <p:cNvSpPr/>
          <p:nvPr/>
        </p:nvSpPr>
        <p:spPr>
          <a:xfrm>
            <a:off x="6455996" y="1379572"/>
            <a:ext cx="555026" cy="3608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计算降维后的数据矩阵</a:t>
            </a:r>
            <a:endParaRPr lang="zh-CN" altLang="en-US" sz="2000" b="1" dirty="0">
              <a:solidFill>
                <a:schemeClr val="tx1"/>
              </a:solidFill>
            </a:endParaRPr>
          </a:p>
        </p:txBody>
      </p:sp>
      <p:cxnSp>
        <p:nvCxnSpPr>
          <p:cNvPr id="16" name="直接箭头连接符 15"/>
          <p:cNvCxnSpPr/>
          <p:nvPr/>
        </p:nvCxnSpPr>
        <p:spPr>
          <a:xfrm>
            <a:off x="2620460" y="3183812"/>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3518527" y="3213439"/>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4416594" y="3213439"/>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5269674" y="3219502"/>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6143676" y="3209395"/>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7011022" y="3183811"/>
            <a:ext cx="318976"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7315732" y="2795722"/>
            <a:ext cx="393404" cy="7761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rPr>
              <a:t>结束</a:t>
            </a:r>
            <a:endParaRPr lang="zh-CN" altLang="en-US" sz="2000" b="1" dirty="0">
              <a:solidFill>
                <a:schemeClr val="tx1"/>
              </a:solidFill>
            </a:endParaRPr>
          </a:p>
        </p:txBody>
      </p:sp>
      <p:sp>
        <p:nvSpPr>
          <p:cNvPr id="3" name="矩形 2"/>
          <p:cNvSpPr/>
          <p:nvPr/>
        </p:nvSpPr>
        <p:spPr>
          <a:xfrm>
            <a:off x="7512434" y="2212332"/>
            <a:ext cx="3762569" cy="369332"/>
          </a:xfrm>
          <a:prstGeom prst="rect">
            <a:avLst/>
          </a:prstGeom>
        </p:spPr>
        <p:txBody>
          <a:bodyPr wrap="none">
            <a:spAutoFit/>
          </a:bodyPr>
          <a:lstStyle/>
          <a:p>
            <a:pPr algn="ctr"/>
            <a:r>
              <a:rPr lang="zh-CN" altLang="en-US" b="1" dirty="0" smtClean="0"/>
              <a:t>（</a:t>
            </a:r>
            <a:r>
              <a:rPr lang="en-US" altLang="zh-CN" b="1" dirty="0" smtClean="0"/>
              <a:t>2</a:t>
            </a:r>
            <a:r>
              <a:rPr lang="zh-CN" altLang="en-US" b="1" dirty="0" smtClean="0"/>
              <a:t>）找坐标系（方差最大的方向）</a:t>
            </a:r>
            <a:endParaRPr lang="zh-CN" altLang="en-US" b="1" dirty="0"/>
          </a:p>
        </p:txBody>
      </p:sp>
      <p:sp>
        <p:nvSpPr>
          <p:cNvPr id="23" name="矩形 22"/>
          <p:cNvSpPr/>
          <p:nvPr/>
        </p:nvSpPr>
        <p:spPr>
          <a:xfrm>
            <a:off x="7482398" y="1628942"/>
            <a:ext cx="4685898" cy="369332"/>
          </a:xfrm>
          <a:prstGeom prst="rect">
            <a:avLst/>
          </a:prstGeom>
        </p:spPr>
        <p:txBody>
          <a:bodyPr wrap="none">
            <a:spAutoFit/>
          </a:bodyPr>
          <a:lstStyle/>
          <a:p>
            <a:pPr algn="ctr"/>
            <a:r>
              <a:rPr lang="zh-CN" altLang="en-US" b="1" dirty="0" smtClean="0"/>
              <a:t>（</a:t>
            </a:r>
            <a:r>
              <a:rPr lang="en-US" altLang="zh-CN" b="1" dirty="0" smtClean="0"/>
              <a:t>1</a:t>
            </a:r>
            <a:r>
              <a:rPr lang="zh-CN" altLang="en-US" b="1" dirty="0" smtClean="0"/>
              <a:t>）去中心化（把坐标原点放在数据中心）</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主成分分析（</a:t>
            </a:r>
            <a:r>
              <a:rPr lang="en-US" altLang="zh-CN">
                <a:sym typeface="+mn-ea"/>
              </a:rPr>
              <a:t>PCA</a:t>
            </a:r>
            <a:r>
              <a:rPr lang="zh-CN" altLang="en-US">
                <a:sym typeface="+mn-ea"/>
              </a:rPr>
              <a:t>）算法</a:t>
            </a:r>
            <a:endParaRPr lang="zh-CN" altLang="en-US">
              <a:sym typeface="+mn-ea"/>
            </a:endParaRPr>
          </a:p>
        </p:txBody>
      </p:sp>
      <p:sp>
        <p:nvSpPr>
          <p:cNvPr id="3" name="内容占位符 2"/>
          <p:cNvSpPr>
            <a:spLocks noGrp="1"/>
          </p:cNvSpPr>
          <p:nvPr>
            <p:ph idx="1"/>
          </p:nvPr>
        </p:nvSpPr>
        <p:spPr/>
        <p:txBody>
          <a:bodyPr/>
          <a:lstStyle/>
          <a:p>
            <a:pPr>
              <a:lnSpc>
                <a:spcPct val="150000"/>
              </a:lnSpc>
            </a:pPr>
            <a:r>
              <a:rPr lang="zh-CN" altLang="en-US" sz="2400" dirty="0"/>
              <a:t>输入：样本集合                          ，其中                                 ；</a:t>
            </a:r>
            <a:r>
              <a:rPr lang="en-US" altLang="zh-CN" sz="2400" i="1" dirty="0"/>
              <a:t>n</a:t>
            </a:r>
            <a:r>
              <a:rPr lang="zh-CN" altLang="en-US" sz="2400" dirty="0"/>
              <a:t>为描述每个样本的特征的个数；用于确定主成分个数的阈值</a:t>
            </a:r>
            <a:r>
              <a:rPr lang="en-US" altLang="zh-CN" sz="2400" i="1" dirty="0"/>
              <a:t>t</a:t>
            </a:r>
            <a:endParaRPr lang="en-US" altLang="zh-CN" sz="2400" i="1" dirty="0"/>
          </a:p>
          <a:p>
            <a:r>
              <a:rPr lang="zh-CN" altLang="en-US" sz="2400" dirty="0"/>
              <a:t>输出：样本集合的</a:t>
            </a:r>
            <a:r>
              <a:rPr lang="en-US" altLang="zh-CN" sz="2400" i="1" dirty="0" smtClean="0">
                <a:solidFill>
                  <a:schemeClr val="tx1"/>
                </a:solidFill>
              </a:rPr>
              <a:t>k </a:t>
            </a:r>
            <a:r>
              <a:rPr lang="zh-CN" altLang="en-US" sz="2400" dirty="0" smtClean="0"/>
              <a:t>个</a:t>
            </a:r>
            <a:r>
              <a:rPr lang="zh-CN" altLang="en-US" sz="2400" dirty="0"/>
              <a:t>主成分表示</a:t>
            </a:r>
            <a:endParaRPr lang="zh-CN" altLang="en-US" sz="2400" dirty="0"/>
          </a:p>
        </p:txBody>
      </p:sp>
      <p:graphicFrame>
        <p:nvGraphicFramePr>
          <p:cNvPr id="4" name="对象 -2147482527"/>
          <p:cNvGraphicFramePr>
            <a:graphicFrameLocks noChangeAspect="1"/>
          </p:cNvGraphicFramePr>
          <p:nvPr/>
        </p:nvGraphicFramePr>
        <p:xfrm>
          <a:off x="3303514" y="1929765"/>
          <a:ext cx="2118360" cy="474345"/>
        </p:xfrm>
        <a:graphic>
          <a:graphicData uri="http://schemas.openxmlformats.org/presentationml/2006/ole">
            <mc:AlternateContent xmlns:mc="http://schemas.openxmlformats.org/markup-compatibility/2006">
              <mc:Choice xmlns:v="urn:schemas-microsoft-com:vml" Requires="v">
                <p:oleObj spid="_x0000_s4128" name="" r:id="rId1" imgW="1155700" imgH="254000" progId="Equation.DSMT4">
                  <p:embed/>
                </p:oleObj>
              </mc:Choice>
              <mc:Fallback>
                <p:oleObj name="" r:id="rId1" imgW="1155700" imgH="254000" progId="Equation.DSMT4">
                  <p:embed/>
                  <p:pic>
                    <p:nvPicPr>
                      <p:cNvPr id="0" name="对象 -2147482527"/>
                      <p:cNvPicPr/>
                      <p:nvPr/>
                    </p:nvPicPr>
                    <p:blipFill>
                      <a:blip r:embed="rId2"/>
                      <a:stretch>
                        <a:fillRect/>
                      </a:stretch>
                    </p:blipFill>
                    <p:spPr>
                      <a:xfrm>
                        <a:off x="3303514" y="1929765"/>
                        <a:ext cx="2118360" cy="474345"/>
                      </a:xfrm>
                      <a:prstGeom prst="rect">
                        <a:avLst/>
                      </a:prstGeom>
                      <a:noFill/>
                      <a:ln w="38100">
                        <a:noFill/>
                        <a:miter/>
                      </a:ln>
                    </p:spPr>
                  </p:pic>
                </p:oleObj>
              </mc:Fallback>
            </mc:AlternateContent>
          </a:graphicData>
        </a:graphic>
      </p:graphicFrame>
      <p:graphicFrame>
        <p:nvGraphicFramePr>
          <p:cNvPr id="6" name="对象 -2147482372"/>
          <p:cNvGraphicFramePr>
            <a:graphicFrameLocks noChangeAspect="1"/>
          </p:cNvGraphicFramePr>
          <p:nvPr/>
        </p:nvGraphicFramePr>
        <p:xfrm>
          <a:off x="6471823" y="1929765"/>
          <a:ext cx="2599690" cy="471170"/>
        </p:xfrm>
        <a:graphic>
          <a:graphicData uri="http://schemas.openxmlformats.org/presentationml/2006/ole">
            <mc:AlternateContent xmlns:mc="http://schemas.openxmlformats.org/markup-compatibility/2006">
              <mc:Choice xmlns:v="urn:schemas-microsoft-com:vml" Requires="v">
                <p:oleObj spid="_x0000_s4129" name="" r:id="rId3" imgW="1206500" imgH="228600" progId="Equation.DSMT4">
                  <p:embed/>
                </p:oleObj>
              </mc:Choice>
              <mc:Fallback>
                <p:oleObj name="" r:id="rId3" imgW="1206500" imgH="228600" progId="Equation.DSMT4">
                  <p:embed/>
                  <p:pic>
                    <p:nvPicPr>
                      <p:cNvPr id="0" name="对象 -2147482372"/>
                      <p:cNvPicPr/>
                      <p:nvPr/>
                    </p:nvPicPr>
                    <p:blipFill>
                      <a:blip r:embed="rId4"/>
                      <a:stretch>
                        <a:fillRect/>
                      </a:stretch>
                    </p:blipFill>
                    <p:spPr>
                      <a:xfrm>
                        <a:off x="6471823" y="1929765"/>
                        <a:ext cx="2599690" cy="471170"/>
                      </a:xfrm>
                      <a:prstGeom prst="rect">
                        <a:avLst/>
                      </a:prstGeom>
                      <a:noFill/>
                      <a:ln w="38100">
                        <a:noFill/>
                        <a:miter/>
                      </a:ln>
                    </p:spPr>
                  </p:pic>
                </p:oleObj>
              </mc:Fallback>
            </mc:AlternateContent>
          </a:graphicData>
        </a:graphic>
      </p:graphicFrame>
      <p:pic>
        <p:nvPicPr>
          <p:cNvPr id="8" name="图片 7"/>
          <p:cNvPicPr>
            <a:picLocks noChangeAspect="1"/>
          </p:cNvPicPr>
          <p:nvPr/>
        </p:nvPicPr>
        <p:blipFill>
          <a:blip r:embed="rId5"/>
          <a:stretch>
            <a:fillRect/>
          </a:stretch>
        </p:blipFill>
        <p:spPr>
          <a:xfrm>
            <a:off x="1099575" y="3671302"/>
            <a:ext cx="8816975" cy="244411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主成分分析（</a:t>
            </a:r>
            <a:r>
              <a:rPr lang="en-US" altLang="zh-CN">
                <a:sym typeface="+mn-ea"/>
              </a:rPr>
              <a:t>PCA</a:t>
            </a:r>
            <a:r>
              <a:rPr lang="zh-CN" altLang="en-US">
                <a:sym typeface="+mn-ea"/>
              </a:rPr>
              <a:t>）算法</a:t>
            </a:r>
            <a:endParaRPr lang="zh-CN" altLang="en-US"/>
          </a:p>
        </p:txBody>
      </p:sp>
      <p:pic>
        <p:nvPicPr>
          <p:cNvPr id="4" name="内容占位符 3"/>
          <p:cNvPicPr>
            <a:picLocks noGrp="1" noChangeAspect="1"/>
          </p:cNvPicPr>
          <p:nvPr>
            <p:ph idx="1"/>
          </p:nvPr>
        </p:nvPicPr>
        <p:blipFill>
          <a:blip r:embed="rId1"/>
          <a:stretch>
            <a:fillRect/>
          </a:stretch>
        </p:blipFill>
        <p:spPr>
          <a:xfrm>
            <a:off x="1061085" y="1590675"/>
            <a:ext cx="9014460" cy="425259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主成分分析（</a:t>
            </a:r>
            <a:r>
              <a:rPr lang="en-US" altLang="zh-CN">
                <a:sym typeface="+mn-ea"/>
              </a:rPr>
              <a:t>PCA</a:t>
            </a:r>
            <a:r>
              <a:rPr lang="zh-CN" altLang="en-US">
                <a:sym typeface="+mn-ea"/>
              </a:rPr>
              <a:t>）算法</a:t>
            </a:r>
            <a:endParaRPr lang="zh-CN" altLang="en-US"/>
          </a:p>
        </p:txBody>
      </p:sp>
      <p:pic>
        <p:nvPicPr>
          <p:cNvPr id="4" name="内容占位符 3"/>
          <p:cNvPicPr>
            <a:picLocks noGrp="1" noChangeAspect="1"/>
          </p:cNvPicPr>
          <p:nvPr>
            <p:ph idx="1"/>
          </p:nvPr>
        </p:nvPicPr>
        <p:blipFill>
          <a:blip r:embed="rId1"/>
          <a:stretch>
            <a:fillRect/>
          </a:stretch>
        </p:blipFill>
        <p:spPr>
          <a:xfrm>
            <a:off x="504825" y="1946275"/>
            <a:ext cx="10826115" cy="1229360"/>
          </a:xfrm>
          <a:prstGeom prst="rect">
            <a:avLst/>
          </a:prstGeom>
        </p:spPr>
      </p:pic>
      <p:pic>
        <p:nvPicPr>
          <p:cNvPr id="5" name="图片 4"/>
          <p:cNvPicPr>
            <a:picLocks noChangeAspect="1"/>
          </p:cNvPicPr>
          <p:nvPr/>
        </p:nvPicPr>
        <p:blipFill>
          <a:blip r:embed="rId2"/>
          <a:stretch>
            <a:fillRect/>
          </a:stretch>
        </p:blipFill>
        <p:spPr>
          <a:xfrm>
            <a:off x="588645" y="3250565"/>
            <a:ext cx="8911590" cy="3205480"/>
          </a:xfrm>
          <a:prstGeom prst="rect">
            <a:avLst/>
          </a:prstGeom>
        </p:spPr>
      </p:pic>
      <p:sp>
        <p:nvSpPr>
          <p:cNvPr id="3" name="椭圆 2"/>
          <p:cNvSpPr/>
          <p:nvPr/>
        </p:nvSpPr>
        <p:spPr>
          <a:xfrm>
            <a:off x="3059723" y="3314700"/>
            <a:ext cx="1239715" cy="395654"/>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方差贡献率</a:t>
            </a:r>
            <a:endParaRPr lang="zh-CN" altLang="en-US" sz="3600" b="1" dirty="0"/>
          </a:p>
        </p:txBody>
      </p:sp>
      <p:sp>
        <p:nvSpPr>
          <p:cNvPr id="3" name="内容占位符 2"/>
          <p:cNvSpPr>
            <a:spLocks noGrp="1"/>
          </p:cNvSpPr>
          <p:nvPr>
            <p:ph idx="1"/>
          </p:nvPr>
        </p:nvSpPr>
        <p:spPr/>
        <p:txBody>
          <a:bodyPr/>
          <a:lstStyle/>
          <a:p>
            <a:r>
              <a:rPr lang="zh-CN" altLang="en-US" sz="2400" dirty="0"/>
              <a:t>方差</a:t>
            </a:r>
            <a:r>
              <a:rPr lang="zh-CN" altLang="en-US" sz="2400" dirty="0" smtClean="0"/>
              <a:t>贡献率：具体</a:t>
            </a:r>
            <a:r>
              <a:rPr lang="zh-CN" altLang="en-US" sz="2400" dirty="0"/>
              <a:t>量化保留几个主成分往往根据实际情况通过计算累计方差贡献率来决定</a:t>
            </a:r>
            <a:r>
              <a:rPr lang="zh-CN" altLang="en-US" sz="2400" dirty="0" smtClean="0"/>
              <a:t>。</a:t>
            </a:r>
            <a:endParaRPr lang="zh-CN" altLang="en-US" sz="2400" dirty="0"/>
          </a:p>
          <a:p>
            <a:r>
              <a:rPr lang="zh-CN" altLang="en-US" sz="2400" dirty="0"/>
              <a:t>方差的方差贡献率又称为解释方差（explained variance），定义为</a:t>
            </a:r>
            <a:endParaRPr lang="zh-CN" altLang="en-US" sz="2400" dirty="0"/>
          </a:p>
        </p:txBody>
      </p:sp>
      <p:graphicFrame>
        <p:nvGraphicFramePr>
          <p:cNvPr id="4" name="对象 -2147482560"/>
          <p:cNvGraphicFramePr>
            <a:graphicFrameLocks noChangeAspect="1"/>
          </p:cNvGraphicFramePr>
          <p:nvPr/>
        </p:nvGraphicFramePr>
        <p:xfrm>
          <a:off x="3728281" y="3171630"/>
          <a:ext cx="1429385" cy="1429385"/>
        </p:xfrm>
        <a:graphic>
          <a:graphicData uri="http://schemas.openxmlformats.org/presentationml/2006/ole">
            <mc:AlternateContent xmlns:mc="http://schemas.openxmlformats.org/markup-compatibility/2006">
              <mc:Choice xmlns:v="urn:schemas-microsoft-com:vml" Requires="v">
                <p:oleObj spid="_x0000_s5136" name="" r:id="rId1" imgW="635000" imgH="635000" progId="Equation.DSMT4">
                  <p:embed/>
                </p:oleObj>
              </mc:Choice>
              <mc:Fallback>
                <p:oleObj name="" r:id="rId1" imgW="635000" imgH="635000" progId="Equation.DSMT4">
                  <p:embed/>
                  <p:pic>
                    <p:nvPicPr>
                      <p:cNvPr id="0" name="对象 -2147482560"/>
                      <p:cNvPicPr/>
                      <p:nvPr/>
                    </p:nvPicPr>
                    <p:blipFill>
                      <a:blip r:embed="rId2"/>
                      <a:stretch>
                        <a:fillRect/>
                      </a:stretch>
                    </p:blipFill>
                    <p:spPr>
                      <a:xfrm>
                        <a:off x="3728281" y="3171630"/>
                        <a:ext cx="1429385" cy="14293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0000" lnSpcReduction="10000"/>
          </a:bodyPr>
          <a:lstStyle/>
          <a:p>
            <a:r>
              <a:rPr lang="zh-CN" altLang="en-US" sz="2400" dirty="0"/>
              <a:t>则累计方差贡献率为</a:t>
            </a:r>
            <a:endParaRPr lang="zh-CN" altLang="en-US" sz="2400" dirty="0"/>
          </a:p>
          <a:p>
            <a:endParaRPr lang="zh-CN" altLang="en-US" dirty="0"/>
          </a:p>
          <a:p>
            <a:endParaRPr lang="zh-CN" altLang="en-US" dirty="0"/>
          </a:p>
          <a:p>
            <a:r>
              <a:rPr lang="zh-CN" altLang="en-US" sz="2400" dirty="0"/>
              <a:t>为累计方差贡献率设定一个阈值，一般选择</a:t>
            </a:r>
            <a:r>
              <a:rPr lang="en-US" altLang="zh-CN" sz="2400" dirty="0"/>
              <a:t>80%</a:t>
            </a:r>
            <a:r>
              <a:rPr lang="zh-CN" altLang="en-US" sz="2400" dirty="0"/>
              <a:t>左右，则要保留的主成分的个数为</a:t>
            </a:r>
            <a:endParaRPr lang="zh-CN" altLang="en-US" sz="2400" dirty="0"/>
          </a:p>
          <a:p>
            <a:endParaRPr lang="zh-CN" altLang="en-US" dirty="0"/>
          </a:p>
          <a:p>
            <a:endParaRPr lang="zh-CN" altLang="en-US" dirty="0"/>
          </a:p>
          <a:p>
            <a:endParaRPr lang="zh-CN" altLang="en-US" sz="2400" dirty="0"/>
          </a:p>
          <a:p>
            <a:pPr fontAlgn="auto">
              <a:lnSpc>
                <a:spcPct val="120000"/>
              </a:lnSpc>
            </a:pPr>
            <a:r>
              <a:rPr lang="zh-CN" altLang="en-US" sz="2400" dirty="0"/>
              <a:t>这样就可以将正交矩阵压缩为                                 ，原始的数据用一个</a:t>
            </a:r>
            <a:r>
              <a:rPr lang="en-US" altLang="zh-CN" sz="2400" dirty="0"/>
              <a:t>n</a:t>
            </a:r>
            <a:r>
              <a:rPr lang="zh-CN" altLang="en-US" sz="2400" dirty="0"/>
              <a:t>维的向量    进行表示，在经过正交变换后，新的数据               用一个</a:t>
            </a:r>
            <a:r>
              <a:rPr lang="en-US" altLang="zh-CN" sz="2400" dirty="0"/>
              <a:t>k*</a:t>
            </a:r>
            <a:r>
              <a:rPr lang="zh-CN" altLang="en-US" sz="2400" dirty="0"/>
              <a:t>维的向量表示，达到降维的目的。</a:t>
            </a:r>
            <a:endParaRPr lang="zh-CN" altLang="en-US" sz="2400" dirty="0"/>
          </a:p>
        </p:txBody>
      </p:sp>
      <p:graphicFrame>
        <p:nvGraphicFramePr>
          <p:cNvPr id="6" name="对象 -2147482552"/>
          <p:cNvGraphicFramePr>
            <a:graphicFrameLocks noChangeAspect="1"/>
          </p:cNvGraphicFramePr>
          <p:nvPr/>
        </p:nvGraphicFramePr>
        <p:xfrm>
          <a:off x="4867593" y="4745673"/>
          <a:ext cx="2275840" cy="464820"/>
        </p:xfrm>
        <a:graphic>
          <a:graphicData uri="http://schemas.openxmlformats.org/presentationml/2006/ole">
            <mc:AlternateContent xmlns:mc="http://schemas.openxmlformats.org/markup-compatibility/2006">
              <mc:Choice xmlns:v="urn:schemas-microsoft-com:vml" Requires="v">
                <p:oleObj spid="_x0000_s6216" name="" r:id="rId1" imgW="1345565" imgH="266700" progId="Equation.DSMT4">
                  <p:embed/>
                </p:oleObj>
              </mc:Choice>
              <mc:Fallback>
                <p:oleObj name="" r:id="rId1" imgW="1345565" imgH="266700" progId="Equation.DSMT4">
                  <p:embed/>
                  <p:pic>
                    <p:nvPicPr>
                      <p:cNvPr id="0" name="对象 -2147482552"/>
                      <p:cNvPicPr/>
                      <p:nvPr/>
                    </p:nvPicPr>
                    <p:blipFill>
                      <a:blip r:embed="rId2"/>
                      <a:stretch>
                        <a:fillRect/>
                      </a:stretch>
                    </p:blipFill>
                    <p:spPr>
                      <a:xfrm>
                        <a:off x="4867593" y="4745673"/>
                        <a:ext cx="2275840" cy="464820"/>
                      </a:xfrm>
                      <a:prstGeom prst="rect">
                        <a:avLst/>
                      </a:prstGeom>
                      <a:noFill/>
                      <a:ln w="38100">
                        <a:noFill/>
                        <a:miter/>
                      </a:ln>
                    </p:spPr>
                  </p:pic>
                </p:oleObj>
              </mc:Fallback>
            </mc:AlternateContent>
          </a:graphicData>
        </a:graphic>
      </p:graphicFrame>
      <p:graphicFrame>
        <p:nvGraphicFramePr>
          <p:cNvPr id="7" name="对象 -2147482550"/>
          <p:cNvGraphicFramePr>
            <a:graphicFrameLocks noChangeAspect="1"/>
          </p:cNvGraphicFramePr>
          <p:nvPr/>
        </p:nvGraphicFramePr>
        <p:xfrm>
          <a:off x="11094352" y="4745673"/>
          <a:ext cx="262379" cy="403542"/>
        </p:xfrm>
        <a:graphic>
          <a:graphicData uri="http://schemas.openxmlformats.org/presentationml/2006/ole">
            <mc:AlternateContent xmlns:mc="http://schemas.openxmlformats.org/markup-compatibility/2006">
              <mc:Choice xmlns:v="urn:schemas-microsoft-com:vml" Requires="v">
                <p:oleObj spid="_x0000_s6217" name="" r:id="rId3" imgW="127000" imgH="177165" progId="Equation.DSMT4">
                  <p:embed/>
                </p:oleObj>
              </mc:Choice>
              <mc:Fallback>
                <p:oleObj name="" r:id="rId3" imgW="127000" imgH="177165" progId="Equation.DSMT4">
                  <p:embed/>
                  <p:pic>
                    <p:nvPicPr>
                      <p:cNvPr id="0" name="对象 -2147482550"/>
                      <p:cNvPicPr/>
                      <p:nvPr/>
                    </p:nvPicPr>
                    <p:blipFill>
                      <a:blip r:embed="rId4"/>
                      <a:stretch>
                        <a:fillRect/>
                      </a:stretch>
                    </p:blipFill>
                    <p:spPr>
                      <a:xfrm>
                        <a:off x="11094352" y="4745673"/>
                        <a:ext cx="262379" cy="403542"/>
                      </a:xfrm>
                      <a:prstGeom prst="rect">
                        <a:avLst/>
                      </a:prstGeom>
                      <a:noFill/>
                      <a:ln w="38100">
                        <a:noFill/>
                        <a:miter/>
                      </a:ln>
                    </p:spPr>
                  </p:pic>
                </p:oleObj>
              </mc:Fallback>
            </mc:AlternateContent>
          </a:graphicData>
        </a:graphic>
      </p:graphicFrame>
      <p:graphicFrame>
        <p:nvGraphicFramePr>
          <p:cNvPr id="9" name="对象 -2147482549"/>
          <p:cNvGraphicFramePr>
            <a:graphicFrameLocks noChangeAspect="1"/>
          </p:cNvGraphicFramePr>
          <p:nvPr/>
        </p:nvGraphicFramePr>
        <p:xfrm>
          <a:off x="6236335" y="5113020"/>
          <a:ext cx="1089660" cy="464820"/>
        </p:xfrm>
        <a:graphic>
          <a:graphicData uri="http://schemas.openxmlformats.org/presentationml/2006/ole">
            <mc:AlternateContent xmlns:mc="http://schemas.openxmlformats.org/markup-compatibility/2006">
              <mc:Choice xmlns:v="urn:schemas-microsoft-com:vml" Requires="v">
                <p:oleObj spid="_x0000_s6218" name="" r:id="rId5" imgW="660400" imgH="279400" progId="Equation.DSMT4">
                  <p:embed/>
                </p:oleObj>
              </mc:Choice>
              <mc:Fallback>
                <p:oleObj name="" r:id="rId5" imgW="660400" imgH="279400" progId="Equation.DSMT4">
                  <p:embed/>
                  <p:pic>
                    <p:nvPicPr>
                      <p:cNvPr id="0" name="对象 -2147482549"/>
                      <p:cNvPicPr/>
                      <p:nvPr/>
                    </p:nvPicPr>
                    <p:blipFill>
                      <a:blip r:embed="rId6"/>
                      <a:stretch>
                        <a:fillRect/>
                      </a:stretch>
                    </p:blipFill>
                    <p:spPr>
                      <a:xfrm>
                        <a:off x="6236335" y="5113020"/>
                        <a:ext cx="1089660" cy="464820"/>
                      </a:xfrm>
                      <a:prstGeom prst="rect">
                        <a:avLst/>
                      </a:prstGeom>
                      <a:noFill/>
                      <a:ln w="38100">
                        <a:noFill/>
                        <a:miter/>
                      </a:ln>
                    </p:spPr>
                  </p:pic>
                </p:oleObj>
              </mc:Fallback>
            </mc:AlternateContent>
          </a:graphicData>
        </a:graphic>
      </p:graphicFrame>
      <p:graphicFrame>
        <p:nvGraphicFramePr>
          <p:cNvPr id="4" name="对象 -2147482558"/>
          <p:cNvGraphicFramePr>
            <a:graphicFrameLocks noChangeAspect="1"/>
          </p:cNvGraphicFramePr>
          <p:nvPr/>
        </p:nvGraphicFramePr>
        <p:xfrm>
          <a:off x="3983990" y="1691005"/>
          <a:ext cx="1143000" cy="848360"/>
        </p:xfrm>
        <a:graphic>
          <a:graphicData uri="http://schemas.openxmlformats.org/presentationml/2006/ole">
            <mc:AlternateContent xmlns:mc="http://schemas.openxmlformats.org/markup-compatibility/2006">
              <mc:Choice xmlns:v="urn:schemas-microsoft-com:vml" Requires="v">
                <p:oleObj spid="_x0000_s6219" name="" r:id="rId7" imgW="596900" imgH="431800" progId="Equation.DSMT4">
                  <p:embed/>
                </p:oleObj>
              </mc:Choice>
              <mc:Fallback>
                <p:oleObj name="" r:id="rId7" imgW="596900" imgH="431800" progId="Equation.DSMT4">
                  <p:embed/>
                  <p:pic>
                    <p:nvPicPr>
                      <p:cNvPr id="0" name="对象 -2147482558"/>
                      <p:cNvPicPr/>
                      <p:nvPr/>
                    </p:nvPicPr>
                    <p:blipFill>
                      <a:blip r:embed="rId8"/>
                      <a:stretch>
                        <a:fillRect/>
                      </a:stretch>
                    </p:blipFill>
                    <p:spPr>
                      <a:xfrm>
                        <a:off x="3983990" y="1691005"/>
                        <a:ext cx="1143000" cy="848360"/>
                      </a:xfrm>
                      <a:prstGeom prst="rect">
                        <a:avLst/>
                      </a:prstGeom>
                      <a:noFill/>
                      <a:ln w="38100">
                        <a:noFill/>
                        <a:miter/>
                      </a:ln>
                    </p:spPr>
                  </p:pic>
                </p:oleObj>
              </mc:Fallback>
            </mc:AlternateContent>
          </a:graphicData>
        </a:graphic>
      </p:graphicFrame>
      <p:graphicFrame>
        <p:nvGraphicFramePr>
          <p:cNvPr id="5" name="对象 -2147482554"/>
          <p:cNvGraphicFramePr>
            <a:graphicFrameLocks noChangeAspect="1"/>
          </p:cNvGraphicFramePr>
          <p:nvPr/>
        </p:nvGraphicFramePr>
        <p:xfrm>
          <a:off x="3869690" y="3627120"/>
          <a:ext cx="2906395" cy="748665"/>
        </p:xfrm>
        <a:graphic>
          <a:graphicData uri="http://schemas.openxmlformats.org/presentationml/2006/ole">
            <mc:AlternateContent xmlns:mc="http://schemas.openxmlformats.org/markup-compatibility/2006">
              <mc:Choice xmlns:v="urn:schemas-microsoft-com:vml" Requires="v">
                <p:oleObj spid="_x0000_s6220" name="" r:id="rId9" imgW="1243965" imgH="317500" progId="Equation.DSMT4">
                  <p:embed/>
                </p:oleObj>
              </mc:Choice>
              <mc:Fallback>
                <p:oleObj name="" r:id="rId9" imgW="1243965" imgH="317500" progId="Equation.DSMT4">
                  <p:embed/>
                  <p:pic>
                    <p:nvPicPr>
                      <p:cNvPr id="0" name="对象 -2147482554"/>
                      <p:cNvPicPr/>
                      <p:nvPr/>
                    </p:nvPicPr>
                    <p:blipFill>
                      <a:blip r:embed="rId10"/>
                      <a:stretch>
                        <a:fillRect/>
                      </a:stretch>
                    </p:blipFill>
                    <p:spPr>
                      <a:xfrm>
                        <a:off x="3869690" y="3627120"/>
                        <a:ext cx="2906395" cy="748665"/>
                      </a:xfrm>
                      <a:prstGeom prst="rect">
                        <a:avLst/>
                      </a:prstGeom>
                      <a:noFill/>
                      <a:ln w="38100">
                        <a:noFill/>
                        <a:miter/>
                      </a:ln>
                    </p:spPr>
                  </p:pic>
                </p:oleObj>
              </mc:Fallback>
            </mc:AlternateContent>
          </a:graphicData>
        </a:graphic>
      </p:graphicFrame>
      <p:sp>
        <p:nvSpPr>
          <p:cNvPr id="10" name="标题 1"/>
          <p:cNvSpPr>
            <a:spLocks noGrp="1"/>
          </p:cNvSpPr>
          <p:nvPr>
            <p:ph type="title"/>
          </p:nvPr>
        </p:nvSpPr>
        <p:spPr>
          <a:xfrm>
            <a:off x="838200" y="365125"/>
            <a:ext cx="10515600" cy="1325563"/>
          </a:xfrm>
        </p:spPr>
        <p:txBody>
          <a:bodyPr>
            <a:normAutofit/>
          </a:bodyPr>
          <a:lstStyle/>
          <a:p>
            <a:r>
              <a:rPr lang="zh-CN" altLang="en-US" sz="3600" b="1" dirty="0"/>
              <a:t>方差贡献率</a:t>
            </a:r>
            <a:endParaRPr lang="zh-CN" altLang="en-US" sz="3600"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算法步骤</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STEPS</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的算法步骤</a:t>
            </a:r>
            <a:endParaRPr lang="zh-CN" altLang="en-US" dirty="0"/>
          </a:p>
        </p:txBody>
      </p:sp>
      <p:sp>
        <p:nvSpPr>
          <p:cNvPr id="3" name="文本框 2"/>
          <p:cNvSpPr txBox="1"/>
          <p:nvPr/>
        </p:nvSpPr>
        <p:spPr>
          <a:xfrm>
            <a:off x="1006883" y="1020478"/>
            <a:ext cx="10378955" cy="5262979"/>
          </a:xfrm>
          <a:prstGeom prst="rect">
            <a:avLst/>
          </a:prstGeom>
          <a:noFill/>
        </p:spPr>
        <p:txBody>
          <a:bodyPr wrap="square" rtlCol="0">
            <a:spAutoFit/>
          </a:bodyPr>
          <a:lstStyle/>
          <a:p>
            <a:pPr>
              <a:lnSpc>
                <a:spcPct val="150000"/>
              </a:lnSpc>
            </a:pPr>
            <a:r>
              <a:rPr lang="zh-CN" altLang="en-US" sz="2800" dirty="0">
                <a:latin typeface="+mn-ea"/>
              </a:rPr>
              <a:t>（</a:t>
            </a:r>
            <a:r>
              <a:rPr lang="en-US" altLang="zh-CN" sz="2800" dirty="0">
                <a:latin typeface="+mn-ea"/>
              </a:rPr>
              <a:t>1</a:t>
            </a:r>
            <a:r>
              <a:rPr lang="zh-CN" altLang="en-US" sz="2800" dirty="0">
                <a:latin typeface="+mn-ea"/>
              </a:rPr>
              <a:t>）将原始数据按列组成</a:t>
            </a:r>
            <a:r>
              <a:rPr lang="en-US" altLang="zh-CN" sz="2800" dirty="0">
                <a:latin typeface="+mn-ea"/>
              </a:rPr>
              <a:t>n</a:t>
            </a:r>
            <a:r>
              <a:rPr lang="zh-CN" altLang="en-US" sz="2800" dirty="0">
                <a:latin typeface="+mn-ea"/>
              </a:rPr>
              <a:t>行</a:t>
            </a:r>
            <a:r>
              <a:rPr lang="en-US" altLang="zh-CN" sz="2800" dirty="0">
                <a:latin typeface="+mn-ea"/>
              </a:rPr>
              <a:t>m</a:t>
            </a:r>
            <a:r>
              <a:rPr lang="zh-CN" altLang="en-US" sz="2800" dirty="0">
                <a:latin typeface="+mn-ea"/>
              </a:rPr>
              <a:t>列的矩阵</a:t>
            </a:r>
            <a:r>
              <a:rPr lang="en-US" altLang="zh-CN" sz="2800" dirty="0">
                <a:latin typeface="+mn-ea"/>
              </a:rPr>
              <a:t>X</a:t>
            </a:r>
            <a:r>
              <a:rPr lang="zh-CN" altLang="en-US" sz="2800" dirty="0">
                <a:latin typeface="+mn-ea"/>
              </a:rPr>
              <a:t>；</a:t>
            </a:r>
            <a:endParaRPr lang="zh-CN" altLang="en-US" sz="2800" dirty="0">
              <a:latin typeface="+mn-ea"/>
            </a:endParaRPr>
          </a:p>
          <a:p>
            <a:pPr>
              <a:lnSpc>
                <a:spcPct val="150000"/>
              </a:lnSpc>
            </a:pPr>
            <a:r>
              <a:rPr lang="zh-CN" altLang="en-US" sz="2800" dirty="0">
                <a:latin typeface="+mn-ea"/>
              </a:rPr>
              <a:t>（</a:t>
            </a:r>
            <a:r>
              <a:rPr lang="en-US" altLang="zh-CN" sz="2800" dirty="0">
                <a:latin typeface="+mn-ea"/>
              </a:rPr>
              <a:t>2</a:t>
            </a:r>
            <a:r>
              <a:rPr lang="zh-CN" altLang="en-US" sz="2800" dirty="0">
                <a:latin typeface="+mn-ea"/>
              </a:rPr>
              <a:t>）将</a:t>
            </a:r>
            <a:r>
              <a:rPr lang="en-US" altLang="zh-CN" sz="2800" dirty="0">
                <a:latin typeface="+mn-ea"/>
              </a:rPr>
              <a:t>X</a:t>
            </a:r>
            <a:r>
              <a:rPr lang="zh-CN" altLang="en-US" sz="2800" dirty="0">
                <a:latin typeface="+mn-ea"/>
              </a:rPr>
              <a:t>的每</a:t>
            </a:r>
            <a:r>
              <a:rPr lang="zh-CN" altLang="en-US" sz="2800" dirty="0" smtClean="0">
                <a:latin typeface="+mn-ea"/>
              </a:rPr>
              <a:t>一列（</a:t>
            </a:r>
            <a:r>
              <a:rPr lang="zh-CN" altLang="en-US" sz="2800" dirty="0">
                <a:latin typeface="+mn-ea"/>
              </a:rPr>
              <a:t>代表一个属性字段）进行零均值化，即减去这</a:t>
            </a:r>
            <a:r>
              <a:rPr lang="zh-CN" altLang="en-US" sz="2800" dirty="0" smtClean="0">
                <a:latin typeface="+mn-ea"/>
              </a:rPr>
              <a:t>一列的</a:t>
            </a:r>
            <a:r>
              <a:rPr lang="zh-CN" altLang="en-US" sz="2800" dirty="0">
                <a:latin typeface="+mn-ea"/>
              </a:rPr>
              <a:t>均值；</a:t>
            </a:r>
            <a:endParaRPr lang="zh-CN" altLang="en-US" sz="2800" dirty="0">
              <a:latin typeface="+mn-ea"/>
            </a:endParaRPr>
          </a:p>
          <a:p>
            <a:pPr>
              <a:lnSpc>
                <a:spcPct val="150000"/>
              </a:lnSpc>
            </a:pPr>
            <a:r>
              <a:rPr lang="zh-CN" altLang="en-US" sz="2800" dirty="0">
                <a:latin typeface="+mn-ea"/>
              </a:rPr>
              <a:t>（</a:t>
            </a:r>
            <a:r>
              <a:rPr lang="en-US" altLang="zh-CN" sz="2800" dirty="0">
                <a:latin typeface="+mn-ea"/>
              </a:rPr>
              <a:t>3</a:t>
            </a:r>
            <a:r>
              <a:rPr lang="zh-CN" altLang="en-US" sz="2800" dirty="0">
                <a:latin typeface="+mn-ea"/>
              </a:rPr>
              <a:t>）求出协方差矩阵；</a:t>
            </a:r>
            <a:endParaRPr lang="zh-CN" altLang="en-US" sz="2800" dirty="0">
              <a:latin typeface="+mn-ea"/>
            </a:endParaRPr>
          </a:p>
          <a:p>
            <a:pPr>
              <a:lnSpc>
                <a:spcPct val="150000"/>
              </a:lnSpc>
            </a:pPr>
            <a:r>
              <a:rPr lang="zh-CN" altLang="en-US" sz="2800" dirty="0">
                <a:latin typeface="+mn-ea"/>
              </a:rPr>
              <a:t>（</a:t>
            </a:r>
            <a:r>
              <a:rPr lang="en-US" altLang="zh-CN" sz="2800" dirty="0">
                <a:latin typeface="+mn-ea"/>
              </a:rPr>
              <a:t>4</a:t>
            </a:r>
            <a:r>
              <a:rPr lang="zh-CN" altLang="en-US" sz="2800" dirty="0">
                <a:latin typeface="+mn-ea"/>
              </a:rPr>
              <a:t>）求出协方差矩阵的特征值及对应的特征向量</a:t>
            </a:r>
            <a:r>
              <a:rPr lang="en-US" altLang="zh-CN" sz="2800" dirty="0">
                <a:latin typeface="+mn-ea"/>
              </a:rPr>
              <a:t>r</a:t>
            </a:r>
            <a:r>
              <a:rPr lang="zh-CN" altLang="en-US" sz="2800" dirty="0">
                <a:latin typeface="+mn-ea"/>
              </a:rPr>
              <a:t>；</a:t>
            </a:r>
            <a:endParaRPr lang="zh-CN" altLang="en-US" sz="2800" dirty="0">
              <a:latin typeface="+mn-ea"/>
            </a:endParaRPr>
          </a:p>
          <a:p>
            <a:pPr>
              <a:lnSpc>
                <a:spcPct val="150000"/>
              </a:lnSpc>
            </a:pPr>
            <a:r>
              <a:rPr lang="zh-CN" altLang="en-US" sz="2800" dirty="0">
                <a:latin typeface="+mn-ea"/>
              </a:rPr>
              <a:t>（</a:t>
            </a:r>
            <a:r>
              <a:rPr lang="en-US" altLang="zh-CN" sz="2800" dirty="0">
                <a:latin typeface="+mn-ea"/>
              </a:rPr>
              <a:t>5</a:t>
            </a:r>
            <a:r>
              <a:rPr lang="zh-CN" altLang="en-US" sz="2800" dirty="0">
                <a:latin typeface="+mn-ea"/>
              </a:rPr>
              <a:t>）将特征向量按对应特征值大小从上到下按行排列成矩阵，取前</a:t>
            </a:r>
            <a:r>
              <a:rPr lang="en-US" altLang="zh-CN" sz="2800" dirty="0" smtClean="0">
                <a:latin typeface="+mn-ea"/>
              </a:rPr>
              <a:t>k</a:t>
            </a:r>
            <a:r>
              <a:rPr lang="zh-CN" altLang="en-US" sz="2800" dirty="0" smtClean="0">
                <a:latin typeface="+mn-ea"/>
              </a:rPr>
              <a:t>列组成</a:t>
            </a:r>
            <a:r>
              <a:rPr lang="zh-CN" altLang="en-US" sz="2800" dirty="0">
                <a:latin typeface="+mn-ea"/>
              </a:rPr>
              <a:t>矩阵</a:t>
            </a:r>
            <a:r>
              <a:rPr lang="en-US" altLang="zh-CN" sz="2800" dirty="0">
                <a:latin typeface="+mn-ea"/>
              </a:rPr>
              <a:t>P</a:t>
            </a:r>
            <a:r>
              <a:rPr lang="zh-CN" altLang="en-US" sz="2800" dirty="0">
                <a:latin typeface="+mn-ea"/>
              </a:rPr>
              <a:t>；</a:t>
            </a:r>
            <a:endParaRPr lang="zh-CN" altLang="en-US" sz="2800" dirty="0">
              <a:latin typeface="+mn-ea"/>
            </a:endParaRPr>
          </a:p>
          <a:p>
            <a:pPr>
              <a:lnSpc>
                <a:spcPct val="150000"/>
              </a:lnSpc>
            </a:pPr>
            <a:r>
              <a:rPr lang="zh-CN" altLang="en-US" sz="2800" dirty="0">
                <a:latin typeface="+mn-ea"/>
              </a:rPr>
              <a:t>（</a:t>
            </a:r>
            <a:r>
              <a:rPr lang="en-US" altLang="zh-CN" sz="2800" dirty="0">
                <a:latin typeface="+mn-ea"/>
              </a:rPr>
              <a:t>6</a:t>
            </a:r>
            <a:r>
              <a:rPr lang="zh-CN" altLang="en-US" sz="2800" dirty="0">
                <a:latin typeface="+mn-ea"/>
              </a:rPr>
              <a:t>）计算降维到</a:t>
            </a:r>
            <a:r>
              <a:rPr lang="en-US" altLang="zh-CN" sz="2800" dirty="0">
                <a:latin typeface="+mn-ea"/>
              </a:rPr>
              <a:t>k</a:t>
            </a:r>
            <a:r>
              <a:rPr lang="zh-CN" altLang="en-US" sz="2800" dirty="0">
                <a:latin typeface="+mn-ea"/>
              </a:rPr>
              <a:t>维的数据。</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0" y="0"/>
            <a:ext cx="12176394" cy="6858000"/>
            <a:chOff x="0" y="0"/>
            <a:chExt cx="12176394" cy="6858000"/>
          </a:xfrm>
        </p:grpSpPr>
        <p:grpSp>
          <p:nvGrpSpPr>
            <p:cNvPr id="3" name="组合 2"/>
            <p:cNvGrpSpPr/>
            <p:nvPr/>
          </p:nvGrpSpPr>
          <p:grpSpPr>
            <a:xfrm>
              <a:off x="0" y="0"/>
              <a:ext cx="12176394" cy="6858000"/>
              <a:chOff x="0" y="0"/>
              <a:chExt cx="12176394" cy="6858000"/>
            </a:xfrm>
          </p:grpSpPr>
          <p:pic>
            <p:nvPicPr>
              <p:cNvPr id="4" name="图片 3"/>
              <p:cNvPicPr>
                <a:picLocks noChangeAspect="1"/>
              </p:cNvPicPr>
              <p:nvPr/>
            </p:nvPicPr>
            <p:blipFill>
              <a:blip r:embed="rId1"/>
              <a:stretch>
                <a:fillRect/>
              </a:stretch>
            </p:blipFill>
            <p:spPr>
              <a:xfrm>
                <a:off x="0" y="0"/>
                <a:ext cx="12176394" cy="6858000"/>
              </a:xfrm>
              <a:prstGeom prst="rect">
                <a:avLst/>
              </a:prstGeom>
            </p:spPr>
          </p:pic>
          <p:sp>
            <p:nvSpPr>
              <p:cNvPr id="2" name="矩形 1"/>
              <p:cNvSpPr/>
              <p:nvPr/>
            </p:nvSpPr>
            <p:spPr>
              <a:xfrm>
                <a:off x="6545765" y="3066585"/>
                <a:ext cx="1226634" cy="2787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545765" y="5304263"/>
                <a:ext cx="1226634" cy="2787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65895" y="2553629"/>
                <a:ext cx="249044" cy="228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223870" y="4750418"/>
                <a:ext cx="249044" cy="228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p:cNvSpPr txBox="1"/>
            <p:nvPr/>
          </p:nvSpPr>
          <p:spPr>
            <a:xfrm>
              <a:off x="5980984" y="2502103"/>
              <a:ext cx="367408" cy="369332"/>
            </a:xfrm>
            <a:prstGeom prst="rect">
              <a:avLst/>
            </a:prstGeom>
            <a:noFill/>
          </p:spPr>
          <p:txBody>
            <a:bodyPr wrap="none" rtlCol="0">
              <a:spAutoFit/>
            </a:bodyPr>
            <a:lstStyle/>
            <a:p>
              <a:r>
                <a:rPr lang="en-US" altLang="zh-CN" b="1" dirty="0" smtClean="0"/>
                <a:t>m</a:t>
              </a:r>
              <a:endParaRPr lang="zh-CN" altLang="en-US" b="1" dirty="0"/>
            </a:p>
          </p:txBody>
        </p:sp>
        <p:sp>
          <p:nvSpPr>
            <p:cNvPr id="10" name="文本框 9"/>
            <p:cNvSpPr txBox="1"/>
            <p:nvPr/>
          </p:nvSpPr>
          <p:spPr>
            <a:xfrm>
              <a:off x="6131235" y="4680051"/>
              <a:ext cx="367408" cy="369332"/>
            </a:xfrm>
            <a:prstGeom prst="rect">
              <a:avLst/>
            </a:prstGeom>
            <a:noFill/>
          </p:spPr>
          <p:txBody>
            <a:bodyPr wrap="none" rtlCol="0">
              <a:spAutoFit/>
            </a:bodyPr>
            <a:lstStyle/>
            <a:p>
              <a:r>
                <a:rPr lang="en-US" altLang="zh-CN" b="1" dirty="0" smtClean="0"/>
                <a:t>m</a:t>
              </a:r>
              <a:endParaRPr lang="zh-CN" altLang="en-US" b="1" dirty="0"/>
            </a:p>
          </p:txBody>
        </p:sp>
        <p:sp>
          <p:nvSpPr>
            <p:cNvPr id="11" name="文本框 10"/>
            <p:cNvSpPr txBox="1"/>
            <p:nvPr/>
          </p:nvSpPr>
          <p:spPr>
            <a:xfrm>
              <a:off x="6847062" y="2911354"/>
              <a:ext cx="463588" cy="523220"/>
            </a:xfrm>
            <a:prstGeom prst="rect">
              <a:avLst/>
            </a:prstGeom>
            <a:noFill/>
          </p:spPr>
          <p:txBody>
            <a:bodyPr wrap="none" rtlCol="0">
              <a:spAutoFit/>
            </a:bodyPr>
            <a:lstStyle/>
            <a:p>
              <a:r>
                <a:rPr lang="en-US" altLang="zh-CN" sz="2800" b="1" dirty="0" smtClean="0"/>
                <a:t>m</a:t>
              </a:r>
              <a:endParaRPr lang="zh-CN" altLang="en-US" sz="2800" b="1" dirty="0"/>
            </a:p>
          </p:txBody>
        </p:sp>
        <p:sp>
          <p:nvSpPr>
            <p:cNvPr id="13" name="文本框 12"/>
            <p:cNvSpPr txBox="1"/>
            <p:nvPr/>
          </p:nvSpPr>
          <p:spPr>
            <a:xfrm>
              <a:off x="6927288" y="5059823"/>
              <a:ext cx="463588" cy="523220"/>
            </a:xfrm>
            <a:prstGeom prst="rect">
              <a:avLst/>
            </a:prstGeom>
            <a:noFill/>
          </p:spPr>
          <p:txBody>
            <a:bodyPr wrap="none" rtlCol="0">
              <a:spAutoFit/>
            </a:bodyPr>
            <a:lstStyle/>
            <a:p>
              <a:r>
                <a:rPr lang="en-US" altLang="zh-CN" sz="2800" b="1" dirty="0" smtClean="0"/>
                <a:t>m</a:t>
              </a:r>
              <a:endParaRPr lang="zh-CN" altLang="en-US" sz="2800" b="1" dirty="0"/>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 y="0"/>
            <a:ext cx="1217798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1" y="-1"/>
            <a:ext cx="12194751" cy="68580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1081668" y="2170460"/>
                <a:ext cx="10270274" cy="2677656"/>
              </a:xfrm>
              <a:prstGeom prst="rect">
                <a:avLst/>
              </a:prstGeom>
            </p:spPr>
            <p:txBody>
              <a:bodyPr wrap="square">
                <a:spAutoFit/>
              </a:bodyPr>
              <a:lstStyle/>
              <a:p>
                <a:pPr lvl="0" eaLnBrk="1" hangingPunct="1">
                  <a:spcBef>
                    <a:spcPts val="0"/>
                  </a:spcBef>
                  <a:spcAft>
                    <a:spcPts val="0"/>
                  </a:spcAft>
                </a:pPr>
                <a:r>
                  <a:rPr lang="zh-CN" altLang="zh-CN" sz="2800" dirty="0" smtClean="0">
                    <a:solidFill>
                      <a:schemeClr val="tx1"/>
                    </a:solidFill>
                    <a:ea typeface="+mn-ea"/>
                    <a:cs typeface="+mn-ea"/>
                  </a:rPr>
                  <a:t>【例题】</a:t>
                </a:r>
                <a:r>
                  <a:rPr lang="zh-CN" altLang="zh-CN" sz="2800" dirty="0">
                    <a:solidFill>
                      <a:schemeClr val="tx1"/>
                    </a:solidFill>
                    <a:ea typeface="+mn-ea"/>
                    <a:cs typeface="+mn-ea"/>
                  </a:rPr>
                  <a:t>现有我国大陆</a:t>
                </a:r>
                <a:r>
                  <a:rPr lang="en-US" altLang="zh-CN" sz="2800" dirty="0">
                    <a:solidFill>
                      <a:schemeClr val="tx1"/>
                    </a:solidFill>
                    <a:ea typeface="+mn-ea"/>
                    <a:cs typeface="+mn-ea"/>
                  </a:rPr>
                  <a:t>30</a:t>
                </a:r>
                <a:r>
                  <a:rPr lang="zh-CN" altLang="zh-CN" sz="2800" dirty="0">
                    <a:solidFill>
                      <a:schemeClr val="tx1"/>
                    </a:solidFill>
                    <a:ea typeface="+mn-ea"/>
                    <a:cs typeface="+mn-ea"/>
                  </a:rPr>
                  <a:t>个省、直辖市、自治区的经济发展状况数据集如</a:t>
                </a:r>
                <a:r>
                  <a:rPr lang="zh-CN" altLang="zh-CN" sz="2800" dirty="0" smtClean="0">
                    <a:solidFill>
                      <a:schemeClr val="tx1"/>
                    </a:solidFill>
                    <a:ea typeface="+mn-ea"/>
                    <a:cs typeface="+mn-ea"/>
                  </a:rPr>
                  <a:t>表</a:t>
                </a:r>
                <a:r>
                  <a:rPr lang="en-US" altLang="zh-CN" sz="2800" dirty="0" smtClean="0">
                    <a:solidFill>
                      <a:schemeClr val="tx1"/>
                    </a:solidFill>
                    <a:ea typeface="+mn-ea"/>
                    <a:cs typeface="+mn-ea"/>
                  </a:rPr>
                  <a:t>1</a:t>
                </a:r>
                <a:r>
                  <a:rPr lang="zh-CN" altLang="zh-CN" sz="2800" dirty="0" smtClean="0">
                    <a:solidFill>
                      <a:schemeClr val="tx1"/>
                    </a:solidFill>
                    <a:ea typeface="+mn-ea"/>
                    <a:cs typeface="+mn-ea"/>
                  </a:rPr>
                  <a:t>所</a:t>
                </a:r>
                <a:r>
                  <a:rPr lang="zh-CN" altLang="zh-CN" sz="2800" dirty="0">
                    <a:solidFill>
                      <a:schemeClr val="tx1"/>
                    </a:solidFill>
                    <a:ea typeface="+mn-ea"/>
                    <a:cs typeface="+mn-ea"/>
                  </a:rPr>
                  <a:t>示，包括</a:t>
                </a:r>
                <a:r>
                  <a:rPr lang="en-US" altLang="zh-CN" sz="2800" dirty="0">
                    <a:solidFill>
                      <a:schemeClr val="tx1"/>
                    </a:solidFill>
                    <a:ea typeface="+mn-ea"/>
                    <a:cs typeface="+mn-ea"/>
                  </a:rPr>
                  <a:t>8</a:t>
                </a:r>
                <a:r>
                  <a:rPr lang="zh-CN" altLang="zh-CN" sz="2800" dirty="0">
                    <a:solidFill>
                      <a:schemeClr val="tx1"/>
                    </a:solidFill>
                    <a:ea typeface="+mn-ea"/>
                    <a:cs typeface="+mn-ea"/>
                  </a:rPr>
                  <a:t>项经济指标：国民生产总值（</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1</m:t>
                        </m:r>
                      </m:sub>
                    </m:sSub>
                  </m:oMath>
                </a14:m>
                <a:r>
                  <a:rPr lang="zh-CN" altLang="zh-CN" sz="2800" dirty="0">
                    <a:solidFill>
                      <a:schemeClr val="tx1"/>
                    </a:solidFill>
                    <a:ea typeface="+mn-ea"/>
                    <a:cs typeface="+mn-ea"/>
                  </a:rPr>
                  <a:t>）；居民消费水平（</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2</m:t>
                        </m:r>
                      </m:sub>
                    </m:sSub>
                  </m:oMath>
                </a14:m>
                <a:r>
                  <a:rPr lang="zh-CN" altLang="zh-CN" sz="2800" dirty="0">
                    <a:solidFill>
                      <a:schemeClr val="tx1"/>
                    </a:solidFill>
                    <a:ea typeface="+mn-ea"/>
                    <a:cs typeface="+mn-ea"/>
                  </a:rPr>
                  <a:t>）；固定资产投资（</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3</m:t>
                        </m:r>
                      </m:sub>
                    </m:sSub>
                  </m:oMath>
                </a14:m>
                <a:r>
                  <a:rPr lang="zh-CN" altLang="zh-CN" sz="2800" dirty="0">
                    <a:solidFill>
                      <a:schemeClr val="tx1"/>
                    </a:solidFill>
                    <a:ea typeface="+mn-ea"/>
                    <a:cs typeface="+mn-ea"/>
                  </a:rPr>
                  <a:t>）；职工平均工资（</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4</m:t>
                        </m:r>
                      </m:sub>
                    </m:sSub>
                  </m:oMath>
                </a14:m>
                <a:r>
                  <a:rPr lang="zh-CN" altLang="zh-CN" sz="2800" dirty="0">
                    <a:solidFill>
                      <a:schemeClr val="tx1"/>
                    </a:solidFill>
                    <a:ea typeface="+mn-ea"/>
                    <a:cs typeface="+mn-ea"/>
                  </a:rPr>
                  <a:t>）；货物周转量（</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5</m:t>
                        </m:r>
                      </m:sub>
                    </m:sSub>
                  </m:oMath>
                </a14:m>
                <a:r>
                  <a:rPr lang="zh-CN" altLang="zh-CN" sz="2800" dirty="0">
                    <a:solidFill>
                      <a:schemeClr val="tx1"/>
                    </a:solidFill>
                    <a:ea typeface="+mn-ea"/>
                    <a:cs typeface="+mn-ea"/>
                  </a:rPr>
                  <a:t>）；居民消费指数（</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6</m:t>
                        </m:r>
                      </m:sub>
                    </m:sSub>
                  </m:oMath>
                </a14:m>
                <a:r>
                  <a:rPr lang="zh-CN" altLang="zh-CN" sz="2800" dirty="0">
                    <a:solidFill>
                      <a:schemeClr val="tx1"/>
                    </a:solidFill>
                    <a:ea typeface="+mn-ea"/>
                    <a:cs typeface="+mn-ea"/>
                  </a:rPr>
                  <a:t>）；商品零售价格指数（</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7</m:t>
                        </m:r>
                      </m:sub>
                    </m:sSub>
                  </m:oMath>
                </a14:m>
                <a:r>
                  <a:rPr lang="zh-CN" altLang="zh-CN" sz="2800" dirty="0">
                    <a:solidFill>
                      <a:schemeClr val="tx1"/>
                    </a:solidFill>
                    <a:ea typeface="+mn-ea"/>
                    <a:cs typeface="+mn-ea"/>
                  </a:rPr>
                  <a:t>）；工业总产值（</a:t>
                </a:r>
                <a14:m>
                  <m:oMath xmlns:m="http://schemas.openxmlformats.org/officeDocument/2006/math">
                    <m:sSub>
                      <m:sSubPr>
                        <m:ctrlPr>
                          <a:rPr lang="zh-CN" altLang="zh-CN" sz="2800" i="1">
                            <a:solidFill>
                              <a:schemeClr val="tx1"/>
                            </a:solidFill>
                            <a:latin typeface="Cambria Math" panose="02040503050406030204" pitchFamily="18" charset="0"/>
                            <a:ea typeface="+mn-ea"/>
                            <a:cs typeface="+mn-ea"/>
                          </a:rPr>
                        </m:ctrlPr>
                      </m:sSubPr>
                      <m:e>
                        <m:r>
                          <a:rPr lang="en-US" altLang="zh-CN" sz="2800">
                            <a:solidFill>
                              <a:schemeClr val="tx1"/>
                            </a:solidFill>
                            <a:latin typeface="Cambria Math" panose="02040503050406030204" pitchFamily="18" charset="0"/>
                            <a:ea typeface="+mn-ea"/>
                            <a:cs typeface="+mn-ea"/>
                          </a:rPr>
                          <m:t>𝒂</m:t>
                        </m:r>
                      </m:e>
                      <m:sub>
                        <m:r>
                          <a:rPr lang="en-US" altLang="zh-CN" sz="2800">
                            <a:solidFill>
                              <a:schemeClr val="tx1"/>
                            </a:solidFill>
                            <a:latin typeface="Cambria Math" panose="02040503050406030204" pitchFamily="18" charset="0"/>
                            <a:ea typeface="+mn-ea"/>
                            <a:cs typeface="+mn-ea"/>
                          </a:rPr>
                          <m:t>8</m:t>
                        </m:r>
                      </m:sub>
                    </m:sSub>
                  </m:oMath>
                </a14:m>
                <a:r>
                  <a:rPr lang="zh-CN" altLang="zh-CN" sz="2800" dirty="0">
                    <a:solidFill>
                      <a:schemeClr val="tx1"/>
                    </a:solidFill>
                    <a:ea typeface="+mn-ea"/>
                    <a:cs typeface="+mn-ea"/>
                  </a:rPr>
                  <a:t>），试用基本</a:t>
                </a:r>
                <a:r>
                  <a:rPr lang="en-US" altLang="zh-CN" sz="2800" dirty="0">
                    <a:solidFill>
                      <a:schemeClr val="tx1"/>
                    </a:solidFill>
                    <a:ea typeface="+mn-ea"/>
                    <a:cs typeface="+mn-ea"/>
                  </a:rPr>
                  <a:t>PCA</a:t>
                </a:r>
                <a:r>
                  <a:rPr lang="zh-CN" altLang="zh-CN" sz="2800" dirty="0">
                    <a:solidFill>
                      <a:schemeClr val="tx1"/>
                    </a:solidFill>
                    <a:ea typeface="+mn-ea"/>
                    <a:cs typeface="+mn-ea"/>
                  </a:rPr>
                  <a:t>方法将这</a:t>
                </a:r>
                <a:r>
                  <a:rPr lang="en-US" altLang="zh-CN" sz="2800" dirty="0">
                    <a:solidFill>
                      <a:schemeClr val="tx1"/>
                    </a:solidFill>
                    <a:ea typeface="+mn-ea"/>
                    <a:cs typeface="+mn-ea"/>
                  </a:rPr>
                  <a:t>8</a:t>
                </a:r>
                <a:r>
                  <a:rPr lang="zh-CN" altLang="zh-CN" sz="2800" dirty="0">
                    <a:solidFill>
                      <a:schemeClr val="tx1"/>
                    </a:solidFill>
                    <a:ea typeface="+mn-ea"/>
                    <a:cs typeface="+mn-ea"/>
                  </a:rPr>
                  <a:t>项经济指标融合成</a:t>
                </a:r>
                <a:r>
                  <a:rPr lang="en-US" altLang="zh-CN" sz="2800" dirty="0">
                    <a:solidFill>
                      <a:schemeClr val="tx1"/>
                    </a:solidFill>
                    <a:ea typeface="+mn-ea"/>
                    <a:cs typeface="+mn-ea"/>
                  </a:rPr>
                  <a:t>3</a:t>
                </a:r>
                <a:r>
                  <a:rPr lang="zh-CN" altLang="zh-CN" sz="2800" dirty="0">
                    <a:solidFill>
                      <a:schemeClr val="tx1"/>
                    </a:solidFill>
                    <a:ea typeface="+mn-ea"/>
                    <a:cs typeface="+mn-ea"/>
                  </a:rPr>
                  <a:t>项综合指标。</a:t>
                </a:r>
                <a:endParaRPr lang="zh-CN" altLang="zh-CN" sz="2800" dirty="0">
                  <a:solidFill>
                    <a:schemeClr val="tx1"/>
                  </a:solidFill>
                  <a:ea typeface="+mn-ea"/>
                  <a:cs typeface="+mn-ea"/>
                </a:endParaRPr>
              </a:p>
            </p:txBody>
          </p:sp>
        </mc:Choice>
        <mc:Fallback>
          <p:sp>
            <p:nvSpPr>
              <p:cNvPr id="3" name="矩形 2"/>
              <p:cNvSpPr>
                <a:spLocks noRot="1" noChangeAspect="1" noMove="1" noResize="1" noEditPoints="1" noAdjustHandles="1" noChangeArrowheads="1" noChangeShapeType="1" noTextEdit="1"/>
              </p:cNvSpPr>
              <p:nvPr/>
            </p:nvSpPr>
            <p:spPr>
              <a:xfrm>
                <a:off x="1081668" y="2170460"/>
                <a:ext cx="10270274" cy="2677656"/>
              </a:xfrm>
              <a:prstGeom prst="rect">
                <a:avLst/>
              </a:prstGeom>
              <a:blipFill rotWithShape="1">
                <a:blip r:embed="rId1"/>
                <a:stretch>
                  <a:fillRect l="-3" t="-1" r="-2058" b="20"/>
                </a:stretch>
              </a:blipFill>
            </p:spPr>
            <p:txBody>
              <a:bodyPr/>
              <a:lstStyle/>
              <a:p>
                <a:r>
                  <a:rPr lang="zh-CN" altLang="en-US">
                    <a:noFill/>
                  </a:rPr>
                  <a:t> </a:t>
                </a:r>
              </a:p>
            </p:txBody>
          </p:sp>
        </mc:Fallback>
      </mc:AlternateContent>
      <p:sp>
        <p:nvSpPr>
          <p:cNvPr id="5" name="Text Box 2"/>
          <p:cNvSpPr txBox="1">
            <a:spLocks noChangeArrowheads="1"/>
          </p:cNvSpPr>
          <p:nvPr/>
        </p:nvSpPr>
        <p:spPr bwMode="auto">
          <a:xfrm>
            <a:off x="1871134" y="692150"/>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251518" y="766274"/>
                <a:ext cx="8207375" cy="5326756"/>
              </a:xfrm>
              <a:prstGeom prst="rect">
                <a:avLst/>
              </a:prstGeom>
              <a:noFill/>
              <a:ln w="9525">
                <a:noFill/>
                <a:miter lim="800000"/>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a:spcBef>
                    <a:spcPct val="0"/>
                  </a:spcBef>
                  <a:buNone/>
                </a:pPr>
                <a14:m>
                  <m:oMath xmlns:m="http://schemas.openxmlformats.org/officeDocument/2006/math">
                    <m:r>
                      <a:rPr lang="zh-CN" altLang="en-US" sz="2000" i="1" smtClean="0">
                        <a:latin typeface="Cambria Math" panose="02040503050406030204" pitchFamily="18" charset="0"/>
                        <a:ea typeface="+mn-ea"/>
                        <a:cs typeface="+mn-ea"/>
                      </a:rPr>
                      <m:t>表</m:t>
                    </m:r>
                    <m:r>
                      <a:rPr lang="en-US" altLang="zh-CN" sz="2000" b="0" i="1" smtClean="0">
                        <a:latin typeface="Cambria Math" panose="02040503050406030204"/>
                        <a:ea typeface="+mn-ea"/>
                        <a:cs typeface="+mn-ea"/>
                      </a:rPr>
                      <m:t>1</m:t>
                    </m:r>
                  </m:oMath>
                </a14:m>
                <a:r>
                  <a:rPr lang="en-US" altLang="zh-CN" sz="2000" dirty="0">
                    <a:ea typeface="+mn-ea"/>
                    <a:cs typeface="+mn-ea"/>
                  </a:rPr>
                  <a:t> </a:t>
                </a:r>
                <a:r>
                  <a:rPr lang="zh-CN" altLang="en-US" sz="2000" dirty="0">
                    <a:ea typeface="+mn-ea"/>
                    <a:cs typeface="+mn-ea"/>
                  </a:rPr>
                  <a:t>我国大陆经济发展状况数据</a:t>
                </a:r>
                <a:endParaRPr lang="zh-CN" altLang="zh-CN" sz="2000"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251518" y="766274"/>
                <a:ext cx="8207375" cy="5326756"/>
              </a:xfrm>
              <a:prstGeom prst="rect">
                <a:avLst/>
              </a:prstGeom>
              <a:blipFill rotWithShape="1">
                <a:blip r:embed="rId2"/>
                <a:stretch>
                  <a:fillRect l="-1" t="-9" r="1" b="4"/>
                </a:stretch>
              </a:blipFill>
              <a:ln w="9525">
                <a:noFill/>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925095" y="1204459"/>
              <a:ext cx="10884048" cy="5274399"/>
            </p:xfrm>
            <a:graphic>
              <a:graphicData uri="http://schemas.openxmlformats.org/drawingml/2006/table">
                <a:tbl>
                  <a:tblPr>
                    <a:tableStyleId>{5940675A-B579-460E-94D1-54222C63F5DA}</a:tableStyleId>
                  </a:tblPr>
                  <a:tblGrid>
                    <a:gridCol w="1334822"/>
                    <a:gridCol w="1555985"/>
                    <a:gridCol w="657215"/>
                    <a:gridCol w="1333253"/>
                    <a:gridCol w="1112089"/>
                    <a:gridCol w="1112089"/>
                    <a:gridCol w="1333253"/>
                    <a:gridCol w="1112089"/>
                    <a:gridCol w="1333253"/>
                  </a:tblGrid>
                  <a:tr h="358179">
                    <a:tc>
                      <a:txBody>
                        <a:bodyPr/>
                        <a:lstStyle/>
                        <a:p>
                          <a:pPr algn="just">
                            <a:lnSpc>
                              <a:spcPct val="100000"/>
                            </a:lnSpc>
                            <a:spcBef>
                              <a:spcPts val="0"/>
                            </a:spcBef>
                            <a:spcAft>
                              <a:spcPts val="0"/>
                            </a:spcAft>
                          </a:pPr>
                          <a:r>
                            <a:rPr lang="en-US" sz="1200" kern="100" dirty="0">
                              <a:effectLst/>
                              <a:ea typeface="+mn-ea"/>
                              <a:cs typeface="+mn-ea"/>
                            </a:rPr>
                            <a:t> </a:t>
                          </a:r>
                          <a:endParaRPr lang="zh-CN" sz="20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1</m:t>
                                    </m:r>
                                  </m:sub>
                                </m:sSub>
                              </m:oMath>
                            </m:oMathPara>
                          </a14:m>
                          <a:endParaRPr lang="zh-CN" sz="20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2</m:t>
                                    </m:r>
                                  </m:sub>
                                </m:sSub>
                              </m:oMath>
                            </m:oMathPara>
                          </a14:m>
                          <a:endParaRPr lang="zh-CN" sz="20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3</m:t>
                                    </m:r>
                                  </m:sub>
                                </m:sSub>
                              </m:oMath>
                            </m:oMathPara>
                          </a14:m>
                          <a:endParaRPr lang="zh-CN" sz="20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4</m:t>
                                    </m:r>
                                  </m:sub>
                                </m:sSub>
                              </m:oMath>
                            </m:oMathPara>
                          </a14:m>
                          <a:endParaRPr lang="zh-CN" sz="20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5</m:t>
                                    </m:r>
                                  </m:sub>
                                </m:sSub>
                              </m:oMath>
                            </m:oMathPara>
                          </a14:m>
                          <a:endParaRPr lang="zh-CN" sz="20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6</m:t>
                                    </m:r>
                                  </m:sub>
                                </m:sSub>
                              </m:oMath>
                            </m:oMathPara>
                          </a14:m>
                          <a:endParaRPr lang="zh-CN" sz="20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7</m:t>
                                    </m:r>
                                  </m:sub>
                                </m:sSub>
                              </m:oMath>
                            </m:oMathPara>
                          </a14:m>
                          <a:endParaRPr lang="zh-CN" sz="20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n-ea"/>
                                        <a:cs typeface="+mn-ea"/>
                                      </a:rPr>
                                    </m:ctrlPr>
                                  </m:sSubPr>
                                  <m:e>
                                    <m:r>
                                      <a:rPr lang="en-US" sz="2000" kern="100">
                                        <a:effectLst/>
                                        <a:latin typeface="Cambria Math" panose="02040503050406030204" pitchFamily="18" charset="0"/>
                                        <a:ea typeface="+mn-ea"/>
                                        <a:cs typeface="+mn-ea"/>
                                      </a:rPr>
                                      <m:t>𝒂</m:t>
                                    </m:r>
                                  </m:e>
                                  <m:sub>
                                    <m:r>
                                      <a:rPr lang="en-US" sz="2000" kern="100">
                                        <a:effectLst/>
                                        <a:latin typeface="Cambria Math" panose="02040503050406030204" pitchFamily="18" charset="0"/>
                                        <a:ea typeface="+mn-ea"/>
                                        <a:cs typeface="+mn-ea"/>
                                      </a:rPr>
                                      <m:t>8</m:t>
                                    </m:r>
                                  </m:sub>
                                </m:sSub>
                              </m:oMath>
                            </m:oMathPara>
                          </a14:m>
                          <a:endParaRPr lang="zh-CN" sz="20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dirty="0">
                              <a:effectLst/>
                              <a:ea typeface="+mn-ea"/>
                              <a:cs typeface="+mn-ea"/>
                            </a:rPr>
                            <a:t>北京</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1394.89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2505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519.01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8144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373.9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117.3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112.6</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843.43</a:t>
                          </a:r>
                          <a:endParaRPr lang="zh-CN" sz="1800" kern="100" dirty="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dirty="0">
                              <a:effectLst/>
                              <a:ea typeface="+mn-ea"/>
                              <a:cs typeface="+mn-ea"/>
                            </a:rPr>
                            <a:t>天津</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920.11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2720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345.46</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6501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342.8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110.6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582.51</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河北</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2849.52</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1258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704.87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4839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2033.3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1234.85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山西</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1092.48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1250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290.9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4721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717.3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116.9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697.25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内蒙古</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832.88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1387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250.23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4134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781.7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117.5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116.8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419.39</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辽宁</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2793.37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2397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387.99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4911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1371.1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116.1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1840.55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吉林</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1129.2</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1872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320.45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4430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497.4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115.2</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762.47</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黑龙江</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2014.53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2334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435.73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4145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824.8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116.1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1240.37</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上海</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2462.57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5343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996.48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9279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207.4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118.7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1642.95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江苏</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5155.25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1926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1434.95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5934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1025.5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115.8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2026.64</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浙江</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3524.79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2249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1006.39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6619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754.4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116.6</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113.5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916.59</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安徽</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2003.58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1254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474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4609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908.3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114.8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112.7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824.14</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福建</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2160.52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2320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553.97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5857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609.3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114.4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433.67</a:t>
                          </a:r>
                          <a:endParaRPr lang="zh-CN" sz="1800" kern="100" dirty="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江西</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1205.1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1182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282.84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4211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411.7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116.9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115.9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571.84</a:t>
                          </a:r>
                          <a:endParaRPr lang="zh-CN" sz="1800" kern="100" dirty="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山东</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5002.34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1527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1229.55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5145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1196.6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117.6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2207.69</a:t>
                          </a:r>
                          <a:endParaRPr lang="zh-CN" sz="1800" kern="100" dirty="0">
                            <a:effectLst/>
                            <a:latin typeface="Calibri" panose="020F0502020204030204" pitchFamily="34" charset="0"/>
                            <a:ea typeface="+mn-ea"/>
                            <a:cs typeface="+mn-ea"/>
                          </a:endParaRPr>
                        </a:p>
                      </a:txBody>
                      <a:tcPr marL="10795" marR="10795" marT="10795" marB="0" anchor="ctr"/>
                    </a:tc>
                  </a:tr>
                </a:tbl>
              </a:graphicData>
            </a:graphic>
          </p:graphicFrame>
        </mc:Choice>
        <mc:Fallback xmlns="">
          <p:graphicFrame>
            <p:nvGraphicFramePr>
              <p:cNvPr id="3" name="表格 2"/>
              <p:cNvGraphicFramePr>
                <a:graphicFrameLocks noGrp="1"/>
              </p:cNvGraphicFramePr>
              <p:nvPr/>
            </p:nvGraphicFramePr>
            <p:xfrm>
              <a:off x="925095" y="1204459"/>
              <a:ext cx="10884048" cy="5274399"/>
            </p:xfrm>
            <a:graphic>
              <a:graphicData uri="http://schemas.openxmlformats.org/drawingml/2006/table">
                <a:tbl>
                  <a:tblPr>
                    <a:tableStyleId>{5940675A-B579-460E-94D1-54222C63F5DA}</a:tableStyleId>
                  </a:tblPr>
                  <a:tblGrid>
                    <a:gridCol w="1334822"/>
                    <a:gridCol w="1555985"/>
                    <a:gridCol w="657215"/>
                    <a:gridCol w="1333253"/>
                    <a:gridCol w="1112089"/>
                    <a:gridCol w="1112089"/>
                    <a:gridCol w="1333253"/>
                    <a:gridCol w="1112089"/>
                    <a:gridCol w="1333253"/>
                  </a:tblGrid>
                  <a:tr h="358140">
                    <a:tc>
                      <a:txBody>
                        <a:bodyPr/>
                        <a:lstStyle/>
                        <a:p>
                          <a:pPr algn="just">
                            <a:lnSpc>
                              <a:spcPct val="100000"/>
                            </a:lnSpc>
                            <a:spcBef>
                              <a:spcPts val="0"/>
                            </a:spcBef>
                            <a:spcAft>
                              <a:spcPts val="0"/>
                            </a:spcAft>
                          </a:pPr>
                          <a:r>
                            <a:rPr lang="en-US" sz="1200" kern="100" dirty="0">
                              <a:effectLst/>
                              <a:ea typeface="+mn-ea"/>
                              <a:cs typeface="+mn-ea"/>
                            </a:rPr>
                            <a:t> </a:t>
                          </a:r>
                          <a:endParaRPr lang="zh-CN" sz="2000" kern="100" dirty="0">
                            <a:effectLst/>
                            <a:latin typeface="Calibri" panose="020F0502020204030204" pitchFamily="34" charset="0"/>
                            <a:ea typeface="+mn-ea"/>
                            <a:cs typeface="+mn-ea"/>
                          </a:endParaRPr>
                        </a:p>
                      </a:txBody>
                      <a:tcPr marL="0" marR="0" marT="0" marB="0" anchor="ct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c>
                      <a:txBody>
                        <a:bodyPr/>
                        <a:lstStyle/>
                        <a:p>
                          <a:endParaRPr lang="zh-CN"/>
                        </a:p>
                      </a:txBody>
                      <a:tcPr marL="10795" marR="10795" marT="10795" marB="0" anchor="ctr">
                        <a:blipFill>
                          <a:blip r:embed="rId3"/>
                        </a:blipFill>
                      </a:tcPr>
                    </a:tc>
                  </a:tr>
                  <a:tr h="327748">
                    <a:tc>
                      <a:txBody>
                        <a:bodyPr/>
                        <a:lstStyle/>
                        <a:p>
                          <a:pPr algn="ctr">
                            <a:lnSpc>
                              <a:spcPct val="100000"/>
                            </a:lnSpc>
                            <a:spcBef>
                              <a:spcPts val="0"/>
                            </a:spcBef>
                            <a:spcAft>
                              <a:spcPts val="0"/>
                            </a:spcAft>
                          </a:pPr>
                          <a:r>
                            <a:rPr lang="zh-CN" sz="1800" kern="100" dirty="0">
                              <a:effectLst/>
                              <a:ea typeface="+mn-ea"/>
                              <a:cs typeface="+mn-ea"/>
                            </a:rPr>
                            <a:t>北京</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1394.89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2505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519.01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8144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373.9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117.3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112.6</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843.43</a:t>
                          </a:r>
                          <a:endParaRPr lang="zh-CN" sz="1800" kern="100" dirty="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dirty="0">
                              <a:effectLst/>
                              <a:ea typeface="+mn-ea"/>
                              <a:cs typeface="+mn-ea"/>
                            </a:rPr>
                            <a:t>天津</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920.11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2720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345.46</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6501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342.8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110.6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582.51</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河北</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2849.52</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1258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704.87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4839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2033.3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1234.85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山西</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1092.48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1250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290.9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4721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717.3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116.9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697.25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内蒙古</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832.88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1387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250.23</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4134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781.7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117.5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116.8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419.39</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辽宁</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2793.37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2397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387.99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4911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1371.1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116.1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1840.55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吉林</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1129.2</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1872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320.45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4430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497.4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115.2</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762.47</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黑龙江</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2014.53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2334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435.73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4145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824.8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116.1</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1240.37</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上海</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2462.57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5343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996.48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9279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207.4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118.7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1642.95</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江苏</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5155.25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1926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1434.95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5934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1025.5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115.8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2026.64</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浙江</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3524.79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2249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1006.39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6619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754.4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116.6</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113.5</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916.59</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安徽</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2003.58</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1254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474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4609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908.3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114.8</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112.7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824.14</a:t>
                          </a:r>
                          <a:endParaRPr lang="zh-CN" sz="1800" kern="10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福建</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2160.52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2320</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553.97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5857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609.3</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115.2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114.4</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433.67</a:t>
                          </a:r>
                          <a:endParaRPr lang="zh-CN" sz="1800" kern="100" dirty="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江西</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1205.1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1182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282.84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4211</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411.7</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116.9</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115.9</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571.84</a:t>
                          </a:r>
                          <a:endParaRPr lang="zh-CN" sz="1800" kern="100" dirty="0">
                            <a:effectLst/>
                            <a:latin typeface="Calibri" panose="020F0502020204030204" pitchFamily="34" charset="0"/>
                            <a:ea typeface="+mn-ea"/>
                            <a:cs typeface="+mn-ea"/>
                          </a:endParaRPr>
                        </a:p>
                      </a:txBody>
                      <a:tcPr marL="10795" marR="10795" marT="10795" marB="0" anchor="ctr"/>
                    </a:tc>
                  </a:tr>
                  <a:tr h="327748">
                    <a:tc>
                      <a:txBody>
                        <a:bodyPr/>
                        <a:lstStyle/>
                        <a:p>
                          <a:pPr algn="ctr">
                            <a:lnSpc>
                              <a:spcPct val="100000"/>
                            </a:lnSpc>
                            <a:spcBef>
                              <a:spcPts val="0"/>
                            </a:spcBef>
                            <a:spcAft>
                              <a:spcPts val="0"/>
                            </a:spcAft>
                          </a:pPr>
                          <a:r>
                            <a:rPr lang="zh-CN" sz="1800" kern="100">
                              <a:effectLst/>
                              <a:ea typeface="+mn-ea"/>
                              <a:cs typeface="+mn-ea"/>
                            </a:rPr>
                            <a:t>山东</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5002.34</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1527</a:t>
                          </a:r>
                          <a:endParaRPr lang="zh-CN" sz="1800" kern="100" dirty="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1229.55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5145</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1196.6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117.6</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a:effectLst/>
                              <a:ea typeface="+mn-ea"/>
                              <a:cs typeface="+mn-ea"/>
                            </a:rPr>
                            <a:t>114.2</a:t>
                          </a:r>
                          <a:endParaRPr lang="zh-CN" sz="1800" kern="100">
                            <a:effectLst/>
                            <a:latin typeface="Calibri" panose="020F0502020204030204" pitchFamily="34" charset="0"/>
                            <a:ea typeface="+mn-ea"/>
                            <a:cs typeface="+mn-ea"/>
                          </a:endParaRPr>
                        </a:p>
                      </a:txBody>
                      <a:tcPr marL="10795" marR="10795" marT="10795" marB="0" anchor="ctr"/>
                    </a:tc>
                    <a:tc>
                      <a:txBody>
                        <a:bodyPr/>
                        <a:lstStyle/>
                        <a:p>
                          <a:pPr algn="ctr">
                            <a:lnSpc>
                              <a:spcPct val="100000"/>
                            </a:lnSpc>
                            <a:spcBef>
                              <a:spcPts val="0"/>
                            </a:spcBef>
                            <a:spcAft>
                              <a:spcPts val="0"/>
                            </a:spcAft>
                          </a:pPr>
                          <a:r>
                            <a:rPr lang="en-US" sz="1800" kern="100" dirty="0">
                              <a:effectLst/>
                              <a:ea typeface="+mn-ea"/>
                              <a:cs typeface="+mn-ea"/>
                            </a:rPr>
                            <a:t>2207.69</a:t>
                          </a:r>
                          <a:endParaRPr lang="zh-CN" sz="1800" kern="100" dirty="0">
                            <a:effectLst/>
                            <a:latin typeface="Calibri" panose="020F0502020204030204" pitchFamily="34" charset="0"/>
                            <a:ea typeface="+mn-ea"/>
                            <a:cs typeface="+mn-ea"/>
                          </a:endParaRPr>
                        </a:p>
                      </a:txBody>
                      <a:tcPr marL="10795" marR="10795" marT="10795" marB="0" anchor="ctr"/>
                    </a:tc>
                  </a:tr>
                </a:tbl>
              </a:graphicData>
            </a:graphic>
          </p:graphicFrame>
        </mc:Fallback>
      </mc:AlternateContent>
      <p:sp>
        <p:nvSpPr>
          <p:cNvPr id="7" name="Text Box 2"/>
          <p:cNvSpPr txBox="1">
            <a:spLocks noChangeArrowheads="1"/>
          </p:cNvSpPr>
          <p:nvPr/>
        </p:nvSpPr>
        <p:spPr bwMode="auto">
          <a:xfrm>
            <a:off x="1770773" y="4274"/>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0" y="782837"/>
                <a:ext cx="8207375" cy="5457998"/>
              </a:xfrm>
              <a:prstGeom prst="rect">
                <a:avLst/>
              </a:prstGeom>
              <a:noFill/>
              <a:ln>
                <a:noFill/>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a:spcBef>
                    <a:spcPct val="0"/>
                  </a:spcBef>
                  <a:buNone/>
                </a:pPr>
                <a14:m>
                  <m:oMath xmlns:m="http://schemas.openxmlformats.org/officeDocument/2006/math">
                    <m:r>
                      <a:rPr lang="zh-CN" altLang="en-US" sz="2000" i="1">
                        <a:latin typeface="Cambria Math" panose="02040503050406030204" pitchFamily="18" charset="0"/>
                        <a:ea typeface="+mn-ea"/>
                        <a:cs typeface="+mn-ea"/>
                      </a:rPr>
                      <m:t>表</m:t>
                    </m:r>
                  </m:oMath>
                </a14:m>
                <a:r>
                  <a:rPr lang="en-US" altLang="zh-CN" sz="2000" dirty="0" smtClean="0">
                    <a:ea typeface="+mn-ea"/>
                    <a:cs typeface="+mn-ea"/>
                  </a:rPr>
                  <a:t>1  </a:t>
                </a:r>
                <a:r>
                  <a:rPr lang="zh-CN" altLang="en-US" sz="2000" dirty="0">
                    <a:ea typeface="+mn-ea"/>
                    <a:cs typeface="+mn-ea"/>
                  </a:rPr>
                  <a:t>我国大陆经济发展状况数据</a:t>
                </a:r>
                <a:endParaRPr lang="zh-CN" altLang="zh-CN" sz="2000" dirty="0">
                  <a:ea typeface="+mn-ea"/>
                  <a:cs typeface="+mn-ea"/>
                </a:endParaRPr>
              </a:p>
              <a:p>
                <a:pPr marL="0" indent="0" algn="ctr">
                  <a:spcBef>
                    <a:spcPct val="0"/>
                  </a:spcBef>
                  <a:buNone/>
                </a:pPr>
                <a:endParaRPr lang="zh-CN"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0" y="782837"/>
                <a:ext cx="8207375" cy="5457998"/>
              </a:xfrm>
              <a:prstGeom prst="rect">
                <a:avLst/>
              </a:prstGeom>
              <a:blipFill rotWithShape="1">
                <a:blip r:embed="rId2"/>
                <a:stretch>
                  <a:fillRect t="-9" b="1"/>
                </a:stretch>
              </a:blipFill>
              <a:ln>
                <a:noFill/>
              </a:ln>
              <a:effectLst/>
            </p:spPr>
            <p:txBody>
              <a:bodyPr/>
              <a:lstStyle/>
              <a:p>
                <a:r>
                  <a:rPr lang="zh-CN" altLang="en-US">
                    <a:noFill/>
                  </a:rPr>
                  <a:t> </a:t>
                </a:r>
              </a:p>
            </p:txBody>
          </p:sp>
        </mc:Fallback>
      </mc:AlternateContent>
      <p:graphicFrame>
        <p:nvGraphicFramePr>
          <p:cNvPr id="2" name="表格 1"/>
          <p:cNvGraphicFramePr>
            <a:graphicFrameLocks noGrp="1"/>
          </p:cNvGraphicFramePr>
          <p:nvPr/>
        </p:nvGraphicFramePr>
        <p:xfrm>
          <a:off x="535002" y="1120560"/>
          <a:ext cx="11262988" cy="5302545"/>
        </p:xfrm>
        <a:graphic>
          <a:graphicData uri="http://schemas.openxmlformats.org/drawingml/2006/table">
            <a:tbl>
              <a:tblPr>
                <a:tableStyleId>{5940675A-B579-460E-94D1-54222C63F5DA}</a:tableStyleId>
              </a:tblPr>
              <a:tblGrid>
                <a:gridCol w="1403433"/>
                <a:gridCol w="1513420"/>
                <a:gridCol w="960866"/>
                <a:gridCol w="1073943"/>
                <a:gridCol w="1169254"/>
                <a:gridCol w="1169254"/>
                <a:gridCol w="1401782"/>
                <a:gridCol w="1169254"/>
                <a:gridCol w="1401782"/>
              </a:tblGrid>
              <a:tr h="360759">
                <a:tc>
                  <a:txBody>
                    <a:bodyPr/>
                    <a:lstStyle/>
                    <a:p>
                      <a:pPr algn="ctr">
                        <a:lnSpc>
                          <a:spcPct val="100000"/>
                        </a:lnSpc>
                        <a:spcBef>
                          <a:spcPts val="0"/>
                        </a:spcBef>
                        <a:spcAft>
                          <a:spcPts val="0"/>
                        </a:spcAft>
                      </a:pPr>
                      <a:r>
                        <a:rPr lang="zh-CN" sz="1800" kern="100" dirty="0">
                          <a:effectLst/>
                          <a:ea typeface="+mn-ea"/>
                          <a:cs typeface="+mn-ea"/>
                        </a:rPr>
                        <a:t>河南</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3002.74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1034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670.35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4344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1574.4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116.5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114.9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1367.92</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dirty="0">
                          <a:effectLst/>
                          <a:ea typeface="+mn-ea"/>
                          <a:cs typeface="+mn-ea"/>
                        </a:rPr>
                        <a:t>湖北</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2391.42</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1527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571.68</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4685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849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120</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116.6</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1220.72</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dirty="0">
                          <a:effectLst/>
                          <a:ea typeface="+mn-ea"/>
                          <a:cs typeface="+mn-ea"/>
                        </a:rPr>
                        <a:t>湖南</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2195.7</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1408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422.61</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4797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1011.8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115.5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843.83</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dirty="0">
                          <a:effectLst/>
                          <a:ea typeface="+mn-ea"/>
                          <a:cs typeface="+mn-ea"/>
                        </a:rPr>
                        <a:t>广东</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5381.72</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2699</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1639.83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8250</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656.5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111.6</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1396.35</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广西</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1606.15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1314</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382.59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5150</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556</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118.4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116.4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554.97</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海南</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364.17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1814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198.35</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5340</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232.1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113.5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111.3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64.33</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四川</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3534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1261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822.54</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4645</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902.3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118.5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1431.81</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贵州</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630.07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942</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150.84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4475</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301.1</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121.4</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117.2</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324.72</a:t>
                      </a:r>
                      <a:endParaRPr lang="zh-CN" sz="1800" kern="100">
                        <a:effectLst/>
                        <a:latin typeface="Calibri" panose="020F0502020204030204" pitchFamily="34" charset="0"/>
                        <a:ea typeface="+mn-ea"/>
                        <a:cs typeface="+mn-ea"/>
                      </a:endParaRPr>
                    </a:p>
                  </a:txBody>
                  <a:tcPr marL="14393" marR="14393" marT="10795" marB="0" anchor="ctr"/>
                </a:tc>
              </a:tr>
              <a:tr h="333549">
                <a:tc>
                  <a:txBody>
                    <a:bodyPr/>
                    <a:lstStyle/>
                    <a:p>
                      <a:pPr algn="ctr">
                        <a:lnSpc>
                          <a:spcPct val="100000"/>
                        </a:lnSpc>
                        <a:spcBef>
                          <a:spcPts val="0"/>
                        </a:spcBef>
                        <a:spcAft>
                          <a:spcPts val="0"/>
                        </a:spcAft>
                      </a:pPr>
                      <a:r>
                        <a:rPr lang="zh-CN" sz="1800" kern="100">
                          <a:effectLst/>
                          <a:ea typeface="+mn-ea"/>
                          <a:cs typeface="+mn-ea"/>
                        </a:rPr>
                        <a:t>云南</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1206.68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1261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334</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5149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310.4</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121.3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118.1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716.65</a:t>
                      </a:r>
                      <a:endParaRPr lang="zh-CN" sz="1800" kern="100">
                        <a:effectLst/>
                        <a:latin typeface="Calibri" panose="020F0502020204030204" pitchFamily="34" charset="0"/>
                        <a:ea typeface="+mn-ea"/>
                        <a:cs typeface="+mn-ea"/>
                      </a:endParaRPr>
                    </a:p>
                  </a:txBody>
                  <a:tcPr marL="14393" marR="14393" marT="10795" marB="0" anchor="ctr"/>
                </a:tc>
              </a:tr>
              <a:tr h="333549">
                <a:tc>
                  <a:txBody>
                    <a:bodyPr/>
                    <a:lstStyle/>
                    <a:p>
                      <a:pPr algn="ctr">
                        <a:lnSpc>
                          <a:spcPct val="100000"/>
                        </a:lnSpc>
                        <a:spcBef>
                          <a:spcPts val="0"/>
                        </a:spcBef>
                        <a:spcAft>
                          <a:spcPts val="0"/>
                        </a:spcAft>
                      </a:pPr>
                      <a:r>
                        <a:rPr lang="zh-CN" sz="1800" kern="100">
                          <a:effectLst/>
                          <a:ea typeface="+mn-ea"/>
                          <a:cs typeface="+mn-ea"/>
                        </a:rPr>
                        <a:t>西藏</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55.98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1110</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17.87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7382</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4.2</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117.3</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114.9</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5.57</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陕西</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1000.03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1208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300.27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4396</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500.9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119</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117</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600.98</a:t>
                      </a:r>
                      <a:endParaRPr lang="zh-CN" sz="1800" kern="10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甘肃</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553.35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1007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114.81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5493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507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119.8</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116.5</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468.79</a:t>
                      </a:r>
                      <a:endParaRPr lang="zh-CN" sz="1800" kern="100" dirty="0">
                        <a:effectLst/>
                        <a:latin typeface="Calibri" panose="020F0502020204030204" pitchFamily="34" charset="0"/>
                        <a:ea typeface="+mn-ea"/>
                        <a:cs typeface="+mn-ea"/>
                      </a:endParaRPr>
                    </a:p>
                  </a:txBody>
                  <a:tcPr marL="14393" marR="14393" marT="10795" marB="0" anchor="ctr"/>
                </a:tc>
              </a:tr>
              <a:tr h="333549">
                <a:tc>
                  <a:txBody>
                    <a:bodyPr/>
                    <a:lstStyle/>
                    <a:p>
                      <a:pPr algn="ctr">
                        <a:lnSpc>
                          <a:spcPct val="100000"/>
                        </a:lnSpc>
                        <a:spcBef>
                          <a:spcPts val="0"/>
                        </a:spcBef>
                        <a:spcAft>
                          <a:spcPts val="0"/>
                        </a:spcAft>
                      </a:pPr>
                      <a:r>
                        <a:rPr lang="zh-CN" sz="1800" kern="100">
                          <a:effectLst/>
                          <a:ea typeface="+mn-ea"/>
                          <a:cs typeface="+mn-ea"/>
                        </a:rPr>
                        <a:t>青海</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165.31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1445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47.76</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5753</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61.6</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116.3</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105.8</a:t>
                      </a:r>
                      <a:endParaRPr lang="zh-CN" sz="1800" kern="100" dirty="0">
                        <a:effectLst/>
                        <a:latin typeface="Calibri" panose="020F0502020204030204" pitchFamily="34" charset="0"/>
                        <a:ea typeface="+mn-ea"/>
                        <a:cs typeface="+mn-ea"/>
                      </a:endParaRPr>
                    </a:p>
                  </a:txBody>
                  <a:tcPr marL="14393" marR="14393" marT="10795" marB="0" anchor="ctr"/>
                </a:tc>
              </a:tr>
              <a:tr h="333549">
                <a:tc>
                  <a:txBody>
                    <a:bodyPr/>
                    <a:lstStyle/>
                    <a:p>
                      <a:pPr algn="ctr">
                        <a:lnSpc>
                          <a:spcPct val="100000"/>
                        </a:lnSpc>
                        <a:spcBef>
                          <a:spcPts val="0"/>
                        </a:spcBef>
                        <a:spcAft>
                          <a:spcPts val="0"/>
                        </a:spcAft>
                      </a:pPr>
                      <a:r>
                        <a:rPr lang="zh-CN" sz="1800" kern="100">
                          <a:effectLst/>
                          <a:ea typeface="+mn-ea"/>
                          <a:cs typeface="+mn-ea"/>
                        </a:rPr>
                        <a:t>宁夏</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169.75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1355</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61.98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5079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121.8</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117.1</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115.3</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114.4</a:t>
                      </a:r>
                      <a:endParaRPr lang="zh-CN" sz="1800" kern="100" dirty="0">
                        <a:effectLst/>
                        <a:latin typeface="Calibri" panose="020F0502020204030204" pitchFamily="34" charset="0"/>
                        <a:ea typeface="+mn-ea"/>
                        <a:cs typeface="+mn-ea"/>
                      </a:endParaRPr>
                    </a:p>
                  </a:txBody>
                  <a:tcPr marL="14393" marR="14393" marT="10795" marB="0" anchor="ctr"/>
                </a:tc>
              </a:tr>
              <a:tr h="360759">
                <a:tc>
                  <a:txBody>
                    <a:bodyPr/>
                    <a:lstStyle/>
                    <a:p>
                      <a:pPr algn="ctr">
                        <a:lnSpc>
                          <a:spcPct val="100000"/>
                        </a:lnSpc>
                        <a:spcBef>
                          <a:spcPts val="0"/>
                        </a:spcBef>
                        <a:spcAft>
                          <a:spcPts val="0"/>
                        </a:spcAft>
                      </a:pPr>
                      <a:r>
                        <a:rPr lang="zh-CN" sz="1800" kern="100">
                          <a:effectLst/>
                          <a:ea typeface="+mn-ea"/>
                          <a:cs typeface="+mn-ea"/>
                        </a:rPr>
                        <a:t>新疆</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834.57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1469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376.95</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5348</a:t>
                      </a:r>
                      <a:endParaRPr lang="zh-CN" sz="18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339</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119.7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116.7</a:t>
                      </a:r>
                      <a:endParaRPr lang="zh-CN" sz="18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428.76</a:t>
                      </a:r>
                      <a:endParaRPr lang="zh-CN" sz="1800" kern="100" dirty="0">
                        <a:effectLst/>
                        <a:latin typeface="Calibri" panose="020F0502020204030204" pitchFamily="34" charset="0"/>
                        <a:ea typeface="+mn-ea"/>
                        <a:cs typeface="+mn-ea"/>
                      </a:endParaRPr>
                    </a:p>
                  </a:txBody>
                  <a:tcPr marL="14393" marR="14393" marT="10795" marB="0" anchor="ctr"/>
                </a:tc>
              </a:tr>
            </a:tbl>
          </a:graphicData>
        </a:graphic>
      </p:graphicFrame>
      <p:sp>
        <p:nvSpPr>
          <p:cNvPr id="7" name="Text Box 2"/>
          <p:cNvSpPr txBox="1">
            <a:spLocks noChangeArrowheads="1"/>
          </p:cNvSpPr>
          <p:nvPr/>
        </p:nvSpPr>
        <p:spPr bwMode="auto">
          <a:xfrm>
            <a:off x="733710" y="3586"/>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468311" y="947069"/>
                <a:ext cx="11273923" cy="5457998"/>
              </a:xfrm>
              <a:prstGeom prst="rect">
                <a:avLst/>
              </a:prstGeom>
              <a:noFill/>
              <a:ln>
                <a:noFill/>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spcBef>
                    <a:spcPct val="0"/>
                  </a:spcBef>
                  <a:buNone/>
                </a:pPr>
                <a:r>
                  <a:rPr lang="zh-CN" altLang="zh-CN" dirty="0">
                    <a:ea typeface="+mn-ea"/>
                    <a:cs typeface="+mn-ea"/>
                  </a:rPr>
                  <a:t>【解】</a:t>
                </a:r>
                <a:r>
                  <a:rPr lang="zh-CN" altLang="zh-CN" dirty="0">
                    <a:latin typeface="+mn-ea"/>
                    <a:ea typeface="+mn-ea"/>
                    <a:cs typeface="+mn-ea"/>
                  </a:rPr>
                  <a:t>首先将</a:t>
                </a:r>
                <a:r>
                  <a:rPr lang="zh-CN" altLang="zh-CN" dirty="0" smtClean="0">
                    <a:latin typeface="+mn-ea"/>
                    <a:ea typeface="+mn-ea"/>
                    <a:cs typeface="+mn-ea"/>
                  </a:rPr>
                  <a:t>表</a:t>
                </a:r>
                <a:r>
                  <a:rPr lang="en-US" altLang="zh-CN" dirty="0" smtClean="0">
                    <a:latin typeface="+mn-ea"/>
                    <a:ea typeface="+mn-ea"/>
                    <a:cs typeface="+mn-ea"/>
                  </a:rPr>
                  <a:t>1</a:t>
                </a:r>
                <a:r>
                  <a:rPr lang="zh-CN" altLang="zh-CN" dirty="0" smtClean="0">
                    <a:latin typeface="+mn-ea"/>
                    <a:ea typeface="+mn-ea"/>
                    <a:cs typeface="+mn-ea"/>
                  </a:rPr>
                  <a:t>中</a:t>
                </a:r>
                <a:r>
                  <a:rPr lang="zh-CN" altLang="zh-CN" dirty="0">
                    <a:latin typeface="+mn-ea"/>
                    <a:ea typeface="+mn-ea"/>
                    <a:cs typeface="+mn-ea"/>
                  </a:rPr>
                  <a:t>数据进行标准化处理，并依据标准化处理后数据建立协方差矩阵，</a:t>
                </a:r>
                <a:r>
                  <a:rPr lang="zh-CN" altLang="zh-CN" dirty="0" smtClean="0">
                    <a:latin typeface="+mn-ea"/>
                    <a:ea typeface="+mn-ea"/>
                    <a:cs typeface="+mn-ea"/>
                  </a:rPr>
                  <a:t>表</a:t>
                </a:r>
                <a:r>
                  <a:rPr lang="en-US" altLang="zh-CN" dirty="0" smtClean="0">
                    <a:latin typeface="+mn-ea"/>
                    <a:ea typeface="+mn-ea"/>
                    <a:cs typeface="+mn-ea"/>
                  </a:rPr>
                  <a:t>2</a:t>
                </a:r>
                <a:r>
                  <a:rPr lang="zh-CN" altLang="zh-CN" dirty="0" smtClean="0">
                    <a:latin typeface="+mn-ea"/>
                    <a:ea typeface="+mn-ea"/>
                    <a:cs typeface="+mn-ea"/>
                  </a:rPr>
                  <a:t>为</a:t>
                </a:r>
                <a:r>
                  <a:rPr lang="zh-CN" altLang="zh-CN" dirty="0">
                    <a:latin typeface="+mn-ea"/>
                    <a:ea typeface="+mn-ea"/>
                    <a:cs typeface="+mn-ea"/>
                  </a:rPr>
                  <a:t>所求的协方差矩阵。</a:t>
                </a:r>
                <a:endParaRPr lang="en-US" altLang="zh-CN" dirty="0">
                  <a:latin typeface="+mn-ea"/>
                  <a:ea typeface="+mn-ea"/>
                  <a:cs typeface="+mn-ea"/>
                </a:endParaRPr>
              </a:p>
              <a:p>
                <a:pPr marL="0" indent="0" algn="ctr">
                  <a:spcBef>
                    <a:spcPct val="0"/>
                  </a:spcBef>
                  <a:buNone/>
                </a:pPr>
                <a:endParaRPr lang="en-US" altLang="zh-CN" sz="1600" i="1" dirty="0">
                  <a:latin typeface="Cambria Math" panose="02040503050406030204" pitchFamily="18" charset="0"/>
                  <a:ea typeface="+mn-ea"/>
                  <a:cs typeface="+mn-ea"/>
                </a:endParaRPr>
              </a:p>
              <a:p>
                <a:pPr marL="0" indent="0" algn="ctr">
                  <a:spcBef>
                    <a:spcPct val="0"/>
                  </a:spcBef>
                  <a:buNone/>
                </a:pPr>
                <a14:m>
                  <m:oMath xmlns:m="http://schemas.openxmlformats.org/officeDocument/2006/math">
                    <m:r>
                      <a:rPr lang="zh-CN" altLang="en-US" sz="2000" i="1" dirty="0">
                        <a:latin typeface="Cambria Math" panose="02040503050406030204" pitchFamily="18" charset="0"/>
                        <a:ea typeface="+mn-ea"/>
                        <a:cs typeface="+mn-ea"/>
                      </a:rPr>
                      <m:t>表</m:t>
                    </m:r>
                  </m:oMath>
                </a14:m>
                <a:r>
                  <a:rPr lang="en-US" altLang="zh-CN" sz="2000" dirty="0" smtClean="0">
                    <a:ea typeface="+mn-ea"/>
                    <a:cs typeface="+mn-ea"/>
                  </a:rPr>
                  <a:t>2  </a:t>
                </a:r>
                <a:r>
                  <a:rPr lang="zh-CN" altLang="en-US" sz="2000" dirty="0" smtClean="0">
                    <a:ea typeface="+mn-ea"/>
                    <a:cs typeface="+mn-ea"/>
                  </a:rPr>
                  <a:t>协方差</a:t>
                </a:r>
                <a:r>
                  <a:rPr lang="zh-CN" altLang="en-US" sz="2000" dirty="0">
                    <a:ea typeface="+mn-ea"/>
                    <a:cs typeface="+mn-ea"/>
                  </a:rPr>
                  <a:t>矩阵元素取值表</a:t>
                </a:r>
                <a:endParaRPr lang="zh-CN" altLang="zh-CN" sz="2000" dirty="0">
                  <a:ea typeface="+mn-ea"/>
                  <a:cs typeface="+mn-ea"/>
                </a:endParaRPr>
              </a:p>
              <a:p>
                <a:pPr marL="0" indent="0" algn="ctr">
                  <a:spcBef>
                    <a:spcPct val="0"/>
                  </a:spcBef>
                  <a:buNone/>
                </a:pPr>
                <a:endParaRPr lang="zh-CN"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468311" y="947069"/>
                <a:ext cx="11273923" cy="5457998"/>
              </a:xfrm>
              <a:prstGeom prst="rect">
                <a:avLst/>
              </a:prstGeom>
              <a:blipFill rotWithShape="1">
                <a:blip r:embed="rId2"/>
                <a:stretch>
                  <a:fillRect l="-3" t="-5" r="-1883" b="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1622655" y="2406888"/>
              <a:ext cx="9550865" cy="3715129"/>
            </p:xfrm>
            <a:graphic>
              <a:graphicData uri="http://schemas.openxmlformats.org/drawingml/2006/table">
                <a:tbl>
                  <a:tblPr firstRow="1" firstCol="1" bandRow="1">
                    <a:tableStyleId>{5940675A-B579-460E-94D1-54222C63F5DA}</a:tableStyleId>
                  </a:tblPr>
                  <a:tblGrid>
                    <a:gridCol w="889510"/>
                    <a:gridCol w="1075245"/>
                    <a:gridCol w="1138423"/>
                    <a:gridCol w="1075245"/>
                    <a:gridCol w="1073984"/>
                    <a:gridCol w="1075245"/>
                    <a:gridCol w="1073984"/>
                    <a:gridCol w="1075245"/>
                    <a:gridCol w="1073984"/>
                  </a:tblGrid>
                  <a:tr h="327849">
                    <a:tc>
                      <a:txBody>
                        <a:bodyPr/>
                        <a:lstStyle/>
                        <a:p>
                          <a:pPr algn="ctr">
                            <a:lnSpc>
                              <a:spcPct val="100000"/>
                            </a:lnSpc>
                            <a:spcBef>
                              <a:spcPts val="0"/>
                            </a:spcBef>
                            <a:spcAft>
                              <a:spcPts val="0"/>
                            </a:spcAft>
                          </a:pPr>
                          <a:r>
                            <a:rPr lang="en-US" sz="1800" kern="100" dirty="0">
                              <a:effectLst/>
                              <a:ea typeface="+mn-ea"/>
                              <a:cs typeface="+mn-ea"/>
                            </a:rPr>
                            <a:t> </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1</m:t>
                                    </m:r>
                                  </m:sub>
                                </m:sSub>
                              </m:oMath>
                            </m:oMathPara>
                          </a14:m>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2</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3</m:t>
                                    </m:r>
                                  </m:sub>
                                </m:sSub>
                              </m:oMath>
                            </m:oMathPara>
                          </a14:m>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4</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5</m:t>
                                    </m:r>
                                  </m:sub>
                                </m:sSub>
                              </m:oMath>
                            </m:oMathPara>
                          </a14:m>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6</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7</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8</m:t>
                                    </m:r>
                                  </m:sub>
                                </m:sSub>
                              </m:oMath>
                            </m:oMathPara>
                          </a14:m>
                          <a:endParaRPr lang="zh-CN" sz="1800" kern="10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1</m:t>
                                    </m:r>
                                  </m:sub>
                                </m:sSub>
                              </m:oMath>
                            </m:oMathPara>
                          </a14:m>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0.2668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0.9506</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0.1899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0.6172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-0.2726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-0.2636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0.8737</a:t>
                          </a:r>
                          <a:endParaRPr lang="zh-CN" sz="1800" kern="10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2</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0.2668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0.4261</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0.7178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-0.1510</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-0.2351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-0.5927</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0.3631</a:t>
                          </a:r>
                          <a:endParaRPr lang="zh-CN" sz="1800" kern="10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3</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0.9506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0.4261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0.3989</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0.4306</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-0.2805</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-0.3591</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0.7919</a:t>
                          </a:r>
                          <a:endParaRPr lang="zh-CN" sz="1800" kern="10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4</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0.1899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0.7178</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0.3989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-0.3562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-0.1342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-0.5384</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0.1033</a:t>
                          </a:r>
                          <a:endParaRPr lang="zh-CN" sz="1800" kern="10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5</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0.6172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-0.1510</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0.4306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-0.3562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-0.2532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0.0217</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0.6586</a:t>
                          </a:r>
                          <a:endParaRPr lang="zh-CN" sz="1800" kern="100" dirty="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6</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-0.2726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-0.2351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-0.2805</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-0.1342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-0.2532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0.7628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0.1252</a:t>
                          </a:r>
                          <a:endParaRPr lang="zh-CN" sz="1800" kern="100" dirty="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7</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-0.2636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-0.5927</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-0.3591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-0.5384</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0.0217</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0.7628</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-0.1921</a:t>
                          </a:r>
                          <a:endParaRPr lang="zh-CN" sz="1800" kern="100" dirty="0">
                            <a:effectLst/>
                            <a:latin typeface="Calibri" panose="020F0502020204030204" pitchFamily="34" charset="0"/>
                            <a:ea typeface="+mn-ea"/>
                            <a:cs typeface="+mn-ea"/>
                          </a:endParaRPr>
                        </a:p>
                      </a:txBody>
                      <a:tcPr marL="68580" marR="68580" marT="0" marB="0"/>
                    </a:tc>
                  </a:tr>
                  <a:tr h="42341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𝒂</m:t>
                                    </m:r>
                                  </m:e>
                                  <m:sub>
                                    <m:r>
                                      <a:rPr lang="en-US" sz="1800" kern="100">
                                        <a:effectLst/>
                                        <a:latin typeface="Cambria Math" panose="02040503050406030204" pitchFamily="18" charset="0"/>
                                        <a:ea typeface="+mn-ea"/>
                                        <a:cs typeface="+mn-ea"/>
                                      </a:rPr>
                                      <m:t>8</m:t>
                                    </m:r>
                                  </m:sub>
                                </m:sSub>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0.8737</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0.3631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0.7919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0.1033</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0.6586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-0.1252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-0.1921</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r>
                </a:tbl>
              </a:graphicData>
            </a:graphic>
          </p:graphicFrame>
        </mc:Choice>
        <mc:Fallback xmlns="">
          <p:graphicFrame>
            <p:nvGraphicFramePr>
              <p:cNvPr id="3" name="表格 2"/>
              <p:cNvGraphicFramePr>
                <a:graphicFrameLocks noGrp="1"/>
              </p:cNvGraphicFramePr>
              <p:nvPr/>
            </p:nvGraphicFramePr>
            <p:xfrm>
              <a:off x="1622655" y="2406888"/>
              <a:ext cx="9550865" cy="3715129"/>
            </p:xfrm>
            <a:graphic>
              <a:graphicData uri="http://schemas.openxmlformats.org/drawingml/2006/table">
                <a:tbl>
                  <a:tblPr firstRow="1" firstCol="1" bandRow="1">
                    <a:tableStyleId>{5940675A-B579-460E-94D1-54222C63F5DA}</a:tableStyleId>
                  </a:tblPr>
                  <a:tblGrid>
                    <a:gridCol w="889510"/>
                    <a:gridCol w="1075245"/>
                    <a:gridCol w="1138423"/>
                    <a:gridCol w="1075245"/>
                    <a:gridCol w="1073984"/>
                    <a:gridCol w="1075245"/>
                    <a:gridCol w="1073984"/>
                    <a:gridCol w="1075245"/>
                    <a:gridCol w="1073984"/>
                  </a:tblGrid>
                  <a:tr h="327660">
                    <a:tc>
                      <a:txBody>
                        <a:bodyPr/>
                        <a:lstStyle/>
                        <a:p>
                          <a:pPr algn="ctr">
                            <a:lnSpc>
                              <a:spcPct val="100000"/>
                            </a:lnSpc>
                            <a:spcBef>
                              <a:spcPts val="0"/>
                            </a:spcBef>
                            <a:spcAft>
                              <a:spcPts val="0"/>
                            </a:spcAft>
                          </a:pPr>
                          <a:r>
                            <a:rPr lang="en-US" sz="1800" kern="100" dirty="0">
                              <a:effectLst/>
                              <a:ea typeface="+mn-ea"/>
                              <a:cs typeface="+mn-ea"/>
                            </a:rPr>
                            <a:t> </a:t>
                          </a:r>
                          <a:endParaRPr lang="zh-CN" sz="1800" kern="100" dirty="0">
                            <a:effectLst/>
                            <a:latin typeface="Calibri" panose="020F0502020204030204" pitchFamily="34" charset="0"/>
                            <a:ea typeface="+mn-ea"/>
                            <a:cs typeface="+mn-ea"/>
                          </a:endParaRPr>
                        </a:p>
                      </a:txBody>
                      <a:tcPr marL="68580" marR="68580" marT="0" marB="0"/>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0.2668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0.9506</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0.1899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0.6172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-0.2726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-0.2636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0.8737</a:t>
                          </a:r>
                          <a:endParaRPr lang="zh-CN" sz="1800" kern="100">
                            <a:effectLst/>
                            <a:latin typeface="Calibri" panose="020F0502020204030204" pitchFamily="34" charset="0"/>
                            <a:ea typeface="+mn-ea"/>
                            <a:cs typeface="+mn-ea"/>
                          </a:endParaRPr>
                        </a:p>
                      </a:txBody>
                      <a:tcPr marL="68580" marR="68580" marT="0" marB="0"/>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0.2668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0.4261</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0.7178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-0.1510</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-0.2351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-0.5927</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0.3631</a:t>
                          </a:r>
                          <a:endParaRPr lang="zh-CN" sz="1800" kern="100">
                            <a:effectLst/>
                            <a:latin typeface="Calibri" panose="020F0502020204030204" pitchFamily="34" charset="0"/>
                            <a:ea typeface="+mn-ea"/>
                            <a:cs typeface="+mn-ea"/>
                          </a:endParaRPr>
                        </a:p>
                      </a:txBody>
                      <a:tcPr marL="68580" marR="68580" marT="0" marB="0"/>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0.9506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0.4261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0.3989</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0.4306</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-0.2805</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-0.3591</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0.7919</a:t>
                          </a:r>
                          <a:endParaRPr lang="zh-CN" sz="1800" kern="100">
                            <a:effectLst/>
                            <a:latin typeface="Calibri" panose="020F0502020204030204" pitchFamily="34" charset="0"/>
                            <a:ea typeface="+mn-ea"/>
                            <a:cs typeface="+mn-ea"/>
                          </a:endParaRPr>
                        </a:p>
                      </a:txBody>
                      <a:tcPr marL="68580" marR="68580" marT="0" marB="0"/>
                    </a:tc>
                  </a:tr>
                  <a:tr h="422910">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0.1899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0.7178</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0.3989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-0.3562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-0.1342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-0.5384</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0.1033</a:t>
                          </a:r>
                          <a:endParaRPr lang="zh-CN" sz="1800" kern="100">
                            <a:effectLst/>
                            <a:latin typeface="Calibri" panose="020F0502020204030204" pitchFamily="34" charset="0"/>
                            <a:ea typeface="+mn-ea"/>
                            <a:cs typeface="+mn-ea"/>
                          </a:endParaRPr>
                        </a:p>
                      </a:txBody>
                      <a:tcPr marL="68580" marR="68580" marT="0" marB="0"/>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0.6172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-0.1510</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0.4306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-0.3562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-0.2532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0.0217</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0.6586</a:t>
                          </a:r>
                          <a:endParaRPr lang="zh-CN" sz="1800" kern="100" dirty="0">
                            <a:effectLst/>
                            <a:latin typeface="Calibri" panose="020F0502020204030204" pitchFamily="34" charset="0"/>
                            <a:ea typeface="+mn-ea"/>
                            <a:cs typeface="+mn-ea"/>
                          </a:endParaRPr>
                        </a:p>
                      </a:txBody>
                      <a:tcPr marL="68580" marR="68580" marT="0" marB="0"/>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-0.2726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-0.2351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-0.2805</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-0.1342</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-0.2532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0.7628</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0.1252</a:t>
                          </a:r>
                          <a:endParaRPr lang="zh-CN" sz="1800" kern="100" dirty="0">
                            <a:effectLst/>
                            <a:latin typeface="Calibri" panose="020F0502020204030204" pitchFamily="34" charset="0"/>
                            <a:ea typeface="+mn-ea"/>
                            <a:cs typeface="+mn-ea"/>
                          </a:endParaRPr>
                        </a:p>
                      </a:txBody>
                      <a:tcPr marL="68580" marR="68580" marT="0" marB="0"/>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-0.2636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-0.5927</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-0.3591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-0.5384</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0.0217</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0.7628</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-0.1921</a:t>
                          </a:r>
                          <a:endParaRPr lang="zh-CN" sz="1800" kern="100" dirty="0">
                            <a:effectLst/>
                            <a:latin typeface="Calibri" panose="020F0502020204030204" pitchFamily="34" charset="0"/>
                            <a:ea typeface="+mn-ea"/>
                            <a:cs typeface="+mn-ea"/>
                          </a:endParaRPr>
                        </a:p>
                      </a:txBody>
                      <a:tcPr marL="68580" marR="68580" marT="0" marB="0"/>
                    </a:tc>
                  </a:tr>
                  <a:tr h="423545">
                    <a:tc>
                      <a:txBody>
                        <a:bodyPr/>
                        <a:lstStyle/>
                        <a:p>
                          <a:endParaRPr lang="zh-CN"/>
                        </a:p>
                      </a:txBody>
                      <a:tcPr marL="68580" marR="6858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0.8737</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0.3631</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0.7919</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0.1033</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a:effectLst/>
                              <a:ea typeface="+mn-ea"/>
                              <a:cs typeface="+mn-ea"/>
                            </a:rPr>
                            <a:t>0.6586</a:t>
                          </a:r>
                          <a:endParaRPr lang="zh-CN" sz="1800" kern="10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-0.1252</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-0.1921</a:t>
                          </a:r>
                          <a:endParaRPr lang="zh-CN" sz="1800" kern="100" dirty="0">
                            <a:effectLst/>
                            <a:latin typeface="Calibri" panose="020F0502020204030204" pitchFamily="34" charset="0"/>
                            <a:ea typeface="+mn-ea"/>
                            <a:cs typeface="+mn-ea"/>
                          </a:endParaRPr>
                        </a:p>
                      </a:txBody>
                      <a:tcPr marL="68580" marR="68580" marT="0" marB="0"/>
                    </a:tc>
                    <a:tc>
                      <a:txBody>
                        <a:bodyPr/>
                        <a:lstStyle/>
                        <a:p>
                          <a:pPr algn="ctr">
                            <a:lnSpc>
                              <a:spcPct val="100000"/>
                            </a:lnSpc>
                            <a:spcBef>
                              <a:spcPts val="0"/>
                            </a:spcBef>
                            <a:spcAft>
                              <a:spcPts val="0"/>
                            </a:spcAft>
                          </a:pPr>
                          <a:r>
                            <a:rPr lang="en-US" sz="1800" kern="100" dirty="0">
                              <a:effectLst/>
                              <a:ea typeface="+mn-ea"/>
                              <a:cs typeface="+mn-ea"/>
                            </a:rPr>
                            <a:t>1.0000</a:t>
                          </a:r>
                          <a:endParaRPr lang="zh-CN" sz="1800" kern="100" dirty="0">
                            <a:effectLst/>
                            <a:latin typeface="Calibri" panose="020F0502020204030204" pitchFamily="34" charset="0"/>
                            <a:ea typeface="+mn-ea"/>
                            <a:cs typeface="+mn-ea"/>
                          </a:endParaRPr>
                        </a:p>
                      </a:txBody>
                      <a:tcPr marL="68580" marR="68580" marT="0" marB="0"/>
                    </a:tc>
                  </a:tr>
                </a:tbl>
              </a:graphicData>
            </a:graphic>
          </p:graphicFrame>
        </mc:Fallback>
      </mc:AlternateContent>
      <p:sp>
        <p:nvSpPr>
          <p:cNvPr id="7" name="Text Box 2"/>
          <p:cNvSpPr txBox="1">
            <a:spLocks noChangeArrowheads="1"/>
          </p:cNvSpPr>
          <p:nvPr/>
        </p:nvSpPr>
        <p:spPr bwMode="auto">
          <a:xfrm>
            <a:off x="566439" y="0"/>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468312" y="825980"/>
                <a:ext cx="10493337" cy="5457998"/>
              </a:xfrm>
              <a:prstGeom prst="rect">
                <a:avLst/>
              </a:prstGeom>
              <a:noFill/>
              <a:ln>
                <a:noFill/>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spcBef>
                    <a:spcPct val="0"/>
                  </a:spcBef>
                  <a:buNone/>
                </a:pPr>
                <a:r>
                  <a:rPr lang="zh-CN" altLang="zh-CN" dirty="0">
                    <a:latin typeface="+mn-ea"/>
                    <a:ea typeface="+mn-ea"/>
                    <a:cs typeface="+mn-ea"/>
                  </a:rPr>
                  <a:t>然后，对协方差矩阵进行对角化处理，</a:t>
                </a:r>
                <a:r>
                  <a:rPr lang="zh-CN" altLang="zh-CN" dirty="0" smtClean="0">
                    <a:latin typeface="+mn-ea"/>
                    <a:ea typeface="+mn-ea"/>
                    <a:cs typeface="+mn-ea"/>
                  </a:rPr>
                  <a:t>表</a:t>
                </a:r>
                <a:r>
                  <a:rPr lang="en-US" altLang="zh-CN" dirty="0" smtClean="0">
                    <a:latin typeface="+mn-ea"/>
                    <a:ea typeface="+mn-ea"/>
                    <a:cs typeface="+mn-ea"/>
                  </a:rPr>
                  <a:t>3</a:t>
                </a:r>
                <a:r>
                  <a:rPr lang="zh-CN" altLang="zh-CN" dirty="0" smtClean="0">
                    <a:latin typeface="+mn-ea"/>
                    <a:ea typeface="+mn-ea"/>
                    <a:cs typeface="+mn-ea"/>
                  </a:rPr>
                  <a:t>为</a:t>
                </a:r>
                <a:r>
                  <a:rPr lang="zh-CN" altLang="zh-CN" dirty="0">
                    <a:latin typeface="+mn-ea"/>
                    <a:ea typeface="+mn-ea"/>
                    <a:cs typeface="+mn-ea"/>
                  </a:rPr>
                  <a:t>所求特征值并按从大到小的次序排列。</a:t>
                </a:r>
                <a:r>
                  <a:rPr lang="zh-CN" altLang="zh-CN" dirty="0" smtClean="0">
                    <a:latin typeface="+mn-ea"/>
                    <a:ea typeface="+mn-ea"/>
                    <a:cs typeface="+mn-ea"/>
                  </a:rPr>
                  <a:t>表</a:t>
                </a:r>
                <a:r>
                  <a:rPr lang="en-US" altLang="zh-CN" dirty="0" smtClean="0">
                    <a:latin typeface="+mn-ea"/>
                    <a:ea typeface="+mn-ea"/>
                    <a:cs typeface="+mn-ea"/>
                  </a:rPr>
                  <a:t>3</a:t>
                </a:r>
                <a:r>
                  <a:rPr lang="zh-CN" altLang="zh-CN" dirty="0" smtClean="0">
                    <a:latin typeface="+mn-ea"/>
                    <a:ea typeface="+mn-ea"/>
                    <a:cs typeface="+mn-ea"/>
                  </a:rPr>
                  <a:t>中</a:t>
                </a:r>
                <a:r>
                  <a:rPr lang="zh-CN" altLang="zh-CN" dirty="0">
                    <a:latin typeface="+mn-ea"/>
                    <a:ea typeface="+mn-ea"/>
                    <a:cs typeface="+mn-ea"/>
                  </a:rPr>
                  <a:t>最后两列分别是各特征值的方差贡献率及其累计值。</a:t>
                </a:r>
                <a:endParaRPr lang="en-US" altLang="zh-CN" dirty="0">
                  <a:latin typeface="+mn-ea"/>
                  <a:ea typeface="+mn-ea"/>
                  <a:cs typeface="+mn-ea"/>
                </a:endParaRPr>
              </a:p>
              <a:p>
                <a:pPr marL="0" indent="0">
                  <a:spcBef>
                    <a:spcPct val="0"/>
                  </a:spcBef>
                  <a:buNone/>
                </a:pPr>
                <a:r>
                  <a:rPr lang="en-US" altLang="zh-CN" sz="1800" dirty="0">
                    <a:ea typeface="+mn-ea"/>
                    <a:cs typeface="+mn-ea"/>
                  </a:rPr>
                  <a:t>                                      </a:t>
                </a:r>
                <a:endParaRPr lang="en-US" altLang="zh-CN" sz="1800" dirty="0" smtClean="0">
                  <a:ea typeface="+mn-ea"/>
                  <a:cs typeface="+mn-ea"/>
                </a:endParaRPr>
              </a:p>
              <a:p>
                <a:pPr marL="0" indent="0" algn="ctr">
                  <a:spcBef>
                    <a:spcPct val="0"/>
                  </a:spcBef>
                  <a:buNone/>
                </a:pPr>
                <a14:m>
                  <m:oMath xmlns:m="http://schemas.openxmlformats.org/officeDocument/2006/math">
                    <m:r>
                      <a:rPr lang="zh-CN" altLang="en-US" sz="2000" dirty="0">
                        <a:latin typeface="Cambria Math" panose="02040503050406030204" pitchFamily="18" charset="0"/>
                        <a:ea typeface="+mn-ea"/>
                        <a:cs typeface="+mn-ea"/>
                      </a:rPr>
                      <m:t>表</m:t>
                    </m:r>
                  </m:oMath>
                </a14:m>
                <a:r>
                  <a:rPr lang="en-US" altLang="zh-CN" sz="2000" dirty="0" smtClean="0">
                    <a:latin typeface="+mn-ea"/>
                    <a:ea typeface="+mn-ea"/>
                    <a:cs typeface="+mn-ea"/>
                  </a:rPr>
                  <a:t>3 </a:t>
                </a:r>
                <a:r>
                  <a:rPr lang="zh-CN" altLang="en-US" sz="2000" dirty="0" smtClean="0">
                    <a:latin typeface="+mn-ea"/>
                    <a:ea typeface="+mn-ea"/>
                    <a:cs typeface="+mn-ea"/>
                  </a:rPr>
                  <a:t>特征值</a:t>
                </a:r>
                <a:r>
                  <a:rPr lang="zh-CN" altLang="en-US" sz="2000" dirty="0">
                    <a:latin typeface="+mn-ea"/>
                    <a:ea typeface="+mn-ea"/>
                    <a:cs typeface="+mn-ea"/>
                  </a:rPr>
                  <a:t>和方差贡献率</a:t>
                </a:r>
                <a:endParaRPr lang="zh-CN" altLang="zh-CN" sz="2000" dirty="0">
                  <a:latin typeface="+mn-ea"/>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zh-CN" altLang="zh-CN" dirty="0">
                  <a:ea typeface="+mn-ea"/>
                  <a:cs typeface="+mn-ea"/>
                </a:endParaRPr>
              </a:p>
              <a:p>
                <a:pPr marL="0" indent="0">
                  <a:spcBef>
                    <a:spcPct val="0"/>
                  </a:spcBef>
                  <a:buNone/>
                </a:pP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468312" y="825980"/>
                <a:ext cx="10493337" cy="5457998"/>
              </a:xfrm>
              <a:prstGeom prst="rect">
                <a:avLst/>
              </a:prstGeom>
              <a:blipFill rotWithShape="1">
                <a:blip r:embed="rId2"/>
                <a:stretch>
                  <a:fillRect l="-3" t="-9" r="3"/>
                </a:stretch>
              </a:blipFill>
              <a:ln>
                <a:noFill/>
              </a:ln>
              <a:effectLst/>
            </p:spPr>
            <p:txBody>
              <a:bodyPr/>
              <a:lstStyle/>
              <a:p>
                <a:r>
                  <a:rPr lang="zh-CN" altLang="en-US">
                    <a:noFill/>
                  </a:rPr>
                  <a:t> </a:t>
                </a:r>
              </a:p>
            </p:txBody>
          </p:sp>
        </mc:Fallback>
      </mc:AlternateContent>
      <p:graphicFrame>
        <p:nvGraphicFramePr>
          <p:cNvPr id="2" name="表格 1"/>
          <p:cNvGraphicFramePr>
            <a:graphicFrameLocks noGrp="1"/>
          </p:cNvGraphicFramePr>
          <p:nvPr/>
        </p:nvGraphicFramePr>
        <p:xfrm>
          <a:off x="2407891" y="2446180"/>
          <a:ext cx="7148704" cy="3837798"/>
        </p:xfrm>
        <a:graphic>
          <a:graphicData uri="http://schemas.openxmlformats.org/drawingml/2006/table">
            <a:tbl>
              <a:tblPr>
                <a:tableStyleId>{5940675A-B579-460E-94D1-54222C63F5DA}</a:tableStyleId>
              </a:tblPr>
              <a:tblGrid>
                <a:gridCol w="915164"/>
                <a:gridCol w="1617006"/>
                <a:gridCol w="2076218"/>
                <a:gridCol w="2540316"/>
              </a:tblGrid>
              <a:tr h="426422">
                <a:tc>
                  <a:txBody>
                    <a:bodyPr/>
                    <a:lstStyle/>
                    <a:p>
                      <a:pPr algn="ctr">
                        <a:lnSpc>
                          <a:spcPct val="100000"/>
                        </a:lnSpc>
                        <a:spcBef>
                          <a:spcPts val="0"/>
                        </a:spcBef>
                        <a:spcAft>
                          <a:spcPts val="0"/>
                        </a:spcAft>
                      </a:pPr>
                      <a:r>
                        <a:rPr lang="zh-CN" sz="1800" kern="100" dirty="0">
                          <a:effectLst/>
                          <a:ea typeface="+mn-ea"/>
                          <a:cs typeface="+mn-ea"/>
                        </a:rPr>
                        <a:t>编号</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zh-CN" sz="1800" kern="100" dirty="0">
                          <a:effectLst/>
                          <a:ea typeface="+mn-ea"/>
                          <a:cs typeface="+mn-ea"/>
                        </a:rPr>
                        <a:t>特征值</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zh-CN" sz="1800" kern="100">
                          <a:effectLst/>
                          <a:ea typeface="+mn-ea"/>
                          <a:cs typeface="+mn-ea"/>
                        </a:rPr>
                        <a:t>方差贡献率</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zh-CN" sz="1800" kern="100">
                          <a:effectLst/>
                          <a:ea typeface="+mn-ea"/>
                          <a:cs typeface="+mn-ea"/>
                        </a:rPr>
                        <a:t>累计方差贡献率</a:t>
                      </a:r>
                      <a:endParaRPr lang="zh-CN" sz="2400" kern="10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dirty="0">
                          <a:effectLst/>
                          <a:ea typeface="+mn-ea"/>
                          <a:cs typeface="+mn-ea"/>
                        </a:rPr>
                        <a:t>1</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3.754</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46.925%</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46.925%</a:t>
                      </a:r>
                      <a:endParaRPr lang="zh-CN" sz="2400" kern="10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a:effectLst/>
                          <a:ea typeface="+mn-ea"/>
                          <a:cs typeface="+mn-ea"/>
                        </a:rPr>
                        <a:t>2</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2.197</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27.4625%</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74.3875%</a:t>
                      </a:r>
                      <a:endParaRPr lang="zh-CN" sz="2400" kern="10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a:effectLst/>
                          <a:ea typeface="+mn-ea"/>
                          <a:cs typeface="+mn-ea"/>
                        </a:rPr>
                        <a:t>3</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1.215</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15.1875%</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89.575%</a:t>
                      </a:r>
                      <a:endParaRPr lang="zh-CN" sz="2400" kern="100" dirty="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a:effectLst/>
                          <a:ea typeface="+mn-ea"/>
                          <a:cs typeface="+mn-ea"/>
                        </a:rPr>
                        <a:t>4</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0.403</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5.0375%</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94.6125%</a:t>
                      </a:r>
                      <a:endParaRPr lang="zh-CN" sz="2400" kern="100" dirty="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a:effectLst/>
                          <a:ea typeface="+mn-ea"/>
                          <a:cs typeface="+mn-ea"/>
                        </a:rPr>
                        <a:t>5</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0.213</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2.6625%</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97.275%</a:t>
                      </a:r>
                      <a:endParaRPr lang="zh-CN" sz="2400" kern="100" dirty="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a:effectLst/>
                          <a:ea typeface="+mn-ea"/>
                          <a:cs typeface="+mn-ea"/>
                        </a:rPr>
                        <a:t>6</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0.138</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1.725%</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99%</a:t>
                      </a:r>
                      <a:endParaRPr lang="zh-CN" sz="2400" kern="100" dirty="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a:effectLst/>
                          <a:ea typeface="+mn-ea"/>
                          <a:cs typeface="+mn-ea"/>
                        </a:rPr>
                        <a:t>7</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0.065</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a:effectLst/>
                          <a:ea typeface="+mn-ea"/>
                          <a:cs typeface="+mn-ea"/>
                        </a:rPr>
                        <a:t>0.8125%</a:t>
                      </a:r>
                      <a:endParaRPr lang="zh-CN" sz="2400" kern="10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99.8125%</a:t>
                      </a:r>
                      <a:endParaRPr lang="zh-CN" sz="2400" kern="100" dirty="0">
                        <a:effectLst/>
                        <a:latin typeface="Calibri" panose="020F0502020204030204" pitchFamily="34" charset="0"/>
                        <a:ea typeface="+mn-ea"/>
                        <a:cs typeface="+mn-ea"/>
                      </a:endParaRPr>
                    </a:p>
                  </a:txBody>
                  <a:tcPr marL="14393" marR="14393" marT="10795" marB="0" anchor="ctr"/>
                </a:tc>
              </a:tr>
              <a:tr h="426422">
                <a:tc>
                  <a:txBody>
                    <a:bodyPr/>
                    <a:lstStyle/>
                    <a:p>
                      <a:pPr algn="ctr">
                        <a:lnSpc>
                          <a:spcPct val="100000"/>
                        </a:lnSpc>
                        <a:spcBef>
                          <a:spcPts val="0"/>
                        </a:spcBef>
                        <a:spcAft>
                          <a:spcPts val="0"/>
                        </a:spcAft>
                      </a:pPr>
                      <a:r>
                        <a:rPr lang="en-US" sz="1800" kern="100" dirty="0">
                          <a:effectLst/>
                          <a:ea typeface="+mn-ea"/>
                          <a:cs typeface="+mn-ea"/>
                        </a:rPr>
                        <a:t>8</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0.015</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0.1875%</a:t>
                      </a:r>
                      <a:endParaRPr lang="zh-CN" sz="2400" kern="100" dirty="0">
                        <a:effectLst/>
                        <a:latin typeface="Calibri" panose="020F0502020204030204" pitchFamily="34" charset="0"/>
                        <a:ea typeface="+mn-ea"/>
                        <a:cs typeface="+mn-ea"/>
                      </a:endParaRPr>
                    </a:p>
                  </a:txBody>
                  <a:tcPr marL="14393" marR="14393" marT="10795" marB="0" anchor="ctr"/>
                </a:tc>
                <a:tc>
                  <a:txBody>
                    <a:bodyPr/>
                    <a:lstStyle/>
                    <a:p>
                      <a:pPr algn="ctr">
                        <a:lnSpc>
                          <a:spcPct val="100000"/>
                        </a:lnSpc>
                        <a:spcBef>
                          <a:spcPts val="0"/>
                        </a:spcBef>
                        <a:spcAft>
                          <a:spcPts val="0"/>
                        </a:spcAft>
                      </a:pPr>
                      <a:r>
                        <a:rPr lang="en-US" sz="1800" kern="100" dirty="0">
                          <a:effectLst/>
                          <a:ea typeface="+mn-ea"/>
                          <a:cs typeface="+mn-ea"/>
                        </a:rPr>
                        <a:t>100%</a:t>
                      </a:r>
                      <a:endParaRPr lang="zh-CN" sz="2400" kern="100" dirty="0">
                        <a:effectLst/>
                        <a:latin typeface="Calibri" panose="020F0502020204030204" pitchFamily="34" charset="0"/>
                        <a:ea typeface="+mn-ea"/>
                        <a:cs typeface="+mn-ea"/>
                      </a:endParaRPr>
                    </a:p>
                  </a:txBody>
                  <a:tcPr marL="14393" marR="14393" marT="10795" marB="0" anchor="ctr"/>
                </a:tc>
              </a:tr>
            </a:tbl>
          </a:graphicData>
        </a:graphic>
      </p:graphicFrame>
      <p:sp>
        <p:nvSpPr>
          <p:cNvPr id="7" name="Text Box 2"/>
          <p:cNvSpPr txBox="1">
            <a:spLocks noChangeArrowheads="1"/>
          </p:cNvSpPr>
          <p:nvPr/>
        </p:nvSpPr>
        <p:spPr bwMode="auto">
          <a:xfrm>
            <a:off x="1490113" y="20160"/>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1129617" y="1020861"/>
                <a:ext cx="9887788" cy="5269358"/>
              </a:xfrm>
              <a:prstGeom prst="rect">
                <a:avLst/>
              </a:prstGeom>
              <a:noFill/>
              <a:ln>
                <a:noFill/>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eaLnBrk="1" hangingPunct="1">
                  <a:spcBef>
                    <a:spcPts val="600"/>
                  </a:spcBef>
                  <a:spcAft>
                    <a:spcPts val="600"/>
                  </a:spcAft>
                  <a:buNone/>
                </a:pPr>
                <a:r>
                  <a:rPr lang="zh-CN" altLang="zh-CN" dirty="0">
                    <a:latin typeface="+mn-ea"/>
                    <a:ea typeface="+mn-ea"/>
                    <a:cs typeface="+mn-ea"/>
                  </a:rPr>
                  <a:t>依题意，选择较大的三个特征值所对应特征向量作为基向量进行降维，所选三个特征值的方差百分比累计值为</a:t>
                </a:r>
                <a:r>
                  <a:rPr lang="en-US" altLang="zh-CN" dirty="0">
                    <a:latin typeface="+mn-ea"/>
                    <a:ea typeface="+mn-ea"/>
                    <a:cs typeface="+mn-ea"/>
                  </a:rPr>
                  <a:t>89.575%</a:t>
                </a:r>
                <a:r>
                  <a:rPr lang="zh-CN" altLang="zh-CN" dirty="0">
                    <a:latin typeface="+mn-ea"/>
                    <a:ea typeface="+mn-ea"/>
                    <a:cs typeface="+mn-ea"/>
                  </a:rPr>
                  <a:t>。根据特征值计算得到三个基向量的分量取值如表</a:t>
                </a:r>
                <a:r>
                  <a:rPr lang="en-US" altLang="zh-CN" dirty="0" smtClean="0">
                    <a:latin typeface="+mn-ea"/>
                    <a:ea typeface="+mn-ea"/>
                    <a:cs typeface="+mn-ea"/>
                  </a:rPr>
                  <a:t>4</a:t>
                </a:r>
                <a:r>
                  <a:rPr lang="zh-CN" altLang="zh-CN" dirty="0" smtClean="0">
                    <a:latin typeface="+mn-ea"/>
                    <a:ea typeface="+mn-ea"/>
                    <a:cs typeface="+mn-ea"/>
                  </a:rPr>
                  <a:t>所</a:t>
                </a:r>
                <a:r>
                  <a:rPr lang="zh-CN" altLang="zh-CN" dirty="0">
                    <a:latin typeface="+mn-ea"/>
                    <a:ea typeface="+mn-ea"/>
                    <a:cs typeface="+mn-ea"/>
                  </a:rPr>
                  <a:t>示。</a:t>
                </a:r>
                <a:endParaRPr lang="zh-CN" altLang="zh-CN" dirty="0">
                  <a:latin typeface="+mn-ea"/>
                  <a:ea typeface="+mn-ea"/>
                  <a:cs typeface="+mn-ea"/>
                </a:endParaRPr>
              </a:p>
              <a:p>
                <a:pPr marL="0" indent="0">
                  <a:spcBef>
                    <a:spcPct val="0"/>
                  </a:spcBef>
                  <a:buNone/>
                </a:pPr>
                <a14:m>
                  <m:oMathPara xmlns:m="http://schemas.openxmlformats.org/officeDocument/2006/math">
                    <m:oMathParaPr>
                      <m:jc m:val="centerGroup"/>
                    </m:oMathParaPr>
                    <m:oMath xmlns:m="http://schemas.openxmlformats.org/officeDocument/2006/math">
                      <m:r>
                        <a:rPr lang="zh-CN" altLang="en-US" sz="2000" i="1" dirty="0">
                          <a:latin typeface="Cambria Math" panose="02040503050406030204" pitchFamily="18" charset="0"/>
                          <a:ea typeface="+mn-ea"/>
                          <a:cs typeface="+mn-ea"/>
                        </a:rPr>
                        <m:t>表</m:t>
                      </m:r>
                      <m:r>
                        <a:rPr lang="en-US" altLang="zh-CN" sz="2000" b="0" i="1" dirty="0" smtClean="0">
                          <a:latin typeface="Cambria Math" panose="02040503050406030204" pitchFamily="18" charset="0"/>
                          <a:ea typeface="+mn-ea"/>
                          <a:cs typeface="+mn-ea"/>
                        </a:rPr>
                        <m:t>4</m:t>
                      </m:r>
                      <m:r>
                        <a:rPr lang="zh-CN" altLang="en-US" sz="2000" i="1" dirty="0">
                          <a:latin typeface="Cambria Math" panose="02040503050406030204" pitchFamily="18" charset="0"/>
                          <a:ea typeface="+mn-ea"/>
                          <a:cs typeface="+mn-ea"/>
                        </a:rPr>
                        <m:t>基向量</m:t>
                      </m:r>
                      <m:r>
                        <a:rPr lang="zh-CN" altLang="en-US" sz="2000" i="1" dirty="0" smtClean="0">
                          <a:latin typeface="Cambria Math" panose="02040503050406030204" pitchFamily="18" charset="0"/>
                          <a:ea typeface="+mn-ea"/>
                          <a:cs typeface="+mn-ea"/>
                        </a:rPr>
                        <m:t>元素</m:t>
                      </m:r>
                      <m:r>
                        <a:rPr lang="zh-CN" altLang="en-US" sz="2000" i="1" dirty="0">
                          <a:latin typeface="Cambria Math" panose="02040503050406030204" pitchFamily="18" charset="0"/>
                          <a:ea typeface="+mn-ea"/>
                          <a:cs typeface="+mn-ea"/>
                        </a:rPr>
                        <m:t>取值</m:t>
                      </m:r>
                      <m:r>
                        <a:rPr lang="zh-CN" altLang="en-US" sz="2000" i="1" dirty="0" smtClean="0">
                          <a:latin typeface="Cambria Math" panose="02040503050406030204" pitchFamily="18" charset="0"/>
                          <a:ea typeface="+mn-ea"/>
                          <a:cs typeface="+mn-ea"/>
                        </a:rPr>
                        <m:t>表</m:t>
                      </m:r>
                    </m:oMath>
                  </m:oMathPara>
                </a14:m>
                <a:endParaRPr lang="zh-CN" altLang="zh-CN" sz="2000"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a:p>
                <a:pPr marL="0" indent="0">
                  <a:spcBef>
                    <a:spcPct val="0"/>
                  </a:spcBef>
                  <a:buNone/>
                </a:pP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1129617" y="1020861"/>
                <a:ext cx="9887788" cy="5269358"/>
              </a:xfrm>
              <a:prstGeom prst="rect">
                <a:avLst/>
              </a:prstGeom>
              <a:blipFill rotWithShape="1">
                <a:blip r:embed="rId2"/>
                <a:stretch>
                  <a:fillRect l="-6" t="-8" r="2" b="1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3768179" y="2689819"/>
              <a:ext cx="4320480" cy="3240360"/>
            </p:xfrm>
            <a:graphic>
              <a:graphicData uri="http://schemas.openxmlformats.org/drawingml/2006/table">
                <a:tbl>
                  <a:tblPr>
                    <a:tableStyleId>{5940675A-B579-460E-94D1-54222C63F5DA}</a:tableStyleId>
                  </a:tblPr>
                  <a:tblGrid>
                    <a:gridCol w="856398"/>
                    <a:gridCol w="1154694"/>
                    <a:gridCol w="1154694"/>
                    <a:gridCol w="1154694"/>
                  </a:tblGrid>
                  <a:tr h="360040">
                    <a:tc>
                      <a:txBody>
                        <a:bodyPr/>
                        <a:lstStyle/>
                        <a:p>
                          <a:pPr algn="ctr">
                            <a:lnSpc>
                              <a:spcPct val="100000"/>
                            </a:lnSpc>
                            <a:spcBef>
                              <a:spcPts val="0"/>
                            </a:spcBef>
                            <a:spcAft>
                              <a:spcPts val="0"/>
                            </a:spcAft>
                          </a:pPr>
                          <a:r>
                            <a:rPr lang="en-US" sz="1800" kern="100" dirty="0">
                              <a:effectLst/>
                              <a:ea typeface="+mn-ea"/>
                              <a:cs typeface="+mn-ea"/>
                            </a:rPr>
                            <a:t> </a:t>
                          </a:r>
                          <a:endParaRPr lang="zh-CN" sz="2400" kern="100" dirty="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𝒘</m:t>
                                    </m:r>
                                  </m:e>
                                  <m:sub>
                                    <m:r>
                                      <a:rPr lang="en-US" sz="1800" kern="100">
                                        <a:effectLst/>
                                        <a:latin typeface="Cambria Math" panose="02040503050406030204" pitchFamily="18" charset="0"/>
                                        <a:ea typeface="+mn-ea"/>
                                        <a:cs typeface="+mn-ea"/>
                                      </a:rPr>
                                      <m:t>1</m:t>
                                    </m:r>
                                  </m:sub>
                                </m:sSub>
                              </m:oMath>
                            </m:oMathPara>
                          </a14:m>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𝒘</m:t>
                                    </m:r>
                                  </m:e>
                                  <m:sub>
                                    <m:r>
                                      <a:rPr lang="en-US" sz="1800" kern="100">
                                        <a:effectLst/>
                                        <a:latin typeface="Cambria Math" panose="02040503050406030204" pitchFamily="18" charset="0"/>
                                        <a:ea typeface="+mn-ea"/>
                                        <a:cs typeface="+mn-ea"/>
                                      </a:rPr>
                                      <m:t>2</m:t>
                                    </m:r>
                                  </m:sub>
                                </m:sSub>
                              </m:oMath>
                            </m:oMathPara>
                          </a14:m>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𝒘</m:t>
                                    </m:r>
                                  </m:e>
                                  <m:sub>
                                    <m:r>
                                      <a:rPr lang="en-US" sz="1800" kern="100">
                                        <a:effectLst/>
                                        <a:latin typeface="Cambria Math" panose="02040503050406030204" pitchFamily="18" charset="0"/>
                                        <a:ea typeface="+mn-ea"/>
                                        <a:cs typeface="+mn-ea"/>
                                      </a:rPr>
                                      <m:t>3</m:t>
                                    </m:r>
                                  </m:sub>
                                </m:sSub>
                              </m:oMath>
                            </m:oMathPara>
                          </a14:m>
                          <a:endParaRPr lang="zh-CN" sz="2400" kern="10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1</m:t>
                                    </m:r>
                                  </m:sub>
                                </m:sSub>
                              </m:oMath>
                            </m:oMathPara>
                          </a14:m>
                          <a:endParaRPr lang="zh-CN" sz="2400" kern="100" dirty="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dirty="0">
                              <a:effectLst/>
                              <a:ea typeface="+mn-ea"/>
                              <a:cs typeface="+mn-ea"/>
                            </a:rPr>
                            <a:t>0.45679</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0.25851</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0.1099</a:t>
                          </a:r>
                          <a:endParaRPr lang="zh-CN" sz="2400" kern="100" dirty="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2</m:t>
                                    </m:r>
                                  </m:sub>
                                </m:sSub>
                              </m:oMath>
                            </m:oMathPara>
                          </a14:m>
                          <a:endParaRPr lang="zh-CN" sz="2400" kern="10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dirty="0">
                              <a:effectLst/>
                              <a:ea typeface="+mn-ea"/>
                              <a:cs typeface="+mn-ea"/>
                            </a:rPr>
                            <a:t>0.31301</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-0.40379</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0.24587</a:t>
                          </a:r>
                          <a:endParaRPr lang="zh-CN" sz="2400" kern="100" dirty="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3</m:t>
                                    </m:r>
                                  </m:sub>
                                </m:sSub>
                              </m:oMath>
                            </m:oMathPara>
                          </a14:m>
                          <a:endParaRPr lang="zh-CN" sz="2400" kern="10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dirty="0">
                              <a:effectLst/>
                              <a:ea typeface="+mn-ea"/>
                              <a:cs typeface="+mn-ea"/>
                            </a:rPr>
                            <a:t>0.47056</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0.10839</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a:effectLst/>
                              <a:ea typeface="+mn-ea"/>
                              <a:cs typeface="+mn-ea"/>
                            </a:rPr>
                            <a:t>0.19243</a:t>
                          </a:r>
                          <a:endParaRPr lang="zh-CN" sz="2400" kern="10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4</m:t>
                                    </m:r>
                                  </m:sub>
                                </m:sSub>
                              </m:oMath>
                            </m:oMathPara>
                          </a14:m>
                          <a:endParaRPr lang="zh-CN" sz="2400" kern="10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a:effectLst/>
                              <a:ea typeface="+mn-ea"/>
                              <a:cs typeface="+mn-ea"/>
                            </a:rPr>
                            <a:t>0.23996</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-0.48777</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a:effectLst/>
                              <a:ea typeface="+mn-ea"/>
                              <a:cs typeface="+mn-ea"/>
                            </a:rPr>
                            <a:t>0.33405</a:t>
                          </a:r>
                          <a:endParaRPr lang="zh-CN" sz="2400" kern="10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5</m:t>
                                    </m:r>
                                  </m:sub>
                                </m:sSub>
                              </m:oMath>
                            </m:oMathPara>
                          </a14:m>
                          <a:endParaRPr lang="zh-CN" sz="2400" kern="10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a:effectLst/>
                              <a:ea typeface="+mn-ea"/>
                              <a:cs typeface="+mn-ea"/>
                            </a:rPr>
                            <a:t>0.2509</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0.49801</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-0.24933</a:t>
                          </a:r>
                          <a:endParaRPr lang="zh-CN" sz="2400" kern="100" dirty="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6</m:t>
                                    </m:r>
                                  </m:sub>
                                </m:sSub>
                              </m:oMath>
                            </m:oMathPara>
                          </a14:m>
                          <a:endParaRPr lang="zh-CN" sz="2400" kern="10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a:effectLst/>
                              <a:ea typeface="+mn-ea"/>
                              <a:cs typeface="+mn-ea"/>
                            </a:rPr>
                            <a:t>-0.26244</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0.16988</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0.7227</a:t>
                          </a:r>
                          <a:endParaRPr lang="zh-CN" sz="2400" kern="100" dirty="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7</m:t>
                                    </m:r>
                                  </m:sub>
                                </m:sSub>
                              </m:oMath>
                            </m:oMathPara>
                          </a14:m>
                          <a:endParaRPr lang="zh-CN" sz="2400" kern="10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a:effectLst/>
                              <a:ea typeface="+mn-ea"/>
                              <a:cs typeface="+mn-ea"/>
                            </a:rPr>
                            <a:t>-0.31966</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0.40102</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0.39716</a:t>
                          </a:r>
                          <a:endParaRPr lang="zh-CN" sz="2400" kern="100" dirty="0">
                            <a:effectLst/>
                            <a:latin typeface="Calibri" panose="020F0502020204030204" pitchFamily="34" charset="0"/>
                            <a:ea typeface="+mn-ea"/>
                            <a:cs typeface="+mn-ea"/>
                          </a:endParaRPr>
                        </a:p>
                      </a:txBody>
                      <a:tcPr marL="0" marR="0" marT="0" marB="0" anchor="ctr"/>
                    </a:tc>
                  </a:tr>
                  <a:tr h="360040">
                    <a:tc>
                      <a:txBody>
                        <a:bodyPr/>
                        <a:lstStyle/>
                        <a:p>
                          <a:pPr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n-ea"/>
                                        <a:cs typeface="+mn-ea"/>
                                      </a:rPr>
                                    </m:ctrlPr>
                                  </m:sSubPr>
                                  <m:e>
                                    <m:r>
                                      <a:rPr lang="en-US" sz="1800" kern="100">
                                        <a:effectLst/>
                                        <a:latin typeface="Cambria Math" panose="02040503050406030204" pitchFamily="18" charset="0"/>
                                        <a:ea typeface="+mn-ea"/>
                                        <a:cs typeface="+mn-ea"/>
                                      </a:rPr>
                                      <m:t>𝑤</m:t>
                                    </m:r>
                                  </m:e>
                                  <m:sub>
                                    <m:r>
                                      <a:rPr lang="en-US" sz="1800" kern="100">
                                        <a:effectLst/>
                                        <a:latin typeface="Cambria Math" panose="02040503050406030204" pitchFamily="18" charset="0"/>
                                        <a:ea typeface="+mn-ea"/>
                                        <a:cs typeface="+mn-ea"/>
                                      </a:rPr>
                                      <m:t>𝑖</m:t>
                                    </m:r>
                                    <m:r>
                                      <a:rPr lang="en-US" sz="1800" kern="100">
                                        <a:effectLst/>
                                        <a:latin typeface="Cambria Math" panose="02040503050406030204" pitchFamily="18" charset="0"/>
                                        <a:ea typeface="+mn-ea"/>
                                        <a:cs typeface="+mn-ea"/>
                                      </a:rPr>
                                      <m:t>8</m:t>
                                    </m:r>
                                  </m:sub>
                                </m:sSub>
                              </m:oMath>
                            </m:oMathPara>
                          </a14:m>
                          <a:endParaRPr lang="zh-CN" sz="2400" kern="100" dirty="0">
                            <a:effectLst/>
                            <a:latin typeface="Calibri" panose="020F0502020204030204" pitchFamily="34" charset="0"/>
                            <a:ea typeface="+mn-ea"/>
                            <a:cs typeface="+mn-ea"/>
                          </a:endParaRPr>
                        </a:p>
                      </a:txBody>
                      <a:tcPr marL="0" marR="0" marT="0" marB="0"/>
                    </a:tc>
                    <a:tc>
                      <a:txBody>
                        <a:bodyPr/>
                        <a:lstStyle/>
                        <a:p>
                          <a:pPr algn="ctr">
                            <a:lnSpc>
                              <a:spcPct val="100000"/>
                            </a:lnSpc>
                            <a:spcBef>
                              <a:spcPts val="0"/>
                            </a:spcBef>
                            <a:spcAft>
                              <a:spcPts val="0"/>
                            </a:spcAft>
                          </a:pPr>
                          <a:r>
                            <a:rPr lang="en-US" sz="1800" kern="100" dirty="0">
                              <a:effectLst/>
                              <a:ea typeface="+mn-ea"/>
                              <a:cs typeface="+mn-ea"/>
                            </a:rPr>
                            <a:t>0.42468</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a:effectLst/>
                              <a:ea typeface="+mn-ea"/>
                              <a:cs typeface="+mn-ea"/>
                            </a:rPr>
                            <a:t>0.28769</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0.19147</a:t>
                          </a:r>
                          <a:endParaRPr lang="zh-CN" sz="2400" kern="100" dirty="0">
                            <a:effectLst/>
                            <a:latin typeface="Calibri" panose="020F0502020204030204" pitchFamily="34" charset="0"/>
                            <a:ea typeface="+mn-ea"/>
                            <a:cs typeface="+mn-ea"/>
                          </a:endParaRPr>
                        </a:p>
                      </a:txBody>
                      <a:tcPr marL="0" marR="0" marT="0" marB="0" anchor="ctr"/>
                    </a:tc>
                  </a:tr>
                </a:tbl>
              </a:graphicData>
            </a:graphic>
          </p:graphicFrame>
        </mc:Choice>
        <mc:Fallback xmlns="">
          <p:graphicFrame>
            <p:nvGraphicFramePr>
              <p:cNvPr id="3" name="表格 2"/>
              <p:cNvGraphicFramePr>
                <a:graphicFrameLocks noGrp="1"/>
              </p:cNvGraphicFramePr>
              <p:nvPr/>
            </p:nvGraphicFramePr>
            <p:xfrm>
              <a:off x="3768179" y="2689819"/>
              <a:ext cx="4320480" cy="3240360"/>
            </p:xfrm>
            <a:graphic>
              <a:graphicData uri="http://schemas.openxmlformats.org/drawingml/2006/table">
                <a:tbl>
                  <a:tblPr>
                    <a:tableStyleId>{5940675A-B579-460E-94D1-54222C63F5DA}</a:tableStyleId>
                  </a:tblPr>
                  <a:tblGrid>
                    <a:gridCol w="856398"/>
                    <a:gridCol w="1154694"/>
                    <a:gridCol w="1154694"/>
                    <a:gridCol w="1154694"/>
                  </a:tblGrid>
                  <a:tr h="360045">
                    <a:tc>
                      <a:txBody>
                        <a:bodyPr/>
                        <a:lstStyle/>
                        <a:p>
                          <a:pPr algn="ctr">
                            <a:lnSpc>
                              <a:spcPct val="100000"/>
                            </a:lnSpc>
                            <a:spcBef>
                              <a:spcPts val="0"/>
                            </a:spcBef>
                            <a:spcAft>
                              <a:spcPts val="0"/>
                            </a:spcAft>
                          </a:pPr>
                          <a:r>
                            <a:rPr lang="en-US" sz="1800" kern="100" dirty="0">
                              <a:effectLst/>
                              <a:ea typeface="+mn-ea"/>
                              <a:cs typeface="+mn-ea"/>
                            </a:rPr>
                            <a:t> </a:t>
                          </a:r>
                          <a:endParaRPr lang="zh-CN" sz="2400" kern="100" dirty="0">
                            <a:effectLst/>
                            <a:latin typeface="Calibri" panose="020F0502020204030204" pitchFamily="34" charset="0"/>
                            <a:ea typeface="+mn-ea"/>
                            <a:cs typeface="+mn-ea"/>
                          </a:endParaRPr>
                        </a:p>
                      </a:txBody>
                      <a:tcPr marL="0" marR="0" marT="0" marB="0"/>
                    </a:tc>
                    <a:tc>
                      <a:txBody>
                        <a:bodyPr/>
                        <a:lstStyle/>
                        <a:p>
                          <a:endParaRPr lang="zh-CN"/>
                        </a:p>
                      </a:txBody>
                      <a:tcPr marL="0" marR="0" marT="0" marB="0" anchor="ctr">
                        <a:blipFill>
                          <a:blip r:embed="rId3"/>
                        </a:blipFill>
                      </a:tcPr>
                    </a:tc>
                    <a:tc>
                      <a:txBody>
                        <a:bodyPr/>
                        <a:lstStyle/>
                        <a:p>
                          <a:endParaRPr lang="zh-CN"/>
                        </a:p>
                      </a:txBody>
                      <a:tcPr marL="0" marR="0" marT="0" marB="0" anchor="ctr">
                        <a:blipFill>
                          <a:blip r:embed="rId3"/>
                        </a:blipFill>
                      </a:tcPr>
                    </a:tc>
                    <a:tc>
                      <a:txBody>
                        <a:bodyPr/>
                        <a:lstStyle/>
                        <a:p>
                          <a:endParaRPr lang="zh-CN"/>
                        </a:p>
                      </a:txBody>
                      <a:tcPr marL="0" marR="0" marT="0" marB="0" anchor="ctr">
                        <a:blipFill>
                          <a:blip r:embed="rId3"/>
                        </a:blipFill>
                      </a:tcP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0.45679</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0.25851</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0.1099</a:t>
                          </a:r>
                          <a:endParaRPr lang="zh-CN" sz="2400" kern="100" dirty="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0.31301</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-0.40379</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0.24587</a:t>
                          </a:r>
                          <a:endParaRPr lang="zh-CN" sz="2400" kern="100" dirty="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0.47056</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0.10839</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a:effectLst/>
                              <a:ea typeface="+mn-ea"/>
                              <a:cs typeface="+mn-ea"/>
                            </a:rPr>
                            <a:t>0.19243</a:t>
                          </a:r>
                          <a:endParaRPr lang="zh-CN" sz="2400" kern="10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0.23996</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-0.48777</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a:effectLst/>
                              <a:ea typeface="+mn-ea"/>
                              <a:cs typeface="+mn-ea"/>
                            </a:rPr>
                            <a:t>0.33405</a:t>
                          </a:r>
                          <a:endParaRPr lang="zh-CN" sz="2400" kern="10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0.2509</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0.49801</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-0.24933</a:t>
                          </a:r>
                          <a:endParaRPr lang="zh-CN" sz="2400" kern="100" dirty="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-0.26244</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0.16988</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0.7227</a:t>
                          </a:r>
                          <a:endParaRPr lang="zh-CN" sz="2400" kern="100" dirty="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a:effectLst/>
                              <a:ea typeface="+mn-ea"/>
                              <a:cs typeface="+mn-ea"/>
                            </a:rPr>
                            <a:t>-0.31966</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0.40102</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0.39716</a:t>
                          </a:r>
                          <a:endParaRPr lang="zh-CN" sz="2400" kern="100" dirty="0">
                            <a:effectLst/>
                            <a:latin typeface="Calibri" panose="020F0502020204030204" pitchFamily="34" charset="0"/>
                            <a:ea typeface="+mn-ea"/>
                            <a:cs typeface="+mn-ea"/>
                          </a:endParaRPr>
                        </a:p>
                      </a:txBody>
                      <a:tcPr marL="0" marR="0" marT="0" marB="0" anchor="ctr"/>
                    </a:tc>
                  </a:tr>
                  <a:tr h="360045">
                    <a:tc>
                      <a:txBody>
                        <a:bodyPr/>
                        <a:lstStyle/>
                        <a:p>
                          <a:endParaRPr lang="zh-CN"/>
                        </a:p>
                      </a:txBody>
                      <a:tcPr marL="0" marR="0" marT="0" marB="0">
                        <a:blipFill>
                          <a:blip r:embed="rId3"/>
                        </a:blipFill>
                      </a:tcPr>
                    </a:tc>
                    <a:tc>
                      <a:txBody>
                        <a:bodyPr/>
                        <a:lstStyle/>
                        <a:p>
                          <a:pPr algn="ctr">
                            <a:lnSpc>
                              <a:spcPct val="100000"/>
                            </a:lnSpc>
                            <a:spcBef>
                              <a:spcPts val="0"/>
                            </a:spcBef>
                            <a:spcAft>
                              <a:spcPts val="0"/>
                            </a:spcAft>
                          </a:pPr>
                          <a:r>
                            <a:rPr lang="en-US" sz="1800" kern="100" dirty="0">
                              <a:effectLst/>
                              <a:ea typeface="+mn-ea"/>
                              <a:cs typeface="+mn-ea"/>
                            </a:rPr>
                            <a:t>0.42468</a:t>
                          </a:r>
                          <a:endParaRPr lang="zh-CN" sz="2400" kern="100" dirty="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a:effectLst/>
                              <a:ea typeface="+mn-ea"/>
                              <a:cs typeface="+mn-ea"/>
                            </a:rPr>
                            <a:t>0.28769</a:t>
                          </a:r>
                          <a:endParaRPr lang="zh-CN" sz="2400" kern="100">
                            <a:effectLst/>
                            <a:latin typeface="Calibri" panose="020F0502020204030204" pitchFamily="34" charset="0"/>
                            <a:ea typeface="+mn-ea"/>
                            <a:cs typeface="+mn-ea"/>
                          </a:endParaRPr>
                        </a:p>
                      </a:txBody>
                      <a:tcPr marL="0" marR="0" marT="0" marB="0" anchor="ctr"/>
                    </a:tc>
                    <a:tc>
                      <a:txBody>
                        <a:bodyPr/>
                        <a:lstStyle/>
                        <a:p>
                          <a:pPr algn="ctr">
                            <a:lnSpc>
                              <a:spcPct val="100000"/>
                            </a:lnSpc>
                            <a:spcBef>
                              <a:spcPts val="0"/>
                            </a:spcBef>
                            <a:spcAft>
                              <a:spcPts val="0"/>
                            </a:spcAft>
                          </a:pPr>
                          <a:r>
                            <a:rPr lang="en-US" sz="1800" kern="100" dirty="0">
                              <a:effectLst/>
                              <a:ea typeface="+mn-ea"/>
                              <a:cs typeface="+mn-ea"/>
                            </a:rPr>
                            <a:t>0.19147</a:t>
                          </a:r>
                          <a:endParaRPr lang="zh-CN" sz="2400" kern="100" dirty="0">
                            <a:effectLst/>
                            <a:latin typeface="Calibri" panose="020F0502020204030204" pitchFamily="34" charset="0"/>
                            <a:ea typeface="+mn-ea"/>
                            <a:cs typeface="+mn-ea"/>
                          </a:endParaRPr>
                        </a:p>
                      </a:txBody>
                      <a:tcPr marL="0" marR="0" marT="0" marB="0" anchor="ctr"/>
                    </a:tc>
                  </a:tr>
                </a:tbl>
              </a:graphicData>
            </a:graphic>
          </p:graphicFrame>
        </mc:Fallback>
      </mc:AlternateContent>
      <p:sp>
        <p:nvSpPr>
          <p:cNvPr id="7" name="Text Box 2"/>
          <p:cNvSpPr txBox="1">
            <a:spLocks noChangeArrowheads="1"/>
          </p:cNvSpPr>
          <p:nvPr/>
        </p:nvSpPr>
        <p:spPr bwMode="auto">
          <a:xfrm>
            <a:off x="1224364" y="0"/>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175846" y="1292424"/>
                <a:ext cx="11912076" cy="4762688"/>
              </a:xfrm>
              <a:prstGeom prst="rect">
                <a:avLst/>
              </a:prstGeom>
              <a:noFill/>
              <a:ln>
                <a:noFill/>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lvl="0" indent="457200">
                  <a:spcBef>
                    <a:spcPct val="0"/>
                  </a:spcBef>
                  <a:buNone/>
                </a:pPr>
                <a:r>
                  <a:rPr lang="zh-CN" altLang="zh-CN" dirty="0" smtClean="0">
                    <a:latin typeface="+mn-ea"/>
                    <a:ea typeface="+mn-ea"/>
                    <a:cs typeface="+mn-ea"/>
                  </a:rPr>
                  <a:t>根据以上分析计算，故可将</a:t>
                </a:r>
                <a:r>
                  <a:rPr lang="en-US" altLang="zh-CN" dirty="0">
                    <a:latin typeface="+mn-ea"/>
                    <a:ea typeface="+mn-ea"/>
                    <a:cs typeface="+mn-ea"/>
                  </a:rPr>
                  <a:t>8</a:t>
                </a:r>
                <a:r>
                  <a:rPr lang="zh-CN" altLang="zh-CN" dirty="0">
                    <a:latin typeface="+mn-ea"/>
                    <a:ea typeface="+mn-ea"/>
                    <a:cs typeface="+mn-ea"/>
                  </a:rPr>
                  <a:t>维的原始数据</a:t>
                </a:r>
                <a14:m>
                  <m:oMath xmlns:m="http://schemas.openxmlformats.org/officeDocument/2006/math">
                    <m:r>
                      <a:rPr lang="en-US" altLang="zh-CN">
                        <a:latin typeface="Cambria Math" panose="02040503050406030204" pitchFamily="18" charset="0"/>
                        <a:ea typeface="+mn-ea"/>
                        <a:cs typeface="+mn-ea"/>
                      </a:rPr>
                      <m:t>𝑿</m:t>
                    </m:r>
                    <m:r>
                      <a:rPr lang="en-US" altLang="zh-CN">
                        <a:latin typeface="Cambria Math" panose="02040503050406030204" pitchFamily="18" charset="0"/>
                        <a:ea typeface="+mn-ea"/>
                        <a:cs typeface="+mn-ea"/>
                      </a:rPr>
                      <m:t>=</m:t>
                    </m:r>
                    <m:sSup>
                      <m:sSupPr>
                        <m:ctrlPr>
                          <a:rPr lang="zh-CN" altLang="zh-CN" i="1">
                            <a:latin typeface="Cambria Math" panose="02040503050406030204" pitchFamily="18" charset="0"/>
                            <a:ea typeface="+mn-ea"/>
                            <a:cs typeface="+mn-ea"/>
                          </a:rPr>
                        </m:ctrlPr>
                      </m:sSupPr>
                      <m:e>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1</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2</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3</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4</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5</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6</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7</m:t>
                            </m:r>
                          </m:sub>
                        </m:sSub>
                        <m:r>
                          <a:rPr lang="en-US" altLang="zh-CN">
                            <a:latin typeface="Cambria Math" panose="02040503050406030204" pitchFamily="18" charset="0"/>
                            <a:ea typeface="+mn-ea"/>
                            <a:cs typeface="+mn-ea"/>
                          </a:rPr>
                          <m:t>,</m:t>
                        </m:r>
                        <m:sSub>
                          <m:sSubPr>
                            <m:ctrlPr>
                              <a:rPr lang="zh-CN" altLang="zh-CN" i="1">
                                <a:latin typeface="Cambria Math" panose="02040503050406030204" pitchFamily="18" charset="0"/>
                                <a:ea typeface="+mn-ea"/>
                                <a:cs typeface="+mn-ea"/>
                              </a:rPr>
                            </m:ctrlPr>
                          </m:sSubPr>
                          <m:e>
                            <m:r>
                              <a:rPr lang="en-US" altLang="zh-CN">
                                <a:latin typeface="Cambria Math" panose="02040503050406030204" pitchFamily="18" charset="0"/>
                                <a:ea typeface="+mn-ea"/>
                                <a:cs typeface="+mn-ea"/>
                              </a:rPr>
                              <m:t>𝒂</m:t>
                            </m:r>
                          </m:e>
                          <m:sub>
                            <m:r>
                              <a:rPr lang="en-US" altLang="zh-CN">
                                <a:latin typeface="Cambria Math" panose="02040503050406030204" pitchFamily="18" charset="0"/>
                                <a:ea typeface="+mn-ea"/>
                                <a:cs typeface="+mn-ea"/>
                              </a:rPr>
                              <m:t>8</m:t>
                            </m:r>
                          </m:sub>
                        </m:sSub>
                        <m:r>
                          <a:rPr lang="en-US" altLang="zh-CN">
                            <a:latin typeface="Cambria Math" panose="02040503050406030204" pitchFamily="18" charset="0"/>
                            <a:ea typeface="+mn-ea"/>
                            <a:cs typeface="+mn-ea"/>
                          </a:rPr>
                          <m:t>)</m:t>
                        </m:r>
                      </m:e>
                      <m:sup>
                        <m:r>
                          <a:rPr lang="en-US" altLang="zh-CN">
                            <a:latin typeface="Cambria Math" panose="02040503050406030204" pitchFamily="18" charset="0"/>
                            <a:ea typeface="+mn-ea"/>
                            <a:cs typeface="+mn-ea"/>
                          </a:rPr>
                          <m:t>𝑇</m:t>
                        </m:r>
                      </m:sup>
                    </m:sSup>
                  </m:oMath>
                </a14:m>
                <a:r>
                  <a:rPr lang="zh-CN" altLang="zh-CN" dirty="0">
                    <a:latin typeface="+mn-ea"/>
                    <a:ea typeface="+mn-ea"/>
                    <a:cs typeface="+mn-ea"/>
                  </a:rPr>
                  <a:t>降维为</a:t>
                </a:r>
                <a:r>
                  <a:rPr lang="en-US" altLang="zh-CN" dirty="0">
                    <a:latin typeface="+mn-ea"/>
                    <a:ea typeface="+mn-ea"/>
                    <a:cs typeface="+mn-ea"/>
                  </a:rPr>
                  <a:t>3</a:t>
                </a:r>
                <a:r>
                  <a:rPr lang="zh-CN" altLang="zh-CN" dirty="0">
                    <a:latin typeface="+mn-ea"/>
                    <a:ea typeface="+mn-ea"/>
                    <a:cs typeface="+mn-ea"/>
                  </a:rPr>
                  <a:t>维的综合指标数据</a:t>
                </a:r>
                <a14:m>
                  <m:oMath xmlns:m="http://schemas.openxmlformats.org/officeDocument/2006/math">
                    <m:sSup>
                      <m:sSupPr>
                        <m:ctrlPr>
                          <a:rPr lang="zh-CN" altLang="zh-CN" i="1">
                            <a:latin typeface="Cambria Math" panose="02040503050406030204" pitchFamily="18" charset="0"/>
                            <a:ea typeface="+mn-ea"/>
                            <a:cs typeface="+mn-ea"/>
                          </a:rPr>
                        </m:ctrlPr>
                      </m:sSupPr>
                      <m:e>
                        <m:r>
                          <a:rPr lang="en-US" altLang="zh-CN">
                            <a:latin typeface="Cambria Math" panose="02040503050406030204" pitchFamily="18" charset="0"/>
                            <a:ea typeface="+mn-ea"/>
                            <a:cs typeface="+mn-ea"/>
                          </a:rPr>
                          <m:t>𝒁</m:t>
                        </m:r>
                      </m:e>
                      <m:sup>
                        <m:r>
                          <a:rPr lang="en-US" altLang="zh-CN">
                            <a:latin typeface="Cambria Math" panose="02040503050406030204" pitchFamily="18" charset="0"/>
                            <a:ea typeface="+mn-ea"/>
                            <a:cs typeface="+mn-ea"/>
                          </a:rPr>
                          <m:t>′</m:t>
                        </m:r>
                      </m:sup>
                    </m:sSup>
                    <m:r>
                      <a:rPr lang="en-US" altLang="zh-CN">
                        <a:latin typeface="Cambria Math" panose="02040503050406030204" pitchFamily="18" charset="0"/>
                        <a:ea typeface="+mn-ea"/>
                        <a:cs typeface="+mn-ea"/>
                      </a:rPr>
                      <m:t>=</m:t>
                    </m:r>
                    <m:sSup>
                      <m:sSupPr>
                        <m:ctrlPr>
                          <a:rPr lang="zh-CN" altLang="zh-CN" i="1">
                            <a:latin typeface="Cambria Math" panose="02040503050406030204" pitchFamily="18" charset="0"/>
                            <a:ea typeface="+mn-ea"/>
                            <a:cs typeface="+mn-ea"/>
                          </a:rPr>
                        </m:ctrlPr>
                      </m:sSupPr>
                      <m:e>
                        <m:r>
                          <a:rPr lang="en-US" altLang="zh-CN">
                            <a:latin typeface="Cambria Math" panose="02040503050406030204" pitchFamily="18" charset="0"/>
                            <a:ea typeface="+mn-ea"/>
                            <a:cs typeface="+mn-ea"/>
                          </a:rPr>
                          <m:t>(</m:t>
                        </m:r>
                        <m:sSubSup>
                          <m:sSubSupPr>
                            <m:ctrlPr>
                              <a:rPr lang="zh-CN" altLang="zh-CN" i="1">
                                <a:latin typeface="Cambria Math" panose="02040503050406030204" pitchFamily="18" charset="0"/>
                                <a:ea typeface="+mn-ea"/>
                                <a:cs typeface="+mn-ea"/>
                              </a:rPr>
                            </m:ctrlPr>
                          </m:sSubSupPr>
                          <m:e>
                            <m:r>
                              <a:rPr lang="en-US" altLang="zh-CN">
                                <a:latin typeface="Cambria Math" panose="02040503050406030204" pitchFamily="18" charset="0"/>
                                <a:ea typeface="+mn-ea"/>
                                <a:cs typeface="+mn-ea"/>
                              </a:rPr>
                              <m:t>𝒛</m:t>
                            </m:r>
                          </m:e>
                          <m:sub>
                            <m:r>
                              <a:rPr lang="en-US" altLang="zh-CN">
                                <a:latin typeface="Cambria Math" panose="02040503050406030204" pitchFamily="18" charset="0"/>
                                <a:ea typeface="+mn-ea"/>
                                <a:cs typeface="+mn-ea"/>
                              </a:rPr>
                              <m:t>1</m:t>
                            </m:r>
                          </m:sub>
                          <m:sup>
                            <m:r>
                              <a:rPr lang="en-US" altLang="zh-CN">
                                <a:latin typeface="Cambria Math" panose="02040503050406030204" pitchFamily="18" charset="0"/>
                                <a:ea typeface="+mn-ea"/>
                                <a:cs typeface="+mn-ea"/>
                              </a:rPr>
                              <m:t>′</m:t>
                            </m:r>
                          </m:sup>
                        </m:sSubSup>
                        <m:r>
                          <a:rPr lang="en-US" altLang="zh-CN">
                            <a:latin typeface="Cambria Math" panose="02040503050406030204" pitchFamily="18" charset="0"/>
                            <a:ea typeface="+mn-ea"/>
                            <a:cs typeface="+mn-ea"/>
                          </a:rPr>
                          <m:t>,</m:t>
                        </m:r>
                        <m:sSubSup>
                          <m:sSubSupPr>
                            <m:ctrlPr>
                              <a:rPr lang="zh-CN" altLang="zh-CN" i="1">
                                <a:latin typeface="Cambria Math" panose="02040503050406030204" pitchFamily="18" charset="0"/>
                                <a:ea typeface="+mn-ea"/>
                                <a:cs typeface="+mn-ea"/>
                              </a:rPr>
                            </m:ctrlPr>
                          </m:sSubSupPr>
                          <m:e>
                            <m:r>
                              <a:rPr lang="en-US" altLang="zh-CN">
                                <a:latin typeface="Cambria Math" panose="02040503050406030204" pitchFamily="18" charset="0"/>
                                <a:ea typeface="+mn-ea"/>
                                <a:cs typeface="+mn-ea"/>
                              </a:rPr>
                              <m:t>𝒛</m:t>
                            </m:r>
                          </m:e>
                          <m:sub>
                            <m:r>
                              <a:rPr lang="en-US" altLang="zh-CN">
                                <a:latin typeface="Cambria Math" panose="02040503050406030204" pitchFamily="18" charset="0"/>
                                <a:ea typeface="+mn-ea"/>
                                <a:cs typeface="+mn-ea"/>
                              </a:rPr>
                              <m:t>2</m:t>
                            </m:r>
                          </m:sub>
                          <m:sup>
                            <m:r>
                              <a:rPr lang="en-US" altLang="zh-CN">
                                <a:latin typeface="Cambria Math" panose="02040503050406030204" pitchFamily="18" charset="0"/>
                                <a:ea typeface="+mn-ea"/>
                                <a:cs typeface="+mn-ea"/>
                              </a:rPr>
                              <m:t>′</m:t>
                            </m:r>
                          </m:sup>
                        </m:sSubSup>
                        <m:r>
                          <a:rPr lang="en-US" altLang="zh-CN">
                            <a:latin typeface="Cambria Math" panose="02040503050406030204" pitchFamily="18" charset="0"/>
                            <a:ea typeface="+mn-ea"/>
                            <a:cs typeface="+mn-ea"/>
                          </a:rPr>
                          <m:t>,</m:t>
                        </m:r>
                        <m:sSubSup>
                          <m:sSubSupPr>
                            <m:ctrlPr>
                              <a:rPr lang="zh-CN" altLang="zh-CN" i="1">
                                <a:latin typeface="Cambria Math" panose="02040503050406030204" pitchFamily="18" charset="0"/>
                                <a:ea typeface="+mn-ea"/>
                                <a:cs typeface="+mn-ea"/>
                              </a:rPr>
                            </m:ctrlPr>
                          </m:sSubSupPr>
                          <m:e>
                            <m:r>
                              <a:rPr lang="en-US" altLang="zh-CN">
                                <a:latin typeface="Cambria Math" panose="02040503050406030204" pitchFamily="18" charset="0"/>
                                <a:ea typeface="+mn-ea"/>
                                <a:cs typeface="+mn-ea"/>
                              </a:rPr>
                              <m:t>𝒛</m:t>
                            </m:r>
                          </m:e>
                          <m:sub>
                            <m:r>
                              <a:rPr lang="en-US" altLang="zh-CN">
                                <a:latin typeface="Cambria Math" panose="02040503050406030204" pitchFamily="18" charset="0"/>
                                <a:ea typeface="+mn-ea"/>
                                <a:cs typeface="+mn-ea"/>
                              </a:rPr>
                              <m:t>3</m:t>
                            </m:r>
                          </m:sub>
                          <m:sup>
                            <m:r>
                              <a:rPr lang="en-US" altLang="zh-CN">
                                <a:latin typeface="Cambria Math" panose="02040503050406030204" pitchFamily="18" charset="0"/>
                                <a:ea typeface="+mn-ea"/>
                                <a:cs typeface="+mn-ea"/>
                              </a:rPr>
                              <m:t>′</m:t>
                            </m:r>
                          </m:sup>
                        </m:sSubSup>
                        <m:r>
                          <a:rPr lang="en-US" altLang="zh-CN">
                            <a:latin typeface="Cambria Math" panose="02040503050406030204" pitchFamily="18" charset="0"/>
                            <a:ea typeface="+mn-ea"/>
                            <a:cs typeface="+mn-ea"/>
                          </a:rPr>
                          <m:t>)</m:t>
                        </m:r>
                      </m:e>
                      <m:sup>
                        <m:r>
                          <a:rPr lang="en-US" altLang="zh-CN">
                            <a:latin typeface="Cambria Math" panose="02040503050406030204" pitchFamily="18" charset="0"/>
                            <a:ea typeface="+mn-ea"/>
                            <a:cs typeface="+mn-ea"/>
                          </a:rPr>
                          <m:t>𝑇</m:t>
                        </m:r>
                      </m:sup>
                    </m:sSup>
                  </m:oMath>
                </a14:m>
                <a:r>
                  <a:rPr lang="zh-CN" altLang="zh-CN" dirty="0">
                    <a:latin typeface="+mn-ea"/>
                    <a:ea typeface="+mn-ea"/>
                    <a:cs typeface="+mn-ea"/>
                  </a:rPr>
                  <a:t>，其中：</a:t>
                </a:r>
                <a:endParaRPr lang="en-US" altLang="zh-CN" dirty="0">
                  <a:latin typeface="+mn-ea"/>
                  <a:ea typeface="+mn-ea"/>
                  <a:cs typeface="+mn-ea"/>
                </a:endParaRPr>
              </a:p>
              <a:p>
                <a:pPr marL="0" indent="457200">
                  <a:spcBef>
                    <a:spcPct val="0"/>
                  </a:spcBef>
                  <a:buNone/>
                </a:pPr>
                <a14:m>
                  <m:oMathPara xmlns:m="http://schemas.openxmlformats.org/officeDocument/2006/math">
                    <m:oMathParaPr>
                      <m:jc m:val="centerGroup"/>
                    </m:oMathParaPr>
                    <m:oMath xmlns:m="http://schemas.openxmlformats.org/officeDocument/2006/math">
                      <m:sSubSup>
                        <m:sSubSupPr>
                          <m:ctrlPr>
                            <a:rPr lang="zh-CN" altLang="zh-CN" i="1" smtClean="0">
                              <a:solidFill>
                                <a:srgbClr val="C00000"/>
                              </a:solidFill>
                              <a:latin typeface="Cambria Math" panose="02040503050406030204" pitchFamily="18" charset="0"/>
                              <a:ea typeface="+mn-ea"/>
                              <a:cs typeface="+mn-ea"/>
                            </a:rPr>
                          </m:ctrlPr>
                        </m:sSubSupPr>
                        <m:e>
                          <m:r>
                            <a:rPr lang="en-US" altLang="zh-CN">
                              <a:solidFill>
                                <a:srgbClr val="C00000"/>
                              </a:solidFill>
                              <a:latin typeface="Cambria Math" panose="02040503050406030204" pitchFamily="18" charset="0"/>
                              <a:ea typeface="+mn-ea"/>
                              <a:cs typeface="+mn-ea"/>
                            </a:rPr>
                            <m:t>𝒛</m:t>
                          </m:r>
                        </m:e>
                        <m:sub>
                          <m:r>
                            <a:rPr lang="en-US" altLang="zh-CN">
                              <a:solidFill>
                                <a:srgbClr val="C00000"/>
                              </a:solidFill>
                              <a:latin typeface="Cambria Math" panose="02040503050406030204" pitchFamily="18" charset="0"/>
                              <a:ea typeface="+mn-ea"/>
                              <a:cs typeface="+mn-ea"/>
                            </a:rPr>
                            <m:t>𝑖</m:t>
                          </m:r>
                        </m:sub>
                        <m:sup>
                          <m:r>
                            <a:rPr lang="en-US" altLang="zh-CN">
                              <a:solidFill>
                                <a:srgbClr val="C00000"/>
                              </a:solidFill>
                              <a:latin typeface="Cambria Math" panose="02040503050406030204" pitchFamily="18" charset="0"/>
                              <a:ea typeface="+mn-ea"/>
                              <a:cs typeface="+mn-ea"/>
                            </a:rPr>
                            <m:t>′</m:t>
                          </m:r>
                        </m:sup>
                      </m:sSubSup>
                      <m:r>
                        <a:rPr lang="en-US" altLang="zh-CN">
                          <a:solidFill>
                            <a:srgbClr val="C00000"/>
                          </a:solidFill>
                          <a:latin typeface="Cambria Math" panose="02040503050406030204" pitchFamily="18" charset="0"/>
                          <a:ea typeface="+mn-ea"/>
                          <a:cs typeface="+mn-ea"/>
                        </a:rPr>
                        <m:t>=</m:t>
                      </m:r>
                      <m:sSup>
                        <m:sSupPr>
                          <m:ctrlPr>
                            <a:rPr lang="zh-CN" altLang="zh-CN" i="1">
                              <a:solidFill>
                                <a:srgbClr val="C00000"/>
                              </a:solidFill>
                              <a:latin typeface="Cambria Math" panose="02040503050406030204" pitchFamily="18" charset="0"/>
                              <a:ea typeface="+mn-ea"/>
                              <a:cs typeface="+mn-ea"/>
                            </a:rPr>
                          </m:ctrlPr>
                        </m:sSupPr>
                        <m:e>
                          <m:sSub>
                            <m:sSubPr>
                              <m:ctrlPr>
                                <a:rPr lang="zh-CN" altLang="zh-CN" i="1">
                                  <a:solidFill>
                                    <a:srgbClr val="C00000"/>
                                  </a:solidFill>
                                  <a:latin typeface="Cambria Math" panose="02040503050406030204" pitchFamily="18" charset="0"/>
                                  <a:ea typeface="+mn-ea"/>
                                  <a:cs typeface="+mn-ea"/>
                                </a:rPr>
                              </m:ctrlPr>
                            </m:sSubPr>
                            <m:e>
                              <m:r>
                                <a:rPr lang="en-US" altLang="zh-CN">
                                  <a:solidFill>
                                    <a:srgbClr val="C00000"/>
                                  </a:solidFill>
                                  <a:latin typeface="Cambria Math" panose="02040503050406030204" pitchFamily="18" charset="0"/>
                                  <a:ea typeface="+mn-ea"/>
                                  <a:cs typeface="+mn-ea"/>
                                </a:rPr>
                                <m:t>𝒘</m:t>
                              </m:r>
                            </m:e>
                            <m:sub>
                              <m:r>
                                <a:rPr lang="en-US" altLang="zh-CN">
                                  <a:solidFill>
                                    <a:srgbClr val="C00000"/>
                                  </a:solidFill>
                                  <a:latin typeface="Cambria Math" panose="02040503050406030204" pitchFamily="18" charset="0"/>
                                  <a:ea typeface="+mn-ea"/>
                                  <a:cs typeface="+mn-ea"/>
                                </a:rPr>
                                <m:t>𝑖</m:t>
                              </m:r>
                            </m:sub>
                          </m:sSub>
                        </m:e>
                        <m:sup>
                          <m:r>
                            <a:rPr lang="en-US" altLang="zh-CN">
                              <a:solidFill>
                                <a:srgbClr val="C00000"/>
                              </a:solidFill>
                              <a:latin typeface="Cambria Math" panose="02040503050406030204" pitchFamily="18" charset="0"/>
                              <a:ea typeface="+mn-ea"/>
                              <a:cs typeface="+mn-ea"/>
                            </a:rPr>
                            <m:t>𝑇</m:t>
                          </m:r>
                        </m:sup>
                      </m:sSup>
                      <m:r>
                        <a:rPr lang="en-US" altLang="zh-CN">
                          <a:solidFill>
                            <a:srgbClr val="C00000"/>
                          </a:solidFill>
                          <a:latin typeface="Cambria Math" panose="02040503050406030204" pitchFamily="18" charset="0"/>
                          <a:ea typeface="+mn-ea"/>
                          <a:cs typeface="+mn-ea"/>
                        </a:rPr>
                        <m:t>𝑿</m:t>
                      </m:r>
                      <m:r>
                        <a:rPr lang="en-US" altLang="zh-CN">
                          <a:solidFill>
                            <a:srgbClr val="C00000"/>
                          </a:solidFill>
                          <a:latin typeface="Cambria Math" panose="02040503050406030204" pitchFamily="18" charset="0"/>
                          <a:ea typeface="+mn-ea"/>
                          <a:cs typeface="+mn-ea"/>
                        </a:rPr>
                        <m:t>,  </m:t>
                      </m:r>
                      <m:r>
                        <a:rPr lang="en-US" altLang="zh-CN">
                          <a:solidFill>
                            <a:srgbClr val="C00000"/>
                          </a:solidFill>
                          <a:latin typeface="Cambria Math" panose="02040503050406030204" pitchFamily="18" charset="0"/>
                          <a:ea typeface="+mn-ea"/>
                          <a:cs typeface="+mn-ea"/>
                        </a:rPr>
                        <m:t>𝑖</m:t>
                      </m:r>
                      <m:r>
                        <a:rPr lang="en-US" altLang="zh-CN">
                          <a:solidFill>
                            <a:srgbClr val="C00000"/>
                          </a:solidFill>
                          <a:latin typeface="Cambria Math" panose="02040503050406030204" pitchFamily="18" charset="0"/>
                          <a:ea typeface="+mn-ea"/>
                          <a:cs typeface="+mn-ea"/>
                        </a:rPr>
                        <m:t>=</m:t>
                      </m:r>
                      <m:r>
                        <a:rPr lang="en-US" altLang="zh-CN">
                          <a:solidFill>
                            <a:srgbClr val="C00000"/>
                          </a:solidFill>
                          <a:latin typeface="Cambria Math" panose="02040503050406030204" pitchFamily="18" charset="0"/>
                          <a:ea typeface="+mn-ea"/>
                          <a:cs typeface="+mn-ea"/>
                        </a:rPr>
                        <m:t>1</m:t>
                      </m:r>
                      <m:r>
                        <a:rPr lang="en-US" altLang="zh-CN">
                          <a:solidFill>
                            <a:srgbClr val="C00000"/>
                          </a:solidFill>
                          <a:latin typeface="Cambria Math" panose="02040503050406030204" pitchFamily="18" charset="0"/>
                          <a:ea typeface="+mn-ea"/>
                          <a:cs typeface="+mn-ea"/>
                        </a:rPr>
                        <m:t>,</m:t>
                      </m:r>
                      <m:r>
                        <a:rPr lang="en-US" altLang="zh-CN">
                          <a:solidFill>
                            <a:srgbClr val="C00000"/>
                          </a:solidFill>
                          <a:latin typeface="Cambria Math" panose="02040503050406030204" pitchFamily="18" charset="0"/>
                          <a:ea typeface="+mn-ea"/>
                          <a:cs typeface="+mn-ea"/>
                        </a:rPr>
                        <m:t>2</m:t>
                      </m:r>
                      <m:r>
                        <a:rPr lang="en-US" altLang="zh-CN">
                          <a:solidFill>
                            <a:srgbClr val="C00000"/>
                          </a:solidFill>
                          <a:latin typeface="Cambria Math" panose="02040503050406030204" pitchFamily="18" charset="0"/>
                          <a:ea typeface="+mn-ea"/>
                          <a:cs typeface="+mn-ea"/>
                        </a:rPr>
                        <m:t>,</m:t>
                      </m:r>
                      <m:r>
                        <a:rPr lang="en-US" altLang="zh-CN">
                          <a:solidFill>
                            <a:srgbClr val="C00000"/>
                          </a:solidFill>
                          <a:latin typeface="Cambria Math" panose="02040503050406030204" pitchFamily="18" charset="0"/>
                          <a:ea typeface="+mn-ea"/>
                          <a:cs typeface="+mn-ea"/>
                        </a:rPr>
                        <m:t>3</m:t>
                      </m:r>
                    </m:oMath>
                  </m:oMathPara>
                </a14:m>
                <a:endParaRPr lang="en-US" altLang="zh-CN" dirty="0" smtClean="0">
                  <a:solidFill>
                    <a:srgbClr val="C00000"/>
                  </a:solidFill>
                  <a:latin typeface="+mn-ea"/>
                  <a:ea typeface="+mn-ea"/>
                  <a:cs typeface="+mn-ea"/>
                </a:endParaRPr>
              </a:p>
              <a:p>
                <a:pPr marL="0" indent="0">
                  <a:spcBef>
                    <a:spcPct val="0"/>
                  </a:spcBef>
                  <a:buNone/>
                </a:pPr>
                <a:r>
                  <a:rPr lang="zh-CN" altLang="zh-CN" sz="2000" dirty="0">
                    <a:latin typeface="+mn-ea"/>
                    <a:ea typeface="+mn-ea"/>
                    <a:cs typeface="+mn-ea"/>
                  </a:rPr>
                  <a:t>即有：</a:t>
                </a:r>
                <a:endParaRPr lang="en-US" altLang="zh-CN" sz="2000" dirty="0" smtClean="0">
                  <a:latin typeface="+mn-ea"/>
                  <a:ea typeface="+mn-ea"/>
                  <a:cs typeface="+mn-ea"/>
                </a:endParaRPr>
              </a:p>
              <a:p>
                <a:pPr marL="0" indent="0">
                  <a:lnSpc>
                    <a:spcPct val="150000"/>
                  </a:lnSpc>
                  <a:spcBef>
                    <a:spcPct val="0"/>
                  </a:spcBef>
                  <a:buNone/>
                </a:pPr>
                <a:r>
                  <a:rPr lang="en-US" altLang="zh-CN" sz="2000" dirty="0" smtClean="0">
                    <a:ea typeface="+mn-ea"/>
                    <a:cs typeface="+mn-ea"/>
                  </a:rPr>
                  <a:t> </a:t>
                </a:r>
                <a14:m>
                  <m:oMath xmlns:m="http://schemas.openxmlformats.org/officeDocument/2006/math">
                    <m:sSubSup>
                      <m:sSubSupPr>
                        <m:ctrlPr>
                          <a:rPr lang="zh-CN" altLang="zh-CN" sz="2000" i="1">
                            <a:latin typeface="Cambria Math" panose="02040503050406030204" pitchFamily="18" charset="0"/>
                            <a:ea typeface="+mn-ea"/>
                            <a:cs typeface="+mn-ea"/>
                          </a:rPr>
                        </m:ctrlPr>
                      </m:sSubSupPr>
                      <m:e>
                        <m:r>
                          <a:rPr lang="en-US" altLang="zh-CN" sz="2000" b="0" i="0" smtClean="0">
                            <a:latin typeface="Cambria Math" panose="02040503050406030204" pitchFamily="18" charset="0"/>
                            <a:ea typeface="+mn-ea"/>
                            <a:cs typeface="+mn-ea"/>
                          </a:rPr>
                          <m:t> </m:t>
                        </m:r>
                        <m:r>
                          <a:rPr lang="en-US" altLang="zh-CN" sz="2000">
                            <a:latin typeface="Cambria Math" panose="02040503050406030204" pitchFamily="18" charset="0"/>
                            <a:ea typeface="+mn-ea"/>
                            <a:cs typeface="+mn-ea"/>
                          </a:rPr>
                          <m:t>𝒛</m:t>
                        </m:r>
                      </m:e>
                      <m:sub>
                        <m:r>
                          <a:rPr lang="en-US" altLang="zh-CN" sz="2000">
                            <a:latin typeface="Cambria Math" panose="02040503050406030204" pitchFamily="18" charset="0"/>
                            <a:ea typeface="+mn-ea"/>
                            <a:cs typeface="+mn-ea"/>
                          </a:rPr>
                          <m:t>1</m:t>
                        </m:r>
                      </m:sub>
                      <m:sup>
                        <m:r>
                          <a:rPr lang="en-US" altLang="zh-CN" sz="2000">
                            <a:latin typeface="Cambria Math" panose="02040503050406030204" pitchFamily="18" charset="0"/>
                            <a:ea typeface="+mn-ea"/>
                            <a:cs typeface="+mn-ea"/>
                          </a:rPr>
                          <m:t>′</m:t>
                        </m:r>
                      </m:sup>
                    </m:sSubSup>
                    <m:r>
                      <a:rPr lang="en-US" altLang="zh-CN" sz="2000" b="0" i="0" smtClean="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4568</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1</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3130</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2</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4706</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3</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2400</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4</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2509</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5</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2624</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6</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3197</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7</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4247</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8</m:t>
                        </m:r>
                      </m:sub>
                    </m:sSub>
                    <m:r>
                      <a:rPr lang="en-US" altLang="zh-CN" sz="2000">
                        <a:latin typeface="Cambria Math" panose="02040503050406030204" pitchFamily="18" charset="0"/>
                        <a:ea typeface="+mn-ea"/>
                        <a:cs typeface="+mn-ea"/>
                      </a:rPr>
                      <m:t>   </m:t>
                    </m:r>
                  </m:oMath>
                </a14:m>
                <a:endParaRPr lang="en-US" altLang="zh-CN" sz="2000" dirty="0">
                  <a:latin typeface="+mn-ea"/>
                  <a:ea typeface="+mn-ea"/>
                  <a:cs typeface="+mn-ea"/>
                </a:endParaRPr>
              </a:p>
              <a:p>
                <a:pPr marL="0" indent="457200">
                  <a:lnSpc>
                    <a:spcPct val="150000"/>
                  </a:lnSpc>
                  <a:spcBef>
                    <a:spcPct val="0"/>
                  </a:spcBef>
                  <a:buNone/>
                </a:pPr>
                <a14:m>
                  <m:oMathPara xmlns:m="http://schemas.openxmlformats.org/officeDocument/2006/math">
                    <m:oMathParaPr>
                      <m:jc m:val="centerGroup"/>
                    </m:oMathParaPr>
                    <m:oMath xmlns:m="http://schemas.openxmlformats.org/officeDocument/2006/math">
                      <m:sSubSup>
                        <m:sSubSupPr>
                          <m:ctrlPr>
                            <a:rPr lang="zh-CN" altLang="zh-CN" sz="2000" i="1">
                              <a:latin typeface="Cambria Math" panose="02040503050406030204" pitchFamily="18" charset="0"/>
                              <a:ea typeface="+mn-ea"/>
                              <a:cs typeface="+mn-ea"/>
                            </a:rPr>
                          </m:ctrlPr>
                        </m:sSubSupPr>
                        <m:e>
                          <m:r>
                            <a:rPr lang="en-US" altLang="zh-CN" sz="2000">
                              <a:latin typeface="Cambria Math" panose="02040503050406030204" pitchFamily="18" charset="0"/>
                              <a:ea typeface="+mn-ea"/>
                              <a:cs typeface="+mn-ea"/>
                            </a:rPr>
                            <m:t>𝒛</m:t>
                          </m:r>
                        </m:e>
                        <m:sub>
                          <m:r>
                            <a:rPr lang="en-US" altLang="zh-CN" sz="2000">
                              <a:latin typeface="Cambria Math" panose="02040503050406030204" pitchFamily="18" charset="0"/>
                              <a:ea typeface="+mn-ea"/>
                              <a:cs typeface="+mn-ea"/>
                            </a:rPr>
                            <m:t>2</m:t>
                          </m:r>
                        </m:sub>
                        <m:sup>
                          <m:r>
                            <a:rPr lang="en-US" altLang="zh-CN" sz="2000">
                              <a:latin typeface="Cambria Math" panose="02040503050406030204" pitchFamily="18" charset="0"/>
                              <a:ea typeface="+mn-ea"/>
                              <a:cs typeface="+mn-ea"/>
                            </a:rPr>
                            <m:t>′</m:t>
                          </m:r>
                        </m:sup>
                      </m:sSubSup>
                      <m:r>
                        <a:rPr lang="en-US" altLang="zh-CN" sz="2000" b="0" i="0" smtClean="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2585</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1</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4038</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2</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1084</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3</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4878</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4</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4980</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5</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1699</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6</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4010</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7</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2877</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8</m:t>
                          </m:r>
                        </m:sub>
                      </m:sSub>
                    </m:oMath>
                  </m:oMathPara>
                </a14:m>
                <a:endParaRPr lang="en-US" altLang="zh-CN" sz="2000" i="1" dirty="0" smtClean="0">
                  <a:latin typeface="Cambria Math" panose="02040503050406030204" pitchFamily="18" charset="0"/>
                  <a:ea typeface="+mn-ea"/>
                  <a:cs typeface="+mn-ea"/>
                </a:endParaRPr>
              </a:p>
              <a:p>
                <a:pPr marL="0" indent="457200">
                  <a:lnSpc>
                    <a:spcPct val="150000"/>
                  </a:lnSpc>
                  <a:spcBef>
                    <a:spcPct val="0"/>
                  </a:spcBef>
                  <a:buNone/>
                </a:pPr>
                <a14:m>
                  <m:oMathPara xmlns:m="http://schemas.openxmlformats.org/officeDocument/2006/math">
                    <m:oMathParaPr>
                      <m:jc m:val="centerGroup"/>
                    </m:oMathParaPr>
                    <m:oMath xmlns:m="http://schemas.openxmlformats.org/officeDocument/2006/math">
                      <m:sSubSup>
                        <m:sSubSupPr>
                          <m:ctrlPr>
                            <a:rPr lang="zh-CN" altLang="zh-CN" sz="2000" i="1">
                              <a:latin typeface="Cambria Math" panose="02040503050406030204" pitchFamily="18" charset="0"/>
                              <a:ea typeface="+mn-ea"/>
                              <a:cs typeface="+mn-ea"/>
                            </a:rPr>
                          </m:ctrlPr>
                        </m:sSubSupPr>
                        <m:e>
                          <m:r>
                            <a:rPr lang="en-US" altLang="zh-CN" sz="2000">
                              <a:latin typeface="Cambria Math" panose="02040503050406030204" pitchFamily="18" charset="0"/>
                              <a:ea typeface="+mn-ea"/>
                              <a:cs typeface="+mn-ea"/>
                            </a:rPr>
                            <m:t>𝒛</m:t>
                          </m:r>
                        </m:e>
                        <m:sub>
                          <m:r>
                            <a:rPr lang="en-US" altLang="zh-CN" sz="2000">
                              <a:latin typeface="Cambria Math" panose="02040503050406030204" pitchFamily="18" charset="0"/>
                              <a:ea typeface="+mn-ea"/>
                              <a:cs typeface="+mn-ea"/>
                            </a:rPr>
                            <m:t>3</m:t>
                          </m:r>
                        </m:sub>
                        <m:sup>
                          <m:r>
                            <a:rPr lang="en-US" altLang="zh-CN" sz="2000">
                              <a:latin typeface="Cambria Math" panose="02040503050406030204" pitchFamily="18" charset="0"/>
                              <a:ea typeface="+mn-ea"/>
                              <a:cs typeface="+mn-ea"/>
                            </a:rPr>
                            <m:t>′</m:t>
                          </m:r>
                        </m:sup>
                      </m:sSubSup>
                      <m:r>
                        <a:rPr lang="en-US" altLang="zh-CN" sz="2000" b="0" i="1" smtClean="0">
                          <a:latin typeface="Cambria Math" panose="02040503050406030204" pitchFamily="18" charset="0"/>
                          <a:ea typeface="+mn-ea"/>
                          <a:cs typeface="+mn-ea"/>
                        </a:rPr>
                        <m:t>  </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1099</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1</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2459</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2</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1924</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3</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3340</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4</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2493</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5</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7227</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6</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3972</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7</m:t>
                          </m:r>
                        </m:sub>
                      </m:sSub>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0</m:t>
                      </m:r>
                      <m:r>
                        <a:rPr lang="en-US" altLang="zh-CN" sz="2000">
                          <a:latin typeface="Cambria Math" panose="02040503050406030204" pitchFamily="18" charset="0"/>
                          <a:ea typeface="+mn-ea"/>
                          <a:cs typeface="+mn-ea"/>
                        </a:rPr>
                        <m:t>.</m:t>
                      </m:r>
                      <m:r>
                        <a:rPr lang="en-US" altLang="zh-CN" sz="2000">
                          <a:latin typeface="Cambria Math" panose="02040503050406030204" pitchFamily="18" charset="0"/>
                          <a:ea typeface="+mn-ea"/>
                          <a:cs typeface="+mn-ea"/>
                        </a:rPr>
                        <m:t>1915</m:t>
                      </m:r>
                      <m:sSub>
                        <m:sSubPr>
                          <m:ctrlPr>
                            <a:rPr lang="zh-CN" altLang="zh-CN" sz="2000" i="1">
                              <a:latin typeface="Cambria Math" panose="02040503050406030204" pitchFamily="18" charset="0"/>
                              <a:ea typeface="+mn-ea"/>
                              <a:cs typeface="+mn-ea"/>
                            </a:rPr>
                          </m:ctrlPr>
                        </m:sSubPr>
                        <m:e>
                          <m:r>
                            <a:rPr lang="en-US" altLang="zh-CN" sz="2000">
                              <a:latin typeface="Cambria Math" panose="02040503050406030204" pitchFamily="18" charset="0"/>
                              <a:ea typeface="+mn-ea"/>
                              <a:cs typeface="+mn-ea"/>
                            </a:rPr>
                            <m:t>𝒂</m:t>
                          </m:r>
                        </m:e>
                        <m:sub>
                          <m:r>
                            <a:rPr lang="en-US" altLang="zh-CN" sz="2000">
                              <a:latin typeface="Cambria Math" panose="02040503050406030204" pitchFamily="18" charset="0"/>
                              <a:ea typeface="+mn-ea"/>
                              <a:cs typeface="+mn-ea"/>
                            </a:rPr>
                            <m:t>8</m:t>
                          </m:r>
                        </m:sub>
                      </m:sSub>
                    </m:oMath>
                  </m:oMathPara>
                </a14:m>
                <a:endParaRPr lang="zh-CN" altLang="zh-CN" sz="2000" dirty="0">
                  <a:latin typeface="+mn-ea"/>
                  <a:ea typeface="+mn-ea"/>
                  <a:cs typeface="+mn-ea"/>
                </a:endParaRPr>
              </a:p>
              <a:p>
                <a:pPr marL="0" indent="457200">
                  <a:spcBef>
                    <a:spcPct val="0"/>
                  </a:spcBef>
                  <a:buNone/>
                </a:pPr>
                <a:endParaRPr lang="en-US" altLang="zh-CN" dirty="0">
                  <a:latin typeface="+mn-ea"/>
                  <a:ea typeface="+mn-ea"/>
                  <a:cs typeface="+mn-ea"/>
                </a:endParaRPr>
              </a:p>
              <a:p>
                <a:pPr marL="0" indent="457200">
                  <a:spcBef>
                    <a:spcPct val="0"/>
                  </a:spcBef>
                  <a:buNone/>
                </a:pPr>
                <a:r>
                  <a:rPr lang="zh-CN" altLang="zh-CN" dirty="0">
                    <a:latin typeface="+mn-ea"/>
                    <a:ea typeface="+mn-ea"/>
                    <a:cs typeface="+mn-ea"/>
                  </a:rPr>
                  <a:t>带入各省市标准化后的数据，各省份经济数据的主成分如下表：</a:t>
                </a:r>
                <a:endParaRPr lang="zh-CN" altLang="zh-CN" dirty="0">
                  <a:latin typeface="+mn-ea"/>
                  <a:ea typeface="+mn-ea"/>
                  <a:cs typeface="+mn-ea"/>
                </a:endParaRPr>
              </a:p>
              <a:p>
                <a:pPr marL="0" indent="0">
                  <a:spcBef>
                    <a:spcPct val="0"/>
                  </a:spcBef>
                  <a:buNone/>
                </a:pPr>
                <a:endParaRPr lang="zh-CN" altLang="zh-CN" sz="1800" dirty="0">
                  <a:ea typeface="+mn-ea"/>
                  <a:cs typeface="+mn-ea"/>
                </a:endParaRPr>
              </a:p>
              <a:p>
                <a:pPr marL="0" indent="0">
                  <a:spcBef>
                    <a:spcPct val="0"/>
                  </a:spcBef>
                  <a:buNone/>
                </a:pP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175846" y="1292424"/>
                <a:ext cx="11912076" cy="4762688"/>
              </a:xfrm>
              <a:prstGeom prst="rect">
                <a:avLst/>
              </a:prstGeom>
              <a:blipFill rotWithShape="1">
                <a:blip r:embed="rId2"/>
                <a:stretch>
                  <a:fillRect l="-5" t="-4" r="-170" b="8"/>
                </a:stretch>
              </a:blipFill>
              <a:ln>
                <a:noFill/>
              </a:ln>
              <a:effectLst/>
            </p:spPr>
            <p:txBody>
              <a:bodyPr/>
              <a:lstStyle/>
              <a:p>
                <a:r>
                  <a:rPr lang="zh-CN" altLang="en-US">
                    <a:noFill/>
                  </a:rPr>
                  <a:t> </a:t>
                </a:r>
              </a:p>
            </p:txBody>
          </p:sp>
        </mc:Fallback>
      </mc:AlternateContent>
      <p:sp>
        <p:nvSpPr>
          <p:cNvPr id="5" name="Text Box 2"/>
          <p:cNvSpPr txBox="1">
            <a:spLocks noChangeArrowheads="1"/>
          </p:cNvSpPr>
          <p:nvPr/>
        </p:nvSpPr>
        <p:spPr bwMode="auto">
          <a:xfrm>
            <a:off x="1291271" y="23077"/>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1973727" y="783518"/>
                <a:ext cx="8207375" cy="5348250"/>
              </a:xfrm>
              <a:prstGeom prst="rect">
                <a:avLst/>
              </a:prstGeom>
              <a:noFill/>
              <a:ln>
                <a:noFill/>
              </a:ln>
              <a:effectLst/>
            </p:spPr>
            <p:txBody>
              <a:bodyPr/>
              <a:lstStyle>
                <a:lvl1pPr marL="342900" indent="-3429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0" indent="0" algn="ctr">
                  <a:spcBef>
                    <a:spcPct val="0"/>
                  </a:spcBef>
                  <a:buNone/>
                </a:pPr>
                <a14:m>
                  <m:oMath xmlns:m="http://schemas.openxmlformats.org/officeDocument/2006/math">
                    <m:r>
                      <a:rPr lang="zh-CN" altLang="en-US" sz="2000" i="1" smtClean="0">
                        <a:latin typeface="Cambria Math" panose="02040503050406030204" pitchFamily="18" charset="0"/>
                        <a:ea typeface="+mn-ea"/>
                        <a:cs typeface="+mn-ea"/>
                      </a:rPr>
                      <m:t>表</m:t>
                    </m:r>
                    <m:r>
                      <a:rPr lang="en-US" altLang="zh-CN" sz="2000" b="0" i="1" smtClean="0">
                        <a:latin typeface="Cambria Math" panose="02040503050406030204"/>
                        <a:ea typeface="+mn-ea"/>
                        <a:cs typeface="+mn-ea"/>
                      </a:rPr>
                      <m:t>5</m:t>
                    </m:r>
                    <m:r>
                      <a:rPr lang="en-US" altLang="zh-CN" sz="2000" b="0" i="1" smtClean="0">
                        <a:latin typeface="Cambria Math" panose="02040503050406030204"/>
                        <a:ea typeface="+mn-ea"/>
                        <a:cs typeface="+mn-ea"/>
                      </a:rPr>
                      <m:t> </m:t>
                    </m:r>
                    <m:r>
                      <a:rPr lang="zh-CN" altLang="en-US" sz="2000" i="1">
                        <a:latin typeface="Cambria Math" panose="02040503050406030204" pitchFamily="18" charset="0"/>
                        <a:ea typeface="+mn-ea"/>
                        <a:cs typeface="+mn-ea"/>
                      </a:rPr>
                      <m:t>经济</m:t>
                    </m:r>
                  </m:oMath>
                </a14:m>
                <a:r>
                  <a:rPr lang="zh-CN" altLang="en-US" sz="2000" dirty="0">
                    <a:ea typeface="+mn-ea"/>
                    <a:cs typeface="+mn-ea"/>
                  </a:rPr>
                  <a:t>数据主成分</a:t>
                </a:r>
                <a:endParaRPr lang="en-US" altLang="zh-CN" dirty="0">
                  <a:ea typeface="+mn-ea"/>
                  <a:cs typeface="+mn-ea"/>
                </a:endParaRPr>
              </a:p>
            </p:txBody>
          </p:sp>
        </mc:Choice>
        <mc:Fallback>
          <p:sp>
            <p:nvSpPr>
              <p:cNvPr id="6" name="Rectangle 2"/>
              <p:cNvSpPr txBox="1">
                <a:spLocks noRot="1" noChangeAspect="1" noMove="1" noResize="1" noEditPoints="1" noAdjustHandles="1" noChangeArrowheads="1" noChangeShapeType="1" noTextEdit="1"/>
              </p:cNvSpPr>
              <p:nvPr/>
            </p:nvSpPr>
            <p:spPr bwMode="auto">
              <a:xfrm>
                <a:off x="1973727" y="783518"/>
                <a:ext cx="8207375" cy="5348250"/>
              </a:xfrm>
              <a:prstGeom prst="rect">
                <a:avLst/>
              </a:prstGeom>
              <a:blipFill rotWithShape="1">
                <a:blip r:embed="rId2"/>
                <a:stretch>
                  <a:fillRect l="-2" t="-11" r="2" b="4"/>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1005054" y="1369192"/>
              <a:ext cx="10536458" cy="4659228"/>
            </p:xfrm>
            <a:graphic>
              <a:graphicData uri="http://schemas.openxmlformats.org/drawingml/2006/table">
                <a:tbl>
                  <a:tblPr firstRow="1" firstCol="1" bandRow="1">
                    <a:tableStyleId>{5940675A-B579-460E-94D1-54222C63F5DA}</a:tableStyleId>
                  </a:tblPr>
                  <a:tblGrid>
                    <a:gridCol w="1360804"/>
                    <a:gridCol w="1360804"/>
                    <a:gridCol w="1360804"/>
                    <a:gridCol w="1357404"/>
                    <a:gridCol w="1355706"/>
                    <a:gridCol w="1360804"/>
                    <a:gridCol w="1213000"/>
                    <a:gridCol w="1167132"/>
                  </a:tblGrid>
                  <a:tr h="250327">
                    <a:tc>
                      <a:txBody>
                        <a:bodyPr/>
                        <a:lstStyle/>
                        <a:p>
                          <a:pPr algn="just">
                            <a:lnSpc>
                              <a:spcPct val="100000"/>
                            </a:lnSpc>
                            <a:spcBef>
                              <a:spcPts val="0"/>
                            </a:spcBef>
                            <a:spcAft>
                              <a:spcPts val="0"/>
                            </a:spcAft>
                          </a:pPr>
                          <a:r>
                            <a:rPr lang="en-US" sz="1800" kern="100" dirty="0">
                              <a:effectLst/>
                              <a:ea typeface="+mn-ea"/>
                              <a:cs typeface="+mn-ea"/>
                            </a:rPr>
                            <a:t> </a:t>
                          </a:r>
                          <a:endParaRPr lang="zh-CN" sz="1800" kern="100" dirty="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北京</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天津</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河北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山西</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内蒙古</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辽宁</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吉林</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1</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dirty="0">
                              <a:effectLst/>
                              <a:ea typeface="+mn-ea"/>
                              <a:cs typeface="+mn-ea"/>
                            </a:rPr>
                            <a:t>-0.8266</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0.6564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1.3585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-0.9888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-1.6211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1.6632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-0.3868</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2</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dirty="0">
                              <a:effectLst/>
                              <a:ea typeface="+mn-ea"/>
                              <a:cs typeface="+mn-ea"/>
                            </a:rPr>
                            <a:t>2.2582</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-2.6378</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2.3513</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0.3905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0.7253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0.9719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-0.4226</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3</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0.5399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-1.1725</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-1.3128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-0.5717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-0.3819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-0.6231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-1.2106</a:t>
                          </a:r>
                          <a:endParaRPr lang="zh-CN" sz="1800" kern="100">
                            <a:effectLst/>
                            <a:latin typeface="Calibri" panose="020F0502020204030204" pitchFamily="34" charset="0"/>
                            <a:ea typeface="+mn-ea"/>
                            <a:cs typeface="+mn-ea"/>
                          </a:endParaRPr>
                        </a:p>
                      </a:txBody>
                      <a:tcPr marL="68580" marR="68580" marT="0" marB="0" anchor="ctr"/>
                    </a:tc>
                  </a:tr>
                  <a:tr h="250327">
                    <a:tc>
                      <a:txBody>
                        <a:bodyPr/>
                        <a:lstStyle/>
                        <a:p>
                          <a:pPr algn="just">
                            <a:lnSpc>
                              <a:spcPct val="100000"/>
                            </a:lnSpc>
                            <a:spcBef>
                              <a:spcPts val="0"/>
                            </a:spcBef>
                            <a:spcAft>
                              <a:spcPts val="0"/>
                            </a:spcAft>
                          </a:pPr>
                          <a:r>
                            <a:rPr lang="en-US" sz="1800" kern="100">
                              <a:effectLst/>
                              <a:ea typeface="+mn-ea"/>
                              <a:cs typeface="+mn-ea"/>
                            </a:rPr>
                            <a:t> </a:t>
                          </a:r>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河南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湖北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dirty="0">
                              <a:effectLst/>
                              <a:ea typeface="+mn-ea"/>
                              <a:cs typeface="+mn-ea"/>
                            </a:rPr>
                            <a:t>湖南</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广东</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广西</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海南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四川</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1</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1.023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-0.2825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-0.4101</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4.6123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-1.1412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-0.5639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0.5699</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2</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2.1457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1.4488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1.063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-1.2982</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0.3656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-2.2874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1.9764</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3</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-0.9401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1.1445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0.2546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0.0959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0.3815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-2.4087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0.852</a:t>
                          </a:r>
                          <a:endParaRPr lang="zh-CN" sz="1800" kern="100">
                            <a:effectLst/>
                            <a:latin typeface="Calibri" panose="020F0502020204030204" pitchFamily="34" charset="0"/>
                            <a:ea typeface="+mn-ea"/>
                            <a:cs typeface="+mn-ea"/>
                          </a:endParaRPr>
                        </a:p>
                      </a:txBody>
                      <a:tcPr marL="68580" marR="68580" marT="0" marB="0" anchor="ctr"/>
                    </a:tc>
                  </a:tr>
                  <a:tr h="250327">
                    <a:tc>
                      <a:txBody>
                        <a:bodyPr/>
                        <a:lstStyle/>
                        <a:p>
                          <a:pPr algn="just">
                            <a:lnSpc>
                              <a:spcPct val="100000"/>
                            </a:lnSpc>
                            <a:spcBef>
                              <a:spcPts val="0"/>
                            </a:spcBef>
                            <a:spcAft>
                              <a:spcPts val="0"/>
                            </a:spcAft>
                          </a:pPr>
                          <a:r>
                            <a:rPr lang="en-US" sz="1800" kern="100">
                              <a:effectLst/>
                              <a:ea typeface="+mn-ea"/>
                              <a:cs typeface="+mn-ea"/>
                            </a:rPr>
                            <a:t> </a:t>
                          </a:r>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上海</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江苏</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浙江</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安徽</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福建</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dirty="0">
                              <a:effectLst/>
                              <a:ea typeface="+mn-ea"/>
                              <a:cs typeface="+mn-ea"/>
                            </a:rPr>
                            <a:t>江西</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山东</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1</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3.1951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3.5689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1.883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0.4451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0.4181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-1.3898</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3.0006</a:t>
                          </a:r>
                          <a:endParaRPr lang="zh-CN" sz="1800" kern="10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2</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-3.2802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1.2629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-0.4864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0.1197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-0.9188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0.3006</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2.0659</a:t>
                          </a:r>
                          <a:endParaRPr lang="zh-CN" sz="1800" kern="100" dirty="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3</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2.8822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0.3835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0.2257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-1.862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-0.6569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-0.5293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0.5468</a:t>
                          </a:r>
                          <a:endParaRPr lang="zh-CN" sz="1800" kern="100" dirty="0">
                            <a:effectLst/>
                            <a:latin typeface="Calibri" panose="020F0502020204030204" pitchFamily="34" charset="0"/>
                            <a:ea typeface="+mn-ea"/>
                            <a:cs typeface="+mn-ea"/>
                          </a:endParaRPr>
                        </a:p>
                      </a:txBody>
                      <a:tcPr marL="68580" marR="68580" marT="0" marB="0" anchor="ctr"/>
                    </a:tc>
                  </a:tr>
                  <a:tr h="250327">
                    <a:tc>
                      <a:txBody>
                        <a:bodyPr/>
                        <a:lstStyle/>
                        <a:p>
                          <a:pPr algn="just">
                            <a:lnSpc>
                              <a:spcPct val="100000"/>
                            </a:lnSpc>
                            <a:spcBef>
                              <a:spcPts val="0"/>
                            </a:spcBef>
                            <a:spcAft>
                              <a:spcPts val="0"/>
                            </a:spcAft>
                          </a:pPr>
                          <a:r>
                            <a:rPr lang="en-US" sz="1800" kern="100">
                              <a:effectLst/>
                              <a:ea typeface="+mn-ea"/>
                              <a:cs typeface="+mn-ea"/>
                            </a:rPr>
                            <a:t> </a:t>
                          </a:r>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云南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西藏</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陕西</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甘肃</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青海</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宁夏</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dirty="0">
                              <a:effectLst/>
                              <a:ea typeface="+mn-ea"/>
                              <a:cs typeface="+mn-ea"/>
                            </a:rPr>
                            <a:t>新疆</a:t>
                          </a:r>
                          <a:endParaRPr lang="zh-CN" sz="1800" kern="100" dirty="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1</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-2.0197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-2.0175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-1.7772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-2.1163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-2.3478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-2.1619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-1.7232</a:t>
                          </a:r>
                          <a:endParaRPr lang="zh-CN" sz="1800" kern="100" dirty="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2</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0.7238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-2.0169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0.7078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0.1682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-1.074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-0.9936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-0.0422</a:t>
                          </a:r>
                          <a:endParaRPr lang="zh-CN" sz="1800" kern="100" dirty="0">
                            <a:effectLst/>
                            <a:latin typeface="Calibri" panose="020F0502020204030204" pitchFamily="34" charset="0"/>
                            <a:ea typeface="+mn-ea"/>
                            <a:cs typeface="+mn-ea"/>
                          </a:endParaRPr>
                        </a:p>
                      </a:txBody>
                      <a:tcPr marL="68580" marR="68580" marT="0" marB="0" anchor="ctr"/>
                    </a:tc>
                  </a:tr>
                  <a:tr h="296829">
                    <a:tc>
                      <a:txBody>
                        <a:bodyPr/>
                        <a:lstStyle/>
                        <a:p>
                          <a:pPr algn="just">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mn-ea"/>
                                        <a:cs typeface="+mn-ea"/>
                                      </a:rPr>
                                    </m:ctrlPr>
                                  </m:sSubSupPr>
                                  <m:e>
                                    <m:r>
                                      <a:rPr lang="en-US" sz="1800" kern="100">
                                        <a:effectLst/>
                                        <a:latin typeface="Cambria Math" panose="02040503050406030204" pitchFamily="18" charset="0"/>
                                        <a:ea typeface="+mn-ea"/>
                                        <a:cs typeface="+mn-ea"/>
                                      </a:rPr>
                                      <m:t>𝒛</m:t>
                                    </m:r>
                                  </m:e>
                                  <m:sub>
                                    <m:r>
                                      <a:rPr lang="en-US" sz="1800" kern="100">
                                        <a:effectLst/>
                                        <a:latin typeface="Cambria Math" panose="02040503050406030204" pitchFamily="18" charset="0"/>
                                        <a:ea typeface="+mn-ea"/>
                                        <a:cs typeface="+mn-ea"/>
                                      </a:rPr>
                                      <m:t>3</m:t>
                                    </m:r>
                                  </m:sub>
                                  <m:sup>
                                    <m:r>
                                      <a:rPr lang="en-US" sz="1800" kern="100">
                                        <a:effectLst/>
                                        <a:latin typeface="Cambria Math" panose="02040503050406030204" pitchFamily="18" charset="0"/>
                                        <a:ea typeface="+mn-ea"/>
                                        <a:cs typeface="+mn-ea"/>
                                      </a:rPr>
                                      <m:t>′</m:t>
                                    </m:r>
                                  </m:sup>
                                </m:sSubSup>
                              </m:oMath>
                            </m:oMathPara>
                          </a14:m>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en-US" sz="1800" kern="100">
                              <a:effectLst/>
                              <a:ea typeface="+mn-ea"/>
                              <a:cs typeface="+mn-ea"/>
                            </a:rPr>
                            <a:t>1.8898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0.0156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0.459</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0.6939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0.2626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-0.4881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1.019</a:t>
                          </a:r>
                          <a:endParaRPr lang="zh-CN" sz="1800" kern="100" dirty="0">
                            <a:effectLst/>
                            <a:latin typeface="Calibri" panose="020F0502020204030204" pitchFamily="34" charset="0"/>
                            <a:ea typeface="+mn-ea"/>
                            <a:cs typeface="+mn-ea"/>
                          </a:endParaRPr>
                        </a:p>
                      </a:txBody>
                      <a:tcPr marL="68580" marR="68580" marT="0" marB="0" anchor="ctr"/>
                    </a:tc>
                  </a:tr>
                </a:tbl>
              </a:graphicData>
            </a:graphic>
          </p:graphicFrame>
        </mc:Choice>
        <mc:Fallback xmlns="">
          <p:graphicFrame>
            <p:nvGraphicFramePr>
              <p:cNvPr id="2" name="表格 1"/>
              <p:cNvGraphicFramePr>
                <a:graphicFrameLocks noGrp="1"/>
              </p:cNvGraphicFramePr>
              <p:nvPr/>
            </p:nvGraphicFramePr>
            <p:xfrm>
              <a:off x="1005054" y="1369192"/>
              <a:ext cx="10536458" cy="4659228"/>
            </p:xfrm>
            <a:graphic>
              <a:graphicData uri="http://schemas.openxmlformats.org/drawingml/2006/table">
                <a:tbl>
                  <a:tblPr firstRow="1" firstCol="1" bandRow="1">
                    <a:tableStyleId>{5940675A-B579-460E-94D1-54222C63F5DA}</a:tableStyleId>
                  </a:tblPr>
                  <a:tblGrid>
                    <a:gridCol w="1360804"/>
                    <a:gridCol w="1360804"/>
                    <a:gridCol w="1360804"/>
                    <a:gridCol w="1357404"/>
                    <a:gridCol w="1355706"/>
                    <a:gridCol w="1360804"/>
                    <a:gridCol w="1213000"/>
                    <a:gridCol w="1167132"/>
                  </a:tblGrid>
                  <a:tr h="250327">
                    <a:tc>
                      <a:txBody>
                        <a:bodyPr/>
                        <a:lstStyle/>
                        <a:p>
                          <a:pPr algn="just">
                            <a:lnSpc>
                              <a:spcPct val="100000"/>
                            </a:lnSpc>
                            <a:spcBef>
                              <a:spcPts val="0"/>
                            </a:spcBef>
                            <a:spcAft>
                              <a:spcPts val="0"/>
                            </a:spcAft>
                          </a:pPr>
                          <a:r>
                            <a:rPr lang="en-US" sz="1800" kern="100" dirty="0">
                              <a:effectLst/>
                              <a:ea typeface="+mn-ea"/>
                              <a:cs typeface="+mn-ea"/>
                            </a:rPr>
                            <a:t> </a:t>
                          </a:r>
                          <a:endParaRPr lang="zh-CN" sz="1800" kern="100" dirty="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北京</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天津</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河北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山西</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内蒙古</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辽宁</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吉林</a:t>
                          </a:r>
                          <a:endParaRPr lang="zh-CN" sz="1800" kern="100">
                            <a:effectLst/>
                            <a:latin typeface="Calibri" panose="020F0502020204030204" pitchFamily="34" charset="0"/>
                            <a:ea typeface="+mn-ea"/>
                            <a:cs typeface="+mn-ea"/>
                          </a:endParaRPr>
                        </a:p>
                      </a:txBody>
                      <a:tcPr marL="68580" marR="68580" marT="0" marB="0" anchor="ctr"/>
                    </a:tc>
                  </a:tr>
                  <a:tr h="297180">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dirty="0">
                              <a:effectLst/>
                              <a:ea typeface="+mn-ea"/>
                              <a:cs typeface="+mn-ea"/>
                            </a:rPr>
                            <a:t>-0.8266</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0.6564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1.3585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-0.9888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-1.6211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1.6632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-0.3868</a:t>
                          </a:r>
                          <a:endParaRPr lang="zh-CN" sz="1800" kern="100">
                            <a:effectLst/>
                            <a:latin typeface="Calibri" panose="020F0502020204030204" pitchFamily="34" charset="0"/>
                            <a:ea typeface="+mn-ea"/>
                            <a:cs typeface="+mn-ea"/>
                          </a:endParaRPr>
                        </a:p>
                      </a:txBody>
                      <a:tcPr marL="68580" marR="68580" marT="0" marB="0" anchor="ctr"/>
                    </a:tc>
                  </a:tr>
                  <a:tr h="296545">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dirty="0">
                              <a:effectLst/>
                              <a:ea typeface="+mn-ea"/>
                              <a:cs typeface="+mn-ea"/>
                            </a:rPr>
                            <a:t>2.2582</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-2.6378</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2.3513</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0.3905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0.7253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0.9719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-0.4226</a:t>
                          </a:r>
                          <a:endParaRPr lang="zh-CN" sz="1800" kern="100">
                            <a:effectLst/>
                            <a:latin typeface="Calibri" panose="020F0502020204030204" pitchFamily="34" charset="0"/>
                            <a:ea typeface="+mn-ea"/>
                            <a:cs typeface="+mn-ea"/>
                          </a:endParaRPr>
                        </a:p>
                      </a:txBody>
                      <a:tcPr marL="68580" marR="68580" marT="0" marB="0" anchor="ctr"/>
                    </a:tc>
                  </a:tr>
                  <a:tr h="297180">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0.5399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-1.1725</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-1.3128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-0.5717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-0.3819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-0.6231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-1.2106</a:t>
                          </a:r>
                          <a:endParaRPr lang="zh-CN" sz="1800" kern="100">
                            <a:effectLst/>
                            <a:latin typeface="Calibri" panose="020F0502020204030204" pitchFamily="34" charset="0"/>
                            <a:ea typeface="+mn-ea"/>
                            <a:cs typeface="+mn-ea"/>
                          </a:endParaRPr>
                        </a:p>
                      </a:txBody>
                      <a:tcPr marL="68580" marR="68580" marT="0" marB="0" anchor="ctr"/>
                    </a:tc>
                  </a:tr>
                  <a:tr h="250327">
                    <a:tc>
                      <a:txBody>
                        <a:bodyPr/>
                        <a:lstStyle/>
                        <a:p>
                          <a:pPr algn="just">
                            <a:lnSpc>
                              <a:spcPct val="100000"/>
                            </a:lnSpc>
                            <a:spcBef>
                              <a:spcPts val="0"/>
                            </a:spcBef>
                            <a:spcAft>
                              <a:spcPts val="0"/>
                            </a:spcAft>
                          </a:pPr>
                          <a:r>
                            <a:rPr lang="en-US" sz="1800" kern="100">
                              <a:effectLst/>
                              <a:ea typeface="+mn-ea"/>
                              <a:cs typeface="+mn-ea"/>
                            </a:rPr>
                            <a:t> </a:t>
                          </a:r>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河南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湖北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dirty="0">
                              <a:effectLst/>
                              <a:ea typeface="+mn-ea"/>
                              <a:cs typeface="+mn-ea"/>
                            </a:rPr>
                            <a:t>湖南</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广东</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广西</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海南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四川</a:t>
                          </a:r>
                          <a:endParaRPr lang="zh-CN" sz="1800" kern="100">
                            <a:effectLst/>
                            <a:latin typeface="Calibri" panose="020F0502020204030204" pitchFamily="34" charset="0"/>
                            <a:ea typeface="+mn-ea"/>
                            <a:cs typeface="+mn-ea"/>
                          </a:endParaRPr>
                        </a:p>
                      </a:txBody>
                      <a:tcPr marL="68580" marR="68580" marT="0" marB="0" anchor="ctr"/>
                    </a:tc>
                  </a:tr>
                  <a:tr h="296545">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1.023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-0.2825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-0.4101</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4.6123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-1.1412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-0.5639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0.5699</a:t>
                          </a:r>
                          <a:endParaRPr lang="zh-CN" sz="1800" kern="100">
                            <a:effectLst/>
                            <a:latin typeface="Calibri" panose="020F0502020204030204" pitchFamily="34" charset="0"/>
                            <a:ea typeface="+mn-ea"/>
                            <a:cs typeface="+mn-ea"/>
                          </a:endParaRPr>
                        </a:p>
                      </a:txBody>
                      <a:tcPr marL="68580" marR="68580" marT="0" marB="0" anchor="ctr"/>
                    </a:tc>
                  </a:tr>
                  <a:tr h="297180">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2.1457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1.4488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1.063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-1.2982</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0.3656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-2.2874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1.9764</a:t>
                          </a:r>
                          <a:endParaRPr lang="zh-CN" sz="1800" kern="100">
                            <a:effectLst/>
                            <a:latin typeface="Calibri" panose="020F0502020204030204" pitchFamily="34" charset="0"/>
                            <a:ea typeface="+mn-ea"/>
                            <a:cs typeface="+mn-ea"/>
                          </a:endParaRPr>
                        </a:p>
                      </a:txBody>
                      <a:tcPr marL="68580" marR="68580" marT="0" marB="0" anchor="ctr"/>
                    </a:tc>
                  </a:tr>
                  <a:tr h="296545">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-0.9401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1.1445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0.2546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0.0959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0.3815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-2.4087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0.852</a:t>
                          </a:r>
                          <a:endParaRPr lang="zh-CN" sz="1800" kern="100">
                            <a:effectLst/>
                            <a:latin typeface="Calibri" panose="020F0502020204030204" pitchFamily="34" charset="0"/>
                            <a:ea typeface="+mn-ea"/>
                            <a:cs typeface="+mn-ea"/>
                          </a:endParaRPr>
                        </a:p>
                      </a:txBody>
                      <a:tcPr marL="68580" marR="68580" marT="0" marB="0" anchor="ctr"/>
                    </a:tc>
                  </a:tr>
                  <a:tr h="250327">
                    <a:tc>
                      <a:txBody>
                        <a:bodyPr/>
                        <a:lstStyle/>
                        <a:p>
                          <a:pPr algn="just">
                            <a:lnSpc>
                              <a:spcPct val="100000"/>
                            </a:lnSpc>
                            <a:spcBef>
                              <a:spcPts val="0"/>
                            </a:spcBef>
                            <a:spcAft>
                              <a:spcPts val="0"/>
                            </a:spcAft>
                          </a:pPr>
                          <a:r>
                            <a:rPr lang="en-US" sz="1800" kern="100">
                              <a:effectLst/>
                              <a:ea typeface="+mn-ea"/>
                              <a:cs typeface="+mn-ea"/>
                            </a:rPr>
                            <a:t> </a:t>
                          </a:r>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上海</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江苏</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浙江</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安徽</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福建</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dirty="0">
                              <a:effectLst/>
                              <a:ea typeface="+mn-ea"/>
                              <a:cs typeface="+mn-ea"/>
                            </a:rPr>
                            <a:t>江西</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山东</a:t>
                          </a:r>
                          <a:endParaRPr lang="zh-CN" sz="1800" kern="100">
                            <a:effectLst/>
                            <a:latin typeface="Calibri" panose="020F0502020204030204" pitchFamily="34" charset="0"/>
                            <a:ea typeface="+mn-ea"/>
                            <a:cs typeface="+mn-ea"/>
                          </a:endParaRPr>
                        </a:p>
                      </a:txBody>
                      <a:tcPr marL="68580" marR="68580" marT="0" marB="0" anchor="ctr"/>
                    </a:tc>
                  </a:tr>
                  <a:tr h="297180">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3.1951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3.5689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1.883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0.4451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0.4181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-1.3898</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3.0006</a:t>
                          </a:r>
                          <a:endParaRPr lang="zh-CN" sz="1800" kern="100">
                            <a:effectLst/>
                            <a:latin typeface="Calibri" panose="020F0502020204030204" pitchFamily="34" charset="0"/>
                            <a:ea typeface="+mn-ea"/>
                            <a:cs typeface="+mn-ea"/>
                          </a:endParaRPr>
                        </a:p>
                      </a:txBody>
                      <a:tcPr marL="68580" marR="68580" marT="0" marB="0" anchor="ctr"/>
                    </a:tc>
                  </a:tr>
                  <a:tr h="296545">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-3.2802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1.2629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-0.4864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0.1197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-0.9188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0.3006</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2.0659</a:t>
                          </a:r>
                          <a:endParaRPr lang="zh-CN" sz="1800" kern="100" dirty="0">
                            <a:effectLst/>
                            <a:latin typeface="Calibri" panose="020F0502020204030204" pitchFamily="34" charset="0"/>
                            <a:ea typeface="+mn-ea"/>
                            <a:cs typeface="+mn-ea"/>
                          </a:endParaRPr>
                        </a:p>
                      </a:txBody>
                      <a:tcPr marL="68580" marR="68580" marT="0" marB="0" anchor="ctr"/>
                    </a:tc>
                  </a:tr>
                  <a:tr h="297180">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2.8822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0.3835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0.2257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-1.862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-0.6569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-0.5293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0.5468</a:t>
                          </a:r>
                          <a:endParaRPr lang="zh-CN" sz="1800" kern="100" dirty="0">
                            <a:effectLst/>
                            <a:latin typeface="Calibri" panose="020F0502020204030204" pitchFamily="34" charset="0"/>
                            <a:ea typeface="+mn-ea"/>
                            <a:cs typeface="+mn-ea"/>
                          </a:endParaRPr>
                        </a:p>
                      </a:txBody>
                      <a:tcPr marL="68580" marR="68580" marT="0" marB="0" anchor="ctr"/>
                    </a:tc>
                  </a:tr>
                  <a:tr h="250327">
                    <a:tc>
                      <a:txBody>
                        <a:bodyPr/>
                        <a:lstStyle/>
                        <a:p>
                          <a:pPr algn="just">
                            <a:lnSpc>
                              <a:spcPct val="100000"/>
                            </a:lnSpc>
                            <a:spcBef>
                              <a:spcPts val="0"/>
                            </a:spcBef>
                            <a:spcAft>
                              <a:spcPts val="0"/>
                            </a:spcAft>
                          </a:pPr>
                          <a:r>
                            <a:rPr lang="en-US" sz="1800" kern="100">
                              <a:effectLst/>
                              <a:ea typeface="+mn-ea"/>
                              <a:cs typeface="+mn-ea"/>
                            </a:rPr>
                            <a:t> </a:t>
                          </a:r>
                          <a:endParaRPr lang="zh-CN" sz="1800" kern="100">
                            <a:effectLst/>
                            <a:latin typeface="Calibri" panose="020F0502020204030204" pitchFamily="34" charset="0"/>
                            <a:ea typeface="+mn-ea"/>
                            <a:cs typeface="+mn-ea"/>
                          </a:endParaRPr>
                        </a:p>
                      </a:txBody>
                      <a:tcPr marL="68580" marR="68580" marT="0" marB="0"/>
                    </a:tc>
                    <a:tc>
                      <a:txBody>
                        <a:bodyPr/>
                        <a:lstStyle/>
                        <a:p>
                          <a:pPr algn="just">
                            <a:lnSpc>
                              <a:spcPct val="100000"/>
                            </a:lnSpc>
                            <a:spcBef>
                              <a:spcPts val="0"/>
                            </a:spcBef>
                            <a:spcAft>
                              <a:spcPts val="0"/>
                            </a:spcAft>
                          </a:pPr>
                          <a:r>
                            <a:rPr lang="zh-CN" sz="1800" kern="100">
                              <a:effectLst/>
                              <a:ea typeface="+mn-ea"/>
                              <a:cs typeface="+mn-ea"/>
                            </a:rPr>
                            <a:t>云南</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西藏</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陕西</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甘肃</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青海</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a:effectLst/>
                              <a:ea typeface="+mn-ea"/>
                              <a:cs typeface="+mn-ea"/>
                            </a:rPr>
                            <a:t>宁夏</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zh-CN" sz="1800" kern="100" dirty="0">
                              <a:effectLst/>
                              <a:ea typeface="+mn-ea"/>
                              <a:cs typeface="+mn-ea"/>
                            </a:rPr>
                            <a:t>新疆</a:t>
                          </a:r>
                          <a:endParaRPr lang="zh-CN" sz="1800" kern="100" dirty="0">
                            <a:effectLst/>
                            <a:latin typeface="Calibri" panose="020F0502020204030204" pitchFamily="34" charset="0"/>
                            <a:ea typeface="+mn-ea"/>
                            <a:cs typeface="+mn-ea"/>
                          </a:endParaRPr>
                        </a:p>
                      </a:txBody>
                      <a:tcPr marL="68580" marR="68580" marT="0" marB="0" anchor="ctr"/>
                    </a:tc>
                  </a:tr>
                  <a:tr h="296545">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-2.0197</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-2.0175</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-1.7772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-2.1163</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-2.3478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-2.1619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-1.7232</a:t>
                          </a:r>
                          <a:endParaRPr lang="zh-CN" sz="1800" kern="100" dirty="0">
                            <a:effectLst/>
                            <a:latin typeface="Calibri" panose="020F0502020204030204" pitchFamily="34" charset="0"/>
                            <a:ea typeface="+mn-ea"/>
                            <a:cs typeface="+mn-ea"/>
                          </a:endParaRPr>
                        </a:p>
                      </a:txBody>
                      <a:tcPr marL="68580" marR="68580" marT="0" marB="0" anchor="ctr"/>
                    </a:tc>
                  </a:tr>
                  <a:tr h="297180">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0.7238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-2.0169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0.7078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0.1682</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-1.074</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-0.9936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-0.0422</a:t>
                          </a:r>
                          <a:endParaRPr lang="zh-CN" sz="1800" kern="100" dirty="0">
                            <a:effectLst/>
                            <a:latin typeface="Calibri" panose="020F0502020204030204" pitchFamily="34" charset="0"/>
                            <a:ea typeface="+mn-ea"/>
                            <a:cs typeface="+mn-ea"/>
                          </a:endParaRPr>
                        </a:p>
                      </a:txBody>
                      <a:tcPr marL="68580" marR="68580" marT="0" marB="0" anchor="ctr"/>
                    </a:tc>
                  </a:tr>
                  <a:tr h="296545">
                    <a:tc>
                      <a:txBody>
                        <a:bodyPr/>
                        <a:lstStyle/>
                        <a:p>
                          <a:endParaRPr lang="zh-CN"/>
                        </a:p>
                      </a:txBody>
                      <a:tcPr marL="68580" marR="68580" marT="0" marB="0">
                        <a:blipFill>
                          <a:blip r:embed="rId3"/>
                        </a:blipFill>
                      </a:tcPr>
                    </a:tc>
                    <a:tc>
                      <a:txBody>
                        <a:bodyPr/>
                        <a:lstStyle/>
                        <a:p>
                          <a:pPr algn="just">
                            <a:lnSpc>
                              <a:spcPct val="100000"/>
                            </a:lnSpc>
                            <a:spcBef>
                              <a:spcPts val="0"/>
                            </a:spcBef>
                            <a:spcAft>
                              <a:spcPts val="0"/>
                            </a:spcAft>
                          </a:pPr>
                          <a:r>
                            <a:rPr lang="en-US" sz="1800" kern="100">
                              <a:effectLst/>
                              <a:ea typeface="+mn-ea"/>
                              <a:cs typeface="+mn-ea"/>
                            </a:rPr>
                            <a:t>1.8898</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0.0156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0.459</a:t>
                          </a:r>
                          <a:endParaRPr lang="zh-CN" sz="1800" kern="100" dirty="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0.6939</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0.2626</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a:effectLst/>
                              <a:ea typeface="+mn-ea"/>
                              <a:cs typeface="+mn-ea"/>
                            </a:rPr>
                            <a:t>-0.4881</a:t>
                          </a:r>
                          <a:endParaRPr lang="zh-CN" sz="1800" kern="100">
                            <a:effectLst/>
                            <a:latin typeface="Calibri" panose="020F0502020204030204" pitchFamily="34" charset="0"/>
                            <a:ea typeface="+mn-ea"/>
                            <a:cs typeface="+mn-ea"/>
                          </a:endParaRPr>
                        </a:p>
                      </a:txBody>
                      <a:tcPr marL="68580" marR="68580" marT="0" marB="0" anchor="ctr"/>
                    </a:tc>
                    <a:tc>
                      <a:txBody>
                        <a:bodyPr/>
                        <a:lstStyle/>
                        <a:p>
                          <a:pPr algn="just">
                            <a:lnSpc>
                              <a:spcPct val="100000"/>
                            </a:lnSpc>
                            <a:spcBef>
                              <a:spcPts val="0"/>
                            </a:spcBef>
                            <a:spcAft>
                              <a:spcPts val="0"/>
                            </a:spcAft>
                          </a:pPr>
                          <a:r>
                            <a:rPr lang="en-US" sz="1800" kern="100" dirty="0">
                              <a:effectLst/>
                              <a:ea typeface="+mn-ea"/>
                              <a:cs typeface="+mn-ea"/>
                            </a:rPr>
                            <a:t>1.019</a:t>
                          </a:r>
                          <a:endParaRPr lang="zh-CN" sz="1800" kern="100" dirty="0">
                            <a:effectLst/>
                            <a:latin typeface="Calibri" panose="020F0502020204030204" pitchFamily="34" charset="0"/>
                            <a:ea typeface="+mn-ea"/>
                            <a:cs typeface="+mn-ea"/>
                          </a:endParaRPr>
                        </a:p>
                      </a:txBody>
                      <a:tcPr marL="68580" marR="68580" marT="0" marB="0" anchor="ctr"/>
                    </a:tc>
                  </a:tr>
                </a:tbl>
              </a:graphicData>
            </a:graphic>
          </p:graphicFrame>
        </mc:Fallback>
      </mc:AlternateContent>
      <p:sp>
        <p:nvSpPr>
          <p:cNvPr id="7" name="Text Box 2"/>
          <p:cNvSpPr txBox="1">
            <a:spLocks noChangeArrowheads="1"/>
          </p:cNvSpPr>
          <p:nvPr/>
        </p:nvSpPr>
        <p:spPr bwMode="auto">
          <a:xfrm>
            <a:off x="1458537" y="0"/>
            <a:ext cx="8449733" cy="7620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1"/>
              </a:buBlip>
              <a:defRPr kumimoji="1" sz="2400">
                <a:solidFill>
                  <a:schemeClr val="tx1"/>
                </a:solidFill>
                <a:latin typeface="楷体_GB2312" pitchFamily="49" charset="-122"/>
                <a:ea typeface="楷体_GB2312" pitchFamily="49" charset="-122"/>
                <a:cs typeface="楷体_GB2312" pitchFamily="49" charset="-122"/>
              </a:defRPr>
            </a:lvl1pPr>
            <a:lvl2pPr marL="742950" indent="-285750">
              <a:spcBef>
                <a:spcPct val="20000"/>
              </a:spcBef>
              <a:buBlip>
                <a:blip r:embed="rId1"/>
              </a:buBlip>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
                <a:schemeClr val="bg1"/>
              </a:buClr>
              <a:buFont typeface="Wingdings" panose="05000000000000000000" pitchFamily="2" charset="2"/>
              <a:buChar char="&amp;"/>
            </a:pPr>
            <a:r>
              <a:rPr lang="zh-CN" altLang="en-US" sz="4400" b="1" dirty="0">
                <a:solidFill>
                  <a:schemeClr val="bg1"/>
                </a:solidFill>
                <a:latin typeface="宋体" panose="02010600030101010101" pitchFamily="2" charset="-122"/>
                <a:ea typeface="宋体" panose="02010600030101010101" pitchFamily="2" charset="-122"/>
              </a:rPr>
              <a:t>例题</a:t>
            </a:r>
            <a:endParaRPr lang="zh-CN" altLang="en-US" sz="4400" b="1" dirty="0">
              <a:ea typeface="宋体" panose="0201060003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算法实例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INSTANCE</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smtClean="0"/>
              <a:t>算法实现</a:t>
            </a:r>
            <a:endParaRPr lang="zh-CN" altLang="en-US" dirty="0"/>
          </a:p>
        </p:txBody>
      </p:sp>
      <p:sp>
        <p:nvSpPr>
          <p:cNvPr id="3" name="文本框 2"/>
          <p:cNvSpPr txBox="1"/>
          <p:nvPr/>
        </p:nvSpPr>
        <p:spPr>
          <a:xfrm>
            <a:off x="1253108" y="1610122"/>
            <a:ext cx="10378955" cy="3357009"/>
          </a:xfrm>
          <a:prstGeom prst="rect">
            <a:avLst/>
          </a:prstGeom>
          <a:noFill/>
        </p:spPr>
        <p:txBody>
          <a:bodyPr wrap="square" rtlCol="0">
            <a:spAutoFit/>
          </a:bodyPr>
          <a:lstStyle/>
          <a:p>
            <a:pPr>
              <a:lnSpc>
                <a:spcPct val="150000"/>
              </a:lnSpc>
            </a:pPr>
            <a:r>
              <a:rPr lang="en-US" altLang="zh-CN" sz="2400" dirty="0">
                <a:latin typeface="Consolas" panose="020B0609020204030204" pitchFamily="49" charset="0"/>
                <a:cs typeface="Times New Roman" panose="02020603050405020304" pitchFamily="18" charset="0"/>
              </a:rPr>
              <a:t>def </a:t>
            </a:r>
            <a:r>
              <a:rPr lang="en-US" altLang="zh-CN" sz="2400" dirty="0" err="1">
                <a:latin typeface="Consolas" panose="020B0609020204030204" pitchFamily="49" charset="0"/>
                <a:cs typeface="Times New Roman" panose="02020603050405020304" pitchFamily="18" charset="0"/>
              </a:rPr>
              <a:t>zeroMean</a:t>
            </a:r>
            <a:r>
              <a:rPr lang="en-US" altLang="zh-CN" sz="2400" dirty="0">
                <a:latin typeface="Consolas" panose="020B0609020204030204" pitchFamily="49" charset="0"/>
                <a:cs typeface="Times New Roman" panose="02020603050405020304" pitchFamily="18" charset="0"/>
              </a:rPr>
              <a:t>(</a:t>
            </a:r>
            <a:r>
              <a:rPr lang="en-US" altLang="zh-CN" sz="2400" dirty="0" err="1">
                <a:latin typeface="Consolas" panose="020B0609020204030204" pitchFamily="49" charset="0"/>
                <a:cs typeface="Times New Roman" panose="02020603050405020304" pitchFamily="18" charset="0"/>
              </a:rPr>
              <a:t>dataMat</a:t>
            </a:r>
            <a:r>
              <a:rPr lang="en-US" altLang="zh-CN" sz="2400" dirty="0">
                <a:latin typeface="Consolas" panose="020B0609020204030204" pitchFamily="49" charset="0"/>
                <a:cs typeface="Times New Roman" panose="02020603050405020304" pitchFamily="18" charset="0"/>
              </a:rPr>
              <a:t>): </a:t>
            </a:r>
            <a:endParaRPr lang="en-US" altLang="zh-CN" sz="2400" dirty="0">
              <a:latin typeface="Consolas" panose="020B0609020204030204" pitchFamily="49" charset="0"/>
              <a:cs typeface="Times New Roman" panose="02020603050405020304" pitchFamily="18" charset="0"/>
            </a:endParaRPr>
          </a:p>
          <a:p>
            <a:pPr>
              <a:lnSpc>
                <a:spcPct val="150000"/>
              </a:lnSpc>
            </a:pPr>
            <a:r>
              <a:rPr lang="en-US" altLang="zh-CN" sz="2400" dirty="0">
                <a:latin typeface="Consolas" panose="020B0609020204030204" pitchFamily="49" charset="0"/>
                <a:cs typeface="Times New Roman" panose="02020603050405020304" pitchFamily="18" charset="0"/>
              </a:rPr>
              <a:t>    #</a:t>
            </a:r>
            <a:r>
              <a:rPr lang="zh-CN" altLang="en-US" sz="2400" dirty="0">
                <a:latin typeface="Consolas" panose="020B0609020204030204" pitchFamily="49" charset="0"/>
                <a:cs typeface="Times New Roman" panose="02020603050405020304" pitchFamily="18" charset="0"/>
              </a:rPr>
              <a:t>按列求平均值，即求各个特征的均值</a:t>
            </a:r>
            <a:endParaRPr lang="zh-CN" altLang="en-US" sz="2400" dirty="0">
              <a:latin typeface="Consolas" panose="020B0609020204030204" pitchFamily="49" charset="0"/>
              <a:cs typeface="Times New Roman" panose="02020603050405020304" pitchFamily="18" charset="0"/>
            </a:endParaRPr>
          </a:p>
          <a:p>
            <a:pPr>
              <a:lnSpc>
                <a:spcPct val="150000"/>
              </a:lnSpc>
            </a:pPr>
            <a:r>
              <a:rPr lang="zh-CN" altLang="en-US" sz="2400" dirty="0">
                <a:latin typeface="Consolas" panose="020B0609020204030204" pitchFamily="49" charset="0"/>
                <a:cs typeface="Times New Roman" panose="02020603050405020304" pitchFamily="18" charset="0"/>
              </a:rPr>
              <a:t>    </a:t>
            </a:r>
            <a:r>
              <a:rPr lang="en-US" altLang="zh-CN" sz="2400" dirty="0" err="1">
                <a:latin typeface="Consolas" panose="020B0609020204030204" pitchFamily="49" charset="0"/>
                <a:cs typeface="Times New Roman" panose="02020603050405020304" pitchFamily="18" charset="0"/>
              </a:rPr>
              <a:t>meanVal</a:t>
            </a:r>
            <a:r>
              <a:rPr lang="en-US" altLang="zh-CN" sz="2400" dirty="0">
                <a:latin typeface="Consolas" panose="020B0609020204030204" pitchFamily="49" charset="0"/>
                <a:cs typeface="Times New Roman" panose="02020603050405020304" pitchFamily="18" charset="0"/>
              </a:rPr>
              <a:t> = </a:t>
            </a:r>
            <a:r>
              <a:rPr lang="en-US" altLang="zh-CN" sz="2400" dirty="0" err="1">
                <a:latin typeface="Consolas" panose="020B0609020204030204" pitchFamily="49" charset="0"/>
                <a:cs typeface="Times New Roman" panose="02020603050405020304" pitchFamily="18" charset="0"/>
              </a:rPr>
              <a:t>np.mean</a:t>
            </a:r>
            <a:r>
              <a:rPr lang="en-US" altLang="zh-CN" sz="2400" dirty="0">
                <a:latin typeface="Consolas" panose="020B0609020204030204" pitchFamily="49" charset="0"/>
                <a:cs typeface="Times New Roman" panose="02020603050405020304" pitchFamily="18" charset="0"/>
              </a:rPr>
              <a:t>(</a:t>
            </a:r>
            <a:r>
              <a:rPr lang="en-US" altLang="zh-CN" sz="2400" dirty="0" err="1">
                <a:latin typeface="Consolas" panose="020B0609020204030204" pitchFamily="49" charset="0"/>
                <a:cs typeface="Times New Roman" panose="02020603050405020304" pitchFamily="18" charset="0"/>
              </a:rPr>
              <a:t>dataMat,axis</a:t>
            </a:r>
            <a:r>
              <a:rPr lang="en-US" altLang="zh-CN" sz="2400" dirty="0">
                <a:latin typeface="Consolas" panose="020B0609020204030204" pitchFamily="49" charset="0"/>
                <a:cs typeface="Times New Roman" panose="02020603050405020304" pitchFamily="18" charset="0"/>
              </a:rPr>
              <a:t> = 0)#</a:t>
            </a:r>
            <a:r>
              <a:rPr lang="zh-CN" altLang="en-US" sz="2400" dirty="0">
                <a:latin typeface="Consolas" panose="020B0609020204030204" pitchFamily="49" charset="0"/>
                <a:cs typeface="Times New Roman" panose="02020603050405020304" pitchFamily="18" charset="0"/>
              </a:rPr>
              <a:t>计算该轴上的统计值（</a:t>
            </a:r>
            <a:r>
              <a:rPr lang="en-US" altLang="zh-CN" sz="2400" dirty="0">
                <a:latin typeface="Consolas" panose="020B0609020204030204" pitchFamily="49" charset="0"/>
                <a:cs typeface="Times New Roman" panose="02020603050405020304" pitchFamily="18" charset="0"/>
              </a:rPr>
              <a:t>0</a:t>
            </a:r>
            <a:r>
              <a:rPr lang="zh-CN" altLang="en-US" sz="2400" dirty="0">
                <a:latin typeface="Consolas" panose="020B0609020204030204" pitchFamily="49" charset="0"/>
                <a:cs typeface="Times New Roman" panose="02020603050405020304" pitchFamily="18" charset="0"/>
              </a:rPr>
              <a:t>为列，</a:t>
            </a:r>
            <a:r>
              <a:rPr lang="en-US" altLang="zh-CN" sz="2400" dirty="0">
                <a:latin typeface="Consolas" panose="020B0609020204030204" pitchFamily="49" charset="0"/>
                <a:cs typeface="Times New Roman" panose="02020603050405020304" pitchFamily="18" charset="0"/>
              </a:rPr>
              <a:t>1</a:t>
            </a:r>
            <a:r>
              <a:rPr lang="zh-CN" altLang="en-US" sz="2400" dirty="0">
                <a:latin typeface="Consolas" panose="020B0609020204030204" pitchFamily="49" charset="0"/>
                <a:cs typeface="Times New Roman" panose="02020603050405020304" pitchFamily="18" charset="0"/>
              </a:rPr>
              <a:t>为行）</a:t>
            </a:r>
            <a:endParaRPr lang="zh-CN" altLang="en-US" sz="2400" dirty="0">
              <a:latin typeface="Consolas" panose="020B0609020204030204" pitchFamily="49" charset="0"/>
              <a:cs typeface="Times New Roman" panose="02020603050405020304" pitchFamily="18" charset="0"/>
            </a:endParaRPr>
          </a:p>
          <a:p>
            <a:pPr>
              <a:lnSpc>
                <a:spcPct val="150000"/>
              </a:lnSpc>
            </a:pPr>
            <a:r>
              <a:rPr lang="zh-CN" altLang="en-US" sz="2400" dirty="0">
                <a:latin typeface="Consolas" panose="020B0609020204030204" pitchFamily="49" charset="0"/>
                <a:cs typeface="Times New Roman" panose="02020603050405020304" pitchFamily="18" charset="0"/>
              </a:rPr>
              <a:t>    </a:t>
            </a:r>
            <a:r>
              <a:rPr lang="en-US" altLang="zh-CN" sz="2400" dirty="0" err="1">
                <a:latin typeface="Consolas" panose="020B0609020204030204" pitchFamily="49" charset="0"/>
                <a:cs typeface="Times New Roman" panose="02020603050405020304" pitchFamily="18" charset="0"/>
              </a:rPr>
              <a:t>newData</a:t>
            </a:r>
            <a:r>
              <a:rPr lang="en-US" altLang="zh-CN" sz="2400" dirty="0">
                <a:latin typeface="Consolas" panose="020B0609020204030204" pitchFamily="49" charset="0"/>
                <a:cs typeface="Times New Roman" panose="02020603050405020304" pitchFamily="18" charset="0"/>
              </a:rPr>
              <a:t> = </a:t>
            </a:r>
            <a:r>
              <a:rPr lang="en-US" altLang="zh-CN" sz="2400" dirty="0" err="1">
                <a:latin typeface="Consolas" panose="020B0609020204030204" pitchFamily="49" charset="0"/>
                <a:cs typeface="Times New Roman" panose="02020603050405020304" pitchFamily="18" charset="0"/>
              </a:rPr>
              <a:t>dataMat</a:t>
            </a:r>
            <a:r>
              <a:rPr lang="en-US" altLang="zh-CN" sz="2400" dirty="0">
                <a:latin typeface="Consolas" panose="020B0609020204030204" pitchFamily="49" charset="0"/>
                <a:cs typeface="Times New Roman" panose="02020603050405020304" pitchFamily="18" charset="0"/>
              </a:rPr>
              <a:t> - </a:t>
            </a:r>
            <a:r>
              <a:rPr lang="en-US" altLang="zh-CN" sz="2400" dirty="0" err="1">
                <a:latin typeface="Consolas" panose="020B0609020204030204" pitchFamily="49" charset="0"/>
                <a:cs typeface="Times New Roman" panose="02020603050405020304" pitchFamily="18" charset="0"/>
              </a:rPr>
              <a:t>meanVal</a:t>
            </a:r>
            <a:endParaRPr lang="en-US" altLang="zh-CN" sz="2400" dirty="0">
              <a:latin typeface="Consolas" panose="020B0609020204030204" pitchFamily="49" charset="0"/>
              <a:cs typeface="Times New Roman" panose="02020603050405020304" pitchFamily="18" charset="0"/>
            </a:endParaRPr>
          </a:p>
          <a:p>
            <a:pPr>
              <a:lnSpc>
                <a:spcPct val="150000"/>
              </a:lnSpc>
            </a:pPr>
            <a:r>
              <a:rPr lang="en-US" altLang="zh-CN" sz="2400" dirty="0">
                <a:latin typeface="Consolas" panose="020B0609020204030204" pitchFamily="49" charset="0"/>
                <a:cs typeface="Times New Roman" panose="02020603050405020304" pitchFamily="18" charset="0"/>
              </a:rPr>
              <a:t>    return </a:t>
            </a:r>
            <a:r>
              <a:rPr lang="en-US" altLang="zh-CN" sz="2400" dirty="0" err="1">
                <a:latin typeface="Consolas" panose="020B0609020204030204" pitchFamily="49" charset="0"/>
                <a:cs typeface="Times New Roman" panose="02020603050405020304" pitchFamily="18" charset="0"/>
              </a:rPr>
              <a:t>newData,meanVal</a:t>
            </a:r>
            <a:endParaRPr lang="en-US" altLang="zh-CN" sz="2400" dirty="0">
              <a:latin typeface="Consolas" panose="020B0609020204030204" pitchFamily="49"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smtClean="0"/>
              <a:t>算法的</a:t>
            </a:r>
            <a:r>
              <a:rPr lang="zh-CN" altLang="en-US" dirty="0"/>
              <a:t>主要代码</a:t>
            </a:r>
            <a:endParaRPr lang="zh-CN" altLang="en-US" dirty="0"/>
          </a:p>
        </p:txBody>
      </p:sp>
      <p:sp>
        <p:nvSpPr>
          <p:cNvPr id="3" name="文本框 2"/>
          <p:cNvSpPr txBox="1"/>
          <p:nvPr/>
        </p:nvSpPr>
        <p:spPr>
          <a:xfrm>
            <a:off x="808970" y="1201087"/>
            <a:ext cx="11143544" cy="5170646"/>
          </a:xfrm>
          <a:prstGeom prst="rect">
            <a:avLst/>
          </a:prstGeom>
          <a:noFill/>
        </p:spPr>
        <p:txBody>
          <a:bodyPr wrap="square" rtlCol="0">
            <a:spAutoFit/>
          </a:bodyPr>
          <a:lstStyle/>
          <a:p>
            <a:pPr>
              <a:lnSpc>
                <a:spcPct val="150000"/>
              </a:lnSpc>
            </a:pPr>
            <a:r>
              <a:rPr lang="it-IT" altLang="zh-CN" sz="2400" dirty="0">
                <a:latin typeface="Times New Roman" panose="02020603050405020304" pitchFamily="18" charset="0"/>
                <a:cs typeface="Times New Roman" panose="02020603050405020304" pitchFamily="18" charset="0"/>
              </a:rPr>
              <a:t>def pca(dataMat,percent=0.19):</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求</a:t>
            </a:r>
            <a:r>
              <a:rPr lang="zh-CN" altLang="en-US" sz="2400" dirty="0">
                <a:latin typeface="Times New Roman" panose="02020603050405020304" pitchFamily="18" charset="0"/>
                <a:cs typeface="Times New Roman" panose="02020603050405020304" pitchFamily="18" charset="0"/>
              </a:rPr>
              <a:t>协方差矩阵，</a:t>
            </a:r>
            <a:r>
              <a:rPr lang="en-US" altLang="zh-CN" sz="2400" dirty="0" err="1">
                <a:latin typeface="Times New Roman" panose="02020603050405020304" pitchFamily="18" charset="0"/>
                <a:cs typeface="Times New Roman" panose="02020603050405020304" pitchFamily="18" charset="0"/>
              </a:rPr>
              <a:t>numpy</a:t>
            </a:r>
            <a:r>
              <a:rPr lang="zh-CN" altLang="en-US" sz="2400" dirty="0">
                <a:latin typeface="Times New Roman" panose="02020603050405020304" pitchFamily="18" charset="0"/>
                <a:cs typeface="Times New Roman" panose="02020603050405020304" pitchFamily="18" charset="0"/>
              </a:rPr>
              <a:t>中的</a:t>
            </a:r>
            <a:r>
              <a:rPr lang="en-US" altLang="zh-CN" sz="2400" dirty="0" err="1">
                <a:latin typeface="Times New Roman" panose="02020603050405020304" pitchFamily="18" charset="0"/>
                <a:cs typeface="Times New Roman" panose="02020603050405020304" pitchFamily="18" charset="0"/>
              </a:rPr>
              <a:t>cov</a:t>
            </a:r>
            <a:r>
              <a:rPr lang="zh-CN" altLang="en-US" sz="2400" dirty="0">
                <a:latin typeface="Times New Roman" panose="02020603050405020304" pitchFamily="18" charset="0"/>
                <a:cs typeface="Times New Roman" panose="02020603050405020304" pitchFamily="18" charset="0"/>
              </a:rPr>
              <a:t>函数用于求协方差矩阵，参数</a:t>
            </a:r>
            <a:r>
              <a:rPr lang="en-US" altLang="zh-CN" sz="2400" dirty="0" err="1" smtClean="0">
                <a:latin typeface="Times New Roman" panose="02020603050405020304" pitchFamily="18" charset="0"/>
                <a:cs typeface="Times New Roman" panose="02020603050405020304" pitchFamily="18" charset="0"/>
              </a:rPr>
              <a:t>rowvar</a:t>
            </a:r>
            <a:r>
              <a:rPr lang="zh-CN" altLang="en-US" sz="2400" dirty="0" smtClean="0">
                <a:latin typeface="Times New Roman" panose="02020603050405020304" pitchFamily="18" charset="0"/>
                <a:cs typeface="Times New Roman" panose="02020603050405020304" pitchFamily="18" charset="0"/>
              </a:rPr>
              <a:t>很</a:t>
            </a:r>
            <a:r>
              <a:rPr lang="zh-CN" altLang="en-US" sz="2400" dirty="0">
                <a:latin typeface="Times New Roman" panose="02020603050405020304" pitchFamily="18" charset="0"/>
                <a:cs typeface="Times New Roman" panose="02020603050405020304" pitchFamily="18" charset="0"/>
              </a:rPr>
              <a:t>重要，</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en-US" altLang="zh-CN"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若</a:t>
            </a:r>
            <a:r>
              <a:rPr lang="en-US" altLang="zh-CN" sz="2400" dirty="0" err="1">
                <a:latin typeface="Times New Roman" panose="02020603050405020304" pitchFamily="18" charset="0"/>
                <a:cs typeface="Times New Roman" panose="02020603050405020304" pitchFamily="18" charset="0"/>
              </a:rPr>
              <a:t>rowvar</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，说明传入的数据一行代表一个样本，若非</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，说明传入的数据一列代表一个样本。</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en-US" altLang="zh-CN"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因为</a:t>
            </a:r>
            <a:r>
              <a:rPr lang="en-US" altLang="zh-CN" sz="2400" dirty="0" err="1">
                <a:latin typeface="Times New Roman" panose="02020603050405020304" pitchFamily="18" charset="0"/>
                <a:cs typeface="Times New Roman" panose="02020603050405020304" pitchFamily="18" charset="0"/>
              </a:rPr>
              <a:t>newData</a:t>
            </a:r>
            <a:r>
              <a:rPr lang="zh-CN" altLang="en-US" sz="2400" dirty="0">
                <a:latin typeface="Times New Roman" panose="02020603050405020304" pitchFamily="18" charset="0"/>
                <a:cs typeface="Times New Roman" panose="02020603050405020304" pitchFamily="18" charset="0"/>
              </a:rPr>
              <a:t>每一行代表一个样本，所以将</a:t>
            </a:r>
            <a:r>
              <a:rPr lang="en-US" altLang="zh-CN" sz="2400" dirty="0" err="1">
                <a:latin typeface="Times New Roman" panose="02020603050405020304" pitchFamily="18" charset="0"/>
                <a:cs typeface="Times New Roman" panose="02020603050405020304" pitchFamily="18" charset="0"/>
              </a:rPr>
              <a:t>rowval</a:t>
            </a:r>
            <a:r>
              <a:rPr lang="zh-CN" altLang="en-US" sz="2400" dirty="0">
                <a:latin typeface="Times New Roman" panose="02020603050405020304" pitchFamily="18" charset="0"/>
                <a:cs typeface="Times New Roman" panose="02020603050405020304" pitchFamily="18" charset="0"/>
              </a:rPr>
              <a:t>设置为</a:t>
            </a:r>
            <a:r>
              <a:rPr lang="en-US" altLang="zh-CN" sz="2400" dirty="0" smtClean="0">
                <a:latin typeface="Times New Roman" panose="02020603050405020304" pitchFamily="18" charset="0"/>
                <a:cs typeface="Times New Roman" panose="02020603050405020304" pitchFamily="18" charset="0"/>
              </a:rPr>
              <a:t>0</a:t>
            </a:r>
            <a:r>
              <a:rPr lang="zh-CN" altLang="en-US"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covMat</a:t>
            </a:r>
            <a:r>
              <a:rPr lang="zh-CN" altLang="en-US" sz="2400" dirty="0">
                <a:latin typeface="Times New Roman" panose="02020603050405020304" pitchFamily="18" charset="0"/>
                <a:cs typeface="Times New Roman" panose="02020603050405020304" pitchFamily="18" charset="0"/>
              </a:rPr>
              <a:t>即所求的协方差</a:t>
            </a:r>
            <a:r>
              <a:rPr lang="zh-CN" altLang="en-US" sz="2400" dirty="0" smtClean="0">
                <a:latin typeface="Times New Roman" panose="02020603050405020304" pitchFamily="18" charset="0"/>
                <a:cs typeface="Times New Roman" panose="02020603050405020304" pitchFamily="18" charset="0"/>
              </a:rPr>
              <a:t>矩阵</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err="1">
                <a:latin typeface="Times New Roman" panose="02020603050405020304" pitchFamily="18" charset="0"/>
                <a:cs typeface="Times New Roman" panose="02020603050405020304" pitchFamily="18" charset="0"/>
              </a:rPr>
              <a:t>newData,meanVal</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zeroMean</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dataMat</a:t>
            </a:r>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Consolas" panose="020B0609020204030204" pitchFamily="49" charset="0"/>
                <a:cs typeface="Times New Roman" panose="02020603050405020304" pitchFamily="18" charset="0"/>
              </a:rPr>
              <a:t> </a:t>
            </a:r>
            <a:r>
              <a:rPr lang="en-US" altLang="zh-CN" sz="2400" dirty="0" smtClean="0">
                <a:latin typeface="Consolas" panose="020B0609020204030204" pitchFamily="49" charset="0"/>
                <a:cs typeface="Times New Roman" panose="02020603050405020304" pitchFamily="18" charset="0"/>
              </a:rPr>
              <a:t>#</a:t>
            </a:r>
            <a:r>
              <a:rPr lang="zh-CN" altLang="en-US" sz="2400" dirty="0" smtClean="0">
                <a:latin typeface="Consolas" panose="020B0609020204030204" pitchFamily="49" charset="0"/>
                <a:cs typeface="Times New Roman" panose="02020603050405020304" pitchFamily="18" charset="0"/>
              </a:rPr>
              <a:t>求</a:t>
            </a:r>
            <a:r>
              <a:rPr lang="zh-CN" altLang="en-US" sz="2400" dirty="0">
                <a:latin typeface="Consolas" panose="020B0609020204030204" pitchFamily="49" charset="0"/>
                <a:cs typeface="Times New Roman" panose="02020603050405020304" pitchFamily="18" charset="0"/>
              </a:rPr>
              <a:t>各个特征的</a:t>
            </a:r>
            <a:r>
              <a:rPr lang="zh-CN" altLang="en-US" sz="2400" dirty="0" smtClean="0">
                <a:latin typeface="Consolas" panose="020B0609020204030204" pitchFamily="49" charset="0"/>
                <a:cs typeface="Times New Roman" panose="02020603050405020304" pitchFamily="18" charset="0"/>
              </a:rPr>
              <a:t>均值</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err="1" smtClean="0">
                <a:latin typeface="Times New Roman" panose="02020603050405020304" pitchFamily="18" charset="0"/>
                <a:cs typeface="Times New Roman" panose="02020603050405020304" pitchFamily="18" charset="0"/>
              </a:rPr>
              <a:t>covMat</a:t>
            </a:r>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np.cov</a:t>
            </a:r>
            <a:r>
              <a:rPr lang="en-US" altLang="zh-CN" sz="2400" dirty="0" smtClean="0">
                <a:latin typeface="Times New Roman" panose="02020603050405020304" pitchFamily="18" charset="0"/>
                <a:cs typeface="Times New Roman" panose="02020603050405020304" pitchFamily="18" charset="0"/>
              </a:rPr>
              <a:t>(</a:t>
            </a:r>
            <a:r>
              <a:rPr lang="en-US" altLang="zh-CN" sz="2400" dirty="0" err="1" smtClean="0">
                <a:latin typeface="Times New Roman" panose="02020603050405020304" pitchFamily="18" charset="0"/>
                <a:cs typeface="Times New Roman" panose="02020603050405020304" pitchFamily="18" charset="0"/>
              </a:rPr>
              <a:t>newData,rowvar</a:t>
            </a:r>
            <a:r>
              <a:rPr lang="en-US" altLang="zh-CN" sz="2400" dirty="0" smtClean="0">
                <a:latin typeface="Times New Roman" panose="02020603050405020304" pitchFamily="18" charset="0"/>
                <a:cs typeface="Times New Roman" panose="02020603050405020304" pitchFamily="18" charset="0"/>
              </a:rPr>
              <a:t>=0) #</a:t>
            </a:r>
            <a:r>
              <a:rPr lang="zh-CN" altLang="en-US" sz="2400" dirty="0" smtClean="0">
                <a:latin typeface="Times New Roman" panose="02020603050405020304" pitchFamily="18" charset="0"/>
                <a:cs typeface="Times New Roman" panose="02020603050405020304" pitchFamily="18" charset="0"/>
              </a:rPr>
              <a:t>计算</a:t>
            </a:r>
            <a:r>
              <a:rPr lang="zh-CN" altLang="en-US" sz="2400" dirty="0" smtClean="0">
                <a:latin typeface="Times New Roman" panose="02020603050405020304" pitchFamily="18" charset="0"/>
                <a:cs typeface="Times New Roman" panose="02020603050405020304" pitchFamily="18" charset="0"/>
              </a:rPr>
              <a:t>协方差</a:t>
            </a:r>
            <a:endParaRPr lang="en-US" altLang="zh-CN" sz="2400" dirty="0" smtClean="0">
              <a:latin typeface="Times New Roman" panose="02020603050405020304" pitchFamily="18" charset="0"/>
              <a:cs typeface="Times New Roman" panose="02020603050405020304" pitchFamily="18" charset="0"/>
            </a:endParaRPr>
          </a:p>
          <a:p>
            <a:pPr>
              <a:lnSpc>
                <a:spcPct val="150000"/>
              </a:lnSpc>
            </a:pPr>
            <a:r>
              <a:rPr lang="en-US" altLang="zh-CN" sz="2400" dirty="0" err="1">
                <a:latin typeface="Times New Roman" panose="02020603050405020304" pitchFamily="18" charset="0"/>
                <a:cs typeface="Times New Roman" panose="02020603050405020304" pitchFamily="18" charset="0"/>
              </a:rPr>
              <a:t>eigVals,eigVects</a:t>
            </a:r>
            <a:r>
              <a:rPr lang="en-US" altLang="zh-CN" sz="2400" dirty="0">
                <a:latin typeface="Times New Roman" panose="02020603050405020304" pitchFamily="18" charset="0"/>
                <a:cs typeface="Times New Roman" panose="02020603050405020304" pitchFamily="18" charset="0"/>
              </a:rPr>
              <a:t> = </a:t>
            </a:r>
            <a:r>
              <a:rPr lang="en-US" altLang="zh-CN" sz="2400" dirty="0" err="1">
                <a:latin typeface="Times New Roman" panose="02020603050405020304" pitchFamily="18" charset="0"/>
                <a:cs typeface="Times New Roman" panose="02020603050405020304" pitchFamily="18" charset="0"/>
              </a:rPr>
              <a:t>np.linalg.eig</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np.mat</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covMat</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计算协方差的特征值及其</a:t>
            </a:r>
            <a:r>
              <a:rPr lang="zh-CN" altLang="en-US" sz="2400" dirty="0" smtClean="0">
                <a:latin typeface="Times New Roman" panose="02020603050405020304" pitchFamily="18" charset="0"/>
                <a:cs typeface="Times New Roman" panose="02020603050405020304" pitchFamily="18" charset="0"/>
              </a:rPr>
              <a:t>特征向量</a:t>
            </a:r>
            <a:r>
              <a:rPr lang="en-US" altLang="zh-CN" sz="2800" dirty="0" smtClean="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smtClean="0"/>
              <a:t>算法的</a:t>
            </a:r>
            <a:r>
              <a:rPr lang="zh-CN" altLang="en-US" dirty="0"/>
              <a:t>主要代码</a:t>
            </a:r>
            <a:endParaRPr lang="zh-CN" altLang="en-US" dirty="0"/>
          </a:p>
        </p:txBody>
      </p:sp>
      <p:sp>
        <p:nvSpPr>
          <p:cNvPr id="3" name="文本框 2"/>
          <p:cNvSpPr txBox="1"/>
          <p:nvPr/>
        </p:nvSpPr>
        <p:spPr>
          <a:xfrm>
            <a:off x="446049" y="1244200"/>
            <a:ext cx="12004569" cy="4062651"/>
          </a:xfrm>
          <a:prstGeom prst="rect">
            <a:avLst/>
          </a:prstGeom>
          <a:noFill/>
        </p:spPr>
        <p:txBody>
          <a:bodyPr wrap="square" rtlCol="0">
            <a:spAutoFit/>
          </a:bodyPr>
          <a:lstStyle/>
          <a:p>
            <a:pPr>
              <a:lnSpc>
                <a:spcPct val="150000"/>
              </a:lnSpc>
            </a:pPr>
            <a:r>
              <a:rPr lang="it-IT" altLang="zh-CN" sz="2400" dirty="0" smtClean="0">
                <a:latin typeface="Times New Roman" panose="02020603050405020304" pitchFamily="18" charset="0"/>
                <a:cs typeface="Times New Roman" panose="02020603050405020304" pitchFamily="18" charset="0"/>
              </a:rPr>
              <a:t>eigValIndice=np.argsort(eigVals</a:t>
            </a:r>
            <a:r>
              <a:rPr lang="it-IT" altLang="zh-CN" sz="2400" dirty="0">
                <a:latin typeface="Times New Roman" panose="02020603050405020304" pitchFamily="18" charset="0"/>
                <a:cs typeface="Times New Roman" panose="02020603050405020304" pitchFamily="18" charset="0"/>
              </a:rPr>
              <a:t>)          </a:t>
            </a:r>
            <a:r>
              <a:rPr lang="it-IT"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对特征值从小到大排序  </a:t>
            </a:r>
            <a:r>
              <a:rPr lang="it-IT" altLang="zh-CN" sz="2400" dirty="0">
                <a:latin typeface="Times New Roman" panose="02020603050405020304" pitchFamily="18" charset="0"/>
                <a:cs typeface="Times New Roman" panose="02020603050405020304" pitchFamily="18" charset="0"/>
              </a:rPr>
              <a:t>n_eigValIndice=eigValIndice[-1:-(n+1):-1]   </a:t>
            </a:r>
            <a:r>
              <a:rPr lang="it-IT"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最大的</a:t>
            </a:r>
            <a:r>
              <a:rPr lang="it-IT"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个特征值的下标   </a:t>
            </a:r>
            <a:r>
              <a:rPr lang="it-IT" altLang="zh-CN" sz="2400" dirty="0">
                <a:latin typeface="Times New Roman" panose="02020603050405020304" pitchFamily="18" charset="0"/>
                <a:cs typeface="Times New Roman" panose="02020603050405020304" pitchFamily="18" charset="0"/>
              </a:rPr>
              <a:t>n_eigVect=eigVects[:,n_eigValIndice]       </a:t>
            </a:r>
            <a:r>
              <a:rPr lang="it-IT" altLang="zh-CN" sz="2400" dirty="0" smtClean="0">
                <a:latin typeface="Times New Roman" panose="02020603050405020304" pitchFamily="18" charset="0"/>
                <a:cs typeface="Times New Roman" panose="02020603050405020304" pitchFamily="18" charset="0"/>
              </a:rPr>
              <a:t>                   </a:t>
            </a:r>
            <a:r>
              <a:rPr lang="it-IT"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最大的</a:t>
            </a:r>
            <a:r>
              <a:rPr lang="it-IT"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个特征值对应的特征向量  </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zh-CN" altLang="en-US" sz="2400" dirty="0">
                <a:latin typeface="Times New Roman" panose="02020603050405020304" pitchFamily="18" charset="0"/>
                <a:cs typeface="Times New Roman" panose="02020603050405020304" pitchFamily="18" charset="0"/>
              </a:rPr>
              <a:t> </a:t>
            </a:r>
            <a:r>
              <a:rPr lang="it-IT" altLang="zh-CN" sz="2400" dirty="0">
                <a:latin typeface="Times New Roman" panose="02020603050405020304" pitchFamily="18" charset="0"/>
                <a:cs typeface="Times New Roman" panose="02020603050405020304" pitchFamily="18" charset="0"/>
              </a:rPr>
              <a:t>lowDDataMat=newData * n_eigVect               </a:t>
            </a:r>
            <a:r>
              <a:rPr lang="it-IT"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低维特征空间的数据  </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zh-CN" altLang="en-US" sz="2400" dirty="0">
                <a:latin typeface="Times New Roman" panose="02020603050405020304" pitchFamily="18" charset="0"/>
                <a:cs typeface="Times New Roman" panose="02020603050405020304" pitchFamily="18" charset="0"/>
              </a:rPr>
              <a:t> </a:t>
            </a:r>
            <a:r>
              <a:rPr lang="it-IT" altLang="zh-CN" sz="2400" dirty="0">
                <a:latin typeface="Times New Roman" panose="02020603050405020304" pitchFamily="18" charset="0"/>
                <a:cs typeface="Times New Roman" panose="02020603050405020304" pitchFamily="18" charset="0"/>
              </a:rPr>
              <a:t>reconMat=(lowDDataMat * n_eigVect.T) + meanVal  #</a:t>
            </a:r>
            <a:r>
              <a:rPr lang="zh-CN" altLang="en-US" sz="2400" dirty="0">
                <a:latin typeface="Times New Roman" panose="02020603050405020304" pitchFamily="18" charset="0"/>
                <a:cs typeface="Times New Roman" panose="02020603050405020304" pitchFamily="18" charset="0"/>
              </a:rPr>
              <a:t>重构数据  </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zh-CN" altLang="en-US" sz="2400" dirty="0">
                <a:latin typeface="Times New Roman" panose="02020603050405020304" pitchFamily="18" charset="0"/>
                <a:cs typeface="Times New Roman" panose="02020603050405020304" pitchFamily="18" charset="0"/>
              </a:rPr>
              <a:t> </a:t>
            </a:r>
            <a:r>
              <a:rPr lang="it-IT" altLang="zh-CN" sz="2400" dirty="0">
                <a:latin typeface="Times New Roman" panose="02020603050405020304" pitchFamily="18" charset="0"/>
                <a:cs typeface="Times New Roman" panose="02020603050405020304" pitchFamily="18" charset="0"/>
              </a:rPr>
              <a:t>return reconMat,lowDDataMat,n</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32772" y="712232"/>
            <a:ext cx="6311792" cy="5420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05</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算法应用</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APPLICATION</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smtClean="0"/>
              <a:t>算法实例</a:t>
            </a:r>
            <a:r>
              <a:rPr lang="en-US" altLang="zh-CN" dirty="0" smtClean="0"/>
              <a:t>1——</a:t>
            </a:r>
            <a:r>
              <a:rPr lang="zh-CN" altLang="en-US" dirty="0">
                <a:latin typeface="+mn-ea"/>
                <a:cs typeface="Times New Roman" panose="02020603050405020304" pitchFamily="18" charset="0"/>
              </a:rPr>
              <a:t>鸢尾</a:t>
            </a:r>
            <a:r>
              <a:rPr lang="zh-CN" altLang="en-US" dirty="0" smtClean="0">
                <a:latin typeface="+mn-ea"/>
                <a:cs typeface="Times New Roman" panose="02020603050405020304" pitchFamily="18" charset="0"/>
              </a:rPr>
              <a:t>花数据集</a:t>
            </a:r>
            <a:endParaRPr lang="zh-CN" altLang="en-US" dirty="0"/>
          </a:p>
        </p:txBody>
      </p:sp>
      <p:sp>
        <p:nvSpPr>
          <p:cNvPr id="3" name="文本框 2"/>
          <p:cNvSpPr txBox="1"/>
          <p:nvPr/>
        </p:nvSpPr>
        <p:spPr>
          <a:xfrm>
            <a:off x="648472" y="1065737"/>
            <a:ext cx="10830205" cy="2031325"/>
          </a:xfrm>
          <a:prstGeom prst="rect">
            <a:avLst/>
          </a:prstGeom>
          <a:noFill/>
        </p:spPr>
        <p:txBody>
          <a:bodyPr wrap="square" rtlCol="0">
            <a:spAutoFit/>
          </a:bodyPr>
          <a:lstStyle/>
          <a:p>
            <a:pPr>
              <a:lnSpc>
                <a:spcPct val="150000"/>
              </a:lnSpc>
            </a:pPr>
            <a:r>
              <a:rPr lang="zh-CN" altLang="en-US" sz="2800" dirty="0" smtClean="0">
                <a:latin typeface="Times New Roman" panose="02020603050405020304" pitchFamily="18" charset="0"/>
                <a:cs typeface="Times New Roman" panose="02020603050405020304" pitchFamily="18" charset="0"/>
              </a:rPr>
              <a:t>在</a:t>
            </a:r>
            <a:r>
              <a:rPr lang="zh-CN" altLang="en-US" sz="2800" dirty="0">
                <a:latin typeface="Times New Roman" panose="02020603050405020304" pitchFamily="18" charset="0"/>
                <a:cs typeface="Times New Roman" panose="02020603050405020304" pitchFamily="18" charset="0"/>
              </a:rPr>
              <a:t>本实例中通过调用</a:t>
            </a:r>
            <a:r>
              <a:rPr lang="en-US" altLang="zh-CN" sz="2800" dirty="0" err="1">
                <a:latin typeface="Times New Roman" panose="02020603050405020304" pitchFamily="18" charset="0"/>
                <a:cs typeface="Times New Roman" panose="02020603050405020304" pitchFamily="18" charset="0"/>
              </a:rPr>
              <a:t>sklearn</a:t>
            </a:r>
            <a:r>
              <a:rPr lang="zh-CN" altLang="en-US" sz="2800" dirty="0">
                <a:latin typeface="Times New Roman" panose="02020603050405020304" pitchFamily="18" charset="0"/>
                <a:cs typeface="Times New Roman" panose="02020603050405020304" pitchFamily="18" charset="0"/>
              </a:rPr>
              <a:t>库中的</a:t>
            </a:r>
            <a:r>
              <a:rPr lang="en-US" altLang="zh-CN" sz="2800" dirty="0">
                <a:latin typeface="Times New Roman" panose="02020603050405020304" pitchFamily="18" charset="0"/>
                <a:cs typeface="Times New Roman" panose="02020603050405020304" pitchFamily="18" charset="0"/>
              </a:rPr>
              <a:t>PCA</a:t>
            </a:r>
            <a:r>
              <a:rPr lang="zh-CN" altLang="en-US" sz="2800" dirty="0">
                <a:latin typeface="Times New Roman" panose="02020603050405020304" pitchFamily="18" charset="0"/>
                <a:cs typeface="Times New Roman" panose="02020603050405020304" pitchFamily="18" charset="0"/>
              </a:rPr>
              <a:t>类，实现对鸢尾花这个</a:t>
            </a:r>
            <a:r>
              <a:rPr lang="en-US" altLang="zh-CN" sz="2800" dirty="0">
                <a:latin typeface="Times New Roman" panose="02020603050405020304" pitchFamily="18" charset="0"/>
                <a:cs typeface="Times New Roman" panose="02020603050405020304" pitchFamily="18" charset="0"/>
              </a:rPr>
              <a:t>4</a:t>
            </a:r>
            <a:r>
              <a:rPr lang="zh-CN" altLang="en-US" sz="2800" dirty="0">
                <a:latin typeface="Times New Roman" panose="02020603050405020304" pitchFamily="18" charset="0"/>
                <a:cs typeface="Times New Roman" panose="02020603050405020304" pitchFamily="18" charset="0"/>
              </a:rPr>
              <a:t>维数据集进行降维，并对降维后的数据根据不同的类别用不同的颜色显示在二维坐标系中。</a:t>
            </a: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p:txBody>
      </p:sp>
      <p:sp>
        <p:nvSpPr>
          <p:cNvPr id="4" name="内容占位符 2"/>
          <p:cNvSpPr txBox="1"/>
          <p:nvPr/>
        </p:nvSpPr>
        <p:spPr>
          <a:xfrm>
            <a:off x="334537" y="3113689"/>
            <a:ext cx="11485756" cy="969323"/>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a:lnSpc>
                <a:spcPct val="150000"/>
              </a:lnSpc>
              <a:spcBef>
                <a:spcPts val="0"/>
              </a:spcBef>
              <a:spcAft>
                <a:spcPts val="0"/>
              </a:spcAft>
            </a:pPr>
            <a:r>
              <a:rPr lang="en-US" altLang="zh-CN" sz="2800" dirty="0" err="1">
                <a:latin typeface="Cambria" panose="02040503050406030204" pitchFamily="18" charset="0"/>
                <a:ea typeface="Cambria" panose="02040503050406030204" pitchFamily="18" charset="0"/>
              </a:rPr>
              <a:t>scikit</a:t>
            </a:r>
            <a:r>
              <a:rPr lang="en-US" altLang="zh-CN" sz="2800" dirty="0">
                <a:latin typeface="Cambria" panose="02040503050406030204" pitchFamily="18" charset="0"/>
                <a:ea typeface="Cambria" panose="02040503050406030204" pitchFamily="18" charset="0"/>
              </a:rPr>
              <a:t>-learn</a:t>
            </a:r>
            <a:r>
              <a:rPr lang="zh-CN" altLang="zh-CN" sz="2800" dirty="0">
                <a:latin typeface="Cambria" panose="02040503050406030204" pitchFamily="18" charset="0"/>
              </a:rPr>
              <a:t>提供了主成分分析相关的类</a:t>
            </a:r>
            <a:r>
              <a:rPr lang="en-US" altLang="zh-CN" sz="2800" dirty="0" err="1">
                <a:latin typeface="Cambria" panose="02040503050406030204" pitchFamily="18" charset="0"/>
                <a:ea typeface="Cambria" panose="02040503050406030204" pitchFamily="18" charset="0"/>
              </a:rPr>
              <a:t>sklearn.decomposition</a:t>
            </a:r>
            <a:r>
              <a:rPr lang="zh-CN" altLang="zh-CN" sz="2800" dirty="0">
                <a:latin typeface="Cambria" panose="02040503050406030204" pitchFamily="18" charset="0"/>
              </a:rPr>
              <a:t>，其函数原型如下</a:t>
            </a:r>
            <a:r>
              <a:rPr lang="zh-CN" altLang="zh-CN" sz="2800" dirty="0" smtClean="0">
                <a:latin typeface="Cambria" panose="02040503050406030204" pitchFamily="18" charset="0"/>
              </a:rPr>
              <a:t>：</a:t>
            </a:r>
            <a:endParaRPr lang="en-US" altLang="zh-CN" sz="2800" dirty="0" smtClean="0">
              <a:latin typeface="Cambria" panose="02040503050406030204" pitchFamily="18" charset="0"/>
              <a:ea typeface="Cambria" panose="02040503050406030204" pitchFamily="18" charset="0"/>
            </a:endParaRPr>
          </a:p>
        </p:txBody>
      </p:sp>
      <p:sp>
        <p:nvSpPr>
          <p:cNvPr id="6" name="内容占位符 2"/>
          <p:cNvSpPr txBox="1"/>
          <p:nvPr/>
        </p:nvSpPr>
        <p:spPr>
          <a:xfrm>
            <a:off x="648473" y="4301474"/>
            <a:ext cx="10915342" cy="1081770"/>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lnSpc>
                <a:spcPct val="130000"/>
              </a:lnSpc>
              <a:buNone/>
            </a:pP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class </a:t>
            </a:r>
            <a:r>
              <a:rPr lang="en-US" altLang="zh-CN" sz="2400" dirty="0" err="1">
                <a:latin typeface="Times New Roman" panose="02020603050405020304" pitchFamily="18" charset="0"/>
                <a:ea typeface="Cambria" panose="02040503050406030204" pitchFamily="18" charset="0"/>
                <a:cs typeface="Times New Roman" panose="02020603050405020304" pitchFamily="18" charset="0"/>
              </a:rPr>
              <a:t>sklearn.decomposition.PCA</a:t>
            </a: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a:t>
            </a:r>
            <a:r>
              <a:rPr lang="en-US" altLang="zh-CN" sz="2400" dirty="0" err="1">
                <a:latin typeface="Times New Roman" panose="02020603050405020304" pitchFamily="18" charset="0"/>
                <a:ea typeface="Cambria" panose="02040503050406030204" pitchFamily="18" charset="0"/>
                <a:cs typeface="Times New Roman" panose="02020603050405020304" pitchFamily="18" charset="0"/>
              </a:rPr>
              <a:t>n_components</a:t>
            </a: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=None, copy=True, whiten=False, </a:t>
            </a:r>
            <a:r>
              <a:rPr lang="en-US" altLang="zh-CN" sz="2400" dirty="0" err="1">
                <a:latin typeface="Times New Roman" panose="02020603050405020304" pitchFamily="18" charset="0"/>
                <a:ea typeface="Cambria" panose="02040503050406030204" pitchFamily="18" charset="0"/>
                <a:cs typeface="Times New Roman" panose="02020603050405020304" pitchFamily="18" charset="0"/>
              </a:rPr>
              <a:t>svd_solver</a:t>
            </a: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=’auto’, </a:t>
            </a:r>
            <a:r>
              <a:rPr lang="en-US" altLang="zh-CN" sz="2400" dirty="0" err="1">
                <a:latin typeface="Times New Roman" panose="02020603050405020304" pitchFamily="18" charset="0"/>
                <a:ea typeface="Cambria" panose="02040503050406030204" pitchFamily="18" charset="0"/>
                <a:cs typeface="Times New Roman" panose="02020603050405020304" pitchFamily="18" charset="0"/>
              </a:rPr>
              <a:t>tol</a:t>
            </a: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=0.0, </a:t>
            </a:r>
            <a:r>
              <a:rPr lang="en-US" altLang="zh-CN" sz="2400" dirty="0" err="1">
                <a:latin typeface="Times New Roman" panose="02020603050405020304" pitchFamily="18" charset="0"/>
                <a:ea typeface="Cambria" panose="02040503050406030204" pitchFamily="18" charset="0"/>
                <a:cs typeface="Times New Roman" panose="02020603050405020304" pitchFamily="18" charset="0"/>
              </a:rPr>
              <a:t>iterated_power</a:t>
            </a: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=’auto’, </a:t>
            </a:r>
            <a:r>
              <a:rPr lang="en-US" altLang="zh-CN" sz="2400" dirty="0" err="1">
                <a:latin typeface="Times New Roman" panose="02020603050405020304" pitchFamily="18" charset="0"/>
                <a:ea typeface="Cambria" panose="02040503050406030204" pitchFamily="18" charset="0"/>
                <a:cs typeface="Times New Roman" panose="02020603050405020304" pitchFamily="18" charset="0"/>
              </a:rPr>
              <a:t>random_state</a:t>
            </a:r>
            <a:r>
              <a:rPr lang="en-US" altLang="zh-CN" sz="2400" dirty="0">
                <a:latin typeface="Times New Roman" panose="02020603050405020304" pitchFamily="18" charset="0"/>
                <a:ea typeface="Cambria" panose="02040503050406030204" pitchFamily="18" charset="0"/>
                <a:cs typeface="Times New Roman" panose="02020603050405020304" pitchFamily="18" charset="0"/>
              </a:rPr>
              <a:t>=None)</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p:spPr>
        <p:txBody>
          <a:bodyPr/>
          <a:lstStyle/>
          <a:p>
            <a:r>
              <a:rPr lang="zh-CN" altLang="en-US" dirty="0">
                <a:latin typeface="Cambria" panose="02040503050406030204" pitchFamily="18" charset="0"/>
              </a:rPr>
              <a:t>主要参数如下</a:t>
            </a:r>
            <a:r>
              <a:rPr lang="zh-CN" altLang="en-US" dirty="0" smtClean="0">
                <a:latin typeface="Cambria" panose="02040503050406030204" pitchFamily="18" charset="0"/>
              </a:rPr>
              <a:t>：</a:t>
            </a:r>
            <a:endParaRPr lang="zh-CN" altLang="en-US" dirty="0"/>
          </a:p>
        </p:txBody>
      </p:sp>
      <p:sp>
        <p:nvSpPr>
          <p:cNvPr id="3" name="内容占位符 2"/>
          <p:cNvSpPr txBox="1"/>
          <p:nvPr/>
        </p:nvSpPr>
        <p:spPr>
          <a:xfrm>
            <a:off x="245327" y="1567592"/>
            <a:ext cx="11946673" cy="3672408"/>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lvl="1">
              <a:lnSpc>
                <a:spcPct val="170000"/>
              </a:lnSpc>
              <a:spcBef>
                <a:spcPts val="0"/>
              </a:spcBef>
              <a:spcAft>
                <a:spcPts val="0"/>
              </a:spcAft>
            </a:pPr>
            <a:r>
              <a:rPr lang="en-US" altLang="zh-CN" sz="2400" dirty="0" err="1" smtClean="0">
                <a:latin typeface="Cambria" panose="02040503050406030204" pitchFamily="18" charset="0"/>
                <a:ea typeface="Cambria" panose="02040503050406030204" pitchFamily="18" charset="0"/>
              </a:rPr>
              <a:t>n_components</a:t>
            </a:r>
            <a:r>
              <a:rPr lang="zh-CN" altLang="zh-CN" sz="2400" dirty="0">
                <a:latin typeface="Cambria" panose="02040503050406030204" pitchFamily="18" charset="0"/>
              </a:rPr>
              <a:t>：整型，浮点型，</a:t>
            </a:r>
            <a:r>
              <a:rPr lang="en-US" altLang="zh-CN" sz="2400" dirty="0">
                <a:latin typeface="Cambria" panose="02040503050406030204" pitchFamily="18" charset="0"/>
                <a:ea typeface="Cambria" panose="02040503050406030204" pitchFamily="18" charset="0"/>
              </a:rPr>
              <a:t>None</a:t>
            </a:r>
            <a:r>
              <a:rPr lang="zh-CN" altLang="zh-CN" sz="2400" dirty="0">
                <a:latin typeface="Cambria" panose="02040503050406030204" pitchFamily="18" charset="0"/>
              </a:rPr>
              <a:t>或者字符串。保留的主成分个数，亦即保留下来的特征个数</a:t>
            </a:r>
            <a:r>
              <a:rPr lang="en-US" altLang="zh-CN" sz="2400" i="1" dirty="0">
                <a:latin typeface="Cambria" panose="02040503050406030204" pitchFamily="18" charset="0"/>
                <a:ea typeface="Cambria" panose="02040503050406030204" pitchFamily="18" charset="0"/>
              </a:rPr>
              <a:t>n</a:t>
            </a:r>
            <a:r>
              <a:rPr lang="zh-CN" altLang="zh-CN"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lvl="1">
              <a:lnSpc>
                <a:spcPct val="170000"/>
              </a:lnSpc>
              <a:spcBef>
                <a:spcPts val="0"/>
              </a:spcBef>
              <a:spcAft>
                <a:spcPts val="0"/>
              </a:spcAft>
            </a:pPr>
            <a:r>
              <a:rPr lang="en-US" altLang="zh-CN" sz="2400" dirty="0">
                <a:latin typeface="Cambria" panose="02040503050406030204" pitchFamily="18" charset="0"/>
                <a:ea typeface="Cambria" panose="02040503050406030204" pitchFamily="18" charset="0"/>
              </a:rPr>
              <a:t>copy</a:t>
            </a:r>
            <a:r>
              <a:rPr lang="zh-CN" altLang="zh-CN" sz="2400" dirty="0">
                <a:latin typeface="Cambria" panose="02040503050406030204" pitchFamily="18" charset="0"/>
              </a:rPr>
              <a:t>：布尔值类型，默认参数值为</a:t>
            </a:r>
            <a:r>
              <a:rPr lang="en-US" altLang="zh-CN" sz="2400" dirty="0">
                <a:latin typeface="Cambria" panose="02040503050406030204" pitchFamily="18" charset="0"/>
                <a:ea typeface="Cambria" panose="02040503050406030204" pitchFamily="18" charset="0"/>
              </a:rPr>
              <a:t>False</a:t>
            </a:r>
            <a:r>
              <a:rPr lang="zh-CN" altLang="zh-CN" sz="2400" dirty="0">
                <a:latin typeface="Cambria" panose="02040503050406030204" pitchFamily="18" charset="0"/>
              </a:rPr>
              <a:t>。若为</a:t>
            </a:r>
            <a:r>
              <a:rPr lang="en-US" altLang="zh-CN" sz="2400" dirty="0">
                <a:latin typeface="Cambria" panose="02040503050406030204" pitchFamily="18" charset="0"/>
                <a:ea typeface="Cambria" panose="02040503050406030204" pitchFamily="18" charset="0"/>
              </a:rPr>
              <a:t>True</a:t>
            </a:r>
            <a:r>
              <a:rPr lang="zh-CN" altLang="zh-CN" sz="2400" dirty="0">
                <a:latin typeface="Cambria" panose="02040503050406030204" pitchFamily="18" charset="0"/>
              </a:rPr>
              <a:t>，将原始训练数据复制一份，算法运行后原始训练数据的值不会有任何改变</a:t>
            </a:r>
            <a:r>
              <a:rPr lang="zh-CN" altLang="zh-CN" sz="2400" dirty="0" smtClean="0">
                <a:latin typeface="Cambria" panose="02040503050406030204" pitchFamily="18" charset="0"/>
              </a:rPr>
              <a:t>；</a:t>
            </a:r>
            <a:r>
              <a:rPr lang="zh-CN" altLang="zh-CN" sz="2400" dirty="0">
                <a:latin typeface="Cambria" panose="02040503050406030204" pitchFamily="18" charset="0"/>
              </a:rPr>
              <a:t>若为</a:t>
            </a:r>
            <a:r>
              <a:rPr lang="en-US" altLang="zh-CN" sz="2400" dirty="0">
                <a:latin typeface="Cambria" panose="02040503050406030204" pitchFamily="18" charset="0"/>
                <a:ea typeface="Cambria" panose="02040503050406030204" pitchFamily="18" charset="0"/>
              </a:rPr>
              <a:t>False</a:t>
            </a:r>
            <a:r>
              <a:rPr lang="zh-CN" altLang="zh-CN" sz="2400" dirty="0">
                <a:latin typeface="Cambria" panose="02040503050406030204" pitchFamily="18" charset="0"/>
              </a:rPr>
              <a:t>，则在原始数据上进行降维计算，运行</a:t>
            </a:r>
            <a:r>
              <a:rPr lang="en-US" altLang="zh-CN" sz="2400" dirty="0">
                <a:latin typeface="Cambria" panose="02040503050406030204" pitchFamily="18" charset="0"/>
                <a:ea typeface="Cambria" panose="02040503050406030204" pitchFamily="18" charset="0"/>
              </a:rPr>
              <a:t>PCA</a:t>
            </a:r>
            <a:r>
              <a:rPr lang="zh-CN" altLang="zh-CN" sz="2400" dirty="0">
                <a:latin typeface="Cambria" panose="02040503050406030204" pitchFamily="18" charset="0"/>
              </a:rPr>
              <a:t>算法后原始训练数据的值会改变。</a:t>
            </a:r>
            <a:endParaRPr lang="en-US" altLang="zh-CN" sz="2400" dirty="0" smtClean="0">
              <a:latin typeface="Cambria" panose="02040503050406030204" pitchFamily="18" charset="0"/>
              <a:ea typeface="Cambria" panose="02040503050406030204" pitchFamily="18" charset="0"/>
            </a:endParaRPr>
          </a:p>
          <a:p>
            <a:pPr lvl="1">
              <a:lnSpc>
                <a:spcPct val="170000"/>
              </a:lnSpc>
              <a:spcBef>
                <a:spcPts val="0"/>
              </a:spcBef>
              <a:spcAft>
                <a:spcPts val="0"/>
              </a:spcAft>
            </a:pPr>
            <a:r>
              <a:rPr lang="en-US" altLang="zh-CN" sz="2400" dirty="0">
                <a:latin typeface="Cambria" panose="02040503050406030204" pitchFamily="18" charset="0"/>
                <a:ea typeface="Cambria" panose="02040503050406030204" pitchFamily="18" charset="0"/>
              </a:rPr>
              <a:t>whiten</a:t>
            </a:r>
            <a:r>
              <a:rPr lang="zh-CN" altLang="zh-CN" sz="2400" dirty="0">
                <a:latin typeface="Cambria" panose="02040503050406030204" pitchFamily="18" charset="0"/>
              </a:rPr>
              <a:t>：布尔值类型，默认参数值为</a:t>
            </a:r>
            <a:r>
              <a:rPr lang="en-US" altLang="zh-CN" sz="2400" dirty="0">
                <a:latin typeface="Cambria" panose="02040503050406030204" pitchFamily="18" charset="0"/>
                <a:ea typeface="Cambria" panose="02040503050406030204" pitchFamily="18" charset="0"/>
              </a:rPr>
              <a:t>False</a:t>
            </a:r>
            <a:r>
              <a:rPr lang="zh-CN" altLang="zh-CN" sz="2400" dirty="0">
                <a:latin typeface="Cambria" panose="02040503050406030204" pitchFamily="18" charset="0"/>
              </a:rPr>
              <a:t>。白化，使得每个特征具有相同的方差。从转换后的信号中删除一些信息，提高下游估计值的预测精度</a:t>
            </a:r>
            <a:r>
              <a:rPr lang="zh-CN" altLang="zh-CN" sz="2400" dirty="0" smtClean="0">
                <a:latin typeface="Cambria" panose="02040503050406030204" pitchFamily="18" charset="0"/>
              </a:rPr>
              <a:t>。</a:t>
            </a:r>
            <a:endParaRPr lang="en-US" altLang="zh-CN" sz="2400" dirty="0">
              <a:latin typeface="Cambria" panose="02040503050406030204" pitchFamily="18" charset="0"/>
              <a:ea typeface="Cambria" panose="02040503050406030204" pitchFamily="18" charset="0"/>
            </a:endParaRPr>
          </a:p>
          <a:p>
            <a:pPr lvl="1">
              <a:lnSpc>
                <a:spcPct val="170000"/>
              </a:lnSpc>
              <a:spcBef>
                <a:spcPts val="0"/>
              </a:spcBef>
              <a:spcAft>
                <a:spcPts val="0"/>
              </a:spcAft>
            </a:pPr>
            <a:r>
              <a:rPr lang="en-US" altLang="zh-CN" sz="2400" dirty="0" err="1">
                <a:latin typeface="Cambria" panose="02040503050406030204" pitchFamily="18" charset="0"/>
                <a:ea typeface="Cambria" panose="02040503050406030204" pitchFamily="18" charset="0"/>
              </a:rPr>
              <a:t>svd_solver</a:t>
            </a:r>
            <a:r>
              <a:rPr lang="zh-CN" altLang="zh-CN" sz="2400" dirty="0">
                <a:latin typeface="Cambria" panose="02040503050406030204" pitchFamily="18" charset="0"/>
              </a:rPr>
              <a:t>：字符串。可以取值</a:t>
            </a:r>
            <a:r>
              <a:rPr lang="en-US" altLang="zh-CN" sz="2400" dirty="0">
                <a:latin typeface="Cambria" panose="02040503050406030204" pitchFamily="18" charset="0"/>
                <a:ea typeface="Cambria" panose="02040503050406030204" pitchFamily="18" charset="0"/>
              </a:rPr>
              <a:t>’auto’</a:t>
            </a:r>
            <a:r>
              <a:rPr lang="zh-CN" altLang="zh-CN" sz="2400" dirty="0">
                <a:latin typeface="Cambria" panose="02040503050406030204" pitchFamily="18" charset="0"/>
              </a:rPr>
              <a:t>，</a:t>
            </a:r>
            <a:r>
              <a:rPr lang="en-US" altLang="zh-CN" sz="2400" dirty="0">
                <a:latin typeface="Cambria" panose="02040503050406030204" pitchFamily="18" charset="0"/>
                <a:ea typeface="Cambria" panose="02040503050406030204" pitchFamily="18" charset="0"/>
              </a:rPr>
              <a:t>’full’</a:t>
            </a:r>
            <a:r>
              <a:rPr lang="zh-CN" altLang="zh-CN" sz="2400" dirty="0">
                <a:latin typeface="Cambria" panose="02040503050406030204" pitchFamily="18" charset="0"/>
              </a:rPr>
              <a:t>，</a:t>
            </a:r>
            <a:r>
              <a:rPr lang="en-US" altLang="zh-CN" sz="2400" dirty="0">
                <a:latin typeface="Cambria" panose="02040503050406030204" pitchFamily="18" charset="0"/>
                <a:ea typeface="Cambria" panose="02040503050406030204" pitchFamily="18" charset="0"/>
              </a:rPr>
              <a:t>’</a:t>
            </a:r>
            <a:r>
              <a:rPr lang="en-US" altLang="zh-CN" sz="2400" dirty="0" err="1">
                <a:latin typeface="Cambria" panose="02040503050406030204" pitchFamily="18" charset="0"/>
                <a:ea typeface="Cambria" panose="02040503050406030204" pitchFamily="18" charset="0"/>
              </a:rPr>
              <a:t>arpark</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，或</a:t>
            </a:r>
            <a:r>
              <a:rPr lang="en-US" altLang="zh-CN" sz="2400" dirty="0">
                <a:latin typeface="Cambria" panose="02040503050406030204" pitchFamily="18" charset="0"/>
                <a:ea typeface="Cambria" panose="02040503050406030204" pitchFamily="18" charset="0"/>
              </a:rPr>
              <a:t>’randomized’</a:t>
            </a:r>
            <a:r>
              <a:rPr lang="zh-CN" altLang="zh-CN" sz="2400" dirty="0" smtClean="0">
                <a:latin typeface="Cambria" panose="02040503050406030204" pitchFamily="18" charset="0"/>
              </a:rPr>
              <a:t>。</a:t>
            </a:r>
            <a:endParaRPr lang="en-US" altLang="zh-CN" sz="2400" dirty="0">
              <a:solidFill>
                <a:schemeClr val="accent3">
                  <a:lumMod val="50000"/>
                </a:schemeClr>
              </a:solidFill>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106784" y="1083587"/>
            <a:ext cx="8033449" cy="50669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939433" y="1039244"/>
            <a:ext cx="8230717" cy="525567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算法应用的实验结果</a:t>
            </a:r>
            <a:endParaRPr lang="zh-CN" altLang="en-US" dirty="0"/>
          </a:p>
        </p:txBody>
      </p:sp>
      <p:pic>
        <p:nvPicPr>
          <p:cNvPr id="3" name="图片 2"/>
          <p:cNvPicPr>
            <a:picLocks noChangeAspect="1"/>
          </p:cNvPicPr>
          <p:nvPr/>
        </p:nvPicPr>
        <p:blipFill>
          <a:blip r:embed="rId1"/>
          <a:stretch>
            <a:fillRect/>
          </a:stretch>
        </p:blipFill>
        <p:spPr>
          <a:xfrm>
            <a:off x="2076908" y="1248937"/>
            <a:ext cx="8086950" cy="500748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算法应用的实验结果</a:t>
            </a:r>
            <a:endParaRPr lang="zh-CN" altLang="en-US" dirty="0"/>
          </a:p>
        </p:txBody>
      </p:sp>
      <p:pic>
        <p:nvPicPr>
          <p:cNvPr id="3" name="图片 2"/>
          <p:cNvPicPr>
            <a:picLocks noChangeAspect="1"/>
          </p:cNvPicPr>
          <p:nvPr/>
        </p:nvPicPr>
        <p:blipFill>
          <a:blip r:embed="rId1"/>
          <a:stretch>
            <a:fillRect/>
          </a:stretch>
        </p:blipFill>
        <p:spPr>
          <a:xfrm>
            <a:off x="1906217" y="1200351"/>
            <a:ext cx="8190764" cy="504644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算法应用的实验结果</a:t>
            </a:r>
            <a:endParaRPr lang="zh-CN" altLang="en-US" dirty="0"/>
          </a:p>
        </p:txBody>
      </p:sp>
      <p:pic>
        <p:nvPicPr>
          <p:cNvPr id="3" name="图片 2"/>
          <p:cNvPicPr>
            <a:picLocks noChangeAspect="1"/>
          </p:cNvPicPr>
          <p:nvPr/>
        </p:nvPicPr>
        <p:blipFill>
          <a:blip r:embed="rId1"/>
          <a:stretch>
            <a:fillRect/>
          </a:stretch>
        </p:blipFill>
        <p:spPr>
          <a:xfrm>
            <a:off x="2143885" y="1143860"/>
            <a:ext cx="8014590" cy="520881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300544"/>
            <a:ext cx="8015583" cy="534035"/>
          </a:xfrm>
        </p:spPr>
        <p:txBody>
          <a:bodyPr/>
          <a:lstStyle/>
          <a:p>
            <a:r>
              <a:rPr lang="en-US" altLang="zh-CN"/>
              <a:t>PCA</a:t>
            </a:r>
            <a:r>
              <a:rPr lang="zh-CN" altLang="en-US"/>
              <a:t>算法实例</a:t>
            </a:r>
            <a:r>
              <a:rPr lang="en-US" altLang="zh-CN"/>
              <a:t>1</a:t>
            </a:r>
            <a:r>
              <a:rPr lang="zh-CN" altLang="en-US"/>
              <a:t>的</a:t>
            </a:r>
            <a:r>
              <a:rPr lang="zh-CN" altLang="en-US"/>
              <a:t>主要代码</a:t>
            </a:r>
            <a:endParaRPr lang="zh-CN" altLang="en-US"/>
          </a:p>
        </p:txBody>
      </p:sp>
      <p:sp>
        <p:nvSpPr>
          <p:cNvPr id="3" name="文本框 2"/>
          <p:cNvSpPr txBox="1"/>
          <p:nvPr/>
        </p:nvSpPr>
        <p:spPr>
          <a:xfrm>
            <a:off x="1253108" y="1036049"/>
            <a:ext cx="10830205" cy="6278642"/>
          </a:xfrm>
          <a:prstGeom prst="rect">
            <a:avLst/>
          </a:prstGeom>
          <a:noFill/>
        </p:spPr>
        <p:txBody>
          <a:bodyPr wrap="square" rtlCol="0">
            <a:spAutoFit/>
          </a:bodyPr>
          <a:lstStyle/>
          <a:p>
            <a:pPr>
              <a:lnSpc>
                <a:spcPct val="150000"/>
              </a:lnSpc>
            </a:pPr>
            <a:r>
              <a:rPr lang="it-IT" altLang="zh-CN" sz="2400" dirty="0">
                <a:latin typeface="Times New Roman" panose="02020603050405020304" pitchFamily="18" charset="0"/>
                <a:cs typeface="Times New Roman" panose="02020603050405020304" pitchFamily="18" charset="0"/>
              </a:rPr>
              <a:t>data = load_iris()  </a:t>
            </a:r>
            <a:r>
              <a:rPr lang="it-IT"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加载鸢尾花</a:t>
            </a:r>
            <a:r>
              <a:rPr lang="zh-CN" altLang="en-US" sz="2400" dirty="0" smtClean="0">
                <a:latin typeface="Times New Roman" panose="02020603050405020304" pitchFamily="18" charset="0"/>
                <a:cs typeface="Times New Roman" panose="02020603050405020304" pitchFamily="18" charset="0"/>
              </a:rPr>
              <a:t>数据，共三类样本。每个样本</a:t>
            </a:r>
            <a:r>
              <a:rPr lang="en-US" altLang="zh-CN" sz="2400" dirty="0" smtClean="0">
                <a:latin typeface="Times New Roman" panose="02020603050405020304" pitchFamily="18" charset="0"/>
                <a:cs typeface="Times New Roman" panose="02020603050405020304" pitchFamily="18" charset="0"/>
              </a:rPr>
              <a:t>4</a:t>
            </a:r>
            <a:r>
              <a:rPr lang="zh-CN" altLang="en-US" sz="2400" dirty="0" smtClean="0">
                <a:latin typeface="Times New Roman" panose="02020603050405020304" pitchFamily="18" charset="0"/>
                <a:cs typeface="Times New Roman" panose="02020603050405020304" pitchFamily="18" charset="0"/>
              </a:rPr>
              <a:t>维特征</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y = data.target </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X = data.data</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pca = PCA(n_components=2) </a:t>
            </a:r>
            <a:r>
              <a:rPr lang="it-IT"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设置要降的维度为</a:t>
            </a:r>
            <a:r>
              <a:rPr lang="en-US" altLang="zh-CN" sz="2400" dirty="0">
                <a:latin typeface="Times New Roman" panose="02020603050405020304" pitchFamily="18" charset="0"/>
                <a:cs typeface="Times New Roman" panose="02020603050405020304" pitchFamily="18" charset="0"/>
              </a:rPr>
              <a:t>2</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将</a:t>
            </a:r>
            <a:r>
              <a:rPr lang="en-US" altLang="zh-CN" sz="2400" dirty="0" smtClean="0">
                <a:latin typeface="Times New Roman" panose="02020603050405020304" pitchFamily="18" charset="0"/>
                <a:cs typeface="Times New Roman" panose="02020603050405020304" pitchFamily="18" charset="0"/>
              </a:rPr>
              <a:t>4</a:t>
            </a:r>
            <a:r>
              <a:rPr lang="zh-CN" altLang="en-US" sz="2400" dirty="0" smtClean="0">
                <a:latin typeface="Times New Roman" panose="02020603050405020304" pitchFamily="18" charset="0"/>
                <a:cs typeface="Times New Roman" panose="02020603050405020304" pitchFamily="18" charset="0"/>
              </a:rPr>
              <a:t>维特征映射到二维平面上</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用</a:t>
            </a:r>
            <a:r>
              <a:rPr lang="it-IT"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来训练</a:t>
            </a:r>
            <a:r>
              <a:rPr lang="it-IT" altLang="zh-CN" sz="2400" dirty="0">
                <a:latin typeface="Times New Roman" panose="02020603050405020304" pitchFamily="18" charset="0"/>
                <a:cs typeface="Times New Roman" panose="02020603050405020304" pitchFamily="18" charset="0"/>
              </a:rPr>
              <a:t>PCA</a:t>
            </a:r>
            <a:r>
              <a:rPr lang="zh-CN" altLang="en-US" sz="2400" dirty="0">
                <a:latin typeface="Times New Roman" panose="02020603050405020304" pitchFamily="18" charset="0"/>
                <a:cs typeface="Times New Roman" panose="02020603050405020304" pitchFamily="18" charset="0"/>
              </a:rPr>
              <a:t>模型，同时返回降维后的</a:t>
            </a:r>
            <a:r>
              <a:rPr lang="zh-CN" altLang="en-US" sz="2400" dirty="0" smtClean="0">
                <a:latin typeface="Times New Roman" panose="02020603050405020304" pitchFamily="18" charset="0"/>
                <a:cs typeface="Times New Roman" panose="02020603050405020304" pitchFamily="18" charset="0"/>
              </a:rPr>
              <a:t>数据，保存</a:t>
            </a:r>
            <a:r>
              <a:rPr lang="zh-CN" altLang="en-US" sz="2400" dirty="0">
                <a:latin typeface="Times New Roman" panose="02020603050405020304" pitchFamily="18" charset="0"/>
                <a:cs typeface="Times New Roman" panose="02020603050405020304" pitchFamily="18" charset="0"/>
              </a:rPr>
              <a:t>在</a:t>
            </a:r>
            <a:r>
              <a:rPr lang="it-IT" altLang="zh-CN" sz="2400" dirty="0">
                <a:latin typeface="Times New Roman" panose="02020603050405020304" pitchFamily="18" charset="0"/>
                <a:cs typeface="Times New Roman" panose="02020603050405020304" pitchFamily="18" charset="0"/>
              </a:rPr>
              <a:t>reduced_X</a:t>
            </a:r>
            <a:r>
              <a:rPr lang="zh-CN" altLang="en-US" sz="2400" dirty="0" smtClean="0">
                <a:latin typeface="Times New Roman" panose="02020603050405020304" pitchFamily="18" charset="0"/>
                <a:cs typeface="Times New Roman" panose="02020603050405020304" pitchFamily="18" charset="0"/>
              </a:rPr>
              <a:t>中</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reduced_X = </a:t>
            </a:r>
            <a:r>
              <a:rPr lang="it-IT" altLang="zh-CN" sz="2400" dirty="0" smtClean="0">
                <a:latin typeface="Times New Roman" panose="02020603050405020304" pitchFamily="18" charset="0"/>
                <a:cs typeface="Times New Roman" panose="02020603050405020304" pitchFamily="18" charset="0"/>
              </a:rPr>
              <a:t>pca.fit_transform(X</a:t>
            </a:r>
            <a:r>
              <a:rPr lang="en-US" altLang="zh-CN"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nSpc>
                <a:spcPct val="150000"/>
              </a:lnSpc>
            </a:pP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按类别对降维后的数据进行保存</a:t>
            </a:r>
            <a:endParaRPr lang="en-US" altLang="zh-CN" sz="2400" dirty="0" smtClean="0">
              <a:latin typeface="Times New Roman" panose="02020603050405020304" pitchFamily="18" charset="0"/>
              <a:cs typeface="Times New Roman" panose="02020603050405020304" pitchFamily="18" charset="0"/>
            </a:endParaRPr>
          </a:p>
          <a:p>
            <a:pPr>
              <a:lnSpc>
                <a:spcPct val="150000"/>
              </a:lnSpc>
            </a:pPr>
            <a:r>
              <a:rPr lang="it-IT" altLang="zh-CN" sz="2400" dirty="0" smtClean="0">
                <a:latin typeface="Times New Roman" panose="02020603050405020304" pitchFamily="18" charset="0"/>
                <a:cs typeface="Times New Roman" panose="02020603050405020304" pitchFamily="18" charset="0"/>
              </a:rPr>
              <a:t>red_x</a:t>
            </a:r>
            <a:r>
              <a:rPr lang="it-IT" altLang="zh-CN" sz="2400" dirty="0">
                <a:latin typeface="Times New Roman" panose="02020603050405020304" pitchFamily="18" charset="0"/>
                <a:cs typeface="Times New Roman" panose="02020603050405020304" pitchFamily="18" charset="0"/>
              </a:rPr>
              <a:t>, red_y = [], []</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blue_x, blue_y = [], []</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green_x, green_y = [], []</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1625" y="1691005"/>
            <a:ext cx="6240145" cy="2018665"/>
          </a:xfrm>
        </p:spPr>
        <p:txBody>
          <a:bodyPr>
            <a:normAutofit/>
          </a:bodyPr>
          <a:lstStyle/>
          <a:p>
            <a:pPr fontAlgn="auto">
              <a:lnSpc>
                <a:spcPct val="150000"/>
              </a:lnSpc>
            </a:pPr>
            <a:r>
              <a:rPr lang="zh-CN" altLang="en-US" sz="2000"/>
              <a:t>降维后的第一个主成分的方差贡献率为0.7296，第二个主成分的方差贡献率为0.2285。两者的累计方差贡献率为0.9581。如右图所示，只用第一个主成分和第二个主成分就能较好的在二维空间表示原始数据。</a:t>
            </a:r>
            <a:endParaRPr lang="zh-CN" altLang="en-US" sz="2000"/>
          </a:p>
        </p:txBody>
      </p:sp>
      <p:pic>
        <p:nvPicPr>
          <p:cNvPr id="32"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39330" y="1515745"/>
            <a:ext cx="4014470" cy="2572385"/>
          </a:xfrm>
          <a:prstGeom prst="rect">
            <a:avLst/>
          </a:prstGeom>
        </p:spPr>
      </p:pic>
      <p:sp>
        <p:nvSpPr>
          <p:cNvPr id="4" name="文本框 3"/>
          <p:cNvSpPr txBox="1"/>
          <p:nvPr/>
        </p:nvSpPr>
        <p:spPr>
          <a:xfrm>
            <a:off x="548005" y="3863975"/>
            <a:ext cx="5993130" cy="239966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为直观上理解主成分分析中坐标轴旋转的过程，本例只挑选出花瓣长度和花瓣宽度两个属性进行阐述。通过计算，第一主成分轴的方向为                       ，主成分分析相当于将原始坐标系绕原点逆时针旋转了45度后旋转到红色的坐标轴，如右图所示。</a:t>
            </a:r>
            <a:endParaRPr kumimoji="0" lang="zh-CN" altLang="en-US" sz="20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aphicFrame>
        <p:nvGraphicFramePr>
          <p:cNvPr id="5" name="对象 -2147482508"/>
          <p:cNvGraphicFramePr>
            <a:graphicFrameLocks noChangeAspect="1"/>
          </p:cNvGraphicFramePr>
          <p:nvPr/>
        </p:nvGraphicFramePr>
        <p:xfrm>
          <a:off x="4651375" y="4713605"/>
          <a:ext cx="934085" cy="726440"/>
        </p:xfrm>
        <a:graphic>
          <a:graphicData uri="http://schemas.openxmlformats.org/presentationml/2006/ole">
            <mc:AlternateContent xmlns:mc="http://schemas.openxmlformats.org/markup-compatibility/2006">
              <mc:Choice xmlns:v="urn:schemas-microsoft-com:vml" Requires="v">
                <p:oleObj spid="_x0000_s7178" name="" r:id="rId2" imgW="698500" imgH="508000" progId="Equation.DSMT4">
                  <p:embed/>
                </p:oleObj>
              </mc:Choice>
              <mc:Fallback>
                <p:oleObj name="" r:id="rId2" imgW="698500" imgH="508000" progId="Equation.DSMT4">
                  <p:embed/>
                  <p:pic>
                    <p:nvPicPr>
                      <p:cNvPr id="0" name="对象 -2147482508"/>
                      <p:cNvPicPr/>
                      <p:nvPr/>
                    </p:nvPicPr>
                    <p:blipFill>
                      <a:blip r:embed="rId3"/>
                      <a:stretch>
                        <a:fillRect/>
                      </a:stretch>
                    </p:blipFill>
                    <p:spPr>
                      <a:xfrm>
                        <a:off x="4651375" y="4713605"/>
                        <a:ext cx="934085" cy="726440"/>
                      </a:xfrm>
                      <a:prstGeom prst="rect">
                        <a:avLst/>
                      </a:prstGeom>
                      <a:noFill/>
                      <a:ln w="38100">
                        <a:noFill/>
                        <a:miter/>
                      </a:ln>
                    </p:spPr>
                  </p:pic>
                </p:oleObj>
              </mc:Fallback>
            </mc:AlternateContent>
          </a:graphicData>
        </a:graphic>
      </p:graphicFrame>
      <p:pic>
        <p:nvPicPr>
          <p:cNvPr id="33"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26935" y="4196080"/>
            <a:ext cx="4239260" cy="2378710"/>
          </a:xfrm>
          <a:prstGeom prst="rect">
            <a:avLst/>
          </a:prstGeom>
        </p:spPr>
      </p:pic>
      <p:sp>
        <p:nvSpPr>
          <p:cNvPr id="9" name="标题 1"/>
          <p:cNvSpPr txBox="1"/>
          <p:nvPr/>
        </p:nvSpPr>
        <p:spPr>
          <a:xfrm>
            <a:off x="548005" y="730659"/>
            <a:ext cx="8015583" cy="535531"/>
          </a:xfrm>
          <a:prstGeom prst="rect">
            <a:avLst/>
          </a:prstGeom>
          <a:noFill/>
        </p:spPr>
        <p:txBody>
          <a:bodyPr wrap="square" rtlCol="0" anchor="ctr" anchorCtr="0">
            <a:spAutoFit/>
          </a:bodyPr>
          <a:lstStyle>
            <a:lvl1pPr algn="l" defTabSz="914400" rtl="0" eaLnBrk="1" latinLnBrk="0" hangingPunct="1">
              <a:lnSpc>
                <a:spcPct val="90000"/>
              </a:lnSpc>
              <a:spcBef>
                <a:spcPct val="0"/>
              </a:spcBef>
              <a:buNone/>
              <a:defRPr lang="zh-CN" altLang="en-US" sz="3200" b="1" kern="1200">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PCA</a:t>
            </a:r>
            <a:r>
              <a:rPr kumimoji="0" lang="zh-CN" altLang="en-US"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算法实例</a:t>
            </a:r>
            <a:r>
              <a:rPr kumimoji="0" lang="en-US" altLang="zh-CN"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1</a:t>
            </a:r>
            <a:r>
              <a:rPr kumimoji="0" lang="zh-CN" altLang="en-US"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的主要代码</a:t>
            </a:r>
            <a:endParaRPr kumimoji="0" lang="zh-CN" altLang="en-US" sz="3200" b="1" i="0" u="none" strike="noStrike" kern="1200" cap="none" spc="0" normalizeH="0" baseline="0" noProof="0" dirty="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400"/>
              <a:t>将上图</a:t>
            </a:r>
            <a:r>
              <a:rPr lang="en-US" altLang="zh-CN" sz="2400"/>
              <a:t>1</a:t>
            </a:r>
            <a:r>
              <a:rPr lang="zh-CN" altLang="en-US" sz="2400"/>
              <a:t>中红色坐标轴摆正，得到数据集的主成分表示，如下图所示。该坐标系中，第一主成分的贡献率为0.9814，第二主成分的贡献率为0.0186。可见第一主成分贡献了绝大部分信息。从下图中也可以看出，第一主成分上样本的取值分散程度要远大于第二个主成分。</a:t>
            </a:r>
            <a:endParaRPr lang="zh-CN" altLang="en-US" sz="2400"/>
          </a:p>
        </p:txBody>
      </p:sp>
      <p:pic>
        <p:nvPicPr>
          <p:cNvPr id="34" name="图片 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85160" y="3207385"/>
            <a:ext cx="5097780" cy="3354705"/>
          </a:xfrm>
          <a:prstGeom prst="rect">
            <a:avLst/>
          </a:prstGeom>
        </p:spPr>
      </p:pic>
      <p:sp>
        <p:nvSpPr>
          <p:cNvPr id="6" name="标题 1"/>
          <p:cNvSpPr txBox="1"/>
          <p:nvPr/>
        </p:nvSpPr>
        <p:spPr>
          <a:xfrm>
            <a:off x="838200" y="777967"/>
            <a:ext cx="8015583" cy="535531"/>
          </a:xfrm>
          <a:prstGeom prst="rect">
            <a:avLst/>
          </a:prstGeom>
          <a:noFill/>
        </p:spPr>
        <p:txBody>
          <a:bodyPr wrap="square" rtlCol="0" anchor="ctr" anchorCtr="0">
            <a:spAutoFit/>
          </a:bodyPr>
          <a:lstStyle>
            <a:lvl1pPr algn="l" defTabSz="914400" rtl="0" eaLnBrk="1" latinLnBrk="0" hangingPunct="1">
              <a:lnSpc>
                <a:spcPct val="90000"/>
              </a:lnSpc>
              <a:spcBef>
                <a:spcPct val="0"/>
              </a:spcBef>
              <a:buNone/>
              <a:defRPr lang="zh-CN" altLang="en-US" sz="3200" b="1" kern="1200">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PCA</a:t>
            </a:r>
            <a:r>
              <a:rPr kumimoji="0" lang="zh-CN" altLang="en-US"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算法实例</a:t>
            </a:r>
            <a:r>
              <a:rPr kumimoji="0" lang="en-US" altLang="zh-CN"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1</a:t>
            </a:r>
            <a:r>
              <a:rPr kumimoji="0" lang="zh-CN" altLang="en-US" sz="3200" b="1" i="0" u="none" strike="noStrike" kern="1200" cap="none" spc="0" normalizeH="0" baseline="0" noProof="0" smtClean="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rPr>
              <a:t>的主要代码</a:t>
            </a:r>
            <a:endParaRPr kumimoji="0" lang="zh-CN" altLang="en-US" sz="3200" b="1" i="0" u="none" strike="noStrike" kern="1200" cap="none" spc="0" normalizeH="0" baseline="0" noProof="0" dirty="0">
              <a:ln>
                <a:noFill/>
              </a:ln>
              <a:gradFill flip="none" rotWithShape="1">
                <a:gsLst>
                  <a:gs pos="0">
                    <a:srgbClr val="000000">
                      <a:lumMod val="75000"/>
                      <a:lumOff val="25000"/>
                    </a:srgbClr>
                  </a:gs>
                  <a:gs pos="99000">
                    <a:srgbClr val="000000">
                      <a:lumMod val="50000"/>
                      <a:lumOff val="50000"/>
                    </a:srgbClr>
                  </a:gs>
                </a:gsLst>
                <a:lin ang="16200000" scaled="1"/>
                <a:tileRect/>
              </a:gradFill>
              <a:effectLst/>
              <a:uLnTx/>
              <a:uFillTx/>
              <a:latin typeface="微软雅黑" panose="020B0503020204020204" pitchFamily="34" charset="-122"/>
              <a:ea typeface="微软雅黑 Light" panose="020B0502040204020203" charset="-122"/>
              <a:cs typeface="+mn-cs"/>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算法实例</a:t>
            </a:r>
            <a:r>
              <a:rPr lang="en-US" altLang="zh-CN" dirty="0"/>
              <a:t>1</a:t>
            </a:r>
            <a:r>
              <a:rPr lang="zh-CN" altLang="en-US" dirty="0" smtClean="0"/>
              <a:t>的</a:t>
            </a:r>
            <a:r>
              <a:rPr lang="zh-CN" altLang="en-US" dirty="0"/>
              <a:t>主要代码</a:t>
            </a:r>
            <a:endParaRPr lang="zh-CN" altLang="en-US" dirty="0"/>
          </a:p>
        </p:txBody>
      </p:sp>
      <p:sp>
        <p:nvSpPr>
          <p:cNvPr id="3" name="文本框 2"/>
          <p:cNvSpPr txBox="1"/>
          <p:nvPr/>
        </p:nvSpPr>
        <p:spPr>
          <a:xfrm>
            <a:off x="1253108" y="1196497"/>
            <a:ext cx="10830205" cy="5078313"/>
          </a:xfrm>
          <a:prstGeom prst="rect">
            <a:avLst/>
          </a:prstGeom>
          <a:noFill/>
        </p:spPr>
        <p:txBody>
          <a:bodyPr wrap="square" rtlCol="0">
            <a:spAutoFit/>
          </a:bodyPr>
          <a:lstStyle/>
          <a:p>
            <a:pPr>
              <a:lnSpc>
                <a:spcPct val="150000"/>
              </a:lnSpc>
            </a:pPr>
            <a:r>
              <a:rPr lang="en-US" altLang="zh-CN" sz="2400" dirty="0" smtClean="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按</a:t>
            </a:r>
            <a:r>
              <a:rPr lang="zh-CN" altLang="en-US" sz="2400" dirty="0" smtClean="0">
                <a:latin typeface="Times New Roman" panose="02020603050405020304" pitchFamily="18" charset="0"/>
                <a:cs typeface="Times New Roman" panose="02020603050405020304" pitchFamily="18" charset="0"/>
              </a:rPr>
              <a:t>鸢尾花的类别将降维后的数据点保存在不同列表中</a:t>
            </a:r>
            <a:endParaRPr lang="en-US" altLang="zh-CN" sz="2400" dirty="0" smtClean="0">
              <a:latin typeface="Times New Roman" panose="02020603050405020304" pitchFamily="18" charset="0"/>
              <a:cs typeface="Times New Roman" panose="02020603050405020304" pitchFamily="18" charset="0"/>
            </a:endParaRPr>
          </a:p>
          <a:p>
            <a:pPr>
              <a:lnSpc>
                <a:spcPct val="150000"/>
              </a:lnSpc>
            </a:pPr>
            <a:r>
              <a:rPr lang="it-IT" altLang="zh-CN" sz="2400" dirty="0" smtClean="0">
                <a:latin typeface="Times New Roman" panose="02020603050405020304" pitchFamily="18" charset="0"/>
                <a:cs typeface="Times New Roman" panose="02020603050405020304" pitchFamily="18" charset="0"/>
              </a:rPr>
              <a:t>for </a:t>
            </a:r>
            <a:r>
              <a:rPr lang="it-IT" altLang="zh-CN" sz="2400" dirty="0">
                <a:latin typeface="Times New Roman" panose="02020603050405020304" pitchFamily="18" charset="0"/>
                <a:cs typeface="Times New Roman" panose="02020603050405020304" pitchFamily="18" charset="0"/>
              </a:rPr>
              <a:t>i in range(len(reduced_X)):</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if y[i] == 0</a:t>
            </a:r>
            <a:r>
              <a:rPr lang="it-IT" altLang="zh-CN" sz="2400" dirty="0" smtClean="0">
                <a:latin typeface="Times New Roman" panose="02020603050405020304" pitchFamily="18" charset="0"/>
                <a:cs typeface="Times New Roman" panose="02020603050405020304" pitchFamily="18" charset="0"/>
              </a:rPr>
              <a:t>:                                    </a:t>
            </a:r>
            <a:r>
              <a:rPr lang="it-IT" altLang="zh-CN" sz="2400" dirty="0" smtClean="0">
                <a:latin typeface="仿宋" panose="02010609060101010101" pitchFamily="49" charset="-122"/>
                <a:ea typeface="仿宋" panose="02010609060101010101" pitchFamily="49" charset="-122"/>
                <a:cs typeface="Times New Roman" panose="02020603050405020304" pitchFamily="18" charset="0"/>
              </a:rPr>
              <a:t># </a:t>
            </a:r>
            <a:r>
              <a:rPr lang="zh-CN" altLang="en-US" sz="2400" dirty="0" smtClean="0">
                <a:latin typeface="仿宋" panose="02010609060101010101" pitchFamily="49" charset="-122"/>
                <a:ea typeface="仿宋" panose="02010609060101010101" pitchFamily="49" charset="-122"/>
                <a:cs typeface="Times New Roman" panose="02020603050405020304" pitchFamily="18" charset="0"/>
              </a:rPr>
              <a:t>建立降维后特征标签对应</a:t>
            </a:r>
            <a:endParaRPr lang="it-IT" altLang="zh-CN" sz="2400" dirty="0">
              <a:latin typeface="仿宋" panose="02010609060101010101" pitchFamily="49" charset="-122"/>
              <a:ea typeface="仿宋" panose="02010609060101010101" pitchFamily="49" charset="-122"/>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red_x.append(reduced_X[i][0])</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red_y.append(reduced_X[i][1])</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elif y[i] == 1</a:t>
            </a:r>
            <a:r>
              <a:rPr lang="it-IT" altLang="zh-CN" sz="2400" dirty="0">
                <a:latin typeface="仿宋" panose="02010609060101010101" pitchFamily="49" charset="-122"/>
                <a:ea typeface="仿宋" panose="02010609060101010101" pitchFamily="49" charset="-122"/>
                <a:cs typeface="Times New Roman" panose="02020603050405020304" pitchFamily="18" charset="0"/>
              </a:rPr>
              <a:t>: </a:t>
            </a:r>
            <a:r>
              <a:rPr lang="it-IT" altLang="zh-CN" sz="2400" dirty="0" smtClean="0">
                <a:latin typeface="仿宋" panose="02010609060101010101" pitchFamily="49" charset="-122"/>
                <a:ea typeface="仿宋" panose="02010609060101010101" pitchFamily="49" charset="-122"/>
                <a:cs typeface="Times New Roman" panose="02020603050405020304" pitchFamily="18" charset="0"/>
              </a:rPr>
              <a:t>               # </a:t>
            </a:r>
            <a:r>
              <a:rPr lang="zh-CN" altLang="en-US" sz="2400" dirty="0">
                <a:latin typeface="仿宋" panose="02010609060101010101" pitchFamily="49" charset="-122"/>
                <a:ea typeface="仿宋" panose="02010609060101010101" pitchFamily="49" charset="-122"/>
                <a:cs typeface="Times New Roman" panose="02020603050405020304" pitchFamily="18" charset="0"/>
              </a:rPr>
              <a:t>建立降维后特征标签对应</a:t>
            </a:r>
            <a:endParaRPr lang="it-IT" altLang="zh-CN" sz="2400" dirty="0">
              <a:latin typeface="仿宋" panose="02010609060101010101" pitchFamily="49" charset="-122"/>
              <a:ea typeface="仿宋" panose="02010609060101010101" pitchFamily="49" charset="-122"/>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blue_x.append(reduced_X[i][0])</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blue_y.append(reduced_X[i][1])</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Consolas" panose="020B0609020204030204" pitchFamily="49" charset="0"/>
                <a:cs typeface="Times New Roman" panose="02020603050405020304" pitchFamily="18" charset="0"/>
              </a:rPr>
              <a:t> </a:t>
            </a:r>
            <a:endParaRPr lang="en-US" altLang="zh-CN" sz="2400" dirty="0">
              <a:latin typeface="Consolas" panose="020B0609020204030204" pitchFamily="49"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算法实例</a:t>
            </a:r>
            <a:r>
              <a:rPr lang="en-US" altLang="zh-CN" dirty="0"/>
              <a:t>1</a:t>
            </a:r>
            <a:r>
              <a:rPr lang="zh-CN" altLang="en-US" dirty="0" smtClean="0"/>
              <a:t>的</a:t>
            </a:r>
            <a:r>
              <a:rPr lang="zh-CN" altLang="en-US" dirty="0"/>
              <a:t>主要代码</a:t>
            </a:r>
            <a:endParaRPr lang="zh-CN" altLang="en-US" dirty="0"/>
          </a:p>
        </p:txBody>
      </p:sp>
      <p:sp>
        <p:nvSpPr>
          <p:cNvPr id="3" name="文本框 2"/>
          <p:cNvSpPr txBox="1"/>
          <p:nvPr/>
        </p:nvSpPr>
        <p:spPr>
          <a:xfrm>
            <a:off x="1069817" y="1427330"/>
            <a:ext cx="10830205" cy="4616648"/>
          </a:xfrm>
          <a:prstGeom prst="rect">
            <a:avLst/>
          </a:prstGeom>
          <a:noFill/>
        </p:spPr>
        <p:txBody>
          <a:bodyPr wrap="square" rtlCol="0">
            <a:spAutoFit/>
          </a:bodyPr>
          <a:lstStyle/>
          <a:p>
            <a:pPr>
              <a:lnSpc>
                <a:spcPct val="150000"/>
              </a:lnSpc>
            </a:pPr>
            <a:r>
              <a:rPr lang="it-IT" altLang="zh-CN" sz="2800" dirty="0">
                <a:latin typeface="Times New Roman" panose="02020603050405020304" pitchFamily="18" charset="0"/>
                <a:cs typeface="Times New Roman" panose="02020603050405020304" pitchFamily="18" charset="0"/>
              </a:rPr>
              <a:t> </a:t>
            </a:r>
            <a:r>
              <a:rPr lang="it-IT" altLang="zh-CN" sz="2400" dirty="0">
                <a:latin typeface="Times New Roman" panose="02020603050405020304" pitchFamily="18" charset="0"/>
                <a:cs typeface="Times New Roman" panose="02020603050405020304" pitchFamily="18" charset="0"/>
              </a:rPr>
              <a:t>else:</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green_x.append(reduced_X[i][0])</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        green_y.append(reduced_X[i][1</a:t>
            </a:r>
            <a:r>
              <a:rPr lang="it-IT" altLang="zh-CN" sz="2400" dirty="0" smtClean="0">
                <a:latin typeface="Times New Roman" panose="02020603050405020304" pitchFamily="18" charset="0"/>
                <a:cs typeface="Times New Roman" panose="02020603050405020304" pitchFamily="18" charset="0"/>
              </a:rPr>
              <a:t>])</a:t>
            </a:r>
            <a:endParaRPr lang="it-IT" altLang="zh-CN" sz="2400" dirty="0" smtClean="0">
              <a:latin typeface="Times New Roman" panose="02020603050405020304" pitchFamily="18" charset="0"/>
              <a:cs typeface="Times New Roman" panose="02020603050405020304" pitchFamily="18" charset="0"/>
            </a:endParaRPr>
          </a:p>
          <a:p>
            <a:pPr>
              <a:lnSpc>
                <a:spcPct val="150000"/>
              </a:lnSpc>
            </a:pP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降维后数据点的可视化</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plt.scatter(red_x, red_y, c='r', marker='x')</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plt.scatter(blue_x, blue_y, c='b', marker='D')</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plt.scatter(green_x, green_y, c='g', marker='.')</a:t>
            </a:r>
            <a:endParaRPr lang="it-IT" altLang="zh-CN" sz="2400" dirty="0">
              <a:latin typeface="Times New Roman" panose="02020603050405020304" pitchFamily="18" charset="0"/>
              <a:cs typeface="Times New Roman" panose="02020603050405020304" pitchFamily="18" charset="0"/>
            </a:endParaRPr>
          </a:p>
          <a:p>
            <a:pPr>
              <a:lnSpc>
                <a:spcPct val="150000"/>
              </a:lnSpc>
            </a:pPr>
            <a:r>
              <a:rPr lang="it-IT" altLang="zh-CN" sz="2400" dirty="0">
                <a:latin typeface="Times New Roman" panose="02020603050405020304" pitchFamily="18" charset="0"/>
                <a:cs typeface="Times New Roman" panose="02020603050405020304" pitchFamily="18" charset="0"/>
              </a:rPr>
              <a:t>plt.show()</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算法实例</a:t>
            </a:r>
            <a:r>
              <a:rPr lang="en-US" altLang="zh-CN" dirty="0"/>
              <a:t>1</a:t>
            </a:r>
            <a:r>
              <a:rPr lang="zh-CN" altLang="en-US" dirty="0" smtClean="0"/>
              <a:t>的</a:t>
            </a:r>
            <a:r>
              <a:rPr lang="zh-CN" altLang="en-US" dirty="0"/>
              <a:t>实验结果</a:t>
            </a:r>
            <a:endParaRPr lang="zh-CN" altLang="en-US" dirty="0"/>
          </a:p>
        </p:txBody>
      </p:sp>
      <p:pic>
        <p:nvPicPr>
          <p:cNvPr id="4" name="图片 3"/>
          <p:cNvPicPr>
            <a:picLocks noChangeAspect="1"/>
          </p:cNvPicPr>
          <p:nvPr/>
        </p:nvPicPr>
        <p:blipFill>
          <a:blip r:embed="rId1" cstate="print"/>
          <a:stretch>
            <a:fillRect/>
          </a:stretch>
        </p:blipFill>
        <p:spPr>
          <a:xfrm>
            <a:off x="727113" y="3017885"/>
            <a:ext cx="4647675" cy="3399362"/>
          </a:xfrm>
          <a:prstGeom prst="rect">
            <a:avLst/>
          </a:prstGeom>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113" y="1050938"/>
            <a:ext cx="8208343" cy="1792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991367" y="3594181"/>
            <a:ext cx="4626591" cy="2246769"/>
          </a:xfrm>
          <a:prstGeom prst="rect">
            <a:avLst/>
          </a:prstGeom>
        </p:spPr>
        <p:txBody>
          <a:bodyPr wrap="square">
            <a:spAutoFit/>
          </a:bodyPr>
          <a:lstStyle/>
          <a:p>
            <a:pPr algn="just"/>
            <a:r>
              <a:rPr lang="zh-CN" altLang="en-US" sz="2800" dirty="0" smtClean="0"/>
              <a:t>    可见，降</a:t>
            </a:r>
            <a:r>
              <a:rPr lang="zh-CN" altLang="en-US" sz="2800" dirty="0"/>
              <a:t>维</a:t>
            </a:r>
            <a:r>
              <a:rPr lang="zh-CN" altLang="en-US" sz="2800" dirty="0" smtClean="0"/>
              <a:t>后数据仍能够清晰地分为三类，</a:t>
            </a:r>
            <a:r>
              <a:rPr lang="en-US" altLang="zh-CN" sz="2800" dirty="0" smtClean="0"/>
              <a:t>PCA</a:t>
            </a:r>
            <a:r>
              <a:rPr lang="zh-CN" altLang="en-US" sz="2800" dirty="0" smtClean="0"/>
              <a:t>不仅能削减数据地维度，降低分类任务的工作量，还能保证分类的质量。</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2315" y="246645"/>
            <a:ext cx="10272890" cy="514259"/>
          </a:xfrm>
        </p:spPr>
        <p:txBody>
          <a:bodyPr/>
          <a:lstStyle/>
          <a:p>
            <a:r>
              <a:rPr lang="en-US" altLang="zh-CN" sz="4000" dirty="0"/>
              <a:t>PCA</a:t>
            </a:r>
            <a:r>
              <a:rPr lang="zh-CN" altLang="en-US" sz="4000" dirty="0"/>
              <a:t>算法</a:t>
            </a:r>
            <a:r>
              <a:rPr lang="zh-CN" altLang="en-US" sz="4000" dirty="0" smtClean="0"/>
              <a:t>实例</a:t>
            </a:r>
            <a:r>
              <a:rPr lang="en-US" altLang="zh-CN" sz="4000" dirty="0" smtClean="0"/>
              <a:t>2</a:t>
            </a:r>
            <a:endParaRPr lang="zh-CN" altLang="en-US" sz="4000" dirty="0">
              <a:latin typeface="Cambria" panose="02040503050406030204" pitchFamily="18" charset="0"/>
            </a:endParaRPr>
          </a:p>
        </p:txBody>
      </p:sp>
      <p:sp>
        <p:nvSpPr>
          <p:cNvPr id="11" name="内容占位符 2"/>
          <p:cNvSpPr txBox="1"/>
          <p:nvPr/>
        </p:nvSpPr>
        <p:spPr>
          <a:xfrm>
            <a:off x="652315" y="1050836"/>
            <a:ext cx="10719979" cy="165618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a:lnSpc>
                <a:spcPct val="100000"/>
              </a:lnSpc>
              <a:spcBef>
                <a:spcPts val="0"/>
              </a:spcBef>
              <a:spcAft>
                <a:spcPts val="0"/>
              </a:spcAft>
            </a:pPr>
            <a:r>
              <a:rPr lang="zh-CN" altLang="zh-CN" sz="2800" dirty="0">
                <a:latin typeface="Cambria" panose="02040503050406030204" pitchFamily="18" charset="0"/>
              </a:rPr>
              <a:t>作为无监督学习的一种应用，如果碰到特征维度较高的训练样本，可以考虑使用</a:t>
            </a:r>
            <a:r>
              <a:rPr lang="en-US" altLang="zh-CN" sz="2800" dirty="0">
                <a:latin typeface="Cambria" panose="02040503050406030204" pitchFamily="18" charset="0"/>
                <a:ea typeface="Cambria" panose="02040503050406030204" pitchFamily="18" charset="0"/>
              </a:rPr>
              <a:t>PCA</a:t>
            </a:r>
            <a:r>
              <a:rPr lang="zh-CN" altLang="zh-CN" sz="2800" dirty="0">
                <a:latin typeface="Cambria" panose="02040503050406030204" pitchFamily="18" charset="0"/>
              </a:rPr>
              <a:t>特征降维方法获取低维度的样本特征，从而实现数据降维和压缩的目的。接下来以手写体数字图像识别为例来说明</a:t>
            </a:r>
            <a:r>
              <a:rPr lang="en-US" altLang="zh-CN" sz="2800" dirty="0">
                <a:latin typeface="Cambria" panose="02040503050406030204" pitchFamily="18" charset="0"/>
                <a:ea typeface="Cambria" panose="02040503050406030204" pitchFamily="18" charset="0"/>
              </a:rPr>
              <a:t>PCA</a:t>
            </a:r>
            <a:r>
              <a:rPr lang="zh-CN" altLang="zh-CN" sz="2800" dirty="0">
                <a:latin typeface="Cambria" panose="02040503050406030204" pitchFamily="18" charset="0"/>
              </a:rPr>
              <a:t>算法的</a:t>
            </a:r>
            <a:r>
              <a:rPr lang="zh-CN" altLang="zh-CN" sz="2800" dirty="0" smtClean="0">
                <a:latin typeface="Cambria" panose="02040503050406030204" pitchFamily="18" charset="0"/>
              </a:rPr>
              <a:t>使用</a:t>
            </a:r>
            <a:r>
              <a:rPr lang="zh-CN" altLang="en-US" sz="2800" dirty="0" smtClean="0">
                <a:latin typeface="Cambria" panose="02040503050406030204" pitchFamily="18" charset="0"/>
              </a:rPr>
              <a:t>。</a:t>
            </a:r>
            <a:endParaRPr lang="en-US" altLang="zh-CN" sz="2800" dirty="0" smtClean="0">
              <a:latin typeface="Cambria" panose="02040503050406030204" pitchFamily="18" charset="0"/>
              <a:ea typeface="Cambria" panose="02040503050406030204" pitchFamily="18" charset="0"/>
            </a:endParaRPr>
          </a:p>
        </p:txBody>
      </p:sp>
      <p:pic>
        <p:nvPicPr>
          <p:cNvPr id="1331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0615" y="2996952"/>
            <a:ext cx="9675856"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a:xfrm>
            <a:off x="380586" y="808359"/>
            <a:ext cx="11595823" cy="5637046"/>
          </a:xfrm>
          <a:prstGeom prst="rect">
            <a:avLst/>
          </a:prstGeom>
        </p:spPr>
        <p:txBody>
          <a:bodyPr vert="horz" lIns="91440" tIns="45720" rIns="91440" bIns="45720" rtlCol="0" anchor="ctr">
            <a:norm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latinLnBrk="1">
              <a:lnSpc>
                <a:spcPct val="150000"/>
              </a:lnSpc>
              <a:spcBef>
                <a:spcPts val="0"/>
              </a:spcBef>
              <a:spcAft>
                <a:spcPts val="0"/>
              </a:spcAft>
            </a:pPr>
            <a:r>
              <a:rPr lang="zh-CN" altLang="zh-CN" sz="2400" dirty="0">
                <a:latin typeface="Cambria" panose="02040503050406030204" pitchFamily="18" charset="0"/>
              </a:rPr>
              <a:t>手写体数字图像</a:t>
            </a:r>
            <a:r>
              <a:rPr lang="zh-CN" altLang="zh-CN" sz="2400" dirty="0" smtClean="0">
                <a:latin typeface="Cambria" panose="02040503050406030204" pitchFamily="18" charset="0"/>
              </a:rPr>
              <a:t>识别</a:t>
            </a:r>
            <a:r>
              <a:rPr lang="zh-CN" altLang="en-US" sz="2400" dirty="0" smtClean="0">
                <a:latin typeface="Cambria" panose="02040503050406030204" pitchFamily="18" charset="0"/>
              </a:rPr>
              <a:t>实现过程</a:t>
            </a:r>
            <a:endParaRPr lang="en-US" altLang="zh-CN" sz="2400" dirty="0" smtClean="0">
              <a:latin typeface="Cambria" panose="02040503050406030204" pitchFamily="18" charset="0"/>
              <a:ea typeface="Cambria" panose="02040503050406030204" pitchFamily="18" charset="0"/>
            </a:endParaRPr>
          </a:p>
          <a:p>
            <a:pPr lvl="1" latinLnBrk="1">
              <a:lnSpc>
                <a:spcPct val="150000"/>
              </a:lnSpc>
              <a:spcBef>
                <a:spcPts val="0"/>
              </a:spcBef>
              <a:spcAft>
                <a:spcPts val="0"/>
              </a:spcAft>
            </a:pPr>
            <a:r>
              <a:rPr lang="zh-CN" altLang="zh-CN" sz="2400" dirty="0">
                <a:latin typeface="Cambria" panose="02040503050406030204" pitchFamily="18" charset="0"/>
              </a:rPr>
              <a:t>首先，使用</a:t>
            </a:r>
            <a:r>
              <a:rPr lang="en-US" altLang="zh-CN" sz="2400" dirty="0" err="1">
                <a:latin typeface="Cambria" panose="02040503050406030204" pitchFamily="18" charset="0"/>
                <a:ea typeface="Cambria" panose="02040503050406030204" pitchFamily="18" charset="0"/>
              </a:rPr>
              <a:t>sklearn</a:t>
            </a:r>
            <a:r>
              <a:rPr lang="zh-CN" altLang="zh-CN" sz="2400" dirty="0">
                <a:latin typeface="Cambria" panose="02040503050406030204" pitchFamily="18" charset="0"/>
              </a:rPr>
              <a:t>中自带的</a:t>
            </a:r>
            <a:r>
              <a:rPr lang="zh-CN" altLang="zh-CN" sz="2400" b="1" dirty="0">
                <a:latin typeface="Cambria" panose="02040503050406030204" pitchFamily="18" charset="0"/>
              </a:rPr>
              <a:t>手写数字数据集</a:t>
            </a:r>
            <a:r>
              <a:rPr lang="en-US" altLang="zh-CN" sz="2400" dirty="0" err="1">
                <a:latin typeface="Cambria" panose="02040503050406030204" pitchFamily="18" charset="0"/>
                <a:ea typeface="Cambria" panose="02040503050406030204" pitchFamily="18" charset="0"/>
              </a:rPr>
              <a:t>load_digits</a:t>
            </a:r>
            <a:r>
              <a:rPr lang="zh-CN" altLang="zh-CN" sz="2400" dirty="0">
                <a:latin typeface="Cambria" panose="02040503050406030204" pitchFamily="18" charset="0"/>
              </a:rPr>
              <a:t>获得手写数字图像数据并存于</a:t>
            </a:r>
            <a:r>
              <a:rPr lang="en-US" altLang="zh-CN" sz="2400" dirty="0">
                <a:latin typeface="Cambria" panose="02040503050406030204" pitchFamily="18" charset="0"/>
                <a:ea typeface="Cambria" panose="02040503050406030204" pitchFamily="18" charset="0"/>
              </a:rPr>
              <a:t>digits</a:t>
            </a:r>
            <a:r>
              <a:rPr lang="zh-CN" altLang="zh-CN" sz="2400" dirty="0">
                <a:latin typeface="Cambria" panose="02040503050406030204" pitchFamily="18" charset="0"/>
              </a:rPr>
              <a:t>变量中。利用</a:t>
            </a:r>
            <a:r>
              <a:rPr lang="en-US" altLang="zh-CN" sz="2400" dirty="0" err="1">
                <a:latin typeface="Cambria" panose="02040503050406030204" pitchFamily="18" charset="0"/>
                <a:ea typeface="Cambria" panose="02040503050406030204" pitchFamily="18" charset="0"/>
              </a:rPr>
              <a:t>train_test_split</a:t>
            </a:r>
            <a:r>
              <a:rPr lang="zh-CN" altLang="zh-CN" sz="2400" dirty="0">
                <a:latin typeface="Cambria" panose="02040503050406030204" pitchFamily="18" charset="0"/>
              </a:rPr>
              <a:t>方法分割数据，并随机选取</a:t>
            </a:r>
            <a:r>
              <a:rPr lang="en-US" altLang="zh-CN" sz="2400" dirty="0">
                <a:latin typeface="Cambria" panose="02040503050406030204" pitchFamily="18" charset="0"/>
                <a:ea typeface="Cambria" panose="02040503050406030204" pitchFamily="18" charset="0"/>
              </a:rPr>
              <a:t>80%</a:t>
            </a:r>
            <a:r>
              <a:rPr lang="zh-CN" altLang="zh-CN" sz="2400" dirty="0">
                <a:latin typeface="Cambria" panose="02040503050406030204" pitchFamily="18" charset="0"/>
              </a:rPr>
              <a:t>数据作为训练样本</a:t>
            </a:r>
            <a:r>
              <a:rPr lang="en-US" altLang="zh-CN" sz="2400" dirty="0" err="1">
                <a:latin typeface="Cambria" panose="02040503050406030204" pitchFamily="18" charset="0"/>
                <a:ea typeface="Cambria" panose="02040503050406030204" pitchFamily="18" charset="0"/>
              </a:rPr>
              <a:t>x_train</a:t>
            </a:r>
            <a:r>
              <a:rPr lang="zh-CN" altLang="zh-CN" sz="2400" dirty="0">
                <a:latin typeface="Cambria" panose="02040503050406030204" pitchFamily="18" charset="0"/>
              </a:rPr>
              <a:t>，</a:t>
            </a:r>
            <a:r>
              <a:rPr lang="en-US" altLang="zh-CN" sz="2400" dirty="0">
                <a:latin typeface="Cambria" panose="02040503050406030204" pitchFamily="18" charset="0"/>
                <a:ea typeface="Cambria" panose="02040503050406030204" pitchFamily="18" charset="0"/>
              </a:rPr>
              <a:t>20%</a:t>
            </a:r>
            <a:r>
              <a:rPr lang="zh-CN" altLang="zh-CN" sz="2400" dirty="0">
                <a:latin typeface="Cambria" panose="02040503050406030204" pitchFamily="18" charset="0"/>
              </a:rPr>
              <a:t>作为测试样本</a:t>
            </a:r>
            <a:r>
              <a:rPr lang="en-US" altLang="zh-CN" sz="2400" dirty="0" err="1">
                <a:latin typeface="Cambria" panose="02040503050406030204" pitchFamily="18" charset="0"/>
                <a:ea typeface="Cambria" panose="02040503050406030204" pitchFamily="18" charset="0"/>
              </a:rPr>
              <a:t>y_train</a:t>
            </a:r>
            <a:r>
              <a:rPr lang="zh-CN" altLang="zh-CN" sz="2400" dirty="0">
                <a:latin typeface="Cambria" panose="02040503050406030204" pitchFamily="18" charset="0"/>
              </a:rPr>
              <a:t>；从</a:t>
            </a:r>
            <a:r>
              <a:rPr lang="en-US" altLang="zh-CN" sz="2400" dirty="0" err="1">
                <a:latin typeface="Cambria" panose="02040503050406030204" pitchFamily="18" charset="0"/>
                <a:ea typeface="Cambria" panose="02040503050406030204" pitchFamily="18" charset="0"/>
              </a:rPr>
              <a:t>sklearn.preprocessing</a:t>
            </a:r>
            <a:r>
              <a:rPr lang="zh-CN" altLang="zh-CN" sz="2400" dirty="0">
                <a:latin typeface="Cambria" panose="02040503050406030204" pitchFamily="18" charset="0"/>
              </a:rPr>
              <a:t>里导入数据标准化模块</a:t>
            </a:r>
            <a:r>
              <a:rPr lang="en-US" altLang="zh-CN" sz="2400" dirty="0" err="1">
                <a:latin typeface="Cambria" panose="02040503050406030204" pitchFamily="18" charset="0"/>
                <a:ea typeface="Cambria" panose="02040503050406030204" pitchFamily="18" charset="0"/>
              </a:rPr>
              <a:t>StandardScaler</a:t>
            </a:r>
            <a:r>
              <a:rPr lang="zh-CN" altLang="zh-CN" sz="2400" dirty="0">
                <a:latin typeface="Cambria" panose="02040503050406030204" pitchFamily="18" charset="0"/>
              </a:rPr>
              <a:t>，对训练和测试的特征数据进行</a:t>
            </a:r>
            <a:r>
              <a:rPr lang="zh-CN" altLang="zh-CN" sz="2400" b="1" dirty="0">
                <a:latin typeface="Cambria" panose="02040503050406030204" pitchFamily="18" charset="0"/>
              </a:rPr>
              <a:t>标准化</a:t>
            </a:r>
            <a:r>
              <a:rPr lang="zh-CN" altLang="zh-CN" sz="2400" dirty="0">
                <a:latin typeface="Cambria" panose="02040503050406030204" pitchFamily="18" charset="0"/>
              </a:rPr>
              <a:t>。</a:t>
            </a:r>
            <a:endParaRPr lang="zh-CN" altLang="zh-CN" sz="2400" dirty="0">
              <a:latin typeface="Cambria" panose="02040503050406030204" pitchFamily="18" charset="0"/>
            </a:endParaRPr>
          </a:p>
          <a:p>
            <a:pPr lvl="1" latinLnBrk="1">
              <a:lnSpc>
                <a:spcPct val="150000"/>
              </a:lnSpc>
              <a:spcBef>
                <a:spcPts val="0"/>
              </a:spcBef>
              <a:spcAft>
                <a:spcPts val="0"/>
              </a:spcAft>
            </a:pPr>
            <a:r>
              <a:rPr lang="zh-CN" altLang="zh-CN" sz="2400" dirty="0">
                <a:latin typeface="Cambria" panose="02040503050406030204" pitchFamily="18" charset="0"/>
              </a:rPr>
              <a:t>然后，分别训练两个以支持向量机分类器</a:t>
            </a:r>
            <a:r>
              <a:rPr lang="en-US" altLang="zh-CN" sz="2400" dirty="0">
                <a:latin typeface="Cambria" panose="02040503050406030204" pitchFamily="18" charset="0"/>
                <a:ea typeface="Cambria" panose="02040503050406030204" pitchFamily="18" charset="0"/>
              </a:rPr>
              <a:t>SVC</a:t>
            </a:r>
            <a:r>
              <a:rPr lang="zh-CN" altLang="zh-CN" sz="2400" dirty="0">
                <a:latin typeface="Cambria" panose="02040503050406030204" pitchFamily="18" charset="0"/>
              </a:rPr>
              <a:t>为基础的手写数字图像识别模型，其中一个模型使用原始维度即</a:t>
            </a:r>
            <a:r>
              <a:rPr lang="en-US" altLang="zh-CN" sz="2400" dirty="0">
                <a:latin typeface="Cambria" panose="02040503050406030204" pitchFamily="18" charset="0"/>
                <a:ea typeface="Cambria" panose="02040503050406030204" pitchFamily="18" charset="0"/>
              </a:rPr>
              <a:t>64</a:t>
            </a:r>
            <a:r>
              <a:rPr lang="zh-CN" altLang="zh-CN" sz="2400" dirty="0">
                <a:latin typeface="Cambria" panose="02040503050406030204" pitchFamily="18" charset="0"/>
              </a:rPr>
              <a:t>维的像素特征识别，另一个采用</a:t>
            </a:r>
            <a:r>
              <a:rPr lang="en-US" altLang="zh-CN" sz="2400" dirty="0">
                <a:latin typeface="Cambria" panose="02040503050406030204" pitchFamily="18" charset="0"/>
                <a:ea typeface="Cambria" panose="02040503050406030204" pitchFamily="18" charset="0"/>
              </a:rPr>
              <a:t>PCA</a:t>
            </a:r>
            <a:r>
              <a:rPr lang="zh-CN" altLang="zh-CN" sz="2400" dirty="0">
                <a:latin typeface="Cambria" panose="02040503050406030204" pitchFamily="18" charset="0"/>
              </a:rPr>
              <a:t>降维重构之后的低维特征来识别图像特征，其中</a:t>
            </a:r>
            <a:r>
              <a:rPr lang="en-US" altLang="zh-CN" sz="2400" dirty="0" err="1">
                <a:latin typeface="Cambria" panose="02040503050406030204" pitchFamily="18" charset="0"/>
                <a:ea typeface="Cambria" panose="02040503050406030204" pitchFamily="18" charset="0"/>
              </a:rPr>
              <a:t>n_components</a:t>
            </a:r>
            <a:r>
              <a:rPr lang="zh-CN" altLang="zh-CN" sz="2400" dirty="0">
                <a:latin typeface="Cambria" panose="02040503050406030204" pitchFamily="18" charset="0"/>
              </a:rPr>
              <a:t>设置为</a:t>
            </a:r>
            <a:r>
              <a:rPr lang="en-US" altLang="zh-CN" sz="2400" dirty="0">
                <a:latin typeface="Cambria" panose="02040503050406030204" pitchFamily="18" charset="0"/>
                <a:ea typeface="Cambria" panose="02040503050406030204" pitchFamily="18" charset="0"/>
              </a:rPr>
              <a:t>10</a:t>
            </a:r>
            <a:r>
              <a:rPr lang="zh-CN" altLang="zh-CN" sz="2400" dirty="0">
                <a:latin typeface="Cambria" panose="02040503050406030204" pitchFamily="18" charset="0"/>
              </a:rPr>
              <a:t>，也就是将</a:t>
            </a:r>
            <a:r>
              <a:rPr lang="en-US" altLang="zh-CN" sz="2400" dirty="0">
                <a:latin typeface="Cambria" panose="02040503050406030204" pitchFamily="18" charset="0"/>
                <a:ea typeface="Cambria" panose="02040503050406030204" pitchFamily="18" charset="0"/>
              </a:rPr>
              <a:t>64</a:t>
            </a:r>
            <a:r>
              <a:rPr lang="zh-CN" altLang="zh-CN" sz="2400" dirty="0">
                <a:latin typeface="Cambria" panose="02040503050406030204" pitchFamily="18" charset="0"/>
              </a:rPr>
              <a:t>维降到</a:t>
            </a:r>
            <a:r>
              <a:rPr lang="en-US" altLang="zh-CN" sz="2400" dirty="0">
                <a:latin typeface="Cambria" panose="02040503050406030204" pitchFamily="18" charset="0"/>
                <a:ea typeface="Cambria" panose="02040503050406030204" pitchFamily="18" charset="0"/>
              </a:rPr>
              <a:t>10</a:t>
            </a:r>
            <a:r>
              <a:rPr lang="zh-CN" altLang="zh-CN" sz="2400" dirty="0">
                <a:latin typeface="Cambria" panose="02040503050406030204" pitchFamily="18" charset="0"/>
              </a:rPr>
              <a:t>维。预测出分类结果后，分别比较两个模型的准确率评分以及分类报告。</a:t>
            </a:r>
            <a:endParaRPr lang="zh-CN" altLang="zh-CN" sz="2400" dirty="0">
              <a:latin typeface="Cambria" panose="02040503050406030204" pitchFamily="18" charset="0"/>
            </a:endParaRPr>
          </a:p>
          <a:p>
            <a:pPr lvl="1" latinLnBrk="1">
              <a:lnSpc>
                <a:spcPct val="150000"/>
              </a:lnSpc>
              <a:spcBef>
                <a:spcPts val="0"/>
              </a:spcBef>
              <a:spcAft>
                <a:spcPts val="0"/>
              </a:spcAft>
            </a:pPr>
            <a:r>
              <a:rPr lang="zh-CN" altLang="zh-CN" sz="2400" dirty="0">
                <a:latin typeface="Cambria" panose="02040503050406030204" pitchFamily="18" charset="0"/>
              </a:rPr>
              <a:t>最后，展示前</a:t>
            </a:r>
            <a:r>
              <a:rPr lang="en-US" altLang="zh-CN" sz="2400" dirty="0">
                <a:latin typeface="Cambria" panose="02040503050406030204" pitchFamily="18" charset="0"/>
                <a:ea typeface="Cambria" panose="02040503050406030204" pitchFamily="18" charset="0"/>
              </a:rPr>
              <a:t>100</a:t>
            </a:r>
            <a:r>
              <a:rPr lang="zh-CN" altLang="zh-CN" sz="2400" dirty="0">
                <a:latin typeface="Cambria" panose="02040503050406030204" pitchFamily="18" charset="0"/>
              </a:rPr>
              <a:t>个测试样本数据以及</a:t>
            </a:r>
            <a:r>
              <a:rPr lang="en-US" altLang="zh-CN" sz="2400" dirty="0">
                <a:latin typeface="Cambria" panose="02040503050406030204" pitchFamily="18" charset="0"/>
                <a:ea typeface="Cambria" panose="02040503050406030204" pitchFamily="18" charset="0"/>
              </a:rPr>
              <a:t>PCA</a:t>
            </a:r>
            <a:r>
              <a:rPr lang="zh-CN" altLang="zh-CN" sz="2400" dirty="0">
                <a:latin typeface="Cambria" panose="02040503050406030204" pitchFamily="18" charset="0"/>
              </a:rPr>
              <a:t>降维后的</a:t>
            </a:r>
            <a:r>
              <a:rPr lang="en-US" altLang="zh-CN" sz="2400" dirty="0">
                <a:latin typeface="Cambria" panose="02040503050406030204" pitchFamily="18" charset="0"/>
                <a:ea typeface="Cambria" panose="02040503050406030204" pitchFamily="18" charset="0"/>
              </a:rPr>
              <a:t>SVC</a:t>
            </a:r>
            <a:r>
              <a:rPr lang="zh-CN" altLang="zh-CN" sz="2400" dirty="0">
                <a:latin typeface="Cambria" panose="02040503050406030204" pitchFamily="18" charset="0"/>
              </a:rPr>
              <a:t>分类</a:t>
            </a:r>
            <a:r>
              <a:rPr lang="zh-CN" altLang="zh-CN" sz="2400" dirty="0" smtClean="0">
                <a:latin typeface="Cambria" panose="02040503050406030204" pitchFamily="18" charset="0"/>
              </a:rPr>
              <a:t>结果</a:t>
            </a:r>
            <a:r>
              <a:rPr lang="zh-CN" altLang="en-US"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p:txBody>
      </p:sp>
      <p:sp>
        <p:nvSpPr>
          <p:cNvPr id="5" name="标题 1"/>
          <p:cNvSpPr>
            <a:spLocks noGrp="1"/>
          </p:cNvSpPr>
          <p:nvPr>
            <p:ph type="title"/>
          </p:nvPr>
        </p:nvSpPr>
        <p:spPr>
          <a:xfrm>
            <a:off x="652315" y="246645"/>
            <a:ext cx="10272890" cy="514259"/>
          </a:xfrm>
        </p:spPr>
        <p:txBody>
          <a:bodyPr/>
          <a:lstStyle/>
          <a:p>
            <a:r>
              <a:rPr lang="en-US" altLang="zh-CN" sz="4000" dirty="0"/>
              <a:t>PCA</a:t>
            </a:r>
            <a:r>
              <a:rPr lang="zh-CN" altLang="en-US" sz="4000" dirty="0"/>
              <a:t>算法</a:t>
            </a:r>
            <a:r>
              <a:rPr lang="zh-CN" altLang="en-US" sz="4000" dirty="0" smtClean="0"/>
              <a:t>实例</a:t>
            </a:r>
            <a:r>
              <a:rPr lang="en-US" altLang="zh-CN" sz="4000" dirty="0" smtClean="0"/>
              <a:t>2</a:t>
            </a:r>
            <a:endParaRPr lang="zh-CN" altLang="en-US" sz="4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739440" y="802249"/>
            <a:ext cx="3190508" cy="504056"/>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en-US" sz="2400" dirty="0" smtClean="0">
                <a:latin typeface="Cambria" panose="02040503050406030204" pitchFamily="18" charset="0"/>
              </a:rPr>
              <a:t>实现代码</a:t>
            </a:r>
            <a:r>
              <a:rPr lang="en-US" altLang="zh-CN" sz="2400" dirty="0" smtClean="0">
                <a:latin typeface="Cambria" panose="02040503050406030204" pitchFamily="18" charset="0"/>
                <a:ea typeface="Cambria" panose="02040503050406030204" pitchFamily="18" charset="0"/>
              </a:rPr>
              <a:t>                         </a:t>
            </a:r>
            <a:endParaRPr lang="en-US" altLang="zh-CN" sz="2400" dirty="0" smtClean="0">
              <a:latin typeface="Cambria" panose="02040503050406030204" pitchFamily="18" charset="0"/>
              <a:ea typeface="Cambria" panose="02040503050406030204" pitchFamily="18" charset="0"/>
            </a:endParaRPr>
          </a:p>
        </p:txBody>
      </p:sp>
      <p:pic>
        <p:nvPicPr>
          <p:cNvPr id="3" name="图片 2"/>
          <p:cNvPicPr>
            <a:picLocks noChangeAspect="1"/>
          </p:cNvPicPr>
          <p:nvPr/>
        </p:nvPicPr>
        <p:blipFill>
          <a:blip r:embed="rId1"/>
          <a:stretch>
            <a:fillRect/>
          </a:stretch>
        </p:blipFill>
        <p:spPr>
          <a:xfrm>
            <a:off x="882182" y="1275163"/>
            <a:ext cx="10955283" cy="5130285"/>
          </a:xfrm>
          <a:prstGeom prst="rect">
            <a:avLst/>
          </a:prstGeom>
        </p:spPr>
      </p:pic>
      <p:sp>
        <p:nvSpPr>
          <p:cNvPr id="6" name="标题 1"/>
          <p:cNvSpPr>
            <a:spLocks noGrp="1"/>
          </p:cNvSpPr>
          <p:nvPr>
            <p:ph type="title"/>
          </p:nvPr>
        </p:nvSpPr>
        <p:spPr>
          <a:xfrm>
            <a:off x="652315" y="246645"/>
            <a:ext cx="10272890" cy="514259"/>
          </a:xfrm>
        </p:spPr>
        <p:txBody>
          <a:bodyPr/>
          <a:lstStyle/>
          <a:p>
            <a:r>
              <a:rPr lang="en-US" altLang="zh-CN" sz="4000" dirty="0"/>
              <a:t>PCA</a:t>
            </a:r>
            <a:r>
              <a:rPr lang="zh-CN" altLang="en-US" sz="4000" dirty="0"/>
              <a:t>算法</a:t>
            </a:r>
            <a:r>
              <a:rPr lang="zh-CN" altLang="en-US" sz="4000" dirty="0" smtClean="0"/>
              <a:t>实例</a:t>
            </a:r>
            <a:r>
              <a:rPr lang="en-US" altLang="zh-CN" sz="4000" dirty="0" smtClean="0"/>
              <a:t>2</a:t>
            </a:r>
            <a:endParaRPr lang="zh-CN" altLang="en-US" sz="4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a:xfrm>
            <a:off x="739440" y="882057"/>
            <a:ext cx="3714623" cy="504056"/>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en-US" sz="2400" dirty="0" smtClean="0">
                <a:latin typeface="Cambria" panose="02040503050406030204" pitchFamily="18" charset="0"/>
              </a:rPr>
              <a:t>实现代码（续上）</a:t>
            </a:r>
            <a:r>
              <a:rPr lang="en-US" altLang="zh-CN" sz="2400" dirty="0" smtClean="0">
                <a:latin typeface="Cambria" panose="02040503050406030204" pitchFamily="18" charset="0"/>
                <a:ea typeface="Cambria" panose="02040503050406030204" pitchFamily="18" charset="0"/>
              </a:rPr>
              <a:t>                         </a:t>
            </a:r>
            <a:endParaRPr lang="en-US" altLang="zh-CN" sz="2400" dirty="0" smtClean="0">
              <a:latin typeface="Cambria" panose="02040503050406030204" pitchFamily="18" charset="0"/>
              <a:ea typeface="Cambria" panose="02040503050406030204" pitchFamily="18" charset="0"/>
            </a:endParaRPr>
          </a:p>
        </p:txBody>
      </p:sp>
      <p:pic>
        <p:nvPicPr>
          <p:cNvPr id="5" name="图片 4"/>
          <p:cNvPicPr>
            <a:picLocks noChangeAspect="1"/>
          </p:cNvPicPr>
          <p:nvPr/>
        </p:nvPicPr>
        <p:blipFill>
          <a:blip r:embed="rId1"/>
          <a:stretch>
            <a:fillRect/>
          </a:stretch>
        </p:blipFill>
        <p:spPr>
          <a:xfrm>
            <a:off x="1127152" y="1407724"/>
            <a:ext cx="10487486" cy="5232818"/>
          </a:xfrm>
          <a:prstGeom prst="rect">
            <a:avLst/>
          </a:prstGeom>
        </p:spPr>
      </p:pic>
      <p:sp>
        <p:nvSpPr>
          <p:cNvPr id="7" name="标题 1"/>
          <p:cNvSpPr>
            <a:spLocks noGrp="1"/>
          </p:cNvSpPr>
          <p:nvPr>
            <p:ph type="title"/>
          </p:nvPr>
        </p:nvSpPr>
        <p:spPr>
          <a:xfrm>
            <a:off x="652315" y="246645"/>
            <a:ext cx="10272890" cy="514259"/>
          </a:xfrm>
        </p:spPr>
        <p:txBody>
          <a:bodyPr/>
          <a:lstStyle/>
          <a:p>
            <a:r>
              <a:rPr lang="en-US" altLang="zh-CN" sz="4000" dirty="0"/>
              <a:t>PCA</a:t>
            </a:r>
            <a:r>
              <a:rPr lang="zh-CN" altLang="en-US" sz="4000" dirty="0"/>
              <a:t>算法</a:t>
            </a:r>
            <a:r>
              <a:rPr lang="zh-CN" altLang="en-US" sz="4000" dirty="0" smtClean="0"/>
              <a:t>实例</a:t>
            </a:r>
            <a:r>
              <a:rPr lang="en-US" altLang="zh-CN" sz="4000" dirty="0" smtClean="0"/>
              <a:t>2</a:t>
            </a:r>
            <a:endParaRPr lang="zh-CN" altLang="en-US" sz="4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576113" y="1484784"/>
            <a:ext cx="4697137" cy="4896544"/>
          </a:xfrm>
          <a:prstGeom prst="rect">
            <a:avLst/>
          </a:prstGeom>
          <a:solidFill>
            <a:schemeClr val="accent3">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mbria" panose="02040503050406030204" pitchFamily="18" charset="0"/>
            </a:endParaRPr>
          </a:p>
        </p:txBody>
      </p:sp>
      <p:sp>
        <p:nvSpPr>
          <p:cNvPr id="7" name="内容占位符 3"/>
          <p:cNvSpPr>
            <a:spLocks noGrp="1"/>
          </p:cNvSpPr>
          <p:nvPr>
            <p:ph sz="half" idx="4294967295"/>
          </p:nvPr>
        </p:nvSpPr>
        <p:spPr>
          <a:xfrm>
            <a:off x="1576113" y="1628800"/>
            <a:ext cx="4697137" cy="4752528"/>
          </a:xfrm>
          <a:prstGeom prst="rect">
            <a:avLst/>
          </a:prstGeom>
        </p:spPr>
        <p:txBody>
          <a:bodyPr>
            <a:normAutofit fontScale="85000" lnSpcReduction="20000"/>
          </a:bodyPr>
          <a:lstStyle/>
          <a:p>
            <a:pPr marL="0" indent="0">
              <a:buNone/>
            </a:pPr>
            <a:r>
              <a:rPr lang="en-US" altLang="zh-CN" sz="1800" dirty="0" smtClean="0">
                <a:latin typeface="Cambria" panose="02040503050406030204" pitchFamily="18" charset="0"/>
                <a:ea typeface="Cambria" panose="02040503050406030204" pitchFamily="18" charset="0"/>
              </a:rPr>
              <a:t>The Accuracy of SVC is 0.988888888889</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classification report of SVC</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precision    recall  f1-score   support</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0       1.00      1.00      1.00        29</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1       0.98      1.00      0.99        46</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2       1.00      0.97      0.99        37</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3       1.00      1.00      1.00        39</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4       0.96      1.00      0.98        25</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5       0.97      0.97      0.97        37</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6       0.98      1.00      0.99        41</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7       1.00      1.00      1.00        29</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8       1.00      0.98      0.99        44</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9       1.00      0.97      0.98        33</a:t>
            </a:r>
            <a:endParaRPr lang="zh-CN" altLang="zh-CN" sz="1800" dirty="0" smtClean="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 </a:t>
            </a:r>
            <a:endParaRPr lang="zh-CN" altLang="zh-CN" sz="1800" dirty="0" smtClean="0">
              <a:latin typeface="Cambria" panose="02040503050406030204" pitchFamily="18" charset="0"/>
            </a:endParaRPr>
          </a:p>
          <a:p>
            <a:pPr marL="0" indent="0">
              <a:buNone/>
            </a:pPr>
            <a:r>
              <a:rPr lang="en-US" altLang="zh-CN" sz="1800" dirty="0" err="1" smtClean="0">
                <a:latin typeface="Cambria" panose="02040503050406030204" pitchFamily="18" charset="0"/>
                <a:ea typeface="Cambria" panose="02040503050406030204" pitchFamily="18" charset="0"/>
              </a:rPr>
              <a:t>avg</a:t>
            </a:r>
            <a:r>
              <a:rPr lang="en-US" altLang="zh-CN" sz="1800" dirty="0" smtClean="0">
                <a:latin typeface="Cambria" panose="02040503050406030204" pitchFamily="18" charset="0"/>
                <a:ea typeface="Cambria" panose="02040503050406030204" pitchFamily="18" charset="0"/>
              </a:rPr>
              <a:t> / total       0.99      0.99      0.99       360</a:t>
            </a:r>
            <a:endParaRPr lang="zh-CN" altLang="en-US" sz="1800" dirty="0">
              <a:latin typeface="Cambria" panose="02040503050406030204" pitchFamily="18" charset="0"/>
            </a:endParaRPr>
          </a:p>
        </p:txBody>
      </p:sp>
      <p:sp>
        <p:nvSpPr>
          <p:cNvPr id="10" name="文本占位符 2"/>
          <p:cNvSpPr txBox="1"/>
          <p:nvPr/>
        </p:nvSpPr>
        <p:spPr>
          <a:xfrm>
            <a:off x="1398862" y="980728"/>
            <a:ext cx="4608388" cy="504056"/>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en-US" sz="2400" dirty="0" smtClean="0">
                <a:latin typeface="Cambria" panose="02040503050406030204" pitchFamily="18" charset="0"/>
              </a:rPr>
              <a:t>运行结果如下</a:t>
            </a:r>
            <a:endParaRPr lang="zh-CN" altLang="en-US" sz="2400" dirty="0">
              <a:latin typeface="Cambria" panose="02040503050406030204" pitchFamily="18" charset="0"/>
            </a:endParaRPr>
          </a:p>
        </p:txBody>
      </p:sp>
      <p:sp>
        <p:nvSpPr>
          <p:cNvPr id="12" name="矩形 11"/>
          <p:cNvSpPr/>
          <p:nvPr/>
        </p:nvSpPr>
        <p:spPr>
          <a:xfrm>
            <a:off x="6627752" y="1484784"/>
            <a:ext cx="4697137" cy="4896544"/>
          </a:xfrm>
          <a:prstGeom prst="rect">
            <a:avLst/>
          </a:prstGeom>
          <a:solidFill>
            <a:schemeClr val="accent3">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mbria" panose="02040503050406030204" pitchFamily="18" charset="0"/>
            </a:endParaRPr>
          </a:p>
        </p:txBody>
      </p:sp>
      <p:sp>
        <p:nvSpPr>
          <p:cNvPr id="13" name="内容占位符 3"/>
          <p:cNvSpPr>
            <a:spLocks noGrp="1"/>
          </p:cNvSpPr>
          <p:nvPr>
            <p:ph sz="half" idx="4294967295"/>
          </p:nvPr>
        </p:nvSpPr>
        <p:spPr>
          <a:xfrm>
            <a:off x="6627752" y="1628800"/>
            <a:ext cx="4697137" cy="4752528"/>
          </a:xfrm>
          <a:prstGeom prst="rect">
            <a:avLst/>
          </a:prstGeom>
        </p:spPr>
        <p:txBody>
          <a:bodyPr>
            <a:normAutofit fontScale="85000" lnSpcReduction="20000"/>
          </a:bodyPr>
          <a:lstStyle/>
          <a:p>
            <a:pPr marL="0" indent="0">
              <a:buNone/>
            </a:pPr>
            <a:r>
              <a:rPr lang="en-US" altLang="zh-CN" sz="1800" dirty="0">
                <a:latin typeface="Cambria" panose="02040503050406030204" pitchFamily="18" charset="0"/>
                <a:ea typeface="Cambria" panose="02040503050406030204" pitchFamily="18" charset="0"/>
              </a:rPr>
              <a:t>The Accuracy of PCA_SVC is  0.95</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classification report of PCA_SVC</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precision    recall  f1-score   support</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0       1.00      1.00      1.00        29</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1       0.98      0.98      0.98        46</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2       1.00      1.00      1.00        37</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3       0.91      0.82      0.86        39</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4       1.00      0.96      0.98        25</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5       0.92      0.95      0.93        37</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6       0.98      1.00      0.99        41</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7       0.97      1.00      0.98        29</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8       0.89      0.91      0.90        44</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9       0.88      0.91      0.90        33</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a:t>
            </a:r>
            <a:endParaRPr lang="zh-CN" altLang="zh-CN" sz="1800" dirty="0">
              <a:latin typeface="Cambria" panose="02040503050406030204" pitchFamily="18" charset="0"/>
            </a:endParaRPr>
          </a:p>
          <a:p>
            <a:pPr marL="0" indent="0">
              <a:buNone/>
            </a:pPr>
            <a:r>
              <a:rPr lang="en-US" altLang="zh-CN" sz="1800" dirty="0" err="1">
                <a:latin typeface="Cambria" panose="02040503050406030204" pitchFamily="18" charset="0"/>
                <a:ea typeface="Cambria" panose="02040503050406030204" pitchFamily="18" charset="0"/>
              </a:rPr>
              <a:t>avg</a:t>
            </a:r>
            <a:r>
              <a:rPr lang="en-US" altLang="zh-CN" sz="1800" dirty="0">
                <a:latin typeface="Cambria" panose="02040503050406030204" pitchFamily="18" charset="0"/>
                <a:ea typeface="Cambria" panose="02040503050406030204" pitchFamily="18" charset="0"/>
              </a:rPr>
              <a:t> / total       0.95      0.95      0.95       </a:t>
            </a:r>
            <a:r>
              <a:rPr lang="en-US" altLang="zh-CN" sz="1800" dirty="0" smtClean="0">
                <a:latin typeface="Cambria" panose="02040503050406030204" pitchFamily="18" charset="0"/>
                <a:ea typeface="Cambria" panose="02040503050406030204" pitchFamily="18" charset="0"/>
              </a:rPr>
              <a:t>360</a:t>
            </a:r>
            <a:endParaRPr lang="zh-CN" altLang="zh-CN" sz="1800" dirty="0">
              <a:latin typeface="Cambria" panose="02040503050406030204" pitchFamily="18" charset="0"/>
            </a:endParaRPr>
          </a:p>
        </p:txBody>
      </p:sp>
      <p:sp>
        <p:nvSpPr>
          <p:cNvPr id="11" name="标题 1"/>
          <p:cNvSpPr>
            <a:spLocks noGrp="1"/>
          </p:cNvSpPr>
          <p:nvPr>
            <p:ph type="title"/>
          </p:nvPr>
        </p:nvSpPr>
        <p:spPr>
          <a:xfrm>
            <a:off x="652315" y="246645"/>
            <a:ext cx="10272890" cy="514259"/>
          </a:xfrm>
        </p:spPr>
        <p:txBody>
          <a:bodyPr/>
          <a:lstStyle/>
          <a:p>
            <a:r>
              <a:rPr lang="en-US" altLang="zh-CN" sz="4000" dirty="0"/>
              <a:t>PCA</a:t>
            </a:r>
            <a:r>
              <a:rPr lang="zh-CN" altLang="en-US" sz="4000" dirty="0"/>
              <a:t>算法</a:t>
            </a:r>
            <a:r>
              <a:rPr lang="zh-CN" altLang="en-US" sz="4000" dirty="0" smtClean="0"/>
              <a:t>实例</a:t>
            </a:r>
            <a:r>
              <a:rPr lang="en-US" altLang="zh-CN" sz="4000" dirty="0" smtClean="0"/>
              <a:t>2</a:t>
            </a:r>
            <a:endParaRPr lang="zh-CN" altLang="en-US" sz="4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332679" y="980728"/>
            <a:ext cx="4697137" cy="504056"/>
          </a:xfrm>
          <a:prstGeom prst="rect">
            <a:avLst/>
          </a:prstGeom>
        </p:spPr>
        <p:txBody>
          <a:bodyPr vert="horz" lIns="91440" tIns="45720" rIns="91440" bIns="45720" rtlCol="0" anchor="ctr">
            <a:norm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PCA</a:t>
            </a:r>
            <a:r>
              <a:rPr lang="zh-CN" altLang="en-US" dirty="0" smtClean="0">
                <a:latin typeface="Cambria" panose="02040503050406030204" pitchFamily="18" charset="0"/>
              </a:rPr>
              <a:t>降维后的</a:t>
            </a:r>
            <a:r>
              <a:rPr lang="en-US" altLang="zh-CN" dirty="0" smtClean="0">
                <a:latin typeface="Cambria" panose="02040503050406030204" pitchFamily="18" charset="0"/>
                <a:ea typeface="Cambria" panose="02040503050406030204" pitchFamily="18" charset="0"/>
              </a:rPr>
              <a:t>SVC</a:t>
            </a:r>
            <a:r>
              <a:rPr lang="zh-CN" altLang="en-US" dirty="0" smtClean="0">
                <a:latin typeface="Cambria" panose="02040503050406030204" pitchFamily="18" charset="0"/>
              </a:rPr>
              <a:t>分类结果</a:t>
            </a:r>
            <a:r>
              <a:rPr lang="en-US" altLang="zh-CN" dirty="0" smtClean="0">
                <a:latin typeface="Cambria" panose="02040503050406030204" pitchFamily="18" charset="0"/>
                <a:ea typeface="Cambria" panose="02040503050406030204" pitchFamily="18" charset="0"/>
              </a:rPr>
              <a:t>                         </a:t>
            </a:r>
            <a:endParaRPr lang="en-US" altLang="zh-CN" dirty="0" smtClean="0">
              <a:latin typeface="Cambria" panose="02040503050406030204" pitchFamily="18" charset="0"/>
              <a:ea typeface="Cambria" panose="020405030504060302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tretch>
            <a:fillRect/>
          </a:stretch>
        </p:blipFill>
        <p:spPr>
          <a:xfrm>
            <a:off x="6361876" y="980728"/>
            <a:ext cx="5760640" cy="5386908"/>
          </a:xfrm>
          <a:prstGeom prst="rect">
            <a:avLst/>
          </a:prstGeom>
        </p:spPr>
      </p:pic>
      <p:sp>
        <p:nvSpPr>
          <p:cNvPr id="6" name="内容占位符 2"/>
          <p:cNvSpPr txBox="1"/>
          <p:nvPr/>
        </p:nvSpPr>
        <p:spPr>
          <a:xfrm>
            <a:off x="332679" y="1250029"/>
            <a:ext cx="5497445" cy="4932548"/>
          </a:xfrm>
          <a:prstGeom prst="rect">
            <a:avLst/>
          </a:prstGeom>
        </p:spPr>
        <p:txBody>
          <a:bodyPr vert="horz" lIns="91440" tIns="45720" rIns="91440" bIns="45720" rtlCol="0" anchor="ctr">
            <a:norm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a:lnSpc>
                <a:spcPct val="150000"/>
              </a:lnSpc>
              <a:spcBef>
                <a:spcPts val="0"/>
              </a:spcBef>
              <a:spcAft>
                <a:spcPts val="0"/>
              </a:spcAft>
            </a:pPr>
            <a:r>
              <a:rPr lang="zh-CN" altLang="zh-CN" dirty="0">
                <a:latin typeface="Cambria" panose="02040503050406030204" pitchFamily="18" charset="0"/>
              </a:rPr>
              <a:t>从结果中可以看到，经过</a:t>
            </a:r>
            <a:r>
              <a:rPr lang="en-US" altLang="zh-CN" dirty="0">
                <a:latin typeface="Cambria" panose="02040503050406030204" pitchFamily="18" charset="0"/>
                <a:ea typeface="Cambria" panose="02040503050406030204" pitchFamily="18" charset="0"/>
              </a:rPr>
              <a:t>PCA</a:t>
            </a:r>
            <a:r>
              <a:rPr lang="zh-CN" altLang="zh-CN" dirty="0">
                <a:latin typeface="Cambria" panose="02040503050406030204" pitchFamily="18" charset="0"/>
              </a:rPr>
              <a:t>算法降维压缩后的数据从</a:t>
            </a:r>
            <a:r>
              <a:rPr lang="en-US" altLang="zh-CN" dirty="0">
                <a:latin typeface="Cambria" panose="02040503050406030204" pitchFamily="18" charset="0"/>
                <a:ea typeface="Cambria" panose="02040503050406030204" pitchFamily="18" charset="0"/>
              </a:rPr>
              <a:t>64</a:t>
            </a:r>
            <a:r>
              <a:rPr lang="zh-CN" altLang="zh-CN" dirty="0">
                <a:latin typeface="Cambria" panose="02040503050406030204" pitchFamily="18" charset="0"/>
              </a:rPr>
              <a:t>维降低到</a:t>
            </a:r>
            <a:r>
              <a:rPr lang="en-US" altLang="zh-CN" dirty="0">
                <a:latin typeface="Cambria" panose="02040503050406030204" pitchFamily="18" charset="0"/>
                <a:ea typeface="Cambria" panose="02040503050406030204" pitchFamily="18" charset="0"/>
              </a:rPr>
              <a:t>10</a:t>
            </a:r>
            <a:r>
              <a:rPr lang="zh-CN" altLang="zh-CN" dirty="0">
                <a:latin typeface="Cambria" panose="02040503050406030204" pitchFamily="18" charset="0"/>
              </a:rPr>
              <a:t>维，和原始数据相比降低了</a:t>
            </a:r>
            <a:r>
              <a:rPr lang="en-US" altLang="zh-CN" dirty="0">
                <a:latin typeface="Cambria" panose="02040503050406030204" pitchFamily="18" charset="0"/>
                <a:ea typeface="Cambria" panose="02040503050406030204" pitchFamily="18" charset="0"/>
              </a:rPr>
              <a:t>84%</a:t>
            </a:r>
            <a:r>
              <a:rPr lang="zh-CN" altLang="zh-CN" dirty="0">
                <a:latin typeface="Cambria" panose="02040503050406030204" pitchFamily="18" charset="0"/>
              </a:rPr>
              <a:t>的维度，与此同时预测准确率也从</a:t>
            </a:r>
            <a:r>
              <a:rPr lang="en-US" altLang="zh-CN" dirty="0">
                <a:latin typeface="Cambria" panose="02040503050406030204" pitchFamily="18" charset="0"/>
                <a:ea typeface="Cambria" panose="02040503050406030204" pitchFamily="18" charset="0"/>
              </a:rPr>
              <a:t>99%</a:t>
            </a:r>
            <a:r>
              <a:rPr lang="zh-CN" altLang="zh-CN" dirty="0">
                <a:latin typeface="Cambria" panose="02040503050406030204" pitchFamily="18" charset="0"/>
              </a:rPr>
              <a:t>降低到</a:t>
            </a:r>
            <a:r>
              <a:rPr lang="en-US" altLang="zh-CN" dirty="0">
                <a:latin typeface="Cambria" panose="02040503050406030204" pitchFamily="18" charset="0"/>
                <a:ea typeface="Cambria" panose="02040503050406030204" pitchFamily="18" charset="0"/>
              </a:rPr>
              <a:t>95%</a:t>
            </a:r>
            <a:r>
              <a:rPr lang="zh-CN" altLang="zh-CN" dirty="0" smtClean="0">
                <a:latin typeface="Cambria" panose="02040503050406030204" pitchFamily="18" charset="0"/>
              </a:rPr>
              <a:t>。</a:t>
            </a:r>
            <a:endParaRPr lang="en-US" altLang="zh-CN" dirty="0" smtClean="0">
              <a:latin typeface="Cambria" panose="02040503050406030204" pitchFamily="18" charset="0"/>
              <a:ea typeface="Cambria" panose="02040503050406030204" pitchFamily="18" charset="0"/>
            </a:endParaRPr>
          </a:p>
          <a:p>
            <a:pPr>
              <a:lnSpc>
                <a:spcPct val="150000"/>
              </a:lnSpc>
              <a:spcBef>
                <a:spcPts val="0"/>
              </a:spcBef>
              <a:spcAft>
                <a:spcPts val="0"/>
              </a:spcAft>
            </a:pPr>
            <a:r>
              <a:rPr lang="zh-CN" altLang="zh-CN" dirty="0" smtClean="0">
                <a:latin typeface="Cambria" panose="02040503050406030204" pitchFamily="18" charset="0"/>
              </a:rPr>
              <a:t>随着</a:t>
            </a:r>
            <a:r>
              <a:rPr lang="zh-CN" altLang="zh-CN" dirty="0">
                <a:latin typeface="Cambria" panose="02040503050406030204" pitchFamily="18" charset="0"/>
              </a:rPr>
              <a:t>后期的参数调优以及适当增加训练次数，预测准确率仍旧可以提高。从这个角度来看，以</a:t>
            </a:r>
            <a:r>
              <a:rPr lang="en-US" altLang="zh-CN" dirty="0">
                <a:latin typeface="Cambria" panose="02040503050406030204" pitchFamily="18" charset="0"/>
                <a:ea typeface="Cambria" panose="02040503050406030204" pitchFamily="18" charset="0"/>
              </a:rPr>
              <a:t>PCA</a:t>
            </a:r>
            <a:r>
              <a:rPr lang="zh-CN" altLang="zh-CN" dirty="0">
                <a:latin typeface="Cambria" panose="02040503050406030204" pitchFamily="18" charset="0"/>
              </a:rPr>
              <a:t>为代表的特征降维方法使用较少的数据维度却保留住较多的原始数据的特性，能够规避大量的特征冗余和噪声，同时能够节省更多用于模型训练的运行时间。</a:t>
            </a:r>
            <a:endParaRPr lang="en-US" altLang="zh-CN" dirty="0" smtClean="0">
              <a:latin typeface="Cambria" panose="02040503050406030204" pitchFamily="18" charset="0"/>
              <a:ea typeface="Cambria" panose="02040503050406030204" pitchFamily="18" charset="0"/>
            </a:endParaRPr>
          </a:p>
        </p:txBody>
      </p:sp>
      <p:sp>
        <p:nvSpPr>
          <p:cNvPr id="7" name="标题 1"/>
          <p:cNvSpPr>
            <a:spLocks noGrp="1"/>
          </p:cNvSpPr>
          <p:nvPr>
            <p:ph type="title"/>
          </p:nvPr>
        </p:nvSpPr>
        <p:spPr>
          <a:xfrm>
            <a:off x="652315" y="246645"/>
            <a:ext cx="10272890" cy="514259"/>
          </a:xfrm>
        </p:spPr>
        <p:txBody>
          <a:bodyPr/>
          <a:lstStyle/>
          <a:p>
            <a:r>
              <a:rPr lang="en-US" altLang="zh-CN" sz="4000" dirty="0"/>
              <a:t>PCA</a:t>
            </a:r>
            <a:r>
              <a:rPr lang="zh-CN" altLang="en-US" sz="4000" dirty="0"/>
              <a:t>算法</a:t>
            </a:r>
            <a:r>
              <a:rPr lang="zh-CN" altLang="en-US" sz="4000" dirty="0" smtClean="0"/>
              <a:t>实例</a:t>
            </a:r>
            <a:r>
              <a:rPr lang="en-US" altLang="zh-CN" sz="4000" dirty="0" smtClean="0"/>
              <a:t>2</a:t>
            </a:r>
            <a:endParaRPr lang="zh-CN" altLang="en-US" sz="40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1544" y="507614"/>
            <a:ext cx="8015583" cy="535531"/>
          </a:xfrm>
        </p:spPr>
        <p:txBody>
          <a:bodyPr/>
          <a:lstStyle/>
          <a:p>
            <a:r>
              <a:rPr lang="en-US" altLang="zh-CN" dirty="0"/>
              <a:t>PCA</a:t>
            </a:r>
            <a:r>
              <a:rPr lang="zh-CN" altLang="en-US" dirty="0"/>
              <a:t>算法的优点</a:t>
            </a:r>
            <a:endParaRPr lang="zh-CN" altLang="en-US" dirty="0"/>
          </a:p>
        </p:txBody>
      </p:sp>
      <p:sp>
        <p:nvSpPr>
          <p:cNvPr id="3" name="文本框 2"/>
          <p:cNvSpPr txBox="1"/>
          <p:nvPr/>
        </p:nvSpPr>
        <p:spPr>
          <a:xfrm>
            <a:off x="906522" y="1970220"/>
            <a:ext cx="10866378" cy="2031325"/>
          </a:xfrm>
          <a:prstGeom prst="rect">
            <a:avLst/>
          </a:prstGeom>
          <a:noFill/>
        </p:spPr>
        <p:txBody>
          <a:bodyPr wrap="square" rtlCol="0">
            <a:spAutoFit/>
          </a:bodyPr>
          <a:lstStyle/>
          <a:p>
            <a:pPr>
              <a:lnSpc>
                <a:spcPct val="150000"/>
              </a:lnSpc>
            </a:pPr>
            <a:r>
              <a:rPr lang="zh-CN" altLang="en-US" sz="2800" dirty="0">
                <a:latin typeface="+mn-ea"/>
              </a:rPr>
              <a:t>（</a:t>
            </a:r>
            <a:r>
              <a:rPr lang="en-US" altLang="zh-CN" sz="2800" dirty="0">
                <a:latin typeface="+mn-ea"/>
              </a:rPr>
              <a:t>1</a:t>
            </a:r>
            <a:r>
              <a:rPr lang="zh-CN" altLang="en-US" sz="2800" dirty="0">
                <a:latin typeface="+mn-ea"/>
              </a:rPr>
              <a:t>）仅仅需要以方差衡量信息量，不受数据集以外的因素影响。　</a:t>
            </a:r>
            <a:endParaRPr lang="zh-CN" altLang="en-US" sz="2800" dirty="0">
              <a:latin typeface="+mn-ea"/>
            </a:endParaRPr>
          </a:p>
          <a:p>
            <a:pPr>
              <a:lnSpc>
                <a:spcPct val="150000"/>
              </a:lnSpc>
            </a:pPr>
            <a:r>
              <a:rPr lang="zh-CN" altLang="en-US" sz="2800" dirty="0">
                <a:latin typeface="+mn-ea"/>
              </a:rPr>
              <a:t>（</a:t>
            </a:r>
            <a:r>
              <a:rPr lang="en-US" altLang="zh-CN" sz="2800" dirty="0">
                <a:latin typeface="+mn-ea"/>
              </a:rPr>
              <a:t>2</a:t>
            </a:r>
            <a:r>
              <a:rPr lang="zh-CN" altLang="en-US" sz="2800" dirty="0">
                <a:latin typeface="+mn-ea"/>
              </a:rPr>
              <a:t>）各主成分之间正交，可消除原始数据成分间的相互影响的因素。</a:t>
            </a:r>
            <a:endParaRPr lang="zh-CN" altLang="en-US" sz="2800" dirty="0">
              <a:latin typeface="+mn-ea"/>
            </a:endParaRPr>
          </a:p>
          <a:p>
            <a:pPr>
              <a:lnSpc>
                <a:spcPct val="150000"/>
              </a:lnSpc>
            </a:pPr>
            <a:r>
              <a:rPr lang="zh-CN" altLang="en-US" sz="2800" dirty="0">
                <a:latin typeface="+mn-ea"/>
              </a:rPr>
              <a:t>（</a:t>
            </a:r>
            <a:r>
              <a:rPr lang="en-US" altLang="zh-CN" sz="2800" dirty="0">
                <a:latin typeface="+mn-ea"/>
              </a:rPr>
              <a:t>3</a:t>
            </a:r>
            <a:r>
              <a:rPr lang="zh-CN" altLang="en-US" sz="2800" dirty="0">
                <a:latin typeface="+mn-ea"/>
              </a:rPr>
              <a:t>）计算方法简单，主要运算是特征值分解，易于实现。</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90763" y="507614"/>
            <a:ext cx="8015583" cy="535531"/>
          </a:xfrm>
        </p:spPr>
        <p:txBody>
          <a:bodyPr/>
          <a:lstStyle/>
          <a:p>
            <a:r>
              <a:rPr lang="en-US" altLang="zh-CN" dirty="0"/>
              <a:t>PCA</a:t>
            </a:r>
            <a:r>
              <a:rPr lang="zh-CN" altLang="en-US" dirty="0"/>
              <a:t>算法的缺点</a:t>
            </a:r>
            <a:endParaRPr lang="zh-CN" altLang="en-US" dirty="0"/>
          </a:p>
        </p:txBody>
      </p:sp>
      <p:sp>
        <p:nvSpPr>
          <p:cNvPr id="3" name="文本框 2"/>
          <p:cNvSpPr txBox="1"/>
          <p:nvPr/>
        </p:nvSpPr>
        <p:spPr>
          <a:xfrm>
            <a:off x="906522" y="1970220"/>
            <a:ext cx="10378955" cy="2604367"/>
          </a:xfrm>
          <a:prstGeom prst="rect">
            <a:avLst/>
          </a:prstGeom>
          <a:noFill/>
        </p:spPr>
        <p:txBody>
          <a:bodyPr wrap="square" rtlCol="0">
            <a:spAutoFit/>
          </a:bodyPr>
          <a:lstStyle/>
          <a:p>
            <a:pPr>
              <a:lnSpc>
                <a:spcPct val="150000"/>
              </a:lnSpc>
            </a:pPr>
            <a:r>
              <a:rPr lang="zh-CN" altLang="en-US" sz="2800" dirty="0">
                <a:latin typeface="+mn-ea"/>
              </a:rPr>
              <a:t>（</a:t>
            </a:r>
            <a:r>
              <a:rPr lang="en-US" altLang="zh-CN" sz="2800" dirty="0">
                <a:latin typeface="+mn-ea"/>
              </a:rPr>
              <a:t>1</a:t>
            </a:r>
            <a:r>
              <a:rPr lang="zh-CN" altLang="en-US" sz="2800" dirty="0">
                <a:latin typeface="+mn-ea"/>
              </a:rPr>
              <a:t>）主成分各个特征维度的含义具有一定的模糊性，不如原始样本特征的解释性强。</a:t>
            </a:r>
            <a:endParaRPr lang="zh-CN" altLang="en-US" sz="2800" dirty="0">
              <a:latin typeface="+mn-ea"/>
            </a:endParaRPr>
          </a:p>
          <a:p>
            <a:pPr>
              <a:lnSpc>
                <a:spcPct val="150000"/>
              </a:lnSpc>
            </a:pPr>
            <a:r>
              <a:rPr lang="zh-CN" altLang="en-US" sz="2800" dirty="0">
                <a:latin typeface="+mn-ea"/>
              </a:rPr>
              <a:t>（</a:t>
            </a:r>
            <a:r>
              <a:rPr lang="en-US" altLang="zh-CN" sz="2800" dirty="0">
                <a:latin typeface="+mn-ea"/>
              </a:rPr>
              <a:t>2</a:t>
            </a:r>
            <a:r>
              <a:rPr lang="zh-CN" altLang="en-US" sz="2800" dirty="0">
                <a:latin typeface="+mn-ea"/>
              </a:rPr>
              <a:t>）方差小的非主成分也可能含有对样本差异的重要信息，降维丢弃的数据可能对后续数据处理有影响。</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7200" b="0" i="0" u="none" strike="noStrike" kern="0" cap="none" spc="0" normalizeH="0" baseline="0" noProof="0" dirty="0">
                  <a:ln>
                    <a:noFill/>
                  </a:ln>
                  <a:solidFill>
                    <a:srgbClr val="009999"/>
                  </a:solidFill>
                  <a:effectLst/>
                  <a:uLnTx/>
                  <a:uFillTx/>
                  <a:latin typeface="Century Gothic" panose="020B0502020202020204" pitchFamily="34" charset="0"/>
                  <a:cs typeface="+mn-ea"/>
                  <a:sym typeface="+mn-lt"/>
                </a:rPr>
                <a:t>06</a:t>
              </a:r>
              <a:endParaRPr kumimoji="0" lang="zh-CN" altLang="en-US" sz="4000" b="0" i="0" u="none" strike="noStrike" kern="0" cap="none" spc="0" normalizeH="0" baseline="0" noProof="0" dirty="0">
                <a:ln>
                  <a:noFill/>
                </a:ln>
                <a:solidFill>
                  <a:srgbClr val="009999"/>
                </a:solidFill>
                <a:effectLst/>
                <a:uLnTx/>
                <a:uFillTx/>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ea"/>
                <a:sym typeface="+mn-lt"/>
              </a:endParaRPr>
            </a:p>
          </p:txBody>
        </p:sp>
      </p:grpSp>
      <p:sp>
        <p:nvSpPr>
          <p:cNvPr id="24" name="文本框 23"/>
          <p:cNvSpPr txBox="1"/>
          <p:nvPr/>
        </p:nvSpPr>
        <p:spPr>
          <a:xfrm>
            <a:off x="5566509" y="2472759"/>
            <a:ext cx="6109365"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srgbClr val="009999"/>
                </a:solidFill>
                <a:effectLst>
                  <a:innerShdw blurRad="127000" dist="63500" dir="16200000">
                    <a:prstClr val="black">
                      <a:alpha val="50000"/>
                    </a:prstClr>
                  </a:innerShdw>
                </a:effectLst>
                <a:uLnTx/>
                <a:uFillTx/>
                <a:latin typeface="Noto Sans S Chinese Medium" panose="020B0600000000000000" pitchFamily="34" charset="-122"/>
                <a:ea typeface="Noto Sans S Chinese Medium" panose="020B0600000000000000" pitchFamily="34" charset="-122"/>
                <a:cs typeface="+mn-cs"/>
              </a:rPr>
              <a:t>算法改进与优化</a:t>
            </a:r>
            <a:endParaRPr kumimoji="0" lang="zh-CN" altLang="en-US" sz="6600" b="1" i="0" u="none" strike="noStrike" kern="1200" cap="none" spc="0" normalizeH="0" baseline="0" noProof="0" dirty="0">
              <a:ln>
                <a:noFill/>
              </a:ln>
              <a:solidFill>
                <a:srgbClr val="009999"/>
              </a:solidFill>
              <a:effectLst>
                <a:innerShdw blurRad="127000" dist="63500" dir="16200000">
                  <a:prstClr val="black">
                    <a:alpha val="50000"/>
                  </a:prstClr>
                </a:innerShdw>
              </a:effectLst>
              <a:uLnTx/>
              <a:uFillTx/>
              <a:latin typeface="Noto Sans S Chinese Medium" panose="020B0600000000000000" pitchFamily="34" charset="-122"/>
              <a:ea typeface="Noto Sans S Chinese Medium" panose="020B0600000000000000" pitchFamily="34" charset="-122"/>
              <a:cs typeface="+mn-cs"/>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cs typeface="+mn-cs"/>
            </a:endParaRPr>
          </a:p>
        </p:txBody>
      </p:sp>
      <p:sp>
        <p:nvSpPr>
          <p:cNvPr id="2" name="文本框 1"/>
          <p:cNvSpPr txBox="1"/>
          <p:nvPr/>
        </p:nvSpPr>
        <p:spPr>
          <a:xfrm>
            <a:off x="5970393" y="3636434"/>
            <a:ext cx="610936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9999"/>
                </a:solidFill>
                <a:effectLst/>
                <a:uLnTx/>
                <a:uFillTx/>
                <a:latin typeface="Noto Sans S Chinese Regular" panose="020B0500000000000000" pitchFamily="34" charset="-122"/>
                <a:ea typeface="Noto Sans S Chinese Regular" panose="020B0500000000000000" pitchFamily="34" charset="-122"/>
                <a:cs typeface="+mn-cs"/>
              </a:rPr>
              <a:t>IMPROVEMENT AND OPTIMIZATION OF ALGORITHM</a:t>
            </a:r>
            <a:endParaRPr kumimoji="0" lang="zh-CN" altLang="en-US" sz="3200" b="0" i="0" u="none" strike="noStrike" kern="1200" cap="none" spc="0" normalizeH="0" baseline="0" noProof="0" dirty="0">
              <a:ln>
                <a:noFill/>
              </a:ln>
              <a:solidFill>
                <a:srgbClr val="009999"/>
              </a:solidFill>
              <a:effectLst/>
              <a:uLnTx/>
              <a:uFillTx/>
              <a:latin typeface="Noto Sans S Chinese Regular" panose="020B0500000000000000" pitchFamily="34" charset="-122"/>
              <a:ea typeface="Noto Sans S Chinese Regular" panose="020B0500000000000000" pitchFamily="34" charset="-122"/>
              <a:cs typeface="+mn-cs"/>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算法的改进与优化</a:t>
            </a:r>
            <a:endParaRPr lang="zh-CN" altLang="en-US" dirty="0"/>
          </a:p>
        </p:txBody>
      </p:sp>
      <p:sp>
        <p:nvSpPr>
          <p:cNvPr id="3" name="文本框 2"/>
          <p:cNvSpPr txBox="1"/>
          <p:nvPr/>
        </p:nvSpPr>
        <p:spPr>
          <a:xfrm>
            <a:off x="802187" y="1235570"/>
            <a:ext cx="10830205" cy="4616648"/>
          </a:xfrm>
          <a:prstGeom prst="rect">
            <a:avLst/>
          </a:prstGeom>
          <a:noFill/>
        </p:spPr>
        <p:txBody>
          <a:bodyPr wrap="square" rtlCol="0">
            <a:spAutoFit/>
          </a:bodyPr>
          <a:lstStyle/>
          <a:p>
            <a:pPr algn="just">
              <a:lnSpc>
                <a:spcPct val="150000"/>
              </a:lnSpc>
            </a:pPr>
            <a:r>
              <a:rPr lang="en-US" altLang="zh-CN" sz="2800" dirty="0"/>
              <a:t>PCA</a:t>
            </a:r>
            <a:r>
              <a:rPr lang="zh-CN" altLang="zh-CN" sz="2800" dirty="0"/>
              <a:t>是一种线性特征提取算法，通过计算将一组特征按重要性</a:t>
            </a:r>
            <a:r>
              <a:rPr lang="zh-CN" altLang="zh-CN" sz="2800" dirty="0" smtClean="0"/>
              <a:t>从</a:t>
            </a:r>
            <a:r>
              <a:rPr lang="zh-CN" altLang="en-US" sz="2800" dirty="0" smtClean="0"/>
              <a:t>大</a:t>
            </a:r>
            <a:r>
              <a:rPr lang="zh-CN" altLang="zh-CN" sz="2800" dirty="0" smtClean="0"/>
              <a:t>到</a:t>
            </a:r>
            <a:r>
              <a:rPr lang="zh-CN" altLang="en-US" sz="2800" dirty="0" smtClean="0"/>
              <a:t>小</a:t>
            </a:r>
            <a:r>
              <a:rPr lang="zh-CN" altLang="zh-CN" sz="2800" dirty="0" smtClean="0"/>
              <a:t>重新</a:t>
            </a:r>
            <a:r>
              <a:rPr lang="zh-CN" altLang="zh-CN" sz="2800" dirty="0"/>
              <a:t>排列得到一组互不相关的新特征，但该算法在构造子集的过程中采用等权重的方式，忽略了不同属性对分类的贡献是不同</a:t>
            </a:r>
            <a:r>
              <a:rPr lang="zh-CN" altLang="zh-CN" sz="2800" dirty="0" smtClean="0"/>
              <a:t>的</a:t>
            </a:r>
            <a:r>
              <a:rPr lang="zh-CN" altLang="en-US" sz="2800" dirty="0" smtClean="0"/>
              <a:t>。</a:t>
            </a:r>
            <a:r>
              <a:rPr lang="zh-CN" altLang="zh-CN" sz="2800" dirty="0" smtClean="0"/>
              <a:t>基于</a:t>
            </a:r>
            <a:r>
              <a:rPr lang="zh-CN" altLang="zh-CN" sz="2800" dirty="0"/>
              <a:t>这一缺陷，提出了一种把</a:t>
            </a:r>
            <a:r>
              <a:rPr lang="zh-CN" altLang="zh-CN" sz="2800" b="1" dirty="0"/>
              <a:t>属性加权和</a:t>
            </a:r>
            <a:r>
              <a:rPr lang="en-US" altLang="zh-CN" sz="2800" b="1" dirty="0"/>
              <a:t>PCA</a:t>
            </a:r>
            <a:r>
              <a:rPr lang="zh-CN" altLang="zh-CN" sz="2800" b="1" dirty="0"/>
              <a:t>相结合</a:t>
            </a:r>
            <a:r>
              <a:rPr lang="zh-CN" altLang="zh-CN" sz="2800" dirty="0"/>
              <a:t>的算法，通过最小化加权子空间与分类标记的距离得到各属性的权重值，得到的权重值反映了各属性对分类贡献的大小，这样生成的特征子集更有利于</a:t>
            </a:r>
            <a:r>
              <a:rPr lang="zh-CN" altLang="zh-CN" sz="2800" dirty="0" smtClean="0"/>
              <a:t>分类</a:t>
            </a:r>
            <a:r>
              <a:rPr lang="zh-CN" altLang="en-US" sz="2800" dirty="0" smtClean="0"/>
              <a:t>。</a:t>
            </a:r>
            <a:r>
              <a:rPr lang="zh-CN" altLang="zh-CN" sz="2800" dirty="0" smtClean="0"/>
              <a:t>实验</a:t>
            </a:r>
            <a:r>
              <a:rPr lang="zh-CN" altLang="zh-CN" sz="2800" dirty="0"/>
              <a:t>结果表明，改进后的算法分类性能优于</a:t>
            </a:r>
            <a:r>
              <a:rPr lang="en-US" altLang="zh-CN" sz="2800" dirty="0"/>
              <a:t>PCA</a:t>
            </a:r>
            <a:r>
              <a:rPr lang="zh-CN" altLang="zh-CN" sz="2800" dirty="0"/>
              <a:t>算法。</a:t>
            </a:r>
            <a:endParaRPr lang="zh-CN" altLang="zh-CN" sz="28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PCA</a:t>
            </a:r>
            <a:r>
              <a:rPr lang="zh-CN" altLang="en-US" dirty="0"/>
              <a:t>算法的改进与优化</a:t>
            </a:r>
            <a:endParaRPr lang="zh-CN" altLang="en-US" dirty="0"/>
          </a:p>
        </p:txBody>
      </p:sp>
      <p:sp>
        <p:nvSpPr>
          <p:cNvPr id="3" name="文本框 2"/>
          <p:cNvSpPr txBox="1"/>
          <p:nvPr/>
        </p:nvSpPr>
        <p:spPr>
          <a:xfrm>
            <a:off x="849709" y="1313628"/>
            <a:ext cx="10830205" cy="4616648"/>
          </a:xfrm>
          <a:prstGeom prst="rect">
            <a:avLst/>
          </a:prstGeom>
          <a:noFill/>
        </p:spPr>
        <p:txBody>
          <a:bodyPr wrap="square" rtlCol="0">
            <a:spAutoFit/>
          </a:bodyPr>
          <a:lstStyle/>
          <a:p>
            <a:pPr>
              <a:lnSpc>
                <a:spcPct val="150000"/>
              </a:lnSpc>
            </a:pPr>
            <a:r>
              <a:rPr lang="en-US" altLang="zh-CN" sz="2800" dirty="0" smtClean="0">
                <a:latin typeface="+mj-ea"/>
                <a:ea typeface="+mj-ea"/>
              </a:rPr>
              <a:t>1</a:t>
            </a:r>
            <a:r>
              <a:rPr lang="en-US" altLang="zh-CN" sz="2800" dirty="0">
                <a:latin typeface="+mj-ea"/>
                <a:ea typeface="+mj-ea"/>
              </a:rPr>
              <a:t>.</a:t>
            </a:r>
            <a:r>
              <a:rPr lang="en-US" altLang="zh-CN" sz="2800" dirty="0" smtClean="0">
                <a:latin typeface="+mj-ea"/>
                <a:ea typeface="+mj-ea"/>
              </a:rPr>
              <a:t> </a:t>
            </a:r>
            <a:r>
              <a:rPr lang="en-US" altLang="zh-CN" sz="2800" dirty="0">
                <a:latin typeface="+mj-ea"/>
                <a:ea typeface="+mj-ea"/>
              </a:rPr>
              <a:t>KPCA</a:t>
            </a:r>
            <a:r>
              <a:rPr lang="zh-CN" altLang="en-US" sz="2800" dirty="0">
                <a:latin typeface="+mj-ea"/>
                <a:ea typeface="+mj-ea"/>
              </a:rPr>
              <a:t>算法</a:t>
            </a:r>
            <a:endParaRPr lang="zh-CN" altLang="en-US" sz="2800" dirty="0">
              <a:latin typeface="+mj-ea"/>
              <a:ea typeface="+mj-ea"/>
            </a:endParaRPr>
          </a:p>
          <a:p>
            <a:pPr>
              <a:lnSpc>
                <a:spcPct val="150000"/>
              </a:lnSpc>
            </a:pPr>
            <a:r>
              <a:rPr lang="en-US" altLang="zh-CN" sz="2800" dirty="0">
                <a:latin typeface="+mn-ea"/>
              </a:rPr>
              <a:t>KPCA</a:t>
            </a:r>
            <a:r>
              <a:rPr lang="zh-CN" altLang="en-US" sz="2800" dirty="0">
                <a:latin typeface="+mn-ea"/>
              </a:rPr>
              <a:t>是一种改进的</a:t>
            </a:r>
            <a:r>
              <a:rPr lang="en-US" altLang="zh-CN" sz="2800" dirty="0">
                <a:latin typeface="+mn-ea"/>
              </a:rPr>
              <a:t>PCA</a:t>
            </a:r>
            <a:r>
              <a:rPr lang="zh-CN" altLang="en-US" sz="2800" dirty="0">
                <a:latin typeface="+mn-ea"/>
              </a:rPr>
              <a:t>非线性降维算法，它利用核函数的思想，把样本数据进行非线性变换，然后在变换空间进行</a:t>
            </a:r>
            <a:r>
              <a:rPr lang="en-US" altLang="zh-CN" sz="2800" dirty="0">
                <a:latin typeface="+mn-ea"/>
              </a:rPr>
              <a:t>PCA</a:t>
            </a:r>
            <a:r>
              <a:rPr lang="zh-CN" altLang="en-US" sz="2800" dirty="0">
                <a:latin typeface="+mn-ea"/>
              </a:rPr>
              <a:t>，这样就实现了非线性</a:t>
            </a:r>
            <a:r>
              <a:rPr lang="en-US" altLang="zh-CN" sz="2800" dirty="0">
                <a:latin typeface="+mn-ea"/>
              </a:rPr>
              <a:t>PCA</a:t>
            </a:r>
            <a:r>
              <a:rPr lang="zh-CN" altLang="en-US" sz="2800" dirty="0">
                <a:latin typeface="+mn-ea"/>
              </a:rPr>
              <a:t>。</a:t>
            </a:r>
            <a:endParaRPr lang="zh-CN" altLang="en-US" sz="2800" dirty="0">
              <a:latin typeface="+mn-ea"/>
            </a:endParaRPr>
          </a:p>
          <a:p>
            <a:pPr>
              <a:lnSpc>
                <a:spcPct val="150000"/>
              </a:lnSpc>
            </a:pPr>
            <a:r>
              <a:rPr lang="en-US" altLang="zh-CN" sz="2800" dirty="0" smtClean="0">
                <a:latin typeface="+mj-ea"/>
                <a:ea typeface="+mj-ea"/>
              </a:rPr>
              <a:t>2. </a:t>
            </a:r>
            <a:r>
              <a:rPr lang="zh-CN" altLang="en-US" sz="2800" dirty="0">
                <a:latin typeface="+mj-ea"/>
                <a:ea typeface="+mj-ea"/>
              </a:rPr>
              <a:t>局部</a:t>
            </a:r>
            <a:r>
              <a:rPr lang="en-US" altLang="zh-CN" sz="2800" dirty="0">
                <a:latin typeface="+mj-ea"/>
                <a:ea typeface="+mj-ea"/>
              </a:rPr>
              <a:t>PCA</a:t>
            </a:r>
            <a:r>
              <a:rPr lang="zh-CN" altLang="en-US" sz="2800" dirty="0">
                <a:latin typeface="+mj-ea"/>
                <a:ea typeface="+mj-ea"/>
              </a:rPr>
              <a:t>算法</a:t>
            </a:r>
            <a:endParaRPr lang="zh-CN" altLang="en-US" sz="2800" dirty="0">
              <a:latin typeface="+mj-ea"/>
              <a:ea typeface="+mj-ea"/>
            </a:endParaRPr>
          </a:p>
          <a:p>
            <a:pPr>
              <a:lnSpc>
                <a:spcPct val="150000"/>
              </a:lnSpc>
            </a:pPr>
            <a:r>
              <a:rPr lang="zh-CN" altLang="en-US" sz="2800" dirty="0">
                <a:latin typeface="+mn-ea"/>
              </a:rPr>
              <a:t>局部</a:t>
            </a:r>
            <a:r>
              <a:rPr lang="en-US" altLang="zh-CN" sz="2800" dirty="0">
                <a:latin typeface="+mn-ea"/>
              </a:rPr>
              <a:t>PCA</a:t>
            </a:r>
            <a:r>
              <a:rPr lang="zh-CN" altLang="en-US" sz="2800" dirty="0">
                <a:latin typeface="+mn-ea"/>
              </a:rPr>
              <a:t>是一种改进的</a:t>
            </a:r>
            <a:r>
              <a:rPr lang="en-US" altLang="zh-CN" sz="2800" dirty="0">
                <a:latin typeface="+mn-ea"/>
              </a:rPr>
              <a:t>PCA</a:t>
            </a:r>
            <a:r>
              <a:rPr lang="zh-CN" altLang="en-US" sz="2800" dirty="0">
                <a:latin typeface="+mn-ea"/>
              </a:rPr>
              <a:t>局部降维算法，它在寻找主成分时加入一项具有局部光滑性的正则项，从而使主成分保留更多的局部性信息。</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1421" y="475111"/>
            <a:ext cx="8015583" cy="534035"/>
          </a:xfrm>
        </p:spPr>
        <p:txBody>
          <a:bodyPr/>
          <a:lstStyle/>
          <a:p>
            <a:pPr eaLnBrk="1" fontAlgn="auto" hangingPunct="1">
              <a:defRPr/>
            </a:pPr>
            <a:r>
              <a:rPr lang="zh-CN" altLang="en-US" noProof="1"/>
              <a:t>上机练习</a:t>
            </a:r>
            <a:endParaRPr noProof="1"/>
          </a:p>
        </p:txBody>
      </p:sp>
      <p:sp>
        <p:nvSpPr>
          <p:cNvPr id="30723" name="文本框 2"/>
          <p:cNvSpPr txBox="1">
            <a:spLocks noChangeArrowheads="1"/>
          </p:cNvSpPr>
          <p:nvPr/>
        </p:nvSpPr>
        <p:spPr bwMode="auto">
          <a:xfrm>
            <a:off x="1450975" y="1427525"/>
            <a:ext cx="1001034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Light" panose="020F0302020204030204" charset="0"/>
                <a:ea typeface="微软雅黑 Light" panose="020B0502040204020203" charset="-122"/>
              </a:defRPr>
            </a:lvl1pPr>
            <a:lvl2pPr marL="742950" indent="-285750">
              <a:defRPr>
                <a:solidFill>
                  <a:schemeClr val="tx1"/>
                </a:solidFill>
                <a:latin typeface="Calibri Light" panose="020F0302020204030204" charset="0"/>
                <a:ea typeface="微软雅黑 Light" panose="020B0502040204020203" charset="-122"/>
              </a:defRPr>
            </a:lvl2pPr>
            <a:lvl3pPr marL="1143000" indent="-228600">
              <a:defRPr>
                <a:solidFill>
                  <a:schemeClr val="tx1"/>
                </a:solidFill>
                <a:latin typeface="Calibri Light" panose="020F0302020204030204" charset="0"/>
                <a:ea typeface="微软雅黑 Light" panose="020B0502040204020203" charset="-122"/>
              </a:defRPr>
            </a:lvl3pPr>
            <a:lvl4pPr marL="1600200" indent="-228600">
              <a:defRPr>
                <a:solidFill>
                  <a:schemeClr val="tx1"/>
                </a:solidFill>
                <a:latin typeface="Calibri Light" panose="020F0302020204030204" charset="0"/>
                <a:ea typeface="微软雅黑 Light" panose="020B0502040204020203" charset="-122"/>
              </a:defRPr>
            </a:lvl4pPr>
            <a:lvl5pPr marL="2057400" indent="-228600">
              <a:defRPr>
                <a:solidFill>
                  <a:schemeClr val="tx1"/>
                </a:solidFill>
                <a:latin typeface="Calibri Light" panose="020F0302020204030204" charset="0"/>
                <a:ea typeface="微软雅黑 Light" panose="020B0502040204020203" charset="-122"/>
              </a:defRPr>
            </a:lvl5pPr>
            <a:lvl6pPr marL="25146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6pPr>
            <a:lvl7pPr marL="29718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7pPr>
            <a:lvl8pPr marL="34290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8pPr>
            <a:lvl9pPr marL="38862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9pPr>
          </a:lstStyle>
          <a:p>
            <a:pPr>
              <a:lnSpc>
                <a:spcPct val="150000"/>
              </a:lnSpc>
            </a:pP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实现实例</a:t>
            </a: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鸢尾</a:t>
            </a:r>
            <a:r>
              <a:rPr lang="zh-CN" altLang="en-US" sz="2400" dirty="0">
                <a:latin typeface="宋体" panose="02010600030101010101" pitchFamily="2" charset="-122"/>
                <a:ea typeface="宋体" panose="02010600030101010101" pitchFamily="2" charset="-122"/>
              </a:rPr>
              <a:t>花数据</a:t>
            </a:r>
            <a:r>
              <a:rPr lang="zh-CN" altLang="en-US" sz="2400" dirty="0" smtClean="0">
                <a:latin typeface="宋体" panose="02010600030101010101" pitchFamily="2" charset="-122"/>
                <a:ea typeface="宋体" panose="02010600030101010101" pitchFamily="2" charset="-122"/>
              </a:rPr>
              <a:t>集的</a:t>
            </a:r>
            <a:r>
              <a:rPr lang="en-US" altLang="zh-CN" sz="2400" dirty="0" smtClean="0">
                <a:latin typeface="宋体" panose="02010600030101010101" pitchFamily="2" charset="-122"/>
                <a:ea typeface="宋体" panose="02010600030101010101" pitchFamily="2" charset="-122"/>
              </a:rPr>
              <a:t>PCA</a:t>
            </a:r>
            <a:r>
              <a:rPr lang="zh-CN" altLang="en-US" sz="2400" dirty="0" smtClean="0">
                <a:latin typeface="宋体" panose="02010600030101010101" pitchFamily="2" charset="-122"/>
                <a:ea typeface="宋体" panose="02010600030101010101" pitchFamily="2" charset="-122"/>
              </a:rPr>
              <a:t>降维</a:t>
            </a:r>
            <a:r>
              <a:rPr lang="zh-CN" altLang="zh-CN" sz="2400" dirty="0" smtClean="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要求：</a:t>
            </a:r>
            <a:endParaRPr lang="zh-CN" altLang="zh-CN" sz="2400" dirty="0">
              <a:latin typeface="宋体" panose="02010600030101010101" pitchFamily="2" charset="-122"/>
              <a:ea typeface="宋体" panose="02010600030101010101" pitchFamily="2" charset="-122"/>
            </a:endParaRPr>
          </a:p>
          <a:p>
            <a:pPr fontAlgn="ctr">
              <a:lnSpc>
                <a:spcPct val="150000"/>
              </a:lnSpc>
            </a:pPr>
            <a:r>
              <a:rPr lang="en-US" altLang="zh-CN" sz="2400" dirty="0">
                <a:latin typeface="宋体" panose="02010600030101010101" pitchFamily="2" charset="-122"/>
                <a:ea typeface="宋体" panose="02010600030101010101" pitchFamily="2" charset="-122"/>
              </a:rPr>
              <a:t>(1</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导入鸢尾</a:t>
            </a:r>
            <a:r>
              <a:rPr lang="zh-CN" altLang="en-US" sz="2400" dirty="0">
                <a:latin typeface="宋体" panose="02010600030101010101" pitchFamily="2" charset="-122"/>
                <a:ea typeface="宋体" panose="02010600030101010101" pitchFamily="2" charset="-122"/>
              </a:rPr>
              <a:t>花数据</a:t>
            </a:r>
            <a:r>
              <a:rPr lang="zh-CN" altLang="en-US" sz="2400" dirty="0" smtClean="0">
                <a:latin typeface="宋体" panose="02010600030101010101" pitchFamily="2" charset="-122"/>
                <a:ea typeface="宋体" panose="02010600030101010101" pitchFamily="2" charset="-122"/>
              </a:rPr>
              <a:t>集；</a:t>
            </a:r>
            <a:endParaRPr lang="en-US" altLang="zh-CN" sz="2400" dirty="0" smtClean="0">
              <a:latin typeface="宋体" panose="02010600030101010101" pitchFamily="2" charset="-122"/>
              <a:ea typeface="宋体" panose="02010600030101010101" pitchFamily="2" charset="-122"/>
            </a:endParaRPr>
          </a:p>
          <a:p>
            <a:pPr fontAlgn="ctr">
              <a:lnSpc>
                <a:spcPct val="150000"/>
              </a:lnSpc>
            </a:pPr>
            <a:r>
              <a:rPr lang="en-US" altLang="zh-CN" sz="2400" dirty="0" smtClean="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利用</a:t>
            </a:r>
            <a:r>
              <a:rPr lang="en-US" altLang="zh-CN" sz="2400" dirty="0" smtClean="0">
                <a:latin typeface="宋体" panose="02010600030101010101" pitchFamily="2" charset="-122"/>
                <a:ea typeface="宋体" panose="02010600030101010101" pitchFamily="2" charset="-122"/>
              </a:rPr>
              <a:t>PCA</a:t>
            </a:r>
            <a:r>
              <a:rPr lang="zh-CN" altLang="en-US" sz="2400" dirty="0" smtClean="0">
                <a:latin typeface="宋体" panose="02010600030101010101" pitchFamily="2" charset="-122"/>
                <a:ea typeface="宋体" panose="02010600030101010101" pitchFamily="2" charset="-122"/>
              </a:rPr>
              <a:t>对数据集进行降维处理</a:t>
            </a:r>
            <a:r>
              <a:rPr lang="zh-CN" altLang="zh-CN" sz="2400" dirty="0" smtClean="0">
                <a:latin typeface="宋体" panose="02010600030101010101" pitchFamily="2" charset="-122"/>
                <a:ea typeface="宋体" panose="02010600030101010101" pitchFamily="2" charset="-122"/>
              </a:rPr>
              <a:t>；</a:t>
            </a:r>
            <a:endParaRPr lang="en-US" altLang="zh-CN" sz="2400" dirty="0" smtClean="0">
              <a:latin typeface="宋体" panose="02010600030101010101" pitchFamily="2" charset="-122"/>
              <a:ea typeface="宋体" panose="02010600030101010101" pitchFamily="2" charset="-122"/>
            </a:endParaRPr>
          </a:p>
          <a:p>
            <a:pPr fontAlgn="ctr">
              <a:lnSpc>
                <a:spcPct val="150000"/>
              </a:lnSpc>
            </a:pPr>
            <a:r>
              <a:rPr lang="en-US" altLang="zh-CN" sz="2400" dirty="0" smtClean="0">
                <a:latin typeface="宋体" panose="02010600030101010101" pitchFamily="2" charset="-122"/>
                <a:ea typeface="宋体" panose="02010600030101010101" pitchFamily="2" charset="-122"/>
              </a:rPr>
              <a:t>(3) </a:t>
            </a:r>
            <a:r>
              <a:rPr lang="zh-CN" altLang="en-US" sz="2400" dirty="0" smtClean="0">
                <a:latin typeface="宋体" panose="02010600030101010101" pitchFamily="2" charset="-122"/>
                <a:ea typeface="宋体" panose="02010600030101010101" pitchFamily="2" charset="-122"/>
              </a:rPr>
              <a:t>绘制分类结果图</a:t>
            </a:r>
            <a:r>
              <a:rPr lang="zh-CN" altLang="zh-CN" sz="2400" dirty="0" smtClean="0">
                <a:latin typeface="宋体" panose="02010600030101010101" pitchFamily="2" charset="-122"/>
                <a:ea typeface="宋体" panose="02010600030101010101" pitchFamily="2" charset="-122"/>
              </a:rPr>
              <a:t>。</a:t>
            </a:r>
            <a:endParaRPr lang="en-US" altLang="zh-CN" sz="2400" dirty="0" smtClean="0">
              <a:latin typeface="宋体" panose="02010600030101010101" pitchFamily="2" charset="-122"/>
              <a:ea typeface="宋体" panose="02010600030101010101" pitchFamily="2" charset="-122"/>
            </a:endParaRPr>
          </a:p>
          <a:p>
            <a:pPr fontAlgn="ctr"/>
            <a:endParaRPr lang="zh-CN"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2</a:t>
            </a:r>
            <a:r>
              <a:rPr lang="en-US" altLang="zh-CN" sz="2400" dirty="0" smtClean="0">
                <a:latin typeface="宋体" panose="02010600030101010101" pitchFamily="2" charset="-122"/>
                <a:ea typeface="宋体" panose="02010600030101010101" pitchFamily="2" charset="-122"/>
              </a:rPr>
              <a:t>.</a:t>
            </a:r>
            <a:r>
              <a:rPr lang="zh-CN" altLang="en-US" sz="2400" dirty="0" smtClean="0">
                <a:latin typeface="宋体" panose="02010600030101010101" pitchFamily="2" charset="-122"/>
                <a:ea typeface="宋体" panose="02010600030101010101" pitchFamily="2" charset="-122"/>
              </a:rPr>
              <a:t>实现</a:t>
            </a:r>
            <a:r>
              <a:rPr lang="zh-CN" altLang="en-US" sz="2400" dirty="0">
                <a:latin typeface="宋体" panose="02010600030101010101" pitchFamily="2" charset="-122"/>
                <a:ea typeface="宋体" panose="02010600030101010101" pitchFamily="2" charset="-122"/>
              </a:rPr>
              <a:t>实例</a:t>
            </a:r>
            <a:r>
              <a:rPr lang="en-US" altLang="zh-CN" sz="2400" dirty="0" smtClean="0">
                <a:latin typeface="宋体" panose="02010600030101010101" pitchFamily="2" charset="-122"/>
                <a:ea typeface="宋体" panose="02010600030101010101" pitchFamily="2" charset="-122"/>
              </a:rPr>
              <a:t>2</a:t>
            </a:r>
            <a:r>
              <a:rPr lang="zh-CN" altLang="en-US" sz="2400" dirty="0" smtClean="0">
                <a:latin typeface="宋体" panose="02010600030101010101" pitchFamily="2" charset="-122"/>
                <a:ea typeface="宋体" panose="02010600030101010101" pitchFamily="2" charset="-122"/>
              </a:rPr>
              <a:t>手写数字数据集的</a:t>
            </a:r>
            <a:r>
              <a:rPr lang="en-US" altLang="zh-CN" sz="2400" dirty="0" smtClean="0">
                <a:latin typeface="宋体" panose="02010600030101010101" pitchFamily="2" charset="-122"/>
                <a:ea typeface="宋体" panose="02010600030101010101" pitchFamily="2" charset="-122"/>
              </a:rPr>
              <a:t>PCA</a:t>
            </a:r>
            <a:r>
              <a:rPr lang="zh-CN" altLang="en-US" sz="2400" dirty="0" smtClean="0">
                <a:latin typeface="宋体" panose="02010600030101010101" pitchFamily="2" charset="-122"/>
                <a:ea typeface="宋体" panose="02010600030101010101" pitchFamily="2" charset="-122"/>
              </a:rPr>
              <a:t>算法，</a:t>
            </a:r>
            <a:r>
              <a:rPr lang="zh-CN" altLang="en-US" sz="2400" dirty="0">
                <a:latin typeface="宋体" panose="02010600030101010101" pitchFamily="2" charset="-122"/>
                <a:ea typeface="宋体" panose="02010600030101010101" pitchFamily="2" charset="-122"/>
              </a:rPr>
              <a:t>要求：</a:t>
            </a:r>
            <a:endParaRPr lang="zh-CN" altLang="en-US"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实现</a:t>
            </a:r>
            <a:r>
              <a:rPr lang="zh-CN" altLang="en-US" sz="2400" dirty="0">
                <a:latin typeface="宋体" panose="02010600030101010101" pitchFamily="2" charset="-122"/>
                <a:ea typeface="宋体" panose="02010600030101010101" pitchFamily="2" charset="-122"/>
              </a:rPr>
              <a:t>手写数字数据集的降维；</a:t>
            </a:r>
            <a:endParaRPr lang="zh-CN" altLang="en-US" sz="2400" dirty="0">
              <a:latin typeface="宋体" panose="02010600030101010101" pitchFamily="2" charset="-122"/>
              <a:ea typeface="宋体" panose="02010600030101010101" pitchFamily="2" charset="-122"/>
            </a:endParaRPr>
          </a:p>
          <a:p>
            <a:pPr>
              <a:lnSpc>
                <a:spcPct val="150000"/>
              </a:lnSpc>
            </a:pPr>
            <a:r>
              <a:rPr lang="en-US" altLang="zh-CN" sz="2400" dirty="0" smtClean="0">
                <a:latin typeface="宋体" panose="02010600030101010101" pitchFamily="2" charset="-122"/>
                <a:ea typeface="宋体" panose="02010600030101010101" pitchFamily="2" charset="-122"/>
              </a:rPr>
              <a:t>(2)</a:t>
            </a:r>
            <a:r>
              <a:rPr lang="zh-CN" altLang="en-US" sz="2400" dirty="0" smtClean="0">
                <a:latin typeface="宋体" panose="02010600030101010101" pitchFamily="2" charset="-122"/>
                <a:ea typeface="宋体" panose="02010600030101010101" pitchFamily="2" charset="-122"/>
              </a:rPr>
              <a:t>比较</a:t>
            </a:r>
            <a:r>
              <a:rPr lang="zh-CN" altLang="en-US" sz="2400" dirty="0">
                <a:latin typeface="宋体" panose="02010600030101010101" pitchFamily="2" charset="-122"/>
                <a:ea typeface="宋体" panose="02010600030101010101" pitchFamily="2" charset="-122"/>
              </a:rPr>
              <a:t>两个模型（</a:t>
            </a:r>
            <a:r>
              <a:rPr lang="en-US" altLang="zh-CN" sz="2400" dirty="0">
                <a:latin typeface="宋体" panose="02010600030101010101" pitchFamily="2" charset="-122"/>
                <a:ea typeface="宋体" panose="02010600030101010101" pitchFamily="2" charset="-122"/>
              </a:rPr>
              <a:t>64</a:t>
            </a:r>
            <a:r>
              <a:rPr lang="zh-CN" altLang="en-US" sz="2400" dirty="0">
                <a:latin typeface="宋体" panose="02010600030101010101" pitchFamily="2" charset="-122"/>
                <a:ea typeface="宋体" panose="02010600030101010101" pitchFamily="2" charset="-122"/>
              </a:rPr>
              <a:t>维和</a:t>
            </a: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维）的准确率；</a:t>
            </a:r>
            <a:endParaRPr lang="zh-CN" altLang="en-US" sz="2400" dirty="0">
              <a:latin typeface="宋体" panose="02010600030101010101" pitchFamily="2" charset="-122"/>
              <a:ea typeface="宋体" panose="02010600030101010101" pitchFamily="2" charset="-122"/>
            </a:endParaRPr>
          </a:p>
          <a:p>
            <a:pPr>
              <a:lnSpc>
                <a:spcPct val="150000"/>
              </a:lnSpc>
            </a:pPr>
            <a:r>
              <a:rPr lang="en-US" altLang="zh-CN" sz="2400" dirty="0" smtClean="0">
                <a:latin typeface="宋体" panose="02010600030101010101" pitchFamily="2" charset="-122"/>
                <a:ea typeface="宋体" panose="02010600030101010101" pitchFamily="2" charset="-122"/>
              </a:rPr>
              <a:t>(3)</a:t>
            </a:r>
            <a:r>
              <a:rPr lang="zh-CN" altLang="en-US" sz="2400" dirty="0" smtClean="0">
                <a:latin typeface="宋体" panose="02010600030101010101" pitchFamily="2" charset="-122"/>
                <a:ea typeface="宋体" panose="02010600030101010101" pitchFamily="2" charset="-122"/>
              </a:rPr>
              <a:t>对</a:t>
            </a:r>
            <a:r>
              <a:rPr lang="zh-CN" altLang="en-US" sz="2400" dirty="0">
                <a:latin typeface="宋体" panose="02010600030101010101" pitchFamily="2" charset="-122"/>
                <a:ea typeface="宋体" panose="02010600030101010101" pitchFamily="2" charset="-122"/>
              </a:rPr>
              <a:t>两个模型分别进行</a:t>
            </a: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次</a:t>
            </a: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折交叉验证，绘制评分对比曲线</a:t>
            </a:r>
            <a:r>
              <a:rPr lang="zh-CN" altLang="en-US" sz="2400" dirty="0" smtClean="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1421" y="475111"/>
            <a:ext cx="8015583" cy="534035"/>
          </a:xfrm>
        </p:spPr>
        <p:txBody>
          <a:bodyPr/>
          <a:lstStyle/>
          <a:p>
            <a:pPr eaLnBrk="1" fontAlgn="auto" hangingPunct="1">
              <a:defRPr/>
            </a:pPr>
            <a:r>
              <a:rPr lang="zh-CN" altLang="en-US" noProof="1"/>
              <a:t>上机练习</a:t>
            </a:r>
            <a:endParaRPr noProof="1"/>
          </a:p>
        </p:txBody>
      </p:sp>
      <p:sp>
        <p:nvSpPr>
          <p:cNvPr id="30723" name="文本框 2"/>
          <p:cNvSpPr txBox="1">
            <a:spLocks noChangeArrowheads="1"/>
          </p:cNvSpPr>
          <p:nvPr/>
        </p:nvSpPr>
        <p:spPr bwMode="auto">
          <a:xfrm>
            <a:off x="1450975" y="1427525"/>
            <a:ext cx="1001034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Light" panose="020F0302020204030204" charset="0"/>
                <a:ea typeface="微软雅黑 Light" panose="020B0502040204020203" charset="-122"/>
              </a:defRPr>
            </a:lvl1pPr>
            <a:lvl2pPr marL="742950" indent="-285750">
              <a:defRPr>
                <a:solidFill>
                  <a:schemeClr val="tx1"/>
                </a:solidFill>
                <a:latin typeface="Calibri Light" panose="020F0302020204030204" charset="0"/>
                <a:ea typeface="微软雅黑 Light" panose="020B0502040204020203" charset="-122"/>
              </a:defRPr>
            </a:lvl2pPr>
            <a:lvl3pPr marL="1143000" indent="-228600">
              <a:defRPr>
                <a:solidFill>
                  <a:schemeClr val="tx1"/>
                </a:solidFill>
                <a:latin typeface="Calibri Light" panose="020F0302020204030204" charset="0"/>
                <a:ea typeface="微软雅黑 Light" panose="020B0502040204020203" charset="-122"/>
              </a:defRPr>
            </a:lvl3pPr>
            <a:lvl4pPr marL="1600200" indent="-228600">
              <a:defRPr>
                <a:solidFill>
                  <a:schemeClr val="tx1"/>
                </a:solidFill>
                <a:latin typeface="Calibri Light" panose="020F0302020204030204" charset="0"/>
                <a:ea typeface="微软雅黑 Light" panose="020B0502040204020203" charset="-122"/>
              </a:defRPr>
            </a:lvl4pPr>
            <a:lvl5pPr marL="2057400" indent="-228600">
              <a:defRPr>
                <a:solidFill>
                  <a:schemeClr val="tx1"/>
                </a:solidFill>
                <a:latin typeface="Calibri Light" panose="020F0302020204030204" charset="0"/>
                <a:ea typeface="微软雅黑 Light" panose="020B0502040204020203" charset="-122"/>
              </a:defRPr>
            </a:lvl5pPr>
            <a:lvl6pPr marL="25146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6pPr>
            <a:lvl7pPr marL="29718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7pPr>
            <a:lvl8pPr marL="34290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8pPr>
            <a:lvl9pPr marL="38862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9pPr>
          </a:lstStyle>
          <a:p>
            <a:pPr>
              <a:lnSpc>
                <a:spcPct val="150000"/>
              </a:lnSpc>
            </a:pPr>
            <a:r>
              <a:rPr lang="en-US" altLang="zh-CN" sz="2400" dirty="0" smtClean="0">
                <a:latin typeface="宋体" panose="02010600030101010101" pitchFamily="2" charset="-122"/>
                <a:ea typeface="宋体" panose="02010600030101010101" pitchFamily="2" charset="-122"/>
              </a:rPr>
              <a:t>3.</a:t>
            </a:r>
            <a:r>
              <a:rPr lang="zh-CN" altLang="en-US" sz="2400" dirty="0" smtClean="0">
                <a:latin typeface="宋体" panose="02010600030101010101" pitchFamily="2" charset="-122"/>
                <a:ea typeface="宋体" panose="02010600030101010101" pitchFamily="2" charset="-122"/>
              </a:rPr>
              <a:t>实现我国经济指标的降维处理</a:t>
            </a:r>
            <a:r>
              <a:rPr lang="zh-CN" altLang="zh-CN" sz="2400" dirty="0" smtClean="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要求：</a:t>
            </a:r>
            <a:endParaRPr lang="zh-CN" altLang="zh-CN" sz="2400" dirty="0">
              <a:latin typeface="宋体" panose="02010600030101010101" pitchFamily="2" charset="-122"/>
              <a:ea typeface="宋体" panose="02010600030101010101" pitchFamily="2" charset="-122"/>
            </a:endParaRPr>
          </a:p>
          <a:p>
            <a:pPr fontAlgn="ctr">
              <a:lnSpc>
                <a:spcPct val="150000"/>
              </a:lnSpc>
            </a:pPr>
            <a:r>
              <a:rPr lang="en-US" altLang="zh-CN" sz="2400" dirty="0">
                <a:latin typeface="宋体" panose="02010600030101010101" pitchFamily="2" charset="-122"/>
                <a:ea typeface="宋体" panose="02010600030101010101" pitchFamily="2" charset="-122"/>
              </a:rPr>
              <a:t>(1</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导入经济发展指标数据集；</a:t>
            </a:r>
            <a:endParaRPr lang="en-US" altLang="zh-CN" sz="2400" dirty="0" smtClean="0">
              <a:latin typeface="宋体" panose="02010600030101010101" pitchFamily="2" charset="-122"/>
              <a:ea typeface="宋体" panose="02010600030101010101" pitchFamily="2" charset="-122"/>
            </a:endParaRPr>
          </a:p>
          <a:p>
            <a:pPr fontAlgn="ctr">
              <a:lnSpc>
                <a:spcPct val="150000"/>
              </a:lnSpc>
            </a:pPr>
            <a:r>
              <a:rPr lang="en-US" altLang="zh-CN" sz="2400" dirty="0" smtClean="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利用</a:t>
            </a:r>
            <a:r>
              <a:rPr lang="en-US" altLang="zh-CN" sz="2400" dirty="0" smtClean="0">
                <a:latin typeface="宋体" panose="02010600030101010101" pitchFamily="2" charset="-122"/>
                <a:ea typeface="宋体" panose="02010600030101010101" pitchFamily="2" charset="-122"/>
              </a:rPr>
              <a:t>PCA</a:t>
            </a:r>
            <a:r>
              <a:rPr lang="zh-CN" altLang="en-US" sz="2400" dirty="0" smtClean="0">
                <a:latin typeface="宋体" panose="02010600030101010101" pitchFamily="2" charset="-122"/>
                <a:ea typeface="宋体" panose="02010600030101010101" pitchFamily="2" charset="-122"/>
              </a:rPr>
              <a:t>将数据集降至</a:t>
            </a:r>
            <a:r>
              <a:rPr lang="zh-CN" altLang="en-US" sz="2400" dirty="0">
                <a:latin typeface="宋体" panose="02010600030101010101" pitchFamily="2" charset="-122"/>
                <a:ea typeface="宋体" panose="02010600030101010101" pitchFamily="2" charset="-122"/>
              </a:rPr>
              <a:t>两</a:t>
            </a:r>
            <a:r>
              <a:rPr lang="zh-CN" altLang="en-US" sz="2400" dirty="0" smtClean="0">
                <a:latin typeface="宋体" panose="02010600030101010101" pitchFamily="2" charset="-122"/>
                <a:ea typeface="宋体" panose="02010600030101010101" pitchFamily="2" charset="-122"/>
              </a:rPr>
              <a:t>维</a:t>
            </a:r>
            <a:r>
              <a:rPr lang="zh-CN" altLang="zh-CN" sz="2400" dirty="0" smtClean="0">
                <a:latin typeface="宋体" panose="02010600030101010101" pitchFamily="2" charset="-122"/>
                <a:ea typeface="宋体" panose="02010600030101010101" pitchFamily="2" charset="-122"/>
              </a:rPr>
              <a:t>；</a:t>
            </a:r>
            <a:endParaRPr lang="en-US" altLang="zh-CN" sz="2400" dirty="0" smtClean="0">
              <a:latin typeface="宋体" panose="02010600030101010101" pitchFamily="2" charset="-122"/>
              <a:ea typeface="宋体" panose="02010600030101010101" pitchFamily="2" charset="-122"/>
            </a:endParaRPr>
          </a:p>
          <a:p>
            <a:pPr fontAlgn="ctr">
              <a:lnSpc>
                <a:spcPct val="150000"/>
              </a:lnSpc>
            </a:pPr>
            <a:r>
              <a:rPr lang="en-US" altLang="zh-CN" sz="2400" dirty="0" smtClean="0">
                <a:latin typeface="宋体" panose="02010600030101010101" pitchFamily="2" charset="-122"/>
                <a:ea typeface="宋体" panose="02010600030101010101" pitchFamily="2" charset="-122"/>
              </a:rPr>
              <a:t>(3) </a:t>
            </a:r>
            <a:r>
              <a:rPr lang="zh-CN" altLang="en-US" sz="2400" dirty="0" smtClean="0">
                <a:latin typeface="宋体" panose="02010600030101010101" pitchFamily="2" charset="-122"/>
                <a:ea typeface="宋体" panose="02010600030101010101" pitchFamily="2" charset="-122"/>
              </a:rPr>
              <a:t>绘制结果图求出经济发展最佳省份</a:t>
            </a:r>
            <a:r>
              <a:rPr lang="zh-CN" altLang="zh-CN" sz="2400" dirty="0" smtClean="0">
                <a:latin typeface="宋体" panose="02010600030101010101" pitchFamily="2" charset="-122"/>
                <a:ea typeface="宋体" panose="02010600030101010101" pitchFamily="2" charset="-122"/>
              </a:rPr>
              <a:t>。</a:t>
            </a:r>
            <a:endParaRPr lang="en-US" altLang="zh-CN" sz="2400" dirty="0" smtClean="0">
              <a:latin typeface="宋体" panose="02010600030101010101" pitchFamily="2" charset="-122"/>
              <a:ea typeface="宋体" panose="02010600030101010101" pitchFamily="2" charset="-122"/>
            </a:endParaRPr>
          </a:p>
          <a:p>
            <a:pPr fontAlgn="ctr"/>
            <a:endParaRPr lang="zh-CN" altLang="zh-CN"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ISLIDE.ADDREMOVEWATERMARK" val="TSZ3HzpXfZ"/>
</p:tagLst>
</file>

<file path=ppt/tags/tag11.xml><?xml version="1.0" encoding="utf-8"?>
<p:tagLst xmlns:p="http://schemas.openxmlformats.org/presentationml/2006/main">
  <p:tag name="KSO_WM_UNIT_TABLE_BEAUTIFY" val="smartTable{e66a4a73-5ae1-443a-8df0-c28f62451dcf}"/>
  <p:tag name="TABLE_RECT" val="144*225*671.85*90"/>
  <p:tag name="TABLE_EMPHASIZE_COLOR" val="16736824"/>
  <p:tag name="TABLE_ONEKEY_SKIN_IDX" val="3"/>
  <p:tag name="TABLE_SKINIDX" val="2"/>
  <p:tag name="TABLE_COLORIDX" val="16"/>
  <p:tag name="TABLE_ENDDRAG_ORIGIN_RECT" val="777*169"/>
  <p:tag name="TABLE_ENDDRAG_RECT" val="86*225*777*169"/>
</p:tagLst>
</file>

<file path=ppt/tags/tag12.xml><?xml version="1.0" encoding="utf-8"?>
<p:tagLst xmlns:p="http://schemas.openxmlformats.org/presentationml/2006/main">
  <p:tag name="ISLIDE.ADDREMOVEWATERMARK" val="TSZ3HzpXfZ"/>
</p:tagLst>
</file>

<file path=ppt/tags/tag13.xml><?xml version="1.0" encoding="utf-8"?>
<p:tagLst xmlns:p="http://schemas.openxmlformats.org/presentationml/2006/main">
  <p:tag name="ISLIDE.ADDREMOVEWATERMARK" val="TSZ3HzpXfZ"/>
</p:tagLst>
</file>

<file path=ppt/tags/tag14.xml><?xml version="1.0" encoding="utf-8"?>
<p:tagLst xmlns:p="http://schemas.openxmlformats.org/presentationml/2006/main">
  <p:tag name="ISLIDE.ADDREMOVEWATERMARK" val="TSZ3HzpXfZ"/>
</p:tagLst>
</file>

<file path=ppt/tags/tag15.xml><?xml version="1.0" encoding="utf-8"?>
<p:tagLst xmlns:p="http://schemas.openxmlformats.org/presentationml/2006/main">
  <p:tag name="ISLIDE.ADDREMOVEWATERMARK" val="TSZ3HzpXfZ"/>
</p:tagLst>
</file>

<file path=ppt/tags/tag16.xml><?xml version="1.0" encoding="utf-8"?>
<p:tagLst xmlns:p="http://schemas.openxmlformats.org/presentationml/2006/main">
  <p:tag name="ISLIDE.ADDREMOVEWATERMARK" val="TSZ3HzpXfZ"/>
</p:tagLst>
</file>

<file path=ppt/tags/tag17.xml><?xml version="1.0" encoding="utf-8"?>
<p:tagLst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Lst>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12961</Words>
  <Application>WPS 演示</Application>
  <PresentationFormat>宽屏</PresentationFormat>
  <Paragraphs>1647</Paragraphs>
  <Slides>77</Slides>
  <Notes>23</Notes>
  <HiddenSlides>2</HiddenSlides>
  <MMClips>0</MMClips>
  <ScaleCrop>false</ScaleCrop>
  <HeadingPairs>
    <vt:vector size="8" baseType="variant">
      <vt:variant>
        <vt:lpstr>已用的字体</vt:lpstr>
      </vt:variant>
      <vt:variant>
        <vt:i4>27</vt:i4>
      </vt:variant>
      <vt:variant>
        <vt:lpstr>主题</vt:lpstr>
      </vt:variant>
      <vt:variant>
        <vt:i4>3</vt:i4>
      </vt:variant>
      <vt:variant>
        <vt:lpstr>嵌入 OLE 服务器</vt:lpstr>
      </vt:variant>
      <vt:variant>
        <vt:i4>13</vt:i4>
      </vt:variant>
      <vt:variant>
        <vt:lpstr>幻灯片标题</vt:lpstr>
      </vt:variant>
      <vt:variant>
        <vt:i4>77</vt:i4>
      </vt:variant>
    </vt:vector>
  </HeadingPairs>
  <TitlesOfParts>
    <vt:vector size="120" baseType="lpstr">
      <vt:lpstr>Arial</vt:lpstr>
      <vt:lpstr>宋体</vt:lpstr>
      <vt:lpstr>Wingdings</vt:lpstr>
      <vt:lpstr>Verdana</vt:lpstr>
      <vt:lpstr>微软雅黑</vt:lpstr>
      <vt:lpstr>Calibri</vt:lpstr>
      <vt:lpstr>Microsoft Sans Serif</vt:lpstr>
      <vt:lpstr>华文楷体</vt:lpstr>
      <vt:lpstr>Noto Sans S Chinese Medium</vt:lpstr>
      <vt:lpstr>Century Gothic</vt:lpstr>
      <vt:lpstr>Noto Sans S Chinese Regular</vt:lpstr>
      <vt:lpstr>Calibri</vt:lpstr>
      <vt:lpstr>等线</vt:lpstr>
      <vt:lpstr>Cambria Math</vt:lpstr>
      <vt:lpstr>Cambria</vt:lpstr>
      <vt:lpstr>Calibri Light</vt:lpstr>
      <vt:lpstr>Arial Unicode MS</vt:lpstr>
      <vt:lpstr>Times New Roman</vt:lpstr>
      <vt:lpstr>Calibri Light</vt:lpstr>
      <vt:lpstr>楷体_GB2312</vt:lpstr>
      <vt:lpstr>新宋体</vt:lpstr>
      <vt:lpstr>Cambria Math</vt:lpstr>
      <vt:lpstr>Consolas</vt:lpstr>
      <vt:lpstr>Arial</vt:lpstr>
      <vt:lpstr>微软雅黑 Light</vt:lpstr>
      <vt:lpstr>仿宋</vt:lpstr>
      <vt:lpstr>等线 Light</vt:lpstr>
      <vt:lpstr>第一PPT，www.1ppt.com</vt:lpstr>
      <vt:lpstr>Office 主题​​</vt:lpstr>
      <vt:lpstr>1_第一PPT，www.1ppt.com</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降维的概念</vt:lpstr>
      <vt:lpstr>降维的基本概念</vt:lpstr>
      <vt:lpstr>降维的基本概念</vt:lpstr>
      <vt:lpstr>常见降维算法</vt:lpstr>
      <vt:lpstr>PowerPoint 演示文稿</vt:lpstr>
      <vt:lpstr>问题的提出</vt:lpstr>
      <vt:lpstr>PowerPoint 演示文稿</vt:lpstr>
      <vt:lpstr>数据压缩2D-1D</vt:lpstr>
      <vt:lpstr>数据压缩3D-2D</vt:lpstr>
      <vt:lpstr>数据可视化</vt:lpstr>
      <vt:lpstr>数据可视化</vt:lpstr>
      <vt:lpstr>数据可视化</vt:lpstr>
      <vt:lpstr>降维分析</vt:lpstr>
      <vt:lpstr>降维分析</vt:lpstr>
      <vt:lpstr>PowerPoint 演示文稿</vt:lpstr>
      <vt:lpstr>PowerPoint 演示文稿</vt:lpstr>
      <vt:lpstr>PowerPoint 演示文稿</vt:lpstr>
      <vt:lpstr>PCA算法的流程图</vt:lpstr>
      <vt:lpstr>主成分分析（PCA）算法</vt:lpstr>
      <vt:lpstr>主成分分析（PCA）算法</vt:lpstr>
      <vt:lpstr>主成分分析（PCA）算法</vt:lpstr>
      <vt:lpstr>方差贡献率</vt:lpstr>
      <vt:lpstr>方差贡献率</vt:lpstr>
      <vt:lpstr>PowerPoint 演示文稿</vt:lpstr>
      <vt:lpstr>PCA的算法步骤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PCA算法实现</vt:lpstr>
      <vt:lpstr>PCA算法的主要代码</vt:lpstr>
      <vt:lpstr>PCA算法的主要代码</vt:lpstr>
      <vt:lpstr>PowerPoint 演示文稿</vt:lpstr>
      <vt:lpstr>PowerPoint 演示文稿</vt:lpstr>
      <vt:lpstr>PCA算法实例1——鸢尾花数据集</vt:lpstr>
      <vt:lpstr>主要参数如下：</vt:lpstr>
      <vt:lpstr>PowerPoint 演示文稿</vt:lpstr>
      <vt:lpstr>PowerPoint 演示文稿</vt:lpstr>
      <vt:lpstr>PCA算法应用的实验结果</vt:lpstr>
      <vt:lpstr>PCA算法应用的实验结果</vt:lpstr>
      <vt:lpstr>PCA算法应用的实验结果</vt:lpstr>
      <vt:lpstr>PCA算法实例1的主要代码</vt:lpstr>
      <vt:lpstr>PowerPoint 演示文稿</vt:lpstr>
      <vt:lpstr>PowerPoint 演示文稿</vt:lpstr>
      <vt:lpstr>PCA算法实例1的主要代码</vt:lpstr>
      <vt:lpstr>PCA算法实例1的主要代码</vt:lpstr>
      <vt:lpstr>PCA算法实例1的实验结果</vt:lpstr>
      <vt:lpstr>PCA算法实例2</vt:lpstr>
      <vt:lpstr>PCA算法实例2</vt:lpstr>
      <vt:lpstr>PCA算法实例2</vt:lpstr>
      <vt:lpstr>PCA算法实例2</vt:lpstr>
      <vt:lpstr>PCA算法实例2</vt:lpstr>
      <vt:lpstr>PCA算法实例2</vt:lpstr>
      <vt:lpstr>PCA算法的优点</vt:lpstr>
      <vt:lpstr>PCA算法的缺点</vt:lpstr>
      <vt:lpstr>PowerPoint 演示文稿</vt:lpstr>
      <vt:lpstr>PCA算法的改进与优化</vt:lpstr>
      <vt:lpstr>PCA算法的改进与优化</vt:lpstr>
      <vt:lpstr>上机练习</vt:lpstr>
      <vt:lpstr>上机练习</vt:lpstr>
    </vt:vector>
  </TitlesOfParts>
  <Company>tyut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难得糊涂</cp:lastModifiedBy>
  <cp:revision>343</cp:revision>
  <dcterms:created xsi:type="dcterms:W3CDTF">2017-11-09T06:06:00Z</dcterms:created>
  <dcterms:modified xsi:type="dcterms:W3CDTF">2025-04-28T09:17:17Z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49EA1A872D744607A22B4A133C1270EF_12</vt:lpwstr>
  </property>
  <property fmtid="{D5CDD505-2E9C-101B-9397-08002B2CF9AE}" pid="3" name="KSOProductBuildVer">
    <vt:lpwstr>2052-12.1.0.20784</vt:lpwstr>
  </property>
</Properties>
</file>