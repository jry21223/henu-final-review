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2.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3.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4.xml" ContentType="application/vnd.openxmlformats-officedocument.presentationml.tags+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 id="2147483671" r:id="rId3"/>
    <p:sldMasterId id="2147483683" r:id="rId4"/>
    <p:sldMasterId id="2147483695" r:id="rId5"/>
  </p:sldMasterIdLst>
  <p:notesMasterIdLst>
    <p:notesMasterId r:id="rId60"/>
  </p:notesMasterIdLst>
  <p:handoutMasterIdLst>
    <p:handoutMasterId r:id="rId61"/>
  </p:handoutMasterIdLst>
  <p:sldIdLst>
    <p:sldId id="256" r:id="rId6"/>
    <p:sldId id="411" r:id="rId7"/>
    <p:sldId id="386" r:id="rId8"/>
    <p:sldId id="412" r:id="rId9"/>
    <p:sldId id="354" r:id="rId10"/>
    <p:sldId id="353" r:id="rId11"/>
    <p:sldId id="388" r:id="rId12"/>
    <p:sldId id="395" r:id="rId13"/>
    <p:sldId id="403" r:id="rId14"/>
    <p:sldId id="397" r:id="rId15"/>
    <p:sldId id="406" r:id="rId16"/>
    <p:sldId id="373" r:id="rId17"/>
    <p:sldId id="474" r:id="rId18"/>
    <p:sldId id="442" r:id="rId19"/>
    <p:sldId id="404" r:id="rId20"/>
    <p:sldId id="413" r:id="rId21"/>
    <p:sldId id="390" r:id="rId22"/>
    <p:sldId id="310" r:id="rId23"/>
    <p:sldId id="476" r:id="rId24"/>
    <p:sldId id="427" r:id="rId25"/>
    <p:sldId id="428" r:id="rId26"/>
    <p:sldId id="429" r:id="rId27"/>
    <p:sldId id="430" r:id="rId28"/>
    <p:sldId id="431" r:id="rId29"/>
    <p:sldId id="477" r:id="rId30"/>
    <p:sldId id="478" r:id="rId31"/>
    <p:sldId id="479" r:id="rId32"/>
    <p:sldId id="535" r:id="rId33"/>
    <p:sldId id="536" r:id="rId34"/>
    <p:sldId id="510" r:id="rId35"/>
    <p:sldId id="511" r:id="rId36"/>
    <p:sldId id="512" r:id="rId37"/>
    <p:sldId id="513" r:id="rId38"/>
    <p:sldId id="432" r:id="rId39"/>
    <p:sldId id="480" r:id="rId40"/>
    <p:sldId id="312" r:id="rId41"/>
    <p:sldId id="418" r:id="rId42"/>
    <p:sldId id="419" r:id="rId43"/>
    <p:sldId id="420" r:id="rId44"/>
    <p:sldId id="421" r:id="rId45"/>
    <p:sldId id="434" r:id="rId46"/>
    <p:sldId id="422" r:id="rId47"/>
    <p:sldId id="423" r:id="rId48"/>
    <p:sldId id="424" r:id="rId49"/>
    <p:sldId id="425" r:id="rId50"/>
    <p:sldId id="435" r:id="rId51"/>
    <p:sldId id="436" r:id="rId52"/>
    <p:sldId id="437" r:id="rId53"/>
    <p:sldId id="438" r:id="rId54"/>
    <p:sldId id="439" r:id="rId55"/>
    <p:sldId id="443" r:id="rId56"/>
    <p:sldId id="444" r:id="rId57"/>
    <p:sldId id="440" r:id="rId58"/>
    <p:sldId id="441" r:id="rId59"/>
  </p:sldIdLst>
  <p:sldSz cx="12192000" cy="6858000"/>
  <p:notesSz cx="6858000" cy="9144000"/>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642" userDrawn="1">
          <p15:clr>
            <a:srgbClr val="A4A3A4"/>
          </p15:clr>
        </p15:guide>
        <p15:guide id="4" pos="7038" userDrawn="1">
          <p15:clr>
            <a:srgbClr val="A4A3A4"/>
          </p15:clr>
        </p15:guide>
        <p15:guide id="5" orient="horz" pos="3793" userDrawn="1">
          <p15:clr>
            <a:srgbClr val="A4A3A4"/>
          </p15:clr>
        </p15:guide>
        <p15:guide id="6" orient="horz" pos="799" userDrawn="1">
          <p15:clr>
            <a:srgbClr val="A4A3A4"/>
          </p15:clr>
        </p15:guide>
        <p15:guide id="7" pos="643" userDrawn="1">
          <p15:clr>
            <a:srgbClr val="A4A3A4"/>
          </p15:clr>
        </p15:guide>
        <p15:guide id="8" pos="703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lei" initial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A5A5A5"/>
    <a:srgbClr val="5F5F5F"/>
    <a:srgbClr val="606060"/>
    <a:srgbClr val="FEA205"/>
    <a:srgbClr val="E9EBEC"/>
    <a:srgbClr val="EAECED"/>
    <a:srgbClr val="E8EBEC"/>
    <a:srgbClr val="E3E6E7"/>
    <a:srgbClr val="F69E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64" autoAdjust="0"/>
    <p:restoredTop sz="93439" autoAdjust="0"/>
  </p:normalViewPr>
  <p:slideViewPr>
    <p:cSldViewPr snapToGrid="0" showGuides="1">
      <p:cViewPr varScale="1">
        <p:scale>
          <a:sx n="87" d="100"/>
          <a:sy n="87" d="100"/>
        </p:scale>
        <p:origin x="67" y="110"/>
      </p:cViewPr>
      <p:guideLst>
        <p:guide orient="horz" pos="2160"/>
        <p:guide pos="3840"/>
        <p:guide pos="642"/>
        <p:guide pos="7038"/>
        <p:guide orient="horz" pos="3793"/>
        <p:guide orient="horz" pos="799"/>
        <p:guide pos="643"/>
        <p:guide pos="7039"/>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46" d="100"/>
          <a:sy n="46" d="100"/>
        </p:scale>
        <p:origin x="2316"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commentAuthors" Target="commentAuthor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handoutMaster" Target="handoutMasters/handout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5C123-D6CD-4046-9E13-CA7186604EF0}" type="datetimeFigureOut">
              <a:rPr lang="zh-CN" altLang="en-US" smtClean="0"/>
              <a:t>2025/5/29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89000D-5344-416A-A6D3-78D1717783E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26DC34-D585-42D5-89F7-991AD639A885}" type="datetimeFigureOut">
              <a:rPr lang="zh-CN" altLang="en-US" smtClean="0"/>
              <a:t>2025/5/29</a:t>
            </a:fld>
            <a:endParaRPr lang="zh-CN" altLang="en-US"/>
          </a:p>
        </p:txBody>
      </p:sp>
      <p:sp>
        <p:nvSpPr>
          <p:cNvPr id="4" name="幻灯片图像占位符 3"/>
          <p:cNvSpPr>
            <a:spLocks noGrp="1" noRot="1" noChangeAspect="1"/>
          </p:cNvSpPr>
          <p:nvPr>
            <p:ph type="sldImg" idx="2"/>
          </p:nvPr>
        </p:nvSpPr>
        <p:spPr>
          <a:xfrm>
            <a:off x="228600" y="630238"/>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2743B-58E3-4952-98AC-60B7F330573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2E6784-1089-4B5A-B8EF-491EE93DED18}" type="slidenum">
              <a:rPr lang="zh-CN" altLang="en-US" smtClean="0"/>
              <a:t>19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sz="400" dirty="0"/>
          </a:p>
        </p:txBody>
      </p:sp>
      <p:sp>
        <p:nvSpPr>
          <p:cNvPr id="4" name="灯片编号占位符 3"/>
          <p:cNvSpPr>
            <a:spLocks noGrp="1"/>
          </p:cNvSpPr>
          <p:nvPr>
            <p:ph type="sldNum" sz="quarter" idx="5"/>
          </p:nvPr>
        </p:nvSpPr>
        <p:spPr/>
        <p:txBody>
          <a:bodyPr/>
          <a:lstStyle/>
          <a:p>
            <a:fld id="{3C2E6784-1089-4B5A-B8EF-491EE93DED18}" type="slidenum">
              <a:rPr lang="zh-CN" altLang="en-US" smtClean="0"/>
              <a:t>25</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3C2E6784-1089-4B5A-B8EF-491EE93DED18}" type="slidenum">
              <a:rPr lang="zh-CN" altLang="en-US" smtClean="0"/>
              <a:t>26</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27</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F1E2743B-58E3-4952-98AC-60B7F3305738}" type="slidenum">
              <a:rPr lang="zh-CN" altLang="en-US" smtClean="0"/>
              <a:t>28</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2743B-58E3-4952-98AC-60B7F3305738}" type="slidenum">
              <a:rPr lang="zh-CN" altLang="en-US" smtClean="0"/>
              <a:t>29</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F1E2743B-58E3-4952-98AC-60B7F3305738}" type="slidenum">
              <a:rPr lang="zh-CN" altLang="en-US" smtClean="0"/>
              <a:t>30</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2743B-58E3-4952-98AC-60B7F3305738}" type="slidenum">
              <a:rPr lang="zh-CN" altLang="en-US" smtClean="0"/>
              <a:t>31</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2743B-58E3-4952-98AC-60B7F3305738}" type="slidenum">
              <a:rPr lang="zh-CN" altLang="en-US" smtClean="0"/>
              <a:t>32</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E2743B-58E3-4952-98AC-60B7F3305738}" type="slidenum">
              <a:rPr lang="zh-CN" altLang="en-US" smtClean="0"/>
              <a:t>33</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35</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36</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2E6784-1089-4B5A-B8EF-491EE93DED18}"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2E6784-1089-4B5A-B8EF-491EE93DED18}"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2E6784-1089-4B5A-B8EF-491EE93DED18}"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2E6784-1089-4B5A-B8EF-491EE93DED18}"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2E6784-1089-4B5A-B8EF-491EE93DED18}"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2E6784-1089-4B5A-B8EF-491EE93DED18}"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2E6784-1089-4B5A-B8EF-491EE93DED18}"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2E6784-1089-4B5A-B8EF-491EE93DED18}"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2E6784-1089-4B5A-B8EF-491EE93DED18}" type="slidenum">
              <a:rPr lang="zh-CN" altLang="en-US" smtClean="0"/>
              <a:t>51</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2E6784-1089-4B5A-B8EF-491EE93DED18}" type="slidenum">
              <a:rPr lang="zh-CN" altLang="en-US" smtClean="0"/>
              <a:t>52</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53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11" y="299800"/>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p>
        </p:txBody>
      </p:sp>
      <p:sp>
        <p:nvSpPr>
          <p:cNvPr id="5" name="椭圆 4"/>
          <p:cNvSpPr>
            <a:spLocks noChangeAspect="1"/>
          </p:cNvSpPr>
          <p:nvPr userDrawn="1"/>
        </p:nvSpPr>
        <p:spPr>
          <a:xfrm>
            <a:off x="708350" y="341440"/>
            <a:ext cx="238543"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1" y="736170"/>
            <a:ext cx="278299"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11" y="360720"/>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矩形 3"/>
          <p:cNvSpPr/>
          <p:nvPr userDrawn="1"/>
        </p:nvSpPr>
        <p:spPr>
          <a:xfrm>
            <a:off x="8325228" y="6545429"/>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5167"/>
            <a:ext cx="10972800" cy="1143000"/>
          </a:xfrm>
          <a:prstGeom prst="rect">
            <a:avLst/>
          </a:prstGeom>
        </p:spPr>
        <p:txBody>
          <a:bodyPr lIns="121917" tIns="60958" rIns="121917" bIns="60958"/>
          <a:lstStyle/>
          <a:p>
            <a:r>
              <a:rPr lang="zh-CN" altLang="en-US"/>
              <a:t>单击此处编辑母版标题样式</a:t>
            </a:r>
          </a:p>
        </p:txBody>
      </p:sp>
      <p:sp>
        <p:nvSpPr>
          <p:cNvPr id="3" name="内容占位符 2"/>
          <p:cNvSpPr>
            <a:spLocks noGrp="1"/>
          </p:cNvSpPr>
          <p:nvPr>
            <p:ph idx="1"/>
          </p:nvPr>
        </p:nvSpPr>
        <p:spPr>
          <a:xfrm>
            <a:off x="609600" y="1600205"/>
            <a:ext cx="10972800" cy="4525433"/>
          </a:xfrm>
          <a:prstGeom prst="rect">
            <a:avLst/>
          </a:prstGeom>
        </p:spPr>
        <p:txBody>
          <a:bodyPr lIns="121917" tIns="60958" rIns="121917" bIns="60958"/>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609600" y="6356355"/>
            <a:ext cx="2844800" cy="366183"/>
          </a:xfrm>
          <a:prstGeom prst="rect">
            <a:avLst/>
          </a:prstGeom>
        </p:spPr>
        <p:txBody>
          <a:bodyPr lIns="121917" tIns="60958" rIns="121917" bIns="60958"/>
          <a:lstStyle>
            <a:lvl1pPr>
              <a:defRPr/>
            </a:lvl1pPr>
          </a:lstStyle>
          <a:p>
            <a:pPr>
              <a:defRPr/>
            </a:pPr>
            <a:fld id="{B0F34D6F-F29A-4B09-B655-E0971D462D4D}" type="datetimeFigureOut">
              <a:rPr lang="zh-CN" altLang="en-US"/>
              <a:t>2025/5/29</a:t>
            </a:fld>
            <a:endParaRPr lang="zh-CN" altLang="en-US"/>
          </a:p>
        </p:txBody>
      </p:sp>
      <p:sp>
        <p:nvSpPr>
          <p:cNvPr id="5" name="页脚占位符 4"/>
          <p:cNvSpPr>
            <a:spLocks noGrp="1"/>
          </p:cNvSpPr>
          <p:nvPr>
            <p:ph type="ftr" sz="quarter" idx="11"/>
          </p:nvPr>
        </p:nvSpPr>
        <p:spPr>
          <a:xfrm>
            <a:off x="4165600" y="6356355"/>
            <a:ext cx="3860800" cy="366183"/>
          </a:xfrm>
          <a:prstGeom prst="rect">
            <a:avLst/>
          </a:prstGeom>
        </p:spPr>
        <p:txBody>
          <a:bodyPr lIns="121917" tIns="60958" rIns="121917" bIns="60958"/>
          <a:lstStyle>
            <a:lvl1pPr>
              <a:defRPr/>
            </a:lvl1pPr>
          </a:lstStyle>
          <a:p>
            <a:pPr>
              <a:defRPr/>
            </a:pPr>
            <a:endParaRPr lang="zh-CN" altLang="en-US"/>
          </a:p>
        </p:txBody>
      </p:sp>
      <p:sp>
        <p:nvSpPr>
          <p:cNvPr id="6" name="幻灯片编号占位符 5"/>
          <p:cNvSpPr>
            <a:spLocks noGrp="1"/>
          </p:cNvSpPr>
          <p:nvPr>
            <p:ph type="sldNum" sz="quarter" idx="12"/>
          </p:nvPr>
        </p:nvSpPr>
        <p:spPr>
          <a:xfrm>
            <a:off x="8737600" y="6356355"/>
            <a:ext cx="2844800" cy="366183"/>
          </a:xfrm>
          <a:prstGeom prst="rect">
            <a:avLst/>
          </a:prstGeom>
        </p:spPr>
        <p:txBody>
          <a:bodyPr lIns="121917" tIns="60958" rIns="121917" bIns="60958"/>
          <a:lstStyle>
            <a:lvl1pPr>
              <a:defRPr/>
            </a:lvl1pPr>
          </a:lstStyle>
          <a:p>
            <a:pPr>
              <a:defRPr/>
            </a:pPr>
            <a:fld id="{E4318774-2AFB-4BC6-A124-21C0A835992E}"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4" name="标题 13"/>
          <p:cNvSpPr>
            <a:spLocks noGrp="1"/>
          </p:cNvSpPr>
          <p:nvPr>
            <p:ph type="ctrTitle"/>
          </p:nvPr>
        </p:nvSpPr>
        <p:spPr>
          <a:xfrm>
            <a:off x="1910080" y="359898"/>
            <a:ext cx="9875520" cy="1472184"/>
          </a:xfrm>
        </p:spPr>
        <p:txBody>
          <a:bodyPr anchor="b"/>
          <a:lstStyle>
            <a:lvl1pPr algn="l">
              <a:defRPr/>
            </a:lvl1pPr>
          </a:lstStyle>
          <a:p>
            <a:r>
              <a:rPr kumimoji="0" lang="zh-CN" altLang="en-US"/>
              <a:t>单击此处编辑母版标题样式</a:t>
            </a:r>
            <a:endParaRPr kumimoji="0" lang="en-US"/>
          </a:p>
        </p:txBody>
      </p:sp>
      <p:sp>
        <p:nvSpPr>
          <p:cNvPr id="22" name="副标题 21"/>
          <p:cNvSpPr>
            <a:spLocks noGrp="1"/>
          </p:cNvSpPr>
          <p:nvPr>
            <p:ph type="subTitle" idx="1"/>
          </p:nvPr>
        </p:nvSpPr>
        <p:spPr>
          <a:xfrm>
            <a:off x="1910080" y="1850064"/>
            <a:ext cx="987552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20" name="页脚占位符 19"/>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10" name="灯片编号占位符 9"/>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
        <p:nvSpPr>
          <p:cNvPr id="8" name="椭圆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9" name="椭圆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5" name="页脚占位符 4"/>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矩形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标题 1"/>
          <p:cNvSpPr>
            <a:spLocks noGrp="1"/>
          </p:cNvSpPr>
          <p:nvPr>
            <p:ph type="title"/>
          </p:nvPr>
        </p:nvSpPr>
        <p:spPr>
          <a:xfrm>
            <a:off x="3437856" y="2600325"/>
            <a:ext cx="8534400" cy="2286000"/>
          </a:xfrm>
        </p:spPr>
        <p:txBody>
          <a:bodyPr anchor="t"/>
          <a:lstStyle>
            <a:lvl1pPr algn="l">
              <a:lnSpc>
                <a:spcPts val="4500"/>
              </a:lnSpc>
              <a:buNone/>
              <a:defRPr sz="4000" b="1"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3437856" y="1066800"/>
            <a:ext cx="85344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5" name="页脚占位符 4"/>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
        <p:nvSpPr>
          <p:cNvPr id="10" name="矩形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8" name="椭圆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9" name="椭圆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6" name="页脚占位符 5"/>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5160336"/>
            <a:ext cx="10972800" cy="1143000"/>
          </a:xfrm>
        </p:spPr>
        <p:txBody>
          <a:bodyPr anchor="ctr"/>
          <a:lstStyle>
            <a:lvl1pPr algn="ctr">
              <a:defRPr sz="4500" b="1" cap="none" baseline="0"/>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60960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621792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8" name="页脚占位符 7"/>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nchor="ct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4" name="页脚占位符 3"/>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矩形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日期占位符 1"/>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3" name="页脚占位符 2"/>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
        <p:nvSpPr>
          <p:cNvPr id="6" name="矩形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609600" y="2133603"/>
            <a:ext cx="108712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6" name="页脚占位符 5"/>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849195" y="1066800"/>
            <a:ext cx="3657600" cy="1981200"/>
          </a:xfrm>
        </p:spPr>
        <p:txBody>
          <a:bodyPr anchor="b">
            <a:noAutofit/>
          </a:bodyPr>
          <a:lstStyle>
            <a:lvl1pPr algn="l">
              <a:buNone/>
              <a:defRPr sz="2100" b="1">
                <a:effectLst/>
              </a:defRPr>
            </a:lvl1p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6" name="页脚占位符 5"/>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
        <p:nvSpPr>
          <p:cNvPr id="8" name="矩形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marR="0" lvl="0" indent="-283210" algn="l" defTabSz="914400" rtl="0" eaLnBrk="1" fontAlgn="auto" latinLnBrk="0" hangingPunct="1">
              <a:lnSpc>
                <a:spcPts val="3000"/>
              </a:lnSpc>
              <a:spcBef>
                <a:spcPts val="600"/>
              </a:spcBef>
              <a:spcAft>
                <a:spcPts val="0"/>
              </a:spcAft>
              <a:buClr>
                <a:srgbClr val="3891A7"/>
              </a:buClr>
              <a:buSzPct val="80000"/>
              <a:buFont typeface="Wingdings 2" panose="05020102010507070707"/>
              <a:buNone/>
              <a:defRPr/>
            </a:pPr>
            <a:endParaRPr kumimoji="0" lang="en-US" sz="32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3" name="图片占位符 2"/>
          <p:cNvSpPr>
            <a:spLocks noGrp="1"/>
          </p:cNvSpPr>
          <p:nvPr>
            <p:ph type="pic" idx="1"/>
          </p:nvPr>
        </p:nvSpPr>
        <p:spPr>
          <a:xfrm>
            <a:off x="1117600" y="1143008"/>
            <a:ext cx="5892800" cy="3514531"/>
          </a:xfrm>
          <a:prstGeom prst="roundRect">
            <a:avLst>
              <a:gd name="adj" fmla="val 783"/>
            </a:avLst>
          </a:prstGeom>
          <a:solidFill>
            <a:schemeClr val="bg2"/>
          </a:solidFill>
          <a:ln w="127000">
            <a:noFill/>
            <a:miter lim="800000"/>
          </a:ln>
          <a:effectLst/>
        </p:spPr>
        <p:txBody>
          <a:bodyPr lIns="91440" tIns="274320" anchor="t"/>
          <a:lstStyle>
            <a:lvl1pPr marL="0" indent="0" algn="l" eaLnBrk="1" latinLnBrk="0" hangingPunct="1">
              <a:buNone/>
              <a:defRPr sz="3200"/>
            </a:lvl1pPr>
          </a:lstStyle>
          <a:p>
            <a:pPr marL="0" algn="l" eaLnBrk="1" latinLnBrk="0" hangingPunct="1"/>
            <a:r>
              <a:rPr kumimoji="0" lang="zh-CN" altLang="en-US"/>
              <a:t>单击图标添加图片</a:t>
            </a:r>
            <a:endParaRPr kumimoji="0" lang="en-US" dirty="0"/>
          </a:p>
        </p:txBody>
      </p:sp>
      <p:sp>
        <p:nvSpPr>
          <p:cNvPr id="9" name="流程图: 过程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0" name="流程图: 过程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4" name="文本占位符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5" name="页脚占位符 4"/>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274644"/>
            <a:ext cx="24384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1524000" y="274645"/>
            <a:ext cx="7416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5" name="页脚占位符 4"/>
          <p:cNvSpPr>
            <a:spLocks noGrp="1"/>
          </p:cNvSpPr>
          <p:nvPr>
            <p:ph type="ftr" sz="quarter" idx="11"/>
          </p:nvPr>
        </p:nvSpPr>
        <p:spPr/>
        <p:txBody>
          <a:bodyPr/>
          <a:lstStyle/>
          <a:p>
            <a:endParaRPr lang="zh-CN" altLang="en-US">
              <a:solidFill>
                <a:srgbClr val="E7DEC9">
                  <a:shade val="50000"/>
                  <a:satMod val="200000"/>
                </a:srgb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t>5/29/2025</a:t>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t>5/29/2025</a:t>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t>5/29/2025</a:t>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p:spPr>
        <p:txBody>
          <a:bodyPr/>
          <a:lstStyle/>
          <a:p>
            <a:fld id="{87DE6118-2437-4B30-8E3C-4D2BE6020583}" type="datetimeFigureOut">
              <a:rPr lang="en-US" smtClean="0"/>
              <a:t>5/29/2025</a:t>
            </a:fld>
            <a:endParaRPr lang="en-US" dirty="0"/>
          </a:p>
        </p:txBody>
      </p:sp>
      <p:sp>
        <p:nvSpPr>
          <p:cNvPr id="5" name="Footer Placeholder 4"/>
          <p:cNvSpPr>
            <a:spLocks noGrp="1"/>
          </p:cNvSpPr>
          <p:nvPr>
            <p:ph type="ftr" sz="quarter" idx="11"/>
          </p:nvPr>
        </p:nvSpPr>
        <p:spPr>
          <a:xfrm>
            <a:off x="2630198" y="6108175"/>
            <a:ext cx="7086022" cy="365125"/>
          </a:xfr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30"/>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5"/>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3"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3"/>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3"/>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4" name="标题 13"/>
          <p:cNvSpPr>
            <a:spLocks noGrp="1"/>
          </p:cNvSpPr>
          <p:nvPr>
            <p:ph type="ctrTitle"/>
          </p:nvPr>
        </p:nvSpPr>
        <p:spPr>
          <a:xfrm>
            <a:off x="1910080" y="359898"/>
            <a:ext cx="9875520" cy="1472184"/>
          </a:xfrm>
        </p:spPr>
        <p:txBody>
          <a:bodyPr anchor="b"/>
          <a:lstStyle>
            <a:lvl1pPr algn="l">
              <a:defRPr/>
            </a:lvl1pPr>
          </a:lstStyle>
          <a:p>
            <a:r>
              <a:rPr kumimoji="0" lang="zh-CN" altLang="en-US"/>
              <a:t>单击此处编辑母版标题样式</a:t>
            </a:r>
            <a:endParaRPr kumimoji="0" lang="en-US"/>
          </a:p>
        </p:txBody>
      </p:sp>
      <p:sp>
        <p:nvSpPr>
          <p:cNvPr id="22" name="副标题 21"/>
          <p:cNvSpPr>
            <a:spLocks noGrp="1"/>
          </p:cNvSpPr>
          <p:nvPr>
            <p:ph type="subTitle" idx="1"/>
          </p:nvPr>
        </p:nvSpPr>
        <p:spPr>
          <a:xfrm>
            <a:off x="1910080" y="1850064"/>
            <a:ext cx="987552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2025/5/29</a:t>
            </a:fld>
            <a:endParaRPr lang="zh-CN" altLang="en-US"/>
          </a:p>
        </p:txBody>
      </p:sp>
      <p:sp>
        <p:nvSpPr>
          <p:cNvPr id="20" name="页脚占位符 19"/>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椭圆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矩形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3437856" y="2600325"/>
            <a:ext cx="8534400" cy="2286000"/>
          </a:xfrm>
        </p:spPr>
        <p:txBody>
          <a:bodyPr anchor="t"/>
          <a:lstStyle>
            <a:lvl1pPr algn="l">
              <a:lnSpc>
                <a:spcPts val="4500"/>
              </a:lnSpc>
              <a:buNone/>
              <a:defRPr sz="4000" b="1"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3437856" y="1066800"/>
            <a:ext cx="85344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10" name="矩形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椭圆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5160336"/>
            <a:ext cx="10972800" cy="1143000"/>
          </a:xfrm>
        </p:spPr>
        <p:txBody>
          <a:bodyPr anchor="ctr"/>
          <a:lstStyle>
            <a:lvl1pPr algn="ctr">
              <a:defRPr sz="4500" b="1" cap="none" baseline="0"/>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60960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621792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2025/5/29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914144" y="274320"/>
            <a:ext cx="9997440" cy="1143000"/>
          </a:xfrm>
        </p:spPr>
        <p:txBody>
          <a:bodyPr anchor="ct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2025/5/29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矩形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日期占位符 1"/>
          <p:cNvSpPr>
            <a:spLocks noGrp="1"/>
          </p:cNvSpPr>
          <p:nvPr>
            <p:ph type="dt" sz="half" idx="10"/>
          </p:nvPr>
        </p:nvSpPr>
        <p:spPr/>
        <p:txBody>
          <a:bodyPr/>
          <a:lstStyle/>
          <a:p>
            <a:fld id="{530820CF-B880-4189-942D-D702A7CBA730}" type="datetimeFigureOut">
              <a:rPr lang="zh-CN" altLang="en-US" smtClean="0"/>
              <a:t>2025/5/29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6" name="矩形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609600" y="2133600"/>
            <a:ext cx="108712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849195" y="1066800"/>
            <a:ext cx="3657600" cy="1981200"/>
          </a:xfrm>
        </p:spPr>
        <p:txBody>
          <a:bodyPr anchor="b">
            <a:noAutofit/>
          </a:bodyPr>
          <a:lstStyle>
            <a:lvl1pPr algn="l">
              <a:buNone/>
              <a:defRPr sz="2100" b="1">
                <a:effectLst/>
              </a:defRPr>
            </a:lvl1p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2025/5/29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矩形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图片占位符 2"/>
          <p:cNvSpPr>
            <a:spLocks noGrp="1"/>
          </p:cNvSpPr>
          <p:nvPr>
            <p:ph type="pic" idx="1"/>
          </p:nvPr>
        </p:nvSpPr>
        <p:spPr>
          <a:xfrm>
            <a:off x="1117600" y="1143003"/>
            <a:ext cx="58928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zh-CN" altLang="en-US"/>
              <a:t>单击图标添加图片</a:t>
            </a:r>
            <a:endParaRPr kumimoji="0" lang="en-US" dirty="0"/>
          </a:p>
        </p:txBody>
      </p:sp>
      <p:sp>
        <p:nvSpPr>
          <p:cNvPr id="9" name="流程图: 过程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流程图: 过程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文本占位符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274639"/>
            <a:ext cx="243840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1524000" y="274640"/>
            <a:ext cx="7416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2025/5/29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theme" Target="../theme/theme5.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6" cstate="print">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1087900"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8" name="椭圆 7"/>
          <p:cNvSpPr/>
          <p:nvPr/>
        </p:nvSpPr>
        <p:spPr>
          <a:xfrm>
            <a:off x="225091" y="21106"/>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1" name="同心圆 10"/>
          <p:cNvSpPr/>
          <p:nvPr/>
        </p:nvSpPr>
        <p:spPr>
          <a:xfrm rot="2315675">
            <a:off x="243843"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矩形 11"/>
          <p:cNvSpPr/>
          <p:nvPr/>
        </p:nvSpPr>
        <p:spPr>
          <a:xfrm>
            <a:off x="1350501"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5" name="标题占位符 4"/>
          <p:cNvSpPr>
            <a:spLocks noGrp="1"/>
          </p:cNvSpPr>
          <p:nvPr>
            <p:ph type="title"/>
          </p:nvPr>
        </p:nvSpPr>
        <p:spPr>
          <a:xfrm>
            <a:off x="1914144" y="274638"/>
            <a:ext cx="9997440" cy="1143000"/>
          </a:xfrm>
          <a:prstGeom prst="rect">
            <a:avLst/>
          </a:prstGeom>
        </p:spPr>
        <p:txBody>
          <a:bodyPr anchor="ctr">
            <a:normAutofit/>
          </a:bodyPr>
          <a:lstStyle/>
          <a:p>
            <a:r>
              <a:rPr kumimoji="0" lang="zh-CN" altLang="en-US"/>
              <a:t>单击此处编辑母版标题样式</a:t>
            </a:r>
            <a:endParaRPr kumimoji="0" lang="en-US"/>
          </a:p>
        </p:txBody>
      </p:sp>
      <p:sp>
        <p:nvSpPr>
          <p:cNvPr id="9" name="文本占位符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24" name="日期占位符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530820CF-B880-4189-942D-D702A7CBA730}" type="datetimeFigureOut">
              <a:rPr lang="zh-CN" altLang="en-US" smtClean="0">
                <a:solidFill>
                  <a:srgbClr val="E7DEC9">
                    <a:shade val="50000"/>
                    <a:satMod val="200000"/>
                  </a:srgbClr>
                </a:solidFill>
              </a:rPr>
              <a:t>2025/5/29</a:t>
            </a:fld>
            <a:endParaRPr lang="zh-CN" altLang="en-US">
              <a:solidFill>
                <a:srgbClr val="E7DEC9">
                  <a:shade val="50000"/>
                  <a:satMod val="200000"/>
                </a:srgbClr>
              </a:solidFill>
            </a:endParaRPr>
          </a:p>
        </p:txBody>
      </p:sp>
      <p:sp>
        <p:nvSpPr>
          <p:cNvPr id="10" name="页脚占位符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zh-CN" altLang="en-US">
              <a:solidFill>
                <a:srgbClr val="E7DEC9">
                  <a:shade val="50000"/>
                  <a:satMod val="200000"/>
                </a:srgbClr>
              </a:solidFill>
            </a:endParaRPr>
          </a:p>
        </p:txBody>
      </p:sp>
      <p:sp>
        <p:nvSpPr>
          <p:cNvPr id="22" name="灯片编号占位符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0C913308-F349-4B6D-A68A-DD1791B4A57B}" type="slidenum">
              <a:rPr lang="zh-CN" altLang="en-US" smtClean="0">
                <a:solidFill>
                  <a:srgbClr val="E7DEC9">
                    <a:shade val="50000"/>
                    <a:satMod val="200000"/>
                  </a:srgbClr>
                </a:solidFill>
              </a:rPr>
              <a:t>‹#›</a:t>
            </a:fld>
            <a:endParaRPr lang="zh-CN" altLang="en-US">
              <a:solidFill>
                <a:srgbClr val="E7DEC9">
                  <a:shade val="50000"/>
                  <a:satMod val="200000"/>
                </a:srgbClr>
              </a:solidFill>
            </a:endParaRPr>
          </a:p>
        </p:txBody>
      </p:sp>
      <p:sp>
        <p:nvSpPr>
          <p:cNvPr id="15" name="矩形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t>2025/5/29</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饼形 6"/>
          <p:cNvSpPr/>
          <p:nvPr/>
        </p:nvSpPr>
        <p:spPr>
          <a:xfrm>
            <a:off x="-1087903"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椭圆 7"/>
          <p:cNvSpPr/>
          <p:nvPr/>
        </p:nvSpPr>
        <p:spPr>
          <a:xfrm>
            <a:off x="225088" y="21102"/>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同心圆 10"/>
          <p:cNvSpPr/>
          <p:nvPr/>
        </p:nvSpPr>
        <p:spPr>
          <a:xfrm rot="2315675">
            <a:off x="243841"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1350497"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标题占位符 4"/>
          <p:cNvSpPr>
            <a:spLocks noGrp="1"/>
          </p:cNvSpPr>
          <p:nvPr>
            <p:ph type="title"/>
          </p:nvPr>
        </p:nvSpPr>
        <p:spPr>
          <a:xfrm>
            <a:off x="1914144" y="274638"/>
            <a:ext cx="9997440" cy="1143000"/>
          </a:xfrm>
          <a:prstGeom prst="rect">
            <a:avLst/>
          </a:prstGeom>
        </p:spPr>
        <p:txBody>
          <a:bodyPr anchor="ctr">
            <a:normAutofit/>
          </a:bodyPr>
          <a:lstStyle/>
          <a:p>
            <a:r>
              <a:rPr kumimoji="0" lang="zh-CN" altLang="en-US"/>
              <a:t>单击此处编辑母版标题样式</a:t>
            </a:r>
            <a:endParaRPr kumimoji="0" lang="en-US"/>
          </a:p>
        </p:txBody>
      </p:sp>
      <p:sp>
        <p:nvSpPr>
          <p:cNvPr id="9" name="文本占位符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24" name="日期占位符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530820CF-B880-4189-942D-D702A7CBA730}" type="datetimeFigureOut">
              <a:rPr lang="zh-CN" altLang="en-US" smtClean="0"/>
              <a:t>2025/5/29</a:t>
            </a:fld>
            <a:endParaRPr lang="zh-CN" altLang="en-US"/>
          </a:p>
        </p:txBody>
      </p:sp>
      <p:sp>
        <p:nvSpPr>
          <p:cNvPr id="10" name="页脚占位符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zh-CN" altLang="en-US"/>
          </a:p>
        </p:txBody>
      </p:sp>
      <p:sp>
        <p:nvSpPr>
          <p:cNvPr id="22" name="灯片编号占位符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0C913308-F349-4B6D-A68A-DD1791B4A57B}" type="slidenum">
              <a:rPr lang="zh-CN" altLang="en-US" smtClean="0"/>
              <a:t>‹#›</a:t>
            </a:fld>
            <a:endParaRPr lang="zh-CN" altLang="en-US"/>
          </a:p>
        </p:txBody>
      </p:sp>
      <p:sp>
        <p:nvSpPr>
          <p:cNvPr id="15" name="矩形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notesSlide" Target="../notesSlides/notesSlide1.xml"/><Relationship Id="rId5" Type="http://schemas.openxmlformats.org/officeDocument/2006/relationships/tags" Target="../tags/tag6.xml"/><Relationship Id="rId10" Type="http://schemas.openxmlformats.org/officeDocument/2006/relationships/slideLayout" Target="../slideLayouts/slideLayout1.xml"/><Relationship Id="rId4" Type="http://schemas.openxmlformats.org/officeDocument/2006/relationships/tags" Target="../tags/tag5.xml"/><Relationship Id="rId9" Type="http://schemas.openxmlformats.org/officeDocument/2006/relationships/tags" Target="../tags/tag10.xml"/></Relationships>
</file>

<file path=ppt/slides/_rels/slide2.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wmf"/><Relationship Id="rId11" Type="http://schemas.openxmlformats.org/officeDocument/2006/relationships/oleObject" Target="../embeddings/oleObject4.bin"/><Relationship Id="rId5" Type="http://schemas.openxmlformats.org/officeDocument/2006/relationships/oleObject" Target="../embeddings/oleObject2.bin"/><Relationship Id="rId10" Type="http://schemas.openxmlformats.org/officeDocument/2006/relationships/image" Target="../media/image7.png"/><Relationship Id="rId4" Type="http://schemas.openxmlformats.org/officeDocument/2006/relationships/image" Target="../media/image3.wmf"/><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12.w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7.bin"/><Relationship Id="rId4" Type="http://schemas.openxmlformats.org/officeDocument/2006/relationships/image" Target="../media/image13.wmf"/></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9.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image" Target="../media/image27.emf"/><Relationship Id="rId7" Type="http://schemas.openxmlformats.org/officeDocument/2006/relationships/image" Target="../media/image31.emf"/><Relationship Id="rId2" Type="http://schemas.openxmlformats.org/officeDocument/2006/relationships/notesSlide" Target="../notesSlides/notesSlide17.xml"/><Relationship Id="rId1" Type="http://schemas.openxmlformats.org/officeDocument/2006/relationships/slideLayout" Target="../slideLayouts/slideLayout45.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 Id="rId9" Type="http://schemas.openxmlformats.org/officeDocument/2006/relationships/image" Target="../media/image33.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45.xml"/><Relationship Id="rId4" Type="http://schemas.openxmlformats.org/officeDocument/2006/relationships/image" Target="../media/image34.emf"/></Relationships>
</file>

<file path=ppt/slides/_rels/slide2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24.xml"/><Relationship Id="rId1" Type="http://schemas.openxmlformats.org/officeDocument/2006/relationships/slideLayout" Target="../slideLayouts/slideLayout45.xml"/><Relationship Id="rId5" Type="http://schemas.openxmlformats.org/officeDocument/2006/relationships/image" Target="../media/image37.emf"/><Relationship Id="rId4" Type="http://schemas.openxmlformats.org/officeDocument/2006/relationships/image" Target="../media/image36.emf"/></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45.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55.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55.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55.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5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48.emf"/></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6.xml"/><Relationship Id="rId5" Type="http://schemas.openxmlformats.org/officeDocument/2006/relationships/image" Target="../media/image53.emf"/><Relationship Id="rId4" Type="http://schemas.openxmlformats.org/officeDocument/2006/relationships/image" Target="../media/image52.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0.xml"/><Relationship Id="rId1" Type="http://schemas.openxmlformats.org/officeDocument/2006/relationships/tags" Target="../tags/tag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PA_组合 110"/>
          <p:cNvGrpSpPr/>
          <p:nvPr>
            <p:custDataLst>
              <p:tags r:id="rId1"/>
            </p:custDataLst>
          </p:nvPr>
        </p:nvGrpSpPr>
        <p:grpSpPr>
          <a:xfrm flipH="1">
            <a:off x="6298566" y="-3082"/>
            <a:ext cx="5860641" cy="6861082"/>
            <a:chOff x="441028" y="108253"/>
            <a:chExt cx="4654180" cy="6678233"/>
          </a:xfrm>
        </p:grpSpPr>
        <p:cxnSp>
          <p:nvCxnSpPr>
            <p:cNvPr id="112" name="直接连接符 111"/>
            <p:cNvCxnSpPr/>
            <p:nvPr/>
          </p:nvCxnSpPr>
          <p:spPr>
            <a:xfrm>
              <a:off x="1397000" y="109248"/>
              <a:ext cx="3698208" cy="2003942"/>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41030" y="975564"/>
              <a:ext cx="4034133" cy="2193086"/>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441030" y="2325338"/>
              <a:ext cx="4259152" cy="2315413"/>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441030" y="3668759"/>
              <a:ext cx="4338247" cy="235841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442776" y="5064209"/>
              <a:ext cx="3204537" cy="1722277"/>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441030" y="6380062"/>
              <a:ext cx="754357" cy="40542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441030" y="935237"/>
              <a:ext cx="4034131" cy="2248000"/>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441030" y="2083389"/>
              <a:ext cx="4314751" cy="2404374"/>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V="1">
              <a:off x="441028" y="3440258"/>
              <a:ext cx="4425082" cy="2465854"/>
            </a:xfrm>
            <a:prstGeom prst="line">
              <a:avLst/>
            </a:prstGeom>
            <a:ln w="12700" cap="rnd">
              <a:gradFill>
                <a:gsLst>
                  <a:gs pos="60000">
                    <a:srgbClr val="FFFFFF">
                      <a:alpha val="50000"/>
                    </a:srgbClr>
                  </a:gs>
                  <a:gs pos="0">
                    <a:schemeClr val="bg1">
                      <a:alpha val="8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1261223" y="4797682"/>
              <a:ext cx="3567204" cy="198780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441028" y="108253"/>
              <a:ext cx="3103433" cy="172937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1030" y="111253"/>
              <a:ext cx="682160" cy="377986"/>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1206647" y="109248"/>
              <a:ext cx="0" cy="6677238"/>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3676895" y="108253"/>
              <a:ext cx="0" cy="6678233"/>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26" name="PA_弧形 125"/>
          <p:cNvSpPr/>
          <p:nvPr>
            <p:custDataLst>
              <p:tags r:id="rId2"/>
            </p:custDataLst>
          </p:nvPr>
        </p:nvSpPr>
        <p:spPr>
          <a:xfrm>
            <a:off x="-2290772" y="5223417"/>
            <a:ext cx="4767943" cy="4767943"/>
          </a:xfrm>
          <a:prstGeom prst="arc">
            <a:avLst>
              <a:gd name="adj1" fmla="val 15964885"/>
              <a:gd name="adj2" fmla="val 20622663"/>
            </a:avLst>
          </a:prstGeom>
          <a:ln>
            <a:solidFill>
              <a:schemeClr val="bg1">
                <a:lumMod val="75000"/>
              </a:schemeClr>
            </a:solidFill>
            <a:headEnd type="none"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grpSp>
        <p:nvGrpSpPr>
          <p:cNvPr id="96" name="PA_组合 95"/>
          <p:cNvGrpSpPr/>
          <p:nvPr>
            <p:custDataLst>
              <p:tags r:id="rId3"/>
            </p:custDataLst>
          </p:nvPr>
        </p:nvGrpSpPr>
        <p:grpSpPr>
          <a:xfrm>
            <a:off x="9272737" y="6173657"/>
            <a:ext cx="868979" cy="2556000"/>
            <a:chOff x="9272737" y="6173657"/>
            <a:chExt cx="868978" cy="2556000"/>
          </a:xfrm>
        </p:grpSpPr>
        <p:sp>
          <p:nvSpPr>
            <p:cNvPr id="31"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2" name="椭圆 31"/>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7" name="PA_组合 96"/>
          <p:cNvGrpSpPr/>
          <p:nvPr>
            <p:custDataLst>
              <p:tags r:id="rId4"/>
            </p:custDataLst>
          </p:nvPr>
        </p:nvGrpSpPr>
        <p:grpSpPr>
          <a:xfrm>
            <a:off x="8447464" y="5580239"/>
            <a:ext cx="1174957" cy="3455999"/>
            <a:chOff x="8447464" y="5580235"/>
            <a:chExt cx="1174957" cy="3455999"/>
          </a:xfrm>
        </p:grpSpPr>
        <p:sp>
          <p:nvSpPr>
            <p:cNvPr id="4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 name="椭圆 4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8" name="PA_组合 97"/>
          <p:cNvGrpSpPr/>
          <p:nvPr>
            <p:custDataLst>
              <p:tags r:id="rId5"/>
            </p:custDataLst>
          </p:nvPr>
        </p:nvGrpSpPr>
        <p:grpSpPr>
          <a:xfrm>
            <a:off x="5713365" y="4642065"/>
            <a:ext cx="1358547" cy="3996000"/>
            <a:chOff x="5713365" y="4642065"/>
            <a:chExt cx="1358547" cy="3996000"/>
          </a:xfrm>
        </p:grpSpPr>
        <p:sp>
          <p:nvSpPr>
            <p:cNvPr id="4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 name="椭圆 4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3" name="PA_组合 132"/>
          <p:cNvGrpSpPr/>
          <p:nvPr>
            <p:custDataLst>
              <p:tags r:id="rId6"/>
            </p:custDataLst>
          </p:nvPr>
        </p:nvGrpSpPr>
        <p:grpSpPr>
          <a:xfrm>
            <a:off x="7245347" y="5466330"/>
            <a:ext cx="1358543" cy="3996000"/>
            <a:chOff x="7245345" y="5466330"/>
            <a:chExt cx="1358542" cy="3996000"/>
          </a:xfrm>
        </p:grpSpPr>
        <p:sp>
          <p:nvSpPr>
            <p:cNvPr id="34"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5" name="椭圆 34"/>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9" name="PA_组合 138"/>
          <p:cNvGrpSpPr/>
          <p:nvPr>
            <p:custDataLst>
              <p:tags r:id="rId7"/>
            </p:custDataLst>
          </p:nvPr>
        </p:nvGrpSpPr>
        <p:grpSpPr>
          <a:xfrm>
            <a:off x="10200066" y="5538058"/>
            <a:ext cx="1077041" cy="3168000"/>
            <a:chOff x="10231003" y="6243686"/>
            <a:chExt cx="1077041" cy="3168000"/>
          </a:xfrm>
        </p:grpSpPr>
        <p:sp>
          <p:nvSpPr>
            <p:cNvPr id="25"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26" name="椭圆 25"/>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103" name="PA_文本框 18"/>
          <p:cNvSpPr txBox="1"/>
          <p:nvPr>
            <p:custDataLst>
              <p:tags r:id="rId8"/>
            </p:custDataLst>
          </p:nvPr>
        </p:nvSpPr>
        <p:spPr>
          <a:xfrm>
            <a:off x="3729111" y="3057600"/>
            <a:ext cx="6417141" cy="923330"/>
          </a:xfrm>
          <a:prstGeom prst="rect">
            <a:avLst/>
          </a:prstGeom>
          <a:noFill/>
          <a:effectLst/>
        </p:spPr>
        <p:txBody>
          <a:bodyPr wrap="none" rtlCol="0" anchor="b" anchorCtr="0">
            <a:spAutoFit/>
          </a:bodyPr>
          <a:lstStyle>
            <a:defPPr>
              <a:defRPr lang="zh-CN"/>
            </a:defPPr>
            <a:lvl1pPr>
              <a:defRPr sz="5400" b="1">
                <a:solidFill>
                  <a:srgbClr val="6BB2E1">
                    <a:lumMod val="75000"/>
                  </a:srgb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dirty="0">
                <a:solidFill>
                  <a:srgbClr val="009999"/>
                </a:solidFill>
                <a:latin typeface="Noto Sans S Chinese Medium" panose="020B0600000000000000" pitchFamily="34" charset="-122"/>
                <a:ea typeface="Noto Sans S Chinese Medium" panose="020B0600000000000000" pitchFamily="34" charset="-122"/>
                <a:sym typeface="+mn-lt"/>
              </a:rPr>
              <a:t>线性回归算法（二）</a:t>
            </a:r>
          </a:p>
        </p:txBody>
      </p:sp>
      <p:sp>
        <p:nvSpPr>
          <p:cNvPr id="141" name="PA_文本框 140"/>
          <p:cNvSpPr txBox="1"/>
          <p:nvPr>
            <p:custDataLst>
              <p:tags r:id="rId9"/>
            </p:custDataLst>
          </p:nvPr>
        </p:nvSpPr>
        <p:spPr>
          <a:xfrm>
            <a:off x="986327" y="944004"/>
            <a:ext cx="2573140" cy="1200329"/>
          </a:xfrm>
          <a:prstGeom prst="rect">
            <a:avLst/>
          </a:prstGeom>
          <a:noFill/>
        </p:spPr>
        <p:txBody>
          <a:bodyPr wrap="none" rtlCol="0">
            <a:spAutoFit/>
          </a:bodyPr>
          <a:lstStyle/>
          <a:p>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第</a:t>
            </a:r>
            <a:r>
              <a:rPr lang="en-US" altLang="zh-CN"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2</a:t>
            </a:r>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章</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6994" y="177134"/>
            <a:ext cx="8015583" cy="535531"/>
          </a:xfrm>
        </p:spPr>
        <p:txBody>
          <a:bodyPr/>
          <a:lstStyle/>
          <a:p>
            <a:r>
              <a:rPr lang="zh-CN" altLang="en-US" dirty="0">
                <a:solidFill>
                  <a:srgbClr val="FF0000"/>
                </a:solidFill>
              </a:rPr>
              <a:t>回顾：最小二乘法</a:t>
            </a:r>
          </a:p>
        </p:txBody>
      </p:sp>
      <p:graphicFrame>
        <p:nvGraphicFramePr>
          <p:cNvPr id="56322" name="Object 2"/>
          <p:cNvGraphicFramePr>
            <a:graphicFrameLocks noChangeAspect="1"/>
          </p:cNvGraphicFramePr>
          <p:nvPr/>
        </p:nvGraphicFramePr>
        <p:xfrm>
          <a:off x="8302609" y="2637893"/>
          <a:ext cx="2660767" cy="1693381"/>
        </p:xfrm>
        <a:graphic>
          <a:graphicData uri="http://schemas.openxmlformats.org/presentationml/2006/ole">
            <mc:AlternateContent xmlns:mc="http://schemas.openxmlformats.org/markup-compatibility/2006">
              <mc:Choice xmlns:v="urn:schemas-microsoft-com:vml" Requires="v">
                <p:oleObj name="Equation" r:id="rId3" imgW="1447800" imgH="838200" progId="Equation.DSMT4">
                  <p:embed/>
                </p:oleObj>
              </mc:Choice>
              <mc:Fallback>
                <p:oleObj name="Equation" r:id="rId3" imgW="1447800" imgH="8382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2609" y="2637893"/>
                        <a:ext cx="2660767" cy="1693381"/>
                      </a:xfrm>
                      <a:prstGeom prst="rect">
                        <a:avLst/>
                      </a:prstGeom>
                      <a:solidFill>
                        <a:schemeClr val="bg1"/>
                      </a:solidFill>
                    </p:spPr>
                  </p:pic>
                </p:oleObj>
              </mc:Fallback>
            </mc:AlternateContent>
          </a:graphicData>
        </a:graphic>
      </p:graphicFrame>
      <p:sp>
        <p:nvSpPr>
          <p:cNvPr id="5" name="内容占位符 1"/>
          <p:cNvSpPr txBox="1"/>
          <p:nvPr/>
        </p:nvSpPr>
        <p:spPr>
          <a:xfrm>
            <a:off x="8255473" y="1305355"/>
            <a:ext cx="2811595" cy="676504"/>
          </a:xfrm>
          <a:prstGeom prst="rect">
            <a:avLst/>
          </a:prstGeom>
          <a:solidFill>
            <a:schemeClr val="bg1"/>
          </a:solidFill>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cs"/>
              </a:rPr>
              <a:t>令目标函数对</a:t>
            </a:r>
            <a:r>
              <a:rPr kumimoji="0" lang="en-US" altLang="zh-CN" b="0" i="0" u="none" strike="noStrike" kern="1200" cap="none" spc="0" normalizeH="0" baseline="0" noProof="0" dirty="0">
                <a:ln>
                  <a:noFill/>
                </a:ln>
                <a:solidFill>
                  <a:schemeClr val="tx1"/>
                </a:solidFill>
                <a:effectLst/>
                <a:uLnTx/>
                <a:uFillTx/>
                <a:latin typeface="+mn-lt"/>
                <a:ea typeface="+mn-ea"/>
                <a:cs typeface="+mn-cs"/>
              </a:rPr>
              <a:t>     </a:t>
            </a:r>
            <a:r>
              <a:rPr kumimoji="0" lang="zh-CN" altLang="en-US" b="0" i="0" u="none" strike="noStrike" kern="1200" cap="none" spc="0" normalizeH="0" baseline="0" noProof="0" dirty="0">
                <a:ln>
                  <a:noFill/>
                </a:ln>
                <a:solidFill>
                  <a:schemeClr val="tx1"/>
                </a:solidFill>
                <a:effectLst/>
                <a:uLnTx/>
                <a:uFillTx/>
                <a:latin typeface="+mn-lt"/>
                <a:ea typeface="+mn-ea"/>
                <a:cs typeface="+mn-cs"/>
              </a:rPr>
              <a:t>和 </a:t>
            </a:r>
            <a:r>
              <a:rPr kumimoji="0" lang="en-US" altLang="zh-CN" b="0" i="0" u="none" strike="noStrike" kern="1200" cap="none" spc="0" normalizeH="0" baseline="0" noProof="0" dirty="0">
                <a:ln>
                  <a:noFill/>
                </a:ln>
                <a:solidFill>
                  <a:schemeClr val="tx1"/>
                </a:solidFill>
                <a:effectLst/>
                <a:uLnTx/>
                <a:uFillTx/>
                <a:latin typeface="+mn-lt"/>
                <a:ea typeface="+mn-ea"/>
                <a:cs typeface="+mn-cs"/>
              </a:rPr>
              <a:t>     </a:t>
            </a:r>
            <a:r>
              <a:rPr kumimoji="0" lang="zh-CN" altLang="en-US" b="0" i="0" u="none" strike="noStrike" kern="1200" cap="none" spc="0" normalizeH="0" baseline="0" noProof="0" dirty="0">
                <a:ln>
                  <a:noFill/>
                </a:ln>
                <a:solidFill>
                  <a:schemeClr val="tx1"/>
                </a:solidFill>
                <a:effectLst/>
                <a:uLnTx/>
                <a:uFillTx/>
                <a:latin typeface="+mn-lt"/>
                <a:ea typeface="+mn-ea"/>
                <a:cs typeface="+mn-cs"/>
              </a:rPr>
              <a:t>的偏导为零可解得</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1"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56324" name="Object 4"/>
          <p:cNvGraphicFramePr>
            <a:graphicFrameLocks noChangeAspect="1"/>
          </p:cNvGraphicFramePr>
          <p:nvPr/>
        </p:nvGraphicFramePr>
        <p:xfrm>
          <a:off x="9699675" y="1291542"/>
          <a:ext cx="322263" cy="368300"/>
        </p:xfrm>
        <a:graphic>
          <a:graphicData uri="http://schemas.openxmlformats.org/presentationml/2006/ole">
            <mc:AlternateContent xmlns:mc="http://schemas.openxmlformats.org/markup-compatibility/2006">
              <mc:Choice xmlns:v="urn:schemas-microsoft-com:vml" Requires="v">
                <p:oleObj name="Equation" r:id="rId5" imgW="165100" imgH="177800" progId="Equation.DSMT4">
                  <p:embed/>
                </p:oleObj>
              </mc:Choice>
              <mc:Fallback>
                <p:oleObj name="Equation" r:id="rId5" imgW="165100" imgH="17780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99675" y="1291542"/>
                        <a:ext cx="322263"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5" name="Object 5"/>
          <p:cNvGraphicFramePr>
            <a:graphicFrameLocks noChangeAspect="1"/>
          </p:cNvGraphicFramePr>
          <p:nvPr/>
        </p:nvGraphicFramePr>
        <p:xfrm>
          <a:off x="10168709" y="1284274"/>
          <a:ext cx="323851" cy="368300"/>
        </p:xfrm>
        <a:graphic>
          <a:graphicData uri="http://schemas.openxmlformats.org/presentationml/2006/ole">
            <mc:AlternateContent xmlns:mc="http://schemas.openxmlformats.org/markup-compatibility/2006">
              <mc:Choice xmlns:v="urn:schemas-microsoft-com:vml" Requires="v">
                <p:oleObj name="Equation" r:id="rId7" imgW="177800" imgH="177800" progId="Equation.DSMT4">
                  <p:embed/>
                </p:oleObj>
              </mc:Choice>
              <mc:Fallback>
                <p:oleObj name="Equation" r:id="rId7" imgW="177800" imgH="17780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68709" y="1284274"/>
                        <a:ext cx="323851"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图片 2"/>
          <p:cNvPicPr>
            <a:picLocks noChangeAspect="1"/>
          </p:cNvPicPr>
          <p:nvPr/>
        </p:nvPicPr>
        <p:blipFill>
          <a:blip r:embed="rId9"/>
          <a:stretch>
            <a:fillRect/>
          </a:stretch>
        </p:blipFill>
        <p:spPr>
          <a:xfrm>
            <a:off x="916165" y="1096556"/>
            <a:ext cx="6962235" cy="2341067"/>
          </a:xfrm>
          <a:prstGeom prst="rect">
            <a:avLst/>
          </a:prstGeom>
        </p:spPr>
      </p:pic>
      <p:pic>
        <p:nvPicPr>
          <p:cNvPr id="4" name="图片 3"/>
          <p:cNvPicPr>
            <a:picLocks noChangeAspect="1"/>
          </p:cNvPicPr>
          <p:nvPr/>
        </p:nvPicPr>
        <p:blipFill>
          <a:blip r:embed="rId10"/>
          <a:stretch>
            <a:fillRect/>
          </a:stretch>
        </p:blipFill>
        <p:spPr>
          <a:xfrm>
            <a:off x="916165" y="3377768"/>
            <a:ext cx="6962235" cy="2956220"/>
          </a:xfrm>
          <a:prstGeom prst="rect">
            <a:avLst/>
          </a:prstGeom>
        </p:spPr>
      </p:pic>
      <p:graphicFrame>
        <p:nvGraphicFramePr>
          <p:cNvPr id="12" name="Object 3"/>
          <p:cNvGraphicFramePr>
            <a:graphicFrameLocks noChangeAspect="1"/>
          </p:cNvGraphicFramePr>
          <p:nvPr/>
        </p:nvGraphicFramePr>
        <p:xfrm>
          <a:off x="8283755" y="4325135"/>
          <a:ext cx="2660767" cy="1053881"/>
        </p:xfrm>
        <a:graphic>
          <a:graphicData uri="http://schemas.openxmlformats.org/presentationml/2006/ole">
            <mc:AlternateContent xmlns:mc="http://schemas.openxmlformats.org/markup-compatibility/2006">
              <mc:Choice xmlns:v="urn:schemas-microsoft-com:vml" Requires="v">
                <p:oleObj name="Equation" r:id="rId11" imgW="1269365" imgH="431800" progId="Equation.DSMT4">
                  <p:embed/>
                </p:oleObj>
              </mc:Choice>
              <mc:Fallback>
                <p:oleObj name="Equation" r:id="rId11" imgW="1269365" imgH="431800"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83755" y="4325135"/>
                        <a:ext cx="2660767" cy="1053881"/>
                      </a:xfrm>
                      <a:prstGeom prst="rect">
                        <a:avLst/>
                      </a:prstGeom>
                      <a:solidFill>
                        <a:schemeClr val="bg1"/>
                      </a:solidFill>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3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3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rcRect l="3476" t="20813" r="12104" b="9106"/>
          <a:stretch>
            <a:fillRect/>
          </a:stretch>
        </p:blipFill>
        <p:spPr>
          <a:xfrm>
            <a:off x="779156" y="2284793"/>
            <a:ext cx="8478301" cy="3958990"/>
          </a:xfrm>
          <a:prstGeom prst="rect">
            <a:avLst/>
          </a:prstGeom>
        </p:spPr>
      </p:pic>
      <p:sp>
        <p:nvSpPr>
          <p:cNvPr id="4" name="矩形 3"/>
          <p:cNvSpPr/>
          <p:nvPr/>
        </p:nvSpPr>
        <p:spPr>
          <a:xfrm>
            <a:off x="1331845" y="322718"/>
            <a:ext cx="5952270" cy="584775"/>
          </a:xfrm>
          <a:prstGeom prst="rect">
            <a:avLst/>
          </a:prstGeom>
        </p:spPr>
        <p:txBody>
          <a:bodyPr wrap="none">
            <a:spAutoFit/>
          </a:bodyPr>
          <a:lstStyle/>
          <a:p>
            <a:r>
              <a:rPr lang="zh-CN" altLang="en-US" sz="3200" b="1" dirty="0">
                <a:solidFill>
                  <a:srgbClr val="FF0000"/>
                </a:solidFill>
                <a:latin typeface="微软雅黑" panose="020B0503020204020204" pitchFamily="34" charset="-122"/>
              </a:rPr>
              <a:t>最小二乘法：矩阵形式求解系数</a:t>
            </a:r>
          </a:p>
        </p:txBody>
      </p:sp>
      <p:pic>
        <p:nvPicPr>
          <p:cNvPr id="22529" name="Picture 1"/>
          <p:cNvPicPr>
            <a:picLocks noChangeAspect="1" noChangeArrowheads="1"/>
          </p:cNvPicPr>
          <p:nvPr/>
        </p:nvPicPr>
        <p:blipFill>
          <a:blip r:embed="rId4" cstate="print"/>
          <a:srcRect/>
          <a:stretch>
            <a:fillRect/>
          </a:stretch>
        </p:blipFill>
        <p:spPr bwMode="auto">
          <a:xfrm>
            <a:off x="6255108" y="1077372"/>
            <a:ext cx="3002349" cy="760446"/>
          </a:xfrm>
          <a:prstGeom prst="rect">
            <a:avLst/>
          </a:prstGeom>
          <a:noFill/>
          <a:ln w="9525">
            <a:noFill/>
            <a:miter lim="800000"/>
            <a:headEnd/>
            <a:tailEnd/>
          </a:ln>
        </p:spPr>
      </p:pic>
      <p:pic>
        <p:nvPicPr>
          <p:cNvPr id="22530" name="Picture 2"/>
          <p:cNvPicPr>
            <a:picLocks noChangeAspect="1" noChangeArrowheads="1"/>
          </p:cNvPicPr>
          <p:nvPr/>
        </p:nvPicPr>
        <p:blipFill>
          <a:blip r:embed="rId5" cstate="print"/>
          <a:srcRect/>
          <a:stretch>
            <a:fillRect/>
          </a:stretch>
        </p:blipFill>
        <p:spPr bwMode="auto">
          <a:xfrm>
            <a:off x="773503" y="1103855"/>
            <a:ext cx="4779807" cy="707480"/>
          </a:xfrm>
          <a:prstGeom prst="rect">
            <a:avLst/>
          </a:prstGeom>
          <a:noFill/>
          <a:ln w="9525">
            <a:noFill/>
            <a:miter lim="800000"/>
            <a:headEnd/>
            <a:tailEnd/>
          </a:ln>
        </p:spPr>
      </p:pic>
      <p:graphicFrame>
        <p:nvGraphicFramePr>
          <p:cNvPr id="3" name="对象 2"/>
          <p:cNvGraphicFramePr>
            <a:graphicFrameLocks noChangeAspect="1"/>
          </p:cNvGraphicFramePr>
          <p:nvPr/>
        </p:nvGraphicFramePr>
        <p:xfrm>
          <a:off x="9715693" y="2759221"/>
          <a:ext cx="2173288" cy="3484562"/>
        </p:xfrm>
        <a:graphic>
          <a:graphicData uri="http://schemas.openxmlformats.org/presentationml/2006/ole">
            <mc:AlternateContent xmlns:mc="http://schemas.openxmlformats.org/markup-compatibility/2006">
              <mc:Choice xmlns:v="urn:schemas-microsoft-com:vml" Requires="v">
                <p:oleObj name="AxMath" r:id="rId6" imgW="1143000" imgH="1143000" progId="Equation.AxMath">
                  <p:embed/>
                </p:oleObj>
              </mc:Choice>
              <mc:Fallback>
                <p:oleObj name="AxMath" r:id="rId6" imgW="1143000" imgH="1143000" progId="Equation.AxMath">
                  <p:embed/>
                  <p:pic>
                    <p:nvPicPr>
                      <p:cNvPr id="0" name="图片 56362"/>
                      <p:cNvPicPr/>
                      <p:nvPr/>
                    </p:nvPicPr>
                    <p:blipFill>
                      <a:blip r:embed="rId7"/>
                      <a:stretch>
                        <a:fillRect/>
                      </a:stretch>
                    </p:blipFill>
                    <p:spPr>
                      <a:xfrm>
                        <a:off x="9715693" y="2759221"/>
                        <a:ext cx="2173288" cy="3484562"/>
                      </a:xfrm>
                      <a:prstGeom prst="rect">
                        <a:avLst/>
                      </a:prstGeom>
                    </p:spPr>
                  </p:pic>
                </p:oleObj>
              </mc:Fallback>
            </mc:AlternateContent>
          </a:graphicData>
        </a:graphic>
      </p:graphicFrame>
      <p:sp>
        <p:nvSpPr>
          <p:cNvPr id="5" name="矩形 4"/>
          <p:cNvSpPr/>
          <p:nvPr/>
        </p:nvSpPr>
        <p:spPr>
          <a:xfrm>
            <a:off x="9317798" y="2164800"/>
            <a:ext cx="2969083" cy="461665"/>
          </a:xfrm>
          <a:prstGeom prst="rect">
            <a:avLst/>
          </a:prstGeom>
        </p:spPr>
        <p:txBody>
          <a:bodyPr wrap="none">
            <a:spAutoFit/>
          </a:bodyPr>
          <a:lstStyle/>
          <a:p>
            <a:r>
              <a:rPr lang="zh-CN" altLang="en-US" sz="2400" b="1" dirty="0">
                <a:latin typeface="仿宋" panose="02010609060101010101" pitchFamily="49" charset="-122"/>
                <a:ea typeface="仿宋" panose="02010609060101010101" pitchFamily="49" charset="-122"/>
              </a:rPr>
              <a:t>矩阵求导常用公式：</a:t>
            </a:r>
            <a:endParaRPr lang="zh-CN" altLang="en-US" sz="2400" dirty="0">
              <a:latin typeface="仿宋" panose="02010609060101010101" pitchFamily="49" charset="-122"/>
              <a:ea typeface="仿宋"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rPr>
              <a:t>最小二乘法的局限性</a:t>
            </a:r>
          </a:p>
        </p:txBody>
      </p:sp>
      <p:sp>
        <p:nvSpPr>
          <p:cNvPr id="56322" name="AutoShape 2" descr="[公式]"/>
          <p:cNvSpPr>
            <a:spLocks noChangeAspect="1" noChangeArrowheads="1"/>
          </p:cNvSpPr>
          <p:nvPr/>
        </p:nvSpPr>
        <p:spPr bwMode="auto">
          <a:xfrm>
            <a:off x="1838325" y="-144463"/>
            <a:ext cx="304800" cy="304801"/>
          </a:xfrm>
          <a:prstGeom prst="rect">
            <a:avLst/>
          </a:prstGeom>
          <a:noFill/>
        </p:spPr>
        <p:txBody>
          <a:bodyPr vert="horz" wrap="square" lIns="91440" tIns="45720" rIns="91440" bIns="45720" numCol="1" anchor="t" anchorCtr="0" compatLnSpc="1"/>
          <a:lstStyle/>
          <a:p>
            <a:endParaRPr lang="zh-CN" altLang="en-US"/>
          </a:p>
        </p:txBody>
      </p:sp>
      <p:sp>
        <p:nvSpPr>
          <p:cNvPr id="56323" name="Rectangle 3"/>
          <p:cNvSpPr>
            <a:spLocks noChangeArrowheads="1"/>
          </p:cNvSpPr>
          <p:nvPr/>
        </p:nvSpPr>
        <p:spPr bwMode="auto">
          <a:xfrm>
            <a:off x="959007" y="1616020"/>
            <a:ext cx="9857677" cy="3570208"/>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ts val="600"/>
              </a:spcBef>
              <a:spcAft>
                <a:spcPct val="0"/>
              </a:spcAft>
              <a:buClrTx/>
              <a:buSzTx/>
              <a:buFontTx/>
              <a:buNone/>
            </a:pPr>
            <a:r>
              <a:rPr lang="zh-CN" sz="2400" dirty="0">
                <a:solidFill>
                  <a:srgbClr val="121212"/>
                </a:solidFill>
                <a:latin typeface="仿宋" panose="02010609060101010101" pitchFamily="49" charset="-122"/>
                <a:ea typeface="仿宋" panose="02010609060101010101" pitchFamily="49" charset="-122"/>
                <a:cs typeface="宋体" panose="02010600030101010101" pitchFamily="2" charset="-122"/>
              </a:rPr>
              <a:t>首先，最小二乘法需要计算    </a:t>
            </a:r>
            <a:r>
              <a:rPr lang="en-US" altLang="zh-CN" sz="2400" dirty="0">
                <a:solidFill>
                  <a:srgbClr val="121212"/>
                </a:solidFill>
                <a:latin typeface="仿宋" panose="02010609060101010101" pitchFamily="49" charset="-122"/>
                <a:ea typeface="仿宋" panose="02010609060101010101" pitchFamily="49" charset="-122"/>
                <a:cs typeface="宋体" panose="02010600030101010101" pitchFamily="2" charset="-122"/>
              </a:rPr>
              <a:t>  </a:t>
            </a:r>
            <a:r>
              <a:rPr lang="zh-CN" sz="2400" dirty="0">
                <a:solidFill>
                  <a:srgbClr val="121212"/>
                </a:solidFill>
                <a:latin typeface="仿宋" panose="02010609060101010101" pitchFamily="49" charset="-122"/>
                <a:ea typeface="仿宋" panose="02010609060101010101" pitchFamily="49" charset="-122"/>
                <a:cs typeface="宋体" panose="02010600030101010101" pitchFamily="2" charset="-122"/>
              </a:rPr>
              <a:t>的逆矩阵，有可能它的逆矩阵不存在，这样就没有办法直用最小二乘法了 </a:t>
            </a:r>
            <a:r>
              <a:rPr lang="zh-CN" altLang="en-US" sz="2400" dirty="0">
                <a:solidFill>
                  <a:srgbClr val="121212"/>
                </a:solidFill>
                <a:latin typeface="仿宋" panose="02010609060101010101" pitchFamily="49" charset="-122"/>
                <a:ea typeface="仿宋" panose="02010609060101010101" pitchFamily="49" charset="-122"/>
                <a:cs typeface="宋体" panose="02010600030101010101" pitchFamily="2" charset="-122"/>
              </a:rPr>
              <a:t>；</a:t>
            </a:r>
            <a:endParaRPr lang="en-US" altLang="zh-CN" sz="2400" dirty="0">
              <a:solidFill>
                <a:srgbClr val="121212"/>
              </a:solidFill>
              <a:latin typeface="仿宋" panose="02010609060101010101" pitchFamily="49" charset="-122"/>
              <a:ea typeface="仿宋" panose="02010609060101010101" pitchFamily="49" charset="-122"/>
              <a:cs typeface="宋体" panose="02010600030101010101" pitchFamily="2" charset="-122"/>
            </a:endParaRPr>
          </a:p>
          <a:p>
            <a:pPr lvl="0" fontAlgn="base">
              <a:lnSpc>
                <a:spcPct val="150000"/>
              </a:lnSpc>
              <a:spcBef>
                <a:spcPts val="600"/>
              </a:spcBef>
              <a:spcAft>
                <a:spcPct val="0"/>
              </a:spcAft>
            </a:pPr>
            <a:r>
              <a:rPr lang="zh-CN" altLang="en-US" sz="2400" dirty="0">
                <a:solidFill>
                  <a:srgbClr val="121212"/>
                </a:solidFill>
                <a:latin typeface="仿宋" panose="02010609060101010101" pitchFamily="49" charset="-122"/>
                <a:ea typeface="仿宋" panose="02010609060101010101" pitchFamily="49" charset="-122"/>
                <a:cs typeface="宋体" panose="02010600030101010101" pitchFamily="2" charset="-122"/>
              </a:rPr>
              <a:t>第二，当样本特征</a:t>
            </a:r>
            <a:r>
              <a:rPr lang="en-US" altLang="zh-CN" sz="2400" dirty="0">
                <a:solidFill>
                  <a:srgbClr val="121212"/>
                </a:solidFill>
                <a:latin typeface="仿宋" panose="02010609060101010101" pitchFamily="49" charset="-122"/>
                <a:ea typeface="仿宋" panose="02010609060101010101" pitchFamily="49" charset="-122"/>
                <a:cs typeface="宋体" panose="02010600030101010101" pitchFamily="2" charset="-122"/>
              </a:rPr>
              <a:t>N</a:t>
            </a:r>
            <a:r>
              <a:rPr lang="zh-CN" altLang="en-US" sz="2400" dirty="0">
                <a:solidFill>
                  <a:srgbClr val="121212"/>
                </a:solidFill>
                <a:latin typeface="仿宋" panose="02010609060101010101" pitchFamily="49" charset="-122"/>
                <a:ea typeface="仿宋" panose="02010609060101010101" pitchFamily="49" charset="-122"/>
                <a:cs typeface="宋体" panose="02010600030101010101" pitchFamily="2" charset="-122"/>
              </a:rPr>
              <a:t>非常的大的时候，计算      的逆矩阵是一个非常耗时的工作（     的矩阵求逆），甚至不可行 ；</a:t>
            </a:r>
            <a:endParaRPr lang="en-US" altLang="zh-CN" sz="2400" dirty="0">
              <a:solidFill>
                <a:srgbClr val="121212"/>
              </a:solidFill>
              <a:latin typeface="仿宋" panose="02010609060101010101" pitchFamily="49" charset="-122"/>
              <a:ea typeface="仿宋" panose="02010609060101010101" pitchFamily="49" charset="-122"/>
              <a:cs typeface="宋体" panose="02010600030101010101" pitchFamily="2" charset="-122"/>
            </a:endParaRPr>
          </a:p>
          <a:p>
            <a:pPr lvl="0" fontAlgn="base">
              <a:lnSpc>
                <a:spcPct val="150000"/>
              </a:lnSpc>
              <a:spcBef>
                <a:spcPts val="600"/>
              </a:spcBef>
              <a:spcAft>
                <a:spcPct val="0"/>
              </a:spcAft>
            </a:pPr>
            <a:r>
              <a:rPr lang="zh-CN" altLang="en-US" sz="2400" dirty="0">
                <a:solidFill>
                  <a:srgbClr val="121212"/>
                </a:solidFill>
                <a:latin typeface="仿宋" panose="02010609060101010101" pitchFamily="49" charset="-122"/>
                <a:ea typeface="仿宋" panose="02010609060101010101" pitchFamily="49" charset="-122"/>
                <a:cs typeface="宋体" panose="02010600030101010101" pitchFamily="2" charset="-122"/>
              </a:rPr>
              <a:t>第三，如果拟合函数不是线性的，这时无法使用最小二乘法，需要通过一些技巧转化为线性才能使用。</a:t>
            </a:r>
            <a:endParaRPr lang="zh-CN" sz="2400" dirty="0">
              <a:solidFill>
                <a:srgbClr val="121212"/>
              </a:solidFill>
              <a:latin typeface="仿宋" panose="02010609060101010101" pitchFamily="49" charset="-122"/>
              <a:ea typeface="仿宋" panose="02010609060101010101" pitchFamily="49" charset="-122"/>
              <a:cs typeface="宋体" panose="02010600030101010101" pitchFamily="2" charset="-122"/>
            </a:endParaRPr>
          </a:p>
        </p:txBody>
      </p:sp>
      <p:sp>
        <p:nvSpPr>
          <p:cNvPr id="56324" name="AutoShape 4" descr="[公式]"/>
          <p:cNvSpPr>
            <a:spLocks noChangeAspect="1" noChangeArrowheads="1"/>
          </p:cNvSpPr>
          <p:nvPr/>
        </p:nvSpPr>
        <p:spPr bwMode="auto">
          <a:xfrm>
            <a:off x="1838325" y="-144463"/>
            <a:ext cx="304800" cy="304801"/>
          </a:xfrm>
          <a:prstGeom prst="rect">
            <a:avLst/>
          </a:prstGeom>
          <a:noFill/>
        </p:spPr>
        <p:txBody>
          <a:bodyPr vert="horz" wrap="square" lIns="91440" tIns="45720" rIns="91440" bIns="45720" numCol="1" anchor="t" anchorCtr="0" compatLnSpc="1"/>
          <a:lstStyle/>
          <a:p>
            <a:endParaRPr lang="zh-CN" altLang="en-US"/>
          </a:p>
        </p:txBody>
      </p:sp>
      <p:graphicFrame>
        <p:nvGraphicFramePr>
          <p:cNvPr id="3" name="对象 2"/>
          <p:cNvGraphicFramePr>
            <a:graphicFrameLocks noChangeAspect="1"/>
          </p:cNvGraphicFramePr>
          <p:nvPr/>
        </p:nvGraphicFramePr>
        <p:xfrm>
          <a:off x="4790933" y="1801093"/>
          <a:ext cx="706775" cy="417113"/>
        </p:xfrm>
        <a:graphic>
          <a:graphicData uri="http://schemas.openxmlformats.org/presentationml/2006/ole">
            <mc:AlternateContent xmlns:mc="http://schemas.openxmlformats.org/markup-compatibility/2006">
              <mc:Choice xmlns:v="urn:schemas-microsoft-com:vml" Requires="v">
                <p:oleObj name="AxMath" r:id="rId3" imgW="1143000" imgH="1143000" progId="Equation.AxMath">
                  <p:embed/>
                </p:oleObj>
              </mc:Choice>
              <mc:Fallback>
                <p:oleObj name="AxMath" r:id="rId3" imgW="1143000" imgH="1143000" progId="Equation.AxMath">
                  <p:embed/>
                  <p:pic>
                    <p:nvPicPr>
                      <p:cNvPr id="0" name="图片 57462"/>
                      <p:cNvPicPr/>
                      <p:nvPr/>
                    </p:nvPicPr>
                    <p:blipFill>
                      <a:blip r:embed="rId4"/>
                      <a:stretch>
                        <a:fillRect/>
                      </a:stretch>
                    </p:blipFill>
                    <p:spPr>
                      <a:xfrm>
                        <a:off x="4790933" y="1801093"/>
                        <a:ext cx="706775" cy="417113"/>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787266878"/>
              </p:ext>
            </p:extLst>
          </p:nvPr>
        </p:nvGraphicFramePr>
        <p:xfrm>
          <a:off x="6762750" y="2984500"/>
          <a:ext cx="706437" cy="415925"/>
        </p:xfrm>
        <a:graphic>
          <a:graphicData uri="http://schemas.openxmlformats.org/presentationml/2006/ole">
            <mc:AlternateContent xmlns:mc="http://schemas.openxmlformats.org/markup-compatibility/2006">
              <mc:Choice xmlns:v="urn:schemas-microsoft-com:vml" Requires="v">
                <p:oleObj name="AxMath" r:id="rId3" imgW="1143000" imgH="1143000" progId="Equation.AxMath">
                  <p:embed/>
                </p:oleObj>
              </mc:Choice>
              <mc:Fallback>
                <p:oleObj name="AxMath" r:id="rId3" imgW="1143000" imgH="1143000" progId="Equation.AxMath">
                  <p:embed/>
                  <p:pic>
                    <p:nvPicPr>
                      <p:cNvPr id="0" name="对象 2"/>
                      <p:cNvPicPr/>
                      <p:nvPr/>
                    </p:nvPicPr>
                    <p:blipFill>
                      <a:blip r:embed="rId4"/>
                      <a:stretch>
                        <a:fillRect/>
                      </a:stretch>
                    </p:blipFill>
                    <p:spPr>
                      <a:xfrm>
                        <a:off x="6762750" y="2984500"/>
                        <a:ext cx="706437" cy="415925"/>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2505223" y="3556004"/>
          <a:ext cx="735703" cy="357909"/>
        </p:xfrm>
        <a:graphic>
          <a:graphicData uri="http://schemas.openxmlformats.org/presentationml/2006/ole">
            <mc:AlternateContent xmlns:mc="http://schemas.openxmlformats.org/markup-compatibility/2006">
              <mc:Choice xmlns:v="urn:schemas-microsoft-com:vml" Requires="v">
                <p:oleObj name="AxMath" r:id="rId5" imgW="1143000" imgH="1143000" progId="Equation.AxMath">
                  <p:embed/>
                </p:oleObj>
              </mc:Choice>
              <mc:Fallback>
                <p:oleObj name="AxMath" r:id="rId5" imgW="1143000" imgH="1143000" progId="Equation.AxMath">
                  <p:embed/>
                  <p:pic>
                    <p:nvPicPr>
                      <p:cNvPr id="0" name="图片 57464"/>
                      <p:cNvPicPr/>
                      <p:nvPr/>
                    </p:nvPicPr>
                    <p:blipFill>
                      <a:blip r:embed="rId6"/>
                      <a:stretch>
                        <a:fillRect/>
                      </a:stretch>
                    </p:blipFill>
                    <p:spPr>
                      <a:xfrm>
                        <a:off x="2505223" y="3556004"/>
                        <a:ext cx="735703" cy="357909"/>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11" y="299800"/>
            <a:ext cx="8015583" cy="535531"/>
          </a:xfrm>
        </p:spPr>
        <p:txBody>
          <a:bodyPr/>
          <a:lstStyle/>
          <a:p>
            <a:r>
              <a:rPr lang="zh-CN" altLang="en-US" dirty="0"/>
              <a:t>参数求解流程：</a:t>
            </a:r>
          </a:p>
        </p:txBody>
      </p:sp>
      <p:pic>
        <p:nvPicPr>
          <p:cNvPr id="19" name="图片 29" descr="线性回归"/>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7231" y="422616"/>
            <a:ext cx="3308029" cy="6435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5514975" y="6000749"/>
            <a:ext cx="1085850" cy="2857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楷体" panose="02010609060101010101" pitchFamily="49" charset="-122"/>
                <a:ea typeface="楷体" panose="02010609060101010101" pitchFamily="49" charset="-122"/>
              </a:rPr>
              <a:t>进行预测</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9"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01</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91"/>
            <a:ext cx="1194019"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8"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439909" y="2929441"/>
            <a:ext cx="4416594" cy="1600438"/>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梯度下降法</a:t>
            </a:r>
            <a:endParaRPr lang="en-US" altLang="zh-CN" sz="6600" dirty="0">
              <a:solidFill>
                <a:srgbClr val="009999"/>
              </a:solidFill>
              <a:latin typeface="Noto Sans S Chinese Medium" panose="020B0600000000000000" pitchFamily="34" charset="-122"/>
              <a:ea typeface="Noto Sans S Chinese Medium" panose="020B0600000000000000" pitchFamily="34" charset="-122"/>
            </a:endParaRPr>
          </a:p>
          <a:p>
            <a:r>
              <a:rPr lang="en-US" altLang="zh-CN" sz="3200" dirty="0">
                <a:solidFill>
                  <a:srgbClr val="009999"/>
                </a:solidFill>
                <a:latin typeface="Noto Sans S Chinese Regular" panose="020B0500000000000000" pitchFamily="34" charset="-122"/>
                <a:ea typeface="Noto Sans S Chinese Regular" panose="020B0500000000000000" pitchFamily="34" charset="-122"/>
              </a:rPr>
              <a:t>Gradient Descent</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2" y="0"/>
            <a:ext cx="12192001"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stretch>
            <a:fillRect/>
          </a:stretch>
        </p:blipFill>
        <p:spPr>
          <a:xfrm>
            <a:off x="1628373" y="769435"/>
            <a:ext cx="8580251" cy="549871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stretch>
            <a:fillRect/>
          </a:stretch>
        </p:blipFill>
        <p:spPr>
          <a:xfrm>
            <a:off x="1649071" y="979650"/>
            <a:ext cx="8893861" cy="48987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1941979" y="1112066"/>
            <a:ext cx="8432660" cy="524519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1651792" y="1009590"/>
            <a:ext cx="8888419" cy="4838827"/>
          </a:xfrm>
          <a:prstGeom prst="rect">
            <a:avLst/>
          </a:prstGeom>
        </p:spPr>
      </p:pic>
      <p:sp>
        <p:nvSpPr>
          <p:cNvPr id="3" name="文本框 2"/>
          <p:cNvSpPr txBox="1"/>
          <p:nvPr/>
        </p:nvSpPr>
        <p:spPr>
          <a:xfrm>
            <a:off x="1856512" y="4285675"/>
            <a:ext cx="2281381" cy="923330"/>
          </a:xfrm>
          <a:prstGeom prst="rect">
            <a:avLst/>
          </a:prstGeom>
          <a:noFill/>
        </p:spPr>
        <p:txBody>
          <a:bodyPr wrap="square" rtlCol="0">
            <a:spAutoFit/>
          </a:bodyPr>
          <a:lstStyle/>
          <a:p>
            <a:r>
              <a:rPr lang="zh-CN" altLang="en-US" b="1" dirty="0">
                <a:solidFill>
                  <a:srgbClr val="FF0000"/>
                </a:solidFill>
                <a:latin typeface="仿宋" panose="02010609060101010101" pitchFamily="49" charset="-122"/>
                <a:ea typeface="仿宋" panose="02010609060101010101" pitchFamily="49" charset="-122"/>
              </a:rPr>
              <a:t>注意：</a:t>
            </a:r>
            <a:r>
              <a:rPr lang="zh-CN" altLang="en-US" b="1" dirty="0">
                <a:latin typeface="仿宋" panose="02010609060101010101" pitchFamily="49" charset="-122"/>
                <a:ea typeface="仿宋" panose="02010609060101010101" pitchFamily="49" charset="-122"/>
              </a:rPr>
              <a:t>这个只针对与一元线性回归</a:t>
            </a:r>
            <a:r>
              <a:rPr lang="en-US" altLang="zh-CN" b="1" dirty="0">
                <a:latin typeface="仿宋" panose="02010609060101010101" pitchFamily="49" charset="-122"/>
                <a:ea typeface="仿宋" panose="02010609060101010101" pitchFamily="49" charset="-122"/>
              </a:rPr>
              <a:t>,</a:t>
            </a:r>
            <a:r>
              <a:rPr lang="zh-CN" altLang="en-US" b="1" dirty="0">
                <a:latin typeface="仿宋" panose="02010609060101010101" pitchFamily="49" charset="-122"/>
                <a:ea typeface="仿宋" panose="02010609060101010101" pitchFamily="49" charset="-122"/>
              </a:rPr>
              <a:t>拓展看看</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11" y="300548"/>
            <a:ext cx="8015583" cy="534035"/>
          </a:xfrm>
        </p:spPr>
        <p:txBody>
          <a:bodyPr/>
          <a:lstStyle/>
          <a:p>
            <a:pPr eaLnBrk="1" fontAlgn="auto" hangingPunct="1">
              <a:defRPr/>
            </a:pPr>
            <a:r>
              <a:rPr noProof="1"/>
              <a:t>算法实例</a:t>
            </a:r>
          </a:p>
        </p:txBody>
      </p:sp>
      <p:sp>
        <p:nvSpPr>
          <p:cNvPr id="3" name="矩形 2"/>
          <p:cNvSpPr/>
          <p:nvPr/>
        </p:nvSpPr>
        <p:spPr>
          <a:xfrm>
            <a:off x="304800" y="994860"/>
            <a:ext cx="6096000" cy="3693319"/>
          </a:xfrm>
          <a:prstGeom prst="rect">
            <a:avLst/>
          </a:prstGeom>
        </p:spPr>
        <p:txBody>
          <a:bodyPr>
            <a:spAutoFit/>
          </a:bodyPr>
          <a:lstStyle/>
          <a:p>
            <a:r>
              <a:rPr lang="zh-CN" altLang="en-US" dirty="0">
                <a:solidFill>
                  <a:srgbClr val="D4D4D4"/>
                </a:solidFill>
                <a:latin typeface="Consolas" panose="020B0609020204030204" pitchFamily="49" charset="0"/>
              </a:rPr>
              <a:t> </a:t>
            </a:r>
            <a:r>
              <a:rPr lang="en-US" altLang="zh-CN" dirty="0">
                <a:solidFill>
                  <a:srgbClr val="6A9955"/>
                </a:solidFill>
                <a:latin typeface="Consolas" panose="020B0609020204030204" pitchFamily="49" charset="0"/>
              </a:rPr>
              <a:t>#1 </a:t>
            </a:r>
            <a:r>
              <a:rPr lang="zh-CN" altLang="en-US" dirty="0">
                <a:solidFill>
                  <a:srgbClr val="6A9955"/>
                </a:solidFill>
                <a:latin typeface="Consolas" panose="020B0609020204030204" pitchFamily="49" charset="0"/>
              </a:rPr>
              <a:t>获得</a:t>
            </a:r>
            <a:r>
              <a:rPr lang="en-US" altLang="zh-CN" dirty="0" err="1">
                <a:solidFill>
                  <a:srgbClr val="6A9955"/>
                </a:solidFill>
                <a:latin typeface="Consolas" panose="020B0609020204030204" pitchFamily="49" charset="0"/>
              </a:rPr>
              <a:t>x,y</a:t>
            </a:r>
            <a:r>
              <a:rPr lang="zh-CN" altLang="en-US" dirty="0">
                <a:solidFill>
                  <a:srgbClr val="6A9955"/>
                </a:solidFill>
                <a:latin typeface="Consolas" panose="020B0609020204030204" pitchFamily="49" charset="0"/>
              </a:rPr>
              <a:t>数据</a:t>
            </a:r>
            <a:r>
              <a:rPr lang="en-US" altLang="zh-CN" dirty="0">
                <a:solidFill>
                  <a:srgbClr val="6A9955"/>
                </a:solidFill>
                <a:latin typeface="Consolas" panose="020B0609020204030204" pitchFamily="49" charset="0"/>
              </a:rPr>
              <a:t>#  ##########</a:t>
            </a:r>
            <a:endParaRPr lang="zh-CN" altLang="en-US" dirty="0">
              <a:solidFill>
                <a:srgbClr val="D4D4D4"/>
              </a:solidFill>
              <a:latin typeface="Consolas" panose="020B0609020204030204" pitchFamily="49" charset="0"/>
            </a:endParaRPr>
          </a:p>
          <a:p>
            <a:r>
              <a:rPr lang="zh-CN" altLang="en-US" dirty="0">
                <a:solidFill>
                  <a:srgbClr val="D4D4D4"/>
                </a:solidFill>
                <a:latin typeface="Consolas" panose="020B0609020204030204" pitchFamily="49" charset="0"/>
              </a:rPr>
              <a:t>    </a:t>
            </a:r>
            <a:r>
              <a:rPr lang="en-US" altLang="zh-CN" dirty="0" err="1">
                <a:latin typeface="Consolas" panose="020B0609020204030204" pitchFamily="49" charset="0"/>
              </a:rPr>
              <a:t>iter</a:t>
            </a:r>
            <a:r>
              <a:rPr lang="en-US" altLang="zh-CN" dirty="0">
                <a:latin typeface="Consolas" panose="020B0609020204030204" pitchFamily="49" charset="0"/>
              </a:rPr>
              <a:t> = 50</a:t>
            </a:r>
          </a:p>
          <a:p>
            <a:r>
              <a:rPr lang="en-US" altLang="zh-CN" dirty="0">
                <a:latin typeface="Consolas" panose="020B0609020204030204" pitchFamily="49" charset="0"/>
              </a:rPr>
              <a:t>    X = </a:t>
            </a:r>
            <a:r>
              <a:rPr lang="en-US" altLang="zh-CN" dirty="0" err="1">
                <a:latin typeface="Consolas" panose="020B0609020204030204" pitchFamily="49" charset="0"/>
              </a:rPr>
              <a:t>np.random.rand</a:t>
            </a:r>
            <a:r>
              <a:rPr lang="en-US" altLang="zh-CN" dirty="0">
                <a:latin typeface="Consolas" panose="020B0609020204030204" pitchFamily="49" charset="0"/>
              </a:rPr>
              <a:t>(iter)*20</a:t>
            </a:r>
          </a:p>
          <a:p>
            <a:r>
              <a:rPr lang="en-US" altLang="zh-CN" dirty="0">
                <a:latin typeface="Consolas" panose="020B0609020204030204" pitchFamily="49" charset="0"/>
              </a:rPr>
              <a:t>    noise = </a:t>
            </a:r>
            <a:r>
              <a:rPr lang="en-US" altLang="zh-CN" dirty="0" err="1">
                <a:latin typeface="Consolas" panose="020B0609020204030204" pitchFamily="49" charset="0"/>
              </a:rPr>
              <a:t>np.random.randn</a:t>
            </a:r>
            <a:r>
              <a:rPr lang="en-US" altLang="zh-CN" dirty="0">
                <a:latin typeface="Consolas" panose="020B0609020204030204" pitchFamily="49" charset="0"/>
              </a:rPr>
              <a:t>(</a:t>
            </a:r>
            <a:r>
              <a:rPr lang="en-US" altLang="zh-CN" dirty="0" err="1">
                <a:latin typeface="Consolas" panose="020B0609020204030204" pitchFamily="49" charset="0"/>
              </a:rPr>
              <a:t>iter</a:t>
            </a:r>
            <a:r>
              <a:rPr lang="en-US" altLang="zh-CN" dirty="0">
                <a:latin typeface="Consolas" panose="020B0609020204030204" pitchFamily="49" charset="0"/>
              </a:rPr>
              <a:t>)</a:t>
            </a:r>
          </a:p>
          <a:p>
            <a:r>
              <a:rPr lang="en-US" altLang="zh-CN" dirty="0">
                <a:latin typeface="Consolas" panose="020B0609020204030204" pitchFamily="49" charset="0"/>
              </a:rPr>
              <a:t>    y = 0.5 * X + noise</a:t>
            </a:r>
          </a:p>
          <a:p>
            <a:r>
              <a:rPr lang="en-US" altLang="zh-CN" dirty="0">
                <a:solidFill>
                  <a:srgbClr val="D4D4D4"/>
                </a:solidFill>
                <a:latin typeface="Consolas" panose="020B0609020204030204" pitchFamily="49" charset="0"/>
              </a:rPr>
              <a:t>    </a:t>
            </a:r>
          </a:p>
          <a:p>
            <a:r>
              <a:rPr lang="en-US" altLang="zh-CN" dirty="0">
                <a:solidFill>
                  <a:srgbClr val="D4D4D4"/>
                </a:solidFill>
                <a:latin typeface="Consolas" panose="020B0609020204030204" pitchFamily="49" charset="0"/>
              </a:rPr>
              <a:t>    </a:t>
            </a:r>
            <a:r>
              <a:rPr lang="en-US" altLang="zh-CN" dirty="0" err="1">
                <a:latin typeface="Consolas" panose="020B0609020204030204" pitchFamily="49" charset="0"/>
              </a:rPr>
              <a:t>plt.scatter</a:t>
            </a:r>
            <a:r>
              <a:rPr lang="en-US" altLang="zh-CN" dirty="0">
                <a:latin typeface="Consolas" panose="020B0609020204030204" pitchFamily="49" charset="0"/>
              </a:rPr>
              <a:t>(</a:t>
            </a:r>
            <a:r>
              <a:rPr lang="en-US" altLang="zh-CN" dirty="0" err="1">
                <a:latin typeface="Consolas" panose="020B0609020204030204" pitchFamily="49" charset="0"/>
              </a:rPr>
              <a:t>X,y</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latin typeface="Consolas" panose="020B0609020204030204" pitchFamily="49" charset="0"/>
              </a:rPr>
              <a:t>plt.show</a:t>
            </a:r>
            <a:r>
              <a:rPr lang="en-US" altLang="zh-CN" dirty="0">
                <a:latin typeface="Consolas" panose="020B0609020204030204" pitchFamily="49" charset="0"/>
              </a:rPr>
              <a:t>()</a:t>
            </a:r>
          </a:p>
          <a:p>
            <a:r>
              <a:rPr lang="en-US" altLang="zh-CN" dirty="0">
                <a:solidFill>
                  <a:srgbClr val="D4D4D4"/>
                </a:solidFill>
                <a:latin typeface="Consolas" panose="020B0609020204030204" pitchFamily="49" charset="0"/>
              </a:rPr>
              <a:t> </a:t>
            </a:r>
            <a:r>
              <a:rPr lang="en-US" altLang="zh-CN" dirty="0">
                <a:solidFill>
                  <a:srgbClr val="6A9955"/>
                </a:solidFill>
                <a:latin typeface="Consolas" panose="020B0609020204030204" pitchFamily="49" charset="0"/>
              </a:rPr>
              <a:t>#2 </a:t>
            </a:r>
            <a:r>
              <a:rPr lang="zh-CN" altLang="en-US" dirty="0">
                <a:solidFill>
                  <a:srgbClr val="6A9955"/>
                </a:solidFill>
                <a:latin typeface="Consolas" panose="020B0609020204030204" pitchFamily="49" charset="0"/>
              </a:rPr>
              <a:t>初始化参数  </a:t>
            </a:r>
            <a:r>
              <a:rPr lang="en-US" altLang="zh-CN" dirty="0">
                <a:solidFill>
                  <a:srgbClr val="6A9955"/>
                </a:solidFill>
                <a:latin typeface="Consolas" panose="020B0609020204030204" pitchFamily="49" charset="0"/>
              </a:rPr>
              <a:t>##########</a:t>
            </a:r>
            <a:endParaRPr lang="zh-CN" altLang="en-US" dirty="0">
              <a:solidFill>
                <a:srgbClr val="D4D4D4"/>
              </a:solidFill>
              <a:latin typeface="Consolas" panose="020B0609020204030204" pitchFamily="49" charset="0"/>
            </a:endParaRPr>
          </a:p>
          <a:p>
            <a:r>
              <a:rPr lang="zh-CN" altLang="en-US" dirty="0">
                <a:solidFill>
                  <a:srgbClr val="D4D4D4"/>
                </a:solidFill>
                <a:latin typeface="Consolas" panose="020B0609020204030204" pitchFamily="49" charset="0"/>
              </a:rPr>
              <a:t>    </a:t>
            </a:r>
            <a:r>
              <a:rPr lang="en-US" altLang="zh-CN" dirty="0">
                <a:latin typeface="Consolas" panose="020B0609020204030204" pitchFamily="49" charset="0"/>
              </a:rPr>
              <a:t>w = </a:t>
            </a:r>
            <a:r>
              <a:rPr lang="en-US" altLang="zh-CN" dirty="0" err="1">
                <a:latin typeface="Consolas" panose="020B0609020204030204" pitchFamily="49" charset="0"/>
              </a:rPr>
              <a:t>np.random.randn</a:t>
            </a:r>
            <a:r>
              <a:rPr lang="en-US" altLang="zh-CN" dirty="0">
                <a:latin typeface="Consolas" panose="020B0609020204030204" pitchFamily="49" charset="0"/>
              </a:rPr>
              <a:t>(1)</a:t>
            </a:r>
          </a:p>
          <a:p>
            <a:r>
              <a:rPr lang="en-US" altLang="zh-CN" dirty="0">
                <a:latin typeface="Consolas" panose="020B0609020204030204" pitchFamily="49" charset="0"/>
              </a:rPr>
              <a:t>    b = </a:t>
            </a:r>
            <a:r>
              <a:rPr lang="en-US" altLang="zh-CN" dirty="0" err="1">
                <a:latin typeface="Consolas" panose="020B0609020204030204" pitchFamily="49" charset="0"/>
              </a:rPr>
              <a:t>np.zeros</a:t>
            </a:r>
            <a:r>
              <a:rPr lang="en-US" altLang="zh-CN" dirty="0">
                <a:latin typeface="Consolas" panose="020B0609020204030204" pitchFamily="49" charset="0"/>
              </a:rPr>
              <a:t>(1)</a:t>
            </a:r>
          </a:p>
          <a:p>
            <a:br>
              <a:rPr lang="en-US" altLang="zh-CN" dirty="0">
                <a:solidFill>
                  <a:srgbClr val="D4D4D4"/>
                </a:solidFill>
                <a:latin typeface="Consolas" panose="020B0609020204030204" pitchFamily="49" charset="0"/>
              </a:rPr>
            </a:br>
            <a:r>
              <a:rPr lang="en-US" altLang="zh-CN" dirty="0">
                <a:solidFill>
                  <a:srgbClr val="D4D4D4"/>
                </a:solidFill>
                <a:latin typeface="Consolas" panose="020B0609020204030204" pitchFamily="49" charset="0"/>
              </a:rPr>
              <a:t>    </a:t>
            </a:r>
            <a:endParaRPr lang="en-US" altLang="zh-CN" b="0" dirty="0">
              <a:solidFill>
                <a:srgbClr val="D4D4D4"/>
              </a:solidFill>
              <a:effectLst/>
              <a:latin typeface="Consolas" panose="020B0609020204030204" pitchFamily="49" charset="0"/>
            </a:endParaRPr>
          </a:p>
        </p:txBody>
      </p:sp>
      <p:sp>
        <p:nvSpPr>
          <p:cNvPr id="4" name="矩形 3"/>
          <p:cNvSpPr/>
          <p:nvPr/>
        </p:nvSpPr>
        <p:spPr>
          <a:xfrm>
            <a:off x="4544292" y="114498"/>
            <a:ext cx="7481455" cy="7017306"/>
          </a:xfrm>
          <a:prstGeom prst="rect">
            <a:avLst/>
          </a:prstGeom>
        </p:spPr>
        <p:txBody>
          <a:bodyPr wrap="square">
            <a:spAutoFit/>
          </a:bodyPr>
          <a:lstStyle/>
          <a:p>
            <a:r>
              <a:rPr lang="en-US" altLang="zh-CN" dirty="0">
                <a:solidFill>
                  <a:srgbClr val="6A9955"/>
                </a:solidFill>
                <a:latin typeface="Consolas" panose="020B0609020204030204" pitchFamily="49" charset="0"/>
              </a:rPr>
              <a:t># 3 </a:t>
            </a:r>
            <a:r>
              <a:rPr lang="zh-CN" altLang="en-US" dirty="0">
                <a:solidFill>
                  <a:srgbClr val="6A9955"/>
                </a:solidFill>
                <a:latin typeface="Consolas" panose="020B0609020204030204" pitchFamily="49" charset="0"/>
              </a:rPr>
              <a:t>根据样本更新参数</a:t>
            </a:r>
            <a:r>
              <a:rPr lang="en-US" altLang="zh-CN" dirty="0">
                <a:solidFill>
                  <a:srgbClr val="D4D4D4"/>
                </a:solidFill>
                <a:latin typeface="Consolas" panose="020B0609020204030204" pitchFamily="49" charset="0"/>
              </a:rPr>
              <a:t> </a:t>
            </a:r>
          </a:p>
          <a:p>
            <a:r>
              <a:rPr lang="en-US" altLang="zh-CN" dirty="0">
                <a:solidFill>
                  <a:srgbClr val="D4D4D4"/>
                </a:solidFill>
                <a:latin typeface="Consolas" panose="020B0609020204030204" pitchFamily="49" charset="0"/>
              </a:rPr>
              <a:t>    </a:t>
            </a:r>
            <a:r>
              <a:rPr lang="en-US" altLang="zh-CN" dirty="0" err="1">
                <a:latin typeface="Consolas" panose="020B0609020204030204" pitchFamily="49" charset="0"/>
              </a:rPr>
              <a:t>lr</a:t>
            </a:r>
            <a:r>
              <a:rPr lang="en-US" altLang="zh-CN" dirty="0">
                <a:latin typeface="Consolas" panose="020B0609020204030204" pitchFamily="49" charset="0"/>
              </a:rPr>
              <a:t> = 0.001   ##</a:t>
            </a:r>
            <a:r>
              <a:rPr lang="zh-CN" altLang="en-US" dirty="0">
                <a:latin typeface="Consolas" panose="020B0609020204030204" pitchFamily="49" charset="0"/>
              </a:rPr>
              <a:t>定义学习率，控制每次参数更新的步长</a:t>
            </a:r>
            <a:endParaRPr lang="en-US" altLang="zh-CN" dirty="0">
              <a:latin typeface="Consolas" panose="020B0609020204030204" pitchFamily="49" charset="0"/>
            </a:endParaRPr>
          </a:p>
          <a:p>
            <a:r>
              <a:rPr lang="en-US" altLang="zh-CN" dirty="0">
                <a:latin typeface="Consolas" panose="020B0609020204030204" pitchFamily="49" charset="0"/>
              </a:rPr>
              <a:t>    for iteration in range(40):</a:t>
            </a:r>
          </a:p>
          <a:p>
            <a:r>
              <a:rPr lang="en-US" altLang="zh-CN" dirty="0">
                <a:latin typeface="Consolas" panose="020B0609020204030204" pitchFamily="49" charset="0"/>
              </a:rPr>
              <a:t>        </a:t>
            </a:r>
          </a:p>
          <a:p>
            <a:r>
              <a:rPr lang="en-US" altLang="zh-CN" dirty="0">
                <a:latin typeface="Consolas" panose="020B0609020204030204" pitchFamily="49" charset="0"/>
              </a:rPr>
              <a:t>        </a:t>
            </a:r>
            <a:r>
              <a:rPr lang="en-US" altLang="zh-CN" dirty="0">
                <a:solidFill>
                  <a:srgbClr val="00B050"/>
                </a:solidFill>
                <a:latin typeface="Consolas" panose="020B0609020204030204" pitchFamily="49" charset="0"/>
              </a:rPr>
              <a:t># </a:t>
            </a:r>
            <a:r>
              <a:rPr lang="zh-CN" altLang="en-US" dirty="0">
                <a:solidFill>
                  <a:srgbClr val="00B050"/>
                </a:solidFill>
                <a:latin typeface="Consolas" panose="020B0609020204030204" pitchFamily="49" charset="0"/>
              </a:rPr>
              <a:t>初始化拟合</a:t>
            </a:r>
          </a:p>
          <a:p>
            <a:r>
              <a:rPr lang="zh-CN" altLang="en-US" dirty="0">
                <a:latin typeface="Consolas" panose="020B0609020204030204" pitchFamily="49" charset="0"/>
              </a:rPr>
              <a:t>        </a:t>
            </a:r>
            <a:r>
              <a:rPr lang="en-US" altLang="zh-CN" dirty="0" err="1">
                <a:latin typeface="Consolas" panose="020B0609020204030204" pitchFamily="49" charset="0"/>
              </a:rPr>
              <a:t>y_pred</a:t>
            </a:r>
            <a:r>
              <a:rPr lang="en-US" altLang="zh-CN" dirty="0">
                <a:latin typeface="Consolas" panose="020B0609020204030204" pitchFamily="49" charset="0"/>
              </a:rPr>
              <a:t> = w*X + b   </a:t>
            </a:r>
          </a:p>
          <a:p>
            <a:br>
              <a:rPr lang="en-US" altLang="zh-CN" dirty="0">
                <a:latin typeface="Consolas" panose="020B0609020204030204" pitchFamily="49" charset="0"/>
              </a:rPr>
            </a:br>
            <a:r>
              <a:rPr lang="en-US" altLang="zh-CN" dirty="0">
                <a:latin typeface="Consolas" panose="020B0609020204030204" pitchFamily="49" charset="0"/>
              </a:rPr>
              <a:t>        #</a:t>
            </a:r>
            <a:r>
              <a:rPr lang="zh-CN" altLang="en-US" dirty="0">
                <a:latin typeface="Consolas" panose="020B0609020204030204" pitchFamily="49" charset="0"/>
              </a:rPr>
              <a:t>梯度更新</a:t>
            </a:r>
          </a:p>
          <a:p>
            <a:r>
              <a:rPr lang="zh-CN" altLang="en-US" dirty="0">
                <a:latin typeface="Consolas" panose="020B0609020204030204" pitchFamily="49" charset="0"/>
              </a:rPr>
              <a:t>        </a:t>
            </a:r>
            <a:r>
              <a:rPr lang="en-US" altLang="zh-CN" dirty="0" err="1">
                <a:latin typeface="Consolas" panose="020B0609020204030204" pitchFamily="49" charset="0"/>
              </a:rPr>
              <a:t>w_gradient</a:t>
            </a:r>
            <a:r>
              <a:rPr lang="en-US" altLang="zh-CN" dirty="0">
                <a:latin typeface="Consolas" panose="020B0609020204030204" pitchFamily="49" charset="0"/>
              </a:rPr>
              <a:t> = 0</a:t>
            </a:r>
          </a:p>
          <a:p>
            <a:r>
              <a:rPr lang="en-US" altLang="zh-CN" dirty="0">
                <a:latin typeface="Consolas" panose="020B0609020204030204" pitchFamily="49" charset="0"/>
              </a:rPr>
              <a:t>        </a:t>
            </a:r>
            <a:r>
              <a:rPr lang="en-US" altLang="zh-CN" dirty="0" err="1">
                <a:latin typeface="Consolas" panose="020B0609020204030204" pitchFamily="49" charset="0"/>
              </a:rPr>
              <a:t>b_gradient</a:t>
            </a:r>
            <a:r>
              <a:rPr lang="en-US" altLang="zh-CN" dirty="0">
                <a:latin typeface="Consolas" panose="020B0609020204030204" pitchFamily="49" charset="0"/>
              </a:rPr>
              <a:t> = 0</a:t>
            </a:r>
          </a:p>
          <a:p>
            <a:r>
              <a:rPr lang="en-US" altLang="zh-CN" dirty="0">
                <a:latin typeface="Consolas" panose="020B0609020204030204" pitchFamily="49" charset="0"/>
              </a:rPr>
              <a:t>        N = </a:t>
            </a:r>
            <a:r>
              <a:rPr lang="en-US" altLang="zh-CN" dirty="0" err="1">
                <a:latin typeface="Consolas" panose="020B0609020204030204" pitchFamily="49" charset="0"/>
              </a:rPr>
              <a:t>len</a:t>
            </a:r>
            <a:r>
              <a:rPr lang="en-US" altLang="zh-CN" dirty="0">
                <a:latin typeface="Consolas" panose="020B0609020204030204" pitchFamily="49" charset="0"/>
              </a:rPr>
              <a:t>(X)</a:t>
            </a:r>
          </a:p>
          <a:p>
            <a:r>
              <a:rPr lang="en-US" altLang="zh-CN" dirty="0">
                <a:latin typeface="Consolas" panose="020B0609020204030204" pitchFamily="49" charset="0"/>
              </a:rPr>
              <a:t>        for </a:t>
            </a:r>
            <a:r>
              <a:rPr lang="en-US" altLang="zh-CN" dirty="0" err="1">
                <a:latin typeface="Consolas" panose="020B0609020204030204" pitchFamily="49" charset="0"/>
              </a:rPr>
              <a:t>i</a:t>
            </a:r>
            <a:r>
              <a:rPr lang="en-US" altLang="zh-CN" dirty="0">
                <a:latin typeface="Consolas" panose="020B0609020204030204" pitchFamily="49" charset="0"/>
              </a:rPr>
              <a:t> in range(N):</a:t>
            </a:r>
          </a:p>
          <a:p>
            <a:r>
              <a:rPr lang="en-US" altLang="zh-CN" dirty="0">
                <a:latin typeface="Consolas" panose="020B0609020204030204" pitchFamily="49" charset="0"/>
              </a:rPr>
              <a:t>            </a:t>
            </a:r>
            <a:r>
              <a:rPr lang="en-US" altLang="zh-CN" dirty="0" err="1">
                <a:latin typeface="Consolas" panose="020B0609020204030204" pitchFamily="49" charset="0"/>
              </a:rPr>
              <a:t>w_gradient</a:t>
            </a:r>
            <a:r>
              <a:rPr lang="en-US" altLang="zh-CN" dirty="0">
                <a:latin typeface="Consolas" panose="020B0609020204030204" pitchFamily="49" charset="0"/>
              </a:rPr>
              <a:t> +=  (w * X[</a:t>
            </a:r>
            <a:r>
              <a:rPr lang="en-US" altLang="zh-CN" dirty="0" err="1">
                <a:latin typeface="Consolas" panose="020B0609020204030204" pitchFamily="49" charset="0"/>
              </a:rPr>
              <a:t>i</a:t>
            </a:r>
            <a:r>
              <a:rPr lang="en-US" altLang="zh-CN" dirty="0">
                <a:latin typeface="Consolas" panose="020B0609020204030204" pitchFamily="49" charset="0"/>
              </a:rPr>
              <a:t>] + b - y[</a:t>
            </a:r>
            <a:r>
              <a:rPr lang="en-US" altLang="zh-CN" dirty="0" err="1">
                <a:latin typeface="Consolas" panose="020B0609020204030204" pitchFamily="49" charset="0"/>
              </a:rPr>
              <a:t>i</a:t>
            </a:r>
            <a:r>
              <a:rPr lang="en-US" altLang="zh-CN" dirty="0">
                <a:latin typeface="Consolas" panose="020B0609020204030204" pitchFamily="49" charset="0"/>
              </a:rPr>
              <a:t>]) * X[</a:t>
            </a:r>
            <a:r>
              <a:rPr lang="en-US" altLang="zh-CN" dirty="0" err="1">
                <a:latin typeface="Consolas" panose="020B0609020204030204" pitchFamily="49" charset="0"/>
              </a:rPr>
              <a:t>i</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latin typeface="Consolas" panose="020B0609020204030204" pitchFamily="49" charset="0"/>
              </a:rPr>
              <a:t>b_gradient</a:t>
            </a:r>
            <a:r>
              <a:rPr lang="en-US" altLang="zh-CN" dirty="0">
                <a:latin typeface="Consolas" panose="020B0609020204030204" pitchFamily="49" charset="0"/>
              </a:rPr>
              <a:t> += (w * X[</a:t>
            </a:r>
            <a:r>
              <a:rPr lang="en-US" altLang="zh-CN" dirty="0" err="1">
                <a:latin typeface="Consolas" panose="020B0609020204030204" pitchFamily="49" charset="0"/>
              </a:rPr>
              <a:t>i</a:t>
            </a:r>
            <a:r>
              <a:rPr lang="en-US" altLang="zh-CN" dirty="0">
                <a:latin typeface="Consolas" panose="020B0609020204030204" pitchFamily="49" charset="0"/>
              </a:rPr>
              <a:t>] + b - y[</a:t>
            </a:r>
            <a:r>
              <a:rPr lang="en-US" altLang="zh-CN" dirty="0" err="1">
                <a:latin typeface="Consolas" panose="020B0609020204030204" pitchFamily="49" charset="0"/>
              </a:rPr>
              <a:t>i</a:t>
            </a:r>
            <a:r>
              <a:rPr lang="en-US" altLang="zh-CN" dirty="0">
                <a:latin typeface="Consolas" panose="020B0609020204030204" pitchFamily="49" charset="0"/>
              </a:rPr>
              <a:t>])</a:t>
            </a:r>
          </a:p>
          <a:p>
            <a:r>
              <a:rPr lang="en-US" altLang="zh-CN" dirty="0">
                <a:solidFill>
                  <a:srgbClr val="6A9955"/>
                </a:solidFill>
                <a:latin typeface="Consolas" panose="020B0609020204030204" pitchFamily="49" charset="0"/>
              </a:rPr>
              <a:t>           #</a:t>
            </a:r>
            <a:r>
              <a:rPr lang="zh-CN" altLang="en-US" dirty="0">
                <a:solidFill>
                  <a:srgbClr val="6A9955"/>
                </a:solidFill>
                <a:latin typeface="Consolas" panose="020B0609020204030204" pitchFamily="49" charset="0"/>
              </a:rPr>
              <a:t>根据梯度计算公式累加每个样本对</a:t>
            </a:r>
            <a:r>
              <a:rPr lang="en-US" altLang="zh-CN" dirty="0">
                <a:solidFill>
                  <a:srgbClr val="6A9955"/>
                </a:solidFill>
                <a:latin typeface="Consolas" panose="020B0609020204030204" pitchFamily="49" charset="0"/>
              </a:rPr>
              <a:t>w/b</a:t>
            </a:r>
            <a:r>
              <a:rPr lang="zh-CN" altLang="en-US" dirty="0">
                <a:solidFill>
                  <a:srgbClr val="6A9955"/>
                </a:solidFill>
                <a:latin typeface="Consolas" panose="020B0609020204030204" pitchFamily="49" charset="0"/>
              </a:rPr>
              <a:t>梯度的贡献</a:t>
            </a:r>
            <a:endParaRPr lang="en-US" altLang="zh-CN" dirty="0">
              <a:solidFill>
                <a:srgbClr val="6A9955"/>
              </a:solidFill>
              <a:latin typeface="Consolas" panose="020B0609020204030204" pitchFamily="49" charset="0"/>
            </a:endParaRPr>
          </a:p>
          <a:p>
            <a:r>
              <a:rPr lang="en-US" altLang="zh-CN" dirty="0">
                <a:latin typeface="Consolas" panose="020B0609020204030204" pitchFamily="49" charset="0"/>
              </a:rPr>
              <a:t>            w -= </a:t>
            </a:r>
            <a:r>
              <a:rPr lang="en-US" altLang="zh-CN" dirty="0" err="1">
                <a:latin typeface="Consolas" panose="020B0609020204030204" pitchFamily="49" charset="0"/>
              </a:rPr>
              <a:t>lr</a:t>
            </a:r>
            <a:r>
              <a:rPr lang="en-US" altLang="zh-CN" dirty="0">
                <a:latin typeface="Consolas" panose="020B0609020204030204" pitchFamily="49" charset="0"/>
              </a:rPr>
              <a:t> * </a:t>
            </a:r>
            <a:r>
              <a:rPr lang="en-US" altLang="zh-CN" dirty="0" err="1">
                <a:latin typeface="Consolas" panose="020B0609020204030204" pitchFamily="49" charset="0"/>
              </a:rPr>
              <a:t>w_gradient</a:t>
            </a:r>
            <a:r>
              <a:rPr lang="en-US" altLang="zh-CN" dirty="0">
                <a:latin typeface="Consolas" panose="020B0609020204030204" pitchFamily="49" charset="0"/>
              </a:rPr>
              <a:t> / N</a:t>
            </a:r>
          </a:p>
          <a:p>
            <a:r>
              <a:rPr lang="en-US" altLang="zh-CN" dirty="0">
                <a:latin typeface="Consolas" panose="020B0609020204030204" pitchFamily="49" charset="0"/>
              </a:rPr>
              <a:t>            b -= </a:t>
            </a:r>
            <a:r>
              <a:rPr lang="en-US" altLang="zh-CN" dirty="0" err="1">
                <a:latin typeface="Consolas" panose="020B0609020204030204" pitchFamily="49" charset="0"/>
              </a:rPr>
              <a:t>lr</a:t>
            </a:r>
            <a:r>
              <a:rPr lang="en-US" altLang="zh-CN" dirty="0">
                <a:latin typeface="Consolas" panose="020B0609020204030204" pitchFamily="49" charset="0"/>
              </a:rPr>
              <a:t> * </a:t>
            </a:r>
            <a:r>
              <a:rPr lang="en-US" altLang="zh-CN" dirty="0" err="1">
                <a:latin typeface="Consolas" panose="020B0609020204030204" pitchFamily="49" charset="0"/>
              </a:rPr>
              <a:t>b_gradient</a:t>
            </a:r>
            <a:r>
              <a:rPr lang="en-US" altLang="zh-CN" dirty="0">
                <a:latin typeface="Consolas" panose="020B0609020204030204" pitchFamily="49" charset="0"/>
              </a:rPr>
              <a:t> / N</a:t>
            </a:r>
          </a:p>
          <a:p>
            <a:r>
              <a:rPr lang="en-US" altLang="zh-CN" dirty="0">
                <a:latin typeface="Consolas" panose="020B0609020204030204" pitchFamily="49" charset="0"/>
              </a:rPr>
              <a:t>        </a:t>
            </a:r>
            <a:r>
              <a:rPr lang="en-US" altLang="zh-CN" dirty="0">
                <a:solidFill>
                  <a:srgbClr val="00B050"/>
                </a:solidFill>
                <a:latin typeface="Consolas" panose="020B0609020204030204" pitchFamily="49" charset="0"/>
              </a:rPr>
              <a:t># </a:t>
            </a:r>
            <a:r>
              <a:rPr lang="zh-CN" altLang="en-US" dirty="0">
                <a:solidFill>
                  <a:srgbClr val="00B050"/>
                </a:solidFill>
                <a:latin typeface="Consolas" panose="020B0609020204030204" pitchFamily="49" charset="0"/>
              </a:rPr>
              <a:t>更新后拟合</a:t>
            </a:r>
          </a:p>
          <a:p>
            <a:r>
              <a:rPr lang="zh-CN" altLang="en-US" dirty="0">
                <a:latin typeface="Consolas" panose="020B0609020204030204" pitchFamily="49" charset="0"/>
              </a:rPr>
              <a:t>        </a:t>
            </a:r>
            <a:r>
              <a:rPr lang="en-US" altLang="zh-CN" dirty="0" err="1">
                <a:latin typeface="Consolas" panose="020B0609020204030204" pitchFamily="49" charset="0"/>
              </a:rPr>
              <a:t>y_pred</a:t>
            </a:r>
            <a:r>
              <a:rPr lang="en-US" altLang="zh-CN" dirty="0">
                <a:latin typeface="Consolas" panose="020B0609020204030204" pitchFamily="49" charset="0"/>
              </a:rPr>
              <a:t> = w * X + b</a:t>
            </a:r>
            <a:br>
              <a:rPr lang="en-US" altLang="zh-CN" dirty="0">
                <a:latin typeface="Consolas" panose="020B0609020204030204" pitchFamily="49" charset="0"/>
              </a:rPr>
            </a:br>
            <a:r>
              <a:rPr lang="en-US" altLang="zh-CN" dirty="0">
                <a:latin typeface="Consolas" panose="020B0609020204030204" pitchFamily="49" charset="0"/>
              </a:rPr>
              <a:t>        </a:t>
            </a:r>
            <a:r>
              <a:rPr lang="en-US" altLang="zh-CN" dirty="0">
                <a:solidFill>
                  <a:srgbClr val="00B050"/>
                </a:solidFill>
                <a:latin typeface="Consolas" panose="020B0609020204030204" pitchFamily="49" charset="0"/>
              </a:rPr>
              <a:t># </a:t>
            </a:r>
            <a:r>
              <a:rPr lang="zh-CN" altLang="en-US" dirty="0">
                <a:solidFill>
                  <a:srgbClr val="00B050"/>
                </a:solidFill>
                <a:latin typeface="Consolas" panose="020B0609020204030204" pitchFamily="49" charset="0"/>
              </a:rPr>
              <a:t>显示</a:t>
            </a:r>
          </a:p>
          <a:p>
            <a:r>
              <a:rPr lang="zh-CN" altLang="en-US" dirty="0">
                <a:latin typeface="Consolas" panose="020B0609020204030204" pitchFamily="49" charset="0"/>
              </a:rPr>
              <a:t>        </a:t>
            </a:r>
            <a:r>
              <a:rPr lang="en-US" altLang="zh-CN" dirty="0" err="1">
                <a:latin typeface="Consolas" panose="020B0609020204030204" pitchFamily="49" charset="0"/>
              </a:rPr>
              <a:t>plt.scatter</a:t>
            </a:r>
            <a:r>
              <a:rPr lang="en-US" altLang="zh-CN" dirty="0">
                <a:latin typeface="Consolas" panose="020B0609020204030204" pitchFamily="49" charset="0"/>
              </a:rPr>
              <a:t>(X, y, c="blue")</a:t>
            </a:r>
          </a:p>
          <a:p>
            <a:r>
              <a:rPr lang="en-US" altLang="zh-CN" dirty="0">
                <a:latin typeface="Consolas" panose="020B0609020204030204" pitchFamily="49" charset="0"/>
              </a:rPr>
              <a:t>        </a:t>
            </a:r>
            <a:r>
              <a:rPr lang="en-US" altLang="zh-CN" dirty="0" err="1">
                <a:latin typeface="Consolas" panose="020B0609020204030204" pitchFamily="49" charset="0"/>
              </a:rPr>
              <a:t>plt.plot</a:t>
            </a:r>
            <a:r>
              <a:rPr lang="en-US" altLang="zh-CN" dirty="0">
                <a:latin typeface="Consolas" panose="020B0609020204030204" pitchFamily="49" charset="0"/>
              </a:rPr>
              <a:t>(X, </a:t>
            </a:r>
            <a:r>
              <a:rPr lang="en-US" altLang="zh-CN" dirty="0" err="1">
                <a:latin typeface="Consolas" panose="020B0609020204030204" pitchFamily="49" charset="0"/>
              </a:rPr>
              <a:t>y_pred</a:t>
            </a:r>
            <a:r>
              <a:rPr lang="en-US" altLang="zh-CN" dirty="0">
                <a:latin typeface="Consolas" panose="020B0609020204030204" pitchFamily="49" charset="0"/>
              </a:rPr>
              <a:t>, c="red")</a:t>
            </a:r>
          </a:p>
          <a:p>
            <a:r>
              <a:rPr lang="en-US" altLang="zh-CN" dirty="0">
                <a:latin typeface="Consolas" panose="020B0609020204030204" pitchFamily="49" charset="0"/>
              </a:rPr>
              <a:t>        </a:t>
            </a:r>
            <a:r>
              <a:rPr lang="en-US" altLang="zh-CN" dirty="0" err="1">
                <a:latin typeface="Consolas" panose="020B0609020204030204" pitchFamily="49" charset="0"/>
              </a:rPr>
              <a:t>plt.pause</a:t>
            </a:r>
            <a:r>
              <a:rPr lang="en-US" altLang="zh-CN" dirty="0">
                <a:latin typeface="Consolas" panose="020B0609020204030204" pitchFamily="49" charset="0"/>
              </a:rPr>
              <a:t>(0.2) </a:t>
            </a:r>
          </a:p>
          <a:p>
            <a:br>
              <a:rPr lang="en-US" altLang="zh-CN" dirty="0">
                <a:latin typeface="Consolas" panose="020B0609020204030204" pitchFamily="49" charset="0"/>
              </a:rPr>
            </a:br>
            <a:r>
              <a:rPr lang="en-US" altLang="zh-CN" dirty="0">
                <a:latin typeface="Consolas" panose="020B0609020204030204" pitchFamily="49" charset="0"/>
              </a:rPr>
              <a:t>       </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317" y="4221022"/>
            <a:ext cx="3369431" cy="25060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stretch>
            <a:fillRect/>
          </a:stretch>
        </p:blipFill>
        <p:spPr>
          <a:xfrm>
            <a:off x="1271732" y="1069131"/>
            <a:ext cx="9627717" cy="49642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11" y="300548"/>
            <a:ext cx="8015583" cy="534035"/>
          </a:xfrm>
        </p:spPr>
        <p:txBody>
          <a:bodyPr/>
          <a:lstStyle/>
          <a:p>
            <a:pPr eaLnBrk="1" fontAlgn="auto" hangingPunct="1">
              <a:defRPr/>
            </a:pPr>
            <a:r>
              <a:rPr noProof="1"/>
              <a:t>算法实例</a:t>
            </a:r>
          </a:p>
        </p:txBody>
      </p:sp>
      <p:sp>
        <p:nvSpPr>
          <p:cNvPr id="3" name="矩形 2"/>
          <p:cNvSpPr/>
          <p:nvPr/>
        </p:nvSpPr>
        <p:spPr>
          <a:xfrm>
            <a:off x="304800" y="994860"/>
            <a:ext cx="6096000" cy="646331"/>
          </a:xfrm>
          <a:prstGeom prst="rect">
            <a:avLst/>
          </a:prstGeom>
        </p:spPr>
        <p:txBody>
          <a:bodyPr>
            <a:spAutoFit/>
          </a:bodyPr>
          <a:lstStyle/>
          <a:p>
            <a:r>
              <a:rPr lang="en-US" altLang="zh-CN" dirty="0">
                <a:solidFill>
                  <a:srgbClr val="D4D4D4"/>
                </a:solidFill>
                <a:latin typeface="Consolas" panose="020B0609020204030204" pitchFamily="49" charset="0"/>
              </a:rPr>
              <a:t> </a:t>
            </a:r>
            <a:br>
              <a:rPr lang="en-US" altLang="zh-CN" dirty="0">
                <a:solidFill>
                  <a:srgbClr val="D4D4D4"/>
                </a:solidFill>
                <a:latin typeface="Consolas" panose="020B0609020204030204" pitchFamily="49" charset="0"/>
              </a:rPr>
            </a:br>
            <a:r>
              <a:rPr lang="en-US" altLang="zh-CN" dirty="0">
                <a:solidFill>
                  <a:srgbClr val="D4D4D4"/>
                </a:solidFill>
                <a:latin typeface="Consolas" panose="020B0609020204030204" pitchFamily="49" charset="0"/>
              </a:rPr>
              <a:t>    </a:t>
            </a:r>
            <a:endParaRPr lang="en-US" altLang="zh-CN" b="0" dirty="0">
              <a:solidFill>
                <a:srgbClr val="D4D4D4"/>
              </a:solidFill>
              <a:effectLst/>
              <a:latin typeface="Consolas" panose="020B0609020204030204" pitchFamily="49" charset="0"/>
            </a:endParaRPr>
          </a:p>
        </p:txBody>
      </p:sp>
      <p:sp>
        <p:nvSpPr>
          <p:cNvPr id="7" name="Rectangle 2"/>
          <p:cNvSpPr>
            <a:spLocks noChangeArrowheads="1"/>
          </p:cNvSpPr>
          <p:nvPr/>
        </p:nvSpPr>
        <p:spPr bwMode="auto">
          <a:xfrm>
            <a:off x="715224" y="2379854"/>
            <a:ext cx="4427145"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1" u="none" strike="noStrike" cap="none" normalizeH="0" baseline="0" dirty="0">
                <a:ln>
                  <a:noFill/>
                </a:ln>
                <a:solidFill>
                  <a:srgbClr val="808080"/>
                </a:solidFill>
                <a:effectLst/>
                <a:latin typeface="Consolas" panose="020B0609020204030204" pitchFamily="49" charset="0"/>
                <a:cs typeface="Consolas" panose="020B0609020204030204" pitchFamily="49" charset="0"/>
              </a:rPr>
              <a:t># 2</a:t>
            </a:r>
            <a: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t>整合</a:t>
            </a:r>
            <a:r>
              <a:rPr kumimoji="0" lang="zh-CN" altLang="zh-CN" sz="1200" b="0" i="1" u="none" strike="noStrike" cap="none" normalizeH="0" baseline="0" dirty="0">
                <a:ln>
                  <a:noFill/>
                </a:ln>
                <a:solidFill>
                  <a:srgbClr val="808080"/>
                </a:solidFill>
                <a:effectLst/>
                <a:latin typeface="DFKai-SB" panose="03000509000000000000" pitchFamily="65" charset="-120"/>
                <a:ea typeface="DFKai-SB" panose="03000509000000000000" pitchFamily="65" charset="-120"/>
                <a:cs typeface="Consolas" panose="020B0609020204030204" pitchFamily="49" charset="0"/>
              </a:rPr>
              <a:t>数</a:t>
            </a:r>
            <a: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t>据</a:t>
            </a:r>
            <a:r>
              <a:rPr lang="zh-CN" altLang="en-US" sz="1200" i="1" dirty="0">
                <a:solidFill>
                  <a:srgbClr val="808080"/>
                </a:solidFill>
                <a:latin typeface="DFKai-SB" panose="03000509000000000000" pitchFamily="65" charset="-120"/>
                <a:ea typeface="DFKai-SB" panose="03000509000000000000" pitchFamily="65" charset="-120"/>
                <a:cs typeface="Consolas" panose="020B0609020204030204" pitchFamily="49" charset="0"/>
              </a:rPr>
              <a:t>成</a:t>
            </a:r>
            <a: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t>矩</a:t>
            </a:r>
            <a:r>
              <a:rPr kumimoji="0" lang="zh-CN" altLang="zh-CN" sz="1200" b="0" i="1" u="none" strike="noStrike" cap="none" normalizeH="0" baseline="0" dirty="0">
                <a:ln>
                  <a:noFill/>
                </a:ln>
                <a:solidFill>
                  <a:srgbClr val="808080"/>
                </a:solidFill>
                <a:effectLst/>
                <a:latin typeface="DFKai-SB" panose="03000509000000000000" pitchFamily="65" charset="-120"/>
                <a:ea typeface="DFKai-SB" panose="03000509000000000000" pitchFamily="65" charset="-120"/>
                <a:cs typeface="Consolas" panose="020B0609020204030204" pitchFamily="49" charset="0"/>
              </a:rPr>
              <a:t>阵</a:t>
            </a:r>
            <a: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t>形式</a:t>
            </a:r>
            <a:b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x = x.reshape(-</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X = np.hstack((np.ones((x.shape[</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0</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x))</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Y = y.reshape(-</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X = np.mat(X)</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Y = np.mat(Y)</a:t>
            </a: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sp>
        <p:nvSpPr>
          <p:cNvPr id="8" name="Rectangle 3"/>
          <p:cNvSpPr>
            <a:spLocks noChangeArrowheads="1"/>
          </p:cNvSpPr>
          <p:nvPr/>
        </p:nvSpPr>
        <p:spPr bwMode="auto">
          <a:xfrm>
            <a:off x="715225" y="1133359"/>
            <a:ext cx="4427145" cy="1015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1" u="none" strike="noStrike" cap="none" normalizeH="0" baseline="0" dirty="0">
                <a:ln>
                  <a:noFill/>
                </a:ln>
                <a:solidFill>
                  <a:srgbClr val="808080"/>
                </a:solidFill>
                <a:effectLst/>
                <a:latin typeface="Consolas" panose="020B0609020204030204" pitchFamily="49" charset="0"/>
                <a:cs typeface="Consolas" panose="020B0609020204030204" pitchFamily="49" charset="0"/>
              </a:rPr>
              <a:t># 1 </a:t>
            </a:r>
            <a: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t>生</a:t>
            </a:r>
            <a:r>
              <a:rPr kumimoji="0" lang="zh-CN" altLang="zh-CN" sz="1200" b="0" i="1" u="none" strike="noStrike" cap="none" normalizeH="0" baseline="0" dirty="0">
                <a:ln>
                  <a:noFill/>
                </a:ln>
                <a:solidFill>
                  <a:srgbClr val="808080"/>
                </a:solidFill>
                <a:effectLst/>
                <a:latin typeface="DFKai-SB" panose="03000509000000000000" pitchFamily="65" charset="-120"/>
                <a:ea typeface="DFKai-SB" panose="03000509000000000000" pitchFamily="65" charset="-120"/>
                <a:cs typeface="Consolas" panose="020B0609020204030204" pitchFamily="49" charset="0"/>
              </a:rPr>
              <a:t>产数</a:t>
            </a:r>
            <a: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t>据</a:t>
            </a:r>
            <a:b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x = np.linspace(</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0</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5</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100</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y = </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0.5 </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x + np.random.randn(x.shape[-</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0.35</a:t>
            </a:r>
            <a:b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x_copy = x.copy()</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plt.plot(x_copy, y, </a:t>
            </a:r>
            <a:r>
              <a:rPr kumimoji="0" lang="zh-CN" altLang="zh-CN" sz="12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'x'</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4"/>
          <p:cNvSpPr>
            <a:spLocks noChangeArrowheads="1"/>
          </p:cNvSpPr>
          <p:nvPr/>
        </p:nvSpPr>
        <p:spPr bwMode="auto">
          <a:xfrm>
            <a:off x="5884753" y="1133359"/>
            <a:ext cx="4590107" cy="378565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1" u="none" strike="noStrike" cap="none" normalizeH="0" baseline="0" dirty="0">
                <a:ln>
                  <a:noFill/>
                </a:ln>
                <a:solidFill>
                  <a:srgbClr val="808080"/>
                </a:solidFill>
                <a:effectLst/>
                <a:latin typeface="Consolas" panose="020B0609020204030204" pitchFamily="49" charset="0"/>
                <a:cs typeface="Consolas" panose="020B0609020204030204" pitchFamily="49" charset="0"/>
              </a:rPr>
              <a:t># 3 </a:t>
            </a:r>
            <a: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t>梯度下降求解</a:t>
            </a:r>
            <a:b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theta_ini = np.zeros([X.shape[-</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step = </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0.0001</a:t>
            </a:r>
            <a:b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iterN = </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200</a:t>
            </a:r>
            <a:b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theta = theta_ini</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plt.ion()</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for </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i </a:t>
            </a:r>
            <a:r>
              <a:rPr kumimoji="0" lang="zh-CN" altLang="zh-CN" sz="12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in </a:t>
            </a:r>
            <a:r>
              <a:rPr kumimoji="0" lang="zh-CN" altLang="zh-CN" sz="12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range</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(iterN):</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plt.figure(</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grad = X.T*(X*theta-Y)</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theta -= step*grad</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zh-CN" altLang="zh-CN" sz="1200" b="0" i="1" u="none" strike="noStrike" cap="none" normalizeH="0" baseline="0" dirty="0">
                <a:ln>
                  <a:noFill/>
                </a:ln>
                <a:solidFill>
                  <a:srgbClr val="808080"/>
                </a:solidFill>
                <a:effectLst/>
                <a:latin typeface="Consolas" panose="020B0609020204030204" pitchFamily="49" charset="0"/>
                <a:cs typeface="Consolas" panose="020B0609020204030204" pitchFamily="49" charset="0"/>
              </a:rPr>
              <a:t># </a:t>
            </a:r>
            <a: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t>更新后</a:t>
            </a:r>
            <a:r>
              <a:rPr kumimoji="0" lang="zh-CN" altLang="zh-CN" sz="1200" b="0" i="1" u="none" strike="noStrike" cap="none" normalizeH="0" baseline="0" dirty="0">
                <a:ln>
                  <a:noFill/>
                </a:ln>
                <a:solidFill>
                  <a:srgbClr val="808080"/>
                </a:solidFill>
                <a:effectLst/>
                <a:latin typeface="DFKai-SB" panose="03000509000000000000" pitchFamily="65" charset="-120"/>
                <a:ea typeface="DFKai-SB" panose="03000509000000000000" pitchFamily="65" charset="-120"/>
                <a:cs typeface="Consolas" panose="020B0609020204030204" pitchFamily="49" charset="0"/>
              </a:rPr>
              <a:t>拟</a:t>
            </a:r>
            <a: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t>合</a:t>
            </a:r>
            <a:b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br>
            <a:r>
              <a:rPr kumimoji="0" lang="zh-CN" altLang="zh-CN" sz="1200" b="0" i="1" u="none" strike="noStrike" cap="none" normalizeH="0" baseline="0" dirty="0">
                <a:ln>
                  <a:noFill/>
                </a:ln>
                <a:solidFill>
                  <a:srgbClr val="808080"/>
                </a:solidFill>
                <a:effectLst/>
                <a:latin typeface="Batang" panose="02030600000101010101" pitchFamily="18" charset="-127"/>
                <a:ea typeface="Batang" panose="02030600000101010101" pitchFamily="18" charset="-127"/>
                <a:cs typeface="Consolas" panose="020B0609020204030204" pitchFamily="49" charset="0"/>
              </a:rPr>
              <a:t>    </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Y_predict = X*theta</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plt.plot(x_copy, y, </a:t>
            </a:r>
            <a:r>
              <a:rPr kumimoji="0" lang="zh-CN" altLang="zh-CN" sz="12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'x'</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plt.plot(X[:,-</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],Y_predict[:,</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0</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zh-CN" altLang="zh-CN" sz="1200" b="0" i="0" u="none" strike="noStrike" cap="none" normalizeH="0" baseline="0" dirty="0">
                <a:ln>
                  <a:noFill/>
                </a:ln>
                <a:solidFill>
                  <a:srgbClr val="660099"/>
                </a:solidFill>
                <a:effectLst/>
                <a:latin typeface="Consolas" panose="020B0609020204030204" pitchFamily="49" charset="0"/>
                <a:cs typeface="Consolas" panose="020B0609020204030204" pitchFamily="49" charset="0"/>
              </a:rPr>
              <a:t>c</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zh-CN" altLang="zh-CN" sz="12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"red"</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plt.title(</a:t>
            </a:r>
            <a:r>
              <a:rPr kumimoji="0" lang="zh-CN" altLang="zh-CN" sz="12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str</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(i))</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plt.show()</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plt.pause(</a:t>
            </a:r>
            <a:r>
              <a:rPr kumimoji="0" lang="zh-CN" altLang="zh-CN" sz="12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0.02</a:t>
            </a: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zh-CN" altLang="zh-CN" sz="1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plt.clf()</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11" name="1BC490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15224" y="3706931"/>
            <a:ext cx="4445253" cy="274818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1"/>
                                        </p:tgtEl>
                                      </p:cBhvr>
                                    </p:cmd>
                                  </p:childTnLst>
                                </p:cTn>
                              </p:par>
                            </p:childTnLst>
                          </p:cTn>
                        </p:par>
                      </p:childTnLst>
                    </p:cTn>
                  </p:par>
                </p:childTnLst>
              </p:cTn>
              <p:nextCondLst>
                <p:cond evt="onClick" delay="0">
                  <p:tgtEl>
                    <p:spTgt spid="11"/>
                  </p:tgtEl>
                </p:cond>
              </p:nextCondLst>
            </p:seq>
            <p:video>
              <p:cMediaNode vol="80000">
                <p:cTn id="7" fill="hold" display="0">
                  <p:stCondLst>
                    <p:cond delay="indefinite"/>
                  </p:stCondLst>
                </p:cTn>
                <p:tgtEl>
                  <p:spTgt spid="11"/>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94627" y="501807"/>
            <a:ext cx="6311591" cy="584775"/>
          </a:xfrm>
          <a:prstGeom prst="rect">
            <a:avLst/>
          </a:prstGeom>
          <a:noFill/>
        </p:spPr>
        <p:txBody>
          <a:bodyPr wrap="square" rtlCol="0">
            <a:spAutoFit/>
          </a:bodyPr>
          <a:lstStyle/>
          <a:p>
            <a:r>
              <a:rPr lang="zh-CN" altLang="en-US" sz="3200" b="1" dirty="0">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rPr>
              <a:t>梯度下降法求极值的主要问题</a:t>
            </a:r>
          </a:p>
        </p:txBody>
      </p:sp>
      <p:sp>
        <p:nvSpPr>
          <p:cNvPr id="5" name="TextBox 4"/>
          <p:cNvSpPr txBox="1"/>
          <p:nvPr/>
        </p:nvSpPr>
        <p:spPr>
          <a:xfrm>
            <a:off x="892099" y="1471961"/>
            <a:ext cx="10337180" cy="1200329"/>
          </a:xfrm>
          <a:prstGeom prst="rect">
            <a:avLst/>
          </a:prstGeom>
          <a:noFill/>
        </p:spPr>
        <p:txBody>
          <a:bodyPr wrap="square" rtlCol="0">
            <a:spAutoFit/>
          </a:bodyPr>
          <a:lstStyle/>
          <a:p>
            <a:r>
              <a:rPr lang="en-US" altLang="zh-CN" b="1" dirty="0"/>
              <a:t>1</a:t>
            </a:r>
            <a:r>
              <a:rPr lang="zh-CN" altLang="en-US" b="1" dirty="0"/>
              <a:t>、梯度下降中的超参数设置</a:t>
            </a:r>
          </a:p>
          <a:p>
            <a:r>
              <a:rPr lang="zh-CN" altLang="en-US" dirty="0"/>
              <a:t>上面的梯度下降中提到了一个参数  </a:t>
            </a:r>
            <a:r>
              <a:rPr lang="en-US" altLang="zh-CN" dirty="0">
                <a:latin typeface="Times New Roman" panose="02020603050405020304"/>
                <a:cs typeface="Times New Roman" panose="02020603050405020304"/>
              </a:rPr>
              <a:t>ɑ</a:t>
            </a:r>
            <a:r>
              <a:rPr lang="zh-CN" altLang="en-US" dirty="0"/>
              <a:t>，又称为步长。这种算法是需要人为设置的，而非用来学习的参数，所以叫做超参数。步长是梯度下降算法中最重要的超参数，设置时需要精心考虑。</a:t>
            </a:r>
          </a:p>
          <a:p>
            <a:endParaRPr lang="zh-CN" altLang="en-US" dirty="0"/>
          </a:p>
        </p:txBody>
      </p:sp>
      <p:pic>
        <p:nvPicPr>
          <p:cNvPr id="75778" name="Picture 2" descr="preview"/>
          <p:cNvPicPr>
            <a:picLocks noChangeAspect="1" noChangeArrowheads="1"/>
          </p:cNvPicPr>
          <p:nvPr/>
        </p:nvPicPr>
        <p:blipFill>
          <a:blip r:embed="rId3" cstate="print"/>
          <a:srcRect/>
          <a:stretch>
            <a:fillRect/>
          </a:stretch>
        </p:blipFill>
        <p:spPr bwMode="auto">
          <a:xfrm>
            <a:off x="1839411" y="2732629"/>
            <a:ext cx="8305800" cy="3209926"/>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11" y="299800"/>
            <a:ext cx="8015583" cy="535531"/>
          </a:xfrm>
        </p:spPr>
        <p:txBody>
          <a:bodyPr/>
          <a:lstStyle/>
          <a:p>
            <a:r>
              <a:rPr lang="zh-CN" altLang="en-US" dirty="0"/>
              <a:t>梯度下降法求极值的主要问题</a:t>
            </a:r>
          </a:p>
        </p:txBody>
      </p:sp>
      <p:sp>
        <p:nvSpPr>
          <p:cNvPr id="3" name="TextBox 2"/>
          <p:cNvSpPr txBox="1"/>
          <p:nvPr/>
        </p:nvSpPr>
        <p:spPr>
          <a:xfrm>
            <a:off x="1193182" y="1059365"/>
            <a:ext cx="9723865" cy="1477328"/>
          </a:xfrm>
          <a:prstGeom prst="rect">
            <a:avLst/>
          </a:prstGeom>
          <a:noFill/>
        </p:spPr>
        <p:txBody>
          <a:bodyPr wrap="square" rtlCol="0">
            <a:spAutoFit/>
          </a:bodyPr>
          <a:lstStyle/>
          <a:p>
            <a:r>
              <a:rPr lang="en-US" altLang="zh-CN" b="1" dirty="0"/>
              <a:t>2</a:t>
            </a:r>
            <a:r>
              <a:rPr lang="zh-CN" altLang="en-US" b="1" dirty="0"/>
              <a:t>、梯度下降的问题</a:t>
            </a:r>
          </a:p>
          <a:p>
            <a:r>
              <a:rPr lang="zh-CN" altLang="en-US" dirty="0"/>
              <a:t>如果目标函数有多个极小值点（很多个低谷），那么如果开始位置不理想，很可能导致最终卡在一个局部极小值。比如下图的例子。</a:t>
            </a:r>
          </a:p>
          <a:p>
            <a:r>
              <a:rPr lang="zh-CN" altLang="en-US" dirty="0"/>
              <a:t>这是梯度下降算法的一大挑战。</a:t>
            </a:r>
          </a:p>
          <a:p>
            <a:endParaRPr lang="zh-CN" altLang="en-US" dirty="0"/>
          </a:p>
        </p:txBody>
      </p:sp>
      <p:pic>
        <p:nvPicPr>
          <p:cNvPr id="100354" name="Picture 2" descr="preview"/>
          <p:cNvPicPr>
            <a:picLocks noChangeAspect="1" noChangeArrowheads="1"/>
          </p:cNvPicPr>
          <p:nvPr/>
        </p:nvPicPr>
        <p:blipFill>
          <a:blip r:embed="rId3" cstate="print"/>
          <a:srcRect/>
          <a:stretch>
            <a:fillRect/>
          </a:stretch>
        </p:blipFill>
        <p:spPr bwMode="auto">
          <a:xfrm>
            <a:off x="2073584" y="2393373"/>
            <a:ext cx="8086725" cy="419100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1257301" y="552450"/>
            <a:ext cx="10210800" cy="574357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9"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02</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91"/>
            <a:ext cx="1194019"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8"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7"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逻辑回归</a:t>
            </a: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线性回归</a:t>
            </a:r>
          </a:p>
        </p:txBody>
      </p:sp>
      <p:sp>
        <p:nvSpPr>
          <p:cNvPr id="3" name="内容占位符 2"/>
          <p:cNvSpPr>
            <a:spLocks noGrp="1"/>
          </p:cNvSpPr>
          <p:nvPr>
            <p:ph idx="1"/>
          </p:nvPr>
        </p:nvSpPr>
        <p:spPr>
          <a:xfrm>
            <a:off x="1913890" y="1447800"/>
            <a:ext cx="7726045" cy="4800600"/>
          </a:xfrm>
        </p:spPr>
        <p:txBody>
          <a:bodyPr>
            <a:noAutofit/>
          </a:bodyPr>
          <a:lstStyle/>
          <a:p>
            <a:pPr>
              <a:lnSpc>
                <a:spcPct val="150000"/>
              </a:lnSpc>
            </a:pPr>
            <a:r>
              <a:rPr lang="zh-CN" altLang="en-US" sz="2000" dirty="0"/>
              <a:t>线性回归研究的是自变量与因变量之间的线性关系。</a:t>
            </a:r>
            <a:endParaRPr lang="en-US" altLang="zh-CN" sz="2000" dirty="0"/>
          </a:p>
          <a:p>
            <a:pPr>
              <a:lnSpc>
                <a:spcPct val="150000"/>
              </a:lnSpc>
            </a:pPr>
            <a:r>
              <a:rPr lang="zh-CN" altLang="en-US" sz="2000" dirty="0"/>
              <a:t>对于特征                  及其对应的标签  ，线性回归假设二者之间存在线性映射                    其中                   和   </a:t>
            </a:r>
            <a:r>
              <a:rPr lang="en-US" altLang="zh-CN" sz="2000" dirty="0"/>
              <a:t>     </a:t>
            </a:r>
            <a:r>
              <a:rPr lang="zh-CN" altLang="en-US" sz="2000" dirty="0"/>
              <a:t>分别表示待学习的权重及偏置。权重的分量反应了各特征变量的重要程度。</a:t>
            </a:r>
          </a:p>
          <a:p>
            <a:pPr>
              <a:lnSpc>
                <a:spcPct val="150000"/>
              </a:lnSpc>
            </a:pPr>
            <a:r>
              <a:rPr lang="zh-CN" altLang="en-US" sz="2000" dirty="0"/>
              <a:t>线性回归的目标是求解                  和   ，使得              与   尽可能接近。求解线性回归模型的基本方法是最小二乘法。</a:t>
            </a:r>
            <a:endParaRPr lang="en-US" altLang="zh-CN" sz="2000" dirty="0"/>
          </a:p>
          <a:p>
            <a:pPr>
              <a:lnSpc>
                <a:spcPct val="150000"/>
              </a:lnSpc>
            </a:pPr>
            <a:r>
              <a:rPr lang="zh-CN" altLang="en-US" sz="2000" dirty="0"/>
              <a:t>最小二乘法是一个不带条件的最优化问题，优化目标是让整个样本集合上的预测值与真实值之间的欧式距离之和最小。</a:t>
            </a:r>
          </a:p>
          <a:p>
            <a:endParaRPr lang="zh-CN" altLang="en-US" dirty="0"/>
          </a:p>
        </p:txBody>
      </p:sp>
      <p:pic>
        <p:nvPicPr>
          <p:cNvPr id="5" name="图片 4"/>
          <p:cNvPicPr>
            <a:picLocks noChangeAspect="1"/>
          </p:cNvPicPr>
          <p:nvPr/>
        </p:nvPicPr>
        <p:blipFill>
          <a:blip r:embed="rId3"/>
          <a:stretch>
            <a:fillRect/>
          </a:stretch>
        </p:blipFill>
        <p:spPr>
          <a:xfrm>
            <a:off x="3458320" y="2123393"/>
            <a:ext cx="1266825" cy="425574"/>
          </a:xfrm>
          <a:prstGeom prst="rect">
            <a:avLst/>
          </a:prstGeom>
        </p:spPr>
      </p:pic>
      <p:pic>
        <p:nvPicPr>
          <p:cNvPr id="7" name="图片 6"/>
          <p:cNvPicPr>
            <a:picLocks noChangeAspect="1"/>
          </p:cNvPicPr>
          <p:nvPr/>
        </p:nvPicPr>
        <p:blipFill>
          <a:blip r:embed="rId4"/>
          <a:stretch>
            <a:fillRect/>
          </a:stretch>
        </p:blipFill>
        <p:spPr>
          <a:xfrm>
            <a:off x="6407091" y="2182113"/>
            <a:ext cx="219075" cy="257175"/>
          </a:xfrm>
          <a:prstGeom prst="rect">
            <a:avLst/>
          </a:prstGeom>
        </p:spPr>
      </p:pic>
      <p:pic>
        <p:nvPicPr>
          <p:cNvPr id="9" name="图片 8"/>
          <p:cNvPicPr>
            <a:picLocks noChangeAspect="1"/>
          </p:cNvPicPr>
          <p:nvPr/>
        </p:nvPicPr>
        <p:blipFill>
          <a:blip r:embed="rId5"/>
          <a:stretch>
            <a:fillRect/>
          </a:stretch>
        </p:blipFill>
        <p:spPr>
          <a:xfrm>
            <a:off x="3923265" y="2452067"/>
            <a:ext cx="1381125" cy="647700"/>
          </a:xfrm>
          <a:prstGeom prst="rect">
            <a:avLst/>
          </a:prstGeom>
        </p:spPr>
      </p:pic>
      <p:pic>
        <p:nvPicPr>
          <p:cNvPr id="11" name="图片 10"/>
          <p:cNvPicPr>
            <a:picLocks noChangeAspect="1"/>
          </p:cNvPicPr>
          <p:nvPr/>
        </p:nvPicPr>
        <p:blipFill>
          <a:blip r:embed="rId6"/>
          <a:stretch>
            <a:fillRect/>
          </a:stretch>
        </p:blipFill>
        <p:spPr>
          <a:xfrm>
            <a:off x="5776327" y="2615579"/>
            <a:ext cx="1304925" cy="352425"/>
          </a:xfrm>
          <a:prstGeom prst="rect">
            <a:avLst/>
          </a:prstGeom>
        </p:spPr>
      </p:pic>
      <p:pic>
        <p:nvPicPr>
          <p:cNvPr id="15" name="图片 14"/>
          <p:cNvPicPr>
            <a:picLocks noChangeAspect="1"/>
          </p:cNvPicPr>
          <p:nvPr/>
        </p:nvPicPr>
        <p:blipFill>
          <a:blip r:embed="rId7"/>
          <a:stretch>
            <a:fillRect/>
          </a:stretch>
        </p:blipFill>
        <p:spPr>
          <a:xfrm>
            <a:off x="6471228" y="3613973"/>
            <a:ext cx="200025" cy="276225"/>
          </a:xfrm>
          <a:prstGeom prst="rect">
            <a:avLst/>
          </a:prstGeom>
        </p:spPr>
      </p:pic>
      <p:pic>
        <p:nvPicPr>
          <p:cNvPr id="17" name="图片 16"/>
          <p:cNvPicPr>
            <a:picLocks noChangeAspect="1"/>
          </p:cNvPicPr>
          <p:nvPr/>
        </p:nvPicPr>
        <p:blipFill>
          <a:blip r:embed="rId8"/>
          <a:stretch>
            <a:fillRect/>
          </a:stretch>
        </p:blipFill>
        <p:spPr>
          <a:xfrm>
            <a:off x="7391781" y="3463286"/>
            <a:ext cx="1019175" cy="647700"/>
          </a:xfrm>
          <a:prstGeom prst="rect">
            <a:avLst/>
          </a:prstGeom>
        </p:spPr>
      </p:pic>
      <p:pic>
        <p:nvPicPr>
          <p:cNvPr id="19" name="图片 18"/>
          <p:cNvPicPr>
            <a:picLocks noChangeAspect="1"/>
          </p:cNvPicPr>
          <p:nvPr/>
        </p:nvPicPr>
        <p:blipFill>
          <a:blip r:embed="rId9"/>
          <a:stretch>
            <a:fillRect/>
          </a:stretch>
        </p:blipFill>
        <p:spPr>
          <a:xfrm>
            <a:off x="8657099" y="3646175"/>
            <a:ext cx="219075" cy="257175"/>
          </a:xfrm>
          <a:prstGeom prst="rect">
            <a:avLst/>
          </a:prstGeom>
        </p:spPr>
      </p:pic>
      <p:pic>
        <p:nvPicPr>
          <p:cNvPr id="21" name="图片 20"/>
          <p:cNvPicPr>
            <a:picLocks noChangeAspect="1"/>
          </p:cNvPicPr>
          <p:nvPr/>
        </p:nvPicPr>
        <p:blipFill>
          <a:blip r:embed="rId6"/>
          <a:stretch>
            <a:fillRect/>
          </a:stretch>
        </p:blipFill>
        <p:spPr>
          <a:xfrm>
            <a:off x="4886877" y="3589026"/>
            <a:ext cx="1304925" cy="352425"/>
          </a:xfrm>
          <a:prstGeom prst="rect">
            <a:avLst/>
          </a:prstGeom>
        </p:spPr>
      </p:pic>
      <p:pic>
        <p:nvPicPr>
          <p:cNvPr id="23" name="图片 22"/>
          <p:cNvPicPr>
            <a:picLocks noChangeAspect="1"/>
          </p:cNvPicPr>
          <p:nvPr/>
        </p:nvPicPr>
        <p:blipFill>
          <a:blip r:embed="rId7"/>
          <a:stretch>
            <a:fillRect/>
          </a:stretch>
        </p:blipFill>
        <p:spPr>
          <a:xfrm>
            <a:off x="7583214" y="2615579"/>
            <a:ext cx="200025" cy="2762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028441" y="1263046"/>
            <a:ext cx="6866467" cy="628015"/>
          </a:xfrm>
          <a:custGeom>
            <a:avLst/>
            <a:gdLst/>
            <a:ahLst/>
            <a:cxnLst/>
            <a:rect l="l" t="t" r="r" b="b"/>
            <a:pathLst>
              <a:path w="5149850" h="628014">
                <a:moveTo>
                  <a:pt x="0" y="627887"/>
                </a:moveTo>
                <a:lnTo>
                  <a:pt x="5149596" y="627887"/>
                </a:lnTo>
                <a:lnTo>
                  <a:pt x="5149596" y="0"/>
                </a:lnTo>
                <a:lnTo>
                  <a:pt x="0" y="0"/>
                </a:lnTo>
                <a:lnTo>
                  <a:pt x="0" y="627887"/>
                </a:lnTo>
                <a:close/>
              </a:path>
            </a:pathLst>
          </a:custGeom>
          <a:solidFill>
            <a:srgbClr val="E6EEEE"/>
          </a:solidFill>
        </p:spPr>
        <p:txBody>
          <a:bodyPr wrap="square" lIns="0" tIns="0" rIns="0" bIns="0" rtlCol="0"/>
          <a:lstStyle/>
          <a:p>
            <a:endParaRPr/>
          </a:p>
        </p:txBody>
      </p:sp>
      <p:sp>
        <p:nvSpPr>
          <p:cNvPr id="4" name="object 4"/>
          <p:cNvSpPr/>
          <p:nvPr/>
        </p:nvSpPr>
        <p:spPr>
          <a:xfrm>
            <a:off x="5206661" y="1388454"/>
            <a:ext cx="658707" cy="377190"/>
          </a:xfrm>
          <a:custGeom>
            <a:avLst/>
            <a:gdLst/>
            <a:ahLst/>
            <a:cxnLst/>
            <a:rect l="l" t="t" r="r" b="b"/>
            <a:pathLst>
              <a:path w="494029" h="377189">
                <a:moveTo>
                  <a:pt x="373379" y="0"/>
                </a:moveTo>
                <a:lnTo>
                  <a:pt x="368045" y="15354"/>
                </a:lnTo>
                <a:lnTo>
                  <a:pt x="389858" y="24829"/>
                </a:lnTo>
                <a:lnTo>
                  <a:pt x="408622" y="37939"/>
                </a:lnTo>
                <a:lnTo>
                  <a:pt x="437006" y="75069"/>
                </a:lnTo>
                <a:lnTo>
                  <a:pt x="453643" y="125161"/>
                </a:lnTo>
                <a:lnTo>
                  <a:pt x="459231" y="186626"/>
                </a:lnTo>
                <a:lnTo>
                  <a:pt x="457829" y="219866"/>
                </a:lnTo>
                <a:lnTo>
                  <a:pt x="446641" y="277187"/>
                </a:lnTo>
                <a:lnTo>
                  <a:pt x="424185" y="321954"/>
                </a:lnTo>
                <a:lnTo>
                  <a:pt x="390034" y="352157"/>
                </a:lnTo>
                <a:lnTo>
                  <a:pt x="368553" y="361670"/>
                </a:lnTo>
                <a:lnTo>
                  <a:pt x="373379" y="376961"/>
                </a:lnTo>
                <a:lnTo>
                  <a:pt x="424814" y="352850"/>
                </a:lnTo>
                <a:lnTo>
                  <a:pt x="462533" y="311099"/>
                </a:lnTo>
                <a:lnTo>
                  <a:pt x="485790" y="255196"/>
                </a:lnTo>
                <a:lnTo>
                  <a:pt x="493521" y="188607"/>
                </a:lnTo>
                <a:lnTo>
                  <a:pt x="491591" y="154055"/>
                </a:lnTo>
                <a:lnTo>
                  <a:pt x="476109" y="92815"/>
                </a:lnTo>
                <a:lnTo>
                  <a:pt x="445246" y="42960"/>
                </a:lnTo>
                <a:lnTo>
                  <a:pt x="400669" y="9902"/>
                </a:lnTo>
                <a:lnTo>
                  <a:pt x="373379" y="0"/>
                </a:lnTo>
                <a:close/>
              </a:path>
              <a:path w="494029" h="377189">
                <a:moveTo>
                  <a:pt x="120141" y="0"/>
                </a:moveTo>
                <a:lnTo>
                  <a:pt x="68913" y="24220"/>
                </a:lnTo>
                <a:lnTo>
                  <a:pt x="31114" y="66128"/>
                </a:lnTo>
                <a:lnTo>
                  <a:pt x="7747" y="122124"/>
                </a:lnTo>
                <a:lnTo>
                  <a:pt x="0" y="188607"/>
                </a:lnTo>
                <a:lnTo>
                  <a:pt x="1930" y="223238"/>
                </a:lnTo>
                <a:lnTo>
                  <a:pt x="17412" y="284483"/>
                </a:lnTo>
                <a:lnTo>
                  <a:pt x="48204" y="334181"/>
                </a:lnTo>
                <a:lnTo>
                  <a:pt x="92781" y="367109"/>
                </a:lnTo>
                <a:lnTo>
                  <a:pt x="120141" y="376961"/>
                </a:lnTo>
                <a:lnTo>
                  <a:pt x="124967" y="361670"/>
                </a:lnTo>
                <a:lnTo>
                  <a:pt x="103487" y="352157"/>
                </a:lnTo>
                <a:lnTo>
                  <a:pt x="84947" y="338918"/>
                </a:lnTo>
                <a:lnTo>
                  <a:pt x="56641" y="301269"/>
                </a:lnTo>
                <a:lnTo>
                  <a:pt x="39893" y="250053"/>
                </a:lnTo>
                <a:lnTo>
                  <a:pt x="34289" y="186626"/>
                </a:lnTo>
                <a:lnTo>
                  <a:pt x="35692" y="154472"/>
                </a:lnTo>
                <a:lnTo>
                  <a:pt x="46880" y="98694"/>
                </a:lnTo>
                <a:lnTo>
                  <a:pt x="69381" y="54686"/>
                </a:lnTo>
                <a:lnTo>
                  <a:pt x="103862" y="24829"/>
                </a:lnTo>
                <a:lnTo>
                  <a:pt x="125602" y="15354"/>
                </a:lnTo>
                <a:lnTo>
                  <a:pt x="120141" y="0"/>
                </a:lnTo>
                <a:close/>
              </a:path>
            </a:pathLst>
          </a:custGeom>
          <a:solidFill>
            <a:srgbClr val="344B5E"/>
          </a:solidFill>
        </p:spPr>
        <p:txBody>
          <a:bodyPr wrap="square" lIns="0" tIns="0" rIns="0" bIns="0" rtlCol="0"/>
          <a:lstStyle/>
          <a:p>
            <a:endParaRPr/>
          </a:p>
        </p:txBody>
      </p:sp>
      <p:sp>
        <p:nvSpPr>
          <p:cNvPr id="5" name="object 5"/>
          <p:cNvSpPr txBox="1"/>
          <p:nvPr/>
        </p:nvSpPr>
        <p:spPr>
          <a:xfrm>
            <a:off x="4028441" y="1263046"/>
            <a:ext cx="6866467" cy="513715"/>
          </a:xfrm>
          <a:prstGeom prst="rect">
            <a:avLst/>
          </a:prstGeom>
        </p:spPr>
        <p:txBody>
          <a:bodyPr vert="horz" wrap="square" lIns="0" tIns="12700" rIns="0" bIns="0" rtlCol="0">
            <a:spAutoFit/>
          </a:bodyPr>
          <a:lstStyle/>
          <a:p>
            <a:pPr marL="775970">
              <a:spcBef>
                <a:spcPts val="100"/>
              </a:spcBef>
              <a:tabLst>
                <a:tab pos="1369695" algn="l"/>
                <a:tab pos="1877695" algn="l"/>
              </a:tabLst>
            </a:pPr>
            <a:r>
              <a:rPr sz="3200" dirty="0">
                <a:solidFill>
                  <a:srgbClr val="344B5E"/>
                </a:solidFill>
                <a:latin typeface="Verdana" panose="020B0604030504040204"/>
                <a:cs typeface="Verdana" panose="020B0604030504040204"/>
              </a:rPr>
              <a:t>𝑦</a:t>
            </a:r>
            <a:r>
              <a:rPr sz="3525" baseline="-15000" dirty="0">
                <a:solidFill>
                  <a:srgbClr val="344B5E"/>
                </a:solidFill>
                <a:latin typeface="Verdana" panose="020B0604030504040204"/>
                <a:cs typeface="Verdana" panose="020B0604030504040204"/>
              </a:rPr>
              <a:t>𝛽	</a:t>
            </a:r>
            <a:r>
              <a:rPr sz="3200" dirty="0">
                <a:solidFill>
                  <a:srgbClr val="344B5E"/>
                </a:solidFill>
                <a:latin typeface="Verdana" panose="020B0604030504040204"/>
                <a:cs typeface="Verdana" panose="020B0604030504040204"/>
              </a:rPr>
              <a:t>𝑥	= 𝛽</a:t>
            </a:r>
            <a:r>
              <a:rPr sz="3525" baseline="-15000" dirty="0">
                <a:solidFill>
                  <a:srgbClr val="344B5E"/>
                </a:solidFill>
                <a:latin typeface="Verdana" panose="020B0604030504040204"/>
                <a:cs typeface="Verdana" panose="020B0604030504040204"/>
              </a:rPr>
              <a:t>0 </a:t>
            </a:r>
            <a:r>
              <a:rPr sz="3200" dirty="0">
                <a:solidFill>
                  <a:srgbClr val="344B5E"/>
                </a:solidFill>
                <a:latin typeface="Arial" panose="020B0604020202020204"/>
                <a:cs typeface="Arial" panose="020B0604020202020204"/>
              </a:rPr>
              <a:t>+ </a:t>
            </a:r>
            <a:r>
              <a:rPr sz="3200" dirty="0">
                <a:solidFill>
                  <a:srgbClr val="344B5E"/>
                </a:solidFill>
                <a:latin typeface="Verdana" panose="020B0604030504040204"/>
                <a:cs typeface="Verdana" panose="020B0604030504040204"/>
              </a:rPr>
              <a:t>𝛽</a:t>
            </a:r>
            <a:r>
              <a:rPr sz="3525" baseline="-15000" dirty="0">
                <a:solidFill>
                  <a:srgbClr val="344B5E"/>
                </a:solidFill>
                <a:latin typeface="Verdana" panose="020B0604030504040204"/>
                <a:cs typeface="Verdana" panose="020B0604030504040204"/>
              </a:rPr>
              <a:t>1</a:t>
            </a:r>
            <a:r>
              <a:rPr sz="3200" dirty="0">
                <a:solidFill>
                  <a:srgbClr val="344B5E"/>
                </a:solidFill>
                <a:latin typeface="Verdana" panose="020B0604030504040204"/>
                <a:cs typeface="Verdana" panose="020B0604030504040204"/>
              </a:rPr>
              <a:t>𝑥</a:t>
            </a:r>
            <a:endParaRPr sz="3200" dirty="0">
              <a:latin typeface="Verdana" panose="020B0604030504040204"/>
              <a:cs typeface="Verdana" panose="020B0604030504040204"/>
            </a:endParaRPr>
          </a:p>
        </p:txBody>
      </p:sp>
      <p:sp>
        <p:nvSpPr>
          <p:cNvPr id="6" name="object 6"/>
          <p:cNvSpPr/>
          <p:nvPr/>
        </p:nvSpPr>
        <p:spPr>
          <a:xfrm>
            <a:off x="4009983" y="3760851"/>
            <a:ext cx="6865620" cy="114300"/>
          </a:xfrm>
          <a:custGeom>
            <a:avLst/>
            <a:gdLst/>
            <a:ahLst/>
            <a:cxnLst/>
            <a:rect l="l" t="t" r="r" b="b"/>
            <a:pathLst>
              <a:path w="5149215" h="114300">
                <a:moveTo>
                  <a:pt x="5111542" y="38100"/>
                </a:moveTo>
                <a:lnTo>
                  <a:pt x="5053838" y="38100"/>
                </a:lnTo>
                <a:lnTo>
                  <a:pt x="5053965" y="76200"/>
                </a:lnTo>
                <a:lnTo>
                  <a:pt x="5034915" y="76266"/>
                </a:lnTo>
                <a:lnTo>
                  <a:pt x="5035042" y="114300"/>
                </a:lnTo>
                <a:lnTo>
                  <a:pt x="5149215" y="56768"/>
                </a:lnTo>
                <a:lnTo>
                  <a:pt x="5111542" y="38100"/>
                </a:lnTo>
                <a:close/>
              </a:path>
              <a:path w="5149215" h="114300">
                <a:moveTo>
                  <a:pt x="5034788" y="38166"/>
                </a:moveTo>
                <a:lnTo>
                  <a:pt x="0" y="55753"/>
                </a:lnTo>
                <a:lnTo>
                  <a:pt x="254" y="93853"/>
                </a:lnTo>
                <a:lnTo>
                  <a:pt x="5034915" y="76266"/>
                </a:lnTo>
                <a:lnTo>
                  <a:pt x="5034788" y="38166"/>
                </a:lnTo>
                <a:close/>
              </a:path>
              <a:path w="5149215" h="114300">
                <a:moveTo>
                  <a:pt x="5053838" y="38100"/>
                </a:moveTo>
                <a:lnTo>
                  <a:pt x="5034788" y="38166"/>
                </a:lnTo>
                <a:lnTo>
                  <a:pt x="5034915" y="76266"/>
                </a:lnTo>
                <a:lnTo>
                  <a:pt x="5053965" y="76200"/>
                </a:lnTo>
                <a:lnTo>
                  <a:pt x="5053838" y="38100"/>
                </a:lnTo>
                <a:close/>
              </a:path>
              <a:path w="5149215" h="114300">
                <a:moveTo>
                  <a:pt x="5034661" y="0"/>
                </a:moveTo>
                <a:lnTo>
                  <a:pt x="5034788" y="38166"/>
                </a:lnTo>
                <a:lnTo>
                  <a:pt x="5111542" y="38100"/>
                </a:lnTo>
                <a:lnTo>
                  <a:pt x="5034661" y="0"/>
                </a:lnTo>
                <a:close/>
              </a:path>
            </a:pathLst>
          </a:custGeom>
          <a:solidFill>
            <a:srgbClr val="344B5E"/>
          </a:solidFill>
        </p:spPr>
        <p:txBody>
          <a:bodyPr wrap="square" lIns="0" tIns="0" rIns="0" bIns="0" rtlCol="0"/>
          <a:lstStyle/>
          <a:p>
            <a:endParaRPr/>
          </a:p>
        </p:txBody>
      </p:sp>
      <p:sp>
        <p:nvSpPr>
          <p:cNvPr id="7" name="object 7"/>
          <p:cNvSpPr/>
          <p:nvPr/>
        </p:nvSpPr>
        <p:spPr>
          <a:xfrm>
            <a:off x="7357876" y="253670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p>
        </p:txBody>
      </p:sp>
      <p:sp>
        <p:nvSpPr>
          <p:cNvPr id="8" name="object 8"/>
          <p:cNvSpPr/>
          <p:nvPr/>
        </p:nvSpPr>
        <p:spPr>
          <a:xfrm>
            <a:off x="8077205" y="253670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p>
        </p:txBody>
      </p:sp>
      <p:sp>
        <p:nvSpPr>
          <p:cNvPr id="9" name="object 9"/>
          <p:cNvSpPr/>
          <p:nvPr/>
        </p:nvSpPr>
        <p:spPr>
          <a:xfrm>
            <a:off x="8898128" y="2536704"/>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7"/>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D0692F"/>
          </a:solidFill>
        </p:spPr>
        <p:txBody>
          <a:bodyPr wrap="square" lIns="0" tIns="0" rIns="0" bIns="0" rtlCol="0"/>
          <a:lstStyle/>
          <a:p>
            <a:endParaRPr/>
          </a:p>
        </p:txBody>
      </p:sp>
      <p:sp>
        <p:nvSpPr>
          <p:cNvPr id="10" name="object 10"/>
          <p:cNvSpPr/>
          <p:nvPr/>
        </p:nvSpPr>
        <p:spPr>
          <a:xfrm>
            <a:off x="9406132" y="253670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p>
        </p:txBody>
      </p:sp>
      <p:sp>
        <p:nvSpPr>
          <p:cNvPr id="11" name="object 11"/>
          <p:cNvSpPr/>
          <p:nvPr/>
        </p:nvSpPr>
        <p:spPr>
          <a:xfrm>
            <a:off x="9932420" y="2536704"/>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p>
        </p:txBody>
      </p:sp>
      <p:sp>
        <p:nvSpPr>
          <p:cNvPr id="12" name="object 12"/>
          <p:cNvSpPr/>
          <p:nvPr/>
        </p:nvSpPr>
        <p:spPr>
          <a:xfrm>
            <a:off x="10511541" y="253060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p>
        </p:txBody>
      </p:sp>
      <p:sp>
        <p:nvSpPr>
          <p:cNvPr id="13" name="object 13"/>
          <p:cNvSpPr/>
          <p:nvPr/>
        </p:nvSpPr>
        <p:spPr>
          <a:xfrm>
            <a:off x="9623552" y="2530607"/>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5" y="0"/>
                </a:lnTo>
                <a:close/>
              </a:path>
            </a:pathLst>
          </a:custGeom>
          <a:solidFill>
            <a:srgbClr val="D0692F"/>
          </a:solidFill>
        </p:spPr>
        <p:txBody>
          <a:bodyPr wrap="square" lIns="0" tIns="0" rIns="0" bIns="0" rtlCol="0"/>
          <a:lstStyle/>
          <a:p>
            <a:endParaRPr/>
          </a:p>
        </p:txBody>
      </p:sp>
      <p:sp>
        <p:nvSpPr>
          <p:cNvPr id="14" name="object 14"/>
          <p:cNvSpPr/>
          <p:nvPr/>
        </p:nvSpPr>
        <p:spPr>
          <a:xfrm>
            <a:off x="9623552" y="2530607"/>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5"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5"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a:endParaRPr/>
          </a:p>
        </p:txBody>
      </p:sp>
      <p:sp>
        <p:nvSpPr>
          <p:cNvPr id="15" name="object 15"/>
          <p:cNvSpPr/>
          <p:nvPr/>
        </p:nvSpPr>
        <p:spPr>
          <a:xfrm>
            <a:off x="9188709" y="253060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p>
        </p:txBody>
      </p:sp>
      <p:sp>
        <p:nvSpPr>
          <p:cNvPr id="16" name="object 16"/>
          <p:cNvSpPr/>
          <p:nvPr/>
        </p:nvSpPr>
        <p:spPr>
          <a:xfrm>
            <a:off x="9188709" y="2530607"/>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4" y="0"/>
                </a:lnTo>
                <a:lnTo>
                  <a:pt x="177527" y="6870"/>
                </a:lnTo>
                <a:lnTo>
                  <a:pt x="214554" y="26005"/>
                </a:lnTo>
                <a:lnTo>
                  <a:pt x="243742" y="55193"/>
                </a:lnTo>
                <a:lnTo>
                  <a:pt x="262877" y="92220"/>
                </a:lnTo>
                <a:lnTo>
                  <a:pt x="269748" y="134874"/>
                </a:lnTo>
                <a:lnTo>
                  <a:pt x="262877" y="177527"/>
                </a:lnTo>
                <a:lnTo>
                  <a:pt x="243742" y="214554"/>
                </a:lnTo>
                <a:lnTo>
                  <a:pt x="214554" y="243742"/>
                </a:lnTo>
                <a:lnTo>
                  <a:pt x="177527" y="262877"/>
                </a:lnTo>
                <a:lnTo>
                  <a:pt x="134874" y="269748"/>
                </a:lnTo>
                <a:lnTo>
                  <a:pt x="92220" y="262877"/>
                </a:lnTo>
                <a:lnTo>
                  <a:pt x="55193" y="243742"/>
                </a:lnTo>
                <a:lnTo>
                  <a:pt x="26005" y="214554"/>
                </a:lnTo>
                <a:lnTo>
                  <a:pt x="6870" y="177527"/>
                </a:lnTo>
                <a:lnTo>
                  <a:pt x="0" y="134874"/>
                </a:lnTo>
                <a:close/>
              </a:path>
            </a:pathLst>
          </a:custGeom>
          <a:ln w="6096">
            <a:solidFill>
              <a:srgbClr val="FFFFFF"/>
            </a:solidFill>
          </a:ln>
        </p:spPr>
        <p:txBody>
          <a:bodyPr wrap="square" lIns="0" tIns="0" rIns="0" bIns="0" rtlCol="0"/>
          <a:lstStyle/>
          <a:p>
            <a:endParaRPr/>
          </a:p>
        </p:txBody>
      </p:sp>
      <p:sp>
        <p:nvSpPr>
          <p:cNvPr id="17" name="object 17"/>
          <p:cNvSpPr/>
          <p:nvPr/>
        </p:nvSpPr>
        <p:spPr>
          <a:xfrm>
            <a:off x="10151877" y="2530607"/>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p>
        </p:txBody>
      </p:sp>
      <p:sp>
        <p:nvSpPr>
          <p:cNvPr id="18" name="object 18"/>
          <p:cNvSpPr/>
          <p:nvPr/>
        </p:nvSpPr>
        <p:spPr>
          <a:xfrm>
            <a:off x="10151877" y="2530607"/>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4" y="0"/>
                </a:lnTo>
                <a:lnTo>
                  <a:pt x="177527" y="6870"/>
                </a:lnTo>
                <a:lnTo>
                  <a:pt x="214554" y="26005"/>
                </a:lnTo>
                <a:lnTo>
                  <a:pt x="243742" y="55193"/>
                </a:lnTo>
                <a:lnTo>
                  <a:pt x="262877" y="92220"/>
                </a:lnTo>
                <a:lnTo>
                  <a:pt x="269748" y="134874"/>
                </a:lnTo>
                <a:lnTo>
                  <a:pt x="262877" y="177527"/>
                </a:lnTo>
                <a:lnTo>
                  <a:pt x="243742" y="214554"/>
                </a:lnTo>
                <a:lnTo>
                  <a:pt x="214554" y="243742"/>
                </a:lnTo>
                <a:lnTo>
                  <a:pt x="177527" y="262877"/>
                </a:lnTo>
                <a:lnTo>
                  <a:pt x="134874" y="269748"/>
                </a:lnTo>
                <a:lnTo>
                  <a:pt x="92220" y="262877"/>
                </a:lnTo>
                <a:lnTo>
                  <a:pt x="55193" y="243742"/>
                </a:lnTo>
                <a:lnTo>
                  <a:pt x="26005" y="214554"/>
                </a:lnTo>
                <a:lnTo>
                  <a:pt x="6870" y="177527"/>
                </a:lnTo>
                <a:lnTo>
                  <a:pt x="0" y="134874"/>
                </a:lnTo>
                <a:close/>
              </a:path>
            </a:pathLst>
          </a:custGeom>
          <a:ln w="6096">
            <a:solidFill>
              <a:srgbClr val="FFFFFF"/>
            </a:solidFill>
          </a:ln>
        </p:spPr>
        <p:txBody>
          <a:bodyPr wrap="square" lIns="0" tIns="0" rIns="0" bIns="0" rtlCol="0"/>
          <a:lstStyle/>
          <a:p>
            <a:endParaRPr/>
          </a:p>
        </p:txBody>
      </p:sp>
      <p:sp>
        <p:nvSpPr>
          <p:cNvPr id="19" name="object 19"/>
          <p:cNvSpPr/>
          <p:nvPr/>
        </p:nvSpPr>
        <p:spPr>
          <a:xfrm>
            <a:off x="3933952" y="2269242"/>
            <a:ext cx="152400" cy="1566545"/>
          </a:xfrm>
          <a:custGeom>
            <a:avLst/>
            <a:gdLst/>
            <a:ahLst/>
            <a:cxnLst/>
            <a:rect l="l" t="t" r="r" b="b"/>
            <a:pathLst>
              <a:path w="114300" h="1566545">
                <a:moveTo>
                  <a:pt x="76200" y="95250"/>
                </a:moveTo>
                <a:lnTo>
                  <a:pt x="38100" y="95250"/>
                </a:lnTo>
                <a:lnTo>
                  <a:pt x="38100" y="1566545"/>
                </a:lnTo>
                <a:lnTo>
                  <a:pt x="76200" y="1566545"/>
                </a:lnTo>
                <a:lnTo>
                  <a:pt x="76200" y="95250"/>
                </a:lnTo>
                <a:close/>
              </a:path>
              <a:path w="114300" h="1566545">
                <a:moveTo>
                  <a:pt x="57150" y="0"/>
                </a:moveTo>
                <a:lnTo>
                  <a:pt x="0" y="114300"/>
                </a:lnTo>
                <a:lnTo>
                  <a:pt x="38100" y="114300"/>
                </a:lnTo>
                <a:lnTo>
                  <a:pt x="38100" y="95250"/>
                </a:lnTo>
                <a:lnTo>
                  <a:pt x="104775" y="95250"/>
                </a:lnTo>
                <a:lnTo>
                  <a:pt x="57150" y="0"/>
                </a:lnTo>
                <a:close/>
              </a:path>
              <a:path w="114300" h="1566545">
                <a:moveTo>
                  <a:pt x="104775" y="95250"/>
                </a:moveTo>
                <a:lnTo>
                  <a:pt x="76200" y="95250"/>
                </a:lnTo>
                <a:lnTo>
                  <a:pt x="76200" y="114300"/>
                </a:lnTo>
                <a:lnTo>
                  <a:pt x="114300" y="114300"/>
                </a:lnTo>
                <a:lnTo>
                  <a:pt x="104775" y="95250"/>
                </a:lnTo>
                <a:close/>
              </a:path>
            </a:pathLst>
          </a:custGeom>
          <a:solidFill>
            <a:srgbClr val="344B5E"/>
          </a:solidFill>
        </p:spPr>
        <p:txBody>
          <a:bodyPr wrap="square" lIns="0" tIns="0" rIns="0" bIns="0" rtlCol="0"/>
          <a:lstStyle/>
          <a:p>
            <a:endParaRPr/>
          </a:p>
        </p:txBody>
      </p:sp>
      <p:sp>
        <p:nvSpPr>
          <p:cNvPr id="21" name="object 21"/>
          <p:cNvSpPr txBox="1"/>
          <p:nvPr/>
        </p:nvSpPr>
        <p:spPr>
          <a:xfrm>
            <a:off x="2423161" y="3544434"/>
            <a:ext cx="7272867" cy="800100"/>
          </a:xfrm>
          <a:prstGeom prst="rect">
            <a:avLst/>
          </a:prstGeom>
        </p:spPr>
        <p:txBody>
          <a:bodyPr vert="horz" wrap="square" lIns="0" tIns="125730" rIns="0" bIns="0" rtlCol="0">
            <a:spAutoFit/>
          </a:bodyPr>
          <a:lstStyle/>
          <a:p>
            <a:pPr marL="12700">
              <a:spcBef>
                <a:spcPts val="990"/>
              </a:spcBef>
            </a:pPr>
            <a:r>
              <a:rPr spc="-5" dirty="0">
                <a:solidFill>
                  <a:srgbClr val="344B5E"/>
                </a:solidFill>
                <a:latin typeface="Arial" panose="020B0604020202020204"/>
                <a:cs typeface="Arial" panose="020B0604020202020204"/>
              </a:rPr>
              <a:t>Survived:</a:t>
            </a:r>
            <a:r>
              <a:rPr spc="-114" dirty="0">
                <a:solidFill>
                  <a:srgbClr val="344B5E"/>
                </a:solidFill>
                <a:latin typeface="Arial" panose="020B0604020202020204"/>
                <a:cs typeface="Arial" panose="020B0604020202020204"/>
              </a:rPr>
              <a:t> </a:t>
            </a:r>
            <a:r>
              <a:rPr spc="5" dirty="0">
                <a:solidFill>
                  <a:srgbClr val="344B5E"/>
                </a:solidFill>
                <a:latin typeface="Arial" panose="020B0604020202020204"/>
                <a:cs typeface="Arial" panose="020B0604020202020204"/>
              </a:rPr>
              <a:t>0.0</a:t>
            </a:r>
            <a:endParaRPr dirty="0">
              <a:latin typeface="Arial" panose="020B0604020202020204"/>
              <a:cs typeface="Arial" panose="020B0604020202020204"/>
            </a:endParaRPr>
          </a:p>
          <a:p>
            <a:pPr marL="2656840">
              <a:spcBef>
                <a:spcPts val="890"/>
              </a:spcBef>
            </a:pPr>
            <a:r>
              <a:rPr b="1" dirty="0">
                <a:solidFill>
                  <a:srgbClr val="344B5E"/>
                </a:solidFill>
                <a:latin typeface="Arial" panose="020B0604020202020204"/>
                <a:cs typeface="Arial" panose="020B0604020202020204"/>
              </a:rPr>
              <a:t>Number </a:t>
            </a:r>
            <a:r>
              <a:rPr b="1" spc="10" dirty="0">
                <a:solidFill>
                  <a:srgbClr val="344B5E"/>
                </a:solidFill>
                <a:latin typeface="Arial" panose="020B0604020202020204"/>
                <a:cs typeface="Arial" panose="020B0604020202020204"/>
              </a:rPr>
              <a:t>of </a:t>
            </a:r>
            <a:r>
              <a:rPr b="1" spc="-25" dirty="0">
                <a:solidFill>
                  <a:srgbClr val="344B5E"/>
                </a:solidFill>
                <a:latin typeface="Arial" panose="020B0604020202020204"/>
                <a:cs typeface="Arial" panose="020B0604020202020204"/>
              </a:rPr>
              <a:t>Positive</a:t>
            </a:r>
            <a:r>
              <a:rPr b="1" spc="-305" dirty="0">
                <a:solidFill>
                  <a:srgbClr val="344B5E"/>
                </a:solidFill>
                <a:latin typeface="Arial" panose="020B0604020202020204"/>
                <a:cs typeface="Arial" panose="020B0604020202020204"/>
              </a:rPr>
              <a:t> </a:t>
            </a:r>
            <a:r>
              <a:rPr b="1" spc="-25" dirty="0">
                <a:solidFill>
                  <a:srgbClr val="344B5E"/>
                </a:solidFill>
                <a:latin typeface="Arial" panose="020B0604020202020204"/>
                <a:cs typeface="Arial" panose="020B0604020202020204"/>
              </a:rPr>
              <a:t>Nodes</a:t>
            </a:r>
            <a:endParaRPr dirty="0">
              <a:latin typeface="Arial" panose="020B0604020202020204"/>
              <a:cs typeface="Arial" panose="020B0604020202020204"/>
            </a:endParaRPr>
          </a:p>
        </p:txBody>
      </p:sp>
      <p:sp>
        <p:nvSpPr>
          <p:cNvPr id="22" name="object 22"/>
          <p:cNvSpPr txBox="1"/>
          <p:nvPr/>
        </p:nvSpPr>
        <p:spPr>
          <a:xfrm>
            <a:off x="2842263" y="2509392"/>
            <a:ext cx="1186180" cy="299720"/>
          </a:xfrm>
          <a:prstGeom prst="rect">
            <a:avLst/>
          </a:prstGeom>
        </p:spPr>
        <p:txBody>
          <a:bodyPr vert="horz" wrap="square" lIns="0" tIns="12700" rIns="0" bIns="0" rtlCol="0">
            <a:spAutoFit/>
          </a:bodyPr>
          <a:lstStyle/>
          <a:p>
            <a:pPr marL="12700">
              <a:spcBef>
                <a:spcPts val="100"/>
              </a:spcBef>
            </a:pPr>
            <a:r>
              <a:rPr spc="-10" dirty="0">
                <a:solidFill>
                  <a:srgbClr val="344B5E"/>
                </a:solidFill>
                <a:latin typeface="Arial" panose="020B0604020202020204"/>
                <a:cs typeface="Arial" panose="020B0604020202020204"/>
              </a:rPr>
              <a:t>Lost:</a:t>
            </a:r>
            <a:r>
              <a:rPr spc="-160" dirty="0">
                <a:solidFill>
                  <a:srgbClr val="344B5E"/>
                </a:solidFill>
                <a:latin typeface="Arial" panose="020B0604020202020204"/>
                <a:cs typeface="Arial" panose="020B0604020202020204"/>
              </a:rPr>
              <a:t> </a:t>
            </a:r>
            <a:r>
              <a:rPr spc="5" dirty="0">
                <a:solidFill>
                  <a:srgbClr val="344B5E"/>
                </a:solidFill>
                <a:latin typeface="Arial" panose="020B0604020202020204"/>
                <a:cs typeface="Arial" panose="020B0604020202020204"/>
              </a:rPr>
              <a:t>1.0</a:t>
            </a:r>
            <a:endParaRPr dirty="0">
              <a:latin typeface="Arial" panose="020B0604020202020204"/>
              <a:cs typeface="Arial" panose="020B0604020202020204"/>
            </a:endParaRPr>
          </a:p>
        </p:txBody>
      </p:sp>
      <p:sp>
        <p:nvSpPr>
          <p:cNvPr id="23" name="object 23"/>
          <p:cNvSpPr/>
          <p:nvPr/>
        </p:nvSpPr>
        <p:spPr>
          <a:xfrm>
            <a:off x="4464304" y="3685800"/>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84ADAF"/>
          </a:solidFill>
        </p:spPr>
        <p:txBody>
          <a:bodyPr wrap="square" lIns="0" tIns="0" rIns="0" bIns="0" rtlCol="0"/>
          <a:lstStyle/>
          <a:p>
            <a:endParaRPr/>
          </a:p>
        </p:txBody>
      </p:sp>
      <p:sp>
        <p:nvSpPr>
          <p:cNvPr id="24" name="object 24"/>
          <p:cNvSpPr/>
          <p:nvPr/>
        </p:nvSpPr>
        <p:spPr>
          <a:xfrm>
            <a:off x="4464304" y="3685800"/>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2"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344B5E"/>
            </a:solidFill>
          </a:ln>
        </p:spPr>
        <p:txBody>
          <a:bodyPr wrap="square" lIns="0" tIns="0" rIns="0" bIns="0" rtlCol="0"/>
          <a:lstStyle/>
          <a:p>
            <a:endParaRPr/>
          </a:p>
        </p:txBody>
      </p:sp>
      <p:sp>
        <p:nvSpPr>
          <p:cNvPr id="25" name="object 25"/>
          <p:cNvSpPr/>
          <p:nvPr/>
        </p:nvSpPr>
        <p:spPr>
          <a:xfrm>
            <a:off x="5268981" y="3685800"/>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84ADAF"/>
          </a:solidFill>
        </p:spPr>
        <p:txBody>
          <a:bodyPr wrap="square" lIns="0" tIns="0" rIns="0" bIns="0" rtlCol="0"/>
          <a:lstStyle/>
          <a:p>
            <a:endParaRPr/>
          </a:p>
        </p:txBody>
      </p:sp>
      <p:sp>
        <p:nvSpPr>
          <p:cNvPr id="26" name="object 26"/>
          <p:cNvSpPr/>
          <p:nvPr/>
        </p:nvSpPr>
        <p:spPr>
          <a:xfrm>
            <a:off x="5268981" y="3685800"/>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3" y="0"/>
                </a:lnTo>
                <a:lnTo>
                  <a:pt x="177527" y="6870"/>
                </a:lnTo>
                <a:lnTo>
                  <a:pt x="214554" y="26005"/>
                </a:lnTo>
                <a:lnTo>
                  <a:pt x="243742" y="55193"/>
                </a:lnTo>
                <a:lnTo>
                  <a:pt x="262877" y="92220"/>
                </a:lnTo>
                <a:lnTo>
                  <a:pt x="269747" y="134874"/>
                </a:lnTo>
                <a:lnTo>
                  <a:pt x="262877" y="177527"/>
                </a:lnTo>
                <a:lnTo>
                  <a:pt x="243742" y="214554"/>
                </a:lnTo>
                <a:lnTo>
                  <a:pt x="214554" y="243742"/>
                </a:lnTo>
                <a:lnTo>
                  <a:pt x="177527" y="262877"/>
                </a:lnTo>
                <a:lnTo>
                  <a:pt x="134873" y="269748"/>
                </a:lnTo>
                <a:lnTo>
                  <a:pt x="92220" y="262877"/>
                </a:lnTo>
                <a:lnTo>
                  <a:pt x="55193" y="243742"/>
                </a:lnTo>
                <a:lnTo>
                  <a:pt x="26005" y="214554"/>
                </a:lnTo>
                <a:lnTo>
                  <a:pt x="6870" y="177527"/>
                </a:lnTo>
                <a:lnTo>
                  <a:pt x="0" y="134874"/>
                </a:lnTo>
                <a:close/>
              </a:path>
            </a:pathLst>
          </a:custGeom>
          <a:ln w="6096">
            <a:solidFill>
              <a:srgbClr val="344B5E"/>
            </a:solidFill>
          </a:ln>
        </p:spPr>
        <p:txBody>
          <a:bodyPr wrap="square" lIns="0" tIns="0" rIns="0" bIns="0" rtlCol="0"/>
          <a:lstStyle/>
          <a:p>
            <a:endParaRPr/>
          </a:p>
        </p:txBody>
      </p:sp>
      <p:sp>
        <p:nvSpPr>
          <p:cNvPr id="27" name="object 27"/>
          <p:cNvSpPr/>
          <p:nvPr/>
        </p:nvSpPr>
        <p:spPr>
          <a:xfrm>
            <a:off x="5699765" y="3685800"/>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4" y="0"/>
                </a:lnTo>
                <a:close/>
              </a:path>
            </a:pathLst>
          </a:custGeom>
          <a:solidFill>
            <a:srgbClr val="84ADAF"/>
          </a:solidFill>
        </p:spPr>
        <p:txBody>
          <a:bodyPr wrap="square" lIns="0" tIns="0" rIns="0" bIns="0" rtlCol="0"/>
          <a:lstStyle/>
          <a:p>
            <a:endParaRPr/>
          </a:p>
        </p:txBody>
      </p:sp>
      <p:sp>
        <p:nvSpPr>
          <p:cNvPr id="28" name="object 28"/>
          <p:cNvSpPr/>
          <p:nvPr/>
        </p:nvSpPr>
        <p:spPr>
          <a:xfrm>
            <a:off x="5699765" y="3685800"/>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4" y="0"/>
                </a:lnTo>
                <a:lnTo>
                  <a:pt x="177527" y="6870"/>
                </a:lnTo>
                <a:lnTo>
                  <a:pt x="214554" y="26005"/>
                </a:lnTo>
                <a:lnTo>
                  <a:pt x="243742" y="55193"/>
                </a:lnTo>
                <a:lnTo>
                  <a:pt x="262877" y="92220"/>
                </a:lnTo>
                <a:lnTo>
                  <a:pt x="269747" y="134874"/>
                </a:lnTo>
                <a:lnTo>
                  <a:pt x="262877" y="177527"/>
                </a:lnTo>
                <a:lnTo>
                  <a:pt x="243742" y="214554"/>
                </a:lnTo>
                <a:lnTo>
                  <a:pt x="214554" y="243742"/>
                </a:lnTo>
                <a:lnTo>
                  <a:pt x="177527" y="262877"/>
                </a:lnTo>
                <a:lnTo>
                  <a:pt x="134874" y="269748"/>
                </a:lnTo>
                <a:lnTo>
                  <a:pt x="92220" y="262877"/>
                </a:lnTo>
                <a:lnTo>
                  <a:pt x="55193" y="243742"/>
                </a:lnTo>
                <a:lnTo>
                  <a:pt x="26005" y="214554"/>
                </a:lnTo>
                <a:lnTo>
                  <a:pt x="6870" y="177527"/>
                </a:lnTo>
                <a:lnTo>
                  <a:pt x="0" y="134874"/>
                </a:lnTo>
                <a:close/>
              </a:path>
            </a:pathLst>
          </a:custGeom>
          <a:ln w="6096">
            <a:solidFill>
              <a:srgbClr val="344B5E"/>
            </a:solidFill>
          </a:ln>
        </p:spPr>
        <p:txBody>
          <a:bodyPr wrap="square" lIns="0" tIns="0" rIns="0" bIns="0" rtlCol="0"/>
          <a:lstStyle/>
          <a:p>
            <a:endParaRPr/>
          </a:p>
        </p:txBody>
      </p:sp>
      <p:sp>
        <p:nvSpPr>
          <p:cNvPr id="29" name="object 29"/>
          <p:cNvSpPr/>
          <p:nvPr/>
        </p:nvSpPr>
        <p:spPr>
          <a:xfrm>
            <a:off x="6152896" y="3685800"/>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84ADAF"/>
          </a:solidFill>
        </p:spPr>
        <p:txBody>
          <a:bodyPr wrap="square" lIns="0" tIns="0" rIns="0" bIns="0" rtlCol="0"/>
          <a:lstStyle/>
          <a:p>
            <a:endParaRPr/>
          </a:p>
        </p:txBody>
      </p:sp>
      <p:sp>
        <p:nvSpPr>
          <p:cNvPr id="30" name="object 30"/>
          <p:cNvSpPr/>
          <p:nvPr/>
        </p:nvSpPr>
        <p:spPr>
          <a:xfrm>
            <a:off x="6152896" y="3685800"/>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2"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344B5E"/>
            </a:solidFill>
          </a:ln>
        </p:spPr>
        <p:txBody>
          <a:bodyPr wrap="square" lIns="0" tIns="0" rIns="0" bIns="0" rtlCol="0"/>
          <a:lstStyle/>
          <a:p>
            <a:endParaRPr/>
          </a:p>
        </p:txBody>
      </p:sp>
      <p:sp>
        <p:nvSpPr>
          <p:cNvPr id="31" name="object 31"/>
          <p:cNvSpPr txBox="1"/>
          <p:nvPr/>
        </p:nvSpPr>
        <p:spPr>
          <a:xfrm>
            <a:off x="3374473" y="3059176"/>
            <a:ext cx="462280" cy="299720"/>
          </a:xfrm>
          <a:prstGeom prst="rect">
            <a:avLst/>
          </a:prstGeom>
        </p:spPr>
        <p:txBody>
          <a:bodyPr vert="horz" wrap="square" lIns="0" tIns="12700" rIns="0" bIns="0" rtlCol="0">
            <a:spAutoFit/>
          </a:bodyPr>
          <a:lstStyle/>
          <a:p>
            <a:pPr marL="12700">
              <a:spcBef>
                <a:spcPts val="100"/>
              </a:spcBef>
            </a:pPr>
            <a:r>
              <a:rPr spc="5" dirty="0">
                <a:solidFill>
                  <a:srgbClr val="344B5E"/>
                </a:solidFill>
                <a:latin typeface="Arial" panose="020B0604020202020204"/>
                <a:cs typeface="Arial" panose="020B0604020202020204"/>
              </a:rPr>
              <a:t>0.5</a:t>
            </a:r>
            <a:endParaRPr>
              <a:latin typeface="Arial" panose="020B0604020202020204"/>
              <a:cs typeface="Arial" panose="020B0604020202020204"/>
            </a:endParaRPr>
          </a:p>
        </p:txBody>
      </p:sp>
      <p:sp>
        <p:nvSpPr>
          <p:cNvPr id="32" name="object 32"/>
          <p:cNvSpPr/>
          <p:nvPr/>
        </p:nvSpPr>
        <p:spPr>
          <a:xfrm>
            <a:off x="5869431" y="2665476"/>
            <a:ext cx="4282440" cy="1169670"/>
          </a:xfrm>
          <a:custGeom>
            <a:avLst/>
            <a:gdLst/>
            <a:ahLst/>
            <a:cxnLst/>
            <a:rect l="l" t="t" r="r" b="b"/>
            <a:pathLst>
              <a:path w="3211829" h="1169670">
                <a:moveTo>
                  <a:pt x="0" y="1169162"/>
                </a:moveTo>
                <a:lnTo>
                  <a:pt x="3211322" y="0"/>
                </a:lnTo>
              </a:path>
            </a:pathLst>
          </a:custGeom>
          <a:ln w="25908">
            <a:solidFill>
              <a:srgbClr val="9BB808"/>
            </a:solidFill>
          </a:ln>
        </p:spPr>
        <p:txBody>
          <a:bodyPr wrap="square" lIns="0" tIns="0" rIns="0" bIns="0" rtlCol="0"/>
          <a:lstStyle/>
          <a:p>
            <a:endParaRPr/>
          </a:p>
        </p:txBody>
      </p:sp>
      <p:sp>
        <p:nvSpPr>
          <p:cNvPr id="34" name="object 20"/>
          <p:cNvSpPr txBox="1"/>
          <p:nvPr/>
        </p:nvSpPr>
        <p:spPr>
          <a:xfrm>
            <a:off x="420797" y="2423614"/>
            <a:ext cx="1563553" cy="1120820"/>
          </a:xfrm>
          <a:prstGeom prst="rect">
            <a:avLst/>
          </a:prstGeom>
        </p:spPr>
        <p:txBody>
          <a:bodyPr vert="horz" wrap="square" lIns="0" tIns="12700" rIns="0" bIns="0" rtlCol="0">
            <a:spAutoFit/>
          </a:bodyPr>
          <a:lstStyle/>
          <a:p>
            <a:pPr marL="12065" marR="5080" indent="-1905" algn="ctr">
              <a:spcBef>
                <a:spcPts val="100"/>
              </a:spcBef>
            </a:pPr>
            <a:r>
              <a:rPr lang="zh-CN" altLang="en-US" sz="2400" dirty="0">
                <a:latin typeface="Arial" panose="020B0604020202020204"/>
                <a:cs typeface="Arial" panose="020B0604020202020204"/>
              </a:rPr>
              <a:t>癌症病人治疗</a:t>
            </a:r>
            <a:r>
              <a:rPr lang="en-US" altLang="zh-CN" sz="2400" dirty="0">
                <a:latin typeface="Arial" panose="020B0604020202020204"/>
                <a:cs typeface="Arial" panose="020B0604020202020204"/>
              </a:rPr>
              <a:t>5</a:t>
            </a:r>
            <a:r>
              <a:rPr lang="zh-CN" altLang="en-US" sz="2400" dirty="0">
                <a:latin typeface="Arial" panose="020B0604020202020204"/>
                <a:cs typeface="Arial" panose="020B0604020202020204"/>
              </a:rPr>
              <a:t>年之后的状况</a:t>
            </a:r>
            <a:endParaRPr sz="2400" dirty="0">
              <a:latin typeface="Arial" panose="020B0604020202020204"/>
              <a:cs typeface="Arial" panose="020B0604020202020204"/>
            </a:endParaRPr>
          </a:p>
        </p:txBody>
      </p:sp>
      <p:sp>
        <p:nvSpPr>
          <p:cNvPr id="36" name="标题 35"/>
          <p:cNvSpPr>
            <a:spLocks noGrp="1"/>
          </p:cNvSpPr>
          <p:nvPr>
            <p:ph type="title"/>
          </p:nvPr>
        </p:nvSpPr>
        <p:spPr/>
        <p:txBody>
          <a:bodyPr/>
          <a:lstStyle/>
          <a:p>
            <a:r>
              <a:rPr lang="zh-CN" altLang="en-US" dirty="0"/>
              <a:t>问题的提出</a:t>
            </a:r>
            <a:r>
              <a:rPr lang="en-US" altLang="zh-CN" dirty="0"/>
              <a:t>——</a:t>
            </a:r>
            <a:r>
              <a:rPr lang="zh-CN" altLang="en-US" dirty="0"/>
              <a:t>线性回归做分类？</a:t>
            </a:r>
          </a:p>
        </p:txBody>
      </p:sp>
      <p:sp>
        <p:nvSpPr>
          <p:cNvPr id="33" name="文本框 5"/>
          <p:cNvSpPr txBox="1"/>
          <p:nvPr/>
        </p:nvSpPr>
        <p:spPr>
          <a:xfrm>
            <a:off x="420795" y="4872702"/>
            <a:ext cx="10727268" cy="984885"/>
          </a:xfrm>
          <a:prstGeom prst="rect">
            <a:avLst/>
          </a:prstGeom>
          <a:noFill/>
        </p:spPr>
        <p:txBody>
          <a:bodyPr wrap="square" rtlCol="0">
            <a:spAutoFit/>
          </a:bodyPr>
          <a:lstStyle/>
          <a:p>
            <a:pPr>
              <a:spcAft>
                <a:spcPts val="1200"/>
              </a:spcAft>
            </a:pPr>
            <a:r>
              <a:rPr kumimoji="1" lang="zh-CN" altLang="en-US" sz="2400" b="1" dirty="0">
                <a:solidFill>
                  <a:srgbClr val="0070C0"/>
                </a:solidFill>
              </a:rPr>
              <a:t>线性分类：</a:t>
            </a:r>
            <a:r>
              <a:rPr lang="zh-CN" altLang="zh-CN" sz="2400" b="1" dirty="0">
                <a:solidFill>
                  <a:srgbClr val="0070C0"/>
                </a:solidFill>
              </a:rPr>
              <a:t>将线性回归模型输出的连续值进行离散化</a:t>
            </a:r>
            <a:r>
              <a:rPr lang="zh-CN" altLang="en-US" sz="2400" b="1" dirty="0">
                <a:solidFill>
                  <a:srgbClr val="0070C0"/>
                </a:solidFill>
              </a:rPr>
              <a:t>。</a:t>
            </a:r>
            <a:endParaRPr kumimoji="1" lang="en-US" altLang="zh-CN" sz="2400" b="1" dirty="0">
              <a:solidFill>
                <a:srgbClr val="0070C0"/>
              </a:solidFill>
            </a:endParaRPr>
          </a:p>
          <a:p>
            <a:pPr>
              <a:spcAft>
                <a:spcPts val="1200"/>
              </a:spcAft>
            </a:pPr>
            <a:r>
              <a:rPr kumimoji="1" lang="zh-CN" altLang="zh-CN" sz="2400" b="1" dirty="0">
                <a:solidFill>
                  <a:srgbClr val="0070C0"/>
                </a:solidFill>
              </a:rPr>
              <a:t>构建线性分类器的关键</a:t>
            </a:r>
            <a:r>
              <a:rPr kumimoji="1" lang="zh-CN" altLang="en-US" sz="2400" b="1" dirty="0">
                <a:solidFill>
                  <a:srgbClr val="0070C0"/>
                </a:solidFill>
              </a:rPr>
              <a:t>：</a:t>
            </a:r>
            <a:r>
              <a:rPr lang="zh-CN" altLang="zh-CN" sz="2400" b="1" dirty="0">
                <a:solidFill>
                  <a:srgbClr val="0070C0"/>
                </a:solidFill>
              </a:rPr>
              <a:t>如何将线性回归模型输出的连续性取值进行离散化。</a:t>
            </a:r>
            <a:endParaRPr lang="en-US" altLang="zh-CN" sz="2400"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571496" y="4652144"/>
            <a:ext cx="7108613" cy="114935"/>
          </a:xfrm>
          <a:custGeom>
            <a:avLst/>
            <a:gdLst/>
            <a:ahLst/>
            <a:cxnLst/>
            <a:rect l="l" t="t" r="r" b="b"/>
            <a:pathLst>
              <a:path w="5331459" h="114935">
                <a:moveTo>
                  <a:pt x="5293402" y="38100"/>
                </a:moveTo>
                <a:lnTo>
                  <a:pt x="5236083" y="38100"/>
                </a:lnTo>
                <a:lnTo>
                  <a:pt x="5236209" y="76200"/>
                </a:lnTo>
                <a:lnTo>
                  <a:pt x="5217117" y="76230"/>
                </a:lnTo>
                <a:lnTo>
                  <a:pt x="5217159" y="114363"/>
                </a:lnTo>
                <a:lnTo>
                  <a:pt x="5331333" y="57022"/>
                </a:lnTo>
                <a:lnTo>
                  <a:pt x="5293402" y="38100"/>
                </a:lnTo>
                <a:close/>
              </a:path>
              <a:path w="5331459" h="114935">
                <a:moveTo>
                  <a:pt x="5217075" y="38130"/>
                </a:moveTo>
                <a:lnTo>
                  <a:pt x="0" y="46609"/>
                </a:lnTo>
                <a:lnTo>
                  <a:pt x="0" y="84696"/>
                </a:lnTo>
                <a:lnTo>
                  <a:pt x="5217117" y="76230"/>
                </a:lnTo>
                <a:lnTo>
                  <a:pt x="5217075" y="38130"/>
                </a:lnTo>
                <a:close/>
              </a:path>
              <a:path w="5331459" h="114935">
                <a:moveTo>
                  <a:pt x="5236083" y="38100"/>
                </a:moveTo>
                <a:lnTo>
                  <a:pt x="5217075" y="38130"/>
                </a:lnTo>
                <a:lnTo>
                  <a:pt x="5217117" y="76230"/>
                </a:lnTo>
                <a:lnTo>
                  <a:pt x="5236209" y="76200"/>
                </a:lnTo>
                <a:lnTo>
                  <a:pt x="5236083" y="38100"/>
                </a:lnTo>
                <a:close/>
              </a:path>
              <a:path w="5331459" h="114935">
                <a:moveTo>
                  <a:pt x="5217033" y="0"/>
                </a:moveTo>
                <a:lnTo>
                  <a:pt x="5217075" y="38130"/>
                </a:lnTo>
                <a:lnTo>
                  <a:pt x="5293402" y="38100"/>
                </a:lnTo>
                <a:lnTo>
                  <a:pt x="5217033" y="0"/>
                </a:lnTo>
                <a:close/>
              </a:path>
            </a:pathLst>
          </a:custGeom>
          <a:solidFill>
            <a:srgbClr val="344B5E"/>
          </a:solidFill>
        </p:spPr>
        <p:txBody>
          <a:bodyPr wrap="square" lIns="0" tIns="0" rIns="0" bIns="0" rtlCol="0"/>
          <a:lstStyle/>
          <a:p>
            <a:endParaRPr>
              <a:solidFill>
                <a:prstClr val="black"/>
              </a:solidFill>
            </a:endParaRPr>
          </a:p>
        </p:txBody>
      </p:sp>
      <p:sp>
        <p:nvSpPr>
          <p:cNvPr id="4" name="object 4"/>
          <p:cNvSpPr/>
          <p:nvPr/>
        </p:nvSpPr>
        <p:spPr>
          <a:xfrm>
            <a:off x="2473789" y="2330196"/>
            <a:ext cx="152400" cy="2387600"/>
          </a:xfrm>
          <a:custGeom>
            <a:avLst/>
            <a:gdLst/>
            <a:ahLst/>
            <a:cxnLst/>
            <a:rect l="l" t="t" r="r" b="b"/>
            <a:pathLst>
              <a:path w="114300" h="2387600">
                <a:moveTo>
                  <a:pt x="76169" y="114215"/>
                </a:moveTo>
                <a:lnTo>
                  <a:pt x="38068" y="114384"/>
                </a:lnTo>
                <a:lnTo>
                  <a:pt x="49530" y="2387218"/>
                </a:lnTo>
                <a:lnTo>
                  <a:pt x="87630" y="2387091"/>
                </a:lnTo>
                <a:lnTo>
                  <a:pt x="76169" y="114215"/>
                </a:lnTo>
                <a:close/>
              </a:path>
              <a:path w="114300" h="2387600">
                <a:moveTo>
                  <a:pt x="56514" y="0"/>
                </a:moveTo>
                <a:lnTo>
                  <a:pt x="0" y="114553"/>
                </a:lnTo>
                <a:lnTo>
                  <a:pt x="38068" y="114384"/>
                </a:lnTo>
                <a:lnTo>
                  <a:pt x="37973" y="95376"/>
                </a:lnTo>
                <a:lnTo>
                  <a:pt x="104712" y="95123"/>
                </a:lnTo>
                <a:lnTo>
                  <a:pt x="56514" y="0"/>
                </a:lnTo>
                <a:close/>
              </a:path>
              <a:path w="114300" h="2387600">
                <a:moveTo>
                  <a:pt x="76073" y="95123"/>
                </a:moveTo>
                <a:lnTo>
                  <a:pt x="37973" y="95376"/>
                </a:lnTo>
                <a:lnTo>
                  <a:pt x="38068" y="114384"/>
                </a:lnTo>
                <a:lnTo>
                  <a:pt x="76169" y="114215"/>
                </a:lnTo>
                <a:lnTo>
                  <a:pt x="76073" y="95123"/>
                </a:lnTo>
                <a:close/>
              </a:path>
              <a:path w="114300" h="2387600">
                <a:moveTo>
                  <a:pt x="104712" y="95123"/>
                </a:moveTo>
                <a:lnTo>
                  <a:pt x="76073" y="95123"/>
                </a:lnTo>
                <a:lnTo>
                  <a:pt x="76169" y="114215"/>
                </a:lnTo>
                <a:lnTo>
                  <a:pt x="114300" y="114045"/>
                </a:lnTo>
                <a:lnTo>
                  <a:pt x="104712" y="95123"/>
                </a:lnTo>
                <a:close/>
              </a:path>
            </a:pathLst>
          </a:custGeom>
          <a:solidFill>
            <a:srgbClr val="344B5E"/>
          </a:solidFill>
        </p:spPr>
        <p:txBody>
          <a:bodyPr wrap="square" lIns="0" tIns="0" rIns="0" bIns="0" rtlCol="0"/>
          <a:lstStyle/>
          <a:p>
            <a:endParaRPr>
              <a:solidFill>
                <a:prstClr val="black"/>
              </a:solidFill>
            </a:endParaRPr>
          </a:p>
        </p:txBody>
      </p:sp>
      <p:sp>
        <p:nvSpPr>
          <p:cNvPr id="5" name="object 5"/>
          <p:cNvSpPr txBox="1"/>
          <p:nvPr/>
        </p:nvSpPr>
        <p:spPr>
          <a:xfrm>
            <a:off x="1910591" y="2305075"/>
            <a:ext cx="414020" cy="2526665"/>
          </a:xfrm>
          <a:prstGeom prst="rect">
            <a:avLst/>
          </a:prstGeom>
        </p:spPr>
        <p:txBody>
          <a:bodyPr vert="horz" wrap="square" lIns="0" tIns="150495" rIns="0" bIns="0" rtlCol="0">
            <a:spAutoFit/>
          </a:bodyPr>
          <a:lstStyle/>
          <a:p>
            <a:pPr marL="12700">
              <a:spcBef>
                <a:spcPts val="1185"/>
              </a:spcBef>
            </a:pPr>
            <a:r>
              <a:rPr sz="1600" spc="5" dirty="0">
                <a:solidFill>
                  <a:srgbClr val="344B5E"/>
                </a:solidFill>
                <a:latin typeface="Arial" panose="020B0604020202020204"/>
                <a:cs typeface="Arial" panose="020B0604020202020204"/>
              </a:rPr>
              <a:t>1.0</a:t>
            </a:r>
            <a:endParaRPr sz="1600">
              <a:solidFill>
                <a:prstClr val="black"/>
              </a:solidFill>
              <a:latin typeface="Arial" panose="020B0604020202020204"/>
              <a:cs typeface="Arial" panose="020B0604020202020204"/>
            </a:endParaRPr>
          </a:p>
          <a:p>
            <a:pPr marL="12700">
              <a:spcBef>
                <a:spcPts val="1085"/>
              </a:spcBef>
            </a:pPr>
            <a:r>
              <a:rPr sz="1600" spc="5" dirty="0">
                <a:solidFill>
                  <a:srgbClr val="344B5E"/>
                </a:solidFill>
                <a:latin typeface="Arial" panose="020B0604020202020204"/>
                <a:cs typeface="Arial" panose="020B0604020202020204"/>
              </a:rPr>
              <a:t>0.8</a:t>
            </a:r>
            <a:endParaRPr sz="1600">
              <a:solidFill>
                <a:prstClr val="black"/>
              </a:solidFill>
              <a:latin typeface="Arial" panose="020B0604020202020204"/>
              <a:cs typeface="Arial" panose="020B0604020202020204"/>
            </a:endParaRPr>
          </a:p>
          <a:p>
            <a:pPr marL="12700">
              <a:spcBef>
                <a:spcPts val="1490"/>
              </a:spcBef>
            </a:pPr>
            <a:r>
              <a:rPr sz="1600" spc="5" dirty="0">
                <a:solidFill>
                  <a:srgbClr val="344B5E"/>
                </a:solidFill>
                <a:latin typeface="Arial" panose="020B0604020202020204"/>
                <a:cs typeface="Arial" panose="020B0604020202020204"/>
              </a:rPr>
              <a:t>0.6</a:t>
            </a:r>
            <a:endParaRPr sz="1600">
              <a:solidFill>
                <a:prstClr val="black"/>
              </a:solidFill>
              <a:latin typeface="Arial" panose="020B0604020202020204"/>
              <a:cs typeface="Arial" panose="020B0604020202020204"/>
            </a:endParaRPr>
          </a:p>
          <a:p>
            <a:pPr marL="12700">
              <a:spcBef>
                <a:spcPts val="1680"/>
              </a:spcBef>
            </a:pPr>
            <a:r>
              <a:rPr sz="1600" spc="5" dirty="0">
                <a:solidFill>
                  <a:srgbClr val="344B5E"/>
                </a:solidFill>
                <a:latin typeface="Arial" panose="020B0604020202020204"/>
                <a:cs typeface="Arial" panose="020B0604020202020204"/>
              </a:rPr>
              <a:t>0.4</a:t>
            </a:r>
            <a:endParaRPr sz="1600">
              <a:solidFill>
                <a:prstClr val="black"/>
              </a:solidFill>
              <a:latin typeface="Arial" panose="020B0604020202020204"/>
              <a:cs typeface="Arial" panose="020B0604020202020204"/>
            </a:endParaRPr>
          </a:p>
          <a:p>
            <a:pPr marL="12700">
              <a:spcBef>
                <a:spcPts val="1310"/>
              </a:spcBef>
            </a:pPr>
            <a:r>
              <a:rPr sz="1600" spc="5" dirty="0">
                <a:solidFill>
                  <a:srgbClr val="344B5E"/>
                </a:solidFill>
                <a:latin typeface="Arial" panose="020B0604020202020204"/>
                <a:cs typeface="Arial" panose="020B0604020202020204"/>
              </a:rPr>
              <a:t>0.2</a:t>
            </a:r>
            <a:endParaRPr sz="1600">
              <a:solidFill>
                <a:prstClr val="black"/>
              </a:solidFill>
              <a:latin typeface="Arial" panose="020B0604020202020204"/>
              <a:cs typeface="Arial" panose="020B0604020202020204"/>
            </a:endParaRPr>
          </a:p>
          <a:p>
            <a:pPr marL="12700">
              <a:spcBef>
                <a:spcPts val="1525"/>
              </a:spcBef>
            </a:pPr>
            <a:r>
              <a:rPr sz="1600" spc="5" dirty="0">
                <a:solidFill>
                  <a:srgbClr val="344B5E"/>
                </a:solidFill>
                <a:latin typeface="Arial" panose="020B0604020202020204"/>
                <a:cs typeface="Arial" panose="020B0604020202020204"/>
              </a:rPr>
              <a:t>0.0</a:t>
            </a:r>
            <a:endParaRPr sz="1600">
              <a:solidFill>
                <a:prstClr val="black"/>
              </a:solidFill>
              <a:latin typeface="Arial" panose="020B0604020202020204"/>
              <a:cs typeface="Arial" panose="020B0604020202020204"/>
            </a:endParaRPr>
          </a:p>
        </p:txBody>
      </p:sp>
      <p:sp>
        <p:nvSpPr>
          <p:cNvPr id="6" name="object 6"/>
          <p:cNvSpPr txBox="1"/>
          <p:nvPr/>
        </p:nvSpPr>
        <p:spPr>
          <a:xfrm>
            <a:off x="6055020" y="4809388"/>
            <a:ext cx="194733" cy="258404"/>
          </a:xfrm>
          <a:prstGeom prst="rect">
            <a:avLst/>
          </a:prstGeom>
        </p:spPr>
        <p:txBody>
          <a:bodyPr vert="horz" wrap="square" lIns="0" tIns="12065" rIns="0" bIns="0" rtlCol="0">
            <a:spAutoFit/>
          </a:bodyPr>
          <a:lstStyle/>
          <a:p>
            <a:pPr marL="12700">
              <a:spcBef>
                <a:spcPts val="95"/>
              </a:spcBef>
            </a:pPr>
            <a:r>
              <a:rPr sz="1600" spc="55" dirty="0">
                <a:solidFill>
                  <a:srgbClr val="344B5E"/>
                </a:solidFill>
                <a:latin typeface="Arial" panose="020B0604020202020204"/>
                <a:cs typeface="Arial" panose="020B0604020202020204"/>
              </a:rPr>
              <a:t>0</a:t>
            </a:r>
            <a:endParaRPr sz="1600">
              <a:solidFill>
                <a:prstClr val="black"/>
              </a:solidFill>
              <a:latin typeface="Arial" panose="020B0604020202020204"/>
              <a:cs typeface="Arial" panose="020B0604020202020204"/>
            </a:endParaRPr>
          </a:p>
        </p:txBody>
      </p:sp>
      <p:sp>
        <p:nvSpPr>
          <p:cNvPr id="7" name="object 7"/>
          <p:cNvSpPr txBox="1"/>
          <p:nvPr/>
        </p:nvSpPr>
        <p:spPr>
          <a:xfrm>
            <a:off x="4270587" y="4809388"/>
            <a:ext cx="302260" cy="258404"/>
          </a:xfrm>
          <a:prstGeom prst="rect">
            <a:avLst/>
          </a:prstGeom>
        </p:spPr>
        <p:txBody>
          <a:bodyPr vert="horz" wrap="square" lIns="0" tIns="12065" rIns="0" bIns="0" rtlCol="0">
            <a:spAutoFit/>
          </a:bodyPr>
          <a:lstStyle/>
          <a:p>
            <a:pPr marL="12700">
              <a:spcBef>
                <a:spcPts val="95"/>
              </a:spcBef>
            </a:pPr>
            <a:r>
              <a:rPr sz="1600" spc="100" dirty="0">
                <a:solidFill>
                  <a:srgbClr val="344B5E"/>
                </a:solidFill>
                <a:latin typeface="Arial" panose="020B0604020202020204"/>
                <a:cs typeface="Arial" panose="020B0604020202020204"/>
              </a:rPr>
              <a:t>-</a:t>
            </a:r>
            <a:r>
              <a:rPr sz="1600" spc="55" dirty="0">
                <a:solidFill>
                  <a:srgbClr val="344B5E"/>
                </a:solidFill>
                <a:latin typeface="Arial" panose="020B0604020202020204"/>
                <a:cs typeface="Arial" panose="020B0604020202020204"/>
              </a:rPr>
              <a:t>5</a:t>
            </a:r>
            <a:endParaRPr sz="1600">
              <a:solidFill>
                <a:prstClr val="black"/>
              </a:solidFill>
              <a:latin typeface="Arial" panose="020B0604020202020204"/>
              <a:cs typeface="Arial" panose="020B0604020202020204"/>
            </a:endParaRPr>
          </a:p>
        </p:txBody>
      </p:sp>
      <p:sp>
        <p:nvSpPr>
          <p:cNvPr id="8" name="object 8"/>
          <p:cNvSpPr txBox="1"/>
          <p:nvPr/>
        </p:nvSpPr>
        <p:spPr>
          <a:xfrm>
            <a:off x="2502413" y="4809388"/>
            <a:ext cx="463127" cy="258404"/>
          </a:xfrm>
          <a:prstGeom prst="rect">
            <a:avLst/>
          </a:prstGeom>
        </p:spPr>
        <p:txBody>
          <a:bodyPr vert="horz" wrap="square" lIns="0" tIns="12065" rIns="0" bIns="0" rtlCol="0">
            <a:spAutoFit/>
          </a:bodyPr>
          <a:lstStyle/>
          <a:p>
            <a:pPr marL="12700">
              <a:spcBef>
                <a:spcPts val="95"/>
              </a:spcBef>
            </a:pPr>
            <a:r>
              <a:rPr sz="1600" spc="100" dirty="0">
                <a:solidFill>
                  <a:srgbClr val="344B5E"/>
                </a:solidFill>
                <a:latin typeface="Arial" panose="020B0604020202020204"/>
                <a:cs typeface="Arial" panose="020B0604020202020204"/>
              </a:rPr>
              <a:t>-</a:t>
            </a:r>
            <a:r>
              <a:rPr sz="1600" spc="55" dirty="0">
                <a:solidFill>
                  <a:srgbClr val="344B5E"/>
                </a:solidFill>
                <a:latin typeface="Arial" panose="020B0604020202020204"/>
                <a:cs typeface="Arial" panose="020B0604020202020204"/>
              </a:rPr>
              <a:t>10</a:t>
            </a:r>
            <a:endParaRPr sz="1600">
              <a:solidFill>
                <a:prstClr val="black"/>
              </a:solidFill>
              <a:latin typeface="Arial" panose="020B0604020202020204"/>
              <a:cs typeface="Arial" panose="020B0604020202020204"/>
            </a:endParaRPr>
          </a:p>
        </p:txBody>
      </p:sp>
      <p:sp>
        <p:nvSpPr>
          <p:cNvPr id="9" name="object 9"/>
          <p:cNvSpPr txBox="1"/>
          <p:nvPr/>
        </p:nvSpPr>
        <p:spPr>
          <a:xfrm>
            <a:off x="7829464" y="4809388"/>
            <a:ext cx="194733" cy="258404"/>
          </a:xfrm>
          <a:prstGeom prst="rect">
            <a:avLst/>
          </a:prstGeom>
        </p:spPr>
        <p:txBody>
          <a:bodyPr vert="horz" wrap="square" lIns="0" tIns="12065" rIns="0" bIns="0" rtlCol="0">
            <a:spAutoFit/>
          </a:bodyPr>
          <a:lstStyle/>
          <a:p>
            <a:pPr marL="12700">
              <a:spcBef>
                <a:spcPts val="95"/>
              </a:spcBef>
            </a:pPr>
            <a:r>
              <a:rPr sz="1600" spc="55" dirty="0">
                <a:solidFill>
                  <a:srgbClr val="344B5E"/>
                </a:solidFill>
                <a:latin typeface="Arial" panose="020B0604020202020204"/>
                <a:cs typeface="Arial" panose="020B0604020202020204"/>
              </a:rPr>
              <a:t>5</a:t>
            </a:r>
            <a:endParaRPr sz="1600">
              <a:solidFill>
                <a:prstClr val="black"/>
              </a:solidFill>
              <a:latin typeface="Arial" panose="020B0604020202020204"/>
              <a:cs typeface="Arial" panose="020B0604020202020204"/>
            </a:endParaRPr>
          </a:p>
        </p:txBody>
      </p:sp>
      <p:sp>
        <p:nvSpPr>
          <p:cNvPr id="10" name="object 10"/>
          <p:cNvSpPr txBox="1"/>
          <p:nvPr/>
        </p:nvSpPr>
        <p:spPr>
          <a:xfrm>
            <a:off x="9506711" y="4809388"/>
            <a:ext cx="355600" cy="258404"/>
          </a:xfrm>
          <a:prstGeom prst="rect">
            <a:avLst/>
          </a:prstGeom>
        </p:spPr>
        <p:txBody>
          <a:bodyPr vert="horz" wrap="square" lIns="0" tIns="12065" rIns="0" bIns="0" rtlCol="0">
            <a:spAutoFit/>
          </a:bodyPr>
          <a:lstStyle/>
          <a:p>
            <a:pPr marL="12700">
              <a:spcBef>
                <a:spcPts val="95"/>
              </a:spcBef>
            </a:pPr>
            <a:r>
              <a:rPr sz="1600" spc="55" dirty="0">
                <a:solidFill>
                  <a:srgbClr val="344B5E"/>
                </a:solidFill>
                <a:latin typeface="Arial" panose="020B0604020202020204"/>
                <a:cs typeface="Arial" panose="020B0604020202020204"/>
              </a:rPr>
              <a:t>10</a:t>
            </a:r>
            <a:endParaRPr sz="1600">
              <a:solidFill>
                <a:prstClr val="black"/>
              </a:solidFill>
              <a:latin typeface="Arial" panose="020B0604020202020204"/>
              <a:cs typeface="Arial" panose="020B0604020202020204"/>
            </a:endParaRPr>
          </a:p>
        </p:txBody>
      </p:sp>
      <p:sp>
        <p:nvSpPr>
          <p:cNvPr id="11" name="object 11"/>
          <p:cNvSpPr/>
          <p:nvPr/>
        </p:nvSpPr>
        <p:spPr>
          <a:xfrm>
            <a:off x="6141721" y="2532888"/>
            <a:ext cx="8467" cy="2166620"/>
          </a:xfrm>
          <a:custGeom>
            <a:avLst/>
            <a:gdLst/>
            <a:ahLst/>
            <a:cxnLst/>
            <a:rect l="l" t="t" r="r" b="b"/>
            <a:pathLst>
              <a:path w="6350" h="2166620">
                <a:moveTo>
                  <a:pt x="0" y="2166239"/>
                </a:moveTo>
                <a:lnTo>
                  <a:pt x="6096" y="0"/>
                </a:lnTo>
              </a:path>
            </a:pathLst>
          </a:custGeom>
          <a:ln w="38100">
            <a:solidFill>
              <a:srgbClr val="FFFFFF"/>
            </a:solidFill>
            <a:prstDash val="lgDash"/>
          </a:ln>
        </p:spPr>
        <p:txBody>
          <a:bodyPr wrap="square" lIns="0" tIns="0" rIns="0" bIns="0" rtlCol="0"/>
          <a:lstStyle/>
          <a:p>
            <a:endParaRPr>
              <a:solidFill>
                <a:prstClr val="black"/>
              </a:solidFill>
            </a:endParaRPr>
          </a:p>
        </p:txBody>
      </p:sp>
      <p:sp>
        <p:nvSpPr>
          <p:cNvPr id="12" name="object 12"/>
          <p:cNvSpPr/>
          <p:nvPr/>
        </p:nvSpPr>
        <p:spPr>
          <a:xfrm>
            <a:off x="2565406" y="2558795"/>
            <a:ext cx="6973993" cy="2131060"/>
          </a:xfrm>
          <a:custGeom>
            <a:avLst/>
            <a:gdLst/>
            <a:ahLst/>
            <a:cxnLst/>
            <a:rect l="l" t="t" r="r" b="b"/>
            <a:pathLst>
              <a:path w="5230495" h="2131060">
                <a:moveTo>
                  <a:pt x="0" y="2130552"/>
                </a:moveTo>
                <a:lnTo>
                  <a:pt x="1545336" y="2112264"/>
                </a:lnTo>
                <a:lnTo>
                  <a:pt x="1636286" y="2104391"/>
                </a:lnTo>
                <a:lnTo>
                  <a:pt x="1709854" y="2096097"/>
                </a:lnTo>
                <a:lnTo>
                  <a:pt x="1768865" y="2087053"/>
                </a:lnTo>
                <a:lnTo>
                  <a:pt x="1816144" y="2076931"/>
                </a:lnTo>
                <a:lnTo>
                  <a:pt x="1854517" y="2065401"/>
                </a:lnTo>
                <a:lnTo>
                  <a:pt x="1915846" y="2036798"/>
                </a:lnTo>
                <a:lnTo>
                  <a:pt x="1975456" y="1998613"/>
                </a:lnTo>
                <a:lnTo>
                  <a:pt x="2011679" y="1975103"/>
                </a:lnTo>
                <a:lnTo>
                  <a:pt x="2048713" y="1951366"/>
                </a:lnTo>
                <a:lnTo>
                  <a:pt x="2081174" y="1929310"/>
                </a:lnTo>
                <a:lnTo>
                  <a:pt x="2137867" y="1883444"/>
                </a:lnTo>
                <a:lnTo>
                  <a:pt x="2164842" y="1856232"/>
                </a:lnTo>
                <a:lnTo>
                  <a:pt x="2192731" y="1823898"/>
                </a:lnTo>
                <a:lnTo>
                  <a:pt x="2222906" y="1784744"/>
                </a:lnTo>
                <a:lnTo>
                  <a:pt x="2256739" y="1737067"/>
                </a:lnTo>
                <a:lnTo>
                  <a:pt x="2295601" y="1679167"/>
                </a:lnTo>
                <a:lnTo>
                  <a:pt x="2340864" y="1609343"/>
                </a:lnTo>
                <a:lnTo>
                  <a:pt x="2381189" y="1543762"/>
                </a:lnTo>
                <a:lnTo>
                  <a:pt x="2403210" y="1506257"/>
                </a:lnTo>
                <a:lnTo>
                  <a:pt x="2426323" y="1465982"/>
                </a:lnTo>
                <a:lnTo>
                  <a:pt x="2450419" y="1423220"/>
                </a:lnTo>
                <a:lnTo>
                  <a:pt x="2475389" y="1378250"/>
                </a:lnTo>
                <a:lnTo>
                  <a:pt x="2501124" y="1331355"/>
                </a:lnTo>
                <a:lnTo>
                  <a:pt x="2527514" y="1282815"/>
                </a:lnTo>
                <a:lnTo>
                  <a:pt x="2554451" y="1232910"/>
                </a:lnTo>
                <a:lnTo>
                  <a:pt x="2581825" y="1181923"/>
                </a:lnTo>
                <a:lnTo>
                  <a:pt x="2609526" y="1130133"/>
                </a:lnTo>
                <a:lnTo>
                  <a:pt x="2637446" y="1077822"/>
                </a:lnTo>
                <a:lnTo>
                  <a:pt x="2665476" y="1025270"/>
                </a:lnTo>
                <a:lnTo>
                  <a:pt x="2693505" y="972760"/>
                </a:lnTo>
                <a:lnTo>
                  <a:pt x="2721425" y="920570"/>
                </a:lnTo>
                <a:lnTo>
                  <a:pt x="2749126" y="868983"/>
                </a:lnTo>
                <a:lnTo>
                  <a:pt x="2776500" y="818280"/>
                </a:lnTo>
                <a:lnTo>
                  <a:pt x="2803437" y="768741"/>
                </a:lnTo>
                <a:lnTo>
                  <a:pt x="2829827" y="720647"/>
                </a:lnTo>
                <a:lnTo>
                  <a:pt x="2855562" y="674279"/>
                </a:lnTo>
                <a:lnTo>
                  <a:pt x="2880532" y="629918"/>
                </a:lnTo>
                <a:lnTo>
                  <a:pt x="2904628" y="587846"/>
                </a:lnTo>
                <a:lnTo>
                  <a:pt x="2927741" y="548342"/>
                </a:lnTo>
                <a:lnTo>
                  <a:pt x="2949762" y="511689"/>
                </a:lnTo>
                <a:lnTo>
                  <a:pt x="2970580" y="478166"/>
                </a:lnTo>
                <a:lnTo>
                  <a:pt x="3041766" y="374176"/>
                </a:lnTo>
                <a:lnTo>
                  <a:pt x="3088439" y="314784"/>
                </a:lnTo>
                <a:lnTo>
                  <a:pt x="3130634" y="267885"/>
                </a:lnTo>
                <a:lnTo>
                  <a:pt x="3168878" y="231484"/>
                </a:lnTo>
                <a:lnTo>
                  <a:pt x="3203698" y="203588"/>
                </a:lnTo>
                <a:lnTo>
                  <a:pt x="3235621" y="182202"/>
                </a:lnTo>
                <a:lnTo>
                  <a:pt x="3292881" y="150982"/>
                </a:lnTo>
                <a:lnTo>
                  <a:pt x="3319272" y="137159"/>
                </a:lnTo>
                <a:lnTo>
                  <a:pt x="3367040" y="111556"/>
                </a:lnTo>
                <a:lnTo>
                  <a:pt x="3425269" y="86685"/>
                </a:lnTo>
                <a:lnTo>
                  <a:pt x="3462146" y="74866"/>
                </a:lnTo>
                <a:lnTo>
                  <a:pt x="3506248" y="63642"/>
                </a:lnTo>
                <a:lnTo>
                  <a:pt x="3559109" y="53149"/>
                </a:lnTo>
                <a:lnTo>
                  <a:pt x="3622267" y="43525"/>
                </a:lnTo>
                <a:lnTo>
                  <a:pt x="3697257" y="34907"/>
                </a:lnTo>
                <a:lnTo>
                  <a:pt x="3785616" y="27431"/>
                </a:lnTo>
                <a:lnTo>
                  <a:pt x="4145732" y="13501"/>
                </a:lnTo>
                <a:lnTo>
                  <a:pt x="4627435" y="5143"/>
                </a:lnTo>
                <a:lnTo>
                  <a:pt x="5049416" y="1071"/>
                </a:lnTo>
                <a:lnTo>
                  <a:pt x="5230368" y="0"/>
                </a:lnTo>
              </a:path>
            </a:pathLst>
          </a:custGeom>
          <a:ln w="50292">
            <a:solidFill>
              <a:srgbClr val="C00000"/>
            </a:solidFill>
          </a:ln>
        </p:spPr>
        <p:txBody>
          <a:bodyPr wrap="square" lIns="0" tIns="0" rIns="0" bIns="0" rtlCol="0"/>
          <a:lstStyle/>
          <a:p>
            <a:endParaRPr>
              <a:solidFill>
                <a:prstClr val="black"/>
              </a:solidFill>
            </a:endParaRPr>
          </a:p>
        </p:txBody>
      </p:sp>
      <p:sp>
        <p:nvSpPr>
          <p:cNvPr id="13" name="object 13"/>
          <p:cNvSpPr txBox="1"/>
          <p:nvPr/>
        </p:nvSpPr>
        <p:spPr>
          <a:xfrm>
            <a:off x="6970268" y="2774899"/>
            <a:ext cx="1021080" cy="514350"/>
          </a:xfrm>
          <a:prstGeom prst="rect">
            <a:avLst/>
          </a:prstGeom>
        </p:spPr>
        <p:txBody>
          <a:bodyPr vert="horz" wrap="square" lIns="0" tIns="13335" rIns="0" bIns="0" rtlCol="0">
            <a:spAutoFit/>
          </a:bodyPr>
          <a:lstStyle/>
          <a:p>
            <a:pPr marL="12700">
              <a:spcBef>
                <a:spcPts val="105"/>
              </a:spcBef>
            </a:pPr>
            <a:r>
              <a:rPr sz="3200" spc="-1410" dirty="0">
                <a:solidFill>
                  <a:srgbClr val="344B5E"/>
                </a:solidFill>
                <a:latin typeface="Verdana" panose="020B0604030504040204"/>
                <a:cs typeface="Verdana" panose="020B0604030504040204"/>
              </a:rPr>
              <a:t>𝑦</a:t>
            </a:r>
            <a:r>
              <a:rPr sz="3200" spc="420" dirty="0">
                <a:solidFill>
                  <a:srgbClr val="344B5E"/>
                </a:solidFill>
                <a:latin typeface="Verdana" panose="020B0604030504040204"/>
                <a:cs typeface="Verdana" panose="020B0604030504040204"/>
              </a:rPr>
              <a:t> </a:t>
            </a:r>
            <a:r>
              <a:rPr sz="3200" spc="-225" dirty="0">
                <a:solidFill>
                  <a:srgbClr val="344B5E"/>
                </a:solidFill>
                <a:latin typeface="Verdana" panose="020B0604030504040204"/>
                <a:cs typeface="Verdana" panose="020B0604030504040204"/>
              </a:rPr>
              <a:t>=</a:t>
            </a:r>
            <a:endParaRPr sz="3200">
              <a:solidFill>
                <a:prstClr val="black"/>
              </a:solidFill>
              <a:latin typeface="Verdana" panose="020B0604030504040204"/>
              <a:cs typeface="Verdana" panose="020B0604030504040204"/>
            </a:endParaRPr>
          </a:p>
        </p:txBody>
      </p:sp>
      <p:sp>
        <p:nvSpPr>
          <p:cNvPr id="14" name="object 14"/>
          <p:cNvSpPr/>
          <p:nvPr/>
        </p:nvSpPr>
        <p:spPr>
          <a:xfrm>
            <a:off x="8121904" y="3079114"/>
            <a:ext cx="1219200" cy="0"/>
          </a:xfrm>
          <a:custGeom>
            <a:avLst/>
            <a:gdLst/>
            <a:ahLst/>
            <a:cxnLst/>
            <a:rect l="l" t="t" r="r" b="b"/>
            <a:pathLst>
              <a:path w="914400">
                <a:moveTo>
                  <a:pt x="0" y="0"/>
                </a:moveTo>
                <a:lnTo>
                  <a:pt x="914400" y="0"/>
                </a:lnTo>
              </a:path>
            </a:pathLst>
          </a:custGeom>
          <a:ln w="25907">
            <a:solidFill>
              <a:srgbClr val="344B5E"/>
            </a:solidFill>
          </a:ln>
        </p:spPr>
        <p:txBody>
          <a:bodyPr wrap="square" lIns="0" tIns="0" rIns="0" bIns="0" rtlCol="0"/>
          <a:lstStyle/>
          <a:p>
            <a:endParaRPr>
              <a:solidFill>
                <a:prstClr val="black"/>
              </a:solidFill>
            </a:endParaRPr>
          </a:p>
        </p:txBody>
      </p:sp>
      <p:sp>
        <p:nvSpPr>
          <p:cNvPr id="15" name="object 15"/>
          <p:cNvSpPr txBox="1"/>
          <p:nvPr/>
        </p:nvSpPr>
        <p:spPr>
          <a:xfrm>
            <a:off x="8600445" y="2647188"/>
            <a:ext cx="263313" cy="382270"/>
          </a:xfrm>
          <a:prstGeom prst="rect">
            <a:avLst/>
          </a:prstGeom>
        </p:spPr>
        <p:txBody>
          <a:bodyPr vert="horz" wrap="square" lIns="0" tIns="11430" rIns="0" bIns="0" rtlCol="0">
            <a:spAutoFit/>
          </a:bodyPr>
          <a:lstStyle/>
          <a:p>
            <a:pPr marL="12700">
              <a:spcBef>
                <a:spcPts val="90"/>
              </a:spcBef>
            </a:pPr>
            <a:r>
              <a:rPr sz="2350" spc="-140" dirty="0">
                <a:solidFill>
                  <a:srgbClr val="344B5E"/>
                </a:solidFill>
                <a:latin typeface="Verdana" panose="020B0604030504040204"/>
                <a:cs typeface="Verdana" panose="020B0604030504040204"/>
              </a:rPr>
              <a:t>1</a:t>
            </a:r>
            <a:endParaRPr sz="2350">
              <a:solidFill>
                <a:prstClr val="black"/>
              </a:solidFill>
              <a:latin typeface="Verdana" panose="020B0604030504040204"/>
              <a:cs typeface="Verdana" panose="020B0604030504040204"/>
            </a:endParaRPr>
          </a:p>
        </p:txBody>
      </p:sp>
      <p:sp>
        <p:nvSpPr>
          <p:cNvPr id="16" name="object 16"/>
          <p:cNvSpPr txBox="1"/>
          <p:nvPr/>
        </p:nvSpPr>
        <p:spPr>
          <a:xfrm>
            <a:off x="8106669" y="3089402"/>
            <a:ext cx="1240367" cy="382270"/>
          </a:xfrm>
          <a:prstGeom prst="rect">
            <a:avLst/>
          </a:prstGeom>
        </p:spPr>
        <p:txBody>
          <a:bodyPr vert="horz" wrap="square" lIns="0" tIns="11430" rIns="0" bIns="0" rtlCol="0">
            <a:spAutoFit/>
          </a:bodyPr>
          <a:lstStyle/>
          <a:p>
            <a:pPr marL="12700">
              <a:spcBef>
                <a:spcPts val="90"/>
              </a:spcBef>
            </a:pPr>
            <a:r>
              <a:rPr sz="2350" dirty="0">
                <a:solidFill>
                  <a:srgbClr val="344B5E"/>
                </a:solidFill>
                <a:latin typeface="Verdana" panose="020B0604030504040204"/>
                <a:cs typeface="Verdana" panose="020B0604030504040204"/>
              </a:rPr>
              <a:t>1+𝑒</a:t>
            </a:r>
            <a:r>
              <a:rPr sz="2850" baseline="20000" dirty="0">
                <a:solidFill>
                  <a:srgbClr val="344B5E"/>
                </a:solidFill>
                <a:latin typeface="Verdana" panose="020B0604030504040204"/>
                <a:cs typeface="Verdana" panose="020B0604030504040204"/>
              </a:rPr>
              <a:t>−𝑥</a:t>
            </a:r>
            <a:endParaRPr sz="2850" baseline="20000" dirty="0">
              <a:solidFill>
                <a:prstClr val="black"/>
              </a:solidFill>
              <a:latin typeface="Verdana" panose="020B0604030504040204"/>
              <a:cs typeface="Verdana" panose="020B0604030504040204"/>
            </a:endParaRPr>
          </a:p>
        </p:txBody>
      </p:sp>
      <p:sp>
        <p:nvSpPr>
          <p:cNvPr id="19" name="标题 18"/>
          <p:cNvSpPr>
            <a:spLocks noGrp="1"/>
          </p:cNvSpPr>
          <p:nvPr>
            <p:ph type="title"/>
          </p:nvPr>
        </p:nvSpPr>
        <p:spPr/>
        <p:txBody>
          <a:bodyPr/>
          <a:lstStyle/>
          <a:p>
            <a:r>
              <a:rPr lang="en-US" altLang="zh-CN" dirty="0"/>
              <a:t>Logistic</a:t>
            </a:r>
            <a:r>
              <a:rPr lang="zh-CN" altLang="en-US" dirty="0"/>
              <a:t>函数</a:t>
            </a:r>
          </a:p>
        </p:txBody>
      </p:sp>
      <p:sp>
        <p:nvSpPr>
          <p:cNvPr id="20" name="文本框 19"/>
          <p:cNvSpPr txBox="1"/>
          <p:nvPr/>
        </p:nvSpPr>
        <p:spPr>
          <a:xfrm>
            <a:off x="4708529" y="5668302"/>
            <a:ext cx="2340705" cy="461665"/>
          </a:xfrm>
          <a:prstGeom prst="rect">
            <a:avLst/>
          </a:prstGeom>
          <a:noFill/>
        </p:spPr>
        <p:txBody>
          <a:bodyPr wrap="none" rtlCol="0">
            <a:spAutoFit/>
          </a:bodyPr>
          <a:lstStyle/>
          <a:p>
            <a:r>
              <a:rPr lang="zh-CN" altLang="en-US" sz="2400" dirty="0">
                <a:solidFill>
                  <a:prstClr val="black"/>
                </a:solidFill>
              </a:rPr>
              <a:t>一种</a:t>
            </a:r>
            <a:r>
              <a:rPr lang="en-US" altLang="zh-CN" sz="2400" dirty="0" err="1">
                <a:solidFill>
                  <a:prstClr val="black"/>
                </a:solidFill>
              </a:rPr>
              <a:t>Sigmod</a:t>
            </a:r>
            <a:r>
              <a:rPr lang="zh-CN" altLang="en-US" sz="2400" dirty="0">
                <a:solidFill>
                  <a:prstClr val="black"/>
                </a:solidFill>
              </a:rPr>
              <a:t>函数</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015231" y="2594610"/>
            <a:ext cx="2641600" cy="1231900"/>
          </a:xfrm>
          <a:custGeom>
            <a:avLst/>
            <a:gdLst/>
            <a:ahLst/>
            <a:cxnLst/>
            <a:rect l="l" t="t" r="r" b="b"/>
            <a:pathLst>
              <a:path w="1981200" h="1231900">
                <a:moveTo>
                  <a:pt x="0" y="1231391"/>
                </a:moveTo>
                <a:lnTo>
                  <a:pt x="1981200" y="1231391"/>
                </a:lnTo>
                <a:lnTo>
                  <a:pt x="1981200" y="0"/>
                </a:lnTo>
                <a:lnTo>
                  <a:pt x="0" y="0"/>
                </a:lnTo>
                <a:lnTo>
                  <a:pt x="0" y="1231391"/>
                </a:lnTo>
                <a:close/>
              </a:path>
            </a:pathLst>
          </a:custGeom>
          <a:solidFill>
            <a:srgbClr val="E6EEEE"/>
          </a:solidFill>
        </p:spPr>
        <p:txBody>
          <a:bodyPr wrap="square" lIns="0" tIns="0" rIns="0" bIns="0" rtlCol="0"/>
          <a:lstStyle/>
          <a:p>
            <a:endParaRPr>
              <a:solidFill>
                <a:prstClr val="black"/>
              </a:solidFill>
            </a:endParaRPr>
          </a:p>
        </p:txBody>
      </p:sp>
      <p:sp>
        <p:nvSpPr>
          <p:cNvPr id="3" name="object 3"/>
          <p:cNvSpPr/>
          <p:nvPr/>
        </p:nvSpPr>
        <p:spPr>
          <a:xfrm>
            <a:off x="6727955" y="2596141"/>
            <a:ext cx="4117340" cy="1221105"/>
          </a:xfrm>
          <a:custGeom>
            <a:avLst/>
            <a:gdLst/>
            <a:ahLst/>
            <a:cxnLst/>
            <a:rect l="l" t="t" r="r" b="b"/>
            <a:pathLst>
              <a:path w="3088004" h="1221105">
                <a:moveTo>
                  <a:pt x="0" y="1220724"/>
                </a:moveTo>
                <a:lnTo>
                  <a:pt x="3087624" y="1220724"/>
                </a:lnTo>
                <a:lnTo>
                  <a:pt x="3087624" y="0"/>
                </a:lnTo>
                <a:lnTo>
                  <a:pt x="0" y="0"/>
                </a:lnTo>
                <a:lnTo>
                  <a:pt x="0" y="1220724"/>
                </a:lnTo>
                <a:close/>
              </a:path>
            </a:pathLst>
          </a:custGeom>
          <a:solidFill>
            <a:srgbClr val="F6E0D5"/>
          </a:solidFill>
        </p:spPr>
        <p:txBody>
          <a:bodyPr wrap="square" lIns="0" tIns="0" rIns="0" bIns="0" rtlCol="0"/>
          <a:lstStyle/>
          <a:p>
            <a:endParaRPr>
              <a:solidFill>
                <a:prstClr val="black"/>
              </a:solidFill>
            </a:endParaRPr>
          </a:p>
        </p:txBody>
      </p:sp>
      <p:sp>
        <p:nvSpPr>
          <p:cNvPr id="5" name="object 5"/>
          <p:cNvSpPr/>
          <p:nvPr/>
        </p:nvSpPr>
        <p:spPr>
          <a:xfrm>
            <a:off x="4009983" y="3760851"/>
            <a:ext cx="6865620" cy="114300"/>
          </a:xfrm>
          <a:custGeom>
            <a:avLst/>
            <a:gdLst/>
            <a:ahLst/>
            <a:cxnLst/>
            <a:rect l="l" t="t" r="r" b="b"/>
            <a:pathLst>
              <a:path w="5149215" h="114300">
                <a:moveTo>
                  <a:pt x="5111542" y="38100"/>
                </a:moveTo>
                <a:lnTo>
                  <a:pt x="5053838" y="38100"/>
                </a:lnTo>
                <a:lnTo>
                  <a:pt x="5053965" y="76200"/>
                </a:lnTo>
                <a:lnTo>
                  <a:pt x="5034915" y="76266"/>
                </a:lnTo>
                <a:lnTo>
                  <a:pt x="5035042" y="114300"/>
                </a:lnTo>
                <a:lnTo>
                  <a:pt x="5149215" y="56768"/>
                </a:lnTo>
                <a:lnTo>
                  <a:pt x="5111542" y="38100"/>
                </a:lnTo>
                <a:close/>
              </a:path>
              <a:path w="5149215" h="114300">
                <a:moveTo>
                  <a:pt x="5034788" y="38166"/>
                </a:moveTo>
                <a:lnTo>
                  <a:pt x="0" y="55753"/>
                </a:lnTo>
                <a:lnTo>
                  <a:pt x="254" y="93853"/>
                </a:lnTo>
                <a:lnTo>
                  <a:pt x="5034915" y="76266"/>
                </a:lnTo>
                <a:lnTo>
                  <a:pt x="5034788" y="38166"/>
                </a:lnTo>
                <a:close/>
              </a:path>
              <a:path w="5149215" h="114300">
                <a:moveTo>
                  <a:pt x="5053838" y="38100"/>
                </a:moveTo>
                <a:lnTo>
                  <a:pt x="5034788" y="38166"/>
                </a:lnTo>
                <a:lnTo>
                  <a:pt x="5034915" y="76266"/>
                </a:lnTo>
                <a:lnTo>
                  <a:pt x="5053965" y="76200"/>
                </a:lnTo>
                <a:lnTo>
                  <a:pt x="5053838" y="38100"/>
                </a:lnTo>
                <a:close/>
              </a:path>
              <a:path w="5149215" h="114300">
                <a:moveTo>
                  <a:pt x="5034661" y="0"/>
                </a:moveTo>
                <a:lnTo>
                  <a:pt x="5034788" y="38166"/>
                </a:lnTo>
                <a:lnTo>
                  <a:pt x="5111542" y="38100"/>
                </a:lnTo>
                <a:lnTo>
                  <a:pt x="5034661" y="0"/>
                </a:lnTo>
                <a:close/>
              </a:path>
            </a:pathLst>
          </a:custGeom>
          <a:solidFill>
            <a:srgbClr val="344B5E"/>
          </a:solidFill>
        </p:spPr>
        <p:txBody>
          <a:bodyPr wrap="square" lIns="0" tIns="0" rIns="0" bIns="0" rtlCol="0"/>
          <a:lstStyle/>
          <a:p>
            <a:endParaRPr>
              <a:solidFill>
                <a:prstClr val="black"/>
              </a:solidFill>
            </a:endParaRPr>
          </a:p>
        </p:txBody>
      </p:sp>
      <p:sp>
        <p:nvSpPr>
          <p:cNvPr id="6" name="object 6"/>
          <p:cNvSpPr/>
          <p:nvPr/>
        </p:nvSpPr>
        <p:spPr>
          <a:xfrm>
            <a:off x="7357877" y="253670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solidFill>
                <a:prstClr val="black"/>
              </a:solidFill>
            </a:endParaRPr>
          </a:p>
        </p:txBody>
      </p:sp>
      <p:sp>
        <p:nvSpPr>
          <p:cNvPr id="7" name="object 7"/>
          <p:cNvSpPr/>
          <p:nvPr/>
        </p:nvSpPr>
        <p:spPr>
          <a:xfrm>
            <a:off x="7357877" y="2536706"/>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4" y="0"/>
                </a:lnTo>
                <a:lnTo>
                  <a:pt x="177527" y="6870"/>
                </a:lnTo>
                <a:lnTo>
                  <a:pt x="214554" y="26005"/>
                </a:lnTo>
                <a:lnTo>
                  <a:pt x="243742" y="55193"/>
                </a:lnTo>
                <a:lnTo>
                  <a:pt x="262877" y="92220"/>
                </a:lnTo>
                <a:lnTo>
                  <a:pt x="269748" y="134874"/>
                </a:lnTo>
                <a:lnTo>
                  <a:pt x="262877" y="177527"/>
                </a:lnTo>
                <a:lnTo>
                  <a:pt x="243742" y="214554"/>
                </a:lnTo>
                <a:lnTo>
                  <a:pt x="214554" y="243742"/>
                </a:lnTo>
                <a:lnTo>
                  <a:pt x="177527" y="262877"/>
                </a:lnTo>
                <a:lnTo>
                  <a:pt x="134874" y="269747"/>
                </a:lnTo>
                <a:lnTo>
                  <a:pt x="92220" y="262877"/>
                </a:lnTo>
                <a:lnTo>
                  <a:pt x="55193" y="243742"/>
                </a:lnTo>
                <a:lnTo>
                  <a:pt x="26005" y="214554"/>
                </a:lnTo>
                <a:lnTo>
                  <a:pt x="6870" y="177527"/>
                </a:lnTo>
                <a:lnTo>
                  <a:pt x="0" y="134874"/>
                </a:lnTo>
                <a:close/>
              </a:path>
            </a:pathLst>
          </a:custGeom>
          <a:ln w="6096">
            <a:solidFill>
              <a:srgbClr val="FFFFFF"/>
            </a:solidFill>
          </a:ln>
        </p:spPr>
        <p:txBody>
          <a:bodyPr wrap="square" lIns="0" tIns="0" rIns="0" bIns="0" rtlCol="0"/>
          <a:lstStyle/>
          <a:p>
            <a:endParaRPr>
              <a:solidFill>
                <a:prstClr val="black"/>
              </a:solidFill>
            </a:endParaRPr>
          </a:p>
        </p:txBody>
      </p:sp>
      <p:sp>
        <p:nvSpPr>
          <p:cNvPr id="8" name="object 8"/>
          <p:cNvSpPr/>
          <p:nvPr/>
        </p:nvSpPr>
        <p:spPr>
          <a:xfrm>
            <a:off x="8077206" y="253670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solidFill>
                <a:prstClr val="black"/>
              </a:solidFill>
            </a:endParaRPr>
          </a:p>
        </p:txBody>
      </p:sp>
      <p:sp>
        <p:nvSpPr>
          <p:cNvPr id="9" name="object 9"/>
          <p:cNvSpPr/>
          <p:nvPr/>
        </p:nvSpPr>
        <p:spPr>
          <a:xfrm>
            <a:off x="8077206" y="2536706"/>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4" y="0"/>
                </a:lnTo>
                <a:lnTo>
                  <a:pt x="177527" y="6870"/>
                </a:lnTo>
                <a:lnTo>
                  <a:pt x="214554" y="26005"/>
                </a:lnTo>
                <a:lnTo>
                  <a:pt x="243742" y="55193"/>
                </a:lnTo>
                <a:lnTo>
                  <a:pt x="262877" y="92220"/>
                </a:lnTo>
                <a:lnTo>
                  <a:pt x="269748" y="134874"/>
                </a:lnTo>
                <a:lnTo>
                  <a:pt x="262877" y="177527"/>
                </a:lnTo>
                <a:lnTo>
                  <a:pt x="243742" y="214554"/>
                </a:lnTo>
                <a:lnTo>
                  <a:pt x="214554" y="243742"/>
                </a:lnTo>
                <a:lnTo>
                  <a:pt x="177527" y="262877"/>
                </a:lnTo>
                <a:lnTo>
                  <a:pt x="134874" y="269747"/>
                </a:lnTo>
                <a:lnTo>
                  <a:pt x="92220" y="262877"/>
                </a:lnTo>
                <a:lnTo>
                  <a:pt x="55193" y="243742"/>
                </a:lnTo>
                <a:lnTo>
                  <a:pt x="26005" y="214554"/>
                </a:lnTo>
                <a:lnTo>
                  <a:pt x="6870" y="177527"/>
                </a:lnTo>
                <a:lnTo>
                  <a:pt x="0" y="134874"/>
                </a:lnTo>
                <a:close/>
              </a:path>
            </a:pathLst>
          </a:custGeom>
          <a:ln w="6096">
            <a:solidFill>
              <a:srgbClr val="FFFFFF"/>
            </a:solidFill>
          </a:ln>
        </p:spPr>
        <p:txBody>
          <a:bodyPr wrap="square" lIns="0" tIns="0" rIns="0" bIns="0" rtlCol="0"/>
          <a:lstStyle/>
          <a:p>
            <a:endParaRPr>
              <a:solidFill>
                <a:prstClr val="black"/>
              </a:solidFill>
            </a:endParaRPr>
          </a:p>
        </p:txBody>
      </p:sp>
      <p:sp>
        <p:nvSpPr>
          <p:cNvPr id="10" name="object 10"/>
          <p:cNvSpPr/>
          <p:nvPr/>
        </p:nvSpPr>
        <p:spPr>
          <a:xfrm>
            <a:off x="8898128" y="2536706"/>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7"/>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5" y="0"/>
                </a:lnTo>
                <a:close/>
              </a:path>
            </a:pathLst>
          </a:custGeom>
          <a:solidFill>
            <a:srgbClr val="D0692F"/>
          </a:solidFill>
        </p:spPr>
        <p:txBody>
          <a:bodyPr wrap="square" lIns="0" tIns="0" rIns="0" bIns="0" rtlCol="0"/>
          <a:lstStyle/>
          <a:p>
            <a:endParaRPr>
              <a:solidFill>
                <a:prstClr val="black"/>
              </a:solidFill>
            </a:endParaRPr>
          </a:p>
        </p:txBody>
      </p:sp>
      <p:sp>
        <p:nvSpPr>
          <p:cNvPr id="11" name="object 11"/>
          <p:cNvSpPr/>
          <p:nvPr/>
        </p:nvSpPr>
        <p:spPr>
          <a:xfrm>
            <a:off x="8898128" y="2536706"/>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5" y="0"/>
                </a:lnTo>
                <a:lnTo>
                  <a:pt x="178515" y="6870"/>
                </a:lnTo>
                <a:lnTo>
                  <a:pt x="215749" y="26005"/>
                </a:lnTo>
                <a:lnTo>
                  <a:pt x="245107" y="55193"/>
                </a:lnTo>
                <a:lnTo>
                  <a:pt x="264359" y="92220"/>
                </a:lnTo>
                <a:lnTo>
                  <a:pt x="271272" y="134874"/>
                </a:lnTo>
                <a:lnTo>
                  <a:pt x="264359" y="177527"/>
                </a:lnTo>
                <a:lnTo>
                  <a:pt x="245107" y="214554"/>
                </a:lnTo>
                <a:lnTo>
                  <a:pt x="215749" y="243742"/>
                </a:lnTo>
                <a:lnTo>
                  <a:pt x="178515" y="262877"/>
                </a:lnTo>
                <a:lnTo>
                  <a:pt x="135635" y="269747"/>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a:endParaRPr>
              <a:solidFill>
                <a:prstClr val="black"/>
              </a:solidFill>
            </a:endParaRPr>
          </a:p>
        </p:txBody>
      </p:sp>
      <p:sp>
        <p:nvSpPr>
          <p:cNvPr id="12" name="object 12"/>
          <p:cNvSpPr/>
          <p:nvPr/>
        </p:nvSpPr>
        <p:spPr>
          <a:xfrm>
            <a:off x="9406133" y="253670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solidFill>
                <a:prstClr val="black"/>
              </a:solidFill>
            </a:endParaRPr>
          </a:p>
        </p:txBody>
      </p:sp>
      <p:sp>
        <p:nvSpPr>
          <p:cNvPr id="13" name="object 13"/>
          <p:cNvSpPr/>
          <p:nvPr/>
        </p:nvSpPr>
        <p:spPr>
          <a:xfrm>
            <a:off x="9406133" y="2536706"/>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4" y="0"/>
                </a:lnTo>
                <a:lnTo>
                  <a:pt x="177527" y="6870"/>
                </a:lnTo>
                <a:lnTo>
                  <a:pt x="214554" y="26005"/>
                </a:lnTo>
                <a:lnTo>
                  <a:pt x="243742" y="55193"/>
                </a:lnTo>
                <a:lnTo>
                  <a:pt x="262877" y="92220"/>
                </a:lnTo>
                <a:lnTo>
                  <a:pt x="269748" y="134874"/>
                </a:lnTo>
                <a:lnTo>
                  <a:pt x="262877" y="177527"/>
                </a:lnTo>
                <a:lnTo>
                  <a:pt x="243742" y="214554"/>
                </a:lnTo>
                <a:lnTo>
                  <a:pt x="214554" y="243742"/>
                </a:lnTo>
                <a:lnTo>
                  <a:pt x="177527" y="262877"/>
                </a:lnTo>
                <a:lnTo>
                  <a:pt x="134874" y="269747"/>
                </a:lnTo>
                <a:lnTo>
                  <a:pt x="92220" y="262877"/>
                </a:lnTo>
                <a:lnTo>
                  <a:pt x="55193" y="243742"/>
                </a:lnTo>
                <a:lnTo>
                  <a:pt x="26005" y="214554"/>
                </a:lnTo>
                <a:lnTo>
                  <a:pt x="6870" y="177527"/>
                </a:lnTo>
                <a:lnTo>
                  <a:pt x="0" y="134874"/>
                </a:lnTo>
                <a:close/>
              </a:path>
            </a:pathLst>
          </a:custGeom>
          <a:ln w="6096">
            <a:solidFill>
              <a:srgbClr val="FFFFFF"/>
            </a:solidFill>
          </a:ln>
        </p:spPr>
        <p:txBody>
          <a:bodyPr wrap="square" lIns="0" tIns="0" rIns="0" bIns="0" rtlCol="0"/>
          <a:lstStyle/>
          <a:p>
            <a:endParaRPr>
              <a:solidFill>
                <a:prstClr val="black"/>
              </a:solidFill>
            </a:endParaRPr>
          </a:p>
        </p:txBody>
      </p:sp>
      <p:sp>
        <p:nvSpPr>
          <p:cNvPr id="14" name="object 14"/>
          <p:cNvSpPr/>
          <p:nvPr/>
        </p:nvSpPr>
        <p:spPr>
          <a:xfrm>
            <a:off x="9932421" y="2536706"/>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7"/>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solidFill>
                <a:prstClr val="black"/>
              </a:solidFill>
            </a:endParaRPr>
          </a:p>
        </p:txBody>
      </p:sp>
      <p:sp>
        <p:nvSpPr>
          <p:cNvPr id="15" name="object 15"/>
          <p:cNvSpPr/>
          <p:nvPr/>
        </p:nvSpPr>
        <p:spPr>
          <a:xfrm>
            <a:off x="9932421" y="2536706"/>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4" y="0"/>
                </a:lnTo>
                <a:lnTo>
                  <a:pt x="177527" y="6870"/>
                </a:lnTo>
                <a:lnTo>
                  <a:pt x="214554" y="26005"/>
                </a:lnTo>
                <a:lnTo>
                  <a:pt x="243742" y="55193"/>
                </a:lnTo>
                <a:lnTo>
                  <a:pt x="262877" y="92220"/>
                </a:lnTo>
                <a:lnTo>
                  <a:pt x="269748" y="134874"/>
                </a:lnTo>
                <a:lnTo>
                  <a:pt x="262877" y="177527"/>
                </a:lnTo>
                <a:lnTo>
                  <a:pt x="243742" y="214554"/>
                </a:lnTo>
                <a:lnTo>
                  <a:pt x="214554" y="243742"/>
                </a:lnTo>
                <a:lnTo>
                  <a:pt x="177527" y="262877"/>
                </a:lnTo>
                <a:lnTo>
                  <a:pt x="134874" y="269747"/>
                </a:lnTo>
                <a:lnTo>
                  <a:pt x="92220" y="262877"/>
                </a:lnTo>
                <a:lnTo>
                  <a:pt x="55193" y="243742"/>
                </a:lnTo>
                <a:lnTo>
                  <a:pt x="26005" y="214554"/>
                </a:lnTo>
                <a:lnTo>
                  <a:pt x="6870" y="177527"/>
                </a:lnTo>
                <a:lnTo>
                  <a:pt x="0" y="134874"/>
                </a:lnTo>
                <a:close/>
              </a:path>
            </a:pathLst>
          </a:custGeom>
          <a:ln w="6096">
            <a:solidFill>
              <a:srgbClr val="FFFFFF"/>
            </a:solidFill>
          </a:ln>
        </p:spPr>
        <p:txBody>
          <a:bodyPr wrap="square" lIns="0" tIns="0" rIns="0" bIns="0" rtlCol="0"/>
          <a:lstStyle/>
          <a:p>
            <a:endParaRPr>
              <a:solidFill>
                <a:prstClr val="black"/>
              </a:solidFill>
            </a:endParaRPr>
          </a:p>
        </p:txBody>
      </p:sp>
      <p:sp>
        <p:nvSpPr>
          <p:cNvPr id="16" name="object 16"/>
          <p:cNvSpPr/>
          <p:nvPr/>
        </p:nvSpPr>
        <p:spPr>
          <a:xfrm>
            <a:off x="10511542" y="253060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solidFill>
                <a:prstClr val="black"/>
              </a:solidFill>
            </a:endParaRPr>
          </a:p>
        </p:txBody>
      </p:sp>
      <p:sp>
        <p:nvSpPr>
          <p:cNvPr id="17" name="object 17"/>
          <p:cNvSpPr/>
          <p:nvPr/>
        </p:nvSpPr>
        <p:spPr>
          <a:xfrm>
            <a:off x="10511542" y="2530609"/>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4" y="0"/>
                </a:lnTo>
                <a:lnTo>
                  <a:pt x="177527" y="6870"/>
                </a:lnTo>
                <a:lnTo>
                  <a:pt x="214554" y="26005"/>
                </a:lnTo>
                <a:lnTo>
                  <a:pt x="243742" y="55193"/>
                </a:lnTo>
                <a:lnTo>
                  <a:pt x="262877" y="92220"/>
                </a:lnTo>
                <a:lnTo>
                  <a:pt x="269748" y="134874"/>
                </a:lnTo>
                <a:lnTo>
                  <a:pt x="262877" y="177527"/>
                </a:lnTo>
                <a:lnTo>
                  <a:pt x="243742" y="214554"/>
                </a:lnTo>
                <a:lnTo>
                  <a:pt x="214554" y="243742"/>
                </a:lnTo>
                <a:lnTo>
                  <a:pt x="177527" y="262877"/>
                </a:lnTo>
                <a:lnTo>
                  <a:pt x="134874" y="269748"/>
                </a:lnTo>
                <a:lnTo>
                  <a:pt x="92220" y="262877"/>
                </a:lnTo>
                <a:lnTo>
                  <a:pt x="55193" y="243742"/>
                </a:lnTo>
                <a:lnTo>
                  <a:pt x="26005" y="214554"/>
                </a:lnTo>
                <a:lnTo>
                  <a:pt x="6870" y="177527"/>
                </a:lnTo>
                <a:lnTo>
                  <a:pt x="0" y="134874"/>
                </a:lnTo>
                <a:close/>
              </a:path>
            </a:pathLst>
          </a:custGeom>
          <a:ln w="6096">
            <a:solidFill>
              <a:srgbClr val="FFFFFF"/>
            </a:solidFill>
          </a:ln>
        </p:spPr>
        <p:txBody>
          <a:bodyPr wrap="square" lIns="0" tIns="0" rIns="0" bIns="0" rtlCol="0"/>
          <a:lstStyle/>
          <a:p>
            <a:endParaRPr>
              <a:solidFill>
                <a:prstClr val="black"/>
              </a:solidFill>
            </a:endParaRPr>
          </a:p>
        </p:txBody>
      </p:sp>
      <p:sp>
        <p:nvSpPr>
          <p:cNvPr id="18" name="object 18"/>
          <p:cNvSpPr/>
          <p:nvPr/>
        </p:nvSpPr>
        <p:spPr>
          <a:xfrm>
            <a:off x="9623552" y="2530609"/>
            <a:ext cx="362373" cy="269875"/>
          </a:xfrm>
          <a:custGeom>
            <a:avLst/>
            <a:gdLst/>
            <a:ahLst/>
            <a:cxnLst/>
            <a:rect l="l" t="t" r="r" b="b"/>
            <a:pathLst>
              <a:path w="271779" h="269875">
                <a:moveTo>
                  <a:pt x="135635"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5" y="269748"/>
                </a:lnTo>
                <a:lnTo>
                  <a:pt x="178515" y="262877"/>
                </a:lnTo>
                <a:lnTo>
                  <a:pt x="215749" y="243742"/>
                </a:lnTo>
                <a:lnTo>
                  <a:pt x="245107" y="214554"/>
                </a:lnTo>
                <a:lnTo>
                  <a:pt x="264359" y="177527"/>
                </a:lnTo>
                <a:lnTo>
                  <a:pt x="271271" y="134874"/>
                </a:lnTo>
                <a:lnTo>
                  <a:pt x="264359" y="92220"/>
                </a:lnTo>
                <a:lnTo>
                  <a:pt x="245107" y="55193"/>
                </a:lnTo>
                <a:lnTo>
                  <a:pt x="215749" y="26005"/>
                </a:lnTo>
                <a:lnTo>
                  <a:pt x="178515" y="6870"/>
                </a:lnTo>
                <a:lnTo>
                  <a:pt x="135635" y="0"/>
                </a:lnTo>
                <a:close/>
              </a:path>
            </a:pathLst>
          </a:custGeom>
          <a:solidFill>
            <a:srgbClr val="D0692F"/>
          </a:solidFill>
        </p:spPr>
        <p:txBody>
          <a:bodyPr wrap="square" lIns="0" tIns="0" rIns="0" bIns="0" rtlCol="0"/>
          <a:lstStyle/>
          <a:p>
            <a:endParaRPr>
              <a:solidFill>
                <a:prstClr val="black"/>
              </a:solidFill>
            </a:endParaRPr>
          </a:p>
        </p:txBody>
      </p:sp>
      <p:sp>
        <p:nvSpPr>
          <p:cNvPr id="19" name="object 19"/>
          <p:cNvSpPr/>
          <p:nvPr/>
        </p:nvSpPr>
        <p:spPr>
          <a:xfrm>
            <a:off x="9623552" y="2530609"/>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5" y="0"/>
                </a:lnTo>
                <a:lnTo>
                  <a:pt x="178515" y="6870"/>
                </a:lnTo>
                <a:lnTo>
                  <a:pt x="215749" y="26005"/>
                </a:lnTo>
                <a:lnTo>
                  <a:pt x="245107" y="55193"/>
                </a:lnTo>
                <a:lnTo>
                  <a:pt x="264359" y="92220"/>
                </a:lnTo>
                <a:lnTo>
                  <a:pt x="271271" y="134874"/>
                </a:lnTo>
                <a:lnTo>
                  <a:pt x="264359" y="177527"/>
                </a:lnTo>
                <a:lnTo>
                  <a:pt x="245107" y="214554"/>
                </a:lnTo>
                <a:lnTo>
                  <a:pt x="215749" y="243742"/>
                </a:lnTo>
                <a:lnTo>
                  <a:pt x="178515" y="262877"/>
                </a:lnTo>
                <a:lnTo>
                  <a:pt x="135635" y="269748"/>
                </a:lnTo>
                <a:lnTo>
                  <a:pt x="92756" y="262877"/>
                </a:lnTo>
                <a:lnTo>
                  <a:pt x="55522" y="243742"/>
                </a:lnTo>
                <a:lnTo>
                  <a:pt x="26164" y="214554"/>
                </a:lnTo>
                <a:lnTo>
                  <a:pt x="6912" y="177527"/>
                </a:lnTo>
                <a:lnTo>
                  <a:pt x="0" y="134874"/>
                </a:lnTo>
                <a:close/>
              </a:path>
            </a:pathLst>
          </a:custGeom>
          <a:ln w="6096">
            <a:solidFill>
              <a:srgbClr val="FFFFFF"/>
            </a:solidFill>
          </a:ln>
        </p:spPr>
        <p:txBody>
          <a:bodyPr wrap="square" lIns="0" tIns="0" rIns="0" bIns="0" rtlCol="0"/>
          <a:lstStyle/>
          <a:p>
            <a:endParaRPr>
              <a:solidFill>
                <a:prstClr val="black"/>
              </a:solidFill>
            </a:endParaRPr>
          </a:p>
        </p:txBody>
      </p:sp>
      <p:sp>
        <p:nvSpPr>
          <p:cNvPr id="20" name="object 20"/>
          <p:cNvSpPr/>
          <p:nvPr/>
        </p:nvSpPr>
        <p:spPr>
          <a:xfrm>
            <a:off x="9188710" y="253060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solidFill>
                <a:prstClr val="black"/>
              </a:solidFill>
            </a:endParaRPr>
          </a:p>
        </p:txBody>
      </p:sp>
      <p:sp>
        <p:nvSpPr>
          <p:cNvPr id="21" name="object 21"/>
          <p:cNvSpPr/>
          <p:nvPr/>
        </p:nvSpPr>
        <p:spPr>
          <a:xfrm>
            <a:off x="9188710" y="2530609"/>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4" y="0"/>
                </a:lnTo>
                <a:lnTo>
                  <a:pt x="177527" y="6870"/>
                </a:lnTo>
                <a:lnTo>
                  <a:pt x="214554" y="26005"/>
                </a:lnTo>
                <a:lnTo>
                  <a:pt x="243742" y="55193"/>
                </a:lnTo>
                <a:lnTo>
                  <a:pt x="262877" y="92220"/>
                </a:lnTo>
                <a:lnTo>
                  <a:pt x="269748" y="134874"/>
                </a:lnTo>
                <a:lnTo>
                  <a:pt x="262877" y="177527"/>
                </a:lnTo>
                <a:lnTo>
                  <a:pt x="243742" y="214554"/>
                </a:lnTo>
                <a:lnTo>
                  <a:pt x="214554" y="243742"/>
                </a:lnTo>
                <a:lnTo>
                  <a:pt x="177527" y="262877"/>
                </a:lnTo>
                <a:lnTo>
                  <a:pt x="134874" y="269748"/>
                </a:lnTo>
                <a:lnTo>
                  <a:pt x="92220" y="262877"/>
                </a:lnTo>
                <a:lnTo>
                  <a:pt x="55193" y="243742"/>
                </a:lnTo>
                <a:lnTo>
                  <a:pt x="26005" y="214554"/>
                </a:lnTo>
                <a:lnTo>
                  <a:pt x="6870" y="177527"/>
                </a:lnTo>
                <a:lnTo>
                  <a:pt x="0" y="134874"/>
                </a:lnTo>
                <a:close/>
              </a:path>
            </a:pathLst>
          </a:custGeom>
          <a:ln w="6096">
            <a:solidFill>
              <a:srgbClr val="FFFFFF"/>
            </a:solidFill>
          </a:ln>
        </p:spPr>
        <p:txBody>
          <a:bodyPr wrap="square" lIns="0" tIns="0" rIns="0" bIns="0" rtlCol="0"/>
          <a:lstStyle/>
          <a:p>
            <a:endParaRPr>
              <a:solidFill>
                <a:prstClr val="black"/>
              </a:solidFill>
            </a:endParaRPr>
          </a:p>
        </p:txBody>
      </p:sp>
      <p:sp>
        <p:nvSpPr>
          <p:cNvPr id="22" name="object 22"/>
          <p:cNvSpPr/>
          <p:nvPr/>
        </p:nvSpPr>
        <p:spPr>
          <a:xfrm>
            <a:off x="10151878" y="2530609"/>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8" y="134874"/>
                </a:lnTo>
                <a:lnTo>
                  <a:pt x="262877" y="92220"/>
                </a:lnTo>
                <a:lnTo>
                  <a:pt x="243742" y="55193"/>
                </a:lnTo>
                <a:lnTo>
                  <a:pt x="214554" y="26005"/>
                </a:lnTo>
                <a:lnTo>
                  <a:pt x="177527" y="6870"/>
                </a:lnTo>
                <a:lnTo>
                  <a:pt x="134874" y="0"/>
                </a:lnTo>
                <a:close/>
              </a:path>
            </a:pathLst>
          </a:custGeom>
          <a:solidFill>
            <a:srgbClr val="D0692F"/>
          </a:solidFill>
        </p:spPr>
        <p:txBody>
          <a:bodyPr wrap="square" lIns="0" tIns="0" rIns="0" bIns="0" rtlCol="0"/>
          <a:lstStyle/>
          <a:p>
            <a:endParaRPr>
              <a:solidFill>
                <a:prstClr val="black"/>
              </a:solidFill>
            </a:endParaRPr>
          </a:p>
        </p:txBody>
      </p:sp>
      <p:sp>
        <p:nvSpPr>
          <p:cNvPr id="23" name="object 23"/>
          <p:cNvSpPr/>
          <p:nvPr/>
        </p:nvSpPr>
        <p:spPr>
          <a:xfrm>
            <a:off x="10151878" y="2530609"/>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4" y="0"/>
                </a:lnTo>
                <a:lnTo>
                  <a:pt x="177527" y="6870"/>
                </a:lnTo>
                <a:lnTo>
                  <a:pt x="214554" y="26005"/>
                </a:lnTo>
                <a:lnTo>
                  <a:pt x="243742" y="55193"/>
                </a:lnTo>
                <a:lnTo>
                  <a:pt x="262877" y="92220"/>
                </a:lnTo>
                <a:lnTo>
                  <a:pt x="269748" y="134874"/>
                </a:lnTo>
                <a:lnTo>
                  <a:pt x="262877" y="177527"/>
                </a:lnTo>
                <a:lnTo>
                  <a:pt x="243742" y="214554"/>
                </a:lnTo>
                <a:lnTo>
                  <a:pt x="214554" y="243742"/>
                </a:lnTo>
                <a:lnTo>
                  <a:pt x="177527" y="262877"/>
                </a:lnTo>
                <a:lnTo>
                  <a:pt x="134874" y="269748"/>
                </a:lnTo>
                <a:lnTo>
                  <a:pt x="92220" y="262877"/>
                </a:lnTo>
                <a:lnTo>
                  <a:pt x="55193" y="243742"/>
                </a:lnTo>
                <a:lnTo>
                  <a:pt x="26005" y="214554"/>
                </a:lnTo>
                <a:lnTo>
                  <a:pt x="6870" y="177527"/>
                </a:lnTo>
                <a:lnTo>
                  <a:pt x="0" y="134874"/>
                </a:lnTo>
                <a:close/>
              </a:path>
            </a:pathLst>
          </a:custGeom>
          <a:ln w="6096">
            <a:solidFill>
              <a:srgbClr val="FFFFFF"/>
            </a:solidFill>
          </a:ln>
        </p:spPr>
        <p:txBody>
          <a:bodyPr wrap="square" lIns="0" tIns="0" rIns="0" bIns="0" rtlCol="0"/>
          <a:lstStyle/>
          <a:p>
            <a:endParaRPr>
              <a:solidFill>
                <a:prstClr val="black"/>
              </a:solidFill>
            </a:endParaRPr>
          </a:p>
        </p:txBody>
      </p:sp>
      <p:sp>
        <p:nvSpPr>
          <p:cNvPr id="24" name="object 24"/>
          <p:cNvSpPr/>
          <p:nvPr/>
        </p:nvSpPr>
        <p:spPr>
          <a:xfrm>
            <a:off x="3933952" y="2269244"/>
            <a:ext cx="152400" cy="1566545"/>
          </a:xfrm>
          <a:custGeom>
            <a:avLst/>
            <a:gdLst/>
            <a:ahLst/>
            <a:cxnLst/>
            <a:rect l="l" t="t" r="r" b="b"/>
            <a:pathLst>
              <a:path w="114300" h="1566545">
                <a:moveTo>
                  <a:pt x="76200" y="95250"/>
                </a:moveTo>
                <a:lnTo>
                  <a:pt x="38100" y="95250"/>
                </a:lnTo>
                <a:lnTo>
                  <a:pt x="38100" y="1566545"/>
                </a:lnTo>
                <a:lnTo>
                  <a:pt x="76200" y="1566545"/>
                </a:lnTo>
                <a:lnTo>
                  <a:pt x="76200" y="95250"/>
                </a:lnTo>
                <a:close/>
              </a:path>
              <a:path w="114300" h="1566545">
                <a:moveTo>
                  <a:pt x="57150" y="0"/>
                </a:moveTo>
                <a:lnTo>
                  <a:pt x="0" y="114300"/>
                </a:lnTo>
                <a:lnTo>
                  <a:pt x="38100" y="114300"/>
                </a:lnTo>
                <a:lnTo>
                  <a:pt x="38100" y="95250"/>
                </a:lnTo>
                <a:lnTo>
                  <a:pt x="104775" y="95250"/>
                </a:lnTo>
                <a:lnTo>
                  <a:pt x="57150" y="0"/>
                </a:lnTo>
                <a:close/>
              </a:path>
              <a:path w="114300" h="1566545">
                <a:moveTo>
                  <a:pt x="104775" y="95250"/>
                </a:moveTo>
                <a:lnTo>
                  <a:pt x="76200" y="95250"/>
                </a:lnTo>
                <a:lnTo>
                  <a:pt x="76200" y="114300"/>
                </a:lnTo>
                <a:lnTo>
                  <a:pt x="114300" y="114300"/>
                </a:lnTo>
                <a:lnTo>
                  <a:pt x="104775" y="95250"/>
                </a:lnTo>
                <a:close/>
              </a:path>
            </a:pathLst>
          </a:custGeom>
          <a:solidFill>
            <a:srgbClr val="344B5E"/>
          </a:solidFill>
        </p:spPr>
        <p:txBody>
          <a:bodyPr wrap="square" lIns="0" tIns="0" rIns="0" bIns="0" rtlCol="0"/>
          <a:lstStyle/>
          <a:p>
            <a:endParaRPr>
              <a:solidFill>
                <a:prstClr val="black"/>
              </a:solidFill>
            </a:endParaRPr>
          </a:p>
        </p:txBody>
      </p:sp>
      <p:sp>
        <p:nvSpPr>
          <p:cNvPr id="26" name="object 26"/>
          <p:cNvSpPr/>
          <p:nvPr/>
        </p:nvSpPr>
        <p:spPr>
          <a:xfrm>
            <a:off x="6727958" y="3224783"/>
            <a:ext cx="4144433" cy="0"/>
          </a:xfrm>
          <a:custGeom>
            <a:avLst/>
            <a:gdLst/>
            <a:ahLst/>
            <a:cxnLst/>
            <a:rect l="l" t="t" r="r" b="b"/>
            <a:pathLst>
              <a:path w="3108325">
                <a:moveTo>
                  <a:pt x="0" y="0"/>
                </a:moveTo>
                <a:lnTo>
                  <a:pt x="3108070" y="0"/>
                </a:lnTo>
              </a:path>
            </a:pathLst>
          </a:custGeom>
          <a:ln w="25908">
            <a:solidFill>
              <a:srgbClr val="84ADAF"/>
            </a:solidFill>
          </a:ln>
        </p:spPr>
        <p:txBody>
          <a:bodyPr wrap="square" lIns="0" tIns="0" rIns="0" bIns="0" rtlCol="0"/>
          <a:lstStyle/>
          <a:p>
            <a:endParaRPr>
              <a:solidFill>
                <a:prstClr val="black"/>
              </a:solidFill>
            </a:endParaRPr>
          </a:p>
        </p:txBody>
      </p:sp>
      <p:sp>
        <p:nvSpPr>
          <p:cNvPr id="27" name="object 27"/>
          <p:cNvSpPr/>
          <p:nvPr/>
        </p:nvSpPr>
        <p:spPr>
          <a:xfrm>
            <a:off x="4010152" y="3224783"/>
            <a:ext cx="2646680" cy="0"/>
          </a:xfrm>
          <a:custGeom>
            <a:avLst/>
            <a:gdLst/>
            <a:ahLst/>
            <a:cxnLst/>
            <a:rect l="l" t="t" r="r" b="b"/>
            <a:pathLst>
              <a:path w="1985010">
                <a:moveTo>
                  <a:pt x="0" y="0"/>
                </a:moveTo>
                <a:lnTo>
                  <a:pt x="1985010" y="0"/>
                </a:lnTo>
              </a:path>
            </a:pathLst>
          </a:custGeom>
          <a:ln w="25908">
            <a:solidFill>
              <a:srgbClr val="84ADAF"/>
            </a:solidFill>
          </a:ln>
        </p:spPr>
        <p:txBody>
          <a:bodyPr wrap="square" lIns="0" tIns="0" rIns="0" bIns="0" rtlCol="0"/>
          <a:lstStyle/>
          <a:p>
            <a:endParaRPr>
              <a:solidFill>
                <a:prstClr val="black"/>
              </a:solidFill>
            </a:endParaRPr>
          </a:p>
        </p:txBody>
      </p:sp>
      <p:sp>
        <p:nvSpPr>
          <p:cNvPr id="28" name="object 28"/>
          <p:cNvSpPr txBox="1"/>
          <p:nvPr/>
        </p:nvSpPr>
        <p:spPr>
          <a:xfrm>
            <a:off x="2363389" y="3569593"/>
            <a:ext cx="7272867" cy="800100"/>
          </a:xfrm>
          <a:prstGeom prst="rect">
            <a:avLst/>
          </a:prstGeom>
        </p:spPr>
        <p:txBody>
          <a:bodyPr vert="horz" wrap="square" lIns="0" tIns="125730" rIns="0" bIns="0" rtlCol="0">
            <a:spAutoFit/>
          </a:bodyPr>
          <a:lstStyle/>
          <a:p>
            <a:pPr marL="12700">
              <a:spcBef>
                <a:spcPts val="990"/>
              </a:spcBef>
            </a:pPr>
            <a:r>
              <a:rPr spc="-5" dirty="0">
                <a:solidFill>
                  <a:srgbClr val="344B5E"/>
                </a:solidFill>
                <a:latin typeface="Arial" panose="020B0604020202020204"/>
                <a:cs typeface="Arial" panose="020B0604020202020204"/>
              </a:rPr>
              <a:t>Survived:</a:t>
            </a:r>
            <a:r>
              <a:rPr spc="-114" dirty="0">
                <a:solidFill>
                  <a:srgbClr val="344B5E"/>
                </a:solidFill>
                <a:latin typeface="Arial" panose="020B0604020202020204"/>
                <a:cs typeface="Arial" panose="020B0604020202020204"/>
              </a:rPr>
              <a:t> </a:t>
            </a:r>
            <a:r>
              <a:rPr spc="5" dirty="0">
                <a:solidFill>
                  <a:srgbClr val="344B5E"/>
                </a:solidFill>
                <a:latin typeface="Arial" panose="020B0604020202020204"/>
                <a:cs typeface="Arial" panose="020B0604020202020204"/>
              </a:rPr>
              <a:t>0.0</a:t>
            </a:r>
            <a:endParaRPr dirty="0">
              <a:solidFill>
                <a:prstClr val="black"/>
              </a:solidFill>
              <a:latin typeface="Arial" panose="020B0604020202020204"/>
              <a:cs typeface="Arial" panose="020B0604020202020204"/>
            </a:endParaRPr>
          </a:p>
          <a:p>
            <a:pPr marL="2656840">
              <a:spcBef>
                <a:spcPts val="890"/>
              </a:spcBef>
            </a:pPr>
            <a:r>
              <a:rPr b="1" dirty="0">
                <a:solidFill>
                  <a:srgbClr val="344B5E"/>
                </a:solidFill>
                <a:latin typeface="Arial" panose="020B0604020202020204"/>
                <a:cs typeface="Arial" panose="020B0604020202020204"/>
              </a:rPr>
              <a:t>Number </a:t>
            </a:r>
            <a:r>
              <a:rPr b="1" spc="10" dirty="0">
                <a:solidFill>
                  <a:srgbClr val="344B5E"/>
                </a:solidFill>
                <a:latin typeface="Arial" panose="020B0604020202020204"/>
                <a:cs typeface="Arial" panose="020B0604020202020204"/>
              </a:rPr>
              <a:t>of </a:t>
            </a:r>
            <a:r>
              <a:rPr b="1" spc="-25" dirty="0">
                <a:solidFill>
                  <a:srgbClr val="344B5E"/>
                </a:solidFill>
                <a:latin typeface="Arial" panose="020B0604020202020204"/>
                <a:cs typeface="Arial" panose="020B0604020202020204"/>
              </a:rPr>
              <a:t>Positive</a:t>
            </a:r>
            <a:r>
              <a:rPr b="1" spc="-305" dirty="0">
                <a:solidFill>
                  <a:srgbClr val="344B5E"/>
                </a:solidFill>
                <a:latin typeface="Arial" panose="020B0604020202020204"/>
                <a:cs typeface="Arial" panose="020B0604020202020204"/>
              </a:rPr>
              <a:t> </a:t>
            </a:r>
            <a:r>
              <a:rPr b="1" spc="-25" dirty="0">
                <a:solidFill>
                  <a:srgbClr val="344B5E"/>
                </a:solidFill>
                <a:latin typeface="Arial" panose="020B0604020202020204"/>
                <a:cs typeface="Arial" panose="020B0604020202020204"/>
              </a:rPr>
              <a:t>Nodes</a:t>
            </a:r>
            <a:endParaRPr dirty="0">
              <a:solidFill>
                <a:prstClr val="black"/>
              </a:solidFill>
              <a:latin typeface="Arial" panose="020B0604020202020204"/>
              <a:cs typeface="Arial" panose="020B0604020202020204"/>
            </a:endParaRPr>
          </a:p>
        </p:txBody>
      </p:sp>
      <p:sp>
        <p:nvSpPr>
          <p:cNvPr id="29" name="object 29"/>
          <p:cNvSpPr txBox="1"/>
          <p:nvPr/>
        </p:nvSpPr>
        <p:spPr>
          <a:xfrm>
            <a:off x="2747774" y="2509392"/>
            <a:ext cx="1186180" cy="299720"/>
          </a:xfrm>
          <a:prstGeom prst="rect">
            <a:avLst/>
          </a:prstGeom>
        </p:spPr>
        <p:txBody>
          <a:bodyPr vert="horz" wrap="square" lIns="0" tIns="12700" rIns="0" bIns="0" rtlCol="0">
            <a:spAutoFit/>
          </a:bodyPr>
          <a:lstStyle/>
          <a:p>
            <a:pPr marL="12700">
              <a:spcBef>
                <a:spcPts val="100"/>
              </a:spcBef>
            </a:pPr>
            <a:r>
              <a:rPr spc="-10" dirty="0">
                <a:solidFill>
                  <a:srgbClr val="344B5E"/>
                </a:solidFill>
                <a:latin typeface="Arial" panose="020B0604020202020204"/>
                <a:cs typeface="Arial" panose="020B0604020202020204"/>
              </a:rPr>
              <a:t>Lost:</a:t>
            </a:r>
            <a:r>
              <a:rPr spc="-160" dirty="0">
                <a:solidFill>
                  <a:srgbClr val="344B5E"/>
                </a:solidFill>
                <a:latin typeface="Arial" panose="020B0604020202020204"/>
                <a:cs typeface="Arial" panose="020B0604020202020204"/>
              </a:rPr>
              <a:t> </a:t>
            </a:r>
            <a:r>
              <a:rPr spc="5" dirty="0">
                <a:solidFill>
                  <a:srgbClr val="344B5E"/>
                </a:solidFill>
                <a:latin typeface="Arial" panose="020B0604020202020204"/>
                <a:cs typeface="Arial" panose="020B0604020202020204"/>
              </a:rPr>
              <a:t>1.0</a:t>
            </a:r>
            <a:endParaRPr dirty="0">
              <a:solidFill>
                <a:prstClr val="black"/>
              </a:solidFill>
              <a:latin typeface="Arial" panose="020B0604020202020204"/>
              <a:cs typeface="Arial" panose="020B0604020202020204"/>
            </a:endParaRPr>
          </a:p>
        </p:txBody>
      </p:sp>
      <p:sp>
        <p:nvSpPr>
          <p:cNvPr id="30" name="object 30"/>
          <p:cNvSpPr/>
          <p:nvPr/>
        </p:nvSpPr>
        <p:spPr>
          <a:xfrm>
            <a:off x="4464304" y="3685802"/>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84ADAF"/>
          </a:solidFill>
        </p:spPr>
        <p:txBody>
          <a:bodyPr wrap="square" lIns="0" tIns="0" rIns="0" bIns="0" rtlCol="0"/>
          <a:lstStyle/>
          <a:p>
            <a:endParaRPr>
              <a:solidFill>
                <a:prstClr val="black"/>
              </a:solidFill>
            </a:endParaRPr>
          </a:p>
        </p:txBody>
      </p:sp>
      <p:sp>
        <p:nvSpPr>
          <p:cNvPr id="31" name="object 31"/>
          <p:cNvSpPr/>
          <p:nvPr/>
        </p:nvSpPr>
        <p:spPr>
          <a:xfrm>
            <a:off x="4464304" y="3685802"/>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2"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344B5E"/>
            </a:solidFill>
          </a:ln>
        </p:spPr>
        <p:txBody>
          <a:bodyPr wrap="square" lIns="0" tIns="0" rIns="0" bIns="0" rtlCol="0"/>
          <a:lstStyle/>
          <a:p>
            <a:endParaRPr>
              <a:solidFill>
                <a:prstClr val="black"/>
              </a:solidFill>
            </a:endParaRPr>
          </a:p>
        </p:txBody>
      </p:sp>
      <p:sp>
        <p:nvSpPr>
          <p:cNvPr id="32" name="object 32"/>
          <p:cNvSpPr/>
          <p:nvPr/>
        </p:nvSpPr>
        <p:spPr>
          <a:xfrm>
            <a:off x="5268982" y="3685802"/>
            <a:ext cx="359833" cy="269875"/>
          </a:xfrm>
          <a:custGeom>
            <a:avLst/>
            <a:gdLst/>
            <a:ahLst/>
            <a:cxnLst/>
            <a:rect l="l" t="t" r="r" b="b"/>
            <a:pathLst>
              <a:path w="269875" h="269875">
                <a:moveTo>
                  <a:pt x="134873"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3"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3" y="0"/>
                </a:lnTo>
                <a:close/>
              </a:path>
            </a:pathLst>
          </a:custGeom>
          <a:solidFill>
            <a:srgbClr val="84ADAF"/>
          </a:solidFill>
        </p:spPr>
        <p:txBody>
          <a:bodyPr wrap="square" lIns="0" tIns="0" rIns="0" bIns="0" rtlCol="0"/>
          <a:lstStyle/>
          <a:p>
            <a:endParaRPr>
              <a:solidFill>
                <a:prstClr val="black"/>
              </a:solidFill>
            </a:endParaRPr>
          </a:p>
        </p:txBody>
      </p:sp>
      <p:sp>
        <p:nvSpPr>
          <p:cNvPr id="33" name="object 33"/>
          <p:cNvSpPr/>
          <p:nvPr/>
        </p:nvSpPr>
        <p:spPr>
          <a:xfrm>
            <a:off x="5268982" y="3685802"/>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3" y="0"/>
                </a:lnTo>
                <a:lnTo>
                  <a:pt x="177527" y="6870"/>
                </a:lnTo>
                <a:lnTo>
                  <a:pt x="214554" y="26005"/>
                </a:lnTo>
                <a:lnTo>
                  <a:pt x="243742" y="55193"/>
                </a:lnTo>
                <a:lnTo>
                  <a:pt x="262877" y="92220"/>
                </a:lnTo>
                <a:lnTo>
                  <a:pt x="269747" y="134874"/>
                </a:lnTo>
                <a:lnTo>
                  <a:pt x="262877" y="177527"/>
                </a:lnTo>
                <a:lnTo>
                  <a:pt x="243742" y="214554"/>
                </a:lnTo>
                <a:lnTo>
                  <a:pt x="214554" y="243742"/>
                </a:lnTo>
                <a:lnTo>
                  <a:pt x="177527" y="262877"/>
                </a:lnTo>
                <a:lnTo>
                  <a:pt x="134873" y="269748"/>
                </a:lnTo>
                <a:lnTo>
                  <a:pt x="92220" y="262877"/>
                </a:lnTo>
                <a:lnTo>
                  <a:pt x="55193" y="243742"/>
                </a:lnTo>
                <a:lnTo>
                  <a:pt x="26005" y="214554"/>
                </a:lnTo>
                <a:lnTo>
                  <a:pt x="6870" y="177527"/>
                </a:lnTo>
                <a:lnTo>
                  <a:pt x="0" y="134874"/>
                </a:lnTo>
                <a:close/>
              </a:path>
            </a:pathLst>
          </a:custGeom>
          <a:ln w="6096">
            <a:solidFill>
              <a:srgbClr val="344B5E"/>
            </a:solidFill>
          </a:ln>
        </p:spPr>
        <p:txBody>
          <a:bodyPr wrap="square" lIns="0" tIns="0" rIns="0" bIns="0" rtlCol="0"/>
          <a:lstStyle/>
          <a:p>
            <a:endParaRPr>
              <a:solidFill>
                <a:prstClr val="black"/>
              </a:solidFill>
            </a:endParaRPr>
          </a:p>
        </p:txBody>
      </p:sp>
      <p:sp>
        <p:nvSpPr>
          <p:cNvPr id="34" name="object 34"/>
          <p:cNvSpPr/>
          <p:nvPr/>
        </p:nvSpPr>
        <p:spPr>
          <a:xfrm>
            <a:off x="5699766" y="3685802"/>
            <a:ext cx="359833" cy="269875"/>
          </a:xfrm>
          <a:custGeom>
            <a:avLst/>
            <a:gdLst/>
            <a:ahLst/>
            <a:cxnLst/>
            <a:rect l="l" t="t" r="r" b="b"/>
            <a:pathLst>
              <a:path w="269875" h="269875">
                <a:moveTo>
                  <a:pt x="134874" y="0"/>
                </a:moveTo>
                <a:lnTo>
                  <a:pt x="92220" y="6870"/>
                </a:lnTo>
                <a:lnTo>
                  <a:pt x="55193" y="26005"/>
                </a:lnTo>
                <a:lnTo>
                  <a:pt x="26005" y="55193"/>
                </a:lnTo>
                <a:lnTo>
                  <a:pt x="6870" y="92220"/>
                </a:lnTo>
                <a:lnTo>
                  <a:pt x="0" y="134874"/>
                </a:lnTo>
                <a:lnTo>
                  <a:pt x="6870" y="177527"/>
                </a:lnTo>
                <a:lnTo>
                  <a:pt x="26005" y="214554"/>
                </a:lnTo>
                <a:lnTo>
                  <a:pt x="55193" y="243742"/>
                </a:lnTo>
                <a:lnTo>
                  <a:pt x="92220" y="262877"/>
                </a:lnTo>
                <a:lnTo>
                  <a:pt x="134874" y="269748"/>
                </a:lnTo>
                <a:lnTo>
                  <a:pt x="177527" y="262877"/>
                </a:lnTo>
                <a:lnTo>
                  <a:pt x="214554" y="243742"/>
                </a:lnTo>
                <a:lnTo>
                  <a:pt x="243742" y="214554"/>
                </a:lnTo>
                <a:lnTo>
                  <a:pt x="262877" y="177527"/>
                </a:lnTo>
                <a:lnTo>
                  <a:pt x="269747" y="134874"/>
                </a:lnTo>
                <a:lnTo>
                  <a:pt x="262877" y="92220"/>
                </a:lnTo>
                <a:lnTo>
                  <a:pt x="243742" y="55193"/>
                </a:lnTo>
                <a:lnTo>
                  <a:pt x="214554" y="26005"/>
                </a:lnTo>
                <a:lnTo>
                  <a:pt x="177527" y="6870"/>
                </a:lnTo>
                <a:lnTo>
                  <a:pt x="134874" y="0"/>
                </a:lnTo>
                <a:close/>
              </a:path>
            </a:pathLst>
          </a:custGeom>
          <a:solidFill>
            <a:srgbClr val="84ADAF"/>
          </a:solidFill>
        </p:spPr>
        <p:txBody>
          <a:bodyPr wrap="square" lIns="0" tIns="0" rIns="0" bIns="0" rtlCol="0"/>
          <a:lstStyle/>
          <a:p>
            <a:endParaRPr>
              <a:solidFill>
                <a:prstClr val="black"/>
              </a:solidFill>
            </a:endParaRPr>
          </a:p>
        </p:txBody>
      </p:sp>
      <p:sp>
        <p:nvSpPr>
          <p:cNvPr id="35" name="object 35"/>
          <p:cNvSpPr/>
          <p:nvPr/>
        </p:nvSpPr>
        <p:spPr>
          <a:xfrm>
            <a:off x="5699766" y="3685802"/>
            <a:ext cx="359833" cy="269875"/>
          </a:xfrm>
          <a:custGeom>
            <a:avLst/>
            <a:gdLst/>
            <a:ahLst/>
            <a:cxnLst/>
            <a:rect l="l" t="t" r="r" b="b"/>
            <a:pathLst>
              <a:path w="269875" h="269875">
                <a:moveTo>
                  <a:pt x="0" y="134874"/>
                </a:moveTo>
                <a:lnTo>
                  <a:pt x="6870" y="92220"/>
                </a:lnTo>
                <a:lnTo>
                  <a:pt x="26005" y="55193"/>
                </a:lnTo>
                <a:lnTo>
                  <a:pt x="55193" y="26005"/>
                </a:lnTo>
                <a:lnTo>
                  <a:pt x="92220" y="6870"/>
                </a:lnTo>
                <a:lnTo>
                  <a:pt x="134874" y="0"/>
                </a:lnTo>
                <a:lnTo>
                  <a:pt x="177527" y="6870"/>
                </a:lnTo>
                <a:lnTo>
                  <a:pt x="214554" y="26005"/>
                </a:lnTo>
                <a:lnTo>
                  <a:pt x="243742" y="55193"/>
                </a:lnTo>
                <a:lnTo>
                  <a:pt x="262877" y="92220"/>
                </a:lnTo>
                <a:lnTo>
                  <a:pt x="269747" y="134874"/>
                </a:lnTo>
                <a:lnTo>
                  <a:pt x="262877" y="177527"/>
                </a:lnTo>
                <a:lnTo>
                  <a:pt x="243742" y="214554"/>
                </a:lnTo>
                <a:lnTo>
                  <a:pt x="214554" y="243742"/>
                </a:lnTo>
                <a:lnTo>
                  <a:pt x="177527" y="262877"/>
                </a:lnTo>
                <a:lnTo>
                  <a:pt x="134874" y="269748"/>
                </a:lnTo>
                <a:lnTo>
                  <a:pt x="92220" y="262877"/>
                </a:lnTo>
                <a:lnTo>
                  <a:pt x="55193" y="243742"/>
                </a:lnTo>
                <a:lnTo>
                  <a:pt x="26005" y="214554"/>
                </a:lnTo>
                <a:lnTo>
                  <a:pt x="6870" y="177527"/>
                </a:lnTo>
                <a:lnTo>
                  <a:pt x="0" y="134874"/>
                </a:lnTo>
                <a:close/>
              </a:path>
            </a:pathLst>
          </a:custGeom>
          <a:ln w="6096">
            <a:solidFill>
              <a:srgbClr val="344B5E"/>
            </a:solidFill>
          </a:ln>
        </p:spPr>
        <p:txBody>
          <a:bodyPr wrap="square" lIns="0" tIns="0" rIns="0" bIns="0" rtlCol="0"/>
          <a:lstStyle/>
          <a:p>
            <a:endParaRPr>
              <a:solidFill>
                <a:prstClr val="black"/>
              </a:solidFill>
            </a:endParaRPr>
          </a:p>
        </p:txBody>
      </p:sp>
      <p:sp>
        <p:nvSpPr>
          <p:cNvPr id="36" name="object 36"/>
          <p:cNvSpPr/>
          <p:nvPr/>
        </p:nvSpPr>
        <p:spPr>
          <a:xfrm>
            <a:off x="6152896" y="3685802"/>
            <a:ext cx="362373" cy="269875"/>
          </a:xfrm>
          <a:custGeom>
            <a:avLst/>
            <a:gdLst/>
            <a:ahLst/>
            <a:cxnLst/>
            <a:rect l="l" t="t" r="r" b="b"/>
            <a:pathLst>
              <a:path w="271779" h="269875">
                <a:moveTo>
                  <a:pt x="135636" y="0"/>
                </a:moveTo>
                <a:lnTo>
                  <a:pt x="92756" y="6870"/>
                </a:lnTo>
                <a:lnTo>
                  <a:pt x="55522" y="26005"/>
                </a:lnTo>
                <a:lnTo>
                  <a:pt x="26164" y="55193"/>
                </a:lnTo>
                <a:lnTo>
                  <a:pt x="6912" y="92220"/>
                </a:lnTo>
                <a:lnTo>
                  <a:pt x="0" y="134874"/>
                </a:lnTo>
                <a:lnTo>
                  <a:pt x="6912" y="177527"/>
                </a:lnTo>
                <a:lnTo>
                  <a:pt x="26164" y="214554"/>
                </a:lnTo>
                <a:lnTo>
                  <a:pt x="55522" y="243742"/>
                </a:lnTo>
                <a:lnTo>
                  <a:pt x="92756" y="262877"/>
                </a:lnTo>
                <a:lnTo>
                  <a:pt x="135636" y="269748"/>
                </a:lnTo>
                <a:lnTo>
                  <a:pt x="178515" y="262877"/>
                </a:lnTo>
                <a:lnTo>
                  <a:pt x="215749" y="243742"/>
                </a:lnTo>
                <a:lnTo>
                  <a:pt x="245107" y="214554"/>
                </a:lnTo>
                <a:lnTo>
                  <a:pt x="264359" y="177527"/>
                </a:lnTo>
                <a:lnTo>
                  <a:pt x="271272" y="134874"/>
                </a:lnTo>
                <a:lnTo>
                  <a:pt x="264359" y="92220"/>
                </a:lnTo>
                <a:lnTo>
                  <a:pt x="245107" y="55193"/>
                </a:lnTo>
                <a:lnTo>
                  <a:pt x="215749" y="26005"/>
                </a:lnTo>
                <a:lnTo>
                  <a:pt x="178515" y="6870"/>
                </a:lnTo>
                <a:lnTo>
                  <a:pt x="135636" y="0"/>
                </a:lnTo>
                <a:close/>
              </a:path>
            </a:pathLst>
          </a:custGeom>
          <a:solidFill>
            <a:srgbClr val="84ADAF"/>
          </a:solidFill>
        </p:spPr>
        <p:txBody>
          <a:bodyPr wrap="square" lIns="0" tIns="0" rIns="0" bIns="0" rtlCol="0"/>
          <a:lstStyle/>
          <a:p>
            <a:endParaRPr>
              <a:solidFill>
                <a:prstClr val="black"/>
              </a:solidFill>
            </a:endParaRPr>
          </a:p>
        </p:txBody>
      </p:sp>
      <p:sp>
        <p:nvSpPr>
          <p:cNvPr id="37" name="object 37"/>
          <p:cNvSpPr/>
          <p:nvPr/>
        </p:nvSpPr>
        <p:spPr>
          <a:xfrm>
            <a:off x="6152896" y="3685802"/>
            <a:ext cx="362373" cy="269875"/>
          </a:xfrm>
          <a:custGeom>
            <a:avLst/>
            <a:gdLst/>
            <a:ahLst/>
            <a:cxnLst/>
            <a:rect l="l" t="t" r="r" b="b"/>
            <a:pathLst>
              <a:path w="271779" h="269875">
                <a:moveTo>
                  <a:pt x="0" y="134874"/>
                </a:moveTo>
                <a:lnTo>
                  <a:pt x="6912" y="92220"/>
                </a:lnTo>
                <a:lnTo>
                  <a:pt x="26164" y="55193"/>
                </a:lnTo>
                <a:lnTo>
                  <a:pt x="55522" y="26005"/>
                </a:lnTo>
                <a:lnTo>
                  <a:pt x="92756" y="6870"/>
                </a:lnTo>
                <a:lnTo>
                  <a:pt x="135636" y="0"/>
                </a:lnTo>
                <a:lnTo>
                  <a:pt x="178515" y="6870"/>
                </a:lnTo>
                <a:lnTo>
                  <a:pt x="215749" y="26005"/>
                </a:lnTo>
                <a:lnTo>
                  <a:pt x="245107" y="55193"/>
                </a:lnTo>
                <a:lnTo>
                  <a:pt x="264359" y="92220"/>
                </a:lnTo>
                <a:lnTo>
                  <a:pt x="271272" y="134874"/>
                </a:lnTo>
                <a:lnTo>
                  <a:pt x="264359" y="177527"/>
                </a:lnTo>
                <a:lnTo>
                  <a:pt x="245107" y="214554"/>
                </a:lnTo>
                <a:lnTo>
                  <a:pt x="215749" y="243742"/>
                </a:lnTo>
                <a:lnTo>
                  <a:pt x="178515" y="262877"/>
                </a:lnTo>
                <a:lnTo>
                  <a:pt x="135636" y="269748"/>
                </a:lnTo>
                <a:lnTo>
                  <a:pt x="92756" y="262877"/>
                </a:lnTo>
                <a:lnTo>
                  <a:pt x="55522" y="243742"/>
                </a:lnTo>
                <a:lnTo>
                  <a:pt x="26164" y="214554"/>
                </a:lnTo>
                <a:lnTo>
                  <a:pt x="6912" y="177527"/>
                </a:lnTo>
                <a:lnTo>
                  <a:pt x="0" y="134874"/>
                </a:lnTo>
                <a:close/>
              </a:path>
            </a:pathLst>
          </a:custGeom>
          <a:ln w="6096">
            <a:solidFill>
              <a:srgbClr val="344B5E"/>
            </a:solidFill>
          </a:ln>
        </p:spPr>
        <p:txBody>
          <a:bodyPr wrap="square" lIns="0" tIns="0" rIns="0" bIns="0" rtlCol="0"/>
          <a:lstStyle/>
          <a:p>
            <a:endParaRPr>
              <a:solidFill>
                <a:prstClr val="black"/>
              </a:solidFill>
            </a:endParaRPr>
          </a:p>
        </p:txBody>
      </p:sp>
      <p:sp>
        <p:nvSpPr>
          <p:cNvPr id="38" name="object 38"/>
          <p:cNvSpPr txBox="1"/>
          <p:nvPr/>
        </p:nvSpPr>
        <p:spPr>
          <a:xfrm>
            <a:off x="3374473" y="3059176"/>
            <a:ext cx="462280" cy="299720"/>
          </a:xfrm>
          <a:prstGeom prst="rect">
            <a:avLst/>
          </a:prstGeom>
        </p:spPr>
        <p:txBody>
          <a:bodyPr vert="horz" wrap="square" lIns="0" tIns="12700" rIns="0" bIns="0" rtlCol="0">
            <a:spAutoFit/>
          </a:bodyPr>
          <a:lstStyle/>
          <a:p>
            <a:pPr marL="12700">
              <a:spcBef>
                <a:spcPts val="100"/>
              </a:spcBef>
            </a:pPr>
            <a:r>
              <a:rPr spc="5" dirty="0">
                <a:solidFill>
                  <a:srgbClr val="344B5E"/>
                </a:solidFill>
                <a:latin typeface="Arial" panose="020B0604020202020204"/>
                <a:cs typeface="Arial" panose="020B0604020202020204"/>
              </a:rPr>
              <a:t>0.5</a:t>
            </a:r>
            <a:endParaRPr>
              <a:solidFill>
                <a:prstClr val="black"/>
              </a:solidFill>
              <a:latin typeface="Arial" panose="020B0604020202020204"/>
              <a:cs typeface="Arial" panose="020B0604020202020204"/>
            </a:endParaRPr>
          </a:p>
        </p:txBody>
      </p:sp>
      <p:sp>
        <p:nvSpPr>
          <p:cNvPr id="45" name="object 45"/>
          <p:cNvSpPr/>
          <p:nvPr/>
        </p:nvSpPr>
        <p:spPr>
          <a:xfrm>
            <a:off x="4186941" y="2618240"/>
            <a:ext cx="6659033" cy="1214755"/>
          </a:xfrm>
          <a:custGeom>
            <a:avLst/>
            <a:gdLst/>
            <a:ahLst/>
            <a:cxnLst/>
            <a:rect l="l" t="t" r="r" b="b"/>
            <a:pathLst>
              <a:path w="4994275" h="1214755">
                <a:moveTo>
                  <a:pt x="4993767" y="36321"/>
                </a:moveTo>
                <a:lnTo>
                  <a:pt x="4849368" y="32638"/>
                </a:lnTo>
                <a:lnTo>
                  <a:pt x="4705350" y="29082"/>
                </a:lnTo>
                <a:lnTo>
                  <a:pt x="4561967" y="25653"/>
                </a:lnTo>
                <a:lnTo>
                  <a:pt x="4419600" y="22225"/>
                </a:lnTo>
                <a:lnTo>
                  <a:pt x="4278630" y="18922"/>
                </a:lnTo>
                <a:lnTo>
                  <a:pt x="4139311" y="15747"/>
                </a:lnTo>
                <a:lnTo>
                  <a:pt x="4002024" y="12826"/>
                </a:lnTo>
                <a:lnTo>
                  <a:pt x="3867023" y="10159"/>
                </a:lnTo>
                <a:lnTo>
                  <a:pt x="3734689" y="7619"/>
                </a:lnTo>
                <a:lnTo>
                  <a:pt x="3605529" y="5460"/>
                </a:lnTo>
                <a:lnTo>
                  <a:pt x="3479673" y="3682"/>
                </a:lnTo>
                <a:lnTo>
                  <a:pt x="3357499" y="2158"/>
                </a:lnTo>
                <a:lnTo>
                  <a:pt x="3239389" y="1015"/>
                </a:lnTo>
                <a:lnTo>
                  <a:pt x="3125597" y="253"/>
                </a:lnTo>
                <a:lnTo>
                  <a:pt x="3016631" y="0"/>
                </a:lnTo>
                <a:lnTo>
                  <a:pt x="2912618" y="253"/>
                </a:lnTo>
                <a:lnTo>
                  <a:pt x="2814066" y="888"/>
                </a:lnTo>
                <a:lnTo>
                  <a:pt x="2721229" y="2158"/>
                </a:lnTo>
                <a:lnTo>
                  <a:pt x="2634361" y="3937"/>
                </a:lnTo>
                <a:lnTo>
                  <a:pt x="2553970" y="6476"/>
                </a:lnTo>
                <a:lnTo>
                  <a:pt x="2480564" y="8635"/>
                </a:lnTo>
                <a:lnTo>
                  <a:pt x="2414270" y="9905"/>
                </a:lnTo>
                <a:lnTo>
                  <a:pt x="2354580" y="10540"/>
                </a:lnTo>
                <a:lnTo>
                  <a:pt x="2300986" y="10667"/>
                </a:lnTo>
                <a:lnTo>
                  <a:pt x="2253107" y="10667"/>
                </a:lnTo>
                <a:lnTo>
                  <a:pt x="2210562" y="10667"/>
                </a:lnTo>
                <a:lnTo>
                  <a:pt x="2139315" y="11810"/>
                </a:lnTo>
                <a:lnTo>
                  <a:pt x="2060321" y="19430"/>
                </a:lnTo>
                <a:lnTo>
                  <a:pt x="2021077" y="31368"/>
                </a:lnTo>
                <a:lnTo>
                  <a:pt x="1988312" y="50926"/>
                </a:lnTo>
                <a:lnTo>
                  <a:pt x="1958213" y="80137"/>
                </a:lnTo>
                <a:lnTo>
                  <a:pt x="1927225" y="120650"/>
                </a:lnTo>
                <a:lnTo>
                  <a:pt x="1894586" y="175640"/>
                </a:lnTo>
                <a:lnTo>
                  <a:pt x="1873503" y="250824"/>
                </a:lnTo>
                <a:lnTo>
                  <a:pt x="1867408" y="295147"/>
                </a:lnTo>
                <a:lnTo>
                  <a:pt x="1863852" y="342899"/>
                </a:lnTo>
                <a:lnTo>
                  <a:pt x="1862327" y="393826"/>
                </a:lnTo>
                <a:lnTo>
                  <a:pt x="1862455" y="447039"/>
                </a:lnTo>
                <a:lnTo>
                  <a:pt x="1863978" y="502030"/>
                </a:lnTo>
                <a:lnTo>
                  <a:pt x="1866392" y="558291"/>
                </a:lnTo>
                <a:lnTo>
                  <a:pt x="1869439" y="615060"/>
                </a:lnTo>
                <a:lnTo>
                  <a:pt x="1872614" y="671829"/>
                </a:lnTo>
                <a:lnTo>
                  <a:pt x="1875663" y="727963"/>
                </a:lnTo>
                <a:lnTo>
                  <a:pt x="1878202" y="782827"/>
                </a:lnTo>
                <a:lnTo>
                  <a:pt x="1879727" y="835913"/>
                </a:lnTo>
                <a:lnTo>
                  <a:pt x="1879853" y="886586"/>
                </a:lnTo>
                <a:lnTo>
                  <a:pt x="1878457" y="934084"/>
                </a:lnTo>
                <a:lnTo>
                  <a:pt x="1874901" y="978026"/>
                </a:lnTo>
                <a:lnTo>
                  <a:pt x="1868932" y="1017650"/>
                </a:lnTo>
                <a:lnTo>
                  <a:pt x="1847977" y="1081785"/>
                </a:lnTo>
                <a:lnTo>
                  <a:pt x="1820418" y="1127251"/>
                </a:lnTo>
                <a:lnTo>
                  <a:pt x="1791589" y="1159636"/>
                </a:lnTo>
                <a:lnTo>
                  <a:pt x="1725295" y="1193672"/>
                </a:lnTo>
                <a:lnTo>
                  <a:pt x="1685163" y="1199387"/>
                </a:lnTo>
                <a:lnTo>
                  <a:pt x="1638427" y="1200530"/>
                </a:lnTo>
                <a:lnTo>
                  <a:pt x="1612264" y="1200022"/>
                </a:lnTo>
                <a:lnTo>
                  <a:pt x="1583944" y="1199133"/>
                </a:lnTo>
                <a:lnTo>
                  <a:pt x="1553337" y="1198244"/>
                </a:lnTo>
                <a:lnTo>
                  <a:pt x="1520317" y="1197482"/>
                </a:lnTo>
                <a:lnTo>
                  <a:pt x="1484630" y="1197101"/>
                </a:lnTo>
                <a:lnTo>
                  <a:pt x="1446149" y="1197482"/>
                </a:lnTo>
                <a:lnTo>
                  <a:pt x="1404620" y="1198752"/>
                </a:lnTo>
                <a:lnTo>
                  <a:pt x="1360043" y="1201292"/>
                </a:lnTo>
                <a:lnTo>
                  <a:pt x="1308481" y="1204213"/>
                </a:lnTo>
                <a:lnTo>
                  <a:pt x="1247139" y="1206753"/>
                </a:lnTo>
                <a:lnTo>
                  <a:pt x="1177289" y="1208912"/>
                </a:lnTo>
                <a:lnTo>
                  <a:pt x="1100327" y="1210563"/>
                </a:lnTo>
                <a:lnTo>
                  <a:pt x="1017651" y="1211960"/>
                </a:lnTo>
                <a:lnTo>
                  <a:pt x="930401" y="1212976"/>
                </a:lnTo>
                <a:lnTo>
                  <a:pt x="840232" y="1213611"/>
                </a:lnTo>
                <a:lnTo>
                  <a:pt x="748284" y="1214119"/>
                </a:lnTo>
                <a:lnTo>
                  <a:pt x="655955" y="1214246"/>
                </a:lnTo>
                <a:lnTo>
                  <a:pt x="564514" y="1214373"/>
                </a:lnTo>
                <a:lnTo>
                  <a:pt x="475488" y="1214246"/>
                </a:lnTo>
                <a:lnTo>
                  <a:pt x="390017" y="1213992"/>
                </a:lnTo>
                <a:lnTo>
                  <a:pt x="309625" y="1213611"/>
                </a:lnTo>
                <a:lnTo>
                  <a:pt x="235585" y="1213103"/>
                </a:lnTo>
                <a:lnTo>
                  <a:pt x="169163" y="1212722"/>
                </a:lnTo>
                <a:lnTo>
                  <a:pt x="111887" y="1212214"/>
                </a:lnTo>
                <a:lnTo>
                  <a:pt x="64897" y="1211833"/>
                </a:lnTo>
                <a:lnTo>
                  <a:pt x="29718" y="1211579"/>
                </a:lnTo>
                <a:lnTo>
                  <a:pt x="7620" y="1211325"/>
                </a:lnTo>
                <a:lnTo>
                  <a:pt x="0" y="1211198"/>
                </a:lnTo>
              </a:path>
            </a:pathLst>
          </a:custGeom>
          <a:ln w="38100">
            <a:solidFill>
              <a:srgbClr val="FFC000"/>
            </a:solidFill>
          </a:ln>
        </p:spPr>
        <p:txBody>
          <a:bodyPr wrap="square" lIns="0" tIns="0" rIns="0" bIns="0" rtlCol="0"/>
          <a:lstStyle/>
          <a:p>
            <a:endParaRPr>
              <a:solidFill>
                <a:prstClr val="black"/>
              </a:solidFill>
            </a:endParaRPr>
          </a:p>
        </p:txBody>
      </p:sp>
      <p:sp>
        <p:nvSpPr>
          <p:cNvPr id="46" name="object 46"/>
          <p:cNvSpPr/>
          <p:nvPr/>
        </p:nvSpPr>
        <p:spPr>
          <a:xfrm>
            <a:off x="6692392" y="2257052"/>
            <a:ext cx="0" cy="1712595"/>
          </a:xfrm>
          <a:custGeom>
            <a:avLst/>
            <a:gdLst/>
            <a:ahLst/>
            <a:cxnLst/>
            <a:rect l="l" t="t" r="r" b="b"/>
            <a:pathLst>
              <a:path h="1712595">
                <a:moveTo>
                  <a:pt x="0" y="1712340"/>
                </a:moveTo>
                <a:lnTo>
                  <a:pt x="0" y="0"/>
                </a:lnTo>
              </a:path>
            </a:pathLst>
          </a:custGeom>
          <a:ln w="53340">
            <a:solidFill>
              <a:srgbClr val="6F2F9F"/>
            </a:solidFill>
            <a:prstDash val="lgDash"/>
          </a:ln>
        </p:spPr>
        <p:txBody>
          <a:bodyPr wrap="square" lIns="0" tIns="0" rIns="0" bIns="0" rtlCol="0"/>
          <a:lstStyle/>
          <a:p>
            <a:endParaRPr>
              <a:solidFill>
                <a:prstClr val="black"/>
              </a:solidFill>
            </a:endParaRPr>
          </a:p>
        </p:txBody>
      </p:sp>
      <p:sp>
        <p:nvSpPr>
          <p:cNvPr id="48" name="object 20"/>
          <p:cNvSpPr txBox="1"/>
          <p:nvPr/>
        </p:nvSpPr>
        <p:spPr>
          <a:xfrm>
            <a:off x="420798" y="2423614"/>
            <a:ext cx="1563553" cy="1120820"/>
          </a:xfrm>
          <a:prstGeom prst="rect">
            <a:avLst/>
          </a:prstGeom>
        </p:spPr>
        <p:txBody>
          <a:bodyPr vert="horz" wrap="square" lIns="0" tIns="12700" rIns="0" bIns="0" rtlCol="0">
            <a:spAutoFit/>
          </a:bodyPr>
          <a:lstStyle/>
          <a:p>
            <a:pPr marL="12065" marR="5080" indent="-1905" algn="ctr">
              <a:spcBef>
                <a:spcPts val="100"/>
              </a:spcBef>
            </a:pPr>
            <a:r>
              <a:rPr lang="zh-CN" altLang="en-US" sz="2400" dirty="0">
                <a:solidFill>
                  <a:prstClr val="black"/>
                </a:solidFill>
                <a:latin typeface="Arial" panose="020B0604020202020204"/>
                <a:cs typeface="Arial" panose="020B0604020202020204"/>
              </a:rPr>
              <a:t>癌症病人治疗</a:t>
            </a:r>
            <a:r>
              <a:rPr lang="en-US" altLang="zh-CN" sz="2400" dirty="0">
                <a:solidFill>
                  <a:prstClr val="black"/>
                </a:solidFill>
                <a:latin typeface="Arial" panose="020B0604020202020204"/>
                <a:cs typeface="Arial" panose="020B0604020202020204"/>
              </a:rPr>
              <a:t>5</a:t>
            </a:r>
            <a:r>
              <a:rPr lang="zh-CN" altLang="en-US" sz="2400" dirty="0">
                <a:solidFill>
                  <a:prstClr val="black"/>
                </a:solidFill>
                <a:latin typeface="Arial" panose="020B0604020202020204"/>
                <a:cs typeface="Arial" panose="020B0604020202020204"/>
              </a:rPr>
              <a:t>年之后的状况</a:t>
            </a:r>
            <a:endParaRPr sz="2400" dirty="0">
              <a:solidFill>
                <a:prstClr val="black"/>
              </a:solidFill>
              <a:latin typeface="Arial" panose="020B0604020202020204"/>
              <a:cs typeface="Arial" panose="020B0604020202020204"/>
            </a:endParaRPr>
          </a:p>
        </p:txBody>
      </p:sp>
      <p:sp>
        <p:nvSpPr>
          <p:cNvPr id="49" name="object 31"/>
          <p:cNvSpPr/>
          <p:nvPr/>
        </p:nvSpPr>
        <p:spPr>
          <a:xfrm>
            <a:off x="3965301" y="4549865"/>
            <a:ext cx="6546241" cy="789940"/>
          </a:xfrm>
          <a:custGeom>
            <a:avLst/>
            <a:gdLst/>
            <a:ahLst/>
            <a:cxnLst/>
            <a:rect l="l" t="t" r="r" b="b"/>
            <a:pathLst>
              <a:path w="5146675" h="789939">
                <a:moveTo>
                  <a:pt x="0" y="789432"/>
                </a:moveTo>
                <a:lnTo>
                  <a:pt x="5146548" y="789432"/>
                </a:lnTo>
                <a:lnTo>
                  <a:pt x="5146548" y="0"/>
                </a:lnTo>
                <a:lnTo>
                  <a:pt x="0" y="0"/>
                </a:lnTo>
                <a:lnTo>
                  <a:pt x="0" y="789432"/>
                </a:lnTo>
                <a:close/>
              </a:path>
            </a:pathLst>
          </a:custGeom>
          <a:solidFill>
            <a:srgbClr val="E6EEEE"/>
          </a:solidFill>
        </p:spPr>
        <p:txBody>
          <a:bodyPr wrap="square" lIns="0" tIns="0" rIns="0" bIns="0" rtlCol="0"/>
          <a:lstStyle/>
          <a:p>
            <a:endParaRPr>
              <a:solidFill>
                <a:prstClr val="black"/>
              </a:solidFill>
            </a:endParaRPr>
          </a:p>
        </p:txBody>
      </p:sp>
      <p:sp>
        <p:nvSpPr>
          <p:cNvPr id="50" name="object 32"/>
          <p:cNvSpPr txBox="1"/>
          <p:nvPr/>
        </p:nvSpPr>
        <p:spPr>
          <a:xfrm>
            <a:off x="4980093" y="4851755"/>
            <a:ext cx="289560" cy="382270"/>
          </a:xfrm>
          <a:prstGeom prst="rect">
            <a:avLst/>
          </a:prstGeom>
        </p:spPr>
        <p:txBody>
          <a:bodyPr vert="horz" wrap="square" lIns="0" tIns="11430" rIns="0" bIns="0" rtlCol="0">
            <a:spAutoFit/>
          </a:bodyPr>
          <a:lstStyle/>
          <a:p>
            <a:pPr>
              <a:spcBef>
                <a:spcPts val="90"/>
              </a:spcBef>
            </a:pPr>
            <a:r>
              <a:rPr sz="2350" spc="-745" dirty="0">
                <a:solidFill>
                  <a:srgbClr val="344B5E"/>
                </a:solidFill>
                <a:latin typeface="Verdana" panose="020B0604030504040204"/>
                <a:cs typeface="Verdana" panose="020B0604030504040204"/>
              </a:rPr>
              <a:t>𝛽</a:t>
            </a:r>
            <a:endParaRPr sz="2350">
              <a:solidFill>
                <a:prstClr val="black"/>
              </a:solidFill>
              <a:latin typeface="Verdana" panose="020B0604030504040204"/>
              <a:cs typeface="Verdana" panose="020B0604030504040204"/>
            </a:endParaRPr>
          </a:p>
        </p:txBody>
      </p:sp>
      <p:sp>
        <p:nvSpPr>
          <p:cNvPr id="51" name="object 33"/>
          <p:cNvSpPr/>
          <p:nvPr/>
        </p:nvSpPr>
        <p:spPr>
          <a:xfrm>
            <a:off x="5172544" y="4796260"/>
            <a:ext cx="658707" cy="377190"/>
          </a:xfrm>
          <a:custGeom>
            <a:avLst/>
            <a:gdLst/>
            <a:ahLst/>
            <a:cxnLst/>
            <a:rect l="l" t="t" r="r" b="b"/>
            <a:pathLst>
              <a:path w="494029" h="377189">
                <a:moveTo>
                  <a:pt x="373506" y="0"/>
                </a:moveTo>
                <a:lnTo>
                  <a:pt x="368045" y="15303"/>
                </a:lnTo>
                <a:lnTo>
                  <a:pt x="389858" y="24771"/>
                </a:lnTo>
                <a:lnTo>
                  <a:pt x="408622" y="37877"/>
                </a:lnTo>
                <a:lnTo>
                  <a:pt x="437006" y="75006"/>
                </a:lnTo>
                <a:lnTo>
                  <a:pt x="453691" y="125099"/>
                </a:lnTo>
                <a:lnTo>
                  <a:pt x="459231" y="186575"/>
                </a:lnTo>
                <a:lnTo>
                  <a:pt x="457846" y="219815"/>
                </a:lnTo>
                <a:lnTo>
                  <a:pt x="446694" y="277137"/>
                </a:lnTo>
                <a:lnTo>
                  <a:pt x="424259" y="321902"/>
                </a:lnTo>
                <a:lnTo>
                  <a:pt x="390159" y="352096"/>
                </a:lnTo>
                <a:lnTo>
                  <a:pt x="368680" y="361607"/>
                </a:lnTo>
                <a:lnTo>
                  <a:pt x="373506" y="376910"/>
                </a:lnTo>
                <a:lnTo>
                  <a:pt x="424846" y="352794"/>
                </a:lnTo>
                <a:lnTo>
                  <a:pt x="462660" y="311048"/>
                </a:lnTo>
                <a:lnTo>
                  <a:pt x="485917" y="255146"/>
                </a:lnTo>
                <a:lnTo>
                  <a:pt x="493648" y="188556"/>
                </a:lnTo>
                <a:lnTo>
                  <a:pt x="491698" y="154004"/>
                </a:lnTo>
                <a:lnTo>
                  <a:pt x="476128" y="92759"/>
                </a:lnTo>
                <a:lnTo>
                  <a:pt x="445319" y="42900"/>
                </a:lnTo>
                <a:lnTo>
                  <a:pt x="400794" y="9870"/>
                </a:lnTo>
                <a:lnTo>
                  <a:pt x="373506" y="0"/>
                </a:lnTo>
                <a:close/>
              </a:path>
              <a:path w="494029" h="377189">
                <a:moveTo>
                  <a:pt x="120268" y="0"/>
                </a:moveTo>
                <a:lnTo>
                  <a:pt x="68976" y="24169"/>
                </a:lnTo>
                <a:lnTo>
                  <a:pt x="31114" y="66065"/>
                </a:lnTo>
                <a:lnTo>
                  <a:pt x="7794" y="122072"/>
                </a:lnTo>
                <a:lnTo>
                  <a:pt x="0" y="188556"/>
                </a:lnTo>
                <a:lnTo>
                  <a:pt x="1950" y="223187"/>
                </a:lnTo>
                <a:lnTo>
                  <a:pt x="17520" y="284433"/>
                </a:lnTo>
                <a:lnTo>
                  <a:pt x="48259" y="334124"/>
                </a:lnTo>
                <a:lnTo>
                  <a:pt x="92836" y="367057"/>
                </a:lnTo>
                <a:lnTo>
                  <a:pt x="120268" y="376910"/>
                </a:lnTo>
                <a:lnTo>
                  <a:pt x="125094" y="361607"/>
                </a:lnTo>
                <a:lnTo>
                  <a:pt x="103596" y="352096"/>
                </a:lnTo>
                <a:lnTo>
                  <a:pt x="85026" y="338861"/>
                </a:lnTo>
                <a:lnTo>
                  <a:pt x="56768" y="301218"/>
                </a:lnTo>
                <a:lnTo>
                  <a:pt x="40020" y="250002"/>
                </a:lnTo>
                <a:lnTo>
                  <a:pt x="34416" y="186575"/>
                </a:lnTo>
                <a:lnTo>
                  <a:pt x="35819" y="154414"/>
                </a:lnTo>
                <a:lnTo>
                  <a:pt x="47007" y="98630"/>
                </a:lnTo>
                <a:lnTo>
                  <a:pt x="69435" y="54622"/>
                </a:lnTo>
                <a:lnTo>
                  <a:pt x="103864" y="24771"/>
                </a:lnTo>
                <a:lnTo>
                  <a:pt x="125602" y="15303"/>
                </a:lnTo>
                <a:lnTo>
                  <a:pt x="120268" y="0"/>
                </a:lnTo>
                <a:close/>
              </a:path>
            </a:pathLst>
          </a:custGeom>
          <a:solidFill>
            <a:srgbClr val="344B5E"/>
          </a:solidFill>
        </p:spPr>
        <p:txBody>
          <a:bodyPr wrap="square" lIns="0" tIns="0" rIns="0" bIns="0" rtlCol="0"/>
          <a:lstStyle/>
          <a:p>
            <a:endParaRPr>
              <a:solidFill>
                <a:prstClr val="black"/>
              </a:solidFill>
            </a:endParaRPr>
          </a:p>
        </p:txBody>
      </p:sp>
      <p:sp>
        <p:nvSpPr>
          <p:cNvPr id="52" name="object 34"/>
          <p:cNvSpPr txBox="1"/>
          <p:nvPr/>
        </p:nvSpPr>
        <p:spPr>
          <a:xfrm>
            <a:off x="4719996" y="4659739"/>
            <a:ext cx="1098973" cy="513715"/>
          </a:xfrm>
          <a:prstGeom prst="rect">
            <a:avLst/>
          </a:prstGeom>
        </p:spPr>
        <p:txBody>
          <a:bodyPr vert="horz" wrap="square" lIns="0" tIns="12700" rIns="0" bIns="0" rtlCol="0">
            <a:spAutoFit/>
          </a:bodyPr>
          <a:lstStyle/>
          <a:p>
            <a:pPr>
              <a:spcBef>
                <a:spcPts val="100"/>
              </a:spcBef>
              <a:tabLst>
                <a:tab pos="593725" algn="l"/>
              </a:tabLst>
            </a:pPr>
            <a:r>
              <a:rPr sz="3200" spc="-1410" dirty="0">
                <a:solidFill>
                  <a:srgbClr val="344B5E"/>
                </a:solidFill>
                <a:latin typeface="Verdana" panose="020B0604030504040204"/>
                <a:cs typeface="Verdana" panose="020B0604030504040204"/>
              </a:rPr>
              <a:t>𝑦	</a:t>
            </a:r>
            <a:r>
              <a:rPr sz="3200" spc="-1495" dirty="0">
                <a:solidFill>
                  <a:srgbClr val="344B5E"/>
                </a:solidFill>
                <a:latin typeface="Verdana" panose="020B0604030504040204"/>
                <a:cs typeface="Verdana" panose="020B0604030504040204"/>
              </a:rPr>
              <a:t>𝑥</a:t>
            </a:r>
            <a:endParaRPr sz="3200" dirty="0">
              <a:solidFill>
                <a:prstClr val="black"/>
              </a:solidFill>
              <a:latin typeface="Verdana" panose="020B0604030504040204"/>
              <a:cs typeface="Verdana" panose="020B0604030504040204"/>
            </a:endParaRPr>
          </a:p>
        </p:txBody>
      </p:sp>
      <p:sp>
        <p:nvSpPr>
          <p:cNvPr id="53" name="object 35"/>
          <p:cNvSpPr/>
          <p:nvPr/>
        </p:nvSpPr>
        <p:spPr>
          <a:xfrm flipV="1">
            <a:off x="6680873" y="4806042"/>
            <a:ext cx="2217256" cy="45719"/>
          </a:xfrm>
          <a:custGeom>
            <a:avLst/>
            <a:gdLst/>
            <a:ahLst/>
            <a:cxnLst/>
            <a:rect l="l" t="t" r="r" b="b"/>
            <a:pathLst>
              <a:path w="2565400">
                <a:moveTo>
                  <a:pt x="0" y="0"/>
                </a:moveTo>
                <a:lnTo>
                  <a:pt x="2564891" y="0"/>
                </a:lnTo>
              </a:path>
            </a:pathLst>
          </a:custGeom>
          <a:ln w="25908">
            <a:solidFill>
              <a:srgbClr val="344B5E"/>
            </a:solidFill>
          </a:ln>
        </p:spPr>
        <p:txBody>
          <a:bodyPr wrap="square" lIns="0" tIns="0" rIns="0" bIns="0" rtlCol="0"/>
          <a:lstStyle/>
          <a:p>
            <a:endParaRPr>
              <a:solidFill>
                <a:prstClr val="black"/>
              </a:solidFill>
            </a:endParaRPr>
          </a:p>
        </p:txBody>
      </p:sp>
      <p:sp>
        <p:nvSpPr>
          <p:cNvPr id="54" name="object 36"/>
          <p:cNvSpPr txBox="1"/>
          <p:nvPr/>
        </p:nvSpPr>
        <p:spPr>
          <a:xfrm>
            <a:off x="6189137" y="4421683"/>
            <a:ext cx="4103115" cy="833562"/>
          </a:xfrm>
          <a:prstGeom prst="rect">
            <a:avLst/>
          </a:prstGeom>
        </p:spPr>
        <p:txBody>
          <a:bodyPr vert="horz" wrap="square" lIns="0" tIns="12700" rIns="0" bIns="0" rtlCol="0">
            <a:spAutoFit/>
          </a:bodyPr>
          <a:lstStyle/>
          <a:p>
            <a:pPr>
              <a:lnSpc>
                <a:spcPts val="3715"/>
              </a:lnSpc>
              <a:spcBef>
                <a:spcPts val="100"/>
              </a:spcBef>
              <a:tabLst>
                <a:tab pos="1612265" algn="l"/>
              </a:tabLst>
            </a:pPr>
            <a:r>
              <a:rPr sz="4800" baseline="-32000" dirty="0">
                <a:solidFill>
                  <a:srgbClr val="344B5E"/>
                </a:solidFill>
                <a:latin typeface="Verdana" panose="020B0604030504040204"/>
                <a:cs typeface="Verdana" panose="020B0604030504040204"/>
              </a:rPr>
              <a:t>=	</a:t>
            </a:r>
            <a:r>
              <a:rPr sz="2350" dirty="0">
                <a:solidFill>
                  <a:srgbClr val="344B5E"/>
                </a:solidFill>
                <a:latin typeface="Verdana" panose="020B0604030504040204"/>
                <a:cs typeface="Verdana" panose="020B0604030504040204"/>
              </a:rPr>
              <a:t>1</a:t>
            </a:r>
            <a:endParaRPr sz="2350" dirty="0">
              <a:solidFill>
                <a:prstClr val="black"/>
              </a:solidFill>
              <a:latin typeface="Verdana" panose="020B0604030504040204"/>
              <a:cs typeface="Verdana" panose="020B0604030504040204"/>
            </a:endParaRPr>
          </a:p>
          <a:p>
            <a:pPr marL="415925">
              <a:lnSpc>
                <a:spcPts val="2695"/>
              </a:lnSpc>
            </a:pPr>
            <a:r>
              <a:rPr lang="en-US" sz="2400" dirty="0">
                <a:solidFill>
                  <a:srgbClr val="344B5E"/>
                </a:solidFill>
                <a:latin typeface="Verdana" panose="020B0604030504040204"/>
                <a:cs typeface="Verdana" panose="020B0604030504040204"/>
              </a:rPr>
              <a:t>   </a:t>
            </a:r>
            <a:r>
              <a:rPr sz="2400" dirty="0">
                <a:solidFill>
                  <a:srgbClr val="344B5E"/>
                </a:solidFill>
                <a:latin typeface="Verdana" panose="020B0604030504040204"/>
                <a:cs typeface="Verdana" panose="020B0604030504040204"/>
              </a:rPr>
              <a:t>1+𝑒</a:t>
            </a:r>
            <a:r>
              <a:rPr sz="2400" baseline="30000" dirty="0">
                <a:solidFill>
                  <a:srgbClr val="344B5E"/>
                </a:solidFill>
                <a:latin typeface="Verdana" panose="020B0604030504040204"/>
                <a:cs typeface="Verdana" panose="020B0604030504040204"/>
              </a:rPr>
              <a:t>−(𝛽</a:t>
            </a:r>
            <a:r>
              <a:rPr baseline="30000" dirty="0">
                <a:solidFill>
                  <a:srgbClr val="344B5E"/>
                </a:solidFill>
                <a:latin typeface="Verdana" panose="020B0604030504040204"/>
                <a:cs typeface="Verdana" panose="020B0604030504040204"/>
              </a:rPr>
              <a:t>0</a:t>
            </a:r>
            <a:r>
              <a:rPr sz="2400" baseline="30000" dirty="0">
                <a:solidFill>
                  <a:srgbClr val="344B5E"/>
                </a:solidFill>
                <a:latin typeface="Verdana" panose="020B0604030504040204"/>
                <a:cs typeface="Verdana" panose="020B0604030504040204"/>
              </a:rPr>
              <a:t>+ 𝛽</a:t>
            </a:r>
            <a:r>
              <a:rPr baseline="30000" dirty="0">
                <a:solidFill>
                  <a:srgbClr val="344B5E"/>
                </a:solidFill>
                <a:latin typeface="Verdana" panose="020B0604030504040204"/>
                <a:cs typeface="Verdana" panose="020B0604030504040204"/>
              </a:rPr>
              <a:t>1</a:t>
            </a:r>
            <a:r>
              <a:rPr sz="2400" baseline="30000" dirty="0">
                <a:solidFill>
                  <a:srgbClr val="344B5E"/>
                </a:solidFill>
                <a:latin typeface="Verdana" panose="020B0604030504040204"/>
                <a:cs typeface="Verdana" panose="020B0604030504040204"/>
              </a:rPr>
              <a:t>𝑥)</a:t>
            </a:r>
            <a:endParaRPr sz="2400" baseline="30000" dirty="0">
              <a:solidFill>
                <a:prstClr val="black"/>
              </a:solidFill>
              <a:latin typeface="Verdana" panose="020B0604030504040204"/>
              <a:cs typeface="Verdana" panose="020B0604030504040204"/>
            </a:endParaRPr>
          </a:p>
        </p:txBody>
      </p:sp>
      <p:sp>
        <p:nvSpPr>
          <p:cNvPr id="56" name="标题 55"/>
          <p:cNvSpPr>
            <a:spLocks noGrp="1"/>
          </p:cNvSpPr>
          <p:nvPr>
            <p:ph type="title"/>
          </p:nvPr>
        </p:nvSpPr>
        <p:spPr/>
        <p:txBody>
          <a:bodyPr/>
          <a:lstStyle/>
          <a:p>
            <a:r>
              <a:rPr lang="zh-CN" altLang="en-US" dirty="0"/>
              <a:t>逻辑回归</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4805340" y="1551697"/>
            <a:ext cx="5098152" cy="972057"/>
            <a:chOff x="4903725" y="2148218"/>
            <a:chExt cx="5098152" cy="972057"/>
          </a:xfrm>
        </p:grpSpPr>
        <p:sp>
          <p:nvSpPr>
            <p:cNvPr id="3" name="object 3"/>
            <p:cNvSpPr/>
            <p:nvPr/>
          </p:nvSpPr>
          <p:spPr>
            <a:xfrm>
              <a:off x="5138760" y="2491232"/>
              <a:ext cx="660400" cy="377190"/>
            </a:xfrm>
            <a:custGeom>
              <a:avLst/>
              <a:gdLst/>
              <a:ahLst/>
              <a:cxnLst/>
              <a:rect l="l" t="t" r="r" b="b"/>
              <a:pathLst>
                <a:path w="495300" h="377189">
                  <a:moveTo>
                    <a:pt x="374903" y="0"/>
                  </a:moveTo>
                  <a:lnTo>
                    <a:pt x="369443" y="15239"/>
                  </a:lnTo>
                  <a:lnTo>
                    <a:pt x="391326" y="24691"/>
                  </a:lnTo>
                  <a:lnTo>
                    <a:pt x="410114" y="37798"/>
                  </a:lnTo>
                  <a:lnTo>
                    <a:pt x="438403" y="74929"/>
                  </a:lnTo>
                  <a:lnTo>
                    <a:pt x="455152" y="125031"/>
                  </a:lnTo>
                  <a:lnTo>
                    <a:pt x="460756" y="186562"/>
                  </a:lnTo>
                  <a:lnTo>
                    <a:pt x="459353" y="219803"/>
                  </a:lnTo>
                  <a:lnTo>
                    <a:pt x="448165" y="277092"/>
                  </a:lnTo>
                  <a:lnTo>
                    <a:pt x="425709" y="321831"/>
                  </a:lnTo>
                  <a:lnTo>
                    <a:pt x="391558" y="352069"/>
                  </a:lnTo>
                  <a:lnTo>
                    <a:pt x="370077" y="361568"/>
                  </a:lnTo>
                  <a:lnTo>
                    <a:pt x="374903" y="376808"/>
                  </a:lnTo>
                  <a:lnTo>
                    <a:pt x="426243" y="352726"/>
                  </a:lnTo>
                  <a:lnTo>
                    <a:pt x="464058" y="311022"/>
                  </a:lnTo>
                  <a:lnTo>
                    <a:pt x="487314" y="255079"/>
                  </a:lnTo>
                  <a:lnTo>
                    <a:pt x="495046" y="188467"/>
                  </a:lnTo>
                  <a:lnTo>
                    <a:pt x="493113" y="153943"/>
                  </a:lnTo>
                  <a:lnTo>
                    <a:pt x="477579" y="92706"/>
                  </a:lnTo>
                  <a:lnTo>
                    <a:pt x="446716" y="42844"/>
                  </a:lnTo>
                  <a:lnTo>
                    <a:pt x="402191" y="9836"/>
                  </a:lnTo>
                  <a:lnTo>
                    <a:pt x="374903" y="0"/>
                  </a:lnTo>
                  <a:close/>
                </a:path>
                <a:path w="495300" h="377189">
                  <a:moveTo>
                    <a:pt x="120141" y="0"/>
                  </a:moveTo>
                  <a:lnTo>
                    <a:pt x="68897" y="24114"/>
                  </a:lnTo>
                  <a:lnTo>
                    <a:pt x="30987" y="66039"/>
                  </a:lnTo>
                  <a:lnTo>
                    <a:pt x="7731" y="122015"/>
                  </a:lnTo>
                  <a:lnTo>
                    <a:pt x="0" y="188467"/>
                  </a:lnTo>
                  <a:lnTo>
                    <a:pt x="1930" y="223119"/>
                  </a:lnTo>
                  <a:lnTo>
                    <a:pt x="17412" y="284372"/>
                  </a:lnTo>
                  <a:lnTo>
                    <a:pt x="48150" y="334071"/>
                  </a:lnTo>
                  <a:lnTo>
                    <a:pt x="92763" y="366976"/>
                  </a:lnTo>
                  <a:lnTo>
                    <a:pt x="120141" y="376808"/>
                  </a:lnTo>
                  <a:lnTo>
                    <a:pt x="124968" y="361568"/>
                  </a:lnTo>
                  <a:lnTo>
                    <a:pt x="103487" y="352069"/>
                  </a:lnTo>
                  <a:lnTo>
                    <a:pt x="84947" y="338820"/>
                  </a:lnTo>
                  <a:lnTo>
                    <a:pt x="56641" y="301116"/>
                  </a:lnTo>
                  <a:lnTo>
                    <a:pt x="39893" y="249983"/>
                  </a:lnTo>
                  <a:lnTo>
                    <a:pt x="34289" y="186562"/>
                  </a:lnTo>
                  <a:lnTo>
                    <a:pt x="35692" y="154368"/>
                  </a:lnTo>
                  <a:lnTo>
                    <a:pt x="46880" y="98551"/>
                  </a:lnTo>
                  <a:lnTo>
                    <a:pt x="69361" y="54548"/>
                  </a:lnTo>
                  <a:lnTo>
                    <a:pt x="103755" y="24691"/>
                  </a:lnTo>
                  <a:lnTo>
                    <a:pt x="125475" y="15239"/>
                  </a:lnTo>
                  <a:lnTo>
                    <a:pt x="120141" y="0"/>
                  </a:lnTo>
                  <a:close/>
                </a:path>
              </a:pathLst>
            </a:custGeom>
            <a:solidFill>
              <a:srgbClr val="344B5E"/>
            </a:solidFill>
          </p:spPr>
          <p:txBody>
            <a:bodyPr wrap="square" lIns="0" tIns="0" rIns="0" bIns="0" rtlCol="0"/>
            <a:lstStyle/>
            <a:p>
              <a:endParaRPr>
                <a:solidFill>
                  <a:prstClr val="black"/>
                </a:solidFill>
              </a:endParaRPr>
            </a:p>
          </p:txBody>
        </p:sp>
        <p:grpSp>
          <p:nvGrpSpPr>
            <p:cNvPr id="2" name="组合 1"/>
            <p:cNvGrpSpPr/>
            <p:nvPr/>
          </p:nvGrpSpPr>
          <p:grpSpPr>
            <a:xfrm>
              <a:off x="4903725" y="2148218"/>
              <a:ext cx="5098152" cy="972057"/>
              <a:chOff x="4951309" y="2170176"/>
              <a:chExt cx="5098152" cy="972057"/>
            </a:xfrm>
          </p:grpSpPr>
          <p:sp>
            <p:nvSpPr>
              <p:cNvPr id="4" name="object 4"/>
              <p:cNvSpPr txBox="1"/>
              <p:nvPr/>
            </p:nvSpPr>
            <p:spPr>
              <a:xfrm>
                <a:off x="4951309" y="2370170"/>
                <a:ext cx="1674366" cy="505908"/>
              </a:xfrm>
              <a:prstGeom prst="rect">
                <a:avLst/>
              </a:prstGeom>
            </p:spPr>
            <p:txBody>
              <a:bodyPr vert="horz" wrap="square" lIns="0" tIns="13335" rIns="0" bIns="0" rtlCol="0">
                <a:spAutoFit/>
              </a:bodyPr>
              <a:lstStyle/>
              <a:p>
                <a:pPr marL="12700">
                  <a:spcBef>
                    <a:spcPts val="105"/>
                  </a:spcBef>
                  <a:tabLst>
                    <a:tab pos="952500" algn="l"/>
                  </a:tabLst>
                </a:pPr>
                <a:r>
                  <a:rPr sz="3200" dirty="0">
                    <a:solidFill>
                      <a:srgbClr val="344B5E"/>
                    </a:solidFill>
                    <a:latin typeface="Verdana" panose="020B0604030504040204"/>
                    <a:cs typeface="Verdana" panose="020B0604030504040204"/>
                  </a:rPr>
                  <a:t>𝑃 𝑥</a:t>
                </a:r>
                <a:r>
                  <a:rPr lang="en-US" altLang="zh-CN" sz="3200" dirty="0">
                    <a:solidFill>
                      <a:srgbClr val="344B5E"/>
                    </a:solidFill>
                    <a:latin typeface="Verdana" panose="020B0604030504040204"/>
                    <a:cs typeface="Verdana" panose="020B0604030504040204"/>
                  </a:rPr>
                  <a:t>  </a:t>
                </a:r>
                <a:r>
                  <a:rPr sz="3200" dirty="0">
                    <a:solidFill>
                      <a:srgbClr val="344B5E"/>
                    </a:solidFill>
                    <a:latin typeface="Verdana" panose="020B0604030504040204"/>
                    <a:cs typeface="Verdana" panose="020B0604030504040204"/>
                  </a:rPr>
                  <a:t>=</a:t>
                </a:r>
                <a:endParaRPr sz="3200" dirty="0">
                  <a:solidFill>
                    <a:prstClr val="black"/>
                  </a:solidFill>
                  <a:latin typeface="Verdana" panose="020B0604030504040204"/>
                  <a:cs typeface="Verdana" panose="020B0604030504040204"/>
                </a:endParaRPr>
              </a:p>
            </p:txBody>
          </p:sp>
          <p:sp>
            <p:nvSpPr>
              <p:cNvPr id="5" name="object 5"/>
              <p:cNvSpPr/>
              <p:nvPr/>
            </p:nvSpPr>
            <p:spPr>
              <a:xfrm>
                <a:off x="6379129" y="2679954"/>
                <a:ext cx="3194473" cy="0"/>
              </a:xfrm>
              <a:custGeom>
                <a:avLst/>
                <a:gdLst/>
                <a:ahLst/>
                <a:cxnLst/>
                <a:rect l="l" t="t" r="r" b="b"/>
                <a:pathLst>
                  <a:path w="2395854">
                    <a:moveTo>
                      <a:pt x="0" y="0"/>
                    </a:moveTo>
                    <a:lnTo>
                      <a:pt x="2395728" y="0"/>
                    </a:lnTo>
                  </a:path>
                </a:pathLst>
              </a:custGeom>
              <a:ln w="25908">
                <a:solidFill>
                  <a:srgbClr val="344B5E"/>
                </a:solidFill>
              </a:ln>
            </p:spPr>
            <p:txBody>
              <a:bodyPr wrap="square" lIns="0" tIns="0" rIns="0" bIns="0" rtlCol="0"/>
              <a:lstStyle/>
              <a:p>
                <a:endParaRPr>
                  <a:solidFill>
                    <a:prstClr val="black"/>
                  </a:solidFill>
                </a:endParaRPr>
              </a:p>
            </p:txBody>
          </p:sp>
          <p:sp>
            <p:nvSpPr>
              <p:cNvPr id="6" name="object 6"/>
              <p:cNvSpPr txBox="1"/>
              <p:nvPr/>
            </p:nvSpPr>
            <p:spPr>
              <a:xfrm>
                <a:off x="7848937" y="2170176"/>
                <a:ext cx="259080" cy="391160"/>
              </a:xfrm>
              <a:prstGeom prst="rect">
                <a:avLst/>
              </a:prstGeom>
            </p:spPr>
            <p:txBody>
              <a:bodyPr vert="horz" wrap="square" lIns="0" tIns="12700" rIns="0" bIns="0" rtlCol="0">
                <a:spAutoFit/>
              </a:bodyPr>
              <a:lstStyle/>
              <a:p>
                <a:pPr marL="12700">
                  <a:spcBef>
                    <a:spcPts val="100"/>
                  </a:spcBef>
                </a:pPr>
                <a:r>
                  <a:rPr sz="2400" spc="-200" dirty="0">
                    <a:solidFill>
                      <a:srgbClr val="344B5E"/>
                    </a:solidFill>
                    <a:latin typeface="Verdana" panose="020B0604030504040204"/>
                    <a:cs typeface="Verdana" panose="020B0604030504040204"/>
                  </a:rPr>
                  <a:t>1</a:t>
                </a:r>
                <a:endParaRPr sz="2400">
                  <a:solidFill>
                    <a:prstClr val="black"/>
                  </a:solidFill>
                  <a:latin typeface="Verdana" panose="020B0604030504040204"/>
                  <a:cs typeface="Verdana" panose="020B0604030504040204"/>
                </a:endParaRPr>
              </a:p>
            </p:txBody>
          </p:sp>
          <p:sp>
            <p:nvSpPr>
              <p:cNvPr id="7" name="object 7"/>
              <p:cNvSpPr txBox="1"/>
              <p:nvPr/>
            </p:nvSpPr>
            <p:spPr>
              <a:xfrm>
                <a:off x="6363208" y="2751073"/>
                <a:ext cx="1244177" cy="391160"/>
              </a:xfrm>
              <a:prstGeom prst="rect">
                <a:avLst/>
              </a:prstGeom>
            </p:spPr>
            <p:txBody>
              <a:bodyPr vert="horz" wrap="square" lIns="0" tIns="12700" rIns="0" bIns="0" rtlCol="0">
                <a:spAutoFit/>
              </a:bodyPr>
              <a:lstStyle/>
              <a:p>
                <a:pPr marL="12700">
                  <a:spcBef>
                    <a:spcPts val="100"/>
                  </a:spcBef>
                </a:pPr>
                <a:r>
                  <a:rPr lang="en-US" sz="2400" spc="-200" dirty="0">
                    <a:solidFill>
                      <a:srgbClr val="344B5E"/>
                    </a:solidFill>
                    <a:latin typeface="Verdana" panose="020B0604030504040204"/>
                    <a:cs typeface="Verdana" panose="020B0604030504040204"/>
                  </a:rPr>
                  <a:t>    </a:t>
                </a:r>
                <a:r>
                  <a:rPr sz="2400" spc="-200" dirty="0">
                    <a:solidFill>
                      <a:srgbClr val="344B5E"/>
                    </a:solidFill>
                    <a:latin typeface="Verdana" panose="020B0604030504040204"/>
                    <a:cs typeface="Verdana" panose="020B0604030504040204"/>
                  </a:rPr>
                  <a:t>1 </a:t>
                </a:r>
                <a:r>
                  <a:rPr sz="2400" spc="-175" dirty="0">
                    <a:solidFill>
                      <a:srgbClr val="344B5E"/>
                    </a:solidFill>
                    <a:latin typeface="Verdana" panose="020B0604030504040204"/>
                    <a:cs typeface="Verdana" panose="020B0604030504040204"/>
                  </a:rPr>
                  <a:t>+</a:t>
                </a:r>
                <a:r>
                  <a:rPr sz="2400" spc="-525" dirty="0">
                    <a:solidFill>
                      <a:srgbClr val="344B5E"/>
                    </a:solidFill>
                    <a:latin typeface="Verdana" panose="020B0604030504040204"/>
                    <a:cs typeface="Verdana" panose="020B0604030504040204"/>
                  </a:rPr>
                  <a:t> </a:t>
                </a:r>
                <a:r>
                  <a:rPr sz="2400" spc="-1210" dirty="0">
                    <a:solidFill>
                      <a:srgbClr val="344B5E"/>
                    </a:solidFill>
                    <a:latin typeface="Verdana" panose="020B0604030504040204"/>
                    <a:cs typeface="Verdana" panose="020B0604030504040204"/>
                  </a:rPr>
                  <a:t>𝑒</a:t>
                </a:r>
                <a:endParaRPr sz="2400" dirty="0">
                  <a:solidFill>
                    <a:prstClr val="black"/>
                  </a:solidFill>
                  <a:latin typeface="Verdana" panose="020B0604030504040204"/>
                  <a:cs typeface="Verdana" panose="020B0604030504040204"/>
                </a:endParaRPr>
              </a:p>
            </p:txBody>
          </p:sp>
          <p:sp>
            <p:nvSpPr>
              <p:cNvPr id="8" name="object 8"/>
              <p:cNvSpPr txBox="1"/>
              <p:nvPr/>
            </p:nvSpPr>
            <p:spPr>
              <a:xfrm>
                <a:off x="7607385" y="2727357"/>
                <a:ext cx="2442076" cy="282129"/>
              </a:xfrm>
              <a:prstGeom prst="rect">
                <a:avLst/>
              </a:prstGeom>
            </p:spPr>
            <p:txBody>
              <a:bodyPr vert="horz" wrap="square" lIns="0" tIns="12700" rIns="0" bIns="0" rtlCol="0">
                <a:spAutoFit/>
              </a:bodyPr>
              <a:lstStyle/>
              <a:p>
                <a:pPr marL="12700">
                  <a:spcBef>
                    <a:spcPts val="100"/>
                  </a:spcBef>
                </a:pPr>
                <a:r>
                  <a:rPr sz="1750" dirty="0">
                    <a:solidFill>
                      <a:srgbClr val="344B5E"/>
                    </a:solidFill>
                    <a:latin typeface="Verdana" panose="020B0604030504040204"/>
                    <a:cs typeface="Verdana" panose="020B0604030504040204"/>
                  </a:rPr>
                  <a:t>−(𝛽</a:t>
                </a:r>
                <a:r>
                  <a:rPr sz="2175" baseline="-19000" dirty="0">
                    <a:solidFill>
                      <a:srgbClr val="344B5E"/>
                    </a:solidFill>
                    <a:latin typeface="Verdana" panose="020B0604030504040204"/>
                    <a:cs typeface="Verdana" panose="020B0604030504040204"/>
                  </a:rPr>
                  <a:t>0</a:t>
                </a:r>
                <a:r>
                  <a:rPr sz="1750" dirty="0">
                    <a:solidFill>
                      <a:srgbClr val="344B5E"/>
                    </a:solidFill>
                    <a:latin typeface="Verdana" panose="020B0604030504040204"/>
                    <a:cs typeface="Verdana" panose="020B0604030504040204"/>
                  </a:rPr>
                  <a:t>+ 𝛽</a:t>
                </a:r>
                <a:r>
                  <a:rPr sz="2175" baseline="-19000" dirty="0">
                    <a:solidFill>
                      <a:srgbClr val="344B5E"/>
                    </a:solidFill>
                    <a:latin typeface="Verdana" panose="020B0604030504040204"/>
                    <a:cs typeface="Verdana" panose="020B0604030504040204"/>
                  </a:rPr>
                  <a:t>1</a:t>
                </a:r>
                <a:r>
                  <a:rPr sz="1750" dirty="0">
                    <a:solidFill>
                      <a:srgbClr val="344B5E"/>
                    </a:solidFill>
                    <a:latin typeface="Verdana" panose="020B0604030504040204"/>
                    <a:cs typeface="Verdana" panose="020B0604030504040204"/>
                  </a:rPr>
                  <a:t>𝑥)</a:t>
                </a:r>
                <a:endParaRPr sz="1750" dirty="0">
                  <a:solidFill>
                    <a:prstClr val="black"/>
                  </a:solidFill>
                  <a:latin typeface="Verdana" panose="020B0604030504040204"/>
                  <a:cs typeface="Verdana" panose="020B0604030504040204"/>
                </a:endParaRPr>
              </a:p>
            </p:txBody>
          </p:sp>
        </p:grpSp>
      </p:grpSp>
      <p:sp>
        <p:nvSpPr>
          <p:cNvPr id="9" name="object 9"/>
          <p:cNvSpPr txBox="1"/>
          <p:nvPr/>
        </p:nvSpPr>
        <p:spPr>
          <a:xfrm>
            <a:off x="518160" y="1753656"/>
            <a:ext cx="3237741" cy="505267"/>
          </a:xfrm>
          <a:prstGeom prst="rect">
            <a:avLst/>
          </a:prstGeom>
        </p:spPr>
        <p:txBody>
          <a:bodyPr vert="horz" wrap="square" lIns="0" tIns="12700" rIns="0" bIns="0" rtlCol="0">
            <a:spAutoFit/>
          </a:bodyPr>
          <a:lstStyle/>
          <a:p>
            <a:pPr marL="12700" marR="5080" indent="73025" algn="ctr">
              <a:spcBef>
                <a:spcPts val="100"/>
              </a:spcBef>
            </a:pPr>
            <a:r>
              <a:rPr sz="3200" b="1" spc="-65" dirty="0">
                <a:solidFill>
                  <a:srgbClr val="002060"/>
                </a:solidFill>
                <a:latin typeface="Arial" panose="020B0604020202020204"/>
                <a:cs typeface="Arial" panose="020B0604020202020204"/>
              </a:rPr>
              <a:t>Logistic  </a:t>
            </a:r>
            <a:r>
              <a:rPr lang="zh-CN" altLang="en-US" sz="3200" b="1" spc="-45" dirty="0">
                <a:solidFill>
                  <a:srgbClr val="002060"/>
                </a:solidFill>
                <a:latin typeface="Arial" panose="020B0604020202020204"/>
                <a:cs typeface="Arial" panose="020B0604020202020204"/>
              </a:rPr>
              <a:t>函数</a:t>
            </a:r>
            <a:endParaRPr sz="3200" dirty="0">
              <a:solidFill>
                <a:srgbClr val="002060"/>
              </a:solidFill>
              <a:latin typeface="Arial" panose="020B0604020202020204"/>
              <a:cs typeface="Arial" panose="020B0604020202020204"/>
            </a:endParaRPr>
          </a:p>
        </p:txBody>
      </p:sp>
      <p:sp>
        <p:nvSpPr>
          <p:cNvPr id="12" name="标题 11"/>
          <p:cNvSpPr>
            <a:spLocks noGrp="1"/>
          </p:cNvSpPr>
          <p:nvPr>
            <p:ph type="title"/>
          </p:nvPr>
        </p:nvSpPr>
        <p:spPr/>
        <p:txBody>
          <a:bodyPr/>
          <a:lstStyle/>
          <a:p>
            <a:r>
              <a:rPr lang="zh-CN" altLang="en-US" dirty="0"/>
              <a:t>逻辑回归和线性回归的关系</a:t>
            </a:r>
          </a:p>
        </p:txBody>
      </p:sp>
      <p:grpSp>
        <p:nvGrpSpPr>
          <p:cNvPr id="30" name="组合 29"/>
          <p:cNvGrpSpPr/>
          <p:nvPr/>
        </p:nvGrpSpPr>
        <p:grpSpPr>
          <a:xfrm>
            <a:off x="4805340" y="2699957"/>
            <a:ext cx="4348438" cy="1110487"/>
            <a:chOff x="4805340" y="2699957"/>
            <a:chExt cx="4348438" cy="1110487"/>
          </a:xfrm>
        </p:grpSpPr>
        <p:grpSp>
          <p:nvGrpSpPr>
            <p:cNvPr id="29" name="组合 28"/>
            <p:cNvGrpSpPr/>
            <p:nvPr/>
          </p:nvGrpSpPr>
          <p:grpSpPr>
            <a:xfrm>
              <a:off x="4805340" y="2699957"/>
              <a:ext cx="4142359" cy="741489"/>
              <a:chOff x="4703952" y="3441446"/>
              <a:chExt cx="4142359" cy="741489"/>
            </a:xfrm>
          </p:grpSpPr>
          <p:sp>
            <p:nvSpPr>
              <p:cNvPr id="10" name="object 10"/>
              <p:cNvSpPr/>
              <p:nvPr/>
            </p:nvSpPr>
            <p:spPr>
              <a:xfrm>
                <a:off x="4972135" y="3792473"/>
                <a:ext cx="660400" cy="377190"/>
              </a:xfrm>
              <a:custGeom>
                <a:avLst/>
                <a:gdLst/>
                <a:ahLst/>
                <a:cxnLst/>
                <a:rect l="l" t="t" r="r" b="b"/>
                <a:pathLst>
                  <a:path w="495300" h="377189">
                    <a:moveTo>
                      <a:pt x="374903" y="0"/>
                    </a:moveTo>
                    <a:lnTo>
                      <a:pt x="369570" y="15367"/>
                    </a:lnTo>
                    <a:lnTo>
                      <a:pt x="391380" y="24818"/>
                    </a:lnTo>
                    <a:lnTo>
                      <a:pt x="410130" y="37925"/>
                    </a:lnTo>
                    <a:lnTo>
                      <a:pt x="438403" y="75056"/>
                    </a:lnTo>
                    <a:lnTo>
                      <a:pt x="455152" y="125142"/>
                    </a:lnTo>
                    <a:lnTo>
                      <a:pt x="460756" y="186562"/>
                    </a:lnTo>
                    <a:lnTo>
                      <a:pt x="459353" y="219805"/>
                    </a:lnTo>
                    <a:lnTo>
                      <a:pt x="448165" y="277145"/>
                    </a:lnTo>
                    <a:lnTo>
                      <a:pt x="425709" y="321941"/>
                    </a:lnTo>
                    <a:lnTo>
                      <a:pt x="391558" y="352143"/>
                    </a:lnTo>
                    <a:lnTo>
                      <a:pt x="370077" y="361695"/>
                    </a:lnTo>
                    <a:lnTo>
                      <a:pt x="374903" y="376936"/>
                    </a:lnTo>
                    <a:lnTo>
                      <a:pt x="426291" y="352837"/>
                    </a:lnTo>
                    <a:lnTo>
                      <a:pt x="464058" y="311023"/>
                    </a:lnTo>
                    <a:lnTo>
                      <a:pt x="487314" y="255143"/>
                    </a:lnTo>
                    <a:lnTo>
                      <a:pt x="495046" y="188594"/>
                    </a:lnTo>
                    <a:lnTo>
                      <a:pt x="493115" y="154015"/>
                    </a:lnTo>
                    <a:lnTo>
                      <a:pt x="477633" y="92761"/>
                    </a:lnTo>
                    <a:lnTo>
                      <a:pt x="446770" y="42916"/>
                    </a:lnTo>
                    <a:lnTo>
                      <a:pt x="402193" y="9907"/>
                    </a:lnTo>
                    <a:lnTo>
                      <a:pt x="374903" y="0"/>
                    </a:lnTo>
                    <a:close/>
                  </a:path>
                  <a:path w="495300" h="377189">
                    <a:moveTo>
                      <a:pt x="120141" y="0"/>
                    </a:moveTo>
                    <a:lnTo>
                      <a:pt x="68913" y="24209"/>
                    </a:lnTo>
                    <a:lnTo>
                      <a:pt x="31114" y="66039"/>
                    </a:lnTo>
                    <a:lnTo>
                      <a:pt x="7747" y="122078"/>
                    </a:lnTo>
                    <a:lnTo>
                      <a:pt x="0" y="188594"/>
                    </a:lnTo>
                    <a:lnTo>
                      <a:pt x="1930" y="223190"/>
                    </a:lnTo>
                    <a:lnTo>
                      <a:pt x="17412" y="284428"/>
                    </a:lnTo>
                    <a:lnTo>
                      <a:pt x="48204" y="334144"/>
                    </a:lnTo>
                    <a:lnTo>
                      <a:pt x="92781" y="367101"/>
                    </a:lnTo>
                    <a:lnTo>
                      <a:pt x="120141" y="376936"/>
                    </a:lnTo>
                    <a:lnTo>
                      <a:pt x="124968" y="361695"/>
                    </a:lnTo>
                    <a:lnTo>
                      <a:pt x="103487" y="352143"/>
                    </a:lnTo>
                    <a:lnTo>
                      <a:pt x="84947" y="338899"/>
                    </a:lnTo>
                    <a:lnTo>
                      <a:pt x="56641" y="301244"/>
                    </a:lnTo>
                    <a:lnTo>
                      <a:pt x="39893" y="249999"/>
                    </a:lnTo>
                    <a:lnTo>
                      <a:pt x="34289" y="186562"/>
                    </a:lnTo>
                    <a:lnTo>
                      <a:pt x="35692" y="154441"/>
                    </a:lnTo>
                    <a:lnTo>
                      <a:pt x="46880" y="98677"/>
                    </a:lnTo>
                    <a:lnTo>
                      <a:pt x="69363" y="54675"/>
                    </a:lnTo>
                    <a:lnTo>
                      <a:pt x="103808" y="24818"/>
                    </a:lnTo>
                    <a:lnTo>
                      <a:pt x="125602" y="15367"/>
                    </a:lnTo>
                    <a:lnTo>
                      <a:pt x="120141" y="0"/>
                    </a:lnTo>
                    <a:close/>
                  </a:path>
                </a:pathLst>
              </a:custGeom>
              <a:solidFill>
                <a:srgbClr val="344B5E"/>
              </a:solidFill>
            </p:spPr>
            <p:txBody>
              <a:bodyPr wrap="square" lIns="0" tIns="0" rIns="0" bIns="0" rtlCol="0"/>
              <a:lstStyle/>
              <a:p>
                <a:endParaRPr>
                  <a:solidFill>
                    <a:prstClr val="black"/>
                  </a:solidFill>
                </a:endParaRPr>
              </a:p>
            </p:txBody>
          </p:sp>
          <p:grpSp>
            <p:nvGrpSpPr>
              <p:cNvPr id="28" name="组合 27"/>
              <p:cNvGrpSpPr/>
              <p:nvPr/>
            </p:nvGrpSpPr>
            <p:grpSpPr>
              <a:xfrm>
                <a:off x="4703952" y="3441446"/>
                <a:ext cx="4142359" cy="741489"/>
                <a:chOff x="4703952" y="3441446"/>
                <a:chExt cx="4142359" cy="741489"/>
              </a:xfrm>
            </p:grpSpPr>
            <p:sp>
              <p:nvSpPr>
                <p:cNvPr id="13" name="object 12"/>
                <p:cNvSpPr/>
                <p:nvPr/>
              </p:nvSpPr>
              <p:spPr>
                <a:xfrm>
                  <a:off x="6383359" y="3981323"/>
                  <a:ext cx="2462952" cy="0"/>
                </a:xfrm>
                <a:custGeom>
                  <a:avLst/>
                  <a:gdLst/>
                  <a:ahLst/>
                  <a:cxnLst/>
                  <a:rect l="l" t="t" r="r" b="b"/>
                  <a:pathLst>
                    <a:path w="1847215">
                      <a:moveTo>
                        <a:pt x="0" y="0"/>
                      </a:moveTo>
                      <a:lnTo>
                        <a:pt x="1847087" y="0"/>
                      </a:lnTo>
                    </a:path>
                  </a:pathLst>
                </a:custGeom>
                <a:ln w="25907">
                  <a:solidFill>
                    <a:srgbClr val="344B5E"/>
                  </a:solidFill>
                </a:ln>
              </p:spPr>
              <p:txBody>
                <a:bodyPr wrap="square" lIns="0" tIns="0" rIns="0" bIns="0" rtlCol="0"/>
                <a:lstStyle/>
                <a:p>
                  <a:endParaRPr>
                    <a:solidFill>
                      <a:prstClr val="black"/>
                    </a:solidFill>
                  </a:endParaRPr>
                </a:p>
              </p:txBody>
            </p:sp>
            <p:grpSp>
              <p:nvGrpSpPr>
                <p:cNvPr id="27" name="组合 26"/>
                <p:cNvGrpSpPr/>
                <p:nvPr/>
              </p:nvGrpSpPr>
              <p:grpSpPr>
                <a:xfrm>
                  <a:off x="4703952" y="3441446"/>
                  <a:ext cx="3885143" cy="741489"/>
                  <a:chOff x="4703952" y="3441446"/>
                  <a:chExt cx="3885143" cy="741489"/>
                </a:xfrm>
              </p:grpSpPr>
              <p:sp>
                <p:nvSpPr>
                  <p:cNvPr id="11" name="object 11"/>
                  <p:cNvSpPr txBox="1"/>
                  <p:nvPr/>
                </p:nvSpPr>
                <p:spPr>
                  <a:xfrm>
                    <a:off x="4703952" y="3677668"/>
                    <a:ext cx="1921723" cy="505267"/>
                  </a:xfrm>
                  <a:prstGeom prst="rect">
                    <a:avLst/>
                  </a:prstGeom>
                </p:spPr>
                <p:txBody>
                  <a:bodyPr vert="horz" wrap="square" lIns="0" tIns="12700" rIns="0" bIns="0" rtlCol="0">
                    <a:spAutoFit/>
                  </a:bodyPr>
                  <a:lstStyle/>
                  <a:p>
                    <a:pPr marL="12700">
                      <a:spcBef>
                        <a:spcPts val="100"/>
                      </a:spcBef>
                      <a:tabLst>
                        <a:tab pos="953135" algn="l"/>
                      </a:tabLst>
                    </a:pPr>
                    <a:r>
                      <a:rPr sz="3200" dirty="0">
                        <a:solidFill>
                          <a:srgbClr val="344B5E"/>
                        </a:solidFill>
                        <a:latin typeface="Verdana" panose="020B0604030504040204"/>
                        <a:cs typeface="Verdana" panose="020B0604030504040204"/>
                      </a:rPr>
                      <a:t>𝑃 𝑥	=</a:t>
                    </a:r>
                    <a:endParaRPr sz="3200" dirty="0">
                      <a:solidFill>
                        <a:prstClr val="black"/>
                      </a:solidFill>
                      <a:latin typeface="Verdana" panose="020B0604030504040204"/>
                      <a:cs typeface="Verdana" panose="020B0604030504040204"/>
                    </a:endParaRPr>
                  </a:p>
                </p:txBody>
              </p:sp>
              <p:sp>
                <p:nvSpPr>
                  <p:cNvPr id="14" name="object 13"/>
                  <p:cNvSpPr txBox="1"/>
                  <p:nvPr/>
                </p:nvSpPr>
                <p:spPr>
                  <a:xfrm>
                    <a:off x="6625675" y="3441446"/>
                    <a:ext cx="1963420" cy="382270"/>
                  </a:xfrm>
                  <a:prstGeom prst="rect">
                    <a:avLst/>
                  </a:prstGeom>
                </p:spPr>
                <p:txBody>
                  <a:bodyPr vert="horz" wrap="square" lIns="0" tIns="11430" rIns="0" bIns="0" rtlCol="0">
                    <a:spAutoFit/>
                  </a:bodyPr>
                  <a:lstStyle/>
                  <a:p>
                    <a:pPr marL="12700">
                      <a:spcBef>
                        <a:spcPts val="90"/>
                      </a:spcBef>
                    </a:pPr>
                    <a:r>
                      <a:rPr sz="3525" baseline="-20000" dirty="0">
                        <a:solidFill>
                          <a:srgbClr val="344B5E"/>
                        </a:solidFill>
                        <a:latin typeface="Verdana" panose="020B0604030504040204"/>
                        <a:cs typeface="Verdana" panose="020B0604030504040204"/>
                      </a:rPr>
                      <a:t>𝑒</a:t>
                    </a:r>
                    <a:r>
                      <a:rPr sz="1900" dirty="0">
                        <a:solidFill>
                          <a:srgbClr val="344B5E"/>
                        </a:solidFill>
                        <a:latin typeface="Verdana" panose="020B0604030504040204"/>
                        <a:cs typeface="Verdana" panose="020B0604030504040204"/>
                      </a:rPr>
                      <a:t>(𝛽</a:t>
                    </a:r>
                    <a:r>
                      <a:rPr sz="2400" baseline="-13000" dirty="0">
                        <a:solidFill>
                          <a:srgbClr val="344B5E"/>
                        </a:solidFill>
                        <a:latin typeface="Verdana" panose="020B0604030504040204"/>
                        <a:cs typeface="Verdana" panose="020B0604030504040204"/>
                      </a:rPr>
                      <a:t>0</a:t>
                    </a:r>
                    <a:r>
                      <a:rPr sz="1900" dirty="0">
                        <a:solidFill>
                          <a:srgbClr val="344B5E"/>
                        </a:solidFill>
                        <a:latin typeface="Verdana" panose="020B0604030504040204"/>
                        <a:cs typeface="Verdana" panose="020B0604030504040204"/>
                      </a:rPr>
                      <a:t>+ 𝛽</a:t>
                    </a:r>
                    <a:r>
                      <a:rPr sz="2400" baseline="-13000" dirty="0">
                        <a:solidFill>
                          <a:srgbClr val="344B5E"/>
                        </a:solidFill>
                        <a:latin typeface="Verdana" panose="020B0604030504040204"/>
                        <a:cs typeface="Verdana" panose="020B0604030504040204"/>
                      </a:rPr>
                      <a:t>1</a:t>
                    </a:r>
                    <a:r>
                      <a:rPr sz="1900" dirty="0">
                        <a:solidFill>
                          <a:srgbClr val="344B5E"/>
                        </a:solidFill>
                        <a:latin typeface="Verdana" panose="020B0604030504040204"/>
                        <a:cs typeface="Verdana" panose="020B0604030504040204"/>
                      </a:rPr>
                      <a:t>𝑥)</a:t>
                    </a:r>
                    <a:endParaRPr sz="1900" dirty="0">
                      <a:solidFill>
                        <a:prstClr val="black"/>
                      </a:solidFill>
                      <a:latin typeface="Verdana" panose="020B0604030504040204"/>
                      <a:cs typeface="Verdana" panose="020B0604030504040204"/>
                    </a:endParaRPr>
                  </a:p>
                </p:txBody>
              </p:sp>
            </p:grpSp>
          </p:grpSp>
        </p:grpSp>
        <p:sp>
          <p:nvSpPr>
            <p:cNvPr id="15" name="object 14"/>
            <p:cNvSpPr txBox="1"/>
            <p:nvPr/>
          </p:nvSpPr>
          <p:spPr>
            <a:xfrm>
              <a:off x="6673893" y="3428174"/>
              <a:ext cx="2479885" cy="382270"/>
            </a:xfrm>
            <a:prstGeom prst="rect">
              <a:avLst/>
            </a:prstGeom>
          </p:spPr>
          <p:txBody>
            <a:bodyPr vert="horz" wrap="square" lIns="0" tIns="11430" rIns="0" bIns="0" rtlCol="0">
              <a:spAutoFit/>
            </a:bodyPr>
            <a:lstStyle/>
            <a:p>
              <a:pPr marL="12700">
                <a:spcBef>
                  <a:spcPts val="90"/>
                </a:spcBef>
              </a:pPr>
              <a:r>
                <a:rPr sz="3525" baseline="-18000" dirty="0">
                  <a:solidFill>
                    <a:srgbClr val="344B5E"/>
                  </a:solidFill>
                  <a:latin typeface="Verdana" panose="020B0604030504040204"/>
                  <a:cs typeface="Verdana" panose="020B0604030504040204"/>
                </a:rPr>
                <a:t>1+𝑒</a:t>
              </a:r>
              <a:r>
                <a:rPr sz="1900" dirty="0">
                  <a:solidFill>
                    <a:srgbClr val="344B5E"/>
                  </a:solidFill>
                  <a:latin typeface="Verdana" panose="020B0604030504040204"/>
                  <a:cs typeface="Verdana" panose="020B0604030504040204"/>
                </a:rPr>
                <a:t>(𝛽</a:t>
              </a:r>
              <a:r>
                <a:rPr sz="2400" baseline="-13000" dirty="0">
                  <a:solidFill>
                    <a:srgbClr val="344B5E"/>
                  </a:solidFill>
                  <a:latin typeface="Verdana" panose="020B0604030504040204"/>
                  <a:cs typeface="Verdana" panose="020B0604030504040204"/>
                </a:rPr>
                <a:t>0</a:t>
              </a:r>
              <a:r>
                <a:rPr sz="1900" dirty="0">
                  <a:solidFill>
                    <a:srgbClr val="344B5E"/>
                  </a:solidFill>
                  <a:latin typeface="Verdana" panose="020B0604030504040204"/>
                  <a:cs typeface="Verdana" panose="020B0604030504040204"/>
                </a:rPr>
                <a:t>+ 𝛽</a:t>
              </a:r>
              <a:r>
                <a:rPr sz="2400" baseline="-13000" dirty="0">
                  <a:solidFill>
                    <a:srgbClr val="344B5E"/>
                  </a:solidFill>
                  <a:latin typeface="Verdana" panose="020B0604030504040204"/>
                  <a:cs typeface="Verdana" panose="020B0604030504040204"/>
                </a:rPr>
                <a:t>1</a:t>
              </a:r>
              <a:r>
                <a:rPr sz="1900" dirty="0">
                  <a:solidFill>
                    <a:srgbClr val="344B5E"/>
                  </a:solidFill>
                  <a:latin typeface="Verdana" panose="020B0604030504040204"/>
                  <a:cs typeface="Verdana" panose="020B0604030504040204"/>
                </a:rPr>
                <a:t>𝑥)</a:t>
              </a:r>
              <a:endParaRPr sz="1900" dirty="0">
                <a:solidFill>
                  <a:prstClr val="black"/>
                </a:solidFill>
                <a:latin typeface="Verdana" panose="020B0604030504040204"/>
                <a:cs typeface="Verdana" panose="020B0604030504040204"/>
              </a:endParaRPr>
            </a:p>
          </p:txBody>
        </p:sp>
      </p:grpSp>
      <p:grpSp>
        <p:nvGrpSpPr>
          <p:cNvPr id="16" name="组合 15"/>
          <p:cNvGrpSpPr/>
          <p:nvPr/>
        </p:nvGrpSpPr>
        <p:grpSpPr>
          <a:xfrm>
            <a:off x="5022893" y="4644491"/>
            <a:ext cx="3924806" cy="1086271"/>
            <a:chOff x="3671530" y="4064128"/>
            <a:chExt cx="3924806" cy="1086271"/>
          </a:xfrm>
        </p:grpSpPr>
        <p:sp>
          <p:nvSpPr>
            <p:cNvPr id="17" name="object 10"/>
            <p:cNvSpPr/>
            <p:nvPr/>
          </p:nvSpPr>
          <p:spPr>
            <a:xfrm>
              <a:off x="3671530" y="4675378"/>
              <a:ext cx="1651000" cy="0"/>
            </a:xfrm>
            <a:custGeom>
              <a:avLst/>
              <a:gdLst/>
              <a:ahLst/>
              <a:cxnLst/>
              <a:rect l="l" t="t" r="r" b="b"/>
              <a:pathLst>
                <a:path w="1651000">
                  <a:moveTo>
                    <a:pt x="0" y="0"/>
                  </a:moveTo>
                  <a:lnTo>
                    <a:pt x="1650492" y="0"/>
                  </a:lnTo>
                </a:path>
              </a:pathLst>
            </a:custGeom>
            <a:ln w="25907">
              <a:solidFill>
                <a:srgbClr val="344B5E"/>
              </a:solidFill>
            </a:ln>
          </p:spPr>
          <p:txBody>
            <a:bodyPr wrap="square" lIns="0" tIns="0" rIns="0" bIns="0" rtlCol="0"/>
            <a:lstStyle/>
            <a:p>
              <a:endParaRPr/>
            </a:p>
          </p:txBody>
        </p:sp>
        <p:sp>
          <p:nvSpPr>
            <p:cNvPr id="18" name="object 15"/>
            <p:cNvSpPr/>
            <p:nvPr/>
          </p:nvSpPr>
          <p:spPr>
            <a:xfrm>
              <a:off x="6105433" y="4419219"/>
              <a:ext cx="1351280" cy="275590"/>
            </a:xfrm>
            <a:custGeom>
              <a:avLst/>
              <a:gdLst/>
              <a:ahLst/>
              <a:cxnLst/>
              <a:rect l="l" t="t" r="r" b="b"/>
              <a:pathLst>
                <a:path w="1351279" h="275589">
                  <a:moveTo>
                    <a:pt x="1263395" y="0"/>
                  </a:moveTo>
                  <a:lnTo>
                    <a:pt x="1259459" y="11175"/>
                  </a:lnTo>
                  <a:lnTo>
                    <a:pt x="1275391" y="18127"/>
                  </a:lnTo>
                  <a:lnTo>
                    <a:pt x="1289097" y="27733"/>
                  </a:lnTo>
                  <a:lnTo>
                    <a:pt x="1316972" y="72102"/>
                  </a:lnTo>
                  <a:lnTo>
                    <a:pt x="1325112" y="112817"/>
                  </a:lnTo>
                  <a:lnTo>
                    <a:pt x="1326134" y="136270"/>
                  </a:lnTo>
                  <a:lnTo>
                    <a:pt x="1325110" y="160583"/>
                  </a:lnTo>
                  <a:lnTo>
                    <a:pt x="1316918" y="202493"/>
                  </a:lnTo>
                  <a:lnTo>
                    <a:pt x="1289192" y="247507"/>
                  </a:lnTo>
                  <a:lnTo>
                    <a:pt x="1259966" y="264159"/>
                  </a:lnTo>
                  <a:lnTo>
                    <a:pt x="1263395" y="275335"/>
                  </a:lnTo>
                  <a:lnTo>
                    <a:pt x="1300924" y="257698"/>
                  </a:lnTo>
                  <a:lnTo>
                    <a:pt x="1328546" y="227202"/>
                  </a:lnTo>
                  <a:lnTo>
                    <a:pt x="1345517" y="186356"/>
                  </a:lnTo>
                  <a:lnTo>
                    <a:pt x="1351153" y="137794"/>
                  </a:lnTo>
                  <a:lnTo>
                    <a:pt x="1349746" y="112553"/>
                  </a:lnTo>
                  <a:lnTo>
                    <a:pt x="1338454" y="67786"/>
                  </a:lnTo>
                  <a:lnTo>
                    <a:pt x="1315920" y="31378"/>
                  </a:lnTo>
                  <a:lnTo>
                    <a:pt x="1283380" y="7237"/>
                  </a:lnTo>
                  <a:lnTo>
                    <a:pt x="1263395" y="0"/>
                  </a:lnTo>
                  <a:close/>
                </a:path>
                <a:path w="1351279" h="275589">
                  <a:moveTo>
                    <a:pt x="87757" y="0"/>
                  </a:moveTo>
                  <a:lnTo>
                    <a:pt x="50276" y="17700"/>
                  </a:lnTo>
                  <a:lnTo>
                    <a:pt x="22606" y="48259"/>
                  </a:lnTo>
                  <a:lnTo>
                    <a:pt x="5635" y="89217"/>
                  </a:lnTo>
                  <a:lnTo>
                    <a:pt x="0" y="137794"/>
                  </a:lnTo>
                  <a:lnTo>
                    <a:pt x="1406" y="163034"/>
                  </a:lnTo>
                  <a:lnTo>
                    <a:pt x="12698" y="207750"/>
                  </a:lnTo>
                  <a:lnTo>
                    <a:pt x="35179" y="244064"/>
                  </a:lnTo>
                  <a:lnTo>
                    <a:pt x="67754" y="268118"/>
                  </a:lnTo>
                  <a:lnTo>
                    <a:pt x="87757" y="275335"/>
                  </a:lnTo>
                  <a:lnTo>
                    <a:pt x="91186" y="264159"/>
                  </a:lnTo>
                  <a:lnTo>
                    <a:pt x="75495" y="257184"/>
                  </a:lnTo>
                  <a:lnTo>
                    <a:pt x="61960" y="247507"/>
                  </a:lnTo>
                  <a:lnTo>
                    <a:pt x="34234" y="202493"/>
                  </a:lnTo>
                  <a:lnTo>
                    <a:pt x="26042" y="160583"/>
                  </a:lnTo>
                  <a:lnTo>
                    <a:pt x="25019" y="136270"/>
                  </a:lnTo>
                  <a:lnTo>
                    <a:pt x="26042" y="112817"/>
                  </a:lnTo>
                  <a:lnTo>
                    <a:pt x="34234" y="72102"/>
                  </a:lnTo>
                  <a:lnTo>
                    <a:pt x="62071" y="27733"/>
                  </a:lnTo>
                  <a:lnTo>
                    <a:pt x="91694" y="11175"/>
                  </a:lnTo>
                  <a:lnTo>
                    <a:pt x="87757" y="0"/>
                  </a:lnTo>
                  <a:close/>
                </a:path>
              </a:pathLst>
            </a:custGeom>
            <a:solidFill>
              <a:srgbClr val="344B5E"/>
            </a:solidFill>
          </p:spPr>
          <p:txBody>
            <a:bodyPr wrap="square" lIns="0" tIns="0" rIns="0" bIns="0" rtlCol="0"/>
            <a:lstStyle/>
            <a:p>
              <a:endParaRPr/>
            </a:p>
          </p:txBody>
        </p:sp>
        <p:grpSp>
          <p:nvGrpSpPr>
            <p:cNvPr id="19" name="组合 18"/>
            <p:cNvGrpSpPr/>
            <p:nvPr/>
          </p:nvGrpSpPr>
          <p:grpSpPr>
            <a:xfrm>
              <a:off x="3779911" y="4064128"/>
              <a:ext cx="3816425" cy="1086271"/>
              <a:chOff x="3779911" y="4064128"/>
              <a:chExt cx="3816425" cy="1086271"/>
            </a:xfrm>
          </p:grpSpPr>
          <p:sp>
            <p:nvSpPr>
              <p:cNvPr id="20" name="object 11"/>
              <p:cNvSpPr/>
              <p:nvPr/>
            </p:nvSpPr>
            <p:spPr>
              <a:xfrm>
                <a:off x="4380824" y="4178808"/>
                <a:ext cx="495300" cy="377190"/>
              </a:xfrm>
              <a:custGeom>
                <a:avLst/>
                <a:gdLst/>
                <a:ahLst/>
                <a:cxnLst/>
                <a:rect l="l" t="t" r="r" b="b"/>
                <a:pathLst>
                  <a:path w="495300" h="377189">
                    <a:moveTo>
                      <a:pt x="375030" y="0"/>
                    </a:moveTo>
                    <a:lnTo>
                      <a:pt x="369569" y="15240"/>
                    </a:lnTo>
                    <a:lnTo>
                      <a:pt x="391382" y="24745"/>
                    </a:lnTo>
                    <a:lnTo>
                      <a:pt x="410146" y="37846"/>
                    </a:lnTo>
                    <a:lnTo>
                      <a:pt x="438530" y="74930"/>
                    </a:lnTo>
                    <a:lnTo>
                      <a:pt x="455215" y="125079"/>
                    </a:lnTo>
                    <a:lnTo>
                      <a:pt x="460755" y="186563"/>
                    </a:lnTo>
                    <a:lnTo>
                      <a:pt x="459370" y="219805"/>
                    </a:lnTo>
                    <a:lnTo>
                      <a:pt x="448218" y="277145"/>
                    </a:lnTo>
                    <a:lnTo>
                      <a:pt x="425783" y="321885"/>
                    </a:lnTo>
                    <a:lnTo>
                      <a:pt x="391683" y="352071"/>
                    </a:lnTo>
                    <a:lnTo>
                      <a:pt x="370204" y="361569"/>
                    </a:lnTo>
                    <a:lnTo>
                      <a:pt x="375030" y="376936"/>
                    </a:lnTo>
                    <a:lnTo>
                      <a:pt x="426370" y="352742"/>
                    </a:lnTo>
                    <a:lnTo>
                      <a:pt x="464185" y="311023"/>
                    </a:lnTo>
                    <a:lnTo>
                      <a:pt x="487441" y="255127"/>
                    </a:lnTo>
                    <a:lnTo>
                      <a:pt x="495173" y="188468"/>
                    </a:lnTo>
                    <a:lnTo>
                      <a:pt x="493222" y="153943"/>
                    </a:lnTo>
                    <a:lnTo>
                      <a:pt x="477652" y="92706"/>
                    </a:lnTo>
                    <a:lnTo>
                      <a:pt x="446843" y="42898"/>
                    </a:lnTo>
                    <a:lnTo>
                      <a:pt x="402318" y="9854"/>
                    </a:lnTo>
                    <a:lnTo>
                      <a:pt x="375030" y="0"/>
                    </a:lnTo>
                    <a:close/>
                  </a:path>
                  <a:path w="495300" h="377189">
                    <a:moveTo>
                      <a:pt x="120268" y="0"/>
                    </a:moveTo>
                    <a:lnTo>
                      <a:pt x="68976" y="24161"/>
                    </a:lnTo>
                    <a:lnTo>
                      <a:pt x="31114" y="66040"/>
                    </a:lnTo>
                    <a:lnTo>
                      <a:pt x="7794" y="122015"/>
                    </a:lnTo>
                    <a:lnTo>
                      <a:pt x="0" y="188468"/>
                    </a:lnTo>
                    <a:lnTo>
                      <a:pt x="1950" y="223137"/>
                    </a:lnTo>
                    <a:lnTo>
                      <a:pt x="17520" y="284426"/>
                    </a:lnTo>
                    <a:lnTo>
                      <a:pt x="48259" y="334073"/>
                    </a:lnTo>
                    <a:lnTo>
                      <a:pt x="92836" y="367030"/>
                    </a:lnTo>
                    <a:lnTo>
                      <a:pt x="120268" y="376936"/>
                    </a:lnTo>
                    <a:lnTo>
                      <a:pt x="125094" y="361569"/>
                    </a:lnTo>
                    <a:lnTo>
                      <a:pt x="103596" y="352071"/>
                    </a:lnTo>
                    <a:lnTo>
                      <a:pt x="85026" y="338836"/>
                    </a:lnTo>
                    <a:lnTo>
                      <a:pt x="56768" y="301244"/>
                    </a:lnTo>
                    <a:lnTo>
                      <a:pt x="40020" y="249999"/>
                    </a:lnTo>
                    <a:lnTo>
                      <a:pt x="34416" y="186563"/>
                    </a:lnTo>
                    <a:lnTo>
                      <a:pt x="35819" y="154386"/>
                    </a:lnTo>
                    <a:lnTo>
                      <a:pt x="47007" y="98605"/>
                    </a:lnTo>
                    <a:lnTo>
                      <a:pt x="69435" y="54566"/>
                    </a:lnTo>
                    <a:lnTo>
                      <a:pt x="103864" y="24745"/>
                    </a:lnTo>
                    <a:lnTo>
                      <a:pt x="125602" y="15240"/>
                    </a:lnTo>
                    <a:lnTo>
                      <a:pt x="120268" y="0"/>
                    </a:lnTo>
                    <a:close/>
                  </a:path>
                </a:pathLst>
              </a:custGeom>
              <a:solidFill>
                <a:srgbClr val="344B5E"/>
              </a:solidFill>
            </p:spPr>
            <p:txBody>
              <a:bodyPr wrap="square" lIns="0" tIns="0" rIns="0" bIns="0" rtlCol="0"/>
              <a:lstStyle/>
              <a:p>
                <a:endParaRPr/>
              </a:p>
            </p:txBody>
          </p:sp>
          <p:sp>
            <p:nvSpPr>
              <p:cNvPr id="21" name="object 12"/>
              <p:cNvSpPr txBox="1"/>
              <p:nvPr/>
            </p:nvSpPr>
            <p:spPr>
              <a:xfrm>
                <a:off x="4070945" y="4064128"/>
                <a:ext cx="673735" cy="513715"/>
              </a:xfrm>
              <a:prstGeom prst="rect">
                <a:avLst/>
              </a:prstGeom>
            </p:spPr>
            <p:txBody>
              <a:bodyPr vert="horz" wrap="square" lIns="0" tIns="12700" rIns="0" bIns="0" rtlCol="0">
                <a:spAutoFit/>
              </a:bodyPr>
              <a:lstStyle/>
              <a:p>
                <a:pPr marL="12700">
                  <a:spcBef>
                    <a:spcPts val="100"/>
                  </a:spcBef>
                </a:pPr>
                <a:r>
                  <a:rPr sz="3200" dirty="0">
                    <a:solidFill>
                      <a:srgbClr val="344B5E"/>
                    </a:solidFill>
                    <a:latin typeface="Verdana" panose="020B0604030504040204"/>
                    <a:cs typeface="Verdana" panose="020B0604030504040204"/>
                  </a:rPr>
                  <a:t>𝑃 𝑥</a:t>
                </a:r>
                <a:endParaRPr sz="3200" dirty="0">
                  <a:latin typeface="Verdana" panose="020B0604030504040204"/>
                  <a:cs typeface="Verdana" panose="020B0604030504040204"/>
                </a:endParaRPr>
              </a:p>
            </p:txBody>
          </p:sp>
          <p:sp>
            <p:nvSpPr>
              <p:cNvPr id="22" name="object 13"/>
              <p:cNvSpPr/>
              <p:nvPr/>
            </p:nvSpPr>
            <p:spPr>
              <a:xfrm>
                <a:off x="4679529" y="4759426"/>
                <a:ext cx="495300" cy="377190"/>
              </a:xfrm>
              <a:custGeom>
                <a:avLst/>
                <a:gdLst/>
                <a:ahLst/>
                <a:cxnLst/>
                <a:rect l="l" t="t" r="r" b="b"/>
                <a:pathLst>
                  <a:path w="495300" h="377189">
                    <a:moveTo>
                      <a:pt x="375031" y="0"/>
                    </a:moveTo>
                    <a:lnTo>
                      <a:pt x="369570" y="15303"/>
                    </a:lnTo>
                    <a:lnTo>
                      <a:pt x="391382" y="24771"/>
                    </a:lnTo>
                    <a:lnTo>
                      <a:pt x="410146" y="37877"/>
                    </a:lnTo>
                    <a:lnTo>
                      <a:pt x="438531" y="75006"/>
                    </a:lnTo>
                    <a:lnTo>
                      <a:pt x="455215" y="125098"/>
                    </a:lnTo>
                    <a:lnTo>
                      <a:pt x="460756" y="186563"/>
                    </a:lnTo>
                    <a:lnTo>
                      <a:pt x="459370" y="219810"/>
                    </a:lnTo>
                    <a:lnTo>
                      <a:pt x="448218" y="277131"/>
                    </a:lnTo>
                    <a:lnTo>
                      <a:pt x="425783" y="321896"/>
                    </a:lnTo>
                    <a:lnTo>
                      <a:pt x="391683" y="352096"/>
                    </a:lnTo>
                    <a:lnTo>
                      <a:pt x="370205" y="361607"/>
                    </a:lnTo>
                    <a:lnTo>
                      <a:pt x="375031" y="376910"/>
                    </a:lnTo>
                    <a:lnTo>
                      <a:pt x="426370" y="352794"/>
                    </a:lnTo>
                    <a:lnTo>
                      <a:pt x="464185" y="311048"/>
                    </a:lnTo>
                    <a:lnTo>
                      <a:pt x="487441" y="255136"/>
                    </a:lnTo>
                    <a:lnTo>
                      <a:pt x="495173" y="188556"/>
                    </a:lnTo>
                    <a:lnTo>
                      <a:pt x="493222" y="154004"/>
                    </a:lnTo>
                    <a:lnTo>
                      <a:pt x="477652" y="92759"/>
                    </a:lnTo>
                    <a:lnTo>
                      <a:pt x="446843" y="42898"/>
                    </a:lnTo>
                    <a:lnTo>
                      <a:pt x="402318" y="9865"/>
                    </a:lnTo>
                    <a:lnTo>
                      <a:pt x="375031" y="0"/>
                    </a:lnTo>
                    <a:close/>
                  </a:path>
                  <a:path w="495300" h="377189">
                    <a:moveTo>
                      <a:pt x="120269" y="0"/>
                    </a:moveTo>
                    <a:lnTo>
                      <a:pt x="68976" y="24164"/>
                    </a:lnTo>
                    <a:lnTo>
                      <a:pt x="31114" y="66065"/>
                    </a:lnTo>
                    <a:lnTo>
                      <a:pt x="7794" y="122072"/>
                    </a:lnTo>
                    <a:lnTo>
                      <a:pt x="0" y="188556"/>
                    </a:lnTo>
                    <a:lnTo>
                      <a:pt x="1950" y="223180"/>
                    </a:lnTo>
                    <a:lnTo>
                      <a:pt x="17520" y="284426"/>
                    </a:lnTo>
                    <a:lnTo>
                      <a:pt x="48260" y="334124"/>
                    </a:lnTo>
                    <a:lnTo>
                      <a:pt x="92837" y="367057"/>
                    </a:lnTo>
                    <a:lnTo>
                      <a:pt x="120269" y="376910"/>
                    </a:lnTo>
                    <a:lnTo>
                      <a:pt x="125095" y="361607"/>
                    </a:lnTo>
                    <a:lnTo>
                      <a:pt x="103596" y="352096"/>
                    </a:lnTo>
                    <a:lnTo>
                      <a:pt x="85026" y="338859"/>
                    </a:lnTo>
                    <a:lnTo>
                      <a:pt x="56769" y="301205"/>
                    </a:lnTo>
                    <a:lnTo>
                      <a:pt x="40020" y="249999"/>
                    </a:lnTo>
                    <a:lnTo>
                      <a:pt x="34417" y="186563"/>
                    </a:lnTo>
                    <a:lnTo>
                      <a:pt x="35819" y="154408"/>
                    </a:lnTo>
                    <a:lnTo>
                      <a:pt x="47007" y="98630"/>
                    </a:lnTo>
                    <a:lnTo>
                      <a:pt x="69435" y="54622"/>
                    </a:lnTo>
                    <a:lnTo>
                      <a:pt x="103864" y="24771"/>
                    </a:lnTo>
                    <a:lnTo>
                      <a:pt x="125602" y="15303"/>
                    </a:lnTo>
                    <a:lnTo>
                      <a:pt x="120269" y="0"/>
                    </a:lnTo>
                    <a:close/>
                  </a:path>
                </a:pathLst>
              </a:custGeom>
              <a:solidFill>
                <a:srgbClr val="344B5E"/>
              </a:solidFill>
            </p:spPr>
            <p:txBody>
              <a:bodyPr wrap="square" lIns="0" tIns="0" rIns="0" bIns="0" rtlCol="0"/>
              <a:lstStyle/>
              <a:p>
                <a:endParaRPr/>
              </a:p>
            </p:txBody>
          </p:sp>
          <p:sp>
            <p:nvSpPr>
              <p:cNvPr id="23" name="object 14"/>
              <p:cNvSpPr txBox="1"/>
              <p:nvPr/>
            </p:nvSpPr>
            <p:spPr>
              <a:xfrm>
                <a:off x="3779911" y="4644491"/>
                <a:ext cx="1394917" cy="505908"/>
              </a:xfrm>
              <a:prstGeom prst="rect">
                <a:avLst/>
              </a:prstGeom>
            </p:spPr>
            <p:txBody>
              <a:bodyPr vert="horz" wrap="square" lIns="0" tIns="13335" rIns="0" bIns="0" rtlCol="0">
                <a:spAutoFit/>
              </a:bodyPr>
              <a:lstStyle/>
              <a:p>
                <a:pPr marL="12700">
                  <a:spcBef>
                    <a:spcPts val="105"/>
                  </a:spcBef>
                </a:pPr>
                <a:r>
                  <a:rPr sz="3200" dirty="0">
                    <a:solidFill>
                      <a:srgbClr val="344B5E"/>
                    </a:solidFill>
                    <a:latin typeface="Verdana" panose="020B0604030504040204"/>
                    <a:cs typeface="Verdana" panose="020B0604030504040204"/>
                  </a:rPr>
                  <a:t>1−𝑃 𝑥</a:t>
                </a:r>
                <a:endParaRPr sz="3200" dirty="0">
                  <a:latin typeface="Verdana" panose="020B0604030504040204"/>
                  <a:cs typeface="Verdana" panose="020B0604030504040204"/>
                </a:endParaRPr>
              </a:p>
            </p:txBody>
          </p:sp>
          <p:sp>
            <p:nvSpPr>
              <p:cNvPr id="24" name="object 16"/>
              <p:cNvSpPr txBox="1"/>
              <p:nvPr/>
            </p:nvSpPr>
            <p:spPr>
              <a:xfrm>
                <a:off x="5422987" y="4222623"/>
                <a:ext cx="2173349" cy="505267"/>
              </a:xfrm>
              <a:prstGeom prst="rect">
                <a:avLst/>
              </a:prstGeom>
            </p:spPr>
            <p:txBody>
              <a:bodyPr vert="horz" wrap="square" lIns="0" tIns="12700" rIns="0" bIns="0" rtlCol="0">
                <a:spAutoFit/>
              </a:bodyPr>
              <a:lstStyle/>
              <a:p>
                <a:pPr marL="12700">
                  <a:spcBef>
                    <a:spcPts val="100"/>
                  </a:spcBef>
                </a:pPr>
                <a:r>
                  <a:rPr sz="4800" spc="-345" baseline="-21000" dirty="0">
                    <a:solidFill>
                      <a:srgbClr val="344B5E"/>
                    </a:solidFill>
                    <a:latin typeface="Verdana" panose="020B0604030504040204"/>
                    <a:cs typeface="Verdana" panose="020B0604030504040204"/>
                  </a:rPr>
                  <a:t>= </a:t>
                </a:r>
                <a:r>
                  <a:rPr sz="4800" baseline="-21000" dirty="0">
                    <a:solidFill>
                      <a:srgbClr val="344B5E"/>
                    </a:solidFill>
                    <a:latin typeface="Verdana" panose="020B0604030504040204"/>
                    <a:cs typeface="Verdana" panose="020B0604030504040204"/>
                  </a:rPr>
                  <a:t>𝑒 </a:t>
                </a:r>
                <a:r>
                  <a:rPr sz="2350" dirty="0">
                    <a:solidFill>
                      <a:srgbClr val="344B5E"/>
                    </a:solidFill>
                    <a:latin typeface="Verdana" panose="020B0604030504040204"/>
                    <a:cs typeface="Verdana" panose="020B0604030504040204"/>
                  </a:rPr>
                  <a:t>𝛽</a:t>
                </a:r>
                <a:r>
                  <a:rPr sz="2400" baseline="-15000" dirty="0">
                    <a:solidFill>
                      <a:srgbClr val="344B5E"/>
                    </a:solidFill>
                    <a:latin typeface="Verdana" panose="020B0604030504040204"/>
                    <a:cs typeface="Verdana" panose="020B0604030504040204"/>
                  </a:rPr>
                  <a:t>0</a:t>
                </a:r>
                <a:r>
                  <a:rPr sz="2350" dirty="0">
                    <a:solidFill>
                      <a:srgbClr val="344B5E"/>
                    </a:solidFill>
                    <a:latin typeface="Verdana" panose="020B0604030504040204"/>
                    <a:cs typeface="Verdana" panose="020B0604030504040204"/>
                  </a:rPr>
                  <a:t>+ 𝛽</a:t>
                </a:r>
                <a:r>
                  <a:rPr sz="2400" baseline="-15000" dirty="0">
                    <a:solidFill>
                      <a:srgbClr val="344B5E"/>
                    </a:solidFill>
                    <a:latin typeface="Verdana" panose="020B0604030504040204"/>
                    <a:cs typeface="Verdana" panose="020B0604030504040204"/>
                  </a:rPr>
                  <a:t>1</a:t>
                </a:r>
                <a:r>
                  <a:rPr sz="2350" dirty="0">
                    <a:solidFill>
                      <a:srgbClr val="344B5E"/>
                    </a:solidFill>
                    <a:latin typeface="Verdana" panose="020B0604030504040204"/>
                    <a:cs typeface="Verdana" panose="020B0604030504040204"/>
                  </a:rPr>
                  <a:t>𝑥</a:t>
                </a:r>
                <a:endParaRPr sz="2350" dirty="0">
                  <a:latin typeface="Verdana" panose="020B0604030504040204"/>
                  <a:cs typeface="Verdana" panose="020B0604030504040204"/>
                </a:endParaRPr>
              </a:p>
            </p:txBody>
          </p:sp>
        </p:grpSp>
      </p:grpSp>
      <p:sp>
        <p:nvSpPr>
          <p:cNvPr id="25" name="object 9"/>
          <p:cNvSpPr txBox="1"/>
          <p:nvPr/>
        </p:nvSpPr>
        <p:spPr>
          <a:xfrm>
            <a:off x="914400" y="4940049"/>
            <a:ext cx="2658621" cy="505267"/>
          </a:xfrm>
          <a:prstGeom prst="rect">
            <a:avLst/>
          </a:prstGeom>
        </p:spPr>
        <p:txBody>
          <a:bodyPr vert="horz" wrap="square" lIns="0" tIns="12700" rIns="0" bIns="0" rtlCol="0">
            <a:spAutoFit/>
          </a:bodyPr>
          <a:lstStyle/>
          <a:p>
            <a:pPr marL="24765" marR="5080" indent="-12700">
              <a:spcBef>
                <a:spcPts val="100"/>
              </a:spcBef>
            </a:pPr>
            <a:r>
              <a:rPr lang="zh-CN" altLang="en-US" sz="3200" b="1" spc="-45" dirty="0">
                <a:solidFill>
                  <a:srgbClr val="002060"/>
                </a:solidFill>
                <a:latin typeface="Arial" panose="020B0604020202020204"/>
                <a:cs typeface="Arial" panose="020B0604020202020204"/>
              </a:rPr>
              <a:t>几率</a:t>
            </a:r>
            <a:endParaRPr sz="3200" b="1" spc="-45" dirty="0">
              <a:solidFill>
                <a:srgbClr val="002060"/>
              </a:solidFill>
              <a:latin typeface="Arial" panose="020B0604020202020204"/>
              <a:cs typeface="Arial" panose="020B0604020202020204"/>
            </a:endParaRPr>
          </a:p>
        </p:txBody>
      </p:sp>
      <p:sp>
        <p:nvSpPr>
          <p:cNvPr id="31" name="object 17"/>
          <p:cNvSpPr/>
          <p:nvPr/>
        </p:nvSpPr>
        <p:spPr>
          <a:xfrm>
            <a:off x="6774350" y="4068164"/>
            <a:ext cx="556260" cy="736600"/>
          </a:xfrm>
          <a:custGeom>
            <a:avLst/>
            <a:gdLst/>
            <a:ahLst/>
            <a:cxnLst/>
            <a:rect l="l" t="t" r="r" b="b"/>
            <a:pathLst>
              <a:path w="556260" h="736600">
                <a:moveTo>
                  <a:pt x="556260" y="457962"/>
                </a:moveTo>
                <a:lnTo>
                  <a:pt x="0" y="457962"/>
                </a:lnTo>
                <a:lnTo>
                  <a:pt x="278130" y="736091"/>
                </a:lnTo>
                <a:lnTo>
                  <a:pt x="556260" y="457962"/>
                </a:lnTo>
                <a:close/>
              </a:path>
              <a:path w="556260" h="736600">
                <a:moveTo>
                  <a:pt x="417195" y="0"/>
                </a:moveTo>
                <a:lnTo>
                  <a:pt x="139064" y="0"/>
                </a:lnTo>
                <a:lnTo>
                  <a:pt x="139064" y="457962"/>
                </a:lnTo>
                <a:lnTo>
                  <a:pt x="417195" y="457962"/>
                </a:lnTo>
                <a:lnTo>
                  <a:pt x="417195" y="0"/>
                </a:lnTo>
                <a:close/>
              </a:path>
            </a:pathLst>
          </a:custGeom>
          <a:solidFill>
            <a:srgbClr val="D0692F"/>
          </a:solidFill>
        </p:spPr>
        <p:txBody>
          <a:bodyPr wrap="square" lIns="0" tIns="0" rIns="0" bIns="0" rtlCol="0"/>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additive="base">
                                        <p:cTn id="13" dur="500" fill="hold"/>
                                        <p:tgtEl>
                                          <p:spTgt spid="31"/>
                                        </p:tgtEl>
                                        <p:attrNameLst>
                                          <p:attrName>ppt_x</p:attrName>
                                        </p:attrNameLst>
                                      </p:cBhvr>
                                      <p:tavLst>
                                        <p:tav tm="0">
                                          <p:val>
                                            <p:strVal val="#ppt_x"/>
                                          </p:val>
                                        </p:tav>
                                        <p:tav tm="100000">
                                          <p:val>
                                            <p:strVal val="#ppt_x"/>
                                          </p:val>
                                        </p:tav>
                                      </p:tavLst>
                                    </p:anim>
                                    <p:anim calcmode="lin" valueType="num">
                                      <p:cBhvr additive="base">
                                        <p:cTn id="1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60120" y="2332674"/>
            <a:ext cx="2831623" cy="505267"/>
          </a:xfrm>
          <a:prstGeom prst="rect">
            <a:avLst/>
          </a:prstGeom>
        </p:spPr>
        <p:txBody>
          <a:bodyPr vert="horz" wrap="square" lIns="0" tIns="12700" rIns="0" bIns="0" rtlCol="0">
            <a:spAutoFit/>
          </a:bodyPr>
          <a:lstStyle/>
          <a:p>
            <a:pPr marL="12700" marR="5080" indent="73025" algn="ctr">
              <a:spcBef>
                <a:spcPts val="100"/>
              </a:spcBef>
            </a:pPr>
            <a:r>
              <a:rPr sz="3200" b="1" spc="-65" dirty="0">
                <a:solidFill>
                  <a:srgbClr val="002060"/>
                </a:solidFill>
                <a:latin typeface="Arial" panose="020B0604020202020204"/>
                <a:cs typeface="Arial" panose="020B0604020202020204"/>
              </a:rPr>
              <a:t>Logistic  </a:t>
            </a:r>
            <a:r>
              <a:rPr lang="zh-CN" altLang="en-US" sz="3200" b="1" spc="-65" dirty="0">
                <a:solidFill>
                  <a:srgbClr val="002060"/>
                </a:solidFill>
                <a:latin typeface="Arial" panose="020B0604020202020204"/>
                <a:cs typeface="Arial" panose="020B0604020202020204"/>
              </a:rPr>
              <a:t>函数</a:t>
            </a:r>
            <a:endParaRPr sz="3200" b="1" spc="-65" dirty="0">
              <a:solidFill>
                <a:srgbClr val="002060"/>
              </a:solidFill>
              <a:latin typeface="Arial" panose="020B0604020202020204"/>
              <a:cs typeface="Arial" panose="020B0604020202020204"/>
            </a:endParaRPr>
          </a:p>
        </p:txBody>
      </p:sp>
      <p:sp>
        <p:nvSpPr>
          <p:cNvPr id="12" name="标题 11"/>
          <p:cNvSpPr>
            <a:spLocks noGrp="1"/>
          </p:cNvSpPr>
          <p:nvPr>
            <p:ph type="title"/>
          </p:nvPr>
        </p:nvSpPr>
        <p:spPr/>
        <p:txBody>
          <a:bodyPr/>
          <a:lstStyle/>
          <a:p>
            <a:r>
              <a:rPr lang="zh-CN" altLang="en-US" dirty="0"/>
              <a:t>逻辑回归和线性回归的关系</a:t>
            </a:r>
          </a:p>
        </p:txBody>
      </p:sp>
      <p:sp>
        <p:nvSpPr>
          <p:cNvPr id="25" name="object 9"/>
          <p:cNvSpPr txBox="1"/>
          <p:nvPr/>
        </p:nvSpPr>
        <p:spPr>
          <a:xfrm>
            <a:off x="960120" y="4226052"/>
            <a:ext cx="2392680" cy="505267"/>
          </a:xfrm>
          <a:prstGeom prst="rect">
            <a:avLst/>
          </a:prstGeom>
        </p:spPr>
        <p:txBody>
          <a:bodyPr vert="horz" wrap="square" lIns="0" tIns="12700" rIns="0" bIns="0" rtlCol="0">
            <a:spAutoFit/>
          </a:bodyPr>
          <a:lstStyle/>
          <a:p>
            <a:pPr marL="24765" marR="5080" indent="-12700" algn="ctr">
              <a:spcBef>
                <a:spcPts val="100"/>
              </a:spcBef>
            </a:pPr>
            <a:r>
              <a:rPr lang="zh-CN" altLang="en-US" sz="3200" b="1" spc="-65" dirty="0">
                <a:solidFill>
                  <a:srgbClr val="002060"/>
                </a:solidFill>
                <a:latin typeface="Arial" panose="020B0604020202020204"/>
                <a:cs typeface="Arial" panose="020B0604020202020204"/>
              </a:rPr>
              <a:t>对数几率</a:t>
            </a:r>
            <a:endParaRPr sz="3200" b="1" spc="-65" dirty="0">
              <a:solidFill>
                <a:srgbClr val="002060"/>
              </a:solidFill>
              <a:latin typeface="Arial" panose="020B0604020202020204"/>
              <a:cs typeface="Arial" panose="020B0604020202020204"/>
            </a:endParaRPr>
          </a:p>
        </p:txBody>
      </p:sp>
      <p:sp>
        <p:nvSpPr>
          <p:cNvPr id="26" name="object 10"/>
          <p:cNvSpPr/>
          <p:nvPr/>
        </p:nvSpPr>
        <p:spPr>
          <a:xfrm>
            <a:off x="4895374" y="4675378"/>
            <a:ext cx="2201333" cy="0"/>
          </a:xfrm>
          <a:custGeom>
            <a:avLst/>
            <a:gdLst/>
            <a:ahLst/>
            <a:cxnLst/>
            <a:rect l="l" t="t" r="r" b="b"/>
            <a:pathLst>
              <a:path w="1651000">
                <a:moveTo>
                  <a:pt x="0" y="0"/>
                </a:moveTo>
                <a:lnTo>
                  <a:pt x="1650492" y="0"/>
                </a:lnTo>
              </a:path>
            </a:pathLst>
          </a:custGeom>
          <a:ln w="25907">
            <a:solidFill>
              <a:srgbClr val="344B5E"/>
            </a:solidFill>
          </a:ln>
        </p:spPr>
        <p:txBody>
          <a:bodyPr wrap="square" lIns="0" tIns="0" rIns="0" bIns="0" rtlCol="0"/>
          <a:lstStyle/>
          <a:p>
            <a:endParaRPr/>
          </a:p>
        </p:txBody>
      </p:sp>
      <p:sp>
        <p:nvSpPr>
          <p:cNvPr id="27" name="object 11"/>
          <p:cNvSpPr/>
          <p:nvPr/>
        </p:nvSpPr>
        <p:spPr>
          <a:xfrm>
            <a:off x="5841099" y="4178808"/>
            <a:ext cx="660400" cy="377190"/>
          </a:xfrm>
          <a:custGeom>
            <a:avLst/>
            <a:gdLst/>
            <a:ahLst/>
            <a:cxnLst/>
            <a:rect l="l" t="t" r="r" b="b"/>
            <a:pathLst>
              <a:path w="495300" h="377189">
                <a:moveTo>
                  <a:pt x="375030" y="0"/>
                </a:moveTo>
                <a:lnTo>
                  <a:pt x="369569" y="15240"/>
                </a:lnTo>
                <a:lnTo>
                  <a:pt x="391382" y="24745"/>
                </a:lnTo>
                <a:lnTo>
                  <a:pt x="410146" y="37846"/>
                </a:lnTo>
                <a:lnTo>
                  <a:pt x="438530" y="74930"/>
                </a:lnTo>
                <a:lnTo>
                  <a:pt x="455215" y="125079"/>
                </a:lnTo>
                <a:lnTo>
                  <a:pt x="460755" y="186563"/>
                </a:lnTo>
                <a:lnTo>
                  <a:pt x="459370" y="219805"/>
                </a:lnTo>
                <a:lnTo>
                  <a:pt x="448218" y="277145"/>
                </a:lnTo>
                <a:lnTo>
                  <a:pt x="425783" y="321885"/>
                </a:lnTo>
                <a:lnTo>
                  <a:pt x="391683" y="352071"/>
                </a:lnTo>
                <a:lnTo>
                  <a:pt x="370204" y="361569"/>
                </a:lnTo>
                <a:lnTo>
                  <a:pt x="375030" y="376936"/>
                </a:lnTo>
                <a:lnTo>
                  <a:pt x="426370" y="352742"/>
                </a:lnTo>
                <a:lnTo>
                  <a:pt x="464185" y="311023"/>
                </a:lnTo>
                <a:lnTo>
                  <a:pt x="487441" y="255127"/>
                </a:lnTo>
                <a:lnTo>
                  <a:pt x="495173" y="188468"/>
                </a:lnTo>
                <a:lnTo>
                  <a:pt x="493222" y="153943"/>
                </a:lnTo>
                <a:lnTo>
                  <a:pt x="477652" y="92706"/>
                </a:lnTo>
                <a:lnTo>
                  <a:pt x="446843" y="42898"/>
                </a:lnTo>
                <a:lnTo>
                  <a:pt x="402318" y="9854"/>
                </a:lnTo>
                <a:lnTo>
                  <a:pt x="375030" y="0"/>
                </a:lnTo>
                <a:close/>
              </a:path>
              <a:path w="495300" h="377189">
                <a:moveTo>
                  <a:pt x="120268" y="0"/>
                </a:moveTo>
                <a:lnTo>
                  <a:pt x="68976" y="24161"/>
                </a:lnTo>
                <a:lnTo>
                  <a:pt x="31114" y="66040"/>
                </a:lnTo>
                <a:lnTo>
                  <a:pt x="7794" y="122015"/>
                </a:lnTo>
                <a:lnTo>
                  <a:pt x="0" y="188468"/>
                </a:lnTo>
                <a:lnTo>
                  <a:pt x="1950" y="223137"/>
                </a:lnTo>
                <a:lnTo>
                  <a:pt x="17520" y="284426"/>
                </a:lnTo>
                <a:lnTo>
                  <a:pt x="48259" y="334073"/>
                </a:lnTo>
                <a:lnTo>
                  <a:pt x="92836" y="367030"/>
                </a:lnTo>
                <a:lnTo>
                  <a:pt x="120268" y="376936"/>
                </a:lnTo>
                <a:lnTo>
                  <a:pt x="125094" y="361569"/>
                </a:lnTo>
                <a:lnTo>
                  <a:pt x="103596" y="352071"/>
                </a:lnTo>
                <a:lnTo>
                  <a:pt x="85026" y="338836"/>
                </a:lnTo>
                <a:lnTo>
                  <a:pt x="56768" y="301244"/>
                </a:lnTo>
                <a:lnTo>
                  <a:pt x="40020" y="249999"/>
                </a:lnTo>
                <a:lnTo>
                  <a:pt x="34416" y="186563"/>
                </a:lnTo>
                <a:lnTo>
                  <a:pt x="35819" y="154386"/>
                </a:lnTo>
                <a:lnTo>
                  <a:pt x="47007" y="98605"/>
                </a:lnTo>
                <a:lnTo>
                  <a:pt x="69435" y="54566"/>
                </a:lnTo>
                <a:lnTo>
                  <a:pt x="103864" y="24745"/>
                </a:lnTo>
                <a:lnTo>
                  <a:pt x="125602" y="15240"/>
                </a:lnTo>
                <a:lnTo>
                  <a:pt x="120268" y="0"/>
                </a:lnTo>
                <a:close/>
              </a:path>
            </a:pathLst>
          </a:custGeom>
          <a:solidFill>
            <a:srgbClr val="344B5E"/>
          </a:solidFill>
        </p:spPr>
        <p:txBody>
          <a:bodyPr wrap="square" lIns="0" tIns="0" rIns="0" bIns="0" rtlCol="0"/>
          <a:lstStyle/>
          <a:p>
            <a:endParaRPr/>
          </a:p>
        </p:txBody>
      </p:sp>
      <p:sp>
        <p:nvSpPr>
          <p:cNvPr id="28" name="object 12"/>
          <p:cNvSpPr txBox="1"/>
          <p:nvPr/>
        </p:nvSpPr>
        <p:spPr>
          <a:xfrm>
            <a:off x="5578179" y="4064129"/>
            <a:ext cx="923319" cy="513715"/>
          </a:xfrm>
          <a:prstGeom prst="rect">
            <a:avLst/>
          </a:prstGeom>
        </p:spPr>
        <p:txBody>
          <a:bodyPr vert="horz" wrap="square" lIns="0" tIns="12700" rIns="0" bIns="0" rtlCol="0">
            <a:spAutoFit/>
          </a:bodyPr>
          <a:lstStyle/>
          <a:p>
            <a:pPr marL="12700">
              <a:spcBef>
                <a:spcPts val="100"/>
              </a:spcBef>
            </a:pPr>
            <a:r>
              <a:rPr sz="3200" dirty="0">
                <a:solidFill>
                  <a:srgbClr val="344B5E"/>
                </a:solidFill>
                <a:latin typeface="Verdana" panose="020B0604030504040204"/>
                <a:cs typeface="Verdana" panose="020B0604030504040204"/>
              </a:rPr>
              <a:t>𝑃 𝑥</a:t>
            </a:r>
            <a:endParaRPr sz="3200" dirty="0">
              <a:latin typeface="Verdana" panose="020B0604030504040204"/>
              <a:cs typeface="Verdana" panose="020B0604030504040204"/>
            </a:endParaRPr>
          </a:p>
        </p:txBody>
      </p:sp>
      <p:sp>
        <p:nvSpPr>
          <p:cNvPr id="29" name="object 13"/>
          <p:cNvSpPr/>
          <p:nvPr/>
        </p:nvSpPr>
        <p:spPr>
          <a:xfrm>
            <a:off x="6239372" y="4759426"/>
            <a:ext cx="660400" cy="377190"/>
          </a:xfrm>
          <a:custGeom>
            <a:avLst/>
            <a:gdLst/>
            <a:ahLst/>
            <a:cxnLst/>
            <a:rect l="l" t="t" r="r" b="b"/>
            <a:pathLst>
              <a:path w="495300" h="377189">
                <a:moveTo>
                  <a:pt x="375031" y="0"/>
                </a:moveTo>
                <a:lnTo>
                  <a:pt x="369570" y="15303"/>
                </a:lnTo>
                <a:lnTo>
                  <a:pt x="391382" y="24771"/>
                </a:lnTo>
                <a:lnTo>
                  <a:pt x="410146" y="37877"/>
                </a:lnTo>
                <a:lnTo>
                  <a:pt x="438531" y="75006"/>
                </a:lnTo>
                <a:lnTo>
                  <a:pt x="455215" y="125098"/>
                </a:lnTo>
                <a:lnTo>
                  <a:pt x="460756" y="186563"/>
                </a:lnTo>
                <a:lnTo>
                  <a:pt x="459370" y="219810"/>
                </a:lnTo>
                <a:lnTo>
                  <a:pt x="448218" y="277131"/>
                </a:lnTo>
                <a:lnTo>
                  <a:pt x="425783" y="321896"/>
                </a:lnTo>
                <a:lnTo>
                  <a:pt x="391683" y="352096"/>
                </a:lnTo>
                <a:lnTo>
                  <a:pt x="370205" y="361607"/>
                </a:lnTo>
                <a:lnTo>
                  <a:pt x="375031" y="376910"/>
                </a:lnTo>
                <a:lnTo>
                  <a:pt x="426370" y="352794"/>
                </a:lnTo>
                <a:lnTo>
                  <a:pt x="464185" y="311048"/>
                </a:lnTo>
                <a:lnTo>
                  <a:pt x="487441" y="255136"/>
                </a:lnTo>
                <a:lnTo>
                  <a:pt x="495173" y="188556"/>
                </a:lnTo>
                <a:lnTo>
                  <a:pt x="493222" y="154004"/>
                </a:lnTo>
                <a:lnTo>
                  <a:pt x="477652" y="92759"/>
                </a:lnTo>
                <a:lnTo>
                  <a:pt x="446843" y="42898"/>
                </a:lnTo>
                <a:lnTo>
                  <a:pt x="402318" y="9865"/>
                </a:lnTo>
                <a:lnTo>
                  <a:pt x="375031" y="0"/>
                </a:lnTo>
                <a:close/>
              </a:path>
              <a:path w="495300" h="377189">
                <a:moveTo>
                  <a:pt x="120269" y="0"/>
                </a:moveTo>
                <a:lnTo>
                  <a:pt x="68976" y="24164"/>
                </a:lnTo>
                <a:lnTo>
                  <a:pt x="31114" y="66065"/>
                </a:lnTo>
                <a:lnTo>
                  <a:pt x="7794" y="122072"/>
                </a:lnTo>
                <a:lnTo>
                  <a:pt x="0" y="188556"/>
                </a:lnTo>
                <a:lnTo>
                  <a:pt x="1950" y="223180"/>
                </a:lnTo>
                <a:lnTo>
                  <a:pt x="17520" y="284426"/>
                </a:lnTo>
                <a:lnTo>
                  <a:pt x="48260" y="334124"/>
                </a:lnTo>
                <a:lnTo>
                  <a:pt x="92837" y="367057"/>
                </a:lnTo>
                <a:lnTo>
                  <a:pt x="120269" y="376910"/>
                </a:lnTo>
                <a:lnTo>
                  <a:pt x="125095" y="361607"/>
                </a:lnTo>
                <a:lnTo>
                  <a:pt x="103596" y="352096"/>
                </a:lnTo>
                <a:lnTo>
                  <a:pt x="85026" y="338859"/>
                </a:lnTo>
                <a:lnTo>
                  <a:pt x="56769" y="301205"/>
                </a:lnTo>
                <a:lnTo>
                  <a:pt x="40020" y="249999"/>
                </a:lnTo>
                <a:lnTo>
                  <a:pt x="34417" y="186563"/>
                </a:lnTo>
                <a:lnTo>
                  <a:pt x="35819" y="154408"/>
                </a:lnTo>
                <a:lnTo>
                  <a:pt x="47007" y="98630"/>
                </a:lnTo>
                <a:lnTo>
                  <a:pt x="69435" y="54622"/>
                </a:lnTo>
                <a:lnTo>
                  <a:pt x="103864" y="24771"/>
                </a:lnTo>
                <a:lnTo>
                  <a:pt x="125602" y="15303"/>
                </a:lnTo>
                <a:lnTo>
                  <a:pt x="120269" y="0"/>
                </a:lnTo>
                <a:close/>
              </a:path>
            </a:pathLst>
          </a:custGeom>
          <a:solidFill>
            <a:srgbClr val="344B5E"/>
          </a:solidFill>
        </p:spPr>
        <p:txBody>
          <a:bodyPr wrap="square" lIns="0" tIns="0" rIns="0" bIns="0" rtlCol="0"/>
          <a:lstStyle/>
          <a:p>
            <a:endParaRPr/>
          </a:p>
        </p:txBody>
      </p:sp>
      <p:sp>
        <p:nvSpPr>
          <p:cNvPr id="30" name="object 14"/>
          <p:cNvSpPr txBox="1"/>
          <p:nvPr/>
        </p:nvSpPr>
        <p:spPr>
          <a:xfrm>
            <a:off x="5345548" y="4644491"/>
            <a:ext cx="1554223" cy="505908"/>
          </a:xfrm>
          <a:prstGeom prst="rect">
            <a:avLst/>
          </a:prstGeom>
        </p:spPr>
        <p:txBody>
          <a:bodyPr vert="horz" wrap="square" lIns="0" tIns="13335" rIns="0" bIns="0" rtlCol="0">
            <a:spAutoFit/>
          </a:bodyPr>
          <a:lstStyle/>
          <a:p>
            <a:pPr marL="12700">
              <a:spcBef>
                <a:spcPts val="105"/>
              </a:spcBef>
            </a:pPr>
            <a:r>
              <a:rPr sz="3200" dirty="0">
                <a:solidFill>
                  <a:srgbClr val="344B5E"/>
                </a:solidFill>
                <a:latin typeface="Verdana" panose="020B0604030504040204"/>
                <a:cs typeface="Verdana" panose="020B0604030504040204"/>
              </a:rPr>
              <a:t>1−𝑃 𝑥</a:t>
            </a:r>
            <a:endParaRPr sz="3200" dirty="0">
              <a:latin typeface="Verdana" panose="020B0604030504040204"/>
              <a:cs typeface="Verdana" panose="020B0604030504040204"/>
            </a:endParaRPr>
          </a:p>
        </p:txBody>
      </p:sp>
      <p:sp>
        <p:nvSpPr>
          <p:cNvPr id="32" name="object 16"/>
          <p:cNvSpPr txBox="1"/>
          <p:nvPr/>
        </p:nvSpPr>
        <p:spPr>
          <a:xfrm>
            <a:off x="7230650" y="4291886"/>
            <a:ext cx="2897799" cy="505267"/>
          </a:xfrm>
          <a:prstGeom prst="rect">
            <a:avLst/>
          </a:prstGeom>
        </p:spPr>
        <p:txBody>
          <a:bodyPr vert="horz" wrap="square" lIns="0" tIns="12700" rIns="0" bIns="0" rtlCol="0">
            <a:spAutoFit/>
          </a:bodyPr>
          <a:lstStyle/>
          <a:p>
            <a:pPr marL="12700">
              <a:spcBef>
                <a:spcPts val="100"/>
              </a:spcBef>
            </a:pPr>
            <a:r>
              <a:rPr sz="4800" spc="-345" baseline="-21000" dirty="0">
                <a:solidFill>
                  <a:srgbClr val="344B5E"/>
                </a:solidFill>
                <a:latin typeface="Verdana" panose="020B0604030504040204"/>
                <a:cs typeface="Verdana" panose="020B0604030504040204"/>
              </a:rPr>
              <a:t>= </a:t>
            </a:r>
            <a:r>
              <a:rPr lang="en-US" altLang="zh-CN" sz="4800" spc="-345" baseline="-21000" dirty="0">
                <a:solidFill>
                  <a:srgbClr val="344B5E"/>
                </a:solidFill>
                <a:latin typeface="Verdana" panose="020B0604030504040204"/>
                <a:cs typeface="Verdana" panose="020B0604030504040204"/>
              </a:rPr>
              <a:t> </a:t>
            </a:r>
            <a:r>
              <a:rPr sz="2800" dirty="0">
                <a:solidFill>
                  <a:srgbClr val="344B5E"/>
                </a:solidFill>
                <a:latin typeface="Verdana" panose="020B0604030504040204"/>
                <a:cs typeface="Verdana" panose="020B0604030504040204"/>
              </a:rPr>
              <a:t>𝛽</a:t>
            </a:r>
            <a:r>
              <a:rPr sz="2800" baseline="-15000" dirty="0">
                <a:solidFill>
                  <a:srgbClr val="344B5E"/>
                </a:solidFill>
                <a:latin typeface="Verdana" panose="020B0604030504040204"/>
                <a:cs typeface="Verdana" panose="020B0604030504040204"/>
              </a:rPr>
              <a:t>0</a:t>
            </a:r>
            <a:r>
              <a:rPr sz="2800" dirty="0">
                <a:solidFill>
                  <a:srgbClr val="344B5E"/>
                </a:solidFill>
                <a:latin typeface="Verdana" panose="020B0604030504040204"/>
                <a:cs typeface="Verdana" panose="020B0604030504040204"/>
              </a:rPr>
              <a:t>+ 𝛽</a:t>
            </a:r>
            <a:r>
              <a:rPr sz="2800" baseline="-15000" dirty="0">
                <a:solidFill>
                  <a:srgbClr val="344B5E"/>
                </a:solidFill>
                <a:latin typeface="Verdana" panose="020B0604030504040204"/>
                <a:cs typeface="Verdana" panose="020B0604030504040204"/>
              </a:rPr>
              <a:t>1</a:t>
            </a:r>
            <a:r>
              <a:rPr sz="2800" dirty="0">
                <a:solidFill>
                  <a:srgbClr val="344B5E"/>
                </a:solidFill>
                <a:latin typeface="Verdana" panose="020B0604030504040204"/>
                <a:cs typeface="Verdana" panose="020B0604030504040204"/>
              </a:rPr>
              <a:t>𝑥</a:t>
            </a:r>
            <a:endParaRPr sz="2800" dirty="0">
              <a:latin typeface="Verdana" panose="020B0604030504040204"/>
              <a:cs typeface="Verdana" panose="020B0604030504040204"/>
            </a:endParaRPr>
          </a:p>
        </p:txBody>
      </p:sp>
      <p:sp>
        <p:nvSpPr>
          <p:cNvPr id="33" name="object 17"/>
          <p:cNvSpPr/>
          <p:nvPr/>
        </p:nvSpPr>
        <p:spPr>
          <a:xfrm>
            <a:off x="6972923" y="3260598"/>
            <a:ext cx="741680" cy="736600"/>
          </a:xfrm>
          <a:custGeom>
            <a:avLst/>
            <a:gdLst/>
            <a:ahLst/>
            <a:cxnLst/>
            <a:rect l="l" t="t" r="r" b="b"/>
            <a:pathLst>
              <a:path w="556260" h="736600">
                <a:moveTo>
                  <a:pt x="556260" y="457962"/>
                </a:moveTo>
                <a:lnTo>
                  <a:pt x="0" y="457962"/>
                </a:lnTo>
                <a:lnTo>
                  <a:pt x="278130" y="736091"/>
                </a:lnTo>
                <a:lnTo>
                  <a:pt x="556260" y="457962"/>
                </a:lnTo>
                <a:close/>
              </a:path>
              <a:path w="556260" h="736600">
                <a:moveTo>
                  <a:pt x="417195" y="0"/>
                </a:moveTo>
                <a:lnTo>
                  <a:pt x="139064" y="0"/>
                </a:lnTo>
                <a:lnTo>
                  <a:pt x="139064" y="457962"/>
                </a:lnTo>
                <a:lnTo>
                  <a:pt x="417195" y="457962"/>
                </a:lnTo>
                <a:lnTo>
                  <a:pt x="417195" y="0"/>
                </a:lnTo>
                <a:close/>
              </a:path>
            </a:pathLst>
          </a:custGeom>
          <a:solidFill>
            <a:srgbClr val="D0692F"/>
          </a:solidFill>
        </p:spPr>
        <p:txBody>
          <a:bodyPr wrap="square" lIns="0" tIns="0" rIns="0" bIns="0" rtlCol="0"/>
          <a:lstStyle/>
          <a:p>
            <a:endParaRPr/>
          </a:p>
        </p:txBody>
      </p:sp>
      <p:sp>
        <p:nvSpPr>
          <p:cNvPr id="34" name="object 10"/>
          <p:cNvSpPr/>
          <p:nvPr/>
        </p:nvSpPr>
        <p:spPr>
          <a:xfrm>
            <a:off x="4972135" y="2483883"/>
            <a:ext cx="660400" cy="377190"/>
          </a:xfrm>
          <a:custGeom>
            <a:avLst/>
            <a:gdLst/>
            <a:ahLst/>
            <a:cxnLst/>
            <a:rect l="l" t="t" r="r" b="b"/>
            <a:pathLst>
              <a:path w="495300" h="377189">
                <a:moveTo>
                  <a:pt x="374903" y="0"/>
                </a:moveTo>
                <a:lnTo>
                  <a:pt x="369570" y="15367"/>
                </a:lnTo>
                <a:lnTo>
                  <a:pt x="391380" y="24818"/>
                </a:lnTo>
                <a:lnTo>
                  <a:pt x="410130" y="37925"/>
                </a:lnTo>
                <a:lnTo>
                  <a:pt x="438403" y="75056"/>
                </a:lnTo>
                <a:lnTo>
                  <a:pt x="455152" y="125142"/>
                </a:lnTo>
                <a:lnTo>
                  <a:pt x="460756" y="186562"/>
                </a:lnTo>
                <a:lnTo>
                  <a:pt x="459353" y="219805"/>
                </a:lnTo>
                <a:lnTo>
                  <a:pt x="448165" y="277145"/>
                </a:lnTo>
                <a:lnTo>
                  <a:pt x="425709" y="321941"/>
                </a:lnTo>
                <a:lnTo>
                  <a:pt x="391558" y="352143"/>
                </a:lnTo>
                <a:lnTo>
                  <a:pt x="370077" y="361695"/>
                </a:lnTo>
                <a:lnTo>
                  <a:pt x="374903" y="376936"/>
                </a:lnTo>
                <a:lnTo>
                  <a:pt x="426291" y="352837"/>
                </a:lnTo>
                <a:lnTo>
                  <a:pt x="464058" y="311023"/>
                </a:lnTo>
                <a:lnTo>
                  <a:pt x="487314" y="255143"/>
                </a:lnTo>
                <a:lnTo>
                  <a:pt x="495046" y="188594"/>
                </a:lnTo>
                <a:lnTo>
                  <a:pt x="493115" y="154015"/>
                </a:lnTo>
                <a:lnTo>
                  <a:pt x="477633" y="92761"/>
                </a:lnTo>
                <a:lnTo>
                  <a:pt x="446770" y="42916"/>
                </a:lnTo>
                <a:lnTo>
                  <a:pt x="402193" y="9907"/>
                </a:lnTo>
                <a:lnTo>
                  <a:pt x="374903" y="0"/>
                </a:lnTo>
                <a:close/>
              </a:path>
              <a:path w="495300" h="377189">
                <a:moveTo>
                  <a:pt x="120141" y="0"/>
                </a:moveTo>
                <a:lnTo>
                  <a:pt x="68913" y="24209"/>
                </a:lnTo>
                <a:lnTo>
                  <a:pt x="31114" y="66039"/>
                </a:lnTo>
                <a:lnTo>
                  <a:pt x="7747" y="122078"/>
                </a:lnTo>
                <a:lnTo>
                  <a:pt x="0" y="188594"/>
                </a:lnTo>
                <a:lnTo>
                  <a:pt x="1930" y="223190"/>
                </a:lnTo>
                <a:lnTo>
                  <a:pt x="17412" y="284428"/>
                </a:lnTo>
                <a:lnTo>
                  <a:pt x="48204" y="334144"/>
                </a:lnTo>
                <a:lnTo>
                  <a:pt x="92781" y="367101"/>
                </a:lnTo>
                <a:lnTo>
                  <a:pt x="120141" y="376936"/>
                </a:lnTo>
                <a:lnTo>
                  <a:pt x="124968" y="361695"/>
                </a:lnTo>
                <a:lnTo>
                  <a:pt x="103487" y="352143"/>
                </a:lnTo>
                <a:lnTo>
                  <a:pt x="84947" y="338899"/>
                </a:lnTo>
                <a:lnTo>
                  <a:pt x="56641" y="301244"/>
                </a:lnTo>
                <a:lnTo>
                  <a:pt x="39893" y="249999"/>
                </a:lnTo>
                <a:lnTo>
                  <a:pt x="34289" y="186562"/>
                </a:lnTo>
                <a:lnTo>
                  <a:pt x="35692" y="154441"/>
                </a:lnTo>
                <a:lnTo>
                  <a:pt x="46880" y="98677"/>
                </a:lnTo>
                <a:lnTo>
                  <a:pt x="69363" y="54675"/>
                </a:lnTo>
                <a:lnTo>
                  <a:pt x="103808" y="24818"/>
                </a:lnTo>
                <a:lnTo>
                  <a:pt x="125602" y="15367"/>
                </a:lnTo>
                <a:lnTo>
                  <a:pt x="120141" y="0"/>
                </a:lnTo>
                <a:close/>
              </a:path>
            </a:pathLst>
          </a:custGeom>
          <a:solidFill>
            <a:srgbClr val="344B5E"/>
          </a:solidFill>
        </p:spPr>
        <p:txBody>
          <a:bodyPr wrap="square" lIns="0" tIns="0" rIns="0" bIns="0" rtlCol="0"/>
          <a:lstStyle/>
          <a:p>
            <a:endParaRPr/>
          </a:p>
        </p:txBody>
      </p:sp>
      <p:sp>
        <p:nvSpPr>
          <p:cNvPr id="35" name="object 11"/>
          <p:cNvSpPr txBox="1"/>
          <p:nvPr/>
        </p:nvSpPr>
        <p:spPr>
          <a:xfrm>
            <a:off x="4760162" y="2369078"/>
            <a:ext cx="1618964" cy="505267"/>
          </a:xfrm>
          <a:prstGeom prst="rect">
            <a:avLst/>
          </a:prstGeom>
        </p:spPr>
        <p:txBody>
          <a:bodyPr vert="horz" wrap="square" lIns="0" tIns="12700" rIns="0" bIns="0" rtlCol="0">
            <a:spAutoFit/>
          </a:bodyPr>
          <a:lstStyle/>
          <a:p>
            <a:pPr marL="12700">
              <a:spcBef>
                <a:spcPts val="100"/>
              </a:spcBef>
              <a:tabLst>
                <a:tab pos="953135" algn="l"/>
              </a:tabLst>
            </a:pPr>
            <a:r>
              <a:rPr sz="3200" dirty="0">
                <a:solidFill>
                  <a:srgbClr val="344B5E"/>
                </a:solidFill>
                <a:latin typeface="Verdana" panose="020B0604030504040204"/>
                <a:cs typeface="Verdana" panose="020B0604030504040204"/>
              </a:rPr>
              <a:t>𝑃 𝑥	=</a:t>
            </a:r>
            <a:endParaRPr sz="3200" dirty="0">
              <a:latin typeface="Verdana" panose="020B0604030504040204"/>
              <a:cs typeface="Verdana" panose="020B0604030504040204"/>
            </a:endParaRPr>
          </a:p>
        </p:txBody>
      </p:sp>
      <p:sp>
        <p:nvSpPr>
          <p:cNvPr id="36" name="object 12"/>
          <p:cNvSpPr/>
          <p:nvPr/>
        </p:nvSpPr>
        <p:spPr>
          <a:xfrm>
            <a:off x="6383359" y="2672733"/>
            <a:ext cx="2462952" cy="0"/>
          </a:xfrm>
          <a:custGeom>
            <a:avLst/>
            <a:gdLst/>
            <a:ahLst/>
            <a:cxnLst/>
            <a:rect l="l" t="t" r="r" b="b"/>
            <a:pathLst>
              <a:path w="1847215">
                <a:moveTo>
                  <a:pt x="0" y="0"/>
                </a:moveTo>
                <a:lnTo>
                  <a:pt x="1847087" y="0"/>
                </a:lnTo>
              </a:path>
            </a:pathLst>
          </a:custGeom>
          <a:ln w="25907">
            <a:solidFill>
              <a:srgbClr val="344B5E"/>
            </a:solidFill>
          </a:ln>
        </p:spPr>
        <p:txBody>
          <a:bodyPr wrap="square" lIns="0" tIns="0" rIns="0" bIns="0" rtlCol="0"/>
          <a:lstStyle/>
          <a:p>
            <a:endParaRPr/>
          </a:p>
        </p:txBody>
      </p:sp>
      <p:sp>
        <p:nvSpPr>
          <p:cNvPr id="37" name="object 13"/>
          <p:cNvSpPr txBox="1"/>
          <p:nvPr/>
        </p:nvSpPr>
        <p:spPr>
          <a:xfrm>
            <a:off x="6625675" y="2132856"/>
            <a:ext cx="1963420" cy="382270"/>
          </a:xfrm>
          <a:prstGeom prst="rect">
            <a:avLst/>
          </a:prstGeom>
        </p:spPr>
        <p:txBody>
          <a:bodyPr vert="horz" wrap="square" lIns="0" tIns="11430" rIns="0" bIns="0" rtlCol="0">
            <a:spAutoFit/>
          </a:bodyPr>
          <a:lstStyle/>
          <a:p>
            <a:pPr marL="12700">
              <a:spcBef>
                <a:spcPts val="90"/>
              </a:spcBef>
            </a:pPr>
            <a:r>
              <a:rPr sz="3525" baseline="-20000" dirty="0">
                <a:solidFill>
                  <a:srgbClr val="344B5E"/>
                </a:solidFill>
                <a:latin typeface="Verdana" panose="020B0604030504040204"/>
                <a:cs typeface="Verdana" panose="020B0604030504040204"/>
              </a:rPr>
              <a:t>𝑒</a:t>
            </a:r>
            <a:r>
              <a:rPr sz="1900" dirty="0">
                <a:solidFill>
                  <a:srgbClr val="344B5E"/>
                </a:solidFill>
                <a:latin typeface="Verdana" panose="020B0604030504040204"/>
                <a:cs typeface="Verdana" panose="020B0604030504040204"/>
              </a:rPr>
              <a:t>(𝛽</a:t>
            </a:r>
            <a:r>
              <a:rPr sz="2400" baseline="-13000" dirty="0">
                <a:solidFill>
                  <a:srgbClr val="344B5E"/>
                </a:solidFill>
                <a:latin typeface="Verdana" panose="020B0604030504040204"/>
                <a:cs typeface="Verdana" panose="020B0604030504040204"/>
              </a:rPr>
              <a:t>0</a:t>
            </a:r>
            <a:r>
              <a:rPr sz="1900" dirty="0">
                <a:solidFill>
                  <a:srgbClr val="344B5E"/>
                </a:solidFill>
                <a:latin typeface="Verdana" panose="020B0604030504040204"/>
                <a:cs typeface="Verdana" panose="020B0604030504040204"/>
              </a:rPr>
              <a:t>+ 𝛽</a:t>
            </a:r>
            <a:r>
              <a:rPr sz="2400" baseline="-13000" dirty="0">
                <a:solidFill>
                  <a:srgbClr val="344B5E"/>
                </a:solidFill>
                <a:latin typeface="Verdana" panose="020B0604030504040204"/>
                <a:cs typeface="Verdana" panose="020B0604030504040204"/>
              </a:rPr>
              <a:t>1</a:t>
            </a:r>
            <a:r>
              <a:rPr sz="1900" dirty="0">
                <a:solidFill>
                  <a:srgbClr val="344B5E"/>
                </a:solidFill>
                <a:latin typeface="Verdana" panose="020B0604030504040204"/>
                <a:cs typeface="Verdana" panose="020B0604030504040204"/>
              </a:rPr>
              <a:t>𝑥)</a:t>
            </a:r>
            <a:endParaRPr sz="1900" dirty="0">
              <a:latin typeface="Verdana" panose="020B0604030504040204"/>
              <a:cs typeface="Verdana" panose="020B0604030504040204"/>
            </a:endParaRPr>
          </a:p>
        </p:txBody>
      </p:sp>
      <p:sp>
        <p:nvSpPr>
          <p:cNvPr id="38" name="object 14"/>
          <p:cNvSpPr txBox="1"/>
          <p:nvPr/>
        </p:nvSpPr>
        <p:spPr>
          <a:xfrm>
            <a:off x="6367611" y="2588532"/>
            <a:ext cx="2479885" cy="382270"/>
          </a:xfrm>
          <a:prstGeom prst="rect">
            <a:avLst/>
          </a:prstGeom>
        </p:spPr>
        <p:txBody>
          <a:bodyPr vert="horz" wrap="square" lIns="0" tIns="11430" rIns="0" bIns="0" rtlCol="0">
            <a:spAutoFit/>
          </a:bodyPr>
          <a:lstStyle/>
          <a:p>
            <a:pPr marL="12700">
              <a:spcBef>
                <a:spcPts val="90"/>
              </a:spcBef>
            </a:pPr>
            <a:r>
              <a:rPr sz="3525" baseline="-18000" dirty="0">
                <a:solidFill>
                  <a:srgbClr val="344B5E"/>
                </a:solidFill>
                <a:latin typeface="Verdana" panose="020B0604030504040204"/>
                <a:cs typeface="Verdana" panose="020B0604030504040204"/>
              </a:rPr>
              <a:t>1+𝑒</a:t>
            </a:r>
            <a:r>
              <a:rPr sz="1900" dirty="0">
                <a:solidFill>
                  <a:srgbClr val="344B5E"/>
                </a:solidFill>
                <a:latin typeface="Verdana" panose="020B0604030504040204"/>
                <a:cs typeface="Verdana" panose="020B0604030504040204"/>
              </a:rPr>
              <a:t>(𝛽</a:t>
            </a:r>
            <a:r>
              <a:rPr sz="2400" baseline="-13000" dirty="0">
                <a:solidFill>
                  <a:srgbClr val="344B5E"/>
                </a:solidFill>
                <a:latin typeface="Verdana" panose="020B0604030504040204"/>
                <a:cs typeface="Verdana" panose="020B0604030504040204"/>
              </a:rPr>
              <a:t>0</a:t>
            </a:r>
            <a:r>
              <a:rPr sz="1900" dirty="0">
                <a:solidFill>
                  <a:srgbClr val="344B5E"/>
                </a:solidFill>
                <a:latin typeface="Verdana" panose="020B0604030504040204"/>
                <a:cs typeface="Verdana" panose="020B0604030504040204"/>
              </a:rPr>
              <a:t>+ 𝛽</a:t>
            </a:r>
            <a:r>
              <a:rPr sz="2400" baseline="-13000" dirty="0">
                <a:solidFill>
                  <a:srgbClr val="344B5E"/>
                </a:solidFill>
                <a:latin typeface="Verdana" panose="020B0604030504040204"/>
                <a:cs typeface="Verdana" panose="020B0604030504040204"/>
              </a:rPr>
              <a:t>1</a:t>
            </a:r>
            <a:r>
              <a:rPr sz="1900" dirty="0">
                <a:solidFill>
                  <a:srgbClr val="344B5E"/>
                </a:solidFill>
                <a:latin typeface="Verdana" panose="020B0604030504040204"/>
                <a:cs typeface="Verdana" panose="020B0604030504040204"/>
              </a:rPr>
              <a:t>𝑥)</a:t>
            </a:r>
            <a:endParaRPr sz="1900" dirty="0">
              <a:latin typeface="Verdana" panose="020B0604030504040204"/>
              <a:cs typeface="Verdana" panose="020B0604030504040204"/>
            </a:endParaRPr>
          </a:p>
        </p:txBody>
      </p:sp>
      <p:sp>
        <p:nvSpPr>
          <p:cNvPr id="39" name="object 9"/>
          <p:cNvSpPr txBox="1"/>
          <p:nvPr/>
        </p:nvSpPr>
        <p:spPr>
          <a:xfrm>
            <a:off x="3791744" y="4375050"/>
            <a:ext cx="824653" cy="513715"/>
          </a:xfrm>
          <a:prstGeom prst="rect">
            <a:avLst/>
          </a:prstGeom>
        </p:spPr>
        <p:txBody>
          <a:bodyPr vert="horz" wrap="square" lIns="0" tIns="12700" rIns="0" bIns="0" rtlCol="0">
            <a:spAutoFit/>
          </a:bodyPr>
          <a:lstStyle/>
          <a:p>
            <a:pPr marL="12700">
              <a:spcBef>
                <a:spcPts val="100"/>
              </a:spcBef>
            </a:pPr>
            <a:r>
              <a:rPr sz="3200" dirty="0">
                <a:solidFill>
                  <a:srgbClr val="344B5E"/>
                </a:solidFill>
                <a:latin typeface="Verdana" panose="020B0604030504040204"/>
                <a:cs typeface="Verdana" panose="020B0604030504040204"/>
              </a:rPr>
              <a:t>𝑙𝑜𝑔</a:t>
            </a:r>
            <a:endParaRPr sz="3200" dirty="0">
              <a:latin typeface="Verdana" panose="020B0604030504040204"/>
              <a:cs typeface="Verdana" panose="020B0604030504040204"/>
            </a:endParaRPr>
          </a:p>
        </p:txBody>
      </p:sp>
      <p:sp>
        <p:nvSpPr>
          <p:cNvPr id="40" name="object 10"/>
          <p:cNvSpPr/>
          <p:nvPr/>
        </p:nvSpPr>
        <p:spPr>
          <a:xfrm>
            <a:off x="7121854" y="5180965"/>
            <a:ext cx="136313" cy="0"/>
          </a:xfrm>
          <a:custGeom>
            <a:avLst/>
            <a:gdLst/>
            <a:ahLst/>
            <a:cxnLst/>
            <a:rect l="l" t="t" r="r" b="b"/>
            <a:pathLst>
              <a:path w="102235">
                <a:moveTo>
                  <a:pt x="0" y="0"/>
                </a:moveTo>
                <a:lnTo>
                  <a:pt x="102107" y="0"/>
                </a:lnTo>
              </a:path>
            </a:pathLst>
          </a:custGeom>
          <a:ln w="19049">
            <a:solidFill>
              <a:srgbClr val="344B5E"/>
            </a:solidFill>
          </a:ln>
        </p:spPr>
        <p:txBody>
          <a:bodyPr wrap="square" lIns="0" tIns="0" rIns="0" bIns="0" rtlCol="0"/>
          <a:lstStyle/>
          <a:p>
            <a:endParaRPr/>
          </a:p>
        </p:txBody>
      </p:sp>
      <p:sp>
        <p:nvSpPr>
          <p:cNvPr id="41" name="object 11"/>
          <p:cNvSpPr/>
          <p:nvPr/>
        </p:nvSpPr>
        <p:spPr>
          <a:xfrm>
            <a:off x="7232173" y="4183379"/>
            <a:ext cx="0" cy="988060"/>
          </a:xfrm>
          <a:custGeom>
            <a:avLst/>
            <a:gdLst/>
            <a:ahLst/>
            <a:cxnLst/>
            <a:rect l="l" t="t" r="r" b="b"/>
            <a:pathLst>
              <a:path h="988060">
                <a:moveTo>
                  <a:pt x="0" y="0"/>
                </a:moveTo>
                <a:lnTo>
                  <a:pt x="0" y="988060"/>
                </a:lnTo>
              </a:path>
            </a:pathLst>
          </a:custGeom>
          <a:ln w="38734">
            <a:solidFill>
              <a:srgbClr val="344B5E"/>
            </a:solidFill>
          </a:ln>
        </p:spPr>
        <p:txBody>
          <a:bodyPr wrap="square" lIns="0" tIns="0" rIns="0" bIns="0" rtlCol="0"/>
          <a:lstStyle/>
          <a:p>
            <a:endParaRPr/>
          </a:p>
        </p:txBody>
      </p:sp>
      <p:sp>
        <p:nvSpPr>
          <p:cNvPr id="42" name="object 12"/>
          <p:cNvSpPr/>
          <p:nvPr/>
        </p:nvSpPr>
        <p:spPr>
          <a:xfrm>
            <a:off x="7121854" y="4173854"/>
            <a:ext cx="136313" cy="0"/>
          </a:xfrm>
          <a:custGeom>
            <a:avLst/>
            <a:gdLst/>
            <a:ahLst/>
            <a:cxnLst/>
            <a:rect l="l" t="t" r="r" b="b"/>
            <a:pathLst>
              <a:path w="102235">
                <a:moveTo>
                  <a:pt x="0" y="0"/>
                </a:moveTo>
                <a:lnTo>
                  <a:pt x="102107" y="0"/>
                </a:lnTo>
              </a:path>
            </a:pathLst>
          </a:custGeom>
          <a:ln w="19050">
            <a:solidFill>
              <a:srgbClr val="344B5E"/>
            </a:solidFill>
          </a:ln>
        </p:spPr>
        <p:txBody>
          <a:bodyPr wrap="square" lIns="0" tIns="0" rIns="0" bIns="0" rtlCol="0"/>
          <a:lstStyle/>
          <a:p>
            <a:endParaRPr/>
          </a:p>
        </p:txBody>
      </p:sp>
      <p:sp>
        <p:nvSpPr>
          <p:cNvPr id="43" name="object 13"/>
          <p:cNvSpPr/>
          <p:nvPr/>
        </p:nvSpPr>
        <p:spPr>
          <a:xfrm>
            <a:off x="4760162" y="5180965"/>
            <a:ext cx="136313" cy="0"/>
          </a:xfrm>
          <a:custGeom>
            <a:avLst/>
            <a:gdLst/>
            <a:ahLst/>
            <a:cxnLst/>
            <a:rect l="l" t="t" r="r" b="b"/>
            <a:pathLst>
              <a:path w="102235">
                <a:moveTo>
                  <a:pt x="0" y="0"/>
                </a:moveTo>
                <a:lnTo>
                  <a:pt x="102108" y="0"/>
                </a:lnTo>
              </a:path>
            </a:pathLst>
          </a:custGeom>
          <a:ln w="19049">
            <a:solidFill>
              <a:srgbClr val="344B5E"/>
            </a:solidFill>
          </a:ln>
        </p:spPr>
        <p:txBody>
          <a:bodyPr wrap="square" lIns="0" tIns="0" rIns="0" bIns="0" rtlCol="0"/>
          <a:lstStyle/>
          <a:p>
            <a:endParaRPr/>
          </a:p>
        </p:txBody>
      </p:sp>
      <p:sp>
        <p:nvSpPr>
          <p:cNvPr id="44" name="object 14"/>
          <p:cNvSpPr/>
          <p:nvPr/>
        </p:nvSpPr>
        <p:spPr>
          <a:xfrm>
            <a:off x="4785984" y="4183379"/>
            <a:ext cx="0" cy="988060"/>
          </a:xfrm>
          <a:custGeom>
            <a:avLst/>
            <a:gdLst/>
            <a:ahLst/>
            <a:cxnLst/>
            <a:rect l="l" t="t" r="r" b="b"/>
            <a:pathLst>
              <a:path h="988060">
                <a:moveTo>
                  <a:pt x="0" y="0"/>
                </a:moveTo>
                <a:lnTo>
                  <a:pt x="0" y="988060"/>
                </a:lnTo>
              </a:path>
            </a:pathLst>
          </a:custGeom>
          <a:ln w="38735">
            <a:solidFill>
              <a:srgbClr val="344B5E"/>
            </a:solidFill>
          </a:ln>
        </p:spPr>
        <p:txBody>
          <a:bodyPr wrap="square" lIns="0" tIns="0" rIns="0" bIns="0" rtlCol="0"/>
          <a:lstStyle/>
          <a:p>
            <a:endParaRPr/>
          </a:p>
        </p:txBody>
      </p:sp>
      <p:sp>
        <p:nvSpPr>
          <p:cNvPr id="45" name="object 15"/>
          <p:cNvSpPr/>
          <p:nvPr/>
        </p:nvSpPr>
        <p:spPr>
          <a:xfrm>
            <a:off x="4760162" y="4173854"/>
            <a:ext cx="136313" cy="0"/>
          </a:xfrm>
          <a:custGeom>
            <a:avLst/>
            <a:gdLst/>
            <a:ahLst/>
            <a:cxnLst/>
            <a:rect l="l" t="t" r="r" b="b"/>
            <a:pathLst>
              <a:path w="102235">
                <a:moveTo>
                  <a:pt x="0" y="0"/>
                </a:moveTo>
                <a:lnTo>
                  <a:pt x="102108" y="0"/>
                </a:lnTo>
              </a:path>
            </a:pathLst>
          </a:custGeom>
          <a:ln w="19050">
            <a:solidFill>
              <a:srgbClr val="344B5E"/>
            </a:solidFill>
          </a:ln>
        </p:spPr>
        <p:txBody>
          <a:bodyPr wrap="square" lIns="0" tIns="0" rIns="0" bIns="0" rtlCol="0"/>
          <a:lstStyle/>
          <a:p>
            <a:endParaRPr/>
          </a:p>
        </p:txBody>
      </p:sp>
      <p:sp>
        <p:nvSpPr>
          <p:cNvPr id="2" name="矩形 1"/>
          <p:cNvSpPr/>
          <p:nvPr/>
        </p:nvSpPr>
        <p:spPr>
          <a:xfrm>
            <a:off x="7714605" y="4222623"/>
            <a:ext cx="1629832" cy="767738"/>
          </a:xfrm>
          <a:prstGeom prst="rect">
            <a:avLst/>
          </a:prstGeom>
          <a:noFill/>
          <a:ln w="57150">
            <a:solidFill>
              <a:srgbClr val="84AD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矩形 11"/>
              <p:cNvSpPr/>
              <p:nvPr/>
            </p:nvSpPr>
            <p:spPr>
              <a:xfrm>
                <a:off x="2711624" y="1637055"/>
                <a:ext cx="8279119" cy="4726305"/>
              </a:xfrm>
              <a:prstGeom prst="rect">
                <a:avLst/>
              </a:prstGeom>
            </p:spPr>
            <p:txBody>
              <a:bodyPr wrap="square">
                <a:spAutoFit/>
              </a:bodyPr>
              <a:lstStyle/>
              <a:p>
                <a:pPr eaLnBrk="0" fontAlgn="base" hangingPunct="0">
                  <a:spcBef>
                    <a:spcPct val="0"/>
                  </a:spcBef>
                </a:pPr>
                <a:r>
                  <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线性回归的函数 </a:t>
                </a:r>
                <a14:m>
                  <m:oMath xmlns:m="http://schemas.openxmlformats.org/officeDocument/2006/math">
                    <m:r>
                      <a:rPr lang="en-US" altLang="zh-CN" i="1">
                        <a:solidFill>
                          <a:srgbClr val="000000"/>
                        </a:solidFill>
                        <a:latin typeface="Cambria Math" panose="02040503050406030204" pitchFamily="18" charset="0"/>
                        <a:ea typeface="+mj-ea"/>
                        <a:cs typeface="Euclid" panose="02020503060505020303" pitchFamily="18" charset="0"/>
                      </a:rPr>
                      <m:t>h</m:t>
                    </m:r>
                    <m:d>
                      <m:dPr>
                        <m:ctrlPr>
                          <a:rPr lang="zh-CN" altLang="zh-CN" i="1">
                            <a:solidFill>
                              <a:srgbClr val="000000"/>
                            </a:solidFill>
                            <a:latin typeface="Cambria Math" panose="02040503050406030204" pitchFamily="18" charset="0"/>
                            <a:ea typeface="+mj-ea"/>
                            <a:cs typeface="Euclid" panose="02020503060505020303" pitchFamily="18" charset="0"/>
                          </a:rPr>
                        </m:ctrlPr>
                      </m:dPr>
                      <m:e>
                        <m:r>
                          <a:rPr lang="en-US" altLang="zh-CN" i="1">
                            <a:solidFill>
                              <a:srgbClr val="000000"/>
                            </a:solidFill>
                            <a:latin typeface="Cambria Math" panose="02040503050406030204" pitchFamily="18" charset="0"/>
                            <a:ea typeface="+mj-ea"/>
                            <a:cs typeface="Euclid" panose="02020503060505020303" pitchFamily="18" charset="0"/>
                          </a:rPr>
                          <m:t>𝑥</m:t>
                        </m:r>
                      </m:e>
                    </m:d>
                    <m:r>
                      <a:rPr lang="en-US" altLang="zh-CN" i="1">
                        <a:solidFill>
                          <a:srgbClr val="000000"/>
                        </a:solidFill>
                        <a:latin typeface="Cambria Math" panose="02040503050406030204" pitchFamily="18" charset="0"/>
                        <a:ea typeface="+mj-ea"/>
                        <a:cs typeface="Euclid" panose="02020503060505020303" pitchFamily="18" charset="0"/>
                      </a:rPr>
                      <m:t>=</m:t>
                    </m:r>
                    <m:r>
                      <a:rPr lang="en-US" altLang="zh-CN" i="1">
                        <a:solidFill>
                          <a:srgbClr val="000000"/>
                        </a:solidFill>
                        <a:latin typeface="Cambria Math" panose="02040503050406030204" pitchFamily="18" charset="0"/>
                        <a:ea typeface="+mj-ea"/>
                        <a:cs typeface="Euclid" panose="02020503060505020303" pitchFamily="18" charset="0"/>
                      </a:rPr>
                      <m:t>𝑧</m:t>
                    </m:r>
                    <m:r>
                      <a:rPr lang="en-US" altLang="zh-CN" i="1">
                        <a:solidFill>
                          <a:srgbClr val="000000"/>
                        </a:solidFill>
                        <a:latin typeface="Cambria Math" panose="02040503050406030204" pitchFamily="18" charset="0"/>
                        <a:ea typeface="+mj-ea"/>
                        <a:cs typeface="Euclid" panose="02020503060505020303" pitchFamily="18" charset="0"/>
                      </a:rPr>
                      <m:t>=</m:t>
                    </m:r>
                    <m:sSup>
                      <m:sSupPr>
                        <m:ctrlPr>
                          <a:rPr lang="zh-CN" altLang="zh-CN" i="1">
                            <a:solidFill>
                              <a:srgbClr val="000000"/>
                            </a:solidFill>
                            <a:latin typeface="Cambria Math" panose="02040503050406030204" pitchFamily="18" charset="0"/>
                            <a:ea typeface="+mj-ea"/>
                            <a:cs typeface="Euclid" panose="02020503060505020303" pitchFamily="18" charset="0"/>
                          </a:rPr>
                        </m:ctrlPr>
                      </m:sSupPr>
                      <m:e>
                        <m:r>
                          <a:rPr lang="en-US" altLang="zh-CN" i="1">
                            <a:solidFill>
                              <a:srgbClr val="000000"/>
                            </a:solidFill>
                            <a:latin typeface="Cambria Math" panose="02040503050406030204" pitchFamily="18" charset="0"/>
                            <a:ea typeface="+mj-ea"/>
                            <a:cs typeface="Euclid" panose="02020503060505020303" pitchFamily="18" charset="0"/>
                          </a:rPr>
                          <m:t>𝑤</m:t>
                        </m:r>
                      </m:e>
                      <m:sup>
                        <m:r>
                          <a:rPr lang="en-US" altLang="zh-CN" i="1">
                            <a:solidFill>
                              <a:srgbClr val="000000"/>
                            </a:solidFill>
                            <a:latin typeface="Cambria Math" panose="02040503050406030204" pitchFamily="18" charset="0"/>
                            <a:ea typeface="+mj-ea"/>
                            <a:cs typeface="Euclid" panose="02020503060505020303" pitchFamily="18" charset="0"/>
                          </a:rPr>
                          <m:t>𝑇</m:t>
                        </m:r>
                      </m:sup>
                    </m:sSup>
                    <m:r>
                      <a:rPr lang="en-US" altLang="zh-CN" i="1">
                        <a:solidFill>
                          <a:srgbClr val="000000"/>
                        </a:solidFill>
                        <a:latin typeface="Cambria Math" panose="02040503050406030204" pitchFamily="18" charset="0"/>
                        <a:ea typeface="+mj-ea"/>
                        <a:cs typeface="Euclid" panose="02020503060505020303" pitchFamily="18" charset="0"/>
                      </a:rPr>
                      <m:t>𝑥</m:t>
                    </m:r>
                    <m:r>
                      <a:rPr lang="zh-CN" altLang="en-US">
                        <a:solidFill>
                          <a:prstClr val="black"/>
                        </a:solidFill>
                        <a:latin typeface="Cambria Math" panose="02040503050406030204" pitchFamily="18" charset="0"/>
                      </a:rPr>
                      <m:t>+</m:t>
                    </m:r>
                    <m:r>
                      <a:rPr lang="zh-CN" altLang="en-US" i="1">
                        <a:solidFill>
                          <a:prstClr val="black"/>
                        </a:solidFill>
                        <a:latin typeface="Cambria Math" panose="02040503050406030204" pitchFamily="18" charset="0"/>
                      </a:rPr>
                      <m:t>𝑏</m:t>
                    </m:r>
                  </m:oMath>
                </a14:m>
                <a:r>
                  <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a:t>
                </a:r>
                <a:r>
                  <a:rPr lang="en-US" altLang="zh-CN" dirty="0" err="1">
                    <a:solidFill>
                      <a:srgbClr val="000000"/>
                    </a:solidFill>
                    <a:latin typeface="微软雅黑" panose="020B0503020204020204" pitchFamily="34" charset="-122"/>
                    <a:ea typeface="微软雅黑" panose="020B0503020204020204" pitchFamily="34" charset="-122"/>
                    <a:cs typeface="Euclid" panose="02020503060505020303" pitchFamily="18" charset="0"/>
                  </a:rPr>
                  <a:t>范围是</a:t>
                </a:r>
                <a14:m>
                  <m:oMath xmlns:m="http://schemas.openxmlformats.org/officeDocument/2006/math">
                    <m:r>
                      <a:rPr lang="en-US" altLang="zh-CN" i="1">
                        <a:solidFill>
                          <a:srgbClr val="000000"/>
                        </a:solidFill>
                        <a:latin typeface="Cambria Math" panose="02040503050406030204" pitchFamily="18" charset="0"/>
                        <a:ea typeface="+mj-ea"/>
                        <a:cs typeface="Euclid" panose="02020503060505020303" pitchFamily="18" charset="0"/>
                      </a:rPr>
                      <m:t>(−∞,+∞)</m:t>
                    </m:r>
                  </m:oMath>
                </a14:m>
                <a:r>
                  <a:rPr lang="zh-CN" altLang="en-US"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a:t>
                </a:r>
                <a:endPar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endParaRPr>
              </a:p>
              <a:p>
                <a:pPr eaLnBrk="0" fontAlgn="base" hangingPunct="0">
                  <a:spcBef>
                    <a:spcPct val="0"/>
                  </a:spcBef>
                </a:pPr>
                <a:endPar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endParaRPr>
              </a:p>
              <a:p>
                <a:pPr eaLnBrk="0" fontAlgn="base" hangingPunct="0">
                  <a:spcBef>
                    <a:spcPct val="0"/>
                  </a:spcBef>
                </a:pPr>
                <a:r>
                  <a:rPr lang="en-US" altLang="zh-CN" dirty="0" err="1">
                    <a:solidFill>
                      <a:srgbClr val="000000"/>
                    </a:solidFill>
                    <a:latin typeface="微软雅黑" panose="020B0503020204020204" pitchFamily="34" charset="-122"/>
                    <a:ea typeface="微软雅黑" panose="020B0503020204020204" pitchFamily="34" charset="-122"/>
                    <a:cs typeface="Euclid" panose="02020503060505020303" pitchFamily="18" charset="0"/>
                  </a:rPr>
                  <a:t>而分类预测结果需要得到</a:t>
                </a:r>
                <a14:m>
                  <m:oMath xmlns:m="http://schemas.openxmlformats.org/officeDocument/2006/math">
                    <m:r>
                      <a:rPr lang="en-US" altLang="zh-CN" i="1">
                        <a:solidFill>
                          <a:srgbClr val="000000"/>
                        </a:solidFill>
                        <a:latin typeface="Cambria Math" panose="02040503050406030204" pitchFamily="18" charset="0"/>
                        <a:ea typeface="+mj-ea"/>
                        <a:cs typeface="Euclid" panose="02020503060505020303" pitchFamily="18" charset="0"/>
                      </a:rPr>
                      <m:t>[0,1]</m:t>
                    </m:r>
                  </m:oMath>
                </a14:m>
                <a:r>
                  <a:rPr lang="en-US" altLang="zh-CN" dirty="0" err="1">
                    <a:solidFill>
                      <a:srgbClr val="000000"/>
                    </a:solidFill>
                    <a:latin typeface="微软雅黑" panose="020B0503020204020204" pitchFamily="34" charset="-122"/>
                    <a:ea typeface="微软雅黑" panose="020B0503020204020204" pitchFamily="34" charset="-122"/>
                    <a:cs typeface="Euclid" panose="02020503060505020303" pitchFamily="18" charset="0"/>
                  </a:rPr>
                  <a:t>的概率值</a:t>
                </a:r>
                <a:r>
                  <a:rPr lang="zh-CN" altLang="en-US"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a:t>
                </a:r>
                <a:endPar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endParaRPr>
              </a:p>
              <a:p>
                <a:pPr eaLnBrk="0" fontAlgn="base" hangingPunct="0">
                  <a:lnSpc>
                    <a:spcPct val="150000"/>
                  </a:lnSpc>
                  <a:spcBef>
                    <a:spcPct val="0"/>
                  </a:spcBef>
                </a:pPr>
                <a:r>
                  <a:rPr lang="en-US" altLang="zh-CN" dirty="0" err="1">
                    <a:solidFill>
                      <a:srgbClr val="000000"/>
                    </a:solidFill>
                    <a:latin typeface="微软雅黑" panose="020B0503020204020204" pitchFamily="34" charset="-122"/>
                    <a:ea typeface="微软雅黑" panose="020B0503020204020204" pitchFamily="34" charset="-122"/>
                    <a:cs typeface="Euclid" panose="02020503060505020303" pitchFamily="18" charset="0"/>
                  </a:rPr>
                  <a:t>在二分类模型中，事件的几率odds：事件发生与事件不发生的概率之比为</a:t>
                </a:r>
                <a14:m>
                  <m:oMath xmlns:m="http://schemas.openxmlformats.org/officeDocument/2006/math">
                    <m:f>
                      <m:fPr>
                        <m:ctrlPr>
                          <a:rPr lang="zh-CN" altLang="zh-CN" i="1">
                            <a:solidFill>
                              <a:srgbClr val="000000"/>
                            </a:solidFill>
                            <a:latin typeface="Cambria Math" panose="02040503050406030204" pitchFamily="18" charset="0"/>
                            <a:ea typeface="+mj-ea"/>
                            <a:cs typeface="Euclid" panose="02020503060505020303" pitchFamily="18" charset="0"/>
                          </a:rPr>
                        </m:ctrlPr>
                      </m:fPr>
                      <m:num>
                        <m:r>
                          <a:rPr lang="en-US" altLang="zh-CN" i="1">
                            <a:solidFill>
                              <a:srgbClr val="000000"/>
                            </a:solidFill>
                            <a:latin typeface="Cambria Math" panose="02040503050406030204" pitchFamily="18" charset="0"/>
                            <a:ea typeface="+mj-ea"/>
                            <a:cs typeface="Euclid" panose="02020503060505020303" pitchFamily="18" charset="0"/>
                          </a:rPr>
                          <m:t>𝑝</m:t>
                        </m:r>
                      </m:num>
                      <m:den>
                        <m:r>
                          <a:rPr lang="en-US" altLang="zh-CN" i="1">
                            <a:solidFill>
                              <a:srgbClr val="000000"/>
                            </a:solidFill>
                            <a:latin typeface="Cambria Math" panose="02040503050406030204" pitchFamily="18" charset="0"/>
                            <a:ea typeface="+mj-ea"/>
                            <a:cs typeface="Euclid" panose="02020503060505020303" pitchFamily="18" charset="0"/>
                          </a:rPr>
                          <m:t>1−</m:t>
                        </m:r>
                        <m:r>
                          <a:rPr lang="en-US" altLang="zh-CN" i="1">
                            <a:solidFill>
                              <a:srgbClr val="000000"/>
                            </a:solidFill>
                            <a:latin typeface="Cambria Math" panose="02040503050406030204" pitchFamily="18" charset="0"/>
                            <a:ea typeface="+mj-ea"/>
                            <a:cs typeface="Euclid" panose="02020503060505020303" pitchFamily="18" charset="0"/>
                          </a:rPr>
                          <m:t>𝑝</m:t>
                        </m:r>
                      </m:den>
                    </m:f>
                  </m:oMath>
                </a14:m>
                <a:r>
                  <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a:t>
                </a:r>
                <a:r>
                  <a:rPr lang="en-US" altLang="zh-CN" dirty="0" err="1">
                    <a:solidFill>
                      <a:srgbClr val="000000"/>
                    </a:solidFill>
                    <a:latin typeface="微软雅黑" panose="020B0503020204020204" pitchFamily="34" charset="-122"/>
                    <a:ea typeface="微软雅黑" panose="020B0503020204020204" pitchFamily="34" charset="-122"/>
                    <a:cs typeface="Euclid" panose="02020503060505020303" pitchFamily="18" charset="0"/>
                  </a:rPr>
                  <a:t>称为事件的发生比（the</a:t>
                </a:r>
                <a:r>
                  <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 odds of experiencing an event）</a:t>
                </a:r>
              </a:p>
              <a:p>
                <a:pPr eaLnBrk="0" fontAlgn="base" hangingPunct="0">
                  <a:lnSpc>
                    <a:spcPct val="150000"/>
                  </a:lnSpc>
                  <a:spcBef>
                    <a:spcPct val="0"/>
                  </a:spcBef>
                </a:pPr>
                <a:r>
                  <a:rPr lang="en-US" altLang="zh-CN" dirty="0" err="1">
                    <a:solidFill>
                      <a:srgbClr val="000000"/>
                    </a:solidFill>
                    <a:latin typeface="微软雅黑" panose="020B0503020204020204" pitchFamily="34" charset="-122"/>
                    <a:ea typeface="微软雅黑" panose="020B0503020204020204" pitchFamily="34" charset="-122"/>
                    <a:cs typeface="Euclid" panose="02020503060505020303" pitchFamily="18" charset="0"/>
                  </a:rPr>
                  <a:t>其中</a:t>
                </a:r>
                <a14:m>
                  <m:oMath xmlns:m="http://schemas.openxmlformats.org/officeDocument/2006/math">
                    <m:r>
                      <a:rPr lang="en-US" altLang="zh-CN" i="1">
                        <a:solidFill>
                          <a:srgbClr val="000000"/>
                        </a:solidFill>
                        <a:latin typeface="Cambria Math" panose="02040503050406030204" pitchFamily="18" charset="0"/>
                        <a:ea typeface="+mj-ea"/>
                        <a:cs typeface="Euclid" panose="02020503060505020303" pitchFamily="18" charset="0"/>
                      </a:rPr>
                      <m:t>𝑝</m:t>
                    </m:r>
                  </m:oMath>
                </a14:m>
                <a:r>
                  <a:rPr lang="en-US" altLang="zh-CN" dirty="0" err="1">
                    <a:solidFill>
                      <a:srgbClr val="000000"/>
                    </a:solidFill>
                    <a:latin typeface="微软雅黑" panose="020B0503020204020204" pitchFamily="34" charset="-122"/>
                    <a:ea typeface="微软雅黑" panose="020B0503020204020204" pitchFamily="34" charset="-122"/>
                    <a:cs typeface="Euclid" panose="02020503060505020303" pitchFamily="18" charset="0"/>
                  </a:rPr>
                  <a:t>为随机事件发生的概率</a:t>
                </a:r>
                <a:r>
                  <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a:t>
                </a:r>
                <a14:m>
                  <m:oMath xmlns:m="http://schemas.openxmlformats.org/officeDocument/2006/math">
                    <m:r>
                      <a:rPr lang="en-US" altLang="zh-CN" i="1">
                        <a:solidFill>
                          <a:srgbClr val="000000"/>
                        </a:solidFill>
                        <a:latin typeface="Cambria Math" panose="02040503050406030204" pitchFamily="18" charset="0"/>
                        <a:ea typeface="+mj-ea"/>
                        <a:cs typeface="Euclid" panose="02020503060505020303" pitchFamily="18" charset="0"/>
                      </a:rPr>
                      <m:t>𝑝</m:t>
                    </m:r>
                  </m:oMath>
                </a14:m>
                <a:r>
                  <a:rPr lang="en-US" altLang="zh-CN" dirty="0" err="1">
                    <a:solidFill>
                      <a:srgbClr val="000000"/>
                    </a:solidFill>
                    <a:latin typeface="微软雅黑" panose="020B0503020204020204" pitchFamily="34" charset="-122"/>
                    <a:ea typeface="微软雅黑" panose="020B0503020204020204" pitchFamily="34" charset="-122"/>
                    <a:cs typeface="Euclid" panose="02020503060505020303" pitchFamily="18" charset="0"/>
                  </a:rPr>
                  <a:t>的范围为</a:t>
                </a:r>
                <a14:m>
                  <m:oMath xmlns:m="http://schemas.openxmlformats.org/officeDocument/2006/math">
                    <m:r>
                      <a:rPr lang="en-US" altLang="zh-CN" i="1">
                        <a:solidFill>
                          <a:srgbClr val="000000"/>
                        </a:solidFill>
                        <a:latin typeface="Cambria Math" panose="02040503050406030204" pitchFamily="18" charset="0"/>
                        <a:ea typeface="+mj-ea"/>
                        <a:cs typeface="Euclid" panose="02020503060505020303" pitchFamily="18" charset="0"/>
                      </a:rPr>
                      <m:t>[0,1]</m:t>
                    </m:r>
                  </m:oMath>
                </a14:m>
                <a:r>
                  <a:rPr lang="zh-CN" altLang="en-US"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a:t>
                </a:r>
                <a:endPar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endParaRPr>
              </a:p>
              <a:p>
                <a:pPr eaLnBrk="0" fontAlgn="base" hangingPunct="0">
                  <a:lnSpc>
                    <a:spcPct val="150000"/>
                  </a:lnSpc>
                  <a:spcBef>
                    <a:spcPct val="0"/>
                  </a:spcBef>
                </a:pPr>
                <a:r>
                  <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取对数得到：</a:t>
                </a:r>
                <a14:m>
                  <m:oMath xmlns:m="http://schemas.openxmlformats.org/officeDocument/2006/math">
                    <m:r>
                      <m:rPr>
                        <m:sty m:val="p"/>
                      </m:rPr>
                      <a:rPr lang="en-US" altLang="zh-CN">
                        <a:solidFill>
                          <a:srgbClr val="000000"/>
                        </a:solidFill>
                        <a:latin typeface="Cambria Math" panose="02040503050406030204" pitchFamily="18" charset="0"/>
                        <a:cs typeface="Euclid" panose="02020503060505020303" pitchFamily="18" charset="0"/>
                      </a:rPr>
                      <m:t>l</m:t>
                    </m:r>
                    <m:r>
                      <m:rPr>
                        <m:sty m:val="p"/>
                      </m:rPr>
                      <a:rPr lang="en-US" altLang="zh-CN" i="1">
                        <a:solidFill>
                          <a:srgbClr val="000000"/>
                        </a:solidFill>
                        <a:latin typeface="Cambria Math" panose="02040503050406030204" pitchFamily="18" charset="0"/>
                        <a:cs typeface="Euclid" panose="02020503060505020303" pitchFamily="18" charset="0"/>
                      </a:rPr>
                      <m:t>n</m:t>
                    </m:r>
                    <m:f>
                      <m:fPr>
                        <m:ctrlPr>
                          <a:rPr lang="zh-CN" altLang="zh-CN" i="1">
                            <a:solidFill>
                              <a:srgbClr val="000000"/>
                            </a:solidFill>
                            <a:latin typeface="Cambria Math" panose="02040503050406030204" pitchFamily="18" charset="0"/>
                            <a:cs typeface="Euclid" panose="02020503060505020303" pitchFamily="18" charset="0"/>
                          </a:rPr>
                        </m:ctrlPr>
                      </m:fPr>
                      <m:num>
                        <m:r>
                          <a:rPr lang="en-US" altLang="zh-CN" i="1">
                            <a:solidFill>
                              <a:srgbClr val="000000"/>
                            </a:solidFill>
                            <a:latin typeface="Cambria Math" panose="02040503050406030204" pitchFamily="18" charset="0"/>
                            <a:cs typeface="Euclid" panose="02020503060505020303" pitchFamily="18" charset="0"/>
                          </a:rPr>
                          <m:t>𝑝</m:t>
                        </m:r>
                      </m:num>
                      <m:den>
                        <m:r>
                          <a:rPr lang="en-US" altLang="zh-CN" i="1">
                            <a:solidFill>
                              <a:srgbClr val="000000"/>
                            </a:solidFill>
                            <a:latin typeface="Cambria Math" panose="02040503050406030204" pitchFamily="18" charset="0"/>
                            <a:cs typeface="Euclid" panose="02020503060505020303" pitchFamily="18" charset="0"/>
                          </a:rPr>
                          <m:t>1−</m:t>
                        </m:r>
                        <m:r>
                          <a:rPr lang="en-US" altLang="zh-CN" i="1">
                            <a:solidFill>
                              <a:srgbClr val="000000"/>
                            </a:solidFill>
                            <a:latin typeface="Cambria Math" panose="02040503050406030204" pitchFamily="18" charset="0"/>
                            <a:cs typeface="Euclid" panose="02020503060505020303" pitchFamily="18" charset="0"/>
                          </a:rPr>
                          <m:t>𝑝</m:t>
                        </m:r>
                      </m:den>
                    </m:f>
                  </m:oMath>
                </a14:m>
                <a:r>
                  <a:rPr lang="zh-CN" altLang="en-US"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a:t>
                </a:r>
                <a:r>
                  <a:rPr lang="zh-CN"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而</a:t>
                </a:r>
                <a14:m>
                  <m:oMath xmlns:m="http://schemas.openxmlformats.org/officeDocument/2006/math">
                    <m:r>
                      <m:rPr>
                        <m:sty m:val="p"/>
                      </m:rPr>
                      <a:rPr lang="en-US" altLang="zh-CN">
                        <a:solidFill>
                          <a:srgbClr val="000000"/>
                        </a:solidFill>
                        <a:latin typeface="Cambria Math" panose="02040503050406030204" pitchFamily="18" charset="0"/>
                        <a:ea typeface="+mj-ea"/>
                        <a:cs typeface="Euclid" panose="02020503060505020303" pitchFamily="18" charset="0"/>
                      </a:rPr>
                      <m:t>l</m:t>
                    </m:r>
                    <m:r>
                      <m:rPr>
                        <m:sty m:val="p"/>
                      </m:rPr>
                      <a:rPr lang="en-US" altLang="zh-CN" i="1">
                        <a:solidFill>
                          <a:srgbClr val="000000"/>
                        </a:solidFill>
                        <a:latin typeface="Cambria Math" panose="02040503050406030204" pitchFamily="18" charset="0"/>
                        <a:ea typeface="+mj-ea"/>
                        <a:cs typeface="Euclid" panose="02020503060505020303" pitchFamily="18" charset="0"/>
                      </a:rPr>
                      <m:t>n</m:t>
                    </m:r>
                    <m:f>
                      <m:fPr>
                        <m:ctrlPr>
                          <a:rPr lang="zh-CN" altLang="zh-CN" i="1">
                            <a:solidFill>
                              <a:srgbClr val="000000"/>
                            </a:solidFill>
                            <a:latin typeface="Cambria Math" panose="02040503050406030204" pitchFamily="18" charset="0"/>
                            <a:ea typeface="+mj-ea"/>
                            <a:cs typeface="Euclid" panose="02020503060505020303" pitchFamily="18" charset="0"/>
                          </a:rPr>
                        </m:ctrlPr>
                      </m:fPr>
                      <m:num>
                        <m:r>
                          <a:rPr lang="en-US" altLang="zh-CN" i="1">
                            <a:solidFill>
                              <a:srgbClr val="000000"/>
                            </a:solidFill>
                            <a:latin typeface="Cambria Math" panose="02040503050406030204" pitchFamily="18" charset="0"/>
                            <a:ea typeface="+mj-ea"/>
                            <a:cs typeface="Euclid" panose="02020503060505020303" pitchFamily="18" charset="0"/>
                          </a:rPr>
                          <m:t>𝑝</m:t>
                        </m:r>
                      </m:num>
                      <m:den>
                        <m:r>
                          <a:rPr lang="en-US" altLang="zh-CN" i="1">
                            <a:solidFill>
                              <a:srgbClr val="000000"/>
                            </a:solidFill>
                            <a:latin typeface="Cambria Math" panose="02040503050406030204" pitchFamily="18" charset="0"/>
                            <a:ea typeface="+mj-ea"/>
                            <a:cs typeface="Euclid" panose="02020503060505020303" pitchFamily="18" charset="0"/>
                          </a:rPr>
                          <m:t>1−</m:t>
                        </m:r>
                        <m:r>
                          <a:rPr lang="en-US" altLang="zh-CN" i="1">
                            <a:solidFill>
                              <a:srgbClr val="000000"/>
                            </a:solidFill>
                            <a:latin typeface="Cambria Math" panose="02040503050406030204" pitchFamily="18" charset="0"/>
                            <a:ea typeface="+mj-ea"/>
                            <a:cs typeface="Euclid" panose="02020503060505020303" pitchFamily="18" charset="0"/>
                          </a:rPr>
                          <m:t>𝑝</m:t>
                        </m:r>
                      </m:den>
                    </m:f>
                    <m:r>
                      <a:rPr lang="en-US" altLang="zh-CN" i="1">
                        <a:solidFill>
                          <a:srgbClr val="000000"/>
                        </a:solidFill>
                        <a:latin typeface="Cambria Math" panose="02040503050406030204" pitchFamily="18" charset="0"/>
                        <a:ea typeface="+mj-ea"/>
                        <a:cs typeface="Euclid" panose="02020503060505020303" pitchFamily="18" charset="0"/>
                      </a:rPr>
                      <m:t>=</m:t>
                    </m:r>
                    <m:sSup>
                      <m:sSupPr>
                        <m:ctrlPr>
                          <a:rPr lang="zh-CN" altLang="zh-CN" i="1">
                            <a:solidFill>
                              <a:srgbClr val="000000"/>
                            </a:solidFill>
                            <a:latin typeface="Cambria Math" panose="02040503050406030204" pitchFamily="18" charset="0"/>
                            <a:ea typeface="+mj-ea"/>
                            <a:cs typeface="Euclid" panose="02020503060505020303" pitchFamily="18" charset="0"/>
                          </a:rPr>
                        </m:ctrlPr>
                      </m:sSupPr>
                      <m:e>
                        <m:r>
                          <a:rPr lang="en-US" altLang="zh-CN" i="1">
                            <a:solidFill>
                              <a:srgbClr val="000000"/>
                            </a:solidFill>
                            <a:latin typeface="Cambria Math" panose="02040503050406030204" pitchFamily="18" charset="0"/>
                            <a:ea typeface="+mj-ea"/>
                            <a:cs typeface="Euclid" panose="02020503060505020303" pitchFamily="18" charset="0"/>
                          </a:rPr>
                          <m:t>𝑤</m:t>
                        </m:r>
                      </m:e>
                      <m:sup>
                        <m:r>
                          <a:rPr lang="en-US" altLang="zh-CN" i="1">
                            <a:solidFill>
                              <a:srgbClr val="000000"/>
                            </a:solidFill>
                            <a:latin typeface="Cambria Math" panose="02040503050406030204" pitchFamily="18" charset="0"/>
                            <a:ea typeface="+mj-ea"/>
                            <a:cs typeface="Euclid" panose="02020503060505020303" pitchFamily="18" charset="0"/>
                          </a:rPr>
                          <m:t>𝑇</m:t>
                        </m:r>
                      </m:sup>
                    </m:sSup>
                    <m:r>
                      <a:rPr lang="en-US" altLang="zh-CN" i="1">
                        <a:solidFill>
                          <a:srgbClr val="000000"/>
                        </a:solidFill>
                        <a:latin typeface="Cambria Math" panose="02040503050406030204" pitchFamily="18" charset="0"/>
                        <a:ea typeface="+mj-ea"/>
                        <a:cs typeface="Euclid" panose="02020503060505020303" pitchFamily="18" charset="0"/>
                      </a:rPr>
                      <m:t>𝑥</m:t>
                    </m:r>
                    <m:r>
                      <a:rPr lang="zh-CN" altLang="en-US">
                        <a:solidFill>
                          <a:prstClr val="black"/>
                        </a:solidFill>
                        <a:latin typeface="Cambria Math" panose="02040503050406030204" pitchFamily="18" charset="0"/>
                      </a:rPr>
                      <m:t>+</m:t>
                    </m:r>
                    <m:r>
                      <a:rPr lang="zh-CN" altLang="en-US" i="1">
                        <a:solidFill>
                          <a:prstClr val="black"/>
                        </a:solidFill>
                        <a:latin typeface="Cambria Math" panose="02040503050406030204" pitchFamily="18" charset="0"/>
                      </a:rPr>
                      <m:t>𝑏</m:t>
                    </m:r>
                  </m:oMath>
                </a14:m>
                <a:endParaRPr lang="zh-CN" altLang="en-US" dirty="0">
                  <a:solidFill>
                    <a:prstClr val="black"/>
                  </a:solidFill>
                </a:endParaRPr>
              </a:p>
              <a:p>
                <a:pPr eaLnBrk="0" fontAlgn="base" hangingPunct="0">
                  <a:lnSpc>
                    <a:spcPct val="150000"/>
                  </a:lnSpc>
                  <a:spcBef>
                    <a:spcPct val="0"/>
                  </a:spcBef>
                </a:pPr>
                <a:r>
                  <a:rPr lang="en-US" altLang="zh-CN" dirty="0" err="1">
                    <a:solidFill>
                      <a:srgbClr val="000000"/>
                    </a:solidFill>
                    <a:latin typeface="微软雅黑" panose="020B0503020204020204" pitchFamily="34" charset="-122"/>
                    <a:ea typeface="微软雅黑" panose="020B0503020204020204" pitchFamily="34" charset="-122"/>
                    <a:cs typeface="Euclid" panose="02020503060505020303" pitchFamily="18" charset="0"/>
                  </a:rPr>
                  <a:t>求解得到</a:t>
                </a:r>
                <a:r>
                  <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a:t>
                </a:r>
                <a14:m>
                  <m:oMath xmlns:m="http://schemas.openxmlformats.org/officeDocument/2006/math">
                    <m:r>
                      <a:rPr lang="en-US" altLang="zh-CN" sz="2100" i="1">
                        <a:solidFill>
                          <a:srgbClr val="000000"/>
                        </a:solidFill>
                        <a:latin typeface="Cambria Math" panose="02040503050406030204" pitchFamily="18" charset="0"/>
                        <a:ea typeface="+mj-ea"/>
                        <a:cs typeface="Euclid" panose="02020503060505020303" pitchFamily="18" charset="0"/>
                      </a:rPr>
                      <m:t>𝑝</m:t>
                    </m:r>
                    <m:r>
                      <a:rPr lang="en-US" altLang="zh-CN" sz="2100" i="1">
                        <a:solidFill>
                          <a:srgbClr val="000000"/>
                        </a:solidFill>
                        <a:latin typeface="Cambria Math" panose="02040503050406030204" pitchFamily="18" charset="0"/>
                        <a:ea typeface="+mj-ea"/>
                        <a:cs typeface="Euclid" panose="02020503060505020303" pitchFamily="18" charset="0"/>
                      </a:rPr>
                      <m:t>=</m:t>
                    </m:r>
                    <m:f>
                      <m:fPr>
                        <m:ctrlPr>
                          <a:rPr lang="zh-CN" altLang="zh-CN" sz="2100" i="1">
                            <a:solidFill>
                              <a:srgbClr val="000000"/>
                            </a:solidFill>
                            <a:latin typeface="Cambria Math" panose="02040503050406030204" pitchFamily="18" charset="0"/>
                            <a:ea typeface="+mj-ea"/>
                            <a:cs typeface="Euclid" panose="02020503060505020303" pitchFamily="18" charset="0"/>
                          </a:rPr>
                        </m:ctrlPr>
                      </m:fPr>
                      <m:num>
                        <m:r>
                          <a:rPr lang="en-US" altLang="zh-CN" sz="2100" i="1">
                            <a:solidFill>
                              <a:srgbClr val="000000"/>
                            </a:solidFill>
                            <a:latin typeface="Cambria Math" panose="02040503050406030204" pitchFamily="18" charset="0"/>
                            <a:ea typeface="+mj-ea"/>
                            <a:cs typeface="Euclid" panose="02020503060505020303" pitchFamily="18" charset="0"/>
                          </a:rPr>
                          <m:t>1</m:t>
                        </m:r>
                      </m:num>
                      <m:den>
                        <m:r>
                          <a:rPr lang="en-US" altLang="zh-CN" sz="2100" i="1">
                            <a:solidFill>
                              <a:srgbClr val="000000"/>
                            </a:solidFill>
                            <a:latin typeface="Cambria Math" panose="02040503050406030204" pitchFamily="18" charset="0"/>
                            <a:ea typeface="+mj-ea"/>
                            <a:cs typeface="Euclid" panose="02020503060505020303" pitchFamily="18" charset="0"/>
                          </a:rPr>
                          <m:t>1+</m:t>
                        </m:r>
                        <m:sSup>
                          <m:sSupPr>
                            <m:ctrlPr>
                              <a:rPr lang="zh-CN" altLang="zh-CN" sz="2100" i="1">
                                <a:solidFill>
                                  <a:srgbClr val="000000"/>
                                </a:solidFill>
                                <a:latin typeface="Cambria Math" panose="02040503050406030204" pitchFamily="18" charset="0"/>
                                <a:ea typeface="+mj-ea"/>
                                <a:cs typeface="Euclid" panose="02020503060505020303" pitchFamily="18" charset="0"/>
                              </a:rPr>
                            </m:ctrlPr>
                          </m:sSupPr>
                          <m:e>
                            <m:r>
                              <a:rPr lang="en-US" altLang="zh-CN" sz="2100" i="1">
                                <a:solidFill>
                                  <a:srgbClr val="000000"/>
                                </a:solidFill>
                                <a:latin typeface="Cambria Math" panose="02040503050406030204" pitchFamily="18" charset="0"/>
                                <a:ea typeface="+mj-ea"/>
                                <a:cs typeface="Euclid" panose="02020503060505020303" pitchFamily="18" charset="0"/>
                              </a:rPr>
                              <m:t>𝑒</m:t>
                            </m:r>
                          </m:e>
                          <m:sup>
                            <m:r>
                              <a:rPr lang="en-US" altLang="zh-CN" sz="2100" i="1">
                                <a:solidFill>
                                  <a:srgbClr val="000000"/>
                                </a:solidFill>
                                <a:latin typeface="Cambria Math" panose="02040503050406030204" pitchFamily="18" charset="0"/>
                                <a:ea typeface="+mj-ea"/>
                                <a:cs typeface="Euclid" panose="02020503060505020303" pitchFamily="18" charset="0"/>
                              </a:rPr>
                              <m:t>−</m:t>
                            </m:r>
                            <m:sSup>
                              <m:sSupPr>
                                <m:ctrlPr>
                                  <a:rPr lang="zh-CN" altLang="zh-CN" sz="2100" i="1">
                                    <a:solidFill>
                                      <a:srgbClr val="000000"/>
                                    </a:solidFill>
                                    <a:latin typeface="Cambria Math" panose="02040503050406030204" pitchFamily="18" charset="0"/>
                                    <a:ea typeface="+mj-ea"/>
                                    <a:cs typeface="Euclid" panose="02020503060505020303" pitchFamily="18" charset="0"/>
                                  </a:rPr>
                                </m:ctrlPr>
                              </m:sSupPr>
                              <m:e>
                                <m:r>
                                  <a:rPr lang="en-US" altLang="zh-CN" sz="2100" b="0" i="1" smtClean="0">
                                    <a:solidFill>
                                      <a:srgbClr val="000000"/>
                                    </a:solidFill>
                                    <a:latin typeface="Cambria Math" panose="02040503050406030204" pitchFamily="18" charset="0"/>
                                    <a:ea typeface="+mj-ea"/>
                                    <a:cs typeface="Euclid" panose="02020503060505020303" pitchFamily="18" charset="0"/>
                                  </a:rPr>
                                  <m:t>(</m:t>
                                </m:r>
                                <m:r>
                                  <a:rPr lang="en-US" altLang="zh-CN" sz="2100" i="1">
                                    <a:solidFill>
                                      <a:srgbClr val="000000"/>
                                    </a:solidFill>
                                    <a:latin typeface="Cambria Math" panose="02040503050406030204" pitchFamily="18" charset="0"/>
                                    <a:ea typeface="+mj-ea"/>
                                    <a:cs typeface="Euclid" panose="02020503060505020303" pitchFamily="18" charset="0"/>
                                  </a:rPr>
                                  <m:t>𝑤</m:t>
                                </m:r>
                              </m:e>
                              <m:sup>
                                <m:r>
                                  <a:rPr lang="en-US" altLang="zh-CN" sz="2100" i="1">
                                    <a:solidFill>
                                      <a:srgbClr val="000000"/>
                                    </a:solidFill>
                                    <a:latin typeface="Cambria Math" panose="02040503050406030204" pitchFamily="18" charset="0"/>
                                    <a:ea typeface="+mj-ea"/>
                                    <a:cs typeface="Euclid" panose="02020503060505020303" pitchFamily="18" charset="0"/>
                                  </a:rPr>
                                  <m:t>𝑇</m:t>
                                </m:r>
                              </m:sup>
                            </m:sSup>
                            <m:r>
                              <a:rPr lang="en-US" altLang="zh-CN" sz="2100" i="1">
                                <a:solidFill>
                                  <a:srgbClr val="000000"/>
                                </a:solidFill>
                                <a:latin typeface="Cambria Math" panose="02040503050406030204" pitchFamily="18" charset="0"/>
                                <a:ea typeface="+mj-ea"/>
                                <a:cs typeface="Euclid" panose="02020503060505020303" pitchFamily="18" charset="0"/>
                              </a:rPr>
                              <m:t>𝑥</m:t>
                            </m:r>
                            <m:r>
                              <a:rPr lang="en-US" altLang="zh-CN" sz="2100" i="1" smtClean="0">
                                <a:solidFill>
                                  <a:srgbClr val="000000"/>
                                </a:solidFill>
                                <a:latin typeface="Cambria Math" panose="02040503050406030204" pitchFamily="18" charset="0"/>
                                <a:ea typeface="+mj-ea"/>
                                <a:cs typeface="Euclid" panose="02020503060505020303" pitchFamily="18" charset="0"/>
                              </a:rPr>
                              <m:t>+</m:t>
                            </m:r>
                            <m:r>
                              <m:rPr>
                                <m:sty m:val="p"/>
                              </m:rPr>
                              <a:rPr lang="en-US" altLang="zh-CN" sz="2100" i="1">
                                <a:solidFill>
                                  <a:srgbClr val="000000"/>
                                </a:solidFill>
                                <a:latin typeface="Cambria Math" panose="02040503050406030204" pitchFamily="18" charset="0"/>
                                <a:ea typeface="+mj-ea"/>
                                <a:cs typeface="Euclid" panose="02020503060505020303" pitchFamily="18" charset="0"/>
                              </a:rPr>
                              <m:t>b</m:t>
                            </m:r>
                            <m:r>
                              <a:rPr lang="en-US" altLang="zh-CN" sz="2100" b="0" i="1" smtClean="0">
                                <a:solidFill>
                                  <a:srgbClr val="000000"/>
                                </a:solidFill>
                                <a:latin typeface="Cambria Math" panose="02040503050406030204" pitchFamily="18" charset="0"/>
                                <a:ea typeface="+mj-ea"/>
                                <a:cs typeface="Euclid" panose="02020503060505020303" pitchFamily="18" charset="0"/>
                              </a:rPr>
                              <m:t>)</m:t>
                            </m:r>
                          </m:sup>
                        </m:sSup>
                      </m:den>
                    </m:f>
                  </m:oMath>
                </a14:m>
                <a:endParaRPr lang="en-US" altLang="zh-CN" sz="2100" dirty="0">
                  <a:solidFill>
                    <a:srgbClr val="000000"/>
                  </a:solidFill>
                  <a:latin typeface="微软雅黑" panose="020B0503020204020204" pitchFamily="34" charset="-122"/>
                  <a:ea typeface="微软雅黑" panose="020B0503020204020204" pitchFamily="34" charset="-122"/>
                  <a:cs typeface="Euclid" panose="02020503060505020303" pitchFamily="18" charset="0"/>
                </a:endParaRPr>
              </a:p>
              <a:p>
                <a:pPr eaLnBrk="0" fontAlgn="base" hangingPunct="0">
                  <a:lnSpc>
                    <a:spcPct val="150000"/>
                  </a:lnSpc>
                  <a:spcBef>
                    <a:spcPct val="0"/>
                  </a:spcBef>
                </a:pPr>
                <a:r>
                  <a:rPr lang="zh-CN" altLang="en-US"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为了方便描述，令</a:t>
                </a:r>
                <a:r>
                  <a:rPr lang="en-US" altLang="zh-CN" dirty="0">
                    <a:solidFill>
                      <a:srgbClr val="000000"/>
                    </a:solidFill>
                    <a:latin typeface="微软雅黑" panose="020B0503020204020204" pitchFamily="34" charset="-122"/>
                    <a:ea typeface="微软雅黑" panose="020B0503020204020204" pitchFamily="34" charset="-122"/>
                    <a:cs typeface="Euclid" panose="02020503060505020303" pitchFamily="18" charset="0"/>
                  </a:rPr>
                  <a:t>                                                         </a:t>
                </a:r>
                <a:r>
                  <a:rPr lang="en-US" altLang="zh-CN" sz="2400" dirty="0">
                    <a:cs typeface="Euclid" panose="02020503060505020303" pitchFamily="18" charset="0"/>
                  </a:rPr>
                  <a:t> </a:t>
                </a:r>
                <a14:m>
                  <m:oMath xmlns:m="http://schemas.openxmlformats.org/officeDocument/2006/math">
                    <m:r>
                      <a:rPr lang="en-US" altLang="zh-CN" sz="2400" i="1">
                        <a:latin typeface="Cambria Math" panose="02040503050406030204" pitchFamily="18" charset="0"/>
                        <a:cs typeface="Euclid" panose="02020503060505020303" pitchFamily="18" charset="0"/>
                      </a:rPr>
                      <m:t>𝑝</m:t>
                    </m:r>
                    <m:r>
                      <a:rPr lang="en-US" altLang="zh-CN" sz="2400" i="1">
                        <a:latin typeface="Cambria Math" panose="02040503050406030204" pitchFamily="18" charset="0"/>
                        <a:cs typeface="Euclid" panose="02020503060505020303" pitchFamily="18" charset="0"/>
                      </a:rPr>
                      <m:t>=</m:t>
                    </m:r>
                    <m:f>
                      <m:fPr>
                        <m:ctrlPr>
                          <a:rPr lang="zh-CN" altLang="zh-CN" sz="2400" i="1">
                            <a:latin typeface="Cambria Math" panose="02040503050406030204" pitchFamily="18" charset="0"/>
                            <a:cs typeface="Euclid" panose="02020503060505020303" pitchFamily="18" charset="0"/>
                          </a:rPr>
                        </m:ctrlPr>
                      </m:fPr>
                      <m:num>
                        <m:r>
                          <a:rPr lang="en-US" altLang="zh-CN" sz="2400" i="1">
                            <a:latin typeface="Cambria Math" panose="02040503050406030204" pitchFamily="18" charset="0"/>
                            <a:cs typeface="Euclid" panose="02020503060505020303" pitchFamily="18" charset="0"/>
                          </a:rPr>
                          <m:t>1</m:t>
                        </m:r>
                      </m:num>
                      <m:den>
                        <m:r>
                          <a:rPr lang="en-US" altLang="zh-CN" sz="2400" i="1">
                            <a:latin typeface="Cambria Math" panose="02040503050406030204" pitchFamily="18" charset="0"/>
                            <a:cs typeface="Euclid" panose="02020503060505020303" pitchFamily="18" charset="0"/>
                          </a:rPr>
                          <m:t>1+</m:t>
                        </m:r>
                        <m:sSup>
                          <m:sSupPr>
                            <m:ctrlPr>
                              <a:rPr lang="zh-CN" altLang="zh-CN" sz="2400" i="1">
                                <a:latin typeface="Cambria Math" panose="02040503050406030204" pitchFamily="18" charset="0"/>
                                <a:cs typeface="Euclid" panose="02020503060505020303" pitchFamily="18" charset="0"/>
                              </a:rPr>
                            </m:ctrlPr>
                          </m:sSupPr>
                          <m:e>
                            <m:r>
                              <a:rPr lang="en-US" altLang="zh-CN" sz="2400" i="1">
                                <a:latin typeface="Cambria Math" panose="02040503050406030204" pitchFamily="18" charset="0"/>
                                <a:cs typeface="Euclid" panose="02020503060505020303" pitchFamily="18" charset="0"/>
                              </a:rPr>
                              <m:t>𝑒</m:t>
                            </m:r>
                          </m:e>
                          <m:sup>
                            <m:r>
                              <a:rPr lang="en-US" altLang="zh-CN" sz="2400" i="1">
                                <a:latin typeface="Cambria Math" panose="02040503050406030204" pitchFamily="18" charset="0"/>
                                <a:cs typeface="Euclid" panose="02020503060505020303" pitchFamily="18" charset="0"/>
                              </a:rPr>
                              <m:t>−</m:t>
                            </m:r>
                            <m:sSup>
                              <m:sSupPr>
                                <m:ctrlPr>
                                  <a:rPr lang="zh-CN" altLang="zh-CN" sz="2400" i="1">
                                    <a:latin typeface="Cambria Math" panose="02040503050406030204" pitchFamily="18" charset="0"/>
                                    <a:cs typeface="Euclid" panose="02020503060505020303" pitchFamily="18" charset="0"/>
                                  </a:rPr>
                                </m:ctrlPr>
                              </m:sSupPr>
                              <m:e>
                                <m:r>
                                  <a:rPr lang="en-US" altLang="zh-CN" sz="2400" i="1">
                                    <a:latin typeface="Cambria Math" panose="02040503050406030204" pitchFamily="18" charset="0"/>
                                    <a:cs typeface="Euclid" panose="02020503060505020303" pitchFamily="18" charset="0"/>
                                  </a:rPr>
                                  <m:t>𝑤</m:t>
                                </m:r>
                              </m:e>
                              <m:sup>
                                <m:r>
                                  <a:rPr lang="en-US" altLang="zh-CN" sz="2400" i="1">
                                    <a:latin typeface="Cambria Math" panose="02040503050406030204" pitchFamily="18" charset="0"/>
                                    <a:cs typeface="Euclid" panose="02020503060505020303" pitchFamily="18" charset="0"/>
                                  </a:rPr>
                                  <m:t>𝑇</m:t>
                                </m:r>
                              </m:sup>
                            </m:sSup>
                            <m:r>
                              <a:rPr lang="en-US" altLang="zh-CN" sz="2400" i="1">
                                <a:latin typeface="Cambria Math" panose="02040503050406030204" pitchFamily="18" charset="0"/>
                                <a:cs typeface="Euclid" panose="02020503060505020303" pitchFamily="18" charset="0"/>
                              </a:rPr>
                              <m:t>𝑥</m:t>
                            </m:r>
                          </m:sup>
                        </m:sSup>
                      </m:den>
                    </m:f>
                  </m:oMath>
                </a14:m>
                <a:endParaRPr lang="zh-CN" altLang="zh-CN" sz="2100" dirty="0">
                  <a:solidFill>
                    <a:srgbClr val="000000"/>
                  </a:solidFill>
                  <a:latin typeface="微软雅黑" panose="020B0503020204020204" pitchFamily="34" charset="-122"/>
                  <a:ea typeface="微软雅黑" panose="020B0503020204020204" pitchFamily="34" charset="-122"/>
                  <a:cs typeface="Euclid" panose="02020503060505020303" pitchFamily="18" charset="0"/>
                </a:endParaRPr>
              </a:p>
            </p:txBody>
          </p:sp>
        </mc:Choice>
        <mc:Fallback xmlns="">
          <p:sp>
            <p:nvSpPr>
              <p:cNvPr id="12" name="矩形 11"/>
              <p:cNvSpPr>
                <a:spLocks noRot="1" noChangeAspect="1" noMove="1" noResize="1" noEditPoints="1" noAdjustHandles="1" noChangeArrowheads="1" noChangeShapeType="1" noTextEdit="1"/>
              </p:cNvSpPr>
              <p:nvPr/>
            </p:nvSpPr>
            <p:spPr>
              <a:xfrm>
                <a:off x="2711624" y="1637055"/>
                <a:ext cx="8279119" cy="4726305"/>
              </a:xfrm>
              <a:prstGeom prst="rect">
                <a:avLst/>
              </a:prstGeom>
              <a:blipFill rotWithShape="1">
                <a:blip r:embed="rId3"/>
                <a:stretch>
                  <a:fillRect l="-2" t="-1" r="2" b="1"/>
                </a:stretch>
              </a:blipFill>
            </p:spPr>
            <p:txBody>
              <a:bodyPr/>
              <a:lstStyle/>
              <a:p>
                <a:r>
                  <a:rPr lang="zh-CN" altLang="en-US">
                    <a:noFill/>
                  </a:rPr>
                  <a:t> </a:t>
                </a:r>
              </a:p>
            </p:txBody>
          </p:sp>
        </mc:Fallback>
      </mc:AlternateContent>
      <p:pic>
        <p:nvPicPr>
          <p:cNvPr id="14" name="图片 13"/>
          <p:cNvPicPr>
            <a:picLocks noChangeAspect="1"/>
          </p:cNvPicPr>
          <p:nvPr/>
        </p:nvPicPr>
        <p:blipFill>
          <a:blip r:embed="rId4"/>
          <a:stretch>
            <a:fillRect/>
          </a:stretch>
        </p:blipFill>
        <p:spPr>
          <a:xfrm>
            <a:off x="4869983" y="5284142"/>
            <a:ext cx="1981200" cy="952500"/>
          </a:xfrm>
          <a:prstGeom prst="rect">
            <a:avLst/>
          </a:prstGeom>
        </p:spPr>
      </p:pic>
      <p:sp>
        <p:nvSpPr>
          <p:cNvPr id="15" name="燕尾形箭头 14"/>
          <p:cNvSpPr/>
          <p:nvPr/>
        </p:nvSpPr>
        <p:spPr>
          <a:xfrm>
            <a:off x="7245841" y="5518076"/>
            <a:ext cx="978408" cy="484632"/>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标题 1"/>
          <p:cNvSpPr txBox="1"/>
          <p:nvPr/>
        </p:nvSpPr>
        <p:spPr>
          <a:xfrm>
            <a:off x="2711624" y="332656"/>
            <a:ext cx="7498080" cy="1143000"/>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300" b="0" i="0" u="none" strike="noStrike" kern="1200" cap="none" spc="0" normalizeH="0" baseline="0" noProof="0" dirty="0">
                <a:ln>
                  <a:noFill/>
                </a:ln>
                <a:solidFill>
                  <a:srgbClr val="4F271C">
                    <a:satMod val="130000"/>
                  </a:srgbClr>
                </a:solidFill>
                <a:effectLst>
                  <a:outerShdw blurRad="50000" dist="30000" dir="5400000" algn="tl" rotWithShape="0">
                    <a:srgbClr val="000000">
                      <a:alpha val="30000"/>
                    </a:srgbClr>
                  </a:outerShdw>
                </a:effectLst>
                <a:uLnTx/>
                <a:uFillTx/>
                <a:latin typeface="Gill Sans MT" panose="020B0502020104020203"/>
                <a:ea typeface="华文中宋" panose="02010600040101010101" pitchFamily="2" charset="-122"/>
              </a:rPr>
              <a:t>逻辑回归</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逻辑回归</a:t>
            </a:r>
          </a:p>
        </p:txBody>
      </p:sp>
      <p:sp>
        <p:nvSpPr>
          <p:cNvPr id="3" name="内容占位符 2"/>
          <p:cNvSpPr>
            <a:spLocks noGrp="1"/>
          </p:cNvSpPr>
          <p:nvPr>
            <p:ph idx="1"/>
          </p:nvPr>
        </p:nvSpPr>
        <p:spPr/>
        <p:txBody>
          <a:bodyPr>
            <a:noAutofit/>
          </a:bodyPr>
          <a:lstStyle/>
          <a:p>
            <a:pPr>
              <a:lnSpc>
                <a:spcPct val="150000"/>
              </a:lnSpc>
            </a:pPr>
            <a:r>
              <a:rPr lang="zh-CN" altLang="en-US" sz="2000" dirty="0"/>
              <a:t>由于样本集合给定的样本属于类别</a:t>
            </a:r>
            <a:r>
              <a:rPr lang="en-US" altLang="zh-CN" sz="2000" dirty="0"/>
              <a:t>1</a:t>
            </a:r>
            <a:r>
              <a:rPr lang="zh-CN" altLang="en-US" sz="2000" dirty="0"/>
              <a:t>的概率非</a:t>
            </a:r>
            <a:r>
              <a:rPr lang="en-US" altLang="zh-CN" sz="2000" dirty="0">
                <a:latin typeface="Times New Roman" panose="02020603050405020304" pitchFamily="18" charset="0"/>
                <a:cs typeface="Times New Roman" panose="02020603050405020304" pitchFamily="18" charset="0"/>
              </a:rPr>
              <a:t>0</a:t>
            </a:r>
            <a:r>
              <a:rPr lang="zh-CN" altLang="en-US" sz="2000" dirty="0"/>
              <a:t>即</a:t>
            </a:r>
            <a:r>
              <a:rPr lang="en-US" altLang="zh-CN" sz="2000" dirty="0">
                <a:latin typeface="Times New Roman" panose="02020603050405020304" pitchFamily="18" charset="0"/>
                <a:cs typeface="Times New Roman" panose="02020603050405020304" pitchFamily="18" charset="0"/>
              </a:rPr>
              <a:t>1</a:t>
            </a:r>
            <a:r>
              <a:rPr lang="zh-CN" altLang="en-US" sz="2000" dirty="0"/>
              <a:t>，所以无法用最小二乘法求解。此时可以考虑使用极大似然估计进行求解。</a:t>
            </a:r>
            <a:endParaRPr lang="en-US" altLang="zh-CN" sz="2000" dirty="0"/>
          </a:p>
          <a:p>
            <a:pPr>
              <a:lnSpc>
                <a:spcPct val="150000"/>
              </a:lnSpc>
            </a:pPr>
            <a:r>
              <a:rPr lang="zh-CN" altLang="en-US" sz="2000" dirty="0"/>
              <a:t>给定样本集合                                           ，似然函数为</a:t>
            </a:r>
            <a:endParaRPr lang="en-US" altLang="zh-CN" sz="2000" dirty="0"/>
          </a:p>
          <a:p>
            <a:pPr>
              <a:lnSpc>
                <a:spcPct val="150000"/>
              </a:lnSpc>
            </a:pPr>
            <a:endParaRPr lang="en-US" altLang="zh-CN" sz="2000" dirty="0"/>
          </a:p>
          <a:p>
            <a:pPr>
              <a:lnSpc>
                <a:spcPct val="150000"/>
              </a:lnSpc>
            </a:pPr>
            <a:r>
              <a:rPr lang="zh-CN" altLang="en-US" sz="2000" dirty="0"/>
              <a:t>对数似然函数为</a:t>
            </a:r>
            <a:endParaRPr lang="en-US" altLang="zh-CN" sz="2000" dirty="0"/>
          </a:p>
          <a:p>
            <a:pPr>
              <a:lnSpc>
                <a:spcPct val="150000"/>
              </a:lnSpc>
            </a:pPr>
            <a:endParaRPr lang="en-US" altLang="zh-CN" sz="2000" dirty="0"/>
          </a:p>
          <a:p>
            <a:pPr>
              <a:lnSpc>
                <a:spcPct val="150000"/>
              </a:lnSpc>
            </a:pPr>
            <a:endParaRPr lang="en-US" altLang="zh-CN" sz="2000" dirty="0"/>
          </a:p>
          <a:p>
            <a:pPr>
              <a:lnSpc>
                <a:spcPct val="150000"/>
              </a:lnSpc>
            </a:pPr>
            <a:r>
              <a:rPr lang="zh-CN" altLang="en-US" sz="2000" dirty="0"/>
              <a:t>之后可用经典的启发式最优化算法梯度下降法（此处不详细解释）求解此式。</a:t>
            </a:r>
            <a:endParaRPr lang="en-US" altLang="zh-CN" sz="2000" dirty="0"/>
          </a:p>
          <a:p>
            <a:pPr>
              <a:lnSpc>
                <a:spcPct val="150000"/>
              </a:lnSpc>
            </a:pPr>
            <a:endParaRPr lang="en-US" altLang="zh-CN" sz="2000" dirty="0"/>
          </a:p>
          <a:p>
            <a:pPr>
              <a:lnSpc>
                <a:spcPct val="150000"/>
              </a:lnSpc>
            </a:pPr>
            <a:endParaRPr lang="en-US" altLang="zh-CN" sz="2000" dirty="0"/>
          </a:p>
          <a:p>
            <a:pPr>
              <a:lnSpc>
                <a:spcPct val="150000"/>
              </a:lnSpc>
            </a:pPr>
            <a:endParaRPr lang="en-US" altLang="zh-CN" sz="2000" dirty="0"/>
          </a:p>
          <a:p>
            <a:pPr>
              <a:lnSpc>
                <a:spcPct val="150000"/>
              </a:lnSpc>
            </a:pPr>
            <a:endParaRPr lang="en-US" altLang="zh-CN" sz="2000" dirty="0"/>
          </a:p>
          <a:p>
            <a:pPr>
              <a:lnSpc>
                <a:spcPct val="150000"/>
              </a:lnSpc>
            </a:pPr>
            <a:endParaRPr lang="zh-CN" altLang="en-US" sz="2000" dirty="0"/>
          </a:p>
        </p:txBody>
      </p:sp>
      <p:pic>
        <p:nvPicPr>
          <p:cNvPr id="5" name="图片 4"/>
          <p:cNvPicPr>
            <a:picLocks noChangeAspect="1"/>
          </p:cNvPicPr>
          <p:nvPr/>
        </p:nvPicPr>
        <p:blipFill>
          <a:blip r:embed="rId3"/>
          <a:stretch>
            <a:fillRect/>
          </a:stretch>
        </p:blipFill>
        <p:spPr>
          <a:xfrm>
            <a:off x="3971052" y="2595384"/>
            <a:ext cx="3009900" cy="352425"/>
          </a:xfrm>
          <a:prstGeom prst="rect">
            <a:avLst/>
          </a:prstGeom>
        </p:spPr>
      </p:pic>
      <p:pic>
        <p:nvPicPr>
          <p:cNvPr id="7" name="图片 6"/>
          <p:cNvPicPr>
            <a:picLocks noChangeAspect="1"/>
          </p:cNvPicPr>
          <p:nvPr/>
        </p:nvPicPr>
        <p:blipFill>
          <a:blip r:embed="rId4"/>
          <a:stretch>
            <a:fillRect/>
          </a:stretch>
        </p:blipFill>
        <p:spPr>
          <a:xfrm>
            <a:off x="5560885" y="2947491"/>
            <a:ext cx="2295525" cy="647700"/>
          </a:xfrm>
          <a:prstGeom prst="rect">
            <a:avLst/>
          </a:prstGeom>
        </p:spPr>
      </p:pic>
      <p:pic>
        <p:nvPicPr>
          <p:cNvPr id="9" name="图片 8"/>
          <p:cNvPicPr>
            <a:picLocks noChangeAspect="1"/>
          </p:cNvPicPr>
          <p:nvPr/>
        </p:nvPicPr>
        <p:blipFill>
          <a:blip r:embed="rId5"/>
          <a:stretch>
            <a:fillRect/>
          </a:stretch>
        </p:blipFill>
        <p:spPr>
          <a:xfrm>
            <a:off x="5303912" y="3595191"/>
            <a:ext cx="3276600" cy="12858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13"/>
          <p:cNvCxnSpPr/>
          <p:nvPr/>
        </p:nvCxnSpPr>
        <p:spPr>
          <a:xfrm>
            <a:off x="1001184" y="1128189"/>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1349025" y="548221"/>
            <a:ext cx="4873413" cy="579968"/>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r>
              <a:rPr kumimoji="0" lang="en-US" altLang="zh-CN" sz="3600" dirty="0"/>
              <a:t>Logistics</a:t>
            </a:r>
            <a:r>
              <a:rPr kumimoji="0" lang="zh-CN" altLang="en-US" sz="3600" dirty="0"/>
              <a:t>回归</a:t>
            </a:r>
          </a:p>
        </p:txBody>
      </p:sp>
      <p:sp>
        <p:nvSpPr>
          <p:cNvPr id="11270" name="TextBox 5"/>
          <p:cNvSpPr txBox="1">
            <a:spLocks noChangeArrowheads="1"/>
          </p:cNvSpPr>
          <p:nvPr/>
        </p:nvSpPr>
        <p:spPr bwMode="auto">
          <a:xfrm>
            <a:off x="810684" y="573622"/>
            <a:ext cx="246280" cy="615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1349025" y="1616185"/>
                <a:ext cx="10727267" cy="425962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121917" tIns="60958" rIns="121917" bIns="60958">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800" dirty="0">
                    <a:solidFill>
                      <a:srgbClr val="000000"/>
                    </a:solidFill>
                  </a:rPr>
                  <a:t>按照逻辑回归的基本原理，求解过程可以分为以下三步</a:t>
                </a:r>
                <a:endParaRPr lang="en-US" altLang="zh-CN" sz="2800" dirty="0">
                  <a:solidFill>
                    <a:srgbClr val="000000"/>
                  </a:solidFill>
                </a:endParaRPr>
              </a:p>
              <a:p>
                <a:pPr lvl="1"/>
                <a:r>
                  <a:rPr lang="zh-CN" altLang="en-US" dirty="0">
                    <a:solidFill>
                      <a:srgbClr val="000000"/>
                    </a:solidFill>
                  </a:rPr>
                  <a:t>找一个合适的预测分类函数，用来预测输入数据的分类结果，一 般表示为</a:t>
                </a:r>
                <a:r>
                  <a:rPr lang="en-US" altLang="zh-CN" dirty="0">
                    <a:solidFill>
                      <a:srgbClr val="000000"/>
                    </a:solidFill>
                  </a:rPr>
                  <a:t>h</a:t>
                </a:r>
                <a:r>
                  <a:rPr lang="zh-CN" altLang="en-US" dirty="0">
                    <a:solidFill>
                      <a:srgbClr val="000000"/>
                    </a:solidFill>
                  </a:rPr>
                  <a:t>函数，需要对数据有一定的了解或分析，然后确定函数的可能形式。</a:t>
                </a:r>
                <a:endParaRPr lang="en-US" altLang="zh-CN" dirty="0">
                  <a:solidFill>
                    <a:srgbClr val="000000"/>
                  </a:solidFill>
                </a:endParaRPr>
              </a:p>
              <a:p>
                <a:pPr lvl="1"/>
                <a:r>
                  <a:rPr lang="zh-CN" altLang="en-US" dirty="0">
                    <a:solidFill>
                      <a:srgbClr val="000000"/>
                    </a:solidFill>
                  </a:rPr>
                  <a:t>构造一个损失函数，该函数表示预测输出（</a:t>
                </a:r>
                <a:r>
                  <a:rPr lang="en-US" altLang="zh-CN" dirty="0">
                    <a:solidFill>
                      <a:srgbClr val="000000"/>
                    </a:solidFill>
                  </a:rPr>
                  <a:t>h</a:t>
                </a:r>
                <a:r>
                  <a:rPr lang="zh-CN" altLang="en-US" dirty="0">
                    <a:solidFill>
                      <a:srgbClr val="000000"/>
                    </a:solidFill>
                  </a:rPr>
                  <a:t>）</a:t>
                </a:r>
                <a:r>
                  <a:rPr lang="en-US" altLang="zh-CN" dirty="0">
                    <a:solidFill>
                      <a:srgbClr val="000000"/>
                    </a:solidFill>
                  </a:rPr>
                  <a:t> </a:t>
                </a:r>
                <a:r>
                  <a:rPr lang="zh-CN" altLang="en-US" dirty="0">
                    <a:solidFill>
                      <a:srgbClr val="000000"/>
                    </a:solidFill>
                  </a:rPr>
                  <a:t>与训练数据类别（</a:t>
                </a:r>
                <a:r>
                  <a:rPr lang="en-US" altLang="zh-CN" dirty="0">
                    <a:solidFill>
                      <a:srgbClr val="000000"/>
                    </a:solidFill>
                  </a:rPr>
                  <a:t>y</a:t>
                </a:r>
                <a:r>
                  <a:rPr lang="zh-CN" altLang="en-US" dirty="0">
                    <a:solidFill>
                      <a:srgbClr val="000000"/>
                    </a:solidFill>
                  </a:rPr>
                  <a:t>）之间的偏差，一般是预测输出与实际类别的差，可对所有样本的</a:t>
                </a:r>
                <a:r>
                  <a:rPr lang="en-US" altLang="zh-CN" dirty="0">
                    <a:solidFill>
                      <a:srgbClr val="000000"/>
                    </a:solidFill>
                  </a:rPr>
                  <a:t>Cost</a:t>
                </a:r>
                <a:r>
                  <a:rPr lang="zh-CN" altLang="en-US" dirty="0">
                    <a:solidFill>
                      <a:srgbClr val="000000"/>
                    </a:solidFill>
                  </a:rPr>
                  <a:t>求</a:t>
                </a:r>
                <a:r>
                  <a:rPr lang="en-US" altLang="zh-CN" dirty="0">
                    <a:solidFill>
                      <a:srgbClr val="000000"/>
                    </a:solidFill>
                  </a:rPr>
                  <a:t>R</a:t>
                </a:r>
                <a:r>
                  <a:rPr lang="zh-CN" altLang="en-US" dirty="0">
                    <a:solidFill>
                      <a:srgbClr val="000000"/>
                    </a:solidFill>
                  </a:rPr>
                  <a:t>方值等作为评价标准， 记为</a:t>
                </a:r>
                <a14:m>
                  <m:oMath xmlns:m="http://schemas.openxmlformats.org/officeDocument/2006/math">
                    <m:r>
                      <a:rPr lang="en-US" altLang="zh-CN" i="1" dirty="0">
                        <a:solidFill>
                          <a:srgbClr val="000000"/>
                        </a:solidFill>
                        <a:latin typeface="Cambria Math" panose="02040503050406030204" pitchFamily="18" charset="0"/>
                      </a:rPr>
                      <m:t>𝐽</m:t>
                    </m:r>
                    <m:r>
                      <a:rPr lang="zh-CN" altLang="en-US" i="1" dirty="0">
                        <a:solidFill>
                          <a:srgbClr val="000000"/>
                        </a:solidFill>
                        <a:latin typeface="Cambria Math" panose="02040503050406030204" pitchFamily="18" charset="0"/>
                      </a:rPr>
                      <m:t>（</m:t>
                    </m:r>
                    <m:r>
                      <a:rPr lang="zh-CN" altLang="en-US" i="1" dirty="0">
                        <a:solidFill>
                          <a:srgbClr val="000000"/>
                        </a:solidFill>
                        <a:latin typeface="Cambria Math" panose="02040503050406030204" pitchFamily="18" charset="0"/>
                      </a:rPr>
                      <m:t>𝜃</m:t>
                    </m:r>
                    <m:r>
                      <a:rPr lang="zh-CN" altLang="en-US" i="1" dirty="0">
                        <a:solidFill>
                          <a:srgbClr val="000000"/>
                        </a:solidFill>
                        <a:latin typeface="Cambria Math" panose="02040503050406030204" pitchFamily="18" charset="0"/>
                      </a:rPr>
                      <m:t>）</m:t>
                    </m:r>
                  </m:oMath>
                </a14:m>
                <a:r>
                  <a:rPr lang="zh-CN" altLang="en-US" dirty="0">
                    <a:solidFill>
                      <a:srgbClr val="000000"/>
                    </a:solidFill>
                  </a:rPr>
                  <a:t>函数。</a:t>
                </a:r>
                <a:endParaRPr lang="en-US" altLang="zh-CN" dirty="0">
                  <a:solidFill>
                    <a:srgbClr val="000000"/>
                  </a:solidFill>
                </a:endParaRPr>
              </a:p>
              <a:p>
                <a:pPr lvl="1"/>
                <a:r>
                  <a:rPr lang="zh-CN" altLang="en-US" dirty="0">
                    <a:solidFill>
                      <a:srgbClr val="000000"/>
                    </a:solidFill>
                  </a:rPr>
                  <a:t>找到</a:t>
                </a:r>
                <a14:m>
                  <m:oMath xmlns:m="http://schemas.openxmlformats.org/officeDocument/2006/math">
                    <m:r>
                      <a:rPr lang="en-US" altLang="zh-CN" i="1" dirty="0">
                        <a:solidFill>
                          <a:srgbClr val="000000"/>
                        </a:solidFill>
                        <a:latin typeface="Cambria Math" panose="02040503050406030204" pitchFamily="18" charset="0"/>
                      </a:rPr>
                      <m:t>𝐽</m:t>
                    </m:r>
                    <m:r>
                      <a:rPr lang="zh-CN" altLang="en-US" i="1" dirty="0">
                        <a:solidFill>
                          <a:srgbClr val="000000"/>
                        </a:solidFill>
                        <a:latin typeface="Cambria Math" panose="02040503050406030204" pitchFamily="18" charset="0"/>
                      </a:rPr>
                      <m:t>（</m:t>
                    </m:r>
                    <m:r>
                      <a:rPr lang="zh-CN" altLang="en-US" i="1" dirty="0">
                        <a:solidFill>
                          <a:srgbClr val="000000"/>
                        </a:solidFill>
                        <a:latin typeface="Cambria Math" panose="02040503050406030204" pitchFamily="18" charset="0"/>
                      </a:rPr>
                      <m:t>𝜃</m:t>
                    </m:r>
                    <m:r>
                      <a:rPr lang="zh-CN" altLang="en-US" i="1" dirty="0">
                        <a:solidFill>
                          <a:srgbClr val="000000"/>
                        </a:solidFill>
                        <a:latin typeface="Cambria Math" panose="02040503050406030204" pitchFamily="18" charset="0"/>
                      </a:rPr>
                      <m:t>）</m:t>
                    </m:r>
                  </m:oMath>
                </a14:m>
                <a:r>
                  <a:rPr lang="zh-CN" altLang="en-US" dirty="0">
                    <a:solidFill>
                      <a:srgbClr val="000000"/>
                    </a:solidFill>
                  </a:rPr>
                  <a:t>函数的最小值，因为值越小表示预测函数越准确。求解损失函数的最小值是采用梯度下降法实现。</a:t>
                </a:r>
                <a:endParaRPr lang="en-US" altLang="zh-CN" dirty="0">
                  <a:solidFill>
                    <a:srgbClr val="000000"/>
                  </a:solidFill>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1349025" y="1616185"/>
                <a:ext cx="10727267" cy="4259624"/>
              </a:xfrm>
              <a:prstGeom prst="rect">
                <a:avLst/>
              </a:prstGeom>
              <a:blipFill rotWithShape="1">
                <a:blip r:embed="rId3"/>
                <a:stretch>
                  <a:fillRect l="-3" t="-3" r="5" b="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3"/>
          <a:stretch>
            <a:fillRect/>
          </a:stretch>
        </p:blipFill>
        <p:spPr>
          <a:xfrm>
            <a:off x="1253107" y="211715"/>
            <a:ext cx="9036201" cy="634349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片 2"/>
          <p:cNvPicPr>
            <a:picLocks noChangeAspect="1"/>
          </p:cNvPicPr>
          <p:nvPr/>
        </p:nvPicPr>
        <p:blipFill>
          <a:blip r:embed="rId3"/>
          <a:stretch>
            <a:fillRect/>
          </a:stretch>
        </p:blipFill>
        <p:spPr>
          <a:xfrm>
            <a:off x="1253108" y="299796"/>
            <a:ext cx="9147037" cy="630197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3"/>
          <a:stretch>
            <a:fillRect/>
          </a:stretch>
        </p:blipFill>
        <p:spPr>
          <a:xfrm>
            <a:off x="1350897" y="177077"/>
            <a:ext cx="9341001" cy="637642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片 2"/>
          <p:cNvPicPr>
            <a:picLocks noChangeAspect="1"/>
          </p:cNvPicPr>
          <p:nvPr/>
        </p:nvPicPr>
        <p:blipFill>
          <a:blip r:embed="rId3"/>
          <a:stretch>
            <a:fillRect/>
          </a:stretch>
        </p:blipFill>
        <p:spPr>
          <a:xfrm>
            <a:off x="1364868" y="157710"/>
            <a:ext cx="9322528" cy="643648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图片 4"/>
          <p:cNvPicPr>
            <a:picLocks noChangeAspect="1"/>
          </p:cNvPicPr>
          <p:nvPr/>
        </p:nvPicPr>
        <p:blipFill>
          <a:blip r:embed="rId3"/>
          <a:stretch>
            <a:fillRect/>
          </a:stretch>
        </p:blipFill>
        <p:spPr>
          <a:xfrm>
            <a:off x="1364868" y="148791"/>
            <a:ext cx="9304056" cy="642125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片 2"/>
          <p:cNvPicPr>
            <a:picLocks noChangeAspect="1"/>
          </p:cNvPicPr>
          <p:nvPr/>
        </p:nvPicPr>
        <p:blipFill>
          <a:blip r:embed="rId3"/>
          <a:stretch>
            <a:fillRect/>
          </a:stretch>
        </p:blipFill>
        <p:spPr>
          <a:xfrm>
            <a:off x="1364868" y="220807"/>
            <a:ext cx="8515350" cy="630555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4840" y="625687"/>
            <a:ext cx="10972800" cy="1143000"/>
          </a:xfrm>
        </p:spPr>
        <p:txBody>
          <a:bodyPr/>
          <a:lstStyle/>
          <a:p>
            <a:r>
              <a:rPr lang="zh-CN" altLang="en-US" dirty="0"/>
              <a:t>逻辑回归的优点</a:t>
            </a:r>
          </a:p>
        </p:txBody>
      </p:sp>
      <p:sp>
        <p:nvSpPr>
          <p:cNvPr id="3" name="内容占位符 2"/>
          <p:cNvSpPr>
            <a:spLocks noGrp="1"/>
          </p:cNvSpPr>
          <p:nvPr>
            <p:ph idx="1"/>
          </p:nvPr>
        </p:nvSpPr>
        <p:spPr>
          <a:xfrm>
            <a:off x="640080" y="2087885"/>
            <a:ext cx="10972800" cy="4525433"/>
          </a:xfrm>
        </p:spPr>
        <p:txBody>
          <a:bodyPr/>
          <a:lstStyle/>
          <a:p>
            <a:r>
              <a:rPr lang="zh-CN" altLang="en-US" sz="3200" dirty="0"/>
              <a:t>直接对分类可能性建模，无需事先假设数据分布</a:t>
            </a:r>
            <a:endParaRPr lang="en-US" altLang="zh-CN" sz="3200" dirty="0"/>
          </a:p>
          <a:p>
            <a:r>
              <a:rPr lang="zh-CN" altLang="en-US" sz="3200" dirty="0"/>
              <a:t>不是仅预测出“类别”，还可得到对近似概率的预测</a:t>
            </a:r>
            <a:endParaRPr lang="en-US" altLang="zh-CN" sz="3200" dirty="0"/>
          </a:p>
          <a:p>
            <a:r>
              <a:rPr lang="zh-CN" altLang="en-US" sz="3200" dirty="0"/>
              <a:t>对数几率（</a:t>
            </a:r>
            <a:r>
              <a:rPr lang="en-US" altLang="zh-CN" sz="3200" dirty="0"/>
              <a:t>logistic</a:t>
            </a:r>
            <a:r>
              <a:rPr lang="zh-CN" altLang="en-US" sz="3200" dirty="0"/>
              <a:t>）函数是任意阶可导的凸函数，有很好的数学性质</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86419" y="1417710"/>
            <a:ext cx="10879929" cy="4812215"/>
          </a:xfrm>
          <a:prstGeom prst="rect">
            <a:avLst/>
          </a:prstGeom>
        </p:spPr>
        <p:txBody>
          <a:bodyPr vert="horz" wrap="square" lIns="0" tIns="104775" rIns="0" bIns="0" rtlCol="0">
            <a:spAutoFit/>
          </a:bodyPr>
          <a:lstStyle/>
          <a:p>
            <a:pPr marL="12700">
              <a:spcBef>
                <a:spcPts val="825"/>
              </a:spcBef>
            </a:pPr>
            <a:r>
              <a:rPr lang="zh-CN" altLang="en-US" sz="2800" b="1" spc="20" dirty="0">
                <a:latin typeface="Arial" panose="020B0604020202020204"/>
                <a:cs typeface="Arial" panose="020B0604020202020204"/>
              </a:rPr>
              <a:t>导入包含分类方法的类：</a:t>
            </a:r>
            <a:endParaRPr sz="2800" dirty="0">
              <a:latin typeface="Arial" panose="020B0604020202020204"/>
              <a:cs typeface="Arial" panose="020B0604020202020204"/>
            </a:endParaRPr>
          </a:p>
          <a:p>
            <a:pPr marL="469900">
              <a:spcBef>
                <a:spcPts val="570"/>
              </a:spcBef>
            </a:pPr>
            <a:r>
              <a:rPr sz="2800" b="1" spc="-5" dirty="0">
                <a:solidFill>
                  <a:srgbClr val="00B050"/>
                </a:solidFill>
                <a:latin typeface="Courier New" panose="02070309020205020404"/>
                <a:cs typeface="Courier New" panose="02070309020205020404"/>
              </a:rPr>
              <a:t>from sklearn.linear_model import</a:t>
            </a:r>
            <a:r>
              <a:rPr sz="2800" b="1" spc="-70" dirty="0">
                <a:solidFill>
                  <a:srgbClr val="00B050"/>
                </a:solidFill>
                <a:latin typeface="Courier New" panose="02070309020205020404"/>
                <a:cs typeface="Courier New" panose="02070309020205020404"/>
              </a:rPr>
              <a:t> </a:t>
            </a:r>
            <a:r>
              <a:rPr sz="2800" b="1" spc="-5" dirty="0">
                <a:solidFill>
                  <a:srgbClr val="00B050"/>
                </a:solidFill>
                <a:latin typeface="Courier New" panose="02070309020205020404"/>
                <a:cs typeface="Courier New" panose="02070309020205020404"/>
              </a:rPr>
              <a:t>LogisticRegression</a:t>
            </a:r>
            <a:endParaRPr sz="2800" dirty="0">
              <a:solidFill>
                <a:srgbClr val="00B050"/>
              </a:solidFill>
              <a:latin typeface="Courier New" panose="02070309020205020404"/>
              <a:cs typeface="Courier New" panose="02070309020205020404"/>
            </a:endParaRPr>
          </a:p>
          <a:p>
            <a:pPr>
              <a:spcBef>
                <a:spcPts val="50"/>
              </a:spcBef>
            </a:pPr>
            <a:endParaRPr sz="2800" dirty="0">
              <a:latin typeface="Times New Roman" panose="02020603050405020304"/>
              <a:cs typeface="Times New Roman" panose="02020603050405020304"/>
            </a:endParaRPr>
          </a:p>
          <a:p>
            <a:pPr marL="12700"/>
            <a:r>
              <a:rPr lang="zh-CN" altLang="en-US" sz="2800" b="1" spc="-25" dirty="0">
                <a:latin typeface="Arial" panose="020B0604020202020204"/>
                <a:cs typeface="Arial" panose="020B0604020202020204"/>
              </a:rPr>
              <a:t>创建该类的一个实例：</a:t>
            </a:r>
            <a:endParaRPr sz="2800" dirty="0">
              <a:latin typeface="Arial" panose="020B0604020202020204"/>
              <a:cs typeface="Arial" panose="020B0604020202020204"/>
            </a:endParaRPr>
          </a:p>
          <a:p>
            <a:pPr marL="469900">
              <a:spcBef>
                <a:spcPts val="570"/>
              </a:spcBef>
            </a:pPr>
            <a:r>
              <a:rPr sz="2800" b="1" spc="-5" dirty="0">
                <a:solidFill>
                  <a:srgbClr val="00B050"/>
                </a:solidFill>
                <a:latin typeface="Courier New" panose="02070309020205020404"/>
                <a:cs typeface="Courier New" panose="02070309020205020404"/>
              </a:rPr>
              <a:t>LR </a:t>
            </a:r>
            <a:r>
              <a:rPr sz="2800" b="1" dirty="0">
                <a:solidFill>
                  <a:srgbClr val="00B050"/>
                </a:solidFill>
                <a:latin typeface="Courier New" panose="02070309020205020404"/>
                <a:cs typeface="Courier New" panose="02070309020205020404"/>
              </a:rPr>
              <a:t>= </a:t>
            </a:r>
            <a:r>
              <a:rPr sz="2800" b="1" spc="-5" dirty="0">
                <a:solidFill>
                  <a:srgbClr val="00B050"/>
                </a:solidFill>
                <a:latin typeface="Courier New" panose="02070309020205020404"/>
                <a:cs typeface="Courier New" panose="02070309020205020404"/>
              </a:rPr>
              <a:t>LogisticRegression(penalty</a:t>
            </a:r>
            <a:r>
              <a:rPr lang="en-US" altLang="zh-CN" sz="2800" b="1" spc="-5" dirty="0">
                <a:solidFill>
                  <a:srgbClr val="00B050"/>
                </a:solidFill>
                <a:latin typeface="Courier New" panose="02070309020205020404"/>
                <a:cs typeface="Courier New" panose="02070309020205020404"/>
              </a:rPr>
              <a:t> </a:t>
            </a:r>
            <a:r>
              <a:rPr sz="2800" b="1" spc="-5" dirty="0">
                <a:solidFill>
                  <a:srgbClr val="00B050"/>
                </a:solidFill>
                <a:latin typeface="Courier New" panose="02070309020205020404"/>
                <a:cs typeface="Courier New" panose="02070309020205020404"/>
              </a:rPr>
              <a:t>=</a:t>
            </a:r>
            <a:r>
              <a:rPr lang="en-US" altLang="zh-CN" sz="2800" b="1" spc="-5" dirty="0">
                <a:solidFill>
                  <a:srgbClr val="00B050"/>
                </a:solidFill>
                <a:latin typeface="Courier New" panose="02070309020205020404"/>
                <a:cs typeface="Courier New" panose="02070309020205020404"/>
              </a:rPr>
              <a:t> </a:t>
            </a:r>
            <a:r>
              <a:rPr sz="2800" b="1" spc="-5" dirty="0">
                <a:solidFill>
                  <a:srgbClr val="00B050"/>
                </a:solidFill>
                <a:latin typeface="Courier New" panose="02070309020205020404"/>
                <a:cs typeface="Courier New" panose="02070309020205020404"/>
              </a:rPr>
              <a:t>'l2',</a:t>
            </a:r>
            <a:r>
              <a:rPr sz="2800" b="1" spc="-75" dirty="0">
                <a:solidFill>
                  <a:srgbClr val="00B050"/>
                </a:solidFill>
                <a:latin typeface="Courier New" panose="02070309020205020404"/>
                <a:cs typeface="Courier New" panose="02070309020205020404"/>
              </a:rPr>
              <a:t> </a:t>
            </a:r>
            <a:r>
              <a:rPr lang="en-US" sz="2800" b="1" spc="-5" dirty="0">
                <a:solidFill>
                  <a:srgbClr val="00B050"/>
                </a:solidFill>
                <a:latin typeface="Courier New" panose="02070309020205020404"/>
                <a:cs typeface="Courier New" panose="02070309020205020404"/>
              </a:rPr>
              <a:t>C</a:t>
            </a:r>
            <a:r>
              <a:rPr lang="en-US" altLang="zh-CN" sz="2800" b="1" spc="-5" dirty="0">
                <a:solidFill>
                  <a:srgbClr val="00B050"/>
                </a:solidFill>
                <a:latin typeface="Courier New" panose="02070309020205020404"/>
                <a:cs typeface="Courier New" panose="02070309020205020404"/>
              </a:rPr>
              <a:t> </a:t>
            </a:r>
            <a:r>
              <a:rPr sz="2800" b="1" spc="-5" dirty="0">
                <a:solidFill>
                  <a:srgbClr val="00B050"/>
                </a:solidFill>
                <a:latin typeface="Courier New" panose="02070309020205020404"/>
                <a:cs typeface="Courier New" panose="02070309020205020404"/>
              </a:rPr>
              <a:t>=</a:t>
            </a:r>
            <a:r>
              <a:rPr lang="en-US" altLang="zh-CN" sz="2800" b="1" spc="-5" dirty="0">
                <a:solidFill>
                  <a:srgbClr val="00B050"/>
                </a:solidFill>
                <a:latin typeface="Courier New" panose="02070309020205020404"/>
                <a:cs typeface="Courier New" panose="02070309020205020404"/>
              </a:rPr>
              <a:t> </a:t>
            </a:r>
            <a:r>
              <a:rPr sz="2800" b="1" spc="-5" dirty="0">
                <a:solidFill>
                  <a:srgbClr val="00B050"/>
                </a:solidFill>
                <a:latin typeface="Courier New" panose="02070309020205020404"/>
                <a:cs typeface="Courier New" panose="02070309020205020404"/>
              </a:rPr>
              <a:t>10.0)</a:t>
            </a:r>
            <a:endParaRPr lang="en-US" altLang="zh-CN" sz="2800" b="1" spc="-5" dirty="0">
              <a:solidFill>
                <a:srgbClr val="00B050"/>
              </a:solidFill>
              <a:latin typeface="Courier New" panose="02070309020205020404"/>
              <a:cs typeface="Courier New" panose="02070309020205020404"/>
            </a:endParaRPr>
          </a:p>
          <a:p>
            <a:pPr marL="12700"/>
            <a:endParaRPr lang="en-US" altLang="zh-CN" sz="2800" b="1" spc="-10" dirty="0">
              <a:latin typeface="Arial" panose="020B0604020202020204"/>
              <a:cs typeface="Arial" panose="020B0604020202020204"/>
            </a:endParaRPr>
          </a:p>
          <a:p>
            <a:pPr marL="12700"/>
            <a:r>
              <a:rPr lang="zh-CN" altLang="en-US" sz="2800" b="1" spc="-10" dirty="0">
                <a:latin typeface="Arial" panose="020B0604020202020204"/>
                <a:cs typeface="Arial" panose="020B0604020202020204"/>
              </a:rPr>
              <a:t>拟合训练数据并预测：</a:t>
            </a:r>
            <a:endParaRPr lang="en-US" altLang="zh-CN" sz="2800" dirty="0">
              <a:latin typeface="Arial" panose="020B0604020202020204"/>
              <a:cs typeface="Arial" panose="020B0604020202020204"/>
            </a:endParaRPr>
          </a:p>
          <a:p>
            <a:pPr marL="469900">
              <a:spcBef>
                <a:spcPts val="570"/>
              </a:spcBef>
            </a:pPr>
            <a:r>
              <a:rPr lang="en-US" altLang="zh-CN" sz="2800" b="1" spc="-5" dirty="0">
                <a:solidFill>
                  <a:srgbClr val="00B050"/>
                </a:solidFill>
                <a:latin typeface="Courier New" panose="02070309020205020404"/>
                <a:cs typeface="Courier New" panose="02070309020205020404"/>
              </a:rPr>
              <a:t>LR </a:t>
            </a:r>
            <a:r>
              <a:rPr lang="en-US" altLang="zh-CN" sz="2800" b="1" dirty="0">
                <a:solidFill>
                  <a:srgbClr val="00B050"/>
                </a:solidFill>
                <a:latin typeface="Courier New" panose="02070309020205020404"/>
                <a:cs typeface="Courier New" panose="02070309020205020404"/>
              </a:rPr>
              <a:t>= </a:t>
            </a:r>
            <a:r>
              <a:rPr lang="en-US" altLang="zh-CN" sz="2800" b="1" spc="-5" dirty="0" err="1">
                <a:solidFill>
                  <a:srgbClr val="00B050"/>
                </a:solidFill>
                <a:latin typeface="Courier New" panose="02070309020205020404"/>
                <a:cs typeface="Courier New" panose="02070309020205020404"/>
              </a:rPr>
              <a:t>LR.fit</a:t>
            </a:r>
            <a:r>
              <a:rPr lang="en-US" altLang="zh-CN" sz="2800" b="1" spc="-5" dirty="0">
                <a:solidFill>
                  <a:srgbClr val="00B050"/>
                </a:solidFill>
                <a:latin typeface="Courier New" panose="02070309020205020404"/>
                <a:cs typeface="Courier New" panose="02070309020205020404"/>
              </a:rPr>
              <a:t>(</a:t>
            </a:r>
            <a:r>
              <a:rPr lang="en-US" altLang="zh-CN" sz="2800" b="1" spc="-5" dirty="0" err="1">
                <a:solidFill>
                  <a:srgbClr val="00B050"/>
                </a:solidFill>
                <a:latin typeface="Courier New" panose="02070309020205020404"/>
                <a:cs typeface="Courier New" panose="02070309020205020404"/>
              </a:rPr>
              <a:t>X_train</a:t>
            </a:r>
            <a:r>
              <a:rPr lang="en-US" altLang="zh-CN" sz="2800" b="1" spc="-5" dirty="0">
                <a:solidFill>
                  <a:srgbClr val="00B050"/>
                </a:solidFill>
                <a:latin typeface="Courier New" panose="02070309020205020404"/>
                <a:cs typeface="Courier New" panose="02070309020205020404"/>
              </a:rPr>
              <a:t>,</a:t>
            </a:r>
            <a:r>
              <a:rPr lang="en-US" altLang="zh-CN" sz="2800" b="1" spc="-60" dirty="0">
                <a:solidFill>
                  <a:srgbClr val="00B050"/>
                </a:solidFill>
                <a:latin typeface="Courier New" panose="02070309020205020404"/>
                <a:cs typeface="Courier New" panose="02070309020205020404"/>
              </a:rPr>
              <a:t> </a:t>
            </a:r>
            <a:r>
              <a:rPr lang="en-US" altLang="zh-CN" sz="2800" b="1" spc="-5" dirty="0" err="1">
                <a:solidFill>
                  <a:srgbClr val="00B050"/>
                </a:solidFill>
                <a:latin typeface="Courier New" panose="02070309020205020404"/>
                <a:cs typeface="Courier New" panose="02070309020205020404"/>
              </a:rPr>
              <a:t>y_train</a:t>
            </a:r>
            <a:r>
              <a:rPr lang="en-US" altLang="zh-CN" sz="2800" b="1" spc="-5" dirty="0">
                <a:solidFill>
                  <a:srgbClr val="00B050"/>
                </a:solidFill>
                <a:latin typeface="Courier New" panose="02070309020205020404"/>
                <a:cs typeface="Courier New" panose="02070309020205020404"/>
              </a:rPr>
              <a:t>)</a:t>
            </a:r>
            <a:endParaRPr lang="en-US" altLang="zh-CN" sz="2800" dirty="0">
              <a:solidFill>
                <a:srgbClr val="00B050"/>
              </a:solidFill>
              <a:latin typeface="Courier New" panose="02070309020205020404"/>
              <a:cs typeface="Courier New" panose="02070309020205020404"/>
            </a:endParaRPr>
          </a:p>
          <a:p>
            <a:pPr marL="469900">
              <a:spcBef>
                <a:spcPts val="1200"/>
              </a:spcBef>
            </a:pPr>
            <a:r>
              <a:rPr lang="en-US" altLang="zh-CN" sz="2800" b="1" spc="-5" dirty="0" err="1">
                <a:solidFill>
                  <a:srgbClr val="00B050"/>
                </a:solidFill>
                <a:latin typeface="Courier New" panose="02070309020205020404"/>
                <a:cs typeface="Courier New" panose="02070309020205020404"/>
              </a:rPr>
              <a:t>y_predict</a:t>
            </a:r>
            <a:r>
              <a:rPr lang="en-US" altLang="zh-CN" sz="2800" b="1" spc="-5" dirty="0">
                <a:solidFill>
                  <a:srgbClr val="00B050"/>
                </a:solidFill>
                <a:latin typeface="Courier New" panose="02070309020205020404"/>
                <a:cs typeface="Courier New" panose="02070309020205020404"/>
              </a:rPr>
              <a:t> </a:t>
            </a:r>
            <a:r>
              <a:rPr lang="en-US" altLang="zh-CN" sz="2800" b="1" dirty="0">
                <a:solidFill>
                  <a:srgbClr val="00B050"/>
                </a:solidFill>
                <a:latin typeface="Courier New" panose="02070309020205020404"/>
                <a:cs typeface="Courier New" panose="02070309020205020404"/>
              </a:rPr>
              <a:t>=</a:t>
            </a:r>
            <a:r>
              <a:rPr lang="en-US" altLang="zh-CN" sz="2800" b="1" spc="-45" dirty="0">
                <a:solidFill>
                  <a:srgbClr val="00B050"/>
                </a:solidFill>
                <a:latin typeface="Courier New" panose="02070309020205020404"/>
                <a:cs typeface="Courier New" panose="02070309020205020404"/>
              </a:rPr>
              <a:t> </a:t>
            </a:r>
            <a:r>
              <a:rPr lang="en-US" altLang="zh-CN" sz="2800" b="1" spc="-5" dirty="0" err="1">
                <a:solidFill>
                  <a:srgbClr val="00B050"/>
                </a:solidFill>
                <a:latin typeface="Courier New" panose="02070309020205020404"/>
                <a:cs typeface="Courier New" panose="02070309020205020404"/>
              </a:rPr>
              <a:t>LR.predict</a:t>
            </a:r>
            <a:r>
              <a:rPr lang="en-US" altLang="zh-CN" sz="2800" b="1" spc="-5" dirty="0">
                <a:solidFill>
                  <a:srgbClr val="00B050"/>
                </a:solidFill>
                <a:latin typeface="Courier New" panose="02070309020205020404"/>
                <a:cs typeface="Courier New" panose="02070309020205020404"/>
              </a:rPr>
              <a:t>(</a:t>
            </a:r>
            <a:r>
              <a:rPr lang="en-US" altLang="zh-CN" sz="2800" b="1" spc="-5" dirty="0" err="1">
                <a:solidFill>
                  <a:srgbClr val="00B050"/>
                </a:solidFill>
                <a:latin typeface="Courier New" panose="02070309020205020404"/>
                <a:cs typeface="Courier New" panose="02070309020205020404"/>
              </a:rPr>
              <a:t>X_test</a:t>
            </a:r>
            <a:r>
              <a:rPr lang="en-US" altLang="zh-CN" sz="2800" b="1" spc="-5" dirty="0">
                <a:solidFill>
                  <a:srgbClr val="00B050"/>
                </a:solidFill>
                <a:latin typeface="Courier New" panose="02070309020205020404"/>
                <a:cs typeface="Courier New" panose="02070309020205020404"/>
              </a:rPr>
              <a:t>)</a:t>
            </a:r>
            <a:endParaRPr lang="en-US" altLang="zh-CN" sz="2800" dirty="0">
              <a:solidFill>
                <a:srgbClr val="00B050"/>
              </a:solidFill>
              <a:latin typeface="Courier New" panose="02070309020205020404"/>
              <a:cs typeface="Courier New" panose="02070309020205020404"/>
            </a:endParaRPr>
          </a:p>
        </p:txBody>
      </p:sp>
      <p:sp>
        <p:nvSpPr>
          <p:cNvPr id="6" name="标题 5"/>
          <p:cNvSpPr>
            <a:spLocks noGrp="1"/>
          </p:cNvSpPr>
          <p:nvPr>
            <p:ph type="title"/>
          </p:nvPr>
        </p:nvSpPr>
        <p:spPr>
          <a:xfrm>
            <a:off x="1386419" y="168312"/>
            <a:ext cx="9997440" cy="1143000"/>
          </a:xfrm>
        </p:spPr>
        <p:txBody>
          <a:bodyPr/>
          <a:lstStyle/>
          <a:p>
            <a:r>
              <a:rPr lang="zh-CN" altLang="en-US" dirty="0"/>
              <a:t>逻辑回归的语法</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9"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03</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91"/>
            <a:ext cx="1194019"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8"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510700" y="2479491"/>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评价指标</a:t>
            </a: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混淆矩阵</a:t>
            </a:r>
          </a:p>
        </p:txBody>
      </p:sp>
      <p:sp>
        <p:nvSpPr>
          <p:cNvPr id="3" name="内容占位符 2"/>
          <p:cNvSpPr>
            <a:spLocks noGrp="1"/>
          </p:cNvSpPr>
          <p:nvPr>
            <p:ph idx="1"/>
          </p:nvPr>
        </p:nvSpPr>
        <p:spPr/>
        <p:txBody>
          <a:bodyPr>
            <a:noAutofit/>
          </a:bodyPr>
          <a:lstStyle/>
          <a:p>
            <a:pPr>
              <a:lnSpc>
                <a:spcPct val="150000"/>
              </a:lnSpc>
            </a:pPr>
            <a:r>
              <a:rPr lang="zh-CN" altLang="en-US" sz="2000" dirty="0"/>
              <a:t>混淆矩阵是理解大多数评价指标的基础，这里用一个经典表格来解释混淆矩阵是什么</a:t>
            </a:r>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9974" y="2447925"/>
            <a:ext cx="7248205" cy="365645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混淆矩阵</a:t>
            </a:r>
          </a:p>
        </p:txBody>
      </p:sp>
      <p:sp>
        <p:nvSpPr>
          <p:cNvPr id="3" name="内容占位符 2"/>
          <p:cNvSpPr>
            <a:spLocks noGrp="1"/>
          </p:cNvSpPr>
          <p:nvPr>
            <p:ph idx="1"/>
          </p:nvPr>
        </p:nvSpPr>
        <p:spPr>
          <a:xfrm>
            <a:off x="1914144" y="2046288"/>
            <a:ext cx="9997440" cy="4259262"/>
          </a:xfrm>
        </p:spPr>
        <p:txBody>
          <a:bodyPr>
            <a:noAutofit/>
          </a:bodyPr>
          <a:lstStyle/>
          <a:p>
            <a:pPr>
              <a:lnSpc>
                <a:spcPct val="150000"/>
              </a:lnSpc>
            </a:pPr>
            <a:r>
              <a:rPr lang="zh-CN" altLang="en-US" sz="2000" dirty="0"/>
              <a:t>混淆矩阵包含四部分的信息：</a:t>
            </a:r>
          </a:p>
          <a:p>
            <a:pPr>
              <a:lnSpc>
                <a:spcPct val="150000"/>
              </a:lnSpc>
            </a:pPr>
            <a:r>
              <a:rPr lang="en-US" altLang="zh-CN" sz="2000" dirty="0"/>
              <a:t>1)	</a:t>
            </a:r>
            <a:r>
              <a:rPr lang="zh-CN" altLang="en-US" sz="2000" dirty="0"/>
              <a:t>真阴率（</a:t>
            </a:r>
            <a:r>
              <a:rPr lang="en-US" altLang="zh-CN" sz="2000" dirty="0"/>
              <a:t>TN</a:t>
            </a:r>
            <a:r>
              <a:rPr lang="zh-CN" altLang="en-US" sz="2000" dirty="0"/>
              <a:t>）表明实际是负样本预测成负样本的样本数。</a:t>
            </a:r>
          </a:p>
          <a:p>
            <a:pPr>
              <a:lnSpc>
                <a:spcPct val="150000"/>
              </a:lnSpc>
            </a:pPr>
            <a:r>
              <a:rPr lang="en-US" altLang="zh-CN" sz="2000" dirty="0"/>
              <a:t>2)	</a:t>
            </a:r>
            <a:r>
              <a:rPr lang="zh-CN" altLang="en-US" sz="2000" dirty="0"/>
              <a:t>假阳率（</a:t>
            </a:r>
            <a:r>
              <a:rPr lang="en-US" altLang="zh-CN" sz="2000" dirty="0"/>
              <a:t>FP</a:t>
            </a:r>
            <a:r>
              <a:rPr lang="zh-CN" altLang="en-US" sz="2000" dirty="0"/>
              <a:t>）表明实际是负样本预测成正样本的样本数。</a:t>
            </a:r>
          </a:p>
          <a:p>
            <a:pPr>
              <a:lnSpc>
                <a:spcPct val="150000"/>
              </a:lnSpc>
            </a:pPr>
            <a:r>
              <a:rPr lang="en-US" altLang="zh-CN" sz="2000" dirty="0"/>
              <a:t>3)	</a:t>
            </a:r>
            <a:r>
              <a:rPr lang="zh-CN" altLang="en-US" sz="2000" dirty="0"/>
              <a:t>假阴率（</a:t>
            </a:r>
            <a:r>
              <a:rPr lang="en-US" altLang="zh-CN" sz="2000" dirty="0"/>
              <a:t>FN</a:t>
            </a:r>
            <a:r>
              <a:rPr lang="zh-CN" altLang="en-US" sz="2000" dirty="0"/>
              <a:t>）表明实际是正样本预测成负样本的样本数。</a:t>
            </a:r>
          </a:p>
          <a:p>
            <a:pPr>
              <a:lnSpc>
                <a:spcPct val="150000"/>
              </a:lnSpc>
            </a:pPr>
            <a:r>
              <a:rPr lang="en-US" altLang="zh-CN" sz="2000" dirty="0"/>
              <a:t>4)	</a:t>
            </a:r>
            <a:r>
              <a:rPr lang="zh-CN" altLang="en-US" sz="2000" dirty="0"/>
              <a:t>真阳率（</a:t>
            </a:r>
            <a:r>
              <a:rPr lang="en-US" altLang="zh-CN" sz="2000" dirty="0"/>
              <a:t>TP</a:t>
            </a:r>
            <a:r>
              <a:rPr lang="zh-CN" altLang="en-US" sz="2000" dirty="0"/>
              <a:t>）表明实际是正样本预测成正样本的样本数。</a:t>
            </a:r>
          </a:p>
          <a:p>
            <a:pPr>
              <a:lnSpc>
                <a:spcPct val="150000"/>
              </a:lnSpc>
            </a:pPr>
            <a:endParaRPr lang="en-US" altLang="zh-CN" sz="2000" dirty="0"/>
          </a:p>
          <a:p>
            <a:pPr>
              <a:lnSpc>
                <a:spcPct val="150000"/>
              </a:lnSpc>
            </a:pPr>
            <a:r>
              <a:rPr lang="zh-CN" altLang="en-US" sz="2000" dirty="0"/>
              <a:t>大部分的评价指标都是建立在混淆矩阵基础上的，包括准确率、精确率、召回率、</a:t>
            </a:r>
            <a:r>
              <a:rPr lang="en-US" altLang="zh-CN" sz="2000" dirty="0"/>
              <a:t>F1-score</a:t>
            </a:r>
            <a:r>
              <a:rPr lang="zh-CN" altLang="en-US" sz="2000" dirty="0"/>
              <a:t>，当然也包括</a:t>
            </a:r>
            <a:r>
              <a:rPr lang="en-US" altLang="zh-CN" sz="2000" dirty="0"/>
              <a:t>AUC</a:t>
            </a:r>
            <a:r>
              <a:rPr lang="zh-CN" altLang="en-US" sz="2000" dirty="0"/>
              <a:t>。</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4371" y="561975"/>
            <a:ext cx="4170533" cy="210388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准确率（</a:t>
            </a:r>
            <a:r>
              <a:rPr lang="en-US" altLang="zh-CN" dirty="0"/>
              <a:t>accuracy</a:t>
            </a:r>
            <a:r>
              <a:rPr lang="zh-CN" altLang="en-US" dirty="0"/>
              <a:t>）</a:t>
            </a:r>
          </a:p>
        </p:txBody>
      </p:sp>
      <p:sp>
        <p:nvSpPr>
          <p:cNvPr id="3" name="内容占位符 2"/>
          <p:cNvSpPr>
            <a:spLocks noGrp="1"/>
          </p:cNvSpPr>
          <p:nvPr>
            <p:ph idx="1"/>
          </p:nvPr>
        </p:nvSpPr>
        <p:spPr/>
        <p:txBody>
          <a:bodyPr>
            <a:noAutofit/>
          </a:bodyPr>
          <a:lstStyle/>
          <a:p>
            <a:pPr>
              <a:lnSpc>
                <a:spcPct val="150000"/>
              </a:lnSpc>
            </a:pPr>
            <a:r>
              <a:rPr lang="zh-CN" altLang="en-US" sz="2400" dirty="0"/>
              <a:t>准确率是最为常见的一项指标，即预测正确的结果占总样本的百分比，其公式如下</a:t>
            </a:r>
          </a:p>
          <a:p>
            <a:pPr>
              <a:lnSpc>
                <a:spcPct val="150000"/>
              </a:lnSpc>
            </a:pPr>
            <a:r>
              <a:rPr lang="zh-CN" altLang="en-US" sz="2400" dirty="0"/>
              <a:t>	  	</a:t>
            </a:r>
            <a:endParaRPr lang="en-US" altLang="zh-CN" sz="2400" dirty="0"/>
          </a:p>
          <a:p>
            <a:pPr>
              <a:lnSpc>
                <a:spcPct val="150000"/>
              </a:lnSpc>
            </a:pPr>
            <a:r>
              <a:rPr lang="zh-CN" altLang="en-US" sz="2400" dirty="0"/>
              <a:t>虽然准确率可以判断总的正确率，但是在样本不平衡的情况下，并不能作为很好的指标来衡量结果。假设在所有样本中，正样本占</a:t>
            </a:r>
            <a:r>
              <a:rPr lang="en-US" altLang="zh-CN" sz="2400" dirty="0"/>
              <a:t>90%</a:t>
            </a:r>
            <a:r>
              <a:rPr lang="zh-CN" altLang="en-US" sz="2400" dirty="0"/>
              <a:t>，负样本占</a:t>
            </a:r>
            <a:r>
              <a:rPr lang="en-US" altLang="zh-CN" sz="2400" dirty="0"/>
              <a:t>10%</a:t>
            </a:r>
            <a:r>
              <a:rPr lang="zh-CN" altLang="en-US" sz="2400" dirty="0"/>
              <a:t>，样本是严重不平衡的。模型将全部样本预测为正样本即可得到</a:t>
            </a:r>
            <a:r>
              <a:rPr lang="en-US" altLang="zh-CN" sz="2400" dirty="0"/>
              <a:t>90%</a:t>
            </a:r>
            <a:r>
              <a:rPr lang="zh-CN" altLang="en-US" sz="2400" dirty="0"/>
              <a:t>的高准确率，如果仅使用准确率这一单一指标，模型就可以像这样偷懒获得很高的评分。正因如此，也就衍生出了其它两种指标：精确率和召回率。</a:t>
            </a:r>
          </a:p>
          <a:p>
            <a:pPr>
              <a:lnSpc>
                <a:spcPct val="150000"/>
              </a:lnSpc>
            </a:pPr>
            <a:endParaRPr lang="zh-CN" altLang="en-US" sz="2000" dirty="0"/>
          </a:p>
        </p:txBody>
      </p:sp>
      <p:pic>
        <p:nvPicPr>
          <p:cNvPr id="5" name="图片 4"/>
          <p:cNvPicPr>
            <a:picLocks noChangeAspect="1"/>
          </p:cNvPicPr>
          <p:nvPr/>
        </p:nvPicPr>
        <p:blipFill>
          <a:blip r:embed="rId3"/>
          <a:stretch>
            <a:fillRect/>
          </a:stretch>
        </p:blipFill>
        <p:spPr>
          <a:xfrm>
            <a:off x="4270631" y="2445270"/>
            <a:ext cx="4263769" cy="87534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精确率与召回率</a:t>
            </a:r>
          </a:p>
        </p:txBody>
      </p:sp>
      <p:sp>
        <p:nvSpPr>
          <p:cNvPr id="3" name="内容占位符 2"/>
          <p:cNvSpPr>
            <a:spLocks noGrp="1"/>
          </p:cNvSpPr>
          <p:nvPr>
            <p:ph idx="1"/>
          </p:nvPr>
        </p:nvSpPr>
        <p:spPr/>
        <p:txBody>
          <a:bodyPr>
            <a:noAutofit/>
          </a:bodyPr>
          <a:lstStyle/>
          <a:p>
            <a:pPr>
              <a:lnSpc>
                <a:spcPct val="150000"/>
              </a:lnSpc>
            </a:pPr>
            <a:r>
              <a:rPr lang="zh-CN" altLang="en-US" sz="2000" dirty="0"/>
              <a:t>精确率又叫查准率，它是针对</a:t>
            </a:r>
            <a:r>
              <a:rPr lang="zh-CN" altLang="en-US" sz="2000" dirty="0">
                <a:solidFill>
                  <a:srgbClr val="FF0000"/>
                </a:solidFill>
              </a:rPr>
              <a:t>预测结果</a:t>
            </a:r>
            <a:r>
              <a:rPr lang="zh-CN" altLang="en-US" sz="2000" dirty="0"/>
              <a:t>而言的。精确率表示在所有被预测为正的样本中实际为正的样本的概率。意思就是在预测为正样本的结果中，有多少把握可以预测正确，公式如下</a:t>
            </a:r>
          </a:p>
          <a:p>
            <a:pPr>
              <a:lnSpc>
                <a:spcPct val="150000"/>
              </a:lnSpc>
            </a:pPr>
            <a:r>
              <a:rPr lang="zh-CN" altLang="en-US" sz="2000" dirty="0"/>
              <a:t>	  </a:t>
            </a:r>
            <a:endParaRPr lang="en-US" altLang="zh-CN" sz="2000" dirty="0"/>
          </a:p>
          <a:p>
            <a:pPr>
              <a:lnSpc>
                <a:spcPct val="150000"/>
              </a:lnSpc>
            </a:pPr>
            <a:r>
              <a:rPr lang="zh-CN" altLang="en-US" sz="2000" dirty="0"/>
              <a:t>召回率又叫查全率，它是针对</a:t>
            </a:r>
            <a:r>
              <a:rPr lang="zh-CN" altLang="en-US" sz="2000" dirty="0">
                <a:solidFill>
                  <a:srgbClr val="FF0000"/>
                </a:solidFill>
              </a:rPr>
              <a:t>原样本</a:t>
            </a:r>
            <a:r>
              <a:rPr lang="zh-CN" altLang="en-US" sz="2000" dirty="0"/>
              <a:t>而言的。召回率表示在实际为正的样本中被预测为正样本的概率，公式如下</a:t>
            </a:r>
          </a:p>
          <a:p>
            <a:pPr>
              <a:lnSpc>
                <a:spcPct val="150000"/>
              </a:lnSpc>
            </a:pPr>
            <a:r>
              <a:rPr lang="zh-CN" altLang="en-US" sz="2000" dirty="0"/>
              <a:t>	  	</a:t>
            </a:r>
            <a:endParaRPr lang="en-US" altLang="zh-CN" sz="2000" dirty="0"/>
          </a:p>
          <a:p>
            <a:pPr>
              <a:lnSpc>
                <a:spcPct val="150000"/>
              </a:lnSpc>
            </a:pPr>
            <a:r>
              <a:rPr lang="zh-CN" altLang="en-US" sz="2000" dirty="0"/>
              <a:t>召回率一般应用于宁可错杀一千，绝不放过一个的场景下。例如在网贷违约率预测中，相比信誉良好的用户，我们更关心可能会发生违约的用户。召回率越高，代表不良用户被预测出来的概率越高。</a:t>
            </a:r>
          </a:p>
          <a:p>
            <a:pPr>
              <a:lnSpc>
                <a:spcPct val="150000"/>
              </a:lnSpc>
            </a:pPr>
            <a:endParaRPr lang="zh-CN" altLang="en-US" sz="2000" dirty="0"/>
          </a:p>
        </p:txBody>
      </p:sp>
      <p:pic>
        <p:nvPicPr>
          <p:cNvPr id="5" name="图片 4"/>
          <p:cNvPicPr>
            <a:picLocks noChangeAspect="1"/>
          </p:cNvPicPr>
          <p:nvPr/>
        </p:nvPicPr>
        <p:blipFill>
          <a:blip r:embed="rId3"/>
          <a:stretch>
            <a:fillRect/>
          </a:stretch>
        </p:blipFill>
        <p:spPr>
          <a:xfrm>
            <a:off x="5746624" y="2838450"/>
            <a:ext cx="1924051" cy="590550"/>
          </a:xfrm>
          <a:prstGeom prst="rect">
            <a:avLst/>
          </a:prstGeom>
        </p:spPr>
      </p:pic>
      <p:pic>
        <p:nvPicPr>
          <p:cNvPr id="7" name="图片 6"/>
          <p:cNvPicPr>
            <a:picLocks noChangeAspect="1"/>
          </p:cNvPicPr>
          <p:nvPr/>
        </p:nvPicPr>
        <p:blipFill>
          <a:blip r:embed="rId4"/>
          <a:stretch>
            <a:fillRect/>
          </a:stretch>
        </p:blipFill>
        <p:spPr>
          <a:xfrm>
            <a:off x="5908548" y="4365104"/>
            <a:ext cx="1600200" cy="59055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738914" y="316090"/>
            <a:ext cx="3416320" cy="523220"/>
          </a:xfrm>
          <a:prstGeom prst="rect">
            <a:avLst/>
          </a:prstGeom>
        </p:spPr>
        <p:txBody>
          <a:bodyPr wrap="none">
            <a:spAutoFit/>
          </a:bodyPr>
          <a:lstStyle/>
          <a:p>
            <a:r>
              <a:rPr lang="zh-CN" altLang="zh-CN" sz="2800" b="1" dirty="0">
                <a:solidFill>
                  <a:srgbClr val="00B050"/>
                </a:solidFill>
              </a:rPr>
              <a:t>高精</a:t>
            </a:r>
            <a:r>
              <a:rPr lang="zh-CN" altLang="en-US" sz="2800" b="1" dirty="0">
                <a:solidFill>
                  <a:srgbClr val="00B050"/>
                </a:solidFill>
              </a:rPr>
              <a:t>确率</a:t>
            </a:r>
            <a:r>
              <a:rPr lang="zh-CN" altLang="zh-CN" sz="2800" b="1" dirty="0">
                <a:solidFill>
                  <a:srgbClr val="00B050"/>
                </a:solidFill>
              </a:rPr>
              <a:t>度何时重要</a:t>
            </a:r>
          </a:p>
        </p:txBody>
      </p:sp>
      <p:sp>
        <p:nvSpPr>
          <p:cNvPr id="3" name="矩形 2"/>
          <p:cNvSpPr/>
          <p:nvPr/>
        </p:nvSpPr>
        <p:spPr>
          <a:xfrm>
            <a:off x="1964601" y="936036"/>
            <a:ext cx="8995707" cy="2554545"/>
          </a:xfrm>
          <a:prstGeom prst="rect">
            <a:avLst/>
          </a:prstGeom>
        </p:spPr>
        <p:txBody>
          <a:bodyPr wrap="square">
            <a:spAutoFit/>
          </a:bodyPr>
          <a:lstStyle/>
          <a:p>
            <a:pPr indent="457200"/>
            <a:r>
              <a:rPr lang="zh-CN" altLang="en-US" sz="2000" dirty="0"/>
              <a:t>在某些问题域中，精度比查全率更为重要。比如，当你在一家网店买东西时，他们的推荐系统经常会回馈像“买了</a:t>
            </a:r>
            <a:r>
              <a:rPr lang="en-US" altLang="zh-CN" sz="2000" dirty="0"/>
              <a:t>X</a:t>
            </a:r>
            <a:r>
              <a:rPr lang="zh-CN" altLang="en-US" sz="2000" dirty="0"/>
              <a:t>的顾客同时也买了</a:t>
            </a:r>
            <a:r>
              <a:rPr lang="en-US" altLang="zh-CN" sz="2000" dirty="0"/>
              <a:t>Y”</a:t>
            </a:r>
            <a:r>
              <a:rPr lang="zh-CN" altLang="en-US" sz="2000" dirty="0"/>
              <a:t>这样的信息。该信息的意图明显是想诱导你也购买</a:t>
            </a:r>
            <a:r>
              <a:rPr lang="en-US" altLang="zh-CN" sz="2000" dirty="0"/>
              <a:t>Y</a:t>
            </a:r>
            <a:r>
              <a:rPr lang="zh-CN" altLang="en-US" sz="2000" dirty="0"/>
              <a:t>。</a:t>
            </a:r>
          </a:p>
          <a:p>
            <a:pPr indent="457200"/>
            <a:r>
              <a:rPr lang="zh-CN" altLang="en-US" sz="2000" dirty="0">
                <a:solidFill>
                  <a:srgbClr val="FF0000"/>
                </a:solidFill>
              </a:rPr>
              <a:t>推荐系统</a:t>
            </a:r>
            <a:r>
              <a:rPr lang="zh-CN" altLang="en-US" sz="2000" dirty="0"/>
              <a:t>有时是通过机器学习技术对公司历史数据进行分析完成的。在评估它们的性能时，工程师希望得到较高的精度。这样，顾客也许会对推荐机制感到更加满意，否则很可能忽略推荐内容。</a:t>
            </a:r>
          </a:p>
          <a:p>
            <a:pPr indent="457200"/>
            <a:r>
              <a:rPr lang="zh-CN" altLang="en-US" sz="2000" dirty="0"/>
              <a:t>在这些问题域中，查全率的价值是不重要的。网店推荐清单的规模只能是有限的，因此即使系统只能辨认出一小部分顾客喜欢的产品也没太大关系。</a:t>
            </a:r>
          </a:p>
        </p:txBody>
      </p:sp>
      <p:sp>
        <p:nvSpPr>
          <p:cNvPr id="4" name="矩形 3"/>
          <p:cNvSpPr/>
          <p:nvPr/>
        </p:nvSpPr>
        <p:spPr>
          <a:xfrm>
            <a:off x="1630272" y="3587307"/>
            <a:ext cx="3057247" cy="523220"/>
          </a:xfrm>
          <a:prstGeom prst="rect">
            <a:avLst/>
          </a:prstGeom>
        </p:spPr>
        <p:txBody>
          <a:bodyPr wrap="none">
            <a:spAutoFit/>
          </a:bodyPr>
          <a:lstStyle/>
          <a:p>
            <a:r>
              <a:rPr lang="zh-CN" altLang="zh-CN" sz="2800" b="1" dirty="0">
                <a:solidFill>
                  <a:srgbClr val="00B050"/>
                </a:solidFill>
              </a:rPr>
              <a:t>高查全率何时重要</a:t>
            </a:r>
          </a:p>
        </p:txBody>
      </p:sp>
      <mc:AlternateContent xmlns:mc="http://schemas.openxmlformats.org/markup-compatibility/2006" xmlns:a14="http://schemas.microsoft.com/office/drawing/2010/main">
        <mc:Choice Requires="a14">
          <p:sp>
            <p:nvSpPr>
              <p:cNvPr id="5" name="矩形 4"/>
              <p:cNvSpPr/>
              <p:nvPr/>
            </p:nvSpPr>
            <p:spPr>
              <a:xfrm>
                <a:off x="1964601" y="4293139"/>
                <a:ext cx="9708019" cy="1797095"/>
              </a:xfrm>
              <a:prstGeom prst="rect">
                <a:avLst/>
              </a:prstGeom>
            </p:spPr>
            <p:txBody>
              <a:bodyPr wrap="square">
                <a:spAutoFit/>
              </a:bodyPr>
              <a:lstStyle/>
              <a:p>
                <a:pPr indent="457200"/>
                <a:r>
                  <a:rPr lang="zh-CN" altLang="zh-CN" sz="2000" dirty="0"/>
                  <a:t>查全率同精度恰恰相反，在其它问题域中，查全率更为重要。这种情况在</a:t>
                </a:r>
                <a:r>
                  <a:rPr lang="zh-CN" altLang="zh-CN" sz="2000" dirty="0">
                    <a:solidFill>
                      <a:srgbClr val="FF0000"/>
                    </a:solidFill>
                  </a:rPr>
                  <a:t>医药诊断</a:t>
                </a:r>
                <a:r>
                  <a:rPr lang="zh-CN" altLang="zh-CN" sz="2000" dirty="0"/>
                  <a:t>中比较常见。例如：一个患</a:t>
                </a:r>
                <a:r>
                  <a:rPr lang="en-US" altLang="zh-CN" sz="2000" dirty="0"/>
                  <a:t>X</a:t>
                </a:r>
                <a:r>
                  <a:rPr lang="zh-CN" altLang="zh-CN" sz="2000" dirty="0"/>
                  <a:t>疾病的病人被确诊患</a:t>
                </a:r>
                <a:r>
                  <a:rPr lang="en-US" altLang="zh-CN" sz="2000" dirty="0"/>
                  <a:t>X</a:t>
                </a:r>
                <a:r>
                  <a:rPr lang="zh-CN" altLang="zh-CN" sz="2000" dirty="0"/>
                  <a:t>疾病，即真正类</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𝑁</m:t>
                        </m:r>
                      </m:e>
                      <m:sub>
                        <m:r>
                          <a:rPr lang="en-US" altLang="zh-CN" sz="2000">
                            <a:latin typeface="Cambria Math" panose="02040503050406030204" pitchFamily="18" charset="0"/>
                          </a:rPr>
                          <m:t>𝑇𝑃</m:t>
                        </m:r>
                      </m:sub>
                    </m:sSub>
                  </m:oMath>
                </a14:m>
                <a:r>
                  <a:rPr lang="zh-CN" altLang="zh-CN" sz="2000" dirty="0"/>
                  <a:t>。患</a:t>
                </a:r>
                <a:r>
                  <a:rPr lang="en-US" altLang="zh-CN" sz="2000" dirty="0"/>
                  <a:t>X</a:t>
                </a:r>
                <a:r>
                  <a:rPr lang="zh-CN" altLang="zh-CN" sz="2000" dirty="0"/>
                  <a:t>疾病的病人没被诊断出患</a:t>
                </a:r>
                <a:r>
                  <a:rPr lang="en-US" altLang="zh-CN" sz="2000" dirty="0"/>
                  <a:t>X</a:t>
                </a:r>
                <a:r>
                  <a:rPr lang="zh-CN" altLang="zh-CN" sz="2000" dirty="0"/>
                  <a:t>疾病，即假负类</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𝑁</m:t>
                        </m:r>
                      </m:e>
                      <m:sub>
                        <m:r>
                          <a:rPr lang="en-US" altLang="zh-CN" sz="2000">
                            <a:latin typeface="Cambria Math" panose="02040503050406030204" pitchFamily="18" charset="0"/>
                          </a:rPr>
                          <m:t>𝐹𝑁</m:t>
                        </m:r>
                      </m:sub>
                    </m:sSub>
                  </m:oMath>
                </a14:m>
                <a:r>
                  <a:rPr lang="zh-CN" altLang="zh-CN" sz="2000" dirty="0"/>
                  <a:t>。这是医生想要避免的一种情况——这意味着</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𝑁</m:t>
                        </m:r>
                      </m:e>
                      <m:sub>
                        <m:r>
                          <a:rPr lang="en-US" altLang="zh-CN" sz="2000">
                            <a:latin typeface="Cambria Math" panose="02040503050406030204" pitchFamily="18" charset="0"/>
                          </a:rPr>
                          <m:t>𝐹𝑁</m:t>
                        </m:r>
                      </m:sub>
                    </m:sSub>
                  </m:oMath>
                </a14:m>
                <a:r>
                  <a:rPr lang="zh-CN" altLang="zh-CN" sz="2000" dirty="0"/>
                  <a:t>应该要小。在查全率的定义</a:t>
                </a:r>
                <a14:m>
                  <m:oMath xmlns:m="http://schemas.openxmlformats.org/officeDocument/2006/math">
                    <m:r>
                      <a:rPr lang="en-US" altLang="zh-CN" sz="2000">
                        <a:latin typeface="Cambria Math" panose="02040503050406030204" pitchFamily="18" charset="0"/>
                      </a:rPr>
                      <m:t>𝑅</m:t>
                    </m:r>
                    <m:r>
                      <a:rPr lang="en-US" altLang="zh-CN" sz="2000">
                        <a:latin typeface="Cambria Math" panose="02040503050406030204" pitchFamily="18" charset="0"/>
                      </a:rPr>
                      <m:t>=</m:t>
                    </m:r>
                    <m:f>
                      <m:fPr>
                        <m:ctrlPr>
                          <a:rPr lang="zh-CN" altLang="zh-CN" sz="2000" i="1">
                            <a:latin typeface="Cambria Math" panose="02040503050406030204" pitchFamily="18" charset="0"/>
                          </a:rPr>
                        </m:ctrlPr>
                      </m:fPr>
                      <m:num>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𝑁</m:t>
                            </m:r>
                          </m:e>
                          <m:sub>
                            <m:r>
                              <a:rPr lang="en-US" altLang="zh-CN" sz="2000">
                                <a:latin typeface="Cambria Math" panose="02040503050406030204" pitchFamily="18" charset="0"/>
                              </a:rPr>
                              <m:t>𝑇𝑃</m:t>
                            </m:r>
                          </m:sub>
                        </m:sSub>
                      </m:num>
                      <m:den>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𝑁</m:t>
                            </m:r>
                          </m:e>
                          <m:sub>
                            <m:r>
                              <a:rPr lang="en-US" altLang="zh-CN" sz="2000">
                                <a:latin typeface="Cambria Math" panose="02040503050406030204" pitchFamily="18" charset="0"/>
                              </a:rPr>
                              <m:t>𝑇𝑃</m:t>
                            </m:r>
                          </m:sub>
                        </m:sSub>
                        <m:r>
                          <a:rPr lang="en-US" altLang="zh-CN" sz="200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𝑁</m:t>
                            </m:r>
                          </m:e>
                          <m:sub>
                            <m:r>
                              <a:rPr lang="en-US" altLang="zh-CN" sz="2000">
                                <a:latin typeface="Cambria Math" panose="02040503050406030204" pitchFamily="18" charset="0"/>
                              </a:rPr>
                              <m:t>𝐹𝑁</m:t>
                            </m:r>
                          </m:sub>
                        </m:sSub>
                      </m:den>
                    </m:f>
                  </m:oMath>
                </a14:m>
                <a:r>
                  <a:rPr lang="zh-CN" altLang="zh-CN" sz="2000" dirty="0"/>
                  <a:t>中</a:t>
                </a:r>
                <a:r>
                  <a:rPr lang="en-US" altLang="zh-CN" sz="2000" dirty="0"/>
                  <a:t>, </a:t>
                </a:r>
                <a:r>
                  <a:rPr lang="zh-CN" altLang="zh-CN" sz="2000" dirty="0"/>
                  <a:t>假负类的数量在分母上，因此小的</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𝑁</m:t>
                        </m:r>
                      </m:e>
                      <m:sub>
                        <m:r>
                          <a:rPr lang="en-US" altLang="zh-CN" sz="2000">
                            <a:latin typeface="Cambria Math" panose="02040503050406030204" pitchFamily="18" charset="0"/>
                          </a:rPr>
                          <m:t>𝐹𝑁</m:t>
                        </m:r>
                      </m:sub>
                    </m:sSub>
                  </m:oMath>
                </a14:m>
                <a:r>
                  <a:rPr lang="zh-CN" altLang="zh-CN" sz="2000" dirty="0"/>
                  <a:t>意味着高的查全率。</a:t>
                </a:r>
                <a:endParaRPr lang="zh-CN" altLang="en-US" sz="2000" dirty="0"/>
              </a:p>
            </p:txBody>
          </p:sp>
        </mc:Choice>
        <mc:Fallback xmlns="">
          <p:sp>
            <p:nvSpPr>
              <p:cNvPr id="5" name="矩形 4"/>
              <p:cNvSpPr>
                <a:spLocks noRot="1" noChangeAspect="1" noMove="1" noResize="1" noEditPoints="1" noAdjustHandles="1" noChangeArrowheads="1" noChangeShapeType="1" noTextEdit="1"/>
              </p:cNvSpPr>
              <p:nvPr/>
            </p:nvSpPr>
            <p:spPr>
              <a:xfrm>
                <a:off x="1964601" y="4293139"/>
                <a:ext cx="9708019" cy="1797095"/>
              </a:xfrm>
              <a:prstGeom prst="rect">
                <a:avLst/>
              </a:prstGeom>
              <a:blipFill rotWithShape="1">
                <a:blip r:embed="rId2"/>
                <a:stretch>
                  <a:fillRect l="-6" t="-30" r="1" b="32"/>
                </a:stretch>
              </a:blipFill>
            </p:spPr>
            <p:txBody>
              <a:bodyPr/>
              <a:lstStyle/>
              <a:p>
                <a:r>
                  <a:rPr lang="zh-CN"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a:t>
            </a:r>
            <a:r>
              <a:rPr lang="zh-CN" altLang="en-US" dirty="0"/>
              <a:t>曲线</a:t>
            </a:r>
          </a:p>
        </p:txBody>
      </p:sp>
      <p:sp>
        <p:nvSpPr>
          <p:cNvPr id="3" name="内容占位符 2"/>
          <p:cNvSpPr>
            <a:spLocks noGrp="1"/>
          </p:cNvSpPr>
          <p:nvPr>
            <p:ph idx="1"/>
          </p:nvPr>
        </p:nvSpPr>
        <p:spPr/>
        <p:txBody>
          <a:bodyPr>
            <a:noAutofit/>
          </a:bodyPr>
          <a:lstStyle/>
          <a:p>
            <a:pPr>
              <a:lnSpc>
                <a:spcPct val="150000"/>
              </a:lnSpc>
            </a:pPr>
            <a:r>
              <a:rPr lang="zh-CN" altLang="en-US" sz="2000" dirty="0"/>
              <a:t>分类模型对每个样本点都会输出一个置信度。通过设定置信度阈值，就可以完成分类。不同的置信度阈值对应着不同的精确率和召回率。一般来说，置信度阈值较低时，大量样本被预测为正例，所以召回率较高，而精确率较低；置信度阈值较高时，大量样本被预测为负例，所以召回率较低，而精确率较高。</a:t>
            </a:r>
          </a:p>
          <a:p>
            <a:pPr>
              <a:lnSpc>
                <a:spcPct val="150000"/>
              </a:lnSpc>
            </a:pPr>
            <a:r>
              <a:rPr lang="en-US" altLang="zh-CN" sz="2000" dirty="0"/>
              <a:t>PR</a:t>
            </a:r>
            <a:r>
              <a:rPr lang="zh-CN" altLang="en-US" sz="2000" dirty="0"/>
              <a:t>曲线就是以精确率为纵坐标，以召回率为横坐标做出的曲线</a:t>
            </a:r>
            <a:r>
              <a:rPr lang="en-US" altLang="zh-CN" sz="2000" dirty="0"/>
              <a:t>	                                      </a:t>
            </a:r>
            <a:r>
              <a:rPr lang="zh-CN" altLang="en-US" sz="2000" dirty="0"/>
              <a:t>如图</a:t>
            </a:r>
          </a:p>
        </p:txBody>
      </p:sp>
      <p:pic>
        <p:nvPicPr>
          <p:cNvPr id="4" name="图片 3"/>
          <p:cNvPicPr>
            <a:picLocks noChangeAspect="1"/>
          </p:cNvPicPr>
          <p:nvPr/>
        </p:nvPicPr>
        <p:blipFill>
          <a:blip r:embed="rId3"/>
          <a:stretch>
            <a:fillRect/>
          </a:stretch>
        </p:blipFill>
        <p:spPr>
          <a:xfrm>
            <a:off x="4514280" y="3848100"/>
            <a:ext cx="3419173" cy="27089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ROC</a:t>
            </a:r>
            <a:r>
              <a:rPr lang="zh-CN" altLang="en-US" dirty="0"/>
              <a:t>曲线与</a:t>
            </a:r>
            <a:r>
              <a:rPr lang="en-US" altLang="zh-CN" dirty="0"/>
              <a:t>AUC</a:t>
            </a:r>
            <a:r>
              <a:rPr lang="zh-CN" altLang="en-US" dirty="0"/>
              <a:t>曲线</a:t>
            </a:r>
          </a:p>
        </p:txBody>
      </p:sp>
      <p:sp>
        <p:nvSpPr>
          <p:cNvPr id="3" name="内容占位符 2"/>
          <p:cNvSpPr>
            <a:spLocks noGrp="1"/>
          </p:cNvSpPr>
          <p:nvPr>
            <p:ph idx="1"/>
          </p:nvPr>
        </p:nvSpPr>
        <p:spPr/>
        <p:txBody>
          <a:bodyPr>
            <a:noAutofit/>
          </a:bodyPr>
          <a:lstStyle/>
          <a:p>
            <a:pPr>
              <a:lnSpc>
                <a:spcPct val="150000"/>
              </a:lnSpc>
            </a:pPr>
            <a:r>
              <a:rPr lang="zh-CN" altLang="en-US" sz="2000" dirty="0"/>
              <a:t>对于某个二分类分类器来说，输出结果标签（</a:t>
            </a:r>
            <a:r>
              <a:rPr lang="en-US" altLang="zh-CN" sz="2000" dirty="0"/>
              <a:t>0</a:t>
            </a:r>
            <a:r>
              <a:rPr lang="zh-CN" altLang="en-US" sz="2000" dirty="0"/>
              <a:t>还是</a:t>
            </a:r>
            <a:r>
              <a:rPr lang="en-US" altLang="zh-CN" sz="2000" dirty="0"/>
              <a:t>1</a:t>
            </a:r>
            <a:r>
              <a:rPr lang="zh-CN" altLang="en-US" sz="2000" dirty="0"/>
              <a:t>）往往取决于置信度以及预定的置信度阈值。比如常见的阈值就是</a:t>
            </a:r>
            <a:r>
              <a:rPr lang="en-US" altLang="zh-CN" sz="2000" dirty="0"/>
              <a:t>0.5</a:t>
            </a:r>
            <a:r>
              <a:rPr lang="zh-CN" altLang="en-US" sz="2000" dirty="0"/>
              <a:t>，大于</a:t>
            </a:r>
            <a:r>
              <a:rPr lang="en-US" altLang="zh-CN" sz="2000" dirty="0"/>
              <a:t>0.5</a:t>
            </a:r>
            <a:r>
              <a:rPr lang="zh-CN" altLang="en-US" sz="2000" dirty="0"/>
              <a:t>的认为是正样本，小于</a:t>
            </a:r>
            <a:r>
              <a:rPr lang="en-US" altLang="zh-CN" sz="2000" dirty="0"/>
              <a:t>0.5</a:t>
            </a:r>
            <a:r>
              <a:rPr lang="zh-CN" altLang="en-US" sz="2000" dirty="0"/>
              <a:t>的认为是负样本。如果增大这个阈值，预测错误（针对正样本而言，即指预测是正样本但是预测错误，下同）的概率就会降低，但是随之而来的就是预测正确的概率也降低；如果减小这个阈值，那么预测正确的概率会升高但是同时预测错误的概率也会升高。实际上，这种阈值的选取一定程度上反映了分类器的分类能力。</a:t>
            </a:r>
            <a:r>
              <a:rPr lang="zh-CN" altLang="en-US" sz="2000" dirty="0">
                <a:solidFill>
                  <a:srgbClr val="FF0000"/>
                </a:solidFill>
              </a:rPr>
              <a:t>我们当然希望无论选取多大的阈值，分类都能尽可能地正确。为了形象地衡量这种分类能力，</a:t>
            </a:r>
            <a:r>
              <a:rPr lang="en-US" altLang="zh-CN" sz="2000" dirty="0">
                <a:solidFill>
                  <a:srgbClr val="FF0000"/>
                </a:solidFill>
              </a:rPr>
              <a:t>ROC</a:t>
            </a:r>
            <a:r>
              <a:rPr lang="zh-CN" altLang="en-US" sz="2000" dirty="0">
                <a:solidFill>
                  <a:srgbClr val="FF0000"/>
                </a:solidFill>
              </a:rPr>
              <a:t>曲线进行了表征。</a:t>
            </a:r>
            <a:endParaRPr lang="zh-CN" altLang="en-US" sz="2000" dirty="0"/>
          </a:p>
          <a:p>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59608" y="255588"/>
            <a:ext cx="7498080" cy="1143000"/>
          </a:xfrm>
        </p:spPr>
        <p:txBody>
          <a:bodyPr/>
          <a:lstStyle/>
          <a:p>
            <a:r>
              <a:rPr lang="en-US" altLang="zh-CN" dirty="0"/>
              <a:t>ROC</a:t>
            </a:r>
            <a:r>
              <a:rPr lang="zh-CN" altLang="en-US" dirty="0"/>
              <a:t>曲线与</a:t>
            </a:r>
            <a:r>
              <a:rPr lang="en-US" altLang="zh-CN" dirty="0"/>
              <a:t>AUC</a:t>
            </a:r>
            <a:r>
              <a:rPr lang="zh-CN" altLang="en-US" dirty="0"/>
              <a:t>曲线</a:t>
            </a:r>
          </a:p>
        </p:txBody>
      </p:sp>
      <p:sp>
        <p:nvSpPr>
          <p:cNvPr id="3" name="内容占位符 2"/>
          <p:cNvSpPr>
            <a:spLocks noGrp="1"/>
          </p:cNvSpPr>
          <p:nvPr>
            <p:ph idx="1"/>
          </p:nvPr>
        </p:nvSpPr>
        <p:spPr>
          <a:xfrm>
            <a:off x="6736767" y="1268760"/>
            <a:ext cx="4073656" cy="4800600"/>
          </a:xfrm>
        </p:spPr>
        <p:txBody>
          <a:bodyPr>
            <a:noAutofit/>
          </a:bodyPr>
          <a:lstStyle/>
          <a:p>
            <a:pPr marL="82550" indent="0">
              <a:lnSpc>
                <a:spcPct val="150000"/>
              </a:lnSpc>
              <a:buNone/>
            </a:pPr>
            <a:endParaRPr lang="en-US" altLang="zh-CN" sz="2000" dirty="0"/>
          </a:p>
          <a:p>
            <a:pPr>
              <a:lnSpc>
                <a:spcPct val="150000"/>
              </a:lnSpc>
            </a:pPr>
            <a:r>
              <a:rPr lang="zh-CN" altLang="en-US" sz="2000" dirty="0"/>
              <a:t>横轴：假阳率（</a:t>
            </a:r>
            <a:r>
              <a:rPr lang="en-US" altLang="zh-CN" sz="2000" dirty="0"/>
              <a:t>FPR</a:t>
            </a:r>
            <a:r>
              <a:rPr lang="zh-CN" altLang="en-US" sz="2000" dirty="0"/>
              <a:t>）</a:t>
            </a:r>
            <a:endParaRPr lang="en-US" altLang="zh-CN" sz="2000" dirty="0"/>
          </a:p>
          <a:p>
            <a:pPr>
              <a:lnSpc>
                <a:spcPct val="150000"/>
              </a:lnSpc>
            </a:pPr>
            <a:endParaRPr lang="en-US" altLang="zh-CN" sz="2000" dirty="0"/>
          </a:p>
          <a:p>
            <a:pPr>
              <a:lnSpc>
                <a:spcPct val="150000"/>
              </a:lnSpc>
            </a:pPr>
            <a:r>
              <a:rPr lang="zh-CN" altLang="en-US" sz="1200" dirty="0">
                <a:solidFill>
                  <a:srgbClr val="FF0000"/>
                </a:solidFill>
                <a:latin typeface="Gill Sans MT"/>
                <a:ea typeface="华文中宋" panose="02010600040101010101" pitchFamily="2" charset="-122"/>
              </a:rPr>
              <a:t>负样本被错误分类为正样本的比例</a:t>
            </a:r>
            <a:endParaRPr lang="en-US" altLang="zh-CN" sz="1200" dirty="0">
              <a:solidFill>
                <a:srgbClr val="FF0000"/>
              </a:solidFill>
              <a:latin typeface="Gill Sans MT"/>
              <a:ea typeface="华文中宋" panose="02010600040101010101" pitchFamily="2" charset="-122"/>
            </a:endParaRPr>
          </a:p>
          <a:p>
            <a:pPr>
              <a:lnSpc>
                <a:spcPct val="150000"/>
              </a:lnSpc>
            </a:pPr>
            <a:r>
              <a:rPr lang="zh-CN" altLang="en-US" sz="2000" dirty="0"/>
              <a:t>纵轴：真阳率（</a:t>
            </a:r>
            <a:r>
              <a:rPr lang="en-US" altLang="zh-CN" sz="2000" dirty="0"/>
              <a:t>TPR</a:t>
            </a:r>
            <a:r>
              <a:rPr lang="zh-CN" altLang="en-US" sz="2000" dirty="0"/>
              <a:t>）</a:t>
            </a:r>
            <a:endParaRPr lang="en-US" altLang="zh-CN" sz="2000" dirty="0"/>
          </a:p>
          <a:p>
            <a:pPr>
              <a:lnSpc>
                <a:spcPct val="150000"/>
              </a:lnSpc>
            </a:pPr>
            <a:endParaRPr lang="en-US" altLang="zh-CN" sz="2000" dirty="0"/>
          </a:p>
          <a:p>
            <a:pPr marL="365760" marR="0" lvl="0" indent="-283210" algn="l" defTabSz="914400" rtl="0" eaLnBrk="1" fontAlgn="auto" latinLnBrk="0" hangingPunct="1">
              <a:lnSpc>
                <a:spcPct val="150000"/>
              </a:lnSpc>
              <a:spcBef>
                <a:spcPts val="600"/>
              </a:spcBef>
              <a:spcAft>
                <a:spcPts val="0"/>
              </a:spcAft>
              <a:buClr>
                <a:srgbClr val="3891A7"/>
              </a:buClr>
              <a:buSzPct val="80000"/>
              <a:buFont typeface="Wingdings 2" panose="05020102010507070707"/>
              <a:buChar char=""/>
              <a:tabLst/>
              <a:defRPr/>
            </a:pPr>
            <a:r>
              <a:rPr kumimoji="0" lang="zh-CN" altLang="en-US" sz="1200" b="0" i="0" u="none" strike="noStrike" kern="1200" cap="none" spc="0" normalizeH="0" baseline="0" noProof="0" dirty="0">
                <a:ln>
                  <a:noFill/>
                </a:ln>
                <a:solidFill>
                  <a:srgbClr val="FF0000"/>
                </a:solidFill>
                <a:effectLst/>
                <a:uLnTx/>
                <a:uFillTx/>
                <a:latin typeface="Gill Sans MT"/>
                <a:ea typeface="华文中宋" panose="02010600040101010101" pitchFamily="2" charset="-122"/>
                <a:cs typeface="+mn-cs"/>
              </a:rPr>
              <a:t>正样本正确被识别为正样本的比例</a:t>
            </a:r>
            <a:endParaRPr lang="en-US" altLang="zh-CN" sz="2000" dirty="0"/>
          </a:p>
          <a:p>
            <a:pPr>
              <a:lnSpc>
                <a:spcPct val="150000"/>
              </a:lnSpc>
            </a:pPr>
            <a:r>
              <a:rPr lang="zh-CN" altLang="en-US" sz="2000" dirty="0"/>
              <a:t>显然，</a:t>
            </a:r>
            <a:r>
              <a:rPr lang="en-US" altLang="zh-CN" sz="2000" dirty="0"/>
              <a:t>ROC</a:t>
            </a:r>
            <a:r>
              <a:rPr lang="zh-CN" altLang="en-US" sz="2000" dirty="0"/>
              <a:t>曲线的横纵坐标都在</a:t>
            </a:r>
            <a:r>
              <a:rPr lang="en-US" altLang="zh-CN" sz="2000" dirty="0"/>
              <a:t>[0, 1]</a:t>
            </a:r>
            <a:r>
              <a:rPr lang="zh-CN" altLang="en-US" sz="2000" dirty="0"/>
              <a:t>之间，面积不大于</a:t>
            </a:r>
            <a:r>
              <a:rPr lang="en-US" altLang="zh-CN" sz="2000" dirty="0"/>
              <a:t>1</a:t>
            </a:r>
            <a:r>
              <a:rPr lang="zh-CN" altLang="en-US" sz="2000" dirty="0"/>
              <a:t>。</a:t>
            </a:r>
          </a:p>
          <a:p>
            <a:pPr>
              <a:lnSpc>
                <a:spcPct val="150000"/>
              </a:lnSpc>
            </a:pPr>
            <a:endParaRPr lang="zh-CN" altLang="en-US" sz="2000" dirty="0"/>
          </a:p>
          <a:p>
            <a:endParaRPr lang="zh-CN" altLang="en-US" dirty="0"/>
          </a:p>
        </p:txBody>
      </p:sp>
      <p:pic>
        <p:nvPicPr>
          <p:cNvPr id="4" name="图片 3"/>
          <p:cNvPicPr>
            <a:picLocks noChangeAspect="1"/>
          </p:cNvPicPr>
          <p:nvPr/>
        </p:nvPicPr>
        <p:blipFill>
          <a:blip r:embed="rId3"/>
          <a:stretch>
            <a:fillRect/>
          </a:stretch>
        </p:blipFill>
        <p:spPr>
          <a:xfrm>
            <a:off x="2647661" y="1988842"/>
            <a:ext cx="4248472" cy="3775277"/>
          </a:xfrm>
          <a:prstGeom prst="rect">
            <a:avLst/>
          </a:prstGeom>
        </p:spPr>
      </p:pic>
      <p:pic>
        <p:nvPicPr>
          <p:cNvPr id="6" name="图片 5"/>
          <p:cNvPicPr>
            <a:picLocks noChangeAspect="1"/>
          </p:cNvPicPr>
          <p:nvPr/>
        </p:nvPicPr>
        <p:blipFill>
          <a:blip r:embed="rId4"/>
          <a:stretch>
            <a:fillRect/>
          </a:stretch>
        </p:blipFill>
        <p:spPr>
          <a:xfrm>
            <a:off x="7967545" y="2403340"/>
            <a:ext cx="1543051" cy="590550"/>
          </a:xfrm>
          <a:prstGeom prst="rect">
            <a:avLst/>
          </a:prstGeom>
        </p:spPr>
      </p:pic>
      <p:pic>
        <p:nvPicPr>
          <p:cNvPr id="10" name="图片 9"/>
          <p:cNvPicPr>
            <a:picLocks noChangeAspect="1"/>
          </p:cNvPicPr>
          <p:nvPr/>
        </p:nvPicPr>
        <p:blipFill>
          <a:blip r:embed="rId5"/>
          <a:stretch>
            <a:fillRect/>
          </a:stretch>
        </p:blipFill>
        <p:spPr>
          <a:xfrm>
            <a:off x="7844453" y="3835504"/>
            <a:ext cx="1514475" cy="590550"/>
          </a:xfrm>
          <a:prstGeom prst="rect">
            <a:avLst/>
          </a:prstGeom>
        </p:spPr>
      </p:pic>
      <p:sp>
        <p:nvSpPr>
          <p:cNvPr id="14" name="内容占位符 2"/>
          <p:cNvSpPr txBox="1"/>
          <p:nvPr/>
        </p:nvSpPr>
        <p:spPr>
          <a:xfrm>
            <a:off x="3143672" y="1330654"/>
            <a:ext cx="4073656" cy="570310"/>
          </a:xfrm>
          <a:prstGeom prst="rect">
            <a:avLst/>
          </a:prstGeom>
        </p:spPr>
        <p:txBody>
          <a:bodyPr>
            <a:noAutofit/>
          </a:bodyPr>
          <a:lst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a:lstStyle>
          <a:p>
            <a:pPr marL="82550" indent="0">
              <a:lnSpc>
                <a:spcPct val="150000"/>
              </a:lnSpc>
              <a:buClr>
                <a:srgbClr val="3891A7"/>
              </a:buClr>
              <a:buNone/>
            </a:pPr>
            <a:r>
              <a:rPr lang="zh-CN" altLang="en-US" sz="2000" dirty="0">
                <a:solidFill>
                  <a:prstClr val="black"/>
                </a:solidFill>
                <a:latin typeface="Gill Sans MT" panose="020B0502020104020203"/>
                <a:ea typeface="华文中宋" panose="02010600040101010101" pitchFamily="2" charset="-122"/>
              </a:rPr>
              <a:t>下图是一条</a:t>
            </a:r>
            <a:r>
              <a:rPr lang="en-US" altLang="zh-CN" sz="2000" dirty="0">
                <a:solidFill>
                  <a:prstClr val="black"/>
                </a:solidFill>
                <a:latin typeface="Gill Sans MT" panose="020B0502020104020203"/>
                <a:ea typeface="华文中宋" panose="02010600040101010101" pitchFamily="2" charset="-122"/>
              </a:rPr>
              <a:t>ROC</a:t>
            </a:r>
            <a:r>
              <a:rPr lang="zh-CN" altLang="en-US" sz="2000" dirty="0">
                <a:solidFill>
                  <a:prstClr val="black"/>
                </a:solidFill>
                <a:latin typeface="Gill Sans MT" panose="020B0502020104020203"/>
                <a:ea typeface="华文中宋" panose="02010600040101010101" pitchFamily="2" charset="-122"/>
              </a:rPr>
              <a:t>曲线</a:t>
            </a:r>
          </a:p>
          <a:p>
            <a:pPr>
              <a:lnSpc>
                <a:spcPct val="150000"/>
              </a:lnSpc>
              <a:buClr>
                <a:srgbClr val="3891A7"/>
              </a:buClr>
            </a:pPr>
            <a:endParaRPr lang="zh-CN" altLang="en-US" sz="2000" dirty="0">
              <a:solidFill>
                <a:prstClr val="black"/>
              </a:solidFill>
              <a:latin typeface="Gill Sans MT" panose="020B0502020104020203"/>
              <a:ea typeface="华文中宋" panose="02010600040101010101" pitchFamily="2" charset="-122"/>
            </a:endParaRPr>
          </a:p>
          <a:p>
            <a:pPr>
              <a:buClr>
                <a:srgbClr val="3891A7"/>
              </a:buClr>
            </a:pPr>
            <a:endParaRPr lang="zh-CN" altLang="en-US" dirty="0">
              <a:solidFill>
                <a:prstClr val="black"/>
              </a:solidFill>
              <a:latin typeface="Gill Sans MT" panose="020B0502020104020203"/>
              <a:ea typeface="华文中宋" panose="0201060004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ROC</a:t>
            </a:r>
            <a:r>
              <a:rPr lang="zh-CN" altLang="en-US" dirty="0"/>
              <a:t>曲线与</a:t>
            </a:r>
            <a:r>
              <a:rPr lang="en-US" altLang="zh-CN" dirty="0"/>
              <a:t>AUC</a:t>
            </a:r>
            <a:r>
              <a:rPr lang="zh-CN" altLang="en-US" dirty="0"/>
              <a:t>曲线</a:t>
            </a:r>
          </a:p>
        </p:txBody>
      </p:sp>
      <p:sp>
        <p:nvSpPr>
          <p:cNvPr id="3" name="内容占位符 2"/>
          <p:cNvSpPr>
            <a:spLocks noGrp="1"/>
          </p:cNvSpPr>
          <p:nvPr>
            <p:ph idx="1"/>
          </p:nvPr>
        </p:nvSpPr>
        <p:spPr/>
        <p:txBody>
          <a:bodyPr>
            <a:noAutofit/>
          </a:bodyPr>
          <a:lstStyle/>
          <a:p>
            <a:pPr>
              <a:lnSpc>
                <a:spcPct val="150000"/>
              </a:lnSpc>
            </a:pPr>
            <a:r>
              <a:rPr lang="zh-CN" altLang="en-US" sz="2000" dirty="0"/>
              <a:t>现在分析几个</a:t>
            </a:r>
            <a:r>
              <a:rPr lang="en-US" altLang="zh-CN" sz="2000" dirty="0"/>
              <a:t>ROC</a:t>
            </a:r>
            <a:r>
              <a:rPr lang="zh-CN" altLang="en-US" sz="2000" dirty="0"/>
              <a:t>曲线的特殊情况，更好地掌握其性质</a:t>
            </a:r>
          </a:p>
          <a:p>
            <a:pPr>
              <a:lnSpc>
                <a:spcPct val="150000"/>
              </a:lnSpc>
            </a:pPr>
            <a:r>
              <a:rPr lang="en-US" altLang="zh-CN" sz="2000" dirty="0"/>
              <a:t>(0, 0)</a:t>
            </a:r>
            <a:r>
              <a:rPr lang="zh-CN" altLang="en-US" sz="2000" dirty="0"/>
              <a:t>：假阳率和真阳率都为</a:t>
            </a:r>
            <a:r>
              <a:rPr lang="en-US" altLang="zh-CN" sz="2000" dirty="0"/>
              <a:t>0</a:t>
            </a:r>
            <a:r>
              <a:rPr lang="zh-CN" altLang="en-US" sz="2000" dirty="0"/>
              <a:t>，即分类器全部预测成负样本。</a:t>
            </a:r>
          </a:p>
          <a:p>
            <a:pPr>
              <a:lnSpc>
                <a:spcPct val="150000"/>
              </a:lnSpc>
            </a:pPr>
            <a:r>
              <a:rPr lang="en-US" altLang="zh-CN" sz="2000" dirty="0"/>
              <a:t>(0, 1)</a:t>
            </a:r>
            <a:r>
              <a:rPr lang="zh-CN" altLang="en-US" sz="2000" dirty="0"/>
              <a:t>：假阳率为</a:t>
            </a:r>
            <a:r>
              <a:rPr lang="en-US" altLang="zh-CN" sz="2000" dirty="0"/>
              <a:t>0</a:t>
            </a:r>
            <a:r>
              <a:rPr lang="zh-CN" altLang="en-US" sz="2000" dirty="0"/>
              <a:t>，真阳率为</a:t>
            </a:r>
            <a:r>
              <a:rPr lang="en-US" altLang="zh-CN" sz="2000" dirty="0"/>
              <a:t>1</a:t>
            </a:r>
            <a:r>
              <a:rPr lang="zh-CN" altLang="en-US" sz="2000" dirty="0"/>
              <a:t>，全部完美预测正确。</a:t>
            </a:r>
            <a:r>
              <a:rPr lang="zh-CN" altLang="en-US" sz="2000" dirty="0">
                <a:solidFill>
                  <a:srgbClr val="FF0000"/>
                </a:solidFill>
              </a:rPr>
              <a:t>即</a:t>
            </a:r>
            <a:r>
              <a:rPr lang="en-US" altLang="zh-CN" sz="2000" dirty="0">
                <a:solidFill>
                  <a:srgbClr val="FF0000"/>
                </a:solidFill>
              </a:rPr>
              <a:t>FN</a:t>
            </a:r>
            <a:r>
              <a:rPr lang="zh-CN" altLang="en-US" sz="2000" dirty="0">
                <a:solidFill>
                  <a:srgbClr val="FF0000"/>
                </a:solidFill>
              </a:rPr>
              <a:t>、</a:t>
            </a:r>
            <a:r>
              <a:rPr lang="en-US" altLang="zh-CN" sz="2000" dirty="0">
                <a:solidFill>
                  <a:srgbClr val="FF0000"/>
                </a:solidFill>
              </a:rPr>
              <a:t>FP</a:t>
            </a:r>
            <a:r>
              <a:rPr lang="zh-CN" altLang="en-US" sz="2000" dirty="0">
                <a:solidFill>
                  <a:srgbClr val="FF0000"/>
                </a:solidFill>
              </a:rPr>
              <a:t>都为</a:t>
            </a:r>
            <a:r>
              <a:rPr lang="en-US" altLang="zh-CN" sz="2000" dirty="0">
                <a:solidFill>
                  <a:srgbClr val="FF0000"/>
                </a:solidFill>
              </a:rPr>
              <a:t>0</a:t>
            </a:r>
            <a:endParaRPr lang="zh-CN" altLang="en-US" sz="2000" dirty="0">
              <a:solidFill>
                <a:srgbClr val="FF0000"/>
              </a:solidFill>
            </a:endParaRPr>
          </a:p>
          <a:p>
            <a:pPr marL="365760" marR="0" lvl="0" indent="-283210" algn="l" defTabSz="914400" rtl="0" eaLnBrk="1" fontAlgn="auto" latinLnBrk="0" hangingPunct="1">
              <a:lnSpc>
                <a:spcPct val="150000"/>
              </a:lnSpc>
              <a:spcBef>
                <a:spcPts val="600"/>
              </a:spcBef>
              <a:spcAft>
                <a:spcPts val="0"/>
              </a:spcAft>
              <a:buClr>
                <a:srgbClr val="3891A7"/>
              </a:buClr>
              <a:buSzPct val="80000"/>
              <a:buFont typeface="Wingdings 2" panose="05020102010507070707"/>
              <a:buChar char=""/>
              <a:tabLst/>
              <a:defRPr/>
            </a:pPr>
            <a:r>
              <a:rPr lang="en-US" altLang="zh-CN" sz="2000" dirty="0"/>
              <a:t>(1, 0)</a:t>
            </a:r>
            <a:r>
              <a:rPr lang="zh-CN" altLang="en-US" sz="2000" dirty="0"/>
              <a:t>：假阳率为</a:t>
            </a:r>
            <a:r>
              <a:rPr lang="en-US" altLang="zh-CN" sz="2000" dirty="0"/>
              <a:t>1</a:t>
            </a:r>
            <a:r>
              <a:rPr lang="zh-CN" altLang="en-US" sz="2000" dirty="0"/>
              <a:t>，真阳率为</a:t>
            </a:r>
            <a:r>
              <a:rPr lang="en-US" altLang="zh-CN" sz="2000" dirty="0"/>
              <a:t>0</a:t>
            </a:r>
            <a:r>
              <a:rPr lang="zh-CN" altLang="en-US" sz="2000" dirty="0"/>
              <a:t>，全部完美预测错误。</a:t>
            </a:r>
            <a:r>
              <a:rPr kumimoji="0" lang="zh-CN" altLang="en-US" sz="2000" b="0" i="0" u="none" strike="noStrike" kern="1200" cap="none" spc="0" normalizeH="0" baseline="0" noProof="0" dirty="0">
                <a:ln>
                  <a:noFill/>
                </a:ln>
                <a:solidFill>
                  <a:srgbClr val="FF0000"/>
                </a:solidFill>
                <a:effectLst/>
                <a:uLnTx/>
                <a:uFillTx/>
                <a:latin typeface="Gill Sans MT"/>
                <a:ea typeface="华文中宋" panose="02010600040101010101" pitchFamily="2" charset="-122"/>
                <a:cs typeface="+mn-cs"/>
              </a:rPr>
              <a:t>即</a:t>
            </a:r>
            <a:r>
              <a:rPr lang="en-US" altLang="zh-CN" sz="2000" dirty="0">
                <a:solidFill>
                  <a:srgbClr val="FF0000"/>
                </a:solidFill>
                <a:latin typeface="Gill Sans MT"/>
                <a:ea typeface="华文中宋" panose="02010600040101010101" pitchFamily="2" charset="-122"/>
              </a:rPr>
              <a:t>T</a:t>
            </a:r>
            <a:r>
              <a:rPr kumimoji="0" lang="en-US" altLang="zh-CN" sz="2000" b="0" i="0" u="none" strike="noStrike" kern="1200" cap="none" spc="0" normalizeH="0" baseline="0" noProof="0" dirty="0">
                <a:ln>
                  <a:noFill/>
                </a:ln>
                <a:solidFill>
                  <a:srgbClr val="FF0000"/>
                </a:solidFill>
                <a:effectLst/>
                <a:uLnTx/>
                <a:uFillTx/>
                <a:latin typeface="Gill Sans MT"/>
                <a:ea typeface="华文中宋" panose="02010600040101010101" pitchFamily="2" charset="-122"/>
                <a:cs typeface="+mn-cs"/>
              </a:rPr>
              <a:t>N</a:t>
            </a:r>
            <a:r>
              <a:rPr kumimoji="0" lang="zh-CN" altLang="en-US" sz="2000" b="0" i="0" u="none" strike="noStrike" kern="1200" cap="none" spc="0" normalizeH="0" baseline="0" noProof="0" dirty="0">
                <a:ln>
                  <a:noFill/>
                </a:ln>
                <a:solidFill>
                  <a:srgbClr val="FF0000"/>
                </a:solidFill>
                <a:effectLst/>
                <a:uLnTx/>
                <a:uFillTx/>
                <a:latin typeface="Gill Sans MT"/>
                <a:ea typeface="华文中宋" panose="02010600040101010101" pitchFamily="2" charset="-122"/>
                <a:cs typeface="+mn-cs"/>
              </a:rPr>
              <a:t>、</a:t>
            </a:r>
            <a:r>
              <a:rPr lang="en-US" altLang="zh-CN" sz="2000" dirty="0">
                <a:solidFill>
                  <a:srgbClr val="FF0000"/>
                </a:solidFill>
                <a:latin typeface="Gill Sans MT"/>
                <a:ea typeface="华文中宋" panose="02010600040101010101" pitchFamily="2" charset="-122"/>
              </a:rPr>
              <a:t>T</a:t>
            </a:r>
            <a:r>
              <a:rPr kumimoji="0" lang="en-US" altLang="zh-CN" sz="2000" b="0" i="0" u="none" strike="noStrike" kern="1200" cap="none" spc="0" normalizeH="0" baseline="0" noProof="0" dirty="0">
                <a:ln>
                  <a:noFill/>
                </a:ln>
                <a:solidFill>
                  <a:srgbClr val="FF0000"/>
                </a:solidFill>
                <a:effectLst/>
                <a:uLnTx/>
                <a:uFillTx/>
                <a:latin typeface="Gill Sans MT"/>
                <a:ea typeface="华文中宋" panose="02010600040101010101" pitchFamily="2" charset="-122"/>
                <a:cs typeface="+mn-cs"/>
              </a:rPr>
              <a:t>P</a:t>
            </a:r>
            <a:r>
              <a:rPr kumimoji="0" lang="zh-CN" altLang="en-US" sz="2000" b="0" i="0" u="none" strike="noStrike" kern="1200" cap="none" spc="0" normalizeH="0" baseline="0" noProof="0" dirty="0">
                <a:ln>
                  <a:noFill/>
                </a:ln>
                <a:solidFill>
                  <a:srgbClr val="FF0000"/>
                </a:solidFill>
                <a:effectLst/>
                <a:uLnTx/>
                <a:uFillTx/>
                <a:latin typeface="Gill Sans MT"/>
                <a:ea typeface="华文中宋" panose="02010600040101010101" pitchFamily="2" charset="-122"/>
                <a:cs typeface="+mn-cs"/>
              </a:rPr>
              <a:t>都为</a:t>
            </a:r>
            <a:r>
              <a:rPr kumimoji="0" lang="en-US" altLang="zh-CN" sz="2000" b="0" i="0" u="none" strike="noStrike" kern="1200" cap="none" spc="0" normalizeH="0" baseline="0" noProof="0" dirty="0">
                <a:ln>
                  <a:noFill/>
                </a:ln>
                <a:solidFill>
                  <a:srgbClr val="FF0000"/>
                </a:solidFill>
                <a:effectLst/>
                <a:uLnTx/>
                <a:uFillTx/>
                <a:latin typeface="Gill Sans MT"/>
                <a:ea typeface="华文中宋" panose="02010600040101010101" pitchFamily="2" charset="-122"/>
                <a:cs typeface="+mn-cs"/>
              </a:rPr>
              <a:t>0</a:t>
            </a:r>
            <a:endParaRPr lang="zh-CN" altLang="en-US" sz="2000" dirty="0"/>
          </a:p>
          <a:p>
            <a:pPr>
              <a:lnSpc>
                <a:spcPct val="150000"/>
              </a:lnSpc>
            </a:pPr>
            <a:r>
              <a:rPr lang="en-US" altLang="zh-CN" sz="2000" dirty="0"/>
              <a:t>(1, 1)</a:t>
            </a:r>
            <a:r>
              <a:rPr lang="zh-CN" altLang="en-US" sz="2000" dirty="0"/>
              <a:t>：假阳率和真阳率都为</a:t>
            </a:r>
            <a:r>
              <a:rPr lang="en-US" altLang="zh-CN" sz="2000" dirty="0"/>
              <a:t>1</a:t>
            </a:r>
            <a:r>
              <a:rPr lang="zh-CN" altLang="en-US" sz="2000" dirty="0"/>
              <a:t>，即分类器全部预测成正样本</a:t>
            </a:r>
          </a:p>
          <a:p>
            <a:pPr>
              <a:lnSpc>
                <a:spcPct val="150000"/>
              </a:lnSpc>
            </a:pPr>
            <a:r>
              <a:rPr lang="zh-CN" altLang="en-US" sz="2000" dirty="0"/>
              <a:t>当</a:t>
            </a:r>
            <a:r>
              <a:rPr lang="en-US" altLang="zh-CN" sz="2000" dirty="0"/>
              <a:t>TPR</a:t>
            </a:r>
            <a:r>
              <a:rPr lang="zh-CN" altLang="en-US" sz="2000" dirty="0"/>
              <a:t>＝</a:t>
            </a:r>
            <a:r>
              <a:rPr lang="en-US" altLang="zh-CN" sz="2000" dirty="0"/>
              <a:t>FPR</a:t>
            </a:r>
            <a:r>
              <a:rPr lang="zh-CN" altLang="en-US" sz="2000" dirty="0"/>
              <a:t>为一条斜对角线时，表示预测为正样本的结果一半是对的，一半是错的，即为随机分类器的预测效果。</a:t>
            </a:r>
            <a:r>
              <a:rPr lang="en-US" altLang="zh-CN" sz="2000" dirty="0"/>
              <a:t>ROC</a:t>
            </a:r>
            <a:r>
              <a:rPr lang="zh-CN" altLang="en-US" sz="2000" dirty="0"/>
              <a:t>曲线在斜对角线以下，表示该分类器效果差于随机分类器；反之，效果好于随机分类器。当然，我们希望</a:t>
            </a:r>
            <a:r>
              <a:rPr lang="en-US" altLang="zh-CN" sz="2000" dirty="0"/>
              <a:t>ROC</a:t>
            </a:r>
            <a:r>
              <a:rPr lang="zh-CN" altLang="en-US" sz="2000" dirty="0"/>
              <a:t>曲线尽量位于斜对角线以上，也就是向左上角</a:t>
            </a:r>
            <a:r>
              <a:rPr lang="en-US" altLang="zh-CN" sz="2000" dirty="0"/>
              <a:t>(0, 1)</a:t>
            </a:r>
            <a:r>
              <a:rPr lang="zh-CN" altLang="en-US" sz="2000" dirty="0"/>
              <a:t>凸。</a:t>
            </a:r>
          </a:p>
          <a:p>
            <a:pPr>
              <a:lnSpc>
                <a:spcPct val="150000"/>
              </a:lnSpc>
            </a:pPr>
            <a:endParaRPr lang="zh-CN" altLang="en-US" sz="2000" dirty="0"/>
          </a:p>
          <a:p>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dirty="0"/>
              <a:t>c1</a:t>
            </a:r>
            <a:r>
              <a:rPr lang="zh-CN" altLang="en-US" sz="4400" dirty="0"/>
              <a:t>和</a:t>
            </a:r>
            <a:r>
              <a:rPr lang="en-US" altLang="zh-CN" sz="4400" dirty="0"/>
              <a:t>c2</a:t>
            </a:r>
            <a:r>
              <a:rPr lang="zh-CN" altLang="en-US" sz="4400" dirty="0"/>
              <a:t>哪条曲线更好？</a:t>
            </a:r>
            <a:endParaRPr lang="zh-CN" altLang="en-US" dirty="0"/>
          </a:p>
        </p:txBody>
      </p:sp>
      <p:pic>
        <p:nvPicPr>
          <p:cNvPr id="4" name="内容占位符 3" descr="图11.2.PNG"/>
          <p:cNvPicPr>
            <a:picLocks noGrp="1"/>
          </p:cNvPicPr>
          <p:nvPr>
            <p:ph idx="1"/>
          </p:nvPr>
        </p:nvPicPr>
        <p:blipFill rotWithShape="1">
          <a:blip r:embed="rId2" cstate="print"/>
          <a:srcRect b="16521"/>
          <a:stretch>
            <a:fillRect/>
          </a:stretch>
        </p:blipFill>
        <p:spPr>
          <a:xfrm>
            <a:off x="1318383" y="1444309"/>
            <a:ext cx="5927369" cy="3949494"/>
          </a:xfrm>
          <a:prstGeom prst="rect">
            <a:avLst/>
          </a:prstGeom>
        </p:spPr>
      </p:pic>
      <p:sp>
        <p:nvSpPr>
          <p:cNvPr id="5" name="矩形 4"/>
          <p:cNvSpPr/>
          <p:nvPr/>
        </p:nvSpPr>
        <p:spPr>
          <a:xfrm>
            <a:off x="6962115" y="1891683"/>
            <a:ext cx="4925086" cy="3046988"/>
          </a:xfrm>
          <a:prstGeom prst="rect">
            <a:avLst/>
          </a:prstGeom>
        </p:spPr>
        <p:txBody>
          <a:bodyPr wrap="square">
            <a:spAutoFit/>
          </a:bodyPr>
          <a:lstStyle/>
          <a:p>
            <a:pPr indent="457200"/>
            <a:r>
              <a:rPr lang="zh-CN" altLang="en-US" sz="2400" dirty="0"/>
              <a:t>答案只能基于实际应用中的特定需求来回答。</a:t>
            </a:r>
            <a:endParaRPr lang="en-US" altLang="zh-CN" sz="2400" dirty="0"/>
          </a:p>
          <a:p>
            <a:pPr indent="457200"/>
            <a:r>
              <a:rPr lang="zh-CN" altLang="en-US" sz="2400" dirty="0"/>
              <a:t>根据图像可以得出以下结论：就正类而言，在负类错误率低的区域，</a:t>
            </a:r>
            <a:r>
              <a:rPr lang="en-US" altLang="zh-CN" sz="2400" dirty="0"/>
              <a:t>c1</a:t>
            </a:r>
            <a:r>
              <a:rPr lang="zh-CN" altLang="en-US" sz="2400" dirty="0"/>
              <a:t>的表现优于</a:t>
            </a:r>
            <a:r>
              <a:rPr lang="en-US" altLang="zh-CN" sz="2400" dirty="0"/>
              <a:t>c2</a:t>
            </a:r>
            <a:r>
              <a:rPr lang="zh-CN" altLang="en-US" sz="2400" dirty="0"/>
              <a:t>。随着负类样例错误率的增加，</a:t>
            </a:r>
            <a:r>
              <a:rPr lang="en-US" altLang="zh-CN" sz="2400" dirty="0"/>
              <a:t>c2</a:t>
            </a:r>
            <a:r>
              <a:rPr lang="zh-CN" altLang="en-US" sz="2400" dirty="0"/>
              <a:t>在正类样例上的表现优于</a:t>
            </a:r>
            <a:r>
              <a:rPr lang="en-US" altLang="zh-CN" sz="2400" dirty="0"/>
              <a:t>c1</a:t>
            </a:r>
            <a:r>
              <a:rPr lang="zh-CN" altLang="en-US" sz="2400" dirty="0"/>
              <a:t>。再者，分类器表现的好坏取决于用户的标准。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Cambria" panose="02040503050406030204" pitchFamily="18" charset="0"/>
                <a:ea typeface="Cambria" panose="02040503050406030204" pitchFamily="18" charset="0"/>
              </a:rPr>
              <a:t> </a:t>
            </a:r>
            <a:r>
              <a:rPr lang="en-US" altLang="zh-CN" dirty="0" err="1">
                <a:latin typeface="Cambria" panose="02040503050406030204" pitchFamily="18" charset="0"/>
                <a:ea typeface="Cambria" panose="02040503050406030204" pitchFamily="18" charset="0"/>
              </a:rPr>
              <a:t>scikit</a:t>
            </a:r>
            <a:r>
              <a:rPr lang="en-US" altLang="zh-CN" dirty="0">
                <a:latin typeface="Cambria" panose="02040503050406030204" pitchFamily="18" charset="0"/>
                <a:ea typeface="Cambria" panose="02040503050406030204" pitchFamily="18" charset="0"/>
              </a:rPr>
              <a:t>-learn</a:t>
            </a:r>
            <a:r>
              <a:rPr lang="zh-CN" altLang="zh-CN" dirty="0">
                <a:latin typeface="Cambria" panose="02040503050406030204" pitchFamily="18" charset="0"/>
              </a:rPr>
              <a:t>库函数</a:t>
            </a:r>
            <a:endParaRPr lang="zh-CN" altLang="en-US" dirty="0">
              <a:latin typeface="Cambria" panose="02040503050406030204" pitchFamily="18" charset="0"/>
            </a:endParaRPr>
          </a:p>
        </p:txBody>
      </p:sp>
      <p:sp>
        <p:nvSpPr>
          <p:cNvPr id="11" name="内容占位符 2"/>
          <p:cNvSpPr txBox="1"/>
          <p:nvPr/>
        </p:nvSpPr>
        <p:spPr>
          <a:xfrm>
            <a:off x="1470577" y="1117177"/>
            <a:ext cx="9482900" cy="288032"/>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457200" lvl="1" indent="0">
              <a:lnSpc>
                <a:spcPct val="120000"/>
              </a:lnSpc>
              <a:buNone/>
            </a:pPr>
            <a:r>
              <a:rPr lang="en-US" altLang="zh-CN" sz="2400" dirty="0">
                <a:latin typeface="Cambria" panose="02040503050406030204" pitchFamily="18" charset="0"/>
                <a:ea typeface="Cambria" panose="02040503050406030204" pitchFamily="18" charset="0"/>
              </a:rPr>
              <a:t>1</a:t>
            </a:r>
            <a:r>
              <a:rPr lang="zh-CN" altLang="en-US" sz="2400" dirty="0">
                <a:latin typeface="Cambria" panose="02040503050406030204" pitchFamily="18" charset="0"/>
                <a:ea typeface="Cambria" panose="02040503050406030204" pitchFamily="18" charset="0"/>
              </a:rPr>
              <a:t>、</a:t>
            </a:r>
            <a:r>
              <a:rPr lang="en-US" altLang="zh-CN" sz="2400" b="1" dirty="0" err="1">
                <a:solidFill>
                  <a:srgbClr val="00B050"/>
                </a:solidFill>
                <a:latin typeface="Cambria" panose="02040503050406030204" pitchFamily="18" charset="0"/>
                <a:ea typeface="Cambria" panose="02040503050406030204" pitchFamily="18" charset="0"/>
              </a:rPr>
              <a:t>accuracy_score</a:t>
            </a:r>
            <a:r>
              <a:rPr lang="zh-CN" altLang="en-US" sz="2400" b="1" dirty="0">
                <a:solidFill>
                  <a:srgbClr val="00B050"/>
                </a:solidFill>
                <a:latin typeface="Cambria" panose="02040503050406030204" pitchFamily="18" charset="0"/>
              </a:rPr>
              <a:t>：</a:t>
            </a:r>
            <a:r>
              <a:rPr lang="zh-CN" altLang="zh-CN" sz="2400" dirty="0">
                <a:latin typeface="Cambria" panose="02040503050406030204" pitchFamily="18" charset="0"/>
              </a:rPr>
              <a:t>用于评价分类问题的准确率。其函数原型为：</a:t>
            </a:r>
          </a:p>
        </p:txBody>
      </p:sp>
      <p:sp>
        <p:nvSpPr>
          <p:cNvPr id="13" name="内容占位符 2"/>
          <p:cNvSpPr txBox="1"/>
          <p:nvPr/>
        </p:nvSpPr>
        <p:spPr>
          <a:xfrm>
            <a:off x="2126218" y="3445103"/>
            <a:ext cx="9730421" cy="487954"/>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endParaRPr lang="zh-CN" altLang="zh-CN" sz="1600" dirty="0">
              <a:latin typeface="Cambria" panose="02040503050406030204" pitchFamily="18" charset="0"/>
            </a:endParaRPr>
          </a:p>
        </p:txBody>
      </p:sp>
      <p:sp>
        <p:nvSpPr>
          <p:cNvPr id="15" name="矩形 14"/>
          <p:cNvSpPr/>
          <p:nvPr/>
        </p:nvSpPr>
        <p:spPr>
          <a:xfrm>
            <a:off x="1675277" y="1726833"/>
            <a:ext cx="9868846" cy="7992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16" name="内容占位符 2"/>
          <p:cNvSpPr txBox="1"/>
          <p:nvPr/>
        </p:nvSpPr>
        <p:spPr>
          <a:xfrm>
            <a:off x="1675277" y="1910424"/>
            <a:ext cx="10112660" cy="432048"/>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r>
              <a:rPr lang="en-US" altLang="zh-CN" dirty="0" err="1">
                <a:solidFill>
                  <a:schemeClr val="bg1"/>
                </a:solidFill>
                <a:latin typeface="Cambria" panose="02040503050406030204" pitchFamily="18" charset="0"/>
                <a:ea typeface="Cambria" panose="02040503050406030204" pitchFamily="18" charset="0"/>
              </a:rPr>
              <a:t>sklearn.metrics.accuracy_score</a:t>
            </a:r>
            <a:r>
              <a:rPr lang="en-US" altLang="zh-CN" dirty="0">
                <a:solidFill>
                  <a:schemeClr val="bg1"/>
                </a:solidFill>
                <a:latin typeface="Cambria" panose="02040503050406030204" pitchFamily="18" charset="0"/>
                <a:ea typeface="Cambria" panose="02040503050406030204" pitchFamily="18" charset="0"/>
              </a:rPr>
              <a:t>(</a:t>
            </a:r>
            <a:r>
              <a:rPr lang="en-US" altLang="zh-CN" dirty="0" err="1">
                <a:solidFill>
                  <a:schemeClr val="bg1"/>
                </a:solidFill>
                <a:latin typeface="Cambria" panose="02040503050406030204" pitchFamily="18" charset="0"/>
                <a:ea typeface="Cambria" panose="02040503050406030204" pitchFamily="18" charset="0"/>
              </a:rPr>
              <a:t>y_true</a:t>
            </a:r>
            <a:r>
              <a:rPr lang="en-US" altLang="zh-CN" dirty="0">
                <a:solidFill>
                  <a:schemeClr val="bg1"/>
                </a:solidFill>
                <a:latin typeface="Cambria" panose="02040503050406030204" pitchFamily="18" charset="0"/>
                <a:ea typeface="Cambria" panose="02040503050406030204" pitchFamily="18" charset="0"/>
              </a:rPr>
              <a:t>, </a:t>
            </a:r>
            <a:r>
              <a:rPr lang="en-US" altLang="zh-CN" dirty="0" err="1">
                <a:solidFill>
                  <a:schemeClr val="bg1"/>
                </a:solidFill>
                <a:latin typeface="Cambria" panose="02040503050406030204" pitchFamily="18" charset="0"/>
                <a:ea typeface="Cambria" panose="02040503050406030204" pitchFamily="18" charset="0"/>
              </a:rPr>
              <a:t>y_pred</a:t>
            </a:r>
            <a:r>
              <a:rPr lang="en-US" altLang="zh-CN" dirty="0">
                <a:solidFill>
                  <a:schemeClr val="bg1"/>
                </a:solidFill>
                <a:latin typeface="Cambria" panose="02040503050406030204" pitchFamily="18" charset="0"/>
                <a:ea typeface="Cambria" panose="02040503050406030204" pitchFamily="18" charset="0"/>
              </a:rPr>
              <a:t>, normalize=True, </a:t>
            </a:r>
            <a:r>
              <a:rPr lang="en-US" altLang="zh-CN" dirty="0" err="1">
                <a:solidFill>
                  <a:schemeClr val="bg1"/>
                </a:solidFill>
                <a:latin typeface="Cambria" panose="02040503050406030204" pitchFamily="18" charset="0"/>
                <a:ea typeface="Cambria" panose="02040503050406030204" pitchFamily="18" charset="0"/>
              </a:rPr>
              <a:t>sample_weight</a:t>
            </a:r>
            <a:r>
              <a:rPr lang="en-US" altLang="zh-CN" dirty="0">
                <a:solidFill>
                  <a:schemeClr val="bg1"/>
                </a:solidFill>
                <a:latin typeface="Cambria" panose="02040503050406030204" pitchFamily="18" charset="0"/>
                <a:ea typeface="Cambria" panose="02040503050406030204" pitchFamily="18" charset="0"/>
              </a:rPr>
              <a:t>=None)</a:t>
            </a:r>
            <a:endParaRPr lang="zh-CN" altLang="zh-CN" dirty="0">
              <a:solidFill>
                <a:schemeClr val="bg1"/>
              </a:solidFill>
              <a:latin typeface="Cambria" panose="02040503050406030204" pitchFamily="18" charset="0"/>
            </a:endParaRPr>
          </a:p>
        </p:txBody>
      </p:sp>
      <p:sp>
        <p:nvSpPr>
          <p:cNvPr id="17" name="内容占位符 2"/>
          <p:cNvSpPr txBox="1"/>
          <p:nvPr/>
        </p:nvSpPr>
        <p:spPr>
          <a:xfrm>
            <a:off x="1470577" y="2951026"/>
            <a:ext cx="10625644" cy="2288154"/>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914400" lvl="2" indent="0">
              <a:lnSpc>
                <a:spcPct val="150000"/>
              </a:lnSpc>
              <a:spcBef>
                <a:spcPts val="0"/>
              </a:spcBef>
              <a:spcAft>
                <a:spcPts val="0"/>
              </a:spcAft>
              <a:buNone/>
            </a:pPr>
            <a:r>
              <a:rPr lang="zh-CN" altLang="en-US" sz="2000" dirty="0">
                <a:latin typeface="Cambria" panose="02040503050406030204" pitchFamily="18" charset="0"/>
              </a:rPr>
              <a:t>参数如下：</a:t>
            </a:r>
            <a:endParaRPr lang="en-US" altLang="zh-CN" sz="2000" dirty="0">
              <a:latin typeface="Cambria" panose="02040503050406030204" pitchFamily="18" charset="0"/>
              <a:ea typeface="Cambria" panose="02040503050406030204" pitchFamily="18" charset="0"/>
            </a:endParaRPr>
          </a:p>
          <a:p>
            <a:pPr lvl="3">
              <a:lnSpc>
                <a:spcPct val="150000"/>
              </a:lnSpc>
              <a:spcBef>
                <a:spcPts val="0"/>
              </a:spcBef>
              <a:spcAft>
                <a:spcPts val="0"/>
              </a:spcAft>
              <a:buClr>
                <a:schemeClr val="accent5"/>
              </a:buClr>
              <a:buSzPct val="144000"/>
              <a:buFont typeface="Wingdings" panose="05000000000000000000" pitchFamily="2" charset="2"/>
              <a:buChar char="ü"/>
            </a:pPr>
            <a:r>
              <a:rPr lang="en-US" altLang="zh-CN" sz="2000" dirty="0" err="1">
                <a:latin typeface="Cambria" panose="02040503050406030204" pitchFamily="18" charset="0"/>
                <a:ea typeface="Cambria" panose="02040503050406030204" pitchFamily="18" charset="0"/>
              </a:rPr>
              <a:t>y_true</a:t>
            </a:r>
            <a:r>
              <a:rPr lang="zh-CN" altLang="zh-CN" sz="2000" dirty="0">
                <a:latin typeface="Cambria" panose="02040503050406030204" pitchFamily="18" charset="0"/>
              </a:rPr>
              <a:t>：样本集的真实标记集合；</a:t>
            </a:r>
          </a:p>
          <a:p>
            <a:pPr lvl="3">
              <a:lnSpc>
                <a:spcPct val="150000"/>
              </a:lnSpc>
              <a:spcBef>
                <a:spcPts val="0"/>
              </a:spcBef>
              <a:spcAft>
                <a:spcPts val="0"/>
              </a:spcAft>
              <a:buClr>
                <a:schemeClr val="accent5"/>
              </a:buClr>
              <a:buSzPct val="144000"/>
              <a:buFont typeface="Wingdings" panose="05000000000000000000" pitchFamily="2" charset="2"/>
              <a:buChar char="ü"/>
            </a:pPr>
            <a:r>
              <a:rPr lang="en-US" altLang="zh-CN" sz="2000" dirty="0" err="1">
                <a:latin typeface="Cambria" panose="02040503050406030204" pitchFamily="18" charset="0"/>
                <a:ea typeface="Cambria" panose="02040503050406030204" pitchFamily="18" charset="0"/>
              </a:rPr>
              <a:t>y_pred</a:t>
            </a:r>
            <a:r>
              <a:rPr lang="zh-CN" altLang="zh-CN" sz="2000" dirty="0">
                <a:latin typeface="Cambria" panose="02040503050406030204" pitchFamily="18" charset="0"/>
              </a:rPr>
              <a:t>：分类器对样本集预测的预测值；</a:t>
            </a:r>
          </a:p>
          <a:p>
            <a:pPr lvl="3">
              <a:lnSpc>
                <a:spcPct val="150000"/>
              </a:lnSpc>
              <a:spcBef>
                <a:spcPts val="0"/>
              </a:spcBef>
              <a:spcAft>
                <a:spcPts val="0"/>
              </a:spcAft>
              <a:buClr>
                <a:schemeClr val="accent5"/>
              </a:buClr>
              <a:buSzPct val="144000"/>
              <a:buFont typeface="Wingdings" panose="05000000000000000000" pitchFamily="2" charset="2"/>
              <a:buChar char="ü"/>
            </a:pPr>
            <a:r>
              <a:rPr lang="en-US" altLang="zh-CN" sz="2000" dirty="0">
                <a:latin typeface="Cambria" panose="02040503050406030204" pitchFamily="18" charset="0"/>
                <a:ea typeface="Cambria" panose="02040503050406030204" pitchFamily="18" charset="0"/>
              </a:rPr>
              <a:t>normalize</a:t>
            </a:r>
            <a:r>
              <a:rPr lang="zh-CN" altLang="zh-CN" sz="2000" dirty="0">
                <a:latin typeface="Cambria" panose="02040503050406030204" pitchFamily="18" charset="0"/>
              </a:rPr>
              <a:t>：默认值为</a:t>
            </a:r>
            <a:r>
              <a:rPr lang="en-US" altLang="zh-CN" sz="2000" dirty="0">
                <a:latin typeface="Cambria" panose="02040503050406030204" pitchFamily="18" charset="0"/>
                <a:ea typeface="Cambria" panose="02040503050406030204" pitchFamily="18" charset="0"/>
              </a:rPr>
              <a:t>True</a:t>
            </a:r>
            <a:r>
              <a:rPr lang="zh-CN" altLang="zh-CN" sz="2000" dirty="0">
                <a:latin typeface="Cambria" panose="02040503050406030204" pitchFamily="18" charset="0"/>
              </a:rPr>
              <a:t>。如果为</a:t>
            </a:r>
            <a:r>
              <a:rPr lang="en-US" altLang="zh-CN" sz="2000" dirty="0">
                <a:latin typeface="Cambria" panose="02040503050406030204" pitchFamily="18" charset="0"/>
                <a:ea typeface="Cambria" panose="02040503050406030204" pitchFamily="18" charset="0"/>
              </a:rPr>
              <a:t>True</a:t>
            </a:r>
            <a:r>
              <a:rPr lang="zh-CN" altLang="zh-CN" sz="2000" dirty="0">
                <a:latin typeface="Cambria" panose="02040503050406030204" pitchFamily="18" charset="0"/>
              </a:rPr>
              <a:t>，则返回分类正确的比例（准确率），否则返回分类正确的数量；</a:t>
            </a:r>
          </a:p>
          <a:p>
            <a:pPr lvl="3">
              <a:lnSpc>
                <a:spcPct val="150000"/>
              </a:lnSpc>
              <a:spcBef>
                <a:spcPts val="0"/>
              </a:spcBef>
              <a:spcAft>
                <a:spcPts val="0"/>
              </a:spcAft>
              <a:buClr>
                <a:schemeClr val="accent5"/>
              </a:buClr>
              <a:buSzPct val="144000"/>
              <a:buFont typeface="Wingdings" panose="05000000000000000000" pitchFamily="2" charset="2"/>
              <a:buChar char="ü"/>
            </a:pPr>
            <a:r>
              <a:rPr lang="en-US" altLang="zh-CN" sz="2000" dirty="0" err="1">
                <a:latin typeface="Cambria" panose="02040503050406030204" pitchFamily="18" charset="0"/>
                <a:ea typeface="Cambria" panose="02040503050406030204" pitchFamily="18" charset="0"/>
              </a:rPr>
              <a:t>sample_weight</a:t>
            </a:r>
            <a:r>
              <a:rPr lang="zh-CN" altLang="zh-CN" sz="2000" dirty="0">
                <a:latin typeface="Cambria" panose="02040503050406030204" pitchFamily="18" charset="0"/>
              </a:rPr>
              <a:t>：样本权重，默认每个权重都相等（取值</a:t>
            </a:r>
            <a:r>
              <a:rPr lang="en-US" altLang="zh-CN" sz="2000" dirty="0">
                <a:latin typeface="Cambria" panose="02040503050406030204" pitchFamily="18" charset="0"/>
                <a:ea typeface="Cambria" panose="02040503050406030204" pitchFamily="18" charset="0"/>
              </a:rPr>
              <a:t>1</a:t>
            </a:r>
            <a:r>
              <a:rPr lang="zh-CN" altLang="zh-CN" sz="2000" dirty="0">
                <a:latin typeface="Cambria" panose="02040503050406030204" pitchFamily="18" charset="0"/>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Cambria" panose="02040503050406030204" pitchFamily="18" charset="0"/>
                <a:ea typeface="Cambria" panose="02040503050406030204" pitchFamily="18" charset="0"/>
              </a:rPr>
              <a:t>scikit</a:t>
            </a:r>
            <a:r>
              <a:rPr lang="en-US" altLang="zh-CN" dirty="0">
                <a:latin typeface="Cambria" panose="02040503050406030204" pitchFamily="18" charset="0"/>
                <a:ea typeface="Cambria" panose="02040503050406030204" pitchFamily="18" charset="0"/>
              </a:rPr>
              <a:t>-learn</a:t>
            </a:r>
            <a:r>
              <a:rPr lang="zh-CN" altLang="zh-CN" dirty="0">
                <a:latin typeface="Cambria" panose="02040503050406030204" pitchFamily="18" charset="0"/>
              </a:rPr>
              <a:t>库函数</a:t>
            </a:r>
            <a:endParaRPr lang="zh-CN" altLang="en-US" dirty="0">
              <a:latin typeface="Cambria" panose="02040503050406030204" pitchFamily="18" charset="0"/>
            </a:endParaRPr>
          </a:p>
        </p:txBody>
      </p:sp>
      <p:sp>
        <p:nvSpPr>
          <p:cNvPr id="11" name="内容占位符 2"/>
          <p:cNvSpPr txBox="1"/>
          <p:nvPr/>
        </p:nvSpPr>
        <p:spPr>
          <a:xfrm>
            <a:off x="1221612" y="887910"/>
            <a:ext cx="9793088" cy="1066144"/>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457200" lvl="1" indent="0">
              <a:lnSpc>
                <a:spcPct val="150000"/>
              </a:lnSpc>
              <a:spcBef>
                <a:spcPts val="0"/>
              </a:spcBef>
              <a:spcAft>
                <a:spcPts val="0"/>
              </a:spcAft>
              <a:buNone/>
            </a:pPr>
            <a:r>
              <a:rPr lang="en-US" altLang="zh-CN" sz="2000" dirty="0">
                <a:latin typeface="Cambria" panose="02040503050406030204" pitchFamily="18" charset="0"/>
                <a:ea typeface="Cambria" panose="02040503050406030204" pitchFamily="18" charset="0"/>
              </a:rPr>
              <a:t>2</a:t>
            </a:r>
            <a:r>
              <a:rPr lang="zh-CN" altLang="en-US" sz="2000" dirty="0">
                <a:latin typeface="Cambria" panose="02040503050406030204" pitchFamily="18" charset="0"/>
                <a:ea typeface="Cambria" panose="02040503050406030204" pitchFamily="18" charset="0"/>
              </a:rPr>
              <a:t>、</a:t>
            </a:r>
            <a:r>
              <a:rPr lang="en-US" altLang="zh-CN" sz="2000" b="1" dirty="0" err="1">
                <a:solidFill>
                  <a:srgbClr val="00B050"/>
                </a:solidFill>
                <a:latin typeface="Cambria" panose="02040503050406030204" pitchFamily="18" charset="0"/>
                <a:ea typeface="Cambria" panose="02040503050406030204" pitchFamily="18" charset="0"/>
              </a:rPr>
              <a:t>precision_score</a:t>
            </a:r>
            <a:r>
              <a:rPr lang="zh-CN" altLang="en-US" sz="2000" b="1" dirty="0">
                <a:solidFill>
                  <a:srgbClr val="00B050"/>
                </a:solidFill>
                <a:latin typeface="Cambria" panose="02040503050406030204" pitchFamily="18" charset="0"/>
              </a:rPr>
              <a:t>：</a:t>
            </a:r>
            <a:r>
              <a:rPr lang="zh-CN" altLang="zh-CN" sz="2000" dirty="0">
                <a:latin typeface="Cambria" panose="02040503050406030204" pitchFamily="18" charset="0"/>
              </a:rPr>
              <a:t>用于评价分类问题的查准率，其值为</a:t>
            </a:r>
            <a:r>
              <a:rPr lang="en-US" altLang="zh-CN" sz="2000" dirty="0">
                <a:latin typeface="Cambria" panose="02040503050406030204" pitchFamily="18" charset="0"/>
                <a:ea typeface="Cambria" panose="02040503050406030204" pitchFamily="18" charset="0"/>
              </a:rPr>
              <a:t>TP/(TP + FP)</a:t>
            </a:r>
            <a:r>
              <a:rPr lang="zh-CN" altLang="zh-CN" sz="2000" dirty="0">
                <a:latin typeface="Cambria" panose="02040503050406030204" pitchFamily="18" charset="0"/>
              </a:rPr>
              <a:t>，其中</a:t>
            </a:r>
            <a:r>
              <a:rPr lang="en-US" altLang="zh-CN" sz="2000" dirty="0">
                <a:latin typeface="Cambria" panose="02040503050406030204" pitchFamily="18" charset="0"/>
                <a:ea typeface="Cambria" panose="02040503050406030204" pitchFamily="18" charset="0"/>
              </a:rPr>
              <a:t>TP</a:t>
            </a:r>
            <a:r>
              <a:rPr lang="zh-CN" altLang="zh-CN" sz="2000" dirty="0">
                <a:latin typeface="Cambria" panose="02040503050406030204" pitchFamily="18" charset="0"/>
              </a:rPr>
              <a:t>是真正的正例数目、</a:t>
            </a:r>
            <a:r>
              <a:rPr lang="en-US" altLang="zh-CN" sz="2000" dirty="0">
                <a:latin typeface="Cambria" panose="02040503050406030204" pitchFamily="18" charset="0"/>
                <a:ea typeface="Cambria" panose="02040503050406030204" pitchFamily="18" charset="0"/>
              </a:rPr>
              <a:t>FP</a:t>
            </a:r>
            <a:r>
              <a:rPr lang="zh-CN" altLang="zh-CN" sz="2000" dirty="0">
                <a:latin typeface="Cambria" panose="02040503050406030204" pitchFamily="18" charset="0"/>
              </a:rPr>
              <a:t>是假阳性的数量。其函数原型为：</a:t>
            </a:r>
          </a:p>
        </p:txBody>
      </p:sp>
      <p:sp>
        <p:nvSpPr>
          <p:cNvPr id="15" name="矩形 14"/>
          <p:cNvSpPr/>
          <p:nvPr/>
        </p:nvSpPr>
        <p:spPr>
          <a:xfrm>
            <a:off x="1446835" y="1988840"/>
            <a:ext cx="10409805" cy="7920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16" name="内容占位符 2"/>
          <p:cNvSpPr txBox="1"/>
          <p:nvPr/>
        </p:nvSpPr>
        <p:spPr>
          <a:xfrm>
            <a:off x="1595407" y="2146977"/>
            <a:ext cx="10112660" cy="432048"/>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r>
              <a:rPr lang="en-US" altLang="zh-CN" dirty="0" err="1">
                <a:solidFill>
                  <a:schemeClr val="bg1"/>
                </a:solidFill>
                <a:latin typeface="Cambria" panose="02040503050406030204" pitchFamily="18" charset="0"/>
                <a:ea typeface="Cambria" panose="02040503050406030204" pitchFamily="18" charset="0"/>
              </a:rPr>
              <a:t>sklearn.metrics.precision_score</a:t>
            </a:r>
            <a:r>
              <a:rPr lang="en-US" altLang="zh-CN" dirty="0">
                <a:solidFill>
                  <a:schemeClr val="bg1"/>
                </a:solidFill>
                <a:latin typeface="Cambria" panose="02040503050406030204" pitchFamily="18" charset="0"/>
                <a:ea typeface="Cambria" panose="02040503050406030204" pitchFamily="18" charset="0"/>
              </a:rPr>
              <a:t>(</a:t>
            </a:r>
            <a:r>
              <a:rPr lang="en-US" altLang="zh-CN" dirty="0" err="1">
                <a:solidFill>
                  <a:schemeClr val="bg1"/>
                </a:solidFill>
                <a:latin typeface="Cambria" panose="02040503050406030204" pitchFamily="18" charset="0"/>
                <a:ea typeface="Cambria" panose="02040503050406030204" pitchFamily="18" charset="0"/>
              </a:rPr>
              <a:t>y_true</a:t>
            </a:r>
            <a:r>
              <a:rPr lang="en-US" altLang="zh-CN" dirty="0">
                <a:solidFill>
                  <a:schemeClr val="bg1"/>
                </a:solidFill>
                <a:latin typeface="Cambria" panose="02040503050406030204" pitchFamily="18" charset="0"/>
                <a:ea typeface="Cambria" panose="02040503050406030204" pitchFamily="18" charset="0"/>
              </a:rPr>
              <a:t>, </a:t>
            </a:r>
            <a:r>
              <a:rPr lang="en-US" altLang="zh-CN" dirty="0" err="1">
                <a:solidFill>
                  <a:schemeClr val="bg1"/>
                </a:solidFill>
                <a:latin typeface="Cambria" panose="02040503050406030204" pitchFamily="18" charset="0"/>
                <a:ea typeface="Cambria" panose="02040503050406030204" pitchFamily="18" charset="0"/>
              </a:rPr>
              <a:t>y_pred</a:t>
            </a:r>
            <a:r>
              <a:rPr lang="en-US" altLang="zh-CN" dirty="0">
                <a:solidFill>
                  <a:schemeClr val="bg1"/>
                </a:solidFill>
                <a:latin typeface="Cambria" panose="02040503050406030204" pitchFamily="18" charset="0"/>
                <a:ea typeface="Cambria" panose="02040503050406030204" pitchFamily="18" charset="0"/>
              </a:rPr>
              <a:t>, labels=None, </a:t>
            </a:r>
            <a:r>
              <a:rPr lang="en-US" altLang="zh-CN" dirty="0" err="1">
                <a:solidFill>
                  <a:schemeClr val="bg1"/>
                </a:solidFill>
                <a:latin typeface="Cambria" panose="02040503050406030204" pitchFamily="18" charset="0"/>
                <a:ea typeface="Cambria" panose="02040503050406030204" pitchFamily="18" charset="0"/>
              </a:rPr>
              <a:t>pos_label</a:t>
            </a:r>
            <a:r>
              <a:rPr lang="en-US" altLang="zh-CN" dirty="0">
                <a:solidFill>
                  <a:schemeClr val="bg1"/>
                </a:solidFill>
                <a:latin typeface="Cambria" panose="02040503050406030204" pitchFamily="18" charset="0"/>
                <a:ea typeface="Cambria" panose="02040503050406030204" pitchFamily="18" charset="0"/>
              </a:rPr>
              <a:t>=1, average =’binary’, </a:t>
            </a:r>
            <a:r>
              <a:rPr lang="en-US" altLang="zh-CN" dirty="0" err="1">
                <a:solidFill>
                  <a:schemeClr val="bg1"/>
                </a:solidFill>
                <a:latin typeface="Cambria" panose="02040503050406030204" pitchFamily="18" charset="0"/>
                <a:ea typeface="Cambria" panose="02040503050406030204" pitchFamily="18" charset="0"/>
              </a:rPr>
              <a:t>sample_weight</a:t>
            </a:r>
            <a:r>
              <a:rPr lang="en-US" altLang="zh-CN" dirty="0">
                <a:solidFill>
                  <a:schemeClr val="bg1"/>
                </a:solidFill>
                <a:latin typeface="Cambria" panose="02040503050406030204" pitchFamily="18" charset="0"/>
                <a:ea typeface="Cambria" panose="02040503050406030204" pitchFamily="18" charset="0"/>
              </a:rPr>
              <a:t>=None)</a:t>
            </a:r>
            <a:endParaRPr lang="zh-CN" altLang="zh-CN" dirty="0">
              <a:solidFill>
                <a:schemeClr val="bg1"/>
              </a:solidFill>
              <a:latin typeface="Cambria" panose="02040503050406030204" pitchFamily="18" charset="0"/>
            </a:endParaRPr>
          </a:p>
        </p:txBody>
      </p:sp>
      <p:sp>
        <p:nvSpPr>
          <p:cNvPr id="17" name="内容占位符 2"/>
          <p:cNvSpPr txBox="1"/>
          <p:nvPr/>
        </p:nvSpPr>
        <p:spPr>
          <a:xfrm>
            <a:off x="1014604" y="2867117"/>
            <a:ext cx="10838886" cy="3411761"/>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914400" lvl="2" indent="0">
              <a:lnSpc>
                <a:spcPct val="150000"/>
              </a:lnSpc>
              <a:spcBef>
                <a:spcPts val="0"/>
              </a:spcBef>
              <a:spcAft>
                <a:spcPts val="0"/>
              </a:spcAft>
              <a:buNone/>
            </a:pPr>
            <a:r>
              <a:rPr lang="zh-CN" altLang="zh-CN" dirty="0">
                <a:latin typeface="Cambria" panose="02040503050406030204" pitchFamily="18" charset="0"/>
              </a:rPr>
              <a:t>前</a:t>
            </a:r>
            <a:r>
              <a:rPr lang="zh-CN" altLang="en-US" dirty="0">
                <a:latin typeface="Cambria" panose="02040503050406030204" pitchFamily="18" charset="0"/>
              </a:rPr>
              <a:t>两</a:t>
            </a:r>
            <a:r>
              <a:rPr lang="zh-CN" altLang="zh-CN" dirty="0">
                <a:latin typeface="Cambria" panose="02040503050406030204" pitchFamily="18" charset="0"/>
              </a:rPr>
              <a:t>个参数同</a:t>
            </a:r>
            <a:r>
              <a:rPr lang="en-US" altLang="zh-CN" dirty="0" err="1">
                <a:latin typeface="Cambria" panose="02040503050406030204" pitchFamily="18" charset="0"/>
                <a:ea typeface="Cambria" panose="02040503050406030204" pitchFamily="18" charset="0"/>
              </a:rPr>
              <a:t>accuracy_score</a:t>
            </a:r>
            <a:r>
              <a:rPr lang="zh-CN" altLang="zh-CN" dirty="0">
                <a:latin typeface="Cambria" panose="02040503050406030204" pitchFamily="18" charset="0"/>
              </a:rPr>
              <a:t>函数中的说明，其他的参数如下：</a:t>
            </a:r>
            <a:endParaRPr lang="en-US" altLang="zh-CN" dirty="0">
              <a:latin typeface="Cambria" panose="02040503050406030204" pitchFamily="18" charset="0"/>
              <a:ea typeface="Cambria" panose="02040503050406030204" pitchFamily="18" charset="0"/>
            </a:endParaRPr>
          </a:p>
          <a:p>
            <a:pPr lvl="3">
              <a:lnSpc>
                <a:spcPct val="150000"/>
              </a:lnSpc>
              <a:spcBef>
                <a:spcPts val="0"/>
              </a:spcBef>
              <a:spcAft>
                <a:spcPts val="0"/>
              </a:spcAft>
              <a:buClr>
                <a:schemeClr val="accent5"/>
              </a:buClr>
              <a:buFont typeface="Wingdings" panose="05000000000000000000" pitchFamily="2" charset="2"/>
              <a:buChar char="ü"/>
            </a:pPr>
            <a:r>
              <a:rPr lang="en-US" altLang="zh-CN" sz="1800" dirty="0">
                <a:latin typeface="Cambria" panose="02040503050406030204" pitchFamily="18" charset="0"/>
                <a:ea typeface="Cambria" panose="02040503050406030204" pitchFamily="18" charset="0"/>
              </a:rPr>
              <a:t>labels</a:t>
            </a:r>
            <a:r>
              <a:rPr lang="zh-CN" altLang="zh-CN" sz="1800" dirty="0">
                <a:latin typeface="Cambria" panose="02040503050406030204" pitchFamily="18" charset="0"/>
              </a:rPr>
              <a:t>：当</a:t>
            </a:r>
            <a:r>
              <a:rPr lang="en-US" altLang="zh-CN" sz="1800" dirty="0">
                <a:latin typeface="Cambria" panose="02040503050406030204" pitchFamily="18" charset="0"/>
                <a:ea typeface="Cambria" panose="02040503050406030204" pitchFamily="18" charset="0"/>
              </a:rPr>
              <a:t>average!=’binary’</a:t>
            </a:r>
            <a:r>
              <a:rPr lang="zh-CN" altLang="zh-CN" sz="1800" dirty="0">
                <a:latin typeface="Cambria" panose="02040503050406030204" pitchFamily="18" charset="0"/>
              </a:rPr>
              <a:t>时，则包括标签集。多标签目标时为列索引。默认情况下，</a:t>
            </a:r>
            <a:r>
              <a:rPr lang="en-US" altLang="zh-CN" sz="1800" dirty="0" err="1">
                <a:latin typeface="Cambria" panose="02040503050406030204" pitchFamily="18" charset="0"/>
                <a:ea typeface="Cambria" panose="02040503050406030204" pitchFamily="18" charset="0"/>
              </a:rPr>
              <a:t>y_true</a:t>
            </a:r>
            <a:r>
              <a:rPr lang="zh-CN" altLang="zh-CN" sz="1800" dirty="0">
                <a:latin typeface="Cambria" panose="02040503050406030204" pitchFamily="18" charset="0"/>
              </a:rPr>
              <a:t>和</a:t>
            </a:r>
            <a:r>
              <a:rPr lang="en-US" altLang="zh-CN" sz="1800" dirty="0" err="1">
                <a:latin typeface="Cambria" panose="02040503050406030204" pitchFamily="18" charset="0"/>
                <a:ea typeface="Cambria" panose="02040503050406030204" pitchFamily="18" charset="0"/>
              </a:rPr>
              <a:t>y_pred</a:t>
            </a:r>
            <a:r>
              <a:rPr lang="zh-CN" altLang="zh-CN" sz="1800" dirty="0">
                <a:latin typeface="Cambria" panose="02040503050406030204" pitchFamily="18" charset="0"/>
              </a:rPr>
              <a:t>的所有标签按顺序使用。这个属性是</a:t>
            </a:r>
            <a:r>
              <a:rPr lang="en-US" altLang="zh-CN" sz="1800" dirty="0">
                <a:latin typeface="Cambria" panose="02040503050406030204" pitchFamily="18" charset="0"/>
                <a:ea typeface="Cambria" panose="02040503050406030204" pitchFamily="18" charset="0"/>
              </a:rPr>
              <a:t>v0.17</a:t>
            </a:r>
            <a:r>
              <a:rPr lang="zh-CN" altLang="zh-CN" sz="1800" dirty="0">
                <a:latin typeface="Cambria" panose="02040503050406030204" pitchFamily="18" charset="0"/>
              </a:rPr>
              <a:t>以后才引入的。</a:t>
            </a:r>
          </a:p>
          <a:p>
            <a:pPr lvl="3">
              <a:lnSpc>
                <a:spcPct val="150000"/>
              </a:lnSpc>
              <a:spcBef>
                <a:spcPts val="0"/>
              </a:spcBef>
              <a:spcAft>
                <a:spcPts val="0"/>
              </a:spcAft>
              <a:buClr>
                <a:schemeClr val="accent5"/>
              </a:buClr>
              <a:buFont typeface="Wingdings" panose="05000000000000000000" pitchFamily="2" charset="2"/>
              <a:buChar char="ü"/>
            </a:pPr>
            <a:r>
              <a:rPr lang="en-US" altLang="zh-CN" sz="1800" dirty="0" err="1">
                <a:latin typeface="Cambria" panose="02040503050406030204" pitchFamily="18" charset="0"/>
                <a:ea typeface="Cambria" panose="02040503050406030204" pitchFamily="18" charset="0"/>
              </a:rPr>
              <a:t>pos_label</a:t>
            </a:r>
            <a:r>
              <a:rPr lang="zh-CN" altLang="zh-CN" sz="1800" dirty="0">
                <a:latin typeface="Cambria" panose="02040503050406030204" pitchFamily="18" charset="0"/>
              </a:rPr>
              <a:t>：字符串或整数，默认值为</a:t>
            </a:r>
            <a:r>
              <a:rPr lang="en-US" altLang="zh-CN" sz="1800" dirty="0">
                <a:latin typeface="Cambria" panose="02040503050406030204" pitchFamily="18" charset="0"/>
                <a:ea typeface="Cambria" panose="02040503050406030204" pitchFamily="18" charset="0"/>
              </a:rPr>
              <a:t>1</a:t>
            </a:r>
            <a:r>
              <a:rPr lang="zh-CN" altLang="zh-CN" sz="1800" dirty="0">
                <a:latin typeface="Cambria" panose="02040503050406030204" pitchFamily="18" charset="0"/>
              </a:rPr>
              <a:t>。指定哪个标记值为正类。</a:t>
            </a:r>
          </a:p>
          <a:p>
            <a:pPr lvl="3">
              <a:lnSpc>
                <a:spcPct val="150000"/>
              </a:lnSpc>
              <a:spcBef>
                <a:spcPts val="0"/>
              </a:spcBef>
              <a:spcAft>
                <a:spcPts val="0"/>
              </a:spcAft>
              <a:buClr>
                <a:schemeClr val="accent5"/>
              </a:buClr>
              <a:buFont typeface="Wingdings" panose="05000000000000000000" pitchFamily="2" charset="2"/>
              <a:buChar char="ü"/>
            </a:pPr>
            <a:r>
              <a:rPr lang="en-US" altLang="zh-CN" sz="1800" dirty="0">
                <a:latin typeface="Cambria" panose="02040503050406030204" pitchFamily="18" charset="0"/>
                <a:ea typeface="Cambria" panose="02040503050406030204" pitchFamily="18" charset="0"/>
              </a:rPr>
              <a:t>average</a:t>
            </a:r>
            <a:r>
              <a:rPr lang="zh-CN" altLang="zh-CN" sz="1800" dirty="0">
                <a:latin typeface="Cambria" panose="02040503050406030204" pitchFamily="18" charset="0"/>
              </a:rPr>
              <a:t>：字符串。多标签目标需要此参数。如果为</a:t>
            </a:r>
            <a:r>
              <a:rPr lang="en-US" altLang="zh-CN" sz="1800" dirty="0">
                <a:latin typeface="Cambria" panose="02040503050406030204" pitchFamily="18" charset="0"/>
                <a:ea typeface="Cambria" panose="02040503050406030204" pitchFamily="18" charset="0"/>
              </a:rPr>
              <a:t>None</a:t>
            </a:r>
            <a:r>
              <a:rPr lang="zh-CN" altLang="zh-CN" sz="1800" dirty="0">
                <a:latin typeface="Cambria" panose="02040503050406030204" pitchFamily="18" charset="0"/>
              </a:rPr>
              <a:t>，则返回每个类的得分，否则，这将确定对数据执行的平均类型：</a:t>
            </a:r>
            <a:r>
              <a:rPr lang="en-US" altLang="zh-CN" sz="1800" dirty="0">
                <a:latin typeface="Cambria" panose="02040503050406030204" pitchFamily="18" charset="0"/>
                <a:ea typeface="Cambria" panose="02040503050406030204" pitchFamily="18" charset="0"/>
              </a:rPr>
              <a:t>binary</a:t>
            </a:r>
            <a:r>
              <a:rPr lang="zh-CN" altLang="en-US" sz="1800" dirty="0">
                <a:latin typeface="Cambria" panose="02040503050406030204" pitchFamily="18" charset="0"/>
              </a:rPr>
              <a:t>、</a:t>
            </a:r>
            <a:r>
              <a:rPr lang="en-US" altLang="zh-CN" sz="1800" dirty="0">
                <a:latin typeface="Cambria" panose="02040503050406030204" pitchFamily="18" charset="0"/>
                <a:ea typeface="Cambria" panose="02040503050406030204" pitchFamily="18" charset="0"/>
              </a:rPr>
              <a:t>micro</a:t>
            </a:r>
            <a:r>
              <a:rPr lang="zh-CN" altLang="en-US" sz="1800" dirty="0">
                <a:latin typeface="Cambria" panose="02040503050406030204" pitchFamily="18" charset="0"/>
              </a:rPr>
              <a:t>、</a:t>
            </a:r>
            <a:r>
              <a:rPr lang="en-US" altLang="zh-CN" sz="1800" dirty="0">
                <a:latin typeface="Cambria" panose="02040503050406030204" pitchFamily="18" charset="0"/>
                <a:ea typeface="Cambria" panose="02040503050406030204" pitchFamily="18" charset="0"/>
              </a:rPr>
              <a:t>macro</a:t>
            </a:r>
            <a:r>
              <a:rPr lang="zh-CN" altLang="en-US" sz="1800" dirty="0">
                <a:latin typeface="Cambria" panose="02040503050406030204" pitchFamily="18" charset="0"/>
              </a:rPr>
              <a:t>、</a:t>
            </a:r>
            <a:r>
              <a:rPr lang="en-US" altLang="zh-CN" sz="1800" dirty="0">
                <a:latin typeface="Cambria" panose="02040503050406030204" pitchFamily="18" charset="0"/>
                <a:ea typeface="Cambria" panose="02040503050406030204" pitchFamily="18" charset="0"/>
              </a:rPr>
              <a:t>weighted</a:t>
            </a:r>
            <a:r>
              <a:rPr lang="zh-CN" altLang="en-US" sz="1800" dirty="0">
                <a:latin typeface="Cambria" panose="02040503050406030204" pitchFamily="18" charset="0"/>
              </a:rPr>
              <a:t>、</a:t>
            </a:r>
            <a:r>
              <a:rPr lang="en-US" altLang="zh-CN" sz="1800" dirty="0">
                <a:latin typeface="Cambria" panose="02040503050406030204" pitchFamily="18" charset="0"/>
                <a:ea typeface="Cambria" panose="02040503050406030204" pitchFamily="18" charset="0"/>
              </a:rPr>
              <a:t>samples</a:t>
            </a:r>
            <a:r>
              <a:rPr lang="zh-CN" altLang="en-US" sz="1800" dirty="0">
                <a:latin typeface="Cambria" panose="02040503050406030204" pitchFamily="18" charset="0"/>
              </a:rPr>
              <a:t>。</a:t>
            </a:r>
            <a:endParaRPr lang="en-US" altLang="zh-CN" sz="1800" dirty="0">
              <a:latin typeface="Cambria" panose="02040503050406030204" pitchFamily="18" charset="0"/>
              <a:ea typeface="Cambria" panose="02040503050406030204" pitchFamily="18" charset="0"/>
            </a:endParaRPr>
          </a:p>
          <a:p>
            <a:pPr marL="914400" lvl="2" indent="0">
              <a:lnSpc>
                <a:spcPct val="150000"/>
              </a:lnSpc>
              <a:spcBef>
                <a:spcPts val="0"/>
              </a:spcBef>
              <a:spcAft>
                <a:spcPts val="0"/>
              </a:spcAft>
              <a:buNone/>
            </a:pPr>
            <a:r>
              <a:rPr lang="zh-CN" altLang="zh-CN" dirty="0">
                <a:latin typeface="Cambria" panose="02040503050406030204" pitchFamily="18" charset="0"/>
              </a:rPr>
              <a:t>返回值：浮点型，分类精度。</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Cambria" panose="02040503050406030204" pitchFamily="18" charset="0"/>
                <a:ea typeface="Cambria" panose="02040503050406030204" pitchFamily="18" charset="0"/>
              </a:rPr>
              <a:t>scikit</a:t>
            </a:r>
            <a:r>
              <a:rPr lang="en-US" altLang="zh-CN" dirty="0">
                <a:latin typeface="Cambria" panose="02040503050406030204" pitchFamily="18" charset="0"/>
                <a:ea typeface="Cambria" panose="02040503050406030204" pitchFamily="18" charset="0"/>
              </a:rPr>
              <a:t>-learn</a:t>
            </a:r>
            <a:r>
              <a:rPr lang="zh-CN" altLang="zh-CN" dirty="0">
                <a:latin typeface="Cambria" panose="02040503050406030204" pitchFamily="18" charset="0"/>
              </a:rPr>
              <a:t>库函数</a:t>
            </a:r>
            <a:endParaRPr lang="zh-CN" altLang="en-US" dirty="0">
              <a:latin typeface="Cambria" panose="02040503050406030204" pitchFamily="18" charset="0"/>
            </a:endParaRPr>
          </a:p>
        </p:txBody>
      </p:sp>
      <p:sp>
        <p:nvSpPr>
          <p:cNvPr id="11" name="内容占位符 2"/>
          <p:cNvSpPr txBox="1"/>
          <p:nvPr/>
        </p:nvSpPr>
        <p:spPr>
          <a:xfrm>
            <a:off x="1221612" y="887910"/>
            <a:ext cx="9793088" cy="1066144"/>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457200" lvl="1" indent="0">
              <a:lnSpc>
                <a:spcPct val="150000"/>
              </a:lnSpc>
              <a:spcBef>
                <a:spcPts val="0"/>
              </a:spcBef>
              <a:spcAft>
                <a:spcPts val="0"/>
              </a:spcAft>
              <a:buNone/>
            </a:pPr>
            <a:r>
              <a:rPr lang="en-US" altLang="zh-CN" sz="2000" dirty="0">
                <a:latin typeface="Cambria" panose="02040503050406030204" pitchFamily="18" charset="0"/>
                <a:ea typeface="Cambria" panose="02040503050406030204" pitchFamily="18" charset="0"/>
              </a:rPr>
              <a:t>3</a:t>
            </a:r>
            <a:r>
              <a:rPr lang="zh-CN" altLang="en-US" sz="2000" dirty="0">
                <a:latin typeface="Cambria" panose="02040503050406030204" pitchFamily="18" charset="0"/>
                <a:ea typeface="Cambria" panose="02040503050406030204" pitchFamily="18" charset="0"/>
              </a:rPr>
              <a:t>、</a:t>
            </a:r>
            <a:r>
              <a:rPr lang="en-US" altLang="zh-CN" sz="2000" b="1" dirty="0" err="1">
                <a:solidFill>
                  <a:srgbClr val="00B050"/>
                </a:solidFill>
                <a:latin typeface="Cambria" panose="02040503050406030204" pitchFamily="18" charset="0"/>
                <a:ea typeface="Cambria" panose="02040503050406030204" pitchFamily="18" charset="0"/>
              </a:rPr>
              <a:t>recall_score</a:t>
            </a:r>
            <a:r>
              <a:rPr lang="zh-CN" altLang="en-US" sz="2000" b="1" dirty="0">
                <a:solidFill>
                  <a:srgbClr val="00B050"/>
                </a:solidFill>
                <a:latin typeface="Cambria" panose="02040503050406030204" pitchFamily="18" charset="0"/>
              </a:rPr>
              <a:t>：</a:t>
            </a:r>
            <a:r>
              <a:rPr lang="zh-CN" altLang="en-US" sz="2000" dirty="0">
                <a:latin typeface="Cambria" panose="02040503050406030204" pitchFamily="18" charset="0"/>
              </a:rPr>
              <a:t>用于</a:t>
            </a:r>
            <a:r>
              <a:rPr lang="zh-CN" altLang="zh-CN" sz="2000" dirty="0">
                <a:latin typeface="Cambria" panose="02040503050406030204" pitchFamily="18" charset="0"/>
              </a:rPr>
              <a:t>计算分类结果的召回率，其值为</a:t>
            </a:r>
            <a:r>
              <a:rPr lang="en-US" altLang="zh-CN" sz="2000" dirty="0">
                <a:latin typeface="Cambria" panose="02040503050406030204" pitchFamily="18" charset="0"/>
                <a:ea typeface="Cambria" panose="02040503050406030204" pitchFamily="18" charset="0"/>
              </a:rPr>
              <a:t>TP/(TP + FN)</a:t>
            </a:r>
            <a:r>
              <a:rPr lang="zh-CN" altLang="zh-CN" sz="2000" dirty="0">
                <a:latin typeface="Cambria" panose="02040503050406030204" pitchFamily="18" charset="0"/>
              </a:rPr>
              <a:t>，其中</a:t>
            </a:r>
            <a:r>
              <a:rPr lang="en-US" altLang="zh-CN" sz="2000" dirty="0">
                <a:latin typeface="Cambria" panose="02040503050406030204" pitchFamily="18" charset="0"/>
                <a:ea typeface="Cambria" panose="02040503050406030204" pitchFamily="18" charset="0"/>
              </a:rPr>
              <a:t>TP</a:t>
            </a:r>
            <a:r>
              <a:rPr lang="zh-CN" altLang="zh-CN" sz="2000" dirty="0">
                <a:latin typeface="Cambria" panose="02040503050406030204" pitchFamily="18" charset="0"/>
              </a:rPr>
              <a:t>是真正的正例数目，</a:t>
            </a:r>
            <a:r>
              <a:rPr lang="en-US" altLang="zh-CN" sz="2000" dirty="0">
                <a:latin typeface="Cambria" panose="02040503050406030204" pitchFamily="18" charset="0"/>
                <a:ea typeface="Cambria" panose="02040503050406030204" pitchFamily="18" charset="0"/>
              </a:rPr>
              <a:t>FN</a:t>
            </a:r>
            <a:r>
              <a:rPr lang="zh-CN" altLang="zh-CN" sz="2000" dirty="0">
                <a:latin typeface="Cambria" panose="02040503050406030204" pitchFamily="18" charset="0"/>
              </a:rPr>
              <a:t>是假阴性的数量。其函数原型为：</a:t>
            </a:r>
          </a:p>
        </p:txBody>
      </p:sp>
      <p:sp>
        <p:nvSpPr>
          <p:cNvPr id="15" name="矩形 14"/>
          <p:cNvSpPr/>
          <p:nvPr/>
        </p:nvSpPr>
        <p:spPr>
          <a:xfrm>
            <a:off x="1539433" y="1988840"/>
            <a:ext cx="10171402" cy="7920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16" name="内容占位符 2"/>
          <p:cNvSpPr txBox="1"/>
          <p:nvPr/>
        </p:nvSpPr>
        <p:spPr>
          <a:xfrm>
            <a:off x="1686800" y="2132572"/>
            <a:ext cx="10413653" cy="432048"/>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r>
              <a:rPr lang="en-US" altLang="zh-CN" dirty="0" err="1">
                <a:solidFill>
                  <a:schemeClr val="bg1"/>
                </a:solidFill>
                <a:latin typeface="Cambria" panose="02040503050406030204" pitchFamily="18" charset="0"/>
                <a:ea typeface="Cambria" panose="02040503050406030204" pitchFamily="18" charset="0"/>
              </a:rPr>
              <a:t>sklearn.metrics.recall_score</a:t>
            </a:r>
            <a:r>
              <a:rPr lang="en-US" altLang="zh-CN" dirty="0">
                <a:solidFill>
                  <a:schemeClr val="bg1"/>
                </a:solidFill>
                <a:latin typeface="Cambria" panose="02040503050406030204" pitchFamily="18" charset="0"/>
                <a:ea typeface="Cambria" panose="02040503050406030204" pitchFamily="18" charset="0"/>
              </a:rPr>
              <a:t>(</a:t>
            </a:r>
            <a:r>
              <a:rPr lang="en-US" altLang="zh-CN" dirty="0" err="1">
                <a:solidFill>
                  <a:schemeClr val="bg1"/>
                </a:solidFill>
                <a:latin typeface="Cambria" panose="02040503050406030204" pitchFamily="18" charset="0"/>
                <a:ea typeface="Cambria" panose="02040503050406030204" pitchFamily="18" charset="0"/>
              </a:rPr>
              <a:t>y_true</a:t>
            </a:r>
            <a:r>
              <a:rPr lang="en-US" altLang="zh-CN" dirty="0">
                <a:solidFill>
                  <a:schemeClr val="bg1"/>
                </a:solidFill>
                <a:latin typeface="Cambria" panose="02040503050406030204" pitchFamily="18" charset="0"/>
                <a:ea typeface="Cambria" panose="02040503050406030204" pitchFamily="18" charset="0"/>
              </a:rPr>
              <a:t>, </a:t>
            </a:r>
            <a:r>
              <a:rPr lang="en-US" altLang="zh-CN" dirty="0" err="1">
                <a:solidFill>
                  <a:schemeClr val="bg1"/>
                </a:solidFill>
                <a:latin typeface="Cambria" panose="02040503050406030204" pitchFamily="18" charset="0"/>
                <a:ea typeface="Cambria" panose="02040503050406030204" pitchFamily="18" charset="0"/>
              </a:rPr>
              <a:t>y_pred</a:t>
            </a:r>
            <a:r>
              <a:rPr lang="en-US" altLang="zh-CN" dirty="0">
                <a:solidFill>
                  <a:schemeClr val="bg1"/>
                </a:solidFill>
                <a:latin typeface="Cambria" panose="02040503050406030204" pitchFamily="18" charset="0"/>
                <a:ea typeface="Cambria" panose="02040503050406030204" pitchFamily="18" charset="0"/>
              </a:rPr>
              <a:t>, labels=None, </a:t>
            </a:r>
            <a:r>
              <a:rPr lang="en-US" altLang="zh-CN" dirty="0" err="1">
                <a:solidFill>
                  <a:schemeClr val="bg1"/>
                </a:solidFill>
                <a:latin typeface="Cambria" panose="02040503050406030204" pitchFamily="18" charset="0"/>
                <a:ea typeface="Cambria" panose="02040503050406030204" pitchFamily="18" charset="0"/>
              </a:rPr>
              <a:t>pos_label</a:t>
            </a:r>
            <a:r>
              <a:rPr lang="en-US" altLang="zh-CN" dirty="0">
                <a:solidFill>
                  <a:schemeClr val="bg1"/>
                </a:solidFill>
                <a:latin typeface="Cambria" panose="02040503050406030204" pitchFamily="18" charset="0"/>
                <a:ea typeface="Cambria" panose="02040503050406030204" pitchFamily="18" charset="0"/>
              </a:rPr>
              <a:t>=1, average=’binary’, </a:t>
            </a:r>
            <a:r>
              <a:rPr lang="en-US" altLang="zh-CN" dirty="0" err="1">
                <a:solidFill>
                  <a:schemeClr val="bg1"/>
                </a:solidFill>
                <a:latin typeface="Cambria" panose="02040503050406030204" pitchFamily="18" charset="0"/>
                <a:ea typeface="Cambria" panose="02040503050406030204" pitchFamily="18" charset="0"/>
              </a:rPr>
              <a:t>sample_weight</a:t>
            </a:r>
            <a:r>
              <a:rPr lang="en-US" altLang="zh-CN" dirty="0">
                <a:solidFill>
                  <a:schemeClr val="bg1"/>
                </a:solidFill>
                <a:latin typeface="Cambria" panose="02040503050406030204" pitchFamily="18" charset="0"/>
                <a:ea typeface="Cambria" panose="02040503050406030204" pitchFamily="18" charset="0"/>
              </a:rPr>
              <a:t>=None)</a:t>
            </a:r>
            <a:endParaRPr lang="zh-CN" altLang="zh-CN" dirty="0">
              <a:solidFill>
                <a:schemeClr val="bg1"/>
              </a:solidFill>
              <a:latin typeface="Cambria" panose="02040503050406030204" pitchFamily="18" charset="0"/>
            </a:endParaRPr>
          </a:p>
        </p:txBody>
      </p:sp>
      <p:sp>
        <p:nvSpPr>
          <p:cNvPr id="17" name="内容占位符 2"/>
          <p:cNvSpPr txBox="1"/>
          <p:nvPr/>
        </p:nvSpPr>
        <p:spPr>
          <a:xfrm>
            <a:off x="999942" y="2969568"/>
            <a:ext cx="10838886" cy="387425"/>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914400" lvl="2" indent="0">
              <a:buNone/>
            </a:pPr>
            <a:r>
              <a:rPr lang="zh-CN" altLang="zh-CN" dirty="0">
                <a:latin typeface="Cambria" panose="02040503050406030204" pitchFamily="18" charset="0"/>
              </a:rPr>
              <a:t>其参数与</a:t>
            </a:r>
            <a:r>
              <a:rPr lang="en-US" altLang="zh-CN" dirty="0" err="1">
                <a:latin typeface="Cambria" panose="02040503050406030204" pitchFamily="18" charset="0"/>
                <a:ea typeface="Cambria" panose="02040503050406030204" pitchFamily="18" charset="0"/>
              </a:rPr>
              <a:t>sklearn.metrics.precision_score</a:t>
            </a:r>
            <a:r>
              <a:rPr lang="zh-CN" altLang="zh-CN" dirty="0">
                <a:latin typeface="Cambria" panose="02040503050406030204" pitchFamily="18" charset="0"/>
              </a:rPr>
              <a:t>类似，此处不再赘述。</a:t>
            </a:r>
          </a:p>
        </p:txBody>
      </p:sp>
      <p:sp>
        <p:nvSpPr>
          <p:cNvPr id="8" name="内容占位符 2"/>
          <p:cNvSpPr txBox="1"/>
          <p:nvPr/>
        </p:nvSpPr>
        <p:spPr>
          <a:xfrm>
            <a:off x="1222144" y="3255968"/>
            <a:ext cx="10969856" cy="1066144"/>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457200" lvl="1" indent="0">
              <a:lnSpc>
                <a:spcPct val="120000"/>
              </a:lnSpc>
              <a:buNone/>
            </a:pPr>
            <a:r>
              <a:rPr lang="en-US" altLang="zh-CN" dirty="0">
                <a:latin typeface="Cambria" panose="02040503050406030204" pitchFamily="18" charset="0"/>
                <a:ea typeface="Cambria" panose="02040503050406030204" pitchFamily="18" charset="0"/>
              </a:rPr>
              <a:t>4</a:t>
            </a:r>
            <a:r>
              <a:rPr lang="zh-CN" altLang="en-US" dirty="0">
                <a:latin typeface="Cambria" panose="02040503050406030204" pitchFamily="18" charset="0"/>
                <a:ea typeface="Cambria" panose="02040503050406030204" pitchFamily="18" charset="0"/>
              </a:rPr>
              <a:t>、</a:t>
            </a:r>
            <a:r>
              <a:rPr lang="en-US" altLang="zh-CN" sz="2000" b="1" dirty="0" err="1">
                <a:solidFill>
                  <a:srgbClr val="00B050"/>
                </a:solidFill>
                <a:latin typeface="Cambria" panose="02040503050406030204" pitchFamily="18" charset="0"/>
                <a:ea typeface="Cambria" panose="02040503050406030204" pitchFamily="18" charset="0"/>
              </a:rPr>
              <a:t>classification_report</a:t>
            </a:r>
            <a:r>
              <a:rPr lang="zh-CN" altLang="en-US" sz="2000" b="1" dirty="0">
                <a:solidFill>
                  <a:srgbClr val="00B050"/>
                </a:solidFill>
                <a:latin typeface="Cambria" panose="02040503050406030204" pitchFamily="18" charset="0"/>
              </a:rPr>
              <a:t>：</a:t>
            </a:r>
            <a:r>
              <a:rPr lang="zh-CN" altLang="zh-CN" sz="2000" dirty="0">
                <a:latin typeface="Cambria" panose="02040503050406030204" pitchFamily="18" charset="0"/>
              </a:rPr>
              <a:t>以文本的方式给出分类结果的主要预测性能指标。其函数原型为：</a:t>
            </a:r>
          </a:p>
        </p:txBody>
      </p:sp>
      <p:sp>
        <p:nvSpPr>
          <p:cNvPr id="9" name="矩形 8"/>
          <p:cNvSpPr/>
          <p:nvPr/>
        </p:nvSpPr>
        <p:spPr>
          <a:xfrm>
            <a:off x="1377386" y="4024258"/>
            <a:ext cx="10665887" cy="7920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Cambria" panose="02040503050406030204" pitchFamily="18" charset="0"/>
            </a:endParaRPr>
          </a:p>
        </p:txBody>
      </p:sp>
      <p:sp>
        <p:nvSpPr>
          <p:cNvPr id="10" name="内容占位符 2"/>
          <p:cNvSpPr txBox="1"/>
          <p:nvPr/>
        </p:nvSpPr>
        <p:spPr>
          <a:xfrm>
            <a:off x="1377385" y="4148796"/>
            <a:ext cx="10665887" cy="432048"/>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buNone/>
            </a:pPr>
            <a:r>
              <a:rPr lang="en-US" altLang="zh-CN" sz="1800" dirty="0" err="1">
                <a:solidFill>
                  <a:schemeClr val="bg1"/>
                </a:solidFill>
                <a:latin typeface="Cambria" panose="02040503050406030204" pitchFamily="18" charset="0"/>
                <a:ea typeface="Cambria" panose="02040503050406030204" pitchFamily="18" charset="0"/>
              </a:rPr>
              <a:t>sklearn.metrics</a:t>
            </a:r>
            <a:r>
              <a:rPr lang="en-US" altLang="zh-CN" sz="1800" dirty="0">
                <a:solidFill>
                  <a:schemeClr val="bg1"/>
                </a:solidFill>
                <a:latin typeface="Cambria" panose="02040503050406030204" pitchFamily="18" charset="0"/>
                <a:ea typeface="Cambria" panose="02040503050406030204" pitchFamily="18" charset="0"/>
              </a:rPr>
              <a:t>. </a:t>
            </a:r>
            <a:r>
              <a:rPr lang="en-US" altLang="zh-CN" sz="1800" dirty="0" err="1">
                <a:solidFill>
                  <a:schemeClr val="bg1"/>
                </a:solidFill>
                <a:latin typeface="Cambria" panose="02040503050406030204" pitchFamily="18" charset="0"/>
                <a:ea typeface="Cambria" panose="02040503050406030204" pitchFamily="18" charset="0"/>
              </a:rPr>
              <a:t>classification_report</a:t>
            </a:r>
            <a:r>
              <a:rPr lang="en-US" altLang="zh-CN" sz="1800" dirty="0">
                <a:solidFill>
                  <a:schemeClr val="bg1"/>
                </a:solidFill>
                <a:latin typeface="Cambria" panose="02040503050406030204" pitchFamily="18" charset="0"/>
                <a:ea typeface="Cambria" panose="02040503050406030204" pitchFamily="18" charset="0"/>
              </a:rPr>
              <a:t>(</a:t>
            </a:r>
            <a:r>
              <a:rPr lang="en-US" altLang="zh-CN" sz="1800" dirty="0" err="1">
                <a:solidFill>
                  <a:schemeClr val="bg1"/>
                </a:solidFill>
                <a:latin typeface="Cambria" panose="02040503050406030204" pitchFamily="18" charset="0"/>
                <a:ea typeface="Cambria" panose="02040503050406030204" pitchFamily="18" charset="0"/>
              </a:rPr>
              <a:t>y_true</a:t>
            </a:r>
            <a:r>
              <a:rPr lang="en-US" altLang="zh-CN" sz="1800" dirty="0">
                <a:solidFill>
                  <a:schemeClr val="bg1"/>
                </a:solidFill>
                <a:latin typeface="Cambria" panose="02040503050406030204" pitchFamily="18" charset="0"/>
                <a:ea typeface="Cambria" panose="02040503050406030204" pitchFamily="18" charset="0"/>
              </a:rPr>
              <a:t>, </a:t>
            </a:r>
            <a:r>
              <a:rPr lang="en-US" altLang="zh-CN" sz="1800" dirty="0" err="1">
                <a:solidFill>
                  <a:schemeClr val="bg1"/>
                </a:solidFill>
                <a:latin typeface="Cambria" panose="02040503050406030204" pitchFamily="18" charset="0"/>
                <a:ea typeface="Cambria" panose="02040503050406030204" pitchFamily="18" charset="0"/>
              </a:rPr>
              <a:t>y_pred</a:t>
            </a:r>
            <a:r>
              <a:rPr lang="en-US" altLang="zh-CN" sz="1800" dirty="0">
                <a:solidFill>
                  <a:schemeClr val="bg1"/>
                </a:solidFill>
                <a:latin typeface="Cambria" panose="02040503050406030204" pitchFamily="18" charset="0"/>
                <a:ea typeface="Cambria" panose="02040503050406030204" pitchFamily="18" charset="0"/>
              </a:rPr>
              <a:t>, labels=None, </a:t>
            </a:r>
            <a:r>
              <a:rPr lang="en-US" altLang="zh-CN" sz="1800" dirty="0" err="1">
                <a:solidFill>
                  <a:schemeClr val="bg1"/>
                </a:solidFill>
                <a:latin typeface="Cambria" panose="02040503050406030204" pitchFamily="18" charset="0"/>
                <a:ea typeface="Cambria" panose="02040503050406030204" pitchFamily="18" charset="0"/>
              </a:rPr>
              <a:t>target_names</a:t>
            </a:r>
            <a:r>
              <a:rPr lang="en-US" altLang="zh-CN" sz="1800" dirty="0">
                <a:solidFill>
                  <a:schemeClr val="bg1"/>
                </a:solidFill>
                <a:latin typeface="Cambria" panose="02040503050406030204" pitchFamily="18" charset="0"/>
                <a:ea typeface="Cambria" panose="02040503050406030204" pitchFamily="18" charset="0"/>
              </a:rPr>
              <a:t>=None, </a:t>
            </a:r>
            <a:r>
              <a:rPr lang="en-US" altLang="zh-CN" sz="1800" dirty="0" err="1">
                <a:solidFill>
                  <a:schemeClr val="bg1"/>
                </a:solidFill>
                <a:latin typeface="Cambria" panose="02040503050406030204" pitchFamily="18" charset="0"/>
                <a:ea typeface="Cambria" panose="02040503050406030204" pitchFamily="18" charset="0"/>
              </a:rPr>
              <a:t>sample_weight</a:t>
            </a:r>
            <a:r>
              <a:rPr lang="en-US" altLang="zh-CN" sz="1800" dirty="0">
                <a:solidFill>
                  <a:schemeClr val="bg1"/>
                </a:solidFill>
                <a:latin typeface="Cambria" panose="02040503050406030204" pitchFamily="18" charset="0"/>
                <a:ea typeface="Cambria" panose="02040503050406030204" pitchFamily="18" charset="0"/>
              </a:rPr>
              <a:t>=None, digits=2)</a:t>
            </a:r>
            <a:endParaRPr lang="zh-CN" altLang="zh-CN" sz="1800" dirty="0">
              <a:solidFill>
                <a:schemeClr val="bg1"/>
              </a:solidFill>
              <a:latin typeface="Cambria" panose="02040503050406030204" pitchFamily="18" charset="0"/>
            </a:endParaRPr>
          </a:p>
        </p:txBody>
      </p:sp>
      <p:pic>
        <p:nvPicPr>
          <p:cNvPr id="12" name="图片 11"/>
          <p:cNvPicPr>
            <a:picLocks noChangeAspect="1"/>
          </p:cNvPicPr>
          <p:nvPr/>
        </p:nvPicPr>
        <p:blipFill>
          <a:blip r:embed="rId2"/>
          <a:stretch>
            <a:fillRect/>
          </a:stretch>
        </p:blipFill>
        <p:spPr>
          <a:xfrm>
            <a:off x="2819937" y="4977114"/>
            <a:ext cx="9223335" cy="1501016"/>
          </a:xfrm>
          <a:prstGeom prst="rect">
            <a:avLst/>
          </a:prstGeom>
        </p:spPr>
      </p:pic>
      <p:sp>
        <p:nvSpPr>
          <p:cNvPr id="13" name="内容占位符 2"/>
          <p:cNvSpPr txBox="1"/>
          <p:nvPr/>
        </p:nvSpPr>
        <p:spPr>
          <a:xfrm>
            <a:off x="1686800" y="4852150"/>
            <a:ext cx="2067407" cy="1066144"/>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457200" lvl="1" indent="0">
              <a:lnSpc>
                <a:spcPct val="120000"/>
              </a:lnSpc>
              <a:buNone/>
            </a:pPr>
            <a:r>
              <a:rPr lang="zh-CN" altLang="en-US" dirty="0">
                <a:latin typeface="Cambria" panose="02040503050406030204" pitchFamily="18" charset="0"/>
              </a:rPr>
              <a:t>示例：</a:t>
            </a:r>
            <a:endParaRPr lang="zh-CN" altLang="zh-CN" dirty="0">
              <a:latin typeface="Cambria" panose="020405030504060302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Cambria" panose="02040503050406030204" pitchFamily="18" charset="0"/>
                <a:ea typeface="Cambria" panose="02040503050406030204" pitchFamily="18" charset="0"/>
              </a:rPr>
              <a:t> </a:t>
            </a:r>
            <a:r>
              <a:rPr lang="en-US" altLang="zh-CN" dirty="0" err="1">
                <a:latin typeface="Cambria" panose="02040503050406030204" pitchFamily="18" charset="0"/>
                <a:ea typeface="Cambria" panose="02040503050406030204" pitchFamily="18" charset="0"/>
              </a:rPr>
              <a:t>scikit</a:t>
            </a:r>
            <a:r>
              <a:rPr lang="en-US" altLang="zh-CN" dirty="0">
                <a:latin typeface="Cambria" panose="02040503050406030204" pitchFamily="18" charset="0"/>
                <a:ea typeface="Cambria" panose="02040503050406030204" pitchFamily="18" charset="0"/>
              </a:rPr>
              <a:t>-learn</a:t>
            </a:r>
            <a:r>
              <a:rPr lang="zh-CN" altLang="zh-CN" dirty="0">
                <a:latin typeface="Cambria" panose="02040503050406030204" pitchFamily="18" charset="0"/>
              </a:rPr>
              <a:t>库函数</a:t>
            </a:r>
            <a:endParaRPr lang="zh-CN" altLang="en-US" dirty="0">
              <a:latin typeface="Cambria" panose="02040503050406030204" pitchFamily="18" charset="0"/>
            </a:endParaRPr>
          </a:p>
        </p:txBody>
      </p:sp>
      <mc:AlternateContent xmlns:mc="http://schemas.openxmlformats.org/markup-compatibility/2006" xmlns:a14="http://schemas.microsoft.com/office/drawing/2010/main">
        <mc:Choice Requires="a14">
          <p:sp>
            <p:nvSpPr>
              <p:cNvPr id="8" name="内容占位符 2"/>
              <p:cNvSpPr txBox="1"/>
              <p:nvPr/>
            </p:nvSpPr>
            <p:spPr>
              <a:xfrm>
                <a:off x="1222144" y="3255968"/>
                <a:ext cx="10368620" cy="3125360"/>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lvl="1">
                  <a:lnSpc>
                    <a:spcPct val="120000"/>
                  </a:lnSpc>
                  <a:buFont typeface="Arial" panose="020B0604020202020204" pitchFamily="34" charset="0"/>
                  <a:buChar char="•"/>
                </a:pPr>
                <a:r>
                  <a:rPr lang="zh-CN" altLang="zh-CN" sz="2000" dirty="0">
                    <a:latin typeface="Cambria" panose="02040503050406030204" pitchFamily="18" charset="0"/>
                  </a:rPr>
                  <a:t>其他性能度量函数</a:t>
                </a:r>
                <a:endParaRPr lang="en-US" altLang="zh-CN" sz="2000" dirty="0">
                  <a:latin typeface="Cambria" panose="02040503050406030204" pitchFamily="18" charset="0"/>
                  <a:ea typeface="Cambria" panose="02040503050406030204" pitchFamily="18" charset="0"/>
                </a:endParaRPr>
              </a:p>
              <a:p>
                <a:pPr lvl="2">
                  <a:lnSpc>
                    <a:spcPct val="120000"/>
                  </a:lnSpc>
                  <a:buClr>
                    <a:schemeClr val="accent5"/>
                  </a:buClr>
                  <a:buSzPct val="144000"/>
                  <a:buFont typeface="Wingdings" panose="05000000000000000000" pitchFamily="2" charset="2"/>
                  <a:buChar char="ü"/>
                </a:pPr>
                <a:r>
                  <a:rPr lang="zh-CN" altLang="zh-CN" sz="2000" dirty="0">
                    <a:latin typeface="Cambria" panose="02040503050406030204" pitchFamily="18" charset="0"/>
                  </a:rPr>
                  <a:t>计算分类结果的</a:t>
                </a:r>
                <a14:m>
                  <m:oMath xmlns:m="http://schemas.openxmlformats.org/officeDocument/2006/math">
                    <m:sSub>
                      <m:sSubPr>
                        <m:ctrlPr>
                          <a:rPr lang="zh-CN" altLang="zh-CN" sz="2000" i="1">
                            <a:latin typeface="Cambria Math" panose="02040503050406030204" pitchFamily="18" charset="0"/>
                          </a:rPr>
                        </m:ctrlPr>
                      </m:sSubPr>
                      <m:e>
                        <m:r>
                          <m:rPr>
                            <m:sty m:val="p"/>
                          </m:rPr>
                          <a:rPr lang="en-US" altLang="zh-CN" sz="2000" i="0">
                            <a:latin typeface="Cambria Math" panose="02040503050406030204" pitchFamily="18" charset="0"/>
                          </a:rPr>
                          <m:t>F</m:t>
                        </m:r>
                      </m:e>
                      <m:sub>
                        <m:r>
                          <a:rPr lang="en-US" altLang="zh-CN" sz="2000" i="0">
                            <a:latin typeface="Cambria Math" panose="02040503050406030204" pitchFamily="18" charset="0"/>
                          </a:rPr>
                          <m:t>1</m:t>
                        </m:r>
                      </m:sub>
                    </m:sSub>
                  </m:oMath>
                </a14:m>
                <a:r>
                  <a:rPr lang="zh-CN" altLang="zh-CN" sz="2000" dirty="0">
                    <a:latin typeface="Cambria" panose="02040503050406030204" pitchFamily="18" charset="0"/>
                  </a:rPr>
                  <a:t>值的</a:t>
                </a:r>
                <a:r>
                  <a:rPr lang="en-US" altLang="zh-CN" sz="2000" dirty="0">
                    <a:latin typeface="Cambria" panose="02040503050406030204" pitchFamily="18" charset="0"/>
                    <a:ea typeface="Cambria" panose="02040503050406030204" pitchFamily="18" charset="0"/>
                  </a:rPr>
                  <a:t>f1_score</a:t>
                </a:r>
                <a:r>
                  <a:rPr lang="zh-CN" altLang="zh-CN" sz="2000" dirty="0">
                    <a:latin typeface="Cambria" panose="02040503050406030204" pitchFamily="18" charset="0"/>
                  </a:rPr>
                  <a:t>；</a:t>
                </a:r>
                <a:endParaRPr lang="en-US" altLang="zh-CN" sz="2000" dirty="0">
                  <a:latin typeface="Cambria" panose="02040503050406030204" pitchFamily="18" charset="0"/>
                  <a:ea typeface="Cambria" panose="02040503050406030204" pitchFamily="18" charset="0"/>
                </a:endParaRPr>
              </a:p>
              <a:p>
                <a:pPr lvl="2">
                  <a:lnSpc>
                    <a:spcPct val="120000"/>
                  </a:lnSpc>
                  <a:buClr>
                    <a:schemeClr val="accent5"/>
                  </a:buClr>
                  <a:buSzPct val="144000"/>
                  <a:buFont typeface="Wingdings" panose="05000000000000000000" pitchFamily="2" charset="2"/>
                  <a:buChar char="ü"/>
                </a:pPr>
                <a:r>
                  <a:rPr lang="zh-CN" altLang="zh-CN" sz="2000" dirty="0">
                    <a:latin typeface="Cambria" panose="02040503050406030204" pitchFamily="18" charset="0"/>
                  </a:rPr>
                  <a:t>计算分类结果的</a:t>
                </a:r>
                <a14:m>
                  <m:oMath xmlns:m="http://schemas.openxmlformats.org/officeDocument/2006/math">
                    <m:sSub>
                      <m:sSubPr>
                        <m:ctrlPr>
                          <a:rPr lang="zh-CN" altLang="zh-CN" sz="2000" i="1">
                            <a:latin typeface="Cambria Math" panose="02040503050406030204" pitchFamily="18" charset="0"/>
                          </a:rPr>
                        </m:ctrlPr>
                      </m:sSubPr>
                      <m:e>
                        <m:r>
                          <m:rPr>
                            <m:sty m:val="p"/>
                          </m:rPr>
                          <a:rPr lang="en-US" altLang="zh-CN" sz="2000">
                            <a:latin typeface="Cambria Math" panose="02040503050406030204" pitchFamily="18" charset="0"/>
                          </a:rPr>
                          <m:t>F</m:t>
                        </m:r>
                      </m:e>
                      <m:sub>
                        <m:r>
                          <a:rPr lang="en-US" altLang="zh-CN" sz="2000" i="1">
                            <a:latin typeface="Cambria Math" panose="02040503050406030204" pitchFamily="18" charset="0"/>
                          </a:rPr>
                          <m:t>𝛽</m:t>
                        </m:r>
                      </m:sub>
                    </m:sSub>
                  </m:oMath>
                </a14:m>
                <a:r>
                  <a:rPr lang="zh-CN" altLang="zh-CN" sz="2000" dirty="0">
                    <a:latin typeface="Cambria" panose="02040503050406030204" pitchFamily="18" charset="0"/>
                  </a:rPr>
                  <a:t>值的</a:t>
                </a:r>
                <a:r>
                  <a:rPr lang="en-US" altLang="zh-CN" sz="2000" dirty="0" err="1">
                    <a:latin typeface="Cambria" panose="02040503050406030204" pitchFamily="18" charset="0"/>
                    <a:ea typeface="Cambria" panose="02040503050406030204" pitchFamily="18" charset="0"/>
                  </a:rPr>
                  <a:t>fbeata_score</a:t>
                </a:r>
                <a:endParaRPr lang="en-US" altLang="zh-CN" sz="2000" dirty="0">
                  <a:latin typeface="Cambria" panose="02040503050406030204" pitchFamily="18" charset="0"/>
                  <a:ea typeface="Cambria" panose="02040503050406030204" pitchFamily="18" charset="0"/>
                </a:endParaRPr>
              </a:p>
              <a:p>
                <a:pPr lvl="2">
                  <a:lnSpc>
                    <a:spcPct val="120000"/>
                  </a:lnSpc>
                  <a:buClr>
                    <a:schemeClr val="accent5"/>
                  </a:buClr>
                  <a:buSzPct val="144000"/>
                  <a:buFont typeface="Wingdings" panose="05000000000000000000" pitchFamily="2" charset="2"/>
                  <a:buChar char="ü"/>
                </a:pPr>
                <a:r>
                  <a:rPr lang="zh-CN" altLang="zh-CN" sz="2000" dirty="0">
                    <a:latin typeface="Cambria" panose="02040503050406030204" pitchFamily="18" charset="0"/>
                  </a:rPr>
                  <a:t>计算分类结果的</a:t>
                </a:r>
                <a:r>
                  <a:rPr lang="en-US" altLang="zh-CN" sz="2000" dirty="0">
                    <a:latin typeface="Cambria" panose="02040503050406030204" pitchFamily="18" charset="0"/>
                    <a:ea typeface="Cambria" panose="02040503050406030204" pitchFamily="18" charset="0"/>
                  </a:rPr>
                  <a:t>P-R</a:t>
                </a:r>
                <a:r>
                  <a:rPr lang="zh-CN" altLang="zh-CN" sz="2000" dirty="0">
                    <a:latin typeface="Cambria" panose="02040503050406030204" pitchFamily="18" charset="0"/>
                  </a:rPr>
                  <a:t>曲线的</a:t>
                </a:r>
                <a:r>
                  <a:rPr lang="en-US" altLang="zh-CN" sz="2000" dirty="0" err="1">
                    <a:latin typeface="Cambria" panose="02040503050406030204" pitchFamily="18" charset="0"/>
                    <a:ea typeface="Cambria" panose="02040503050406030204" pitchFamily="18" charset="0"/>
                  </a:rPr>
                  <a:t>precision_recall_curve</a:t>
                </a:r>
                <a:endParaRPr lang="en-US" altLang="zh-CN" sz="2000" dirty="0">
                  <a:latin typeface="Cambria" panose="02040503050406030204" pitchFamily="18" charset="0"/>
                  <a:ea typeface="Cambria" panose="02040503050406030204" pitchFamily="18" charset="0"/>
                </a:endParaRPr>
              </a:p>
              <a:p>
                <a:pPr lvl="2">
                  <a:lnSpc>
                    <a:spcPct val="120000"/>
                  </a:lnSpc>
                  <a:buClr>
                    <a:schemeClr val="accent5"/>
                  </a:buClr>
                  <a:buSzPct val="144000"/>
                  <a:buFont typeface="Wingdings" panose="05000000000000000000" pitchFamily="2" charset="2"/>
                  <a:buChar char="ü"/>
                </a:pPr>
                <a:r>
                  <a:rPr lang="zh-CN" altLang="zh-CN" sz="2000" dirty="0">
                    <a:latin typeface="Cambria" panose="02040503050406030204" pitchFamily="18" charset="0"/>
                  </a:rPr>
                  <a:t>计算分类结果的</a:t>
                </a:r>
                <a:r>
                  <a:rPr lang="en-US" altLang="zh-CN" sz="2000" dirty="0">
                    <a:latin typeface="Cambria" panose="02040503050406030204" pitchFamily="18" charset="0"/>
                    <a:ea typeface="Cambria" panose="02040503050406030204" pitchFamily="18" charset="0"/>
                  </a:rPr>
                  <a:t>ROC</a:t>
                </a:r>
                <a:r>
                  <a:rPr lang="zh-CN" altLang="zh-CN" sz="2000" dirty="0">
                    <a:latin typeface="Cambria" panose="02040503050406030204" pitchFamily="18" charset="0"/>
                  </a:rPr>
                  <a:t>曲线的</a:t>
                </a:r>
                <a:r>
                  <a:rPr lang="en-US" altLang="zh-CN" sz="2000" dirty="0" err="1">
                    <a:latin typeface="Cambria" panose="02040503050406030204" pitchFamily="18" charset="0"/>
                    <a:ea typeface="Cambria" panose="02040503050406030204" pitchFamily="18" charset="0"/>
                  </a:rPr>
                  <a:t>roc_curve</a:t>
                </a:r>
                <a:endParaRPr lang="en-US" altLang="zh-CN" sz="2000" dirty="0">
                  <a:latin typeface="Cambria" panose="02040503050406030204" pitchFamily="18" charset="0"/>
                  <a:ea typeface="Cambria" panose="02040503050406030204" pitchFamily="18" charset="0"/>
                </a:endParaRPr>
              </a:p>
              <a:p>
                <a:pPr lvl="2">
                  <a:lnSpc>
                    <a:spcPct val="120000"/>
                  </a:lnSpc>
                  <a:buClr>
                    <a:schemeClr val="accent5"/>
                  </a:buClr>
                  <a:buSzPct val="144000"/>
                  <a:buFont typeface="Wingdings" panose="05000000000000000000" pitchFamily="2" charset="2"/>
                  <a:buChar char="ü"/>
                </a:pPr>
                <a:r>
                  <a:rPr lang="zh-CN" altLang="zh-CN" sz="2000" dirty="0">
                    <a:latin typeface="Cambria" panose="02040503050406030204" pitchFamily="18" charset="0"/>
                  </a:rPr>
                  <a:t>评价估计器在不同样本集上学习性能的函数</a:t>
                </a:r>
                <a:r>
                  <a:rPr lang="en-US" altLang="zh-CN" sz="2000" dirty="0" err="1">
                    <a:latin typeface="Cambria" panose="02040503050406030204" pitchFamily="18" charset="0"/>
                    <a:ea typeface="Cambria" panose="02040503050406030204" pitchFamily="18" charset="0"/>
                  </a:rPr>
                  <a:t>learning_curve</a:t>
                </a:r>
                <a:r>
                  <a:rPr lang="zh-CN" altLang="zh-CN" sz="2000" dirty="0">
                    <a:latin typeface="Cambria" panose="02040503050406030204" pitchFamily="18" charset="0"/>
                  </a:rPr>
                  <a:t>等等。</a:t>
                </a:r>
              </a:p>
            </p:txBody>
          </p:sp>
        </mc:Choice>
        <mc:Fallback xmlns="">
          <p:sp>
            <p:nvSpPr>
              <p:cNvPr id="8" name="内容占位符 2"/>
              <p:cNvSpPr txBox="1">
                <a:spLocks noRot="1" noChangeAspect="1" noMove="1" noResize="1" noEditPoints="1" noAdjustHandles="1" noChangeArrowheads="1" noChangeShapeType="1" noTextEdit="1"/>
              </p:cNvSpPr>
              <p:nvPr/>
            </p:nvSpPr>
            <p:spPr>
              <a:xfrm>
                <a:off x="1222144" y="3255968"/>
                <a:ext cx="10368620" cy="3125360"/>
              </a:xfrm>
              <a:prstGeom prst="rect">
                <a:avLst/>
              </a:prstGeom>
              <a:blipFill rotWithShape="1">
                <a:blip r:embed="rId2"/>
                <a:stretch>
                  <a:fillRect l="-4" t="-10" r="1" b="7"/>
                </a:stretch>
              </a:blipFill>
            </p:spPr>
            <p:txBody>
              <a:bodyPr/>
              <a:lstStyle/>
              <a:p>
                <a:r>
                  <a:rPr lang="zh-CN" altLang="en-US">
                    <a:noFill/>
                  </a:rPr>
                  <a:t> </a:t>
                </a:r>
              </a:p>
            </p:txBody>
          </p:sp>
        </mc:Fallback>
      </mc:AlternateContent>
      <p:sp>
        <p:nvSpPr>
          <p:cNvPr id="12" name="内容占位符 2"/>
          <p:cNvSpPr txBox="1"/>
          <p:nvPr/>
        </p:nvSpPr>
        <p:spPr>
          <a:xfrm>
            <a:off x="1367010" y="1124746"/>
            <a:ext cx="10489630" cy="432047"/>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457200" lvl="1" indent="0">
              <a:lnSpc>
                <a:spcPct val="120000"/>
              </a:lnSpc>
              <a:buNone/>
            </a:pPr>
            <a:r>
              <a:rPr lang="zh-CN" altLang="zh-CN" sz="2000" dirty="0">
                <a:latin typeface="Cambria" panose="02040503050406030204" pitchFamily="18" charset="0"/>
              </a:rPr>
              <a:t>运行结果如下</a:t>
            </a:r>
            <a:r>
              <a:rPr lang="zh-CN" altLang="en-US" sz="2000" dirty="0">
                <a:latin typeface="Cambria" panose="02040503050406030204" pitchFamily="18" charset="0"/>
              </a:rPr>
              <a:t>：</a:t>
            </a:r>
            <a:endParaRPr lang="en-US" altLang="zh-CN" sz="2000" dirty="0">
              <a:latin typeface="Cambria" panose="02040503050406030204" pitchFamily="18" charset="0"/>
              <a:ea typeface="Cambria" panose="02040503050406030204" pitchFamily="18" charset="0"/>
            </a:endParaRPr>
          </a:p>
        </p:txBody>
      </p:sp>
      <p:sp>
        <p:nvSpPr>
          <p:cNvPr id="13" name="矩形 12"/>
          <p:cNvSpPr/>
          <p:nvPr/>
        </p:nvSpPr>
        <p:spPr>
          <a:xfrm>
            <a:off x="4861368" y="1124746"/>
            <a:ext cx="5931770" cy="1872207"/>
          </a:xfrm>
          <a:prstGeom prst="rect">
            <a:avLst/>
          </a:prstGeom>
          <a:solidFill>
            <a:schemeClr val="tx1">
              <a:lumMod val="20000"/>
              <a:lumOff val="8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solidFill>
                <a:schemeClr val="tx1"/>
              </a:solidFill>
              <a:latin typeface="Cambria" panose="02040503050406030204" pitchFamily="18" charset="0"/>
            </a:endParaRPr>
          </a:p>
        </p:txBody>
      </p:sp>
      <p:sp>
        <p:nvSpPr>
          <p:cNvPr id="18" name="内容占位符 2"/>
          <p:cNvSpPr txBox="1"/>
          <p:nvPr/>
        </p:nvSpPr>
        <p:spPr>
          <a:xfrm>
            <a:off x="5386999" y="1351096"/>
            <a:ext cx="5228889" cy="1440160"/>
          </a:xfrm>
          <a:prstGeom prst="rect">
            <a:avLst/>
          </a:prstGeom>
        </p:spPr>
        <p:txBody>
          <a:bodyPr vert="horz" lIns="91440" tIns="45720" rIns="91440" bIns="45720" rtlCol="0" anchor="ctr">
            <a:noAutofit/>
          </a:bodyPr>
          <a:lstStyle>
            <a:lvl1pPr marL="285750" indent="-285750" algn="l" defTabSz="457200" rtl="0" eaLnBrk="1" latinLnBrk="0" hangingPunct="1">
              <a:lnSpc>
                <a:spcPct val="120000"/>
              </a:lnSpc>
              <a:spcBef>
                <a:spcPct val="20000"/>
              </a:spcBef>
              <a:spcAft>
                <a:spcPts val="600"/>
              </a:spcAft>
              <a:buClr>
                <a:srgbClr val="83AA67"/>
              </a:buClr>
              <a:buSzPct val="100000"/>
              <a:buFont typeface="Wingdings" panose="05000000000000000000" pitchFamily="2" charset="2"/>
              <a:buChar char="n"/>
              <a:defRPr sz="2000" kern="1200" cap="none" baseline="0">
                <a:solidFill>
                  <a:schemeClr val="tx1"/>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pPr marL="0" indent="0">
              <a:spcBef>
                <a:spcPts val="0"/>
              </a:spcBef>
              <a:spcAft>
                <a:spcPts val="0"/>
              </a:spcAft>
              <a:buNone/>
            </a:pPr>
            <a:r>
              <a:rPr lang="en-US" altLang="zh-CN" sz="1600" dirty="0">
                <a:latin typeface="Cambria" panose="02040503050406030204" pitchFamily="18" charset="0"/>
                <a:ea typeface="Cambria" panose="02040503050406030204" pitchFamily="18" charset="0"/>
              </a:rPr>
              <a:t> precision     recall     f1-score    support</a:t>
            </a:r>
            <a:endParaRPr lang="zh-CN" altLang="zh-CN" sz="1600" dirty="0">
              <a:latin typeface="Cambria" panose="02040503050406030204" pitchFamily="18" charset="0"/>
            </a:endParaRPr>
          </a:p>
          <a:p>
            <a:pPr marL="0" indent="0">
              <a:spcBef>
                <a:spcPts val="0"/>
              </a:spcBef>
              <a:spcAft>
                <a:spcPts val="0"/>
              </a:spcAft>
              <a:buNone/>
            </a:pPr>
            <a:r>
              <a:rPr lang="en-US" altLang="zh-CN" sz="1600" dirty="0">
                <a:latin typeface="Cambria" panose="02040503050406030204" pitchFamily="18" charset="0"/>
                <a:ea typeface="Cambria" panose="02040503050406030204" pitchFamily="18" charset="0"/>
              </a:rPr>
              <a:t>     class 0       0.50      1.00      0.67         1</a:t>
            </a:r>
            <a:endParaRPr lang="zh-CN" altLang="zh-CN" sz="1600" dirty="0">
              <a:latin typeface="Cambria" panose="02040503050406030204" pitchFamily="18" charset="0"/>
            </a:endParaRPr>
          </a:p>
          <a:p>
            <a:pPr marL="0" indent="0">
              <a:spcBef>
                <a:spcPts val="0"/>
              </a:spcBef>
              <a:spcAft>
                <a:spcPts val="0"/>
              </a:spcAft>
              <a:buNone/>
            </a:pPr>
            <a:r>
              <a:rPr lang="en-US" altLang="zh-CN" sz="1600" dirty="0">
                <a:latin typeface="Cambria" panose="02040503050406030204" pitchFamily="18" charset="0"/>
                <a:ea typeface="Cambria" panose="02040503050406030204" pitchFamily="18" charset="0"/>
              </a:rPr>
              <a:t>    class 1       0.00      0.00      0.00         1</a:t>
            </a:r>
            <a:endParaRPr lang="zh-CN" altLang="zh-CN" sz="1600" dirty="0">
              <a:latin typeface="Cambria" panose="02040503050406030204" pitchFamily="18" charset="0"/>
            </a:endParaRPr>
          </a:p>
          <a:p>
            <a:pPr marL="0" indent="0">
              <a:spcBef>
                <a:spcPts val="0"/>
              </a:spcBef>
              <a:spcAft>
                <a:spcPts val="0"/>
              </a:spcAft>
              <a:buNone/>
            </a:pPr>
            <a:r>
              <a:rPr lang="en-US" altLang="zh-CN" sz="1600" dirty="0">
                <a:latin typeface="Cambria" panose="02040503050406030204" pitchFamily="18" charset="0"/>
                <a:ea typeface="Cambria" panose="02040503050406030204" pitchFamily="18" charset="0"/>
              </a:rPr>
              <a:t>    class 2       1.00      0.67      0.80         3 </a:t>
            </a:r>
            <a:endParaRPr lang="zh-CN" altLang="zh-CN" sz="1600" dirty="0">
              <a:latin typeface="Cambria" panose="02040503050406030204" pitchFamily="18" charset="0"/>
            </a:endParaRPr>
          </a:p>
          <a:p>
            <a:pPr marL="0" indent="0">
              <a:spcBef>
                <a:spcPts val="0"/>
              </a:spcBef>
              <a:spcAft>
                <a:spcPts val="0"/>
              </a:spcAft>
              <a:buNone/>
            </a:pPr>
            <a:r>
              <a:rPr lang="en-US" altLang="zh-CN" sz="1600" dirty="0" err="1">
                <a:latin typeface="Cambria" panose="02040503050406030204" pitchFamily="18" charset="0"/>
                <a:ea typeface="Cambria" panose="02040503050406030204" pitchFamily="18" charset="0"/>
              </a:rPr>
              <a:t>avg</a:t>
            </a:r>
            <a:r>
              <a:rPr lang="en-US" altLang="zh-CN" sz="1600" dirty="0">
                <a:latin typeface="Cambria" panose="02040503050406030204" pitchFamily="18" charset="0"/>
                <a:ea typeface="Cambria" panose="02040503050406030204" pitchFamily="18" charset="0"/>
              </a:rPr>
              <a:t> / total       0.70      0.60      0.61         5</a:t>
            </a:r>
            <a:endParaRPr lang="zh-CN" altLang="zh-CN" sz="1600" dirty="0">
              <a:latin typeface="Cambria" panose="020405030504060302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实例：</a:t>
            </a:r>
            <a:br>
              <a:rPr lang="en-US" altLang="zh-CN" dirty="0"/>
            </a:br>
            <a:r>
              <a:rPr lang="zh-CN" altLang="en-US" dirty="0"/>
              <a:t>基于逻辑回归实现乳腺癌预测</a:t>
            </a:r>
          </a:p>
        </p:txBody>
      </p:sp>
      <p:sp>
        <p:nvSpPr>
          <p:cNvPr id="3" name="内容占位符 2"/>
          <p:cNvSpPr>
            <a:spLocks noGrp="1"/>
          </p:cNvSpPr>
          <p:nvPr>
            <p:ph idx="1"/>
          </p:nvPr>
        </p:nvSpPr>
        <p:spPr/>
        <p:txBody>
          <a:bodyPr>
            <a:noAutofit/>
          </a:bodyPr>
          <a:lstStyle/>
          <a:p>
            <a:pPr>
              <a:lnSpc>
                <a:spcPct val="150000"/>
              </a:lnSpc>
            </a:pPr>
            <a:r>
              <a:rPr lang="zh-CN" altLang="en-US" sz="2000" dirty="0"/>
              <a:t>本节基于乳腺癌数据集介绍逻辑回归的应用，模型的构造与训练如下。</a:t>
            </a:r>
          </a:p>
          <a:p>
            <a:pPr>
              <a:lnSpc>
                <a:spcPct val="150000"/>
              </a:lnSpc>
            </a:pPr>
            <a:endParaRPr lang="zh-CN" altLang="en-US" sz="2000"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6236" y="2466931"/>
            <a:ext cx="7024824" cy="4090466"/>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实例：</a:t>
            </a:r>
            <a:br>
              <a:rPr lang="en-US" altLang="zh-CN" dirty="0"/>
            </a:br>
            <a:r>
              <a:rPr lang="zh-CN" altLang="en-US" dirty="0"/>
              <a:t>基于逻辑回归实现乳腺癌预测</a:t>
            </a:r>
          </a:p>
        </p:txBody>
      </p:sp>
      <p:sp>
        <p:nvSpPr>
          <p:cNvPr id="3" name="内容占位符 2"/>
          <p:cNvSpPr>
            <a:spLocks noGrp="1"/>
          </p:cNvSpPr>
          <p:nvPr>
            <p:ph idx="1"/>
          </p:nvPr>
        </p:nvSpPr>
        <p:spPr/>
        <p:txBody>
          <a:bodyPr>
            <a:noAutofit/>
          </a:bodyPr>
          <a:lstStyle/>
          <a:p>
            <a:pPr>
              <a:lnSpc>
                <a:spcPct val="150000"/>
              </a:lnSpc>
            </a:pPr>
            <a:r>
              <a:rPr lang="zh-CN" altLang="en-US" sz="2000" dirty="0"/>
              <a:t>据输出可知，模型在训练集上的准确率达到</a:t>
            </a:r>
            <a:r>
              <a:rPr lang="en-US" altLang="zh-CN" sz="2000" dirty="0"/>
              <a:t>0.969</a:t>
            </a:r>
            <a:r>
              <a:rPr lang="zh-CN" altLang="en-US" sz="2000" dirty="0"/>
              <a:t>，在测试集上的准确率达到</a:t>
            </a:r>
            <a:r>
              <a:rPr lang="en-US" altLang="zh-CN" sz="2000" dirty="0"/>
              <a:t>0.921</a:t>
            </a:r>
            <a:r>
              <a:rPr lang="zh-CN" altLang="en-US" sz="2000" dirty="0"/>
              <a:t>。为了进一步分析模型效果，代码清单 </a:t>
            </a:r>
            <a:r>
              <a:rPr lang="en-US" altLang="zh-CN" sz="2000"/>
              <a:t>2-2</a:t>
            </a:r>
            <a:r>
              <a:rPr lang="zh-CN" altLang="en-US" sz="2000" dirty="0"/>
              <a:t>进一步评估了模型在测试集上的准确率、召回率以及精确率。</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8340" y="2827000"/>
            <a:ext cx="6280615" cy="37686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04</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510700" y="2479491"/>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上机练习</a:t>
            </a: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300544"/>
            <a:ext cx="8015583" cy="534035"/>
          </a:xfrm>
        </p:spPr>
        <p:txBody>
          <a:bodyPr/>
          <a:lstStyle/>
          <a:p>
            <a:pPr eaLnBrk="1" fontAlgn="auto" hangingPunct="1">
              <a:defRPr/>
            </a:pPr>
            <a:r>
              <a:rPr lang="zh-CN" altLang="en-US" noProof="1"/>
              <a:t>算法练习</a:t>
            </a:r>
            <a:endParaRPr noProof="1"/>
          </a:p>
        </p:txBody>
      </p:sp>
      <p:sp>
        <p:nvSpPr>
          <p:cNvPr id="30723" name="文本框 2"/>
          <p:cNvSpPr txBox="1">
            <a:spLocks noChangeArrowheads="1"/>
          </p:cNvSpPr>
          <p:nvPr/>
        </p:nvSpPr>
        <p:spPr bwMode="auto">
          <a:xfrm>
            <a:off x="1914526" y="1427525"/>
            <a:ext cx="988695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Light" panose="020F0302020204030204" charset="0"/>
                <a:ea typeface="微软雅黑 Light" panose="020B0502040204020203" pitchFamily="34" charset="-122"/>
              </a:defRPr>
            </a:lvl1pPr>
            <a:lvl2pPr marL="742950" indent="-285750">
              <a:defRPr>
                <a:solidFill>
                  <a:schemeClr val="tx1"/>
                </a:solidFill>
                <a:latin typeface="Calibri Light" panose="020F0302020204030204" charset="0"/>
                <a:ea typeface="微软雅黑 Light" panose="020B0502040204020203" pitchFamily="34" charset="-122"/>
              </a:defRPr>
            </a:lvl2pPr>
            <a:lvl3pPr marL="1143000" indent="-228600">
              <a:defRPr>
                <a:solidFill>
                  <a:schemeClr val="tx1"/>
                </a:solidFill>
                <a:latin typeface="Calibri Light" panose="020F0302020204030204" charset="0"/>
                <a:ea typeface="微软雅黑 Light" panose="020B0502040204020203" pitchFamily="34" charset="-122"/>
              </a:defRPr>
            </a:lvl3pPr>
            <a:lvl4pPr marL="1600200" indent="-228600">
              <a:defRPr>
                <a:solidFill>
                  <a:schemeClr val="tx1"/>
                </a:solidFill>
                <a:latin typeface="Calibri Light" panose="020F0302020204030204" charset="0"/>
                <a:ea typeface="微软雅黑 Light" panose="020B0502040204020203" pitchFamily="34" charset="-122"/>
              </a:defRPr>
            </a:lvl4pPr>
            <a:lvl5pPr marL="2057400" indent="-228600">
              <a:defRPr>
                <a:solidFill>
                  <a:schemeClr val="tx1"/>
                </a:solidFill>
                <a:latin typeface="Calibri Light" panose="020F0302020204030204" charset="0"/>
                <a:ea typeface="微软雅黑 Light" panose="020B0502040204020203" pitchFamily="34" charset="-122"/>
              </a:defRPr>
            </a:lvl5pPr>
            <a:lvl6pPr marL="25146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pitchFamily="34" charset="-122"/>
              </a:defRPr>
            </a:lvl6pPr>
            <a:lvl7pPr marL="29718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pitchFamily="34" charset="-122"/>
              </a:defRPr>
            </a:lvl7pPr>
            <a:lvl8pPr marL="34290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pitchFamily="34" charset="-122"/>
              </a:defRPr>
            </a:lvl8pPr>
            <a:lvl9pPr marL="3886200" indent="-228600" eaLnBrk="0" fontAlgn="base" hangingPunct="0">
              <a:spcBef>
                <a:spcPct val="0"/>
              </a:spcBef>
              <a:spcAft>
                <a:spcPct val="0"/>
              </a:spcAft>
              <a:defRPr>
                <a:solidFill>
                  <a:schemeClr val="tx1"/>
                </a:solidFill>
                <a:latin typeface="Calibri Light" panose="020F0302020204030204" charset="0"/>
                <a:ea typeface="微软雅黑 Light" panose="020B0502040204020203" pitchFamily="34" charset="-122"/>
              </a:defRPr>
            </a:lvl9pPr>
          </a:lstStyle>
          <a:p>
            <a:pPr>
              <a:lnSpc>
                <a:spcPct val="150000"/>
              </a:lnSpc>
            </a:pP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、通过练习梯度下降算法，深刻理解算法的基本原理。</a:t>
            </a:r>
            <a:endParaRPr lang="en-US" altLang="zh-CN" sz="2800" dirty="0">
              <a:latin typeface="宋体" panose="02010600030101010101" pitchFamily="2" charset="-122"/>
              <a:ea typeface="宋体" panose="02010600030101010101" pitchFamily="2" charset="-122"/>
            </a:endParaRPr>
          </a:p>
          <a:p>
            <a:pPr>
              <a:lnSpc>
                <a:spcPct val="150000"/>
              </a:lnSpc>
            </a:pP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、通过练习乳腺癌预测实例，（</a:t>
            </a:r>
            <a:r>
              <a:rPr lang="en-US" altLang="zh-CN" sz="2800" dirty="0">
                <a:latin typeface="宋体" panose="02010600030101010101" pitchFamily="2" charset="-122"/>
                <a:ea typeface="宋体" panose="02010600030101010101" pitchFamily="2" charset="-122"/>
              </a:rPr>
              <a:t>1</a:t>
            </a:r>
            <a:r>
              <a:rPr lang="zh-CN" altLang="en-US" sz="2800" dirty="0">
                <a:latin typeface="宋体" panose="02010600030101010101" pitchFamily="2" charset="-122"/>
                <a:ea typeface="宋体" panose="02010600030101010101" pitchFamily="2" charset="-122"/>
              </a:rPr>
              <a:t>）熟悉逻辑回归模型的构造与训练（</a:t>
            </a:r>
            <a:r>
              <a:rPr lang="en-US" altLang="zh-CN" sz="28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）逐步熟悉使用</a:t>
            </a:r>
            <a:r>
              <a:rPr lang="en-US" altLang="zh-CN" sz="2800" dirty="0" err="1">
                <a:latin typeface="宋体" panose="02010600030101010101" pitchFamily="2" charset="-122"/>
                <a:ea typeface="宋体" panose="02010600030101010101" pitchFamily="2" charset="-122"/>
              </a:rPr>
              <a:t>sklearn</a:t>
            </a:r>
            <a:r>
              <a:rPr lang="zh-CN" altLang="en-US" sz="2800" dirty="0">
                <a:latin typeface="宋体" panose="02010600030101010101" pitchFamily="2" charset="-122"/>
                <a:ea typeface="宋体" panose="02010600030101010101" pitchFamily="2" charset="-122"/>
              </a:rPr>
              <a:t>进行模型评估的的基本方法。</a:t>
            </a:r>
            <a:endParaRPr lang="en-US" altLang="zh-CN" sz="2800" dirty="0">
              <a:latin typeface="宋体" panose="02010600030101010101" pitchFamily="2" charset="-122"/>
              <a:ea typeface="宋体" panose="02010600030101010101" pitchFamily="2" charset="-122"/>
            </a:endParaRPr>
          </a:p>
          <a:p>
            <a:pPr>
              <a:lnSpc>
                <a:spcPct val="150000"/>
              </a:lnSpc>
            </a:pPr>
            <a:r>
              <a:rPr lang="en-US" altLang="zh-CN" sz="2800" dirty="0">
                <a:latin typeface="宋体" panose="02010600030101010101" pitchFamily="2" charset="-122"/>
                <a:ea typeface="宋体" panose="02010600030101010101" pitchFamily="2" charset="-122"/>
              </a:rPr>
              <a:t>3</a:t>
            </a:r>
            <a:r>
              <a:rPr lang="zh-CN" altLang="en-US" sz="2800" dirty="0">
                <a:latin typeface="宋体" panose="02010600030101010101" pitchFamily="2" charset="-122"/>
                <a:ea typeface="宋体" panose="02010600030101010101" pitchFamily="2" charset="-122"/>
              </a:rPr>
              <a:t>、完成实验</a:t>
            </a:r>
            <a:r>
              <a:rPr lang="en-US" altLang="zh-CN" sz="2800">
                <a:latin typeface="宋体" panose="02010600030101010101" pitchFamily="2" charset="-122"/>
                <a:ea typeface="宋体" panose="02010600030101010101" pitchFamily="2" charset="-122"/>
              </a:rPr>
              <a:t>2</a:t>
            </a:r>
            <a:r>
              <a:rPr lang="zh-CN" altLang="en-US" sz="280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最小二乘法）的实验报告。</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00928F36-A265-4885-87F4-A9952308858E"/>
  <p:tag name="ISPRING_SCORM_RATE_SLIDES" val="1"/>
  <p:tag name="ISPRINGONLINEFOLDERID" val="0"/>
  <p:tag name="ISPRINGONLINEFOLDERPATH" val="內容清單"/>
  <p:tag name="ISPRINGCLOUDFOLDERID" val="0"/>
  <p:tag name="ISPRINGCLOUDFOLDERPATH" val="函式庫"/>
  <p:tag name="ISPRING_PRESENTER_PHOTO_0" val="png|iVBORw0KGgoAAAANSUhEUgAAAQwAAAAyCAYAAACpi+X6AAAABHNCSVQICAgIfAhkiAAAAAlwSFlz&#10;AABHGAAARxgBc4LeuQAAACV0RVh0U29mdHdhcmUATWFjcm9tZWRpYSBGaXJld29ya3MgTVggMjAw&#10;NId2rM8AAAAWdEVYdENyZWF0aW9uIFRpbWUAMDcvMzAvMTcbpQfcAAADMXByVld4nO2UQVbbQAyG&#10;Z6KpBFI8PQJH6CIH4DZZ9wblGrlMH+s+DsENypJFH+6vsSdAsQmvfZSNvsSOHXlG0i/JPx6+/0xf&#10;05fRucFnvMH5MB5uxgPO+/GwG/eHcb8f97hI42437hLIOGT+PZt/z+dfxTE+5x5/0biO2/Mr9rv0&#10;cs+n3Lr92wn7xbr9+oT9yu1ywv5Kgim9HuBkXw3gYbKvBvBrsq8q1O2XK/b72f55xX4329dK1O1r&#10;Gd52+8Wy/brbVyQ82lcyvDraLxftR/OKhOm/88z9/enn39X/7Qf7v/pY/w//3336YPmDIAiCIPgH&#10;8rvsSo/4raXEQgxvKv3TDGyUaFogKRNZX4CzSjNoWyvs/yv5zkWUTvhXA9VPlki0CrMk47QphViM&#10;uJQNHpPB1KTCkbKwiG5VJOEJNZbK3CJOYoOYecAIy0xVeFG1P4IS7VoUK1QUv00A30t8t2KeR1ZP&#10;Vs5UE7N5nki28FYLQkqM+FwbXCaywfqmS+6Rat6I9TB4vvJs8DWIXnAzBYbLxAXblllmaEyFkXNp&#10;K8RdIUg6GwpbKxieqp6/3yz6r7UOOOocQBmsRZAJKRTUMZM/5KVRG8oUsqEoTSxoXFACr1PrHk+b&#10;spcI19DDfRIqhTS8TVb8T+SuvwzSnGBbqGPwWRDGuWvA7tOYq+vipVXo7j1AWIhiNL00byqKZXIu&#10;sLd2QSu60kvIULcQoAfH5iXGzVAUVZWmGnnyOKrLnNGaUF1dsYokB/i3NgfkDe+z4LqztQpgrWZP&#10;owW/BPLOfIzteCVsirafZPEW5pQ/UQu4Vbv1H/pSIEdp/qbhQaDZdUPxzJsXNSSMQ9Hl9F/I0fsf&#10;y5ENJrG0Jj52D5RsvvxScYP8ffCaTXWWEX2D+GsbjIR3iLQueAs9f1LI527ZGwBDtHVts88/sfVq&#10;FU/MdZe21NUWf0d4raHQNPIGITDMbxOAH8NsI5z8XWSIgdhboKT5pXIUAwvEx7cHxS4NiZd9rpL6&#10;vFJabYCT5KeDQ8/eYtS/qUnz9P/H5X/pNgiCIAiCIAiCIAiCIAiCIAiCIAiCIAiCIAiCIAiCIAiC&#10;IAiCxm9LnZaLwrCmnAAAAEhta0JG+t7K/gAAAAQAAAAAAAAAAAAAAAAAAAAAAAAAAAAAAAAAAAAA&#10;AAAAAAAAAAAAAAAAAAAAAAAAAAAAAAAAAAAAAAAAAAAAAAAAKaQzoQAAHPxta1RTeJztXU9s49h5&#10;ZzY7O2vP/91iW7QXB0Ub9LCz/C+qhwCWZdnekW2NKO94tkEHEiXOKOOxd22PNxOFWTRoDgXazqVZ&#10;JEWaW9uc0p4K5NKeeilQoClaoEDPvfRY9JDc+n3fe6TIJ5IiZVmSXY53/SQ+PvLx933v9/1579Hb&#10;Dypng1pzrT9QvObDnf5A0xVD1dy2t19fcwey95gVj7aq7kA1LW9zq+UODNlrrtvuQLHU+5Yly7Lh&#10;Ne09vEZlAy7l0j+vUa+fDSoN+LW22joZSEtSR3KkJ1JD6kmH8KkvHXhbO9tQsww1h1CjSO9DbV/6&#10;Jpxx4DWrux24dWUVuoWFDb3rWV6lukV32t6GO0EBh9texV6nk+wa1dmbVFTqdLDygIq1HX6B9Rp9&#10;b7bopFqFvtWaVOywg3ajPyibXqXFKlvs6i2b3WSbXY8VW6vYyx3slexVd5X+wIJCxctUdzUqanBQ&#10;hUJlhYaFlwmZX41DRlqRVuHoKXx/Hz4dQNmWTqCmO0vMlHNiplwUZjc4ZhvSMeDyifQM6k6lXio2&#10;OsOml4KNHIuN40SwkVOwcSyGjabmRkfRGTxtBk+bwWMxeCwGj+XZjY/hLh3PtnnZ2AXUjDYc4B+y&#10;AXiPA7gmHYFyHQGMoFqgdOEzw2DChQlN1UhDs50BTUHT0tAUNK093dFJEJpmDIR2o8JqbFaGIX2b&#10;Q1qh8diXHA7oHQ6oDWC6oIsrUhM+vYRj3bGjNhZLxdWnO241Z8Jx2847bpMwuskx2oTjx6Rudag9&#10;vKhxm8MO5MBGvhhs7oxgc079mbKlnD9CN0dG2MTaI46tPPoz57HlU3qV0HlGuhHVoFBNBMU0lNQF&#10;ZSBl6ijdjUWpSmOtA6YwXZsWFSd16jjdjsWJs1N+jObO12maZDCEDIaQca7xtgllWzqTXl1Ki69E&#10;fVGDwWQwmNoMpjaDKd7TzDrgWqBGfXDcL+uA06Y+4JYCnI7AuJ3O0GlMdcEdfULLJjNoZAaNzKCR&#10;GTQyg0aOQHOTQ7MKinEM1r0Cv18iSBygtzlA2SwaijSEj6kzgKh+LECWngIQxXYhiLrn9IxUhpDK&#10;ENIZQjpDSGcBH4o1EvHhY1C4AgfyYOjHzS1Qr2+Ckr1kgV86krFjMB1IpcyhVDtpwbMIZa7weWIw&#10;1XI2MG9zMNdA4Q4oBfM0SDe8EkYtKuUL+HwkHaUnaPiwVbTMzroi6/nHrSEzJIkQEEk3LXqOjlzV&#10;yoylZvE4WlO6ubFLH9ClLoPOchhyvSm5FXKaW6FOSHbZIJsUoIcwTvt4VgQg3WAAKR1Bt/zsn8ww&#10;ctIGKqrFeN0iQgzhZHKjQEp1AUCN6lYwUCcdoE2o7dAAPUxVM6U8XT2bbrh4MXr2FsfoEdiC01h0&#10;SoKKCV5HWjSNTSP4qHPHh/J7lEStjJD+jQCvZxTrOKAx7SBt6mvTGtlNpPx0P1/AS1GdWMQEwi85&#10;+VVK57nSNsdM6+qZbefkg7LiZ065qcmPZIPI/3T8bJCApKtnsJyubznRn8gIZMBtHEjySaaPI8Jn&#10;+94IkhtzS/wPiCzzS/wPzdwQX48mzPLASzZjbDxB6pwb3x73TLAxAkxZ/qkC3ARc1V6PYSYajXTM&#10;JnGQ40mRZkqSoXPU/GM8cI8NlUHHMMyGndLLTI2B4qlubPC6RhbkFdnSSWKzaGhGIcKEGessA1m1&#10;uJdCQUlGtDQ1Di2ToWUytEw2lBkB4oeOKwxltDHNzRw4Xg+8lbb0fExqxGIolhmK5KKFUJTPi6LO&#10;UGQqFgsjzgkijmoKjgZPA4BbxVIkZY4kVzyTa56pJ4EZzMz5YLrxmadkpWzR9LAjPc8zijNpZTbv&#10;OV4taTCjoe5Mnf/IwNAY9oFshi0Nsz3J6ukzZI0WIuBESwtzdTGJ4WNQ0hVpm3/qScdZFDYPwIrR&#10;y5KSiXeFpuQ9miNT8BU/I5PsPqZjt0lu+DPujj8j9+c4dr6d7ASppxwZ7sy6jAz32MiEjHjWvEH7&#10;QrHLDpWfXa8HECUrmhilOLEJKzUlSBl6MhO43BemZ2H2G/rbOJ7J37Z6OfC8HiHDw+nOJ2dM98nT&#10;WUeUY5gGYIkrY97iYO3GLFGr0NwEBiXjZifak068I+ePg0kTDLBvMPyAhBR6xPwqGZw+PEozFBws&#10;1WIWguzBKpk1Uj5cAoP2QceSgq6xGN4LYYh+NS5ksGmep81nNdJtRDs2DMkAKfr7KQksp81AVTmo&#10;jipEIV3uSbOIZ4wdBtVlsFocV4sB6/DlWg4H1rFErwY/NP0PowuPmsEH3w1vNLnlbjb9QNAeDWri&#10;RHEjCP9mAL/WzQS/EMgE6KdmpxM8Sp17lDrDXnMY9lRqVBLSDMVYpMmII8Ck6E2m+FnhXQ7gPSXP&#10;ExfqnGTxf/zUvz8lpbR7552S4oxhCIwRZVbkWwRXSQHX1POB6wOnuIEnSQCq45ni3fhIm09aZePf&#10;0oT8m8lM8QDIbQszKRxOvROhXz2Ofn04RZ4w+DyowSdCoYxOTTFfvckAtZucmvl3BFpxYyn5Fgf6&#10;EY33Hk9v0AJPISjKtk5BmPsLvM5s88yYpsjpDASMQIRyrtRG7NLZIO82DNbJk/c/NHdDSi0zrIUV&#10;oNkxzhZ4qlZs+ojCoyki7Medmp87MrIDHO9xaXFxJy2bTVpYmw/GPC6ry7nVjXKr284AYhZn7Lzh&#10;UbyKqnEIMp817CMEAbs4y+rnPprc/hxJLwTjj+u7DyUXJ3ZwM0EchoqhMwzNKIbtHBCasXoox0HI&#10;0keTrJfwtTC6Ql7lakilRiUbvSYfvtlBuy6Fl+CkG3MtbtAKU61yLFZydttDfDuKVUcfn3gLLLmQ&#10;eEOCJbzYB419YNYHAkpmffBDw8fQ9h2jps+RLCTIhqk/t1hDAx+HaEePuJ6+9uXxPVM3aBCGcQnN&#10;eO+IY6rFYepY8ea8zGPPMk8Ml00WR5HR9vNslaER9/NuQu4oGcShr/kpwNgmTyldPY1JZ7FzWBTm&#10;EYUi0xwzOeA9xaonHq/x4zV2PICSrHWJG+sS01AfUlLQTeY45RvsjwnPdOsStdCZ5h4z6WZ0tHdi&#10;l9oJfmasdUly25Oy7NFZXK6K5E8mrCfbA6gOyVC/pGDHd+KvcRA1qTrBFFkpy1q8LAk5LeriRAEE&#10;VYlx1LMFlaoVkynZZDY6D07LQ5wgwNkgN+ezdMRiDUy25Ys+ZMp4nXNiDYzSiyNDZaaQ3Qw8mGe0&#10;0AKTmr2R5TsibOakGTkle448iFU0M//Eou8Ijtvmt+m7zpujrvM46O4FNveAVo7lTcLF58/Pr3q0&#10;JiWUhWvHetO+8mXJU4iWOFb5fI+mGaTSRh2YrAN4F46f0rzNuI1H0xjARvb0hIBhebzR8Ke4BXd6&#10;SsPX10Fc39OnncwXroMjs7FarBKWrWgq2I21GvHZdWGRgBNPgXH+oLhvd5gE5l5MOMvD1BUesGQw&#10;s2zm09ZbQeR8RKHMMwCeL7NK19npbbdIs9NW7DJbzIOEEFfz5CeTtJb5N/ZoEDgOwdshBL9JSZwV&#10;ylTkxpCWRuVYMB/gqI8PpSd+ewHGyhmMECUhnFLMohaaAqcD/gc/OdngziQ+IpuuCHmXYl59nBTe&#10;41L4iPLBDm3SO6FXIyAD4071lSHB5KcTthwzq2LHsklUsQVvilJto1ySywPVeI5I49uJoCQu4eIJ&#10;27cGF04kmUnSCiWSrWgeGf19r1avng1q4R24LonFpoRcP7RFySVx7NALA16QoPYSa7g4agyQGuOG&#10;GsOhtk5aXGtW6ZRmk9VtsmIfC68WjuJYh/iGX4zYhC6Fa/YSaybrksq6BMVG0KN70B8neAFFl2vj&#10;aeh9CicBFzt8RhRNnyM9Bx7xX1dR2/gIgN9ZYxffgs8bDXwVS429YkWmf16oSvGr+PtXsO4x1snn&#10;v44y4SX8KvxXCy9HcPm6rD7ldl/S84tya3L0RlUpXDOZ3DQmN62QWx653eZyawIyDjwt5k2eCtK7&#10;Hcgo7py9DOdMJtE2k2i7kGgeiS4HIxHnAtCXCcc1bmiewK/bS6mbTHI6k5xeSG6SscgkcEr+z7GP&#10;lzAW48/Zy3DOudhVUQqR5hHp0Ldq09u9houVXZ7i94/vJRyfTFwGE5dRSGsSaTXIiXRCe9Fdnt3w&#10;j+8lHJ9MWiUmrVIhrUmkVSNEugEevlSGx/cSjk8mLYtJyyqklUdat7i01vm+1E+I38LOyS0un7gz&#10;9saeMZksy0yW5UKWeWR5ncuyQpOpJ8EUqxvsCjsORp14dDI5OUxOTiGnPHJaCoI7HCvs9TtiQD6s&#10;EQPyYc1kMusymXULmU1i1R7Res3eiFUbHt9LOD6ZtHpMWr1CWpME243hPFfg4y8H3mG4bi+lbjLJ&#10;uUxybqRjNwM16kkdqUqieEbTcP58u682Yv3emPrJOqnwTC+WVSWEaK2qRr5pkW965FsLr+p5G5TA&#10;LtQ0XU0nAuhuCKCXcFaTFuk/puUYbBXLECYttm9lWe6o4b7J943hA6Y9u0MdFzC8qJvMC+B7AsAh&#10;aP1jSRDfH3aiI6vtdtLzd12ojlaWxZapME/5RvOC+jaHGms69D6cU9puIoJsxvdLs3Ashh9OtYa1&#10;arlditbqxrC2Y4ptzbSmpZSmitgjUXSXr/vzUoilkEKga4vWbKgGelxvyiXdVIQBoAUDoNO1HCNa&#10;aQW1pqP2FDP2QXput+N0R0U5ny7M29as03I/WghAa9c2aMEztBo3RlVZc6J9Cyu50imXlE6Skis9&#10;3dWNBCU32z1HVpKUfPTCitijTGN0obs/L6VY5koRelEU1I1RBHhk0zSTkLRkSxb5bIikaTKnKxZJ&#10;bFhyk5BkN07wNErwX0ZFWOjuz1sRmAc6arVj+5Pi+/k+oyiRc1xnXtDciUAT0OU4/zH54UJOnSzj&#10;/4ndjnNALuom83YTbHoL55ngJsSO4LJWBr1IGsG6ij9JI7hjdLSOkjCCTXOUGoYjuNvDn1gQkDWs&#10;rJZoobs/LzW4EajBJ3xNC75c+cV4WzSq+Gq4coTLhx1W2yl+tzhkwNELM3liyMtRyGaIFrXv86Za&#10;XJJ6RFtSTqVd/gKIp+PtkVqW20Y5ycTGuornuM68QPKzakEubZhfG2+wRfdltFfZDHaW60wj+bte&#10;q54N1muhec0ewbRFi5oxjqnA7zN6w6k/L9YL9ue0pVNvvWGfDapr6/jrAdR/FeKf51IH6vukYQjk&#10;MQdyF1oeSK8k9uKMF0BFRySOYzi2Lrm01RupaQ/O32Ebp7zq2kdw1S8//F7vR3/0r54XutOdSJst&#10;cLDZUus+/1sorOWbnOp6kbY3Im236XU/W1KVt/ktaSCVqNaUFPiRJVV6Hz47cAQ/4bEu/c07C46V&#10;oEamH4POLMFvBWrwmxe569IQTUDgFVIxv+OXJDly5nLozEe0C+pUesbPfQN7FDn7Vuhsf5nUMQs5&#10;gjYlyRDarMNVYdTTKwpoUy6UtJYgoU+36K/6PSWp+n/H6JDanQQttEiLm/TWsxPQh6TzxTsM35hW&#10;5a9RadNalEAPSBoiVsNWQQ9D52vCky9Bbw4oadIbI4U7oTO3afnnKf/DH33yo/xWitCKbbSKjJ4h&#10;0fBW16XfBPxdrjnR+96mXfyfcScYx1t3pP0StJdDP5rkClhu0qhLv4Ib+hGvcIOucMDHblz/Q62F&#10;ljZtfOzSU8S1DPV8ZEyzP0UAWgIc0qYxN+7ZRzXCJl3+DCTRkb7BRjlvew16i7mZkxFGqJDUTmn8&#10;2KR5p4macc/fB8vPPE7UWLHlUtBSHNd0JlLyBGzcpDVbTws2Ltj4CrGxUbBxwcaXiI2XAjZ+SXJA&#10;zS8YuWDkq8PIZsHIBSNfQka2ATX+OoGCkQtGvkKMLHJrwcgFIy8yI78zysj8fJqblNgfjy04uuDo&#10;q8PRasHRBUdfIo5e5hz9MY2Aj+HeT0GHC04uOPnqcLJecHLByZeIk/1MRoiTC0YuGPkKMbJWMHLB&#10;yAvHyDH6NN+VcI/fu+JsrBRsvABsXKyEK9j4MrLxjFfCFWxcsPEM2LhYCVew8WVi4zmuhCsYuWDk&#10;GTBysRKuYOTLyMhzWAlXMHLByDNg5GIlXMHIl4mRF2olXMHRBUfPgKOLlXAFR18mjp7rSriCkwtO&#10;ngEnFyvhCk6+TJw8x5VwBSMXjDwDRi5WwhWMvHiMXIXroxaGUA3eK8gYefiHKJ5EzpoNO7/R+f6T&#10;T2fIzW1gs7Kkw08XrmdNhZvTdVbUuLYQTy9HWo9b5Rw+l71sd8glusAE4XOTNKyU8iSjjKgBAkZu&#10;TfNX+XAmLzTrgjTLFOY3p6dZVm7NQk9DPbdu3ea6FWZ20bN8m2sX5mCBmWemX28+/OXD3ovDL/79&#10;CnuWmqAjyZ6lmCW8vH6l+Bzz9iuLNb2X0a9UhLF9VfzKPIzchPv26almxci/+JPPrjgji75jwcgF&#10;IxeM/P850r8TwXGFrsz+htVBKAa7GdqlvDKHOP/Nh9/b/esv9JlGZAZnXJe4Fhm5BD86nO9zswaf&#10;8O/yIRa+lljE5i7FccjQ54v1jRidu7yxfjZdW47oml83Qz2zf/5wa4Z6ppIOWaBbEPOSTllQqiD/&#10;yfUsi7U2Be0ab0nFWcOsNiiJQy+G4XRB626CdnaBoV/SdVdCPfT/TM4qPccR1NWD5ziZlcb9wX83&#10;f/Ld4y9MYUSewBVgxJJtesKf9Ql8fyp1Ej2JaJtn3GOJtvoyaJYxIvkuSfo0451uhc7PfpclqMcn&#10;fwG/xesrGZ++l+g5pj39sFX2p0++U9LTp99FfPrw9aNPfzfh6Z9K/l+VTPIXkhAQW8b173YMCuPu&#10;eCcWiSx3uxFBY/Q+orcbj0hHYn8uLr53Io7DHkbbxfXvVgwa6Xe7HYvF+DstR5AQ7xHF4TeAoStw&#10;lksMxJj3CXDNMbEWxgvYz9OAn9BCfSu42jWyJyv4O6eFQgujQ71LkahCnpACfdVHolSL7BZ6Lugx&#10;oa/Uhf8xcihLXk5efg+e9TiIurgtkj4Q7Zl0H39mxNZLOz/9/b+SPvi9Xz7/NyjZnaNjsBPT5yd0&#10;DdTFw8D+jo4lR3iuLK3mpREayBZl2iFPhHnEZZC4EvFZsB5HBWpEjzSiTLF1F0aBxfIWuTRiOfSn&#10;u1a4ZA9mZad/8KPvHu8/f7g+Q8+wS0jp5Pc55A+2KfNTFjxDRL4dyQ5RpE0zST3BM7yWGGXHeWjX&#10;AbFPKEJG/F6lZEiWQlkA1NpulClzyXkJjiBvn9H4meX4vub+z3f+IWZcLzN/hcbWkdSncXribTTg&#10;kTYarbPBfn0N/xDbY1Z4w2OqYbCj+MEbuSb++dNpXvPm0JZO9bo3fMs01asuBnv1AvbSLpS97kmb&#10;hOAHEO1g3ucl6SQ+HfL+TK3Yd4/PfiF98MNPW38ca8WWwXoxWY+3QOh1jj5NlpZ3Ke+X31LehBYH&#10;dK4TWIOoXsRn3xZD27qBtqkXqm1L4Vh2thyK0WyMVhUxbRHTFjFtEdMuYkyrBjGtcaEx7VvhvZ6z&#10;Wslm//PrgwXBXKV4RuHW7X2aWelKZgzmcmbMrwE2uI+2F6B8l+cI/D21Kzy7uwrP8wnOQMzKz3p9&#10;4HR2fjdy50WQA6KvwW/0Ldqk+w6UOq06DMvBoDmGlFUHY+SwTHiyOR5/JcDM8upP/6vzndc/+/zX&#10;FgJxl1ZwyIS7S+i68NkIzSXKhDjG69nZ5s1gXo/hPfw+I2b5xle+/U8Lgq8CdS5ZRT3IUPqx3aRs&#10;LuK75H+HPm4TSrNam3Tt9X/uSM97C4q3ekF435U2oN1Ligz7NCO4EkhglhHN9T//j97fIPYxUc2v&#10;kK8T7qPv8RyTT4y5uz7W82u9AxjcJyZI/jEXQsZRD0kOPCRtqjK+Tff28wbzke+11//S/AnKd+W3&#10;FwJ5A5CzyNKa8KwmWQuX+0k6jTOXcsFomx04u0w5A5PiDYvOaEti3vce5VWG+ZmhjraFtRtv4PUE&#10;HU9q242dref7BFPlflP6WMI3oLyYl8w//53e1xZI5mW+8wOlbAYZIZUYFXeFdEjmqBUmzQh0SN4u&#10;zRGolENC78wTosVvcYyj8hYzbG9AazHujmv5KZRt6SAyF/AGjv2xY7zJeRBbz0feb/W+9vU3j/9u&#10;gSTeJRuq0UopZkNVQskiieNcmkGjHFnUpXHeJf9RJ8Z1iWEdQeLvBBYHkc4r9XcTW2eV/HW+wuuY&#10;1rMeBmM9cnRe3tP379rvLYTkcd2WSv8bPA4u09gvjVhWf8VXFssaj714dEaRwcJg7ZBvgrEWrrNj&#10;kRdbTT8aeZXOifUdQOKQ1rizmpVgRd1MvdU/+wv7vT/84fFmjLe6GPGCPnm8EGGrlxG0n1C+8YR2&#10;Ik/D7067fhybGgKbvpfS/jRtP4SQVdmh+VaczfLZdJWs/sqwZraeU+9v93/8tPLJzwQ7epcwx/ns&#10;w6Bf2ZB6N7blS14Gs3yBFi7W/F6PtFSmtbgdyug4pL8a2XGHR0z426CdIv7qXvTXeuT1oX0fZRi2&#10;Uyq6NtrfC71JCBzNLIM82xXRs94VFV3XPP03oJgjbcbvi1KEFuP2RaE3lnc9tzg/VOyMYrNexc6o&#10;q7MzyhK0L/u+gXgG9t9EtUPsiRZ9VisQCxY+Lwvn35168Sw8+qaLgocLHr56PJx9/5a4a/Admj1+&#10;Bf3H9RRsz+Ar+Kzzp8ZdW+ucncM8gHlGhuAso6O0HixCtIL5RYXmCyy+Xt+lvYSdSD7EpLl/jeYS&#10;8Df7jmWZ5oTEaCWPjJaIEY+ZjZrtuteYO18FmXTp2HlkckeYhWsRovics5TPuF5cDVnhCihRVu/S&#10;CqG+xLLjNmDb55/QziIHh6X19nA1zUzlM3rfyyOREsihRDMtJZpxwd8mea4GZSRJIt62DSLxGqut&#10;s0Flrd4fuK5M/7wa++a6mobfGoHk3qasJns7HUqwG7CcOxIn7CXWNKu7nQFct1XpY7Feo8Le7g9U&#10;+NbqDxSv1qzSKc0mq9tkxT4WXmu/cjZgN/4ymOAdaRUe5cHZ4FED6k3Z2+Rly/4YrgVP0NqCJ2ht&#10;VfuDktvudBV8+NZ+7fwX8db3G2eD2nYL+7VWp8426vQEjVUCt77DjkGVBWVrBx+yUQcAFG+1UWeF&#10;TcXqGiuqVNhwlR6cWcX2G3W6w4eNh/2BgaXNvu6yooFYbdS2sPjQxnPaUK6zry283Id2hfCsN+hy&#10;dh2/1e09LKqsqNsE+c5j6k3dtvEpNlvb2GCz1SLtrJJ+4yj5jEpac+jt16g7+9vU11Zzu8NaYrFf&#10;XcViZ1s/G8AvgNSjwmWFwgpZKKCs4fmgGYZHBcDdWq3T9RuP6JTtHThle6cKHQN9rj8GuOurj0GV&#10;H2zgc+w12TMyCX+9AqNNQY3Hg9trBHx1ix51rY76vY7t1x5g9Xp9GyS9D8OiXmu5A/l+WTG91m7D&#10;Haiy19yCQ6pp3ldhpCiqV9mF77pVDKPzDKNKs0HjosV6vdvCXjd34CS1K5tWtwfw77sDw7yPwGoK&#10;fH3sDjRvt7lFw2uthoJs2HCOJvvnNGw4p+w11qNH19nRWvRojY7u10jdW6ur2I/WqtIfOPhV7Q90&#10;KHdBzy1vtbVOI7T1oEOd3cG0w5Ofvj764h9//HN4Bhv0wwK9IFXbalGxt0OC2LTXXGjzoLmD+8aa&#10;D7C4LxtepW7jgfp6FavrVerFh0gBAMoWndywK6xYxaJVAxPYauKtv/TVv5yoE+e5O9347Z0brz33&#10;fx//+rf//vM//cZXnn4Opqy1CqS3tb1xNtjfrdEWOVbQ5rj3tRLbHKfoHumHYpSYgqguUxArqh9W&#10;zwApsM9mGbWIfS6VVce/Gf37aAu08CM2nIELRBpQfBr4/OEPXn69wmhAYTQgp9PAyMW9jWb1bLCB&#10;6ghEimqIfIrKZEL5mJVs4Csy/kCLKghro0o326g+YAyB/8O3TbjFRvUjvNGuTQN5116l4fl/hJQC&#10;w2oX5bUAAAC3bWtCU3icXU7LCoMwEBT6I/0EY4nao8ZXMGmLRqqlFy0Eci7ksuy/N1HbQ+cyw+zM&#10;MrLNLVQdM0BwFExDiNNGd15oiGiMDVcaSBJhV/YaPPeDcYG8di29A8UkLIhsspC39eLOQyc8iYt8&#10;Q3B45sExICj71WTChVnpG6z1RimkBS5rC+O1Wkds9DfpNrqdYYiNF/MLVf8wkIaouHuleGEg0eco&#10;JbhrmizzV8/RKf5pmlLEQmUWcMcHGEtbktGSn+8AAAq1bWtCVPrOyv4Af1e6AAAAAAAAAAAAAAAA&#10;AAAAAAAAAAAAAAAAAAAAAAAAAAAAAAAAAAAAAAAAAAAAAAAAAAAAAAAAAAAAAAAAAAAAAAAAAAB4&#10;nO2djZHbOAxGU0gaSSEpJI2kkBSSRlJIbpCbd/PuC0jJWa8d23gzntXqh6QIEqIAkPr5cxiGYRiG&#10;YRiGYRiGYXhJvn///tvvx48f/x27J1WOe5fh2fnw4cNvv69fv/6q99q+Z/1XOaoMw/uBvM/i9vCW&#10;/rm7to7Vbyd/rkdXDXs+fvzY1tVK/u7/bH/69OnX32/fvv388uXLf/qi9he1r/IpKi/O5RjnkU79&#10;XK7az7Hab/mTdp1baVpf1bFhz0rOnf4vOvl//vz51zb1T/8tuZQMkDkyYj/nVP7IFJnX/mwX9GvO&#10;JT+3E9oC5Rv27ORfMvL4r+jkzzHkQn+1DJFztRX3WeTHNeA+vjqGPgDKYz0x7NnJ/6z+T/l37wzo&#10;eeRef6stINfatiz9zFjJ33oA6PuVnnXD0HNN+SPXklVd6z5IX/eYwHn4WZLHdroh24n1jOVfbcRp&#10;DP9SdeL+c7QfXc1YnG0fp19n+ylZWd4pD/pt5l3XeSyXsqxt2iB6hjHJ6pphGIZhGIZheEUYx9+T&#10;R7DXp//zby/vWfLd+h5c6mu6NvWueITL6O1qB8/mZ0id8Jb2vruW9/Od/M/Y8Y98hnme93W+xC69&#10;lfz/hv7zFlz+9LNhz8Omjk0m/Xfp28MX5GvpI53PkPokP85d+QNN52+kjFyP/ci+LNsv7d/apZfy&#10;tx/iUdtAyt9+Nh9zPyl9ic4suSAbbL7s55z0C9hnWCAj7HYF51HntA+T9me3HdoM90KemRby7uzZ&#10;mV7K33X0qOOBrv8DdWi94L5tP459e12M0C5+yH3Qdl/3/0o763jnb8xnSvbr9Fldkt6z639AtukD&#10;LuyrKZnhb3F/Q5b8v5M/fd8+QMf7WJ/Azt+Y8ict/ADk08n/KL1XkT/P9vqbsrG8i/TF2xfn+t7p&#10;BvSJ2wm6xboYdv7GlL/P6+RPnMqZ9FL+nNf5w/527FtLP1tBfaU/Lf139u3ltdRt0dWR/X08R8hj&#10;5UuElb8xfYi8p3Xl8XjmTHreph4eVf7DMAzDMAzDUGNb7Jv8PD6/Z1w99oAZY78ftn3xs02+iwu9&#10;FX/D/MNnZ2fT6vzg1gnoDseE59zA9C1CXuvza19nP8zyoK9GP5yjs6sg/5Xd13YwfHzYjtAb2H89&#10;x6dIv1DG7ttn53Pst+Mvx2gf2JHxSQ3HdP3cfhfXe5Hy5/puXqd9gbbvWub4D7p5RJ7rl/PP7Lfz&#10;NeiI6f/nWMl/pf9XdvD0padPHRsp7SL7sWMwzhzLdlngk9jFCwz/51ry73x+4LlfJS/PBSzO9H9w&#10;XIDLybl5zrDnWvIv0MnpOy94hhfW4c5z9fxf6Qa3OT//HatQzNyvNd27XO1bveN5fN7ZAhjD5/XE&#10;jTid1M/d+J9nAOT7v8vKsUx75D8MwzAMwzAM5xhf4GszvsDnhj60kuP4Ap8b29zGF/h65BqryfgC&#10;X4Od/McX+PxcU/7jC3w8rin/YnyBj8XK5ze+wGEYhmEYhmF4bi61lXTrhhxhfxI/bMT3XkPjld8R&#10;dmutrNi9I67g/dx+ZfuQ7in/tDM8M17XB9sbtrnCa/CsZGz5Y3/BJrdqSyubnOVvfyJl8vo8LuPK&#10;nmCbwepeKDN6zPLP9uh1Cp/BpmzbKza7+t92tO6bPJmG1xDDr4cNvms3Xf8vbNNjG1tg/U/a9vnQ&#10;bn291+fymoSr7wuRR8rf646xBprXxHp0kBG4Xnbf5DIpfz87V23GcvU1nfwdb+Rj9h+zn/5Jeuw/&#10;+r6Yj5FP7vd6ePeMe7km2Mch+4VluXou/qn8u/2d/NMX1MUi0a/R7aR/9A253TH8FNbz5MHxR2fX&#10;/+17K9KPA7eSf9cebPt3PAH9PX1H3b3s2kbGqJBe+ikf9Z2Btux6SR1w5Ee/lfwLr+NL7ACs1pzO&#10;e8172cnfZcjvC/uaR5V/kTEy6cfbra/Pca+nmWl1bWYXl5M+vy6/1f7dfayuzevynK5+nmHsPwzD&#10;MAzDMAywmlt1tL+bK/A3+FN2cazD7+zm1q32ec6F5wodvT/egpF/j30YtqHlnBpY+ed37cW2kdp2&#10;zD/f5bDfqfD3RPD/gY/5WtuT8C1xL5Y/37PxPb/qPBHLzH62jJuHI/3f2eat/9nmuz6209lGa/+M&#10;2yJx/vh6sAFyrb9R6G8JOcbEcqYs+IjuraduzVlbOxztp2/mOgEpf0APuC1g16ct2DeL/Ch7zhux&#10;36+bU9Ltp936u0CvwrXl3/WfS+TvOR/o7vzWoL/JuJN/Pg86n27BM+kV5wpfW/9fKn/rbXSwY23s&#10;w0M+5HGk/1P+tI1Mk/gQxwg8sj/nEjxuoo/Rr24h/8I+Pffn3TzyvDbHfzv548er9HP89+j+3GEY&#10;hmEYhmEYhnvgeMuMmVzFf96K3fvqcB1457Y/MNeLvBcj/zWe3+D4eubH0Y+Zg2O/XaazsqF4Dl76&#10;6myH8ryglQ/QxygT12b5sf86fh+fpsvT2aNeAWygaQ/Fbuc1Gjmvs6kXnlfHz363XDsU2z92/m6O&#10;l+279ueSNmXMcqXf0f2/81ViU352+af+o16591UMTzdPKOl8Oyv5U8/pR/T8NHw/2GbtH7T/0Pe2&#10;Kj/Hco6X91d+zzLPb8VO/pbZn8p/pf9T/jn/135kjmGr55jn8u7Wh9zJ320USIs29uxtwFj/W//d&#10;Sv6F/ZB+znMu4xLaA3mc0f+QbYM02bZP3O3vFXxCHv+tZPye8vf4L+f42QeY/sFiNf7byb/Ief7d&#10;+O9V5D8MwzAMwzAMwzAMwzAMwzAMwzAMwzC8LsRQFpd+DwQf/irWzjFAR1zin7/k3EvK8N4Q33JL&#10;WP+YtXMyf+KxKN+l8ue6jkrr7LcWujiUjownPuKSWEDilrwOzlGs+1H9GmKj4Npx9I6d8nd4iQvs&#10;Yvcpk7/r7rhfykt8lY+Rds4XIN7cMeeO1U28NhBrCGWfZS0yx5vv+jX5nzmX8x0/S16ORbqkfok5&#10;8s+xUe+xrlmu10a5OJbrfxEPTj/lfjs6PUo8l+/b3/6hLex0APG6xJJ5TkHeG8fpZ7v+Q/6OCVzh&#10;+0794ljKS+qXcykn6V5L/2dcfuLnMn2bNu191LO/t+HvKbke3G5dT7v7ct4dXhvM97Nqh36GIrfu&#10;ex9w5rni+TI5d4A2lBzVL9AuHJ96LXbtOvsr/cf/o/OyTXveV5ce/Y/7Slm5r1r3rcrqtaJgJbeM&#10;De3SpGw5j4W8EueV7Z62mRzVr88jT89VeivowVX/Pzvu/RP5c47n3GSafh528eBOt5uHRJ3nNyou&#10;WeerGyt2OtN5ZTv0+DjLfaZ+6f/dfIW3sivDkd6FTv45f6Pg3cB9lXtCxp4jdAav6ZjXeO6Q49Wt&#10;c49Yyb9rr4xTrB9W7Zv8L9Xnu3VKPW/qDEf9v/A8i9W7TCf/o7LzTKzyOg/kRF2yNtxqrGadmfJn&#10;TJjrBHqdL68r2L1be46Z3x26cvDdQ/RNrlnXcaZ+4ehbuxx7j3mLvKOu8s15GgljBch6Qb+n3vS7&#10;9JHeO9Pud++Eq7GAxzmXrBN6yXN6V7+U+0iunPPs81aHYXgz/wCggvog4L8lowAABXVta0JU+s7K&#10;/gB/aWAAAAAAAAAAAAAAAAAAAAAAAAAAAAAAAAAAAAAAAAAAAAAAAAAAAAAAAAAAAAAAAAAAAAAA&#10;AAAAAAAAAAAAAAAAAAAAAHic7ZvNjeM8DIbn6HOq8H3vrsJVpIpUkRbSR6pIFT7npu8zICIcgvq1&#10;PLPAPocHu4ht/bykSEr2fIUQvgAAAAD+Mqbw52uOjG57b/PS2O7IsbS209vv5ST9zmYfd4g8Thj/&#10;3u6rsV0Zz9G+H43zkvufHX2/4rOeD9yUxmfRqvHOerLtf9v+i5rfVohDL3Xv/R+w/109+/6fWyOT&#10;098U145eP3Zsr6jvGn/30HNKUZtTLtH2OY20jkun33n2Xwe2NRKtcS+psdm1q3WXXPOMPjSyf6kZ&#10;PJboA0viusT91PWaesSzWU9MPtP+Oh6GhrV+izbTz3rrf0drae0vMae0Llrj/zzAn4/4fMpmNkZN&#10;lVq/wycnl+6t8RGJyzoXpuzncW14dlFjt/aXeWl9vHWm9faw/V9CPldY3qqPludq6oecPc7w01vB&#10;jjbO6vtLOVR0re1L0OtXNBa/0LVBbx6qHUdJk974XDt2277Yf8v49hw+9co1c4/E2ZwWeoy2/pU+&#10;Uj5g68OWXPSMz0xKB4khur5agx/TSvnpaF4cYf97+MSFLXzXWX63+4i5st+aWHILdWtBtLe/672f&#10;9oFcvOihR+fW/J8a+yhK49d1VU38/0n753iocd/NnJ+hrUZotX+upimt/1QM+C37ax1r83+uzvBi&#10;SaqGOWL/S2Kua+g7D66tb0bUQUfmPSL+a/S4ZA95RJ8zddjX9DV8z1mixRxt39u2rcM3076uo3P1&#10;Tw1HYtNI+2u9rB+k7P/T8V9sbvfwO4/wyf86fvaeXZ2lc8kGLWcZom/ruaenibSla3bR0NbWtfaX&#10;tnI+XrL/3vfdWecyVlsT9uzFSvN4F+7r3f+NaufofMWeT+VTNob22D81zxb721zzjv5gfdKeCY6y&#10;v9ZgS/St107N+UtKl9b134td/zImeZehY/bduf+n8/9+7eroLuh8UPvOU9e6uRxhz9m8mNh6zl2z&#10;LmrQPt/bxmzaqJmL1Ec5f0/VTCPrf52jSnZM+UvuGdHmqubhxUTRrOac++Y830vrdwEeYifRv9aX&#10;LyFvt7VybD37/9Wsydo9/mT8suQv+pxf5wk5Y9iMZq2ktDgbrfXTjKXV/ikdX5lrvVi77//X+xOx&#10;i+cLtj4ovTO4Gq1snfBU7chcc+fc3nuhv8H+S/heQ3v2T/mC1vRq7h8V46ze3hwEWdubuaafrdnD&#10;Tc74vWfFh34j/8s6kH9HfffkzSU3Vp0PJQ7bnDICabfUptaj9x2A904q5zuj6v9aZHzv2MYWxvmA&#10;Z/+Sbt7ey67Bn8Lbm7xC2znbqrRtsf/R/N9ie53DpgNzrbF/Dd6Z3P5bbt82kiV83iWn6oNWP2q1&#10;/5nx39Y+tq7S3wfu3Dv9oGUuF0fzR/DP6kS/e/i89+p5N+PZ3O7PZZ820r9+w/5y3q3nV/r+177/&#10;3JTeR+0/RV1TmttvxlLnti31qW5vLbSp3wGMpsf++rxtjrFI4qTNLztztLenb0v94q1LTe67cDuX&#10;JXzOPI9oPsfxy/cmOb+wz3q5RTR8hP4Yf7b9c3WBF5+8/d8zcW8NqXekubxg5yJ+JOOTM/DRmksu&#10;SPmSzh9rYQ5nIH1718SnvXcS3vlfbr3IN+Vn+PRS0a43l7P+pgYAAAAAAAAAAAAAAAAAAAAAAAAA&#10;AAAAAAAAAAAAAAAAAAAAAAAAAAAAAAAAAAAAAAAAAAAAAAAAAAAAAAAAAAAAAAAAAAAAAAAAAAAA&#10;AAAAAAAAAAAAAAAAAAAAAAAAoJX/AOCrivumi2J+AAADJW1rQlT6zsr+AH95LAAAAAAAAAAAAAAA&#10;AAAAAAAAAAAAAAAAAAAAAAAAAAAAAAAAAAAAAAAAAAAAAAAAAAAAAAAAAAAAAAAAAAAAAAAAAAAA&#10;eJzt2s+R2jAUB+A9cqaKvedOFVRBFVRBC/RBFVTBmZsDM9bk5UVa22ADM/kO32TiP/Kuf9KzLO9X&#10;13VfAMB/a9X9+vq+uf+b9637fe/+GVnO/pZvd7Ov5Hzu903tA11/3rt/Nz4//1J/in3veHO//rVv&#10;S3+aN/OiZHwO24py74+VfY/kvw9ZPmKjD8zimQzGjMWp+Z+DU+hju1AXavMTHhPr7TGM8e/k0u/b&#10;VfY9k/9Q/eB15nj+x/FbzsnjettfQ/6fpcy5ahmXzIZq75jnxV7+H2OdxuYU64HsNj/MEeT/Gb6f&#10;mPcNPQsOI/K/LtDvmJ7/ecI9HTsXuIzIf4l+x/vzX6XMtmnc5vpf2vzpuqUt73/z5z/3OGyN79IH&#10;cv6HtD8rc4mr7BfLf+zzd0z+13TsLvWBnP82HFdrr/SPo/xntQnZjz1nqP5vK5nftx/DtXL+5Xlx&#10;arRZ1p+t+86rjP9r9++6fkvJopV/2R/nALHv1Mb/3SUdW6wr7TBv/nM9/8vYL+N4yvv/rrLtrtSN&#10;g/wXy//S/b2mv2tsj98CavnnOt3K/9DIOh8fa4h5/+tsGvkMyXP0Vv6tOUSuC8b+svLYzt8C9439&#10;re9/p7StlX+pE7X3vS5k7rm/rEef/V0jm5xn7ZjavDDapPbN+ZdTm98f0v0/VY555u9/dqHd2jnr&#10;dH3r/a916v6stTz6d38/5V9q/7bSZhz7V33gpe51ucztL+F+l22PfKvN+W+7du2Pa8Zlne8YtvlW&#10;vIx1mO/l7ItzGJOtNdox+deyjO+UtbqQfzbf/+YTa+zQGMvfdC7d8HtZzD/2ofv/V/0cILbXqvPb&#10;dG3fAeYR7+eY9ZVVqhVT8s/rRlNr+zrMCcwH5lGbg815bvlm2DrnMLLf5X7w7vsGAAAAAAAAAAAA&#10;AAAAAAAAAAAAAAAAAAAAAAAAAAAAAAAAAAAAAAAAAAAAAAAAAADM5zdT8ocUYo2ougAAAzxta0JU&#10;+s7K/gB/jlEAAAAAAAAAAAAAAAAAAAAAAAAAAAAAAAAAAAAAAAAAAAAAAAAAAAAAAAAAAAAAAAAA&#10;AAAAAAAAAAAAAAAAAAAAAAAAAHic7dq9caNAGAZgh8SuQvnlqkJVqApXoRbUh6tQFY6VcccMO/N5&#10;bxEIsxYwT/AEkoAF3v1j0Vvbtm8AAGzSof3z1nn1ebC8279c25F8236b+N27+rALc/L/6j+f1YHZ&#10;97u2W5ZN02eci1nmvzX9MfL8z6GcT3VgE/l/zDjGR3+MdM7xeIewXVeHjAfTvA+0w5J0f69P7JPk&#10;eRz6PHP3UEb+WxoTSvmna0nneJL/4vJ2WMOU8T9tU2rj7zvI/jTzHte+7rXlv9dnwKH+bcp+Nce+&#10;pfKfM/bPVbOu1s6/efLc41zuWOG64z09zDi/pOunbj+Q5ghfE7bd4liQcrwPzJGGpPtSq+6n414q&#10;ldFd9+eE/iv1HzXq+Bos+Uy25PNwfL6KZdwXyCI+X4xtm/LfYt/+2/kv+Twc23zT1628rk0dE/K+&#10;6yuc66M+run79FL+zYzzWKNaazI/baOlPv/Y/j/uTFmHnXsNcS0i79tSv3DfcPY1879UyD+5ZGXd&#10;RvqclOMx7HNqx9eRun2bUEbp/LY453t0L9fQ9sfyT5nm5Y71BelaY91M+045l/w4eZ3YoubJbB9Z&#10;cj1gLP8kzgse9cXHgW2m5B/XAOO6717WhJq+TTzzXJxnv/S7sKn5d04hn7Hjfbbf53ixnNL8r9s3&#10;tfdzuPbrTrKf65bdu6WPv/Sx587/3kL9il59/18t5V9rXWTp/MfeMw7N/0r1Z69rQc+4LDjW/0b+&#10;Y+VM3a7U73f1YevPAWvzG/nH9p/eg36EuVCq39ewXWnOn/pC/wlbX/7NgznrlPH/Wvg+7//vYftX&#10;37e9WLL9x7ab3vvk8//SuH/Nfo/bl47/6nu2J68e/+O6Qhzb47uD7vM5+8y28+/G/PtA9un30ljx&#10;0/Vu1pF/J/X7Q883pTqw5XeAa5T/D7d2OXP2Pbff1wkBAAAAAAAAAAAAAAAAAAAAAAAAAAAAAAAA&#10;AAAAAAAAAAAAAAAAAAAAAAAAAAAAAGBN/gI7hxmAP4Ji9QAADtdta0JU+s7K/gB/koEAAAAAAAAA&#10;AAAAAAAAAAAAAAAAAAAAAAAAAAAAAAAAAAAAAAAAAAAAAAAAAAAAAAAAAAAAAAAAAAAAAAAAAAAA&#10;AAAAAHic7Z2NkRwpDIUdiBNxIA7EiTgQB+JEHMhe6eo+17tnSUDPz/5Yr2pqZ7tpEBII0IOel5fB&#10;YDAYDAaDwWAwGAwGg8HgP/z69evl58+ff3ziOveq5+JzpawAZfj3wf9R6fmK/jN8//795dOnT398&#10;4jr3Mnz58uXfzy6+ffv2O++wN2UE9PtHRtT7tJ6Vnk/1vwI20f6u9l/1Ufp2laaT1+3f+Z1dVPKs&#10;5ARdGr1epcuuZ+28ez5wauereuvsH+Vr33W5tG97HpoPeQWq/q95ZfWO+58/f/73e+gt0v348eP3&#10;vXiGuqgvC0Q6vR7pM0T+nibyiLy5F2WrXkgX1/V56qBpIy9PRx30evyNz6r/x9+vX7/+fu4KOvtz&#10;TWXR8iNNlM8zWZ8jPfcy+7sMUZ7bCJvH39CZponvjFtccz1FGp3zOLR9RT6kRxfIqelU7vigC9qy&#10;yh3XVB+qZy2f8X3X/vrMFaz8f1Zm1v/pf528gcz+6m+oU1Z37Bx6Vn3RLuKDL9A+qH6BPFZydrpA&#10;PsohP/cVVZ39+ZDPy98Z/+8xF7jF/ug8+iP17uSl/pX9fR3iwLbYPf5GWyB//vd+hqz0UdqLQvOh&#10;Tpku8LcuK+2RuV5lf2TU5738TG8rW1zFLfanHWu77+QNZPZXf4fvzfoofd39j+o27nHd/SS+I7M/&#10;etA2lulC06nNaRfI7/bHP/JM/OUZzTeuIeMz7E9fUX3QnwF19e/qbxnfHJoemelb+j2epQ90a6XI&#10;i/v4TcD/kcbvISd9LwP1xodkutByMvnJX8dD+of/77Ko/DqXqfTpuh0MBoPBYDAYDDo495fdf83y&#10;b8E9uIQrOC3zNH3F257CY+XEpVjPZHGBe2JV/urZFZ/WcZiPwqnOrui44m3vIavGtqtnKs6q8h9V&#10;XHq3/Fv5tEdB5dY9E16nK3J18fx7tetMVuXV/P4J51WlPyn/Vj6t0pPzhs4p+h4F53iQhXycA1np&#10;rNKBxhW7Zx5pf/TjnFzFeWncXmPmVfrT8m/h0yo9EaMLwLPC8yHzyv7E7VQWlbPTWaUDtT9yZvJn&#10;/v/KHpoT+1ecl3PWyr1WHNlu+dT1Kp9W2R/uWPkj5RQ9/8xGyNz9f6oDz6uSf5crW6Eaq+BG9H7F&#10;eQVIq1xMl363/Fv5tM5P0oejjGgP9DWe3bW/jhme9lQHp/a/Fepv4BqUd698U2YXrvvcwdOflH8r&#10;n9bpKbO3zjsZF7TszEYB5RaztDs6eA3769jJx/fiKS+IT1POC3my61X6k/Jv4dMy3s5lA8opVmUz&#10;J3eulOeRZ0dnmY4970r+rl6DwWAwGAwGg8EKxL6I+ZyCdSBrmFUsqksTc9sd/uce2JE1gG4eWeau&#10;LPcG52JYd3sMfwXiH6y/d9Ym3fr1mfsZM65R15SB+E6s8FFldtcfCY9dB6ivxre69q9nY0iv+sue&#10;5xnuab2d94p77pf0zEGmM57p9El/8ziGx2iz8nfyymTM0nXXd8vI9LiDVRxJ9+RX53GUg/A4re7V&#10;1+dJoz4HnSuXo/FA5eyUD3CZ9BxRxZ/h88hHY/5al6r8nfJcxqrM6vqOvMQbVcYTrOzfnbcEXczS&#10;+S/4Ou3/6MrPM2TnO8mrOmdCOchSnY3I9O98R1d+lZfu13cZqzKr6zvyZno8QcePkd+KZ+zsX+l/&#10;52wR+fqnyxd50P2Oz9L+nsXis/I9r52zhFWZ1fUdeTM9niAb/5Vb9DZf7fu52v8zXVX9X8vu7O8c&#10;9Kr/a95d/6/mf13/17KrMqvrO/Leav+Aji0+huGfdHzp+CuXaTX+q9xu/4Ce4avOn2e6Ws1ZfDz1&#10;MU55xax8RTf+a/qqzOr6jrz3sD/1rtb/ei9rm9zXPuQ8ms//PY3OkX1On83luxiBzoX5ngEZ/D7l&#10;deVXea1krMqsrq/SZHocDAaDwWAwGAwq6NxcP1c4wEejksvXHx8Bz+ICWbv7HszVOoL90s9EFWer&#10;9mO+ZzyLC8z2MiuyuIDu2dX9/yfrV7UVsTa9nnFu2J97ngdy6HXnIne4PNJUa/TOLpke9FygcqSV&#10;vm7lG0/g++/VPlXsj5gTfmOHI1Q/o/Erruueefbve7xR+cIsjyxenXFGHS9Yxft2OLou1qlnE+HX&#10;M33tyLjiAk9Q+X/sjwx+biXjaFUH3kc0Dqfn+Chf+4VzbnxXfVRnJnheY+v0kyxG7f2Ftsf5FbDD&#10;0a24DvKr9LUr44oLPMHK/yMrfS/jVXc4Qs5SaF/Pyu/k0Xy7MzMhD22Wclw3VTmMberfKHvF0Z1w&#10;nZm+dmXc5QJ30Olb+6z6eK/rDkeo77XM+r+O313/37E/Zzv1LOdu39K9A9pvdzi6Xa6z0teV/q/P&#10;32J/9//I7uM/+sdPVum8Pfm4Wtlf887G/x37oyO/dmX8P+HodrnOTl9Xxv+ds44VqvW/ct5ZTIDr&#10;2m87jhD5sJ/OMbNnsjlwVl6VR7V+PplbX+HodrhOT7dT9x0ZnxUzGAwGg8FgMBi8f8Dn6NrvUbiS&#10;t75b4x7vvtfYwAl2ZX9PXBRrXjgA1pSPqAN2PAHrWmJ6uq+y2wdcAY7hFBpP7HCljq8FYha+biR+&#10;FvB9rL4Ox2/oepUzGPHRmA1tS+ML6KvjdlXGzv5dXrtptE66D97luFcdQfa7I7T3eI7rlKvpApHm&#10;at/KdMT17BwLcQuNszoHo7/PRT3QDXol1oXfcfkpQ2Px1VkBtUXF0e2kcZm0rsp5Ukf9LaErdQwo&#10;D0tcD/torFDTESel3Cpe2KGyv16v7K/xcdo9bRI9eXxL8/L4dsWrZfyJ21z9mHLIip00AbWfxx89&#10;jpvxe1fquPrdMdL7+wSdOz3dt+XyeBza6xNw+ztvQD76m5TImOkGVFzUjv0rHkOxkwY9Ku+Zyat8&#10;mL9H8EodT7hDyuUDV135lhV4jjEus5nvtaAPOV9Fn9CxqeINvf1W/XHH/gH1f8rjKXbSKOeo46DK&#10;kX3P7L9bR+UE8fkdd6icn+7HugId2/Tjey3ig2/0vRzcUx1k15Vfy57vzteDyv74MuXUHTtpVCaf&#10;dyrfznf6h7eZkzoG1Aa6p8fHZ9ettpNT/k+h4wdzzOzeao/d6rrvJVqNW35fy69k6daut6Txsiud&#10;nNbx9LnMd13Z/zcYDAaDwWAw+Lug6xhdz9xrHtntSYx1kL4rZadMXasS787Wgu8Bb0Fej+ew7js9&#10;R1Khsz+cAOl27K+xFtY7PPcW9HmCtyBvFo8kTu4xG+e0iD0636VQ7lbjFQGedZ+jPLTHIDwmq/y/&#10;6jNLq3kTQ6m4GC8X+TSWoxxyxylpPbX+Ki98zo5ekF3LUblO0J0xcY5HuQiNpXc+w7l75ZXhCzxG&#10;qvXz843OwVb+n3KyMr1u2d5sb//Yjdinx3yxbbZvm7YCJ+JxYuyt7aLTi8vucp1gZX/s6mVmsf8V&#10;j+g2CjAHqGx6kp9zQd5fsryrGLDuD9J4N7HW7LejKu5VfY3urVKuJfMZK724v0OuE6z8v9tf5wm3&#10;2p9+SVz9UfbXfrFrf/wGeanPI1+3/2pvB35EeVXlD8CuXqr6nmA1/6OecIy6B+UW+2u57odvtT86&#10;pBzVy679yUPHDrW57nfZyQd/rvyfy+s+P9NLds/lOkG2/vN9RTq3yM5fq24cK3vR/nX/wz3sr/O/&#10;6txyoLOb93HNk77Ms10+Pv/LZNF9GCu9+PzP5Rp8TLyF9eLg9TD2/7sx/P5gMBgM7oVs/beKZYC3&#10;9K75jmc6ha7XuvG2ip2eYFfX9ywzy0/jP6u9kQFdl74FXDn7UIH41+5+zVuwo2tP/wj7V/lp7Edj&#10;FX7GKeMIHcQtPJ4Od6a8Lv2PM3HMfZUP455/J3aqdfB3JFaxkqxuGpPRduHyKLJysrrC/7iuNY7v&#10;Mqm9iFM7V7iLyv9rjF/PS9HPlPOtOEIvB93BnWj56EXP1aAflyeLOep3P39LO9J4OvJ4G/C6BTyW&#10;7HxAtg/bY7PEz72uFYen+Vb64HnixhUHu2N/9/9A25aOUx53zThCBxyV8nGuw+7/XfujFz2P6TIH&#10;9GyPQtNlNlZ9Zfb3uYieravyUv0ot9jpw8vh3glW/t9lyvZaVByh64Q03fsf72F/ZKKtZTIH3pL9&#10;K27xWfbP5n/4QvWXuo8Cn1RxhK5T/H/X/wO7/g7flOk8m8Pv+H+tWybPPfx/Zv+OW3yG//cP9fdz&#10;sHruUOcpGUfo5ejZwap9e1rXhc4zq7OZbjfFav4XcPtX87/Od2bldPbvuEW/d8/531vHvdc7g/eF&#10;sf9gbD8YDAaDwWAwGAwGg8FgMBgMBoPBYPD34RF70dn79JHBfhP/rPa9s8fS32kRYG9M9nmEPnVv&#10;qcPfaVxxiexL83x9/wjvANIP+zeeyVN2dTnNR/ft8ansr79jwr4j9tnpPrcsz2pv8K3yd3v11Yb6&#10;HhCH1hvdsodM+wT5PattV+jq8sgydV+k9o2s/zjYr5bl6Z9qb54/u9obsmt/3stE+vjf37Gh9n9t&#10;vIb9/XcH1D70ww7sI66gfanbyxbX9bdFOqzsT9uhTzs8/6z/c538eZeb7qHUfZsB2pu+a4l9fvqM&#10;7rHVfLVNkobvJzgZQ1QX/q6hrG8rqFtXnvqCzPaMvfiGVZnkqe/vUZn1/XIn9ve97lznf60n55J0&#10;nFRZuM939IrMei5E86U9qNxXfNPJfnE9X6G+AHmqvk273PHn2dkBzcf3lq/kx49r/gF0p+9iUz0y&#10;5vt8pdKxz3m0TtpffU+v7mXX+ZTmkb3bj/bg/fB0TOCcUzafcWBD/+3Mahxm/bQzliPL6dywsz96&#10;1TEL/+ntSO2v/l33mpPnif31XCLtV8vM3l3l86zK/vxPO74yJ0C+7ONAfnRHG878Orqr/Krne+Xd&#10;dYHK/uo3AW0xixXomVFd31BXnR9W5xsy+1OujuV6Xc+lep/Scx+d/ZHJ29cz0MVdducWke6q3N14&#10;d9Ke9N062pc+2nmKwWDwofEPiCRqout3vRYAAAR5bWtCVPrOyv4Af6I2AAAAAAAAAAAAAAAAAAAA&#10;AAAAAAAAAAAAAAAAAAAAAAAAAAAAAAAAAAAAAAAAAAAAAAAAAAAAAAAAAAAAAAAAAAAAAAB4nO2a&#10;iW3rMBAFXUgaSSEpJI2kkBSSRlKIPzb4YzxsSNmxZPiaBwx0kOKxy0Mitd8rpZRSSimllFJK/df3&#10;9/f+6+trSoXfg7Iel0z7EulfU1Wf3W435fPzc//6+vpzfst1px5V1i1Vvn95eTnYY+v0r630//v7&#10;+y9Kdax6P6P/afvP4P+ZPj4+ftoAcwFto64rjHbBdYXVkfgVzr1ZmnXMOLO0+rN1ThnSP6RXUD7K&#10;MUpzpIpXaVb/5/yR/V91S/BFH/+Jz7iIL3KczPmjwohf4ppnS5VXXdexnpnNRVke8mNsyvMsW6af&#10;VJxZG0i7VL7P4P8Otpv5/+3t7fCOiH14pvfHTCN9QZsgvNLinPZH/J5WHcs3vJeRXvd9PpNp0p66&#10;si3nHPjo/p9p5v/sO32eTEr4sOxY7SbHVMpQ9zP9VN4jr/TfqB1n/67wSh8f1vlsDiAeZeT9J+89&#10;itb4P4XNmG/p5/lugO2xYfbr7Jv0vXw3GI0V+T6a/T/HkPRVliXLO6vvEo+irfyPL/Ft9rWeTn8v&#10;6ONJjrXZ92bzUdaD/Hp7yPE802TM6TbpZJlu+Tvor9rK/6WyUb4Dlm37e3v3Ne0k/cD7BGnRpnjm&#10;FP9nPMYk8iLNXr4lPer8r5RSSimlnlOX2ufNdO9lL/nWlOsgl7BhfRvNvmv699RftfZ5tT+sOdSa&#10;yWzNeo3S/31tI7/zR9/8S2shrJv082soyznqR/zjMbu/lN7oepbXLK1RvybubM1pVua/iv2y3Psj&#10;X9Y88pz2wjO5zp5tJPdeOWcNl3s5JrB3sya82zrLmeuJdY/1Ztaa+rpShfc61r1MK21Xx/QZkFde&#10;ox6nxHol90mXve6lMp+j7pdsb6P+z1obtmY/vms09le83Mct6COs860JP1Yv7JdjXv+3IfchEHsZ&#10;dcy1yrRVptnzGtm3/xNBnNH9kf9HZT5Hff4/xf8Zf/b+kHbinL0Zjvgz/8lYE35qvfqcl3sC+HpU&#10;p/RBt09ez/LKsNE+E/ezP3OdeY/KfK628H/fRymfUKY8LzHWMX4yltGe14afUi/CGDf4jwAb074Q&#10;c233fx9zco/ymP/5fyLzKPX73f+zMp+rY/7PuR079H6SdS318Sl9g7+Iyzy2Vfgxu2cYtuT9Oudh&#10;xnDiYue0NXud+DP3KI+Vg39r8SFtJ23KntnI/6Myn/MuyH5b1il9R9/OumKP0VhF3Eyv59f92fvB&#10;mnDCluqVYdSDuaT7N+fy0TcYz/fnRnn1MNpA34tMGxM/856Vufe1S2hpvUA9vvS/UkoppZRSSiml&#10;lFJKXU07ERERERERERERERERERERERERERERERERERERERERERERERERERERERERERERERERERER&#10;EREREREREREREREREREREREREREREREREREREREREZE75B+Hl45q2TuOnAAAAVNta0JU+s7K/gB/&#10;pYUAAAAAAAAAAAAAAAAAAAAAAAAAAAAAAAAAAAAAAAAAAAAAAAAAAAAAAAAAAAAAAAAAAAAAAAAA&#10;AAAAAAAAAAAAAAAAAHic7dbhaYNgFIZRB3ERB3EQF3EQB3ERB7G8gQu3piH/ignngUObT/vrTWzO&#10;U5IkSZIkSZIkSZIkSZIkSZIkSR/RcRznvu9P5znLtXf3v7pP929d13Mcx3OapsfP7Bj9LPfUvXUW&#10;y7I8XscwDH++h3TvsmOVfbNhdq3N+z21f9U3v/6N7l+263tWOeuf5XqdffvG2b+6XtP9y3O+71//&#10;1+d5fto/1+z/fWXbeu7X79u2/frM9+e//b+v+h7X96v3QK7Vd/ucRdWfHddrkiRJkiRJkiRJ+vcG&#10;AAAAAAAAAAAAAAAAAAAAAAAAAAAAAAAAAAAAAAAAAAAAAAAAAAAAAAD4QD8K+ay4UtoqZgAAEXJt&#10;a0JU+s7K/gB/q9EAAAABAAAAAAAAAAAAAAAAAAAAAAAAAAAAAAAAAAAAAAAAAAAAAAAAAAAAAAAA&#10;AAAAAAAAAAAAAAAAAAAAAAAAAAAAAHic7Vyts6y4037/NiQSGYuMjMQikZGxkcjIyNhIJBKLHMmb&#10;/ghwbm0Vkplf9bO1u/ceZk7xdDqd/sxgtBmM6buuW47jiEYBxvLnrUG4A7AYowv6Oc150q2Z3dh1&#10;bUEoDyd82APKd+kLBZ8wDMP/fTlinstbml518N7rQByUXo5A/PUGXGKREZOEx531kyoia7tUHiZ4&#10;VOmreJzY4vI2vyeUtyzLZLRyn/JHSzwKi+k4ehLAhEzG8iFzkRyWgHJQsP6zuQTTdf64421+T4B3&#10;XGfdjfCHrC89Xo5cBQAbI4MALv5qSEVnVD8suP7wLaaPGlGwJ599+rzN7wkZ3tU2DazjETQBWM5F&#10;6Yl/O/h123Ow9REKwNmuHcreyD7a8RJMpxaknyb86/g2vyfodGyFfjN+6kZmlnZejwHomwGVfEkD&#10;PsE1Lsx61Qx7+bmHL1/bv+tw/2c0JMVAvM3vCa2eNK6y/8BGNoYNfVnIPs6w+oWUPU7hqGL1mwYE&#10;YOOOJ4P1br4LoM+zJVMJn32b3xM6ZQdS8zE4awxLAPa26mFt20ILN0mAB7imRQLlqV9R0bM7vA2n&#10;4ei7cmRMqicBqO5tfk9Q/fwhAQx2hAObBFDIF8CDrjBBk5bhQY82rm27vvcolcNPzhYZmmo6usbu&#10;q9WsAeptfk+AxU2NCvMn6XwsE0mgvDq8vmtQADMSDfQA93hbxDOGFBMbSXMJrjPkLtE26t/m94Ti&#10;0hUTZkMOMRfLvTrir/H9R9oZZkbjyB4ACqDw18brYusWBZsEBIBfVHj+hdOQvM3vCbqsemxNoTWi&#10;o3esaUvo7RXH2DQMeLSeHgAcbH3fNsYWzVgm+IAaSAC6t2T+WR2+n7/9fCK5feHy2tapvP9gK/0m&#10;HdVPZE+v/OuyB43JqpwHxR0eUQCWhPhxrA/mbX5PGJbPVrYrqOpyc1ujm9OeKv12ctGF5KoH2J/S&#10;yt7pFoKkEJa4prV+Hw3J8AP8lyu6uQUux2ZWcm2QvsJQz1hLhhGUYEhg/5Mpj8BFdnfh4S/wpA9v&#10;83sC+eoeXvVze/19K84NuD+NdRrZFzF0Iyy8xnMQI904lPOgRRN5fXkJiwfXaEtLyPvb/J5w4It/&#10;8uoDL+FaYnzcxbMqrl3j5q67BKCL5Z9my1ZgwAMfBHAGfWnEJ6Yq09v8npCr1Vs0+TMY14HH84Ft&#10;7ZuRPP4WMezb+ikfrYGQRo+wCKDSDSSZKwx+m98TuoGXfVvwD9uABPR27LCtLfr/pwAwR1RO9zNK&#10;HPDIbzlLdCR9Ov5tEYlzX3/+Far+dvAdkY+4cOZ/zsAe+ONHV/ZtdI9+n1Z1/T8T/VjBbunT0HRf&#10;7//dUlbJF5ueOM1lA2c/PMf75PYvtEWqd2fpmGu1W5ZiNmZOkik0Fz3EDm/zewJqMez83SHRQVP8&#10;x3a92P8zswHpvkCHYw0T10/ecjYlGkTHWNfgEWPEIgHz9fxxGcG9c8yzcujVUBy8Wfv+yu10imyk&#10;NeTsU2AUyeLBp2rwyJvFfb//U9zcAPQtRXxwdBVuAyQ0LCj7x5ubAPiYTxadu5lPjvJVWHzd66Gu&#10;PwhAF536+vx3DnjW++rXFZM+uck0Y3TsEE+33H495j455FhdPjb68F8KgXizGEiAv83vCZyt9eX1&#10;OWJvOeu/LOTNb1facz7WfLr4l8MHwTIlfKCUwmrUqfKr89fz5xUdgT8Z7+6q+lSXjgQAPl31ku6Y&#10;WmW4OEAKQD5AOLacvt7+MZ1Ibj28O65//MPQdmqwuFEW77e/7HeM/xtFZ0Zf416wjV7N6W1+TzgX&#10;WfOZppp/1/9YIRGgXczHqgtTlsAefXTRqhokltOxLZGyRQlMWBdSy9f7vydJ3+PC8bF/X/+95kHA&#10;HcZgzxXi/kwO/UHYUsgh7dm7GeoGb/N7wkVz6PpOdUzjvv6UBsB8j1P/SfqGkQPhiYPit/k94aI5&#10;32noy8xvWB8xdNqt/73qjS3OMymH/5y/DELAt/k94eKf/xCa9tP44epXs7/+pwZwhpw0ILhANjH+&#10;Cv+YwFx590cDBrQBG62qPT9VjUF7FxYLhwRw7hT3I/xjObriceX7CjkMX4Zi54ry2xyW7fyULb6d&#10;yfMygqlQwQfFxWMWQNu7eaWd8ivrnzAE+rgz390qKnMiKjn6FLZIgC3Y81h03WfgfCU/fYfZE/Qq&#10;519Y/+gTlD3LGw+XPisKYf/oNtT/IEUMCQLiO2NGyJqmlkKPgzLpRQToIjg/f33/S4fdPrYscuXf&#10;doMvblCN4WEpt2WOa5gXtAjLRvRDz0nBEuucuXNOn0D7TIkLi0v0Nr8nIH+lpu2o1Q7jl8SF3prZ&#10;XfpLqytWTfypHaJnDdg4e4DNVKBEb/N7AvNX48ZuDqzkPg0UxXJmN5oeoxskuVJcGLFnri0uE1TD&#10;+hnz5mvm8rFFBVHqB/hzfs9v6jrJlwkrvR3v/8gxHdaBF53WsAR/tsJg5iRGzIHMXEAHEXlQobf5&#10;PQEXD3N3G/p27PjuOdl58GATjrOc32cwa1ucag8URPk9ZT6wNFb2SAABjLBTdg3ieZvfE3D58dCK&#10;4Nu1xe05Pb/jgNYQd3U/cq7o7PbDQjj2CpjaHBb2tCb8DREThm/ze4Licjbs4EiMzC34S2gAsPTf&#10;s5FbaxG861AIYPGGlDnvcaVHNFjHn+Dfo3VLAXqeEPPlz9COSCOUOSwfcbo2wsFXHcS7azERrCL1&#10;m45Khm/zewJ2suCCTtT0pP708Mam6W2Y9yUk65fziKMihynMq+tXVARbRqontHGj2Nv8ntDiDsbc&#10;7a271WzHBzbxNlAD4KUQ0AdES606ffcHQEXMcArOc8XobX5P4OWn7GdPPXsFk1VhW8JAwYC6Vwh3&#10;7pBS1DN8YptDyCmxAbDcKPY2vyco4q71RBlcXraWit8AsHJDgJRX3RPc6dTqP7nwZT72EiRyLdFy&#10;p9jb/J5Q0542cnNbpX9m+5oaCUE+fy7/bCSAERrjXHCJTEA2Nu+fTOu/lvj4N/ofOV9t13A194EA&#10;SmTr/0n1uGWi0YClnPFx5XjBQliwzEY1dyMBDfPYLPQ2vydg3944b2DWrib+Fqs3nOyzyzpDSsca&#10;to9k5DlbYuay4pAEmY6/2OLi3fQ2vyfkuFHX2jZdzY3g1Q9HTfYVBwBzmn+GQ658IWwCU7bI5BJq&#10;fvTLclbJvr//6VLYWw87eMW5rrFdyukf9pragE/AsxXaHmvKkMJgu9FUiL16Cd/m9wQ01hkj+3iN&#10;d/AACK/xBPt+dLWyV/6CWz20Q+JN0PH3RtpDet5+iH8q74wCcFd3KzeFUE1goI6YczKia8En3rJW&#10;2CJr/ci1c/SlTvn8BP+yUjD1hKfWXPUfWdT1bzuq6VqqbSvMeTlIAI14MNr98OdwHPvSIM7FR22+&#10;vv6thjXV3tfM3i+RgPYPh7lwYu64v52yXu7YsSyKp95aa8fQAQP/m8EfgFLi1/s/nfJl/5PTtnBr&#10;M/nDRSfI/tsVqNvVY7NfnX9aSDvG6JN3XPNG/jA8sJbIgbrA3ub3hK6npTfjEIeOyFP9fl35/HfQ&#10;HpvghIQkAJ2OGBLB+g+4X+r0Q9/BlyEKitwF9Ta/J6jeI/22o8S/4VEWkAqPf1wVgMGcx2Mxjx/4&#10;AifPWAAKesW1w98I+cBfiH8cNjGQz99A+wIoMCrF/A9/V9xCthBgHiE27tkloPmXYUw+DahR7E5/&#10;/f634x8fPx9LhI5PSvVTAHDG9A1Ow7EAJhwO66tPZOMSA/Y8F7ufYlogY/QD80+17NHRIANYc3D0&#10;yH+jAdgxZmhuXVEdaoqIGiXas2sOgqCqKDmU8wTzId9//tXuDtitLel62eYmfcp6fmaO8Cach8Si&#10;fksC6NoqNbIGyoSpmUPEREmCUUKYfgjr1/s/tP4de3ZtA45QXvJmNbi8DZa4Pc9yojCSt3RJQIu+&#10;UTEbMAyJfxt1j5kiFGn4Df8PG3Wa6ezb5rGFCJS7jnZE0CdhYBXYTW4x6sEsN06KNhAggrFIHDX+&#10;Av8N1njKZ98272GwAWcnZO5rORwy4Nt5EQQQJ38goKcI/lFacz79wh/gD8o67HE4+9ap8ScZLO82&#10;WP+NunYDYBvMOdva0fGnigsJ0yKNietSxLMcs9PtGEJ27uv7H52FLbvxaCtoPCQ+YJKDBpvAIu6m&#10;NgO0Ge4Iqc6+7mhMFmYBizOkMOmxbyWiMlxI6b++/7uhoz5y9gs4o+XyHZX/8W+D4rCnMTwHTOPB&#10;LWVP4RqIg5QDsVP1HMpJX+//VTsd2MYXjqAA29kNA/tfXyMwqTyqLb4ex37NAKnC6cY/mjON8PX8&#10;z8FFsuoQs1Gv38adjivbf3L04ZacwLPOodg8F3Isq5/gcGjPUbp6H47WX8//Glzk2QVo5pkXqOsF&#10;7OPLPOCgr8xGRP4B4l9qd12xFabpHF75AhYSzYPWw9fnf0/nfhvqDT8U5A31HptlHTgkBlIory0t&#10;3vusGx78nNk84B4xceEhgHne/dv8nuAy128OuvziyoHWot+qOnMOfHEP1Gc27AHT1Sh1PI7EMOIc&#10;EAjw8/X8YzonOrCspW8CYA1w08TXGRg9YWJ3m2jEsQC/Hc+6Gf1Ur8Us4Gno3ub3BOPttQXSZs/J&#10;Vqh68mUGx2rr/R4TtHfvU99Vqg00hewDl034p+osjM5v83tCp9R4G3x32twkcEnGD3W0a1qPub+o&#10;Ng3edzJySww3RNYv7l8f/8MpTUO9WLMa9K3KoW5TEBtdkgFT/+vQ/9F2MIEfuvIIt8GtXyB8ff5H&#10;caXjWDDn4eoU2K0NJkecjz2l4msWmCXQo/gGDiHQ7aFR8pzT19e/+9qztK24/r029Ta3rqP1z2Tj&#10;ql6oyfBC8yZoySfgswMzoqRROttf4G9vDX+a5iC5DwBofHbn4RNrnXnv/fBnJp5yBvXM78/a2bGv&#10;i/l6/l033gb6Qnve3AVpbkgNOyx+7meDm+6nwfwVAN2hd6ueDvX3TV/v/3LHMyFNeJMft3eShzNi&#10;XDxjDyxJwJ+dEiSBbqZdcvWPnY3i4evrP97ZsIIGpBhmVTw3VUMdngTE7GY7upkLI3pep+HWKVH4&#10;kwM1neuPy58X6Bf6/vtvvDs8DDRa1ZfFHkOxZCQA7fj6M1hsqOzAAWjgLrA43FtFahtc/uM2ZJwW&#10;8l/v//VmpD4vOsrQFVpCHvvWHSsIwEBxf9pX0zjfO/RqP95cTnLXc/wQT88JzCZ0Ccc8fH3/0znm&#10;hLp+nQQL1L89DP7tccH9PJmUmerur7twTW11ybqOkON9qUVHhp/o/1enBNrpdotVpAZASurkFV2g&#10;8+En8o2Xxp/Oc1IcJlNKIWcYE/h6/5cuKyL+Jbr9hByY0XAV/5ZC9s/wDwxIhOTi1e2+J6cVDtHP&#10;kdRkxe3wNr8n4OnGweyUggX/jozAWNN/tJn/veAMGn6vn0WKAPvRL+wvsj14m98T+KpTPOsjX18V&#10;yACc6V+sCPqw0PhHiPXm01oZjmE8O8c9DEihXNBh+Hr+6MpRrcOs0LVQZzh2f1Y8CpfVQVYM24Tm&#10;Wtvy/P+o++s4uFrF40/cfwiTfuX1Ie+b6I7Xc4bjfiRsA1KEy9A/bTPSjxq6Oyzr/pY1MtWdXtFf&#10;epvfEyCpgY07HbqxDv5q0dbtZ/77uKI/vO6+g5zPCj2vOBJzpodJANcw9PAD998LBAKBQCAQCAQC&#10;gUAgEAgEAoFAIBAIBAKBQCAQCAQCgUAgEAgEAoFAIBAIBAKBQCAQCAQCgUAgEAgEAoFAIBAIBAKB&#10;QCAQCAQCgUAgEAgEAoFAIBAIBAKBQCAQCAQCgUAgEAgEAoFAIBAIBAKBQCAQCAQCgUAgEAgEAoFA&#10;IBAIBAKBQCAQCAQCgUDwv4D/BzR/CDSC1LItAAAON0lEQVR4nO1dP2hcRxr/zXEgpZQMW6TaIiAb&#10;XMQwpDBIBhVJc4VDHFjDNUkRkAwpXKkwaA0uXKUQyIIUSRO4BdskRaoUBlvg4nhFCoO9cIWrFAJJ&#10;1zmq3hXffJo/b2bezNu3knKeHyxPu2/mzbyZb77/MxJ1XaOgoKAgBX877w4UFBT8dVAYRkFBQTIK&#10;wygoKEhGYRgFBQXJKAyjoKAgGYVhFBQUJKMwjIKCgmQUhlFQUJCMwjAKCgqSURhGQUFBMgrDKCgo&#10;SEZhGAUFBckoDKOgoCAZhWEUFBQkozCMgoKCZBSGUVBQkIzCMAoKCpJRGEZXSHEZUlw+7270DikW&#10;5/Zu9NzlDnX66Uvuc7q2K8Vya109zoud6p8TCsPwQYo3kKJumbTX6mPWy1sMFw3U/3eg99qeQwuv&#10;AbzsUOd1a6k2SPEvAK/VNaf8iw6tvVR1Y/SzBXqvrY71myCaneuZm3+f58PfK0hxBGAJUtxBVT+K&#10;lBtjPovRxBRVnUtstwA8Vt8mqOrbvffqfLEHYARgBCk+A/ARqvrIW1KKNwBW1LdXZ9O9MwZpNkPj&#10;l5G6rgC4pu4tAACqWnChi8Ew7AmaJ+yF1Bw0xkBd1yGFe+8tqvpPT517AHYB7EKKEap6bfbunhGk&#10;eARgQ307ATBVjC0VDxtjQmP7GwAEx4Lm/Zn6PGjp45vI3evBxc+o6heQ4hKA/wBYAknxJlO1JfQN&#10;VHUXDaMJYshXjV9Gp9cmjQ3VdRtSTK07VT3u0PYYswgpKdZ4HC4Gwzg/bCE+kLue3+4DGAOYwmRy&#10;Vf0IUjwDqZmrSuNoSjGa8HFyDzUzvYKqji2abmgy6wXkE9cEgN23qv4TUqxG2l1W7R6oT5vAiN0f&#10;ANDjHFflbwL4BcA3gXIT0GK+AeAg+Kz8uXgA/zusIDzeI89v48x2YzCZ0QGIcbt/WwLyojCM69BS&#10;vQ1sz05AizcHB873SaDcFmjhTGAPaqwOERFJsUOQFFsH8CSzj2cDKdYAPDd+yRnLdQAmM3gbKEeL&#10;z5BQBlij2EFVP0FoIbDEN9TiKGiBp/g8ns90X4pcBu7S+DaIIfjo+CWIfu5AL9w+cL+ThmLgYjAM&#10;ksJxlZKh1bfpzBKX6o89bYxAnP9+axtSLFtaRFUfKaaxrhZCqN4i/A4vF0N1baqnTUwS+sumAi/4&#10;YwAfBswsX/3NjLrsN9gA4DKMrwHgdIxI4wgLjbDW4JqIB2gy+RiGYFs9r54rfOJwaVzPZZOOpTgA&#10;MYxn0fkMmWn27/ey+tmCMMNgmyuXI0lxK7pQ/v9gq8MAE0fbGAyRp/r71FMfxsE7TVtWSxyX8TXr&#10;LoMkH6vV7dKK/AYA9V07UUm7WQCwb5Q2n+1DSGtgE5HbPILPNxGCHpN8R7F+RsgH99oRcObzJ87V&#10;xD2Qv+NtS8uh8TJ/vxoo0wkxDYNtrnHmMx9Aiu8R80JfBKQ5gswJn6VMbHEdg9TVEFLUU1Zvw7CJ&#10;+hjm/OgIzyXvnDWdoh9naHf7AD5x8g2YiE3pdw9+4uY5CplMYRPx7GDOywA0XwCN88FpGc10Tfic&#10;nr57TceuaaaZJqZrvuU5sKNoN0mkWExWVzWWABxCiv68zD6QmhqKWrThFfJUUBdDkJQ0iSLWVggH&#10;LWpnu3rabqoAVX1ZMY0dT9j3G1BI9dBiGjGNJBVmhISJn9p/5JR7Ap9WJsW2up/Xbn5kYCUxh6Gp&#10;iVT1ptGu6Ru6bs0Z0WvXaGBTk7WRooFuKXM7BxajSvFh/BdSPMxoYGj8/RxSzOxoCWAAVlO7tBEm&#10;0DcgBnCzRUUfgwjy5lyZYp8IqdxV/QRScHTgEFLsQWsUAGkJn3ZkzO1IkYDxMu2+m7PDRnuRDPMn&#10;PeUghREsJD7LhMWoUhhGlzCbiW1IsT6HvARzgLYhxRaIqLsvXi0BVjLMqXU0HXo5WGnJMeAJfqm0&#10;DR+GM7TPuAM9pkz0U5Cp8Eq1kb4ow9EKV5JfQRp9tZUZW99Sw9d9+DBsmHQ5gBRdQrB5IHNvyfh+&#10;C6SRujRMgpWZUCzypOforfnzWUVJwnkJ3bED4CG0x38BpNGkS8Om1PpWXY9bJNpDhMwMmrx3yJPK&#10;KVx/CSZR9AHq69cgf5X57CkoX+EqdPan7VxshxutMG17N/5/JeO5PrydsX4/oIVq4rn63TXNU82f&#10;VLjRtseqXb9PinwuK0FHN5lVAHDi0u9ZhlX792vQy6ypF/wNxDRWAbxrTdEmhKTWUuQeQI42Zhjr&#10;sBcST94nicwiLtlSErdy7HXNJEawcykAeq87KjRsPvPL7MiXG62IS/L+nOPNjMo2sEYwzHQOvvKM&#10;CeeWHEM7qndBguySUzbVf5YiTLZgJxJyu4eedgFiGBugd/etER6Tn90b55GHMcJsKnwTxIAWHW/+&#10;LqT4FvG0YZZsA2hH1Zdo2z9ACVrs9XdzB3iR/TOx923g57/t/ATyzj8Ajb2rpRwDuGcx16bd/Dgh&#10;EtSm0sdzTrpuD2iq1aGMyjbkmt5TmD4wbc7uQ2tTz0D0RA5lyh6lun35MIhBLoA0bspMpqzjVdB8&#10;v0QzkvSruoYYxtfquufeiDGMZ9GOdsN8oyZVvQkpdqBt5xUQl/VrGyyxibEAwJ6RSBTPMKTUZ24D&#10;qg63Me0xF2XptL3uGMB2xp0A+AHEKMxkIjf7sx9ooqa+0DjdCzDylKgTEKbNUHi2b7hC5Rd13YG5&#10;L4Ycynug9cTvlaPNDFvu/6SuP8DcylDVtyHFNVDI/lurBtHuMZoaJgsX3nTWWKsxhnEXaR7fFNhx&#10;/3mCmIAAbUvmAfkOfk7Ki2QDZK9tesuEQWqg3tbO43Uz4xlp9uwsNi9pRPdBBDsJ2K3meO0nOalp&#10;Czirr7GMwgcgJrUAYoAbADYCNrYdigy37R+PUPQr/Jxw/kL6M3S4lBiEvZGO6Upnq84aSOB2mRHv&#10;GwLMbPeyKuerTZslpRg7EUZmOg3tAogxDOrAB6DFtp7SfwWX86cRX9+o6jXoLdsfRkqyRP23l+v7&#10;JQHvzmQtbATNxVNDfOwUHCAsUUOOQhdDaAnuRyjsTKne5ia7NH+FzWDCdfRiYruaIy+sprvUnJIC&#10;3yeYyc+SAMbJWKn7cdxkvXXQ2PiS+DhxzwfWLtrSv5sp92S27IIY1xgA+7dYANz1PSjuw6BFkSd1&#10;bZtrXjkYaSAiTpUaq/CpaH5JwLsz2Xlkq4JpfTuCFNdBi2bHO06a4cXPp+iyfZme/RM0o0mL6hBR&#10;/QFNxG0M5ncAJoGaavoGpDhCVZsHD+UmFrn9G6Ob9B5lJjWZtP0KwGpCqjxpvy6k4AW94xE2sUOZ&#10;FkCacZuZzwLfZYr3QQyatYwf1e97ITqYp9Nzvv6K/hAK6b0O3udJJcI379xolE3DNqSIed2fRmvn&#10;bJlvMooTmPkr2nH8QYNomj6OUNiOy2+qdpqSl/xNV0Ehd3NRpO7QnP0Urv7Q7jeJb7nfSCzn5nTs&#10;g7J02zBUV1uTpZyMbRD9DcDMOmKai7ru+USvuEOrj+dzh+ervaRuq9b9aWoBtMAGUQlsL0LtnDUT&#10;n7ra1s22TDMC8I0h7ysBji3Jb9dt9/LrfBTdfxor9xCjZaVt5Z37kbvt3f+MP8FSmo8z6OOkMd+7&#10;9JV3Ye8fsfMofGPimwe7r64QiAr6/jWMfMfhxYPJ5e24/gCk3l1XRG6eD3nN86TvQU7NcE4I7ejk&#10;0NuuUos/Rb5dnIJPQeaE3wSi/iyrhbSk3m+KbvtJWL2N978pWGIZrf2B3o1V+kXFKGmz13yOJwyN&#10;gxvB2kfqGRhpQplDpPuB+260J5pScDHOwzgPEOf9XX2LhY8fe34bKHvctHlX0DwoZqiucQIg0+YG&#10;iNNT4hnhuFctikyMlIOKPwZpN+b7TUG7VFPDu08BfN6h//1ntLqwozsfGtd3IKZxDXnv2o6w05np&#10;ZQISOqsAvkl0nKfgO3Xd8bRtahesZdkbEB28v6eGEzGsqM9UffZBksCUBldOP1UtlFpnbie/YpR3&#10;cxg4nt0++cRoXCmwBCleQIpNnMWJ5FKsgU/L1jgBqamXsxYQmWEfd+iFHufYpwukuKW0J567L08X&#10;Br3bJVCkYgWULfwIvn8D0Afo3wwcgRjEMar6tjLVjkFHJox7aEPnv7hmMT2f6XWCql6Edooehtrv&#10;34cxb5y3DyMUTnRtfx2utH0BzXaWVTlTmk8AfAa/pJ1CJwFpr3dXiaTzUD6HHZql8GefhyH5fBj6&#10;3nx8GDoV/jvo94vnBdkZw1x+B6kh89i7NOe7SR+6/gmAu0FzttmuPSa+tULmthmqtaNctvZFYV7j&#10;Hd5fkyQXNNF/QBOdG078CHyWp+3gskNZRMD/APAF/Iv0puEo86V0s1YEmL6FZnKOz6G5DPLBrMOf&#10;Js79vTM3p3UutKR7pT4D6OjRiaf8ZegzR93xBdJOCtuEFHwKPI8TRxO41F6yv46Y8gjEuMz++PtC&#10;Z5eMVZu7yvw9BjGs1DZ5kZ+oaIjvaEbfIdW3IcVTkCm+BNJ2Tp3BhWGkgpycP4Mmvmnj6bM8D52a&#10;OgGGFqx7HwgtUvq+Cc6FocUwgna+moldbn/H1vdmhIRxAtpktHdBw+B8vqoPvv06IzTzMPahDxtO&#10;A439bUjxFfw7er2JTQHwRi/GBMBXUROPFvlDkPM4xNxj4NwONgt/hJ7/ONMkn9olaAF5h2/9FU2S&#10;sfprvoemcDvd/g/EJmjCfP+vYwzKCp2A3qG/RaqjOwdeDYFNAv2/QH7t1bHX3j9KdvNJSTIDdARK&#10;/74Gf6bxTsSkeAF+x76ZIG/9jj3X9y6k6j/tbOKlnJXLWoVOCbfrUL/uZs25E7r96zGMgoKCc8P7&#10;GyUpKCjIRmEYBQUFySgMo6CgIBn/A8ba7jvXcwuQAAAAAElFTkSuQmCC"/>
  <p:tag name="ISPRING_COMPANY_LOGO" val="ISPRING_PRESENTER_PHOTO_0"/>
  <p:tag name="ISPRING_COMPANY_WEBSITE" val="http://hi.ooopic.com/QQB58BB2BC/"/>
  <p:tag name="ISPRING_SCORM_ENDPOINT" val="&lt;endpoint&gt;&lt;enable&gt;0&lt;/enable&gt;&lt;lrs&gt;http://&lt;/lrs&gt;&lt;auth&gt;0&lt;/auth&gt;&lt;login&gt;&lt;/login&gt;&lt;password&gt;&lt;/password&gt;&lt;key&gt;&lt;/key&gt;&lt;name&gt;&lt;/name&gt;&lt;email&gt;&lt;/email&gt;&lt;/endpoint&gt;&#10;"/>
  <p:tag name="ISPRING_OUTPUT_FOLDER" val="E:\设计\项目\自创项目\2017-11\球形微立体"/>
  <p:tag name="ISPRING_FIRST_PUBLISH" val="1"/>
  <p:tag name="ISPRING_SCORM_PASSING_SCORE" val="100.000000"/>
  <p:tag name="ISPRING_PLAYERS_CUSTOMIZATION" val="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OUKiUuLhOzRzQQAAF8SAAAdAAAAdW5pdmVyc2FsL2NvbW1vbl9tZXNzYWdlcy5sbmetWOtu2zYU/l+g70AIKLABXdoOaDAMiQNaYhwhMuVKdC4bBoGRGJuIJLq6OM1+7Wn2YHuSHVKyY/cCSUmAODApn+8cnst3DnV08iVL0VoUpVT5sfXh4L2FRB6rROaLY2vOTn/5zUJlxfOEpyoXx1auLHQyev3qKOX5ouYLAd9fv0LoKBNlCctypFePaySTY2s2jmx/OsP0OvL8iR+N3Yk1slW24vkD8tRC/fTr4eGXDx8Pfz5618r1gQmn2PP2gZBB+vi+BxBlge9FgEa8iJIrZo30/2Fy/px5LiXWqP0yTHoWkAtrpP93ys2DgFAWhZ7rkMgNI+oz4wuPMOJYo2tVoyVfC1QptJbiHlVLAXGsZCFQmcrEPIgVbOS16FLm+FPs0iggIQtcm7k+tUahKoqHtwaW19VSFaCuRIks+U0qEqMTMsY8XxWiBNW8goxC8FctJfxSZVzmB92qL6nnYyfCs1k0JWGIJ+Bctj0UIO3B38tqCc8Sod6Civs8VTxBt4UAQD9EfLVKZdz8UoarQls4S/lDpxUBvnTpJGK+74URoc5mxxqRPEFOwfVhB6IEOCQBABS8FMUTZCOT60Yc4TQdhnDmTs48+DBtwplcLFP4VEPtmBHIhJnIu6QgU0kAOR6Gl37gaKeBKsTRipflvSqSvSzdjWcXsEttHwrBZjvgTGNsgCE/JLBXUYi46gLz8JzaZ9GYUfg6JuBcj9d5vOwpBxXy3STdTckaYrWbeJ3536JFY/8KShwYyR8i4Z8DEZ0PkbgmIZAHCbtkKL5wJ1hTgSafDTNsmCfmutDTB8TjGOR0SNdS1SXsaJcAPxgOKg+GqQnJpzmkkou9HxBcgwoRN6uFXAuwo0hE0akIONcmjs7sT3P3j+gUux5xIkh1IKCImWagNWb8AeWqQjxZ8zwW6EbEXMf0AZ4lMjHPdO4Z/Z9r+TfiVcu3b1qqpg65ejPUnj12/45ZdQk2VZXIVlWXau2w1vynWKHr7Icm9Dn60/SHNqE4cP2XiUwpszpt2sCz47O1bGiMOo14pqf6R+ulLQkbvh+7QFhjqfpLEJgzdE+D0SDtL+XSU1A0a9oG9BU3vx2gk/otAFXoqRgX4Ko9Ey403feXvyTj0GXQMy7FTSmrzoHMVGMToO+HNoYJOBWVeCzGG3GrYPZLBV83cxl0RhPpzoDujH17rYK5zAOTKQAu2pGqRKnMwP6kB+Z8SjYeaAh+7ySXqk4TU7ypvDMkD76tM/HtQHlbqMzsprzcJG/TZE6eY0VzuKBROhswkmzrr3d8dsrv6VEKCQ5gCLExtfXkYutaTXsKQQloV3gs3Aw+UAsZr+IlNNNbVedJT6DmFuOQUwxg7ZlDwYt4+d8///bE+MqSZhe1u78PAtEjGbAg2YL9SVUlyr+6QBge78uZRR+p9ta3ket5CWQuZOGL3K5401oylcHWQbdeSPI2aJgxbJ9NoQ5Ck/aqLmB0G4IwxcE5cJm5GVijKS/ugAiZUukgFONqnYDVMO2PF++6SmUuhsg+r5XoAzN3FmHHMW8hoPjgknnX9MwEbjlx+zoiVYveYPYZpsCzX+GJRFZDAQNCtm8Z9E3a3Fo9uBZDAvWoStPaNiwGRNGsH2li/W2n265K8yro6N3Om6H/AVBLAwQUAAIACADlColLsXU6XJgDAADBDQAAJwAAAHVuaXZlcnNhbC9mbGFzaF9wdWJsaXNoaW5nX3NldHRpbmdzLnhtbNVX227bOBB991cQLPpYK+km2TSQHWQTGzWS2G7sXvIU0OJYYkORqkjZdZ/2a/ph/ZIORV832URJa2AXhmFpOHPmPkOHx19TSSaQG6FVg+7WdygBFWkuVNyg74ftV4eUGMsUZ1IraFClKTlu1sKsGElhkgFYi6yGIIwyR5lt0MTa7CgIptNpXZgsd6daFhbxTT3SaZDlYEBZyINMshn+2FkGhs4RKgDgN9VqLtas1QgJPdKl5oUEIjharoRzism2ZCahgWcbseg2znWh+KmWOid5PGrQF4cn7rPg8VBnIgXlYmKaSHRke8Q4F84KJgfiG5AERJygubuv9yiZCm6TBsXHwAmEwV2YEtz7zhzMqcYgKDvHT8Eyzizzr16hha/WLAiexGeKpSIa4glxAWjQs+HNae+yf9K9vvnY+mvQGba8CY/IvL3ut64uOt3zm2GvdzHs9FdSaPyG7jDYNC5EJ3SRR7C0LcSUZEzNLnSs/2GwAYsFJVkew1C3BcZrzKQBSj5nEL8rmBR2hjHcwbq7BchOTAaRvXIBalCbF0BXcB4Q7cKoraK/f7CK/sHBhu+B17/y6z4zQ2YtixLME/pb2hYG66QF21irjWS4dzLSki89gnQEvMtSWCu/wa1QbeTcpWSMSZDoay8DRQZMYckLi/5HSwBTjIwVtiz19pz7JBdMEsTDngRyObgTjyhhOTpp1unz0Ls6i5ofdSE5memCSHELxGqC+StSfEqArBckGec6LanYM5YYKVDjRMAU+LGPpQf8N0XXqCItUNKFWYL1Gr4U4hsZwVjniAtsgu2MdGE8fv1JwBkzZgXKFja+HFx0zlo3ne5Z69NL5yDjE6aiJ4Jj0iHN7Fbw2YwobRdyGI6IFQbKpHDBy7MqvtWfnwYj0kL6NP/uZKxBbzEl29HylMQ8akFltQmblI3omquExhYUmBKPiQcRjgyhCqgKGDFFtJIzwiIcy8a19UTowiDFN7CHNs+30MsTocq3GMcbasw55JUgd3Zf/7G3f/Dn4ZujevDj7++vHhSaL6y+ZE6d31inD665RyQfWHbLRXF3joaBm/H3j/xyNf1XJ37/qvWhSla6rU/DSgXRGlSC61Xh6p1X4bryK6q/tp4qmYAjLfYtikNNilRY4L+zQJ9RKr98O/C1tp1S2aLfv9oi/xu3/dvysrxxOw6De6/87iQVSqQYDDdYl/8Tmvt7O3jfvveoVkO0zb9dzdpPUEsDBBQAAgAIAOUKiUt6CqCyzwIAAIcKAAAhAAAAdW5pdmVyc2FsL2ZsYXNoX3NraW5fc2V0dGluZ3MueG1slVZtT9swEP6+X1Fl3wkb22BSWglKkZDYQID47iTXxKpjR/alrP9+fkvjtA0JPSHVd89zdz7fXUnUhvLFl9ksyRopgeMrVDUjCLO6kbBsFIpqHqFsIIodTDAhXwCR8kIZTaub0XwepQ2i4GeZ4Kh9nXEhK8Kixdc7+0liixxjiS3IqZw1yaALc2k/Uyg+xs9LI0OETFQ14bsHUYizlGSbQoqG56OplbsaJKN8o5Hnvy+Xq8EAjCq8R6h6Oa2ujEyj1BKUApPSr5WRURYjKbA20rn9TOR0oT6+/QFtSxVFS7v+ZmSIVpMC+kW+ujYyjOfa+ydexREQ/qGGXnw3MghlZAey7/zizsggQ9RN/alspChMQfucjx9xz2GC5Hr8NOH23MgowVzIBBp9BV+eH7dGApD/Gs59YsZVCvZk6nqwEMyjpwwWZm8kcXtyNlWK98cG9XzAYk2Y0oBQ1YGedNJPpFGtm76uwz3DO+V56MtrOsibYE0FS5dw4K6v7/DL5Y3dFaHTvS7IUMLWK4MUO2WH/KvreoQMlB3yhdEcHjnbHWdwaHKk9pFviH/Oj+uvrcCJPu4r1h5bswn1YGZXhcG9pgVVIoeFWQl6YROkgr/SCswDJrE1udzio+QSTra0sIw/BpfuXhBqlcQHet9zpzssQYoMTjWezVSv66DK9jjelu7HobugO89Q7/J5RBBJVlb6riqaed48stVxP4vHFF8bkPd8LaaSKiI3IF+FYJPjcIEwGSzckA3BkzioQhKfrnLinZwqP2+qFORKvxqFfff0lQ5Y0qJk+g/fKLxDfsAYsDoqltofJ1Q3o3vHQOGbAIjMyrYF3MFZqoYhZbCFdgkECnvlobslSo/eUMNd4wOsMRwWrznoyXCauqb0O6NrlhDXN5wgvOm8TjOcpd/4HtfvfCSpslfrbYCxFd0uNtN+IcgpfDv1XGv7cRG10vwD+h9QSwMEFAACAAgA5QqJS3hHtLmEAwAAUg0AACYAAAB1bml2ZXJzYWwvaHRtbF9wdWJsaXNoaW5nX3NldHRpbmdzLnhtbN1XX2/bNhB/96cgOPSxVtK1WRbIDrLEQY0mthd7a/MU0OJZ4kKRqkjadZ/2afbB9kl2FP238RIlqDFgMAyLp7vf/b+j49MvuSRTKI3QqkUPmweUgEo0Fypt0d9Gl6+PKTGWKc6kVtCiSlNy2m7EhRtLYbIhWIushiCMMieFbdHM2uIkimazWVOYovRvtXQW8U0z0XlUlGBAWSijQrI5/th5AYYuEGoA4DfXaiHWbjQIiQPSteZOAhEcLVfCO8Xke5tLGgWuMUvu01I7xc+11CUp03GL/nB85j9LnoB0IXJQPiSmjURPtieMc+GNYHIovgLJQKQZWnv45i0lM8Ft1qL4GHmBOHoIU4EH15mHOdcYA2UX+DlYxpll4RgUWvhizZIQSHyuWC6SEb4h3v8WvRjdnfevB2e927uPnV+G3VEnmPCEzPvbQefmqtv7cDfq969G3cFaCo3f0h1H28bF6IR2ZQIr22LMSMHU/Eqn+huDDVisJ8nKFEb6UmC8JkwaoOSPAtJfHZPCzjGGB1h29wDFmSkgsTc+QC1qSwd0DRcA0S6M2jr6747W0T862vI9CvrXfu0yM2bWsiTDPKG/lW1xtElask202kqGP5OxlnzlEeRj4D2WY4AHl4qSCUZdonP9AhQZMoUlLiw6nKwkjBsbK2xV2pcL7rNSMEmwfLEHgVwPHwQgyViJXplN+iLWvrCS9kftJCdz7YgU90CsJpgwl+NTBmSzAsmk1HlFlcxYYqRAjVMBM+CnIXgB8N8U3aKK3KGkj6sEGzR8duIrGcNEl4gLbIrti3RhAn7zWcAFM2YNypY2vhpedS86d93eRefTK+8g41OmkmeCY5YhL+xe8NmcKG2XchiOhDkDVVK44NW7Or41X54GI3InQ5q/dzI2oPeYkv1oeU5inrSgttqMTatG9M1VQWMLCkxJwMQXCU4ToRzUBUyYIlrJOWEJzmHj23oqtDNICQ0coM3LLQzyRKjqlOI2RY0lh7IW5MHhmx/fvjv66fjnk2b0959/vX5UaLGhBpJ5dWFFnT+6156QfGS7rTbDwzkaR36o757x1S76ZsSP/7sZP7jp/F4nD73Op1GtEugMa8H163D1P9ThuglLabCxkGqZgEMsDU2JY0yKXFjg37MkX1AcOy8A4tHqCPW0n+LYo6c72+B/4mk4rS69W7fcONp5dW8gfft/ULvxD1BLAwQUAAIACADlColLqL2ioowBAAALBgAAHwAAAHVuaXZlcnNhbC9odG1sX3NraW5fc2V0dGluZ3MuanONlFFPwjAQx9/5FMt8NQRFBX0jAokJDyb6ZnzoxjEWurZpO2QSvru7TqDtOrH/F3r97X+7G719L6pXnMbRU7Q3v83+1d2bGGBsRaiCa/eAdh0UeBALCQqYJjrn7D0vgOYMYo/cIqllCafw4Uw0CfDUijHjnVRvGoSy7GIeeJtYBBxkIKZCD28D4Fcgtgs9/H0K9qyympKshiel1pz1U8503as+47Ighomv5mbZJXow34K8gK5ICo7pyKwu8ux4P0LZXMoLQVi14BnvJyTdZJKXbNmVf10JkPUX3zTA4HH0PHPsaK70i4bCTzwbo7pJ/Fcp+M37MEMFYUoSoJbvwKw/UMe4XZBHb3OV6yM9uUHZtCAZtLo0nqBcjNVel7vZcBp2uiGGtyiHoKQC2bIazlEOyEUp/pNS8gw70kLbPT+hlJNlzrKGmw5QQQ5fFm27uncu9G6Kip0rxL0rtA5dv6JrdPigCoDamUrHvMrLuwjZhWZiOHH3vArOofYo0f4owf1H9HlhgLoj99A7/ABQSwMEFAACAAgA5gqJS3jROIyhEgAA9yYAABcAAAB1bml2ZXJzYWwvdW5pdmVyc2FsLnBuZ+1aa1hTV7pGYUQcDY7WESwCDlRrVVCoYDAkIg6XokKlLVAxgaGIloZAIpeQW5U6dMZLENFgkew61eKFGhG5BEgCRQ0QIJQqUUISFJIIIYlkGza5TwJ2zjk/zjxnfpx//MjKs9fe7/ou6/ve73vW3n9LOBi9Ytm6ZU5OTitiY/YdcnJycXNycs5busQ+89dfRn+w/y0iHIre63S332vCfuGSFXEgwsmpjv57c/rv7NduuTEpBCcnWKfjt4iPu/mFk9PGs7H7Ij4pQqsl4WeuH5c8TuddAdq79j3c5xKcFDK4JoJ8ck3KJ3/c91nyw337Vu/8dP8n+5ITHrZ/sTpipcvqXx4ASoSIhyZoj+Akv/afeDpdUnJlonjiNtNTopqaZLqPxJb7xxYforyK9AmLGVQ3QLzfjQ2edbFPDq7O1vpu95egSbbD2wP6YnztT4bXaUw+tvKcTX4n/WPLT/h5uvlX98zdkcRELY6tCVoVY0eGll/YM3hrfpFzX/iXnfhg7nG7nAT7Q/b/8idzN8v9b9kXcEwcCp4DhrXSzGM+hShDd7wGTVI3GA1CmlUb538kch63ydSHoxKgczjyGEq2g/LeRPG8wGE1i2ZRSSCezdIaT365unWs/fWXi3+7W/yjlxG84UIqaWemJg3m2xVy6A5pWrUzAjek7gJ9CraoZvxTV5CzTDdZsnwFbbbTx0rRljM/mpM6EVWF2zvbs4U15W12v4JLrhQLxVywWnviWDIrNAgxHuK5Icj3C0TXTd8JuWDeF8l8rtuLDQauC3wU5w4RUGxEtdH6u8Oe7w8l+Xi4X19bdWGPXa+Wk/2Wjd8c9lwU9IHXB4y+fBBsC0rnWG7obpe0/Sli8Ez33GJHiAzul76ARJiOwhzMPRiMIMu3YCY86ji8OHnc2n7sY7o+bmPQhyODvOYypTmIYis1U8eFe3uAH/Ire7R9BSd6MjCsektUZU0AamjkaEOjpbXOyu4mND/S3kmfc8Xd5kjZprQtpU1elRowxew1qaTijwkjtuAE6QFQKxcgjJcRDxJr2bZUVCn7AgbYnZsaaajkbC19Th4BSUE+NjO8K2F737Ht8mKD/trHyifymh6+IsEAXsw77p1N7WUp49A6VdySv2X/ZhEfNgl3CX9Tr1HdcZ2BzcK/kq+scn4JH+uoC8QlCyh9WbX0S0oGf41YGdb5c9ufNijaqyPH27Cw88c5B5i/Flc1tLFSkSIA35p6mS5ANKbiYHfEEENRN3WJ/lxqAvApOa0U1K/GaU8Vf+KJWoSvPnugtAcLFtWk2p5FmJ/J2axULpKpxxo8FMLn1/CcZDF3m1D+jD+zbj4Ok6TGK9aurKOElcPe+3wG20Zolq3Tt/BlgkVbXYX6TJmS+126pVZ7TTdCkBFmBScJ4S4KJRtgk5GfEThdQkL18ZzVbCq1uvNVWE4vpY8yriOiif2GXZmjlQIQibdU8HejAF3jsy10aCAihH6cQmXT9QPVAvCZQpcayhDG5E7OiBVc2CUZa0T2gMviHDzCpL8w1vUIlWMV9O46/neCRp8mc/F6pi613/MfdzfPp6Ncnhbi+jrDtbm0omSkjR7pOpTxUxOqZvnymru7hSTTFUUb9vFpMqLRtRv+TjyhiogmNXW/ePMsHf/XKxWmlOiSis5ZBJDKXX+40e/hsPFZo5za2CQAq0oKmfziLilXm9iEEYDwmeRD0qSoa5tFQv42YSAKwMTXBAi1BwIEprOIRoOln6UMIZKYKqOp+Jh/Mg0HqkZs2zLnAi3ney9yo2ut8rnX9bGBrDb6pc7DOa3hXj5fwr7mD+/urdHfq/QRlWQM70YoKH3imZx6qAh/rF9MkCBY7APSRkqqWMwqBc1FU2P3kY0NHH6FbpfCohR2hq0ap/Rh+9mW4VTbwJ3dQVvH73Evq5RcRRqAryYiawLiweluMZ2zLBP96B7MX2W5bi6m5AR/KDk0n+BLPkcl0l6thAaCYL2mZPd8ZUVJSk6T98D5naVNGUL5QHoIrsqZRL0KxLPJpKJe03dNaslGhjxsM/047Cc2GlYHgg/Cv/1RP3Oc6+In5+t9eVjKV9li09U5/RKqhRVCQs/YVSi/Xy2CHUHJhZicegvhgkroEdSXEVsTAOi8+j3bdXnVfKZPk2NfTSOw8JrsecqV7FFlGZvsXntK/mPYEKMCSITVMJCN+nqQpKYowuRY8Pk4x1kpfbGDjpVeVuHc1WweMaUYphcLzUqk0jK1fh/Y2EY/TuXpMjTQMw+H6zwPNbqCiBn9U28DkcrD+6gsV0mm48zOmXoDaLrHASqacLbaWt4mu+eICM+luh0S2DIxvtVzdSN0sRFXFXit+cZbdq8oOQJD8NEt1jJ8pcDCn1lJvs2WvDf289lV8Cfq9XvARq8gUaSKrCDf5RUmILL8u/i5FABe1N8BZ7CAp8wSRRswIrx1wVduVbwm1errsFWL0noy+jMAVdbSLr4f77yaP/1E3SSv63W6eH6Fy2aIY6X2WoTa57cEYFZaAJCU2/t9EOogSELRA3lon8PUESuxOz/QUm9+Mp/KoYdgBfCHWHe8+2bXOq9x/K4q03l1hykZXtGnhq1Hul9SKUebuNpKRVplCbrWtbeCz6bUsqUzebV0bNTXbKHXVlGnwqtNJCBY4qJPEcW3ZHeI/Xf0VtCqrBvPw6LETAGY100nmPQGoMXy+d1Wbs9fKPvv6DOQY59qUPQM0wfnIhlCPtFi6QUeIf5qIN5F0cOhOo6W/JUyjKTdzZNy1cNvVf0Etpcw2oKDL1fmXirBabIvOX8Oy2J8yFr6rTqLJtxM31Q6XFfoww9ofZCf3LVoJ7TbueMB8kd1pjLEmU/B8S4rq/n3vW8mWr2+creQgHDUCROWjfUGb/TxJwcsQIs5AWweG9BSNOAARclG0FHB8W+JI1Je/w8ovEzpe0k4qRj9EPqDIV9KnViU03OSpFFtfnDehZ4SVck3by2gooLXYQXHyiCKTBP8DuesHD4yfGdp+Xw5uxa0vPek+apzwl3AebptcfolYQhQvNkM/ylwE21Z+ExMmalf2wcWr+m4hpeBq0zEg8GLJYWvYw3BYJmYt1UORyj4tsy3QZ8MP6tMYHaOouEefXH9oo998Td70/Ho02XCMGXaFZWCT57ZCVzjXiei3A1Tett9BES00j9GUhnU5Xa+5uWdcc2whM4bl5HpVBlpM370Nfy1MPNOG4VbEO46bvgxlyRaz0Y474k6PTIz0FF8F1DFFtfNtSPX390CbJZ6j0MwM9ggFwu3Kuv7PNfibwqzbBA6L7e3bTINLUXigD/sHTzztuCnlaJ3vC7D7a1MWvbFnq4XKIySeoy8a3wH5ufAibb5VFlx2Zm45CT8e+UeG8LeHVw7yDGOruO+yz2x4q1QLBLUBs+Wb3zbK33571ul8utH5ziVmQwKl3w0eE1j4q2eZ7O/Zf6r4/o/NWgf2qZ50f+m81M7+5hHXbX25tTprIt92ONpb2mdvg5a5ZjJ9HeMPTGOseKCY3zfb5F9tDd69vH7BcACYAGwAFgALAAWAAuABcACYAGwAFgALAAWAAuABcAC4P8DMOlcOHdoFmsD5s4my/13/mfHav6x8weRseXfvV2ggXTOxWYU8TTUmXpAwtEPHS7EWCaTtEjwirDthK5ZN6vbBRa958BoG5gTM/2JgfUIxexEPK34l5RAUR9WMUOCLO+M16EUcOjlhVEtzWaSrOW+Pi1xNd3vGesbu+yQflgbSDMI4kzd0jh5LUNJuJ2qvFWdEd+tfQEXWgYDvN2os50+GmQ744h30/W1opbPUHRbou7LDXaoQLApnpXp6yEzSSGrZQrGUE1JZm4JtHLQ+s3sI7+OxCMYXfN7nEpv05oYNo71R8f7VjSyTjf3SpVXw2xJVEsUn49Db4jUwamXF9K0EeFrytH7bWeSfIkNdp8MTuuW9XJs51uW1Ay39u3s1qrBnhjfiV9MmLbF3XdO27WHMVhHZCbczey82xxx6kVz02vQaHWxO5wulcr4fLs/r0MMxj8wYmjDs7CnUuzdA9ypUeIX/mVvXqktFPJyx7tamsh4wPTZnIQe1PTswFmXaCMI2MiQREuFNOdCpUVR0ssC/2rRbytmkZTVhQW21onhq19qQ0STdJp5jAfoLcXpfh2NhEDStwSBU9mO0adJGI5pWMQtgBRVOOSYXoThmZ7UIJ+qPH5//Ve7dIR8IHQIXkCz62DE0S2B+zn7DzYUVmXrB+z7EXNvArCZlZJsFmdog2+gAD6ubpJp8vGSkajBFzNWpHe57WMSJCl0l2oGxJGOsFNvsI2k55iGDuOeSgfKtHnbGbjAdwmGD6CdKBmapgGRMtSLT0hN8EzkEjF9DFFKvKoifC6/r1feIZqMeSPFr7QySvCqr4xDTdx8yCCkUQs9nl1UKULKYU0QlBdv5edaQtEigUIEjnnbQ46TxA2haHmM/p3Ag5TDvBPpWmBEUCjCuM+S5DxI0foa594BBhmu1g81AWNzci0etcItwg19WzBKkRifgjx63LKpQwlo+vkvBrCJUtuIAqkxWdzOusTRjL8CxkwX8YbRCjplKqMQZZ2ma6k2kwx8aH4VjWohyS8l7foT5i/ggN0T5zOwrCZrc7TdB+6o1MdeZYSB3vQiNBdZKvF0wy/tFyqN8FdCyn74Ujp5iAJj8czyQBtB0hYuXx0FNsY5trCm1q/D2KZI4613Uwyg8CnMJGbiuBJUVVzw5zFVwqJyejzVUpa06qwefrXqQtpmWdl2WUna7sXjobYknvFTuVIscKwqo0yfwYyEf6PTiXd7gLWljXa/eWUHyEx5dMexuZB3dHupAD7V//521zE1C0Qm5oRCO/pY/OWLPb0VWPC5Pn9X88NbMzmEj5hxMA3hJkD/M3U/OKIUqQiYPoLg+yDW1krx3UYfUJlOxQR0x9x7Y0/1Ft4Gwiy9dpc4MlPaiFaKZdYZSTTK+At0hF6Trk3orfcetsdtXi2brOWHOxLQKkMrh72TlblV9QnUcL8IKVPVyxJFWitM6wjPycc72s7SNDYuEI6yp8vBK/SONt2Gkggp8of2Av+uyu1Cwu6CXsoNNvATu5/cCzDigldtpeguAmTFax9Sac8ztLbTx/paoy8yqNf/nTgUKTaZdp3fydBa5jaIbxOrUlXXCrAwffCyWvlr0iRpVW+m3XLP9fh2NCYl95aDESoMHnbv33AijpRGnWoYKeCwPNcNIpTb/Dp+dGRXoqdbzq/Sa5VZ4Q84PPpYMsEgpZPsDn4zFfq8lQW/p8i9CiiDLXCoVx68avw+8dN2Mu/Ujp9w74LvubIpmlAJFLfi5dtMMBjM2Ys8gxXTOdGnUmkcS6U28l6PuFFUBUGI6FPmlOYP/ToGpYx3x0OppJu94iHVLL6kBvvf3KrWD/lAdhqfSC9V5022h/lFUHtPhrIWd70o1F5yUak/Cw7opbsboigOftmsillpaP6RaGL7dYwEsHwrk96plS3NQzyO2a41ldsD31CzHOLmvQikTp+xeb0Pgmq54fFpwDSiZMKLdCemfvNoc5ZVePTzwCqMcN5wtHv4MXTQqnERfO0N/fcIOTZj/WJFyMSAaAJQvTUUVBH/3P5gvRv+uTFVJBhShmJa7lnulxBpwmz/SohyPOrUDZlFU1jI4hong53b4Uh7yskso66oZ+Ff6/AmNY7WSnpfwes3tBJuq2WPMnSooyCKS2L4FJMc1nNgnOuW1BpYrfiCr2LNIsKsJJtEA2WUUu5BW+qc6eCOZFmILG4DNvoUlv3VkpP5Xil20qDIH4Febo0lj9/zdAuhTMRhWkgWvaiQ/3U4OyfHbyKXRPOhd9tu9hlb8qesDlNlMAv0ZOcclT9fHgJNnD7nEvgz3GLXTwVt7GKsnDq3eOx/MiVyieMrIrHxijW7wFEk7uifwiB78iTCLAarC2CZytJKyWAftMIFYy+2pkw39vmTe8Ik/yofUBlu6ewnc0z/PoabKwsMrnRUCD2LRoEev4t7A0SlyrHs/YPE/yooBoart87ixjzliOZ1fdCeopi5kmR7aavQIe1mPJBJUezCA3N0D/bv1ppNz5Fb/U5ejw7ErG2ACnXE4lcitOO7FZLtjG0j6eO5B3UI2+FZexm/xd3/KMvzxlpRBu/hNqgaclTisXA6Da3NvMjqRD01xq9AV0XaXMYorUX+RbdVF4VBHwU2kilPMszAIQ1IJKsv2UvrthPnZMDo1XppA/fvL3cgUwqmY16/Y0swbP3Bf47dkR34bZEd7CxOtle0juw9djFzLd1log7pN+tBvvyxoz9hqjdXT8DYb2oLVwiJCHuLgX7b8LRw/9NO539rlSZsra0m1LfvnHZ+eazW8YmbU+yfD+67uzft1D8BUEsDBBQAAgAIAOYKiUu2gi+oTQAAAGsAAAAbAAAAdW5pdmVyc2FsL3VuaXZlcnNhbC5wbmcueG1ss7GvyM1RKEstKs7Mz7NVMtQzULK34+WyKShKLctMLVeoAIoZ6RlAgJJCpa2SGRK3PDOlJAOowsDAEiGYkZqZnlFiq2Ruag4X1AeaCQBQSwMEFAACAAgALJ1DSw3AMR7AAQAA2gMAAA8AAABub25lL3BsYXllci54bWylkk9v1DAQxc9bqd8h8r12lgpRrRx6QMqJokoLiNvKm0wTU8cOngm7++2Z/NmkW5BA4pBo8jLvZ8+z9f2xcclPiGiDz8RapiIBX4TS+ioTXz7nN3fi/v31lW6dOUFMbJkJHzyIpAQsom2JfY+G6ky8ECRDRcIvj5sj2kzURO1GqcPhIA+3MsRKvUnTtfr28HFb1NCYG+uRjC+Yu+zlViRttCFaOmXiXSqur1YD8gJnkXt8hcF1/cooi9CoNgKCJ4hq3PZs3dDfzfw0wSs6tYCCR18Ns+9N8fwQys4B9tpKj21bIOoJg7bStLHrO59gLDIxNuwaQDQVoHS+Emr0qj+Y9ZMzWE8cvMD23LbbO4s1iyN96N4t6u5sGbJXE0ddgnQzTDCcYt45l4OhLkIpkgg/OstV3mO/zkeQrsW4nOfuHT5bL/FQsMZVbgoK8fSBHXwkU5Ryjl6O0cvB1NuH4hMXj1Oc2wUyB7OEoGtq3Nt/zqPv/p84SngynSNxXsH6Eo655b8EDY9CwDP2mqTWyX61M5V31+2bF1fjQhp3N2XxHUVCJlbA17A0ZNSizzD1mqbV+DklNMei1e/3Uk9ELn8BUEsBAgAAFAACAAgARJRXRyO0Tvv7AgAAsAgAABQAAAAAAAAAAQAAAAAAAAAAAHVuaXZlcnNhbC9wbGF5ZXIueG1sUEsBAgAAFAACAAgA5QqJS4uE7NHNBAAAXxIAAB0AAAAAAAAAAQAAAAAALQMAAHVuaXZlcnNhbC9jb21tb25fbWVzc2FnZXMubG5nUEsBAgAAFAACAAgA5QqJS7F1OlyYAwAAwQ0AACcAAAAAAAAAAQAAAAAANQgAAHVuaXZlcnNhbC9mbGFzaF9wdWJsaXNoaW5nX3NldHRpbmdzLnhtbFBLAQIAABQAAgAIAOUKiUt6CqCyzwIAAIcKAAAhAAAAAAAAAAEAAAAAABIMAAB1bml2ZXJzYWwvZmxhc2hfc2tpbl9zZXR0aW5ncy54bWxQSwECAAAUAAIACADlColLeEe0uYQDAABSDQAAJgAAAAAAAAABAAAAAAAgDwAAdW5pdmVyc2FsL2h0bWxfcHVibGlzaGluZ19zZXR0aW5ncy54bWxQSwECAAAUAAIACADlColLqL2ioowBAAALBgAAHwAAAAAAAAABAAAAAADoEgAAdW5pdmVyc2FsL2h0bWxfc2tpbl9zZXR0aW5ncy5qc1BLAQIAABQAAgAIAOYKiUt40TiMoRIAAPcmAAAXAAAAAAAAAAAAAAAAALEUAAB1bml2ZXJzYWwvdW5pdmVyc2FsLnBuZ1BLAQIAABQAAgAIAOYKiUu2gi+oTQAAAGsAAAAbAAAAAAAAAAEAAAAAAIcnAAB1bml2ZXJzYWwvdW5pdmVyc2FsLnBuZy54bWxQSwECAAAUAAIACAAsnUNLDcAxHsABAADaAwAADwAAAAAAAAABAAAAAAANKAAAbm9uZS9wbGF5ZXIueG1sUEsFBgAAAAAJAAkAnQIAAPopAAAAAA=="/>
  <p:tag name="ISPRING_SCORM_RATE_QUIZZES" val="0"/>
  <p:tag name="ISPRING_PRESENTATION_TITLE" val="2018微立体总结PPT模板（1）"/>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PA" val="v4.1.3"/>
</p:tagLst>
</file>

<file path=ppt/tags/tag4.xml><?xml version="1.0" encoding="utf-8"?>
<p:tagLst xmlns:a="http://schemas.openxmlformats.org/drawingml/2006/main" xmlns:r="http://schemas.openxmlformats.org/officeDocument/2006/relationships" xmlns:p="http://schemas.openxmlformats.org/presentationml/2006/main">
  <p:tag name="PA" val="v4.1.3"/>
</p:tagLst>
</file>

<file path=ppt/tags/tag5.xml><?xml version="1.0" encoding="utf-8"?>
<p:tagLst xmlns:a="http://schemas.openxmlformats.org/drawingml/2006/main" xmlns:r="http://schemas.openxmlformats.org/officeDocument/2006/relationships" xmlns:p="http://schemas.openxmlformats.org/presentationml/2006/main">
  <p:tag name="PA" val="v4.1.3"/>
</p:tagLst>
</file>

<file path=ppt/tags/tag6.xml><?xml version="1.0" encoding="utf-8"?>
<p:tagLst xmlns:a="http://schemas.openxmlformats.org/drawingml/2006/main" xmlns:r="http://schemas.openxmlformats.org/officeDocument/2006/relationships" xmlns:p="http://schemas.openxmlformats.org/presentationml/2006/main">
  <p:tag name="PA" val="v4.1.3"/>
</p:tagLst>
</file>

<file path=ppt/tags/tag7.xml><?xml version="1.0" encoding="utf-8"?>
<p:tagLst xmlns:a="http://schemas.openxmlformats.org/drawingml/2006/main" xmlns:r="http://schemas.openxmlformats.org/officeDocument/2006/relationships" xmlns:p="http://schemas.openxmlformats.org/presentationml/2006/main">
  <p:tag name="PA" val="v4.1.3"/>
</p:tagLst>
</file>

<file path=ppt/tags/tag8.xml><?xml version="1.0" encoding="utf-8"?>
<p:tagLst xmlns:a="http://schemas.openxmlformats.org/drawingml/2006/main" xmlns:r="http://schemas.openxmlformats.org/officeDocument/2006/relationships" xmlns:p="http://schemas.openxmlformats.org/presentationml/2006/main">
  <p:tag name="PA" val="v4.1.3"/>
</p:tagLst>
</file>

<file path=ppt/tags/tag9.xml><?xml version="1.0" encoding="utf-8"?>
<p:tagLst xmlns:a="http://schemas.openxmlformats.org/drawingml/2006/main" xmlns:r="http://schemas.openxmlformats.org/officeDocument/2006/relationships" xmlns:p="http://schemas.openxmlformats.org/presentationml/2006/main">
  <p:tag name="PA" val="v4.1.3"/>
</p:tagLst>
</file>

<file path=ppt/tags/tag10.xml><?xml version="1.0" encoding="utf-8"?>
<p:tagLst xmlns:a="http://schemas.openxmlformats.org/drawingml/2006/main" xmlns:r="http://schemas.openxmlformats.org/officeDocument/2006/relationships" xmlns:p="http://schemas.openxmlformats.org/presentationml/2006/main">
  <p:tag name="PA" val="v4.1.3"/>
</p:tagLst>
</file>

<file path=ppt/tags/tag11.xml><?xml version="1.0" encoding="utf-8"?>
<p:tagLst xmlns:a="http://schemas.openxmlformats.org/drawingml/2006/main" xmlns:r="http://schemas.openxmlformats.org/officeDocument/2006/relationships" xmlns:p="http://schemas.openxmlformats.org/presentationml/2006/main">
  <p:tag name="ISLIDE.ADDREMOVEWATERMARK" val="TSZ3HzpXfZ"/>
</p:tagLst>
</file>

<file path=ppt/tags/tag12.xml><?xml version="1.0" encoding="utf-8"?>
<p:tagLst xmlns:a="http://schemas.openxmlformats.org/drawingml/2006/main" xmlns:r="http://schemas.openxmlformats.org/officeDocument/2006/relationships" xmlns:p="http://schemas.openxmlformats.org/presentationml/2006/main">
  <p:tag name="ISLIDE.ADDREMOVEWATERMARK" val="TSZ3HzpXfZ"/>
</p:tagLst>
</file>

<file path=ppt/tags/tag13.xml><?xml version="1.0" encoding="utf-8"?>
<p:tagLst xmlns:a="http://schemas.openxmlformats.org/drawingml/2006/main" xmlns:r="http://schemas.openxmlformats.org/officeDocument/2006/relationships" xmlns:p="http://schemas.openxmlformats.org/presentationml/2006/main">
  <p:tag name="ISLIDE.ADDREMOVEWATERMARK" val="TSZ3HzpXfZ"/>
</p:tagLst>
</file>

<file path=ppt/tags/tag14.xml><?xml version="1.0" encoding="utf-8"?>
<p:tagLst xmlns:a="http://schemas.openxmlformats.org/drawingml/2006/main" xmlns:r="http://schemas.openxmlformats.org/officeDocument/2006/relationships" xmlns:p="http://schemas.openxmlformats.org/presentationml/2006/main">
  <p:tag name="ISLIDE.ADDREMOVEWATERMARK" val="TSZ3HzpXfZ"/>
</p:tagLst>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5.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夏至">
  <a:themeElements>
    <a:clrScheme name="夏至">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3751</Words>
  <Application>Microsoft Office PowerPoint</Application>
  <PresentationFormat>宽屏</PresentationFormat>
  <Paragraphs>297</Paragraphs>
  <Slides>54</Slides>
  <Notes>44</Notes>
  <HiddenSlides>1</HiddenSlides>
  <MMClips>1</MMClips>
  <ScaleCrop>false</ScaleCrop>
  <HeadingPairs>
    <vt:vector size="8" baseType="variant">
      <vt:variant>
        <vt:lpstr>已用的字体</vt:lpstr>
      </vt:variant>
      <vt:variant>
        <vt:i4>24</vt:i4>
      </vt:variant>
      <vt:variant>
        <vt:lpstr>主题</vt:lpstr>
      </vt:variant>
      <vt:variant>
        <vt:i4>5</vt:i4>
      </vt:variant>
      <vt:variant>
        <vt:lpstr>嵌入 OLE 服务器</vt:lpstr>
      </vt:variant>
      <vt:variant>
        <vt:i4>2</vt:i4>
      </vt:variant>
      <vt:variant>
        <vt:lpstr>幻灯片标题</vt:lpstr>
      </vt:variant>
      <vt:variant>
        <vt:i4>54</vt:i4>
      </vt:variant>
    </vt:vector>
  </HeadingPairs>
  <TitlesOfParts>
    <vt:vector size="85" baseType="lpstr">
      <vt:lpstr>Batang</vt:lpstr>
      <vt:lpstr>DFKai-SB</vt:lpstr>
      <vt:lpstr>Euclid</vt:lpstr>
      <vt:lpstr>Noto Sans S Chinese Medium</vt:lpstr>
      <vt:lpstr>Noto Sans S Chinese Regular</vt:lpstr>
      <vt:lpstr>等线</vt:lpstr>
      <vt:lpstr>仿宋</vt:lpstr>
      <vt:lpstr>楷体</vt:lpstr>
      <vt:lpstr>宋体</vt:lpstr>
      <vt:lpstr>微软雅黑</vt:lpstr>
      <vt:lpstr>Arial</vt:lpstr>
      <vt:lpstr>Calibri</vt:lpstr>
      <vt:lpstr>Calibri Light</vt:lpstr>
      <vt:lpstr>Cambria</vt:lpstr>
      <vt:lpstr>Cambria Math</vt:lpstr>
      <vt:lpstr>Century Gothic</vt:lpstr>
      <vt:lpstr>Consolas</vt:lpstr>
      <vt:lpstr>Courier New</vt:lpstr>
      <vt:lpstr>Gill Sans MT</vt:lpstr>
      <vt:lpstr>Microsoft Sans Serif</vt:lpstr>
      <vt:lpstr>Times New Roman</vt:lpstr>
      <vt:lpstr>Verdana</vt:lpstr>
      <vt:lpstr>Wingdings</vt:lpstr>
      <vt:lpstr>Wingdings 2</vt:lpstr>
      <vt:lpstr>第一PPT，www.1ppt.com</vt:lpstr>
      <vt:lpstr>夏至</vt:lpstr>
      <vt:lpstr>Office 主题</vt:lpstr>
      <vt:lpstr>1_Office 主题</vt:lpstr>
      <vt:lpstr>1_夏至</vt:lpstr>
      <vt:lpstr>Equation</vt:lpstr>
      <vt:lpstr>AxMath</vt:lpstr>
      <vt:lpstr>PowerPoint 演示文稿</vt:lpstr>
      <vt:lpstr>回顾：最小二乘法</vt:lpstr>
      <vt:lpstr>PowerPoint 演示文稿</vt:lpstr>
      <vt:lpstr>最小二乘法的局限性</vt:lpstr>
      <vt:lpstr>参数求解流程：</vt:lpstr>
      <vt:lpstr>PowerPoint 演示文稿</vt:lpstr>
      <vt:lpstr>PowerPoint 演示文稿</vt:lpstr>
      <vt:lpstr>PowerPoint 演示文稿</vt:lpstr>
      <vt:lpstr>PowerPoint 演示文稿</vt:lpstr>
      <vt:lpstr>PowerPoint 演示文稿</vt:lpstr>
      <vt:lpstr>PowerPoint 演示文稿</vt:lpstr>
      <vt:lpstr>算法实例</vt:lpstr>
      <vt:lpstr>PowerPoint 演示文稿</vt:lpstr>
      <vt:lpstr>算法实例</vt:lpstr>
      <vt:lpstr>PowerPoint 演示文稿</vt:lpstr>
      <vt:lpstr>梯度下降法求极值的主要问题</vt:lpstr>
      <vt:lpstr>PowerPoint 演示文稿</vt:lpstr>
      <vt:lpstr>PowerPoint 演示文稿</vt:lpstr>
      <vt:lpstr>线性回归</vt:lpstr>
      <vt:lpstr>问题的提出——线性回归做分类？</vt:lpstr>
      <vt:lpstr>Logistic函数</vt:lpstr>
      <vt:lpstr>逻辑回归</vt:lpstr>
      <vt:lpstr>逻辑回归和线性回归的关系</vt:lpstr>
      <vt:lpstr>逻辑回归和线性回归的关系</vt:lpstr>
      <vt:lpstr>PowerPoint 演示文稿</vt:lpstr>
      <vt:lpstr>逻辑回归</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逻辑回归的优点</vt:lpstr>
      <vt:lpstr>逻辑回归的语法</vt:lpstr>
      <vt:lpstr>PowerPoint 演示文稿</vt:lpstr>
      <vt:lpstr>混淆矩阵</vt:lpstr>
      <vt:lpstr>混淆矩阵</vt:lpstr>
      <vt:lpstr>准确率（accuracy）</vt:lpstr>
      <vt:lpstr>精确率与召回率</vt:lpstr>
      <vt:lpstr>PowerPoint 演示文稿</vt:lpstr>
      <vt:lpstr>PR曲线</vt:lpstr>
      <vt:lpstr>ROC曲线与AUC曲线</vt:lpstr>
      <vt:lpstr>ROC曲线与AUC曲线</vt:lpstr>
      <vt:lpstr>ROC曲线与AUC曲线</vt:lpstr>
      <vt:lpstr>c1和c2哪条曲线更好？</vt:lpstr>
      <vt:lpstr> scikit-learn库函数</vt:lpstr>
      <vt:lpstr>scikit-learn库函数</vt:lpstr>
      <vt:lpstr>scikit-learn库函数</vt:lpstr>
      <vt:lpstr> scikit-learn库函数</vt:lpstr>
      <vt:lpstr>实例： 基于逻辑回归实现乳腺癌预测</vt:lpstr>
      <vt:lpstr>实例： 基于逻辑回归实现乳腺癌预测</vt:lpstr>
      <vt:lpstr>PowerPoint 演示文稿</vt:lpstr>
      <vt:lpstr>算法练习</vt:lpstr>
    </vt:vector>
  </TitlesOfParts>
  <Company>tyut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MOOC</dc:title>
  <dc:creator>CZ</dc:creator>
  <cp:lastModifiedBy>于晏 彭</cp:lastModifiedBy>
  <cp:revision>362</cp:revision>
  <dcterms:created xsi:type="dcterms:W3CDTF">2017-11-09T06:06:00Z</dcterms:created>
  <dcterms:modified xsi:type="dcterms:W3CDTF">2025-05-29T14:12:06Z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63055938C56445858D7C86D09596A818_12</vt:lpwstr>
  </property>
  <property fmtid="{D5CDD505-2E9C-101B-9397-08002B2CF9AE}" pid="3" name="KSOProductBuildVer">
    <vt:lpwstr>2052-12.1.0.20305</vt:lpwstr>
  </property>
</Properties>
</file>