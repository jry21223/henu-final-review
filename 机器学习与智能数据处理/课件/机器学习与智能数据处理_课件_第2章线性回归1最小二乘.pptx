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 id="2147483667" r:id="rId4"/>
  </p:sldMasterIdLst>
  <p:notesMasterIdLst>
    <p:notesMasterId r:id="rId6"/>
  </p:notesMasterIdLst>
  <p:handoutMasterIdLst>
    <p:handoutMasterId r:id="rId38"/>
  </p:handoutMasterIdLst>
  <p:sldIdLst>
    <p:sldId id="479" r:id="rId5"/>
    <p:sldId id="428" r:id="rId7"/>
    <p:sldId id="259" r:id="rId8"/>
    <p:sldId id="314" r:id="rId9"/>
    <p:sldId id="409" r:id="rId10"/>
    <p:sldId id="411" r:id="rId11"/>
    <p:sldId id="431" r:id="rId12"/>
    <p:sldId id="412" r:id="rId13"/>
    <p:sldId id="454" r:id="rId14"/>
    <p:sldId id="455" r:id="rId15"/>
    <p:sldId id="451" r:id="rId16"/>
    <p:sldId id="452" r:id="rId17"/>
    <p:sldId id="453" r:id="rId18"/>
    <p:sldId id="485" r:id="rId19"/>
    <p:sldId id="488" r:id="rId20"/>
    <p:sldId id="487" r:id="rId21"/>
    <p:sldId id="480" r:id="rId22"/>
    <p:sldId id="481" r:id="rId23"/>
    <p:sldId id="482" r:id="rId24"/>
    <p:sldId id="483" r:id="rId25"/>
    <p:sldId id="433" r:id="rId26"/>
    <p:sldId id="434" r:id="rId27"/>
    <p:sldId id="311" r:id="rId28"/>
    <p:sldId id="424" r:id="rId29"/>
    <p:sldId id="425" r:id="rId30"/>
    <p:sldId id="422" r:id="rId31"/>
    <p:sldId id="484" r:id="rId32"/>
    <p:sldId id="375" r:id="rId33"/>
    <p:sldId id="436" r:id="rId34"/>
    <p:sldId id="437" r:id="rId35"/>
    <p:sldId id="312" r:id="rId36"/>
    <p:sldId id="377" r:id="rId37"/>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3840" userDrawn="1">
          <p15:clr>
            <a:srgbClr val="A4A3A4"/>
          </p15:clr>
        </p15:guide>
        <p15:guide id="3" pos="642" userDrawn="1">
          <p15:clr>
            <a:srgbClr val="A4A3A4"/>
          </p15:clr>
        </p15:guide>
        <p15:guide id="4" pos="7038" userDrawn="1">
          <p15:clr>
            <a:srgbClr val="A4A3A4"/>
          </p15:clr>
        </p15:guide>
        <p15:guide id="5" orient="horz" pos="3831" userDrawn="1">
          <p15:clr>
            <a:srgbClr val="A4A3A4"/>
          </p15:clr>
        </p15:guide>
        <p15:guide id="6" orient="horz" pos="7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lei"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64" autoAdjust="0"/>
    <p:restoredTop sz="72337" autoAdjust="0"/>
  </p:normalViewPr>
  <p:slideViewPr>
    <p:cSldViewPr snapToGrid="0" showGuides="1">
      <p:cViewPr varScale="1">
        <p:scale>
          <a:sx n="62" d="100"/>
          <a:sy n="62" d="100"/>
        </p:scale>
        <p:origin x="617" y="31"/>
      </p:cViewPr>
      <p:guideLst>
        <p:guide orient="horz" pos="2144"/>
        <p:guide pos="3840"/>
        <p:guide pos="642"/>
        <p:guide pos="7038"/>
        <p:guide orient="horz" pos="3831"/>
        <p:guide orient="horz" pos="799"/>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3" Type="http://schemas.openxmlformats.org/officeDocument/2006/relationships/tags" Target="tags/tag16.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solidFill>
                  <a:prstClr val="black"/>
                </a:solidFill>
                <a:latin typeface="等线" panose="02010600030101010101" charset="-122"/>
                <a:ea typeface="等线" panose="02010600030101010101" charset="-122"/>
              </a:rPr>
            </a:fld>
            <a:endParaRPr lang="zh-CN" altLang="en-US">
              <a:solidFill>
                <a:prstClr val="black"/>
              </a:solidFill>
              <a:latin typeface="等线" panose="02010600030101010101" charset="-122"/>
              <a:ea typeface="等线" panose="02010600030101010101"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solidFill>
                  <a:prstClr val="black"/>
                </a:solidFill>
                <a:latin typeface="等线" panose="02010600030101010101" charset="-122"/>
                <a:ea typeface="等线" panose="02010600030101010101" charset="-122"/>
              </a:rPr>
            </a:fld>
            <a:endParaRPr lang="zh-CN" altLang="en-US">
              <a:solidFill>
                <a:prstClr val="black"/>
              </a:solidFill>
              <a:latin typeface="等线" panose="02010600030101010101" charset="-122"/>
              <a:ea typeface="等线" panose="02010600030101010101"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910080" y="359898"/>
            <a:ext cx="9875520" cy="1472184"/>
          </a:xfrm>
          <a:prstGeom prst="rect">
            <a:avLst/>
          </a:prstGeom>
        </p:spPr>
        <p:txBody>
          <a:bodyPr anchor="b"/>
          <a:lstStyle>
            <a:lvl1pPr algn="l">
              <a:defRPr/>
            </a:lvl1pPr>
          </a:lstStyle>
          <a:p>
            <a:r>
              <a:rPr kumimoji="0" lang="zh-CN" altLang="en-US"/>
              <a:t>单击此处编辑母版标题样式</a:t>
            </a:r>
            <a:endParaRPr kumimoji="0" lang="en-US"/>
          </a:p>
        </p:txBody>
      </p:sp>
      <p:sp>
        <p:nvSpPr>
          <p:cNvPr id="22" name="副标题 21"/>
          <p:cNvSpPr>
            <a:spLocks noGrp="1"/>
          </p:cNvSpPr>
          <p:nvPr>
            <p:ph type="subTitle" idx="1"/>
          </p:nvPr>
        </p:nvSpPr>
        <p:spPr>
          <a:xfrm>
            <a:off x="1910080" y="1850064"/>
            <a:ext cx="9875520" cy="1752600"/>
          </a:xfrm>
          <a:prstGeom prst="rect">
            <a:avLst/>
          </a:prstGeo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7" name="日期占位符 6"/>
          <p:cNvSpPr>
            <a:spLocks noGrp="1"/>
          </p:cNvSpPr>
          <p:nvPr>
            <p:ph type="dt" sz="half" idx="10"/>
          </p:nvPr>
        </p:nvSpPr>
        <p:spPr>
          <a:xfrm>
            <a:off x="4775200" y="6305550"/>
            <a:ext cx="2844800" cy="476250"/>
          </a:xfrm>
          <a:prstGeom prst="rect">
            <a:avLst/>
          </a:prstGeom>
        </p:spPr>
        <p:txBody>
          <a:bodyPr/>
          <a:lstStyle/>
          <a:p>
            <a:fld id="{530820CF-B880-4189-942D-D702A7CBA730}" type="datetimeFigureOut">
              <a:rPr lang="zh-CN" altLang="en-US" smtClean="0"/>
            </a:fld>
            <a:endParaRPr lang="zh-CN" altLang="en-US"/>
          </a:p>
        </p:txBody>
      </p:sp>
      <p:sp>
        <p:nvSpPr>
          <p:cNvPr id="20" name="页脚占位符 19"/>
          <p:cNvSpPr>
            <a:spLocks noGrp="1"/>
          </p:cNvSpPr>
          <p:nvPr>
            <p:ph type="ftr" sz="quarter" idx="11"/>
          </p:nvPr>
        </p:nvSpPr>
        <p:spPr>
          <a:xfrm>
            <a:off x="7620000" y="6305550"/>
            <a:ext cx="3860800" cy="476250"/>
          </a:xfrm>
          <a:prstGeom prst="rect">
            <a:avLst/>
          </a:prstGeom>
        </p:spPr>
        <p:txBody>
          <a:bodyPr/>
          <a:lstStyle/>
          <a:p>
            <a:endParaRPr lang="zh-CN" altLang="en-US"/>
          </a:p>
        </p:txBody>
      </p:sp>
      <p:sp>
        <p:nvSpPr>
          <p:cNvPr id="10" name="灯片编号占位符 9"/>
          <p:cNvSpPr>
            <a:spLocks noGrp="1"/>
          </p:cNvSpPr>
          <p:nvPr>
            <p:ph type="sldNum" sz="quarter" idx="12"/>
          </p:nvPr>
        </p:nvSpPr>
        <p:spPr>
          <a:xfrm>
            <a:off x="11484864" y="6305550"/>
            <a:ext cx="609600" cy="476250"/>
          </a:xfrm>
          <a:prstGeom prst="rect">
            <a:avLst/>
          </a:prstGeom>
        </p:spPr>
        <p:txBody>
          <a:bodyPr/>
          <a:lstStyle/>
          <a:p>
            <a:fld id="{0C913308-F349-4B6D-A68A-DD1791B4A57B}" type="slidenum">
              <a:rPr lang="zh-CN" altLang="en-US" smtClean="0"/>
            </a:fld>
            <a:endParaRPr lang="zh-CN" altLang="en-US"/>
          </a:p>
        </p:txBody>
      </p:sp>
      <p:sp>
        <p:nvSpPr>
          <p:cNvPr id="8" name="椭圆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638"/>
            <a:ext cx="9997440" cy="1143000"/>
          </a:xfrm>
          <a:prstGeom prst="rect">
            <a:avLst/>
          </a:prstGeom>
        </p:spPr>
        <p:txBody>
          <a:bodyPr/>
          <a:lstStyle/>
          <a:p>
            <a:r>
              <a:rPr kumimoji="0" lang="zh-CN" altLang="en-US"/>
              <a:t>单击此处编辑母版标题样式</a:t>
            </a:r>
            <a:endParaRPr kumimoji="0" lang="en-US"/>
          </a:p>
        </p:txBody>
      </p:sp>
      <p:sp>
        <p:nvSpPr>
          <p:cNvPr id="3" name="内容占位符 2"/>
          <p:cNvSpPr>
            <a:spLocks noGrp="1"/>
          </p:cNvSpPr>
          <p:nvPr>
            <p:ph idx="1"/>
          </p:nvPr>
        </p:nvSpPr>
        <p:spPr>
          <a:xfrm>
            <a:off x="1914144" y="1447800"/>
            <a:ext cx="9997440" cy="4800600"/>
          </a:xfrm>
          <a:prstGeom prst="rect">
            <a:avLst/>
          </a:prstGeo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4775200" y="6305550"/>
            <a:ext cx="2844800" cy="476250"/>
          </a:xfrm>
          <a:prstGeom prst="rect">
            <a:avLst/>
          </a:prstGeo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7620000" y="6305550"/>
            <a:ext cx="3860800" cy="476250"/>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1484864" y="6305550"/>
            <a:ext cx="609600" cy="476250"/>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910080" y="359898"/>
            <a:ext cx="9875520" cy="1472184"/>
          </a:xfrm>
        </p:spPr>
        <p:txBody>
          <a:bodyPr anchor="b"/>
          <a:lstStyle>
            <a:lvl1pPr algn="l">
              <a:defRPr/>
            </a:lvl1pPr>
          </a:lstStyle>
          <a:p>
            <a:r>
              <a:rPr kumimoji="0" lang="zh-CN" altLang="en-US"/>
              <a:t>单击此处编辑母版标题样式</a:t>
            </a:r>
            <a:endParaRPr kumimoji="0" lang="en-US"/>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20" name="页脚占位符 19"/>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10" name="灯片编号占位符 9"/>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8" name="椭圆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a:solidFill>
                <a:prstClr val="black"/>
              </a:solidFill>
            </a:endParaRPr>
          </a:p>
        </p:txBody>
      </p:sp>
      <p:sp>
        <p:nvSpPr>
          <p:cNvPr id="9" name="椭圆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a:solidFill>
                <a:prstClr val="black"/>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矩形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10" name="矩形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椭圆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a:solidFill>
                <a:prstClr val="black"/>
              </a:solidFill>
            </a:endParaRPr>
          </a:p>
        </p:txBody>
      </p:sp>
      <p:sp>
        <p:nvSpPr>
          <p:cNvPr id="9" name="椭圆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endParaRPr lang="en-US">
              <a:solidFill>
                <a:prstClr val="black"/>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6" name="页脚占位符 5"/>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nchor="ctr"/>
          <a:lstStyle>
            <a:lvl1pPr algn="ctr">
              <a:defRPr sz="4500" b="1"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8" name="页脚占位符 7"/>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4" name="页脚占位符 3"/>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矩形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日期占位符 1"/>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3" name="页脚占位符 2"/>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6" name="矩形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6" name="页脚占位符 5"/>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6" name="页脚占位符 5"/>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8" name="矩形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indent="-283210">
              <a:lnSpc>
                <a:spcPts val="3000"/>
              </a:lnSpc>
              <a:spcBef>
                <a:spcPts val="600"/>
              </a:spcBef>
              <a:buClr>
                <a:srgbClr val="3891A7"/>
              </a:buClr>
              <a:buSzPct val="80000"/>
              <a:buFont typeface="Wingdings 2" panose="05020102010507070707"/>
              <a:buNone/>
            </a:pPr>
            <a:endParaRPr lang="en-US" sz="3200">
              <a:solidFill>
                <a:prstClr val="black"/>
              </a:solidFill>
            </a:endParaRPr>
          </a:p>
        </p:txBody>
      </p:sp>
      <p:sp>
        <p:nvSpPr>
          <p:cNvPr id="3" name="图片占位符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流程图: 过程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40"/>
            <a:ext cx="2438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524000" y="274641"/>
            <a:ext cx="741680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2" Type="http://schemas.openxmlformats.org/officeDocument/2006/relationships/theme" Target="../theme/theme2.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7"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椭圆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同心圆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矩形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5" name="标题占位符 4"/>
          <p:cNvSpPr>
            <a:spLocks noGrp="1"/>
          </p:cNvSpPr>
          <p:nvPr>
            <p:ph type="title"/>
          </p:nvPr>
        </p:nvSpPr>
        <p:spPr>
          <a:xfrm>
            <a:off x="1914144" y="274638"/>
            <a:ext cx="999744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solidFill>
                <a:srgbClr val="E7DEC9">
                  <a:shade val="50000"/>
                  <a:satMod val="200000"/>
                </a:srgbClr>
              </a:solidFill>
            </a:endParaRPr>
          </a:p>
        </p:txBody>
      </p:sp>
      <p:sp>
        <p:nvSpPr>
          <p:cNvPr id="22" name="灯片编号占位符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15" name="矩形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8" name="椭圆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1" name="同心圆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2" name="矩形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5" name="标题占位符 4"/>
          <p:cNvSpPr>
            <a:spLocks noGrp="1"/>
          </p:cNvSpPr>
          <p:nvPr>
            <p:ph type="title"/>
          </p:nvPr>
        </p:nvSpPr>
        <p:spPr>
          <a:xfrm>
            <a:off x="1914144" y="274638"/>
            <a:ext cx="999744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530820CF-B880-4189-942D-D702A7CBA730}" type="datetimeFigureOut">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solidFill>
                <a:srgbClr val="E7DEC9">
                  <a:shade val="50000"/>
                  <a:satMod val="200000"/>
                </a:srgbClr>
              </a:solidFill>
            </a:endParaRPr>
          </a:p>
        </p:txBody>
      </p:sp>
      <p:sp>
        <p:nvSpPr>
          <p:cNvPr id="22" name="灯片编号占位符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C913308-F349-4B6D-A68A-DD1791B4A57B}" type="slidenum">
              <a:rPr lang="zh-CN" altLang="en-US" smtClean="0">
                <a:solidFill>
                  <a:srgbClr val="E7DEC9">
                    <a:shade val="50000"/>
                    <a:satMod val="200000"/>
                  </a:srgbClr>
                </a:solidFill>
              </a:rPr>
            </a:fld>
            <a:endParaRPr lang="zh-CN" altLang="en-US">
              <a:solidFill>
                <a:srgbClr val="E7DEC9">
                  <a:shade val="50000"/>
                  <a:satMod val="200000"/>
                </a:srgbClr>
              </a:solidFill>
            </a:endParaRPr>
          </a:p>
        </p:txBody>
      </p:sp>
      <p:sp>
        <p:nvSpPr>
          <p:cNvPr id="15" name="矩形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Tree>
  </p:cSld>
  <p:clrMap bg1="lt1" tx1="dk1" bg2="lt2" tx2="dk2" accent1="accent1" accent2="accent2" accent3="accent3" accent4="accent4" accent5="accent5" accent6="accent6" hlink="hlink" folHlink="folHlink"/>
  <p:sldLayoutIdLst>
    <p:sldLayoutId id="2147483668" r:id="rId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1.xml"/><Relationship Id="rId11" Type="http://schemas.openxmlformats.org/officeDocument/2006/relationships/slideLayout" Target="../slideLayouts/slideLayout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6.xml"/><Relationship Id="rId7" Type="http://schemas.openxmlformats.org/officeDocument/2006/relationships/image" Target="../media/image11.emf"/><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wmf"/><Relationship Id="rId7" Type="http://schemas.openxmlformats.org/officeDocument/2006/relationships/oleObject" Target="../embeddings/oleObject4.bin"/><Relationship Id="rId6" Type="http://schemas.openxmlformats.org/officeDocument/2006/relationships/image" Target="../media/image20.wmf"/><Relationship Id="rId5" Type="http://schemas.openxmlformats.org/officeDocument/2006/relationships/oleObject" Target="../embeddings/oleObject3.bin"/><Relationship Id="rId4" Type="http://schemas.openxmlformats.org/officeDocument/2006/relationships/image" Target="../media/image19.wmf"/><Relationship Id="rId3" Type="http://schemas.openxmlformats.org/officeDocument/2006/relationships/oleObject" Target="../embeddings/oleObject2.bin"/><Relationship Id="rId2" Type="http://schemas.openxmlformats.org/officeDocument/2006/relationships/image" Target="../media/image18.wmf"/><Relationship Id="rId11" Type="http://schemas.openxmlformats.org/officeDocument/2006/relationships/notesSlide" Target="../notesSlides/notesSlide14.xml"/><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29.emf"/><Relationship Id="rId7" Type="http://schemas.openxmlformats.org/officeDocument/2006/relationships/image" Target="../media/image28.emf"/><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 Id="rId3" Type="http://schemas.openxmlformats.org/officeDocument/2006/relationships/image" Target="../media/image24.emf"/><Relationship Id="rId2" Type="http://schemas.openxmlformats.org/officeDocument/2006/relationships/image" Target="../media/image23.emf"/><Relationship Id="rId10" Type="http://schemas.openxmlformats.org/officeDocument/2006/relationships/notesSlide" Target="../notesSlides/notesSlide15.xml"/><Relationship Id="rId1" Type="http://schemas.openxmlformats.org/officeDocument/2006/relationships/image" Target="../media/image22.emf"/></Relationships>
</file>

<file path=ppt/slides/_rels/slide16.xml.rels><?xml version="1.0" encoding="UTF-8" standalone="yes"?>
<Relationships xmlns="http://schemas.openxmlformats.org/package/2006/relationships"><Relationship Id="rId9" Type="http://schemas.openxmlformats.org/officeDocument/2006/relationships/image" Target="../media/image38.emf"/><Relationship Id="rId8" Type="http://schemas.openxmlformats.org/officeDocument/2006/relationships/image" Target="../media/image37.emf"/><Relationship Id="rId7" Type="http://schemas.openxmlformats.org/officeDocument/2006/relationships/image" Target="../media/image36.emf"/><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 Id="rId3" Type="http://schemas.openxmlformats.org/officeDocument/2006/relationships/image" Target="../media/image32.emf"/><Relationship Id="rId2" Type="http://schemas.openxmlformats.org/officeDocument/2006/relationships/image" Target="../media/image31.emf"/><Relationship Id="rId13" Type="http://schemas.openxmlformats.org/officeDocument/2006/relationships/notesSlide" Target="../notesSlides/notesSlide16.xml"/><Relationship Id="rId12" Type="http://schemas.openxmlformats.org/officeDocument/2006/relationships/slideLayout" Target="../slideLayouts/slideLayout18.xml"/><Relationship Id="rId11" Type="http://schemas.openxmlformats.org/officeDocument/2006/relationships/image" Target="../media/image40.emf"/><Relationship Id="rId10" Type="http://schemas.openxmlformats.org/officeDocument/2006/relationships/image" Target="../media/image39.emf"/><Relationship Id="rId1" Type="http://schemas.openxmlformats.org/officeDocument/2006/relationships/image" Target="../media/image30.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42.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43.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4.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userDrawn="1"/>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userDrawn="1"/>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userDrawn="1"/>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userDrawn="1"/>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userDrawn="1"/>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userDrawn="1"/>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userDrawn="1"/>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userDrawn="1"/>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userDrawn="1"/>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userDrawn="1"/>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userDrawn="1"/>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userDrawn="1"/>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userDrawn="1"/>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userDrawn="1"/>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90773" y="5223413"/>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2856249" y="3018228"/>
            <a:ext cx="7072630" cy="92202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线性回归及最大熵模型</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p:txBody>
      </p:sp>
      <p:sp>
        <p:nvSpPr>
          <p:cNvPr id="160" name="PA_圆角矩形 159"/>
          <p:cNvSpPr/>
          <p:nvPr>
            <p:custDataLst>
              <p:tags r:id="rId9"/>
            </p:custDataLst>
          </p:nvPr>
        </p:nvSpPr>
        <p:spPr>
          <a:xfrm>
            <a:off x="1135131" y="5088567"/>
            <a:ext cx="1994004" cy="413808"/>
          </a:xfrm>
          <a:prstGeom prst="roundRect">
            <a:avLst>
              <a:gd name="adj" fmla="val 50000"/>
            </a:avLst>
          </a:prstGeom>
          <a:solidFill>
            <a:srgbClr val="009999"/>
          </a:solidFill>
          <a:ln w="25400">
            <a:gradFill>
              <a:gsLst>
                <a:gs pos="15000">
                  <a:schemeClr val="tx2">
                    <a:lumMod val="40000"/>
                    <a:lumOff val="60000"/>
                  </a:schemeClr>
                </a:gs>
                <a:gs pos="100000">
                  <a:schemeClr val="bg1"/>
                </a:gs>
              </a:gsLst>
              <a:lin ang="5400000" scaled="1"/>
            </a:gradFill>
          </a:ln>
          <a:effectLst>
            <a:innerShdw blurRad="1270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Noto Sans S Chinese Medium" panose="020B0600000000000000" pitchFamily="34" charset="-122"/>
                <a:ea typeface="Noto Sans S Chinese Medium" panose="020B0600000000000000" pitchFamily="34" charset="-122"/>
                <a:sym typeface="+mn-lt"/>
              </a:rPr>
              <a:t>主讲人：</a:t>
            </a:r>
            <a:r>
              <a:rPr lang="en-US" altLang="zh-CN" dirty="0">
                <a:solidFill>
                  <a:prstClr val="white"/>
                </a:solidFill>
                <a:latin typeface="Noto Sans S Chinese Medium" panose="020B0600000000000000" pitchFamily="34" charset="-122"/>
                <a:ea typeface="Noto Sans S Chinese Medium" panose="020B0600000000000000" pitchFamily="34" charset="-122"/>
                <a:sym typeface="+mn-lt"/>
              </a:rPr>
              <a:t>XXX</a:t>
            </a:r>
            <a:endParaRPr lang="zh-CN" altLang="en-US" dirty="0">
              <a:solidFill>
                <a:prstClr val="white"/>
              </a:solidFill>
              <a:latin typeface="Noto Sans S Chinese Medium" panose="020B0600000000000000" pitchFamily="34" charset="-122"/>
              <a:ea typeface="Noto Sans S Chinese Medium" panose="020B0600000000000000" pitchFamily="34" charset="-122"/>
              <a:sym typeface="+mn-lt"/>
            </a:endParaRPr>
          </a:p>
        </p:txBody>
      </p:sp>
      <p:sp>
        <p:nvSpPr>
          <p:cNvPr id="141" name="PA_文本框 140"/>
          <p:cNvSpPr txBox="1"/>
          <p:nvPr>
            <p:custDataLst>
              <p:tags r:id="rId10"/>
            </p:custDataLst>
          </p:nvPr>
        </p:nvSpPr>
        <p:spPr>
          <a:xfrm>
            <a:off x="986327" y="944000"/>
            <a:ext cx="2618024" cy="1200329"/>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2</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endPar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effectLst/>
              </a:rPr>
              <a:t>目录</a:t>
            </a:r>
            <a:endParaRPr lang="zh-CN" altLang="en-US" dirty="0"/>
          </a:p>
        </p:txBody>
      </p:sp>
      <p:sp>
        <p:nvSpPr>
          <p:cNvPr id="3" name="内容占位符 2"/>
          <p:cNvSpPr>
            <a:spLocks noGrp="1"/>
          </p:cNvSpPr>
          <p:nvPr>
            <p:ph idx="1"/>
          </p:nvPr>
        </p:nvSpPr>
        <p:spPr/>
        <p:txBody>
          <a:bodyPr/>
          <a:lstStyle/>
          <a:p>
            <a:pPr lvl="0"/>
            <a:r>
              <a:rPr lang="zh-CN" altLang="en-US" dirty="0"/>
              <a:t>一元线性回归</a:t>
            </a:r>
            <a:endParaRPr lang="en-US" altLang="zh-CN" dirty="0"/>
          </a:p>
          <a:p>
            <a:pPr lvl="0"/>
            <a:r>
              <a:rPr lang="zh-CN" altLang="en-US" dirty="0"/>
              <a:t>多元线性回归</a:t>
            </a:r>
            <a:endParaRPr lang="en-US" altLang="zh-CN" dirty="0"/>
          </a:p>
          <a:p>
            <a:pPr lvl="0"/>
            <a:r>
              <a:rPr lang="zh-CN" altLang="en-US" dirty="0"/>
              <a:t>最小二乘法</a:t>
            </a:r>
            <a:endParaRPr lang="en-US" altLang="zh-CN" dirty="0"/>
          </a:p>
          <a:p>
            <a:pPr lvl="0"/>
            <a:r>
              <a:rPr lang="zh-CN" altLang="en-US" dirty="0"/>
              <a:t>算法实例</a:t>
            </a:r>
            <a:endParaRPr lang="zh-CN" altLang="zh-CN" dirty="0"/>
          </a:p>
          <a:p>
            <a:pPr lvl="0"/>
            <a:r>
              <a:rPr lang="zh-CN" altLang="en-US" dirty="0"/>
              <a:t>梯度下降法</a:t>
            </a:r>
            <a:endParaRPr lang="en-US" altLang="zh-CN" dirty="0"/>
          </a:p>
          <a:p>
            <a:pPr lvl="0"/>
            <a:r>
              <a:rPr lang="zh-CN" altLang="en-US" dirty="0"/>
              <a:t>逻辑回归</a:t>
            </a:r>
            <a:endParaRPr lang="en-US" altLang="zh-CN" dirty="0"/>
          </a:p>
          <a:p>
            <a:pPr lvl="0"/>
            <a:r>
              <a:rPr lang="zh-CN" altLang="en-US" dirty="0"/>
              <a:t>分类模型评价指标</a:t>
            </a:r>
            <a:endParaRPr lang="en-US" altLang="zh-CN" dirty="0"/>
          </a:p>
          <a:p>
            <a:pPr lvl="0"/>
            <a:r>
              <a:rPr lang="zh-CN" altLang="en-US" dirty="0"/>
              <a:t>章节实验</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316107" y="3574248"/>
            <a:ext cx="4428043" cy="584775"/>
          </a:xfrm>
          <a:prstGeom prst="rect">
            <a:avLst/>
          </a:prstGeom>
          <a:noFill/>
        </p:spPr>
        <p:txBody>
          <a:bodyPr wrap="square" rtlCol="0">
            <a:spAutoFit/>
          </a:bodyPr>
          <a:lstStyle/>
          <a:p>
            <a:pPr algn="ctr"/>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算法概述</a:t>
            </a:r>
            <a:endParaRPr lang="zh-CN" altLang="en-US" dirty="0"/>
          </a:p>
        </p:txBody>
      </p:sp>
      <p:sp>
        <p:nvSpPr>
          <p:cNvPr id="4" name="矩形 3"/>
          <p:cNvSpPr/>
          <p:nvPr/>
        </p:nvSpPr>
        <p:spPr>
          <a:xfrm>
            <a:off x="1253108" y="1625163"/>
            <a:ext cx="9253015" cy="3354765"/>
          </a:xfrm>
          <a:prstGeom prst="rect">
            <a:avLst/>
          </a:prstGeom>
        </p:spPr>
        <p:txBody>
          <a:bodyPr wrap="square">
            <a:spAutoFit/>
          </a:bodyPr>
          <a:lstStyle/>
          <a:p>
            <a:pPr algn="just"/>
            <a:r>
              <a:rPr lang="zh-CN" altLang="en-US" sz="2400" dirty="0">
                <a:latin typeface="Times New Roman" panose="02020603050405020304" pitchFamily="18" charset="0"/>
                <a:cs typeface="Times New Roman" panose="02020603050405020304" pitchFamily="18" charset="0"/>
              </a:rPr>
              <a:t>         回归就是用一条曲线对数据点进行拟合，该曲线称为最佳拟合曲线，这个拟合过程称为回归。</a:t>
            </a:r>
            <a:endParaRPr lang="en-US" altLang="zh-CN" sz="2400" dirty="0">
              <a:latin typeface="Times New Roman" panose="02020603050405020304" pitchFamily="18" charset="0"/>
              <a:cs typeface="Times New Roman" panose="02020603050405020304" pitchFamily="18" charset="0"/>
            </a:endParaRPr>
          </a:p>
          <a:p>
            <a:pPr algn="just">
              <a:spcBef>
                <a:spcPts val="1200"/>
              </a:spcBef>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线性回归</a:t>
            </a:r>
            <a:r>
              <a:rPr lang="en-US" altLang="zh-CN" sz="2400" dirty="0">
                <a:latin typeface="Times New Roman" panose="02020603050405020304" pitchFamily="18" charset="0"/>
                <a:cs typeface="Times New Roman" panose="02020603050405020304" pitchFamily="18" charset="0"/>
              </a:rPr>
              <a:t>(Linear Regression)</a:t>
            </a:r>
            <a:r>
              <a:rPr lang="zh-CN" altLang="en-US" sz="2400" dirty="0">
                <a:latin typeface="Times New Roman" panose="02020603050405020304" pitchFamily="18" charset="0"/>
                <a:cs typeface="Times New Roman" panose="02020603050405020304" pitchFamily="18" charset="0"/>
              </a:rPr>
              <a:t>是利用数理统计中的回归分析来确定两种或两种以上变量间相互依赖的定量关系的一种统计分析方法。</a:t>
            </a:r>
            <a:endParaRPr lang="zh-CN" altLang="en-US" sz="2400" dirty="0">
              <a:latin typeface="Times New Roman" panose="02020603050405020304" pitchFamily="18" charset="0"/>
              <a:cs typeface="Times New Roman" panose="02020603050405020304" pitchFamily="18" charset="0"/>
            </a:endParaRPr>
          </a:p>
          <a:p>
            <a:pPr algn="just">
              <a:spcBef>
                <a:spcPts val="1200"/>
              </a:spcBef>
            </a:pPr>
            <a:r>
              <a:rPr lang="zh-CN" altLang="en-US" sz="2400" dirty="0">
                <a:latin typeface="Times New Roman" panose="02020603050405020304" pitchFamily="18" charset="0"/>
                <a:cs typeface="Times New Roman" panose="02020603050405020304" pitchFamily="18" charset="0"/>
              </a:rPr>
              <a:t>        “线性”指一次，“回归”实际上就是拟合。线性回归一般用来做连续值的预测，预测的结果是一组连续值。在训练学习样本时，不仅需要提供特征向量</a:t>
            </a:r>
            <a:r>
              <a:rPr lang="en-US"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，还需要提供样本的实际结果（标记</a:t>
            </a:r>
            <a:r>
              <a:rPr lang="en-US" altLang="zh-CN" sz="2400" dirty="0">
                <a:latin typeface="Times New Roman" panose="02020603050405020304" pitchFamily="18" charset="0"/>
                <a:cs typeface="Times New Roman" panose="02020603050405020304" pitchFamily="18" charset="0"/>
              </a:rPr>
              <a:t>label</a:t>
            </a:r>
            <a:r>
              <a:rPr lang="zh-CN" altLang="en-US" sz="2400" dirty="0">
                <a:latin typeface="Times New Roman" panose="02020603050405020304" pitchFamily="18" charset="0"/>
                <a:cs typeface="Times New Roman" panose="02020603050405020304" pitchFamily="18" charset="0"/>
              </a:rPr>
              <a:t>），因此线性回归模型属于监督学习里的回归模型。     </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cstate="print"/>
          <a:stretch>
            <a:fillRect/>
          </a:stretch>
        </p:blipFill>
        <p:spPr>
          <a:xfrm>
            <a:off x="1494264" y="1037063"/>
            <a:ext cx="9222058" cy="5084957"/>
          </a:xfrm>
          <a:prstGeom prst="rect">
            <a:avLst/>
          </a:prstGeom>
        </p:spPr>
      </p:pic>
      <p:sp>
        <p:nvSpPr>
          <p:cNvPr id="2" name="TextBox 1"/>
          <p:cNvSpPr txBox="1"/>
          <p:nvPr/>
        </p:nvSpPr>
        <p:spPr>
          <a:xfrm>
            <a:off x="390293" y="223024"/>
            <a:ext cx="3657600" cy="584775"/>
          </a:xfrm>
          <a:prstGeom prst="rect">
            <a:avLst/>
          </a:prstGeom>
          <a:noFill/>
        </p:spPr>
        <p:txBody>
          <a:bodyPr wrap="square" rtlCol="0">
            <a:spAutoFit/>
          </a:bodyPr>
          <a:lstStyle/>
          <a:p>
            <a:r>
              <a:rPr lang="zh-CN" altLang="en-US" sz="3200" b="1" dirty="0">
                <a:solidFill>
                  <a:srgbClr val="0070C0"/>
                </a:solidFill>
              </a:rPr>
              <a:t>一元线性回归</a:t>
            </a:r>
            <a:endParaRPr lang="zh-CN" altLang="en-US" sz="3200" b="1" dirty="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4" name="内容占位符 3"/>
          <p:cNvSpPr>
            <a:spLocks noGrp="1"/>
          </p:cNvSpPr>
          <p:nvPr>
            <p:ph idx="10"/>
          </p:nvPr>
        </p:nvSpPr>
        <p:spPr/>
        <p:txBody>
          <a:bodyPr/>
          <a:lstStyle/>
          <a:p>
            <a:endParaRPr lang="zh-CN" altLang="en-US"/>
          </a:p>
        </p:txBody>
      </p:sp>
      <p:pic>
        <p:nvPicPr>
          <p:cNvPr id="5" name="图片 4"/>
          <p:cNvPicPr/>
          <p:nvPr/>
        </p:nvPicPr>
        <p:blipFill>
          <a:blip r:embed="rId1" cstate="print"/>
          <a:stretch>
            <a:fillRect/>
          </a:stretch>
        </p:blipFill>
        <p:spPr>
          <a:xfrm>
            <a:off x="446050" y="1059367"/>
            <a:ext cx="11095462" cy="5274526"/>
          </a:xfrm>
          <a:prstGeom prst="rect">
            <a:avLst/>
          </a:prstGeom>
        </p:spPr>
      </p:pic>
      <p:sp>
        <p:nvSpPr>
          <p:cNvPr id="6" name="标题 5"/>
          <p:cNvSpPr txBox="1">
            <a:spLocks noGrp="1"/>
          </p:cNvSpPr>
          <p:nvPr>
            <p:ph type="title"/>
          </p:nvPr>
        </p:nvSpPr>
        <p:spPr>
          <a:prstGeom prst="rect">
            <a:avLst/>
          </a:prstGeom>
          <a:noFill/>
        </p:spPr>
        <p:txBody>
          <a:bodyPr wrap="square" rtlCol="0">
            <a:spAutoFit/>
          </a:bodyPr>
          <a:lstStyle/>
          <a:p>
            <a:r>
              <a:rPr lang="zh-CN" altLang="en-US" sz="3200" b="1" dirty="0">
                <a:solidFill>
                  <a:srgbClr val="0070C0"/>
                </a:solidFill>
              </a:rPr>
              <a:t>一元线性回归</a:t>
            </a:r>
            <a:endParaRPr lang="zh-CN" altLang="en-US" sz="3200" b="1" dirty="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94200" y="250190"/>
            <a:ext cx="2706370" cy="1143000"/>
          </a:xfrm>
        </p:spPr>
        <p:txBody>
          <a:bodyPr/>
          <a:lstStyle/>
          <a:p>
            <a:r>
              <a:rPr lang="zh-CN" altLang="en-US" dirty="0"/>
              <a:t>线性回归</a:t>
            </a:r>
            <a:endParaRPr lang="zh-CN" altLang="en-US" dirty="0"/>
          </a:p>
        </p:txBody>
      </p:sp>
      <p:sp>
        <p:nvSpPr>
          <p:cNvPr id="3" name="内容占位符 2"/>
          <p:cNvSpPr>
            <a:spLocks noGrp="1"/>
          </p:cNvSpPr>
          <p:nvPr>
            <p:ph idx="1"/>
          </p:nvPr>
        </p:nvSpPr>
        <p:spPr>
          <a:xfrm>
            <a:off x="423747" y="1059366"/>
            <a:ext cx="10939346" cy="5189034"/>
          </a:xfrm>
        </p:spPr>
        <p:txBody>
          <a:bodyPr>
            <a:noAutofit/>
          </a:bodyPr>
          <a:lstStyle/>
          <a:p>
            <a:pPr>
              <a:lnSpc>
                <a:spcPct val="150000"/>
              </a:lnSpc>
            </a:pPr>
            <a:r>
              <a:rPr lang="zh-CN" altLang="en-US" sz="2400" dirty="0"/>
              <a:t>线性回归研究的是自变量与因变量之间的线性关系。</a:t>
            </a:r>
            <a:endParaRPr lang="en-US" altLang="zh-CN" sz="2400" dirty="0"/>
          </a:p>
          <a:p>
            <a:pPr>
              <a:lnSpc>
                <a:spcPct val="150000"/>
              </a:lnSpc>
            </a:pPr>
            <a:r>
              <a:rPr lang="zh-CN" altLang="en-US" sz="2400" dirty="0"/>
              <a:t>对于特征                        及其对应的标签    ，线性回归假设二者之间存在线性映射</a:t>
            </a:r>
            <a:endParaRPr lang="en-US" altLang="zh-CN" sz="2400" dirty="0"/>
          </a:p>
          <a:p>
            <a:pPr marL="0" indent="0">
              <a:lnSpc>
                <a:spcPct val="150000"/>
              </a:lnSpc>
              <a:buNone/>
            </a:pPr>
            <a:r>
              <a:rPr lang="en-US" altLang="zh-CN" sz="2400" dirty="0"/>
              <a:t>                         </a:t>
            </a:r>
            <a:r>
              <a:rPr lang="zh-CN" altLang="en-US" sz="2400" dirty="0"/>
              <a:t>，其中                         和    分别表示待学习的权重及偏置。权重的分量反应了各特征变量的重要程度。</a:t>
            </a:r>
            <a:endParaRPr lang="zh-CN" altLang="en-US" sz="2400" dirty="0"/>
          </a:p>
          <a:p>
            <a:pPr>
              <a:lnSpc>
                <a:spcPct val="150000"/>
              </a:lnSpc>
            </a:pPr>
            <a:r>
              <a:rPr lang="zh-CN" altLang="en-US" sz="2400" dirty="0"/>
              <a:t>线性回归的目标是求解                          和      ，使得                   与     尽可能接近。求解线性回归模型的基本方法是最小二乘法。</a:t>
            </a:r>
            <a:endParaRPr lang="en-US" altLang="zh-CN" sz="2400" dirty="0"/>
          </a:p>
          <a:p>
            <a:pPr>
              <a:lnSpc>
                <a:spcPct val="150000"/>
              </a:lnSpc>
            </a:pPr>
            <a:r>
              <a:rPr lang="zh-CN" altLang="en-US" sz="2400" dirty="0"/>
              <a:t>最小二乘法是一个不带条件的最优化问题，优化目标是让整个样本集合上的预测值与真实值之间的欧式距离之和最小。</a:t>
            </a:r>
            <a:endParaRPr lang="zh-CN" altLang="en-US" sz="2400" dirty="0"/>
          </a:p>
          <a:p>
            <a:endParaRPr lang="zh-CN" altLang="en-US" dirty="0"/>
          </a:p>
        </p:txBody>
      </p:sp>
      <p:pic>
        <p:nvPicPr>
          <p:cNvPr id="5" name="图片 4"/>
          <p:cNvPicPr>
            <a:picLocks noChangeAspect="1"/>
          </p:cNvPicPr>
          <p:nvPr/>
        </p:nvPicPr>
        <p:blipFill>
          <a:blip r:embed="rId1"/>
          <a:stretch>
            <a:fillRect/>
          </a:stretch>
        </p:blipFill>
        <p:spPr>
          <a:xfrm>
            <a:off x="1998550" y="1920130"/>
            <a:ext cx="1689100" cy="425574"/>
          </a:xfrm>
          <a:prstGeom prst="rect">
            <a:avLst/>
          </a:prstGeom>
        </p:spPr>
      </p:pic>
      <p:pic>
        <p:nvPicPr>
          <p:cNvPr id="7" name="图片 6"/>
          <p:cNvPicPr>
            <a:picLocks noChangeAspect="1"/>
          </p:cNvPicPr>
          <p:nvPr/>
        </p:nvPicPr>
        <p:blipFill>
          <a:blip r:embed="rId2"/>
          <a:stretch>
            <a:fillRect/>
          </a:stretch>
        </p:blipFill>
        <p:spPr>
          <a:xfrm>
            <a:off x="5749567" y="1985973"/>
            <a:ext cx="292100" cy="257175"/>
          </a:xfrm>
          <a:prstGeom prst="rect">
            <a:avLst/>
          </a:prstGeom>
        </p:spPr>
      </p:pic>
      <p:pic>
        <p:nvPicPr>
          <p:cNvPr id="9" name="图片 8"/>
          <p:cNvPicPr>
            <a:picLocks noChangeAspect="1"/>
          </p:cNvPicPr>
          <p:nvPr/>
        </p:nvPicPr>
        <p:blipFill>
          <a:blip r:embed="rId3"/>
          <a:stretch>
            <a:fillRect/>
          </a:stretch>
        </p:blipFill>
        <p:spPr>
          <a:xfrm>
            <a:off x="368923" y="2429844"/>
            <a:ext cx="1841500" cy="647700"/>
          </a:xfrm>
          <a:prstGeom prst="rect">
            <a:avLst/>
          </a:prstGeom>
        </p:spPr>
      </p:pic>
      <p:pic>
        <p:nvPicPr>
          <p:cNvPr id="11" name="图片 10"/>
          <p:cNvPicPr>
            <a:picLocks noChangeAspect="1"/>
          </p:cNvPicPr>
          <p:nvPr/>
        </p:nvPicPr>
        <p:blipFill>
          <a:blip r:embed="rId4"/>
          <a:stretch>
            <a:fillRect/>
          </a:stretch>
        </p:blipFill>
        <p:spPr>
          <a:xfrm>
            <a:off x="3803009" y="3792727"/>
            <a:ext cx="1739900" cy="352425"/>
          </a:xfrm>
          <a:prstGeom prst="rect">
            <a:avLst/>
          </a:prstGeom>
        </p:spPr>
      </p:pic>
      <p:pic>
        <p:nvPicPr>
          <p:cNvPr id="15" name="图片 14"/>
          <p:cNvPicPr>
            <a:picLocks noChangeAspect="1"/>
          </p:cNvPicPr>
          <p:nvPr/>
        </p:nvPicPr>
        <p:blipFill>
          <a:blip r:embed="rId5"/>
          <a:stretch>
            <a:fillRect/>
          </a:stretch>
        </p:blipFill>
        <p:spPr>
          <a:xfrm>
            <a:off x="5958282" y="3855802"/>
            <a:ext cx="266700" cy="276225"/>
          </a:xfrm>
          <a:prstGeom prst="rect">
            <a:avLst/>
          </a:prstGeom>
        </p:spPr>
      </p:pic>
      <p:pic>
        <p:nvPicPr>
          <p:cNvPr id="17" name="图片 16"/>
          <p:cNvPicPr>
            <a:picLocks noChangeAspect="1"/>
          </p:cNvPicPr>
          <p:nvPr/>
        </p:nvPicPr>
        <p:blipFill>
          <a:blip r:embed="rId6"/>
          <a:stretch>
            <a:fillRect/>
          </a:stretch>
        </p:blipFill>
        <p:spPr>
          <a:xfrm>
            <a:off x="7241475" y="3670064"/>
            <a:ext cx="1358900" cy="647700"/>
          </a:xfrm>
          <a:prstGeom prst="rect">
            <a:avLst/>
          </a:prstGeom>
        </p:spPr>
      </p:pic>
      <p:pic>
        <p:nvPicPr>
          <p:cNvPr id="19" name="图片 18"/>
          <p:cNvPicPr>
            <a:picLocks noChangeAspect="1"/>
          </p:cNvPicPr>
          <p:nvPr/>
        </p:nvPicPr>
        <p:blipFill>
          <a:blip r:embed="rId7"/>
          <a:stretch>
            <a:fillRect/>
          </a:stretch>
        </p:blipFill>
        <p:spPr>
          <a:xfrm>
            <a:off x="8833886" y="3887977"/>
            <a:ext cx="292100" cy="257175"/>
          </a:xfrm>
          <a:prstGeom prst="rect">
            <a:avLst/>
          </a:prstGeom>
        </p:spPr>
      </p:pic>
      <p:pic>
        <p:nvPicPr>
          <p:cNvPr id="21" name="图片 20"/>
          <p:cNvPicPr>
            <a:picLocks noChangeAspect="1"/>
          </p:cNvPicPr>
          <p:nvPr/>
        </p:nvPicPr>
        <p:blipFill>
          <a:blip r:embed="rId4"/>
          <a:stretch>
            <a:fillRect/>
          </a:stretch>
        </p:blipFill>
        <p:spPr>
          <a:xfrm>
            <a:off x="3160932" y="2577480"/>
            <a:ext cx="1739900" cy="352425"/>
          </a:xfrm>
          <a:prstGeom prst="rect">
            <a:avLst/>
          </a:prstGeom>
        </p:spPr>
      </p:pic>
      <p:pic>
        <p:nvPicPr>
          <p:cNvPr id="23" name="图片 22"/>
          <p:cNvPicPr>
            <a:picLocks noChangeAspect="1"/>
          </p:cNvPicPr>
          <p:nvPr/>
        </p:nvPicPr>
        <p:blipFill>
          <a:blip r:embed="rId5"/>
          <a:stretch>
            <a:fillRect/>
          </a:stretch>
        </p:blipFill>
        <p:spPr>
          <a:xfrm>
            <a:off x="5192529" y="2653488"/>
            <a:ext cx="266700" cy="276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grpSp>
        <p:nvGrpSpPr>
          <p:cNvPr id="9"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830625" y="2450457"/>
            <a:ext cx="5262979"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一元线性回归</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5876693" y="3574248"/>
            <a:ext cx="5374887" cy="584775"/>
          </a:xfrm>
          <a:prstGeom prst="rect">
            <a:avLst/>
          </a:prstGeom>
          <a:noFill/>
        </p:spPr>
        <p:txBody>
          <a:bodyPr wrap="square" rtlCol="0">
            <a:spAutoFit/>
          </a:bodyPr>
          <a:lstStyle/>
          <a:p>
            <a:pPr algn="ctr"/>
            <a:r>
              <a:rPr lang="en-US" altLang="zh-CN" sz="3200" dirty="0">
                <a:solidFill>
                  <a:srgbClr val="009999"/>
                </a:solidFill>
                <a:latin typeface="Noto Sans S Chinese Regular" panose="020B0500000000000000" pitchFamily="34" charset="-122"/>
                <a:ea typeface="Noto Sans S Chinese Regular" panose="020B0500000000000000" pitchFamily="34" charset="-122"/>
              </a:rPr>
              <a:t>Simple Linear Regression </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249378" y="914400"/>
            <a:ext cx="9929524" cy="540944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276539" y="726208"/>
            <a:ext cx="10200238" cy="573763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186004" y="823865"/>
            <a:ext cx="10246852" cy="51650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rcRect l="24847" t="13587" r="13196"/>
          <a:stretch>
            <a:fillRect/>
          </a:stretch>
        </p:blipFill>
        <p:spPr>
          <a:xfrm>
            <a:off x="7393260" y="1416205"/>
            <a:ext cx="4519961" cy="3915598"/>
          </a:xfrm>
          <a:prstGeom prst="rect">
            <a:avLst/>
          </a:prstGeom>
        </p:spPr>
      </p:pic>
      <p:sp>
        <p:nvSpPr>
          <p:cNvPr id="5" name="TextBox 4"/>
          <p:cNvSpPr txBox="1"/>
          <p:nvPr/>
        </p:nvSpPr>
        <p:spPr>
          <a:xfrm>
            <a:off x="1471960" y="457201"/>
            <a:ext cx="54975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求解方程系数</a:t>
            </a:r>
            <a:endParaRPr kumimoji="0" lang="zh-CN" altLang="en-US" sz="36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p:txBody>
      </p:sp>
      <p:pic>
        <p:nvPicPr>
          <p:cNvPr id="55299" name="Picture 3"/>
          <p:cNvPicPr>
            <a:picLocks noChangeAspect="1" noChangeArrowheads="1"/>
          </p:cNvPicPr>
          <p:nvPr/>
        </p:nvPicPr>
        <p:blipFill>
          <a:blip r:embed="rId2" cstate="print"/>
          <a:srcRect/>
          <a:stretch>
            <a:fillRect/>
          </a:stretch>
        </p:blipFill>
        <p:spPr bwMode="auto">
          <a:xfrm>
            <a:off x="433644" y="1416205"/>
            <a:ext cx="6959616" cy="2345938"/>
          </a:xfrm>
          <a:prstGeom prst="rect">
            <a:avLst/>
          </a:prstGeom>
          <a:noFill/>
          <a:ln w="9525">
            <a:noFill/>
            <a:miter lim="800000"/>
            <a:headEnd/>
            <a:tailEnd/>
          </a:ln>
        </p:spPr>
      </p:pic>
      <p:sp>
        <p:nvSpPr>
          <p:cNvPr id="7" name="矩形 6"/>
          <p:cNvSpPr/>
          <p:nvPr/>
        </p:nvSpPr>
        <p:spPr>
          <a:xfrm>
            <a:off x="433644" y="3762143"/>
            <a:ext cx="6959616" cy="156966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基于均方误差最小化来进行模型求解的方法称为</a:t>
            </a:r>
            <a:r>
              <a:rPr kumimoji="0" lang="zh-CN" altLang="en-US" sz="2400" b="1" i="0" u="none" strike="noStrike" kern="1200" cap="none" spc="0" normalizeH="0" baseline="0" noProof="0" dirty="0">
                <a:ln>
                  <a:noFill/>
                </a:ln>
                <a:solidFill>
                  <a:srgbClr val="FF0000"/>
                </a:solidFill>
                <a:effectLst/>
                <a:uLnTx/>
                <a:uFillTx/>
                <a:latin typeface="Calibri Light" panose="020F0302020204030204"/>
                <a:ea typeface="微软雅黑 Light" panose="020B0502040204020203" charset="-122"/>
                <a:cs typeface="+mn-cs"/>
              </a:rPr>
              <a:t>“最小二乘法”</a:t>
            </a:r>
            <a:r>
              <a:rPr kumimoji="0" lang="en-US" altLang="zh-CN" sz="2400" b="1"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(least  square method ) </a:t>
            </a:r>
            <a:r>
              <a:rPr kumimoji="0" lang="zh-CN" altLang="en-US" sz="2400" b="1"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a:t>
            </a:r>
            <a:endParaRPr kumimoji="0" lang="en-US" altLang="zh-CN" sz="2400" b="1"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在线性回归中，最小二乘法就是试图找到一条直线，使所有样本到直线上的欧氏距离之和最小。</a:t>
            </a:r>
            <a:endParaRPr kumimoji="0" lang="zh-CN" altLang="en-US" sz="2400" b="1"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192000" cy="6858000"/>
          </a:xfrm>
          <a:prstGeom prst="rect">
            <a:avLst/>
          </a:prstGeom>
        </p:spPr>
      </p:pic>
      <p:sp>
        <p:nvSpPr>
          <p:cNvPr id="3" name="内容占位符 1"/>
          <p:cNvSpPr txBox="1"/>
          <p:nvPr/>
        </p:nvSpPr>
        <p:spPr>
          <a:xfrm>
            <a:off x="253498" y="3224869"/>
            <a:ext cx="2718486" cy="2460708"/>
          </a:xfrm>
          <a:prstGeom prst="rect">
            <a:avLst/>
          </a:prstGeo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均方误差最小化</a:t>
            </a:r>
            <a:r>
              <a:rPr kumimoji="1" lang="en-US" altLang="zh-CN"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a:t>
            </a:r>
            <a:r>
              <a:rPr kumimoji="1" lang="zh-CN" altLang="en-US"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最小二乘法</a:t>
            </a:r>
            <a:r>
              <a:rPr kumimoji="1" lang="en-US" altLang="zh-CN"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a:t>
            </a:r>
            <a:endParaRPr kumimoji="1" lang="en-US" altLang="zh-CN"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a:buChar char="•"/>
              <a:defRPr/>
            </a:pPr>
            <a:r>
              <a:rPr kumimoji="0" lang="zh-CN" altLang="en-US"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找到一条直线，使所有样本到直线上的欧式距离之和最小</a:t>
            </a:r>
            <a:endParaRPr kumimoji="1" lang="en-US" altLang="zh-CN" sz="28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en-US" altLang="zh-CN" sz="14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最小二乘法求解系数</a:t>
            </a:r>
            <a:endParaRPr lang="zh-CN" altLang="en-US" dirty="0"/>
          </a:p>
        </p:txBody>
      </p:sp>
      <p:graphicFrame>
        <p:nvGraphicFramePr>
          <p:cNvPr id="56322" name="Object 2"/>
          <p:cNvGraphicFramePr>
            <a:graphicFrameLocks noChangeAspect="1"/>
          </p:cNvGraphicFramePr>
          <p:nvPr/>
        </p:nvGraphicFramePr>
        <p:xfrm>
          <a:off x="1521097" y="2775918"/>
          <a:ext cx="3873434" cy="2465155"/>
        </p:xfrm>
        <a:graphic>
          <a:graphicData uri="http://schemas.openxmlformats.org/presentationml/2006/ole">
            <mc:AlternateContent xmlns:mc="http://schemas.openxmlformats.org/markup-compatibility/2006">
              <mc:Choice xmlns:v="urn:schemas-microsoft-com:vml" Requires="v">
                <p:oleObj spid="_x0000_s2370" name="Equation" r:id="rId1" imgW="1447800" imgH="838200" progId="Equation.DSMT4">
                  <p:embed/>
                </p:oleObj>
              </mc:Choice>
              <mc:Fallback>
                <p:oleObj name="Equation" r:id="rId1" imgW="1447800" imgH="838200" progId="Equation.DSMT4">
                  <p:embed/>
                  <p:pic>
                    <p:nvPicPr>
                      <p:cNvPr id="0" name="图片 20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097" y="2775918"/>
                        <a:ext cx="3873434" cy="2465155"/>
                      </a:xfrm>
                      <a:prstGeom prst="rect">
                        <a:avLst/>
                      </a:prstGeom>
                      <a:solidFill>
                        <a:schemeClr val="bg1"/>
                      </a:solidFill>
                    </p:spPr>
                  </p:pic>
                </p:oleObj>
              </mc:Fallback>
            </mc:AlternateContent>
          </a:graphicData>
        </a:graphic>
      </p:graphicFrame>
      <p:graphicFrame>
        <p:nvGraphicFramePr>
          <p:cNvPr id="56323" name="Object 3"/>
          <p:cNvGraphicFramePr>
            <a:graphicFrameLocks noChangeAspect="1"/>
          </p:cNvGraphicFramePr>
          <p:nvPr/>
        </p:nvGraphicFramePr>
        <p:xfrm>
          <a:off x="6357124" y="3254220"/>
          <a:ext cx="3838929" cy="1451595"/>
        </p:xfrm>
        <a:graphic>
          <a:graphicData uri="http://schemas.openxmlformats.org/presentationml/2006/ole">
            <mc:AlternateContent xmlns:mc="http://schemas.openxmlformats.org/markup-compatibility/2006">
              <mc:Choice xmlns:v="urn:schemas-microsoft-com:vml" Requires="v">
                <p:oleObj spid="_x0000_s2371" name="Equation" r:id="rId3" imgW="1269365" imgH="431800" progId="Equation.DSMT4">
                  <p:embed/>
                </p:oleObj>
              </mc:Choice>
              <mc:Fallback>
                <p:oleObj name="Equation" r:id="rId3" imgW="1269365" imgH="431800" progId="Equation.DSMT4">
                  <p:embed/>
                  <p:pic>
                    <p:nvPicPr>
                      <p:cNvPr id="0" name="图片 20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7124" y="3254220"/>
                        <a:ext cx="3838929" cy="1451595"/>
                      </a:xfrm>
                      <a:prstGeom prst="rect">
                        <a:avLst/>
                      </a:prstGeom>
                      <a:solidFill>
                        <a:schemeClr val="bg1"/>
                      </a:solidFill>
                    </p:spPr>
                  </p:pic>
                </p:oleObj>
              </mc:Fallback>
            </mc:AlternateContent>
          </a:graphicData>
        </a:graphic>
      </p:graphicFrame>
      <p:sp>
        <p:nvSpPr>
          <p:cNvPr id="5" name="内容占位符 1"/>
          <p:cNvSpPr txBox="1"/>
          <p:nvPr/>
        </p:nvSpPr>
        <p:spPr>
          <a:xfrm>
            <a:off x="353184" y="1451640"/>
            <a:ext cx="7051225" cy="485225"/>
          </a:xfrm>
          <a:prstGeom prst="rect">
            <a:avLst/>
          </a:prstGeom>
          <a:solidFill>
            <a:schemeClr val="bg1">
              <a:lumMod val="75000"/>
            </a:schemeClr>
          </a:solidFill>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令目标函数对</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和 </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的偏导为零可解得：</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56324" name="Object 4"/>
          <p:cNvGraphicFramePr>
            <a:graphicFrameLocks noChangeAspect="1"/>
          </p:cNvGraphicFramePr>
          <p:nvPr/>
        </p:nvGraphicFramePr>
        <p:xfrm>
          <a:off x="2607179" y="1479396"/>
          <a:ext cx="322262" cy="368300"/>
        </p:xfrm>
        <a:graphic>
          <a:graphicData uri="http://schemas.openxmlformats.org/presentationml/2006/ole">
            <mc:AlternateContent xmlns:mc="http://schemas.openxmlformats.org/markup-compatibility/2006">
              <mc:Choice xmlns:v="urn:schemas-microsoft-com:vml" Requires="v">
                <p:oleObj spid="_x0000_s2372" name="Equation" r:id="rId5" imgW="165100" imgH="177800" progId="Equation.DSMT4">
                  <p:embed/>
                </p:oleObj>
              </mc:Choice>
              <mc:Fallback>
                <p:oleObj name="Equation" r:id="rId5" imgW="165100" imgH="177800" progId="Equation.DSMT4">
                  <p:embed/>
                  <p:pic>
                    <p:nvPicPr>
                      <p:cNvPr id="0" name="图片 20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7179" y="1479396"/>
                        <a:ext cx="322262"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5" name="Object 5"/>
          <p:cNvGraphicFramePr>
            <a:graphicFrameLocks noChangeAspect="1"/>
          </p:cNvGraphicFramePr>
          <p:nvPr/>
        </p:nvGraphicFramePr>
        <p:xfrm>
          <a:off x="3405149" y="1474749"/>
          <a:ext cx="323850" cy="368300"/>
        </p:xfrm>
        <a:graphic>
          <a:graphicData uri="http://schemas.openxmlformats.org/presentationml/2006/ole">
            <mc:AlternateContent xmlns:mc="http://schemas.openxmlformats.org/markup-compatibility/2006">
              <mc:Choice xmlns:v="urn:schemas-microsoft-com:vml" Requires="v">
                <p:oleObj spid="_x0000_s2373" name="Equation" r:id="rId7" imgW="177800" imgH="177800" progId="Equation.DSMT4">
                  <p:embed/>
                </p:oleObj>
              </mc:Choice>
              <mc:Fallback>
                <p:oleObj name="Equation" r:id="rId7" imgW="177800" imgH="177800" progId="Equation.DSMT4">
                  <p:embed/>
                  <p:pic>
                    <p:nvPicPr>
                      <p:cNvPr id="0" name="图片 20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5149" y="1474749"/>
                        <a:ext cx="32385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一元线性回归</a:t>
            </a:r>
            <a:endParaRPr lang="zh-CN" altLang="en-US" dirty="0"/>
          </a:p>
        </p:txBody>
      </p:sp>
      <p:sp>
        <p:nvSpPr>
          <p:cNvPr id="3" name="内容占位符 2"/>
          <p:cNvSpPr>
            <a:spLocks noGrp="1"/>
          </p:cNvSpPr>
          <p:nvPr>
            <p:ph idx="1"/>
          </p:nvPr>
        </p:nvSpPr>
        <p:spPr/>
        <p:txBody>
          <a:bodyPr>
            <a:noAutofit/>
          </a:bodyPr>
          <a:lstStyle/>
          <a:p>
            <a:pPr>
              <a:lnSpc>
                <a:spcPct val="150000"/>
              </a:lnSpc>
            </a:pPr>
            <a:r>
              <a:rPr lang="zh-CN" altLang="en-US" sz="2000" dirty="0"/>
              <a:t>给定空间中的一组样本点                             ，目标函数为</a:t>
            </a:r>
            <a:endParaRPr lang="zh-CN" altLang="en-US" sz="2000" dirty="0"/>
          </a:p>
          <a:p>
            <a:pPr>
              <a:lnSpc>
                <a:spcPct val="150000"/>
              </a:lnSpc>
            </a:pPr>
            <a:endParaRPr lang="en-US" altLang="zh-CN" sz="2000" dirty="0"/>
          </a:p>
          <a:p>
            <a:pPr>
              <a:lnSpc>
                <a:spcPct val="150000"/>
              </a:lnSpc>
            </a:pPr>
            <a:r>
              <a:rPr lang="zh-CN" altLang="en-US" sz="2000" dirty="0"/>
              <a:t>令目标函数对   和   的偏导数为</a:t>
            </a:r>
            <a:r>
              <a:rPr lang="en-US" altLang="zh-CN" sz="2000" dirty="0"/>
              <a:t>0</a:t>
            </a:r>
            <a:endParaRPr lang="en-US" altLang="zh-CN" sz="2000" dirty="0"/>
          </a:p>
          <a:p>
            <a:pPr marL="82550" indent="0">
              <a:lnSpc>
                <a:spcPct val="150000"/>
              </a:lnSpc>
              <a:buNone/>
            </a:pPr>
            <a:endParaRPr lang="en-US" altLang="zh-CN" sz="2000" dirty="0"/>
          </a:p>
          <a:p>
            <a:pPr>
              <a:lnSpc>
                <a:spcPct val="150000"/>
              </a:lnSpc>
            </a:pPr>
            <a:r>
              <a:rPr lang="zh-CN" altLang="en-US" sz="2000" dirty="0"/>
              <a:t>则可得到   和   的估计值</a:t>
            </a:r>
            <a:endParaRPr lang="en-US" altLang="zh-CN" sz="2000" dirty="0"/>
          </a:p>
          <a:p>
            <a:pPr>
              <a:lnSpc>
                <a:spcPct val="150000"/>
              </a:lnSpc>
            </a:pPr>
            <a:endParaRPr lang="en-US" altLang="zh-CN" sz="2000" dirty="0"/>
          </a:p>
          <a:p>
            <a:endParaRPr lang="zh-CN" altLang="en-US" dirty="0"/>
          </a:p>
        </p:txBody>
      </p:sp>
      <p:pic>
        <p:nvPicPr>
          <p:cNvPr id="8" name="图片 7"/>
          <p:cNvPicPr>
            <a:picLocks noChangeAspect="1"/>
          </p:cNvPicPr>
          <p:nvPr/>
        </p:nvPicPr>
        <p:blipFill>
          <a:blip r:embed="rId1"/>
          <a:stretch>
            <a:fillRect/>
          </a:stretch>
        </p:blipFill>
        <p:spPr>
          <a:xfrm>
            <a:off x="5210286" y="1596574"/>
            <a:ext cx="1943100" cy="352425"/>
          </a:xfrm>
          <a:prstGeom prst="rect">
            <a:avLst/>
          </a:prstGeom>
        </p:spPr>
      </p:pic>
      <p:pic>
        <p:nvPicPr>
          <p:cNvPr id="14" name="图片 13"/>
          <p:cNvPicPr>
            <a:picLocks noChangeAspect="1"/>
          </p:cNvPicPr>
          <p:nvPr/>
        </p:nvPicPr>
        <p:blipFill>
          <a:blip r:embed="rId2"/>
          <a:stretch>
            <a:fillRect/>
          </a:stretch>
        </p:blipFill>
        <p:spPr>
          <a:xfrm>
            <a:off x="4012692" y="2001128"/>
            <a:ext cx="5219700" cy="647700"/>
          </a:xfrm>
          <a:prstGeom prst="rect">
            <a:avLst/>
          </a:prstGeom>
        </p:spPr>
      </p:pic>
      <p:pic>
        <p:nvPicPr>
          <p:cNvPr id="18" name="图片 17"/>
          <p:cNvPicPr>
            <a:picLocks noChangeAspect="1"/>
          </p:cNvPicPr>
          <p:nvPr/>
        </p:nvPicPr>
        <p:blipFill>
          <a:blip r:embed="rId3"/>
          <a:stretch>
            <a:fillRect/>
          </a:stretch>
        </p:blipFill>
        <p:spPr>
          <a:xfrm>
            <a:off x="3885391" y="2721631"/>
            <a:ext cx="238125" cy="219075"/>
          </a:xfrm>
          <a:prstGeom prst="rect">
            <a:avLst/>
          </a:prstGeom>
        </p:spPr>
      </p:pic>
      <p:pic>
        <p:nvPicPr>
          <p:cNvPr id="22" name="图片 21"/>
          <p:cNvPicPr>
            <a:picLocks noChangeAspect="1"/>
          </p:cNvPicPr>
          <p:nvPr/>
        </p:nvPicPr>
        <p:blipFill>
          <a:blip r:embed="rId4"/>
          <a:stretch>
            <a:fillRect/>
          </a:stretch>
        </p:blipFill>
        <p:spPr>
          <a:xfrm>
            <a:off x="4385215" y="2684842"/>
            <a:ext cx="200025" cy="276225"/>
          </a:xfrm>
          <a:prstGeom prst="rect">
            <a:avLst/>
          </a:prstGeom>
        </p:spPr>
      </p:pic>
      <p:pic>
        <p:nvPicPr>
          <p:cNvPr id="25" name="图片 24"/>
          <p:cNvPicPr>
            <a:picLocks noChangeAspect="1"/>
          </p:cNvPicPr>
          <p:nvPr/>
        </p:nvPicPr>
        <p:blipFill>
          <a:blip r:embed="rId5"/>
          <a:stretch>
            <a:fillRect/>
          </a:stretch>
        </p:blipFill>
        <p:spPr>
          <a:xfrm>
            <a:off x="3443684" y="3065324"/>
            <a:ext cx="3238500" cy="647700"/>
          </a:xfrm>
          <a:prstGeom prst="rect">
            <a:avLst/>
          </a:prstGeom>
        </p:spPr>
      </p:pic>
      <p:pic>
        <p:nvPicPr>
          <p:cNvPr id="27" name="图片 26"/>
          <p:cNvPicPr>
            <a:picLocks noChangeAspect="1"/>
          </p:cNvPicPr>
          <p:nvPr/>
        </p:nvPicPr>
        <p:blipFill>
          <a:blip r:embed="rId6"/>
          <a:stretch>
            <a:fillRect/>
          </a:stretch>
        </p:blipFill>
        <p:spPr>
          <a:xfrm>
            <a:off x="6816080" y="3105150"/>
            <a:ext cx="2914650" cy="647700"/>
          </a:xfrm>
          <a:prstGeom prst="rect">
            <a:avLst/>
          </a:prstGeom>
        </p:spPr>
      </p:pic>
      <p:pic>
        <p:nvPicPr>
          <p:cNvPr id="29" name="图片 28"/>
          <p:cNvPicPr>
            <a:picLocks noChangeAspect="1"/>
          </p:cNvPicPr>
          <p:nvPr/>
        </p:nvPicPr>
        <p:blipFill>
          <a:blip r:embed="rId3"/>
          <a:stretch>
            <a:fillRect/>
          </a:stretch>
        </p:blipFill>
        <p:spPr>
          <a:xfrm>
            <a:off x="3394256" y="3790159"/>
            <a:ext cx="238125" cy="219075"/>
          </a:xfrm>
          <a:prstGeom prst="rect">
            <a:avLst/>
          </a:prstGeom>
        </p:spPr>
      </p:pic>
      <p:pic>
        <p:nvPicPr>
          <p:cNvPr id="31" name="图片 30"/>
          <p:cNvPicPr>
            <a:picLocks noChangeAspect="1"/>
          </p:cNvPicPr>
          <p:nvPr/>
        </p:nvPicPr>
        <p:blipFill>
          <a:blip r:embed="rId4"/>
          <a:stretch>
            <a:fillRect/>
          </a:stretch>
        </p:blipFill>
        <p:spPr>
          <a:xfrm>
            <a:off x="3866995" y="3754214"/>
            <a:ext cx="200025" cy="276225"/>
          </a:xfrm>
          <a:prstGeom prst="rect">
            <a:avLst/>
          </a:prstGeom>
        </p:spPr>
      </p:pic>
      <p:pic>
        <p:nvPicPr>
          <p:cNvPr id="33" name="图片 32"/>
          <p:cNvPicPr>
            <a:picLocks noChangeAspect="1"/>
          </p:cNvPicPr>
          <p:nvPr/>
        </p:nvPicPr>
        <p:blipFill>
          <a:blip r:embed="rId7"/>
          <a:stretch>
            <a:fillRect/>
          </a:stretch>
        </p:blipFill>
        <p:spPr>
          <a:xfrm>
            <a:off x="4520754" y="4162211"/>
            <a:ext cx="3438525" cy="1323975"/>
          </a:xfrm>
          <a:prstGeom prst="rect">
            <a:avLst/>
          </a:prstGeom>
        </p:spPr>
      </p:pic>
      <p:pic>
        <p:nvPicPr>
          <p:cNvPr id="35" name="图片 34"/>
          <p:cNvPicPr>
            <a:picLocks noChangeAspect="1"/>
          </p:cNvPicPr>
          <p:nvPr/>
        </p:nvPicPr>
        <p:blipFill>
          <a:blip r:embed="rId8"/>
          <a:stretch>
            <a:fillRect/>
          </a:stretch>
        </p:blipFill>
        <p:spPr>
          <a:xfrm>
            <a:off x="4520752" y="5694700"/>
            <a:ext cx="2952750" cy="685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多元线性回归</a:t>
            </a:r>
            <a:endParaRPr lang="zh-CN" altLang="en-US" dirty="0"/>
          </a:p>
        </p:txBody>
      </p:sp>
      <p:sp>
        <p:nvSpPr>
          <p:cNvPr id="3" name="内容占位符 2"/>
          <p:cNvSpPr>
            <a:spLocks noGrp="1"/>
          </p:cNvSpPr>
          <p:nvPr>
            <p:ph idx="1"/>
          </p:nvPr>
        </p:nvSpPr>
        <p:spPr/>
        <p:txBody>
          <a:bodyPr>
            <a:noAutofit/>
          </a:bodyPr>
          <a:lstStyle/>
          <a:p>
            <a:pPr>
              <a:lnSpc>
                <a:spcPct val="150000"/>
              </a:lnSpc>
            </a:pPr>
            <a:r>
              <a:rPr lang="zh-CN" altLang="en-US" sz="2000" dirty="0"/>
              <a:t>可以将   同样看作权重，即</a:t>
            </a:r>
            <a:endParaRPr lang="en-US" altLang="zh-CN" sz="2000" dirty="0"/>
          </a:p>
          <a:p>
            <a:pPr>
              <a:lnSpc>
                <a:spcPct val="150000"/>
              </a:lnSpc>
            </a:pPr>
            <a:endParaRPr lang="en-US" altLang="zh-CN" sz="2000" dirty="0"/>
          </a:p>
          <a:p>
            <a:pPr>
              <a:lnSpc>
                <a:spcPct val="150000"/>
              </a:lnSpc>
            </a:pPr>
            <a:r>
              <a:rPr lang="zh-CN" altLang="en-US" sz="2000" dirty="0"/>
              <a:t>此时                      ，优化目标为                                                其中   为样本矩阵的增广矩阵，  为对应的标签向量</a:t>
            </a:r>
            <a:endParaRPr lang="en-US" altLang="zh-CN" sz="2000" dirty="0"/>
          </a:p>
          <a:p>
            <a:pPr>
              <a:lnSpc>
                <a:spcPct val="150000"/>
              </a:lnSpc>
            </a:pPr>
            <a:endParaRPr lang="en-US" altLang="zh-CN" sz="2000" dirty="0"/>
          </a:p>
          <a:p>
            <a:pPr>
              <a:lnSpc>
                <a:spcPct val="150000"/>
              </a:lnSpc>
            </a:pPr>
            <a:endParaRPr lang="en-US" altLang="zh-CN" sz="2000" dirty="0"/>
          </a:p>
          <a:p>
            <a:pPr>
              <a:lnSpc>
                <a:spcPct val="150000"/>
              </a:lnSpc>
            </a:pPr>
            <a:endParaRPr lang="en-US" altLang="zh-CN" sz="2000" dirty="0"/>
          </a:p>
          <a:p>
            <a:pPr>
              <a:lnSpc>
                <a:spcPct val="150000"/>
              </a:lnSpc>
            </a:pPr>
            <a:r>
              <a:rPr lang="zh-CN" altLang="en-US" sz="2000" dirty="0"/>
              <a:t>求解优化目标可得</a:t>
            </a:r>
            <a:endParaRPr lang="en-US" altLang="zh-CN" sz="2000" dirty="0"/>
          </a:p>
          <a:p>
            <a:pPr>
              <a:lnSpc>
                <a:spcPct val="150000"/>
              </a:lnSpc>
            </a:pPr>
            <a:r>
              <a:rPr lang="zh-CN" altLang="en-US" sz="2000" dirty="0"/>
              <a:t>当        可逆时，线性回归模型存在唯一解。</a:t>
            </a:r>
            <a:endParaRPr lang="en-US" altLang="zh-CN" sz="2000" dirty="0"/>
          </a:p>
        </p:txBody>
      </p:sp>
      <p:pic>
        <p:nvPicPr>
          <p:cNvPr id="5" name="图片 4"/>
          <p:cNvPicPr>
            <a:picLocks noChangeAspect="1"/>
          </p:cNvPicPr>
          <p:nvPr/>
        </p:nvPicPr>
        <p:blipFill>
          <a:blip r:embed="rId1"/>
          <a:stretch>
            <a:fillRect/>
          </a:stretch>
        </p:blipFill>
        <p:spPr>
          <a:xfrm>
            <a:off x="3123303" y="1619036"/>
            <a:ext cx="200025" cy="276225"/>
          </a:xfrm>
          <a:prstGeom prst="rect">
            <a:avLst/>
          </a:prstGeom>
        </p:spPr>
      </p:pic>
      <p:pic>
        <p:nvPicPr>
          <p:cNvPr id="7" name="图片 6"/>
          <p:cNvPicPr>
            <a:picLocks noChangeAspect="1"/>
          </p:cNvPicPr>
          <p:nvPr/>
        </p:nvPicPr>
        <p:blipFill>
          <a:blip r:embed="rId2"/>
          <a:stretch>
            <a:fillRect/>
          </a:stretch>
        </p:blipFill>
        <p:spPr>
          <a:xfrm>
            <a:off x="4007768" y="1900527"/>
            <a:ext cx="1905000" cy="495300"/>
          </a:xfrm>
          <a:prstGeom prst="rect">
            <a:avLst/>
          </a:prstGeom>
        </p:spPr>
      </p:pic>
      <p:pic>
        <p:nvPicPr>
          <p:cNvPr id="9" name="图片 8"/>
          <p:cNvPicPr>
            <a:picLocks noChangeAspect="1"/>
          </p:cNvPicPr>
          <p:nvPr/>
        </p:nvPicPr>
        <p:blipFill>
          <a:blip r:embed="rId3"/>
          <a:stretch>
            <a:fillRect/>
          </a:stretch>
        </p:blipFill>
        <p:spPr>
          <a:xfrm>
            <a:off x="7311719" y="1919577"/>
            <a:ext cx="1714500" cy="457200"/>
          </a:xfrm>
          <a:prstGeom prst="rect">
            <a:avLst/>
          </a:prstGeom>
        </p:spPr>
      </p:pic>
      <p:pic>
        <p:nvPicPr>
          <p:cNvPr id="11" name="图片 10"/>
          <p:cNvPicPr>
            <a:picLocks noChangeAspect="1"/>
          </p:cNvPicPr>
          <p:nvPr/>
        </p:nvPicPr>
        <p:blipFill>
          <a:blip r:embed="rId4"/>
          <a:stretch>
            <a:fillRect/>
          </a:stretch>
        </p:blipFill>
        <p:spPr>
          <a:xfrm>
            <a:off x="2926680" y="2518488"/>
            <a:ext cx="1524000" cy="495300"/>
          </a:xfrm>
          <a:prstGeom prst="rect">
            <a:avLst/>
          </a:prstGeom>
        </p:spPr>
      </p:pic>
      <p:pic>
        <p:nvPicPr>
          <p:cNvPr id="13" name="图片 12"/>
          <p:cNvPicPr>
            <a:picLocks noChangeAspect="1"/>
          </p:cNvPicPr>
          <p:nvPr/>
        </p:nvPicPr>
        <p:blipFill>
          <a:blip r:embed="rId5"/>
          <a:stretch>
            <a:fillRect/>
          </a:stretch>
        </p:blipFill>
        <p:spPr>
          <a:xfrm>
            <a:off x="6009063" y="2658843"/>
            <a:ext cx="3295650" cy="352425"/>
          </a:xfrm>
          <a:prstGeom prst="rect">
            <a:avLst/>
          </a:prstGeom>
        </p:spPr>
      </p:pic>
      <p:pic>
        <p:nvPicPr>
          <p:cNvPr id="16" name="图片 15"/>
          <p:cNvPicPr>
            <a:picLocks noChangeAspect="1"/>
          </p:cNvPicPr>
          <p:nvPr/>
        </p:nvPicPr>
        <p:blipFill>
          <a:blip r:embed="rId6"/>
          <a:stretch>
            <a:fillRect/>
          </a:stretch>
        </p:blipFill>
        <p:spPr>
          <a:xfrm>
            <a:off x="9797817" y="2706467"/>
            <a:ext cx="276225" cy="257175"/>
          </a:xfrm>
          <a:prstGeom prst="rect">
            <a:avLst/>
          </a:prstGeom>
        </p:spPr>
      </p:pic>
      <p:pic>
        <p:nvPicPr>
          <p:cNvPr id="18" name="图片 17"/>
          <p:cNvPicPr>
            <a:picLocks noChangeAspect="1"/>
          </p:cNvPicPr>
          <p:nvPr/>
        </p:nvPicPr>
        <p:blipFill>
          <a:blip r:embed="rId7"/>
          <a:stretch>
            <a:fillRect/>
          </a:stretch>
        </p:blipFill>
        <p:spPr>
          <a:xfrm>
            <a:off x="3688681" y="3711067"/>
            <a:ext cx="2543175" cy="1400175"/>
          </a:xfrm>
          <a:prstGeom prst="rect">
            <a:avLst/>
          </a:prstGeom>
        </p:spPr>
      </p:pic>
      <p:pic>
        <p:nvPicPr>
          <p:cNvPr id="20" name="图片 19"/>
          <p:cNvPicPr>
            <a:picLocks noChangeAspect="1"/>
          </p:cNvPicPr>
          <p:nvPr/>
        </p:nvPicPr>
        <p:blipFill>
          <a:blip r:embed="rId8"/>
          <a:stretch>
            <a:fillRect/>
          </a:stretch>
        </p:blipFill>
        <p:spPr>
          <a:xfrm>
            <a:off x="3323328" y="3158534"/>
            <a:ext cx="219075" cy="257175"/>
          </a:xfrm>
          <a:prstGeom prst="rect">
            <a:avLst/>
          </a:prstGeom>
        </p:spPr>
      </p:pic>
      <p:pic>
        <p:nvPicPr>
          <p:cNvPr id="24" name="图片 23"/>
          <p:cNvPicPr>
            <a:picLocks noChangeAspect="1"/>
          </p:cNvPicPr>
          <p:nvPr/>
        </p:nvPicPr>
        <p:blipFill>
          <a:blip r:embed="rId9"/>
          <a:stretch>
            <a:fillRect/>
          </a:stretch>
        </p:blipFill>
        <p:spPr>
          <a:xfrm>
            <a:off x="7311719" y="4176167"/>
            <a:ext cx="1714500" cy="361950"/>
          </a:xfrm>
          <a:prstGeom prst="rect">
            <a:avLst/>
          </a:prstGeom>
        </p:spPr>
      </p:pic>
      <p:pic>
        <p:nvPicPr>
          <p:cNvPr id="28" name="图片 27"/>
          <p:cNvPicPr>
            <a:picLocks noChangeAspect="1"/>
          </p:cNvPicPr>
          <p:nvPr/>
        </p:nvPicPr>
        <p:blipFill>
          <a:blip r:embed="rId10"/>
          <a:stretch>
            <a:fillRect/>
          </a:stretch>
        </p:blipFill>
        <p:spPr>
          <a:xfrm>
            <a:off x="4737716" y="5141404"/>
            <a:ext cx="1695450" cy="457200"/>
          </a:xfrm>
          <a:prstGeom prst="rect">
            <a:avLst/>
          </a:prstGeom>
        </p:spPr>
      </p:pic>
      <p:pic>
        <p:nvPicPr>
          <p:cNvPr id="30" name="图片 29"/>
          <p:cNvPicPr>
            <a:picLocks noChangeAspect="1"/>
          </p:cNvPicPr>
          <p:nvPr/>
        </p:nvPicPr>
        <p:blipFill>
          <a:blip r:embed="rId11"/>
          <a:stretch>
            <a:fillRect/>
          </a:stretch>
        </p:blipFill>
        <p:spPr>
          <a:xfrm>
            <a:off x="2640930" y="5754144"/>
            <a:ext cx="571500" cy="2952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 cstate="print"/>
          <a:srcRect t="17073"/>
          <a:stretch>
            <a:fillRect/>
          </a:stretch>
        </p:blipFill>
        <p:spPr>
          <a:xfrm>
            <a:off x="0" y="1170878"/>
            <a:ext cx="12192000" cy="5687122"/>
          </a:xfrm>
          <a:prstGeom prst="rect">
            <a:avLst/>
          </a:prstGeom>
        </p:spPr>
      </p:pic>
      <p:sp>
        <p:nvSpPr>
          <p:cNvPr id="3" name="TextBox 2"/>
          <p:cNvSpPr txBox="1"/>
          <p:nvPr/>
        </p:nvSpPr>
        <p:spPr>
          <a:xfrm>
            <a:off x="1148576" y="200721"/>
            <a:ext cx="3657600" cy="584775"/>
          </a:xfrm>
          <a:prstGeom prst="rect">
            <a:avLst/>
          </a:prstGeom>
          <a:noFill/>
        </p:spPr>
        <p:txBody>
          <a:bodyPr wrap="square" rtlCol="0">
            <a:spAutoFit/>
          </a:bodyPr>
          <a:lstStyle/>
          <a:p>
            <a:r>
              <a:rPr lang="zh-CN" altLang="en-US" sz="3200" b="1" dirty="0">
                <a:solidFill>
                  <a:srgbClr val="0070C0"/>
                </a:solidFill>
              </a:rPr>
              <a:t>多元线性回归</a:t>
            </a:r>
            <a:endParaRPr lang="zh-CN" altLang="en-US" sz="3200" b="1" dirty="0">
              <a:solidFill>
                <a:srgbClr val="0070C0"/>
              </a:solidFill>
            </a:endParaRPr>
          </a:p>
        </p:txBody>
      </p:sp>
      <p:sp>
        <p:nvSpPr>
          <p:cNvPr id="4" name="矩形 3"/>
          <p:cNvSpPr/>
          <p:nvPr/>
        </p:nvSpPr>
        <p:spPr>
          <a:xfrm flipH="1">
            <a:off x="1742439" y="1416705"/>
            <a:ext cx="655321" cy="508000"/>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文本框 1"/>
          <p:cNvSpPr txBox="1"/>
          <p:nvPr/>
        </p:nvSpPr>
        <p:spPr>
          <a:xfrm>
            <a:off x="1742439" y="1416705"/>
            <a:ext cx="800219" cy="461665"/>
          </a:xfrm>
          <a:prstGeom prst="rect">
            <a:avLst/>
          </a:prstGeom>
          <a:noFill/>
        </p:spPr>
        <p:txBody>
          <a:bodyPr wrap="none" rtlCol="0">
            <a:spAutoFit/>
          </a:bodyPr>
          <a:lstStyle/>
          <a:p>
            <a:r>
              <a:rPr lang="zh-CN" altLang="en-US" sz="2400" b="1" dirty="0"/>
              <a:t>例子</a:t>
            </a:r>
            <a:endParaRPr lang="zh-CN" altLang="en-US" sz="2400" b="1" dirty="0"/>
          </a:p>
        </p:txBody>
      </p:sp>
      <p:sp>
        <p:nvSpPr>
          <p:cNvPr id="5" name="文本框 4"/>
          <p:cNvSpPr txBox="1"/>
          <p:nvPr/>
        </p:nvSpPr>
        <p:spPr>
          <a:xfrm>
            <a:off x="2665621" y="5856711"/>
            <a:ext cx="6468437" cy="523220"/>
          </a:xfrm>
          <a:prstGeom prst="rect">
            <a:avLst/>
          </a:prstGeom>
          <a:noFill/>
        </p:spPr>
        <p:txBody>
          <a:bodyPr wrap="none" rtlCol="0">
            <a:spAutoFit/>
          </a:bodyPr>
          <a:lstStyle/>
          <a:p>
            <a:r>
              <a:rPr lang="zh-CN" altLang="en-US" sz="2800" dirty="0">
                <a:solidFill>
                  <a:srgbClr val="FF0000"/>
                </a:solidFill>
                <a:latin typeface="楷体" panose="02010609060101010101" pitchFamily="49" charset="-122"/>
                <a:ea typeface="楷体" panose="02010609060101010101" pitchFamily="49" charset="-122"/>
              </a:rPr>
              <a:t>工资</a:t>
            </a:r>
            <a:r>
              <a:rPr lang="en-US" altLang="zh-CN" sz="2800" dirty="0">
                <a:solidFill>
                  <a:srgbClr val="FF0000"/>
                </a:solidFill>
                <a:latin typeface="楷体" panose="02010609060101010101" pitchFamily="49" charset="-122"/>
                <a:ea typeface="楷体" panose="02010609060101010101" pitchFamily="49" charset="-122"/>
              </a:rPr>
              <a:t>18000</a:t>
            </a:r>
            <a:r>
              <a:rPr lang="zh-CN" altLang="en-US" sz="2800" dirty="0">
                <a:solidFill>
                  <a:srgbClr val="FF0000"/>
                </a:solidFill>
                <a:latin typeface="楷体" panose="02010609060101010101" pitchFamily="49" charset="-122"/>
                <a:ea typeface="楷体" panose="02010609060101010101" pitchFamily="49" charset="-122"/>
              </a:rPr>
              <a:t>，工龄</a:t>
            </a:r>
            <a:r>
              <a:rPr lang="en-US" altLang="zh-CN" sz="2800" dirty="0">
                <a:solidFill>
                  <a:srgbClr val="FF0000"/>
                </a:solidFill>
                <a:latin typeface="楷体" panose="02010609060101010101" pitchFamily="49" charset="-122"/>
                <a:ea typeface="楷体" panose="02010609060101010101" pitchFamily="49" charset="-122"/>
              </a:rPr>
              <a:t>50, </a:t>
            </a:r>
            <a:r>
              <a:rPr lang="zh-CN" altLang="en-US" sz="2800" dirty="0">
                <a:solidFill>
                  <a:srgbClr val="FF0000"/>
                </a:solidFill>
                <a:latin typeface="楷体" panose="02010609060101010101" pitchFamily="49" charset="-122"/>
                <a:ea typeface="楷体" panose="02010609060101010101" pitchFamily="49" charset="-122"/>
              </a:rPr>
              <a:t>贷款额度是多少？</a:t>
            </a:r>
            <a:endParaRPr lang="zh-CN" altLang="en-US" sz="2800" dirty="0">
              <a:solidFill>
                <a:srgbClr val="FF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srcRect t="15284"/>
          <a:stretch>
            <a:fillRect/>
          </a:stretch>
        </p:blipFill>
        <p:spPr>
          <a:xfrm>
            <a:off x="-1" y="1048215"/>
            <a:ext cx="12192001" cy="5809784"/>
          </a:xfrm>
          <a:prstGeom prst="rect">
            <a:avLst/>
          </a:prstGeom>
        </p:spPr>
      </p:pic>
      <p:sp>
        <p:nvSpPr>
          <p:cNvPr id="4" name="TextBox 3"/>
          <p:cNvSpPr txBox="1"/>
          <p:nvPr/>
        </p:nvSpPr>
        <p:spPr>
          <a:xfrm>
            <a:off x="1148576" y="200721"/>
            <a:ext cx="3657600" cy="584775"/>
          </a:xfrm>
          <a:prstGeom prst="rect">
            <a:avLst/>
          </a:prstGeom>
          <a:noFill/>
        </p:spPr>
        <p:txBody>
          <a:bodyPr wrap="square" rtlCol="0">
            <a:spAutoFit/>
          </a:bodyPr>
          <a:lstStyle/>
          <a:p>
            <a:r>
              <a:rPr lang="zh-CN" altLang="en-US" sz="3200" b="1" dirty="0">
                <a:solidFill>
                  <a:srgbClr val="0070C0"/>
                </a:solidFill>
              </a:rPr>
              <a:t>多元线性回归</a:t>
            </a:r>
            <a:endParaRPr lang="zh-CN" altLang="en-US" sz="3200" b="1" dirty="0">
              <a:solidFill>
                <a:srgbClr val="0070C0"/>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0" y="0"/>
            <a:ext cx="12192001"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368135"/>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5432" y="0"/>
            <a:ext cx="9997440" cy="1143000"/>
          </a:xfrm>
        </p:spPr>
        <p:txBody>
          <a:bodyPr/>
          <a:lstStyle/>
          <a:p>
            <a:r>
              <a:rPr lang="zh-CN" altLang="en-US" dirty="0"/>
              <a:t>最小二乘法算法实现</a:t>
            </a:r>
            <a:endParaRPr lang="zh-CN" altLang="en-US" dirty="0"/>
          </a:p>
        </p:txBody>
      </p:sp>
      <p:sp>
        <p:nvSpPr>
          <p:cNvPr id="3" name="内容占位符 2"/>
          <p:cNvSpPr>
            <a:spLocks noGrp="1"/>
          </p:cNvSpPr>
          <p:nvPr>
            <p:ph idx="1"/>
          </p:nvPr>
        </p:nvSpPr>
        <p:spPr>
          <a:xfrm>
            <a:off x="1483111" y="925551"/>
            <a:ext cx="10526751" cy="5854390"/>
          </a:xfrm>
        </p:spPr>
        <p:txBody>
          <a:bodyPr>
            <a:normAutofit/>
          </a:bodyPr>
          <a:lstStyle/>
          <a:p>
            <a:pPr marL="82550" indent="0">
              <a:buNone/>
            </a:pPr>
            <a:r>
              <a:rPr lang="en-US" altLang="zh-CN" sz="2400" dirty="0"/>
              <a:t>import  </a:t>
            </a:r>
            <a:r>
              <a:rPr lang="en-US" altLang="zh-CN" sz="2400" dirty="0" err="1"/>
              <a:t>numpy</a:t>
            </a:r>
            <a:r>
              <a:rPr lang="en-US" altLang="zh-CN" sz="2400" dirty="0"/>
              <a:t>  as  </a:t>
            </a:r>
            <a:r>
              <a:rPr lang="en-US" altLang="zh-CN" sz="2400" dirty="0" err="1"/>
              <a:t>np</a:t>
            </a:r>
            <a:br>
              <a:rPr lang="en-US" altLang="zh-CN" sz="2400" dirty="0"/>
            </a:br>
            <a:r>
              <a:rPr lang="en-US" altLang="zh-CN" sz="2400" dirty="0"/>
              <a:t>from  </a:t>
            </a:r>
            <a:r>
              <a:rPr lang="en-US" altLang="zh-CN" sz="2400" dirty="0" err="1"/>
              <a:t>numpy</a:t>
            </a:r>
            <a:r>
              <a:rPr lang="en-US" altLang="zh-CN" sz="2400" dirty="0"/>
              <a:t>  import  mat</a:t>
            </a:r>
            <a:br>
              <a:rPr lang="en-US" altLang="zh-CN" sz="2400" dirty="0"/>
            </a:br>
            <a:r>
              <a:rPr lang="en-US" altLang="zh-CN" sz="2400" dirty="0"/>
              <a:t>import  </a:t>
            </a:r>
            <a:r>
              <a:rPr lang="en-US" altLang="zh-CN" sz="2400" dirty="0" err="1"/>
              <a:t>matplotlib.pyplot</a:t>
            </a:r>
            <a:r>
              <a:rPr lang="en-US" altLang="zh-CN" sz="2400" dirty="0"/>
              <a:t>  as  </a:t>
            </a:r>
            <a:r>
              <a:rPr lang="en-US" altLang="zh-CN" sz="2400" dirty="0" err="1"/>
              <a:t>plt</a:t>
            </a:r>
            <a:br>
              <a:rPr lang="en-US" altLang="zh-CN" sz="2400" dirty="0"/>
            </a:br>
            <a:br>
              <a:rPr lang="en-US" altLang="zh-CN" sz="2400" dirty="0"/>
            </a:br>
            <a:r>
              <a:rPr lang="en-US" altLang="zh-CN" sz="2400" dirty="0"/>
              <a:t>if __name__ == "__main__":</a:t>
            </a:r>
            <a:br>
              <a:rPr lang="en-US" altLang="zh-CN" sz="2400" dirty="0"/>
            </a:br>
            <a:r>
              <a:rPr lang="en-US" altLang="zh-CN" sz="2400" dirty="0"/>
              <a:t>    </a:t>
            </a:r>
            <a:r>
              <a:rPr lang="en-US" altLang="zh-CN" sz="2400" dirty="0" err="1"/>
              <a:t>iter</a:t>
            </a:r>
            <a:r>
              <a:rPr lang="en-US" altLang="zh-CN" sz="2400" dirty="0"/>
              <a:t> = 50</a:t>
            </a:r>
            <a:br>
              <a:rPr lang="en-US" altLang="zh-CN" sz="2400" dirty="0"/>
            </a:br>
            <a:r>
              <a:rPr lang="en-US" altLang="zh-CN" sz="2400" dirty="0"/>
              <a:t>    #1 </a:t>
            </a:r>
            <a:r>
              <a:rPr lang="zh-CN" altLang="en-US" sz="2400" dirty="0"/>
              <a:t>获得</a:t>
            </a:r>
            <a:r>
              <a:rPr lang="en-US" altLang="zh-CN" sz="2400" dirty="0" err="1"/>
              <a:t>x,y</a:t>
            </a:r>
            <a:r>
              <a:rPr lang="zh-CN" altLang="en-US" sz="2400" dirty="0"/>
              <a:t>数据</a:t>
            </a:r>
            <a:r>
              <a:rPr lang="en-US" altLang="zh-CN" sz="2400" dirty="0"/>
              <a:t># </a:t>
            </a:r>
            <a:endParaRPr lang="en-US" altLang="zh-CN" sz="2400" dirty="0"/>
          </a:p>
          <a:p>
            <a:pPr marL="82550" indent="0">
              <a:buNone/>
            </a:pPr>
            <a:r>
              <a:rPr lang="en-US" altLang="zh-CN" sz="2400" dirty="0"/>
              <a:t>    X = </a:t>
            </a:r>
            <a:r>
              <a:rPr lang="en-US" altLang="zh-CN" sz="2400" dirty="0" err="1"/>
              <a:t>np.random.rand</a:t>
            </a:r>
            <a:r>
              <a:rPr lang="en-US" altLang="zh-CN" sz="2400" dirty="0"/>
              <a:t>(</a:t>
            </a:r>
            <a:r>
              <a:rPr lang="en-US" altLang="zh-CN" sz="2400" dirty="0" err="1"/>
              <a:t>iter</a:t>
            </a:r>
            <a:r>
              <a:rPr lang="en-US" altLang="zh-CN" sz="2400" dirty="0"/>
              <a:t>)*20</a:t>
            </a:r>
            <a:br>
              <a:rPr lang="en-US" altLang="zh-CN" sz="2400" dirty="0"/>
            </a:br>
            <a:r>
              <a:rPr lang="en-US" altLang="zh-CN" sz="2400" dirty="0"/>
              <a:t>    noise = </a:t>
            </a:r>
            <a:r>
              <a:rPr lang="en-US" altLang="zh-CN" sz="2400" dirty="0" err="1"/>
              <a:t>np.random.randn</a:t>
            </a:r>
            <a:r>
              <a:rPr lang="en-US" altLang="zh-CN" sz="2400" dirty="0"/>
              <a:t>(</a:t>
            </a:r>
            <a:r>
              <a:rPr lang="en-US" altLang="zh-CN" sz="2400" dirty="0" err="1"/>
              <a:t>iter</a:t>
            </a:r>
            <a:r>
              <a:rPr lang="en-US" altLang="zh-CN" sz="2400" dirty="0"/>
              <a:t>)</a:t>
            </a:r>
            <a:br>
              <a:rPr lang="en-US" altLang="zh-CN" sz="2400" dirty="0"/>
            </a:br>
            <a:r>
              <a:rPr lang="en-US" altLang="zh-CN" sz="2400" dirty="0"/>
              <a:t>    y = 0.5 * X + noise</a:t>
            </a:r>
            <a:br>
              <a:rPr lang="en-US" altLang="zh-CN" sz="2400" dirty="0"/>
            </a:br>
            <a:r>
              <a:rPr lang="en-US" altLang="zh-CN" sz="2400" dirty="0"/>
              <a:t>    </a:t>
            </a:r>
            <a:br>
              <a:rPr lang="en-US" altLang="zh-CN" sz="2400" dirty="0"/>
            </a:br>
            <a:r>
              <a:rPr lang="en-US" altLang="zh-CN" sz="2400" dirty="0"/>
              <a:t>    </a:t>
            </a:r>
            <a:r>
              <a:rPr lang="en-US" altLang="zh-CN" sz="2400" dirty="0" err="1"/>
              <a:t>plt.scatter</a:t>
            </a:r>
            <a:r>
              <a:rPr lang="en-US" altLang="zh-CN" sz="2400" dirty="0"/>
              <a:t>(</a:t>
            </a:r>
            <a:r>
              <a:rPr lang="en-US" altLang="zh-CN" sz="2400" dirty="0" err="1"/>
              <a:t>X,y</a:t>
            </a:r>
            <a:r>
              <a:rPr lang="en-US" altLang="zh-CN" sz="2400" dirty="0"/>
              <a:t>)</a:t>
            </a:r>
            <a:br>
              <a:rPr lang="en-US" altLang="zh-CN" sz="2400" dirty="0"/>
            </a:br>
            <a:r>
              <a:rPr lang="en-US" altLang="zh-CN" sz="2400" dirty="0"/>
              <a:t>    </a:t>
            </a:r>
            <a:r>
              <a:rPr lang="en-US" altLang="zh-CN" sz="2400" dirty="0" err="1"/>
              <a:t>plt.show</a:t>
            </a:r>
            <a:r>
              <a:rPr lang="en-US" altLang="zh-CN" sz="2400" dirty="0"/>
              <a:t>()</a:t>
            </a:r>
            <a:br>
              <a:rPr lang="en-US" altLang="zh-CN" sz="2400" dirty="0"/>
            </a:br>
            <a:br>
              <a:rPr lang="en-US" altLang="zh-CN" sz="2400" dirty="0"/>
            </a:br>
            <a:r>
              <a:rPr lang="en-US" altLang="zh-CN" sz="2400" dirty="0"/>
              <a:t>    </a:t>
            </a:r>
            <a:endParaRPr lang="zh-CN" altLang="en-US" sz="2400"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18129" y="1115122"/>
            <a:ext cx="5756422" cy="513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5432" y="0"/>
            <a:ext cx="9997440" cy="1143000"/>
          </a:xfrm>
        </p:spPr>
        <p:txBody>
          <a:bodyPr/>
          <a:lstStyle/>
          <a:p>
            <a:r>
              <a:rPr lang="zh-CN" altLang="en-US" dirty="0"/>
              <a:t>最小二乘法算法实现</a:t>
            </a:r>
            <a:endParaRPr lang="zh-CN" altLang="en-US" dirty="0"/>
          </a:p>
        </p:txBody>
      </p:sp>
      <p:sp>
        <p:nvSpPr>
          <p:cNvPr id="3" name="内容占位符 2"/>
          <p:cNvSpPr>
            <a:spLocks noGrp="1"/>
          </p:cNvSpPr>
          <p:nvPr>
            <p:ph idx="1"/>
          </p:nvPr>
        </p:nvSpPr>
        <p:spPr>
          <a:xfrm>
            <a:off x="1483111" y="925551"/>
            <a:ext cx="10526751" cy="5854390"/>
          </a:xfrm>
        </p:spPr>
        <p:txBody>
          <a:bodyPr>
            <a:normAutofit fontScale="92500" lnSpcReduction="10000"/>
          </a:bodyPr>
          <a:lstStyle/>
          <a:p>
            <a:pPr marL="82550" indent="0">
              <a:buNone/>
            </a:pPr>
            <a:r>
              <a:rPr lang="en-US" altLang="zh-CN" sz="2400" dirty="0"/>
              <a:t>#2 </a:t>
            </a:r>
            <a:r>
              <a:rPr lang="zh-CN" altLang="en-US" sz="2400" dirty="0"/>
              <a:t>矩阵形式转换</a:t>
            </a:r>
            <a:r>
              <a:rPr lang="en-US" altLang="zh-CN" sz="2400" dirty="0"/>
              <a:t>X, Y</a:t>
            </a:r>
            <a:br>
              <a:rPr lang="en-US" altLang="zh-CN" sz="2400" dirty="0"/>
            </a:br>
            <a:r>
              <a:rPr lang="en-US" altLang="zh-CN" sz="2400" dirty="0"/>
              <a:t>    </a:t>
            </a:r>
            <a:r>
              <a:rPr lang="en-US" altLang="zh-CN" sz="2400" dirty="0" err="1"/>
              <a:t>Y_mat</a:t>
            </a:r>
            <a:r>
              <a:rPr lang="en-US" altLang="zh-CN" sz="2400" dirty="0"/>
              <a:t> = mat(y).T</a:t>
            </a:r>
            <a:br>
              <a:rPr lang="en-US" altLang="zh-CN" sz="2400" dirty="0"/>
            </a:br>
            <a:br>
              <a:rPr lang="en-US" altLang="zh-CN" sz="2400" dirty="0"/>
            </a:br>
            <a:r>
              <a:rPr lang="en-US" altLang="zh-CN" sz="2400" dirty="0"/>
              <a:t>    </a:t>
            </a:r>
            <a:r>
              <a:rPr lang="en-US" altLang="zh-CN" sz="2400" dirty="0" err="1"/>
              <a:t>X_temp</a:t>
            </a:r>
            <a:r>
              <a:rPr lang="en-US" altLang="zh-CN" sz="2400" dirty="0"/>
              <a:t> = </a:t>
            </a:r>
            <a:r>
              <a:rPr lang="en-US" altLang="zh-CN" sz="2400" dirty="0" err="1"/>
              <a:t>np.ones</a:t>
            </a:r>
            <a:r>
              <a:rPr lang="en-US" altLang="zh-CN" sz="2400" dirty="0"/>
              <a:t>((iter,2))</a:t>
            </a:r>
            <a:br>
              <a:rPr lang="en-US" altLang="zh-CN" sz="2400" dirty="0"/>
            </a:br>
            <a:r>
              <a:rPr lang="en-US" altLang="zh-CN" sz="2400" dirty="0"/>
              <a:t>    </a:t>
            </a:r>
            <a:r>
              <a:rPr lang="en-US" altLang="zh-CN" sz="2400" dirty="0" err="1"/>
              <a:t>X_temp</a:t>
            </a:r>
            <a:r>
              <a:rPr lang="en-US" altLang="zh-CN" sz="2400" dirty="0"/>
              <a:t>[:,0] = X </a:t>
            </a:r>
            <a:br>
              <a:rPr lang="en-US" altLang="zh-CN" sz="2400" dirty="0"/>
            </a:br>
            <a:r>
              <a:rPr lang="en-US" altLang="zh-CN" sz="2400" dirty="0"/>
              <a:t>    </a:t>
            </a:r>
            <a:r>
              <a:rPr lang="en-US" altLang="zh-CN" sz="2400" dirty="0" err="1"/>
              <a:t>X_mat</a:t>
            </a:r>
            <a:r>
              <a:rPr lang="en-US" altLang="zh-CN" sz="2400" dirty="0"/>
              <a:t> = mat(</a:t>
            </a:r>
            <a:r>
              <a:rPr lang="en-US" altLang="zh-CN" sz="2400" dirty="0" err="1"/>
              <a:t>X_temp</a:t>
            </a:r>
            <a:r>
              <a:rPr lang="en-US" altLang="zh-CN" sz="2400" dirty="0"/>
              <a:t>)</a:t>
            </a:r>
            <a:br>
              <a:rPr lang="en-US" altLang="zh-CN" sz="2400" dirty="0"/>
            </a:br>
            <a:r>
              <a:rPr lang="en-US" altLang="zh-CN" sz="2400" dirty="0"/>
              <a:t>    </a:t>
            </a:r>
            <a:br>
              <a:rPr lang="en-US" altLang="zh-CN" sz="2400" dirty="0"/>
            </a:br>
            <a:r>
              <a:rPr lang="en-US" altLang="zh-CN" sz="2400" dirty="0"/>
              <a:t>    #3 </a:t>
            </a:r>
            <a:r>
              <a:rPr lang="zh-CN" altLang="en-US" sz="2400" dirty="0"/>
              <a:t>利用解析法 </a:t>
            </a:r>
            <a:r>
              <a:rPr lang="en-US" altLang="zh-CN" sz="2400" dirty="0">
                <a:solidFill>
                  <a:srgbClr val="0070C0"/>
                </a:solidFill>
              </a:rPr>
              <a:t>p = (X^TX)^-1 X^T Y</a:t>
            </a:r>
            <a:br>
              <a:rPr lang="en-US" altLang="zh-CN" sz="2400" dirty="0">
                <a:solidFill>
                  <a:srgbClr val="0070C0"/>
                </a:solidFill>
              </a:rPr>
            </a:br>
            <a:r>
              <a:rPr lang="en-US" altLang="zh-CN" sz="2400" dirty="0"/>
              <a:t>    </a:t>
            </a:r>
            <a:r>
              <a:rPr lang="en-US" altLang="zh-CN" sz="2400" dirty="0" err="1"/>
              <a:t>pamaters</a:t>
            </a:r>
            <a:r>
              <a:rPr lang="en-US" altLang="zh-CN" sz="2400" dirty="0"/>
              <a:t> =(((</a:t>
            </a:r>
            <a:r>
              <a:rPr lang="en-US" altLang="zh-CN" sz="2400" dirty="0" err="1"/>
              <a:t>X_mat.T</a:t>
            </a:r>
            <a:r>
              <a:rPr lang="en-US" altLang="zh-CN" sz="2400" dirty="0"/>
              <a:t>)*</a:t>
            </a:r>
            <a:r>
              <a:rPr lang="en-US" altLang="zh-CN" sz="2400" dirty="0" err="1"/>
              <a:t>X_mat</a:t>
            </a:r>
            <a:r>
              <a:rPr lang="en-US" altLang="zh-CN" sz="2400" dirty="0"/>
              <a:t>).I)*</a:t>
            </a:r>
            <a:r>
              <a:rPr lang="en-US" altLang="zh-CN" sz="2400" dirty="0" err="1"/>
              <a:t>X_mat.T</a:t>
            </a:r>
            <a:r>
              <a:rPr lang="en-US" altLang="zh-CN" sz="2400" dirty="0"/>
              <a:t>*</a:t>
            </a:r>
            <a:r>
              <a:rPr lang="en-US" altLang="zh-CN" sz="2400" dirty="0" err="1"/>
              <a:t>Y_mat</a:t>
            </a:r>
            <a:br>
              <a:rPr lang="en-US" altLang="zh-CN" sz="2400" dirty="0"/>
            </a:br>
            <a:r>
              <a:rPr lang="en-US" altLang="zh-CN" sz="2400" dirty="0"/>
              <a:t>    print(</a:t>
            </a:r>
            <a:r>
              <a:rPr lang="en-US" altLang="zh-CN" sz="2400" dirty="0" err="1"/>
              <a:t>pamaters</a:t>
            </a:r>
            <a:r>
              <a:rPr lang="en-US" altLang="zh-CN" sz="2400" dirty="0"/>
              <a:t>)</a:t>
            </a:r>
            <a:br>
              <a:rPr lang="en-US" altLang="zh-CN" sz="2400" dirty="0"/>
            </a:br>
            <a:br>
              <a:rPr lang="en-US" altLang="zh-CN" sz="2400" dirty="0"/>
            </a:br>
            <a:r>
              <a:rPr lang="en-US" altLang="zh-CN" sz="2400" dirty="0"/>
              <a:t>    #4  </a:t>
            </a:r>
            <a:r>
              <a:rPr lang="zh-CN" altLang="en-US" sz="2400" dirty="0"/>
              <a:t>显示 </a:t>
            </a:r>
            <a:br>
              <a:rPr lang="zh-CN" altLang="en-US" sz="2400" dirty="0"/>
            </a:br>
            <a:r>
              <a:rPr lang="zh-CN" altLang="en-US" sz="2400" dirty="0"/>
              <a:t>    </a:t>
            </a:r>
            <a:r>
              <a:rPr lang="en-US" altLang="zh-CN" sz="2400" dirty="0" err="1"/>
              <a:t>predict_Y</a:t>
            </a:r>
            <a:r>
              <a:rPr lang="en-US" altLang="zh-CN" sz="2400" dirty="0"/>
              <a:t> = </a:t>
            </a:r>
            <a:r>
              <a:rPr lang="en-US" altLang="zh-CN" sz="2400" dirty="0" err="1"/>
              <a:t>X_mat</a:t>
            </a:r>
            <a:r>
              <a:rPr lang="en-US" altLang="zh-CN" sz="2400" dirty="0"/>
              <a:t>* </a:t>
            </a:r>
            <a:r>
              <a:rPr lang="en-US" altLang="zh-CN" sz="2400" dirty="0" err="1"/>
              <a:t>pamaters</a:t>
            </a:r>
            <a:r>
              <a:rPr lang="en-US" altLang="zh-CN" sz="2400" dirty="0"/>
              <a:t> </a:t>
            </a:r>
            <a:br>
              <a:rPr lang="en-US" altLang="zh-CN" sz="2400" dirty="0"/>
            </a:br>
            <a:br>
              <a:rPr lang="en-US" altLang="zh-CN" sz="2400" dirty="0"/>
            </a:br>
            <a:r>
              <a:rPr lang="en-US" altLang="zh-CN" sz="2400" dirty="0"/>
              <a:t>    </a:t>
            </a:r>
            <a:r>
              <a:rPr lang="en-US" altLang="zh-CN" sz="2400" dirty="0" err="1"/>
              <a:t>plt.figure</a:t>
            </a:r>
            <a:r>
              <a:rPr lang="en-US" altLang="zh-CN" sz="2400" dirty="0"/>
              <a:t>()</a:t>
            </a:r>
            <a:br>
              <a:rPr lang="en-US" altLang="zh-CN" sz="2400" dirty="0"/>
            </a:br>
            <a:r>
              <a:rPr lang="en-US" altLang="zh-CN" sz="2400" dirty="0"/>
              <a:t>    </a:t>
            </a:r>
            <a:r>
              <a:rPr lang="en-US" altLang="zh-CN" sz="2400" dirty="0" err="1"/>
              <a:t>plt.scatter</a:t>
            </a:r>
            <a:r>
              <a:rPr lang="en-US" altLang="zh-CN" sz="2400" dirty="0"/>
              <a:t>(X, y, c="blue")</a:t>
            </a:r>
            <a:br>
              <a:rPr lang="en-US" altLang="zh-CN" sz="2400" dirty="0"/>
            </a:br>
            <a:r>
              <a:rPr lang="en-US" altLang="zh-CN" sz="2400" dirty="0"/>
              <a:t>    </a:t>
            </a:r>
            <a:r>
              <a:rPr lang="en-US" altLang="zh-CN" sz="2400" dirty="0" err="1"/>
              <a:t>plt.plot</a:t>
            </a:r>
            <a:r>
              <a:rPr lang="en-US" altLang="zh-CN" sz="2400" dirty="0"/>
              <a:t>(X, </a:t>
            </a:r>
            <a:r>
              <a:rPr lang="en-US" altLang="zh-CN" sz="2400" dirty="0" err="1"/>
              <a:t>predict_Y</a:t>
            </a:r>
            <a:r>
              <a:rPr lang="en-US" altLang="zh-CN" sz="2400" dirty="0"/>
              <a:t>, c="red")</a:t>
            </a:r>
            <a:br>
              <a:rPr lang="en-US" altLang="zh-CN" sz="2400" dirty="0"/>
            </a:br>
            <a:r>
              <a:rPr lang="en-US" altLang="zh-CN" sz="2400" dirty="0"/>
              <a:t>    </a:t>
            </a:r>
            <a:r>
              <a:rPr lang="en-US" altLang="zh-CN" sz="2400" dirty="0" err="1"/>
              <a:t>plt.show</a:t>
            </a:r>
            <a:r>
              <a:rPr lang="en-US" altLang="zh-CN" sz="2400" dirty="0"/>
              <a:t>()</a:t>
            </a:r>
            <a:endParaRPr lang="zh-CN" altLang="en-US" sz="2400"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35551" y="1380392"/>
            <a:ext cx="4074311" cy="3633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算法应用</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52803" y="3574248"/>
            <a:ext cx="4554652" cy="584775"/>
          </a:xfrm>
          <a:prstGeom prst="rect">
            <a:avLst/>
          </a:prstGeom>
          <a:noFill/>
        </p:spPr>
        <p:txBody>
          <a:bodyPr wrap="square" rtlCol="0">
            <a:spAutoFit/>
          </a:bodyPr>
          <a:lstStyle/>
          <a:p>
            <a:pPr algn="ctr"/>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Application</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数据集介绍</a:t>
            </a:r>
            <a:endParaRPr lang="zh-CN" altLang="en-US" dirty="0"/>
          </a:p>
        </p:txBody>
      </p:sp>
      <p:sp>
        <p:nvSpPr>
          <p:cNvPr id="3" name="矩形 2"/>
          <p:cNvSpPr/>
          <p:nvPr/>
        </p:nvSpPr>
        <p:spPr>
          <a:xfrm>
            <a:off x="529071" y="1192509"/>
            <a:ext cx="7748147" cy="523220"/>
          </a:xfrm>
          <a:prstGeom prst="rect">
            <a:avLst/>
          </a:prstGeom>
        </p:spPr>
        <p:txBody>
          <a:bodyPr wrap="none">
            <a:spAutoFit/>
          </a:bodyPr>
          <a:lstStyle/>
          <a:p>
            <a:r>
              <a:rPr lang="zh-CN" altLang="en-US" sz="2800" dirty="0"/>
              <a:t>波士顿房价数据集（</a:t>
            </a:r>
            <a:r>
              <a:rPr lang="en-US" altLang="zh-CN" sz="2800" dirty="0"/>
              <a:t>Boston House Price Dataset</a:t>
            </a:r>
            <a:r>
              <a:rPr lang="zh-CN" altLang="en-US" sz="2800" dirty="0"/>
              <a:t>）</a:t>
            </a:r>
            <a:endParaRPr lang="zh-CN" altLang="en-US" sz="2800" dirty="0"/>
          </a:p>
        </p:txBody>
      </p:sp>
      <p:sp>
        <p:nvSpPr>
          <p:cNvPr id="4" name="内容占位符 1"/>
          <p:cNvSpPr txBox="1"/>
          <p:nvPr/>
        </p:nvSpPr>
        <p:spPr>
          <a:xfrm>
            <a:off x="386637" y="2120713"/>
            <a:ext cx="10976455" cy="3641026"/>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a:buChar char="•"/>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波士顿房价数据集（</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Boston House Price Dataset</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）包含对房价的预测，以千美元计，给定的条件是房屋及其相邻房屋的详细信息。</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a:buChar char="•"/>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该数据集是一个回归问题。每个类的观察值数量是均等的，共有 </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506 </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个观察，</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13 </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个输入变量和</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个输出变量。</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a:buChar char="•"/>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cs"/>
              </a:rPr>
              <a:t>sklearn</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库的</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datasets</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包含该数据集（</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 load_boston</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a:buChar char="•"/>
              <a:defRPr/>
            </a:pPr>
            <a:r>
              <a:rPr lang="zh-CN" altLang="en-US" sz="2800" dirty="0"/>
              <a:t>调用方法：</a:t>
            </a:r>
            <a:r>
              <a:rPr lang="en-US" altLang="zh-CN" sz="2800" dirty="0"/>
              <a:t>from  sklearn  import  datasets</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29679" y="1741968"/>
            <a:ext cx="11300321" cy="4369231"/>
          </a:xfrm>
        </p:spPr>
        <p:txBody>
          <a:bodyPr lIns="109728" tIns="54864" rIns="109728" bIns="54864" numCol="2"/>
          <a:lstStyle/>
          <a:p>
            <a:pPr>
              <a:buFont typeface="Arial" panose="020B0604020202020204"/>
              <a:buChar char="•"/>
            </a:pPr>
            <a:r>
              <a:rPr lang="en-US" altLang="zh-CN" sz="1700" dirty="0">
                <a:solidFill>
                  <a:schemeClr val="tx1"/>
                </a:solidFill>
              </a:rPr>
              <a:t>CRIM</a:t>
            </a:r>
            <a:r>
              <a:rPr lang="zh-CN" altLang="en-US" sz="1700" dirty="0">
                <a:solidFill>
                  <a:schemeClr val="tx1"/>
                </a:solidFill>
              </a:rPr>
              <a:t>：城镇人均犯罪率。</a:t>
            </a:r>
            <a:endParaRPr lang="zh-CN" altLang="en-US" sz="1700" dirty="0">
              <a:solidFill>
                <a:schemeClr val="tx1"/>
              </a:solidFill>
            </a:endParaRPr>
          </a:p>
          <a:p>
            <a:pPr>
              <a:buFont typeface="Arial" panose="020B0604020202020204"/>
              <a:buChar char="•"/>
            </a:pPr>
            <a:r>
              <a:rPr lang="en-US" altLang="zh-CN" sz="1700" dirty="0">
                <a:solidFill>
                  <a:schemeClr val="tx1"/>
                </a:solidFill>
              </a:rPr>
              <a:t>ZN</a:t>
            </a:r>
            <a:r>
              <a:rPr lang="zh-CN" altLang="en-US" sz="1700" dirty="0">
                <a:solidFill>
                  <a:schemeClr val="tx1"/>
                </a:solidFill>
              </a:rPr>
              <a:t>：住宅用地超过 </a:t>
            </a:r>
            <a:r>
              <a:rPr lang="en-US" altLang="zh-CN" sz="1700" dirty="0">
                <a:solidFill>
                  <a:schemeClr val="tx1"/>
                </a:solidFill>
              </a:rPr>
              <a:t>25000 </a:t>
            </a:r>
            <a:r>
              <a:rPr lang="zh-CN" altLang="en-US" sz="1700" dirty="0">
                <a:solidFill>
                  <a:schemeClr val="tx1"/>
                </a:solidFill>
              </a:rPr>
              <a:t>平方尺</a:t>
            </a:r>
            <a:r>
              <a:rPr lang="en-US" altLang="zh-CN" sz="1700" dirty="0">
                <a:solidFill>
                  <a:schemeClr val="tx1"/>
                </a:solidFill>
              </a:rPr>
              <a:t> </a:t>
            </a:r>
            <a:r>
              <a:rPr lang="zh-CN" altLang="en-US" sz="1700" dirty="0">
                <a:solidFill>
                  <a:schemeClr val="tx1"/>
                </a:solidFill>
              </a:rPr>
              <a:t>的比例。</a:t>
            </a:r>
            <a:endParaRPr lang="zh-CN" altLang="en-US" sz="1700" dirty="0">
              <a:solidFill>
                <a:schemeClr val="tx1"/>
              </a:solidFill>
            </a:endParaRPr>
          </a:p>
          <a:p>
            <a:pPr>
              <a:buFont typeface="Arial" panose="020B0604020202020204"/>
              <a:buChar char="•"/>
            </a:pPr>
            <a:r>
              <a:rPr lang="en-US" altLang="zh-CN" sz="1700" dirty="0">
                <a:solidFill>
                  <a:schemeClr val="tx1"/>
                </a:solidFill>
              </a:rPr>
              <a:t>INDUS</a:t>
            </a:r>
            <a:r>
              <a:rPr lang="zh-CN" altLang="en-US" sz="1700" dirty="0">
                <a:solidFill>
                  <a:schemeClr val="tx1"/>
                </a:solidFill>
              </a:rPr>
              <a:t>：城镇非零售商用土地的比例。</a:t>
            </a:r>
            <a:endParaRPr lang="zh-CN" altLang="en-US" sz="1700" dirty="0">
              <a:solidFill>
                <a:schemeClr val="tx1"/>
              </a:solidFill>
            </a:endParaRPr>
          </a:p>
          <a:p>
            <a:pPr>
              <a:buFont typeface="Arial" panose="020B0604020202020204"/>
              <a:buChar char="•"/>
            </a:pPr>
            <a:r>
              <a:rPr lang="en-US" altLang="zh-CN" sz="1700" dirty="0">
                <a:solidFill>
                  <a:schemeClr val="tx1"/>
                </a:solidFill>
              </a:rPr>
              <a:t>CHAS</a:t>
            </a:r>
            <a:r>
              <a:rPr lang="zh-CN" altLang="en-US" sz="1700" dirty="0">
                <a:solidFill>
                  <a:schemeClr val="tx1"/>
                </a:solidFill>
              </a:rPr>
              <a:t>：查理斯河空变量（如果边界是河流，则为</a:t>
            </a:r>
            <a:r>
              <a:rPr lang="en-US" altLang="zh-CN" sz="1700" dirty="0">
                <a:solidFill>
                  <a:schemeClr val="tx1"/>
                </a:solidFill>
              </a:rPr>
              <a:t>1</a:t>
            </a:r>
            <a:r>
              <a:rPr lang="zh-CN" altLang="en-US" sz="1700" dirty="0">
                <a:solidFill>
                  <a:schemeClr val="tx1"/>
                </a:solidFill>
              </a:rPr>
              <a:t>；否则为</a:t>
            </a:r>
            <a:r>
              <a:rPr lang="en-US" altLang="zh-CN" sz="1700" dirty="0">
                <a:solidFill>
                  <a:schemeClr val="tx1"/>
                </a:solidFill>
              </a:rPr>
              <a:t>0</a:t>
            </a:r>
            <a:r>
              <a:rPr lang="zh-CN" altLang="en-US" sz="1700" dirty="0">
                <a:solidFill>
                  <a:schemeClr val="tx1"/>
                </a:solidFill>
              </a:rPr>
              <a:t>）。</a:t>
            </a:r>
            <a:endParaRPr lang="zh-CN" altLang="en-US" sz="1700" dirty="0">
              <a:solidFill>
                <a:schemeClr val="tx1"/>
              </a:solidFill>
            </a:endParaRPr>
          </a:p>
          <a:p>
            <a:pPr>
              <a:buFont typeface="Arial" panose="020B0604020202020204"/>
              <a:buChar char="•"/>
            </a:pPr>
            <a:r>
              <a:rPr lang="en-US" altLang="zh-CN" sz="1700" dirty="0">
                <a:solidFill>
                  <a:schemeClr val="tx1"/>
                </a:solidFill>
              </a:rPr>
              <a:t>NOX</a:t>
            </a:r>
            <a:r>
              <a:rPr lang="zh-CN" altLang="en-US" sz="1700" dirty="0">
                <a:solidFill>
                  <a:schemeClr val="tx1"/>
                </a:solidFill>
              </a:rPr>
              <a:t>：一氧化氮浓度。</a:t>
            </a:r>
            <a:endParaRPr lang="zh-CN" altLang="en-US" sz="1700" dirty="0">
              <a:solidFill>
                <a:schemeClr val="tx1"/>
              </a:solidFill>
            </a:endParaRPr>
          </a:p>
          <a:p>
            <a:pPr>
              <a:buFont typeface="Arial" panose="020B0604020202020204"/>
              <a:buChar char="•"/>
            </a:pPr>
            <a:r>
              <a:rPr lang="en-US" altLang="zh-CN" sz="1700" dirty="0">
                <a:solidFill>
                  <a:srgbClr val="FF0000"/>
                </a:solidFill>
              </a:rPr>
              <a:t>RM</a:t>
            </a:r>
            <a:r>
              <a:rPr lang="zh-CN" altLang="en-US" sz="1700" dirty="0">
                <a:solidFill>
                  <a:srgbClr val="FF0000"/>
                </a:solidFill>
              </a:rPr>
              <a:t>：住宅平均房间数。</a:t>
            </a:r>
            <a:endParaRPr lang="zh-CN" altLang="en-US" sz="1700" dirty="0">
              <a:solidFill>
                <a:srgbClr val="FF0000"/>
              </a:solidFill>
            </a:endParaRPr>
          </a:p>
          <a:p>
            <a:pPr>
              <a:buFont typeface="Arial" panose="020B0604020202020204"/>
              <a:buChar char="•"/>
            </a:pPr>
            <a:r>
              <a:rPr lang="en-US" altLang="zh-CN" sz="1700" dirty="0">
                <a:solidFill>
                  <a:schemeClr val="tx1"/>
                </a:solidFill>
              </a:rPr>
              <a:t>AGE</a:t>
            </a:r>
            <a:r>
              <a:rPr lang="zh-CN" altLang="en-US" sz="1700" dirty="0">
                <a:solidFill>
                  <a:schemeClr val="tx1"/>
                </a:solidFill>
              </a:rPr>
              <a:t>：</a:t>
            </a:r>
            <a:r>
              <a:rPr lang="en-US" altLang="zh-CN" sz="1700" dirty="0">
                <a:solidFill>
                  <a:schemeClr val="tx1"/>
                </a:solidFill>
              </a:rPr>
              <a:t>1940 </a:t>
            </a:r>
            <a:r>
              <a:rPr lang="zh-CN" altLang="en-US" sz="1700" dirty="0">
                <a:solidFill>
                  <a:schemeClr val="tx1"/>
                </a:solidFill>
              </a:rPr>
              <a:t>年之前建成的自用房屋比例。</a:t>
            </a:r>
            <a:endParaRPr lang="zh-CN" altLang="en-US" sz="1700" dirty="0">
              <a:solidFill>
                <a:schemeClr val="tx1"/>
              </a:solidFill>
            </a:endParaRPr>
          </a:p>
          <a:p>
            <a:pPr>
              <a:buFont typeface="Arial" panose="020B0604020202020204"/>
              <a:buChar char="•"/>
            </a:pPr>
            <a:r>
              <a:rPr lang="en-US" altLang="zh-CN" sz="1700" dirty="0">
                <a:solidFill>
                  <a:schemeClr val="tx1"/>
                </a:solidFill>
              </a:rPr>
              <a:t>DIS</a:t>
            </a:r>
            <a:r>
              <a:rPr lang="zh-CN" altLang="en-US" sz="1700" dirty="0">
                <a:solidFill>
                  <a:schemeClr val="tx1"/>
                </a:solidFill>
              </a:rPr>
              <a:t>：到波士顿五个中心区域的加权距离。</a:t>
            </a:r>
            <a:endParaRPr lang="zh-CN" altLang="en-US" sz="1700" dirty="0">
              <a:solidFill>
                <a:schemeClr val="tx1"/>
              </a:solidFill>
            </a:endParaRPr>
          </a:p>
          <a:p>
            <a:pPr>
              <a:buFont typeface="Arial" panose="020B0604020202020204"/>
              <a:buChar char="•"/>
            </a:pPr>
            <a:r>
              <a:rPr lang="en-US" altLang="zh-CN" sz="1700" dirty="0">
                <a:solidFill>
                  <a:schemeClr val="tx1"/>
                </a:solidFill>
              </a:rPr>
              <a:t>RAD</a:t>
            </a:r>
            <a:r>
              <a:rPr lang="zh-CN" altLang="en-US" sz="1700" dirty="0">
                <a:solidFill>
                  <a:schemeClr val="tx1"/>
                </a:solidFill>
              </a:rPr>
              <a:t>：辐射性公路的接近指数。</a:t>
            </a:r>
            <a:endParaRPr lang="zh-CN" altLang="en-US" sz="1700" dirty="0">
              <a:solidFill>
                <a:schemeClr val="tx1"/>
              </a:solidFill>
            </a:endParaRPr>
          </a:p>
          <a:p>
            <a:pPr>
              <a:buFont typeface="Arial" panose="020B0604020202020204"/>
              <a:buChar char="•"/>
            </a:pPr>
            <a:r>
              <a:rPr lang="en-US" altLang="zh-CN" sz="1700" dirty="0">
                <a:solidFill>
                  <a:schemeClr val="tx1"/>
                </a:solidFill>
              </a:rPr>
              <a:t>TAX</a:t>
            </a:r>
            <a:r>
              <a:rPr lang="zh-CN" altLang="en-US" sz="1700" dirty="0">
                <a:solidFill>
                  <a:schemeClr val="tx1"/>
                </a:solidFill>
              </a:rPr>
              <a:t>：每 </a:t>
            </a:r>
            <a:r>
              <a:rPr lang="en-US" altLang="zh-CN" sz="1700" dirty="0">
                <a:solidFill>
                  <a:schemeClr val="tx1"/>
                </a:solidFill>
              </a:rPr>
              <a:t>10000 </a:t>
            </a:r>
            <a:r>
              <a:rPr lang="zh-CN" altLang="en-US" sz="1700" dirty="0">
                <a:solidFill>
                  <a:schemeClr val="tx1"/>
                </a:solidFill>
              </a:rPr>
              <a:t>美元的全值财产税率。</a:t>
            </a:r>
            <a:endParaRPr lang="zh-CN" altLang="en-US" sz="1700" dirty="0">
              <a:solidFill>
                <a:schemeClr val="tx1"/>
              </a:solidFill>
            </a:endParaRPr>
          </a:p>
          <a:p>
            <a:pPr>
              <a:buFont typeface="Arial" panose="020B0604020202020204"/>
              <a:buChar char="•"/>
            </a:pPr>
            <a:r>
              <a:rPr lang="en-US" altLang="zh-CN" sz="1700" dirty="0">
                <a:solidFill>
                  <a:schemeClr val="tx1"/>
                </a:solidFill>
              </a:rPr>
              <a:t>PTRATIO</a:t>
            </a:r>
            <a:r>
              <a:rPr lang="zh-CN" altLang="en-US" sz="1700" dirty="0">
                <a:solidFill>
                  <a:schemeClr val="tx1"/>
                </a:solidFill>
              </a:rPr>
              <a:t>：城镇师生比例。</a:t>
            </a:r>
            <a:endParaRPr lang="zh-CN" altLang="en-US" sz="1700" dirty="0">
              <a:solidFill>
                <a:schemeClr val="tx1"/>
              </a:solidFill>
            </a:endParaRPr>
          </a:p>
          <a:p>
            <a:pPr>
              <a:buFont typeface="Arial" panose="020B0604020202020204"/>
              <a:buChar char="•"/>
            </a:pPr>
            <a:r>
              <a:rPr lang="en-US" altLang="zh-CN" sz="1700" dirty="0">
                <a:solidFill>
                  <a:schemeClr val="tx1"/>
                </a:solidFill>
              </a:rPr>
              <a:t>B</a:t>
            </a:r>
            <a:r>
              <a:rPr lang="zh-CN" altLang="en-US" sz="1700" dirty="0">
                <a:solidFill>
                  <a:schemeClr val="tx1"/>
                </a:solidFill>
              </a:rPr>
              <a:t>：</a:t>
            </a:r>
            <a:r>
              <a:rPr lang="en-US" altLang="zh-CN" sz="1700" dirty="0">
                <a:solidFill>
                  <a:schemeClr val="tx1"/>
                </a:solidFill>
              </a:rPr>
              <a:t>1000</a:t>
            </a:r>
            <a:r>
              <a:rPr lang="zh-CN" altLang="en-US" sz="1700" dirty="0">
                <a:solidFill>
                  <a:schemeClr val="tx1"/>
                </a:solidFill>
              </a:rPr>
              <a:t>（</a:t>
            </a:r>
            <a:r>
              <a:rPr lang="en-US" altLang="zh-CN" sz="1700" dirty="0">
                <a:solidFill>
                  <a:schemeClr val="tx1"/>
                </a:solidFill>
              </a:rPr>
              <a:t>Bk-0.63</a:t>
            </a:r>
            <a:r>
              <a:rPr lang="zh-CN" altLang="en-US" sz="1700" dirty="0">
                <a:solidFill>
                  <a:schemeClr val="tx1"/>
                </a:solidFill>
              </a:rPr>
              <a:t>）</a:t>
            </a:r>
            <a:r>
              <a:rPr lang="en-US" altLang="zh-CN" sz="1700" dirty="0">
                <a:solidFill>
                  <a:schemeClr val="tx1"/>
                </a:solidFill>
              </a:rPr>
              <a:t>^ 2</a:t>
            </a:r>
            <a:r>
              <a:rPr lang="zh-CN" altLang="en-US" sz="1700" dirty="0">
                <a:solidFill>
                  <a:schemeClr val="tx1"/>
                </a:solidFill>
              </a:rPr>
              <a:t>，其中 </a:t>
            </a:r>
            <a:r>
              <a:rPr lang="en-US" altLang="zh-CN" sz="1700" dirty="0">
                <a:solidFill>
                  <a:schemeClr val="tx1"/>
                </a:solidFill>
              </a:rPr>
              <a:t>Bk </a:t>
            </a:r>
            <a:r>
              <a:rPr lang="zh-CN" altLang="en-US" sz="1700" dirty="0">
                <a:solidFill>
                  <a:schemeClr val="tx1"/>
                </a:solidFill>
              </a:rPr>
              <a:t>指代城镇中黑人的比例。</a:t>
            </a:r>
            <a:endParaRPr lang="zh-CN" altLang="en-US" sz="1700" dirty="0">
              <a:solidFill>
                <a:schemeClr val="tx1"/>
              </a:solidFill>
            </a:endParaRPr>
          </a:p>
          <a:p>
            <a:pPr>
              <a:buFont typeface="Arial" panose="020B0604020202020204"/>
              <a:buChar char="•"/>
            </a:pPr>
            <a:r>
              <a:rPr lang="en-US" altLang="zh-CN" sz="1700" dirty="0">
                <a:solidFill>
                  <a:schemeClr val="tx1"/>
                </a:solidFill>
              </a:rPr>
              <a:t>LSTAT</a:t>
            </a:r>
            <a:r>
              <a:rPr lang="zh-CN" altLang="en-US" sz="1700" dirty="0">
                <a:solidFill>
                  <a:schemeClr val="tx1"/>
                </a:solidFill>
              </a:rPr>
              <a:t>：人口中地位低下者的比例。</a:t>
            </a:r>
            <a:endParaRPr lang="zh-CN" altLang="en-US" sz="1700" dirty="0">
              <a:solidFill>
                <a:schemeClr val="tx1"/>
              </a:solidFill>
            </a:endParaRPr>
          </a:p>
          <a:p>
            <a:pPr>
              <a:buFont typeface="Arial" panose="020B0604020202020204"/>
              <a:buChar char="•"/>
            </a:pPr>
            <a:r>
              <a:rPr lang="en-US" altLang="zh-CN" sz="1700" dirty="0">
                <a:solidFill>
                  <a:schemeClr val="tx1"/>
                </a:solidFill>
              </a:rPr>
              <a:t>MEDV</a:t>
            </a:r>
            <a:r>
              <a:rPr lang="zh-CN" altLang="en-US" sz="1700" dirty="0">
                <a:solidFill>
                  <a:schemeClr val="tx1"/>
                </a:solidFill>
              </a:rPr>
              <a:t>：自住房的平均房价，以千美元计。</a:t>
            </a:r>
            <a:endParaRPr lang="zh-CN" altLang="en-US" sz="1700" dirty="0">
              <a:solidFill>
                <a:schemeClr val="tx1"/>
              </a:solidFill>
            </a:endParaRPr>
          </a:p>
        </p:txBody>
      </p:sp>
      <p:sp>
        <p:nvSpPr>
          <p:cNvPr id="3" name="标题 2"/>
          <p:cNvSpPr>
            <a:spLocks noGrp="1"/>
          </p:cNvSpPr>
          <p:nvPr>
            <p:ph type="title"/>
          </p:nvPr>
        </p:nvSpPr>
        <p:spPr/>
        <p:txBody>
          <a:bodyPr lIns="109728" tIns="54864" rIns="109728" bIns="54864"/>
          <a:lstStyle/>
          <a:p>
            <a:r>
              <a:rPr lang="zh-CN" altLang="en-US" b="0" dirty="0">
                <a:solidFill>
                  <a:schemeClr val="tx1"/>
                </a:solidFill>
              </a:rPr>
              <a:t>波士顿房价数据集（</a:t>
            </a:r>
            <a:r>
              <a:rPr lang="en-US" altLang="zh-CN" b="0" dirty="0">
                <a:solidFill>
                  <a:schemeClr val="tx1"/>
                </a:solidFill>
              </a:rPr>
              <a:t>Boston House Price Dataset</a:t>
            </a:r>
            <a:r>
              <a:rPr lang="zh-CN" altLang="en-US" b="0" dirty="0">
                <a:solidFill>
                  <a:schemeClr val="tx1"/>
                </a:solidFill>
              </a:rPr>
              <a:t>）</a:t>
            </a:r>
            <a:endParaRPr lang="zh-CN" altLang="en-US" dirty="0">
              <a:solidFill>
                <a:schemeClr val="tx1"/>
              </a:solidFill>
            </a:endParaRPr>
          </a:p>
        </p:txBody>
      </p:sp>
      <p:sp>
        <p:nvSpPr>
          <p:cNvPr id="4" name="内容占位符 3"/>
          <p:cNvSpPr>
            <a:spLocks noGrp="1"/>
          </p:cNvSpPr>
          <p:nvPr>
            <p:ph idx="10"/>
          </p:nvPr>
        </p:nvSpPr>
        <p:spPr/>
        <p:txBody>
          <a:bodyPr lIns="109728" tIns="54864" rIns="109728" bIns="54864"/>
          <a:lstStyle/>
          <a:p>
            <a:r>
              <a:rPr lang="zh-CN" altLang="en-US" dirty="0">
                <a:solidFill>
                  <a:schemeClr val="tx1"/>
                </a:solidFill>
              </a:rPr>
              <a:t>变量名说明：</a:t>
            </a:r>
            <a:endParaRPr lang="zh-CN" altLang="en-US"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0654" y="289932"/>
            <a:ext cx="5932449" cy="584775"/>
          </a:xfrm>
          <a:prstGeom prst="rect">
            <a:avLst/>
          </a:prstGeom>
          <a:noFill/>
        </p:spPr>
        <p:txBody>
          <a:bodyPr wrap="square" rtlCol="0">
            <a:spAutoFit/>
          </a:bodyPr>
          <a:lstStyle/>
          <a:p>
            <a:r>
              <a:rPr lang="zh-CN" altLang="en-US" sz="3200" dirty="0"/>
              <a:t>线性回归的</a:t>
            </a:r>
            <a:r>
              <a:rPr lang="en-US" altLang="zh-CN" sz="3200" dirty="0"/>
              <a:t>Python</a:t>
            </a:r>
            <a:r>
              <a:rPr lang="zh-CN" altLang="en-US" sz="3200" dirty="0"/>
              <a:t>语言实现</a:t>
            </a:r>
            <a:endParaRPr lang="zh-CN" altLang="en-US" sz="3200" dirty="0"/>
          </a:p>
        </p:txBody>
      </p:sp>
      <p:sp>
        <p:nvSpPr>
          <p:cNvPr id="4" name="矩形 3"/>
          <p:cNvSpPr/>
          <p:nvPr/>
        </p:nvSpPr>
        <p:spPr>
          <a:xfrm>
            <a:off x="749087" y="1382080"/>
            <a:ext cx="7640938" cy="461665"/>
          </a:xfrm>
          <a:prstGeom prst="rect">
            <a:avLst/>
          </a:prstGeom>
        </p:spPr>
        <p:txBody>
          <a:bodyPr wrap="none">
            <a:spAutoFit/>
          </a:bodyPr>
          <a:lstStyle/>
          <a:p>
            <a:r>
              <a:rPr lang="en-US" altLang="zh-CN" sz="2400" dirty="0"/>
              <a:t>sklearn.linear_model</a:t>
            </a:r>
            <a:r>
              <a:rPr lang="zh-CN" altLang="en-US" sz="2400" dirty="0"/>
              <a:t>中的</a:t>
            </a:r>
            <a:r>
              <a:rPr lang="en-US" altLang="zh-CN" sz="2400" dirty="0"/>
              <a:t>LinearRegression</a:t>
            </a:r>
            <a:r>
              <a:rPr lang="zh-CN" altLang="en-US" sz="2400" dirty="0"/>
              <a:t>可实现线性回归</a:t>
            </a:r>
            <a:endParaRPr lang="en-US" altLang="zh-CN" sz="2400" dirty="0"/>
          </a:p>
        </p:txBody>
      </p:sp>
      <p:sp>
        <p:nvSpPr>
          <p:cNvPr id="5" name="内容占位符 1"/>
          <p:cNvSpPr>
            <a:spLocks noGrp="1"/>
          </p:cNvSpPr>
          <p:nvPr>
            <p:ph idx="1"/>
          </p:nvPr>
        </p:nvSpPr>
        <p:spPr>
          <a:xfrm>
            <a:off x="859322" y="2114633"/>
            <a:ext cx="8330701" cy="3588627"/>
          </a:xfrm>
        </p:spPr>
        <p:txBody>
          <a:bodyPr/>
          <a:lstStyle/>
          <a:p>
            <a:pPr marL="0" indent="0">
              <a:buNone/>
            </a:pPr>
            <a:r>
              <a:rPr lang="zh-CN" altLang="en-US" sz="2000" dirty="0">
                <a:solidFill>
                  <a:schemeClr val="tx1"/>
                </a:solidFill>
              </a:rPr>
              <a:t>调用方法：</a:t>
            </a:r>
            <a:r>
              <a:rPr lang="en-US" altLang="zh-CN" sz="2000" dirty="0">
                <a:solidFill>
                  <a:schemeClr val="tx1"/>
                </a:solidFill>
              </a:rPr>
              <a:t>from  </a:t>
            </a:r>
            <a:r>
              <a:rPr lang="en-US" altLang="zh-CN" sz="2000" dirty="0" err="1">
                <a:solidFill>
                  <a:schemeClr val="tx1"/>
                </a:solidFill>
              </a:rPr>
              <a:t>sklearn.linear_model</a:t>
            </a:r>
            <a:r>
              <a:rPr lang="en-US" altLang="zh-CN" sz="2000" dirty="0">
                <a:solidFill>
                  <a:schemeClr val="tx1"/>
                </a:solidFill>
              </a:rPr>
              <a:t>  import  </a:t>
            </a:r>
            <a:r>
              <a:rPr lang="en-US" altLang="zh-CN" sz="2000" dirty="0" err="1">
                <a:solidFill>
                  <a:schemeClr val="tx1"/>
                </a:solidFill>
              </a:rPr>
              <a:t>LinearRegression</a:t>
            </a:r>
            <a:endParaRPr lang="en-US" altLang="zh-CN" sz="2000" dirty="0">
              <a:solidFill>
                <a:schemeClr val="tx1"/>
              </a:solidFill>
            </a:endParaRPr>
          </a:p>
          <a:p>
            <a:pPr marL="0" indent="0">
              <a:buNone/>
            </a:pPr>
            <a:r>
              <a:rPr lang="en-US" altLang="zh-CN" sz="2000" dirty="0">
                <a:solidFill>
                  <a:schemeClr val="tx1"/>
                </a:solidFill>
              </a:rPr>
              <a:t>LinearRegression </a:t>
            </a:r>
            <a:r>
              <a:rPr lang="zh-CN" altLang="en-US" sz="2000" dirty="0">
                <a:solidFill>
                  <a:schemeClr val="tx1"/>
                </a:solidFill>
              </a:rPr>
              <a:t>的常用方法有： </a:t>
            </a:r>
            <a:endParaRPr lang="en-US" altLang="zh-CN" sz="2000" dirty="0">
              <a:solidFill>
                <a:schemeClr val="tx1"/>
              </a:solidFill>
            </a:endParaRPr>
          </a:p>
          <a:p>
            <a:pPr>
              <a:buFont typeface="Arial" panose="020B0604020202020204"/>
              <a:buChar char="•"/>
            </a:pPr>
            <a:r>
              <a:rPr lang="en-US" altLang="zh-CN" sz="2000" dirty="0">
                <a:solidFill>
                  <a:schemeClr val="tx1"/>
                </a:solidFill>
              </a:rPr>
              <a:t>fit(X,y[,n_jobs]) #</a:t>
            </a:r>
            <a:r>
              <a:rPr lang="zh-CN" altLang="en-US" sz="2000" dirty="0">
                <a:solidFill>
                  <a:schemeClr val="tx1"/>
                </a:solidFill>
              </a:rPr>
              <a:t>拟合模型 </a:t>
            </a:r>
            <a:endParaRPr lang="en-US" altLang="zh-CN" sz="2000" dirty="0">
              <a:solidFill>
                <a:schemeClr val="tx1"/>
              </a:solidFill>
            </a:endParaRPr>
          </a:p>
          <a:p>
            <a:pPr>
              <a:buFont typeface="Arial" panose="020B0604020202020204"/>
              <a:buChar char="•"/>
            </a:pPr>
            <a:r>
              <a:rPr lang="en-US" altLang="zh-CN" sz="2000" dirty="0">
                <a:solidFill>
                  <a:schemeClr val="tx1"/>
                </a:solidFill>
              </a:rPr>
              <a:t>predict(X) #</a:t>
            </a:r>
            <a:r>
              <a:rPr lang="zh-CN" altLang="en-US" sz="2000" dirty="0">
                <a:solidFill>
                  <a:schemeClr val="tx1"/>
                </a:solidFill>
              </a:rPr>
              <a:t>求预测值 </a:t>
            </a:r>
            <a:r>
              <a:rPr lang="en-US" altLang="zh-CN" sz="2000" dirty="0">
                <a:solidFill>
                  <a:schemeClr val="tx1"/>
                </a:solidFill>
              </a:rPr>
              <a:t>#</a:t>
            </a:r>
            <a:r>
              <a:rPr lang="zh-CN" altLang="en-US" sz="2000" dirty="0">
                <a:solidFill>
                  <a:schemeClr val="tx1"/>
                </a:solidFill>
              </a:rPr>
              <a:t>同 </a:t>
            </a:r>
            <a:r>
              <a:rPr lang="en-US" altLang="zh-CN" sz="2000" dirty="0" err="1">
                <a:solidFill>
                  <a:schemeClr val="tx1"/>
                </a:solidFill>
              </a:rPr>
              <a:t>decision_function</a:t>
            </a:r>
            <a:r>
              <a:rPr lang="en-US" altLang="zh-CN" sz="2000" dirty="0">
                <a:solidFill>
                  <a:schemeClr val="tx1"/>
                </a:solidFill>
              </a:rPr>
              <a:t> </a:t>
            </a:r>
            <a:endParaRPr lang="en-US" altLang="zh-CN" sz="2000" dirty="0">
              <a:solidFill>
                <a:schemeClr val="tx1"/>
              </a:solidFill>
            </a:endParaRPr>
          </a:p>
          <a:p>
            <a:pPr>
              <a:buFont typeface="Arial" panose="020B0604020202020204"/>
              <a:buChar char="•"/>
            </a:pP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a:xfrm>
            <a:off x="254635" y="1102360"/>
            <a:ext cx="11311255" cy="4822825"/>
          </a:xfrm>
        </p:spPr>
        <p:txBody>
          <a:bodyPr/>
          <a:lstStyle/>
          <a:p>
            <a:pPr marL="0" indent="0">
              <a:buNone/>
            </a:pPr>
            <a:r>
              <a:rPr lang="zh-CN" altLang="zh-CN" sz="2800" dirty="0">
                <a:solidFill>
                  <a:schemeClr val="tx1"/>
                </a:solidFill>
              </a:rPr>
              <a:t>波士顿房价预测的部分数据</a:t>
            </a:r>
            <a:endParaRPr lang="en-US" altLang="zh-CN" sz="2800" dirty="0">
              <a:solidFill>
                <a:schemeClr val="tx1"/>
              </a:solidFill>
            </a:endParaRPr>
          </a:p>
          <a:p>
            <a:pPr marL="0" indent="0">
              <a:buNone/>
            </a:pPr>
            <a:endParaRPr lang="en-US" altLang="zh-CN" sz="2800" dirty="0">
              <a:solidFill>
                <a:schemeClr val="tx1"/>
              </a:solidFill>
            </a:endParaRPr>
          </a:p>
          <a:p>
            <a:pPr marL="0" indent="0">
              <a:buNone/>
            </a:pPr>
            <a:endParaRPr lang="en-US" altLang="zh-CN" sz="2800" dirty="0">
              <a:solidFill>
                <a:schemeClr val="tx1"/>
              </a:solidFill>
            </a:endParaRPr>
          </a:p>
          <a:p>
            <a:pPr marL="0" indent="0">
              <a:buNone/>
            </a:pPr>
            <a:endParaRPr lang="en-US" altLang="zh-CN" sz="2800" dirty="0">
              <a:solidFill>
                <a:schemeClr val="tx1"/>
              </a:solidFill>
            </a:endParaRPr>
          </a:p>
          <a:p>
            <a:pPr marL="0" indent="0">
              <a:buNone/>
            </a:pPr>
            <a:r>
              <a:rPr lang="zh-CN" altLang="en-US" sz="2800" dirty="0">
                <a:solidFill>
                  <a:schemeClr val="tx1"/>
                </a:solidFill>
              </a:rPr>
              <a:t>直觉告诉我们：上表</a:t>
            </a:r>
            <a:r>
              <a:rPr lang="zh-CN" sz="2800" dirty="0">
                <a:solidFill>
                  <a:schemeClr val="tx1"/>
                </a:solidFill>
              </a:rPr>
              <a:t>中</a:t>
            </a:r>
            <a:r>
              <a:rPr lang="zh-CN" altLang="en-US" sz="2800" dirty="0">
                <a:solidFill>
                  <a:schemeClr val="tx1"/>
                </a:solidFill>
              </a:rPr>
              <a:t>住宅平均房间数与最终房价一般是成正比的，具有某种线性关系。我们利用线性回归来验证想法。</a:t>
            </a:r>
            <a:endParaRPr lang="en-US" altLang="zh-CN" sz="2800" dirty="0">
              <a:solidFill>
                <a:schemeClr val="tx1"/>
              </a:solidFill>
            </a:endParaRPr>
          </a:p>
          <a:p>
            <a:pPr marL="0" indent="0">
              <a:buNone/>
            </a:pPr>
            <a:r>
              <a:rPr lang="zh-CN" altLang="en-US" sz="2800" dirty="0">
                <a:solidFill>
                  <a:schemeClr val="tx1"/>
                </a:solidFill>
              </a:rPr>
              <a:t>同时，作为一个二维的例子，可以在平面上绘出图形，进一步观察图形。</a:t>
            </a:r>
            <a:endParaRPr lang="zh-CN" altLang="en-US" sz="2800" dirty="0">
              <a:solidFill>
                <a:schemeClr val="tx1"/>
              </a:solidFill>
            </a:endParaRPr>
          </a:p>
        </p:txBody>
      </p:sp>
      <p:sp>
        <p:nvSpPr>
          <p:cNvPr id="5" name="标题 4"/>
          <p:cNvSpPr>
            <a:spLocks noGrp="1"/>
          </p:cNvSpPr>
          <p:nvPr>
            <p:ph type="title"/>
          </p:nvPr>
        </p:nvSpPr>
        <p:spPr/>
        <p:txBody>
          <a:bodyPr/>
          <a:lstStyle/>
          <a:p>
            <a:r>
              <a:rPr lang="zh-CN" altLang="zh-CN" dirty="0">
                <a:solidFill>
                  <a:schemeClr val="tx1"/>
                </a:solidFill>
              </a:rPr>
              <a:t>实现线性回归</a:t>
            </a:r>
            <a:endParaRPr lang="zh-CN" altLang="zh-CN" dirty="0">
              <a:solidFill>
                <a:schemeClr val="tx1"/>
              </a:solidFill>
            </a:endParaRPr>
          </a:p>
        </p:txBody>
      </p:sp>
      <p:graphicFrame>
        <p:nvGraphicFramePr>
          <p:cNvPr id="14" name="内容占位符 13"/>
          <p:cNvGraphicFramePr>
            <a:graphicFrameLocks noGrp="1"/>
          </p:cNvGraphicFramePr>
          <p:nvPr>
            <p:ph idx="10"/>
            <p:custDataLst>
              <p:tags r:id="rId1"/>
            </p:custDataLst>
          </p:nvPr>
        </p:nvGraphicFramePr>
        <p:xfrm>
          <a:off x="254878" y="2230129"/>
          <a:ext cx="8737600" cy="1852295"/>
        </p:xfrm>
        <a:graphic>
          <a:graphicData uri="http://schemas.openxmlformats.org/drawingml/2006/table">
            <a:tbl>
              <a:tblPr firstRow="1" firstCol="1" bandRow="1">
                <a:tableStyleId>{5C22544A-7EE6-4342-B048-85BDC9FD1C3A}</a:tableStyleId>
              </a:tblPr>
              <a:tblGrid>
                <a:gridCol w="1609090"/>
                <a:gridCol w="1143635"/>
                <a:gridCol w="1615440"/>
                <a:gridCol w="1165860"/>
                <a:gridCol w="2150745"/>
                <a:gridCol w="1052830"/>
              </a:tblGrid>
              <a:tr h="617220">
                <a:tc>
                  <a:txBody>
                    <a:bodyPr/>
                    <a:lstStyle/>
                    <a:p>
                      <a:pPr algn="ctr">
                        <a:spcAft>
                          <a:spcPts val="0"/>
                        </a:spcAft>
                      </a:pPr>
                      <a:r>
                        <a:rPr lang="zh-CN" sz="1800" kern="100" dirty="0">
                          <a:solidFill>
                            <a:schemeClr val="tx1"/>
                          </a:solidFill>
                          <a:effectLst/>
                        </a:rPr>
                        <a:t>城镇人均犯罪率</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dirty="0">
                          <a:solidFill>
                            <a:schemeClr val="tx1"/>
                          </a:solidFill>
                          <a:effectLst/>
                        </a:rPr>
                        <a:t>……</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住宅平均房间数</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与五大就业中心的距离</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r>
              <a:tr h="309245">
                <a:tc>
                  <a:txBody>
                    <a:bodyPr/>
                    <a:lstStyle/>
                    <a:p>
                      <a:pPr algn="ctr">
                        <a:spcAft>
                          <a:spcPts val="0"/>
                        </a:spcAft>
                      </a:pPr>
                      <a:r>
                        <a:rPr lang="en-US" sz="1800" kern="100">
                          <a:solidFill>
                            <a:schemeClr val="tx1"/>
                          </a:solidFill>
                          <a:effectLst/>
                        </a:rPr>
                        <a:t>0.00632</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dirty="0">
                          <a:solidFill>
                            <a:schemeClr val="tx1"/>
                          </a:solidFill>
                          <a:effectLst/>
                        </a:rPr>
                        <a:t>6.575</a:t>
                      </a:r>
                      <a:endParaRPr lang="en-US"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a:solidFill>
                            <a:schemeClr val="tx1"/>
                          </a:solidFill>
                          <a:effectLst/>
                        </a:rPr>
                        <a:t>4.09</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r>
              <a:tr h="308610">
                <a:tc>
                  <a:txBody>
                    <a:bodyPr/>
                    <a:lstStyle/>
                    <a:p>
                      <a:pPr algn="ctr">
                        <a:spcAft>
                          <a:spcPts val="0"/>
                        </a:spcAft>
                      </a:pPr>
                      <a:r>
                        <a:rPr lang="en-US" sz="1800" kern="100">
                          <a:solidFill>
                            <a:schemeClr val="tx1"/>
                          </a:solidFill>
                          <a:effectLst/>
                        </a:rPr>
                        <a:t>0.02731</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a:solidFill>
                            <a:schemeClr val="tx1"/>
                          </a:solidFill>
                          <a:effectLst/>
                        </a:rPr>
                        <a:t>6.421</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a:solidFill>
                            <a:schemeClr val="tx1"/>
                          </a:solidFill>
                          <a:effectLst/>
                        </a:rPr>
                        <a:t>4.9671</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r>
              <a:tr h="308610">
                <a:tc>
                  <a:txBody>
                    <a:bodyPr/>
                    <a:lstStyle/>
                    <a:p>
                      <a:pPr algn="ctr">
                        <a:spcAft>
                          <a:spcPts val="0"/>
                        </a:spcAft>
                      </a:pPr>
                      <a:r>
                        <a:rPr lang="en-US" sz="1800" kern="100">
                          <a:solidFill>
                            <a:schemeClr val="tx1"/>
                          </a:solidFill>
                          <a:effectLst/>
                        </a:rPr>
                        <a:t>0.02729</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dirty="0">
                          <a:solidFill>
                            <a:schemeClr val="tx1"/>
                          </a:solidFill>
                          <a:effectLst/>
                        </a:rPr>
                        <a:t>7.185</a:t>
                      </a:r>
                      <a:endParaRPr lang="en-US"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a:solidFill>
                            <a:schemeClr val="tx1"/>
                          </a:solidFill>
                          <a:effectLst/>
                        </a:rPr>
                        <a:t>4.9671</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a:solidFill>
                            <a:schemeClr val="tx1"/>
                          </a:solidFill>
                          <a:effectLst/>
                        </a:rPr>
                        <a:t>……</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r>
              <a:tr h="308610">
                <a:tc>
                  <a:txBody>
                    <a:bodyPr/>
                    <a:lstStyle/>
                    <a:p>
                      <a:pPr algn="ctr">
                        <a:spcAft>
                          <a:spcPts val="0"/>
                        </a:spcAft>
                      </a:pPr>
                      <a:r>
                        <a:rPr lang="en-US" sz="1800" kern="100" dirty="0">
                          <a:solidFill>
                            <a:schemeClr val="tx1"/>
                          </a:solidFill>
                          <a:effectLst/>
                        </a:rPr>
                        <a:t>0.06905</a:t>
                      </a:r>
                      <a:endParaRPr lang="en-US"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dirty="0">
                          <a:solidFill>
                            <a:schemeClr val="tx1"/>
                          </a:solidFill>
                          <a:effectLst/>
                        </a:rPr>
                        <a:t>……</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a:solidFill>
                            <a:schemeClr val="tx1"/>
                          </a:solidFill>
                          <a:effectLst/>
                        </a:rPr>
                        <a:t>7.147</a:t>
                      </a:r>
                      <a:endParaRPr lang="en-US"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dirty="0">
                          <a:solidFill>
                            <a:schemeClr val="tx1"/>
                          </a:solidFill>
                          <a:effectLst/>
                        </a:rPr>
                        <a:t>……</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en-US" sz="1800" kern="100" dirty="0">
                          <a:solidFill>
                            <a:schemeClr val="tx1"/>
                          </a:solidFill>
                          <a:effectLst/>
                        </a:rPr>
                        <a:t>6.0622</a:t>
                      </a:r>
                      <a:endParaRPr lang="en-US"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c>
                  <a:txBody>
                    <a:bodyPr/>
                    <a:lstStyle/>
                    <a:p>
                      <a:pPr algn="ctr">
                        <a:spcAft>
                          <a:spcPts val="0"/>
                        </a:spcAft>
                      </a:pPr>
                      <a:r>
                        <a:rPr lang="zh-CN" sz="1800" kern="100" dirty="0">
                          <a:solidFill>
                            <a:schemeClr val="tx1"/>
                          </a:solidFill>
                          <a:effectLst/>
                        </a:rPr>
                        <a:t>……</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25622" marR="25622" marT="0" marB="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5" end="5"/>
                                            </p:txEl>
                                          </p:spTgt>
                                        </p:tgtEl>
                                        <p:attrNameLst>
                                          <p:attrName>style.visibility</p:attrName>
                                        </p:attrNameLst>
                                      </p:cBhvr>
                                      <p:to>
                                        <p:strVal val="visible"/>
                                      </p:to>
                                    </p:set>
                                    <p:animEffect transition="in" filter="fade">
                                      <p:cBhvr>
                                        <p:cTn id="10"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300544"/>
            <a:ext cx="8015583" cy="534035"/>
          </a:xfrm>
        </p:spPr>
        <p:txBody>
          <a:bodyPr/>
          <a:lstStyle/>
          <a:p>
            <a:pPr eaLnBrk="1" fontAlgn="auto" hangingPunct="1">
              <a:defRPr/>
            </a:pPr>
            <a:r>
              <a:rPr noProof="1"/>
              <a:t>算法应用</a:t>
            </a:r>
            <a:endParaRPr noProof="1"/>
          </a:p>
        </p:txBody>
      </p:sp>
      <p:sp>
        <p:nvSpPr>
          <p:cNvPr id="26627" name="文本框 2"/>
          <p:cNvSpPr txBox="1">
            <a:spLocks noChangeArrowheads="1"/>
          </p:cNvSpPr>
          <p:nvPr/>
        </p:nvSpPr>
        <p:spPr bwMode="auto">
          <a:xfrm>
            <a:off x="1399735" y="1064554"/>
            <a:ext cx="949325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Light" panose="020F0302020204030204" charset="0"/>
                <a:ea typeface="微软雅黑 Light" panose="020B0502040204020203" charset="-122"/>
              </a:defRPr>
            </a:lvl1pPr>
            <a:lvl2pPr marL="742950" indent="-285750">
              <a:defRPr>
                <a:solidFill>
                  <a:schemeClr val="tx1"/>
                </a:solidFill>
                <a:latin typeface="Calibri Light" panose="020F0302020204030204" charset="0"/>
                <a:ea typeface="微软雅黑 Light" panose="020B0502040204020203" charset="-122"/>
              </a:defRPr>
            </a:lvl2pPr>
            <a:lvl3pPr marL="1143000" indent="-228600">
              <a:defRPr>
                <a:solidFill>
                  <a:schemeClr val="tx1"/>
                </a:solidFill>
                <a:latin typeface="Calibri Light" panose="020F0302020204030204" charset="0"/>
                <a:ea typeface="微软雅黑 Light" panose="020B0502040204020203" charset="-122"/>
              </a:defRPr>
            </a:lvl3pPr>
            <a:lvl4pPr marL="1600200" indent="-228600">
              <a:defRPr>
                <a:solidFill>
                  <a:schemeClr val="tx1"/>
                </a:solidFill>
                <a:latin typeface="Calibri Light" panose="020F0302020204030204" charset="0"/>
                <a:ea typeface="微软雅黑 Light" panose="020B0502040204020203" charset="-122"/>
              </a:defRPr>
            </a:lvl4pPr>
            <a:lvl5pPr marL="2057400" indent="-228600">
              <a:defRPr>
                <a:solidFill>
                  <a:schemeClr val="tx1"/>
                </a:solidFill>
                <a:latin typeface="Calibri Light" panose="020F0302020204030204" charset="0"/>
                <a:ea typeface="微软雅黑 Light" panose="020B0502040204020203" charset="-122"/>
              </a:defRPr>
            </a:lvl5pPr>
            <a:lvl6pPr marL="25146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6pPr>
            <a:lvl7pPr marL="29718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7pPr>
            <a:lvl8pPr marL="34290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8pPr>
            <a:lvl9pPr marL="38862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9pPr>
          </a:lstStyle>
          <a:p>
            <a:r>
              <a:rPr lang="en-US" altLang="zh-CN" sz="2400" dirty="0">
                <a:latin typeface="Times New Roman" panose="02020603050405020304" pitchFamily="18" charset="0"/>
                <a:ea typeface="宋体" panose="02010600030101010101" pitchFamily="2" charset="-122"/>
              </a:rPr>
              <a:t>import pandas as </a:t>
            </a:r>
            <a:r>
              <a:rPr lang="en-US" altLang="zh-CN" sz="2400" dirty="0" err="1">
                <a:latin typeface="Times New Roman" panose="02020603050405020304" pitchFamily="18" charset="0"/>
                <a:ea typeface="宋体" panose="02010600030101010101" pitchFamily="2" charset="-122"/>
              </a:rPr>
              <a:t>pd</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import </a:t>
            </a:r>
            <a:r>
              <a:rPr lang="en-US" altLang="zh-CN" sz="2400" dirty="0" err="1">
                <a:latin typeface="Times New Roman" panose="02020603050405020304" pitchFamily="18" charset="0"/>
                <a:ea typeface="宋体" panose="02010600030101010101" pitchFamily="2" charset="-122"/>
              </a:rPr>
              <a:t>numpy</a:t>
            </a:r>
            <a:r>
              <a:rPr lang="en-US" altLang="zh-CN" sz="2400" dirty="0">
                <a:latin typeface="Times New Roman" panose="02020603050405020304" pitchFamily="18" charset="0"/>
                <a:ea typeface="宋体" panose="02010600030101010101" pitchFamily="2" charset="-122"/>
              </a:rPr>
              <a:t> as </a:t>
            </a:r>
            <a:r>
              <a:rPr lang="en-US" altLang="zh-CN" sz="2400" dirty="0" err="1">
                <a:latin typeface="Times New Roman" panose="02020603050405020304" pitchFamily="18" charset="0"/>
                <a:ea typeface="宋体" panose="02010600030101010101" pitchFamily="2" charset="-122"/>
              </a:rPr>
              <a:t>np</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from </a:t>
            </a:r>
            <a:r>
              <a:rPr lang="en-US" altLang="zh-CN" sz="2400" dirty="0" err="1">
                <a:latin typeface="Times New Roman" panose="02020603050405020304" pitchFamily="18" charset="0"/>
                <a:ea typeface="宋体" panose="02010600030101010101" pitchFamily="2" charset="-122"/>
              </a:rPr>
              <a:t>sklearn</a:t>
            </a:r>
            <a:r>
              <a:rPr lang="en-US" altLang="zh-CN" sz="2400" dirty="0">
                <a:latin typeface="Times New Roman" panose="02020603050405020304" pitchFamily="18" charset="0"/>
                <a:ea typeface="宋体" panose="02010600030101010101" pitchFamily="2" charset="-122"/>
              </a:rPr>
              <a:t> import datasets</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import </a:t>
            </a:r>
            <a:r>
              <a:rPr lang="en-US" altLang="zh-CN" sz="2400" dirty="0" err="1">
                <a:latin typeface="Times New Roman" panose="02020603050405020304" pitchFamily="18" charset="0"/>
                <a:ea typeface="宋体" panose="02010600030101010101" pitchFamily="2" charset="-122"/>
              </a:rPr>
              <a:t>matplotlib.pyplot</a:t>
            </a:r>
            <a:r>
              <a:rPr lang="en-US" altLang="zh-CN" sz="2400" dirty="0">
                <a:latin typeface="Times New Roman" panose="02020603050405020304" pitchFamily="18" charset="0"/>
                <a:ea typeface="宋体" panose="02010600030101010101" pitchFamily="2" charset="-122"/>
              </a:rPr>
              <a:t> as </a:t>
            </a:r>
            <a:r>
              <a:rPr lang="en-US" altLang="zh-CN" sz="2400" dirty="0" err="1">
                <a:latin typeface="Times New Roman" panose="02020603050405020304" pitchFamily="18" charset="0"/>
                <a:ea typeface="宋体" panose="02010600030101010101" pitchFamily="2" charset="-122"/>
              </a:rPr>
              <a:t>plt</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from </a:t>
            </a:r>
            <a:r>
              <a:rPr lang="en-US" altLang="zh-CN" sz="2400" dirty="0" err="1">
                <a:latin typeface="Times New Roman" panose="02020603050405020304" pitchFamily="18" charset="0"/>
                <a:ea typeface="宋体" panose="02010600030101010101" pitchFamily="2" charset="-122"/>
              </a:rPr>
              <a:t>sklearn.linear_model</a:t>
            </a:r>
            <a:r>
              <a:rPr lang="en-US" altLang="zh-CN" sz="2400" dirty="0">
                <a:latin typeface="Times New Roman" panose="02020603050405020304" pitchFamily="18" charset="0"/>
                <a:ea typeface="宋体" panose="02010600030101010101" pitchFamily="2" charset="-122"/>
              </a:rPr>
              <a:t> import </a:t>
            </a:r>
            <a:r>
              <a:rPr lang="en-US" altLang="zh-CN" sz="2400" dirty="0" err="1">
                <a:latin typeface="Times New Roman" panose="02020603050405020304" pitchFamily="18" charset="0"/>
                <a:ea typeface="宋体" panose="02010600030101010101" pitchFamily="2" charset="-122"/>
              </a:rPr>
              <a:t>LinearRegression</a:t>
            </a:r>
            <a:br>
              <a:rPr lang="en-US" altLang="zh-CN" sz="2400" dirty="0">
                <a:latin typeface="Times New Roman" panose="02020603050405020304" pitchFamily="18" charset="0"/>
                <a:ea typeface="宋体" panose="02010600030101010101" pitchFamily="2" charset="-122"/>
              </a:rPr>
            </a:b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把数据转化成</a:t>
            </a:r>
            <a:r>
              <a:rPr lang="en-US" altLang="zh-CN" sz="2400" dirty="0">
                <a:latin typeface="Times New Roman" panose="02020603050405020304" pitchFamily="18" charset="0"/>
                <a:ea typeface="宋体" panose="02010600030101010101" pitchFamily="2" charset="-122"/>
              </a:rPr>
              <a:t>pandas</a:t>
            </a:r>
            <a:r>
              <a:rPr lang="zh-CN" altLang="en-US" sz="2400" dirty="0">
                <a:latin typeface="Times New Roman" panose="02020603050405020304" pitchFamily="18" charset="0"/>
                <a:ea typeface="宋体" panose="02010600030101010101" pitchFamily="2" charset="-122"/>
              </a:rPr>
              <a:t>的形式，在列尾加上房价</a:t>
            </a:r>
            <a:r>
              <a:rPr lang="en-US" altLang="zh-CN" sz="2400" dirty="0">
                <a:latin typeface="Times New Roman" panose="02020603050405020304" pitchFamily="18" charset="0"/>
                <a:ea typeface="宋体" panose="02010600030101010101" pitchFamily="2" charset="-122"/>
              </a:rPr>
              <a:t>PRICE</a:t>
            </a:r>
            <a:br>
              <a:rPr lang="en-US" altLang="zh-CN" sz="2400" dirty="0">
                <a:latin typeface="Times New Roman" panose="02020603050405020304" pitchFamily="18" charset="0"/>
                <a:ea typeface="宋体" panose="02010600030101010101" pitchFamily="2" charset="-122"/>
              </a:rPr>
            </a:br>
            <a:r>
              <a:rPr lang="en-US" altLang="zh-CN" sz="2400" dirty="0" err="1">
                <a:latin typeface="Times New Roman" panose="02020603050405020304" pitchFamily="18" charset="0"/>
                <a:ea typeface="宋体" panose="02010600030101010101" pitchFamily="2" charset="-122"/>
              </a:rPr>
              <a:t>boston_dataset</a:t>
            </a:r>
            <a:r>
              <a:rPr lang="en-US" altLang="zh-CN" sz="2400" dirty="0">
                <a:latin typeface="Times New Roman" panose="02020603050405020304" pitchFamily="18" charset="0"/>
                <a:ea typeface="宋体" panose="02010600030101010101" pitchFamily="2" charset="-122"/>
              </a:rPr>
              <a:t> = </a:t>
            </a:r>
            <a:r>
              <a:rPr lang="en-US" altLang="zh-CN" sz="2400" dirty="0" err="1">
                <a:latin typeface="Times New Roman" panose="02020603050405020304" pitchFamily="18" charset="0"/>
                <a:ea typeface="宋体" panose="02010600030101010101" pitchFamily="2" charset="-122"/>
              </a:rPr>
              <a:t>datasets.load_boston</a:t>
            </a:r>
            <a:r>
              <a:rPr lang="en-US" altLang="zh-CN" sz="2400" dirty="0">
                <a:latin typeface="Times New Roman" panose="02020603050405020304" pitchFamily="18" charset="0"/>
                <a:ea typeface="宋体" panose="02010600030101010101" pitchFamily="2" charset="-122"/>
              </a:rPr>
              <a:t>()</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data = </a:t>
            </a:r>
            <a:r>
              <a:rPr lang="en-US" altLang="zh-CN" sz="2400" dirty="0" err="1">
                <a:latin typeface="Times New Roman" panose="02020603050405020304" pitchFamily="18" charset="0"/>
                <a:ea typeface="宋体" panose="02010600030101010101" pitchFamily="2" charset="-122"/>
              </a:rPr>
              <a:t>pd.DataFrame</a:t>
            </a:r>
            <a:r>
              <a:rPr lang="en-US" altLang="zh-CN" sz="2400" dirty="0">
                <a:latin typeface="Times New Roman" panose="02020603050405020304" pitchFamily="18" charset="0"/>
                <a:ea typeface="宋体" panose="02010600030101010101" pitchFamily="2" charset="-122"/>
              </a:rPr>
              <a:t>(</a:t>
            </a:r>
            <a:r>
              <a:rPr lang="en-US" altLang="zh-CN" sz="2400" dirty="0" err="1">
                <a:latin typeface="Times New Roman" panose="02020603050405020304" pitchFamily="18" charset="0"/>
                <a:ea typeface="宋体" panose="02010600030101010101" pitchFamily="2" charset="-122"/>
              </a:rPr>
              <a:t>boston_dataset.data</a:t>
            </a:r>
            <a:r>
              <a:rPr lang="en-US" altLang="zh-CN" sz="2400" dirty="0">
                <a:latin typeface="Times New Roman" panose="02020603050405020304" pitchFamily="18" charset="0"/>
                <a:ea typeface="宋体" panose="02010600030101010101" pitchFamily="2" charset="-122"/>
              </a:rPr>
              <a:t>)</a:t>
            </a:r>
            <a:br>
              <a:rPr lang="en-US" altLang="zh-CN" sz="2400" dirty="0">
                <a:latin typeface="Times New Roman" panose="02020603050405020304" pitchFamily="18" charset="0"/>
                <a:ea typeface="宋体" panose="02010600030101010101" pitchFamily="2" charset="-122"/>
              </a:rPr>
            </a:br>
            <a:r>
              <a:rPr lang="en-US" altLang="zh-CN" sz="2400" dirty="0" err="1">
                <a:latin typeface="Times New Roman" panose="02020603050405020304" pitchFamily="18" charset="0"/>
                <a:ea typeface="宋体" panose="02010600030101010101" pitchFamily="2" charset="-122"/>
              </a:rPr>
              <a:t>data.columns</a:t>
            </a:r>
            <a:r>
              <a:rPr lang="en-US" altLang="zh-CN" sz="2400" dirty="0">
                <a:latin typeface="Times New Roman" panose="02020603050405020304" pitchFamily="18" charset="0"/>
                <a:ea typeface="宋体" panose="02010600030101010101" pitchFamily="2" charset="-122"/>
              </a:rPr>
              <a:t> = </a:t>
            </a:r>
            <a:r>
              <a:rPr lang="en-US" altLang="zh-CN" sz="2400" dirty="0" err="1">
                <a:latin typeface="Times New Roman" panose="02020603050405020304" pitchFamily="18" charset="0"/>
                <a:ea typeface="宋体" panose="02010600030101010101" pitchFamily="2" charset="-122"/>
              </a:rPr>
              <a:t>boston_dataset.feature_names</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data['PRICE'] = </a:t>
            </a:r>
            <a:r>
              <a:rPr lang="en-US" altLang="zh-CN" sz="2400" dirty="0" err="1">
                <a:latin typeface="Times New Roman" panose="02020603050405020304" pitchFamily="18" charset="0"/>
                <a:ea typeface="宋体" panose="02010600030101010101" pitchFamily="2" charset="-122"/>
              </a:rPr>
              <a:t>boston_dataset.target</a:t>
            </a:r>
            <a:br>
              <a:rPr lang="en-US" altLang="zh-CN" sz="2400" dirty="0">
                <a:latin typeface="Times New Roman" panose="02020603050405020304" pitchFamily="18" charset="0"/>
                <a:ea typeface="宋体" panose="02010600030101010101" pitchFamily="2" charset="-122"/>
              </a:rPr>
            </a:br>
            <a:r>
              <a:rPr lang="en-US" altLang="zh-CN" sz="2400" dirty="0">
                <a:latin typeface="Times New Roman" panose="02020603050405020304" pitchFamily="18" charset="0"/>
                <a:ea typeface="宋体" panose="02010600030101010101" pitchFamily="2" charset="-122"/>
              </a:rPr>
              <a:t>print(data)</a:t>
            </a:r>
            <a:endParaRPr lang="zh-CN" altLang="en-US" sz="200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0586" y="81956"/>
            <a:ext cx="5733586" cy="6548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172" y="81957"/>
            <a:ext cx="2334699" cy="6548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文本框 2"/>
          <p:cNvSpPr txBox="1">
            <a:spLocks noChangeArrowheads="1"/>
          </p:cNvSpPr>
          <p:nvPr/>
        </p:nvSpPr>
        <p:spPr bwMode="auto">
          <a:xfrm>
            <a:off x="1159727" y="117693"/>
            <a:ext cx="9493250"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Light" panose="020F0302020204030204" charset="0"/>
                <a:ea typeface="微软雅黑 Light" panose="020B0502040204020203" charset="-122"/>
              </a:defRPr>
            </a:lvl1pPr>
            <a:lvl2pPr marL="742950" indent="-285750">
              <a:defRPr>
                <a:solidFill>
                  <a:schemeClr val="tx1"/>
                </a:solidFill>
                <a:latin typeface="Calibri Light" panose="020F0302020204030204" charset="0"/>
                <a:ea typeface="微软雅黑 Light" panose="020B0502040204020203" charset="-122"/>
              </a:defRPr>
            </a:lvl2pPr>
            <a:lvl3pPr marL="1143000" indent="-228600">
              <a:defRPr>
                <a:solidFill>
                  <a:schemeClr val="tx1"/>
                </a:solidFill>
                <a:latin typeface="Calibri Light" panose="020F0302020204030204" charset="0"/>
                <a:ea typeface="微软雅黑 Light" panose="020B0502040204020203" charset="-122"/>
              </a:defRPr>
            </a:lvl3pPr>
            <a:lvl4pPr marL="1600200" indent="-228600">
              <a:defRPr>
                <a:solidFill>
                  <a:schemeClr val="tx1"/>
                </a:solidFill>
                <a:latin typeface="Calibri Light" panose="020F0302020204030204" charset="0"/>
                <a:ea typeface="微软雅黑 Light" panose="020B0502040204020203" charset="-122"/>
              </a:defRPr>
            </a:lvl4pPr>
            <a:lvl5pPr marL="2057400" indent="-228600">
              <a:defRPr>
                <a:solidFill>
                  <a:schemeClr val="tx1"/>
                </a:solidFill>
                <a:latin typeface="Calibri Light" panose="020F0302020204030204" charset="0"/>
                <a:ea typeface="微软雅黑 Light" panose="020B0502040204020203" charset="-122"/>
              </a:defRPr>
            </a:lvl5pPr>
            <a:lvl6pPr marL="25146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6pPr>
            <a:lvl7pPr marL="29718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7pPr>
            <a:lvl8pPr marL="34290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8pPr>
            <a:lvl9pPr marL="38862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9pPr>
          </a:lstStyle>
          <a:p>
            <a:pPr eaLnBrk="1" hangingPunct="1"/>
            <a:r>
              <a:rPr lang="zh-CN" altLang="en-US" sz="2400" dirty="0">
                <a:latin typeface="宋体" panose="02010600030101010101" pitchFamily="2" charset="-122"/>
                <a:ea typeface="宋体" panose="02010600030101010101" pitchFamily="2" charset="-122"/>
              </a:rPr>
              <a:t>#取出房间数和房价并转化成矩阵形式</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Times New Roman" panose="02020603050405020304" pitchFamily="18" charset="0"/>
                <a:ea typeface="宋体" panose="02010600030101010101" pitchFamily="2" charset="-122"/>
              </a:rPr>
              <a:t>x=data.loc[:,'RM'].as_matrix(columns=None)</a:t>
            </a:r>
            <a:endParaRPr lang="zh-CN" altLang="en-US" sz="2400" dirty="0">
              <a:latin typeface="Times New Roman" panose="02020603050405020304" pitchFamily="18" charset="0"/>
              <a:ea typeface="宋体" panose="02010600030101010101" pitchFamily="2" charset="-122"/>
            </a:endParaRPr>
          </a:p>
          <a:p>
            <a:pPr eaLnBrk="1" hangingPunct="1"/>
            <a:r>
              <a:rPr lang="zh-CN" altLang="en-US" sz="2400" dirty="0">
                <a:latin typeface="Times New Roman" panose="02020603050405020304" pitchFamily="18" charset="0"/>
                <a:ea typeface="宋体" panose="02010600030101010101" pitchFamily="2" charset="-122"/>
              </a:rPr>
              <a:t>y=data.loc[:,'PRICE'].as_matrix(columns=None)</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#进行矩阵的转置</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Times New Roman" panose="02020603050405020304" pitchFamily="18" charset="0"/>
                <a:ea typeface="宋体" panose="02010600030101010101" pitchFamily="2" charset="-122"/>
              </a:rPr>
              <a:t>x=np.array([x]).T</a:t>
            </a:r>
            <a:endParaRPr lang="zh-CN" altLang="en-US" sz="2400" dirty="0">
              <a:latin typeface="Times New Roman" panose="02020603050405020304" pitchFamily="18" charset="0"/>
              <a:ea typeface="宋体" panose="02010600030101010101" pitchFamily="2" charset="-122"/>
            </a:endParaRPr>
          </a:p>
          <a:p>
            <a:pPr eaLnBrk="1" hangingPunct="1"/>
            <a:r>
              <a:rPr lang="zh-CN" altLang="en-US" sz="2400" dirty="0">
                <a:latin typeface="Times New Roman" panose="02020603050405020304" pitchFamily="18" charset="0"/>
                <a:ea typeface="宋体" panose="02010600030101010101" pitchFamily="2" charset="-122"/>
              </a:rPr>
              <a:t>y=np.array([y]).T</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宋体" panose="02010600030101010101" pitchFamily="2" charset="-122"/>
                <a:ea typeface="宋体" panose="02010600030101010101" pitchFamily="2" charset="-122"/>
              </a:rPr>
              <a:t>#训练线性模型</a:t>
            </a:r>
            <a:endParaRPr lang="zh-CN" altLang="en-US" sz="2400" dirty="0">
              <a:latin typeface="宋体" panose="02010600030101010101" pitchFamily="2" charset="-122"/>
              <a:ea typeface="宋体" panose="02010600030101010101" pitchFamily="2" charset="-122"/>
            </a:endParaRPr>
          </a:p>
          <a:p>
            <a:pPr eaLnBrk="1" hangingPunct="1"/>
            <a:r>
              <a:rPr lang="zh-CN" altLang="en-US" sz="2400" dirty="0">
                <a:latin typeface="Times New Roman" panose="02020603050405020304" pitchFamily="18" charset="0"/>
                <a:ea typeface="宋体" panose="02010600030101010101" pitchFamily="2" charset="-122"/>
              </a:rPr>
              <a:t>l=LinearRegression()</a:t>
            </a:r>
            <a:endParaRPr lang="zh-CN" altLang="en-US" sz="2400" dirty="0">
              <a:latin typeface="Times New Roman" panose="02020603050405020304" pitchFamily="18" charset="0"/>
              <a:ea typeface="宋体" panose="02010600030101010101" pitchFamily="2" charset="-122"/>
            </a:endParaRPr>
          </a:p>
          <a:p>
            <a:pPr eaLnBrk="1" hangingPunct="1"/>
            <a:r>
              <a:rPr lang="zh-CN" altLang="en-US" sz="2400" dirty="0">
                <a:latin typeface="Times New Roman" panose="02020603050405020304" pitchFamily="18" charset="0"/>
                <a:ea typeface="宋体" panose="02010600030101010101" pitchFamily="2" charset="-122"/>
              </a:rPr>
              <a:t>l.fit(x,y)</a:t>
            </a:r>
            <a:endParaRPr lang="en-US" altLang="zh-CN" sz="2400" dirty="0">
              <a:latin typeface="Times New Roman" panose="02020603050405020304" pitchFamily="18" charset="0"/>
              <a:ea typeface="宋体" panose="02010600030101010101" pitchFamily="2" charset="-122"/>
            </a:endParaRPr>
          </a:p>
          <a:p>
            <a:pPr eaLnBrk="1" hangingPunct="1"/>
            <a:endParaRPr lang="en-US" altLang="zh-CN" sz="2400" dirty="0">
              <a:latin typeface="Times New Roman" panose="02020603050405020304" pitchFamily="18" charset="0"/>
              <a:ea typeface="宋体" panose="02010600030101010101" pitchFamily="2" charset="-122"/>
            </a:endParaRPr>
          </a:p>
          <a:p>
            <a:r>
              <a:rPr lang="en-US" altLang="zh-CN" sz="2400" dirty="0"/>
              <a:t># </a:t>
            </a:r>
            <a:r>
              <a:rPr lang="zh-CN" altLang="en-US" sz="2400" dirty="0"/>
              <a:t>画图显示</a:t>
            </a:r>
            <a:br>
              <a:rPr lang="zh-CN" altLang="en-US" sz="2400" dirty="0"/>
            </a:br>
            <a:r>
              <a:rPr lang="en-US" altLang="zh-CN" sz="2400" dirty="0" err="1"/>
              <a:t>plt.scatter</a:t>
            </a:r>
            <a:r>
              <a:rPr lang="en-US" altLang="zh-CN" sz="2400" dirty="0"/>
              <a:t>(x, y, s=10, alpha=0.3, c='green')</a:t>
            </a:r>
            <a:br>
              <a:rPr lang="en-US" altLang="zh-CN" sz="2400" dirty="0"/>
            </a:br>
            <a:r>
              <a:rPr lang="en-US" altLang="zh-CN" sz="2400" dirty="0" err="1"/>
              <a:t>plt.plot</a:t>
            </a:r>
            <a:r>
              <a:rPr lang="en-US" altLang="zh-CN" sz="2400" dirty="0"/>
              <a:t>(x, </a:t>
            </a:r>
            <a:r>
              <a:rPr lang="en-US" altLang="zh-CN" sz="2400" dirty="0" err="1"/>
              <a:t>l.predict</a:t>
            </a:r>
            <a:r>
              <a:rPr lang="en-US" altLang="zh-CN" sz="2400" dirty="0"/>
              <a:t>(x), c='blue', </a:t>
            </a:r>
            <a:r>
              <a:rPr lang="en-US" altLang="zh-CN" sz="2400" dirty="0" err="1"/>
              <a:t>linewidth</a:t>
            </a:r>
            <a:r>
              <a:rPr lang="en-US" altLang="zh-CN" sz="2400" dirty="0"/>
              <a:t>='1')</a:t>
            </a:r>
            <a:br>
              <a:rPr lang="en-US" altLang="zh-CN" sz="2400" dirty="0"/>
            </a:br>
            <a:r>
              <a:rPr lang="en-US" altLang="zh-CN" sz="2400" dirty="0" err="1"/>
              <a:t>plt.xlabel</a:t>
            </a:r>
            <a:r>
              <a:rPr lang="en-US" altLang="zh-CN" sz="2400" dirty="0"/>
              <a:t>("Number of Rooms")</a:t>
            </a:r>
            <a:br>
              <a:rPr lang="en-US" altLang="zh-CN" sz="2400" dirty="0"/>
            </a:br>
            <a:r>
              <a:rPr lang="en-US" altLang="zh-CN" sz="2400" dirty="0" err="1"/>
              <a:t>plt.ylabel</a:t>
            </a:r>
            <a:r>
              <a:rPr lang="en-US" altLang="zh-CN" sz="2400" dirty="0"/>
              <a:t>("House Price")</a:t>
            </a:r>
            <a:br>
              <a:rPr lang="en-US" altLang="zh-CN" sz="2400" dirty="0"/>
            </a:br>
            <a:r>
              <a:rPr lang="en-US" altLang="zh-CN" sz="2400" dirty="0" err="1"/>
              <a:t>plt.show</a:t>
            </a:r>
            <a:r>
              <a:rPr lang="en-US" altLang="zh-CN" sz="2400" dirty="0"/>
              <a:t>()</a:t>
            </a:r>
            <a:endParaRPr lang="zh-CN" altLang="en-US" sz="2400" dirty="0">
              <a:latin typeface="Times New Roman" panose="02020603050405020304" pitchFamily="18" charset="0"/>
              <a:ea typeface="宋体" panose="02010600030101010101" pitchFamily="2" charset="-122"/>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66791" y="1311254"/>
            <a:ext cx="5154223" cy="4596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510700" y="2479491"/>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上机练习</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300544"/>
            <a:ext cx="8015583" cy="534035"/>
          </a:xfrm>
        </p:spPr>
        <p:txBody>
          <a:bodyPr/>
          <a:lstStyle/>
          <a:p>
            <a:pPr eaLnBrk="1" fontAlgn="auto" hangingPunct="1">
              <a:defRPr/>
            </a:pPr>
            <a:r>
              <a:rPr lang="zh-CN" altLang="en-US" noProof="1"/>
              <a:t>算法练习</a:t>
            </a:r>
            <a:endParaRPr noProof="1"/>
          </a:p>
        </p:txBody>
      </p:sp>
      <p:sp>
        <p:nvSpPr>
          <p:cNvPr id="30723" name="文本框 2"/>
          <p:cNvSpPr txBox="1">
            <a:spLocks noChangeArrowheads="1"/>
          </p:cNvSpPr>
          <p:nvPr/>
        </p:nvSpPr>
        <p:spPr bwMode="auto">
          <a:xfrm>
            <a:off x="1252855" y="1405573"/>
            <a:ext cx="9636125" cy="461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Light" panose="020F0302020204030204" charset="0"/>
                <a:ea typeface="微软雅黑 Light" panose="020B0502040204020203" charset="-122"/>
              </a:defRPr>
            </a:lvl1pPr>
            <a:lvl2pPr marL="742950" indent="-285750">
              <a:defRPr>
                <a:solidFill>
                  <a:schemeClr val="tx1"/>
                </a:solidFill>
                <a:latin typeface="Calibri Light" panose="020F0302020204030204" charset="0"/>
                <a:ea typeface="微软雅黑 Light" panose="020B0502040204020203" charset="-122"/>
              </a:defRPr>
            </a:lvl2pPr>
            <a:lvl3pPr marL="1143000" indent="-228600">
              <a:defRPr>
                <a:solidFill>
                  <a:schemeClr val="tx1"/>
                </a:solidFill>
                <a:latin typeface="Calibri Light" panose="020F0302020204030204" charset="0"/>
                <a:ea typeface="微软雅黑 Light" panose="020B0502040204020203" charset="-122"/>
              </a:defRPr>
            </a:lvl3pPr>
            <a:lvl4pPr marL="1600200" indent="-228600">
              <a:defRPr>
                <a:solidFill>
                  <a:schemeClr val="tx1"/>
                </a:solidFill>
                <a:latin typeface="Calibri Light" panose="020F0302020204030204" charset="0"/>
                <a:ea typeface="微软雅黑 Light" panose="020B0502040204020203" charset="-122"/>
              </a:defRPr>
            </a:lvl4pPr>
            <a:lvl5pPr marL="2057400" indent="-228600">
              <a:defRPr>
                <a:solidFill>
                  <a:schemeClr val="tx1"/>
                </a:solidFill>
                <a:latin typeface="Calibri Light" panose="020F0302020204030204" charset="0"/>
                <a:ea typeface="微软雅黑 Light" panose="020B0502040204020203" charset="-122"/>
              </a:defRPr>
            </a:lvl5pPr>
            <a:lvl6pPr marL="25146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6pPr>
            <a:lvl7pPr marL="29718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7pPr>
            <a:lvl8pPr marL="34290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8pPr>
            <a:lvl9pPr marL="38862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charset="-122"/>
              </a:defRPr>
            </a:lvl9pPr>
          </a:lstStyle>
          <a:p>
            <a:pPr>
              <a:lnSpc>
                <a:spcPct val="150000"/>
              </a:lnSpc>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、通过练习最小二乘法算法，了解代码中每条语句的含义，并深刻理解线性回归算法的基本原理。</a:t>
            </a:r>
            <a:endParaRPr lang="en-US" altLang="zh-CN" sz="2800" dirty="0">
              <a:latin typeface="宋体" panose="02010600030101010101" pitchFamily="2" charset="-122"/>
              <a:ea typeface="宋体" panose="02010600030101010101" pitchFamily="2" charset="-122"/>
            </a:endParaRPr>
          </a:p>
          <a:p>
            <a:pPr>
              <a:lnSpc>
                <a:spcPct val="150000"/>
              </a:lnSpc>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、通过练习波士顿房价预测算法，（</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）逐步熟悉</a:t>
            </a:r>
            <a:r>
              <a:rPr lang="en-US" altLang="zh-CN" sz="2800" dirty="0" err="1">
                <a:latin typeface="宋体" panose="02010600030101010101" pitchFamily="2" charset="-122"/>
                <a:ea typeface="宋体" panose="02010600030101010101" pitchFamily="2" charset="-122"/>
              </a:rPr>
              <a:t>sklearn</a:t>
            </a:r>
            <a:r>
              <a:rPr lang="zh-CN" altLang="en-US" sz="2800" dirty="0">
                <a:latin typeface="宋体" panose="02010600030101010101" pitchFamily="2" charset="-122"/>
                <a:ea typeface="宋体" panose="02010600030101010101" pitchFamily="2" charset="-122"/>
              </a:rPr>
              <a:t>中数据集的使用方法（</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）逐步熟悉使用</a:t>
            </a:r>
            <a:r>
              <a:rPr lang="en-US" altLang="zh-CN" sz="2800" dirty="0" err="1">
                <a:latin typeface="宋体" panose="02010600030101010101" pitchFamily="2" charset="-122"/>
                <a:ea typeface="宋体" panose="02010600030101010101" pitchFamily="2" charset="-122"/>
              </a:rPr>
              <a:t>sklearn</a:t>
            </a:r>
            <a:r>
              <a:rPr lang="zh-CN" altLang="en-US" sz="2800" dirty="0">
                <a:latin typeface="宋体" panose="02010600030101010101" pitchFamily="2" charset="-122"/>
                <a:ea typeface="宋体" panose="02010600030101010101" pitchFamily="2" charset="-122"/>
              </a:rPr>
              <a:t>的机器学习模型的基本过程。</a:t>
            </a:r>
            <a:endParaRPr lang="en-US" altLang="zh-CN" sz="2800" dirty="0">
              <a:latin typeface="宋体" panose="02010600030101010101" pitchFamily="2" charset="-122"/>
              <a:ea typeface="宋体" panose="02010600030101010101" pitchFamily="2" charset="-122"/>
            </a:endParaRPr>
          </a:p>
          <a:p>
            <a:pPr>
              <a:lnSpc>
                <a:spcPct val="150000"/>
              </a:lnSpc>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、通过练习最小二乘法算法，实现</a:t>
            </a:r>
            <a:r>
              <a:rPr lang="en-US" altLang="zh-CN" sz="2800" dirty="0">
                <a:latin typeface="宋体" panose="02010600030101010101" pitchFamily="2" charset="-122"/>
                <a:ea typeface="宋体" panose="02010600030101010101" pitchFamily="2" charset="-122"/>
              </a:rPr>
              <a:t>PPT</a:t>
            </a:r>
            <a:r>
              <a:rPr lang="zh-CN" altLang="en-US" sz="2800" dirty="0">
                <a:latin typeface="宋体" panose="02010600030101010101" pitchFamily="2" charset="-122"/>
                <a:ea typeface="宋体" panose="02010600030101010101" pitchFamily="2" charset="-122"/>
              </a:rPr>
              <a:t>第</a:t>
            </a:r>
            <a:r>
              <a:rPr lang="en-US" altLang="zh-CN" sz="2800" dirty="0">
                <a:latin typeface="宋体" panose="02010600030101010101" pitchFamily="2" charset="-122"/>
                <a:ea typeface="宋体" panose="02010600030101010101" pitchFamily="2" charset="-122"/>
              </a:rPr>
              <a:t>5</a:t>
            </a:r>
            <a:r>
              <a:rPr lang="zh-CN" altLang="en-US" sz="2800" dirty="0">
                <a:latin typeface="宋体" panose="02010600030101010101" pitchFamily="2" charset="-122"/>
                <a:ea typeface="宋体" panose="02010600030101010101" pitchFamily="2" charset="-122"/>
              </a:rPr>
              <a:t>页、第</a:t>
            </a:r>
            <a:r>
              <a:rPr lang="en-US" altLang="zh-CN" sz="2800" dirty="0">
                <a:latin typeface="宋体" panose="02010600030101010101" pitchFamily="2" charset="-122"/>
                <a:ea typeface="宋体" panose="02010600030101010101" pitchFamily="2" charset="-122"/>
              </a:rPr>
              <a:t>17</a:t>
            </a:r>
            <a:r>
              <a:rPr lang="zh-CN" altLang="en-US" sz="2800" dirty="0">
                <a:latin typeface="宋体" panose="02010600030101010101" pitchFamily="2" charset="-122"/>
                <a:ea typeface="宋体" panose="02010600030101010101" pitchFamily="2" charset="-122"/>
              </a:rPr>
              <a:t>页的预测问题。</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PA" val="v4.1.3"/>
</p:tagLst>
</file>

<file path=ppt/tags/tag11.xml><?xml version="1.0" encoding="utf-8"?>
<p:tagLst xmlns:p="http://schemas.openxmlformats.org/presentationml/2006/main">
  <p:tag name="ISLIDE.ADDREMOVEWATERMARK" val="TSZ3HzpXfZ"/>
</p:tagLst>
</file>

<file path=ppt/tags/tag12.xml><?xml version="1.0" encoding="utf-8"?>
<p:tagLst xmlns:p="http://schemas.openxmlformats.org/presentationml/2006/main">
  <p:tag name="ISLIDE.ADDREMOVEWATERMARK" val="TSZ3HzpXfZ"/>
</p:tagLst>
</file>

<file path=ppt/tags/tag13.xml><?xml version="1.0" encoding="utf-8"?>
<p:tagLst xmlns:p="http://schemas.openxmlformats.org/presentationml/2006/main">
  <p:tag name="ISLIDE.ADDREMOVEWATERMARK" val="TSZ3HzpXfZ"/>
</p:tagLst>
</file>

<file path=ppt/tags/tag14.xml><?xml version="1.0" encoding="utf-8"?>
<p:tagLst xmlns:p="http://schemas.openxmlformats.org/presentationml/2006/main">
  <p:tag name="KSO_WM_UNIT_TABLE_BEAUTIFY" val="smartTable{6b0d7647-86fc-4147-a511-200a02151c62}"/>
</p:tagLst>
</file>

<file path=ppt/tags/tag15.xml><?xml version="1.0" encoding="utf-8"?>
<p:tagLst xmlns:p="http://schemas.openxmlformats.org/presentationml/2006/main">
  <p:tag name="ISLIDE.ADDREMOVEWATERMARK" val="TSZ3HzpXfZ"/>
</p:tagLst>
</file>

<file path=ppt/tags/tag16.xml><?xml version="1.0" encoding="utf-8"?>
<p:tagLst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Lst>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3712</Words>
  <Application>WPS 演示</Application>
  <PresentationFormat>宽屏</PresentationFormat>
  <Paragraphs>241</Paragraphs>
  <Slides>32</Slides>
  <Notes>28</Notes>
  <HiddenSlides>0</HiddenSlides>
  <MMClips>0</MMClips>
  <ScaleCrop>false</ScaleCrop>
  <HeadingPairs>
    <vt:vector size="8" baseType="variant">
      <vt:variant>
        <vt:lpstr>已用的字体</vt:lpstr>
      </vt:variant>
      <vt:variant>
        <vt:i4>22</vt:i4>
      </vt:variant>
      <vt:variant>
        <vt:lpstr>主题</vt:lpstr>
      </vt:variant>
      <vt:variant>
        <vt:i4>3</vt:i4>
      </vt:variant>
      <vt:variant>
        <vt:lpstr>嵌入 OLE 服务器</vt:lpstr>
      </vt:variant>
      <vt:variant>
        <vt:i4>4</vt:i4>
      </vt:variant>
      <vt:variant>
        <vt:lpstr>幻灯片标题</vt:lpstr>
      </vt:variant>
      <vt:variant>
        <vt:i4>32</vt:i4>
      </vt:variant>
    </vt:vector>
  </HeadingPairs>
  <TitlesOfParts>
    <vt:vector size="61" baseType="lpstr">
      <vt:lpstr>Arial</vt:lpstr>
      <vt:lpstr>宋体</vt:lpstr>
      <vt:lpstr>Wingdings</vt:lpstr>
      <vt:lpstr>Verdana</vt:lpstr>
      <vt:lpstr>微软雅黑</vt:lpstr>
      <vt:lpstr>Calibri</vt:lpstr>
      <vt:lpstr>Wingdings 2</vt:lpstr>
      <vt:lpstr>Verdana</vt:lpstr>
      <vt:lpstr>Noto Sans S Chinese Medium</vt:lpstr>
      <vt:lpstr>Century Gothic</vt:lpstr>
      <vt:lpstr>Noto Sans S Chinese Regular</vt:lpstr>
      <vt:lpstr>Times New Roman</vt:lpstr>
      <vt:lpstr>Calibri Light</vt:lpstr>
      <vt:lpstr>Arial Unicode MS</vt:lpstr>
      <vt:lpstr>Calibri Light</vt:lpstr>
      <vt:lpstr>微软雅黑 Light</vt:lpstr>
      <vt:lpstr>Arial</vt:lpstr>
      <vt:lpstr>等线</vt:lpstr>
      <vt:lpstr>楷体</vt:lpstr>
      <vt:lpstr>Calibri</vt:lpstr>
      <vt:lpstr>Gill Sans MT</vt:lpstr>
      <vt:lpstr>华文中宋</vt:lpstr>
      <vt:lpstr>第一PPT，www.1ppt.com</vt:lpstr>
      <vt:lpstr>夏至</vt:lpstr>
      <vt:lpstr>2_夏至</vt:lpstr>
      <vt:lpstr>Equation.DSMT4</vt:lpstr>
      <vt:lpstr>Equation.DSMT4</vt:lpstr>
      <vt:lpstr>Equation.DSMT4</vt:lpstr>
      <vt:lpstr>Equation.DSMT4</vt:lpstr>
      <vt:lpstr>PowerPoint 演示文稿</vt:lpstr>
      <vt:lpstr>目录</vt:lpstr>
      <vt:lpstr>PowerPoint 演示文稿</vt:lpstr>
      <vt:lpstr>算法概述</vt:lpstr>
      <vt:lpstr>PowerPoint 演示文稿</vt:lpstr>
      <vt:lpstr>一元线性回归</vt:lpstr>
      <vt:lpstr>线性回归</vt:lpstr>
      <vt:lpstr>PowerPoint 演示文稿</vt:lpstr>
      <vt:lpstr>PowerPoint 演示文稿</vt:lpstr>
      <vt:lpstr>PowerPoint 演示文稿</vt:lpstr>
      <vt:lpstr>PowerPoint 演示文稿</vt:lpstr>
      <vt:lpstr>PowerPoint 演示文稿</vt:lpstr>
      <vt:lpstr>PowerPoint 演示文稿</vt:lpstr>
      <vt:lpstr>最小二乘法求解系数</vt:lpstr>
      <vt:lpstr>一元线性回归</vt:lpstr>
      <vt:lpstr>多元线性回归</vt:lpstr>
      <vt:lpstr>PowerPoint 演示文稿</vt:lpstr>
      <vt:lpstr>PowerPoint 演示文稿</vt:lpstr>
      <vt:lpstr>PowerPoint 演示文稿</vt:lpstr>
      <vt:lpstr>PowerPoint 演示文稿</vt:lpstr>
      <vt:lpstr>最小二乘法算法实现</vt:lpstr>
      <vt:lpstr>最小二乘法算法实现</vt:lpstr>
      <vt:lpstr>PowerPoint 演示文稿</vt:lpstr>
      <vt:lpstr>数据集介绍</vt:lpstr>
      <vt:lpstr>波士顿房价数据集（Boston House Price Dataset）</vt:lpstr>
      <vt:lpstr>PowerPoint 演示文稿</vt:lpstr>
      <vt:lpstr>实现线性回归</vt:lpstr>
      <vt:lpstr>算法应用</vt:lpstr>
      <vt:lpstr>PowerPoint 演示文稿</vt:lpstr>
      <vt:lpstr>PowerPoint 演示文稿</vt:lpstr>
      <vt:lpstr>PowerPoint 演示文稿</vt:lpstr>
      <vt:lpstr>算法练习</vt:lpstr>
    </vt:vector>
  </TitlesOfParts>
  <Company>tyut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难得糊涂</cp:lastModifiedBy>
  <cp:revision>366</cp:revision>
  <dcterms:created xsi:type="dcterms:W3CDTF">2017-11-09T06:06:00Z</dcterms:created>
  <dcterms:modified xsi:type="dcterms:W3CDTF">2025-03-03T09:08:58Z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2EC8F04C47CE4BCFA00A3973EF482259_12</vt:lpwstr>
  </property>
  <property fmtid="{D5CDD505-2E9C-101B-9397-08002B2CF9AE}" pid="3" name="KSOProductBuildVer">
    <vt:lpwstr>2052-12.1.0.20305</vt:lpwstr>
  </property>
</Properties>
</file>