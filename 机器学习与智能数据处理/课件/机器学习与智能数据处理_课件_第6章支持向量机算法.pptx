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5"/>
  </p:notesMasterIdLst>
  <p:handoutMasterIdLst>
    <p:handoutMasterId r:id="rId84"/>
  </p:handoutMasterIdLst>
  <p:sldIdLst>
    <p:sldId id="256" r:id="rId4"/>
    <p:sldId id="422" r:id="rId6"/>
    <p:sldId id="259" r:id="rId7"/>
    <p:sldId id="369" r:id="rId8"/>
    <p:sldId id="370" r:id="rId9"/>
    <p:sldId id="423" r:id="rId10"/>
    <p:sldId id="437" r:id="rId11"/>
    <p:sldId id="309" r:id="rId12"/>
    <p:sldId id="374" r:id="rId13"/>
    <p:sldId id="372" r:id="rId14"/>
    <p:sldId id="373" r:id="rId15"/>
    <p:sldId id="335" r:id="rId16"/>
    <p:sldId id="375" r:id="rId17"/>
    <p:sldId id="518" r:id="rId18"/>
    <p:sldId id="517" r:id="rId19"/>
    <p:sldId id="528" r:id="rId20"/>
    <p:sldId id="519" r:id="rId21"/>
    <p:sldId id="520" r:id="rId22"/>
    <p:sldId id="521" r:id="rId23"/>
    <p:sldId id="522" r:id="rId24"/>
    <p:sldId id="523" r:id="rId25"/>
    <p:sldId id="524" r:id="rId26"/>
    <p:sldId id="347" r:id="rId27"/>
    <p:sldId id="348" r:id="rId28"/>
    <p:sldId id="349" r:id="rId29"/>
    <p:sldId id="350" r:id="rId30"/>
    <p:sldId id="513" r:id="rId31"/>
    <p:sldId id="391" r:id="rId32"/>
    <p:sldId id="384" r:id="rId33"/>
    <p:sldId id="385" r:id="rId34"/>
    <p:sldId id="310" r:id="rId35"/>
    <p:sldId id="331" r:id="rId36"/>
    <p:sldId id="386" r:id="rId37"/>
    <p:sldId id="387" r:id="rId38"/>
    <p:sldId id="416" r:id="rId39"/>
    <p:sldId id="417" r:id="rId40"/>
    <p:sldId id="418" r:id="rId41"/>
    <p:sldId id="419" r:id="rId42"/>
    <p:sldId id="420" r:id="rId43"/>
    <p:sldId id="388" r:id="rId44"/>
    <p:sldId id="389" r:id="rId45"/>
    <p:sldId id="390" r:id="rId46"/>
    <p:sldId id="392" r:id="rId47"/>
    <p:sldId id="514" r:id="rId48"/>
    <p:sldId id="393" r:id="rId49"/>
    <p:sldId id="432" r:id="rId50"/>
    <p:sldId id="433" r:id="rId51"/>
    <p:sldId id="434" r:id="rId52"/>
    <p:sldId id="394" r:id="rId53"/>
    <p:sldId id="444" r:id="rId54"/>
    <p:sldId id="515" r:id="rId55"/>
    <p:sldId id="445" r:id="rId56"/>
    <p:sldId id="510" r:id="rId57"/>
    <p:sldId id="396" r:id="rId58"/>
    <p:sldId id="397" r:id="rId59"/>
    <p:sldId id="398" r:id="rId60"/>
    <p:sldId id="415" r:id="rId61"/>
    <p:sldId id="399" r:id="rId62"/>
    <p:sldId id="430" r:id="rId63"/>
    <p:sldId id="402" r:id="rId64"/>
    <p:sldId id="403" r:id="rId65"/>
    <p:sldId id="404" r:id="rId66"/>
    <p:sldId id="405" r:id="rId67"/>
    <p:sldId id="435" r:id="rId68"/>
    <p:sldId id="406" r:id="rId69"/>
    <p:sldId id="441" r:id="rId70"/>
    <p:sldId id="408" r:id="rId71"/>
    <p:sldId id="442" r:id="rId72"/>
    <p:sldId id="436" r:id="rId73"/>
    <p:sldId id="424" r:id="rId74"/>
    <p:sldId id="425" r:id="rId75"/>
    <p:sldId id="426" r:id="rId76"/>
    <p:sldId id="427" r:id="rId77"/>
    <p:sldId id="411" r:id="rId78"/>
    <p:sldId id="412" r:id="rId79"/>
    <p:sldId id="413" r:id="rId80"/>
    <p:sldId id="414" r:id="rId81"/>
    <p:sldId id="431" r:id="rId82"/>
    <p:sldId id="443" r:id="rId83"/>
  </p:sldIdLst>
  <p:sldSz cx="12192000" cy="6858000"/>
  <p:notesSz cx="6858000" cy="9144000"/>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userDrawn="1">
          <p15:clr>
            <a:srgbClr val="A4A3A4"/>
          </p15:clr>
        </p15:guide>
        <p15:guide id="2" pos="3851" userDrawn="1">
          <p15:clr>
            <a:srgbClr val="A4A3A4"/>
          </p15:clr>
        </p15:guide>
        <p15:guide id="3" pos="651" userDrawn="1">
          <p15:clr>
            <a:srgbClr val="A4A3A4"/>
          </p15:clr>
        </p15:guide>
        <p15:guide id="4" pos="7098" userDrawn="1">
          <p15:clr>
            <a:srgbClr val="A4A3A4"/>
          </p15:clr>
        </p15:guide>
        <p15:guide id="5" orient="horz" pos="3830" userDrawn="1">
          <p15:clr>
            <a:srgbClr val="A4A3A4"/>
          </p15:clr>
        </p15:guide>
        <p15:guide id="6" orient="horz" pos="7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A5A5A5"/>
    <a:srgbClr val="5F5F5F"/>
    <a:srgbClr val="606060"/>
    <a:srgbClr val="FEA205"/>
    <a:srgbClr val="E9EBEC"/>
    <a:srgbClr val="EAECED"/>
    <a:srgbClr val="E8EBEC"/>
    <a:srgbClr val="E3E6E7"/>
    <a:srgbClr val="F69E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26" autoAdjust="0"/>
    <p:restoredTop sz="90139" autoAdjust="0"/>
  </p:normalViewPr>
  <p:slideViewPr>
    <p:cSldViewPr snapToGrid="0" showGuides="1">
      <p:cViewPr varScale="1">
        <p:scale>
          <a:sx n="66" d="100"/>
          <a:sy n="66" d="100"/>
        </p:scale>
        <p:origin x="288" y="48"/>
      </p:cViewPr>
      <p:guideLst>
        <p:guide orient="horz" pos="2128"/>
        <p:guide pos="3851"/>
        <p:guide pos="651"/>
        <p:guide pos="7098"/>
        <p:guide orient="horz" pos="3830"/>
        <p:guide orient="horz" pos="777"/>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46" d="100"/>
          <a:sy n="46" d="100"/>
        </p:scale>
        <p:origin x="2316"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8" Type="http://schemas.openxmlformats.org/officeDocument/2006/relationships/tags" Target="tags/tag15.xml"/><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handoutMaster" Target="handoutMasters/handoutMaster1.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5C123-D6CD-4046-9E13-CA7186604EF0}"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89000D-5344-416A-A6D3-78D1717783E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26DC34-D585-42D5-89F7-991AD639A88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8600" y="630237"/>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2743B-58E3-4952-98AC-60B7F33057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endParaRPr lang="zh-CN" altLang="en-US" sz="1200" b="0" i="0" baseline="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endParaRPr lang="zh-CN" altLang="en-US" sz="1200" b="0" i="0" baseline="0" smtClean="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8600" y="630238"/>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8600" y="630238"/>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2284" y="1989138"/>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5484" y="1989138"/>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36C6641-FD1E-493F-897A-CAD3233E938E}"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zh-CN" altLang="en-US"/>
              <a:t>计算机应用技术研究所</a:t>
            </a:r>
            <a:endParaRPr lang="zh-CN" altLang="en-US"/>
          </a:p>
        </p:txBody>
      </p:sp>
      <p:sp>
        <p:nvSpPr>
          <p:cNvPr id="7" name="Rectangle 7"/>
          <p:cNvSpPr>
            <a:spLocks noGrp="1" noChangeArrowheads="1"/>
          </p:cNvSpPr>
          <p:nvPr>
            <p:ph type="sldNum" sz="quarter" idx="12"/>
          </p:nvPr>
        </p:nvSpPr>
        <p:spPr/>
        <p:txBody>
          <a:bodyPr/>
          <a:lstStyle>
            <a:lvl1pPr>
              <a:defRPr/>
            </a:lvl1pPr>
          </a:lstStyle>
          <a:p>
            <a:pPr>
              <a:defRPr/>
            </a:pPr>
            <a:r>
              <a:rPr lang="en-US" altLang="zh-CN"/>
              <a:t>50</a:t>
            </a:r>
            <a:r>
              <a:rPr lang="zh-CN" altLang="en-US"/>
              <a:t>－</a:t>
            </a:r>
            <a:fld id="{332328F3-10DE-46FE-9DA3-05B3A25F526A}" type="slidenum">
              <a:rPr lang="en-US" altLang="zh-CN" smtClean="0"/>
            </a:fld>
            <a:endParaRPr lang="en-US" altLang="zh-CN"/>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0F34D6F-F29A-4B09-B655-E0971D462D4D}"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E4318774-2AFB-4BC6-A124-21C0A835992E}" type="slidenum">
              <a:rPr lang="zh-CN"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2284" y="1989138"/>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5484" y="1989138"/>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36C6641-FD1E-493F-897A-CAD3233E938E}"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zh-CN" altLang="en-US"/>
              <a:t>计算机应用技术研究所</a:t>
            </a:r>
            <a:endParaRPr lang="zh-CN" altLang="en-US"/>
          </a:p>
        </p:txBody>
      </p:sp>
      <p:sp>
        <p:nvSpPr>
          <p:cNvPr id="7" name="Rectangle 7"/>
          <p:cNvSpPr>
            <a:spLocks noGrp="1" noChangeArrowheads="1"/>
          </p:cNvSpPr>
          <p:nvPr>
            <p:ph type="sldNum" sz="quarter" idx="12"/>
          </p:nvPr>
        </p:nvSpPr>
        <p:spPr/>
        <p:txBody>
          <a:bodyPr/>
          <a:lstStyle>
            <a:lvl1pPr>
              <a:defRPr/>
            </a:lvl1pPr>
          </a:lstStyle>
          <a:p>
            <a:pPr>
              <a:defRPr/>
            </a:pPr>
            <a:r>
              <a:rPr lang="en-US" altLang="zh-CN"/>
              <a:t>50</a:t>
            </a:r>
            <a:r>
              <a:rPr lang="zh-CN" altLang="en-US"/>
              <a:t>－</a:t>
            </a:r>
            <a:fld id="{332328F3-10DE-46FE-9DA3-05B3A25F526A}" type="slidenum">
              <a:rPr lang="en-US" altLang="zh-CN" smtClean="0"/>
            </a:fld>
            <a:endParaRPr lang="en-US" altLang="zh-CN"/>
          </a:p>
        </p:txBody>
      </p:sp>
    </p:spTree>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7" Type="http://schemas.openxmlformats.org/officeDocument/2006/relationships/theme" Target="../theme/theme2.xml"/><Relationship Id="rId16" Type="http://schemas.openxmlformats.org/officeDocument/2006/relationships/image" Target="../media/image1.png"/><Relationship Id="rId15" Type="http://schemas.openxmlformats.org/officeDocument/2006/relationships/slideLayout" Target="../slideLayouts/slideLayout29.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15" cstate="print">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endPar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16">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endPar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1.xml"/><Relationship Id="rId10"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12.png"/><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6.emf"/><Relationship Id="rId4" Type="http://schemas.openxmlformats.org/officeDocument/2006/relationships/oleObject" Target="../embeddings/oleObject2.bin"/><Relationship Id="rId3" Type="http://schemas.openxmlformats.org/officeDocument/2006/relationships/image" Target="../media/image9.png"/><Relationship Id="rId2" Type="http://schemas.openxmlformats.org/officeDocument/2006/relationships/image" Target="../media/image8.png"/><Relationship Id="rId11" Type="http://schemas.openxmlformats.org/officeDocument/2006/relationships/notesSlide" Target="../notesSlides/notesSlide9.xml"/><Relationship Id="rId10" Type="http://schemas.openxmlformats.org/officeDocument/2006/relationships/vmlDrawing" Target="../drawings/vmlDrawing2.v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vmlDrawing" Target="../drawings/vmlDrawing3.vml"/><Relationship Id="rId5" Type="http://schemas.openxmlformats.org/officeDocument/2006/relationships/slideLayout" Target="../slideLayouts/slideLayout6.xml"/><Relationship Id="rId4" Type="http://schemas.openxmlformats.org/officeDocument/2006/relationships/image" Target="../media/image13.png"/><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image" Target="../media/image17.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6.xml"/><Relationship Id="rId4" Type="http://schemas.openxmlformats.org/officeDocument/2006/relationships/image" Target="../media/image7.png"/><Relationship Id="rId3" Type="http://schemas.openxmlformats.org/officeDocument/2006/relationships/image" Target="../media/image19.emf"/><Relationship Id="rId2" Type="http://schemas.openxmlformats.org/officeDocument/2006/relationships/oleObject" Target="../embeddings/oleObject4.bin"/><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6.xml"/><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6.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6.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6.xml"/><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8.xml"/><Relationship Id="rId2" Type="http://schemas.openxmlformats.org/officeDocument/2006/relationships/image" Target="../media/image25.jpeg"/><Relationship Id="rId1" Type="http://schemas.openxmlformats.org/officeDocument/2006/relationships/image" Target="../media/image24.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6.xml"/><Relationship Id="rId2" Type="http://schemas.openxmlformats.org/officeDocument/2006/relationships/image" Target="../media/image27.png"/><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8.xml"/><Relationship Id="rId1"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4.png"/><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5.png"/><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39.png"/><Relationship Id="rId1"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0.emf"/></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2.png"/><Relationship Id="rId1" Type="http://schemas.openxmlformats.org/officeDocument/2006/relationships/image" Target="../media/image4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8.xml"/><Relationship Id="rId1" Type="http://schemas.openxmlformats.org/officeDocument/2006/relationships/image" Target="../media/image43.jpe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3.xml"/><Relationship Id="rId2" Type="http://schemas.openxmlformats.org/officeDocument/2006/relationships/image" Target="../media/image45.png"/><Relationship Id="rId1" Type="http://schemas.openxmlformats.org/officeDocument/2006/relationships/image" Target="../media/image44.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49.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14.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wmf"/><Relationship Id="rId2" Type="http://schemas.openxmlformats.org/officeDocument/2006/relationships/oleObject" Target="../embeddings/oleObject5.bin"/><Relationship Id="rId1" Type="http://schemas.openxmlformats.org/officeDocument/2006/relationships/image" Target="../media/image49.em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53.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6.xml"/><Relationship Id="rId1"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e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png"/><Relationship Id="rId1" Type="http://schemas.openxmlformats.org/officeDocument/2006/relationships/image" Target="../media/image62.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PA_组合 110"/>
          <p:cNvGrpSpPr/>
          <p:nvPr>
            <p:custDataLst>
              <p:tags r:id="rId1"/>
            </p:custDataLst>
          </p:nvPr>
        </p:nvGrpSpPr>
        <p:grpSpPr>
          <a:xfrm flipH="1">
            <a:off x="6298564" y="-3082"/>
            <a:ext cx="5860641" cy="6861082"/>
            <a:chOff x="441028" y="108253"/>
            <a:chExt cx="4654180" cy="6678233"/>
          </a:xfrm>
        </p:grpSpPr>
        <p:cxnSp>
          <p:nvCxnSpPr>
            <p:cNvPr id="112" name="直接连接符 111"/>
            <p:cNvCxnSpPr/>
            <p:nvPr/>
          </p:nvCxnSpPr>
          <p:spPr>
            <a:xfrm>
              <a:off x="1397000" y="109248"/>
              <a:ext cx="3698208" cy="2003942"/>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41030" y="975564"/>
              <a:ext cx="4034133" cy="2193086"/>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441030" y="2325338"/>
              <a:ext cx="4259152" cy="2315413"/>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441030" y="3668759"/>
              <a:ext cx="4338247" cy="235841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442776" y="5064209"/>
              <a:ext cx="3204537" cy="1722277"/>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441030" y="6380062"/>
              <a:ext cx="754357" cy="40542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441030" y="935237"/>
              <a:ext cx="4034131" cy="2248000"/>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441030" y="2083389"/>
              <a:ext cx="4314751" cy="2404374"/>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V="1">
              <a:off x="441028" y="3440258"/>
              <a:ext cx="4425082" cy="2465854"/>
            </a:xfrm>
            <a:prstGeom prst="line">
              <a:avLst/>
            </a:prstGeom>
            <a:ln w="12700" cap="rnd">
              <a:gradFill>
                <a:gsLst>
                  <a:gs pos="60000">
                    <a:srgbClr val="FFFFFF">
                      <a:alpha val="50000"/>
                    </a:srgbClr>
                  </a:gs>
                  <a:gs pos="0">
                    <a:schemeClr val="bg1">
                      <a:alpha val="8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1261223" y="4797682"/>
              <a:ext cx="3567204" cy="198780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441028" y="108253"/>
              <a:ext cx="3103433" cy="172937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1030" y="111253"/>
              <a:ext cx="682160" cy="377986"/>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1206647" y="109248"/>
              <a:ext cx="0" cy="6677238"/>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3676895" y="108253"/>
              <a:ext cx="0" cy="6678233"/>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26" name="PA_弧形 125"/>
          <p:cNvSpPr/>
          <p:nvPr>
            <p:custDataLst>
              <p:tags r:id="rId2"/>
            </p:custDataLst>
          </p:nvPr>
        </p:nvSpPr>
        <p:spPr>
          <a:xfrm>
            <a:off x="-2231718" y="5190393"/>
            <a:ext cx="4767943" cy="4767943"/>
          </a:xfrm>
          <a:prstGeom prst="arc">
            <a:avLst>
              <a:gd name="adj1" fmla="val 15964885"/>
              <a:gd name="adj2" fmla="val 20622663"/>
            </a:avLst>
          </a:prstGeom>
          <a:ln>
            <a:solidFill>
              <a:schemeClr val="bg1">
                <a:lumMod val="75000"/>
              </a:schemeClr>
            </a:solidFill>
            <a:headEnd type="none" w="sm"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grpSp>
        <p:nvGrpSpPr>
          <p:cNvPr id="96" name="PA_组合 95"/>
          <p:cNvGrpSpPr/>
          <p:nvPr>
            <p:custDataLst>
              <p:tags r:id="rId3"/>
            </p:custDataLst>
          </p:nvPr>
        </p:nvGrpSpPr>
        <p:grpSpPr>
          <a:xfrm>
            <a:off x="9272737" y="6173657"/>
            <a:ext cx="868978" cy="2556000"/>
            <a:chOff x="9272737" y="6173657"/>
            <a:chExt cx="868978" cy="2556000"/>
          </a:xfrm>
        </p:grpSpPr>
        <p:sp>
          <p:nvSpPr>
            <p:cNvPr id="31"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2" name="椭圆 31"/>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7" name="PA_组合 96"/>
          <p:cNvGrpSpPr/>
          <p:nvPr>
            <p:custDataLst>
              <p:tags r:id="rId4"/>
            </p:custDataLst>
          </p:nvPr>
        </p:nvGrpSpPr>
        <p:grpSpPr>
          <a:xfrm>
            <a:off x="8447464" y="5580235"/>
            <a:ext cx="1174957" cy="3455999"/>
            <a:chOff x="8447464" y="5580235"/>
            <a:chExt cx="1174957" cy="3455999"/>
          </a:xfrm>
        </p:grpSpPr>
        <p:sp>
          <p:nvSpPr>
            <p:cNvPr id="4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 name="椭圆 4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8" name="PA_组合 97"/>
          <p:cNvGrpSpPr/>
          <p:nvPr>
            <p:custDataLst>
              <p:tags r:id="rId5"/>
            </p:custDataLst>
          </p:nvPr>
        </p:nvGrpSpPr>
        <p:grpSpPr>
          <a:xfrm>
            <a:off x="5713365" y="4642065"/>
            <a:ext cx="1358547" cy="3996000"/>
            <a:chOff x="5713365" y="4642065"/>
            <a:chExt cx="1358547" cy="3996000"/>
          </a:xfrm>
        </p:grpSpPr>
        <p:sp>
          <p:nvSpPr>
            <p:cNvPr id="4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 name="椭圆 4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3" name="PA_组合 132"/>
          <p:cNvGrpSpPr/>
          <p:nvPr>
            <p:custDataLst>
              <p:tags r:id="rId6"/>
            </p:custDataLst>
          </p:nvPr>
        </p:nvGrpSpPr>
        <p:grpSpPr>
          <a:xfrm>
            <a:off x="7245345" y="5466330"/>
            <a:ext cx="1358542" cy="3996000"/>
            <a:chOff x="7245345" y="5466330"/>
            <a:chExt cx="1358542" cy="3996000"/>
          </a:xfrm>
        </p:grpSpPr>
        <p:sp>
          <p:nvSpPr>
            <p:cNvPr id="34"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5" name="椭圆 34"/>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9" name="PA_组合 138"/>
          <p:cNvGrpSpPr/>
          <p:nvPr>
            <p:custDataLst>
              <p:tags r:id="rId7"/>
            </p:custDataLst>
          </p:nvPr>
        </p:nvGrpSpPr>
        <p:grpSpPr>
          <a:xfrm>
            <a:off x="10200063" y="5538058"/>
            <a:ext cx="1077041" cy="3168000"/>
            <a:chOff x="10231003" y="6243686"/>
            <a:chExt cx="1077041" cy="3168000"/>
          </a:xfrm>
        </p:grpSpPr>
        <p:sp>
          <p:nvSpPr>
            <p:cNvPr id="25"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26" name="椭圆 25"/>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103" name="PA_文本框 18"/>
          <p:cNvSpPr txBox="1"/>
          <p:nvPr>
            <p:custDataLst>
              <p:tags r:id="rId8"/>
            </p:custDataLst>
          </p:nvPr>
        </p:nvSpPr>
        <p:spPr>
          <a:xfrm>
            <a:off x="4390988" y="3156095"/>
            <a:ext cx="3647152" cy="923330"/>
          </a:xfrm>
          <a:prstGeom prst="rect">
            <a:avLst/>
          </a:prstGeom>
          <a:noFill/>
          <a:effectLst/>
        </p:spPr>
        <p:txBody>
          <a:bodyPr wrap="none" rtlCol="0" anchor="b" anchorCtr="0">
            <a:spAutoFit/>
          </a:bodyPr>
          <a:lstStyle>
            <a:defPPr>
              <a:defRPr lang="zh-CN"/>
            </a:defPPr>
            <a:lvl1pPr>
              <a:defRPr sz="5400" b="1">
                <a:solidFill>
                  <a:srgbClr val="6BB2E1">
                    <a:lumMod val="75000"/>
                  </a:srgb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dirty="0">
                <a:solidFill>
                  <a:srgbClr val="009999"/>
                </a:solidFill>
                <a:latin typeface="Noto Sans S Chinese Medium" panose="020B0600000000000000" pitchFamily="34" charset="-122"/>
                <a:ea typeface="Noto Sans S Chinese Medium" panose="020B0600000000000000" pitchFamily="34" charset="-122"/>
                <a:sym typeface="+mn-lt"/>
              </a:rPr>
              <a:t>支持向量机</a:t>
            </a:r>
            <a:endParaRPr lang="zh-CN" altLang="en-US" dirty="0">
              <a:solidFill>
                <a:srgbClr val="009999"/>
              </a:solidFill>
              <a:latin typeface="Noto Sans S Chinese Medium" panose="020B0600000000000000" pitchFamily="34" charset="-122"/>
              <a:ea typeface="Noto Sans S Chinese Medium" panose="020B0600000000000000" pitchFamily="34" charset="-122"/>
              <a:sym typeface="+mn-lt"/>
            </a:endParaRPr>
          </a:p>
        </p:txBody>
      </p:sp>
      <p:sp>
        <p:nvSpPr>
          <p:cNvPr id="141" name="PA_文本框 140"/>
          <p:cNvSpPr txBox="1"/>
          <p:nvPr>
            <p:custDataLst>
              <p:tags r:id="rId9"/>
            </p:custDataLst>
          </p:nvPr>
        </p:nvSpPr>
        <p:spPr>
          <a:xfrm>
            <a:off x="986327" y="944000"/>
            <a:ext cx="2573140" cy="1200329"/>
          </a:xfrm>
          <a:prstGeom prst="rect">
            <a:avLst/>
          </a:prstGeom>
          <a:noFill/>
        </p:spPr>
        <p:txBody>
          <a:bodyPr wrap="none" rtlCol="0">
            <a:spAutoFit/>
          </a:bodyPr>
          <a:lstStyle/>
          <a:p>
            <a:r>
              <a:rPr lang="zh-CN" altLang="en-US" sz="7200" dirty="0" smtClean="0">
                <a:solidFill>
                  <a:srgbClr val="009999"/>
                </a:solidFill>
                <a:latin typeface="Noto Sans S Chinese Medium" panose="020B0600000000000000" pitchFamily="34" charset="-122"/>
                <a:ea typeface="Noto Sans S Chinese Medium" panose="020B0600000000000000" pitchFamily="34" charset="-122"/>
                <a:cs typeface="+mn-ea"/>
                <a:sym typeface="+mn-lt"/>
              </a:rPr>
              <a:t>第</a:t>
            </a:r>
            <a:r>
              <a:rPr lang="en-US" altLang="zh-CN" sz="7200" dirty="0" smtClean="0">
                <a:solidFill>
                  <a:srgbClr val="009999"/>
                </a:solidFill>
                <a:latin typeface="Noto Sans S Chinese Medium" panose="020B0600000000000000" pitchFamily="34" charset="-122"/>
                <a:ea typeface="Noto Sans S Chinese Medium" panose="020B0600000000000000" pitchFamily="34" charset="-122"/>
                <a:cs typeface="+mn-ea"/>
                <a:sym typeface="+mn-lt"/>
              </a:rPr>
              <a:t>6</a:t>
            </a:r>
            <a:r>
              <a:rPr lang="zh-CN" altLang="en-US" sz="7200" dirty="0" smtClean="0">
                <a:solidFill>
                  <a:srgbClr val="009999"/>
                </a:solidFill>
                <a:latin typeface="Noto Sans S Chinese Medium" panose="020B0600000000000000" pitchFamily="34" charset="-122"/>
                <a:ea typeface="Noto Sans S Chinese Medium" panose="020B0600000000000000" pitchFamily="34" charset="-122"/>
                <a:cs typeface="+mn-ea"/>
                <a:sym typeface="+mn-lt"/>
              </a:rPr>
              <a:t>章</a:t>
            </a:r>
            <a:endPar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5713365" y="-3153028"/>
            <a:ext cx="6311948" cy="6008653"/>
            <a:chOff x="5713365" y="-3153028"/>
            <a:chExt cx="6311948" cy="6008653"/>
          </a:xfrm>
        </p:grpSpPr>
        <p:grpSp>
          <p:nvGrpSpPr>
            <p:cNvPr id="402" name="组合 401"/>
            <p:cNvGrpSpPr/>
            <p:nvPr/>
          </p:nvGrpSpPr>
          <p:grpSpPr>
            <a:xfrm>
              <a:off x="8085157" y="-1579282"/>
              <a:ext cx="587486" cy="1728000"/>
              <a:chOff x="8085157" y="5279067"/>
              <a:chExt cx="587486" cy="1728000"/>
            </a:xfrm>
          </p:grpSpPr>
          <p:sp>
            <p:nvSpPr>
              <p:cNvPr id="403" name="等腰三角形 9_4"/>
              <p:cNvSpPr/>
              <p:nvPr/>
            </p:nvSpPr>
            <p:spPr>
              <a:xfrm rot="10800000">
                <a:off x="8085157" y="5546117"/>
                <a:ext cx="587486" cy="1460950"/>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04" name="椭圆 403"/>
              <p:cNvSpPr>
                <a:spLocks noChangeAspect="1"/>
              </p:cNvSpPr>
              <p:nvPr/>
            </p:nvSpPr>
            <p:spPr>
              <a:xfrm>
                <a:off x="8111847" y="5279067"/>
                <a:ext cx="534106" cy="534099"/>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08" name="组合 407"/>
            <p:cNvGrpSpPr/>
            <p:nvPr/>
          </p:nvGrpSpPr>
          <p:grpSpPr>
            <a:xfrm>
              <a:off x="8930899" y="-1838751"/>
              <a:ext cx="771066" cy="2268000"/>
              <a:chOff x="8930899" y="5019598"/>
              <a:chExt cx="771066" cy="2268000"/>
            </a:xfrm>
          </p:grpSpPr>
          <p:sp>
            <p:nvSpPr>
              <p:cNvPr id="409" name="等腰三角形 9_8"/>
              <p:cNvSpPr/>
              <p:nvPr/>
            </p:nvSpPr>
            <p:spPr>
              <a:xfrm rot="10800000">
                <a:off x="8930899" y="5370100"/>
                <a:ext cx="771066" cy="191749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0" name="椭圆 409"/>
              <p:cNvSpPr>
                <a:spLocks noChangeAspect="1"/>
              </p:cNvSpPr>
              <p:nvPr/>
            </p:nvSpPr>
            <p:spPr>
              <a:xfrm>
                <a:off x="8965930" y="5019598"/>
                <a:ext cx="701006" cy="701005"/>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14" name="组合 413"/>
            <p:cNvGrpSpPr/>
            <p:nvPr/>
          </p:nvGrpSpPr>
          <p:grpSpPr>
            <a:xfrm>
              <a:off x="8491539" y="-3153028"/>
              <a:ext cx="1248391" cy="3672000"/>
              <a:chOff x="8491539" y="3705321"/>
              <a:chExt cx="1248391" cy="3672000"/>
            </a:xfrm>
          </p:grpSpPr>
          <p:sp>
            <p:nvSpPr>
              <p:cNvPr id="415" name="等腰三角形 9_12"/>
              <p:cNvSpPr/>
              <p:nvPr/>
            </p:nvSpPr>
            <p:spPr>
              <a:xfrm rot="10800000">
                <a:off x="8491539" y="4272801"/>
                <a:ext cx="1248391" cy="3104520"/>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6" name="椭圆 415"/>
              <p:cNvSpPr>
                <a:spLocks noChangeAspect="1"/>
              </p:cNvSpPr>
              <p:nvPr/>
            </p:nvSpPr>
            <p:spPr>
              <a:xfrm>
                <a:off x="8548254" y="3705321"/>
                <a:ext cx="1134960" cy="1134960"/>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17" name="组合 416"/>
            <p:cNvGrpSpPr/>
            <p:nvPr/>
          </p:nvGrpSpPr>
          <p:grpSpPr>
            <a:xfrm>
              <a:off x="7678206" y="-2685027"/>
              <a:ext cx="905695" cy="2664001"/>
              <a:chOff x="7678206" y="4173322"/>
              <a:chExt cx="905695" cy="2664001"/>
            </a:xfrm>
          </p:grpSpPr>
          <p:sp>
            <p:nvSpPr>
              <p:cNvPr id="418" name="等腰三角形 9_14"/>
              <p:cNvSpPr/>
              <p:nvPr/>
            </p:nvSpPr>
            <p:spPr>
              <a:xfrm rot="10800000">
                <a:off x="7678206" y="4585024"/>
                <a:ext cx="905695" cy="225229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9" name="椭圆 418"/>
              <p:cNvSpPr>
                <a:spLocks noChangeAspect="1"/>
              </p:cNvSpPr>
              <p:nvPr/>
            </p:nvSpPr>
            <p:spPr>
              <a:xfrm>
                <a:off x="7719353" y="4173322"/>
                <a:ext cx="823402" cy="823403"/>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0" name="组合 419"/>
            <p:cNvGrpSpPr/>
            <p:nvPr/>
          </p:nvGrpSpPr>
          <p:grpSpPr>
            <a:xfrm>
              <a:off x="8158768" y="-2346784"/>
              <a:ext cx="942412" cy="2772000"/>
              <a:chOff x="8158768" y="4511565"/>
              <a:chExt cx="942412" cy="2772000"/>
            </a:xfrm>
          </p:grpSpPr>
          <p:sp>
            <p:nvSpPr>
              <p:cNvPr id="421" name="等腰三角形 9_16"/>
              <p:cNvSpPr/>
              <p:nvPr/>
            </p:nvSpPr>
            <p:spPr>
              <a:xfrm rot="10800000">
                <a:off x="8158768" y="4939957"/>
                <a:ext cx="942412" cy="234360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22" name="椭圆 421"/>
              <p:cNvSpPr>
                <a:spLocks noChangeAspect="1"/>
              </p:cNvSpPr>
              <p:nvPr/>
            </p:nvSpPr>
            <p:spPr>
              <a:xfrm>
                <a:off x="8201583" y="4511565"/>
                <a:ext cx="856783" cy="85678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3" name="组合 422"/>
            <p:cNvGrpSpPr/>
            <p:nvPr/>
          </p:nvGrpSpPr>
          <p:grpSpPr>
            <a:xfrm>
              <a:off x="11309411" y="-847185"/>
              <a:ext cx="715902" cy="1980000"/>
              <a:chOff x="11309411" y="6011164"/>
              <a:chExt cx="715902" cy="1980000"/>
            </a:xfrm>
          </p:grpSpPr>
          <p:sp>
            <p:nvSpPr>
              <p:cNvPr id="424" name="等腰三角形 9_18"/>
              <p:cNvSpPr/>
              <p:nvPr/>
            </p:nvSpPr>
            <p:spPr>
              <a:xfrm rot="10800000">
                <a:off x="11309411" y="6317158"/>
                <a:ext cx="715902" cy="167400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25" name="椭圆 424"/>
              <p:cNvSpPr>
                <a:spLocks noChangeAspect="1"/>
              </p:cNvSpPr>
              <p:nvPr/>
            </p:nvSpPr>
            <p:spPr>
              <a:xfrm>
                <a:off x="11361368" y="6011164"/>
                <a:ext cx="611990" cy="61198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6" name="组合 425"/>
            <p:cNvGrpSpPr/>
            <p:nvPr/>
          </p:nvGrpSpPr>
          <p:grpSpPr>
            <a:xfrm>
              <a:off x="9272737" y="-684692"/>
              <a:ext cx="868978" cy="2556000"/>
              <a:chOff x="9272737" y="6173657"/>
              <a:chExt cx="868978" cy="2556000"/>
            </a:xfrm>
          </p:grpSpPr>
          <p:sp>
            <p:nvSpPr>
              <p:cNvPr id="427"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28" name="椭圆 427"/>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9" name="组合 428"/>
            <p:cNvGrpSpPr/>
            <p:nvPr/>
          </p:nvGrpSpPr>
          <p:grpSpPr>
            <a:xfrm>
              <a:off x="8447464" y="-1278114"/>
              <a:ext cx="1174957" cy="3455999"/>
              <a:chOff x="8447464" y="5580235"/>
              <a:chExt cx="1174957" cy="3455999"/>
            </a:xfrm>
          </p:grpSpPr>
          <p:sp>
            <p:nvSpPr>
              <p:cNvPr id="43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31" name="椭圆 43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32" name="组合 431"/>
            <p:cNvGrpSpPr/>
            <p:nvPr/>
          </p:nvGrpSpPr>
          <p:grpSpPr>
            <a:xfrm>
              <a:off x="5713365" y="-2216284"/>
              <a:ext cx="1358547" cy="3996000"/>
              <a:chOff x="5713365" y="4642065"/>
              <a:chExt cx="1358547" cy="3996000"/>
            </a:xfrm>
          </p:grpSpPr>
          <p:sp>
            <p:nvSpPr>
              <p:cNvPr id="43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34" name="椭圆 43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35" name="组合 434"/>
            <p:cNvGrpSpPr/>
            <p:nvPr/>
          </p:nvGrpSpPr>
          <p:grpSpPr>
            <a:xfrm>
              <a:off x="7146608" y="-1854039"/>
              <a:ext cx="820027" cy="2412000"/>
              <a:chOff x="7146608" y="5004310"/>
              <a:chExt cx="820027" cy="2412000"/>
            </a:xfrm>
          </p:grpSpPr>
          <p:sp>
            <p:nvSpPr>
              <p:cNvPr id="436" name="等腰三角形 9_26"/>
              <p:cNvSpPr/>
              <p:nvPr/>
            </p:nvSpPr>
            <p:spPr>
              <a:xfrm rot="10800000">
                <a:off x="7146608" y="5377067"/>
                <a:ext cx="820027" cy="2039243"/>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37" name="椭圆 436"/>
              <p:cNvSpPr>
                <a:spLocks noChangeAspect="1"/>
              </p:cNvSpPr>
              <p:nvPr/>
            </p:nvSpPr>
            <p:spPr>
              <a:xfrm>
                <a:off x="7183863" y="5004310"/>
                <a:ext cx="745518" cy="745513"/>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38" name="组合 437"/>
            <p:cNvGrpSpPr/>
            <p:nvPr/>
          </p:nvGrpSpPr>
          <p:grpSpPr>
            <a:xfrm>
              <a:off x="6965950" y="-2432198"/>
              <a:ext cx="879620" cy="2555999"/>
              <a:chOff x="6965950" y="4426151"/>
              <a:chExt cx="879620" cy="2555999"/>
            </a:xfrm>
          </p:grpSpPr>
          <p:sp>
            <p:nvSpPr>
              <p:cNvPr id="439" name="等腰三角形 9_28"/>
              <p:cNvSpPr/>
              <p:nvPr/>
            </p:nvSpPr>
            <p:spPr>
              <a:xfrm rot="10800000">
                <a:off x="6965950" y="4821161"/>
                <a:ext cx="879620"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0" name="椭圆 439"/>
              <p:cNvSpPr>
                <a:spLocks noChangeAspect="1"/>
              </p:cNvSpPr>
              <p:nvPr/>
            </p:nvSpPr>
            <p:spPr>
              <a:xfrm>
                <a:off x="7010750" y="4426151"/>
                <a:ext cx="790022" cy="790021"/>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65" name="组合 464"/>
            <p:cNvGrpSpPr/>
            <p:nvPr/>
          </p:nvGrpSpPr>
          <p:grpSpPr>
            <a:xfrm>
              <a:off x="7245345" y="-1392019"/>
              <a:ext cx="1358542" cy="3996000"/>
              <a:chOff x="7245345" y="5466330"/>
              <a:chExt cx="1358542" cy="3996000"/>
            </a:xfrm>
          </p:grpSpPr>
          <p:sp>
            <p:nvSpPr>
              <p:cNvPr id="466"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67" name="椭圆 466"/>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68" name="组合 467"/>
            <p:cNvGrpSpPr/>
            <p:nvPr/>
          </p:nvGrpSpPr>
          <p:grpSpPr>
            <a:xfrm>
              <a:off x="6696365" y="-1511431"/>
              <a:ext cx="917938" cy="2700000"/>
              <a:chOff x="6696365" y="5346918"/>
              <a:chExt cx="917938" cy="2700000"/>
            </a:xfrm>
          </p:grpSpPr>
          <p:sp>
            <p:nvSpPr>
              <p:cNvPr id="469" name="等腰三角形 9_48"/>
              <p:cNvSpPr/>
              <p:nvPr/>
            </p:nvSpPr>
            <p:spPr>
              <a:xfrm rot="10800000">
                <a:off x="6696365" y="5764183"/>
                <a:ext cx="917938" cy="22827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70" name="椭圆 469"/>
              <p:cNvSpPr>
                <a:spLocks noChangeAspect="1"/>
              </p:cNvSpPr>
              <p:nvPr/>
            </p:nvSpPr>
            <p:spPr>
              <a:xfrm>
                <a:off x="6738068" y="5346918"/>
                <a:ext cx="834533" cy="83453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71" name="组合 470"/>
            <p:cNvGrpSpPr/>
            <p:nvPr/>
          </p:nvGrpSpPr>
          <p:grpSpPr>
            <a:xfrm>
              <a:off x="6245184" y="-600374"/>
              <a:ext cx="1174953" cy="3455999"/>
              <a:chOff x="6245184" y="6257975"/>
              <a:chExt cx="1174953" cy="3455999"/>
            </a:xfrm>
          </p:grpSpPr>
          <p:sp>
            <p:nvSpPr>
              <p:cNvPr id="472" name="等腰三角形 9_50"/>
              <p:cNvSpPr/>
              <p:nvPr/>
            </p:nvSpPr>
            <p:spPr>
              <a:xfrm rot="10800000">
                <a:off x="6245184" y="6792073"/>
                <a:ext cx="1174953"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73" name="椭圆 472"/>
              <p:cNvSpPr>
                <a:spLocks noChangeAspect="1"/>
              </p:cNvSpPr>
              <p:nvPr/>
            </p:nvSpPr>
            <p:spPr>
              <a:xfrm>
                <a:off x="6298564" y="6257975"/>
                <a:ext cx="1068195" cy="1068198"/>
              </a:xfrm>
              <a:prstGeom prst="ellipse">
                <a:avLst/>
              </a:prstGeom>
              <a:gradFill>
                <a:gsLst>
                  <a:gs pos="0">
                    <a:schemeClr val="bg1"/>
                  </a:gs>
                  <a:gs pos="60000">
                    <a:schemeClr val="bg2"/>
                  </a:gs>
                  <a:gs pos="100000">
                    <a:schemeClr val="bg1">
                      <a:lumMod val="85000"/>
                    </a:schemeClr>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77" name="组合 476"/>
            <p:cNvGrpSpPr/>
            <p:nvPr/>
          </p:nvGrpSpPr>
          <p:grpSpPr>
            <a:xfrm>
              <a:off x="9417129" y="-1960953"/>
              <a:ext cx="1077041" cy="3168000"/>
              <a:chOff x="9417129" y="4897396"/>
              <a:chExt cx="1077041" cy="3168000"/>
            </a:xfrm>
          </p:grpSpPr>
          <p:sp>
            <p:nvSpPr>
              <p:cNvPr id="478" name="等腰三角形 9_54"/>
              <p:cNvSpPr/>
              <p:nvPr/>
            </p:nvSpPr>
            <p:spPr>
              <a:xfrm rot="10800000">
                <a:off x="9417129" y="538698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79" name="椭圆 478"/>
              <p:cNvSpPr>
                <a:spLocks noChangeAspect="1"/>
              </p:cNvSpPr>
              <p:nvPr/>
            </p:nvSpPr>
            <p:spPr>
              <a:xfrm>
                <a:off x="9466061" y="4897396"/>
                <a:ext cx="979179" cy="979182"/>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80" name="组合 479"/>
            <p:cNvGrpSpPr/>
            <p:nvPr/>
          </p:nvGrpSpPr>
          <p:grpSpPr>
            <a:xfrm>
              <a:off x="10073620" y="-1211944"/>
              <a:ext cx="632480" cy="1692000"/>
              <a:chOff x="10073620" y="5646405"/>
              <a:chExt cx="632480" cy="1692000"/>
            </a:xfrm>
          </p:grpSpPr>
          <p:sp>
            <p:nvSpPr>
              <p:cNvPr id="481" name="等腰三角形 9_56"/>
              <p:cNvSpPr/>
              <p:nvPr/>
            </p:nvSpPr>
            <p:spPr>
              <a:xfrm rot="10800000">
                <a:off x="10073620" y="5907891"/>
                <a:ext cx="632480" cy="143051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82" name="椭圆 481"/>
              <p:cNvSpPr>
                <a:spLocks noChangeAspect="1"/>
              </p:cNvSpPr>
              <p:nvPr/>
            </p:nvSpPr>
            <p:spPr>
              <a:xfrm>
                <a:off x="10128371" y="5646405"/>
                <a:ext cx="522979" cy="522972"/>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83" name="组合 482"/>
            <p:cNvGrpSpPr/>
            <p:nvPr/>
          </p:nvGrpSpPr>
          <p:grpSpPr>
            <a:xfrm>
              <a:off x="10231003" y="-614663"/>
              <a:ext cx="1077041" cy="3168000"/>
              <a:chOff x="10231003" y="6243686"/>
              <a:chExt cx="1077041" cy="3168000"/>
            </a:xfrm>
          </p:grpSpPr>
          <p:sp>
            <p:nvSpPr>
              <p:cNvPr id="484"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85" name="椭圆 484"/>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sp>
        <p:nvSpPr>
          <p:cNvPr id="20" name="弧形 19"/>
          <p:cNvSpPr/>
          <p:nvPr/>
        </p:nvSpPr>
        <p:spPr>
          <a:xfrm>
            <a:off x="-2290773" y="-1637259"/>
            <a:ext cx="4767943" cy="4767943"/>
          </a:xfrm>
          <a:prstGeom prst="arc">
            <a:avLst>
              <a:gd name="adj1" fmla="val 1279359"/>
              <a:gd name="adj2" fmla="val 188280"/>
            </a:avLst>
          </a:prstGeom>
          <a:ln>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sp>
        <p:nvSpPr>
          <p:cNvPr id="53" name="任意多边形 52"/>
          <p:cNvSpPr/>
          <p:nvPr/>
        </p:nvSpPr>
        <p:spPr>
          <a:xfrm>
            <a:off x="-57150" y="5408413"/>
            <a:ext cx="12325350" cy="1330769"/>
          </a:xfrm>
          <a:custGeom>
            <a:avLst/>
            <a:gdLst>
              <a:gd name="connsiteX0" fmla="*/ 0 w 12325350"/>
              <a:gd name="connsiteY0" fmla="*/ 859037 h 1330769"/>
              <a:gd name="connsiteX1" fmla="*/ 323850 w 12325350"/>
              <a:gd name="connsiteY1" fmla="*/ 478037 h 1330769"/>
              <a:gd name="connsiteX2" fmla="*/ 638175 w 12325350"/>
              <a:gd name="connsiteY2" fmla="*/ 220862 h 1330769"/>
              <a:gd name="connsiteX3" fmla="*/ 895350 w 12325350"/>
              <a:gd name="connsiteY3" fmla="*/ 97037 h 1330769"/>
              <a:gd name="connsiteX4" fmla="*/ 1200150 w 12325350"/>
              <a:gd name="connsiteY4" fmla="*/ 135137 h 1330769"/>
              <a:gd name="connsiteX5" fmla="*/ 1419225 w 12325350"/>
              <a:gd name="connsiteY5" fmla="*/ 306587 h 1330769"/>
              <a:gd name="connsiteX6" fmla="*/ 1800225 w 12325350"/>
              <a:gd name="connsiteY6" fmla="*/ 754262 h 1330769"/>
              <a:gd name="connsiteX7" fmla="*/ 2105025 w 12325350"/>
              <a:gd name="connsiteY7" fmla="*/ 1040012 h 1330769"/>
              <a:gd name="connsiteX8" fmla="*/ 2305050 w 12325350"/>
              <a:gd name="connsiteY8" fmla="*/ 1173362 h 1330769"/>
              <a:gd name="connsiteX9" fmla="*/ 2533650 w 12325350"/>
              <a:gd name="connsiteY9" fmla="*/ 1240037 h 1330769"/>
              <a:gd name="connsiteX10" fmla="*/ 3000375 w 12325350"/>
              <a:gd name="connsiteY10" fmla="*/ 1173362 h 1330769"/>
              <a:gd name="connsiteX11" fmla="*/ 3914775 w 12325350"/>
              <a:gd name="connsiteY11" fmla="*/ 639962 h 1330769"/>
              <a:gd name="connsiteX12" fmla="*/ 4629150 w 12325350"/>
              <a:gd name="connsiteY12" fmla="*/ 230387 h 1330769"/>
              <a:gd name="connsiteX13" fmla="*/ 5124450 w 12325350"/>
              <a:gd name="connsiteY13" fmla="*/ 58937 h 1330769"/>
              <a:gd name="connsiteX14" fmla="*/ 5495925 w 12325350"/>
              <a:gd name="connsiteY14" fmla="*/ 30362 h 1330769"/>
              <a:gd name="connsiteX15" fmla="*/ 6181725 w 12325350"/>
              <a:gd name="connsiteY15" fmla="*/ 468512 h 1330769"/>
              <a:gd name="connsiteX16" fmla="*/ 6781800 w 12325350"/>
              <a:gd name="connsiteY16" fmla="*/ 1154312 h 1330769"/>
              <a:gd name="connsiteX17" fmla="*/ 7191375 w 12325350"/>
              <a:gd name="connsiteY17" fmla="*/ 1325762 h 1330769"/>
              <a:gd name="connsiteX18" fmla="*/ 7648575 w 12325350"/>
              <a:gd name="connsiteY18" fmla="*/ 1020962 h 1330769"/>
              <a:gd name="connsiteX19" fmla="*/ 8181975 w 12325350"/>
              <a:gd name="connsiteY19" fmla="*/ 316112 h 1330769"/>
              <a:gd name="connsiteX20" fmla="*/ 8505825 w 12325350"/>
              <a:gd name="connsiteY20" fmla="*/ 68462 h 1330769"/>
              <a:gd name="connsiteX21" fmla="*/ 8848725 w 12325350"/>
              <a:gd name="connsiteY21" fmla="*/ 163712 h 1330769"/>
              <a:gd name="connsiteX22" fmla="*/ 9391650 w 12325350"/>
              <a:gd name="connsiteY22" fmla="*/ 782837 h 1330769"/>
              <a:gd name="connsiteX23" fmla="*/ 9839325 w 12325350"/>
              <a:gd name="connsiteY23" fmla="*/ 1230512 h 1330769"/>
              <a:gd name="connsiteX24" fmla="*/ 10267950 w 12325350"/>
              <a:gd name="connsiteY24" fmla="*/ 1240037 h 1330769"/>
              <a:gd name="connsiteX25" fmla="*/ 10839450 w 12325350"/>
              <a:gd name="connsiteY25" fmla="*/ 782837 h 1330769"/>
              <a:gd name="connsiteX26" fmla="*/ 11153775 w 12325350"/>
              <a:gd name="connsiteY26" fmla="*/ 487562 h 1330769"/>
              <a:gd name="connsiteX27" fmla="*/ 11563350 w 12325350"/>
              <a:gd name="connsiteY27" fmla="*/ 354212 h 1330769"/>
              <a:gd name="connsiteX28" fmla="*/ 11896725 w 12325350"/>
              <a:gd name="connsiteY28" fmla="*/ 439937 h 1330769"/>
              <a:gd name="connsiteX29" fmla="*/ 12325350 w 12325350"/>
              <a:gd name="connsiteY29" fmla="*/ 763787 h 1330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325350" h="1330769">
                <a:moveTo>
                  <a:pt x="0" y="859037"/>
                </a:moveTo>
                <a:cubicBezTo>
                  <a:pt x="108744" y="721718"/>
                  <a:pt x="217488" y="584399"/>
                  <a:pt x="323850" y="478037"/>
                </a:cubicBezTo>
                <a:cubicBezTo>
                  <a:pt x="430212" y="371675"/>
                  <a:pt x="542925" y="284362"/>
                  <a:pt x="638175" y="220862"/>
                </a:cubicBezTo>
                <a:cubicBezTo>
                  <a:pt x="733425" y="157362"/>
                  <a:pt x="801688" y="111324"/>
                  <a:pt x="895350" y="97037"/>
                </a:cubicBezTo>
                <a:cubicBezTo>
                  <a:pt x="989012" y="82750"/>
                  <a:pt x="1112838" y="100212"/>
                  <a:pt x="1200150" y="135137"/>
                </a:cubicBezTo>
                <a:cubicBezTo>
                  <a:pt x="1287462" y="170062"/>
                  <a:pt x="1319213" y="203400"/>
                  <a:pt x="1419225" y="306587"/>
                </a:cubicBezTo>
                <a:cubicBezTo>
                  <a:pt x="1519237" y="409774"/>
                  <a:pt x="1685925" y="632025"/>
                  <a:pt x="1800225" y="754262"/>
                </a:cubicBezTo>
                <a:cubicBezTo>
                  <a:pt x="1914525" y="876499"/>
                  <a:pt x="2020888" y="970162"/>
                  <a:pt x="2105025" y="1040012"/>
                </a:cubicBezTo>
                <a:cubicBezTo>
                  <a:pt x="2189163" y="1109862"/>
                  <a:pt x="2233613" y="1140025"/>
                  <a:pt x="2305050" y="1173362"/>
                </a:cubicBezTo>
                <a:cubicBezTo>
                  <a:pt x="2376487" y="1206699"/>
                  <a:pt x="2417763" y="1240037"/>
                  <a:pt x="2533650" y="1240037"/>
                </a:cubicBezTo>
                <a:cubicBezTo>
                  <a:pt x="2649537" y="1240037"/>
                  <a:pt x="2770188" y="1273374"/>
                  <a:pt x="3000375" y="1173362"/>
                </a:cubicBezTo>
                <a:cubicBezTo>
                  <a:pt x="3230562" y="1073350"/>
                  <a:pt x="3914775" y="639962"/>
                  <a:pt x="3914775" y="639962"/>
                </a:cubicBezTo>
                <a:cubicBezTo>
                  <a:pt x="4186238" y="482799"/>
                  <a:pt x="4427538" y="327224"/>
                  <a:pt x="4629150" y="230387"/>
                </a:cubicBezTo>
                <a:cubicBezTo>
                  <a:pt x="4830763" y="133549"/>
                  <a:pt x="4979988" y="92274"/>
                  <a:pt x="5124450" y="58937"/>
                </a:cubicBezTo>
                <a:cubicBezTo>
                  <a:pt x="5268913" y="25599"/>
                  <a:pt x="5319713" y="-37900"/>
                  <a:pt x="5495925" y="30362"/>
                </a:cubicBezTo>
                <a:cubicBezTo>
                  <a:pt x="5672137" y="98624"/>
                  <a:pt x="5967412" y="281187"/>
                  <a:pt x="6181725" y="468512"/>
                </a:cubicBezTo>
                <a:cubicBezTo>
                  <a:pt x="6396038" y="655837"/>
                  <a:pt x="6613525" y="1011437"/>
                  <a:pt x="6781800" y="1154312"/>
                </a:cubicBezTo>
                <a:cubicBezTo>
                  <a:pt x="6950075" y="1297187"/>
                  <a:pt x="7046913" y="1347987"/>
                  <a:pt x="7191375" y="1325762"/>
                </a:cubicBezTo>
                <a:cubicBezTo>
                  <a:pt x="7335837" y="1303537"/>
                  <a:pt x="7483475" y="1189237"/>
                  <a:pt x="7648575" y="1020962"/>
                </a:cubicBezTo>
                <a:cubicBezTo>
                  <a:pt x="7813675" y="852687"/>
                  <a:pt x="8039100" y="474862"/>
                  <a:pt x="8181975" y="316112"/>
                </a:cubicBezTo>
                <a:cubicBezTo>
                  <a:pt x="8324850" y="157362"/>
                  <a:pt x="8394700" y="93862"/>
                  <a:pt x="8505825" y="68462"/>
                </a:cubicBezTo>
                <a:cubicBezTo>
                  <a:pt x="8616950" y="43062"/>
                  <a:pt x="8701087" y="44649"/>
                  <a:pt x="8848725" y="163712"/>
                </a:cubicBezTo>
                <a:cubicBezTo>
                  <a:pt x="8996363" y="282775"/>
                  <a:pt x="9226550" y="605037"/>
                  <a:pt x="9391650" y="782837"/>
                </a:cubicBezTo>
                <a:cubicBezTo>
                  <a:pt x="9556750" y="960637"/>
                  <a:pt x="9693275" y="1154312"/>
                  <a:pt x="9839325" y="1230512"/>
                </a:cubicBezTo>
                <a:cubicBezTo>
                  <a:pt x="9985375" y="1306712"/>
                  <a:pt x="10101263" y="1314649"/>
                  <a:pt x="10267950" y="1240037"/>
                </a:cubicBezTo>
                <a:cubicBezTo>
                  <a:pt x="10434637" y="1165425"/>
                  <a:pt x="10691813" y="908249"/>
                  <a:pt x="10839450" y="782837"/>
                </a:cubicBezTo>
                <a:cubicBezTo>
                  <a:pt x="10987087" y="657425"/>
                  <a:pt x="11033125" y="558999"/>
                  <a:pt x="11153775" y="487562"/>
                </a:cubicBezTo>
                <a:cubicBezTo>
                  <a:pt x="11274425" y="416125"/>
                  <a:pt x="11439525" y="362149"/>
                  <a:pt x="11563350" y="354212"/>
                </a:cubicBezTo>
                <a:cubicBezTo>
                  <a:pt x="11687175" y="346274"/>
                  <a:pt x="11769725" y="371674"/>
                  <a:pt x="11896725" y="439937"/>
                </a:cubicBezTo>
                <a:cubicBezTo>
                  <a:pt x="12023725" y="508199"/>
                  <a:pt x="12174537" y="635993"/>
                  <a:pt x="12325350" y="763787"/>
                </a:cubicBezTo>
              </a:path>
            </a:pathLst>
          </a:custGeom>
          <a:noFill/>
          <a:ln w="25400" cap="rnd" cmpd="sng" algn="ctr">
            <a:solidFill>
              <a:srgbClr val="7C7C7C"/>
            </a:solidFill>
            <a:prstDash val="dash"/>
            <a:miter lim="800000"/>
          </a:ln>
          <a:effectLst/>
        </p:spPr>
        <p:txBody>
          <a:bodyPr rtlCol="0" anchor="ctr"/>
          <a:lstStyle/>
          <a:p>
            <a:pPr algn="ctr"/>
            <a:endParaRPr lang="zh-CN" altLang="en-US" kern="0">
              <a:solidFill>
                <a:prstClr val="white"/>
              </a:solidFill>
              <a:cs typeface="+mn-ea"/>
              <a:sym typeface="+mn-lt"/>
            </a:endParaRPr>
          </a:p>
        </p:txBody>
      </p:sp>
      <p:grpSp>
        <p:nvGrpSpPr>
          <p:cNvPr id="2" name="组合 1"/>
          <p:cNvGrpSpPr/>
          <p:nvPr/>
        </p:nvGrpSpPr>
        <p:grpSpPr>
          <a:xfrm>
            <a:off x="466871" y="5167055"/>
            <a:ext cx="1008000" cy="2936689"/>
            <a:chOff x="466871" y="5154355"/>
            <a:chExt cx="1008000" cy="2936689"/>
          </a:xfrm>
        </p:grpSpPr>
        <p:sp>
          <p:nvSpPr>
            <p:cNvPr id="48" name="等腰三角形 9"/>
            <p:cNvSpPr/>
            <p:nvPr/>
          </p:nvSpPr>
          <p:spPr>
            <a:xfrm rot="10800000">
              <a:off x="466871" y="5608198"/>
              <a:ext cx="1008000" cy="248284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9" name="椭圆 48"/>
            <p:cNvSpPr>
              <a:spLocks noChangeAspect="1"/>
            </p:cNvSpPr>
            <p:nvPr/>
          </p:nvSpPr>
          <p:spPr>
            <a:xfrm>
              <a:off x="517029" y="5154355"/>
              <a:ext cx="907686" cy="907687"/>
            </a:xfrm>
            <a:prstGeom prst="ellipse">
              <a:avLst/>
            </a:prstGeom>
            <a:gradFill>
              <a:gsLst>
                <a:gs pos="0">
                  <a:schemeClr val="bg1"/>
                </a:gs>
                <a:gs pos="60000">
                  <a:schemeClr val="bg2"/>
                </a:gs>
                <a:gs pos="100000">
                  <a:schemeClr val="bg1">
                    <a:lumMod val="85000"/>
                  </a:schemeClr>
                </a:gs>
              </a:gsLst>
              <a:lin ang="5400000" scaled="1"/>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p:nvPr/>
        </p:nvGrpSpPr>
        <p:grpSpPr>
          <a:xfrm>
            <a:off x="1745295" y="6092326"/>
            <a:ext cx="741401" cy="2160000"/>
            <a:chOff x="1770695" y="6092326"/>
            <a:chExt cx="741401" cy="2160000"/>
          </a:xfrm>
        </p:grpSpPr>
        <p:sp>
          <p:nvSpPr>
            <p:cNvPr id="51" name="等腰三角形 9"/>
            <p:cNvSpPr/>
            <p:nvPr/>
          </p:nvSpPr>
          <p:spPr>
            <a:xfrm rot="10800000">
              <a:off x="1770695" y="6426137"/>
              <a:ext cx="741401" cy="18261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2" name="椭圆 51"/>
            <p:cNvSpPr>
              <a:spLocks noChangeAspect="1"/>
            </p:cNvSpPr>
            <p:nvPr/>
          </p:nvSpPr>
          <p:spPr>
            <a:xfrm>
              <a:off x="1807586" y="6092326"/>
              <a:ext cx="669600" cy="669605"/>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5" name="组合 4"/>
          <p:cNvGrpSpPr/>
          <p:nvPr/>
        </p:nvGrpSpPr>
        <p:grpSpPr>
          <a:xfrm>
            <a:off x="3127820" y="6074100"/>
            <a:ext cx="605980" cy="1656000"/>
            <a:chOff x="3127820" y="6086800"/>
            <a:chExt cx="605980" cy="1656000"/>
          </a:xfrm>
        </p:grpSpPr>
        <p:sp>
          <p:nvSpPr>
            <p:cNvPr id="76" name="等腰三角形 9"/>
            <p:cNvSpPr/>
            <p:nvPr/>
          </p:nvSpPr>
          <p:spPr>
            <a:xfrm rot="10800000">
              <a:off x="3127820" y="6342722"/>
              <a:ext cx="605980" cy="140007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77" name="椭圆 76"/>
            <p:cNvSpPr>
              <a:spLocks noChangeAspect="1"/>
            </p:cNvSpPr>
            <p:nvPr/>
          </p:nvSpPr>
          <p:spPr>
            <a:xfrm>
              <a:off x="3174892" y="6086800"/>
              <a:ext cx="513356" cy="51336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6" name="组合 5"/>
          <p:cNvGrpSpPr/>
          <p:nvPr/>
        </p:nvGrpSpPr>
        <p:grpSpPr>
          <a:xfrm>
            <a:off x="4445045" y="5183458"/>
            <a:ext cx="864000" cy="2517173"/>
            <a:chOff x="4445045" y="5208858"/>
            <a:chExt cx="864000" cy="2517173"/>
          </a:xfrm>
        </p:grpSpPr>
        <p:sp>
          <p:nvSpPr>
            <p:cNvPr id="79" name="等腰三角形 9"/>
            <p:cNvSpPr/>
            <p:nvPr/>
          </p:nvSpPr>
          <p:spPr>
            <a:xfrm rot="10800000">
              <a:off x="4445045" y="5597868"/>
              <a:ext cx="864000" cy="2128163"/>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0" name="椭圆 79"/>
            <p:cNvSpPr>
              <a:spLocks noChangeAspect="1"/>
            </p:cNvSpPr>
            <p:nvPr/>
          </p:nvSpPr>
          <p:spPr>
            <a:xfrm>
              <a:off x="4488037" y="5208858"/>
              <a:ext cx="780326" cy="780329"/>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7" name="组合 6"/>
          <p:cNvGrpSpPr/>
          <p:nvPr/>
        </p:nvGrpSpPr>
        <p:grpSpPr>
          <a:xfrm>
            <a:off x="5845726" y="5660469"/>
            <a:ext cx="1037968" cy="3024000"/>
            <a:chOff x="5845726" y="5660469"/>
            <a:chExt cx="1037968" cy="3024000"/>
          </a:xfrm>
        </p:grpSpPr>
        <p:sp>
          <p:nvSpPr>
            <p:cNvPr id="82" name="等腰三角形 9"/>
            <p:cNvSpPr/>
            <p:nvPr/>
          </p:nvSpPr>
          <p:spPr>
            <a:xfrm rot="10800000">
              <a:off x="5845726" y="6127805"/>
              <a:ext cx="1037968" cy="255666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3" name="椭圆 82"/>
            <p:cNvSpPr>
              <a:spLocks noChangeAspect="1"/>
            </p:cNvSpPr>
            <p:nvPr/>
          </p:nvSpPr>
          <p:spPr>
            <a:xfrm>
              <a:off x="5897374" y="5660469"/>
              <a:ext cx="937446" cy="937447"/>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8" name="组合 7"/>
          <p:cNvGrpSpPr/>
          <p:nvPr/>
        </p:nvGrpSpPr>
        <p:grpSpPr>
          <a:xfrm>
            <a:off x="8682069" y="5544686"/>
            <a:ext cx="654812" cy="1783018"/>
            <a:chOff x="8682069" y="5557386"/>
            <a:chExt cx="654812" cy="1783018"/>
          </a:xfrm>
        </p:grpSpPr>
        <p:sp>
          <p:nvSpPr>
            <p:cNvPr id="85" name="等腰三角形 9"/>
            <p:cNvSpPr/>
            <p:nvPr/>
          </p:nvSpPr>
          <p:spPr>
            <a:xfrm rot="10800000">
              <a:off x="8682069" y="5832938"/>
              <a:ext cx="654812" cy="150746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6" name="椭圆 85"/>
            <p:cNvSpPr>
              <a:spLocks noChangeAspect="1"/>
            </p:cNvSpPr>
            <p:nvPr/>
          </p:nvSpPr>
          <p:spPr>
            <a:xfrm>
              <a:off x="8733927" y="5557386"/>
              <a:ext cx="552731" cy="55274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1" name="组合 30"/>
          <p:cNvGrpSpPr/>
          <p:nvPr/>
        </p:nvGrpSpPr>
        <p:grpSpPr>
          <a:xfrm>
            <a:off x="11330422" y="5471913"/>
            <a:ext cx="716685" cy="2088000"/>
            <a:chOff x="11330422" y="5408413"/>
            <a:chExt cx="716685" cy="2088000"/>
          </a:xfrm>
        </p:grpSpPr>
        <p:sp>
          <p:nvSpPr>
            <p:cNvPr id="88" name="等腰三角形 9"/>
            <p:cNvSpPr/>
            <p:nvPr/>
          </p:nvSpPr>
          <p:spPr>
            <a:xfrm rot="10800000">
              <a:off x="11330422" y="5731097"/>
              <a:ext cx="716685" cy="176531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9" name="椭圆 88"/>
            <p:cNvSpPr>
              <a:spLocks noChangeAspect="1"/>
            </p:cNvSpPr>
            <p:nvPr/>
          </p:nvSpPr>
          <p:spPr>
            <a:xfrm>
              <a:off x="11366083" y="5408413"/>
              <a:ext cx="647278" cy="647285"/>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91" name="文本框 90"/>
          <p:cNvSpPr txBox="1"/>
          <p:nvPr/>
        </p:nvSpPr>
        <p:spPr>
          <a:xfrm>
            <a:off x="1687385" y="671150"/>
            <a:ext cx="2954655" cy="923330"/>
          </a:xfrm>
          <a:prstGeom prst="rect">
            <a:avLst/>
          </a:prstGeom>
          <a:noFill/>
        </p:spPr>
        <p:txBody>
          <a:bodyPr wrap="none" rtlCol="0">
            <a:spAutoFit/>
          </a:bodyPr>
          <a:lstStyle/>
          <a:p>
            <a:r>
              <a:rPr lang="zh-CN" altLang="en-US" sz="5400" dirty="0">
                <a:solidFill>
                  <a:srgbClr val="000000">
                    <a:lumMod val="75000"/>
                    <a:lumOff val="25000"/>
                  </a:srgbClr>
                </a:solidFill>
                <a:effectLst>
                  <a:reflection blurRad="12700" stA="40000" endPos="40000" dist="12700" dir="5400000" sy="-100000" algn="bl" rotWithShape="0"/>
                </a:effectLst>
                <a:latin typeface="Noto Sans S Chinese Medium" panose="020B0600000000000000" pitchFamily="34" charset="-122"/>
                <a:ea typeface="Noto Sans S Chinese Medium" panose="020B0600000000000000" pitchFamily="34" charset="-122"/>
                <a:cs typeface="+mn-ea"/>
                <a:sym typeface="+mn-lt"/>
              </a:rPr>
              <a:t>本章内容</a:t>
            </a:r>
            <a:endParaRPr lang="zh-CN" altLang="en-US" sz="5400" dirty="0">
              <a:solidFill>
                <a:srgbClr val="000000">
                  <a:lumMod val="75000"/>
                  <a:lumOff val="25000"/>
                </a:srgbClr>
              </a:solidFill>
              <a:effectLst>
                <a:reflection blurRad="12700" stA="40000" endPos="40000" dist="12700" dir="5400000" sy="-100000" algn="bl" rotWithShape="0"/>
              </a:effectLst>
              <a:latin typeface="Noto Sans S Chinese Medium" panose="020B0600000000000000" pitchFamily="34" charset="-122"/>
              <a:ea typeface="Noto Sans S Chinese Medium" panose="020B0600000000000000" pitchFamily="34" charset="-122"/>
              <a:cs typeface="+mn-ea"/>
              <a:sym typeface="+mn-lt"/>
            </a:endParaRPr>
          </a:p>
        </p:txBody>
      </p:sp>
      <p:sp>
        <p:nvSpPr>
          <p:cNvPr id="13" name="椭圆 12"/>
          <p:cNvSpPr>
            <a:spLocks noChangeAspect="1"/>
          </p:cNvSpPr>
          <p:nvPr/>
        </p:nvSpPr>
        <p:spPr>
          <a:xfrm>
            <a:off x="2075697" y="2453570"/>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1</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15" name="文本框 14"/>
          <p:cNvSpPr txBox="1"/>
          <p:nvPr/>
        </p:nvSpPr>
        <p:spPr>
          <a:xfrm>
            <a:off x="2816070" y="2425583"/>
            <a:ext cx="1826141" cy="584775"/>
          </a:xfrm>
          <a:prstGeom prst="rect">
            <a:avLst/>
          </a:prstGeom>
          <a:noFill/>
        </p:spPr>
        <p:txBody>
          <a:bodyPr wrap="none" rtlCol="0">
            <a:spAutoFit/>
          </a:bodyPr>
          <a:lstStyle>
            <a:defPPr>
              <a:defRPr lang="zh-CN"/>
            </a:defPPr>
            <a:lvl1pPr>
              <a:defRPr sz="2800">
                <a:solidFill>
                  <a:schemeClr val="tx1">
                    <a:lumMod val="75000"/>
                    <a:lumOff val="25000"/>
                  </a:schemeClr>
                </a:solidFill>
                <a:cs typeface="+mn-ea"/>
              </a:defRPr>
            </a:lvl1pPr>
          </a:lstStyle>
          <a:p>
            <a:r>
              <a:rPr lang="zh-CN" altLang="en-US" sz="3200" dirty="0">
                <a:latin typeface="Noto Sans S Chinese Medium" panose="020B0600000000000000" pitchFamily="34" charset="-122"/>
                <a:ea typeface="Noto Sans S Chinese Medium" panose="020B0600000000000000" pitchFamily="34" charset="-122"/>
                <a:sym typeface="+mn-lt"/>
              </a:rPr>
              <a:t>算法概述</a:t>
            </a:r>
            <a:endParaRPr lang="en-US" altLang="zh-CN" sz="3200" dirty="0">
              <a:latin typeface="Noto Sans S Chinese Medium" panose="020B0600000000000000" pitchFamily="34" charset="-122"/>
              <a:ea typeface="Noto Sans S Chinese Medium" panose="020B0600000000000000" pitchFamily="34" charset="-122"/>
              <a:sym typeface="+mn-lt"/>
            </a:endParaRPr>
          </a:p>
        </p:txBody>
      </p:sp>
      <p:sp>
        <p:nvSpPr>
          <p:cNvPr id="19" name="椭圆 18"/>
          <p:cNvSpPr>
            <a:spLocks noChangeAspect="1"/>
          </p:cNvSpPr>
          <p:nvPr/>
        </p:nvSpPr>
        <p:spPr>
          <a:xfrm>
            <a:off x="2071296" y="3453461"/>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2</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1" name="文本框 20"/>
          <p:cNvSpPr txBox="1"/>
          <p:nvPr/>
        </p:nvSpPr>
        <p:spPr>
          <a:xfrm>
            <a:off x="2820729" y="3444685"/>
            <a:ext cx="1912703" cy="584775"/>
          </a:xfrm>
          <a:prstGeom prst="rect">
            <a:avLst/>
          </a:prstGeom>
          <a:noFill/>
        </p:spPr>
        <p:txBody>
          <a:bodyPr wrap="none" rtlCol="0">
            <a:spAutoFit/>
          </a:bodyPr>
          <a:lstStyle/>
          <a:p>
            <a:r>
              <a:rPr lang="zh-CN" altLang="en-US" sz="3200" dirty="0" smtClean="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线性</a:t>
            </a:r>
            <a:r>
              <a:rPr lang="en-US" altLang="zh-CN" sz="3200" dirty="0" smtClean="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SVM</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4" name="椭圆 23"/>
          <p:cNvSpPr>
            <a:spLocks noChangeAspect="1"/>
          </p:cNvSpPr>
          <p:nvPr/>
        </p:nvSpPr>
        <p:spPr>
          <a:xfrm>
            <a:off x="2070879" y="4611551"/>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3</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5" name="文本框 24"/>
          <p:cNvSpPr txBox="1"/>
          <p:nvPr/>
        </p:nvSpPr>
        <p:spPr>
          <a:xfrm>
            <a:off x="2815899" y="4621876"/>
            <a:ext cx="2323072" cy="584775"/>
          </a:xfrm>
          <a:prstGeom prst="rect">
            <a:avLst/>
          </a:prstGeom>
          <a:noFill/>
        </p:spPr>
        <p:txBody>
          <a:bodyPr wrap="none" rtlCol="0">
            <a:spAutoFit/>
          </a:bodyPr>
          <a:lstStyle/>
          <a:p>
            <a:r>
              <a:rPr lang="zh-CN" altLang="en-US" sz="3200" dirty="0" smtClean="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非线性</a:t>
            </a:r>
            <a:r>
              <a:rPr lang="en-US" altLang="zh-CN" sz="3200" dirty="0" smtClean="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SVM</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8" name="椭圆 27"/>
          <p:cNvSpPr>
            <a:spLocks noChangeAspect="1"/>
          </p:cNvSpPr>
          <p:nvPr/>
        </p:nvSpPr>
        <p:spPr>
          <a:xfrm>
            <a:off x="6268050" y="2421584"/>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4</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9" name="文本框 28"/>
          <p:cNvSpPr txBox="1"/>
          <p:nvPr/>
        </p:nvSpPr>
        <p:spPr>
          <a:xfrm>
            <a:off x="7017483" y="2438129"/>
            <a:ext cx="1826141" cy="584775"/>
          </a:xfrm>
          <a:prstGeom prst="rect">
            <a:avLst/>
          </a:prstGeom>
          <a:noFill/>
        </p:spPr>
        <p:txBody>
          <a:bodyPr wrap="none" rtlCol="0">
            <a:spAutoFit/>
          </a:bodyPr>
          <a:lstStyle/>
          <a:p>
            <a:r>
              <a:rPr lang="zh-CN" altLang="en-US" sz="3200" dirty="0" smtClean="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a:t>
            </a:r>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实例</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87" name="椭圆 86"/>
          <p:cNvSpPr>
            <a:spLocks noChangeAspect="1"/>
          </p:cNvSpPr>
          <p:nvPr/>
        </p:nvSpPr>
        <p:spPr>
          <a:xfrm>
            <a:off x="6244667" y="3408630"/>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5</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2" name="椭圆 91"/>
          <p:cNvSpPr>
            <a:spLocks noChangeAspect="1"/>
          </p:cNvSpPr>
          <p:nvPr/>
        </p:nvSpPr>
        <p:spPr>
          <a:xfrm>
            <a:off x="6268050" y="4603093"/>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6</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3" name="文本框 92"/>
          <p:cNvSpPr txBox="1"/>
          <p:nvPr/>
        </p:nvSpPr>
        <p:spPr>
          <a:xfrm>
            <a:off x="6972220" y="4571994"/>
            <a:ext cx="3057247"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算法改进与优化</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4" name="文本框 93"/>
          <p:cNvSpPr txBox="1"/>
          <p:nvPr/>
        </p:nvSpPr>
        <p:spPr>
          <a:xfrm>
            <a:off x="7053564" y="3392386"/>
            <a:ext cx="1826141" cy="584775"/>
          </a:xfrm>
          <a:prstGeom prst="rect">
            <a:avLst/>
          </a:prstGeom>
          <a:noFill/>
        </p:spPr>
        <p:txBody>
          <a:bodyPr wrap="none" rtlCol="0">
            <a:spAutoFit/>
          </a:bodyPr>
          <a:lstStyle/>
          <a:p>
            <a:r>
              <a:rPr lang="zh-CN" altLang="en-US" sz="3200" smtClean="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a:t>
            </a:r>
            <a:r>
              <a:rPr lang="zh-CN" altLang="en-US" sz="320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应用</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01</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算法概述</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840179" y="3580755"/>
            <a:ext cx="3469667" cy="1077218"/>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OVERVIEW</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0886" y="217714"/>
            <a:ext cx="10272890" cy="980728"/>
          </a:xfrm>
        </p:spPr>
        <p:txBody>
          <a:bodyPr>
            <a:normAutofit/>
          </a:bodyPr>
          <a:lstStyle/>
          <a:p>
            <a:r>
              <a:rPr lang="zh-CN" altLang="en-US" dirty="0">
                <a:solidFill>
                  <a:srgbClr val="4F271C"/>
                </a:solidFill>
              </a:rPr>
              <a:t>算法概述</a:t>
            </a:r>
            <a:endParaRPr lang="zh-CN" altLang="en-US" dirty="0" smtClean="0">
              <a:solidFill>
                <a:srgbClr val="4F271C"/>
              </a:solidFill>
            </a:endParaRPr>
          </a:p>
        </p:txBody>
      </p:sp>
      <p:sp>
        <p:nvSpPr>
          <p:cNvPr id="4" name="内容占位符 3"/>
          <p:cNvSpPr>
            <a:spLocks noGrp="1"/>
          </p:cNvSpPr>
          <p:nvPr>
            <p:ph idx="1"/>
          </p:nvPr>
        </p:nvSpPr>
        <p:spPr>
          <a:xfrm>
            <a:off x="409303" y="1501800"/>
            <a:ext cx="11340827" cy="4536000"/>
          </a:xfrm>
        </p:spPr>
        <p:txBody>
          <a:bodyPr>
            <a:noAutofit/>
          </a:bodyPr>
          <a:lstStyle/>
          <a:p>
            <a:pPr marL="0" lvl="1" indent="285750">
              <a:lnSpc>
                <a:spcPct val="150000"/>
              </a:lnSpc>
              <a:spcBef>
                <a:spcPts val="0"/>
              </a:spcBef>
              <a:buClr>
                <a:schemeClr val="accent4"/>
              </a:buClr>
              <a:buSzPct val="100000"/>
              <a:buFont typeface="Wingdings" panose="05000000000000000000" pitchFamily="2" charset="2"/>
              <a:buChar char="n"/>
            </a:pPr>
            <a:r>
              <a:rPr altLang="zh-CN" sz="2000" dirty="0">
                <a:latin typeface="Cambria" panose="02040503050406030204" pitchFamily="18" charset="0"/>
              </a:rPr>
              <a:t>支持向量机（support vector </a:t>
            </a:r>
            <a:r>
              <a:rPr altLang="zh-CN" sz="2000" dirty="0" err="1">
                <a:latin typeface="Cambria" panose="02040503050406030204" pitchFamily="18" charset="0"/>
              </a:rPr>
              <a:t>machine，SVM）是一种基于统计学习理论（Statistical</a:t>
            </a:r>
            <a:r>
              <a:rPr altLang="zh-CN" sz="2000" dirty="0">
                <a:latin typeface="Cambria" panose="02040503050406030204" pitchFamily="18" charset="0"/>
              </a:rPr>
              <a:t> Learning </a:t>
            </a:r>
            <a:r>
              <a:rPr lang="en-US" altLang="zh-CN" sz="2000" dirty="0">
                <a:latin typeface="Cambria" panose="02040503050406030204" pitchFamily="18" charset="0"/>
              </a:rPr>
              <a:t> </a:t>
            </a:r>
            <a:r>
              <a:rPr altLang="zh-CN" sz="2000" dirty="0">
                <a:latin typeface="Cambria" panose="02040503050406030204" pitchFamily="18" charset="0"/>
              </a:rPr>
              <a:t>Theory</a:t>
            </a:r>
            <a:r>
              <a:rPr lang="zh-CN" altLang="en-US" sz="2000" dirty="0">
                <a:latin typeface="Cambria" panose="02040503050406030204" pitchFamily="18" charset="0"/>
              </a:rPr>
              <a:t>，</a:t>
            </a:r>
            <a:r>
              <a:rPr altLang="zh-CN" sz="2000" dirty="0">
                <a:latin typeface="Cambria" panose="02040503050406030204" pitchFamily="18" charset="0"/>
              </a:rPr>
              <a:t>SLT）</a:t>
            </a:r>
            <a:r>
              <a:rPr lang="zh-CN" altLang="en-US" sz="2000" dirty="0">
                <a:latin typeface="Cambria" panose="02040503050406030204" pitchFamily="18" charset="0"/>
              </a:rPr>
              <a:t>的</a:t>
            </a:r>
            <a:r>
              <a:rPr lang="zh-CN" altLang="en-US" sz="2000" b="1" dirty="0">
                <a:latin typeface="Cambria" panose="02040503050406030204" pitchFamily="18" charset="0"/>
              </a:rPr>
              <a:t>监督学习</a:t>
            </a:r>
            <a:r>
              <a:rPr altLang="zh-CN" sz="2000" dirty="0" err="1">
                <a:latin typeface="Cambria" panose="02040503050406030204" pitchFamily="18" charset="0"/>
              </a:rPr>
              <a:t>方法</a:t>
            </a:r>
            <a:r>
              <a:rPr lang="zh-CN" altLang="en-US" sz="2000" dirty="0">
                <a:latin typeface="Cambria" panose="02040503050406030204" pitchFamily="18" charset="0"/>
              </a:rPr>
              <a:t>。</a:t>
            </a:r>
            <a:endParaRPr altLang="zh-CN" sz="2000" dirty="0">
              <a:latin typeface="Cambria" panose="02040503050406030204" pitchFamily="18" charset="0"/>
            </a:endParaRPr>
          </a:p>
          <a:p>
            <a:pPr marL="0" lvl="1" indent="285750">
              <a:lnSpc>
                <a:spcPct val="150000"/>
              </a:lnSpc>
              <a:spcBef>
                <a:spcPts val="0"/>
              </a:spcBef>
              <a:buClr>
                <a:schemeClr val="accent4"/>
              </a:buClr>
              <a:buSzPct val="100000"/>
              <a:buFont typeface="Wingdings" panose="05000000000000000000" pitchFamily="2" charset="2"/>
              <a:buChar char="n"/>
            </a:pPr>
            <a:r>
              <a:rPr lang="zh-CN" altLang="en-US" sz="2000" dirty="0">
                <a:latin typeface="Cambria" panose="02040503050406030204" pitchFamily="18" charset="0"/>
              </a:rPr>
              <a:t>支持向量机在各个领域内的模式识别问题中都有广泛应用，包括人脸识别、文本分类、笔迹识别等。它不仅在解决小样本、非线性及高维模式识别等问题中表现出了许多特有的优势，同时在函数模拟、模式识别和数据分类等领域也取得了极好的应用效果，是机器学习最成功的算法之一。</a:t>
            </a:r>
            <a:endParaRPr lang="en-US" altLang="zh-CN" sz="2000" dirty="0">
              <a:latin typeface="Cambria" panose="02040503050406030204" pitchFamily="18" charset="0"/>
            </a:endParaRPr>
          </a:p>
          <a:p>
            <a:pPr marL="0" lvl="1" indent="285750">
              <a:lnSpc>
                <a:spcPct val="150000"/>
              </a:lnSpc>
              <a:spcBef>
                <a:spcPts val="0"/>
              </a:spcBef>
              <a:buClr>
                <a:schemeClr val="accent4"/>
              </a:buClr>
              <a:buSzPct val="100000"/>
              <a:buFont typeface="Wingdings" panose="05000000000000000000" pitchFamily="2" charset="2"/>
              <a:buChar char="n"/>
            </a:pPr>
            <a:r>
              <a:rPr lang="zh-CN" altLang="en-US" sz="2000" dirty="0">
                <a:latin typeface="Cambria" panose="02040503050406030204" pitchFamily="18" charset="0"/>
              </a:rPr>
              <a:t>台湾大学资讯工程研究所开发的</a:t>
            </a:r>
            <a:r>
              <a:rPr lang="en-US" altLang="zh-CN" sz="2000" dirty="0">
                <a:latin typeface="Cambria" panose="02040503050406030204" pitchFamily="18" charset="0"/>
              </a:rPr>
              <a:t>LIBSVM</a:t>
            </a:r>
            <a:r>
              <a:rPr lang="zh-CN" altLang="en-US" sz="2000" dirty="0">
                <a:latin typeface="Cambria" panose="02040503050406030204" pitchFamily="18" charset="0"/>
              </a:rPr>
              <a:t>是使用最广的</a:t>
            </a:r>
            <a:r>
              <a:rPr lang="en-US" altLang="zh-CN" sz="2000" dirty="0">
                <a:latin typeface="Cambria" panose="02040503050406030204" pitchFamily="18" charset="0"/>
              </a:rPr>
              <a:t>SVM</a:t>
            </a:r>
            <a:r>
              <a:rPr lang="zh-CN" altLang="en-US" sz="2000" dirty="0">
                <a:latin typeface="Cambria" panose="02040503050406030204" pitchFamily="18" charset="0"/>
              </a:rPr>
              <a:t>工具 ，包含标准</a:t>
            </a:r>
            <a:r>
              <a:rPr lang="en-US" altLang="zh-CN" sz="2000" dirty="0">
                <a:latin typeface="Cambria" panose="02040503050406030204" pitchFamily="18" charset="0"/>
              </a:rPr>
              <a:t>SVM</a:t>
            </a:r>
            <a:r>
              <a:rPr lang="zh-CN" altLang="en-US" sz="2000" dirty="0">
                <a:latin typeface="Cambria" panose="02040503050406030204" pitchFamily="18" charset="0"/>
              </a:rPr>
              <a:t>算法、概率输出、支持向量回归、多分类</a:t>
            </a:r>
            <a:r>
              <a:rPr lang="en-US" altLang="zh-CN" sz="2000" dirty="0">
                <a:latin typeface="Cambria" panose="02040503050406030204" pitchFamily="18" charset="0"/>
              </a:rPr>
              <a:t>SVM</a:t>
            </a:r>
            <a:r>
              <a:rPr lang="zh-CN" altLang="en-US" sz="2000" dirty="0">
                <a:latin typeface="Cambria" panose="02040503050406030204" pitchFamily="18" charset="0"/>
              </a:rPr>
              <a:t>等功能，其源代码由</a:t>
            </a:r>
            <a:r>
              <a:rPr lang="en-US" altLang="zh-CN" sz="2000" dirty="0">
                <a:latin typeface="Cambria" panose="02040503050406030204" pitchFamily="18" charset="0"/>
              </a:rPr>
              <a:t>C</a:t>
            </a:r>
            <a:r>
              <a:rPr lang="zh-CN" altLang="en-US" sz="2000" dirty="0">
                <a:latin typeface="Cambria" panose="02040503050406030204" pitchFamily="18" charset="0"/>
              </a:rPr>
              <a:t>编写，并有</a:t>
            </a:r>
            <a:r>
              <a:rPr lang="en-US" altLang="zh-CN" sz="2000" dirty="0">
                <a:latin typeface="Cambria" panose="02040503050406030204" pitchFamily="18" charset="0"/>
              </a:rPr>
              <a:t>JAVA</a:t>
            </a:r>
            <a:r>
              <a:rPr lang="zh-CN" altLang="en-US" sz="2000" dirty="0">
                <a:latin typeface="Cambria" panose="02040503050406030204" pitchFamily="18" charset="0"/>
              </a:rPr>
              <a:t>、</a:t>
            </a:r>
            <a:r>
              <a:rPr lang="en-US" altLang="zh-CN" sz="2000" dirty="0">
                <a:latin typeface="Cambria" panose="02040503050406030204" pitchFamily="18" charset="0"/>
              </a:rPr>
              <a:t>Python</a:t>
            </a:r>
            <a:r>
              <a:rPr lang="zh-CN" altLang="en-US" sz="2000" dirty="0">
                <a:latin typeface="Cambria" panose="02040503050406030204" pitchFamily="18" charset="0"/>
              </a:rPr>
              <a:t>、</a:t>
            </a:r>
            <a:r>
              <a:rPr lang="en-US" altLang="zh-CN" sz="2000" dirty="0">
                <a:latin typeface="Cambria" panose="02040503050406030204" pitchFamily="18" charset="0"/>
              </a:rPr>
              <a:t>MATLAB</a:t>
            </a:r>
            <a:r>
              <a:rPr lang="zh-CN" altLang="en-US" sz="2000" dirty="0">
                <a:latin typeface="Cambria" panose="02040503050406030204" pitchFamily="18" charset="0"/>
              </a:rPr>
              <a:t>等语言的调用接口等</a:t>
            </a:r>
            <a:r>
              <a:rPr lang="en-US" altLang="zh-CN" sz="2000" dirty="0">
                <a:latin typeface="Cambria" panose="02040503050406030204" pitchFamily="18" charset="0"/>
              </a:rPr>
              <a:t> </a:t>
            </a:r>
            <a:r>
              <a:rPr lang="zh-CN" altLang="en-US" sz="2000" dirty="0">
                <a:latin typeface="Cambria" panose="02040503050406030204" pitchFamily="18" charset="0"/>
              </a:rPr>
              <a:t>。</a:t>
            </a:r>
            <a:endParaRPr lang="zh-CN" altLang="en-US" sz="2000" dirty="0">
              <a:latin typeface="Cambria" panose="02040503050406030204" pitchFamily="18" charset="0"/>
            </a:endParaRPr>
          </a:p>
          <a:p>
            <a:pPr marL="0" lvl="1" indent="285750">
              <a:lnSpc>
                <a:spcPct val="150000"/>
              </a:lnSpc>
              <a:spcBef>
                <a:spcPts val="0"/>
              </a:spcBef>
              <a:buClr>
                <a:schemeClr val="accent4"/>
              </a:buClr>
              <a:buSzPct val="100000"/>
              <a:buFont typeface="Wingdings" panose="05000000000000000000" pitchFamily="2" charset="2"/>
              <a:buChar char="n"/>
            </a:pPr>
            <a:r>
              <a:rPr lang="en-US" altLang="zh-CN" sz="2000" dirty="0" err="1">
                <a:latin typeface="Cambria" panose="02040503050406030204" pitchFamily="18" charset="0"/>
              </a:rPr>
              <a:t>scikit</a:t>
            </a:r>
            <a:r>
              <a:rPr lang="en-US" altLang="zh-CN" sz="2000" dirty="0">
                <a:latin typeface="Cambria" panose="02040503050406030204" pitchFamily="18" charset="0"/>
              </a:rPr>
              <a:t>-learn</a:t>
            </a:r>
            <a:r>
              <a:rPr lang="zh-CN" altLang="en-US" sz="2000" dirty="0">
                <a:latin typeface="Cambria" panose="02040503050406030204" pitchFamily="18" charset="0"/>
              </a:rPr>
              <a:t>提供预封装的</a:t>
            </a:r>
            <a:r>
              <a:rPr lang="en-US" altLang="zh-CN" sz="2000" dirty="0">
                <a:latin typeface="Cambria" panose="02040503050406030204" pitchFamily="18" charset="0"/>
              </a:rPr>
              <a:t>SVM</a:t>
            </a:r>
            <a:r>
              <a:rPr lang="zh-CN" altLang="en-US" sz="2000" dirty="0">
                <a:latin typeface="Cambria" panose="02040503050406030204" pitchFamily="18" charset="0"/>
              </a:rPr>
              <a:t>工具，其设计参考了</a:t>
            </a:r>
            <a:r>
              <a:rPr lang="en-US" altLang="zh-CN" sz="2000" dirty="0">
                <a:latin typeface="Cambria" panose="02040503050406030204" pitchFamily="18" charset="0"/>
              </a:rPr>
              <a:t>LIBSVM</a:t>
            </a:r>
            <a:r>
              <a:rPr lang="zh-CN" altLang="en-US" sz="2000" dirty="0">
                <a:latin typeface="Cambria" panose="02040503050406030204" pitchFamily="18" charset="0"/>
              </a:rPr>
              <a:t>。</a:t>
            </a:r>
            <a:endParaRPr lang="zh-CN" altLang="en-US" sz="2000"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2412" y="423273"/>
            <a:ext cx="10272890" cy="980728"/>
          </a:xfrm>
        </p:spPr>
        <p:txBody>
          <a:bodyPr>
            <a:normAutofit/>
          </a:bodyPr>
          <a:lstStyle/>
          <a:p>
            <a:r>
              <a:rPr lang="zh-CN" altLang="en-US" dirty="0">
                <a:solidFill>
                  <a:srgbClr val="4F271C"/>
                </a:solidFill>
              </a:rPr>
              <a:t>算法概述</a:t>
            </a:r>
            <a:endParaRPr lang="zh-CN" altLang="en-US" dirty="0" smtClean="0">
              <a:solidFill>
                <a:srgbClr val="4F271C"/>
              </a:solidFill>
            </a:endParaRPr>
          </a:p>
        </p:txBody>
      </p:sp>
      <p:sp>
        <p:nvSpPr>
          <p:cNvPr id="4" name="内容占位符 3"/>
          <p:cNvSpPr>
            <a:spLocks noGrp="1"/>
          </p:cNvSpPr>
          <p:nvPr>
            <p:ph idx="1"/>
          </p:nvPr>
        </p:nvSpPr>
        <p:spPr>
          <a:xfrm>
            <a:off x="896983" y="837000"/>
            <a:ext cx="10398033" cy="5184000"/>
          </a:xfrm>
        </p:spPr>
        <p:txBody>
          <a:bodyPr>
            <a:noAutofit/>
          </a:bodyPr>
          <a:lstStyle/>
          <a:p>
            <a:pPr marL="0" lvl="1" indent="285750">
              <a:lnSpc>
                <a:spcPct val="150000"/>
              </a:lnSpc>
              <a:spcBef>
                <a:spcPts val="0"/>
              </a:spcBef>
              <a:buClr>
                <a:schemeClr val="accent4"/>
              </a:buClr>
              <a:buSzPct val="100000"/>
              <a:buFont typeface="Wingdings" panose="05000000000000000000" pitchFamily="2" charset="2"/>
              <a:buChar char="n"/>
            </a:pPr>
            <a:r>
              <a:rPr lang="zh-CN" altLang="en-US" sz="2000" dirty="0">
                <a:latin typeface="Cambria" panose="02040503050406030204" pitchFamily="18" charset="0"/>
              </a:rPr>
              <a:t>1963年，前苏联学者</a:t>
            </a:r>
            <a:r>
              <a:rPr lang="en-US" altLang="zh-CN" sz="2000" dirty="0">
                <a:latin typeface="Cambria" panose="02040503050406030204" pitchFamily="18" charset="0"/>
              </a:rPr>
              <a:t>Vladimir N. </a:t>
            </a:r>
            <a:r>
              <a:rPr lang="en-US" altLang="zh-CN" sz="2000" dirty="0" err="1">
                <a:latin typeface="Cambria" panose="02040503050406030204" pitchFamily="18" charset="0"/>
              </a:rPr>
              <a:t>Vapnik</a:t>
            </a:r>
            <a:r>
              <a:rPr lang="zh-CN" altLang="en-US" sz="2000" dirty="0">
                <a:latin typeface="Cambria" panose="02040503050406030204" pitchFamily="18" charset="0"/>
              </a:rPr>
              <a:t>和</a:t>
            </a:r>
            <a:r>
              <a:rPr lang="en-US" altLang="zh-CN" sz="2000" dirty="0">
                <a:latin typeface="Cambria" panose="02040503050406030204" pitchFamily="18" charset="0"/>
              </a:rPr>
              <a:t>Alexander Y. Lerner</a:t>
            </a:r>
            <a:r>
              <a:rPr lang="zh-CN" altLang="en-US" sz="2000" dirty="0">
                <a:latin typeface="Cambria" panose="02040503050406030204" pitchFamily="18" charset="0"/>
              </a:rPr>
              <a:t>在研究模式识别的广义肖像算法（</a:t>
            </a:r>
            <a:r>
              <a:rPr lang="en-US" altLang="zh-CN" sz="2000" dirty="0">
                <a:latin typeface="Cambria" panose="02040503050406030204" pitchFamily="18" charset="0"/>
              </a:rPr>
              <a:t>generalized portrait algorithm</a:t>
            </a:r>
            <a:r>
              <a:rPr lang="zh-CN" altLang="en-US" sz="2000" dirty="0">
                <a:latin typeface="Cambria" panose="02040503050406030204" pitchFamily="18" charset="0"/>
              </a:rPr>
              <a:t>）中提出支持向量方法。</a:t>
            </a:r>
            <a:endParaRPr lang="en-US" altLang="zh-CN" sz="2000" dirty="0">
              <a:latin typeface="Cambria" panose="02040503050406030204" pitchFamily="18" charset="0"/>
            </a:endParaRPr>
          </a:p>
          <a:p>
            <a:pPr marL="0" lvl="1" indent="285750">
              <a:lnSpc>
                <a:spcPct val="150000"/>
              </a:lnSpc>
              <a:spcBef>
                <a:spcPts val="0"/>
              </a:spcBef>
              <a:buClr>
                <a:schemeClr val="accent4"/>
              </a:buClr>
              <a:buSzPct val="100000"/>
              <a:buFont typeface="Wingdings" panose="05000000000000000000" pitchFamily="2" charset="2"/>
              <a:buChar char="n"/>
            </a:pPr>
            <a:r>
              <a:rPr lang="en-US" altLang="zh-CN" sz="2000" dirty="0">
                <a:latin typeface="Cambria" panose="02040503050406030204" pitchFamily="18" charset="0"/>
              </a:rPr>
              <a:t>1964</a:t>
            </a:r>
            <a:r>
              <a:rPr lang="zh-CN" altLang="en-US" sz="2000" dirty="0">
                <a:latin typeface="Cambria" panose="02040503050406030204" pitchFamily="18" charset="0"/>
              </a:rPr>
              <a:t>年，他们进一步建立了函数间隔（硬边距）的线性</a:t>
            </a:r>
            <a:r>
              <a:rPr lang="en-US" altLang="zh-CN" sz="2000" dirty="0">
                <a:latin typeface="Cambria" panose="02040503050406030204" pitchFamily="18" charset="0"/>
              </a:rPr>
              <a:t>SVM</a:t>
            </a:r>
            <a:r>
              <a:rPr lang="zh-CN" altLang="en-US" sz="2000" dirty="0">
                <a:latin typeface="Cambria" panose="02040503050406030204" pitchFamily="18" charset="0"/>
              </a:rPr>
              <a:t>。并于上世纪</a:t>
            </a:r>
            <a:r>
              <a:rPr lang="en-US" altLang="zh-CN" sz="2000" dirty="0">
                <a:latin typeface="Cambria" panose="02040503050406030204" pitchFamily="18" charset="0"/>
              </a:rPr>
              <a:t>70</a:t>
            </a:r>
            <a:r>
              <a:rPr lang="zh-CN" altLang="en-US" sz="2000" dirty="0">
                <a:latin typeface="Cambria" panose="02040503050406030204" pitchFamily="18" charset="0"/>
              </a:rPr>
              <a:t>年代，随着最大边距决策边界的理论研究、基于松弛变量的规划问题求解技术的出现，以及</a:t>
            </a:r>
            <a:r>
              <a:rPr lang="en-US" altLang="zh-CN" sz="2000" dirty="0">
                <a:latin typeface="Cambria" panose="02040503050406030204" pitchFamily="18" charset="0"/>
              </a:rPr>
              <a:t>VC</a:t>
            </a:r>
            <a:r>
              <a:rPr lang="zh-CN" altLang="en-US" sz="2000" dirty="0">
                <a:latin typeface="Cambria" panose="02040503050406030204" pitchFamily="18" charset="0"/>
              </a:rPr>
              <a:t>维的提出，</a:t>
            </a:r>
            <a:r>
              <a:rPr lang="en-US" altLang="zh-CN" sz="2000" dirty="0">
                <a:latin typeface="Cambria" panose="02040503050406030204" pitchFamily="18" charset="0"/>
              </a:rPr>
              <a:t>SVM</a:t>
            </a:r>
            <a:r>
              <a:rPr lang="zh-CN" altLang="en-US" sz="2000" dirty="0">
                <a:latin typeface="Cambria" panose="02040503050406030204" pitchFamily="18" charset="0"/>
              </a:rPr>
              <a:t>被逐步理论化并成为统计学习理论的重要组成部分。</a:t>
            </a:r>
            <a:endParaRPr lang="en-US" altLang="zh-CN" sz="2000" dirty="0">
              <a:latin typeface="Cambria" panose="02040503050406030204" pitchFamily="18" charset="0"/>
              <a:ea typeface="Cambria" panose="02040503050406030204" pitchFamily="18" charset="0"/>
            </a:endParaRPr>
          </a:p>
          <a:p>
            <a:pPr marL="0" lvl="1" indent="285750">
              <a:lnSpc>
                <a:spcPct val="150000"/>
              </a:lnSpc>
              <a:spcBef>
                <a:spcPts val="0"/>
              </a:spcBef>
              <a:buClr>
                <a:schemeClr val="accent4"/>
              </a:buClr>
              <a:buSzPct val="100000"/>
              <a:buFont typeface="Wingdings" panose="05000000000000000000" pitchFamily="2" charset="2"/>
              <a:buChar char="n"/>
            </a:pPr>
            <a:r>
              <a:rPr lang="zh-CN" altLang="en-US" sz="2000" dirty="0">
                <a:latin typeface="Cambria" panose="02040503050406030204" pitchFamily="18" charset="0"/>
              </a:rPr>
              <a:t>1992年，Bernhard E. Boser，Isabelle M. Guyon和Vladimir N. Vapnik运用核技巧（kernel trick）最大化边缘平面，解决非线性分类器的方法。</a:t>
            </a:r>
            <a:endParaRPr lang="en-US" altLang="zh-CN" sz="2000" dirty="0">
              <a:latin typeface="Cambria" panose="02040503050406030204" pitchFamily="18" charset="0"/>
            </a:endParaRPr>
          </a:p>
          <a:p>
            <a:pPr marL="0" lvl="1" indent="285750">
              <a:lnSpc>
                <a:spcPct val="150000"/>
              </a:lnSpc>
              <a:spcBef>
                <a:spcPts val="0"/>
              </a:spcBef>
              <a:buClr>
                <a:schemeClr val="accent4"/>
              </a:buClr>
              <a:buSzPct val="100000"/>
              <a:buFont typeface="Wingdings" panose="05000000000000000000" pitchFamily="2" charset="2"/>
              <a:buChar char="n"/>
            </a:pPr>
            <a:r>
              <a:rPr lang="zh-CN" altLang="en-US" sz="2000" dirty="0">
                <a:latin typeface="Cambria" panose="02040503050406030204" pitchFamily="18" charset="0"/>
                <a:sym typeface="+mn-ea"/>
              </a:rPr>
              <a:t>1995年，Vladimir N.Vapnik提出了统计学习理论，较好地解决了线性不可分的问题，正式奠定了SVM的理论基础。</a:t>
            </a:r>
            <a:endParaRPr lang="zh-CN" altLang="en-US" sz="2000"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1311250" y="208477"/>
            <a:ext cx="10272890" cy="980728"/>
          </a:xfrm>
        </p:spPr>
        <p:txBody>
          <a:bodyPr>
            <a:normAutofit/>
          </a:bodyPr>
          <a:lstStyle/>
          <a:p>
            <a:r>
              <a:rPr lang="zh-CN" altLang="en-US" dirty="0">
                <a:solidFill>
                  <a:srgbClr val="4F271C"/>
                </a:solidFill>
                <a:latin typeface="华文楷体" panose="02010600040101010101" pitchFamily="2" charset="-122"/>
                <a:ea typeface="华文楷体" panose="02010600040101010101" pitchFamily="2" charset="-122"/>
              </a:rPr>
              <a:t>算法概述</a:t>
            </a:r>
            <a:endParaRPr lang="zh-CN" altLang="en-US" dirty="0" smtClean="0">
              <a:solidFill>
                <a:srgbClr val="4F271C"/>
              </a:solidFill>
              <a:latin typeface="华文楷体" panose="02010600040101010101" pitchFamily="2" charset="-122"/>
              <a:ea typeface="华文楷体" panose="02010600040101010101" pitchFamily="2" charset="-122"/>
            </a:endParaRPr>
          </a:p>
        </p:txBody>
      </p:sp>
      <p:sp>
        <p:nvSpPr>
          <p:cNvPr id="4" name="内容占位符 2"/>
          <p:cNvSpPr txBox="1"/>
          <p:nvPr/>
        </p:nvSpPr>
        <p:spPr>
          <a:xfrm>
            <a:off x="544946" y="1189205"/>
            <a:ext cx="11495314" cy="2520000"/>
          </a:xfr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zh-CN" altLang="en-US" sz="2400" dirty="0" smtClean="0">
                <a:solidFill>
                  <a:schemeClr val="accent4">
                    <a:lumMod val="50000"/>
                  </a:schemeClr>
                </a:solidFill>
                <a:latin typeface="华文楷体" panose="02010600040101010101" pitchFamily="2" charset="-122"/>
                <a:ea typeface="华文楷体" panose="02010600040101010101" pitchFamily="2" charset="-122"/>
              </a:rPr>
              <a:t>支持向量机解决不同类型的问题：</a:t>
            </a:r>
            <a:endParaRPr lang="en-US" altLang="zh-CN" sz="2400" dirty="0" smtClean="0">
              <a:solidFill>
                <a:schemeClr val="accent4">
                  <a:lumMod val="50000"/>
                </a:schemeClr>
              </a:solidFill>
              <a:latin typeface="华文楷体" panose="02010600040101010101" pitchFamily="2" charset="-122"/>
              <a:ea typeface="华文楷体" panose="02010600040101010101" pitchFamily="2" charset="-122"/>
            </a:endParaRPr>
          </a:p>
          <a:p>
            <a:pPr lvl="1">
              <a:lnSpc>
                <a:spcPct val="150000"/>
              </a:lnSpc>
              <a:spcBef>
                <a:spcPts val="0"/>
              </a:spcBef>
            </a:pPr>
            <a:r>
              <a:rPr lang="zh-CN" altLang="en-US" sz="2000" dirty="0" smtClean="0">
                <a:latin typeface="华文楷体" panose="02010600040101010101" pitchFamily="2" charset="-122"/>
                <a:ea typeface="华文楷体" panose="02010600040101010101" pitchFamily="2" charset="-122"/>
              </a:rPr>
              <a:t>当训练数据</a:t>
            </a:r>
            <a:r>
              <a:rPr lang="zh-CN" altLang="en-US" sz="2000" b="1" dirty="0" smtClean="0">
                <a:latin typeface="华文楷体" panose="02010600040101010101" pitchFamily="2" charset="-122"/>
                <a:ea typeface="华文楷体" panose="02010600040101010101" pitchFamily="2" charset="-122"/>
              </a:rPr>
              <a:t>线性可分</a:t>
            </a:r>
            <a:r>
              <a:rPr lang="zh-CN" altLang="en-US" sz="2000" dirty="0" smtClean="0">
                <a:latin typeface="华文楷体" panose="02010600040101010101" pitchFamily="2" charset="-122"/>
                <a:ea typeface="华文楷体" panose="02010600040101010101" pitchFamily="2" charset="-122"/>
              </a:rPr>
              <a:t>时，通过硬间隔最大化，学习一个线性可分支持向量机；</a:t>
            </a:r>
            <a:endParaRPr lang="en-US" altLang="zh-CN" sz="2000" dirty="0" smtClean="0">
              <a:latin typeface="华文楷体" panose="02010600040101010101" pitchFamily="2" charset="-122"/>
              <a:ea typeface="华文楷体" panose="02010600040101010101" pitchFamily="2" charset="-122"/>
            </a:endParaRPr>
          </a:p>
          <a:p>
            <a:pPr lvl="1">
              <a:lnSpc>
                <a:spcPct val="150000"/>
              </a:lnSpc>
              <a:spcBef>
                <a:spcPts val="0"/>
              </a:spcBef>
            </a:pPr>
            <a:r>
              <a:rPr lang="zh-CN" altLang="en-US" sz="2000" dirty="0" smtClean="0">
                <a:latin typeface="华文楷体" panose="02010600040101010101" pitchFamily="2" charset="-122"/>
                <a:ea typeface="华文楷体" panose="02010600040101010101" pitchFamily="2" charset="-122"/>
              </a:rPr>
              <a:t>当训练数据</a:t>
            </a:r>
            <a:r>
              <a:rPr lang="zh-CN" altLang="en-US" sz="2000" b="1" dirty="0" smtClean="0">
                <a:latin typeface="华文楷体" panose="02010600040101010101" pitchFamily="2" charset="-122"/>
                <a:ea typeface="华文楷体" panose="02010600040101010101" pitchFamily="2" charset="-122"/>
              </a:rPr>
              <a:t>近似线性可分</a:t>
            </a:r>
            <a:r>
              <a:rPr lang="zh-CN" altLang="en-US" sz="2000" dirty="0" smtClean="0">
                <a:latin typeface="华文楷体" panose="02010600040101010101" pitchFamily="2" charset="-122"/>
                <a:ea typeface="华文楷体" panose="02010600040101010101" pitchFamily="2" charset="-122"/>
              </a:rPr>
              <a:t>时，通过软间隔最大化，学习一个线性支持向量机；</a:t>
            </a:r>
            <a:endParaRPr lang="en-US" altLang="zh-CN" sz="2000" dirty="0" smtClean="0">
              <a:latin typeface="华文楷体" panose="02010600040101010101" pitchFamily="2" charset="-122"/>
              <a:ea typeface="华文楷体" panose="02010600040101010101" pitchFamily="2" charset="-122"/>
            </a:endParaRPr>
          </a:p>
          <a:p>
            <a:pPr lvl="1">
              <a:lnSpc>
                <a:spcPct val="150000"/>
              </a:lnSpc>
              <a:spcBef>
                <a:spcPts val="0"/>
              </a:spcBef>
            </a:pPr>
            <a:r>
              <a:rPr lang="zh-CN" altLang="en-US" sz="2000" dirty="0" smtClean="0">
                <a:latin typeface="华文楷体" panose="02010600040101010101" pitchFamily="2" charset="-122"/>
                <a:ea typeface="华文楷体" panose="02010600040101010101" pitchFamily="2" charset="-122"/>
              </a:rPr>
              <a:t>当训练数据</a:t>
            </a:r>
            <a:r>
              <a:rPr lang="zh-CN" altLang="en-US" sz="2000" b="1" dirty="0" smtClean="0">
                <a:latin typeface="华文楷体" panose="02010600040101010101" pitchFamily="2" charset="-122"/>
                <a:ea typeface="华文楷体" panose="02010600040101010101" pitchFamily="2" charset="-122"/>
              </a:rPr>
              <a:t>不可分</a:t>
            </a:r>
            <a:r>
              <a:rPr lang="zh-CN" altLang="en-US" sz="2000" dirty="0" smtClean="0">
                <a:latin typeface="华文楷体" panose="02010600040101010101" pitchFamily="2" charset="-122"/>
                <a:ea typeface="华文楷体" panose="02010600040101010101" pitchFamily="2" charset="-122"/>
              </a:rPr>
              <a:t>时，通过使用核技巧以及软间隔最大化，学习一个非线性支持向量机。</a:t>
            </a:r>
            <a:endParaRPr lang="zh-CN" altLang="en-US" sz="2000" dirty="0">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1" cstate="print"/>
          <a:stretch>
            <a:fillRect/>
          </a:stretch>
        </p:blipFill>
        <p:spPr>
          <a:xfrm>
            <a:off x="4747636" y="3586744"/>
            <a:ext cx="5711357" cy="2461792"/>
          </a:xfrm>
          <a:prstGeom prst="rect">
            <a:avLst/>
          </a:prstGeo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4356" y="3586744"/>
            <a:ext cx="3269483" cy="246715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831275" y="1069835"/>
            <a:ext cx="8709889" cy="48708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5" name="椭圆 4"/>
          <p:cNvSpPr>
            <a:spLocks noChangeAspect="1"/>
          </p:cNvSpPr>
          <p:nvPr/>
        </p:nvSpPr>
        <p:spPr>
          <a:xfrm>
            <a:off x="2606040" y="1928495"/>
            <a:ext cx="3121025" cy="18288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02</a:t>
            </a:r>
            <a:endParaRPr lang="en-US" altLang="zh-CN" sz="7200" kern="0" dirty="0">
              <a:solidFill>
                <a:srgbClr val="009999"/>
              </a:solidFill>
              <a:latin typeface="Century Gothic" panose="020B0502020202020204" pitchFamily="34" charset="0"/>
              <a:cs typeface="+mn-ea"/>
              <a:sym typeface="+mn-lt"/>
            </a:endParaRPr>
          </a:p>
        </p:txBody>
      </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969962" y="2275084"/>
            <a:ext cx="3748142"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smtClean="0">
                <a:solidFill>
                  <a:srgbClr val="009999"/>
                </a:solidFill>
                <a:latin typeface="Noto Sans S Chinese Medium" panose="020B0600000000000000" pitchFamily="34" charset="-122"/>
                <a:ea typeface="Noto Sans S Chinese Medium" panose="020B0600000000000000" pitchFamily="34" charset="-122"/>
              </a:rPr>
              <a:t>线性</a:t>
            </a:r>
            <a:r>
              <a:rPr lang="en-US" altLang="zh-CN" sz="6600" dirty="0" smtClean="0">
                <a:solidFill>
                  <a:srgbClr val="009999"/>
                </a:solidFill>
                <a:latin typeface="Noto Sans S Chinese Medium" panose="020B0600000000000000" pitchFamily="34" charset="-122"/>
                <a:ea typeface="Noto Sans S Chinese Medium" panose="020B0600000000000000" pitchFamily="34" charset="-122"/>
              </a:rPr>
              <a:t>SVM</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68" y="175491"/>
            <a:ext cx="2813549" cy="980728"/>
          </a:xfrm>
        </p:spPr>
        <p:txBody>
          <a:bodyPr/>
          <a:lstStyle/>
          <a:p>
            <a:r>
              <a:rPr lang="zh-CN" altLang="en-US" dirty="0" smtClean="0">
                <a:latin typeface="Cambria" panose="02040503050406030204" pitchFamily="18" charset="0"/>
              </a:rPr>
              <a:t>线性分类</a:t>
            </a:r>
            <a:endParaRPr lang="zh-CN" altLang="en-US" dirty="0" smtClean="0">
              <a:latin typeface="Cambria" panose="02040503050406030204" pitchFamily="18" charset="0"/>
            </a:endParaRPr>
          </a:p>
        </p:txBody>
      </p:sp>
      <mc:AlternateContent xmlns:mc="http://schemas.openxmlformats.org/markup-compatibility/2006">
        <mc:Choice xmlns:a14="http://schemas.microsoft.com/office/drawing/2010/main" Requires="a14">
          <p:sp>
            <p:nvSpPr>
              <p:cNvPr id="4" name="内容占位符 3"/>
              <p:cNvSpPr>
                <a:spLocks noGrp="1"/>
              </p:cNvSpPr>
              <p:nvPr>
                <p:ph idx="13"/>
              </p:nvPr>
            </p:nvSpPr>
            <p:spPr>
              <a:xfrm>
                <a:off x="86669" y="1019836"/>
                <a:ext cx="7533332" cy="5390200"/>
              </a:xfrm>
            </p:spPr>
            <p:txBody>
              <a:bodyPr>
                <a:noAutofit/>
              </a:bodyPr>
              <a:lstStyle/>
              <a:p>
                <a:pPr marL="342900" indent="-342900">
                  <a:lnSpc>
                    <a:spcPct val="150000"/>
                  </a:lnSpc>
                  <a:spcBef>
                    <a:spcPts val="0"/>
                  </a:spcBef>
                  <a:buFont typeface="Wingdings" panose="05000000000000000000" charset="0"/>
                  <a:buChar char="n"/>
                </a:pPr>
                <a:r>
                  <a:rPr lang="zh-CN" altLang="zh-CN" sz="2000" dirty="0">
                    <a:latin typeface="Cambria" panose="02040503050406030204" pitchFamily="18" charset="0"/>
                  </a:rPr>
                  <a:t>给定一个特征空间上的训练数据集</a:t>
                </a:r>
                <a14:m>
                  <m:oMath xmlns:m="http://schemas.openxmlformats.org/officeDocument/2006/math">
                    <m:r>
                      <a:rPr lang="en-US" altLang="zh-CN" sz="2000" i="1">
                        <a:latin typeface="Cambria Math" panose="02040503050406030204" pitchFamily="18" charset="0"/>
                      </a:rPr>
                      <m:t>𝑇</m:t>
                    </m:r>
                    <m:r>
                      <a:rPr lang="en-US" altLang="zh-CN" sz="2000" i="1">
                        <a:latin typeface="Cambria Math" panose="02040503050406030204" pitchFamily="18" charset="0"/>
                      </a:rPr>
                      <m:t>=</m:t>
                    </m:r>
                    <m:d>
                      <m:dPr>
                        <m:begChr m:val="{"/>
                        <m:endChr m:val="}"/>
                        <m:ctrlPr>
                          <a:rPr lang="zh-CN" altLang="zh-CN" sz="2000" i="1">
                            <a:latin typeface="Cambria Math" panose="02040503050406030204" pitchFamily="18" charset="0"/>
                          </a:rPr>
                        </m:ctrlPr>
                      </m:dPr>
                      <m:e>
                        <m:d>
                          <m:dPr>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a:rPr lang="en-US" altLang="zh-CN" sz="2000" b="1" i="1">
                                    <a:latin typeface="Cambria Math" panose="02040503050406030204" pitchFamily="18" charset="0"/>
                                  </a:rPr>
                                  <m:t>𝒙</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e>
                        </m:d>
                      </m:e>
                      <m:e>
                        <m:r>
                          <a:rPr lang="en-US" altLang="zh-CN" sz="2000" i="1">
                            <a:latin typeface="Cambria Math" panose="02040503050406030204" pitchFamily="18" charset="0"/>
                          </a:rPr>
                          <m:t>𝑖</m:t>
                        </m:r>
                        <m:r>
                          <a:rPr lang="en-US" altLang="zh-CN" sz="2000" i="1">
                            <a:latin typeface="Cambria Math" panose="02040503050406030204" pitchFamily="18" charset="0"/>
                          </a:rPr>
                          <m:t>=</m:t>
                        </m:r>
                        <m:r>
                          <a:rPr lang="en-US" altLang="zh-CN" sz="2000" i="1">
                            <a:latin typeface="Cambria Math" panose="02040503050406030204" pitchFamily="18" charset="0"/>
                          </a:rPr>
                          <m:t>1</m:t>
                        </m:r>
                        <m:r>
                          <a:rPr lang="en-US" altLang="zh-CN" sz="2000" i="1">
                            <a:latin typeface="Cambria Math" panose="02040503050406030204" pitchFamily="18" charset="0"/>
                          </a:rPr>
                          <m:t>,</m:t>
                        </m:r>
                        <m:r>
                          <a:rPr lang="en-US" altLang="zh-CN" sz="2000" i="1">
                            <a:latin typeface="Cambria Math" panose="02040503050406030204" pitchFamily="18" charset="0"/>
                          </a:rPr>
                          <m:t>2</m:t>
                        </m:r>
                        <m:r>
                          <a:rPr lang="en-US" altLang="zh-CN" sz="2000" i="1">
                            <a:latin typeface="Cambria Math" panose="02040503050406030204" pitchFamily="18" charset="0"/>
                          </a:rPr>
                          <m:t>,⋯,</m:t>
                        </m:r>
                        <m:r>
                          <a:rPr lang="en-US" altLang="zh-CN" sz="2000" i="1">
                            <a:latin typeface="Cambria Math" panose="02040503050406030204" pitchFamily="18" charset="0"/>
                          </a:rPr>
                          <m:t>𝑁</m:t>
                        </m:r>
                      </m:e>
                    </m:d>
                  </m:oMath>
                </a14:m>
                <a:r>
                  <a:rPr lang="zh-CN" altLang="zh-CN" sz="2000" dirty="0">
                    <a:latin typeface="Cambria" panose="02040503050406030204" pitchFamily="18" charset="0"/>
                  </a:rPr>
                  <a:t>，其中</a:t>
                </a:r>
                <a14:m>
                  <m:oMath xmlns:m="http://schemas.openxmlformats.org/officeDocument/2006/math">
                    <m:sSub>
                      <m:sSubPr>
                        <m:ctrlPr>
                          <a:rPr lang="zh-CN" altLang="zh-CN" sz="2000" i="1">
                            <a:latin typeface="Cambria Math" panose="02040503050406030204" pitchFamily="18" charset="0"/>
                          </a:rPr>
                        </m:ctrlPr>
                      </m:sSubPr>
                      <m:e>
                        <m:r>
                          <a:rPr lang="en-US" altLang="zh-CN" sz="2000" b="1" i="1">
                            <a:latin typeface="Cambria Math" panose="02040503050406030204" pitchFamily="18" charset="0"/>
                          </a:rPr>
                          <m:t>𝒙</m:t>
                        </m:r>
                      </m:e>
                      <m:sub>
                        <m:r>
                          <a:rPr lang="en-US" altLang="zh-CN" sz="2000" i="1">
                            <a:latin typeface="Cambria Math" panose="02040503050406030204" pitchFamily="18" charset="0"/>
                          </a:rPr>
                          <m:t>𝑖</m:t>
                        </m:r>
                      </m:sub>
                    </m:sSub>
                    <m:r>
                      <a:rPr lang="en-US" altLang="zh-CN" sz="2000">
                        <a:latin typeface="Cambria Math" panose="02040503050406030204" pitchFamily="18" charset="0"/>
                      </a:rPr>
                      <m:t>=</m:t>
                    </m:r>
                    <m:sSup>
                      <m:sSupPr>
                        <m:ctrlPr>
                          <a:rPr lang="zh-CN" altLang="zh-CN" sz="2000" i="1">
                            <a:latin typeface="Cambria Math" panose="02040503050406030204" pitchFamily="18" charset="0"/>
                          </a:rPr>
                        </m:ctrlPr>
                      </m:sSupPr>
                      <m:e>
                        <m:d>
                          <m:dPr>
                            <m:begChr m:val="["/>
                            <m:endChr m:val="]"/>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𝑖𝑛</m:t>
                                </m:r>
                              </m:sub>
                            </m:sSub>
                          </m:e>
                        </m:d>
                      </m:e>
                      <m:sup>
                        <m:r>
                          <m:rPr>
                            <m:sty m:val="p"/>
                          </m:rPr>
                          <a:rPr lang="en-US" altLang="zh-CN" sz="2000">
                            <a:latin typeface="Cambria Math" panose="02040503050406030204" pitchFamily="18" charset="0"/>
                          </a:rPr>
                          <m:t>T</m:t>
                        </m:r>
                      </m:sup>
                    </m:sSup>
                    <m:r>
                      <a:rPr lang="en-US" altLang="zh-CN" sz="2000">
                        <a:latin typeface="Cambria Math" panose="02040503050406030204" pitchFamily="18" charset="0"/>
                      </a:rPr>
                      <m:t>∈</m:t>
                    </m:r>
                    <m:r>
                      <a:rPr lang="en-US" altLang="zh-CN" sz="2000" i="1">
                        <a:latin typeface="Cambria Math" panose="02040503050406030204" pitchFamily="18" charset="0"/>
                      </a:rPr>
                      <m:t>𝑋</m:t>
                    </m:r>
                    <m:r>
                      <a:rPr lang="en-US" altLang="zh-CN" sz="2000">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ℝ</m:t>
                        </m:r>
                      </m:e>
                      <m:sup>
                        <m:r>
                          <a:rPr lang="en-US" altLang="zh-CN" sz="2000" i="1">
                            <a:latin typeface="Cambria Math" panose="02040503050406030204" pitchFamily="18" charset="0"/>
                          </a:rPr>
                          <m:t>𝑛</m:t>
                        </m:r>
                      </m:sup>
                    </m:sSup>
                  </m:oMath>
                </a14:m>
                <a:r>
                  <a:rPr lang="zh-CN" altLang="zh-CN" sz="2000" dirty="0">
                    <a:latin typeface="Cambria" panose="02040503050406030204" pitchFamily="18" charset="0"/>
                  </a:rPr>
                  <a:t>，</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r>
                      <a:rPr lang="en-US" altLang="zh-CN" sz="2000">
                        <a:latin typeface="Cambria Math" panose="02040503050406030204" pitchFamily="18" charset="0"/>
                      </a:rPr>
                      <m:t>∈</m:t>
                    </m:r>
                    <m:r>
                      <a:rPr lang="en-US" altLang="zh-CN" sz="2000" i="1">
                        <a:latin typeface="Cambria Math" panose="02040503050406030204" pitchFamily="18" charset="0"/>
                      </a:rPr>
                      <m:t>𝑌</m:t>
                    </m:r>
                    <m:r>
                      <a:rPr lang="en-US" altLang="zh-CN" sz="2000">
                        <a:latin typeface="Cambria Math" panose="02040503050406030204" pitchFamily="18" charset="0"/>
                      </a:rPr>
                      <m:t>=</m:t>
                    </m:r>
                    <m:d>
                      <m:dPr>
                        <m:begChr m:val="{"/>
                        <m:endChr m:val="}"/>
                        <m:ctrlPr>
                          <a:rPr lang="zh-CN" altLang="zh-CN" sz="2000" i="1">
                            <a:latin typeface="Cambria Math" panose="02040503050406030204" pitchFamily="18" charset="0"/>
                          </a:rPr>
                        </m:ctrlPr>
                      </m:dPr>
                      <m:e>
                        <m:r>
                          <a:rPr lang="en-US" altLang="zh-CN" sz="2000" i="1">
                            <a:latin typeface="Cambria Math" panose="02040503050406030204" pitchFamily="18" charset="0"/>
                          </a:rPr>
                          <m:t>−</m:t>
                        </m:r>
                        <m:r>
                          <a:rPr lang="en-US" altLang="zh-CN" sz="2000" i="1">
                            <a:latin typeface="Cambria Math" panose="02040503050406030204" pitchFamily="18" charset="0"/>
                          </a:rPr>
                          <m:t>1</m:t>
                        </m:r>
                        <m:r>
                          <a:rPr lang="en-US" altLang="zh-CN" sz="2000" i="1">
                            <a:latin typeface="Cambria Math" panose="02040503050406030204" pitchFamily="18" charset="0"/>
                          </a:rPr>
                          <m:t>,+</m:t>
                        </m:r>
                        <m:r>
                          <a:rPr lang="en-US" altLang="zh-CN" sz="2000" i="1">
                            <a:latin typeface="Cambria Math" panose="02040503050406030204" pitchFamily="18" charset="0"/>
                          </a:rPr>
                          <m:t>1</m:t>
                        </m:r>
                      </m:e>
                    </m:d>
                    <m:r>
                      <a:rPr lang="en-US" altLang="zh-CN" sz="2000">
                        <a:latin typeface="Cambria Math" panose="02040503050406030204" pitchFamily="18" charset="0"/>
                      </a:rPr>
                      <m:t>,</m:t>
                    </m:r>
                    <m:r>
                      <a:rPr lang="en-US" altLang="zh-CN" sz="2000" i="1">
                        <a:latin typeface="Cambria Math" panose="02040503050406030204" pitchFamily="18" charset="0"/>
                      </a:rPr>
                      <m:t>𝑖</m:t>
                    </m:r>
                    <m:r>
                      <a:rPr lang="en-US" altLang="zh-CN" sz="2000">
                        <a:latin typeface="Cambria Math" panose="02040503050406030204" pitchFamily="18" charset="0"/>
                      </a:rPr>
                      <m:t>=</m:t>
                    </m:r>
                    <m:r>
                      <a:rPr lang="en-US" altLang="zh-CN" sz="2000">
                        <a:latin typeface="Cambria Math" panose="02040503050406030204" pitchFamily="18" charset="0"/>
                      </a:rPr>
                      <m:t>1</m:t>
                    </m:r>
                    <m:r>
                      <a:rPr lang="en-US" altLang="zh-CN" sz="2000">
                        <a:latin typeface="Cambria Math" panose="02040503050406030204" pitchFamily="18" charset="0"/>
                      </a:rPr>
                      <m:t>,</m:t>
                    </m:r>
                    <m:r>
                      <a:rPr lang="en-US" altLang="zh-CN" sz="2000">
                        <a:latin typeface="Cambria Math" panose="02040503050406030204" pitchFamily="18" charset="0"/>
                      </a:rPr>
                      <m:t>2</m:t>
                    </m:r>
                    <m:r>
                      <a:rPr lang="en-US" altLang="zh-CN" sz="2000">
                        <a:latin typeface="Cambria Math" panose="02040503050406030204" pitchFamily="18" charset="0"/>
                      </a:rPr>
                      <m:t>,⋯,</m:t>
                    </m:r>
                    <m:r>
                      <a:rPr lang="en-US" altLang="zh-CN" sz="2000" i="1">
                        <a:latin typeface="Cambria Math" panose="02040503050406030204" pitchFamily="18" charset="0"/>
                      </a:rPr>
                      <m:t>𝑁</m:t>
                    </m:r>
                  </m:oMath>
                </a14:m>
                <a:r>
                  <a:rPr lang="zh-CN" altLang="zh-CN" sz="2000" dirty="0">
                    <a:latin typeface="Cambria" panose="02040503050406030204" pitchFamily="18" charset="0"/>
                  </a:rPr>
                  <a:t>。</a:t>
                </a:r>
                <a14:m>
                  <m:oMath xmlns:m="http://schemas.openxmlformats.org/officeDocument/2006/math">
                    <m:sSub>
                      <m:sSubPr>
                        <m:ctrlPr>
                          <a:rPr lang="zh-CN" altLang="zh-CN" sz="2000" i="1">
                            <a:latin typeface="Cambria Math" panose="02040503050406030204" pitchFamily="18" charset="0"/>
                          </a:rPr>
                        </m:ctrlPr>
                      </m:sSubPr>
                      <m:e>
                        <m:r>
                          <a:rPr lang="en-US" altLang="zh-CN" sz="2000" b="1" i="1">
                            <a:latin typeface="Cambria Math" panose="02040503050406030204" pitchFamily="18" charset="0"/>
                          </a:rPr>
                          <m:t>𝒙</m:t>
                        </m:r>
                      </m:e>
                      <m:sub>
                        <m:r>
                          <a:rPr lang="en-US" altLang="zh-CN" sz="2000" i="1">
                            <a:latin typeface="Cambria Math" panose="02040503050406030204" pitchFamily="18" charset="0"/>
                          </a:rPr>
                          <m:t>𝑖</m:t>
                        </m:r>
                      </m:sub>
                    </m:sSub>
                  </m:oMath>
                </a14:m>
                <a:r>
                  <a:rPr lang="zh-CN" altLang="zh-CN" sz="2000" dirty="0">
                    <a:latin typeface="Cambria" panose="02040503050406030204" pitchFamily="18" charset="0"/>
                  </a:rPr>
                  <a:t>是训练数据集</a:t>
                </a:r>
                <a14:m>
                  <m:oMath xmlns:m="http://schemas.openxmlformats.org/officeDocument/2006/math">
                    <m:r>
                      <a:rPr lang="en-US" altLang="zh-CN" sz="2000" i="1">
                        <a:latin typeface="Cambria Math" panose="02040503050406030204" pitchFamily="18" charset="0"/>
                      </a:rPr>
                      <m:t>𝑇</m:t>
                    </m:r>
                  </m:oMath>
                </a14:m>
                <a:r>
                  <a:rPr lang="zh-CN" altLang="zh-CN" sz="2000" dirty="0">
                    <a:latin typeface="Cambria" panose="02040503050406030204" pitchFamily="18" charset="0"/>
                  </a:rPr>
                  <a:t>的第</a:t>
                </a:r>
                <a14:m>
                  <m:oMath xmlns:m="http://schemas.openxmlformats.org/officeDocument/2006/math">
                    <m:r>
                      <a:rPr lang="en-US" altLang="zh-CN" sz="2000" i="1">
                        <a:latin typeface="Cambria Math" panose="02040503050406030204" pitchFamily="18" charset="0"/>
                      </a:rPr>
                      <m:t>𝑖</m:t>
                    </m:r>
                  </m:oMath>
                </a14:m>
                <a:r>
                  <a:rPr lang="zh-CN" altLang="zh-CN" sz="2000" dirty="0">
                    <a:latin typeface="Cambria" panose="02040503050406030204" pitchFamily="18" charset="0"/>
                  </a:rPr>
                  <a:t>个实例，</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oMath>
                </a14:m>
                <a:r>
                  <a:rPr lang="zh-CN" altLang="zh-CN" sz="2000" dirty="0">
                    <a:latin typeface="Cambria" panose="02040503050406030204" pitchFamily="18" charset="0"/>
                  </a:rPr>
                  <a:t>是</a:t>
                </a:r>
                <a14:m>
                  <m:oMath xmlns:m="http://schemas.openxmlformats.org/officeDocument/2006/math">
                    <m:sSub>
                      <m:sSubPr>
                        <m:ctrlPr>
                          <a:rPr lang="zh-CN" altLang="zh-CN" sz="2000" i="1">
                            <a:latin typeface="Cambria Math" panose="02040503050406030204" pitchFamily="18" charset="0"/>
                          </a:rPr>
                        </m:ctrlPr>
                      </m:sSubPr>
                      <m:e>
                        <m:r>
                          <a:rPr lang="en-US" altLang="zh-CN" sz="2000" b="1" i="1">
                            <a:latin typeface="Cambria Math" panose="02040503050406030204" pitchFamily="18" charset="0"/>
                          </a:rPr>
                          <m:t>𝒙</m:t>
                        </m:r>
                      </m:e>
                      <m:sub>
                        <m:r>
                          <a:rPr lang="en-US" altLang="zh-CN" sz="2000" i="1">
                            <a:latin typeface="Cambria Math" panose="02040503050406030204" pitchFamily="18" charset="0"/>
                          </a:rPr>
                          <m:t>𝑖</m:t>
                        </m:r>
                      </m:sub>
                    </m:sSub>
                  </m:oMath>
                </a14:m>
                <a:r>
                  <a:rPr lang="zh-CN" altLang="zh-CN" sz="2000" dirty="0">
                    <a:latin typeface="Cambria" panose="02040503050406030204" pitchFamily="18" charset="0"/>
                  </a:rPr>
                  <a:t>的类别标签</a:t>
                </a:r>
                <a:r>
                  <a:rPr lang="zh-CN" altLang="zh-CN" sz="2000" dirty="0" smtClean="0">
                    <a:latin typeface="Cambria" panose="02040503050406030204" pitchFamily="18" charset="0"/>
                  </a:rPr>
                  <a:t>。一</a:t>
                </a:r>
                <a:r>
                  <a:rPr lang="zh-CN" altLang="zh-CN" sz="2000" dirty="0">
                    <a:latin typeface="Cambria" panose="02040503050406030204" pitchFamily="18" charset="0"/>
                  </a:rPr>
                  <a:t>个线性分类器的学习目标就是要在这</a:t>
                </a:r>
                <a14:m>
                  <m:oMath xmlns:m="http://schemas.openxmlformats.org/officeDocument/2006/math">
                    <m:r>
                      <a:rPr lang="en-US" altLang="zh-CN" sz="2000" i="1">
                        <a:latin typeface="Cambria Math" panose="02040503050406030204" pitchFamily="18" charset="0"/>
                      </a:rPr>
                      <m:t>𝑛</m:t>
                    </m:r>
                  </m:oMath>
                </a14:m>
                <a:r>
                  <a:rPr lang="zh-CN" altLang="zh-CN" sz="2000" dirty="0">
                    <a:latin typeface="Cambria" panose="02040503050406030204" pitchFamily="18" charset="0"/>
                  </a:rPr>
                  <a:t>维的数据空间中找到一个</a:t>
                </a:r>
                <a:r>
                  <a:rPr lang="zh-CN" altLang="zh-CN" sz="2000" b="1" dirty="0">
                    <a:solidFill>
                      <a:srgbClr val="FF0000"/>
                    </a:solidFill>
                    <a:latin typeface="Cambria" panose="02040503050406030204" pitchFamily="18" charset="0"/>
                  </a:rPr>
                  <a:t>超平面</a:t>
                </a:r>
                <a:r>
                  <a:rPr lang="zh-CN" altLang="zh-CN" sz="2000" dirty="0">
                    <a:latin typeface="Cambria" panose="02040503050406030204" pitchFamily="18" charset="0"/>
                  </a:rPr>
                  <a:t>（</a:t>
                </a:r>
                <a:r>
                  <a:rPr lang="en-US" altLang="zh-CN" sz="2000" dirty="0">
                    <a:latin typeface="Cambria" panose="02040503050406030204" pitchFamily="18" charset="0"/>
                    <a:ea typeface="Cambria" panose="02040503050406030204" pitchFamily="18" charset="0"/>
                  </a:rPr>
                  <a:t>Hyper Plane</a:t>
                </a:r>
                <a:r>
                  <a:rPr lang="zh-CN" altLang="zh-CN" sz="2000" dirty="0">
                    <a:latin typeface="Cambria" panose="02040503050406030204" pitchFamily="18" charset="0"/>
                  </a:rPr>
                  <a:t>），将所有的正例划分到超平面的一侧，将所有的负例划分到超平面的另一侧。</a:t>
                </a:r>
                <a:endParaRPr lang="zh-CN" altLang="zh-CN" sz="2000" dirty="0">
                  <a:latin typeface="Cambria" panose="02040503050406030204" pitchFamily="18" charset="0"/>
                </a:endParaRPr>
              </a:p>
              <a:p>
                <a:pPr marL="342900" indent="-342900">
                  <a:lnSpc>
                    <a:spcPct val="150000"/>
                  </a:lnSpc>
                  <a:spcBef>
                    <a:spcPts val="0"/>
                  </a:spcBef>
                  <a:buFont typeface="Wingdings" panose="05000000000000000000" charset="0"/>
                  <a:buChar char="n"/>
                </a:pPr>
                <a:r>
                  <a:rPr lang="zh-CN" altLang="en-US" sz="2000" dirty="0">
                    <a:latin typeface="Cambria" panose="02040503050406030204" pitchFamily="18" charset="0"/>
                  </a:rPr>
                  <a:t>如</a:t>
                </a:r>
                <a:r>
                  <a:rPr lang="zh-CN" altLang="en-US" sz="2000" dirty="0" smtClean="0">
                    <a:latin typeface="Cambria" panose="02040503050406030204" pitchFamily="18" charset="0"/>
                  </a:rPr>
                  <a:t>图所</a:t>
                </a:r>
                <a:r>
                  <a:rPr lang="zh-CN" altLang="en-US" sz="2000" dirty="0">
                    <a:latin typeface="Cambria" panose="02040503050406030204" pitchFamily="18" charset="0"/>
                  </a:rPr>
                  <a:t>示，这个超平面可将两类数据点分隔开来，超平面右上角数据点（三角形）所对应的分割结果全是</a:t>
                </a:r>
                <a:r>
                  <a:rPr lang="en-US" altLang="zh-CN" sz="2000" dirty="0">
                    <a:latin typeface="Cambria" panose="02040503050406030204" pitchFamily="18" charset="0"/>
                    <a:ea typeface="Cambria" panose="02040503050406030204" pitchFamily="18" charset="0"/>
                    <a:sym typeface="+mn-ea"/>
                  </a:rPr>
                  <a:t>+1</a:t>
                </a:r>
                <a:r>
                  <a:rPr lang="zh-CN" altLang="en-US" sz="2000" dirty="0">
                    <a:latin typeface="Cambria" panose="02040503050406030204" pitchFamily="18" charset="0"/>
                  </a:rPr>
                  <a:t>，而在另一侧的数据点（圆形）全是</a:t>
                </a:r>
                <a:r>
                  <a:rPr lang="en-US" altLang="zh-CN" sz="2000" dirty="0">
                    <a:latin typeface="Cambria" panose="02040503050406030204" pitchFamily="18" charset="0"/>
                    <a:ea typeface="Cambria" panose="02040503050406030204" pitchFamily="18" charset="0"/>
                  </a:rPr>
                  <a:t>-</a:t>
                </a:r>
                <a:r>
                  <a:rPr lang="en-US" altLang="zh-CN" sz="2000" dirty="0">
                    <a:latin typeface="Cambria" panose="02040503050406030204" pitchFamily="18" charset="0"/>
                    <a:ea typeface="Cambria" panose="02040503050406030204" pitchFamily="18" charset="0"/>
                  </a:rPr>
                  <a:t>1</a:t>
                </a:r>
                <a:r>
                  <a:rPr lang="zh-CN" altLang="en-US" sz="2000" dirty="0">
                    <a:latin typeface="Cambria" panose="02040503050406030204" pitchFamily="18" charset="0"/>
                  </a:rPr>
                  <a:t>。</a:t>
                </a:r>
                <a:endParaRPr lang="en-US" sz="2000" dirty="0">
                  <a:latin typeface="Cambria" panose="02040503050406030204" pitchFamily="18" charset="0"/>
                  <a:ea typeface="Cambria" panose="02040503050406030204" pitchFamily="18" charset="0"/>
                </a:endParaRPr>
              </a:p>
            </p:txBody>
          </p:sp>
        </mc:Choice>
        <mc:Fallback>
          <p:sp>
            <p:nvSpPr>
              <p:cNvPr id="4" name="内容占位符 3"/>
              <p:cNvSpPr>
                <a:spLocks noRot="1" noChangeAspect="1" noMove="1" noResize="1" noEditPoints="1" noAdjustHandles="1" noChangeArrowheads="1" noChangeShapeType="1" noTextEdit="1"/>
              </p:cNvSpPr>
              <p:nvPr>
                <p:ph idx="13"/>
              </p:nvPr>
            </p:nvSpPr>
            <p:spPr>
              <a:xfrm>
                <a:off x="86669" y="1019836"/>
                <a:ext cx="7533332" cy="5390200"/>
              </a:xfrm>
              <a:blipFill rotWithShape="1">
                <a:blip r:embed="rId1"/>
                <a:stretch>
                  <a:fillRect l="-4" r="-1003" b="6"/>
                </a:stretch>
              </a:blipFill>
            </p:spPr>
            <p:txBody>
              <a:bodyPr/>
              <a:lstStyle/>
              <a:p>
                <a:r>
                  <a:rPr lang="zh-CN" altLang="en-US">
                    <a:noFill/>
                  </a:rPr>
                  <a:t> </a:t>
                </a:r>
              </a:p>
            </p:txBody>
          </p:sp>
        </mc:Fallback>
      </mc:AlternateContent>
      <p:graphicFrame>
        <p:nvGraphicFramePr>
          <p:cNvPr id="5" name="对象 -2147482624"/>
          <p:cNvGraphicFramePr>
            <a:graphicFrameLocks noChangeAspect="1"/>
          </p:cNvGraphicFramePr>
          <p:nvPr/>
        </p:nvGraphicFramePr>
        <p:xfrm>
          <a:off x="7620001" y="2101435"/>
          <a:ext cx="4184480" cy="2992574"/>
        </p:xfrm>
        <a:graphic>
          <a:graphicData uri="http://schemas.openxmlformats.org/presentationml/2006/ole">
            <mc:AlternateContent xmlns:mc="http://schemas.openxmlformats.org/markup-compatibility/2006">
              <mc:Choice xmlns:v="urn:schemas-microsoft-com:vml" Requires="v">
                <p:oleObj spid="_x0000_s1233" name="" r:id="rId2" imgW="5681345" imgH="4798060" progId="">
                  <p:embed/>
                </p:oleObj>
              </mc:Choice>
              <mc:Fallback>
                <p:oleObj name="" r:id="rId2" imgW="5681345" imgH="4798060" progId="">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1" y="2101435"/>
                        <a:ext cx="4184480" cy="2992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0" y="63364"/>
            <a:ext cx="6337300"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0" indent="0" algn="ctr" eaLnBrk="1" hangingPunct="1">
              <a:spcBef>
                <a:spcPct val="50000"/>
              </a:spcBef>
              <a:buClr>
                <a:schemeClr val="bg1"/>
              </a:buClr>
              <a:buNone/>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a:solidFill>
                  <a:schemeClr val="bg1"/>
                </a:solidFill>
                <a:latin typeface="宋体" panose="02010600030101010101" pitchFamily="2" charset="-122"/>
                <a:ea typeface="宋体" panose="02010600030101010101" pitchFamily="2" charset="-122"/>
              </a:rPr>
              <a:t>线性可分性</a:t>
            </a:r>
            <a:endParaRPr lang="zh-CN" altLang="en-US" sz="4800" b="1" dirty="0">
              <a:latin typeface="黑体" panose="02010609060101010101" pitchFamily="49" charset="-122"/>
              <a:ea typeface="宋体" panose="02010600030101010101" pitchFamily="2" charset="-122"/>
            </a:endParaRPr>
          </a:p>
        </p:txBody>
      </p:sp>
      <mc:AlternateContent xmlns:mc="http://schemas.openxmlformats.org/markup-compatibility/2006">
        <mc:Choice xmlns:a14="http://schemas.microsoft.com/office/drawing/2010/main" Requires="a14">
          <p:sp>
            <p:nvSpPr>
              <p:cNvPr id="3" name="文本框 2"/>
              <p:cNvSpPr txBox="1"/>
              <p:nvPr/>
            </p:nvSpPr>
            <p:spPr>
              <a:xfrm>
                <a:off x="570808" y="1615508"/>
                <a:ext cx="5957868" cy="2400657"/>
              </a:xfrm>
              <a:prstGeom prst="rect">
                <a:avLst/>
              </a:prstGeom>
              <a:noFill/>
            </p:spPr>
            <p:txBody>
              <a:bodyPr wrap="square" rtlCol="0">
                <a:spAutoFit/>
              </a:bodyPr>
              <a:lstStyle/>
              <a:p>
                <a:pPr>
                  <a:spcAft>
                    <a:spcPts val="1200"/>
                  </a:spcAft>
                </a:pPr>
                <a:r>
                  <a:rPr lang="zh-CN" altLang="en-US" sz="2400" dirty="0" smtClean="0"/>
                  <a:t>对于</a:t>
                </a:r>
                <a:r>
                  <a:rPr lang="zh-CN" altLang="zh-CN" sz="2400" dirty="0"/>
                  <a:t>分离超平面</a:t>
                </a:r>
                <a:r>
                  <a:rPr lang="zh-CN" altLang="en-US" sz="2400" dirty="0"/>
                  <a:t>：</a:t>
                </a:r>
                <a14:m>
                  <m:oMath xmlns:m="http://schemas.openxmlformats.org/officeDocument/2006/math">
                    <m:sSup>
                      <m:sSupPr>
                        <m:ctrlPr>
                          <a:rPr lang="zh-CN" altLang="zh-CN" sz="2400" i="1">
                            <a:solidFill>
                              <a:srgbClr val="C00000"/>
                            </a:solidFill>
                            <a:latin typeface="Cambria Math" panose="02040503050406030204" pitchFamily="18" charset="0"/>
                          </a:rPr>
                        </m:ctrlPr>
                      </m:sSupPr>
                      <m:e>
                        <m:r>
                          <a:rPr lang="en-US" altLang="zh-CN" sz="2400">
                            <a:solidFill>
                              <a:srgbClr val="C00000"/>
                            </a:solidFill>
                            <a:latin typeface="Cambria Math" panose="02040503050406030204" pitchFamily="18" charset="0"/>
                          </a:rPr>
                          <m:t>𝒘</m:t>
                        </m:r>
                      </m:e>
                      <m:sup>
                        <m:r>
                          <a:rPr lang="en-US" altLang="zh-CN" sz="2400">
                            <a:solidFill>
                              <a:srgbClr val="C00000"/>
                            </a:solidFill>
                            <a:latin typeface="Cambria Math" panose="02040503050406030204" pitchFamily="18" charset="0"/>
                          </a:rPr>
                          <m:t>𝑇</m:t>
                        </m:r>
                      </m:sup>
                    </m:sSup>
                    <m:r>
                      <a:rPr lang="en-US" altLang="zh-CN" sz="2400">
                        <a:solidFill>
                          <a:srgbClr val="C00000"/>
                        </a:solidFill>
                        <a:latin typeface="Cambria Math" panose="02040503050406030204" pitchFamily="18" charset="0"/>
                      </a:rPr>
                      <m:t>𝑋</m:t>
                    </m:r>
                    <m:r>
                      <a:rPr lang="en-US" altLang="zh-CN" sz="2400">
                        <a:solidFill>
                          <a:srgbClr val="C00000"/>
                        </a:solidFill>
                        <a:latin typeface="Cambria Math" panose="02040503050406030204" pitchFamily="18" charset="0"/>
                      </a:rPr>
                      <m:t>+</m:t>
                    </m:r>
                    <m:r>
                      <a:rPr lang="en-US" altLang="zh-CN" sz="2400">
                        <a:solidFill>
                          <a:srgbClr val="C00000"/>
                        </a:solidFill>
                        <a:latin typeface="Cambria Math" panose="02040503050406030204" pitchFamily="18" charset="0"/>
                      </a:rPr>
                      <m:t>𝑏</m:t>
                    </m:r>
                    <m:r>
                      <a:rPr lang="en-US" altLang="zh-CN" sz="2400">
                        <a:solidFill>
                          <a:srgbClr val="C00000"/>
                        </a:solidFill>
                        <a:latin typeface="Cambria Math" panose="02040503050406030204" pitchFamily="18" charset="0"/>
                      </a:rPr>
                      <m:t>=</m:t>
                    </m:r>
                    <m:r>
                      <a:rPr lang="en-US" altLang="zh-CN" sz="2400">
                        <a:solidFill>
                          <a:srgbClr val="C00000"/>
                        </a:solidFill>
                        <a:latin typeface="Cambria Math" panose="02040503050406030204" pitchFamily="18" charset="0"/>
                      </a:rPr>
                      <m:t>0</m:t>
                    </m:r>
                  </m:oMath>
                </a14:m>
                <a:endParaRPr lang="en-US" altLang="zh-CN" sz="2400" dirty="0">
                  <a:solidFill>
                    <a:srgbClr val="C00000"/>
                  </a:solidFill>
                </a:endParaRPr>
              </a:p>
              <a:p>
                <a:pPr>
                  <a:spcAft>
                    <a:spcPts val="1200"/>
                  </a:spcAft>
                </a:pPr>
                <a:r>
                  <a:rPr lang="zh-CN" altLang="en-US" sz="2400" dirty="0"/>
                  <a:t>可以</a:t>
                </a:r>
                <a:r>
                  <a:rPr lang="zh-CN" altLang="zh-CN" sz="2400" dirty="0"/>
                  <a:t>将方点和圆点表示的两类不同数据完全分离在该超平面的两侧，</a:t>
                </a:r>
                <a:r>
                  <a:rPr lang="zh-CN" altLang="en-US" sz="2400" dirty="0"/>
                  <a:t>使其满足：</a:t>
                </a:r>
                <a:endParaRPr lang="en-US" altLang="zh-CN" sz="2400" dirty="0"/>
              </a:p>
              <a:p>
                <a:pPr>
                  <a:spcAft>
                    <a:spcPts val="1200"/>
                  </a:spcAft>
                </a:pPr>
                <a:r>
                  <a:rPr lang="en-US" altLang="zh-CN" sz="2400" dirty="0"/>
                  <a:t>1</a:t>
                </a:r>
                <a:r>
                  <a:rPr lang="en-US" altLang="zh-CN" sz="2400" dirty="0" smtClean="0"/>
                  <a:t>.</a:t>
                </a:r>
                <a14:m>
                  <m:oMath xmlns:m="http://schemas.openxmlformats.org/officeDocument/2006/math">
                    <m:sSup>
                      <m:sSupPr>
                        <m:ctrlPr>
                          <a:rPr lang="zh-CN" altLang="zh-CN" sz="2400" i="1" smtClean="0">
                            <a:latin typeface="Cambria Math" panose="02040503050406030204" pitchFamily="18" charset="0"/>
                          </a:rPr>
                        </m:ctrlPr>
                      </m:sSupPr>
                      <m:e>
                        <m:r>
                          <a:rPr lang="en-US" altLang="zh-CN" sz="2400" b="1" i="1" smtClean="0">
                            <a:latin typeface="Cambria Math" panose="02040503050406030204" pitchFamily="18" charset="0"/>
                          </a:rPr>
                          <m:t> </m:t>
                        </m:r>
                        <m:r>
                          <a:rPr lang="en-US" altLang="zh-CN" sz="2400" b="1" i="1">
                            <a:latin typeface="Cambria Math" panose="02040503050406030204" pitchFamily="18" charset="0"/>
                          </a:rPr>
                          <m:t>𝒘</m:t>
                        </m:r>
                      </m:e>
                      <m:sup>
                        <m:r>
                          <a:rPr lang="en-US" altLang="zh-CN" sz="2400" i="1">
                            <a:latin typeface="Cambria Math" panose="02040503050406030204" pitchFamily="18" charset="0"/>
                          </a:rPr>
                          <m:t>𝑇</m:t>
                        </m:r>
                      </m:sup>
                    </m:sSup>
                    <m:r>
                      <a:rPr lang="en-US" altLang="zh-CN" sz="2400" i="1">
                        <a:latin typeface="Cambria Math" panose="02040503050406030204" pitchFamily="18" charset="0"/>
                      </a:rPr>
                      <m:t>𝑋</m:t>
                    </m:r>
                    <m:r>
                      <a:rPr lang="en-US" altLang="zh-CN" sz="2400" b="1" i="1">
                        <a:latin typeface="Cambria Math" panose="02040503050406030204" pitchFamily="18" charset="0"/>
                      </a:rPr>
                      <m:t>+</m:t>
                    </m:r>
                    <m:r>
                      <a:rPr lang="en-US" altLang="zh-CN" sz="2400" i="1">
                        <a:latin typeface="Cambria Math" panose="02040503050406030204" pitchFamily="18" charset="0"/>
                      </a:rPr>
                      <m:t>𝑏</m:t>
                    </m:r>
                    <m:r>
                      <a:rPr lang="en-US" altLang="zh-CN" sz="2400" i="1">
                        <a:latin typeface="Cambria Math" panose="02040503050406030204" pitchFamily="18" charset="0"/>
                      </a:rPr>
                      <m:t>&gt;</m:t>
                    </m:r>
                    <m:r>
                      <a:rPr lang="en-US" altLang="zh-CN" sz="2400" i="1">
                        <a:latin typeface="Cambria Math" panose="02040503050406030204" pitchFamily="18" charset="0"/>
                      </a:rPr>
                      <m:t>0</m:t>
                    </m:r>
                  </m:oMath>
                </a14:m>
                <a:r>
                  <a:rPr lang="zh-CN" altLang="zh-CN" sz="2400" dirty="0"/>
                  <a:t>的所有数据属于一类</a:t>
                </a:r>
                <a:r>
                  <a:rPr lang="zh-CN" altLang="en-US" sz="2400" dirty="0"/>
                  <a:t>；</a:t>
                </a:r>
                <a:endParaRPr lang="en-US" altLang="zh-CN" sz="2400" dirty="0"/>
              </a:p>
              <a:p>
                <a:pPr>
                  <a:spcAft>
                    <a:spcPts val="1200"/>
                  </a:spcAft>
                </a:pPr>
                <a:r>
                  <a:rPr lang="en-US" altLang="zh-CN" sz="2400" dirty="0"/>
                  <a:t>2</a:t>
                </a:r>
                <a:r>
                  <a:rPr lang="en-US" altLang="zh-CN" sz="2400" dirty="0" smtClean="0"/>
                  <a:t>.</a:t>
                </a:r>
                <a14:m>
                  <m:oMath xmlns:m="http://schemas.openxmlformats.org/officeDocument/2006/math">
                    <m:sSup>
                      <m:sSupPr>
                        <m:ctrlPr>
                          <a:rPr lang="zh-CN" altLang="zh-CN" sz="2400" i="1">
                            <a:latin typeface="Cambria Math" panose="02040503050406030204" pitchFamily="18" charset="0"/>
                          </a:rPr>
                        </m:ctrlPr>
                      </m:sSupPr>
                      <m:e>
                        <m:r>
                          <a:rPr lang="en-US" altLang="zh-CN" sz="2400" b="1" i="1" smtClean="0">
                            <a:latin typeface="Cambria Math" panose="02040503050406030204" pitchFamily="18" charset="0"/>
                          </a:rPr>
                          <m:t> </m:t>
                        </m:r>
                        <m:r>
                          <a:rPr lang="en-US" altLang="zh-CN" sz="2400" b="1" i="1">
                            <a:latin typeface="Cambria Math" panose="02040503050406030204" pitchFamily="18" charset="0"/>
                          </a:rPr>
                          <m:t>𝒘</m:t>
                        </m:r>
                      </m:e>
                      <m:sup>
                        <m:r>
                          <a:rPr lang="en-US" altLang="zh-CN" sz="2400" i="1">
                            <a:latin typeface="Cambria Math" panose="02040503050406030204" pitchFamily="18" charset="0"/>
                          </a:rPr>
                          <m:t>𝑇</m:t>
                        </m:r>
                      </m:sup>
                    </m:sSup>
                    <m:r>
                      <a:rPr lang="en-US" altLang="zh-CN" sz="2400" i="1">
                        <a:latin typeface="Cambria Math" panose="02040503050406030204" pitchFamily="18" charset="0"/>
                      </a:rPr>
                      <m:t>𝑋</m:t>
                    </m:r>
                    <m:r>
                      <a:rPr lang="en-US" altLang="zh-CN" sz="2400" b="1" i="1">
                        <a:latin typeface="Cambria Math" panose="02040503050406030204" pitchFamily="18" charset="0"/>
                      </a:rPr>
                      <m:t>+</m:t>
                    </m:r>
                    <m:r>
                      <a:rPr lang="en-US" altLang="zh-CN" sz="2400" i="1">
                        <a:latin typeface="Cambria Math" panose="02040503050406030204" pitchFamily="18" charset="0"/>
                      </a:rPr>
                      <m:t>𝑏</m:t>
                    </m:r>
                    <m:r>
                      <a:rPr lang="en-US" altLang="zh-CN" sz="2400" i="1">
                        <a:latin typeface="Cambria Math" panose="02040503050406030204" pitchFamily="18" charset="0"/>
                      </a:rPr>
                      <m:t>&lt;</m:t>
                    </m:r>
                    <m:r>
                      <a:rPr lang="en-US" altLang="zh-CN" sz="2400" i="1">
                        <a:latin typeface="Cambria Math" panose="02040503050406030204" pitchFamily="18" charset="0"/>
                      </a:rPr>
                      <m:t>0</m:t>
                    </m:r>
                  </m:oMath>
                </a14:m>
                <a:r>
                  <a:rPr lang="zh-CN" altLang="zh-CN" sz="2400" dirty="0"/>
                  <a:t>的所有数据属于另一类。</a:t>
                </a:r>
                <a:endParaRPr lang="zh-CN" altLang="en-US" sz="2400" dirty="0"/>
              </a:p>
            </p:txBody>
          </p:sp>
        </mc:Choice>
        <mc:Fallback>
          <p:sp>
            <p:nvSpPr>
              <p:cNvPr id="3" name="文本框 2"/>
              <p:cNvSpPr txBox="1">
                <a:spLocks noRot="1" noChangeAspect="1" noMove="1" noResize="1" noEditPoints="1" noAdjustHandles="1" noChangeArrowheads="1" noChangeShapeType="1" noTextEdit="1"/>
              </p:cNvSpPr>
              <p:nvPr/>
            </p:nvSpPr>
            <p:spPr>
              <a:xfrm>
                <a:off x="570808" y="1615508"/>
                <a:ext cx="5957868" cy="2400657"/>
              </a:xfrm>
              <a:prstGeom prst="rect">
                <a:avLst/>
              </a:prstGeom>
              <a:blipFill rotWithShape="1">
                <a:blip r:embed="rId2"/>
                <a:stretch>
                  <a:fillRect l="-10" t="-3" r="4" b="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820603" y="4773799"/>
                <a:ext cx="4689139" cy="984885"/>
              </a:xfrm>
              <a:prstGeom prst="rect">
                <a:avLst/>
              </a:prstGeom>
              <a:noFill/>
            </p:spPr>
            <p:txBody>
              <a:bodyPr wrap="square" rtlCol="0">
                <a:spAutoFit/>
              </a:bodyPr>
              <a:lstStyle/>
              <a:p>
                <a:pPr>
                  <a:spcAft>
                    <a:spcPts val="1200"/>
                  </a:spcAft>
                </a:pPr>
                <a:r>
                  <a:rPr lang="zh-CN" altLang="zh-CN" sz="2400" dirty="0"/>
                  <a:t>称样本数据集为</a:t>
                </a:r>
                <a:r>
                  <a:rPr lang="zh-CN" altLang="zh-CN" sz="2400" b="1" dirty="0">
                    <a:solidFill>
                      <a:srgbClr val="0070C0"/>
                    </a:solidFill>
                  </a:rPr>
                  <a:t>线性可分</a:t>
                </a:r>
                <a:r>
                  <a:rPr lang="zh-CN" altLang="en-US" sz="2400" b="1" dirty="0"/>
                  <a:t>；</a:t>
                </a:r>
                <a:endParaRPr lang="en-US" altLang="zh-CN" sz="2400" b="1" dirty="0"/>
              </a:p>
              <a:p>
                <a:pPr>
                  <a:spcAft>
                    <a:spcPts val="1200"/>
                  </a:spcAft>
                </a:pPr>
                <a:r>
                  <a:rPr lang="zh-CN" altLang="zh-CN" sz="2400" dirty="0"/>
                  <a:t>称</a:t>
                </a:r>
                <a14:m>
                  <m:oMath xmlns:m="http://schemas.openxmlformats.org/officeDocument/2006/math">
                    <m:sSup>
                      <m:sSupPr>
                        <m:ctrlPr>
                          <a:rPr lang="zh-CN" altLang="zh-CN" sz="2400" i="1">
                            <a:latin typeface="Cambria Math" panose="02040503050406030204" pitchFamily="18" charset="0"/>
                          </a:rPr>
                        </m:ctrlPr>
                      </m:sSupPr>
                      <m:e>
                        <m:r>
                          <a:rPr lang="en-US" altLang="zh-CN" sz="2400" b="1" i="1">
                            <a:latin typeface="Cambria Math" panose="02040503050406030204" pitchFamily="18" charset="0"/>
                          </a:rPr>
                          <m:t>𝒘</m:t>
                        </m:r>
                      </m:e>
                      <m:sup>
                        <m:r>
                          <a:rPr lang="en-US" altLang="zh-CN" sz="2400" i="1">
                            <a:latin typeface="Cambria Math" panose="02040503050406030204" pitchFamily="18" charset="0"/>
                          </a:rPr>
                          <m:t>𝑇</m:t>
                        </m:r>
                      </m:sup>
                    </m:sSup>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𝑏</m:t>
                    </m:r>
                    <m:r>
                      <a:rPr lang="en-US" altLang="zh-CN" sz="2400" i="1">
                        <a:latin typeface="Cambria Math" panose="02040503050406030204" pitchFamily="18" charset="0"/>
                      </a:rPr>
                      <m:t>=</m:t>
                    </m:r>
                    <m:r>
                      <a:rPr lang="en-US" altLang="zh-CN" sz="2400" i="1">
                        <a:latin typeface="Cambria Math" panose="02040503050406030204" pitchFamily="18" charset="0"/>
                      </a:rPr>
                      <m:t>0</m:t>
                    </m:r>
                  </m:oMath>
                </a14:m>
                <a:r>
                  <a:rPr lang="zh-CN" altLang="zh-CN" sz="2400" dirty="0"/>
                  <a:t>为</a:t>
                </a:r>
                <a:r>
                  <a:rPr lang="zh-CN" altLang="zh-CN" sz="2400" b="1" dirty="0">
                    <a:solidFill>
                      <a:srgbClr val="FF0000"/>
                    </a:solidFill>
                  </a:rPr>
                  <a:t>分离超平面</a:t>
                </a:r>
                <a:r>
                  <a:rPr lang="zh-CN" altLang="zh-CN" sz="2400" dirty="0"/>
                  <a:t>。</a:t>
                </a:r>
                <a:endParaRPr lang="zh-CN" altLang="en-US" sz="2400" dirty="0"/>
              </a:p>
            </p:txBody>
          </p:sp>
        </mc:Choice>
        <mc:Fallback>
          <p:sp>
            <p:nvSpPr>
              <p:cNvPr id="4" name="文本框 3"/>
              <p:cNvSpPr txBox="1">
                <a:spLocks noRot="1" noChangeAspect="1" noMove="1" noResize="1" noEditPoints="1" noAdjustHandles="1" noChangeArrowheads="1" noChangeShapeType="1" noTextEdit="1"/>
              </p:cNvSpPr>
              <p:nvPr/>
            </p:nvSpPr>
            <p:spPr>
              <a:xfrm>
                <a:off x="820603" y="4773799"/>
                <a:ext cx="4689139" cy="984885"/>
              </a:xfrm>
              <a:prstGeom prst="rect">
                <a:avLst/>
              </a:prstGeom>
              <a:blipFill rotWithShape="1">
                <a:blip r:embed="rId3"/>
                <a:stretch>
                  <a:fillRect l="-4" t="-51" r="10" b="51"/>
                </a:stretch>
              </a:blipFill>
            </p:spPr>
            <p:txBody>
              <a:bodyPr/>
              <a:lstStyle/>
              <a:p>
                <a:r>
                  <a:rPr lang="zh-CN" altLang="en-US">
                    <a:noFill/>
                  </a:rPr>
                  <a:t> </a:t>
                </a:r>
              </a:p>
            </p:txBody>
          </p:sp>
        </mc:Fallback>
      </mc:AlternateContent>
      <p:graphicFrame>
        <p:nvGraphicFramePr>
          <p:cNvPr id="6" name="对象 -2147482624"/>
          <p:cNvGraphicFramePr>
            <a:graphicFrameLocks noChangeAspect="1"/>
          </p:cNvGraphicFramePr>
          <p:nvPr/>
        </p:nvGraphicFramePr>
        <p:xfrm>
          <a:off x="7345468" y="1817516"/>
          <a:ext cx="3788565" cy="2832035"/>
        </p:xfrm>
        <a:graphic>
          <a:graphicData uri="http://schemas.openxmlformats.org/presentationml/2006/ole">
            <mc:AlternateContent xmlns:mc="http://schemas.openxmlformats.org/markup-compatibility/2006">
              <mc:Choice xmlns:v="urn:schemas-microsoft-com:vml" Requires="v">
                <p:oleObj spid="_x0000_s33947" name="" r:id="rId4" imgW="5681345" imgH="4798060" progId="Visio.Drawing.15">
                  <p:embed/>
                </p:oleObj>
              </mc:Choice>
              <mc:Fallback>
                <p:oleObj name="" r:id="rId4" imgW="5681345" imgH="4798060" progId="Visio.Drawing.15">
                  <p:embed/>
                  <p:pic>
                    <p:nvPicPr>
                      <p:cNvPr id="0" name="对象 -2147482624"/>
                      <p:cNvPicPr/>
                      <p:nvPr/>
                    </p:nvPicPr>
                    <p:blipFill>
                      <a:blip r:embed="rId5"/>
                      <a:stretch>
                        <a:fillRect/>
                      </a:stretch>
                    </p:blipFill>
                    <p:spPr>
                      <a:xfrm>
                        <a:off x="7345468" y="1817516"/>
                        <a:ext cx="3788565" cy="2832035"/>
                      </a:xfrm>
                      <a:prstGeom prst="rect">
                        <a:avLst/>
                      </a:prstGeom>
                      <a:no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7" name="矩形 6"/>
              <p:cNvSpPr/>
              <p:nvPr/>
            </p:nvSpPr>
            <p:spPr>
              <a:xfrm>
                <a:off x="9697520" y="1510594"/>
                <a:ext cx="2037866"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zh-CN" altLang="zh-CN" sz="2400" i="1">
                              <a:solidFill>
                                <a:srgbClr val="000000"/>
                              </a:solidFill>
                              <a:latin typeface="Cambria Math" panose="02040503050406030204" pitchFamily="18" charset="0"/>
                            </a:rPr>
                          </m:ctrlPr>
                        </m:sSupPr>
                        <m:e>
                          <m:r>
                            <a:rPr lang="en-US" altLang="zh-CN" sz="2400" b="1" i="1">
                              <a:solidFill>
                                <a:srgbClr val="000000"/>
                              </a:solidFill>
                              <a:latin typeface="Cambria Math" panose="02040503050406030204" pitchFamily="18" charset="0"/>
                            </a:rPr>
                            <m:t> </m:t>
                          </m:r>
                          <m:r>
                            <a:rPr lang="en-US" altLang="zh-CN" sz="2400" b="1" i="1">
                              <a:solidFill>
                                <a:srgbClr val="000000"/>
                              </a:solidFill>
                              <a:latin typeface="Cambria Math" panose="02040503050406030204" pitchFamily="18" charset="0"/>
                            </a:rPr>
                            <m:t>𝒘</m:t>
                          </m:r>
                        </m:e>
                        <m:sup>
                          <m:r>
                            <a:rPr lang="en-US" altLang="zh-CN" sz="2400" i="1">
                              <a:solidFill>
                                <a:srgbClr val="000000"/>
                              </a:solidFill>
                              <a:latin typeface="Cambria Math" panose="02040503050406030204" pitchFamily="18" charset="0"/>
                            </a:rPr>
                            <m:t>𝑇</m:t>
                          </m:r>
                        </m:sup>
                      </m:sSup>
                      <m:r>
                        <a:rPr lang="en-US" altLang="zh-CN" sz="2400" i="1">
                          <a:solidFill>
                            <a:srgbClr val="000000"/>
                          </a:solidFill>
                          <a:latin typeface="Cambria Math" panose="02040503050406030204" pitchFamily="18" charset="0"/>
                        </a:rPr>
                        <m:t>𝑋</m:t>
                      </m:r>
                      <m:r>
                        <a:rPr lang="en-US" altLang="zh-CN" sz="2400" b="1"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𝑏</m:t>
                      </m:r>
                      <m:r>
                        <a:rPr lang="en-US" altLang="zh-CN" sz="2400" i="1">
                          <a:solidFill>
                            <a:srgbClr val="000000"/>
                          </a:solidFill>
                          <a:latin typeface="Cambria Math" panose="02040503050406030204" pitchFamily="18" charset="0"/>
                        </a:rPr>
                        <m:t>&gt;</m:t>
                      </m:r>
                      <m:r>
                        <a:rPr lang="en-US" altLang="zh-CN" sz="2400" i="1">
                          <a:solidFill>
                            <a:srgbClr val="000000"/>
                          </a:solidFill>
                          <a:latin typeface="Cambria Math" panose="02040503050406030204" pitchFamily="18" charset="0"/>
                        </a:rPr>
                        <m:t>0</m:t>
                      </m:r>
                    </m:oMath>
                  </m:oMathPara>
                </a14:m>
                <a:endParaRPr lang="zh-CN" altLang="en-US" dirty="0"/>
              </a:p>
            </p:txBody>
          </p:sp>
        </mc:Choice>
        <mc:Fallback>
          <p:sp>
            <p:nvSpPr>
              <p:cNvPr id="7" name="矩形 6"/>
              <p:cNvSpPr>
                <a:spLocks noRot="1" noChangeAspect="1" noMove="1" noResize="1" noEditPoints="1" noAdjustHandles="1" noChangeArrowheads="1" noChangeShapeType="1" noTextEdit="1"/>
              </p:cNvSpPr>
              <p:nvPr/>
            </p:nvSpPr>
            <p:spPr>
              <a:xfrm>
                <a:off x="9697520" y="1510594"/>
                <a:ext cx="2037866" cy="461665"/>
              </a:xfrm>
              <a:prstGeom prst="rect">
                <a:avLst/>
              </a:prstGeom>
              <a:blipFill rotWithShape="1">
                <a:blip r:embed="rId6"/>
                <a:stretch>
                  <a:fillRect l="-21" t="-122" r="29" b="1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7460049" y="4651840"/>
                <a:ext cx="2037866"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zh-CN" altLang="zh-CN" sz="2400" i="1">
                              <a:solidFill>
                                <a:srgbClr val="000000"/>
                              </a:solidFill>
                              <a:latin typeface="Cambria Math" panose="02040503050406030204" pitchFamily="18" charset="0"/>
                            </a:rPr>
                          </m:ctrlPr>
                        </m:sSupPr>
                        <m:e>
                          <m:r>
                            <a:rPr lang="en-US" altLang="zh-CN" sz="2400" b="1" i="1">
                              <a:solidFill>
                                <a:srgbClr val="000000"/>
                              </a:solidFill>
                              <a:latin typeface="Cambria Math" panose="02040503050406030204" pitchFamily="18" charset="0"/>
                            </a:rPr>
                            <m:t> </m:t>
                          </m:r>
                          <m:r>
                            <a:rPr lang="en-US" altLang="zh-CN" sz="2400" b="1" i="1">
                              <a:solidFill>
                                <a:srgbClr val="000000"/>
                              </a:solidFill>
                              <a:latin typeface="Cambria Math" panose="02040503050406030204" pitchFamily="18" charset="0"/>
                            </a:rPr>
                            <m:t>𝒘</m:t>
                          </m:r>
                        </m:e>
                        <m:sup>
                          <m:r>
                            <a:rPr lang="en-US" altLang="zh-CN" sz="2400" i="1">
                              <a:solidFill>
                                <a:srgbClr val="000000"/>
                              </a:solidFill>
                              <a:latin typeface="Cambria Math" panose="02040503050406030204" pitchFamily="18" charset="0"/>
                            </a:rPr>
                            <m:t>𝑇</m:t>
                          </m:r>
                        </m:sup>
                      </m:sSup>
                      <m:r>
                        <a:rPr lang="en-US" altLang="zh-CN" sz="2400" i="1">
                          <a:solidFill>
                            <a:srgbClr val="000000"/>
                          </a:solidFill>
                          <a:latin typeface="Cambria Math" panose="02040503050406030204" pitchFamily="18" charset="0"/>
                        </a:rPr>
                        <m:t>𝑋</m:t>
                      </m:r>
                      <m:r>
                        <a:rPr lang="en-US" altLang="zh-CN" sz="2400" b="1"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𝑏</m:t>
                      </m:r>
                      <m:r>
                        <a:rPr lang="en-US" altLang="zh-CN" sz="2400" i="1">
                          <a:solidFill>
                            <a:srgbClr val="000000"/>
                          </a:solidFill>
                          <a:latin typeface="Cambria Math" panose="02040503050406030204" pitchFamily="18" charset="0"/>
                        </a:rPr>
                        <m:t>&lt;</m:t>
                      </m:r>
                      <m:r>
                        <a:rPr lang="en-US" altLang="zh-CN" sz="2400" i="1">
                          <a:solidFill>
                            <a:srgbClr val="000000"/>
                          </a:solidFill>
                          <a:latin typeface="Cambria Math" panose="02040503050406030204" pitchFamily="18" charset="0"/>
                        </a:rPr>
                        <m:t>0</m:t>
                      </m:r>
                    </m:oMath>
                  </m:oMathPara>
                </a14:m>
                <a:endParaRPr lang="zh-CN" altLang="en-US" dirty="0"/>
              </a:p>
            </p:txBody>
          </p:sp>
        </mc:Choice>
        <mc:Fallback>
          <p:sp>
            <p:nvSpPr>
              <p:cNvPr id="8" name="矩形 7"/>
              <p:cNvSpPr>
                <a:spLocks noRot="1" noChangeAspect="1" noMove="1" noResize="1" noEditPoints="1" noAdjustHandles="1" noChangeArrowheads="1" noChangeShapeType="1" noTextEdit="1"/>
              </p:cNvSpPr>
              <p:nvPr/>
            </p:nvSpPr>
            <p:spPr>
              <a:xfrm>
                <a:off x="7460049" y="4651840"/>
                <a:ext cx="2037866" cy="461665"/>
              </a:xfrm>
              <a:prstGeom prst="rect">
                <a:avLst/>
              </a:prstGeom>
              <a:blipFill rotWithShape="1">
                <a:blip r:embed="rId7"/>
                <a:stretch>
                  <a:fillRect l="-3" t="-101" r="11" b="1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7345469" y="1049784"/>
                <a:ext cx="1968937" cy="615553"/>
              </a:xfrm>
              <a:prstGeom prst="rect">
                <a:avLst/>
              </a:prstGeom>
            </p:spPr>
            <p:txBody>
              <a:bodyPr wrap="none">
                <a:spAutoFit/>
              </a:bodyPr>
              <a:lstStyle/>
              <a:p>
                <a:pPr lvl="0">
                  <a:spcAft>
                    <a:spcPts val="1200"/>
                  </a:spcAft>
                </a:pPr>
                <a14:m>
                  <m:oMathPara xmlns:m="http://schemas.openxmlformats.org/officeDocument/2006/math">
                    <m:oMathParaPr>
                      <m:jc m:val="centerGroup"/>
                    </m:oMathParaPr>
                    <m:oMath xmlns:m="http://schemas.openxmlformats.org/officeDocument/2006/math">
                      <m:sSup>
                        <m:sSupPr>
                          <m:ctrlPr>
                            <a:rPr lang="zh-CN" altLang="zh-CN" sz="2400" i="1">
                              <a:solidFill>
                                <a:srgbClr val="C00000"/>
                              </a:solidFill>
                              <a:latin typeface="Cambria Math" panose="02040503050406030204" pitchFamily="18" charset="0"/>
                            </a:rPr>
                          </m:ctrlPr>
                        </m:sSupPr>
                        <m:e>
                          <m:r>
                            <a:rPr lang="en-US" altLang="zh-CN" sz="2400">
                              <a:solidFill>
                                <a:srgbClr val="C00000"/>
                              </a:solidFill>
                              <a:latin typeface="Cambria Math" panose="02040503050406030204" pitchFamily="18" charset="0"/>
                            </a:rPr>
                            <m:t>𝒘</m:t>
                          </m:r>
                        </m:e>
                        <m:sup>
                          <m:r>
                            <a:rPr lang="en-US" altLang="zh-CN" sz="2400">
                              <a:solidFill>
                                <a:srgbClr val="C00000"/>
                              </a:solidFill>
                              <a:latin typeface="Cambria Math" panose="02040503050406030204" pitchFamily="18" charset="0"/>
                            </a:rPr>
                            <m:t>𝑇</m:t>
                          </m:r>
                        </m:sup>
                      </m:sSup>
                      <m:r>
                        <a:rPr lang="en-US" altLang="zh-CN" sz="2400">
                          <a:solidFill>
                            <a:srgbClr val="C00000"/>
                          </a:solidFill>
                          <a:latin typeface="Cambria Math" panose="02040503050406030204" pitchFamily="18" charset="0"/>
                        </a:rPr>
                        <m:t>𝑋</m:t>
                      </m:r>
                      <m:r>
                        <a:rPr lang="en-US" altLang="zh-CN" sz="2400">
                          <a:solidFill>
                            <a:srgbClr val="C00000"/>
                          </a:solidFill>
                          <a:latin typeface="Cambria Math" panose="02040503050406030204" pitchFamily="18" charset="0"/>
                        </a:rPr>
                        <m:t>+</m:t>
                      </m:r>
                      <m:r>
                        <a:rPr lang="en-US" altLang="zh-CN" sz="2400">
                          <a:solidFill>
                            <a:srgbClr val="C00000"/>
                          </a:solidFill>
                          <a:latin typeface="Cambria Math" panose="02040503050406030204" pitchFamily="18" charset="0"/>
                        </a:rPr>
                        <m:t>𝑏</m:t>
                      </m:r>
                      <m:r>
                        <a:rPr lang="en-US" altLang="zh-CN" sz="2400">
                          <a:solidFill>
                            <a:srgbClr val="C00000"/>
                          </a:solidFill>
                          <a:latin typeface="Cambria Math" panose="02040503050406030204" pitchFamily="18" charset="0"/>
                        </a:rPr>
                        <m:t>=</m:t>
                      </m:r>
                      <m:r>
                        <a:rPr lang="en-US" altLang="zh-CN" sz="2400">
                          <a:solidFill>
                            <a:srgbClr val="C00000"/>
                          </a:solidFill>
                          <a:latin typeface="Cambria Math" panose="02040503050406030204" pitchFamily="18" charset="0"/>
                        </a:rPr>
                        <m:t>0</m:t>
                      </m:r>
                    </m:oMath>
                  </m:oMathPara>
                </a14:m>
                <a:endParaRPr lang="en-US" altLang="zh-CN" sz="2400" dirty="0">
                  <a:solidFill>
                    <a:srgbClr val="C00000"/>
                  </a:solidFill>
                </a:endParaRPr>
              </a:p>
            </p:txBody>
          </p:sp>
        </mc:Choice>
        <mc:Fallback>
          <p:sp>
            <p:nvSpPr>
              <p:cNvPr id="9" name="矩形 8"/>
              <p:cNvSpPr>
                <a:spLocks noRot="1" noChangeAspect="1" noMove="1" noResize="1" noEditPoints="1" noAdjustHandles="1" noChangeArrowheads="1" noChangeShapeType="1" noTextEdit="1"/>
              </p:cNvSpPr>
              <p:nvPr/>
            </p:nvSpPr>
            <p:spPr>
              <a:xfrm>
                <a:off x="7345469" y="1049784"/>
                <a:ext cx="1968937" cy="615553"/>
              </a:xfrm>
              <a:prstGeom prst="rect">
                <a:avLst/>
              </a:prstGeom>
              <a:blipFill rotWithShape="1">
                <a:blip r:embed="rId8"/>
                <a:stretch>
                  <a:fillRect l="-22" t="-21" r="11" b="60"/>
                </a:stretch>
              </a:blipFill>
            </p:spPr>
            <p:txBody>
              <a:bodyPr/>
              <a:lstStyle/>
              <a:p>
                <a:r>
                  <a:rPr lang="zh-CN" altLang="en-US">
                    <a:noFill/>
                  </a:rPr>
                  <a:t> </a:t>
                </a:r>
              </a:p>
            </p:txBody>
          </p:sp>
        </mc:Fallback>
      </mc:AlternateContent>
      <p:cxnSp>
        <p:nvCxnSpPr>
          <p:cNvPr id="11" name="直接箭头连接符 10"/>
          <p:cNvCxnSpPr>
            <a:stCxn id="9" idx="2"/>
          </p:cNvCxnSpPr>
          <p:nvPr/>
        </p:nvCxnSpPr>
        <p:spPr>
          <a:xfrm flipH="1">
            <a:off x="8318737" y="1665337"/>
            <a:ext cx="11201" cy="42481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10307782" y="1877742"/>
            <a:ext cx="193963" cy="4014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V="1">
            <a:off x="8437418" y="4016165"/>
            <a:ext cx="41564" cy="554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105773" y="36633"/>
            <a:ext cx="6337300"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0" indent="0" algn="ctr" eaLnBrk="1" hangingPunct="1">
              <a:spcBef>
                <a:spcPct val="50000"/>
              </a:spcBef>
              <a:buClr>
                <a:schemeClr val="bg1"/>
              </a:buClr>
              <a:buNone/>
            </a:pPr>
            <a:r>
              <a:rPr lang="zh-CN" altLang="en-US" sz="5400" b="1" dirty="0" smtClean="0">
                <a:solidFill>
                  <a:schemeClr val="bg1"/>
                </a:solidFill>
                <a:latin typeface="宋体" panose="02010600030101010101" pitchFamily="2" charset="-122"/>
                <a:ea typeface="宋体" panose="02010600030101010101" pitchFamily="2" charset="-122"/>
              </a:rPr>
              <a:t>线性</a:t>
            </a:r>
            <a:r>
              <a:rPr lang="zh-CN" altLang="en-US" sz="5400" b="1" dirty="0">
                <a:solidFill>
                  <a:schemeClr val="bg1"/>
                </a:solidFill>
                <a:latin typeface="宋体" panose="02010600030101010101" pitchFamily="2" charset="-122"/>
                <a:ea typeface="宋体" panose="02010600030101010101" pitchFamily="2" charset="-122"/>
              </a:rPr>
              <a:t>可分性</a:t>
            </a:r>
            <a:endParaRPr lang="zh-CN" altLang="en-US" sz="4800" b="1" dirty="0">
              <a:latin typeface="黑体" panose="02010609060101010101" pitchFamily="49" charset="-122"/>
              <a:ea typeface="宋体" panose="02010600030101010101" pitchFamily="2" charset="-122"/>
            </a:endParaRPr>
          </a:p>
        </p:txBody>
      </p:sp>
      <p:sp>
        <p:nvSpPr>
          <p:cNvPr id="7" name="文本框 6"/>
          <p:cNvSpPr txBox="1"/>
          <p:nvPr/>
        </p:nvSpPr>
        <p:spPr>
          <a:xfrm>
            <a:off x="958887" y="4647327"/>
            <a:ext cx="10309478" cy="1354217"/>
          </a:xfrm>
          <a:prstGeom prst="rect">
            <a:avLst/>
          </a:prstGeom>
          <a:noFill/>
        </p:spPr>
        <p:txBody>
          <a:bodyPr wrap="square" rtlCol="0">
            <a:spAutoFit/>
          </a:bodyPr>
          <a:lstStyle/>
          <a:p>
            <a:pPr>
              <a:spcAft>
                <a:spcPts val="1200"/>
              </a:spcAft>
            </a:pPr>
            <a:r>
              <a:rPr lang="zh-CN" altLang="zh-CN" sz="2400" dirty="0"/>
              <a:t>对于一个线性可分性的样本数据集，</a:t>
            </a:r>
            <a:r>
              <a:rPr lang="zh-CN" altLang="en-US" sz="2400" dirty="0"/>
              <a:t>其</a:t>
            </a:r>
            <a:r>
              <a:rPr lang="zh-CN" altLang="zh-CN" sz="2400" dirty="0"/>
              <a:t>分离超平面通常</a:t>
            </a:r>
            <a:r>
              <a:rPr lang="zh-CN" altLang="zh-CN" sz="2400" dirty="0">
                <a:solidFill>
                  <a:srgbClr val="FF0000"/>
                </a:solidFill>
              </a:rPr>
              <a:t>不止一个</a:t>
            </a:r>
            <a:r>
              <a:rPr lang="zh-CN" altLang="en-US" sz="2400" dirty="0" smtClean="0"/>
              <a:t>。</a:t>
            </a:r>
            <a:endParaRPr lang="en-US" altLang="zh-CN" sz="2400" dirty="0" smtClean="0"/>
          </a:p>
          <a:p>
            <a:pPr>
              <a:spcAft>
                <a:spcPts val="1200"/>
              </a:spcAft>
            </a:pPr>
            <a:r>
              <a:rPr lang="zh-CN" altLang="en-US" sz="2400" dirty="0" smtClean="0">
                <a:latin typeface="Cambria" panose="02040503050406030204" pitchFamily="18" charset="0"/>
              </a:rPr>
              <a:t>线性</a:t>
            </a:r>
            <a:r>
              <a:rPr lang="zh-CN" altLang="en-US" sz="2400" dirty="0">
                <a:latin typeface="Cambria" panose="02040503050406030204" pitchFamily="18" charset="0"/>
              </a:rPr>
              <a:t>可分支持向量机提出了</a:t>
            </a:r>
            <a:r>
              <a:rPr lang="zh-CN" altLang="en-US" sz="2400" b="1" dirty="0">
                <a:solidFill>
                  <a:srgbClr val="00B050"/>
                </a:solidFill>
                <a:latin typeface="Cambria" panose="02040503050406030204" pitchFamily="18" charset="0"/>
              </a:rPr>
              <a:t>间隔最大化</a:t>
            </a:r>
            <a:r>
              <a:rPr lang="zh-CN" altLang="en-US" sz="2400" dirty="0">
                <a:latin typeface="Cambria" panose="02040503050406030204" pitchFamily="18" charset="0"/>
              </a:rPr>
              <a:t>条件，以此来求得距离两个可分类的</a:t>
            </a:r>
            <a:r>
              <a:rPr lang="zh-CN" altLang="en-US" sz="2400" b="1" dirty="0">
                <a:latin typeface="Cambria" panose="02040503050406030204" pitchFamily="18" charset="0"/>
              </a:rPr>
              <a:t>最佳超平面</a:t>
            </a:r>
            <a:r>
              <a:rPr lang="zh-CN" altLang="en-US" sz="2400" dirty="0" smtClean="0">
                <a:latin typeface="Cambria" panose="02040503050406030204" pitchFamily="18" charset="0"/>
              </a:rPr>
              <a:t>。</a:t>
            </a:r>
            <a:endParaRPr lang="zh-CN" altLang="en-US" sz="2400" dirty="0"/>
          </a:p>
        </p:txBody>
      </p:sp>
      <p:graphicFrame>
        <p:nvGraphicFramePr>
          <p:cNvPr id="5" name="对象 -2147482624"/>
          <p:cNvGraphicFramePr>
            <a:graphicFrameLocks noChangeAspect="1"/>
          </p:cNvGraphicFramePr>
          <p:nvPr/>
        </p:nvGraphicFramePr>
        <p:xfrm>
          <a:off x="5895809" y="1700622"/>
          <a:ext cx="3960000" cy="2832035"/>
        </p:xfrm>
        <a:graphic>
          <a:graphicData uri="http://schemas.openxmlformats.org/presentationml/2006/ole">
            <mc:AlternateContent xmlns:mc="http://schemas.openxmlformats.org/markup-compatibility/2006">
              <mc:Choice xmlns:v="urn:schemas-microsoft-com:vml" Requires="v">
                <p:oleObj spid="_x0000_s34971" name="" r:id="rId2" imgW="5681345" imgH="4798060" progId="Visio.Drawing.15">
                  <p:embed/>
                </p:oleObj>
              </mc:Choice>
              <mc:Fallback>
                <p:oleObj name="" r:id="rId2" imgW="5681345" imgH="4798060" progId="Visio.Drawing.15">
                  <p:embed/>
                  <p:pic>
                    <p:nvPicPr>
                      <p:cNvPr id="0" name="对象 -2147482624"/>
                      <p:cNvPicPr/>
                      <p:nvPr/>
                    </p:nvPicPr>
                    <p:blipFill>
                      <a:blip r:embed="rId3"/>
                      <a:stretch>
                        <a:fillRect/>
                      </a:stretch>
                    </p:blipFill>
                    <p:spPr>
                      <a:xfrm>
                        <a:off x="5895809" y="1700622"/>
                        <a:ext cx="3960000" cy="2832035"/>
                      </a:xfrm>
                      <a:prstGeom prst="rect">
                        <a:avLst/>
                      </a:prstGeom>
                      <a:noFill/>
                      <a:ln w="38100">
                        <a:noFill/>
                        <a:miter/>
                      </a:ln>
                    </p:spPr>
                  </p:pic>
                </p:oleObj>
              </mc:Fallback>
            </mc:AlternateContent>
          </a:graphicData>
        </a:graphic>
      </p:graphicFrame>
      <p:pic>
        <p:nvPicPr>
          <p:cNvPr id="8" name="图片 7"/>
          <p:cNvPicPr>
            <a:picLocks noChangeAspect="1"/>
          </p:cNvPicPr>
          <p:nvPr/>
        </p:nvPicPr>
        <p:blipFill>
          <a:blip r:embed="rId4"/>
          <a:stretch>
            <a:fillRect/>
          </a:stretch>
        </p:blipFill>
        <p:spPr>
          <a:xfrm>
            <a:off x="958886" y="1732165"/>
            <a:ext cx="3830862" cy="2800492"/>
          </a:xfrm>
          <a:prstGeom prst="rect">
            <a:avLst/>
          </a:prstGeom>
        </p:spPr>
      </p:pic>
    </p:spTree>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1" y="-1"/>
            <a:ext cx="12187121" cy="68580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0" y="0"/>
            <a:ext cx="6337300"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0" indent="0" algn="ctr" eaLnBrk="1" hangingPunct="1">
              <a:spcBef>
                <a:spcPct val="50000"/>
              </a:spcBef>
              <a:buClr>
                <a:schemeClr val="bg1"/>
              </a:buClr>
              <a:buNone/>
            </a:pPr>
            <a:r>
              <a:rPr lang="zh-CN" altLang="en-US" sz="5400" b="1" dirty="0" smtClean="0">
                <a:solidFill>
                  <a:schemeClr val="bg1"/>
                </a:solidFill>
                <a:latin typeface="宋体" panose="02010600030101010101" pitchFamily="2" charset="-122"/>
                <a:ea typeface="宋体" panose="02010600030101010101" pitchFamily="2" charset="-122"/>
              </a:rPr>
              <a:t>线性</a:t>
            </a:r>
            <a:r>
              <a:rPr lang="zh-CN" altLang="en-US" sz="5400" b="1" dirty="0">
                <a:solidFill>
                  <a:schemeClr val="bg1"/>
                </a:solidFill>
                <a:latin typeface="宋体" panose="02010600030101010101" pitchFamily="2" charset="-122"/>
                <a:ea typeface="宋体" panose="02010600030101010101" pitchFamily="2" charset="-122"/>
              </a:rPr>
              <a:t>可分性</a:t>
            </a:r>
            <a:endParaRPr lang="zh-CN" altLang="en-US" sz="4800" b="1" dirty="0">
              <a:latin typeface="黑体" panose="02010609060101010101" pitchFamily="49" charset="-122"/>
              <a:ea typeface="宋体" panose="0201060003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1089891" y="1687806"/>
                <a:ext cx="9217892" cy="3706495"/>
              </a:xfrm>
              <a:prstGeom prst="rect">
                <a:avLst/>
              </a:prstGeom>
              <a:noFill/>
            </p:spPr>
            <p:txBody>
              <a:bodyPr wrap="square" rtlCol="0">
                <a:spAutoFit/>
              </a:bodyPr>
              <a:lstStyle/>
              <a:p>
                <a:pPr>
                  <a:spcAft>
                    <a:spcPts val="1200"/>
                  </a:spcAft>
                </a:pPr>
                <a:r>
                  <a:rPr lang="zh-CN" altLang="zh-CN" sz="2400" dirty="0"/>
                  <a:t>样本数据集</a:t>
                </a:r>
                <a:r>
                  <a:rPr lang="zh-CN" altLang="en-US" sz="2400" dirty="0"/>
                  <a:t>：</a:t>
                </a:r>
                <a14:m>
                  <m:oMath xmlns:m="http://schemas.openxmlformats.org/officeDocument/2006/math">
                    <m:r>
                      <a:rPr lang="en-US" altLang="zh-CN" sz="2400">
                        <a:solidFill>
                          <a:srgbClr val="C00000"/>
                        </a:solidFill>
                        <a:latin typeface="Cambria Math" panose="02040503050406030204" pitchFamily="18" charset="0"/>
                      </a:rPr>
                      <m:t>𝐷</m:t>
                    </m:r>
                    <m:r>
                      <a:rPr lang="en-US" altLang="zh-CN" sz="2400">
                        <a:solidFill>
                          <a:srgbClr val="C00000"/>
                        </a:solidFill>
                        <a:latin typeface="Cambria Math" panose="02040503050406030204" pitchFamily="18" charset="0"/>
                      </a:rPr>
                      <m:t>=</m:t>
                    </m:r>
                    <m:d>
                      <m:dPr>
                        <m:begChr m:val="{"/>
                        <m:endChr m:val="}"/>
                        <m:ctrlPr>
                          <a:rPr lang="en-US" altLang="zh-CN" sz="2400" i="1">
                            <a:solidFill>
                              <a:srgbClr val="C00000"/>
                            </a:solidFill>
                            <a:latin typeface="Cambria Math" panose="02040503050406030204" pitchFamily="18" charset="0"/>
                          </a:rPr>
                        </m:ctrlPr>
                      </m:dPr>
                      <m:e>
                        <m:d>
                          <m:dPr>
                            <m:ctrlPr>
                              <a:rPr lang="zh-CN" altLang="zh-CN" sz="2400" i="1">
                                <a:solidFill>
                                  <a:srgbClr val="C00000"/>
                                </a:solidFill>
                                <a:latin typeface="Cambria Math" panose="02040503050406030204" pitchFamily="18" charset="0"/>
                              </a:rPr>
                            </m:ctrlPr>
                          </m:dPr>
                          <m:e>
                            <m:sSub>
                              <m:sSubPr>
                                <m:ctrlPr>
                                  <a:rPr lang="zh-CN" altLang="zh-CN" sz="2400" i="1">
                                    <a:solidFill>
                                      <a:srgbClr val="C00000"/>
                                    </a:solidFill>
                                    <a:latin typeface="Cambria Math" panose="02040503050406030204" pitchFamily="18" charset="0"/>
                                  </a:rPr>
                                </m:ctrlPr>
                              </m:sSubPr>
                              <m:e>
                                <m:r>
                                  <a:rPr lang="en-US" altLang="zh-CN" sz="2400">
                                    <a:solidFill>
                                      <a:srgbClr val="C00000"/>
                                    </a:solidFill>
                                    <a:latin typeface="Cambria Math" panose="02040503050406030204" pitchFamily="18" charset="0"/>
                                  </a:rPr>
                                  <m:t>𝑋</m:t>
                                </m:r>
                              </m:e>
                              <m:sub>
                                <m:r>
                                  <a:rPr lang="en-US" altLang="zh-CN" sz="2400">
                                    <a:solidFill>
                                      <a:srgbClr val="C00000"/>
                                    </a:solidFill>
                                    <a:latin typeface="Cambria Math" panose="02040503050406030204" pitchFamily="18" charset="0"/>
                                  </a:rPr>
                                  <m:t>1</m:t>
                                </m:r>
                              </m:sub>
                            </m:sSub>
                            <m:r>
                              <a:rPr lang="en-US" altLang="zh-CN" sz="2400">
                                <a:solidFill>
                                  <a:srgbClr val="C00000"/>
                                </a:solidFill>
                                <a:latin typeface="Cambria Math" panose="02040503050406030204" pitchFamily="18" charset="0"/>
                              </a:rPr>
                              <m:t>,</m:t>
                            </m:r>
                            <m:sSub>
                              <m:sSubPr>
                                <m:ctrlPr>
                                  <a:rPr lang="zh-CN" altLang="zh-CN" sz="2400" i="1">
                                    <a:solidFill>
                                      <a:srgbClr val="C00000"/>
                                    </a:solidFill>
                                    <a:latin typeface="Cambria Math" panose="02040503050406030204" pitchFamily="18" charset="0"/>
                                  </a:rPr>
                                </m:ctrlPr>
                              </m:sSubPr>
                              <m:e>
                                <m:r>
                                  <a:rPr lang="en-US" altLang="zh-CN" sz="2400">
                                    <a:solidFill>
                                      <a:srgbClr val="C00000"/>
                                    </a:solidFill>
                                    <a:latin typeface="Cambria Math" panose="02040503050406030204" pitchFamily="18" charset="0"/>
                                  </a:rPr>
                                  <m:t>𝑦</m:t>
                                </m:r>
                              </m:e>
                              <m:sub>
                                <m:r>
                                  <a:rPr lang="en-US" altLang="zh-CN" sz="2400">
                                    <a:solidFill>
                                      <a:srgbClr val="C00000"/>
                                    </a:solidFill>
                                    <a:latin typeface="Cambria Math" panose="02040503050406030204" pitchFamily="18" charset="0"/>
                                  </a:rPr>
                                  <m:t>1</m:t>
                                </m:r>
                              </m:sub>
                            </m:sSub>
                          </m:e>
                        </m:d>
                        <m:r>
                          <a:rPr lang="en-US" altLang="zh-CN" sz="2400">
                            <a:solidFill>
                              <a:srgbClr val="C00000"/>
                            </a:solidFill>
                            <a:latin typeface="Cambria Math" panose="02040503050406030204" pitchFamily="18" charset="0"/>
                          </a:rPr>
                          <m:t>,</m:t>
                        </m:r>
                        <m:d>
                          <m:dPr>
                            <m:ctrlPr>
                              <a:rPr lang="zh-CN" altLang="zh-CN" sz="2400" i="1">
                                <a:solidFill>
                                  <a:srgbClr val="C00000"/>
                                </a:solidFill>
                                <a:latin typeface="Cambria Math" panose="02040503050406030204" pitchFamily="18" charset="0"/>
                              </a:rPr>
                            </m:ctrlPr>
                          </m:dPr>
                          <m:e>
                            <m:sSub>
                              <m:sSubPr>
                                <m:ctrlPr>
                                  <a:rPr lang="zh-CN" altLang="zh-CN" sz="2400" i="1">
                                    <a:solidFill>
                                      <a:srgbClr val="C00000"/>
                                    </a:solidFill>
                                    <a:latin typeface="Cambria Math" panose="02040503050406030204" pitchFamily="18" charset="0"/>
                                  </a:rPr>
                                </m:ctrlPr>
                              </m:sSubPr>
                              <m:e>
                                <m:r>
                                  <a:rPr lang="en-US" altLang="zh-CN" sz="2400">
                                    <a:solidFill>
                                      <a:srgbClr val="C00000"/>
                                    </a:solidFill>
                                    <a:latin typeface="Cambria Math" panose="02040503050406030204" pitchFamily="18" charset="0"/>
                                  </a:rPr>
                                  <m:t>𝑋</m:t>
                                </m:r>
                              </m:e>
                              <m:sub>
                                <m:r>
                                  <a:rPr lang="en-US" altLang="zh-CN" sz="2400">
                                    <a:solidFill>
                                      <a:srgbClr val="C00000"/>
                                    </a:solidFill>
                                    <a:latin typeface="Cambria Math" panose="02040503050406030204" pitchFamily="18" charset="0"/>
                                  </a:rPr>
                                  <m:t>2</m:t>
                                </m:r>
                              </m:sub>
                            </m:sSub>
                            <m:r>
                              <a:rPr lang="en-US" altLang="zh-CN" sz="2400">
                                <a:solidFill>
                                  <a:srgbClr val="C00000"/>
                                </a:solidFill>
                                <a:latin typeface="Cambria Math" panose="02040503050406030204" pitchFamily="18" charset="0"/>
                              </a:rPr>
                              <m:t>,</m:t>
                            </m:r>
                            <m:sSub>
                              <m:sSubPr>
                                <m:ctrlPr>
                                  <a:rPr lang="zh-CN" altLang="zh-CN" sz="2400" i="1">
                                    <a:solidFill>
                                      <a:srgbClr val="C00000"/>
                                    </a:solidFill>
                                    <a:latin typeface="Cambria Math" panose="02040503050406030204" pitchFamily="18" charset="0"/>
                                  </a:rPr>
                                </m:ctrlPr>
                              </m:sSubPr>
                              <m:e>
                                <m:r>
                                  <a:rPr lang="en-US" altLang="zh-CN" sz="2400">
                                    <a:solidFill>
                                      <a:srgbClr val="C00000"/>
                                    </a:solidFill>
                                    <a:latin typeface="Cambria Math" panose="02040503050406030204" pitchFamily="18" charset="0"/>
                                  </a:rPr>
                                  <m:t>𝑦</m:t>
                                </m:r>
                              </m:e>
                              <m:sub>
                                <m:r>
                                  <a:rPr lang="en-US" altLang="zh-CN" sz="2400">
                                    <a:solidFill>
                                      <a:srgbClr val="C00000"/>
                                    </a:solidFill>
                                    <a:latin typeface="Cambria Math" panose="02040503050406030204" pitchFamily="18" charset="0"/>
                                  </a:rPr>
                                  <m:t>2</m:t>
                                </m:r>
                              </m:sub>
                            </m:sSub>
                          </m:e>
                        </m:d>
                        <m:r>
                          <a:rPr lang="en-US" altLang="zh-CN" sz="2400">
                            <a:solidFill>
                              <a:srgbClr val="C00000"/>
                            </a:solidFill>
                            <a:latin typeface="Cambria Math" panose="02040503050406030204" pitchFamily="18" charset="0"/>
                          </a:rPr>
                          <m:t>,</m:t>
                        </m:r>
                        <m:r>
                          <a:rPr lang="zh-CN" altLang="zh-CN" sz="2400">
                            <a:solidFill>
                              <a:srgbClr val="C00000"/>
                            </a:solidFill>
                            <a:latin typeface="Cambria Math" panose="02040503050406030204" pitchFamily="18" charset="0"/>
                          </a:rPr>
                          <m:t>…</m:t>
                        </m:r>
                        <m:r>
                          <a:rPr lang="en-US" altLang="zh-CN" sz="2400">
                            <a:solidFill>
                              <a:srgbClr val="C00000"/>
                            </a:solidFill>
                            <a:latin typeface="Cambria Math" panose="02040503050406030204" pitchFamily="18" charset="0"/>
                          </a:rPr>
                          <m:t>,</m:t>
                        </m:r>
                        <m:d>
                          <m:dPr>
                            <m:ctrlPr>
                              <a:rPr lang="zh-CN" altLang="zh-CN" sz="2400" i="1">
                                <a:solidFill>
                                  <a:srgbClr val="C00000"/>
                                </a:solidFill>
                                <a:latin typeface="Cambria Math" panose="02040503050406030204" pitchFamily="18" charset="0"/>
                              </a:rPr>
                            </m:ctrlPr>
                          </m:dPr>
                          <m:e>
                            <m:sSub>
                              <m:sSubPr>
                                <m:ctrlPr>
                                  <a:rPr lang="zh-CN" altLang="zh-CN" sz="2400" i="1">
                                    <a:solidFill>
                                      <a:srgbClr val="C00000"/>
                                    </a:solidFill>
                                    <a:latin typeface="Cambria Math" panose="02040503050406030204" pitchFamily="18" charset="0"/>
                                  </a:rPr>
                                </m:ctrlPr>
                              </m:sSubPr>
                              <m:e>
                                <m:r>
                                  <a:rPr lang="en-US" altLang="zh-CN" sz="2400">
                                    <a:solidFill>
                                      <a:srgbClr val="C00000"/>
                                    </a:solidFill>
                                    <a:latin typeface="Cambria Math" panose="02040503050406030204" pitchFamily="18" charset="0"/>
                                  </a:rPr>
                                  <m:t>𝑋</m:t>
                                </m:r>
                              </m:e>
                              <m:sub>
                                <m:r>
                                  <a:rPr lang="en-US" altLang="zh-CN" sz="2400">
                                    <a:solidFill>
                                      <a:srgbClr val="C00000"/>
                                    </a:solidFill>
                                    <a:latin typeface="Cambria Math" panose="02040503050406030204" pitchFamily="18" charset="0"/>
                                  </a:rPr>
                                  <m:t>𝑛</m:t>
                                </m:r>
                              </m:sub>
                            </m:sSub>
                            <m:r>
                              <a:rPr lang="en-US" altLang="zh-CN" sz="2400">
                                <a:solidFill>
                                  <a:srgbClr val="C00000"/>
                                </a:solidFill>
                                <a:latin typeface="Cambria Math" panose="02040503050406030204" pitchFamily="18" charset="0"/>
                              </a:rPr>
                              <m:t>,</m:t>
                            </m:r>
                            <m:sSub>
                              <m:sSubPr>
                                <m:ctrlPr>
                                  <a:rPr lang="zh-CN" altLang="zh-CN" sz="2400" i="1">
                                    <a:solidFill>
                                      <a:srgbClr val="C00000"/>
                                    </a:solidFill>
                                    <a:latin typeface="Cambria Math" panose="02040503050406030204" pitchFamily="18" charset="0"/>
                                  </a:rPr>
                                </m:ctrlPr>
                              </m:sSubPr>
                              <m:e>
                                <m:r>
                                  <a:rPr lang="en-US" altLang="zh-CN" sz="2400">
                                    <a:solidFill>
                                      <a:srgbClr val="C00000"/>
                                    </a:solidFill>
                                    <a:latin typeface="Cambria Math" panose="02040503050406030204" pitchFamily="18" charset="0"/>
                                  </a:rPr>
                                  <m:t>𝑦</m:t>
                                </m:r>
                              </m:e>
                              <m:sub>
                                <m:r>
                                  <a:rPr lang="en-US" altLang="zh-CN" sz="2400">
                                    <a:solidFill>
                                      <a:srgbClr val="C00000"/>
                                    </a:solidFill>
                                    <a:latin typeface="Cambria Math" panose="02040503050406030204" pitchFamily="18" charset="0"/>
                                  </a:rPr>
                                  <m:t>𝑛</m:t>
                                </m:r>
                              </m:sub>
                            </m:sSub>
                          </m:e>
                        </m:d>
                      </m:e>
                    </m:d>
                  </m:oMath>
                </a14:m>
                <a:endParaRPr lang="en-US" altLang="zh-CN" sz="2400" dirty="0">
                  <a:solidFill>
                    <a:srgbClr val="C00000"/>
                  </a:solidFill>
                </a:endParaRPr>
              </a:p>
              <a:p>
                <a:pPr>
                  <a:spcAft>
                    <a:spcPts val="1200"/>
                  </a:spcAft>
                </a:pPr>
                <a:r>
                  <a:rPr lang="zh-CN" altLang="zh-CN" sz="2400" dirty="0"/>
                  <a:t>其中标签值</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𝑖</m:t>
                        </m:r>
                      </m:sub>
                    </m:sSub>
                  </m:oMath>
                </a14:m>
                <a:r>
                  <a:rPr lang="zh-CN" altLang="zh-CN" sz="2400" dirty="0"/>
                  <a:t>取</a:t>
                </a:r>
                <a:r>
                  <a:rPr lang="en-US" altLang="zh-CN" sz="2400" dirty="0"/>
                  <a:t>1</a:t>
                </a:r>
                <a:r>
                  <a:rPr lang="zh-CN" altLang="zh-CN" sz="2400" dirty="0"/>
                  <a:t>或</a:t>
                </a:r>
                <a:r>
                  <a:rPr lang="en-US" altLang="zh-CN" sz="2400" dirty="0"/>
                  <a:t>−1</a:t>
                </a:r>
                <a:r>
                  <a:rPr lang="zh-CN" altLang="zh-CN" sz="2400" dirty="0"/>
                  <a:t>，分别代表两个不同类别。</a:t>
                </a:r>
                <a:endParaRPr lang="en-US" altLang="zh-CN" sz="2400" dirty="0"/>
              </a:p>
              <a:p>
                <a:pPr>
                  <a:spcAft>
                    <a:spcPts val="1200"/>
                  </a:spcAft>
                </a:pPr>
                <a:r>
                  <a:rPr lang="zh-CN" altLang="zh-CN" sz="2400" dirty="0"/>
                  <a:t>对于超平面</a:t>
                </a:r>
                <a:r>
                  <a:rPr lang="zh-CN" altLang="en-US" sz="2400" dirty="0"/>
                  <a:t>：</a:t>
                </a:r>
                <a14:m>
                  <m:oMath xmlns:m="http://schemas.openxmlformats.org/officeDocument/2006/math">
                    <m:sSup>
                      <m:sSupPr>
                        <m:ctrlPr>
                          <a:rPr lang="zh-CN" altLang="zh-CN" sz="2400" i="1">
                            <a:solidFill>
                              <a:srgbClr val="C00000"/>
                            </a:solidFill>
                            <a:latin typeface="Cambria Math" panose="02040503050406030204" pitchFamily="18" charset="0"/>
                          </a:rPr>
                        </m:ctrlPr>
                      </m:sSupPr>
                      <m:e>
                        <m:r>
                          <a:rPr lang="en-US" altLang="zh-CN" sz="2400">
                            <a:solidFill>
                              <a:srgbClr val="C00000"/>
                            </a:solidFill>
                            <a:latin typeface="Cambria Math" panose="02040503050406030204" pitchFamily="18" charset="0"/>
                          </a:rPr>
                          <m:t>𝒘</m:t>
                        </m:r>
                      </m:e>
                      <m:sup>
                        <m:r>
                          <a:rPr lang="en-US" altLang="zh-CN" sz="2400">
                            <a:solidFill>
                              <a:srgbClr val="C00000"/>
                            </a:solidFill>
                            <a:latin typeface="Cambria Math" panose="02040503050406030204" pitchFamily="18" charset="0"/>
                          </a:rPr>
                          <m:t>𝑇</m:t>
                        </m:r>
                      </m:sup>
                    </m:sSup>
                    <m:r>
                      <a:rPr lang="en-US" altLang="zh-CN" sz="2400">
                        <a:solidFill>
                          <a:srgbClr val="C00000"/>
                        </a:solidFill>
                        <a:latin typeface="Cambria Math" panose="02040503050406030204" pitchFamily="18" charset="0"/>
                      </a:rPr>
                      <m:t>𝑋</m:t>
                    </m:r>
                    <m:r>
                      <a:rPr lang="en-US" altLang="zh-CN" sz="2400">
                        <a:solidFill>
                          <a:srgbClr val="C00000"/>
                        </a:solidFill>
                        <a:latin typeface="Cambria Math" panose="02040503050406030204" pitchFamily="18" charset="0"/>
                      </a:rPr>
                      <m:t>+</m:t>
                    </m:r>
                    <m:r>
                      <a:rPr lang="en-US" altLang="zh-CN" sz="2400">
                        <a:solidFill>
                          <a:srgbClr val="C00000"/>
                        </a:solidFill>
                        <a:latin typeface="Cambria Math" panose="02040503050406030204" pitchFamily="18" charset="0"/>
                      </a:rPr>
                      <m:t>𝑏</m:t>
                    </m:r>
                    <m:r>
                      <a:rPr lang="en-US" altLang="zh-CN" sz="2400">
                        <a:solidFill>
                          <a:srgbClr val="C00000"/>
                        </a:solidFill>
                        <a:latin typeface="Cambria Math" panose="02040503050406030204" pitchFamily="18" charset="0"/>
                      </a:rPr>
                      <m:t>=</m:t>
                    </m:r>
                    <m:r>
                      <a:rPr lang="en-US" altLang="zh-CN" sz="2400">
                        <a:solidFill>
                          <a:srgbClr val="C00000"/>
                        </a:solidFill>
                        <a:latin typeface="Cambria Math" panose="02040503050406030204" pitchFamily="18" charset="0"/>
                      </a:rPr>
                      <m:t>0</m:t>
                    </m:r>
                  </m:oMath>
                </a14:m>
                <a:endParaRPr lang="en-US" altLang="zh-CN" sz="2400" dirty="0">
                  <a:solidFill>
                    <a:srgbClr val="C00000"/>
                  </a:solidFill>
                </a:endParaRPr>
              </a:p>
              <a:p>
                <a:pPr>
                  <a:spcAft>
                    <a:spcPts val="1200"/>
                  </a:spcAft>
                </a:pPr>
                <a:r>
                  <a:rPr lang="zh-CN" altLang="zh-CN" sz="2400" dirty="0"/>
                  <a:t>样本数据点</a:t>
                </a:r>
                <a14:m>
                  <m:oMath xmlns:m="http://schemas.openxmlformats.org/officeDocument/2006/math">
                    <m:r>
                      <a:rPr lang="en-US" altLang="zh-CN" sz="2400" i="1">
                        <a:latin typeface="Cambria Math" panose="02040503050406030204" pitchFamily="18" charset="0"/>
                      </a:rPr>
                      <m:t>𝑋</m:t>
                    </m:r>
                  </m:oMath>
                </a14:m>
                <a:r>
                  <a:rPr lang="zh-CN" altLang="zh-CN" sz="2400" dirty="0"/>
                  <a:t>到该超平面的</a:t>
                </a:r>
                <a:r>
                  <a:rPr lang="zh-CN" altLang="zh-CN" sz="2400" dirty="0">
                    <a:solidFill>
                      <a:srgbClr val="00B050"/>
                    </a:solidFill>
                  </a:rPr>
                  <a:t>距离表示</a:t>
                </a:r>
                <a:r>
                  <a:rPr lang="zh-CN" altLang="zh-CN" sz="2400" dirty="0"/>
                  <a:t>为</a:t>
                </a:r>
                <a:r>
                  <a:rPr lang="zh-CN" altLang="en-US" sz="2400" dirty="0"/>
                  <a:t>：</a:t>
                </a:r>
                <a14:m>
                  <m:oMath xmlns:m="http://schemas.openxmlformats.org/officeDocument/2006/math">
                    <m:d>
                      <m:dPr>
                        <m:begChr m:val="|"/>
                        <m:endChr m:val="|"/>
                        <m:ctrlPr>
                          <a:rPr lang="en-US" altLang="zh-CN" sz="2400" i="1">
                            <a:solidFill>
                              <a:srgbClr val="C00000"/>
                            </a:solidFill>
                            <a:latin typeface="Cambria Math" panose="02040503050406030204" pitchFamily="18" charset="0"/>
                          </a:rPr>
                        </m:ctrlPr>
                      </m:dPr>
                      <m:e>
                        <m:sSup>
                          <m:sSupPr>
                            <m:ctrlPr>
                              <a:rPr lang="zh-CN" altLang="zh-CN" sz="2400" i="1">
                                <a:solidFill>
                                  <a:srgbClr val="C00000"/>
                                </a:solidFill>
                                <a:latin typeface="Cambria Math" panose="02040503050406030204" pitchFamily="18" charset="0"/>
                              </a:rPr>
                            </m:ctrlPr>
                          </m:sSupPr>
                          <m:e>
                            <m:r>
                              <a:rPr lang="en-US" altLang="zh-CN" sz="2400">
                                <a:solidFill>
                                  <a:srgbClr val="C00000"/>
                                </a:solidFill>
                                <a:latin typeface="Cambria Math" panose="02040503050406030204" pitchFamily="18" charset="0"/>
                              </a:rPr>
                              <m:t>𝒘</m:t>
                            </m:r>
                          </m:e>
                          <m:sup>
                            <m:r>
                              <a:rPr lang="en-US" altLang="zh-CN" sz="2400">
                                <a:solidFill>
                                  <a:srgbClr val="C00000"/>
                                </a:solidFill>
                                <a:latin typeface="Cambria Math" panose="02040503050406030204" pitchFamily="18" charset="0"/>
                              </a:rPr>
                              <m:t>𝑇</m:t>
                            </m:r>
                          </m:sup>
                        </m:sSup>
                        <m:r>
                          <a:rPr lang="en-US" altLang="zh-CN" sz="2400">
                            <a:solidFill>
                              <a:srgbClr val="C00000"/>
                            </a:solidFill>
                            <a:latin typeface="Cambria Math" panose="02040503050406030204" pitchFamily="18" charset="0"/>
                          </a:rPr>
                          <m:t>𝑋</m:t>
                        </m:r>
                        <m:r>
                          <a:rPr lang="en-US" altLang="zh-CN" sz="2400">
                            <a:solidFill>
                              <a:srgbClr val="C00000"/>
                            </a:solidFill>
                            <a:latin typeface="Cambria Math" panose="02040503050406030204" pitchFamily="18" charset="0"/>
                          </a:rPr>
                          <m:t>+</m:t>
                        </m:r>
                        <m:r>
                          <a:rPr lang="en-US" altLang="zh-CN" sz="2400">
                            <a:solidFill>
                              <a:srgbClr val="C00000"/>
                            </a:solidFill>
                            <a:latin typeface="Cambria Math" panose="02040503050406030204" pitchFamily="18" charset="0"/>
                          </a:rPr>
                          <m:t>𝑏</m:t>
                        </m:r>
                      </m:e>
                    </m:d>
                  </m:oMath>
                </a14:m>
                <a:endParaRPr lang="en-US" altLang="zh-CN" sz="2400" dirty="0">
                  <a:solidFill>
                    <a:srgbClr val="C00000"/>
                  </a:solidFill>
                </a:endParaRPr>
              </a:p>
              <a:p>
                <a:pPr>
                  <a:lnSpc>
                    <a:spcPct val="110000"/>
                  </a:lnSpc>
                  <a:spcAft>
                    <a:spcPts val="1200"/>
                  </a:spcAft>
                </a:pPr>
                <a:r>
                  <a:rPr lang="zh-CN" altLang="en-US" sz="2400" dirty="0" smtClean="0">
                    <a:solidFill>
                      <a:srgbClr val="00B050"/>
                    </a:solidFill>
                  </a:rPr>
                  <a:t>判断</a:t>
                </a:r>
                <a14:m>
                  <m:oMath xmlns:m="http://schemas.openxmlformats.org/officeDocument/2006/math">
                    <m:sSup>
                      <m:sSupPr>
                        <m:ctrlPr>
                          <a:rPr lang="zh-CN" altLang="zh-CN" sz="2400" i="1">
                            <a:solidFill>
                              <a:srgbClr val="00B050"/>
                            </a:solidFill>
                            <a:latin typeface="Cambria Math" panose="02040503050406030204" pitchFamily="18" charset="0"/>
                          </a:rPr>
                        </m:ctrlPr>
                      </m:sSupPr>
                      <m:e>
                        <m:r>
                          <a:rPr lang="en-US" altLang="zh-CN" sz="2400" b="1" i="1">
                            <a:solidFill>
                              <a:srgbClr val="00B050"/>
                            </a:solidFill>
                            <a:latin typeface="Cambria Math" panose="02040503050406030204" pitchFamily="18" charset="0"/>
                          </a:rPr>
                          <m:t>𝒘</m:t>
                        </m:r>
                      </m:e>
                      <m:sup>
                        <m:r>
                          <a:rPr lang="en-US" altLang="zh-CN" sz="2400" i="1">
                            <a:solidFill>
                              <a:srgbClr val="00B050"/>
                            </a:solidFill>
                            <a:latin typeface="Cambria Math" panose="02040503050406030204" pitchFamily="18" charset="0"/>
                          </a:rPr>
                          <m:t>𝑇</m:t>
                        </m:r>
                      </m:sup>
                    </m:sSup>
                    <m:r>
                      <a:rPr lang="en-US" altLang="zh-CN" sz="2400" i="1">
                        <a:solidFill>
                          <a:srgbClr val="00B050"/>
                        </a:solidFill>
                        <a:latin typeface="Cambria Math" panose="02040503050406030204" pitchFamily="18" charset="0"/>
                      </a:rPr>
                      <m:t>𝑋</m:t>
                    </m:r>
                    <m:r>
                      <a:rPr lang="en-US" altLang="zh-CN" sz="2400" b="1" i="1">
                        <a:solidFill>
                          <a:srgbClr val="00B050"/>
                        </a:solidFill>
                        <a:latin typeface="Cambria Math" panose="02040503050406030204" pitchFamily="18" charset="0"/>
                      </a:rPr>
                      <m:t>+</m:t>
                    </m:r>
                    <m:r>
                      <a:rPr lang="en-US" altLang="zh-CN" sz="2400" i="1">
                        <a:solidFill>
                          <a:srgbClr val="00B050"/>
                        </a:solidFill>
                        <a:latin typeface="Cambria Math" panose="02040503050406030204" pitchFamily="18" charset="0"/>
                      </a:rPr>
                      <m:t>𝑏</m:t>
                    </m:r>
                  </m:oMath>
                </a14:m>
                <a:r>
                  <a:rPr lang="zh-CN" altLang="en-US" sz="2400" dirty="0">
                    <a:solidFill>
                      <a:srgbClr val="00B050"/>
                    </a:solidFill>
                  </a:rPr>
                  <a:t>与</a:t>
                </a:r>
                <a:r>
                  <a:rPr lang="zh-CN" altLang="zh-CN" sz="2400" dirty="0">
                    <a:solidFill>
                      <a:srgbClr val="00B050"/>
                    </a:solidFill>
                  </a:rPr>
                  <a:t>标记</a:t>
                </a:r>
                <a14:m>
                  <m:oMath xmlns:m="http://schemas.openxmlformats.org/officeDocument/2006/math">
                    <m:r>
                      <a:rPr lang="en-US" altLang="zh-CN" sz="2400" i="1">
                        <a:solidFill>
                          <a:srgbClr val="00B050"/>
                        </a:solidFill>
                        <a:latin typeface="Cambria Math" panose="02040503050406030204" pitchFamily="18" charset="0"/>
                      </a:rPr>
                      <m:t>𝑦</m:t>
                    </m:r>
                  </m:oMath>
                </a14:m>
                <a:r>
                  <a:rPr lang="zh-CN" altLang="en-US" sz="2400" dirty="0">
                    <a:solidFill>
                      <a:srgbClr val="00B050"/>
                    </a:solidFill>
                  </a:rPr>
                  <a:t>符号是否一致？</a:t>
                </a:r>
                <a:endParaRPr lang="en-US" altLang="zh-CN" sz="2400" dirty="0">
                  <a:solidFill>
                    <a:srgbClr val="00B050"/>
                  </a:solidFill>
                </a:endParaRPr>
              </a:p>
              <a:p>
                <a:pPr>
                  <a:spcAft>
                    <a:spcPts val="1200"/>
                  </a:spcAft>
                </a:pPr>
                <a:r>
                  <a:rPr lang="zh-CN" altLang="en-US" sz="2400" dirty="0"/>
                  <a:t>若一致，则分类正确；否则，分类错误。</a:t>
                </a:r>
                <a:endParaRPr lang="en-US" altLang="zh-CN" sz="2400" dirty="0"/>
              </a:p>
              <a:p>
                <a:pPr>
                  <a:spcAft>
                    <a:spcPts val="1200"/>
                  </a:spcAft>
                </a:pPr>
                <a:r>
                  <a:rPr lang="zh-CN" altLang="zh-CN" sz="2400" dirty="0"/>
                  <a:t>可用</a:t>
                </a:r>
                <a14:m>
                  <m:oMath xmlns:m="http://schemas.openxmlformats.org/officeDocument/2006/math">
                    <m:r>
                      <a:rPr lang="en-US" altLang="zh-CN" sz="2400" i="1">
                        <a:latin typeface="Cambria Math" panose="02040503050406030204" pitchFamily="18" charset="0"/>
                      </a:rPr>
                      <m:t>𝑦</m:t>
                    </m:r>
                    <m:r>
                      <a:rPr lang="en-US" altLang="zh-CN" sz="2400">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b="1" i="1">
                            <a:latin typeface="Cambria Math" panose="02040503050406030204" pitchFamily="18" charset="0"/>
                          </a:rPr>
                          <m:t>𝒘</m:t>
                        </m:r>
                      </m:e>
                      <m:sup>
                        <m:r>
                          <a:rPr lang="en-US" altLang="zh-CN" sz="2400" i="1">
                            <a:latin typeface="Cambria Math" panose="02040503050406030204" pitchFamily="18" charset="0"/>
                          </a:rPr>
                          <m:t>𝑇</m:t>
                        </m:r>
                      </m:sup>
                    </m:sSup>
                    <m:r>
                      <a:rPr lang="en-US" altLang="zh-CN" sz="2400" i="1">
                        <a:latin typeface="Cambria Math" panose="02040503050406030204" pitchFamily="18" charset="0"/>
                      </a:rPr>
                      <m:t>𝑋</m:t>
                    </m:r>
                    <m:r>
                      <a:rPr lang="en-US" altLang="zh-CN" sz="2400" b="1" i="1">
                        <a:latin typeface="Cambria Math" panose="02040503050406030204" pitchFamily="18" charset="0"/>
                      </a:rPr>
                      <m:t>+</m:t>
                    </m:r>
                    <m:r>
                      <a:rPr lang="en-US" altLang="zh-CN" sz="2400" i="1">
                        <a:latin typeface="Cambria Math" panose="02040503050406030204" pitchFamily="18" charset="0"/>
                      </a:rPr>
                      <m:t>𝑏</m:t>
                    </m:r>
                    <m:r>
                      <a:rPr lang="en-US" altLang="zh-CN" sz="2400">
                        <a:latin typeface="Cambria Math" panose="02040503050406030204" pitchFamily="18" charset="0"/>
                      </a:rPr>
                      <m:t>)</m:t>
                    </m:r>
                  </m:oMath>
                </a14:m>
                <a:r>
                  <a:rPr lang="zh-CN" altLang="zh-CN" sz="2400" dirty="0"/>
                  <a:t>替代</a:t>
                </a:r>
                <a14:m>
                  <m:oMath xmlns:m="http://schemas.openxmlformats.org/officeDocument/2006/math">
                    <m:r>
                      <a:rPr lang="en-US" altLang="zh-CN" sz="2400">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b="1" i="1">
                            <a:latin typeface="Cambria Math" panose="02040503050406030204" pitchFamily="18" charset="0"/>
                          </a:rPr>
                          <m:t>𝒘</m:t>
                        </m:r>
                      </m:e>
                      <m:sup>
                        <m:r>
                          <a:rPr lang="en-US" altLang="zh-CN" sz="2400" i="1">
                            <a:latin typeface="Cambria Math" panose="02040503050406030204" pitchFamily="18" charset="0"/>
                          </a:rPr>
                          <m:t>𝑇</m:t>
                        </m:r>
                      </m:sup>
                    </m:sSup>
                    <m:r>
                      <a:rPr lang="en-US" altLang="zh-CN" sz="2400" i="1">
                        <a:latin typeface="Cambria Math" panose="02040503050406030204" pitchFamily="18" charset="0"/>
                      </a:rPr>
                      <m:t>𝑋</m:t>
                    </m:r>
                    <m:r>
                      <a:rPr lang="en-US" altLang="zh-CN" sz="2400" b="1" i="1">
                        <a:latin typeface="Cambria Math" panose="02040503050406030204" pitchFamily="18" charset="0"/>
                      </a:rPr>
                      <m:t>+</m:t>
                    </m:r>
                    <m:r>
                      <a:rPr lang="en-US" altLang="zh-CN" sz="2400" i="1">
                        <a:latin typeface="Cambria Math" panose="02040503050406030204" pitchFamily="18" charset="0"/>
                      </a:rPr>
                      <m:t>𝑏</m:t>
                    </m:r>
                    <m:r>
                      <a:rPr lang="en-US" altLang="zh-CN" sz="2400">
                        <a:latin typeface="Cambria Math" panose="02040503050406030204" pitchFamily="18" charset="0"/>
                      </a:rPr>
                      <m:t>|</m:t>
                    </m:r>
                  </m:oMath>
                </a14:m>
                <a:r>
                  <a:rPr lang="zh-CN" altLang="zh-CN" sz="2400" dirty="0"/>
                  <a:t>表示样本数据点到超平面的距离</a:t>
                </a:r>
                <a:r>
                  <a:rPr lang="zh-CN" altLang="en-US" sz="2400" dirty="0"/>
                  <a:t>。</a:t>
                </a:r>
                <a:endParaRPr lang="en-US" altLang="zh-CN" sz="2400" dirty="0"/>
              </a:p>
            </p:txBody>
          </p:sp>
        </mc:Choice>
        <mc:Fallback>
          <p:sp>
            <p:nvSpPr>
              <p:cNvPr id="2" name="文本框 1"/>
              <p:cNvSpPr txBox="1">
                <a:spLocks noRot="1" noChangeAspect="1" noMove="1" noResize="1" noEditPoints="1" noAdjustHandles="1" noChangeArrowheads="1" noChangeShapeType="1" noTextEdit="1"/>
              </p:cNvSpPr>
              <p:nvPr/>
            </p:nvSpPr>
            <p:spPr>
              <a:xfrm>
                <a:off x="1089891" y="1687806"/>
                <a:ext cx="9217892" cy="3706495"/>
              </a:xfrm>
              <a:prstGeom prst="rect">
                <a:avLst/>
              </a:prstGeom>
              <a:blipFill rotWithShape="1">
                <a:blip r:embed="rId2"/>
                <a:stretch>
                  <a:fillRect l="-3" t="-16" r="5" b="16"/>
                </a:stretch>
              </a:blipFill>
            </p:spPr>
            <p:txBody>
              <a:bodyPr/>
              <a:lstStyle/>
              <a:p>
                <a:r>
                  <a:rPr lang="zh-CN" altLang="en-US">
                    <a:noFill/>
                  </a:rPr>
                  <a:t> </a:t>
                </a:r>
              </a:p>
            </p:txBody>
          </p:sp>
        </mc:Fallback>
      </mc:AlternateContent>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58730" y="1013793"/>
            <a:ext cx="3883779" cy="3548971"/>
          </a:xfrm>
          <a:prstGeom prst="rect">
            <a:avLst/>
          </a:prstGeom>
        </p:spPr>
      </p:pic>
    </p:spTree>
  </p:cSld>
  <p:clrMapOvr>
    <a:masterClrMapping/>
  </p:clrMapOvr>
  <p:transition spd="med">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1"/>
          <a:srcRect/>
          <a:stretch>
            <a:fillRect/>
          </a:stretch>
        </p:blipFill>
        <p:spPr bwMode="auto">
          <a:xfrm>
            <a:off x="2959100" y="1536700"/>
            <a:ext cx="6350000" cy="45974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50800" y="6464300"/>
            <a:ext cx="7132274" cy="379591"/>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1097788" y="135636"/>
            <a:ext cx="1930400" cy="596900"/>
          </a:xfrm>
          <a:prstGeom prst="rect">
            <a:avLst/>
          </a:prstGeom>
          <a:noFill/>
        </p:spPr>
        <p:txBody>
          <a:bodyPr wrap="none" lIns="0" tIns="0" rIns="0" rtlCol="0">
            <a:spAutoFit/>
          </a:bodyPr>
          <a:lstStyle/>
          <a:p>
            <a:pPr>
              <a:lnSpc>
                <a:spcPts val="4700"/>
              </a:lnSpc>
            </a:pPr>
            <a:r>
              <a:rPr lang="en-US" altLang="zh-CN" sz="3600" dirty="0" smtClean="0">
                <a:solidFill>
                  <a:srgbClr val="000000"/>
                </a:solidFill>
                <a:latin typeface="微软雅黑" panose="020B0503020204020204" pitchFamily="34" charset="-122"/>
                <a:cs typeface="微软雅黑" panose="020B0503020204020204" pitchFamily="34" charset="-122"/>
              </a:rPr>
              <a:t>SVM分类</a:t>
            </a:r>
            <a:endParaRPr lang="en-US" altLang="zh-CN" sz="3600" dirty="0" smtClean="0">
              <a:solidFill>
                <a:srgbClr val="000000"/>
              </a:solidFill>
              <a:latin typeface="微软雅黑" panose="020B0503020204020204" pitchFamily="34" charset="-122"/>
              <a:cs typeface="微软雅黑" panose="020B0503020204020204" pitchFamily="34" charset="-122"/>
            </a:endParaRPr>
          </a:p>
        </p:txBody>
      </p:sp>
      <p:sp>
        <p:nvSpPr>
          <p:cNvPr id="10" name="TextBox 1"/>
          <p:cNvSpPr txBox="1"/>
          <p:nvPr/>
        </p:nvSpPr>
        <p:spPr>
          <a:xfrm>
            <a:off x="6400800" y="3670300"/>
            <a:ext cx="914400" cy="292100"/>
          </a:xfrm>
          <a:prstGeom prst="rect">
            <a:avLst/>
          </a:prstGeom>
          <a:noFill/>
        </p:spPr>
        <p:txBody>
          <a:bodyPr wrap="none" lIns="0" tIns="0" rIns="0" rtlCol="0">
            <a:spAutoFit/>
          </a:bodyPr>
          <a:lstStyle/>
          <a:p>
            <a:pPr>
              <a:lnSpc>
                <a:spcPts val="2300"/>
              </a:lnSpc>
            </a:pPr>
            <a:r>
              <a:rPr lang="en-US" altLang="zh-CN" sz="1800" dirty="0" smtClean="0">
                <a:solidFill>
                  <a:srgbClr val="FF0000"/>
                </a:solidFill>
                <a:latin typeface="微软雅黑" panose="020B0503020204020204" pitchFamily="34" charset="-122"/>
                <a:cs typeface="微软雅黑" panose="020B0503020204020204" pitchFamily="34" charset="-122"/>
              </a:rPr>
              <a:t>支持向量</a:t>
            </a:r>
            <a:endParaRPr lang="en-US" altLang="zh-CN" sz="1800" dirty="0" smtClean="0">
              <a:solidFill>
                <a:srgbClr val="FF0000"/>
              </a:solidFill>
              <a:latin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Freeform 3"/>
          <p:cNvSpPr/>
          <p:nvPr/>
        </p:nvSpPr>
        <p:spPr>
          <a:xfrm>
            <a:off x="5243363" y="3427714"/>
            <a:ext cx="22859" cy="276986"/>
          </a:xfrm>
          <a:custGeom>
            <a:avLst/>
            <a:gdLst>
              <a:gd name="connsiteX0" fmla="*/ 11430 w 22859"/>
              <a:gd name="connsiteY0" fmla="*/ 0 h 276986"/>
              <a:gd name="connsiteX1" fmla="*/ 11430 w 22859"/>
              <a:gd name="connsiteY1" fmla="*/ 276986 h 276986"/>
            </a:gdLst>
            <a:ahLst/>
            <a:cxnLst>
              <a:cxn ang="0">
                <a:pos x="connsiteX0" y="connsiteY0"/>
              </a:cxn>
              <a:cxn ang="1">
                <a:pos x="connsiteX1" y="connsiteY1"/>
              </a:cxn>
            </a:cxnLst>
            <a:rect l="l" t="t" r="r" b="b"/>
            <a:pathLst>
              <a:path w="22859" h="276986">
                <a:moveTo>
                  <a:pt x="11430" y="0"/>
                </a:moveTo>
                <a:lnTo>
                  <a:pt x="11430"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Freeform 3"/>
          <p:cNvSpPr/>
          <p:nvPr/>
        </p:nvSpPr>
        <p:spPr>
          <a:xfrm>
            <a:off x="5178594" y="3427714"/>
            <a:ext cx="22859" cy="276986"/>
          </a:xfrm>
          <a:custGeom>
            <a:avLst/>
            <a:gdLst>
              <a:gd name="connsiteX0" fmla="*/ 11430 w 22859"/>
              <a:gd name="connsiteY0" fmla="*/ 0 h 276986"/>
              <a:gd name="connsiteX1" fmla="*/ 11430 w 22859"/>
              <a:gd name="connsiteY1" fmla="*/ 276986 h 276986"/>
            </a:gdLst>
            <a:ahLst/>
            <a:cxnLst>
              <a:cxn ang="0">
                <a:pos x="connsiteX0" y="connsiteY0"/>
              </a:cxn>
              <a:cxn ang="1">
                <a:pos x="connsiteX1" y="connsiteY1"/>
              </a:cxn>
            </a:cxnLst>
            <a:rect l="l" t="t" r="r" b="b"/>
            <a:pathLst>
              <a:path w="22859" h="276986">
                <a:moveTo>
                  <a:pt x="11430" y="0"/>
                </a:moveTo>
                <a:lnTo>
                  <a:pt x="11430"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Freeform 3"/>
          <p:cNvSpPr/>
          <p:nvPr/>
        </p:nvSpPr>
        <p:spPr>
          <a:xfrm>
            <a:off x="4847123" y="3427714"/>
            <a:ext cx="22860" cy="276986"/>
          </a:xfrm>
          <a:custGeom>
            <a:avLst/>
            <a:gdLst>
              <a:gd name="connsiteX0" fmla="*/ 11430 w 22860"/>
              <a:gd name="connsiteY0" fmla="*/ 0 h 276986"/>
              <a:gd name="connsiteX1" fmla="*/ 11430 w 22860"/>
              <a:gd name="connsiteY1" fmla="*/ 276986 h 276986"/>
            </a:gdLst>
            <a:ahLst/>
            <a:cxnLst>
              <a:cxn ang="0">
                <a:pos x="connsiteX0" y="connsiteY0"/>
              </a:cxn>
              <a:cxn ang="1">
                <a:pos x="connsiteX1" y="connsiteY1"/>
              </a:cxn>
            </a:cxnLst>
            <a:rect l="l" t="t" r="r" b="b"/>
            <a:pathLst>
              <a:path w="22860" h="276986">
                <a:moveTo>
                  <a:pt x="11430" y="0"/>
                </a:moveTo>
                <a:lnTo>
                  <a:pt x="11430"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Freeform 3"/>
          <p:cNvSpPr/>
          <p:nvPr/>
        </p:nvSpPr>
        <p:spPr>
          <a:xfrm>
            <a:off x="4782354" y="3427714"/>
            <a:ext cx="22859" cy="276986"/>
          </a:xfrm>
          <a:custGeom>
            <a:avLst/>
            <a:gdLst>
              <a:gd name="connsiteX0" fmla="*/ 11429 w 22859"/>
              <a:gd name="connsiteY0" fmla="*/ 0 h 276986"/>
              <a:gd name="connsiteX1" fmla="*/ 11429 w 22859"/>
              <a:gd name="connsiteY1" fmla="*/ 276986 h 276986"/>
            </a:gdLst>
            <a:ahLst/>
            <a:cxnLst>
              <a:cxn ang="0">
                <a:pos x="connsiteX0" y="connsiteY0"/>
              </a:cxn>
              <a:cxn ang="1">
                <a:pos x="connsiteX1" y="connsiteY1"/>
              </a:cxn>
            </a:cxnLst>
            <a:rect l="l" t="t" r="r" b="b"/>
            <a:pathLst>
              <a:path w="22859" h="276986">
                <a:moveTo>
                  <a:pt x="11429" y="0"/>
                </a:moveTo>
                <a:lnTo>
                  <a:pt x="11429"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Freeform 3"/>
          <p:cNvSpPr/>
          <p:nvPr/>
        </p:nvSpPr>
        <p:spPr>
          <a:xfrm>
            <a:off x="6772444" y="3427714"/>
            <a:ext cx="22859" cy="276986"/>
          </a:xfrm>
          <a:custGeom>
            <a:avLst/>
            <a:gdLst>
              <a:gd name="connsiteX0" fmla="*/ 11430 w 22859"/>
              <a:gd name="connsiteY0" fmla="*/ 0 h 276986"/>
              <a:gd name="connsiteX1" fmla="*/ 11430 w 22859"/>
              <a:gd name="connsiteY1" fmla="*/ 276986 h 276986"/>
            </a:gdLst>
            <a:ahLst/>
            <a:cxnLst>
              <a:cxn ang="0">
                <a:pos x="connsiteX0" y="connsiteY0"/>
              </a:cxn>
              <a:cxn ang="1">
                <a:pos x="connsiteX1" y="connsiteY1"/>
              </a:cxn>
            </a:cxnLst>
            <a:rect l="l" t="t" r="r" b="b"/>
            <a:pathLst>
              <a:path w="22859" h="276986">
                <a:moveTo>
                  <a:pt x="11430" y="0"/>
                </a:moveTo>
                <a:lnTo>
                  <a:pt x="11430"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Freeform 3"/>
          <p:cNvSpPr/>
          <p:nvPr/>
        </p:nvSpPr>
        <p:spPr>
          <a:xfrm>
            <a:off x="6707673" y="3427714"/>
            <a:ext cx="22860" cy="276986"/>
          </a:xfrm>
          <a:custGeom>
            <a:avLst/>
            <a:gdLst>
              <a:gd name="connsiteX0" fmla="*/ 11430 w 22860"/>
              <a:gd name="connsiteY0" fmla="*/ 0 h 276986"/>
              <a:gd name="connsiteX1" fmla="*/ 11430 w 22860"/>
              <a:gd name="connsiteY1" fmla="*/ 276986 h 276986"/>
            </a:gdLst>
            <a:ahLst/>
            <a:cxnLst>
              <a:cxn ang="0">
                <a:pos x="connsiteX0" y="connsiteY0"/>
              </a:cxn>
              <a:cxn ang="1">
                <a:pos x="connsiteX1" y="connsiteY1"/>
              </a:cxn>
            </a:cxnLst>
            <a:rect l="l" t="t" r="r" b="b"/>
            <a:pathLst>
              <a:path w="22860" h="276986">
                <a:moveTo>
                  <a:pt x="11430" y="0"/>
                </a:moveTo>
                <a:lnTo>
                  <a:pt x="11430"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Freeform 3"/>
          <p:cNvSpPr/>
          <p:nvPr/>
        </p:nvSpPr>
        <p:spPr>
          <a:xfrm>
            <a:off x="5405923" y="3427714"/>
            <a:ext cx="22860" cy="276986"/>
          </a:xfrm>
          <a:custGeom>
            <a:avLst/>
            <a:gdLst>
              <a:gd name="connsiteX0" fmla="*/ 11430 w 22860"/>
              <a:gd name="connsiteY0" fmla="*/ 0 h 276986"/>
              <a:gd name="connsiteX1" fmla="*/ 11430 w 22860"/>
              <a:gd name="connsiteY1" fmla="*/ 276986 h 276986"/>
            </a:gdLst>
            <a:ahLst/>
            <a:cxnLst>
              <a:cxn ang="0">
                <a:pos x="connsiteX0" y="connsiteY0"/>
              </a:cxn>
              <a:cxn ang="1">
                <a:pos x="connsiteX1" y="connsiteY1"/>
              </a:cxn>
            </a:cxnLst>
            <a:rect l="l" t="t" r="r" b="b"/>
            <a:pathLst>
              <a:path w="22860" h="276986">
                <a:moveTo>
                  <a:pt x="11430" y="0"/>
                </a:moveTo>
                <a:lnTo>
                  <a:pt x="11430"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Freeform 3"/>
          <p:cNvSpPr/>
          <p:nvPr/>
        </p:nvSpPr>
        <p:spPr>
          <a:xfrm>
            <a:off x="5341154" y="3427714"/>
            <a:ext cx="22859" cy="276986"/>
          </a:xfrm>
          <a:custGeom>
            <a:avLst/>
            <a:gdLst>
              <a:gd name="connsiteX0" fmla="*/ 11429 w 22859"/>
              <a:gd name="connsiteY0" fmla="*/ 0 h 276986"/>
              <a:gd name="connsiteX1" fmla="*/ 11429 w 22859"/>
              <a:gd name="connsiteY1" fmla="*/ 276986 h 276986"/>
            </a:gdLst>
            <a:ahLst/>
            <a:cxnLst>
              <a:cxn ang="0">
                <a:pos x="connsiteX0" y="connsiteY0"/>
              </a:cxn>
              <a:cxn ang="1">
                <a:pos x="connsiteX1" y="connsiteY1"/>
              </a:cxn>
            </a:cxnLst>
            <a:rect l="l" t="t" r="r" b="b"/>
            <a:pathLst>
              <a:path w="22859" h="276986">
                <a:moveTo>
                  <a:pt x="11429" y="0"/>
                </a:moveTo>
                <a:lnTo>
                  <a:pt x="11429"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Freeform 3"/>
          <p:cNvSpPr/>
          <p:nvPr/>
        </p:nvSpPr>
        <p:spPr>
          <a:xfrm>
            <a:off x="7631598" y="3425554"/>
            <a:ext cx="94107" cy="282321"/>
          </a:xfrm>
          <a:custGeom>
            <a:avLst/>
            <a:gdLst>
              <a:gd name="connsiteX0" fmla="*/ 4064 w 94107"/>
              <a:gd name="connsiteY0" fmla="*/ 0 h 282321"/>
              <a:gd name="connsiteX1" fmla="*/ 70739 w 94107"/>
              <a:gd name="connsiteY1" fmla="*/ 49530 h 282321"/>
              <a:gd name="connsiteX2" fmla="*/ 94107 w 94107"/>
              <a:gd name="connsiteY2" fmla="*/ 141224 h 282321"/>
              <a:gd name="connsiteX3" fmla="*/ 70866 w 94107"/>
              <a:gd name="connsiteY3" fmla="*/ 233045 h 282321"/>
              <a:gd name="connsiteX4" fmla="*/ 4064 w 94107"/>
              <a:gd name="connsiteY4" fmla="*/ 282321 h 282321"/>
              <a:gd name="connsiteX5" fmla="*/ 381 w 94107"/>
              <a:gd name="connsiteY5" fmla="*/ 270891 h 282321"/>
              <a:gd name="connsiteX6" fmla="*/ 51561 w 94107"/>
              <a:gd name="connsiteY6" fmla="*/ 225679 h 282321"/>
              <a:gd name="connsiteX7" fmla="*/ 68326 w 94107"/>
              <a:gd name="connsiteY7" fmla="*/ 139827 h 282321"/>
              <a:gd name="connsiteX8" fmla="*/ 51689 w 94107"/>
              <a:gd name="connsiteY8" fmla="*/ 56261 h 282321"/>
              <a:gd name="connsiteX9" fmla="*/ 0 w 94107"/>
              <a:gd name="connsiteY9" fmla="*/ 11557 h 282321"/>
              <a:gd name="connsiteX10" fmla="*/ 4064 w 94107"/>
              <a:gd name="connsiteY10" fmla="*/ 0 h 28232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Lst>
            <a:rect l="l" t="t" r="r" b="b"/>
            <a:pathLst>
              <a:path w="94107" h="282321">
                <a:moveTo>
                  <a:pt x="4064" y="0"/>
                </a:moveTo>
                <a:cubicBezTo>
                  <a:pt x="33020" y="7747"/>
                  <a:pt x="55245" y="24130"/>
                  <a:pt x="70739" y="49530"/>
                </a:cubicBezTo>
                <a:cubicBezTo>
                  <a:pt x="86233" y="74930"/>
                  <a:pt x="94107" y="105410"/>
                  <a:pt x="94107" y="141224"/>
                </a:cubicBezTo>
                <a:cubicBezTo>
                  <a:pt x="94107" y="177165"/>
                  <a:pt x="86360" y="207772"/>
                  <a:pt x="70866" y="233045"/>
                </a:cubicBezTo>
                <a:cubicBezTo>
                  <a:pt x="55372" y="258318"/>
                  <a:pt x="33020" y="274701"/>
                  <a:pt x="4064" y="282321"/>
                </a:cubicBezTo>
                <a:lnTo>
                  <a:pt x="381" y="270891"/>
                </a:lnTo>
                <a:cubicBezTo>
                  <a:pt x="23368" y="263271"/>
                  <a:pt x="40385" y="248158"/>
                  <a:pt x="51561" y="225679"/>
                </a:cubicBezTo>
                <a:cubicBezTo>
                  <a:pt x="62738" y="203200"/>
                  <a:pt x="68326" y="174498"/>
                  <a:pt x="68326" y="139827"/>
                </a:cubicBezTo>
                <a:cubicBezTo>
                  <a:pt x="68326" y="106299"/>
                  <a:pt x="62738" y="78359"/>
                  <a:pt x="51689" y="56261"/>
                </a:cubicBezTo>
                <a:cubicBezTo>
                  <a:pt x="40513" y="34036"/>
                  <a:pt x="23368" y="19177"/>
                  <a:pt x="0" y="11557"/>
                </a:cubicBezTo>
                <a:lnTo>
                  <a:pt x="4064" y="0"/>
                </a:lnTo>
              </a:path>
            </a:pathLst>
          </a:custGeom>
          <a:solidFill>
            <a:srgbClr val="07080B">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3"/>
          <p:cNvSpPr/>
          <p:nvPr/>
        </p:nvSpPr>
        <p:spPr>
          <a:xfrm>
            <a:off x="7342800" y="3425554"/>
            <a:ext cx="94107" cy="282321"/>
          </a:xfrm>
          <a:custGeom>
            <a:avLst/>
            <a:gdLst>
              <a:gd name="connsiteX0" fmla="*/ 90043 w 94107"/>
              <a:gd name="connsiteY0" fmla="*/ 0 h 282321"/>
              <a:gd name="connsiteX1" fmla="*/ 94107 w 94107"/>
              <a:gd name="connsiteY1" fmla="*/ 11557 h 282321"/>
              <a:gd name="connsiteX2" fmla="*/ 42545 w 94107"/>
              <a:gd name="connsiteY2" fmla="*/ 56261 h 282321"/>
              <a:gd name="connsiteX3" fmla="*/ 25781 w 94107"/>
              <a:gd name="connsiteY3" fmla="*/ 139827 h 282321"/>
              <a:gd name="connsiteX4" fmla="*/ 42545 w 94107"/>
              <a:gd name="connsiteY4" fmla="*/ 225679 h 282321"/>
              <a:gd name="connsiteX5" fmla="*/ 93598 w 94107"/>
              <a:gd name="connsiteY5" fmla="*/ 270891 h 282321"/>
              <a:gd name="connsiteX6" fmla="*/ 90043 w 94107"/>
              <a:gd name="connsiteY6" fmla="*/ 282321 h 282321"/>
              <a:gd name="connsiteX7" fmla="*/ 23241 w 94107"/>
              <a:gd name="connsiteY7" fmla="*/ 233045 h 282321"/>
              <a:gd name="connsiteX8" fmla="*/ 0 w 94107"/>
              <a:gd name="connsiteY8" fmla="*/ 141224 h 282321"/>
              <a:gd name="connsiteX9" fmla="*/ 23368 w 94107"/>
              <a:gd name="connsiteY9" fmla="*/ 49530 h 282321"/>
              <a:gd name="connsiteX10" fmla="*/ 90043 w 94107"/>
              <a:gd name="connsiteY10" fmla="*/ 0 h 28232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Lst>
            <a:rect l="l" t="t" r="r" b="b"/>
            <a:pathLst>
              <a:path w="94107" h="282321">
                <a:moveTo>
                  <a:pt x="90043" y="0"/>
                </a:moveTo>
                <a:lnTo>
                  <a:pt x="94107" y="11557"/>
                </a:lnTo>
                <a:cubicBezTo>
                  <a:pt x="70866" y="19177"/>
                  <a:pt x="53721" y="34036"/>
                  <a:pt x="42545" y="56261"/>
                </a:cubicBezTo>
                <a:cubicBezTo>
                  <a:pt x="31369" y="78359"/>
                  <a:pt x="25781" y="106299"/>
                  <a:pt x="25781" y="139827"/>
                </a:cubicBezTo>
                <a:cubicBezTo>
                  <a:pt x="25781" y="174498"/>
                  <a:pt x="31369" y="203200"/>
                  <a:pt x="42545" y="225679"/>
                </a:cubicBezTo>
                <a:cubicBezTo>
                  <a:pt x="53721" y="248158"/>
                  <a:pt x="70739" y="263271"/>
                  <a:pt x="93598" y="270891"/>
                </a:cubicBezTo>
                <a:lnTo>
                  <a:pt x="90043" y="282321"/>
                </a:lnTo>
                <a:cubicBezTo>
                  <a:pt x="60959" y="274701"/>
                  <a:pt x="38734" y="258318"/>
                  <a:pt x="23241" y="233045"/>
                </a:cubicBezTo>
                <a:cubicBezTo>
                  <a:pt x="7746" y="207772"/>
                  <a:pt x="0" y="177165"/>
                  <a:pt x="0" y="141224"/>
                </a:cubicBezTo>
                <a:cubicBezTo>
                  <a:pt x="0" y="105410"/>
                  <a:pt x="7746" y="74930"/>
                  <a:pt x="23368" y="49530"/>
                </a:cubicBezTo>
                <a:cubicBezTo>
                  <a:pt x="38861" y="24130"/>
                  <a:pt x="61086" y="7747"/>
                  <a:pt x="90043" y="0"/>
                </a:cubicBezTo>
              </a:path>
            </a:pathLst>
          </a:custGeom>
          <a:solidFill>
            <a:srgbClr val="07080B">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Freeform 3"/>
          <p:cNvSpPr/>
          <p:nvPr/>
        </p:nvSpPr>
        <p:spPr>
          <a:xfrm>
            <a:off x="5243363" y="3927038"/>
            <a:ext cx="22859" cy="276986"/>
          </a:xfrm>
          <a:custGeom>
            <a:avLst/>
            <a:gdLst>
              <a:gd name="connsiteX0" fmla="*/ 11430 w 22859"/>
              <a:gd name="connsiteY0" fmla="*/ 0 h 276986"/>
              <a:gd name="connsiteX1" fmla="*/ 11430 w 22859"/>
              <a:gd name="connsiteY1" fmla="*/ 276986 h 276986"/>
            </a:gdLst>
            <a:ahLst/>
            <a:cxnLst>
              <a:cxn ang="0">
                <a:pos x="connsiteX0" y="connsiteY0"/>
              </a:cxn>
              <a:cxn ang="1">
                <a:pos x="connsiteX1" y="connsiteY1"/>
              </a:cxn>
            </a:cxnLst>
            <a:rect l="l" t="t" r="r" b="b"/>
            <a:pathLst>
              <a:path w="22859" h="276986">
                <a:moveTo>
                  <a:pt x="11430" y="0"/>
                </a:moveTo>
                <a:lnTo>
                  <a:pt x="11430"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Freeform 3"/>
          <p:cNvSpPr/>
          <p:nvPr/>
        </p:nvSpPr>
        <p:spPr>
          <a:xfrm>
            <a:off x="5178594" y="3927038"/>
            <a:ext cx="22859" cy="276986"/>
          </a:xfrm>
          <a:custGeom>
            <a:avLst/>
            <a:gdLst>
              <a:gd name="connsiteX0" fmla="*/ 11430 w 22859"/>
              <a:gd name="connsiteY0" fmla="*/ 0 h 276986"/>
              <a:gd name="connsiteX1" fmla="*/ 11430 w 22859"/>
              <a:gd name="connsiteY1" fmla="*/ 276986 h 276986"/>
            </a:gdLst>
            <a:ahLst/>
            <a:cxnLst>
              <a:cxn ang="0">
                <a:pos x="connsiteX0" y="connsiteY0"/>
              </a:cxn>
              <a:cxn ang="1">
                <a:pos x="connsiteX1" y="connsiteY1"/>
              </a:cxn>
            </a:cxnLst>
            <a:rect l="l" t="t" r="r" b="b"/>
            <a:pathLst>
              <a:path w="22859" h="276986">
                <a:moveTo>
                  <a:pt x="11430" y="0"/>
                </a:moveTo>
                <a:lnTo>
                  <a:pt x="11430"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Freeform 3"/>
          <p:cNvSpPr/>
          <p:nvPr/>
        </p:nvSpPr>
        <p:spPr>
          <a:xfrm>
            <a:off x="4847123" y="3927038"/>
            <a:ext cx="22860" cy="276986"/>
          </a:xfrm>
          <a:custGeom>
            <a:avLst/>
            <a:gdLst>
              <a:gd name="connsiteX0" fmla="*/ 11430 w 22860"/>
              <a:gd name="connsiteY0" fmla="*/ 0 h 276986"/>
              <a:gd name="connsiteX1" fmla="*/ 11430 w 22860"/>
              <a:gd name="connsiteY1" fmla="*/ 276986 h 276986"/>
            </a:gdLst>
            <a:ahLst/>
            <a:cxnLst>
              <a:cxn ang="0">
                <a:pos x="connsiteX0" y="connsiteY0"/>
              </a:cxn>
              <a:cxn ang="1">
                <a:pos x="connsiteX1" y="connsiteY1"/>
              </a:cxn>
            </a:cxnLst>
            <a:rect l="l" t="t" r="r" b="b"/>
            <a:pathLst>
              <a:path w="22860" h="276986">
                <a:moveTo>
                  <a:pt x="11430" y="0"/>
                </a:moveTo>
                <a:lnTo>
                  <a:pt x="11430"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Freeform 3"/>
          <p:cNvSpPr/>
          <p:nvPr/>
        </p:nvSpPr>
        <p:spPr>
          <a:xfrm>
            <a:off x="4782354" y="3927038"/>
            <a:ext cx="22859" cy="276986"/>
          </a:xfrm>
          <a:custGeom>
            <a:avLst/>
            <a:gdLst>
              <a:gd name="connsiteX0" fmla="*/ 11429 w 22859"/>
              <a:gd name="connsiteY0" fmla="*/ 0 h 276986"/>
              <a:gd name="connsiteX1" fmla="*/ 11429 w 22859"/>
              <a:gd name="connsiteY1" fmla="*/ 276986 h 276986"/>
            </a:gdLst>
            <a:ahLst/>
            <a:cxnLst>
              <a:cxn ang="0">
                <a:pos x="connsiteX0" y="connsiteY0"/>
              </a:cxn>
              <a:cxn ang="1">
                <a:pos x="connsiteX1" y="connsiteY1"/>
              </a:cxn>
            </a:cxnLst>
            <a:rect l="l" t="t" r="r" b="b"/>
            <a:pathLst>
              <a:path w="22859" h="276986">
                <a:moveTo>
                  <a:pt x="11429" y="0"/>
                </a:moveTo>
                <a:lnTo>
                  <a:pt x="11429"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Freeform 3"/>
          <p:cNvSpPr/>
          <p:nvPr/>
        </p:nvSpPr>
        <p:spPr>
          <a:xfrm>
            <a:off x="5329723" y="4607377"/>
            <a:ext cx="558800" cy="20320"/>
          </a:xfrm>
          <a:custGeom>
            <a:avLst/>
            <a:gdLst>
              <a:gd name="connsiteX0" fmla="*/ 0 w 558800"/>
              <a:gd name="connsiteY0" fmla="*/ 10159 h 20320"/>
              <a:gd name="connsiteX1" fmla="*/ 558800 w 558800"/>
              <a:gd name="connsiteY1" fmla="*/ 10159 h 20320"/>
            </a:gdLst>
            <a:ahLst/>
            <a:cxnLst>
              <a:cxn ang="0">
                <a:pos x="connsiteX0" y="connsiteY0"/>
              </a:cxn>
              <a:cxn ang="1">
                <a:pos x="connsiteX1" y="connsiteY1"/>
              </a:cxn>
            </a:cxnLst>
            <a:rect l="l" t="t" r="r" b="b"/>
            <a:pathLst>
              <a:path w="558800" h="20320">
                <a:moveTo>
                  <a:pt x="0" y="10159"/>
                </a:moveTo>
                <a:lnTo>
                  <a:pt x="558800" y="10159"/>
                </a:lnTo>
              </a:path>
            </a:pathLst>
          </a:custGeom>
          <a:ln w="127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Freeform 3"/>
          <p:cNvSpPr/>
          <p:nvPr/>
        </p:nvSpPr>
        <p:spPr>
          <a:xfrm>
            <a:off x="5827563" y="4683958"/>
            <a:ext cx="22859" cy="276986"/>
          </a:xfrm>
          <a:custGeom>
            <a:avLst/>
            <a:gdLst>
              <a:gd name="connsiteX0" fmla="*/ 11430 w 22859"/>
              <a:gd name="connsiteY0" fmla="*/ 0 h 276986"/>
              <a:gd name="connsiteX1" fmla="*/ 11430 w 22859"/>
              <a:gd name="connsiteY1" fmla="*/ 276986 h 276986"/>
            </a:gdLst>
            <a:ahLst/>
            <a:cxnLst>
              <a:cxn ang="0">
                <a:pos x="connsiteX0" y="connsiteY0"/>
              </a:cxn>
              <a:cxn ang="1">
                <a:pos x="connsiteX1" y="connsiteY1"/>
              </a:cxn>
            </a:cxnLst>
            <a:rect l="l" t="t" r="r" b="b"/>
            <a:pathLst>
              <a:path w="22859" h="276986">
                <a:moveTo>
                  <a:pt x="11430" y="0"/>
                </a:moveTo>
                <a:lnTo>
                  <a:pt x="11430"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Freeform 3"/>
          <p:cNvSpPr/>
          <p:nvPr/>
        </p:nvSpPr>
        <p:spPr>
          <a:xfrm>
            <a:off x="5762794" y="4683958"/>
            <a:ext cx="22859" cy="276986"/>
          </a:xfrm>
          <a:custGeom>
            <a:avLst/>
            <a:gdLst>
              <a:gd name="connsiteX0" fmla="*/ 11430 w 22859"/>
              <a:gd name="connsiteY0" fmla="*/ 0 h 276986"/>
              <a:gd name="connsiteX1" fmla="*/ 11430 w 22859"/>
              <a:gd name="connsiteY1" fmla="*/ 276986 h 276986"/>
            </a:gdLst>
            <a:ahLst/>
            <a:cxnLst>
              <a:cxn ang="0">
                <a:pos x="connsiteX0" y="connsiteY0"/>
              </a:cxn>
              <a:cxn ang="1">
                <a:pos x="connsiteX1" y="connsiteY1"/>
              </a:cxn>
            </a:cxnLst>
            <a:rect l="l" t="t" r="r" b="b"/>
            <a:pathLst>
              <a:path w="22859" h="276986">
                <a:moveTo>
                  <a:pt x="11430" y="0"/>
                </a:moveTo>
                <a:lnTo>
                  <a:pt x="11430"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Freeform 3"/>
          <p:cNvSpPr/>
          <p:nvPr/>
        </p:nvSpPr>
        <p:spPr>
          <a:xfrm>
            <a:off x="5431323" y="4683958"/>
            <a:ext cx="22860" cy="276986"/>
          </a:xfrm>
          <a:custGeom>
            <a:avLst/>
            <a:gdLst>
              <a:gd name="connsiteX0" fmla="*/ 11430 w 22860"/>
              <a:gd name="connsiteY0" fmla="*/ 0 h 276986"/>
              <a:gd name="connsiteX1" fmla="*/ 11430 w 22860"/>
              <a:gd name="connsiteY1" fmla="*/ 276986 h 276986"/>
            </a:gdLst>
            <a:ahLst/>
            <a:cxnLst>
              <a:cxn ang="0">
                <a:pos x="connsiteX0" y="connsiteY0"/>
              </a:cxn>
              <a:cxn ang="1">
                <a:pos x="connsiteX1" y="connsiteY1"/>
              </a:cxn>
            </a:cxnLst>
            <a:rect l="l" t="t" r="r" b="b"/>
            <a:pathLst>
              <a:path w="22860" h="276986">
                <a:moveTo>
                  <a:pt x="11430" y="0"/>
                </a:moveTo>
                <a:lnTo>
                  <a:pt x="11430"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Freeform 3"/>
          <p:cNvSpPr/>
          <p:nvPr/>
        </p:nvSpPr>
        <p:spPr>
          <a:xfrm>
            <a:off x="5366554" y="4683958"/>
            <a:ext cx="22859" cy="276986"/>
          </a:xfrm>
          <a:custGeom>
            <a:avLst/>
            <a:gdLst>
              <a:gd name="connsiteX0" fmla="*/ 11429 w 22859"/>
              <a:gd name="connsiteY0" fmla="*/ 0 h 276986"/>
              <a:gd name="connsiteX1" fmla="*/ 11429 w 22859"/>
              <a:gd name="connsiteY1" fmla="*/ 276986 h 276986"/>
            </a:gdLst>
            <a:ahLst/>
            <a:cxnLst>
              <a:cxn ang="0">
                <a:pos x="connsiteX0" y="connsiteY0"/>
              </a:cxn>
              <a:cxn ang="1">
                <a:pos x="connsiteX1" y="connsiteY1"/>
              </a:cxn>
            </a:cxnLst>
            <a:rect l="l" t="t" r="r" b="b"/>
            <a:pathLst>
              <a:path w="22859" h="276986">
                <a:moveTo>
                  <a:pt x="11429" y="0"/>
                </a:moveTo>
                <a:lnTo>
                  <a:pt x="11429" y="276986"/>
                </a:lnTo>
              </a:path>
            </a:pathLst>
          </a:custGeom>
          <a:ln w="25400">
            <a:solidFill>
              <a:srgbClr val="07080B">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4711700" y="6451600"/>
            <a:ext cx="2936638" cy="357277"/>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机器学习</a:t>
            </a:r>
            <a:r>
              <a:rPr lang="en-US" altLang="zh-CN" dirty="0" smtClean="0">
                <a:latin typeface="Times New Roman" panose="02020603050405020304" pitchFamily="18" charset="0"/>
                <a:cs typeface="Times New Roman" panose="02020603050405020304" pitchFamily="18" charset="0"/>
              </a:rPr>
              <a:t>    </a:t>
            </a:r>
            <a:r>
              <a:rPr lang="en-US" altLang="zh-CN" dirty="0" smtClean="0">
                <a:solidFill>
                  <a:srgbClr val="FFFFFF"/>
                </a:solidFill>
                <a:latin typeface="微软雅黑" panose="020B0503020204020204" pitchFamily="34" charset="-122"/>
                <a:cs typeface="微软雅黑" panose="020B0503020204020204" pitchFamily="34" charset="-122"/>
              </a:rPr>
              <a:t>CDA</a:t>
            </a:r>
            <a:r>
              <a:rPr lang="en-US" altLang="zh-CN" sz="1200" dirty="0" smtClean="0">
                <a:solidFill>
                  <a:srgbClr val="FFFFFF"/>
                </a:solidFill>
                <a:latin typeface="微软雅黑" panose="020B0503020204020204" pitchFamily="34" charset="-122"/>
                <a:cs typeface="微软雅黑" panose="020B0503020204020204" pitchFamily="34" charset="-122"/>
              </a:rPr>
              <a:t>！）</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26" name="TextBox 1"/>
          <p:cNvSpPr txBox="1"/>
          <p:nvPr/>
        </p:nvSpPr>
        <p:spPr>
          <a:xfrm>
            <a:off x="1184965" y="135636"/>
            <a:ext cx="1828800" cy="596900"/>
          </a:xfrm>
          <a:prstGeom prst="rect">
            <a:avLst/>
          </a:prstGeom>
          <a:noFill/>
        </p:spPr>
        <p:txBody>
          <a:bodyPr wrap="none" lIns="0" tIns="0" rIns="0" rtlCol="0">
            <a:spAutoFit/>
          </a:bodyPr>
          <a:lstStyle/>
          <a:p>
            <a:pPr>
              <a:lnSpc>
                <a:spcPts val="4700"/>
              </a:lnSpc>
            </a:pPr>
            <a:r>
              <a:rPr lang="en-US" altLang="zh-CN" sz="3600" dirty="0" smtClean="0">
                <a:solidFill>
                  <a:srgbClr val="000000"/>
                </a:solidFill>
                <a:latin typeface="微软雅黑" panose="020B0503020204020204" pitchFamily="34" charset="-122"/>
                <a:cs typeface="微软雅黑" panose="020B0503020204020204" pitchFamily="34" charset="-122"/>
              </a:rPr>
              <a:t>一些推导</a:t>
            </a:r>
            <a:endParaRPr lang="en-US" altLang="zh-CN" sz="3600" dirty="0" smtClean="0">
              <a:solidFill>
                <a:srgbClr val="000000"/>
              </a:solidFill>
              <a:latin typeface="微软雅黑" panose="020B0503020204020204" pitchFamily="34" charset="-122"/>
              <a:cs typeface="微软雅黑" panose="020B0503020204020204" pitchFamily="34" charset="-122"/>
            </a:endParaRPr>
          </a:p>
        </p:txBody>
      </p:sp>
      <p:sp>
        <p:nvSpPr>
          <p:cNvPr id="31" name="TextBox 1"/>
          <p:cNvSpPr txBox="1"/>
          <p:nvPr/>
        </p:nvSpPr>
        <p:spPr>
          <a:xfrm>
            <a:off x="4738666" y="1892300"/>
            <a:ext cx="2222500" cy="1435100"/>
          </a:xfrm>
          <a:prstGeom prst="rect">
            <a:avLst/>
          </a:prstGeom>
          <a:noFill/>
        </p:spPr>
        <p:txBody>
          <a:bodyPr wrap="none" lIns="0" tIns="0" rIns="0" rtlCol="0">
            <a:spAutoFit/>
          </a:bodyPr>
          <a:lstStyle/>
          <a:p>
            <a:pPr>
              <a:lnSpc>
                <a:spcPts val="2700"/>
              </a:lnSpc>
            </a:pPr>
            <a:r>
              <a:rPr lang="en-US" altLang="zh-CN" sz="2400" dirty="0" smtClean="0">
                <a:solidFill>
                  <a:srgbClr val="07080B"/>
                </a:solidFill>
                <a:latin typeface="Cambria Math" panose="02040503050406030204" pitchFamily="18" charset="0"/>
                <a:cs typeface="Cambria Math" panose="02040503050406030204" pitchFamily="18" charset="0"/>
              </a:rPr>
              <a:t>𝑤</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𝑥</a:t>
            </a:r>
            <a:r>
              <a:rPr lang="en-US" altLang="zh-CN" sz="1760" dirty="0" smtClean="0">
                <a:solidFill>
                  <a:srgbClr val="07080B"/>
                </a:solidFill>
                <a:latin typeface="Cambria Math" panose="02040503050406030204" pitchFamily="18" charset="0"/>
                <a:cs typeface="Cambria Math" panose="02040503050406030204" pitchFamily="18" charset="0"/>
              </a:rPr>
              <a:t>1</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𝑏</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1</a:t>
            </a:r>
            <a:endParaRPr lang="en-US" altLang="zh-CN" sz="2400" dirty="0" smtClean="0">
              <a:solidFill>
                <a:srgbClr val="07080B"/>
              </a:solidFill>
              <a:latin typeface="Cambria Math" panose="02040503050406030204" pitchFamily="18" charset="0"/>
              <a:cs typeface="Cambria Math" panose="02040503050406030204" pitchFamily="18" charset="0"/>
            </a:endParaRPr>
          </a:p>
          <a:p>
            <a:pPr>
              <a:lnSpc>
                <a:spcPts val="2800"/>
              </a:lnSpc>
            </a:pPr>
            <a:r>
              <a:rPr lang="en-US" altLang="zh-CN" sz="2400" dirty="0" smtClean="0">
                <a:solidFill>
                  <a:srgbClr val="07080B"/>
                </a:solidFill>
                <a:latin typeface="Cambria Math" panose="02040503050406030204" pitchFamily="18" charset="0"/>
                <a:cs typeface="Cambria Math" panose="02040503050406030204" pitchFamily="18" charset="0"/>
              </a:rPr>
              <a:t>𝑤</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𝑥</a:t>
            </a:r>
            <a:r>
              <a:rPr lang="en-US" altLang="zh-CN" sz="1760" dirty="0" smtClean="0">
                <a:solidFill>
                  <a:srgbClr val="07080B"/>
                </a:solidFill>
                <a:latin typeface="Cambria Math" panose="02040503050406030204" pitchFamily="18" charset="0"/>
                <a:cs typeface="Cambria Math" panose="02040503050406030204" pitchFamily="18" charset="0"/>
              </a:rPr>
              <a:t>2</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𝑏</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−1</a:t>
            </a:r>
            <a:endParaRPr lang="en-US" altLang="zh-CN" sz="2400" dirty="0" smtClean="0">
              <a:solidFill>
                <a:srgbClr val="07080B"/>
              </a:solidFill>
              <a:latin typeface="Cambria Math" panose="02040503050406030204" pitchFamily="18" charset="0"/>
              <a:cs typeface="Cambria Math" panose="02040503050406030204" pitchFamily="18" charset="0"/>
            </a:endParaRP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2700"/>
              </a:lnSpc>
            </a:pPr>
            <a:r>
              <a:rPr lang="en-US" altLang="zh-CN" sz="2400" dirty="0" smtClean="0">
                <a:solidFill>
                  <a:srgbClr val="07080B"/>
                </a:solidFill>
                <a:latin typeface="Cambria Math" panose="02040503050406030204" pitchFamily="18" charset="0"/>
                <a:cs typeface="Cambria Math" panose="02040503050406030204" pitchFamily="18" charset="0"/>
              </a:rPr>
              <a:t>𝑤</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(𝑥</a:t>
            </a:r>
            <a:r>
              <a:rPr lang="en-US" altLang="zh-CN" sz="1760" dirty="0" smtClean="0">
                <a:solidFill>
                  <a:srgbClr val="07080B"/>
                </a:solidFill>
                <a:latin typeface="Cambria Math" panose="02040503050406030204" pitchFamily="18" charset="0"/>
                <a:cs typeface="Cambria Math" panose="02040503050406030204" pitchFamily="18" charset="0"/>
              </a:rPr>
              <a:t>1</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𝑥</a:t>
            </a:r>
            <a:r>
              <a:rPr lang="en-US" altLang="zh-CN" sz="1760" dirty="0" smtClean="0">
                <a:solidFill>
                  <a:srgbClr val="07080B"/>
                </a:solidFill>
                <a:latin typeface="Cambria Math" panose="02040503050406030204" pitchFamily="18" charset="0"/>
                <a:cs typeface="Cambria Math" panose="02040503050406030204" pitchFamily="18" charset="0"/>
              </a:rPr>
              <a:t>2</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2</a:t>
            </a:r>
            <a:endParaRPr lang="en-US" altLang="zh-CN" sz="2400" dirty="0" smtClean="0">
              <a:solidFill>
                <a:srgbClr val="07080B"/>
              </a:solidFill>
              <a:latin typeface="Cambria Math" panose="02040503050406030204" pitchFamily="18" charset="0"/>
              <a:cs typeface="Cambria Math" panose="02040503050406030204" pitchFamily="18" charset="0"/>
            </a:endParaRPr>
          </a:p>
        </p:txBody>
      </p:sp>
      <p:sp>
        <p:nvSpPr>
          <p:cNvPr id="32" name="TextBox 1"/>
          <p:cNvSpPr txBox="1"/>
          <p:nvPr/>
        </p:nvSpPr>
        <p:spPr>
          <a:xfrm>
            <a:off x="4903766" y="3427714"/>
            <a:ext cx="215900" cy="304800"/>
          </a:xfrm>
          <a:prstGeom prst="rect">
            <a:avLst/>
          </a:prstGeom>
          <a:noFill/>
        </p:spPr>
        <p:txBody>
          <a:bodyPr wrap="none" lIns="0" tIns="0" rIns="0" rtlCol="0">
            <a:spAutoFit/>
          </a:bodyPr>
          <a:lstStyle/>
          <a:p>
            <a:pPr>
              <a:lnSpc>
                <a:spcPts val="2400"/>
              </a:lnSpc>
            </a:pPr>
            <a:r>
              <a:rPr lang="en-US" altLang="zh-CN" sz="2400" dirty="0" smtClean="0">
                <a:solidFill>
                  <a:srgbClr val="07080B"/>
                </a:solidFill>
                <a:latin typeface="Cambria Math" panose="02040503050406030204" pitchFamily="18" charset="0"/>
                <a:cs typeface="Cambria Math" panose="02040503050406030204" pitchFamily="18" charset="0"/>
              </a:rPr>
              <a:t>𝑤</a:t>
            </a:r>
            <a:endParaRPr lang="en-US" altLang="zh-CN" sz="2400" dirty="0" smtClean="0">
              <a:solidFill>
                <a:srgbClr val="07080B"/>
              </a:solidFill>
              <a:latin typeface="Cambria Math" panose="02040503050406030204" pitchFamily="18" charset="0"/>
              <a:cs typeface="Cambria Math" panose="02040503050406030204" pitchFamily="18" charset="0"/>
            </a:endParaRPr>
          </a:p>
        </p:txBody>
      </p:sp>
      <p:sp>
        <p:nvSpPr>
          <p:cNvPr id="33" name="TextBox 1"/>
          <p:cNvSpPr txBox="1"/>
          <p:nvPr/>
        </p:nvSpPr>
        <p:spPr>
          <a:xfrm>
            <a:off x="5462566" y="3427714"/>
            <a:ext cx="2844800" cy="342900"/>
          </a:xfrm>
          <a:prstGeom prst="rect">
            <a:avLst/>
          </a:prstGeom>
          <a:noFill/>
        </p:spPr>
        <p:txBody>
          <a:bodyPr wrap="none" lIns="0" tIns="0" rIns="0" rtlCol="0">
            <a:spAutoFit/>
          </a:bodyPr>
          <a:lstStyle/>
          <a:p>
            <a:pPr>
              <a:lnSpc>
                <a:spcPts val="2700"/>
              </a:lnSpc>
            </a:pPr>
            <a:r>
              <a:rPr lang="en-US" altLang="zh-CN" sz="2400" dirty="0" smtClean="0">
                <a:solidFill>
                  <a:srgbClr val="07080B"/>
                </a:solidFill>
                <a:latin typeface="Cambria Math" panose="02040503050406030204" pitchFamily="18" charset="0"/>
                <a:cs typeface="Cambria Math" panose="02040503050406030204" pitchFamily="18" charset="0"/>
              </a:rPr>
              <a:t>(𝑥</a:t>
            </a:r>
            <a:r>
              <a:rPr lang="en-US" altLang="zh-CN" sz="1760" dirty="0" smtClean="0">
                <a:solidFill>
                  <a:srgbClr val="07080B"/>
                </a:solidFill>
                <a:latin typeface="Cambria Math" panose="02040503050406030204" pitchFamily="18" charset="0"/>
                <a:cs typeface="Cambria Math" panose="02040503050406030204" pitchFamily="18" charset="0"/>
              </a:rPr>
              <a:t>1</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𝑥</a:t>
            </a:r>
            <a:r>
              <a:rPr lang="en-US" altLang="zh-CN" sz="1760" dirty="0" smtClean="0">
                <a:solidFill>
                  <a:srgbClr val="07080B"/>
                </a:solidFill>
                <a:latin typeface="Cambria Math" panose="02040503050406030204" pitchFamily="18" charset="0"/>
                <a:cs typeface="Cambria Math" panose="02040503050406030204" pitchFamily="18" charset="0"/>
              </a:rPr>
              <a:t>2</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cos</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𝜃</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2</a:t>
            </a:r>
            <a:endParaRPr lang="en-US" altLang="zh-CN" sz="2400" dirty="0" smtClean="0">
              <a:solidFill>
                <a:srgbClr val="07080B"/>
              </a:solidFill>
              <a:latin typeface="Cambria Math" panose="02040503050406030204" pitchFamily="18" charset="0"/>
              <a:cs typeface="Cambria Math" panose="02040503050406030204" pitchFamily="18" charset="0"/>
            </a:endParaRPr>
          </a:p>
        </p:txBody>
      </p:sp>
      <p:sp>
        <p:nvSpPr>
          <p:cNvPr id="34" name="TextBox 1"/>
          <p:cNvSpPr txBox="1"/>
          <p:nvPr/>
        </p:nvSpPr>
        <p:spPr>
          <a:xfrm>
            <a:off x="4903766" y="3916879"/>
            <a:ext cx="1092200" cy="317500"/>
          </a:xfrm>
          <a:prstGeom prst="rect">
            <a:avLst/>
          </a:prstGeom>
          <a:noFill/>
        </p:spPr>
        <p:txBody>
          <a:bodyPr wrap="none" lIns="0" tIns="0" rIns="0" rtlCol="0">
            <a:spAutoFit/>
          </a:bodyPr>
          <a:lstStyle/>
          <a:p>
            <a:pPr>
              <a:lnSpc>
                <a:spcPts val="2500"/>
              </a:lnSpc>
            </a:pPr>
            <a:r>
              <a:rPr lang="en-US" altLang="zh-CN" sz="2400" dirty="0" smtClean="0">
                <a:solidFill>
                  <a:srgbClr val="07080B"/>
                </a:solidFill>
                <a:latin typeface="Cambria Math" panose="02040503050406030204" pitchFamily="18" charset="0"/>
                <a:cs typeface="Cambria Math" panose="02040503050406030204" pitchFamily="18" charset="0"/>
              </a:rPr>
              <a:t>𝑤</a:t>
            </a:r>
            <a:r>
              <a:rPr lang="en-US" altLang="zh-CN" sz="2530" dirty="0" smtClean="0">
                <a:latin typeface="Times New Roman" panose="02020603050405020304" pitchFamily="18" charset="0"/>
                <a:cs typeface="Times New Roman" panose="02020603050405020304" pitchFamily="18" charset="0"/>
              </a:rPr>
              <a:t>  </a:t>
            </a:r>
            <a:r>
              <a:rPr lang="en-US" altLang="zh-CN" sz="2530" dirty="0" smtClean="0">
                <a:solidFill>
                  <a:srgbClr val="07080B"/>
                </a:solidFill>
                <a:latin typeface="Cambria Math" panose="02040503050406030204" pitchFamily="18" charset="0"/>
                <a:cs typeface="Cambria Math" panose="02040503050406030204" pitchFamily="18" charset="0"/>
              </a:rPr>
              <a:t>*d=2</a:t>
            </a:r>
            <a:endParaRPr lang="en-US" altLang="zh-CN" sz="2530" dirty="0" smtClean="0">
              <a:solidFill>
                <a:srgbClr val="07080B"/>
              </a:solidFill>
              <a:latin typeface="Cambria Math" panose="02040503050406030204" pitchFamily="18" charset="0"/>
              <a:cs typeface="Cambria Math" panose="02040503050406030204" pitchFamily="18" charset="0"/>
            </a:endParaRPr>
          </a:p>
        </p:txBody>
      </p:sp>
      <p:sp>
        <p:nvSpPr>
          <p:cNvPr id="35" name="TextBox 1"/>
          <p:cNvSpPr txBox="1"/>
          <p:nvPr/>
        </p:nvSpPr>
        <p:spPr>
          <a:xfrm>
            <a:off x="4738666" y="4475679"/>
            <a:ext cx="495300" cy="304800"/>
          </a:xfrm>
          <a:prstGeom prst="rect">
            <a:avLst/>
          </a:prstGeom>
          <a:noFill/>
        </p:spPr>
        <p:txBody>
          <a:bodyPr wrap="none" lIns="0" tIns="0" rIns="0" rtlCol="0">
            <a:spAutoFit/>
          </a:bodyPr>
          <a:lstStyle/>
          <a:p>
            <a:pPr>
              <a:lnSpc>
                <a:spcPts val="2400"/>
              </a:lnSpc>
            </a:pPr>
            <a:r>
              <a:rPr lang="en-US" altLang="zh-CN" sz="2400" dirty="0" smtClean="0">
                <a:solidFill>
                  <a:srgbClr val="07080B"/>
                </a:solidFill>
                <a:latin typeface="Cambria Math" panose="02040503050406030204" pitchFamily="18" charset="0"/>
                <a:cs typeface="Cambria Math" panose="02040503050406030204" pitchFamily="18" charset="0"/>
              </a:rPr>
              <a:t>𝑑</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solidFill>
                  <a:srgbClr val="07080B"/>
                </a:solidFill>
                <a:latin typeface="Cambria Math" panose="02040503050406030204" pitchFamily="18" charset="0"/>
                <a:cs typeface="Cambria Math" panose="02040503050406030204" pitchFamily="18" charset="0"/>
              </a:rPr>
              <a:t>=</a:t>
            </a:r>
            <a:endParaRPr lang="en-US" altLang="zh-CN" sz="2400" dirty="0" smtClean="0">
              <a:solidFill>
                <a:srgbClr val="07080B"/>
              </a:solidFill>
              <a:latin typeface="Cambria Math" panose="02040503050406030204" pitchFamily="18" charset="0"/>
              <a:cs typeface="Cambria Math" panose="02040503050406030204" pitchFamily="18" charset="0"/>
            </a:endParaRPr>
          </a:p>
        </p:txBody>
      </p:sp>
      <p:sp>
        <p:nvSpPr>
          <p:cNvPr id="36" name="TextBox 1"/>
          <p:cNvSpPr txBox="1"/>
          <p:nvPr/>
        </p:nvSpPr>
        <p:spPr>
          <a:xfrm>
            <a:off x="5487966" y="4259779"/>
            <a:ext cx="215900" cy="736600"/>
          </a:xfrm>
          <a:prstGeom prst="rect">
            <a:avLst/>
          </a:prstGeom>
          <a:noFill/>
        </p:spPr>
        <p:txBody>
          <a:bodyPr wrap="none" lIns="0" tIns="0" rIns="0" rtlCol="0">
            <a:spAutoFit/>
          </a:bodyPr>
          <a:lstStyle/>
          <a:p>
            <a:pPr>
              <a:lnSpc>
                <a:spcPts val="2400"/>
              </a:lnSpc>
              <a:tabLst>
                <a:tab pos="38100" algn="l"/>
              </a:tabLst>
            </a:pPr>
            <a:r>
              <a:rPr lang="en-US" altLang="zh-CN" dirty="0" smtClean="0"/>
              <a:t>	</a:t>
            </a:r>
            <a:r>
              <a:rPr lang="en-US" altLang="zh-CN" sz="2400" dirty="0" smtClean="0">
                <a:solidFill>
                  <a:srgbClr val="07080B"/>
                </a:solidFill>
                <a:latin typeface="Cambria Math" panose="02040503050406030204" pitchFamily="18" charset="0"/>
                <a:cs typeface="Cambria Math" panose="02040503050406030204" pitchFamily="18" charset="0"/>
              </a:rPr>
              <a:t>2</a:t>
            </a:r>
            <a:endParaRPr lang="en-US" altLang="zh-CN" sz="2400" dirty="0" smtClean="0">
              <a:solidFill>
                <a:srgbClr val="07080B"/>
              </a:solidFill>
              <a:latin typeface="Cambria Math" panose="02040503050406030204" pitchFamily="18" charset="0"/>
              <a:cs typeface="Cambria Math" panose="02040503050406030204" pitchFamily="18" charset="0"/>
            </a:endParaRPr>
          </a:p>
          <a:p>
            <a:pPr>
              <a:lnSpc>
                <a:spcPts val="3400"/>
              </a:lnSpc>
              <a:tabLst>
                <a:tab pos="38100" algn="l"/>
              </a:tabLst>
            </a:pPr>
            <a:r>
              <a:rPr lang="en-US" altLang="zh-CN" sz="2400" dirty="0" smtClean="0">
                <a:solidFill>
                  <a:srgbClr val="07080B"/>
                </a:solidFill>
                <a:latin typeface="Cambria Math" panose="02040503050406030204" pitchFamily="18" charset="0"/>
                <a:cs typeface="Cambria Math" panose="02040503050406030204" pitchFamily="18" charset="0"/>
              </a:rPr>
              <a:t>𝑤</a:t>
            </a:r>
            <a:endParaRPr lang="en-US" altLang="zh-CN" sz="2400" dirty="0" smtClean="0">
              <a:solidFill>
                <a:srgbClr val="07080B"/>
              </a:solidFill>
              <a:latin typeface="Cambria Math" panose="02040503050406030204" pitchFamily="18" charset="0"/>
              <a:cs typeface="Cambria Math" panose="02040503050406030204" pitchFamily="18" charset="0"/>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内容占位符 3"/>
              <p:cNvSpPr txBox="1"/>
              <p:nvPr/>
            </p:nvSpPr>
            <p:spPr>
              <a:xfrm>
                <a:off x="439712" y="1406340"/>
                <a:ext cx="6681524" cy="4858041"/>
              </a:xfrm>
              <a:prstGeom prst="rect">
                <a:avLst/>
              </a:prstGeom>
            </p:spPr>
            <p:txBody>
              <a:bodyPr vert="horz" lIns="91440" tIns="45720" rIns="91440" bIns="45720" rtlCol="0" anchor="ctr">
                <a:no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342900" marR="0" lvl="0" indent="-342900" algn="l" defTabSz="457200" rtl="0" eaLnBrk="1" fontAlgn="auto" latinLnBrk="0" hangingPunct="1">
                  <a:lnSpc>
                    <a:spcPct val="150000"/>
                  </a:lnSpc>
                  <a:spcBef>
                    <a:spcPct val="20000"/>
                  </a:spcBef>
                  <a:spcAft>
                    <a:spcPts val="600"/>
                  </a:spcAft>
                  <a:buClr>
                    <a:srgbClr val="83AA67"/>
                  </a:buClr>
                  <a:buSzPct val="100000"/>
                  <a:buFont typeface="Wingdings" panose="05000000000000000000" charset="0"/>
                  <a:buChar char="n"/>
                  <a:defRPr/>
                </a:pPr>
                <a:r>
                  <a:rPr lang="en-US" altLang="zh-CN" dirty="0">
                    <a:solidFill>
                      <a:schemeClr val="tx1"/>
                    </a:solidFill>
                    <a:latin typeface="Times New Roman" panose="02020603050405020304" pitchFamily="18" charset="0"/>
                    <a:cs typeface="Times New Roman" panose="02020603050405020304" pitchFamily="18" charset="0"/>
                  </a:rPr>
                  <a:t>H</a:t>
                </a:r>
                <a:r>
                  <a:rPr lang="zh-CN" altLang="en-US" dirty="0">
                    <a:solidFill>
                      <a:schemeClr val="tx1"/>
                    </a:solidFill>
                    <a:latin typeface="Times New Roman" panose="02020603050405020304" pitchFamily="18" charset="0"/>
                    <a:cs typeface="Times New Roman" panose="02020603050405020304" pitchFamily="18" charset="0"/>
                  </a:rPr>
                  <a:t>为最优分类超平面，</a:t>
                </a:r>
                <a:r>
                  <a:rPr lang="en-US" altLang="zh-CN" dirty="0">
                    <a:solidFill>
                      <a:schemeClr val="tx1"/>
                    </a:solidFill>
                    <a:latin typeface="Times New Roman" panose="02020603050405020304" pitchFamily="18" charset="0"/>
                    <a:cs typeface="Times New Roman" panose="02020603050405020304" pitchFamily="18" charset="0"/>
                  </a:rPr>
                  <a:t>H1</a:t>
                </a:r>
                <a:r>
                  <a:rPr lang="zh-CN" altLang="en-US" dirty="0">
                    <a:solidFill>
                      <a:schemeClr val="tx1"/>
                    </a:solidFill>
                    <a:latin typeface="Times New Roman" panose="02020603050405020304" pitchFamily="18" charset="0"/>
                    <a:cs typeface="Times New Roman" panose="02020603050405020304" pitchFamily="18" charset="0"/>
                  </a:rPr>
                  <a:t>和</a:t>
                </a:r>
                <a:r>
                  <a:rPr lang="en-US" altLang="zh-CN" dirty="0">
                    <a:solidFill>
                      <a:schemeClr val="tx1"/>
                    </a:solidFill>
                    <a:latin typeface="Times New Roman" panose="02020603050405020304" pitchFamily="18" charset="0"/>
                    <a:cs typeface="Times New Roman" panose="02020603050405020304" pitchFamily="18" charset="0"/>
                  </a:rPr>
                  <a:t>H2</a:t>
                </a:r>
                <a:r>
                  <a:rPr lang="zh-CN" altLang="en-US" dirty="0">
                    <a:solidFill>
                      <a:schemeClr val="tx1"/>
                    </a:solidFill>
                    <a:latin typeface="Times New Roman" panose="02020603050405020304" pitchFamily="18" charset="0"/>
                    <a:cs typeface="Times New Roman" panose="02020603050405020304" pitchFamily="18" charset="0"/>
                  </a:rPr>
                  <a:t>分别为上、下样本</a:t>
                </a:r>
                <a:r>
                  <a:rPr lang="zh-CN" altLang="en-US" dirty="0" smtClean="0">
                    <a:solidFill>
                      <a:schemeClr val="tx1"/>
                    </a:solidFill>
                    <a:latin typeface="Times New Roman" panose="02020603050405020304" pitchFamily="18" charset="0"/>
                    <a:cs typeface="Times New Roman" panose="02020603050405020304" pitchFamily="18" charset="0"/>
                  </a:rPr>
                  <a:t>中距离分类</a:t>
                </a:r>
                <a:r>
                  <a:rPr lang="zh-CN" altLang="en-US" dirty="0">
                    <a:solidFill>
                      <a:schemeClr val="tx1"/>
                    </a:solidFill>
                    <a:latin typeface="Times New Roman" panose="02020603050405020304" pitchFamily="18" charset="0"/>
                    <a:cs typeface="Times New Roman" panose="02020603050405020304" pitchFamily="18" charset="0"/>
                  </a:rPr>
                  <a:t>超平面最小间隔的超平面，</a:t>
                </a:r>
                <a:r>
                  <a:rPr lang="en-US" altLang="zh-CN" dirty="0">
                    <a:solidFill>
                      <a:schemeClr val="tx1"/>
                    </a:solidFill>
                    <a:latin typeface="Times New Roman" panose="02020603050405020304" pitchFamily="18" charset="0"/>
                    <a:cs typeface="Times New Roman" panose="02020603050405020304" pitchFamily="18" charset="0"/>
                  </a:rPr>
                  <a:t>H1</a:t>
                </a:r>
                <a:r>
                  <a:rPr lang="zh-CN" altLang="en-US" dirty="0">
                    <a:solidFill>
                      <a:schemeClr val="tx1"/>
                    </a:solidFill>
                    <a:latin typeface="Times New Roman" panose="02020603050405020304" pitchFamily="18" charset="0"/>
                    <a:cs typeface="Times New Roman" panose="02020603050405020304" pitchFamily="18" charset="0"/>
                  </a:rPr>
                  <a:t>和</a:t>
                </a:r>
                <a:r>
                  <a:rPr lang="en-US" altLang="zh-CN" dirty="0">
                    <a:solidFill>
                      <a:schemeClr val="tx1"/>
                    </a:solidFill>
                    <a:latin typeface="Times New Roman" panose="02020603050405020304" pitchFamily="18" charset="0"/>
                    <a:cs typeface="Times New Roman" panose="02020603050405020304" pitchFamily="18" charset="0"/>
                  </a:rPr>
                  <a:t>H2</a:t>
                </a:r>
                <a:r>
                  <a:rPr lang="zh-CN" altLang="en-US" dirty="0">
                    <a:solidFill>
                      <a:schemeClr val="tx1"/>
                    </a:solidFill>
                    <a:latin typeface="Times New Roman" panose="02020603050405020304" pitchFamily="18" charset="0"/>
                    <a:cs typeface="Times New Roman" panose="02020603050405020304" pitchFamily="18" charset="0"/>
                  </a:rPr>
                  <a:t>上的样本点（为距离超平面最近的样本点）为支持向量</a:t>
                </a:r>
                <a:r>
                  <a:rPr lang="zh-CN" altLang="en-US" dirty="0" smtClean="0">
                    <a:solidFill>
                      <a:schemeClr val="tx1"/>
                    </a:solidFill>
                    <a:latin typeface="Times New Roman" panose="02020603050405020304" pitchFamily="18" charset="0"/>
                    <a:cs typeface="Times New Roman" panose="02020603050405020304" pitchFamily="18" charset="0"/>
                  </a:rPr>
                  <a:t>。</a:t>
                </a:r>
                <a:endParaRPr lang="en-US" altLang="zh-CN" dirty="0" smtClean="0">
                  <a:solidFill>
                    <a:schemeClr val="tx1"/>
                  </a:solidFill>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charset="0"/>
                  <a:buChar char="n"/>
                </a:pPr>
                <a:r>
                  <a:rPr lang="zh-CN" altLang="en-US" dirty="0" smtClean="0">
                    <a:solidFill>
                      <a:schemeClr val="tx1"/>
                    </a:solidFill>
                    <a:latin typeface="Times New Roman" panose="02020603050405020304" pitchFamily="18" charset="0"/>
                    <a:cs typeface="Times New Roman" panose="02020603050405020304" pitchFamily="18" charset="0"/>
                  </a:rPr>
                  <a:t>超平面</a:t>
                </a:r>
                <a14:m>
                  <m:oMath xmlns:m="http://schemas.openxmlformats.org/officeDocument/2006/math">
                    <m:sSub>
                      <m:sSubPr>
                        <m:ctrlPr>
                          <a:rPr lang="zh-CN" altLang="zh-CN" i="1">
                            <a:solidFill>
                              <a:schemeClr val="tx1"/>
                            </a:solidFill>
                            <a:latin typeface="Cambria Math" panose="02040503050406030204" pitchFamily="18" charset="0"/>
                          </a:rPr>
                        </m:ctrlPr>
                      </m:sSubPr>
                      <m:e>
                        <m:r>
                          <m:rPr>
                            <m:nor/>
                          </m:rPr>
                          <a:rPr lang="en-US" altLang="zh-CN" dirty="0">
                            <a:solidFill>
                              <a:schemeClr val="tx1"/>
                            </a:solidFill>
                            <a:latin typeface="Times New Roman" panose="02020603050405020304" pitchFamily="18" charset="0"/>
                            <a:cs typeface="Times New Roman" panose="02020603050405020304" pitchFamily="18" charset="0"/>
                          </a:rPr>
                          <m:t>H</m:t>
                        </m:r>
                      </m:e>
                      <m:sub>
                        <m:r>
                          <a:rPr lang="en-US" altLang="zh-CN">
                            <a:solidFill>
                              <a:schemeClr val="tx1"/>
                            </a:solidFill>
                            <a:latin typeface="Cambria Math" panose="02040503050406030204" pitchFamily="18" charset="0"/>
                          </a:rPr>
                          <m:t>1</m:t>
                        </m:r>
                      </m:sub>
                    </m:sSub>
                  </m:oMath>
                </a14:m>
                <a:r>
                  <a:rPr lang="zh-CN" altLang="zh-CN" dirty="0">
                    <a:solidFill>
                      <a:schemeClr val="tx1"/>
                    </a:solidFill>
                    <a:latin typeface="Times New Roman" panose="02020603050405020304" pitchFamily="18" charset="0"/>
                    <a:cs typeface="Times New Roman" panose="02020603050405020304" pitchFamily="18" charset="0"/>
                  </a:rPr>
                  <a:t>和</a:t>
                </a:r>
                <a14:m>
                  <m:oMath xmlns:m="http://schemas.openxmlformats.org/officeDocument/2006/math">
                    <m:sSub>
                      <m:sSubPr>
                        <m:ctrlPr>
                          <a:rPr lang="zh-CN" altLang="zh-CN" i="1">
                            <a:solidFill>
                              <a:schemeClr val="tx1"/>
                            </a:solidFill>
                            <a:latin typeface="Cambria Math" panose="02040503050406030204" pitchFamily="18" charset="0"/>
                          </a:rPr>
                        </m:ctrlPr>
                      </m:sSubPr>
                      <m:e>
                        <m:r>
                          <m:rPr>
                            <m:nor/>
                          </m:rPr>
                          <a:rPr lang="en-US" altLang="zh-CN" dirty="0">
                            <a:solidFill>
                              <a:schemeClr val="tx1"/>
                            </a:solidFill>
                            <a:latin typeface="Times New Roman" panose="02020603050405020304" pitchFamily="18" charset="0"/>
                            <a:cs typeface="Times New Roman" panose="02020603050405020304" pitchFamily="18" charset="0"/>
                          </a:rPr>
                          <m:t>H</m:t>
                        </m:r>
                      </m:e>
                      <m:sub>
                        <m:r>
                          <a:rPr lang="en-US" altLang="zh-CN">
                            <a:solidFill>
                              <a:schemeClr val="tx1"/>
                            </a:solidFill>
                            <a:latin typeface="Cambria Math" panose="02040503050406030204" pitchFamily="18" charset="0"/>
                          </a:rPr>
                          <m:t>2</m:t>
                        </m:r>
                      </m:sub>
                    </m:sSub>
                  </m:oMath>
                </a14:m>
                <a:r>
                  <a:rPr lang="zh-CN" altLang="zh-CN" dirty="0">
                    <a:solidFill>
                      <a:schemeClr val="tx1"/>
                    </a:solidFill>
                    <a:latin typeface="Times New Roman" panose="02020603050405020304" pitchFamily="18" charset="0"/>
                    <a:cs typeface="Times New Roman" panose="02020603050405020304" pitchFamily="18" charset="0"/>
                  </a:rPr>
                  <a:t>又称为</a:t>
                </a:r>
                <a:r>
                  <a:rPr lang="zh-CN" altLang="zh-CN" b="1" dirty="0">
                    <a:solidFill>
                      <a:schemeClr val="tx1"/>
                    </a:solidFill>
                    <a:latin typeface="Times New Roman" panose="02020603050405020304" pitchFamily="18" charset="0"/>
                    <a:cs typeface="Times New Roman" panose="02020603050405020304" pitchFamily="18" charset="0"/>
                  </a:rPr>
                  <a:t>间隔边界</a:t>
                </a:r>
                <a:r>
                  <a:rPr lang="zh-CN" altLang="zh-CN" dirty="0">
                    <a:solidFill>
                      <a:schemeClr val="tx1"/>
                    </a:solidFill>
                    <a:latin typeface="Times New Roman" panose="02020603050405020304" pitchFamily="18" charset="0"/>
                    <a:cs typeface="Times New Roman" panose="02020603050405020304" pitchFamily="18" charset="0"/>
                  </a:rPr>
                  <a:t>，它们与分隔超平面</a:t>
                </a:r>
                <a14:m>
                  <m:oMath xmlns:m="http://schemas.openxmlformats.org/officeDocument/2006/math">
                    <m:r>
                      <m:rPr>
                        <m:nor/>
                      </m:rPr>
                      <a:rPr lang="en-US" altLang="zh-CN" dirty="0">
                        <a:solidFill>
                          <a:schemeClr val="tx1"/>
                        </a:solidFill>
                        <a:latin typeface="Times New Roman" panose="02020603050405020304" pitchFamily="18" charset="0"/>
                        <a:cs typeface="Times New Roman" panose="02020603050405020304" pitchFamily="18" charset="0"/>
                      </a:rPr>
                      <m:t>H</m:t>
                    </m:r>
                  </m:oMath>
                </a14:m>
                <a:r>
                  <a:rPr lang="zh-CN" altLang="zh-CN" dirty="0">
                    <a:solidFill>
                      <a:schemeClr val="tx1"/>
                    </a:solidFill>
                    <a:latin typeface="Times New Roman" panose="02020603050405020304" pitchFamily="18" charset="0"/>
                    <a:cs typeface="Times New Roman" panose="02020603050405020304" pitchFamily="18" charset="0"/>
                  </a:rPr>
                  <a:t>平行，没有任何样本点落在</a:t>
                </a:r>
                <a14:m>
                  <m:oMath xmlns:m="http://schemas.openxmlformats.org/officeDocument/2006/math">
                    <m:sSub>
                      <m:sSubPr>
                        <m:ctrlPr>
                          <a:rPr lang="zh-CN" altLang="zh-CN" i="1">
                            <a:solidFill>
                              <a:schemeClr val="tx1"/>
                            </a:solidFill>
                            <a:latin typeface="Cambria Math" panose="02040503050406030204" pitchFamily="18" charset="0"/>
                          </a:rPr>
                        </m:ctrlPr>
                      </m:sSubPr>
                      <m:e>
                        <m:r>
                          <m:rPr>
                            <m:nor/>
                          </m:rPr>
                          <a:rPr lang="en-US" altLang="zh-CN" dirty="0">
                            <a:solidFill>
                              <a:schemeClr val="tx1"/>
                            </a:solidFill>
                            <a:latin typeface="Times New Roman" panose="02020603050405020304" pitchFamily="18" charset="0"/>
                            <a:cs typeface="Times New Roman" panose="02020603050405020304" pitchFamily="18" charset="0"/>
                          </a:rPr>
                          <m:t>H</m:t>
                        </m:r>
                      </m:e>
                      <m:sub>
                        <m:r>
                          <a:rPr lang="en-US" altLang="zh-CN">
                            <a:solidFill>
                              <a:schemeClr val="tx1"/>
                            </a:solidFill>
                            <a:latin typeface="Cambria Math" panose="02040503050406030204" pitchFamily="18" charset="0"/>
                          </a:rPr>
                          <m:t>1</m:t>
                        </m:r>
                      </m:sub>
                    </m:sSub>
                  </m:oMath>
                </a14:m>
                <a:r>
                  <a:rPr lang="zh-CN" altLang="zh-CN" dirty="0">
                    <a:solidFill>
                      <a:schemeClr val="tx1"/>
                    </a:solidFill>
                    <a:latin typeface="Times New Roman" panose="02020603050405020304" pitchFamily="18" charset="0"/>
                    <a:cs typeface="Times New Roman" panose="02020603050405020304" pitchFamily="18" charset="0"/>
                  </a:rPr>
                  <a:t>和</a:t>
                </a:r>
                <a14:m>
                  <m:oMath xmlns:m="http://schemas.openxmlformats.org/officeDocument/2006/math">
                    <m:sSub>
                      <m:sSubPr>
                        <m:ctrlPr>
                          <a:rPr lang="zh-CN" altLang="zh-CN" i="1">
                            <a:solidFill>
                              <a:schemeClr val="tx1"/>
                            </a:solidFill>
                            <a:latin typeface="Cambria Math" panose="02040503050406030204" pitchFamily="18" charset="0"/>
                          </a:rPr>
                        </m:ctrlPr>
                      </m:sSubPr>
                      <m:e>
                        <m:r>
                          <m:rPr>
                            <m:nor/>
                          </m:rPr>
                          <a:rPr lang="en-US" altLang="zh-CN" dirty="0">
                            <a:solidFill>
                              <a:schemeClr val="tx1"/>
                            </a:solidFill>
                            <a:latin typeface="Times New Roman" panose="02020603050405020304" pitchFamily="18" charset="0"/>
                            <a:cs typeface="Times New Roman" panose="02020603050405020304" pitchFamily="18" charset="0"/>
                          </a:rPr>
                          <m:t>H</m:t>
                        </m:r>
                      </m:e>
                      <m:sub>
                        <m:r>
                          <a:rPr lang="en-US" altLang="zh-CN">
                            <a:solidFill>
                              <a:schemeClr val="tx1"/>
                            </a:solidFill>
                            <a:latin typeface="Cambria Math" panose="02040503050406030204" pitchFamily="18" charset="0"/>
                          </a:rPr>
                          <m:t>2</m:t>
                        </m:r>
                      </m:sub>
                    </m:sSub>
                  </m:oMath>
                </a14:m>
                <a:r>
                  <a:rPr lang="zh-CN" altLang="zh-CN" dirty="0">
                    <a:solidFill>
                      <a:schemeClr val="tx1"/>
                    </a:solidFill>
                    <a:latin typeface="Times New Roman" panose="02020603050405020304" pitchFamily="18" charset="0"/>
                    <a:cs typeface="Times New Roman" panose="02020603050405020304" pitchFamily="18" charset="0"/>
                  </a:rPr>
                  <a:t>之间，因此在</a:t>
                </a:r>
                <a14:m>
                  <m:oMath xmlns:m="http://schemas.openxmlformats.org/officeDocument/2006/math">
                    <m:sSub>
                      <m:sSubPr>
                        <m:ctrlPr>
                          <a:rPr lang="zh-CN" altLang="zh-CN" i="1">
                            <a:solidFill>
                              <a:schemeClr val="tx1"/>
                            </a:solidFill>
                            <a:latin typeface="Cambria Math" panose="02040503050406030204" pitchFamily="18" charset="0"/>
                          </a:rPr>
                        </m:ctrlPr>
                      </m:sSubPr>
                      <m:e>
                        <m:r>
                          <m:rPr>
                            <m:nor/>
                          </m:rPr>
                          <a:rPr lang="en-US" altLang="zh-CN" dirty="0">
                            <a:solidFill>
                              <a:schemeClr val="tx1"/>
                            </a:solidFill>
                            <a:latin typeface="Times New Roman" panose="02020603050405020304" pitchFamily="18" charset="0"/>
                            <a:cs typeface="Times New Roman" panose="02020603050405020304" pitchFamily="18" charset="0"/>
                          </a:rPr>
                          <m:t>H</m:t>
                        </m:r>
                      </m:e>
                      <m:sub>
                        <m:r>
                          <a:rPr lang="en-US" altLang="zh-CN">
                            <a:solidFill>
                              <a:schemeClr val="tx1"/>
                            </a:solidFill>
                            <a:latin typeface="Cambria Math" panose="02040503050406030204" pitchFamily="18" charset="0"/>
                          </a:rPr>
                          <m:t>1</m:t>
                        </m:r>
                      </m:sub>
                    </m:sSub>
                  </m:oMath>
                </a14:m>
                <a:r>
                  <a:rPr lang="zh-CN" altLang="zh-CN" dirty="0">
                    <a:solidFill>
                      <a:schemeClr val="tx1"/>
                    </a:solidFill>
                    <a:latin typeface="Times New Roman" panose="02020603050405020304" pitchFamily="18" charset="0"/>
                    <a:cs typeface="Times New Roman" panose="02020603050405020304" pitchFamily="18" charset="0"/>
                  </a:rPr>
                  <a:t>和</a:t>
                </a:r>
                <a14:m>
                  <m:oMath xmlns:m="http://schemas.openxmlformats.org/officeDocument/2006/math">
                    <m:sSub>
                      <m:sSubPr>
                        <m:ctrlPr>
                          <a:rPr lang="zh-CN" altLang="zh-CN" i="1">
                            <a:solidFill>
                              <a:schemeClr val="tx1"/>
                            </a:solidFill>
                            <a:latin typeface="Cambria Math" panose="02040503050406030204" pitchFamily="18" charset="0"/>
                          </a:rPr>
                        </m:ctrlPr>
                      </m:sSubPr>
                      <m:e>
                        <m:r>
                          <m:rPr>
                            <m:nor/>
                          </m:rPr>
                          <a:rPr lang="en-US" altLang="zh-CN" dirty="0">
                            <a:solidFill>
                              <a:schemeClr val="tx1"/>
                            </a:solidFill>
                            <a:latin typeface="Times New Roman" panose="02020603050405020304" pitchFamily="18" charset="0"/>
                            <a:cs typeface="Times New Roman" panose="02020603050405020304" pitchFamily="18" charset="0"/>
                          </a:rPr>
                          <m:t>H</m:t>
                        </m:r>
                      </m:e>
                      <m:sub>
                        <m:r>
                          <a:rPr lang="en-US" altLang="zh-CN">
                            <a:solidFill>
                              <a:schemeClr val="tx1"/>
                            </a:solidFill>
                            <a:latin typeface="Cambria Math" panose="02040503050406030204" pitchFamily="18" charset="0"/>
                          </a:rPr>
                          <m:t>2</m:t>
                        </m:r>
                      </m:sub>
                    </m:sSub>
                  </m:oMath>
                </a14:m>
                <a:r>
                  <a:rPr lang="zh-CN" altLang="zh-CN" dirty="0">
                    <a:solidFill>
                      <a:schemeClr val="tx1"/>
                    </a:solidFill>
                    <a:latin typeface="Times New Roman" panose="02020603050405020304" pitchFamily="18" charset="0"/>
                    <a:cs typeface="Times New Roman" panose="02020603050405020304" pitchFamily="18" charset="0"/>
                  </a:rPr>
                  <a:t>之间形成了一个隔离带，此隔离带的宽度为</a:t>
                </a:r>
                <a14:m>
                  <m:oMath xmlns:m="http://schemas.openxmlformats.org/officeDocument/2006/math">
                    <m:f>
                      <m:fPr>
                        <m:type m:val="lin"/>
                        <m:ctrlPr>
                          <a:rPr lang="zh-CN" altLang="zh-CN" i="1">
                            <a:solidFill>
                              <a:schemeClr val="tx1"/>
                            </a:solidFill>
                            <a:latin typeface="Cambria Math" panose="02040503050406030204" pitchFamily="18" charset="0"/>
                          </a:rPr>
                        </m:ctrlPr>
                      </m:fPr>
                      <m:num>
                        <m:r>
                          <a:rPr lang="en-US" altLang="zh-CN">
                            <a:solidFill>
                              <a:schemeClr val="tx1"/>
                            </a:solidFill>
                            <a:latin typeface="Cambria Math" panose="02040503050406030204" pitchFamily="18" charset="0"/>
                          </a:rPr>
                          <m:t>2</m:t>
                        </m:r>
                      </m:num>
                      <m:den>
                        <m:d>
                          <m:dPr>
                            <m:begChr m:val="‖"/>
                            <m:endChr m:val="‖"/>
                            <m:ctrlPr>
                              <a:rPr lang="zh-CN" altLang="zh-CN" i="1">
                                <a:solidFill>
                                  <a:schemeClr val="tx1"/>
                                </a:solidFill>
                                <a:latin typeface="Cambria Math" panose="02040503050406030204" pitchFamily="18" charset="0"/>
                              </a:rPr>
                            </m:ctrlPr>
                          </m:dPr>
                          <m:e>
                            <m:r>
                              <a:rPr lang="en-US" altLang="zh-CN">
                                <a:solidFill>
                                  <a:schemeClr val="tx1"/>
                                </a:solidFill>
                                <a:latin typeface="Cambria Math" panose="02040503050406030204" pitchFamily="18" charset="0"/>
                              </a:rPr>
                              <m:t>𝒘</m:t>
                            </m:r>
                          </m:e>
                        </m:d>
                      </m:den>
                    </m:f>
                  </m:oMath>
                </a14:m>
                <a:r>
                  <a:rPr lang="zh-CN" altLang="zh-CN" dirty="0" smtClean="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p:sp>
            <p:nvSpPr>
              <p:cNvPr id="8" name="内容占位符 3"/>
              <p:cNvSpPr txBox="1">
                <a:spLocks noRot="1" noChangeAspect="1" noMove="1" noResize="1" noEditPoints="1" noAdjustHandles="1" noChangeArrowheads="1" noChangeShapeType="1" noTextEdit="1"/>
              </p:cNvSpPr>
              <p:nvPr/>
            </p:nvSpPr>
            <p:spPr>
              <a:xfrm>
                <a:off x="439712" y="1406340"/>
                <a:ext cx="6681524" cy="4858041"/>
              </a:xfrm>
              <a:prstGeom prst="rect">
                <a:avLst/>
              </a:prstGeom>
              <a:blipFill rotWithShape="1">
                <a:blip r:embed="rId1"/>
                <a:stretch>
                  <a:fillRect l="-4" t="-9" r="5" b="2"/>
                </a:stretch>
              </a:blipFill>
            </p:spPr>
            <p:txBody>
              <a:bodyPr/>
              <a:lstStyle/>
              <a:p>
                <a:r>
                  <a:rPr lang="zh-CN" altLang="en-US">
                    <a:noFill/>
                  </a:rPr>
                  <a:t> </a:t>
                </a:r>
              </a:p>
            </p:txBody>
          </p:sp>
        </mc:Fallback>
      </mc:AlternateContent>
      <p:graphicFrame>
        <p:nvGraphicFramePr>
          <p:cNvPr id="9" name="对象 8"/>
          <p:cNvGraphicFramePr>
            <a:graphicFrameLocks noChangeAspect="1"/>
          </p:cNvGraphicFramePr>
          <p:nvPr/>
        </p:nvGraphicFramePr>
        <p:xfrm>
          <a:off x="7121236" y="1714461"/>
          <a:ext cx="4679950" cy="4241800"/>
        </p:xfrm>
        <a:graphic>
          <a:graphicData uri="http://schemas.openxmlformats.org/presentationml/2006/ole">
            <mc:AlternateContent xmlns:mc="http://schemas.openxmlformats.org/markup-compatibility/2006">
              <mc:Choice xmlns:v="urn:schemas-microsoft-com:vml" Requires="v">
                <p:oleObj spid="_x0000_s37011" name="Visio" r:id="rId2" imgW="4370705" imgH="4011930" progId="Visio.Drawing.15">
                  <p:embed/>
                </p:oleObj>
              </mc:Choice>
              <mc:Fallback>
                <p:oleObj name="Visio" r:id="rId2" imgW="4370705" imgH="4011930" progId="Visio.Drawing.15">
                  <p:embed/>
                  <p:pic>
                    <p:nvPicPr>
                      <p:cNvPr id="0"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1236" y="1714461"/>
                        <a:ext cx="4679950" cy="4241800"/>
                      </a:xfrm>
                      <a:prstGeom prst="rect">
                        <a:avLst/>
                      </a:prstGeom>
                      <a:noFill/>
                    </p:spPr>
                  </p:pic>
                </p:oleObj>
              </mc:Fallback>
            </mc:AlternateContent>
          </a:graphicData>
        </a:graphic>
      </p:graphicFrame>
      <p:sp>
        <p:nvSpPr>
          <p:cNvPr id="11" name="Text Box 2"/>
          <p:cNvSpPr txBox="1">
            <a:spLocks noChangeArrowheads="1"/>
          </p:cNvSpPr>
          <p:nvPr/>
        </p:nvSpPr>
        <p:spPr bwMode="auto">
          <a:xfrm>
            <a:off x="0" y="0"/>
            <a:ext cx="6337300"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4"/>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4"/>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0" indent="0" algn="ctr" eaLnBrk="1" hangingPunct="1">
              <a:spcBef>
                <a:spcPct val="50000"/>
              </a:spcBef>
              <a:buClr>
                <a:schemeClr val="bg1"/>
              </a:buClr>
              <a:buNone/>
            </a:pPr>
            <a:r>
              <a:rPr lang="zh-CN" altLang="en-US" sz="5400" b="1" dirty="0" smtClean="0">
                <a:solidFill>
                  <a:schemeClr val="bg1"/>
                </a:solidFill>
                <a:latin typeface="宋体" panose="02010600030101010101" pitchFamily="2" charset="-122"/>
                <a:ea typeface="宋体" panose="02010600030101010101" pitchFamily="2" charset="-122"/>
              </a:rPr>
              <a:t>线性</a:t>
            </a:r>
            <a:r>
              <a:rPr lang="zh-CN" altLang="en-US" sz="5400" b="1" dirty="0">
                <a:solidFill>
                  <a:schemeClr val="bg1"/>
                </a:solidFill>
                <a:latin typeface="宋体" panose="02010600030101010101" pitchFamily="2" charset="-122"/>
                <a:ea typeface="宋体" panose="02010600030101010101" pitchFamily="2" charset="-122"/>
              </a:rPr>
              <a:t>可分性</a:t>
            </a:r>
            <a:endParaRPr lang="zh-CN" altLang="en-US" sz="4800" b="1" dirty="0">
              <a:latin typeface="黑体" panose="02010609060101010101" pitchFamily="49" charset="-122"/>
              <a:ea typeface="宋体" panose="02010600030101010101" pitchFamily="2" charset="-122"/>
            </a:endParaRPr>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0" y="0"/>
            <a:ext cx="12202611" cy="6858000"/>
          </a:xfrm>
          <a:prstGeom prst="rect">
            <a:avLst/>
          </a:prstGeom>
        </p:spPr>
      </p:pic>
      <p:sp>
        <p:nvSpPr>
          <p:cNvPr id="23" name="文本框 22"/>
          <p:cNvSpPr txBox="1"/>
          <p:nvPr/>
        </p:nvSpPr>
        <p:spPr>
          <a:xfrm>
            <a:off x="854710" y="5212080"/>
            <a:ext cx="10920095" cy="1141851"/>
          </a:xfrm>
          <a:prstGeom prst="rect">
            <a:avLst/>
          </a:prstGeom>
          <a:noFill/>
        </p:spPr>
        <p:txBody>
          <a:bodyPr wrap="square" rtlCol="0" anchor="t">
            <a:spAutoFit/>
          </a:bodyPr>
          <a:p>
            <a:pPr>
              <a:lnSpc>
                <a:spcPct val="150000"/>
              </a:lnSpc>
            </a:pPr>
            <a:r>
              <a:rPr lang="en-US" altLang="zh-CN" sz="2400" b="1" dirty="0"/>
              <a:t>  </a:t>
            </a:r>
            <a:r>
              <a:rPr lang="en-US" altLang="zh-CN" sz="2400" b="1" dirty="0" smtClean="0"/>
              <a:t>   </a:t>
            </a:r>
            <a:r>
              <a:rPr lang="zh-CN" altLang="en-US" sz="2400" b="1" dirty="0" smtClean="0"/>
              <a:t>上述</a:t>
            </a:r>
            <a:r>
              <a:rPr lang="zh-CN" altLang="en-US" sz="2400" b="1" dirty="0"/>
              <a:t>公式描述的是一个典型的不等式约束条件下的二次型函数优化问题，同时也是支持向量机的基本数学模型。</a:t>
            </a: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1"/>
            <a:ext cx="12192027" cy="6858001"/>
            <a:chOff x="-1" y="-1"/>
            <a:chExt cx="12192027" cy="6858001"/>
          </a:xfrm>
        </p:grpSpPr>
        <p:pic>
          <p:nvPicPr>
            <p:cNvPr id="4" name="图片 3"/>
            <p:cNvPicPr>
              <a:picLocks noChangeAspect="1"/>
            </p:cNvPicPr>
            <p:nvPr/>
          </p:nvPicPr>
          <p:blipFill>
            <a:blip r:embed="rId1"/>
            <a:stretch>
              <a:fillRect/>
            </a:stretch>
          </p:blipFill>
          <p:spPr>
            <a:xfrm>
              <a:off x="-1" y="-1"/>
              <a:ext cx="12192027" cy="6858001"/>
            </a:xfrm>
            <a:prstGeom prst="rect">
              <a:avLst/>
            </a:prstGeom>
          </p:spPr>
        </p:pic>
        <p:sp>
          <p:nvSpPr>
            <p:cNvPr id="2" name="矩形 1"/>
            <p:cNvSpPr/>
            <p:nvPr/>
          </p:nvSpPr>
          <p:spPr>
            <a:xfrm>
              <a:off x="7859486" y="2590799"/>
              <a:ext cx="163285" cy="4027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12190560" cy="6858000"/>
          </a:xfrm>
          <a:prstGeom prst="rect">
            <a:avLst/>
          </a:prstGeom>
        </p:spPr>
      </p:pic>
      <p:sp>
        <p:nvSpPr>
          <p:cNvPr id="3" name="矩形 2"/>
          <p:cNvSpPr/>
          <p:nvPr/>
        </p:nvSpPr>
        <p:spPr>
          <a:xfrm>
            <a:off x="7892142" y="2100942"/>
            <a:ext cx="163285" cy="4027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1"/>
          <a:srcRect/>
          <a:stretch>
            <a:fillRect/>
          </a:stretch>
        </p:blipFill>
        <p:spPr bwMode="auto">
          <a:xfrm>
            <a:off x="3733800" y="1828800"/>
            <a:ext cx="4648200" cy="1816100"/>
          </a:xfrm>
          <a:prstGeom prst="rect">
            <a:avLst/>
          </a:prstGeom>
          <a:noFill/>
        </p:spPr>
      </p:pic>
      <p:pic>
        <p:nvPicPr>
          <p:cNvPr id="7" name="Picture 3"/>
          <p:cNvPicPr>
            <a:picLocks noChangeAspect="1" noChangeArrowheads="1"/>
          </p:cNvPicPr>
          <p:nvPr/>
        </p:nvPicPr>
        <p:blipFill>
          <a:blip r:embed="rId2"/>
          <a:srcRect/>
          <a:stretch>
            <a:fillRect/>
          </a:stretch>
        </p:blipFill>
        <p:spPr bwMode="auto">
          <a:xfrm>
            <a:off x="2959100" y="3797300"/>
            <a:ext cx="6197600" cy="19050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50800" y="6464300"/>
            <a:ext cx="7132274" cy="358688"/>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10" name="TextBox 1"/>
          <p:cNvSpPr txBox="1"/>
          <p:nvPr/>
        </p:nvSpPr>
        <p:spPr>
          <a:xfrm>
            <a:off x="330200" y="139700"/>
            <a:ext cx="5434180" cy="611001"/>
          </a:xfrm>
          <a:prstGeom prst="rect">
            <a:avLst/>
          </a:prstGeom>
          <a:noFill/>
        </p:spPr>
        <p:txBody>
          <a:bodyPr wrap="none" lIns="0" tIns="0" rIns="0" rtlCol="0">
            <a:spAutoFit/>
          </a:bodyPr>
          <a:lstStyle/>
          <a:p>
            <a:pPr>
              <a:lnSpc>
                <a:spcPts val="4700"/>
              </a:lnSpc>
            </a:pPr>
            <a:r>
              <a:rPr lang="en-US" altLang="zh-CN" sz="3600" dirty="0" smtClean="0">
                <a:solidFill>
                  <a:srgbClr val="000000"/>
                </a:solidFill>
                <a:latin typeface="微软雅黑" panose="020B0503020204020204" pitchFamily="34" charset="-122"/>
                <a:cs typeface="微软雅黑" panose="020B0503020204020204" pitchFamily="34" charset="-122"/>
              </a:rPr>
              <a:t>      </a:t>
            </a:r>
            <a:r>
              <a:rPr lang="en-US" altLang="zh-CN" sz="3600" dirty="0" err="1" smtClean="0">
                <a:solidFill>
                  <a:srgbClr val="000000"/>
                </a:solidFill>
                <a:latin typeface="微软雅黑" panose="020B0503020204020204" pitchFamily="34" charset="-122"/>
                <a:cs typeface="微软雅黑" panose="020B0503020204020204" pitchFamily="34" charset="-122"/>
              </a:rPr>
              <a:t>进一步简化为对偶问题</a:t>
            </a:r>
            <a:endParaRPr lang="en-US" altLang="zh-CN" sz="3600" dirty="0" smtClean="0">
              <a:solidFill>
                <a:srgbClr val="000000"/>
              </a:solidFill>
              <a:latin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 y="0"/>
            <a:ext cx="12199619" cy="6858000"/>
          </a:xfrm>
          <a:prstGeom prst="rect">
            <a:avLst/>
          </a:prstGeom>
        </p:spPr>
      </p:pic>
      <p:grpSp>
        <p:nvGrpSpPr>
          <p:cNvPr id="7" name="组合 6"/>
          <p:cNvGrpSpPr/>
          <p:nvPr/>
        </p:nvGrpSpPr>
        <p:grpSpPr>
          <a:xfrm>
            <a:off x="1926438" y="4856785"/>
            <a:ext cx="5067433" cy="1915936"/>
            <a:chOff x="1926438" y="4856785"/>
            <a:chExt cx="5067433" cy="1915936"/>
          </a:xfrm>
        </p:grpSpPr>
        <p:pic>
          <p:nvPicPr>
            <p:cNvPr id="4" name="图片 3"/>
            <p:cNvPicPr>
              <a:picLocks noChangeAspect="1"/>
            </p:cNvPicPr>
            <p:nvPr/>
          </p:nvPicPr>
          <p:blipFill>
            <a:blip r:embed="rId2"/>
            <a:stretch>
              <a:fillRect/>
            </a:stretch>
          </p:blipFill>
          <p:spPr>
            <a:xfrm>
              <a:off x="1926438" y="4856785"/>
              <a:ext cx="5067433" cy="1915936"/>
            </a:xfrm>
            <a:prstGeom prst="rect">
              <a:avLst/>
            </a:prstGeom>
          </p:spPr>
        </p:pic>
        <p:sp>
          <p:nvSpPr>
            <p:cNvPr id="5" name="矩形 4"/>
            <p:cNvSpPr/>
            <p:nvPr/>
          </p:nvSpPr>
          <p:spPr>
            <a:xfrm>
              <a:off x="4308763" y="5230092"/>
              <a:ext cx="651164" cy="4225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tx1"/>
                  </a:solidFill>
                  <a:latin typeface="Times New Roman" panose="02020603050405020304" pitchFamily="18" charset="0"/>
                  <a:cs typeface="Times New Roman" panose="02020603050405020304" pitchFamily="18" charset="0"/>
                </a:rPr>
                <a:t>x</a:t>
              </a:r>
              <a:endParaRPr lang="zh-CN" altLang="en-US" sz="2800" dirty="0">
                <a:solidFill>
                  <a:schemeClr val="tx1"/>
                </a:solidFill>
                <a:latin typeface="Times New Roman" panose="02020603050405020304" pitchFamily="18" charset="0"/>
                <a:cs typeface="Times New Roman" panose="02020603050405020304" pitchFamily="18" charset="0"/>
              </a:endParaRPr>
            </a:p>
          </p:txBody>
        </p:sp>
        <p:sp>
          <p:nvSpPr>
            <p:cNvPr id="6" name="矩形 5"/>
            <p:cNvSpPr/>
            <p:nvPr/>
          </p:nvSpPr>
          <p:spPr>
            <a:xfrm>
              <a:off x="5320145" y="6181516"/>
              <a:ext cx="651164" cy="4548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tx1"/>
                  </a:solidFill>
                  <a:latin typeface="Times New Roman" panose="02020603050405020304" pitchFamily="18" charset="0"/>
                  <a:cs typeface="Times New Roman" panose="02020603050405020304" pitchFamily="18" charset="0"/>
                </a:rPr>
                <a:t>x</a:t>
              </a:r>
              <a:endParaRPr lang="zh-CN" altLang="en-US" sz="2800" dirty="0">
                <a:solidFill>
                  <a:schemeClr val="tx1"/>
                </a:solidFill>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0" y="0"/>
            <a:ext cx="12226444" cy="6858000"/>
          </a:xfrm>
          <a:prstGeom prst="rect">
            <a:avLst/>
          </a:prstGeom>
        </p:spPr>
      </p:pic>
      <p:sp>
        <p:nvSpPr>
          <p:cNvPr id="3" name="矩形 2"/>
          <p:cNvSpPr/>
          <p:nvPr/>
        </p:nvSpPr>
        <p:spPr>
          <a:xfrm>
            <a:off x="5926723" y="3198168"/>
            <a:ext cx="338554" cy="461665"/>
          </a:xfrm>
          <a:prstGeom prst="rect">
            <a:avLst/>
          </a:prstGeom>
        </p:spPr>
        <p:txBody>
          <a:bodyPr wrap="none">
            <a:spAutoFit/>
          </a:bodyPr>
          <a:lstStyle/>
          <a:p>
            <a:r>
              <a:rPr lang="en-US" altLang="zh-CN" sz="2400" i="1" dirty="0">
                <a:solidFill>
                  <a:srgbClr val="000000"/>
                </a:solidFill>
                <a:latin typeface="Times New Roman" panose="02020603050405020304" pitchFamily="18" charset="0"/>
                <a:cs typeface="Times New Roman" panose="02020603050405020304" pitchFamily="18" charset="0"/>
              </a:rPr>
              <a:t>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0" y="0"/>
            <a:ext cx="1218923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stretch>
            <a:fillRect/>
          </a:stretch>
        </p:blipFill>
        <p:spPr>
          <a:xfrm>
            <a:off x="23957" y="0"/>
            <a:ext cx="12168043" cy="641223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硬间隔分类的缺点</a:t>
            </a:r>
            <a:endParaRPr lang="zh-CN" altLang="en-US" dirty="0"/>
          </a:p>
        </p:txBody>
      </p:sp>
      <p:pic>
        <p:nvPicPr>
          <p:cNvPr id="97281" name="Picture 1" descr="C:\Users\Administrator\AppData\Roaming\Tencent\Users\8306743\QQ\WinTemp\RichOle\J4QV{N{QEHOP6@Z`CSRAJVY.png"/>
          <p:cNvPicPr>
            <a:picLocks noChangeAspect="1" noChangeArrowheads="1"/>
          </p:cNvPicPr>
          <p:nvPr/>
        </p:nvPicPr>
        <p:blipFill>
          <a:blip r:embed="rId1" cstate="print"/>
          <a:srcRect t="18251"/>
          <a:stretch>
            <a:fillRect/>
          </a:stretch>
        </p:blipFill>
        <p:spPr bwMode="auto">
          <a:xfrm>
            <a:off x="1330037" y="1187532"/>
            <a:ext cx="10200904" cy="5318990"/>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0" y="0"/>
            <a:ext cx="6337300"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None/>
            </a:pPr>
            <a:r>
              <a:rPr lang="zh-CN" altLang="en-US" sz="5400" b="1" dirty="0" smtClean="0">
                <a:solidFill>
                  <a:schemeClr val="bg1"/>
                </a:solidFill>
                <a:latin typeface="宋体" panose="02010600030101010101" pitchFamily="2" charset="-122"/>
                <a:ea typeface="宋体" panose="02010600030101010101" pitchFamily="2" charset="-122"/>
              </a:rPr>
              <a:t>软</a:t>
            </a:r>
            <a:r>
              <a:rPr lang="zh-CN" altLang="en-US" sz="5400" b="1" dirty="0">
                <a:solidFill>
                  <a:schemeClr val="bg1"/>
                </a:solidFill>
                <a:latin typeface="宋体" panose="02010600030101010101" pitchFamily="2" charset="-122"/>
                <a:ea typeface="宋体" panose="02010600030101010101" pitchFamily="2" charset="-122"/>
              </a:rPr>
              <a:t>间隔</a:t>
            </a:r>
            <a:r>
              <a:rPr lang="en-US" altLang="zh-CN" sz="5400" b="1" dirty="0">
                <a:solidFill>
                  <a:schemeClr val="bg1"/>
                </a:solidFill>
                <a:latin typeface="宋体" panose="02010600030101010101" pitchFamily="2" charset="-122"/>
                <a:ea typeface="宋体" panose="02010600030101010101" pitchFamily="2" charset="-122"/>
              </a:rPr>
              <a:t>SVM</a:t>
            </a:r>
            <a:r>
              <a:rPr lang="zh-CN" altLang="en-US" sz="5400" b="1" dirty="0">
                <a:solidFill>
                  <a:schemeClr val="bg1"/>
                </a:solidFill>
                <a:latin typeface="宋体" panose="02010600030101010101" pitchFamily="2" charset="-122"/>
                <a:ea typeface="宋体" panose="02010600030101010101" pitchFamily="2" charset="-122"/>
              </a:rPr>
              <a:t>模型</a:t>
            </a:r>
            <a:endParaRPr lang="zh-CN" altLang="en-US" sz="4800" b="1" dirty="0">
              <a:latin typeface="黑体" panose="02010609060101010101" pitchFamily="49" charset="-122"/>
              <a:ea typeface="宋体" panose="02010600030101010101" pitchFamily="2" charset="-122"/>
            </a:endParaRPr>
          </a:p>
        </p:txBody>
      </p:sp>
      <p:pic>
        <p:nvPicPr>
          <p:cNvPr id="76801" name="Picture 1" descr="C:\Users\Administrator\AppData\Roaming\Tencent\Users\8306743\QQ\WinTemp\RichOle\I~QCA578EH}`@BXXE{`{ELL.png"/>
          <p:cNvPicPr>
            <a:picLocks noChangeAspect="1" noChangeArrowheads="1"/>
          </p:cNvPicPr>
          <p:nvPr/>
        </p:nvPicPr>
        <p:blipFill>
          <a:blip r:embed="rId2" cstate="print"/>
          <a:srcRect/>
          <a:stretch>
            <a:fillRect/>
          </a:stretch>
        </p:blipFill>
        <p:spPr bwMode="auto">
          <a:xfrm>
            <a:off x="2253673" y="1626989"/>
            <a:ext cx="7828477" cy="4373388"/>
          </a:xfrm>
          <a:prstGeom prst="rect">
            <a:avLst/>
          </a:prstGeom>
          <a:noFill/>
        </p:spPr>
      </p:pic>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243527" y="181326"/>
            <a:ext cx="6337300"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None/>
            </a:pPr>
            <a:r>
              <a:rPr lang="zh-CN" altLang="en-US" sz="5400" b="1" dirty="0" smtClean="0">
                <a:solidFill>
                  <a:schemeClr val="bg1"/>
                </a:solidFill>
                <a:latin typeface="宋体" panose="02010600030101010101" pitchFamily="2" charset="-122"/>
                <a:ea typeface="宋体" panose="02010600030101010101" pitchFamily="2" charset="-122"/>
              </a:rPr>
              <a:t>软</a:t>
            </a:r>
            <a:r>
              <a:rPr lang="zh-CN" altLang="en-US" sz="5400" b="1" dirty="0">
                <a:solidFill>
                  <a:schemeClr val="bg1"/>
                </a:solidFill>
                <a:latin typeface="宋体" panose="02010600030101010101" pitchFamily="2" charset="-122"/>
                <a:ea typeface="宋体" panose="02010600030101010101" pitchFamily="2" charset="-122"/>
              </a:rPr>
              <a:t>间隔</a:t>
            </a:r>
            <a:r>
              <a:rPr lang="en-US" altLang="zh-CN" sz="5400" b="1" dirty="0">
                <a:solidFill>
                  <a:schemeClr val="bg1"/>
                </a:solidFill>
                <a:latin typeface="宋体" panose="02010600030101010101" pitchFamily="2" charset="-122"/>
                <a:ea typeface="宋体" panose="02010600030101010101" pitchFamily="2" charset="-122"/>
              </a:rPr>
              <a:t>SVM</a:t>
            </a:r>
            <a:r>
              <a:rPr lang="zh-CN" altLang="en-US" sz="5400" b="1" dirty="0">
                <a:solidFill>
                  <a:schemeClr val="bg1"/>
                </a:solidFill>
                <a:latin typeface="宋体" panose="02010600030101010101" pitchFamily="2" charset="-122"/>
                <a:ea typeface="宋体" panose="02010600030101010101" pitchFamily="2" charset="-122"/>
              </a:rPr>
              <a:t>模型</a:t>
            </a:r>
            <a:endParaRPr lang="zh-CN" altLang="en-US" sz="4800" b="1" dirty="0">
              <a:latin typeface="黑体" panose="02010609060101010101" pitchFamily="49" charset="-122"/>
              <a:ea typeface="宋体" panose="0201060003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987937" y="1362522"/>
                <a:ext cx="10289664" cy="4891980"/>
              </a:xfrm>
              <a:prstGeom prst="rect">
                <a:avLst/>
              </a:prstGeom>
              <a:noFill/>
            </p:spPr>
            <p:txBody>
              <a:bodyPr wrap="square" rtlCol="0">
                <a:spAutoFit/>
              </a:bodyPr>
              <a:lstStyle/>
              <a:p>
                <a:pPr>
                  <a:spcAft>
                    <a:spcPts val="600"/>
                  </a:spcAft>
                </a:pPr>
                <a:r>
                  <a:rPr lang="zh-CN" altLang="zh-CN" sz="2400" dirty="0"/>
                  <a:t>与上述优化问题对应的拉格朗日函数为：</a:t>
                </a:r>
                <a:endParaRPr lang="zh-CN" altLang="zh-CN" sz="2400" dirty="0"/>
              </a:p>
              <a:p>
                <a:pPr>
                  <a:spcAft>
                    <a:spcPts val="600"/>
                  </a:spcAft>
                </a:pPr>
                <a14:m>
                  <m:oMathPara xmlns:m="http://schemas.openxmlformats.org/officeDocument/2006/math">
                    <m:oMathParaPr>
                      <m:jc m:val="centerGroup"/>
                    </m:oMathParaPr>
                    <m:oMath xmlns:m="http://schemas.openxmlformats.org/officeDocument/2006/math">
                      <m:r>
                        <a:rPr lang="en-US" altLang="zh-CN" sz="2200" i="1">
                          <a:solidFill>
                            <a:srgbClr val="C00000"/>
                          </a:solidFill>
                          <a:latin typeface="Cambria Math" panose="02040503050406030204" pitchFamily="18" charset="0"/>
                        </a:rPr>
                        <m:t>𝐿</m:t>
                      </m:r>
                      <m:d>
                        <m:dPr>
                          <m:ctrlPr>
                            <a:rPr lang="zh-CN" altLang="zh-CN" sz="2200" i="1">
                              <a:solidFill>
                                <a:srgbClr val="C00000"/>
                              </a:solidFill>
                              <a:latin typeface="Cambria Math" panose="02040503050406030204" pitchFamily="18" charset="0"/>
                            </a:rPr>
                          </m:ctrlPr>
                        </m:dPr>
                        <m:e>
                          <m:r>
                            <a:rPr lang="en-US" altLang="zh-CN" sz="2200" b="1" i="1">
                              <a:solidFill>
                                <a:srgbClr val="C00000"/>
                              </a:solidFill>
                              <a:latin typeface="Cambria Math" panose="02040503050406030204" pitchFamily="18" charset="0"/>
                            </a:rPr>
                            <m:t>𝒘</m:t>
                          </m:r>
                          <m:r>
                            <a:rPr lang="en-US" altLang="zh-CN" sz="2200">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𝑏</m:t>
                          </m:r>
                          <m:r>
                            <a:rPr lang="en-US" altLang="zh-CN" sz="2200">
                              <a:solidFill>
                                <a:srgbClr val="C00000"/>
                              </a:solidFill>
                              <a:latin typeface="Cambria Math" panose="02040503050406030204" pitchFamily="18" charset="0"/>
                            </a:rPr>
                            <m:t>,</m:t>
                          </m:r>
                          <m:r>
                            <a:rPr lang="en-US" altLang="zh-CN" sz="2200" b="1" i="1">
                              <a:solidFill>
                                <a:srgbClr val="C00000"/>
                              </a:solidFill>
                              <a:latin typeface="Cambria Math" panose="02040503050406030204" pitchFamily="18" charset="0"/>
                            </a:rPr>
                            <m:t>𝜶</m:t>
                          </m:r>
                          <m:r>
                            <a:rPr lang="en-US" altLang="zh-CN" sz="2200" b="1" i="1">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𝜉</m:t>
                          </m:r>
                          <m:r>
                            <a:rPr lang="en-US" altLang="zh-CN" sz="2200">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𝜇</m:t>
                          </m:r>
                        </m:e>
                      </m:d>
                      <m:r>
                        <a:rPr lang="en-US" altLang="zh-CN" sz="2200">
                          <a:solidFill>
                            <a:srgbClr val="C00000"/>
                          </a:solidFill>
                          <a:latin typeface="Cambria Math" panose="02040503050406030204" pitchFamily="18" charset="0"/>
                        </a:rPr>
                        <m:t>=</m:t>
                      </m:r>
                      <m:f>
                        <m:fPr>
                          <m:ctrlPr>
                            <a:rPr lang="zh-CN" altLang="zh-CN" sz="2200" i="1">
                              <a:solidFill>
                                <a:srgbClr val="C00000"/>
                              </a:solidFill>
                              <a:latin typeface="Cambria Math" panose="02040503050406030204" pitchFamily="18" charset="0"/>
                            </a:rPr>
                          </m:ctrlPr>
                        </m:fPr>
                        <m:num>
                          <m:r>
                            <a:rPr lang="en-US" altLang="zh-CN" sz="2200" i="1">
                              <a:solidFill>
                                <a:srgbClr val="C00000"/>
                              </a:solidFill>
                              <a:latin typeface="Cambria Math" panose="02040503050406030204" pitchFamily="18" charset="0"/>
                            </a:rPr>
                            <m:t>1</m:t>
                          </m:r>
                        </m:num>
                        <m:den>
                          <m:r>
                            <a:rPr lang="en-US" altLang="zh-CN" sz="2200" i="1">
                              <a:solidFill>
                                <a:srgbClr val="C00000"/>
                              </a:solidFill>
                              <a:latin typeface="Cambria Math" panose="02040503050406030204" pitchFamily="18" charset="0"/>
                            </a:rPr>
                            <m:t>2</m:t>
                          </m:r>
                        </m:den>
                      </m:f>
                      <m:sSup>
                        <m:sSupPr>
                          <m:ctrlPr>
                            <a:rPr lang="zh-CN" altLang="zh-CN" sz="2200" i="1">
                              <a:solidFill>
                                <a:srgbClr val="C00000"/>
                              </a:solidFill>
                              <a:latin typeface="Cambria Math" panose="02040503050406030204" pitchFamily="18" charset="0"/>
                            </a:rPr>
                          </m:ctrlPr>
                        </m:sSupPr>
                        <m:e>
                          <m:r>
                            <a:rPr lang="en-US" altLang="zh-CN" sz="2200" i="1">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𝑤</m:t>
                          </m:r>
                          <m:r>
                            <a:rPr lang="en-US" altLang="zh-CN" sz="2200" i="1">
                              <a:solidFill>
                                <a:srgbClr val="C00000"/>
                              </a:solidFill>
                              <a:latin typeface="Cambria Math" panose="02040503050406030204" pitchFamily="18" charset="0"/>
                            </a:rPr>
                            <m:t>||</m:t>
                          </m:r>
                        </m:e>
                        <m:sup>
                          <m:r>
                            <a:rPr lang="en-US" altLang="zh-CN" sz="2200" i="1">
                              <a:solidFill>
                                <a:srgbClr val="C00000"/>
                              </a:solidFill>
                              <a:latin typeface="Cambria Math" panose="02040503050406030204" pitchFamily="18" charset="0"/>
                            </a:rPr>
                            <m:t>2</m:t>
                          </m:r>
                        </m:sup>
                      </m:sSup>
                      <m:r>
                        <a:rPr lang="en-US" altLang="zh-CN" sz="2200" i="1">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𝐶</m:t>
                      </m:r>
                      <m:nary>
                        <m:naryPr>
                          <m:chr m:val="∑"/>
                          <m:limLoc m:val="undOvr"/>
                          <m:ctrlPr>
                            <a:rPr lang="zh-CN" altLang="zh-CN" sz="2200" i="1">
                              <a:solidFill>
                                <a:srgbClr val="C00000"/>
                              </a:solidFill>
                              <a:latin typeface="Cambria Math" panose="02040503050406030204" pitchFamily="18" charset="0"/>
                            </a:rPr>
                          </m:ctrlPr>
                        </m:naryPr>
                        <m:sub>
                          <m:r>
                            <a:rPr lang="en-US" altLang="zh-CN" sz="2200" i="1">
                              <a:solidFill>
                                <a:srgbClr val="C00000"/>
                              </a:solidFill>
                              <a:latin typeface="Cambria Math" panose="02040503050406030204" pitchFamily="18" charset="0"/>
                            </a:rPr>
                            <m:t>𝑖</m:t>
                          </m:r>
                          <m:r>
                            <a:rPr lang="en-US" altLang="zh-CN" sz="2200" i="1">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1</m:t>
                          </m:r>
                        </m:sub>
                        <m:sup>
                          <m:r>
                            <a:rPr lang="en-US" altLang="zh-CN" sz="2200" i="1">
                              <a:solidFill>
                                <a:srgbClr val="C00000"/>
                              </a:solidFill>
                              <a:latin typeface="Cambria Math" panose="02040503050406030204" pitchFamily="18" charset="0"/>
                            </a:rPr>
                            <m:t>𝑛</m:t>
                          </m:r>
                        </m:sup>
                        <m:e>
                          <m:sSub>
                            <m:sSubPr>
                              <m:ctrlPr>
                                <a:rPr lang="zh-CN" altLang="zh-CN" sz="2200" i="1" baseline="-25000">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𝜉</m:t>
                              </m:r>
                            </m:e>
                            <m:sub>
                              <m:r>
                                <a:rPr lang="en-US" altLang="zh-CN" sz="2200" i="1" baseline="-25000">
                                  <a:solidFill>
                                    <a:srgbClr val="C00000"/>
                                  </a:solidFill>
                                  <a:latin typeface="Cambria Math" panose="02040503050406030204" pitchFamily="18" charset="0"/>
                                </a:rPr>
                                <m:t>𝑖</m:t>
                              </m:r>
                            </m:sub>
                          </m:sSub>
                        </m:e>
                      </m:nary>
                      <m:r>
                        <a:rPr lang="en-US" altLang="zh-CN" sz="2200" i="1">
                          <a:solidFill>
                            <a:srgbClr val="C00000"/>
                          </a:solidFill>
                          <a:latin typeface="Cambria Math" panose="02040503050406030204" pitchFamily="18" charset="0"/>
                        </a:rPr>
                        <m:t>−</m:t>
                      </m:r>
                      <m:nary>
                        <m:naryPr>
                          <m:chr m:val="∑"/>
                          <m:limLoc m:val="undOvr"/>
                          <m:ctrlPr>
                            <a:rPr lang="zh-CN" altLang="zh-CN" sz="2200" i="1">
                              <a:solidFill>
                                <a:srgbClr val="C00000"/>
                              </a:solidFill>
                              <a:latin typeface="Cambria Math" panose="02040503050406030204" pitchFamily="18" charset="0"/>
                            </a:rPr>
                          </m:ctrlPr>
                        </m:naryPr>
                        <m:sub>
                          <m:r>
                            <a:rPr lang="en-US" altLang="zh-CN" sz="2200" i="1">
                              <a:solidFill>
                                <a:srgbClr val="C00000"/>
                              </a:solidFill>
                              <a:latin typeface="Cambria Math" panose="02040503050406030204" pitchFamily="18" charset="0"/>
                            </a:rPr>
                            <m:t>𝑖</m:t>
                          </m:r>
                          <m:r>
                            <a:rPr lang="en-US" altLang="zh-CN" sz="2200" i="1">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1</m:t>
                          </m:r>
                        </m:sub>
                        <m:sup>
                          <m:r>
                            <a:rPr lang="en-US" altLang="zh-CN" sz="2200" i="1">
                              <a:solidFill>
                                <a:srgbClr val="C00000"/>
                              </a:solidFill>
                              <a:latin typeface="Cambria Math" panose="02040503050406030204" pitchFamily="18" charset="0"/>
                            </a:rPr>
                            <m:t>𝑛</m:t>
                          </m:r>
                        </m:sup>
                        <m:e>
                          <m:sSub>
                            <m:sSubPr>
                              <m:ctrlPr>
                                <a:rPr lang="zh-CN" altLang="zh-CN" sz="2200" i="1">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𝛼</m:t>
                              </m:r>
                            </m:e>
                            <m:sub>
                              <m:r>
                                <a:rPr lang="en-US" altLang="zh-CN" sz="2200" i="1">
                                  <a:solidFill>
                                    <a:srgbClr val="C00000"/>
                                  </a:solidFill>
                                  <a:latin typeface="Cambria Math" panose="02040503050406030204" pitchFamily="18" charset="0"/>
                                </a:rPr>
                                <m:t>𝑖</m:t>
                              </m:r>
                            </m:sub>
                          </m:sSub>
                          <m:d>
                            <m:dPr>
                              <m:begChr m:val="["/>
                              <m:ctrlPr>
                                <a:rPr lang="zh-CN" altLang="zh-CN" sz="2200" i="1">
                                  <a:solidFill>
                                    <a:srgbClr val="C00000"/>
                                  </a:solidFill>
                                  <a:latin typeface="Cambria Math" panose="02040503050406030204" pitchFamily="18" charset="0"/>
                                </a:rPr>
                              </m:ctrlPr>
                            </m:dPr>
                            <m:e>
                              <m:sSup>
                                <m:sSupPr>
                                  <m:ctrlPr>
                                    <a:rPr lang="zh-CN" altLang="zh-CN" sz="2200" i="1">
                                      <a:solidFill>
                                        <a:srgbClr val="C00000"/>
                                      </a:solidFill>
                                      <a:latin typeface="Cambria Math" panose="02040503050406030204" pitchFamily="18" charset="0"/>
                                    </a:rPr>
                                  </m:ctrlPr>
                                </m:sSupPr>
                                <m:e>
                                  <m:sSub>
                                    <m:sSubPr>
                                      <m:ctrlPr>
                                        <a:rPr lang="zh-CN" altLang="zh-CN" sz="2200" i="1">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𝑦</m:t>
                                      </m:r>
                                    </m:e>
                                    <m:sub>
                                      <m:r>
                                        <a:rPr lang="en-US" altLang="zh-CN" sz="2200" i="1">
                                          <a:solidFill>
                                            <a:srgbClr val="C00000"/>
                                          </a:solidFill>
                                          <a:latin typeface="Cambria Math" panose="02040503050406030204" pitchFamily="18" charset="0"/>
                                        </a:rPr>
                                        <m:t>𝑖</m:t>
                                      </m:r>
                                    </m:sub>
                                  </m:sSub>
                                  <m:r>
                                    <a:rPr lang="en-US" altLang="zh-CN" sz="2200" i="1">
                                      <a:solidFill>
                                        <a:srgbClr val="C00000"/>
                                      </a:solidFill>
                                      <a:latin typeface="Cambria Math" panose="02040503050406030204" pitchFamily="18" charset="0"/>
                                    </a:rPr>
                                    <m:t>(</m:t>
                                  </m:r>
                                  <m:r>
                                    <a:rPr lang="en-US" altLang="zh-CN" sz="2200" b="1" i="1">
                                      <a:solidFill>
                                        <a:srgbClr val="C00000"/>
                                      </a:solidFill>
                                      <a:latin typeface="Cambria Math" panose="02040503050406030204" pitchFamily="18" charset="0"/>
                                    </a:rPr>
                                    <m:t>𝒘</m:t>
                                  </m:r>
                                </m:e>
                                <m:sup>
                                  <m:r>
                                    <a:rPr lang="en-US" altLang="zh-CN" sz="2200" i="1">
                                      <a:solidFill>
                                        <a:srgbClr val="C00000"/>
                                      </a:solidFill>
                                      <a:latin typeface="Cambria Math" panose="02040503050406030204" pitchFamily="18" charset="0"/>
                                    </a:rPr>
                                    <m:t>𝑇</m:t>
                                  </m:r>
                                </m:sup>
                              </m:sSup>
                              <m:sSub>
                                <m:sSubPr>
                                  <m:ctrlPr>
                                    <a:rPr lang="zh-CN" altLang="zh-CN" sz="2200" i="1">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𝑋</m:t>
                                  </m:r>
                                </m:e>
                                <m:sub>
                                  <m:r>
                                    <a:rPr lang="en-US" altLang="zh-CN" sz="2200" i="1">
                                      <a:solidFill>
                                        <a:srgbClr val="C00000"/>
                                      </a:solidFill>
                                      <a:latin typeface="Cambria Math" panose="02040503050406030204" pitchFamily="18" charset="0"/>
                                    </a:rPr>
                                    <m:t>𝑖</m:t>
                                  </m:r>
                                </m:sub>
                              </m:sSub>
                              <m:r>
                                <a:rPr lang="en-US" altLang="zh-CN" sz="2200" i="1">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𝑏</m:t>
                              </m:r>
                            </m:e>
                          </m:d>
                          <m:r>
                            <a:rPr lang="en-US" altLang="zh-CN" sz="2200" i="1">
                              <a:solidFill>
                                <a:srgbClr val="C00000"/>
                              </a:solidFill>
                              <a:latin typeface="Cambria Math" panose="02040503050406030204" pitchFamily="18" charset="0"/>
                            </a:rPr>
                            <m:t>−</m:t>
                          </m:r>
                          <m:r>
                            <a:rPr lang="en-US" altLang="zh-CN" sz="2200">
                              <a:solidFill>
                                <a:srgbClr val="C00000"/>
                              </a:solidFill>
                              <a:latin typeface="Cambria Math" panose="02040503050406030204" pitchFamily="18" charset="0"/>
                            </a:rPr>
                            <m:t>1</m:t>
                          </m:r>
                          <m:r>
                            <a:rPr lang="en-US" altLang="zh-CN" sz="2200">
                              <a:solidFill>
                                <a:srgbClr val="C00000"/>
                              </a:solidFill>
                              <a:latin typeface="Cambria Math" panose="02040503050406030204" pitchFamily="18" charset="0"/>
                            </a:rPr>
                            <m:t>+</m:t>
                          </m:r>
                          <m:sSub>
                            <m:sSubPr>
                              <m:ctrlPr>
                                <a:rPr lang="zh-CN" altLang="zh-CN" sz="2200" i="1" baseline="-25000">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𝜉</m:t>
                              </m:r>
                            </m:e>
                            <m:sub>
                              <m:r>
                                <a:rPr lang="en-US" altLang="zh-CN" sz="2200" i="1" baseline="-25000">
                                  <a:solidFill>
                                    <a:srgbClr val="C00000"/>
                                  </a:solidFill>
                                  <a:latin typeface="Cambria Math" panose="02040503050406030204" pitchFamily="18" charset="0"/>
                                </a:rPr>
                                <m:t>𝑖</m:t>
                              </m:r>
                            </m:sub>
                          </m:sSub>
                          <m:r>
                            <a:rPr lang="en-US" altLang="zh-CN" sz="2200" i="1">
                              <a:solidFill>
                                <a:srgbClr val="C00000"/>
                              </a:solidFill>
                              <a:latin typeface="Cambria Math" panose="02040503050406030204" pitchFamily="18" charset="0"/>
                            </a:rPr>
                            <m:t>]</m:t>
                          </m:r>
                        </m:e>
                      </m:nary>
                      <m:r>
                        <a:rPr lang="en-US" altLang="zh-CN" sz="2200" i="1">
                          <a:solidFill>
                            <a:srgbClr val="C00000"/>
                          </a:solidFill>
                          <a:latin typeface="Cambria Math" panose="02040503050406030204" pitchFamily="18" charset="0"/>
                        </a:rPr>
                        <m:t>−</m:t>
                      </m:r>
                      <m:nary>
                        <m:naryPr>
                          <m:chr m:val="∑"/>
                          <m:limLoc m:val="undOvr"/>
                          <m:ctrlPr>
                            <a:rPr lang="zh-CN" altLang="zh-CN" sz="2200" i="1">
                              <a:solidFill>
                                <a:srgbClr val="C00000"/>
                              </a:solidFill>
                              <a:latin typeface="Cambria Math" panose="02040503050406030204" pitchFamily="18" charset="0"/>
                            </a:rPr>
                          </m:ctrlPr>
                        </m:naryPr>
                        <m:sub>
                          <m:r>
                            <a:rPr lang="en-US" altLang="zh-CN" sz="2200" i="1">
                              <a:solidFill>
                                <a:srgbClr val="C00000"/>
                              </a:solidFill>
                              <a:latin typeface="Cambria Math" panose="02040503050406030204" pitchFamily="18" charset="0"/>
                            </a:rPr>
                            <m:t>𝑖</m:t>
                          </m:r>
                          <m:r>
                            <a:rPr lang="en-US" altLang="zh-CN" sz="2200" i="1">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1</m:t>
                          </m:r>
                        </m:sub>
                        <m:sup>
                          <m:r>
                            <a:rPr lang="en-US" altLang="zh-CN" sz="2200" i="1">
                              <a:solidFill>
                                <a:srgbClr val="C00000"/>
                              </a:solidFill>
                              <a:latin typeface="Cambria Math" panose="02040503050406030204" pitchFamily="18" charset="0"/>
                            </a:rPr>
                            <m:t>𝑛</m:t>
                          </m:r>
                        </m:sup>
                        <m:e>
                          <m:sSub>
                            <m:sSubPr>
                              <m:ctrlPr>
                                <a:rPr lang="zh-CN" altLang="zh-CN" sz="2200" i="1" baseline="-25000">
                                  <a:solidFill>
                                    <a:srgbClr val="C00000"/>
                                  </a:solidFill>
                                  <a:latin typeface="Cambria Math" panose="02040503050406030204" pitchFamily="18" charset="0"/>
                                </a:rPr>
                              </m:ctrlPr>
                            </m:sSubPr>
                            <m:e>
                              <m:sSub>
                                <m:sSubPr>
                                  <m:ctrlPr>
                                    <a:rPr lang="zh-CN" altLang="zh-CN" sz="2200" i="1">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𝜇</m:t>
                                  </m:r>
                                </m:e>
                                <m:sub>
                                  <m:r>
                                    <a:rPr lang="en-US" altLang="zh-CN" sz="2200" i="1">
                                      <a:solidFill>
                                        <a:srgbClr val="C00000"/>
                                      </a:solidFill>
                                      <a:latin typeface="Cambria Math" panose="02040503050406030204" pitchFamily="18" charset="0"/>
                                    </a:rPr>
                                    <m:t>𝑖</m:t>
                                  </m:r>
                                </m:sub>
                              </m:sSub>
                              <m:r>
                                <a:rPr lang="en-US" altLang="zh-CN" sz="2200" i="1">
                                  <a:solidFill>
                                    <a:srgbClr val="C00000"/>
                                  </a:solidFill>
                                  <a:latin typeface="Cambria Math" panose="02040503050406030204" pitchFamily="18" charset="0"/>
                                </a:rPr>
                                <m:t>𝜉</m:t>
                              </m:r>
                            </m:e>
                            <m:sub>
                              <m:r>
                                <a:rPr lang="en-US" altLang="zh-CN" sz="2200" i="1" baseline="-25000">
                                  <a:solidFill>
                                    <a:srgbClr val="C00000"/>
                                  </a:solidFill>
                                  <a:latin typeface="Cambria Math" panose="02040503050406030204" pitchFamily="18" charset="0"/>
                                </a:rPr>
                                <m:t>𝑖</m:t>
                              </m:r>
                            </m:sub>
                          </m:sSub>
                        </m:e>
                      </m:nary>
                    </m:oMath>
                  </m:oMathPara>
                </a14:m>
                <a:endParaRPr lang="zh-CN" altLang="zh-CN" sz="2200" dirty="0">
                  <a:solidFill>
                    <a:srgbClr val="C00000"/>
                  </a:solidFill>
                </a:endParaRPr>
              </a:p>
              <a:p>
                <a:pPr>
                  <a:spcAft>
                    <a:spcPts val="600"/>
                  </a:spcAft>
                </a:pPr>
                <a:r>
                  <a:rPr lang="zh-CN" altLang="zh-CN" sz="2400" dirty="0"/>
                  <a:t>即有：</a:t>
                </a:r>
                <a:endParaRPr lang="zh-CN" altLang="zh-CN" sz="2400" dirty="0"/>
              </a:p>
              <a:p>
                <a:pPr>
                  <a:spcAft>
                    <a:spcPts val="600"/>
                  </a:spcAft>
                </a:pPr>
                <a14:m>
                  <m:oMathPara xmlns:m="http://schemas.openxmlformats.org/officeDocument/2006/math">
                    <m:oMathParaPr>
                      <m:jc m:val="centerGroup"/>
                    </m:oMathParaPr>
                    <m:oMath xmlns:m="http://schemas.openxmlformats.org/officeDocument/2006/math">
                      <m:func>
                        <m:funcPr>
                          <m:ctrlPr>
                            <a:rPr lang="zh-CN" altLang="zh-CN" sz="2200" i="1">
                              <a:solidFill>
                                <a:srgbClr val="C00000"/>
                              </a:solidFill>
                              <a:latin typeface="Cambria Math" panose="02040503050406030204" pitchFamily="18" charset="0"/>
                            </a:rPr>
                          </m:ctrlPr>
                        </m:funcPr>
                        <m:fName>
                          <m:limLow>
                            <m:limLowPr>
                              <m:ctrlPr>
                                <a:rPr lang="zh-CN" altLang="zh-CN" sz="2200" i="1">
                                  <a:solidFill>
                                    <a:srgbClr val="C00000"/>
                                  </a:solidFill>
                                  <a:latin typeface="Cambria Math" panose="02040503050406030204" pitchFamily="18" charset="0"/>
                                </a:rPr>
                              </m:ctrlPr>
                            </m:limLowPr>
                            <m:e>
                              <m:r>
                                <m:rPr>
                                  <m:sty m:val="p"/>
                                </m:rPr>
                                <a:rPr lang="en-US" altLang="zh-CN" sz="2200">
                                  <a:solidFill>
                                    <a:srgbClr val="C00000"/>
                                  </a:solidFill>
                                  <a:latin typeface="Cambria Math" panose="02040503050406030204" pitchFamily="18" charset="0"/>
                                </a:rPr>
                                <m:t>min</m:t>
                              </m:r>
                            </m:e>
                            <m:lim>
                              <m:r>
                                <a:rPr lang="en-US" altLang="zh-CN" sz="2200" b="1" i="1">
                                  <a:solidFill>
                                    <a:srgbClr val="C00000"/>
                                  </a:solidFill>
                                  <a:latin typeface="Cambria Math" panose="02040503050406030204" pitchFamily="18" charset="0"/>
                                </a:rPr>
                                <m:t>𝜶</m:t>
                              </m:r>
                            </m:lim>
                          </m:limLow>
                        </m:fName>
                        <m:e>
                          <m:f>
                            <m:fPr>
                              <m:ctrlPr>
                                <a:rPr lang="zh-CN" altLang="zh-CN" sz="2200" i="1">
                                  <a:solidFill>
                                    <a:srgbClr val="C00000"/>
                                  </a:solidFill>
                                  <a:latin typeface="Cambria Math" panose="02040503050406030204" pitchFamily="18" charset="0"/>
                                </a:rPr>
                              </m:ctrlPr>
                            </m:fPr>
                            <m:num>
                              <m:r>
                                <a:rPr lang="en-US" altLang="zh-CN" sz="2200" i="1">
                                  <a:solidFill>
                                    <a:srgbClr val="C00000"/>
                                  </a:solidFill>
                                  <a:latin typeface="Cambria Math" panose="02040503050406030204" pitchFamily="18" charset="0"/>
                                </a:rPr>
                                <m:t>1</m:t>
                              </m:r>
                            </m:num>
                            <m:den>
                              <m:r>
                                <a:rPr lang="en-US" altLang="zh-CN" sz="2200" i="1">
                                  <a:solidFill>
                                    <a:srgbClr val="C00000"/>
                                  </a:solidFill>
                                  <a:latin typeface="Cambria Math" panose="02040503050406030204" pitchFamily="18" charset="0"/>
                                </a:rPr>
                                <m:t>2</m:t>
                              </m:r>
                            </m:den>
                          </m:f>
                          <m:nary>
                            <m:naryPr>
                              <m:chr m:val="∑"/>
                              <m:limLoc m:val="undOvr"/>
                              <m:ctrlPr>
                                <a:rPr lang="zh-CN" altLang="zh-CN" sz="2200" i="1">
                                  <a:solidFill>
                                    <a:srgbClr val="C00000"/>
                                  </a:solidFill>
                                  <a:latin typeface="Cambria Math" panose="02040503050406030204" pitchFamily="18" charset="0"/>
                                </a:rPr>
                              </m:ctrlPr>
                            </m:naryPr>
                            <m:sub>
                              <m:r>
                                <a:rPr lang="en-US" altLang="zh-CN" sz="2200" i="1">
                                  <a:solidFill>
                                    <a:srgbClr val="C00000"/>
                                  </a:solidFill>
                                  <a:latin typeface="Cambria Math" panose="02040503050406030204" pitchFamily="18" charset="0"/>
                                </a:rPr>
                                <m:t>𝑖</m:t>
                              </m:r>
                              <m:r>
                                <a:rPr lang="en-US" altLang="zh-CN" sz="2200" i="1">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1</m:t>
                              </m:r>
                            </m:sub>
                            <m:sup>
                              <m:r>
                                <a:rPr lang="en-US" altLang="zh-CN" sz="2200" i="1">
                                  <a:solidFill>
                                    <a:srgbClr val="C00000"/>
                                  </a:solidFill>
                                  <a:latin typeface="Cambria Math" panose="02040503050406030204" pitchFamily="18" charset="0"/>
                                </a:rPr>
                                <m:t>𝑛</m:t>
                              </m:r>
                            </m:sup>
                            <m:e>
                              <m:nary>
                                <m:naryPr>
                                  <m:chr m:val="∑"/>
                                  <m:limLoc m:val="undOvr"/>
                                  <m:ctrlPr>
                                    <a:rPr lang="zh-CN" altLang="zh-CN" sz="2200" i="1">
                                      <a:solidFill>
                                        <a:srgbClr val="C00000"/>
                                      </a:solidFill>
                                      <a:latin typeface="Cambria Math" panose="02040503050406030204" pitchFamily="18" charset="0"/>
                                    </a:rPr>
                                  </m:ctrlPr>
                                </m:naryPr>
                                <m:sub>
                                  <m:r>
                                    <a:rPr lang="en-US" altLang="zh-CN" sz="2200" i="1">
                                      <a:solidFill>
                                        <a:srgbClr val="C00000"/>
                                      </a:solidFill>
                                      <a:latin typeface="Cambria Math" panose="02040503050406030204" pitchFamily="18" charset="0"/>
                                    </a:rPr>
                                    <m:t>𝑗</m:t>
                                  </m:r>
                                  <m:r>
                                    <a:rPr lang="en-US" altLang="zh-CN" sz="2200" i="1">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1</m:t>
                                  </m:r>
                                </m:sub>
                                <m:sup>
                                  <m:r>
                                    <a:rPr lang="en-US" altLang="zh-CN" sz="2200" i="1">
                                      <a:solidFill>
                                        <a:srgbClr val="C00000"/>
                                      </a:solidFill>
                                      <a:latin typeface="Cambria Math" panose="02040503050406030204" pitchFamily="18" charset="0"/>
                                    </a:rPr>
                                    <m:t>𝑛</m:t>
                                  </m:r>
                                </m:sup>
                                <m:e>
                                  <m:sSub>
                                    <m:sSubPr>
                                      <m:ctrlPr>
                                        <a:rPr lang="zh-CN" altLang="zh-CN" sz="2200" i="1">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𝛼</m:t>
                                      </m:r>
                                    </m:e>
                                    <m:sub>
                                      <m:r>
                                        <a:rPr lang="en-US" altLang="zh-CN" sz="2200" i="1">
                                          <a:solidFill>
                                            <a:srgbClr val="C00000"/>
                                          </a:solidFill>
                                          <a:latin typeface="Cambria Math" panose="02040503050406030204" pitchFamily="18" charset="0"/>
                                        </a:rPr>
                                        <m:t>𝑖</m:t>
                                      </m:r>
                                    </m:sub>
                                  </m:sSub>
                                  <m:sSub>
                                    <m:sSubPr>
                                      <m:ctrlPr>
                                        <a:rPr lang="zh-CN" altLang="zh-CN" sz="2200" i="1">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𝛼</m:t>
                                      </m:r>
                                    </m:e>
                                    <m:sub>
                                      <m:r>
                                        <a:rPr lang="en-US" altLang="zh-CN" sz="2200" i="1">
                                          <a:solidFill>
                                            <a:srgbClr val="C00000"/>
                                          </a:solidFill>
                                          <a:latin typeface="Cambria Math" panose="02040503050406030204" pitchFamily="18" charset="0"/>
                                        </a:rPr>
                                        <m:t>𝑗</m:t>
                                      </m:r>
                                    </m:sub>
                                  </m:sSub>
                                  <m:sSub>
                                    <m:sSubPr>
                                      <m:ctrlPr>
                                        <a:rPr lang="zh-CN" altLang="zh-CN" sz="2200" i="1">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𝑦</m:t>
                                      </m:r>
                                    </m:e>
                                    <m:sub>
                                      <m:r>
                                        <a:rPr lang="en-US" altLang="zh-CN" sz="2200" i="1">
                                          <a:solidFill>
                                            <a:srgbClr val="C00000"/>
                                          </a:solidFill>
                                          <a:latin typeface="Cambria Math" panose="02040503050406030204" pitchFamily="18" charset="0"/>
                                        </a:rPr>
                                        <m:t>𝑖</m:t>
                                      </m:r>
                                    </m:sub>
                                  </m:sSub>
                                  <m:sSub>
                                    <m:sSubPr>
                                      <m:ctrlPr>
                                        <a:rPr lang="zh-CN" altLang="zh-CN" sz="2200" i="1">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𝑦</m:t>
                                      </m:r>
                                    </m:e>
                                    <m:sub>
                                      <m:r>
                                        <a:rPr lang="en-US" altLang="zh-CN" sz="2200" i="1">
                                          <a:solidFill>
                                            <a:srgbClr val="C00000"/>
                                          </a:solidFill>
                                          <a:latin typeface="Cambria Math" panose="02040503050406030204" pitchFamily="18" charset="0"/>
                                        </a:rPr>
                                        <m:t>𝑗</m:t>
                                      </m:r>
                                    </m:sub>
                                  </m:sSub>
                                  <m:sSubSup>
                                    <m:sSubSupPr>
                                      <m:ctrlPr>
                                        <a:rPr lang="zh-CN" altLang="zh-CN" sz="2200" i="1">
                                          <a:solidFill>
                                            <a:srgbClr val="C00000"/>
                                          </a:solidFill>
                                          <a:latin typeface="Cambria Math" panose="02040503050406030204" pitchFamily="18" charset="0"/>
                                        </a:rPr>
                                      </m:ctrlPr>
                                    </m:sSubSupPr>
                                    <m:e>
                                      <m:r>
                                        <a:rPr lang="en-US" altLang="zh-CN" sz="2200" i="1">
                                          <a:solidFill>
                                            <a:srgbClr val="C00000"/>
                                          </a:solidFill>
                                          <a:latin typeface="Cambria Math" panose="02040503050406030204" pitchFamily="18" charset="0"/>
                                        </a:rPr>
                                        <m:t>𝑥</m:t>
                                      </m:r>
                                    </m:e>
                                    <m:sub>
                                      <m:r>
                                        <a:rPr lang="en-US" altLang="zh-CN" sz="2200" i="1">
                                          <a:solidFill>
                                            <a:srgbClr val="C00000"/>
                                          </a:solidFill>
                                          <a:latin typeface="Cambria Math" panose="02040503050406030204" pitchFamily="18" charset="0"/>
                                        </a:rPr>
                                        <m:t>𝑖</m:t>
                                      </m:r>
                                    </m:sub>
                                    <m:sup>
                                      <m:r>
                                        <a:rPr lang="en-US" altLang="zh-CN" sz="2200" i="1">
                                          <a:solidFill>
                                            <a:srgbClr val="C00000"/>
                                          </a:solidFill>
                                          <a:latin typeface="Cambria Math" panose="02040503050406030204" pitchFamily="18" charset="0"/>
                                        </a:rPr>
                                        <m:t>𝑇</m:t>
                                      </m:r>
                                    </m:sup>
                                  </m:sSubSup>
                                  <m:sSub>
                                    <m:sSubPr>
                                      <m:ctrlPr>
                                        <a:rPr lang="zh-CN" altLang="zh-CN" sz="2200" i="1">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𝑥</m:t>
                                      </m:r>
                                    </m:e>
                                    <m:sub>
                                      <m:r>
                                        <a:rPr lang="en-US" altLang="zh-CN" sz="2200" i="1">
                                          <a:solidFill>
                                            <a:srgbClr val="C00000"/>
                                          </a:solidFill>
                                          <a:latin typeface="Cambria Math" panose="02040503050406030204" pitchFamily="18" charset="0"/>
                                        </a:rPr>
                                        <m:t>𝑗</m:t>
                                      </m:r>
                                    </m:sub>
                                  </m:sSub>
                                </m:e>
                              </m:nary>
                            </m:e>
                          </m:nary>
                          <m:r>
                            <a:rPr lang="en-US" altLang="zh-CN" sz="2200" i="1">
                              <a:solidFill>
                                <a:srgbClr val="C00000"/>
                              </a:solidFill>
                              <a:latin typeface="Cambria Math" panose="02040503050406030204" pitchFamily="18" charset="0"/>
                            </a:rPr>
                            <m:t>−</m:t>
                          </m:r>
                          <m:nary>
                            <m:naryPr>
                              <m:chr m:val="∑"/>
                              <m:limLoc m:val="undOvr"/>
                              <m:ctrlPr>
                                <a:rPr lang="zh-CN" altLang="zh-CN" sz="2200" i="1">
                                  <a:solidFill>
                                    <a:srgbClr val="C00000"/>
                                  </a:solidFill>
                                  <a:latin typeface="Cambria Math" panose="02040503050406030204" pitchFamily="18" charset="0"/>
                                </a:rPr>
                              </m:ctrlPr>
                            </m:naryPr>
                            <m:sub>
                              <m:r>
                                <a:rPr lang="en-US" altLang="zh-CN" sz="2200" i="1">
                                  <a:solidFill>
                                    <a:srgbClr val="C00000"/>
                                  </a:solidFill>
                                  <a:latin typeface="Cambria Math" panose="02040503050406030204" pitchFamily="18" charset="0"/>
                                </a:rPr>
                                <m:t>𝑖</m:t>
                              </m:r>
                              <m:r>
                                <a:rPr lang="en-US" altLang="zh-CN" sz="2200" i="1">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1</m:t>
                              </m:r>
                            </m:sub>
                            <m:sup>
                              <m:r>
                                <a:rPr lang="en-US" altLang="zh-CN" sz="2200" i="1">
                                  <a:solidFill>
                                    <a:srgbClr val="C00000"/>
                                  </a:solidFill>
                                  <a:latin typeface="Cambria Math" panose="02040503050406030204" pitchFamily="18" charset="0"/>
                                </a:rPr>
                                <m:t>𝑛</m:t>
                              </m:r>
                            </m:sup>
                            <m:e>
                              <m:sSub>
                                <m:sSubPr>
                                  <m:ctrlPr>
                                    <a:rPr lang="zh-CN" altLang="zh-CN" sz="2200" i="1">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𝛼</m:t>
                                  </m:r>
                                </m:e>
                                <m:sub>
                                  <m:r>
                                    <a:rPr lang="en-US" altLang="zh-CN" sz="2200" i="1">
                                      <a:solidFill>
                                        <a:srgbClr val="C00000"/>
                                      </a:solidFill>
                                      <a:latin typeface="Cambria Math" panose="02040503050406030204" pitchFamily="18" charset="0"/>
                                    </a:rPr>
                                    <m:t>𝑖</m:t>
                                  </m:r>
                                </m:sub>
                              </m:sSub>
                            </m:e>
                          </m:nary>
                        </m:e>
                      </m:func>
                      <m:r>
                        <a:rPr lang="zh-CN" altLang="zh-CN" sz="2200">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𝑠</m:t>
                      </m:r>
                      <m:r>
                        <a:rPr lang="en-US" altLang="zh-CN" sz="2200" i="1">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𝑡</m:t>
                      </m:r>
                      <m:r>
                        <a:rPr lang="en-US" altLang="zh-CN" sz="2200" i="1">
                          <a:solidFill>
                            <a:srgbClr val="C00000"/>
                          </a:solidFill>
                          <a:latin typeface="Cambria Math" panose="02040503050406030204" pitchFamily="18" charset="0"/>
                        </a:rPr>
                        <m:t>.  </m:t>
                      </m:r>
                      <m:nary>
                        <m:naryPr>
                          <m:chr m:val="∑"/>
                          <m:limLoc m:val="undOvr"/>
                          <m:ctrlPr>
                            <a:rPr lang="zh-CN" altLang="zh-CN" sz="2200" b="1" i="1">
                              <a:solidFill>
                                <a:srgbClr val="C00000"/>
                              </a:solidFill>
                              <a:latin typeface="Cambria Math" panose="02040503050406030204" pitchFamily="18" charset="0"/>
                            </a:rPr>
                          </m:ctrlPr>
                        </m:naryPr>
                        <m:sub>
                          <m:r>
                            <a:rPr lang="en-US" altLang="zh-CN" sz="2200" i="1">
                              <a:solidFill>
                                <a:srgbClr val="C00000"/>
                              </a:solidFill>
                              <a:latin typeface="Cambria Math" panose="02040503050406030204" pitchFamily="18" charset="0"/>
                            </a:rPr>
                            <m:t>𝑖</m:t>
                          </m:r>
                          <m:r>
                            <a:rPr lang="en-US" altLang="zh-CN" sz="2200" i="1">
                              <a:solidFill>
                                <a:srgbClr val="C00000"/>
                              </a:solidFill>
                              <a:latin typeface="Cambria Math" panose="02040503050406030204" pitchFamily="18" charset="0"/>
                            </a:rPr>
                            <m:t>=</m:t>
                          </m:r>
                          <m:r>
                            <a:rPr lang="en-US" altLang="zh-CN" sz="2200" i="1">
                              <a:solidFill>
                                <a:srgbClr val="C00000"/>
                              </a:solidFill>
                              <a:latin typeface="Cambria Math" panose="02040503050406030204" pitchFamily="18" charset="0"/>
                            </a:rPr>
                            <m:t>1</m:t>
                          </m:r>
                        </m:sub>
                        <m:sup>
                          <m:r>
                            <a:rPr lang="en-US" altLang="zh-CN" sz="2200" i="1">
                              <a:solidFill>
                                <a:srgbClr val="C00000"/>
                              </a:solidFill>
                              <a:latin typeface="Cambria Math" panose="02040503050406030204" pitchFamily="18" charset="0"/>
                            </a:rPr>
                            <m:t>𝑛</m:t>
                          </m:r>
                        </m:sup>
                        <m:e>
                          <m:sSub>
                            <m:sSubPr>
                              <m:ctrlPr>
                                <a:rPr lang="zh-CN" altLang="zh-CN" sz="2200" i="1">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𝛼</m:t>
                              </m:r>
                            </m:e>
                            <m:sub>
                              <m:r>
                                <a:rPr lang="en-US" altLang="zh-CN" sz="2200" i="1">
                                  <a:solidFill>
                                    <a:srgbClr val="C00000"/>
                                  </a:solidFill>
                                  <a:latin typeface="Cambria Math" panose="02040503050406030204" pitchFamily="18" charset="0"/>
                                </a:rPr>
                                <m:t>𝑖</m:t>
                              </m:r>
                            </m:sub>
                          </m:sSub>
                          <m:sSub>
                            <m:sSubPr>
                              <m:ctrlPr>
                                <a:rPr lang="zh-CN" altLang="zh-CN" sz="2200" i="1">
                                  <a:solidFill>
                                    <a:srgbClr val="C00000"/>
                                  </a:solidFill>
                                  <a:latin typeface="Cambria Math" panose="02040503050406030204" pitchFamily="18" charset="0"/>
                                </a:rPr>
                              </m:ctrlPr>
                            </m:sSubPr>
                            <m:e>
                              <m:r>
                                <a:rPr lang="en-US" altLang="zh-CN" sz="2200" i="1">
                                  <a:solidFill>
                                    <a:srgbClr val="C00000"/>
                                  </a:solidFill>
                                  <a:latin typeface="Cambria Math" panose="02040503050406030204" pitchFamily="18" charset="0"/>
                                </a:rPr>
                                <m:t>𝑦</m:t>
                              </m:r>
                            </m:e>
                            <m:sub>
                              <m:r>
                                <a:rPr lang="en-US" altLang="zh-CN" sz="2200" i="1">
                                  <a:solidFill>
                                    <a:srgbClr val="C00000"/>
                                  </a:solidFill>
                                  <a:latin typeface="Cambria Math" panose="02040503050406030204" pitchFamily="18" charset="0"/>
                                </a:rPr>
                                <m:t>𝑖</m:t>
                              </m:r>
                            </m:sub>
                          </m:sSub>
                        </m:e>
                      </m:nary>
                      <m:r>
                        <a:rPr lang="en-US" altLang="zh-CN" sz="2200" b="1">
                          <a:solidFill>
                            <a:srgbClr val="C00000"/>
                          </a:solidFill>
                          <a:latin typeface="Cambria Math" panose="02040503050406030204" pitchFamily="18" charset="0"/>
                        </a:rPr>
                        <m:t>=</m:t>
                      </m:r>
                      <m:r>
                        <a:rPr lang="en-US" altLang="zh-CN" sz="2200">
                          <a:solidFill>
                            <a:srgbClr val="C00000"/>
                          </a:solidFill>
                          <a:latin typeface="Cambria Math" panose="02040503050406030204" pitchFamily="18" charset="0"/>
                        </a:rPr>
                        <m:t>0</m:t>
                      </m:r>
                    </m:oMath>
                  </m:oMathPara>
                </a14:m>
                <a:endParaRPr lang="en-US" altLang="zh-CN" sz="2200" dirty="0">
                  <a:solidFill>
                    <a:srgbClr val="C00000"/>
                  </a:solidFill>
                </a:endParaRPr>
              </a:p>
              <a:p>
                <a:pPr>
                  <a:spcAft>
                    <a:spcPts val="600"/>
                  </a:spcAft>
                </a:pPr>
                <a:r>
                  <a:rPr lang="zh-CN" altLang="zh-CN" sz="2400" dirty="0"/>
                  <a:t>只需确定</a:t>
                </a:r>
                <a14:m>
                  <m:oMath xmlns:m="http://schemas.openxmlformats.org/officeDocument/2006/math">
                    <m:r>
                      <a:rPr lang="en-US" altLang="zh-CN" sz="2400" b="1" i="1">
                        <a:latin typeface="Cambria Math" panose="02040503050406030204" pitchFamily="18" charset="0"/>
                      </a:rPr>
                      <m:t>𝜶</m:t>
                    </m:r>
                  </m:oMath>
                </a14:m>
                <a:r>
                  <a:rPr lang="zh-CN" altLang="zh-CN" sz="2400" dirty="0"/>
                  <a:t>最优取值</a:t>
                </a:r>
                <a14:m>
                  <m:oMath xmlns:m="http://schemas.openxmlformats.org/officeDocument/2006/math">
                    <m:sSup>
                      <m:sSupPr>
                        <m:ctrlPr>
                          <a:rPr lang="zh-CN" altLang="zh-CN" sz="2400" b="1" i="1">
                            <a:latin typeface="Cambria Math" panose="02040503050406030204" pitchFamily="18" charset="0"/>
                          </a:rPr>
                        </m:ctrlPr>
                      </m:sSupPr>
                      <m:e>
                        <m:r>
                          <a:rPr lang="en-US" altLang="zh-CN" sz="2400" b="1" i="1">
                            <a:latin typeface="Cambria Math" panose="02040503050406030204" pitchFamily="18" charset="0"/>
                          </a:rPr>
                          <m:t>𝜶</m:t>
                        </m:r>
                      </m:e>
                      <m:sup>
                        <m:r>
                          <a:rPr lang="zh-CN" altLang="en-US" sz="2400" b="1" i="1">
                            <a:latin typeface="Cambria Math" panose="02040503050406030204" pitchFamily="18" charset="0"/>
                          </a:rPr>
                          <m:t>∗</m:t>
                        </m:r>
                      </m:sup>
                    </m:sSup>
                  </m:oMath>
                </a14:m>
                <a:r>
                  <a:rPr lang="zh-CN" altLang="zh-CN" sz="2400" dirty="0"/>
                  <a:t>，便可求得对应的软间隔支持向量机模型：</a:t>
                </a:r>
                <a:endParaRPr lang="zh-CN" altLang="zh-CN" sz="2400" dirty="0"/>
              </a:p>
              <a:p>
                <a:pPr>
                  <a:spcAft>
                    <a:spcPts val="600"/>
                  </a:spcAft>
                </a:pPr>
                <a14:m>
                  <m:oMathPara xmlns:m="http://schemas.openxmlformats.org/officeDocument/2006/math">
                    <m:oMathParaPr>
                      <m:jc m:val="centerGroup"/>
                    </m:oMathParaPr>
                    <m:oMath xmlns:m="http://schemas.openxmlformats.org/officeDocument/2006/math">
                      <m:r>
                        <a:rPr lang="en-US" altLang="zh-CN" sz="2000" i="1">
                          <a:solidFill>
                            <a:srgbClr val="C00000"/>
                          </a:solidFill>
                          <a:latin typeface="Cambria Math" panose="02040503050406030204" pitchFamily="18" charset="0"/>
                        </a:rPr>
                        <m:t>𝑓</m:t>
                      </m:r>
                      <m:d>
                        <m:dPr>
                          <m:ctrlPr>
                            <a:rPr lang="zh-CN" altLang="zh-CN" sz="2000" i="1">
                              <a:solidFill>
                                <a:srgbClr val="C00000"/>
                              </a:solidFill>
                              <a:latin typeface="Cambria Math" panose="02040503050406030204" pitchFamily="18" charset="0"/>
                            </a:rPr>
                          </m:ctrlPr>
                        </m:dPr>
                        <m:e>
                          <m:r>
                            <a:rPr lang="en-US" altLang="zh-CN" sz="2000" i="1">
                              <a:solidFill>
                                <a:srgbClr val="C00000"/>
                              </a:solidFill>
                              <a:latin typeface="Cambria Math" panose="02040503050406030204" pitchFamily="18" charset="0"/>
                            </a:rPr>
                            <m:t>𝑋</m:t>
                          </m:r>
                        </m:e>
                      </m:d>
                      <m:r>
                        <a:rPr lang="en-US" altLang="zh-CN" sz="2000">
                          <a:solidFill>
                            <a:srgbClr val="C00000"/>
                          </a:solidFill>
                          <a:latin typeface="Cambria Math" panose="02040503050406030204" pitchFamily="18" charset="0"/>
                        </a:rPr>
                        <m:t>=</m:t>
                      </m:r>
                      <m:r>
                        <m:rPr>
                          <m:sty m:val="p"/>
                        </m:rPr>
                        <a:rPr lang="en-US" altLang="zh-CN" sz="2000">
                          <a:solidFill>
                            <a:srgbClr val="C00000"/>
                          </a:solidFill>
                          <a:latin typeface="Cambria Math" panose="02040503050406030204" pitchFamily="18" charset="0"/>
                        </a:rPr>
                        <m:t>sign</m:t>
                      </m:r>
                      <m:d>
                        <m:dPr>
                          <m:ctrlPr>
                            <a:rPr lang="zh-CN" altLang="zh-CN" sz="2000" i="1">
                              <a:solidFill>
                                <a:srgbClr val="C00000"/>
                              </a:solidFill>
                              <a:latin typeface="Cambria Math" panose="02040503050406030204" pitchFamily="18" charset="0"/>
                            </a:rPr>
                          </m:ctrlPr>
                        </m:dPr>
                        <m:e>
                          <m:nary>
                            <m:naryPr>
                              <m:chr m:val="∑"/>
                              <m:limLoc m:val="undOvr"/>
                              <m:ctrlPr>
                                <a:rPr lang="zh-CN" altLang="zh-CN" sz="2000" b="1" i="1">
                                  <a:solidFill>
                                    <a:srgbClr val="C00000"/>
                                  </a:solidFill>
                                  <a:latin typeface="Cambria Math" panose="02040503050406030204" pitchFamily="18" charset="0"/>
                                </a:rPr>
                              </m:ctrlPr>
                            </m:naryPr>
                            <m:sub>
                              <m:r>
                                <a:rPr lang="en-US" altLang="zh-CN" sz="2000" i="1">
                                  <a:solidFill>
                                    <a:srgbClr val="C00000"/>
                                  </a:solidFill>
                                  <a:latin typeface="Cambria Math" panose="02040503050406030204" pitchFamily="18" charset="0"/>
                                </a:rPr>
                                <m:t>𝑖</m:t>
                              </m:r>
                              <m:r>
                                <a:rPr lang="en-US" altLang="zh-CN" sz="2000" i="1">
                                  <a:solidFill>
                                    <a:srgbClr val="C00000"/>
                                  </a:solidFill>
                                  <a:latin typeface="Cambria Math" panose="02040503050406030204" pitchFamily="18" charset="0"/>
                                </a:rPr>
                                <m:t>=</m:t>
                              </m:r>
                              <m:r>
                                <a:rPr lang="en-US" altLang="zh-CN" sz="2000" i="1">
                                  <a:solidFill>
                                    <a:srgbClr val="C00000"/>
                                  </a:solidFill>
                                  <a:latin typeface="Cambria Math" panose="02040503050406030204" pitchFamily="18" charset="0"/>
                                </a:rPr>
                                <m:t>1</m:t>
                              </m:r>
                            </m:sub>
                            <m:sup>
                              <m:r>
                                <a:rPr lang="en-US" altLang="zh-CN" sz="2000" i="1">
                                  <a:solidFill>
                                    <a:srgbClr val="C00000"/>
                                  </a:solidFill>
                                  <a:latin typeface="Cambria Math" panose="02040503050406030204" pitchFamily="18" charset="0"/>
                                </a:rPr>
                                <m:t>𝑛</m:t>
                              </m:r>
                            </m:sup>
                            <m:e>
                              <m:sSub>
                                <m:sSubPr>
                                  <m:ctrlPr>
                                    <a:rPr lang="zh-CN" altLang="zh-CN" sz="2000" i="1">
                                      <a:solidFill>
                                        <a:srgbClr val="C00000"/>
                                      </a:solidFill>
                                      <a:latin typeface="Cambria Math" panose="02040503050406030204" pitchFamily="18" charset="0"/>
                                    </a:rPr>
                                  </m:ctrlPr>
                                </m:sSubPr>
                                <m:e>
                                  <m:sSubSup>
                                    <m:sSubSupPr>
                                      <m:ctrlPr>
                                        <a:rPr lang="zh-CN" altLang="zh-CN" sz="2000" i="1">
                                          <a:solidFill>
                                            <a:srgbClr val="C00000"/>
                                          </a:solidFill>
                                          <a:latin typeface="Cambria Math" panose="02040503050406030204" pitchFamily="18" charset="0"/>
                                        </a:rPr>
                                      </m:ctrlPr>
                                    </m:sSubSupPr>
                                    <m:e>
                                      <m:r>
                                        <a:rPr lang="en-US" altLang="zh-CN" sz="2000" i="1">
                                          <a:solidFill>
                                            <a:srgbClr val="C00000"/>
                                          </a:solidFill>
                                          <a:latin typeface="Cambria Math" panose="02040503050406030204" pitchFamily="18" charset="0"/>
                                        </a:rPr>
                                        <m:t>𝛼</m:t>
                                      </m:r>
                                    </m:e>
                                    <m:sub>
                                      <m:r>
                                        <a:rPr lang="en-US" altLang="zh-CN" sz="2000" i="1">
                                          <a:solidFill>
                                            <a:srgbClr val="C00000"/>
                                          </a:solidFill>
                                          <a:latin typeface="Cambria Math" panose="02040503050406030204" pitchFamily="18" charset="0"/>
                                        </a:rPr>
                                        <m:t>𝑖</m:t>
                                      </m:r>
                                    </m:sub>
                                    <m:sup>
                                      <m:r>
                                        <a:rPr lang="zh-CN" altLang="en-US" sz="2000" i="1">
                                          <a:solidFill>
                                            <a:srgbClr val="C00000"/>
                                          </a:solidFill>
                                          <a:latin typeface="Cambria Math" panose="02040503050406030204" pitchFamily="18" charset="0"/>
                                        </a:rPr>
                                        <m:t>∗</m:t>
                                      </m:r>
                                    </m:sup>
                                  </m:sSubSup>
                                  <m:r>
                                    <a:rPr lang="en-US" altLang="zh-CN" sz="2000" i="1">
                                      <a:solidFill>
                                        <a:srgbClr val="C00000"/>
                                      </a:solidFill>
                                      <a:latin typeface="Cambria Math" panose="02040503050406030204" pitchFamily="18" charset="0"/>
                                    </a:rPr>
                                    <m:t>𝑦</m:t>
                                  </m:r>
                                </m:e>
                                <m:sub>
                                  <m:r>
                                    <a:rPr lang="en-US" altLang="zh-CN" sz="2000" i="1">
                                      <a:solidFill>
                                        <a:srgbClr val="C00000"/>
                                      </a:solidFill>
                                      <a:latin typeface="Cambria Math" panose="02040503050406030204" pitchFamily="18" charset="0"/>
                                    </a:rPr>
                                    <m:t>𝑖</m:t>
                                  </m:r>
                                </m:sub>
                              </m:sSub>
                              <m:sSubSup>
                                <m:sSubSupPr>
                                  <m:ctrlPr>
                                    <a:rPr lang="zh-CN" altLang="zh-CN" sz="2000" i="1">
                                      <a:solidFill>
                                        <a:srgbClr val="C00000"/>
                                      </a:solidFill>
                                      <a:latin typeface="Cambria Math" panose="02040503050406030204" pitchFamily="18" charset="0"/>
                                    </a:rPr>
                                  </m:ctrlPr>
                                </m:sSubSupPr>
                                <m:e>
                                  <m:r>
                                    <a:rPr lang="en-US" altLang="zh-CN" sz="2000" i="1">
                                      <a:solidFill>
                                        <a:srgbClr val="C00000"/>
                                      </a:solidFill>
                                      <a:latin typeface="Cambria Math" panose="02040503050406030204" pitchFamily="18" charset="0"/>
                                    </a:rPr>
                                    <m:t>𝑋</m:t>
                                  </m:r>
                                </m:e>
                                <m:sub>
                                  <m:r>
                                    <a:rPr lang="en-US" altLang="zh-CN" sz="2000" i="1">
                                      <a:solidFill>
                                        <a:srgbClr val="C00000"/>
                                      </a:solidFill>
                                      <a:latin typeface="Cambria Math" panose="02040503050406030204" pitchFamily="18" charset="0"/>
                                    </a:rPr>
                                    <m:t>𝑖</m:t>
                                  </m:r>
                                </m:sub>
                                <m:sup>
                                  <m:r>
                                    <a:rPr lang="en-US" altLang="zh-CN" sz="2000" i="1">
                                      <a:solidFill>
                                        <a:srgbClr val="C00000"/>
                                      </a:solidFill>
                                      <a:latin typeface="Cambria Math" panose="02040503050406030204" pitchFamily="18" charset="0"/>
                                    </a:rPr>
                                    <m:t>𝑇</m:t>
                                  </m:r>
                                </m:sup>
                              </m:sSubSup>
                            </m:e>
                          </m:nary>
                          <m:r>
                            <a:rPr lang="en-US" altLang="zh-CN" sz="2000" i="1">
                              <a:solidFill>
                                <a:srgbClr val="C00000"/>
                              </a:solidFill>
                              <a:latin typeface="Cambria Math" panose="02040503050406030204" pitchFamily="18" charset="0"/>
                            </a:rPr>
                            <m:t>𝑋</m:t>
                          </m:r>
                          <m:r>
                            <a:rPr lang="en-US" altLang="zh-CN" sz="2000" b="1" i="1">
                              <a:solidFill>
                                <a:srgbClr val="C00000"/>
                              </a:solidFill>
                              <a:latin typeface="Cambria Math" panose="02040503050406030204" pitchFamily="18" charset="0"/>
                            </a:rPr>
                            <m:t>+</m:t>
                          </m:r>
                          <m:sSup>
                            <m:sSupPr>
                              <m:ctrlPr>
                                <a:rPr lang="zh-CN" altLang="zh-CN" sz="2000" b="1" i="1">
                                  <a:solidFill>
                                    <a:srgbClr val="C00000"/>
                                  </a:solidFill>
                                  <a:latin typeface="Cambria Math" panose="02040503050406030204" pitchFamily="18" charset="0"/>
                                </a:rPr>
                              </m:ctrlPr>
                            </m:sSupPr>
                            <m:e>
                              <m:r>
                                <a:rPr lang="en-US" altLang="zh-CN" sz="2000" i="1">
                                  <a:solidFill>
                                    <a:srgbClr val="C00000"/>
                                  </a:solidFill>
                                  <a:latin typeface="Cambria Math" panose="02040503050406030204" pitchFamily="18" charset="0"/>
                                </a:rPr>
                                <m:t>𝑏</m:t>
                              </m:r>
                            </m:e>
                            <m:sup>
                              <m:r>
                                <a:rPr lang="en-US" altLang="zh-CN" sz="2000" b="1" i="1">
                                  <a:solidFill>
                                    <a:srgbClr val="C00000"/>
                                  </a:solidFill>
                                  <a:latin typeface="Cambria Math" panose="02040503050406030204" pitchFamily="18" charset="0"/>
                                </a:rPr>
                                <m:t>∗</m:t>
                              </m:r>
                            </m:sup>
                          </m:sSup>
                        </m:e>
                      </m:d>
                    </m:oMath>
                  </m:oMathPara>
                </a14:m>
                <a:endParaRPr lang="en-US" altLang="zh-CN" sz="2400" b="1" dirty="0"/>
              </a:p>
              <a:p>
                <a:pPr>
                  <a:spcAft>
                    <a:spcPts val="600"/>
                  </a:spcAft>
                </a:pPr>
                <a:r>
                  <a:rPr lang="zh-CN" altLang="zh-CN" sz="2400" dirty="0"/>
                  <a:t>其中</a:t>
                </a:r>
                <a:r>
                  <a:rPr lang="zh-CN" altLang="en-US" sz="2400" dirty="0"/>
                  <a:t>：</a:t>
                </a:r>
                <a14:m>
                  <m:oMath xmlns:m="http://schemas.openxmlformats.org/officeDocument/2006/math">
                    <m:sSup>
                      <m:sSupPr>
                        <m:ctrlPr>
                          <a:rPr lang="zh-CN" altLang="zh-CN" sz="2400" b="1" i="1">
                            <a:solidFill>
                              <a:srgbClr val="C00000"/>
                            </a:solidFill>
                            <a:latin typeface="Cambria Math" panose="02040503050406030204" pitchFamily="18" charset="0"/>
                          </a:rPr>
                        </m:ctrlPr>
                      </m:sSupPr>
                      <m:e>
                        <m:r>
                          <a:rPr lang="en-US" altLang="zh-CN" sz="2400" b="1" i="1">
                            <a:solidFill>
                              <a:srgbClr val="C00000"/>
                            </a:solidFill>
                            <a:latin typeface="Cambria Math" panose="02040503050406030204" pitchFamily="18" charset="0"/>
                          </a:rPr>
                          <m:t>𝒘</m:t>
                        </m:r>
                      </m:e>
                      <m:sup>
                        <m:r>
                          <a:rPr lang="en-US" altLang="zh-CN" sz="2400" b="1" i="1">
                            <a:solidFill>
                              <a:srgbClr val="C00000"/>
                            </a:solidFill>
                            <a:latin typeface="Cambria Math" panose="02040503050406030204" pitchFamily="18" charset="0"/>
                          </a:rPr>
                          <m:t>∗</m:t>
                        </m:r>
                      </m:sup>
                    </m:sSup>
                    <m:r>
                      <a:rPr lang="en-US" altLang="zh-CN" sz="2400" b="1" i="1">
                        <a:solidFill>
                          <a:srgbClr val="C00000"/>
                        </a:solidFill>
                        <a:latin typeface="Cambria Math" panose="02040503050406030204" pitchFamily="18" charset="0"/>
                      </a:rPr>
                      <m:t>=</m:t>
                    </m:r>
                    <m:nary>
                      <m:naryPr>
                        <m:chr m:val="∑"/>
                        <m:limLoc m:val="undOvr"/>
                        <m:ctrlPr>
                          <a:rPr lang="zh-CN" altLang="zh-CN" sz="2400" b="1" i="1">
                            <a:solidFill>
                              <a:srgbClr val="C00000"/>
                            </a:solidFill>
                            <a:latin typeface="Cambria Math" panose="02040503050406030204" pitchFamily="18" charset="0"/>
                          </a:rPr>
                        </m:ctrlPr>
                      </m:naryPr>
                      <m:sub>
                        <m:r>
                          <a:rPr lang="en-US" altLang="zh-CN" sz="2400" i="1">
                            <a:solidFill>
                              <a:srgbClr val="C00000"/>
                            </a:solidFill>
                            <a:latin typeface="Cambria Math" panose="02040503050406030204" pitchFamily="18" charset="0"/>
                          </a:rPr>
                          <m:t>𝑖</m:t>
                        </m:r>
                        <m:r>
                          <a:rPr lang="en-US" altLang="zh-CN" sz="2400" i="1">
                            <a:solidFill>
                              <a:srgbClr val="C00000"/>
                            </a:solidFill>
                            <a:latin typeface="Cambria Math" panose="02040503050406030204" pitchFamily="18" charset="0"/>
                          </a:rPr>
                          <m:t>=</m:t>
                        </m:r>
                        <m:r>
                          <a:rPr lang="en-US" altLang="zh-CN" sz="2400" i="1">
                            <a:solidFill>
                              <a:srgbClr val="C00000"/>
                            </a:solidFill>
                            <a:latin typeface="Cambria Math" panose="02040503050406030204" pitchFamily="18" charset="0"/>
                          </a:rPr>
                          <m:t>1</m:t>
                        </m:r>
                      </m:sub>
                      <m:sup>
                        <m:r>
                          <a:rPr lang="en-US" altLang="zh-CN" sz="2400" i="1">
                            <a:solidFill>
                              <a:srgbClr val="C00000"/>
                            </a:solidFill>
                            <a:latin typeface="Cambria Math" panose="02040503050406030204" pitchFamily="18" charset="0"/>
                          </a:rPr>
                          <m:t>𝑛</m:t>
                        </m:r>
                      </m:sup>
                      <m:e>
                        <m:sSub>
                          <m:sSubPr>
                            <m:ctrlPr>
                              <a:rPr lang="zh-CN" altLang="zh-CN" sz="2400" i="1">
                                <a:solidFill>
                                  <a:srgbClr val="C00000"/>
                                </a:solidFill>
                                <a:latin typeface="Cambria Math" panose="02040503050406030204" pitchFamily="18" charset="0"/>
                              </a:rPr>
                            </m:ctrlPr>
                          </m:sSubPr>
                          <m:e>
                            <m:sSubSup>
                              <m:sSubSupPr>
                                <m:ctrlPr>
                                  <a:rPr lang="zh-CN" altLang="zh-CN" sz="2400" i="1">
                                    <a:solidFill>
                                      <a:srgbClr val="C00000"/>
                                    </a:solidFill>
                                    <a:latin typeface="Cambria Math" panose="02040503050406030204" pitchFamily="18" charset="0"/>
                                  </a:rPr>
                                </m:ctrlPr>
                              </m:sSubSupPr>
                              <m:e>
                                <m:r>
                                  <a:rPr lang="en-US" altLang="zh-CN" sz="2400" i="1">
                                    <a:solidFill>
                                      <a:srgbClr val="C00000"/>
                                    </a:solidFill>
                                    <a:latin typeface="Cambria Math" panose="02040503050406030204" pitchFamily="18" charset="0"/>
                                  </a:rPr>
                                  <m:t>𝛼</m:t>
                                </m:r>
                              </m:e>
                              <m:sub>
                                <m:r>
                                  <a:rPr lang="en-US" altLang="zh-CN" sz="2400" i="1">
                                    <a:solidFill>
                                      <a:srgbClr val="C00000"/>
                                    </a:solidFill>
                                    <a:latin typeface="Cambria Math" panose="02040503050406030204" pitchFamily="18" charset="0"/>
                                  </a:rPr>
                                  <m:t>𝑖</m:t>
                                </m:r>
                              </m:sub>
                              <m:sup>
                                <m:r>
                                  <a:rPr lang="zh-CN" altLang="en-US" sz="2400" i="1">
                                    <a:solidFill>
                                      <a:srgbClr val="C00000"/>
                                    </a:solidFill>
                                    <a:latin typeface="Cambria Math" panose="02040503050406030204" pitchFamily="18" charset="0"/>
                                  </a:rPr>
                                  <m:t>∗</m:t>
                                </m:r>
                              </m:sup>
                            </m:sSubSup>
                            <m:r>
                              <a:rPr lang="en-US" altLang="zh-CN" sz="2400" i="1">
                                <a:solidFill>
                                  <a:srgbClr val="C00000"/>
                                </a:solidFill>
                                <a:latin typeface="Cambria Math" panose="02040503050406030204" pitchFamily="18" charset="0"/>
                              </a:rPr>
                              <m:t>𝑦</m:t>
                            </m:r>
                          </m:e>
                          <m:sub>
                            <m:r>
                              <a:rPr lang="en-US" altLang="zh-CN" sz="2400" i="1">
                                <a:solidFill>
                                  <a:srgbClr val="C00000"/>
                                </a:solidFill>
                                <a:latin typeface="Cambria Math" panose="02040503050406030204" pitchFamily="18" charset="0"/>
                              </a:rPr>
                              <m:t>𝑖</m:t>
                            </m:r>
                          </m:sub>
                        </m:sSub>
                        <m:sSub>
                          <m:sSubPr>
                            <m:ctrlPr>
                              <a:rPr lang="zh-CN" altLang="zh-CN" sz="2400" i="1">
                                <a:solidFill>
                                  <a:srgbClr val="C00000"/>
                                </a:solidFill>
                                <a:latin typeface="Cambria Math" panose="02040503050406030204" pitchFamily="18" charset="0"/>
                              </a:rPr>
                            </m:ctrlPr>
                          </m:sSubPr>
                          <m:e>
                            <m:r>
                              <a:rPr lang="en-US" altLang="zh-CN" sz="2400" i="1">
                                <a:solidFill>
                                  <a:srgbClr val="C00000"/>
                                </a:solidFill>
                                <a:latin typeface="Cambria Math" panose="02040503050406030204" pitchFamily="18" charset="0"/>
                              </a:rPr>
                              <m:t>𝑋</m:t>
                            </m:r>
                          </m:e>
                          <m:sub>
                            <m:r>
                              <a:rPr lang="en-US" altLang="zh-CN" sz="2400" i="1">
                                <a:solidFill>
                                  <a:srgbClr val="C00000"/>
                                </a:solidFill>
                                <a:latin typeface="Cambria Math" panose="02040503050406030204" pitchFamily="18" charset="0"/>
                              </a:rPr>
                              <m:t>𝑖</m:t>
                            </m:r>
                          </m:sub>
                        </m:sSub>
                      </m:e>
                    </m:nary>
                  </m:oMath>
                </a14:m>
                <a:r>
                  <a:rPr lang="zh-CN" altLang="zh-CN" sz="2400" b="1" dirty="0">
                    <a:solidFill>
                      <a:srgbClr val="C00000"/>
                    </a:solidFill>
                  </a:rPr>
                  <a:t>；</a:t>
                </a:r>
                <a14:m>
                  <m:oMath xmlns:m="http://schemas.openxmlformats.org/officeDocument/2006/math">
                    <m:sSup>
                      <m:sSupPr>
                        <m:ctrlPr>
                          <a:rPr lang="zh-CN" altLang="zh-CN" sz="2400" i="1">
                            <a:solidFill>
                              <a:srgbClr val="C00000"/>
                            </a:solidFill>
                            <a:latin typeface="Cambria Math" panose="02040503050406030204" pitchFamily="18" charset="0"/>
                          </a:rPr>
                        </m:ctrlPr>
                      </m:sSupPr>
                      <m:e>
                        <m:r>
                          <a:rPr lang="en-US" altLang="zh-CN" sz="2400" i="1">
                            <a:solidFill>
                              <a:srgbClr val="C00000"/>
                            </a:solidFill>
                            <a:latin typeface="Cambria Math" panose="02040503050406030204" pitchFamily="18" charset="0"/>
                          </a:rPr>
                          <m:t>𝑏</m:t>
                        </m:r>
                      </m:e>
                      <m:sup>
                        <m:r>
                          <a:rPr lang="en-US" altLang="zh-CN" sz="2400" i="1">
                            <a:solidFill>
                              <a:srgbClr val="C00000"/>
                            </a:solidFill>
                            <a:latin typeface="Cambria Math" panose="02040503050406030204" pitchFamily="18" charset="0"/>
                          </a:rPr>
                          <m:t>∗</m:t>
                        </m:r>
                      </m:sup>
                    </m:sSup>
                    <m:r>
                      <a:rPr lang="en-US" altLang="zh-CN" sz="2400" b="1" i="1">
                        <a:solidFill>
                          <a:srgbClr val="C00000"/>
                        </a:solidFill>
                        <a:latin typeface="Cambria Math" panose="02040503050406030204" pitchFamily="18" charset="0"/>
                      </a:rPr>
                      <m:t>=</m:t>
                    </m:r>
                    <m:sSub>
                      <m:sSubPr>
                        <m:ctrlPr>
                          <a:rPr lang="zh-CN" altLang="zh-CN" sz="2400" i="1">
                            <a:solidFill>
                              <a:srgbClr val="C00000"/>
                            </a:solidFill>
                            <a:latin typeface="Cambria Math" panose="02040503050406030204" pitchFamily="18" charset="0"/>
                          </a:rPr>
                        </m:ctrlPr>
                      </m:sSubPr>
                      <m:e>
                        <m:r>
                          <a:rPr lang="en-US" altLang="zh-CN" sz="2400" i="1">
                            <a:solidFill>
                              <a:srgbClr val="C00000"/>
                            </a:solidFill>
                            <a:latin typeface="Cambria Math" panose="02040503050406030204" pitchFamily="18" charset="0"/>
                          </a:rPr>
                          <m:t>𝑦</m:t>
                        </m:r>
                      </m:e>
                      <m:sub>
                        <m:r>
                          <a:rPr lang="en-US" altLang="zh-CN" sz="2400" i="1">
                            <a:solidFill>
                              <a:srgbClr val="C00000"/>
                            </a:solidFill>
                            <a:latin typeface="Cambria Math" panose="02040503050406030204" pitchFamily="18" charset="0"/>
                          </a:rPr>
                          <m:t>𝑗</m:t>
                        </m:r>
                      </m:sub>
                    </m:sSub>
                    <m:r>
                      <a:rPr lang="zh-CN" altLang="en-US" sz="2400" i="1">
                        <a:solidFill>
                          <a:srgbClr val="C00000"/>
                        </a:solidFill>
                        <a:latin typeface="Cambria Math" panose="02040503050406030204" pitchFamily="18" charset="0"/>
                      </a:rPr>
                      <m:t>−</m:t>
                    </m:r>
                    <m:nary>
                      <m:naryPr>
                        <m:chr m:val="∑"/>
                        <m:limLoc m:val="undOvr"/>
                        <m:ctrlPr>
                          <a:rPr lang="zh-CN" altLang="zh-CN" sz="2400" b="1" i="1">
                            <a:solidFill>
                              <a:srgbClr val="C00000"/>
                            </a:solidFill>
                            <a:latin typeface="Cambria Math" panose="02040503050406030204" pitchFamily="18" charset="0"/>
                          </a:rPr>
                        </m:ctrlPr>
                      </m:naryPr>
                      <m:sub>
                        <m:r>
                          <a:rPr lang="en-US" altLang="zh-CN" sz="2400" i="1">
                            <a:solidFill>
                              <a:srgbClr val="C00000"/>
                            </a:solidFill>
                            <a:latin typeface="Cambria Math" panose="02040503050406030204" pitchFamily="18" charset="0"/>
                          </a:rPr>
                          <m:t>𝑖</m:t>
                        </m:r>
                        <m:r>
                          <a:rPr lang="en-US" altLang="zh-CN" sz="2400" i="1">
                            <a:solidFill>
                              <a:srgbClr val="C00000"/>
                            </a:solidFill>
                            <a:latin typeface="Cambria Math" panose="02040503050406030204" pitchFamily="18" charset="0"/>
                          </a:rPr>
                          <m:t>=</m:t>
                        </m:r>
                        <m:r>
                          <a:rPr lang="en-US" altLang="zh-CN" sz="2400" i="1">
                            <a:solidFill>
                              <a:srgbClr val="C00000"/>
                            </a:solidFill>
                            <a:latin typeface="Cambria Math" panose="02040503050406030204" pitchFamily="18" charset="0"/>
                          </a:rPr>
                          <m:t>1</m:t>
                        </m:r>
                      </m:sub>
                      <m:sup>
                        <m:r>
                          <a:rPr lang="en-US" altLang="zh-CN" sz="2400" i="1">
                            <a:solidFill>
                              <a:srgbClr val="C00000"/>
                            </a:solidFill>
                            <a:latin typeface="Cambria Math" panose="02040503050406030204" pitchFamily="18" charset="0"/>
                          </a:rPr>
                          <m:t>𝑛</m:t>
                        </m:r>
                      </m:sup>
                      <m:e>
                        <m:sSub>
                          <m:sSubPr>
                            <m:ctrlPr>
                              <a:rPr lang="zh-CN" altLang="zh-CN" sz="2400" i="1">
                                <a:solidFill>
                                  <a:srgbClr val="C00000"/>
                                </a:solidFill>
                                <a:latin typeface="Cambria Math" panose="02040503050406030204" pitchFamily="18" charset="0"/>
                              </a:rPr>
                            </m:ctrlPr>
                          </m:sSubPr>
                          <m:e>
                            <m:sSubSup>
                              <m:sSubSupPr>
                                <m:ctrlPr>
                                  <a:rPr lang="zh-CN" altLang="zh-CN" sz="2400" i="1">
                                    <a:solidFill>
                                      <a:srgbClr val="C00000"/>
                                    </a:solidFill>
                                    <a:latin typeface="Cambria Math" panose="02040503050406030204" pitchFamily="18" charset="0"/>
                                  </a:rPr>
                                </m:ctrlPr>
                              </m:sSubSupPr>
                              <m:e>
                                <m:r>
                                  <a:rPr lang="en-US" altLang="zh-CN" sz="2400" i="1">
                                    <a:solidFill>
                                      <a:srgbClr val="C00000"/>
                                    </a:solidFill>
                                    <a:latin typeface="Cambria Math" panose="02040503050406030204" pitchFamily="18" charset="0"/>
                                  </a:rPr>
                                  <m:t>𝛼</m:t>
                                </m:r>
                              </m:e>
                              <m:sub>
                                <m:r>
                                  <a:rPr lang="en-US" altLang="zh-CN" sz="2400" i="1">
                                    <a:solidFill>
                                      <a:srgbClr val="C00000"/>
                                    </a:solidFill>
                                    <a:latin typeface="Cambria Math" panose="02040503050406030204" pitchFamily="18" charset="0"/>
                                  </a:rPr>
                                  <m:t>𝑖</m:t>
                                </m:r>
                              </m:sub>
                              <m:sup>
                                <m:r>
                                  <a:rPr lang="zh-CN" altLang="en-US" sz="2400" i="1">
                                    <a:solidFill>
                                      <a:srgbClr val="C00000"/>
                                    </a:solidFill>
                                    <a:latin typeface="Cambria Math" panose="02040503050406030204" pitchFamily="18" charset="0"/>
                                  </a:rPr>
                                  <m:t>∗</m:t>
                                </m:r>
                              </m:sup>
                            </m:sSubSup>
                            <m:r>
                              <a:rPr lang="en-US" altLang="zh-CN" sz="2400" i="1">
                                <a:solidFill>
                                  <a:srgbClr val="C00000"/>
                                </a:solidFill>
                                <a:latin typeface="Cambria Math" panose="02040503050406030204" pitchFamily="18" charset="0"/>
                              </a:rPr>
                              <m:t>𝑦</m:t>
                            </m:r>
                          </m:e>
                          <m:sub>
                            <m:r>
                              <a:rPr lang="en-US" altLang="zh-CN" sz="2400" i="1">
                                <a:solidFill>
                                  <a:srgbClr val="C00000"/>
                                </a:solidFill>
                                <a:latin typeface="Cambria Math" panose="02040503050406030204" pitchFamily="18" charset="0"/>
                              </a:rPr>
                              <m:t>𝑖</m:t>
                            </m:r>
                          </m:sub>
                        </m:sSub>
                        <m:sSubSup>
                          <m:sSubSupPr>
                            <m:ctrlPr>
                              <a:rPr lang="zh-CN" altLang="zh-CN" sz="2400" i="1">
                                <a:solidFill>
                                  <a:srgbClr val="C00000"/>
                                </a:solidFill>
                                <a:latin typeface="Cambria Math" panose="02040503050406030204" pitchFamily="18" charset="0"/>
                              </a:rPr>
                            </m:ctrlPr>
                          </m:sSubSupPr>
                          <m:e>
                            <m:r>
                              <a:rPr lang="en-US" altLang="zh-CN" sz="2400" i="1">
                                <a:solidFill>
                                  <a:srgbClr val="C00000"/>
                                </a:solidFill>
                                <a:latin typeface="Cambria Math" panose="02040503050406030204" pitchFamily="18" charset="0"/>
                              </a:rPr>
                              <m:t>𝑋</m:t>
                            </m:r>
                          </m:e>
                          <m:sub>
                            <m:r>
                              <a:rPr lang="en-US" altLang="zh-CN" sz="2400" i="1">
                                <a:solidFill>
                                  <a:srgbClr val="C00000"/>
                                </a:solidFill>
                                <a:latin typeface="Cambria Math" panose="02040503050406030204" pitchFamily="18" charset="0"/>
                              </a:rPr>
                              <m:t>𝑖</m:t>
                            </m:r>
                          </m:sub>
                          <m:sup>
                            <m:r>
                              <a:rPr lang="en-US" altLang="zh-CN" sz="2400" i="1">
                                <a:solidFill>
                                  <a:srgbClr val="C00000"/>
                                </a:solidFill>
                                <a:latin typeface="Cambria Math" panose="02040503050406030204" pitchFamily="18" charset="0"/>
                              </a:rPr>
                              <m:t>𝑇</m:t>
                            </m:r>
                          </m:sup>
                        </m:sSubSup>
                      </m:e>
                    </m:nary>
                    <m:sSub>
                      <m:sSubPr>
                        <m:ctrlPr>
                          <a:rPr lang="zh-CN" altLang="zh-CN" sz="2400" i="1">
                            <a:solidFill>
                              <a:srgbClr val="C00000"/>
                            </a:solidFill>
                            <a:latin typeface="Cambria Math" panose="02040503050406030204" pitchFamily="18" charset="0"/>
                          </a:rPr>
                        </m:ctrlPr>
                      </m:sSubPr>
                      <m:e>
                        <m:r>
                          <a:rPr lang="en-US" altLang="zh-CN" sz="2400" i="1">
                            <a:solidFill>
                              <a:srgbClr val="C00000"/>
                            </a:solidFill>
                            <a:latin typeface="Cambria Math" panose="02040503050406030204" pitchFamily="18" charset="0"/>
                          </a:rPr>
                          <m:t>𝑋</m:t>
                        </m:r>
                      </m:e>
                      <m:sub>
                        <m:r>
                          <a:rPr lang="en-US" altLang="zh-CN" sz="2400" i="1">
                            <a:solidFill>
                              <a:srgbClr val="C00000"/>
                            </a:solidFill>
                            <a:latin typeface="Cambria Math" panose="02040503050406030204" pitchFamily="18" charset="0"/>
                          </a:rPr>
                          <m:t>𝑗</m:t>
                        </m:r>
                      </m:sub>
                    </m:sSub>
                  </m:oMath>
                </a14:m>
                <a:endParaRPr lang="zh-CN" altLang="en-US" sz="2400" dirty="0">
                  <a:solidFill>
                    <a:srgbClr val="C00000"/>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987937" y="1362522"/>
                <a:ext cx="10289664" cy="4891980"/>
              </a:xfrm>
              <a:prstGeom prst="rect">
                <a:avLst/>
              </a:prstGeom>
              <a:blipFill rotWithShape="1">
                <a:blip r:embed="rId2"/>
                <a:stretch>
                  <a:fillRect l="-5" t="-9" b="8"/>
                </a:stretch>
              </a:blipFill>
            </p:spPr>
            <p:txBody>
              <a:bodyPr/>
              <a:lstStyle/>
              <a:p>
                <a:r>
                  <a:rPr lang="zh-CN" altLang="en-US">
                    <a:noFill/>
                  </a:rPr>
                  <a:t> </a:t>
                </a:r>
              </a:p>
            </p:txBody>
          </p:sp>
        </mc:Fallback>
      </mc:AlternateContent>
    </p:spTree>
  </p:cSld>
  <p:clrMapOvr>
    <a:masterClrMapping/>
  </p:clrMapOvr>
  <p:transition spd="med">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191369"/>
            <a:ext cx="8015583" cy="752385"/>
          </a:xfrm>
        </p:spPr>
        <p:txBody>
          <a:bodyPr/>
          <a:lstStyle/>
          <a:p>
            <a:pPr>
              <a:lnSpc>
                <a:spcPct val="150000"/>
              </a:lnSpc>
            </a:pPr>
            <a:r>
              <a:rPr lang="zh-CN" altLang="en-US" dirty="0">
                <a:latin typeface="+mn-ea"/>
              </a:rPr>
              <a:t>线性可分支持向量机的程序流程图</a:t>
            </a:r>
            <a:endParaRPr lang="zh-CN" altLang="zh-CN" dirty="0">
              <a:latin typeface="+mn-ea"/>
            </a:endParaRPr>
          </a:p>
        </p:txBody>
      </p:sp>
      <p:pic>
        <p:nvPicPr>
          <p:cNvPr id="5" name="图片 4"/>
          <p:cNvPicPr>
            <a:picLocks noChangeAspect="1"/>
          </p:cNvPicPr>
          <p:nvPr/>
        </p:nvPicPr>
        <p:blipFill>
          <a:blip r:embed="rId1" cstate="print"/>
          <a:stretch>
            <a:fillRect/>
          </a:stretch>
        </p:blipFill>
        <p:spPr>
          <a:xfrm>
            <a:off x="4535288" y="943754"/>
            <a:ext cx="3121423" cy="518204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SVM</a:t>
            </a:r>
            <a:r>
              <a:rPr lang="zh-CN" altLang="en-US" dirty="0"/>
              <a:t>的算法步骤</a:t>
            </a:r>
            <a:endParaRPr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1062639" y="1136661"/>
                <a:ext cx="10378955" cy="4973320"/>
              </a:xfrm>
              <a:prstGeom prst="rect">
                <a:avLst/>
              </a:prstGeom>
              <a:noFill/>
            </p:spPr>
            <p:txBody>
              <a:bodyPr wrap="square" rtlCol="0">
                <a:spAutoFit/>
              </a:bodyPr>
              <a:lstStyle/>
              <a:p>
                <a:pPr>
                  <a:lnSpc>
                    <a:spcPct val="150000"/>
                  </a:lnSpc>
                </a:pPr>
                <a:r>
                  <a:rPr lang="zh-CN" altLang="zh-CN" dirty="0"/>
                  <a:t>线性支持向量机的算法步骤如下：</a:t>
                </a:r>
                <a:endParaRPr lang="zh-CN" altLang="zh-CN" dirty="0"/>
              </a:p>
              <a:p>
                <a:pPr>
                  <a:lnSpc>
                    <a:spcPct val="150000"/>
                  </a:lnSpc>
                </a:pPr>
                <a:r>
                  <a:rPr lang="zh-CN" altLang="zh-CN" dirty="0"/>
                  <a:t>（</a:t>
                </a:r>
                <a:r>
                  <a:rPr lang="en-US" altLang="zh-CN" dirty="0"/>
                  <a:t>1</a:t>
                </a:r>
                <a:r>
                  <a:rPr lang="zh-CN" altLang="zh-CN" dirty="0"/>
                  <a:t>）给定训练集</a:t>
                </a:r>
                <a:r>
                  <a:rPr lang="en-US" altLang="zh-CN" dirty="0"/>
                  <a:t> T={(x1,y1), (x2,y2),…, (</a:t>
                </a:r>
                <a:r>
                  <a:rPr lang="en-US" altLang="zh-CN" dirty="0" err="1"/>
                  <a:t>xn,yn</a:t>
                </a:r>
                <a:r>
                  <a:rPr lang="en-US" altLang="zh-CN" dirty="0"/>
                  <a:t>)} ,y={-1,1}</a:t>
                </a:r>
                <a:r>
                  <a:rPr lang="zh-CN" altLang="zh-CN" dirty="0"/>
                  <a:t>；</a:t>
                </a:r>
                <a:endParaRPr lang="zh-CN" altLang="zh-CN" dirty="0"/>
              </a:p>
              <a:p>
                <a:r>
                  <a:rPr lang="zh-CN" altLang="zh-CN" dirty="0"/>
                  <a:t>（</a:t>
                </a:r>
                <a:r>
                  <a:rPr lang="en-US" altLang="zh-CN" dirty="0"/>
                  <a:t>2</a:t>
                </a:r>
                <a:r>
                  <a:rPr lang="zh-CN" altLang="zh-CN" dirty="0"/>
                  <a:t>）构造最优化问题：</a:t>
                </a:r>
                <a:endParaRPr lang="zh-CN" altLang="zh-CN" dirty="0"/>
              </a:p>
              <a:p>
                <a14:m>
                  <m:oMathPara xmlns:m="http://schemas.openxmlformats.org/officeDocument/2006/math">
                    <m:oMathParaPr>
                      <m:jc m:val="centerGroup"/>
                    </m:oMathParaPr>
                    <m:oMath xmlns:m="http://schemas.openxmlformats.org/officeDocument/2006/math">
                      <m:func>
                        <m:funcPr>
                          <m:ctrlPr>
                            <a:rPr lang="zh-CN" altLang="zh-CN" i="1">
                              <a:latin typeface="Cambria Math" panose="02040503050406030204" pitchFamily="18" charset="0"/>
                            </a:rPr>
                          </m:ctrlPr>
                        </m:funcPr>
                        <m:fName>
                          <m:limLow>
                            <m:limLowPr>
                              <m:ctrlPr>
                                <a:rPr lang="zh-CN" altLang="zh-CN" i="1">
                                  <a:latin typeface="Cambria Math" panose="02040503050406030204" pitchFamily="18" charset="0"/>
                                </a:rPr>
                              </m:ctrlPr>
                            </m:limLowPr>
                            <m:e>
                              <m:r>
                                <m:rPr>
                                  <m:sty m:val="p"/>
                                </m:rPr>
                                <a:rPr lang="en-US" altLang="zh-CN">
                                  <a:latin typeface="Cambria Math" panose="02040503050406030204" pitchFamily="18" charset="0"/>
                                </a:rPr>
                                <m:t>min</m:t>
                              </m:r>
                            </m:e>
                            <m:lim>
                              <m:r>
                                <a:rPr lang="en-US" altLang="zh-CN" i="1">
                                  <a:latin typeface="Cambria Math" panose="02040503050406030204" pitchFamily="18" charset="0"/>
                                </a:rPr>
                                <m:t>𝑎</m:t>
                              </m:r>
                            </m:lim>
                          </m:limLow>
                        </m:fName>
                        <m:e>
                          <m:r>
                            <a:rPr lang="en-US" altLang="zh-CN" i="1">
                              <a:latin typeface="Cambria Math" panose="02040503050406030204" pitchFamily="18" charset="0"/>
                            </a:rPr>
                            <m:t> </m:t>
                          </m:r>
                        </m:e>
                      </m:func>
                      <m:r>
                        <a:rPr lang="en-US" altLang="zh-CN" i="1">
                          <a:latin typeface="Cambria Math" panose="02040503050406030204" pitchFamily="18" charset="0"/>
                        </a:rPr>
                        <m:t>𝜑</m:t>
                      </m:r>
                      <m:d>
                        <m:dPr>
                          <m:ctrlPr>
                            <a:rPr lang="zh-CN" altLang="zh-CN" i="1">
                              <a:latin typeface="Cambria Math" panose="02040503050406030204" pitchFamily="18" charset="0"/>
                            </a:rPr>
                          </m:ctrlPr>
                        </m:dPr>
                        <m:e>
                          <m:r>
                            <a:rPr lang="en-US" altLang="zh-CN" i="1">
                              <a:latin typeface="Cambria Math" panose="02040503050406030204" pitchFamily="18" charset="0"/>
                            </a:rPr>
                            <m:t>𝛼</m:t>
                          </m:r>
                        </m:e>
                      </m:d>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1</m:t>
                          </m:r>
                        </m:sub>
                        <m:sup>
                          <m:r>
                            <a:rPr lang="en-US" altLang="zh-CN" i="1">
                              <a:latin typeface="Cambria Math" panose="02040503050406030204" pitchFamily="18" charset="0"/>
                            </a:rPr>
                            <m:t>𝑁</m:t>
                          </m:r>
                        </m:sup>
                        <m:e>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𝑗</m:t>
                              </m:r>
                              <m:r>
                                <a:rPr lang="en-US" altLang="zh-CN" i="1">
                                  <a:latin typeface="Cambria Math" panose="02040503050406030204" pitchFamily="18" charset="0"/>
                                </a:rPr>
                                <m:t>=</m:t>
                              </m:r>
                              <m:r>
                                <a:rPr lang="en-US" altLang="zh-CN" i="1">
                                  <a:latin typeface="Cambria Math" panose="02040503050406030204" pitchFamily="18" charset="0"/>
                                </a:rPr>
                                <m:t>1</m:t>
                              </m:r>
                            </m:sub>
                            <m:sup>
                              <m:r>
                                <a:rPr lang="en-US" altLang="zh-CN" i="1">
                                  <a:latin typeface="Cambria Math" panose="02040503050406030204" pitchFamily="18" charset="0"/>
                                </a:rPr>
                                <m:t>𝑁</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𝛼</m:t>
                                  </m:r>
                                </m:e>
                                <m:sub>
                                  <m:r>
                                    <a:rPr lang="en-US" altLang="zh-CN" i="1">
                                      <a:latin typeface="Cambria Math" panose="02040503050406030204" pitchFamily="18" charset="0"/>
                                    </a:rPr>
                                    <m:t>𝑖</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𝛼</m:t>
                                  </m:r>
                                </m:e>
                                <m:sub>
                                  <m:r>
                                    <a:rPr lang="en-US" altLang="zh-CN" i="1">
                                      <a:latin typeface="Cambria Math" panose="02040503050406030204" pitchFamily="18" charset="0"/>
                                    </a:rPr>
                                    <m:t>𝑗</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𝑗</m:t>
                                  </m:r>
                                </m:sub>
                              </m:sSub>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𝑗</m:t>
                                      </m:r>
                                    </m:sub>
                                  </m:sSub>
                                </m:e>
                              </m:d>
                            </m:e>
                          </m:nary>
                        </m:e>
                      </m:nary>
                      <m:r>
                        <a:rPr lang="en-US" altLang="zh-CN" i="1">
                          <a:latin typeface="Cambria Math" panose="02040503050406030204" pitchFamily="18" charset="0"/>
                        </a:rPr>
                        <m:t>−</m:t>
                      </m:r>
                      <m:nary>
                        <m:naryPr>
                          <m:chr m:val="∑"/>
                          <m:grow m:val="on"/>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1</m:t>
                          </m:r>
                        </m:sub>
                        <m:sup>
                          <m:r>
                            <a:rPr lang="en-US" altLang="zh-CN" i="1">
                              <a:latin typeface="Cambria Math" panose="02040503050406030204" pitchFamily="18" charset="0"/>
                            </a:rPr>
                            <m:t>𝑁</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𝛼</m:t>
                              </m:r>
                            </m:e>
                            <m:sub>
                              <m:r>
                                <a:rPr lang="en-US" altLang="zh-CN" i="1">
                                  <a:latin typeface="Cambria Math" panose="02040503050406030204" pitchFamily="18" charset="0"/>
                                </a:rPr>
                                <m:t>𝑖</m:t>
                              </m:r>
                            </m:sub>
                          </m:sSub>
                        </m:e>
                      </m:nary>
                    </m:oMath>
                  </m:oMathPara>
                </a14:m>
                <a:endParaRPr lang="zh-CN" altLang="zh-CN" dirty="0"/>
              </a:p>
              <a:p>
                <a:r>
                  <a:rPr lang="zh-CN" altLang="zh-CN" dirty="0"/>
                  <a:t>（</a:t>
                </a:r>
                <a:r>
                  <a:rPr lang="en-US" altLang="zh-CN" dirty="0"/>
                  <a:t>3</a:t>
                </a:r>
                <a:r>
                  <a:rPr lang="zh-CN" altLang="zh-CN" dirty="0"/>
                  <a:t>）计算参数</a:t>
                </a:r>
                <a:r>
                  <a:rPr lang="en-US" altLang="zh-CN" dirty="0"/>
                  <a:t>w</a:t>
                </a:r>
                <a:r>
                  <a:rPr lang="zh-CN" altLang="zh-CN" dirty="0"/>
                  <a:t>和</a:t>
                </a:r>
                <a:r>
                  <a:rPr lang="en-US" altLang="zh-CN" dirty="0"/>
                  <a:t>b</a:t>
                </a:r>
                <a:r>
                  <a:rPr lang="zh-CN" altLang="zh-CN" dirty="0"/>
                  <a:t>：</a:t>
                </a:r>
                <a:br>
                  <a:rPr lang="en-US" altLang="zh-CN" dirty="0"/>
                </a:b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𝑤</m:t>
                      </m:r>
                      <m:r>
                        <a:rPr lang="en-US" altLang="zh-CN" b="1" i="1">
                          <a:latin typeface="Cambria Math" panose="02040503050406030204" pitchFamily="18" charset="0"/>
                        </a:rPr>
                        <m:t>=</m:t>
                      </m:r>
                      <m:nary>
                        <m:naryPr>
                          <m:chr m:val="∑"/>
                          <m:grow m:val="on"/>
                          <m:limLoc m:val="undOvr"/>
                          <m:ctrlPr>
                            <a:rPr lang="zh-CN" altLang="zh-CN" b="1" i="1">
                              <a:latin typeface="Cambria Math" panose="02040503050406030204" pitchFamily="18" charset="0"/>
                            </a:rPr>
                          </m:ctrlPr>
                        </m:naryPr>
                        <m:sub>
                          <m:r>
                            <a:rPr lang="en-US" altLang="zh-CN" b="1" i="1">
                              <a:latin typeface="Cambria Math" panose="02040503050406030204" pitchFamily="18" charset="0"/>
                            </a:rPr>
                            <m:t>𝒊</m:t>
                          </m:r>
                          <m:r>
                            <a:rPr lang="en-US" altLang="zh-CN" b="1" i="1">
                              <a:latin typeface="Cambria Math" panose="02040503050406030204" pitchFamily="18" charset="0"/>
                            </a:rPr>
                            <m:t>=</m:t>
                          </m:r>
                          <m:r>
                            <a:rPr lang="en-US" altLang="zh-CN" b="1" i="1">
                              <a:latin typeface="Cambria Math" panose="02040503050406030204" pitchFamily="18" charset="0"/>
                            </a:rPr>
                            <m:t>𝟏</m:t>
                          </m:r>
                        </m:sub>
                        <m:sup>
                          <m:r>
                            <a:rPr lang="en-US" altLang="zh-CN" b="1" i="1">
                              <a:latin typeface="Cambria Math" panose="02040503050406030204" pitchFamily="18" charset="0"/>
                            </a:rPr>
                            <m:t>𝑵</m:t>
                          </m:r>
                        </m:sup>
                        <m:e>
                          <m:sSub>
                            <m:sSubPr>
                              <m:ctrlPr>
                                <a:rPr lang="zh-CN" altLang="zh-CN" b="1" i="1">
                                  <a:latin typeface="Cambria Math" panose="02040503050406030204" pitchFamily="18" charset="0"/>
                                </a:rPr>
                              </m:ctrlPr>
                            </m:sSubPr>
                            <m:e>
                              <m:r>
                                <a:rPr lang="en-US" altLang="zh-CN" b="1" i="1">
                                  <a:latin typeface="Cambria Math" panose="02040503050406030204" pitchFamily="18" charset="0"/>
                                </a:rPr>
                                <m:t>𝒂</m:t>
                              </m:r>
                            </m:e>
                            <m:sub>
                              <m:r>
                                <a:rPr lang="en-US" altLang="zh-CN" b="1" i="1">
                                  <a:latin typeface="Cambria Math" panose="02040503050406030204" pitchFamily="18" charset="0"/>
                                </a:rPr>
                                <m:t>𝒊</m:t>
                              </m:r>
                            </m:sub>
                          </m:sSub>
                          <m:sSub>
                            <m:sSubPr>
                              <m:ctrlPr>
                                <a:rPr lang="zh-CN" altLang="zh-CN" b="1" i="1">
                                  <a:latin typeface="Cambria Math" panose="02040503050406030204" pitchFamily="18" charset="0"/>
                                </a:rPr>
                              </m:ctrlPr>
                            </m:sSubPr>
                            <m:e>
                              <m:r>
                                <a:rPr lang="en-US" altLang="zh-CN" b="1" i="1">
                                  <a:latin typeface="Cambria Math" panose="02040503050406030204" pitchFamily="18" charset="0"/>
                                </a:rPr>
                                <m:t>𝒚</m:t>
                              </m:r>
                            </m:e>
                            <m:sub>
                              <m:r>
                                <a:rPr lang="en-US" altLang="zh-CN" b="1" i="1">
                                  <a:latin typeface="Cambria Math" panose="02040503050406030204" pitchFamily="18" charset="0"/>
                                </a:rPr>
                                <m:t>𝒊</m:t>
                              </m:r>
                            </m:sub>
                          </m:sSub>
                          <m:sSub>
                            <m:sSubPr>
                              <m:ctrlPr>
                                <a:rPr lang="zh-CN"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𝒊</m:t>
                              </m:r>
                            </m:sub>
                          </m:sSub>
                        </m:e>
                      </m:nary>
                    </m:oMath>
                  </m:oMathPara>
                </a14:m>
                <a:endParaRPr lang="zh-CN" altLang="zh-CN" dirty="0"/>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𝑏</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r>
                        <a:rPr lang="en-US" altLang="zh-CN" i="1">
                          <a:latin typeface="Cambria Math" panose="02040503050406030204" pitchFamily="18" charset="0"/>
                        </a:rPr>
                        <m:t>⋅</m:t>
                      </m:r>
                      <m:nary>
                        <m:naryPr>
                          <m:chr m:val="∑"/>
                          <m:grow m:val="on"/>
                          <m:limLoc m:val="undOvr"/>
                          <m:ctrlPr>
                            <a:rPr lang="zh-CN" altLang="zh-CN" b="1" i="1">
                              <a:latin typeface="Cambria Math" panose="02040503050406030204" pitchFamily="18" charset="0"/>
                            </a:rPr>
                          </m:ctrlPr>
                        </m:naryPr>
                        <m:sub>
                          <m:r>
                            <a:rPr lang="en-US" altLang="zh-CN" b="1" i="1">
                              <a:latin typeface="Cambria Math" panose="02040503050406030204" pitchFamily="18" charset="0"/>
                            </a:rPr>
                            <m:t>𝒊</m:t>
                          </m:r>
                          <m:r>
                            <a:rPr lang="en-US" altLang="zh-CN" b="1" i="1">
                              <a:latin typeface="Cambria Math" panose="02040503050406030204" pitchFamily="18" charset="0"/>
                            </a:rPr>
                            <m:t>=</m:t>
                          </m:r>
                          <m:r>
                            <a:rPr lang="en-US" altLang="zh-CN" b="1" i="1">
                              <a:latin typeface="Cambria Math" panose="02040503050406030204" pitchFamily="18" charset="0"/>
                            </a:rPr>
                            <m:t>𝟏</m:t>
                          </m:r>
                        </m:sub>
                        <m:sup>
                          <m:r>
                            <a:rPr lang="en-US" altLang="zh-CN" b="1" i="1">
                              <a:latin typeface="Cambria Math" panose="02040503050406030204" pitchFamily="18" charset="0"/>
                            </a:rPr>
                            <m:t>𝑵</m:t>
                          </m:r>
                        </m:sup>
                        <m:e>
                          <m:sSub>
                            <m:sSubPr>
                              <m:ctrlPr>
                                <a:rPr lang="zh-CN" altLang="zh-CN" b="1" i="1">
                                  <a:latin typeface="Cambria Math" panose="02040503050406030204" pitchFamily="18" charset="0"/>
                                </a:rPr>
                              </m:ctrlPr>
                            </m:sSubPr>
                            <m:e>
                              <m:r>
                                <a:rPr lang="en-US" altLang="zh-CN" b="1" i="1">
                                  <a:latin typeface="Cambria Math" panose="02040503050406030204" pitchFamily="18" charset="0"/>
                                </a:rPr>
                                <m:t>𝒂</m:t>
                              </m:r>
                            </m:e>
                            <m:sub>
                              <m:r>
                                <a:rPr lang="en-US" altLang="zh-CN" b="1" i="1">
                                  <a:latin typeface="Cambria Math" panose="02040503050406030204" pitchFamily="18" charset="0"/>
                                </a:rPr>
                                <m:t>𝒊</m:t>
                              </m:r>
                            </m:sub>
                          </m:sSub>
                          <m:sSub>
                            <m:sSubPr>
                              <m:ctrlPr>
                                <a:rPr lang="zh-CN" altLang="zh-CN" b="1" i="1">
                                  <a:latin typeface="Cambria Math" panose="02040503050406030204" pitchFamily="18" charset="0"/>
                                </a:rPr>
                              </m:ctrlPr>
                            </m:sSubPr>
                            <m:e>
                              <m:r>
                                <a:rPr lang="en-US" altLang="zh-CN" b="1" i="1">
                                  <a:latin typeface="Cambria Math" panose="02040503050406030204" pitchFamily="18" charset="0"/>
                                </a:rPr>
                                <m:t>𝒚</m:t>
                              </m:r>
                            </m:e>
                            <m:sub>
                              <m:r>
                                <a:rPr lang="en-US" altLang="zh-CN" b="1" i="1">
                                  <a:latin typeface="Cambria Math" panose="02040503050406030204" pitchFamily="18" charset="0"/>
                                </a:rPr>
                                <m:t>𝒊</m:t>
                              </m:r>
                            </m:sub>
                          </m:sSub>
                          <m:sSub>
                            <m:sSubPr>
                              <m:ctrlPr>
                                <a:rPr lang="zh-CN"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𝒊</m:t>
                              </m:r>
                            </m:sub>
                          </m:sSub>
                        </m:e>
                      </m:nary>
                    </m:oMath>
                  </m:oMathPara>
                </a14:m>
                <a:endParaRPr lang="zh-CN" altLang="zh-CN" dirty="0"/>
              </a:p>
              <a:p>
                <a:r>
                  <a:rPr lang="zh-CN" altLang="zh-CN" dirty="0"/>
                  <a:t>（</a:t>
                </a:r>
                <a:r>
                  <a:rPr lang="en-US" altLang="zh-CN" dirty="0"/>
                  <a:t>4</a:t>
                </a:r>
                <a:r>
                  <a:rPr lang="zh-CN" altLang="zh-CN" dirty="0"/>
                  <a:t>）得出超平面与决策函数：</a:t>
                </a:r>
                <a:endParaRPr lang="zh-CN" altLang="zh-CN" dirty="0"/>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𝑤</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0</m:t>
                      </m:r>
                    </m:oMath>
                  </m:oMathPara>
                </a14:m>
                <a:endParaRPr lang="zh-CN" altLang="zh-CN" dirty="0"/>
              </a:p>
              <a:p>
                <a:r>
                  <a:rPr lang="zh-CN" altLang="zh-CN" dirty="0"/>
                  <a:t>分类决策函数如下所示：</a:t>
                </a:r>
                <a:endParaRPr lang="zh-CN" altLang="zh-CN" dirty="0"/>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zh-CN"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r>
                        <a:rPr lang="en-US" altLang="zh-CN" i="1">
                          <a:latin typeface="Cambria Math" panose="02040503050406030204" pitchFamily="18" charset="0"/>
                        </a:rPr>
                        <m:t>𝑠𝑖𝑔𝑛</m:t>
                      </m:r>
                      <m:d>
                        <m:dPr>
                          <m:ctrlPr>
                            <a:rPr lang="zh-CN" altLang="zh-CN" i="1">
                              <a:latin typeface="Cambria Math" panose="02040503050406030204" pitchFamily="18" charset="0"/>
                            </a:rPr>
                          </m:ctrlPr>
                        </m:dPr>
                        <m:e>
                          <m:r>
                            <a:rPr lang="en-US" altLang="zh-CN" i="1">
                              <a:latin typeface="Cambria Math" panose="02040503050406030204" pitchFamily="18" charset="0"/>
                            </a:rPr>
                            <m:t>𝑤</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𝑏</m:t>
                          </m:r>
                        </m:e>
                      </m:d>
                    </m:oMath>
                  </m:oMathPara>
                </a14:m>
                <a:endParaRPr lang="zh-CN" altLang="zh-CN" dirty="0"/>
              </a:p>
            </p:txBody>
          </p:sp>
        </mc:Choice>
        <mc:Fallback>
          <p:sp>
            <p:nvSpPr>
              <p:cNvPr id="3" name="文本框 2"/>
              <p:cNvSpPr txBox="1">
                <a:spLocks noRot="1" noChangeAspect="1" noMove="1" noResize="1" noEditPoints="1" noAdjustHandles="1" noChangeArrowheads="1" noChangeShapeType="1" noTextEdit="1"/>
              </p:cNvSpPr>
              <p:nvPr/>
            </p:nvSpPr>
            <p:spPr>
              <a:xfrm>
                <a:off x="1062639" y="1136661"/>
                <a:ext cx="10378955" cy="4973320"/>
              </a:xfrm>
              <a:prstGeom prst="rect">
                <a:avLst/>
              </a:prstGeom>
              <a:blipFill rotWithShape="1">
                <a:blip r:embed="rId1"/>
                <a:stretch>
                  <a:fillRect l="-3" r="2"/>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内容占位符 3"/>
          <p:cNvSpPr>
            <a:spLocks noGrp="1"/>
          </p:cNvSpPr>
          <p:nvPr/>
        </p:nvSpPr>
        <p:spPr>
          <a:xfrm>
            <a:off x="941664" y="980729"/>
            <a:ext cx="10677682" cy="2139701"/>
          </a:xfrm>
          <a:prstGeom prst="rect">
            <a:avLst/>
          </a:prstGeom>
        </p:spPr>
        <p:txBody>
          <a:bodyPr vert="horz" lIns="91440" tIns="45720" rIns="91440" bIns="45720" rtlCol="0" anchor="ctr">
            <a:no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342900" indent="-342900" algn="just">
              <a:lnSpc>
                <a:spcPct val="150000"/>
              </a:lnSpc>
              <a:buFont typeface="Wingdings" panose="05000000000000000000" charset="0"/>
              <a:buChar char="n"/>
            </a:pPr>
            <a:r>
              <a:rPr lang="zh-CN" altLang="en-US" dirty="0">
                <a:sym typeface="+mn-ea"/>
              </a:rPr>
              <a:t>支持向量机是一种可构造唯一决策面的线性分类器，所构造的决策面能够将其到与其最近的训练实例（支持向量）的距离最大化。复杂性参数</a:t>
            </a:r>
            <a:r>
              <a:rPr lang="zh-CN" altLang="en-US" dirty="0">
                <a:latin typeface="Cambria" panose="02040503050406030204" pitchFamily="18" charset="0"/>
                <a:sym typeface="+mn-ea"/>
              </a:rPr>
              <a:t>C</a:t>
            </a:r>
            <a:r>
              <a:rPr lang="zh-CN" altLang="en-US" dirty="0">
                <a:sym typeface="+mn-ea"/>
              </a:rPr>
              <a:t>可用于调整</a:t>
            </a:r>
            <a:r>
              <a:rPr lang="zh-CN" altLang="en-US" dirty="0" smtClean="0">
                <a:sym typeface="+mn-ea"/>
              </a:rPr>
              <a:t>容许间隔</a:t>
            </a:r>
            <a:r>
              <a:rPr lang="zh-CN" altLang="en-US" dirty="0">
                <a:sym typeface="+mn-ea"/>
              </a:rPr>
              <a:t>错误的总数和严重程度。</a:t>
            </a:r>
            <a:endParaRPr lang="zh-CN" altLang="en-US" dirty="0">
              <a:sym typeface="+mn-ea"/>
            </a:endParaRPr>
          </a:p>
          <a:p>
            <a:pPr marL="342900" indent="-342900" algn="just">
              <a:buFont typeface="Wingdings" panose="05000000000000000000" charset="0"/>
              <a:buChar char="n"/>
            </a:pPr>
            <a:r>
              <a:rPr lang="zh-CN" altLang="en-US" dirty="0">
                <a:sym typeface="+mn-ea"/>
              </a:rPr>
              <a:t>sklea</a:t>
            </a:r>
            <a:r>
              <a:rPr lang="en-US" altLang="zh-CN" dirty="0">
                <a:sym typeface="+mn-ea"/>
              </a:rPr>
              <a:t>r</a:t>
            </a:r>
            <a:r>
              <a:rPr lang="zh-CN" altLang="en-US" dirty="0">
                <a:sym typeface="+mn-ea"/>
              </a:rPr>
              <a:t>n提供了线性分类支持向量机（</a:t>
            </a:r>
            <a:r>
              <a:rPr lang="zh-CN" altLang="en-US" dirty="0">
                <a:latin typeface="Cambria" panose="02040503050406030204" pitchFamily="18" charset="0"/>
                <a:sym typeface="+mn-ea"/>
              </a:rPr>
              <a:t>LinearSVC</a:t>
            </a:r>
            <a:r>
              <a:rPr lang="zh-CN" altLang="en-US" dirty="0">
                <a:sym typeface="+mn-ea"/>
              </a:rPr>
              <a:t>）的实现，其函数原型为：</a:t>
            </a:r>
            <a:endParaRPr lang="zh-CN" altLang="en-US" dirty="0"/>
          </a:p>
        </p:txBody>
      </p:sp>
      <p:sp>
        <p:nvSpPr>
          <p:cNvPr id="20" name="矩形 19"/>
          <p:cNvSpPr/>
          <p:nvPr/>
        </p:nvSpPr>
        <p:spPr>
          <a:xfrm>
            <a:off x="1534364" y="3243866"/>
            <a:ext cx="7986299" cy="1296000"/>
          </a:xfrm>
          <a:prstGeom prst="rect">
            <a:avLst/>
          </a:prstGeom>
          <a:solidFill>
            <a:schemeClr val="accent2">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l"/>
            <a:r>
              <a:rPr lang="zh-CN" altLang="en-US" dirty="0">
                <a:solidFill>
                  <a:schemeClr val="tx1"/>
                </a:solidFill>
                <a:latin typeface="Cambria" panose="02040503050406030204" pitchFamily="18" charset="0"/>
              </a:rPr>
              <a:t>class sklearn.svm.LinearSVC(penalty=’l2’, loss=’squared_hinge’, dual=True, tol=0.0001, C=1.0, multi_class=’ovr’, fit_intercept=True, intercept_scaling=1, class_weight=None, verbose=0, random_state=None, max_iter=1000)</a:t>
            </a:r>
            <a:endParaRPr lang="zh-CN" altLang="en-US" dirty="0">
              <a:solidFill>
                <a:schemeClr val="tx1"/>
              </a:solidFill>
              <a:latin typeface="Cambria" panose="02040503050406030204" pitchFamily="18" charset="0"/>
            </a:endParaRPr>
          </a:p>
        </p:txBody>
      </p:sp>
      <p:sp>
        <p:nvSpPr>
          <p:cNvPr id="3" name="标题 2"/>
          <p:cNvSpPr>
            <a:spLocks noGrp="1"/>
          </p:cNvSpPr>
          <p:nvPr>
            <p:ph type="title"/>
          </p:nvPr>
        </p:nvSpPr>
        <p:spPr>
          <a:xfrm>
            <a:off x="941663" y="318655"/>
            <a:ext cx="10272890" cy="980728"/>
          </a:xfrm>
        </p:spPr>
        <p:txBody>
          <a:bodyPr/>
          <a:lstStyle/>
          <a:p>
            <a:r>
              <a:rPr lang="en-US" altLang="zh-CN" dirty="0" err="1" smtClean="0">
                <a:sym typeface="+mn-ea"/>
              </a:rPr>
              <a:t>线性支持向量机</a:t>
            </a:r>
            <a:endParaRPr lang="zh-CN" altLang="en-US" dirty="0"/>
          </a:p>
        </p:txBody>
      </p:sp>
      <p:sp>
        <p:nvSpPr>
          <p:cNvPr id="5" name="矩形 4"/>
          <p:cNvSpPr/>
          <p:nvPr/>
        </p:nvSpPr>
        <p:spPr>
          <a:xfrm>
            <a:off x="1534364" y="4686586"/>
            <a:ext cx="8411389" cy="1338828"/>
          </a:xfrm>
          <a:prstGeom prst="rect">
            <a:avLst/>
          </a:prstGeom>
        </p:spPr>
        <p:txBody>
          <a:bodyPr wrap="square">
            <a:spAutoFit/>
          </a:bodyPr>
          <a:lstStyle/>
          <a:p>
            <a:pPr marL="285750" indent="-285750">
              <a:lnSpc>
                <a:spcPct val="150000"/>
              </a:lnSpc>
              <a:buClr>
                <a:srgbClr val="83AA67"/>
              </a:buClr>
              <a:buFont typeface="Arial" panose="020B0604020202020204" pitchFamily="34" charset="0"/>
              <a:buChar char="•"/>
            </a:pPr>
            <a:r>
              <a:rPr lang="zh-CN" altLang="en-US" dirty="0">
                <a:latin typeface="Cambria" panose="02040503050406030204" pitchFamily="18" charset="0"/>
              </a:rPr>
              <a:t>penalty</a:t>
            </a:r>
            <a:r>
              <a:rPr lang="zh-CN" altLang="en-US" dirty="0" smtClean="0">
                <a:latin typeface="Cambria" panose="02040503050406030204" pitchFamily="18" charset="0"/>
              </a:rPr>
              <a:t>：字符串</a:t>
            </a:r>
            <a:r>
              <a:rPr lang="zh-CN" altLang="en-US" dirty="0">
                <a:latin typeface="Cambria" panose="02040503050406030204" pitchFamily="18" charset="0"/>
              </a:rPr>
              <a:t>，默认参数值为“l2”</a:t>
            </a:r>
            <a:r>
              <a:rPr lang="zh-CN" altLang="en-US" dirty="0" smtClean="0">
                <a:latin typeface="Cambria" panose="02040503050406030204" pitchFamily="18" charset="0"/>
              </a:rPr>
              <a:t>。惩罚类型，指定</a:t>
            </a:r>
            <a:r>
              <a:rPr lang="zh-CN" altLang="en-US" dirty="0">
                <a:latin typeface="Cambria" panose="02040503050406030204" pitchFamily="18" charset="0"/>
              </a:rPr>
              <a:t>“l1”或“l2”</a:t>
            </a:r>
            <a:endParaRPr lang="zh-CN" altLang="en-US" dirty="0">
              <a:latin typeface="Cambria" panose="02040503050406030204" pitchFamily="18" charset="0"/>
            </a:endParaRPr>
          </a:p>
          <a:p>
            <a:pPr marL="285750" indent="-285750">
              <a:lnSpc>
                <a:spcPct val="150000"/>
              </a:lnSpc>
              <a:buClr>
                <a:srgbClr val="83AA67"/>
              </a:buClr>
              <a:buFont typeface="Arial" panose="020B0604020202020204" pitchFamily="34" charset="0"/>
              <a:buChar char="•"/>
            </a:pPr>
            <a:r>
              <a:rPr lang="zh-CN" altLang="en-US" dirty="0">
                <a:latin typeface="Cambria" panose="02040503050406030204" pitchFamily="18" charset="0"/>
              </a:rPr>
              <a:t>loss：字符串，可选“hinge”或“squared hinge”，默认参数值为</a:t>
            </a:r>
            <a:r>
              <a:rPr lang="zh-CN" altLang="en-US" dirty="0" smtClean="0">
                <a:latin typeface="Cambria" panose="02040503050406030204" pitchFamily="18" charset="0"/>
              </a:rPr>
              <a:t>“squared hinge”</a:t>
            </a:r>
            <a:r>
              <a:rPr lang="zh-CN" altLang="en-US" dirty="0">
                <a:latin typeface="Cambria" panose="02040503050406030204" pitchFamily="18" charset="0"/>
              </a:rPr>
              <a:t>，</a:t>
            </a:r>
            <a:r>
              <a:rPr lang="zh-CN" altLang="en-US" dirty="0" smtClean="0">
                <a:latin typeface="Cambria" panose="02040503050406030204" pitchFamily="18" charset="0"/>
              </a:rPr>
              <a:t>损失函数</a:t>
            </a:r>
            <a:r>
              <a:rPr lang="zh-CN" altLang="en-US" dirty="0">
                <a:latin typeface="Cambria" panose="02040503050406030204" pitchFamily="18" charset="0"/>
              </a:rPr>
              <a:t>。</a:t>
            </a:r>
            <a:endParaRPr lang="zh-CN" altLang="en-US"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73626" y="881628"/>
            <a:ext cx="8174990" cy="400110"/>
          </a:xfrm>
          <a:prstGeom prst="rect">
            <a:avLst/>
          </a:prstGeom>
          <a:noFill/>
        </p:spPr>
        <p:txBody>
          <a:bodyPr wrap="square" rtlCol="0" anchor="t">
            <a:spAutoFit/>
          </a:bodyPr>
          <a:lstStyle/>
          <a:p>
            <a:pPr>
              <a:buClr>
                <a:srgbClr val="83AA67"/>
              </a:buClr>
            </a:pPr>
            <a:r>
              <a:rPr lang="en-US" altLang="zh-CN" sz="2000" dirty="0">
                <a:latin typeface="Cambria" panose="02040503050406030204" pitchFamily="18" charset="0"/>
                <a:ea typeface="Cambria" panose="02040503050406030204" pitchFamily="18" charset="0"/>
              </a:rPr>
              <a:t>  </a:t>
            </a:r>
            <a:r>
              <a:rPr lang="zh-CN" altLang="en-US" sz="2000" dirty="0">
                <a:latin typeface="Cambria" panose="02040503050406030204" pitchFamily="18" charset="0"/>
              </a:rPr>
              <a:t>主要参数如下</a:t>
            </a:r>
            <a:r>
              <a:rPr lang="en-US" altLang="zh-CN" sz="2000" dirty="0">
                <a:latin typeface="Cambria" panose="02040503050406030204" pitchFamily="18" charset="0"/>
                <a:ea typeface="Cambria" panose="02040503050406030204" pitchFamily="18" charset="0"/>
              </a:rPr>
              <a:t>:</a:t>
            </a:r>
            <a:endParaRPr lang="en-US" altLang="zh-CN" sz="2000" dirty="0">
              <a:latin typeface="Cambria" panose="02040503050406030204" pitchFamily="18" charset="0"/>
              <a:ea typeface="Cambria" panose="02040503050406030204" pitchFamily="18" charset="0"/>
            </a:endParaRPr>
          </a:p>
        </p:txBody>
      </p:sp>
      <p:sp>
        <p:nvSpPr>
          <p:cNvPr id="7" name="文本框 6"/>
          <p:cNvSpPr txBox="1"/>
          <p:nvPr/>
        </p:nvSpPr>
        <p:spPr>
          <a:xfrm>
            <a:off x="619496" y="1287256"/>
            <a:ext cx="11091553" cy="2585323"/>
          </a:xfrm>
          <a:prstGeom prst="rect">
            <a:avLst/>
          </a:prstGeom>
          <a:noFill/>
        </p:spPr>
        <p:txBody>
          <a:bodyPr wrap="square" rtlCol="0" anchor="t">
            <a:spAutoFit/>
          </a:bodyPr>
          <a:lstStyle/>
          <a:p>
            <a:pPr marL="285750" indent="-285750">
              <a:lnSpc>
                <a:spcPct val="150000"/>
              </a:lnSpc>
              <a:buClr>
                <a:srgbClr val="83AA67"/>
              </a:buClr>
              <a:buFont typeface="Wingdings" panose="05000000000000000000" charset="0"/>
              <a:buChar char="n"/>
            </a:pPr>
            <a:r>
              <a:rPr lang="zh-CN" altLang="en-US" dirty="0">
                <a:latin typeface="Cambria" panose="02040503050406030204" pitchFamily="18" charset="0"/>
              </a:rPr>
              <a:t>C：浮点数。惩罚参数</a:t>
            </a:r>
            <a:r>
              <a:rPr lang="zh-CN" altLang="en-US" dirty="0" smtClean="0">
                <a:latin typeface="Cambria" panose="02040503050406030204" pitchFamily="18" charset="0"/>
              </a:rPr>
              <a:t>。</a:t>
            </a:r>
            <a:r>
              <a:rPr lang="en-US" altLang="zh-CN" dirty="0"/>
              <a:t>C</a:t>
            </a:r>
            <a:r>
              <a:rPr lang="zh-CN" altLang="en-US" dirty="0"/>
              <a:t>参数决定</a:t>
            </a:r>
            <a:r>
              <a:rPr lang="en-US" altLang="zh-CN" dirty="0"/>
              <a:t>SVM</a:t>
            </a:r>
            <a:r>
              <a:rPr lang="zh-CN" altLang="en-US" dirty="0"/>
              <a:t>分类器的边距宽度。</a:t>
            </a:r>
            <a:r>
              <a:rPr lang="en-US" altLang="zh-CN" dirty="0"/>
              <a:t>C</a:t>
            </a:r>
            <a:r>
              <a:rPr lang="zh-CN" altLang="en-US" dirty="0"/>
              <a:t>的值</a:t>
            </a:r>
            <a:r>
              <a:rPr lang="zh-CN" altLang="en-US" dirty="0" smtClean="0"/>
              <a:t>越大</a:t>
            </a:r>
            <a:r>
              <a:rPr lang="zh-CN" altLang="en-US" dirty="0"/>
              <a:t>分类器越严格，因此边距宽度小。对于较大的</a:t>
            </a:r>
            <a:r>
              <a:rPr lang="en-US" altLang="zh-CN" dirty="0"/>
              <a:t>C</a:t>
            </a:r>
            <a:r>
              <a:rPr lang="zh-CN" altLang="en-US" dirty="0"/>
              <a:t>值，如果该超平面更好地将所有训练点归类正确，则该模型将选择较小边距的超平面。相反，</a:t>
            </a:r>
            <a:r>
              <a:rPr lang="en-US" altLang="zh-CN" dirty="0" smtClean="0"/>
              <a:t>C</a:t>
            </a:r>
            <a:r>
              <a:rPr lang="zh-CN" altLang="en-US" dirty="0"/>
              <a:t>值非常</a:t>
            </a:r>
            <a:r>
              <a:rPr lang="zh-CN" altLang="en-US" dirty="0" smtClean="0"/>
              <a:t>小将</a:t>
            </a:r>
            <a:r>
              <a:rPr lang="zh-CN" altLang="en-US" dirty="0"/>
              <a:t>导致模型寻找更大的边距分离超平面，即使这个超平面</a:t>
            </a:r>
            <a:r>
              <a:rPr lang="zh-CN" altLang="en-US" dirty="0" smtClean="0"/>
              <a:t>错误分类</a:t>
            </a:r>
            <a:r>
              <a:rPr lang="zh-CN" altLang="en-US" dirty="0"/>
              <a:t>了</a:t>
            </a:r>
            <a:r>
              <a:rPr lang="zh-CN" altLang="en-US" dirty="0" smtClean="0"/>
              <a:t>更多点</a:t>
            </a:r>
            <a:r>
              <a:rPr lang="zh-CN" altLang="en-US" dirty="0"/>
              <a:t>。</a:t>
            </a:r>
            <a:endParaRPr lang="zh-CN" altLang="en-US" dirty="0">
              <a:latin typeface="Cambria" panose="02040503050406030204" pitchFamily="18" charset="0"/>
            </a:endParaRPr>
          </a:p>
          <a:p>
            <a:pPr marL="285750" indent="-285750">
              <a:lnSpc>
                <a:spcPct val="150000"/>
              </a:lnSpc>
              <a:buClr>
                <a:srgbClr val="83AA67"/>
              </a:buClr>
              <a:buFont typeface="Wingdings" panose="05000000000000000000" charset="0"/>
              <a:buChar char="n"/>
            </a:pPr>
            <a:r>
              <a:rPr lang="zh-CN" altLang="en-US" dirty="0">
                <a:latin typeface="Cambria" panose="02040503050406030204" pitchFamily="18" charset="0"/>
              </a:rPr>
              <a:t>multi_class：字符串。多类分类问题的策略，取值可选“ovr”“crammer_singer”之一，默认参数值为“ovr”。“ovr”采用one-vs-rest分类策略；“crammer_singer”采用多类联合分类策略。</a:t>
            </a:r>
            <a:endParaRPr lang="zh-CN" altLang="en-US" dirty="0">
              <a:latin typeface="Cambria" panose="02040503050406030204" pitchFamily="18" charset="0"/>
            </a:endParaRPr>
          </a:p>
          <a:p>
            <a:pPr marL="285750" indent="-285750">
              <a:lnSpc>
                <a:spcPct val="150000"/>
              </a:lnSpc>
              <a:buClr>
                <a:srgbClr val="83AA67"/>
              </a:buClr>
              <a:buFont typeface="Wingdings" panose="05000000000000000000" charset="0"/>
              <a:buChar char="n"/>
            </a:pPr>
            <a:r>
              <a:rPr lang="en-US" altLang="zh-CN" dirty="0" err="1">
                <a:latin typeface="Cambria" panose="02040503050406030204" pitchFamily="18" charset="0"/>
                <a:ea typeface="Cambria" panose="02040503050406030204" pitchFamily="18" charset="0"/>
              </a:rPr>
              <a:t>fit_intercept</a:t>
            </a:r>
            <a:r>
              <a:rPr lang="zh-CN" altLang="en-US" dirty="0">
                <a:latin typeface="Cambria" panose="02040503050406030204" pitchFamily="18" charset="0"/>
              </a:rPr>
              <a:t>：布尔值。如果为</a:t>
            </a:r>
            <a:r>
              <a:rPr lang="en-US" altLang="zh-CN" dirty="0">
                <a:latin typeface="Cambria" panose="02040503050406030204" pitchFamily="18" charset="0"/>
                <a:ea typeface="Cambria" panose="02040503050406030204" pitchFamily="18" charset="0"/>
              </a:rPr>
              <a:t>True</a:t>
            </a:r>
            <a:r>
              <a:rPr lang="zh-CN" altLang="en-US" dirty="0">
                <a:latin typeface="Cambria" panose="02040503050406030204" pitchFamily="18" charset="0"/>
              </a:rPr>
              <a:t>，则计算截距，即决策函数中的常数项；否则忽略截距。</a:t>
            </a:r>
            <a:endParaRPr lang="zh-CN" altLang="en-US" dirty="0">
              <a:latin typeface="Cambria" panose="02040503050406030204" pitchFamily="18" charset="0"/>
            </a:endParaRPr>
          </a:p>
        </p:txBody>
      </p:sp>
      <p:sp>
        <p:nvSpPr>
          <p:cNvPr id="3" name="标题 2"/>
          <p:cNvSpPr>
            <a:spLocks noGrp="1"/>
          </p:cNvSpPr>
          <p:nvPr>
            <p:ph type="title"/>
          </p:nvPr>
        </p:nvSpPr>
        <p:spPr>
          <a:xfrm>
            <a:off x="373626" y="100955"/>
            <a:ext cx="10272890" cy="980728"/>
          </a:xfrm>
        </p:spPr>
        <p:txBody>
          <a:bodyPr/>
          <a:lstStyle/>
          <a:p>
            <a:r>
              <a:rPr lang="en-US" altLang="zh-CN" dirty="0" err="1" smtClean="0">
                <a:latin typeface="+mn-ea"/>
                <a:ea typeface="+mn-ea"/>
                <a:sym typeface="+mn-ea"/>
              </a:rPr>
              <a:t>线性支持向量机</a:t>
            </a:r>
            <a:endParaRPr lang="zh-CN" altLang="en-US" dirty="0">
              <a:latin typeface="+mn-ea"/>
              <a:ea typeface="+mn-ea"/>
            </a:endParaRPr>
          </a:p>
        </p:txBody>
      </p:sp>
      <p:pic>
        <p:nvPicPr>
          <p:cNvPr id="5" name="图片 4"/>
          <p:cNvPicPr>
            <a:picLocks noChangeAspect="1"/>
          </p:cNvPicPr>
          <p:nvPr/>
        </p:nvPicPr>
        <p:blipFill>
          <a:blip r:embed="rId1" cstate="print"/>
          <a:stretch>
            <a:fillRect/>
          </a:stretch>
        </p:blipFill>
        <p:spPr>
          <a:xfrm>
            <a:off x="2953994" y="4003112"/>
            <a:ext cx="3620893" cy="2305888"/>
          </a:xfrm>
          <a:prstGeom prst="rect">
            <a:avLst/>
          </a:prstGeom>
        </p:spPr>
      </p:pic>
      <p:pic>
        <p:nvPicPr>
          <p:cNvPr id="8" name="图片 7"/>
          <p:cNvPicPr>
            <a:picLocks noChangeAspect="1"/>
          </p:cNvPicPr>
          <p:nvPr/>
        </p:nvPicPr>
        <p:blipFill>
          <a:blip r:embed="rId2" cstate="print"/>
          <a:stretch>
            <a:fillRect/>
          </a:stretch>
        </p:blipFill>
        <p:spPr>
          <a:xfrm>
            <a:off x="6922084" y="3872579"/>
            <a:ext cx="3724432" cy="2793324"/>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468313" y="1231900"/>
            <a:ext cx="11723687" cy="4525963"/>
          </a:xfrm>
        </p:spPr>
        <p:txBody>
          <a:bodyPr/>
          <a:lstStyle/>
          <a:p>
            <a:r>
              <a:rPr lang="en-US" altLang="zh-CN" sz="3200" dirty="0" smtClean="0"/>
              <a:t>sklearn </a:t>
            </a:r>
            <a:r>
              <a:rPr lang="zh-CN" altLang="en-US" sz="3200" dirty="0" smtClean="0"/>
              <a:t>的数据集有好多个种类：</a:t>
            </a:r>
            <a:endParaRPr lang="zh-CN" altLang="en-US" sz="3200" dirty="0" smtClean="0"/>
          </a:p>
          <a:p>
            <a:pPr lvl="1">
              <a:lnSpc>
                <a:spcPct val="150000"/>
              </a:lnSpc>
            </a:pPr>
            <a:r>
              <a:rPr lang="zh-CN" altLang="en-US" sz="2800" dirty="0" smtClean="0"/>
              <a:t>自带的小数据集（</a:t>
            </a:r>
            <a:r>
              <a:rPr lang="en-US" altLang="zh-CN" sz="2800" dirty="0" smtClean="0"/>
              <a:t>packaged dataset</a:t>
            </a:r>
            <a:r>
              <a:rPr lang="zh-CN" altLang="en-US" sz="2800" dirty="0" smtClean="0"/>
              <a:t>）：</a:t>
            </a:r>
            <a:r>
              <a:rPr lang="en-US" altLang="zh-CN" sz="2800" dirty="0" smtClean="0"/>
              <a:t>sklearn.datasets.load_</a:t>
            </a:r>
            <a:endParaRPr lang="en-US" altLang="zh-CN" sz="2800" dirty="0" smtClean="0"/>
          </a:p>
          <a:p>
            <a:pPr lvl="1">
              <a:lnSpc>
                <a:spcPct val="150000"/>
              </a:lnSpc>
            </a:pPr>
            <a:r>
              <a:rPr lang="zh-CN" altLang="en-US" sz="2800" dirty="0" smtClean="0"/>
              <a:t>可在线下载的数据集（</a:t>
            </a:r>
            <a:r>
              <a:rPr lang="en-US" altLang="zh-CN" sz="2800" dirty="0" smtClean="0"/>
              <a:t>Downloaded Dataset</a:t>
            </a:r>
            <a:r>
              <a:rPr lang="zh-CN" altLang="en-US" sz="2800" dirty="0" smtClean="0"/>
              <a:t>）：</a:t>
            </a:r>
            <a:r>
              <a:rPr lang="en-US" altLang="zh-CN" sz="2800" dirty="0" smtClean="0"/>
              <a:t>sklearn.datasets.fetch_</a:t>
            </a:r>
            <a:endParaRPr lang="en-US" altLang="zh-CN" sz="2800" dirty="0" smtClean="0"/>
          </a:p>
          <a:p>
            <a:pPr lvl="1">
              <a:lnSpc>
                <a:spcPct val="150000"/>
              </a:lnSpc>
            </a:pPr>
            <a:r>
              <a:rPr lang="zh-CN" altLang="en-US" sz="2800" dirty="0" smtClean="0"/>
              <a:t>计算机生成的数据集（</a:t>
            </a:r>
            <a:r>
              <a:rPr lang="en-US" altLang="zh-CN" sz="2800" dirty="0" smtClean="0"/>
              <a:t>Generated Dataset</a:t>
            </a:r>
            <a:r>
              <a:rPr lang="zh-CN" altLang="en-US" sz="2800" dirty="0" smtClean="0"/>
              <a:t>）：</a:t>
            </a:r>
            <a:r>
              <a:rPr lang="en-US" altLang="zh-CN" sz="2800" dirty="0" smtClean="0"/>
              <a:t>sklearn.datasets.make_</a:t>
            </a:r>
            <a:endParaRPr lang="en-US" altLang="zh-CN" sz="2800" dirty="0" smtClean="0"/>
          </a:p>
          <a:p>
            <a:pPr lvl="1">
              <a:lnSpc>
                <a:spcPct val="150000"/>
              </a:lnSpc>
            </a:pPr>
            <a:r>
              <a:rPr lang="en-US" altLang="zh-CN" sz="2800" dirty="0" smtClean="0"/>
              <a:t>svmlight/libsvm</a:t>
            </a:r>
            <a:r>
              <a:rPr lang="zh-CN" altLang="en-US" sz="2800" dirty="0" smtClean="0"/>
              <a:t>格式的数据集</a:t>
            </a:r>
            <a:r>
              <a:rPr lang="en-US" altLang="zh-CN" sz="2800" dirty="0" smtClean="0"/>
              <a:t>:sklearn.datasets.load_svmlight_file(…)</a:t>
            </a:r>
            <a:endParaRPr lang="en-US" altLang="zh-CN" sz="2800" dirty="0" smtClean="0"/>
          </a:p>
          <a:p>
            <a:pPr lvl="1">
              <a:lnSpc>
                <a:spcPct val="150000"/>
              </a:lnSpc>
            </a:pPr>
            <a:r>
              <a:rPr lang="zh-CN" altLang="en-US" sz="2800" dirty="0" smtClean="0"/>
              <a:t>从买了</a:t>
            </a:r>
            <a:r>
              <a:rPr lang="en-US" altLang="zh-CN" sz="2800" dirty="0" smtClean="0"/>
              <a:t>data.org</a:t>
            </a:r>
            <a:r>
              <a:rPr lang="zh-CN" altLang="en-US" sz="2800" dirty="0" smtClean="0"/>
              <a:t>在线下载获取的数据集</a:t>
            </a:r>
            <a:r>
              <a:rPr lang="en-US" altLang="zh-CN" sz="2800" dirty="0" smtClean="0"/>
              <a:t>:sklearn.datasets.fetch_mldata(…)</a:t>
            </a:r>
            <a:endParaRPr lang="en-US" altLang="zh-CN" sz="2800" dirty="0" smtClean="0"/>
          </a:p>
          <a:p>
            <a:pPr>
              <a:lnSpc>
                <a:spcPct val="150000"/>
              </a:lnSpc>
            </a:pPr>
            <a:endParaRPr lang="zh-CN" altLang="en-US" dirty="0"/>
          </a:p>
        </p:txBody>
      </p:sp>
      <p:sp>
        <p:nvSpPr>
          <p:cNvPr id="4" name="标题 1"/>
          <p:cNvSpPr txBox="1"/>
          <p:nvPr/>
        </p:nvSpPr>
        <p:spPr>
          <a:xfrm>
            <a:off x="1136604" y="291670"/>
            <a:ext cx="4551677" cy="662064"/>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smtClean="0"/>
              <a:t> </a:t>
            </a:r>
            <a:r>
              <a:rPr lang="zh-CN" altLang="en-US" dirty="0">
                <a:solidFill>
                  <a:srgbClr val="0070C0"/>
                </a:solidFill>
              </a:rPr>
              <a:t>有关</a:t>
            </a:r>
            <a:r>
              <a:rPr lang="zh-CN" altLang="en-US" dirty="0" smtClean="0">
                <a:solidFill>
                  <a:srgbClr val="0070C0"/>
                </a:solidFill>
              </a:rPr>
              <a:t>数据集</a:t>
            </a:r>
            <a:endParaRPr lang="zh-CN" altLang="en-US" dirty="0">
              <a:solidFill>
                <a:srgbClr val="0070C0"/>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4702" y="446049"/>
            <a:ext cx="10972800" cy="662064"/>
          </a:xfrm>
        </p:spPr>
        <p:txBody>
          <a:bodyPr/>
          <a:lstStyle/>
          <a:p>
            <a:r>
              <a:rPr lang="en-US" altLang="zh-CN" dirty="0" smtClean="0"/>
              <a:t> </a:t>
            </a:r>
            <a:r>
              <a:rPr lang="zh-CN" altLang="en-US" dirty="0" smtClean="0">
                <a:solidFill>
                  <a:srgbClr val="0070C0"/>
                </a:solidFill>
              </a:rPr>
              <a:t>利用</a:t>
            </a:r>
            <a:r>
              <a:rPr lang="en-US" altLang="zh-CN" dirty="0" smtClean="0">
                <a:solidFill>
                  <a:srgbClr val="0070C0"/>
                </a:solidFill>
              </a:rPr>
              <a:t>Sklearn</a:t>
            </a:r>
            <a:r>
              <a:rPr lang="zh-CN" altLang="en-US" dirty="0" smtClean="0">
                <a:solidFill>
                  <a:srgbClr val="0070C0"/>
                </a:solidFill>
              </a:rPr>
              <a:t>的</a:t>
            </a:r>
            <a:r>
              <a:rPr lang="en-US" altLang="zh-CN" dirty="0" smtClean="0">
                <a:solidFill>
                  <a:srgbClr val="0070C0"/>
                </a:solidFill>
              </a:rPr>
              <a:t>datasets</a:t>
            </a:r>
            <a:r>
              <a:rPr lang="zh-CN" altLang="en-US" dirty="0" smtClean="0">
                <a:solidFill>
                  <a:srgbClr val="0070C0"/>
                </a:solidFill>
              </a:rPr>
              <a:t>模块生成数据集</a:t>
            </a:r>
            <a:endParaRPr lang="zh-CN" altLang="en-US" dirty="0">
              <a:solidFill>
                <a:srgbClr val="0070C0"/>
              </a:solidFill>
            </a:endParaRPr>
          </a:p>
        </p:txBody>
      </p:sp>
      <p:sp>
        <p:nvSpPr>
          <p:cNvPr id="3" name="内容占位符 2"/>
          <p:cNvSpPr>
            <a:spLocks noGrp="1"/>
          </p:cNvSpPr>
          <p:nvPr>
            <p:ph idx="1"/>
          </p:nvPr>
        </p:nvSpPr>
        <p:spPr>
          <a:xfrm>
            <a:off x="453484" y="1538869"/>
            <a:ext cx="10972800" cy="3702204"/>
          </a:xfrm>
        </p:spPr>
        <p:txBody>
          <a:bodyPr/>
          <a:lstStyle/>
          <a:p>
            <a:pPr>
              <a:lnSpc>
                <a:spcPct val="150000"/>
              </a:lnSpc>
            </a:pPr>
            <a:r>
              <a:rPr lang="zh-CN" altLang="en-US" sz="2400" dirty="0" smtClean="0"/>
              <a:t>生成数据集：可以用来分类任务，可以用来回归任务，可以用来聚类任务</a:t>
            </a:r>
            <a:r>
              <a:rPr lang="en-US" altLang="zh-CN" sz="2400" dirty="0" smtClean="0"/>
              <a:t>……</a:t>
            </a:r>
            <a:endParaRPr lang="zh-CN" altLang="en-US" sz="2400" dirty="0" smtClean="0"/>
          </a:p>
          <a:p>
            <a:pPr>
              <a:lnSpc>
                <a:spcPct val="150000"/>
              </a:lnSpc>
            </a:pPr>
            <a:r>
              <a:rPr lang="zh-CN" altLang="en-US" sz="2400" dirty="0" smtClean="0"/>
              <a:t>用于分类任务和聚类任务：这些函数产生样本特征向量矩阵以及对应的类别标签集合</a:t>
            </a:r>
            <a:endParaRPr lang="zh-CN" altLang="en-US" sz="2400" dirty="0" smtClean="0"/>
          </a:p>
          <a:p>
            <a:pPr>
              <a:lnSpc>
                <a:spcPct val="150000"/>
              </a:lnSpc>
            </a:pPr>
            <a:r>
              <a:rPr lang="en-US" altLang="zh-CN" sz="2400" dirty="0" smtClean="0"/>
              <a:t>make_blobs</a:t>
            </a:r>
            <a:r>
              <a:rPr lang="zh-CN" altLang="en-US" sz="2400" dirty="0" smtClean="0"/>
              <a:t>：多类单标签数据集，为每个类分配一个或多个正态分布的点集</a:t>
            </a:r>
            <a:endParaRPr lang="en-US" altLang="zh-CN" sz="2400" dirty="0" smtClean="0"/>
          </a:p>
          <a:p>
            <a:pPr lvl="1">
              <a:lnSpc>
                <a:spcPct val="150000"/>
              </a:lnSpc>
            </a:pPr>
            <a:r>
              <a:rPr lang="en-US" altLang="zh-CN" b="1" dirty="0" smtClean="0">
                <a:solidFill>
                  <a:srgbClr val="009999"/>
                </a:solidFill>
              </a:rPr>
              <a:t>from sklearn.datasets.samples_generator import make_blobs</a:t>
            </a:r>
            <a:endParaRPr lang="en-US" altLang="zh-CN" b="1" dirty="0" smtClean="0">
              <a:solidFill>
                <a:srgbClr val="009999"/>
              </a:solidFill>
            </a:endParaRPr>
          </a:p>
          <a:p>
            <a:endParaRPr lang="zh-CN"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9141" y="667635"/>
            <a:ext cx="4787590" cy="684367"/>
          </a:xfrm>
        </p:spPr>
        <p:txBody>
          <a:bodyPr/>
          <a:lstStyle/>
          <a:p>
            <a:r>
              <a:rPr lang="en-US" altLang="zh-CN" dirty="0" smtClean="0">
                <a:solidFill>
                  <a:srgbClr val="0070C0"/>
                </a:solidFill>
              </a:rPr>
              <a:t>make_blobs</a:t>
            </a:r>
            <a:endParaRPr lang="zh-CN" altLang="en-US" dirty="0">
              <a:solidFill>
                <a:srgbClr val="0070C0"/>
              </a:solidFill>
            </a:endParaRPr>
          </a:p>
        </p:txBody>
      </p:sp>
      <p:sp>
        <p:nvSpPr>
          <p:cNvPr id="3" name="内容占位符 2"/>
          <p:cNvSpPr>
            <a:spLocks noGrp="1"/>
          </p:cNvSpPr>
          <p:nvPr>
            <p:ph idx="1"/>
          </p:nvPr>
        </p:nvSpPr>
        <p:spPr>
          <a:xfrm>
            <a:off x="379141" y="1561173"/>
            <a:ext cx="11574966" cy="4081346"/>
          </a:xfrm>
        </p:spPr>
        <p:txBody>
          <a:bodyPr/>
          <a:lstStyle/>
          <a:p>
            <a:r>
              <a:rPr lang="en-US" altLang="zh-CN" dirty="0" smtClean="0"/>
              <a:t>make_blobs </a:t>
            </a:r>
            <a:r>
              <a:rPr lang="zh-CN" altLang="en-US" dirty="0" smtClean="0"/>
              <a:t>产生多类数据集，对每个类的中心和标准差有很好的控制</a:t>
            </a:r>
            <a:endParaRPr lang="en-US" altLang="zh-CN" dirty="0" smtClean="0"/>
          </a:p>
          <a:p>
            <a:r>
              <a:rPr lang="zh-CN" altLang="en-US" dirty="0" smtClean="0"/>
              <a:t>基本语法：</a:t>
            </a:r>
            <a:endParaRPr lang="en-US" altLang="zh-CN" dirty="0" smtClean="0"/>
          </a:p>
          <a:p>
            <a:pPr lvl="1"/>
            <a:r>
              <a:rPr lang="en-US" altLang="zh-CN" dirty="0" smtClean="0">
                <a:solidFill>
                  <a:srgbClr val="009999"/>
                </a:solidFill>
              </a:rPr>
              <a:t>sklearn.datasets.samples_generator.make_blobs(n_samples=100, n_features=2, centers=3, cluster_std=1.0, center_box=(-10.0, 10.0), shuffle=True, random_state=None)</a:t>
            </a:r>
            <a:endParaRPr lang="en-US" altLang="zh-CN" dirty="0" smtClean="0">
              <a:solidFill>
                <a:srgbClr val="009999"/>
              </a:solidFill>
            </a:endParaRPr>
          </a:p>
          <a:p>
            <a:r>
              <a:rPr lang="zh-CN" altLang="en-US" dirty="0" smtClean="0"/>
              <a:t>返回结果：</a:t>
            </a:r>
            <a:endParaRPr lang="en-US" altLang="zh-CN" dirty="0" smtClean="0"/>
          </a:p>
          <a:p>
            <a:pPr lvl="1"/>
            <a:r>
              <a:rPr lang="en-US" altLang="zh-CN" dirty="0" smtClean="0"/>
              <a:t>X</a:t>
            </a:r>
            <a:r>
              <a:rPr lang="zh-CN" altLang="en-US" dirty="0" smtClean="0"/>
              <a:t>：</a:t>
            </a:r>
            <a:r>
              <a:rPr lang="en-US" altLang="zh-CN" dirty="0" smtClean="0"/>
              <a:t>[n_samples,n_features]</a:t>
            </a:r>
            <a:r>
              <a:rPr lang="zh-CN" altLang="en-US" dirty="0" smtClean="0"/>
              <a:t>大小的特征矩阵 </a:t>
            </a:r>
            <a:endParaRPr lang="en-US" altLang="zh-CN" dirty="0" smtClean="0"/>
          </a:p>
          <a:p>
            <a:pPr lvl="1"/>
            <a:r>
              <a:rPr lang="en-US" altLang="zh-CN" dirty="0" smtClean="0"/>
              <a:t>y: [n_samples]</a:t>
            </a:r>
            <a:r>
              <a:rPr lang="zh-CN" altLang="en-US" dirty="0" smtClean="0"/>
              <a:t>大小的标签数据矩阵，对应特征矩阵的每一行</a:t>
            </a:r>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smtClean="0">
                <a:solidFill>
                  <a:srgbClr val="0070C0"/>
                </a:solidFill>
              </a:rPr>
              <a:t>make_blobs</a:t>
            </a:r>
            <a:r>
              <a:rPr lang="zh-CN" altLang="en-US" dirty="0" smtClean="0">
                <a:solidFill>
                  <a:srgbClr val="0070C0"/>
                </a:solidFill>
              </a:rPr>
              <a:t>参数说明</a:t>
            </a:r>
            <a:endParaRPr lang="zh-CN" altLang="en-US" dirty="0"/>
          </a:p>
        </p:txBody>
      </p:sp>
      <p:graphicFrame>
        <p:nvGraphicFramePr>
          <p:cNvPr id="5" name="表格 4"/>
          <p:cNvGraphicFramePr>
            <a:graphicFrameLocks noGrp="1"/>
          </p:cNvGraphicFramePr>
          <p:nvPr/>
        </p:nvGraphicFramePr>
        <p:xfrm>
          <a:off x="301083" y="1237784"/>
          <a:ext cx="11731085" cy="5051504"/>
        </p:xfrm>
        <a:graphic>
          <a:graphicData uri="http://schemas.openxmlformats.org/drawingml/2006/table">
            <a:tbl>
              <a:tblPr/>
              <a:tblGrid>
                <a:gridCol w="1494263"/>
                <a:gridCol w="2754352"/>
                <a:gridCol w="2787804"/>
                <a:gridCol w="4694666"/>
              </a:tblGrid>
              <a:tr h="283590">
                <a:tc>
                  <a:txBody>
                    <a:bodyPr/>
                    <a:lstStyle/>
                    <a:p>
                      <a:pPr algn="l"/>
                      <a:r>
                        <a:rPr lang="zh-CN" altLang="en-US" sz="1600" b="1" dirty="0">
                          <a:solidFill>
                            <a:srgbClr val="4F4F4F"/>
                          </a:solidFill>
                        </a:rPr>
                        <a:t>参数</a:t>
                      </a:r>
                      <a:endParaRPr lang="zh-CN" altLang="en-US" sz="1600" b="1" dirty="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tc>
                  <a:txBody>
                    <a:bodyPr/>
                    <a:lstStyle/>
                    <a:p>
                      <a:pPr algn="l"/>
                      <a:r>
                        <a:rPr lang="zh-CN" altLang="en-US" sz="1600" b="1">
                          <a:solidFill>
                            <a:srgbClr val="4F4F4F"/>
                          </a:solidFill>
                        </a:rPr>
                        <a:t>类型</a:t>
                      </a:r>
                      <a:endParaRPr lang="zh-CN" altLang="en-US" sz="1600" b="1">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tc>
                  <a:txBody>
                    <a:bodyPr/>
                    <a:lstStyle/>
                    <a:p>
                      <a:pPr algn="l"/>
                      <a:r>
                        <a:rPr lang="zh-CN" altLang="en-US" sz="1600" b="1">
                          <a:solidFill>
                            <a:srgbClr val="4F4F4F"/>
                          </a:solidFill>
                        </a:rPr>
                        <a:t>默认</a:t>
                      </a:r>
                      <a:endParaRPr lang="zh-CN" altLang="en-US" sz="1600" b="1">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tc>
                  <a:txBody>
                    <a:bodyPr/>
                    <a:lstStyle/>
                    <a:p>
                      <a:pPr algn="l"/>
                      <a:r>
                        <a:rPr lang="zh-CN" altLang="en-US" sz="1600" b="1">
                          <a:solidFill>
                            <a:srgbClr val="4F4F4F"/>
                          </a:solidFill>
                        </a:rPr>
                        <a:t>说明</a:t>
                      </a:r>
                      <a:endParaRPr lang="zh-CN" altLang="en-US" sz="1600" b="1">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tr>
              <a:tr h="538558">
                <a:tc>
                  <a:txBody>
                    <a:bodyPr/>
                    <a:lstStyle/>
                    <a:p>
                      <a:pPr algn="l"/>
                      <a:r>
                        <a:rPr lang="en-US" sz="1600" b="0" dirty="0">
                          <a:solidFill>
                            <a:srgbClr val="4F4F4F"/>
                          </a:solidFill>
                        </a:rPr>
                        <a:t>n_samples</a:t>
                      </a:r>
                      <a:endParaRPr lang="en-US" sz="1600" b="0" dirty="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US" sz="1600" b="0">
                          <a:solidFill>
                            <a:srgbClr val="4F4F4F"/>
                          </a:solidFill>
                        </a:rPr>
                        <a:t>int</a:t>
                      </a:r>
                      <a:r>
                        <a:rPr lang="zh-CN" altLang="en-US" sz="1600" b="0">
                          <a:solidFill>
                            <a:srgbClr val="4F4F4F"/>
                          </a:solidFill>
                        </a:rPr>
                        <a:t>类型</a:t>
                      </a:r>
                      <a:endParaRPr lang="zh-CN" alt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600" b="0">
                          <a:solidFill>
                            <a:srgbClr val="4F4F4F"/>
                          </a:solidFill>
                        </a:rPr>
                        <a:t>可选参数 </a:t>
                      </a:r>
                      <a:r>
                        <a:rPr lang="en-US" altLang="zh-CN" sz="1600" b="0">
                          <a:solidFill>
                            <a:srgbClr val="4F4F4F"/>
                          </a:solidFill>
                        </a:rPr>
                        <a:t>(</a:t>
                      </a:r>
                      <a:r>
                        <a:rPr lang="en-US" sz="1600" b="0">
                          <a:solidFill>
                            <a:srgbClr val="4F4F4F"/>
                          </a:solidFill>
                        </a:rPr>
                        <a:t>default=100)</a:t>
                      </a:r>
                      <a:endParaRPr 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600" b="0" dirty="0">
                          <a:solidFill>
                            <a:srgbClr val="4F4F4F"/>
                          </a:solidFill>
                        </a:rPr>
                        <a:t>总的点数，</a:t>
                      </a:r>
                      <a:r>
                        <a:rPr lang="zh-CN" altLang="en-US" sz="1600" b="0" dirty="0" smtClean="0">
                          <a:solidFill>
                            <a:srgbClr val="4F4F4F"/>
                          </a:solidFill>
                        </a:rPr>
                        <a:t>平均分</a:t>
                      </a:r>
                      <a:r>
                        <a:rPr lang="zh-CN" altLang="en-US" sz="1600" b="0" dirty="0">
                          <a:solidFill>
                            <a:srgbClr val="4F4F4F"/>
                          </a:solidFill>
                        </a:rPr>
                        <a:t>到每个</a:t>
                      </a:r>
                      <a:r>
                        <a:rPr lang="en-US" sz="1600" b="0" dirty="0">
                          <a:solidFill>
                            <a:srgbClr val="4F4F4F"/>
                          </a:solidFill>
                        </a:rPr>
                        <a:t>clusters</a:t>
                      </a:r>
                      <a:r>
                        <a:rPr lang="zh-CN" altLang="en-US" sz="1600" b="0" dirty="0">
                          <a:solidFill>
                            <a:srgbClr val="4F4F4F"/>
                          </a:solidFill>
                        </a:rPr>
                        <a:t>中。</a:t>
                      </a:r>
                      <a:endParaRPr lang="zh-CN" altLang="en-US" sz="1600" b="0" dirty="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17698">
                <a:tc>
                  <a:txBody>
                    <a:bodyPr/>
                    <a:lstStyle/>
                    <a:p>
                      <a:pPr algn="l"/>
                      <a:r>
                        <a:rPr lang="en-US" sz="1600" b="0" dirty="0">
                          <a:solidFill>
                            <a:srgbClr val="4F4F4F"/>
                          </a:solidFill>
                        </a:rPr>
                        <a:t>n_features</a:t>
                      </a:r>
                      <a:endParaRPr lang="en-US" sz="1600" b="0" dirty="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en-US" sz="1600" b="0">
                          <a:solidFill>
                            <a:srgbClr val="4F4F4F"/>
                          </a:solidFill>
                        </a:rPr>
                        <a:t>int</a:t>
                      </a:r>
                      <a:r>
                        <a:rPr lang="zh-CN" altLang="en-US" sz="1600" b="0">
                          <a:solidFill>
                            <a:srgbClr val="4F4F4F"/>
                          </a:solidFill>
                        </a:rPr>
                        <a:t>类型</a:t>
                      </a:r>
                      <a:endParaRPr lang="zh-CN" alt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600" b="0">
                          <a:solidFill>
                            <a:srgbClr val="4F4F4F"/>
                          </a:solidFill>
                        </a:rPr>
                        <a:t>可选参数 </a:t>
                      </a:r>
                      <a:r>
                        <a:rPr lang="en-US" altLang="zh-CN" sz="1600" b="0">
                          <a:solidFill>
                            <a:srgbClr val="4F4F4F"/>
                          </a:solidFill>
                        </a:rPr>
                        <a:t>(</a:t>
                      </a:r>
                      <a:r>
                        <a:rPr lang="en-US" sz="1600" b="0">
                          <a:solidFill>
                            <a:srgbClr val="4F4F4F"/>
                          </a:solidFill>
                        </a:rPr>
                        <a:t>default=2)</a:t>
                      </a:r>
                      <a:endParaRPr 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600" b="0">
                          <a:solidFill>
                            <a:srgbClr val="4F4F4F"/>
                          </a:solidFill>
                        </a:rPr>
                        <a:t>每个样本的特征维度。</a:t>
                      </a:r>
                      <a:endParaRPr lang="zh-CN" alt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722079">
                <a:tc>
                  <a:txBody>
                    <a:bodyPr/>
                    <a:lstStyle/>
                    <a:p>
                      <a:pPr algn="l"/>
                      <a:r>
                        <a:rPr lang="en-US" sz="1600" b="0" dirty="0">
                          <a:solidFill>
                            <a:srgbClr val="4F4F4F"/>
                          </a:solidFill>
                        </a:rPr>
                        <a:t>centers</a:t>
                      </a:r>
                      <a:endParaRPr lang="en-US" sz="1600" b="0" dirty="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US" sz="1600" b="0">
                          <a:solidFill>
                            <a:srgbClr val="4F4F4F"/>
                          </a:solidFill>
                        </a:rPr>
                        <a:t>int</a:t>
                      </a:r>
                      <a:r>
                        <a:rPr lang="zh-CN" altLang="en-US" sz="1600" b="0">
                          <a:solidFill>
                            <a:srgbClr val="4F4F4F"/>
                          </a:solidFill>
                        </a:rPr>
                        <a:t>类型 </a:t>
                      </a:r>
                      <a:r>
                        <a:rPr lang="en-US" sz="1600" b="0">
                          <a:solidFill>
                            <a:srgbClr val="4F4F4F"/>
                          </a:solidFill>
                        </a:rPr>
                        <a:t>or </a:t>
                      </a:r>
                      <a:r>
                        <a:rPr lang="zh-CN" altLang="en-US" sz="1600" b="0">
                          <a:solidFill>
                            <a:srgbClr val="4F4F4F"/>
                          </a:solidFill>
                        </a:rPr>
                        <a:t>聚类中心坐标元组构成的数组类型</a:t>
                      </a:r>
                      <a:endParaRPr lang="zh-CN" alt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600" b="0">
                          <a:solidFill>
                            <a:srgbClr val="4F4F4F"/>
                          </a:solidFill>
                        </a:rPr>
                        <a:t>可选参数</a:t>
                      </a:r>
                      <a:r>
                        <a:rPr lang="en-US" altLang="zh-CN" sz="1600" b="0">
                          <a:solidFill>
                            <a:srgbClr val="4F4F4F"/>
                          </a:solidFill>
                        </a:rPr>
                        <a:t>(</a:t>
                      </a:r>
                      <a:r>
                        <a:rPr lang="en-US" sz="1600" b="0">
                          <a:solidFill>
                            <a:srgbClr val="4F4F4F"/>
                          </a:solidFill>
                        </a:rPr>
                        <a:t>default=3)</a:t>
                      </a:r>
                      <a:endParaRPr 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600" b="0">
                          <a:solidFill>
                            <a:srgbClr val="4F4F4F"/>
                          </a:solidFill>
                        </a:rPr>
                        <a:t>产生的中心点的数量</a:t>
                      </a:r>
                      <a:r>
                        <a:rPr lang="en-US" altLang="zh-CN" sz="1600" b="0">
                          <a:solidFill>
                            <a:srgbClr val="4F4F4F"/>
                          </a:solidFill>
                        </a:rPr>
                        <a:t>, </a:t>
                      </a:r>
                      <a:r>
                        <a:rPr lang="en-US" sz="1600" b="0">
                          <a:solidFill>
                            <a:srgbClr val="4F4F4F"/>
                          </a:solidFill>
                        </a:rPr>
                        <a:t>or </a:t>
                      </a:r>
                      <a:r>
                        <a:rPr lang="zh-CN" altLang="en-US" sz="1600" b="0">
                          <a:solidFill>
                            <a:srgbClr val="4F4F4F"/>
                          </a:solidFill>
                        </a:rPr>
                        <a:t>固定中心点位置。</a:t>
                      </a:r>
                      <a:endParaRPr lang="zh-CN" alt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26143">
                <a:tc>
                  <a:txBody>
                    <a:bodyPr/>
                    <a:lstStyle/>
                    <a:p>
                      <a:pPr algn="l"/>
                      <a:r>
                        <a:rPr lang="en-US" sz="1600" b="0" dirty="0">
                          <a:solidFill>
                            <a:srgbClr val="4F4F4F"/>
                          </a:solidFill>
                        </a:rPr>
                        <a:t>cluster_std</a:t>
                      </a:r>
                      <a:endParaRPr lang="en-US" sz="1600" b="0" dirty="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en-US" sz="1600" b="0">
                          <a:solidFill>
                            <a:srgbClr val="4F4F4F"/>
                          </a:solidFill>
                        </a:rPr>
                        <a:t>float or floats</a:t>
                      </a:r>
                      <a:r>
                        <a:rPr lang="zh-CN" altLang="en-US" sz="1600" b="0">
                          <a:solidFill>
                            <a:srgbClr val="4F4F4F"/>
                          </a:solidFill>
                        </a:rPr>
                        <a:t>序列</a:t>
                      </a:r>
                      <a:endParaRPr lang="zh-CN" alt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600" b="0">
                          <a:solidFill>
                            <a:srgbClr val="4F4F4F"/>
                          </a:solidFill>
                        </a:rPr>
                        <a:t>可选参数 </a:t>
                      </a:r>
                      <a:r>
                        <a:rPr lang="en-US" altLang="zh-CN" sz="1600" b="0">
                          <a:solidFill>
                            <a:srgbClr val="4F4F4F"/>
                          </a:solidFill>
                        </a:rPr>
                        <a:t>(</a:t>
                      </a:r>
                      <a:r>
                        <a:rPr lang="en-US" sz="1600" b="0">
                          <a:solidFill>
                            <a:srgbClr val="4F4F4F"/>
                          </a:solidFill>
                        </a:rPr>
                        <a:t>default=1.0)</a:t>
                      </a:r>
                      <a:endParaRPr 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en-US" sz="1600" b="0">
                          <a:solidFill>
                            <a:srgbClr val="4F4F4F"/>
                          </a:solidFill>
                        </a:rPr>
                        <a:t>clusters</a:t>
                      </a:r>
                      <a:r>
                        <a:rPr lang="zh-CN" altLang="en-US" sz="1600" b="0">
                          <a:solidFill>
                            <a:srgbClr val="4F4F4F"/>
                          </a:solidFill>
                        </a:rPr>
                        <a:t>的标准差。</a:t>
                      </a:r>
                      <a:endParaRPr lang="zh-CN" alt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719012">
                <a:tc>
                  <a:txBody>
                    <a:bodyPr/>
                    <a:lstStyle/>
                    <a:p>
                      <a:pPr algn="l"/>
                      <a:r>
                        <a:rPr lang="en-US" sz="1600" b="0" dirty="0">
                          <a:solidFill>
                            <a:srgbClr val="4F4F4F"/>
                          </a:solidFill>
                        </a:rPr>
                        <a:t>center_box</a:t>
                      </a:r>
                      <a:endParaRPr lang="en-US" sz="1600" b="0" dirty="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600" b="0" dirty="0">
                          <a:solidFill>
                            <a:srgbClr val="4F4F4F"/>
                          </a:solidFill>
                        </a:rPr>
                        <a:t>一对</a:t>
                      </a:r>
                      <a:r>
                        <a:rPr lang="en-US" sz="1600" b="0" dirty="0">
                          <a:solidFill>
                            <a:srgbClr val="4F4F4F"/>
                          </a:solidFill>
                        </a:rPr>
                        <a:t>floats (min, max)</a:t>
                      </a:r>
                      <a:endParaRPr lang="en-US" sz="1600" b="0" dirty="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600" b="0">
                          <a:solidFill>
                            <a:srgbClr val="4F4F4F"/>
                          </a:solidFill>
                        </a:rPr>
                        <a:t>可选参数 </a:t>
                      </a:r>
                      <a:r>
                        <a:rPr lang="en-US" altLang="zh-CN" sz="1600" b="0">
                          <a:solidFill>
                            <a:srgbClr val="4F4F4F"/>
                          </a:solidFill>
                        </a:rPr>
                        <a:t>(</a:t>
                      </a:r>
                      <a:r>
                        <a:rPr lang="en-US" sz="1600" b="0">
                          <a:solidFill>
                            <a:srgbClr val="4F4F4F"/>
                          </a:solidFill>
                        </a:rPr>
                        <a:t>default=(-10.0, 10.0))</a:t>
                      </a:r>
                      <a:endParaRPr 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600" b="0">
                          <a:solidFill>
                            <a:srgbClr val="4F4F4F"/>
                          </a:solidFill>
                        </a:rPr>
                        <a:t>随机产生数据的时候，每个</a:t>
                      </a:r>
                      <a:r>
                        <a:rPr lang="en-US" sz="1600" b="0">
                          <a:solidFill>
                            <a:srgbClr val="4F4F4F"/>
                          </a:solidFill>
                        </a:rPr>
                        <a:t>cluster</a:t>
                      </a:r>
                      <a:r>
                        <a:rPr lang="zh-CN" altLang="en-US" sz="1600" b="0">
                          <a:solidFill>
                            <a:srgbClr val="4F4F4F"/>
                          </a:solidFill>
                        </a:rPr>
                        <a:t>中心的边界。</a:t>
                      </a:r>
                      <a:endParaRPr lang="zh-CN" alt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87855">
                <a:tc>
                  <a:txBody>
                    <a:bodyPr/>
                    <a:lstStyle/>
                    <a:p>
                      <a:pPr algn="l"/>
                      <a:r>
                        <a:rPr lang="en-US" sz="1600" b="0">
                          <a:solidFill>
                            <a:srgbClr val="4F4F4F"/>
                          </a:solidFill>
                        </a:rPr>
                        <a:t>shuffle</a:t>
                      </a:r>
                      <a:endParaRPr 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en-US" sz="1600" b="0" dirty="0">
                          <a:solidFill>
                            <a:srgbClr val="4F4F4F"/>
                          </a:solidFill>
                        </a:rPr>
                        <a:t>boolean</a:t>
                      </a:r>
                      <a:endParaRPr lang="en-US" sz="1600" b="0" dirty="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600" b="0">
                          <a:solidFill>
                            <a:srgbClr val="4F4F4F"/>
                          </a:solidFill>
                        </a:rPr>
                        <a:t>可选参数 </a:t>
                      </a:r>
                      <a:r>
                        <a:rPr lang="en-US" altLang="zh-CN" sz="1600" b="0">
                          <a:solidFill>
                            <a:srgbClr val="4F4F4F"/>
                          </a:solidFill>
                        </a:rPr>
                        <a:t>(</a:t>
                      </a:r>
                      <a:r>
                        <a:rPr lang="en-US" sz="1600" b="0">
                          <a:solidFill>
                            <a:srgbClr val="4F4F4F"/>
                          </a:solidFill>
                        </a:rPr>
                        <a:t>default=True)</a:t>
                      </a:r>
                      <a:endParaRPr 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600" b="0">
                          <a:solidFill>
                            <a:srgbClr val="4F4F4F"/>
                          </a:solidFill>
                        </a:rPr>
                        <a:t>打乱样本。</a:t>
                      </a:r>
                      <a:endParaRPr lang="zh-CN" alt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1208921">
                <a:tc>
                  <a:txBody>
                    <a:bodyPr/>
                    <a:lstStyle/>
                    <a:p>
                      <a:pPr algn="l"/>
                      <a:r>
                        <a:rPr lang="en-US" sz="1600" b="0">
                          <a:solidFill>
                            <a:srgbClr val="4F4F4F"/>
                          </a:solidFill>
                        </a:rPr>
                        <a:t>random_state</a:t>
                      </a:r>
                      <a:endParaRPr lang="en-US" sz="1600" b="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US" sz="1600" b="0" dirty="0">
                          <a:solidFill>
                            <a:srgbClr val="4F4F4F"/>
                          </a:solidFill>
                        </a:rPr>
                        <a:t>int, RandomState</a:t>
                      </a:r>
                      <a:r>
                        <a:rPr lang="zh-CN" altLang="en-US" sz="1600" b="0" dirty="0">
                          <a:solidFill>
                            <a:srgbClr val="4F4F4F"/>
                          </a:solidFill>
                        </a:rPr>
                        <a:t>对象 </a:t>
                      </a:r>
                      <a:r>
                        <a:rPr lang="en-US" sz="1600" b="0" dirty="0">
                          <a:solidFill>
                            <a:srgbClr val="4F4F4F"/>
                          </a:solidFill>
                        </a:rPr>
                        <a:t>or None</a:t>
                      </a:r>
                      <a:endParaRPr lang="en-US" sz="1600" b="0" dirty="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600" b="0" dirty="0">
                          <a:solidFill>
                            <a:srgbClr val="4F4F4F"/>
                          </a:solidFill>
                        </a:rPr>
                        <a:t>可选参数 </a:t>
                      </a:r>
                      <a:r>
                        <a:rPr lang="en-US" altLang="zh-CN" sz="1600" b="0" dirty="0">
                          <a:solidFill>
                            <a:srgbClr val="4F4F4F"/>
                          </a:solidFill>
                        </a:rPr>
                        <a:t>(</a:t>
                      </a:r>
                      <a:r>
                        <a:rPr lang="en-US" sz="1600" b="0" dirty="0">
                          <a:solidFill>
                            <a:srgbClr val="4F4F4F"/>
                          </a:solidFill>
                        </a:rPr>
                        <a:t>default=None)</a:t>
                      </a:r>
                      <a:endParaRPr lang="en-US" sz="1600" b="0" dirty="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600" b="0" dirty="0">
                          <a:solidFill>
                            <a:srgbClr val="4F4F4F"/>
                          </a:solidFill>
                        </a:rPr>
                        <a:t>如果是</a:t>
                      </a:r>
                      <a:r>
                        <a:rPr lang="en-US" sz="1600" b="0" dirty="0">
                          <a:solidFill>
                            <a:srgbClr val="4F4F4F"/>
                          </a:solidFill>
                        </a:rPr>
                        <a:t>int,random_state</a:t>
                      </a:r>
                      <a:r>
                        <a:rPr lang="zh-CN" altLang="en-US" sz="1600" b="0" dirty="0">
                          <a:solidFill>
                            <a:srgbClr val="4F4F4F"/>
                          </a:solidFill>
                        </a:rPr>
                        <a:t>作为随机数产生器的</a:t>
                      </a:r>
                      <a:r>
                        <a:rPr lang="en-US" sz="1600" b="0" dirty="0">
                          <a:solidFill>
                            <a:srgbClr val="4F4F4F"/>
                          </a:solidFill>
                        </a:rPr>
                        <a:t>seed; </a:t>
                      </a:r>
                      <a:r>
                        <a:rPr lang="zh-CN" altLang="en-US" sz="1600" b="0" dirty="0">
                          <a:solidFill>
                            <a:srgbClr val="4F4F4F"/>
                          </a:solidFill>
                        </a:rPr>
                        <a:t>如果是</a:t>
                      </a:r>
                      <a:r>
                        <a:rPr lang="en-US" sz="1600" b="0" dirty="0">
                          <a:solidFill>
                            <a:srgbClr val="4F4F4F"/>
                          </a:solidFill>
                        </a:rPr>
                        <a:t>RandomState</a:t>
                      </a:r>
                      <a:r>
                        <a:rPr lang="zh-CN" altLang="en-US" sz="1600" b="0" dirty="0">
                          <a:solidFill>
                            <a:srgbClr val="4F4F4F"/>
                          </a:solidFill>
                        </a:rPr>
                        <a:t>对象</a:t>
                      </a:r>
                      <a:r>
                        <a:rPr lang="en-US" altLang="zh-CN" sz="1600" b="0" dirty="0">
                          <a:solidFill>
                            <a:srgbClr val="4F4F4F"/>
                          </a:solidFill>
                        </a:rPr>
                        <a:t>, </a:t>
                      </a:r>
                      <a:r>
                        <a:rPr lang="en-US" sz="1600" b="0" dirty="0">
                          <a:solidFill>
                            <a:srgbClr val="4F4F4F"/>
                          </a:solidFill>
                        </a:rPr>
                        <a:t>random_state</a:t>
                      </a:r>
                      <a:r>
                        <a:rPr lang="zh-CN" altLang="en-US" sz="1600" b="0" dirty="0">
                          <a:solidFill>
                            <a:srgbClr val="4F4F4F"/>
                          </a:solidFill>
                        </a:rPr>
                        <a:t>是随机数产生器</a:t>
                      </a:r>
                      <a:r>
                        <a:rPr lang="en-US" altLang="zh-CN" sz="1600" b="0" dirty="0">
                          <a:solidFill>
                            <a:srgbClr val="4F4F4F"/>
                          </a:solidFill>
                        </a:rPr>
                        <a:t>; </a:t>
                      </a:r>
                      <a:r>
                        <a:rPr lang="zh-CN" altLang="en-US" sz="1600" b="0" dirty="0">
                          <a:solidFill>
                            <a:srgbClr val="4F4F4F"/>
                          </a:solidFill>
                        </a:rPr>
                        <a:t>如果是</a:t>
                      </a:r>
                      <a:r>
                        <a:rPr lang="en-US" sz="1600" b="0" dirty="0">
                          <a:solidFill>
                            <a:srgbClr val="4F4F4F"/>
                          </a:solidFill>
                        </a:rPr>
                        <a:t>None, RandomState </a:t>
                      </a:r>
                      <a:r>
                        <a:rPr lang="zh-CN" altLang="en-US" sz="1600" b="0" dirty="0">
                          <a:solidFill>
                            <a:srgbClr val="4F4F4F"/>
                          </a:solidFill>
                        </a:rPr>
                        <a:t>对象是随机数产生器通过</a:t>
                      </a:r>
                      <a:r>
                        <a:rPr lang="en-US" sz="1600" b="0" dirty="0" smtClean="0">
                          <a:solidFill>
                            <a:srgbClr val="4F4F4F"/>
                          </a:solidFill>
                        </a:rPr>
                        <a:t>np.random</a:t>
                      </a:r>
                      <a:r>
                        <a:rPr lang="en-US" sz="1600" b="0" dirty="0">
                          <a:solidFill>
                            <a:srgbClr val="4F4F4F"/>
                          </a:solidFill>
                        </a:rPr>
                        <a:t>.</a:t>
                      </a:r>
                      <a:endParaRPr lang="en-US" sz="1600" b="0" dirty="0">
                        <a:solidFill>
                          <a:srgbClr val="4F4F4F"/>
                        </a:solidFill>
                      </a:endParaRPr>
                    </a:p>
                  </a:txBody>
                  <a:tcPr marL="43699" marR="43699" marT="43699" marB="43699"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其他生成数据集的方法</a:t>
            </a:r>
            <a:endParaRPr lang="zh-CN" altLang="en-US" dirty="0"/>
          </a:p>
        </p:txBody>
      </p:sp>
      <p:sp>
        <p:nvSpPr>
          <p:cNvPr id="4" name="矩形 3"/>
          <p:cNvSpPr/>
          <p:nvPr/>
        </p:nvSpPr>
        <p:spPr>
          <a:xfrm>
            <a:off x="961901" y="1128156"/>
            <a:ext cx="10307782" cy="4678204"/>
          </a:xfrm>
          <a:prstGeom prst="rect">
            <a:avLst/>
          </a:prstGeom>
        </p:spPr>
        <p:txBody>
          <a:bodyPr wrap="square">
            <a:spAutoFit/>
          </a:bodyPr>
          <a:lstStyle/>
          <a:p>
            <a:pPr marL="457200" indent="-457200">
              <a:buFont typeface="Wingdings" panose="05000000000000000000" pitchFamily="2" charset="2"/>
              <a:buChar char="l"/>
            </a:pPr>
            <a:r>
              <a:rPr lang="en-US" altLang="zh-CN" sz="2800" dirty="0" err="1"/>
              <a:t>make_classification</a:t>
            </a:r>
            <a:r>
              <a:rPr lang="zh-CN" altLang="en-US" sz="2800" dirty="0"/>
              <a:t>：多类单标签数据集，为每个类分配一个或多个正态分布的点集，提供了为数据添加噪声的方式，包括维度相关性，无效特征以及冗余特征等</a:t>
            </a:r>
            <a:endParaRPr lang="zh-CN" altLang="en-US" sz="2800" dirty="0"/>
          </a:p>
          <a:p>
            <a:pPr marL="457200" indent="-457200">
              <a:buFont typeface="Wingdings" panose="05000000000000000000" pitchFamily="2" charset="2"/>
              <a:buChar char="l"/>
            </a:pPr>
            <a:r>
              <a:rPr lang="en-US" altLang="zh-CN" sz="2800" dirty="0" err="1"/>
              <a:t>make_gaussian-quantiles</a:t>
            </a:r>
            <a:r>
              <a:rPr lang="zh-CN" altLang="en-US" sz="2800" dirty="0"/>
              <a:t>：将一个单高斯分布的点集划分为两个数量均等的点集，作为两类</a:t>
            </a:r>
            <a:endParaRPr lang="zh-CN" altLang="en-US" sz="2800" dirty="0"/>
          </a:p>
          <a:p>
            <a:pPr marL="457200" indent="-457200">
              <a:buFont typeface="Wingdings" panose="05000000000000000000" pitchFamily="2" charset="2"/>
              <a:buChar char="l"/>
            </a:pPr>
            <a:r>
              <a:rPr lang="en-US" altLang="zh-CN" sz="2800" dirty="0"/>
              <a:t>make_hastie-10-2</a:t>
            </a:r>
            <a:r>
              <a:rPr lang="zh-CN" altLang="en-US" sz="2800" dirty="0"/>
              <a:t>：产生一个相似的二元分类数据集，有</a:t>
            </a:r>
            <a:r>
              <a:rPr lang="en-US" altLang="zh-CN" sz="2800" dirty="0"/>
              <a:t>10</a:t>
            </a:r>
            <a:r>
              <a:rPr lang="zh-CN" altLang="en-US" sz="2800" dirty="0"/>
              <a:t>个维度</a:t>
            </a:r>
            <a:endParaRPr lang="zh-CN" altLang="en-US" sz="2800" dirty="0"/>
          </a:p>
          <a:p>
            <a:pPr marL="457200" indent="-457200">
              <a:buFont typeface="Wingdings" panose="05000000000000000000" pitchFamily="2" charset="2"/>
              <a:buChar char="l"/>
            </a:pPr>
            <a:r>
              <a:rPr lang="en-US" altLang="zh-CN" sz="2800" dirty="0" err="1" smtClean="0"/>
              <a:t>make_circles</a:t>
            </a:r>
            <a:r>
              <a:rPr lang="zh-CN" altLang="en-US" sz="2800" dirty="0" smtClean="0"/>
              <a:t>和</a:t>
            </a:r>
            <a:r>
              <a:rPr lang="en-US" altLang="zh-CN" sz="2800" dirty="0" err="1"/>
              <a:t>make_moons</a:t>
            </a:r>
            <a:r>
              <a:rPr lang="zh-CN" altLang="en-US" sz="2800" dirty="0"/>
              <a:t>产生二维二元分类数据集来测试某些算法的性能，可以为数据集添加噪声，可以为二元分类器产生一些球形判决界面的数据</a:t>
            </a:r>
            <a:endParaRPr lang="zh-CN" altLang="en-US" sz="2800" dirty="0"/>
          </a:p>
          <a:p>
            <a:pPr marL="285750" indent="-285750">
              <a:buFont typeface="Wingdings" panose="05000000000000000000" pitchFamily="2" charset="2"/>
              <a:buChar char="l"/>
            </a:pP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783286" y="1288681"/>
            <a:ext cx="10826823" cy="1041315"/>
          </a:xfrm>
        </p:spPr>
        <p:txBody>
          <a:bodyPr>
            <a:noAutofit/>
          </a:bodyPr>
          <a:lstStyle/>
          <a:p>
            <a:pPr>
              <a:lnSpc>
                <a:spcPct val="150000"/>
              </a:lnSpc>
            </a:pPr>
            <a:r>
              <a:rPr lang="zh-CN" altLang="en-US" dirty="0">
                <a:latin typeface="Cambria" panose="02040503050406030204" pitchFamily="18" charset="0"/>
                <a:ea typeface="+mn-ea"/>
              </a:rPr>
              <a:t>示例：首先创建可以分离的样本数据集（假定二分类），然后使用sklearn所提供的线性支持向量机（LinearSVC）方法对其进行分类，求取一个支持向量集并绘图，具体代码如下。</a:t>
            </a:r>
            <a:endParaRPr lang="zh-CN" altLang="en-US" dirty="0">
              <a:latin typeface="Cambria" panose="02040503050406030204" pitchFamily="18" charset="0"/>
              <a:ea typeface="+mn-ea"/>
            </a:endParaRPr>
          </a:p>
        </p:txBody>
      </p:sp>
      <p:sp>
        <p:nvSpPr>
          <p:cNvPr id="20" name="矩形 19"/>
          <p:cNvSpPr/>
          <p:nvPr/>
        </p:nvSpPr>
        <p:spPr>
          <a:xfrm>
            <a:off x="2481878" y="2797800"/>
            <a:ext cx="7886700" cy="3312000"/>
          </a:xfrm>
          <a:prstGeom prst="rect">
            <a:avLst/>
          </a:prstGeom>
          <a:solidFill>
            <a:schemeClr val="accent2">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l"/>
            <a:r>
              <a:rPr lang="zh-CN" altLang="en-US" sz="2000" dirty="0">
                <a:solidFill>
                  <a:schemeClr val="tx1"/>
                </a:solidFill>
                <a:latin typeface="Cambria" panose="02040503050406030204" pitchFamily="18" charset="0"/>
              </a:rPr>
              <a:t>import numpy as np</a:t>
            </a:r>
            <a:endParaRPr lang="zh-CN" altLang="en-US" sz="2000" dirty="0">
              <a:solidFill>
                <a:schemeClr val="tx1"/>
              </a:solidFill>
              <a:latin typeface="Cambria" panose="02040503050406030204" pitchFamily="18" charset="0"/>
            </a:endParaRPr>
          </a:p>
          <a:p>
            <a:pPr algn="l"/>
            <a:r>
              <a:rPr lang="zh-CN" altLang="en-US" sz="2000" dirty="0">
                <a:solidFill>
                  <a:schemeClr val="tx1"/>
                </a:solidFill>
                <a:latin typeface="Cambria" panose="02040503050406030204" pitchFamily="18" charset="0"/>
              </a:rPr>
              <a:t>import matplotlib.pyplot as plt</a:t>
            </a:r>
            <a:endParaRPr lang="zh-CN" altLang="en-US" sz="2000" dirty="0">
              <a:solidFill>
                <a:schemeClr val="tx1"/>
              </a:solidFill>
              <a:latin typeface="Cambria" panose="02040503050406030204" pitchFamily="18" charset="0"/>
            </a:endParaRPr>
          </a:p>
          <a:p>
            <a:pPr algn="l"/>
            <a:r>
              <a:rPr lang="zh-CN" altLang="en-US" sz="2000" dirty="0">
                <a:solidFill>
                  <a:schemeClr val="tx1"/>
                </a:solidFill>
                <a:latin typeface="Cambria" panose="02040503050406030204" pitchFamily="18" charset="0"/>
              </a:rPr>
              <a:t>from sklearn.svm import LinearSVC</a:t>
            </a:r>
            <a:endParaRPr lang="zh-CN" altLang="en-US" sz="2000" dirty="0">
              <a:solidFill>
                <a:schemeClr val="tx1"/>
              </a:solidFill>
              <a:latin typeface="Cambria" panose="02040503050406030204" pitchFamily="18" charset="0"/>
            </a:endParaRPr>
          </a:p>
          <a:p>
            <a:pPr algn="l"/>
            <a:r>
              <a:rPr lang="zh-CN" altLang="en-US" sz="2000" dirty="0">
                <a:solidFill>
                  <a:schemeClr val="tx1"/>
                </a:solidFill>
                <a:latin typeface="Cambria" panose="02040503050406030204" pitchFamily="18" charset="0"/>
              </a:rPr>
              <a:t>from sklearn.datasets import make_blobs</a:t>
            </a:r>
            <a:endParaRPr lang="en-US" altLang="zh-CN" sz="2000" dirty="0">
              <a:solidFill>
                <a:schemeClr val="tx1"/>
              </a:solidFill>
              <a:latin typeface="Cambria" panose="02040503050406030204" pitchFamily="18" charset="0"/>
              <a:ea typeface="Cambria" panose="02040503050406030204" pitchFamily="18" charset="0"/>
            </a:endParaRPr>
          </a:p>
          <a:p>
            <a:pPr algn="l"/>
            <a:endParaRPr lang="zh-CN" altLang="en-US" sz="2000" dirty="0">
              <a:solidFill>
                <a:schemeClr val="tx1"/>
              </a:solidFill>
              <a:latin typeface="Cambria" panose="02040503050406030204" pitchFamily="18" charset="0"/>
            </a:endParaRPr>
          </a:p>
          <a:p>
            <a:pPr algn="l"/>
            <a:r>
              <a:rPr lang="zh-CN" altLang="en-US" sz="2000" dirty="0">
                <a:solidFill>
                  <a:schemeClr val="tx1"/>
                </a:solidFill>
                <a:latin typeface="Cambria" panose="02040503050406030204" pitchFamily="18" charset="0"/>
              </a:rPr>
              <a:t># 创建随机分布的，可以分离的400个样本点</a:t>
            </a:r>
            <a:endParaRPr lang="zh-CN" altLang="en-US" sz="2000" dirty="0">
              <a:solidFill>
                <a:schemeClr val="tx1"/>
              </a:solidFill>
              <a:latin typeface="Cambria" panose="02040503050406030204" pitchFamily="18" charset="0"/>
            </a:endParaRPr>
          </a:p>
          <a:p>
            <a:pPr algn="l"/>
            <a:r>
              <a:rPr lang="zh-CN" altLang="en-US" sz="2000" dirty="0">
                <a:solidFill>
                  <a:schemeClr val="tx1"/>
                </a:solidFill>
                <a:latin typeface="Cambria" panose="02040503050406030204" pitchFamily="18" charset="0"/>
              </a:rPr>
              <a:t>X, y = make_blobs(n_samples=400, centers=2, random_state=32)</a:t>
            </a:r>
            <a:endParaRPr lang="zh-CN" altLang="en-US" sz="2000" dirty="0">
              <a:solidFill>
                <a:schemeClr val="tx1"/>
              </a:solidFill>
              <a:latin typeface="Cambria" panose="02040503050406030204" pitchFamily="18" charset="0"/>
            </a:endParaRPr>
          </a:p>
          <a:p>
            <a:pPr algn="l"/>
            <a:r>
              <a:rPr lang="zh-CN" altLang="en-US" sz="2000" dirty="0">
                <a:solidFill>
                  <a:schemeClr val="tx1"/>
                </a:solidFill>
                <a:latin typeface="Cambria" panose="02040503050406030204" pitchFamily="18" charset="0"/>
              </a:rPr>
              <a:t># 创建LinearSVC对象</a:t>
            </a:r>
            <a:endParaRPr lang="zh-CN" altLang="en-US" sz="2000" dirty="0">
              <a:solidFill>
                <a:schemeClr val="tx1"/>
              </a:solidFill>
              <a:latin typeface="Cambria" panose="02040503050406030204" pitchFamily="18" charset="0"/>
            </a:endParaRPr>
          </a:p>
          <a:p>
            <a:pPr algn="l"/>
            <a:r>
              <a:rPr lang="zh-CN" altLang="en-US" sz="2000" dirty="0">
                <a:solidFill>
                  <a:schemeClr val="tx1"/>
                </a:solidFill>
                <a:latin typeface="Cambria" panose="02040503050406030204" pitchFamily="18" charset="0"/>
              </a:rPr>
              <a:t>clf = </a:t>
            </a:r>
            <a:r>
              <a:rPr lang="zh-CN" altLang="en-US" sz="2000" dirty="0" smtClean="0">
                <a:solidFill>
                  <a:schemeClr val="tx1"/>
                </a:solidFill>
                <a:latin typeface="Cambria" panose="02040503050406030204" pitchFamily="18" charset="0"/>
              </a:rPr>
              <a:t>LinearSVC(C=10)</a:t>
            </a:r>
            <a:endParaRPr lang="zh-CN" altLang="en-US" sz="2000" dirty="0">
              <a:solidFill>
                <a:schemeClr val="tx1"/>
              </a:solidFill>
              <a:latin typeface="Cambria" panose="02040503050406030204" pitchFamily="18" charset="0"/>
            </a:endParaRPr>
          </a:p>
          <a:p>
            <a:pPr algn="l"/>
            <a:r>
              <a:rPr lang="zh-CN" altLang="en-US" sz="2000" dirty="0">
                <a:solidFill>
                  <a:schemeClr val="tx1"/>
                </a:solidFill>
                <a:latin typeface="Cambria" panose="02040503050406030204" pitchFamily="18" charset="0"/>
              </a:rPr>
              <a:t>clf.fit(X, y)</a:t>
            </a:r>
            <a:endParaRPr lang="zh-CN" altLang="en-US" sz="2000" dirty="0">
              <a:solidFill>
                <a:schemeClr val="tx1"/>
              </a:solidFill>
              <a:latin typeface="Cambria" panose="02040503050406030204" pitchFamily="18" charset="0"/>
            </a:endParaRPr>
          </a:p>
          <a:p>
            <a:pPr algn="l"/>
            <a:endParaRPr lang="zh-CN" altLang="en-US" sz="2000" dirty="0">
              <a:solidFill>
                <a:schemeClr val="tx1"/>
              </a:solidFill>
              <a:latin typeface="Cambria" panose="02040503050406030204" pitchFamily="18" charset="0"/>
            </a:endParaRPr>
          </a:p>
        </p:txBody>
      </p:sp>
      <p:sp>
        <p:nvSpPr>
          <p:cNvPr id="5" name="标题 4"/>
          <p:cNvSpPr>
            <a:spLocks noGrp="1"/>
          </p:cNvSpPr>
          <p:nvPr>
            <p:ph type="title"/>
          </p:nvPr>
        </p:nvSpPr>
        <p:spPr>
          <a:xfrm>
            <a:off x="567590" y="307953"/>
            <a:ext cx="10272890" cy="980728"/>
          </a:xfrm>
        </p:spPr>
        <p:txBody>
          <a:bodyPr/>
          <a:lstStyle/>
          <a:p>
            <a:r>
              <a:rPr lang="en-US" altLang="zh-CN" dirty="0" err="1" smtClean="0">
                <a:latin typeface="+mn-ea"/>
                <a:ea typeface="+mn-ea"/>
                <a:sym typeface="+mn-ea"/>
              </a:rPr>
              <a:t>线性支持向量机</a:t>
            </a:r>
            <a:endParaRPr lang="zh-CN" altLang="en-US" dirty="0">
              <a:latin typeface="+mn-ea"/>
              <a:ea typeface="+mn-e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009" y="309737"/>
            <a:ext cx="10272890" cy="980728"/>
          </a:xfrm>
        </p:spPr>
        <p:txBody>
          <a:bodyPr/>
          <a:lstStyle/>
          <a:p>
            <a:r>
              <a:rPr lang="en-US" altLang="zh-CN" dirty="0" err="1" smtClean="0">
                <a:sym typeface="+mn-ea"/>
              </a:rPr>
              <a:t>线性支持向量机</a:t>
            </a:r>
            <a:endParaRPr lang="en-US" altLang="zh-CN" dirty="0" smtClean="0">
              <a:sym typeface="+mn-ea"/>
            </a:endParaRPr>
          </a:p>
        </p:txBody>
      </p:sp>
      <p:pic>
        <p:nvPicPr>
          <p:cNvPr id="6" name="内容占位符 5"/>
          <p:cNvPicPr>
            <a:picLocks noGrp="1" noChangeAspect="1"/>
          </p:cNvPicPr>
          <p:nvPr>
            <p:ph idx="13"/>
          </p:nvPr>
        </p:nvPicPr>
        <p:blipFill>
          <a:blip r:embed="rId1" cstate="print"/>
          <a:stretch>
            <a:fillRect/>
          </a:stretch>
        </p:blipFill>
        <p:spPr>
          <a:xfrm>
            <a:off x="2686051" y="5334001"/>
            <a:ext cx="5800725" cy="542925"/>
          </a:xfrm>
          <a:prstGeom prst="rect">
            <a:avLst/>
          </a:prstGeom>
        </p:spPr>
      </p:pic>
      <p:sp>
        <p:nvSpPr>
          <p:cNvPr id="20" name="矩形 19"/>
          <p:cNvSpPr/>
          <p:nvPr/>
        </p:nvSpPr>
        <p:spPr>
          <a:xfrm>
            <a:off x="1410018" y="1132610"/>
            <a:ext cx="10172382" cy="5257165"/>
          </a:xfrm>
          <a:prstGeom prst="rect">
            <a:avLst/>
          </a:prstGeom>
          <a:solidFill>
            <a:schemeClr val="accent2">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l"/>
            <a:r>
              <a:rPr lang="zh-CN" altLang="en-US" sz="2000" dirty="0" smtClean="0">
                <a:solidFill>
                  <a:schemeClr val="tx1"/>
                </a:solidFill>
              </a:rPr>
              <a:t>plt.scatter(X</a:t>
            </a:r>
            <a:r>
              <a:rPr lang="zh-CN" altLang="en-US" sz="2000" dirty="0">
                <a:solidFill>
                  <a:schemeClr val="tx1"/>
                </a:solidFill>
              </a:rPr>
              <a:t>[:, 0], X[:, 1], c=y, s=30, cmap=plt.cm.Paired</a:t>
            </a:r>
            <a:r>
              <a:rPr lang="zh-CN" altLang="en-US" sz="2000" dirty="0" smtClean="0">
                <a:solidFill>
                  <a:schemeClr val="tx1"/>
                </a:solidFill>
              </a:rPr>
              <a:t>)</a:t>
            </a:r>
            <a:endParaRPr lang="zh-CN" altLang="en-US" sz="2000" dirty="0">
              <a:solidFill>
                <a:schemeClr val="tx1"/>
              </a:solidFill>
            </a:endParaRPr>
          </a:p>
          <a:p>
            <a:pPr algn="l"/>
            <a:r>
              <a:rPr lang="zh-CN" altLang="en-US" sz="2000" dirty="0">
                <a:solidFill>
                  <a:schemeClr val="tx1"/>
                </a:solidFill>
              </a:rPr>
              <a:t># 画出决策函数</a:t>
            </a:r>
            <a:endParaRPr lang="zh-CN" altLang="en-US" sz="2000" dirty="0">
              <a:solidFill>
                <a:schemeClr val="tx1"/>
              </a:solidFill>
            </a:endParaRPr>
          </a:p>
          <a:p>
            <a:pPr algn="l"/>
            <a:r>
              <a:rPr lang="zh-CN" altLang="en-US" sz="2000" dirty="0">
                <a:solidFill>
                  <a:schemeClr val="tx1"/>
                </a:solidFill>
              </a:rPr>
              <a:t>ax = plt.gca()</a:t>
            </a:r>
            <a:endParaRPr lang="zh-CN" altLang="en-US" sz="2000" dirty="0">
              <a:solidFill>
                <a:schemeClr val="tx1"/>
              </a:solidFill>
            </a:endParaRPr>
          </a:p>
          <a:p>
            <a:pPr algn="l"/>
            <a:r>
              <a:rPr lang="zh-CN" altLang="en-US" sz="2000" dirty="0">
                <a:solidFill>
                  <a:schemeClr val="tx1"/>
                </a:solidFill>
              </a:rPr>
              <a:t>xlim = ax.get_xlim()</a:t>
            </a:r>
            <a:endParaRPr lang="zh-CN" altLang="en-US" sz="2000" dirty="0">
              <a:solidFill>
                <a:schemeClr val="tx1"/>
              </a:solidFill>
            </a:endParaRPr>
          </a:p>
          <a:p>
            <a:pPr algn="l"/>
            <a:r>
              <a:rPr lang="zh-CN" altLang="en-US" sz="2000" dirty="0">
                <a:solidFill>
                  <a:schemeClr val="tx1"/>
                </a:solidFill>
              </a:rPr>
              <a:t>ylim = ax.get_ylim()</a:t>
            </a:r>
            <a:endParaRPr lang="zh-CN" altLang="en-US" sz="2000" dirty="0">
              <a:solidFill>
                <a:schemeClr val="tx1"/>
              </a:solidFill>
            </a:endParaRPr>
          </a:p>
          <a:p>
            <a:pPr algn="l"/>
            <a:endParaRPr lang="zh-CN" altLang="en-US" sz="2000" dirty="0">
              <a:solidFill>
                <a:schemeClr val="tx1"/>
              </a:solidFill>
            </a:endParaRPr>
          </a:p>
          <a:p>
            <a:pPr algn="l"/>
            <a:r>
              <a:rPr lang="zh-CN" altLang="en-US" sz="2000" dirty="0">
                <a:solidFill>
                  <a:schemeClr val="tx1"/>
                </a:solidFill>
              </a:rPr>
              <a:t># 网格化评价模型</a:t>
            </a:r>
            <a:endParaRPr lang="zh-CN" altLang="en-US" sz="2000" dirty="0">
              <a:solidFill>
                <a:schemeClr val="tx1"/>
              </a:solidFill>
            </a:endParaRPr>
          </a:p>
          <a:p>
            <a:pPr algn="l"/>
            <a:r>
              <a:rPr lang="zh-CN" altLang="en-US" sz="2000" dirty="0">
                <a:solidFill>
                  <a:schemeClr val="tx1"/>
                </a:solidFill>
              </a:rPr>
              <a:t>xx = np.linspace(xlim[0], xlim[1], 30)</a:t>
            </a:r>
            <a:endParaRPr lang="zh-CN" altLang="en-US" sz="2000" dirty="0">
              <a:solidFill>
                <a:schemeClr val="tx1"/>
              </a:solidFill>
            </a:endParaRPr>
          </a:p>
          <a:p>
            <a:pPr algn="l"/>
            <a:r>
              <a:rPr lang="zh-CN" altLang="en-US" sz="2000" dirty="0">
                <a:solidFill>
                  <a:schemeClr val="tx1"/>
                </a:solidFill>
              </a:rPr>
              <a:t>yy = np.linspace(ylim[0], ylim[1], 30)</a:t>
            </a:r>
            <a:endParaRPr lang="zh-CN" altLang="en-US" sz="2000" dirty="0">
              <a:solidFill>
                <a:schemeClr val="tx1"/>
              </a:solidFill>
            </a:endParaRPr>
          </a:p>
          <a:p>
            <a:pPr algn="l"/>
            <a:r>
              <a:rPr lang="zh-CN" altLang="en-US" sz="2000" dirty="0">
                <a:solidFill>
                  <a:schemeClr val="tx1"/>
                </a:solidFill>
              </a:rPr>
              <a:t>YY, XX = np.meshgrid(yy, xx)</a:t>
            </a:r>
            <a:endParaRPr lang="zh-CN" altLang="en-US" sz="2000" dirty="0">
              <a:solidFill>
                <a:schemeClr val="tx1"/>
              </a:solidFill>
            </a:endParaRPr>
          </a:p>
          <a:p>
            <a:pPr algn="l"/>
            <a:r>
              <a:rPr lang="zh-CN" altLang="en-US" sz="2000" dirty="0">
                <a:solidFill>
                  <a:schemeClr val="tx1"/>
                </a:solidFill>
              </a:rPr>
              <a:t>xy = np.vstack([XX.ravel(), YY.ravel()]).T</a:t>
            </a:r>
            <a:endParaRPr lang="zh-CN" altLang="en-US" sz="2000" dirty="0">
              <a:solidFill>
                <a:schemeClr val="tx1"/>
              </a:solidFill>
            </a:endParaRPr>
          </a:p>
          <a:p>
            <a:pPr algn="l"/>
            <a:r>
              <a:rPr lang="zh-CN" altLang="en-US" sz="2000" dirty="0">
                <a:solidFill>
                  <a:schemeClr val="tx1"/>
                </a:solidFill>
              </a:rPr>
              <a:t>Z = clf.decision_function(xy).reshape(XX.shape)</a:t>
            </a:r>
            <a:endParaRPr lang="zh-CN" altLang="en-US" sz="2000" dirty="0">
              <a:solidFill>
                <a:schemeClr val="tx1"/>
              </a:solidFill>
            </a:endParaRPr>
          </a:p>
          <a:p>
            <a:pPr algn="l"/>
            <a:r>
              <a:rPr lang="zh-CN" altLang="en-US" sz="2000" dirty="0">
                <a:solidFill>
                  <a:schemeClr val="tx1"/>
                </a:solidFill>
              </a:rPr>
              <a:t># 画分类边界</a:t>
            </a:r>
            <a:endParaRPr lang="zh-CN" altLang="en-US" sz="2000" dirty="0">
              <a:solidFill>
                <a:schemeClr val="tx1"/>
              </a:solidFill>
            </a:endParaRPr>
          </a:p>
          <a:p>
            <a:pPr algn="l"/>
            <a:r>
              <a:rPr lang="zh-CN" altLang="en-US" sz="2000" dirty="0">
                <a:solidFill>
                  <a:schemeClr val="tx1"/>
                </a:solidFill>
              </a:rPr>
              <a:t>ax.contour(XX, YY, Z, colors='k', levels=[-1, 0, 1], alpha=0.5,</a:t>
            </a:r>
            <a:endParaRPr lang="zh-CN" altLang="en-US" sz="2000" dirty="0">
              <a:solidFill>
                <a:schemeClr val="tx1"/>
              </a:solidFill>
            </a:endParaRPr>
          </a:p>
          <a:p>
            <a:pPr algn="l"/>
            <a:r>
              <a:rPr lang="zh-CN" altLang="en-US" sz="2000" dirty="0">
                <a:solidFill>
                  <a:schemeClr val="tx1"/>
                </a:solidFill>
              </a:rPr>
              <a:t>           linestyles=['--', '-', '--'])</a:t>
            </a:r>
            <a:endParaRPr lang="zh-CN" altLang="en-US" sz="2000" dirty="0">
              <a:solidFill>
                <a:schemeClr val="tx1"/>
              </a:solidFill>
            </a:endParaRPr>
          </a:p>
          <a:p>
            <a:pPr algn="l"/>
            <a:r>
              <a:rPr lang="zh-CN" altLang="en-US" sz="2000" dirty="0">
                <a:solidFill>
                  <a:schemeClr val="tx1"/>
                </a:solidFill>
              </a:rPr>
              <a:t>plt.title("Maximum margin using LinearSVC")</a:t>
            </a:r>
            <a:endParaRPr lang="zh-CN" altLang="en-US" sz="2000" dirty="0">
              <a:solidFill>
                <a:schemeClr val="tx1"/>
              </a:solidFill>
            </a:endParaRPr>
          </a:p>
          <a:p>
            <a:pPr algn="l"/>
            <a:r>
              <a:rPr lang="zh-CN" altLang="en-US" sz="2000" dirty="0">
                <a:solidFill>
                  <a:schemeClr val="tx1"/>
                </a:solidFill>
              </a:rPr>
              <a:t>plt.show()</a:t>
            </a:r>
            <a:endParaRPr lang="zh-CN" altLang="en-US" sz="2000" dirty="0">
              <a:solidFill>
                <a:schemeClr val="tx1"/>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1"/>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649263" y="1148073"/>
            <a:ext cx="5110191" cy="3410143"/>
          </a:xfrm>
          <a:prstGeom prst="rect">
            <a:avLst/>
          </a:prstGeom>
        </p:spPr>
      </p:pic>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1284" y="1145401"/>
            <a:ext cx="4520416" cy="3410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576867" y="4534897"/>
            <a:ext cx="3182587" cy="800219"/>
          </a:xfrm>
          <a:prstGeom prst="rect">
            <a:avLst/>
          </a:prstGeom>
          <a:noFill/>
        </p:spPr>
        <p:txBody>
          <a:bodyPr wrap="square" rtlCol="0">
            <a:spAutoFit/>
          </a:bodyPr>
          <a:lstStyle/>
          <a:p>
            <a:r>
              <a:rPr lang="en-US" altLang="zh-CN" sz="2800" dirty="0" smtClean="0"/>
              <a:t>C=10</a:t>
            </a:r>
            <a:endParaRPr lang="en-US" altLang="zh-CN" sz="2800" dirty="0" smtClean="0"/>
          </a:p>
          <a:p>
            <a:endParaRPr lang="zh-CN" altLang="en-US" dirty="0"/>
          </a:p>
        </p:txBody>
      </p:sp>
      <p:sp>
        <p:nvSpPr>
          <p:cNvPr id="8" name="TextBox 7"/>
          <p:cNvSpPr txBox="1"/>
          <p:nvPr/>
        </p:nvSpPr>
        <p:spPr>
          <a:xfrm>
            <a:off x="8146245" y="4555680"/>
            <a:ext cx="3182587" cy="800219"/>
          </a:xfrm>
          <a:prstGeom prst="rect">
            <a:avLst/>
          </a:prstGeom>
          <a:noFill/>
        </p:spPr>
        <p:txBody>
          <a:bodyPr wrap="square" rtlCol="0">
            <a:spAutoFit/>
          </a:bodyPr>
          <a:lstStyle/>
          <a:p>
            <a:r>
              <a:rPr lang="en-US" altLang="zh-CN" sz="2800" dirty="0" smtClean="0"/>
              <a:t>C=0.1</a:t>
            </a:r>
            <a:endParaRPr lang="en-US" altLang="zh-CN" sz="2800" dirty="0" smtClean="0"/>
          </a:p>
          <a:p>
            <a:endParaRPr lang="zh-CN" altLang="en-US" dirty="0"/>
          </a:p>
        </p:txBody>
      </p:sp>
      <p:sp>
        <p:nvSpPr>
          <p:cNvPr id="7" name="标题 1"/>
          <p:cNvSpPr>
            <a:spLocks noGrp="1"/>
          </p:cNvSpPr>
          <p:nvPr>
            <p:ph type="title"/>
          </p:nvPr>
        </p:nvSpPr>
        <p:spPr>
          <a:xfrm>
            <a:off x="623009" y="309737"/>
            <a:ext cx="10272890" cy="980728"/>
          </a:xfrm>
        </p:spPr>
        <p:txBody>
          <a:bodyPr/>
          <a:lstStyle/>
          <a:p>
            <a:r>
              <a:rPr lang="en-US" altLang="zh-CN" dirty="0" err="1" smtClean="0">
                <a:sym typeface="+mn-ea"/>
              </a:rPr>
              <a:t>线性支持向量机</a:t>
            </a:r>
            <a:endParaRPr lang="en-US" altLang="zh-CN" dirty="0" smtClean="0">
              <a:sym typeface="+mn-ea"/>
            </a:endParaRPr>
          </a:p>
        </p:txBody>
      </p:sp>
      <p:sp>
        <p:nvSpPr>
          <p:cNvPr id="3" name="矩形 2"/>
          <p:cNvSpPr/>
          <p:nvPr/>
        </p:nvSpPr>
        <p:spPr>
          <a:xfrm>
            <a:off x="757863" y="5050145"/>
            <a:ext cx="11228096" cy="646331"/>
          </a:xfrm>
          <a:prstGeom prst="rect">
            <a:avLst/>
          </a:prstGeom>
        </p:spPr>
        <p:txBody>
          <a:bodyPr wrap="square">
            <a:spAutoFit/>
          </a:bodyPr>
          <a:lstStyle/>
          <a:p>
            <a:r>
              <a:rPr lang="en-US" altLang="zh-CN" dirty="0"/>
              <a:t>C</a:t>
            </a:r>
            <a:r>
              <a:rPr lang="zh-CN" altLang="en-US" dirty="0"/>
              <a:t>参数决定</a:t>
            </a:r>
            <a:r>
              <a:rPr lang="en-US" altLang="zh-CN" dirty="0"/>
              <a:t>SVM</a:t>
            </a:r>
            <a:r>
              <a:rPr lang="zh-CN" altLang="en-US" dirty="0"/>
              <a:t>分类器的边距宽度。</a:t>
            </a:r>
            <a:r>
              <a:rPr lang="en-US" altLang="zh-CN" dirty="0" smtClean="0"/>
              <a:t>C</a:t>
            </a:r>
            <a:r>
              <a:rPr lang="zh-CN" altLang="en-US" dirty="0" smtClean="0"/>
              <a:t>值</a:t>
            </a:r>
            <a:r>
              <a:rPr lang="zh-CN" altLang="en-US" dirty="0"/>
              <a:t>越大分类器越严格</a:t>
            </a:r>
            <a:r>
              <a:rPr lang="zh-CN" altLang="en-US" dirty="0" smtClean="0"/>
              <a:t>，边</a:t>
            </a:r>
            <a:r>
              <a:rPr lang="zh-CN" altLang="en-US" dirty="0"/>
              <a:t>距宽度小</a:t>
            </a:r>
            <a:r>
              <a:rPr lang="zh-CN" altLang="en-US" dirty="0" smtClean="0"/>
              <a:t>。相反</a:t>
            </a:r>
            <a:r>
              <a:rPr lang="zh-CN" altLang="en-US" dirty="0"/>
              <a:t>，</a:t>
            </a:r>
            <a:r>
              <a:rPr lang="en-US" altLang="zh-CN" dirty="0"/>
              <a:t>C</a:t>
            </a:r>
            <a:r>
              <a:rPr lang="zh-CN" altLang="en-US" dirty="0" smtClean="0"/>
              <a:t>值</a:t>
            </a:r>
            <a:r>
              <a:rPr lang="zh-CN" altLang="en-US" dirty="0"/>
              <a:t>越</a:t>
            </a:r>
            <a:r>
              <a:rPr lang="zh-CN" altLang="en-US" dirty="0" smtClean="0"/>
              <a:t>小将</a:t>
            </a:r>
            <a:r>
              <a:rPr lang="zh-CN" altLang="en-US" dirty="0"/>
              <a:t>导致模型寻找更大的边距分离超平面，即使这个超平面错误分类了更多点。</a:t>
            </a:r>
            <a:endParaRPr lang="zh-CN" alt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smtClean="0">
                  <a:solidFill>
                    <a:srgbClr val="009999"/>
                  </a:solidFill>
                  <a:latin typeface="Century Gothic" panose="020B0502020202020204" pitchFamily="34" charset="0"/>
                  <a:cs typeface="+mn-ea"/>
                  <a:sym typeface="+mn-lt"/>
                </a:rPr>
                <a:t>03</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061454" y="2479491"/>
            <a:ext cx="459452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smtClean="0">
                <a:solidFill>
                  <a:srgbClr val="009999"/>
                </a:solidFill>
                <a:latin typeface="Noto Sans S Chinese Medium" panose="020B0600000000000000" pitchFamily="34" charset="-122"/>
                <a:ea typeface="Noto Sans S Chinese Medium" panose="020B0600000000000000" pitchFamily="34" charset="-122"/>
              </a:rPr>
              <a:t>非线性</a:t>
            </a:r>
            <a:r>
              <a:rPr lang="en-US" altLang="zh-CN" sz="6600" dirty="0" smtClean="0">
                <a:solidFill>
                  <a:srgbClr val="009999"/>
                </a:solidFill>
                <a:latin typeface="Noto Sans S Chinese Medium" panose="020B0600000000000000" pitchFamily="34" charset="-122"/>
                <a:ea typeface="Noto Sans S Chinese Medium" panose="020B0600000000000000" pitchFamily="34" charset="-122"/>
              </a:rPr>
              <a:t>SVM</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1"/>
          <a:srcRect/>
          <a:stretch>
            <a:fillRect/>
          </a:stretch>
        </p:blipFill>
        <p:spPr bwMode="auto">
          <a:xfrm>
            <a:off x="4457700" y="2120900"/>
            <a:ext cx="3352800" cy="34417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50800" y="6464300"/>
            <a:ext cx="6986400" cy="358688"/>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330200" y="139700"/>
            <a:ext cx="4510850" cy="611001"/>
          </a:xfrm>
          <a:prstGeom prst="rect">
            <a:avLst/>
          </a:prstGeom>
          <a:noFill/>
        </p:spPr>
        <p:txBody>
          <a:bodyPr wrap="none" lIns="0" tIns="0" rIns="0" rtlCol="0">
            <a:spAutoFit/>
          </a:bodyPr>
          <a:lstStyle/>
          <a:p>
            <a:pPr>
              <a:lnSpc>
                <a:spcPts val="4700"/>
              </a:lnSpc>
            </a:pPr>
            <a:r>
              <a:rPr lang="en-US" altLang="zh-CN" sz="3600" dirty="0" smtClean="0">
                <a:solidFill>
                  <a:srgbClr val="000000"/>
                </a:solidFill>
                <a:latin typeface="微软雅黑" panose="020B0503020204020204" pitchFamily="34" charset="-122"/>
                <a:cs typeface="微软雅黑" panose="020B0503020204020204" pitchFamily="34" charset="-122"/>
              </a:rPr>
              <a:t>      </a:t>
            </a:r>
            <a:r>
              <a:rPr lang="en-US" altLang="zh-CN" sz="3600" dirty="0" err="1" smtClean="0">
                <a:solidFill>
                  <a:srgbClr val="000000"/>
                </a:solidFill>
                <a:latin typeface="微软雅黑" panose="020B0503020204020204" pitchFamily="34" charset="-122"/>
                <a:cs typeface="微软雅黑" panose="020B0503020204020204" pitchFamily="34" charset="-122"/>
              </a:rPr>
              <a:t>线性不可分的情况</a:t>
            </a:r>
            <a:endParaRPr lang="en-US" altLang="zh-CN" sz="3600" dirty="0" smtClean="0">
              <a:solidFill>
                <a:srgbClr val="000000"/>
              </a:solidFill>
              <a:latin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r>
              <a:rPr lang="zh-CN" altLang="en-US" dirty="0" smtClean="0"/>
              <a:t>   </a:t>
            </a:r>
            <a:endParaRPr lang="zh-CN" altLang="en-US" dirty="0"/>
          </a:p>
        </p:txBody>
      </p:sp>
      <p:sp>
        <p:nvSpPr>
          <p:cNvPr id="4" name="标题 3"/>
          <p:cNvSpPr>
            <a:spLocks noGrp="1"/>
          </p:cNvSpPr>
          <p:nvPr>
            <p:ph type="title"/>
          </p:nvPr>
        </p:nvSpPr>
        <p:spPr>
          <a:xfrm>
            <a:off x="277091" y="244154"/>
            <a:ext cx="4899025" cy="607060"/>
          </a:xfrm>
        </p:spPr>
        <p:txBody>
          <a:bodyPr/>
          <a:lstStyle/>
          <a:p>
            <a:pPr algn="just"/>
            <a:r>
              <a:rPr kumimoji="1" lang="zh-CN" altLang="en-US" dirty="0" smtClean="0">
                <a:solidFill>
                  <a:srgbClr val="0070C0"/>
                </a:solidFill>
              </a:rPr>
              <a:t>非线性分类问题</a:t>
            </a:r>
            <a:endParaRPr altLang="zh-CN" dirty="0">
              <a:solidFill>
                <a:srgbClr val="0070C0"/>
              </a:solidFill>
            </a:endParaRPr>
          </a:p>
        </p:txBody>
      </p:sp>
      <p:sp>
        <p:nvSpPr>
          <p:cNvPr id="5" name="内容占位符 1"/>
          <p:cNvSpPr>
            <a:spLocks noGrp="1"/>
          </p:cNvSpPr>
          <p:nvPr>
            <p:ph idx="1"/>
          </p:nvPr>
        </p:nvSpPr>
        <p:spPr>
          <a:xfrm>
            <a:off x="112518" y="1155865"/>
            <a:ext cx="11787893" cy="5545776"/>
          </a:xfrm>
        </p:spPr>
        <p:txBody>
          <a:bodyPr>
            <a:normAutofit/>
          </a:bodyPr>
          <a:lstStyle/>
          <a:p>
            <a:pPr marL="230505" indent="0" fontAlgn="auto"/>
            <a:r>
              <a:rPr dirty="0" smtClean="0"/>
              <a:t>如</a:t>
            </a:r>
            <a:r>
              <a:rPr lang="zh-CN" altLang="en-US" dirty="0" smtClean="0"/>
              <a:t>下</a:t>
            </a:r>
            <a:r>
              <a:rPr dirty="0" smtClean="0"/>
              <a:t>图中的数据集</a:t>
            </a:r>
            <a:r>
              <a:rPr dirty="0"/>
              <a:t>，在空间中无法用一条直线（线性）将数据集中的正例和负例正确地分隔开，但可以用一条圆形曲线（非线性）分隔。这种使用非线性模型（超曲面）进行分类的问题称为非线性分类问题。</a:t>
            </a:r>
            <a:endParaRPr dirty="0"/>
          </a:p>
        </p:txBody>
      </p:sp>
      <p:sp>
        <p:nvSpPr>
          <p:cNvPr id="100" name="文本框 99"/>
          <p:cNvSpPr txBox="1"/>
          <p:nvPr/>
        </p:nvSpPr>
        <p:spPr>
          <a:xfrm>
            <a:off x="2010410" y="5786755"/>
            <a:ext cx="2771775" cy="306705"/>
          </a:xfrm>
          <a:prstGeom prst="rect">
            <a:avLst/>
          </a:prstGeom>
          <a:noFill/>
          <a:ln w="9525">
            <a:noFill/>
          </a:ln>
        </p:spPr>
        <p:txBody>
          <a:bodyPr wrap="square">
            <a:spAutoFit/>
          </a:bodyPr>
          <a:lstStyle/>
          <a:p>
            <a:pPr indent="0"/>
            <a:r>
              <a:rPr lang="zh-CN" altLang="en-US" sz="1400" b="0" dirty="0" smtClean="0">
                <a:solidFill>
                  <a:srgbClr val="000000"/>
                </a:solidFill>
                <a:latin typeface="Times New Roman" panose="02020603050405020304" pitchFamily="18" charset="0"/>
                <a:ea typeface="宋体" panose="02010600030101010101" pitchFamily="2" charset="-122"/>
              </a:rPr>
              <a:t>非</a:t>
            </a:r>
            <a:r>
              <a:rPr lang="zh-CN" altLang="en-US" sz="1400" b="0" dirty="0">
                <a:solidFill>
                  <a:srgbClr val="000000"/>
                </a:solidFill>
                <a:latin typeface="Times New Roman" panose="02020603050405020304" pitchFamily="18" charset="0"/>
                <a:ea typeface="宋体" panose="02010600030101010101" pitchFamily="2" charset="-122"/>
              </a:rPr>
              <a:t>线性分类问题</a:t>
            </a:r>
            <a:endParaRPr lang="zh-CN" altLang="en-US" sz="1400" b="0" dirty="0">
              <a:solidFill>
                <a:srgbClr val="000000"/>
              </a:solidFill>
              <a:latin typeface="Times New Roman" panose="02020603050405020304" pitchFamily="18" charset="0"/>
              <a:ea typeface="宋体" panose="02010600030101010101" pitchFamily="2" charset="-122"/>
            </a:endParaRPr>
          </a:p>
        </p:txBody>
      </p:sp>
      <p:pic>
        <p:nvPicPr>
          <p:cNvPr id="140" name="图片 1"/>
          <p:cNvPicPr/>
          <p:nvPr/>
        </p:nvPicPr>
        <p:blipFill>
          <a:blip r:embed="rId1" cstate="print">
            <a:extLst>
              <a:ext uri="{28A0092B-C50C-407E-A947-70E740481C1C}">
                <a14:useLocalDpi xmlns:a14="http://schemas.microsoft.com/office/drawing/2010/main" val="0"/>
              </a:ext>
            </a:extLst>
          </a:blip>
          <a:srcRect/>
          <a:stretch>
            <a:fillRect/>
          </a:stretch>
        </p:blipFill>
        <p:spPr>
          <a:xfrm>
            <a:off x="1484416" y="2850079"/>
            <a:ext cx="3372591" cy="2933204"/>
          </a:xfrm>
          <a:prstGeom prst="rect">
            <a:avLst/>
          </a:prstGeom>
          <a:noFill/>
          <a:ln>
            <a:noFill/>
          </a:ln>
        </p:spPr>
      </p:pic>
      <p:pic>
        <p:nvPicPr>
          <p:cNvPr id="149" name="图片 1"/>
          <p:cNvPicPr/>
          <p:nvPr/>
        </p:nvPicPr>
        <p:blipFill>
          <a:blip r:embed="rId2" cstate="print">
            <a:extLst>
              <a:ext uri="{28A0092B-C50C-407E-A947-70E740481C1C}">
                <a14:useLocalDpi xmlns:a14="http://schemas.microsoft.com/office/drawing/2010/main" val="0"/>
              </a:ext>
            </a:extLst>
          </a:blip>
          <a:srcRect/>
          <a:stretch>
            <a:fillRect/>
          </a:stretch>
        </p:blipFill>
        <p:spPr>
          <a:xfrm>
            <a:off x="5771408" y="2719449"/>
            <a:ext cx="4001984" cy="3040083"/>
          </a:xfrm>
          <a:prstGeom prst="rect">
            <a:avLst/>
          </a:prstGeom>
          <a:noFill/>
          <a:ln>
            <a:noFill/>
          </a:ln>
        </p:spPr>
      </p:pic>
      <p:sp>
        <p:nvSpPr>
          <p:cNvPr id="2" name="文本框 1"/>
          <p:cNvSpPr txBox="1"/>
          <p:nvPr/>
        </p:nvSpPr>
        <p:spPr>
          <a:xfrm>
            <a:off x="6006465" y="5786755"/>
            <a:ext cx="3641725" cy="306705"/>
          </a:xfrm>
          <a:prstGeom prst="rect">
            <a:avLst/>
          </a:prstGeom>
          <a:noFill/>
          <a:ln w="9525">
            <a:noFill/>
          </a:ln>
        </p:spPr>
        <p:txBody>
          <a:bodyPr wrap="square">
            <a:spAutoFit/>
          </a:bodyPr>
          <a:lstStyle/>
          <a:p>
            <a:pPr indent="0"/>
            <a:r>
              <a:rPr sz="1400" b="0" dirty="0" smtClean="0">
                <a:solidFill>
                  <a:srgbClr val="000000"/>
                </a:solidFill>
                <a:latin typeface="Times New Roman" panose="02020603050405020304" pitchFamily="18" charset="0"/>
                <a:ea typeface="宋体" panose="02010600030101010101" pitchFamily="2" charset="-122"/>
              </a:rPr>
              <a:t>非线形分类问题数据映射到高维空间</a:t>
            </a:r>
            <a:endParaRPr sz="1400" b="0"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 y="-1"/>
            <a:ext cx="12190179" cy="68580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188768"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nvPr>
        </p:nvSpPr>
        <p:spPr>
          <a:xfrm>
            <a:off x="357704" y="1074601"/>
            <a:ext cx="10907151" cy="1758045"/>
          </a:xfrm>
        </p:spPr>
        <p:txBody>
          <a:bodyPr>
            <a:normAutofit/>
          </a:bodyPr>
          <a:lstStyle/>
          <a:p>
            <a:pPr>
              <a:lnSpc>
                <a:spcPct val="150000"/>
              </a:lnSpc>
              <a:spcBef>
                <a:spcPts val="0"/>
              </a:spcBef>
              <a:spcAft>
                <a:spcPts val="0"/>
              </a:spcAft>
            </a:pPr>
            <a:r>
              <a:rPr lang="zh-CN" altLang="en-US" sz="2400" dirty="0">
                <a:solidFill>
                  <a:schemeClr val="tx1"/>
                </a:solidFill>
                <a:latin typeface="Cambria" panose="02040503050406030204" pitchFamily="18" charset="0"/>
                <a:ea typeface="+mn-ea"/>
              </a:rPr>
              <a:t>对于非线性的情况，支持向量机选择一个</a:t>
            </a:r>
            <a:r>
              <a:rPr lang="zh-CN" altLang="en-US" sz="2400" dirty="0" smtClean="0">
                <a:solidFill>
                  <a:schemeClr val="tx1"/>
                </a:solidFill>
                <a:latin typeface="Cambria" panose="02040503050406030204" pitchFamily="18" charset="0"/>
                <a:ea typeface="+mn-ea"/>
              </a:rPr>
              <a:t>核函数             </a:t>
            </a:r>
            <a:r>
              <a:rPr lang="zh-CN" altLang="en-US" sz="2400" dirty="0">
                <a:solidFill>
                  <a:schemeClr val="tx1"/>
                </a:solidFill>
                <a:latin typeface="Cambria" panose="02040503050406030204" pitchFamily="18" charset="0"/>
                <a:ea typeface="+mn-ea"/>
              </a:rPr>
              <a:t>，通过将数据映射到高维空间，从而解决原始空间中线性不可分的问题</a:t>
            </a:r>
            <a:r>
              <a:rPr lang="zh-CN" altLang="en-US" sz="2400" dirty="0" smtClean="0">
                <a:solidFill>
                  <a:schemeClr val="tx1"/>
                </a:solidFill>
                <a:latin typeface="Cambria" panose="02040503050406030204" pitchFamily="18" charset="0"/>
                <a:ea typeface="+mn-ea"/>
              </a:rPr>
              <a:t>。</a:t>
            </a:r>
            <a:endParaRPr lang="en-US" altLang="zh-CN" sz="2400" dirty="0" smtClean="0">
              <a:solidFill>
                <a:schemeClr val="tx1"/>
              </a:solidFill>
              <a:latin typeface="Cambria" panose="02040503050406030204" pitchFamily="18" charset="0"/>
              <a:ea typeface="+mn-ea"/>
            </a:endParaRPr>
          </a:p>
          <a:p>
            <a:pPr>
              <a:lnSpc>
                <a:spcPct val="150000"/>
              </a:lnSpc>
              <a:spcBef>
                <a:spcPts val="0"/>
              </a:spcBef>
              <a:spcAft>
                <a:spcPts val="0"/>
              </a:spcAft>
            </a:pPr>
            <a:r>
              <a:rPr lang="zh-CN" altLang="zh-CN" sz="2400" dirty="0">
                <a:solidFill>
                  <a:schemeClr val="tx1"/>
                </a:solidFill>
              </a:rPr>
              <a:t>分</a:t>
            </a:r>
            <a:r>
              <a:rPr lang="zh-CN" altLang="zh-CN" sz="2400" dirty="0" smtClean="0">
                <a:solidFill>
                  <a:schemeClr val="tx1"/>
                </a:solidFill>
              </a:rPr>
              <a:t>类函数</a:t>
            </a:r>
            <a:r>
              <a:rPr lang="zh-CN" altLang="en-US" sz="2400" dirty="0" smtClean="0">
                <a:solidFill>
                  <a:schemeClr val="tx1"/>
                </a:solidFill>
              </a:rPr>
              <a:t>定义为</a:t>
            </a:r>
            <a:r>
              <a:rPr lang="zh-CN" altLang="zh-CN" sz="2400" dirty="0" smtClean="0">
                <a:solidFill>
                  <a:schemeClr val="tx1"/>
                </a:solidFill>
              </a:rPr>
              <a:t>：</a:t>
            </a:r>
            <a:endParaRPr lang="zh-CN" altLang="en-US" sz="2400" dirty="0">
              <a:solidFill>
                <a:schemeClr val="tx1"/>
              </a:solidFill>
              <a:latin typeface="Cambria" panose="02040503050406030204" pitchFamily="18" charset="0"/>
              <a:ea typeface="+mn-ea"/>
            </a:endParaRPr>
          </a:p>
        </p:txBody>
      </p:sp>
      <p:pic>
        <p:nvPicPr>
          <p:cNvPr id="6" name="图片 5"/>
          <p:cNvPicPr>
            <a:picLocks noChangeAspect="1"/>
          </p:cNvPicPr>
          <p:nvPr/>
        </p:nvPicPr>
        <p:blipFill>
          <a:blip r:embed="rId1" cstate="print"/>
          <a:srcRect l="45917" t="14286" r="45905" b="13968"/>
          <a:stretch>
            <a:fillRect/>
          </a:stretch>
        </p:blipFill>
        <p:spPr>
          <a:xfrm>
            <a:off x="7071747" y="1345430"/>
            <a:ext cx="1066502" cy="288002"/>
          </a:xfrm>
          <a:prstGeom prst="rect">
            <a:avLst/>
          </a:prstGeom>
        </p:spPr>
      </p:pic>
      <p:sp>
        <p:nvSpPr>
          <p:cNvPr id="7" name="内容占位符 2"/>
          <p:cNvSpPr>
            <a:spLocks noGrp="1"/>
          </p:cNvSpPr>
          <p:nvPr/>
        </p:nvSpPr>
        <p:spPr>
          <a:xfrm>
            <a:off x="1432648" y="1015295"/>
            <a:ext cx="10272890" cy="1640974"/>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a:lnSpc>
                <a:spcPct val="150000"/>
              </a:lnSpc>
              <a:spcBef>
                <a:spcPts val="0"/>
              </a:spcBef>
              <a:spcAft>
                <a:spcPts val="0"/>
              </a:spcAft>
            </a:pPr>
            <a:endParaRPr lang="zh-CN" altLang="en-US" sz="1800" dirty="0">
              <a:latin typeface="Cambria" panose="02040503050406030204" pitchFamily="18" charset="0"/>
              <a:ea typeface="+mn-ea"/>
              <a:sym typeface="+mn-ea"/>
            </a:endParaRPr>
          </a:p>
        </p:txBody>
      </p:sp>
      <p:sp>
        <p:nvSpPr>
          <p:cNvPr id="3" name="标题 2"/>
          <p:cNvSpPr>
            <a:spLocks noGrp="1"/>
          </p:cNvSpPr>
          <p:nvPr>
            <p:ph type="title"/>
          </p:nvPr>
        </p:nvSpPr>
        <p:spPr>
          <a:xfrm>
            <a:off x="166254" y="364702"/>
            <a:ext cx="6580910" cy="980728"/>
          </a:xfrm>
        </p:spPr>
        <p:txBody>
          <a:bodyPr/>
          <a:lstStyle/>
          <a:p>
            <a:r>
              <a:rPr lang="zh-CN" altLang="en-US" dirty="0" smtClean="0">
                <a:latin typeface="Cambria" panose="02040503050406030204" pitchFamily="18" charset="0"/>
                <a:ea typeface="+mn-ea"/>
                <a:sym typeface="+mn-ea"/>
              </a:rPr>
              <a:t>非</a:t>
            </a:r>
            <a:r>
              <a:rPr lang="zh-CN" altLang="en-US" dirty="0">
                <a:latin typeface="Cambria" panose="02040503050406030204" pitchFamily="18" charset="0"/>
                <a:ea typeface="+mn-ea"/>
                <a:sym typeface="+mn-ea"/>
              </a:rPr>
              <a:t>线性支持向量机</a:t>
            </a:r>
            <a:endParaRPr lang="zh-CN" altLang="en-US" dirty="0">
              <a:latin typeface="Cambria" panose="02040503050406030204" pitchFamily="18" charset="0"/>
              <a:ea typeface="+mn-ea"/>
            </a:endParaRPr>
          </a:p>
        </p:txBody>
      </p:sp>
      <p:graphicFrame>
        <p:nvGraphicFramePr>
          <p:cNvPr id="5" name="对象 4"/>
          <p:cNvGraphicFramePr>
            <a:graphicFrameLocks noChangeAspect="1"/>
          </p:cNvGraphicFramePr>
          <p:nvPr/>
        </p:nvGraphicFramePr>
        <p:xfrm>
          <a:off x="1326784" y="3299618"/>
          <a:ext cx="2995769" cy="811354"/>
        </p:xfrm>
        <a:graphic>
          <a:graphicData uri="http://schemas.openxmlformats.org/presentationml/2006/ole">
            <mc:AlternateContent xmlns:mc="http://schemas.openxmlformats.org/markup-compatibility/2006">
              <mc:Choice xmlns:v="urn:schemas-microsoft-com:vml" Requires="v">
                <p:oleObj spid="_x0000_s31952" name="Equation" r:id="rId2" imgW="1346200" imgH="431800" progId="Equation.DSMT4">
                  <p:embed/>
                </p:oleObj>
              </mc:Choice>
              <mc:Fallback>
                <p:oleObj name="Equation" r:id="rId2" imgW="1346200" imgH="431800" progId="Equation.DSMT4">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6784" y="3299618"/>
                        <a:ext cx="2995769" cy="8113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10" name="矩形 9"/>
              <p:cNvSpPr/>
              <p:nvPr/>
            </p:nvSpPr>
            <p:spPr>
              <a:xfrm>
                <a:off x="948025" y="4287349"/>
                <a:ext cx="4053465" cy="1015663"/>
              </a:xfrm>
              <a:prstGeom prst="rect">
                <a:avLst/>
              </a:prstGeom>
            </p:spPr>
            <p:txBody>
              <a:bodyPr wrap="square">
                <a:spAutoFit/>
              </a:bodyPr>
              <a:lstStyle/>
              <a:p>
                <a:pPr latinLnBrk="1">
                  <a:lnSpc>
                    <a:spcPct val="150000"/>
                  </a:lnSpc>
                </a:pPr>
                <a:r>
                  <a:rPr lang="zh-CN" altLang="en-US" sz="2000" dirty="0" smtClean="0">
                    <a:solidFill>
                      <a:srgbClr val="000000"/>
                    </a:solidFill>
                    <a:cs typeface="Calibri Light" panose="020F0302020204030204" charset="0"/>
                  </a:rPr>
                  <a:t>这里</a:t>
                </a:r>
                <a14:m>
                  <m:oMath xmlns:m="http://schemas.openxmlformats.org/officeDocument/2006/math">
                    <m:r>
                      <a:rPr lang="zh-CN" altLang="en-US" sz="2000" i="1">
                        <a:solidFill>
                          <a:srgbClr val="000000"/>
                        </a:solidFill>
                        <a:latin typeface="Cambria Math" panose="02040503050406030204" pitchFamily="18" charset="0"/>
                        <a:cs typeface="Calibri Light" panose="020F0302020204030204" charset="0"/>
                      </a:rPr>
                      <m:t>，</m:t>
                    </m:r>
                    <m:sSub>
                      <m:sSubPr>
                        <m:ctrlPr>
                          <a:rPr lang="zh-CN" altLang="zh-CN" sz="2000" i="1">
                            <a:solidFill>
                              <a:srgbClr val="000000"/>
                            </a:solidFill>
                            <a:latin typeface="Cambria Math" panose="02040503050406030204" pitchFamily="18" charset="0"/>
                            <a:cs typeface="Calibri Light" panose="020F0302020204030204" charset="0"/>
                          </a:rPr>
                        </m:ctrlPr>
                      </m:sSubPr>
                      <m:e>
                        <m:r>
                          <a:rPr lang="en-US" altLang="zh-CN" sz="2000" i="1">
                            <a:solidFill>
                              <a:srgbClr val="000000"/>
                            </a:solidFill>
                            <a:effectLst/>
                            <a:latin typeface="Cambria Math" panose="02040503050406030204" pitchFamily="18" charset="0"/>
                            <a:cs typeface="Calibri Light" panose="020F0302020204030204" charset="0"/>
                          </a:rPr>
                          <m:t>𝜙</m:t>
                        </m:r>
                      </m:e>
                      <m:sub>
                        <m:r>
                          <a:rPr lang="en-US" altLang="zh-CN" sz="2000" i="1">
                            <a:solidFill>
                              <a:srgbClr val="000000"/>
                            </a:solidFill>
                            <a:effectLst/>
                            <a:latin typeface="Cambria Math" panose="02040503050406030204" pitchFamily="18" charset="0"/>
                            <a:cs typeface="Calibri Light" panose="020F0302020204030204" charset="0"/>
                          </a:rPr>
                          <m:t>𝑖</m:t>
                        </m:r>
                      </m:sub>
                    </m:sSub>
                    <m:r>
                      <a:rPr lang="en-US" altLang="zh-CN" sz="2000" i="1">
                        <a:solidFill>
                          <a:srgbClr val="000000"/>
                        </a:solidFill>
                        <a:effectLst/>
                        <a:latin typeface="Cambria Math" panose="02040503050406030204" pitchFamily="18" charset="0"/>
                        <a:cs typeface="Calibri Light" panose="020F0302020204030204" charset="0"/>
                      </a:rPr>
                      <m:t>:</m:t>
                    </m:r>
                    <m:r>
                      <a:rPr lang="en-US" altLang="zh-CN" sz="2000" i="1">
                        <a:solidFill>
                          <a:srgbClr val="000000"/>
                        </a:solidFill>
                        <a:effectLst/>
                        <a:latin typeface="Cambria Math" panose="02040503050406030204" pitchFamily="18" charset="0"/>
                        <a:cs typeface="Calibri Light" panose="020F0302020204030204" charset="0"/>
                      </a:rPr>
                      <m:t>𝑋</m:t>
                    </m:r>
                    <m:r>
                      <a:rPr lang="en-US" altLang="zh-CN" sz="2000" b="1" i="1">
                        <a:solidFill>
                          <a:srgbClr val="000000"/>
                        </a:solidFill>
                        <a:effectLst/>
                        <a:latin typeface="Cambria Math" panose="02040503050406030204" pitchFamily="18" charset="0"/>
                        <a:cs typeface="Calibri Light" panose="020F0302020204030204" charset="0"/>
                      </a:rPr>
                      <m:t>⟶</m:t>
                    </m:r>
                    <m:r>
                      <a:rPr lang="en-US" altLang="zh-CN" sz="2000" i="1">
                        <a:solidFill>
                          <a:srgbClr val="000000"/>
                        </a:solidFill>
                        <a:effectLst/>
                        <a:latin typeface="Cambria Math" panose="02040503050406030204" pitchFamily="18" charset="0"/>
                        <a:cs typeface="Calibri Light" panose="020F0302020204030204" charset="0"/>
                      </a:rPr>
                      <m:t>ℋ</m:t>
                    </m:r>
                    <m:r>
                      <a:rPr lang="en-US" altLang="zh-CN" sz="2000" b="1">
                        <a:solidFill>
                          <a:srgbClr val="000000"/>
                        </a:solidFill>
                        <a:effectLst/>
                        <a:latin typeface="Cambria Math" panose="02040503050406030204" pitchFamily="18" charset="0"/>
                        <a:cs typeface="Calibri Light" panose="020F0302020204030204" charset="0"/>
                      </a:rPr>
                      <m:t>,</m:t>
                    </m:r>
                    <m:r>
                      <a:rPr lang="en-US" altLang="zh-CN" sz="2000" i="1">
                        <a:solidFill>
                          <a:srgbClr val="000000"/>
                        </a:solidFill>
                        <a:effectLst/>
                        <a:latin typeface="Cambria Math" panose="02040503050406030204" pitchFamily="18" charset="0"/>
                        <a:cs typeface="Calibri Light" panose="020F0302020204030204" charset="0"/>
                      </a:rPr>
                      <m:t>𝑖</m:t>
                    </m:r>
                    <m:r>
                      <a:rPr lang="en-US" altLang="zh-CN" sz="2000" i="1">
                        <a:solidFill>
                          <a:srgbClr val="000000"/>
                        </a:solidFill>
                        <a:effectLst/>
                        <a:latin typeface="Cambria Math" panose="02040503050406030204" pitchFamily="18" charset="0"/>
                        <a:cs typeface="Calibri Light" panose="020F0302020204030204" charset="0"/>
                      </a:rPr>
                      <m:t>=</m:t>
                    </m:r>
                    <m:r>
                      <a:rPr lang="en-US" altLang="zh-CN" sz="2000" i="1">
                        <a:solidFill>
                          <a:srgbClr val="000000"/>
                        </a:solidFill>
                        <a:effectLst/>
                        <a:latin typeface="Cambria Math" panose="02040503050406030204" pitchFamily="18" charset="0"/>
                        <a:cs typeface="Calibri Light" panose="020F0302020204030204" charset="0"/>
                      </a:rPr>
                      <m:t>1</m:t>
                    </m:r>
                    <m:r>
                      <a:rPr lang="en-US" altLang="zh-CN" sz="2000" i="1">
                        <a:solidFill>
                          <a:srgbClr val="000000"/>
                        </a:solidFill>
                        <a:effectLst/>
                        <a:latin typeface="Cambria Math" panose="02040503050406030204" pitchFamily="18" charset="0"/>
                        <a:cs typeface="Calibri Light" panose="020F0302020204030204" charset="0"/>
                      </a:rPr>
                      <m:t>,</m:t>
                    </m:r>
                    <m:r>
                      <a:rPr lang="en-US" altLang="zh-CN" sz="2000" i="1">
                        <a:solidFill>
                          <a:srgbClr val="000000"/>
                        </a:solidFill>
                        <a:effectLst/>
                        <a:latin typeface="Cambria Math" panose="02040503050406030204" pitchFamily="18" charset="0"/>
                        <a:cs typeface="Calibri Light" panose="020F0302020204030204" charset="0"/>
                      </a:rPr>
                      <m:t>2</m:t>
                    </m:r>
                    <m:r>
                      <a:rPr lang="en-US" altLang="zh-CN" sz="2000" i="1">
                        <a:solidFill>
                          <a:srgbClr val="000000"/>
                        </a:solidFill>
                        <a:effectLst/>
                        <a:latin typeface="Cambria Math" panose="02040503050406030204" pitchFamily="18" charset="0"/>
                        <a:cs typeface="Calibri Light" panose="020F0302020204030204" charset="0"/>
                      </a:rPr>
                      <m:t>,</m:t>
                    </m:r>
                    <m:r>
                      <a:rPr lang="en-US" altLang="zh-CN" sz="2000">
                        <a:solidFill>
                          <a:srgbClr val="000000"/>
                        </a:solidFill>
                        <a:effectLst/>
                        <a:latin typeface="Cambria Math" panose="02040503050406030204" pitchFamily="18" charset="0"/>
                        <a:cs typeface="Calibri Light" panose="020F0302020204030204" charset="0"/>
                      </a:rPr>
                      <m:t>⋯,</m:t>
                    </m:r>
                    <m:r>
                      <a:rPr lang="en-US" altLang="zh-CN" sz="2000" i="1">
                        <a:solidFill>
                          <a:srgbClr val="000000"/>
                        </a:solidFill>
                        <a:effectLst/>
                        <a:latin typeface="Cambria Math" panose="02040503050406030204" pitchFamily="18" charset="0"/>
                        <a:cs typeface="Calibri Light" panose="020F0302020204030204" charset="0"/>
                      </a:rPr>
                      <m:t>𝑁</m:t>
                    </m:r>
                  </m:oMath>
                </a14:m>
                <a:r>
                  <a:rPr lang="en-US" altLang="zh-CN" sz="2000" dirty="0" smtClean="0">
                    <a:solidFill>
                      <a:srgbClr val="000000"/>
                    </a:solidFill>
                    <a:effectLst/>
                    <a:latin typeface="Cambria" panose="02040503050406030204" pitchFamily="18" charset="0"/>
                    <a:cs typeface="Calibri Light" panose="020F0302020204030204" charset="0"/>
                  </a:rPr>
                  <a:t>  </a:t>
                </a:r>
                <a:r>
                  <a:rPr lang="zh-CN" altLang="zh-CN" sz="2000" dirty="0" smtClean="0">
                    <a:solidFill>
                      <a:srgbClr val="000000"/>
                    </a:solidFill>
                    <a:effectLst/>
                    <a:latin typeface="Cambria" panose="02040503050406030204" pitchFamily="18" charset="0"/>
                    <a:cs typeface="Calibri Light" panose="020F0302020204030204" charset="0"/>
                  </a:rPr>
                  <a:t>是从</a:t>
                </a:r>
                <a14:m>
                  <m:oMath xmlns:m="http://schemas.openxmlformats.org/officeDocument/2006/math">
                    <m:r>
                      <a:rPr lang="en-US" altLang="zh-CN" sz="2000" i="1">
                        <a:solidFill>
                          <a:srgbClr val="000000"/>
                        </a:solidFill>
                        <a:effectLst/>
                        <a:latin typeface="Cambria Math" panose="02040503050406030204" pitchFamily="18" charset="0"/>
                        <a:cs typeface="Calibri Light" panose="020F0302020204030204" charset="0"/>
                      </a:rPr>
                      <m:t>𝑋</m:t>
                    </m:r>
                  </m:oMath>
                </a14:m>
                <a:r>
                  <a:rPr lang="zh-CN" altLang="zh-CN" sz="2000" dirty="0" smtClean="0">
                    <a:solidFill>
                      <a:srgbClr val="000000"/>
                    </a:solidFill>
                    <a:effectLst/>
                    <a:latin typeface="Cambria" panose="02040503050406030204" pitchFamily="18" charset="0"/>
                    <a:cs typeface="Calibri Light" panose="020F0302020204030204" charset="0"/>
                  </a:rPr>
                  <a:t>到</a:t>
                </a:r>
                <a14:m>
                  <m:oMath xmlns:m="http://schemas.openxmlformats.org/officeDocument/2006/math">
                    <m:r>
                      <a:rPr lang="en-US" altLang="zh-CN" sz="2000" i="1">
                        <a:solidFill>
                          <a:srgbClr val="000000"/>
                        </a:solidFill>
                        <a:effectLst/>
                        <a:latin typeface="Cambria Math" panose="02040503050406030204" pitchFamily="18" charset="0"/>
                        <a:cs typeface="Calibri Light" panose="020F0302020204030204" charset="0"/>
                      </a:rPr>
                      <m:t>ℋ</m:t>
                    </m:r>
                  </m:oMath>
                </a14:m>
                <a:r>
                  <a:rPr lang="zh-CN" altLang="zh-CN" sz="2000" dirty="0">
                    <a:solidFill>
                      <a:srgbClr val="000000"/>
                    </a:solidFill>
                    <a:effectLst/>
                    <a:latin typeface="Cambria" panose="02040503050406030204" pitchFamily="18" charset="0"/>
                    <a:cs typeface="Calibri Light" panose="020F0302020204030204" charset="0"/>
                  </a:rPr>
                  <a:t>的映射。</a:t>
                </a:r>
                <a:endParaRPr lang="zh-CN" altLang="en-US" sz="2000" dirty="0">
                  <a:latin typeface="Cambria" panose="02040503050406030204" pitchFamily="18" charset="0"/>
                </a:endParaRPr>
              </a:p>
            </p:txBody>
          </p:sp>
        </mc:Choice>
        <mc:Fallback>
          <p:sp>
            <p:nvSpPr>
              <p:cNvPr id="10" name="矩形 9"/>
              <p:cNvSpPr>
                <a:spLocks noRot="1" noChangeAspect="1" noMove="1" noResize="1" noEditPoints="1" noAdjustHandles="1" noChangeArrowheads="1" noChangeShapeType="1" noTextEdit="1"/>
              </p:cNvSpPr>
              <p:nvPr/>
            </p:nvSpPr>
            <p:spPr>
              <a:xfrm>
                <a:off x="948025" y="4287349"/>
                <a:ext cx="4053465" cy="1015663"/>
              </a:xfrm>
              <a:prstGeom prst="rect">
                <a:avLst/>
              </a:prstGeom>
              <a:blipFill rotWithShape="1">
                <a:blip r:embed="rId4"/>
                <a:stretch>
                  <a:fillRect l="-15" t="-46" r="6" b="-9116"/>
                </a:stretch>
              </a:blipFill>
            </p:spPr>
            <p:txBody>
              <a:bodyPr/>
              <a:lstStyle/>
              <a:p>
                <a:r>
                  <a:rPr lang="zh-CN" altLang="en-US">
                    <a:noFill/>
                  </a:rPr>
                  <a:t> </a:t>
                </a:r>
              </a:p>
            </p:txBody>
          </p:sp>
        </mc:Fallback>
      </mc:AlternateContent>
      <p:pic>
        <p:nvPicPr>
          <p:cNvPr id="11" name="图片 12"/>
          <p:cNvPicPr>
            <a:picLocks noGrp="1" noChangeAspect="1" noChangeArrowheads="1"/>
          </p:cNvPicPr>
          <p:nvPr>
            <p:ph idx="1"/>
          </p:nvPr>
        </p:nvPicPr>
        <p:blipFill>
          <a:blip r:embed="rId5" cstate="print">
            <a:extLst>
              <a:ext uri="{28A0092B-C50C-407E-A947-70E740481C1C}">
                <a14:useLocalDpi xmlns:a14="http://schemas.microsoft.com/office/drawing/2010/main" val="0"/>
              </a:ext>
            </a:extLst>
          </a:blip>
          <a:srcRect/>
          <a:stretch>
            <a:fillRect/>
          </a:stretch>
        </p:blipFill>
        <p:spPr>
          <a:xfrm>
            <a:off x="5540557" y="3339499"/>
            <a:ext cx="5874825" cy="2294890"/>
          </a:xfrm>
          <a:prstGeom prst="rect">
            <a:avLst/>
          </a:prstGeom>
          <a:noFill/>
          <a:ln>
            <a:noFill/>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70179" y="577633"/>
            <a:ext cx="8201390" cy="553391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04656"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smtClean="0">
                <a:ln>
                  <a:noFill/>
                </a:ln>
                <a:solidFill>
                  <a:srgbClr val="000000"/>
                </a:solidFill>
                <a:effectLst/>
                <a:uLnTx/>
                <a:uFillTx/>
                <a:latin typeface="Calibri Light" panose="020F0302020204030204"/>
                <a:ea typeface="微软雅黑 Light" panose="020B0502040204020203" charset="-122"/>
                <a:cs typeface="+mn-cs"/>
              </a:rPr>
              <a:t>   </a:t>
            </a:r>
            <a:endParaRPr kumimoji="0" lang="zh-CN" altLang="en-US" sz="18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endParaRPr>
          </a:p>
        </p:txBody>
      </p:sp>
      <p:sp>
        <p:nvSpPr>
          <p:cNvPr id="4" name="标题 3"/>
          <p:cNvSpPr>
            <a:spLocks noGrp="1"/>
          </p:cNvSpPr>
          <p:nvPr>
            <p:ph type="title"/>
          </p:nvPr>
        </p:nvSpPr>
        <p:spPr>
          <a:xfrm>
            <a:off x="403761" y="279631"/>
            <a:ext cx="4878705" cy="607060"/>
          </a:xfrm>
        </p:spPr>
        <p:txBody>
          <a:bodyPr/>
          <a:lstStyle/>
          <a:p>
            <a:pPr algn="just"/>
            <a:r>
              <a:rPr altLang="zh-CN" dirty="0" smtClean="0">
                <a:solidFill>
                  <a:srgbClr val="0070C0"/>
                </a:solidFill>
              </a:rPr>
              <a:t>核函数</a:t>
            </a:r>
            <a:endParaRPr altLang="zh-CN" dirty="0">
              <a:solidFill>
                <a:srgbClr val="0070C0"/>
              </a:solidFill>
            </a:endParaRPr>
          </a:p>
        </p:txBody>
      </p:sp>
      <p:sp>
        <p:nvSpPr>
          <p:cNvPr id="5" name="内容占位符 1"/>
          <p:cNvSpPr>
            <a:spLocks noGrp="1"/>
          </p:cNvSpPr>
          <p:nvPr>
            <p:ph idx="1"/>
          </p:nvPr>
        </p:nvSpPr>
        <p:spPr>
          <a:xfrm>
            <a:off x="403760" y="831273"/>
            <a:ext cx="11635839" cy="5367645"/>
          </a:xfrm>
        </p:spPr>
        <p:txBody>
          <a:bodyPr>
            <a:noAutofit/>
          </a:bodyPr>
          <a:lstStyle/>
          <a:p>
            <a:pPr marL="0" lvl="1" indent="457200" fontAlgn="auto">
              <a:lnSpc>
                <a:spcPct val="150000"/>
              </a:lnSpc>
              <a:buNone/>
            </a:pPr>
            <a:r>
              <a:rPr dirty="0"/>
              <a:t>虽然可以利用非线性变换处理非线性分类问题，但如果映射后的空间维度非常高，</a:t>
            </a:r>
            <a:r>
              <a:rPr dirty="0" smtClean="0"/>
              <a:t>将导致非线性变换使用的存储空间和计算资源开销过大</a:t>
            </a:r>
            <a:r>
              <a:rPr dirty="0"/>
              <a:t>，</a:t>
            </a:r>
            <a:r>
              <a:rPr dirty="0" smtClean="0"/>
              <a:t>有时甚至是无法实现。利用核方法可以解决这个问题</a:t>
            </a:r>
            <a:r>
              <a:rPr dirty="0"/>
              <a:t>。核方法的核心思想是，利用核函数直接计算映射到空间后实例间的内积，以此代替先做映射再做内积</a:t>
            </a:r>
            <a:r>
              <a:rPr dirty="0" smtClean="0"/>
              <a:t>。</a:t>
            </a:r>
            <a:endParaRPr lang="en-US" dirty="0" smtClean="0"/>
          </a:p>
          <a:p>
            <a:pPr marL="0" lvl="1" indent="0" fontAlgn="auto">
              <a:lnSpc>
                <a:spcPct val="150000"/>
              </a:lnSpc>
              <a:buNone/>
            </a:pPr>
            <a:r>
              <a:rPr lang="zh-CN" altLang="en-US" sz="2800" dirty="0" smtClean="0">
                <a:solidFill>
                  <a:srgbClr val="C00000"/>
                </a:solidFill>
              </a:rPr>
              <a:t>常用的核函数有</a:t>
            </a:r>
            <a:endParaRPr sz="2800" dirty="0">
              <a:solidFill>
                <a:srgbClr val="C00000"/>
              </a:solidFill>
            </a:endParaRPr>
          </a:p>
          <a:p>
            <a:pPr marL="457200" lvl="2" indent="0">
              <a:lnSpc>
                <a:spcPct val="150000"/>
              </a:lnSpc>
              <a:buNone/>
            </a:pPr>
            <a:r>
              <a:rPr sz="2400" dirty="0"/>
              <a:t>1）线性核函数（Linear Kernel）</a:t>
            </a:r>
            <a:endParaRPr sz="2400" dirty="0"/>
          </a:p>
          <a:p>
            <a:pPr marL="457200" lvl="2" indent="0">
              <a:lnSpc>
                <a:spcPct val="150000"/>
              </a:lnSpc>
              <a:buNone/>
            </a:pPr>
            <a:r>
              <a:rPr sz="2400" dirty="0" smtClean="0"/>
              <a:t>2</a:t>
            </a:r>
            <a:r>
              <a:rPr sz="2400" dirty="0"/>
              <a:t>）</a:t>
            </a:r>
            <a:r>
              <a:rPr sz="2400" dirty="0" smtClean="0"/>
              <a:t>多项式核</a:t>
            </a:r>
            <a:r>
              <a:rPr lang="zh-CN" altLang="en-US" sz="2400" dirty="0" smtClean="0">
                <a:solidFill>
                  <a:srgbClr val="000000"/>
                </a:solidFill>
              </a:rPr>
              <a:t>函数</a:t>
            </a:r>
            <a:r>
              <a:rPr sz="2400" dirty="0" smtClean="0"/>
              <a:t>（</a:t>
            </a:r>
            <a:r>
              <a:rPr sz="2400" dirty="0"/>
              <a:t>Polynomial Kernel）</a:t>
            </a:r>
            <a:endParaRPr sz="2400" dirty="0"/>
          </a:p>
          <a:p>
            <a:pPr marL="457200" lvl="2" indent="0">
              <a:lnSpc>
                <a:spcPct val="150000"/>
              </a:lnSpc>
              <a:buNone/>
            </a:pPr>
            <a:r>
              <a:rPr sz="2400" dirty="0" smtClean="0"/>
              <a:t>3）</a:t>
            </a:r>
            <a:r>
              <a:rPr lang="zh-CN" altLang="en-US" sz="2400" dirty="0" smtClean="0">
                <a:solidFill>
                  <a:srgbClr val="000000"/>
                </a:solidFill>
              </a:rPr>
              <a:t>径向基核函数</a:t>
            </a:r>
            <a:r>
              <a:rPr lang="en-US" altLang="zh-CN" sz="2400" dirty="0" smtClean="0">
                <a:solidFill>
                  <a:srgbClr val="000000"/>
                </a:solidFill>
              </a:rPr>
              <a:t>(Radial Basis Function Kernel)</a:t>
            </a:r>
            <a:r>
              <a:rPr lang="zh-CN" altLang="en-US" sz="2400" dirty="0" smtClean="0">
                <a:solidFill>
                  <a:srgbClr val="000000"/>
                </a:solidFill>
              </a:rPr>
              <a:t>又称</a:t>
            </a:r>
            <a:r>
              <a:rPr sz="2400" dirty="0" smtClean="0"/>
              <a:t>高斯核</a:t>
            </a:r>
            <a:endParaRPr sz="2400" dirty="0"/>
          </a:p>
          <a:p>
            <a:pPr marL="457200" lvl="2" indent="0">
              <a:lnSpc>
                <a:spcPct val="150000"/>
              </a:lnSpc>
              <a:buNone/>
            </a:pPr>
            <a:r>
              <a:rPr sz="2400" dirty="0" smtClean="0"/>
              <a:t>4）Sigmoid核</a:t>
            </a:r>
            <a:r>
              <a:rPr lang="zh-CN" altLang="en-US" sz="2400" dirty="0" smtClean="0">
                <a:solidFill>
                  <a:srgbClr val="000000"/>
                </a:solidFill>
              </a:rPr>
              <a:t>函数</a:t>
            </a:r>
            <a:r>
              <a:rPr sz="2400" dirty="0" smtClean="0"/>
              <a:t>（</a:t>
            </a:r>
            <a:r>
              <a:rPr sz="2400" dirty="0"/>
              <a:t>Sigmoid Kernel</a:t>
            </a:r>
            <a:r>
              <a:rPr sz="2400" dirty="0" smtClean="0"/>
              <a:t>）</a:t>
            </a:r>
            <a:endParaRPr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r>
              <a:rPr lang="zh-CN" altLang="en-US" dirty="0" smtClean="0"/>
              <a:t>   </a:t>
            </a:r>
            <a:endParaRPr lang="zh-CN" altLang="en-US" dirty="0"/>
          </a:p>
        </p:txBody>
      </p:sp>
      <p:sp>
        <p:nvSpPr>
          <p:cNvPr id="4" name="标题 3"/>
          <p:cNvSpPr>
            <a:spLocks noGrp="1"/>
          </p:cNvSpPr>
          <p:nvPr>
            <p:ph type="title"/>
          </p:nvPr>
        </p:nvSpPr>
        <p:spPr>
          <a:xfrm>
            <a:off x="403761" y="279631"/>
            <a:ext cx="4878705" cy="607060"/>
          </a:xfrm>
        </p:spPr>
        <p:txBody>
          <a:bodyPr/>
          <a:lstStyle/>
          <a:p>
            <a:pPr algn="just"/>
            <a:r>
              <a:rPr altLang="zh-CN" dirty="0" smtClean="0">
                <a:solidFill>
                  <a:srgbClr val="0070C0"/>
                </a:solidFill>
              </a:rPr>
              <a:t>核函数</a:t>
            </a:r>
            <a:endParaRPr altLang="zh-CN" dirty="0">
              <a:solidFill>
                <a:srgbClr val="0070C0"/>
              </a:solidFill>
            </a:endParaRPr>
          </a:p>
        </p:txBody>
      </p:sp>
      <p:sp>
        <p:nvSpPr>
          <p:cNvPr id="5" name="内容占位符 1"/>
          <p:cNvSpPr>
            <a:spLocks noGrp="1"/>
          </p:cNvSpPr>
          <p:nvPr>
            <p:ph idx="1"/>
          </p:nvPr>
        </p:nvSpPr>
        <p:spPr>
          <a:xfrm>
            <a:off x="403760" y="831273"/>
            <a:ext cx="11635839" cy="5367645"/>
          </a:xfrm>
        </p:spPr>
        <p:txBody>
          <a:bodyPr>
            <a:noAutofit/>
          </a:bodyPr>
          <a:lstStyle/>
          <a:p>
            <a:pPr marL="0" lvl="1" indent="457200" fontAlgn="auto">
              <a:lnSpc>
                <a:spcPct val="150000"/>
              </a:lnSpc>
              <a:buNone/>
            </a:pPr>
            <a:r>
              <a:rPr dirty="0"/>
              <a:t>虽然可以利用非线性变换处理非线性分类问题，但如果映射后的空间维度非常高，</a:t>
            </a:r>
            <a:r>
              <a:rPr dirty="0" smtClean="0"/>
              <a:t>将导致非线性变换使用的存储空间和计算资源开销过大</a:t>
            </a:r>
            <a:r>
              <a:rPr dirty="0"/>
              <a:t>，</a:t>
            </a:r>
            <a:r>
              <a:rPr dirty="0" smtClean="0"/>
              <a:t>有时甚至是无法实现。利用核方法可以解决这个问题</a:t>
            </a:r>
            <a:r>
              <a:rPr dirty="0"/>
              <a:t>。核方法的核心思想是，利用核函数直接计算映射到空间后实例间的内积，以此代替先做映射再做内积</a:t>
            </a:r>
            <a:r>
              <a:rPr dirty="0" smtClean="0"/>
              <a:t>。</a:t>
            </a:r>
            <a:endParaRPr lang="en-US" dirty="0" smtClean="0"/>
          </a:p>
          <a:p>
            <a:pPr marL="0" lvl="1" indent="0" fontAlgn="auto">
              <a:lnSpc>
                <a:spcPct val="150000"/>
              </a:lnSpc>
              <a:buNone/>
            </a:pPr>
            <a:r>
              <a:rPr lang="zh-CN" altLang="en-US" sz="2800" dirty="0" smtClean="0">
                <a:solidFill>
                  <a:srgbClr val="C00000"/>
                </a:solidFill>
              </a:rPr>
              <a:t>常用的核函数有</a:t>
            </a:r>
            <a:endParaRPr sz="2800" dirty="0">
              <a:solidFill>
                <a:srgbClr val="C00000"/>
              </a:solidFill>
            </a:endParaRPr>
          </a:p>
          <a:p>
            <a:pPr marL="457200" lvl="2" indent="0">
              <a:lnSpc>
                <a:spcPct val="150000"/>
              </a:lnSpc>
              <a:buNone/>
            </a:pPr>
            <a:r>
              <a:rPr sz="2400" dirty="0"/>
              <a:t>1）线性核函数（Linear Kernel）</a:t>
            </a:r>
            <a:endParaRPr sz="2400" dirty="0"/>
          </a:p>
          <a:p>
            <a:pPr marL="457200" lvl="2" indent="0">
              <a:lnSpc>
                <a:spcPct val="150000"/>
              </a:lnSpc>
              <a:buNone/>
            </a:pPr>
            <a:r>
              <a:rPr sz="2400" dirty="0" smtClean="0"/>
              <a:t>2</a:t>
            </a:r>
            <a:r>
              <a:rPr sz="2400" dirty="0"/>
              <a:t>）</a:t>
            </a:r>
            <a:r>
              <a:rPr sz="2400" dirty="0" smtClean="0"/>
              <a:t>多项式核</a:t>
            </a:r>
            <a:r>
              <a:rPr lang="zh-CN" altLang="en-US" sz="2400" dirty="0" smtClean="0">
                <a:solidFill>
                  <a:srgbClr val="000000"/>
                </a:solidFill>
              </a:rPr>
              <a:t>函数</a:t>
            </a:r>
            <a:r>
              <a:rPr sz="2400" dirty="0" smtClean="0"/>
              <a:t>（</a:t>
            </a:r>
            <a:r>
              <a:rPr sz="2400" dirty="0"/>
              <a:t>Polynomial Kernel）</a:t>
            </a:r>
            <a:endParaRPr sz="2400" dirty="0"/>
          </a:p>
          <a:p>
            <a:pPr marL="457200" lvl="2" indent="0">
              <a:lnSpc>
                <a:spcPct val="150000"/>
              </a:lnSpc>
              <a:buNone/>
            </a:pPr>
            <a:r>
              <a:rPr sz="2400" dirty="0" smtClean="0"/>
              <a:t>3）</a:t>
            </a:r>
            <a:r>
              <a:rPr lang="zh-CN" altLang="en-US" sz="2400" dirty="0" smtClean="0">
                <a:solidFill>
                  <a:srgbClr val="000000"/>
                </a:solidFill>
              </a:rPr>
              <a:t>径向基核函数</a:t>
            </a:r>
            <a:r>
              <a:rPr lang="en-US" altLang="zh-CN" sz="2400" dirty="0" smtClean="0">
                <a:solidFill>
                  <a:srgbClr val="000000"/>
                </a:solidFill>
              </a:rPr>
              <a:t>(Radial Basis Function Kernel)</a:t>
            </a:r>
            <a:r>
              <a:rPr lang="zh-CN" altLang="en-US" sz="2400" dirty="0" smtClean="0">
                <a:solidFill>
                  <a:srgbClr val="000000"/>
                </a:solidFill>
              </a:rPr>
              <a:t>又称</a:t>
            </a:r>
            <a:r>
              <a:rPr sz="2400" dirty="0" smtClean="0"/>
              <a:t>高斯核</a:t>
            </a:r>
            <a:endParaRPr sz="2400" dirty="0"/>
          </a:p>
          <a:p>
            <a:pPr marL="457200" lvl="2" indent="0">
              <a:lnSpc>
                <a:spcPct val="150000"/>
              </a:lnSpc>
              <a:buNone/>
            </a:pPr>
            <a:r>
              <a:rPr sz="2400" dirty="0" smtClean="0"/>
              <a:t>4）Sigmoid核</a:t>
            </a:r>
            <a:r>
              <a:rPr lang="zh-CN" altLang="en-US" sz="2400" dirty="0" smtClean="0">
                <a:solidFill>
                  <a:srgbClr val="000000"/>
                </a:solidFill>
              </a:rPr>
              <a:t>函数</a:t>
            </a:r>
            <a:r>
              <a:rPr sz="2400" dirty="0" smtClean="0"/>
              <a:t>（</a:t>
            </a:r>
            <a:r>
              <a:rPr sz="2400" dirty="0"/>
              <a:t>Sigmoid Kernel</a:t>
            </a:r>
            <a:r>
              <a:rPr sz="2400" dirty="0" smtClean="0"/>
              <a:t>）</a:t>
            </a:r>
            <a:endParaRPr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endParaRPr kumimoji="0" lang="zh-CN" altLang="en-US">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7" y="573617"/>
            <a:ext cx="1744133"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t>线性核函数</a:t>
            </a:r>
            <a:endParaRPr lang="zh-CN" altLang="en-US" sz="2400" dirty="0"/>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7" y="1333961"/>
            <a:ext cx="10727267" cy="3490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400" dirty="0">
                <a:solidFill>
                  <a:srgbClr val="000000"/>
                </a:solidFill>
              </a:rPr>
              <a:t>线性核函数</a:t>
            </a:r>
            <a:r>
              <a:rPr lang="en-US" altLang="zh-CN" sz="2400" dirty="0">
                <a:solidFill>
                  <a:srgbClr val="000000"/>
                </a:solidFill>
              </a:rPr>
              <a:t>(Linear Kernel)</a:t>
            </a:r>
            <a:r>
              <a:rPr lang="zh-CN" altLang="en-US" sz="2400" dirty="0">
                <a:solidFill>
                  <a:srgbClr val="000000"/>
                </a:solidFill>
              </a:rPr>
              <a:t>是最简单的核函数，主要用于线性可分的情况，表达式如下：</a:t>
            </a:r>
            <a:endParaRPr lang="en-US" altLang="zh-CN" sz="2400" dirty="0">
              <a:solidFill>
                <a:srgbClr val="000000"/>
              </a:solidFill>
            </a:endParaRPr>
          </a:p>
          <a:p>
            <a:pPr marL="0" indent="0" algn="ctr">
              <a:buNone/>
            </a:pPr>
            <a:endParaRPr lang="en-US" altLang="zh-CN" sz="2400" dirty="0">
              <a:solidFill>
                <a:srgbClr val="000000"/>
              </a:solidFill>
            </a:endParaRPr>
          </a:p>
          <a:p>
            <a:pPr marL="0" indent="0" algn="ctr">
              <a:buNone/>
            </a:pPr>
            <a:r>
              <a:rPr lang="en-US" altLang="zh-CN" sz="2400" dirty="0">
                <a:solidFill>
                  <a:srgbClr val="000000"/>
                </a:solidFill>
              </a:rPr>
              <a:t>K(</a:t>
            </a:r>
            <a:r>
              <a:rPr lang="en-US" altLang="zh-CN" sz="2400" dirty="0" err="1">
                <a:solidFill>
                  <a:srgbClr val="000000"/>
                </a:solidFill>
              </a:rPr>
              <a:t>x,y</a:t>
            </a:r>
            <a:r>
              <a:rPr lang="en-US" altLang="zh-CN" sz="2400" dirty="0">
                <a:solidFill>
                  <a:srgbClr val="000000"/>
                </a:solidFill>
              </a:rPr>
              <a:t>) = (</a:t>
            </a:r>
            <a:r>
              <a:rPr lang="en-US" altLang="zh-CN" sz="2400" dirty="0" err="1">
                <a:solidFill>
                  <a:srgbClr val="000000"/>
                </a:solidFill>
              </a:rPr>
              <a:t>x^T</a:t>
            </a:r>
            <a:r>
              <a:rPr lang="en-US" altLang="zh-CN" sz="2400" dirty="0">
                <a:solidFill>
                  <a:srgbClr val="000000"/>
                </a:solidFill>
              </a:rPr>
              <a:t>)·</a:t>
            </a:r>
            <a:r>
              <a:rPr lang="en-US" altLang="zh-CN" sz="2400" dirty="0" err="1">
                <a:solidFill>
                  <a:srgbClr val="000000"/>
                </a:solidFill>
              </a:rPr>
              <a:t>y+c</a:t>
            </a:r>
            <a:endParaRPr lang="en-US" altLang="zh-CN" sz="2400" dirty="0">
              <a:solidFill>
                <a:srgbClr val="000000"/>
              </a:solidFill>
            </a:endParaRPr>
          </a:p>
          <a:p>
            <a:pPr marL="0" indent="0" algn="ctr">
              <a:buNone/>
            </a:pPr>
            <a:endParaRPr lang="en-US" altLang="zh-CN" sz="2400" dirty="0">
              <a:solidFill>
                <a:srgbClr val="000000"/>
              </a:solidFill>
            </a:endParaRPr>
          </a:p>
          <a:p>
            <a:pPr marL="0" indent="0">
              <a:buNone/>
            </a:pPr>
            <a:r>
              <a:rPr lang="en-US" altLang="zh-CN" sz="2400" dirty="0">
                <a:solidFill>
                  <a:srgbClr val="000000"/>
                </a:solidFill>
              </a:rPr>
              <a:t>       </a:t>
            </a:r>
            <a:r>
              <a:rPr lang="zh-CN" altLang="en-US" sz="2400" dirty="0">
                <a:solidFill>
                  <a:srgbClr val="000000"/>
                </a:solidFill>
              </a:rPr>
              <a:t>其中</a:t>
            </a:r>
            <a:r>
              <a:rPr lang="en-US" altLang="zh-CN" sz="2400" dirty="0">
                <a:solidFill>
                  <a:srgbClr val="000000"/>
                </a:solidFill>
              </a:rPr>
              <a:t>c</a:t>
            </a:r>
            <a:r>
              <a:rPr lang="zh-CN" altLang="en-US" sz="2400" dirty="0">
                <a:solidFill>
                  <a:srgbClr val="000000"/>
                </a:solidFill>
              </a:rPr>
              <a:t>是可选的常数。线性核函数是原始输入空间的内积，即特征空间和输</a:t>
            </a:r>
            <a:endParaRPr lang="en-US" altLang="zh-CN" sz="2400" dirty="0">
              <a:solidFill>
                <a:srgbClr val="000000"/>
              </a:solidFill>
            </a:endParaRPr>
          </a:p>
          <a:p>
            <a:pPr marL="0" indent="0">
              <a:buNone/>
            </a:pPr>
            <a:r>
              <a:rPr lang="zh-CN" altLang="en-US" sz="2400" dirty="0">
                <a:solidFill>
                  <a:srgbClr val="000000"/>
                </a:solidFill>
              </a:rPr>
              <a:t>       入空间的维度是一样的，参数较少运算速度较快。适用的情景是在特征数</a:t>
            </a:r>
            <a:endParaRPr lang="en-US" altLang="zh-CN" sz="2400" dirty="0">
              <a:solidFill>
                <a:srgbClr val="000000"/>
              </a:solidFill>
            </a:endParaRPr>
          </a:p>
          <a:p>
            <a:pPr marL="0" indent="0">
              <a:buNone/>
            </a:pPr>
            <a:r>
              <a:rPr lang="en-US" altLang="zh-CN" sz="2400" dirty="0">
                <a:solidFill>
                  <a:srgbClr val="000000"/>
                </a:solidFill>
              </a:rPr>
              <a:t>       </a:t>
            </a:r>
            <a:r>
              <a:rPr lang="zh-CN" altLang="en-US" sz="2400" dirty="0">
                <a:solidFill>
                  <a:srgbClr val="000000"/>
                </a:solidFill>
              </a:rPr>
              <a:t>量相对于样本数量非常多时。</a:t>
            </a:r>
            <a:endParaRPr lang="en-US" altLang="zh-CN" sz="2400" dirty="0">
              <a:solidFill>
                <a:srgbClr val="000000"/>
              </a:solidFil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endParaRPr kumimoji="0" lang="zh-CN" altLang="en-US">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6" y="573617"/>
            <a:ext cx="2210570"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smtClean="0"/>
              <a:t>多项式核函数</a:t>
            </a:r>
            <a:endParaRPr lang="zh-CN" altLang="en-US" sz="2400" dirty="0"/>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7" y="1333961"/>
            <a:ext cx="10727267" cy="2603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400" dirty="0">
                <a:solidFill>
                  <a:srgbClr val="000000"/>
                </a:solidFill>
              </a:rPr>
              <a:t>多项式核函数</a:t>
            </a:r>
            <a:r>
              <a:rPr lang="en-US" altLang="zh-CN" sz="2400" dirty="0">
                <a:solidFill>
                  <a:srgbClr val="000000"/>
                </a:solidFill>
              </a:rPr>
              <a:t>(Polynomial Kernel)</a:t>
            </a:r>
            <a:r>
              <a:rPr lang="zh-CN" altLang="en-US" sz="2400" dirty="0">
                <a:solidFill>
                  <a:srgbClr val="000000"/>
                </a:solidFill>
              </a:rPr>
              <a:t>是一种非稳态核函数，适合于正交归一化后的数据，表达式如下：</a:t>
            </a:r>
            <a:endParaRPr lang="en-US" altLang="zh-CN" sz="2400" dirty="0">
              <a:solidFill>
                <a:srgbClr val="000000"/>
              </a:solidFill>
            </a:endParaRPr>
          </a:p>
          <a:p>
            <a:pPr marL="0" indent="0" algn="ctr">
              <a:buNone/>
            </a:pPr>
            <a:endParaRPr lang="en-US" altLang="zh-CN" sz="2400" dirty="0">
              <a:solidFill>
                <a:srgbClr val="000000"/>
              </a:solidFill>
            </a:endParaRPr>
          </a:p>
          <a:p>
            <a:pPr marL="0" indent="0" algn="ctr">
              <a:buNone/>
            </a:pPr>
            <a:r>
              <a:rPr lang="en-US" altLang="zh-CN" sz="2400" dirty="0">
                <a:solidFill>
                  <a:srgbClr val="000000"/>
                </a:solidFill>
              </a:rPr>
              <a:t>K(</a:t>
            </a:r>
            <a:r>
              <a:rPr lang="en-US" altLang="zh-CN" sz="2400" dirty="0" err="1">
                <a:solidFill>
                  <a:srgbClr val="000000"/>
                </a:solidFill>
              </a:rPr>
              <a:t>x,y</a:t>
            </a:r>
            <a:r>
              <a:rPr lang="en-US" altLang="zh-CN" sz="2400" dirty="0">
                <a:solidFill>
                  <a:srgbClr val="000000"/>
                </a:solidFill>
              </a:rPr>
              <a:t>) = [a·(</a:t>
            </a:r>
            <a:r>
              <a:rPr lang="en-US" altLang="zh-CN" sz="2400" dirty="0" err="1">
                <a:solidFill>
                  <a:srgbClr val="000000"/>
                </a:solidFill>
              </a:rPr>
              <a:t>x^T</a:t>
            </a:r>
            <a:r>
              <a:rPr lang="en-US" altLang="zh-CN" sz="2400" dirty="0">
                <a:solidFill>
                  <a:srgbClr val="000000"/>
                </a:solidFill>
              </a:rPr>
              <a:t>)·</a:t>
            </a:r>
            <a:r>
              <a:rPr lang="en-US" altLang="zh-CN" sz="2400" dirty="0" err="1">
                <a:solidFill>
                  <a:srgbClr val="000000"/>
                </a:solidFill>
              </a:rPr>
              <a:t>y+c</a:t>
            </a:r>
            <a:r>
              <a:rPr lang="en-US" altLang="zh-CN" sz="2400" dirty="0">
                <a:solidFill>
                  <a:srgbClr val="000000"/>
                </a:solidFill>
              </a:rPr>
              <a:t>]^d</a:t>
            </a:r>
            <a:endParaRPr lang="en-US" altLang="zh-CN" sz="2400" dirty="0">
              <a:solidFill>
                <a:srgbClr val="000000"/>
              </a:solidFill>
            </a:endParaRPr>
          </a:p>
          <a:p>
            <a:pPr marL="0" indent="0">
              <a:buNone/>
            </a:pPr>
            <a:r>
              <a:rPr lang="en-US" altLang="zh-CN" sz="2400" dirty="0">
                <a:solidFill>
                  <a:srgbClr val="000000"/>
                </a:solidFill>
              </a:rPr>
              <a:t>       </a:t>
            </a:r>
            <a:endParaRPr lang="en-US" altLang="zh-CN" sz="2400" dirty="0">
              <a:solidFill>
                <a:srgbClr val="000000"/>
              </a:solidFill>
            </a:endParaRPr>
          </a:p>
          <a:p>
            <a:pPr marL="0" indent="0">
              <a:buNone/>
            </a:pPr>
            <a:r>
              <a:rPr lang="en-US" altLang="zh-CN" sz="2400" dirty="0">
                <a:solidFill>
                  <a:srgbClr val="000000"/>
                </a:solidFill>
              </a:rPr>
              <a:t>       </a:t>
            </a:r>
            <a:r>
              <a:rPr lang="zh-CN" altLang="en-US" sz="2400" dirty="0">
                <a:solidFill>
                  <a:srgbClr val="000000"/>
                </a:solidFill>
              </a:rPr>
              <a:t>其中</a:t>
            </a:r>
            <a:r>
              <a:rPr lang="en-US" altLang="zh-CN" sz="2400" dirty="0">
                <a:solidFill>
                  <a:srgbClr val="000000"/>
                </a:solidFill>
              </a:rPr>
              <a:t>a</a:t>
            </a:r>
            <a:r>
              <a:rPr lang="zh-CN" altLang="en-US" sz="2400" dirty="0">
                <a:solidFill>
                  <a:srgbClr val="000000"/>
                </a:solidFill>
              </a:rPr>
              <a:t>是调节参数，</a:t>
            </a:r>
            <a:r>
              <a:rPr lang="en-US" altLang="zh-CN" sz="2400" dirty="0">
                <a:solidFill>
                  <a:srgbClr val="000000"/>
                </a:solidFill>
              </a:rPr>
              <a:t>d</a:t>
            </a:r>
            <a:r>
              <a:rPr lang="zh-CN" altLang="en-US" sz="2400" dirty="0">
                <a:solidFill>
                  <a:srgbClr val="000000"/>
                </a:solidFill>
              </a:rPr>
              <a:t>是最高次项次数，</a:t>
            </a:r>
            <a:r>
              <a:rPr lang="en-US" altLang="zh-CN" sz="2400" dirty="0">
                <a:solidFill>
                  <a:srgbClr val="000000"/>
                </a:solidFill>
              </a:rPr>
              <a:t>c</a:t>
            </a:r>
            <a:r>
              <a:rPr lang="zh-CN" altLang="en-US" sz="2400" dirty="0">
                <a:solidFill>
                  <a:srgbClr val="000000"/>
                </a:solidFill>
              </a:rPr>
              <a:t>是可选的常数。</a:t>
            </a:r>
            <a:endParaRPr lang="en-US" altLang="zh-CN" sz="2400" dirty="0">
              <a:solidFill>
                <a:srgbClr val="000000"/>
              </a:solidFill>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4" y="539752"/>
            <a:ext cx="1066800" cy="61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议程</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6" y="573617"/>
            <a:ext cx="2404534"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r>
              <a:rPr lang="zh-CN" altLang="en-US" sz="2400" dirty="0" smtClean="0"/>
              <a:t>径向基核函数</a:t>
            </a:r>
            <a:endParaRPr lang="zh-CN" altLang="en-US" sz="2400" dirty="0"/>
          </a:p>
        </p:txBody>
      </p:sp>
      <p:sp>
        <p:nvSpPr>
          <p:cNvPr id="11270" name="TextBox 5"/>
          <p:cNvSpPr txBox="1">
            <a:spLocks noChangeArrowheads="1"/>
          </p:cNvSpPr>
          <p:nvPr/>
        </p:nvSpPr>
        <p:spPr bwMode="auto">
          <a:xfrm>
            <a:off x="810684" y="573618"/>
            <a:ext cx="245533" cy="61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dirty="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8" y="1333962"/>
            <a:ext cx="10888132" cy="425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r>
              <a:rPr lang="zh-CN" altLang="en-US" sz="2400" dirty="0" smtClean="0">
                <a:solidFill>
                  <a:srgbClr val="000000"/>
                </a:solidFill>
              </a:rPr>
              <a:t>径向基核</a:t>
            </a:r>
            <a:r>
              <a:rPr lang="zh-CN" altLang="en-US" sz="2400" dirty="0">
                <a:solidFill>
                  <a:srgbClr val="000000"/>
                </a:solidFill>
              </a:rPr>
              <a:t>函</a:t>
            </a:r>
            <a:r>
              <a:rPr lang="zh-CN" altLang="en-US" sz="2400" dirty="0" smtClean="0">
                <a:solidFill>
                  <a:srgbClr val="000000"/>
                </a:solidFill>
              </a:rPr>
              <a:t>数</a:t>
            </a:r>
            <a:r>
              <a:rPr lang="en-US" altLang="zh-CN" sz="2400" dirty="0" smtClean="0">
                <a:solidFill>
                  <a:srgbClr val="000000"/>
                </a:solidFill>
              </a:rPr>
              <a:t>(Radial Basis Function Kernel</a:t>
            </a:r>
            <a:r>
              <a:rPr lang="zh-CN" altLang="en-US" sz="2400" dirty="0" smtClean="0">
                <a:solidFill>
                  <a:srgbClr val="000000"/>
                </a:solidFill>
              </a:rPr>
              <a:t>，</a:t>
            </a:r>
            <a:r>
              <a:rPr lang="en-US" altLang="zh-CN" sz="2400" dirty="0" smtClean="0">
                <a:solidFill>
                  <a:srgbClr val="000000"/>
                </a:solidFill>
              </a:rPr>
              <a:t>RBF)</a:t>
            </a:r>
            <a:r>
              <a:rPr lang="zh-CN" altLang="en-US" sz="2400" dirty="0" smtClean="0">
                <a:solidFill>
                  <a:srgbClr val="000000"/>
                </a:solidFill>
              </a:rPr>
              <a:t>具有很强的灵活性，应用广泛。与多项式核函数相比参数较少</a:t>
            </a:r>
            <a:r>
              <a:rPr lang="zh-CN" altLang="en-US" sz="2400" dirty="0">
                <a:solidFill>
                  <a:srgbClr val="000000"/>
                </a:solidFill>
              </a:rPr>
              <a:t>，</a:t>
            </a:r>
            <a:r>
              <a:rPr lang="zh-CN" altLang="en-US" sz="2400" dirty="0" smtClean="0">
                <a:solidFill>
                  <a:srgbClr val="000000"/>
                </a:solidFill>
              </a:rPr>
              <a:t>因此大多数情况下都有较好的性能。</a:t>
            </a:r>
            <a:r>
              <a:rPr lang="zh-CN" altLang="en-US" sz="2400" dirty="0">
                <a:solidFill>
                  <a:srgbClr val="000000"/>
                </a:solidFill>
              </a:rPr>
              <a:t>径向基核函数类似于高斯函数，所以也被称为高斯核函数。</a:t>
            </a:r>
            <a:r>
              <a:rPr lang="zh-CN" altLang="en-US" sz="2400" dirty="0" smtClean="0">
                <a:solidFill>
                  <a:srgbClr val="000000"/>
                </a:solidFill>
              </a:rPr>
              <a:t>在不确定用哪种核函数时，可优先验证高斯核函数。表达式如下：</a:t>
            </a:r>
            <a:endParaRPr lang="en-US" altLang="zh-CN" sz="2400" dirty="0" smtClean="0">
              <a:solidFill>
                <a:srgbClr val="000000"/>
              </a:solidFill>
            </a:endParaRPr>
          </a:p>
          <a:p>
            <a:pPr marL="0" indent="0" algn="just">
              <a:buNone/>
            </a:pPr>
            <a:endParaRPr lang="en-US" altLang="zh-CN" sz="2400" dirty="0" smtClean="0">
              <a:solidFill>
                <a:srgbClr val="000000"/>
              </a:solidFill>
            </a:endParaRPr>
          </a:p>
          <a:p>
            <a:pPr marL="0" indent="0" algn="just">
              <a:buNone/>
            </a:pPr>
            <a:r>
              <a:rPr lang="en-US" altLang="zh-CN" sz="2400" dirty="0" smtClean="0">
                <a:solidFill>
                  <a:srgbClr val="000000"/>
                </a:solidFill>
              </a:rPr>
              <a:t>                 K(</a:t>
            </a:r>
            <a:r>
              <a:rPr lang="en-US" altLang="zh-CN" sz="2400" dirty="0" err="1" smtClean="0">
                <a:solidFill>
                  <a:srgbClr val="000000"/>
                </a:solidFill>
              </a:rPr>
              <a:t>x,y</a:t>
            </a:r>
            <a:r>
              <a:rPr lang="en-US" altLang="zh-CN" sz="2400" dirty="0" smtClean="0">
                <a:solidFill>
                  <a:srgbClr val="000000"/>
                </a:solidFill>
              </a:rPr>
              <a:t>) = </a:t>
            </a:r>
            <a:r>
              <a:rPr lang="en-US" altLang="zh-CN" sz="2400" dirty="0" err="1" smtClean="0">
                <a:solidFill>
                  <a:srgbClr val="000000"/>
                </a:solidFill>
              </a:rPr>
              <a:t>exp</a:t>
            </a:r>
            <a:r>
              <a:rPr lang="en-US" altLang="zh-CN" sz="2400" dirty="0" smtClean="0">
                <a:solidFill>
                  <a:srgbClr val="000000"/>
                </a:solidFill>
              </a:rPr>
              <a:t>{-[(||x-y||^2)/(2·(a^2))]}       </a:t>
            </a:r>
            <a:endParaRPr lang="en-US" altLang="zh-CN" sz="2400" dirty="0" smtClean="0">
              <a:solidFill>
                <a:srgbClr val="000000"/>
              </a:solidFill>
            </a:endParaRPr>
          </a:p>
          <a:p>
            <a:pPr marL="0" indent="0" algn="just">
              <a:buNone/>
            </a:pPr>
            <a:endParaRPr lang="en-US" altLang="zh-CN" sz="2400" dirty="0" smtClean="0">
              <a:solidFill>
                <a:srgbClr val="000000"/>
              </a:solidFill>
            </a:endParaRPr>
          </a:p>
          <a:p>
            <a:pPr marL="0" indent="0" algn="just">
              <a:buNone/>
            </a:pPr>
            <a:r>
              <a:rPr lang="en-US" altLang="zh-CN" sz="2400" dirty="0">
                <a:solidFill>
                  <a:srgbClr val="000000"/>
                </a:solidFill>
              </a:rPr>
              <a:t> </a:t>
            </a:r>
            <a:r>
              <a:rPr lang="en-US" altLang="zh-CN" sz="2400" dirty="0" smtClean="0">
                <a:solidFill>
                  <a:srgbClr val="000000"/>
                </a:solidFill>
              </a:rPr>
              <a:t>      </a:t>
            </a:r>
            <a:r>
              <a:rPr lang="zh-CN" altLang="en-US" sz="2400" dirty="0" smtClean="0">
                <a:solidFill>
                  <a:srgbClr val="000000"/>
                </a:solidFill>
              </a:rPr>
              <a:t>其中，</a:t>
            </a:r>
            <a:r>
              <a:rPr lang="en-US" altLang="zh-CN" sz="2400" dirty="0" smtClean="0">
                <a:solidFill>
                  <a:srgbClr val="000000"/>
                </a:solidFill>
              </a:rPr>
              <a:t>a^2</a:t>
            </a:r>
            <a:r>
              <a:rPr lang="zh-CN" altLang="en-US" sz="2400" dirty="0" smtClean="0">
                <a:solidFill>
                  <a:srgbClr val="000000"/>
                </a:solidFill>
              </a:rPr>
              <a:t>越大高斯核函数就会越平滑，此时函数随输入</a:t>
            </a:r>
            <a:r>
              <a:rPr lang="en-US" altLang="zh-CN" sz="2400" dirty="0" smtClean="0">
                <a:solidFill>
                  <a:srgbClr val="000000"/>
                </a:solidFill>
              </a:rPr>
              <a:t>x</a:t>
            </a:r>
            <a:r>
              <a:rPr lang="zh-CN" altLang="en-US" sz="2400" dirty="0" smtClean="0">
                <a:solidFill>
                  <a:srgbClr val="000000"/>
                </a:solidFill>
              </a:rPr>
              <a:t>变化较缓慢，模型的偏差和方差大，泛化能力差，容易过拟合。</a:t>
            </a:r>
            <a:r>
              <a:rPr lang="en-US" altLang="zh-CN" sz="2400" dirty="0">
                <a:solidFill>
                  <a:srgbClr val="000000"/>
                </a:solidFill>
              </a:rPr>
              <a:t> a^2</a:t>
            </a:r>
            <a:r>
              <a:rPr lang="zh-CN" altLang="en-US" sz="2400" dirty="0" smtClean="0">
                <a:solidFill>
                  <a:srgbClr val="000000"/>
                </a:solidFill>
              </a:rPr>
              <a:t>越小，高斯核函数变化越剧烈，模型的偏差和方差越小，模型对噪声样本比较敏感。</a:t>
            </a:r>
            <a:endParaRPr lang="en-US" altLang="zh-CN" sz="2400" dirty="0" smtClean="0">
              <a:solidFill>
                <a:srgbClr val="000000"/>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endParaRPr kumimoji="0" lang="zh-CN" altLang="en-US">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6" y="573617"/>
            <a:ext cx="1902177"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400" dirty="0"/>
              <a:t>Sigmoid</a:t>
            </a:r>
            <a:r>
              <a:rPr lang="zh-CN" altLang="en-US" sz="2400" dirty="0"/>
              <a:t>核</a:t>
            </a:r>
            <a:endParaRPr lang="zh-CN" altLang="en-US" sz="2400" dirty="0"/>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6" y="1712961"/>
            <a:ext cx="10727267" cy="2603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2400" dirty="0">
                <a:solidFill>
                  <a:srgbClr val="000000"/>
                </a:solidFill>
              </a:rPr>
              <a:t>Sigmoid</a:t>
            </a:r>
            <a:r>
              <a:rPr lang="zh-CN" altLang="en-US" sz="2400" dirty="0">
                <a:solidFill>
                  <a:srgbClr val="000000"/>
                </a:solidFill>
              </a:rPr>
              <a:t>核</a:t>
            </a:r>
            <a:r>
              <a:rPr lang="en-US" altLang="zh-CN" sz="2400" dirty="0">
                <a:solidFill>
                  <a:srgbClr val="000000"/>
                </a:solidFill>
              </a:rPr>
              <a:t>(Sigmoid Kernel)</a:t>
            </a:r>
            <a:r>
              <a:rPr lang="zh-CN" altLang="en-US" sz="2400" dirty="0" smtClean="0">
                <a:solidFill>
                  <a:srgbClr val="000000"/>
                </a:solidFill>
              </a:rPr>
              <a:t>来源于多层感知机（</a:t>
            </a:r>
            <a:r>
              <a:rPr lang="en-US" altLang="zh-CN" sz="2400" dirty="0">
                <a:solidFill>
                  <a:srgbClr val="000000"/>
                </a:solidFill>
              </a:rPr>
              <a:t>MLP</a:t>
            </a:r>
            <a:r>
              <a:rPr lang="zh-CN" altLang="en-US" sz="2400" dirty="0" smtClean="0">
                <a:solidFill>
                  <a:srgbClr val="000000"/>
                </a:solidFill>
              </a:rPr>
              <a:t>）中</a:t>
            </a:r>
            <a:r>
              <a:rPr lang="zh-CN" altLang="en-US" sz="2400" dirty="0">
                <a:solidFill>
                  <a:srgbClr val="000000"/>
                </a:solidFill>
              </a:rPr>
              <a:t>的激活函数，</a:t>
            </a:r>
            <a:r>
              <a:rPr lang="en-US" altLang="zh-CN" sz="2400" dirty="0">
                <a:solidFill>
                  <a:srgbClr val="000000"/>
                </a:solidFill>
              </a:rPr>
              <a:t>SVM</a:t>
            </a:r>
            <a:r>
              <a:rPr lang="zh-CN" altLang="en-US" sz="2400" dirty="0">
                <a:solidFill>
                  <a:srgbClr val="000000"/>
                </a:solidFill>
              </a:rPr>
              <a:t>使用</a:t>
            </a:r>
            <a:r>
              <a:rPr lang="en-US" altLang="zh-CN" sz="2400" dirty="0">
                <a:solidFill>
                  <a:srgbClr val="000000"/>
                </a:solidFill>
              </a:rPr>
              <a:t>Sigmoid</a:t>
            </a:r>
            <a:r>
              <a:rPr lang="zh-CN" altLang="en-US" sz="2400" dirty="0">
                <a:solidFill>
                  <a:srgbClr val="000000"/>
                </a:solidFill>
              </a:rPr>
              <a:t>相当于一个两层的感知机网络，表达式如下：</a:t>
            </a:r>
            <a:endParaRPr lang="en-US" altLang="zh-CN" sz="2400" dirty="0">
              <a:solidFill>
                <a:srgbClr val="000000"/>
              </a:solidFill>
            </a:endParaRPr>
          </a:p>
          <a:p>
            <a:pPr marL="0" indent="0" algn="ctr">
              <a:buNone/>
            </a:pPr>
            <a:endParaRPr lang="en-US" altLang="zh-CN" sz="2400" dirty="0">
              <a:solidFill>
                <a:srgbClr val="000000"/>
              </a:solidFill>
            </a:endParaRPr>
          </a:p>
          <a:p>
            <a:pPr marL="0" indent="0" algn="ctr">
              <a:buNone/>
            </a:pPr>
            <a:r>
              <a:rPr lang="en-US" altLang="zh-CN" sz="2400" dirty="0">
                <a:solidFill>
                  <a:srgbClr val="000000"/>
                </a:solidFill>
              </a:rPr>
              <a:t>K(</a:t>
            </a:r>
            <a:r>
              <a:rPr lang="en-US" altLang="zh-CN" sz="2400" dirty="0" err="1">
                <a:solidFill>
                  <a:srgbClr val="000000"/>
                </a:solidFill>
              </a:rPr>
              <a:t>x,y</a:t>
            </a:r>
            <a:r>
              <a:rPr lang="en-US" altLang="zh-CN" sz="2400" dirty="0">
                <a:solidFill>
                  <a:srgbClr val="000000"/>
                </a:solidFill>
              </a:rPr>
              <a:t>) = </a:t>
            </a:r>
            <a:r>
              <a:rPr lang="en-US" altLang="zh-CN" sz="2400" dirty="0" err="1">
                <a:solidFill>
                  <a:srgbClr val="000000"/>
                </a:solidFill>
              </a:rPr>
              <a:t>tanh</a:t>
            </a:r>
            <a:r>
              <a:rPr lang="en-US" altLang="zh-CN" sz="2400" dirty="0">
                <a:solidFill>
                  <a:srgbClr val="000000"/>
                </a:solidFill>
              </a:rPr>
              <a:t>(a·(</a:t>
            </a:r>
            <a:r>
              <a:rPr lang="en-US" altLang="zh-CN" sz="2400" dirty="0" err="1">
                <a:solidFill>
                  <a:srgbClr val="000000"/>
                </a:solidFill>
              </a:rPr>
              <a:t>x^T</a:t>
            </a:r>
            <a:r>
              <a:rPr lang="en-US" altLang="zh-CN" sz="2400" dirty="0">
                <a:solidFill>
                  <a:srgbClr val="000000"/>
                </a:solidFill>
              </a:rPr>
              <a:t>)·</a:t>
            </a:r>
            <a:r>
              <a:rPr lang="en-US" altLang="zh-CN" sz="2400" dirty="0" err="1">
                <a:solidFill>
                  <a:srgbClr val="000000"/>
                </a:solidFill>
              </a:rPr>
              <a:t>y+c</a:t>
            </a:r>
            <a:r>
              <a:rPr lang="en-US" altLang="zh-CN" sz="2400" dirty="0">
                <a:solidFill>
                  <a:srgbClr val="000000"/>
                </a:solidFill>
              </a:rPr>
              <a:t>)</a:t>
            </a:r>
            <a:endParaRPr lang="en-US" altLang="zh-CN" sz="2400" dirty="0">
              <a:solidFill>
                <a:srgbClr val="000000"/>
              </a:solidFill>
            </a:endParaRPr>
          </a:p>
          <a:p>
            <a:pPr marL="0" indent="0" algn="ctr">
              <a:buNone/>
            </a:pPr>
            <a:r>
              <a:rPr lang="en-US" altLang="zh-CN" sz="2400" dirty="0">
                <a:solidFill>
                  <a:srgbClr val="000000"/>
                </a:solidFill>
              </a:rPr>
              <a:t> </a:t>
            </a:r>
            <a:endParaRPr lang="en-US" altLang="zh-CN" sz="2400" dirty="0">
              <a:solidFill>
                <a:srgbClr val="000000"/>
              </a:solidFill>
            </a:endParaRPr>
          </a:p>
          <a:p>
            <a:pPr marL="0" indent="0">
              <a:buNone/>
            </a:pPr>
            <a:r>
              <a:rPr lang="en-US" altLang="zh-CN" sz="2400" dirty="0">
                <a:solidFill>
                  <a:srgbClr val="000000"/>
                </a:solidFill>
              </a:rPr>
              <a:t>       </a:t>
            </a:r>
            <a:r>
              <a:rPr lang="zh-CN" altLang="en-US" sz="2400" dirty="0">
                <a:solidFill>
                  <a:srgbClr val="000000"/>
                </a:solidFill>
              </a:rPr>
              <a:t>其中</a:t>
            </a:r>
            <a:r>
              <a:rPr lang="en-US" altLang="zh-CN" sz="2400" dirty="0">
                <a:solidFill>
                  <a:srgbClr val="000000"/>
                </a:solidFill>
              </a:rPr>
              <a:t>a</a:t>
            </a:r>
            <a:r>
              <a:rPr lang="zh-CN" altLang="en-US" sz="2400" dirty="0">
                <a:solidFill>
                  <a:srgbClr val="000000"/>
                </a:solidFill>
              </a:rPr>
              <a:t>表示调节参数，</a:t>
            </a:r>
            <a:r>
              <a:rPr lang="en-US" altLang="zh-CN" sz="2400" dirty="0">
                <a:solidFill>
                  <a:srgbClr val="000000"/>
                </a:solidFill>
              </a:rPr>
              <a:t>c</a:t>
            </a:r>
            <a:r>
              <a:rPr lang="zh-CN" altLang="en-US" sz="2400" dirty="0">
                <a:solidFill>
                  <a:srgbClr val="000000"/>
                </a:solidFill>
              </a:rPr>
              <a:t>为可选常数，一般情况</a:t>
            </a:r>
            <a:r>
              <a:rPr lang="en-US" altLang="zh-CN" sz="2400" dirty="0">
                <a:solidFill>
                  <a:srgbClr val="000000"/>
                </a:solidFill>
              </a:rPr>
              <a:t>c</a:t>
            </a:r>
            <a:r>
              <a:rPr lang="zh-CN" altLang="en-US" sz="2400" dirty="0">
                <a:solidFill>
                  <a:srgbClr val="000000"/>
                </a:solidFill>
              </a:rPr>
              <a:t>取</a:t>
            </a:r>
            <a:r>
              <a:rPr lang="en-US" altLang="zh-CN" sz="2400" dirty="0">
                <a:solidFill>
                  <a:srgbClr val="000000"/>
                </a:solidFill>
              </a:rPr>
              <a:t>1/n</a:t>
            </a:r>
            <a:r>
              <a:rPr lang="zh-CN" altLang="en-US" sz="2400" dirty="0">
                <a:solidFill>
                  <a:srgbClr val="000000"/>
                </a:solidFill>
              </a:rPr>
              <a:t>，</a:t>
            </a:r>
            <a:r>
              <a:rPr lang="en-US" altLang="zh-CN" sz="2400" dirty="0">
                <a:solidFill>
                  <a:srgbClr val="000000"/>
                </a:solidFill>
              </a:rPr>
              <a:t>n</a:t>
            </a:r>
            <a:r>
              <a:rPr lang="zh-CN" altLang="en-US" sz="2400" dirty="0">
                <a:solidFill>
                  <a:srgbClr val="000000"/>
                </a:solidFill>
              </a:rPr>
              <a:t>是数据维度。</a:t>
            </a:r>
            <a:endParaRPr lang="en-US" altLang="zh-CN" sz="2400" dirty="0">
              <a:solidFill>
                <a:srgbClr val="000000"/>
              </a:solidFill>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191369"/>
            <a:ext cx="8015583" cy="752385"/>
          </a:xfrm>
        </p:spPr>
        <p:txBody>
          <a:bodyPr/>
          <a:lstStyle/>
          <a:p>
            <a:pPr>
              <a:lnSpc>
                <a:spcPct val="150000"/>
              </a:lnSpc>
            </a:pPr>
            <a:r>
              <a:rPr lang="zh-CN" altLang="zh-CN" dirty="0"/>
              <a:t>非线性支持向量机的程序流程图</a:t>
            </a:r>
            <a:endParaRPr lang="zh-CN" altLang="zh-CN" dirty="0">
              <a:latin typeface="+mn-ea"/>
            </a:endParaRPr>
          </a:p>
        </p:txBody>
      </p:sp>
      <p:pic>
        <p:nvPicPr>
          <p:cNvPr id="3" name="图片 2"/>
          <p:cNvPicPr>
            <a:picLocks noChangeAspect="1"/>
          </p:cNvPicPr>
          <p:nvPr/>
        </p:nvPicPr>
        <p:blipFill>
          <a:blip r:embed="rId1"/>
          <a:stretch>
            <a:fillRect/>
          </a:stretch>
        </p:blipFill>
        <p:spPr>
          <a:xfrm>
            <a:off x="4676197" y="943754"/>
            <a:ext cx="2839606" cy="558190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r>
              <a:rPr lang="zh-CN" altLang="en-US" dirty="0" smtClean="0"/>
              <a:t>   </a:t>
            </a:r>
            <a:endParaRPr lang="zh-CN" altLang="en-US" dirty="0"/>
          </a:p>
        </p:txBody>
      </p:sp>
      <p:sp>
        <p:nvSpPr>
          <p:cNvPr id="4" name="标题 3"/>
          <p:cNvSpPr>
            <a:spLocks noGrp="1"/>
          </p:cNvSpPr>
          <p:nvPr>
            <p:ph type="title"/>
          </p:nvPr>
        </p:nvSpPr>
        <p:spPr>
          <a:xfrm>
            <a:off x="295910" y="509270"/>
            <a:ext cx="4959985" cy="607060"/>
          </a:xfrm>
        </p:spPr>
        <p:txBody>
          <a:bodyPr/>
          <a:lstStyle/>
          <a:p>
            <a:pPr algn="just"/>
            <a:r>
              <a:rPr altLang="zh-CN" dirty="0" smtClean="0"/>
              <a:t>实现及参数</a:t>
            </a:r>
            <a:endParaRPr altLang="zh-CN" dirty="0"/>
          </a:p>
        </p:txBody>
      </p:sp>
      <p:sp>
        <p:nvSpPr>
          <p:cNvPr id="5" name="内容占位符 1"/>
          <p:cNvSpPr>
            <a:spLocks noGrp="1"/>
          </p:cNvSpPr>
          <p:nvPr>
            <p:ph idx="1"/>
          </p:nvPr>
        </p:nvSpPr>
        <p:spPr>
          <a:xfrm>
            <a:off x="295910" y="1454728"/>
            <a:ext cx="11184981" cy="3935210"/>
          </a:xfrm>
        </p:spPr>
        <p:txBody>
          <a:bodyPr>
            <a:normAutofit lnSpcReduction="10000"/>
          </a:bodyPr>
          <a:lstStyle/>
          <a:p>
            <a:pPr marL="687705" indent="0" fontAlgn="auto">
              <a:buNone/>
            </a:pPr>
            <a:r>
              <a:rPr sz="2000" dirty="0">
                <a:solidFill>
                  <a:schemeClr val="tx1">
                    <a:lumMod val="75000"/>
                    <a:lumOff val="25000"/>
                  </a:schemeClr>
                </a:solidFill>
              </a:rPr>
              <a:t> </a:t>
            </a:r>
            <a:endParaRPr sz="2000" dirty="0">
              <a:solidFill>
                <a:schemeClr val="tx1">
                  <a:lumMod val="75000"/>
                  <a:lumOff val="25000"/>
                </a:schemeClr>
              </a:solidFill>
            </a:endParaRPr>
          </a:p>
          <a:p>
            <a:pPr marL="687705" indent="0" fontAlgn="auto">
              <a:buNone/>
            </a:pPr>
            <a:r>
              <a:rPr sz="2000" b="1" dirty="0">
                <a:solidFill>
                  <a:srgbClr val="0070C0"/>
                </a:solidFill>
                <a:latin typeface="华文楷体" panose="02010600040101010101" pitchFamily="2" charset="-122"/>
                <a:ea typeface="华文楷体" panose="02010600040101010101" pitchFamily="2" charset="-122"/>
              </a:rPr>
              <a:t>Scikit-learn中实现SVM分类算法的SVC类如下：</a:t>
            </a:r>
            <a:endParaRPr sz="2000" b="1" dirty="0">
              <a:solidFill>
                <a:srgbClr val="0070C0"/>
              </a:solidFill>
              <a:latin typeface="华文楷体" panose="02010600040101010101" pitchFamily="2" charset="-122"/>
              <a:ea typeface="华文楷体" panose="02010600040101010101" pitchFamily="2" charset="-122"/>
            </a:endParaRPr>
          </a:p>
          <a:p>
            <a:pPr marL="687705" indent="0" fontAlgn="auto">
              <a:buNone/>
            </a:pPr>
            <a:r>
              <a:rPr sz="2000" b="1" dirty="0">
                <a:solidFill>
                  <a:srgbClr val="0070C0"/>
                </a:solidFill>
                <a:latin typeface="华文楷体" panose="02010600040101010101" pitchFamily="2" charset="-122"/>
                <a:ea typeface="华文楷体" panose="02010600040101010101" pitchFamily="2" charset="-122"/>
              </a:rPr>
              <a:t>sklearn.svm.SVC(C=1.0, kernel='rbf', degree=3, gamma='scale', coef0=0.0, shrinking=True，</a:t>
            </a:r>
            <a:endParaRPr sz="2000" b="1" dirty="0">
              <a:solidFill>
                <a:srgbClr val="0070C0"/>
              </a:solidFill>
              <a:latin typeface="华文楷体" panose="02010600040101010101" pitchFamily="2" charset="-122"/>
              <a:ea typeface="华文楷体" panose="02010600040101010101" pitchFamily="2" charset="-122"/>
            </a:endParaRPr>
          </a:p>
          <a:p>
            <a:pPr marL="687705" indent="0" fontAlgn="auto">
              <a:buNone/>
            </a:pPr>
            <a:r>
              <a:rPr sz="2000" b="1" dirty="0">
                <a:solidFill>
                  <a:srgbClr val="0070C0"/>
                </a:solidFill>
                <a:latin typeface="华文楷体" panose="02010600040101010101" pitchFamily="2" charset="-122"/>
                <a:ea typeface="华文楷体" panose="02010600040101010101" pitchFamily="2" charset="-122"/>
              </a:rPr>
              <a:t> probability=False, tol=0.001, cache_size=200, class_weight=None, verbose=False, </a:t>
            </a:r>
            <a:endParaRPr sz="2000" b="1" dirty="0">
              <a:solidFill>
                <a:srgbClr val="0070C0"/>
              </a:solidFill>
              <a:latin typeface="华文楷体" panose="02010600040101010101" pitchFamily="2" charset="-122"/>
              <a:ea typeface="华文楷体" panose="02010600040101010101" pitchFamily="2" charset="-122"/>
            </a:endParaRPr>
          </a:p>
          <a:p>
            <a:pPr marL="687705" indent="0" fontAlgn="auto">
              <a:buNone/>
            </a:pPr>
            <a:r>
              <a:rPr sz="2000" b="1" dirty="0">
                <a:solidFill>
                  <a:srgbClr val="0070C0"/>
                </a:solidFill>
                <a:latin typeface="华文楷体" panose="02010600040101010101" pitchFamily="2" charset="-122"/>
                <a:ea typeface="华文楷体" panose="02010600040101010101" pitchFamily="2" charset="-122"/>
              </a:rPr>
              <a:t> max_iter=-1, decision_function_shape='ovr', break_ties=False, random_state=None)</a:t>
            </a:r>
            <a:endParaRPr sz="2000" b="1" dirty="0">
              <a:solidFill>
                <a:srgbClr val="0070C0"/>
              </a:solidFill>
              <a:latin typeface="华文楷体" panose="02010600040101010101" pitchFamily="2" charset="-122"/>
              <a:ea typeface="华文楷体" panose="02010600040101010101" pitchFamily="2" charset="-122"/>
            </a:endParaRPr>
          </a:p>
          <a:p>
            <a:pPr marL="687705" indent="0" fontAlgn="auto">
              <a:buNone/>
            </a:pPr>
            <a:r>
              <a:rPr sz="2000" dirty="0">
                <a:latin typeface="华文楷体" panose="02010600040101010101" pitchFamily="2" charset="-122"/>
                <a:ea typeface="华文楷体" panose="02010600040101010101" pitchFamily="2" charset="-122"/>
              </a:rPr>
              <a:t>其主要参数为：</a:t>
            </a:r>
            <a:endParaRPr sz="2000" dirty="0">
              <a:latin typeface="华文楷体" panose="02010600040101010101" pitchFamily="2" charset="-122"/>
              <a:ea typeface="华文楷体" panose="02010600040101010101" pitchFamily="2" charset="-122"/>
            </a:endParaRPr>
          </a:p>
          <a:p>
            <a:pPr marL="687705" indent="0" fontAlgn="auto">
              <a:buNone/>
            </a:pPr>
            <a:r>
              <a:rPr sz="2000" dirty="0">
                <a:latin typeface="华文楷体" panose="02010600040101010101" pitchFamily="2" charset="-122"/>
                <a:ea typeface="华文楷体" panose="02010600040101010101" pitchFamily="2" charset="-122"/>
              </a:rPr>
              <a:t>1）C：惩罚系数。数据类型为浮点型，值严格大于0，常选用C=1.0。</a:t>
            </a:r>
            <a:endParaRPr sz="2000" dirty="0">
              <a:latin typeface="华文楷体" panose="02010600040101010101" pitchFamily="2" charset="-122"/>
              <a:ea typeface="华文楷体" panose="02010600040101010101" pitchFamily="2" charset="-122"/>
            </a:endParaRPr>
          </a:p>
          <a:p>
            <a:pPr marL="687705" indent="0" fontAlgn="auto">
              <a:buNone/>
            </a:pPr>
            <a:r>
              <a:rPr sz="2000" dirty="0">
                <a:latin typeface="华文楷体" panose="02010600040101010101" pitchFamily="2" charset="-122"/>
                <a:ea typeface="华文楷体" panose="02010600040101010101" pitchFamily="2" charset="-122"/>
              </a:rPr>
              <a:t>2）kernel：核函数。</a:t>
            </a:r>
            <a:r>
              <a:rPr sz="2000" dirty="0" smtClean="0">
                <a:latin typeface="华文楷体" panose="02010600040101010101" pitchFamily="2" charset="-122"/>
                <a:ea typeface="华文楷体" panose="02010600040101010101" pitchFamily="2" charset="-122"/>
              </a:rPr>
              <a:t>值</a:t>
            </a:r>
            <a:r>
              <a:rPr lang="zh-CN" altLang="en-US" sz="2000" dirty="0" smtClean="0">
                <a:latin typeface="华文楷体" panose="02010600040101010101" pitchFamily="2" charset="-122"/>
                <a:ea typeface="华文楷体" panose="02010600040101010101" pitchFamily="2" charset="-122"/>
              </a:rPr>
              <a:t>可选</a:t>
            </a:r>
            <a:r>
              <a:rPr sz="2000" dirty="0" smtClean="0">
                <a:latin typeface="华文楷体" panose="02010600040101010101" pitchFamily="2" charset="-122"/>
                <a:ea typeface="华文楷体" panose="02010600040101010101" pitchFamily="2" charset="-122"/>
              </a:rPr>
              <a:t>linear、poly、rbf、sigmoid、precomputed或可调用核函数等参数。</a:t>
            </a:r>
            <a:r>
              <a:rPr sz="2000" dirty="0">
                <a:latin typeface="华文楷体" panose="02010600040101010101" pitchFamily="2" charset="-122"/>
                <a:ea typeface="华文楷体" panose="02010600040101010101" pitchFamily="2" charset="-122"/>
              </a:rPr>
              <a:t>若不指定该参数值，则自动使用默认参数值rfb</a:t>
            </a:r>
            <a:r>
              <a:rPr sz="2000" dirty="0" smtClean="0">
                <a:latin typeface="华文楷体" panose="02010600040101010101" pitchFamily="2" charset="-122"/>
                <a:ea typeface="华文楷体" panose="02010600040101010101" pitchFamily="2" charset="-122"/>
              </a:rPr>
              <a:t>。</a:t>
            </a:r>
            <a:endParaRPr sz="2000" dirty="0">
              <a:latin typeface="华文楷体" panose="02010600040101010101" pitchFamily="2" charset="-122"/>
              <a:ea typeface="华文楷体" panose="02010600040101010101" pitchFamily="2" charset="-122"/>
            </a:endParaRPr>
          </a:p>
          <a:p>
            <a:pPr marL="687705" indent="0" fontAlgn="auto">
              <a:buNone/>
            </a:pPr>
            <a:r>
              <a:rPr sz="2000" dirty="0">
                <a:latin typeface="华文楷体" panose="02010600040101010101" pitchFamily="2" charset="-122"/>
                <a:ea typeface="华文楷体" panose="02010600040101010101" pitchFamily="2" charset="-122"/>
              </a:rPr>
              <a:t>3）degree：多项式核函数阶数。数据类型为整型，若不指定该参数值，则自动使用默认参数值3。仅当kernel参数选用poly时有效，其他核函数下该参数无效。</a:t>
            </a:r>
            <a:endParaRPr sz="2000" dirty="0">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r>
              <a:rPr lang="zh-CN" altLang="en-US" dirty="0" smtClean="0"/>
              <a:t>   </a:t>
            </a:r>
            <a:endParaRPr lang="zh-CN" altLang="en-US" dirty="0"/>
          </a:p>
        </p:txBody>
      </p:sp>
      <p:sp>
        <p:nvSpPr>
          <p:cNvPr id="4" name="标题 3"/>
          <p:cNvSpPr>
            <a:spLocks noGrp="1"/>
          </p:cNvSpPr>
          <p:nvPr>
            <p:ph type="title"/>
          </p:nvPr>
        </p:nvSpPr>
        <p:spPr>
          <a:xfrm>
            <a:off x="295910" y="509270"/>
            <a:ext cx="4959985" cy="607060"/>
          </a:xfrm>
        </p:spPr>
        <p:txBody>
          <a:bodyPr/>
          <a:lstStyle/>
          <a:p>
            <a:pPr algn="just"/>
            <a:r>
              <a:rPr altLang="zh-CN" dirty="0" smtClean="0"/>
              <a:t>实现及参数</a:t>
            </a:r>
            <a:endParaRPr altLang="zh-CN" dirty="0"/>
          </a:p>
        </p:txBody>
      </p:sp>
      <p:sp>
        <p:nvSpPr>
          <p:cNvPr id="5" name="内容占位符 1"/>
          <p:cNvSpPr>
            <a:spLocks noGrp="1"/>
          </p:cNvSpPr>
          <p:nvPr>
            <p:ph idx="1"/>
          </p:nvPr>
        </p:nvSpPr>
        <p:spPr>
          <a:xfrm>
            <a:off x="193559" y="1482437"/>
            <a:ext cx="11256233" cy="5043574"/>
          </a:xfrm>
        </p:spPr>
        <p:txBody>
          <a:bodyPr>
            <a:normAutofit fontScale="97500"/>
          </a:bodyPr>
          <a:lstStyle/>
          <a:p>
            <a:pPr marL="687705" indent="0" fontAlgn="auto">
              <a:buNone/>
            </a:pPr>
            <a:r>
              <a:rPr sz="2100" dirty="0">
                <a:solidFill>
                  <a:schemeClr val="tx1">
                    <a:lumMod val="75000"/>
                    <a:lumOff val="25000"/>
                  </a:schemeClr>
                </a:solidFill>
              </a:rPr>
              <a:t> 4）gamma：指定核函数的系数。数据类型为浮点型或可选scale、auto。当核函数参数kernel为poly、rbf和sigmoid时，指定系数。若不指定该参数值，则自动使用默认参数值scale。</a:t>
            </a:r>
            <a:endParaRPr sz="2100" dirty="0">
              <a:solidFill>
                <a:schemeClr val="tx1">
                  <a:lumMod val="75000"/>
                  <a:lumOff val="25000"/>
                </a:schemeClr>
              </a:solidFill>
            </a:endParaRPr>
          </a:p>
          <a:p>
            <a:pPr marL="687705" indent="0" fontAlgn="auto">
              <a:buNone/>
            </a:pPr>
            <a:r>
              <a:rPr sz="2100" dirty="0">
                <a:solidFill>
                  <a:schemeClr val="tx1">
                    <a:lumMod val="75000"/>
                    <a:lumOff val="25000"/>
                  </a:schemeClr>
                </a:solidFill>
              </a:rPr>
              <a:t>5）coef0：核函数自由项。数据类型为浮点型，若不指定该参数值，则自动使用默认参数值0.0。只有当核函数kernel参数为poly和sigmoid时有效。</a:t>
            </a:r>
            <a:endParaRPr sz="2100" dirty="0">
              <a:solidFill>
                <a:schemeClr val="tx1">
                  <a:lumMod val="75000"/>
                  <a:lumOff val="25000"/>
                </a:schemeClr>
              </a:solidFill>
            </a:endParaRPr>
          </a:p>
          <a:p>
            <a:pPr marL="687705" indent="0" fontAlgn="auto">
              <a:buNone/>
            </a:pPr>
            <a:r>
              <a:rPr sz="2100" dirty="0">
                <a:solidFill>
                  <a:schemeClr val="tx1">
                    <a:lumMod val="75000"/>
                    <a:lumOff val="25000"/>
                  </a:schemeClr>
                </a:solidFill>
              </a:rPr>
              <a:t>6）shrinking：是否使用缩小的启发方式。数据类型为布尔型，若不指定该参数值，则自动使用默认参数值True。</a:t>
            </a:r>
            <a:endParaRPr sz="2100" dirty="0">
              <a:solidFill>
                <a:schemeClr val="tx1">
                  <a:lumMod val="75000"/>
                  <a:lumOff val="25000"/>
                </a:schemeClr>
              </a:solidFill>
            </a:endParaRPr>
          </a:p>
          <a:p>
            <a:pPr marL="687705" indent="0" fontAlgn="auto">
              <a:buNone/>
            </a:pPr>
            <a:r>
              <a:rPr sz="2100" dirty="0">
                <a:solidFill>
                  <a:schemeClr val="tx1">
                    <a:lumMod val="75000"/>
                    <a:lumOff val="25000"/>
                  </a:schemeClr>
                </a:solidFill>
              </a:rPr>
              <a:t>7）probability：是否启用概率估计。数据类型为布尔型，若不指定该参数值，则自动使用默认参数值False。这必须在调用fit()之前启用，并且会使fit()方法速度变慢。</a:t>
            </a:r>
            <a:endParaRPr sz="2100" dirty="0">
              <a:solidFill>
                <a:schemeClr val="tx1">
                  <a:lumMod val="75000"/>
                  <a:lumOff val="25000"/>
                </a:schemeClr>
              </a:solidFill>
            </a:endParaRPr>
          </a:p>
          <a:p>
            <a:pPr marL="687705" indent="0" fontAlgn="auto">
              <a:buNone/>
            </a:pPr>
            <a:r>
              <a:rPr sz="2100" dirty="0">
                <a:solidFill>
                  <a:schemeClr val="tx1">
                    <a:lumMod val="75000"/>
                    <a:lumOff val="25000"/>
                  </a:schemeClr>
                </a:solidFill>
              </a:rPr>
              <a:t>8）tol：停止训练的误差精度。数据类型为浮点型，若不指定该参数，</a:t>
            </a:r>
            <a:r>
              <a:rPr sz="2100" dirty="0" smtClean="0">
                <a:solidFill>
                  <a:schemeClr val="tx1">
                    <a:lumMod val="75000"/>
                    <a:lumOff val="25000"/>
                  </a:schemeClr>
                </a:solidFill>
              </a:rPr>
              <a:t>则使用默认参数0.001</a:t>
            </a:r>
            <a:r>
              <a:rPr sz="2100" dirty="0">
                <a:solidFill>
                  <a:schemeClr val="tx1">
                    <a:lumMod val="75000"/>
                    <a:lumOff val="25000"/>
                  </a:schemeClr>
                </a:solidFill>
              </a:rPr>
              <a:t>。</a:t>
            </a:r>
            <a:endParaRPr sz="2100" dirty="0">
              <a:solidFill>
                <a:schemeClr val="tx1">
                  <a:lumMod val="75000"/>
                  <a:lumOff val="25000"/>
                </a:schemeClr>
              </a:solidFill>
            </a:endParaRPr>
          </a:p>
          <a:p>
            <a:pPr marL="687705" indent="0" fontAlgn="auto">
              <a:buNone/>
            </a:pPr>
            <a:r>
              <a:rPr sz="2100" dirty="0">
                <a:solidFill>
                  <a:schemeClr val="tx1">
                    <a:lumMod val="75000"/>
                    <a:lumOff val="25000"/>
                  </a:schemeClr>
                </a:solidFill>
              </a:rPr>
              <a:t>9）cache_size：指定训练所需要的内存。数据类型为浮点型，以MB为单位，若不指定该参数，则使用默认参数值200MB。</a:t>
            </a:r>
            <a:endParaRPr sz="2100" dirty="0">
              <a:solidFill>
                <a:schemeClr val="tx1">
                  <a:lumMod val="75000"/>
                  <a:lumOff val="25000"/>
                </a:schemeClr>
              </a:solidFill>
            </a:endParaRPr>
          </a:p>
          <a:p>
            <a:pPr marL="687705" indent="0" fontAlgn="auto">
              <a:buNone/>
            </a:pPr>
            <a:r>
              <a:rPr sz="2100" dirty="0">
                <a:solidFill>
                  <a:schemeClr val="tx1">
                    <a:lumMod val="75000"/>
                    <a:lumOff val="25000"/>
                  </a:schemeClr>
                </a:solidFill>
              </a:rPr>
              <a:t>10）class_weight：样本数据中每个类的权重。数据类型为字典、balanced或None，若不指定该参数值，则自动使用默认参数值None</a:t>
            </a:r>
            <a:r>
              <a:rPr sz="2100" dirty="0" smtClean="0">
                <a:solidFill>
                  <a:schemeClr val="tx1">
                    <a:lumMod val="75000"/>
                    <a:lumOff val="25000"/>
                  </a:schemeClr>
                </a:solidFill>
              </a:rPr>
              <a:t>。</a:t>
            </a:r>
            <a:endParaRPr sz="1600" dirty="0">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r>
              <a:rPr lang="zh-CN" altLang="en-US" dirty="0" smtClean="0"/>
              <a:t> </a:t>
            </a:r>
            <a:endParaRPr lang="zh-CN" altLang="en-US" dirty="0"/>
          </a:p>
        </p:txBody>
      </p:sp>
      <p:sp>
        <p:nvSpPr>
          <p:cNvPr id="4" name="标题 3"/>
          <p:cNvSpPr>
            <a:spLocks noGrp="1"/>
          </p:cNvSpPr>
          <p:nvPr>
            <p:ph type="title"/>
          </p:nvPr>
        </p:nvSpPr>
        <p:spPr>
          <a:xfrm>
            <a:off x="295910" y="509270"/>
            <a:ext cx="4959985" cy="607060"/>
          </a:xfrm>
        </p:spPr>
        <p:txBody>
          <a:bodyPr/>
          <a:lstStyle/>
          <a:p>
            <a:pPr algn="just"/>
            <a:r>
              <a:rPr altLang="zh-CN" dirty="0" smtClean="0"/>
              <a:t>实现及参数</a:t>
            </a:r>
            <a:endParaRPr altLang="zh-CN" dirty="0"/>
          </a:p>
        </p:txBody>
      </p:sp>
      <p:sp>
        <p:nvSpPr>
          <p:cNvPr id="5" name="内容占位符 1"/>
          <p:cNvSpPr>
            <a:spLocks noGrp="1"/>
          </p:cNvSpPr>
          <p:nvPr>
            <p:ph idx="1"/>
          </p:nvPr>
        </p:nvSpPr>
        <p:spPr>
          <a:xfrm>
            <a:off x="295910" y="1219201"/>
            <a:ext cx="11481864" cy="5071283"/>
          </a:xfrm>
        </p:spPr>
        <p:txBody>
          <a:bodyPr>
            <a:noAutofit/>
          </a:bodyPr>
          <a:lstStyle/>
          <a:p>
            <a:pPr marL="687705" indent="0" fontAlgn="auto">
              <a:buNone/>
            </a:pPr>
            <a:r>
              <a:rPr sz="2000" dirty="0">
                <a:solidFill>
                  <a:schemeClr val="tx1">
                    <a:lumMod val="75000"/>
                    <a:lumOff val="25000"/>
                  </a:schemeClr>
                </a:solidFill>
              </a:rPr>
              <a:t>11）verbose：是否启用详细输出。数据类型为布尔型，若不指定该参数值，</a:t>
            </a:r>
            <a:r>
              <a:rPr sz="2000" dirty="0" smtClean="0">
                <a:solidFill>
                  <a:schemeClr val="tx1">
                    <a:lumMod val="75000"/>
                    <a:lumOff val="25000"/>
                  </a:schemeClr>
                </a:solidFill>
              </a:rPr>
              <a:t>则默认</a:t>
            </a:r>
            <a:r>
              <a:rPr lang="zh-CN" altLang="en-US" sz="2000" dirty="0">
                <a:solidFill>
                  <a:schemeClr val="tx1">
                    <a:lumMod val="75000"/>
                    <a:lumOff val="25000"/>
                  </a:schemeClr>
                </a:solidFill>
              </a:rPr>
              <a:t>取</a:t>
            </a:r>
            <a:r>
              <a:rPr sz="2000" dirty="0" err="1" smtClean="0">
                <a:solidFill>
                  <a:schemeClr val="tx1">
                    <a:lumMod val="75000"/>
                    <a:lumOff val="25000"/>
                  </a:schemeClr>
                </a:solidFill>
              </a:rPr>
              <a:t>值</a:t>
            </a:r>
            <a:r>
              <a:rPr sz="2000" dirty="0" err="1">
                <a:solidFill>
                  <a:schemeClr val="tx1">
                    <a:lumMod val="75000"/>
                    <a:lumOff val="25000"/>
                  </a:schemeClr>
                </a:solidFill>
              </a:rPr>
              <a:t>False</a:t>
            </a:r>
            <a:r>
              <a:rPr sz="2000" dirty="0">
                <a:solidFill>
                  <a:schemeClr val="tx1">
                    <a:lumMod val="75000"/>
                    <a:lumOff val="25000"/>
                  </a:schemeClr>
                </a:solidFill>
              </a:rPr>
              <a:t>。</a:t>
            </a:r>
            <a:endParaRPr sz="2000" dirty="0">
              <a:solidFill>
                <a:schemeClr val="tx1">
                  <a:lumMod val="75000"/>
                  <a:lumOff val="25000"/>
                </a:schemeClr>
              </a:solidFill>
            </a:endParaRPr>
          </a:p>
          <a:p>
            <a:pPr marL="687705" indent="0" fontAlgn="auto">
              <a:buNone/>
            </a:pPr>
            <a:r>
              <a:rPr sz="2000" dirty="0">
                <a:solidFill>
                  <a:schemeClr val="tx1">
                    <a:lumMod val="75000"/>
                    <a:lumOff val="25000"/>
                  </a:schemeClr>
                </a:solidFill>
              </a:rPr>
              <a:t>12）max_iter：最大迭代次数。数据类型为整型，若不指定该参数值，</a:t>
            </a:r>
            <a:r>
              <a:rPr sz="2000" dirty="0" smtClean="0">
                <a:solidFill>
                  <a:schemeClr val="tx1">
                    <a:lumMod val="75000"/>
                    <a:lumOff val="25000"/>
                  </a:schemeClr>
                </a:solidFill>
              </a:rPr>
              <a:t>则使用默认参数值</a:t>
            </a:r>
            <a:r>
              <a:rPr sz="2000" dirty="0">
                <a:solidFill>
                  <a:schemeClr val="tx1">
                    <a:lumMod val="75000"/>
                    <a:lumOff val="25000"/>
                  </a:schemeClr>
                </a:solidFill>
              </a:rPr>
              <a:t>-1，表示不限制迭代次数。</a:t>
            </a:r>
            <a:endParaRPr sz="2000" dirty="0">
              <a:solidFill>
                <a:schemeClr val="tx1">
                  <a:lumMod val="75000"/>
                  <a:lumOff val="25000"/>
                </a:schemeClr>
              </a:solidFill>
            </a:endParaRPr>
          </a:p>
          <a:p>
            <a:pPr marL="687705" indent="0" fontAlgn="auto">
              <a:buNone/>
            </a:pPr>
            <a:r>
              <a:rPr sz="2000" dirty="0">
                <a:solidFill>
                  <a:schemeClr val="tx1">
                    <a:lumMod val="75000"/>
                    <a:lumOff val="25000"/>
                  </a:schemeClr>
                </a:solidFill>
              </a:rPr>
              <a:t>13）decision_function_shap：指定决策函数的形状。有ovo、ovr参数值可选，若不指定该参数，则自动使用默认参数值ovr。</a:t>
            </a:r>
            <a:endParaRPr sz="2000" dirty="0">
              <a:solidFill>
                <a:schemeClr val="tx1">
                  <a:lumMod val="75000"/>
                  <a:lumOff val="25000"/>
                </a:schemeClr>
              </a:solidFill>
            </a:endParaRPr>
          </a:p>
          <a:p>
            <a:pPr marL="687705" indent="0" fontAlgn="auto">
              <a:buNone/>
            </a:pPr>
            <a:r>
              <a:rPr sz="2000" dirty="0">
                <a:solidFill>
                  <a:schemeClr val="tx1">
                    <a:lumMod val="75000"/>
                    <a:lumOff val="25000"/>
                  </a:schemeClr>
                </a:solidFill>
              </a:rPr>
              <a:t>14）random_state：随机种子的设置。若不指定该参数值，则自动使用默认参数值None，即使用当前系统时间作为种子，每次随机结果不同。</a:t>
            </a:r>
            <a:endParaRPr sz="2000" dirty="0">
              <a:solidFill>
                <a:schemeClr val="tx1">
                  <a:lumMod val="75000"/>
                  <a:lumOff val="25000"/>
                </a:schemeClr>
              </a:solidFill>
            </a:endParaRPr>
          </a:p>
          <a:p>
            <a:pPr marL="687705" indent="0" fontAlgn="auto">
              <a:buNone/>
            </a:pPr>
            <a:r>
              <a:rPr sz="2000" dirty="0">
                <a:solidFill>
                  <a:schemeClr val="tx1">
                    <a:lumMod val="75000"/>
                    <a:lumOff val="25000"/>
                  </a:schemeClr>
                </a:solidFill>
              </a:rPr>
              <a:t>其主要属性为：</a:t>
            </a:r>
            <a:endParaRPr sz="2000" dirty="0">
              <a:solidFill>
                <a:schemeClr val="tx1">
                  <a:lumMod val="75000"/>
                  <a:lumOff val="25000"/>
                </a:schemeClr>
              </a:solidFill>
            </a:endParaRPr>
          </a:p>
          <a:p>
            <a:pPr marL="687705" indent="0" fontAlgn="auto">
              <a:buNone/>
            </a:pPr>
            <a:r>
              <a:rPr sz="2000" dirty="0">
                <a:solidFill>
                  <a:schemeClr val="tx1">
                    <a:lumMod val="75000"/>
                    <a:lumOff val="25000"/>
                  </a:schemeClr>
                </a:solidFill>
              </a:rPr>
              <a:t>1）support_：支持向量的下标。</a:t>
            </a:r>
            <a:endParaRPr sz="2000" dirty="0">
              <a:solidFill>
                <a:schemeClr val="tx1">
                  <a:lumMod val="75000"/>
                  <a:lumOff val="25000"/>
                </a:schemeClr>
              </a:solidFill>
            </a:endParaRPr>
          </a:p>
          <a:p>
            <a:pPr marL="687705" indent="0" fontAlgn="auto">
              <a:buNone/>
            </a:pPr>
            <a:r>
              <a:rPr sz="2000" dirty="0">
                <a:solidFill>
                  <a:schemeClr val="tx1">
                    <a:lumMod val="75000"/>
                    <a:lumOff val="25000"/>
                  </a:schemeClr>
                </a:solidFill>
              </a:rPr>
              <a:t>2）support_vectors_：支持向量集。</a:t>
            </a:r>
            <a:endParaRPr sz="2000" dirty="0">
              <a:solidFill>
                <a:schemeClr val="tx1">
                  <a:lumMod val="75000"/>
                  <a:lumOff val="25000"/>
                </a:schemeClr>
              </a:solidFill>
            </a:endParaRPr>
          </a:p>
          <a:p>
            <a:pPr marL="687705" indent="0" fontAlgn="auto">
              <a:buNone/>
            </a:pPr>
            <a:r>
              <a:rPr sz="2000" dirty="0">
                <a:solidFill>
                  <a:schemeClr val="tx1">
                    <a:lumMod val="75000"/>
                    <a:lumOff val="25000"/>
                  </a:schemeClr>
                </a:solidFill>
              </a:rPr>
              <a:t>3）n_support：每个分类的支持向量数。</a:t>
            </a:r>
            <a:endParaRPr sz="2000" dirty="0">
              <a:solidFill>
                <a:schemeClr val="tx1">
                  <a:lumMod val="75000"/>
                  <a:lumOff val="25000"/>
                </a:schemeClr>
              </a:solidFill>
            </a:endParaRPr>
          </a:p>
          <a:p>
            <a:pPr marL="687705" indent="0" fontAlgn="auto">
              <a:buNone/>
            </a:pPr>
            <a:r>
              <a:rPr sz="2000" dirty="0">
                <a:solidFill>
                  <a:schemeClr val="tx1">
                    <a:lumMod val="75000"/>
                    <a:lumOff val="25000"/>
                  </a:schemeClr>
                </a:solidFill>
              </a:rPr>
              <a:t>4）dual_coef_：分类决策函数中每个支持向量的系数。</a:t>
            </a:r>
            <a:endParaRPr sz="2000" dirty="0">
              <a:solidFill>
                <a:schemeClr val="tx1">
                  <a:lumMod val="75000"/>
                  <a:lumOff val="25000"/>
                </a:schemeClr>
              </a:solidFill>
            </a:endParaRPr>
          </a:p>
          <a:p>
            <a:pPr marL="687705" indent="0" fontAlgn="auto">
              <a:buNone/>
            </a:pPr>
            <a:r>
              <a:rPr sz="2000" dirty="0">
                <a:solidFill>
                  <a:schemeClr val="tx1">
                    <a:lumMod val="75000"/>
                    <a:lumOff val="25000"/>
                  </a:schemeClr>
                </a:solidFill>
              </a:rPr>
              <a:t>5）coef_:每个特征的系数，仅在线性核下有效。</a:t>
            </a:r>
            <a:endParaRPr sz="2000" dirty="0">
              <a:solidFill>
                <a:schemeClr val="tx1">
                  <a:lumMod val="75000"/>
                  <a:lumOff val="25000"/>
                </a:schemeClr>
              </a:solidFill>
            </a:endParaRPr>
          </a:p>
          <a:p>
            <a:pPr marL="687705" indent="0" fontAlgn="auto">
              <a:buNone/>
            </a:pPr>
            <a:r>
              <a:rPr sz="2000" dirty="0">
                <a:solidFill>
                  <a:schemeClr val="tx1">
                    <a:lumMod val="75000"/>
                    <a:lumOff val="25000"/>
                  </a:schemeClr>
                </a:solidFill>
              </a:rPr>
              <a:t>6）intercept_:决策函数中常数项。</a:t>
            </a:r>
            <a:endParaRPr sz="2000" dirty="0">
              <a:solidFill>
                <a:schemeClr val="tx1">
                  <a:lumMod val="75000"/>
                  <a:lumOff val="25000"/>
                </a:schemeClr>
              </a:solidFill>
            </a:endParaRPr>
          </a:p>
          <a:p>
            <a:pPr marL="687705" indent="0" fontAlgn="auto">
              <a:buNone/>
            </a:pPr>
            <a:endParaRPr sz="1100" dirty="0">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04</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算法实例</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840179" y="3580755"/>
            <a:ext cx="3469667" cy="1077218"/>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INSTANCE</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SVM</a:t>
            </a:r>
            <a:r>
              <a:rPr lang="zh-CN" altLang="en-US" dirty="0"/>
              <a:t>算法</a:t>
            </a:r>
            <a:r>
              <a:rPr lang="zh-CN" altLang="en-US" dirty="0" smtClean="0"/>
              <a:t>实例</a:t>
            </a:r>
            <a:endParaRPr lang="zh-CN" altLang="en-US" dirty="0"/>
          </a:p>
        </p:txBody>
      </p:sp>
      <p:sp>
        <p:nvSpPr>
          <p:cNvPr id="3" name="文本框 2"/>
          <p:cNvSpPr txBox="1"/>
          <p:nvPr/>
        </p:nvSpPr>
        <p:spPr>
          <a:xfrm>
            <a:off x="712781" y="1580917"/>
            <a:ext cx="11479219" cy="5061585"/>
          </a:xfrm>
          <a:prstGeom prst="rect">
            <a:avLst/>
          </a:prstGeom>
          <a:noFill/>
        </p:spPr>
        <p:txBody>
          <a:bodyPr wrap="square" rtlCol="0">
            <a:spAutoFit/>
          </a:bodyPr>
          <a:lstStyle/>
          <a:p>
            <a:r>
              <a:rPr lang="en-US" altLang="zh-CN" sz="1900" dirty="0">
                <a:latin typeface="Times New Roman" panose="02020603050405020304" pitchFamily="18" charset="0"/>
                <a:cs typeface="Times New Roman" panose="02020603050405020304" pitchFamily="18" charset="0"/>
              </a:rPr>
              <a:t>def SVM():</a:t>
            </a:r>
            <a:endParaRPr lang="en-US" altLang="zh-CN" sz="1900" dirty="0">
              <a:latin typeface="Times New Roman" panose="02020603050405020304" pitchFamily="18" charset="0"/>
              <a:cs typeface="Times New Roman" panose="02020603050405020304" pitchFamily="18" charset="0"/>
            </a:endParaRPr>
          </a:p>
          <a:p>
            <a:r>
              <a:rPr lang="en-US" altLang="zh-CN" sz="1900" dirty="0" smtClean="0">
                <a:latin typeface="Times New Roman" panose="02020603050405020304" pitchFamily="18" charset="0"/>
                <a:cs typeface="Times New Roman" panose="02020603050405020304" pitchFamily="18" charset="0"/>
              </a:rPr>
              <a:t>    data1 </a:t>
            </a:r>
            <a:r>
              <a:rPr lang="en-US" altLang="zh-CN"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spio.loadmat</a:t>
            </a:r>
            <a:r>
              <a:rPr lang="en-US" altLang="zh-CN" sz="1900" dirty="0">
                <a:latin typeface="Times New Roman" panose="02020603050405020304" pitchFamily="18" charset="0"/>
                <a:cs typeface="Times New Roman" panose="02020603050405020304" pitchFamily="18" charset="0"/>
              </a:rPr>
              <a:t>('data1.mat') </a:t>
            </a:r>
            <a:r>
              <a:rPr lang="en-US" altLang="zh-CN" sz="1900" dirty="0" smtClean="0">
                <a:latin typeface="Times New Roman" panose="02020603050405020304" pitchFamily="18" charset="0"/>
                <a:cs typeface="Times New Roman" panose="02020603050405020304" pitchFamily="18" charset="0"/>
              </a:rPr>
              <a:t>#data1</a:t>
            </a:r>
            <a:r>
              <a:rPr lang="en-US" altLang="zh-CN" sz="1900" dirty="0">
                <a:latin typeface="Times New Roman" panose="02020603050405020304" pitchFamily="18" charset="0"/>
                <a:cs typeface="Times New Roman" panose="02020603050405020304" pitchFamily="18" charset="0"/>
              </a:rPr>
              <a:t>——</a:t>
            </a:r>
            <a:r>
              <a:rPr lang="zh-CN" altLang="en-US" sz="1900" dirty="0">
                <a:latin typeface="Times New Roman" panose="02020603050405020304" pitchFamily="18" charset="0"/>
                <a:cs typeface="Times New Roman" panose="02020603050405020304" pitchFamily="18" charset="0"/>
              </a:rPr>
              <a:t>线性</a:t>
            </a:r>
            <a:r>
              <a:rPr lang="zh-CN" altLang="en-US" sz="1900" dirty="0" smtClean="0">
                <a:latin typeface="Times New Roman" panose="02020603050405020304" pitchFamily="18" charset="0"/>
                <a:cs typeface="Times New Roman" panose="02020603050405020304" pitchFamily="18" charset="0"/>
              </a:rPr>
              <a:t>分类</a:t>
            </a:r>
            <a:endParaRPr lang="en-US" altLang="zh-CN" sz="1900" dirty="0" smtClean="0">
              <a:latin typeface="Times New Roman" panose="02020603050405020304" pitchFamily="18" charset="0"/>
              <a:cs typeface="Times New Roman" panose="02020603050405020304" pitchFamily="18" charset="0"/>
            </a:endParaRPr>
          </a:p>
          <a:p>
            <a:r>
              <a:rPr lang="en-US" altLang="zh-CN" sz="1900" dirty="0" smtClean="0">
                <a:latin typeface="Times New Roman" panose="02020603050405020304" pitchFamily="18" charset="0"/>
                <a:cs typeface="Times New Roman" panose="02020603050405020304" pitchFamily="18" charset="0"/>
              </a:rPr>
              <a:t>    </a:t>
            </a:r>
            <a:r>
              <a:rPr lang="en-US" altLang="zh-CN" sz="1900" dirty="0">
                <a:latin typeface="Times New Roman" panose="02020603050405020304" pitchFamily="18" charset="0"/>
                <a:cs typeface="Times New Roman" panose="02020603050405020304" pitchFamily="18" charset="0"/>
              </a:rPr>
              <a:t>X = data1['X']</a:t>
            </a:r>
            <a:endParaRPr lang="en-US" altLang="zh-CN" sz="1900" dirty="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y = data1['y']</a:t>
            </a:r>
            <a:endParaRPr lang="en-US" altLang="zh-CN" sz="1900" dirty="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y = </a:t>
            </a:r>
            <a:r>
              <a:rPr lang="en-US" altLang="zh-CN" sz="1900" dirty="0" err="1">
                <a:latin typeface="Times New Roman" panose="02020603050405020304" pitchFamily="18" charset="0"/>
                <a:cs typeface="Times New Roman" panose="02020603050405020304" pitchFamily="18" charset="0"/>
              </a:rPr>
              <a:t>np.ravel</a:t>
            </a:r>
            <a:r>
              <a:rPr lang="en-US" altLang="zh-CN" sz="1900" dirty="0">
                <a:latin typeface="Times New Roman" panose="02020603050405020304" pitchFamily="18" charset="0"/>
                <a:cs typeface="Times New Roman" panose="02020603050405020304" pitchFamily="18" charset="0"/>
              </a:rPr>
              <a:t>(y)</a:t>
            </a:r>
            <a:endParaRPr lang="en-US" altLang="zh-CN" sz="1900" dirty="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plot_data</a:t>
            </a:r>
            <a:r>
              <a:rPr lang="en-US" altLang="zh-CN" sz="1900" dirty="0">
                <a:latin typeface="Times New Roman" panose="02020603050405020304" pitchFamily="18" charset="0"/>
                <a:cs typeface="Times New Roman" panose="02020603050405020304" pitchFamily="18" charset="0"/>
              </a:rPr>
              <a:t>(X, y)</a:t>
            </a:r>
            <a:endParaRPr lang="en-US" altLang="zh-CN" sz="1900" dirty="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model = </a:t>
            </a:r>
            <a:r>
              <a:rPr lang="en-US" altLang="zh-CN" sz="1900" dirty="0" err="1">
                <a:latin typeface="Times New Roman" panose="02020603050405020304" pitchFamily="18" charset="0"/>
                <a:cs typeface="Times New Roman" panose="02020603050405020304" pitchFamily="18" charset="0"/>
              </a:rPr>
              <a:t>svm.SVC</a:t>
            </a:r>
            <a:r>
              <a:rPr lang="en-US" altLang="zh-CN" sz="1900" dirty="0">
                <a:latin typeface="Times New Roman" panose="02020603050405020304" pitchFamily="18" charset="0"/>
                <a:cs typeface="Times New Roman" panose="02020603050405020304" pitchFamily="18" charset="0"/>
              </a:rPr>
              <a:t>(C=1.0, kernel='linear').fit(X, y)  # </a:t>
            </a:r>
            <a:r>
              <a:rPr lang="zh-CN" altLang="en-US" sz="1900" dirty="0" smtClean="0">
                <a:latin typeface="Times New Roman" panose="02020603050405020304" pitchFamily="18" charset="0"/>
                <a:cs typeface="Times New Roman" panose="02020603050405020304" pitchFamily="18" charset="0"/>
              </a:rPr>
              <a:t>线性核函数</a:t>
            </a:r>
            <a:endParaRPr lang="en-US" altLang="zh-CN" sz="1900" dirty="0" smtClean="0">
              <a:latin typeface="Times New Roman" panose="02020603050405020304" pitchFamily="18" charset="0"/>
              <a:cs typeface="Times New Roman" panose="02020603050405020304" pitchFamily="18" charset="0"/>
            </a:endParaRPr>
          </a:p>
          <a:p>
            <a:endParaRPr lang="en-US" altLang="zh-CN" sz="1900" dirty="0" smtClean="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data2 = </a:t>
            </a:r>
            <a:r>
              <a:rPr lang="en-US" altLang="zh-CN" sz="1900" dirty="0" err="1">
                <a:latin typeface="Times New Roman" panose="02020603050405020304" pitchFamily="18" charset="0"/>
                <a:cs typeface="Times New Roman" panose="02020603050405020304" pitchFamily="18" charset="0"/>
              </a:rPr>
              <a:t>spio.loadmat</a:t>
            </a:r>
            <a:r>
              <a:rPr lang="en-US" altLang="zh-CN" sz="1900" dirty="0" smtClean="0">
                <a:latin typeface="Times New Roman" panose="02020603050405020304" pitchFamily="18" charset="0"/>
                <a:cs typeface="Times New Roman" panose="02020603050405020304" pitchFamily="18" charset="0"/>
              </a:rPr>
              <a:t>(‘data2.mat’) #data2——</a:t>
            </a:r>
            <a:r>
              <a:rPr lang="zh-CN" altLang="en-US" sz="1900" dirty="0" smtClean="0">
                <a:latin typeface="Times New Roman" panose="02020603050405020304" pitchFamily="18" charset="0"/>
                <a:cs typeface="Times New Roman" panose="02020603050405020304" pitchFamily="18" charset="0"/>
              </a:rPr>
              <a:t>非线性分类</a:t>
            </a:r>
            <a:endParaRPr lang="en-US" altLang="zh-CN" sz="1900" dirty="0" smtClean="0">
              <a:latin typeface="Times New Roman" panose="02020603050405020304" pitchFamily="18" charset="0"/>
              <a:cs typeface="Times New Roman" panose="02020603050405020304" pitchFamily="18" charset="0"/>
            </a:endParaRPr>
          </a:p>
          <a:p>
            <a:r>
              <a:rPr lang="en-US" altLang="zh-CN" sz="1900" dirty="0" smtClean="0">
                <a:latin typeface="Times New Roman" panose="02020603050405020304" pitchFamily="18" charset="0"/>
                <a:cs typeface="Times New Roman" panose="02020603050405020304" pitchFamily="18" charset="0"/>
              </a:rPr>
              <a:t>    </a:t>
            </a:r>
            <a:r>
              <a:rPr lang="en-US" altLang="zh-CN" sz="1900" dirty="0">
                <a:latin typeface="Times New Roman" panose="02020603050405020304" pitchFamily="18" charset="0"/>
                <a:cs typeface="Times New Roman" panose="02020603050405020304" pitchFamily="18" charset="0"/>
              </a:rPr>
              <a:t>X = data2['X']</a:t>
            </a:r>
            <a:endParaRPr lang="en-US" altLang="zh-CN" sz="1900" dirty="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y = data2['y']</a:t>
            </a:r>
            <a:endParaRPr lang="en-US" altLang="zh-CN" sz="1900" dirty="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y = </a:t>
            </a:r>
            <a:r>
              <a:rPr lang="en-US" altLang="zh-CN" sz="1900" dirty="0" err="1">
                <a:latin typeface="Times New Roman" panose="02020603050405020304" pitchFamily="18" charset="0"/>
                <a:cs typeface="Times New Roman" panose="02020603050405020304" pitchFamily="18" charset="0"/>
              </a:rPr>
              <a:t>np.ravel</a:t>
            </a:r>
            <a:r>
              <a:rPr lang="en-US" altLang="zh-CN" sz="1900" dirty="0">
                <a:latin typeface="Times New Roman" panose="02020603050405020304" pitchFamily="18" charset="0"/>
                <a:cs typeface="Times New Roman" panose="02020603050405020304" pitchFamily="18" charset="0"/>
              </a:rPr>
              <a:t>(y)</a:t>
            </a:r>
            <a:endParaRPr lang="en-US" altLang="zh-CN" sz="1900" dirty="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plt</a:t>
            </a:r>
            <a:r>
              <a:rPr lang="en-US" altLang="zh-CN" sz="1900" dirty="0">
                <a:latin typeface="Times New Roman" panose="02020603050405020304" pitchFamily="18" charset="0"/>
                <a:cs typeface="Times New Roman" panose="02020603050405020304" pitchFamily="18" charset="0"/>
              </a:rPr>
              <a:t> = </a:t>
            </a:r>
            <a:r>
              <a:rPr lang="en-US" altLang="zh-CN" sz="1900" dirty="0" err="1">
                <a:latin typeface="Times New Roman" panose="02020603050405020304" pitchFamily="18" charset="0"/>
                <a:cs typeface="Times New Roman" panose="02020603050405020304" pitchFamily="18" charset="0"/>
              </a:rPr>
              <a:t>plot_data</a:t>
            </a:r>
            <a:r>
              <a:rPr lang="en-US" altLang="zh-CN" sz="1900" dirty="0">
                <a:latin typeface="Times New Roman" panose="02020603050405020304" pitchFamily="18" charset="0"/>
                <a:cs typeface="Times New Roman" panose="02020603050405020304" pitchFamily="18" charset="0"/>
              </a:rPr>
              <a:t>(X, y)</a:t>
            </a:r>
            <a:endParaRPr lang="en-US" altLang="zh-CN" sz="1900" dirty="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plt.show</a:t>
            </a:r>
            <a:r>
              <a:rPr lang="en-US" altLang="zh-CN"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endParaRPr lang="en-US" altLang="zh-CN" sz="1900" dirty="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model = </a:t>
            </a:r>
            <a:r>
              <a:rPr lang="en-US" altLang="zh-CN" sz="1900" dirty="0" err="1">
                <a:latin typeface="Times New Roman" panose="02020603050405020304" pitchFamily="18" charset="0"/>
                <a:cs typeface="Times New Roman" panose="02020603050405020304" pitchFamily="18" charset="0"/>
              </a:rPr>
              <a:t>svm.SVC</a:t>
            </a:r>
            <a:r>
              <a:rPr lang="en-US" altLang="zh-CN" sz="1900" dirty="0">
                <a:latin typeface="Times New Roman" panose="02020603050405020304" pitchFamily="18" charset="0"/>
                <a:cs typeface="Times New Roman" panose="02020603050405020304" pitchFamily="18" charset="0"/>
              </a:rPr>
              <a:t>(gamma=100).fit(X, y</a:t>
            </a:r>
            <a:r>
              <a:rPr lang="en-US" altLang="zh-CN" sz="1900" dirty="0" smtClean="0">
                <a:latin typeface="Times New Roman" panose="02020603050405020304" pitchFamily="18" charset="0"/>
                <a:cs typeface="Times New Roman" panose="02020603050405020304" pitchFamily="18" charset="0"/>
              </a:rPr>
              <a:t>)</a:t>
            </a:r>
            <a:r>
              <a:rPr lang="zh-CN" altLang="en-US" sz="1900" dirty="0">
                <a:latin typeface="Times New Roman" panose="02020603050405020304" pitchFamily="18" charset="0"/>
                <a:cs typeface="Times New Roman" panose="02020603050405020304" pitchFamily="18" charset="0"/>
              </a:rPr>
              <a:t> </a:t>
            </a:r>
            <a:r>
              <a:rPr lang="en-US" altLang="zh-CN" sz="1900" dirty="0">
                <a:latin typeface="Times New Roman" panose="02020603050405020304" pitchFamily="18" charset="0"/>
                <a:cs typeface="Times New Roman" panose="02020603050405020304" pitchFamily="18" charset="0"/>
              </a:rPr>
              <a:t># gamma</a:t>
            </a:r>
            <a:r>
              <a:rPr lang="zh-CN" altLang="en-US" sz="1900" dirty="0">
                <a:latin typeface="Times New Roman" panose="02020603050405020304" pitchFamily="18" charset="0"/>
                <a:cs typeface="Times New Roman" panose="02020603050405020304" pitchFamily="18" charset="0"/>
              </a:rPr>
              <a:t>为核函数的系数，值越大拟合的越好</a:t>
            </a:r>
            <a:endParaRPr lang="en-US" altLang="zh-CN" sz="1900" dirty="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a:t>
            </a:r>
            <a:r>
              <a:rPr lang="en-US" altLang="zh-CN" sz="1900" b="1" dirty="0" err="1">
                <a:solidFill>
                  <a:schemeClr val="accent1">
                    <a:lumMod val="50000"/>
                  </a:schemeClr>
                </a:solidFill>
                <a:latin typeface="Times New Roman" panose="02020603050405020304" pitchFamily="18" charset="0"/>
                <a:cs typeface="Times New Roman" panose="02020603050405020304" pitchFamily="18" charset="0"/>
              </a:rPr>
              <a:t>plot_decisionBoundary</a:t>
            </a:r>
            <a:r>
              <a:rPr lang="en-US" altLang="zh-CN" sz="1900" dirty="0">
                <a:latin typeface="Times New Roman" panose="02020603050405020304" pitchFamily="18" charset="0"/>
                <a:cs typeface="Times New Roman" panose="02020603050405020304" pitchFamily="18" charset="0"/>
              </a:rPr>
              <a:t>(X, y, </a:t>
            </a:r>
            <a:r>
              <a:rPr lang="en-US" altLang="zh-CN" sz="1900" dirty="0" err="1">
                <a:latin typeface="Times New Roman" panose="02020603050405020304" pitchFamily="18" charset="0"/>
                <a:cs typeface="Times New Roman" panose="02020603050405020304" pitchFamily="18" charset="0"/>
              </a:rPr>
              <a:t>model,class</a:t>
            </a:r>
            <a:r>
              <a:rPr lang="en-US" altLang="zh-CN" sz="1900" dirty="0">
                <a:latin typeface="Times New Roman" panose="02020603050405020304" pitchFamily="18" charset="0"/>
                <a:cs typeface="Times New Roman" panose="02020603050405020304" pitchFamily="18" charset="0"/>
              </a:rPr>
              <a:t>_='</a:t>
            </a:r>
            <a:r>
              <a:rPr lang="en-US" altLang="zh-CN" sz="1900" dirty="0" err="1">
                <a:latin typeface="Times New Roman" panose="02020603050405020304" pitchFamily="18" charset="0"/>
                <a:cs typeface="Times New Roman" panose="02020603050405020304" pitchFamily="18" charset="0"/>
              </a:rPr>
              <a:t>notLinear</a:t>
            </a:r>
            <a:r>
              <a:rPr lang="en-US" altLang="zh-CN" sz="1900" dirty="0">
                <a:latin typeface="Times New Roman" panose="02020603050405020304" pitchFamily="18" charset="0"/>
                <a:cs typeface="Times New Roman" panose="02020603050405020304" pitchFamily="18" charset="0"/>
              </a:rPr>
              <a:t>' )</a:t>
            </a:r>
            <a:endParaRPr lang="zh-CN" altLang="en-US" sz="1900" dirty="0">
              <a:latin typeface="Times New Roman" panose="02020603050405020304" pitchFamily="18" charset="0"/>
              <a:cs typeface="Times New Roman" panose="02020603050405020304" pitchFamily="18" charset="0"/>
            </a:endParaRPr>
          </a:p>
        </p:txBody>
      </p:sp>
      <p:sp>
        <p:nvSpPr>
          <p:cNvPr id="4" name="矩形 3"/>
          <p:cNvSpPr/>
          <p:nvPr/>
        </p:nvSpPr>
        <p:spPr>
          <a:xfrm>
            <a:off x="712781" y="1057697"/>
            <a:ext cx="4565801" cy="523220"/>
          </a:xfrm>
          <a:prstGeom prst="rect">
            <a:avLst/>
          </a:prstGeom>
        </p:spPr>
        <p:txBody>
          <a:bodyPr wrap="square">
            <a:spAutoFit/>
          </a:bodyPr>
          <a:lstStyle/>
          <a:p>
            <a:r>
              <a:rPr lang="zh-CN" altLang="en-US" sz="2800" b="1" dirty="0" smtClean="0"/>
              <a:t>实例</a:t>
            </a:r>
            <a:r>
              <a:rPr lang="en-US" altLang="zh-CN" sz="2800" b="1" dirty="0" smtClean="0"/>
              <a:t>1  </a:t>
            </a:r>
            <a:r>
              <a:rPr lang="zh-CN" altLang="en-US" sz="2800" dirty="0" smtClean="0"/>
              <a:t>主要</a:t>
            </a:r>
            <a:r>
              <a:rPr lang="zh-CN" altLang="en-US" sz="2800" dirty="0"/>
              <a:t>代码</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SVM</a:t>
            </a:r>
            <a:r>
              <a:rPr lang="zh-CN" altLang="en-US" dirty="0"/>
              <a:t>算法实例的主要代码</a:t>
            </a:r>
            <a:endParaRPr lang="zh-CN" altLang="en-US" dirty="0"/>
          </a:p>
        </p:txBody>
      </p:sp>
      <p:sp>
        <p:nvSpPr>
          <p:cNvPr id="3" name="文本框 2"/>
          <p:cNvSpPr txBox="1"/>
          <p:nvPr/>
        </p:nvSpPr>
        <p:spPr>
          <a:xfrm>
            <a:off x="760774" y="1115954"/>
            <a:ext cx="11948584" cy="5632311"/>
          </a:xfrm>
          <a:prstGeom prst="rect">
            <a:avLst/>
          </a:prstGeom>
          <a:noFill/>
        </p:spPr>
        <p:txBody>
          <a:bodyPr wrap="square" rtlCol="0">
            <a:spAutoFit/>
          </a:bodyPr>
          <a:lstStyle/>
          <a:p>
            <a:r>
              <a:rPr lang="it-IT" altLang="zh-CN" dirty="0">
                <a:latin typeface="Times New Roman" panose="02020603050405020304" pitchFamily="18" charset="0"/>
                <a:cs typeface="Times New Roman" panose="02020603050405020304" pitchFamily="18" charset="0"/>
              </a:rPr>
              <a:t>def </a:t>
            </a:r>
            <a:r>
              <a:rPr lang="it-IT" altLang="zh-CN" b="1" dirty="0">
                <a:latin typeface="Times New Roman" panose="02020603050405020304" pitchFamily="18" charset="0"/>
                <a:cs typeface="Times New Roman" panose="02020603050405020304" pitchFamily="18" charset="0"/>
              </a:rPr>
              <a:t>plot_decisionBoundary</a:t>
            </a:r>
            <a:r>
              <a:rPr lang="it-IT" altLang="zh-CN" dirty="0">
                <a:latin typeface="Times New Roman" panose="02020603050405020304" pitchFamily="18" charset="0"/>
                <a:cs typeface="Times New Roman" panose="02020603050405020304" pitchFamily="18" charset="0"/>
              </a:rPr>
              <a:t>(X, y, model, class_='linear'):</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plt = plot_data(X, y</a:t>
            </a:r>
            <a:r>
              <a:rPr lang="it-IT" altLang="zh-CN" dirty="0" smtClean="0">
                <a:latin typeface="Times New Roman" panose="02020603050405020304" pitchFamily="18" charset="0"/>
                <a:cs typeface="Times New Roman" panose="02020603050405020304" pitchFamily="18" charset="0"/>
              </a:rPr>
              <a:t>)</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if class_ == 'linear':</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w = model.coef_</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b = model.intercept_</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xp = np.linspace(np.min(X[:, 0]), np.max(X[:, 0]), 100)</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yp = -(w[0, 0] * xp + b) / w[0, 1]</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plt.plot(xp, yp, 'b-', linewidth=2.0)</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plt.show()</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else:</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x_1 = np.transpose(np.linspace(np.min(X[:, 0]), np.max(X[:, 0]), 100).reshape(1, -1))</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x_2 = np.transpose(np.linspace(np.min(X[:, 1]), np.max(X[:, 1]), 100).reshape(1, -1))</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X1, X2 = np.meshgrid(x_1, x_2)</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vals = np.zeros(X1.shape)</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for i in range(X1.shape[1]):</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this_X = np.hstack((X1[:, i].reshape(-1, 1), X2[:, i].reshape(-1, 1)))</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vals[:, i] = model.predict(this_X</a:t>
            </a:r>
            <a:r>
              <a:rPr lang="it-IT" altLang="zh-CN" dirty="0" smtClean="0">
                <a:latin typeface="Times New Roman" panose="02020603050405020304" pitchFamily="18" charset="0"/>
                <a:cs typeface="Times New Roman" panose="02020603050405020304" pitchFamily="18" charset="0"/>
              </a:rPr>
              <a:t>)</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plt.contour(X1, X2, vals, [0, 1], color='blue')</a:t>
            </a:r>
            <a:endParaRPr lang="it-IT" altLang="zh-CN" dirty="0">
              <a:latin typeface="Times New Roman" panose="02020603050405020304" pitchFamily="18" charset="0"/>
              <a:cs typeface="Times New Roman" panose="02020603050405020304" pitchFamily="18" charset="0"/>
            </a:endParaRPr>
          </a:p>
          <a:p>
            <a:r>
              <a:rPr lang="it-IT" altLang="zh-CN" dirty="0">
                <a:latin typeface="Times New Roman" panose="02020603050405020304" pitchFamily="18" charset="0"/>
                <a:cs typeface="Times New Roman" panose="02020603050405020304" pitchFamily="18" charset="0"/>
              </a:rPr>
              <a:t>        plt.show</a:t>
            </a:r>
            <a:r>
              <a:rPr lang="it-IT" altLang="zh-CN" dirty="0" smtClean="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  </a:t>
            </a:r>
            <a:endParaRPr lang="it-IT"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SVM</a:t>
            </a:r>
            <a:r>
              <a:rPr lang="zh-CN" altLang="en-US" dirty="0"/>
              <a:t>算法实例的实验结果</a:t>
            </a:r>
            <a:endParaRPr lang="zh-CN" altLang="en-US" dirty="0"/>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300840" y="3513826"/>
            <a:ext cx="3512676" cy="2796090"/>
          </a:xfrm>
          <a:prstGeom prst="rect">
            <a:avLst/>
          </a:prstGeom>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67756" y="3430807"/>
            <a:ext cx="3579444" cy="2879109"/>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13516" y="844672"/>
            <a:ext cx="3533684" cy="2812813"/>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00840" y="844672"/>
            <a:ext cx="3512676" cy="27960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SVM</a:t>
            </a:r>
            <a:r>
              <a:rPr lang="zh-CN" altLang="en-US" dirty="0"/>
              <a:t>算法</a:t>
            </a:r>
            <a:r>
              <a:rPr lang="zh-CN" altLang="en-US" dirty="0" smtClean="0"/>
              <a:t>实例</a:t>
            </a:r>
            <a:endParaRPr lang="zh-CN" altLang="en-US" dirty="0"/>
          </a:p>
        </p:txBody>
      </p:sp>
      <p:sp>
        <p:nvSpPr>
          <p:cNvPr id="3" name="文本框 2"/>
          <p:cNvSpPr txBox="1"/>
          <p:nvPr/>
        </p:nvSpPr>
        <p:spPr>
          <a:xfrm>
            <a:off x="915981" y="1803287"/>
            <a:ext cx="11479219" cy="3600986"/>
          </a:xfrm>
          <a:prstGeom prst="rect">
            <a:avLst/>
          </a:prstGeom>
          <a:noFill/>
        </p:spPr>
        <p:txBody>
          <a:bodyPr wrap="square" rtlCol="0">
            <a:spAutoFit/>
          </a:bodyPr>
          <a:lstStyle/>
          <a:p>
            <a:r>
              <a:rPr lang="en-US" altLang="zh-CN" sz="1900" dirty="0">
                <a:latin typeface="Times New Roman" panose="02020603050405020304" pitchFamily="18" charset="0"/>
                <a:cs typeface="Times New Roman" panose="02020603050405020304" pitchFamily="18" charset="0"/>
              </a:rPr>
              <a:t>if __name__=="__main__":</a:t>
            </a:r>
            <a:endParaRPr lang="en-US" altLang="zh-CN" sz="1900" dirty="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数据集</a:t>
            </a:r>
            <a:r>
              <a:rPr lang="zh-CN" altLang="en-US" sz="1900" dirty="0" smtClean="0">
                <a:latin typeface="Times New Roman" panose="02020603050405020304" pitchFamily="18" charset="0"/>
                <a:cs typeface="Times New Roman" panose="02020603050405020304" pitchFamily="18" charset="0"/>
              </a:rPr>
              <a:t>加载</a:t>
            </a:r>
            <a:endParaRPr lang="zh-CN" altLang="en-US" sz="1900" dirty="0">
              <a:latin typeface="Times New Roman" panose="02020603050405020304" pitchFamily="18" charset="0"/>
              <a:cs typeface="Times New Roman" panose="02020603050405020304" pitchFamily="18" charset="0"/>
            </a:endParaRPr>
          </a:p>
          <a:p>
            <a:r>
              <a:rPr lang="zh-CN" altLang="en-US"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X_train,X_test,y_train,y_test</a:t>
            </a:r>
            <a:r>
              <a:rPr lang="en-US" altLang="zh-CN" sz="1900" dirty="0">
                <a:latin typeface="Times New Roman" panose="02020603050405020304" pitchFamily="18" charset="0"/>
                <a:cs typeface="Times New Roman" panose="02020603050405020304" pitchFamily="18" charset="0"/>
              </a:rPr>
              <a:t>=</a:t>
            </a:r>
            <a:r>
              <a:rPr lang="en-US" altLang="zh-CN" sz="1900" dirty="0" err="1">
                <a:latin typeface="Times New Roman" panose="02020603050405020304" pitchFamily="18" charset="0"/>
                <a:cs typeface="Times New Roman" panose="02020603050405020304" pitchFamily="18" charset="0"/>
              </a:rPr>
              <a:t>load_data_classfication</a:t>
            </a:r>
            <a:r>
              <a:rPr lang="en-US" altLang="zh-CN"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endParaRPr lang="en-US" altLang="zh-CN" sz="1900" dirty="0">
              <a:latin typeface="Times New Roman" panose="02020603050405020304" pitchFamily="18" charset="0"/>
              <a:cs typeface="Times New Roman" panose="02020603050405020304" pitchFamily="18" charset="0"/>
            </a:endParaRPr>
          </a:p>
          <a:p>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不同核函数</a:t>
            </a:r>
            <a:r>
              <a:rPr lang="zh-CN" altLang="en-US" sz="1900" dirty="0" smtClean="0">
                <a:latin typeface="Times New Roman" panose="02020603050405020304" pitchFamily="18" charset="0"/>
                <a:cs typeface="Times New Roman" panose="02020603050405020304" pitchFamily="18" charset="0"/>
              </a:rPr>
              <a:t>分类</a:t>
            </a:r>
            <a:endParaRPr lang="zh-CN" altLang="en-US" sz="1900" dirty="0">
              <a:latin typeface="Times New Roman" panose="02020603050405020304" pitchFamily="18" charset="0"/>
              <a:cs typeface="Times New Roman" panose="02020603050405020304" pitchFamily="18" charset="0"/>
            </a:endParaRPr>
          </a:p>
          <a:p>
            <a:r>
              <a:rPr lang="zh-CN" altLang="en-US"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test_SVC_linear</a:t>
            </a:r>
            <a:r>
              <a:rPr lang="en-US" altLang="zh-CN" sz="1900" dirty="0">
                <a:latin typeface="Times New Roman" panose="02020603050405020304" pitchFamily="18" charset="0"/>
                <a:cs typeface="Times New Roman" panose="02020603050405020304" pitchFamily="18" charset="0"/>
              </a:rPr>
              <a:t>(</a:t>
            </a:r>
            <a:r>
              <a:rPr lang="en-US" altLang="zh-CN" sz="1900" dirty="0" err="1">
                <a:latin typeface="Times New Roman" panose="02020603050405020304" pitchFamily="18" charset="0"/>
                <a:cs typeface="Times New Roman" panose="02020603050405020304" pitchFamily="18" charset="0"/>
              </a:rPr>
              <a:t>X_train,X_test,y_train,y_test</a:t>
            </a:r>
            <a:r>
              <a:rPr lang="en-US" altLang="zh-CN" sz="1900" dirty="0">
                <a:latin typeface="Times New Roman" panose="02020603050405020304" pitchFamily="18" charset="0"/>
                <a:cs typeface="Times New Roman" panose="02020603050405020304" pitchFamily="18" charset="0"/>
              </a:rPr>
              <a:t>) # linear </a:t>
            </a:r>
            <a:r>
              <a:rPr lang="zh-CN" altLang="en-US" sz="1900" dirty="0">
                <a:latin typeface="Times New Roman" panose="02020603050405020304" pitchFamily="18" charset="0"/>
                <a:cs typeface="Times New Roman" panose="02020603050405020304" pitchFamily="18" charset="0"/>
              </a:rPr>
              <a:t>核</a:t>
            </a:r>
            <a:endParaRPr lang="zh-CN" altLang="en-US" sz="1900" dirty="0">
              <a:latin typeface="Times New Roman" panose="02020603050405020304" pitchFamily="18" charset="0"/>
              <a:cs typeface="Times New Roman" panose="02020603050405020304" pitchFamily="18" charset="0"/>
            </a:endParaRPr>
          </a:p>
          <a:p>
            <a:endParaRPr lang="zh-CN" altLang="en-US" sz="1900" dirty="0">
              <a:latin typeface="Times New Roman" panose="02020603050405020304" pitchFamily="18" charset="0"/>
              <a:cs typeface="Times New Roman" panose="02020603050405020304" pitchFamily="18" charset="0"/>
            </a:endParaRPr>
          </a:p>
          <a:p>
            <a:r>
              <a:rPr lang="zh-CN" altLang="en-US"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test_SVC_poly</a:t>
            </a:r>
            <a:r>
              <a:rPr lang="en-US" altLang="zh-CN" sz="1900" dirty="0">
                <a:latin typeface="Times New Roman" panose="02020603050405020304" pitchFamily="18" charset="0"/>
                <a:cs typeface="Times New Roman" panose="02020603050405020304" pitchFamily="18" charset="0"/>
              </a:rPr>
              <a:t>(</a:t>
            </a:r>
            <a:r>
              <a:rPr lang="en-US" altLang="zh-CN" sz="1900" dirty="0" err="1">
                <a:latin typeface="Times New Roman" panose="02020603050405020304" pitchFamily="18" charset="0"/>
                <a:cs typeface="Times New Roman" panose="02020603050405020304" pitchFamily="18" charset="0"/>
              </a:rPr>
              <a:t>X_train,X_test,y_train,y_test</a:t>
            </a:r>
            <a:r>
              <a:rPr lang="en-US" altLang="zh-CN" sz="1900" dirty="0">
                <a:latin typeface="Times New Roman" panose="02020603050405020304" pitchFamily="18" charset="0"/>
                <a:cs typeface="Times New Roman" panose="02020603050405020304" pitchFamily="18" charset="0"/>
              </a:rPr>
              <a:t>) # poly </a:t>
            </a:r>
            <a:r>
              <a:rPr lang="zh-CN" altLang="en-US" sz="1900" dirty="0">
                <a:latin typeface="Times New Roman" panose="02020603050405020304" pitchFamily="18" charset="0"/>
                <a:cs typeface="Times New Roman" panose="02020603050405020304" pitchFamily="18" charset="0"/>
              </a:rPr>
              <a:t>核</a:t>
            </a:r>
            <a:endParaRPr lang="zh-CN" altLang="en-US" sz="1900" dirty="0">
              <a:latin typeface="Times New Roman" panose="02020603050405020304" pitchFamily="18" charset="0"/>
              <a:cs typeface="Times New Roman" panose="02020603050405020304" pitchFamily="18" charset="0"/>
            </a:endParaRPr>
          </a:p>
          <a:p>
            <a:endParaRPr lang="zh-CN" altLang="en-US" sz="1900" dirty="0">
              <a:latin typeface="Times New Roman" panose="02020603050405020304" pitchFamily="18" charset="0"/>
              <a:cs typeface="Times New Roman" panose="02020603050405020304" pitchFamily="18" charset="0"/>
            </a:endParaRPr>
          </a:p>
          <a:p>
            <a:r>
              <a:rPr lang="zh-CN" altLang="en-US"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test_SVC_rbf</a:t>
            </a:r>
            <a:r>
              <a:rPr lang="en-US" altLang="zh-CN" sz="1900" dirty="0">
                <a:latin typeface="Times New Roman" panose="02020603050405020304" pitchFamily="18" charset="0"/>
                <a:cs typeface="Times New Roman" panose="02020603050405020304" pitchFamily="18" charset="0"/>
              </a:rPr>
              <a:t>(</a:t>
            </a:r>
            <a:r>
              <a:rPr lang="en-US" altLang="zh-CN" sz="1900" dirty="0" err="1">
                <a:latin typeface="Times New Roman" panose="02020603050405020304" pitchFamily="18" charset="0"/>
                <a:cs typeface="Times New Roman" panose="02020603050405020304" pitchFamily="18" charset="0"/>
              </a:rPr>
              <a:t>X_train,X_test,y_train,y_test</a:t>
            </a:r>
            <a:r>
              <a:rPr lang="en-US" altLang="zh-CN"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rbf</a:t>
            </a:r>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核</a:t>
            </a:r>
            <a:endParaRPr lang="zh-CN" altLang="en-US" sz="1900" dirty="0">
              <a:latin typeface="Times New Roman" panose="02020603050405020304" pitchFamily="18" charset="0"/>
              <a:cs typeface="Times New Roman" panose="02020603050405020304" pitchFamily="18" charset="0"/>
            </a:endParaRPr>
          </a:p>
          <a:p>
            <a:endParaRPr lang="zh-CN" altLang="en-US" sz="1900" dirty="0">
              <a:latin typeface="Times New Roman" panose="02020603050405020304" pitchFamily="18" charset="0"/>
              <a:cs typeface="Times New Roman" panose="02020603050405020304" pitchFamily="18" charset="0"/>
            </a:endParaRPr>
          </a:p>
          <a:p>
            <a:r>
              <a:rPr lang="zh-CN" altLang="en-US"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test_SVC_sigmoid</a:t>
            </a:r>
            <a:r>
              <a:rPr lang="en-US" altLang="zh-CN" sz="1900" dirty="0">
                <a:latin typeface="Times New Roman" panose="02020603050405020304" pitchFamily="18" charset="0"/>
                <a:cs typeface="Times New Roman" panose="02020603050405020304" pitchFamily="18" charset="0"/>
              </a:rPr>
              <a:t>(</a:t>
            </a:r>
            <a:r>
              <a:rPr lang="en-US" altLang="zh-CN" sz="1900" dirty="0" err="1">
                <a:latin typeface="Times New Roman" panose="02020603050405020304" pitchFamily="18" charset="0"/>
                <a:cs typeface="Times New Roman" panose="02020603050405020304" pitchFamily="18" charset="0"/>
              </a:rPr>
              <a:t>X_train,X_test,y_train,y_test</a:t>
            </a:r>
            <a:r>
              <a:rPr lang="en-US" altLang="zh-CN" sz="1900" dirty="0">
                <a:latin typeface="Times New Roman" panose="02020603050405020304" pitchFamily="18" charset="0"/>
                <a:cs typeface="Times New Roman" panose="02020603050405020304" pitchFamily="18" charset="0"/>
              </a:rPr>
              <a:t>) # </a:t>
            </a:r>
            <a:r>
              <a:rPr lang="en-US" altLang="zh-CN" sz="1900" dirty="0" err="1">
                <a:latin typeface="Times New Roman" panose="02020603050405020304" pitchFamily="18" charset="0"/>
                <a:cs typeface="Times New Roman" panose="02020603050405020304" pitchFamily="18" charset="0"/>
              </a:rPr>
              <a:t>sigmod</a:t>
            </a:r>
            <a:r>
              <a:rPr lang="en-US" altLang="zh-CN" sz="1900" dirty="0">
                <a:latin typeface="Times New Roman" panose="02020603050405020304" pitchFamily="18" charset="0"/>
                <a:cs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核</a:t>
            </a:r>
            <a:endParaRPr lang="zh-CN" altLang="en-US" sz="1900" dirty="0">
              <a:latin typeface="Times New Roman" panose="02020603050405020304" pitchFamily="18" charset="0"/>
              <a:cs typeface="Times New Roman" panose="02020603050405020304" pitchFamily="18" charset="0"/>
            </a:endParaRPr>
          </a:p>
        </p:txBody>
      </p:sp>
      <p:sp>
        <p:nvSpPr>
          <p:cNvPr id="4" name="矩形 3"/>
          <p:cNvSpPr/>
          <p:nvPr/>
        </p:nvSpPr>
        <p:spPr>
          <a:xfrm>
            <a:off x="915981" y="1057697"/>
            <a:ext cx="4565801" cy="523220"/>
          </a:xfrm>
          <a:prstGeom prst="rect">
            <a:avLst/>
          </a:prstGeom>
        </p:spPr>
        <p:txBody>
          <a:bodyPr wrap="square">
            <a:spAutoFit/>
          </a:bodyPr>
          <a:lstStyle/>
          <a:p>
            <a:r>
              <a:rPr lang="zh-CN" altLang="en-US" sz="2800" b="1" dirty="0" smtClean="0"/>
              <a:t>实例</a:t>
            </a:r>
            <a:r>
              <a:rPr lang="en-US" altLang="zh-CN" sz="2800" b="1" dirty="0" smtClean="0"/>
              <a:t>2  </a:t>
            </a:r>
            <a:r>
              <a:rPr lang="zh-CN" altLang="en-US" sz="2800" dirty="0" smtClean="0"/>
              <a:t>主要</a:t>
            </a:r>
            <a:r>
              <a:rPr lang="zh-CN" altLang="en-US" sz="2800" dirty="0"/>
              <a:t>代码</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7200" b="0" i="0" u="none" strike="noStrike" kern="0" cap="none" spc="0" normalizeH="0" baseline="0" noProof="0" dirty="0">
                  <a:ln>
                    <a:noFill/>
                  </a:ln>
                  <a:solidFill>
                    <a:srgbClr val="009999"/>
                  </a:solidFill>
                  <a:effectLst/>
                  <a:uLnTx/>
                  <a:uFillTx/>
                  <a:latin typeface="Century Gothic" panose="020B0502020202020204" pitchFamily="34" charset="0"/>
                  <a:cs typeface="+mn-ea"/>
                  <a:sym typeface="+mn-lt"/>
                </a:rPr>
                <a:t>05</a:t>
              </a:r>
              <a:endParaRPr kumimoji="0" lang="zh-CN" altLang="en-US" sz="4000" b="0" i="0" u="none" strike="noStrike" kern="0" cap="none" spc="0" normalizeH="0" baseline="0" noProof="0" dirty="0">
                <a:ln>
                  <a:noFill/>
                </a:ln>
                <a:solidFill>
                  <a:srgbClr val="009999"/>
                </a:solidFill>
                <a:effectLst/>
                <a:uLnTx/>
                <a:uFillTx/>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600" b="1" i="0" u="none" strike="noStrike" kern="1200" cap="none" spc="0" normalizeH="0" baseline="0" noProof="0" dirty="0">
                <a:ln>
                  <a:noFill/>
                </a:ln>
                <a:solidFill>
                  <a:srgbClr val="009999"/>
                </a:solidFill>
                <a:effectLst>
                  <a:innerShdw blurRad="127000" dist="63500" dir="16200000">
                    <a:prstClr val="black">
                      <a:alpha val="50000"/>
                    </a:prstClr>
                  </a:innerShdw>
                </a:effectLst>
                <a:uLnTx/>
                <a:uFillTx/>
                <a:latin typeface="Noto Sans S Chinese Medium" panose="020B0600000000000000" pitchFamily="34" charset="-122"/>
                <a:ea typeface="Noto Sans S Chinese Medium" panose="020B0600000000000000" pitchFamily="34" charset="-122"/>
                <a:cs typeface="+mn-cs"/>
              </a:rPr>
              <a:t>算法应用</a:t>
            </a:r>
            <a:endParaRPr kumimoji="0" lang="zh-CN" altLang="en-US" sz="6600" b="1" i="0" u="none" strike="noStrike" kern="1200" cap="none" spc="0" normalizeH="0" baseline="0" noProof="0" dirty="0">
              <a:ln>
                <a:noFill/>
              </a:ln>
              <a:solidFill>
                <a:srgbClr val="009999"/>
              </a:solidFill>
              <a:effectLst>
                <a:innerShdw blurRad="127000" dist="63500" dir="16200000">
                  <a:prstClr val="black">
                    <a:alpha val="50000"/>
                  </a:prstClr>
                </a:innerShdw>
              </a:effectLst>
              <a:uLnTx/>
              <a:uFillTx/>
              <a:latin typeface="Noto Sans S Chinese Medium" panose="020B0600000000000000" pitchFamily="34" charset="-122"/>
              <a:ea typeface="Noto Sans S Chinese Medium" panose="020B0600000000000000" pitchFamily="34" charset="-122"/>
              <a:cs typeface="+mn-cs"/>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cs"/>
            </a:endParaRPr>
          </a:p>
        </p:txBody>
      </p:sp>
      <p:sp>
        <p:nvSpPr>
          <p:cNvPr id="2" name="文本框 1"/>
          <p:cNvSpPr txBox="1"/>
          <p:nvPr/>
        </p:nvSpPr>
        <p:spPr>
          <a:xfrm>
            <a:off x="6840179" y="3580755"/>
            <a:ext cx="3469667"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9999"/>
                </a:solidFill>
                <a:effectLst/>
                <a:uLnTx/>
                <a:uFillTx/>
                <a:latin typeface="Noto Sans S Chinese Regular" panose="020B0500000000000000" pitchFamily="34" charset="-122"/>
                <a:ea typeface="Noto Sans S Chinese Regular" panose="020B0500000000000000" pitchFamily="34" charset="-122"/>
                <a:cs typeface="+mn-cs"/>
              </a:rPr>
              <a:t>ALGORITHM APPLICATION</a:t>
            </a:r>
            <a:endParaRPr kumimoji="0" lang="zh-CN" altLang="en-US" sz="3200" b="0" i="0" u="none" strike="noStrike" kern="1200" cap="none" spc="0" normalizeH="0" baseline="0" noProof="0" dirty="0">
              <a:ln>
                <a:noFill/>
              </a:ln>
              <a:solidFill>
                <a:srgbClr val="009999"/>
              </a:solidFill>
              <a:effectLst/>
              <a:uLnTx/>
              <a:uFillTx/>
              <a:latin typeface="Noto Sans S Chinese Regular" panose="020B0500000000000000" pitchFamily="34" charset="-122"/>
              <a:ea typeface="Noto Sans S Chinese Regular" panose="020B0500000000000000" pitchFamily="34" charset="-122"/>
              <a:cs typeface="+mn-cs"/>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6963" y="576887"/>
            <a:ext cx="8015583" cy="535531"/>
          </a:xfrm>
        </p:spPr>
        <p:txBody>
          <a:bodyPr/>
          <a:lstStyle/>
          <a:p>
            <a:r>
              <a:rPr lang="en-US" altLang="zh-CN" dirty="0"/>
              <a:t>SVM</a:t>
            </a:r>
            <a:r>
              <a:rPr lang="zh-CN" altLang="en-US" dirty="0"/>
              <a:t>算法的应用</a:t>
            </a:r>
            <a:endParaRPr lang="zh-CN" altLang="en-US" dirty="0"/>
          </a:p>
        </p:txBody>
      </p:sp>
      <p:sp>
        <p:nvSpPr>
          <p:cNvPr id="3" name="文本框 2"/>
          <p:cNvSpPr txBox="1"/>
          <p:nvPr/>
        </p:nvSpPr>
        <p:spPr>
          <a:xfrm>
            <a:off x="782287" y="2270971"/>
            <a:ext cx="10830205" cy="1384995"/>
          </a:xfrm>
          <a:prstGeom prst="rect">
            <a:avLst/>
          </a:prstGeom>
          <a:noFill/>
        </p:spPr>
        <p:txBody>
          <a:bodyPr wrap="square" rtlCol="0">
            <a:spAutoFit/>
          </a:bodyPr>
          <a:lstStyle/>
          <a:p>
            <a:pPr>
              <a:lnSpc>
                <a:spcPct val="150000"/>
              </a:lnSpc>
            </a:pPr>
            <a:r>
              <a:rPr lang="zh-CN" altLang="en-US" sz="2800" dirty="0" smtClean="0">
                <a:latin typeface="+mn-ea"/>
                <a:cs typeface="Times New Roman" panose="02020603050405020304" pitchFamily="18" charset="0"/>
              </a:rPr>
              <a:t>通过</a:t>
            </a:r>
            <a:r>
              <a:rPr lang="zh-CN" altLang="en-US" sz="2800" dirty="0">
                <a:latin typeface="+mn-ea"/>
                <a:cs typeface="Times New Roman" panose="02020603050405020304" pitchFamily="18" charset="0"/>
              </a:rPr>
              <a:t>从网上下载一些人脸的数据集然后利用</a:t>
            </a:r>
            <a:r>
              <a:rPr lang="en-US" altLang="zh-CN" sz="2800" dirty="0">
                <a:latin typeface="+mn-ea"/>
                <a:cs typeface="Times New Roman" panose="02020603050405020304" pitchFamily="18" charset="0"/>
              </a:rPr>
              <a:t>SVM</a:t>
            </a:r>
            <a:r>
              <a:rPr lang="zh-CN" altLang="en-US" sz="2800" dirty="0">
                <a:latin typeface="+mn-ea"/>
                <a:cs typeface="Times New Roman" panose="02020603050405020304" pitchFamily="18" charset="0"/>
              </a:rPr>
              <a:t>算法实现人脸识别的功能，最后显示出某人的预测名字与真实名字。</a:t>
            </a:r>
            <a:endParaRPr lang="en-US" altLang="zh-CN" sz="2800" dirty="0">
              <a:latin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SVM</a:t>
            </a:r>
            <a:r>
              <a:rPr lang="zh-CN" altLang="en-US" dirty="0"/>
              <a:t>算法应用的主要代码</a:t>
            </a:r>
            <a:endParaRPr lang="zh-CN" altLang="en-US" dirty="0"/>
          </a:p>
        </p:txBody>
      </p:sp>
      <p:sp>
        <p:nvSpPr>
          <p:cNvPr id="3" name="文本框 2"/>
          <p:cNvSpPr txBox="1"/>
          <p:nvPr/>
        </p:nvSpPr>
        <p:spPr>
          <a:xfrm>
            <a:off x="869095" y="1073561"/>
            <a:ext cx="10830205" cy="5484643"/>
          </a:xfrm>
          <a:prstGeom prst="rect">
            <a:avLst/>
          </a:prstGeom>
          <a:noFill/>
        </p:spPr>
        <p:txBody>
          <a:bodyPr wrap="square" rtlCol="0">
            <a:spAutoFit/>
          </a:bodyPr>
          <a:lstStyle/>
          <a:p>
            <a:pPr>
              <a:lnSpc>
                <a:spcPct val="150000"/>
              </a:lnSpc>
            </a:pPr>
            <a:r>
              <a:rPr lang="it-IT" altLang="zh-CN" sz="2400" dirty="0">
                <a:latin typeface="Consolas" panose="020B0609020204030204" pitchFamily="49" charset="0"/>
                <a:cs typeface="Times New Roman" panose="02020603050405020304" pitchFamily="18" charset="0"/>
              </a:rPr>
              <a:t># Train a SVM classification model</a:t>
            </a:r>
            <a:endParaRPr lang="it-IT" altLang="zh-CN" sz="2400" dirty="0">
              <a:latin typeface="Consolas" panose="020B0609020204030204" pitchFamily="49" charset="0"/>
              <a:cs typeface="Times New Roman" panose="02020603050405020304" pitchFamily="18" charset="0"/>
            </a:endParaRPr>
          </a:p>
          <a:p>
            <a:pPr>
              <a:lnSpc>
                <a:spcPct val="150000"/>
              </a:lnSpc>
            </a:pPr>
            <a:r>
              <a:rPr lang="it-IT" altLang="zh-CN" sz="2400" dirty="0">
                <a:latin typeface="Consolas" panose="020B0609020204030204" pitchFamily="49" charset="0"/>
                <a:cs typeface="Times New Roman" panose="02020603050405020304" pitchFamily="18" charset="0"/>
              </a:rPr>
              <a:t>print("Fitting the classifier to the training set")</a:t>
            </a:r>
            <a:endParaRPr lang="it-IT" altLang="zh-CN" sz="2400" dirty="0">
              <a:latin typeface="Consolas" panose="020B0609020204030204" pitchFamily="49" charset="0"/>
              <a:cs typeface="Times New Roman" panose="02020603050405020304" pitchFamily="18" charset="0"/>
            </a:endParaRPr>
          </a:p>
          <a:p>
            <a:pPr>
              <a:lnSpc>
                <a:spcPct val="150000"/>
              </a:lnSpc>
            </a:pPr>
            <a:r>
              <a:rPr lang="it-IT" altLang="zh-CN" sz="2400" dirty="0">
                <a:latin typeface="Consolas" panose="020B0609020204030204" pitchFamily="49" charset="0"/>
                <a:cs typeface="Times New Roman" panose="02020603050405020304" pitchFamily="18" charset="0"/>
              </a:rPr>
              <a:t>t0 = time()</a:t>
            </a:r>
            <a:endParaRPr lang="it-IT" altLang="zh-CN" sz="2400" dirty="0">
              <a:latin typeface="Consolas" panose="020B0609020204030204" pitchFamily="49" charset="0"/>
              <a:cs typeface="Times New Roman" panose="02020603050405020304" pitchFamily="18" charset="0"/>
            </a:endParaRPr>
          </a:p>
          <a:p>
            <a:pPr>
              <a:lnSpc>
                <a:spcPct val="150000"/>
              </a:lnSpc>
            </a:pPr>
            <a:r>
              <a:rPr lang="it-IT" altLang="zh-CN" sz="2400" dirty="0">
                <a:latin typeface="Consolas" panose="020B0609020204030204" pitchFamily="49" charset="0"/>
                <a:cs typeface="Times New Roman" panose="02020603050405020304" pitchFamily="18" charset="0"/>
              </a:rPr>
              <a:t>param_grid = {'C': [1e3, 5e3, 1e4, 5e4, 1e5],</a:t>
            </a:r>
            <a:endParaRPr lang="it-IT" altLang="zh-CN" sz="2400" dirty="0">
              <a:latin typeface="Consolas" panose="020B0609020204030204" pitchFamily="49" charset="0"/>
              <a:cs typeface="Times New Roman" panose="02020603050405020304" pitchFamily="18" charset="0"/>
            </a:endParaRPr>
          </a:p>
          <a:p>
            <a:pPr>
              <a:lnSpc>
                <a:spcPct val="150000"/>
              </a:lnSpc>
            </a:pPr>
            <a:r>
              <a:rPr lang="it-IT" altLang="zh-CN" sz="2400" dirty="0">
                <a:latin typeface="Consolas" panose="020B0609020204030204" pitchFamily="49" charset="0"/>
                <a:cs typeface="Times New Roman" panose="02020603050405020304" pitchFamily="18" charset="0"/>
              </a:rPr>
              <a:t>              'gamma': [0.0001, 0.0005, 0.001, 0.005, 0.01, 0.1], }</a:t>
            </a:r>
            <a:endParaRPr lang="it-IT" altLang="zh-CN" sz="2400" dirty="0">
              <a:latin typeface="Consolas" panose="020B0609020204030204" pitchFamily="49" charset="0"/>
              <a:cs typeface="Times New Roman" panose="02020603050405020304" pitchFamily="18" charset="0"/>
            </a:endParaRPr>
          </a:p>
          <a:p>
            <a:pPr>
              <a:lnSpc>
                <a:spcPct val="150000"/>
              </a:lnSpc>
            </a:pPr>
            <a:r>
              <a:rPr lang="it-IT" altLang="zh-CN" sz="2400" dirty="0">
                <a:latin typeface="Consolas" panose="020B0609020204030204" pitchFamily="49" charset="0"/>
                <a:cs typeface="Times New Roman" panose="02020603050405020304" pitchFamily="18" charset="0"/>
              </a:rPr>
              <a:t>clf = GridSearchCV(SVC(kernel='rbf', class_weight='balanced'), param_grid)#</a:t>
            </a:r>
            <a:r>
              <a:rPr lang="zh-CN" altLang="en-US" sz="2400" dirty="0">
                <a:latin typeface="Consolas" panose="020B0609020204030204" pitchFamily="49" charset="0"/>
                <a:cs typeface="Times New Roman" panose="02020603050405020304" pitchFamily="18" charset="0"/>
              </a:rPr>
              <a:t>权重均衡，核函数</a:t>
            </a:r>
            <a:r>
              <a:rPr lang="it-IT" altLang="zh-CN" sz="2400" dirty="0">
                <a:latin typeface="Consolas" panose="020B0609020204030204" pitchFamily="49" charset="0"/>
                <a:cs typeface="Times New Roman" panose="02020603050405020304" pitchFamily="18" charset="0"/>
              </a:rPr>
              <a:t>kenel= rbf</a:t>
            </a:r>
            <a:endParaRPr lang="it-IT" altLang="zh-CN" sz="2400" dirty="0">
              <a:latin typeface="Consolas" panose="020B0609020204030204" pitchFamily="49" charset="0"/>
              <a:cs typeface="Times New Roman" panose="02020603050405020304" pitchFamily="18" charset="0"/>
            </a:endParaRPr>
          </a:p>
          <a:p>
            <a:pPr>
              <a:lnSpc>
                <a:spcPct val="150000"/>
              </a:lnSpc>
            </a:pPr>
            <a:r>
              <a:rPr lang="it-IT" altLang="zh-CN" sz="2400" dirty="0">
                <a:latin typeface="Consolas" panose="020B0609020204030204" pitchFamily="49" charset="0"/>
                <a:cs typeface="Times New Roman" panose="02020603050405020304" pitchFamily="18" charset="0"/>
              </a:rPr>
              <a:t># param_grid</a:t>
            </a:r>
            <a:r>
              <a:rPr lang="zh-CN" altLang="it-IT" sz="2400" dirty="0">
                <a:latin typeface="Consolas" panose="020B0609020204030204" pitchFamily="49" charset="0"/>
                <a:cs typeface="Times New Roman" panose="02020603050405020304" pitchFamily="18" charset="0"/>
              </a:rPr>
              <a:t>：</a:t>
            </a:r>
            <a:r>
              <a:rPr lang="zh-CN" altLang="en-US" sz="2400" dirty="0">
                <a:latin typeface="Consolas" panose="020B0609020204030204" pitchFamily="49" charset="0"/>
                <a:cs typeface="Times New Roman" panose="02020603050405020304" pitchFamily="18" charset="0"/>
              </a:rPr>
              <a:t>值为字典或者列表，即需要最优化的参数的取值</a:t>
            </a:r>
            <a:endParaRPr lang="zh-CN" altLang="en-US" sz="2400" dirty="0">
              <a:latin typeface="Consolas" panose="020B0609020204030204" pitchFamily="49" charset="0"/>
              <a:cs typeface="Times New Roman" panose="02020603050405020304" pitchFamily="18" charset="0"/>
            </a:endParaRPr>
          </a:p>
          <a:p>
            <a:pPr>
              <a:lnSpc>
                <a:spcPct val="150000"/>
              </a:lnSpc>
            </a:pP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SVM</a:t>
            </a:r>
            <a:r>
              <a:rPr lang="zh-CN" altLang="en-US" dirty="0"/>
              <a:t>算法应用的主要代码</a:t>
            </a:r>
            <a:endParaRPr lang="zh-CN" altLang="en-US" dirty="0"/>
          </a:p>
        </p:txBody>
      </p:sp>
      <p:sp>
        <p:nvSpPr>
          <p:cNvPr id="3" name="文本框 2"/>
          <p:cNvSpPr txBox="1"/>
          <p:nvPr/>
        </p:nvSpPr>
        <p:spPr>
          <a:xfrm>
            <a:off x="1141596" y="835327"/>
            <a:ext cx="10830205" cy="5724644"/>
          </a:xfrm>
          <a:prstGeom prst="rect">
            <a:avLst/>
          </a:prstGeom>
          <a:noFill/>
        </p:spPr>
        <p:txBody>
          <a:bodyPr wrap="square" rtlCol="0">
            <a:spAutoFit/>
          </a:bodyPr>
          <a:lstStyle/>
          <a:p>
            <a:pPr>
              <a:lnSpc>
                <a:spcPct val="150000"/>
              </a:lnSpc>
            </a:pPr>
            <a:r>
              <a:rPr lang="it-IT" altLang="zh-CN" sz="2400" dirty="0">
                <a:latin typeface="Times New Roman" panose="02020603050405020304" pitchFamily="18" charset="0"/>
                <a:cs typeface="Times New Roman" panose="02020603050405020304" pitchFamily="18" charset="0"/>
              </a:rPr>
              <a:t>def plot_gallery(images, titles, h, w, n_row=3, n_col=4):</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plt.figure(figsize=(1.8 * n_col, 2.4 * n_row))</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plt.subplots_adjust(bottom=0, left=.01, right=.99, top=.90, hspace=.35)</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for i in range(n_row * n_col):</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plt.subplot(n_row, n_col, i + 1)</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plt.imshow(images[i].reshape((h, w)), cmap=plt.cm.gray)</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plt.title(titles[i], size=12)</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plt.xticks(())</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plt.yticks(())</a:t>
            </a:r>
            <a:endParaRPr lang="it-IT" altLang="zh-CN" sz="2400" dirty="0">
              <a:latin typeface="Times New Roman" panose="02020603050405020304" pitchFamily="18" charset="0"/>
              <a:cs typeface="Times New Roman" panose="02020603050405020304" pitchFamily="18" charset="0"/>
            </a:endParaRPr>
          </a:p>
          <a:p>
            <a:pPr>
              <a:lnSpc>
                <a:spcPct val="150000"/>
              </a:lnSpc>
            </a:pPr>
            <a:endParaRPr lang="it-IT" altLang="zh-CN"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SVM</a:t>
            </a:r>
            <a:r>
              <a:rPr lang="zh-CN" altLang="en-US" dirty="0"/>
              <a:t>算法应用的实验结果</a:t>
            </a:r>
            <a:endParaRPr lang="zh-CN" altLang="en-US" dirty="0"/>
          </a:p>
        </p:txBody>
      </p:sp>
      <p:pic>
        <p:nvPicPr>
          <p:cNvPr id="3" name="图片 2"/>
          <p:cNvPicPr>
            <a:picLocks noChangeAspect="1"/>
          </p:cNvPicPr>
          <p:nvPr/>
        </p:nvPicPr>
        <p:blipFill>
          <a:blip r:embed="rId1"/>
          <a:stretch>
            <a:fillRect/>
          </a:stretch>
        </p:blipFill>
        <p:spPr>
          <a:xfrm>
            <a:off x="2189590" y="1851350"/>
            <a:ext cx="3071309" cy="3341470"/>
          </a:xfrm>
          <a:prstGeom prst="rect">
            <a:avLst/>
          </a:prstGeom>
        </p:spPr>
      </p:pic>
      <p:pic>
        <p:nvPicPr>
          <p:cNvPr id="5" name="图片 4"/>
          <p:cNvPicPr>
            <a:picLocks noChangeAspect="1"/>
          </p:cNvPicPr>
          <p:nvPr/>
        </p:nvPicPr>
        <p:blipFill>
          <a:blip r:embed="rId2"/>
          <a:stretch>
            <a:fillRect/>
          </a:stretch>
        </p:blipFill>
        <p:spPr>
          <a:xfrm>
            <a:off x="6621348" y="1849178"/>
            <a:ext cx="3071309" cy="334364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6"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smtClean="0">
                  <a:solidFill>
                    <a:srgbClr val="009999"/>
                  </a:solidFill>
                  <a:latin typeface="Century Gothic" panose="020B0502020202020204" pitchFamily="34" charset="0"/>
                  <a:cs typeface="+mn-ea"/>
                  <a:sym typeface="+mn-lt"/>
                </a:rPr>
                <a:t>06</a:t>
              </a:r>
              <a:endParaRPr lang="zh-CN" altLang="en-US" sz="4000" kern="0" dirty="0">
                <a:solidFill>
                  <a:srgbClr val="009999"/>
                </a:solidFill>
                <a:latin typeface="Century Gothic" panose="020B0502020202020204" pitchFamily="34" charset="0"/>
                <a:cs typeface="+mn-ea"/>
                <a:sym typeface="+mn-lt"/>
              </a:endParaRPr>
            </a:p>
          </p:txBody>
        </p:sp>
      </p:grpSp>
      <p:grpSp>
        <p:nvGrpSpPr>
          <p:cNvPr id="9"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566509" y="2472759"/>
            <a:ext cx="6109365"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算法改进与优化</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5970393" y="3636434"/>
            <a:ext cx="6109365" cy="1569660"/>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IMPROVEMENT AND OPTIMIZATION OF ALGORITHM</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468238"/>
            <a:ext cx="8015583" cy="535531"/>
          </a:xfrm>
        </p:spPr>
        <p:txBody>
          <a:bodyPr/>
          <a:lstStyle/>
          <a:p>
            <a:r>
              <a:rPr lang="en-US" altLang="zh-CN" dirty="0">
                <a:solidFill>
                  <a:srgbClr val="009999"/>
                </a:solidFill>
              </a:rPr>
              <a:t>SVM</a:t>
            </a:r>
            <a:r>
              <a:rPr lang="zh-CN" altLang="en-US" dirty="0">
                <a:solidFill>
                  <a:srgbClr val="009999"/>
                </a:solidFill>
              </a:rPr>
              <a:t>算法的改进与优化</a:t>
            </a:r>
            <a:endParaRPr lang="zh-CN" altLang="en-US" dirty="0">
              <a:solidFill>
                <a:srgbClr val="009999"/>
              </a:solidFill>
            </a:endParaRPr>
          </a:p>
        </p:txBody>
      </p:sp>
      <p:sp>
        <p:nvSpPr>
          <p:cNvPr id="3" name="文本框 2"/>
          <p:cNvSpPr txBox="1"/>
          <p:nvPr/>
        </p:nvSpPr>
        <p:spPr>
          <a:xfrm>
            <a:off x="835641" y="1124057"/>
            <a:ext cx="10830205" cy="5262979"/>
          </a:xfrm>
          <a:prstGeom prst="rect">
            <a:avLst/>
          </a:prstGeom>
          <a:noFill/>
        </p:spPr>
        <p:txBody>
          <a:bodyPr wrap="square" rtlCol="0">
            <a:spAutoFit/>
          </a:bodyPr>
          <a:lstStyle/>
          <a:p>
            <a:pPr>
              <a:lnSpc>
                <a:spcPct val="150000"/>
              </a:lnSpc>
            </a:pPr>
            <a:r>
              <a:rPr lang="en-US" altLang="zh-CN" sz="2800" dirty="0" smtClean="0">
                <a:latin typeface="+mj-ea"/>
                <a:ea typeface="+mj-ea"/>
              </a:rPr>
              <a:t>1. </a:t>
            </a:r>
            <a:r>
              <a:rPr lang="zh-CN" altLang="en-US" sz="2800" dirty="0">
                <a:latin typeface="+mj-ea"/>
                <a:ea typeface="+mj-ea"/>
              </a:rPr>
              <a:t>最小二乘</a:t>
            </a:r>
            <a:r>
              <a:rPr lang="en-US" altLang="zh-CN" sz="2800" dirty="0">
                <a:latin typeface="+mj-ea"/>
                <a:ea typeface="+mj-ea"/>
              </a:rPr>
              <a:t>SVM</a:t>
            </a:r>
            <a:r>
              <a:rPr lang="zh-CN" altLang="en-US" sz="2800" dirty="0">
                <a:latin typeface="+mj-ea"/>
                <a:ea typeface="+mj-ea"/>
              </a:rPr>
              <a:t>（</a:t>
            </a:r>
            <a:r>
              <a:rPr lang="en-US" altLang="zh-CN" sz="2800" dirty="0">
                <a:latin typeface="+mj-ea"/>
                <a:ea typeface="+mj-ea"/>
              </a:rPr>
              <a:t>LS-SVM</a:t>
            </a:r>
            <a:r>
              <a:rPr lang="zh-CN" altLang="en-US" sz="2800" dirty="0">
                <a:latin typeface="+mj-ea"/>
                <a:ea typeface="+mj-ea"/>
              </a:rPr>
              <a:t>）</a:t>
            </a:r>
            <a:endParaRPr lang="en-US" altLang="zh-CN" sz="2800" dirty="0">
              <a:latin typeface="+mj-ea"/>
              <a:ea typeface="+mj-ea"/>
            </a:endParaRPr>
          </a:p>
          <a:p>
            <a:pPr indent="457200">
              <a:lnSpc>
                <a:spcPct val="150000"/>
              </a:lnSpc>
            </a:pPr>
            <a:r>
              <a:rPr lang="en-US" altLang="zh-CN" sz="2800" dirty="0">
                <a:latin typeface="+mn-ea"/>
              </a:rPr>
              <a:t>SVM</a:t>
            </a:r>
            <a:r>
              <a:rPr lang="zh-CN" altLang="en-US" sz="2800" dirty="0">
                <a:latin typeface="+mn-ea"/>
              </a:rPr>
              <a:t>标准算法在应用中存在着超平面参数选择，以及问题求解中矩阵规模受训练样本数目影响很大，导致规模过大的问题。</a:t>
            </a:r>
            <a:endParaRPr lang="zh-CN" altLang="en-US" sz="2800" dirty="0">
              <a:latin typeface="+mn-ea"/>
            </a:endParaRPr>
          </a:p>
          <a:p>
            <a:pPr indent="457200">
              <a:lnSpc>
                <a:spcPct val="150000"/>
              </a:lnSpc>
            </a:pPr>
            <a:r>
              <a:rPr lang="en-US" altLang="zh-CN" sz="2800" dirty="0">
                <a:latin typeface="+mn-ea"/>
              </a:rPr>
              <a:t>LS-SVM</a:t>
            </a:r>
            <a:r>
              <a:rPr lang="zh-CN" altLang="en-US" sz="2800" dirty="0">
                <a:latin typeface="+mn-ea"/>
              </a:rPr>
              <a:t>是标准</a:t>
            </a:r>
            <a:r>
              <a:rPr lang="en-US" altLang="zh-CN" sz="2800" dirty="0">
                <a:latin typeface="+mn-ea"/>
              </a:rPr>
              <a:t>SVM</a:t>
            </a:r>
            <a:r>
              <a:rPr lang="zh-CN" altLang="en-US" sz="2800" dirty="0">
                <a:latin typeface="+mn-ea"/>
              </a:rPr>
              <a:t>的一种变体，它从机器学习损失函数着手，在其优化问题的目标函数中使用二范数，并利用等式约束条件代替</a:t>
            </a:r>
            <a:r>
              <a:rPr lang="en-US" altLang="zh-CN" sz="2800" dirty="0">
                <a:latin typeface="+mn-ea"/>
              </a:rPr>
              <a:t>SVM</a:t>
            </a:r>
            <a:r>
              <a:rPr lang="zh-CN" altLang="en-US" sz="2800" dirty="0">
                <a:latin typeface="+mn-ea"/>
              </a:rPr>
              <a:t>标准算法中的不等式约束条件，使得</a:t>
            </a:r>
            <a:r>
              <a:rPr lang="en-US" altLang="zh-CN" sz="2800" dirty="0">
                <a:latin typeface="+mn-ea"/>
              </a:rPr>
              <a:t>LS-SVM</a:t>
            </a:r>
            <a:r>
              <a:rPr lang="zh-CN" altLang="en-US" sz="2800" dirty="0">
                <a:latin typeface="+mn-ea"/>
              </a:rPr>
              <a:t>方法的优化问题的求解最终变为一组线性方程组的求解。</a:t>
            </a:r>
            <a:endParaRPr lang="zh-CN" altLang="en-US" sz="2800" dirty="0">
              <a:latin typeface="+mn-ea"/>
            </a:endParaRPr>
          </a:p>
          <a:p>
            <a:pPr>
              <a:lnSpc>
                <a:spcPct val="150000"/>
              </a:lnSpc>
            </a:pPr>
            <a:endParaRPr lang="zh-CN" altLang="zh-CN" sz="2800" dirty="0">
              <a:latin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29045" y="564491"/>
            <a:ext cx="8015583" cy="535531"/>
          </a:xfrm>
        </p:spPr>
        <p:txBody>
          <a:bodyPr/>
          <a:lstStyle/>
          <a:p>
            <a:r>
              <a:rPr lang="en-US" altLang="zh-CN" dirty="0">
                <a:solidFill>
                  <a:srgbClr val="009999"/>
                </a:solidFill>
              </a:rPr>
              <a:t>SVM</a:t>
            </a:r>
            <a:r>
              <a:rPr lang="zh-CN" altLang="en-US" dirty="0">
                <a:solidFill>
                  <a:srgbClr val="009999"/>
                </a:solidFill>
              </a:rPr>
              <a:t>算法的改进与优化</a:t>
            </a:r>
            <a:endParaRPr lang="zh-CN" altLang="en-US" dirty="0">
              <a:solidFill>
                <a:srgbClr val="009999"/>
              </a:solidFill>
            </a:endParaRPr>
          </a:p>
        </p:txBody>
      </p:sp>
      <p:sp>
        <p:nvSpPr>
          <p:cNvPr id="3" name="文本框 2"/>
          <p:cNvSpPr txBox="1"/>
          <p:nvPr/>
        </p:nvSpPr>
        <p:spPr>
          <a:xfrm>
            <a:off x="849709" y="1313628"/>
            <a:ext cx="10830205" cy="4616648"/>
          </a:xfrm>
          <a:prstGeom prst="rect">
            <a:avLst/>
          </a:prstGeom>
          <a:noFill/>
        </p:spPr>
        <p:txBody>
          <a:bodyPr wrap="square" rtlCol="0">
            <a:spAutoFit/>
          </a:bodyPr>
          <a:lstStyle/>
          <a:p>
            <a:pPr>
              <a:lnSpc>
                <a:spcPct val="150000"/>
              </a:lnSpc>
            </a:pPr>
            <a:r>
              <a:rPr lang="en-US" altLang="zh-CN" sz="2800" dirty="0" smtClean="0">
                <a:latin typeface="+mj-ea"/>
                <a:ea typeface="+mj-ea"/>
              </a:rPr>
              <a:t>2. </a:t>
            </a:r>
            <a:r>
              <a:rPr lang="zh-CN" altLang="en-US" sz="2800" dirty="0">
                <a:latin typeface="+mj-ea"/>
                <a:ea typeface="+mj-ea"/>
              </a:rPr>
              <a:t>概率</a:t>
            </a:r>
            <a:r>
              <a:rPr lang="en-US" altLang="zh-CN" sz="2800" dirty="0">
                <a:latin typeface="+mj-ea"/>
                <a:ea typeface="+mj-ea"/>
              </a:rPr>
              <a:t>SVM</a:t>
            </a:r>
            <a:endParaRPr lang="en-US" altLang="zh-CN" sz="2800" dirty="0">
              <a:latin typeface="+mj-ea"/>
              <a:ea typeface="+mj-ea"/>
            </a:endParaRPr>
          </a:p>
          <a:p>
            <a:pPr indent="457200" algn="just">
              <a:lnSpc>
                <a:spcPct val="150000"/>
              </a:lnSpc>
            </a:pPr>
            <a:r>
              <a:rPr lang="zh-CN" altLang="en-US" sz="2800" dirty="0">
                <a:latin typeface="+mn-ea"/>
              </a:rPr>
              <a:t>概率</a:t>
            </a:r>
            <a:r>
              <a:rPr lang="en-US" altLang="zh-CN" sz="2800" dirty="0">
                <a:latin typeface="+mn-ea"/>
              </a:rPr>
              <a:t>SVM</a:t>
            </a:r>
            <a:r>
              <a:rPr lang="zh-CN" altLang="en-US" sz="2800" dirty="0">
                <a:latin typeface="+mn-ea"/>
              </a:rPr>
              <a:t>可以视为</a:t>
            </a:r>
            <a:r>
              <a:rPr lang="en-US" altLang="zh-CN" sz="2800" dirty="0">
                <a:latin typeface="+mn-ea"/>
              </a:rPr>
              <a:t>Logistic</a:t>
            </a:r>
            <a:r>
              <a:rPr lang="zh-CN" altLang="en-US" sz="2800" dirty="0">
                <a:latin typeface="+mn-ea"/>
              </a:rPr>
              <a:t>回归和</a:t>
            </a:r>
            <a:r>
              <a:rPr lang="en-US" altLang="zh-CN" sz="2800" dirty="0">
                <a:latin typeface="+mn-ea"/>
              </a:rPr>
              <a:t>SVM</a:t>
            </a:r>
            <a:r>
              <a:rPr lang="zh-CN" altLang="en-US" sz="2800" dirty="0">
                <a:latin typeface="+mn-ea"/>
              </a:rPr>
              <a:t>的结合，</a:t>
            </a:r>
            <a:r>
              <a:rPr lang="en-US" altLang="zh-CN" sz="2800" dirty="0">
                <a:latin typeface="+mn-ea"/>
              </a:rPr>
              <a:t>SVM</a:t>
            </a:r>
            <a:r>
              <a:rPr lang="zh-CN" altLang="en-US" sz="2800" dirty="0">
                <a:latin typeface="+mn-ea"/>
              </a:rPr>
              <a:t>由决策边界直接输出样本的分类，概率</a:t>
            </a:r>
            <a:r>
              <a:rPr lang="en-US" altLang="zh-CN" sz="2800" dirty="0">
                <a:latin typeface="+mn-ea"/>
              </a:rPr>
              <a:t>SVM</a:t>
            </a:r>
            <a:r>
              <a:rPr lang="zh-CN" altLang="en-US" sz="2800" dirty="0">
                <a:latin typeface="+mn-ea"/>
              </a:rPr>
              <a:t>则通过</a:t>
            </a:r>
            <a:r>
              <a:rPr lang="en-US" altLang="zh-CN" sz="2800" dirty="0">
                <a:latin typeface="+mn-ea"/>
              </a:rPr>
              <a:t>Sigmoid</a:t>
            </a:r>
            <a:r>
              <a:rPr lang="zh-CN" altLang="en-US" sz="2800" dirty="0">
                <a:latin typeface="+mn-ea"/>
              </a:rPr>
              <a:t>函数计算样本属于其类别的概率。具体地，在计算标准</a:t>
            </a:r>
            <a:r>
              <a:rPr lang="en-US" altLang="zh-CN" sz="2800" dirty="0">
                <a:latin typeface="+mn-ea"/>
              </a:rPr>
              <a:t>SVM</a:t>
            </a:r>
            <a:r>
              <a:rPr lang="zh-CN" altLang="en-US" sz="2800" dirty="0">
                <a:latin typeface="+mn-ea"/>
              </a:rPr>
              <a:t>得到学习样本的决策边界后，概率</a:t>
            </a:r>
            <a:r>
              <a:rPr lang="en-US" altLang="zh-CN" sz="2800" dirty="0">
                <a:latin typeface="+mn-ea"/>
              </a:rPr>
              <a:t>SVM</a:t>
            </a:r>
            <a:r>
              <a:rPr lang="zh-CN" altLang="en-US" sz="2800" dirty="0">
                <a:latin typeface="+mn-ea"/>
              </a:rPr>
              <a:t>通过缩放和平移参数  对决策边界进行线性变换，并使用极大似然估计（</a:t>
            </a:r>
            <a:r>
              <a:rPr lang="en-US" altLang="zh-CN" sz="2800" dirty="0">
                <a:latin typeface="+mn-ea"/>
              </a:rPr>
              <a:t>Maximum </a:t>
            </a:r>
            <a:r>
              <a:rPr lang="en-US" altLang="zh-CN" sz="2800" dirty="0" err="1">
                <a:latin typeface="+mn-ea"/>
              </a:rPr>
              <a:t>Liklihood</a:t>
            </a:r>
            <a:r>
              <a:rPr lang="en-US" altLang="zh-CN" sz="2800" dirty="0">
                <a:latin typeface="+mn-ea"/>
              </a:rPr>
              <a:t> Estimation, MLE</a:t>
            </a:r>
            <a:r>
              <a:rPr lang="zh-CN" altLang="en-US" sz="2800" dirty="0">
                <a:latin typeface="+mn-ea"/>
              </a:rPr>
              <a:t>）得到的值，将样本到线性变换后超平面的距离作为</a:t>
            </a:r>
            <a:r>
              <a:rPr lang="en-US" altLang="zh-CN" sz="2800" dirty="0">
                <a:latin typeface="+mn-ea"/>
              </a:rPr>
              <a:t>Sigmoid</a:t>
            </a:r>
            <a:r>
              <a:rPr lang="zh-CN" altLang="en-US" sz="2800" dirty="0">
                <a:latin typeface="+mn-ea"/>
              </a:rPr>
              <a:t>函数的输入得到概率 。</a:t>
            </a:r>
            <a:endParaRPr lang="zh-CN" altLang="en-US" sz="2800" dirty="0">
              <a:latin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38918" y="2149970"/>
            <a:ext cx="9384177" cy="1384995"/>
          </a:xfrm>
          <a:prstGeom prst="rect">
            <a:avLst/>
          </a:prstGeom>
          <a:noFill/>
        </p:spPr>
        <p:txBody>
          <a:bodyPr wrap="square" rtlCol="0">
            <a:spAutoFit/>
          </a:bodyPr>
          <a:lstStyle/>
          <a:p>
            <a:pPr>
              <a:lnSpc>
                <a:spcPct val="150000"/>
              </a:lnSpc>
            </a:pPr>
            <a:r>
              <a:rPr lang="zh-CN" altLang="en-US" sz="2800" dirty="0">
                <a:latin typeface="+mn-ea"/>
              </a:rPr>
              <a:t>本章主要介绍了机器学习中的支持向量机算法的基本原理及具体步骤，并用简洁的代码实现了算法</a:t>
            </a:r>
            <a:r>
              <a:rPr lang="zh-CN" altLang="en-US" sz="2800" dirty="0" smtClean="0">
                <a:latin typeface="+mn-ea"/>
              </a:rPr>
              <a:t>。</a:t>
            </a:r>
            <a:endParaRPr lang="zh-CN" altLang="en-US" sz="2800" dirty="0">
              <a:latin typeface="+mn-ea"/>
            </a:endParaRPr>
          </a:p>
        </p:txBody>
      </p:sp>
      <p:sp>
        <p:nvSpPr>
          <p:cNvPr id="4" name="标题 3"/>
          <p:cNvSpPr>
            <a:spLocks noGrp="1"/>
          </p:cNvSpPr>
          <p:nvPr>
            <p:ph type="title"/>
          </p:nvPr>
        </p:nvSpPr>
        <p:spPr>
          <a:xfrm>
            <a:off x="1289202" y="528396"/>
            <a:ext cx="8015583" cy="535531"/>
          </a:xfrm>
        </p:spPr>
        <p:txBody>
          <a:bodyPr/>
          <a:lstStyle/>
          <a:p>
            <a:r>
              <a:rPr lang="zh-CN" altLang="en-US" dirty="0">
                <a:solidFill>
                  <a:srgbClr val="009999"/>
                </a:solidFill>
              </a:rPr>
              <a:t>本章小结</a:t>
            </a:r>
            <a:endParaRPr lang="zh-CN" altLang="en-US" dirty="0">
              <a:solidFill>
                <a:srgbClr val="009999"/>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7388" y="234031"/>
            <a:ext cx="10272890" cy="980728"/>
          </a:xfrm>
        </p:spPr>
        <p:txBody>
          <a:bodyPr/>
          <a:lstStyle/>
          <a:p>
            <a:r>
              <a:rPr lang="zh-CN" altLang="en-US" dirty="0" smtClean="0"/>
              <a:t>上机练习</a:t>
            </a:r>
            <a:endParaRPr lang="zh-CN" altLang="en-US" dirty="0"/>
          </a:p>
        </p:txBody>
      </p:sp>
      <p:sp>
        <p:nvSpPr>
          <p:cNvPr id="3" name="内容占位符 2"/>
          <p:cNvSpPr>
            <a:spLocks noGrp="1"/>
          </p:cNvSpPr>
          <p:nvPr>
            <p:ph idx="1"/>
          </p:nvPr>
        </p:nvSpPr>
        <p:spPr>
          <a:xfrm>
            <a:off x="1273235" y="962096"/>
            <a:ext cx="10272890" cy="5279506"/>
          </a:xfrm>
        </p:spPr>
        <p:txBody>
          <a:bodyPr/>
          <a:lstStyle/>
          <a:p>
            <a:r>
              <a:rPr lang="en-US" altLang="zh-CN" sz="2400" dirty="0" smtClean="0"/>
              <a:t>1.</a:t>
            </a:r>
            <a:r>
              <a:rPr lang="zh-CN" altLang="en-US" sz="2400" dirty="0"/>
              <a:t> </a:t>
            </a:r>
            <a:r>
              <a:rPr lang="zh-CN" altLang="en-US" sz="2400" dirty="0" smtClean="0"/>
              <a:t>使用</a:t>
            </a:r>
            <a:r>
              <a:rPr lang="en-US" altLang="zh-CN" sz="2400" dirty="0" err="1"/>
              <a:t>sklearn</a:t>
            </a:r>
            <a:r>
              <a:rPr lang="zh-CN" altLang="en-US" sz="2400" dirty="0"/>
              <a:t>的</a:t>
            </a:r>
            <a:r>
              <a:rPr lang="en-US" altLang="zh-CN" sz="2400" dirty="0"/>
              <a:t>SVM</a:t>
            </a:r>
            <a:r>
              <a:rPr lang="zh-CN" altLang="en-US" sz="2400" dirty="0"/>
              <a:t>算法对样本数据进行分类，要求：</a:t>
            </a:r>
            <a:endParaRPr lang="zh-CN" altLang="en-US" sz="2400" dirty="0"/>
          </a:p>
          <a:p>
            <a:pPr marL="0" indent="0">
              <a:buNone/>
            </a:pPr>
            <a:r>
              <a:rPr lang="en-US" altLang="zh-CN" sz="2400" dirty="0" smtClean="0"/>
              <a:t>     (</a:t>
            </a:r>
            <a:r>
              <a:rPr lang="en-US" altLang="zh-CN" sz="2400" dirty="0"/>
              <a:t>1)</a:t>
            </a:r>
            <a:r>
              <a:rPr lang="zh-CN" altLang="en-US" sz="2400" dirty="0"/>
              <a:t>使用</a:t>
            </a:r>
            <a:r>
              <a:rPr lang="en-US" altLang="zh-CN" sz="2400" dirty="0" err="1"/>
              <a:t>sklearn</a:t>
            </a:r>
            <a:r>
              <a:rPr lang="zh-CN" altLang="en-US" sz="2400" dirty="0"/>
              <a:t>生成随机分布的</a:t>
            </a:r>
            <a:r>
              <a:rPr lang="en-US" altLang="zh-CN" sz="2400" dirty="0"/>
              <a:t>400</a:t>
            </a:r>
            <a:r>
              <a:rPr lang="zh-CN" altLang="en-US" sz="2400" dirty="0"/>
              <a:t>个样本点； </a:t>
            </a:r>
            <a:endParaRPr lang="zh-CN" altLang="en-US" sz="2400" dirty="0"/>
          </a:p>
          <a:p>
            <a:pPr marL="0" indent="0">
              <a:buNone/>
            </a:pPr>
            <a:r>
              <a:rPr lang="en-US" altLang="zh-CN" sz="2400" dirty="0" smtClean="0"/>
              <a:t>     (</a:t>
            </a:r>
            <a:r>
              <a:rPr lang="en-US" altLang="zh-CN" sz="2400" dirty="0"/>
              <a:t>2)</a:t>
            </a:r>
            <a:r>
              <a:rPr lang="zh-CN" altLang="en-US" sz="2400" dirty="0"/>
              <a:t>对样本点进行显示；</a:t>
            </a:r>
            <a:endParaRPr lang="zh-CN" altLang="en-US" sz="2400" dirty="0"/>
          </a:p>
          <a:p>
            <a:pPr marL="0" indent="0">
              <a:buNone/>
            </a:pPr>
            <a:r>
              <a:rPr lang="en-US" altLang="zh-CN" sz="2400" dirty="0" smtClean="0"/>
              <a:t>     (</a:t>
            </a:r>
            <a:r>
              <a:rPr lang="en-US" altLang="zh-CN" sz="2400" dirty="0"/>
              <a:t>3)</a:t>
            </a:r>
            <a:r>
              <a:rPr lang="zh-CN" altLang="en-US" sz="2400" dirty="0"/>
              <a:t>使用线性</a:t>
            </a:r>
            <a:r>
              <a:rPr lang="en-US" altLang="zh-CN" sz="2400" dirty="0"/>
              <a:t>SVM</a:t>
            </a:r>
            <a:r>
              <a:rPr lang="zh-CN" altLang="en-US" sz="2400" dirty="0"/>
              <a:t>进行二分类；</a:t>
            </a:r>
            <a:endParaRPr lang="zh-CN" altLang="en-US" sz="2400" dirty="0"/>
          </a:p>
          <a:p>
            <a:pPr marL="0" indent="0">
              <a:buNone/>
            </a:pPr>
            <a:r>
              <a:rPr lang="en-US" altLang="zh-CN" sz="2400" dirty="0" smtClean="0"/>
              <a:t>     (</a:t>
            </a:r>
            <a:r>
              <a:rPr lang="en-US" altLang="zh-CN" sz="2400" dirty="0"/>
              <a:t>4)</a:t>
            </a:r>
            <a:r>
              <a:rPr lang="zh-CN" altLang="en-US" sz="2400" dirty="0"/>
              <a:t>评价模型并画出分类</a:t>
            </a:r>
            <a:r>
              <a:rPr lang="zh-CN" altLang="en-US" sz="2400" dirty="0" smtClean="0"/>
              <a:t>边界</a:t>
            </a:r>
            <a:endParaRPr lang="en-US" altLang="zh-CN" sz="2400" dirty="0" smtClean="0"/>
          </a:p>
          <a:p>
            <a:pPr marL="0" indent="0">
              <a:buNone/>
            </a:pPr>
            <a:endParaRPr lang="zh-CN" altLang="en-US" sz="1200" dirty="0"/>
          </a:p>
          <a:p>
            <a:r>
              <a:rPr lang="en-US" altLang="zh-CN" sz="2400" dirty="0"/>
              <a:t>2.</a:t>
            </a:r>
            <a:r>
              <a:rPr lang="zh-CN" altLang="en-US" sz="2400" dirty="0"/>
              <a:t>使用</a:t>
            </a:r>
            <a:r>
              <a:rPr lang="en-US" altLang="zh-CN" sz="2400" dirty="0" err="1"/>
              <a:t>sklearn</a:t>
            </a:r>
            <a:r>
              <a:rPr lang="zh-CN" altLang="en-US" sz="2400" dirty="0"/>
              <a:t>中</a:t>
            </a:r>
            <a:r>
              <a:rPr lang="en-US" altLang="zh-CN" sz="2400" dirty="0"/>
              <a:t>SVM</a:t>
            </a:r>
            <a:r>
              <a:rPr lang="zh-CN" altLang="en-US" sz="2400" dirty="0"/>
              <a:t>算法对葡萄酒数据集进行分类，要求：</a:t>
            </a:r>
            <a:endParaRPr lang="zh-CN" altLang="en-US" sz="2400" dirty="0"/>
          </a:p>
          <a:p>
            <a:pPr marL="0" indent="0">
              <a:buNone/>
            </a:pPr>
            <a:r>
              <a:rPr lang="en-US" altLang="zh-CN" sz="2400" dirty="0" smtClean="0"/>
              <a:t>    (</a:t>
            </a:r>
            <a:r>
              <a:rPr lang="en-US" altLang="zh-CN" sz="2400" dirty="0"/>
              <a:t>1)</a:t>
            </a:r>
            <a:r>
              <a:rPr lang="zh-CN" altLang="en-US" sz="2400" dirty="0"/>
              <a:t>对数据集进行分割，</a:t>
            </a:r>
            <a:r>
              <a:rPr lang="en-US" altLang="zh-CN" sz="2400" dirty="0"/>
              <a:t>20%</a:t>
            </a:r>
            <a:r>
              <a:rPr lang="zh-CN" altLang="en-US" sz="2400" dirty="0"/>
              <a:t>用于测试； </a:t>
            </a:r>
            <a:endParaRPr lang="zh-CN" altLang="en-US" sz="2400" dirty="0"/>
          </a:p>
          <a:p>
            <a:pPr marL="0" indent="0">
              <a:buNone/>
            </a:pPr>
            <a:r>
              <a:rPr lang="en-US" altLang="zh-CN" sz="2400" dirty="0" smtClean="0"/>
              <a:t>    (</a:t>
            </a:r>
            <a:r>
              <a:rPr lang="en-US" altLang="zh-CN" sz="2400" dirty="0"/>
              <a:t>2)</a:t>
            </a:r>
            <a:r>
              <a:rPr lang="zh-CN" altLang="en-US" sz="2400" dirty="0"/>
              <a:t>对核函数进行选择（</a:t>
            </a:r>
            <a:r>
              <a:rPr lang="en-US" altLang="zh-CN" sz="2400" dirty="0"/>
              <a:t>linear</a:t>
            </a:r>
            <a:r>
              <a:rPr lang="zh-CN" altLang="en-US" sz="2400" dirty="0"/>
              <a:t>、</a:t>
            </a:r>
            <a:r>
              <a:rPr lang="en-US" altLang="zh-CN" sz="2400" dirty="0"/>
              <a:t>poly</a:t>
            </a:r>
            <a:r>
              <a:rPr lang="zh-CN" altLang="en-US" sz="2400" dirty="0"/>
              <a:t>、</a:t>
            </a:r>
            <a:r>
              <a:rPr lang="en-US" altLang="zh-CN" sz="2400" dirty="0" err="1"/>
              <a:t>rbf</a:t>
            </a:r>
            <a:r>
              <a:rPr lang="zh-CN" altLang="en-US" sz="2400" dirty="0"/>
              <a:t>、</a:t>
            </a:r>
            <a:r>
              <a:rPr lang="en-US" altLang="zh-CN" sz="2400" dirty="0" err="1"/>
              <a:t>sigmod</a:t>
            </a:r>
            <a:r>
              <a:rPr lang="zh-CN" altLang="en-US" sz="2400" dirty="0"/>
              <a:t>），比较不同核函数的分类精度</a:t>
            </a:r>
            <a:r>
              <a:rPr lang="zh-CN" altLang="en-US" sz="2400" dirty="0" smtClean="0"/>
              <a:t>。</a:t>
            </a:r>
            <a:endParaRPr lang="zh-CN" altLang="en-US"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4369" y="311438"/>
            <a:ext cx="10272890" cy="980728"/>
          </a:xfrm>
        </p:spPr>
        <p:txBody>
          <a:bodyPr/>
          <a:lstStyle/>
          <a:p>
            <a:r>
              <a:rPr lang="zh-CN" altLang="en-US" dirty="0" smtClean="0"/>
              <a:t>上机练习</a:t>
            </a:r>
            <a:endParaRPr lang="zh-CN" altLang="en-US" dirty="0"/>
          </a:p>
        </p:txBody>
      </p:sp>
      <p:sp>
        <p:nvSpPr>
          <p:cNvPr id="3" name="内容占位符 2"/>
          <p:cNvSpPr>
            <a:spLocks noGrp="1"/>
          </p:cNvSpPr>
          <p:nvPr>
            <p:ph idx="1"/>
          </p:nvPr>
        </p:nvSpPr>
        <p:spPr>
          <a:xfrm>
            <a:off x="971351" y="1292166"/>
            <a:ext cx="10272890" cy="5279506"/>
          </a:xfrm>
        </p:spPr>
        <p:txBody>
          <a:bodyPr/>
          <a:lstStyle/>
          <a:p>
            <a:r>
              <a:rPr lang="en-US" altLang="zh-CN" sz="2400" dirty="0" smtClean="0"/>
              <a:t>3.</a:t>
            </a:r>
            <a:r>
              <a:rPr lang="zh-CN" altLang="en-US" sz="2400" dirty="0" smtClean="0"/>
              <a:t>分别</a:t>
            </a:r>
            <a:r>
              <a:rPr lang="zh-CN" altLang="en-US" sz="2400" dirty="0"/>
              <a:t>使用</a:t>
            </a:r>
            <a:r>
              <a:rPr lang="en-US" altLang="zh-CN" sz="2400" dirty="0"/>
              <a:t>KNN</a:t>
            </a:r>
            <a:r>
              <a:rPr lang="zh-CN" altLang="en-US" sz="2400" dirty="0"/>
              <a:t>、决策树、朴素贝叶斯和</a:t>
            </a:r>
            <a:r>
              <a:rPr lang="en-US" altLang="zh-CN" sz="2400" dirty="0"/>
              <a:t>SVM</a:t>
            </a:r>
            <a:r>
              <a:rPr lang="zh-CN" altLang="en-US" sz="2400" dirty="0"/>
              <a:t>分类方法对鸢尾花数据集进行分类，要求：</a:t>
            </a:r>
            <a:endParaRPr lang="zh-CN" altLang="en-US" sz="2400" dirty="0"/>
          </a:p>
          <a:p>
            <a:pPr marL="0" indent="0">
              <a:buNone/>
            </a:pPr>
            <a:r>
              <a:rPr lang="zh-CN" altLang="en-US" sz="2400" dirty="0"/>
              <a:t>（</a:t>
            </a:r>
            <a:r>
              <a:rPr lang="en-US" altLang="zh-CN" sz="2400" dirty="0"/>
              <a:t>1</a:t>
            </a:r>
            <a:r>
              <a:rPr lang="zh-CN" altLang="en-US" sz="2400" dirty="0"/>
              <a:t>）	测试各分类方法的准确率；</a:t>
            </a:r>
            <a:endParaRPr lang="zh-CN" altLang="en-US" sz="2400" dirty="0"/>
          </a:p>
          <a:p>
            <a:pPr marL="0" indent="0">
              <a:buNone/>
            </a:pPr>
            <a:r>
              <a:rPr lang="zh-CN" altLang="en-US" sz="2400" dirty="0"/>
              <a:t>（</a:t>
            </a:r>
            <a:r>
              <a:rPr lang="en-US" altLang="zh-CN" sz="2400" dirty="0"/>
              <a:t>2</a:t>
            </a:r>
            <a:r>
              <a:rPr lang="zh-CN" altLang="en-US" sz="2400" dirty="0"/>
              <a:t>）	选取测试点并测试其分类效果；</a:t>
            </a:r>
            <a:endParaRPr lang="zh-CN" altLang="en-US" sz="2400" dirty="0"/>
          </a:p>
          <a:p>
            <a:pPr marL="0" indent="0">
              <a:buNone/>
            </a:pPr>
            <a:r>
              <a:rPr lang="zh-CN" altLang="en-US" sz="2400" dirty="0"/>
              <a:t>（</a:t>
            </a:r>
            <a:r>
              <a:rPr lang="en-US" altLang="zh-CN" sz="2400" dirty="0"/>
              <a:t>3</a:t>
            </a:r>
            <a:r>
              <a:rPr lang="zh-CN" altLang="en-US" sz="2400" dirty="0"/>
              <a:t>）	绘制不同分类方法的分类图，对比分析各方法的分类效果</a:t>
            </a:r>
            <a:r>
              <a:rPr lang="zh-CN" altLang="en-US" sz="2400" dirty="0" smtClean="0"/>
              <a:t>。</a:t>
            </a:r>
            <a:endParaRPr lang="en-US" altLang="zh-CN" sz="2400" dirty="0" smtClean="0"/>
          </a:p>
          <a:p>
            <a:pPr marL="0" indent="0">
              <a:buNone/>
            </a:pPr>
            <a:endParaRPr lang="zh-CN" altLang="en-US" sz="2400" dirty="0"/>
          </a:p>
          <a:p>
            <a:r>
              <a:rPr lang="en-US" altLang="zh-CN" sz="2400" dirty="0"/>
              <a:t>4.</a:t>
            </a:r>
            <a:r>
              <a:rPr lang="zh-CN" altLang="en-US" sz="2400" dirty="0"/>
              <a:t>分别利用</a:t>
            </a:r>
            <a:r>
              <a:rPr lang="en-US" altLang="zh-CN" sz="2400" dirty="0" err="1"/>
              <a:t>make_blobs</a:t>
            </a:r>
            <a:r>
              <a:rPr lang="zh-CN" altLang="en-US" sz="2400" dirty="0"/>
              <a:t>、 </a:t>
            </a:r>
            <a:r>
              <a:rPr lang="en-US" altLang="zh-CN" sz="2400" dirty="0" err="1"/>
              <a:t>make_circles</a:t>
            </a:r>
            <a:r>
              <a:rPr lang="zh-CN" altLang="en-US" sz="2400" dirty="0"/>
              <a:t>、 </a:t>
            </a:r>
            <a:r>
              <a:rPr lang="en-US" altLang="zh-CN" sz="2400" dirty="0" err="1"/>
              <a:t>make_moons</a:t>
            </a:r>
            <a:r>
              <a:rPr lang="zh-CN" altLang="en-US" sz="2400" dirty="0"/>
              <a:t>等函数创建可以分离的样本数据集，然后使用</a:t>
            </a:r>
            <a:r>
              <a:rPr lang="en-US" altLang="zh-CN" sz="2400" dirty="0" err="1"/>
              <a:t>sklearn</a:t>
            </a:r>
            <a:r>
              <a:rPr lang="zh-CN" altLang="en-US" sz="2400" dirty="0"/>
              <a:t>所提供的支持向量机（</a:t>
            </a:r>
            <a:r>
              <a:rPr lang="en-US" altLang="zh-CN" sz="2400" dirty="0"/>
              <a:t>SVC</a:t>
            </a:r>
            <a:r>
              <a:rPr lang="zh-CN" altLang="en-US" sz="2400" dirty="0"/>
              <a:t>）方法对其进行分类，观察不同的核函数和惩罚因子的分类效果并绘图。</a:t>
            </a:r>
            <a:endParaRPr lang="zh-CN" altLang="en-US" sz="2400" dirty="0"/>
          </a:p>
        </p:txBody>
      </p:sp>
    </p:spTree>
  </p:cSld>
  <p:clrMapOvr>
    <a:masterClrMapping/>
  </p:clrMapOvr>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PA" val="v4.1.3"/>
</p:tagLst>
</file>

<file path=ppt/tags/tag3.xml><?xml version="1.0" encoding="utf-8"?>
<p:tagLst xmlns:p="http://schemas.openxmlformats.org/presentationml/2006/main">
  <p:tag name="PA" val="v4.1.3"/>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PA" val="v4.1.3"/>
</p:tagLst>
</file>

<file path=ppt/tags/tag6.xml><?xml version="1.0" encoding="utf-8"?>
<p:tagLst xmlns:p="http://schemas.openxmlformats.org/presentationml/2006/main">
  <p:tag name="PA" val="v4.1.3"/>
</p:tagLst>
</file>

<file path=ppt/tags/tag7.xml><?xml version="1.0" encoding="utf-8"?>
<p:tagLst xmlns:p="http://schemas.openxmlformats.org/presentationml/2006/main">
  <p:tag name="PA" val="v4.1.3"/>
</p:tagLst>
</file>

<file path=ppt/tags/tag8.xml><?xml version="1.0" encoding="utf-8"?>
<p:tagLst xmlns:p="http://schemas.openxmlformats.org/presentationml/2006/main">
  <p:tag name="PA" val="v4.1.3"/>
</p:tagLst>
</file>

<file path=ppt/tags/tag9.xml><?xml version="1.0" encoding="utf-8"?>
<p:tagLst xmlns:p="http://schemas.openxmlformats.org/presentationml/2006/main">
  <p:tag name="PA" val="v4.1.3"/>
</p:tagLst>
</file>

<file path=ppt/tags/tag10.xml><?xml version="1.0" encoding="utf-8"?>
<p:tagLst xmlns:p="http://schemas.openxmlformats.org/presentationml/2006/main">
  <p:tag name="ISLIDE.ADDREMOVEWATERMARK" val="TSZ3HzpXfZ"/>
</p:tagLst>
</file>

<file path=ppt/tags/tag11.xml><?xml version="1.0" encoding="utf-8"?>
<p:tagLst xmlns:p="http://schemas.openxmlformats.org/presentationml/2006/main">
  <p:tag name="ISLIDE.ADDREMOVEWATERMARK" val="TSZ3HzpXfZ"/>
</p:tagLst>
</file>

<file path=ppt/tags/tag12.xml><?xml version="1.0" encoding="utf-8"?>
<p:tagLst xmlns:p="http://schemas.openxmlformats.org/presentationml/2006/main">
  <p:tag name="ISLIDE.ADDREMOVEWATERMARK" val="TSZ3HzpXfZ"/>
</p:tagLst>
</file>

<file path=ppt/tags/tag13.xml><?xml version="1.0" encoding="utf-8"?>
<p:tagLst xmlns:p="http://schemas.openxmlformats.org/presentationml/2006/main">
  <p:tag name="ISLIDE.ADDREMOVEWATERMARK" val="TSZ3HzpXfZ"/>
</p:tagLst>
</file>

<file path=ppt/tags/tag14.xml><?xml version="1.0" encoding="utf-8"?>
<p:tagLst xmlns:p="http://schemas.openxmlformats.org/presentationml/2006/main">
  <p:tag name="ISLIDE.ADDREMOVEWATERMARK" val="TSZ3HzpXfZ"/>
</p:tagLst>
</file>

<file path=ppt/tags/tag15.xml><?xml version="1.0" encoding="utf-8"?>
<p:tagLst xmlns:p="http://schemas.openxmlformats.org/presentationml/2006/main">
  <p:tag name="ISPRING_ULTRA_SCORM_COURSE_ID" val="00928F36-A265-4885-87F4-A9952308858E"/>
  <p:tag name="ISPRING_SCORM_RATE_SLIDES" val="1"/>
  <p:tag name="ISPRINGONLINEFOLDERID" val="0"/>
  <p:tag name="ISPRINGONLINEFOLDERPATH" val="內容清單"/>
  <p:tag name="ISPRINGCLOUDFOLDERID" val="0"/>
  <p:tag name="ISPRINGCLOUDFOLDERPATH" val="函式庫"/>
  <p:tag name="ISPRING_PRESENTER_PHOTO_0" val="png|iVBORw0KGgoAAAANSUhEUgAAAQwAAAAyCAYAAACpi+X6AAAABHNCSVQICAgIfAhkiAAAAAlwSFlz&#10;AABHGAAARxgBc4LeuQAAACV0RVh0U29mdHdhcmUATWFjcm9tZWRpYSBGaXJld29ya3MgTVggMjAw&#10;NId2rM8AAAAWdEVYdENyZWF0aW9uIFRpbWUAMDcvMzAvMTcbpQfcAAADMXByVld4nO2UQVbbQAyG&#10;Z6KpBFI8PQJH6CIH4DZZ9wblGrlMH+s+DsENypJFH+6vsSdAsQmvfZSNvsSOHXlG0i/JPx6+/0xf&#10;05fRucFnvMH5MB5uxgPO+/GwG/eHcb8f97hI42437hLIOGT+PZt/z+dfxTE+5x5/0biO2/Mr9rv0&#10;cs+n3Lr92wn7xbr9+oT9yu1ywv5Kgim9HuBkXw3gYbKvBvBrsq8q1O2XK/b72f55xX4329dK1O1r&#10;Gd52+8Wy/brbVyQ82lcyvDraLxftR/OKhOm/88z9/enn39X/7Qf7v/pY/w//3336YPmDIAiCIPgH&#10;8rvsSo/4raXEQgxvKv3TDGyUaFogKRNZX4CzSjNoWyvs/yv5zkWUTvhXA9VPlki0CrMk47QphViM&#10;uJQNHpPB1KTCkbKwiG5VJOEJNZbK3CJOYoOYecAIy0xVeFG1P4IS7VoUK1QUv00A30t8t2KeR1ZP&#10;Vs5UE7N5nki28FYLQkqM+FwbXCaywfqmS+6Rat6I9TB4vvJs8DWIXnAzBYbLxAXblllmaEyFkXNp&#10;K8RdIUg6GwpbKxieqp6/3yz6r7UOOOocQBmsRZAJKRTUMZM/5KVRG8oUsqEoTSxoXFACr1PrHk+b&#10;spcI19DDfRIqhTS8TVb8T+SuvwzSnGBbqGPwWRDGuWvA7tOYq+vipVXo7j1AWIhiNL00byqKZXIu&#10;sLd2QSu60kvIULcQoAfH5iXGzVAUVZWmGnnyOKrLnNGaUF1dsYokB/i3NgfkDe+z4LqztQpgrWZP&#10;owW/BPLOfIzteCVsirafZPEW5pQ/UQu4Vbv1H/pSIEdp/qbhQaDZdUPxzJsXNSSMQ9Hl9F/I0fsf&#10;y5ENJrG0Jj52D5RsvvxScYP8ffCaTXWWEX2D+GsbjIR3iLQueAs9f1LI527ZGwBDtHVts88/sfVq&#10;FU/MdZe21NUWf0d4raHQNPIGITDMbxOAH8NsI5z8XWSIgdhboKT5pXIUAwvEx7cHxS4NiZd9rpL6&#10;vFJabYCT5KeDQ8/eYtS/qUnz9P/H5X/pNgiCIAiCIAiCIAiCIAiCIAiCIAiCIAiCIAiCIAiCIAiC&#10;IAiCxm9LnZaLwrCmnAAAAEhta0JG+t7K/gAAAAQAAAAAAAAAAAAAAAAAAAAAAAAAAAAAAAAAAAAA&#10;AAAAAAAAAAAAAAAAAAAAAAAAAAAAAAAAAAAAAAAAAAAAAAAAKaQzoQAAHPxta1RTeJztXU9s49h5&#10;ZzY7O2vP/91iW7QXB0Ub9LCz/C+qhwCWZdnekW2NKO94tkEHEiXOKOOxd22PNxOFWTRoDgXazqVZ&#10;JEWaW9uc0p4K5NKeeilQoClaoEDPvfRY9JDc+n3fe6TIJ5IiZVmSXY53/SQ+PvLx933v9/1579Hb&#10;Dypng1pzrT9QvObDnf5A0xVD1dy2t19fcwey95gVj7aq7kA1LW9zq+UODNlrrtvuQLHU+5Yly7Lh&#10;Ne09vEZlAy7l0j+vUa+fDSoN+LW22joZSEtSR3KkJ1JD6kmH8KkvHXhbO9tQsww1h1CjSO9DbV/6&#10;Jpxx4DWrux24dWUVuoWFDb3rWV6lukV32t6GO0EBh9texV6nk+wa1dmbVFTqdLDygIq1HX6B9Rp9&#10;b7bopFqFvtWaVOywg3ajPyibXqXFKlvs6i2b3WSbXY8VW6vYyx3slexVd5X+wIJCxctUdzUqanBQ&#10;hUJlhYaFlwmZX41DRlqRVuHoKXx/Hz4dQNmWTqCmO0vMlHNiplwUZjc4ZhvSMeDyifQM6k6lXio2&#10;OsOml4KNHIuN40SwkVOwcSyGjabmRkfRGTxtBk+bwWMxeCwGj+XZjY/hLh3PtnnZ2AXUjDYc4B+y&#10;AXiPA7gmHYFyHQGMoFqgdOEzw2DChQlN1UhDs50BTUHT0tAUNK093dFJEJpmDIR2o8JqbFaGIX2b&#10;Q1qh8diXHA7oHQ6oDWC6oIsrUhM+vYRj3bGjNhZLxdWnO241Z8Jx2847bpMwuskx2oTjx6Rudag9&#10;vKhxm8MO5MBGvhhs7oxgc079mbKlnD9CN0dG2MTaI46tPPoz57HlU3qV0HlGuhHVoFBNBMU0lNQF&#10;ZSBl6ijdjUWpSmOtA6YwXZsWFSd16jjdjsWJs1N+jObO12maZDCEDIaQca7xtgllWzqTXl1Ki69E&#10;fVGDwWQwmNoMpjaDKd7TzDrgWqBGfXDcL+uA06Y+4JYCnI7AuJ3O0GlMdcEdfULLJjNoZAaNzKCR&#10;GTQyg0aOQHOTQ7MKinEM1r0Cv18iSBygtzlA2SwaijSEj6kzgKh+LECWngIQxXYhiLrn9IxUhpDK&#10;ENIZQjpDSGcBH4o1EvHhY1C4AgfyYOjHzS1Qr2+Ckr1kgV86krFjMB1IpcyhVDtpwbMIZa7weWIw&#10;1XI2MG9zMNdA4Q4oBfM0SDe8EkYtKuUL+HwkHaUnaPiwVbTMzroi6/nHrSEzJIkQEEk3LXqOjlzV&#10;yoylZvE4WlO6ubFLH9ClLoPOchhyvSm5FXKaW6FOSHbZIJsUoIcwTvt4VgQg3WAAKR1Bt/zsn8ww&#10;ctIGKqrFeN0iQgzhZHKjQEp1AUCN6lYwUCcdoE2o7dAAPUxVM6U8XT2bbrh4MXr2FsfoEdiC01h0&#10;SoKKCV5HWjSNTSP4qHPHh/J7lEStjJD+jQCvZxTrOKAx7SBt6mvTGtlNpPx0P1/AS1GdWMQEwi85&#10;+VVK57nSNsdM6+qZbefkg7LiZ065qcmPZIPI/3T8bJCApKtnsJyubznRn8gIZMBtHEjySaaPI8Jn&#10;+94IkhtzS/wPiCzzS/wPzdwQX48mzPLASzZjbDxB6pwb3x73TLAxAkxZ/qkC3ARc1V6PYSYajXTM&#10;JnGQ40mRZkqSoXPU/GM8cI8NlUHHMMyGndLLTI2B4qlubPC6RhbkFdnSSWKzaGhGIcKEGessA1m1&#10;uJdCQUlGtDQ1Di2ToWUytEw2lBkB4oeOKwxltDHNzRw4Xg+8lbb0fExqxGIolhmK5KKFUJTPi6LO&#10;UGQqFgsjzgkijmoKjgZPA4BbxVIkZY4kVzyTa56pJ4EZzMz5YLrxmadkpWzR9LAjPc8zijNpZTbv&#10;OV4taTCjoe5Mnf/IwNAY9oFshi0Nsz3J6ukzZI0WIuBESwtzdTGJ4WNQ0hVpm3/qScdZFDYPwIrR&#10;y5KSiXeFpuQ9miNT8BU/I5PsPqZjt0lu+DPujj8j9+c4dr6d7ASppxwZ7sy6jAz32MiEjHjWvEH7&#10;QrHLDpWfXa8HECUrmhilOLEJKzUlSBl6MhO43BemZ2H2G/rbOJ7J37Z6OfC8HiHDw+nOJ2dM98nT&#10;WUeUY5gGYIkrY97iYO3GLFGr0NwEBiXjZifak068I+ePg0kTDLBvMPyAhBR6xPwqGZw+PEozFBws&#10;1WIWguzBKpk1Uj5cAoP2QceSgq6xGN4LYYh+NS5ksGmep81nNdJtRDs2DMkAKfr7KQksp81AVTmo&#10;jipEIV3uSbOIZ4wdBtVlsFocV4sB6/DlWg4H1rFErwY/NP0PowuPmsEH3w1vNLnlbjb9QNAeDWri&#10;RHEjCP9mAL/WzQS/EMgE6KdmpxM8Sp17lDrDXnMY9lRqVBLSDMVYpMmII8Ck6E2m+FnhXQ7gPSXP&#10;ExfqnGTxf/zUvz8lpbR7552S4oxhCIwRZVbkWwRXSQHX1POB6wOnuIEnSQCq45ni3fhIm09aZePf&#10;0oT8m8lM8QDIbQszKRxOvROhXz2Ofn04RZ4w+DyowSdCoYxOTTFfvckAtZucmvl3BFpxYyn5Fgf6&#10;EY33Hk9v0AJPISjKtk5BmPsLvM5s88yYpsjpDASMQIRyrtRG7NLZIO82DNbJk/c/NHdDSi0zrIUV&#10;oNkxzhZ4qlZs+ojCoyki7Medmp87MrIDHO9xaXFxJy2bTVpYmw/GPC6ry7nVjXKr284AYhZn7Lzh&#10;UbyKqnEIMp817CMEAbs4y+rnPprc/hxJLwTjj+u7DyUXJ3ZwM0EchoqhMwzNKIbtHBCasXoox0HI&#10;0keTrJfwtTC6Ql7lakilRiUbvSYfvtlBuy6Fl+CkG3MtbtAKU61yLFZydttDfDuKVUcfn3gLLLmQ&#10;eEOCJbzYB419YNYHAkpmffBDw8fQ9h2jps+RLCTIhqk/t1hDAx+HaEePuJ6+9uXxPVM3aBCGcQnN&#10;eO+IY6rFYepY8ea8zGPPMk8Ml00WR5HR9vNslaER9/NuQu4oGcShr/kpwNgmTyldPY1JZ7FzWBTm&#10;EYUi0xwzOeA9xaonHq/x4zV2PICSrHWJG+sS01AfUlLQTeY45RvsjwnPdOsStdCZ5h4z6WZ0tHdi&#10;l9oJfmasdUly25Oy7NFZXK6K5E8mrCfbA6gOyVC/pGDHd+KvcRA1qTrBFFkpy1q8LAk5LeriRAEE&#10;VYlx1LMFlaoVkynZZDY6D07LQ5wgwNkgN+ezdMRiDUy25Ys+ZMp4nXNiDYzSiyNDZaaQ3Qw8mGe0&#10;0AKTmr2R5TsibOakGTkle448iFU0M//Eou8Ijtvmt+m7zpujrvM46O4FNveAVo7lTcLF58/Pr3q0&#10;JiWUhWvHetO+8mXJU4iWOFb5fI+mGaTSRh2YrAN4F46f0rzNuI1H0xjARvb0hIBhebzR8Ke4BXd6&#10;SsPX10Fc39OnncwXroMjs7FarBKWrWgq2I21GvHZdWGRgBNPgXH+oLhvd5gE5l5MOMvD1BUesGQw&#10;s2zm09ZbQeR8RKHMMwCeL7NK19npbbdIs9NW7DJbzIOEEFfz5CeTtJb5N/ZoEDgOwdshBL9JSZwV&#10;ylTkxpCWRuVYMB/gqI8PpSd+ewHGyhmMECUhnFLMohaaAqcD/gc/OdngziQ+IpuuCHmXYl59nBTe&#10;41L4iPLBDm3SO6FXIyAD4071lSHB5KcTthwzq2LHsklUsQVvilJto1ySywPVeI5I49uJoCQu4eIJ&#10;27cGF04kmUnSCiWSrWgeGf19r1avng1q4R24LonFpoRcP7RFySVx7NALA16QoPYSa7g4agyQGuOG&#10;GsOhtk5aXGtW6ZRmk9VtsmIfC68WjuJYh/iGX4zYhC6Fa/YSaybrksq6BMVG0KN70B8neAFFl2vj&#10;aeh9CicBFzt8RhRNnyM9Bx7xX1dR2/gIgN9ZYxffgs8bDXwVS429YkWmf16oSvGr+PtXsO4x1snn&#10;v44y4SX8KvxXCy9HcPm6rD7ldl/S84tya3L0RlUpXDOZ3DQmN62QWx653eZyawIyDjwt5k2eCtK7&#10;Hcgo7py9DOdMJtE2k2i7kGgeiS4HIxHnAtCXCcc1bmiewK/bS6mbTHI6k5xeSG6SscgkcEr+z7GP&#10;lzAW48/Zy3DOudhVUQqR5hHp0Ldq09u9houVXZ7i94/vJRyfTFwGE5dRSGsSaTXIiXRCe9Fdnt3w&#10;j+8lHJ9MWiUmrVIhrUmkVSNEugEevlSGx/cSjk8mLYtJyyqklUdat7i01vm+1E+I38LOyS0un7gz&#10;9saeMZksy0yW5UKWeWR5ncuyQpOpJ8EUqxvsCjsORp14dDI5OUxOTiGnPHJaCoI7HCvs9TtiQD6s&#10;EQPyYc1kMusymXULmU1i1R7Res3eiFUbHt9LOD6ZtHpMWr1CWpME243hPFfg4y8H3mG4bi+lbjLJ&#10;uUxybqRjNwM16kkdqUqieEbTcP58u682Yv3emPrJOqnwTC+WVSWEaK2qRr5pkW965FsLr+p5G5TA&#10;LtQ0XU0nAuhuCKCXcFaTFuk/puUYbBXLECYttm9lWe6o4b7J943hA6Y9u0MdFzC8qJvMC+B7AsAh&#10;aP1jSRDfH3aiI6vtdtLzd12ojlaWxZapME/5RvOC+jaHGms69D6cU9puIoJsxvdLs3Ashh9OtYa1&#10;arlditbqxrC2Y4ptzbSmpZSmitgjUXSXr/vzUoilkEKga4vWbKgGelxvyiXdVIQBoAUDoNO1HCNa&#10;aQW1pqP2FDP2QXput+N0R0U5ny7M29as03I/WghAa9c2aMEztBo3RlVZc6J9Cyu50imXlE6Skis9&#10;3dWNBCU32z1HVpKUfPTCitijTGN0obs/L6VY5koRelEU1I1RBHhk0zSTkLRkSxb5bIikaTKnKxZJ&#10;bFhyk5BkN07wNErwX0ZFWOjuz1sRmAc6arVj+5Pi+/k+oyiRc1xnXtDciUAT0OU4/zH54UJOnSzj&#10;/4ndjnNALuom83YTbHoL55ngJsSO4LJWBr1IGsG6ij9JI7hjdLSOkjCCTXOUGoYjuNvDn1gQkDWs&#10;rJZoobs/LzW4EajBJ3xNC75c+cV4WzSq+Gq4coTLhx1W2yl+tzhkwNELM3liyMtRyGaIFrXv86Za&#10;XJJ6RFtSTqVd/gKIp+PtkVqW20Y5ycTGuornuM68QPKzakEubZhfG2+wRfdltFfZDHaW60wj+bte&#10;q54N1muhec0ewbRFi5oxjqnA7zN6w6k/L9YL9ue0pVNvvWGfDapr6/jrAdR/FeKf51IH6vukYQjk&#10;MQdyF1oeSK8k9uKMF0BFRySOYzi2Lrm01RupaQ/O32Ebp7zq2kdw1S8//F7vR3/0r54XutOdSJst&#10;cLDZUus+/1sorOWbnOp6kbY3Im236XU/W1KVt/ktaSCVqNaUFPiRJVV6Hz47cAQ/4bEu/c07C46V&#10;oEamH4POLMFvBWrwmxe569IQTUDgFVIxv+OXJDly5nLozEe0C+pUesbPfQN7FDn7Vuhsf5nUMQs5&#10;gjYlyRDarMNVYdTTKwpoUy6UtJYgoU+36K/6PSWp+n/H6JDanQQttEiLm/TWsxPQh6TzxTsM35hW&#10;5a9RadNalEAPSBoiVsNWQQ9D52vCky9Bbw4oadIbI4U7oTO3afnnKf/DH33yo/xWitCKbbSKjJ4h&#10;0fBW16XfBPxdrjnR+96mXfyfcScYx1t3pP0StJdDP5rkClhu0qhLv4Ib+hGvcIOucMDHblz/Q62F&#10;ljZtfOzSU8S1DPV8ZEyzP0UAWgIc0qYxN+7ZRzXCJl3+DCTRkb7BRjlvew16i7mZkxFGqJDUTmn8&#10;2KR5p4macc/fB8vPPE7UWLHlUtBSHNd0JlLyBGzcpDVbTws2Ltj4CrGxUbBxwcaXiI2XAjZ+SXJA&#10;zS8YuWDkq8PIZsHIBSNfQka2ATX+OoGCkQtGvkKMLHJrwcgFIy8yI78zysj8fJqblNgfjy04uuDo&#10;q8PRasHRBUdfIo5e5hz9MY2Aj+HeT0GHC04uOPnqcLJecHLByZeIk/1MRoiTC0YuGPkKMbJWMHLB&#10;yAvHyDH6NN+VcI/fu+JsrBRsvABsXKyEK9j4MrLxjFfCFWxcsPEM2LhYCVew8WVi4zmuhCsYuWDk&#10;GTBysRKuYOTLyMhzWAlXMHLByDNg5GIlXMHIl4mRF2olXMHRBUfPgKOLlXAFR18mjp7rSriCkwtO&#10;ngEnFyvhCk6+TJw8x5VwBSMXjDwDRi5WwhWMvHiMXIXroxaGUA3eK8gYefiHKJ5EzpoNO7/R+f6T&#10;T2fIzW1gs7Kkw08XrmdNhZvTdVbUuLYQTy9HWo9b5Rw+l71sd8glusAE4XOTNKyU8iSjjKgBAkZu&#10;TfNX+XAmLzTrgjTLFOY3p6dZVm7NQk9DPbdu3ea6FWZ20bN8m2sX5mCBmWemX28+/OXD3ovDL/79&#10;CnuWmqAjyZ6lmCW8vH6l+Bzz9iuLNb2X0a9UhLF9VfzKPIzchPv26almxci/+JPPrjgji75jwcgF&#10;IxeM/P850r8TwXGFrsz+htVBKAa7GdqlvDKHOP/Nh9/b/esv9JlGZAZnXJe4Fhm5BD86nO9zswaf&#10;8O/yIRa+lljE5i7FccjQ54v1jRidu7yxfjZdW47oml83Qz2zf/5wa4Z6ppIOWaBbEPOSTllQqiD/&#10;yfUsi7U2Be0ab0nFWcOsNiiJQy+G4XRB626CdnaBoV/SdVdCPfT/TM4qPccR1NWD5ziZlcb9wX83&#10;f/Ld4y9MYUSewBVgxJJtesKf9Ql8fyp1Ej2JaJtn3GOJtvoyaJYxIvkuSfo0451uhc7PfpclqMcn&#10;fwG/xesrGZ++l+g5pj39sFX2p0++U9LTp99FfPrw9aNPfzfh6Z9K/l+VTPIXkhAQW8b173YMCuPu&#10;eCcWiSx3uxFBY/Q+orcbj0hHYn8uLr53Io7DHkbbxfXvVgwa6Xe7HYvF+DstR5AQ7xHF4TeAoStw&#10;lksMxJj3CXDNMbEWxgvYz9OAn9BCfSu42jWyJyv4O6eFQgujQ71LkahCnpACfdVHolSL7BZ6Lugx&#10;oa/Uhf8xcihLXk5efg+e9TiIurgtkj4Q7Zl0H39mxNZLOz/9/b+SPvi9Xz7/NyjZnaNjsBPT5yd0&#10;DdTFw8D+jo4lR3iuLK3mpREayBZl2iFPhHnEZZC4EvFZsB5HBWpEjzSiTLF1F0aBxfIWuTRiOfSn&#10;u1a4ZA9mZad/8KPvHu8/f7g+Q8+wS0jp5Pc55A+2KfNTFjxDRL4dyQ5RpE0zST3BM7yWGGXHeWjX&#10;AbFPKEJG/F6lZEiWQlkA1NpulClzyXkJjiBvn9H4meX4vub+z3f+IWZcLzN/hcbWkdSncXribTTg&#10;kTYarbPBfn0N/xDbY1Z4w2OqYbCj+MEbuSb++dNpXvPm0JZO9bo3fMs01asuBnv1AvbSLpS97kmb&#10;hOAHEO1g3ucl6SQ+HfL+TK3Yd4/PfiF98MNPW38ca8WWwXoxWY+3QOh1jj5NlpZ3Ke+X31LehBYH&#10;dK4TWIOoXsRn3xZD27qBtqkXqm1L4Vh2thyK0WyMVhUxbRHTFjFtEdMuYkyrBjGtcaEx7VvhvZ6z&#10;Wslm//PrgwXBXKV4RuHW7X2aWelKZgzmcmbMrwE2uI+2F6B8l+cI/D21Kzy7uwrP8wnOQMzKz3p9&#10;4HR2fjdy50WQA6KvwW/0Ldqk+w6UOq06DMvBoDmGlFUHY+SwTHiyOR5/JcDM8upP/6vzndc/+/zX&#10;FgJxl1ZwyIS7S+i68NkIzSXKhDjG69nZ5s1gXo/hPfw+I2b5xle+/U8Lgq8CdS5ZRT3IUPqx3aRs&#10;LuK75H+HPm4TSrNam3Tt9X/uSM97C4q3ekF435U2oN1Ligz7NCO4EkhglhHN9T//j97fIPYxUc2v&#10;kK8T7qPv8RyTT4y5uz7W82u9AxjcJyZI/jEXQsZRD0kOPCRtqjK+Tff28wbzke+11//S/AnKd+W3&#10;FwJ5A5CzyNKa8KwmWQuX+0k6jTOXcsFomx04u0w5A5PiDYvOaEti3vce5VWG+ZmhjraFtRtv4PUE&#10;HU9q242dref7BFPlflP6WMI3oLyYl8w//53e1xZI5mW+8wOlbAYZIZUYFXeFdEjmqBUmzQh0SN4u&#10;zRGolENC78wTosVvcYyj8hYzbG9AazHujmv5KZRt6SAyF/AGjv2xY7zJeRBbz0feb/W+9vU3j/9u&#10;gSTeJRuq0UopZkNVQskiieNcmkGjHFnUpXHeJf9RJ8Z1iWEdQeLvBBYHkc4r9XcTW2eV/HW+wuuY&#10;1rMeBmM9cnRe3tP379rvLYTkcd2WSv8bPA4u09gvjVhWf8VXFssaj714dEaRwcJg7ZBvgrEWrrNj&#10;kRdbTT8aeZXOifUdQOKQ1rizmpVgRd1MvdU/+wv7vT/84fFmjLe6GPGCPnm8EGGrlxG0n1C+8YR2&#10;Ik/D7067fhybGgKbvpfS/jRtP4SQVdmh+VaczfLZdJWs/sqwZraeU+9v93/8tPLJzwQ7epcwx/ns&#10;w6Bf2ZB6N7blS14Gs3yBFi7W/F6PtFSmtbgdyug4pL8a2XGHR0z426CdIv7qXvTXeuT1oX0fZRi2&#10;Uyq6NtrfC71JCBzNLIM82xXRs94VFV3XPP03oJgjbcbvi1KEFuP2RaE3lnc9tzg/VOyMYrNexc6o&#10;q7MzyhK0L/u+gXgG9t9EtUPsiRZ9VisQCxY+Lwvn35168Sw8+qaLgocLHr56PJx9/5a4a/Admj1+&#10;Bf3H9RRsz+Ar+Kzzp8ZdW+ucncM8gHlGhuAso6O0HixCtIL5RYXmCyy+Xt+lvYSdSD7EpLl/jeYS&#10;8Df7jmWZ5oTEaCWPjJaIEY+ZjZrtuteYO18FmXTp2HlkckeYhWsRovics5TPuF5cDVnhCihRVu/S&#10;CqG+xLLjNmDb55/QziIHh6X19nA1zUzlM3rfyyOREsihRDMtJZpxwd8mea4GZSRJIt62DSLxGqut&#10;s0Flrd4fuK5M/7wa++a6mobfGoHk3qasJns7HUqwG7CcOxIn7CXWNKu7nQFct1XpY7Feo8Le7g9U&#10;+NbqDxSv1qzSKc0mq9tkxT4WXmu/cjZgN/4ymOAdaRUe5cHZ4FED6k3Z2+Rly/4YrgVP0NqCJ2ht&#10;VfuDktvudBV8+NZ+7fwX8db3G2eD2nYL+7VWp8426vQEjVUCt77DjkGVBWVrBx+yUQcAFG+1UWeF&#10;TcXqGiuqVNhwlR6cWcX2G3W6w4eNh/2BgaXNvu6yooFYbdS2sPjQxnPaUK6zry283Id2hfCsN+hy&#10;dh2/1e09LKqsqNsE+c5j6k3dtvEpNlvb2GCz1SLtrJJ+4yj5jEpac+jt16g7+9vU11Zzu8NaYrFf&#10;XcViZ1s/G8AvgNSjwmWFwgpZKKCs4fmgGYZHBcDdWq3T9RuP6JTtHThle6cKHQN9rj8GuOurj0GV&#10;H2zgc+w12TMyCX+9AqNNQY3Hg9trBHx1ix51rY76vY7t1x5g9Xp9GyS9D8OiXmu5A/l+WTG91m7D&#10;Haiy19yCQ6pp3ldhpCiqV9mF77pVDKPzDKNKs0HjosV6vdvCXjd34CS1K5tWtwfw77sDw7yPwGoK&#10;fH3sDjRvt7lFw2uthoJs2HCOJvvnNGw4p+w11qNH19nRWvRojY7u10jdW6ur2I/WqtIfOPhV7Q90&#10;KHdBzy1vtbVOI7T1oEOd3cG0w5Ofvj764h9//HN4Bhv0wwK9IFXbalGxt0OC2LTXXGjzoLmD+8aa&#10;D7C4LxtepW7jgfp6FavrVerFh0gBAMoWndywK6xYxaJVAxPYauKtv/TVv5yoE+e5O9347Z0brz33&#10;fx//+rf//vM//cZXnn4Opqy1CqS3tb1xNtjfrdEWOVbQ5rj3tRLbHKfoHumHYpSYgqguUxArqh9W&#10;zwApsM9mGbWIfS6VVce/Gf37aAu08CM2nIELRBpQfBr4/OEPXn69wmhAYTQgp9PAyMW9jWb1bLCB&#10;6ghEimqIfIrKZEL5mJVs4Csy/kCLKghro0o326g+YAyB/8O3TbjFRvUjvNGuTQN5116l4fl/hJQC&#10;w2oX5bUAAAC3bWtCU3icXU7LCoMwEBT6I/0EY4nao8ZXMGmLRqqlFy0Eci7ksuy/N1HbQ+cyw+zM&#10;MrLNLVQdM0BwFExDiNNGd15oiGiMDVcaSBJhV/YaPPeDcYG8di29A8UkLIhsspC39eLOQyc8iYt8&#10;Q3B45sExICj71WTChVnpG6z1RimkBS5rC+O1Wkds9DfpNrqdYYiNF/MLVf8wkIaouHuleGEg0eco&#10;JbhrmizzV8/RKf5pmlLEQmUWcMcHGEtbktGSn+8AAAq1bWtCVPrOyv4Af1e6AAAAAAAAAAAAAAAA&#10;AAAAAAAAAAAAAAAAAAAAAAAAAAAAAAAAAAAAAAAAAAAAAAAAAAAAAAAAAAAAAAAAAAAAAAAAAAB4&#10;nO2djZHbOAxGU0gaSSEpJI2kkBSSRlJIbpCbd/PuC0jJWa8d23gzntXqh6QIEqIAkPr5cxiGYRiG&#10;YRiGYRiGYXhJvn///tvvx48f/x27J1WOe5fh2fnw4cNvv69fv/6q99q+Z/1XOaoMw/uBvM/i9vCW&#10;/rm7to7Vbyd/rkdXDXs+fvzY1tVK/u7/bH/69OnX32/fvv388uXLf/qi9he1r/IpKi/O5RjnkU79&#10;XK7az7Hab/mTdp1baVpf1bFhz0rOnf4vOvl//vz51zb1T/8tuZQMkDkyYj/nVP7IFJnX/mwX9GvO&#10;JT+3E9oC5Rv27ORfMvL4r+jkzzHkQn+1DJFztRX3WeTHNeA+vjqGPgDKYz0x7NnJ/6z+T/l37wzo&#10;eeRef6stINfatiz9zFjJ33oA6PuVnnXD0HNN+SPXklVd6z5IX/eYwHn4WZLHdroh24n1jOVfbcRp&#10;DP9SdeL+c7QfXc1YnG0fp19n+ylZWd4pD/pt5l3XeSyXsqxt2iB6hjHJ6pphGIZhGIZheEUYx9+T&#10;R7DXp//zby/vWfLd+h5c6mu6NvWueITL6O1qB8/mZ0id8Jb2vruW9/Od/M/Y8Y98hnme93W+xC69&#10;lfz/hv7zFlz+9LNhz8Omjk0m/Xfp28MX5GvpI53PkPokP85d+QNN52+kjFyP/ci+LNsv7d/apZfy&#10;tx/iUdtAyt9+Nh9zPyl9ic4suSAbbL7s55z0C9hnWCAj7HYF51HntA+T9me3HdoM90KemRby7uzZ&#10;mV7K33X0qOOBrv8DdWi94L5tP459e12M0C5+yH3Qdl/3/0o763jnb8xnSvbr9Fldkt6z639AtukD&#10;LuyrKZnhb3F/Q5b8v5M/fd8+QMf7WJ/Azt+Y8ict/ADk08n/KL1XkT/P9vqbsrG8i/TF2xfn+t7p&#10;BvSJ2wm6xboYdv7GlL/P6+RPnMqZ9FL+nNf5w/527FtLP1tBfaU/Lf139u3ltdRt0dWR/X08R8hj&#10;5UuElb8xfYi8p3Xl8XjmTHreph4eVf7DMAzDMAzDUGNb7Jv8PD6/Z1w99oAZY78ftn3xs02+iwu9&#10;FX/D/MNnZ2fT6vzg1gnoDseE59zA9C1CXuvza19nP8zyoK9GP5yjs6sg/5Xd13YwfHzYjtAb2H89&#10;x6dIv1DG7ttn53Pst+Mvx2gf2JHxSQ3HdP3cfhfXe5Hy5/puXqd9gbbvWub4D7p5RJ7rl/PP7Lfz&#10;NeiI6f/nWMl/pf9XdvD0padPHRsp7SL7sWMwzhzLdlngk9jFCwz/51ry73x+4LlfJS/PBSzO9H9w&#10;XIDLybl5zrDnWvIv0MnpOy94hhfW4c5z9fxf6Qa3OT//HatQzNyvNd27XO1bveN5fN7ZAhjD5/XE&#10;jTid1M/d+J9nAOT7v8vKsUx75D8MwzAMwzAM5xhf4GszvsDnhj60kuP4Ap8b29zGF/h65BqryfgC&#10;X4Od/McX+PxcU/7jC3w8rin/YnyBj8XK5ze+wGEYhmEYhmF4bi61lXTrhhxhfxI/bMT3XkPjld8R&#10;dmutrNi9I67g/dx+ZfuQ7in/tDM8M17XB9sbtrnCa/CsZGz5Y3/BJrdqSyubnOVvfyJl8vo8LuPK&#10;nmCbwepeKDN6zPLP9uh1Cp/BpmzbKza7+t92tO6bPJmG1xDDr4cNvms3Xf8vbNNjG1tg/U/a9vnQ&#10;bn291+fymoSr7wuRR8rf646xBprXxHp0kBG4Xnbf5DIpfz87V23GcvU1nfwdb+Rj9h+zn/5Jeuw/&#10;+r6Yj5FP7vd6ePeMe7km2Mch+4VluXou/qn8u/2d/NMX1MUi0a/R7aR/9A253TH8FNbz5MHxR2fX&#10;/+17K9KPA7eSf9cebPt3PAH9PX1H3b3s2kbGqJBe+ikf9Z2Btux6SR1w5Ee/lfwLr+NL7ACs1pzO&#10;e8172cnfZcjvC/uaR5V/kTEy6cfbra/Pca+nmWl1bWYXl5M+vy6/1f7dfayuzevynK5+nmHsPwzD&#10;MAzDMAywmlt1tL+bK/A3+FN2cazD7+zm1q32ec6F5wodvT/egpF/j30YtqHlnBpY+ed37cW2kdp2&#10;zD/f5bDfqfD3RPD/gY/5WtuT8C1xL5Y/37PxPb/qPBHLzH62jJuHI/3f2eat/9nmuz6209lGa/+M&#10;2yJx/vh6sAFyrb9R6G8JOcbEcqYs+IjuraduzVlbOxztp2/mOgEpf0APuC1g16ct2DeL/Ch7zhux&#10;36+bU9Ltp936u0CvwrXl3/WfS+TvOR/o7vzWoL/JuJN/Pg86n27BM+kV5wpfW/9fKn/rbXSwY23s&#10;w0M+5HGk/1P+tI1Mk/gQxwg8sj/nEjxuoo/Rr24h/8I+Pffn3TzyvDbHfzv548er9HP89+j+3GEY&#10;hmEYhmEYhnvgeMuMmVzFf96K3fvqcB1457Y/MNeLvBcj/zWe3+D4eubH0Y+Zg2O/XaazsqF4Dl76&#10;6myH8ryglQ/QxygT12b5sf86fh+fpsvT2aNeAWygaQ/Fbuc1Gjmvs6kXnlfHz363XDsU2z92/m6O&#10;l+279ueSNmXMcqXf0f2/81ViU352+af+o16591UMTzdPKOl8Oyv5U8/pR/T8NHw/2GbtH7T/0Pe2&#10;Kj/Hco6X91d+zzLPb8VO/pbZn8p/pf9T/jn/135kjmGr55jn8u7Wh9zJ320USIs29uxtwFj/W//d&#10;Sv6F/ZB+znMu4xLaA3mc0f+QbYM02bZP3O3vFXxCHv+tZPye8vf4L+f42QeY/sFiNf7byb/Ief7d&#10;+O9V5D8MwzAMwzAMwzAMwzAMwzAMwzAMwzC8LsRQFpd+DwQf/irWzjFAR1zin7/k3EvK8N4Q33JL&#10;WP+YtXMyf+KxKN+l8ue6jkrr7LcWujiUjownPuKSWEDilrwOzlGs+1H9GmKj4Npx9I6d8nd4iQvs&#10;Yvcpk7/r7rhfykt8lY+Rds4XIN7cMeeO1U28NhBrCGWfZS0yx5vv+jX5nzmX8x0/S16ORbqkfok5&#10;8s+xUe+xrlmu10a5OJbrfxEPTj/lfjs6PUo8l+/b3/6hLex0APG6xJJ5TkHeG8fpZ7v+Q/6OCVzh&#10;+0794ljKS+qXcykn6V5L/2dcfuLnMn2bNu191LO/t+HvKbke3G5dT7v7ct4dXhvM97Nqh36GIrfu&#10;ex9w5rni+TI5d4A2lBzVL9AuHJ96LXbtOvsr/cf/o/OyTXveV5ce/Y/7Slm5r1r3rcrqtaJgJbeM&#10;De3SpGw5j4W8EueV7Z62mRzVr88jT89VeivowVX/Pzvu/RP5c47n3GSafh528eBOt5uHRJ3nNyou&#10;WeerGyt2OtN5ZTv0+DjLfaZ+6f/dfIW3sivDkd6FTv45f6Pg3cB9lXtCxp4jdAav6ZjXeO6Q49Wt&#10;c49Yyb9rr4xTrB9W7Zv8L9Xnu3VKPW/qDEf9v/A8i9W7TCf/o7LzTKzyOg/kRF2yNtxqrGadmfJn&#10;TJjrBHqdL68r2L1be46Z3x26cvDdQ/RNrlnXcaZ+4ehbuxx7j3mLvKOu8s15GgljBch6Qb+n3vS7&#10;9JHeO9Pud++Eq7GAxzmXrBN6yXN6V7+U+0iunPPs81aHYXgz/wCggvog4L8lowAABXVta0JU+s7K&#10;/gB/aWAAAAAAAAAAAAAAAAAAAAAAAAAAAAAAAAAAAAAAAAAAAAAAAAAAAAAAAAAAAAAAAAAAAAAA&#10;AAAAAAAAAAAAAAAAAAAAAHic7ZvNjeM8DIbn6HOq8H3vrsJVpIpUkRbSR6pIFT7npu8zICIcgvq1&#10;PLPAPocHu4ht/bykSEr2fIUQvgAAAAD+Mqbw52uOjG57b/PS2O7IsbS209vv5ST9zmYfd4g8Thj/&#10;3u6rsV0Zz9G+H43zkvufHX2/4rOeD9yUxmfRqvHOerLtf9v+i5rfVohDL3Xv/R+w/109+/6fWyOT&#10;098U145eP3Zsr6jvGn/30HNKUZtTLtH2OY20jkun33n2Xwe2NRKtcS+psdm1q3WXXPOMPjSyf6kZ&#10;PJboA0viusT91PWaesSzWU9MPtP+Oh6GhrV+izbTz3rrf0drae0vMae0Llrj/zzAn4/4fMpmNkZN&#10;lVq/wycnl+6t8RGJyzoXpuzncW14dlFjt/aXeWl9vHWm9faw/V9CPldY3qqPludq6oecPc7w01vB&#10;jjbO6vtLOVR0re1L0OtXNBa/0LVBbx6qHUdJk974XDt2277Yf8v49hw+9co1c4/E2ZwWeoy2/pU+&#10;Uj5g68OWXPSMz0xKB4khur5agx/TSvnpaF4cYf97+MSFLXzXWX63+4i5st+aWHILdWtBtLe/672f&#10;9oFcvOihR+fW/J8a+yhK49d1VU38/0n753iocd/NnJ+hrUZotX+upimt/1QM+C37ax1r83+uzvBi&#10;SaqGOWL/S2Kua+g7D66tb0bUQUfmPSL+a/S4ZA95RJ8zddjX9DV8z1mixRxt39u2rcM3076uo3P1&#10;Tw1HYtNI+2u9rB+k7P/T8V9sbvfwO4/wyf86fvaeXZ2lc8kGLWcZom/ruaenibSla3bR0NbWtfaX&#10;tnI+XrL/3vfdWecyVlsT9uzFSvN4F+7r3f+NaufofMWeT+VTNob22D81zxb721zzjv5gfdKeCY6y&#10;v9ZgS/St107N+UtKl9b134td/zImeZehY/bduf+n8/9+7eroLuh8UPvOU9e6uRxhz9m8mNh6zl2z&#10;LmrQPt/bxmzaqJmL1Ec5f0/VTCPrf52jSnZM+UvuGdHmqubhxUTRrOac++Y830vrdwEeYifRv9aX&#10;LyFvt7VybD37/9Wsydo9/mT8suQv+pxf5wk5Y9iMZq2ktDgbrfXTjKXV/ikdX5lrvVi77//X+xOx&#10;i+cLtj4ovTO4Gq1snfBU7chcc+fc3nuhv8H+S/heQ3v2T/mC1vRq7h8V46ze3hwEWdubuaafrdnD&#10;Tc74vWfFh34j/8s6kH9HfffkzSU3Vp0PJQ7bnDICabfUptaj9x2A904q5zuj6v9aZHzv2MYWxvmA&#10;Z/+Sbt7ey67Bn8Lbm7xC2znbqrRtsf/R/N9ie53DpgNzrbF/Dd6Z3P5bbt82kiV83iWn6oNWP2q1&#10;/5nx39Y+tq7S3wfu3Dv9oGUuF0fzR/DP6kS/e/i89+p5N+PZ3O7PZZ820r9+w/5y3q3nV/r+177/&#10;3JTeR+0/RV1TmttvxlLnti31qW5vLbSp3wGMpsf++rxtjrFI4qTNLztztLenb0v94q1LTe67cDuX&#10;JXzOPI9oPsfxy/cmOb+wz3q5RTR8hP4Yf7b9c3WBF5+8/d8zcW8NqXekubxg5yJ+JOOTM/DRmksu&#10;SPmSzh9rYQ5nIH1718SnvXcS3vlfbr3IN+Vn+PRS0a43l7P+pgYAAAAAAAAAAAAAAAAAAAAAAAAA&#10;AAAAAAAAAAAAAAAAAAAAAAAAAAAAAAAAAAAAAAAAAAAAAAAAAAAAAAAAAAAAAAAAAAAAAAAAAAAA&#10;AAAAAAAAAAAAAAAAAAAAAAAAoJX/AOCrivumi2J+AAADJW1rQlT6zsr+AH95LAAAAAAAAAAAAAAA&#10;AAAAAAAAAAAAAAAAAAAAAAAAAAAAAAAAAAAAAAAAAAAAAAAAAAAAAAAAAAAAAAAAAAAAAAAAAAAA&#10;eJzt2s+R2jAUB+A9cqaKvedOFVRBFVRBC/RBFVTBmZsDM9bk5UVa22ADM/kO32TiP/Kuf9KzLO9X&#10;13VfAMB/a9X9+vq+uf+b9637fe/+GVnO/pZvd7Ov5Hzu903tA11/3rt/Nz4//1J/in3veHO//rVv&#10;S3+aN/OiZHwO24py74+VfY/kvw9ZPmKjD8zimQzGjMWp+Z+DU+hju1AXavMTHhPr7TGM8e/k0u/b&#10;VfY9k/9Q/eB15nj+x/FbzsnjettfQ/6fpcy5ahmXzIZq75jnxV7+H2OdxuYU64HsNj/MEeT/Gb6f&#10;mPcNPQsOI/K/LtDvmJ7/ecI9HTsXuIzIf4l+x/vzX6XMtmnc5vpf2vzpuqUt73/z5z/3OGyN79IH&#10;cv6HtD8rc4mr7BfLf+zzd0z+13TsLvWBnP82HFdrr/SPo/xntQnZjz1nqP5vK5nftx/DtXL+5Xlx&#10;arRZ1p+t+86rjP9r9++6fkvJopV/2R/nALHv1Mb/3SUdW6wr7TBv/nM9/8vYL+N4yvv/rrLtrtSN&#10;g/wXy//S/b2mv2tsj98CavnnOt3K/9DIOh8fa4h5/+tsGvkMyXP0Vv6tOUSuC8b+svLYzt8C9439&#10;re9/p7StlX+pE7X3vS5k7rm/rEef/V0jm5xn7ZjavDDapPbN+ZdTm98f0v0/VY555u9/dqHd2jnr&#10;dH3r/a916v6stTz6d38/5V9q/7bSZhz7V33gpe51ucztL+F+l22PfKvN+W+7du2Pa8Zlne8YtvlW&#10;vIx1mO/l7ItzGJOtNdox+deyjO+UtbqQfzbf/+YTa+zQGMvfdC7d8HtZzD/2ofv/V/0cILbXqvPb&#10;dG3fAeYR7+eY9ZVVqhVT8s/rRlNr+zrMCcwH5lGbg815bvlm2DrnMLLf5X7w7vsGAAAAAAAAAAAA&#10;AAAAAAAAAAAAAAAAAAAAAAAAAAAAAAAAAAAAAAAAAAAAAAAAAADM5zdT8ocUYo2ougAAAzxta0JU&#10;+s7K/gB/jlEAAAAAAAAAAAAAAAAAAAAAAAAAAAAAAAAAAAAAAAAAAAAAAAAAAAAAAAAAAAAAAAAA&#10;AAAAAAAAAAAAAAAAAAAAAAAAAHic7dq9caNAGAZgh8SuQvnlqkJVqApXoRbUh6tQFY6VcccMO/N5&#10;bxEIsxYwT/AEkoAF3v1j0Vvbtm8AAGzSof3z1nn1ebC8279c25F8236b+N27+rALc/L/6j+f1YHZ&#10;97u2W5ZN02eci1nmvzX9MfL8z6GcT3VgE/l/zDjGR3+MdM7xeIewXVeHjAfTvA+0w5J0f69P7JPk&#10;eRz6PHP3UEb+WxoTSvmna0nneJL/4vJ2WMOU8T9tU2rj7zvI/jTzHte+7rXlv9dnwKH+bcp+Nce+&#10;pfKfM/bPVbOu1s6/efLc41zuWOG64z09zDi/pOunbj+Q5ghfE7bd4liQcrwPzJGGpPtSq+6n414q&#10;ldFd9+eE/iv1HzXq+Bos+Uy25PNwfL6KZdwXyCI+X4xtm/LfYt/+2/kv+Twc23zT1628rk0dE/K+&#10;6yuc66M+run79FL+zYzzWKNaazI/baOlPv/Y/j/uTFmHnXsNcS0i79tSv3DfcPY1879UyD+5ZGXd&#10;RvqclOMx7HNqx9eRun2bUEbp/LY453t0L9fQ9sfyT5nm5Y71BelaY91M+045l/w4eZ3YoubJbB9Z&#10;cj1gLP8kzgse9cXHgW2m5B/XAOO6717WhJq+TTzzXJxnv/S7sKn5d04hn7Hjfbbf53ixnNL8r9s3&#10;tfdzuPbrTrKf65bdu6WPv/Sx587/3kL9il59/18t5V9rXWTp/MfeMw7N/0r1Z69rQc+4LDjW/0b+&#10;Y+VM3a7U73f1YevPAWvzG/nH9p/eg36EuVCq39ewXWnOn/pC/wlbX/7NgznrlPH/Wvg+7//vYftX&#10;37e9WLL9x7ab3vvk8//SuH/Nfo/bl47/6nu2J68e/+O6Qhzb47uD7vM5+8y28+/G/PtA9un30ljx&#10;0/Vu1pF/J/X7Q883pTqw5XeAa5T/D7d2OXP2Pbff1wkBAAAAAAAAAAAAAAAAAAAAAAAAAAAAAAAA&#10;AAAAAAAAAAAAAAAAAAAAAAAAAAAAAGBN/gI7hxmAP4Ji9QAADtdta0JU+s7K/gB/koEAAAAAAAAA&#10;AAAAAAAAAAAAAAAAAAAAAAAAAAAAAAAAAAAAAAAAAAAAAAAAAAAAAAAAAAAAAAAAAAAAAAAAAAAA&#10;AAAAAHic7Z2NkRwpDIUdiBNxIA7EiTgQB+JEHMhe6eo+17tnSUDPz/5Yr2pqZ7tpEBII0IOel5fB&#10;YDAYDAaDwWAwGAwGg8HgP/z69evl58+ff3ziOveq5+JzpawAZfj3wf9R6fmK/jN8//795dOnT398&#10;4jr3Mnz58uXfzy6+ffv2O++wN2UE9PtHRtT7tJ6Vnk/1vwI20f6u9l/1Ufp2laaT1+3f+Z1dVPKs&#10;5ARdGr1epcuuZ+28ez5wauereuvsH+Vr33W5tG97HpoPeQWq/q95ZfWO+58/f/73e+gt0v348eP3&#10;vXiGuqgvC0Q6vR7pM0T+nibyiLy5F2WrXkgX1/V56qBpIy9PRx30evyNz6r/x9+vX7/+fu4KOvtz&#10;TWXR8iNNlM8zWZ8jPfcy+7sMUZ7bCJvH39CZponvjFtccz1FGp3zOLR9RT6kRxfIqelU7vigC9qy&#10;yh3XVB+qZy2f8X3X/vrMFaz8f1Zm1v/pf528gcz+6m+oU1Z37Bx6Vn3RLuKDL9A+qH6BPFZydrpA&#10;PsohP/cVVZ39+ZDPy98Z/+8xF7jF/ug8+iP17uSl/pX9fR3iwLbYPf5GWyB//vd+hqz0UdqLQvOh&#10;Tpku8LcuK+2RuV5lf2TU5738TG8rW1zFLfanHWu77+QNZPZXf4fvzfoofd39j+o27nHd/SS+I7M/&#10;etA2lulC06nNaRfI7/bHP/JM/OUZzTeuIeMz7E9fUX3QnwF19e/qbxnfHJoemelb+j2epQ90a6XI&#10;i/v4TcD/kcbvISd9LwP1xodkutByMvnJX8dD+of/77Ko/DqXqfTpuh0MBoPBYDAYDDo495fdf83y&#10;b8E9uIQrOC3zNH3F257CY+XEpVjPZHGBe2JV/urZFZ/WcZiPwqnOrui44m3vIavGtqtnKs6q8h9V&#10;XHq3/Fv5tEdB5dY9E16nK3J18fx7tetMVuXV/P4J51WlPyn/Vj6t0pPzhs4p+h4F53iQhXycA1np&#10;rNKBxhW7Zx5pf/TjnFzFeWncXmPmVfrT8m/h0yo9EaMLwLPC8yHzyv7E7VQWlbPTWaUDtT9yZvJn&#10;/v/KHpoT+1ecl3PWyr1WHNlu+dT1Kp9W2R/uWPkj5RQ9/8xGyNz9f6oDz6uSf5crW6Eaq+BG9H7F&#10;eQVIq1xMl363/Fv5tM5P0oejjGgP9DWe3bW/jhme9lQHp/a/Fepv4BqUd698U2YXrvvcwdOflH8r&#10;n9bpKbO3zjsZF7TszEYB5RaztDs6eA3769jJx/fiKS+IT1POC3my61X6k/Jv4dMy3s5lA8opVmUz&#10;J3eulOeRZ0dnmY4970r+rl6DwWAwGAwGg8EKxL6I+ZyCdSBrmFUsqksTc9sd/uce2JE1gG4eWeau&#10;LPcG52JYd3sMfwXiH6y/d9Ym3fr1mfsZM65R15SB+E6s8FFldtcfCY9dB6ivxre69q9nY0iv+sue&#10;5xnuab2d94p77pf0zEGmM57p9El/8ziGx2iz8nfyymTM0nXXd8vI9LiDVRxJ9+RX53GUg/A4re7V&#10;1+dJoz4HnSuXo/FA5eyUD3CZ9BxRxZ/h88hHY/5al6r8nfJcxqrM6vqOvMQbVcYTrOzfnbcEXczS&#10;+S/4Ou3/6MrPM2TnO8mrOmdCOchSnY3I9O98R1d+lZfu13cZqzKr6zvyZno8QcePkd+KZ+zsX+l/&#10;52wR+fqnyxd50P2Oz9L+nsXis/I9r52zhFWZ1fUdeTM9niAb/5Vb9DZf7fu52v8zXVX9X8vu7O8c&#10;9Kr/a95d/6/mf13/17KrMqvrO/Leav+Aji0+huGfdHzp+CuXaTX+q9xu/4Ce4avOn2e6Ws1ZfDz1&#10;MU55xax8RTf+a/qqzOr6jrz3sD/1rtb/ei9rm9zXPuQ8ms//PY3OkX1On83luxiBzoX5ngEZ/D7l&#10;deVXea1krMqsrq/SZHocDAaDwWAwGAwq6NxcP1c4wEejksvXHx8Bz+ICWbv7HszVOoL90s9EFWer&#10;9mO+ZzyLC8z2MiuyuIDu2dX9/yfrV7UVsTa9nnFu2J97ngdy6HXnIne4PNJUa/TOLpke9FygcqSV&#10;vm7lG0/g++/VPlXsj5gTfmOHI1Q/o/Erruueefbve7xR+cIsjyxenXFGHS9Yxft2OLou1qlnE+HX&#10;M33tyLjiAk9Q+X/sjwx+biXjaFUH3kc0Dqfn+Chf+4VzbnxXfVRnJnheY+v0kyxG7f2Ftsf5FbDD&#10;0a24DvKr9LUr44oLPMHK/yMrfS/jVXc4Qs5SaF/Pyu/k0Xy7MzMhD22Wclw3VTmMberfKHvF0Z1w&#10;nZm+dmXc5QJ30Olb+6z6eK/rDkeo77XM+r+O313/37E/Zzv1LOdu39K9A9pvdzi6Xa6z0teV/q/P&#10;32J/9//I7uM/+sdPVum8Pfm4Wtlf887G/x37oyO/dmX8P+HodrnOTl9Xxv+ds44VqvW/ct5ZTIDr&#10;2m87jhD5sJ/OMbNnsjlwVl6VR7V+PplbX+HodrhOT7dT9x0ZnxUzGAwGg8FgMBi8f8Dn6NrvUbiS&#10;t75b4x7vvtfYwAl2ZX9PXBRrXjgA1pSPqAN2PAHrWmJ6uq+y2wdcAY7hFBpP7HCljq8FYha+biR+&#10;FvB9rL4Ox2/oepUzGPHRmA1tS+ML6KvjdlXGzv5dXrtptE66D97luFcdQfa7I7T3eI7rlKvpApHm&#10;at/KdMT17BwLcQuNszoHo7/PRT3QDXol1oXfcfkpQ2Px1VkBtUXF0e2kcZm0rsp5Ukf9LaErdQwo&#10;D0tcD/torFDTESel3Cpe2KGyv16v7K/xcdo9bRI9eXxL8/L4dsWrZfyJ21z9mHLIip00AbWfxx89&#10;jpvxe1fquPrdMdL7+wSdOz3dt+XyeBza6xNw+ztvQD76m5TImOkGVFzUjv0rHkOxkwY9Ku+Zyat8&#10;mL9H8EodT7hDyuUDV135lhV4jjEus5nvtaAPOV9Fn9CxqeINvf1W/XHH/gH1f8rjKXbSKOeo46DK&#10;kX3P7L9bR+UE8fkdd6icn+7HugId2/Tjey3ig2/0vRzcUx1k15Vfy57vzteDyv74MuXUHTtpVCaf&#10;dyrfznf6h7eZkzoG1Aa6p8fHZ9ettpNT/k+h4wdzzOzeao/d6rrvJVqNW35fy69k6daut6Txsiud&#10;nNbx9LnMd13Z/zcYDAaDwWAw+Lug6xhdz9xrHtntSYx1kL4rZadMXasS787Wgu8Bb0Fej+ew7js9&#10;R1Khsz+cAOl27K+xFtY7PPcW9HmCtyBvFo8kTu4xG+e0iD0636VQ7lbjFQGedZ+jPLTHIDwmq/y/&#10;6jNLq3kTQ6m4GC8X+TSWoxxyxylpPbX+Ki98zo5ekF3LUblO0J0xcY5HuQiNpXc+w7l75ZXhCzxG&#10;qvXz843OwVb+n3KyMr1u2d5sb//Yjdinx3yxbbZvm7YCJ+JxYuyt7aLTi8vucp1gZX/s6mVmsf8V&#10;j+g2CjAHqGx6kp9zQd5fsryrGLDuD9J4N7HW7LejKu5VfY3urVKuJfMZK724v0OuE6z8v9tf5wm3&#10;2p9+SVz9UfbXfrFrf/wGeanPI1+3/2pvB35EeVXlD8CuXqr6nmA1/6OecIy6B+UW+2u57odvtT86&#10;pBzVy679yUPHDrW57nfZyQd/rvyfy+s+P9NLds/lOkG2/vN9RTq3yM5fq24cK3vR/nX/wz3sr/O/&#10;6txyoLOb93HNk77Ms10+Pv/LZNF9GCu9+PzP5Rp8TLyF9eLg9TD2/7sx/P5gMBgM7oVs/beKZYC3&#10;9K75jmc6ha7XuvG2ip2eYFfX9ywzy0/jP6u9kQFdl74FXDn7UIH41+5+zVuwo2tP/wj7V/lp7Edj&#10;FX7GKeMIHcQtPJ4Od6a8Lv2PM3HMfZUP455/J3aqdfB3JFaxkqxuGpPRduHyKLJysrrC/7iuNY7v&#10;Mqm9iFM7V7iLyv9rjF/PS9HPlPOtOEIvB93BnWj56EXP1aAflyeLOep3P39LO9J4OvJ4G/C6BTyW&#10;7HxAtg/bY7PEz72uFYen+Vb64HnixhUHu2N/9/9A25aOUx53zThCBxyV8nGuw+7/XfujFz2P6TIH&#10;9GyPQtNlNlZ9Zfb3uYieravyUv0ot9jpw8vh3glW/t9lyvZaVByh64Q03fsf72F/ZKKtZTIH3pL9&#10;K27xWfbP5n/4QvWXuo8Cn1RxhK5T/H/X/wO7/g7flOk8m8Pv+H+tWybPPfx/Zv+OW3yG//cP9fdz&#10;sHruUOcpGUfo5ejZwap9e1rXhc4zq7OZbjfFav4XcPtX87/Od2bldPbvuEW/d8/531vHvdc7g/eF&#10;sf9gbD8YDAaDwWAwGAwGg8FgMBgMBoPBYPD34RF70dn79JHBfhP/rPa9s8fS32kRYG9M9nmEPnVv&#10;qcPfaVxxiexL83x9/wjvANIP+zeeyVN2dTnNR/ft8ansr79jwr4j9tnpPrcsz2pv8K3yd3v11Yb6&#10;HhCH1hvdsodM+wT5PattV+jq8sgydV+k9o2s/zjYr5bl6Z9qb54/u9obsmt/3stE+vjf37Gh9n9t&#10;vIb9/XcH1D70ww7sI66gfanbyxbX9bdFOqzsT9uhTzs8/6z/c538eZeb7qHUfZsB2pu+a4l9fvqM&#10;7rHVfLVNkobvJzgZQ1QX/q6hrG8rqFtXnvqCzPaMvfiGVZnkqe/vUZn1/XIn9ve97lznf60n55J0&#10;nFRZuM939IrMei5E86U9qNxXfNPJfnE9X6G+AHmqvk273PHn2dkBzcf3lq/kx49r/gF0p+9iUz0y&#10;5vt8pdKxz3m0TtpffU+v7mXX+ZTmkb3bj/bg/fB0TOCcUzafcWBD/+3Mahxm/bQzliPL6dywsz96&#10;1TEL/+ntSO2v/l33mpPnif31XCLtV8vM3l3l86zK/vxPO74yJ0C+7ONAfnRHG878Orqr/Krne+Xd&#10;dYHK/uo3AW0xixXomVFd31BXnR9W5xsy+1OujuV6Xc+lep/Scx+d/ZHJ29cz0MVdducWke6q3N14&#10;d9Ke9N062pc+2nmKwWDwofEPiCRqout3vRYAAAR5bWtCVPrOyv4Af6I2AAAAAAAAAAAAAAAAAAAA&#10;AAAAAAAAAAAAAAAAAAAAAAAAAAAAAAAAAAAAAAAAAAAAAAAAAAAAAAAAAAAAAAAAAAAAAAB4nO2a&#10;iW3rMBAFXUgaSSEpJI2kkBSSRlKIPzb4YzxsSNmxZPiaBwx0kOKxy0Mitd8rpZRSSimllFJK/df3&#10;9/f+6+trSoXfg7Iel0z7EulfU1Wf3W435fPzc//6+vpzfst1px5V1i1Vvn95eTnYY+v0r630//v7&#10;+y9Kdax6P6P/afvP4P+ZPj4+ftoAcwFto64rjHbBdYXVkfgVzr1ZmnXMOLO0+rN1ThnSP6RXUD7K&#10;MUpzpIpXaVb/5/yR/V91S/BFH/+Jz7iIL3KczPmjwohf4ppnS5VXXdexnpnNRVke8mNsyvMsW6af&#10;VJxZG0i7VL7P4P8Otpv5/+3t7fCOiH14pvfHTCN9QZsgvNLinPZH/J5WHcs3vJeRXvd9PpNp0p66&#10;si3nHPjo/p9p5v/sO32eTEr4sOxY7SbHVMpQ9zP9VN4jr/TfqB1n/67wSh8f1vlsDiAeZeT9J+89&#10;itb4P4XNmG/p5/lugO2xYfbr7Jv0vXw3GI0V+T6a/T/HkPRVliXLO6vvEo+irfyPL/Ft9rWeTn8v&#10;6ONJjrXZ92bzUdaD/Hp7yPE802TM6TbpZJlu+Tvor9rK/6WyUb4Dlm37e3v3Ne0k/cD7BGnRpnjm&#10;FP9nPMYk8iLNXr4lPer8r5RSSimlnlOX2ufNdO9lL/nWlOsgl7BhfRvNvmv699RftfZ5tT+sOdSa&#10;yWzNeo3S/31tI7/zR9/8S2shrJv082soyznqR/zjMbu/lN7oepbXLK1RvybubM1pVua/iv2y3Psj&#10;X9Y88pz2wjO5zp5tJPdeOWcNl3s5JrB3sya82zrLmeuJdY/1Ztaa+rpShfc61r1MK21Xx/QZkFde&#10;ox6nxHol90mXve6lMp+j7pdsb6P+z1obtmY/vms09le83Mct6COs860JP1Yv7JdjXv+3IfchEHsZ&#10;dcy1yrRVptnzGtm3/xNBnNH9kf9HZT5Hff4/xf8Zf/b+kHbinL0Zjvgz/8lYE35qvfqcl3sC+HpU&#10;p/RBt09ez/LKsNE+E/ezP3OdeY/KfK628H/fRymfUKY8LzHWMX4yltGe14afUi/CGDf4jwAb074Q&#10;c233fx9zco/ymP/5fyLzKPX73f+zMp+rY/7PuR079H6SdS318Sl9g7+Iyzy2Vfgxu2cYtuT9Oudh&#10;xnDiYue0NXud+DP3KI+Vg39r8SFtJ23KntnI/6Myn/MuyH5b1il9R9/OumKP0VhF3Eyv59f92fvB&#10;mnDCluqVYdSDuaT7N+fy0TcYz/fnRnn1MNpA34tMGxM/856Vufe1S2hpvUA9vvS/UkoppZRSSiml&#10;lFJKXU07ERERERERERERERERERERERERERERERERERERERERERERERERERERERERERERERERERER&#10;EREREREREREREREREREREREREREREREREREREREREZE75B+Hl45q2TuOnAAAAVNta0JU+s7K/gB/&#10;pYUAAAAAAAAAAAAAAAAAAAAAAAAAAAAAAAAAAAAAAAAAAAAAAAAAAAAAAAAAAAAAAAAAAAAAAAAA&#10;AAAAAAAAAAAAAAAAAHic7dbhaYNgFIZRB3ERB3EQF3EQB3ERB7G8gQu3piH/ignngUObT/vrTWzO&#10;U5IkSZIkSZIkSZIkSZIkSZIkSR/RcRznvu9P5znLtXf3v7pP929d13Mcx3OapsfP7Bj9LPfUvXUW&#10;y7I8XscwDH++h3TvsmOVfbNhdq3N+z21f9U3v/6N7l+263tWOeuf5XqdffvG2b+6XtP9y3O+71//&#10;1+d5fto/1+z/fWXbeu7X79u2/frM9+e//b+v+h7X96v3QK7Vd/ucRdWfHddrkiRJkiRJkiRJ+vcG&#10;AAAAAAAAAAAAAAAAAAAAAAAAAAAAAAAAAAAAAAAAAAAAAAAAAAAAAAD4QD8K+ay4UtoqZgAAEXJt&#10;a0JU+s7K/gB/q9EAAAABAAAAAAAAAAAAAAAAAAAAAAAAAAAAAAAAAAAAAAAAAAAAAAAAAAAAAAAA&#10;AAAAAAAAAAAAAAAAAAAAAAAAAAAAAHic7Vyts6y4037/NiQSGYuMjMQikZGxkcjIyNhIJBKLHMmb&#10;/ghwbm0Vkplf9bO1u/ceZk7xdDqd/sxgtBmM6buuW47jiEYBxvLnrUG4A7AYowv6Oc150q2Z3dh1&#10;bUEoDyd82APKd+kLBZ8wDMP/fTlinstbml518N7rQByUXo5A/PUGXGKREZOEx531kyoia7tUHiZ4&#10;VOmreJzY4vI2vyeUtyzLZLRyn/JHSzwKi+k4ehLAhEzG8iFzkRyWgHJQsP6zuQTTdf64421+T4B3&#10;XGfdjfCHrC89Xo5cBQAbI4MALv5qSEVnVD8suP7wLaaPGlGwJ599+rzN7wkZ3tU2DazjETQBWM5F&#10;6Yl/O/h123Ow9REKwNmuHcreyD7a8RJMpxaknyb86/g2vyfodGyFfjN+6kZmlnZejwHomwGVfEkD&#10;PsE1Lsx61Qx7+bmHL1/bv+tw/2c0JMVAvM3vCa2eNK6y/8BGNoYNfVnIPs6w+oWUPU7hqGL1mwYE&#10;YOOOJ4P1br4LoM+zJVMJn32b3xM6ZQdS8zE4awxLAPa26mFt20ILN0mAB7imRQLlqV9R0bM7vA2n&#10;4ei7cmRMqicBqO5tfk9Q/fwhAQx2hAObBFDIF8CDrjBBk5bhQY82rm27vvcolcNPzhYZmmo6usbu&#10;q9WsAeptfk+AxU2NCvMn6XwsE0mgvDq8vmtQADMSDfQA93hbxDOGFBMbSXMJrjPkLtE26t/m94Ti&#10;0hUTZkMOMRfLvTrir/H9R9oZZkbjyB4ACqDw18brYusWBZsEBIBfVHj+hdOQvM3vCbqsemxNoTWi&#10;o3esaUvo7RXH2DQMeLSeHgAcbH3fNsYWzVgm+IAaSAC6t2T+WR2+n7/9fCK5feHy2tapvP9gK/0m&#10;HdVPZE+v/OuyB43JqpwHxR0eUQCWhPhxrA/mbX5PGJbPVrYrqOpyc1ujm9OeKv12ctGF5KoH2J/S&#10;yt7pFoKkEJa4prV+Hw3J8AP8lyu6uQUux2ZWcm2QvsJQz1hLhhGUYEhg/5Mpj8BFdnfh4S/wpA9v&#10;83sC+eoeXvVze/19K84NuD+NdRrZFzF0Iyy8xnMQI904lPOgRRN5fXkJiwfXaEtLyPvb/J5w4It/&#10;8uoDL+FaYnzcxbMqrl3j5q67BKCL5Z9my1ZgwAMfBHAGfWnEJ6Yq09v8npCr1Vs0+TMY14HH84Ft&#10;7ZuRPP4WMezb+ikfrYGQRo+wCKDSDSSZKwx+m98TuoGXfVvwD9uABPR27LCtLfr/pwAwR1RO9zNK&#10;HPDIbzlLdCR9Ov5tEYlzX3/+Far+dvAdkY+4cOZ/zsAe+ONHV/ZtdI9+n1Z1/T8T/VjBbunT0HRf&#10;7//dUlbJF5ueOM1lA2c/PMf75PYvtEWqd2fpmGu1W5ZiNmZOkik0Fz3EDm/zewJqMez83SHRQVP8&#10;x3a92P8zswHpvkCHYw0T10/ecjYlGkTHWNfgEWPEIgHz9fxxGcG9c8yzcujVUBy8Wfv+yu10imyk&#10;NeTsU2AUyeLBp2rwyJvFfb//U9zcAPQtRXxwdBVuAyQ0LCj7x5ubAPiYTxadu5lPjvJVWHzd66Gu&#10;PwhAF536+vx3DnjW++rXFZM+uck0Y3TsEE+33H495j455FhdPjb68F8KgXizGEiAv83vCZyt9eX1&#10;OWJvOeu/LOTNb1facz7WfLr4l8MHwTIlfKCUwmrUqfKr89fz5xUdgT8Z7+6q+lSXjgQAPl31ku6Y&#10;WmW4OEAKQD5AOLacvt7+MZ1Ibj28O65//MPQdmqwuFEW77e/7HeM/xtFZ0Zf416wjV7N6W1+TzgX&#10;WfOZppp/1/9YIRGgXczHqgtTlsAefXTRqhokltOxLZGyRQlMWBdSy9f7vydJ3+PC8bF/X/+95kHA&#10;HcZgzxXi/kwO/UHYUsgh7dm7GeoGb/N7wkVz6PpOdUzjvv6UBsB8j1P/SfqGkQPhiYPit/k94aI5&#10;32noy8xvWB8xdNqt/73qjS3OMymH/5y/DELAt/k94eKf/xCa9tP44epXs7/+pwZwhpw0ILhANjH+&#10;Cv+YwFx590cDBrQBG62qPT9VjUF7FxYLhwRw7hT3I/xjObriceX7CjkMX4Zi54ry2xyW7fyULb6d&#10;yfMygqlQwQfFxWMWQNu7eaWd8ivrnzAE+rgz390qKnMiKjn6FLZIgC3Y81h03WfgfCU/fYfZE/Qq&#10;519Y/+gTlD3LGw+XPisKYf/oNtT/IEUMCQLiO2NGyJqmlkKPgzLpRQToIjg/f33/S4fdPrYscuXf&#10;doMvblCN4WEpt2WOa5gXtAjLRvRDz0nBEuucuXNOn0D7TIkLi0v0Nr8nIH+lpu2o1Q7jl8SF3prZ&#10;XfpLqytWTfypHaJnDdg4e4DNVKBEb/N7AvNX48ZuDqzkPg0UxXJmN5oeoxskuVJcGLFnri0uE1TD&#10;+hnz5mvm8rFFBVHqB/hzfs9v6jrJlwkrvR3v/8gxHdaBF53WsAR/tsJg5iRGzIHMXEAHEXlQobf5&#10;PQEXD3N3G/p27PjuOdl58GATjrOc32cwa1ucag8URPk9ZT6wNFb2SAABjLBTdg3ieZvfE3D58dCK&#10;4Nu1xe05Pb/jgNYQd3U/cq7o7PbDQjj2CpjaHBb2tCb8DREThm/ze4Licjbs4EiMzC34S2gAsPTf&#10;s5FbaxG861AIYPGGlDnvcaVHNFjHn+Dfo3VLAXqeEPPlz9COSCOUOSwfcbo2wsFXHcS7azERrCL1&#10;m45Khm/zewJ2suCCTtT0pP708Mam6W2Y9yUk65fziKMihynMq+tXVARbRqontHGj2Nv8ntDiDsbc&#10;7a271WzHBzbxNlAD4KUQ0AdES606ffcHQEXMcArOc8XobX5P4OWn7GdPPXsFk1VhW8JAwYC6Vwh3&#10;7pBS1DN8YptDyCmxAbDcKPY2vyco4q71RBlcXraWit8AsHJDgJRX3RPc6dTqP7nwZT72EiRyLdFy&#10;p9jb/J5Q0542cnNbpX9m+5oaCUE+fy7/bCSAERrjXHCJTEA2Nu+fTOu/lvj4N/ofOV9t13A194EA&#10;SmTr/0n1uGWi0YClnPFx5XjBQliwzEY1dyMBDfPYLPQ2vydg3944b2DWrib+Fqs3nOyzyzpDSsca&#10;to9k5DlbYuay4pAEmY6/2OLi3fQ2vyfkuFHX2jZdzY3g1Q9HTfYVBwBzmn+GQ658IWwCU7bI5BJq&#10;fvTLclbJvr//6VLYWw87eMW5rrFdyukf9pragE/AsxXaHmvKkMJgu9FUiL16Cd/m9wQ01hkj+3iN&#10;d/AACK/xBPt+dLWyV/6CWz20Q+JN0PH3RtpDet5+iH8q74wCcFd3KzeFUE1goI6YczKia8En3rJW&#10;2CJr/ci1c/SlTvn8BP+yUjD1hKfWXPUfWdT1bzuq6VqqbSvMeTlIAI14MNr98OdwHPvSIM7FR22+&#10;vv6thjXV3tfM3i+RgPYPh7lwYu64v52yXu7YsSyKp95aa8fQAQP/m8EfgFLi1/s/nfJl/5PTtnBr&#10;M/nDRSfI/tsVqNvVY7NfnX9aSDvG6JN3XPNG/jA8sJbIgbrA3ub3hK6npTfjEIeOyFP9fl35/HfQ&#10;HpvghIQkAJ2OGBLB+g+4X+r0Q9/BlyEKitwF9Ta/J6jeI/22o8S/4VEWkAqPf1wVgMGcx2Mxjx/4&#10;AifPWAAKesW1w98I+cBfiH8cNjGQz99A+wIoMCrF/A9/V9xCthBgHiE27tkloPmXYUw+DahR7E5/&#10;/f634x8fPx9LhI5PSvVTAHDG9A1Ow7EAJhwO66tPZOMSA/Y8F7ufYlogY/QD80+17NHRIANYc3D0&#10;yH+jAdgxZmhuXVEdaoqIGiXas2sOgqCqKDmU8wTzId9//tXuDtitLel62eYmfcp6fmaO8Cach8Si&#10;fksC6NoqNbIGyoSpmUPEREmCUUKYfgjr1/s/tP4de3ZtA45QXvJmNbi8DZa4Pc9yojCSt3RJQIu+&#10;UTEbMAyJfxt1j5kiFGn4Df8PG3Wa6ezb5rGFCJS7jnZE0CdhYBXYTW4x6sEsN06KNhAggrFIHDX+&#10;Av8N1njKZ98272GwAWcnZO5rORwy4Nt5EQQQJ38goKcI/lFacz79wh/gD8o67HE4+9ap8ScZLO82&#10;WP+NunYDYBvMOdva0fGnigsJ0yKNietSxLMcs9PtGEJ27uv7H52FLbvxaCtoPCQ+YJKDBpvAIu6m&#10;NgO0Ge4Iqc6+7mhMFmYBizOkMOmxbyWiMlxI6b++/7uhoz5y9gs4o+XyHZX/8W+D4rCnMTwHTOPB&#10;LWVP4RqIg5QDsVP1HMpJX+//VTsd2MYXjqAA29kNA/tfXyMwqTyqLb4ex37NAKnC6cY/mjON8PX8&#10;z8FFsuoQs1Gv38adjivbf3L04ZacwLPOodg8F3Isq5/gcGjPUbp6H47WX8//Glzk2QVo5pkXqOsF&#10;7OPLPOCgr8xGRP4B4l9qd12xFabpHF75AhYSzYPWw9fnf0/nfhvqDT8U5A31HptlHTgkBlIory0t&#10;3vusGx78nNk84B4xceEhgHne/dv8nuAy128OuvziyoHWot+qOnMOfHEP1Gc27AHT1Sh1PI7EMOIc&#10;EAjw8/X8YzonOrCspW8CYA1w08TXGRg9YWJ3m2jEsQC/Hc+6Gf1Ur8Us4Gno3ub3BOPttQXSZs/J&#10;Vqh68mUGx2rr/R4TtHfvU99Vqg00hewDl034p+osjM5v83tCp9R4G3x32twkcEnGD3W0a1qPub+o&#10;Ng3edzJySww3RNYv7l8f/8MpTUO9WLMa9K3KoW5TEBtdkgFT/+vQ/9F2MIEfuvIIt8GtXyB8ff5H&#10;caXjWDDn4eoU2K0NJkecjz2l4msWmCXQo/gGDiHQ7aFR8pzT19e/+9qztK24/r029Ta3rqP1z2Tj&#10;ql6oyfBC8yZoySfgswMzoqRROttf4G9vDX+a5iC5DwBofHbn4RNrnXnv/fBnJp5yBvXM78/a2bGv&#10;i/l6/l033gb6Qnve3AVpbkgNOyx+7meDm+6nwfwVAN2hd6ueDvX3TV/v/3LHMyFNeJMft3eShzNi&#10;XDxjDyxJwJ+dEiSBbqZdcvWPnY3i4evrP97ZsIIGpBhmVTw3VUMdngTE7GY7upkLI3pep+HWKVH4&#10;kwM1neuPy58X6Bf6/vtvvDs8DDRa1ZfFHkOxZCQA7fj6M1hsqOzAAWjgLrA43FtFahtc/uM2ZJwW&#10;8l/v//VmpD4vOsrQFVpCHvvWHSsIwEBxf9pX0zjfO/RqP95cTnLXc/wQT88JzCZ0Ccc8fH3/0znm&#10;hLp+nQQL1L89DP7tccH9PJmUmerur7twTW11ybqOkON9qUVHhp/o/1enBNrpdotVpAZASurkFV2g&#10;8+En8o2Xxp/Oc1IcJlNKIWcYE/h6/5cuKyL+Jbr9hByY0XAV/5ZC9s/wDwxIhOTi1e2+J6cVDtHP&#10;kdRkxe3wNr8n4OnGweyUggX/jozAWNN/tJn/veAMGn6vn0WKAPvRL+wvsj14m98T+KpTPOsjX18V&#10;yACc6V+sCPqw0PhHiPXm01oZjmE8O8c9DEihXNBh+Hr+6MpRrcOs0LVQZzh2f1Y8CpfVQVYM24Tm&#10;Wtvy/P+o++s4uFrF40/cfwiTfuX1Ie+b6I7Xc4bjfiRsA1KEy9A/bTPSjxq6Oyzr/pY1MtWdXtFf&#10;epvfEyCpgY07HbqxDv5q0dbtZ/77uKI/vO6+g5zPCj2vOBJzpodJANcw9PAD998LBAKBQCAQCAQC&#10;gUAgEAgEAoFAIBAIBAKBQCAQCAQCgUAgEAgEAoFAIBAIBAKBQCAQCAQCgUAgEAgEAoFAIBAIBAKB&#10;QCAQCAQCgUAgEAgEAoFAIBAIBAKBQCAQCAQCgUAgEAgEAoFAIBAIBAKBQCAQCAQCgUAgEAgEAoFA&#10;IBAIBAKBQCAQCAQCgUDwv4D/BzR/CDSC1LItAAAON0lEQVR4nO1dP2hcRxr/zXEgpZQMW6TaIiAb&#10;XMQwpDBIBhVJc4VDHFjDNUkRkAwpXKkwaA0uXKUQyIIUSRO4BdskRaoUBlvg4nhFCoO9cIWrFAJJ&#10;1zmq3hXffJo/b2bezNu3knKeHyxPu2/mzbyZb77/MxJ1XaOgoKAgBX877w4UFBT8dVAYRkFBQTIK&#10;wygoKEhGYRgFBQXJKAyjoKAgGYVhFBQUJKMwjIKCgmQUhlFQUJCMwjAKCgqSURhGQUFBMgrDKCgo&#10;SEZhGAUFBckoDKOgoCAZhWEUFBQkozCMgoKCZBSGUVBQkIzCMAoKCpJRGEZXSHEZUlw+7270DikW&#10;5/Zu9NzlDnX66Uvuc7q2K8Vya109zoud6p8TCsPwQYo3kKJumbTX6mPWy1sMFw3U/3eg99qeQwuv&#10;AbzsUOd1a6k2SPEvAK/VNaf8iw6tvVR1Y/SzBXqvrY71myCaneuZm3+f58PfK0hxBGAJUtxBVT+K&#10;lBtjPovRxBRVnUtstwA8Vt8mqOrbvffqfLEHYARgBCk+A/ARqvrIW1KKNwBW1LdXZ9O9MwZpNkPj&#10;l5G6rgC4pu4tAACqWnChi8Ew7AmaJ+yF1Bw0xkBd1yGFe+8tqvpPT517AHYB7EKKEap6bfbunhGk&#10;eARgQ307ATBVjC0VDxtjQmP7GwAEx4Lm/Zn6PGjp45vI3evBxc+o6heQ4hKA/wBYAknxJlO1JfQN&#10;VHUXDaMJYshXjV9Gp9cmjQ3VdRtSTK07VT3u0PYYswgpKdZ4HC4Gwzg/bCE+kLue3+4DGAOYwmRy&#10;Vf0IUjwDqZmrSuNoSjGa8HFyDzUzvYKqji2abmgy6wXkE9cEgN23qv4TUqxG2l1W7R6oT5vAiN0f&#10;ANDjHFflbwL4BcA3gXIT0GK+AeAg+Kz8uXgA/zusIDzeI89v48x2YzCZ0QGIcbt/WwLyojCM69BS&#10;vQ1sz05AizcHB873SaDcFmjhTGAPaqwOERFJsUOQFFsH8CSzj2cDKdYAPDd+yRnLdQAmM3gbKEeL&#10;z5BQBlij2EFVP0FoIbDEN9TiKGiBp/g8ns90X4pcBu7S+DaIIfjo+CWIfu5AL9w+cL+ThmLgYjAM&#10;ksJxlZKh1bfpzBKX6o89bYxAnP9+axtSLFtaRFUfKaaxrhZCqN4i/A4vF0N1baqnTUwS+sumAi/4&#10;YwAfBswsX/3NjLrsN9gA4DKMrwHgdIxI4wgLjbDW4JqIB2gy+RiGYFs9r54rfOJwaVzPZZOOpTgA&#10;MYxn0fkMmWn27/ey+tmCMMNgmyuXI0lxK7pQ/v9gq8MAE0fbGAyRp/r71FMfxsE7TVtWSxyX8TXr&#10;LoMkH6vV7dKK/AYA9V07UUm7WQCwb5Q2n+1DSGtgE5HbPILPNxGCHpN8R7F+RsgH99oRcObzJ87V&#10;xD2Qv+NtS8uh8TJ/vxoo0wkxDYNtrnHmMx9Aiu8R80JfBKQ5gswJn6VMbHEdg9TVEFLUU1Zvw7CJ&#10;+hjm/OgIzyXvnDWdoh9naHf7AD5x8g2YiE3pdw9+4uY5CplMYRPx7GDOywA0XwCN88FpGc10Tfic&#10;nr57TceuaaaZJqZrvuU5sKNoN0mkWExWVzWWABxCiv68zD6QmhqKWrThFfJUUBdDkJQ0iSLWVggH&#10;LWpnu3rabqoAVX1ZMY0dT9j3G1BI9dBiGjGNJBVmhISJn9p/5JR7Ap9WJsW2up/Xbn5kYCUxh6Gp&#10;iVT1ptGu6Ru6bs0Z0WvXaGBTk7WRooFuKXM7BxajSvFh/BdSPMxoYGj8/RxSzOxoCWAAVlO7tBEm&#10;0DcgBnCzRUUfgwjy5lyZYp8IqdxV/QRScHTgEFLsQWsUAGkJn3ZkzO1IkYDxMu2+m7PDRnuRDPMn&#10;PeUghREsJD7LhMWoUhhGlzCbiW1IsT6HvARzgLYhxRaIqLsvXi0BVjLMqXU0HXo5WGnJMeAJfqm0&#10;DR+GM7TPuAM9pkz0U5Cp8Eq1kb4ow9EKV5JfQRp9tZUZW99Sw9d9+DBsmHQ5gBRdQrB5IHNvyfh+&#10;C6SRujRMgpWZUCzypOforfnzWUVJwnkJ3bED4CG0x38BpNGkS8Om1PpWXY9bJNpDhMwMmrx3yJPK&#10;KVx/CSZR9AHq69cgf5X57CkoX+EqdPan7VxshxutMG17N/5/JeO5PrydsX4/oIVq4rn63TXNU82f&#10;VLjRtseqXb9PinwuK0FHN5lVAHDi0u9ZhlX792vQy6ypF/wNxDRWAbxrTdEmhKTWUuQeQI42Zhjr&#10;sBcST94nicwiLtlSErdy7HXNJEawcykAeq87KjRsPvPL7MiXG62IS/L+nOPNjMo2sEYwzHQOvvKM&#10;CeeWHEM7qndBguySUzbVf5YiTLZgJxJyu4eedgFiGBugd/etER6Tn90b55GHMcJsKnwTxIAWHW/+&#10;LqT4FvG0YZZsA2hH1Zdo2z9ACVrs9XdzB3iR/TOx923g57/t/ATyzj8Ajb2rpRwDuGcx16bd/Dgh&#10;EtSm0sdzTrpuD2iq1aGMyjbkmt5TmD4wbc7uQ2tTz0D0RA5lyh6lun35MIhBLoA0bspMpqzjVdB8&#10;v0QzkvSruoYYxtfquufeiDGMZ9GOdsN8oyZVvQkpdqBt5xUQl/VrGyyxibEAwJ6RSBTPMKTUZ24D&#10;qg63Me0xF2XptL3uGMB2xp0A+AHEKMxkIjf7sx9ooqa+0DjdCzDylKgTEKbNUHi2b7hC5Rd13YG5&#10;L4Ycynug9cTvlaPNDFvu/6SuP8DcylDVtyHFNVDI/lurBtHuMZoaJgsX3nTWWKsxhnEXaR7fFNhx&#10;/3mCmIAAbUvmAfkOfk7Ki2QDZK9tesuEQWqg3tbO43Uz4xlp9uwsNi9pRPdBBDsJ2K3meO0nOalp&#10;Czirr7GMwgcgJrUAYoAbADYCNrYdigy37R+PUPQr/Jxw/kL6M3S4lBiEvZGO6Upnq84aSOB2mRHv&#10;GwLMbPeyKuerTZslpRg7EUZmOg3tAogxDOrAB6DFtp7SfwWX86cRX9+o6jXoLdsfRkqyRP23l+v7&#10;JQHvzmQtbATNxVNDfOwUHCAsUUOOQhdDaAnuRyjsTKne5ia7NH+FzWDCdfRiYruaIy+sprvUnJIC&#10;3yeYyc+SAMbJWKn7cdxkvXXQ2PiS+DhxzwfWLtrSv5sp92S27IIY1xgA+7dYANz1PSjuw6BFkSd1&#10;bZtrXjkYaSAiTpUaq/CpaH5JwLsz2Xlkq4JpfTuCFNdBi2bHO06a4cXPp+iyfZme/RM0o0mL6hBR&#10;/QFNxG0M5ncAJoGaavoGpDhCVZsHD+UmFrn9G6Ob9B5lJjWZtP0KwGpCqjxpvy6k4AW94xE2sUOZ&#10;FkCacZuZzwLfZYr3QQyatYwf1e97ITqYp9Nzvv6K/hAK6b0O3udJJcI379xolE3DNqSIed2fRmvn&#10;bJlvMooTmPkr2nH8QYNomj6OUNiOy2+qdpqSl/xNV0Ehd3NRpO7QnP0Urv7Q7jeJb7nfSCzn5nTs&#10;g7J02zBUV1uTpZyMbRD9DcDMOmKai7ru+USvuEOrj+dzh+ervaRuq9b9aWoBtMAGUQlsL0LtnDUT&#10;n7ra1s22TDMC8I0h7ysBji3Jb9dt9/LrfBTdfxor9xCjZaVt5Z37kbvt3f+MP8FSmo8z6OOkMd+7&#10;9JV3Ye8fsfMofGPimwe7r64QiAr6/jWMfMfhxYPJ5e24/gCk3l1XRG6eD3nN86TvQU7NcE4I7ejk&#10;0NuuUos/Rb5dnIJPQeaE3wSi/iyrhbSk3m+KbvtJWL2N978pWGIZrf2B3o1V+kXFKGmz13yOJwyN&#10;gxvB2kfqGRhpQplDpPuB+260J5pScDHOwzgPEOf9XX2LhY8fe34bKHvctHlX0DwoZqiucQIg0+YG&#10;iNNT4hnhuFctikyMlIOKPwZpN+b7TUG7VFPDu08BfN6h//1ntLqwozsfGtd3IKZxDXnv2o6w05np&#10;ZQISOqsAvkl0nKfgO3Xd8bRtahesZdkbEB28v6eGEzGsqM9UffZBksCUBldOP1UtlFpnbie/YpR3&#10;cxg4nt0++cRoXCmwBCleQIpNnMWJ5FKsgU/L1jgBqamXsxYQmWEfd+iFHufYpwukuKW0J567L08X&#10;Br3bJVCkYgWULfwIvn8D0Afo3wwcgRjEMar6tjLVjkFHJox7aEPnv7hmMT2f6XWCql6Edooehtrv&#10;34cxb5y3DyMUTnRtfx2utH0BzXaWVTlTmk8AfAa/pJ1CJwFpr3dXiaTzUD6HHZql8GefhyH5fBj6&#10;3nx8GDoV/jvo94vnBdkZw1x+B6kh89i7NOe7SR+6/gmAu0FzttmuPSa+tULmthmqtaNctvZFYV7j&#10;Hd5fkyQXNNF/QBOdG078CHyWp+3gskNZRMD/APAF/Iv0puEo86V0s1YEmL6FZnKOz6G5DPLBrMOf&#10;Js79vTM3p3UutKR7pT4D6OjRiaf8ZegzR93xBdJOCtuEFHwKPI8TRxO41F6yv46Y8gjEuMz++PtC&#10;Z5eMVZu7yvw9BjGs1DZ5kZ+oaIjvaEbfIdW3IcVTkCm+BNJ2Tp3BhWGkgpycP4Mmvmnj6bM8D52a&#10;OgGGFqx7HwgtUvq+Cc6FocUwgna+moldbn/H1vdmhIRxAtpktHdBw+B8vqoPvv06IzTzMPahDxtO&#10;A439bUjxFfw7er2JTQHwRi/GBMBXUROPFvlDkPM4xNxj4NwONgt/hJ7/ONMkn9olaAF5h2/9FU2S&#10;sfprvoemcDvd/g/EJmjCfP+vYwzKCp2A3qG/RaqjOwdeDYFNAv2/QH7t1bHX3j9KdvNJSTIDdARK&#10;/74Gf6bxTsSkeAF+x76ZIG/9jj3X9y6k6j/tbOKlnJXLWoVOCbfrUL/uZs25E7r96zGMgoKCc8P7&#10;GyUpKCjIRmEYBQUFySgMo6CgIBn/A8ba7jvXcwuQAAAAAElFTkSuQmCC"/>
  <p:tag name="ISPRING_COMPANY_LOGO" val="ISPRING_PRESENTER_PHOTO_0"/>
  <p:tag name="ISPRING_COMPANY_WEBSITE" val="http://hi.ooopic.com/QQB58BB2BC/"/>
  <p:tag name="ISPRING_SCORM_ENDPOINT" val="&lt;endpoint&gt;&lt;enable&gt;0&lt;/enable&gt;&lt;lrs&gt;http://&lt;/lrs&gt;&lt;auth&gt;0&lt;/auth&gt;&lt;login&gt;&lt;/login&gt;&lt;password&gt;&lt;/password&gt;&lt;key&gt;&lt;/key&gt;&lt;name&gt;&lt;/name&gt;&lt;email&gt;&lt;/email&gt;&lt;/endpoint&gt;&#10;"/>
  <p:tag name="ISPRING_OUTPUT_FOLDER" val="E:\设计\项目\自创项目\2017-11\球形微立体"/>
  <p:tag name="ISPRING_FIRST_PUBLISH" val="1"/>
  <p:tag name="ISPRING_SCORM_PASSING_SCORE" val="100.000000"/>
  <p:tag name="ISPRING_PLAYERS_CUSTOMIZATION" val="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OUKiUuLhOzRzQQAAF8SAAAdAAAAdW5pdmVyc2FsL2NvbW1vbl9tZXNzYWdlcy5sbmetWOtu2zYU/l+g70AIKLABXdoOaDAMiQNaYhwhMuVKdC4bBoGRGJuIJLq6OM1+7Wn2YHuSHVKyY/cCSUmAODApn+8cnst3DnV08iVL0VoUpVT5sfXh4L2FRB6rROaLY2vOTn/5zUJlxfOEpyoXx1auLHQyev3qKOX5ouYLAd9fv0LoKBNlCctypFePaySTY2s2jmx/OsP0OvL8iR+N3Yk1slW24vkD8tRC/fTr4eGXDx8Pfz5618r1gQmn2PP2gZBB+vi+BxBlge9FgEa8iJIrZo30/2Fy/px5LiXWqP0yTHoWkAtrpP93ys2DgFAWhZ7rkMgNI+oz4wuPMOJYo2tVoyVfC1QptJbiHlVLAXGsZCFQmcrEPIgVbOS16FLm+FPs0iggIQtcm7k+tUahKoqHtwaW19VSFaCuRIks+U0qEqMTMsY8XxWiBNW8goxC8FctJfxSZVzmB92qL6nnYyfCs1k0JWGIJ+Bctj0UIO3B38tqCc8Sod6Civs8VTxBt4UAQD9EfLVKZdz8UoarQls4S/lDpxUBvnTpJGK+74URoc5mxxqRPEFOwfVhB6IEOCQBABS8FMUTZCOT60Yc4TQdhnDmTs48+DBtwplcLFP4VEPtmBHIhJnIu6QgU0kAOR6Gl37gaKeBKsTRipflvSqSvSzdjWcXsEttHwrBZjvgTGNsgCE/JLBXUYi46gLz8JzaZ9GYUfg6JuBcj9d5vOwpBxXy3STdTckaYrWbeJ3536JFY/8KShwYyR8i4Z8DEZ0PkbgmIZAHCbtkKL5wJ1hTgSafDTNsmCfmutDTB8TjGOR0SNdS1SXsaJcAPxgOKg+GqQnJpzmkkou9HxBcgwoRN6uFXAuwo0hE0akIONcmjs7sT3P3j+gUux5xIkh1IKCImWagNWb8AeWqQjxZ8zwW6EbEXMf0AZ4lMjHPdO4Z/Z9r+TfiVcu3b1qqpg65ejPUnj12/45ZdQk2VZXIVlWXau2w1vynWKHr7Icm9Dn60/SHNqE4cP2XiUwpszpt2sCz47O1bGiMOo14pqf6R+ulLQkbvh+7QFhjqfpLEJgzdE+D0SDtL+XSU1A0a9oG9BU3vx2gk/otAFXoqRgX4Ko9Ey403feXvyTj0GXQMy7FTSmrzoHMVGMToO+HNoYJOBWVeCzGG3GrYPZLBV83cxl0RhPpzoDujH17rYK5zAOTKQAu2pGqRKnMwP6kB+Z8SjYeaAh+7ySXqk4TU7ypvDMkD76tM/HtQHlbqMzsprzcJG/TZE6eY0VzuKBROhswkmzrr3d8dsrv6VEKCQ5gCLExtfXkYutaTXsKQQloV3gs3Aw+UAsZr+IlNNNbVedJT6DmFuOQUwxg7ZlDwYt4+d8///bE+MqSZhe1u78PAtEjGbAg2YL9SVUlyr+6QBge78uZRR+p9ta3ket5CWQuZOGL3K5401oylcHWQbdeSPI2aJgxbJ9NoQ5Ck/aqLmB0G4IwxcE5cJm5GVijKS/ugAiZUukgFONqnYDVMO2PF++6SmUuhsg+r5XoAzN3FmHHMW8hoPjgknnX9MwEbjlx+zoiVYveYPYZpsCzX+GJRFZDAQNCtm8Z9E3a3Fo9uBZDAvWoStPaNiwGRNGsH2li/W2n265K8yro6N3Om6H/AVBLAwQUAAIACADlColLsXU6XJgDAADBDQAAJwAAAHVuaXZlcnNhbC9mbGFzaF9wdWJsaXNoaW5nX3NldHRpbmdzLnhtbNVX227bOBB991cQLPpYK+km2TSQHWQTGzWS2G7sXvIU0OJYYkORqkjZdZ/2a/ph/ZIORV832URJa2AXhmFpOHPmPkOHx19TSSaQG6FVg+7WdygBFWkuVNyg74ftV4eUGMsUZ1IraFClKTlu1sKsGElhkgFYi6yGIIwyR5lt0MTa7CgIptNpXZgsd6daFhbxTT3SaZDlYEBZyINMshn+2FkGhs4RKgDgN9VqLtas1QgJPdKl5oUEIjharoRzism2ZCahgWcbseg2znWh+KmWOid5PGrQF4cn7rPg8VBnIgXlYmKaSHRke8Q4F84KJgfiG5AERJygubuv9yiZCm6TBsXHwAmEwV2YEtz7zhzMqcYgKDvHT8Eyzizzr16hha/WLAiexGeKpSIa4glxAWjQs+HNae+yf9K9vvnY+mvQGba8CY/IvL3ut64uOt3zm2GvdzHs9FdSaPyG7jDYNC5EJ3SRR7C0LcSUZEzNLnSs/2GwAYsFJVkew1C3BcZrzKQBSj5nEL8rmBR2hjHcwbq7BchOTAaRvXIBalCbF0BXcB4Q7cKoraK/f7CK/sHBhu+B17/y6z4zQ2YtixLME/pb2hYG66QF21irjWS4dzLSki89gnQEvMtSWCu/wa1QbeTcpWSMSZDoay8DRQZMYckLi/5HSwBTjIwVtiz19pz7JBdMEsTDngRyObgTjyhhOTpp1unz0Ls6i5ofdSE5memCSHELxGqC+StSfEqArBckGec6LanYM5YYKVDjRMAU+LGPpQf8N0XXqCItUNKFWYL1Gr4U4hsZwVjniAtsgu2MdGE8fv1JwBkzZgXKFja+HFx0zlo3ne5Z69NL5yDjE6aiJ4Jj0iHN7Fbw2YwobRdyGI6IFQbKpHDBy7MqvtWfnwYj0kL6NP/uZKxBbzEl29HylMQ8akFltQmblI3omquExhYUmBKPiQcRjgyhCqgKGDFFtJIzwiIcy8a19UTowiDFN7CHNs+30MsTocq3GMcbasw55JUgd3Zf/7G3f/Dn4ZujevDj7++vHhSaL6y+ZE6d31inD665RyQfWHbLRXF3joaBm/H3j/xyNf1XJ37/qvWhSla6rU/DSgXRGlSC61Xh6p1X4bryK6q/tp4qmYAjLfYtikNNilRY4L+zQJ9RKr98O/C1tp1S2aLfv9oi/xu3/dvysrxxOw6De6/87iQVSqQYDDdYl/8Tmvt7O3jfvveoVkO0zb9dzdpPUEsDBBQAAgAIAOUKiUt6CqCyzwIAAIcKAAAhAAAAdW5pdmVyc2FsL2ZsYXNoX3NraW5fc2V0dGluZ3MueG1slVZtT9swEP6+X1Fl3wkb22BSWglKkZDYQID47iTXxKpjR/alrP9+fkvjtA0JPSHVd89zdz7fXUnUhvLFl9ksyRopgeMrVDUjCLO6kbBsFIpqHqFsIIodTDAhXwCR8kIZTaub0XwepQ2i4GeZ4Kh9nXEhK8Kixdc7+0liixxjiS3IqZw1yaALc2k/Uyg+xs9LI0OETFQ14bsHUYizlGSbQoqG56OplbsaJKN8o5Hnvy+Xq8EAjCq8R6h6Oa2ujEyj1BKUApPSr5WRURYjKbA20rn9TOR0oT6+/QFtSxVFS7v+ZmSIVpMC+kW+ujYyjOfa+ydexREQ/qGGXnw3MghlZAey7/zizsggQ9RN/alspChMQfucjx9xz2GC5Hr8NOH23MgowVzIBBp9BV+eH7dGApD/Gs59YsZVCvZk6nqwEMyjpwwWZm8kcXtyNlWK98cG9XzAYk2Y0oBQ1YGedNJPpFGtm76uwz3DO+V56MtrOsibYE0FS5dw4K6v7/DL5Y3dFaHTvS7IUMLWK4MUO2WH/KvreoQMlB3yhdEcHjnbHWdwaHKk9pFviH/Oj+uvrcCJPu4r1h5bswn1YGZXhcG9pgVVIoeFWQl6YROkgr/SCswDJrE1udzio+QSTra0sIw/BpfuXhBqlcQHet9zpzssQYoMTjWezVSv66DK9jjelu7HobugO89Q7/J5RBBJVlb6riqaed48stVxP4vHFF8bkPd8LaaSKiI3IF+FYJPjcIEwGSzckA3BkzioQhKfrnLinZwqP2+qFORKvxqFfff0lQ5Y0qJk+g/fKLxDfsAYsDoqltofJ1Q3o3vHQOGbAIjMyrYF3MFZqoYhZbCFdgkECnvlobslSo/eUMNd4wOsMRwWrznoyXCauqb0O6NrlhDXN5wgvOm8TjOcpd/4HtfvfCSpslfrbYCxFd0uNtN+IcgpfDv1XGv7cRG10vwD+h9QSwMEFAACAAgA5QqJS3hHtLmEAwAAUg0AACYAAAB1bml2ZXJzYWwvaHRtbF9wdWJsaXNoaW5nX3NldHRpbmdzLnhtbN1XX2/bNhB/96cgOPSxVtK1WRbIDrLEQY0mthd7a/MU0OJZ4kKRqkjadZ/2afbB9kl2FP238RIlqDFgMAyLp7vf/b+j49MvuSRTKI3QqkUPmweUgEo0Fypt0d9Gl6+PKTGWKc6kVtCiSlNy2m7EhRtLYbIhWIushiCMMieFbdHM2uIkimazWVOYovRvtXQW8U0z0XlUlGBAWSijQrI5/th5AYYuEGoA4DfXaiHWbjQIiQPSteZOAhEcLVfCO8Xke5tLGgWuMUvu01I7xc+11CUp03GL/nB85j9LnoB0IXJQPiSmjURPtieMc+GNYHIovgLJQKQZWnv45i0lM8Ft1qL4GHmBOHoIU4EH15mHOdcYA2UX+DlYxpll4RgUWvhizZIQSHyuWC6SEb4h3v8WvRjdnfevB2e927uPnV+G3VEnmPCEzPvbQefmqtv7cDfq969G3cFaCo3f0h1H28bF6IR2ZQIr22LMSMHU/Eqn+huDDVisJ8nKFEb6UmC8JkwaoOSPAtJfHZPCzjGGB1h29wDFmSkgsTc+QC1qSwd0DRcA0S6M2jr6747W0T862vI9CvrXfu0yM2bWsiTDPKG/lW1xtElask202kqGP5OxlnzlEeRj4D2WY4AHl4qSCUZdonP9AhQZMoUlLiw6nKwkjBsbK2xV2pcL7rNSMEmwfLEHgVwPHwQgyViJXplN+iLWvrCS9kftJCdz7YgU90CsJpgwl+NTBmSzAsmk1HlFlcxYYqRAjVMBM+CnIXgB8N8U3aKK3KGkj6sEGzR8duIrGcNEl4gLbIrti3RhAn7zWcAFM2YNypY2vhpedS86d93eRefTK+8g41OmkmeCY5YhL+xe8NmcKG2XchiOhDkDVVK44NW7Or41X54GI3InQ5q/dzI2oPeYkv1oeU5inrSgttqMTatG9M1VQWMLCkxJwMQXCU4ToRzUBUyYIlrJOWEJzmHj23oqtDNICQ0coM3LLQzyRKjqlOI2RY0lh7IW5MHhmx/fvjv66fjnk2b0959/vX5UaLGhBpJ5dWFFnT+6156QfGS7rTbDwzkaR36o757x1S76ZsSP/7sZP7jp/F4nD73Op1GtEugMa8H163D1P9ThuglLabCxkGqZgEMsDU2JY0yKXFjg37MkX1AcOy8A4tHqCPW0n+LYo6c72+B/4mk4rS69W7fcONp5dW8gfft/ULvxD1BLAwQUAAIACADlColLqL2ioowBAAALBgAAHwAAAHVuaXZlcnNhbC9odG1sX3NraW5fc2V0dGluZ3MuanONlFFPwjAQx9/5FMt8NQRFBX0jAokJDyb6ZnzoxjEWurZpO2QSvru7TqDtOrH/F3r97X+7G719L6pXnMbRU7Q3v83+1d2bGGBsRaiCa/eAdh0UeBALCQqYJjrn7D0vgOYMYo/cIqllCafw4Uw0CfDUijHjnVRvGoSy7GIeeJtYBBxkIKZCD28D4Fcgtgs9/H0K9qyympKshiel1pz1U8503as+47Ighomv5mbZJXow34K8gK5ICo7pyKwu8ux4P0LZXMoLQVi14BnvJyTdZJKXbNmVf10JkPUX3zTA4HH0PHPsaK70i4bCTzwbo7pJ/Fcp+M37MEMFYUoSoJbvwKw/UMe4XZBHb3OV6yM9uUHZtCAZtLo0nqBcjNVel7vZcBp2uiGGtyiHoKQC2bIazlEOyEUp/pNS8gw70kLbPT+hlJNlzrKGmw5QQQ5fFm27uncu9G6Kip0rxL0rtA5dv6JrdPigCoDamUrHvMrLuwjZhWZiOHH3vArOofYo0f4owf1H9HlhgLoj99A7/ABQSwMEFAACAAgA5gqJS3jROIyhEgAA9yYAABcAAAB1bml2ZXJzYWwvdW5pdmVyc2FsLnBuZ+1aa1hTV7pGYUQcDY7WESwCDlRrVVCoYDAkIg6XokKlLVAxgaGIloZAIpeQW5U6dMZLENFgkew61eKFGhG5BEgCRQ0QIJQqUUISFJIIIYlkGza5TwJ2zjk/zjxnfpx//MjKs9fe7/ou6/ve73vW3n9LOBi9Ytm6ZU5OTitiY/YdcnJycXNycs5busQ+89dfRn+w/y0iHIre63S332vCfuGSFXEgwsmpjv57c/rv7NduuTEpBCcnWKfjt4iPu/mFk9PGs7H7Ij4pQqsl4WeuH5c8TuddAdq79j3c5xKcFDK4JoJ8ck3KJ3/c91nyw337Vu/8dP8n+5ITHrZ/sTpipcvqXx4ASoSIhyZoj+Akv/afeDpdUnJlonjiNtNTopqaZLqPxJb7xxYforyK9AmLGVQ3QLzfjQ2edbFPDq7O1vpu95egSbbD2wP6YnztT4bXaUw+tvKcTX4n/WPLT/h5uvlX98zdkcRELY6tCVoVY0eGll/YM3hrfpFzX/iXnfhg7nG7nAT7Q/b/8idzN8v9b9kXcEwcCp4DhrXSzGM+hShDd7wGTVI3GA1CmlUb538kch63ydSHoxKgczjyGEq2g/LeRPG8wGE1i2ZRSSCezdIaT365unWs/fWXi3+7W/yjlxG84UIqaWemJg3m2xVy6A5pWrUzAjek7gJ9CraoZvxTV5CzTDdZsnwFbbbTx0rRljM/mpM6EVWF2zvbs4U15W12v4JLrhQLxVywWnviWDIrNAgxHuK5Icj3C0TXTd8JuWDeF8l8rtuLDQauC3wU5w4RUGxEtdH6u8Oe7w8l+Xi4X19bdWGPXa+Wk/2Wjd8c9lwU9IHXB4y+fBBsC0rnWG7obpe0/Sli8Ez33GJHiAzul76ARJiOwhzMPRiMIMu3YCY86ji8OHnc2n7sY7o+bmPQhyODvOYypTmIYis1U8eFe3uAH/Ire7R9BSd6MjCsektUZU0AamjkaEOjpbXOyu4mND/S3kmfc8Xd5kjZprQtpU1elRowxew1qaTijwkjtuAE6QFQKxcgjJcRDxJr2bZUVCn7AgbYnZsaaajkbC19Th4BSUE+NjO8K2F737Ht8mKD/trHyifymh6+IsEAXsw77p1N7WUp49A6VdySv2X/ZhEfNgl3CX9Tr1HdcZ2BzcK/kq+scn4JH+uoC8QlCyh9WbX0S0oGf41YGdb5c9ufNijaqyPH27Cw88c5B5i/Flc1tLFSkSIA35p6mS5ANKbiYHfEEENRN3WJ/lxqAvApOa0U1K/GaU8Vf+KJWoSvPnugtAcLFtWk2p5FmJ/J2axULpKpxxo8FMLn1/CcZDF3m1D+jD+zbj4Ok6TGK9aurKOElcPe+3wG20Zolq3Tt/BlgkVbXYX6TJmS+126pVZ7TTdCkBFmBScJ4S4KJRtgk5GfEThdQkL18ZzVbCq1uvNVWE4vpY8yriOiif2GXZmjlQIQibdU8HejAF3jsy10aCAihH6cQmXT9QPVAvCZQpcayhDG5E7OiBVc2CUZa0T2gMviHDzCpL8w1vUIlWMV9O46/neCRp8mc/F6pi613/MfdzfPp6Ncnhbi+jrDtbm0omSkjR7pOpTxUxOqZvnymru7hSTTFUUb9vFpMqLRtRv+TjyhiogmNXW/ePMsHf/XKxWmlOiSis5ZBJDKXX+40e/hsPFZo5za2CQAq0oKmfziLilXm9iEEYDwmeRD0qSoa5tFQv42YSAKwMTXBAi1BwIEprOIRoOln6UMIZKYKqOp+Jh/Mg0HqkZs2zLnAi3ney9yo2ut8rnX9bGBrDb6pc7DOa3hXj5fwr7mD+/urdHfq/QRlWQM70YoKH3imZx6qAh/rF9MkCBY7APSRkqqWMwqBc1FU2P3kY0NHH6FbpfCohR2hq0ap/Rh+9mW4VTbwJ3dQVvH73Evq5RcRRqAryYiawLiweluMZ2zLBP96B7MX2W5bi6m5AR/KDk0n+BLPkcl0l6thAaCYL2mZPd8ZUVJSk6T98D5naVNGUL5QHoIrsqZRL0KxLPJpKJe03dNaslGhjxsM/047Cc2GlYHgg/Cv/1RP3Oc6+In5+t9eVjKV9li09U5/RKqhRVCQs/YVSi/Xy2CHUHJhZicegvhgkroEdSXEVsTAOi8+j3bdXnVfKZPk2NfTSOw8JrsecqV7FFlGZvsXntK/mPYEKMCSITVMJCN+nqQpKYowuRY8Pk4x1kpfbGDjpVeVuHc1WweMaUYphcLzUqk0jK1fh/Y2EY/TuXpMjTQMw+H6zwPNbqCiBn9U28DkcrD+6gsV0mm48zOmXoDaLrHASqacLbaWt4mu+eICM+luh0S2DIxvtVzdSN0sRFXFXit+cZbdq8oOQJD8NEt1jJ8pcDCn1lJvs2WvDf289lV8Cfq9XvARq8gUaSKrCDf5RUmILL8u/i5FABe1N8BZ7CAp8wSRRswIrx1wVduVbwm1errsFWL0noy+jMAVdbSLr4f77yaP/1E3SSv63W6eH6Fy2aIY6X2WoTa57cEYFZaAJCU2/t9EOogSELRA3lon8PUESuxOz/QUm9+Mp/KoYdgBfCHWHe8+2bXOq9x/K4q03l1hykZXtGnhq1Hul9SKUebuNpKRVplCbrWtbeCz6bUsqUzebV0bNTXbKHXVlGnwqtNJCBY4qJPEcW3ZHeI/Xf0VtCqrBvPw6LETAGY100nmPQGoMXy+d1Wbs9fKPvv6DOQY59qUPQM0wfnIhlCPtFi6QUeIf5qIN5F0cOhOo6W/JUyjKTdzZNy1cNvVf0Etpcw2oKDL1fmXirBabIvOX8Oy2J8yFr6rTqLJtxM31Q6XFfoww9ofZCf3LVoJ7TbueMB8kd1pjLEmU/B8S4rq/n3vW8mWr2+creQgHDUCROWjfUGb/TxJwcsQIs5AWweG9BSNOAARclG0FHB8W+JI1Je/w8ovEzpe0k4qRj9EPqDIV9KnViU03OSpFFtfnDehZ4SVck3by2gooLXYQXHyiCKTBP8DuesHD4yfGdp+Xw5uxa0vPek+apzwl3AebptcfolYQhQvNkM/ylwE21Z+ExMmalf2wcWr+m4hpeBq0zEg8GLJYWvYw3BYJmYt1UORyj4tsy3QZ8MP6tMYHaOouEefXH9oo998Td70/Ho02XCMGXaFZWCT57ZCVzjXiei3A1Tett9BES00j9GUhnU5Xa+5uWdcc2whM4bl5HpVBlpM370Nfy1MPNOG4VbEO46bvgxlyRaz0Y474k6PTIz0FF8F1DFFtfNtSPX390CbJZ6j0MwM9ggFwu3Kuv7PNfibwqzbBA6L7e3bTINLUXigD/sHTzztuCnlaJ3vC7D7a1MWvbFnq4XKIySeoy8a3wH5ufAibb5VFlx2Zm45CT8e+UeG8LeHVw7yDGOruO+yz2x4q1QLBLUBs+Wb3zbK33571ul8utH5ziVmQwKl3w0eE1j4q2eZ7O/Zf6r4/o/NWgf2qZ50f+m81M7+5hHXbX25tTprIt92ONpb2mdvg5a5ZjJ9HeMPTGOseKCY3zfb5F9tDd69vH7BcACYAGwAFgALAAWAAuABcACYAGwAFgALAAWAAuABcAC4P8DMOlcOHdoFmsD5s4my/13/mfHav6x8weRseXfvV2ggXTOxWYU8TTUmXpAwtEPHS7EWCaTtEjwirDthK5ZN6vbBRa958BoG5gTM/2JgfUIxexEPK34l5RAUR9WMUOCLO+M16EUcOjlhVEtzWaSrOW+Pi1xNd3vGesbu+yQflgbSDMI4kzd0jh5LUNJuJ2qvFWdEd+tfQEXWgYDvN2os50+GmQ744h30/W1opbPUHRbou7LDXaoQLApnpXp6yEzSSGrZQrGUE1JZm4JtHLQ+s3sI7+OxCMYXfN7nEpv05oYNo71R8f7VjSyTjf3SpVXw2xJVEsUn49Db4jUwamXF9K0EeFrytH7bWeSfIkNdp8MTuuW9XJs51uW1Ay39u3s1qrBnhjfiV9MmLbF3XdO27WHMVhHZCbczey82xxx6kVz02vQaHWxO5wulcr4fLs/r0MMxj8wYmjDs7CnUuzdA9ypUeIX/mVvXqktFPJyx7tamsh4wPTZnIQe1PTswFmXaCMI2MiQREuFNOdCpUVR0ssC/2rRbytmkZTVhQW21onhq19qQ0STdJp5jAfoLcXpfh2NhEDStwSBU9mO0adJGI5pWMQtgBRVOOSYXoThmZ7UIJ+qPH5//Ve7dIR8IHQIXkCz62DE0S2B+zn7DzYUVmXrB+z7EXNvArCZlZJsFmdog2+gAD6ubpJp8vGSkajBFzNWpHe57WMSJCl0l2oGxJGOsFNvsI2k55iGDuOeSgfKtHnbGbjAdwmGD6CdKBmapgGRMtSLT0hN8EzkEjF9DFFKvKoifC6/r1feIZqMeSPFr7QySvCqr4xDTdx8yCCkUQs9nl1UKULKYU0QlBdv5edaQtEigUIEjnnbQ46TxA2haHmM/p3Ag5TDvBPpWmBEUCjCuM+S5DxI0foa594BBhmu1g81AWNzci0etcItwg19WzBKkRifgjx63LKpQwlo+vkvBrCJUtuIAqkxWdzOusTRjL8CxkwX8YbRCjplKqMQZZ2ma6k2kwx8aH4VjWohyS8l7foT5i/ggN0T5zOwrCZrc7TdB+6o1MdeZYSB3vQiNBdZKvF0wy/tFyqN8FdCyn74Ujp5iAJj8czyQBtB0hYuXx0FNsY5trCm1q/D2KZI4613Uwyg8CnMJGbiuBJUVVzw5zFVwqJyejzVUpa06qwefrXqQtpmWdl2WUna7sXjobYknvFTuVIscKwqo0yfwYyEf6PTiXd7gLWljXa/eWUHyEx5dMexuZB3dHupAD7V//521zE1C0Qm5oRCO/pY/OWLPb0VWPC5Pn9X88NbMzmEj5hxMA3hJkD/M3U/OKIUqQiYPoLg+yDW1krx3UYfUJlOxQR0x9x7Y0/1Ft4Gwiy9dpc4MlPaiFaKZdYZSTTK+At0hF6Trk3orfcetsdtXi2brOWHOxLQKkMrh72TlblV9QnUcL8IKVPVyxJFWitM6wjPycc72s7SNDYuEI6yp8vBK/SONt2Gkggp8of2Av+uyu1Cwu6CXsoNNvATu5/cCzDigldtpeguAmTFax9Sac8ztLbTx/paoy8yqNf/nTgUKTaZdp3fydBa5jaIbxOrUlXXCrAwffCyWvlr0iRpVW+m3XLP9fh2NCYl95aDESoMHnbv33AijpRGnWoYKeCwPNcNIpTb/Dp+dGRXoqdbzq/Sa5VZ4Q84PPpYMsEgpZPsDn4zFfq8lQW/p8i9CiiDLXCoVx68avw+8dN2Mu/Ujp9w74LvubIpmlAJFLfi5dtMMBjM2Ys8gxXTOdGnUmkcS6U28l6PuFFUBUGI6FPmlOYP/ToGpYx3x0OppJu94iHVLL6kBvvf3KrWD/lAdhqfSC9V5022h/lFUHtPhrIWd70o1F5yUak/Cw7opbsboigOftmsillpaP6RaGL7dYwEsHwrk96plS3NQzyO2a41ldsD31CzHOLmvQikTp+xeb0Pgmq54fFpwDSiZMKLdCemfvNoc5ZVePTzwCqMcN5wtHv4MXTQqnERfO0N/fcIOTZj/WJFyMSAaAJQvTUUVBH/3P5gvRv+uTFVJBhShmJa7lnulxBpwmz/SohyPOrUDZlFU1jI4hong53b4Uh7yskso66oZ+Ff6/AmNY7WSnpfwes3tBJuq2WPMnSooyCKS2L4FJMc1nNgnOuW1BpYrfiCr2LNIsKsJJtEA2WUUu5BW+qc6eCOZFmILG4DNvoUlv3VkpP5Xil20qDIH4Febo0lj9/zdAuhTMRhWkgWvaiQ/3U4OyfHbyKXRPOhd9tu9hlb8qesDlNlMAv0ZOcclT9fHgJNnD7nEvgz3GLXTwVt7GKsnDq3eOx/MiVyieMrIrHxijW7wFEk7uifwiB78iTCLAarC2CZytJKyWAftMIFYy+2pkw39vmTe8Ik/yofUBlu6ewnc0z/PoabKwsMrnRUCD2LRoEev4t7A0SlyrHs/YPE/yooBoart87ixjzliOZ1fdCeopi5kmR7aavQIe1mPJBJUezCA3N0D/bv1ppNz5Fb/U5ejw7ErG2ACnXE4lcitOO7FZLtjG0j6eO5B3UI2+FZexm/xd3/KMvzxlpRBu/hNqgaclTisXA6Da3NvMjqRD01xq9AV0XaXMYorUX+RbdVF4VBHwU2kilPMszAIQ1IJKsv2UvrthPnZMDo1XppA/fvL3cgUwqmY16/Y0swbP3Bf47dkR34bZEd7CxOtle0juw9djFzLd1log7pN+tBvvyxoz9hqjdXT8DYb2oLVwiJCHuLgX7b8LRw/9NO539rlSZsra0m1LfvnHZ+eazW8YmbU+yfD+67uzft1D8BUEsDBBQAAgAIAOYKiUu2gi+oTQAAAGsAAAAbAAAAdW5pdmVyc2FsL3VuaXZlcnNhbC5wbmcueG1ss7GvyM1RKEstKs7Mz7NVMtQzULK34+WyKShKLctMLVeoAIoZ6RlAgJJCpa2SGRK3PDOlJAOowsDAEiGYkZqZnlFiq2Ruag4X1AeaCQBQSwMEFAACAAgALJ1DSw3AMR7AAQAA2gMAAA8AAABub25lL3BsYXllci54bWylkk9v1DAQxc9bqd8h8r12lgpRrRx6QMqJokoLiNvKm0wTU8cOngm7++2Z/NmkW5BA4pBo8jLvZ8+z9f2xcclPiGiDz8RapiIBX4TS+ioTXz7nN3fi/v31lW6dOUFMbJkJHzyIpAQsom2JfY+G6ky8ECRDRcIvj5sj2kzURO1GqcPhIA+3MsRKvUnTtfr28HFb1NCYG+uRjC+Yu+zlViRttCFaOmXiXSqur1YD8gJnkXt8hcF1/cooi9CoNgKCJ4hq3PZs3dDfzfw0wSs6tYCCR18Ns+9N8fwQys4B9tpKj21bIOoJg7bStLHrO59gLDIxNuwaQDQVoHS+Emr0qj+Y9ZMzWE8cvMD23LbbO4s1iyN96N4t6u5sGbJXE0ddgnQzTDCcYt45l4OhLkIpkgg/OstV3mO/zkeQrsW4nOfuHT5bL/FQsMZVbgoK8fSBHXwkU5Ryjl6O0cvB1NuH4hMXj1Oc2wUyB7OEoGtq3Nt/zqPv/p84SngynSNxXsH6Eo655b8EDY9CwDP2mqTWyX61M5V31+2bF1fjQhp3N2XxHUVCJlbA17A0ZNSizzD1mqbV+DklNMei1e/3Uk9ELn8BUEsBAgAAFAACAAgARJRXRyO0Tvv7AgAAsAgAABQAAAAAAAAAAQAAAAAAAAAAAHVuaXZlcnNhbC9wbGF5ZXIueG1sUEsBAgAAFAACAAgA5QqJS4uE7NHNBAAAXxIAAB0AAAAAAAAAAQAAAAAALQMAAHVuaXZlcnNhbC9jb21tb25fbWVzc2FnZXMubG5nUEsBAgAAFAACAAgA5QqJS7F1OlyYAwAAwQ0AACcAAAAAAAAAAQAAAAAANQgAAHVuaXZlcnNhbC9mbGFzaF9wdWJsaXNoaW5nX3NldHRpbmdzLnhtbFBLAQIAABQAAgAIAOUKiUt6CqCyzwIAAIcKAAAhAAAAAAAAAAEAAAAAABIMAAB1bml2ZXJzYWwvZmxhc2hfc2tpbl9zZXR0aW5ncy54bWxQSwECAAAUAAIACADlColLeEe0uYQDAABSDQAAJgAAAAAAAAABAAAAAAAgDwAAdW5pdmVyc2FsL2h0bWxfcHVibGlzaGluZ19zZXR0aW5ncy54bWxQSwECAAAUAAIACADlColLqL2ioowBAAALBgAAHwAAAAAAAAABAAAAAADoEgAAdW5pdmVyc2FsL2h0bWxfc2tpbl9zZXR0aW5ncy5qc1BLAQIAABQAAgAIAOYKiUt40TiMoRIAAPcmAAAXAAAAAAAAAAAAAAAAALEUAAB1bml2ZXJzYWwvdW5pdmVyc2FsLnBuZ1BLAQIAABQAAgAIAOYKiUu2gi+oTQAAAGsAAAAbAAAAAAAAAAEAAAAAAIcnAAB1bml2ZXJzYWwvdW5pdmVyc2FsLnBuZy54bWxQSwECAAAUAAIACAAsnUNLDcAxHsABAADaAwAADwAAAAAAAAABAAAAAAANKAAAbm9uZS9wbGF5ZXIueG1sUEsFBgAAAAAJAAkAnQIAAPopAAAAAA=="/>
  <p:tag name="ISPRING_SCORM_RATE_QUIZZES" val="0"/>
  <p:tag name="ISPRING_PRESENTATION_TITLE" val="2018微立体总结PPT模板（1）"/>
  <p:tag name="COMMONDATA" val="eyJoZGlkIjoiY2UxMWJlOTJhNjVkNzZhYjRlZTU5MjUxM2EyMDYzN2MifQ=="/>
</p:tagLst>
</file>

<file path=ppt/theme/theme1.xml><?xml version="1.0" encoding="utf-8"?>
<a:theme xmlns:a="http://schemas.openxmlformats.org/drawingml/2006/main" name="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13018</Words>
  <Application>WPS 演示</Application>
  <PresentationFormat>宽屏</PresentationFormat>
  <Paragraphs>625</Paragraphs>
  <Slides>79</Slides>
  <Notes>18</Notes>
  <HiddenSlides>0</HiddenSlides>
  <MMClips>0</MMClips>
  <ScaleCrop>false</ScaleCrop>
  <HeadingPairs>
    <vt:vector size="8" baseType="variant">
      <vt:variant>
        <vt:lpstr>已用的字体</vt:lpstr>
      </vt:variant>
      <vt:variant>
        <vt:i4>25</vt:i4>
      </vt:variant>
      <vt:variant>
        <vt:lpstr>主题</vt:lpstr>
      </vt:variant>
      <vt:variant>
        <vt:i4>2</vt:i4>
      </vt:variant>
      <vt:variant>
        <vt:lpstr>嵌入 OLE 服务器</vt:lpstr>
      </vt:variant>
      <vt:variant>
        <vt:i4>4</vt:i4>
      </vt:variant>
      <vt:variant>
        <vt:lpstr>幻灯片标题</vt:lpstr>
      </vt:variant>
      <vt:variant>
        <vt:i4>79</vt:i4>
      </vt:variant>
    </vt:vector>
  </HeadingPairs>
  <TitlesOfParts>
    <vt:vector size="110" baseType="lpstr">
      <vt:lpstr>Arial</vt:lpstr>
      <vt:lpstr>宋体</vt:lpstr>
      <vt:lpstr>Wingdings</vt:lpstr>
      <vt:lpstr>Verdana</vt:lpstr>
      <vt:lpstr>微软雅黑</vt:lpstr>
      <vt:lpstr>Calibri</vt:lpstr>
      <vt:lpstr>Microsoft Sans Serif</vt:lpstr>
      <vt:lpstr>华文楷体</vt:lpstr>
      <vt:lpstr>Noto Sans S Chinese Medium</vt:lpstr>
      <vt:lpstr>Century Gothic</vt:lpstr>
      <vt:lpstr>Noto Sans S Chinese Regular</vt:lpstr>
      <vt:lpstr>Cambria</vt:lpstr>
      <vt:lpstr>Wingdings</vt:lpstr>
      <vt:lpstr>Cambria Math</vt:lpstr>
      <vt:lpstr>楷体_GB2312</vt:lpstr>
      <vt:lpstr>新宋体</vt:lpstr>
      <vt:lpstr>Times New Roman</vt:lpstr>
      <vt:lpstr>黑体</vt:lpstr>
      <vt:lpstr>Calibri Light</vt:lpstr>
      <vt:lpstr>Arial Unicode MS</vt:lpstr>
      <vt:lpstr>Arial</vt:lpstr>
      <vt:lpstr>Calibri Light</vt:lpstr>
      <vt:lpstr>微软雅黑 Light</vt:lpstr>
      <vt:lpstr>Calibri</vt:lpstr>
      <vt:lpstr>Consolas</vt:lpstr>
      <vt:lpstr>第一PPT，www.1ppt.com</vt:lpstr>
      <vt:lpstr>1_第一PPT，www.1ppt.com</vt:lpstr>
      <vt:lpstr>Visio.Drawing.15</vt:lpstr>
      <vt:lpstr>Visio.Drawing.15</vt:lpstr>
      <vt:lpstr>Visio.Drawing.15</vt:lpstr>
      <vt:lpstr>Equation.DSMT4</vt:lpstr>
      <vt:lpstr>PowerPoint 演示文稿</vt:lpstr>
      <vt:lpstr>PowerPoint 演示文稿</vt:lpstr>
      <vt:lpstr>PowerPoint 演示文稿</vt:lpstr>
      <vt:lpstr>算法概述</vt:lpstr>
      <vt:lpstr>算法概述</vt:lpstr>
      <vt:lpstr>算法概述</vt:lpstr>
      <vt:lpstr>PowerPoint 演示文稿</vt:lpstr>
      <vt:lpstr>PowerPoint 演示文稿</vt:lpstr>
      <vt:lpstr>线性分类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硬间隔分类的缺点</vt:lpstr>
      <vt:lpstr>PowerPoint 演示文稿</vt:lpstr>
      <vt:lpstr>PowerPoint 演示文稿</vt:lpstr>
      <vt:lpstr>线性可分支持向量机的程序流程图</vt:lpstr>
      <vt:lpstr>SVM的算法步骤</vt:lpstr>
      <vt:lpstr>线性支持向量机</vt:lpstr>
      <vt:lpstr>线性支持向量机</vt:lpstr>
      <vt:lpstr>PowerPoint 演示文稿</vt:lpstr>
      <vt:lpstr> 利用Sklearn的datasets模块生成数据集</vt:lpstr>
      <vt:lpstr>make_blobs</vt:lpstr>
      <vt:lpstr>make_blobs参数说明</vt:lpstr>
      <vt:lpstr>其他生成数据集的方法</vt:lpstr>
      <vt:lpstr>线性支持向量机</vt:lpstr>
      <vt:lpstr>线性支持向量机</vt:lpstr>
      <vt:lpstr>线性支持向量机</vt:lpstr>
      <vt:lpstr>PowerPoint 演示文稿</vt:lpstr>
      <vt:lpstr>PowerPoint 演示文稿</vt:lpstr>
      <vt:lpstr>非线性分类问题</vt:lpstr>
      <vt:lpstr>PowerPoint 演示文稿</vt:lpstr>
      <vt:lpstr>PowerPoint 演示文稿</vt:lpstr>
      <vt:lpstr>PowerPoint 演示文稿</vt:lpstr>
      <vt:lpstr>非线性支持向量机</vt:lpstr>
      <vt:lpstr>PowerPoint 演示文稿</vt:lpstr>
      <vt:lpstr>PowerPoint 演示文稿</vt:lpstr>
      <vt:lpstr>PowerPoint 演示文稿</vt:lpstr>
      <vt:lpstr>核函数</vt:lpstr>
      <vt:lpstr>核函数</vt:lpstr>
      <vt:lpstr>PowerPoint 演示文稿</vt:lpstr>
      <vt:lpstr>PowerPoint 演示文稿</vt:lpstr>
      <vt:lpstr>PowerPoint 演示文稿</vt:lpstr>
      <vt:lpstr>PowerPoint 演示文稿</vt:lpstr>
      <vt:lpstr>非线性支持向量机的程序流程图</vt:lpstr>
      <vt:lpstr>实现及参数</vt:lpstr>
      <vt:lpstr>实现及参数</vt:lpstr>
      <vt:lpstr>实现及参数</vt:lpstr>
      <vt:lpstr>PowerPoint 演示文稿</vt:lpstr>
      <vt:lpstr>PowerPoint 演示文稿</vt:lpstr>
      <vt:lpstr>SVM算法实例</vt:lpstr>
      <vt:lpstr>SVM算法实例的主要代码</vt:lpstr>
      <vt:lpstr>SVM算法实例的实验结果</vt:lpstr>
      <vt:lpstr>SVM算法实例</vt:lpstr>
      <vt:lpstr>PowerPoint 演示文稿</vt:lpstr>
      <vt:lpstr>SVM算法的应用</vt:lpstr>
      <vt:lpstr>SVM算法应用的主要代码</vt:lpstr>
      <vt:lpstr>SVM算法应用的主要代码</vt:lpstr>
      <vt:lpstr>SVM算法应用的实验结果</vt:lpstr>
      <vt:lpstr>PowerPoint 演示文稿</vt:lpstr>
      <vt:lpstr>SVM算法的改进与优化</vt:lpstr>
      <vt:lpstr>SVM算法的改进与优化</vt:lpstr>
      <vt:lpstr>本章小结</vt:lpstr>
      <vt:lpstr>上机练习</vt:lpstr>
      <vt:lpstr>上机练习</vt:lpstr>
    </vt:vector>
  </TitlesOfParts>
  <Company>tyut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MOOC</dc:title>
  <dc:creator>CZ</dc:creator>
  <cp:lastModifiedBy>难得糊涂</cp:lastModifiedBy>
  <cp:revision>442</cp:revision>
  <dcterms:created xsi:type="dcterms:W3CDTF">2017-11-09T06:06:00Z</dcterms:created>
  <dcterms:modified xsi:type="dcterms:W3CDTF">2025-04-13T13:30:43Z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27C409318ABB45B1B45D6692D9AC03CD</vt:lpwstr>
  </property>
  <property fmtid="{D5CDD505-2E9C-101B-9397-08002B2CF9AE}" pid="3" name="KSOProductBuildVer">
    <vt:lpwstr>2052-12.1.0.20784</vt:lpwstr>
  </property>
</Properties>
</file>