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gif" ContentType="image/gif"/>
  <Default Extension="wmf" ContentType="image/x-wmf"/>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96"/>
  </p:handoutMasterIdLst>
  <p:sldIdLst>
    <p:sldId id="256" r:id="rId3"/>
    <p:sldId id="667" r:id="rId5"/>
    <p:sldId id="259" r:id="rId6"/>
    <p:sldId id="430" r:id="rId7"/>
    <p:sldId id="413" r:id="rId8"/>
    <p:sldId id="431" r:id="rId9"/>
    <p:sldId id="421" r:id="rId10"/>
    <p:sldId id="454" r:id="rId11"/>
    <p:sldId id="422" r:id="rId12"/>
    <p:sldId id="390" r:id="rId13"/>
    <p:sldId id="391" r:id="rId14"/>
    <p:sldId id="392" r:id="rId15"/>
    <p:sldId id="393" r:id="rId16"/>
    <p:sldId id="349" r:id="rId17"/>
    <p:sldId id="350" r:id="rId18"/>
    <p:sldId id="351" r:id="rId19"/>
    <p:sldId id="656" r:id="rId20"/>
    <p:sldId id="553" r:id="rId21"/>
    <p:sldId id="554" r:id="rId22"/>
    <p:sldId id="555" r:id="rId23"/>
    <p:sldId id="556" r:id="rId24"/>
    <p:sldId id="557" r:id="rId25"/>
    <p:sldId id="627" r:id="rId26"/>
    <p:sldId id="635" r:id="rId27"/>
    <p:sldId id="636" r:id="rId28"/>
    <p:sldId id="637" r:id="rId29"/>
    <p:sldId id="638" r:id="rId30"/>
    <p:sldId id="639" r:id="rId31"/>
    <p:sldId id="640" r:id="rId32"/>
    <p:sldId id="641" r:id="rId33"/>
    <p:sldId id="642" r:id="rId34"/>
    <p:sldId id="643" r:id="rId35"/>
    <p:sldId id="644" r:id="rId36"/>
    <p:sldId id="645" r:id="rId37"/>
    <p:sldId id="634" r:id="rId38"/>
    <p:sldId id="628" r:id="rId39"/>
    <p:sldId id="657" r:id="rId40"/>
    <p:sldId id="388" r:id="rId41"/>
    <p:sldId id="389" r:id="rId42"/>
    <p:sldId id="432" r:id="rId43"/>
    <p:sldId id="433" r:id="rId44"/>
    <p:sldId id="434" r:id="rId45"/>
    <p:sldId id="435" r:id="rId46"/>
    <p:sldId id="436" r:id="rId47"/>
    <p:sldId id="437" r:id="rId48"/>
    <p:sldId id="438" r:id="rId49"/>
    <p:sldId id="439" r:id="rId50"/>
    <p:sldId id="440" r:id="rId51"/>
    <p:sldId id="647" r:id="rId52"/>
    <p:sldId id="448" r:id="rId53"/>
    <p:sldId id="449" r:id="rId54"/>
    <p:sldId id="451" r:id="rId55"/>
    <p:sldId id="452" r:id="rId56"/>
    <p:sldId id="453" r:id="rId57"/>
    <p:sldId id="442" r:id="rId58"/>
    <p:sldId id="443" r:id="rId59"/>
    <p:sldId id="444" r:id="rId60"/>
    <p:sldId id="441" r:id="rId61"/>
    <p:sldId id="648" r:id="rId62"/>
    <p:sldId id="649" r:id="rId63"/>
    <p:sldId id="650" r:id="rId64"/>
    <p:sldId id="651" r:id="rId65"/>
    <p:sldId id="658" r:id="rId66"/>
    <p:sldId id="659" r:id="rId67"/>
    <p:sldId id="652" r:id="rId68"/>
    <p:sldId id="497" r:id="rId69"/>
    <p:sldId id="498" r:id="rId70"/>
    <p:sldId id="499" r:id="rId71"/>
    <p:sldId id="500" r:id="rId72"/>
    <p:sldId id="501" r:id="rId73"/>
    <p:sldId id="653" r:id="rId74"/>
    <p:sldId id="654" r:id="rId75"/>
    <p:sldId id="655" r:id="rId76"/>
    <p:sldId id="503" r:id="rId77"/>
    <p:sldId id="504" r:id="rId78"/>
    <p:sldId id="505" r:id="rId79"/>
    <p:sldId id="506" r:id="rId80"/>
    <p:sldId id="507" r:id="rId81"/>
    <p:sldId id="508" r:id="rId82"/>
    <p:sldId id="509" r:id="rId83"/>
    <p:sldId id="483" r:id="rId84"/>
    <p:sldId id="486" r:id="rId85"/>
    <p:sldId id="487" r:id="rId86"/>
    <p:sldId id="488" r:id="rId87"/>
    <p:sldId id="489" r:id="rId88"/>
    <p:sldId id="660" r:id="rId89"/>
    <p:sldId id="661" r:id="rId90"/>
    <p:sldId id="662" r:id="rId91"/>
    <p:sldId id="663" r:id="rId92"/>
    <p:sldId id="664" r:id="rId93"/>
    <p:sldId id="665" r:id="rId94"/>
    <p:sldId id="305" r:id="rId95"/>
  </p:sldIdLst>
  <p:sldSz cx="12192000" cy="6858000"/>
  <p:notesSz cx="6858000" cy="9144000"/>
  <p:custDataLst>
    <p:tags r:id="rId10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9" userDrawn="1">
          <p15:clr>
            <a:srgbClr val="A4A3A4"/>
          </p15:clr>
        </p15:guide>
        <p15:guide id="2" pos="3840" userDrawn="1">
          <p15:clr>
            <a:srgbClr val="A4A3A4"/>
          </p15:clr>
        </p15:guide>
        <p15:guide id="3" pos="642" userDrawn="1">
          <p15:clr>
            <a:srgbClr val="A4A3A4"/>
          </p15:clr>
        </p15:guide>
        <p15:guide id="4" pos="7078" userDrawn="1">
          <p15:clr>
            <a:srgbClr val="A4A3A4"/>
          </p15:clr>
        </p15:guide>
        <p15:guide id="5" orient="horz" pos="3780" userDrawn="1">
          <p15:clr>
            <a:srgbClr val="A4A3A4"/>
          </p15:clr>
        </p15:guide>
        <p15:guide id="6" orient="horz" pos="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A5A5A5"/>
    <a:srgbClr val="5F5F5F"/>
    <a:srgbClr val="606060"/>
    <a:srgbClr val="FEA205"/>
    <a:srgbClr val="E9EBEC"/>
    <a:srgbClr val="EAECED"/>
    <a:srgbClr val="E8EBEC"/>
    <a:srgbClr val="E3E6E7"/>
    <a:srgbClr val="F69E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10" autoAdjust="0"/>
    <p:restoredTop sz="69103" autoAdjust="0"/>
  </p:normalViewPr>
  <p:slideViewPr>
    <p:cSldViewPr snapToGrid="0" showGuides="1">
      <p:cViewPr>
        <p:scale>
          <a:sx n="66" d="100"/>
          <a:sy n="66" d="100"/>
        </p:scale>
        <p:origin x="789" y="-113"/>
      </p:cViewPr>
      <p:guideLst>
        <p:guide orient="horz" pos="2109"/>
        <p:guide pos="3840"/>
        <p:guide pos="642"/>
        <p:guide pos="7078"/>
        <p:guide orient="horz" pos="3780"/>
        <p:guide orient="horz" pos="863"/>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46" d="100"/>
          <a:sy n="46" d="100"/>
        </p:scale>
        <p:origin x="2316" y="6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handoutMaster" Target="handoutMasters/handoutMaster1.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0" Type="http://schemas.openxmlformats.org/officeDocument/2006/relationships/tags" Target="tags/tag19.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26.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5C123-D6CD-4046-9E13-CA7186604EF0}"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89000D-5344-416A-A6D3-78D1717783E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26DC34-D585-42D5-89F7-991AD639A88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8600" y="630237"/>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2743B-58E3-4952-98AC-60B7F33057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228600" y="630238"/>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smtClean="0"/>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18" charset="0"/>
                <a:ea typeface="宋体" panose="02010600030101010101" pitchFamily="2" charset="-122"/>
              </a:defRPr>
            </a:lvl1pPr>
            <a:lvl2pPr marL="742950" indent="-285750">
              <a:defRPr kumimoji="1">
                <a:solidFill>
                  <a:schemeClr val="tx1"/>
                </a:solidFill>
                <a:latin typeface="Calibri" panose="020F0502020204030204" pitchFamily="18" charset="0"/>
                <a:ea typeface="宋体" panose="02010600030101010101" pitchFamily="2" charset="-122"/>
              </a:defRPr>
            </a:lvl2pPr>
            <a:lvl3pPr marL="1143000" indent="-228600">
              <a:defRPr kumimoji="1">
                <a:solidFill>
                  <a:schemeClr val="tx1"/>
                </a:solidFill>
                <a:latin typeface="Calibri" panose="020F0502020204030204" pitchFamily="18" charset="0"/>
                <a:ea typeface="宋体" panose="02010600030101010101" pitchFamily="2" charset="-122"/>
              </a:defRPr>
            </a:lvl3pPr>
            <a:lvl4pPr marL="1600200" indent="-228600">
              <a:defRPr kumimoji="1">
                <a:solidFill>
                  <a:schemeClr val="tx1"/>
                </a:solidFill>
                <a:latin typeface="Calibri" panose="020F0502020204030204" pitchFamily="18" charset="0"/>
                <a:ea typeface="宋体" panose="02010600030101010101" pitchFamily="2" charset="-122"/>
              </a:defRPr>
            </a:lvl4pPr>
            <a:lvl5pPr marL="2057400" indent="-228600">
              <a:defRPr kumimoji="1">
                <a:solidFill>
                  <a:schemeClr val="tx1"/>
                </a:solidFill>
                <a:latin typeface="Calibri" panose="020F0502020204030204" pitchFamily="18"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18"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18"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18"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18" charset="0"/>
                <a:ea typeface="宋体" panose="02010600030101010101" pitchFamily="2" charset="-122"/>
              </a:defRPr>
            </a:lvl9pPr>
          </a:lstStyle>
          <a:p>
            <a:fld id="{EE54F37F-5E21-4447-9EEF-AAF683DCA89E}" type="slidenum">
              <a:rPr lang="zh-CN" altLang="en-US" smtClean="0"/>
            </a:fld>
            <a:endParaRPr lang="zh-CN" alt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6ECC7FE-8AFF-4E6B-82D5-3C265513432D}"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6ECC7FE-8AFF-4E6B-82D5-3C265513432D}"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endParaRPr lang="zh-CN" altLang="en-US"/>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内容页">
    <p:spTree>
      <p:nvGrpSpPr>
        <p:cNvPr id="1" name=""/>
        <p:cNvGrpSpPr/>
        <p:nvPr/>
      </p:nvGrpSpPr>
      <p:grpSpPr>
        <a:xfrm>
          <a:off x="0" y="0"/>
          <a:ext cx="0" cy="0"/>
          <a:chOff x="0" y="0"/>
          <a:chExt cx="0" cy="0"/>
        </a:xfrm>
      </p:grpSpPr>
      <p:sp>
        <p:nvSpPr>
          <p:cNvPr id="6" name="Rectangle 12"/>
          <p:cNvSpPr>
            <a:spLocks noChangeArrowheads="1"/>
          </p:cNvSpPr>
          <p:nvPr/>
        </p:nvSpPr>
        <p:spPr bwMode="auto">
          <a:xfrm>
            <a:off x="9937750" y="6392863"/>
            <a:ext cx="5715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900">
                <a:solidFill>
                  <a:srgbClr val="000000"/>
                </a:solidFill>
                <a:latin typeface="Arial" panose="020B0604020202020204" pitchFamily="34" charset="0"/>
                <a:ea typeface="宋体" panose="02010600030101010101" pitchFamily="2" charset="-122"/>
              </a:defRPr>
            </a:lvl1pPr>
            <a:lvl2pPr marL="742950" indent="-285750">
              <a:defRPr kumimoji="1" sz="900">
                <a:solidFill>
                  <a:srgbClr val="000000"/>
                </a:solidFill>
                <a:latin typeface="Arial" panose="020B0604020202020204" pitchFamily="34" charset="0"/>
                <a:ea typeface="宋体" panose="02010600030101010101" pitchFamily="2" charset="-122"/>
              </a:defRPr>
            </a:lvl2pPr>
            <a:lvl3pPr marL="1143000" indent="-228600">
              <a:defRPr kumimoji="1" sz="900">
                <a:solidFill>
                  <a:srgbClr val="000000"/>
                </a:solidFill>
                <a:latin typeface="Arial" panose="020B0604020202020204" pitchFamily="34" charset="0"/>
                <a:ea typeface="宋体" panose="02010600030101010101" pitchFamily="2" charset="-122"/>
              </a:defRPr>
            </a:lvl3pPr>
            <a:lvl4pPr marL="1600200" indent="-228600">
              <a:defRPr kumimoji="1" sz="900">
                <a:solidFill>
                  <a:srgbClr val="000000"/>
                </a:solidFill>
                <a:latin typeface="Arial" panose="020B0604020202020204" pitchFamily="34" charset="0"/>
                <a:ea typeface="宋体" panose="02010600030101010101" pitchFamily="2" charset="-122"/>
              </a:defRPr>
            </a:lvl4pPr>
            <a:lvl5pPr marL="2057400" indent="-228600">
              <a:defRPr kumimoji="1"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900">
                <a:solidFill>
                  <a:srgbClr val="000000"/>
                </a:solidFill>
                <a:latin typeface="Arial" panose="020B0604020202020204" pitchFamily="34" charset="0"/>
                <a:ea typeface="宋体" panose="02010600030101010101" pitchFamily="2" charset="-122"/>
              </a:defRPr>
            </a:lvl9pPr>
          </a:lstStyle>
          <a:p>
            <a:pPr algn="ctr" eaLnBrk="1" hangingPunct="1">
              <a:defRPr/>
            </a:pPr>
            <a:r>
              <a:rPr kumimoji="0" lang="en-US" altLang="zh-CN" sz="1050" dirty="0">
                <a:solidFill>
                  <a:srgbClr val="7F7F7F"/>
                </a:solidFill>
                <a:cs typeface="Arial" panose="020B0604020202020204" pitchFamily="34" charset="0"/>
              </a:rPr>
              <a:t> </a:t>
            </a:r>
            <a:fld id="{BF5A7633-5557-4BC5-8B38-B33A9D9F18A1}" type="slidenum">
              <a:rPr kumimoji="0" lang="en-US" altLang="zh-CN" sz="1050" smtClean="0">
                <a:solidFill>
                  <a:schemeClr val="bg1"/>
                </a:solidFill>
                <a:cs typeface="Arial" panose="020B0604020202020204" pitchFamily="34" charset="0"/>
              </a:rPr>
            </a:fld>
            <a:endParaRPr kumimoji="0" lang="en-US" altLang="zh-CN" sz="1050" dirty="0">
              <a:solidFill>
                <a:schemeClr val="bg1"/>
              </a:solidFill>
              <a:cs typeface="Arial" panose="020B0604020202020204" pitchFamily="34" charset="0"/>
            </a:endParaRPr>
          </a:p>
        </p:txBody>
      </p:sp>
      <p:cxnSp>
        <p:nvCxnSpPr>
          <p:cNvPr id="7" name="直接连接符 19"/>
          <p:cNvCxnSpPr>
            <a:stCxn id="6" idx="3"/>
          </p:cNvCxnSpPr>
          <p:nvPr/>
        </p:nvCxnSpPr>
        <p:spPr>
          <a:xfrm>
            <a:off x="10509251" y="6508750"/>
            <a:ext cx="1019176" cy="0"/>
          </a:xfrm>
          <a:prstGeom prst="line">
            <a:avLst/>
          </a:prstGeom>
          <a:ln w="9525">
            <a:solidFill>
              <a:srgbClr val="FFA20D"/>
            </a:solidFill>
          </a:ln>
        </p:spPr>
        <p:style>
          <a:lnRef idx="1">
            <a:schemeClr val="accent1"/>
          </a:lnRef>
          <a:fillRef idx="0">
            <a:schemeClr val="accent1"/>
          </a:fillRef>
          <a:effectRef idx="0">
            <a:schemeClr val="accent1"/>
          </a:effectRef>
          <a:fontRef idx="minor">
            <a:schemeClr val="tx1"/>
          </a:fontRef>
        </p:style>
      </p:cxnSp>
      <p:cxnSp>
        <p:nvCxnSpPr>
          <p:cNvPr id="9" name="直接连接符 14"/>
          <p:cNvCxnSpPr/>
          <p:nvPr/>
        </p:nvCxnSpPr>
        <p:spPr>
          <a:xfrm flipV="1">
            <a:off x="3719514" y="6508750"/>
            <a:ext cx="6218237" cy="0"/>
          </a:xfrm>
          <a:prstGeom prst="line">
            <a:avLst/>
          </a:prstGeom>
          <a:ln>
            <a:solidFill>
              <a:srgbClr val="105BCA"/>
            </a:solidFill>
          </a:ln>
        </p:spPr>
        <p:style>
          <a:lnRef idx="1">
            <a:schemeClr val="accent1"/>
          </a:lnRef>
          <a:fillRef idx="0">
            <a:schemeClr val="accent1"/>
          </a:fillRef>
          <a:effectRef idx="0">
            <a:schemeClr val="accent1"/>
          </a:effectRef>
          <a:fontRef idx="minor">
            <a:schemeClr val="tx1"/>
          </a:fontRef>
        </p:style>
      </p:cxnSp>
      <p:sp>
        <p:nvSpPr>
          <p:cNvPr id="10" name="AutoShape 23"/>
          <p:cNvSpPr>
            <a:spLocks noChangeArrowheads="1"/>
          </p:cNvSpPr>
          <p:nvPr/>
        </p:nvSpPr>
        <p:spPr bwMode="auto">
          <a:xfrm>
            <a:off x="246064" y="915989"/>
            <a:ext cx="9596437" cy="46037"/>
          </a:xfrm>
          <a:prstGeom prst="rect">
            <a:avLst/>
          </a:prstGeom>
          <a:solidFill>
            <a:srgbClr val="105BCA"/>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sp>
        <p:nvSpPr>
          <p:cNvPr id="11" name="AutoShape 23"/>
          <p:cNvSpPr>
            <a:spLocks noChangeArrowheads="1"/>
          </p:cNvSpPr>
          <p:nvPr/>
        </p:nvSpPr>
        <p:spPr bwMode="auto">
          <a:xfrm>
            <a:off x="9842500" y="915988"/>
            <a:ext cx="1989138" cy="72000"/>
          </a:xfrm>
          <a:prstGeom prst="rect">
            <a:avLst/>
          </a:prstGeom>
          <a:solidFill>
            <a:srgbClr val="FFA20D"/>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715"/>
          </a:p>
        </p:txBody>
      </p:sp>
      <p:cxnSp>
        <p:nvCxnSpPr>
          <p:cNvPr id="13" name="直接连接符 19"/>
          <p:cNvCxnSpPr/>
          <p:nvPr/>
        </p:nvCxnSpPr>
        <p:spPr>
          <a:xfrm>
            <a:off x="10509251" y="6508750"/>
            <a:ext cx="1019176"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3719514" y="6508750"/>
            <a:ext cx="6218237" cy="0"/>
          </a:xfrm>
          <a:prstGeom prst="line">
            <a:avLst/>
          </a:prstGeom>
          <a:ln>
            <a:solidFill>
              <a:srgbClr val="006EBC"/>
            </a:solidFill>
          </a:ln>
        </p:spPr>
        <p:style>
          <a:lnRef idx="1">
            <a:schemeClr val="accent1"/>
          </a:lnRef>
          <a:fillRef idx="0">
            <a:schemeClr val="accent1"/>
          </a:fillRef>
          <a:effectRef idx="0">
            <a:schemeClr val="accent1"/>
          </a:effectRef>
          <a:fontRef idx="minor">
            <a:schemeClr val="tx1"/>
          </a:fontRef>
        </p:style>
      </p:cxnSp>
      <p:sp>
        <p:nvSpPr>
          <p:cNvPr id="16" name="AutoShape 23"/>
          <p:cNvSpPr>
            <a:spLocks noChangeArrowheads="1"/>
          </p:cNvSpPr>
          <p:nvPr/>
        </p:nvSpPr>
        <p:spPr bwMode="auto">
          <a:xfrm>
            <a:off x="246064" y="915988"/>
            <a:ext cx="9596437" cy="72000"/>
          </a:xfrm>
          <a:prstGeom prst="rect">
            <a:avLst/>
          </a:prstGeom>
          <a:solidFill>
            <a:srgbClr val="006EBC"/>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a:p>
        </p:txBody>
      </p:sp>
      <p:sp>
        <p:nvSpPr>
          <p:cNvPr id="4" name="内容占位符 2"/>
          <p:cNvSpPr>
            <a:spLocks noGrp="1"/>
          </p:cNvSpPr>
          <p:nvPr>
            <p:ph idx="1"/>
          </p:nvPr>
        </p:nvSpPr>
        <p:spPr>
          <a:xfrm>
            <a:off x="423822" y="1741968"/>
            <a:ext cx="11104601" cy="4369231"/>
          </a:xfrm>
        </p:spPr>
        <p:txBody>
          <a:bodyPr>
            <a:noAutofit/>
          </a:bodyPr>
          <a:lstStyle>
            <a:lvl1pPr marL="272415" indent="-272415">
              <a:lnSpc>
                <a:spcPct val="150000"/>
              </a:lnSpc>
              <a:buClr>
                <a:schemeClr val="bg1"/>
              </a:buClr>
              <a:buFont typeface="Wingdings" panose="05000000000000000000" pitchFamily="2" charset="2"/>
              <a:buChar char="Ø"/>
              <a:defRPr sz="1800" b="0">
                <a:solidFill>
                  <a:schemeClr val="bg1"/>
                </a:solidFill>
                <a:latin typeface="微软雅黑" panose="020B0503020204020204" pitchFamily="34" charset="-122"/>
                <a:ea typeface="微软雅黑" panose="020B0503020204020204" pitchFamily="34" charset="-122"/>
              </a:defRPr>
            </a:lvl1pPr>
            <a:lvl2pPr>
              <a:lnSpc>
                <a:spcPct val="130000"/>
              </a:lnSpc>
              <a:buClr>
                <a:srgbClr val="032089"/>
              </a:buClr>
              <a:buFont typeface="Wingdings" panose="05000000000000000000" pitchFamily="2" charset="2"/>
              <a:buChar char="l"/>
              <a:defRPr sz="1745" b="0">
                <a:latin typeface="微软雅黑" panose="020B0503020204020204" pitchFamily="34" charset="-122"/>
                <a:ea typeface="微软雅黑" panose="020B0503020204020204" pitchFamily="34" charset="-122"/>
              </a:defRPr>
            </a:lvl2pPr>
            <a:lvl3pPr>
              <a:defRPr sz="1430" b="0">
                <a:latin typeface="微软雅黑" panose="020B0503020204020204" pitchFamily="34" charset="-122"/>
                <a:ea typeface="微软雅黑" panose="020B0503020204020204" pitchFamily="34" charset="-122"/>
              </a:defRPr>
            </a:lvl3pPr>
            <a:lvl4pPr>
              <a:defRPr sz="1430" b="0">
                <a:latin typeface="微软雅黑" panose="020B0503020204020204" pitchFamily="34" charset="-122"/>
                <a:ea typeface="微软雅黑" panose="020B0503020204020204" pitchFamily="34" charset="-122"/>
              </a:defRPr>
            </a:lvl4pPr>
            <a:lvl5pPr>
              <a:defRPr sz="1430" b="0">
                <a:latin typeface="微软雅黑" panose="020B0503020204020204" pitchFamily="34" charset="-122"/>
                <a:ea typeface="微软雅黑" panose="020B0503020204020204" pitchFamily="34" charset="-122"/>
              </a:defRPr>
            </a:lvl5pPr>
          </a:lstStyle>
          <a:p>
            <a:pPr lvl="0"/>
            <a:r>
              <a:rPr lang="zh-CN" altLang="en-US"/>
              <a:t>单击此处编辑母版文本样式</a:t>
            </a:r>
            <a:endParaRPr lang="zh-CN" altLang="en-US"/>
          </a:p>
        </p:txBody>
      </p:sp>
      <p:sp>
        <p:nvSpPr>
          <p:cNvPr id="2" name="标题 1"/>
          <p:cNvSpPr>
            <a:spLocks noGrp="1"/>
          </p:cNvSpPr>
          <p:nvPr>
            <p:ph type="title"/>
          </p:nvPr>
        </p:nvSpPr>
        <p:spPr>
          <a:xfrm>
            <a:off x="254878" y="359079"/>
            <a:ext cx="10972801" cy="528176"/>
          </a:xfrm>
        </p:spPr>
        <p:txBody>
          <a:bodyPr/>
          <a:lstStyle>
            <a:lvl1pPr>
              <a:defRPr sz="2400" b="1">
                <a:solidFill>
                  <a:schemeClr val="bg1"/>
                </a:solidFill>
              </a:defRPr>
            </a:lvl1pPr>
          </a:lstStyle>
          <a:p>
            <a:r>
              <a:rPr lang="zh-CN" altLang="en-US"/>
              <a:t>单击此处编辑母版标题样式</a:t>
            </a:r>
            <a:endParaRPr lang="zh-CN" altLang="en-US" dirty="0"/>
          </a:p>
        </p:txBody>
      </p:sp>
      <p:sp>
        <p:nvSpPr>
          <p:cNvPr id="14" name="内容占位符 2"/>
          <p:cNvSpPr>
            <a:spLocks noGrp="1"/>
          </p:cNvSpPr>
          <p:nvPr>
            <p:ph idx="10"/>
          </p:nvPr>
        </p:nvSpPr>
        <p:spPr>
          <a:xfrm>
            <a:off x="423822" y="1138983"/>
            <a:ext cx="11107601" cy="426469"/>
          </a:xfrm>
          <a:noFill/>
          <a:ln>
            <a:noFill/>
          </a:ln>
        </p:spPr>
        <p:txBody>
          <a:bodyPr anchor="ctr">
            <a:noAutofit/>
          </a:bodyPr>
          <a:lstStyle>
            <a:lvl1pPr marL="0" indent="0">
              <a:buNone/>
              <a:defRPr lang="zh-CN" altLang="en-US" sz="2000" b="0" dirty="0" smtClean="0">
                <a:solidFill>
                  <a:schemeClr val="bg1"/>
                </a:solidFill>
                <a:latin typeface="微软雅黑" panose="020B0503020204020204" pitchFamily="34" charset="-122"/>
                <a:ea typeface="微软雅黑" panose="020B0503020204020204" pitchFamily="34" charset="-122"/>
              </a:defRPr>
            </a:lvl1pPr>
          </a:lstStyle>
          <a:p>
            <a:pPr lvl="0"/>
            <a:r>
              <a:rPr lang="zh-CN" altLang="en-US"/>
              <a:t>单击此处编辑母版文本样式</a:t>
            </a:r>
            <a:endParaRPr lang="zh-CN" altLang="en-US"/>
          </a:p>
        </p:txBody>
      </p:sp>
      <p:sp>
        <p:nvSpPr>
          <p:cNvPr id="25" name="AutoShape 23"/>
          <p:cNvSpPr>
            <a:spLocks noChangeArrowheads="1"/>
          </p:cNvSpPr>
          <p:nvPr userDrawn="1"/>
        </p:nvSpPr>
        <p:spPr bwMode="auto">
          <a:xfrm>
            <a:off x="245824" y="916744"/>
            <a:ext cx="9596455" cy="45719"/>
          </a:xfrm>
          <a:prstGeom prst="rect">
            <a:avLst/>
          </a:prstGeom>
          <a:solidFill>
            <a:srgbClr val="064BB2"/>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
        <p:nvSpPr>
          <p:cNvPr id="26" name="AutoShape 23"/>
          <p:cNvSpPr>
            <a:spLocks noChangeArrowheads="1"/>
          </p:cNvSpPr>
          <p:nvPr userDrawn="1"/>
        </p:nvSpPr>
        <p:spPr bwMode="auto">
          <a:xfrm>
            <a:off x="9842279" y="916744"/>
            <a:ext cx="1988939" cy="45719"/>
          </a:xfrm>
          <a:prstGeom prst="rect">
            <a:avLst/>
          </a:prstGeom>
          <a:solidFill>
            <a:srgbClr val="FB9708"/>
          </a:solidFill>
          <a:ln>
            <a:noFill/>
          </a:ln>
        </p:spPr>
        <p:txBody>
          <a:bodyPr wrap="none" lIns="85588" tIns="42794" rIns="85588" bIns="42794"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spcBef>
                <a:spcPct val="50000"/>
              </a:spcBef>
              <a:defRPr/>
            </a:pPr>
            <a:endParaRPr lang="zh-CN" altLang="en-US" sz="84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en-US" altLang="zh-CN" dirty="0" smtClean="0"/>
          </a:p>
          <a:p>
            <a:pPr lvl="1"/>
            <a:endParaRPr lang="zh-CN" altLang="en-US" dirty="0" smtClean="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smtClean="0"/>
              <a:t>单击此处编辑母版文本样式</a:t>
            </a:r>
            <a:endParaRPr lang="zh-CN" altLang="en-US" dirty="0" smtClean="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1.pn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20">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endPar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2" Type="http://schemas.openxmlformats.org/officeDocument/2006/relationships/notesSlide" Target="../notesSlides/notesSlide1.xml"/><Relationship Id="rId11" Type="http://schemas.openxmlformats.org/officeDocument/2006/relationships/slideLayout" Target="../slideLayouts/slideLayout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4.xml"/><Relationship Id="rId7" Type="http://schemas.openxmlformats.org/officeDocument/2006/relationships/image" Target="../media/image6.emf"/><Relationship Id="rId6" Type="http://schemas.openxmlformats.org/officeDocument/2006/relationships/oleObject" Target="../embeddings/oleObject3.bin"/><Relationship Id="rId5" Type="http://schemas.openxmlformats.org/officeDocument/2006/relationships/image" Target="../media/image5.emf"/><Relationship Id="rId4" Type="http://schemas.openxmlformats.org/officeDocument/2006/relationships/oleObject" Target="../embeddings/oleObject2.bin"/><Relationship Id="rId3" Type="http://schemas.openxmlformats.org/officeDocument/2006/relationships/image" Target="../media/image4.emf"/><Relationship Id="rId2" Type="http://schemas.openxmlformats.org/officeDocument/2006/relationships/oleObject" Target="../embeddings/oleObject1.bin"/><Relationship Id="rId10" Type="http://schemas.openxmlformats.org/officeDocument/2006/relationships/notesSlide" Target="../notesSlides/notesSlide10.xml"/><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vmlDrawing" Target="../drawings/vmlDrawing2.vml"/><Relationship Id="rId5" Type="http://schemas.openxmlformats.org/officeDocument/2006/relationships/slideLayout" Target="../slideLayouts/slideLayout4.xml"/><Relationship Id="rId4" Type="http://schemas.openxmlformats.org/officeDocument/2006/relationships/image" Target="../media/image5.emf"/><Relationship Id="rId3" Type="http://schemas.openxmlformats.org/officeDocument/2006/relationships/oleObject" Target="../embeddings/oleObject5.bin"/><Relationship Id="rId2" Type="http://schemas.openxmlformats.org/officeDocument/2006/relationships/image" Target="../media/image4.emf"/><Relationship Id="rId1"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image" Target="../media/image9.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11.png"/><Relationship Id="rId1" Type="http://schemas.openxmlformats.org/officeDocument/2006/relationships/image" Target="../media/image10.GI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10.xml"/><Relationship Id="rId7" Type="http://schemas.openxmlformats.org/officeDocument/2006/relationships/image" Target="../media/image16.png"/><Relationship Id="rId6" Type="http://schemas.openxmlformats.org/officeDocument/2006/relationships/image" Target="../media/image15.wmf"/><Relationship Id="rId5" Type="http://schemas.openxmlformats.org/officeDocument/2006/relationships/oleObject" Target="../embeddings/oleObject8.bin"/><Relationship Id="rId4" Type="http://schemas.openxmlformats.org/officeDocument/2006/relationships/image" Target="../media/image14.wmf"/><Relationship Id="rId3" Type="http://schemas.openxmlformats.org/officeDocument/2006/relationships/oleObject" Target="../embeddings/oleObject7.bin"/><Relationship Id="rId2" Type="http://schemas.openxmlformats.org/officeDocument/2006/relationships/image" Target="../media/image13.wmf"/><Relationship Id="rId1" Type="http://schemas.openxmlformats.org/officeDocument/2006/relationships/oleObject" Target="../embeddings/oleObject6.bin"/></Relationships>
</file>

<file path=ppt/slides/_rels/slide26.xml.rels><?xml version="1.0" encoding="UTF-8" standalone="yes"?>
<Relationships xmlns="http://schemas.openxmlformats.org/package/2006/relationships"><Relationship Id="rId9" Type="http://schemas.openxmlformats.org/officeDocument/2006/relationships/notesSlide" Target="../notesSlides/notesSlide23.xml"/><Relationship Id="rId8" Type="http://schemas.openxmlformats.org/officeDocument/2006/relationships/vmlDrawing" Target="../drawings/vmlDrawing4.vml"/><Relationship Id="rId7" Type="http://schemas.openxmlformats.org/officeDocument/2006/relationships/slideLayout" Target="../slideLayouts/slideLayout11.xml"/><Relationship Id="rId6" Type="http://schemas.openxmlformats.org/officeDocument/2006/relationships/image" Target="../media/image14.wmf"/><Relationship Id="rId5" Type="http://schemas.openxmlformats.org/officeDocument/2006/relationships/oleObject" Target="../embeddings/oleObject11.bin"/><Relationship Id="rId4" Type="http://schemas.openxmlformats.org/officeDocument/2006/relationships/image" Target="../media/image13.wmf"/><Relationship Id="rId3" Type="http://schemas.openxmlformats.org/officeDocument/2006/relationships/oleObject" Target="../embeddings/oleObject10.bin"/><Relationship Id="rId2" Type="http://schemas.openxmlformats.org/officeDocument/2006/relationships/image" Target="../media/image17.wmf"/><Relationship Id="rId1" Type="http://schemas.openxmlformats.org/officeDocument/2006/relationships/oleObject" Target="../embeddings/oleObject9.bin"/></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vmlDrawing" Target="../drawings/vmlDrawing5.vml"/><Relationship Id="rId6"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wmf"/><Relationship Id="rId2" Type="http://schemas.openxmlformats.org/officeDocument/2006/relationships/oleObject" Target="../embeddings/oleObject12.bin"/><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9" Type="http://schemas.openxmlformats.org/officeDocument/2006/relationships/image" Target="../media/image14.wmf"/><Relationship Id="rId8" Type="http://schemas.openxmlformats.org/officeDocument/2006/relationships/oleObject" Target="../embeddings/oleObject15.bin"/><Relationship Id="rId7" Type="http://schemas.openxmlformats.org/officeDocument/2006/relationships/image" Target="../media/image13.wmf"/><Relationship Id="rId6" Type="http://schemas.openxmlformats.org/officeDocument/2006/relationships/oleObject" Target="../embeddings/oleObject14.bin"/><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wmf"/><Relationship Id="rId2" Type="http://schemas.openxmlformats.org/officeDocument/2006/relationships/oleObject" Target="../embeddings/oleObject13.bin"/><Relationship Id="rId14" Type="http://schemas.openxmlformats.org/officeDocument/2006/relationships/vmlDrawing" Target="../drawings/vmlDrawing6.vml"/><Relationship Id="rId13" Type="http://schemas.openxmlformats.org/officeDocument/2006/relationships/slideLayout" Target="../slideLayouts/slideLayout13.xml"/><Relationship Id="rId12" Type="http://schemas.openxmlformats.org/officeDocument/2006/relationships/image" Target="../media/image27.png"/><Relationship Id="rId11" Type="http://schemas.openxmlformats.org/officeDocument/2006/relationships/image" Target="../media/image26.wmf"/><Relationship Id="rId10" Type="http://schemas.openxmlformats.org/officeDocument/2006/relationships/oleObject" Target="../embeddings/oleObject16.bin"/><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vmlDrawing" Target="../drawings/vmlDrawing7.vml"/><Relationship Id="rId3" Type="http://schemas.openxmlformats.org/officeDocument/2006/relationships/slideLayout" Target="../slideLayouts/slideLayout14.xml"/><Relationship Id="rId2" Type="http://schemas.openxmlformats.org/officeDocument/2006/relationships/image" Target="../media/image28.wmf"/><Relationship Id="rId1" Type="http://schemas.openxmlformats.org/officeDocument/2006/relationships/oleObject" Target="../embeddings/oleObject17.bin"/></Relationships>
</file>

<file path=ppt/slides/_rels/slide30.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15.xml"/><Relationship Id="rId7" Type="http://schemas.openxmlformats.org/officeDocument/2006/relationships/image" Target="../media/image32.png"/><Relationship Id="rId6" Type="http://schemas.openxmlformats.org/officeDocument/2006/relationships/image" Target="../media/image31.wmf"/><Relationship Id="rId5" Type="http://schemas.openxmlformats.org/officeDocument/2006/relationships/oleObject" Target="../embeddings/oleObject20.bin"/><Relationship Id="rId4" Type="http://schemas.openxmlformats.org/officeDocument/2006/relationships/image" Target="../media/image30.wmf"/><Relationship Id="rId3" Type="http://schemas.openxmlformats.org/officeDocument/2006/relationships/oleObject" Target="../embeddings/oleObject19.bin"/><Relationship Id="rId2" Type="http://schemas.openxmlformats.org/officeDocument/2006/relationships/image" Target="../media/image29.wmf"/><Relationship Id="rId10" Type="http://schemas.openxmlformats.org/officeDocument/2006/relationships/notesSlide" Target="../notesSlides/notesSlide26.xml"/><Relationship Id="rId1" Type="http://schemas.openxmlformats.org/officeDocument/2006/relationships/oleObject" Target="../embeddings/oleObject18.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16.xml"/><Relationship Id="rId2" Type="http://schemas.openxmlformats.org/officeDocument/2006/relationships/image" Target="../media/image33.wmf"/><Relationship Id="rId1" Type="http://schemas.openxmlformats.org/officeDocument/2006/relationships/oleObject" Target="../embeddings/oleObject21.bin"/></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4.e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5.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39.emf"/></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9.xml"/><Relationship Id="rId1" Type="http://schemas.openxmlformats.org/officeDocument/2006/relationships/image" Target="../media/image45.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8.png"/><Relationship Id="rId1" Type="http://schemas.openxmlformats.org/officeDocument/2006/relationships/image" Target="../media/image47.emf"/></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6.xml"/><Relationship Id="rId1" Type="http://schemas.openxmlformats.org/officeDocument/2006/relationships/image" Target="../media/image49.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6.xml"/><Relationship Id="rId1" Type="http://schemas.openxmlformats.org/officeDocument/2006/relationships/image" Target="../media/image5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image" Target="../media/image51.jpe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image" Target="../media/image52.jpe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image" Target="../media/image53.jpe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5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PA_组合 110"/>
          <p:cNvGrpSpPr/>
          <p:nvPr>
            <p:custDataLst>
              <p:tags r:id="rId1"/>
            </p:custDataLst>
          </p:nvPr>
        </p:nvGrpSpPr>
        <p:grpSpPr>
          <a:xfrm flipH="1">
            <a:off x="6298564" y="17238"/>
            <a:ext cx="5860641" cy="6861082"/>
            <a:chOff x="441028" y="108253"/>
            <a:chExt cx="4654180" cy="6678233"/>
          </a:xfrm>
        </p:grpSpPr>
        <p:cxnSp>
          <p:nvCxnSpPr>
            <p:cNvPr id="112" name="直接连接符 111"/>
            <p:cNvCxnSpPr/>
            <p:nvPr userDrawn="1"/>
          </p:nvCxnSpPr>
          <p:spPr>
            <a:xfrm>
              <a:off x="1397000" y="109248"/>
              <a:ext cx="3698208" cy="2003942"/>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userDrawn="1"/>
          </p:nvCxnSpPr>
          <p:spPr>
            <a:xfrm>
              <a:off x="441030" y="975564"/>
              <a:ext cx="4034133" cy="2193086"/>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userDrawn="1"/>
          </p:nvCxnSpPr>
          <p:spPr>
            <a:xfrm>
              <a:off x="441030" y="2325338"/>
              <a:ext cx="4259152" cy="2315413"/>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userDrawn="1"/>
          </p:nvCxnSpPr>
          <p:spPr>
            <a:xfrm>
              <a:off x="441030" y="3668759"/>
              <a:ext cx="4338247" cy="235841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userDrawn="1"/>
          </p:nvCxnSpPr>
          <p:spPr>
            <a:xfrm>
              <a:off x="442776" y="5064209"/>
              <a:ext cx="3204537" cy="1722277"/>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userDrawn="1"/>
          </p:nvCxnSpPr>
          <p:spPr>
            <a:xfrm>
              <a:off x="441030" y="6380062"/>
              <a:ext cx="754357" cy="40542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userDrawn="1"/>
          </p:nvCxnSpPr>
          <p:spPr>
            <a:xfrm flipV="1">
              <a:off x="441030" y="935237"/>
              <a:ext cx="4034131" cy="2248000"/>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userDrawn="1"/>
          </p:nvCxnSpPr>
          <p:spPr>
            <a:xfrm flipV="1">
              <a:off x="441030" y="2083389"/>
              <a:ext cx="4314751" cy="2404374"/>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userDrawn="1"/>
          </p:nvCxnSpPr>
          <p:spPr>
            <a:xfrm flipV="1">
              <a:off x="441028" y="3440258"/>
              <a:ext cx="4425082" cy="2465854"/>
            </a:xfrm>
            <a:prstGeom prst="line">
              <a:avLst/>
            </a:prstGeom>
            <a:ln w="12700" cap="rnd">
              <a:gradFill>
                <a:gsLst>
                  <a:gs pos="60000">
                    <a:srgbClr val="FFFFFF">
                      <a:alpha val="50000"/>
                    </a:srgbClr>
                  </a:gs>
                  <a:gs pos="0">
                    <a:schemeClr val="bg1">
                      <a:alpha val="8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userDrawn="1"/>
          </p:nvCxnSpPr>
          <p:spPr>
            <a:xfrm flipV="1">
              <a:off x="1261223" y="4797682"/>
              <a:ext cx="3567204" cy="198780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userDrawn="1"/>
          </p:nvCxnSpPr>
          <p:spPr>
            <a:xfrm flipV="1">
              <a:off x="441028" y="108253"/>
              <a:ext cx="3103433" cy="172937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userDrawn="1"/>
          </p:nvCxnSpPr>
          <p:spPr>
            <a:xfrm flipV="1">
              <a:off x="441030" y="111253"/>
              <a:ext cx="682160" cy="377986"/>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userDrawn="1"/>
          </p:nvCxnSpPr>
          <p:spPr>
            <a:xfrm>
              <a:off x="1206647" y="109248"/>
              <a:ext cx="0" cy="6677238"/>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userDrawn="1"/>
          </p:nvCxnSpPr>
          <p:spPr>
            <a:xfrm>
              <a:off x="3676895" y="108253"/>
              <a:ext cx="0" cy="6678233"/>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26" name="PA_弧形 125"/>
          <p:cNvSpPr/>
          <p:nvPr>
            <p:custDataLst>
              <p:tags r:id="rId2"/>
            </p:custDataLst>
          </p:nvPr>
        </p:nvSpPr>
        <p:spPr>
          <a:xfrm>
            <a:off x="-2290773" y="5223413"/>
            <a:ext cx="4767943" cy="4767943"/>
          </a:xfrm>
          <a:prstGeom prst="arc">
            <a:avLst>
              <a:gd name="adj1" fmla="val 15964885"/>
              <a:gd name="adj2" fmla="val 20622663"/>
            </a:avLst>
          </a:prstGeom>
          <a:ln>
            <a:solidFill>
              <a:schemeClr val="bg1">
                <a:lumMod val="75000"/>
              </a:schemeClr>
            </a:solidFill>
            <a:headEnd type="none" w="sm"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grpSp>
        <p:nvGrpSpPr>
          <p:cNvPr id="96" name="PA_组合 95"/>
          <p:cNvGrpSpPr/>
          <p:nvPr>
            <p:custDataLst>
              <p:tags r:id="rId3"/>
            </p:custDataLst>
          </p:nvPr>
        </p:nvGrpSpPr>
        <p:grpSpPr>
          <a:xfrm>
            <a:off x="9272737" y="6173657"/>
            <a:ext cx="868978" cy="2556000"/>
            <a:chOff x="9272737" y="6173657"/>
            <a:chExt cx="868978" cy="2556000"/>
          </a:xfrm>
        </p:grpSpPr>
        <p:sp>
          <p:nvSpPr>
            <p:cNvPr id="31"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2" name="椭圆 31"/>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7" name="PA_组合 96"/>
          <p:cNvGrpSpPr/>
          <p:nvPr>
            <p:custDataLst>
              <p:tags r:id="rId4"/>
            </p:custDataLst>
          </p:nvPr>
        </p:nvGrpSpPr>
        <p:grpSpPr>
          <a:xfrm>
            <a:off x="8447464" y="5580235"/>
            <a:ext cx="1174957" cy="3455999"/>
            <a:chOff x="8447464" y="5580235"/>
            <a:chExt cx="1174957" cy="3455999"/>
          </a:xfrm>
        </p:grpSpPr>
        <p:sp>
          <p:nvSpPr>
            <p:cNvPr id="4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 name="椭圆 4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8" name="PA_组合 97"/>
          <p:cNvGrpSpPr/>
          <p:nvPr>
            <p:custDataLst>
              <p:tags r:id="rId5"/>
            </p:custDataLst>
          </p:nvPr>
        </p:nvGrpSpPr>
        <p:grpSpPr>
          <a:xfrm>
            <a:off x="5713365" y="4642065"/>
            <a:ext cx="1358547" cy="3996000"/>
            <a:chOff x="5713365" y="4642065"/>
            <a:chExt cx="1358547" cy="3996000"/>
          </a:xfrm>
        </p:grpSpPr>
        <p:sp>
          <p:nvSpPr>
            <p:cNvPr id="4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 name="椭圆 4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3" name="PA_组合 132"/>
          <p:cNvGrpSpPr/>
          <p:nvPr>
            <p:custDataLst>
              <p:tags r:id="rId6"/>
            </p:custDataLst>
          </p:nvPr>
        </p:nvGrpSpPr>
        <p:grpSpPr>
          <a:xfrm>
            <a:off x="7245345" y="5466330"/>
            <a:ext cx="1358542" cy="3996000"/>
            <a:chOff x="7245345" y="5466330"/>
            <a:chExt cx="1358542" cy="3996000"/>
          </a:xfrm>
        </p:grpSpPr>
        <p:sp>
          <p:nvSpPr>
            <p:cNvPr id="34"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5" name="椭圆 34"/>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9" name="PA_组合 138"/>
          <p:cNvGrpSpPr/>
          <p:nvPr>
            <p:custDataLst>
              <p:tags r:id="rId7"/>
            </p:custDataLst>
          </p:nvPr>
        </p:nvGrpSpPr>
        <p:grpSpPr>
          <a:xfrm>
            <a:off x="10200063" y="5538058"/>
            <a:ext cx="1077041" cy="3168000"/>
            <a:chOff x="10231003" y="6243686"/>
            <a:chExt cx="1077041" cy="3168000"/>
          </a:xfrm>
        </p:grpSpPr>
        <p:sp>
          <p:nvSpPr>
            <p:cNvPr id="25"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26" name="椭圆 25"/>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103" name="PA_文本框 18"/>
          <p:cNvSpPr txBox="1"/>
          <p:nvPr>
            <p:custDataLst>
              <p:tags r:id="rId8"/>
            </p:custDataLst>
          </p:nvPr>
        </p:nvSpPr>
        <p:spPr>
          <a:xfrm>
            <a:off x="4390988" y="3156095"/>
            <a:ext cx="2954655" cy="923330"/>
          </a:xfrm>
          <a:prstGeom prst="rect">
            <a:avLst/>
          </a:prstGeom>
          <a:noFill/>
          <a:effectLst/>
        </p:spPr>
        <p:txBody>
          <a:bodyPr wrap="none" rtlCol="0" anchor="b" anchorCtr="0">
            <a:spAutoFit/>
          </a:bodyPr>
          <a:lstStyle>
            <a:defPPr>
              <a:defRPr lang="zh-CN"/>
            </a:defPPr>
            <a:lvl1pPr>
              <a:defRPr sz="5400" b="1">
                <a:solidFill>
                  <a:srgbClr val="6BB2E1">
                    <a:lumMod val="75000"/>
                  </a:srgb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algn="l"/>
            <a:r>
              <a:rPr lang="zh-CN" altLang="en-US" dirty="0" smtClean="0">
                <a:solidFill>
                  <a:srgbClr val="009999"/>
                </a:solidFill>
                <a:latin typeface="Noto Sans S Chinese Medium" panose="020B0600000000000000" pitchFamily="34" charset="-122"/>
                <a:ea typeface="Noto Sans S Chinese Medium" panose="020B0600000000000000" pitchFamily="34" charset="-122"/>
                <a:sym typeface="+mn-lt"/>
              </a:rPr>
              <a:t>聚类算法</a:t>
            </a:r>
            <a:endParaRPr lang="zh-CN" altLang="en-US" dirty="0">
              <a:solidFill>
                <a:srgbClr val="009999"/>
              </a:solidFill>
              <a:latin typeface="Noto Sans S Chinese Medium" panose="020B0600000000000000" pitchFamily="34" charset="-122"/>
              <a:ea typeface="Noto Sans S Chinese Medium" panose="020B0600000000000000" pitchFamily="34" charset="-122"/>
              <a:sym typeface="+mn-lt"/>
            </a:endParaRPr>
          </a:p>
        </p:txBody>
      </p:sp>
      <p:sp>
        <p:nvSpPr>
          <p:cNvPr id="160" name="PA_圆角矩形 159"/>
          <p:cNvSpPr/>
          <p:nvPr>
            <p:custDataLst>
              <p:tags r:id="rId9"/>
            </p:custDataLst>
          </p:nvPr>
        </p:nvSpPr>
        <p:spPr>
          <a:xfrm>
            <a:off x="1135131" y="5088567"/>
            <a:ext cx="1840219" cy="413808"/>
          </a:xfrm>
          <a:prstGeom prst="roundRect">
            <a:avLst>
              <a:gd name="adj" fmla="val 50000"/>
            </a:avLst>
          </a:prstGeom>
          <a:solidFill>
            <a:srgbClr val="009999"/>
          </a:solidFill>
          <a:ln w="25400">
            <a:gradFill>
              <a:gsLst>
                <a:gs pos="15000">
                  <a:schemeClr val="tx2">
                    <a:lumMod val="40000"/>
                    <a:lumOff val="60000"/>
                  </a:schemeClr>
                </a:gs>
                <a:gs pos="100000">
                  <a:schemeClr val="bg1"/>
                </a:gs>
              </a:gsLst>
              <a:lin ang="5400000" scaled="1"/>
            </a:gradFill>
          </a:ln>
          <a:effectLst>
            <a:innerShdw blurRad="1270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white"/>
                </a:solidFill>
                <a:latin typeface="Noto Sans S Chinese Medium" panose="020B0600000000000000" pitchFamily="34" charset="-122"/>
                <a:ea typeface="Noto Sans S Chinese Medium" panose="020B0600000000000000" pitchFamily="34" charset="-122"/>
                <a:sym typeface="+mn-lt"/>
              </a:rPr>
              <a:t>主讲人：</a:t>
            </a:r>
            <a:r>
              <a:rPr lang="en-US" altLang="zh-CN" dirty="0">
                <a:solidFill>
                  <a:prstClr val="white"/>
                </a:solidFill>
                <a:latin typeface="Noto Sans S Chinese Medium" panose="020B0600000000000000" pitchFamily="34" charset="-122"/>
                <a:ea typeface="Noto Sans S Chinese Medium" panose="020B0600000000000000" pitchFamily="34" charset="-122"/>
                <a:sym typeface="+mn-lt"/>
              </a:rPr>
              <a:t>XXX</a:t>
            </a:r>
            <a:endParaRPr lang="zh-CN" altLang="en-US" dirty="0">
              <a:solidFill>
                <a:prstClr val="white"/>
              </a:solidFill>
              <a:latin typeface="Noto Sans S Chinese Medium" panose="020B0600000000000000" pitchFamily="34" charset="-122"/>
              <a:ea typeface="Noto Sans S Chinese Medium" panose="020B0600000000000000" pitchFamily="34" charset="-122"/>
              <a:sym typeface="+mn-lt"/>
            </a:endParaRPr>
          </a:p>
        </p:txBody>
      </p:sp>
      <p:sp>
        <p:nvSpPr>
          <p:cNvPr id="141" name="PA_文本框 140"/>
          <p:cNvSpPr txBox="1"/>
          <p:nvPr>
            <p:custDataLst>
              <p:tags r:id="rId10"/>
            </p:custDataLst>
          </p:nvPr>
        </p:nvSpPr>
        <p:spPr>
          <a:xfrm>
            <a:off x="986327" y="944000"/>
            <a:ext cx="2926080" cy="1198880"/>
          </a:xfrm>
          <a:prstGeom prst="rect">
            <a:avLst/>
          </a:prstGeom>
          <a:noFill/>
        </p:spPr>
        <p:txBody>
          <a:bodyPr wrap="none" rtlCol="0">
            <a:spAutoFit/>
          </a:bodyPr>
          <a:lstStyle/>
          <a:p>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第</a:t>
            </a:r>
            <a:r>
              <a:rPr lang="en-US" altLang="zh-CN"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10</a:t>
            </a:r>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章</a:t>
            </a:r>
            <a:endPar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5713365" y="-3153028"/>
            <a:ext cx="6311948" cy="6008653"/>
            <a:chOff x="5713365" y="-3153028"/>
            <a:chExt cx="6311948" cy="6008653"/>
          </a:xfrm>
        </p:grpSpPr>
        <p:grpSp>
          <p:nvGrpSpPr>
            <p:cNvPr id="402" name="组合 401"/>
            <p:cNvGrpSpPr/>
            <p:nvPr/>
          </p:nvGrpSpPr>
          <p:grpSpPr>
            <a:xfrm>
              <a:off x="8085157" y="-1579282"/>
              <a:ext cx="587486" cy="1728000"/>
              <a:chOff x="8085157" y="5279067"/>
              <a:chExt cx="587486" cy="1728000"/>
            </a:xfrm>
          </p:grpSpPr>
          <p:sp>
            <p:nvSpPr>
              <p:cNvPr id="403" name="等腰三角形 9_4"/>
              <p:cNvSpPr/>
              <p:nvPr/>
            </p:nvSpPr>
            <p:spPr>
              <a:xfrm rot="10800000">
                <a:off x="8085157" y="5546117"/>
                <a:ext cx="587486" cy="1460950"/>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04" name="椭圆 403"/>
              <p:cNvSpPr>
                <a:spLocks noChangeAspect="1"/>
              </p:cNvSpPr>
              <p:nvPr/>
            </p:nvSpPr>
            <p:spPr>
              <a:xfrm>
                <a:off x="8111847" y="5279067"/>
                <a:ext cx="534106" cy="534099"/>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08" name="组合 407"/>
            <p:cNvGrpSpPr/>
            <p:nvPr/>
          </p:nvGrpSpPr>
          <p:grpSpPr>
            <a:xfrm>
              <a:off x="8930899" y="-1838751"/>
              <a:ext cx="771066" cy="2268000"/>
              <a:chOff x="8930899" y="5019598"/>
              <a:chExt cx="771066" cy="2268000"/>
            </a:xfrm>
          </p:grpSpPr>
          <p:sp>
            <p:nvSpPr>
              <p:cNvPr id="409" name="等腰三角形 9_8"/>
              <p:cNvSpPr/>
              <p:nvPr/>
            </p:nvSpPr>
            <p:spPr>
              <a:xfrm rot="10800000">
                <a:off x="8930899" y="5370100"/>
                <a:ext cx="771066" cy="191749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0" name="椭圆 409"/>
              <p:cNvSpPr>
                <a:spLocks noChangeAspect="1"/>
              </p:cNvSpPr>
              <p:nvPr/>
            </p:nvSpPr>
            <p:spPr>
              <a:xfrm>
                <a:off x="8965930" y="5019598"/>
                <a:ext cx="701006" cy="701005"/>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14" name="组合 413"/>
            <p:cNvGrpSpPr/>
            <p:nvPr/>
          </p:nvGrpSpPr>
          <p:grpSpPr>
            <a:xfrm>
              <a:off x="8491539" y="-3153028"/>
              <a:ext cx="1248391" cy="3672000"/>
              <a:chOff x="8491539" y="3705321"/>
              <a:chExt cx="1248391" cy="3672000"/>
            </a:xfrm>
          </p:grpSpPr>
          <p:sp>
            <p:nvSpPr>
              <p:cNvPr id="415" name="等腰三角形 9_12"/>
              <p:cNvSpPr/>
              <p:nvPr/>
            </p:nvSpPr>
            <p:spPr>
              <a:xfrm rot="10800000">
                <a:off x="8491539" y="4272801"/>
                <a:ext cx="1248391" cy="3104520"/>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6" name="椭圆 415"/>
              <p:cNvSpPr>
                <a:spLocks noChangeAspect="1"/>
              </p:cNvSpPr>
              <p:nvPr/>
            </p:nvSpPr>
            <p:spPr>
              <a:xfrm>
                <a:off x="8548254" y="3705321"/>
                <a:ext cx="1134960" cy="1134960"/>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17" name="组合 416"/>
            <p:cNvGrpSpPr/>
            <p:nvPr/>
          </p:nvGrpSpPr>
          <p:grpSpPr>
            <a:xfrm>
              <a:off x="7678206" y="-2685027"/>
              <a:ext cx="905695" cy="2664001"/>
              <a:chOff x="7678206" y="4173322"/>
              <a:chExt cx="905695" cy="2664001"/>
            </a:xfrm>
          </p:grpSpPr>
          <p:sp>
            <p:nvSpPr>
              <p:cNvPr id="418" name="等腰三角形 9_14"/>
              <p:cNvSpPr/>
              <p:nvPr/>
            </p:nvSpPr>
            <p:spPr>
              <a:xfrm rot="10800000">
                <a:off x="7678206" y="4585024"/>
                <a:ext cx="905695" cy="225229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9" name="椭圆 418"/>
              <p:cNvSpPr>
                <a:spLocks noChangeAspect="1"/>
              </p:cNvSpPr>
              <p:nvPr/>
            </p:nvSpPr>
            <p:spPr>
              <a:xfrm>
                <a:off x="7719353" y="4173322"/>
                <a:ext cx="823402" cy="823403"/>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0" name="组合 419"/>
            <p:cNvGrpSpPr/>
            <p:nvPr/>
          </p:nvGrpSpPr>
          <p:grpSpPr>
            <a:xfrm>
              <a:off x="8158768" y="-2346784"/>
              <a:ext cx="942412" cy="2772000"/>
              <a:chOff x="8158768" y="4511565"/>
              <a:chExt cx="942412" cy="2772000"/>
            </a:xfrm>
          </p:grpSpPr>
          <p:sp>
            <p:nvSpPr>
              <p:cNvPr id="421" name="等腰三角形 9_16"/>
              <p:cNvSpPr/>
              <p:nvPr/>
            </p:nvSpPr>
            <p:spPr>
              <a:xfrm rot="10800000">
                <a:off x="8158768" y="4939957"/>
                <a:ext cx="942412" cy="234360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22" name="椭圆 421"/>
              <p:cNvSpPr>
                <a:spLocks noChangeAspect="1"/>
              </p:cNvSpPr>
              <p:nvPr/>
            </p:nvSpPr>
            <p:spPr>
              <a:xfrm>
                <a:off x="8201583" y="4511565"/>
                <a:ext cx="856783" cy="85678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3" name="组合 422"/>
            <p:cNvGrpSpPr/>
            <p:nvPr/>
          </p:nvGrpSpPr>
          <p:grpSpPr>
            <a:xfrm>
              <a:off x="11309411" y="-847185"/>
              <a:ext cx="715902" cy="1980000"/>
              <a:chOff x="11309411" y="6011164"/>
              <a:chExt cx="715902" cy="1980000"/>
            </a:xfrm>
          </p:grpSpPr>
          <p:sp>
            <p:nvSpPr>
              <p:cNvPr id="424" name="等腰三角形 9_18"/>
              <p:cNvSpPr/>
              <p:nvPr/>
            </p:nvSpPr>
            <p:spPr>
              <a:xfrm rot="10800000">
                <a:off x="11309411" y="6317158"/>
                <a:ext cx="715902" cy="167400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25" name="椭圆 424"/>
              <p:cNvSpPr>
                <a:spLocks noChangeAspect="1"/>
              </p:cNvSpPr>
              <p:nvPr/>
            </p:nvSpPr>
            <p:spPr>
              <a:xfrm>
                <a:off x="11361368" y="6011164"/>
                <a:ext cx="611990" cy="61198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6" name="组合 425"/>
            <p:cNvGrpSpPr/>
            <p:nvPr/>
          </p:nvGrpSpPr>
          <p:grpSpPr>
            <a:xfrm>
              <a:off x="9272737" y="-684692"/>
              <a:ext cx="868978" cy="2556000"/>
              <a:chOff x="9272737" y="6173657"/>
              <a:chExt cx="868978" cy="2556000"/>
            </a:xfrm>
          </p:grpSpPr>
          <p:sp>
            <p:nvSpPr>
              <p:cNvPr id="427"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28" name="椭圆 427"/>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29" name="组合 428"/>
            <p:cNvGrpSpPr/>
            <p:nvPr/>
          </p:nvGrpSpPr>
          <p:grpSpPr>
            <a:xfrm>
              <a:off x="8447464" y="-1278114"/>
              <a:ext cx="1174957" cy="3455999"/>
              <a:chOff x="8447464" y="5580235"/>
              <a:chExt cx="1174957" cy="3455999"/>
            </a:xfrm>
          </p:grpSpPr>
          <p:sp>
            <p:nvSpPr>
              <p:cNvPr id="43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31" name="椭圆 43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32" name="组合 431"/>
            <p:cNvGrpSpPr/>
            <p:nvPr/>
          </p:nvGrpSpPr>
          <p:grpSpPr>
            <a:xfrm>
              <a:off x="5713365" y="-2216284"/>
              <a:ext cx="1358547" cy="3996000"/>
              <a:chOff x="5713365" y="4642065"/>
              <a:chExt cx="1358547" cy="3996000"/>
            </a:xfrm>
          </p:grpSpPr>
          <p:sp>
            <p:nvSpPr>
              <p:cNvPr id="43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34" name="椭圆 43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35" name="组合 434"/>
            <p:cNvGrpSpPr/>
            <p:nvPr/>
          </p:nvGrpSpPr>
          <p:grpSpPr>
            <a:xfrm>
              <a:off x="7146608" y="-1854039"/>
              <a:ext cx="820027" cy="2412000"/>
              <a:chOff x="7146608" y="5004310"/>
              <a:chExt cx="820027" cy="2412000"/>
            </a:xfrm>
          </p:grpSpPr>
          <p:sp>
            <p:nvSpPr>
              <p:cNvPr id="436" name="等腰三角形 9_26"/>
              <p:cNvSpPr/>
              <p:nvPr/>
            </p:nvSpPr>
            <p:spPr>
              <a:xfrm rot="10800000">
                <a:off x="7146608" y="5377067"/>
                <a:ext cx="820027" cy="2039243"/>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37" name="椭圆 436"/>
              <p:cNvSpPr>
                <a:spLocks noChangeAspect="1"/>
              </p:cNvSpPr>
              <p:nvPr/>
            </p:nvSpPr>
            <p:spPr>
              <a:xfrm>
                <a:off x="7183863" y="5004310"/>
                <a:ext cx="745518" cy="745513"/>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38" name="组合 437"/>
            <p:cNvGrpSpPr/>
            <p:nvPr/>
          </p:nvGrpSpPr>
          <p:grpSpPr>
            <a:xfrm>
              <a:off x="6965950" y="-2432198"/>
              <a:ext cx="879620" cy="2555999"/>
              <a:chOff x="6965950" y="4426151"/>
              <a:chExt cx="879620" cy="2555999"/>
            </a:xfrm>
          </p:grpSpPr>
          <p:sp>
            <p:nvSpPr>
              <p:cNvPr id="439" name="等腰三角形 9_28"/>
              <p:cNvSpPr/>
              <p:nvPr/>
            </p:nvSpPr>
            <p:spPr>
              <a:xfrm rot="10800000">
                <a:off x="6965950" y="4821161"/>
                <a:ext cx="879620"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0" name="椭圆 439"/>
              <p:cNvSpPr>
                <a:spLocks noChangeAspect="1"/>
              </p:cNvSpPr>
              <p:nvPr/>
            </p:nvSpPr>
            <p:spPr>
              <a:xfrm>
                <a:off x="7010750" y="4426151"/>
                <a:ext cx="790022" cy="790021"/>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65" name="组合 464"/>
            <p:cNvGrpSpPr/>
            <p:nvPr/>
          </p:nvGrpSpPr>
          <p:grpSpPr>
            <a:xfrm>
              <a:off x="7245345" y="-1392019"/>
              <a:ext cx="1358542" cy="3996000"/>
              <a:chOff x="7245345" y="5466330"/>
              <a:chExt cx="1358542" cy="3996000"/>
            </a:xfrm>
          </p:grpSpPr>
          <p:sp>
            <p:nvSpPr>
              <p:cNvPr id="466"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67" name="椭圆 466"/>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68" name="组合 467"/>
            <p:cNvGrpSpPr/>
            <p:nvPr/>
          </p:nvGrpSpPr>
          <p:grpSpPr>
            <a:xfrm>
              <a:off x="6696365" y="-1511431"/>
              <a:ext cx="917938" cy="2700000"/>
              <a:chOff x="6696365" y="5346918"/>
              <a:chExt cx="917938" cy="2700000"/>
            </a:xfrm>
          </p:grpSpPr>
          <p:sp>
            <p:nvSpPr>
              <p:cNvPr id="469" name="等腰三角形 9_48"/>
              <p:cNvSpPr/>
              <p:nvPr/>
            </p:nvSpPr>
            <p:spPr>
              <a:xfrm rot="10800000">
                <a:off x="6696365" y="5764183"/>
                <a:ext cx="917938" cy="22827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70" name="椭圆 469"/>
              <p:cNvSpPr>
                <a:spLocks noChangeAspect="1"/>
              </p:cNvSpPr>
              <p:nvPr/>
            </p:nvSpPr>
            <p:spPr>
              <a:xfrm>
                <a:off x="6738068" y="5346918"/>
                <a:ext cx="834533" cy="83453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71" name="组合 470"/>
            <p:cNvGrpSpPr/>
            <p:nvPr/>
          </p:nvGrpSpPr>
          <p:grpSpPr>
            <a:xfrm>
              <a:off x="6245184" y="-600374"/>
              <a:ext cx="1174953" cy="3455999"/>
              <a:chOff x="6245184" y="6257975"/>
              <a:chExt cx="1174953" cy="3455999"/>
            </a:xfrm>
          </p:grpSpPr>
          <p:sp>
            <p:nvSpPr>
              <p:cNvPr id="472" name="等腰三角形 9_50"/>
              <p:cNvSpPr/>
              <p:nvPr/>
            </p:nvSpPr>
            <p:spPr>
              <a:xfrm rot="10800000">
                <a:off x="6245184" y="6792073"/>
                <a:ext cx="1174953"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73" name="椭圆 472"/>
              <p:cNvSpPr>
                <a:spLocks noChangeAspect="1"/>
              </p:cNvSpPr>
              <p:nvPr/>
            </p:nvSpPr>
            <p:spPr>
              <a:xfrm>
                <a:off x="6298564" y="6257975"/>
                <a:ext cx="1068195" cy="1068198"/>
              </a:xfrm>
              <a:prstGeom prst="ellipse">
                <a:avLst/>
              </a:prstGeom>
              <a:gradFill>
                <a:gsLst>
                  <a:gs pos="0">
                    <a:schemeClr val="bg1"/>
                  </a:gs>
                  <a:gs pos="60000">
                    <a:schemeClr val="bg2"/>
                  </a:gs>
                  <a:gs pos="100000">
                    <a:schemeClr val="bg1">
                      <a:lumMod val="85000"/>
                    </a:schemeClr>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77" name="组合 476"/>
            <p:cNvGrpSpPr/>
            <p:nvPr/>
          </p:nvGrpSpPr>
          <p:grpSpPr>
            <a:xfrm>
              <a:off x="9417129" y="-1960953"/>
              <a:ext cx="1077041" cy="3168000"/>
              <a:chOff x="9417129" y="4897396"/>
              <a:chExt cx="1077041" cy="3168000"/>
            </a:xfrm>
          </p:grpSpPr>
          <p:sp>
            <p:nvSpPr>
              <p:cNvPr id="478" name="等腰三角形 9_54"/>
              <p:cNvSpPr/>
              <p:nvPr/>
            </p:nvSpPr>
            <p:spPr>
              <a:xfrm rot="10800000">
                <a:off x="9417129" y="538698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79" name="椭圆 478"/>
              <p:cNvSpPr>
                <a:spLocks noChangeAspect="1"/>
              </p:cNvSpPr>
              <p:nvPr/>
            </p:nvSpPr>
            <p:spPr>
              <a:xfrm>
                <a:off x="9466061" y="4897396"/>
                <a:ext cx="979179" cy="979182"/>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80" name="组合 479"/>
            <p:cNvGrpSpPr/>
            <p:nvPr/>
          </p:nvGrpSpPr>
          <p:grpSpPr>
            <a:xfrm>
              <a:off x="10073620" y="-1211944"/>
              <a:ext cx="632480" cy="1692000"/>
              <a:chOff x="10073620" y="5646405"/>
              <a:chExt cx="632480" cy="1692000"/>
            </a:xfrm>
          </p:grpSpPr>
          <p:sp>
            <p:nvSpPr>
              <p:cNvPr id="481" name="等腰三角形 9_56"/>
              <p:cNvSpPr/>
              <p:nvPr/>
            </p:nvSpPr>
            <p:spPr>
              <a:xfrm rot="10800000">
                <a:off x="10073620" y="5907891"/>
                <a:ext cx="632480" cy="143051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82" name="椭圆 481"/>
              <p:cNvSpPr>
                <a:spLocks noChangeAspect="1"/>
              </p:cNvSpPr>
              <p:nvPr/>
            </p:nvSpPr>
            <p:spPr>
              <a:xfrm>
                <a:off x="10128371" y="5646405"/>
                <a:ext cx="522979" cy="522972"/>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483" name="组合 482"/>
            <p:cNvGrpSpPr/>
            <p:nvPr/>
          </p:nvGrpSpPr>
          <p:grpSpPr>
            <a:xfrm>
              <a:off x="10231003" y="-614663"/>
              <a:ext cx="1077041" cy="3168000"/>
              <a:chOff x="10231003" y="6243686"/>
              <a:chExt cx="1077041" cy="3168000"/>
            </a:xfrm>
          </p:grpSpPr>
          <p:sp>
            <p:nvSpPr>
              <p:cNvPr id="484"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85" name="椭圆 484"/>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sp>
        <p:nvSpPr>
          <p:cNvPr id="20" name="弧形 19"/>
          <p:cNvSpPr/>
          <p:nvPr/>
        </p:nvSpPr>
        <p:spPr>
          <a:xfrm>
            <a:off x="-2290773" y="-1637259"/>
            <a:ext cx="4767943" cy="4767943"/>
          </a:xfrm>
          <a:prstGeom prst="arc">
            <a:avLst>
              <a:gd name="adj1" fmla="val 1279359"/>
              <a:gd name="adj2" fmla="val 188280"/>
            </a:avLst>
          </a:prstGeom>
          <a:ln>
            <a:solidFill>
              <a:schemeClr val="bg1">
                <a:lumMod val="7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sp>
        <p:nvSpPr>
          <p:cNvPr id="53" name="任意多边形 52"/>
          <p:cNvSpPr/>
          <p:nvPr/>
        </p:nvSpPr>
        <p:spPr>
          <a:xfrm>
            <a:off x="-57150" y="5408413"/>
            <a:ext cx="12325350" cy="1330769"/>
          </a:xfrm>
          <a:custGeom>
            <a:avLst/>
            <a:gdLst>
              <a:gd name="connsiteX0" fmla="*/ 0 w 12325350"/>
              <a:gd name="connsiteY0" fmla="*/ 859037 h 1330769"/>
              <a:gd name="connsiteX1" fmla="*/ 323850 w 12325350"/>
              <a:gd name="connsiteY1" fmla="*/ 478037 h 1330769"/>
              <a:gd name="connsiteX2" fmla="*/ 638175 w 12325350"/>
              <a:gd name="connsiteY2" fmla="*/ 220862 h 1330769"/>
              <a:gd name="connsiteX3" fmla="*/ 895350 w 12325350"/>
              <a:gd name="connsiteY3" fmla="*/ 97037 h 1330769"/>
              <a:gd name="connsiteX4" fmla="*/ 1200150 w 12325350"/>
              <a:gd name="connsiteY4" fmla="*/ 135137 h 1330769"/>
              <a:gd name="connsiteX5" fmla="*/ 1419225 w 12325350"/>
              <a:gd name="connsiteY5" fmla="*/ 306587 h 1330769"/>
              <a:gd name="connsiteX6" fmla="*/ 1800225 w 12325350"/>
              <a:gd name="connsiteY6" fmla="*/ 754262 h 1330769"/>
              <a:gd name="connsiteX7" fmla="*/ 2105025 w 12325350"/>
              <a:gd name="connsiteY7" fmla="*/ 1040012 h 1330769"/>
              <a:gd name="connsiteX8" fmla="*/ 2305050 w 12325350"/>
              <a:gd name="connsiteY8" fmla="*/ 1173362 h 1330769"/>
              <a:gd name="connsiteX9" fmla="*/ 2533650 w 12325350"/>
              <a:gd name="connsiteY9" fmla="*/ 1240037 h 1330769"/>
              <a:gd name="connsiteX10" fmla="*/ 3000375 w 12325350"/>
              <a:gd name="connsiteY10" fmla="*/ 1173362 h 1330769"/>
              <a:gd name="connsiteX11" fmla="*/ 3914775 w 12325350"/>
              <a:gd name="connsiteY11" fmla="*/ 639962 h 1330769"/>
              <a:gd name="connsiteX12" fmla="*/ 4629150 w 12325350"/>
              <a:gd name="connsiteY12" fmla="*/ 230387 h 1330769"/>
              <a:gd name="connsiteX13" fmla="*/ 5124450 w 12325350"/>
              <a:gd name="connsiteY13" fmla="*/ 58937 h 1330769"/>
              <a:gd name="connsiteX14" fmla="*/ 5495925 w 12325350"/>
              <a:gd name="connsiteY14" fmla="*/ 30362 h 1330769"/>
              <a:gd name="connsiteX15" fmla="*/ 6181725 w 12325350"/>
              <a:gd name="connsiteY15" fmla="*/ 468512 h 1330769"/>
              <a:gd name="connsiteX16" fmla="*/ 6781800 w 12325350"/>
              <a:gd name="connsiteY16" fmla="*/ 1154312 h 1330769"/>
              <a:gd name="connsiteX17" fmla="*/ 7191375 w 12325350"/>
              <a:gd name="connsiteY17" fmla="*/ 1325762 h 1330769"/>
              <a:gd name="connsiteX18" fmla="*/ 7648575 w 12325350"/>
              <a:gd name="connsiteY18" fmla="*/ 1020962 h 1330769"/>
              <a:gd name="connsiteX19" fmla="*/ 8181975 w 12325350"/>
              <a:gd name="connsiteY19" fmla="*/ 316112 h 1330769"/>
              <a:gd name="connsiteX20" fmla="*/ 8505825 w 12325350"/>
              <a:gd name="connsiteY20" fmla="*/ 68462 h 1330769"/>
              <a:gd name="connsiteX21" fmla="*/ 8848725 w 12325350"/>
              <a:gd name="connsiteY21" fmla="*/ 163712 h 1330769"/>
              <a:gd name="connsiteX22" fmla="*/ 9391650 w 12325350"/>
              <a:gd name="connsiteY22" fmla="*/ 782837 h 1330769"/>
              <a:gd name="connsiteX23" fmla="*/ 9839325 w 12325350"/>
              <a:gd name="connsiteY23" fmla="*/ 1230512 h 1330769"/>
              <a:gd name="connsiteX24" fmla="*/ 10267950 w 12325350"/>
              <a:gd name="connsiteY24" fmla="*/ 1240037 h 1330769"/>
              <a:gd name="connsiteX25" fmla="*/ 10839450 w 12325350"/>
              <a:gd name="connsiteY25" fmla="*/ 782837 h 1330769"/>
              <a:gd name="connsiteX26" fmla="*/ 11153775 w 12325350"/>
              <a:gd name="connsiteY26" fmla="*/ 487562 h 1330769"/>
              <a:gd name="connsiteX27" fmla="*/ 11563350 w 12325350"/>
              <a:gd name="connsiteY27" fmla="*/ 354212 h 1330769"/>
              <a:gd name="connsiteX28" fmla="*/ 11896725 w 12325350"/>
              <a:gd name="connsiteY28" fmla="*/ 439937 h 1330769"/>
              <a:gd name="connsiteX29" fmla="*/ 12325350 w 12325350"/>
              <a:gd name="connsiteY29" fmla="*/ 763787 h 1330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325350" h="1330769">
                <a:moveTo>
                  <a:pt x="0" y="859037"/>
                </a:moveTo>
                <a:cubicBezTo>
                  <a:pt x="108744" y="721718"/>
                  <a:pt x="217488" y="584399"/>
                  <a:pt x="323850" y="478037"/>
                </a:cubicBezTo>
                <a:cubicBezTo>
                  <a:pt x="430212" y="371675"/>
                  <a:pt x="542925" y="284362"/>
                  <a:pt x="638175" y="220862"/>
                </a:cubicBezTo>
                <a:cubicBezTo>
                  <a:pt x="733425" y="157362"/>
                  <a:pt x="801688" y="111324"/>
                  <a:pt x="895350" y="97037"/>
                </a:cubicBezTo>
                <a:cubicBezTo>
                  <a:pt x="989012" y="82750"/>
                  <a:pt x="1112838" y="100212"/>
                  <a:pt x="1200150" y="135137"/>
                </a:cubicBezTo>
                <a:cubicBezTo>
                  <a:pt x="1287462" y="170062"/>
                  <a:pt x="1319213" y="203400"/>
                  <a:pt x="1419225" y="306587"/>
                </a:cubicBezTo>
                <a:cubicBezTo>
                  <a:pt x="1519237" y="409774"/>
                  <a:pt x="1685925" y="632025"/>
                  <a:pt x="1800225" y="754262"/>
                </a:cubicBezTo>
                <a:cubicBezTo>
                  <a:pt x="1914525" y="876499"/>
                  <a:pt x="2020888" y="970162"/>
                  <a:pt x="2105025" y="1040012"/>
                </a:cubicBezTo>
                <a:cubicBezTo>
                  <a:pt x="2189163" y="1109862"/>
                  <a:pt x="2233613" y="1140025"/>
                  <a:pt x="2305050" y="1173362"/>
                </a:cubicBezTo>
                <a:cubicBezTo>
                  <a:pt x="2376487" y="1206699"/>
                  <a:pt x="2417763" y="1240037"/>
                  <a:pt x="2533650" y="1240037"/>
                </a:cubicBezTo>
                <a:cubicBezTo>
                  <a:pt x="2649537" y="1240037"/>
                  <a:pt x="2770188" y="1273374"/>
                  <a:pt x="3000375" y="1173362"/>
                </a:cubicBezTo>
                <a:cubicBezTo>
                  <a:pt x="3230562" y="1073350"/>
                  <a:pt x="3914775" y="639962"/>
                  <a:pt x="3914775" y="639962"/>
                </a:cubicBezTo>
                <a:cubicBezTo>
                  <a:pt x="4186238" y="482799"/>
                  <a:pt x="4427538" y="327224"/>
                  <a:pt x="4629150" y="230387"/>
                </a:cubicBezTo>
                <a:cubicBezTo>
                  <a:pt x="4830763" y="133549"/>
                  <a:pt x="4979988" y="92274"/>
                  <a:pt x="5124450" y="58937"/>
                </a:cubicBezTo>
                <a:cubicBezTo>
                  <a:pt x="5268913" y="25599"/>
                  <a:pt x="5319713" y="-37900"/>
                  <a:pt x="5495925" y="30362"/>
                </a:cubicBezTo>
                <a:cubicBezTo>
                  <a:pt x="5672137" y="98624"/>
                  <a:pt x="5967412" y="281187"/>
                  <a:pt x="6181725" y="468512"/>
                </a:cubicBezTo>
                <a:cubicBezTo>
                  <a:pt x="6396038" y="655837"/>
                  <a:pt x="6613525" y="1011437"/>
                  <a:pt x="6781800" y="1154312"/>
                </a:cubicBezTo>
                <a:cubicBezTo>
                  <a:pt x="6950075" y="1297187"/>
                  <a:pt x="7046913" y="1347987"/>
                  <a:pt x="7191375" y="1325762"/>
                </a:cubicBezTo>
                <a:cubicBezTo>
                  <a:pt x="7335837" y="1303537"/>
                  <a:pt x="7483475" y="1189237"/>
                  <a:pt x="7648575" y="1020962"/>
                </a:cubicBezTo>
                <a:cubicBezTo>
                  <a:pt x="7813675" y="852687"/>
                  <a:pt x="8039100" y="474862"/>
                  <a:pt x="8181975" y="316112"/>
                </a:cubicBezTo>
                <a:cubicBezTo>
                  <a:pt x="8324850" y="157362"/>
                  <a:pt x="8394700" y="93862"/>
                  <a:pt x="8505825" y="68462"/>
                </a:cubicBezTo>
                <a:cubicBezTo>
                  <a:pt x="8616950" y="43062"/>
                  <a:pt x="8701087" y="44649"/>
                  <a:pt x="8848725" y="163712"/>
                </a:cubicBezTo>
                <a:cubicBezTo>
                  <a:pt x="8996363" y="282775"/>
                  <a:pt x="9226550" y="605037"/>
                  <a:pt x="9391650" y="782837"/>
                </a:cubicBezTo>
                <a:cubicBezTo>
                  <a:pt x="9556750" y="960637"/>
                  <a:pt x="9693275" y="1154312"/>
                  <a:pt x="9839325" y="1230512"/>
                </a:cubicBezTo>
                <a:cubicBezTo>
                  <a:pt x="9985375" y="1306712"/>
                  <a:pt x="10101263" y="1314649"/>
                  <a:pt x="10267950" y="1240037"/>
                </a:cubicBezTo>
                <a:cubicBezTo>
                  <a:pt x="10434637" y="1165425"/>
                  <a:pt x="10691813" y="908249"/>
                  <a:pt x="10839450" y="782837"/>
                </a:cubicBezTo>
                <a:cubicBezTo>
                  <a:pt x="10987087" y="657425"/>
                  <a:pt x="11033125" y="558999"/>
                  <a:pt x="11153775" y="487562"/>
                </a:cubicBezTo>
                <a:cubicBezTo>
                  <a:pt x="11274425" y="416125"/>
                  <a:pt x="11439525" y="362149"/>
                  <a:pt x="11563350" y="354212"/>
                </a:cubicBezTo>
                <a:cubicBezTo>
                  <a:pt x="11687175" y="346274"/>
                  <a:pt x="11769725" y="371674"/>
                  <a:pt x="11896725" y="439937"/>
                </a:cubicBezTo>
                <a:cubicBezTo>
                  <a:pt x="12023725" y="508199"/>
                  <a:pt x="12174537" y="635993"/>
                  <a:pt x="12325350" y="763787"/>
                </a:cubicBezTo>
              </a:path>
            </a:pathLst>
          </a:custGeom>
          <a:noFill/>
          <a:ln w="25400" cap="rnd" cmpd="sng" algn="ctr">
            <a:solidFill>
              <a:srgbClr val="7C7C7C"/>
            </a:solidFill>
            <a:prstDash val="dash"/>
            <a:miter lim="800000"/>
          </a:ln>
          <a:effectLst/>
        </p:spPr>
        <p:txBody>
          <a:bodyPr rtlCol="0" anchor="ctr"/>
          <a:lstStyle/>
          <a:p>
            <a:pPr algn="ctr"/>
            <a:endParaRPr lang="zh-CN" altLang="en-US" kern="0">
              <a:solidFill>
                <a:prstClr val="white"/>
              </a:solidFill>
              <a:cs typeface="+mn-ea"/>
              <a:sym typeface="+mn-lt"/>
            </a:endParaRPr>
          </a:p>
        </p:txBody>
      </p:sp>
      <p:grpSp>
        <p:nvGrpSpPr>
          <p:cNvPr id="2" name="组合 1"/>
          <p:cNvGrpSpPr/>
          <p:nvPr/>
        </p:nvGrpSpPr>
        <p:grpSpPr>
          <a:xfrm>
            <a:off x="466871" y="5167055"/>
            <a:ext cx="1008000" cy="2936689"/>
            <a:chOff x="466871" y="5154355"/>
            <a:chExt cx="1008000" cy="2936689"/>
          </a:xfrm>
        </p:grpSpPr>
        <p:sp>
          <p:nvSpPr>
            <p:cNvPr id="48" name="等腰三角形 9"/>
            <p:cNvSpPr/>
            <p:nvPr/>
          </p:nvSpPr>
          <p:spPr>
            <a:xfrm rot="10800000">
              <a:off x="466871" y="5608198"/>
              <a:ext cx="1008000" cy="248284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9" name="椭圆 48"/>
            <p:cNvSpPr>
              <a:spLocks noChangeAspect="1"/>
            </p:cNvSpPr>
            <p:nvPr/>
          </p:nvSpPr>
          <p:spPr>
            <a:xfrm>
              <a:off x="517029" y="5154355"/>
              <a:ext cx="907686" cy="907687"/>
            </a:xfrm>
            <a:prstGeom prst="ellipse">
              <a:avLst/>
            </a:prstGeom>
            <a:gradFill>
              <a:gsLst>
                <a:gs pos="0">
                  <a:schemeClr val="bg1"/>
                </a:gs>
                <a:gs pos="60000">
                  <a:schemeClr val="bg2"/>
                </a:gs>
                <a:gs pos="100000">
                  <a:schemeClr val="bg1">
                    <a:lumMod val="85000"/>
                  </a:schemeClr>
                </a:gs>
              </a:gsLst>
              <a:lin ang="5400000" scaled="1"/>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p:nvPr/>
        </p:nvGrpSpPr>
        <p:grpSpPr>
          <a:xfrm>
            <a:off x="1745295" y="6092326"/>
            <a:ext cx="741401" cy="2160000"/>
            <a:chOff x="1770695" y="6092326"/>
            <a:chExt cx="741401" cy="2160000"/>
          </a:xfrm>
        </p:grpSpPr>
        <p:sp>
          <p:nvSpPr>
            <p:cNvPr id="51" name="等腰三角形 9"/>
            <p:cNvSpPr/>
            <p:nvPr/>
          </p:nvSpPr>
          <p:spPr>
            <a:xfrm rot="10800000">
              <a:off x="1770695" y="6426137"/>
              <a:ext cx="741401" cy="18261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2" name="椭圆 51"/>
            <p:cNvSpPr>
              <a:spLocks noChangeAspect="1"/>
            </p:cNvSpPr>
            <p:nvPr/>
          </p:nvSpPr>
          <p:spPr>
            <a:xfrm>
              <a:off x="1807586" y="6092326"/>
              <a:ext cx="669600" cy="669605"/>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5" name="组合 4"/>
          <p:cNvGrpSpPr/>
          <p:nvPr/>
        </p:nvGrpSpPr>
        <p:grpSpPr>
          <a:xfrm>
            <a:off x="3127820" y="6074100"/>
            <a:ext cx="605980" cy="1656000"/>
            <a:chOff x="3127820" y="6086800"/>
            <a:chExt cx="605980" cy="1656000"/>
          </a:xfrm>
        </p:grpSpPr>
        <p:sp>
          <p:nvSpPr>
            <p:cNvPr id="76" name="等腰三角形 9"/>
            <p:cNvSpPr/>
            <p:nvPr/>
          </p:nvSpPr>
          <p:spPr>
            <a:xfrm rot="10800000">
              <a:off x="3127820" y="6342722"/>
              <a:ext cx="605980" cy="140007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77" name="椭圆 76"/>
            <p:cNvSpPr>
              <a:spLocks noChangeAspect="1"/>
            </p:cNvSpPr>
            <p:nvPr/>
          </p:nvSpPr>
          <p:spPr>
            <a:xfrm>
              <a:off x="3174892" y="6086800"/>
              <a:ext cx="513356" cy="51336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6" name="组合 5"/>
          <p:cNvGrpSpPr/>
          <p:nvPr/>
        </p:nvGrpSpPr>
        <p:grpSpPr>
          <a:xfrm>
            <a:off x="4445045" y="5183458"/>
            <a:ext cx="864000" cy="2517173"/>
            <a:chOff x="4445045" y="5208858"/>
            <a:chExt cx="864000" cy="2517173"/>
          </a:xfrm>
        </p:grpSpPr>
        <p:sp>
          <p:nvSpPr>
            <p:cNvPr id="79" name="等腰三角形 9"/>
            <p:cNvSpPr/>
            <p:nvPr/>
          </p:nvSpPr>
          <p:spPr>
            <a:xfrm rot="10800000">
              <a:off x="4445045" y="5597868"/>
              <a:ext cx="864000" cy="2128163"/>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0" name="椭圆 79"/>
            <p:cNvSpPr>
              <a:spLocks noChangeAspect="1"/>
            </p:cNvSpPr>
            <p:nvPr/>
          </p:nvSpPr>
          <p:spPr>
            <a:xfrm>
              <a:off x="4488037" y="5208858"/>
              <a:ext cx="780326" cy="780329"/>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7" name="组合 6"/>
          <p:cNvGrpSpPr/>
          <p:nvPr/>
        </p:nvGrpSpPr>
        <p:grpSpPr>
          <a:xfrm>
            <a:off x="5845726" y="5660469"/>
            <a:ext cx="1037968" cy="3024000"/>
            <a:chOff x="5845726" y="5660469"/>
            <a:chExt cx="1037968" cy="3024000"/>
          </a:xfrm>
        </p:grpSpPr>
        <p:sp>
          <p:nvSpPr>
            <p:cNvPr id="82" name="等腰三角形 9"/>
            <p:cNvSpPr/>
            <p:nvPr/>
          </p:nvSpPr>
          <p:spPr>
            <a:xfrm rot="10800000">
              <a:off x="5845726" y="6127805"/>
              <a:ext cx="1037968" cy="255666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3" name="椭圆 82"/>
            <p:cNvSpPr>
              <a:spLocks noChangeAspect="1"/>
            </p:cNvSpPr>
            <p:nvPr/>
          </p:nvSpPr>
          <p:spPr>
            <a:xfrm>
              <a:off x="5897374" y="5660469"/>
              <a:ext cx="937446" cy="937447"/>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8" name="组合 7"/>
          <p:cNvGrpSpPr/>
          <p:nvPr/>
        </p:nvGrpSpPr>
        <p:grpSpPr>
          <a:xfrm>
            <a:off x="8682069" y="5544686"/>
            <a:ext cx="654812" cy="1783018"/>
            <a:chOff x="8682069" y="5557386"/>
            <a:chExt cx="654812" cy="1783018"/>
          </a:xfrm>
        </p:grpSpPr>
        <p:sp>
          <p:nvSpPr>
            <p:cNvPr id="85" name="等腰三角形 9"/>
            <p:cNvSpPr/>
            <p:nvPr/>
          </p:nvSpPr>
          <p:spPr>
            <a:xfrm rot="10800000">
              <a:off x="8682069" y="5832938"/>
              <a:ext cx="654812" cy="150746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6" name="椭圆 85"/>
            <p:cNvSpPr>
              <a:spLocks noChangeAspect="1"/>
            </p:cNvSpPr>
            <p:nvPr/>
          </p:nvSpPr>
          <p:spPr>
            <a:xfrm>
              <a:off x="8733927" y="5557386"/>
              <a:ext cx="552731" cy="55274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1" name="组合 30"/>
          <p:cNvGrpSpPr/>
          <p:nvPr/>
        </p:nvGrpSpPr>
        <p:grpSpPr>
          <a:xfrm>
            <a:off x="11330422" y="5471913"/>
            <a:ext cx="716685" cy="2088000"/>
            <a:chOff x="11330422" y="5408413"/>
            <a:chExt cx="716685" cy="2088000"/>
          </a:xfrm>
        </p:grpSpPr>
        <p:sp>
          <p:nvSpPr>
            <p:cNvPr id="88" name="等腰三角形 9"/>
            <p:cNvSpPr/>
            <p:nvPr/>
          </p:nvSpPr>
          <p:spPr>
            <a:xfrm rot="10800000">
              <a:off x="11330422" y="5731097"/>
              <a:ext cx="716685" cy="176531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9" name="椭圆 88"/>
            <p:cNvSpPr>
              <a:spLocks noChangeAspect="1"/>
            </p:cNvSpPr>
            <p:nvPr/>
          </p:nvSpPr>
          <p:spPr>
            <a:xfrm>
              <a:off x="11366083" y="5408413"/>
              <a:ext cx="647278" cy="647285"/>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91" name="文本框 90"/>
          <p:cNvSpPr txBox="1"/>
          <p:nvPr/>
        </p:nvSpPr>
        <p:spPr>
          <a:xfrm>
            <a:off x="1687385" y="671150"/>
            <a:ext cx="2954655" cy="923330"/>
          </a:xfrm>
          <a:prstGeom prst="rect">
            <a:avLst/>
          </a:prstGeom>
          <a:noFill/>
        </p:spPr>
        <p:txBody>
          <a:bodyPr wrap="none" rtlCol="0">
            <a:spAutoFit/>
          </a:bodyPr>
          <a:lstStyle/>
          <a:p>
            <a:r>
              <a:rPr lang="zh-CN" altLang="en-US" sz="5400" dirty="0">
                <a:solidFill>
                  <a:srgbClr val="000000">
                    <a:lumMod val="75000"/>
                    <a:lumOff val="25000"/>
                  </a:srgbClr>
                </a:solidFill>
                <a:effectLst>
                  <a:reflection blurRad="12700" stA="40000" endPos="40000" dist="12700" dir="5400000" sy="-100000" algn="bl" rotWithShape="0"/>
                </a:effectLst>
                <a:latin typeface="Noto Sans S Chinese Medium" panose="020B0600000000000000" pitchFamily="34" charset="-122"/>
                <a:ea typeface="Noto Sans S Chinese Medium" panose="020B0600000000000000" pitchFamily="34" charset="-122"/>
                <a:cs typeface="+mn-ea"/>
                <a:sym typeface="+mn-lt"/>
              </a:rPr>
              <a:t>本章内容</a:t>
            </a:r>
            <a:endParaRPr lang="zh-CN" altLang="en-US" sz="5400" dirty="0">
              <a:solidFill>
                <a:srgbClr val="000000">
                  <a:lumMod val="75000"/>
                  <a:lumOff val="25000"/>
                </a:srgbClr>
              </a:solidFill>
              <a:effectLst>
                <a:reflection blurRad="12700" stA="40000" endPos="40000" dist="12700" dir="5400000" sy="-100000" algn="bl" rotWithShape="0"/>
              </a:effectLst>
              <a:latin typeface="Noto Sans S Chinese Medium" panose="020B0600000000000000" pitchFamily="34" charset="-122"/>
              <a:ea typeface="Noto Sans S Chinese Medium" panose="020B0600000000000000" pitchFamily="34" charset="-122"/>
              <a:cs typeface="+mn-ea"/>
              <a:sym typeface="+mn-lt"/>
            </a:endParaRPr>
          </a:p>
        </p:txBody>
      </p:sp>
      <p:sp>
        <p:nvSpPr>
          <p:cNvPr id="13" name="椭圆 12"/>
          <p:cNvSpPr>
            <a:spLocks noChangeAspect="1"/>
          </p:cNvSpPr>
          <p:nvPr/>
        </p:nvSpPr>
        <p:spPr>
          <a:xfrm>
            <a:off x="2152071" y="2434358"/>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1</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15" name="文本框 14"/>
          <p:cNvSpPr txBox="1"/>
          <p:nvPr/>
        </p:nvSpPr>
        <p:spPr>
          <a:xfrm>
            <a:off x="2816070" y="2425583"/>
            <a:ext cx="1826141" cy="584775"/>
          </a:xfrm>
          <a:prstGeom prst="rect">
            <a:avLst/>
          </a:prstGeom>
          <a:noFill/>
        </p:spPr>
        <p:txBody>
          <a:bodyPr wrap="none" rtlCol="0">
            <a:spAutoFit/>
          </a:bodyPr>
          <a:lstStyle>
            <a:defPPr>
              <a:defRPr lang="zh-CN"/>
            </a:defPPr>
            <a:lvl1pPr>
              <a:defRPr sz="2800">
                <a:solidFill>
                  <a:schemeClr val="tx1">
                    <a:lumMod val="75000"/>
                    <a:lumOff val="25000"/>
                  </a:schemeClr>
                </a:solidFill>
                <a:cs typeface="+mn-ea"/>
              </a:defRPr>
            </a:lvl1pPr>
          </a:lstStyle>
          <a:p>
            <a:r>
              <a:rPr lang="zh-CN" altLang="en-US" sz="3200" dirty="0">
                <a:latin typeface="Noto Sans S Chinese Medium" panose="020B0600000000000000" pitchFamily="34" charset="-122"/>
                <a:ea typeface="Noto Sans S Chinese Medium" panose="020B0600000000000000" pitchFamily="34" charset="-122"/>
                <a:sym typeface="+mn-lt"/>
              </a:rPr>
              <a:t>算法概述</a:t>
            </a:r>
            <a:endParaRPr lang="en-US" altLang="zh-CN" sz="3200" dirty="0">
              <a:latin typeface="Noto Sans S Chinese Medium" panose="020B0600000000000000" pitchFamily="34" charset="-122"/>
              <a:ea typeface="Noto Sans S Chinese Medium" panose="020B0600000000000000" pitchFamily="34" charset="-122"/>
              <a:sym typeface="+mn-lt"/>
            </a:endParaRPr>
          </a:p>
        </p:txBody>
      </p:sp>
      <p:sp>
        <p:nvSpPr>
          <p:cNvPr id="19" name="椭圆 18"/>
          <p:cNvSpPr>
            <a:spLocks noChangeAspect="1"/>
          </p:cNvSpPr>
          <p:nvPr/>
        </p:nvSpPr>
        <p:spPr>
          <a:xfrm>
            <a:off x="2161134" y="3523542"/>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2</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1" name="文本框 20"/>
          <p:cNvSpPr txBox="1"/>
          <p:nvPr/>
        </p:nvSpPr>
        <p:spPr>
          <a:xfrm>
            <a:off x="2910567" y="3514766"/>
            <a:ext cx="1826141"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距离度量</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4" name="椭圆 23"/>
          <p:cNvSpPr>
            <a:spLocks noChangeAspect="1"/>
          </p:cNvSpPr>
          <p:nvPr/>
        </p:nvSpPr>
        <p:spPr>
          <a:xfrm>
            <a:off x="2115995" y="4651420"/>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3</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5" name="文本框 24"/>
          <p:cNvSpPr txBox="1"/>
          <p:nvPr/>
        </p:nvSpPr>
        <p:spPr>
          <a:xfrm>
            <a:off x="2901861" y="4695677"/>
            <a:ext cx="1943545" cy="584775"/>
          </a:xfrm>
          <a:prstGeom prst="rect">
            <a:avLst/>
          </a:prstGeom>
          <a:noFill/>
        </p:spPr>
        <p:txBody>
          <a:bodyPr wrap="none" rtlCol="0">
            <a:spAutoFit/>
          </a:bodyPr>
          <a:lstStyle/>
          <a:p>
            <a:r>
              <a:rPr lang="en-US" altLang="zh-CN" sz="3200" dirty="0" smtClean="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K-Means</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8" name="椭圆 27"/>
          <p:cNvSpPr>
            <a:spLocks noChangeAspect="1"/>
          </p:cNvSpPr>
          <p:nvPr/>
        </p:nvSpPr>
        <p:spPr>
          <a:xfrm>
            <a:off x="6509253" y="2536125"/>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4</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87" name="椭圆 86"/>
          <p:cNvSpPr>
            <a:spLocks noChangeAspect="1"/>
          </p:cNvSpPr>
          <p:nvPr/>
        </p:nvSpPr>
        <p:spPr>
          <a:xfrm>
            <a:off x="6507593" y="3512739"/>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5</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0" name="文本框 89"/>
          <p:cNvSpPr txBox="1"/>
          <p:nvPr/>
        </p:nvSpPr>
        <p:spPr>
          <a:xfrm>
            <a:off x="7352776" y="2495805"/>
            <a:ext cx="1826141" cy="584775"/>
          </a:xfrm>
          <a:prstGeom prst="rect">
            <a:avLst/>
          </a:prstGeom>
          <a:noFill/>
        </p:spPr>
        <p:txBody>
          <a:bodyPr wrap="none" rtlCol="0">
            <a:spAutoFit/>
          </a:bodyPr>
          <a:lstStyle/>
          <a:p>
            <a:r>
              <a:rPr lang="zh-CN" altLang="en-US" sz="3200" dirty="0" smtClean="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a:t>
            </a:r>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实例</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2" name="椭圆 91"/>
          <p:cNvSpPr>
            <a:spLocks noChangeAspect="1"/>
          </p:cNvSpPr>
          <p:nvPr/>
        </p:nvSpPr>
        <p:spPr>
          <a:xfrm>
            <a:off x="6566805" y="4621227"/>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6</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3" name="文本框 92"/>
          <p:cNvSpPr txBox="1"/>
          <p:nvPr/>
        </p:nvSpPr>
        <p:spPr>
          <a:xfrm>
            <a:off x="7366759" y="3478141"/>
            <a:ext cx="2646878" cy="584775"/>
          </a:xfrm>
          <a:prstGeom prst="rect">
            <a:avLst/>
          </a:prstGeom>
          <a:noFill/>
        </p:spPr>
        <p:txBody>
          <a:bodyPr wrap="none" rtlCol="0">
            <a:spAutoFit/>
          </a:bodyPr>
          <a:lstStyle/>
          <a:p>
            <a:r>
              <a:rPr lang="zh-CN" altLang="en-US" sz="3200" dirty="0" smtClean="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算法关键问题</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4" name="文本框 93"/>
          <p:cNvSpPr txBox="1"/>
          <p:nvPr/>
        </p:nvSpPr>
        <p:spPr>
          <a:xfrm>
            <a:off x="7366759" y="4616839"/>
            <a:ext cx="3057247" cy="584775"/>
          </a:xfrm>
          <a:prstGeom prst="rect">
            <a:avLst/>
          </a:prstGeom>
          <a:noFill/>
        </p:spPr>
        <p:txBody>
          <a:bodyPr wrap="none" rtlCol="0">
            <a:spAutoFit/>
          </a:bodyPr>
          <a:lstStyle/>
          <a:p>
            <a:r>
              <a:rPr lang="zh-CN" altLang="en-US" sz="3200" dirty="0" smtClean="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算法改进与优化</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01</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算法概述</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840179" y="3580755"/>
            <a:ext cx="3469667" cy="1077218"/>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OVERVIEW</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62271" y="2348881"/>
            <a:ext cx="6429587" cy="589905"/>
          </a:xfrm>
          <a:prstGeom prst="rect">
            <a:avLst/>
          </a:prstGeom>
          <a:solidFill>
            <a:srgbClr val="F1F1F1">
              <a:alpha val="50195"/>
            </a:srgbClr>
          </a:solidFill>
        </p:spPr>
        <p:txBody>
          <a:bodyPr vert="horz" wrap="square" lIns="0" tIns="218440" rIns="0" bIns="0" rtlCol="0">
            <a:spAutoFit/>
          </a:bodyPr>
          <a:lstStyle/>
          <a:p>
            <a:pPr marL="554990">
              <a:spcBef>
                <a:spcPts val="1720"/>
              </a:spcBef>
            </a:pPr>
            <a:r>
              <a:rPr lang="zh-CN" altLang="en-US" sz="2400" b="1" spc="10" dirty="0">
                <a:solidFill>
                  <a:srgbClr val="84ADAF"/>
                </a:solidFill>
                <a:latin typeface="Trebuchet MS" panose="020B0603020202020204"/>
                <a:cs typeface="Trebuchet MS" panose="020B0603020202020204"/>
              </a:rPr>
              <a:t>数据点有已知的结果</a:t>
            </a:r>
            <a:endParaRPr sz="2400" dirty="0">
              <a:latin typeface="Trebuchet MS" panose="020B0603020202020204"/>
              <a:cs typeface="Trebuchet MS" panose="020B0603020202020204"/>
            </a:endParaRPr>
          </a:p>
        </p:txBody>
      </p:sp>
      <p:sp>
        <p:nvSpPr>
          <p:cNvPr id="4" name="object 4"/>
          <p:cNvSpPr txBox="1"/>
          <p:nvPr/>
        </p:nvSpPr>
        <p:spPr>
          <a:xfrm>
            <a:off x="1265936" y="2372106"/>
            <a:ext cx="3197013" cy="522579"/>
          </a:xfrm>
          <a:prstGeom prst="rect">
            <a:avLst/>
          </a:prstGeom>
          <a:solidFill>
            <a:srgbClr val="C00000"/>
          </a:solidFill>
        </p:spPr>
        <p:txBody>
          <a:bodyPr vert="horz" wrap="square" lIns="0" tIns="29845" rIns="0" bIns="0" rtlCol="0">
            <a:spAutoFit/>
          </a:bodyPr>
          <a:lstStyle/>
          <a:p>
            <a:pPr marL="428625">
              <a:spcBef>
                <a:spcPts val="235"/>
              </a:spcBef>
            </a:pPr>
            <a:r>
              <a:rPr lang="zh-CN" altLang="en-US" sz="3200" b="1" dirty="0">
                <a:solidFill>
                  <a:srgbClr val="FFFFFF"/>
                </a:solidFill>
                <a:latin typeface="Trebuchet MS" panose="020B0603020202020204"/>
                <a:cs typeface="Trebuchet MS" panose="020B0603020202020204"/>
              </a:rPr>
              <a:t>有监督 </a:t>
            </a:r>
            <a:endParaRPr sz="3200" dirty="0">
              <a:latin typeface="Trebuchet MS" panose="020B0603020202020204"/>
              <a:cs typeface="Trebuchet MS" panose="020B0603020202020204"/>
            </a:endParaRPr>
          </a:p>
        </p:txBody>
      </p:sp>
      <p:sp>
        <p:nvSpPr>
          <p:cNvPr id="5" name="object 5"/>
          <p:cNvSpPr txBox="1"/>
          <p:nvPr/>
        </p:nvSpPr>
        <p:spPr>
          <a:xfrm>
            <a:off x="4462271" y="3501009"/>
            <a:ext cx="6429587" cy="589905"/>
          </a:xfrm>
          <a:prstGeom prst="rect">
            <a:avLst/>
          </a:prstGeom>
          <a:solidFill>
            <a:srgbClr val="F1F1F1">
              <a:alpha val="50195"/>
            </a:srgbClr>
          </a:solidFill>
        </p:spPr>
        <p:txBody>
          <a:bodyPr vert="horz" wrap="square" lIns="0" tIns="218440" rIns="0" bIns="0" rtlCol="0">
            <a:spAutoFit/>
          </a:bodyPr>
          <a:lstStyle/>
          <a:p>
            <a:pPr marL="554990">
              <a:spcBef>
                <a:spcPts val="1720"/>
              </a:spcBef>
            </a:pPr>
            <a:r>
              <a:rPr lang="zh-CN" altLang="en-US" sz="2400" b="1" spc="10" dirty="0">
                <a:solidFill>
                  <a:srgbClr val="84ADAF"/>
                </a:solidFill>
                <a:latin typeface="Trebuchet MS" panose="020B0603020202020204"/>
                <a:cs typeface="Trebuchet MS" panose="020B0603020202020204"/>
              </a:rPr>
              <a:t>数据点没有已知的结果</a:t>
            </a:r>
            <a:endParaRPr sz="2400" dirty="0">
              <a:latin typeface="Trebuchet MS" panose="020B0603020202020204"/>
              <a:cs typeface="Trebuchet MS" panose="020B0603020202020204"/>
            </a:endParaRPr>
          </a:p>
        </p:txBody>
      </p:sp>
      <p:sp>
        <p:nvSpPr>
          <p:cNvPr id="6" name="object 6"/>
          <p:cNvSpPr txBox="1"/>
          <p:nvPr/>
        </p:nvSpPr>
        <p:spPr>
          <a:xfrm>
            <a:off x="1265936" y="3512058"/>
            <a:ext cx="3197013" cy="523220"/>
          </a:xfrm>
          <a:prstGeom prst="rect">
            <a:avLst/>
          </a:prstGeom>
          <a:solidFill>
            <a:srgbClr val="0070C5"/>
          </a:solidFill>
        </p:spPr>
        <p:txBody>
          <a:bodyPr vert="horz" wrap="square" lIns="0" tIns="30480" rIns="0" bIns="0" rtlCol="0">
            <a:spAutoFit/>
          </a:bodyPr>
          <a:lstStyle/>
          <a:p>
            <a:pPr marL="250825" algn="ctr">
              <a:spcBef>
                <a:spcPts val="240"/>
              </a:spcBef>
            </a:pPr>
            <a:r>
              <a:rPr lang="zh-CN" altLang="en-US" sz="3200" b="1" dirty="0">
                <a:solidFill>
                  <a:srgbClr val="FFFFFF"/>
                </a:solidFill>
                <a:latin typeface="Trebuchet MS" panose="020B0603020202020204"/>
                <a:cs typeface="Trebuchet MS" panose="020B0603020202020204"/>
              </a:rPr>
              <a:t>无监督</a:t>
            </a:r>
            <a:endParaRPr sz="3200" dirty="0">
              <a:latin typeface="Trebuchet MS" panose="020B0603020202020204"/>
              <a:cs typeface="Trebuchet MS" panose="020B0603020202020204"/>
            </a:endParaRPr>
          </a:p>
        </p:txBody>
      </p:sp>
      <p:sp>
        <p:nvSpPr>
          <p:cNvPr id="9" name="标题 8"/>
          <p:cNvSpPr>
            <a:spLocks noGrp="1"/>
          </p:cNvSpPr>
          <p:nvPr>
            <p:ph type="title"/>
          </p:nvPr>
        </p:nvSpPr>
        <p:spPr/>
        <p:txBody>
          <a:bodyPr/>
          <a:lstStyle/>
          <a:p>
            <a:r>
              <a:rPr lang="zh-CN" altLang="en-US" dirty="0"/>
              <a:t>机器学习类型</a:t>
            </a:r>
            <a:endParaRPr lang="zh-CN" altLang="en-US" dirty="0"/>
          </a:p>
        </p:txBody>
      </p:sp>
      <p:sp>
        <p:nvSpPr>
          <p:cNvPr id="7" name="object 9"/>
          <p:cNvSpPr/>
          <p:nvPr/>
        </p:nvSpPr>
        <p:spPr>
          <a:xfrm>
            <a:off x="1041400" y="3284985"/>
            <a:ext cx="10078720" cy="1036319"/>
          </a:xfrm>
          <a:custGeom>
            <a:avLst/>
            <a:gdLst/>
            <a:ahLst/>
            <a:cxnLst/>
            <a:rect l="l" t="t" r="r" b="b"/>
            <a:pathLst>
              <a:path w="7559040" h="1036320">
                <a:moveTo>
                  <a:pt x="0" y="1036319"/>
                </a:moveTo>
                <a:lnTo>
                  <a:pt x="7559040" y="1036319"/>
                </a:lnTo>
                <a:lnTo>
                  <a:pt x="7559040" y="0"/>
                </a:lnTo>
                <a:lnTo>
                  <a:pt x="0" y="0"/>
                </a:lnTo>
                <a:lnTo>
                  <a:pt x="0" y="1036319"/>
                </a:lnTo>
                <a:close/>
              </a:path>
            </a:pathLst>
          </a:custGeom>
          <a:ln w="28956">
            <a:solidFill>
              <a:srgbClr val="9BB808"/>
            </a:solidFill>
          </a:ln>
        </p:spPr>
        <p:txBody>
          <a:bodyPr wrap="square" lIns="0" tIns="0" rIns="0" bIns="0" rtlCol="0"/>
          <a:lstStyle/>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1"/>
          <a:srcRect/>
          <a:stretch>
            <a:fillRect/>
          </a:stretch>
        </p:blipFill>
        <p:spPr bwMode="auto">
          <a:xfrm>
            <a:off x="420083" y="1887920"/>
            <a:ext cx="6426200" cy="42291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50800" y="6464300"/>
            <a:ext cx="6986400" cy="379591"/>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11252200" y="6616700"/>
            <a:ext cx="114300" cy="228600"/>
          </a:xfrm>
          <a:prstGeom prst="rect">
            <a:avLst/>
          </a:prstGeom>
          <a:noFill/>
        </p:spPr>
        <p:txBody>
          <a:bodyPr wrap="none" lIns="0" tIns="0" rIns="0" rtlCol="0">
            <a:spAutoFit/>
          </a:bodyPr>
          <a:lstStyle/>
          <a:p>
            <a:pPr>
              <a:lnSpc>
                <a:spcPts val="1800"/>
              </a:lnSpc>
            </a:pPr>
            <a:r>
              <a:rPr lang="en-US" altLang="zh-CN" sz="1800" dirty="0" smtClean="0">
                <a:solidFill>
                  <a:srgbClr val="FFFFFF"/>
                </a:solidFill>
                <a:latin typeface="Calibri" panose="020F0502020204030204" pitchFamily="18" charset="0"/>
                <a:cs typeface="Calibri" panose="020F0502020204030204" pitchFamily="18" charset="0"/>
              </a:rPr>
              <a:t>2</a:t>
            </a:r>
            <a:endParaRPr lang="en-US" altLang="zh-CN" sz="1800" dirty="0" smtClean="0">
              <a:solidFill>
                <a:srgbClr val="FFFFFF"/>
              </a:solidFill>
              <a:latin typeface="Calibri" panose="020F0502020204030204" pitchFamily="18" charset="0"/>
              <a:cs typeface="Calibri" panose="020F0502020204030204" pitchFamily="18" charset="0"/>
            </a:endParaRPr>
          </a:p>
        </p:txBody>
      </p:sp>
      <p:sp>
        <p:nvSpPr>
          <p:cNvPr id="10" name="TextBox 1"/>
          <p:cNvSpPr txBox="1"/>
          <p:nvPr/>
        </p:nvSpPr>
        <p:spPr>
          <a:xfrm>
            <a:off x="10477500" y="6604000"/>
            <a:ext cx="101600" cy="203200"/>
          </a:xfrm>
          <a:prstGeom prst="rect">
            <a:avLst/>
          </a:prstGeom>
          <a:noFill/>
        </p:spPr>
        <p:txBody>
          <a:bodyPr wrap="none" lIns="0" tIns="0" rIns="0" rtlCol="0">
            <a:spAutoFit/>
          </a:bodyPr>
          <a:lstStyle/>
          <a:p>
            <a:pPr>
              <a:lnSpc>
                <a:spcPts val="1600"/>
              </a:lnSpc>
            </a:pPr>
            <a:r>
              <a:rPr lang="en-US" altLang="zh-CN" sz="1600" dirty="0" smtClean="0">
                <a:solidFill>
                  <a:srgbClr val="FFFFFF"/>
                </a:solidFill>
                <a:latin typeface="Calibri" panose="020F0502020204030204" pitchFamily="18" charset="0"/>
                <a:cs typeface="Calibri" panose="020F0502020204030204" pitchFamily="18" charset="0"/>
              </a:rPr>
              <a:t>2</a:t>
            </a:r>
            <a:endParaRPr lang="en-US" altLang="zh-CN" sz="1600" dirty="0" smtClean="0">
              <a:solidFill>
                <a:srgbClr val="FFFFFF"/>
              </a:solidFill>
              <a:latin typeface="Calibri" panose="020F0502020204030204" pitchFamily="18" charset="0"/>
              <a:cs typeface="Calibri" panose="020F0502020204030204" pitchFamily="18" charset="0"/>
            </a:endParaRPr>
          </a:p>
        </p:txBody>
      </p:sp>
      <p:sp>
        <p:nvSpPr>
          <p:cNvPr id="11" name="TextBox 1"/>
          <p:cNvSpPr txBox="1"/>
          <p:nvPr/>
        </p:nvSpPr>
        <p:spPr>
          <a:xfrm>
            <a:off x="1086935" y="169899"/>
            <a:ext cx="4655121" cy="1572225"/>
          </a:xfrm>
          <a:prstGeom prst="rect">
            <a:avLst/>
          </a:prstGeom>
          <a:noFill/>
        </p:spPr>
        <p:txBody>
          <a:bodyPr wrap="none" lIns="0" tIns="0" rIns="0" rtlCol="0">
            <a:spAutoFit/>
          </a:bodyPr>
          <a:lstStyle/>
          <a:p>
            <a:pPr>
              <a:lnSpc>
                <a:spcPts val="4700"/>
              </a:lnSpc>
              <a:tabLst>
                <a:tab pos="4025900" algn="l"/>
              </a:tabLst>
            </a:pPr>
            <a:r>
              <a:rPr lang="en-US" altLang="zh-CN" sz="3600" dirty="0" smtClean="0">
                <a:solidFill>
                  <a:srgbClr val="000000"/>
                </a:solidFill>
                <a:latin typeface="微软雅黑" panose="020B0503020204020204" pitchFamily="34" charset="-122"/>
                <a:cs typeface="微软雅黑" panose="020B0503020204020204" pitchFamily="34" charset="-122"/>
              </a:rPr>
              <a:t>聚类</a:t>
            </a:r>
            <a:endParaRPr lang="en-US" altLang="zh-CN" sz="3600" dirty="0" smtClean="0">
              <a:solidFill>
                <a:srgbClr val="000000"/>
              </a:solidFill>
              <a:latin typeface="微软雅黑" panose="020B0503020204020204" pitchFamily="34" charset="-122"/>
              <a:cs typeface="微软雅黑" panose="020B0503020204020204" pitchFamily="34" charset="-122"/>
            </a:endParaRP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200"/>
              </a:lnSpc>
              <a:tabLst>
                <a:tab pos="4025900" algn="l"/>
              </a:tabLst>
            </a:pPr>
            <a:r>
              <a:rPr lang="en-US" altLang="zh-CN" dirty="0"/>
              <a:t> </a:t>
            </a:r>
            <a:r>
              <a:rPr lang="en-US" altLang="zh-CN" dirty="0" smtClean="0"/>
              <a:t>                       </a:t>
            </a:r>
            <a:r>
              <a:rPr lang="en-US" altLang="zh-CN" sz="2400" dirty="0" err="1" smtClean="0">
                <a:solidFill>
                  <a:srgbClr val="07080B"/>
                </a:solidFill>
                <a:latin typeface="微软雅黑" panose="020B0503020204020204" pitchFamily="34" charset="-122"/>
                <a:cs typeface="微软雅黑" panose="020B0503020204020204" pitchFamily="34" charset="-122"/>
              </a:rPr>
              <a:t>聚类跟分类有什么区别</a:t>
            </a:r>
            <a:r>
              <a:rPr lang="en-US" altLang="zh-CN" sz="2400" dirty="0" smtClean="0">
                <a:solidFill>
                  <a:srgbClr val="07080B"/>
                </a:solidFill>
                <a:latin typeface="微软雅黑" panose="020B0503020204020204" pitchFamily="34" charset="-122"/>
                <a:cs typeface="微软雅黑" panose="020B0503020204020204" pitchFamily="34" charset="-122"/>
              </a:rPr>
              <a:t>？</a:t>
            </a:r>
            <a:endParaRPr lang="en-US" altLang="zh-CN" sz="2400" dirty="0" smtClean="0">
              <a:solidFill>
                <a:srgbClr val="07080B"/>
              </a:solidFill>
              <a:latin typeface="微软雅黑" panose="020B0503020204020204" pitchFamily="34" charset="-122"/>
              <a:cs typeface="微软雅黑" panose="020B0503020204020204" pitchFamily="34" charset="-122"/>
            </a:endParaRPr>
          </a:p>
        </p:txBody>
      </p:sp>
      <p:sp>
        <p:nvSpPr>
          <p:cNvPr id="12" name="内容占位符 3"/>
          <p:cNvSpPr txBox="1"/>
          <p:nvPr/>
        </p:nvSpPr>
        <p:spPr>
          <a:xfrm>
            <a:off x="6263893" y="1294415"/>
            <a:ext cx="5555924" cy="5004276"/>
          </a:xfr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tint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lvl="1">
              <a:lnSpc>
                <a:spcPct val="150000"/>
              </a:lnSpc>
              <a:spcBef>
                <a:spcPts val="200"/>
              </a:spcBef>
              <a:spcAft>
                <a:spcPts val="200"/>
              </a:spcAft>
              <a:buClr>
                <a:schemeClr val="accent4"/>
              </a:buClr>
              <a:buSzPct val="100000"/>
              <a:buFont typeface="Wingdings" panose="05000000000000000000" pitchFamily="2" charset="2"/>
              <a:buChar char="n"/>
            </a:pPr>
            <a:r>
              <a:rPr lang="zh-CN" altLang="zh-CN" dirty="0" smtClean="0">
                <a:solidFill>
                  <a:schemeClr val="tx1"/>
                </a:solidFill>
                <a:latin typeface="Cambria" panose="02040503050406030204" pitchFamily="18" charset="0"/>
              </a:rPr>
              <a:t>聚类就是将集合划分成由类（相）似的对象组成的多个类的过程</a:t>
            </a:r>
            <a:r>
              <a:rPr lang="zh-CN" altLang="en-US" dirty="0" smtClean="0">
                <a:solidFill>
                  <a:schemeClr val="tx1"/>
                </a:solidFill>
                <a:latin typeface="Cambria" panose="02040503050406030204" pitchFamily="18" charset="0"/>
              </a:rPr>
              <a:t>。</a:t>
            </a:r>
            <a:endParaRPr lang="en-US" altLang="zh-CN" dirty="0" smtClean="0">
              <a:solidFill>
                <a:schemeClr val="tx1"/>
              </a:solidFill>
              <a:latin typeface="Cambria" panose="02040503050406030204" pitchFamily="18" charset="0"/>
              <a:ea typeface="Cambria" panose="02040503050406030204" pitchFamily="18" charset="0"/>
            </a:endParaRPr>
          </a:p>
          <a:p>
            <a:pPr lvl="1">
              <a:lnSpc>
                <a:spcPct val="150000"/>
              </a:lnSpc>
              <a:spcBef>
                <a:spcPts val="200"/>
              </a:spcBef>
              <a:spcAft>
                <a:spcPts val="200"/>
              </a:spcAft>
              <a:buClr>
                <a:schemeClr val="accent4"/>
              </a:buClr>
              <a:buSzPct val="100000"/>
              <a:buFont typeface="Wingdings" panose="05000000000000000000" pitchFamily="2" charset="2"/>
              <a:buChar char="n"/>
            </a:pPr>
            <a:r>
              <a:rPr lang="zh-CN" altLang="zh-CN" dirty="0" smtClean="0">
                <a:solidFill>
                  <a:schemeClr val="tx1"/>
                </a:solidFill>
                <a:latin typeface="Cambria" panose="02040503050406030204" pitchFamily="18" charset="0"/>
              </a:rPr>
              <a:t>聚类分析是研究（样品或指标）分类问题的一种统计分析方法。</a:t>
            </a:r>
            <a:endParaRPr lang="en-US" altLang="zh-CN" dirty="0" smtClean="0">
              <a:solidFill>
                <a:schemeClr val="tx1"/>
              </a:solidFill>
              <a:latin typeface="Cambria" panose="02040503050406030204" pitchFamily="18" charset="0"/>
              <a:ea typeface="Cambria" panose="02040503050406030204" pitchFamily="18" charset="0"/>
            </a:endParaRPr>
          </a:p>
          <a:p>
            <a:pPr lvl="1">
              <a:lnSpc>
                <a:spcPct val="150000"/>
              </a:lnSpc>
              <a:spcBef>
                <a:spcPts val="200"/>
              </a:spcBef>
              <a:spcAft>
                <a:spcPts val="200"/>
              </a:spcAft>
              <a:buClr>
                <a:schemeClr val="accent4"/>
              </a:buClr>
              <a:buSzPct val="100000"/>
              <a:buFont typeface="Wingdings" panose="05000000000000000000" pitchFamily="2" charset="2"/>
              <a:buChar char="n"/>
            </a:pPr>
            <a:r>
              <a:rPr lang="zh-CN" altLang="zh-CN" dirty="0" smtClean="0">
                <a:solidFill>
                  <a:schemeClr val="tx1"/>
                </a:solidFill>
                <a:latin typeface="Cambria" panose="02040503050406030204" pitchFamily="18" charset="0"/>
              </a:rPr>
              <a:t>聚类所要求划分的类是未知的，一般把它理解为无监督学习。而分类算法是有训练样本的，属于监督学习</a:t>
            </a:r>
            <a:r>
              <a:rPr lang="zh-CN" altLang="zh-CN" dirty="0" smtClean="0">
                <a:latin typeface="Cambria" panose="02040503050406030204" pitchFamily="18" charset="0"/>
              </a:rPr>
              <a:t>。</a:t>
            </a:r>
            <a:endParaRPr lang="zh-CN" altLang="en-US"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4856479" y="3635503"/>
            <a:ext cx="1319107" cy="453329"/>
          </a:xfrm>
          <a:prstGeom prst="rect">
            <a:avLst/>
          </a:prstGeom>
          <a:solidFill>
            <a:srgbClr val="344B5E"/>
          </a:solidFill>
        </p:spPr>
        <p:txBody>
          <a:bodyPr vert="horz" wrap="square" lIns="0" tIns="22225" rIns="0" bIns="0" rtlCol="0">
            <a:spAutoFit/>
          </a:bodyPr>
          <a:lstStyle/>
          <a:p>
            <a:pPr marL="197485">
              <a:spcBef>
                <a:spcPts val="175"/>
              </a:spcBef>
            </a:pPr>
            <a:r>
              <a:rPr lang="zh-CN" altLang="en-US" sz="2800" b="1" dirty="0">
                <a:solidFill>
                  <a:srgbClr val="FFFFFF"/>
                </a:solidFill>
                <a:latin typeface="Trebuchet MS" panose="020B0603020202020204"/>
                <a:cs typeface="Trebuchet MS" panose="020B0603020202020204"/>
              </a:rPr>
              <a:t>模型</a:t>
            </a:r>
            <a:endParaRPr sz="2800" dirty="0">
              <a:latin typeface="Trebuchet MS" panose="020B0603020202020204"/>
              <a:cs typeface="Trebuchet MS" panose="020B0603020202020204"/>
            </a:endParaRPr>
          </a:p>
        </p:txBody>
      </p:sp>
      <p:sp>
        <p:nvSpPr>
          <p:cNvPr id="4" name="object 4"/>
          <p:cNvSpPr txBox="1"/>
          <p:nvPr/>
        </p:nvSpPr>
        <p:spPr>
          <a:xfrm>
            <a:off x="9182608" y="2495550"/>
            <a:ext cx="1425893" cy="452688"/>
          </a:xfrm>
          <a:prstGeom prst="rect">
            <a:avLst/>
          </a:prstGeom>
          <a:solidFill>
            <a:srgbClr val="344B5E"/>
          </a:solidFill>
        </p:spPr>
        <p:txBody>
          <a:bodyPr vert="horz" wrap="square" lIns="0" tIns="21590" rIns="0" bIns="0" rtlCol="0">
            <a:spAutoFit/>
          </a:bodyPr>
          <a:lstStyle/>
          <a:p>
            <a:pPr marL="283210">
              <a:spcBef>
                <a:spcPts val="170"/>
              </a:spcBef>
            </a:pPr>
            <a:r>
              <a:rPr lang="zh-CN" altLang="en-US" sz="2800" b="1" dirty="0">
                <a:solidFill>
                  <a:srgbClr val="FFFFFF"/>
                </a:solidFill>
                <a:latin typeface="Trebuchet MS" panose="020B0603020202020204"/>
                <a:cs typeface="Trebuchet MS" panose="020B0603020202020204"/>
              </a:rPr>
              <a:t>结构</a:t>
            </a:r>
            <a:endParaRPr sz="2800" dirty="0">
              <a:latin typeface="Trebuchet MS" panose="020B0603020202020204"/>
              <a:cs typeface="Trebuchet MS" panose="020B0603020202020204"/>
            </a:endParaRPr>
          </a:p>
        </p:txBody>
      </p:sp>
      <p:sp>
        <p:nvSpPr>
          <p:cNvPr id="5" name="object 5"/>
          <p:cNvSpPr/>
          <p:nvPr/>
        </p:nvSpPr>
        <p:spPr>
          <a:xfrm>
            <a:off x="1266951" y="2363724"/>
            <a:ext cx="5464387" cy="754380"/>
          </a:xfrm>
          <a:custGeom>
            <a:avLst/>
            <a:gdLst/>
            <a:ahLst/>
            <a:cxnLst/>
            <a:rect l="l" t="t" r="r" b="b"/>
            <a:pathLst>
              <a:path w="4098290" h="754380">
                <a:moveTo>
                  <a:pt x="0" y="754380"/>
                </a:moveTo>
                <a:lnTo>
                  <a:pt x="4098036" y="754380"/>
                </a:lnTo>
                <a:lnTo>
                  <a:pt x="4098036" y="0"/>
                </a:lnTo>
                <a:lnTo>
                  <a:pt x="0" y="0"/>
                </a:lnTo>
                <a:lnTo>
                  <a:pt x="0" y="754380"/>
                </a:lnTo>
                <a:close/>
              </a:path>
            </a:pathLst>
          </a:custGeom>
          <a:ln w="28956">
            <a:solidFill>
              <a:srgbClr val="9BB808"/>
            </a:solidFill>
          </a:ln>
        </p:spPr>
        <p:txBody>
          <a:bodyPr wrap="square" lIns="0" tIns="0" rIns="0" bIns="0" rtlCol="0"/>
          <a:lstStyle/>
          <a:p/>
        </p:txBody>
      </p:sp>
      <p:sp>
        <p:nvSpPr>
          <p:cNvPr id="6" name="object 6"/>
          <p:cNvSpPr/>
          <p:nvPr/>
        </p:nvSpPr>
        <p:spPr>
          <a:xfrm>
            <a:off x="6731002" y="2672969"/>
            <a:ext cx="2178473" cy="134620"/>
          </a:xfrm>
          <a:custGeom>
            <a:avLst/>
            <a:gdLst/>
            <a:ahLst/>
            <a:cxnLst/>
            <a:rect l="l" t="t" r="r" b="b"/>
            <a:pathLst>
              <a:path w="1633854" h="134619">
                <a:moveTo>
                  <a:pt x="1576451" y="67182"/>
                </a:moveTo>
                <a:lnTo>
                  <a:pt x="1510919" y="105409"/>
                </a:lnTo>
                <a:lnTo>
                  <a:pt x="1503933" y="109346"/>
                </a:lnTo>
                <a:lnTo>
                  <a:pt x="1501648" y="118236"/>
                </a:lnTo>
                <a:lnTo>
                  <a:pt x="1505711" y="125094"/>
                </a:lnTo>
                <a:lnTo>
                  <a:pt x="1509776" y="132079"/>
                </a:lnTo>
                <a:lnTo>
                  <a:pt x="1518539" y="134365"/>
                </a:lnTo>
                <a:lnTo>
                  <a:pt x="1609004" y="81660"/>
                </a:lnTo>
                <a:lnTo>
                  <a:pt x="1605026" y="81660"/>
                </a:lnTo>
                <a:lnTo>
                  <a:pt x="1605026" y="79628"/>
                </a:lnTo>
                <a:lnTo>
                  <a:pt x="1597786" y="79628"/>
                </a:lnTo>
                <a:lnTo>
                  <a:pt x="1576451" y="67182"/>
                </a:lnTo>
                <a:close/>
              </a:path>
              <a:path w="1633854" h="134619">
                <a:moveTo>
                  <a:pt x="1551631" y="52704"/>
                </a:moveTo>
                <a:lnTo>
                  <a:pt x="0" y="52704"/>
                </a:lnTo>
                <a:lnTo>
                  <a:pt x="0" y="81660"/>
                </a:lnTo>
                <a:lnTo>
                  <a:pt x="1551631" y="81660"/>
                </a:lnTo>
                <a:lnTo>
                  <a:pt x="1576451" y="67182"/>
                </a:lnTo>
                <a:lnTo>
                  <a:pt x="1551631" y="52704"/>
                </a:lnTo>
                <a:close/>
              </a:path>
              <a:path w="1633854" h="134619">
                <a:moveTo>
                  <a:pt x="1609006" y="52704"/>
                </a:moveTo>
                <a:lnTo>
                  <a:pt x="1605026" y="52704"/>
                </a:lnTo>
                <a:lnTo>
                  <a:pt x="1605026" y="81660"/>
                </a:lnTo>
                <a:lnTo>
                  <a:pt x="1609004" y="81660"/>
                </a:lnTo>
                <a:lnTo>
                  <a:pt x="1633854" y="67182"/>
                </a:lnTo>
                <a:lnTo>
                  <a:pt x="1609006" y="52704"/>
                </a:lnTo>
                <a:close/>
              </a:path>
              <a:path w="1633854" h="134619">
                <a:moveTo>
                  <a:pt x="1597786" y="54736"/>
                </a:moveTo>
                <a:lnTo>
                  <a:pt x="1576451" y="67182"/>
                </a:lnTo>
                <a:lnTo>
                  <a:pt x="1597786" y="79628"/>
                </a:lnTo>
                <a:lnTo>
                  <a:pt x="1597786" y="54736"/>
                </a:lnTo>
                <a:close/>
              </a:path>
              <a:path w="1633854" h="134619">
                <a:moveTo>
                  <a:pt x="1605026" y="54736"/>
                </a:moveTo>
                <a:lnTo>
                  <a:pt x="1597786" y="54736"/>
                </a:lnTo>
                <a:lnTo>
                  <a:pt x="1597786" y="79628"/>
                </a:lnTo>
                <a:lnTo>
                  <a:pt x="1605026" y="79628"/>
                </a:lnTo>
                <a:lnTo>
                  <a:pt x="1605026" y="54736"/>
                </a:lnTo>
                <a:close/>
              </a:path>
              <a:path w="1633854" h="134619">
                <a:moveTo>
                  <a:pt x="1518539" y="0"/>
                </a:moveTo>
                <a:lnTo>
                  <a:pt x="1509776" y="2285"/>
                </a:lnTo>
                <a:lnTo>
                  <a:pt x="1505711" y="9270"/>
                </a:lnTo>
                <a:lnTo>
                  <a:pt x="1501648" y="16128"/>
                </a:lnTo>
                <a:lnTo>
                  <a:pt x="1503933" y="25018"/>
                </a:lnTo>
                <a:lnTo>
                  <a:pt x="1510919" y="28955"/>
                </a:lnTo>
                <a:lnTo>
                  <a:pt x="1576451" y="67182"/>
                </a:lnTo>
                <a:lnTo>
                  <a:pt x="1597786" y="54736"/>
                </a:lnTo>
                <a:lnTo>
                  <a:pt x="1605026" y="54736"/>
                </a:lnTo>
                <a:lnTo>
                  <a:pt x="1605026" y="52704"/>
                </a:lnTo>
                <a:lnTo>
                  <a:pt x="1609006" y="52704"/>
                </a:lnTo>
                <a:lnTo>
                  <a:pt x="1518539" y="0"/>
                </a:lnTo>
                <a:close/>
              </a:path>
            </a:pathLst>
          </a:custGeom>
          <a:solidFill>
            <a:srgbClr val="9BB808"/>
          </a:solidFill>
        </p:spPr>
        <p:txBody>
          <a:bodyPr wrap="square" lIns="0" tIns="0" rIns="0" bIns="0" rtlCol="0"/>
          <a:lstStyle/>
          <a:p/>
        </p:txBody>
      </p:sp>
      <p:sp>
        <p:nvSpPr>
          <p:cNvPr id="7" name="object 7"/>
          <p:cNvSpPr txBox="1"/>
          <p:nvPr/>
        </p:nvSpPr>
        <p:spPr>
          <a:xfrm>
            <a:off x="2206582" y="2600707"/>
            <a:ext cx="3528399" cy="320601"/>
          </a:xfrm>
          <a:prstGeom prst="rect">
            <a:avLst/>
          </a:prstGeom>
        </p:spPr>
        <p:txBody>
          <a:bodyPr vert="horz" wrap="square" lIns="0" tIns="12700" rIns="0" bIns="0" rtlCol="0">
            <a:spAutoFit/>
          </a:bodyPr>
          <a:lstStyle/>
          <a:p>
            <a:pPr marL="12700">
              <a:spcBef>
                <a:spcPts val="100"/>
              </a:spcBef>
            </a:pPr>
            <a:r>
              <a:rPr lang="zh-CN" altLang="en-US" sz="2000" b="1" dirty="0">
                <a:solidFill>
                  <a:srgbClr val="84ADAF"/>
                </a:solidFill>
                <a:latin typeface="Trebuchet MS" panose="020B0603020202020204"/>
                <a:cs typeface="Trebuchet MS" panose="020B0603020202020204"/>
              </a:rPr>
              <a:t>无标记数据（无答案）</a:t>
            </a:r>
            <a:endParaRPr sz="2000" dirty="0">
              <a:latin typeface="Trebuchet MS" panose="020B0603020202020204"/>
              <a:cs typeface="Trebuchet MS" panose="020B0603020202020204"/>
            </a:endParaRPr>
          </a:p>
        </p:txBody>
      </p:sp>
      <p:sp>
        <p:nvSpPr>
          <p:cNvPr id="8" name="object 8"/>
          <p:cNvSpPr/>
          <p:nvPr/>
        </p:nvSpPr>
        <p:spPr>
          <a:xfrm>
            <a:off x="7406639" y="2600707"/>
            <a:ext cx="695112" cy="376555"/>
          </a:xfrm>
          <a:custGeom>
            <a:avLst/>
            <a:gdLst/>
            <a:ahLst/>
            <a:cxnLst/>
            <a:rect l="l" t="t" r="r" b="b"/>
            <a:pathLst>
              <a:path w="521335" h="376555">
                <a:moveTo>
                  <a:pt x="0" y="376428"/>
                </a:moveTo>
                <a:lnTo>
                  <a:pt x="521208" y="376428"/>
                </a:lnTo>
                <a:lnTo>
                  <a:pt x="521208" y="0"/>
                </a:lnTo>
                <a:lnTo>
                  <a:pt x="0" y="0"/>
                </a:lnTo>
                <a:lnTo>
                  <a:pt x="0" y="376428"/>
                </a:lnTo>
                <a:close/>
              </a:path>
            </a:pathLst>
          </a:custGeom>
          <a:solidFill>
            <a:srgbClr val="FFFFFF"/>
          </a:solidFill>
        </p:spPr>
        <p:txBody>
          <a:bodyPr wrap="square" lIns="0" tIns="0" rIns="0" bIns="0" rtlCol="0"/>
          <a:lstStyle/>
          <a:p/>
        </p:txBody>
      </p:sp>
      <p:sp>
        <p:nvSpPr>
          <p:cNvPr id="9" name="object 9"/>
          <p:cNvSpPr txBox="1"/>
          <p:nvPr/>
        </p:nvSpPr>
        <p:spPr>
          <a:xfrm>
            <a:off x="7554639" y="2570939"/>
            <a:ext cx="402167" cy="300355"/>
          </a:xfrm>
          <a:prstGeom prst="rect">
            <a:avLst/>
          </a:prstGeom>
        </p:spPr>
        <p:txBody>
          <a:bodyPr vert="horz" wrap="square" lIns="0" tIns="12700" rIns="0" bIns="0" rtlCol="0">
            <a:spAutoFit/>
          </a:bodyPr>
          <a:lstStyle/>
          <a:p>
            <a:pPr marL="12700">
              <a:spcBef>
                <a:spcPts val="100"/>
              </a:spcBef>
            </a:pPr>
            <a:r>
              <a:rPr b="1" spc="-45" dirty="0">
                <a:solidFill>
                  <a:srgbClr val="84ADAF"/>
                </a:solidFill>
                <a:latin typeface="Trebuchet MS" panose="020B0603020202020204"/>
                <a:cs typeface="Trebuchet MS" panose="020B0603020202020204"/>
              </a:rPr>
              <a:t>Fit</a:t>
            </a:r>
            <a:endParaRPr>
              <a:latin typeface="Trebuchet MS" panose="020B0603020202020204"/>
              <a:cs typeface="Trebuchet MS" panose="020B0603020202020204"/>
            </a:endParaRPr>
          </a:p>
        </p:txBody>
      </p:sp>
      <p:sp>
        <p:nvSpPr>
          <p:cNvPr id="10" name="object 10"/>
          <p:cNvSpPr txBox="1"/>
          <p:nvPr/>
        </p:nvSpPr>
        <p:spPr>
          <a:xfrm>
            <a:off x="9238828" y="3586227"/>
            <a:ext cx="2010833" cy="628377"/>
          </a:xfrm>
          <a:prstGeom prst="rect">
            <a:avLst/>
          </a:prstGeom>
        </p:spPr>
        <p:txBody>
          <a:bodyPr vert="horz" wrap="square" lIns="0" tIns="12700" rIns="0" bIns="0" rtlCol="0">
            <a:spAutoFit/>
          </a:bodyPr>
          <a:lstStyle/>
          <a:p>
            <a:pPr marL="131445" marR="5080" indent="-119380" algn="ctr">
              <a:spcBef>
                <a:spcPts val="100"/>
              </a:spcBef>
            </a:pPr>
            <a:r>
              <a:rPr lang="zh-CN" altLang="en-US" sz="2000" b="1" spc="85" dirty="0">
                <a:solidFill>
                  <a:srgbClr val="84ADAF"/>
                </a:solidFill>
                <a:latin typeface="Trebuchet MS" panose="020B0603020202020204"/>
                <a:cs typeface="Trebuchet MS" panose="020B0603020202020204"/>
              </a:rPr>
              <a:t>将新的数据映射到结构</a:t>
            </a:r>
            <a:endParaRPr sz="2000" dirty="0">
              <a:latin typeface="Trebuchet MS" panose="020B0603020202020204"/>
              <a:cs typeface="Trebuchet MS" panose="020B0603020202020204"/>
            </a:endParaRPr>
          </a:p>
        </p:txBody>
      </p:sp>
      <p:sp>
        <p:nvSpPr>
          <p:cNvPr id="11" name="object 11"/>
          <p:cNvSpPr/>
          <p:nvPr/>
        </p:nvSpPr>
        <p:spPr>
          <a:xfrm>
            <a:off x="1266951" y="3503676"/>
            <a:ext cx="5464387" cy="754380"/>
          </a:xfrm>
          <a:custGeom>
            <a:avLst/>
            <a:gdLst/>
            <a:ahLst/>
            <a:cxnLst/>
            <a:rect l="l" t="t" r="r" b="b"/>
            <a:pathLst>
              <a:path w="4098290" h="754379">
                <a:moveTo>
                  <a:pt x="0" y="754380"/>
                </a:moveTo>
                <a:lnTo>
                  <a:pt x="4098036" y="754380"/>
                </a:lnTo>
                <a:lnTo>
                  <a:pt x="4098036" y="0"/>
                </a:lnTo>
                <a:lnTo>
                  <a:pt x="0" y="0"/>
                </a:lnTo>
                <a:lnTo>
                  <a:pt x="0" y="754380"/>
                </a:lnTo>
                <a:close/>
              </a:path>
            </a:pathLst>
          </a:custGeom>
          <a:ln w="28956">
            <a:solidFill>
              <a:srgbClr val="9BB808"/>
            </a:solidFill>
          </a:ln>
        </p:spPr>
        <p:txBody>
          <a:bodyPr wrap="square" lIns="0" tIns="0" rIns="0" bIns="0" rtlCol="0"/>
          <a:lstStyle/>
          <a:p/>
        </p:txBody>
      </p:sp>
      <p:sp>
        <p:nvSpPr>
          <p:cNvPr id="12" name="object 12"/>
          <p:cNvSpPr/>
          <p:nvPr/>
        </p:nvSpPr>
        <p:spPr>
          <a:xfrm>
            <a:off x="6731002" y="3812920"/>
            <a:ext cx="2178473" cy="134620"/>
          </a:xfrm>
          <a:custGeom>
            <a:avLst/>
            <a:gdLst/>
            <a:ahLst/>
            <a:cxnLst/>
            <a:rect l="l" t="t" r="r" b="b"/>
            <a:pathLst>
              <a:path w="1633854" h="134619">
                <a:moveTo>
                  <a:pt x="1576451" y="67183"/>
                </a:moveTo>
                <a:lnTo>
                  <a:pt x="1510919" y="105410"/>
                </a:lnTo>
                <a:lnTo>
                  <a:pt x="1503933" y="109347"/>
                </a:lnTo>
                <a:lnTo>
                  <a:pt x="1501648" y="118237"/>
                </a:lnTo>
                <a:lnTo>
                  <a:pt x="1505711" y="125095"/>
                </a:lnTo>
                <a:lnTo>
                  <a:pt x="1509776" y="132080"/>
                </a:lnTo>
                <a:lnTo>
                  <a:pt x="1518539" y="134366"/>
                </a:lnTo>
                <a:lnTo>
                  <a:pt x="1609004" y="81661"/>
                </a:lnTo>
                <a:lnTo>
                  <a:pt x="1605026" y="81661"/>
                </a:lnTo>
                <a:lnTo>
                  <a:pt x="1605026" y="79629"/>
                </a:lnTo>
                <a:lnTo>
                  <a:pt x="1597786" y="79629"/>
                </a:lnTo>
                <a:lnTo>
                  <a:pt x="1576451" y="67183"/>
                </a:lnTo>
                <a:close/>
              </a:path>
              <a:path w="1633854" h="134619">
                <a:moveTo>
                  <a:pt x="1551631" y="52705"/>
                </a:moveTo>
                <a:lnTo>
                  <a:pt x="0" y="52705"/>
                </a:lnTo>
                <a:lnTo>
                  <a:pt x="0" y="81661"/>
                </a:lnTo>
                <a:lnTo>
                  <a:pt x="1551631" y="81661"/>
                </a:lnTo>
                <a:lnTo>
                  <a:pt x="1576451" y="67183"/>
                </a:lnTo>
                <a:lnTo>
                  <a:pt x="1551631" y="52705"/>
                </a:lnTo>
                <a:close/>
              </a:path>
              <a:path w="1633854" h="134619">
                <a:moveTo>
                  <a:pt x="1609006" y="52705"/>
                </a:moveTo>
                <a:lnTo>
                  <a:pt x="1605026" y="52705"/>
                </a:lnTo>
                <a:lnTo>
                  <a:pt x="1605026" y="81661"/>
                </a:lnTo>
                <a:lnTo>
                  <a:pt x="1609004" y="81661"/>
                </a:lnTo>
                <a:lnTo>
                  <a:pt x="1633854" y="67183"/>
                </a:lnTo>
                <a:lnTo>
                  <a:pt x="1609006" y="52705"/>
                </a:lnTo>
                <a:close/>
              </a:path>
              <a:path w="1633854" h="134619">
                <a:moveTo>
                  <a:pt x="1597786" y="54737"/>
                </a:moveTo>
                <a:lnTo>
                  <a:pt x="1576451" y="67183"/>
                </a:lnTo>
                <a:lnTo>
                  <a:pt x="1597786" y="79629"/>
                </a:lnTo>
                <a:lnTo>
                  <a:pt x="1597786" y="54737"/>
                </a:lnTo>
                <a:close/>
              </a:path>
              <a:path w="1633854" h="134619">
                <a:moveTo>
                  <a:pt x="1605026" y="54737"/>
                </a:moveTo>
                <a:lnTo>
                  <a:pt x="1597786" y="54737"/>
                </a:lnTo>
                <a:lnTo>
                  <a:pt x="1597786" y="79629"/>
                </a:lnTo>
                <a:lnTo>
                  <a:pt x="1605026" y="79629"/>
                </a:lnTo>
                <a:lnTo>
                  <a:pt x="1605026" y="54737"/>
                </a:lnTo>
                <a:close/>
              </a:path>
              <a:path w="1633854" h="134619">
                <a:moveTo>
                  <a:pt x="1518539" y="0"/>
                </a:moveTo>
                <a:lnTo>
                  <a:pt x="1509776" y="2286"/>
                </a:lnTo>
                <a:lnTo>
                  <a:pt x="1505711" y="9271"/>
                </a:lnTo>
                <a:lnTo>
                  <a:pt x="1501648" y="16129"/>
                </a:lnTo>
                <a:lnTo>
                  <a:pt x="1503933" y="25018"/>
                </a:lnTo>
                <a:lnTo>
                  <a:pt x="1510919" y="28956"/>
                </a:lnTo>
                <a:lnTo>
                  <a:pt x="1576451" y="67183"/>
                </a:lnTo>
                <a:lnTo>
                  <a:pt x="1597786" y="54737"/>
                </a:lnTo>
                <a:lnTo>
                  <a:pt x="1605026" y="54737"/>
                </a:lnTo>
                <a:lnTo>
                  <a:pt x="1605026" y="52705"/>
                </a:lnTo>
                <a:lnTo>
                  <a:pt x="1609006" y="52705"/>
                </a:lnTo>
                <a:lnTo>
                  <a:pt x="1518539" y="0"/>
                </a:lnTo>
                <a:close/>
              </a:path>
            </a:pathLst>
          </a:custGeom>
          <a:solidFill>
            <a:srgbClr val="9BB808"/>
          </a:solidFill>
        </p:spPr>
        <p:txBody>
          <a:bodyPr wrap="square" lIns="0" tIns="0" rIns="0" bIns="0" rtlCol="0"/>
          <a:lstStyle/>
          <a:p/>
        </p:txBody>
      </p:sp>
      <p:sp>
        <p:nvSpPr>
          <p:cNvPr id="13" name="object 13"/>
          <p:cNvSpPr txBox="1"/>
          <p:nvPr/>
        </p:nvSpPr>
        <p:spPr>
          <a:xfrm>
            <a:off x="1443100" y="3701389"/>
            <a:ext cx="2448645" cy="320601"/>
          </a:xfrm>
          <a:prstGeom prst="rect">
            <a:avLst/>
          </a:prstGeom>
        </p:spPr>
        <p:txBody>
          <a:bodyPr vert="horz" wrap="square" lIns="0" tIns="12700" rIns="0" bIns="0" rtlCol="0">
            <a:spAutoFit/>
          </a:bodyPr>
          <a:lstStyle/>
          <a:p>
            <a:pPr algn="ctr">
              <a:spcBef>
                <a:spcPts val="100"/>
              </a:spcBef>
            </a:pPr>
            <a:r>
              <a:rPr lang="zh-CN" altLang="en-US" sz="2000" b="1" spc="15" dirty="0">
                <a:solidFill>
                  <a:srgbClr val="84ADAF"/>
                </a:solidFill>
                <a:latin typeface="Trebuchet MS" panose="020B0603020202020204"/>
                <a:cs typeface="Trebuchet MS" panose="020B0603020202020204"/>
              </a:rPr>
              <a:t>新的无标记数据</a:t>
            </a:r>
            <a:endParaRPr lang="en-US" sz="2000" b="1" spc="15" dirty="0">
              <a:solidFill>
                <a:srgbClr val="84ADAF"/>
              </a:solidFill>
              <a:latin typeface="Trebuchet MS" panose="020B0603020202020204"/>
              <a:cs typeface="Trebuchet MS" panose="020B0603020202020204"/>
            </a:endParaRPr>
          </a:p>
        </p:txBody>
      </p:sp>
      <p:sp>
        <p:nvSpPr>
          <p:cNvPr id="14" name="object 14"/>
          <p:cNvSpPr/>
          <p:nvPr/>
        </p:nvSpPr>
        <p:spPr>
          <a:xfrm>
            <a:off x="7103871" y="3740658"/>
            <a:ext cx="1300480" cy="376555"/>
          </a:xfrm>
          <a:custGeom>
            <a:avLst/>
            <a:gdLst/>
            <a:ahLst/>
            <a:cxnLst/>
            <a:rect l="l" t="t" r="r" b="b"/>
            <a:pathLst>
              <a:path w="975360" h="376554">
                <a:moveTo>
                  <a:pt x="0" y="376427"/>
                </a:moveTo>
                <a:lnTo>
                  <a:pt x="975360" y="376427"/>
                </a:lnTo>
                <a:lnTo>
                  <a:pt x="975360" y="0"/>
                </a:lnTo>
                <a:lnTo>
                  <a:pt x="0" y="0"/>
                </a:lnTo>
                <a:lnTo>
                  <a:pt x="0" y="376427"/>
                </a:lnTo>
                <a:close/>
              </a:path>
            </a:pathLst>
          </a:custGeom>
          <a:solidFill>
            <a:srgbClr val="FFFFFF"/>
          </a:solidFill>
        </p:spPr>
        <p:txBody>
          <a:bodyPr wrap="square" lIns="0" tIns="0" rIns="0" bIns="0" rtlCol="0"/>
          <a:lstStyle/>
          <a:p/>
        </p:txBody>
      </p:sp>
      <p:sp>
        <p:nvSpPr>
          <p:cNvPr id="15" name="object 15"/>
          <p:cNvSpPr txBox="1"/>
          <p:nvPr/>
        </p:nvSpPr>
        <p:spPr>
          <a:xfrm>
            <a:off x="7230873" y="3711829"/>
            <a:ext cx="1049020" cy="299720"/>
          </a:xfrm>
          <a:prstGeom prst="rect">
            <a:avLst/>
          </a:prstGeom>
        </p:spPr>
        <p:txBody>
          <a:bodyPr vert="horz" wrap="square" lIns="0" tIns="12700" rIns="0" bIns="0" rtlCol="0">
            <a:spAutoFit/>
          </a:bodyPr>
          <a:lstStyle/>
          <a:p>
            <a:pPr marL="12700">
              <a:spcBef>
                <a:spcPts val="100"/>
              </a:spcBef>
            </a:pPr>
            <a:r>
              <a:rPr b="1" dirty="0">
                <a:solidFill>
                  <a:srgbClr val="84ADAF"/>
                </a:solidFill>
                <a:latin typeface="Trebuchet MS" panose="020B0603020202020204"/>
                <a:cs typeface="Trebuchet MS" panose="020B0603020202020204"/>
              </a:rPr>
              <a:t>Pred</a:t>
            </a:r>
            <a:r>
              <a:rPr b="1" spc="-10" dirty="0">
                <a:solidFill>
                  <a:srgbClr val="84ADAF"/>
                </a:solidFill>
                <a:latin typeface="Trebuchet MS" panose="020B0603020202020204"/>
                <a:cs typeface="Trebuchet MS" panose="020B0603020202020204"/>
              </a:rPr>
              <a:t>i</a:t>
            </a:r>
            <a:r>
              <a:rPr b="1" spc="-50" dirty="0">
                <a:solidFill>
                  <a:srgbClr val="84ADAF"/>
                </a:solidFill>
                <a:latin typeface="Trebuchet MS" panose="020B0603020202020204"/>
                <a:cs typeface="Trebuchet MS" panose="020B0603020202020204"/>
              </a:rPr>
              <a:t>ct</a:t>
            </a:r>
            <a:endParaRPr dirty="0">
              <a:latin typeface="Trebuchet MS" panose="020B0603020202020204"/>
              <a:cs typeface="Trebuchet MS" panose="020B0603020202020204"/>
            </a:endParaRPr>
          </a:p>
        </p:txBody>
      </p:sp>
      <p:sp>
        <p:nvSpPr>
          <p:cNvPr id="16" name="object 16"/>
          <p:cNvSpPr/>
          <p:nvPr/>
        </p:nvSpPr>
        <p:spPr>
          <a:xfrm>
            <a:off x="6369812" y="2962783"/>
            <a:ext cx="2727960" cy="932815"/>
          </a:xfrm>
          <a:custGeom>
            <a:avLst/>
            <a:gdLst/>
            <a:ahLst/>
            <a:cxnLst/>
            <a:rect l="l" t="t" r="r" b="b"/>
            <a:pathLst>
              <a:path w="2045970" h="932814">
                <a:moveTo>
                  <a:pt x="75945" y="682244"/>
                </a:moveTo>
                <a:lnTo>
                  <a:pt x="0" y="856615"/>
                </a:lnTo>
                <a:lnTo>
                  <a:pt x="174370" y="932561"/>
                </a:lnTo>
                <a:lnTo>
                  <a:pt x="149732" y="869950"/>
                </a:lnTo>
                <a:lnTo>
                  <a:pt x="468251" y="744855"/>
                </a:lnTo>
                <a:lnTo>
                  <a:pt x="100583" y="744855"/>
                </a:lnTo>
                <a:lnTo>
                  <a:pt x="75945" y="682244"/>
                </a:lnTo>
                <a:close/>
              </a:path>
              <a:path w="2045970" h="932814">
                <a:moveTo>
                  <a:pt x="1996820" y="0"/>
                </a:moveTo>
                <a:lnTo>
                  <a:pt x="100583" y="744855"/>
                </a:lnTo>
                <a:lnTo>
                  <a:pt x="468251" y="744855"/>
                </a:lnTo>
                <a:lnTo>
                  <a:pt x="2045969" y="125222"/>
                </a:lnTo>
                <a:lnTo>
                  <a:pt x="1996820" y="0"/>
                </a:lnTo>
                <a:close/>
              </a:path>
            </a:pathLst>
          </a:custGeom>
          <a:solidFill>
            <a:srgbClr val="D0692F">
              <a:alpha val="74900"/>
            </a:srgbClr>
          </a:solidFill>
        </p:spPr>
        <p:txBody>
          <a:bodyPr wrap="square" lIns="0" tIns="0" rIns="0" bIns="0" rtlCol="0"/>
          <a:lstStyle/>
          <a:p/>
        </p:txBody>
      </p:sp>
      <p:sp>
        <p:nvSpPr>
          <p:cNvPr id="17" name="object 17"/>
          <p:cNvSpPr txBox="1"/>
          <p:nvPr/>
        </p:nvSpPr>
        <p:spPr>
          <a:xfrm>
            <a:off x="4097021" y="3593287"/>
            <a:ext cx="356447" cy="514350"/>
          </a:xfrm>
          <a:prstGeom prst="rect">
            <a:avLst/>
          </a:prstGeom>
        </p:spPr>
        <p:txBody>
          <a:bodyPr vert="horz" wrap="square" lIns="0" tIns="13335" rIns="0" bIns="0" rtlCol="0">
            <a:spAutoFit/>
          </a:bodyPr>
          <a:lstStyle/>
          <a:p>
            <a:pPr marL="12700">
              <a:spcBef>
                <a:spcPts val="105"/>
              </a:spcBef>
            </a:pPr>
            <a:r>
              <a:rPr sz="3200" b="1" spc="25" dirty="0">
                <a:solidFill>
                  <a:srgbClr val="84ADAF"/>
                </a:solidFill>
                <a:latin typeface="Trebuchet MS" panose="020B0603020202020204"/>
                <a:cs typeface="Trebuchet MS" panose="020B0603020202020204"/>
              </a:rPr>
              <a:t>+</a:t>
            </a:r>
            <a:endParaRPr sz="3200">
              <a:latin typeface="Trebuchet MS" panose="020B0603020202020204"/>
              <a:cs typeface="Trebuchet MS" panose="020B0603020202020204"/>
            </a:endParaRPr>
          </a:p>
        </p:txBody>
      </p:sp>
      <p:sp>
        <p:nvSpPr>
          <p:cNvPr id="20" name="标题 19"/>
          <p:cNvSpPr>
            <a:spLocks noGrp="1"/>
          </p:cNvSpPr>
          <p:nvPr>
            <p:ph type="title"/>
          </p:nvPr>
        </p:nvSpPr>
        <p:spPr/>
        <p:txBody>
          <a:bodyPr/>
          <a:lstStyle/>
          <a:p>
            <a:r>
              <a:rPr lang="zh-CN" altLang="en-US" dirty="0"/>
              <a:t>无监督学习概述</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p:cNvSpPr txBox="1"/>
          <p:nvPr/>
        </p:nvSpPr>
        <p:spPr>
          <a:xfrm>
            <a:off x="3386667" y="51389"/>
            <a:ext cx="5463034" cy="931024"/>
          </a:xfrm>
          <a:prstGeom prst="rect">
            <a:avLst/>
          </a:prstGeom>
          <a:noFill/>
        </p:spPr>
        <p:txBody>
          <a:bodyPr wrap="none" lIns="0" tIns="0" rIns="0" rtlCol="0">
            <a:spAutoFit/>
          </a:bodyPr>
          <a:lstStyle/>
          <a:p>
            <a:pPr>
              <a:lnSpc>
                <a:spcPts val="6935"/>
              </a:lnSpc>
            </a:pPr>
            <a:r>
              <a:rPr lang="en-US" altLang="zh-CN" sz="5325" dirty="0">
                <a:solidFill>
                  <a:srgbClr val="000000"/>
                </a:solidFill>
                <a:latin typeface="Times New Roman" panose="02020603050405020304" pitchFamily="18" charset="0"/>
                <a:cs typeface="Times New Roman" panose="02020603050405020304" pitchFamily="18" charset="0"/>
              </a:rPr>
              <a:t>无监督学习的目标</a:t>
            </a:r>
            <a:endParaRPr lang="en-US" altLang="zh-CN" sz="5325" dirty="0">
              <a:solidFill>
                <a:srgbClr val="000000"/>
              </a:solidFill>
              <a:latin typeface="Times New Roman" panose="02020603050405020304" pitchFamily="18" charset="0"/>
              <a:cs typeface="Times New Roman" panose="02020603050405020304" pitchFamily="18" charset="0"/>
            </a:endParaRPr>
          </a:p>
        </p:txBody>
      </p:sp>
      <p:sp>
        <p:nvSpPr>
          <p:cNvPr id="13" name="TextBox 1"/>
          <p:cNvSpPr txBox="1"/>
          <p:nvPr/>
        </p:nvSpPr>
        <p:spPr>
          <a:xfrm>
            <a:off x="1896534" y="2269656"/>
            <a:ext cx="9541073" cy="443711"/>
          </a:xfrm>
          <a:prstGeom prst="rect">
            <a:avLst/>
          </a:prstGeom>
          <a:noFill/>
        </p:spPr>
        <p:txBody>
          <a:bodyPr wrap="none" lIns="0" tIns="0" rIns="0" rtlCol="0">
            <a:spAutoFit/>
          </a:bodyPr>
          <a:lstStyle/>
          <a:p>
            <a:pPr>
              <a:lnSpc>
                <a:spcPts val="3065"/>
              </a:lnSpc>
            </a:pPr>
            <a:r>
              <a:rPr lang="en-US" altLang="zh-CN" sz="2405" dirty="0">
                <a:solidFill>
                  <a:srgbClr val="000000"/>
                </a:solidFill>
                <a:latin typeface="Times New Roman" panose="02020603050405020304" pitchFamily="18" charset="0"/>
                <a:cs typeface="Times New Roman" panose="02020603050405020304" pitchFamily="18" charset="0"/>
              </a:rPr>
              <a:t>利用无标签的数据学习数据的分布或数据与数据之间的关系被称作无监</a:t>
            </a:r>
            <a:endParaRPr lang="en-US" altLang="zh-CN" sz="2405" dirty="0">
              <a:solidFill>
                <a:srgbClr val="000000"/>
              </a:solidFill>
              <a:latin typeface="Times New Roman" panose="02020603050405020304" pitchFamily="18" charset="0"/>
              <a:cs typeface="Times New Roman" panose="02020603050405020304" pitchFamily="18" charset="0"/>
            </a:endParaRPr>
          </a:p>
        </p:txBody>
      </p:sp>
      <p:sp>
        <p:nvSpPr>
          <p:cNvPr id="14" name="TextBox 1"/>
          <p:cNvSpPr txBox="1"/>
          <p:nvPr/>
        </p:nvSpPr>
        <p:spPr>
          <a:xfrm>
            <a:off x="1286933" y="2828456"/>
            <a:ext cx="1231106" cy="443711"/>
          </a:xfrm>
          <a:prstGeom prst="rect">
            <a:avLst/>
          </a:prstGeom>
          <a:noFill/>
        </p:spPr>
        <p:txBody>
          <a:bodyPr wrap="none" lIns="0" tIns="0" rIns="0" rtlCol="0">
            <a:spAutoFit/>
          </a:bodyPr>
          <a:lstStyle/>
          <a:p>
            <a:pPr>
              <a:lnSpc>
                <a:spcPts val="3065"/>
              </a:lnSpc>
            </a:pPr>
            <a:r>
              <a:rPr lang="en-US" altLang="zh-CN" sz="2400" dirty="0">
                <a:solidFill>
                  <a:srgbClr val="000000"/>
                </a:solidFill>
                <a:latin typeface="Times New Roman" panose="02020603050405020304" pitchFamily="18" charset="0"/>
                <a:cs typeface="Times New Roman" panose="02020603050405020304" pitchFamily="18" charset="0"/>
              </a:rPr>
              <a:t>督学习。</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15" name="TextBox 1"/>
          <p:cNvSpPr txBox="1"/>
          <p:nvPr/>
        </p:nvSpPr>
        <p:spPr>
          <a:xfrm>
            <a:off x="1286934" y="3370323"/>
            <a:ext cx="8109592" cy="443711"/>
          </a:xfrm>
          <a:prstGeom prst="rect">
            <a:avLst/>
          </a:prstGeom>
          <a:noFill/>
        </p:spPr>
        <p:txBody>
          <a:bodyPr wrap="none" lIns="0" tIns="0" rIns="0" rtlCol="0">
            <a:spAutoFit/>
          </a:bodyPr>
          <a:lstStyle/>
          <a:p>
            <a:pPr>
              <a:lnSpc>
                <a:spcPts val="3065"/>
              </a:lnSpc>
            </a:pPr>
            <a:r>
              <a:rPr lang="en-US" altLang="zh-CN" sz="2400" dirty="0">
                <a:solidFill>
                  <a:srgbClr val="000000"/>
                </a:solidFill>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000000"/>
                </a:solidFill>
                <a:latin typeface="Times New Roman" panose="02020603050405020304" pitchFamily="18" charset="0"/>
                <a:cs typeface="Times New Roman" panose="02020603050405020304" pitchFamily="18" charset="0"/>
              </a:rPr>
              <a:t>有监督学习和无监督学习的最大区别在于数据是否有标签</a:t>
            </a:r>
            <a:endParaRPr lang="en-US" altLang="zh-CN" sz="2400" dirty="0">
              <a:solidFill>
                <a:srgbClr val="000000"/>
              </a:solidFill>
              <a:latin typeface="Times New Roman" panose="02020603050405020304" pitchFamily="18" charset="0"/>
              <a:cs typeface="Times New Roman" panose="02020603050405020304" pitchFamily="18" charset="0"/>
            </a:endParaRPr>
          </a:p>
        </p:txBody>
      </p:sp>
      <p:sp>
        <p:nvSpPr>
          <p:cNvPr id="16" name="TextBox 1"/>
          <p:cNvSpPr txBox="1"/>
          <p:nvPr/>
        </p:nvSpPr>
        <p:spPr>
          <a:xfrm>
            <a:off x="1287145" y="3912235"/>
            <a:ext cx="11028045" cy="831850"/>
          </a:xfrm>
          <a:prstGeom prst="rect">
            <a:avLst/>
          </a:prstGeom>
          <a:noFill/>
        </p:spPr>
        <p:txBody>
          <a:bodyPr wrap="square" lIns="0" tIns="0" rIns="0" rtlCol="0">
            <a:spAutoFit/>
          </a:bodyPr>
          <a:lstStyle/>
          <a:p>
            <a:pPr>
              <a:lnSpc>
                <a:spcPts val="3065"/>
              </a:lnSpc>
            </a:pPr>
            <a:r>
              <a:rPr lang="en-US" altLang="zh-CN" sz="2400" dirty="0">
                <a:solidFill>
                  <a:srgbClr val="000000"/>
                </a:solidFill>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000000"/>
                </a:solidFill>
                <a:latin typeface="Times New Roman" panose="02020603050405020304" pitchFamily="18" charset="0"/>
                <a:cs typeface="Times New Roman" panose="02020603050405020304" pitchFamily="18" charset="0"/>
              </a:rPr>
              <a:t>无监督学习最常应用的场景是聚类(clustering)和降维(Dimension </a:t>
            </a:r>
            <a:r>
              <a:rPr lang="en-US" altLang="zh-CN" sz="2400" dirty="0">
                <a:solidFill>
                  <a:srgbClr val="000000"/>
                </a:solidFill>
                <a:latin typeface="Times New Roman" panose="02020603050405020304" pitchFamily="18" charset="0"/>
                <a:cs typeface="Times New Roman" panose="02020603050405020304" pitchFamily="18" charset="0"/>
                <a:sym typeface="+mn-ea"/>
              </a:rPr>
              <a:t>Reduction)</a:t>
            </a:r>
            <a:endParaRPr lang="en-US" altLang="zh-CN" sz="2400" dirty="0">
              <a:solidFill>
                <a:srgbClr val="000000"/>
              </a:solidFill>
              <a:latin typeface="Times New Roman" panose="02020603050405020304" pitchFamily="18" charset="0"/>
              <a:cs typeface="Times New Roman" panose="02020603050405020304" pitchFamily="18" charset="0"/>
            </a:endParaRPr>
          </a:p>
          <a:p>
            <a:pPr>
              <a:lnSpc>
                <a:spcPts val="3065"/>
              </a:lnSpc>
            </a:pPr>
            <a:endParaRPr lang="en-US" altLang="zh-CN" sz="2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62271" y="2365818"/>
            <a:ext cx="6429587" cy="589905"/>
          </a:xfrm>
          <a:prstGeom prst="rect">
            <a:avLst/>
          </a:prstGeom>
          <a:solidFill>
            <a:srgbClr val="F1F1F1">
              <a:alpha val="50195"/>
            </a:srgbClr>
          </a:solidFill>
        </p:spPr>
        <p:txBody>
          <a:bodyPr vert="horz" wrap="square" lIns="0" tIns="218440" rIns="0" bIns="0" rtlCol="0" anchor="ctr">
            <a:spAutoFit/>
          </a:bodyPr>
          <a:lstStyle/>
          <a:p>
            <a:pPr marL="554990">
              <a:spcBef>
                <a:spcPts val="1720"/>
              </a:spcBef>
            </a:pPr>
            <a:r>
              <a:rPr lang="zh-CN" altLang="en-US" sz="2400" b="1" spc="-5" dirty="0">
                <a:solidFill>
                  <a:srgbClr val="84ADAF"/>
                </a:solidFill>
                <a:latin typeface="Trebuchet MS" panose="020B0603020202020204"/>
                <a:cs typeface="Trebuchet MS" panose="020B0603020202020204"/>
              </a:rPr>
              <a:t>识别数据中未知的结</a:t>
            </a:r>
            <a:r>
              <a:rPr lang="zh-CN" altLang="en-US" sz="2400" b="1" spc="-5" dirty="0" smtClean="0">
                <a:solidFill>
                  <a:srgbClr val="84ADAF"/>
                </a:solidFill>
                <a:latin typeface="Trebuchet MS" panose="020B0603020202020204"/>
                <a:cs typeface="Trebuchet MS" panose="020B0603020202020204"/>
              </a:rPr>
              <a:t>构</a:t>
            </a:r>
            <a:endParaRPr sz="2400" dirty="0">
              <a:latin typeface="Trebuchet MS" panose="020B0603020202020204"/>
              <a:cs typeface="Trebuchet MS" panose="020B0603020202020204"/>
            </a:endParaRPr>
          </a:p>
        </p:txBody>
      </p:sp>
      <p:sp>
        <p:nvSpPr>
          <p:cNvPr id="4" name="object 4"/>
          <p:cNvSpPr txBox="1"/>
          <p:nvPr/>
        </p:nvSpPr>
        <p:spPr>
          <a:xfrm>
            <a:off x="1265258" y="2396218"/>
            <a:ext cx="3197013" cy="522579"/>
          </a:xfrm>
          <a:prstGeom prst="rect">
            <a:avLst/>
          </a:prstGeom>
          <a:solidFill>
            <a:srgbClr val="D0692F"/>
          </a:solidFill>
        </p:spPr>
        <p:txBody>
          <a:bodyPr vert="horz" wrap="square" lIns="0" tIns="29845" rIns="0" bIns="0" rtlCol="0">
            <a:spAutoFit/>
          </a:bodyPr>
          <a:lstStyle/>
          <a:p>
            <a:pPr marL="427355">
              <a:spcBef>
                <a:spcPts val="235"/>
              </a:spcBef>
            </a:pPr>
            <a:r>
              <a:rPr lang="zh-CN" altLang="en-US" sz="3200" b="1" dirty="0">
                <a:solidFill>
                  <a:srgbClr val="FFFFFF"/>
                </a:solidFill>
                <a:latin typeface="Trebuchet MS" panose="020B0603020202020204"/>
                <a:cs typeface="Trebuchet MS" panose="020B0603020202020204"/>
              </a:rPr>
              <a:t>   聚类 </a:t>
            </a:r>
            <a:endParaRPr sz="3200" dirty="0">
              <a:latin typeface="Trebuchet MS" panose="020B0603020202020204"/>
              <a:cs typeface="Trebuchet MS" panose="020B0603020202020204"/>
            </a:endParaRPr>
          </a:p>
        </p:txBody>
      </p:sp>
      <p:sp>
        <p:nvSpPr>
          <p:cNvPr id="7" name="标题 6"/>
          <p:cNvSpPr>
            <a:spLocks noGrp="1"/>
          </p:cNvSpPr>
          <p:nvPr>
            <p:ph type="title"/>
          </p:nvPr>
        </p:nvSpPr>
        <p:spPr/>
        <p:txBody>
          <a:bodyPr/>
          <a:lstStyle/>
          <a:p>
            <a:r>
              <a:rPr lang="zh-CN" altLang="en-US" dirty="0"/>
              <a:t>无监督学习的类型</a:t>
            </a:r>
            <a:endParaRPr lang="zh-CN" altLang="en-US" dirty="0"/>
          </a:p>
        </p:txBody>
      </p:sp>
      <p:sp>
        <p:nvSpPr>
          <p:cNvPr id="5" name="object 5"/>
          <p:cNvSpPr txBox="1"/>
          <p:nvPr/>
        </p:nvSpPr>
        <p:spPr>
          <a:xfrm>
            <a:off x="4462270" y="3573016"/>
            <a:ext cx="7120129" cy="484748"/>
          </a:xfrm>
          <a:prstGeom prst="rect">
            <a:avLst/>
          </a:prstGeom>
          <a:solidFill>
            <a:srgbClr val="F1F1F1">
              <a:alpha val="50195"/>
            </a:srgbClr>
          </a:solidFill>
        </p:spPr>
        <p:txBody>
          <a:bodyPr vert="horz" wrap="square" lIns="0" tIns="114300" rIns="0" bIns="0" rtlCol="0">
            <a:spAutoFit/>
          </a:bodyPr>
          <a:lstStyle/>
          <a:p>
            <a:pPr marL="554990">
              <a:spcBef>
                <a:spcPts val="900"/>
              </a:spcBef>
            </a:pPr>
            <a:r>
              <a:rPr lang="zh-CN" altLang="en-US" sz="2400" b="1" spc="40" dirty="0">
                <a:solidFill>
                  <a:srgbClr val="84ADAF"/>
                </a:solidFill>
                <a:latin typeface="Trebuchet MS" panose="020B0603020202020204"/>
                <a:cs typeface="Trebuchet MS" panose="020B0603020202020204"/>
              </a:rPr>
              <a:t>使用数据中的结构特征来简化数据</a:t>
            </a:r>
            <a:endParaRPr sz="2400" dirty="0">
              <a:latin typeface="Trebuchet MS" panose="020B0603020202020204"/>
              <a:cs typeface="Trebuchet MS" panose="020B0603020202020204"/>
            </a:endParaRPr>
          </a:p>
        </p:txBody>
      </p:sp>
      <p:sp>
        <p:nvSpPr>
          <p:cNvPr id="8" name="object 4"/>
          <p:cNvSpPr txBox="1"/>
          <p:nvPr/>
        </p:nvSpPr>
        <p:spPr>
          <a:xfrm>
            <a:off x="1265258" y="3554494"/>
            <a:ext cx="3197013" cy="522579"/>
          </a:xfrm>
          <a:prstGeom prst="rect">
            <a:avLst/>
          </a:prstGeom>
          <a:solidFill>
            <a:srgbClr val="84ADAC"/>
          </a:solidFill>
        </p:spPr>
        <p:txBody>
          <a:bodyPr vert="horz" wrap="square" lIns="0" tIns="29845" rIns="0" bIns="0" rtlCol="0">
            <a:spAutoFit/>
          </a:bodyPr>
          <a:lstStyle/>
          <a:p>
            <a:pPr marL="427355">
              <a:spcBef>
                <a:spcPts val="235"/>
              </a:spcBef>
            </a:pPr>
            <a:r>
              <a:rPr lang="zh-CN" altLang="en-US" sz="3200" b="1" dirty="0">
                <a:solidFill>
                  <a:srgbClr val="FFFFFF"/>
                </a:solidFill>
                <a:latin typeface="Trebuchet MS" panose="020B0603020202020204"/>
                <a:cs typeface="Trebuchet MS" panose="020B0603020202020204"/>
              </a:rPr>
              <a:t>   降维 </a:t>
            </a:r>
            <a:endParaRPr sz="3200" dirty="0">
              <a:latin typeface="Trebuchet MS" panose="020B0603020202020204"/>
              <a:cs typeface="Trebuchet MS" panose="020B0603020202020204"/>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1"/>
          <a:srcRect/>
          <a:stretch>
            <a:fillRect/>
          </a:stretch>
        </p:blipFill>
        <p:spPr bwMode="auto">
          <a:xfrm>
            <a:off x="7632849" y="2200172"/>
            <a:ext cx="4233333" cy="3302000"/>
          </a:xfrm>
          <a:prstGeom prst="rect">
            <a:avLst/>
          </a:prstGeom>
          <a:noFill/>
        </p:spPr>
      </p:pic>
      <p:sp>
        <p:nvSpPr>
          <p:cNvPr id="5" name="TextBox 1"/>
          <p:cNvSpPr txBox="1"/>
          <p:nvPr/>
        </p:nvSpPr>
        <p:spPr>
          <a:xfrm>
            <a:off x="3606801" y="-1161"/>
            <a:ext cx="5021375" cy="931024"/>
          </a:xfrm>
          <a:prstGeom prst="rect">
            <a:avLst/>
          </a:prstGeom>
          <a:noFill/>
        </p:spPr>
        <p:txBody>
          <a:bodyPr wrap="none" lIns="0" tIns="0" rIns="0" rtlCol="0">
            <a:spAutoFit/>
          </a:bodyPr>
          <a:lstStyle/>
          <a:p>
            <a:pPr>
              <a:lnSpc>
                <a:spcPts val="6935"/>
              </a:lnSpc>
            </a:pPr>
            <a:r>
              <a:rPr lang="en-US" altLang="zh-CN" sz="5325" dirty="0">
                <a:solidFill>
                  <a:srgbClr val="000000"/>
                </a:solidFill>
                <a:latin typeface="Microsoft YaHei UI" panose="020B0503020204020204" pitchFamily="18" charset="-122"/>
                <a:cs typeface="Microsoft YaHei UI" panose="020B0503020204020204" pitchFamily="18" charset="-122"/>
              </a:rPr>
              <a:t>聚类(clustering)</a:t>
            </a:r>
            <a:endParaRPr lang="en-US" altLang="zh-CN" sz="5325" dirty="0">
              <a:solidFill>
                <a:srgbClr val="000000"/>
              </a:solidFill>
              <a:latin typeface="Microsoft YaHei UI" panose="020B0503020204020204" pitchFamily="18" charset="-122"/>
              <a:cs typeface="Microsoft YaHei UI" panose="020B0503020204020204" pitchFamily="18" charset="-122"/>
            </a:endParaRPr>
          </a:p>
        </p:txBody>
      </p:sp>
      <p:sp>
        <p:nvSpPr>
          <p:cNvPr id="7" name="TextBox 1"/>
          <p:cNvSpPr txBox="1"/>
          <p:nvPr/>
        </p:nvSpPr>
        <p:spPr>
          <a:xfrm>
            <a:off x="1469116" y="2318706"/>
            <a:ext cx="5539978" cy="443711"/>
          </a:xfrm>
          <a:prstGeom prst="rect">
            <a:avLst/>
          </a:prstGeom>
          <a:noFill/>
        </p:spPr>
        <p:txBody>
          <a:bodyPr wrap="none" lIns="0" tIns="0" rIns="0" rtlCol="0">
            <a:spAutoFit/>
          </a:bodyPr>
          <a:lstStyle/>
          <a:p>
            <a:pPr>
              <a:lnSpc>
                <a:spcPts val="3065"/>
              </a:lnSpc>
            </a:pPr>
            <a:r>
              <a:rPr lang="en-US" altLang="zh-CN" sz="2400" dirty="0">
                <a:solidFill>
                  <a:srgbClr val="000000"/>
                </a:solidFill>
                <a:latin typeface="Microsoft YaHei UI" panose="020B0503020204020204" pitchFamily="18" charset="-122"/>
                <a:cs typeface="Microsoft YaHei UI" panose="020B0503020204020204" pitchFamily="18" charset="-122"/>
              </a:rPr>
              <a:t>聚类</a:t>
            </a:r>
            <a:r>
              <a:rPr lang="en-US" altLang="zh-CN" sz="2400" dirty="0">
                <a:solidFill>
                  <a:srgbClr val="000000"/>
                </a:solidFill>
                <a:latin typeface="Consolas" panose="020B0609020204030204" pitchFamily="18" charset="0"/>
                <a:cs typeface="Consolas" panose="020B0609020204030204" pitchFamily="18" charset="0"/>
              </a:rPr>
              <a:t>(clustering)</a:t>
            </a:r>
            <a:r>
              <a:rPr lang="en-US" altLang="zh-CN" sz="2400" dirty="0">
                <a:solidFill>
                  <a:srgbClr val="000000"/>
                </a:solidFill>
                <a:latin typeface="Microsoft YaHei UI" panose="020B0503020204020204" pitchFamily="18" charset="-122"/>
                <a:cs typeface="Microsoft YaHei UI" panose="020B0503020204020204" pitchFamily="18" charset="-122"/>
              </a:rPr>
              <a:t>，就是根据数据的“相</a:t>
            </a:r>
            <a:endParaRPr lang="en-US" altLang="zh-CN" sz="2400" dirty="0">
              <a:solidFill>
                <a:srgbClr val="000000"/>
              </a:solidFill>
              <a:latin typeface="Microsoft YaHei UI" panose="020B0503020204020204" pitchFamily="18" charset="-122"/>
              <a:cs typeface="Microsoft YaHei UI" panose="020B0503020204020204" pitchFamily="18" charset="-122"/>
            </a:endParaRPr>
          </a:p>
        </p:txBody>
      </p:sp>
      <p:sp>
        <p:nvSpPr>
          <p:cNvPr id="8" name="TextBox 1"/>
          <p:cNvSpPr txBox="1"/>
          <p:nvPr/>
        </p:nvSpPr>
        <p:spPr>
          <a:xfrm>
            <a:off x="859515" y="2860573"/>
            <a:ext cx="4116512" cy="443711"/>
          </a:xfrm>
          <a:prstGeom prst="rect">
            <a:avLst/>
          </a:prstGeom>
          <a:noFill/>
        </p:spPr>
        <p:txBody>
          <a:bodyPr wrap="none" lIns="0" tIns="0" rIns="0" rtlCol="0">
            <a:spAutoFit/>
          </a:bodyPr>
          <a:lstStyle/>
          <a:p>
            <a:pPr>
              <a:lnSpc>
                <a:spcPts val="3065"/>
              </a:lnSpc>
            </a:pPr>
            <a:r>
              <a:rPr lang="en-US" altLang="zh-CN" sz="2400" dirty="0">
                <a:solidFill>
                  <a:srgbClr val="000000"/>
                </a:solidFill>
                <a:latin typeface="Microsoft YaHei UI" panose="020B0503020204020204" pitchFamily="18" charset="-122"/>
                <a:cs typeface="Microsoft YaHei UI" panose="020B0503020204020204" pitchFamily="18" charset="-122"/>
              </a:rPr>
              <a:t>似性”将数据分为多类的过程。</a:t>
            </a:r>
            <a:endParaRPr lang="en-US" altLang="zh-CN" sz="2400" dirty="0">
              <a:solidFill>
                <a:srgbClr val="000000"/>
              </a:solidFill>
              <a:latin typeface="Microsoft YaHei UI" panose="020B0503020204020204" pitchFamily="18" charset="-122"/>
              <a:cs typeface="Microsoft YaHei UI" panose="020B0503020204020204" pitchFamily="18" charset="-122"/>
            </a:endParaRPr>
          </a:p>
        </p:txBody>
      </p:sp>
      <p:sp>
        <p:nvSpPr>
          <p:cNvPr id="9" name="TextBox 1"/>
          <p:cNvSpPr txBox="1"/>
          <p:nvPr/>
        </p:nvSpPr>
        <p:spPr>
          <a:xfrm>
            <a:off x="860425" y="3419475"/>
            <a:ext cx="6225540" cy="2654300"/>
          </a:xfrm>
          <a:prstGeom prst="rect">
            <a:avLst/>
          </a:prstGeom>
          <a:noFill/>
        </p:spPr>
        <p:txBody>
          <a:bodyPr wrap="square" lIns="0" tIns="0" rIns="0" rtlCol="0">
            <a:spAutoFit/>
          </a:bodyPr>
          <a:lstStyle/>
          <a:p>
            <a:pPr indent="720090" algn="just" fontAlgn="auto">
              <a:lnSpc>
                <a:spcPct val="150000"/>
              </a:lnSpc>
            </a:pPr>
            <a:r>
              <a:rPr lang="en-US" altLang="zh-CN" sz="2400" dirty="0">
                <a:solidFill>
                  <a:srgbClr val="000000"/>
                </a:solidFill>
                <a:latin typeface="Microsoft YaHei UI" panose="020B0503020204020204" pitchFamily="18" charset="-122"/>
                <a:cs typeface="Microsoft YaHei UI" panose="020B0503020204020204" pitchFamily="18" charset="-122"/>
              </a:rPr>
              <a:t>评估两个不同样本之间的“相似性”</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000000"/>
                </a:solidFill>
                <a:latin typeface="Microsoft YaHei UI" panose="020B0503020204020204" pitchFamily="18" charset="-122"/>
                <a:cs typeface="Microsoft YaHei UI" panose="020B0503020204020204" pitchFamily="18" charset="-122"/>
              </a:rPr>
              <a:t>，通</a:t>
            </a:r>
            <a:r>
              <a:rPr lang="en-US" altLang="zh-CN" sz="2400" dirty="0">
                <a:solidFill>
                  <a:srgbClr val="000000"/>
                </a:solidFill>
                <a:latin typeface="Microsoft YaHei UI" panose="020B0503020204020204" pitchFamily="18" charset="-122"/>
                <a:cs typeface="Microsoft YaHei UI" panose="020B0503020204020204" pitchFamily="18" charset="-122"/>
                <a:sym typeface="+mn-ea"/>
              </a:rPr>
              <a:t>常使用的方法就是计算两个样本之间的“距离”。使用不同的方法计算样本间的距离会关系到聚类结果的好坏。</a:t>
            </a:r>
            <a:endParaRPr lang="en-US" altLang="zh-CN" sz="2400" dirty="0">
              <a:solidFill>
                <a:srgbClr val="000000"/>
              </a:solidFill>
              <a:latin typeface="Microsoft YaHei UI" panose="020B0503020204020204" pitchFamily="18" charset="-122"/>
              <a:cs typeface="Microsoft YaHei UI" panose="020B0503020204020204" pitchFamily="18" charset="-122"/>
            </a:endParaRPr>
          </a:p>
          <a:p>
            <a:pPr>
              <a:lnSpc>
                <a:spcPts val="3065"/>
              </a:lnSpc>
            </a:pPr>
            <a:endParaRPr lang="en-US" altLang="zh-CN" sz="2400" dirty="0">
              <a:solidFill>
                <a:srgbClr val="000000"/>
              </a:solidFill>
              <a:latin typeface="Microsoft YaHei UI" panose="020B0503020204020204" pitchFamily="18" charset="-122"/>
              <a:cs typeface="Microsoft YaHei UI" panose="020B0503020204020204" pitchFamily="18"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4635" y="1590675"/>
            <a:ext cx="3930650" cy="1796415"/>
          </a:xfrm>
        </p:spPr>
        <p:txBody>
          <a:bodyPr/>
          <a:lstStyle/>
          <a:p>
            <a:pPr marL="0" indent="0">
              <a:buNone/>
            </a:pPr>
            <a:r>
              <a:rPr kumimoji="1" lang="zh-CN" altLang="en-US" sz="2400" b="1" dirty="0">
                <a:solidFill>
                  <a:schemeClr val="tx1"/>
                </a:solidFill>
              </a:rPr>
              <a:t>分类与聚类</a:t>
            </a:r>
            <a:endParaRPr kumimoji="1" lang="en-US" altLang="zh-CN" sz="2400" b="1" dirty="0">
              <a:solidFill>
                <a:schemeClr val="tx1"/>
              </a:solidFill>
            </a:endParaRPr>
          </a:p>
          <a:p>
            <a:pPr marL="0" indent="0">
              <a:buNone/>
            </a:pPr>
            <a:r>
              <a:rPr kumimoji="1" lang="zh-CN" altLang="en-US" sz="2400" dirty="0">
                <a:solidFill>
                  <a:schemeClr val="tx1"/>
                </a:solidFill>
              </a:rPr>
              <a:t>分类：学习／训练过程有监督，训练样本有明确标签</a:t>
            </a:r>
            <a:endParaRPr kumimoji="1" lang="zh-CN" altLang="en-US" sz="2400" dirty="0">
              <a:solidFill>
                <a:schemeClr val="tx1"/>
              </a:solidFill>
            </a:endParaRPr>
          </a:p>
        </p:txBody>
      </p:sp>
      <p:sp>
        <p:nvSpPr>
          <p:cNvPr id="3" name="标题 2"/>
          <p:cNvSpPr>
            <a:spLocks noGrp="1"/>
          </p:cNvSpPr>
          <p:nvPr>
            <p:ph type="title"/>
          </p:nvPr>
        </p:nvSpPr>
        <p:spPr>
          <a:xfrm>
            <a:off x="254878" y="314629"/>
            <a:ext cx="10972801" cy="528176"/>
          </a:xfrm>
        </p:spPr>
        <p:txBody>
          <a:bodyPr/>
          <a:lstStyle/>
          <a:p>
            <a:r>
              <a:rPr kumimoji="1" lang="en-US" altLang="zh-CN" dirty="0">
                <a:solidFill>
                  <a:schemeClr val="tx1"/>
                </a:solidFill>
              </a:rPr>
              <a:t>1.1 </a:t>
            </a:r>
            <a:r>
              <a:rPr kumimoji="1" lang="zh-CN" altLang="en-US" dirty="0">
                <a:solidFill>
                  <a:schemeClr val="tx1"/>
                </a:solidFill>
              </a:rPr>
              <a:t>聚类的概念</a:t>
            </a:r>
            <a:endParaRPr kumimoji="1" lang="zh-CN" altLang="en-US" dirty="0">
              <a:solidFill>
                <a:schemeClr val="tx1"/>
              </a:solidFill>
            </a:endParaRPr>
          </a:p>
        </p:txBody>
      </p:sp>
      <p:graphicFrame>
        <p:nvGraphicFramePr>
          <p:cNvPr id="16" name="表格 15"/>
          <p:cNvGraphicFramePr>
            <a:graphicFrameLocks noGrp="1"/>
          </p:cNvGraphicFramePr>
          <p:nvPr>
            <p:custDataLst>
              <p:tags r:id="rId1"/>
            </p:custDataLst>
          </p:nvPr>
        </p:nvGraphicFramePr>
        <p:xfrm>
          <a:off x="4807371" y="1362571"/>
          <a:ext cx="6302442" cy="2253534"/>
        </p:xfrm>
        <a:graphic>
          <a:graphicData uri="http://schemas.openxmlformats.org/drawingml/2006/table">
            <a:tbl>
              <a:tblPr/>
              <a:tblGrid>
                <a:gridCol w="1332061"/>
                <a:gridCol w="1272419"/>
                <a:gridCol w="1381768"/>
                <a:gridCol w="1093480"/>
                <a:gridCol w="1222714"/>
              </a:tblGrid>
              <a:tr h="250418">
                <a:tc>
                  <a:txBody>
                    <a:bodyPr/>
                    <a:lstStyle/>
                    <a:p>
                      <a:pPr algn="ctr" fontAlgn="ctr"/>
                      <a:r>
                        <a:rPr lang="en-US" sz="1400" b="0" i="0" u="none" strike="noStrike" dirty="0" err="1">
                          <a:solidFill>
                            <a:schemeClr val="bg1"/>
                          </a:solidFill>
                          <a:effectLst/>
                          <a:latin typeface="Arial" panose="020B0604020202020204"/>
                          <a:cs typeface="Arial" panose="020B0604020202020204"/>
                        </a:rPr>
                        <a:t>Sepal.Length</a:t>
                      </a:r>
                      <a:endParaRPr lang="en-US"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400" b="0" i="0" u="none" strike="noStrike" dirty="0" err="1">
                          <a:solidFill>
                            <a:schemeClr val="bg1"/>
                          </a:solidFill>
                          <a:effectLst/>
                          <a:latin typeface="Arial" panose="020B0604020202020204"/>
                          <a:cs typeface="Arial" panose="020B0604020202020204"/>
                        </a:rPr>
                        <a:t>Sepal.Width</a:t>
                      </a:r>
                      <a:endParaRPr lang="en-US"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400" b="0" i="0" u="none" strike="noStrike" dirty="0" err="1">
                          <a:solidFill>
                            <a:schemeClr val="bg1"/>
                          </a:solidFill>
                          <a:effectLst/>
                          <a:latin typeface="Arial" panose="020B0604020202020204"/>
                          <a:cs typeface="Arial" panose="020B0604020202020204"/>
                        </a:rPr>
                        <a:t>Petal.Length</a:t>
                      </a:r>
                      <a:endParaRPr lang="en-US"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400" b="0" i="0" u="none" strike="noStrike" dirty="0" err="1">
                          <a:solidFill>
                            <a:schemeClr val="bg1"/>
                          </a:solidFill>
                          <a:effectLst/>
                          <a:latin typeface="Arial" panose="020B0604020202020204"/>
                          <a:cs typeface="Arial" panose="020B0604020202020204"/>
                        </a:rPr>
                        <a:t>Petal.Width</a:t>
                      </a:r>
                      <a:endParaRPr lang="en-US"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class</a:t>
                      </a:r>
                      <a:endParaRPr lang="en-US"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50418">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5.1</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3.5</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1.4</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0.2</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400" b="0" i="0" u="none" strike="noStrike">
                          <a:solidFill>
                            <a:schemeClr val="bg1"/>
                          </a:solidFill>
                          <a:effectLst/>
                          <a:latin typeface="Arial" panose="020B0604020202020204"/>
                          <a:cs typeface="Arial" panose="020B0604020202020204"/>
                        </a:rPr>
                        <a:t>setosa</a:t>
                      </a:r>
                      <a:endParaRPr lang="en-US"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50418">
                <a:tc>
                  <a:txBody>
                    <a:bodyPr/>
                    <a:lstStyle/>
                    <a:p>
                      <a:pPr algn="ctr" fontAlgn="ctr"/>
                      <a:r>
                        <a:rPr lang="en-US" altLang="zh-CN" sz="1400" b="0" i="0" u="none" strike="noStrike">
                          <a:solidFill>
                            <a:schemeClr val="bg1"/>
                          </a:solidFill>
                          <a:effectLst/>
                          <a:latin typeface="Arial" panose="020B0604020202020204"/>
                          <a:cs typeface="Arial" panose="020B0604020202020204"/>
                        </a:rPr>
                        <a:t>4.9</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3</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1.4</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a:solidFill>
                            <a:schemeClr val="bg1"/>
                          </a:solidFill>
                          <a:effectLst/>
                          <a:latin typeface="Arial" panose="020B0604020202020204"/>
                          <a:cs typeface="Arial" panose="020B0604020202020204"/>
                        </a:rPr>
                        <a:t>0.2</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400" b="0" i="0" u="none" strike="noStrike">
                          <a:solidFill>
                            <a:schemeClr val="bg1"/>
                          </a:solidFill>
                          <a:effectLst/>
                          <a:latin typeface="Arial" panose="020B0604020202020204"/>
                          <a:cs typeface="Arial" panose="020B0604020202020204"/>
                        </a:rPr>
                        <a:t>setosa</a:t>
                      </a:r>
                      <a:endParaRPr lang="en-US"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50418">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7</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a:solidFill>
                            <a:schemeClr val="bg1"/>
                          </a:solidFill>
                          <a:effectLst/>
                          <a:latin typeface="Arial" panose="020B0604020202020204"/>
                          <a:cs typeface="Arial" panose="020B0604020202020204"/>
                        </a:rPr>
                        <a:t>3.2</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a:solidFill>
                            <a:schemeClr val="bg1"/>
                          </a:solidFill>
                          <a:effectLst/>
                          <a:latin typeface="Arial" panose="020B0604020202020204"/>
                          <a:cs typeface="Arial" panose="020B0604020202020204"/>
                        </a:rPr>
                        <a:t>4.7</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a:solidFill>
                            <a:schemeClr val="bg1"/>
                          </a:solidFill>
                          <a:effectLst/>
                          <a:latin typeface="Arial" panose="020B0604020202020204"/>
                          <a:cs typeface="Arial" panose="020B0604020202020204"/>
                        </a:rPr>
                        <a:t>1.4</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400" b="0" i="0" u="none" strike="noStrike">
                          <a:solidFill>
                            <a:schemeClr val="bg1"/>
                          </a:solidFill>
                          <a:effectLst/>
                          <a:latin typeface="Arial" panose="020B0604020202020204"/>
                          <a:cs typeface="Arial" panose="020B0604020202020204"/>
                        </a:rPr>
                        <a:t>versicolor</a:t>
                      </a:r>
                      <a:endParaRPr lang="en-US"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50418">
                <a:tc>
                  <a:txBody>
                    <a:bodyPr/>
                    <a:lstStyle/>
                    <a:p>
                      <a:pPr algn="ctr" fontAlgn="ctr"/>
                      <a:r>
                        <a:rPr lang="en-US" altLang="zh-CN" sz="1400" b="0" i="0" u="none" strike="noStrike">
                          <a:solidFill>
                            <a:schemeClr val="bg1"/>
                          </a:solidFill>
                          <a:effectLst/>
                          <a:latin typeface="Arial" panose="020B0604020202020204"/>
                          <a:cs typeface="Arial" panose="020B0604020202020204"/>
                        </a:rPr>
                        <a:t>6.4</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a:solidFill>
                            <a:schemeClr val="bg1"/>
                          </a:solidFill>
                          <a:effectLst/>
                          <a:latin typeface="Arial" panose="020B0604020202020204"/>
                          <a:cs typeface="Arial" panose="020B0604020202020204"/>
                        </a:rPr>
                        <a:t>3.2</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4.5</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a:solidFill>
                            <a:schemeClr val="bg1"/>
                          </a:solidFill>
                          <a:effectLst/>
                          <a:latin typeface="Arial" panose="020B0604020202020204"/>
                          <a:cs typeface="Arial" panose="020B0604020202020204"/>
                        </a:rPr>
                        <a:t>1.5</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400" b="0" i="0" u="none" strike="noStrike">
                          <a:solidFill>
                            <a:schemeClr val="bg1"/>
                          </a:solidFill>
                          <a:effectLst/>
                          <a:latin typeface="Arial" panose="020B0604020202020204"/>
                          <a:cs typeface="Arial" panose="020B0604020202020204"/>
                        </a:rPr>
                        <a:t>versicolor</a:t>
                      </a:r>
                      <a:endParaRPr lang="en-US"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50418">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6.3</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3.3</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6</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2.5</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400" b="0" i="0" u="none" strike="noStrike">
                          <a:solidFill>
                            <a:schemeClr val="bg1"/>
                          </a:solidFill>
                          <a:effectLst/>
                          <a:latin typeface="Arial" panose="020B0604020202020204"/>
                          <a:cs typeface="Arial" panose="020B0604020202020204"/>
                        </a:rPr>
                        <a:t>virginica</a:t>
                      </a:r>
                      <a:endParaRPr lang="en-US"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50418">
                <a:tc>
                  <a:txBody>
                    <a:bodyPr/>
                    <a:lstStyle/>
                    <a:p>
                      <a:pPr algn="ctr" fontAlgn="ctr"/>
                      <a:r>
                        <a:rPr lang="en-US" altLang="zh-CN" sz="1400" b="0" i="0" u="none" strike="noStrike">
                          <a:solidFill>
                            <a:schemeClr val="bg1"/>
                          </a:solidFill>
                          <a:effectLst/>
                          <a:latin typeface="Arial" panose="020B0604020202020204"/>
                          <a:cs typeface="Arial" panose="020B0604020202020204"/>
                        </a:rPr>
                        <a:t>5.8</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2.7</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5.1</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1.9</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400" b="0" i="0" u="none" strike="noStrike">
                          <a:solidFill>
                            <a:schemeClr val="bg1"/>
                          </a:solidFill>
                          <a:effectLst/>
                          <a:latin typeface="Arial" panose="020B0604020202020204"/>
                          <a:cs typeface="Arial" panose="020B0604020202020204"/>
                        </a:rPr>
                        <a:t>virginica</a:t>
                      </a:r>
                      <a:endParaRPr lang="en-US"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50190">
                <a:tc>
                  <a:txBody>
                    <a:bodyPr/>
                    <a:lstStyle/>
                    <a:p>
                      <a:pPr algn="ctr" fontAlgn="ctr"/>
                      <a:r>
                        <a:rPr lang="en-US" altLang="zh-CN" sz="1400" b="0" i="0" u="none" strike="noStrike">
                          <a:solidFill>
                            <a:schemeClr val="bg1"/>
                          </a:solidFill>
                          <a:effectLst/>
                          <a:latin typeface="Arial" panose="020B0604020202020204"/>
                          <a:cs typeface="Arial" panose="020B0604020202020204"/>
                        </a:rPr>
                        <a:t>6.5</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3</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5.8</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a:solidFill>
                            <a:schemeClr val="bg1"/>
                          </a:solidFill>
                          <a:effectLst/>
                          <a:latin typeface="Arial" panose="020B0604020202020204"/>
                          <a:cs typeface="Arial" panose="020B0604020202020204"/>
                        </a:rPr>
                        <a:t>2.2</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50418">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6.2</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2.9</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a:solidFill>
                            <a:schemeClr val="bg1"/>
                          </a:solidFill>
                          <a:effectLst/>
                          <a:latin typeface="Arial" panose="020B0604020202020204"/>
                          <a:cs typeface="Arial" panose="020B0604020202020204"/>
                        </a:rPr>
                        <a:t>4.3</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a:solidFill>
                            <a:schemeClr val="bg1"/>
                          </a:solidFill>
                          <a:effectLst/>
                          <a:latin typeface="Arial" panose="020B0604020202020204"/>
                          <a:cs typeface="Arial" panose="020B0604020202020204"/>
                        </a:rPr>
                        <a:t>1.3</a:t>
                      </a:r>
                      <a:endParaRPr lang="en-US" altLang="zh-CN" sz="1400" b="0" i="0" u="none" strike="noStrike">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400" b="0" i="0" u="none" strike="noStrike" dirty="0">
                          <a:solidFill>
                            <a:schemeClr val="bg1"/>
                          </a:solidFill>
                          <a:effectLst/>
                          <a:latin typeface="Arial" panose="020B0604020202020204"/>
                          <a:cs typeface="Arial" panose="020B0604020202020204"/>
                        </a:rPr>
                        <a:t>?</a:t>
                      </a:r>
                      <a:endParaRPr lang="en-US" altLang="zh-CN" sz="1400" b="0" i="0" u="none" strike="noStrike" dirty="0">
                        <a:solidFill>
                          <a:schemeClr val="bg1"/>
                        </a:solidFill>
                        <a:effectLst/>
                        <a:latin typeface="Arial" panose="020B0604020202020204"/>
                        <a:cs typeface="Arial" panose="020B0604020202020204"/>
                      </a:endParaRPr>
                    </a:p>
                  </a:txBody>
                  <a:tcPr marL="10123" marR="10123" marT="112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bl>
          </a:graphicData>
        </a:graphic>
      </p:graphicFrame>
      <p:grpSp>
        <p:nvGrpSpPr>
          <p:cNvPr id="6" name="组合 5"/>
          <p:cNvGrpSpPr/>
          <p:nvPr/>
        </p:nvGrpSpPr>
        <p:grpSpPr>
          <a:xfrm>
            <a:off x="394970" y="4672965"/>
            <a:ext cx="4910455" cy="1435100"/>
            <a:chOff x="329140" y="3677408"/>
            <a:chExt cx="3783809" cy="1079500"/>
          </a:xfrm>
        </p:grpSpPr>
        <p:graphicFrame>
          <p:nvGraphicFramePr>
            <p:cNvPr id="18" name="对象 11"/>
            <p:cNvGraphicFramePr>
              <a:graphicFrameLocks noChangeAspect="1"/>
            </p:cNvGraphicFramePr>
            <p:nvPr/>
          </p:nvGraphicFramePr>
          <p:xfrm>
            <a:off x="329140" y="3677408"/>
            <a:ext cx="1015603" cy="1079500"/>
          </p:xfrm>
          <a:graphic>
            <a:graphicData uri="http://schemas.openxmlformats.org/presentationml/2006/ole">
              <mc:AlternateContent xmlns:mc="http://schemas.openxmlformats.org/markup-compatibility/2006">
                <mc:Choice xmlns:v="urn:schemas-microsoft-com:vml" Requires="v">
                  <p:oleObj spid="_x0000_s3502" name="公式" r:id="rId2" imgW="887095" imgH="850265" progId="Equation.3">
                    <p:embed/>
                  </p:oleObj>
                </mc:Choice>
                <mc:Fallback>
                  <p:oleObj name="公式" r:id="rId2" imgW="887095" imgH="850265" progId="Equation.3">
                    <p:embed/>
                    <p:pic>
                      <p:nvPicPr>
                        <p:cNvPr id="0" name="对象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140" y="3677408"/>
                          <a:ext cx="1015603" cy="1079500"/>
                        </a:xfrm>
                        <a:prstGeom prst="rect">
                          <a:avLst/>
                        </a:prstGeom>
                        <a:solidFill>
                          <a:schemeClr val="bg1"/>
                        </a:solidFill>
                        <a:ln>
                          <a:noFill/>
                        </a:ln>
                      </p:spPr>
                    </p:pic>
                  </p:oleObj>
                </mc:Fallback>
              </mc:AlternateContent>
            </a:graphicData>
          </a:graphic>
        </p:graphicFrame>
        <p:graphicFrame>
          <p:nvGraphicFramePr>
            <p:cNvPr id="19" name="对象 13"/>
            <p:cNvGraphicFramePr>
              <a:graphicFrameLocks noChangeAspect="1"/>
            </p:cNvGraphicFramePr>
            <p:nvPr/>
          </p:nvGraphicFramePr>
          <p:xfrm>
            <a:off x="3487871" y="4048867"/>
            <a:ext cx="625078" cy="347928"/>
          </p:xfrm>
          <a:graphic>
            <a:graphicData uri="http://schemas.openxmlformats.org/presentationml/2006/ole">
              <mc:AlternateContent xmlns:mc="http://schemas.openxmlformats.org/markup-compatibility/2006">
                <mc:Choice xmlns:v="urn:schemas-microsoft-com:vml" Requires="v">
                  <p:oleObj spid="_x0000_s3503" name="公式" r:id="rId4" imgW="356870" imgH="173990" progId="Equation.3">
                    <p:embed/>
                  </p:oleObj>
                </mc:Choice>
                <mc:Fallback>
                  <p:oleObj name="公式" r:id="rId4" imgW="356870" imgH="173990" progId="Equation.3">
                    <p:embed/>
                    <p:pic>
                      <p:nvPicPr>
                        <p:cNvPr id="0" name="对象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7871" y="4048867"/>
                          <a:ext cx="625078" cy="347928"/>
                        </a:xfrm>
                        <a:prstGeom prst="rect">
                          <a:avLst/>
                        </a:prstGeom>
                        <a:solidFill>
                          <a:schemeClr val="bg1"/>
                        </a:solidFill>
                        <a:ln>
                          <a:noFill/>
                        </a:ln>
                      </p:spPr>
                    </p:pic>
                  </p:oleObj>
                </mc:Fallback>
              </mc:AlternateContent>
            </a:graphicData>
          </a:graphic>
        </p:graphicFrame>
        <p:cxnSp>
          <p:nvCxnSpPr>
            <p:cNvPr id="20" name="直接箭头连接符 181"/>
            <p:cNvCxnSpPr>
              <a:stCxn id="18" idx="3"/>
              <a:endCxn id="22" idx="1"/>
            </p:cNvCxnSpPr>
            <p:nvPr/>
          </p:nvCxnSpPr>
          <p:spPr>
            <a:xfrm>
              <a:off x="1344743" y="4217158"/>
              <a:ext cx="495997" cy="0"/>
            </a:xfrm>
            <a:prstGeom prst="straightConnector1">
              <a:avLst/>
            </a:prstGeom>
            <a:noFill/>
            <a:ln w="12700" cap="flat">
              <a:solidFill>
                <a:srgbClr val="FF0000"/>
              </a:solidFill>
              <a:prstDash val="sysDash"/>
              <a:miter lim="800000"/>
              <a:tailEnd type="arrow"/>
            </a:ln>
            <a:effectLst/>
            <a:sp3d/>
          </p:spPr>
          <p:style>
            <a:lnRef idx="0">
              <a:scrgbClr r="0" g="0" b="0"/>
            </a:lnRef>
            <a:fillRef idx="0">
              <a:scrgbClr r="0" g="0" b="0"/>
            </a:fillRef>
            <a:effectRef idx="0">
              <a:scrgbClr r="0" g="0" b="0"/>
            </a:effectRef>
            <a:fontRef idx="none"/>
          </p:style>
        </p:cxnSp>
        <p:cxnSp>
          <p:nvCxnSpPr>
            <p:cNvPr id="21" name="直接箭头连接符 181"/>
            <p:cNvCxnSpPr>
              <a:stCxn id="22" idx="3"/>
              <a:endCxn id="19" idx="1"/>
            </p:cNvCxnSpPr>
            <p:nvPr/>
          </p:nvCxnSpPr>
          <p:spPr>
            <a:xfrm>
              <a:off x="3037757" y="4217158"/>
              <a:ext cx="450114" cy="5673"/>
            </a:xfrm>
            <a:prstGeom prst="straightConnector1">
              <a:avLst/>
            </a:prstGeom>
            <a:noFill/>
            <a:ln w="12700" cap="flat">
              <a:solidFill>
                <a:srgbClr val="FF0000"/>
              </a:solidFill>
              <a:prstDash val="sysDash"/>
              <a:miter lim="800000"/>
              <a:tailEnd type="arrow"/>
            </a:ln>
            <a:effectLst/>
            <a:sp3d/>
          </p:spPr>
          <p:style>
            <a:lnRef idx="0">
              <a:scrgbClr r="0" g="0" b="0"/>
            </a:lnRef>
            <a:fillRef idx="0">
              <a:scrgbClr r="0" g="0" b="0"/>
            </a:fillRef>
            <a:effectRef idx="0">
              <a:scrgbClr r="0" g="0" b="0"/>
            </a:effectRef>
            <a:fontRef idx="none"/>
          </p:style>
        </p:cxnSp>
        <p:sp>
          <p:nvSpPr>
            <p:cNvPr id="22" name="Rectangle 6"/>
            <p:cNvSpPr>
              <a:spLocks noChangeArrowheads="1"/>
            </p:cNvSpPr>
            <p:nvPr/>
          </p:nvSpPr>
          <p:spPr bwMode="auto">
            <a:xfrm>
              <a:off x="1840740" y="3987844"/>
              <a:ext cx="1197017" cy="458627"/>
            </a:xfrm>
            <a:prstGeom prst="rect">
              <a:avLst/>
            </a:prstGeom>
            <a:solidFill>
              <a:schemeClr val="bg1"/>
            </a:solidFill>
            <a:ln w="9525">
              <a:noFill/>
              <a:miter lim="800000"/>
            </a:ln>
            <a:effectLst/>
          </p:spPr>
          <p:txBody>
            <a:bodyPr wrap="none" anchor="ctr"/>
            <a:lstStyle/>
            <a:p>
              <a:pPr algn="ctr">
                <a:defRPr/>
              </a:pPr>
              <a:r>
                <a:rPr lang="zh-CN" altLang="en-US" sz="2160" dirty="0"/>
                <a:t>模型</a:t>
              </a:r>
              <a:r>
                <a:rPr lang="en-US" altLang="zh-CN" sz="2160" dirty="0"/>
                <a:t>/</a:t>
              </a:r>
              <a:r>
                <a:rPr lang="zh-CN" altLang="en-US" sz="2160" dirty="0"/>
                <a:t>系统</a:t>
              </a:r>
              <a:endParaRPr lang="zh-CN" altLang="en-US" sz="2160" dirty="0"/>
            </a:p>
          </p:txBody>
        </p:sp>
      </p:grpSp>
      <p:graphicFrame>
        <p:nvGraphicFramePr>
          <p:cNvPr id="15" name="对象 14"/>
          <p:cNvGraphicFramePr>
            <a:graphicFrameLocks noChangeAspect="1"/>
          </p:cNvGraphicFramePr>
          <p:nvPr/>
        </p:nvGraphicFramePr>
        <p:xfrm>
          <a:off x="2279015" y="4135755"/>
          <a:ext cx="1363345" cy="461645"/>
        </p:xfrm>
        <a:graphic>
          <a:graphicData uri="http://schemas.openxmlformats.org/presentationml/2006/ole">
            <mc:AlternateContent xmlns:mc="http://schemas.openxmlformats.org/markup-compatibility/2006">
              <mc:Choice xmlns:v="urn:schemas-microsoft-com:vml" Requires="v">
                <p:oleObj spid="_x0000_s3504" name="公式" r:id="rId6" imgW="585470" imgH="173990" progId="Equation.3">
                  <p:embed/>
                </p:oleObj>
              </mc:Choice>
              <mc:Fallback>
                <p:oleObj name="公式" r:id="rId6" imgW="585470" imgH="173990" progId="Equation.3">
                  <p:embed/>
                  <p:pic>
                    <p:nvPicPr>
                      <p:cNvPr id="0" name="对象 14"/>
                      <p:cNvPicPr>
                        <a:picLocks noChangeAspect="1" noChangeArrowheads="1"/>
                      </p:cNvPicPr>
                      <p:nvPr/>
                    </p:nvPicPr>
                    <p:blipFill>
                      <a:blip r:embed="rId7"/>
                      <a:srcRect/>
                      <a:stretch>
                        <a:fillRect/>
                      </a:stretch>
                    </p:blipFill>
                    <p:spPr bwMode="auto">
                      <a:xfrm>
                        <a:off x="2279015" y="4135755"/>
                        <a:ext cx="1363345" cy="461645"/>
                      </a:xfrm>
                      <a:prstGeom prst="rect">
                        <a:avLst/>
                      </a:prstGeom>
                      <a:solidFill>
                        <a:schemeClr val="bg1"/>
                      </a:solidFill>
                      <a:ln>
                        <a:noFill/>
                      </a:ln>
                    </p:spPr>
                  </p:pic>
                </p:oleObj>
              </mc:Fallback>
            </mc:AlternateContent>
          </a:graphicData>
        </a:graphic>
      </p:graphicFrame>
      <p:cxnSp>
        <p:nvCxnSpPr>
          <p:cNvPr id="17" name="直接箭头连接符 181"/>
          <p:cNvCxnSpPr>
            <a:stCxn id="15" idx="2"/>
          </p:cNvCxnSpPr>
          <p:nvPr/>
        </p:nvCxnSpPr>
        <p:spPr>
          <a:xfrm flipH="1">
            <a:off x="2952750" y="4597400"/>
            <a:ext cx="8255" cy="452755"/>
          </a:xfrm>
          <a:prstGeom prst="straightConnector1">
            <a:avLst/>
          </a:prstGeom>
          <a:noFill/>
          <a:ln w="12700" cap="flat">
            <a:solidFill>
              <a:srgbClr val="FF0000"/>
            </a:solidFill>
            <a:prstDash val="sysDash"/>
            <a:miter lim="800000"/>
            <a:tailEnd type="arrow"/>
          </a:ln>
          <a:effectLst/>
          <a:sp3d/>
        </p:spPr>
        <p:style>
          <a:lnRef idx="0">
            <a:scrgbClr r="0" g="0" b="0"/>
          </a:lnRef>
          <a:fillRef idx="0">
            <a:scrgbClr r="0" g="0" b="0"/>
          </a:fillRef>
          <a:effectRef idx="0">
            <a:scrgbClr r="0" g="0" b="0"/>
          </a:effectRef>
          <a:fontRef idx="none"/>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28295" y="1492250"/>
            <a:ext cx="3693795" cy="2215515"/>
          </a:xfrm>
        </p:spPr>
        <p:txBody>
          <a:bodyPr/>
          <a:lstStyle/>
          <a:p>
            <a:pPr marL="0" indent="0">
              <a:buNone/>
            </a:pPr>
            <a:r>
              <a:rPr lang="zh-CN" altLang="en-US" sz="2400" b="1" dirty="0">
                <a:solidFill>
                  <a:schemeClr val="tx1"/>
                </a:solidFill>
              </a:rPr>
              <a:t>分类与聚类</a:t>
            </a:r>
            <a:endParaRPr lang="en-US" altLang="zh-CN" sz="2400" b="1" dirty="0">
              <a:solidFill>
                <a:schemeClr val="tx1"/>
              </a:solidFill>
            </a:endParaRPr>
          </a:p>
          <a:p>
            <a:pPr marL="0" indent="0">
              <a:buNone/>
            </a:pPr>
            <a:r>
              <a:rPr lang="zh-CN" altLang="en-US" sz="2400" dirty="0">
                <a:solidFill>
                  <a:schemeClr val="tx1"/>
                </a:solidFill>
              </a:rPr>
              <a:t>聚类</a:t>
            </a:r>
            <a:r>
              <a:rPr kumimoji="1" lang="zh-CN" altLang="en-US" sz="2400" dirty="0">
                <a:solidFill>
                  <a:schemeClr val="tx1"/>
                </a:solidFill>
              </a:rPr>
              <a:t>：学习／训练过程无监督，样本无明确标签</a:t>
            </a:r>
            <a:endParaRPr kumimoji="1" lang="zh-CN" altLang="en-US" sz="2400" dirty="0">
              <a:solidFill>
                <a:schemeClr val="tx1"/>
              </a:solidFill>
            </a:endParaRPr>
          </a:p>
        </p:txBody>
      </p:sp>
      <p:sp>
        <p:nvSpPr>
          <p:cNvPr id="3" name="标题 2"/>
          <p:cNvSpPr>
            <a:spLocks noGrp="1"/>
          </p:cNvSpPr>
          <p:nvPr>
            <p:ph type="title"/>
          </p:nvPr>
        </p:nvSpPr>
        <p:spPr/>
        <p:txBody>
          <a:bodyPr/>
          <a:lstStyle/>
          <a:p>
            <a:r>
              <a:rPr kumimoji="1" lang="en-US" altLang="zh-CN" dirty="0">
                <a:solidFill>
                  <a:schemeClr val="tx1"/>
                </a:solidFill>
                <a:sym typeface="+mn-ea"/>
              </a:rPr>
              <a:t>1.1 </a:t>
            </a:r>
            <a:r>
              <a:rPr kumimoji="1" lang="zh-CN" altLang="en-US" dirty="0">
                <a:solidFill>
                  <a:schemeClr val="tx1"/>
                </a:solidFill>
                <a:sym typeface="+mn-ea"/>
              </a:rPr>
              <a:t>聚类的概念</a:t>
            </a:r>
            <a:endParaRPr kumimoji="1" lang="zh-CN" altLang="en-US" dirty="0">
              <a:solidFill>
                <a:schemeClr val="tx1"/>
              </a:solidFill>
            </a:endParaRPr>
          </a:p>
        </p:txBody>
      </p:sp>
      <p:graphicFrame>
        <p:nvGraphicFramePr>
          <p:cNvPr id="5" name="表格 4"/>
          <p:cNvGraphicFramePr>
            <a:graphicFrameLocks noGrp="1"/>
          </p:cNvGraphicFramePr>
          <p:nvPr/>
        </p:nvGraphicFramePr>
        <p:xfrm>
          <a:off x="4925288" y="1354373"/>
          <a:ext cx="5701547" cy="2409225"/>
        </p:xfrm>
        <a:graphic>
          <a:graphicData uri="http://schemas.openxmlformats.org/drawingml/2006/table">
            <a:tbl>
              <a:tblPr/>
              <a:tblGrid>
                <a:gridCol w="1205058"/>
                <a:gridCol w="1151102"/>
                <a:gridCol w="1250026"/>
                <a:gridCol w="989224"/>
                <a:gridCol w="1106137"/>
              </a:tblGrid>
              <a:tr h="421009">
                <a:tc>
                  <a:txBody>
                    <a:bodyPr/>
                    <a:lstStyle/>
                    <a:p>
                      <a:pPr algn="ctr" fontAlgn="ctr"/>
                      <a:r>
                        <a:rPr lang="en-US" sz="1300" b="0" i="0" u="none" strike="noStrike" dirty="0" err="1">
                          <a:solidFill>
                            <a:schemeClr val="bg1"/>
                          </a:solidFill>
                          <a:effectLst/>
                          <a:latin typeface="Arial" panose="020B0604020202020204"/>
                          <a:cs typeface="Arial" panose="020B0604020202020204"/>
                        </a:rPr>
                        <a:t>Sepal.Length</a:t>
                      </a:r>
                      <a:endParaRPr lang="en-US"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300" b="0" i="0" u="none" strike="noStrike" dirty="0" err="1">
                          <a:solidFill>
                            <a:schemeClr val="bg1"/>
                          </a:solidFill>
                          <a:effectLst/>
                          <a:latin typeface="Arial" panose="020B0604020202020204"/>
                          <a:cs typeface="Arial" panose="020B0604020202020204"/>
                        </a:rPr>
                        <a:t>Sepal.Width</a:t>
                      </a:r>
                      <a:endParaRPr lang="en-US"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300" b="0" i="0" u="none" strike="noStrike" dirty="0" err="1">
                          <a:solidFill>
                            <a:schemeClr val="bg1"/>
                          </a:solidFill>
                          <a:effectLst/>
                          <a:latin typeface="Arial" panose="020B0604020202020204"/>
                          <a:cs typeface="Arial" panose="020B0604020202020204"/>
                        </a:rPr>
                        <a:t>Petal.Length</a:t>
                      </a:r>
                      <a:endParaRPr lang="en-US"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300" b="0" i="0" u="none" strike="noStrike" dirty="0" err="1">
                          <a:solidFill>
                            <a:schemeClr val="bg1"/>
                          </a:solidFill>
                          <a:effectLst/>
                          <a:latin typeface="Arial" panose="020B0604020202020204"/>
                          <a:cs typeface="Arial" panose="020B0604020202020204"/>
                        </a:rPr>
                        <a:t>Petal.Width</a:t>
                      </a:r>
                      <a:endParaRPr lang="en-US"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T-class</a:t>
                      </a:r>
                      <a:endParaRPr lang="en-US"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48527">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5.1</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3.5</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1.4</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0.2</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300" b="0" i="0" u="none" strike="noStrike">
                          <a:solidFill>
                            <a:schemeClr val="bg1"/>
                          </a:solidFill>
                          <a:effectLst/>
                          <a:latin typeface="Arial" panose="020B0604020202020204"/>
                          <a:cs typeface="Arial" panose="020B0604020202020204"/>
                        </a:rPr>
                        <a:t>setosa</a:t>
                      </a:r>
                      <a:endParaRPr lang="en-US"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48527">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4.9</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3</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a:solidFill>
                            <a:schemeClr val="bg1"/>
                          </a:solidFill>
                          <a:effectLst/>
                          <a:latin typeface="Arial" panose="020B0604020202020204"/>
                          <a:cs typeface="Arial" panose="020B0604020202020204"/>
                        </a:rPr>
                        <a:t>1.4</a:t>
                      </a:r>
                      <a:endParaRPr lang="en-US" altLang="zh-CN"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a:solidFill>
                            <a:schemeClr val="bg1"/>
                          </a:solidFill>
                          <a:effectLst/>
                          <a:latin typeface="Arial" panose="020B0604020202020204"/>
                          <a:cs typeface="Arial" panose="020B0604020202020204"/>
                        </a:rPr>
                        <a:t>0.2</a:t>
                      </a:r>
                      <a:endParaRPr lang="en-US" altLang="zh-CN"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300" b="0" i="0" u="none" strike="noStrike">
                          <a:solidFill>
                            <a:schemeClr val="bg1"/>
                          </a:solidFill>
                          <a:effectLst/>
                          <a:latin typeface="Arial" panose="020B0604020202020204"/>
                          <a:cs typeface="Arial" panose="020B0604020202020204"/>
                        </a:rPr>
                        <a:t>setosa</a:t>
                      </a:r>
                      <a:endParaRPr lang="en-US"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48527">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7</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a:solidFill>
                            <a:schemeClr val="bg1"/>
                          </a:solidFill>
                          <a:effectLst/>
                          <a:latin typeface="Arial" panose="020B0604020202020204"/>
                          <a:cs typeface="Arial" panose="020B0604020202020204"/>
                        </a:rPr>
                        <a:t>3.2</a:t>
                      </a:r>
                      <a:endParaRPr lang="en-US" altLang="zh-CN"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a:solidFill>
                            <a:schemeClr val="bg1"/>
                          </a:solidFill>
                          <a:effectLst/>
                          <a:latin typeface="Arial" panose="020B0604020202020204"/>
                          <a:cs typeface="Arial" panose="020B0604020202020204"/>
                        </a:rPr>
                        <a:t>4.7</a:t>
                      </a:r>
                      <a:endParaRPr lang="en-US" altLang="zh-CN"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a:solidFill>
                            <a:schemeClr val="bg1"/>
                          </a:solidFill>
                          <a:effectLst/>
                          <a:latin typeface="Arial" panose="020B0604020202020204"/>
                          <a:cs typeface="Arial" panose="020B0604020202020204"/>
                        </a:rPr>
                        <a:t>1.4</a:t>
                      </a:r>
                      <a:endParaRPr lang="en-US" altLang="zh-CN"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300" b="0" i="0" u="none" strike="noStrike" dirty="0" err="1">
                          <a:solidFill>
                            <a:schemeClr val="bg1"/>
                          </a:solidFill>
                          <a:effectLst/>
                          <a:latin typeface="Arial" panose="020B0604020202020204"/>
                          <a:cs typeface="Arial" panose="020B0604020202020204"/>
                        </a:rPr>
                        <a:t>versicolor</a:t>
                      </a:r>
                      <a:endParaRPr lang="en-US"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48527">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6.4</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a:solidFill>
                            <a:schemeClr val="bg1"/>
                          </a:solidFill>
                          <a:effectLst/>
                          <a:latin typeface="Arial" panose="020B0604020202020204"/>
                          <a:cs typeface="Arial" panose="020B0604020202020204"/>
                        </a:rPr>
                        <a:t>3.2</a:t>
                      </a:r>
                      <a:endParaRPr lang="en-US" altLang="zh-CN"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4.5</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1.5</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300" b="0" i="0" u="none" strike="noStrike">
                          <a:solidFill>
                            <a:schemeClr val="bg1"/>
                          </a:solidFill>
                          <a:effectLst/>
                          <a:latin typeface="Arial" panose="020B0604020202020204"/>
                          <a:cs typeface="Arial" panose="020B0604020202020204"/>
                        </a:rPr>
                        <a:t>versicolor</a:t>
                      </a:r>
                      <a:endParaRPr lang="en-US"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48527">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6.3</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3.3</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6</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2.5</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300" b="0" i="0" u="none" strike="noStrike">
                          <a:solidFill>
                            <a:schemeClr val="bg1"/>
                          </a:solidFill>
                          <a:effectLst/>
                          <a:latin typeface="Arial" panose="020B0604020202020204"/>
                          <a:cs typeface="Arial" panose="020B0604020202020204"/>
                        </a:rPr>
                        <a:t>virginica</a:t>
                      </a:r>
                      <a:endParaRPr lang="en-US"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48527">
                <a:tc>
                  <a:txBody>
                    <a:bodyPr/>
                    <a:lstStyle/>
                    <a:p>
                      <a:pPr algn="ctr" fontAlgn="ctr"/>
                      <a:r>
                        <a:rPr lang="en-US" altLang="zh-CN" sz="1300" b="0" i="0" u="none" strike="noStrike">
                          <a:solidFill>
                            <a:schemeClr val="bg1"/>
                          </a:solidFill>
                          <a:effectLst/>
                          <a:latin typeface="Arial" panose="020B0604020202020204"/>
                          <a:cs typeface="Arial" panose="020B0604020202020204"/>
                        </a:rPr>
                        <a:t>5.8</a:t>
                      </a:r>
                      <a:endParaRPr lang="en-US" altLang="zh-CN"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2.7</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a:solidFill>
                            <a:schemeClr val="bg1"/>
                          </a:solidFill>
                          <a:effectLst/>
                          <a:latin typeface="Arial" panose="020B0604020202020204"/>
                          <a:cs typeface="Arial" panose="020B0604020202020204"/>
                        </a:rPr>
                        <a:t>5.1</a:t>
                      </a:r>
                      <a:endParaRPr lang="en-US" altLang="zh-CN"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a:solidFill>
                            <a:schemeClr val="bg1"/>
                          </a:solidFill>
                          <a:effectLst/>
                          <a:latin typeface="Arial" panose="020B0604020202020204"/>
                          <a:cs typeface="Arial" panose="020B0604020202020204"/>
                        </a:rPr>
                        <a:t>1.9</a:t>
                      </a:r>
                      <a:endParaRPr lang="en-US" altLang="zh-CN"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sz="1300" b="0" i="0" u="none" strike="noStrike">
                          <a:solidFill>
                            <a:schemeClr val="bg1"/>
                          </a:solidFill>
                          <a:effectLst/>
                          <a:latin typeface="Arial" panose="020B0604020202020204"/>
                          <a:cs typeface="Arial" panose="020B0604020202020204"/>
                        </a:rPr>
                        <a:t>virginica</a:t>
                      </a:r>
                      <a:endParaRPr lang="en-US"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48527">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6.5</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a:solidFill>
                            <a:schemeClr val="bg1"/>
                          </a:solidFill>
                          <a:effectLst/>
                          <a:latin typeface="Arial" panose="020B0604020202020204"/>
                          <a:cs typeface="Arial" panose="020B0604020202020204"/>
                        </a:rPr>
                        <a:t>3</a:t>
                      </a:r>
                      <a:endParaRPr lang="en-US" altLang="zh-CN"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5.8</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a:solidFill>
                            <a:schemeClr val="bg1"/>
                          </a:solidFill>
                          <a:effectLst/>
                          <a:latin typeface="Arial" panose="020B0604020202020204"/>
                          <a:cs typeface="Arial" panose="020B0604020202020204"/>
                        </a:rPr>
                        <a:t>2.2</a:t>
                      </a:r>
                      <a:endParaRPr lang="en-US" altLang="zh-CN"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248527">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6.2</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2.9</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4.3</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a:solidFill>
                            <a:schemeClr val="bg1"/>
                          </a:solidFill>
                          <a:effectLst/>
                          <a:latin typeface="Arial" panose="020B0604020202020204"/>
                          <a:cs typeface="Arial" panose="020B0604020202020204"/>
                        </a:rPr>
                        <a:t>1.3</a:t>
                      </a:r>
                      <a:endParaRPr lang="en-US" altLang="zh-CN" sz="1300" b="0" i="0" u="none" strike="noStrike">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fontAlgn="ctr"/>
                      <a:r>
                        <a:rPr lang="en-US" altLang="zh-CN" sz="1300" b="0" i="0" u="none" strike="noStrike" dirty="0">
                          <a:solidFill>
                            <a:schemeClr val="bg1"/>
                          </a:solidFill>
                          <a:effectLst/>
                          <a:latin typeface="Arial" panose="020B0604020202020204"/>
                          <a:cs typeface="Arial" panose="020B0604020202020204"/>
                        </a:rPr>
                        <a:t>?</a:t>
                      </a:r>
                      <a:endParaRPr lang="en-US" altLang="zh-CN" sz="1300" b="0" i="0" u="none" strike="noStrike" dirty="0">
                        <a:solidFill>
                          <a:schemeClr val="bg1"/>
                        </a:solidFill>
                        <a:effectLst/>
                        <a:latin typeface="Arial" panose="020B0604020202020204"/>
                        <a:cs typeface="Arial" panose="020B0604020202020204"/>
                      </a:endParaRPr>
                    </a:p>
                  </a:txBody>
                  <a:tcPr marL="9319" marR="9319" marT="103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bl>
          </a:graphicData>
        </a:graphic>
      </p:graphicFrame>
      <p:sp>
        <p:nvSpPr>
          <p:cNvPr id="4" name="圆角矩形 3"/>
          <p:cNvSpPr/>
          <p:nvPr/>
        </p:nvSpPr>
        <p:spPr bwMode="auto">
          <a:xfrm>
            <a:off x="9520633" y="1300046"/>
            <a:ext cx="1247765" cy="2463553"/>
          </a:xfrm>
          <a:prstGeom prst="roundRect">
            <a:avLst/>
          </a:prstGeom>
          <a:solidFill>
            <a:schemeClr val="bg1">
              <a:lumMod val="95000"/>
            </a:schemeClr>
          </a:solidFill>
          <a:ln w="25400" cap="flat" cmpd="sng">
            <a:solidFill>
              <a:srgbClr val="FF0000"/>
            </a:solidFill>
            <a:prstDash val="sysDash"/>
            <a:round/>
          </a:ln>
        </p:spPr>
        <p:txBody>
          <a:bodyPr lIns="85588" tIns="42794" rIns="85588" bIns="42794" rtlCol="0" anchor="ctr"/>
          <a:lstStyle/>
          <a:p>
            <a:pPr algn="ctr"/>
            <a:endParaRPr kumimoji="1" lang="zh-CN" altLang="en-US" sz="2160"/>
          </a:p>
        </p:txBody>
      </p:sp>
      <p:grpSp>
        <p:nvGrpSpPr>
          <p:cNvPr id="14" name="组合 13"/>
          <p:cNvGrpSpPr/>
          <p:nvPr/>
        </p:nvGrpSpPr>
        <p:grpSpPr>
          <a:xfrm>
            <a:off x="328295" y="4312920"/>
            <a:ext cx="5348605" cy="1753235"/>
            <a:chOff x="569772" y="3679083"/>
            <a:chExt cx="3783809" cy="1079500"/>
          </a:xfrm>
        </p:grpSpPr>
        <p:graphicFrame>
          <p:nvGraphicFramePr>
            <p:cNvPr id="15" name="对象 11"/>
            <p:cNvGraphicFramePr>
              <a:graphicFrameLocks noChangeAspect="1"/>
            </p:cNvGraphicFramePr>
            <p:nvPr/>
          </p:nvGraphicFramePr>
          <p:xfrm>
            <a:off x="569772" y="3679083"/>
            <a:ext cx="1015603" cy="1079500"/>
          </p:xfrm>
          <a:graphic>
            <a:graphicData uri="http://schemas.openxmlformats.org/presentationml/2006/ole">
              <mc:AlternateContent xmlns:mc="http://schemas.openxmlformats.org/markup-compatibility/2006">
                <mc:Choice xmlns:v="urn:schemas-microsoft-com:vml" Requires="v">
                  <p:oleObj spid="_x0000_s4388" name="公式" r:id="rId1" imgW="887095" imgH="850265" progId="Equation.3">
                    <p:embed/>
                  </p:oleObj>
                </mc:Choice>
                <mc:Fallback>
                  <p:oleObj name="公式" r:id="rId1" imgW="887095" imgH="850265" progId="Equation.3">
                    <p:embed/>
                    <p:pic>
                      <p:nvPicPr>
                        <p:cNvPr id="0" name="对象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772" y="3679083"/>
                          <a:ext cx="1015603" cy="1079500"/>
                        </a:xfrm>
                        <a:prstGeom prst="rect">
                          <a:avLst/>
                        </a:prstGeom>
                        <a:solidFill>
                          <a:schemeClr val="bg1"/>
                        </a:solidFill>
                        <a:ln>
                          <a:noFill/>
                        </a:ln>
                      </p:spPr>
                    </p:pic>
                  </p:oleObj>
                </mc:Fallback>
              </mc:AlternateContent>
            </a:graphicData>
          </a:graphic>
        </p:graphicFrame>
        <p:graphicFrame>
          <p:nvGraphicFramePr>
            <p:cNvPr id="16" name="对象 13"/>
            <p:cNvGraphicFramePr>
              <a:graphicFrameLocks noChangeAspect="1"/>
            </p:cNvGraphicFramePr>
            <p:nvPr/>
          </p:nvGraphicFramePr>
          <p:xfrm>
            <a:off x="3728503" y="4050542"/>
            <a:ext cx="625078" cy="347928"/>
          </p:xfrm>
          <a:graphic>
            <a:graphicData uri="http://schemas.openxmlformats.org/presentationml/2006/ole">
              <mc:AlternateContent xmlns:mc="http://schemas.openxmlformats.org/markup-compatibility/2006">
                <mc:Choice xmlns:v="urn:schemas-microsoft-com:vml" Requires="v">
                  <p:oleObj spid="_x0000_s4389" name="公式" r:id="rId3" imgW="356870" imgH="173990" progId="Equation.3">
                    <p:embed/>
                  </p:oleObj>
                </mc:Choice>
                <mc:Fallback>
                  <p:oleObj name="公式" r:id="rId3" imgW="356870" imgH="173990" progId="Equation.3">
                    <p:embed/>
                    <p:pic>
                      <p:nvPicPr>
                        <p:cNvPr id="0" name="对象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8503" y="4050542"/>
                          <a:ext cx="625078" cy="347928"/>
                        </a:xfrm>
                        <a:prstGeom prst="rect">
                          <a:avLst/>
                        </a:prstGeom>
                        <a:solidFill>
                          <a:schemeClr val="bg1"/>
                        </a:solidFill>
                        <a:ln>
                          <a:noFill/>
                        </a:ln>
                      </p:spPr>
                    </p:pic>
                  </p:oleObj>
                </mc:Fallback>
              </mc:AlternateContent>
            </a:graphicData>
          </a:graphic>
        </p:graphicFrame>
        <p:cxnSp>
          <p:nvCxnSpPr>
            <p:cNvPr id="17" name="直接箭头连接符 181"/>
            <p:cNvCxnSpPr>
              <a:stCxn id="15" idx="3"/>
              <a:endCxn id="19" idx="1"/>
            </p:cNvCxnSpPr>
            <p:nvPr/>
          </p:nvCxnSpPr>
          <p:spPr>
            <a:xfrm>
              <a:off x="1585375" y="4218833"/>
              <a:ext cx="495997" cy="0"/>
            </a:xfrm>
            <a:prstGeom prst="straightConnector1">
              <a:avLst/>
            </a:prstGeom>
            <a:noFill/>
            <a:ln w="12700" cap="flat">
              <a:solidFill>
                <a:srgbClr val="FF0000"/>
              </a:solidFill>
              <a:prstDash val="sysDash"/>
              <a:miter lim="800000"/>
              <a:tailEnd type="arrow"/>
            </a:ln>
            <a:effectLst/>
            <a:sp3d/>
          </p:spPr>
          <p:style>
            <a:lnRef idx="0">
              <a:scrgbClr r="0" g="0" b="0"/>
            </a:lnRef>
            <a:fillRef idx="0">
              <a:scrgbClr r="0" g="0" b="0"/>
            </a:fillRef>
            <a:effectRef idx="0">
              <a:scrgbClr r="0" g="0" b="0"/>
            </a:effectRef>
            <a:fontRef idx="none"/>
          </p:style>
        </p:cxnSp>
        <p:cxnSp>
          <p:nvCxnSpPr>
            <p:cNvPr id="18" name="直接箭头连接符 181"/>
            <p:cNvCxnSpPr>
              <a:stCxn id="19" idx="3"/>
              <a:endCxn id="16" idx="1"/>
            </p:cNvCxnSpPr>
            <p:nvPr/>
          </p:nvCxnSpPr>
          <p:spPr>
            <a:xfrm>
              <a:off x="3278389" y="4218833"/>
              <a:ext cx="450114" cy="5673"/>
            </a:xfrm>
            <a:prstGeom prst="straightConnector1">
              <a:avLst/>
            </a:prstGeom>
            <a:noFill/>
            <a:ln w="12700" cap="flat">
              <a:solidFill>
                <a:srgbClr val="FF0000"/>
              </a:solidFill>
              <a:prstDash val="sysDash"/>
              <a:miter lim="800000"/>
              <a:tailEnd type="arrow"/>
            </a:ln>
            <a:effectLst/>
            <a:sp3d/>
          </p:spPr>
          <p:style>
            <a:lnRef idx="0">
              <a:scrgbClr r="0" g="0" b="0"/>
            </a:lnRef>
            <a:fillRef idx="0">
              <a:scrgbClr r="0" g="0" b="0"/>
            </a:fillRef>
            <a:effectRef idx="0">
              <a:scrgbClr r="0" g="0" b="0"/>
            </a:effectRef>
            <a:fontRef idx="none"/>
          </p:style>
        </p:cxnSp>
        <p:sp>
          <p:nvSpPr>
            <p:cNvPr id="19" name="Rectangle 6"/>
            <p:cNvSpPr>
              <a:spLocks noChangeArrowheads="1"/>
            </p:cNvSpPr>
            <p:nvPr/>
          </p:nvSpPr>
          <p:spPr bwMode="auto">
            <a:xfrm>
              <a:off x="2081372" y="3989519"/>
              <a:ext cx="1197017" cy="458627"/>
            </a:xfrm>
            <a:prstGeom prst="rect">
              <a:avLst/>
            </a:prstGeom>
            <a:solidFill>
              <a:schemeClr val="bg1"/>
            </a:solidFill>
            <a:ln w="9525">
              <a:noFill/>
              <a:miter lim="800000"/>
            </a:ln>
            <a:effectLst/>
          </p:spPr>
          <p:txBody>
            <a:bodyPr wrap="none" anchor="ctr"/>
            <a:lstStyle/>
            <a:p>
              <a:pPr algn="ctr">
                <a:defRPr/>
              </a:pPr>
              <a:r>
                <a:rPr lang="zh-CN" altLang="en-US" sz="2160" dirty="0"/>
                <a:t>模型</a:t>
              </a:r>
              <a:r>
                <a:rPr lang="en-US" altLang="zh-CN" sz="2160" dirty="0"/>
                <a:t>/</a:t>
              </a:r>
              <a:r>
                <a:rPr lang="zh-CN" altLang="en-US" sz="2160" dirty="0"/>
                <a:t>系统</a:t>
              </a:r>
              <a:endParaRPr lang="zh-CN" altLang="en-US" sz="216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83210" y="1706245"/>
            <a:ext cx="11626215" cy="4369435"/>
          </a:xfrm>
        </p:spPr>
        <p:txBody>
          <a:bodyPr/>
          <a:lstStyle/>
          <a:p>
            <a:pPr>
              <a:buClrTx/>
              <a:buFont typeface="Arial" panose="020B0604020202020204"/>
              <a:buChar char="•"/>
            </a:pPr>
            <a:r>
              <a:rPr lang="zh-CN" altLang="en-US" sz="2000" dirty="0">
                <a:solidFill>
                  <a:schemeClr val="tx1"/>
                </a:solidFill>
              </a:rPr>
              <a:t>聚类是把各不相同的个体分割为有更多相似性子集合的工作。</a:t>
            </a:r>
            <a:endParaRPr lang="zh-CN" altLang="en-US" sz="2000" dirty="0">
              <a:solidFill>
                <a:schemeClr val="tx1"/>
              </a:solidFill>
            </a:endParaRPr>
          </a:p>
          <a:p>
            <a:pPr>
              <a:buClrTx/>
              <a:buFont typeface="Arial" panose="020B0604020202020204"/>
              <a:buChar char="•"/>
            </a:pPr>
            <a:r>
              <a:rPr lang="zh-CN" altLang="en-US" sz="2000" dirty="0">
                <a:solidFill>
                  <a:schemeClr val="tx1"/>
                </a:solidFill>
              </a:rPr>
              <a:t>聚类生成的子集合称为</a:t>
            </a:r>
            <a:r>
              <a:rPr lang="zh-CN" altLang="en-US" sz="2000" dirty="0">
                <a:solidFill>
                  <a:srgbClr val="FF0000"/>
                </a:solidFill>
              </a:rPr>
              <a:t>簇</a:t>
            </a:r>
            <a:endParaRPr lang="zh-CN" altLang="en-US" sz="2000" dirty="0">
              <a:solidFill>
                <a:srgbClr val="FF0000"/>
              </a:solidFill>
            </a:endParaRPr>
          </a:p>
          <a:p>
            <a:pPr marL="0" indent="0">
              <a:buNone/>
            </a:pPr>
            <a:r>
              <a:rPr lang="zh-CN" altLang="en-US" sz="2000" dirty="0">
                <a:solidFill>
                  <a:schemeClr val="tx1"/>
                </a:solidFill>
              </a:rPr>
              <a:t>聚类的要求</a:t>
            </a:r>
            <a:endParaRPr lang="zh-CN" altLang="en-US" sz="2000" dirty="0">
              <a:solidFill>
                <a:schemeClr val="tx1"/>
              </a:solidFill>
            </a:endParaRPr>
          </a:p>
          <a:p>
            <a:pPr>
              <a:buClrTx/>
              <a:buFont typeface="Arial" panose="020B0604020202020204"/>
              <a:buChar char="•"/>
            </a:pPr>
            <a:r>
              <a:rPr lang="zh-CN" altLang="en-US" sz="2000" dirty="0">
                <a:solidFill>
                  <a:schemeClr val="tx1"/>
                </a:solidFill>
              </a:rPr>
              <a:t>生成的</a:t>
            </a:r>
            <a:r>
              <a:rPr lang="zh-CN" altLang="en-US" sz="2000" dirty="0">
                <a:solidFill>
                  <a:srgbClr val="FF0000"/>
                </a:solidFill>
              </a:rPr>
              <a:t>簇内部</a:t>
            </a:r>
            <a:r>
              <a:rPr lang="zh-CN" altLang="en-US" sz="2000" dirty="0">
                <a:solidFill>
                  <a:schemeClr val="tx1"/>
                </a:solidFill>
              </a:rPr>
              <a:t>的任意两个对象之间具有</a:t>
            </a:r>
            <a:r>
              <a:rPr lang="zh-CN" altLang="en-US" sz="2000" dirty="0">
                <a:solidFill>
                  <a:srgbClr val="FF0000"/>
                </a:solidFill>
              </a:rPr>
              <a:t>较高的相似度</a:t>
            </a:r>
            <a:endParaRPr lang="zh-CN" altLang="en-US" sz="2000" dirty="0">
              <a:solidFill>
                <a:srgbClr val="FF0000"/>
              </a:solidFill>
            </a:endParaRPr>
          </a:p>
          <a:p>
            <a:pPr>
              <a:buClrTx/>
              <a:buFont typeface="Arial" panose="020B0604020202020204"/>
              <a:buChar char="•"/>
            </a:pPr>
            <a:r>
              <a:rPr lang="zh-CN" altLang="en-US" sz="2000" dirty="0" smtClean="0">
                <a:solidFill>
                  <a:schemeClr val="tx1"/>
                </a:solidFill>
              </a:rPr>
              <a:t>属于</a:t>
            </a:r>
            <a:r>
              <a:rPr lang="zh-CN" altLang="en-US" sz="2000" dirty="0" smtClean="0">
                <a:solidFill>
                  <a:srgbClr val="FF0000"/>
                </a:solidFill>
              </a:rPr>
              <a:t>不同簇</a:t>
            </a:r>
            <a:r>
              <a:rPr lang="zh-CN" altLang="en-US" sz="2000" dirty="0" smtClean="0">
                <a:solidFill>
                  <a:schemeClr val="tx1"/>
                </a:solidFill>
              </a:rPr>
              <a:t>的两个对象间</a:t>
            </a:r>
            <a:r>
              <a:rPr lang="zh-CN" altLang="en-US" sz="2000" dirty="0">
                <a:solidFill>
                  <a:schemeClr val="tx1"/>
                </a:solidFill>
              </a:rPr>
              <a:t>具有</a:t>
            </a:r>
            <a:r>
              <a:rPr lang="zh-CN" altLang="en-US" sz="2000" dirty="0">
                <a:solidFill>
                  <a:srgbClr val="FF0000"/>
                </a:solidFill>
              </a:rPr>
              <a:t>较高的相异度</a:t>
            </a:r>
            <a:endParaRPr lang="zh-CN" altLang="en-US" sz="2000" dirty="0">
              <a:solidFill>
                <a:srgbClr val="FF0000"/>
              </a:solidFill>
            </a:endParaRPr>
          </a:p>
          <a:p>
            <a:pPr marL="0" indent="0">
              <a:buNone/>
            </a:pPr>
            <a:r>
              <a:rPr lang="zh-CN" altLang="en-US" sz="2000" dirty="0">
                <a:solidFill>
                  <a:schemeClr val="tx1"/>
                </a:solidFill>
              </a:rPr>
              <a:t>聚类与</a:t>
            </a:r>
            <a:r>
              <a:rPr lang="zh-CN" altLang="en-US" sz="2000" dirty="0" smtClean="0">
                <a:solidFill>
                  <a:schemeClr val="tx1"/>
                </a:solidFill>
              </a:rPr>
              <a:t>分类的</a:t>
            </a:r>
            <a:r>
              <a:rPr lang="zh-CN" altLang="en-US" sz="2000" dirty="0">
                <a:solidFill>
                  <a:schemeClr val="tx1"/>
                </a:solidFill>
              </a:rPr>
              <a:t>区别在于聚类不依赖于预先定义的类，没有预定义的类和样本</a:t>
            </a:r>
            <a:r>
              <a:rPr lang="en-US" altLang="zh-CN" sz="2000" dirty="0">
                <a:solidFill>
                  <a:schemeClr val="tx1"/>
                </a:solidFill>
              </a:rPr>
              <a:t>——</a:t>
            </a:r>
            <a:r>
              <a:rPr lang="zh-CN" altLang="en-US" sz="2000" dirty="0">
                <a:solidFill>
                  <a:schemeClr val="tx1"/>
                </a:solidFill>
              </a:rPr>
              <a:t>聚类是一种无监督的数据挖掘任务</a:t>
            </a:r>
            <a:endParaRPr lang="en-US" altLang="zh-CN" sz="2000" dirty="0">
              <a:solidFill>
                <a:schemeClr val="tx1"/>
              </a:solidFill>
            </a:endParaRPr>
          </a:p>
          <a:p>
            <a:pPr>
              <a:buFont typeface="Arial" panose="020B0604020202020204"/>
              <a:buChar char="•"/>
            </a:pPr>
            <a:r>
              <a:rPr lang="zh-CN" altLang="en-US" sz="2000" dirty="0" smtClean="0">
                <a:solidFill>
                  <a:srgbClr val="FF0000"/>
                </a:solidFill>
              </a:rPr>
              <a:t>聚类</a:t>
            </a:r>
            <a:r>
              <a:rPr lang="zh-CN" altLang="en-US" sz="2000" dirty="0">
                <a:solidFill>
                  <a:srgbClr val="FF0000"/>
                </a:solidFill>
              </a:rPr>
              <a:t>通常作为其他数据挖掘或建模的前奏。</a:t>
            </a:r>
            <a:endParaRPr lang="zh-CN" altLang="en-US" sz="2000" dirty="0">
              <a:solidFill>
                <a:srgbClr val="FF0000"/>
              </a:solidFill>
            </a:endParaRPr>
          </a:p>
          <a:p>
            <a:pPr marL="0" indent="0">
              <a:buNone/>
            </a:pPr>
            <a:endParaRPr lang="en-US" altLang="zh-CN" sz="2000" dirty="0">
              <a:solidFill>
                <a:schemeClr val="tx1"/>
              </a:solidFill>
            </a:endParaRPr>
          </a:p>
          <a:p>
            <a:pPr marL="0" indent="0">
              <a:buNone/>
            </a:pPr>
            <a:endParaRPr lang="en-US" altLang="zh-CN" sz="2000" dirty="0">
              <a:solidFill>
                <a:schemeClr val="tx1"/>
              </a:solidFill>
            </a:endParaRPr>
          </a:p>
          <a:p>
            <a:pPr marL="0" indent="0">
              <a:buNone/>
            </a:pPr>
            <a:endParaRPr lang="zh-CN" altLang="en-US" sz="2000" dirty="0">
              <a:solidFill>
                <a:schemeClr val="tx1"/>
              </a:solidFill>
            </a:endParaRPr>
          </a:p>
          <a:p>
            <a:endParaRPr kumimoji="1" lang="zh-CN" altLang="en-US" sz="2000" dirty="0">
              <a:solidFill>
                <a:schemeClr val="tx1"/>
              </a:solidFill>
            </a:endParaRPr>
          </a:p>
        </p:txBody>
      </p:sp>
      <p:sp>
        <p:nvSpPr>
          <p:cNvPr id="3" name="标题 2"/>
          <p:cNvSpPr>
            <a:spLocks noGrp="1"/>
          </p:cNvSpPr>
          <p:nvPr>
            <p:ph type="title"/>
          </p:nvPr>
        </p:nvSpPr>
        <p:spPr>
          <a:xfrm>
            <a:off x="254878" y="387957"/>
            <a:ext cx="10972801" cy="528176"/>
          </a:xfrm>
        </p:spPr>
        <p:txBody>
          <a:bodyPr/>
          <a:lstStyle/>
          <a:p>
            <a:r>
              <a:rPr kumimoji="1" lang="en-US" altLang="zh-CN" dirty="0">
                <a:solidFill>
                  <a:schemeClr val="tx1"/>
                </a:solidFill>
                <a:sym typeface="+mn-ea"/>
              </a:rPr>
              <a:t>1.1 </a:t>
            </a:r>
            <a:r>
              <a:rPr kumimoji="1" lang="zh-CN" altLang="en-US" dirty="0">
                <a:solidFill>
                  <a:schemeClr val="tx1"/>
                </a:solidFill>
                <a:sym typeface="+mn-ea"/>
              </a:rPr>
              <a:t>聚类的概念</a:t>
            </a:r>
            <a:endParaRPr kumimoji="1" lang="zh-CN" altLang="en-US" dirty="0">
              <a:solidFill>
                <a:schemeClr val="tx1"/>
              </a:solidFill>
            </a:endParaRPr>
          </a:p>
        </p:txBody>
      </p:sp>
      <p:sp>
        <p:nvSpPr>
          <p:cNvPr id="4" name="内容占位符 3"/>
          <p:cNvSpPr>
            <a:spLocks noGrp="1"/>
          </p:cNvSpPr>
          <p:nvPr>
            <p:ph idx="10"/>
          </p:nvPr>
        </p:nvSpPr>
        <p:spPr>
          <a:xfrm>
            <a:off x="423822" y="1167861"/>
            <a:ext cx="11107601" cy="426469"/>
          </a:xfrm>
        </p:spPr>
        <p:txBody>
          <a:bodyPr/>
          <a:lstStyle/>
          <a:p>
            <a:r>
              <a:rPr kumimoji="1" lang="zh-CN" altLang="en-US" dirty="0">
                <a:solidFill>
                  <a:schemeClr val="tx1"/>
                </a:solidFill>
              </a:rPr>
              <a:t>聚类的概念</a:t>
            </a:r>
            <a:endParaRPr kumimoji="1"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500"/>
                                        <p:tgtEl>
                                          <p:spTgt spid="2">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5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fade">
                                      <p:cBhvr>
                                        <p:cTn id="28" dur="500"/>
                                        <p:tgtEl>
                                          <p:spTgt spid="2">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Effect transition="in" filter="fade">
                                      <p:cBhvr>
                                        <p:cTn id="33"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23822" y="1244385"/>
            <a:ext cx="11050519" cy="528176"/>
          </a:xfrm>
        </p:spPr>
        <p:txBody>
          <a:bodyPr/>
          <a:lstStyle/>
          <a:p>
            <a:pPr marL="0" indent="0">
              <a:buNone/>
            </a:pPr>
            <a:r>
              <a:rPr lang="zh-CN" altLang="en-US" dirty="0">
                <a:solidFill>
                  <a:schemeClr val="tx1"/>
                </a:solidFill>
              </a:rPr>
              <a:t>聚类的概念</a:t>
            </a:r>
            <a:endParaRPr lang="zh-CN" altLang="en-US" dirty="0">
              <a:solidFill>
                <a:schemeClr val="tx1"/>
              </a:solidFill>
            </a:endParaRPr>
          </a:p>
        </p:txBody>
      </p:sp>
      <p:sp>
        <p:nvSpPr>
          <p:cNvPr id="3" name="标题 2"/>
          <p:cNvSpPr>
            <a:spLocks noGrp="1"/>
          </p:cNvSpPr>
          <p:nvPr>
            <p:ph type="title"/>
          </p:nvPr>
        </p:nvSpPr>
        <p:spPr/>
        <p:txBody>
          <a:bodyPr/>
          <a:lstStyle/>
          <a:p>
            <a:r>
              <a:rPr kumimoji="1" lang="en-US" altLang="zh-CN" dirty="0">
                <a:solidFill>
                  <a:schemeClr val="tx1"/>
                </a:solidFill>
                <a:sym typeface="+mn-ea"/>
              </a:rPr>
              <a:t>1.1 </a:t>
            </a:r>
            <a:r>
              <a:rPr kumimoji="1" lang="zh-CN" altLang="en-US" dirty="0">
                <a:solidFill>
                  <a:schemeClr val="tx1"/>
                </a:solidFill>
                <a:sym typeface="+mn-ea"/>
              </a:rPr>
              <a:t>聚类的概念</a:t>
            </a:r>
            <a:endParaRPr kumimoji="1" lang="zh-CN" altLang="en-US" dirty="0">
              <a:solidFill>
                <a:schemeClr val="tx1"/>
              </a:solidFill>
            </a:endParaRPr>
          </a:p>
        </p:txBody>
      </p:sp>
      <p:grpSp>
        <p:nvGrpSpPr>
          <p:cNvPr id="42" name="组 43"/>
          <p:cNvGrpSpPr/>
          <p:nvPr/>
        </p:nvGrpSpPr>
        <p:grpSpPr>
          <a:xfrm>
            <a:off x="3569664" y="2431896"/>
            <a:ext cx="4411282" cy="2329657"/>
            <a:chOff x="3321456" y="4062412"/>
            <a:chExt cx="5620456" cy="2795588"/>
          </a:xfrm>
        </p:grpSpPr>
        <p:grpSp>
          <p:nvGrpSpPr>
            <p:cNvPr id="43" name="Group 4"/>
            <p:cNvGrpSpPr/>
            <p:nvPr/>
          </p:nvGrpSpPr>
          <p:grpSpPr bwMode="auto">
            <a:xfrm>
              <a:off x="4946174" y="4848225"/>
              <a:ext cx="2138363" cy="2009775"/>
              <a:chOff x="2160" y="2544"/>
              <a:chExt cx="1920" cy="1687"/>
            </a:xfrm>
          </p:grpSpPr>
          <p:sp>
            <p:nvSpPr>
              <p:cNvPr id="55" name="Line 5"/>
              <p:cNvSpPr>
                <a:spLocks noChangeShapeType="1"/>
              </p:cNvSpPr>
              <p:nvPr/>
            </p:nvSpPr>
            <p:spPr bwMode="auto">
              <a:xfrm>
                <a:off x="2736" y="2544"/>
                <a:ext cx="0" cy="1152"/>
              </a:xfrm>
              <a:prstGeom prst="line">
                <a:avLst/>
              </a:prstGeom>
              <a:noFill/>
              <a:ln w="9525">
                <a:solidFill>
                  <a:schemeClr val="tx1"/>
                </a:solidFill>
                <a:round/>
              </a:ln>
            </p:spPr>
            <p:txBody>
              <a:bodyPr wrap="none" anchor="ctr"/>
              <a:lstStyle/>
              <a:p>
                <a:endParaRPr lang="zh-CN" altLang="en-US"/>
              </a:p>
            </p:txBody>
          </p:sp>
          <p:sp>
            <p:nvSpPr>
              <p:cNvPr id="56" name="Line 6"/>
              <p:cNvSpPr>
                <a:spLocks noChangeShapeType="1"/>
              </p:cNvSpPr>
              <p:nvPr/>
            </p:nvSpPr>
            <p:spPr bwMode="auto">
              <a:xfrm>
                <a:off x="2736" y="3696"/>
                <a:ext cx="1344" cy="0"/>
              </a:xfrm>
              <a:prstGeom prst="line">
                <a:avLst/>
              </a:prstGeom>
              <a:noFill/>
              <a:ln w="9525">
                <a:solidFill>
                  <a:schemeClr val="tx1"/>
                </a:solidFill>
                <a:round/>
              </a:ln>
            </p:spPr>
            <p:txBody>
              <a:bodyPr wrap="none" anchor="ctr"/>
              <a:lstStyle/>
              <a:p>
                <a:endParaRPr lang="zh-CN" altLang="en-US"/>
              </a:p>
            </p:txBody>
          </p:sp>
          <p:sp>
            <p:nvSpPr>
              <p:cNvPr id="57" name="Freeform 7"/>
              <p:cNvSpPr/>
              <p:nvPr/>
            </p:nvSpPr>
            <p:spPr bwMode="auto">
              <a:xfrm>
                <a:off x="2226" y="3696"/>
                <a:ext cx="510" cy="535"/>
              </a:xfrm>
              <a:custGeom>
                <a:avLst/>
                <a:gdLst>
                  <a:gd name="T0" fmla="*/ 510 w 510"/>
                  <a:gd name="T1" fmla="*/ 0 h 535"/>
                  <a:gd name="T2" fmla="*/ 0 w 510"/>
                  <a:gd name="T3" fmla="*/ 535 h 535"/>
                  <a:gd name="T4" fmla="*/ 0 60000 65536"/>
                  <a:gd name="T5" fmla="*/ 0 60000 65536"/>
                  <a:gd name="T6" fmla="*/ 0 w 510"/>
                  <a:gd name="T7" fmla="*/ 0 h 535"/>
                  <a:gd name="T8" fmla="*/ 510 w 510"/>
                  <a:gd name="T9" fmla="*/ 535 h 535"/>
                </a:gdLst>
                <a:ahLst/>
                <a:cxnLst>
                  <a:cxn ang="T4">
                    <a:pos x="T0" y="T1"/>
                  </a:cxn>
                  <a:cxn ang="T5">
                    <a:pos x="T2" y="T3"/>
                  </a:cxn>
                </a:cxnLst>
                <a:rect l="T6" t="T7" r="T8" b="T9"/>
                <a:pathLst>
                  <a:path w="510" h="535">
                    <a:moveTo>
                      <a:pt x="510" y="0"/>
                    </a:moveTo>
                    <a:lnTo>
                      <a:pt x="0" y="535"/>
                    </a:lnTo>
                  </a:path>
                </a:pathLst>
              </a:custGeom>
              <a:noFill/>
              <a:ln w="9525">
                <a:solidFill>
                  <a:schemeClr val="tx1"/>
                </a:solidFill>
                <a:round/>
              </a:ln>
            </p:spPr>
            <p:txBody>
              <a:bodyPr wrap="none" anchor="ctr"/>
              <a:lstStyle/>
              <a:p>
                <a:endParaRPr lang="zh-CN" altLang="en-US"/>
              </a:p>
            </p:txBody>
          </p:sp>
          <p:sp>
            <p:nvSpPr>
              <p:cNvPr id="58" name="AutoShape 8"/>
              <p:cNvSpPr>
                <a:spLocks noChangeArrowheads="1"/>
              </p:cNvSpPr>
              <p:nvPr/>
            </p:nvSpPr>
            <p:spPr bwMode="auto">
              <a:xfrm>
                <a:off x="3264" y="2880"/>
                <a:ext cx="96" cy="96"/>
              </a:xfrm>
              <a:prstGeom prst="octagon">
                <a:avLst>
                  <a:gd name="adj" fmla="val 29287"/>
                </a:avLst>
              </a:prstGeom>
              <a:solidFill>
                <a:schemeClr val="accent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59" name="AutoShape 9"/>
              <p:cNvSpPr>
                <a:spLocks noChangeArrowheads="1"/>
              </p:cNvSpPr>
              <p:nvPr/>
            </p:nvSpPr>
            <p:spPr bwMode="auto">
              <a:xfrm>
                <a:off x="3408" y="2880"/>
                <a:ext cx="96" cy="96"/>
              </a:xfrm>
              <a:prstGeom prst="octagon">
                <a:avLst>
                  <a:gd name="adj" fmla="val 29287"/>
                </a:avLst>
              </a:prstGeom>
              <a:solidFill>
                <a:schemeClr val="accent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60" name="AutoShape 10"/>
              <p:cNvSpPr>
                <a:spLocks noChangeArrowheads="1"/>
              </p:cNvSpPr>
              <p:nvPr/>
            </p:nvSpPr>
            <p:spPr bwMode="auto">
              <a:xfrm>
                <a:off x="3360" y="2736"/>
                <a:ext cx="96" cy="96"/>
              </a:xfrm>
              <a:prstGeom prst="octagon">
                <a:avLst>
                  <a:gd name="adj" fmla="val 29287"/>
                </a:avLst>
              </a:prstGeom>
              <a:solidFill>
                <a:schemeClr val="accent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61" name="AutoShape 11"/>
              <p:cNvSpPr>
                <a:spLocks noChangeArrowheads="1"/>
              </p:cNvSpPr>
              <p:nvPr/>
            </p:nvSpPr>
            <p:spPr bwMode="auto">
              <a:xfrm>
                <a:off x="3360" y="3024"/>
                <a:ext cx="96" cy="96"/>
              </a:xfrm>
              <a:prstGeom prst="octagon">
                <a:avLst>
                  <a:gd name="adj" fmla="val 29287"/>
                </a:avLst>
              </a:prstGeom>
              <a:solidFill>
                <a:schemeClr val="accent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62" name="AutoShape 12"/>
              <p:cNvSpPr>
                <a:spLocks noChangeArrowheads="1"/>
              </p:cNvSpPr>
              <p:nvPr/>
            </p:nvSpPr>
            <p:spPr bwMode="auto">
              <a:xfrm>
                <a:off x="3600" y="2880"/>
                <a:ext cx="96" cy="96"/>
              </a:xfrm>
              <a:prstGeom prst="octagon">
                <a:avLst>
                  <a:gd name="adj" fmla="val 29287"/>
                </a:avLst>
              </a:prstGeom>
              <a:solidFill>
                <a:schemeClr val="accent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63" name="AutoShape 13"/>
              <p:cNvSpPr>
                <a:spLocks noChangeArrowheads="1"/>
              </p:cNvSpPr>
              <p:nvPr/>
            </p:nvSpPr>
            <p:spPr bwMode="auto">
              <a:xfrm>
                <a:off x="3504" y="2784"/>
                <a:ext cx="96" cy="96"/>
              </a:xfrm>
              <a:prstGeom prst="octagon">
                <a:avLst>
                  <a:gd name="adj" fmla="val 29287"/>
                </a:avLst>
              </a:prstGeom>
              <a:solidFill>
                <a:schemeClr val="accent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64" name="AutoShape 14"/>
              <p:cNvSpPr>
                <a:spLocks noChangeArrowheads="1"/>
              </p:cNvSpPr>
              <p:nvPr/>
            </p:nvSpPr>
            <p:spPr bwMode="auto">
              <a:xfrm>
                <a:off x="3168" y="2736"/>
                <a:ext cx="96" cy="96"/>
              </a:xfrm>
              <a:prstGeom prst="octagon">
                <a:avLst>
                  <a:gd name="adj" fmla="val 29287"/>
                </a:avLst>
              </a:prstGeom>
              <a:solidFill>
                <a:schemeClr val="accent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65" name="AutoShape 15"/>
              <p:cNvSpPr>
                <a:spLocks noChangeArrowheads="1"/>
              </p:cNvSpPr>
              <p:nvPr/>
            </p:nvSpPr>
            <p:spPr bwMode="auto">
              <a:xfrm>
                <a:off x="3504" y="2976"/>
                <a:ext cx="96" cy="96"/>
              </a:xfrm>
              <a:prstGeom prst="octagon">
                <a:avLst>
                  <a:gd name="adj" fmla="val 29287"/>
                </a:avLst>
              </a:prstGeom>
              <a:solidFill>
                <a:schemeClr val="accent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66" name="AutoShape 16"/>
              <p:cNvSpPr>
                <a:spLocks noChangeArrowheads="1"/>
              </p:cNvSpPr>
              <p:nvPr/>
            </p:nvSpPr>
            <p:spPr bwMode="auto">
              <a:xfrm>
                <a:off x="3168" y="2976"/>
                <a:ext cx="96" cy="96"/>
              </a:xfrm>
              <a:prstGeom prst="octagon">
                <a:avLst>
                  <a:gd name="adj" fmla="val 29287"/>
                </a:avLst>
              </a:prstGeom>
              <a:solidFill>
                <a:schemeClr val="accent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67" name="AutoShape 17"/>
              <p:cNvSpPr>
                <a:spLocks noChangeArrowheads="1"/>
              </p:cNvSpPr>
              <p:nvPr/>
            </p:nvSpPr>
            <p:spPr bwMode="auto">
              <a:xfrm>
                <a:off x="2160" y="3264"/>
                <a:ext cx="96" cy="96"/>
              </a:xfrm>
              <a:prstGeom prst="octagon">
                <a:avLst>
                  <a:gd name="adj" fmla="val 29287"/>
                </a:avLst>
              </a:prstGeom>
              <a:solidFill>
                <a:srgbClr val="FF0066"/>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68" name="AutoShape 18"/>
              <p:cNvSpPr>
                <a:spLocks noChangeArrowheads="1"/>
              </p:cNvSpPr>
              <p:nvPr/>
            </p:nvSpPr>
            <p:spPr bwMode="auto">
              <a:xfrm>
                <a:off x="2304" y="3312"/>
                <a:ext cx="96" cy="96"/>
              </a:xfrm>
              <a:prstGeom prst="octagon">
                <a:avLst>
                  <a:gd name="adj" fmla="val 29287"/>
                </a:avLst>
              </a:prstGeom>
              <a:solidFill>
                <a:srgbClr val="FF0066"/>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69" name="AutoShape 19"/>
              <p:cNvSpPr>
                <a:spLocks noChangeArrowheads="1"/>
              </p:cNvSpPr>
              <p:nvPr/>
            </p:nvSpPr>
            <p:spPr bwMode="auto">
              <a:xfrm>
                <a:off x="2304" y="3456"/>
                <a:ext cx="96" cy="96"/>
              </a:xfrm>
              <a:prstGeom prst="octagon">
                <a:avLst>
                  <a:gd name="adj" fmla="val 29287"/>
                </a:avLst>
              </a:prstGeom>
              <a:solidFill>
                <a:srgbClr val="FF0066"/>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70" name="AutoShape 20"/>
              <p:cNvSpPr>
                <a:spLocks noChangeArrowheads="1"/>
              </p:cNvSpPr>
              <p:nvPr/>
            </p:nvSpPr>
            <p:spPr bwMode="auto">
              <a:xfrm>
                <a:off x="2448" y="3312"/>
                <a:ext cx="96" cy="96"/>
              </a:xfrm>
              <a:prstGeom prst="octagon">
                <a:avLst>
                  <a:gd name="adj" fmla="val 29287"/>
                </a:avLst>
              </a:prstGeom>
              <a:solidFill>
                <a:srgbClr val="FF0066"/>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71" name="AutoShape 21"/>
              <p:cNvSpPr>
                <a:spLocks noChangeArrowheads="1"/>
              </p:cNvSpPr>
              <p:nvPr/>
            </p:nvSpPr>
            <p:spPr bwMode="auto">
              <a:xfrm>
                <a:off x="2352" y="3168"/>
                <a:ext cx="96" cy="96"/>
              </a:xfrm>
              <a:prstGeom prst="octagon">
                <a:avLst>
                  <a:gd name="adj" fmla="val 29287"/>
                </a:avLst>
              </a:prstGeom>
              <a:solidFill>
                <a:srgbClr val="FF0066"/>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72" name="AutoShape 22"/>
              <p:cNvSpPr>
                <a:spLocks noChangeArrowheads="1"/>
              </p:cNvSpPr>
              <p:nvPr/>
            </p:nvSpPr>
            <p:spPr bwMode="auto">
              <a:xfrm>
                <a:off x="2448" y="3456"/>
                <a:ext cx="96" cy="96"/>
              </a:xfrm>
              <a:prstGeom prst="octagon">
                <a:avLst>
                  <a:gd name="adj" fmla="val 29287"/>
                </a:avLst>
              </a:prstGeom>
              <a:solidFill>
                <a:srgbClr val="FF0066"/>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73" name="AutoShape 23"/>
              <p:cNvSpPr>
                <a:spLocks noChangeArrowheads="1"/>
              </p:cNvSpPr>
              <p:nvPr/>
            </p:nvSpPr>
            <p:spPr bwMode="auto">
              <a:xfrm>
                <a:off x="2160" y="3408"/>
                <a:ext cx="96" cy="96"/>
              </a:xfrm>
              <a:prstGeom prst="octagon">
                <a:avLst>
                  <a:gd name="adj" fmla="val 29287"/>
                </a:avLst>
              </a:prstGeom>
              <a:solidFill>
                <a:srgbClr val="FF0066"/>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74" name="AutoShape 24"/>
              <p:cNvSpPr>
                <a:spLocks noChangeArrowheads="1"/>
              </p:cNvSpPr>
              <p:nvPr/>
            </p:nvSpPr>
            <p:spPr bwMode="auto">
              <a:xfrm>
                <a:off x="3504" y="3552"/>
                <a:ext cx="96" cy="96"/>
              </a:xfrm>
              <a:prstGeom prst="octagon">
                <a:avLst>
                  <a:gd name="adj" fmla="val 29287"/>
                </a:avLst>
              </a:prstGeom>
              <a:solidFill>
                <a:schemeClr val="accent2"/>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75" name="AutoShape 25"/>
              <p:cNvSpPr>
                <a:spLocks noChangeArrowheads="1"/>
              </p:cNvSpPr>
              <p:nvPr/>
            </p:nvSpPr>
            <p:spPr bwMode="auto">
              <a:xfrm>
                <a:off x="3792" y="3600"/>
                <a:ext cx="96" cy="96"/>
              </a:xfrm>
              <a:prstGeom prst="octagon">
                <a:avLst>
                  <a:gd name="adj" fmla="val 29287"/>
                </a:avLst>
              </a:prstGeom>
              <a:solidFill>
                <a:schemeClr val="accent2"/>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76" name="AutoShape 26"/>
              <p:cNvSpPr>
                <a:spLocks noChangeArrowheads="1"/>
              </p:cNvSpPr>
              <p:nvPr/>
            </p:nvSpPr>
            <p:spPr bwMode="auto">
              <a:xfrm>
                <a:off x="3648" y="3696"/>
                <a:ext cx="96" cy="96"/>
              </a:xfrm>
              <a:prstGeom prst="octagon">
                <a:avLst>
                  <a:gd name="adj" fmla="val 29287"/>
                </a:avLst>
              </a:prstGeom>
              <a:solidFill>
                <a:schemeClr val="accent2"/>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77" name="AutoShape 27"/>
              <p:cNvSpPr>
                <a:spLocks noChangeArrowheads="1"/>
              </p:cNvSpPr>
              <p:nvPr/>
            </p:nvSpPr>
            <p:spPr bwMode="auto">
              <a:xfrm>
                <a:off x="3504" y="3792"/>
                <a:ext cx="96" cy="96"/>
              </a:xfrm>
              <a:prstGeom prst="octagon">
                <a:avLst>
                  <a:gd name="adj" fmla="val 29287"/>
                </a:avLst>
              </a:prstGeom>
              <a:solidFill>
                <a:schemeClr val="accent2"/>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78" name="AutoShape 28"/>
              <p:cNvSpPr>
                <a:spLocks noChangeArrowheads="1"/>
              </p:cNvSpPr>
              <p:nvPr/>
            </p:nvSpPr>
            <p:spPr bwMode="auto">
              <a:xfrm>
                <a:off x="3696" y="3792"/>
                <a:ext cx="96" cy="96"/>
              </a:xfrm>
              <a:prstGeom prst="octagon">
                <a:avLst>
                  <a:gd name="adj" fmla="val 29287"/>
                </a:avLst>
              </a:prstGeom>
              <a:solidFill>
                <a:schemeClr val="accent2"/>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79" name="AutoShape 29"/>
              <p:cNvSpPr>
                <a:spLocks noChangeArrowheads="1"/>
              </p:cNvSpPr>
              <p:nvPr/>
            </p:nvSpPr>
            <p:spPr bwMode="auto">
              <a:xfrm flipV="1">
                <a:off x="3504" y="3648"/>
                <a:ext cx="96" cy="96"/>
              </a:xfrm>
              <a:prstGeom prst="octagon">
                <a:avLst>
                  <a:gd name="adj" fmla="val 29287"/>
                </a:avLst>
              </a:prstGeom>
              <a:solidFill>
                <a:schemeClr val="accent2"/>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80" name="AutoShape 30"/>
              <p:cNvSpPr>
                <a:spLocks noChangeArrowheads="1"/>
              </p:cNvSpPr>
              <p:nvPr/>
            </p:nvSpPr>
            <p:spPr bwMode="auto">
              <a:xfrm>
                <a:off x="3696" y="3504"/>
                <a:ext cx="96" cy="96"/>
              </a:xfrm>
              <a:prstGeom prst="octagon">
                <a:avLst>
                  <a:gd name="adj" fmla="val 29287"/>
                </a:avLst>
              </a:prstGeom>
              <a:solidFill>
                <a:schemeClr val="accent2"/>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grpSp>
        <p:grpSp>
          <p:nvGrpSpPr>
            <p:cNvPr id="45" name="Group 31"/>
            <p:cNvGrpSpPr/>
            <p:nvPr/>
          </p:nvGrpSpPr>
          <p:grpSpPr bwMode="auto">
            <a:xfrm>
              <a:off x="6803549" y="4062412"/>
              <a:ext cx="2138363" cy="1887538"/>
              <a:chOff x="3312" y="1584"/>
              <a:chExt cx="1920" cy="1584"/>
            </a:xfrm>
          </p:grpSpPr>
          <p:sp>
            <p:nvSpPr>
              <p:cNvPr id="53" name="Line 32"/>
              <p:cNvSpPr>
                <a:spLocks noChangeShapeType="1"/>
              </p:cNvSpPr>
              <p:nvPr/>
            </p:nvSpPr>
            <p:spPr bwMode="auto">
              <a:xfrm flipH="1" flipV="1">
                <a:off x="3312" y="2736"/>
                <a:ext cx="144" cy="432"/>
              </a:xfrm>
              <a:prstGeom prst="line">
                <a:avLst/>
              </a:prstGeom>
              <a:noFill/>
              <a:ln w="25400">
                <a:solidFill>
                  <a:srgbClr val="CC6600"/>
                </a:solidFill>
                <a:round/>
                <a:headEnd type="triangle" w="med" len="med"/>
                <a:tailEnd type="triangle" w="med" len="med"/>
              </a:ln>
            </p:spPr>
            <p:txBody>
              <a:bodyPr/>
              <a:lstStyle/>
              <a:p>
                <a:endParaRPr lang="zh-CN" altLang="en-US"/>
              </a:p>
            </p:txBody>
          </p:sp>
          <p:sp>
            <p:nvSpPr>
              <p:cNvPr id="54" name="AutoShape 33"/>
              <p:cNvSpPr>
                <a:spLocks noChangeArrowheads="1"/>
              </p:cNvSpPr>
              <p:nvPr/>
            </p:nvSpPr>
            <p:spPr bwMode="auto">
              <a:xfrm>
                <a:off x="3838" y="1584"/>
                <a:ext cx="1394" cy="672"/>
              </a:xfrm>
              <a:prstGeom prst="wedgeRectCallout">
                <a:avLst>
                  <a:gd name="adj1" fmla="val -93509"/>
                  <a:gd name="adj2" fmla="val 150894"/>
                </a:avLst>
              </a:prstGeom>
              <a:solidFill>
                <a:srgbClr val="00FFFF"/>
              </a:solidFill>
              <a:ln w="25400">
                <a:solidFill>
                  <a:schemeClr val="tx1"/>
                </a:solidFill>
                <a:miter lim="800000"/>
              </a:ln>
            </p:spPr>
            <p:txBody>
              <a:bodyPr/>
              <a:lstStyle/>
              <a:p>
                <a:pPr eaLnBrk="1" hangingPunct="1">
                  <a:spcBef>
                    <a:spcPct val="50000"/>
                  </a:spcBef>
                  <a:buFont typeface="Arial" panose="020B0604020202020204" pitchFamily="34" charset="0"/>
                  <a:buNone/>
                </a:pPr>
                <a:r>
                  <a:rPr lang="zh-CN" altLang="en-US" sz="1600" dirty="0">
                    <a:latin typeface="Tahoma" panose="020B0604030504040204" charset="0"/>
                  </a:rPr>
                  <a:t>簇之间</a:t>
                </a:r>
                <a:r>
                  <a:rPr lang="zh-CN" altLang="en-US" sz="1600" dirty="0" smtClean="0">
                    <a:latin typeface="Tahoma" panose="020B0604030504040204" charset="0"/>
                  </a:rPr>
                  <a:t>的距离</a:t>
                </a:r>
                <a:r>
                  <a:rPr lang="zh-CN" altLang="en-US" sz="1600" dirty="0">
                    <a:latin typeface="Tahoma" panose="020B0604030504040204" charset="0"/>
                  </a:rPr>
                  <a:t>最大化</a:t>
                </a:r>
                <a:endParaRPr lang="zh-CN" altLang="en-US" sz="1600" dirty="0">
                  <a:latin typeface="Tahoma" panose="020B0604030504040204" charset="0"/>
                </a:endParaRPr>
              </a:p>
            </p:txBody>
          </p:sp>
        </p:grpSp>
        <p:grpSp>
          <p:nvGrpSpPr>
            <p:cNvPr id="46" name="Group 34"/>
            <p:cNvGrpSpPr/>
            <p:nvPr/>
          </p:nvGrpSpPr>
          <p:grpSpPr bwMode="auto">
            <a:xfrm>
              <a:off x="4760437" y="4902200"/>
              <a:ext cx="2298700" cy="1716087"/>
              <a:chOff x="1824" y="2208"/>
              <a:chExt cx="2064" cy="1440"/>
            </a:xfrm>
          </p:grpSpPr>
          <p:sp>
            <p:nvSpPr>
              <p:cNvPr id="50" name="Oval 35"/>
              <p:cNvSpPr>
                <a:spLocks noChangeArrowheads="1"/>
              </p:cNvSpPr>
              <p:nvPr/>
            </p:nvSpPr>
            <p:spPr bwMode="auto">
              <a:xfrm>
                <a:off x="1824" y="2592"/>
                <a:ext cx="816" cy="720"/>
              </a:xfrm>
              <a:prstGeom prst="ellipse">
                <a:avLst/>
              </a:prstGeom>
              <a:noFill/>
              <a:ln w="25400">
                <a:solidFill>
                  <a:srgbClr val="FF0000"/>
                </a:solidFill>
                <a:round/>
              </a:ln>
            </p:spPr>
            <p:txBody>
              <a:bodyPr wrap="none" anchor="ctr"/>
              <a:lstStyle/>
              <a:p>
                <a:pPr eaLnBrk="1" hangingPunct="1">
                  <a:buFont typeface="Arial" panose="020B0604020202020204" pitchFamily="34" charset="0"/>
                  <a:buNone/>
                </a:pPr>
                <a:endParaRPr lang="zh-CN" altLang="en-US"/>
              </a:p>
            </p:txBody>
          </p:sp>
          <p:sp>
            <p:nvSpPr>
              <p:cNvPr id="51" name="Oval 36"/>
              <p:cNvSpPr>
                <a:spLocks noChangeArrowheads="1"/>
              </p:cNvSpPr>
              <p:nvPr/>
            </p:nvSpPr>
            <p:spPr bwMode="auto">
              <a:xfrm>
                <a:off x="2928" y="2208"/>
                <a:ext cx="720" cy="624"/>
              </a:xfrm>
              <a:prstGeom prst="ellipse">
                <a:avLst/>
              </a:prstGeom>
              <a:noFill/>
              <a:ln w="25400">
                <a:solidFill>
                  <a:srgbClr val="FF0000"/>
                </a:solidFill>
                <a:round/>
              </a:ln>
            </p:spPr>
            <p:txBody>
              <a:bodyPr wrap="none" anchor="ctr"/>
              <a:lstStyle/>
              <a:p>
                <a:pPr eaLnBrk="1" hangingPunct="1">
                  <a:buFont typeface="Arial" panose="020B0604020202020204" pitchFamily="34" charset="0"/>
                  <a:buNone/>
                </a:pPr>
                <a:endParaRPr lang="zh-CN" altLang="en-US"/>
              </a:p>
            </p:txBody>
          </p:sp>
          <p:sp>
            <p:nvSpPr>
              <p:cNvPr id="52" name="Oval 37"/>
              <p:cNvSpPr>
                <a:spLocks noChangeArrowheads="1"/>
              </p:cNvSpPr>
              <p:nvPr/>
            </p:nvSpPr>
            <p:spPr bwMode="auto">
              <a:xfrm>
                <a:off x="3216" y="3024"/>
                <a:ext cx="672" cy="624"/>
              </a:xfrm>
              <a:prstGeom prst="ellipse">
                <a:avLst/>
              </a:prstGeom>
              <a:noFill/>
              <a:ln w="25400">
                <a:solidFill>
                  <a:srgbClr val="FF0000"/>
                </a:solidFill>
                <a:round/>
              </a:ln>
            </p:spPr>
            <p:txBody>
              <a:bodyPr wrap="none" anchor="ctr"/>
              <a:lstStyle/>
              <a:p>
                <a:pPr eaLnBrk="1" hangingPunct="1">
                  <a:buFont typeface="Arial" panose="020B0604020202020204" pitchFamily="34" charset="0"/>
                  <a:buNone/>
                </a:pPr>
                <a:endParaRPr lang="zh-CN" altLang="en-US"/>
              </a:p>
            </p:txBody>
          </p:sp>
        </p:grpSp>
        <p:grpSp>
          <p:nvGrpSpPr>
            <p:cNvPr id="47" name="Group 38"/>
            <p:cNvGrpSpPr/>
            <p:nvPr/>
          </p:nvGrpSpPr>
          <p:grpSpPr bwMode="auto">
            <a:xfrm>
              <a:off x="3321456" y="4419600"/>
              <a:ext cx="2024261" cy="1258887"/>
              <a:chOff x="640" y="1776"/>
              <a:chExt cx="1818" cy="1056"/>
            </a:xfrm>
          </p:grpSpPr>
          <p:sp>
            <p:nvSpPr>
              <p:cNvPr id="48" name="Line 39"/>
              <p:cNvSpPr>
                <a:spLocks noChangeShapeType="1"/>
              </p:cNvSpPr>
              <p:nvPr/>
            </p:nvSpPr>
            <p:spPr bwMode="auto">
              <a:xfrm flipV="1">
                <a:off x="2064" y="2736"/>
                <a:ext cx="192" cy="96"/>
              </a:xfrm>
              <a:prstGeom prst="line">
                <a:avLst/>
              </a:prstGeom>
              <a:noFill/>
              <a:ln w="25400">
                <a:solidFill>
                  <a:srgbClr val="CC6600"/>
                </a:solidFill>
                <a:round/>
                <a:headEnd type="triangle" w="med" len="med"/>
                <a:tailEnd type="triangle" w="med" len="med"/>
              </a:ln>
            </p:spPr>
            <p:txBody>
              <a:bodyPr/>
              <a:lstStyle/>
              <a:p>
                <a:endParaRPr lang="zh-CN" altLang="en-US"/>
              </a:p>
            </p:txBody>
          </p:sp>
          <p:sp>
            <p:nvSpPr>
              <p:cNvPr id="49" name="AutoShape 40"/>
              <p:cNvSpPr>
                <a:spLocks noChangeArrowheads="1"/>
              </p:cNvSpPr>
              <p:nvPr/>
            </p:nvSpPr>
            <p:spPr bwMode="auto">
              <a:xfrm>
                <a:off x="640" y="1776"/>
                <a:ext cx="1818" cy="672"/>
              </a:xfrm>
              <a:prstGeom prst="wedgeRectCallout">
                <a:avLst>
                  <a:gd name="adj1" fmla="val 56250"/>
                  <a:gd name="adj2" fmla="val 92856"/>
                </a:avLst>
              </a:prstGeom>
              <a:solidFill>
                <a:srgbClr val="00FFFF"/>
              </a:solidFill>
              <a:ln w="25400">
                <a:solidFill>
                  <a:schemeClr val="tx1"/>
                </a:solidFill>
                <a:miter lim="800000"/>
              </a:ln>
            </p:spPr>
            <p:txBody>
              <a:bodyPr/>
              <a:lstStyle/>
              <a:p>
                <a:pPr eaLnBrk="1" hangingPunct="1">
                  <a:spcBef>
                    <a:spcPct val="50000"/>
                  </a:spcBef>
                  <a:buFont typeface="Arial" panose="020B0604020202020204" pitchFamily="34" charset="0"/>
                  <a:buNone/>
                </a:pPr>
                <a:r>
                  <a:rPr lang="zh-CN" altLang="en-US" sz="1600" dirty="0">
                    <a:latin typeface="Tahoma" panose="020B0604030504040204" charset="0"/>
                  </a:rPr>
                  <a:t>在一个簇内的距离最小化</a:t>
                </a:r>
                <a:endParaRPr lang="zh-CN" altLang="en-US" sz="1600" dirty="0">
                  <a:latin typeface="Tahoma" panose="020B0604030504040204" charset="0"/>
                </a:endParaRPr>
              </a:p>
            </p:txBody>
          </p:sp>
        </p:gr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3"/>
          <p:cNvSpPr>
            <a:spLocks noGrp="1"/>
          </p:cNvSpPr>
          <p:nvPr>
            <p:ph idx="1"/>
          </p:nvPr>
        </p:nvSpPr>
        <p:spPr>
          <a:xfrm>
            <a:off x="212398" y="1161790"/>
            <a:ext cx="3287003" cy="568922"/>
          </a:xfrm>
        </p:spPr>
        <p:txBody>
          <a:bodyPr/>
          <a:lstStyle/>
          <a:p>
            <a:pPr marL="0" lvl="0" indent="0">
              <a:buNone/>
            </a:pPr>
            <a:r>
              <a:rPr kumimoji="1" lang="zh-CN" altLang="en-US" dirty="0">
                <a:solidFill>
                  <a:schemeClr val="tx1"/>
                </a:solidFill>
              </a:rPr>
              <a:t>有</a:t>
            </a:r>
            <a:r>
              <a:rPr kumimoji="1" lang="en-US" altLang="zh-CN" dirty="0">
                <a:solidFill>
                  <a:schemeClr val="tx1"/>
                </a:solidFill>
              </a:rPr>
              <a:t>16</a:t>
            </a:r>
            <a:r>
              <a:rPr kumimoji="1" lang="zh-CN" altLang="en-US" dirty="0">
                <a:solidFill>
                  <a:schemeClr val="tx1"/>
                </a:solidFill>
              </a:rPr>
              <a:t>张牌如何将他们分组</a:t>
            </a:r>
            <a:endParaRPr kumimoji="1" lang="zh-CN" altLang="en-US" dirty="0">
              <a:solidFill>
                <a:schemeClr val="tx1"/>
              </a:solidFill>
            </a:endParaRPr>
          </a:p>
        </p:txBody>
      </p:sp>
      <p:sp>
        <p:nvSpPr>
          <p:cNvPr id="3" name="标题 2"/>
          <p:cNvSpPr>
            <a:spLocks noGrp="1"/>
          </p:cNvSpPr>
          <p:nvPr>
            <p:ph type="title"/>
          </p:nvPr>
        </p:nvSpPr>
        <p:spPr>
          <a:xfrm>
            <a:off x="212398" y="491736"/>
            <a:ext cx="9144001" cy="440147"/>
          </a:xfrm>
        </p:spPr>
        <p:txBody>
          <a:bodyPr/>
          <a:lstStyle/>
          <a:p>
            <a:r>
              <a:rPr kumimoji="1" lang="en-US" altLang="zh-CN" dirty="0">
                <a:solidFill>
                  <a:schemeClr val="tx1"/>
                </a:solidFill>
                <a:sym typeface="+mn-ea"/>
              </a:rPr>
              <a:t>1.1 </a:t>
            </a:r>
            <a:r>
              <a:rPr kumimoji="1" lang="zh-CN" altLang="en-US" dirty="0">
                <a:solidFill>
                  <a:schemeClr val="tx1"/>
                </a:solidFill>
                <a:sym typeface="+mn-ea"/>
              </a:rPr>
              <a:t>聚类的概念</a:t>
            </a:r>
            <a:endParaRPr kumimoji="1" lang="zh-CN" altLang="en-US" dirty="0">
              <a:solidFill>
                <a:schemeClr val="tx1"/>
              </a:solidFill>
            </a:endParaRPr>
          </a:p>
        </p:txBody>
      </p:sp>
      <p:grpSp>
        <p:nvGrpSpPr>
          <p:cNvPr id="37" name="组合 36"/>
          <p:cNvGrpSpPr/>
          <p:nvPr/>
        </p:nvGrpSpPr>
        <p:grpSpPr>
          <a:xfrm>
            <a:off x="4254760" y="2387064"/>
            <a:ext cx="3609080" cy="3086411"/>
            <a:chOff x="2985051" y="1856464"/>
            <a:chExt cx="3348038" cy="2889250"/>
          </a:xfrm>
        </p:grpSpPr>
        <p:sp>
          <p:nvSpPr>
            <p:cNvPr id="38" name="AutoShape 4"/>
            <p:cNvSpPr>
              <a:spLocks noChangeArrowheads="1"/>
            </p:cNvSpPr>
            <p:nvPr/>
          </p:nvSpPr>
          <p:spPr bwMode="auto">
            <a:xfrm>
              <a:off x="5818739" y="1939808"/>
              <a:ext cx="428625" cy="41275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5037 w 21600"/>
                <a:gd name="T13" fmla="*/ 2277 h 21600"/>
                <a:gd name="T14" fmla="*/ 16557 w 21600"/>
                <a:gd name="T15" fmla="*/ 13677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0000"/>
            </a:solidFill>
            <a:ln w="9525">
              <a:solidFill>
                <a:srgbClr val="FF0000"/>
              </a:solidFill>
              <a:miter lim="800000"/>
            </a:ln>
          </p:spPr>
          <p:txBody>
            <a:bodyPr/>
            <a:lstStyle/>
            <a:p>
              <a:endParaRPr lang="zh-CN" altLang="en-US" sz="2160"/>
            </a:p>
          </p:txBody>
        </p:sp>
        <p:grpSp>
          <p:nvGrpSpPr>
            <p:cNvPr id="39" name="Group 5"/>
            <p:cNvGrpSpPr/>
            <p:nvPr/>
          </p:nvGrpSpPr>
          <p:grpSpPr bwMode="auto">
            <a:xfrm>
              <a:off x="4331648" y="1856464"/>
              <a:ext cx="458390" cy="496094"/>
              <a:chOff x="5399" y="2453"/>
              <a:chExt cx="962" cy="937"/>
            </a:xfrm>
          </p:grpSpPr>
          <p:sp>
            <p:nvSpPr>
              <p:cNvPr id="65" name="Oval 6"/>
              <p:cNvSpPr>
                <a:spLocks noChangeArrowheads="1"/>
              </p:cNvSpPr>
              <p:nvPr/>
            </p:nvSpPr>
            <p:spPr bwMode="auto">
              <a:xfrm>
                <a:off x="5580" y="2453"/>
                <a:ext cx="541" cy="469"/>
              </a:xfrm>
              <a:prstGeom prst="ellipse">
                <a:avLst/>
              </a:prstGeom>
              <a:solidFill>
                <a:srgbClr val="000000"/>
              </a:solidFill>
              <a:ln w="9525">
                <a:solidFill>
                  <a:srgbClr val="000000"/>
                </a:solidFill>
                <a:round/>
              </a:ln>
            </p:spPr>
            <p:txBody>
              <a:bodyPr/>
              <a:lstStyle/>
              <a:p>
                <a:pPr eaLnBrk="1" hangingPunct="1">
                  <a:buFont typeface="Arial" panose="020B0604020202020204" pitchFamily="34" charset="0"/>
                  <a:buNone/>
                </a:pPr>
                <a:endParaRPr lang="zh-CN" altLang="en-US" sz="2160"/>
              </a:p>
            </p:txBody>
          </p:sp>
          <p:sp>
            <p:nvSpPr>
              <p:cNvPr id="66" name="Oval 7"/>
              <p:cNvSpPr>
                <a:spLocks noChangeArrowheads="1"/>
              </p:cNvSpPr>
              <p:nvPr/>
            </p:nvSpPr>
            <p:spPr bwMode="auto">
              <a:xfrm>
                <a:off x="5820" y="2765"/>
                <a:ext cx="541" cy="469"/>
              </a:xfrm>
              <a:prstGeom prst="ellipse">
                <a:avLst/>
              </a:prstGeom>
              <a:solidFill>
                <a:srgbClr val="000000"/>
              </a:solidFill>
              <a:ln w="9525">
                <a:solidFill>
                  <a:srgbClr val="000000"/>
                </a:solidFill>
                <a:round/>
              </a:ln>
            </p:spPr>
            <p:txBody>
              <a:bodyPr/>
              <a:lstStyle/>
              <a:p>
                <a:pPr eaLnBrk="1" hangingPunct="1">
                  <a:buFont typeface="Arial" panose="020B0604020202020204" pitchFamily="34" charset="0"/>
                  <a:buNone/>
                </a:pPr>
                <a:endParaRPr lang="zh-CN" altLang="en-US" sz="2160"/>
              </a:p>
            </p:txBody>
          </p:sp>
          <p:sp>
            <p:nvSpPr>
              <p:cNvPr id="67" name="Oval 8"/>
              <p:cNvSpPr>
                <a:spLocks noChangeArrowheads="1"/>
              </p:cNvSpPr>
              <p:nvPr/>
            </p:nvSpPr>
            <p:spPr bwMode="auto">
              <a:xfrm>
                <a:off x="5399" y="2765"/>
                <a:ext cx="541" cy="469"/>
              </a:xfrm>
              <a:prstGeom prst="ellipse">
                <a:avLst/>
              </a:prstGeom>
              <a:solidFill>
                <a:srgbClr val="000000"/>
              </a:solidFill>
              <a:ln w="9525">
                <a:solidFill>
                  <a:srgbClr val="000000"/>
                </a:solidFill>
                <a:round/>
              </a:ln>
            </p:spPr>
            <p:txBody>
              <a:bodyPr/>
              <a:lstStyle/>
              <a:p>
                <a:pPr eaLnBrk="1" hangingPunct="1">
                  <a:buFont typeface="Arial" panose="020B0604020202020204" pitchFamily="34" charset="0"/>
                  <a:buNone/>
                </a:pPr>
                <a:endParaRPr lang="zh-CN" altLang="en-US" sz="2160"/>
              </a:p>
            </p:txBody>
          </p:sp>
          <p:sp>
            <p:nvSpPr>
              <p:cNvPr id="68" name="AutoShape 9"/>
              <p:cNvSpPr>
                <a:spLocks noChangeArrowheads="1"/>
              </p:cNvSpPr>
              <p:nvPr/>
            </p:nvSpPr>
            <p:spPr bwMode="auto">
              <a:xfrm>
                <a:off x="5790" y="3078"/>
                <a:ext cx="180" cy="312"/>
              </a:xfrm>
              <a:prstGeom prst="flowChartExtract">
                <a:avLst/>
              </a:prstGeom>
              <a:solidFill>
                <a:srgbClr val="000000"/>
              </a:solidFill>
              <a:ln w="9525">
                <a:solidFill>
                  <a:srgbClr val="000000"/>
                </a:solidFill>
                <a:miter lim="800000"/>
              </a:ln>
            </p:spPr>
            <p:txBody>
              <a:bodyPr/>
              <a:lstStyle/>
              <a:p>
                <a:pPr eaLnBrk="1" hangingPunct="1">
                  <a:buFont typeface="Arial" panose="020B0604020202020204" pitchFamily="34" charset="0"/>
                  <a:buNone/>
                </a:pPr>
                <a:endParaRPr lang="zh-CN" altLang="en-US" sz="2160"/>
              </a:p>
            </p:txBody>
          </p:sp>
        </p:grpSp>
        <p:sp>
          <p:nvSpPr>
            <p:cNvPr id="40" name="AutoShape 10"/>
            <p:cNvSpPr>
              <a:spLocks noChangeArrowheads="1"/>
            </p:cNvSpPr>
            <p:nvPr/>
          </p:nvSpPr>
          <p:spPr bwMode="auto">
            <a:xfrm>
              <a:off x="5047214" y="1856464"/>
              <a:ext cx="428625" cy="496094"/>
            </a:xfrm>
            <a:prstGeom prst="flowChartDecision">
              <a:avLst/>
            </a:prstGeom>
            <a:solidFill>
              <a:srgbClr val="FF0000"/>
            </a:solidFill>
            <a:ln w="9525">
              <a:solidFill>
                <a:srgbClr val="FF0000"/>
              </a:solidFill>
              <a:miter lim="800000"/>
            </a:ln>
          </p:spPr>
          <p:txBody>
            <a:bodyPr/>
            <a:lstStyle/>
            <a:p>
              <a:pPr eaLnBrk="1" hangingPunct="1">
                <a:buFont typeface="Arial" panose="020B0604020202020204" pitchFamily="34" charset="0"/>
                <a:buNone/>
              </a:pPr>
              <a:endParaRPr lang="zh-CN" altLang="en-US" sz="2160"/>
            </a:p>
          </p:txBody>
        </p:sp>
        <p:grpSp>
          <p:nvGrpSpPr>
            <p:cNvPr id="41" name="Group 11"/>
            <p:cNvGrpSpPr/>
            <p:nvPr/>
          </p:nvGrpSpPr>
          <p:grpSpPr bwMode="auto">
            <a:xfrm>
              <a:off x="3589889" y="1856464"/>
              <a:ext cx="428625" cy="496094"/>
              <a:chOff x="5040" y="4014"/>
              <a:chExt cx="1080" cy="1092"/>
            </a:xfrm>
          </p:grpSpPr>
          <p:sp>
            <p:nvSpPr>
              <p:cNvPr id="63" name="AutoShape 12"/>
              <p:cNvSpPr>
                <a:spLocks noChangeArrowheads="1"/>
              </p:cNvSpPr>
              <p:nvPr/>
            </p:nvSpPr>
            <p:spPr bwMode="auto">
              <a:xfrm rot="10800000">
                <a:off x="5040" y="4014"/>
                <a:ext cx="1080" cy="936"/>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40 w 21600"/>
                  <a:gd name="T13" fmla="*/ 2285 h 21600"/>
                  <a:gd name="T14" fmla="*/ 16560 w 21600"/>
                  <a:gd name="T15" fmla="*/ 13685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000000"/>
              </a:solidFill>
              <a:ln w="9525">
                <a:solidFill>
                  <a:srgbClr val="000000"/>
                </a:solidFill>
                <a:miter lim="800000"/>
              </a:ln>
            </p:spPr>
            <p:txBody>
              <a:bodyPr/>
              <a:lstStyle/>
              <a:p>
                <a:endParaRPr lang="zh-CN" altLang="en-US" sz="2160"/>
              </a:p>
            </p:txBody>
          </p:sp>
          <p:sp>
            <p:nvSpPr>
              <p:cNvPr id="64" name="AutoShape 13"/>
              <p:cNvSpPr>
                <a:spLocks noChangeArrowheads="1"/>
              </p:cNvSpPr>
              <p:nvPr/>
            </p:nvSpPr>
            <p:spPr bwMode="auto">
              <a:xfrm>
                <a:off x="5490" y="4794"/>
                <a:ext cx="180" cy="312"/>
              </a:xfrm>
              <a:prstGeom prst="flowChartExtract">
                <a:avLst/>
              </a:prstGeom>
              <a:solidFill>
                <a:srgbClr val="000000"/>
              </a:solidFill>
              <a:ln w="9525">
                <a:solidFill>
                  <a:srgbClr val="000000"/>
                </a:solidFill>
                <a:miter lim="800000"/>
              </a:ln>
            </p:spPr>
            <p:txBody>
              <a:bodyPr/>
              <a:lstStyle/>
              <a:p>
                <a:pPr eaLnBrk="1" hangingPunct="1">
                  <a:buFont typeface="Arial" panose="020B0604020202020204" pitchFamily="34" charset="0"/>
                  <a:buNone/>
                </a:pPr>
                <a:endParaRPr lang="zh-CN" altLang="en-US" sz="2160"/>
              </a:p>
            </p:txBody>
          </p:sp>
        </p:grpSp>
        <p:sp>
          <p:nvSpPr>
            <p:cNvPr id="42" name="Rectangle 14"/>
            <p:cNvSpPr>
              <a:spLocks noChangeArrowheads="1"/>
            </p:cNvSpPr>
            <p:nvPr/>
          </p:nvSpPr>
          <p:spPr bwMode="auto">
            <a:xfrm>
              <a:off x="3504164" y="2599943"/>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ln>
                  <a:solidFill>
                    <a:sysClr val="windowText" lastClr="000000"/>
                  </a:solidFill>
                </a:ln>
              </a:endParaRPr>
            </a:p>
          </p:txBody>
        </p:sp>
        <p:sp>
          <p:nvSpPr>
            <p:cNvPr id="43" name="Rectangle 15"/>
            <p:cNvSpPr>
              <a:spLocks noChangeArrowheads="1"/>
            </p:cNvSpPr>
            <p:nvPr/>
          </p:nvSpPr>
          <p:spPr bwMode="auto">
            <a:xfrm>
              <a:off x="3504164" y="3178058"/>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44" name="Rectangle 16"/>
            <p:cNvSpPr>
              <a:spLocks noChangeArrowheads="1"/>
            </p:cNvSpPr>
            <p:nvPr/>
          </p:nvSpPr>
          <p:spPr bwMode="auto">
            <a:xfrm>
              <a:off x="3504164" y="3754850"/>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45" name="Rectangle 17"/>
            <p:cNvSpPr>
              <a:spLocks noChangeArrowheads="1"/>
            </p:cNvSpPr>
            <p:nvPr/>
          </p:nvSpPr>
          <p:spPr bwMode="auto">
            <a:xfrm>
              <a:off x="3504164" y="4332964"/>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46" name="Rectangle 18"/>
            <p:cNvSpPr>
              <a:spLocks noChangeArrowheads="1"/>
            </p:cNvSpPr>
            <p:nvPr/>
          </p:nvSpPr>
          <p:spPr bwMode="auto">
            <a:xfrm>
              <a:off x="4275689" y="2599943"/>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47" name="Rectangle 19"/>
            <p:cNvSpPr>
              <a:spLocks noChangeArrowheads="1"/>
            </p:cNvSpPr>
            <p:nvPr/>
          </p:nvSpPr>
          <p:spPr bwMode="auto">
            <a:xfrm>
              <a:off x="4270926" y="3207919"/>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48" name="Rectangle 20"/>
            <p:cNvSpPr>
              <a:spLocks noChangeArrowheads="1"/>
            </p:cNvSpPr>
            <p:nvPr/>
          </p:nvSpPr>
          <p:spPr bwMode="auto">
            <a:xfrm>
              <a:off x="4275689" y="3754850"/>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49" name="Rectangle 21"/>
            <p:cNvSpPr>
              <a:spLocks noChangeArrowheads="1"/>
            </p:cNvSpPr>
            <p:nvPr/>
          </p:nvSpPr>
          <p:spPr bwMode="auto">
            <a:xfrm>
              <a:off x="4275689" y="4332964"/>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50" name="Rectangle 22"/>
            <p:cNvSpPr>
              <a:spLocks noChangeArrowheads="1"/>
            </p:cNvSpPr>
            <p:nvPr/>
          </p:nvSpPr>
          <p:spPr bwMode="auto">
            <a:xfrm>
              <a:off x="5047214" y="2599943"/>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51" name="Rectangle 23"/>
            <p:cNvSpPr>
              <a:spLocks noChangeArrowheads="1"/>
            </p:cNvSpPr>
            <p:nvPr/>
          </p:nvSpPr>
          <p:spPr bwMode="auto">
            <a:xfrm>
              <a:off x="5047214" y="3178058"/>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ln>
                  <a:solidFill>
                    <a:sysClr val="windowText" lastClr="000000"/>
                  </a:solidFill>
                </a:ln>
              </a:endParaRPr>
            </a:p>
          </p:txBody>
        </p:sp>
        <p:sp>
          <p:nvSpPr>
            <p:cNvPr id="52" name="Rectangle 24"/>
            <p:cNvSpPr>
              <a:spLocks noChangeArrowheads="1"/>
            </p:cNvSpPr>
            <p:nvPr/>
          </p:nvSpPr>
          <p:spPr bwMode="auto">
            <a:xfrm>
              <a:off x="5047214" y="3754850"/>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53" name="Rectangle 25"/>
            <p:cNvSpPr>
              <a:spLocks noChangeArrowheads="1"/>
            </p:cNvSpPr>
            <p:nvPr/>
          </p:nvSpPr>
          <p:spPr bwMode="auto">
            <a:xfrm>
              <a:off x="5047214" y="4332964"/>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54" name="Rectangle 26"/>
            <p:cNvSpPr>
              <a:spLocks noChangeArrowheads="1"/>
            </p:cNvSpPr>
            <p:nvPr/>
          </p:nvSpPr>
          <p:spPr bwMode="auto">
            <a:xfrm>
              <a:off x="5818739" y="2599943"/>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55" name="Rectangle 27"/>
            <p:cNvSpPr>
              <a:spLocks noChangeArrowheads="1"/>
            </p:cNvSpPr>
            <p:nvPr/>
          </p:nvSpPr>
          <p:spPr bwMode="auto">
            <a:xfrm>
              <a:off x="5818739" y="3178058"/>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56" name="Rectangle 28"/>
            <p:cNvSpPr>
              <a:spLocks noChangeArrowheads="1"/>
            </p:cNvSpPr>
            <p:nvPr/>
          </p:nvSpPr>
          <p:spPr bwMode="auto">
            <a:xfrm>
              <a:off x="5818739" y="3754850"/>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sp>
          <p:nvSpPr>
            <p:cNvPr id="57" name="Rectangle 29"/>
            <p:cNvSpPr>
              <a:spLocks noChangeArrowheads="1"/>
            </p:cNvSpPr>
            <p:nvPr/>
          </p:nvSpPr>
          <p:spPr bwMode="auto">
            <a:xfrm>
              <a:off x="5818739" y="4332964"/>
              <a:ext cx="514350" cy="412750"/>
            </a:xfrm>
            <a:prstGeom prst="rect">
              <a:avLst/>
            </a:prstGeom>
            <a:noFill/>
            <a:ln w="9525">
              <a:solidFill>
                <a:schemeClr val="tx1"/>
              </a:solidFill>
              <a:miter lim="800000"/>
            </a:ln>
          </p:spPr>
          <p:txBody>
            <a:bodyPr/>
            <a:lstStyle/>
            <a:p>
              <a:pPr eaLnBrk="1" hangingPunct="1">
                <a:buFont typeface="Arial" panose="020B0604020202020204" pitchFamily="34" charset="0"/>
                <a:buNone/>
              </a:pPr>
              <a:endParaRPr lang="zh-CN" altLang="en-US" sz="2160"/>
            </a:p>
          </p:txBody>
        </p:sp>
        <p:grpSp>
          <p:nvGrpSpPr>
            <p:cNvPr id="58" name="Group 30"/>
            <p:cNvGrpSpPr/>
            <p:nvPr/>
          </p:nvGrpSpPr>
          <p:grpSpPr bwMode="auto">
            <a:xfrm>
              <a:off x="2985051" y="2345943"/>
              <a:ext cx="514350" cy="2147094"/>
              <a:chOff x="2340" y="4014"/>
              <a:chExt cx="1080" cy="4056"/>
            </a:xfrm>
          </p:grpSpPr>
          <p:sp>
            <p:nvSpPr>
              <p:cNvPr id="59" name="Text Box 31"/>
              <p:cNvSpPr txBox="1">
                <a:spLocks noChangeArrowheads="1"/>
              </p:cNvSpPr>
              <p:nvPr/>
            </p:nvSpPr>
            <p:spPr bwMode="auto">
              <a:xfrm>
                <a:off x="2340" y="4014"/>
                <a:ext cx="1080" cy="780"/>
              </a:xfrm>
              <a:prstGeom prst="rect">
                <a:avLst/>
              </a:prstGeom>
              <a:noFill/>
              <a:ln>
                <a:noFill/>
              </a:ln>
            </p:spPr>
            <p:txBody>
              <a:bodyPr/>
              <a:lstStyle>
                <a:lvl1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sz="2400">
                    <a:solidFill>
                      <a:schemeClr val="tx1"/>
                    </a:solidFill>
                    <a:latin typeface="Calibri" panose="020F0502020204030204" pitchFamily="18" charset="0"/>
                    <a:ea typeface="宋体" panose="02010600030101010101" pitchFamily="2" charset="-122"/>
                    <a:cs typeface="宋体" panose="02010600030101010101" pitchFamily="2" charset="-122"/>
                  </a:defRPr>
                </a:lvl3pPr>
                <a:lvl4pPr>
                  <a:defRPr sz="2000">
                    <a:solidFill>
                      <a:schemeClr val="tx1"/>
                    </a:solidFill>
                    <a:latin typeface="Calibri" panose="020F0502020204030204" pitchFamily="18" charset="0"/>
                    <a:ea typeface="宋体" panose="02010600030101010101" pitchFamily="2" charset="-122"/>
                  </a:defRPr>
                </a:lvl4pPr>
                <a:lvl5pPr>
                  <a:defRPr sz="2000">
                    <a:solidFill>
                      <a:schemeClr val="tx1"/>
                    </a:solidFill>
                    <a:latin typeface="Calibri" panose="020F0502020204030204" pitchFamily="18" charset="0"/>
                    <a:ea typeface="宋体" panose="02010600030101010101" pitchFamily="2" charset="-122"/>
                  </a:defRPr>
                </a:lvl5pPr>
                <a:lvl6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6pPr>
                <a:lvl7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7pPr>
                <a:lvl8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8pPr>
                <a:lvl9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9pPr>
              </a:lstStyle>
              <a:p>
                <a:pPr algn="just" eaLnBrk="1" hangingPunct="1">
                  <a:lnSpc>
                    <a:spcPct val="216000"/>
                  </a:lnSpc>
                  <a:buFont typeface="Arial" panose="020B0604020202020204" pitchFamily="34" charset="0"/>
                  <a:buNone/>
                </a:pPr>
                <a:r>
                  <a:rPr lang="en-US" altLang="zh-CN" sz="2640" b="1">
                    <a:latin typeface="Times New Roman" panose="02020603050405020304" pitchFamily="18" charset="0"/>
                    <a:ea typeface="宋体" panose="02010600030101010101" pitchFamily="2" charset="-122"/>
                    <a:cs typeface="宋体" panose="02010600030101010101" pitchFamily="2" charset="-122"/>
                  </a:rPr>
                  <a:t>A</a:t>
                </a:r>
                <a:endParaRPr lang="en-US" altLang="zh-CN" sz="2640" b="1">
                  <a:latin typeface="Times New Roman" panose="02020603050405020304" pitchFamily="18" charset="0"/>
                  <a:ea typeface="宋体" panose="02010600030101010101" pitchFamily="2" charset="-122"/>
                  <a:cs typeface="宋体" panose="02010600030101010101" pitchFamily="2" charset="-122"/>
                </a:endParaRPr>
              </a:p>
              <a:p>
                <a:pPr eaLnBrk="1" hangingPunct="1">
                  <a:buFont typeface="Arial" panose="020B0604020202020204" pitchFamily="34" charset="0"/>
                  <a:buNone/>
                </a:pPr>
                <a:endParaRPr lang="en-US" altLang="zh-CN" sz="1680">
                  <a:latin typeface="Arial" panose="020B0604020202020204" pitchFamily="34" charset="0"/>
                  <a:ea typeface="宋体" panose="02010600030101010101" pitchFamily="2" charset="-122"/>
                  <a:cs typeface="宋体" panose="02010600030101010101" pitchFamily="2" charset="-122"/>
                </a:endParaRPr>
              </a:p>
            </p:txBody>
          </p:sp>
          <p:sp>
            <p:nvSpPr>
              <p:cNvPr id="60" name="Text Box 32"/>
              <p:cNvSpPr txBox="1">
                <a:spLocks noChangeArrowheads="1"/>
              </p:cNvSpPr>
              <p:nvPr/>
            </p:nvSpPr>
            <p:spPr bwMode="auto">
              <a:xfrm>
                <a:off x="2340" y="5106"/>
                <a:ext cx="1080" cy="780"/>
              </a:xfrm>
              <a:prstGeom prst="rect">
                <a:avLst/>
              </a:prstGeom>
              <a:noFill/>
              <a:ln>
                <a:noFill/>
              </a:ln>
            </p:spPr>
            <p:txBody>
              <a:bodyPr/>
              <a:lstStyle>
                <a:lvl1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sz="2400">
                    <a:solidFill>
                      <a:schemeClr val="tx1"/>
                    </a:solidFill>
                    <a:latin typeface="Calibri" panose="020F0502020204030204" pitchFamily="18" charset="0"/>
                    <a:ea typeface="宋体" panose="02010600030101010101" pitchFamily="2" charset="-122"/>
                    <a:cs typeface="宋体" panose="02010600030101010101" pitchFamily="2" charset="-122"/>
                  </a:defRPr>
                </a:lvl3pPr>
                <a:lvl4pPr>
                  <a:defRPr sz="2000">
                    <a:solidFill>
                      <a:schemeClr val="tx1"/>
                    </a:solidFill>
                    <a:latin typeface="Calibri" panose="020F0502020204030204" pitchFamily="18" charset="0"/>
                    <a:ea typeface="宋体" panose="02010600030101010101" pitchFamily="2" charset="-122"/>
                  </a:defRPr>
                </a:lvl4pPr>
                <a:lvl5pPr>
                  <a:defRPr sz="2000">
                    <a:solidFill>
                      <a:schemeClr val="tx1"/>
                    </a:solidFill>
                    <a:latin typeface="Calibri" panose="020F0502020204030204" pitchFamily="18" charset="0"/>
                    <a:ea typeface="宋体" panose="02010600030101010101" pitchFamily="2" charset="-122"/>
                  </a:defRPr>
                </a:lvl5pPr>
                <a:lvl6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6pPr>
                <a:lvl7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7pPr>
                <a:lvl8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8pPr>
                <a:lvl9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9pPr>
              </a:lstStyle>
              <a:p>
                <a:pPr algn="just" eaLnBrk="1" hangingPunct="1">
                  <a:lnSpc>
                    <a:spcPct val="216000"/>
                  </a:lnSpc>
                  <a:buFont typeface="Arial" panose="020B0604020202020204" pitchFamily="34" charset="0"/>
                  <a:buNone/>
                </a:pPr>
                <a:r>
                  <a:rPr lang="en-US" altLang="zh-CN" sz="2640" b="1" dirty="0">
                    <a:latin typeface="Times New Roman" panose="02020603050405020304" pitchFamily="18" charset="0"/>
                    <a:ea typeface="宋体" panose="02010600030101010101" pitchFamily="2" charset="-122"/>
                    <a:cs typeface="宋体" panose="02010600030101010101" pitchFamily="2" charset="-122"/>
                  </a:rPr>
                  <a:t>K</a:t>
                </a:r>
                <a:endParaRPr lang="en-US" altLang="zh-CN" sz="2640" b="1" dirty="0">
                  <a:latin typeface="Times New Roman" panose="02020603050405020304" pitchFamily="18" charset="0"/>
                  <a:ea typeface="宋体" panose="02010600030101010101" pitchFamily="2" charset="-122"/>
                  <a:cs typeface="宋体" panose="02010600030101010101" pitchFamily="2" charset="-122"/>
                </a:endParaRPr>
              </a:p>
              <a:p>
                <a:pPr algn="just" eaLnBrk="1" hangingPunct="1">
                  <a:lnSpc>
                    <a:spcPct val="216000"/>
                  </a:lnSpc>
                  <a:buFont typeface="Arial" panose="020B0604020202020204" pitchFamily="34" charset="0"/>
                  <a:buNone/>
                </a:pPr>
                <a:endParaRPr lang="en-US" altLang="zh-CN" sz="2640" b="1" dirty="0">
                  <a:latin typeface="Times New Roman" panose="02020603050405020304" pitchFamily="18" charset="0"/>
                  <a:ea typeface="宋体" panose="02010600030101010101" pitchFamily="2" charset="-122"/>
                  <a:cs typeface="宋体" panose="02010600030101010101" pitchFamily="2" charset="-122"/>
                </a:endParaRPr>
              </a:p>
              <a:p>
                <a:pPr eaLnBrk="1" hangingPunct="1">
                  <a:buFont typeface="Arial" panose="020B0604020202020204" pitchFamily="34" charset="0"/>
                  <a:buNone/>
                </a:pPr>
                <a:endParaRPr lang="en-US" altLang="zh-CN" sz="1680" dirty="0">
                  <a:latin typeface="Arial" panose="020B0604020202020204" pitchFamily="34" charset="0"/>
                  <a:ea typeface="宋体" panose="02010600030101010101" pitchFamily="2" charset="-122"/>
                  <a:cs typeface="宋体" panose="02010600030101010101" pitchFamily="2" charset="-122"/>
                </a:endParaRPr>
              </a:p>
            </p:txBody>
          </p:sp>
          <p:sp>
            <p:nvSpPr>
              <p:cNvPr id="61" name="Text Box 33"/>
              <p:cNvSpPr txBox="1">
                <a:spLocks noChangeArrowheads="1"/>
              </p:cNvSpPr>
              <p:nvPr/>
            </p:nvSpPr>
            <p:spPr bwMode="auto">
              <a:xfrm>
                <a:off x="2340" y="6198"/>
                <a:ext cx="1080" cy="780"/>
              </a:xfrm>
              <a:prstGeom prst="rect">
                <a:avLst/>
              </a:prstGeom>
              <a:noFill/>
              <a:ln>
                <a:noFill/>
              </a:ln>
            </p:spPr>
            <p:txBody>
              <a:bodyPr/>
              <a:lstStyle>
                <a:lvl1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sz="2400">
                    <a:solidFill>
                      <a:schemeClr val="tx1"/>
                    </a:solidFill>
                    <a:latin typeface="Calibri" panose="020F0502020204030204" pitchFamily="18" charset="0"/>
                    <a:ea typeface="宋体" panose="02010600030101010101" pitchFamily="2" charset="-122"/>
                    <a:cs typeface="宋体" panose="02010600030101010101" pitchFamily="2" charset="-122"/>
                  </a:defRPr>
                </a:lvl3pPr>
                <a:lvl4pPr>
                  <a:defRPr sz="2000">
                    <a:solidFill>
                      <a:schemeClr val="tx1"/>
                    </a:solidFill>
                    <a:latin typeface="Calibri" panose="020F0502020204030204" pitchFamily="18" charset="0"/>
                    <a:ea typeface="宋体" panose="02010600030101010101" pitchFamily="2" charset="-122"/>
                  </a:defRPr>
                </a:lvl4pPr>
                <a:lvl5pPr>
                  <a:defRPr sz="2000">
                    <a:solidFill>
                      <a:schemeClr val="tx1"/>
                    </a:solidFill>
                    <a:latin typeface="Calibri" panose="020F0502020204030204" pitchFamily="18" charset="0"/>
                    <a:ea typeface="宋体" panose="02010600030101010101" pitchFamily="2" charset="-122"/>
                  </a:defRPr>
                </a:lvl5pPr>
                <a:lvl6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6pPr>
                <a:lvl7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7pPr>
                <a:lvl8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8pPr>
                <a:lvl9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9pPr>
              </a:lstStyle>
              <a:p>
                <a:pPr algn="just" eaLnBrk="1" hangingPunct="1">
                  <a:lnSpc>
                    <a:spcPct val="216000"/>
                  </a:lnSpc>
                  <a:buFont typeface="Arial" panose="020B0604020202020204" pitchFamily="34" charset="0"/>
                  <a:buNone/>
                </a:pPr>
                <a:r>
                  <a:rPr lang="en-US" altLang="zh-CN" sz="2640" b="1">
                    <a:latin typeface="Times New Roman" panose="02020603050405020304" pitchFamily="18" charset="0"/>
                    <a:ea typeface="宋体" panose="02010600030101010101" pitchFamily="2" charset="-122"/>
                    <a:cs typeface="宋体" panose="02010600030101010101" pitchFamily="2" charset="-122"/>
                  </a:rPr>
                  <a:t>Q</a:t>
                </a:r>
                <a:endParaRPr lang="en-US" altLang="zh-CN" sz="2640" b="1">
                  <a:latin typeface="Times New Roman" panose="02020603050405020304" pitchFamily="18" charset="0"/>
                  <a:ea typeface="宋体" panose="02010600030101010101" pitchFamily="2" charset="-122"/>
                  <a:cs typeface="宋体" panose="02010600030101010101" pitchFamily="2" charset="-122"/>
                </a:endParaRPr>
              </a:p>
              <a:p>
                <a:pPr algn="just" eaLnBrk="1" hangingPunct="1">
                  <a:lnSpc>
                    <a:spcPct val="216000"/>
                  </a:lnSpc>
                  <a:buFont typeface="Arial" panose="020B0604020202020204" pitchFamily="34" charset="0"/>
                  <a:buNone/>
                </a:pPr>
                <a:endParaRPr lang="en-US" altLang="zh-CN" sz="2640" b="1">
                  <a:latin typeface="Times New Roman" panose="02020603050405020304" pitchFamily="18" charset="0"/>
                  <a:ea typeface="宋体" panose="02010600030101010101" pitchFamily="2" charset="-122"/>
                  <a:cs typeface="宋体" panose="02010600030101010101" pitchFamily="2" charset="-122"/>
                </a:endParaRPr>
              </a:p>
              <a:p>
                <a:pPr eaLnBrk="1" hangingPunct="1">
                  <a:buFont typeface="Arial" panose="020B0604020202020204" pitchFamily="34" charset="0"/>
                  <a:buNone/>
                </a:pPr>
                <a:endParaRPr lang="en-US" altLang="zh-CN" sz="1680">
                  <a:latin typeface="Arial" panose="020B0604020202020204" pitchFamily="34" charset="0"/>
                  <a:ea typeface="宋体" panose="02010600030101010101" pitchFamily="2" charset="-122"/>
                  <a:cs typeface="宋体" panose="02010600030101010101" pitchFamily="2" charset="-122"/>
                </a:endParaRPr>
              </a:p>
            </p:txBody>
          </p:sp>
          <p:sp>
            <p:nvSpPr>
              <p:cNvPr id="62" name="Text Box 34"/>
              <p:cNvSpPr txBox="1">
                <a:spLocks noChangeArrowheads="1"/>
              </p:cNvSpPr>
              <p:nvPr/>
            </p:nvSpPr>
            <p:spPr bwMode="auto">
              <a:xfrm>
                <a:off x="2340" y="7290"/>
                <a:ext cx="1080" cy="780"/>
              </a:xfrm>
              <a:prstGeom prst="rect">
                <a:avLst/>
              </a:prstGeom>
              <a:noFill/>
              <a:ln>
                <a:noFill/>
              </a:ln>
            </p:spPr>
            <p:txBody>
              <a:bodyPr/>
              <a:lstStyle>
                <a:lvl1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sz="2400">
                    <a:solidFill>
                      <a:schemeClr val="tx1"/>
                    </a:solidFill>
                    <a:latin typeface="Calibri" panose="020F0502020204030204" pitchFamily="18" charset="0"/>
                    <a:ea typeface="宋体" panose="02010600030101010101" pitchFamily="2" charset="-122"/>
                    <a:cs typeface="宋体" panose="02010600030101010101" pitchFamily="2" charset="-122"/>
                  </a:defRPr>
                </a:lvl3pPr>
                <a:lvl4pPr>
                  <a:defRPr sz="2000">
                    <a:solidFill>
                      <a:schemeClr val="tx1"/>
                    </a:solidFill>
                    <a:latin typeface="Calibri" panose="020F0502020204030204" pitchFamily="18" charset="0"/>
                    <a:ea typeface="宋体" panose="02010600030101010101" pitchFamily="2" charset="-122"/>
                  </a:defRPr>
                </a:lvl4pPr>
                <a:lvl5pPr>
                  <a:defRPr sz="2000">
                    <a:solidFill>
                      <a:schemeClr val="tx1"/>
                    </a:solidFill>
                    <a:latin typeface="Calibri" panose="020F0502020204030204" pitchFamily="18" charset="0"/>
                    <a:ea typeface="宋体" panose="02010600030101010101" pitchFamily="2" charset="-122"/>
                  </a:defRPr>
                </a:lvl5pPr>
                <a:lvl6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6pPr>
                <a:lvl7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7pPr>
                <a:lvl8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8pPr>
                <a:lvl9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9pPr>
              </a:lstStyle>
              <a:p>
                <a:pPr algn="just" eaLnBrk="1" hangingPunct="1">
                  <a:lnSpc>
                    <a:spcPct val="216000"/>
                  </a:lnSpc>
                  <a:buFont typeface="Arial" panose="020B0604020202020204" pitchFamily="34" charset="0"/>
                  <a:buNone/>
                </a:pPr>
                <a:r>
                  <a:rPr lang="en-US" altLang="zh-CN" sz="2640" b="1">
                    <a:latin typeface="Times New Roman" panose="02020603050405020304" pitchFamily="18" charset="0"/>
                    <a:ea typeface="宋体" panose="02010600030101010101" pitchFamily="2" charset="-122"/>
                    <a:cs typeface="宋体" panose="02010600030101010101" pitchFamily="2" charset="-122"/>
                  </a:rPr>
                  <a:t>J</a:t>
                </a:r>
                <a:endParaRPr lang="en-US" altLang="zh-CN" sz="2640" b="1">
                  <a:latin typeface="Times New Roman" panose="02020603050405020304" pitchFamily="18" charset="0"/>
                  <a:ea typeface="宋体" panose="02010600030101010101" pitchFamily="2" charset="-122"/>
                  <a:cs typeface="宋体" panose="02010600030101010101" pitchFamily="2" charset="-122"/>
                </a:endParaRPr>
              </a:p>
              <a:p>
                <a:pPr eaLnBrk="1" hangingPunct="1">
                  <a:buFont typeface="Arial" panose="020B0604020202020204" pitchFamily="34" charset="0"/>
                  <a:buNone/>
                </a:pPr>
                <a:endParaRPr lang="en-US" altLang="zh-CN" sz="1680">
                  <a:latin typeface="Arial" panose="020B0604020202020204" pitchFamily="34" charset="0"/>
                  <a:ea typeface="宋体" panose="02010600030101010101" pitchFamily="2" charset="-122"/>
                  <a:cs typeface="宋体" panose="02010600030101010101" pitchFamily="2" charset="-122"/>
                </a:endParaRPr>
              </a:p>
            </p:txBody>
          </p:sp>
        </p:gr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118870" y="2604770"/>
            <a:ext cx="2832735" cy="1085850"/>
          </a:xfrm>
        </p:spPr>
        <p:txBody>
          <a:bodyPr/>
          <a:lstStyle/>
          <a:p>
            <a:pPr>
              <a:buClr>
                <a:schemeClr val="accent1">
                  <a:lumMod val="75000"/>
                </a:schemeClr>
              </a:buClr>
            </a:pPr>
            <a:r>
              <a:rPr kumimoji="1" lang="zh-CN" altLang="en-US" sz="2000" dirty="0">
                <a:solidFill>
                  <a:schemeClr val="tx1"/>
                </a:solidFill>
              </a:rPr>
              <a:t>每组里花色相同</a:t>
            </a:r>
            <a:endParaRPr kumimoji="1" lang="zh-CN" altLang="en-US" sz="2000" dirty="0">
              <a:solidFill>
                <a:schemeClr val="tx1"/>
              </a:solidFill>
            </a:endParaRPr>
          </a:p>
          <a:p>
            <a:pPr>
              <a:buClr>
                <a:schemeClr val="accent1">
                  <a:lumMod val="75000"/>
                </a:schemeClr>
              </a:buClr>
            </a:pPr>
            <a:r>
              <a:rPr kumimoji="1" lang="zh-CN" altLang="en-US" sz="2000" dirty="0">
                <a:solidFill>
                  <a:schemeClr val="tx1"/>
                </a:solidFill>
              </a:rPr>
              <a:t>组与组之间花色相异</a:t>
            </a:r>
            <a:endParaRPr kumimoji="1" lang="zh-CN" altLang="en-US" sz="2000" dirty="0">
              <a:solidFill>
                <a:schemeClr val="tx1"/>
              </a:solidFill>
            </a:endParaRPr>
          </a:p>
          <a:p>
            <a:endParaRPr kumimoji="1" lang="zh-CN" altLang="en-US" sz="2000" dirty="0">
              <a:solidFill>
                <a:schemeClr val="tx1"/>
              </a:solidFill>
            </a:endParaRPr>
          </a:p>
        </p:txBody>
      </p:sp>
      <p:sp>
        <p:nvSpPr>
          <p:cNvPr id="3" name="标题 2"/>
          <p:cNvSpPr>
            <a:spLocks noGrp="1"/>
          </p:cNvSpPr>
          <p:nvPr>
            <p:ph type="title"/>
          </p:nvPr>
        </p:nvSpPr>
        <p:spPr>
          <a:xfrm>
            <a:off x="260524" y="467673"/>
            <a:ext cx="9144001" cy="440147"/>
          </a:xfrm>
        </p:spPr>
        <p:txBody>
          <a:bodyPr/>
          <a:lstStyle/>
          <a:p>
            <a:r>
              <a:rPr kumimoji="1" lang="en-US" altLang="zh-CN" dirty="0">
                <a:solidFill>
                  <a:schemeClr val="tx1"/>
                </a:solidFill>
                <a:sym typeface="+mn-ea"/>
              </a:rPr>
              <a:t>1.1 </a:t>
            </a:r>
            <a:r>
              <a:rPr kumimoji="1" lang="zh-CN" altLang="en-US" dirty="0">
                <a:solidFill>
                  <a:schemeClr val="tx1"/>
                </a:solidFill>
                <a:sym typeface="+mn-ea"/>
              </a:rPr>
              <a:t>聚类的概念</a:t>
            </a:r>
            <a:endParaRPr kumimoji="1" lang="zh-CN" altLang="en-US" dirty="0">
              <a:solidFill>
                <a:schemeClr val="tx1"/>
              </a:solidFill>
            </a:endParaRPr>
          </a:p>
        </p:txBody>
      </p:sp>
      <p:sp>
        <p:nvSpPr>
          <p:cNvPr id="4" name="内容占位符 3"/>
          <p:cNvSpPr>
            <a:spLocks noGrp="1"/>
          </p:cNvSpPr>
          <p:nvPr>
            <p:ph idx="10"/>
          </p:nvPr>
        </p:nvSpPr>
        <p:spPr>
          <a:xfrm>
            <a:off x="401311" y="1117593"/>
            <a:ext cx="9256334" cy="355391"/>
          </a:xfrm>
        </p:spPr>
        <p:txBody>
          <a:bodyPr/>
          <a:lstStyle/>
          <a:p>
            <a:pPr lvl="0"/>
            <a:r>
              <a:rPr kumimoji="1" lang="zh-CN" altLang="en-US" dirty="0">
                <a:solidFill>
                  <a:schemeClr val="tx1"/>
                </a:solidFill>
              </a:rPr>
              <a:t>分成四组</a:t>
            </a:r>
            <a:endParaRPr kumimoji="1" lang="zh-CN" altLang="en-US" dirty="0">
              <a:solidFill>
                <a:schemeClr val="tx1"/>
              </a:solidFill>
            </a:endParaRPr>
          </a:p>
        </p:txBody>
      </p:sp>
      <p:grpSp>
        <p:nvGrpSpPr>
          <p:cNvPr id="5" name="组合 4"/>
          <p:cNvGrpSpPr/>
          <p:nvPr/>
        </p:nvGrpSpPr>
        <p:grpSpPr>
          <a:xfrm>
            <a:off x="3951765" y="2045039"/>
            <a:ext cx="3401615" cy="2889250"/>
            <a:chOff x="3394755" y="1924390"/>
            <a:chExt cx="3401615" cy="2889250"/>
          </a:xfrm>
        </p:grpSpPr>
        <p:sp>
          <p:nvSpPr>
            <p:cNvPr id="6" name="AutoShape 25"/>
            <p:cNvSpPr>
              <a:spLocks noChangeArrowheads="1"/>
            </p:cNvSpPr>
            <p:nvPr/>
          </p:nvSpPr>
          <p:spPr bwMode="auto">
            <a:xfrm>
              <a:off x="6228442" y="2007734"/>
              <a:ext cx="428625" cy="41275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40 w 21600"/>
                <a:gd name="T13" fmla="*/ 2285 h 21600"/>
                <a:gd name="T14" fmla="*/ 16560 w 21600"/>
                <a:gd name="T15" fmla="*/ 13708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0000"/>
            </a:solidFill>
            <a:ln w="9525">
              <a:solidFill>
                <a:srgbClr val="FF0000"/>
              </a:solidFill>
              <a:miter lim="800000"/>
            </a:ln>
          </p:spPr>
          <p:txBody>
            <a:bodyPr/>
            <a:lstStyle/>
            <a:p>
              <a:endParaRPr lang="zh-CN" altLang="en-US"/>
            </a:p>
          </p:txBody>
        </p:sp>
        <p:grpSp>
          <p:nvGrpSpPr>
            <p:cNvPr id="7" name="Group 26"/>
            <p:cNvGrpSpPr/>
            <p:nvPr/>
          </p:nvGrpSpPr>
          <p:grpSpPr bwMode="auto">
            <a:xfrm>
              <a:off x="4741352" y="1924390"/>
              <a:ext cx="458391" cy="496094"/>
              <a:chOff x="5399" y="2453"/>
              <a:chExt cx="962" cy="937"/>
            </a:xfrm>
          </p:grpSpPr>
          <p:sp>
            <p:nvSpPr>
              <p:cNvPr id="21" name="Oval 27"/>
              <p:cNvSpPr>
                <a:spLocks noChangeArrowheads="1"/>
              </p:cNvSpPr>
              <p:nvPr/>
            </p:nvSpPr>
            <p:spPr bwMode="auto">
              <a:xfrm>
                <a:off x="5580" y="2453"/>
                <a:ext cx="541" cy="469"/>
              </a:xfrm>
              <a:prstGeom prst="ellipse">
                <a:avLst/>
              </a:prstGeom>
              <a:solidFill>
                <a:srgbClr val="000000"/>
              </a:solidFill>
              <a:ln w="9525">
                <a:solidFill>
                  <a:srgbClr val="000000"/>
                </a:solidFill>
                <a:round/>
              </a:ln>
            </p:spPr>
            <p:txBody>
              <a:bodyPr/>
              <a:lstStyle/>
              <a:p>
                <a:pPr eaLnBrk="1" hangingPunct="1">
                  <a:buFont typeface="Arial" panose="020B0604020202020204" pitchFamily="34" charset="0"/>
                  <a:buNone/>
                </a:pPr>
                <a:endParaRPr lang="zh-CN" altLang="en-US"/>
              </a:p>
            </p:txBody>
          </p:sp>
          <p:sp>
            <p:nvSpPr>
              <p:cNvPr id="22" name="Oval 28"/>
              <p:cNvSpPr>
                <a:spLocks noChangeArrowheads="1"/>
              </p:cNvSpPr>
              <p:nvPr/>
            </p:nvSpPr>
            <p:spPr bwMode="auto">
              <a:xfrm>
                <a:off x="5820" y="2765"/>
                <a:ext cx="541" cy="469"/>
              </a:xfrm>
              <a:prstGeom prst="ellipse">
                <a:avLst/>
              </a:prstGeom>
              <a:solidFill>
                <a:srgbClr val="000000"/>
              </a:solidFill>
              <a:ln w="9525">
                <a:solidFill>
                  <a:srgbClr val="000000"/>
                </a:solidFill>
                <a:round/>
              </a:ln>
            </p:spPr>
            <p:txBody>
              <a:bodyPr/>
              <a:lstStyle/>
              <a:p>
                <a:pPr eaLnBrk="1" hangingPunct="1">
                  <a:buFont typeface="Arial" panose="020B0604020202020204" pitchFamily="34" charset="0"/>
                  <a:buNone/>
                </a:pPr>
                <a:endParaRPr lang="zh-CN" altLang="en-US"/>
              </a:p>
            </p:txBody>
          </p:sp>
          <p:sp>
            <p:nvSpPr>
              <p:cNvPr id="23" name="Oval 29"/>
              <p:cNvSpPr>
                <a:spLocks noChangeArrowheads="1"/>
              </p:cNvSpPr>
              <p:nvPr/>
            </p:nvSpPr>
            <p:spPr bwMode="auto">
              <a:xfrm>
                <a:off x="5399" y="2765"/>
                <a:ext cx="541" cy="469"/>
              </a:xfrm>
              <a:prstGeom prst="ellipse">
                <a:avLst/>
              </a:prstGeom>
              <a:solidFill>
                <a:srgbClr val="000000"/>
              </a:solidFill>
              <a:ln w="9525">
                <a:solidFill>
                  <a:srgbClr val="000000"/>
                </a:solidFill>
                <a:round/>
              </a:ln>
            </p:spPr>
            <p:txBody>
              <a:bodyPr/>
              <a:lstStyle/>
              <a:p>
                <a:pPr eaLnBrk="1" hangingPunct="1">
                  <a:buFont typeface="Arial" panose="020B0604020202020204" pitchFamily="34" charset="0"/>
                  <a:buNone/>
                </a:pPr>
                <a:endParaRPr lang="zh-CN" altLang="en-US"/>
              </a:p>
            </p:txBody>
          </p:sp>
          <p:sp>
            <p:nvSpPr>
              <p:cNvPr id="24" name="AutoShape 30"/>
              <p:cNvSpPr>
                <a:spLocks noChangeArrowheads="1"/>
              </p:cNvSpPr>
              <p:nvPr/>
            </p:nvSpPr>
            <p:spPr bwMode="auto">
              <a:xfrm>
                <a:off x="5790" y="3078"/>
                <a:ext cx="180" cy="312"/>
              </a:xfrm>
              <a:prstGeom prst="flowChartExtract">
                <a:avLst/>
              </a:prstGeom>
              <a:solidFill>
                <a:srgbClr val="000000"/>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grpSp>
        <p:sp>
          <p:nvSpPr>
            <p:cNvPr id="8" name="AutoShape 31"/>
            <p:cNvSpPr>
              <a:spLocks noChangeArrowheads="1"/>
            </p:cNvSpPr>
            <p:nvPr/>
          </p:nvSpPr>
          <p:spPr bwMode="auto">
            <a:xfrm>
              <a:off x="5456917" y="1924390"/>
              <a:ext cx="428625" cy="496094"/>
            </a:xfrm>
            <a:prstGeom prst="flowChartDecision">
              <a:avLst/>
            </a:prstGeom>
            <a:solidFill>
              <a:srgbClr val="FF0000"/>
            </a:solidFill>
            <a:ln w="9525">
              <a:solidFill>
                <a:srgbClr val="FF0000"/>
              </a:solidFill>
              <a:miter lim="800000"/>
            </a:ln>
          </p:spPr>
          <p:txBody>
            <a:bodyPr/>
            <a:lstStyle/>
            <a:p>
              <a:pPr eaLnBrk="1" hangingPunct="1">
                <a:buFont typeface="Arial" panose="020B0604020202020204" pitchFamily="34" charset="0"/>
                <a:buNone/>
              </a:pPr>
              <a:endParaRPr lang="zh-CN" altLang="en-US"/>
            </a:p>
          </p:txBody>
        </p:sp>
        <p:grpSp>
          <p:nvGrpSpPr>
            <p:cNvPr id="9" name="Group 32"/>
            <p:cNvGrpSpPr/>
            <p:nvPr/>
          </p:nvGrpSpPr>
          <p:grpSpPr bwMode="auto">
            <a:xfrm>
              <a:off x="3999592" y="1924390"/>
              <a:ext cx="428625" cy="496094"/>
              <a:chOff x="5040" y="4014"/>
              <a:chExt cx="1080" cy="1092"/>
            </a:xfrm>
          </p:grpSpPr>
          <p:sp>
            <p:nvSpPr>
              <p:cNvPr id="19" name="AutoShape 33"/>
              <p:cNvSpPr>
                <a:spLocks noChangeArrowheads="1"/>
              </p:cNvSpPr>
              <p:nvPr/>
            </p:nvSpPr>
            <p:spPr bwMode="auto">
              <a:xfrm rot="10800000">
                <a:off x="5040" y="4014"/>
                <a:ext cx="1080" cy="936"/>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40 w 21600"/>
                  <a:gd name="T13" fmla="*/ 2285 h 21600"/>
                  <a:gd name="T14" fmla="*/ 16560 w 21600"/>
                  <a:gd name="T15" fmla="*/ 13685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000000"/>
              </a:solidFill>
              <a:ln w="9525">
                <a:solidFill>
                  <a:srgbClr val="000000"/>
                </a:solidFill>
                <a:miter lim="800000"/>
              </a:ln>
            </p:spPr>
            <p:txBody>
              <a:bodyPr/>
              <a:lstStyle/>
              <a:p>
                <a:endParaRPr lang="zh-CN" altLang="en-US"/>
              </a:p>
            </p:txBody>
          </p:sp>
          <p:sp>
            <p:nvSpPr>
              <p:cNvPr id="20" name="AutoShape 34"/>
              <p:cNvSpPr>
                <a:spLocks noChangeArrowheads="1"/>
              </p:cNvSpPr>
              <p:nvPr/>
            </p:nvSpPr>
            <p:spPr bwMode="auto">
              <a:xfrm>
                <a:off x="5490" y="4794"/>
                <a:ext cx="180" cy="312"/>
              </a:xfrm>
              <a:prstGeom prst="flowChartExtract">
                <a:avLst/>
              </a:prstGeom>
              <a:solidFill>
                <a:srgbClr val="000000"/>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grpSp>
        <p:grpSp>
          <p:nvGrpSpPr>
            <p:cNvPr id="10" name="Group 35"/>
            <p:cNvGrpSpPr/>
            <p:nvPr/>
          </p:nvGrpSpPr>
          <p:grpSpPr bwMode="auto">
            <a:xfrm>
              <a:off x="3394755" y="2413869"/>
              <a:ext cx="514350" cy="2147094"/>
              <a:chOff x="2340" y="4014"/>
              <a:chExt cx="1080" cy="4056"/>
            </a:xfrm>
          </p:grpSpPr>
          <p:sp>
            <p:nvSpPr>
              <p:cNvPr id="15" name="Text Box 36"/>
              <p:cNvSpPr txBox="1">
                <a:spLocks noChangeArrowheads="1"/>
              </p:cNvSpPr>
              <p:nvPr/>
            </p:nvSpPr>
            <p:spPr bwMode="auto">
              <a:xfrm>
                <a:off x="2340" y="4014"/>
                <a:ext cx="1080" cy="780"/>
              </a:xfrm>
              <a:prstGeom prst="rect">
                <a:avLst/>
              </a:prstGeom>
              <a:noFill/>
              <a:ln>
                <a:noFill/>
              </a:ln>
            </p:spPr>
            <p:txBody>
              <a:bodyPr/>
              <a:lstStyle>
                <a:lvl1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sz="2400">
                    <a:solidFill>
                      <a:schemeClr val="tx1"/>
                    </a:solidFill>
                    <a:latin typeface="Calibri" panose="020F0502020204030204" pitchFamily="18" charset="0"/>
                    <a:ea typeface="宋体" panose="02010600030101010101" pitchFamily="2" charset="-122"/>
                    <a:cs typeface="宋体" panose="02010600030101010101" pitchFamily="2" charset="-122"/>
                  </a:defRPr>
                </a:lvl3pPr>
                <a:lvl4pPr>
                  <a:defRPr sz="2000">
                    <a:solidFill>
                      <a:schemeClr val="tx1"/>
                    </a:solidFill>
                    <a:latin typeface="Calibri" panose="020F0502020204030204" pitchFamily="18" charset="0"/>
                    <a:ea typeface="宋体" panose="02010600030101010101" pitchFamily="2" charset="-122"/>
                  </a:defRPr>
                </a:lvl4pPr>
                <a:lvl5pPr>
                  <a:defRPr sz="2000">
                    <a:solidFill>
                      <a:schemeClr val="tx1"/>
                    </a:solidFill>
                    <a:latin typeface="Calibri" panose="020F0502020204030204" pitchFamily="18" charset="0"/>
                    <a:ea typeface="宋体" panose="02010600030101010101" pitchFamily="2" charset="-122"/>
                  </a:defRPr>
                </a:lvl5pPr>
                <a:lvl6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6pPr>
                <a:lvl7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7pPr>
                <a:lvl8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8pPr>
                <a:lvl9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9pPr>
              </a:lstStyle>
              <a:p>
                <a:pPr algn="just" eaLnBrk="1" hangingPunct="1">
                  <a:lnSpc>
                    <a:spcPct val="216000"/>
                  </a:lnSpc>
                  <a:buFont typeface="Arial" panose="020B0604020202020204" pitchFamily="34" charset="0"/>
                  <a:buNone/>
                </a:pPr>
                <a:r>
                  <a:rPr lang="en-US" altLang="zh-CN" b="1" dirty="0">
                    <a:latin typeface="Times New Roman" panose="02020603050405020304" pitchFamily="18" charset="0"/>
                    <a:ea typeface="宋体" panose="02010600030101010101" pitchFamily="2" charset="-122"/>
                    <a:cs typeface="宋体" panose="02010600030101010101" pitchFamily="2" charset="-122"/>
                  </a:rPr>
                  <a:t>A</a:t>
                </a:r>
                <a:endParaRPr lang="en-US" altLang="zh-CN" b="1" dirty="0">
                  <a:latin typeface="Times New Roman" panose="02020603050405020304" pitchFamily="18" charset="0"/>
                  <a:ea typeface="宋体" panose="02010600030101010101" pitchFamily="2" charset="-122"/>
                  <a:cs typeface="宋体" panose="02010600030101010101" pitchFamily="2" charset="-122"/>
                </a:endParaRPr>
              </a:p>
              <a:p>
                <a:pPr eaLnBrk="1" hangingPunct="1">
                  <a:buFont typeface="Arial" panose="020B0604020202020204" pitchFamily="34" charset="0"/>
                  <a:buNone/>
                </a:pPr>
                <a:endParaRPr lang="en-US" altLang="zh-CN" sz="1400" dirty="0">
                  <a:latin typeface="Arial" panose="020B0604020202020204" pitchFamily="34" charset="0"/>
                  <a:ea typeface="宋体" panose="02010600030101010101" pitchFamily="2" charset="-122"/>
                  <a:cs typeface="宋体" panose="02010600030101010101" pitchFamily="2" charset="-122"/>
                </a:endParaRPr>
              </a:p>
            </p:txBody>
          </p:sp>
          <p:sp>
            <p:nvSpPr>
              <p:cNvPr id="16" name="Text Box 37"/>
              <p:cNvSpPr txBox="1">
                <a:spLocks noChangeArrowheads="1"/>
              </p:cNvSpPr>
              <p:nvPr/>
            </p:nvSpPr>
            <p:spPr bwMode="auto">
              <a:xfrm>
                <a:off x="2340" y="5106"/>
                <a:ext cx="1080" cy="780"/>
              </a:xfrm>
              <a:prstGeom prst="rect">
                <a:avLst/>
              </a:prstGeom>
              <a:noFill/>
              <a:ln>
                <a:noFill/>
              </a:ln>
            </p:spPr>
            <p:txBody>
              <a:bodyPr/>
              <a:lstStyle>
                <a:lvl1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sz="2400">
                    <a:solidFill>
                      <a:schemeClr val="tx1"/>
                    </a:solidFill>
                    <a:latin typeface="Calibri" panose="020F0502020204030204" pitchFamily="18" charset="0"/>
                    <a:ea typeface="宋体" panose="02010600030101010101" pitchFamily="2" charset="-122"/>
                    <a:cs typeface="宋体" panose="02010600030101010101" pitchFamily="2" charset="-122"/>
                  </a:defRPr>
                </a:lvl3pPr>
                <a:lvl4pPr>
                  <a:defRPr sz="2000">
                    <a:solidFill>
                      <a:schemeClr val="tx1"/>
                    </a:solidFill>
                    <a:latin typeface="Calibri" panose="020F0502020204030204" pitchFamily="18" charset="0"/>
                    <a:ea typeface="宋体" panose="02010600030101010101" pitchFamily="2" charset="-122"/>
                  </a:defRPr>
                </a:lvl4pPr>
                <a:lvl5pPr>
                  <a:defRPr sz="2000">
                    <a:solidFill>
                      <a:schemeClr val="tx1"/>
                    </a:solidFill>
                    <a:latin typeface="Calibri" panose="020F0502020204030204" pitchFamily="18" charset="0"/>
                    <a:ea typeface="宋体" panose="02010600030101010101" pitchFamily="2" charset="-122"/>
                  </a:defRPr>
                </a:lvl5pPr>
                <a:lvl6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6pPr>
                <a:lvl7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7pPr>
                <a:lvl8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8pPr>
                <a:lvl9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9pPr>
              </a:lstStyle>
              <a:p>
                <a:pPr algn="just" eaLnBrk="1" hangingPunct="1">
                  <a:lnSpc>
                    <a:spcPct val="216000"/>
                  </a:lnSpc>
                  <a:buFont typeface="Arial" panose="020B0604020202020204" pitchFamily="34" charset="0"/>
                  <a:buNone/>
                </a:pPr>
                <a:r>
                  <a:rPr lang="en-US" altLang="zh-CN" b="1">
                    <a:latin typeface="Times New Roman" panose="02020603050405020304" pitchFamily="18" charset="0"/>
                    <a:ea typeface="宋体" panose="02010600030101010101" pitchFamily="2" charset="-122"/>
                    <a:cs typeface="宋体" panose="02010600030101010101" pitchFamily="2" charset="-122"/>
                  </a:rPr>
                  <a:t>K</a:t>
                </a:r>
                <a:endParaRPr lang="en-US" altLang="zh-CN" b="1">
                  <a:latin typeface="Times New Roman" panose="02020603050405020304" pitchFamily="18" charset="0"/>
                  <a:ea typeface="宋体" panose="02010600030101010101" pitchFamily="2" charset="-122"/>
                  <a:cs typeface="宋体" panose="02010600030101010101" pitchFamily="2" charset="-122"/>
                </a:endParaRPr>
              </a:p>
              <a:p>
                <a:pPr algn="just" eaLnBrk="1" hangingPunct="1">
                  <a:lnSpc>
                    <a:spcPct val="216000"/>
                  </a:lnSpc>
                  <a:buFont typeface="Arial" panose="020B0604020202020204" pitchFamily="34" charset="0"/>
                  <a:buNone/>
                </a:pPr>
                <a:endParaRPr lang="en-US" altLang="zh-CN" b="1">
                  <a:latin typeface="Times New Roman" panose="02020603050405020304" pitchFamily="18" charset="0"/>
                  <a:ea typeface="宋体" panose="02010600030101010101" pitchFamily="2" charset="-122"/>
                  <a:cs typeface="宋体" panose="02010600030101010101" pitchFamily="2" charset="-122"/>
                </a:endParaRPr>
              </a:p>
              <a:p>
                <a:pPr eaLnBrk="1" hangingPunct="1">
                  <a:buFont typeface="Arial" panose="020B0604020202020204" pitchFamily="34" charset="0"/>
                  <a:buNone/>
                </a:pPr>
                <a:endParaRPr lang="en-US" altLang="zh-CN" sz="1400">
                  <a:latin typeface="Arial" panose="020B0604020202020204" pitchFamily="34" charset="0"/>
                  <a:ea typeface="宋体" panose="02010600030101010101" pitchFamily="2" charset="-122"/>
                  <a:cs typeface="宋体" panose="02010600030101010101" pitchFamily="2" charset="-122"/>
                </a:endParaRPr>
              </a:p>
            </p:txBody>
          </p:sp>
          <p:sp>
            <p:nvSpPr>
              <p:cNvPr id="17" name="Text Box 38"/>
              <p:cNvSpPr txBox="1">
                <a:spLocks noChangeArrowheads="1"/>
              </p:cNvSpPr>
              <p:nvPr/>
            </p:nvSpPr>
            <p:spPr bwMode="auto">
              <a:xfrm>
                <a:off x="2340" y="6198"/>
                <a:ext cx="1080" cy="780"/>
              </a:xfrm>
              <a:prstGeom prst="rect">
                <a:avLst/>
              </a:prstGeom>
              <a:noFill/>
              <a:ln>
                <a:noFill/>
              </a:ln>
            </p:spPr>
            <p:txBody>
              <a:bodyPr/>
              <a:lstStyle>
                <a:lvl1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sz="2400">
                    <a:solidFill>
                      <a:schemeClr val="tx1"/>
                    </a:solidFill>
                    <a:latin typeface="Calibri" panose="020F0502020204030204" pitchFamily="18" charset="0"/>
                    <a:ea typeface="宋体" panose="02010600030101010101" pitchFamily="2" charset="-122"/>
                    <a:cs typeface="宋体" panose="02010600030101010101" pitchFamily="2" charset="-122"/>
                  </a:defRPr>
                </a:lvl3pPr>
                <a:lvl4pPr>
                  <a:defRPr sz="2000">
                    <a:solidFill>
                      <a:schemeClr val="tx1"/>
                    </a:solidFill>
                    <a:latin typeface="Calibri" panose="020F0502020204030204" pitchFamily="18" charset="0"/>
                    <a:ea typeface="宋体" panose="02010600030101010101" pitchFamily="2" charset="-122"/>
                  </a:defRPr>
                </a:lvl4pPr>
                <a:lvl5pPr>
                  <a:defRPr sz="2000">
                    <a:solidFill>
                      <a:schemeClr val="tx1"/>
                    </a:solidFill>
                    <a:latin typeface="Calibri" panose="020F0502020204030204" pitchFamily="18" charset="0"/>
                    <a:ea typeface="宋体" panose="02010600030101010101" pitchFamily="2" charset="-122"/>
                  </a:defRPr>
                </a:lvl5pPr>
                <a:lvl6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6pPr>
                <a:lvl7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7pPr>
                <a:lvl8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8pPr>
                <a:lvl9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9pPr>
              </a:lstStyle>
              <a:p>
                <a:pPr algn="just" eaLnBrk="1" hangingPunct="1">
                  <a:lnSpc>
                    <a:spcPct val="216000"/>
                  </a:lnSpc>
                  <a:buFont typeface="Arial" panose="020B0604020202020204" pitchFamily="34" charset="0"/>
                  <a:buNone/>
                </a:pPr>
                <a:r>
                  <a:rPr lang="en-US" altLang="zh-CN" b="1" dirty="0">
                    <a:latin typeface="Times New Roman" panose="02020603050405020304" pitchFamily="18" charset="0"/>
                    <a:ea typeface="宋体" panose="02010600030101010101" pitchFamily="2" charset="-122"/>
                    <a:cs typeface="宋体" panose="02010600030101010101" pitchFamily="2" charset="-122"/>
                  </a:rPr>
                  <a:t>Q</a:t>
                </a:r>
                <a:endParaRPr lang="en-US" altLang="zh-CN" b="1" dirty="0">
                  <a:latin typeface="Times New Roman" panose="02020603050405020304" pitchFamily="18" charset="0"/>
                  <a:ea typeface="宋体" panose="02010600030101010101" pitchFamily="2" charset="-122"/>
                  <a:cs typeface="宋体" panose="02010600030101010101" pitchFamily="2" charset="-122"/>
                </a:endParaRPr>
              </a:p>
              <a:p>
                <a:pPr algn="just" eaLnBrk="1" hangingPunct="1">
                  <a:lnSpc>
                    <a:spcPct val="216000"/>
                  </a:lnSpc>
                  <a:buFont typeface="Arial" panose="020B0604020202020204" pitchFamily="34" charset="0"/>
                  <a:buNone/>
                </a:pPr>
                <a:endParaRPr lang="en-US" altLang="zh-CN" b="1" dirty="0">
                  <a:latin typeface="Times New Roman" panose="02020603050405020304" pitchFamily="18" charset="0"/>
                  <a:ea typeface="宋体" panose="02010600030101010101" pitchFamily="2" charset="-122"/>
                  <a:cs typeface="宋体" panose="02010600030101010101" pitchFamily="2" charset="-122"/>
                </a:endParaRPr>
              </a:p>
              <a:p>
                <a:pPr eaLnBrk="1" hangingPunct="1">
                  <a:buFont typeface="Arial" panose="020B0604020202020204" pitchFamily="34" charset="0"/>
                  <a:buNone/>
                </a:pPr>
                <a:endParaRPr lang="en-US" altLang="zh-CN" sz="1400" dirty="0">
                  <a:latin typeface="Arial" panose="020B0604020202020204" pitchFamily="34" charset="0"/>
                  <a:ea typeface="宋体" panose="02010600030101010101" pitchFamily="2" charset="-122"/>
                  <a:cs typeface="宋体" panose="02010600030101010101" pitchFamily="2" charset="-122"/>
                </a:endParaRPr>
              </a:p>
            </p:txBody>
          </p:sp>
          <p:sp>
            <p:nvSpPr>
              <p:cNvPr id="18" name="Text Box 39"/>
              <p:cNvSpPr txBox="1">
                <a:spLocks noChangeArrowheads="1"/>
              </p:cNvSpPr>
              <p:nvPr/>
            </p:nvSpPr>
            <p:spPr bwMode="auto">
              <a:xfrm>
                <a:off x="2340" y="7290"/>
                <a:ext cx="1080" cy="780"/>
              </a:xfrm>
              <a:prstGeom prst="rect">
                <a:avLst/>
              </a:prstGeom>
              <a:noFill/>
              <a:ln>
                <a:noFill/>
              </a:ln>
            </p:spPr>
            <p:txBody>
              <a:bodyPr/>
              <a:lstStyle>
                <a:lvl1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sz="2400">
                    <a:solidFill>
                      <a:schemeClr val="tx1"/>
                    </a:solidFill>
                    <a:latin typeface="Calibri" panose="020F0502020204030204" pitchFamily="18" charset="0"/>
                    <a:ea typeface="宋体" panose="02010600030101010101" pitchFamily="2" charset="-122"/>
                    <a:cs typeface="宋体" panose="02010600030101010101" pitchFamily="2" charset="-122"/>
                  </a:defRPr>
                </a:lvl3pPr>
                <a:lvl4pPr>
                  <a:defRPr sz="2000">
                    <a:solidFill>
                      <a:schemeClr val="tx1"/>
                    </a:solidFill>
                    <a:latin typeface="Calibri" panose="020F0502020204030204" pitchFamily="18" charset="0"/>
                    <a:ea typeface="宋体" panose="02010600030101010101" pitchFamily="2" charset="-122"/>
                  </a:defRPr>
                </a:lvl4pPr>
                <a:lvl5pPr>
                  <a:defRPr sz="2000">
                    <a:solidFill>
                      <a:schemeClr val="tx1"/>
                    </a:solidFill>
                    <a:latin typeface="Calibri" panose="020F0502020204030204" pitchFamily="18" charset="0"/>
                    <a:ea typeface="宋体" panose="02010600030101010101" pitchFamily="2" charset="-122"/>
                  </a:defRPr>
                </a:lvl5pPr>
                <a:lvl6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6pPr>
                <a:lvl7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7pPr>
                <a:lvl8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8pPr>
                <a:lvl9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9pPr>
              </a:lstStyle>
              <a:p>
                <a:pPr algn="just" eaLnBrk="1" hangingPunct="1">
                  <a:lnSpc>
                    <a:spcPct val="216000"/>
                  </a:lnSpc>
                  <a:buFont typeface="Arial" panose="020B0604020202020204" pitchFamily="34" charset="0"/>
                  <a:buNone/>
                </a:pPr>
                <a:r>
                  <a:rPr lang="en-US" altLang="zh-CN" b="1">
                    <a:latin typeface="Times New Roman" panose="02020603050405020304" pitchFamily="18" charset="0"/>
                    <a:ea typeface="宋体" panose="02010600030101010101" pitchFamily="2" charset="-122"/>
                    <a:cs typeface="宋体" panose="02010600030101010101" pitchFamily="2" charset="-122"/>
                  </a:rPr>
                  <a:t>J</a:t>
                </a:r>
                <a:endParaRPr lang="en-US" altLang="zh-CN" b="1">
                  <a:latin typeface="Times New Roman" panose="02020603050405020304" pitchFamily="18" charset="0"/>
                  <a:ea typeface="宋体" panose="02010600030101010101" pitchFamily="2" charset="-122"/>
                  <a:cs typeface="宋体" panose="02010600030101010101" pitchFamily="2" charset="-122"/>
                </a:endParaRPr>
              </a:p>
              <a:p>
                <a:pPr eaLnBrk="1" hangingPunct="1">
                  <a:buFont typeface="Arial" panose="020B0604020202020204" pitchFamily="34" charset="0"/>
                  <a:buNone/>
                </a:pPr>
                <a:endParaRPr lang="en-US" altLang="zh-CN" sz="1400">
                  <a:latin typeface="Arial" panose="020B0604020202020204" pitchFamily="34" charset="0"/>
                  <a:ea typeface="宋体" panose="02010600030101010101" pitchFamily="2" charset="-122"/>
                  <a:cs typeface="宋体" panose="02010600030101010101" pitchFamily="2" charset="-122"/>
                </a:endParaRPr>
              </a:p>
            </p:txBody>
          </p:sp>
        </p:grpSp>
        <p:sp>
          <p:nvSpPr>
            <p:cNvPr id="11" name="Rectangle 40"/>
            <p:cNvSpPr>
              <a:spLocks noChangeArrowheads="1"/>
            </p:cNvSpPr>
            <p:nvPr/>
          </p:nvSpPr>
          <p:spPr bwMode="auto">
            <a:xfrm>
              <a:off x="3880530" y="2653317"/>
              <a:ext cx="594122" cy="2160323"/>
            </a:xfrm>
            <a:prstGeom prst="rect">
              <a:avLst/>
            </a:prstGeom>
            <a:solidFill>
              <a:schemeClr val="bg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12" name="Rectangle 41"/>
            <p:cNvSpPr>
              <a:spLocks noChangeArrowheads="1"/>
            </p:cNvSpPr>
            <p:nvPr/>
          </p:nvSpPr>
          <p:spPr bwMode="auto">
            <a:xfrm>
              <a:off x="4636577" y="2653317"/>
              <a:ext cx="594122" cy="2160323"/>
            </a:xfrm>
            <a:prstGeom prst="rect">
              <a:avLst/>
            </a:prstGeom>
            <a:solidFill>
              <a:schemeClr val="bg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13" name="Rectangle 42"/>
            <p:cNvSpPr>
              <a:spLocks noChangeArrowheads="1"/>
            </p:cNvSpPr>
            <p:nvPr/>
          </p:nvSpPr>
          <p:spPr bwMode="auto">
            <a:xfrm>
              <a:off x="5446201" y="2653317"/>
              <a:ext cx="594122" cy="2160323"/>
            </a:xfrm>
            <a:prstGeom prst="rect">
              <a:avLst/>
            </a:prstGeom>
            <a:solidFill>
              <a:schemeClr val="bg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14" name="Rectangle 43"/>
            <p:cNvSpPr>
              <a:spLocks noChangeArrowheads="1"/>
            </p:cNvSpPr>
            <p:nvPr/>
          </p:nvSpPr>
          <p:spPr bwMode="auto">
            <a:xfrm>
              <a:off x="6202248" y="2653317"/>
              <a:ext cx="594122" cy="2160323"/>
            </a:xfrm>
            <a:prstGeom prst="rect">
              <a:avLst/>
            </a:prstGeom>
            <a:solidFill>
              <a:schemeClr val="bg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4482" y="475694"/>
            <a:ext cx="9144001" cy="440147"/>
          </a:xfrm>
        </p:spPr>
        <p:txBody>
          <a:bodyPr/>
          <a:lstStyle/>
          <a:p>
            <a:r>
              <a:rPr kumimoji="1" lang="en-US" altLang="zh-CN" dirty="0">
                <a:solidFill>
                  <a:schemeClr val="tx1"/>
                </a:solidFill>
                <a:sym typeface="+mn-ea"/>
              </a:rPr>
              <a:t>1.1 </a:t>
            </a:r>
            <a:r>
              <a:rPr kumimoji="1" lang="zh-CN" altLang="en-US" dirty="0">
                <a:solidFill>
                  <a:schemeClr val="tx1"/>
                </a:solidFill>
                <a:sym typeface="+mn-ea"/>
              </a:rPr>
              <a:t>聚类的概念</a:t>
            </a:r>
            <a:endParaRPr kumimoji="1" lang="zh-CN" altLang="en-US" dirty="0">
              <a:solidFill>
                <a:schemeClr val="tx1"/>
              </a:solidFill>
            </a:endParaRPr>
          </a:p>
        </p:txBody>
      </p:sp>
      <p:sp>
        <p:nvSpPr>
          <p:cNvPr id="4" name="内容占位符 3"/>
          <p:cNvSpPr>
            <a:spLocks noGrp="1"/>
          </p:cNvSpPr>
          <p:nvPr>
            <p:ph idx="10"/>
          </p:nvPr>
        </p:nvSpPr>
        <p:spPr>
          <a:xfrm>
            <a:off x="385269" y="1125614"/>
            <a:ext cx="9256334" cy="355391"/>
          </a:xfrm>
        </p:spPr>
        <p:txBody>
          <a:bodyPr/>
          <a:lstStyle/>
          <a:p>
            <a:pPr lvl="0"/>
            <a:r>
              <a:rPr kumimoji="1" lang="zh-CN" altLang="en-US" dirty="0">
                <a:solidFill>
                  <a:schemeClr val="tx1"/>
                </a:solidFill>
              </a:rPr>
              <a:t>分成两组</a:t>
            </a:r>
            <a:endParaRPr kumimoji="1" lang="zh-CN" altLang="en-US" dirty="0">
              <a:solidFill>
                <a:schemeClr val="tx1"/>
              </a:solidFill>
            </a:endParaRPr>
          </a:p>
        </p:txBody>
      </p:sp>
      <p:grpSp>
        <p:nvGrpSpPr>
          <p:cNvPr id="5" name="组合 4"/>
          <p:cNvGrpSpPr/>
          <p:nvPr/>
        </p:nvGrpSpPr>
        <p:grpSpPr>
          <a:xfrm>
            <a:off x="4409079" y="2053059"/>
            <a:ext cx="3348038" cy="2889251"/>
            <a:chOff x="3283462" y="1889666"/>
            <a:chExt cx="3348038" cy="2889251"/>
          </a:xfrm>
        </p:grpSpPr>
        <p:grpSp>
          <p:nvGrpSpPr>
            <p:cNvPr id="6" name="Group 4"/>
            <p:cNvGrpSpPr/>
            <p:nvPr/>
          </p:nvGrpSpPr>
          <p:grpSpPr bwMode="auto">
            <a:xfrm>
              <a:off x="3802575" y="2633145"/>
              <a:ext cx="514350" cy="2145771"/>
              <a:chOff x="2160" y="4170"/>
              <a:chExt cx="1080" cy="4056"/>
            </a:xfrm>
          </p:grpSpPr>
          <p:sp>
            <p:nvSpPr>
              <p:cNvPr id="41" name="Rectangle 5"/>
              <p:cNvSpPr>
                <a:spLocks noChangeArrowheads="1"/>
              </p:cNvSpPr>
              <p:nvPr/>
            </p:nvSpPr>
            <p:spPr bwMode="auto">
              <a:xfrm>
                <a:off x="2160" y="4170"/>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sp>
            <p:nvSpPr>
              <p:cNvPr id="42" name="Rectangle 6"/>
              <p:cNvSpPr>
                <a:spLocks noChangeArrowheads="1"/>
              </p:cNvSpPr>
              <p:nvPr/>
            </p:nvSpPr>
            <p:spPr bwMode="auto">
              <a:xfrm>
                <a:off x="2160" y="5262"/>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sp>
            <p:nvSpPr>
              <p:cNvPr id="43" name="Rectangle 7"/>
              <p:cNvSpPr>
                <a:spLocks noChangeArrowheads="1"/>
              </p:cNvSpPr>
              <p:nvPr/>
            </p:nvSpPr>
            <p:spPr bwMode="auto">
              <a:xfrm>
                <a:off x="2160" y="6354"/>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sp>
            <p:nvSpPr>
              <p:cNvPr id="44" name="Rectangle 8"/>
              <p:cNvSpPr>
                <a:spLocks noChangeArrowheads="1"/>
              </p:cNvSpPr>
              <p:nvPr/>
            </p:nvSpPr>
            <p:spPr bwMode="auto">
              <a:xfrm>
                <a:off x="2160" y="7446"/>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grpSp>
        <p:grpSp>
          <p:nvGrpSpPr>
            <p:cNvPr id="7" name="Group 9"/>
            <p:cNvGrpSpPr/>
            <p:nvPr/>
          </p:nvGrpSpPr>
          <p:grpSpPr bwMode="auto">
            <a:xfrm>
              <a:off x="4574100" y="2633145"/>
              <a:ext cx="514350" cy="2145771"/>
              <a:chOff x="2160" y="4170"/>
              <a:chExt cx="1080" cy="4056"/>
            </a:xfrm>
          </p:grpSpPr>
          <p:sp>
            <p:nvSpPr>
              <p:cNvPr id="37" name="Rectangle 10"/>
              <p:cNvSpPr>
                <a:spLocks noChangeArrowheads="1"/>
              </p:cNvSpPr>
              <p:nvPr/>
            </p:nvSpPr>
            <p:spPr bwMode="auto">
              <a:xfrm>
                <a:off x="2160" y="4170"/>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sp>
            <p:nvSpPr>
              <p:cNvPr id="38" name="Rectangle 11"/>
              <p:cNvSpPr>
                <a:spLocks noChangeArrowheads="1"/>
              </p:cNvSpPr>
              <p:nvPr/>
            </p:nvSpPr>
            <p:spPr bwMode="auto">
              <a:xfrm>
                <a:off x="2160" y="5262"/>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sp>
            <p:nvSpPr>
              <p:cNvPr id="39" name="Rectangle 12"/>
              <p:cNvSpPr>
                <a:spLocks noChangeArrowheads="1"/>
              </p:cNvSpPr>
              <p:nvPr/>
            </p:nvSpPr>
            <p:spPr bwMode="auto">
              <a:xfrm>
                <a:off x="2160" y="6354"/>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sp>
            <p:nvSpPr>
              <p:cNvPr id="40" name="Rectangle 13"/>
              <p:cNvSpPr>
                <a:spLocks noChangeArrowheads="1"/>
              </p:cNvSpPr>
              <p:nvPr/>
            </p:nvSpPr>
            <p:spPr bwMode="auto">
              <a:xfrm>
                <a:off x="2160" y="7446"/>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grpSp>
        <p:grpSp>
          <p:nvGrpSpPr>
            <p:cNvPr id="8" name="Group 14"/>
            <p:cNvGrpSpPr/>
            <p:nvPr/>
          </p:nvGrpSpPr>
          <p:grpSpPr bwMode="auto">
            <a:xfrm>
              <a:off x="5345625" y="2633145"/>
              <a:ext cx="514350" cy="2145771"/>
              <a:chOff x="2160" y="4170"/>
              <a:chExt cx="1080" cy="4056"/>
            </a:xfrm>
          </p:grpSpPr>
          <p:sp>
            <p:nvSpPr>
              <p:cNvPr id="33" name="Rectangle 15"/>
              <p:cNvSpPr>
                <a:spLocks noChangeArrowheads="1"/>
              </p:cNvSpPr>
              <p:nvPr/>
            </p:nvSpPr>
            <p:spPr bwMode="auto">
              <a:xfrm>
                <a:off x="2160" y="4170"/>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sp>
            <p:nvSpPr>
              <p:cNvPr id="34" name="Rectangle 16"/>
              <p:cNvSpPr>
                <a:spLocks noChangeArrowheads="1"/>
              </p:cNvSpPr>
              <p:nvPr/>
            </p:nvSpPr>
            <p:spPr bwMode="auto">
              <a:xfrm>
                <a:off x="2160" y="5262"/>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sp>
            <p:nvSpPr>
              <p:cNvPr id="35" name="Rectangle 17"/>
              <p:cNvSpPr>
                <a:spLocks noChangeArrowheads="1"/>
              </p:cNvSpPr>
              <p:nvPr/>
            </p:nvSpPr>
            <p:spPr bwMode="auto">
              <a:xfrm>
                <a:off x="2160" y="6354"/>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sp>
            <p:nvSpPr>
              <p:cNvPr id="36" name="Rectangle 18"/>
              <p:cNvSpPr>
                <a:spLocks noChangeArrowheads="1"/>
              </p:cNvSpPr>
              <p:nvPr/>
            </p:nvSpPr>
            <p:spPr bwMode="auto">
              <a:xfrm>
                <a:off x="2160" y="7446"/>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grpSp>
        <p:grpSp>
          <p:nvGrpSpPr>
            <p:cNvPr id="9" name="Group 19"/>
            <p:cNvGrpSpPr/>
            <p:nvPr/>
          </p:nvGrpSpPr>
          <p:grpSpPr bwMode="auto">
            <a:xfrm>
              <a:off x="6117150" y="2633145"/>
              <a:ext cx="514350" cy="2145771"/>
              <a:chOff x="2160" y="4170"/>
              <a:chExt cx="1080" cy="4056"/>
            </a:xfrm>
          </p:grpSpPr>
          <p:sp>
            <p:nvSpPr>
              <p:cNvPr id="29" name="Rectangle 20"/>
              <p:cNvSpPr>
                <a:spLocks noChangeArrowheads="1"/>
              </p:cNvSpPr>
              <p:nvPr/>
            </p:nvSpPr>
            <p:spPr bwMode="auto">
              <a:xfrm>
                <a:off x="2160" y="4170"/>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sp>
            <p:nvSpPr>
              <p:cNvPr id="30" name="Rectangle 21"/>
              <p:cNvSpPr>
                <a:spLocks noChangeArrowheads="1"/>
              </p:cNvSpPr>
              <p:nvPr/>
            </p:nvSpPr>
            <p:spPr bwMode="auto">
              <a:xfrm>
                <a:off x="2160" y="5262"/>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sp>
            <p:nvSpPr>
              <p:cNvPr id="31" name="Rectangle 22"/>
              <p:cNvSpPr>
                <a:spLocks noChangeArrowheads="1"/>
              </p:cNvSpPr>
              <p:nvPr/>
            </p:nvSpPr>
            <p:spPr bwMode="auto">
              <a:xfrm>
                <a:off x="2160" y="6354"/>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sp>
            <p:nvSpPr>
              <p:cNvPr id="32" name="Rectangle 23"/>
              <p:cNvSpPr>
                <a:spLocks noChangeArrowheads="1"/>
              </p:cNvSpPr>
              <p:nvPr/>
            </p:nvSpPr>
            <p:spPr bwMode="auto">
              <a:xfrm>
                <a:off x="2160" y="7446"/>
                <a:ext cx="1080" cy="780"/>
              </a:xfrm>
              <a:prstGeom prst="rect">
                <a:avLst/>
              </a:prstGeom>
              <a:solidFill>
                <a:srgbClr val="FFFFFF"/>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grpSp>
        <p:sp>
          <p:nvSpPr>
            <p:cNvPr id="10" name="Rectangle 24"/>
            <p:cNvSpPr>
              <a:spLocks noChangeArrowheads="1"/>
            </p:cNvSpPr>
            <p:nvPr/>
          </p:nvSpPr>
          <p:spPr bwMode="auto">
            <a:xfrm>
              <a:off x="3769237" y="3158344"/>
              <a:ext cx="2862263" cy="480218"/>
            </a:xfrm>
            <a:prstGeom prst="rect">
              <a:avLst/>
            </a:prstGeom>
            <a:solidFill>
              <a:schemeClr val="bg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11" name="AutoShape 25"/>
            <p:cNvSpPr>
              <a:spLocks noChangeArrowheads="1"/>
            </p:cNvSpPr>
            <p:nvPr/>
          </p:nvSpPr>
          <p:spPr bwMode="auto">
            <a:xfrm>
              <a:off x="6117150" y="1973010"/>
              <a:ext cx="428625" cy="41275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5037 w 21600"/>
                <a:gd name="T13" fmla="*/ 2277 h 21600"/>
                <a:gd name="T14" fmla="*/ 16557 w 21600"/>
                <a:gd name="T15" fmla="*/ 13677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0000"/>
            </a:solidFill>
            <a:ln w="9525">
              <a:solidFill>
                <a:srgbClr val="FF0000"/>
              </a:solidFill>
              <a:miter lim="800000"/>
            </a:ln>
          </p:spPr>
          <p:txBody>
            <a:bodyPr/>
            <a:lstStyle/>
            <a:p>
              <a:endParaRPr lang="zh-CN" altLang="en-US"/>
            </a:p>
          </p:txBody>
        </p:sp>
        <p:grpSp>
          <p:nvGrpSpPr>
            <p:cNvPr id="12" name="Group 26"/>
            <p:cNvGrpSpPr/>
            <p:nvPr/>
          </p:nvGrpSpPr>
          <p:grpSpPr bwMode="auto">
            <a:xfrm>
              <a:off x="4630059" y="1889666"/>
              <a:ext cx="458391" cy="496094"/>
              <a:chOff x="5399" y="2453"/>
              <a:chExt cx="962" cy="937"/>
            </a:xfrm>
          </p:grpSpPr>
          <p:sp>
            <p:nvSpPr>
              <p:cNvPr id="25" name="Oval 27"/>
              <p:cNvSpPr>
                <a:spLocks noChangeArrowheads="1"/>
              </p:cNvSpPr>
              <p:nvPr/>
            </p:nvSpPr>
            <p:spPr bwMode="auto">
              <a:xfrm>
                <a:off x="5580" y="2453"/>
                <a:ext cx="541" cy="469"/>
              </a:xfrm>
              <a:prstGeom prst="ellipse">
                <a:avLst/>
              </a:prstGeom>
              <a:solidFill>
                <a:srgbClr val="000000"/>
              </a:solidFill>
              <a:ln w="9525">
                <a:solidFill>
                  <a:srgbClr val="000000"/>
                </a:solidFill>
                <a:round/>
              </a:ln>
            </p:spPr>
            <p:txBody>
              <a:bodyPr/>
              <a:lstStyle/>
              <a:p>
                <a:pPr eaLnBrk="1" hangingPunct="1">
                  <a:buFont typeface="Arial" panose="020B0604020202020204" pitchFamily="34" charset="0"/>
                  <a:buNone/>
                </a:pPr>
                <a:endParaRPr lang="zh-CN" altLang="en-US"/>
              </a:p>
            </p:txBody>
          </p:sp>
          <p:sp>
            <p:nvSpPr>
              <p:cNvPr id="26" name="Oval 28"/>
              <p:cNvSpPr>
                <a:spLocks noChangeArrowheads="1"/>
              </p:cNvSpPr>
              <p:nvPr/>
            </p:nvSpPr>
            <p:spPr bwMode="auto">
              <a:xfrm>
                <a:off x="5820" y="2765"/>
                <a:ext cx="541" cy="469"/>
              </a:xfrm>
              <a:prstGeom prst="ellipse">
                <a:avLst/>
              </a:prstGeom>
              <a:solidFill>
                <a:srgbClr val="000000"/>
              </a:solidFill>
              <a:ln w="9525">
                <a:solidFill>
                  <a:srgbClr val="000000"/>
                </a:solidFill>
                <a:round/>
              </a:ln>
            </p:spPr>
            <p:txBody>
              <a:bodyPr/>
              <a:lstStyle/>
              <a:p>
                <a:pPr eaLnBrk="1" hangingPunct="1">
                  <a:buFont typeface="Arial" panose="020B0604020202020204" pitchFamily="34" charset="0"/>
                  <a:buNone/>
                </a:pPr>
                <a:endParaRPr lang="zh-CN" altLang="en-US"/>
              </a:p>
            </p:txBody>
          </p:sp>
          <p:sp>
            <p:nvSpPr>
              <p:cNvPr id="27" name="Oval 29"/>
              <p:cNvSpPr>
                <a:spLocks noChangeArrowheads="1"/>
              </p:cNvSpPr>
              <p:nvPr/>
            </p:nvSpPr>
            <p:spPr bwMode="auto">
              <a:xfrm>
                <a:off x="5399" y="2765"/>
                <a:ext cx="541" cy="469"/>
              </a:xfrm>
              <a:prstGeom prst="ellipse">
                <a:avLst/>
              </a:prstGeom>
              <a:solidFill>
                <a:srgbClr val="000000"/>
              </a:solidFill>
              <a:ln w="9525">
                <a:solidFill>
                  <a:srgbClr val="000000"/>
                </a:solidFill>
                <a:round/>
              </a:ln>
            </p:spPr>
            <p:txBody>
              <a:bodyPr/>
              <a:lstStyle/>
              <a:p>
                <a:pPr eaLnBrk="1" hangingPunct="1">
                  <a:buFont typeface="Arial" panose="020B0604020202020204" pitchFamily="34" charset="0"/>
                  <a:buNone/>
                </a:pPr>
                <a:endParaRPr lang="zh-CN" altLang="en-US"/>
              </a:p>
            </p:txBody>
          </p:sp>
          <p:sp>
            <p:nvSpPr>
              <p:cNvPr id="28" name="AutoShape 30"/>
              <p:cNvSpPr>
                <a:spLocks noChangeArrowheads="1"/>
              </p:cNvSpPr>
              <p:nvPr/>
            </p:nvSpPr>
            <p:spPr bwMode="auto">
              <a:xfrm>
                <a:off x="5790" y="3078"/>
                <a:ext cx="180" cy="312"/>
              </a:xfrm>
              <a:prstGeom prst="flowChartExtract">
                <a:avLst/>
              </a:prstGeom>
              <a:solidFill>
                <a:srgbClr val="000000"/>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grpSp>
        <p:sp>
          <p:nvSpPr>
            <p:cNvPr id="13" name="AutoShape 31"/>
            <p:cNvSpPr>
              <a:spLocks noChangeArrowheads="1"/>
            </p:cNvSpPr>
            <p:nvPr/>
          </p:nvSpPr>
          <p:spPr bwMode="auto">
            <a:xfrm>
              <a:off x="5345625" y="1889666"/>
              <a:ext cx="428625" cy="496094"/>
            </a:xfrm>
            <a:prstGeom prst="flowChartDecision">
              <a:avLst/>
            </a:prstGeom>
            <a:solidFill>
              <a:srgbClr val="FF0000"/>
            </a:solidFill>
            <a:ln w="9525">
              <a:solidFill>
                <a:srgbClr val="FF0000"/>
              </a:solidFill>
              <a:miter lim="800000"/>
            </a:ln>
          </p:spPr>
          <p:txBody>
            <a:bodyPr/>
            <a:lstStyle/>
            <a:p>
              <a:pPr eaLnBrk="1" hangingPunct="1">
                <a:buFont typeface="Arial" panose="020B0604020202020204" pitchFamily="34" charset="0"/>
                <a:buNone/>
              </a:pPr>
              <a:endParaRPr lang="zh-CN" altLang="en-US"/>
            </a:p>
          </p:txBody>
        </p:sp>
        <p:grpSp>
          <p:nvGrpSpPr>
            <p:cNvPr id="14" name="Group 32"/>
            <p:cNvGrpSpPr/>
            <p:nvPr/>
          </p:nvGrpSpPr>
          <p:grpSpPr bwMode="auto">
            <a:xfrm>
              <a:off x="3888300" y="1889666"/>
              <a:ext cx="428625" cy="496094"/>
              <a:chOff x="5040" y="4014"/>
              <a:chExt cx="1080" cy="1092"/>
            </a:xfrm>
          </p:grpSpPr>
          <p:sp>
            <p:nvSpPr>
              <p:cNvPr id="23" name="AutoShape 33"/>
              <p:cNvSpPr>
                <a:spLocks noChangeArrowheads="1"/>
              </p:cNvSpPr>
              <p:nvPr/>
            </p:nvSpPr>
            <p:spPr bwMode="auto">
              <a:xfrm rot="10800000">
                <a:off x="5040" y="4014"/>
                <a:ext cx="1080" cy="936"/>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40 w 21600"/>
                  <a:gd name="T13" fmla="*/ 2285 h 21600"/>
                  <a:gd name="T14" fmla="*/ 16560 w 21600"/>
                  <a:gd name="T15" fmla="*/ 13685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000000"/>
              </a:solidFill>
              <a:ln w="9525">
                <a:solidFill>
                  <a:srgbClr val="000000"/>
                </a:solidFill>
                <a:miter lim="800000"/>
              </a:ln>
            </p:spPr>
            <p:txBody>
              <a:bodyPr/>
              <a:lstStyle/>
              <a:p>
                <a:endParaRPr lang="zh-CN" altLang="en-US"/>
              </a:p>
            </p:txBody>
          </p:sp>
          <p:sp>
            <p:nvSpPr>
              <p:cNvPr id="24" name="AutoShape 34"/>
              <p:cNvSpPr>
                <a:spLocks noChangeArrowheads="1"/>
              </p:cNvSpPr>
              <p:nvPr/>
            </p:nvSpPr>
            <p:spPr bwMode="auto">
              <a:xfrm>
                <a:off x="5490" y="4794"/>
                <a:ext cx="180" cy="312"/>
              </a:xfrm>
              <a:prstGeom prst="flowChartExtract">
                <a:avLst/>
              </a:prstGeom>
              <a:solidFill>
                <a:srgbClr val="000000"/>
              </a:solidFill>
              <a:ln w="9525">
                <a:solidFill>
                  <a:srgbClr val="000000"/>
                </a:solidFill>
                <a:miter lim="800000"/>
              </a:ln>
            </p:spPr>
            <p:txBody>
              <a:bodyPr/>
              <a:lstStyle/>
              <a:p>
                <a:pPr eaLnBrk="1" hangingPunct="1">
                  <a:buFont typeface="Arial" panose="020B0604020202020204" pitchFamily="34" charset="0"/>
                  <a:buNone/>
                </a:pPr>
                <a:endParaRPr lang="zh-CN" altLang="en-US"/>
              </a:p>
            </p:txBody>
          </p:sp>
        </p:grpSp>
        <p:grpSp>
          <p:nvGrpSpPr>
            <p:cNvPr id="15" name="Group 35"/>
            <p:cNvGrpSpPr/>
            <p:nvPr/>
          </p:nvGrpSpPr>
          <p:grpSpPr bwMode="auto">
            <a:xfrm>
              <a:off x="3283462" y="2379145"/>
              <a:ext cx="514350" cy="2147094"/>
              <a:chOff x="2340" y="4014"/>
              <a:chExt cx="1080" cy="4056"/>
            </a:xfrm>
          </p:grpSpPr>
          <p:sp>
            <p:nvSpPr>
              <p:cNvPr id="19" name="Text Box 36"/>
              <p:cNvSpPr txBox="1">
                <a:spLocks noChangeArrowheads="1"/>
              </p:cNvSpPr>
              <p:nvPr/>
            </p:nvSpPr>
            <p:spPr bwMode="auto">
              <a:xfrm>
                <a:off x="2340" y="4014"/>
                <a:ext cx="1080" cy="780"/>
              </a:xfrm>
              <a:prstGeom prst="rect">
                <a:avLst/>
              </a:prstGeom>
              <a:noFill/>
              <a:ln>
                <a:noFill/>
              </a:ln>
            </p:spPr>
            <p:txBody>
              <a:bodyPr/>
              <a:lstStyle>
                <a:lvl1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sz="2400">
                    <a:solidFill>
                      <a:schemeClr val="tx1"/>
                    </a:solidFill>
                    <a:latin typeface="Calibri" panose="020F0502020204030204" pitchFamily="18" charset="0"/>
                    <a:ea typeface="宋体" panose="02010600030101010101" pitchFamily="2" charset="-122"/>
                    <a:cs typeface="宋体" panose="02010600030101010101" pitchFamily="2" charset="-122"/>
                  </a:defRPr>
                </a:lvl3pPr>
                <a:lvl4pPr>
                  <a:defRPr sz="2000">
                    <a:solidFill>
                      <a:schemeClr val="tx1"/>
                    </a:solidFill>
                    <a:latin typeface="Calibri" panose="020F0502020204030204" pitchFamily="18" charset="0"/>
                    <a:ea typeface="宋体" panose="02010600030101010101" pitchFamily="2" charset="-122"/>
                  </a:defRPr>
                </a:lvl4pPr>
                <a:lvl5pPr>
                  <a:defRPr sz="2000">
                    <a:solidFill>
                      <a:schemeClr val="tx1"/>
                    </a:solidFill>
                    <a:latin typeface="Calibri" panose="020F0502020204030204" pitchFamily="18" charset="0"/>
                    <a:ea typeface="宋体" panose="02010600030101010101" pitchFamily="2" charset="-122"/>
                  </a:defRPr>
                </a:lvl5pPr>
                <a:lvl6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6pPr>
                <a:lvl7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7pPr>
                <a:lvl8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8pPr>
                <a:lvl9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9pPr>
              </a:lstStyle>
              <a:p>
                <a:pPr algn="just" eaLnBrk="1" hangingPunct="1">
                  <a:lnSpc>
                    <a:spcPct val="216000"/>
                  </a:lnSpc>
                  <a:buFont typeface="Arial" panose="020B0604020202020204" pitchFamily="34" charset="0"/>
                  <a:buNone/>
                </a:pPr>
                <a:r>
                  <a:rPr lang="en-US" altLang="zh-CN" b="1">
                    <a:latin typeface="Times New Roman" panose="02020603050405020304" pitchFamily="18" charset="0"/>
                    <a:ea typeface="宋体" panose="02010600030101010101" pitchFamily="2" charset="-122"/>
                    <a:cs typeface="宋体" panose="02010600030101010101" pitchFamily="2" charset="-122"/>
                  </a:rPr>
                  <a:t>A</a:t>
                </a:r>
                <a:endParaRPr lang="en-US" altLang="zh-CN" b="1">
                  <a:latin typeface="Times New Roman" panose="02020603050405020304" pitchFamily="18" charset="0"/>
                  <a:ea typeface="宋体" panose="02010600030101010101" pitchFamily="2" charset="-122"/>
                  <a:cs typeface="宋体" panose="02010600030101010101" pitchFamily="2" charset="-122"/>
                </a:endParaRPr>
              </a:p>
              <a:p>
                <a:pPr eaLnBrk="1" hangingPunct="1">
                  <a:buFont typeface="Arial" panose="020B0604020202020204" pitchFamily="34" charset="0"/>
                  <a:buNone/>
                </a:pPr>
                <a:endParaRPr lang="en-US" altLang="zh-CN" sz="1400">
                  <a:latin typeface="Arial" panose="020B0604020202020204" pitchFamily="34" charset="0"/>
                  <a:ea typeface="宋体" panose="02010600030101010101" pitchFamily="2" charset="-122"/>
                  <a:cs typeface="宋体" panose="02010600030101010101" pitchFamily="2" charset="-122"/>
                </a:endParaRPr>
              </a:p>
            </p:txBody>
          </p:sp>
          <p:sp>
            <p:nvSpPr>
              <p:cNvPr id="20" name="Text Box 37"/>
              <p:cNvSpPr txBox="1">
                <a:spLocks noChangeArrowheads="1"/>
              </p:cNvSpPr>
              <p:nvPr/>
            </p:nvSpPr>
            <p:spPr bwMode="auto">
              <a:xfrm>
                <a:off x="2340" y="5106"/>
                <a:ext cx="1080" cy="780"/>
              </a:xfrm>
              <a:prstGeom prst="rect">
                <a:avLst/>
              </a:prstGeom>
              <a:noFill/>
              <a:ln>
                <a:noFill/>
              </a:ln>
            </p:spPr>
            <p:txBody>
              <a:bodyPr/>
              <a:lstStyle>
                <a:lvl1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sz="2400">
                    <a:solidFill>
                      <a:schemeClr val="tx1"/>
                    </a:solidFill>
                    <a:latin typeface="Calibri" panose="020F0502020204030204" pitchFamily="18" charset="0"/>
                    <a:ea typeface="宋体" panose="02010600030101010101" pitchFamily="2" charset="-122"/>
                    <a:cs typeface="宋体" panose="02010600030101010101" pitchFamily="2" charset="-122"/>
                  </a:defRPr>
                </a:lvl3pPr>
                <a:lvl4pPr>
                  <a:defRPr sz="2000">
                    <a:solidFill>
                      <a:schemeClr val="tx1"/>
                    </a:solidFill>
                    <a:latin typeface="Calibri" panose="020F0502020204030204" pitchFamily="18" charset="0"/>
                    <a:ea typeface="宋体" panose="02010600030101010101" pitchFamily="2" charset="-122"/>
                  </a:defRPr>
                </a:lvl4pPr>
                <a:lvl5pPr>
                  <a:defRPr sz="2000">
                    <a:solidFill>
                      <a:schemeClr val="tx1"/>
                    </a:solidFill>
                    <a:latin typeface="Calibri" panose="020F0502020204030204" pitchFamily="18" charset="0"/>
                    <a:ea typeface="宋体" panose="02010600030101010101" pitchFamily="2" charset="-122"/>
                  </a:defRPr>
                </a:lvl5pPr>
                <a:lvl6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6pPr>
                <a:lvl7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7pPr>
                <a:lvl8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8pPr>
                <a:lvl9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9pPr>
              </a:lstStyle>
              <a:p>
                <a:pPr algn="just" eaLnBrk="1" hangingPunct="1">
                  <a:lnSpc>
                    <a:spcPct val="216000"/>
                  </a:lnSpc>
                  <a:buFont typeface="Arial" panose="020B0604020202020204" pitchFamily="34" charset="0"/>
                  <a:buNone/>
                </a:pPr>
                <a:r>
                  <a:rPr lang="en-US" altLang="zh-CN" b="1">
                    <a:latin typeface="Times New Roman" panose="02020603050405020304" pitchFamily="18" charset="0"/>
                    <a:ea typeface="宋体" panose="02010600030101010101" pitchFamily="2" charset="-122"/>
                    <a:cs typeface="宋体" panose="02010600030101010101" pitchFamily="2" charset="-122"/>
                  </a:rPr>
                  <a:t>K</a:t>
                </a:r>
                <a:endParaRPr lang="en-US" altLang="zh-CN" b="1">
                  <a:latin typeface="Times New Roman" panose="02020603050405020304" pitchFamily="18" charset="0"/>
                  <a:ea typeface="宋体" panose="02010600030101010101" pitchFamily="2" charset="-122"/>
                  <a:cs typeface="宋体" panose="02010600030101010101" pitchFamily="2" charset="-122"/>
                </a:endParaRPr>
              </a:p>
              <a:p>
                <a:pPr algn="just" eaLnBrk="1" hangingPunct="1">
                  <a:lnSpc>
                    <a:spcPct val="216000"/>
                  </a:lnSpc>
                  <a:buFont typeface="Arial" panose="020B0604020202020204" pitchFamily="34" charset="0"/>
                  <a:buNone/>
                </a:pPr>
                <a:endParaRPr lang="en-US" altLang="zh-CN" b="1">
                  <a:latin typeface="Times New Roman" panose="02020603050405020304" pitchFamily="18" charset="0"/>
                  <a:ea typeface="宋体" panose="02010600030101010101" pitchFamily="2" charset="-122"/>
                  <a:cs typeface="宋体" panose="02010600030101010101" pitchFamily="2" charset="-122"/>
                </a:endParaRPr>
              </a:p>
              <a:p>
                <a:pPr eaLnBrk="1" hangingPunct="1">
                  <a:buFont typeface="Arial" panose="020B0604020202020204" pitchFamily="34" charset="0"/>
                  <a:buNone/>
                </a:pPr>
                <a:endParaRPr lang="en-US" altLang="zh-CN" sz="1400">
                  <a:latin typeface="Arial" panose="020B0604020202020204" pitchFamily="34" charset="0"/>
                  <a:ea typeface="宋体" panose="02010600030101010101" pitchFamily="2" charset="-122"/>
                  <a:cs typeface="宋体" panose="02010600030101010101" pitchFamily="2" charset="-122"/>
                </a:endParaRPr>
              </a:p>
            </p:txBody>
          </p:sp>
          <p:sp>
            <p:nvSpPr>
              <p:cNvPr id="21" name="Text Box 38"/>
              <p:cNvSpPr txBox="1">
                <a:spLocks noChangeArrowheads="1"/>
              </p:cNvSpPr>
              <p:nvPr/>
            </p:nvSpPr>
            <p:spPr bwMode="auto">
              <a:xfrm>
                <a:off x="2340" y="6198"/>
                <a:ext cx="1080" cy="780"/>
              </a:xfrm>
              <a:prstGeom prst="rect">
                <a:avLst/>
              </a:prstGeom>
              <a:noFill/>
              <a:ln>
                <a:noFill/>
              </a:ln>
            </p:spPr>
            <p:txBody>
              <a:bodyPr/>
              <a:lstStyle>
                <a:lvl1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sz="2400">
                    <a:solidFill>
                      <a:schemeClr val="tx1"/>
                    </a:solidFill>
                    <a:latin typeface="Calibri" panose="020F0502020204030204" pitchFamily="18" charset="0"/>
                    <a:ea typeface="宋体" panose="02010600030101010101" pitchFamily="2" charset="-122"/>
                    <a:cs typeface="宋体" panose="02010600030101010101" pitchFamily="2" charset="-122"/>
                  </a:defRPr>
                </a:lvl3pPr>
                <a:lvl4pPr>
                  <a:defRPr sz="2000">
                    <a:solidFill>
                      <a:schemeClr val="tx1"/>
                    </a:solidFill>
                    <a:latin typeface="Calibri" panose="020F0502020204030204" pitchFamily="18" charset="0"/>
                    <a:ea typeface="宋体" panose="02010600030101010101" pitchFamily="2" charset="-122"/>
                  </a:defRPr>
                </a:lvl4pPr>
                <a:lvl5pPr>
                  <a:defRPr sz="2000">
                    <a:solidFill>
                      <a:schemeClr val="tx1"/>
                    </a:solidFill>
                    <a:latin typeface="Calibri" panose="020F0502020204030204" pitchFamily="18" charset="0"/>
                    <a:ea typeface="宋体" panose="02010600030101010101" pitchFamily="2" charset="-122"/>
                  </a:defRPr>
                </a:lvl5pPr>
                <a:lvl6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6pPr>
                <a:lvl7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7pPr>
                <a:lvl8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8pPr>
                <a:lvl9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9pPr>
              </a:lstStyle>
              <a:p>
                <a:pPr algn="just" eaLnBrk="1" hangingPunct="1">
                  <a:lnSpc>
                    <a:spcPct val="216000"/>
                  </a:lnSpc>
                  <a:buFont typeface="Arial" panose="020B0604020202020204" pitchFamily="34" charset="0"/>
                  <a:buNone/>
                </a:pPr>
                <a:r>
                  <a:rPr lang="en-US" altLang="zh-CN" b="1">
                    <a:latin typeface="Times New Roman" panose="02020603050405020304" pitchFamily="18" charset="0"/>
                    <a:ea typeface="宋体" panose="02010600030101010101" pitchFamily="2" charset="-122"/>
                    <a:cs typeface="宋体" panose="02010600030101010101" pitchFamily="2" charset="-122"/>
                  </a:rPr>
                  <a:t>Q</a:t>
                </a:r>
                <a:endParaRPr lang="en-US" altLang="zh-CN" b="1">
                  <a:latin typeface="Times New Roman" panose="02020603050405020304" pitchFamily="18" charset="0"/>
                  <a:ea typeface="宋体" panose="02010600030101010101" pitchFamily="2" charset="-122"/>
                  <a:cs typeface="宋体" panose="02010600030101010101" pitchFamily="2" charset="-122"/>
                </a:endParaRPr>
              </a:p>
              <a:p>
                <a:pPr algn="just" eaLnBrk="1" hangingPunct="1">
                  <a:lnSpc>
                    <a:spcPct val="216000"/>
                  </a:lnSpc>
                  <a:buFont typeface="Arial" panose="020B0604020202020204" pitchFamily="34" charset="0"/>
                  <a:buNone/>
                </a:pPr>
                <a:endParaRPr lang="en-US" altLang="zh-CN" b="1">
                  <a:latin typeface="Times New Roman" panose="02020603050405020304" pitchFamily="18" charset="0"/>
                  <a:ea typeface="宋体" panose="02010600030101010101" pitchFamily="2" charset="-122"/>
                  <a:cs typeface="宋体" panose="02010600030101010101" pitchFamily="2" charset="-122"/>
                </a:endParaRPr>
              </a:p>
              <a:p>
                <a:pPr eaLnBrk="1" hangingPunct="1">
                  <a:buFont typeface="Arial" panose="020B0604020202020204" pitchFamily="34" charset="0"/>
                  <a:buNone/>
                </a:pPr>
                <a:endParaRPr lang="en-US" altLang="zh-CN" sz="1400">
                  <a:latin typeface="Arial" panose="020B0604020202020204" pitchFamily="34" charset="0"/>
                  <a:ea typeface="宋体" panose="02010600030101010101" pitchFamily="2" charset="-122"/>
                  <a:cs typeface="宋体" panose="02010600030101010101" pitchFamily="2" charset="-122"/>
                </a:endParaRPr>
              </a:p>
            </p:txBody>
          </p:sp>
          <p:sp>
            <p:nvSpPr>
              <p:cNvPr id="22" name="Text Box 39"/>
              <p:cNvSpPr txBox="1">
                <a:spLocks noChangeArrowheads="1"/>
              </p:cNvSpPr>
              <p:nvPr/>
            </p:nvSpPr>
            <p:spPr bwMode="auto">
              <a:xfrm>
                <a:off x="2340" y="7290"/>
                <a:ext cx="1080" cy="780"/>
              </a:xfrm>
              <a:prstGeom prst="rect">
                <a:avLst/>
              </a:prstGeom>
              <a:noFill/>
              <a:ln>
                <a:noFill/>
              </a:ln>
            </p:spPr>
            <p:txBody>
              <a:bodyPr/>
              <a:lstStyle>
                <a:lvl1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sz="2400">
                    <a:solidFill>
                      <a:schemeClr val="tx1"/>
                    </a:solidFill>
                    <a:latin typeface="Calibri" panose="020F0502020204030204" pitchFamily="18" charset="0"/>
                    <a:ea typeface="宋体" panose="02010600030101010101" pitchFamily="2" charset="-122"/>
                    <a:cs typeface="宋体" panose="02010600030101010101" pitchFamily="2" charset="-122"/>
                  </a:defRPr>
                </a:lvl3pPr>
                <a:lvl4pPr>
                  <a:defRPr sz="2000">
                    <a:solidFill>
                      <a:schemeClr val="tx1"/>
                    </a:solidFill>
                    <a:latin typeface="Calibri" panose="020F0502020204030204" pitchFamily="18" charset="0"/>
                    <a:ea typeface="宋体" panose="02010600030101010101" pitchFamily="2" charset="-122"/>
                  </a:defRPr>
                </a:lvl4pPr>
                <a:lvl5pPr>
                  <a:defRPr sz="2000">
                    <a:solidFill>
                      <a:schemeClr val="tx1"/>
                    </a:solidFill>
                    <a:latin typeface="Calibri" panose="020F0502020204030204" pitchFamily="18" charset="0"/>
                    <a:ea typeface="宋体" panose="02010600030101010101" pitchFamily="2" charset="-122"/>
                  </a:defRPr>
                </a:lvl5pPr>
                <a:lvl6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6pPr>
                <a:lvl7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7pPr>
                <a:lvl8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8pPr>
                <a:lvl9pPr>
                  <a:buFont typeface="Arial" panose="020B0604020202020204" pitchFamily="34" charset="0"/>
                  <a:defRPr sz="2000">
                    <a:solidFill>
                      <a:schemeClr val="tx1"/>
                    </a:solidFill>
                    <a:latin typeface="Calibri" panose="020F0502020204030204" pitchFamily="18" charset="0"/>
                    <a:ea typeface="宋体" panose="02010600030101010101" pitchFamily="2" charset="-122"/>
                  </a:defRPr>
                </a:lvl9pPr>
              </a:lstStyle>
              <a:p>
                <a:pPr algn="just" eaLnBrk="1" hangingPunct="1">
                  <a:lnSpc>
                    <a:spcPct val="216000"/>
                  </a:lnSpc>
                  <a:buFont typeface="Arial" panose="020B0604020202020204" pitchFamily="34" charset="0"/>
                  <a:buNone/>
                </a:pPr>
                <a:r>
                  <a:rPr lang="en-US" altLang="zh-CN" b="1">
                    <a:latin typeface="Times New Roman" panose="02020603050405020304" pitchFamily="18" charset="0"/>
                    <a:ea typeface="宋体" panose="02010600030101010101" pitchFamily="2" charset="-122"/>
                    <a:cs typeface="宋体" panose="02010600030101010101" pitchFamily="2" charset="-122"/>
                  </a:rPr>
                  <a:t>J</a:t>
                </a:r>
                <a:endParaRPr lang="en-US" altLang="zh-CN" b="1">
                  <a:latin typeface="Times New Roman" panose="02020603050405020304" pitchFamily="18" charset="0"/>
                  <a:ea typeface="宋体" panose="02010600030101010101" pitchFamily="2" charset="-122"/>
                  <a:cs typeface="宋体" panose="02010600030101010101" pitchFamily="2" charset="-122"/>
                </a:endParaRPr>
              </a:p>
              <a:p>
                <a:pPr eaLnBrk="1" hangingPunct="1">
                  <a:buFont typeface="Arial" panose="020B0604020202020204" pitchFamily="34" charset="0"/>
                  <a:buNone/>
                </a:pPr>
                <a:endParaRPr lang="en-US" altLang="zh-CN" sz="1400">
                  <a:latin typeface="Arial" panose="020B0604020202020204" pitchFamily="34" charset="0"/>
                  <a:ea typeface="宋体" panose="02010600030101010101" pitchFamily="2" charset="-122"/>
                  <a:cs typeface="宋体" panose="02010600030101010101" pitchFamily="2" charset="-122"/>
                </a:endParaRPr>
              </a:p>
            </p:txBody>
          </p:sp>
        </p:grpSp>
        <p:sp>
          <p:nvSpPr>
            <p:cNvPr id="16" name="Rectangle 40"/>
            <p:cNvSpPr>
              <a:spLocks noChangeArrowheads="1"/>
            </p:cNvSpPr>
            <p:nvPr/>
          </p:nvSpPr>
          <p:spPr bwMode="auto">
            <a:xfrm>
              <a:off x="3769237" y="2559062"/>
              <a:ext cx="2862263" cy="508000"/>
            </a:xfrm>
            <a:prstGeom prst="rect">
              <a:avLst/>
            </a:prstGeom>
            <a:solidFill>
              <a:schemeClr val="bg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17" name="Rectangle 41"/>
            <p:cNvSpPr>
              <a:spLocks noChangeArrowheads="1"/>
            </p:cNvSpPr>
            <p:nvPr/>
          </p:nvSpPr>
          <p:spPr bwMode="auto">
            <a:xfrm>
              <a:off x="3769237" y="3758948"/>
              <a:ext cx="2862263" cy="448468"/>
            </a:xfrm>
            <a:prstGeom prst="rect">
              <a:avLst/>
            </a:prstGeom>
            <a:solidFill>
              <a:schemeClr val="bg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sp>
          <p:nvSpPr>
            <p:cNvPr id="18" name="Rectangle 42"/>
            <p:cNvSpPr>
              <a:spLocks noChangeArrowheads="1"/>
            </p:cNvSpPr>
            <p:nvPr/>
          </p:nvSpPr>
          <p:spPr bwMode="auto">
            <a:xfrm>
              <a:off x="3769237" y="4358229"/>
              <a:ext cx="2862263" cy="420688"/>
            </a:xfrm>
            <a:prstGeom prst="rect">
              <a:avLst/>
            </a:prstGeom>
            <a:solidFill>
              <a:schemeClr val="bg1"/>
            </a:solidFill>
            <a:ln w="9525">
              <a:solidFill>
                <a:schemeClr val="tx1"/>
              </a:solidFill>
              <a:miter lim="800000"/>
            </a:ln>
          </p:spPr>
          <p:txBody>
            <a:bodyPr wrap="none" anchor="ctr"/>
            <a:lstStyle/>
            <a:p>
              <a:pPr eaLnBrk="1" hangingPunct="1">
                <a:buFont typeface="Arial" panose="020B0604020202020204" pitchFamily="34" charset="0"/>
                <a:buNone/>
              </a:pPr>
              <a:endParaRPr lang="zh-CN" altLang="en-US"/>
            </a:p>
          </p:txBody>
        </p:sp>
      </p:grpSp>
      <p:sp>
        <p:nvSpPr>
          <p:cNvPr id="46" name="内容占位符 45"/>
          <p:cNvSpPr>
            <a:spLocks noGrp="1"/>
          </p:cNvSpPr>
          <p:nvPr>
            <p:ph idx="1"/>
          </p:nvPr>
        </p:nvSpPr>
        <p:spPr/>
        <p:txBody>
          <a:bodyPr/>
          <a:lstStyle/>
          <a:p>
            <a:endParaRPr lang="zh-CN" altLang="en-US" dirty="0"/>
          </a:p>
        </p:txBody>
      </p:sp>
      <p:sp>
        <p:nvSpPr>
          <p:cNvPr id="47" name="内容占位符 1"/>
          <p:cNvSpPr txBox="1"/>
          <p:nvPr/>
        </p:nvSpPr>
        <p:spPr>
          <a:xfrm>
            <a:off x="1701146" y="2662413"/>
            <a:ext cx="3193434" cy="1701588"/>
          </a:xfrm>
        </p:spPr>
        <p:txBody>
          <a:bodyPr>
            <a:noAutofit/>
          </a:bodyPr>
          <a:lstStyle>
            <a:lvl1pPr marL="272415" indent="-272415" algn="l" defTabSz="914400" rtl="0" eaLnBrk="1" latinLnBrk="0" hangingPunct="1">
              <a:lnSpc>
                <a:spcPct val="150000"/>
              </a:lnSpc>
              <a:spcBef>
                <a:spcPts val="1000"/>
              </a:spcBef>
              <a:buClr>
                <a:schemeClr val="bg1"/>
              </a:buClr>
              <a:buFont typeface="Wingdings" panose="05000000000000000000" pitchFamily="2" charset="2"/>
              <a:buChar char="Ø"/>
              <a:defRPr sz="1800" b="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30000"/>
              </a:lnSpc>
              <a:spcBef>
                <a:spcPts val="500"/>
              </a:spcBef>
              <a:buClr>
                <a:srgbClr val="032089"/>
              </a:buClr>
              <a:buFont typeface="Wingdings" panose="05000000000000000000" pitchFamily="2" charset="2"/>
              <a:buChar char="l"/>
              <a:defRPr sz="1745" b="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30" b="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30" b="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30" b="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pPr>
            <a:r>
              <a:rPr lang="zh-CN" altLang="en-US" sz="2000" smtClean="0">
                <a:solidFill>
                  <a:schemeClr val="tx1"/>
                </a:solidFill>
              </a:rPr>
              <a:t>每组里符号相同</a:t>
            </a:r>
            <a:endParaRPr lang="zh-CN" altLang="en-US" sz="2000" smtClean="0">
              <a:solidFill>
                <a:schemeClr val="tx1"/>
              </a:solidFill>
            </a:endParaRPr>
          </a:p>
          <a:p>
            <a:pPr>
              <a:buClrTx/>
            </a:pPr>
            <a:r>
              <a:rPr lang="zh-CN" altLang="en-US" sz="2000" smtClean="0">
                <a:solidFill>
                  <a:schemeClr val="tx1"/>
                </a:solidFill>
              </a:rPr>
              <a:t>组与组之间符号相异</a:t>
            </a:r>
            <a:endParaRPr lang="zh-CN" altLang="en-US" sz="2000" smtClean="0">
              <a:solidFill>
                <a:schemeClr val="tx1"/>
              </a:solidFill>
            </a:endParaRPr>
          </a:p>
          <a:p>
            <a:endParaRPr kumimoji="1" lang="zh-CN" altLang="en-US" sz="2000" dirty="0">
              <a:solidFill>
                <a:schemeClr val="tx1"/>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44482" y="475694"/>
            <a:ext cx="9144001" cy="440147"/>
          </a:xfrm>
        </p:spPr>
        <p:txBody>
          <a:bodyPr/>
          <a:lstStyle/>
          <a:p>
            <a:r>
              <a:rPr kumimoji="1" lang="zh-CN" altLang="en-US" dirty="0" smtClean="0">
                <a:solidFill>
                  <a:schemeClr val="tx1"/>
                </a:solidFill>
                <a:sym typeface="+mn-ea"/>
              </a:rPr>
              <a:t>典型应用</a:t>
            </a:r>
            <a:endParaRPr kumimoji="1" lang="zh-CN" altLang="en-US" dirty="0">
              <a:solidFill>
                <a:schemeClr val="tx1"/>
              </a:solidFill>
            </a:endParaRPr>
          </a:p>
        </p:txBody>
      </p:sp>
      <p:sp>
        <p:nvSpPr>
          <p:cNvPr id="45" name="内容占位符 3"/>
          <p:cNvSpPr txBox="1"/>
          <p:nvPr/>
        </p:nvSpPr>
        <p:spPr>
          <a:xfrm>
            <a:off x="789991" y="1761897"/>
            <a:ext cx="10881762" cy="3528392"/>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742950" marR="0" lvl="1" indent="-285750" algn="l" defTabSz="457200" rtl="0" eaLnBrk="1" fontAlgn="auto" latinLnBrk="0" hangingPunct="1">
              <a:lnSpc>
                <a:spcPct val="150000"/>
              </a:lnSpc>
              <a:spcBef>
                <a:spcPts val="200"/>
              </a:spcBef>
              <a:spcAft>
                <a:spcPts val="200"/>
              </a:spcAft>
              <a:buClr>
                <a:srgbClr val="FFD20E"/>
              </a:buClr>
              <a:buSzPct val="100000"/>
              <a:buFont typeface="Wingdings" panose="05000000000000000000" pitchFamily="2" charset="2"/>
              <a:buChar char="n"/>
              <a:defRPr/>
            </a:pPr>
            <a:r>
              <a:rPr kumimoji="0" lang="zh-CN" altLang="zh-CN" sz="2400" b="0" i="0" u="none" strike="noStrike" kern="1200" cap="none" spc="0" normalizeH="0" baseline="0" noProof="0" dirty="0">
                <a:ln>
                  <a:noFill/>
                </a:ln>
                <a:solidFill>
                  <a:srgbClr val="000000"/>
                </a:solidFill>
                <a:effectLst/>
                <a:uLnTx/>
                <a:uFillTx/>
                <a:latin typeface="Cambria" panose="02040503050406030204" pitchFamily="18" charset="0"/>
                <a:ea typeface="华文楷体" panose="02010600040101010101" pitchFamily="2" charset="-122"/>
                <a:cs typeface="+mn-cs"/>
              </a:rPr>
              <a:t>聚类可以帮助市场分析人员从客户基本信息库中发现不同的客户群</a:t>
            </a:r>
            <a:r>
              <a:rPr kumimoji="0" lang="zh-CN" altLang="en-US" sz="2400" b="0" i="0" u="none" strike="noStrike" kern="1200" cap="none" spc="0" normalizeH="0" baseline="0" noProof="0" dirty="0">
                <a:ln>
                  <a:noFill/>
                </a:ln>
                <a:solidFill>
                  <a:srgbClr val="000000"/>
                </a:solidFill>
                <a:effectLst/>
                <a:uLnTx/>
                <a:uFillTx/>
                <a:latin typeface="Cambria" panose="02040503050406030204" pitchFamily="18" charset="0"/>
                <a:ea typeface="华文楷体" panose="02010600040101010101" pitchFamily="2" charset="-122"/>
                <a:cs typeface="+mn-cs"/>
              </a:rPr>
              <a:t>；</a:t>
            </a:r>
            <a:endParaRPr kumimoji="0" lang="en-US" altLang="zh-CN" sz="24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endParaRPr>
          </a:p>
          <a:p>
            <a:pPr marL="742950" marR="0" lvl="1" indent="-285750" algn="l" defTabSz="457200" rtl="0" eaLnBrk="1" fontAlgn="auto" latinLnBrk="0" hangingPunct="1">
              <a:lnSpc>
                <a:spcPct val="150000"/>
              </a:lnSpc>
              <a:spcBef>
                <a:spcPts val="200"/>
              </a:spcBef>
              <a:spcAft>
                <a:spcPts val="200"/>
              </a:spcAft>
              <a:buClr>
                <a:srgbClr val="FFD20E"/>
              </a:buClr>
              <a:buSzPct val="100000"/>
              <a:buFont typeface="Wingdings" panose="05000000000000000000" pitchFamily="2" charset="2"/>
              <a:buChar char="n"/>
              <a:defRPr/>
            </a:pPr>
            <a:r>
              <a:rPr kumimoji="0" lang="zh-CN" altLang="zh-CN" sz="2400" b="0" i="0" u="none" strike="noStrike" kern="1200" cap="none" spc="0" normalizeH="0" baseline="0" noProof="0" dirty="0">
                <a:ln>
                  <a:noFill/>
                </a:ln>
                <a:solidFill>
                  <a:srgbClr val="000000"/>
                </a:solidFill>
                <a:effectLst/>
                <a:uLnTx/>
                <a:uFillTx/>
                <a:latin typeface="Cambria" panose="02040503050406030204" pitchFamily="18" charset="0"/>
                <a:ea typeface="华文楷体" panose="02010600040101010101" pitchFamily="2" charset="-122"/>
                <a:cs typeface="+mn-cs"/>
              </a:rPr>
              <a:t>在生物学上，聚类可以根据生物基因结构，推导出植物和动物的物种分类，从而获得对生物种群固有结构的认识</a:t>
            </a:r>
            <a:r>
              <a:rPr kumimoji="0" lang="zh-CN" altLang="en-US" sz="2400" b="0" i="0" u="none" strike="noStrike" kern="1200" cap="none" spc="0" normalizeH="0" baseline="0" noProof="0" dirty="0">
                <a:ln>
                  <a:noFill/>
                </a:ln>
                <a:solidFill>
                  <a:srgbClr val="000000"/>
                </a:solidFill>
                <a:effectLst/>
                <a:uLnTx/>
                <a:uFillTx/>
                <a:latin typeface="Cambria" panose="02040503050406030204" pitchFamily="18" charset="0"/>
                <a:ea typeface="华文楷体" panose="02010600040101010101" pitchFamily="2" charset="-122"/>
                <a:cs typeface="+mn-cs"/>
              </a:rPr>
              <a:t>；</a:t>
            </a:r>
            <a:endParaRPr kumimoji="0" lang="en-US" altLang="zh-CN" sz="24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endParaRPr>
          </a:p>
          <a:p>
            <a:pPr marL="742950" marR="0" lvl="1" indent="-285750" algn="l" defTabSz="457200" rtl="0" eaLnBrk="1" fontAlgn="auto" latinLnBrk="0" hangingPunct="1">
              <a:lnSpc>
                <a:spcPct val="150000"/>
              </a:lnSpc>
              <a:spcBef>
                <a:spcPts val="200"/>
              </a:spcBef>
              <a:spcAft>
                <a:spcPts val="200"/>
              </a:spcAft>
              <a:buClr>
                <a:srgbClr val="FFD20E"/>
              </a:buClr>
              <a:buSzPct val="100000"/>
              <a:buFont typeface="Wingdings" panose="05000000000000000000" pitchFamily="2" charset="2"/>
              <a:buChar char="n"/>
              <a:defRPr/>
            </a:pPr>
            <a:r>
              <a:rPr kumimoji="0" lang="zh-CN" altLang="zh-CN" sz="2400" b="0" i="0" u="none" strike="noStrike" kern="1200" cap="none" spc="0" normalizeH="0" baseline="0" noProof="0" dirty="0">
                <a:ln>
                  <a:noFill/>
                </a:ln>
                <a:solidFill>
                  <a:srgbClr val="000000"/>
                </a:solidFill>
                <a:effectLst/>
                <a:uLnTx/>
                <a:uFillTx/>
                <a:latin typeface="Cambria" panose="02040503050406030204" pitchFamily="18" charset="0"/>
                <a:ea typeface="华文楷体" panose="02010600040101010101" pitchFamily="2" charset="-122"/>
                <a:cs typeface="+mn-cs"/>
              </a:rPr>
              <a:t>聚类还能从地球观测数据库中找到地形、地貌等地理特征相似的区域，提供生物物种或病虫害预警信息；</a:t>
            </a:r>
            <a:endParaRPr kumimoji="0" lang="en-US" altLang="zh-CN" sz="24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endParaRPr>
          </a:p>
          <a:p>
            <a:pPr marL="742950" marR="0" lvl="1" indent="-285750" algn="l" defTabSz="457200" rtl="0" eaLnBrk="1" fontAlgn="auto" latinLnBrk="0" hangingPunct="1">
              <a:lnSpc>
                <a:spcPct val="150000"/>
              </a:lnSpc>
              <a:spcBef>
                <a:spcPts val="200"/>
              </a:spcBef>
              <a:spcAft>
                <a:spcPts val="200"/>
              </a:spcAft>
              <a:buClr>
                <a:srgbClr val="FFD20E"/>
              </a:buClr>
              <a:buSzPct val="100000"/>
              <a:buFont typeface="Wingdings" panose="05000000000000000000" pitchFamily="2" charset="2"/>
              <a:buChar char="n"/>
              <a:defRPr/>
            </a:pPr>
            <a:r>
              <a:rPr kumimoji="0" lang="zh-CN" altLang="zh-CN" sz="2400" b="0" i="0" u="none" strike="noStrike" kern="1200" cap="none" spc="0" normalizeH="0" baseline="0" noProof="0" dirty="0">
                <a:ln>
                  <a:noFill/>
                </a:ln>
                <a:solidFill>
                  <a:srgbClr val="000000"/>
                </a:solidFill>
                <a:effectLst/>
                <a:uLnTx/>
                <a:uFillTx/>
                <a:latin typeface="Cambria" panose="02040503050406030204" pitchFamily="18" charset="0"/>
                <a:ea typeface="华文楷体" panose="02010600040101010101" pitchFamily="2" charset="-122"/>
                <a:cs typeface="+mn-cs"/>
              </a:rPr>
              <a:t>根据房屋的类型、价值和地理位置等信息对城市房屋进行聚类分组，为客户提供房屋资产评估服务</a:t>
            </a:r>
            <a:r>
              <a:rPr kumimoji="0" lang="zh-CN" altLang="en-US" sz="2400" b="0" i="0" u="none" strike="noStrike" kern="1200" cap="none" spc="0" normalizeH="0" baseline="0" noProof="0" dirty="0">
                <a:ln>
                  <a:noFill/>
                </a:ln>
                <a:solidFill>
                  <a:srgbClr val="000000"/>
                </a:solidFill>
                <a:effectLst/>
                <a:uLnTx/>
                <a:uFillTx/>
                <a:latin typeface="Cambria" panose="02040503050406030204" pitchFamily="18" charset="0"/>
                <a:ea typeface="华文楷体" panose="02010600040101010101" pitchFamily="2" charset="-122"/>
                <a:cs typeface="+mn-cs"/>
              </a:rPr>
              <a:t>。</a:t>
            </a:r>
            <a:endParaRPr kumimoji="0" lang="zh-CN" altLang="en-US" sz="2400" b="0" i="0" u="none" strike="noStrike" kern="1200" cap="none" spc="0" normalizeH="0" baseline="0" noProof="0" dirty="0">
              <a:ln>
                <a:noFill/>
              </a:ln>
              <a:solidFill>
                <a:srgbClr val="000000"/>
              </a:solidFill>
              <a:effectLst/>
              <a:uLnTx/>
              <a:uFillTx/>
              <a:latin typeface="Cambria" panose="02040503050406030204" pitchFamily="18" charset="0"/>
              <a:ea typeface="华文楷体" panose="02010600040101010101" pitchFamily="2" charset="-122"/>
              <a:cs typeface="+mn-cs"/>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1"/>
          <a:srcRect/>
          <a:stretch>
            <a:fillRect/>
          </a:stretch>
        </p:blipFill>
        <p:spPr bwMode="auto">
          <a:xfrm>
            <a:off x="1511300" y="1371600"/>
            <a:ext cx="9105900" cy="43561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50800" y="6464300"/>
            <a:ext cx="6986400" cy="379591"/>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1086941" y="139700"/>
            <a:ext cx="2743200" cy="596900"/>
          </a:xfrm>
          <a:prstGeom prst="rect">
            <a:avLst/>
          </a:prstGeom>
          <a:noFill/>
        </p:spPr>
        <p:txBody>
          <a:bodyPr wrap="none" lIns="0" tIns="0" rIns="0" rtlCol="0">
            <a:spAutoFit/>
          </a:bodyPr>
          <a:lstStyle/>
          <a:p>
            <a:pPr>
              <a:lnSpc>
                <a:spcPts val="4700"/>
              </a:lnSpc>
            </a:pPr>
            <a:r>
              <a:rPr lang="en-US" altLang="zh-CN" sz="3600" dirty="0" smtClean="0">
                <a:solidFill>
                  <a:srgbClr val="000000"/>
                </a:solidFill>
                <a:latin typeface="微软雅黑" panose="020B0503020204020204" pitchFamily="34" charset="-122"/>
                <a:cs typeface="微软雅黑" panose="020B0503020204020204" pitchFamily="34" charset="-122"/>
              </a:rPr>
              <a:t>寻找优质客户</a:t>
            </a:r>
            <a:endParaRPr lang="en-US" altLang="zh-CN" sz="3600" dirty="0" smtClean="0">
              <a:solidFill>
                <a:srgbClr val="000000"/>
              </a:solidFill>
              <a:latin typeface="微软雅黑" panose="020B0503020204020204" pitchFamily="34" charset="-122"/>
              <a:cs typeface="微软雅黑" panose="020B0503020204020204" pitchFamily="34" charset="-122"/>
            </a:endParaRPr>
          </a:p>
        </p:txBody>
      </p:sp>
      <p:sp>
        <p:nvSpPr>
          <p:cNvPr id="10" name="TextBox 1"/>
          <p:cNvSpPr txBox="1"/>
          <p:nvPr/>
        </p:nvSpPr>
        <p:spPr>
          <a:xfrm>
            <a:off x="11252200" y="6616700"/>
            <a:ext cx="114300" cy="228600"/>
          </a:xfrm>
          <a:prstGeom prst="rect">
            <a:avLst/>
          </a:prstGeom>
          <a:noFill/>
        </p:spPr>
        <p:txBody>
          <a:bodyPr wrap="none" lIns="0" tIns="0" rIns="0" rtlCol="0">
            <a:spAutoFit/>
          </a:bodyPr>
          <a:lstStyle/>
          <a:p>
            <a:pPr>
              <a:lnSpc>
                <a:spcPts val="1800"/>
              </a:lnSpc>
            </a:pPr>
            <a:r>
              <a:rPr lang="en-US" altLang="zh-CN" sz="1800" dirty="0" smtClean="0">
                <a:solidFill>
                  <a:srgbClr val="FFFFFF"/>
                </a:solidFill>
                <a:latin typeface="Calibri" panose="020F0502020204030204" pitchFamily="18" charset="0"/>
                <a:cs typeface="Calibri" panose="020F0502020204030204" pitchFamily="18" charset="0"/>
              </a:rPr>
              <a:t>3</a:t>
            </a:r>
            <a:endParaRPr lang="en-US" altLang="zh-CN" sz="1800" dirty="0" smtClean="0">
              <a:solidFill>
                <a:srgbClr val="FFFFFF"/>
              </a:solidFill>
              <a:latin typeface="Calibri" panose="020F0502020204030204" pitchFamily="18" charset="0"/>
              <a:cs typeface="Calibri" panose="020F0502020204030204" pitchFamily="18" charset="0"/>
            </a:endParaRPr>
          </a:p>
        </p:txBody>
      </p:sp>
      <p:sp>
        <p:nvSpPr>
          <p:cNvPr id="11" name="TextBox 1"/>
          <p:cNvSpPr txBox="1"/>
          <p:nvPr/>
        </p:nvSpPr>
        <p:spPr>
          <a:xfrm>
            <a:off x="10477500" y="6604000"/>
            <a:ext cx="101600" cy="203200"/>
          </a:xfrm>
          <a:prstGeom prst="rect">
            <a:avLst/>
          </a:prstGeom>
          <a:noFill/>
        </p:spPr>
        <p:txBody>
          <a:bodyPr wrap="none" lIns="0" tIns="0" rIns="0" rtlCol="0">
            <a:spAutoFit/>
          </a:bodyPr>
          <a:lstStyle/>
          <a:p>
            <a:pPr>
              <a:lnSpc>
                <a:spcPts val="1600"/>
              </a:lnSpc>
            </a:pPr>
            <a:r>
              <a:rPr lang="en-US" altLang="zh-CN" sz="1600" dirty="0" smtClean="0">
                <a:solidFill>
                  <a:srgbClr val="FFFFFF"/>
                </a:solidFill>
                <a:latin typeface="Calibri" panose="020F0502020204030204" pitchFamily="18" charset="0"/>
                <a:cs typeface="Calibri" panose="020F0502020204030204" pitchFamily="18" charset="0"/>
              </a:rPr>
              <a:t>3</a:t>
            </a:r>
            <a:endParaRPr lang="en-US" altLang="zh-CN" sz="1600" dirty="0" smtClean="0">
              <a:solidFill>
                <a:srgbClr val="FFFFFF"/>
              </a:solidFill>
              <a:latin typeface="Calibri" panose="020F0502020204030204" pitchFamily="18" charset="0"/>
              <a:cs typeface="Calibri" panose="020F05020202040302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1"/>
          <a:srcRect/>
          <a:stretch>
            <a:fillRect/>
          </a:stretch>
        </p:blipFill>
        <p:spPr bwMode="auto">
          <a:xfrm>
            <a:off x="2260600" y="1422400"/>
            <a:ext cx="7607300" cy="44577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50800" y="6464300"/>
            <a:ext cx="6986400" cy="379591"/>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1044900" y="139700"/>
            <a:ext cx="1828800" cy="596900"/>
          </a:xfrm>
          <a:prstGeom prst="rect">
            <a:avLst/>
          </a:prstGeom>
          <a:noFill/>
        </p:spPr>
        <p:txBody>
          <a:bodyPr wrap="none" lIns="0" tIns="0" rIns="0" rtlCol="0">
            <a:spAutoFit/>
          </a:bodyPr>
          <a:lstStyle/>
          <a:p>
            <a:pPr>
              <a:lnSpc>
                <a:spcPts val="4700"/>
              </a:lnSpc>
            </a:pPr>
            <a:r>
              <a:rPr lang="en-US" altLang="zh-CN" sz="3600" dirty="0" smtClean="0">
                <a:solidFill>
                  <a:srgbClr val="000000"/>
                </a:solidFill>
                <a:latin typeface="微软雅黑" panose="020B0503020204020204" pitchFamily="34" charset="-122"/>
                <a:cs typeface="微软雅黑" panose="020B0503020204020204" pitchFamily="34" charset="-122"/>
              </a:rPr>
              <a:t>社区发现</a:t>
            </a:r>
            <a:endParaRPr lang="en-US" altLang="zh-CN" sz="3600" dirty="0" smtClean="0">
              <a:solidFill>
                <a:srgbClr val="000000"/>
              </a:solidFill>
              <a:latin typeface="微软雅黑" panose="020B0503020204020204" pitchFamily="34" charset="-122"/>
              <a:cs typeface="微软雅黑" panose="020B0503020204020204" pitchFamily="34" charset="-122"/>
            </a:endParaRPr>
          </a:p>
        </p:txBody>
      </p:sp>
      <p:sp>
        <p:nvSpPr>
          <p:cNvPr id="10" name="TextBox 1"/>
          <p:cNvSpPr txBox="1"/>
          <p:nvPr/>
        </p:nvSpPr>
        <p:spPr>
          <a:xfrm>
            <a:off x="11252200" y="6616700"/>
            <a:ext cx="114300" cy="228600"/>
          </a:xfrm>
          <a:prstGeom prst="rect">
            <a:avLst/>
          </a:prstGeom>
          <a:noFill/>
        </p:spPr>
        <p:txBody>
          <a:bodyPr wrap="none" lIns="0" tIns="0" rIns="0" rtlCol="0">
            <a:spAutoFit/>
          </a:bodyPr>
          <a:lstStyle/>
          <a:p>
            <a:pPr>
              <a:lnSpc>
                <a:spcPts val="1800"/>
              </a:lnSpc>
            </a:pPr>
            <a:r>
              <a:rPr lang="en-US" altLang="zh-CN" sz="1800" dirty="0" smtClean="0">
                <a:solidFill>
                  <a:srgbClr val="FFFFFF"/>
                </a:solidFill>
                <a:latin typeface="Calibri" panose="020F0502020204030204" pitchFamily="18" charset="0"/>
                <a:cs typeface="Calibri" panose="020F0502020204030204" pitchFamily="18" charset="0"/>
              </a:rPr>
              <a:t>4</a:t>
            </a:r>
            <a:endParaRPr lang="en-US" altLang="zh-CN" sz="1800" dirty="0" smtClean="0">
              <a:solidFill>
                <a:srgbClr val="FFFFFF"/>
              </a:solidFill>
              <a:latin typeface="Calibri" panose="020F0502020204030204" pitchFamily="18" charset="0"/>
              <a:cs typeface="Calibri" panose="020F0502020204030204" pitchFamily="18" charset="0"/>
            </a:endParaRPr>
          </a:p>
        </p:txBody>
      </p:sp>
      <p:sp>
        <p:nvSpPr>
          <p:cNvPr id="11" name="TextBox 1"/>
          <p:cNvSpPr txBox="1"/>
          <p:nvPr/>
        </p:nvSpPr>
        <p:spPr>
          <a:xfrm>
            <a:off x="10477500" y="6604000"/>
            <a:ext cx="101600" cy="203200"/>
          </a:xfrm>
          <a:prstGeom prst="rect">
            <a:avLst/>
          </a:prstGeom>
          <a:noFill/>
        </p:spPr>
        <p:txBody>
          <a:bodyPr wrap="none" lIns="0" tIns="0" rIns="0" rtlCol="0">
            <a:spAutoFit/>
          </a:bodyPr>
          <a:lstStyle/>
          <a:p>
            <a:pPr>
              <a:lnSpc>
                <a:spcPts val="1600"/>
              </a:lnSpc>
            </a:pPr>
            <a:r>
              <a:rPr lang="en-US" altLang="zh-CN" sz="1600" dirty="0" smtClean="0">
                <a:solidFill>
                  <a:srgbClr val="FFFFFF"/>
                </a:solidFill>
                <a:latin typeface="Calibri" panose="020F0502020204030204" pitchFamily="18" charset="0"/>
                <a:cs typeface="Calibri" panose="020F0502020204030204" pitchFamily="18" charset="0"/>
              </a:rPr>
              <a:t>4</a:t>
            </a:r>
            <a:endParaRPr lang="en-US" altLang="zh-CN" sz="1600" dirty="0" smtClean="0">
              <a:solidFill>
                <a:srgbClr val="FFFFFF"/>
              </a:solidFill>
              <a:latin typeface="Calibri" panose="020F0502020204030204" pitchFamily="18" charset="0"/>
              <a:cs typeface="Calibri" panose="020F05020202040302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1778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1"/>
          <a:srcRect/>
          <a:stretch>
            <a:fillRect/>
          </a:stretch>
        </p:blipFill>
        <p:spPr bwMode="auto">
          <a:xfrm>
            <a:off x="2082800" y="1244600"/>
            <a:ext cx="7950200" cy="50419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50800" y="6464300"/>
            <a:ext cx="6986400" cy="379591"/>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1150005" y="139700"/>
            <a:ext cx="2286000" cy="596900"/>
          </a:xfrm>
          <a:prstGeom prst="rect">
            <a:avLst/>
          </a:prstGeom>
          <a:noFill/>
        </p:spPr>
        <p:txBody>
          <a:bodyPr wrap="none" lIns="0" tIns="0" rIns="0" rtlCol="0">
            <a:spAutoFit/>
          </a:bodyPr>
          <a:lstStyle/>
          <a:p>
            <a:pPr>
              <a:lnSpc>
                <a:spcPts val="4700"/>
              </a:lnSpc>
            </a:pPr>
            <a:r>
              <a:rPr lang="en-US" altLang="zh-CN" sz="3600" dirty="0" smtClean="0">
                <a:solidFill>
                  <a:srgbClr val="000000"/>
                </a:solidFill>
                <a:latin typeface="微软雅黑" panose="020B0503020204020204" pitchFamily="34" charset="-122"/>
                <a:cs typeface="微软雅黑" panose="020B0503020204020204" pitchFamily="34" charset="-122"/>
              </a:rPr>
              <a:t>异常点监控</a:t>
            </a:r>
            <a:endParaRPr lang="en-US" altLang="zh-CN" sz="3600" dirty="0" smtClean="0">
              <a:solidFill>
                <a:srgbClr val="000000"/>
              </a:solidFill>
              <a:latin typeface="微软雅黑" panose="020B0503020204020204" pitchFamily="34" charset="-122"/>
              <a:cs typeface="微软雅黑" panose="020B0503020204020204" pitchFamily="34" charset="-122"/>
            </a:endParaRPr>
          </a:p>
        </p:txBody>
      </p:sp>
      <p:sp>
        <p:nvSpPr>
          <p:cNvPr id="10" name="TextBox 1"/>
          <p:cNvSpPr txBox="1"/>
          <p:nvPr/>
        </p:nvSpPr>
        <p:spPr>
          <a:xfrm>
            <a:off x="11252200" y="6616700"/>
            <a:ext cx="114300" cy="228600"/>
          </a:xfrm>
          <a:prstGeom prst="rect">
            <a:avLst/>
          </a:prstGeom>
          <a:noFill/>
        </p:spPr>
        <p:txBody>
          <a:bodyPr wrap="none" lIns="0" tIns="0" rIns="0" rtlCol="0">
            <a:spAutoFit/>
          </a:bodyPr>
          <a:lstStyle/>
          <a:p>
            <a:pPr>
              <a:lnSpc>
                <a:spcPts val="1800"/>
              </a:lnSpc>
            </a:pPr>
            <a:r>
              <a:rPr lang="en-US" altLang="zh-CN" sz="1800" dirty="0" smtClean="0">
                <a:solidFill>
                  <a:srgbClr val="FFFFFF"/>
                </a:solidFill>
                <a:latin typeface="Calibri" panose="020F0502020204030204" pitchFamily="18" charset="0"/>
                <a:cs typeface="Calibri" panose="020F0502020204030204" pitchFamily="18" charset="0"/>
              </a:rPr>
              <a:t>5</a:t>
            </a:r>
            <a:endParaRPr lang="en-US" altLang="zh-CN" sz="1800" dirty="0" smtClean="0">
              <a:solidFill>
                <a:srgbClr val="FFFFFF"/>
              </a:solidFill>
              <a:latin typeface="Calibri" panose="020F0502020204030204" pitchFamily="18" charset="0"/>
              <a:cs typeface="Calibri" panose="020F0502020204030204" pitchFamily="18" charset="0"/>
            </a:endParaRPr>
          </a:p>
        </p:txBody>
      </p:sp>
      <p:sp>
        <p:nvSpPr>
          <p:cNvPr id="11" name="TextBox 1"/>
          <p:cNvSpPr txBox="1"/>
          <p:nvPr/>
        </p:nvSpPr>
        <p:spPr>
          <a:xfrm>
            <a:off x="10477500" y="6604000"/>
            <a:ext cx="101600" cy="203200"/>
          </a:xfrm>
          <a:prstGeom prst="rect">
            <a:avLst/>
          </a:prstGeom>
          <a:noFill/>
        </p:spPr>
        <p:txBody>
          <a:bodyPr wrap="none" lIns="0" tIns="0" rIns="0" rtlCol="0">
            <a:spAutoFit/>
          </a:bodyPr>
          <a:lstStyle/>
          <a:p>
            <a:pPr>
              <a:lnSpc>
                <a:spcPts val="1600"/>
              </a:lnSpc>
            </a:pPr>
            <a:r>
              <a:rPr lang="en-US" altLang="zh-CN" sz="1600" dirty="0" smtClean="0">
                <a:solidFill>
                  <a:srgbClr val="FFFFFF"/>
                </a:solidFill>
                <a:latin typeface="Calibri" panose="020F0502020204030204" pitchFamily="18" charset="0"/>
                <a:cs typeface="Calibri" panose="020F0502020204030204" pitchFamily="18" charset="0"/>
              </a:rPr>
              <a:t>5</a:t>
            </a:r>
            <a:endParaRPr lang="en-US" altLang="zh-CN" sz="1600" dirty="0" smtClean="0">
              <a:solidFill>
                <a:srgbClr val="FFFFFF"/>
              </a:solidFill>
              <a:latin typeface="Calibri" panose="020F0502020204030204" pitchFamily="18" charset="0"/>
              <a:cs typeface="Calibri" panose="020F05020202040302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4102" y="122664"/>
            <a:ext cx="10272890" cy="980728"/>
          </a:xfrm>
        </p:spPr>
        <p:txBody>
          <a:bodyPr/>
          <a:lstStyle/>
          <a:p>
            <a:r>
              <a:rPr lang="en-US" altLang="zh-CN" dirty="0" smtClean="0">
                <a:latin typeface="Cambria" panose="02040503050406030204" pitchFamily="18" charset="0"/>
                <a:ea typeface="Cambria" panose="02040503050406030204" pitchFamily="18" charset="0"/>
              </a:rPr>
              <a:t> </a:t>
            </a:r>
            <a:r>
              <a:rPr lang="zh-CN" altLang="en-US" dirty="0">
                <a:latin typeface="Cambria" panose="02040503050406030204" pitchFamily="18" charset="0"/>
              </a:rPr>
              <a:t>常见算法分类</a:t>
            </a:r>
            <a:endParaRPr lang="zh-CN" altLang="en-US" dirty="0">
              <a:latin typeface="Cambria" panose="02040503050406030204" pitchFamily="18" charset="0"/>
            </a:endParaRPr>
          </a:p>
        </p:txBody>
      </p:sp>
      <p:sp>
        <p:nvSpPr>
          <p:cNvPr id="3" name="内容占位符 2"/>
          <p:cNvSpPr>
            <a:spLocks noGrp="1"/>
          </p:cNvSpPr>
          <p:nvPr>
            <p:ph idx="1"/>
          </p:nvPr>
        </p:nvSpPr>
        <p:spPr>
          <a:xfrm>
            <a:off x="373534" y="977879"/>
            <a:ext cx="11324093" cy="3850600"/>
          </a:xfrm>
        </p:spPr>
        <p:txBody>
          <a:bodyPr>
            <a:noAutofit/>
          </a:bodyPr>
          <a:lstStyle/>
          <a:p>
            <a:pPr lvl="1">
              <a:lnSpc>
                <a:spcPct val="160000"/>
              </a:lnSpc>
              <a:spcBef>
                <a:spcPts val="0"/>
              </a:spcBef>
              <a:spcAft>
                <a:spcPts val="0"/>
              </a:spcAft>
              <a:buClr>
                <a:schemeClr val="accent4">
                  <a:lumMod val="75000"/>
                </a:schemeClr>
              </a:buClr>
              <a:buSzPct val="100000"/>
              <a:buFont typeface="Wingdings" panose="05000000000000000000" pitchFamily="2" charset="2"/>
              <a:buChar char="n"/>
            </a:pPr>
            <a:r>
              <a:rPr lang="zh-CN" altLang="zh-CN" sz="2000" dirty="0">
                <a:latin typeface="Cambria" panose="02040503050406030204" pitchFamily="18" charset="0"/>
              </a:rPr>
              <a:t>划分</a:t>
            </a:r>
            <a:r>
              <a:rPr lang="zh-CN" altLang="zh-CN" sz="2000" dirty="0" smtClean="0">
                <a:latin typeface="Cambria" panose="02040503050406030204" pitchFamily="18" charset="0"/>
              </a:rPr>
              <a:t>聚类</a:t>
            </a:r>
            <a:r>
              <a:rPr lang="zh-CN" altLang="en-US" sz="2000" dirty="0" smtClean="0">
                <a:latin typeface="Cambria" panose="02040503050406030204" pitchFamily="18" charset="0"/>
              </a:rPr>
              <a:t>：</a:t>
            </a:r>
            <a:r>
              <a:rPr lang="zh-CN" altLang="zh-CN" sz="2000" dirty="0" smtClean="0">
                <a:latin typeface="Cambria" panose="02040503050406030204" pitchFamily="18" charset="0"/>
              </a:rPr>
              <a:t>大部分</a:t>
            </a:r>
            <a:r>
              <a:rPr lang="zh-CN" altLang="zh-CN" sz="2000" dirty="0">
                <a:latin typeface="Cambria" panose="02040503050406030204" pitchFamily="18" charset="0"/>
              </a:rPr>
              <a:t>方法是基于距离的聚类算法</a:t>
            </a:r>
            <a:r>
              <a:rPr lang="zh-CN" altLang="zh-CN" sz="2000" dirty="0" smtClean="0">
                <a:latin typeface="Cambria" panose="02040503050406030204" pitchFamily="18" charset="0"/>
              </a:rPr>
              <a:t>。</a:t>
            </a:r>
            <a:r>
              <a:rPr lang="zh-CN" altLang="en-US" sz="2000" dirty="0" smtClean="0">
                <a:latin typeface="Cambria" panose="02040503050406030204" pitchFamily="18" charset="0"/>
              </a:rPr>
              <a:t>例如</a:t>
            </a:r>
            <a:r>
              <a:rPr lang="zh-CN" altLang="zh-CN" sz="2000" dirty="0" smtClean="0">
                <a:latin typeface="Cambria" panose="02040503050406030204" pitchFamily="18" charset="0"/>
              </a:rPr>
              <a:t>：</a:t>
            </a:r>
            <a:r>
              <a:rPr lang="en-US" altLang="zh-CN" sz="2000" i="1" dirty="0" smtClean="0">
                <a:latin typeface="Cambria" panose="02040503050406030204" pitchFamily="18" charset="0"/>
                <a:ea typeface="Cambria" panose="02040503050406030204" pitchFamily="18" charset="0"/>
              </a:rPr>
              <a:t>k</a:t>
            </a:r>
            <a:r>
              <a:rPr lang="en-US" altLang="zh-CN" sz="2000" dirty="0" smtClean="0">
                <a:latin typeface="Cambria" panose="02040503050406030204" pitchFamily="18" charset="0"/>
                <a:ea typeface="Cambria" panose="02040503050406030204" pitchFamily="18" charset="0"/>
              </a:rPr>
              <a:t>-MEANS</a:t>
            </a:r>
            <a:r>
              <a:rPr lang="zh-CN" altLang="zh-CN" sz="2000" dirty="0" smtClean="0">
                <a:latin typeface="Cambria" panose="02040503050406030204" pitchFamily="18" charset="0"/>
              </a:rPr>
              <a:t>、</a:t>
            </a:r>
            <a:r>
              <a:rPr lang="en-US" altLang="zh-CN" sz="2000" i="1" dirty="0" smtClean="0">
                <a:latin typeface="Cambria" panose="02040503050406030204" pitchFamily="18" charset="0"/>
                <a:ea typeface="Cambria" panose="02040503050406030204" pitchFamily="18" charset="0"/>
              </a:rPr>
              <a:t>k</a:t>
            </a:r>
            <a:r>
              <a:rPr lang="en-US" altLang="zh-CN" sz="2000" dirty="0" smtClean="0">
                <a:latin typeface="Cambria" panose="02040503050406030204" pitchFamily="18" charset="0"/>
                <a:ea typeface="Cambria" panose="02040503050406030204" pitchFamily="18" charset="0"/>
              </a:rPr>
              <a:t>-MEDOIDS</a:t>
            </a:r>
            <a:r>
              <a:rPr lang="zh-CN" altLang="zh-CN" sz="2000" dirty="0">
                <a:latin typeface="Cambria" panose="02040503050406030204" pitchFamily="18" charset="0"/>
              </a:rPr>
              <a:t>、</a:t>
            </a:r>
            <a:r>
              <a:rPr lang="en-US" altLang="zh-CN" sz="2000" dirty="0" smtClean="0">
                <a:latin typeface="Cambria" panose="02040503050406030204" pitchFamily="18" charset="0"/>
                <a:ea typeface="Cambria" panose="02040503050406030204" pitchFamily="18" charset="0"/>
              </a:rPr>
              <a:t>CLARANS</a:t>
            </a:r>
            <a:r>
              <a:rPr lang="zh-CN" altLang="en-US" sz="2000" dirty="0" smtClean="0">
                <a:latin typeface="Cambria" panose="02040503050406030204" pitchFamily="18" charset="0"/>
              </a:rPr>
              <a:t>等。</a:t>
            </a:r>
            <a:endParaRPr lang="en-US" altLang="zh-CN" sz="2000" dirty="0">
              <a:latin typeface="Cambria" panose="02040503050406030204" pitchFamily="18" charset="0"/>
              <a:ea typeface="Cambria" panose="02040503050406030204" pitchFamily="18" charset="0"/>
            </a:endParaRPr>
          </a:p>
          <a:p>
            <a:pPr lvl="1">
              <a:lnSpc>
                <a:spcPct val="160000"/>
              </a:lnSpc>
              <a:spcBef>
                <a:spcPts val="0"/>
              </a:spcBef>
              <a:spcAft>
                <a:spcPts val="0"/>
              </a:spcAft>
              <a:buClr>
                <a:schemeClr val="accent4">
                  <a:lumMod val="75000"/>
                </a:schemeClr>
              </a:buClr>
              <a:buSzPct val="100000"/>
              <a:buFont typeface="Wingdings" panose="05000000000000000000" pitchFamily="2" charset="2"/>
              <a:buChar char="n"/>
            </a:pPr>
            <a:r>
              <a:rPr lang="zh-CN" altLang="zh-CN" sz="2000" dirty="0" smtClean="0">
                <a:latin typeface="Cambria" panose="02040503050406030204" pitchFamily="18" charset="0"/>
              </a:rPr>
              <a:t>层次聚类</a:t>
            </a:r>
            <a:r>
              <a:rPr lang="zh-CN" altLang="en-US" sz="2000" dirty="0" smtClean="0">
                <a:latin typeface="Cambria" panose="02040503050406030204" pitchFamily="18" charset="0"/>
              </a:rPr>
              <a:t>：例如：</a:t>
            </a:r>
            <a:r>
              <a:rPr lang="en-US" altLang="zh-CN" sz="2000" dirty="0">
                <a:latin typeface="Cambria" panose="02040503050406030204" pitchFamily="18" charset="0"/>
                <a:ea typeface="Cambria" panose="02040503050406030204" pitchFamily="18" charset="0"/>
              </a:rPr>
              <a:t>BIRCH</a:t>
            </a:r>
            <a:r>
              <a:rPr lang="zh-CN" altLang="zh-CN" sz="2000" dirty="0">
                <a:latin typeface="Cambria" panose="02040503050406030204" pitchFamily="18" charset="0"/>
              </a:rPr>
              <a:t>、</a:t>
            </a:r>
            <a:r>
              <a:rPr lang="en-US" altLang="zh-CN" sz="2000" dirty="0">
                <a:latin typeface="Cambria" panose="02040503050406030204" pitchFamily="18" charset="0"/>
                <a:ea typeface="Cambria" panose="02040503050406030204" pitchFamily="18" charset="0"/>
              </a:rPr>
              <a:t>CURE</a:t>
            </a:r>
            <a:r>
              <a:rPr lang="zh-CN" altLang="zh-CN" sz="2000" dirty="0">
                <a:latin typeface="Cambria" panose="02040503050406030204" pitchFamily="18" charset="0"/>
              </a:rPr>
              <a:t>、</a:t>
            </a:r>
            <a:r>
              <a:rPr lang="en-US" altLang="zh-CN" sz="2000" dirty="0">
                <a:latin typeface="Cambria" panose="02040503050406030204" pitchFamily="18" charset="0"/>
                <a:ea typeface="Cambria" panose="02040503050406030204" pitchFamily="18" charset="0"/>
              </a:rPr>
              <a:t>CHAMELEON</a:t>
            </a:r>
            <a:r>
              <a:rPr lang="zh-CN" altLang="zh-CN" sz="2000" dirty="0">
                <a:latin typeface="Cambria" panose="02040503050406030204" pitchFamily="18" charset="0"/>
              </a:rPr>
              <a:t>等</a:t>
            </a:r>
            <a:r>
              <a:rPr lang="zh-CN" altLang="zh-CN" sz="2000" dirty="0" smtClean="0">
                <a:latin typeface="Cambria" panose="02040503050406030204" pitchFamily="18" charset="0"/>
              </a:rPr>
              <a:t>。</a:t>
            </a:r>
            <a:r>
              <a:rPr lang="zh-CN" altLang="zh-CN" sz="2000" dirty="0">
                <a:latin typeface="Cambria" panose="02040503050406030204" pitchFamily="18" charset="0"/>
              </a:rPr>
              <a:t>层次聚类可采用“自底向上”或“自顶向下”方案</a:t>
            </a:r>
            <a:r>
              <a:rPr lang="zh-CN" altLang="zh-CN" sz="2000" dirty="0" smtClean="0">
                <a:latin typeface="Cambria" panose="02040503050406030204" pitchFamily="18" charset="0"/>
              </a:rPr>
              <a:t>。</a:t>
            </a:r>
            <a:r>
              <a:rPr lang="zh-CN" altLang="zh-CN" sz="2000" dirty="0">
                <a:latin typeface="Cambria" panose="02040503050406030204" pitchFamily="18" charset="0"/>
              </a:rPr>
              <a:t>在“自底向上”方案中，初始时每一个数据纪录都被视作一个单独的簇，接着再把那些相互邻近的簇合并成一个新的簇，直到所有的记录都在一个簇或者满足某个终止条件为止。</a:t>
            </a:r>
            <a:endParaRPr lang="en-US" altLang="zh-CN" sz="2000" dirty="0" smtClean="0">
              <a:latin typeface="Cambria" panose="02040503050406030204" pitchFamily="18" charset="0"/>
              <a:ea typeface="Cambria" panose="02040503050406030204" pitchFamily="18" charset="0"/>
            </a:endParaRPr>
          </a:p>
          <a:p>
            <a:pPr lvl="1">
              <a:lnSpc>
                <a:spcPct val="160000"/>
              </a:lnSpc>
              <a:spcBef>
                <a:spcPts val="0"/>
              </a:spcBef>
              <a:spcAft>
                <a:spcPts val="0"/>
              </a:spcAft>
              <a:buClr>
                <a:schemeClr val="accent4">
                  <a:lumMod val="75000"/>
                </a:schemeClr>
              </a:buClr>
              <a:buSzPct val="100000"/>
              <a:buFont typeface="Wingdings" panose="05000000000000000000" pitchFamily="2" charset="2"/>
              <a:buChar char="n"/>
            </a:pPr>
            <a:r>
              <a:rPr lang="zh-CN" altLang="zh-CN" sz="2000" dirty="0">
                <a:latin typeface="Cambria" panose="02040503050406030204" pitchFamily="18" charset="0"/>
              </a:rPr>
              <a:t>密度</a:t>
            </a:r>
            <a:r>
              <a:rPr lang="zh-CN" altLang="zh-CN" sz="2000" dirty="0" smtClean="0">
                <a:latin typeface="Cambria" panose="02040503050406030204" pitchFamily="18" charset="0"/>
              </a:rPr>
              <a:t>聚类</a:t>
            </a:r>
            <a:r>
              <a:rPr lang="zh-CN" altLang="en-US" sz="2000" dirty="0" smtClean="0">
                <a:latin typeface="Cambria" panose="02040503050406030204" pitchFamily="18" charset="0"/>
              </a:rPr>
              <a:t>：</a:t>
            </a:r>
            <a:r>
              <a:rPr lang="zh-CN" altLang="zh-CN" sz="2000" dirty="0">
                <a:latin typeface="Cambria" panose="02040503050406030204" pitchFamily="18" charset="0"/>
              </a:rPr>
              <a:t>该方法是基于</a:t>
            </a:r>
            <a:r>
              <a:rPr lang="zh-CN" altLang="zh-CN" sz="2000" dirty="0" smtClean="0">
                <a:latin typeface="Cambria" panose="02040503050406030204" pitchFamily="18" charset="0"/>
              </a:rPr>
              <a:t>（</a:t>
            </a:r>
            <a:r>
              <a:rPr lang="zh-CN" altLang="en-US" sz="2000" dirty="0" smtClean="0">
                <a:latin typeface="Cambria" panose="02040503050406030204" pitchFamily="18" charset="0"/>
              </a:rPr>
              <a:t>结点</a:t>
            </a:r>
            <a:r>
              <a:rPr lang="zh-CN" altLang="zh-CN" sz="2000" dirty="0" smtClean="0">
                <a:latin typeface="Cambria" panose="02040503050406030204" pitchFamily="18" charset="0"/>
              </a:rPr>
              <a:t>）</a:t>
            </a:r>
            <a:r>
              <a:rPr lang="zh-CN" altLang="zh-CN" sz="2000" dirty="0">
                <a:latin typeface="Cambria" panose="02040503050406030204" pitchFamily="18" charset="0"/>
              </a:rPr>
              <a:t>密度的聚类算法，主要算法有：</a:t>
            </a:r>
            <a:r>
              <a:rPr lang="en-US" altLang="zh-CN" sz="2000" dirty="0">
                <a:latin typeface="Cambria" panose="02040503050406030204" pitchFamily="18" charset="0"/>
                <a:ea typeface="Cambria" panose="02040503050406030204" pitchFamily="18" charset="0"/>
              </a:rPr>
              <a:t>DBSCAN</a:t>
            </a:r>
            <a:r>
              <a:rPr lang="zh-CN" altLang="zh-CN" sz="2000" dirty="0">
                <a:latin typeface="Cambria" panose="02040503050406030204" pitchFamily="18" charset="0"/>
              </a:rPr>
              <a:t>、</a:t>
            </a:r>
            <a:r>
              <a:rPr lang="en-US" altLang="zh-CN" sz="2000" dirty="0">
                <a:latin typeface="Cambria" panose="02040503050406030204" pitchFamily="18" charset="0"/>
                <a:ea typeface="Cambria" panose="02040503050406030204" pitchFamily="18" charset="0"/>
              </a:rPr>
              <a:t>OPTICS</a:t>
            </a:r>
            <a:r>
              <a:rPr lang="zh-CN" altLang="zh-CN" sz="2000" dirty="0">
                <a:latin typeface="Cambria" panose="02040503050406030204" pitchFamily="18" charset="0"/>
              </a:rPr>
              <a:t>、</a:t>
            </a:r>
            <a:r>
              <a:rPr lang="en-US" altLang="zh-CN" sz="2000" dirty="0">
                <a:latin typeface="Cambria" panose="02040503050406030204" pitchFamily="18" charset="0"/>
                <a:ea typeface="Cambria" panose="02040503050406030204" pitchFamily="18" charset="0"/>
              </a:rPr>
              <a:t>DENCLUE</a:t>
            </a:r>
            <a:r>
              <a:rPr lang="zh-CN" altLang="zh-CN" sz="2000" dirty="0">
                <a:latin typeface="Cambria" panose="02040503050406030204" pitchFamily="18" charset="0"/>
              </a:rPr>
              <a:t>等。只要一个区域中的点的密度大过某个阀值，就把它加到与之相近的聚类中</a:t>
            </a:r>
            <a:r>
              <a:rPr lang="zh-CN" altLang="zh-CN" sz="2000" dirty="0" smtClean="0">
                <a:latin typeface="Cambria" panose="02040503050406030204" pitchFamily="18" charset="0"/>
              </a:rPr>
              <a:t>去</a:t>
            </a:r>
            <a:r>
              <a:rPr lang="zh-CN" altLang="en-US" sz="2000" dirty="0" smtClean="0">
                <a:latin typeface="Cambria" panose="02040503050406030204" pitchFamily="18" charset="0"/>
              </a:rPr>
              <a:t>。</a:t>
            </a:r>
            <a:endParaRPr lang="en-US" altLang="zh-CN" sz="2000" dirty="0" smtClean="0">
              <a:latin typeface="Cambria" panose="02040503050406030204" pitchFamily="18" charset="0"/>
              <a:ea typeface="Cambria" panose="02040503050406030204" pitchFamily="18" charset="0"/>
            </a:endParaRPr>
          </a:p>
          <a:p>
            <a:pPr lvl="1">
              <a:lnSpc>
                <a:spcPct val="160000"/>
              </a:lnSpc>
              <a:spcBef>
                <a:spcPts val="0"/>
              </a:spcBef>
              <a:spcAft>
                <a:spcPts val="0"/>
              </a:spcAft>
              <a:buClr>
                <a:schemeClr val="accent4">
                  <a:lumMod val="75000"/>
                </a:schemeClr>
              </a:buClr>
              <a:buSzPct val="100000"/>
              <a:buFont typeface="Wingdings" panose="05000000000000000000" pitchFamily="2" charset="2"/>
              <a:buChar char="n"/>
            </a:pPr>
            <a:r>
              <a:rPr lang="zh-CN" altLang="zh-CN" sz="2000" dirty="0">
                <a:latin typeface="Cambria" panose="02040503050406030204" pitchFamily="18" charset="0"/>
              </a:rPr>
              <a:t>网格</a:t>
            </a:r>
            <a:r>
              <a:rPr lang="zh-CN" altLang="zh-CN" sz="2000" dirty="0" smtClean="0">
                <a:latin typeface="Cambria" panose="02040503050406030204" pitchFamily="18" charset="0"/>
              </a:rPr>
              <a:t>聚类</a:t>
            </a:r>
            <a:r>
              <a:rPr lang="zh-CN" altLang="en-US" sz="2000" dirty="0" smtClean="0">
                <a:latin typeface="Cambria" panose="02040503050406030204" pitchFamily="18" charset="0"/>
              </a:rPr>
              <a:t>：</a:t>
            </a:r>
            <a:r>
              <a:rPr lang="zh-CN" altLang="zh-CN" sz="2000" dirty="0">
                <a:latin typeface="Cambria" panose="02040503050406030204" pitchFamily="18" charset="0"/>
              </a:rPr>
              <a:t>主要算法有：</a:t>
            </a:r>
            <a:r>
              <a:rPr lang="en-US" altLang="zh-CN" sz="2000" dirty="0">
                <a:latin typeface="Cambria" panose="02040503050406030204" pitchFamily="18" charset="0"/>
                <a:ea typeface="Cambria" panose="02040503050406030204" pitchFamily="18" charset="0"/>
              </a:rPr>
              <a:t>STING</a:t>
            </a:r>
            <a:r>
              <a:rPr lang="zh-CN" altLang="zh-CN" sz="2000" dirty="0">
                <a:latin typeface="Cambria" panose="02040503050406030204" pitchFamily="18" charset="0"/>
              </a:rPr>
              <a:t>、</a:t>
            </a:r>
            <a:r>
              <a:rPr lang="en-US" altLang="zh-CN" sz="2000" dirty="0">
                <a:latin typeface="Cambria" panose="02040503050406030204" pitchFamily="18" charset="0"/>
                <a:ea typeface="Cambria" panose="02040503050406030204" pitchFamily="18" charset="0"/>
              </a:rPr>
              <a:t>CLIQUE</a:t>
            </a:r>
            <a:r>
              <a:rPr lang="zh-CN" altLang="zh-CN" sz="2000" dirty="0">
                <a:latin typeface="Cambria" panose="02040503050406030204" pitchFamily="18" charset="0"/>
              </a:rPr>
              <a:t>、</a:t>
            </a:r>
            <a:r>
              <a:rPr lang="en-US" altLang="zh-CN" sz="2000" dirty="0">
                <a:latin typeface="Cambria" panose="02040503050406030204" pitchFamily="18" charset="0"/>
                <a:ea typeface="Cambria" panose="02040503050406030204" pitchFamily="18" charset="0"/>
              </a:rPr>
              <a:t>WAVE-CLUSTER</a:t>
            </a:r>
            <a:r>
              <a:rPr lang="zh-CN" altLang="zh-CN" sz="2000" dirty="0">
                <a:latin typeface="Cambria" panose="02040503050406030204" pitchFamily="18" charset="0"/>
              </a:rPr>
              <a:t>。将数据空间按某种特征（属性）划分成网格，聚类处理以网格（单元）为基本单位。</a:t>
            </a:r>
            <a:endParaRPr lang="en-US" altLang="zh-CN" sz="2000" dirty="0">
              <a:latin typeface="Cambria" panose="02040503050406030204" pitchFamily="18" charset="0"/>
              <a:ea typeface="Cambria" panose="02040503050406030204" pitchFamily="18" charset="0"/>
            </a:endParaRPr>
          </a:p>
        </p:txBody>
      </p:sp>
      <p:sp>
        <p:nvSpPr>
          <p:cNvPr id="6" name="矩形 5"/>
          <p:cNvSpPr/>
          <p:nvPr/>
        </p:nvSpPr>
        <p:spPr>
          <a:xfrm>
            <a:off x="895814" y="5030310"/>
            <a:ext cx="10824117" cy="830997"/>
          </a:xfrm>
          <a:prstGeom prst="rect">
            <a:avLst/>
          </a:prstGeom>
        </p:spPr>
        <p:txBody>
          <a:bodyPr wrap="square">
            <a:spAutoFit/>
          </a:bodyPr>
          <a:lstStyle/>
          <a:p>
            <a:r>
              <a:rPr lang="zh-CN" altLang="en-US" sz="2400" dirty="0">
                <a:solidFill>
                  <a:schemeClr val="accent1">
                    <a:lumMod val="75000"/>
                  </a:schemeClr>
                </a:solidFill>
              </a:rPr>
              <a:t>需要说明的是，这些算法本身无所谓优劣，而最终运用于数据的效果却存在好坏差异，这在很大程度上取决于数据使用者对于算法的选择是否得当。</a:t>
            </a:r>
            <a:endParaRPr lang="zh-CN" altLang="en-US" sz="2400"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4928" y="255905"/>
            <a:ext cx="10272890" cy="980728"/>
          </a:xfrm>
        </p:spPr>
        <p:txBody>
          <a:bodyPr/>
          <a:lstStyle/>
          <a:p>
            <a:r>
              <a:rPr lang="zh-CN" altLang="zh-CN" dirty="0">
                <a:latin typeface="Cambria" panose="02040503050406030204" pitchFamily="18" charset="0"/>
              </a:rPr>
              <a:t>聚类算法中存在的问题</a:t>
            </a:r>
            <a:endParaRPr lang="zh-CN" altLang="en-US" dirty="0">
              <a:latin typeface="Cambria" panose="02040503050406030204" pitchFamily="18" charset="0"/>
            </a:endParaRPr>
          </a:p>
        </p:txBody>
      </p:sp>
      <p:sp>
        <p:nvSpPr>
          <p:cNvPr id="3" name="内容占位符 2"/>
          <p:cNvSpPr>
            <a:spLocks noGrp="1"/>
          </p:cNvSpPr>
          <p:nvPr>
            <p:ph idx="1"/>
          </p:nvPr>
        </p:nvSpPr>
        <p:spPr>
          <a:xfrm>
            <a:off x="395250" y="861265"/>
            <a:ext cx="11291227" cy="3168352"/>
          </a:xfrm>
        </p:spPr>
        <p:txBody>
          <a:bodyPr>
            <a:normAutofit/>
          </a:bodyPr>
          <a:lstStyle/>
          <a:p>
            <a:pPr>
              <a:lnSpc>
                <a:spcPct val="160000"/>
              </a:lnSpc>
              <a:spcBef>
                <a:spcPts val="0"/>
              </a:spcBef>
              <a:spcAft>
                <a:spcPts val="0"/>
              </a:spcAft>
            </a:pPr>
            <a:r>
              <a:rPr lang="zh-CN" altLang="zh-CN" dirty="0" smtClean="0">
                <a:latin typeface="Cambria" panose="02040503050406030204" pitchFamily="18" charset="0"/>
              </a:rPr>
              <a:t>高</a:t>
            </a:r>
            <a:r>
              <a:rPr lang="zh-CN" altLang="zh-CN" dirty="0">
                <a:latin typeface="Cambria" panose="02040503050406030204" pitchFamily="18" charset="0"/>
              </a:rPr>
              <a:t>维数据集中存在大量无关的属性</a:t>
            </a:r>
            <a:r>
              <a:rPr lang="zh-CN" altLang="zh-CN" dirty="0" smtClean="0">
                <a:latin typeface="Cambria" panose="02040503050406030204" pitchFamily="18" charset="0"/>
              </a:rPr>
              <a:t>，所有</a:t>
            </a:r>
            <a:r>
              <a:rPr lang="zh-CN" altLang="zh-CN" dirty="0">
                <a:latin typeface="Cambria" panose="02040503050406030204" pitchFamily="18" charset="0"/>
              </a:rPr>
              <a:t>维中存在簇的可能性几乎为零；</a:t>
            </a:r>
            <a:endParaRPr lang="zh-CN" altLang="zh-CN" dirty="0">
              <a:latin typeface="Cambria" panose="02040503050406030204" pitchFamily="18" charset="0"/>
            </a:endParaRPr>
          </a:p>
          <a:p>
            <a:pPr>
              <a:lnSpc>
                <a:spcPct val="160000"/>
              </a:lnSpc>
              <a:spcBef>
                <a:spcPts val="0"/>
              </a:spcBef>
              <a:spcAft>
                <a:spcPts val="0"/>
              </a:spcAft>
            </a:pPr>
            <a:r>
              <a:rPr lang="zh-CN" altLang="zh-CN" dirty="0" smtClean="0">
                <a:latin typeface="Cambria" panose="02040503050406030204" pitchFamily="18" charset="0"/>
              </a:rPr>
              <a:t>高</a:t>
            </a:r>
            <a:r>
              <a:rPr lang="zh-CN" altLang="zh-CN" dirty="0">
                <a:latin typeface="Cambria" panose="02040503050406030204" pitchFamily="18" charset="0"/>
              </a:rPr>
              <a:t>维空间中数据较低维空间中数据分布稀疏，其中数据间距离几乎相等是普遍现象，而传统聚类方法是基于距离进行聚类的，因此在高维空间中无法基于距离来构建簇。</a:t>
            </a:r>
            <a:endParaRPr lang="zh-CN" altLang="zh-CN" dirty="0">
              <a:latin typeface="Cambria" panose="02040503050406030204" pitchFamily="18" charset="0"/>
            </a:endParaRPr>
          </a:p>
          <a:p>
            <a:pPr>
              <a:lnSpc>
                <a:spcPct val="160000"/>
              </a:lnSpc>
              <a:spcBef>
                <a:spcPts val="0"/>
              </a:spcBef>
              <a:spcAft>
                <a:spcPts val="0"/>
              </a:spcAft>
            </a:pPr>
            <a:r>
              <a:rPr lang="zh-CN" altLang="zh-CN" dirty="0">
                <a:latin typeface="Cambria" panose="02040503050406030204" pitchFamily="18" charset="0"/>
              </a:rPr>
              <a:t>高维聚类分析已成为聚类分析的一个重要研究方向，也是聚类技术的难点</a:t>
            </a:r>
            <a:r>
              <a:rPr lang="zh-CN" altLang="zh-CN" dirty="0" smtClean="0">
                <a:latin typeface="Cambria" panose="02040503050406030204" pitchFamily="18" charset="0"/>
              </a:rPr>
              <a:t>。数据</a:t>
            </a:r>
            <a:r>
              <a:rPr lang="zh-CN" altLang="zh-CN" dirty="0">
                <a:latin typeface="Cambria" panose="02040503050406030204" pitchFamily="18" charset="0"/>
              </a:rPr>
              <a:t>收集变得越来越容易，导致数据库规模越来越大、复杂性越来越高，如各种类型的贸易交易数据、</a:t>
            </a:r>
            <a:r>
              <a:rPr lang="en-US" altLang="zh-CN" dirty="0">
                <a:latin typeface="Cambria" panose="02040503050406030204" pitchFamily="18" charset="0"/>
                <a:ea typeface="Cambria" panose="02040503050406030204" pitchFamily="18" charset="0"/>
              </a:rPr>
              <a:t>Web</a:t>
            </a:r>
            <a:r>
              <a:rPr lang="zh-CN" altLang="zh-CN" dirty="0">
                <a:latin typeface="Cambria" panose="02040503050406030204" pitchFamily="18" charset="0"/>
              </a:rPr>
              <a:t>文档、基因表达数据等，它们的维度（属性）通常可以达到成百上千维，甚至更高</a:t>
            </a:r>
            <a:r>
              <a:rPr lang="zh-CN" altLang="zh-CN" dirty="0" smtClean="0">
                <a:latin typeface="Cambria" panose="02040503050406030204" pitchFamily="18" charset="0"/>
              </a:rPr>
              <a:t>。</a:t>
            </a:r>
            <a:endParaRPr lang="en-US" altLang="zh-CN" sz="4400" dirty="0">
              <a:latin typeface="Cambria" panose="02040503050406030204" pitchFamily="18" charset="0"/>
              <a:ea typeface="Cambria" panose="02040503050406030204" pitchFamily="18" charset="0"/>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14004" y="3933056"/>
            <a:ext cx="3722260" cy="2410434"/>
          </a:xfrm>
          <a:prstGeom prst="rect">
            <a:avLst/>
          </a:prstGeom>
        </p:spPr>
      </p:pic>
      <p:pic>
        <p:nvPicPr>
          <p:cNvPr id="6" name="图片 5"/>
          <p:cNvPicPr>
            <a:picLocks noChangeAspect="1"/>
          </p:cNvPicPr>
          <p:nvPr/>
        </p:nvPicPr>
        <p:blipFill>
          <a:blip r:embed="rId2"/>
          <a:stretch>
            <a:fillRect/>
          </a:stretch>
        </p:blipFill>
        <p:spPr>
          <a:xfrm>
            <a:off x="2928496" y="4260406"/>
            <a:ext cx="4111988" cy="2083084"/>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smtClean="0">
                  <a:solidFill>
                    <a:srgbClr val="009999"/>
                  </a:solidFill>
                  <a:latin typeface="Century Gothic" panose="020B0502020202020204" pitchFamily="34" charset="0"/>
                  <a:cs typeface="+mn-ea"/>
                  <a:sym typeface="+mn-lt"/>
                </a:rPr>
                <a:t>02</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smtClean="0">
                <a:solidFill>
                  <a:srgbClr val="009999"/>
                </a:solidFill>
                <a:latin typeface="Noto Sans S Chinese Medium" panose="020B0600000000000000" pitchFamily="34" charset="-122"/>
                <a:ea typeface="Noto Sans S Chinese Medium" panose="020B0600000000000000" pitchFamily="34" charset="-122"/>
              </a:rPr>
              <a:t>距离度量</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1097999" y="994304"/>
            <a:ext cx="10202355" cy="5422537"/>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latin typeface="Cambria" panose="02040503050406030204" pitchFamily="18" charset="0"/>
              </a:rPr>
              <a:t>距离计算</a:t>
            </a:r>
            <a:endParaRPr lang="zh-CN" altLang="en-US" dirty="0">
              <a:latin typeface="Cambria" panose="02040503050406030204" pitchFamily="18" charset="0"/>
            </a:endParaRPr>
          </a:p>
        </p:txBody>
      </p:sp>
      <p:sp>
        <p:nvSpPr>
          <p:cNvPr id="3" name="内容占位符 2"/>
          <p:cNvSpPr>
            <a:spLocks noGrp="1"/>
          </p:cNvSpPr>
          <p:nvPr>
            <p:ph idx="1"/>
          </p:nvPr>
        </p:nvSpPr>
        <p:spPr>
          <a:xfrm>
            <a:off x="952813" y="785698"/>
            <a:ext cx="10272890" cy="1728192"/>
          </a:xfrm>
        </p:spPr>
        <p:txBody>
          <a:bodyPr>
            <a:normAutofit/>
          </a:bodyPr>
          <a:lstStyle/>
          <a:p>
            <a:pPr>
              <a:lnSpc>
                <a:spcPct val="150000"/>
              </a:lnSpc>
            </a:pPr>
            <a:r>
              <a:rPr lang="zh-CN" altLang="zh-CN" dirty="0">
                <a:latin typeface="Cambria" panose="02040503050406030204" pitchFamily="18" charset="0"/>
              </a:rPr>
              <a:t>大多数聚类分析是以相似性计算为基础的，同一个聚类中的个体模式相似，不在同一聚类中的个体模式则相异。目前，相似性距离的计算都是基于向量的，也就是计算两个向量的距离，距离越近相似度越大。下面，我们介绍几种常见的距离</a:t>
            </a:r>
            <a:r>
              <a:rPr lang="zh-CN" altLang="zh-CN" dirty="0" smtClean="0">
                <a:latin typeface="Cambria" panose="02040503050406030204" pitchFamily="18" charset="0"/>
              </a:rPr>
              <a:t>计算方法</a:t>
            </a:r>
            <a:r>
              <a:rPr lang="zh-CN" altLang="en-US" dirty="0" smtClean="0">
                <a:latin typeface="Cambria" panose="02040503050406030204" pitchFamily="18" charset="0"/>
              </a:rPr>
              <a:t>。</a:t>
            </a:r>
            <a:endParaRPr lang="en-US" altLang="zh-CN" sz="4400" dirty="0">
              <a:latin typeface="Cambria" panose="02040503050406030204" pitchFamily="18" charset="0"/>
              <a:ea typeface="Cambria" panose="02040503050406030204" pitchFamily="18" charset="0"/>
            </a:endParaRPr>
          </a:p>
        </p:txBody>
      </p:sp>
      <p:sp>
        <p:nvSpPr>
          <p:cNvPr id="5" name="内容占位符 3"/>
          <p:cNvSpPr txBox="1"/>
          <p:nvPr/>
        </p:nvSpPr>
        <p:spPr>
          <a:xfrm>
            <a:off x="1044363" y="2513890"/>
            <a:ext cx="4874388"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dirty="0" smtClean="0">
                <a:latin typeface="Cambria" panose="02040503050406030204" pitchFamily="18" charset="0"/>
                <a:ea typeface="Cambria" panose="02040503050406030204" pitchFamily="18" charset="0"/>
              </a:rPr>
              <a:t>2.1 </a:t>
            </a:r>
            <a:r>
              <a:rPr lang="zh-CN" altLang="zh-CN" dirty="0" smtClean="0">
                <a:latin typeface="Cambria" panose="02040503050406030204" pitchFamily="18" charset="0"/>
              </a:rPr>
              <a:t>闵可夫</a:t>
            </a:r>
            <a:r>
              <a:rPr lang="zh-CN" altLang="zh-CN" dirty="0">
                <a:latin typeface="Cambria" panose="02040503050406030204" pitchFamily="18" charset="0"/>
              </a:rPr>
              <a:t>斯基</a:t>
            </a:r>
            <a:r>
              <a:rPr lang="zh-CN" altLang="zh-CN" dirty="0" smtClean="0">
                <a:latin typeface="Cambria" panose="02040503050406030204" pitchFamily="18" charset="0"/>
              </a:rPr>
              <a:t>距离</a:t>
            </a:r>
            <a:endParaRPr lang="zh-CN" altLang="en-US" dirty="0">
              <a:latin typeface="Cambria" panose="02040503050406030204" pitchFamily="18" charset="0"/>
            </a:endParaRPr>
          </a:p>
        </p:txBody>
      </p:sp>
      <p:sp>
        <p:nvSpPr>
          <p:cNvPr id="7" name="内容占位符 2"/>
          <p:cNvSpPr>
            <a:spLocks noGrp="1"/>
          </p:cNvSpPr>
          <p:nvPr>
            <p:ph idx="1"/>
          </p:nvPr>
        </p:nvSpPr>
        <p:spPr>
          <a:xfrm>
            <a:off x="1306729" y="3084344"/>
            <a:ext cx="10272890" cy="1493775"/>
          </a:xfrm>
        </p:spPr>
        <p:txBody>
          <a:bodyPr>
            <a:normAutofit/>
          </a:bodyPr>
          <a:lstStyle/>
          <a:p>
            <a:pPr>
              <a:lnSpc>
                <a:spcPct val="150000"/>
              </a:lnSpc>
            </a:pPr>
            <a:r>
              <a:rPr lang="zh-CN" altLang="en-US" dirty="0">
                <a:latin typeface="Cambria" panose="02040503050406030204" pitchFamily="18" charset="0"/>
              </a:rPr>
              <a:t>闵可夫斯基距离（</a:t>
            </a:r>
            <a:r>
              <a:rPr lang="en-US" altLang="zh-CN" dirty="0" err="1">
                <a:latin typeface="Cambria" panose="02040503050406030204" pitchFamily="18" charset="0"/>
                <a:ea typeface="Cambria" panose="02040503050406030204" pitchFamily="18" charset="0"/>
              </a:rPr>
              <a:t>Minkowski</a:t>
            </a:r>
            <a:r>
              <a:rPr lang="en-US" altLang="zh-CN" dirty="0">
                <a:latin typeface="Cambria" panose="02040503050406030204" pitchFamily="18" charset="0"/>
                <a:ea typeface="Cambria" panose="02040503050406030204" pitchFamily="18" charset="0"/>
              </a:rPr>
              <a:t> </a:t>
            </a:r>
            <a:r>
              <a:rPr lang="en-US" altLang="zh-CN" dirty="0" smtClean="0">
                <a:latin typeface="Cambria" panose="02040503050406030204" pitchFamily="18" charset="0"/>
                <a:ea typeface="Cambria" panose="02040503050406030204" pitchFamily="18" charset="0"/>
              </a:rPr>
              <a:t>Distance</a:t>
            </a:r>
            <a:r>
              <a:rPr lang="zh-CN" altLang="en-US" dirty="0">
                <a:latin typeface="Cambria" panose="02040503050406030204" pitchFamily="18" charset="0"/>
              </a:rPr>
              <a:t>）是一种常见的方法，用于衡量数值点之间距离。</a:t>
            </a:r>
            <a:r>
              <a:rPr lang="zh-CN" altLang="en-US" dirty="0" smtClean="0">
                <a:latin typeface="Cambria" panose="02040503050406030204" pitchFamily="18" charset="0"/>
              </a:rPr>
              <a:t>假设                                           ，                           </a:t>
            </a:r>
            <a:r>
              <a:rPr lang="zh-CN" altLang="en-US" dirty="0" smtClean="0">
                <a:latin typeface="Cambria" panose="02040503050406030204" pitchFamily="18" charset="0"/>
              </a:rPr>
              <a:t> 是</a:t>
            </a:r>
            <a:r>
              <a:rPr lang="en-US" altLang="zh-CN" i="1" dirty="0">
                <a:latin typeface="Cambria" panose="02040503050406030204" pitchFamily="18" charset="0"/>
                <a:ea typeface="Cambria" panose="02040503050406030204" pitchFamily="18" charset="0"/>
              </a:rPr>
              <a:t>n</a:t>
            </a:r>
            <a:r>
              <a:rPr lang="en-US" altLang="zh-CN" dirty="0">
                <a:latin typeface="Cambria" panose="02040503050406030204" pitchFamily="18" charset="0"/>
                <a:ea typeface="Cambria" panose="02040503050406030204" pitchFamily="18" charset="0"/>
              </a:rPr>
              <a:t> </a:t>
            </a:r>
            <a:r>
              <a:rPr lang="zh-CN" altLang="en-US" dirty="0">
                <a:latin typeface="Cambria" panose="02040503050406030204" pitchFamily="18" charset="0"/>
              </a:rPr>
              <a:t>维空间的两个向量，那么，闵可夫斯基距离定义为：</a:t>
            </a:r>
            <a:endParaRPr lang="en-US" altLang="zh-CN" sz="4400" dirty="0">
              <a:latin typeface="Cambria" panose="02040503050406030204" pitchFamily="18" charset="0"/>
              <a:ea typeface="Cambria" panose="02040503050406030204" pitchFamily="18" charset="0"/>
            </a:endParaRPr>
          </a:p>
        </p:txBody>
      </p:sp>
      <p:graphicFrame>
        <p:nvGraphicFramePr>
          <p:cNvPr id="14" name="对象 13"/>
          <p:cNvGraphicFramePr>
            <a:graphicFrameLocks noChangeAspect="1"/>
          </p:cNvGraphicFramePr>
          <p:nvPr/>
        </p:nvGraphicFramePr>
        <p:xfrm>
          <a:off x="2184781" y="3762375"/>
          <a:ext cx="2273935" cy="278765"/>
        </p:xfrm>
        <a:graphic>
          <a:graphicData uri="http://schemas.openxmlformats.org/presentationml/2006/ole">
            <mc:AlternateContent xmlns:mc="http://schemas.openxmlformats.org/markup-compatibility/2006">
              <mc:Choice xmlns:v="urn:schemas-microsoft-com:vml" Requires="v">
                <p:oleObj spid="_x0000_s1064" name="Equation" r:id="rId1" imgW="37795200" imgH="8534400" progId="Equation.DSMT4">
                  <p:embed/>
                </p:oleObj>
              </mc:Choice>
              <mc:Fallback>
                <p:oleObj name="Equation" r:id="rId1" imgW="37795200" imgH="8534400" progId="Equation.DSMT4">
                  <p:embed/>
                  <p:pic>
                    <p:nvPicPr>
                      <p:cNvPr id="0" name="图片 1025"/>
                      <p:cNvPicPr>
                        <a:picLocks noChangeAspect="1" noChangeArrowheads="1"/>
                      </p:cNvPicPr>
                      <p:nvPr/>
                    </p:nvPicPr>
                    <p:blipFill>
                      <a:blip r:embed="rId2"/>
                      <a:srcRect/>
                      <a:stretch>
                        <a:fillRect/>
                      </a:stretch>
                    </p:blipFill>
                    <p:spPr bwMode="auto">
                      <a:xfrm>
                        <a:off x="2184781" y="3762375"/>
                        <a:ext cx="2273935" cy="278765"/>
                      </a:xfrm>
                      <a:prstGeom prst="rect">
                        <a:avLst/>
                      </a:prstGeom>
                      <a:noFill/>
                    </p:spPr>
                  </p:pic>
                </p:oleObj>
              </mc:Fallback>
            </mc:AlternateContent>
          </a:graphicData>
        </a:graphic>
      </p:graphicFrame>
      <p:sp>
        <p:nvSpPr>
          <p:cNvPr id="15" name="Rectangle 9"/>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p:graphicFrame>
        <p:nvGraphicFramePr>
          <p:cNvPr id="16" name="对象 15"/>
          <p:cNvGraphicFramePr>
            <a:graphicFrameLocks noChangeAspect="1"/>
          </p:cNvGraphicFramePr>
          <p:nvPr/>
        </p:nvGraphicFramePr>
        <p:xfrm>
          <a:off x="4705096" y="3747770"/>
          <a:ext cx="1717675" cy="299085"/>
        </p:xfrm>
        <a:graphic>
          <a:graphicData uri="http://schemas.openxmlformats.org/presentationml/2006/ole">
            <mc:AlternateContent xmlns:mc="http://schemas.openxmlformats.org/markup-compatibility/2006">
              <mc:Choice xmlns:v="urn:schemas-microsoft-com:vml" Requires="v">
                <p:oleObj spid="_x0000_s1065" name="Equation" r:id="rId3" imgW="39014400" imgH="8534400" progId="Equation.DSMT4">
                  <p:embed/>
                </p:oleObj>
              </mc:Choice>
              <mc:Fallback>
                <p:oleObj name="Equation" r:id="rId3" imgW="39014400" imgH="8534400" progId="Equation.DSMT4">
                  <p:embed/>
                  <p:pic>
                    <p:nvPicPr>
                      <p:cNvPr id="0" name="图片 1026"/>
                      <p:cNvPicPr>
                        <a:picLocks noChangeAspect="1" noChangeArrowheads="1"/>
                      </p:cNvPicPr>
                      <p:nvPr/>
                    </p:nvPicPr>
                    <p:blipFill>
                      <a:blip r:embed="rId4"/>
                      <a:srcRect/>
                      <a:stretch>
                        <a:fillRect/>
                      </a:stretch>
                    </p:blipFill>
                    <p:spPr bwMode="auto">
                      <a:xfrm>
                        <a:off x="4705096" y="3747770"/>
                        <a:ext cx="1717675" cy="2990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1"/>
          <p:cNvSpPr>
            <a:spLocks noChangeArrowheads="1"/>
          </p:cNvSpPr>
          <p:nvPr/>
        </p:nvSpPr>
        <p:spPr bwMode="auto">
          <a:xfrm>
            <a:off x="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p:graphicFrame>
        <p:nvGraphicFramePr>
          <p:cNvPr id="18" name="对象 17"/>
          <p:cNvGraphicFramePr>
            <a:graphicFrameLocks noChangeAspect="1"/>
          </p:cNvGraphicFramePr>
          <p:nvPr/>
        </p:nvGraphicFramePr>
        <p:xfrm>
          <a:off x="4097632" y="4522588"/>
          <a:ext cx="4431262" cy="656653"/>
        </p:xfrm>
        <a:graphic>
          <a:graphicData uri="http://schemas.openxmlformats.org/presentationml/2006/ole">
            <mc:AlternateContent xmlns:mc="http://schemas.openxmlformats.org/markup-compatibility/2006">
              <mc:Choice xmlns:v="urn:schemas-microsoft-com:vml" Requires="v">
                <p:oleObj spid="_x0000_s1066" name="Equation" r:id="rId5" imgW="73761600" imgH="13411200" progId="Equation.DSMT4">
                  <p:embed/>
                </p:oleObj>
              </mc:Choice>
              <mc:Fallback>
                <p:oleObj name="Equation" r:id="rId5" imgW="73761600" imgH="13411200" progId="Equation.DSMT4">
                  <p:embed/>
                  <p:pic>
                    <p:nvPicPr>
                      <p:cNvPr id="0" name="图片 1027"/>
                      <p:cNvPicPr>
                        <a:picLocks noChangeAspect="1" noChangeArrowheads="1"/>
                      </p:cNvPicPr>
                      <p:nvPr/>
                    </p:nvPicPr>
                    <p:blipFill>
                      <a:blip r:embed="rId6"/>
                      <a:srcRect/>
                      <a:stretch>
                        <a:fillRect/>
                      </a:stretch>
                    </p:blipFill>
                    <p:spPr bwMode="auto">
                      <a:xfrm>
                        <a:off x="4097632" y="4522588"/>
                        <a:ext cx="4431262" cy="656653"/>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19" name="内容占位符 2"/>
              <p:cNvSpPr>
                <a:spLocks noGrp="1"/>
              </p:cNvSpPr>
              <p:nvPr>
                <p:ph idx="1"/>
              </p:nvPr>
            </p:nvSpPr>
            <p:spPr>
              <a:xfrm>
                <a:off x="1306729" y="5290080"/>
                <a:ext cx="10272890" cy="919959"/>
              </a:xfrm>
            </p:spPr>
            <p:txBody>
              <a:bodyPr>
                <a:normAutofit fontScale="92500" lnSpcReduction="10000"/>
              </a:bodyPr>
              <a:lstStyle/>
              <a:p>
                <a:pPr>
                  <a:lnSpc>
                    <a:spcPct val="150000"/>
                  </a:lnSpc>
                </a:pPr>
                <a:r>
                  <a:rPr lang="zh-CN" altLang="zh-CN" dirty="0">
                    <a:latin typeface="Cambria" panose="02040503050406030204" pitchFamily="18" charset="0"/>
                  </a:rPr>
                  <a:t>该距离最常用的</a:t>
                </a:r>
                <a14:m>
                  <m:oMath xmlns:m="http://schemas.openxmlformats.org/officeDocument/2006/math">
                    <m:r>
                      <a:rPr lang="en-US" altLang="zh-CN" i="1">
                        <a:latin typeface="Cambria Math" panose="02040503050406030204" pitchFamily="18" charset="0"/>
                      </a:rPr>
                      <m:t>𝑝</m:t>
                    </m:r>
                  </m:oMath>
                </a14:m>
                <a:r>
                  <a:rPr lang="zh-CN" altLang="zh-CN" dirty="0">
                    <a:latin typeface="Cambria" panose="02040503050406030204" pitchFamily="18" charset="0"/>
                  </a:rPr>
                  <a:t>是</a:t>
                </a:r>
                <a:r>
                  <a:rPr lang="en-US" altLang="zh-CN" dirty="0">
                    <a:latin typeface="Cambria" panose="02040503050406030204" pitchFamily="18" charset="0"/>
                    <a:ea typeface="Cambria" panose="02040503050406030204" pitchFamily="18" charset="0"/>
                  </a:rPr>
                  <a:t>2</a:t>
                </a:r>
                <a:r>
                  <a:rPr lang="zh-CN" altLang="zh-CN" dirty="0">
                    <a:latin typeface="Cambria" panose="02040503050406030204" pitchFamily="18" charset="0"/>
                  </a:rPr>
                  <a:t>和</a:t>
                </a:r>
                <a:r>
                  <a:rPr lang="en-US" altLang="zh-CN" dirty="0">
                    <a:latin typeface="Cambria" panose="02040503050406030204" pitchFamily="18" charset="0"/>
                    <a:ea typeface="Cambria" panose="02040503050406030204" pitchFamily="18" charset="0"/>
                  </a:rPr>
                  <a:t>1</a:t>
                </a:r>
                <a:r>
                  <a:rPr lang="zh-CN" altLang="zh-CN" dirty="0">
                    <a:latin typeface="Cambria" panose="02040503050406030204" pitchFamily="18" charset="0"/>
                  </a:rPr>
                  <a:t>，前者是欧几里得距离，后者是曼哈顿距离。当</a:t>
                </a:r>
                <a14:m>
                  <m:oMath xmlns:m="http://schemas.openxmlformats.org/officeDocument/2006/math">
                    <m:r>
                      <a:rPr lang="en-US" altLang="zh-CN" i="1">
                        <a:latin typeface="Cambria Math" panose="02040503050406030204" pitchFamily="18" charset="0"/>
                      </a:rPr>
                      <m:t>𝑝</m:t>
                    </m:r>
                  </m:oMath>
                </a14:m>
                <a:r>
                  <a:rPr lang="zh-CN" altLang="zh-CN" dirty="0">
                    <a:latin typeface="Cambria" panose="02040503050406030204" pitchFamily="18" charset="0"/>
                  </a:rPr>
                  <a:t>趋近于无穷大时，闵可夫斯基距离转化成切比雪夫</a:t>
                </a:r>
                <a:r>
                  <a:rPr lang="zh-CN" altLang="zh-CN" dirty="0" smtClean="0">
                    <a:latin typeface="Cambria" panose="02040503050406030204" pitchFamily="18" charset="0"/>
                  </a:rPr>
                  <a:t>距离</a:t>
                </a:r>
                <a:r>
                  <a:rPr lang="zh-CN" altLang="en-US" dirty="0" smtClean="0">
                    <a:latin typeface="Cambria" panose="02040503050406030204" pitchFamily="18" charset="0"/>
                  </a:rPr>
                  <a:t>。</a:t>
                </a:r>
                <a:endParaRPr lang="en-US" altLang="zh-CN" dirty="0">
                  <a:latin typeface="Cambria" panose="02040503050406030204" pitchFamily="18" charset="0"/>
                  <a:ea typeface="Cambria" panose="02040503050406030204" pitchFamily="18" charset="0"/>
                </a:endParaRPr>
              </a:p>
            </p:txBody>
          </p:sp>
        </mc:Choice>
        <mc:Fallback>
          <p:sp>
            <p:nvSpPr>
              <p:cNvPr id="19" name="内容占位符 2"/>
              <p:cNvSpPr>
                <a:spLocks noRot="1" noChangeAspect="1" noMove="1" noResize="1" noEditPoints="1" noAdjustHandles="1" noChangeArrowheads="1" noChangeShapeType="1" noTextEdit="1"/>
              </p:cNvSpPr>
              <p:nvPr>
                <p:ph idx="1"/>
              </p:nvPr>
            </p:nvSpPr>
            <p:spPr>
              <a:xfrm>
                <a:off x="1306729" y="5290080"/>
                <a:ext cx="10272890" cy="919959"/>
              </a:xfrm>
              <a:blipFill rotWithShape="1">
                <a:blip r:embed="rId7"/>
                <a:stretch>
                  <a:fillRect l="-5" t="-58" r="4" b="41"/>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latin typeface="Cambria" panose="02040503050406030204" pitchFamily="18" charset="0"/>
              </a:rPr>
              <a:t>距离计算</a:t>
            </a:r>
            <a:endParaRPr lang="zh-CN" altLang="en-US" dirty="0">
              <a:latin typeface="Cambria" panose="02040503050406030204" pitchFamily="18" charset="0"/>
            </a:endParaRPr>
          </a:p>
        </p:txBody>
      </p:sp>
      <p:sp>
        <p:nvSpPr>
          <p:cNvPr id="3" name="内容占位符 2"/>
          <p:cNvSpPr>
            <a:spLocks noGrp="1"/>
          </p:cNvSpPr>
          <p:nvPr>
            <p:ph idx="1"/>
          </p:nvPr>
        </p:nvSpPr>
        <p:spPr>
          <a:xfrm>
            <a:off x="1398862" y="836713"/>
            <a:ext cx="10272890" cy="552983"/>
          </a:xfrm>
        </p:spPr>
        <p:txBody>
          <a:bodyPr>
            <a:normAutofit/>
          </a:bodyPr>
          <a:lstStyle/>
          <a:p>
            <a:r>
              <a:rPr lang="zh-CN" altLang="zh-CN" dirty="0">
                <a:latin typeface="Cambria" panose="02040503050406030204" pitchFamily="18" charset="0"/>
              </a:rPr>
              <a:t>闵可夫斯基距离计算举例如下：</a:t>
            </a:r>
            <a:endParaRPr lang="en-US" altLang="zh-CN" dirty="0">
              <a:latin typeface="Cambria" panose="02040503050406030204" pitchFamily="18" charset="0"/>
              <a:ea typeface="Cambria" panose="02040503050406030204" pitchFamily="18" charset="0"/>
            </a:endParaRPr>
          </a:p>
        </p:txBody>
      </p:sp>
      <p:sp>
        <p:nvSpPr>
          <p:cNvPr id="19" name="内容占位符 2"/>
          <p:cNvSpPr>
            <a:spLocks noGrp="1"/>
          </p:cNvSpPr>
          <p:nvPr>
            <p:ph idx="1"/>
          </p:nvPr>
        </p:nvSpPr>
        <p:spPr>
          <a:xfrm>
            <a:off x="1398862" y="3686345"/>
            <a:ext cx="10272890" cy="1229259"/>
          </a:xfrm>
        </p:spPr>
        <p:txBody>
          <a:bodyPr>
            <a:normAutofit/>
          </a:bodyPr>
          <a:lstStyle/>
          <a:p>
            <a:r>
              <a:rPr lang="zh-CN" altLang="en-US" dirty="0">
                <a:latin typeface="Cambria" panose="02040503050406030204" pitchFamily="18" charset="0"/>
              </a:rPr>
              <a:t>欧氏距离（</a:t>
            </a:r>
            <a:r>
              <a:rPr lang="en-US" altLang="zh-CN" dirty="0">
                <a:latin typeface="Cambria" panose="02040503050406030204" pitchFamily="18" charset="0"/>
                <a:ea typeface="Cambria" panose="02040503050406030204" pitchFamily="18" charset="0"/>
              </a:rPr>
              <a:t>Euclidean Distance</a:t>
            </a:r>
            <a:r>
              <a:rPr lang="zh-CN" altLang="en-US" dirty="0">
                <a:latin typeface="Cambria" panose="02040503050406030204" pitchFamily="18" charset="0"/>
              </a:rPr>
              <a:t>）最初用于计算欧几里德空间中两个点的距离。</a:t>
            </a:r>
            <a:r>
              <a:rPr lang="zh-CN" altLang="en-US" dirty="0" smtClean="0">
                <a:latin typeface="Cambria" panose="02040503050406030204" pitchFamily="18" charset="0"/>
              </a:rPr>
              <a:t>假设                                         ， </a:t>
            </a:r>
            <a:r>
              <a:rPr lang="en-US" altLang="zh-CN" dirty="0">
                <a:latin typeface="Cambria" panose="02040503050406030204" pitchFamily="18" charset="0"/>
                <a:ea typeface="Cambria" panose="02040503050406030204" pitchFamily="18" charset="0"/>
              </a:rPr>
              <a:t> </a:t>
            </a:r>
            <a:r>
              <a:rPr lang="en-US" altLang="zh-CN" dirty="0" smtClean="0">
                <a:latin typeface="Cambria" panose="02040503050406030204" pitchFamily="18" charset="0"/>
                <a:ea typeface="Cambria" panose="02040503050406030204" pitchFamily="18" charset="0"/>
              </a:rPr>
              <a:t>                                        </a:t>
            </a:r>
            <a:r>
              <a:rPr lang="zh-CN" altLang="en-US" dirty="0" smtClean="0">
                <a:latin typeface="Cambria" panose="02040503050406030204" pitchFamily="18" charset="0"/>
              </a:rPr>
              <a:t>是</a:t>
            </a:r>
            <a:r>
              <a:rPr lang="en-US" altLang="zh-CN" i="1" dirty="0">
                <a:latin typeface="Cambria" panose="02040503050406030204" pitchFamily="18" charset="0"/>
                <a:ea typeface="Cambria" panose="02040503050406030204" pitchFamily="18" charset="0"/>
              </a:rPr>
              <a:t>n</a:t>
            </a:r>
            <a:r>
              <a:rPr lang="en-US" altLang="zh-CN" dirty="0">
                <a:latin typeface="Cambria" panose="02040503050406030204" pitchFamily="18" charset="0"/>
                <a:ea typeface="Cambria" panose="02040503050406030204" pitchFamily="18" charset="0"/>
              </a:rPr>
              <a:t> </a:t>
            </a:r>
            <a:r>
              <a:rPr lang="zh-CN" altLang="en-US" dirty="0">
                <a:latin typeface="Cambria" panose="02040503050406030204" pitchFamily="18" charset="0"/>
              </a:rPr>
              <a:t>维空间的两个向量，它们之间的欧几里德距离是：</a:t>
            </a:r>
            <a:endParaRPr lang="en-US" altLang="zh-CN" dirty="0">
              <a:latin typeface="Cambria" panose="02040503050406030204" pitchFamily="18" charset="0"/>
              <a:ea typeface="Cambria" panose="02040503050406030204" pitchFamily="18" charset="0"/>
            </a:endParaRPr>
          </a:p>
        </p:txBody>
      </p:sp>
      <p:sp>
        <p:nvSpPr>
          <p:cNvPr id="20" name="矩形 19"/>
          <p:cNvSpPr/>
          <p:nvPr/>
        </p:nvSpPr>
        <p:spPr>
          <a:xfrm>
            <a:off x="1557819" y="1409534"/>
            <a:ext cx="10280402" cy="171827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21" name="内容占位符 2"/>
          <p:cNvSpPr txBox="1"/>
          <p:nvPr/>
        </p:nvSpPr>
        <p:spPr>
          <a:xfrm>
            <a:off x="1753364" y="1373988"/>
            <a:ext cx="9889312" cy="1658735"/>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r>
              <a:rPr lang="en-US" altLang="zh-CN" sz="1800" dirty="0" smtClean="0">
                <a:latin typeface="Cambria" panose="02040503050406030204" pitchFamily="18" charset="0"/>
                <a:ea typeface="Cambria" panose="02040503050406030204" pitchFamily="18" charset="0"/>
              </a:rPr>
              <a:t>import </a:t>
            </a:r>
            <a:r>
              <a:rPr lang="en-US" altLang="zh-CN" sz="1800" dirty="0" err="1">
                <a:latin typeface="Cambria" panose="02040503050406030204" pitchFamily="18" charset="0"/>
                <a:ea typeface="Cambria" panose="02040503050406030204" pitchFamily="18" charset="0"/>
              </a:rPr>
              <a:t>numpy</a:t>
            </a:r>
            <a:r>
              <a:rPr lang="en-US" altLang="zh-CN" sz="1800" dirty="0">
                <a:latin typeface="Cambria" panose="02040503050406030204" pitchFamily="18" charset="0"/>
                <a:ea typeface="Cambria" panose="02040503050406030204" pitchFamily="18" charset="0"/>
              </a:rPr>
              <a:t> as np</a:t>
            </a:r>
            <a:endParaRPr lang="zh-CN" altLang="zh-CN" sz="1800" dirty="0">
              <a:latin typeface="Cambria" panose="02040503050406030204" pitchFamily="18" charset="0"/>
            </a:endParaRPr>
          </a:p>
          <a:p>
            <a:pPr marL="0" indent="0">
              <a:buNone/>
            </a:pPr>
            <a:r>
              <a:rPr lang="en-US" altLang="zh-CN" sz="1800" dirty="0" smtClean="0">
                <a:latin typeface="Cambria" panose="02040503050406030204" pitchFamily="18" charset="0"/>
                <a:ea typeface="Cambria" panose="02040503050406030204" pitchFamily="18" charset="0"/>
              </a:rPr>
              <a:t>x </a:t>
            </a:r>
            <a:r>
              <a:rPr lang="en-US" altLang="zh-CN" sz="1800" dirty="0">
                <a:latin typeface="Cambria" panose="02040503050406030204" pitchFamily="18" charset="0"/>
                <a:ea typeface="Cambria" panose="02040503050406030204" pitchFamily="18" charset="0"/>
              </a:rPr>
              <a:t>= </a:t>
            </a:r>
            <a:r>
              <a:rPr lang="en-US" altLang="zh-CN" sz="1800" dirty="0" err="1">
                <a:latin typeface="Cambria" panose="02040503050406030204" pitchFamily="18" charset="0"/>
                <a:ea typeface="Cambria" panose="02040503050406030204" pitchFamily="18" charset="0"/>
              </a:rPr>
              <a:t>np.random.random</a:t>
            </a:r>
            <a:r>
              <a:rPr lang="en-US" altLang="zh-CN" sz="1800" dirty="0">
                <a:latin typeface="Cambria" panose="02040503050406030204" pitchFamily="18" charset="0"/>
                <a:ea typeface="Cambria" panose="02040503050406030204" pitchFamily="18" charset="0"/>
              </a:rPr>
              <a:t>(10)</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y = </a:t>
            </a:r>
            <a:r>
              <a:rPr lang="en-US" altLang="zh-CN" sz="1800" dirty="0" err="1">
                <a:latin typeface="Cambria" panose="02040503050406030204" pitchFamily="18" charset="0"/>
                <a:ea typeface="Cambria" panose="02040503050406030204" pitchFamily="18" charset="0"/>
              </a:rPr>
              <a:t>np.random.random</a:t>
            </a:r>
            <a:r>
              <a:rPr lang="en-US" altLang="zh-CN" sz="1800" dirty="0">
                <a:latin typeface="Cambria" panose="02040503050406030204" pitchFamily="18" charset="0"/>
                <a:ea typeface="Cambria" panose="02040503050406030204" pitchFamily="18" charset="0"/>
              </a:rPr>
              <a:t>(10)</a:t>
            </a:r>
            <a:endParaRPr lang="zh-CN" altLang="zh-CN" sz="1800" dirty="0">
              <a:latin typeface="Cambria" panose="02040503050406030204" pitchFamily="18" charset="0"/>
            </a:endParaRPr>
          </a:p>
          <a:p>
            <a:pPr marL="0" indent="0">
              <a:buNone/>
            </a:pPr>
            <a:r>
              <a:rPr lang="en-US" altLang="zh-CN" sz="1800" dirty="0" err="1">
                <a:latin typeface="Cambria" panose="02040503050406030204" pitchFamily="18" charset="0"/>
                <a:ea typeface="Cambria" panose="02040503050406030204" pitchFamily="18" charset="0"/>
              </a:rPr>
              <a:t>dist</a:t>
            </a:r>
            <a:r>
              <a:rPr lang="en-US" altLang="zh-CN" sz="1800" dirty="0">
                <a:latin typeface="Cambria" panose="02040503050406030204" pitchFamily="18" charset="0"/>
                <a:ea typeface="Cambria" panose="02040503050406030204" pitchFamily="18" charset="0"/>
              </a:rPr>
              <a:t> = </a:t>
            </a:r>
            <a:r>
              <a:rPr lang="en-US" altLang="zh-CN" sz="1800" dirty="0" err="1">
                <a:latin typeface="Cambria" panose="02040503050406030204" pitchFamily="18" charset="0"/>
                <a:ea typeface="Cambria" panose="02040503050406030204" pitchFamily="18" charset="0"/>
              </a:rPr>
              <a:t>np.linalg.norm</a:t>
            </a:r>
            <a:r>
              <a:rPr lang="en-US" altLang="zh-CN" sz="1800" dirty="0">
                <a:latin typeface="Cambria" panose="02040503050406030204" pitchFamily="18" charset="0"/>
                <a:ea typeface="Cambria" panose="02040503050406030204" pitchFamily="18" charset="0"/>
              </a:rPr>
              <a:t>(x-y, </a:t>
            </a:r>
            <a:r>
              <a:rPr lang="en-US" altLang="zh-CN" sz="1800" dirty="0" err="1">
                <a:latin typeface="Cambria" panose="02040503050406030204" pitchFamily="18" charset="0"/>
                <a:ea typeface="Cambria" panose="02040503050406030204" pitchFamily="18" charset="0"/>
              </a:rPr>
              <a:t>ord</a:t>
            </a:r>
            <a:r>
              <a:rPr lang="en-US" altLang="zh-CN" sz="1800" dirty="0">
                <a:latin typeface="Cambria" panose="02040503050406030204" pitchFamily="18" charset="0"/>
                <a:ea typeface="Cambria" panose="02040503050406030204" pitchFamily="18" charset="0"/>
              </a:rPr>
              <a:t>=4) # </a:t>
            </a:r>
            <a:r>
              <a:rPr lang="zh-CN" altLang="zh-CN" sz="1800" dirty="0">
                <a:latin typeface="Cambria" panose="02040503050406030204" pitchFamily="18" charset="0"/>
              </a:rPr>
              <a:t>闵科夫斯基距离，此时</a:t>
            </a:r>
            <a:r>
              <a:rPr lang="en-US" altLang="zh-CN" sz="1800" dirty="0">
                <a:latin typeface="Cambria" panose="02040503050406030204" pitchFamily="18" charset="0"/>
                <a:ea typeface="Cambria" panose="02040503050406030204" pitchFamily="18" charset="0"/>
              </a:rPr>
              <a:t>p=4</a:t>
            </a:r>
            <a:endParaRPr lang="zh-CN" altLang="zh-CN" sz="1800" dirty="0">
              <a:latin typeface="Cambria" panose="02040503050406030204" pitchFamily="18" charset="0"/>
            </a:endParaRPr>
          </a:p>
        </p:txBody>
      </p:sp>
      <p:sp>
        <p:nvSpPr>
          <p:cNvPr id="22" name="内容占位符 3"/>
          <p:cNvSpPr txBox="1"/>
          <p:nvPr/>
        </p:nvSpPr>
        <p:spPr>
          <a:xfrm>
            <a:off x="1402189" y="3183669"/>
            <a:ext cx="10272890"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dirty="0" smtClean="0">
                <a:latin typeface="Cambria" panose="02040503050406030204" pitchFamily="18" charset="0"/>
                <a:ea typeface="Cambria" panose="02040503050406030204" pitchFamily="18" charset="0"/>
              </a:rPr>
              <a:t>2.2 </a:t>
            </a:r>
            <a:r>
              <a:rPr lang="zh-CN" altLang="zh-CN" dirty="0" smtClean="0">
                <a:latin typeface="Cambria" panose="02040503050406030204" pitchFamily="18" charset="0"/>
              </a:rPr>
              <a:t>欧氏</a:t>
            </a:r>
            <a:r>
              <a:rPr lang="zh-CN" altLang="zh-CN" dirty="0">
                <a:latin typeface="Cambria" panose="02040503050406030204" pitchFamily="18" charset="0"/>
              </a:rPr>
              <a:t>距离</a:t>
            </a:r>
            <a:endParaRPr lang="zh-CN" altLang="en-US" dirty="0">
              <a:latin typeface="Cambria" panose="02040503050406030204" pitchFamily="18" charset="0"/>
            </a:endParaRPr>
          </a:p>
        </p:txBody>
      </p:sp>
      <p:graphicFrame>
        <p:nvGraphicFramePr>
          <p:cNvPr id="25" name="对象 24"/>
          <p:cNvGraphicFramePr>
            <a:graphicFrameLocks noChangeAspect="1"/>
          </p:cNvGraphicFramePr>
          <p:nvPr/>
        </p:nvGraphicFramePr>
        <p:xfrm>
          <a:off x="4419601" y="4941889"/>
          <a:ext cx="3669323" cy="485775"/>
        </p:xfrm>
        <a:graphic>
          <a:graphicData uri="http://schemas.openxmlformats.org/presentationml/2006/ole">
            <mc:AlternateContent xmlns:mc="http://schemas.openxmlformats.org/markup-compatibility/2006">
              <mc:Choice xmlns:v="urn:schemas-microsoft-com:vml" Requires="v">
                <p:oleObj spid="_x0000_s5151" name="Equation" r:id="rId1" imgW="71323200" imgH="11887200" progId="Equation.DSMT4">
                  <p:embed/>
                </p:oleObj>
              </mc:Choice>
              <mc:Fallback>
                <p:oleObj name="Equation" r:id="rId1" imgW="71323200" imgH="11887200" progId="Equation.DSMT4">
                  <p:embed/>
                  <p:pic>
                    <p:nvPicPr>
                      <p:cNvPr id="0" name="图片 1027"/>
                      <p:cNvPicPr>
                        <a:picLocks noChangeAspect="1" noChangeArrowheads="1"/>
                      </p:cNvPicPr>
                      <p:nvPr/>
                    </p:nvPicPr>
                    <p:blipFill>
                      <a:blip r:embed="rId2"/>
                      <a:srcRect/>
                      <a:stretch>
                        <a:fillRect/>
                      </a:stretch>
                    </p:blipFill>
                    <p:spPr bwMode="auto">
                      <a:xfrm>
                        <a:off x="4419601" y="4941889"/>
                        <a:ext cx="3669323"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内容占位符 2"/>
          <p:cNvSpPr>
            <a:spLocks noGrp="1"/>
          </p:cNvSpPr>
          <p:nvPr>
            <p:ph idx="1"/>
          </p:nvPr>
        </p:nvSpPr>
        <p:spPr>
          <a:xfrm>
            <a:off x="1398863" y="5392303"/>
            <a:ext cx="10272890" cy="917017"/>
          </a:xfrm>
        </p:spPr>
        <p:txBody>
          <a:bodyPr>
            <a:normAutofit/>
          </a:bodyPr>
          <a:lstStyle/>
          <a:p>
            <a:r>
              <a:rPr lang="en-US" altLang="zh-CN" dirty="0" smtClean="0">
                <a:latin typeface="Cambria" panose="02040503050406030204" pitchFamily="18" charset="0"/>
                <a:ea typeface="Cambria" panose="02040503050406030204" pitchFamily="18" charset="0"/>
              </a:rPr>
              <a:t>n=2 </a:t>
            </a:r>
            <a:r>
              <a:rPr lang="zh-CN" altLang="zh-CN" dirty="0" smtClean="0">
                <a:latin typeface="Cambria" panose="02040503050406030204" pitchFamily="18" charset="0"/>
              </a:rPr>
              <a:t>欧几里德</a:t>
            </a:r>
            <a:r>
              <a:rPr lang="zh-CN" altLang="zh-CN" dirty="0">
                <a:latin typeface="Cambria" panose="02040503050406030204" pitchFamily="18" charset="0"/>
              </a:rPr>
              <a:t>距离</a:t>
            </a:r>
            <a:r>
              <a:rPr lang="zh-CN" altLang="zh-CN" sz="2100" dirty="0">
                <a:latin typeface="Cambria" panose="02040503050406030204" pitchFamily="18" charset="0"/>
              </a:rPr>
              <a:t>就是</a:t>
            </a:r>
            <a:r>
              <a:rPr lang="zh-CN" altLang="zh-CN" dirty="0">
                <a:latin typeface="Cambria" panose="02040503050406030204" pitchFamily="18" charset="0"/>
              </a:rPr>
              <a:t>平面上两个点的距离。如果将欧氏距离看作</a:t>
            </a:r>
            <a:r>
              <a:rPr lang="zh-CN" altLang="zh-CN" dirty="0" smtClean="0">
                <a:latin typeface="Cambria" panose="02040503050406030204" pitchFamily="18" charset="0"/>
              </a:rPr>
              <a:t>物品相似</a:t>
            </a:r>
            <a:r>
              <a:rPr lang="zh-CN" altLang="zh-CN" dirty="0">
                <a:latin typeface="Cambria" panose="02040503050406030204" pitchFamily="18" charset="0"/>
              </a:rPr>
              <a:t>程度，那么距离越近就越相似，也就是说距离越小，相似度越大。</a:t>
            </a:r>
            <a:endParaRPr lang="en-US" altLang="zh-CN" dirty="0">
              <a:latin typeface="Cambria" panose="02040503050406030204" pitchFamily="18" charset="0"/>
              <a:ea typeface="Cambria" panose="02040503050406030204" pitchFamily="18" charset="0"/>
            </a:endParaRPr>
          </a:p>
        </p:txBody>
      </p:sp>
      <p:graphicFrame>
        <p:nvGraphicFramePr>
          <p:cNvPr id="14" name="对象 13"/>
          <p:cNvGraphicFramePr>
            <a:graphicFrameLocks noChangeAspect="1"/>
          </p:cNvGraphicFramePr>
          <p:nvPr/>
        </p:nvGraphicFramePr>
        <p:xfrm>
          <a:off x="2055495" y="4230370"/>
          <a:ext cx="2273935" cy="278765"/>
        </p:xfrm>
        <a:graphic>
          <a:graphicData uri="http://schemas.openxmlformats.org/presentationml/2006/ole">
            <mc:AlternateContent xmlns:mc="http://schemas.openxmlformats.org/markup-compatibility/2006">
              <mc:Choice xmlns:v="urn:schemas-microsoft-com:vml" Requires="v">
                <p:oleObj spid="_x0000_s5152" name="Equation" r:id="rId3" imgW="37795200" imgH="8534400" progId="Equation.DSMT4">
                  <p:embed/>
                </p:oleObj>
              </mc:Choice>
              <mc:Fallback>
                <p:oleObj name="Equation" r:id="rId3" imgW="37795200" imgH="8534400" progId="Equation.DSMT4">
                  <p:embed/>
                  <p:pic>
                    <p:nvPicPr>
                      <p:cNvPr id="0" name="图片 1025"/>
                      <p:cNvPicPr>
                        <a:picLocks noChangeAspect="1" noChangeArrowheads="1"/>
                      </p:cNvPicPr>
                      <p:nvPr/>
                    </p:nvPicPr>
                    <p:blipFill>
                      <a:blip r:embed="rId4"/>
                      <a:srcRect/>
                      <a:stretch>
                        <a:fillRect/>
                      </a:stretch>
                    </p:blipFill>
                    <p:spPr bwMode="auto">
                      <a:xfrm>
                        <a:off x="2055495" y="4230370"/>
                        <a:ext cx="2273935" cy="278765"/>
                      </a:xfrm>
                      <a:prstGeom prst="rect">
                        <a:avLst/>
                      </a:prstGeom>
                      <a:noFill/>
                    </p:spPr>
                  </p:pic>
                </p:oleObj>
              </mc:Fallback>
            </mc:AlternateContent>
          </a:graphicData>
        </a:graphic>
      </p:graphicFrame>
      <p:graphicFrame>
        <p:nvGraphicFramePr>
          <p:cNvPr id="16" name="对象 15"/>
          <p:cNvGraphicFramePr>
            <a:graphicFrameLocks noChangeAspect="1"/>
          </p:cNvGraphicFramePr>
          <p:nvPr/>
        </p:nvGraphicFramePr>
        <p:xfrm>
          <a:off x="4575810" y="4215765"/>
          <a:ext cx="1992630" cy="299085"/>
        </p:xfrm>
        <a:graphic>
          <a:graphicData uri="http://schemas.openxmlformats.org/presentationml/2006/ole">
            <mc:AlternateContent xmlns:mc="http://schemas.openxmlformats.org/markup-compatibility/2006">
              <mc:Choice xmlns:v="urn:schemas-microsoft-com:vml" Requires="v">
                <p:oleObj spid="_x0000_s5153" name="Equation" r:id="rId5" imgW="39014400" imgH="8534400" progId="Equation.DSMT4">
                  <p:embed/>
                </p:oleObj>
              </mc:Choice>
              <mc:Fallback>
                <p:oleObj name="Equation" r:id="rId5" imgW="39014400" imgH="8534400" progId="Equation.DSMT4">
                  <p:embed/>
                  <p:pic>
                    <p:nvPicPr>
                      <p:cNvPr id="0" name="图片 1026"/>
                      <p:cNvPicPr>
                        <a:picLocks noChangeAspect="1" noChangeArrowheads="1"/>
                      </p:cNvPicPr>
                      <p:nvPr/>
                    </p:nvPicPr>
                    <p:blipFill>
                      <a:blip r:embed="rId6"/>
                      <a:srcRect/>
                      <a:stretch>
                        <a:fillRect/>
                      </a:stretch>
                    </p:blipFill>
                    <p:spPr bwMode="auto">
                      <a:xfrm>
                        <a:off x="4575810" y="4215765"/>
                        <a:ext cx="1992630" cy="2990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latin typeface="Cambria" panose="02040503050406030204" pitchFamily="18" charset="0"/>
                <a:ea typeface="Cambria" panose="02040503050406030204" pitchFamily="18" charset="0"/>
              </a:rPr>
              <a:t> </a:t>
            </a:r>
            <a:r>
              <a:rPr lang="zh-CN" altLang="en-US" dirty="0" smtClean="0">
                <a:latin typeface="Cambria" panose="02040503050406030204" pitchFamily="18" charset="0"/>
              </a:rPr>
              <a:t>距离计算</a:t>
            </a:r>
            <a:endParaRPr lang="zh-CN" altLang="en-US" dirty="0">
              <a:latin typeface="Cambria" panose="02040503050406030204" pitchFamily="18" charset="0"/>
            </a:endParaRPr>
          </a:p>
        </p:txBody>
      </p:sp>
      <p:sp>
        <p:nvSpPr>
          <p:cNvPr id="3" name="内容占位符 2"/>
          <p:cNvSpPr>
            <a:spLocks noGrp="1"/>
          </p:cNvSpPr>
          <p:nvPr>
            <p:ph idx="1"/>
          </p:nvPr>
        </p:nvSpPr>
        <p:spPr>
          <a:xfrm>
            <a:off x="1398862" y="836713"/>
            <a:ext cx="10272890" cy="552983"/>
          </a:xfrm>
        </p:spPr>
        <p:txBody>
          <a:bodyPr>
            <a:normAutofit/>
          </a:bodyPr>
          <a:lstStyle/>
          <a:p>
            <a:r>
              <a:rPr lang="zh-CN" altLang="zh-CN" dirty="0" smtClean="0">
                <a:latin typeface="Cambria" panose="02040503050406030204" pitchFamily="18" charset="0"/>
              </a:rPr>
              <a:t>欧氏距离</a:t>
            </a:r>
            <a:r>
              <a:rPr lang="zh-CN" altLang="zh-CN" dirty="0">
                <a:latin typeface="Cambria" panose="02040503050406030204" pitchFamily="18" charset="0"/>
              </a:rPr>
              <a:t>计算举例如下：</a:t>
            </a:r>
            <a:endParaRPr lang="en-US" altLang="zh-CN" dirty="0">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sp>
            <p:nvSpPr>
              <p:cNvPr id="19" name="内容占位符 2"/>
              <p:cNvSpPr>
                <a:spLocks noGrp="1"/>
              </p:cNvSpPr>
              <p:nvPr>
                <p:ph idx="1"/>
              </p:nvPr>
            </p:nvSpPr>
            <p:spPr>
              <a:xfrm>
                <a:off x="1398861" y="3887598"/>
                <a:ext cx="7444522" cy="1989674"/>
              </a:xfrm>
            </p:spPr>
            <p:txBody>
              <a:bodyPr>
                <a:normAutofit/>
              </a:bodyPr>
              <a:lstStyle/>
              <a:p>
                <a:r>
                  <a:rPr lang="zh-CN" altLang="zh-CN" dirty="0">
                    <a:latin typeface="Cambria" panose="02040503050406030204" pitchFamily="18" charset="0"/>
                  </a:rPr>
                  <a:t>曼哈顿距离也称为城市街区距离</a:t>
                </a:r>
                <a:r>
                  <a:rPr lang="en-US" altLang="zh-CN" dirty="0">
                    <a:latin typeface="Cambria" panose="02040503050406030204" pitchFamily="18" charset="0"/>
                    <a:ea typeface="Cambria" panose="02040503050406030204" pitchFamily="18" charset="0"/>
                  </a:rPr>
                  <a:t>(City Block distance)</a:t>
                </a:r>
                <a:r>
                  <a:rPr lang="zh-CN" altLang="zh-CN" dirty="0">
                    <a:latin typeface="Cambria" panose="02040503050406030204" pitchFamily="18" charset="0"/>
                  </a:rPr>
                  <a:t>，或绝对距离</a:t>
                </a:r>
                <a:r>
                  <a:rPr lang="zh-CN" altLang="zh-CN" dirty="0" smtClean="0">
                    <a:latin typeface="Cambria" panose="02040503050406030204" pitchFamily="18" charset="0"/>
                  </a:rPr>
                  <a:t>。</a:t>
                </a:r>
                <a:r>
                  <a:rPr lang="zh-CN" altLang="en-US" dirty="0" smtClean="0">
                    <a:latin typeface="Cambria" panose="02040503050406030204" pitchFamily="18" charset="0"/>
                  </a:rPr>
                  <a:t>即在</a:t>
                </a:r>
                <a:r>
                  <a:rPr lang="zh-CN" altLang="zh-CN" dirty="0">
                    <a:latin typeface="Cambria" panose="02040503050406030204" pitchFamily="18" charset="0"/>
                  </a:rPr>
                  <a:t>在欧几里得空间的固定直角坐标系上两点所形成的线段对轴的投影距离</a:t>
                </a:r>
                <a:r>
                  <a:rPr lang="zh-CN" altLang="zh-CN" dirty="0" smtClean="0">
                    <a:latin typeface="Cambria" panose="02040503050406030204" pitchFamily="18" charset="0"/>
                  </a:rPr>
                  <a:t>总和</a:t>
                </a:r>
                <a:r>
                  <a:rPr lang="zh-CN" altLang="en-US" dirty="0" smtClean="0">
                    <a:latin typeface="Cambria" panose="02040503050406030204" pitchFamily="18" charset="0"/>
                  </a:rPr>
                  <a:t>。</a:t>
                </a:r>
                <a:r>
                  <a:rPr lang="zh-CN" altLang="zh-CN" dirty="0">
                    <a:latin typeface="Cambria" panose="02040503050406030204" pitchFamily="18" charset="0"/>
                  </a:rPr>
                  <a:t>坐标</a:t>
                </a:r>
                <a14:m>
                  <m:oMath xmlns:m="http://schemas.openxmlformats.org/officeDocument/2006/math">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1</m:t>
                            </m:r>
                          </m:sub>
                        </m:sSub>
                      </m:e>
                    </m:d>
                  </m:oMath>
                </a14:m>
                <a:r>
                  <a:rPr lang="zh-CN" altLang="zh-CN" dirty="0">
                    <a:latin typeface="Cambria" panose="02040503050406030204" pitchFamily="18" charset="0"/>
                  </a:rPr>
                  <a:t>的点</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zh-CN" dirty="0">
                    <a:latin typeface="Cambria" panose="02040503050406030204" pitchFamily="18" charset="0"/>
                  </a:rPr>
                  <a:t>与坐标</a:t>
                </a:r>
                <a14:m>
                  <m:oMath xmlns:m="http://schemas.openxmlformats.org/officeDocument/2006/math">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2</m:t>
                            </m:r>
                          </m:sub>
                        </m:sSub>
                      </m:e>
                    </m:d>
                  </m:oMath>
                </a14:m>
                <a:r>
                  <a:rPr lang="zh-CN" altLang="zh-CN" dirty="0">
                    <a:latin typeface="Cambria" panose="02040503050406030204" pitchFamily="18" charset="0"/>
                  </a:rPr>
                  <a:t>的点</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2</m:t>
                        </m:r>
                      </m:sub>
                    </m:sSub>
                  </m:oMath>
                </a14:m>
                <a:r>
                  <a:rPr lang="zh-CN" altLang="zh-CN" dirty="0">
                    <a:latin typeface="Cambria" panose="02040503050406030204" pitchFamily="18" charset="0"/>
                  </a:rPr>
                  <a:t>的曼哈顿距离为：</a:t>
                </a:r>
                <a:endParaRPr lang="en-US" altLang="zh-CN" dirty="0">
                  <a:latin typeface="Cambria" panose="02040503050406030204" pitchFamily="18" charset="0"/>
                  <a:ea typeface="Cambria" panose="02040503050406030204" pitchFamily="18" charset="0"/>
                </a:endParaRPr>
              </a:p>
            </p:txBody>
          </p:sp>
        </mc:Choice>
        <mc:Fallback>
          <p:sp>
            <p:nvSpPr>
              <p:cNvPr id="19" name="内容占位符 2"/>
              <p:cNvSpPr>
                <a:spLocks noRot="1" noChangeAspect="1" noMove="1" noResize="1" noEditPoints="1" noAdjustHandles="1" noChangeArrowheads="1" noChangeShapeType="1" noTextEdit="1"/>
              </p:cNvSpPr>
              <p:nvPr>
                <p:ph idx="1"/>
              </p:nvPr>
            </p:nvSpPr>
            <p:spPr>
              <a:xfrm>
                <a:off x="1398861" y="3887598"/>
                <a:ext cx="7444522" cy="1989674"/>
              </a:xfrm>
              <a:blipFill rotWithShape="1">
                <a:blip r:embed="rId1"/>
                <a:stretch>
                  <a:fillRect l="-8" t="-6" r="5" b="17"/>
                </a:stretch>
              </a:blipFill>
            </p:spPr>
            <p:txBody>
              <a:bodyPr/>
              <a:lstStyle/>
              <a:p>
                <a:r>
                  <a:rPr lang="zh-CN" altLang="en-US">
                    <a:noFill/>
                  </a:rPr>
                  <a:t> </a:t>
                </a:r>
              </a:p>
            </p:txBody>
          </p:sp>
        </mc:Fallback>
      </mc:AlternateContent>
      <p:sp>
        <p:nvSpPr>
          <p:cNvPr id="20" name="矩形 19"/>
          <p:cNvSpPr/>
          <p:nvPr/>
        </p:nvSpPr>
        <p:spPr>
          <a:xfrm>
            <a:off x="1557819" y="1409534"/>
            <a:ext cx="10280402" cy="171827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21" name="内容占位符 2"/>
          <p:cNvSpPr txBox="1"/>
          <p:nvPr/>
        </p:nvSpPr>
        <p:spPr>
          <a:xfrm>
            <a:off x="1753364" y="1373988"/>
            <a:ext cx="9889312" cy="1658735"/>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r>
              <a:rPr lang="en-US" altLang="zh-CN" sz="1800" dirty="0">
                <a:latin typeface="Cambria" panose="02040503050406030204" pitchFamily="18" charset="0"/>
                <a:ea typeface="Cambria" panose="02040503050406030204" pitchFamily="18" charset="0"/>
              </a:rPr>
              <a:t>import </a:t>
            </a:r>
            <a:r>
              <a:rPr lang="en-US" altLang="zh-CN" sz="1800" dirty="0" err="1">
                <a:latin typeface="Cambria" panose="02040503050406030204" pitchFamily="18" charset="0"/>
                <a:ea typeface="Cambria" panose="02040503050406030204" pitchFamily="18" charset="0"/>
              </a:rPr>
              <a:t>numpy</a:t>
            </a:r>
            <a:r>
              <a:rPr lang="en-US" altLang="zh-CN" sz="1800" dirty="0">
                <a:latin typeface="Cambria" panose="02040503050406030204" pitchFamily="18" charset="0"/>
                <a:ea typeface="Cambria" panose="02040503050406030204" pitchFamily="18" charset="0"/>
              </a:rPr>
              <a:t> as np</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import </a:t>
            </a:r>
            <a:r>
              <a:rPr lang="en-US" altLang="zh-CN" sz="1800" dirty="0" err="1">
                <a:latin typeface="Cambria" panose="02040503050406030204" pitchFamily="18" charset="0"/>
                <a:ea typeface="Cambria" panose="02040503050406030204" pitchFamily="18" charset="0"/>
              </a:rPr>
              <a:t>scipy.spatial.distance</a:t>
            </a:r>
            <a:r>
              <a:rPr lang="en-US" altLang="zh-CN" sz="1800" dirty="0">
                <a:latin typeface="Cambria" panose="02040503050406030204" pitchFamily="18" charset="0"/>
                <a:ea typeface="Cambria" panose="02040503050406030204" pitchFamily="18" charset="0"/>
              </a:rPr>
              <a:t> as dis</a:t>
            </a:r>
            <a:endParaRPr lang="zh-CN" altLang="zh-CN" sz="1800" dirty="0">
              <a:latin typeface="Cambria" panose="02040503050406030204" pitchFamily="18" charset="0"/>
            </a:endParaRPr>
          </a:p>
          <a:p>
            <a:pPr marL="0" indent="0">
              <a:buNone/>
            </a:pPr>
            <a:r>
              <a:rPr lang="en-US" altLang="zh-CN" sz="1800" dirty="0">
                <a:latin typeface="Cambria" panose="02040503050406030204" pitchFamily="18" charset="0"/>
                <a:ea typeface="Cambria" panose="02040503050406030204" pitchFamily="18" charset="0"/>
              </a:rPr>
              <a:t> </a:t>
            </a:r>
            <a:r>
              <a:rPr lang="en-US" altLang="zh-CN" sz="1800" dirty="0" smtClean="0">
                <a:latin typeface="Cambria" panose="02040503050406030204" pitchFamily="18" charset="0"/>
                <a:ea typeface="Cambria" panose="02040503050406030204" pitchFamily="18" charset="0"/>
              </a:rPr>
              <a:t>X </a:t>
            </a:r>
            <a:r>
              <a:rPr lang="en-US" altLang="zh-CN" sz="1800" dirty="0">
                <a:latin typeface="Cambria" panose="02040503050406030204" pitchFamily="18" charset="0"/>
                <a:ea typeface="Cambria" panose="02040503050406030204" pitchFamily="18" charset="0"/>
              </a:rPr>
              <a:t>= </a:t>
            </a:r>
            <a:r>
              <a:rPr lang="en-US" altLang="zh-CN" sz="1800" dirty="0" err="1">
                <a:latin typeface="Cambria" panose="02040503050406030204" pitchFamily="18" charset="0"/>
                <a:ea typeface="Cambria" panose="02040503050406030204" pitchFamily="18" charset="0"/>
              </a:rPr>
              <a:t>np.vstack</a:t>
            </a:r>
            <a:r>
              <a:rPr lang="en-US" altLang="zh-CN" sz="1800" dirty="0">
                <a:latin typeface="Cambria" panose="02040503050406030204" pitchFamily="18" charset="0"/>
                <a:ea typeface="Cambria" panose="02040503050406030204" pitchFamily="18" charset="0"/>
              </a:rPr>
              <a:t>([</a:t>
            </a:r>
            <a:r>
              <a:rPr lang="en-US" altLang="zh-CN" sz="1800" dirty="0" err="1">
                <a:latin typeface="Cambria" panose="02040503050406030204" pitchFamily="18" charset="0"/>
                <a:ea typeface="Cambria" panose="02040503050406030204" pitchFamily="18" charset="0"/>
              </a:rPr>
              <a:t>x,y</a:t>
            </a:r>
            <a:r>
              <a:rPr lang="en-US" altLang="zh-CN" sz="1800" dirty="0">
                <a:latin typeface="Cambria" panose="02040503050406030204" pitchFamily="18" charset="0"/>
                <a:ea typeface="Cambria" panose="02040503050406030204" pitchFamily="18" charset="0"/>
              </a:rPr>
              <a:t>]) # </a:t>
            </a:r>
            <a:r>
              <a:rPr lang="zh-CN" altLang="zh-CN" sz="1800" dirty="0">
                <a:latin typeface="Cambria" panose="02040503050406030204" pitchFamily="18" charset="0"/>
              </a:rPr>
              <a:t>向量</a:t>
            </a:r>
            <a:r>
              <a:rPr lang="en-US" altLang="zh-CN" sz="1800" dirty="0">
                <a:latin typeface="Cambria" panose="02040503050406030204" pitchFamily="18" charset="0"/>
                <a:ea typeface="Cambria" panose="02040503050406030204" pitchFamily="18" charset="0"/>
              </a:rPr>
              <a:t>x</a:t>
            </a:r>
            <a:r>
              <a:rPr lang="zh-CN" altLang="zh-CN" sz="1800" dirty="0">
                <a:latin typeface="Cambria" panose="02040503050406030204" pitchFamily="18" charset="0"/>
              </a:rPr>
              <a:t>，</a:t>
            </a:r>
            <a:r>
              <a:rPr lang="en-US" altLang="zh-CN" sz="1800" dirty="0">
                <a:latin typeface="Cambria" panose="02040503050406030204" pitchFamily="18" charset="0"/>
                <a:ea typeface="Cambria" panose="02040503050406030204" pitchFamily="18" charset="0"/>
              </a:rPr>
              <a:t>y</a:t>
            </a:r>
            <a:r>
              <a:rPr lang="zh-CN" altLang="zh-CN" sz="1800" dirty="0">
                <a:latin typeface="Cambria" panose="02040503050406030204" pitchFamily="18" charset="0"/>
              </a:rPr>
              <a:t>在前面例子中已经赋值。下同</a:t>
            </a:r>
            <a:endParaRPr lang="zh-CN" altLang="zh-CN" sz="1800" dirty="0">
              <a:latin typeface="Cambria" panose="02040503050406030204" pitchFamily="18" charset="0"/>
            </a:endParaRPr>
          </a:p>
          <a:p>
            <a:pPr marL="0" indent="0">
              <a:buNone/>
            </a:pPr>
            <a:r>
              <a:rPr lang="en-US" altLang="zh-CN" sz="1800" dirty="0" err="1">
                <a:latin typeface="Cambria" panose="02040503050406030204" pitchFamily="18" charset="0"/>
                <a:ea typeface="Cambria" panose="02040503050406030204" pitchFamily="18" charset="0"/>
              </a:rPr>
              <a:t>dist</a:t>
            </a:r>
            <a:r>
              <a:rPr lang="en-US" altLang="zh-CN" sz="1800" dirty="0">
                <a:latin typeface="Cambria" panose="02040503050406030204" pitchFamily="18" charset="0"/>
                <a:ea typeface="Cambria" panose="02040503050406030204" pitchFamily="18" charset="0"/>
              </a:rPr>
              <a:t> = </a:t>
            </a:r>
            <a:r>
              <a:rPr lang="en-US" altLang="zh-CN" sz="1800" dirty="0" err="1">
                <a:latin typeface="Cambria" panose="02040503050406030204" pitchFamily="18" charset="0"/>
                <a:ea typeface="Cambria" panose="02040503050406030204" pitchFamily="18" charset="0"/>
              </a:rPr>
              <a:t>dis.pdist</a:t>
            </a:r>
            <a:r>
              <a:rPr lang="en-US" altLang="zh-CN" sz="1800" dirty="0">
                <a:latin typeface="Cambria" panose="02040503050406030204" pitchFamily="18" charset="0"/>
                <a:ea typeface="Cambria" panose="02040503050406030204" pitchFamily="18" charset="0"/>
              </a:rPr>
              <a:t>(X, metric='</a:t>
            </a:r>
            <a:r>
              <a:rPr lang="en-US" altLang="zh-CN" sz="1800" dirty="0" err="1">
                <a:latin typeface="Cambria" panose="02040503050406030204" pitchFamily="18" charset="0"/>
                <a:ea typeface="Cambria" panose="02040503050406030204" pitchFamily="18" charset="0"/>
              </a:rPr>
              <a:t>euclidean</a:t>
            </a:r>
            <a:r>
              <a:rPr lang="en-US" altLang="zh-CN" sz="1800" dirty="0">
                <a:latin typeface="Cambria" panose="02040503050406030204" pitchFamily="18" charset="0"/>
                <a:ea typeface="Cambria" panose="02040503050406030204" pitchFamily="18" charset="0"/>
              </a:rPr>
              <a:t>') # </a:t>
            </a:r>
            <a:r>
              <a:rPr lang="zh-CN" altLang="zh-CN" sz="1800" dirty="0">
                <a:latin typeface="Cambria" panose="02040503050406030204" pitchFamily="18" charset="0"/>
              </a:rPr>
              <a:t>欧几里得距离</a:t>
            </a:r>
            <a:endParaRPr lang="zh-CN" altLang="zh-CN" sz="1800" dirty="0">
              <a:latin typeface="Cambria" panose="02040503050406030204" pitchFamily="18" charset="0"/>
            </a:endParaRPr>
          </a:p>
        </p:txBody>
      </p:sp>
      <p:sp>
        <p:nvSpPr>
          <p:cNvPr id="22" name="内容占位符 3"/>
          <p:cNvSpPr txBox="1"/>
          <p:nvPr/>
        </p:nvSpPr>
        <p:spPr>
          <a:xfrm>
            <a:off x="1402189" y="3284984"/>
            <a:ext cx="10272890"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dirty="0" smtClean="0">
                <a:latin typeface="Cambria" panose="02040503050406030204" pitchFamily="18" charset="0"/>
                <a:ea typeface="Cambria" panose="02040503050406030204" pitchFamily="18" charset="0"/>
              </a:rPr>
              <a:t>2.3 </a:t>
            </a:r>
            <a:r>
              <a:rPr lang="zh-CN" altLang="en-US" dirty="0" smtClean="0">
                <a:latin typeface="Cambria" panose="02040503050406030204" pitchFamily="18" charset="0"/>
              </a:rPr>
              <a:t>曼哈顿</a:t>
            </a:r>
            <a:r>
              <a:rPr lang="zh-CN" altLang="zh-CN" dirty="0" smtClean="0">
                <a:latin typeface="Cambria" panose="02040503050406030204" pitchFamily="18" charset="0"/>
              </a:rPr>
              <a:t>距离</a:t>
            </a:r>
            <a:endParaRPr lang="zh-CN" altLang="en-US" dirty="0">
              <a:latin typeface="Cambria" panose="02040503050406030204" pitchFamily="18" charset="0"/>
            </a:endParaRPr>
          </a:p>
        </p:txBody>
      </p:sp>
      <p:graphicFrame>
        <p:nvGraphicFramePr>
          <p:cNvPr id="29" name="对象 28"/>
          <p:cNvGraphicFramePr>
            <a:graphicFrameLocks noChangeAspect="1"/>
          </p:cNvGraphicFramePr>
          <p:nvPr/>
        </p:nvGraphicFramePr>
        <p:xfrm>
          <a:off x="3888154" y="5953125"/>
          <a:ext cx="3641969" cy="355600"/>
        </p:xfrm>
        <a:graphic>
          <a:graphicData uri="http://schemas.openxmlformats.org/presentationml/2006/ole">
            <mc:AlternateContent xmlns:mc="http://schemas.openxmlformats.org/markup-compatibility/2006">
              <mc:Choice xmlns:v="urn:schemas-microsoft-com:vml" Requires="v">
                <p:oleObj spid="_x0000_s6155" name="Equation" r:id="rId2" imgW="71018400" imgH="8534400" progId="Equation.DSMT4">
                  <p:embed/>
                </p:oleObj>
              </mc:Choice>
              <mc:Fallback>
                <p:oleObj name="Equation" r:id="rId2" imgW="71018400" imgH="8534400" progId="Equation.DSMT4">
                  <p:embed/>
                  <p:pic>
                    <p:nvPicPr>
                      <p:cNvPr id="0" name="图片 1025"/>
                      <p:cNvPicPr/>
                      <p:nvPr/>
                    </p:nvPicPr>
                    <p:blipFill>
                      <a:blip r:embed="rId3"/>
                      <a:stretch>
                        <a:fillRect/>
                      </a:stretch>
                    </p:blipFill>
                    <p:spPr>
                      <a:xfrm>
                        <a:off x="3888154" y="5953125"/>
                        <a:ext cx="3641969" cy="355600"/>
                      </a:xfrm>
                      <a:prstGeom prst="rect">
                        <a:avLst/>
                      </a:prstGeom>
                    </p:spPr>
                  </p:pic>
                </p:oleObj>
              </mc:Fallback>
            </mc:AlternateContent>
          </a:graphicData>
        </a:graphic>
      </p:graphicFrame>
      <p:pic>
        <p:nvPicPr>
          <p:cNvPr id="16" name="图片 15"/>
          <p:cNvPicPr/>
          <p:nvPr/>
        </p:nvPicPr>
        <p:blipFill>
          <a:blip r:embed="rId4">
            <a:extLst>
              <a:ext uri="{28A0092B-C50C-407E-A947-70E740481C1C}">
                <a14:useLocalDpi xmlns:a14="http://schemas.microsoft.com/office/drawing/2010/main" val="0"/>
              </a:ext>
            </a:extLst>
          </a:blip>
          <a:srcRect/>
          <a:stretch>
            <a:fillRect/>
          </a:stretch>
        </p:blipFill>
        <p:spPr bwMode="auto">
          <a:xfrm>
            <a:off x="8699239" y="3557346"/>
            <a:ext cx="3330726" cy="2493152"/>
          </a:xfrm>
          <a:prstGeom prst="rect">
            <a:avLst/>
          </a:prstGeom>
          <a:noFill/>
          <a:ln>
            <a:noFill/>
          </a:ln>
        </p:spPr>
      </p:pic>
      <p:pic>
        <p:nvPicPr>
          <p:cNvPr id="6" name="图片 5"/>
          <p:cNvPicPr>
            <a:picLocks noChangeAspect="1"/>
          </p:cNvPicPr>
          <p:nvPr/>
        </p:nvPicPr>
        <p:blipFill>
          <a:blip r:embed="rId5"/>
          <a:stretch>
            <a:fillRect/>
          </a:stretch>
        </p:blipFill>
        <p:spPr>
          <a:xfrm>
            <a:off x="8729980" y="389890"/>
            <a:ext cx="3300095" cy="264287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9" name="内容占位符 2"/>
              <p:cNvSpPr>
                <a:spLocks noGrp="1"/>
              </p:cNvSpPr>
              <p:nvPr>
                <p:ph idx="1"/>
              </p:nvPr>
            </p:nvSpPr>
            <p:spPr>
              <a:xfrm>
                <a:off x="1393711" y="2501282"/>
                <a:ext cx="10436997" cy="1271239"/>
              </a:xfrm>
            </p:spPr>
            <p:txBody>
              <a:bodyPr>
                <a:noAutofit/>
              </a:bodyPr>
              <a:lstStyle/>
              <a:p>
                <a:r>
                  <a:rPr lang="zh-CN" altLang="zh-CN" dirty="0">
                    <a:latin typeface="Cambria" panose="02040503050406030204" pitchFamily="18" charset="0"/>
                  </a:rPr>
                  <a:t>闵可夫斯基距离定义中，当</a:t>
                </a:r>
                <a14:m>
                  <m:oMath xmlns:m="http://schemas.openxmlformats.org/officeDocument/2006/math">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a:latin typeface="Cambria Math" panose="02040503050406030204" pitchFamily="18" charset="0"/>
                      </a:rPr>
                      <m:t>∞</m:t>
                    </m:r>
                  </m:oMath>
                </a14:m>
                <a:r>
                  <a:rPr lang="zh-CN" altLang="zh-CN" dirty="0">
                    <a:latin typeface="Cambria" panose="02040503050406030204" pitchFamily="18" charset="0"/>
                  </a:rPr>
                  <a:t>时，称为切比雪夫距离（</a:t>
                </a:r>
                <a:r>
                  <a:rPr lang="en-US" altLang="zh-CN" dirty="0">
                    <a:latin typeface="Cambria" panose="02040503050406030204" pitchFamily="18" charset="0"/>
                    <a:ea typeface="Cambria" panose="02040503050406030204" pitchFamily="18" charset="0"/>
                  </a:rPr>
                  <a:t>Chebyshev Distance</a:t>
                </a:r>
                <a:r>
                  <a:rPr lang="zh-CN" altLang="zh-CN" dirty="0">
                    <a:latin typeface="Cambria" panose="02040503050406030204" pitchFamily="18" charset="0"/>
                  </a:rPr>
                  <a:t>）。切比雪夫距离起源于国际象棋中国王的走法。“国王”每次只能往周围的</a:t>
                </a:r>
                <a:r>
                  <a:rPr lang="en-US" altLang="zh-CN" dirty="0">
                    <a:latin typeface="Cambria" panose="02040503050406030204" pitchFamily="18" charset="0"/>
                    <a:ea typeface="Cambria" panose="02040503050406030204" pitchFamily="18" charset="0"/>
                  </a:rPr>
                  <a:t>8</a:t>
                </a:r>
                <a:r>
                  <a:rPr lang="zh-CN" altLang="zh-CN" dirty="0">
                    <a:latin typeface="Cambria" panose="02040503050406030204" pitchFamily="18" charset="0"/>
                  </a:rPr>
                  <a:t>格中走一步，那么如果要从棋盘中</a:t>
                </a:r>
                <a14:m>
                  <m:oMath xmlns:m="http://schemas.openxmlformats.org/officeDocument/2006/math">
                    <m:r>
                      <a:rPr lang="en-US" altLang="zh-CN" i="1">
                        <a:latin typeface="Cambria Math" panose="02040503050406030204" pitchFamily="18" charset="0"/>
                      </a:rPr>
                      <m:t>𝐴</m:t>
                    </m:r>
                  </m:oMath>
                </a14:m>
                <a:r>
                  <a:rPr lang="zh-CN" altLang="zh-CN" dirty="0" smtClean="0">
                    <a:latin typeface="Cambria" panose="02040503050406030204" pitchFamily="18" charset="0"/>
                  </a:rPr>
                  <a:t>格</a:t>
                </a:r>
                <a:r>
                  <a:rPr lang="en-US" altLang="zh-CN" dirty="0" smtClean="0">
                    <a:latin typeface="Cambria" panose="02040503050406030204" pitchFamily="18" charset="0"/>
                    <a:ea typeface="Cambria" panose="02040503050406030204" pitchFamily="18" charset="0"/>
                  </a:rPr>
                  <a:t>               </a:t>
                </a:r>
                <a:r>
                  <a:rPr lang="zh-CN" altLang="zh-CN" dirty="0" smtClean="0">
                    <a:latin typeface="Cambria" panose="02040503050406030204" pitchFamily="18" charset="0"/>
                  </a:rPr>
                  <a:t>走到</a:t>
                </a:r>
                <a14:m>
                  <m:oMath xmlns:m="http://schemas.openxmlformats.org/officeDocument/2006/math">
                    <m:r>
                      <a:rPr lang="en-US" altLang="zh-CN" i="1">
                        <a:latin typeface="Cambria Math" panose="02040503050406030204" pitchFamily="18" charset="0"/>
                      </a:rPr>
                      <m:t>𝐵</m:t>
                    </m:r>
                  </m:oMath>
                </a14:m>
                <a:r>
                  <a:rPr lang="zh-CN" altLang="zh-CN" dirty="0" smtClean="0">
                    <a:latin typeface="Cambria" panose="02040503050406030204" pitchFamily="18" charset="0"/>
                  </a:rPr>
                  <a:t>格</a:t>
                </a:r>
                <a:endParaRPr lang="en-US" altLang="zh-CN" dirty="0">
                  <a:latin typeface="Cambria" panose="02040503050406030204" pitchFamily="18" charset="0"/>
                  <a:ea typeface="Cambria" panose="02040503050406030204" pitchFamily="18" charset="0"/>
                </a:endParaRPr>
              </a:p>
            </p:txBody>
          </p:sp>
        </mc:Choice>
        <mc:Fallback>
          <p:sp>
            <p:nvSpPr>
              <p:cNvPr id="19" name="内容占位符 2"/>
              <p:cNvSpPr>
                <a:spLocks noRot="1" noChangeAspect="1" noMove="1" noResize="1" noEditPoints="1" noAdjustHandles="1" noChangeArrowheads="1" noChangeShapeType="1" noTextEdit="1"/>
              </p:cNvSpPr>
              <p:nvPr>
                <p:ph idx="1"/>
              </p:nvPr>
            </p:nvSpPr>
            <p:spPr>
              <a:xfrm>
                <a:off x="1393711" y="2501282"/>
                <a:ext cx="10436997" cy="1271239"/>
              </a:xfrm>
              <a:blipFill rotWithShape="1">
                <a:blip r:embed="rId1"/>
                <a:stretch>
                  <a:fillRect l="-5" t="-1" b="49"/>
                </a:stretch>
              </a:blipFill>
            </p:spPr>
            <p:txBody>
              <a:bodyPr/>
              <a:lstStyle/>
              <a:p>
                <a:r>
                  <a:rPr lang="zh-CN" altLang="en-US">
                    <a:noFill/>
                  </a:rPr>
                  <a:t> </a:t>
                </a:r>
              </a:p>
            </p:txBody>
          </p:sp>
        </mc:Fallback>
      </mc:AlternateContent>
      <p:sp>
        <p:nvSpPr>
          <p:cNvPr id="22" name="内容占位符 3"/>
          <p:cNvSpPr txBox="1"/>
          <p:nvPr/>
        </p:nvSpPr>
        <p:spPr>
          <a:xfrm>
            <a:off x="1576114" y="1988840"/>
            <a:ext cx="6819831"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dirty="0" smtClean="0">
                <a:latin typeface="Cambria" panose="02040503050406030204" pitchFamily="18" charset="0"/>
                <a:ea typeface="Cambria" panose="02040503050406030204" pitchFamily="18" charset="0"/>
              </a:rPr>
              <a:t>2.4 </a:t>
            </a:r>
            <a:r>
              <a:rPr lang="zh-CN" altLang="zh-CN" dirty="0" smtClean="0">
                <a:latin typeface="Cambria" panose="02040503050406030204" pitchFamily="18" charset="0"/>
              </a:rPr>
              <a:t>切比雪夫距离</a:t>
            </a:r>
            <a:endParaRPr lang="zh-CN" altLang="en-US" dirty="0">
              <a:latin typeface="Cambria" panose="02040503050406030204" pitchFamily="18" charset="0"/>
            </a:endParaRPr>
          </a:p>
        </p:txBody>
      </p:sp>
      <p:sp>
        <p:nvSpPr>
          <p:cNvPr id="30" name="矩形 29"/>
          <p:cNvSpPr/>
          <p:nvPr/>
        </p:nvSpPr>
        <p:spPr>
          <a:xfrm>
            <a:off x="1657474" y="5871823"/>
            <a:ext cx="10280402" cy="5402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31" name="内容占位符 2"/>
          <p:cNvSpPr txBox="1"/>
          <p:nvPr/>
        </p:nvSpPr>
        <p:spPr>
          <a:xfrm>
            <a:off x="1790080" y="5936124"/>
            <a:ext cx="9889312" cy="403420"/>
          </a:xfrm>
          <a:prstGeom prst="rect">
            <a:avLst/>
          </a:prstGeom>
        </p:spPr>
        <p:txBody>
          <a:bodyPr vert="horz" lIns="91440" tIns="45720" rIns="91440" bIns="45720" rtlCol="0" anchor="ctr">
            <a:normAutofit lnSpcReduction="10000"/>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r>
              <a:rPr lang="en-US" altLang="zh-CN" sz="1800" dirty="0" err="1">
                <a:latin typeface="Cambria" panose="02040503050406030204" pitchFamily="18" charset="0"/>
                <a:ea typeface="Cambria" panose="02040503050406030204" pitchFamily="18" charset="0"/>
              </a:rPr>
              <a:t>dist</a:t>
            </a:r>
            <a:r>
              <a:rPr lang="en-US" altLang="zh-CN" sz="1800" dirty="0">
                <a:latin typeface="Cambria" panose="02040503050406030204" pitchFamily="18" charset="0"/>
                <a:ea typeface="Cambria" panose="02040503050406030204" pitchFamily="18" charset="0"/>
              </a:rPr>
              <a:t> = </a:t>
            </a:r>
            <a:r>
              <a:rPr lang="en-US" altLang="zh-CN" sz="1800" dirty="0" err="1">
                <a:latin typeface="Cambria" panose="02040503050406030204" pitchFamily="18" charset="0"/>
                <a:ea typeface="Cambria" panose="02040503050406030204" pitchFamily="18" charset="0"/>
              </a:rPr>
              <a:t>np.linalg.norm</a:t>
            </a:r>
            <a:r>
              <a:rPr lang="en-US" altLang="zh-CN" sz="1800" dirty="0">
                <a:latin typeface="Cambria" panose="02040503050406030204" pitchFamily="18" charset="0"/>
                <a:ea typeface="Cambria" panose="02040503050406030204" pitchFamily="18" charset="0"/>
              </a:rPr>
              <a:t>(x-y, </a:t>
            </a:r>
            <a:r>
              <a:rPr lang="en-US" altLang="zh-CN" sz="1800" dirty="0" err="1">
                <a:latin typeface="Cambria" panose="02040503050406030204" pitchFamily="18" charset="0"/>
                <a:ea typeface="Cambria" panose="02040503050406030204" pitchFamily="18" charset="0"/>
              </a:rPr>
              <a:t>ord</a:t>
            </a:r>
            <a:r>
              <a:rPr lang="en-US" altLang="zh-CN" sz="1800" dirty="0">
                <a:latin typeface="Cambria" panose="02040503050406030204" pitchFamily="18" charset="0"/>
                <a:ea typeface="Cambria" panose="02040503050406030204" pitchFamily="18" charset="0"/>
              </a:rPr>
              <a:t>=np.inf) # </a:t>
            </a:r>
            <a:r>
              <a:rPr lang="zh-CN" altLang="en-US" sz="1800" dirty="0">
                <a:latin typeface="Cambria" panose="02040503050406030204" pitchFamily="18" charset="0"/>
              </a:rPr>
              <a:t>切比雪夫</a:t>
            </a:r>
            <a:r>
              <a:rPr lang="zh-CN" altLang="en-US" sz="1800" dirty="0" smtClean="0">
                <a:latin typeface="Cambria" panose="02040503050406030204" pitchFamily="18" charset="0"/>
              </a:rPr>
              <a:t>距离，此时</a:t>
            </a:r>
            <a:r>
              <a:rPr lang="en-US" altLang="zh-CN" sz="1800" dirty="0" smtClean="0">
                <a:latin typeface="Cambria" panose="02040503050406030204" pitchFamily="18" charset="0"/>
                <a:ea typeface="Cambria" panose="02040503050406030204" pitchFamily="18" charset="0"/>
              </a:rPr>
              <a:t>p=</a:t>
            </a:r>
            <a:endParaRPr lang="zh-CN" altLang="zh-CN" sz="1800" dirty="0">
              <a:latin typeface="Cambria" panose="02040503050406030204" pitchFamily="18" charset="0"/>
            </a:endParaRPr>
          </a:p>
        </p:txBody>
      </p:sp>
      <p:sp>
        <p:nvSpPr>
          <p:cNvPr id="34" name="内容占位符 2"/>
          <p:cNvSpPr>
            <a:spLocks noGrp="1"/>
          </p:cNvSpPr>
          <p:nvPr>
            <p:ph idx="1"/>
          </p:nvPr>
        </p:nvSpPr>
        <p:spPr>
          <a:xfrm>
            <a:off x="1557818" y="5250666"/>
            <a:ext cx="10272890" cy="552983"/>
          </a:xfrm>
        </p:spPr>
        <p:txBody>
          <a:bodyPr>
            <a:normAutofit/>
          </a:bodyPr>
          <a:lstStyle/>
          <a:p>
            <a:r>
              <a:rPr lang="zh-CN" altLang="en-US" dirty="0">
                <a:latin typeface="Cambria" panose="02040503050406030204" pitchFamily="18" charset="0"/>
              </a:rPr>
              <a:t>切比雪夫</a:t>
            </a:r>
            <a:r>
              <a:rPr lang="zh-CN" altLang="zh-CN" dirty="0" smtClean="0">
                <a:latin typeface="Cambria" panose="02040503050406030204" pitchFamily="18" charset="0"/>
              </a:rPr>
              <a:t>距离计算</a:t>
            </a:r>
            <a:r>
              <a:rPr lang="en-US" altLang="zh-CN" dirty="0" smtClean="0">
                <a:latin typeface="Cambria" panose="02040503050406030204" pitchFamily="18" charset="0"/>
                <a:ea typeface="Cambria" panose="02040503050406030204" pitchFamily="18" charset="0"/>
              </a:rPr>
              <a:t>Python</a:t>
            </a:r>
            <a:r>
              <a:rPr lang="zh-CN" altLang="en-US" dirty="0" smtClean="0">
                <a:latin typeface="Cambria" panose="02040503050406030204" pitchFamily="18" charset="0"/>
              </a:rPr>
              <a:t>语句</a:t>
            </a:r>
            <a:r>
              <a:rPr lang="zh-CN" altLang="zh-CN" dirty="0" smtClean="0">
                <a:latin typeface="Cambria" panose="02040503050406030204" pitchFamily="18" charset="0"/>
              </a:rPr>
              <a:t>如下</a:t>
            </a:r>
            <a:r>
              <a:rPr lang="zh-CN" altLang="zh-CN" dirty="0">
                <a:latin typeface="Cambria" panose="02040503050406030204" pitchFamily="18" charset="0"/>
              </a:rPr>
              <a:t>：</a:t>
            </a:r>
            <a:endParaRPr lang="en-US" altLang="zh-CN" dirty="0">
              <a:latin typeface="Cambria" panose="02040503050406030204" pitchFamily="18" charset="0"/>
              <a:ea typeface="Cambria" panose="02040503050406030204" pitchFamily="18" charset="0"/>
            </a:endParaRPr>
          </a:p>
        </p:txBody>
      </p:sp>
      <p:graphicFrame>
        <p:nvGraphicFramePr>
          <p:cNvPr id="35" name="对象 34"/>
          <p:cNvGraphicFramePr>
            <a:graphicFrameLocks noChangeAspect="1"/>
          </p:cNvGraphicFramePr>
          <p:nvPr/>
        </p:nvGraphicFramePr>
        <p:xfrm>
          <a:off x="8077170" y="6072212"/>
          <a:ext cx="265723" cy="165100"/>
        </p:xfrm>
        <a:graphic>
          <a:graphicData uri="http://schemas.openxmlformats.org/presentationml/2006/ole">
            <mc:AlternateContent xmlns:mc="http://schemas.openxmlformats.org/markup-compatibility/2006">
              <mc:Choice xmlns:v="urn:schemas-microsoft-com:vml" Requires="v">
                <p:oleObj spid="_x0000_s7213" name="Equation" r:id="rId2" imgW="5181600" imgH="3962400" progId="Equation.DSMT4">
                  <p:embed/>
                </p:oleObj>
              </mc:Choice>
              <mc:Fallback>
                <p:oleObj name="Equation" r:id="rId2" imgW="5181600" imgH="3962400" progId="Equation.DSMT4">
                  <p:embed/>
                  <p:pic>
                    <p:nvPicPr>
                      <p:cNvPr id="0" name="图片 1025"/>
                      <p:cNvPicPr/>
                      <p:nvPr/>
                    </p:nvPicPr>
                    <p:blipFill>
                      <a:blip r:embed="rId3"/>
                      <a:stretch>
                        <a:fillRect/>
                      </a:stretch>
                    </p:blipFill>
                    <p:spPr>
                      <a:xfrm>
                        <a:off x="8077170" y="6072212"/>
                        <a:ext cx="265723" cy="165100"/>
                      </a:xfrm>
                      <a:prstGeom prst="rect">
                        <a:avLst/>
                      </a:prstGeom>
                    </p:spPr>
                  </p:pic>
                </p:oleObj>
              </mc:Fallback>
            </mc:AlternateContent>
          </a:graphicData>
        </a:graphic>
      </p:graphicFrame>
      <p:sp>
        <p:nvSpPr>
          <p:cNvPr id="23" name="矩形 22"/>
          <p:cNvSpPr/>
          <p:nvPr/>
        </p:nvSpPr>
        <p:spPr>
          <a:xfrm>
            <a:off x="1398988" y="1376538"/>
            <a:ext cx="10280402" cy="5402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25" name="内容占位符 2"/>
          <p:cNvSpPr txBox="1"/>
          <p:nvPr/>
        </p:nvSpPr>
        <p:spPr>
          <a:xfrm>
            <a:off x="1612954" y="1471628"/>
            <a:ext cx="9889312" cy="403420"/>
          </a:xfrm>
          <a:prstGeom prst="rect">
            <a:avLst/>
          </a:prstGeom>
        </p:spPr>
        <p:txBody>
          <a:bodyPr vert="horz" lIns="91440" tIns="45720" rIns="91440" bIns="45720" rtlCol="0" anchor="ctr">
            <a:normAutofit lnSpcReduction="10000"/>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r>
              <a:rPr lang="en-US" altLang="zh-CN" sz="1800" dirty="0" err="1">
                <a:latin typeface="Cambria" panose="02040503050406030204" pitchFamily="18" charset="0"/>
                <a:ea typeface="Cambria" panose="02040503050406030204" pitchFamily="18" charset="0"/>
              </a:rPr>
              <a:t>dist</a:t>
            </a:r>
            <a:r>
              <a:rPr lang="en-US" altLang="zh-CN" sz="1800" dirty="0">
                <a:latin typeface="Cambria" panose="02040503050406030204" pitchFamily="18" charset="0"/>
                <a:ea typeface="Cambria" panose="02040503050406030204" pitchFamily="18" charset="0"/>
              </a:rPr>
              <a:t> = </a:t>
            </a:r>
            <a:r>
              <a:rPr lang="en-US" altLang="zh-CN" sz="1800" dirty="0" err="1">
                <a:latin typeface="Cambria" panose="02040503050406030204" pitchFamily="18" charset="0"/>
                <a:ea typeface="Cambria" panose="02040503050406030204" pitchFamily="18" charset="0"/>
              </a:rPr>
              <a:t>np.linalg.norm</a:t>
            </a:r>
            <a:r>
              <a:rPr lang="en-US" altLang="zh-CN" sz="1800" dirty="0">
                <a:latin typeface="Cambria" panose="02040503050406030204" pitchFamily="18" charset="0"/>
                <a:ea typeface="Cambria" panose="02040503050406030204" pitchFamily="18" charset="0"/>
              </a:rPr>
              <a:t>(x-y, </a:t>
            </a:r>
            <a:r>
              <a:rPr lang="en-US" altLang="zh-CN" sz="1800" dirty="0" err="1">
                <a:latin typeface="Cambria" panose="02040503050406030204" pitchFamily="18" charset="0"/>
                <a:ea typeface="Cambria" panose="02040503050406030204" pitchFamily="18" charset="0"/>
              </a:rPr>
              <a:t>ord</a:t>
            </a:r>
            <a:r>
              <a:rPr lang="en-US" altLang="zh-CN" sz="1800" dirty="0">
                <a:latin typeface="Cambria" panose="02040503050406030204" pitchFamily="18" charset="0"/>
                <a:ea typeface="Cambria" panose="02040503050406030204" pitchFamily="18" charset="0"/>
              </a:rPr>
              <a:t>=1) # </a:t>
            </a:r>
            <a:r>
              <a:rPr lang="zh-CN" altLang="zh-CN" sz="1800" dirty="0">
                <a:latin typeface="Cambria" panose="02040503050406030204" pitchFamily="18" charset="0"/>
              </a:rPr>
              <a:t>曼哈顿距离，此时</a:t>
            </a:r>
            <a:r>
              <a:rPr lang="en-US" altLang="zh-CN" sz="1800" dirty="0">
                <a:latin typeface="Cambria" panose="02040503050406030204" pitchFamily="18" charset="0"/>
                <a:ea typeface="Cambria" panose="02040503050406030204" pitchFamily="18" charset="0"/>
              </a:rPr>
              <a:t>p=1</a:t>
            </a:r>
            <a:endParaRPr lang="zh-CN" altLang="zh-CN" sz="1800" dirty="0">
              <a:latin typeface="Cambria" panose="02040503050406030204" pitchFamily="18" charset="0"/>
            </a:endParaRPr>
          </a:p>
        </p:txBody>
      </p:sp>
      <p:sp>
        <p:nvSpPr>
          <p:cNvPr id="26" name="内容占位符 2"/>
          <p:cNvSpPr>
            <a:spLocks noGrp="1"/>
          </p:cNvSpPr>
          <p:nvPr>
            <p:ph idx="1"/>
          </p:nvPr>
        </p:nvSpPr>
        <p:spPr>
          <a:xfrm>
            <a:off x="1380692" y="787786"/>
            <a:ext cx="10272890" cy="552983"/>
          </a:xfrm>
        </p:spPr>
        <p:txBody>
          <a:bodyPr>
            <a:normAutofit/>
          </a:bodyPr>
          <a:lstStyle/>
          <a:p>
            <a:r>
              <a:rPr lang="zh-CN" altLang="zh-CN" dirty="0">
                <a:latin typeface="Cambria" panose="02040503050406030204" pitchFamily="18" charset="0"/>
              </a:rPr>
              <a:t>曼哈顿距离</a:t>
            </a:r>
            <a:r>
              <a:rPr lang="zh-CN" altLang="zh-CN" dirty="0" smtClean="0">
                <a:latin typeface="Cambria" panose="02040503050406030204" pitchFamily="18" charset="0"/>
              </a:rPr>
              <a:t>计算</a:t>
            </a:r>
            <a:r>
              <a:rPr lang="en-US" altLang="zh-CN" dirty="0" smtClean="0">
                <a:latin typeface="Cambria" panose="02040503050406030204" pitchFamily="18" charset="0"/>
                <a:ea typeface="Cambria" panose="02040503050406030204" pitchFamily="18" charset="0"/>
              </a:rPr>
              <a:t>Python</a:t>
            </a:r>
            <a:r>
              <a:rPr lang="zh-CN" altLang="en-US" dirty="0" smtClean="0">
                <a:latin typeface="Cambria" panose="02040503050406030204" pitchFamily="18" charset="0"/>
              </a:rPr>
              <a:t>语句</a:t>
            </a:r>
            <a:r>
              <a:rPr lang="zh-CN" altLang="zh-CN" dirty="0" smtClean="0">
                <a:latin typeface="Cambria" panose="02040503050406030204" pitchFamily="18" charset="0"/>
              </a:rPr>
              <a:t>如下</a:t>
            </a:r>
            <a:r>
              <a:rPr lang="zh-CN" altLang="zh-CN" dirty="0">
                <a:latin typeface="Cambria" panose="02040503050406030204" pitchFamily="18" charset="0"/>
              </a:rPr>
              <a:t>：</a:t>
            </a:r>
            <a:endParaRPr lang="en-US" altLang="zh-CN" dirty="0">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sp>
            <p:nvSpPr>
              <p:cNvPr id="29" name="内容占位符 2"/>
              <p:cNvSpPr>
                <a:spLocks noGrp="1"/>
              </p:cNvSpPr>
              <p:nvPr>
                <p:ph idx="1"/>
              </p:nvPr>
            </p:nvSpPr>
            <p:spPr>
              <a:xfrm>
                <a:off x="1774144" y="3595365"/>
                <a:ext cx="10436997" cy="913755"/>
              </a:xfrm>
            </p:spPr>
            <p:txBody>
              <a:bodyPr>
                <a:noAutofit/>
              </a:bodyPr>
              <a:lstStyle/>
              <a:p>
                <a:pPr marL="0" indent="0">
                  <a:buNone/>
                </a:pPr>
                <a:r>
                  <a:rPr lang="zh-CN" altLang="en-US" dirty="0" smtClean="0">
                    <a:latin typeface="Cambria" panose="02040503050406030204" pitchFamily="18" charset="0"/>
                  </a:rPr>
                  <a:t>最少要走几步？假设                                           ，                                       </a:t>
                </a:r>
                <a:r>
                  <a:rPr lang="zh-CN" altLang="zh-CN" dirty="0" smtClean="0">
                    <a:latin typeface="Cambria" panose="02040503050406030204" pitchFamily="18" charset="0"/>
                  </a:rPr>
                  <a:t>是</a:t>
                </a:r>
                <a14:m>
                  <m:oMath xmlns:m="http://schemas.openxmlformats.org/officeDocument/2006/math">
                    <m:r>
                      <a:rPr lang="en-US" altLang="zh-CN" i="1">
                        <a:latin typeface="Cambria Math" panose="02040503050406030204" pitchFamily="18" charset="0"/>
                      </a:rPr>
                      <m:t>𝑛</m:t>
                    </m:r>
                    <m:r>
                      <a:rPr lang="en-US" altLang="zh-CN" i="1">
                        <a:latin typeface="Cambria Math" panose="02040503050406030204" pitchFamily="18" charset="0"/>
                      </a:rPr>
                      <m:t> </m:t>
                    </m:r>
                  </m:oMath>
                </a14:m>
                <a:r>
                  <a:rPr lang="zh-CN" altLang="zh-CN" dirty="0">
                    <a:latin typeface="Cambria" panose="02040503050406030204" pitchFamily="18" charset="0"/>
                  </a:rPr>
                  <a:t>维空间的两个向量，它们之间的切比雪夫距离是：</a:t>
                </a:r>
                <a:endParaRPr lang="en-US" altLang="zh-CN" dirty="0">
                  <a:latin typeface="Cambria" panose="02040503050406030204" pitchFamily="18" charset="0"/>
                  <a:ea typeface="Cambria" panose="02040503050406030204" pitchFamily="18" charset="0"/>
                </a:endParaRPr>
              </a:p>
            </p:txBody>
          </p:sp>
        </mc:Choice>
        <mc:Fallback>
          <p:sp>
            <p:nvSpPr>
              <p:cNvPr id="29" name="内容占位符 2"/>
              <p:cNvSpPr>
                <a:spLocks noRot="1" noChangeAspect="1" noMove="1" noResize="1" noEditPoints="1" noAdjustHandles="1" noChangeArrowheads="1" noChangeShapeType="1" noTextEdit="1"/>
              </p:cNvSpPr>
              <p:nvPr>
                <p:ph idx="1"/>
              </p:nvPr>
            </p:nvSpPr>
            <p:spPr>
              <a:xfrm>
                <a:off x="1774144" y="3595365"/>
                <a:ext cx="10436997" cy="913755"/>
              </a:xfrm>
              <a:blipFill rotWithShape="1">
                <a:blip r:embed="rId4"/>
                <a:stretch>
                  <a:fillRect l="-6" t="-69" r="1"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矩形 20"/>
              <p:cNvSpPr/>
              <p:nvPr/>
            </p:nvSpPr>
            <p:spPr>
              <a:xfrm>
                <a:off x="5639379" y="3321600"/>
                <a:ext cx="97283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en-US" altLang="zh-CN" i="1" smtClean="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en-US" altLang="zh-CN" i="1" smtClean="0">
                                  <a:latin typeface="Cambria Math" panose="02040503050406030204" pitchFamily="18" charset="0"/>
                                </a:rPr>
                                <m:t>2</m:t>
                              </m:r>
                            </m:sub>
                          </m:sSub>
                        </m:e>
                      </m:d>
                    </m:oMath>
                  </m:oMathPara>
                </a14:m>
                <a:endParaRPr lang="zh-CN" altLang="en-US" dirty="0">
                  <a:latin typeface="Cambria" panose="02040503050406030204" pitchFamily="18" charset="0"/>
                </a:endParaRPr>
              </a:p>
            </p:txBody>
          </p:sp>
        </mc:Choice>
        <mc:Fallback>
          <p:sp>
            <p:nvSpPr>
              <p:cNvPr id="21" name="矩形 20"/>
              <p:cNvSpPr>
                <a:spLocks noRot="1" noChangeAspect="1" noMove="1" noResize="1" noEditPoints="1" noAdjustHandles="1" noChangeArrowheads="1" noChangeShapeType="1" noTextEdit="1"/>
              </p:cNvSpPr>
              <p:nvPr/>
            </p:nvSpPr>
            <p:spPr>
              <a:xfrm>
                <a:off x="5639379" y="3321600"/>
                <a:ext cx="972830" cy="369332"/>
              </a:xfrm>
              <a:prstGeom prst="rect">
                <a:avLst/>
              </a:prstGeom>
              <a:blipFill rotWithShape="1">
                <a:blip r:embed="rId5"/>
                <a:stretch>
                  <a:fillRect l="-60" t="-149" r="61" b="84"/>
                </a:stretch>
              </a:blipFill>
            </p:spPr>
            <p:txBody>
              <a:bodyPr/>
              <a:lstStyle/>
              <a:p>
                <a:r>
                  <a:rPr lang="zh-CN" altLang="en-US">
                    <a:noFill/>
                  </a:rPr>
                  <a:t> </a:t>
                </a:r>
              </a:p>
            </p:txBody>
          </p:sp>
        </mc:Fallback>
      </mc:AlternateContent>
      <p:graphicFrame>
        <p:nvGraphicFramePr>
          <p:cNvPr id="24" name="对象 23"/>
          <p:cNvGraphicFramePr>
            <a:graphicFrameLocks noChangeAspect="1"/>
          </p:cNvGraphicFramePr>
          <p:nvPr/>
        </p:nvGraphicFramePr>
        <p:xfrm>
          <a:off x="4193818" y="3700576"/>
          <a:ext cx="2821354" cy="346076"/>
        </p:xfrm>
        <a:graphic>
          <a:graphicData uri="http://schemas.openxmlformats.org/presentationml/2006/ole">
            <mc:AlternateContent xmlns:mc="http://schemas.openxmlformats.org/markup-compatibility/2006">
              <mc:Choice xmlns:v="urn:schemas-microsoft-com:vml" Requires="v">
                <p:oleObj spid="_x0000_s7214" name="Equation" r:id="rId6" imgW="37795200" imgH="8534400" progId="Equation.DSMT4">
                  <p:embed/>
                </p:oleObj>
              </mc:Choice>
              <mc:Fallback>
                <p:oleObj name="Equation" r:id="rId6" imgW="37795200" imgH="8534400" progId="Equation.DSMT4">
                  <p:embed/>
                  <p:pic>
                    <p:nvPicPr>
                      <p:cNvPr id="0" name="图片 1026"/>
                      <p:cNvPicPr>
                        <a:picLocks noChangeAspect="1" noChangeArrowheads="1"/>
                      </p:cNvPicPr>
                      <p:nvPr/>
                    </p:nvPicPr>
                    <p:blipFill>
                      <a:blip r:embed="rId7"/>
                      <a:srcRect/>
                      <a:stretch>
                        <a:fillRect/>
                      </a:stretch>
                    </p:blipFill>
                    <p:spPr bwMode="auto">
                      <a:xfrm>
                        <a:off x="4193818" y="3700576"/>
                        <a:ext cx="2821354" cy="346076"/>
                      </a:xfrm>
                      <a:prstGeom prst="rect">
                        <a:avLst/>
                      </a:prstGeom>
                      <a:noFill/>
                    </p:spPr>
                  </p:pic>
                </p:oleObj>
              </mc:Fallback>
            </mc:AlternateContent>
          </a:graphicData>
        </a:graphic>
      </p:graphicFrame>
      <p:graphicFrame>
        <p:nvGraphicFramePr>
          <p:cNvPr id="27" name="对象 26"/>
          <p:cNvGraphicFramePr>
            <a:graphicFrameLocks noChangeAspect="1"/>
          </p:cNvGraphicFramePr>
          <p:nvPr/>
        </p:nvGraphicFramePr>
        <p:xfrm>
          <a:off x="6975906" y="3700576"/>
          <a:ext cx="1989017" cy="346076"/>
        </p:xfrm>
        <a:graphic>
          <a:graphicData uri="http://schemas.openxmlformats.org/presentationml/2006/ole">
            <mc:AlternateContent xmlns:mc="http://schemas.openxmlformats.org/markup-compatibility/2006">
              <mc:Choice xmlns:v="urn:schemas-microsoft-com:vml" Requires="v">
                <p:oleObj spid="_x0000_s7215" name="Equation" r:id="rId8" imgW="39014400" imgH="8534400" progId="Equation.DSMT4">
                  <p:embed/>
                </p:oleObj>
              </mc:Choice>
              <mc:Fallback>
                <p:oleObj name="Equation" r:id="rId8" imgW="39014400" imgH="8534400" progId="Equation.DSMT4">
                  <p:embed/>
                  <p:pic>
                    <p:nvPicPr>
                      <p:cNvPr id="0" name="图片 1027"/>
                      <p:cNvPicPr>
                        <a:picLocks noChangeAspect="1" noChangeArrowheads="1"/>
                      </p:cNvPicPr>
                      <p:nvPr/>
                    </p:nvPicPr>
                    <p:blipFill>
                      <a:blip r:embed="rId9"/>
                      <a:srcRect/>
                      <a:stretch>
                        <a:fillRect/>
                      </a:stretch>
                    </p:blipFill>
                    <p:spPr bwMode="auto">
                      <a:xfrm>
                        <a:off x="6975906" y="3700576"/>
                        <a:ext cx="1989017" cy="3460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3833831" y="4496212"/>
          <a:ext cx="5720862" cy="736600"/>
        </p:xfrm>
        <a:graphic>
          <a:graphicData uri="http://schemas.openxmlformats.org/presentationml/2006/ole">
            <mc:AlternateContent xmlns:mc="http://schemas.openxmlformats.org/markup-compatibility/2006">
              <mc:Choice xmlns:v="urn:schemas-microsoft-com:vml" Requires="v">
                <p:oleObj spid="_x0000_s7216" name="Equation" r:id="rId10" imgW="111556800" imgH="17678400" progId="Equation.DSMT4">
                  <p:embed/>
                </p:oleObj>
              </mc:Choice>
              <mc:Fallback>
                <p:oleObj name="Equation" r:id="rId10" imgW="111556800" imgH="17678400" progId="Equation.DSMT4">
                  <p:embed/>
                  <p:pic>
                    <p:nvPicPr>
                      <p:cNvPr id="0" name="图片 1028"/>
                      <p:cNvPicPr>
                        <a:picLocks noChangeAspect="1" noChangeArrowheads="1"/>
                      </p:cNvPicPr>
                      <p:nvPr/>
                    </p:nvPicPr>
                    <p:blipFill>
                      <a:blip r:embed="rId11"/>
                      <a:srcRect/>
                      <a:stretch>
                        <a:fillRect/>
                      </a:stretch>
                    </p:blipFill>
                    <p:spPr bwMode="auto">
                      <a:xfrm>
                        <a:off x="3833831" y="4496212"/>
                        <a:ext cx="5720862"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28" name="矩形 27"/>
              <p:cNvSpPr/>
              <p:nvPr/>
            </p:nvSpPr>
            <p:spPr>
              <a:xfrm>
                <a:off x="3933339" y="3315617"/>
                <a:ext cx="96218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en-US" altLang="zh-CN" i="1" smtClean="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en-US" altLang="zh-CN" i="1" smtClean="0">
                                  <a:latin typeface="Cambria Math" panose="02040503050406030204" pitchFamily="18" charset="0"/>
                                </a:rPr>
                                <m:t>1</m:t>
                              </m:r>
                            </m:sub>
                          </m:sSub>
                        </m:e>
                      </m:d>
                    </m:oMath>
                  </m:oMathPara>
                </a14:m>
                <a:endParaRPr lang="zh-CN" altLang="en-US" dirty="0">
                  <a:latin typeface="Cambria" panose="02040503050406030204" pitchFamily="18" charset="0"/>
                </a:endParaRPr>
              </a:p>
            </p:txBody>
          </p:sp>
        </mc:Choice>
        <mc:Fallback>
          <p:sp>
            <p:nvSpPr>
              <p:cNvPr id="28" name="矩形 27"/>
              <p:cNvSpPr>
                <a:spLocks noRot="1" noChangeAspect="1" noMove="1" noResize="1" noEditPoints="1" noAdjustHandles="1" noChangeArrowheads="1" noChangeShapeType="1" noTextEdit="1"/>
              </p:cNvSpPr>
              <p:nvPr/>
            </p:nvSpPr>
            <p:spPr>
              <a:xfrm>
                <a:off x="3933339" y="3315617"/>
                <a:ext cx="962186" cy="369332"/>
              </a:xfrm>
              <a:prstGeom prst="rect">
                <a:avLst/>
              </a:prstGeom>
              <a:blipFill rotWithShape="1">
                <a:blip r:embed="rId12"/>
                <a:stretch>
                  <a:fillRect l="-15" t="-76" r="32" b="12"/>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2"/>
          <p:cNvSpPr>
            <a:spLocks noGrp="1"/>
          </p:cNvSpPr>
          <p:nvPr>
            <p:ph idx="1"/>
          </p:nvPr>
        </p:nvSpPr>
        <p:spPr>
          <a:xfrm>
            <a:off x="1393711" y="1421162"/>
            <a:ext cx="10436997" cy="1215750"/>
          </a:xfrm>
        </p:spPr>
        <p:txBody>
          <a:bodyPr>
            <a:noAutofit/>
          </a:bodyPr>
          <a:lstStyle/>
          <a:p>
            <a:r>
              <a:rPr lang="zh-CN" altLang="zh-CN" dirty="0">
                <a:latin typeface="Cambria" panose="02040503050406030204" pitchFamily="18" charset="0"/>
              </a:rPr>
              <a:t>皮尔逊相关系数（</a:t>
            </a:r>
            <a:r>
              <a:rPr lang="en-US" altLang="zh-CN" dirty="0">
                <a:latin typeface="Cambria" panose="02040503050406030204" pitchFamily="18" charset="0"/>
                <a:ea typeface="Cambria" panose="02040503050406030204" pitchFamily="18" charset="0"/>
              </a:rPr>
              <a:t>Pearson Correlation Coefficient</a:t>
            </a:r>
            <a:r>
              <a:rPr lang="zh-CN" altLang="zh-CN" dirty="0">
                <a:latin typeface="Cambria" panose="02040503050406030204" pitchFamily="18" charset="0"/>
              </a:rPr>
              <a:t>）即相关分析中的相关系数</a:t>
            </a:r>
            <a:r>
              <a:rPr lang="en-US" altLang="zh-CN" dirty="0">
                <a:latin typeface="Cambria" panose="02040503050406030204" pitchFamily="18" charset="0"/>
                <a:ea typeface="Cambria" panose="02040503050406030204" pitchFamily="18" charset="0"/>
              </a:rPr>
              <a:t>r</a:t>
            </a:r>
            <a:r>
              <a:rPr lang="zh-CN" altLang="zh-CN" dirty="0">
                <a:latin typeface="Cambria" panose="02040503050406030204" pitchFamily="18" charset="0"/>
              </a:rPr>
              <a:t>，一般用于计算两个定距变量间联系的紧密程度，它的取值在</a:t>
            </a:r>
            <a:r>
              <a:rPr lang="en-US" altLang="zh-CN" dirty="0">
                <a:latin typeface="Cambria" panose="02040503050406030204" pitchFamily="18" charset="0"/>
                <a:ea typeface="Cambria" panose="02040503050406030204" pitchFamily="18" charset="0"/>
              </a:rPr>
              <a:t>[-1</a:t>
            </a:r>
            <a:r>
              <a:rPr lang="zh-CN" altLang="zh-CN" dirty="0">
                <a:latin typeface="Cambria" panose="02040503050406030204" pitchFamily="18" charset="0"/>
              </a:rPr>
              <a:t>，</a:t>
            </a:r>
            <a:r>
              <a:rPr lang="en-US" altLang="zh-CN" dirty="0">
                <a:latin typeface="Cambria" panose="02040503050406030204" pitchFamily="18" charset="0"/>
                <a:ea typeface="Cambria" panose="02040503050406030204" pitchFamily="18" charset="0"/>
              </a:rPr>
              <a:t>+1]</a:t>
            </a:r>
            <a:r>
              <a:rPr lang="zh-CN" altLang="zh-CN" dirty="0">
                <a:latin typeface="Cambria" panose="02040503050406030204" pitchFamily="18" charset="0"/>
              </a:rPr>
              <a:t>之间</a:t>
            </a:r>
            <a:r>
              <a:rPr lang="zh-CN" altLang="zh-CN" dirty="0" smtClean="0">
                <a:latin typeface="Cambria" panose="02040503050406030204" pitchFamily="18" charset="0"/>
              </a:rPr>
              <a:t>。</a:t>
            </a:r>
            <a:endParaRPr lang="en-US" altLang="zh-CN" dirty="0">
              <a:latin typeface="Cambria" panose="02040503050406030204" pitchFamily="18" charset="0"/>
              <a:ea typeface="Cambria" panose="02040503050406030204" pitchFamily="18" charset="0"/>
            </a:endParaRPr>
          </a:p>
        </p:txBody>
      </p:sp>
      <p:sp>
        <p:nvSpPr>
          <p:cNvPr id="22" name="内容占位符 3"/>
          <p:cNvSpPr txBox="1"/>
          <p:nvPr/>
        </p:nvSpPr>
        <p:spPr>
          <a:xfrm>
            <a:off x="1398864" y="836712"/>
            <a:ext cx="6819831"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dirty="0" smtClean="0">
                <a:latin typeface="Cambria" panose="02040503050406030204" pitchFamily="18" charset="0"/>
                <a:ea typeface="Cambria" panose="02040503050406030204" pitchFamily="18" charset="0"/>
              </a:rPr>
              <a:t>2.5 </a:t>
            </a:r>
            <a:r>
              <a:rPr lang="zh-CN" altLang="zh-CN" dirty="0" smtClean="0">
                <a:latin typeface="Cambria" panose="02040503050406030204" pitchFamily="18" charset="0"/>
              </a:rPr>
              <a:t>皮尔逊相关系数</a:t>
            </a:r>
            <a:endParaRPr lang="zh-CN" altLang="en-US" dirty="0">
              <a:latin typeface="Cambria" panose="02040503050406030204" pitchFamily="18" charset="0"/>
            </a:endParaRPr>
          </a:p>
        </p:txBody>
      </p:sp>
      <p:sp>
        <p:nvSpPr>
          <p:cNvPr id="30" name="矩形 29"/>
          <p:cNvSpPr/>
          <p:nvPr/>
        </p:nvSpPr>
        <p:spPr>
          <a:xfrm>
            <a:off x="1576114" y="5841034"/>
            <a:ext cx="10280402" cy="5402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31" name="内容占位符 2"/>
          <p:cNvSpPr txBox="1"/>
          <p:nvPr/>
        </p:nvSpPr>
        <p:spPr>
          <a:xfrm>
            <a:off x="1790080" y="5936124"/>
            <a:ext cx="9889312" cy="403420"/>
          </a:xfrm>
          <a:prstGeom prst="rect">
            <a:avLst/>
          </a:prstGeom>
        </p:spPr>
        <p:txBody>
          <a:bodyPr vert="horz" lIns="91440" tIns="45720" rIns="91440" bIns="45720" rtlCol="0" anchor="ctr">
            <a:normAutofit lnSpcReduction="10000"/>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r>
              <a:rPr lang="en-US" altLang="zh-CN" sz="1800" dirty="0" err="1">
                <a:latin typeface="Cambria" panose="02040503050406030204" pitchFamily="18" charset="0"/>
                <a:ea typeface="Cambria" panose="02040503050406030204" pitchFamily="18" charset="0"/>
              </a:rPr>
              <a:t>dist</a:t>
            </a:r>
            <a:r>
              <a:rPr lang="en-US" altLang="zh-CN" sz="1800" dirty="0">
                <a:latin typeface="Cambria" panose="02040503050406030204" pitchFamily="18" charset="0"/>
                <a:ea typeface="Cambria" panose="02040503050406030204" pitchFamily="18" charset="0"/>
              </a:rPr>
              <a:t> = 1 - </a:t>
            </a:r>
            <a:r>
              <a:rPr lang="en-US" altLang="zh-CN" sz="1800" dirty="0" err="1">
                <a:latin typeface="Cambria" panose="02040503050406030204" pitchFamily="18" charset="0"/>
                <a:ea typeface="Cambria" panose="02040503050406030204" pitchFamily="18" charset="0"/>
              </a:rPr>
              <a:t>dis.pdist</a:t>
            </a:r>
            <a:r>
              <a:rPr lang="en-US" altLang="zh-CN" sz="1800" dirty="0">
                <a:latin typeface="Cambria" panose="02040503050406030204" pitchFamily="18" charset="0"/>
                <a:ea typeface="Cambria" panose="02040503050406030204" pitchFamily="18" charset="0"/>
              </a:rPr>
              <a:t>(X, metric='correlation')  # </a:t>
            </a:r>
            <a:r>
              <a:rPr lang="zh-CN" altLang="zh-CN" sz="1800" dirty="0">
                <a:latin typeface="Cambria" panose="02040503050406030204" pitchFamily="18" charset="0"/>
              </a:rPr>
              <a:t>调用</a:t>
            </a:r>
            <a:r>
              <a:rPr lang="en-US" altLang="zh-CN" sz="1800" dirty="0" err="1">
                <a:latin typeface="Cambria" panose="02040503050406030204" pitchFamily="18" charset="0"/>
                <a:ea typeface="Cambria" panose="02040503050406030204" pitchFamily="18" charset="0"/>
              </a:rPr>
              <a:t>scipy</a:t>
            </a:r>
            <a:r>
              <a:rPr lang="zh-CN" altLang="zh-CN" sz="1800" dirty="0">
                <a:latin typeface="Cambria" panose="02040503050406030204" pitchFamily="18" charset="0"/>
              </a:rPr>
              <a:t>计算</a:t>
            </a:r>
            <a:r>
              <a:rPr lang="zh-CN" altLang="zh-CN" sz="1800" dirty="0" smtClean="0">
                <a:latin typeface="Cambria" panose="02040503050406030204" pitchFamily="18" charset="0"/>
              </a:rPr>
              <a:t>相关系数</a:t>
            </a:r>
            <a:endParaRPr lang="zh-CN" altLang="zh-CN" sz="1800" dirty="0">
              <a:latin typeface="Cambria" panose="02040503050406030204" pitchFamily="18" charset="0"/>
            </a:endParaRPr>
          </a:p>
        </p:txBody>
      </p:sp>
      <p:sp>
        <p:nvSpPr>
          <p:cNvPr id="32" name="内容占位符 2"/>
          <p:cNvSpPr>
            <a:spLocks noGrp="1"/>
          </p:cNvSpPr>
          <p:nvPr>
            <p:ph idx="1"/>
          </p:nvPr>
        </p:nvSpPr>
        <p:spPr>
          <a:xfrm>
            <a:off x="1393711" y="2492896"/>
            <a:ext cx="10272890" cy="2160241"/>
          </a:xfrm>
        </p:spPr>
        <p:txBody>
          <a:bodyPr>
            <a:normAutofit/>
          </a:bodyPr>
          <a:lstStyle/>
          <a:p>
            <a:r>
              <a:rPr lang="zh-CN" altLang="zh-CN" dirty="0">
                <a:latin typeface="Cambria" panose="02040503050406030204" pitchFamily="18" charset="0"/>
              </a:rPr>
              <a:t>当相关系数为</a:t>
            </a:r>
            <a:r>
              <a:rPr lang="en-US" altLang="zh-CN" dirty="0">
                <a:latin typeface="Cambria" panose="02040503050406030204" pitchFamily="18" charset="0"/>
                <a:ea typeface="Cambria" panose="02040503050406030204" pitchFamily="18" charset="0"/>
              </a:rPr>
              <a:t>0</a:t>
            </a:r>
            <a:r>
              <a:rPr lang="zh-CN" altLang="zh-CN" dirty="0">
                <a:latin typeface="Cambria" panose="02040503050406030204" pitchFamily="18" charset="0"/>
              </a:rPr>
              <a:t>时，</a:t>
            </a:r>
            <a:r>
              <a:rPr lang="en-US" altLang="zh-CN" i="1" dirty="0">
                <a:latin typeface="Cambria" panose="02040503050406030204" pitchFamily="18" charset="0"/>
                <a:ea typeface="Cambria" panose="02040503050406030204" pitchFamily="18" charset="0"/>
              </a:rPr>
              <a:t>X</a:t>
            </a:r>
            <a:r>
              <a:rPr lang="zh-CN" altLang="zh-CN" dirty="0">
                <a:latin typeface="Cambria" panose="02040503050406030204" pitchFamily="18" charset="0"/>
              </a:rPr>
              <a:t>和</a:t>
            </a:r>
            <a:r>
              <a:rPr lang="en-US" altLang="zh-CN" i="1" dirty="0">
                <a:latin typeface="Cambria" panose="02040503050406030204" pitchFamily="18" charset="0"/>
                <a:ea typeface="Cambria" panose="02040503050406030204" pitchFamily="18" charset="0"/>
              </a:rPr>
              <a:t>Y</a:t>
            </a:r>
            <a:r>
              <a:rPr lang="zh-CN" altLang="zh-CN" dirty="0">
                <a:latin typeface="Cambria" panose="02040503050406030204" pitchFamily="18" charset="0"/>
              </a:rPr>
              <a:t>两变量无关系；当</a:t>
            </a:r>
            <a:r>
              <a:rPr lang="en-US" altLang="zh-CN" i="1" dirty="0">
                <a:latin typeface="Cambria" panose="02040503050406030204" pitchFamily="18" charset="0"/>
                <a:ea typeface="Cambria" panose="02040503050406030204" pitchFamily="18" charset="0"/>
              </a:rPr>
              <a:t>X</a:t>
            </a:r>
            <a:r>
              <a:rPr lang="zh-CN" altLang="zh-CN" dirty="0">
                <a:latin typeface="Cambria" panose="02040503050406030204" pitchFamily="18" charset="0"/>
              </a:rPr>
              <a:t>的值增大，</a:t>
            </a:r>
            <a:r>
              <a:rPr lang="en-US" altLang="zh-CN" i="1" dirty="0">
                <a:latin typeface="Cambria" panose="02040503050406030204" pitchFamily="18" charset="0"/>
                <a:ea typeface="Cambria" panose="02040503050406030204" pitchFamily="18" charset="0"/>
              </a:rPr>
              <a:t>Y</a:t>
            </a:r>
            <a:r>
              <a:rPr lang="zh-CN" altLang="zh-CN" dirty="0">
                <a:latin typeface="Cambria" panose="02040503050406030204" pitchFamily="18" charset="0"/>
              </a:rPr>
              <a:t>也增大，正相关关系，相关系数在</a:t>
            </a:r>
            <a:r>
              <a:rPr lang="en-US" altLang="zh-CN" dirty="0">
                <a:latin typeface="Cambria" panose="02040503050406030204" pitchFamily="18" charset="0"/>
                <a:ea typeface="Cambria" panose="02040503050406030204" pitchFamily="18" charset="0"/>
              </a:rPr>
              <a:t>0.00</a:t>
            </a:r>
            <a:r>
              <a:rPr lang="zh-CN" altLang="zh-CN" dirty="0">
                <a:latin typeface="Cambria" panose="02040503050406030204" pitchFamily="18" charset="0"/>
              </a:rPr>
              <a:t>与</a:t>
            </a:r>
            <a:r>
              <a:rPr lang="en-US" altLang="zh-CN" dirty="0">
                <a:latin typeface="Cambria" panose="02040503050406030204" pitchFamily="18" charset="0"/>
                <a:ea typeface="Cambria" panose="02040503050406030204" pitchFamily="18" charset="0"/>
              </a:rPr>
              <a:t>1.00</a:t>
            </a:r>
            <a:r>
              <a:rPr lang="zh-CN" altLang="zh-CN" dirty="0">
                <a:latin typeface="Cambria" panose="02040503050406030204" pitchFamily="18" charset="0"/>
              </a:rPr>
              <a:t>之间；当</a:t>
            </a:r>
            <a:r>
              <a:rPr lang="en-US" altLang="zh-CN" i="1" dirty="0">
                <a:latin typeface="Cambria" panose="02040503050406030204" pitchFamily="18" charset="0"/>
                <a:ea typeface="Cambria" panose="02040503050406030204" pitchFamily="18" charset="0"/>
              </a:rPr>
              <a:t>X</a:t>
            </a:r>
            <a:r>
              <a:rPr lang="zh-CN" altLang="zh-CN" dirty="0">
                <a:latin typeface="Cambria" panose="02040503050406030204" pitchFamily="18" charset="0"/>
              </a:rPr>
              <a:t>的值增大，</a:t>
            </a:r>
            <a:r>
              <a:rPr lang="en-US" altLang="zh-CN" i="1" dirty="0">
                <a:latin typeface="Cambria" panose="02040503050406030204" pitchFamily="18" charset="0"/>
                <a:ea typeface="Cambria" panose="02040503050406030204" pitchFamily="18" charset="0"/>
              </a:rPr>
              <a:t>Y</a:t>
            </a:r>
            <a:r>
              <a:rPr lang="zh-CN" altLang="zh-CN" dirty="0">
                <a:latin typeface="Cambria" panose="02040503050406030204" pitchFamily="18" charset="0"/>
              </a:rPr>
              <a:t>减小，负相关关系，相关系数在</a:t>
            </a:r>
            <a:r>
              <a:rPr lang="en-US" altLang="zh-CN" dirty="0">
                <a:latin typeface="Cambria" panose="02040503050406030204" pitchFamily="18" charset="0"/>
                <a:ea typeface="Cambria" panose="02040503050406030204" pitchFamily="18" charset="0"/>
              </a:rPr>
              <a:t>-1.00</a:t>
            </a:r>
            <a:r>
              <a:rPr lang="zh-CN" altLang="zh-CN" dirty="0">
                <a:latin typeface="Cambria" panose="02040503050406030204" pitchFamily="18" charset="0"/>
              </a:rPr>
              <a:t>与</a:t>
            </a:r>
            <a:r>
              <a:rPr lang="en-US" altLang="zh-CN" dirty="0">
                <a:latin typeface="Cambria" panose="02040503050406030204" pitchFamily="18" charset="0"/>
                <a:ea typeface="Cambria" panose="02040503050406030204" pitchFamily="18" charset="0"/>
              </a:rPr>
              <a:t>0.00</a:t>
            </a:r>
            <a:r>
              <a:rPr lang="zh-CN" altLang="zh-CN" dirty="0">
                <a:latin typeface="Cambria" panose="02040503050406030204" pitchFamily="18" charset="0"/>
              </a:rPr>
              <a:t>之间。相关系数的绝对值越大，相关性越强，相关系数越接近于</a:t>
            </a:r>
            <a:r>
              <a:rPr lang="en-US" altLang="zh-CN" dirty="0">
                <a:latin typeface="Cambria" panose="02040503050406030204" pitchFamily="18" charset="0"/>
                <a:ea typeface="Cambria" panose="02040503050406030204" pitchFamily="18" charset="0"/>
              </a:rPr>
              <a:t>1</a:t>
            </a:r>
            <a:r>
              <a:rPr lang="zh-CN" altLang="zh-CN" dirty="0">
                <a:latin typeface="Cambria" panose="02040503050406030204" pitchFamily="18" charset="0"/>
              </a:rPr>
              <a:t>和</a:t>
            </a:r>
            <a:r>
              <a:rPr lang="en-US" altLang="zh-CN" dirty="0">
                <a:latin typeface="Cambria" panose="02040503050406030204" pitchFamily="18" charset="0"/>
                <a:ea typeface="Cambria" panose="02040503050406030204" pitchFamily="18" charset="0"/>
              </a:rPr>
              <a:t>-1</a:t>
            </a:r>
            <a:r>
              <a:rPr lang="zh-CN" altLang="zh-CN" dirty="0">
                <a:latin typeface="Cambria" panose="02040503050406030204" pitchFamily="18" charset="0"/>
              </a:rPr>
              <a:t>，相关度越强，相关系数越接近于</a:t>
            </a:r>
            <a:r>
              <a:rPr lang="en-US" altLang="zh-CN" dirty="0">
                <a:latin typeface="Cambria" panose="02040503050406030204" pitchFamily="18" charset="0"/>
                <a:ea typeface="Cambria" panose="02040503050406030204" pitchFamily="18" charset="0"/>
              </a:rPr>
              <a:t>0</a:t>
            </a:r>
            <a:r>
              <a:rPr lang="zh-CN" altLang="zh-CN" dirty="0">
                <a:latin typeface="Cambria" panose="02040503050406030204" pitchFamily="18" charset="0"/>
              </a:rPr>
              <a:t>，相关度越弱。公式如下：</a:t>
            </a:r>
            <a:r>
              <a:rPr lang="zh-CN" altLang="en-US" dirty="0" smtClean="0">
                <a:latin typeface="Cambria" panose="02040503050406030204" pitchFamily="18" charset="0"/>
              </a:rPr>
              <a:t>                                   </a:t>
            </a:r>
            <a:endParaRPr lang="en-US" altLang="zh-CN" dirty="0" smtClean="0">
              <a:latin typeface="Cambria" panose="02040503050406030204" pitchFamily="18" charset="0"/>
              <a:ea typeface="Cambria" panose="02040503050406030204" pitchFamily="18" charset="0"/>
            </a:endParaRPr>
          </a:p>
        </p:txBody>
      </p:sp>
      <p:sp>
        <p:nvSpPr>
          <p:cNvPr id="34" name="内容占位符 2"/>
          <p:cNvSpPr>
            <a:spLocks noGrp="1"/>
          </p:cNvSpPr>
          <p:nvPr>
            <p:ph idx="1"/>
          </p:nvPr>
        </p:nvSpPr>
        <p:spPr>
          <a:xfrm>
            <a:off x="1557818" y="5250666"/>
            <a:ext cx="10272890" cy="552983"/>
          </a:xfrm>
        </p:spPr>
        <p:txBody>
          <a:bodyPr>
            <a:normAutofit/>
          </a:bodyPr>
          <a:lstStyle/>
          <a:p>
            <a:r>
              <a:rPr lang="zh-CN" altLang="zh-CN" dirty="0">
                <a:latin typeface="Cambria" panose="02040503050406030204" pitchFamily="18" charset="0"/>
              </a:rPr>
              <a:t>皮尔逊相关系数计算</a:t>
            </a:r>
            <a:r>
              <a:rPr lang="en-US" altLang="zh-CN" dirty="0" smtClean="0">
                <a:latin typeface="Cambria" panose="02040503050406030204" pitchFamily="18" charset="0"/>
                <a:ea typeface="Cambria" panose="02040503050406030204" pitchFamily="18" charset="0"/>
              </a:rPr>
              <a:t>Python</a:t>
            </a:r>
            <a:r>
              <a:rPr lang="zh-CN" altLang="en-US" dirty="0" smtClean="0">
                <a:latin typeface="Cambria" panose="02040503050406030204" pitchFamily="18" charset="0"/>
              </a:rPr>
              <a:t>语句</a:t>
            </a:r>
            <a:r>
              <a:rPr lang="zh-CN" altLang="zh-CN" dirty="0" smtClean="0">
                <a:latin typeface="Cambria" panose="02040503050406030204" pitchFamily="18" charset="0"/>
              </a:rPr>
              <a:t>如下</a:t>
            </a:r>
            <a:r>
              <a:rPr lang="zh-CN" altLang="zh-CN" dirty="0">
                <a:latin typeface="Cambria" panose="02040503050406030204" pitchFamily="18" charset="0"/>
              </a:rPr>
              <a:t>：</a:t>
            </a:r>
            <a:endParaRPr lang="en-US" altLang="zh-CN" dirty="0">
              <a:latin typeface="Cambria" panose="02040503050406030204" pitchFamily="18" charset="0"/>
              <a:ea typeface="Cambria" panose="02040503050406030204" pitchFamily="18" charset="0"/>
            </a:endParaRPr>
          </a:p>
        </p:txBody>
      </p:sp>
      <p:graphicFrame>
        <p:nvGraphicFramePr>
          <p:cNvPr id="4" name="对象 3"/>
          <p:cNvGraphicFramePr>
            <a:graphicFrameLocks noChangeAspect="1"/>
          </p:cNvGraphicFramePr>
          <p:nvPr/>
        </p:nvGraphicFramePr>
        <p:xfrm>
          <a:off x="3614494" y="4310173"/>
          <a:ext cx="7027175" cy="1008112"/>
        </p:xfrm>
        <a:graphic>
          <a:graphicData uri="http://schemas.openxmlformats.org/presentationml/2006/ole">
            <mc:AlternateContent xmlns:mc="http://schemas.openxmlformats.org/markup-compatibility/2006">
              <mc:Choice xmlns:v="urn:schemas-microsoft-com:vml" Requires="v">
                <p:oleObj spid="_x0000_s8203" name="Equation" r:id="rId1" imgW="3556000" imgH="533400" progId="Equation.DSMT4">
                  <p:embed/>
                </p:oleObj>
              </mc:Choice>
              <mc:Fallback>
                <p:oleObj name="Equation" r:id="rId1" imgW="3556000" imgH="533400" progId="Equation.DSMT4">
                  <p:embed/>
                  <p:pic>
                    <p:nvPicPr>
                      <p:cNvPr id="0" name="图片 1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4494" y="4310173"/>
                        <a:ext cx="7027175" cy="1008112"/>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2"/>
          <p:cNvSpPr>
            <a:spLocks noGrp="1"/>
          </p:cNvSpPr>
          <p:nvPr>
            <p:ph idx="1"/>
          </p:nvPr>
        </p:nvSpPr>
        <p:spPr>
          <a:xfrm>
            <a:off x="1375409" y="1428399"/>
            <a:ext cx="10436997" cy="578443"/>
          </a:xfrm>
        </p:spPr>
        <p:txBody>
          <a:bodyPr>
            <a:noAutofit/>
          </a:bodyPr>
          <a:lstStyle/>
          <a:p>
            <a:r>
              <a:rPr lang="zh-CN" altLang="zh-CN" dirty="0">
                <a:latin typeface="Cambria" panose="02040503050406030204" pitchFamily="18" charset="0"/>
              </a:rPr>
              <a:t>余弦相似度就是两个向量之间的夹角的余弦值。假设</a:t>
            </a:r>
            <a:endParaRPr lang="en-US" altLang="zh-CN" dirty="0">
              <a:latin typeface="Cambria" panose="02040503050406030204" pitchFamily="18" charset="0"/>
              <a:ea typeface="Cambria" panose="02040503050406030204" pitchFamily="18" charset="0"/>
            </a:endParaRPr>
          </a:p>
        </p:txBody>
      </p:sp>
      <p:sp>
        <p:nvSpPr>
          <p:cNvPr id="22" name="内容占位符 3"/>
          <p:cNvSpPr txBox="1"/>
          <p:nvPr/>
        </p:nvSpPr>
        <p:spPr>
          <a:xfrm>
            <a:off x="1398864" y="836712"/>
            <a:ext cx="6819831"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dirty="0" smtClean="0">
                <a:latin typeface="Cambria" panose="02040503050406030204" pitchFamily="18" charset="0"/>
                <a:ea typeface="Cambria" panose="02040503050406030204" pitchFamily="18" charset="0"/>
              </a:rPr>
              <a:t>2.6 </a:t>
            </a:r>
            <a:r>
              <a:rPr lang="zh-CN" altLang="zh-CN" dirty="0" smtClean="0">
                <a:latin typeface="Cambria" panose="02040503050406030204" pitchFamily="18" charset="0"/>
              </a:rPr>
              <a:t>余弦</a:t>
            </a:r>
            <a:r>
              <a:rPr lang="zh-CN" altLang="zh-CN" dirty="0">
                <a:latin typeface="Cambria" panose="02040503050406030204" pitchFamily="18" charset="0"/>
              </a:rPr>
              <a:t>相似度</a:t>
            </a:r>
            <a:endParaRPr lang="zh-CN" altLang="en-US" dirty="0">
              <a:latin typeface="Cambria" panose="02040503050406030204" pitchFamily="18" charset="0"/>
            </a:endParaRPr>
          </a:p>
        </p:txBody>
      </p:sp>
      <p:sp>
        <p:nvSpPr>
          <p:cNvPr id="30" name="矩形 29"/>
          <p:cNvSpPr/>
          <p:nvPr/>
        </p:nvSpPr>
        <p:spPr>
          <a:xfrm>
            <a:off x="1576114" y="5841034"/>
            <a:ext cx="10280402" cy="5402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31" name="内容占位符 2"/>
          <p:cNvSpPr txBox="1"/>
          <p:nvPr/>
        </p:nvSpPr>
        <p:spPr>
          <a:xfrm>
            <a:off x="1790080" y="5936124"/>
            <a:ext cx="9889312" cy="403420"/>
          </a:xfrm>
          <a:prstGeom prst="rect">
            <a:avLst/>
          </a:prstGeom>
        </p:spPr>
        <p:txBody>
          <a:bodyPr vert="horz" lIns="91440" tIns="45720" rIns="91440" bIns="45720" rtlCol="0" anchor="ctr">
            <a:normAutofit lnSpcReduction="10000"/>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r>
              <a:rPr lang="en-US" altLang="zh-CN" sz="1800" dirty="0" err="1">
                <a:latin typeface="Cambria" panose="02040503050406030204" pitchFamily="18" charset="0"/>
                <a:ea typeface="Cambria" panose="02040503050406030204" pitchFamily="18" charset="0"/>
              </a:rPr>
              <a:t>dist</a:t>
            </a:r>
            <a:r>
              <a:rPr lang="en-US" altLang="zh-CN" sz="1800" dirty="0">
                <a:latin typeface="Cambria" panose="02040503050406030204" pitchFamily="18" charset="0"/>
                <a:ea typeface="Cambria" panose="02040503050406030204" pitchFamily="18" charset="0"/>
              </a:rPr>
              <a:t> = 1 - </a:t>
            </a:r>
            <a:r>
              <a:rPr lang="en-US" altLang="zh-CN" sz="1800" dirty="0" err="1">
                <a:latin typeface="Cambria" panose="02040503050406030204" pitchFamily="18" charset="0"/>
                <a:ea typeface="Cambria" panose="02040503050406030204" pitchFamily="18" charset="0"/>
              </a:rPr>
              <a:t>dis.pdist</a:t>
            </a:r>
            <a:r>
              <a:rPr lang="en-US" altLang="zh-CN" sz="1800" dirty="0">
                <a:latin typeface="Cambria" panose="02040503050406030204" pitchFamily="18" charset="0"/>
                <a:ea typeface="Cambria" panose="02040503050406030204" pitchFamily="18" charset="0"/>
              </a:rPr>
              <a:t>(X, metric='cosine') # </a:t>
            </a:r>
            <a:r>
              <a:rPr lang="zh-CN" altLang="zh-CN" sz="1800" dirty="0">
                <a:latin typeface="Cambria" panose="02040503050406030204" pitchFamily="18" charset="0"/>
              </a:rPr>
              <a:t>余弦系数</a:t>
            </a:r>
            <a:endParaRPr lang="zh-CN" altLang="zh-CN" sz="1800" dirty="0">
              <a:latin typeface="Cambria" panose="02040503050406030204" pitchFamily="18" charset="0"/>
            </a:endParaRPr>
          </a:p>
        </p:txBody>
      </p:sp>
      <p:sp>
        <p:nvSpPr>
          <p:cNvPr id="34" name="内容占位符 2"/>
          <p:cNvSpPr>
            <a:spLocks noGrp="1"/>
          </p:cNvSpPr>
          <p:nvPr>
            <p:ph idx="1"/>
          </p:nvPr>
        </p:nvSpPr>
        <p:spPr>
          <a:xfrm>
            <a:off x="1495125" y="5250666"/>
            <a:ext cx="10272890" cy="552983"/>
          </a:xfrm>
        </p:spPr>
        <p:txBody>
          <a:bodyPr>
            <a:normAutofit/>
          </a:bodyPr>
          <a:lstStyle/>
          <a:p>
            <a:r>
              <a:rPr lang="zh-CN" altLang="zh-CN" dirty="0">
                <a:latin typeface="Cambria" panose="02040503050406030204" pitchFamily="18" charset="0"/>
              </a:rPr>
              <a:t>余弦相似度</a:t>
            </a:r>
            <a:r>
              <a:rPr lang="zh-CN" altLang="zh-CN" dirty="0" smtClean="0">
                <a:latin typeface="Cambria" panose="02040503050406030204" pitchFamily="18" charset="0"/>
              </a:rPr>
              <a:t>计算</a:t>
            </a:r>
            <a:r>
              <a:rPr lang="en-US" altLang="zh-CN" dirty="0" smtClean="0">
                <a:latin typeface="Cambria" panose="02040503050406030204" pitchFamily="18" charset="0"/>
                <a:ea typeface="Cambria" panose="02040503050406030204" pitchFamily="18" charset="0"/>
              </a:rPr>
              <a:t>Python</a:t>
            </a:r>
            <a:r>
              <a:rPr lang="zh-CN" altLang="en-US" dirty="0" smtClean="0">
                <a:latin typeface="Cambria" panose="02040503050406030204" pitchFamily="18" charset="0"/>
              </a:rPr>
              <a:t>语句</a:t>
            </a:r>
            <a:r>
              <a:rPr lang="zh-CN" altLang="zh-CN" dirty="0" smtClean="0">
                <a:latin typeface="Cambria" panose="02040503050406030204" pitchFamily="18" charset="0"/>
              </a:rPr>
              <a:t>如下</a:t>
            </a:r>
            <a:r>
              <a:rPr lang="zh-CN" altLang="zh-CN" dirty="0">
                <a:latin typeface="Cambria" panose="02040503050406030204" pitchFamily="18" charset="0"/>
              </a:rPr>
              <a:t>：</a:t>
            </a:r>
            <a:endParaRPr lang="en-US" altLang="zh-CN" dirty="0">
              <a:latin typeface="Cambria" panose="02040503050406030204" pitchFamily="18" charset="0"/>
              <a:ea typeface="Cambria" panose="02040503050406030204" pitchFamily="18" charset="0"/>
            </a:endParaRPr>
          </a:p>
        </p:txBody>
      </p:sp>
      <p:graphicFrame>
        <p:nvGraphicFramePr>
          <p:cNvPr id="16" name="对象 15"/>
          <p:cNvGraphicFramePr>
            <a:graphicFrameLocks noChangeAspect="1"/>
          </p:cNvGraphicFramePr>
          <p:nvPr/>
        </p:nvGraphicFramePr>
        <p:xfrm>
          <a:off x="7720197" y="1573209"/>
          <a:ext cx="2639646" cy="307975"/>
        </p:xfrm>
        <a:graphic>
          <a:graphicData uri="http://schemas.openxmlformats.org/presentationml/2006/ole">
            <mc:AlternateContent xmlns:mc="http://schemas.openxmlformats.org/markup-compatibility/2006">
              <mc:Choice xmlns:v="urn:schemas-microsoft-com:vml" Requires="v">
                <p:oleObj spid="_x0000_s9247" name="Equation" r:id="rId1" imgW="35356800" imgH="7620000" progId="Equation.DSMT4">
                  <p:embed/>
                </p:oleObj>
              </mc:Choice>
              <mc:Fallback>
                <p:oleObj name="Equation" r:id="rId1" imgW="35356800" imgH="7620000" progId="Equation.DSMT4">
                  <p:embed/>
                  <p:pic>
                    <p:nvPicPr>
                      <p:cNvPr id="0" name="图片 1025"/>
                      <p:cNvPicPr>
                        <a:picLocks noChangeAspect="1" noChangeArrowheads="1"/>
                      </p:cNvPicPr>
                      <p:nvPr/>
                    </p:nvPicPr>
                    <p:blipFill>
                      <a:blip r:embed="rId2"/>
                      <a:srcRect/>
                      <a:stretch>
                        <a:fillRect/>
                      </a:stretch>
                    </p:blipFill>
                    <p:spPr bwMode="auto">
                      <a:xfrm>
                        <a:off x="7720197" y="1573209"/>
                        <a:ext cx="2639646" cy="307975"/>
                      </a:xfrm>
                      <a:prstGeom prst="rect">
                        <a:avLst/>
                      </a:prstGeom>
                      <a:noFill/>
                    </p:spPr>
                  </p:pic>
                </p:oleObj>
              </mc:Fallback>
            </mc:AlternateContent>
          </a:graphicData>
        </a:graphic>
      </p:graphicFrame>
      <p:graphicFrame>
        <p:nvGraphicFramePr>
          <p:cNvPr id="18" name="内容占位符 17"/>
          <p:cNvGraphicFramePr>
            <a:graphicFrameLocks noGrp="1" noChangeAspect="1"/>
          </p:cNvGraphicFramePr>
          <p:nvPr>
            <p:ph idx="1"/>
          </p:nvPr>
        </p:nvGraphicFramePr>
        <p:xfrm>
          <a:off x="1879631" y="1988841"/>
          <a:ext cx="2000738" cy="327025"/>
        </p:xfrm>
        <a:graphic>
          <a:graphicData uri="http://schemas.openxmlformats.org/presentationml/2006/ole">
            <mc:AlternateContent xmlns:mc="http://schemas.openxmlformats.org/markup-compatibility/2006">
              <mc:Choice xmlns:v="urn:schemas-microsoft-com:vml" Requires="v">
                <p:oleObj spid="_x0000_s9248" name="Equation" r:id="rId3" imgW="37795200" imgH="7620000" progId="Equation.DSMT4">
                  <p:embed/>
                </p:oleObj>
              </mc:Choice>
              <mc:Fallback>
                <p:oleObj name="Equation" r:id="rId3" imgW="37795200" imgH="7620000" progId="Equation.DSMT4">
                  <p:embed/>
                  <p:pic>
                    <p:nvPicPr>
                      <p:cNvPr id="0" name="图片 1026"/>
                      <p:cNvPicPr>
                        <a:picLocks noChangeAspect="1" noChangeArrowheads="1"/>
                      </p:cNvPicPr>
                      <p:nvPr/>
                    </p:nvPicPr>
                    <p:blipFill>
                      <a:blip r:embed="rId4"/>
                      <a:srcRect/>
                      <a:stretch>
                        <a:fillRect/>
                      </a:stretch>
                    </p:blipFill>
                    <p:spPr bwMode="auto">
                      <a:xfrm>
                        <a:off x="1879631" y="1988841"/>
                        <a:ext cx="2000738"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内容占位符 2"/>
          <p:cNvSpPr>
            <a:spLocks noGrp="1"/>
          </p:cNvSpPr>
          <p:nvPr>
            <p:ph idx="1"/>
          </p:nvPr>
        </p:nvSpPr>
        <p:spPr>
          <a:xfrm>
            <a:off x="3794058" y="1932455"/>
            <a:ext cx="8018348" cy="469434"/>
          </a:xfrm>
        </p:spPr>
        <p:txBody>
          <a:bodyPr>
            <a:noAutofit/>
          </a:bodyPr>
          <a:lstStyle/>
          <a:p>
            <a:pPr marL="0" indent="0">
              <a:buNone/>
            </a:pPr>
            <a:r>
              <a:rPr lang="zh-CN" altLang="zh-CN" dirty="0" smtClean="0">
                <a:latin typeface="Cambria" panose="02040503050406030204" pitchFamily="18" charset="0"/>
              </a:rPr>
              <a:t>是</a:t>
            </a:r>
            <a:r>
              <a:rPr lang="en-US" altLang="zh-CN" dirty="0">
                <a:latin typeface="Cambria" panose="02040503050406030204" pitchFamily="18" charset="0"/>
                <a:ea typeface="Cambria" panose="02040503050406030204" pitchFamily="18" charset="0"/>
              </a:rPr>
              <a:t>n </a:t>
            </a:r>
            <a:r>
              <a:rPr lang="zh-CN" altLang="zh-CN" dirty="0">
                <a:latin typeface="Cambria" panose="02040503050406030204" pitchFamily="18" charset="0"/>
              </a:rPr>
              <a:t>维空间的两个向量，它们之间的余弦相似度是：</a:t>
            </a:r>
            <a:endParaRPr lang="en-US" altLang="zh-CN" dirty="0">
              <a:latin typeface="Cambria" panose="02040503050406030204" pitchFamily="18" charset="0"/>
              <a:ea typeface="Cambria" panose="02040503050406030204" pitchFamily="18" charset="0"/>
            </a:endParaRPr>
          </a:p>
        </p:txBody>
      </p:sp>
      <p:graphicFrame>
        <p:nvGraphicFramePr>
          <p:cNvPr id="4" name="对象 3"/>
          <p:cNvGraphicFramePr>
            <a:graphicFrameLocks noChangeAspect="1"/>
          </p:cNvGraphicFramePr>
          <p:nvPr/>
        </p:nvGraphicFramePr>
        <p:xfrm>
          <a:off x="5475623" y="2367878"/>
          <a:ext cx="1641231" cy="673100"/>
        </p:xfrm>
        <a:graphic>
          <a:graphicData uri="http://schemas.openxmlformats.org/presentationml/2006/ole">
            <mc:AlternateContent xmlns:mc="http://schemas.openxmlformats.org/markup-compatibility/2006">
              <mc:Choice xmlns:v="urn:schemas-microsoft-com:vml" Requires="v">
                <p:oleObj spid="_x0000_s9249" name="Equation" r:id="rId5" imgW="32004000" imgH="16154400" progId="Equation.DSMT4">
                  <p:embed/>
                </p:oleObj>
              </mc:Choice>
              <mc:Fallback>
                <p:oleObj name="Equation" r:id="rId5" imgW="32004000" imgH="16154400" progId="Equation.DSMT4">
                  <p:embed/>
                  <p:pic>
                    <p:nvPicPr>
                      <p:cNvPr id="0" name="图片 1027"/>
                      <p:cNvPicPr>
                        <a:picLocks noChangeAspect="1" noChangeArrowheads="1"/>
                      </p:cNvPicPr>
                      <p:nvPr/>
                    </p:nvPicPr>
                    <p:blipFill>
                      <a:blip r:embed="rId6"/>
                      <a:srcRect/>
                      <a:stretch>
                        <a:fillRect/>
                      </a:stretch>
                    </p:blipFill>
                    <p:spPr bwMode="auto">
                      <a:xfrm>
                        <a:off x="5475623" y="2367878"/>
                        <a:ext cx="1641231"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内容占位符 2"/>
          <p:cNvSpPr>
            <a:spLocks noGrp="1"/>
          </p:cNvSpPr>
          <p:nvPr>
            <p:ph idx="1"/>
          </p:nvPr>
        </p:nvSpPr>
        <p:spPr>
          <a:xfrm>
            <a:off x="1398863" y="2820768"/>
            <a:ext cx="7165274" cy="2540204"/>
          </a:xfrm>
        </p:spPr>
        <p:txBody>
          <a:bodyPr>
            <a:normAutofit fontScale="92500" lnSpcReduction="10000"/>
          </a:bodyPr>
          <a:lstStyle/>
          <a:p>
            <a:r>
              <a:rPr lang="zh-CN" altLang="zh-CN" dirty="0">
                <a:latin typeface="Cambria" panose="02040503050406030204" pitchFamily="18" charset="0"/>
              </a:rPr>
              <a:t>余弦相似度用向量空间中两个向量夹角的余弦值作为衡量两个个体间差异的大小。相比距离度量，余弦相似度更加注重两个向量在方向上的差异，而非距离或</a:t>
            </a:r>
            <a:r>
              <a:rPr lang="zh-CN" altLang="zh-CN" dirty="0" smtClean="0">
                <a:latin typeface="Cambria" panose="02040503050406030204" pitchFamily="18" charset="0"/>
              </a:rPr>
              <a:t>长度</a:t>
            </a:r>
            <a:r>
              <a:rPr lang="zh-CN" altLang="en-US" dirty="0" smtClean="0">
                <a:latin typeface="Cambria" panose="02040503050406030204" pitchFamily="18" charset="0"/>
              </a:rPr>
              <a:t>。</a:t>
            </a:r>
            <a:endParaRPr lang="en-US" altLang="zh-CN" dirty="0" smtClean="0">
              <a:latin typeface="Cambria" panose="02040503050406030204" pitchFamily="18" charset="0"/>
              <a:ea typeface="Cambria" panose="02040503050406030204" pitchFamily="18" charset="0"/>
            </a:endParaRPr>
          </a:p>
          <a:p>
            <a:r>
              <a:rPr lang="zh-CN" altLang="zh-CN" dirty="0">
                <a:latin typeface="Cambria" panose="02040503050406030204" pitchFamily="18" charset="0"/>
              </a:rPr>
              <a:t>夹角余弦取值范围为</a:t>
            </a:r>
            <a:r>
              <a:rPr lang="en-US" altLang="zh-CN" dirty="0">
                <a:latin typeface="Cambria" panose="02040503050406030204" pitchFamily="18" charset="0"/>
                <a:ea typeface="Cambria" panose="02040503050406030204" pitchFamily="18" charset="0"/>
              </a:rPr>
              <a:t>[-1,1]</a:t>
            </a:r>
            <a:r>
              <a:rPr lang="zh-CN" altLang="zh-CN" dirty="0">
                <a:latin typeface="Cambria" panose="02040503050406030204" pitchFamily="18" charset="0"/>
              </a:rPr>
              <a:t>。夹角余弦越大表示两个向量的夹角越小，夹角余弦越小表示两向量的夹角越大。当两个向量的方向重合时夹角余弦取最大值</a:t>
            </a:r>
            <a:r>
              <a:rPr lang="en-US" altLang="zh-CN" dirty="0">
                <a:latin typeface="Cambria" panose="02040503050406030204" pitchFamily="18" charset="0"/>
                <a:ea typeface="Cambria" panose="02040503050406030204" pitchFamily="18" charset="0"/>
              </a:rPr>
              <a:t>1</a:t>
            </a:r>
            <a:r>
              <a:rPr lang="zh-CN" altLang="zh-CN" dirty="0">
                <a:latin typeface="Cambria" panose="02040503050406030204" pitchFamily="18" charset="0"/>
              </a:rPr>
              <a:t>，当两个向量的方向完全相反夹角余弦取最小值</a:t>
            </a:r>
            <a:r>
              <a:rPr lang="en-US" altLang="zh-CN" dirty="0">
                <a:latin typeface="Cambria" panose="02040503050406030204" pitchFamily="18" charset="0"/>
                <a:ea typeface="Cambria" panose="02040503050406030204" pitchFamily="18" charset="0"/>
              </a:rPr>
              <a:t>-1</a:t>
            </a:r>
            <a:r>
              <a:rPr lang="zh-CN" altLang="zh-CN" dirty="0" smtClean="0">
                <a:latin typeface="Cambria" panose="02040503050406030204" pitchFamily="18" charset="0"/>
              </a:rPr>
              <a:t>。</a:t>
            </a:r>
            <a:endParaRPr lang="en-US" altLang="zh-CN" dirty="0">
              <a:latin typeface="Cambria" panose="02040503050406030204" pitchFamily="18" charset="0"/>
              <a:ea typeface="Cambria" panose="02040503050406030204" pitchFamily="18" charset="0"/>
            </a:endParaRPr>
          </a:p>
        </p:txBody>
      </p:sp>
      <p:pic>
        <p:nvPicPr>
          <p:cNvPr id="13" name="图片 12"/>
          <p:cNvPicPr>
            <a:picLocks noChangeAspect="1"/>
          </p:cNvPicPr>
          <p:nvPr/>
        </p:nvPicPr>
        <p:blipFill rotWithShape="1">
          <a:blip r:embed="rId7" cstate="print"/>
          <a:srcRect l="54239" t="31367" r="6577" b="12442"/>
          <a:stretch>
            <a:fillRect/>
          </a:stretch>
        </p:blipFill>
        <p:spPr>
          <a:xfrm>
            <a:off x="8473221" y="2542478"/>
            <a:ext cx="3718779" cy="2999678"/>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59087" y="2696278"/>
            <a:ext cx="10972800" cy="1427955"/>
          </a:xfrm>
          <a:prstGeom prst="rect">
            <a:avLst/>
          </a:prstGeom>
        </p:spPr>
        <p:txBody>
          <a:bodyPr vert="horz" wrap="square" lIns="0" tIns="12065" rIns="0" bIns="0" rtlCol="0">
            <a:spAutoFit/>
          </a:bodyPr>
          <a:lstStyle/>
          <a:p>
            <a:pPr marL="238125" indent="-225425">
              <a:spcBef>
                <a:spcPts val="95"/>
              </a:spcBef>
              <a:buFont typeface="Wingdings" panose="05000000000000000000"/>
              <a:buChar char=""/>
              <a:tabLst>
                <a:tab pos="238125" algn="l"/>
                <a:tab pos="238760" algn="l"/>
              </a:tabLst>
            </a:pPr>
            <a:r>
              <a:rPr lang="zh-CN" altLang="en-US" sz="2400" b="1" dirty="0">
                <a:latin typeface="Arial" panose="020B0604020202020204"/>
                <a:cs typeface="Arial" panose="020B0604020202020204"/>
              </a:rPr>
              <a:t>欧几里得距离适用于基于坐标的度量</a:t>
            </a:r>
            <a:endParaRPr sz="2400" b="1" dirty="0">
              <a:latin typeface="Arial" panose="020B0604020202020204"/>
              <a:cs typeface="Arial" panose="020B0604020202020204"/>
            </a:endParaRPr>
          </a:p>
          <a:p>
            <a:pPr marL="238125" indent="-225425">
              <a:spcBef>
                <a:spcPts val="1205"/>
              </a:spcBef>
              <a:buFont typeface="Wingdings" panose="05000000000000000000"/>
              <a:buChar char=""/>
              <a:tabLst>
                <a:tab pos="238125" algn="l"/>
                <a:tab pos="238760" algn="l"/>
              </a:tabLst>
            </a:pPr>
            <a:r>
              <a:rPr lang="zh-CN" altLang="en-US" sz="2400" b="1" dirty="0">
                <a:latin typeface="Arial" panose="020B0604020202020204"/>
                <a:cs typeface="Arial" panose="020B0604020202020204"/>
              </a:rPr>
              <a:t>余弦距离更适合那些出现位置不重要的数据，例如文本数据</a:t>
            </a:r>
            <a:endParaRPr sz="2400" b="1" dirty="0">
              <a:latin typeface="Arial" panose="020B0604020202020204"/>
              <a:cs typeface="Arial" panose="020B0604020202020204"/>
            </a:endParaRPr>
          </a:p>
          <a:p>
            <a:pPr marL="238125" indent="-225425">
              <a:spcBef>
                <a:spcPts val="1200"/>
              </a:spcBef>
              <a:buFont typeface="Wingdings" panose="05000000000000000000"/>
              <a:buChar char=""/>
              <a:tabLst>
                <a:tab pos="238125" algn="l"/>
                <a:tab pos="238760" algn="l"/>
              </a:tabLst>
            </a:pPr>
            <a:r>
              <a:rPr lang="zh-CN" altLang="en-US" sz="2400" b="1" dirty="0">
                <a:latin typeface="Arial" panose="020B0604020202020204"/>
                <a:cs typeface="Arial" panose="020B0604020202020204"/>
              </a:rPr>
              <a:t>欧几里得距离对维度灾难更敏感</a:t>
            </a:r>
            <a:endParaRPr sz="2400" b="1" dirty="0">
              <a:latin typeface="Arial" panose="020B0604020202020204"/>
              <a:cs typeface="Arial" panose="020B0604020202020204"/>
            </a:endParaRPr>
          </a:p>
        </p:txBody>
      </p:sp>
      <p:sp>
        <p:nvSpPr>
          <p:cNvPr id="6" name="标题 5"/>
          <p:cNvSpPr>
            <a:spLocks noGrp="1"/>
          </p:cNvSpPr>
          <p:nvPr>
            <p:ph type="title"/>
          </p:nvPr>
        </p:nvSpPr>
        <p:spPr>
          <a:xfrm>
            <a:off x="687659" y="776443"/>
            <a:ext cx="10972800" cy="1143000"/>
          </a:xfrm>
        </p:spPr>
        <p:txBody>
          <a:bodyPr/>
          <a:lstStyle/>
          <a:p>
            <a:r>
              <a:rPr lang="zh-CN" altLang="en-US" dirty="0"/>
              <a:t>欧几里得</a:t>
            </a:r>
            <a:r>
              <a:rPr lang="en-US" altLang="zh-CN" dirty="0"/>
              <a:t>vs.</a:t>
            </a:r>
            <a:r>
              <a:rPr lang="zh-CN" altLang="en-US" dirty="0"/>
              <a:t>余弦距离</a:t>
            </a:r>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latin typeface="Cambria" panose="02040503050406030204" pitchFamily="18" charset="0"/>
              </a:rPr>
              <a:t>距离计算</a:t>
            </a:r>
            <a:endParaRPr lang="zh-CN" altLang="en-US" dirty="0">
              <a:latin typeface="Cambria" panose="02040503050406030204" pitchFamily="18" charset="0"/>
            </a:endParaRPr>
          </a:p>
        </p:txBody>
      </p:sp>
      <p:sp>
        <p:nvSpPr>
          <p:cNvPr id="19" name="内容占位符 2"/>
          <p:cNvSpPr>
            <a:spLocks noGrp="1"/>
          </p:cNvSpPr>
          <p:nvPr>
            <p:ph idx="1"/>
          </p:nvPr>
        </p:nvSpPr>
        <p:spPr>
          <a:xfrm>
            <a:off x="1375409" y="1428400"/>
            <a:ext cx="10436997" cy="1352529"/>
          </a:xfrm>
        </p:spPr>
        <p:txBody>
          <a:bodyPr>
            <a:noAutofit/>
          </a:bodyPr>
          <a:lstStyle/>
          <a:p>
            <a:r>
              <a:rPr lang="en-US" altLang="zh-CN" dirty="0" err="1">
                <a:latin typeface="Cambria" panose="02040503050406030204" pitchFamily="18" charset="0"/>
                <a:ea typeface="Cambria" panose="02040503050406030204" pitchFamily="18" charset="0"/>
              </a:rPr>
              <a:t>Jaccard</a:t>
            </a:r>
            <a:r>
              <a:rPr lang="zh-CN" altLang="en-US" dirty="0">
                <a:latin typeface="Cambria" panose="02040503050406030204" pitchFamily="18" charset="0"/>
              </a:rPr>
              <a:t>系数主要用于计算符号度量或布尔值度量的个体间的相似度，只关心个体间共同具有的特征是否一致这个问题。假设集合 </a:t>
            </a:r>
            <a:r>
              <a:rPr lang="en-US" altLang="zh-CN" dirty="0" smtClean="0">
                <a:latin typeface="Cambria" panose="02040503050406030204" pitchFamily="18" charset="0"/>
              </a:rPr>
              <a:t>A</a:t>
            </a:r>
            <a:r>
              <a:rPr lang="zh-CN" altLang="en-US" dirty="0" smtClean="0">
                <a:latin typeface="Cambria" panose="02040503050406030204" pitchFamily="18" charset="0"/>
              </a:rPr>
              <a:t>和 </a:t>
            </a:r>
            <a:r>
              <a:rPr lang="en-US" altLang="zh-CN" dirty="0" smtClean="0">
                <a:latin typeface="Cambria" panose="02040503050406030204" pitchFamily="18" charset="0"/>
              </a:rPr>
              <a:t>B</a:t>
            </a:r>
            <a:r>
              <a:rPr lang="zh-CN" altLang="en-US" dirty="0" smtClean="0">
                <a:latin typeface="Cambria" panose="02040503050406030204" pitchFamily="18" charset="0"/>
              </a:rPr>
              <a:t>，</a:t>
            </a:r>
            <a:r>
              <a:rPr lang="zh-CN" altLang="en-US" dirty="0">
                <a:latin typeface="Cambria" panose="02040503050406030204" pitchFamily="18" charset="0"/>
              </a:rPr>
              <a:t>两个集合的杰卡德相似系数表示如下：</a:t>
            </a:r>
            <a:endParaRPr lang="en-US" altLang="zh-CN" dirty="0">
              <a:latin typeface="Cambria" panose="02040503050406030204" pitchFamily="18" charset="0"/>
              <a:ea typeface="Cambria" panose="02040503050406030204" pitchFamily="18" charset="0"/>
            </a:endParaRPr>
          </a:p>
        </p:txBody>
      </p:sp>
      <p:sp>
        <p:nvSpPr>
          <p:cNvPr id="22" name="内容占位符 3"/>
          <p:cNvSpPr txBox="1"/>
          <p:nvPr/>
        </p:nvSpPr>
        <p:spPr>
          <a:xfrm>
            <a:off x="1398864" y="836712"/>
            <a:ext cx="6819831"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dirty="0" smtClean="0">
                <a:latin typeface="Cambria" panose="02040503050406030204" pitchFamily="18" charset="0"/>
                <a:ea typeface="Cambria" panose="02040503050406030204" pitchFamily="18" charset="0"/>
              </a:rPr>
              <a:t>2.7 </a:t>
            </a:r>
            <a:r>
              <a:rPr lang="zh-CN" altLang="zh-CN" dirty="0" smtClean="0">
                <a:latin typeface="Cambria" panose="02040503050406030204" pitchFamily="18" charset="0"/>
              </a:rPr>
              <a:t>杰</a:t>
            </a:r>
            <a:r>
              <a:rPr lang="zh-CN" altLang="zh-CN" dirty="0">
                <a:latin typeface="Cambria" panose="02040503050406030204" pitchFamily="18" charset="0"/>
              </a:rPr>
              <a:t>卡德相似系数</a:t>
            </a:r>
            <a:endParaRPr lang="zh-CN" altLang="en-US" dirty="0">
              <a:latin typeface="Cambria" panose="02040503050406030204" pitchFamily="18" charset="0"/>
            </a:endParaRPr>
          </a:p>
        </p:txBody>
      </p:sp>
      <p:sp>
        <p:nvSpPr>
          <p:cNvPr id="30" name="矩形 29"/>
          <p:cNvSpPr/>
          <p:nvPr/>
        </p:nvSpPr>
        <p:spPr>
          <a:xfrm>
            <a:off x="1576114" y="3933056"/>
            <a:ext cx="10280402" cy="5402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31" name="内容占位符 2"/>
          <p:cNvSpPr txBox="1"/>
          <p:nvPr/>
        </p:nvSpPr>
        <p:spPr>
          <a:xfrm>
            <a:off x="1790080" y="4028146"/>
            <a:ext cx="9889312" cy="403420"/>
          </a:xfrm>
          <a:prstGeom prst="rect">
            <a:avLst/>
          </a:prstGeom>
        </p:spPr>
        <p:txBody>
          <a:bodyPr vert="horz" lIns="91440" tIns="45720" rIns="91440" bIns="45720" rtlCol="0" anchor="ctr">
            <a:normAutofit lnSpcReduction="10000"/>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r>
              <a:rPr lang="en-US" altLang="zh-CN" sz="1800" dirty="0" err="1">
                <a:latin typeface="Cambria" panose="02040503050406030204" pitchFamily="18" charset="0"/>
                <a:ea typeface="Cambria" panose="02040503050406030204" pitchFamily="18" charset="0"/>
              </a:rPr>
              <a:t>dist</a:t>
            </a:r>
            <a:r>
              <a:rPr lang="en-US" altLang="zh-CN" sz="1800" dirty="0">
                <a:latin typeface="Cambria" panose="02040503050406030204" pitchFamily="18" charset="0"/>
                <a:ea typeface="Cambria" panose="02040503050406030204" pitchFamily="18" charset="0"/>
              </a:rPr>
              <a:t> = </a:t>
            </a:r>
            <a:r>
              <a:rPr lang="en-US" altLang="zh-CN" sz="1800" dirty="0" err="1">
                <a:latin typeface="Cambria" panose="02040503050406030204" pitchFamily="18" charset="0"/>
                <a:ea typeface="Cambria" panose="02040503050406030204" pitchFamily="18" charset="0"/>
              </a:rPr>
              <a:t>dis.pdist</a:t>
            </a:r>
            <a:r>
              <a:rPr lang="en-US" altLang="zh-CN" sz="1800" dirty="0">
                <a:latin typeface="Cambria" panose="02040503050406030204" pitchFamily="18" charset="0"/>
                <a:ea typeface="Cambria" panose="02040503050406030204" pitchFamily="18" charset="0"/>
              </a:rPr>
              <a:t>(X, metric='</a:t>
            </a:r>
            <a:r>
              <a:rPr lang="en-US" altLang="zh-CN" sz="1800" dirty="0" err="1">
                <a:latin typeface="Cambria" panose="02040503050406030204" pitchFamily="18" charset="0"/>
                <a:ea typeface="Cambria" panose="02040503050406030204" pitchFamily="18" charset="0"/>
              </a:rPr>
              <a:t>jaccard</a:t>
            </a:r>
            <a:r>
              <a:rPr lang="en-US" altLang="zh-CN" sz="1800" dirty="0">
                <a:latin typeface="Cambria" panose="02040503050406030204" pitchFamily="18" charset="0"/>
                <a:ea typeface="Cambria" panose="02040503050406030204" pitchFamily="18" charset="0"/>
              </a:rPr>
              <a:t>') # </a:t>
            </a:r>
            <a:r>
              <a:rPr lang="zh-CN" altLang="zh-CN" sz="1800" dirty="0">
                <a:latin typeface="Cambria" panose="02040503050406030204" pitchFamily="18" charset="0"/>
              </a:rPr>
              <a:t>杰卡德相似距离</a:t>
            </a:r>
            <a:endParaRPr lang="zh-CN" altLang="zh-CN" sz="1800" dirty="0">
              <a:latin typeface="Cambria" panose="02040503050406030204" pitchFamily="18" charset="0"/>
            </a:endParaRPr>
          </a:p>
        </p:txBody>
      </p:sp>
      <p:sp>
        <p:nvSpPr>
          <p:cNvPr id="34" name="内容占位符 2"/>
          <p:cNvSpPr>
            <a:spLocks noGrp="1"/>
          </p:cNvSpPr>
          <p:nvPr>
            <p:ph idx="1"/>
          </p:nvPr>
        </p:nvSpPr>
        <p:spPr>
          <a:xfrm>
            <a:off x="1398862" y="3348262"/>
            <a:ext cx="10272890" cy="552983"/>
          </a:xfrm>
        </p:spPr>
        <p:txBody>
          <a:bodyPr>
            <a:normAutofit/>
          </a:bodyPr>
          <a:lstStyle/>
          <a:p>
            <a:r>
              <a:rPr lang="zh-CN" altLang="zh-CN" dirty="0">
                <a:latin typeface="Cambria" panose="02040503050406030204" pitchFamily="18" charset="0"/>
              </a:rPr>
              <a:t>杰卡德相似距离</a:t>
            </a:r>
            <a:r>
              <a:rPr lang="zh-CN" altLang="zh-CN" dirty="0" smtClean="0">
                <a:latin typeface="Cambria" panose="02040503050406030204" pitchFamily="18" charset="0"/>
              </a:rPr>
              <a:t>计算</a:t>
            </a:r>
            <a:r>
              <a:rPr lang="en-US" altLang="zh-CN" dirty="0" smtClean="0">
                <a:latin typeface="Cambria" panose="02040503050406030204" pitchFamily="18" charset="0"/>
                <a:ea typeface="Cambria" panose="02040503050406030204" pitchFamily="18" charset="0"/>
              </a:rPr>
              <a:t>Python</a:t>
            </a:r>
            <a:r>
              <a:rPr lang="zh-CN" altLang="en-US" dirty="0" smtClean="0">
                <a:latin typeface="Cambria" panose="02040503050406030204" pitchFamily="18" charset="0"/>
              </a:rPr>
              <a:t>语句</a:t>
            </a:r>
            <a:r>
              <a:rPr lang="zh-CN" altLang="zh-CN" dirty="0" smtClean="0">
                <a:latin typeface="Cambria" panose="02040503050406030204" pitchFamily="18" charset="0"/>
              </a:rPr>
              <a:t>如下</a:t>
            </a:r>
            <a:r>
              <a:rPr lang="zh-CN" altLang="zh-CN" dirty="0">
                <a:latin typeface="Cambria" panose="02040503050406030204" pitchFamily="18" charset="0"/>
              </a:rPr>
              <a:t>：</a:t>
            </a:r>
            <a:endParaRPr lang="en-US" altLang="zh-CN" dirty="0">
              <a:latin typeface="Cambria" panose="02040503050406030204" pitchFamily="18" charset="0"/>
              <a:ea typeface="Cambria" panose="02040503050406030204" pitchFamily="18" charset="0"/>
            </a:endParaRPr>
          </a:p>
        </p:txBody>
      </p:sp>
      <p:graphicFrame>
        <p:nvGraphicFramePr>
          <p:cNvPr id="25" name="对象 24"/>
          <p:cNvGraphicFramePr>
            <a:graphicFrameLocks noChangeAspect="1"/>
          </p:cNvGraphicFramePr>
          <p:nvPr/>
        </p:nvGraphicFramePr>
        <p:xfrm>
          <a:off x="4986216" y="2619335"/>
          <a:ext cx="2219569" cy="701676"/>
        </p:xfrm>
        <a:graphic>
          <a:graphicData uri="http://schemas.openxmlformats.org/presentationml/2006/ole">
            <mc:AlternateContent xmlns:mc="http://schemas.openxmlformats.org/markup-compatibility/2006">
              <mc:Choice xmlns:v="urn:schemas-microsoft-com:vml" Requires="v">
                <p:oleObj spid="_x0000_s10251" name="Equation" r:id="rId1" imgW="43281600" imgH="17068800" progId="Equation.DSMT4">
                  <p:embed/>
                </p:oleObj>
              </mc:Choice>
              <mc:Fallback>
                <p:oleObj name="Equation" r:id="rId1" imgW="43281600" imgH="17068800" progId="Equation.DSMT4">
                  <p:embed/>
                  <p:pic>
                    <p:nvPicPr>
                      <p:cNvPr id="0" name="图片 1025"/>
                      <p:cNvPicPr>
                        <a:picLocks noChangeAspect="1" noChangeArrowheads="1"/>
                      </p:cNvPicPr>
                      <p:nvPr/>
                    </p:nvPicPr>
                    <p:blipFill>
                      <a:blip r:embed="rId2"/>
                      <a:srcRect/>
                      <a:stretch>
                        <a:fillRect/>
                      </a:stretch>
                    </p:blipFill>
                    <p:spPr bwMode="auto">
                      <a:xfrm>
                        <a:off x="4986216" y="2619335"/>
                        <a:ext cx="2219569" cy="7016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92306" y="1279670"/>
            <a:ext cx="10972800" cy="2625078"/>
          </a:xfrm>
          <a:prstGeom prst="rect">
            <a:avLst/>
          </a:prstGeom>
        </p:spPr>
        <p:txBody>
          <a:bodyPr vert="horz" wrap="square" lIns="0" tIns="100330" rIns="0" bIns="0" rtlCol="0">
            <a:spAutoFit/>
          </a:bodyPr>
          <a:lstStyle/>
          <a:p>
            <a:pPr marL="12700">
              <a:spcBef>
                <a:spcPts val="1200"/>
              </a:spcBef>
            </a:pPr>
            <a:r>
              <a:rPr lang="zh-CN" altLang="en-US" sz="2800" b="1" spc="35" dirty="0">
                <a:latin typeface="Trebuchet MS" panose="020B0603020202020204"/>
                <a:cs typeface="Trebuchet MS" panose="020B0603020202020204"/>
              </a:rPr>
              <a:t>应用于集合（例如单词的出现）</a:t>
            </a:r>
            <a:endParaRPr sz="2800" dirty="0">
              <a:latin typeface="Trebuchet MS" panose="020B0603020202020204"/>
              <a:cs typeface="Trebuchet MS" panose="020B0603020202020204"/>
            </a:endParaRPr>
          </a:p>
          <a:p>
            <a:pPr marL="238125" indent="-225425">
              <a:spcBef>
                <a:spcPts val="1200"/>
              </a:spcBef>
              <a:buFont typeface="Wingdings" panose="05000000000000000000"/>
              <a:buChar char=""/>
              <a:tabLst>
                <a:tab pos="238125" algn="l"/>
                <a:tab pos="238760" algn="l"/>
              </a:tabLst>
            </a:pPr>
            <a:r>
              <a:rPr lang="zh-CN" altLang="en-US" sz="2400" b="1" spc="-20" dirty="0">
                <a:latin typeface="Trebuchet MS" panose="020B0603020202020204"/>
                <a:cs typeface="Trebuchet MS" panose="020B0603020202020204"/>
              </a:rPr>
              <a:t>句子 </a:t>
            </a:r>
            <a:r>
              <a:rPr sz="2400" b="1" spc="-20" dirty="0">
                <a:latin typeface="Trebuchet MS" panose="020B0603020202020204"/>
                <a:cs typeface="Trebuchet MS" panose="020B0603020202020204"/>
              </a:rPr>
              <a:t>A</a:t>
            </a:r>
            <a:r>
              <a:rPr sz="2400" spc="-20" dirty="0">
                <a:latin typeface="Arial" panose="020B0604020202020204"/>
                <a:cs typeface="Arial" panose="020B0604020202020204"/>
              </a:rPr>
              <a:t>:</a:t>
            </a:r>
            <a:r>
              <a:rPr sz="2400" spc="-60" dirty="0">
                <a:latin typeface="Arial" panose="020B0604020202020204"/>
                <a:cs typeface="Arial" panose="020B0604020202020204"/>
              </a:rPr>
              <a:t> </a:t>
            </a:r>
            <a:r>
              <a:rPr sz="2400" spc="25" dirty="0">
                <a:latin typeface="Arial" panose="020B0604020202020204"/>
                <a:cs typeface="Arial" panose="020B0604020202020204"/>
              </a:rPr>
              <a:t>“I</a:t>
            </a:r>
            <a:r>
              <a:rPr sz="2400" spc="-50" dirty="0">
                <a:latin typeface="Arial" panose="020B0604020202020204"/>
                <a:cs typeface="Arial" panose="020B0604020202020204"/>
              </a:rPr>
              <a:t> </a:t>
            </a:r>
            <a:r>
              <a:rPr sz="2400" spc="30" dirty="0">
                <a:latin typeface="Arial" panose="020B0604020202020204"/>
                <a:cs typeface="Arial" panose="020B0604020202020204"/>
              </a:rPr>
              <a:t>like</a:t>
            </a:r>
            <a:r>
              <a:rPr sz="2400" spc="-70" dirty="0">
                <a:latin typeface="Arial" panose="020B0604020202020204"/>
                <a:cs typeface="Arial" panose="020B0604020202020204"/>
              </a:rPr>
              <a:t> </a:t>
            </a:r>
            <a:r>
              <a:rPr sz="2400" spc="20" dirty="0">
                <a:latin typeface="Arial" panose="020B0604020202020204"/>
                <a:cs typeface="Arial" panose="020B0604020202020204"/>
              </a:rPr>
              <a:t>chocolate</a:t>
            </a:r>
            <a:r>
              <a:rPr sz="2400" spc="-40" dirty="0">
                <a:latin typeface="Arial" panose="020B0604020202020204"/>
                <a:cs typeface="Arial" panose="020B0604020202020204"/>
              </a:rPr>
              <a:t> </a:t>
            </a:r>
            <a:r>
              <a:rPr sz="2400" spc="-10" dirty="0">
                <a:latin typeface="Arial" panose="020B0604020202020204"/>
                <a:cs typeface="Arial" panose="020B0604020202020204"/>
              </a:rPr>
              <a:t>ice</a:t>
            </a:r>
            <a:r>
              <a:rPr sz="2400" spc="-70" dirty="0">
                <a:latin typeface="Arial" panose="020B0604020202020204"/>
                <a:cs typeface="Arial" panose="020B0604020202020204"/>
              </a:rPr>
              <a:t> </a:t>
            </a:r>
            <a:r>
              <a:rPr sz="2400" spc="-5" dirty="0">
                <a:latin typeface="Arial" panose="020B0604020202020204"/>
                <a:cs typeface="Arial" panose="020B0604020202020204"/>
              </a:rPr>
              <a:t>cream.”</a:t>
            </a:r>
            <a:endParaRPr sz="2400" dirty="0">
              <a:latin typeface="Arial" panose="020B0604020202020204"/>
              <a:cs typeface="Arial" panose="020B0604020202020204"/>
            </a:endParaRPr>
          </a:p>
          <a:p>
            <a:pPr marL="238125" indent="-225425">
              <a:spcBef>
                <a:spcPts val="1200"/>
              </a:spcBef>
              <a:buFont typeface="Wingdings" panose="05000000000000000000"/>
              <a:buChar char=""/>
              <a:tabLst>
                <a:tab pos="238125" algn="l"/>
                <a:tab pos="238760" algn="l"/>
              </a:tabLst>
            </a:pPr>
            <a:r>
              <a:rPr sz="2400" spc="5" dirty="0">
                <a:latin typeface="Arial" panose="020B0604020202020204"/>
                <a:cs typeface="Arial" panose="020B0604020202020204"/>
              </a:rPr>
              <a:t>set </a:t>
            </a:r>
            <a:r>
              <a:rPr sz="2400" spc="-35" dirty="0">
                <a:latin typeface="Arial" panose="020B0604020202020204"/>
                <a:cs typeface="Arial" panose="020B0604020202020204"/>
              </a:rPr>
              <a:t>A </a:t>
            </a:r>
            <a:r>
              <a:rPr sz="2400" spc="10" dirty="0">
                <a:latin typeface="Arial" panose="020B0604020202020204"/>
                <a:cs typeface="Arial" panose="020B0604020202020204"/>
              </a:rPr>
              <a:t>= </a:t>
            </a:r>
            <a:r>
              <a:rPr sz="2400" spc="-20" dirty="0">
                <a:latin typeface="Arial" panose="020B0604020202020204"/>
                <a:cs typeface="Arial" panose="020B0604020202020204"/>
              </a:rPr>
              <a:t>{I, </a:t>
            </a:r>
            <a:r>
              <a:rPr sz="2400" spc="5" dirty="0">
                <a:latin typeface="Arial" panose="020B0604020202020204"/>
                <a:cs typeface="Arial" panose="020B0604020202020204"/>
              </a:rPr>
              <a:t>like,</a:t>
            </a:r>
            <a:r>
              <a:rPr sz="2400" spc="-325" dirty="0">
                <a:latin typeface="Arial" panose="020B0604020202020204"/>
                <a:cs typeface="Arial" panose="020B0604020202020204"/>
              </a:rPr>
              <a:t> </a:t>
            </a:r>
            <a:r>
              <a:rPr sz="2400" spc="5" dirty="0">
                <a:latin typeface="Arial" panose="020B0604020202020204"/>
                <a:cs typeface="Arial" panose="020B0604020202020204"/>
              </a:rPr>
              <a:t>chocolate, </a:t>
            </a:r>
            <a:r>
              <a:rPr sz="2400" spc="-30" dirty="0">
                <a:latin typeface="Arial" panose="020B0604020202020204"/>
                <a:cs typeface="Arial" panose="020B0604020202020204"/>
              </a:rPr>
              <a:t>ice, </a:t>
            </a:r>
            <a:r>
              <a:rPr sz="2400" spc="10" dirty="0">
                <a:latin typeface="Arial" panose="020B0604020202020204"/>
                <a:cs typeface="Arial" panose="020B0604020202020204"/>
              </a:rPr>
              <a:t>cream}</a:t>
            </a:r>
            <a:endParaRPr sz="2400" dirty="0">
              <a:latin typeface="Arial" panose="020B0604020202020204"/>
              <a:cs typeface="Arial" panose="020B0604020202020204"/>
            </a:endParaRPr>
          </a:p>
          <a:p>
            <a:pPr marL="238125" indent="-225425">
              <a:spcBef>
                <a:spcPts val="1200"/>
              </a:spcBef>
              <a:buFont typeface="Wingdings" panose="05000000000000000000"/>
              <a:buChar char=""/>
              <a:tabLst>
                <a:tab pos="238125" algn="l"/>
                <a:tab pos="238760" algn="l"/>
              </a:tabLst>
            </a:pPr>
            <a:r>
              <a:rPr lang="zh-CN" altLang="en-US" sz="2400" b="1" spc="-90" dirty="0">
                <a:latin typeface="Trebuchet MS" panose="020B0603020202020204"/>
                <a:cs typeface="Trebuchet MS" panose="020B0603020202020204"/>
              </a:rPr>
              <a:t>句子</a:t>
            </a:r>
            <a:r>
              <a:rPr sz="2400" b="1" spc="-90" dirty="0">
                <a:latin typeface="Trebuchet MS" panose="020B0603020202020204"/>
                <a:cs typeface="Trebuchet MS" panose="020B0603020202020204"/>
              </a:rPr>
              <a:t> </a:t>
            </a:r>
            <a:r>
              <a:rPr sz="2400" b="1" spc="-20" dirty="0">
                <a:latin typeface="Trebuchet MS" panose="020B0603020202020204"/>
                <a:cs typeface="Trebuchet MS" panose="020B0603020202020204"/>
              </a:rPr>
              <a:t>B</a:t>
            </a:r>
            <a:r>
              <a:rPr sz="2400" spc="-20" dirty="0">
                <a:latin typeface="Arial" panose="020B0604020202020204"/>
                <a:cs typeface="Arial" panose="020B0604020202020204"/>
              </a:rPr>
              <a:t>:</a:t>
            </a:r>
            <a:r>
              <a:rPr sz="2400" spc="-50" dirty="0">
                <a:latin typeface="Arial" panose="020B0604020202020204"/>
                <a:cs typeface="Arial" panose="020B0604020202020204"/>
              </a:rPr>
              <a:t> </a:t>
            </a:r>
            <a:r>
              <a:rPr sz="2400" spc="25" dirty="0">
                <a:latin typeface="Arial" panose="020B0604020202020204"/>
                <a:cs typeface="Arial" panose="020B0604020202020204"/>
              </a:rPr>
              <a:t>“Do</a:t>
            </a:r>
            <a:r>
              <a:rPr sz="2400" spc="-40" dirty="0">
                <a:latin typeface="Arial" panose="020B0604020202020204"/>
                <a:cs typeface="Arial" panose="020B0604020202020204"/>
              </a:rPr>
              <a:t> </a:t>
            </a:r>
            <a:r>
              <a:rPr sz="2400" spc="-15" dirty="0">
                <a:latin typeface="Arial" panose="020B0604020202020204"/>
                <a:cs typeface="Arial" panose="020B0604020202020204"/>
              </a:rPr>
              <a:t>I</a:t>
            </a:r>
            <a:r>
              <a:rPr sz="2400" spc="-60" dirty="0">
                <a:latin typeface="Arial" panose="020B0604020202020204"/>
                <a:cs typeface="Arial" panose="020B0604020202020204"/>
              </a:rPr>
              <a:t> </a:t>
            </a:r>
            <a:r>
              <a:rPr sz="2400" spc="25" dirty="0">
                <a:latin typeface="Arial" panose="020B0604020202020204"/>
                <a:cs typeface="Arial" panose="020B0604020202020204"/>
              </a:rPr>
              <a:t>want</a:t>
            </a:r>
            <a:r>
              <a:rPr sz="2400" spc="-55" dirty="0">
                <a:latin typeface="Arial" panose="020B0604020202020204"/>
                <a:cs typeface="Arial" panose="020B0604020202020204"/>
              </a:rPr>
              <a:t> </a:t>
            </a:r>
            <a:r>
              <a:rPr sz="2400" spc="20" dirty="0">
                <a:latin typeface="Arial" panose="020B0604020202020204"/>
                <a:cs typeface="Arial" panose="020B0604020202020204"/>
              </a:rPr>
              <a:t>chocolate</a:t>
            </a:r>
            <a:r>
              <a:rPr sz="2400" spc="-40" dirty="0">
                <a:latin typeface="Arial" panose="020B0604020202020204"/>
                <a:cs typeface="Arial" panose="020B0604020202020204"/>
              </a:rPr>
              <a:t> </a:t>
            </a:r>
            <a:r>
              <a:rPr sz="2400" dirty="0">
                <a:latin typeface="Arial" panose="020B0604020202020204"/>
                <a:cs typeface="Arial" panose="020B0604020202020204"/>
              </a:rPr>
              <a:t>cream</a:t>
            </a:r>
            <a:r>
              <a:rPr sz="2400" spc="-50" dirty="0">
                <a:latin typeface="Arial" panose="020B0604020202020204"/>
                <a:cs typeface="Arial" panose="020B0604020202020204"/>
              </a:rPr>
              <a:t> </a:t>
            </a:r>
            <a:r>
              <a:rPr sz="2400" spc="50" dirty="0">
                <a:latin typeface="Arial" panose="020B0604020202020204"/>
                <a:cs typeface="Arial" panose="020B0604020202020204"/>
              </a:rPr>
              <a:t>or</a:t>
            </a:r>
            <a:r>
              <a:rPr sz="2400" spc="-40" dirty="0">
                <a:latin typeface="Arial" panose="020B0604020202020204"/>
                <a:cs typeface="Arial" panose="020B0604020202020204"/>
              </a:rPr>
              <a:t> </a:t>
            </a:r>
            <a:r>
              <a:rPr sz="2400" spc="20" dirty="0">
                <a:latin typeface="Arial" panose="020B0604020202020204"/>
                <a:cs typeface="Arial" panose="020B0604020202020204"/>
              </a:rPr>
              <a:t>vanilla</a:t>
            </a:r>
            <a:r>
              <a:rPr sz="2400" spc="-85" dirty="0">
                <a:latin typeface="Arial" panose="020B0604020202020204"/>
                <a:cs typeface="Arial" panose="020B0604020202020204"/>
              </a:rPr>
              <a:t> </a:t>
            </a:r>
            <a:r>
              <a:rPr sz="2400" spc="-10" dirty="0">
                <a:latin typeface="Arial" panose="020B0604020202020204"/>
                <a:cs typeface="Arial" panose="020B0604020202020204"/>
              </a:rPr>
              <a:t>cream?”</a:t>
            </a:r>
            <a:endParaRPr sz="2400" dirty="0">
              <a:latin typeface="Arial" panose="020B0604020202020204"/>
              <a:cs typeface="Arial" panose="020B0604020202020204"/>
            </a:endParaRPr>
          </a:p>
          <a:p>
            <a:pPr marL="238125" indent="-225425">
              <a:spcBef>
                <a:spcPts val="1200"/>
              </a:spcBef>
              <a:buFont typeface="Wingdings" panose="05000000000000000000"/>
              <a:buChar char=""/>
              <a:tabLst>
                <a:tab pos="238125" algn="l"/>
                <a:tab pos="238760" algn="l"/>
              </a:tabLst>
            </a:pPr>
            <a:r>
              <a:rPr sz="2400" spc="5" dirty="0">
                <a:latin typeface="Arial" panose="020B0604020202020204"/>
                <a:cs typeface="Arial" panose="020B0604020202020204"/>
              </a:rPr>
              <a:t>set </a:t>
            </a:r>
            <a:r>
              <a:rPr sz="2400" spc="-80" dirty="0">
                <a:latin typeface="Arial" panose="020B0604020202020204"/>
                <a:cs typeface="Arial" panose="020B0604020202020204"/>
              </a:rPr>
              <a:t>B </a:t>
            </a:r>
            <a:r>
              <a:rPr sz="2400" spc="10" dirty="0">
                <a:latin typeface="Arial" panose="020B0604020202020204"/>
                <a:cs typeface="Arial" panose="020B0604020202020204"/>
              </a:rPr>
              <a:t>= </a:t>
            </a:r>
            <a:r>
              <a:rPr sz="2400" spc="-15" dirty="0">
                <a:latin typeface="Arial" panose="020B0604020202020204"/>
                <a:cs typeface="Arial" panose="020B0604020202020204"/>
              </a:rPr>
              <a:t>{Do, </a:t>
            </a:r>
            <a:r>
              <a:rPr sz="2400" spc="-60" dirty="0">
                <a:latin typeface="Arial" panose="020B0604020202020204"/>
                <a:cs typeface="Arial" panose="020B0604020202020204"/>
              </a:rPr>
              <a:t>I, </a:t>
            </a:r>
            <a:r>
              <a:rPr sz="2400" dirty="0">
                <a:latin typeface="Arial" panose="020B0604020202020204"/>
                <a:cs typeface="Arial" panose="020B0604020202020204"/>
              </a:rPr>
              <a:t>want, </a:t>
            </a:r>
            <a:r>
              <a:rPr sz="2400" spc="5" dirty="0">
                <a:latin typeface="Arial" panose="020B0604020202020204"/>
                <a:cs typeface="Arial" panose="020B0604020202020204"/>
              </a:rPr>
              <a:t>chocolate, </a:t>
            </a:r>
            <a:r>
              <a:rPr sz="2400" spc="-20" dirty="0">
                <a:latin typeface="Arial" panose="020B0604020202020204"/>
                <a:cs typeface="Arial" panose="020B0604020202020204"/>
              </a:rPr>
              <a:t>cream, </a:t>
            </a:r>
            <a:r>
              <a:rPr sz="2400" spc="-5" dirty="0">
                <a:latin typeface="Arial" panose="020B0604020202020204"/>
                <a:cs typeface="Arial" panose="020B0604020202020204"/>
              </a:rPr>
              <a:t>or,</a:t>
            </a:r>
            <a:r>
              <a:rPr sz="2400" spc="-245" dirty="0">
                <a:latin typeface="Arial" panose="020B0604020202020204"/>
                <a:cs typeface="Arial" panose="020B0604020202020204"/>
              </a:rPr>
              <a:t> </a:t>
            </a:r>
            <a:r>
              <a:rPr sz="2400" spc="25" dirty="0">
                <a:latin typeface="Arial" panose="020B0604020202020204"/>
                <a:cs typeface="Arial" panose="020B0604020202020204"/>
              </a:rPr>
              <a:t>vanilla}</a:t>
            </a:r>
            <a:endParaRPr sz="2400" dirty="0">
              <a:latin typeface="Arial" panose="020B0604020202020204"/>
              <a:cs typeface="Arial" panose="020B0604020202020204"/>
            </a:endParaRPr>
          </a:p>
        </p:txBody>
      </p:sp>
      <p:sp>
        <p:nvSpPr>
          <p:cNvPr id="12" name="标题 11"/>
          <p:cNvSpPr>
            <a:spLocks noGrp="1"/>
          </p:cNvSpPr>
          <p:nvPr>
            <p:ph type="title"/>
          </p:nvPr>
        </p:nvSpPr>
        <p:spPr/>
        <p:txBody>
          <a:bodyPr/>
          <a:lstStyle/>
          <a:p>
            <a:r>
              <a:rPr lang="en-US" altLang="zh-CN" dirty="0" smtClean="0"/>
              <a:t>Jaccard</a:t>
            </a:r>
            <a:r>
              <a:rPr lang="zh-CN" altLang="en-US" dirty="0" smtClean="0"/>
              <a:t>相关系数</a:t>
            </a:r>
            <a:endParaRPr lang="zh-CN" altLang="en-US" dirty="0"/>
          </a:p>
        </p:txBody>
      </p:sp>
      <p:pic>
        <p:nvPicPr>
          <p:cNvPr id="2" name="图片 1"/>
          <p:cNvPicPr>
            <a:picLocks noChangeAspect="1"/>
          </p:cNvPicPr>
          <p:nvPr/>
        </p:nvPicPr>
        <p:blipFill>
          <a:blip r:embed="rId1" cstate="print"/>
          <a:stretch>
            <a:fillRect/>
          </a:stretch>
        </p:blipFill>
        <p:spPr>
          <a:xfrm>
            <a:off x="2660568" y="4376255"/>
            <a:ext cx="5376600" cy="748200"/>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3818" y="1368880"/>
            <a:ext cx="10972800" cy="2548133"/>
          </a:xfrm>
          <a:prstGeom prst="rect">
            <a:avLst/>
          </a:prstGeom>
        </p:spPr>
        <p:txBody>
          <a:bodyPr vert="horz" wrap="square" lIns="0" tIns="100330" rIns="0" bIns="0" rtlCol="0">
            <a:spAutoFit/>
          </a:bodyPr>
          <a:lstStyle/>
          <a:p>
            <a:pPr marL="12700">
              <a:spcBef>
                <a:spcPts val="790"/>
              </a:spcBef>
            </a:pPr>
            <a:r>
              <a:rPr lang="zh-CN" altLang="en-US" sz="2800" b="1" spc="35" dirty="0">
                <a:latin typeface="Trebuchet MS" panose="020B0603020202020204"/>
                <a:cs typeface="Trebuchet MS" panose="020B0603020202020204"/>
              </a:rPr>
              <a:t>应用于集合（例如单词的出现）</a:t>
            </a:r>
            <a:endParaRPr lang="zh-CN" altLang="en-US" sz="2800" dirty="0">
              <a:latin typeface="Trebuchet MS" panose="020B0603020202020204"/>
              <a:cs typeface="Trebuchet MS" panose="020B0603020202020204"/>
            </a:endParaRPr>
          </a:p>
          <a:p>
            <a:pPr marL="238125" indent="-225425">
              <a:spcBef>
                <a:spcPts val="615"/>
              </a:spcBef>
              <a:buFont typeface="Wingdings" panose="05000000000000000000"/>
              <a:buChar char=""/>
              <a:tabLst>
                <a:tab pos="238125" algn="l"/>
                <a:tab pos="238760" algn="l"/>
              </a:tabLst>
            </a:pPr>
            <a:r>
              <a:rPr lang="zh-CN" altLang="en-US" sz="2400" b="1" spc="-90" dirty="0">
                <a:latin typeface="Trebuchet MS" panose="020B0603020202020204"/>
                <a:cs typeface="Trebuchet MS" panose="020B0603020202020204"/>
              </a:rPr>
              <a:t>句子</a:t>
            </a:r>
            <a:r>
              <a:rPr sz="2400" b="1" spc="-90" dirty="0">
                <a:latin typeface="Trebuchet MS" panose="020B0603020202020204"/>
                <a:cs typeface="Trebuchet MS" panose="020B0603020202020204"/>
              </a:rPr>
              <a:t> </a:t>
            </a:r>
            <a:r>
              <a:rPr sz="2400" b="1" spc="-20" dirty="0">
                <a:latin typeface="Trebuchet MS" panose="020B0603020202020204"/>
                <a:cs typeface="Trebuchet MS" panose="020B0603020202020204"/>
              </a:rPr>
              <a:t>A</a:t>
            </a:r>
            <a:r>
              <a:rPr sz="2400" spc="-20" dirty="0">
                <a:latin typeface="Arial" panose="020B0604020202020204"/>
                <a:cs typeface="Arial" panose="020B0604020202020204"/>
              </a:rPr>
              <a:t>:</a:t>
            </a:r>
            <a:r>
              <a:rPr sz="2400" spc="-60" dirty="0">
                <a:latin typeface="Arial" panose="020B0604020202020204"/>
                <a:cs typeface="Arial" panose="020B0604020202020204"/>
              </a:rPr>
              <a:t> </a:t>
            </a:r>
            <a:r>
              <a:rPr sz="2400" spc="25" dirty="0">
                <a:latin typeface="Arial" panose="020B0604020202020204"/>
                <a:cs typeface="Arial" panose="020B0604020202020204"/>
              </a:rPr>
              <a:t>“I</a:t>
            </a:r>
            <a:r>
              <a:rPr sz="2400" spc="-50" dirty="0">
                <a:latin typeface="Arial" panose="020B0604020202020204"/>
                <a:cs typeface="Arial" panose="020B0604020202020204"/>
              </a:rPr>
              <a:t> </a:t>
            </a:r>
            <a:r>
              <a:rPr sz="2400" spc="30" dirty="0">
                <a:latin typeface="Arial" panose="020B0604020202020204"/>
                <a:cs typeface="Arial" panose="020B0604020202020204"/>
              </a:rPr>
              <a:t>like</a:t>
            </a:r>
            <a:r>
              <a:rPr sz="2400" spc="-70" dirty="0">
                <a:latin typeface="Arial" panose="020B0604020202020204"/>
                <a:cs typeface="Arial" panose="020B0604020202020204"/>
              </a:rPr>
              <a:t> </a:t>
            </a:r>
            <a:r>
              <a:rPr sz="2400" spc="20" dirty="0">
                <a:latin typeface="Arial" panose="020B0604020202020204"/>
                <a:cs typeface="Arial" panose="020B0604020202020204"/>
              </a:rPr>
              <a:t>chocolate</a:t>
            </a:r>
            <a:r>
              <a:rPr sz="2400" spc="-40" dirty="0">
                <a:latin typeface="Arial" panose="020B0604020202020204"/>
                <a:cs typeface="Arial" panose="020B0604020202020204"/>
              </a:rPr>
              <a:t> </a:t>
            </a:r>
            <a:r>
              <a:rPr sz="2400" spc="-10" dirty="0">
                <a:latin typeface="Arial" panose="020B0604020202020204"/>
                <a:cs typeface="Arial" panose="020B0604020202020204"/>
              </a:rPr>
              <a:t>ice</a:t>
            </a:r>
            <a:r>
              <a:rPr sz="2400" spc="-70" dirty="0">
                <a:latin typeface="Arial" panose="020B0604020202020204"/>
                <a:cs typeface="Arial" panose="020B0604020202020204"/>
              </a:rPr>
              <a:t> </a:t>
            </a:r>
            <a:r>
              <a:rPr sz="2400" spc="-5" dirty="0">
                <a:latin typeface="Arial" panose="020B0604020202020204"/>
                <a:cs typeface="Arial" panose="020B0604020202020204"/>
              </a:rPr>
              <a:t>cream.”</a:t>
            </a:r>
            <a:endParaRPr sz="2400" dirty="0">
              <a:latin typeface="Arial" panose="020B0604020202020204"/>
              <a:cs typeface="Arial" panose="020B0604020202020204"/>
            </a:endParaRPr>
          </a:p>
          <a:p>
            <a:pPr marL="238125" indent="-225425">
              <a:spcBef>
                <a:spcPts val="1200"/>
              </a:spcBef>
              <a:buFont typeface="Wingdings" panose="05000000000000000000"/>
              <a:buChar char=""/>
              <a:tabLst>
                <a:tab pos="238125" algn="l"/>
                <a:tab pos="238760" algn="l"/>
              </a:tabLst>
            </a:pPr>
            <a:r>
              <a:rPr sz="2400" spc="5" dirty="0">
                <a:latin typeface="Arial" panose="020B0604020202020204"/>
                <a:cs typeface="Arial" panose="020B0604020202020204"/>
              </a:rPr>
              <a:t>set</a:t>
            </a:r>
            <a:r>
              <a:rPr sz="2400" spc="-45" dirty="0">
                <a:latin typeface="Arial" panose="020B0604020202020204"/>
                <a:cs typeface="Arial" panose="020B0604020202020204"/>
              </a:rPr>
              <a:t> </a:t>
            </a:r>
            <a:r>
              <a:rPr sz="2400" spc="-35" dirty="0">
                <a:latin typeface="Arial" panose="020B0604020202020204"/>
                <a:cs typeface="Arial" panose="020B0604020202020204"/>
              </a:rPr>
              <a:t>A</a:t>
            </a:r>
            <a:r>
              <a:rPr sz="2400" spc="-65" dirty="0">
                <a:latin typeface="Arial" panose="020B0604020202020204"/>
                <a:cs typeface="Arial" panose="020B0604020202020204"/>
              </a:rPr>
              <a:t> </a:t>
            </a:r>
            <a:r>
              <a:rPr sz="2400" spc="10" dirty="0">
                <a:latin typeface="Arial" panose="020B0604020202020204"/>
                <a:cs typeface="Arial" panose="020B0604020202020204"/>
              </a:rPr>
              <a:t>=</a:t>
            </a:r>
            <a:r>
              <a:rPr sz="2400" spc="-55" dirty="0">
                <a:latin typeface="Arial" panose="020B0604020202020204"/>
                <a:cs typeface="Arial" panose="020B0604020202020204"/>
              </a:rPr>
              <a:t> </a:t>
            </a:r>
            <a:r>
              <a:rPr sz="2400" spc="-5" dirty="0">
                <a:latin typeface="Arial" panose="020B0604020202020204"/>
                <a:cs typeface="Arial" panose="020B0604020202020204"/>
              </a:rPr>
              <a:t>{</a:t>
            </a:r>
            <a:r>
              <a:rPr sz="2400" b="1" spc="-5" dirty="0">
                <a:solidFill>
                  <a:srgbClr val="FF0000"/>
                </a:solidFill>
                <a:latin typeface="Trebuchet MS" panose="020B0603020202020204"/>
                <a:cs typeface="Trebuchet MS" panose="020B0603020202020204"/>
              </a:rPr>
              <a:t>I</a:t>
            </a:r>
            <a:r>
              <a:rPr sz="2400" spc="-5" dirty="0">
                <a:latin typeface="Arial" panose="020B0604020202020204"/>
                <a:cs typeface="Arial" panose="020B0604020202020204"/>
              </a:rPr>
              <a:t>,</a:t>
            </a:r>
            <a:r>
              <a:rPr sz="2400" spc="-60" dirty="0">
                <a:latin typeface="Arial" panose="020B0604020202020204"/>
                <a:cs typeface="Arial" panose="020B0604020202020204"/>
              </a:rPr>
              <a:t> </a:t>
            </a:r>
            <a:r>
              <a:rPr sz="2400" spc="5" dirty="0">
                <a:latin typeface="Arial" panose="020B0604020202020204"/>
                <a:cs typeface="Arial" panose="020B0604020202020204"/>
              </a:rPr>
              <a:t>like,</a:t>
            </a:r>
            <a:r>
              <a:rPr sz="2400" spc="-70" dirty="0">
                <a:latin typeface="Arial" panose="020B0604020202020204"/>
                <a:cs typeface="Arial" panose="020B0604020202020204"/>
              </a:rPr>
              <a:t> </a:t>
            </a:r>
            <a:r>
              <a:rPr sz="2400" b="1" spc="-10" dirty="0">
                <a:solidFill>
                  <a:srgbClr val="FF0000"/>
                </a:solidFill>
                <a:latin typeface="Trebuchet MS" panose="020B0603020202020204"/>
                <a:cs typeface="Trebuchet MS" panose="020B0603020202020204"/>
              </a:rPr>
              <a:t>chocolate</a:t>
            </a:r>
            <a:r>
              <a:rPr sz="2400" spc="-10" dirty="0">
                <a:latin typeface="Arial" panose="020B0604020202020204"/>
                <a:cs typeface="Arial" panose="020B0604020202020204"/>
              </a:rPr>
              <a:t>,</a:t>
            </a:r>
            <a:r>
              <a:rPr sz="2400" spc="-50" dirty="0">
                <a:latin typeface="Arial" panose="020B0604020202020204"/>
                <a:cs typeface="Arial" panose="020B0604020202020204"/>
              </a:rPr>
              <a:t> </a:t>
            </a:r>
            <a:r>
              <a:rPr sz="2400" spc="-30" dirty="0">
                <a:latin typeface="Arial" panose="020B0604020202020204"/>
                <a:cs typeface="Arial" panose="020B0604020202020204"/>
              </a:rPr>
              <a:t>ice,</a:t>
            </a:r>
            <a:r>
              <a:rPr sz="2400" spc="-60" dirty="0">
                <a:latin typeface="Arial" panose="020B0604020202020204"/>
                <a:cs typeface="Arial" panose="020B0604020202020204"/>
              </a:rPr>
              <a:t> </a:t>
            </a:r>
            <a:r>
              <a:rPr sz="2400" b="1" spc="-5" dirty="0">
                <a:solidFill>
                  <a:srgbClr val="FF0000"/>
                </a:solidFill>
                <a:latin typeface="Trebuchet MS" panose="020B0603020202020204"/>
                <a:cs typeface="Trebuchet MS" panose="020B0603020202020204"/>
              </a:rPr>
              <a:t>cream</a:t>
            </a:r>
            <a:r>
              <a:rPr sz="2400" spc="-5" dirty="0">
                <a:latin typeface="Arial" panose="020B0604020202020204"/>
                <a:cs typeface="Arial" panose="020B0604020202020204"/>
              </a:rPr>
              <a:t>}</a:t>
            </a:r>
            <a:endParaRPr sz="2400" dirty="0">
              <a:latin typeface="Arial" panose="020B0604020202020204"/>
              <a:cs typeface="Arial" panose="020B0604020202020204"/>
            </a:endParaRPr>
          </a:p>
          <a:p>
            <a:pPr marL="238125" indent="-225425">
              <a:spcBef>
                <a:spcPts val="1200"/>
              </a:spcBef>
              <a:buFont typeface="Wingdings" panose="05000000000000000000"/>
              <a:buChar char=""/>
              <a:tabLst>
                <a:tab pos="238125" algn="l"/>
                <a:tab pos="238760" algn="l"/>
              </a:tabLst>
            </a:pPr>
            <a:r>
              <a:rPr lang="zh-CN" altLang="en-US" sz="2400" b="1" spc="-90" dirty="0">
                <a:latin typeface="Trebuchet MS" panose="020B0603020202020204"/>
                <a:cs typeface="Trebuchet MS" panose="020B0603020202020204"/>
              </a:rPr>
              <a:t>句子</a:t>
            </a:r>
            <a:r>
              <a:rPr sz="2400" b="1" spc="-90" dirty="0">
                <a:latin typeface="Trebuchet MS" panose="020B0603020202020204"/>
                <a:cs typeface="Trebuchet MS" panose="020B0603020202020204"/>
              </a:rPr>
              <a:t> </a:t>
            </a:r>
            <a:r>
              <a:rPr sz="2400" b="1" spc="-20" dirty="0">
                <a:latin typeface="Trebuchet MS" panose="020B0603020202020204"/>
                <a:cs typeface="Trebuchet MS" panose="020B0603020202020204"/>
              </a:rPr>
              <a:t>B</a:t>
            </a:r>
            <a:r>
              <a:rPr sz="2400" spc="-20" dirty="0">
                <a:latin typeface="Arial" panose="020B0604020202020204"/>
                <a:cs typeface="Arial" panose="020B0604020202020204"/>
              </a:rPr>
              <a:t>:</a:t>
            </a:r>
            <a:r>
              <a:rPr sz="2400" spc="-50" dirty="0">
                <a:latin typeface="Arial" panose="020B0604020202020204"/>
                <a:cs typeface="Arial" panose="020B0604020202020204"/>
              </a:rPr>
              <a:t> </a:t>
            </a:r>
            <a:r>
              <a:rPr sz="2400" spc="25" dirty="0">
                <a:latin typeface="Arial" panose="020B0604020202020204"/>
                <a:cs typeface="Arial" panose="020B0604020202020204"/>
              </a:rPr>
              <a:t>“Do</a:t>
            </a:r>
            <a:r>
              <a:rPr sz="2400" spc="-40" dirty="0">
                <a:latin typeface="Arial" panose="020B0604020202020204"/>
                <a:cs typeface="Arial" panose="020B0604020202020204"/>
              </a:rPr>
              <a:t> </a:t>
            </a:r>
            <a:r>
              <a:rPr sz="2400" spc="-15" dirty="0">
                <a:latin typeface="Arial" panose="020B0604020202020204"/>
                <a:cs typeface="Arial" panose="020B0604020202020204"/>
              </a:rPr>
              <a:t>I</a:t>
            </a:r>
            <a:r>
              <a:rPr sz="2400" spc="-60" dirty="0">
                <a:latin typeface="Arial" panose="020B0604020202020204"/>
                <a:cs typeface="Arial" panose="020B0604020202020204"/>
              </a:rPr>
              <a:t> </a:t>
            </a:r>
            <a:r>
              <a:rPr sz="2400" spc="25" dirty="0">
                <a:latin typeface="Arial" panose="020B0604020202020204"/>
                <a:cs typeface="Arial" panose="020B0604020202020204"/>
              </a:rPr>
              <a:t>want</a:t>
            </a:r>
            <a:r>
              <a:rPr sz="2400" spc="-55" dirty="0">
                <a:latin typeface="Arial" panose="020B0604020202020204"/>
                <a:cs typeface="Arial" panose="020B0604020202020204"/>
              </a:rPr>
              <a:t> </a:t>
            </a:r>
            <a:r>
              <a:rPr sz="2400" spc="20" dirty="0">
                <a:latin typeface="Arial" panose="020B0604020202020204"/>
                <a:cs typeface="Arial" panose="020B0604020202020204"/>
              </a:rPr>
              <a:t>chocolate</a:t>
            </a:r>
            <a:r>
              <a:rPr sz="2400" spc="-40" dirty="0">
                <a:latin typeface="Arial" panose="020B0604020202020204"/>
                <a:cs typeface="Arial" panose="020B0604020202020204"/>
              </a:rPr>
              <a:t> </a:t>
            </a:r>
            <a:r>
              <a:rPr sz="2400" dirty="0">
                <a:latin typeface="Arial" panose="020B0604020202020204"/>
                <a:cs typeface="Arial" panose="020B0604020202020204"/>
              </a:rPr>
              <a:t>cream</a:t>
            </a:r>
            <a:r>
              <a:rPr sz="2400" spc="-50" dirty="0">
                <a:latin typeface="Arial" panose="020B0604020202020204"/>
                <a:cs typeface="Arial" panose="020B0604020202020204"/>
              </a:rPr>
              <a:t> </a:t>
            </a:r>
            <a:r>
              <a:rPr sz="2400" spc="50" dirty="0">
                <a:latin typeface="Arial" panose="020B0604020202020204"/>
                <a:cs typeface="Arial" panose="020B0604020202020204"/>
              </a:rPr>
              <a:t>or</a:t>
            </a:r>
            <a:r>
              <a:rPr sz="2400" spc="-40" dirty="0">
                <a:latin typeface="Arial" panose="020B0604020202020204"/>
                <a:cs typeface="Arial" panose="020B0604020202020204"/>
              </a:rPr>
              <a:t> </a:t>
            </a:r>
            <a:r>
              <a:rPr sz="2400" spc="20" dirty="0">
                <a:latin typeface="Arial" panose="020B0604020202020204"/>
                <a:cs typeface="Arial" panose="020B0604020202020204"/>
              </a:rPr>
              <a:t>vanilla</a:t>
            </a:r>
            <a:r>
              <a:rPr sz="2400" spc="-85" dirty="0">
                <a:latin typeface="Arial" panose="020B0604020202020204"/>
                <a:cs typeface="Arial" panose="020B0604020202020204"/>
              </a:rPr>
              <a:t> </a:t>
            </a:r>
            <a:r>
              <a:rPr sz="2400" spc="-10" dirty="0">
                <a:latin typeface="Arial" panose="020B0604020202020204"/>
                <a:cs typeface="Arial" panose="020B0604020202020204"/>
              </a:rPr>
              <a:t>cream?”</a:t>
            </a:r>
            <a:endParaRPr sz="2400" dirty="0">
              <a:latin typeface="Arial" panose="020B0604020202020204"/>
              <a:cs typeface="Arial" panose="020B0604020202020204"/>
            </a:endParaRPr>
          </a:p>
          <a:p>
            <a:pPr marL="238125" indent="-225425">
              <a:spcBef>
                <a:spcPts val="1200"/>
              </a:spcBef>
              <a:buFont typeface="Wingdings" panose="05000000000000000000"/>
              <a:buChar char=""/>
              <a:tabLst>
                <a:tab pos="238125" algn="l"/>
                <a:tab pos="238760" algn="l"/>
              </a:tabLst>
            </a:pPr>
            <a:r>
              <a:rPr sz="2400" spc="5" dirty="0">
                <a:latin typeface="Arial" panose="020B0604020202020204"/>
                <a:cs typeface="Arial" panose="020B0604020202020204"/>
              </a:rPr>
              <a:t>set </a:t>
            </a:r>
            <a:r>
              <a:rPr sz="2400" spc="-80" dirty="0">
                <a:latin typeface="Arial" panose="020B0604020202020204"/>
                <a:cs typeface="Arial" panose="020B0604020202020204"/>
              </a:rPr>
              <a:t>B </a:t>
            </a:r>
            <a:r>
              <a:rPr sz="2400" spc="10" dirty="0">
                <a:latin typeface="Arial" panose="020B0604020202020204"/>
                <a:cs typeface="Arial" panose="020B0604020202020204"/>
              </a:rPr>
              <a:t>= </a:t>
            </a:r>
            <a:r>
              <a:rPr sz="2400" spc="-15" dirty="0">
                <a:latin typeface="Arial" panose="020B0604020202020204"/>
                <a:cs typeface="Arial" panose="020B0604020202020204"/>
              </a:rPr>
              <a:t>{Do, </a:t>
            </a:r>
            <a:r>
              <a:rPr sz="2400" b="1" spc="-30" dirty="0">
                <a:solidFill>
                  <a:srgbClr val="FF0000"/>
                </a:solidFill>
                <a:latin typeface="Trebuchet MS" panose="020B0603020202020204"/>
                <a:cs typeface="Trebuchet MS" panose="020B0603020202020204"/>
              </a:rPr>
              <a:t>I</a:t>
            </a:r>
            <a:r>
              <a:rPr sz="2400" spc="-30" dirty="0">
                <a:latin typeface="Arial" panose="020B0604020202020204"/>
                <a:cs typeface="Arial" panose="020B0604020202020204"/>
              </a:rPr>
              <a:t>, </a:t>
            </a:r>
            <a:r>
              <a:rPr sz="2400" dirty="0">
                <a:latin typeface="Arial" panose="020B0604020202020204"/>
                <a:cs typeface="Arial" panose="020B0604020202020204"/>
              </a:rPr>
              <a:t>want, </a:t>
            </a:r>
            <a:r>
              <a:rPr sz="2400" b="1" spc="-10" dirty="0">
                <a:solidFill>
                  <a:srgbClr val="FF0000"/>
                </a:solidFill>
                <a:latin typeface="Trebuchet MS" panose="020B0603020202020204"/>
                <a:cs typeface="Trebuchet MS" panose="020B0603020202020204"/>
              </a:rPr>
              <a:t>chocolate</a:t>
            </a:r>
            <a:r>
              <a:rPr sz="2400" spc="-10" dirty="0">
                <a:latin typeface="Arial" panose="020B0604020202020204"/>
                <a:cs typeface="Arial" panose="020B0604020202020204"/>
              </a:rPr>
              <a:t>, </a:t>
            </a:r>
            <a:r>
              <a:rPr sz="2400" b="1" spc="-30" dirty="0">
                <a:solidFill>
                  <a:srgbClr val="FF0000"/>
                </a:solidFill>
                <a:latin typeface="Trebuchet MS" panose="020B0603020202020204"/>
                <a:cs typeface="Trebuchet MS" panose="020B0603020202020204"/>
              </a:rPr>
              <a:t>cream</a:t>
            </a:r>
            <a:r>
              <a:rPr sz="2400" spc="-30" dirty="0">
                <a:latin typeface="Arial" panose="020B0604020202020204"/>
                <a:cs typeface="Arial" panose="020B0604020202020204"/>
              </a:rPr>
              <a:t>, </a:t>
            </a:r>
            <a:r>
              <a:rPr sz="2400" spc="-5" dirty="0">
                <a:latin typeface="Arial" panose="020B0604020202020204"/>
                <a:cs typeface="Arial" panose="020B0604020202020204"/>
              </a:rPr>
              <a:t>or,</a:t>
            </a:r>
            <a:r>
              <a:rPr sz="2400" spc="-270" dirty="0">
                <a:latin typeface="Arial" panose="020B0604020202020204"/>
                <a:cs typeface="Arial" panose="020B0604020202020204"/>
              </a:rPr>
              <a:t> </a:t>
            </a:r>
            <a:r>
              <a:rPr sz="2400" spc="25" dirty="0">
                <a:latin typeface="Arial" panose="020B0604020202020204"/>
                <a:cs typeface="Arial" panose="020B0604020202020204"/>
              </a:rPr>
              <a:t>vanilla}</a:t>
            </a:r>
            <a:endParaRPr sz="2400" dirty="0">
              <a:latin typeface="Arial" panose="020B0604020202020204"/>
              <a:cs typeface="Arial" panose="020B0604020202020204"/>
            </a:endParaRPr>
          </a:p>
        </p:txBody>
      </p:sp>
      <p:sp>
        <p:nvSpPr>
          <p:cNvPr id="13" name="标题 12"/>
          <p:cNvSpPr>
            <a:spLocks noGrp="1"/>
          </p:cNvSpPr>
          <p:nvPr>
            <p:ph type="title"/>
          </p:nvPr>
        </p:nvSpPr>
        <p:spPr/>
        <p:txBody>
          <a:bodyPr/>
          <a:lstStyle/>
          <a:p>
            <a:r>
              <a:rPr lang="en-US" altLang="zh-CN" dirty="0" smtClean="0"/>
              <a:t>Jaccard</a:t>
            </a:r>
            <a:r>
              <a:rPr lang="zh-CN" altLang="en-US" dirty="0" smtClean="0"/>
              <a:t>相关系数</a:t>
            </a:r>
            <a:endParaRPr lang="zh-CN" altLang="en-US" dirty="0"/>
          </a:p>
        </p:txBody>
      </p:sp>
      <p:pic>
        <p:nvPicPr>
          <p:cNvPr id="2" name="图片 1"/>
          <p:cNvPicPr>
            <a:picLocks noChangeAspect="1"/>
          </p:cNvPicPr>
          <p:nvPr/>
        </p:nvPicPr>
        <p:blipFill>
          <a:blip r:embed="rId1" cstate="print"/>
          <a:stretch>
            <a:fillRect/>
          </a:stretch>
        </p:blipFill>
        <p:spPr>
          <a:xfrm>
            <a:off x="4559829" y="4366485"/>
            <a:ext cx="3460800" cy="72500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92668" y="1925320"/>
            <a:ext cx="10972800" cy="2198038"/>
          </a:xfrm>
          <a:prstGeom prst="rect">
            <a:avLst/>
          </a:prstGeom>
        </p:spPr>
        <p:txBody>
          <a:bodyPr vert="horz" wrap="square" lIns="0" tIns="12700" rIns="0" bIns="0" rtlCol="0">
            <a:spAutoFit/>
          </a:bodyPr>
          <a:lstStyle/>
          <a:p>
            <a:pPr marL="12700">
              <a:spcBef>
                <a:spcPts val="100"/>
              </a:spcBef>
            </a:pPr>
            <a:r>
              <a:rPr lang="zh-CN" altLang="en-US" sz="2400" b="1" spc="20" dirty="0">
                <a:solidFill>
                  <a:srgbClr val="84ADAF"/>
                </a:solidFill>
                <a:latin typeface="Trebuchet MS" panose="020B0603020202020204"/>
                <a:cs typeface="Trebuchet MS" panose="020B0603020202020204"/>
              </a:rPr>
              <a:t>导入一般的两两距离计算函数：</a:t>
            </a:r>
            <a:endParaRPr sz="2400" dirty="0">
              <a:latin typeface="Trebuchet MS" panose="020B0603020202020204"/>
              <a:cs typeface="Trebuchet MS" panose="020B0603020202020204"/>
            </a:endParaRPr>
          </a:p>
          <a:p>
            <a:pPr marL="469900">
              <a:spcBef>
                <a:spcPts val="1170"/>
              </a:spcBef>
            </a:pPr>
            <a:r>
              <a:rPr b="1" spc="-5" dirty="0">
                <a:solidFill>
                  <a:srgbClr val="8B8B8B"/>
                </a:solidFill>
                <a:latin typeface="Courier New" panose="02070309020205020404"/>
                <a:cs typeface="Courier New" panose="02070309020205020404"/>
              </a:rPr>
              <a:t>from sklearn.metrics import</a:t>
            </a:r>
            <a:r>
              <a:rPr b="1" spc="-65" dirty="0">
                <a:solidFill>
                  <a:srgbClr val="8B8B8B"/>
                </a:solidFill>
                <a:latin typeface="Courier New" panose="02070309020205020404"/>
                <a:cs typeface="Courier New" panose="02070309020205020404"/>
              </a:rPr>
              <a:t> </a:t>
            </a:r>
            <a:r>
              <a:rPr b="1" spc="-5" dirty="0">
                <a:solidFill>
                  <a:srgbClr val="0433FF"/>
                </a:solidFill>
                <a:latin typeface="Courier New" panose="02070309020205020404"/>
                <a:cs typeface="Courier New" panose="02070309020205020404"/>
              </a:rPr>
              <a:t>pairwise_distances</a:t>
            </a:r>
            <a:endParaRPr dirty="0">
              <a:latin typeface="Courier New" panose="02070309020205020404"/>
              <a:cs typeface="Courier New" panose="02070309020205020404"/>
            </a:endParaRPr>
          </a:p>
          <a:p>
            <a:pPr marL="12700">
              <a:spcBef>
                <a:spcPts val="1230"/>
              </a:spcBef>
            </a:pPr>
            <a:r>
              <a:rPr lang="zh-CN" altLang="en-US" sz="2400" b="1" spc="-5" dirty="0">
                <a:solidFill>
                  <a:srgbClr val="84ADAF"/>
                </a:solidFill>
                <a:latin typeface="Trebuchet MS" panose="020B0603020202020204"/>
                <a:cs typeface="Trebuchet MS" panose="020B0603020202020204"/>
              </a:rPr>
              <a:t>计算距离：</a:t>
            </a:r>
            <a:endParaRPr sz="2400" dirty="0">
              <a:latin typeface="Trebuchet MS" panose="020B0603020202020204"/>
              <a:cs typeface="Trebuchet MS" panose="020B0603020202020204"/>
            </a:endParaRPr>
          </a:p>
          <a:p>
            <a:pPr marL="469900">
              <a:spcBef>
                <a:spcPts val="1170"/>
              </a:spcBef>
            </a:pPr>
            <a:r>
              <a:rPr b="1" spc="-5" dirty="0">
                <a:solidFill>
                  <a:srgbClr val="6F2F9F"/>
                </a:solidFill>
                <a:latin typeface="Courier New" panose="02070309020205020404"/>
                <a:cs typeface="Courier New" panose="02070309020205020404"/>
              </a:rPr>
              <a:t>dist </a:t>
            </a:r>
            <a:r>
              <a:rPr b="1" dirty="0">
                <a:solidFill>
                  <a:srgbClr val="84ADAF"/>
                </a:solidFill>
                <a:latin typeface="Courier New" panose="02070309020205020404"/>
                <a:cs typeface="Courier New" panose="02070309020205020404"/>
              </a:rPr>
              <a:t>=</a:t>
            </a:r>
            <a:r>
              <a:rPr b="1" spc="-30" dirty="0">
                <a:solidFill>
                  <a:srgbClr val="84ADAF"/>
                </a:solidFill>
                <a:latin typeface="Courier New" panose="02070309020205020404"/>
                <a:cs typeface="Courier New" panose="02070309020205020404"/>
              </a:rPr>
              <a:t> </a:t>
            </a:r>
            <a:r>
              <a:rPr b="1" spc="-5" dirty="0">
                <a:solidFill>
                  <a:srgbClr val="0433FF"/>
                </a:solidFill>
                <a:latin typeface="Courier New" panose="02070309020205020404"/>
                <a:cs typeface="Courier New" panose="02070309020205020404"/>
              </a:rPr>
              <a:t>pairwise_distances</a:t>
            </a:r>
            <a:r>
              <a:rPr b="1" spc="-5" dirty="0">
                <a:solidFill>
                  <a:srgbClr val="344B5E"/>
                </a:solidFill>
                <a:latin typeface="Courier New" panose="02070309020205020404"/>
                <a:cs typeface="Courier New" panose="02070309020205020404"/>
              </a:rPr>
              <a:t>(X,Y,</a:t>
            </a:r>
            <a:endParaRPr dirty="0">
              <a:latin typeface="Courier New" panose="02070309020205020404"/>
              <a:cs typeface="Courier New" panose="02070309020205020404"/>
            </a:endParaRPr>
          </a:p>
          <a:p>
            <a:pPr marL="2756535">
              <a:spcBef>
                <a:spcPts val="1215"/>
              </a:spcBef>
            </a:pPr>
            <a:r>
              <a:rPr b="1" spc="-5" dirty="0">
                <a:solidFill>
                  <a:srgbClr val="344B5E"/>
                </a:solidFill>
                <a:latin typeface="Courier New" panose="02070309020205020404"/>
                <a:cs typeface="Courier New" panose="02070309020205020404"/>
              </a:rPr>
              <a:t>metric='euclidean')</a:t>
            </a:r>
            <a:endParaRPr dirty="0">
              <a:latin typeface="Courier New" panose="02070309020205020404"/>
              <a:cs typeface="Courier New" panose="02070309020205020404"/>
            </a:endParaRPr>
          </a:p>
        </p:txBody>
      </p:sp>
      <p:sp>
        <p:nvSpPr>
          <p:cNvPr id="4" name="object 4"/>
          <p:cNvSpPr/>
          <p:nvPr/>
        </p:nvSpPr>
        <p:spPr>
          <a:xfrm>
            <a:off x="8400257" y="3737278"/>
            <a:ext cx="512233" cy="386080"/>
          </a:xfrm>
          <a:custGeom>
            <a:avLst/>
            <a:gdLst/>
            <a:ahLst/>
            <a:cxnLst/>
            <a:rect l="l" t="t" r="r" b="b"/>
            <a:pathLst>
              <a:path w="384175" h="386080">
                <a:moveTo>
                  <a:pt x="192024" y="0"/>
                </a:moveTo>
                <a:lnTo>
                  <a:pt x="0" y="192786"/>
                </a:lnTo>
                <a:lnTo>
                  <a:pt x="192024" y="385571"/>
                </a:lnTo>
                <a:lnTo>
                  <a:pt x="192024" y="289178"/>
                </a:lnTo>
                <a:lnTo>
                  <a:pt x="384048" y="289178"/>
                </a:lnTo>
                <a:lnTo>
                  <a:pt x="384048" y="96393"/>
                </a:lnTo>
                <a:lnTo>
                  <a:pt x="192024" y="96393"/>
                </a:lnTo>
                <a:lnTo>
                  <a:pt x="192024" y="0"/>
                </a:lnTo>
                <a:close/>
              </a:path>
            </a:pathLst>
          </a:custGeom>
          <a:solidFill>
            <a:srgbClr val="D0692F">
              <a:alpha val="74900"/>
            </a:srgbClr>
          </a:solidFill>
        </p:spPr>
        <p:txBody>
          <a:bodyPr wrap="square" lIns="0" tIns="0" rIns="0" bIns="0" rtlCol="0"/>
          <a:lstStyle/>
          <a:p/>
        </p:txBody>
      </p:sp>
      <p:sp>
        <p:nvSpPr>
          <p:cNvPr id="5" name="object 5"/>
          <p:cNvSpPr txBox="1"/>
          <p:nvPr/>
        </p:nvSpPr>
        <p:spPr>
          <a:xfrm>
            <a:off x="9168342" y="3708009"/>
            <a:ext cx="2495679" cy="319959"/>
          </a:xfrm>
          <a:prstGeom prst="rect">
            <a:avLst/>
          </a:prstGeom>
        </p:spPr>
        <p:txBody>
          <a:bodyPr vert="horz" wrap="square" lIns="0" tIns="12065" rIns="0" bIns="0" rtlCol="0">
            <a:spAutoFit/>
          </a:bodyPr>
          <a:lstStyle/>
          <a:p>
            <a:pPr marL="12700">
              <a:spcBef>
                <a:spcPts val="95"/>
              </a:spcBef>
            </a:pPr>
            <a:r>
              <a:rPr lang="zh-CN" altLang="en-US" sz="2000" b="1" dirty="0">
                <a:solidFill>
                  <a:srgbClr val="344B5E"/>
                </a:solidFill>
                <a:latin typeface="Trebuchet MS" panose="020B0603020202020204"/>
                <a:cs typeface="Trebuchet MS" panose="020B0603020202020204"/>
              </a:rPr>
              <a:t>选择的距离指标</a:t>
            </a:r>
            <a:endParaRPr sz="2000" dirty="0">
              <a:latin typeface="Trebuchet MS" panose="020B0603020202020204"/>
              <a:cs typeface="Trebuchet MS" panose="020B0603020202020204"/>
            </a:endParaRPr>
          </a:p>
        </p:txBody>
      </p:sp>
      <p:sp>
        <p:nvSpPr>
          <p:cNvPr id="8" name="标题 7"/>
          <p:cNvSpPr>
            <a:spLocks noGrp="1"/>
          </p:cNvSpPr>
          <p:nvPr>
            <p:ph type="title"/>
          </p:nvPr>
        </p:nvSpPr>
        <p:spPr/>
        <p:txBody>
          <a:bodyPr/>
          <a:lstStyle/>
          <a:p>
            <a:r>
              <a:rPr lang="zh-CN" altLang="en-US" dirty="0"/>
              <a:t>距离指标的语法</a:t>
            </a:r>
            <a:endParaRPr lang="zh-CN" altLang="en-US" dirty="0"/>
          </a:p>
        </p:txBody>
      </p:sp>
      <p:sp>
        <p:nvSpPr>
          <p:cNvPr id="6" name="文本框 1"/>
          <p:cNvSpPr txBox="1"/>
          <p:nvPr/>
        </p:nvSpPr>
        <p:spPr>
          <a:xfrm>
            <a:off x="724972" y="4677338"/>
            <a:ext cx="9283632" cy="1508105"/>
          </a:xfrm>
          <a:prstGeom prst="rect">
            <a:avLst/>
          </a:prstGeom>
          <a:noFill/>
        </p:spPr>
        <p:txBody>
          <a:bodyPr wrap="none" rtlCol="0">
            <a:spAutoFit/>
          </a:bodyPr>
          <a:lstStyle/>
          <a:p>
            <a:r>
              <a:rPr lang="zh-CN" altLang="en-US" sz="2400" b="1" spc="-5" dirty="0">
                <a:solidFill>
                  <a:srgbClr val="84ADAF"/>
                </a:solidFill>
                <a:latin typeface="Trebuchet MS" panose="020B0603020202020204"/>
                <a:cs typeface="Trebuchet MS" panose="020B0603020202020204"/>
              </a:rPr>
              <a:t>其他的距离指标选择有：</a:t>
            </a:r>
            <a:r>
              <a:rPr lang="en-US" altLang="zh-CN" sz="2400" b="1" spc="-20" dirty="0">
                <a:solidFill>
                  <a:srgbClr val="84ADAF"/>
                </a:solidFill>
                <a:latin typeface="Trebuchet MS" panose="020B0603020202020204"/>
                <a:cs typeface="Trebuchet MS" panose="020B0603020202020204"/>
              </a:rPr>
              <a:t>cosine,</a:t>
            </a:r>
            <a:r>
              <a:rPr lang="en-US" altLang="zh-CN" sz="2400" b="1" spc="-70" dirty="0">
                <a:solidFill>
                  <a:srgbClr val="84ADAF"/>
                </a:solidFill>
                <a:latin typeface="Trebuchet MS" panose="020B0603020202020204"/>
                <a:cs typeface="Trebuchet MS" panose="020B0603020202020204"/>
              </a:rPr>
              <a:t> </a:t>
            </a:r>
            <a:r>
              <a:rPr lang="en-US" altLang="zh-CN" sz="2400" b="1" spc="-20" dirty="0" err="1">
                <a:solidFill>
                  <a:srgbClr val="84ADAF"/>
                </a:solidFill>
                <a:latin typeface="Trebuchet MS" panose="020B0603020202020204"/>
                <a:cs typeface="Trebuchet MS" panose="020B0603020202020204"/>
              </a:rPr>
              <a:t>manhattan</a:t>
            </a:r>
            <a:r>
              <a:rPr lang="en-US" altLang="zh-CN" sz="2400" b="1" spc="-20" dirty="0">
                <a:solidFill>
                  <a:srgbClr val="84ADAF"/>
                </a:solidFill>
                <a:latin typeface="Trebuchet MS" panose="020B0603020202020204"/>
                <a:cs typeface="Trebuchet MS" panose="020B0603020202020204"/>
              </a:rPr>
              <a:t>,</a:t>
            </a:r>
            <a:r>
              <a:rPr lang="en-US" altLang="zh-CN" sz="2400" b="1" spc="-114" dirty="0">
                <a:solidFill>
                  <a:srgbClr val="84ADAF"/>
                </a:solidFill>
                <a:latin typeface="Trebuchet MS" panose="020B0603020202020204"/>
                <a:cs typeface="Trebuchet MS" panose="020B0603020202020204"/>
              </a:rPr>
              <a:t> </a:t>
            </a:r>
            <a:r>
              <a:rPr lang="en-US" altLang="zh-CN" sz="2400" b="1" spc="-55" dirty="0" err="1">
                <a:solidFill>
                  <a:srgbClr val="84ADAF"/>
                </a:solidFill>
                <a:latin typeface="Trebuchet MS" panose="020B0603020202020204"/>
                <a:cs typeface="Trebuchet MS" panose="020B0603020202020204"/>
              </a:rPr>
              <a:t>jaccard</a:t>
            </a:r>
            <a:r>
              <a:rPr lang="en-US" altLang="zh-CN" sz="2400" b="1" spc="-55" dirty="0">
                <a:solidFill>
                  <a:srgbClr val="84ADAF"/>
                </a:solidFill>
                <a:latin typeface="Trebuchet MS" panose="020B0603020202020204"/>
                <a:cs typeface="Trebuchet MS" panose="020B0603020202020204"/>
              </a:rPr>
              <a:t>,</a:t>
            </a:r>
            <a:r>
              <a:rPr lang="en-US" altLang="zh-CN" sz="2400" b="1" spc="-105" dirty="0">
                <a:solidFill>
                  <a:srgbClr val="84ADAF"/>
                </a:solidFill>
                <a:latin typeface="Trebuchet MS" panose="020B0603020202020204"/>
                <a:cs typeface="Trebuchet MS" panose="020B0603020202020204"/>
              </a:rPr>
              <a:t> </a:t>
            </a:r>
            <a:r>
              <a:rPr lang="zh-CN" altLang="en-US" sz="2400" b="1" spc="-105" dirty="0">
                <a:solidFill>
                  <a:srgbClr val="84ADAF"/>
                </a:solidFill>
                <a:latin typeface="Trebuchet MS" panose="020B0603020202020204"/>
                <a:cs typeface="Trebuchet MS" panose="020B0603020202020204"/>
              </a:rPr>
              <a:t>等</a:t>
            </a:r>
            <a:r>
              <a:rPr lang="zh-CN" altLang="en-US" sz="2400" b="1" spc="-105" dirty="0" smtClean="0">
                <a:solidFill>
                  <a:srgbClr val="84ADAF"/>
                </a:solidFill>
                <a:latin typeface="Trebuchet MS" panose="020B0603020202020204"/>
                <a:cs typeface="Trebuchet MS" panose="020B0603020202020204"/>
              </a:rPr>
              <a:t>等</a:t>
            </a:r>
            <a:endParaRPr lang="en-US" altLang="zh-CN" sz="2400" b="1" spc="-105" dirty="0" smtClean="0">
              <a:solidFill>
                <a:srgbClr val="84ADAF"/>
              </a:solidFill>
              <a:latin typeface="Trebuchet MS" panose="020B0603020202020204"/>
              <a:cs typeface="Trebuchet MS" panose="020B0603020202020204"/>
            </a:endParaRPr>
          </a:p>
          <a:p>
            <a:pPr marL="12700">
              <a:spcBef>
                <a:spcPts val="1200"/>
              </a:spcBef>
            </a:pPr>
            <a:r>
              <a:rPr lang="zh-CN" altLang="en-US" sz="2400" b="1" spc="5" dirty="0" smtClean="0">
                <a:solidFill>
                  <a:srgbClr val="84ADAF"/>
                </a:solidFill>
                <a:latin typeface="Trebuchet MS" panose="020B0603020202020204"/>
                <a:cs typeface="Trebuchet MS" panose="020B0603020202020204"/>
              </a:rPr>
              <a:t>距离指标函数也可以被专门导入，如：</a:t>
            </a:r>
            <a:endParaRPr lang="en-US" altLang="zh-CN" sz="2400" dirty="0" smtClean="0">
              <a:latin typeface="Trebuchet MS" panose="020B0603020202020204"/>
              <a:cs typeface="Trebuchet MS" panose="020B0603020202020204"/>
            </a:endParaRPr>
          </a:p>
          <a:p>
            <a:pPr marL="469900">
              <a:spcBef>
                <a:spcPts val="1170"/>
              </a:spcBef>
            </a:pPr>
            <a:r>
              <a:rPr lang="en-US" altLang="zh-CN" sz="2400" b="1" spc="-5" dirty="0" smtClean="0">
                <a:solidFill>
                  <a:srgbClr val="8B8B8B"/>
                </a:solidFill>
                <a:latin typeface="Courier New" panose="02070309020205020404"/>
                <a:cs typeface="Courier New" panose="02070309020205020404"/>
              </a:rPr>
              <a:t>from sklearn.metrics import</a:t>
            </a:r>
            <a:r>
              <a:rPr lang="en-US" altLang="zh-CN" sz="2400" b="1" spc="-80" dirty="0" smtClean="0">
                <a:solidFill>
                  <a:srgbClr val="8B8B8B"/>
                </a:solidFill>
                <a:latin typeface="Courier New" panose="02070309020205020404"/>
                <a:cs typeface="Courier New" panose="02070309020205020404"/>
              </a:rPr>
              <a:t> </a:t>
            </a:r>
            <a:r>
              <a:rPr lang="en-US" altLang="zh-CN" sz="2400" b="1" spc="-5" dirty="0" err="1" smtClean="0">
                <a:solidFill>
                  <a:srgbClr val="0433FF"/>
                </a:solidFill>
                <a:latin typeface="Courier New" panose="02070309020205020404"/>
                <a:cs typeface="Courier New" panose="02070309020205020404"/>
              </a:rPr>
              <a:t>euclidean_distances</a:t>
            </a:r>
            <a:endParaRPr lang="zh-CN" altLang="en-US" sz="24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smtClean="0">
                  <a:solidFill>
                    <a:srgbClr val="009999"/>
                  </a:solidFill>
                  <a:latin typeface="Century Gothic" panose="020B0502020202020204" pitchFamily="34" charset="0"/>
                  <a:cs typeface="+mn-ea"/>
                  <a:sym typeface="+mn-lt"/>
                </a:rPr>
                <a:t>03</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958895" y="2602220"/>
            <a:ext cx="3143250" cy="1106805"/>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algn="l"/>
            <a:r>
              <a:rPr lang="en-US" altLang="zh-CN" sz="6600" dirty="0" smtClean="0">
                <a:solidFill>
                  <a:srgbClr val="009999"/>
                </a:solidFill>
                <a:latin typeface="Noto Sans S Chinese Medium" panose="020B0600000000000000" pitchFamily="34" charset="-122"/>
                <a:ea typeface="Noto Sans S Chinese Medium" panose="020B0600000000000000" pitchFamily="34" charset="-122"/>
                <a:sym typeface="+mn-ea"/>
              </a:rPr>
              <a:t>K-Means</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12398" y="467673"/>
            <a:ext cx="9144001" cy="440147"/>
          </a:xfrm>
        </p:spPr>
        <p:txBody>
          <a:bodyPr/>
          <a:lstStyle/>
          <a:p>
            <a:r>
              <a:rPr kumimoji="1" lang="en-US" altLang="zh-CN" sz="3200" dirty="0" err="1" smtClean="0">
                <a:solidFill>
                  <a:schemeClr val="accent1">
                    <a:lumMod val="75000"/>
                  </a:schemeClr>
                </a:solidFill>
              </a:rPr>
              <a:t>Kmeans</a:t>
            </a:r>
            <a:r>
              <a:rPr kumimoji="1" lang="zh-CN" altLang="en-US" sz="3200" dirty="0" smtClean="0">
                <a:solidFill>
                  <a:schemeClr val="accent1">
                    <a:lumMod val="75000"/>
                  </a:schemeClr>
                </a:solidFill>
              </a:rPr>
              <a:t>算法概述</a:t>
            </a:r>
            <a:endParaRPr kumimoji="1" lang="zh-CN" altLang="en-US" sz="3200" dirty="0">
              <a:solidFill>
                <a:schemeClr val="accent1">
                  <a:lumMod val="75000"/>
                </a:schemeClr>
              </a:solidFill>
            </a:endParaRPr>
          </a:p>
        </p:txBody>
      </p:sp>
      <p:pic>
        <p:nvPicPr>
          <p:cNvPr id="45" name="图片 44"/>
          <p:cNvPicPr>
            <a:picLocks noChangeAspect="1"/>
          </p:cNvPicPr>
          <p:nvPr/>
        </p:nvPicPr>
        <p:blipFill>
          <a:blip r:embed="rId1" cstate="print"/>
          <a:stretch>
            <a:fillRect/>
          </a:stretch>
        </p:blipFill>
        <p:spPr>
          <a:xfrm>
            <a:off x="1059366" y="1766678"/>
            <a:ext cx="9367024" cy="4615854"/>
          </a:xfrm>
          <a:prstGeom prst="rect">
            <a:avLst/>
          </a:prstGeom>
        </p:spPr>
      </p:pic>
      <p:sp>
        <p:nvSpPr>
          <p:cNvPr id="47" name="内容占位符 3"/>
          <p:cNvSpPr>
            <a:spLocks noGrp="1"/>
          </p:cNvSpPr>
          <p:nvPr>
            <p:ph idx="1"/>
          </p:nvPr>
        </p:nvSpPr>
        <p:spPr>
          <a:xfrm>
            <a:off x="353185" y="1205428"/>
            <a:ext cx="9208766" cy="440147"/>
          </a:xfrm>
        </p:spPr>
        <p:txBody>
          <a:bodyPr/>
          <a:lstStyle/>
          <a:p>
            <a:pPr marL="0" indent="0">
              <a:buNone/>
            </a:pPr>
            <a:r>
              <a:rPr kumimoji="1" lang="zh-CN" altLang="en-US" b="1" dirty="0" smtClean="0">
                <a:solidFill>
                  <a:schemeClr val="accent1">
                    <a:lumMod val="75000"/>
                  </a:schemeClr>
                </a:solidFill>
              </a:rPr>
              <a:t>基本思想</a:t>
            </a:r>
            <a:endParaRPr kumimoji="1" lang="zh-CN" altLang="en-US" b="1"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587063" y="992075"/>
            <a:ext cx="9410161" cy="5293216"/>
          </a:xfrm>
          <a:prstGeom prst="rect">
            <a:avLst/>
          </a:prstGeom>
        </p:spPr>
      </p:pic>
      <p:sp>
        <p:nvSpPr>
          <p:cNvPr id="7" name="标题 6"/>
          <p:cNvSpPr>
            <a:spLocks noGrp="1"/>
          </p:cNvSpPr>
          <p:nvPr>
            <p:ph type="title"/>
          </p:nvPr>
        </p:nvSpPr>
        <p:spPr>
          <a:xfrm>
            <a:off x="212398" y="479738"/>
            <a:ext cx="9144001" cy="440147"/>
          </a:xfrm>
        </p:spPr>
        <p:txBody>
          <a:bodyPr/>
          <a:p>
            <a:r>
              <a:rPr kumimoji="1" lang="en-US" altLang="zh-CN" sz="3200" dirty="0" err="1" smtClean="0">
                <a:solidFill>
                  <a:schemeClr val="accent1">
                    <a:lumMod val="75000"/>
                  </a:schemeClr>
                </a:solidFill>
              </a:rPr>
              <a:t>Kmeans</a:t>
            </a:r>
            <a:r>
              <a:rPr kumimoji="1" lang="zh-CN" altLang="en-US" sz="3200" dirty="0" smtClean="0">
                <a:solidFill>
                  <a:schemeClr val="accent1">
                    <a:lumMod val="75000"/>
                  </a:schemeClr>
                </a:solidFill>
              </a:rPr>
              <a:t>算法概述</a:t>
            </a:r>
            <a:endParaRPr kumimoji="1" lang="zh-CN" altLang="en-US" sz="3200"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177158" y="980009"/>
            <a:ext cx="9802504" cy="5513909"/>
          </a:xfrm>
          <a:prstGeom prst="rect">
            <a:avLst/>
          </a:prstGeom>
        </p:spPr>
      </p:pic>
      <p:sp>
        <p:nvSpPr>
          <p:cNvPr id="4" name="标题 3"/>
          <p:cNvSpPr>
            <a:spLocks noGrp="1"/>
          </p:cNvSpPr>
          <p:nvPr>
            <p:ph type="title"/>
          </p:nvPr>
        </p:nvSpPr>
        <p:spPr>
          <a:xfrm>
            <a:off x="212398" y="467673"/>
            <a:ext cx="9144001" cy="440147"/>
          </a:xfrm>
        </p:spPr>
        <p:txBody>
          <a:bodyPr/>
          <a:lstStyle/>
          <a:p>
            <a:r>
              <a:rPr kumimoji="1" lang="en-US" altLang="zh-CN" sz="3200" dirty="0" err="1" smtClean="0">
                <a:solidFill>
                  <a:schemeClr val="accent1">
                    <a:lumMod val="75000"/>
                  </a:schemeClr>
                </a:solidFill>
              </a:rPr>
              <a:t>Kmeans</a:t>
            </a:r>
            <a:r>
              <a:rPr kumimoji="1" lang="zh-CN" altLang="en-US" sz="3200" dirty="0" smtClean="0">
                <a:solidFill>
                  <a:schemeClr val="accent1">
                    <a:lumMod val="75000"/>
                  </a:schemeClr>
                </a:solidFill>
              </a:rPr>
              <a:t>算法概述</a:t>
            </a:r>
            <a:endParaRPr kumimoji="1" lang="zh-CN" altLang="en-US" sz="3200"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1" y="1934463"/>
            <a:ext cx="3879596" cy="382156"/>
          </a:xfrm>
          <a:prstGeom prst="rect">
            <a:avLst/>
          </a:prstGeom>
        </p:spPr>
        <p:txBody>
          <a:bodyPr vert="horz" wrap="square" lIns="0" tIns="12700" rIns="0" bIns="0" rtlCol="0">
            <a:spAutoFit/>
          </a:bodyPr>
          <a:lstStyle/>
          <a:p>
            <a:pPr marL="12700">
              <a:spcBef>
                <a:spcPts val="100"/>
              </a:spcBef>
            </a:pPr>
            <a:r>
              <a:rPr sz="2400" b="1" spc="80" dirty="0">
                <a:latin typeface="Trebuchet MS" panose="020B0603020202020204"/>
                <a:cs typeface="Trebuchet MS" panose="020B0603020202020204"/>
              </a:rPr>
              <a:t>K</a:t>
            </a:r>
            <a:r>
              <a:rPr sz="2400" b="1" spc="-125" dirty="0">
                <a:latin typeface="Trebuchet MS" panose="020B0603020202020204"/>
                <a:cs typeface="Trebuchet MS" panose="020B0603020202020204"/>
              </a:rPr>
              <a:t> </a:t>
            </a:r>
            <a:r>
              <a:rPr sz="2400" b="1" spc="10" dirty="0">
                <a:latin typeface="Trebuchet MS" panose="020B0603020202020204"/>
                <a:cs typeface="Trebuchet MS" panose="020B0603020202020204"/>
              </a:rPr>
              <a:t>=</a:t>
            </a:r>
            <a:r>
              <a:rPr sz="2400" b="1" spc="-114" dirty="0">
                <a:latin typeface="Trebuchet MS" panose="020B0603020202020204"/>
                <a:cs typeface="Trebuchet MS" panose="020B0603020202020204"/>
              </a:rPr>
              <a:t> </a:t>
            </a:r>
            <a:r>
              <a:rPr sz="2400" b="1" spc="10" dirty="0">
                <a:latin typeface="Trebuchet MS" panose="020B0603020202020204"/>
                <a:cs typeface="Trebuchet MS" panose="020B0603020202020204"/>
              </a:rPr>
              <a:t>2</a:t>
            </a:r>
            <a:r>
              <a:rPr lang="zh-CN" altLang="en-US" sz="2400" b="1" spc="-110" dirty="0">
                <a:latin typeface="Trebuchet MS" panose="020B0603020202020204"/>
                <a:cs typeface="Trebuchet MS" panose="020B0603020202020204"/>
              </a:rPr>
              <a:t>：</a:t>
            </a:r>
            <a:r>
              <a:rPr lang="zh-CN" altLang="en-US" sz="2400" b="1" spc="-10" dirty="0">
                <a:latin typeface="Trebuchet MS" panose="020B0603020202020204"/>
                <a:cs typeface="Trebuchet MS" panose="020B0603020202020204"/>
              </a:rPr>
              <a:t>发现两个聚簇</a:t>
            </a:r>
            <a:endParaRPr sz="24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6F2F9F"/>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1" name="object 21"/>
          <p:cNvSpPr txBox="1"/>
          <p:nvPr/>
        </p:nvSpPr>
        <p:spPr>
          <a:xfrm>
            <a:off x="8280908" y="4896256"/>
            <a:ext cx="830581"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321385" y="3132327"/>
            <a:ext cx="1109135"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6F2F9F"/>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 name="标题 1"/>
          <p:cNvSpPr>
            <a:spLocks noGrp="1"/>
          </p:cNvSpPr>
          <p:nvPr/>
        </p:nvSpPr>
        <p:spPr>
          <a:xfrm>
            <a:off x="544830" y="449898"/>
            <a:ext cx="10972800" cy="7178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smtClean="0">
                <a:solidFill>
                  <a:schemeClr val="tx1"/>
                </a:solidFill>
              </a:rPr>
              <a:t>K-Means 算法</a:t>
            </a:r>
            <a:endParaRPr lang="zh-CN" altLang="en-US" sz="4000" dirty="0" smtClean="0">
              <a:solidFill>
                <a:schemeClr val="tx1"/>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4" y="1925066"/>
            <a:ext cx="3431031" cy="2636619"/>
          </a:xfrm>
          <a:prstGeom prst="rect">
            <a:avLst/>
          </a:prstGeom>
        </p:spPr>
        <p:txBody>
          <a:bodyPr vert="horz" wrap="square" lIns="0" tIns="12700" rIns="0" bIns="0" rtlCol="0">
            <a:spAutoFit/>
          </a:bodyPr>
          <a:lstStyle/>
          <a:p>
            <a:pPr marL="12700">
              <a:spcBef>
                <a:spcPts val="100"/>
              </a:spcBef>
            </a:pPr>
            <a:r>
              <a:rPr sz="2400" b="1" dirty="0">
                <a:latin typeface="Trebuchet MS" panose="020B0603020202020204"/>
                <a:cs typeface="Trebuchet MS" panose="020B0603020202020204"/>
              </a:rPr>
              <a:t>K = 2, </a:t>
            </a:r>
            <a:r>
              <a:rPr lang="zh-CN" altLang="en-US" sz="2400" b="1" dirty="0">
                <a:latin typeface="Trebuchet MS" panose="020B0603020202020204"/>
                <a:cs typeface="Trebuchet MS" panose="020B0603020202020204"/>
              </a:rPr>
              <a:t>随机地选择两个聚簇的中心</a:t>
            </a:r>
            <a:r>
              <a:rPr lang="zh-CN" altLang="en-US" sz="2400" b="1" dirty="0" smtClean="0">
                <a:latin typeface="Trebuchet MS" panose="020B0603020202020204"/>
                <a:cs typeface="Trebuchet MS" panose="020B0603020202020204"/>
              </a:rPr>
              <a:t>点（质心）</a:t>
            </a:r>
            <a:endParaRPr lang="en-US" altLang="zh-CN" sz="2400" b="1" dirty="0" smtClean="0">
              <a:latin typeface="Trebuchet MS" panose="020B0603020202020204"/>
              <a:cs typeface="Trebuchet MS" panose="020B0603020202020204"/>
            </a:endParaRPr>
          </a:p>
          <a:p>
            <a:pPr marL="12700">
              <a:spcBef>
                <a:spcPts val="100"/>
              </a:spcBef>
            </a:pPr>
            <a:endParaRPr lang="en-US" sz="2400" b="1" dirty="0" smtClean="0">
              <a:latin typeface="Trebuchet MS" panose="020B0603020202020204"/>
              <a:cs typeface="Trebuchet MS" panose="020B0603020202020204"/>
            </a:endParaRPr>
          </a:p>
          <a:p>
            <a:pPr marL="12700">
              <a:spcBef>
                <a:spcPts val="100"/>
              </a:spcBef>
            </a:pPr>
            <a:endParaRPr lang="en-US" altLang="zh-CN" sz="2400" dirty="0" smtClean="0"/>
          </a:p>
          <a:p>
            <a:pPr marL="12700">
              <a:spcBef>
                <a:spcPts val="100"/>
              </a:spcBef>
            </a:pPr>
            <a:r>
              <a:rPr lang="zh-CN" altLang="zh-CN" sz="2400" dirty="0" smtClean="0"/>
              <a:t>首先选择两个点，这两个点可以是数据中</a:t>
            </a:r>
            <a:r>
              <a:rPr lang="zh-CN" altLang="en-US" sz="2400" dirty="0" smtClean="0"/>
              <a:t>的</a:t>
            </a:r>
            <a:r>
              <a:rPr lang="zh-CN" altLang="zh-CN" sz="2400" dirty="0" smtClean="0"/>
              <a:t>点，也可以不是数据中的点。</a:t>
            </a:r>
            <a:endParaRPr sz="24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6F2F9F"/>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1" name="object 21"/>
          <p:cNvSpPr txBox="1"/>
          <p:nvPr/>
        </p:nvSpPr>
        <p:spPr>
          <a:xfrm>
            <a:off x="8280909" y="4896256"/>
            <a:ext cx="703241"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321385" y="3132327"/>
            <a:ext cx="106544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6F2F9F"/>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41" name="object 41"/>
          <p:cNvSpPr/>
          <p:nvPr/>
        </p:nvSpPr>
        <p:spPr>
          <a:xfrm>
            <a:off x="6599936" y="2436113"/>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solidFill>
            <a:srgbClr val="9BB808"/>
          </a:solidFill>
        </p:spPr>
        <p:txBody>
          <a:bodyPr wrap="square" lIns="0" tIns="0" rIns="0" bIns="0" rtlCol="0"/>
          <a:lstStyle/>
          <a:p/>
        </p:txBody>
      </p:sp>
      <p:sp>
        <p:nvSpPr>
          <p:cNvPr id="42" name="object 42"/>
          <p:cNvSpPr/>
          <p:nvPr/>
        </p:nvSpPr>
        <p:spPr>
          <a:xfrm>
            <a:off x="9710927" y="3451098"/>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solidFill>
            <a:srgbClr val="006FC0"/>
          </a:solidFill>
        </p:spPr>
        <p:txBody>
          <a:bodyPr wrap="square" lIns="0" tIns="0" rIns="0" bIns="0" rtlCol="0"/>
          <a:lstStyle/>
          <a:p/>
        </p:txBody>
      </p:sp>
      <p:sp>
        <p:nvSpPr>
          <p:cNvPr id="3" name="标题 1"/>
          <p:cNvSpPr>
            <a:spLocks noGrp="1"/>
          </p:cNvSpPr>
          <p:nvPr/>
        </p:nvSpPr>
        <p:spPr>
          <a:xfrm>
            <a:off x="544830" y="449898"/>
            <a:ext cx="10972800" cy="7178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smtClean="0">
                <a:solidFill>
                  <a:schemeClr val="tx1"/>
                </a:solidFill>
              </a:rPr>
              <a:t>K-Means 算法</a:t>
            </a:r>
            <a:endParaRPr lang="zh-CN" altLang="en-US" sz="4000" dirty="0" smtClean="0">
              <a:solidFill>
                <a:schemeClr val="tx1"/>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5" y="1925066"/>
            <a:ext cx="3620347" cy="3005951"/>
          </a:xfrm>
          <a:prstGeom prst="rect">
            <a:avLst/>
          </a:prstGeom>
        </p:spPr>
        <p:txBody>
          <a:bodyPr vert="horz" wrap="square" lIns="0" tIns="12700" rIns="0" bIns="0" rtlCol="0">
            <a:spAutoFit/>
          </a:bodyPr>
          <a:lstStyle/>
          <a:p>
            <a:pPr marL="12700">
              <a:spcBef>
                <a:spcPts val="100"/>
              </a:spcBef>
            </a:pPr>
            <a:r>
              <a:rPr sz="2400" b="1" dirty="0">
                <a:latin typeface="Trebuchet MS" panose="020B0603020202020204"/>
                <a:cs typeface="Trebuchet MS" panose="020B0603020202020204"/>
              </a:rPr>
              <a:t>K = 2, </a:t>
            </a:r>
            <a:r>
              <a:rPr lang="zh-CN" altLang="en-US" sz="2400" b="1" dirty="0">
                <a:latin typeface="Trebuchet MS" panose="020B0603020202020204"/>
                <a:cs typeface="Trebuchet MS" panose="020B0603020202020204"/>
              </a:rPr>
              <a:t>每个点被聚到离它最近的中心点代表的聚簇</a:t>
            </a:r>
            <a:r>
              <a:rPr lang="zh-CN" altLang="en-US" sz="2400" b="1" dirty="0" smtClean="0">
                <a:latin typeface="Trebuchet MS" panose="020B0603020202020204"/>
                <a:cs typeface="Trebuchet MS" panose="020B0603020202020204"/>
              </a:rPr>
              <a:t>中</a:t>
            </a:r>
            <a:endParaRPr lang="en-US" altLang="zh-CN" sz="2400" b="1" dirty="0" smtClean="0">
              <a:latin typeface="Trebuchet MS" panose="020B0603020202020204"/>
              <a:cs typeface="Trebuchet MS" panose="020B0603020202020204"/>
            </a:endParaRPr>
          </a:p>
          <a:p>
            <a:pPr marL="12700">
              <a:spcBef>
                <a:spcPts val="100"/>
              </a:spcBef>
            </a:pPr>
            <a:endParaRPr lang="en-US" sz="2400" b="1" dirty="0" smtClean="0">
              <a:latin typeface="Trebuchet MS" panose="020B0603020202020204"/>
              <a:cs typeface="Trebuchet MS" panose="020B0603020202020204"/>
            </a:endParaRPr>
          </a:p>
          <a:p>
            <a:pPr marL="12700">
              <a:spcBef>
                <a:spcPts val="100"/>
              </a:spcBef>
            </a:pPr>
            <a:endParaRPr lang="en-US" sz="2400" b="1" dirty="0" smtClean="0">
              <a:latin typeface="Trebuchet MS" panose="020B0603020202020204"/>
              <a:cs typeface="Trebuchet MS" panose="020B0603020202020204"/>
            </a:endParaRPr>
          </a:p>
          <a:p>
            <a:pPr marL="12700">
              <a:spcBef>
                <a:spcPts val="100"/>
              </a:spcBef>
            </a:pPr>
            <a:r>
              <a:rPr lang="zh-CN" altLang="zh-CN" sz="2400" dirty="0" smtClean="0"/>
              <a:t>判断每个点属于哪个</a:t>
            </a:r>
            <a:r>
              <a:rPr lang="zh-CN" altLang="en-US" sz="2400" dirty="0" smtClean="0"/>
              <a:t>中心</a:t>
            </a:r>
            <a:r>
              <a:rPr lang="zh-CN" altLang="zh-CN" sz="2400" dirty="0" smtClean="0"/>
              <a:t>点</a:t>
            </a:r>
            <a:r>
              <a:rPr lang="zh-CN" altLang="en-US" sz="2400" dirty="0" smtClean="0"/>
              <a:t>，判断的标准是相似性（距离度量）</a:t>
            </a:r>
            <a:r>
              <a:rPr lang="zh-CN" altLang="zh-CN" sz="2400" dirty="0" smtClean="0"/>
              <a:t>。</a:t>
            </a:r>
            <a:endParaRPr sz="24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9BB808"/>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9BB808"/>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21" name="object 21"/>
          <p:cNvSpPr txBox="1"/>
          <p:nvPr/>
        </p:nvSpPr>
        <p:spPr>
          <a:xfrm>
            <a:off x="8280909" y="4896256"/>
            <a:ext cx="703241"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321385" y="3132327"/>
            <a:ext cx="106544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9BB808"/>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006FC0"/>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006FC0"/>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41" name="object 41"/>
          <p:cNvSpPr/>
          <p:nvPr/>
        </p:nvSpPr>
        <p:spPr>
          <a:xfrm>
            <a:off x="6599936" y="2436113"/>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solidFill>
            <a:srgbClr val="9BB808"/>
          </a:solidFill>
        </p:spPr>
        <p:txBody>
          <a:bodyPr wrap="square" lIns="0" tIns="0" rIns="0" bIns="0" rtlCol="0"/>
          <a:lstStyle/>
          <a:p/>
        </p:txBody>
      </p:sp>
      <p:sp>
        <p:nvSpPr>
          <p:cNvPr id="42" name="object 42"/>
          <p:cNvSpPr/>
          <p:nvPr/>
        </p:nvSpPr>
        <p:spPr>
          <a:xfrm>
            <a:off x="9710927" y="3451098"/>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solidFill>
            <a:srgbClr val="006FC0"/>
          </a:solidFill>
        </p:spPr>
        <p:txBody>
          <a:bodyPr wrap="square" lIns="0" tIns="0" rIns="0" bIns="0" rtlCol="0"/>
          <a:lstStyle/>
          <a:p/>
        </p:txBody>
      </p:sp>
      <p:sp>
        <p:nvSpPr>
          <p:cNvPr id="3" name="标题 1"/>
          <p:cNvSpPr>
            <a:spLocks noGrp="1"/>
          </p:cNvSpPr>
          <p:nvPr/>
        </p:nvSpPr>
        <p:spPr>
          <a:xfrm>
            <a:off x="544830" y="449898"/>
            <a:ext cx="10972800" cy="7178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smtClean="0">
                <a:solidFill>
                  <a:schemeClr val="tx1"/>
                </a:solidFill>
              </a:rPr>
              <a:t>K-Means 算法</a:t>
            </a:r>
            <a:endParaRPr lang="zh-CN" altLang="en-US" sz="4000" dirty="0" smtClean="0">
              <a:solidFill>
                <a:schemeClr val="tx1"/>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5" y="1925066"/>
            <a:ext cx="3760893" cy="3005951"/>
          </a:xfrm>
          <a:prstGeom prst="rect">
            <a:avLst/>
          </a:prstGeom>
        </p:spPr>
        <p:txBody>
          <a:bodyPr vert="horz" wrap="square" lIns="0" tIns="12700" rIns="0" bIns="0" rtlCol="0">
            <a:spAutoFit/>
          </a:bodyPr>
          <a:lstStyle/>
          <a:p>
            <a:pPr marL="12700">
              <a:spcBef>
                <a:spcPts val="100"/>
              </a:spcBef>
            </a:pPr>
            <a:r>
              <a:rPr sz="2400" b="1" dirty="0">
                <a:latin typeface="Trebuchet MS" panose="020B0603020202020204"/>
                <a:cs typeface="Trebuchet MS" panose="020B0603020202020204"/>
              </a:rPr>
              <a:t>K = 2, </a:t>
            </a:r>
            <a:r>
              <a:rPr lang="zh-CN" altLang="en-US" sz="2400" b="1" dirty="0">
                <a:latin typeface="Trebuchet MS" panose="020B0603020202020204"/>
                <a:cs typeface="Trebuchet MS" panose="020B0603020202020204"/>
              </a:rPr>
              <a:t>重新计算每个聚簇的中心</a:t>
            </a:r>
            <a:r>
              <a:rPr lang="zh-CN" altLang="en-US" sz="2400" b="1" dirty="0" smtClean="0">
                <a:latin typeface="Trebuchet MS" panose="020B0603020202020204"/>
                <a:cs typeface="Trebuchet MS" panose="020B0603020202020204"/>
              </a:rPr>
              <a:t>点</a:t>
            </a:r>
            <a:endParaRPr lang="en-US" altLang="zh-CN" sz="2400" b="1" dirty="0" smtClean="0">
              <a:latin typeface="Trebuchet MS" panose="020B0603020202020204"/>
              <a:cs typeface="Trebuchet MS" panose="020B0603020202020204"/>
            </a:endParaRPr>
          </a:p>
          <a:p>
            <a:pPr marL="12700">
              <a:spcBef>
                <a:spcPts val="100"/>
              </a:spcBef>
            </a:pPr>
            <a:endParaRPr lang="en-US" sz="2400" b="1" dirty="0" smtClean="0">
              <a:latin typeface="Trebuchet MS" panose="020B0603020202020204"/>
              <a:cs typeface="Trebuchet MS" panose="020B0603020202020204"/>
            </a:endParaRPr>
          </a:p>
          <a:p>
            <a:pPr marL="12700">
              <a:spcBef>
                <a:spcPts val="100"/>
              </a:spcBef>
            </a:pPr>
            <a:endParaRPr lang="en-US" altLang="zh-CN" sz="2400" dirty="0" smtClean="0"/>
          </a:p>
          <a:p>
            <a:pPr marL="12700">
              <a:spcBef>
                <a:spcPts val="100"/>
              </a:spcBef>
            </a:pPr>
            <a:r>
              <a:rPr lang="zh-CN" altLang="zh-CN" sz="2400" dirty="0" smtClean="0"/>
              <a:t>求所有点</a:t>
            </a:r>
            <a:r>
              <a:rPr lang="en-US" altLang="zh-CN" sz="2400" dirty="0" smtClean="0"/>
              <a:t>x</a:t>
            </a:r>
            <a:r>
              <a:rPr lang="zh-CN" altLang="zh-CN" sz="2400" dirty="0" smtClean="0"/>
              <a:t>的平均值，及所有点</a:t>
            </a:r>
            <a:r>
              <a:rPr lang="en-US" altLang="zh-CN" sz="2400" dirty="0" smtClean="0"/>
              <a:t>y</a:t>
            </a:r>
            <a:r>
              <a:rPr lang="zh-CN" altLang="zh-CN" sz="2400" dirty="0" smtClean="0"/>
              <a:t>的平均值，形成新的中心点</a:t>
            </a:r>
            <a:r>
              <a:rPr lang="zh-CN" altLang="en-US" sz="2400" dirty="0" smtClean="0"/>
              <a:t>，</a:t>
            </a:r>
            <a:r>
              <a:rPr lang="zh-CN" altLang="zh-CN" sz="2400" dirty="0" smtClean="0"/>
              <a:t>这样就形成两个新的中心点。</a:t>
            </a:r>
            <a:endParaRPr sz="24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9BB808"/>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9BB808"/>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21" name="object 21"/>
          <p:cNvSpPr txBox="1"/>
          <p:nvPr/>
        </p:nvSpPr>
        <p:spPr>
          <a:xfrm>
            <a:off x="8280909" y="4876800"/>
            <a:ext cx="703241"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a:latin typeface="Verdana" panose="020B0604030504040204"/>
              <a:cs typeface="Verdana" panose="020B0604030504040204"/>
            </a:endParaRPr>
          </a:p>
        </p:txBody>
      </p:sp>
      <p:sp>
        <p:nvSpPr>
          <p:cNvPr id="22" name="object 22"/>
          <p:cNvSpPr txBox="1"/>
          <p:nvPr/>
        </p:nvSpPr>
        <p:spPr>
          <a:xfrm>
            <a:off x="4321385" y="3132327"/>
            <a:ext cx="1109135"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9BB808"/>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006FC0"/>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006FC0"/>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41" name="object 41"/>
          <p:cNvSpPr/>
          <p:nvPr/>
        </p:nvSpPr>
        <p:spPr>
          <a:xfrm>
            <a:off x="7545831" y="2901697"/>
            <a:ext cx="394547" cy="285115"/>
          </a:xfrm>
          <a:custGeom>
            <a:avLst/>
            <a:gdLst/>
            <a:ahLst/>
            <a:cxnLst/>
            <a:rect l="l" t="t" r="r" b="b"/>
            <a:pathLst>
              <a:path w="295910" h="285114">
                <a:moveTo>
                  <a:pt x="0" y="284988"/>
                </a:moveTo>
                <a:lnTo>
                  <a:pt x="295655" y="284988"/>
                </a:lnTo>
                <a:lnTo>
                  <a:pt x="295655" y="0"/>
                </a:lnTo>
                <a:lnTo>
                  <a:pt x="0" y="0"/>
                </a:lnTo>
                <a:lnTo>
                  <a:pt x="0" y="284988"/>
                </a:lnTo>
                <a:close/>
              </a:path>
            </a:pathLst>
          </a:custGeom>
          <a:solidFill>
            <a:srgbClr val="9BB808"/>
          </a:solidFill>
        </p:spPr>
        <p:txBody>
          <a:bodyPr wrap="square" lIns="0" tIns="0" rIns="0" bIns="0" rtlCol="0"/>
          <a:lstStyle/>
          <a:p/>
        </p:txBody>
      </p:sp>
      <p:sp>
        <p:nvSpPr>
          <p:cNvPr id="42" name="object 42"/>
          <p:cNvSpPr/>
          <p:nvPr/>
        </p:nvSpPr>
        <p:spPr>
          <a:xfrm>
            <a:off x="7545831" y="2901697"/>
            <a:ext cx="394547" cy="285115"/>
          </a:xfrm>
          <a:custGeom>
            <a:avLst/>
            <a:gdLst/>
            <a:ahLst/>
            <a:cxnLst/>
            <a:rect l="l" t="t" r="r" b="b"/>
            <a:pathLst>
              <a:path w="295910" h="285114">
                <a:moveTo>
                  <a:pt x="0" y="284988"/>
                </a:moveTo>
                <a:lnTo>
                  <a:pt x="295655" y="284988"/>
                </a:lnTo>
                <a:lnTo>
                  <a:pt x="295655" y="0"/>
                </a:lnTo>
                <a:lnTo>
                  <a:pt x="0" y="0"/>
                </a:lnTo>
                <a:lnTo>
                  <a:pt x="0" y="284988"/>
                </a:lnTo>
                <a:close/>
              </a:path>
            </a:pathLst>
          </a:custGeom>
          <a:ln w="28956">
            <a:solidFill>
              <a:srgbClr val="FFFFFF"/>
            </a:solidFill>
          </a:ln>
        </p:spPr>
        <p:txBody>
          <a:bodyPr wrap="square" lIns="0" tIns="0" rIns="0" bIns="0" rtlCol="0"/>
          <a:lstStyle/>
          <a:p/>
        </p:txBody>
      </p:sp>
      <p:sp>
        <p:nvSpPr>
          <p:cNvPr id="43" name="object 43"/>
          <p:cNvSpPr/>
          <p:nvPr/>
        </p:nvSpPr>
        <p:spPr>
          <a:xfrm>
            <a:off x="9041384" y="2822448"/>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solidFill>
            <a:srgbClr val="006FC0"/>
          </a:solidFill>
        </p:spPr>
        <p:txBody>
          <a:bodyPr wrap="square" lIns="0" tIns="0" rIns="0" bIns="0" rtlCol="0"/>
          <a:lstStyle/>
          <a:p/>
        </p:txBody>
      </p:sp>
      <p:sp>
        <p:nvSpPr>
          <p:cNvPr id="44" name="object 44"/>
          <p:cNvSpPr/>
          <p:nvPr/>
        </p:nvSpPr>
        <p:spPr>
          <a:xfrm>
            <a:off x="9041384" y="2822448"/>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3" name="标题 1"/>
          <p:cNvSpPr>
            <a:spLocks noGrp="1"/>
          </p:cNvSpPr>
          <p:nvPr/>
        </p:nvSpPr>
        <p:spPr>
          <a:xfrm>
            <a:off x="544830" y="449898"/>
            <a:ext cx="10972800" cy="7178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smtClean="0">
                <a:solidFill>
                  <a:schemeClr val="tx1"/>
                </a:solidFill>
              </a:rPr>
              <a:t>K-Means 算法</a:t>
            </a:r>
            <a:endParaRPr lang="zh-CN" altLang="en-US" sz="4000" dirty="0" smtClean="0">
              <a:solidFill>
                <a:schemeClr val="tx1"/>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5" y="1925066"/>
            <a:ext cx="3620347" cy="2267287"/>
          </a:xfrm>
          <a:prstGeom prst="rect">
            <a:avLst/>
          </a:prstGeom>
        </p:spPr>
        <p:txBody>
          <a:bodyPr vert="horz" wrap="square" lIns="0" tIns="12700" rIns="0" bIns="0" rtlCol="0">
            <a:spAutoFit/>
          </a:bodyPr>
          <a:lstStyle/>
          <a:p>
            <a:pPr marL="12700">
              <a:spcBef>
                <a:spcPts val="100"/>
              </a:spcBef>
            </a:pPr>
            <a:r>
              <a:rPr sz="2400" b="1" dirty="0">
                <a:latin typeface="Trebuchet MS" panose="020B0603020202020204"/>
                <a:cs typeface="Trebuchet MS" panose="020B0603020202020204"/>
              </a:rPr>
              <a:t>K = 2, </a:t>
            </a:r>
            <a:r>
              <a:rPr lang="zh-CN" altLang="en-US" sz="2400" b="1" dirty="0">
                <a:latin typeface="Trebuchet MS" panose="020B0603020202020204"/>
                <a:cs typeface="Trebuchet MS" panose="020B0603020202020204"/>
              </a:rPr>
              <a:t>每个点属于离它最近的中心</a:t>
            </a:r>
            <a:r>
              <a:rPr lang="zh-CN" altLang="en-US" sz="2400" b="1" dirty="0" smtClean="0">
                <a:latin typeface="Trebuchet MS" panose="020B0603020202020204"/>
                <a:cs typeface="Trebuchet MS" panose="020B0603020202020204"/>
              </a:rPr>
              <a:t>点</a:t>
            </a:r>
            <a:endParaRPr lang="en-US" altLang="zh-CN" sz="2400" b="1" dirty="0" smtClean="0">
              <a:latin typeface="Trebuchet MS" panose="020B0603020202020204"/>
              <a:cs typeface="Trebuchet MS" panose="020B0603020202020204"/>
            </a:endParaRPr>
          </a:p>
          <a:p>
            <a:pPr marL="12700">
              <a:spcBef>
                <a:spcPts val="100"/>
              </a:spcBef>
            </a:pPr>
            <a:endParaRPr lang="en-US" sz="2400" b="1" dirty="0" smtClean="0">
              <a:latin typeface="Trebuchet MS" panose="020B0603020202020204"/>
              <a:cs typeface="Trebuchet MS" panose="020B0603020202020204"/>
            </a:endParaRPr>
          </a:p>
          <a:p>
            <a:pPr marL="12700">
              <a:spcBef>
                <a:spcPts val="100"/>
              </a:spcBef>
            </a:pPr>
            <a:endParaRPr lang="en-US" sz="2400" b="1" dirty="0" smtClean="0">
              <a:latin typeface="Trebuchet MS" panose="020B0603020202020204"/>
              <a:cs typeface="Trebuchet MS" panose="020B0603020202020204"/>
            </a:endParaRPr>
          </a:p>
          <a:p>
            <a:pPr marL="12700">
              <a:spcBef>
                <a:spcPts val="100"/>
              </a:spcBef>
            </a:pPr>
            <a:r>
              <a:rPr lang="zh-CN" altLang="zh-CN" sz="2400" dirty="0" smtClean="0"/>
              <a:t>再</a:t>
            </a:r>
            <a:r>
              <a:rPr lang="zh-CN" altLang="en-US" sz="2400" dirty="0" smtClean="0"/>
              <a:t>重新</a:t>
            </a:r>
            <a:r>
              <a:rPr lang="zh-CN" altLang="zh-CN" sz="2400" dirty="0" smtClean="0"/>
              <a:t>判断每个点属于哪个中心点</a:t>
            </a:r>
            <a:r>
              <a:rPr lang="zh-CN" altLang="en-US" sz="2400" dirty="0" smtClean="0"/>
              <a:t>（第</a:t>
            </a:r>
            <a:r>
              <a:rPr lang="en-US" altLang="zh-CN" sz="2400" dirty="0" smtClean="0"/>
              <a:t>2</a:t>
            </a:r>
            <a:r>
              <a:rPr lang="zh-CN" altLang="en-US" sz="2400" dirty="0" smtClean="0"/>
              <a:t>次迭代）</a:t>
            </a:r>
            <a:endParaRPr sz="24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006FC0"/>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21" name="object 21"/>
          <p:cNvSpPr txBox="1"/>
          <p:nvPr/>
        </p:nvSpPr>
        <p:spPr>
          <a:xfrm>
            <a:off x="8280909" y="4896256"/>
            <a:ext cx="703241"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a:latin typeface="Verdana" panose="020B0604030504040204"/>
              <a:cs typeface="Verdana" panose="020B0604030504040204"/>
            </a:endParaRPr>
          </a:p>
        </p:txBody>
      </p:sp>
      <p:sp>
        <p:nvSpPr>
          <p:cNvPr id="22" name="object 22"/>
          <p:cNvSpPr txBox="1"/>
          <p:nvPr/>
        </p:nvSpPr>
        <p:spPr>
          <a:xfrm>
            <a:off x="4321385" y="3132327"/>
            <a:ext cx="1081024"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9BB808"/>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9BB808"/>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9BB808"/>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41" name="object 41"/>
          <p:cNvSpPr/>
          <p:nvPr/>
        </p:nvSpPr>
        <p:spPr>
          <a:xfrm>
            <a:off x="7545831" y="2901697"/>
            <a:ext cx="394547" cy="285115"/>
          </a:xfrm>
          <a:custGeom>
            <a:avLst/>
            <a:gdLst/>
            <a:ahLst/>
            <a:cxnLst/>
            <a:rect l="l" t="t" r="r" b="b"/>
            <a:pathLst>
              <a:path w="295910" h="285114">
                <a:moveTo>
                  <a:pt x="0" y="284988"/>
                </a:moveTo>
                <a:lnTo>
                  <a:pt x="295655" y="284988"/>
                </a:lnTo>
                <a:lnTo>
                  <a:pt x="295655" y="0"/>
                </a:lnTo>
                <a:lnTo>
                  <a:pt x="0" y="0"/>
                </a:lnTo>
                <a:lnTo>
                  <a:pt x="0" y="284988"/>
                </a:lnTo>
                <a:close/>
              </a:path>
            </a:pathLst>
          </a:custGeom>
          <a:solidFill>
            <a:srgbClr val="9BB808"/>
          </a:solidFill>
        </p:spPr>
        <p:txBody>
          <a:bodyPr wrap="square" lIns="0" tIns="0" rIns="0" bIns="0" rtlCol="0"/>
          <a:lstStyle/>
          <a:p/>
        </p:txBody>
      </p:sp>
      <p:sp>
        <p:nvSpPr>
          <p:cNvPr id="42" name="object 42"/>
          <p:cNvSpPr/>
          <p:nvPr/>
        </p:nvSpPr>
        <p:spPr>
          <a:xfrm>
            <a:off x="7545831" y="2901697"/>
            <a:ext cx="394547" cy="285115"/>
          </a:xfrm>
          <a:custGeom>
            <a:avLst/>
            <a:gdLst/>
            <a:ahLst/>
            <a:cxnLst/>
            <a:rect l="l" t="t" r="r" b="b"/>
            <a:pathLst>
              <a:path w="295910" h="285114">
                <a:moveTo>
                  <a:pt x="0" y="284988"/>
                </a:moveTo>
                <a:lnTo>
                  <a:pt x="295655" y="284988"/>
                </a:lnTo>
                <a:lnTo>
                  <a:pt x="295655" y="0"/>
                </a:lnTo>
                <a:lnTo>
                  <a:pt x="0" y="0"/>
                </a:lnTo>
                <a:lnTo>
                  <a:pt x="0" y="284988"/>
                </a:lnTo>
                <a:close/>
              </a:path>
            </a:pathLst>
          </a:custGeom>
          <a:ln w="28956">
            <a:solidFill>
              <a:srgbClr val="FFFFFF"/>
            </a:solidFill>
          </a:ln>
        </p:spPr>
        <p:txBody>
          <a:bodyPr wrap="square" lIns="0" tIns="0" rIns="0" bIns="0" rtlCol="0"/>
          <a:lstStyle/>
          <a:p/>
        </p:txBody>
      </p:sp>
      <p:sp>
        <p:nvSpPr>
          <p:cNvPr id="43" name="object 43"/>
          <p:cNvSpPr/>
          <p:nvPr/>
        </p:nvSpPr>
        <p:spPr>
          <a:xfrm>
            <a:off x="9041384" y="2822448"/>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solidFill>
            <a:srgbClr val="006FC0"/>
          </a:solidFill>
        </p:spPr>
        <p:txBody>
          <a:bodyPr wrap="square" lIns="0" tIns="0" rIns="0" bIns="0" rtlCol="0"/>
          <a:lstStyle/>
          <a:p/>
        </p:txBody>
      </p:sp>
      <p:sp>
        <p:nvSpPr>
          <p:cNvPr id="44" name="object 44"/>
          <p:cNvSpPr/>
          <p:nvPr/>
        </p:nvSpPr>
        <p:spPr>
          <a:xfrm>
            <a:off x="9041384" y="2822448"/>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3" name="标题 1"/>
          <p:cNvSpPr>
            <a:spLocks noGrp="1"/>
          </p:cNvSpPr>
          <p:nvPr/>
        </p:nvSpPr>
        <p:spPr>
          <a:xfrm>
            <a:off x="544830" y="449898"/>
            <a:ext cx="10972800" cy="7178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smtClean="0">
                <a:solidFill>
                  <a:schemeClr val="tx1"/>
                </a:solidFill>
              </a:rPr>
              <a:t>K-Means 算法</a:t>
            </a:r>
            <a:endParaRPr lang="zh-CN" altLang="en-US" sz="4000" dirty="0" smtClean="0">
              <a:solidFill>
                <a:schemeClr val="tx1"/>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5" y="1925066"/>
            <a:ext cx="3760893" cy="1897955"/>
          </a:xfrm>
          <a:prstGeom prst="rect">
            <a:avLst/>
          </a:prstGeom>
        </p:spPr>
        <p:txBody>
          <a:bodyPr vert="horz" wrap="square" lIns="0" tIns="12700" rIns="0" bIns="0" rtlCol="0">
            <a:spAutoFit/>
          </a:bodyPr>
          <a:lstStyle/>
          <a:p>
            <a:pPr marL="12700">
              <a:spcBef>
                <a:spcPts val="100"/>
              </a:spcBef>
            </a:pPr>
            <a:r>
              <a:rPr sz="2400" b="1" dirty="0">
                <a:latin typeface="Trebuchet MS" panose="020B0603020202020204"/>
                <a:cs typeface="Trebuchet MS" panose="020B0603020202020204"/>
              </a:rPr>
              <a:t>K = 2, </a:t>
            </a:r>
            <a:r>
              <a:rPr lang="zh-CN" altLang="en-US" sz="2400" b="1" dirty="0">
                <a:latin typeface="Trebuchet MS" panose="020B0603020202020204"/>
                <a:cs typeface="Trebuchet MS" panose="020B0603020202020204"/>
              </a:rPr>
              <a:t>重新计算每个聚簇的中心</a:t>
            </a:r>
            <a:r>
              <a:rPr lang="zh-CN" altLang="en-US" sz="2400" b="1" dirty="0" smtClean="0">
                <a:latin typeface="Trebuchet MS" panose="020B0603020202020204"/>
                <a:cs typeface="Trebuchet MS" panose="020B0603020202020204"/>
              </a:rPr>
              <a:t>点</a:t>
            </a:r>
            <a:endParaRPr lang="en-US" altLang="zh-CN" sz="2400" b="1" dirty="0" smtClean="0">
              <a:latin typeface="Trebuchet MS" panose="020B0603020202020204"/>
              <a:cs typeface="Trebuchet MS" panose="020B0603020202020204"/>
            </a:endParaRPr>
          </a:p>
          <a:p>
            <a:pPr marL="12700">
              <a:spcBef>
                <a:spcPts val="100"/>
              </a:spcBef>
            </a:pPr>
            <a:endParaRPr lang="en-US" sz="2400" b="1" dirty="0" smtClean="0">
              <a:latin typeface="Trebuchet MS" panose="020B0603020202020204"/>
              <a:cs typeface="Trebuchet MS" panose="020B0603020202020204"/>
            </a:endParaRPr>
          </a:p>
          <a:p>
            <a:pPr marL="12700">
              <a:spcBef>
                <a:spcPts val="100"/>
              </a:spcBef>
            </a:pPr>
            <a:endParaRPr lang="en-US" sz="2400" b="1" dirty="0" smtClean="0">
              <a:latin typeface="Trebuchet MS" panose="020B0603020202020204"/>
              <a:cs typeface="Trebuchet MS" panose="020B0603020202020204"/>
            </a:endParaRPr>
          </a:p>
          <a:p>
            <a:pPr marL="12700">
              <a:spcBef>
                <a:spcPts val="100"/>
              </a:spcBef>
            </a:pPr>
            <a:r>
              <a:rPr lang="zh-CN" altLang="en-US" sz="2400" dirty="0" smtClean="0"/>
              <a:t>重新划分（第</a:t>
            </a:r>
            <a:r>
              <a:rPr lang="en-US" altLang="zh-CN" sz="2400" dirty="0" smtClean="0"/>
              <a:t>3</a:t>
            </a:r>
            <a:r>
              <a:rPr lang="zh-CN" altLang="en-US" sz="2400" dirty="0" smtClean="0"/>
              <a:t>次迭代）</a:t>
            </a:r>
            <a:endParaRPr lang="zh-CN" altLang="en-US" sz="2400" dirty="0"/>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006FC0"/>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21" name="object 21"/>
          <p:cNvSpPr txBox="1"/>
          <p:nvPr/>
        </p:nvSpPr>
        <p:spPr>
          <a:xfrm>
            <a:off x="8280909" y="4896256"/>
            <a:ext cx="703241"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a:latin typeface="Verdana" panose="020B0604030504040204"/>
              <a:cs typeface="Verdana" panose="020B0604030504040204"/>
            </a:endParaRPr>
          </a:p>
        </p:txBody>
      </p:sp>
      <p:sp>
        <p:nvSpPr>
          <p:cNvPr id="22" name="object 22"/>
          <p:cNvSpPr txBox="1"/>
          <p:nvPr/>
        </p:nvSpPr>
        <p:spPr>
          <a:xfrm>
            <a:off x="4321385" y="3132327"/>
            <a:ext cx="106544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9BB808"/>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9BB808"/>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9BB808"/>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41" name="object 41"/>
          <p:cNvSpPr/>
          <p:nvPr/>
        </p:nvSpPr>
        <p:spPr>
          <a:xfrm>
            <a:off x="6938263" y="3674364"/>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solidFill>
            <a:srgbClr val="9BB808"/>
          </a:solidFill>
        </p:spPr>
        <p:txBody>
          <a:bodyPr wrap="square" lIns="0" tIns="0" rIns="0" bIns="0" rtlCol="0"/>
          <a:lstStyle/>
          <a:p/>
        </p:txBody>
      </p:sp>
      <p:sp>
        <p:nvSpPr>
          <p:cNvPr id="42" name="object 42"/>
          <p:cNvSpPr/>
          <p:nvPr/>
        </p:nvSpPr>
        <p:spPr>
          <a:xfrm>
            <a:off x="6938263" y="3674364"/>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3" name="object 43"/>
          <p:cNvSpPr/>
          <p:nvPr/>
        </p:nvSpPr>
        <p:spPr>
          <a:xfrm>
            <a:off x="9226295" y="2164080"/>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solidFill>
            <a:srgbClr val="006FC0"/>
          </a:solidFill>
        </p:spPr>
        <p:txBody>
          <a:bodyPr wrap="square" lIns="0" tIns="0" rIns="0" bIns="0" rtlCol="0"/>
          <a:lstStyle/>
          <a:p/>
        </p:txBody>
      </p:sp>
      <p:sp>
        <p:nvSpPr>
          <p:cNvPr id="44" name="object 44"/>
          <p:cNvSpPr/>
          <p:nvPr/>
        </p:nvSpPr>
        <p:spPr>
          <a:xfrm>
            <a:off x="9226295" y="2164080"/>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3" name="标题 1"/>
          <p:cNvSpPr>
            <a:spLocks noGrp="1"/>
          </p:cNvSpPr>
          <p:nvPr/>
        </p:nvSpPr>
        <p:spPr>
          <a:xfrm>
            <a:off x="544830" y="449898"/>
            <a:ext cx="10972800" cy="7178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smtClean="0">
                <a:solidFill>
                  <a:schemeClr val="tx1"/>
                </a:solidFill>
              </a:rPr>
              <a:t>K-Means 算法</a:t>
            </a:r>
            <a:endParaRPr lang="zh-CN" altLang="en-US" sz="4000" dirty="0" smtClean="0">
              <a:solidFill>
                <a:schemeClr val="tx1"/>
              </a:solidFil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5" y="1925066"/>
            <a:ext cx="3730749" cy="3031599"/>
          </a:xfrm>
          <a:prstGeom prst="rect">
            <a:avLst/>
          </a:prstGeom>
        </p:spPr>
        <p:txBody>
          <a:bodyPr vert="horz" wrap="square" lIns="0" tIns="12700" rIns="0" bIns="0" rtlCol="0">
            <a:spAutoFit/>
          </a:bodyPr>
          <a:lstStyle/>
          <a:p>
            <a:pPr marL="12700">
              <a:spcBef>
                <a:spcPts val="100"/>
              </a:spcBef>
            </a:pPr>
            <a:r>
              <a:rPr sz="2400" b="1" dirty="0">
                <a:latin typeface="Trebuchet MS" panose="020B0603020202020204"/>
                <a:cs typeface="Trebuchet MS" panose="020B0603020202020204"/>
              </a:rPr>
              <a:t>K = 2, </a:t>
            </a:r>
            <a:r>
              <a:rPr lang="zh-CN" altLang="en-US" sz="2400" b="1" dirty="0">
                <a:latin typeface="Trebuchet MS" panose="020B0603020202020204"/>
                <a:cs typeface="Trebuchet MS" panose="020B0603020202020204"/>
              </a:rPr>
              <a:t>数据点的聚簇不再改变时</a:t>
            </a:r>
            <a:r>
              <a:rPr sz="2400" b="1" dirty="0">
                <a:latin typeface="Wingdings" panose="05000000000000000000"/>
                <a:cs typeface="Wingdings" panose="05000000000000000000"/>
              </a:rPr>
              <a:t></a:t>
            </a:r>
            <a:r>
              <a:rPr sz="2400" b="1" dirty="0">
                <a:latin typeface="Times New Roman" panose="02020603050405020304"/>
                <a:cs typeface="Times New Roman" panose="02020603050405020304"/>
              </a:rPr>
              <a:t> </a:t>
            </a:r>
            <a:r>
              <a:rPr lang="zh-CN" altLang="en-US" sz="2400" b="1" dirty="0">
                <a:latin typeface="Times New Roman" panose="02020603050405020304"/>
                <a:cs typeface="Times New Roman" panose="02020603050405020304"/>
              </a:rPr>
              <a:t>算法收</a:t>
            </a:r>
            <a:r>
              <a:rPr lang="zh-CN" altLang="en-US" sz="2400" b="1" dirty="0" smtClean="0">
                <a:latin typeface="Times New Roman" panose="02020603050405020304"/>
                <a:cs typeface="Times New Roman" panose="02020603050405020304"/>
              </a:rPr>
              <a:t>敛</a:t>
            </a:r>
            <a:endParaRPr lang="en-US" altLang="zh-CN" sz="2400" b="1" dirty="0" smtClean="0">
              <a:latin typeface="Times New Roman" panose="02020603050405020304"/>
              <a:cs typeface="Times New Roman" panose="02020603050405020304"/>
            </a:endParaRPr>
          </a:p>
          <a:p>
            <a:pPr marL="12700">
              <a:spcBef>
                <a:spcPts val="100"/>
              </a:spcBef>
            </a:pPr>
            <a:endParaRPr lang="en-US" sz="2400" b="1" dirty="0" smtClean="0">
              <a:latin typeface="Times New Roman" panose="02020603050405020304"/>
              <a:cs typeface="Times New Roman" panose="02020603050405020304"/>
            </a:endParaRPr>
          </a:p>
          <a:p>
            <a:pPr marL="12700">
              <a:spcBef>
                <a:spcPts val="100"/>
              </a:spcBef>
            </a:pPr>
            <a:endParaRPr lang="en-US" sz="2400" b="1" dirty="0" smtClean="0">
              <a:latin typeface="Times New Roman" panose="02020603050405020304"/>
              <a:cs typeface="Times New Roman" panose="02020603050405020304"/>
            </a:endParaRPr>
          </a:p>
          <a:p>
            <a:pPr marL="12700">
              <a:spcBef>
                <a:spcPts val="100"/>
              </a:spcBef>
            </a:pPr>
            <a:endParaRPr lang="en-US" sz="2400" b="1" dirty="0" smtClean="0">
              <a:latin typeface="Times New Roman" panose="02020603050405020304"/>
              <a:cs typeface="Times New Roman" panose="02020603050405020304"/>
            </a:endParaRPr>
          </a:p>
          <a:p>
            <a:pPr marL="12700">
              <a:spcBef>
                <a:spcPts val="100"/>
              </a:spcBef>
            </a:pPr>
            <a:r>
              <a:rPr lang="en-US" altLang="zh-CN" sz="2400" b="1" dirty="0" smtClean="0">
                <a:latin typeface="Trebuchet MS" panose="020B0603020202020204"/>
                <a:cs typeface="Trebuchet MS" panose="020B0603020202020204"/>
              </a:rPr>
              <a:t>K = 2, </a:t>
            </a:r>
            <a:r>
              <a:rPr lang="zh-CN" altLang="en-US" sz="2400" b="1" dirty="0" smtClean="0">
                <a:latin typeface="Trebuchet MS" panose="020B0603020202020204"/>
                <a:cs typeface="Trebuchet MS" panose="020B0603020202020204"/>
              </a:rPr>
              <a:t>最后每个点属于离它最近的那个聚簇</a:t>
            </a:r>
            <a:endParaRPr lang="zh-CN" altLang="en-US" sz="2400" dirty="0" smtClean="0">
              <a:latin typeface="Trebuchet MS" panose="020B0603020202020204"/>
              <a:cs typeface="Trebuchet MS" panose="020B0603020202020204"/>
            </a:endParaRPr>
          </a:p>
          <a:p>
            <a:pPr marL="12700">
              <a:spcBef>
                <a:spcPts val="100"/>
              </a:spcBef>
            </a:pPr>
            <a:endParaRPr sz="24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006FC0"/>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21" name="object 21"/>
          <p:cNvSpPr txBox="1"/>
          <p:nvPr/>
        </p:nvSpPr>
        <p:spPr>
          <a:xfrm>
            <a:off x="8280909" y="4896256"/>
            <a:ext cx="703241"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321385" y="3132327"/>
            <a:ext cx="106544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9BB808"/>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9BB808"/>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9BB808"/>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41" name="object 41"/>
          <p:cNvSpPr/>
          <p:nvPr/>
        </p:nvSpPr>
        <p:spPr>
          <a:xfrm>
            <a:off x="6938263" y="3674364"/>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solidFill>
            <a:srgbClr val="9BB808"/>
          </a:solidFill>
        </p:spPr>
        <p:txBody>
          <a:bodyPr wrap="square" lIns="0" tIns="0" rIns="0" bIns="0" rtlCol="0"/>
          <a:lstStyle/>
          <a:p/>
        </p:txBody>
      </p:sp>
      <p:sp>
        <p:nvSpPr>
          <p:cNvPr id="42" name="object 42"/>
          <p:cNvSpPr/>
          <p:nvPr/>
        </p:nvSpPr>
        <p:spPr>
          <a:xfrm>
            <a:off x="6938263" y="3674364"/>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3" name="object 43"/>
          <p:cNvSpPr/>
          <p:nvPr/>
        </p:nvSpPr>
        <p:spPr>
          <a:xfrm>
            <a:off x="9226295" y="2164080"/>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solidFill>
            <a:srgbClr val="006FC0"/>
          </a:solidFill>
        </p:spPr>
        <p:txBody>
          <a:bodyPr wrap="square" lIns="0" tIns="0" rIns="0" bIns="0" rtlCol="0"/>
          <a:lstStyle/>
          <a:p/>
        </p:txBody>
      </p:sp>
      <p:sp>
        <p:nvSpPr>
          <p:cNvPr id="44" name="object 44"/>
          <p:cNvSpPr/>
          <p:nvPr/>
        </p:nvSpPr>
        <p:spPr>
          <a:xfrm>
            <a:off x="9226295" y="2164080"/>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3" name="标题 1"/>
          <p:cNvSpPr>
            <a:spLocks noGrp="1"/>
          </p:cNvSpPr>
          <p:nvPr/>
        </p:nvSpPr>
        <p:spPr>
          <a:xfrm>
            <a:off x="544830" y="449898"/>
            <a:ext cx="10972800" cy="7178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smtClean="0">
                <a:solidFill>
                  <a:schemeClr val="tx1"/>
                </a:solidFill>
              </a:rPr>
              <a:t>K-Means 算法</a:t>
            </a:r>
            <a:endParaRPr lang="zh-CN" altLang="en-US" sz="4000" dirty="0" smtClean="0">
              <a:solidFill>
                <a:schemeClr val="tx1"/>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5" y="1925065"/>
            <a:ext cx="1184885" cy="382156"/>
          </a:xfrm>
          <a:prstGeom prst="rect">
            <a:avLst/>
          </a:prstGeom>
        </p:spPr>
        <p:txBody>
          <a:bodyPr vert="horz" wrap="square" lIns="0" tIns="12700" rIns="0" bIns="0" rtlCol="0">
            <a:spAutoFit/>
          </a:bodyPr>
          <a:lstStyle/>
          <a:p>
            <a:pPr marL="12700">
              <a:spcBef>
                <a:spcPts val="100"/>
              </a:spcBef>
            </a:pPr>
            <a:r>
              <a:rPr sz="2400" b="1" spc="80" dirty="0">
                <a:latin typeface="Trebuchet MS" panose="020B0603020202020204"/>
                <a:cs typeface="Trebuchet MS" panose="020B0603020202020204"/>
              </a:rPr>
              <a:t>K </a:t>
            </a:r>
            <a:r>
              <a:rPr sz="2400" b="1" spc="10" dirty="0">
                <a:latin typeface="Trebuchet MS" panose="020B0603020202020204"/>
                <a:cs typeface="Trebuchet MS" panose="020B0603020202020204"/>
              </a:rPr>
              <a:t>=</a:t>
            </a:r>
            <a:r>
              <a:rPr sz="2400" b="1" spc="-385" dirty="0">
                <a:latin typeface="Trebuchet MS" panose="020B0603020202020204"/>
                <a:cs typeface="Trebuchet MS" panose="020B0603020202020204"/>
              </a:rPr>
              <a:t> </a:t>
            </a:r>
            <a:r>
              <a:rPr sz="2400" b="1" spc="10" dirty="0">
                <a:latin typeface="Trebuchet MS" panose="020B0603020202020204"/>
                <a:cs typeface="Trebuchet MS" panose="020B0603020202020204"/>
              </a:rPr>
              <a:t>3</a:t>
            </a:r>
            <a:endParaRPr sz="24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006FC0"/>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21" name="object 21"/>
          <p:cNvSpPr txBox="1"/>
          <p:nvPr/>
        </p:nvSpPr>
        <p:spPr>
          <a:xfrm>
            <a:off x="8280908" y="4896256"/>
            <a:ext cx="902376"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321385" y="3132327"/>
            <a:ext cx="106544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C00000"/>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9BB808"/>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9BB808"/>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41" name="object 41"/>
          <p:cNvSpPr/>
          <p:nvPr/>
        </p:nvSpPr>
        <p:spPr>
          <a:xfrm>
            <a:off x="8385047" y="4134613"/>
            <a:ext cx="394547" cy="285115"/>
          </a:xfrm>
          <a:custGeom>
            <a:avLst/>
            <a:gdLst/>
            <a:ahLst/>
            <a:cxnLst/>
            <a:rect l="l" t="t" r="r" b="b"/>
            <a:pathLst>
              <a:path w="295909" h="285114">
                <a:moveTo>
                  <a:pt x="0" y="284988"/>
                </a:moveTo>
                <a:lnTo>
                  <a:pt x="295656" y="284988"/>
                </a:lnTo>
                <a:lnTo>
                  <a:pt x="295656" y="0"/>
                </a:lnTo>
                <a:lnTo>
                  <a:pt x="0" y="0"/>
                </a:lnTo>
                <a:lnTo>
                  <a:pt x="0" y="284988"/>
                </a:lnTo>
                <a:close/>
              </a:path>
            </a:pathLst>
          </a:custGeom>
          <a:solidFill>
            <a:srgbClr val="9BB808"/>
          </a:solidFill>
        </p:spPr>
        <p:txBody>
          <a:bodyPr wrap="square" lIns="0" tIns="0" rIns="0" bIns="0" rtlCol="0"/>
          <a:lstStyle/>
          <a:p/>
        </p:txBody>
      </p:sp>
      <p:sp>
        <p:nvSpPr>
          <p:cNvPr id="42" name="object 42"/>
          <p:cNvSpPr/>
          <p:nvPr/>
        </p:nvSpPr>
        <p:spPr>
          <a:xfrm>
            <a:off x="8385047" y="4134613"/>
            <a:ext cx="394547" cy="285115"/>
          </a:xfrm>
          <a:custGeom>
            <a:avLst/>
            <a:gdLst/>
            <a:ahLst/>
            <a:cxnLst/>
            <a:rect l="l" t="t" r="r" b="b"/>
            <a:pathLst>
              <a:path w="295909" h="285114">
                <a:moveTo>
                  <a:pt x="0" y="284988"/>
                </a:moveTo>
                <a:lnTo>
                  <a:pt x="295656" y="284988"/>
                </a:lnTo>
                <a:lnTo>
                  <a:pt x="295656" y="0"/>
                </a:lnTo>
                <a:lnTo>
                  <a:pt x="0" y="0"/>
                </a:lnTo>
                <a:lnTo>
                  <a:pt x="0" y="284988"/>
                </a:lnTo>
                <a:close/>
              </a:path>
            </a:pathLst>
          </a:custGeom>
          <a:ln w="28956">
            <a:solidFill>
              <a:srgbClr val="FFFFFF"/>
            </a:solidFill>
          </a:ln>
        </p:spPr>
        <p:txBody>
          <a:bodyPr wrap="square" lIns="0" tIns="0" rIns="0" bIns="0" rtlCol="0"/>
          <a:lstStyle/>
          <a:p/>
        </p:txBody>
      </p:sp>
      <p:sp>
        <p:nvSpPr>
          <p:cNvPr id="43" name="object 43"/>
          <p:cNvSpPr/>
          <p:nvPr/>
        </p:nvSpPr>
        <p:spPr>
          <a:xfrm>
            <a:off x="9226295" y="2164080"/>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solidFill>
            <a:srgbClr val="006FC0"/>
          </a:solidFill>
        </p:spPr>
        <p:txBody>
          <a:bodyPr wrap="square" lIns="0" tIns="0" rIns="0" bIns="0" rtlCol="0"/>
          <a:lstStyle/>
          <a:p/>
        </p:txBody>
      </p:sp>
      <p:sp>
        <p:nvSpPr>
          <p:cNvPr id="44" name="object 44"/>
          <p:cNvSpPr/>
          <p:nvPr/>
        </p:nvSpPr>
        <p:spPr>
          <a:xfrm>
            <a:off x="9226295" y="2164080"/>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5" name="object 45"/>
          <p:cNvSpPr/>
          <p:nvPr/>
        </p:nvSpPr>
        <p:spPr>
          <a:xfrm>
            <a:off x="6680200" y="3476244"/>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solidFill>
            <a:srgbClr val="C00000"/>
          </a:solidFill>
        </p:spPr>
        <p:txBody>
          <a:bodyPr wrap="square" lIns="0" tIns="0" rIns="0" bIns="0" rtlCol="0"/>
          <a:lstStyle/>
          <a:p/>
        </p:txBody>
      </p:sp>
      <p:sp>
        <p:nvSpPr>
          <p:cNvPr id="46" name="object 46"/>
          <p:cNvSpPr/>
          <p:nvPr/>
        </p:nvSpPr>
        <p:spPr>
          <a:xfrm>
            <a:off x="6680200" y="3476244"/>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3" name="标题 1"/>
          <p:cNvSpPr>
            <a:spLocks noGrp="1"/>
          </p:cNvSpPr>
          <p:nvPr/>
        </p:nvSpPr>
        <p:spPr>
          <a:xfrm>
            <a:off x="544830" y="449898"/>
            <a:ext cx="10972800" cy="7178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smtClean="0">
                <a:solidFill>
                  <a:schemeClr val="tx1"/>
                </a:solidFill>
              </a:rPr>
              <a:t>K-Means 算法</a:t>
            </a:r>
            <a:endParaRPr lang="zh-CN" altLang="en-US" sz="4000" dirty="0" smtClean="0">
              <a:solidFill>
                <a:schemeClr val="tx1"/>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2761" y="1924156"/>
            <a:ext cx="3478528" cy="751488"/>
          </a:xfrm>
          <a:prstGeom prst="rect">
            <a:avLst/>
          </a:prstGeom>
        </p:spPr>
        <p:txBody>
          <a:bodyPr vert="horz" wrap="square" lIns="0" tIns="12700" rIns="0" bIns="0" rtlCol="0">
            <a:spAutoFit/>
          </a:bodyPr>
          <a:lstStyle/>
          <a:p>
            <a:pPr marL="12700">
              <a:spcBef>
                <a:spcPts val="100"/>
              </a:spcBef>
            </a:pPr>
            <a:r>
              <a:rPr sz="2400" b="1" dirty="0">
                <a:latin typeface="Trebuchet MS" panose="020B0603020202020204"/>
                <a:cs typeface="Trebuchet MS" panose="020B0603020202020204"/>
              </a:rPr>
              <a:t>K = 3, </a:t>
            </a:r>
            <a:r>
              <a:rPr lang="zh-CN" altLang="en-US" sz="2400" b="1" dirty="0">
                <a:latin typeface="Trebuchet MS" panose="020B0603020202020204"/>
                <a:cs typeface="Trebuchet MS" panose="020B0603020202020204"/>
              </a:rPr>
              <a:t>最终结果依赖于初始的聚簇分配</a:t>
            </a:r>
            <a:endParaRPr sz="24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006FC0"/>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9BB808"/>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9BB808"/>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1" name="object 21"/>
          <p:cNvSpPr txBox="1"/>
          <p:nvPr/>
        </p:nvSpPr>
        <p:spPr>
          <a:xfrm>
            <a:off x="8280908" y="4896256"/>
            <a:ext cx="781813"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a:latin typeface="Verdana" panose="020B0604030504040204"/>
              <a:cs typeface="Verdana" panose="020B0604030504040204"/>
            </a:endParaRPr>
          </a:p>
        </p:txBody>
      </p:sp>
      <p:sp>
        <p:nvSpPr>
          <p:cNvPr id="22" name="object 22"/>
          <p:cNvSpPr txBox="1"/>
          <p:nvPr/>
        </p:nvSpPr>
        <p:spPr>
          <a:xfrm>
            <a:off x="4321385" y="3132327"/>
            <a:ext cx="116721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C00000"/>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C00000"/>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C00000"/>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41" name="object 41"/>
          <p:cNvSpPr/>
          <p:nvPr/>
        </p:nvSpPr>
        <p:spPr>
          <a:xfrm>
            <a:off x="8509000" y="2324100"/>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solidFill>
            <a:srgbClr val="006FC0"/>
          </a:solidFill>
        </p:spPr>
        <p:txBody>
          <a:bodyPr wrap="square" lIns="0" tIns="0" rIns="0" bIns="0" rtlCol="0"/>
          <a:lstStyle/>
          <a:p/>
        </p:txBody>
      </p:sp>
      <p:sp>
        <p:nvSpPr>
          <p:cNvPr id="42" name="object 42"/>
          <p:cNvSpPr/>
          <p:nvPr/>
        </p:nvSpPr>
        <p:spPr>
          <a:xfrm>
            <a:off x="8509000" y="2324100"/>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3" name="object 43"/>
          <p:cNvSpPr/>
          <p:nvPr/>
        </p:nvSpPr>
        <p:spPr>
          <a:xfrm>
            <a:off x="9961879" y="2142744"/>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solidFill>
            <a:srgbClr val="9BB808"/>
          </a:solidFill>
        </p:spPr>
        <p:txBody>
          <a:bodyPr wrap="square" lIns="0" tIns="0" rIns="0" bIns="0" rtlCol="0"/>
          <a:lstStyle/>
          <a:p/>
        </p:txBody>
      </p:sp>
      <p:sp>
        <p:nvSpPr>
          <p:cNvPr id="44" name="object 44"/>
          <p:cNvSpPr/>
          <p:nvPr/>
        </p:nvSpPr>
        <p:spPr>
          <a:xfrm>
            <a:off x="9961879" y="2142744"/>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5" name="object 45"/>
          <p:cNvSpPr/>
          <p:nvPr/>
        </p:nvSpPr>
        <p:spPr>
          <a:xfrm>
            <a:off x="6680200" y="3476244"/>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solidFill>
            <a:srgbClr val="C00000"/>
          </a:solidFill>
        </p:spPr>
        <p:txBody>
          <a:bodyPr wrap="square" lIns="0" tIns="0" rIns="0" bIns="0" rtlCol="0"/>
          <a:lstStyle/>
          <a:p/>
        </p:txBody>
      </p:sp>
      <p:sp>
        <p:nvSpPr>
          <p:cNvPr id="46" name="object 46"/>
          <p:cNvSpPr/>
          <p:nvPr/>
        </p:nvSpPr>
        <p:spPr>
          <a:xfrm>
            <a:off x="6680200" y="3476244"/>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3" name="标题 1"/>
          <p:cNvSpPr>
            <a:spLocks noGrp="1"/>
          </p:cNvSpPr>
          <p:nvPr/>
        </p:nvSpPr>
        <p:spPr>
          <a:xfrm>
            <a:off x="544830" y="449898"/>
            <a:ext cx="10972800" cy="7178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smtClean="0">
                <a:solidFill>
                  <a:schemeClr val="tx1"/>
                </a:solidFill>
              </a:rPr>
              <a:t>K-Means 算法</a:t>
            </a:r>
            <a:endParaRPr lang="zh-CN" altLang="en-US" sz="4000" dirty="0" smtClean="0">
              <a:solidFill>
                <a:schemeClr val="tx1"/>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stretch>
            <a:fillRect/>
          </a:stretch>
        </p:blipFill>
        <p:spPr>
          <a:xfrm>
            <a:off x="-1" y="0"/>
            <a:ext cx="12336088"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191369"/>
            <a:ext cx="8015583" cy="752385"/>
          </a:xfrm>
        </p:spPr>
        <p:txBody>
          <a:bodyPr/>
          <a:lstStyle/>
          <a:p>
            <a:pPr>
              <a:lnSpc>
                <a:spcPct val="150000"/>
              </a:lnSpc>
            </a:pPr>
            <a:r>
              <a:rPr lang="en-US" altLang="zh-CN" dirty="0"/>
              <a:t>k-means</a:t>
            </a:r>
            <a:r>
              <a:rPr lang="zh-CN" altLang="en-US" dirty="0">
                <a:latin typeface="+mn-ea"/>
              </a:rPr>
              <a:t>算法的流程图</a:t>
            </a:r>
            <a:endParaRPr lang="zh-CN" altLang="zh-CN" dirty="0">
              <a:latin typeface="+mn-ea"/>
            </a:endParaRPr>
          </a:p>
        </p:txBody>
      </p:sp>
      <p:pic>
        <p:nvPicPr>
          <p:cNvPr id="3" name="图片 2"/>
          <p:cNvPicPr>
            <a:picLocks noChangeAspect="1"/>
          </p:cNvPicPr>
          <p:nvPr/>
        </p:nvPicPr>
        <p:blipFill>
          <a:blip r:embed="rId1" cstate="print"/>
          <a:stretch>
            <a:fillRect/>
          </a:stretch>
        </p:blipFill>
        <p:spPr>
          <a:xfrm>
            <a:off x="6222443" y="0"/>
            <a:ext cx="4923077"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151070" y="494007"/>
            <a:ext cx="9921483" cy="584105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k-means</a:t>
            </a:r>
            <a:r>
              <a:rPr lang="zh-CN" altLang="en-US" dirty="0"/>
              <a:t>的算法步骤</a:t>
            </a:r>
            <a:endParaRPr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906522" y="1555738"/>
                <a:ext cx="10378955" cy="4442306"/>
              </a:xfrm>
              <a:prstGeom prst="rect">
                <a:avLst/>
              </a:prstGeom>
              <a:noFill/>
            </p:spPr>
            <p:txBody>
              <a:bodyPr wrap="square" rtlCol="0">
                <a:spAutoFit/>
              </a:bodyPr>
              <a:lstStyle/>
              <a:p>
                <a:pPr>
                  <a:lnSpc>
                    <a:spcPct val="150000"/>
                  </a:lnSpc>
                </a:pPr>
                <a:r>
                  <a:rPr lang="zh-CN" altLang="zh-CN" sz="2400" dirty="0" smtClean="0"/>
                  <a:t>将</a:t>
                </a:r>
                <a:r>
                  <a:rPr lang="en-US" altLang="zh-CN" sz="2400" dirty="0"/>
                  <a:t>N</a:t>
                </a:r>
                <a:r>
                  <a:rPr lang="zh-CN" altLang="zh-CN" sz="2400" dirty="0"/>
                  <a:t>个样本</a:t>
                </a:r>
                <a:r>
                  <a:rPr lang="en-US" altLang="zh-CN" sz="2400" dirty="0"/>
                  <a:t>{</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a:latin typeface="Cambria Math" panose="02040503050406030204" pitchFamily="18" charset="0"/>
                          </a:rPr>
                          <m:t>1</m:t>
                        </m:r>
                      </m:sub>
                    </m:sSub>
                  </m:oMath>
                </a14:m>
                <a:r>
                  <a:rPr lang="en-US" altLang="zh-CN" sz="2400" dirty="0"/>
                  <a:t>,…,</a:t>
                </a:r>
                <a14:m>
                  <m:oMath xmlns:m="http://schemas.openxmlformats.org/officeDocument/2006/math">
                    <m:r>
                      <a:rPr lang="en-US" altLang="zh-CN" sz="2400">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𝑁</m:t>
                        </m:r>
                      </m:sub>
                    </m:sSub>
                  </m:oMath>
                </a14:m>
                <a:r>
                  <a:rPr lang="en-US" altLang="zh-CN" sz="2400" dirty="0"/>
                  <a:t>}</a:t>
                </a:r>
                <a:r>
                  <a:rPr lang="zh-CN" altLang="zh-CN" sz="2400" dirty="0"/>
                  <a:t>划分到</a:t>
                </a:r>
                <a:r>
                  <a:rPr lang="en-US" altLang="zh-CN" sz="2400" dirty="0"/>
                  <a:t>k</a:t>
                </a:r>
                <a:r>
                  <a:rPr lang="zh-CN" altLang="zh-CN" sz="2400" dirty="0"/>
                  <a:t>个类</a:t>
                </a:r>
                <a:r>
                  <a:rPr lang="en-US" altLang="zh-CN" sz="2400" dirty="0"/>
                  <a:t>{</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a:latin typeface="Cambria Math" panose="02040503050406030204" pitchFamily="18" charset="0"/>
                          </a:rPr>
                          <m:t>1</m:t>
                        </m:r>
                      </m:sub>
                    </m:sSub>
                  </m:oMath>
                </a14:m>
                <a:r>
                  <a:rPr lang="en-US" altLang="zh-CN" sz="2400" dirty="0"/>
                  <a:t>…,</a:t>
                </a:r>
                <a14:m>
                  <m:oMath xmlns:m="http://schemas.openxmlformats.org/officeDocument/2006/math">
                    <m:r>
                      <a:rPr lang="en-US" altLang="zh-CN" sz="2400">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a:latin typeface="Cambria Math" panose="02040503050406030204" pitchFamily="18" charset="0"/>
                          </a:rPr>
                          <m:t>,</m:t>
                        </m:r>
                        <m:r>
                          <a:rPr lang="en-US" altLang="zh-CN" sz="2400" b="0" i="1" smtClean="0">
                            <a:latin typeface="Cambria Math" panose="02040503050406030204" pitchFamily="18" charset="0"/>
                          </a:rPr>
                          <m:t>𝑘</m:t>
                        </m:r>
                      </m:sub>
                    </m:sSub>
                  </m:oMath>
                </a14:m>
                <a:r>
                  <a:rPr lang="en-US" altLang="zh-CN" sz="2400" dirty="0"/>
                  <a:t>}</a:t>
                </a:r>
                <a:r>
                  <a:rPr lang="zh-CN" altLang="zh-CN" sz="2400" dirty="0"/>
                  <a:t>中，最小化目标函数</a:t>
                </a:r>
                <a:br>
                  <a:rPr lang="en-US" altLang="zh-CN" sz="2400" dirty="0"/>
                </a:b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rPr>
                        <m:t>SSE</m:t>
                      </m:r>
                      <m:r>
                        <a:rPr lang="en-US" altLang="zh-CN" sz="2400">
                          <a:latin typeface="Cambria Math" panose="02040503050406030204" pitchFamily="18" charset="0"/>
                        </a:rPr>
                        <m:t>=</m:t>
                      </m:r>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𝑗</m:t>
                          </m:r>
                          <m:r>
                            <a:rPr lang="en-US" altLang="zh-CN" sz="2400">
                              <a:latin typeface="Cambria Math" panose="02040503050406030204" pitchFamily="18" charset="0"/>
                            </a:rPr>
                            <m:t>=</m:t>
                          </m:r>
                          <m:r>
                            <a:rPr lang="en-US" altLang="zh-CN" sz="2400">
                              <a:latin typeface="Cambria Math" panose="02040503050406030204" pitchFamily="18" charset="0"/>
                            </a:rPr>
                            <m:t>1</m:t>
                          </m:r>
                        </m:sub>
                        <m:sup>
                          <m:r>
                            <a:rPr lang="en-US" altLang="zh-CN" sz="2400" i="1">
                              <a:latin typeface="Cambria Math" panose="02040503050406030204" pitchFamily="18" charset="0"/>
                            </a:rPr>
                            <m:t>𝑘</m:t>
                          </m:r>
                        </m:sup>
                        <m:e>
                          <m:nary>
                            <m:naryPr>
                              <m:chr m:val="∑"/>
                              <m:limLoc m:val="undOvr"/>
                              <m:ctrlPr>
                                <a:rPr lang="zh-CN" altLang="zh-CN" sz="2400" i="1">
                                  <a:latin typeface="Cambria Math" panose="02040503050406030204" pitchFamily="18" charset="0"/>
                                </a:rPr>
                              </m:ctrlPr>
                            </m:naryPr>
                            <m:sub>
                              <m:r>
                                <a:rPr lang="en-US" altLang="zh-CN" sz="2400" i="1">
                                  <a:latin typeface="Cambria Math" panose="02040503050406030204" pitchFamily="18" charset="0"/>
                                </a:rPr>
                                <m:t>𝑖</m:t>
                              </m:r>
                              <m:r>
                                <a:rPr lang="en-US" altLang="zh-CN" sz="2400">
                                  <a:latin typeface="Cambria Math" panose="02040503050406030204" pitchFamily="18" charset="0"/>
                                </a:rPr>
                                <m:t>=</m:t>
                              </m:r>
                              <m:r>
                                <a:rPr lang="en-US" altLang="zh-CN" sz="2400">
                                  <a:latin typeface="Cambria Math" panose="02040503050406030204" pitchFamily="18" charset="0"/>
                                </a:rPr>
                                <m:t>1</m:t>
                              </m:r>
                            </m:sub>
                            <m:sup>
                              <m:r>
                                <a:rPr lang="en-US" altLang="zh-CN" sz="2400" i="1">
                                  <a:latin typeface="Cambria Math" panose="02040503050406030204" pitchFamily="18" charset="0"/>
                                </a:rPr>
                                <m:t>𝑁</m:t>
                              </m:r>
                            </m:sup>
                            <m:e>
                              <m:sSup>
                                <m:sSupPr>
                                  <m:ctrlPr>
                                    <a:rPr lang="zh-CN" altLang="zh-CN" sz="2400" i="1">
                                      <a:latin typeface="Cambria Math" panose="02040503050406030204" pitchFamily="18" charset="0"/>
                                    </a:rPr>
                                  </m:ctrlPr>
                                </m:sSupPr>
                                <m:e>
                                  <m:r>
                                    <a:rPr lang="en-US" altLang="zh-CN" sz="2400">
                                      <a:latin typeface="Cambria Math" panose="02040503050406030204" pitchFamily="18" charset="0"/>
                                    </a:rPr>
                                    <m:t>||</m:t>
                                  </m:r>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e>
                                    <m:sup>
                                      <m:d>
                                        <m:dPr>
                                          <m:ctrlPr>
                                            <a:rPr lang="zh-CN" altLang="zh-CN" sz="2400" i="1">
                                              <a:latin typeface="Cambria Math" panose="02040503050406030204" pitchFamily="18" charset="0"/>
                                            </a:rPr>
                                          </m:ctrlPr>
                                        </m:dPr>
                                        <m:e>
                                          <m:r>
                                            <a:rPr lang="en-US" altLang="zh-CN" sz="2400" i="1">
                                              <a:latin typeface="Cambria Math" panose="02040503050406030204" pitchFamily="18" charset="0"/>
                                            </a:rPr>
                                            <m:t>𝑗</m:t>
                                          </m:r>
                                        </m:e>
                                      </m:d>
                                    </m:sup>
                                  </m:sSup>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𝑗</m:t>
                                      </m:r>
                                    </m:sub>
                                  </m:sSub>
                                  <m:r>
                                    <a:rPr lang="en-US" altLang="zh-CN" sz="2400">
                                      <a:latin typeface="Cambria Math" panose="02040503050406030204" pitchFamily="18" charset="0"/>
                                    </a:rPr>
                                    <m:t>||</m:t>
                                  </m:r>
                                </m:e>
                                <m:sup>
                                  <m:r>
                                    <a:rPr lang="en-US" altLang="zh-CN" sz="2400">
                                      <a:latin typeface="Cambria Math" panose="02040503050406030204" pitchFamily="18" charset="0"/>
                                    </a:rPr>
                                    <m:t>2</m:t>
                                  </m:r>
                                </m:sup>
                              </m:sSup>
                            </m:e>
                          </m:nary>
                        </m:e>
                      </m:nary>
                    </m:oMath>
                  </m:oMathPara>
                </a14:m>
                <a:endParaRPr lang="zh-CN" altLang="zh-CN" sz="2400" dirty="0"/>
              </a:p>
              <a:p>
                <a:pPr>
                  <a:lnSpc>
                    <a:spcPct val="150000"/>
                  </a:lnSpc>
                </a:pPr>
                <a:r>
                  <a:rPr lang="zh-CN" altLang="zh-CN" sz="2400" dirty="0"/>
                  <a:t>其中</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1</m:t>
                        </m:r>
                      </m:sub>
                    </m:sSub>
                  </m:oMath>
                </a14:m>
                <a:r>
                  <a:rPr lang="en-US" altLang="zh-CN" sz="2400" dirty="0"/>
                  <a:t>,…,</a:t>
                </a:r>
                <a14:m>
                  <m:oMath xmlns:m="http://schemas.openxmlformats.org/officeDocument/2006/math">
                    <m:r>
                      <a:rPr lang="en-US" altLang="zh-CN" sz="2400">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b="0" i="1" smtClean="0">
                            <a:latin typeface="Cambria Math" panose="02040503050406030204" pitchFamily="18" charset="0"/>
                          </a:rPr>
                          <m:t>𝑘</m:t>
                        </m:r>
                      </m:sub>
                    </m:sSub>
                  </m:oMath>
                </a14:m>
                <a:r>
                  <a:rPr lang="en-US" altLang="zh-CN" sz="2400" baseline="-25000" dirty="0"/>
                  <a:t> </a:t>
                </a:r>
                <a:r>
                  <a:rPr lang="zh-CN" altLang="zh-CN" sz="2400" dirty="0"/>
                  <a:t>是</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1</m:t>
                        </m:r>
                      </m:sub>
                    </m:sSub>
                  </m:oMath>
                </a14:m>
                <a:r>
                  <a:rPr lang="en-US" altLang="zh-CN" sz="2400" dirty="0"/>
                  <a:t>,…,</a:t>
                </a:r>
                <a14:m>
                  <m:oMath xmlns:m="http://schemas.openxmlformats.org/officeDocument/2006/math">
                    <m:r>
                      <a:rPr lang="en-US" altLang="zh-CN" sz="2400">
                        <a:latin typeface="Cambria Math" panose="02040503050406030204" pitchFamily="18" charset="0"/>
                      </a:rPr>
                      <m:t> </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b="0" i="1" smtClean="0">
                            <a:latin typeface="Cambria Math" panose="02040503050406030204" pitchFamily="18" charset="0"/>
                          </a:rPr>
                          <m:t>𝑘</m:t>
                        </m:r>
                      </m:sub>
                    </m:sSub>
                  </m:oMath>
                </a14:m>
                <a:r>
                  <a:rPr lang="zh-CN" altLang="zh-CN" sz="2400" dirty="0"/>
                  <a:t>的质心，</a:t>
                </a:r>
                <a14:m>
                  <m:oMath xmlns:m="http://schemas.openxmlformats.org/officeDocument/2006/math">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e>
                      <m:sup>
                        <m:d>
                          <m:dPr>
                            <m:ctrlPr>
                              <a:rPr lang="zh-CN" altLang="zh-CN" sz="2400" i="1">
                                <a:latin typeface="Cambria Math" panose="02040503050406030204" pitchFamily="18" charset="0"/>
                              </a:rPr>
                            </m:ctrlPr>
                          </m:dPr>
                          <m:e>
                            <m:r>
                              <a:rPr lang="en-US" altLang="zh-CN" sz="2400" i="1">
                                <a:latin typeface="Cambria Math" panose="02040503050406030204" pitchFamily="18" charset="0"/>
                              </a:rPr>
                              <m:t>𝑗</m:t>
                            </m:r>
                          </m:e>
                        </m:d>
                      </m:sup>
                    </m:sSup>
                  </m:oMath>
                </a14:m>
                <a:r>
                  <a:rPr lang="zh-CN" altLang="zh-CN" sz="2400" dirty="0"/>
                  <a:t>是划分到类</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𝑗</m:t>
                        </m:r>
                      </m:sub>
                    </m:sSub>
                  </m:oMath>
                </a14:m>
                <a:r>
                  <a:rPr lang="zh-CN" altLang="zh-CN" sz="2400" dirty="0"/>
                  <a:t>的样本</a:t>
                </a:r>
                <a:endParaRPr lang="zh-CN" altLang="zh-CN" sz="2400" dirty="0"/>
              </a:p>
              <a:p>
                <a:pPr>
                  <a:lnSpc>
                    <a:spcPct val="150000"/>
                  </a:lnSpc>
                </a:pPr>
                <a:r>
                  <a:rPr lang="zh-CN" altLang="zh-CN" sz="2400" dirty="0"/>
                  <a:t>（</a:t>
                </a:r>
                <a:r>
                  <a:rPr lang="en-US" altLang="zh-CN" sz="2400" dirty="0"/>
                  <a:t>1</a:t>
                </a:r>
                <a:r>
                  <a:rPr lang="zh-CN" altLang="zh-CN" sz="2400" dirty="0"/>
                  <a:t>）从 </a:t>
                </a:r>
                <a:r>
                  <a:rPr lang="en-US" altLang="zh-CN" sz="2400" dirty="0"/>
                  <a:t>N</a:t>
                </a:r>
                <a:r>
                  <a:rPr lang="zh-CN" altLang="zh-CN" sz="2400" dirty="0"/>
                  <a:t>个数据对象任意选择</a:t>
                </a:r>
                <a:r>
                  <a:rPr lang="en-US" altLang="zh-CN" sz="2400" dirty="0"/>
                  <a:t> k </a:t>
                </a:r>
                <a:r>
                  <a:rPr lang="zh-CN" altLang="zh-CN" sz="2400" dirty="0"/>
                  <a:t>个对象作为初始聚类中心</a:t>
                </a:r>
                <a:r>
                  <a:rPr lang="en-US" altLang="zh-CN" sz="2400" dirty="0"/>
                  <a:t>:</a:t>
                </a:r>
                <a:endParaRPr lang="zh-CN" altLang="zh-CN" sz="2400" dirty="0"/>
              </a:p>
              <a:p>
                <a:pPr>
                  <a:lnSpc>
                    <a:spcPct val="150000"/>
                  </a:lnSpc>
                </a:pPr>
                <a14:m>
                  <m:oMath xmlns:m="http://schemas.openxmlformats.org/officeDocument/2006/math">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1</m:t>
                            </m:r>
                          </m:sub>
                        </m:sSub>
                      </m:e>
                      <m:sup>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m:t>
                        </m:r>
                      </m:sup>
                    </m:sSup>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2</m:t>
                            </m:r>
                          </m:sub>
                        </m:sSub>
                      </m:e>
                      <m:sup>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m:t>
                        </m:r>
                      </m:sup>
                    </m:sSup>
                    <m:r>
                      <a:rPr lang="en-US" altLang="zh-CN" sz="2400" i="1">
                        <a:latin typeface="Cambria Math" panose="02040503050406030204" pitchFamily="18" charset="0"/>
                      </a:rPr>
                      <m:t>,…</m:t>
                    </m:r>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𝑘</m:t>
                            </m:r>
                          </m:sub>
                        </m:sSub>
                      </m:e>
                      <m:sup>
                        <m:d>
                          <m:dPr>
                            <m:ctrlPr>
                              <a:rPr lang="zh-CN" altLang="zh-CN" sz="2400" i="1">
                                <a:latin typeface="Cambria Math" panose="02040503050406030204" pitchFamily="18" charset="0"/>
                              </a:rPr>
                            </m:ctrlPr>
                          </m:dPr>
                          <m:e>
                            <m:r>
                              <a:rPr lang="en-US" altLang="zh-CN" sz="2400" i="1">
                                <a:latin typeface="Cambria Math" panose="02040503050406030204" pitchFamily="18" charset="0"/>
                              </a:rPr>
                              <m:t>0</m:t>
                            </m:r>
                          </m:e>
                        </m:d>
                      </m:sup>
                    </m:sSup>
                    <m:r>
                      <a:rPr lang="en-US" altLang="zh-CN" sz="2400" i="1">
                        <a:latin typeface="Cambria Math" panose="02040503050406030204" pitchFamily="18" charset="0"/>
                      </a:rPr>
                      <m:t> ,</m:t>
                    </m:r>
                    <m:r>
                      <a:rPr lang="en-US" altLang="zh-CN" sz="2400" i="1">
                        <a:latin typeface="Cambria Math" panose="02040503050406030204" pitchFamily="18" charset="0"/>
                      </a:rPr>
                      <m:t>𝑡</m:t>
                    </m:r>
                    <m:r>
                      <a:rPr lang="en-US" altLang="zh-CN" sz="2400" i="1">
                        <a:latin typeface="Cambria Math" panose="02040503050406030204" pitchFamily="18" charset="0"/>
                      </a:rPr>
                      <m:t>=</m:t>
                    </m:r>
                    <m:r>
                      <a:rPr lang="en-US" altLang="zh-CN" sz="2400" i="1">
                        <a:latin typeface="Cambria Math" panose="02040503050406030204" pitchFamily="18" charset="0"/>
                      </a:rPr>
                      <m:t>0</m:t>
                    </m:r>
                  </m:oMath>
                </a14:m>
                <a:r>
                  <a:rPr lang="zh-CN" altLang="zh-CN" sz="2400" dirty="0"/>
                  <a:t>；</a:t>
                </a:r>
                <a:endParaRPr lang="zh-CN" altLang="zh-CN" sz="2400" dirty="0"/>
              </a:p>
              <a:p>
                <a:endParaRPr lang="zh-CN" altLang="zh-CN" sz="2400" dirty="0"/>
              </a:p>
            </p:txBody>
          </p:sp>
        </mc:Choice>
        <mc:Fallback>
          <p:sp>
            <p:nvSpPr>
              <p:cNvPr id="3" name="文本框 2"/>
              <p:cNvSpPr txBox="1">
                <a:spLocks noRot="1" noChangeAspect="1" noMove="1" noResize="1" noEditPoints="1" noAdjustHandles="1" noChangeArrowheads="1" noChangeShapeType="1" noTextEdit="1"/>
              </p:cNvSpPr>
              <p:nvPr/>
            </p:nvSpPr>
            <p:spPr>
              <a:xfrm>
                <a:off x="906522" y="1555738"/>
                <a:ext cx="10378955" cy="4442306"/>
              </a:xfrm>
              <a:prstGeom prst="rect">
                <a:avLst/>
              </a:prstGeom>
              <a:blipFill rotWithShape="1">
                <a:blip r:embed="rId1"/>
                <a:stretch>
                  <a:fillRect l="-4" t="-14" r="2" b="1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k-means</a:t>
            </a:r>
            <a:r>
              <a:rPr lang="zh-CN" altLang="en-US" dirty="0"/>
              <a:t>的算法步骤</a:t>
            </a:r>
            <a:endParaRPr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783858" y="1818904"/>
                <a:ext cx="10378955" cy="3312061"/>
              </a:xfrm>
              <a:prstGeom prst="rect">
                <a:avLst/>
              </a:prstGeom>
              <a:noFill/>
            </p:spPr>
            <p:txBody>
              <a:bodyPr wrap="square" rtlCol="0">
                <a:spAutoFit/>
              </a:bodyPr>
              <a:lstStyle/>
              <a:p>
                <a:pPr>
                  <a:lnSpc>
                    <a:spcPct val="150000"/>
                  </a:lnSpc>
                </a:pPr>
                <a:r>
                  <a:rPr lang="zh-CN" altLang="zh-CN" sz="2400" dirty="0"/>
                  <a:t>（</a:t>
                </a:r>
                <a:r>
                  <a:rPr lang="en-US" altLang="zh-CN" sz="2400" dirty="0"/>
                  <a:t>2</a:t>
                </a:r>
                <a:r>
                  <a:rPr lang="zh-CN" altLang="zh-CN" sz="2400" dirty="0"/>
                  <a:t>）对待分类的模式特征矢量集</a:t>
                </a:r>
                <a:r>
                  <a:rPr lang="en-US" altLang="zh-CN" sz="2400" dirty="0"/>
                  <a:t>{</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oMath>
                </a14:m>
                <a:r>
                  <a:rPr lang="en-US" altLang="zh-CN" sz="2400" dirty="0"/>
                  <a:t>}</a:t>
                </a:r>
                <a:r>
                  <a:rPr lang="zh-CN" altLang="zh-CN" sz="2400" dirty="0"/>
                  <a:t>中的模式逐个按最小距离原则分划给</a:t>
                </a:r>
                <a:r>
                  <a:rPr lang="en-US" altLang="zh-CN" sz="2400" dirty="0"/>
                  <a:t>K</a:t>
                </a:r>
                <a:r>
                  <a:rPr lang="zh-CN" altLang="zh-CN" sz="2400" dirty="0"/>
                  <a:t>类中的某一类</a:t>
                </a:r>
                <a:r>
                  <a:rPr lang="en-US" altLang="zh-CN" sz="2400" dirty="0"/>
                  <a:t>,</a:t>
                </a:r>
                <a:r>
                  <a:rPr lang="zh-CN" altLang="zh-CN" sz="2400" dirty="0"/>
                  <a:t>即</a:t>
                </a:r>
                <a:r>
                  <a:rPr lang="en-US" altLang="zh-CN" sz="2400" dirty="0"/>
                  <a:t>:</a:t>
                </a:r>
                <a:endParaRPr lang="zh-CN" altLang="zh-CN" sz="2400" dirty="0"/>
              </a:p>
              <a:p>
                <a:pPr>
                  <a:lnSpc>
                    <a:spcPct val="150000"/>
                  </a:lnSpc>
                </a:pPr>
                <a:r>
                  <a:rPr lang="zh-CN" altLang="zh-CN" sz="2400" dirty="0"/>
                  <a:t>如果</a:t>
                </a:r>
                <a14:m>
                  <m:oMath xmlns:m="http://schemas.openxmlformats.org/officeDocument/2006/math">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𝑑𝑖𝑠𝑡</m:t>
                        </m:r>
                        <m:r>
                          <a:rPr lang="en-US" altLang="zh-CN" sz="2400">
                            <a:latin typeface="Cambria Math" panose="02040503050406030204" pitchFamily="18" charset="0"/>
                          </a:rPr>
                          <m:t>(</m:t>
                        </m:r>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𝑙</m:t>
                                </m:r>
                              </m:sub>
                            </m:sSub>
                          </m:e>
                          <m:sup>
                            <m:r>
                              <a:rPr lang="en-US" altLang="zh-CN" sz="2400">
                                <a:latin typeface="Cambria Math" panose="02040503050406030204" pitchFamily="18" charset="0"/>
                              </a:rPr>
                              <m:t>(</m:t>
                            </m:r>
                            <m:r>
                              <a:rPr lang="en-US" altLang="zh-CN" sz="2400" i="1">
                                <a:latin typeface="Cambria Math" panose="02040503050406030204" pitchFamily="18" charset="0"/>
                              </a:rPr>
                              <m:t>𝑡</m:t>
                            </m:r>
                            <m:r>
                              <a:rPr lang="en-US" altLang="zh-CN" sz="2400">
                                <a:latin typeface="Cambria Math" panose="02040503050406030204" pitchFamily="18" charset="0"/>
                              </a:rPr>
                              <m:t>)</m:t>
                            </m:r>
                          </m:sup>
                        </m:sSup>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r>
                          <a:rPr lang="en-US" altLang="zh-CN" sz="2400">
                            <a:latin typeface="Cambria Math" panose="02040503050406030204" pitchFamily="18" charset="0"/>
                          </a:rPr>
                          <m:t>)</m:t>
                        </m:r>
                      </m:e>
                      <m:sup>
                        <m:r>
                          <a:rPr lang="en-US" altLang="zh-CN" sz="2400">
                            <a:latin typeface="Cambria Math" panose="02040503050406030204" pitchFamily="18" charset="0"/>
                          </a:rPr>
                          <m:t>2</m:t>
                        </m:r>
                      </m:sup>
                    </m:sSup>
                    <m:r>
                      <a:rPr lang="en-US" altLang="zh-CN" sz="2400">
                        <a:latin typeface="Cambria Math" panose="02040503050406030204" pitchFamily="18" charset="0"/>
                      </a:rPr>
                      <m:t>=</m:t>
                    </m:r>
                    <m:r>
                      <m:rPr>
                        <m:sty m:val="p"/>
                      </m:rPr>
                      <a:rPr lang="en-US" altLang="zh-CN" sz="2400">
                        <a:latin typeface="Cambria Math" panose="02040503050406030204" pitchFamily="18" charset="0"/>
                      </a:rPr>
                      <m:t>min</m:t>
                    </m:r>
                    <m:r>
                      <a:rPr lang="en-US" altLang="zh-CN" sz="2400">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𝑑𝑖𝑠𝑡</m:t>
                        </m:r>
                        <m:r>
                          <a:rPr lang="en-US" altLang="zh-CN" sz="2400">
                            <a:latin typeface="Cambria Math" panose="02040503050406030204" pitchFamily="18" charset="0"/>
                          </a:rPr>
                          <m:t>(</m:t>
                        </m:r>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𝑐</m:t>
                                </m:r>
                              </m:e>
                              <m:sub>
                                <m:r>
                                  <a:rPr lang="en-US" altLang="zh-CN" sz="2400" i="1">
                                    <a:latin typeface="Cambria Math" panose="02040503050406030204" pitchFamily="18" charset="0"/>
                                  </a:rPr>
                                  <m:t>𝑗</m:t>
                                </m:r>
                              </m:sub>
                            </m:sSub>
                          </m:e>
                          <m:sup>
                            <m:r>
                              <a:rPr lang="en-US" altLang="zh-CN" sz="2400">
                                <a:latin typeface="Cambria Math" panose="02040503050406030204" pitchFamily="18" charset="0"/>
                              </a:rPr>
                              <m:t>(</m:t>
                            </m:r>
                            <m:r>
                              <a:rPr lang="en-US" altLang="zh-CN" sz="2400" i="1">
                                <a:latin typeface="Cambria Math" panose="02040503050406030204" pitchFamily="18" charset="0"/>
                              </a:rPr>
                              <m:t>𝑡</m:t>
                            </m:r>
                            <m:r>
                              <a:rPr lang="en-US" altLang="zh-CN" sz="2400">
                                <a:latin typeface="Cambria Math" panose="02040503050406030204" pitchFamily="18" charset="0"/>
                              </a:rPr>
                              <m:t>)</m:t>
                            </m:r>
                          </m:sup>
                        </m:sSup>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r>
                          <a:rPr lang="en-US" altLang="zh-CN" sz="2400">
                            <a:latin typeface="Cambria Math" panose="02040503050406030204" pitchFamily="18" charset="0"/>
                          </a:rPr>
                          <m:t>)</m:t>
                        </m:r>
                      </m:e>
                      <m:sup>
                        <m:r>
                          <a:rPr lang="en-US" altLang="zh-CN" sz="2400">
                            <a:latin typeface="Cambria Math" panose="02040503050406030204" pitchFamily="18" charset="0"/>
                          </a:rPr>
                          <m:t>2</m:t>
                        </m:r>
                      </m:sup>
                    </m:sSup>
                    <m:r>
                      <a:rPr lang="en-US" altLang="zh-CN" sz="2400">
                        <a:latin typeface="Cambria Math" panose="02040503050406030204" pitchFamily="18" charset="0"/>
                      </a:rPr>
                      <m:t>]</m:t>
                    </m:r>
                  </m:oMath>
                </a14:m>
                <a:r>
                  <a:rPr lang="en-US" altLang="zh-CN" sz="2400" dirty="0"/>
                  <a:t>, </a:t>
                </a:r>
                <a:r>
                  <a:rPr lang="zh-CN" altLang="zh-CN" sz="2400" dirty="0"/>
                  <a:t>其中</a:t>
                </a:r>
                <a14:m>
                  <m:oMath xmlns:m="http://schemas.openxmlformats.org/officeDocument/2006/math">
                    <m:r>
                      <m:rPr>
                        <m:sty m:val="p"/>
                      </m:rPr>
                      <a:rPr lang="en-US" altLang="zh-CN" sz="2400">
                        <a:latin typeface="Cambria Math" panose="02040503050406030204" pitchFamily="18" charset="0"/>
                      </a:rPr>
                      <m:t>i</m:t>
                    </m:r>
                    <m:r>
                      <a:rPr lang="en-US" altLang="zh-CN" sz="2400">
                        <a:latin typeface="Cambria Math" panose="02040503050406030204" pitchFamily="18" charset="0"/>
                      </a:rPr>
                      <m:t>=</m:t>
                    </m:r>
                    <m:r>
                      <a:rPr lang="en-US" altLang="zh-CN" sz="2400">
                        <a:latin typeface="Cambria Math" panose="02040503050406030204" pitchFamily="18" charset="0"/>
                      </a:rPr>
                      <m:t>1</m:t>
                    </m:r>
                    <m:r>
                      <a:rPr lang="en-US" altLang="zh-CN" sz="2400">
                        <a:latin typeface="Cambria Math" panose="02040503050406030204" pitchFamily="18" charset="0"/>
                      </a:rPr>
                      <m:t>,</m:t>
                    </m:r>
                    <m:r>
                      <a:rPr lang="en-US" altLang="zh-CN" sz="2400">
                        <a:latin typeface="Cambria Math" panose="02040503050406030204" pitchFamily="18" charset="0"/>
                      </a:rPr>
                      <m:t>2</m:t>
                    </m:r>
                    <m:r>
                      <a:rPr lang="en-US" altLang="zh-CN" sz="2400">
                        <a:latin typeface="Cambria Math" panose="02040503050406030204" pitchFamily="18" charset="0"/>
                      </a:rPr>
                      <m:t>,…</m:t>
                    </m:r>
                    <m:r>
                      <m:rPr>
                        <m:sty m:val="p"/>
                      </m:rPr>
                      <a:rPr lang="en-US" altLang="zh-CN" sz="2400">
                        <a:latin typeface="Cambria Math" panose="02040503050406030204" pitchFamily="18" charset="0"/>
                      </a:rPr>
                      <m:t>N</m:t>
                    </m:r>
                  </m:oMath>
                </a14:m>
                <a:r>
                  <a:rPr lang="en-US" altLang="zh-CN" sz="2400" dirty="0"/>
                  <a:t>; </a:t>
                </a:r>
                <a14:m>
                  <m:oMath xmlns:m="http://schemas.openxmlformats.org/officeDocument/2006/math">
                    <m:r>
                      <m:rPr>
                        <m:sty m:val="p"/>
                      </m:rPr>
                      <a:rPr lang="en-US" altLang="zh-CN" sz="2400">
                        <a:latin typeface="Cambria Math" panose="02040503050406030204" pitchFamily="18" charset="0"/>
                      </a:rPr>
                      <m:t>j</m:t>
                    </m:r>
                    <m:r>
                      <a:rPr lang="en-US" altLang="zh-CN" sz="2400">
                        <a:latin typeface="Cambria Math" panose="02040503050406030204" pitchFamily="18" charset="0"/>
                      </a:rPr>
                      <m:t>=</m:t>
                    </m:r>
                    <m:r>
                      <a:rPr lang="en-US" altLang="zh-CN" sz="2400">
                        <a:latin typeface="Cambria Math" panose="02040503050406030204" pitchFamily="18" charset="0"/>
                      </a:rPr>
                      <m:t>1</m:t>
                    </m:r>
                    <m:r>
                      <a:rPr lang="en-US" altLang="zh-CN" sz="2400">
                        <a:latin typeface="Cambria Math" panose="02040503050406030204" pitchFamily="18" charset="0"/>
                      </a:rPr>
                      <m:t>,</m:t>
                    </m:r>
                    <m:r>
                      <a:rPr lang="en-US" altLang="zh-CN" sz="2400">
                        <a:latin typeface="Cambria Math" panose="02040503050406030204" pitchFamily="18" charset="0"/>
                      </a:rPr>
                      <m:t>2</m:t>
                    </m:r>
                    <m:r>
                      <a:rPr lang="en-US" altLang="zh-CN" sz="2400">
                        <a:latin typeface="Cambria Math" panose="02040503050406030204" pitchFamily="18" charset="0"/>
                      </a:rPr>
                      <m:t>,…</m:t>
                    </m:r>
                    <m:r>
                      <m:rPr>
                        <m:sty m:val="p"/>
                      </m:rPr>
                      <a:rPr lang="en-US" altLang="zh-CN" sz="2400">
                        <a:latin typeface="Cambria Math" panose="02040503050406030204" pitchFamily="18" charset="0"/>
                      </a:rPr>
                      <m:t>k</m:t>
                    </m:r>
                  </m:oMath>
                </a14:m>
                <a:r>
                  <a:rPr lang="zh-CN" altLang="zh-CN" sz="2400" dirty="0"/>
                  <a:t>，则 </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𝜖</m:t>
                    </m:r>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𝑙</m:t>
                            </m:r>
                          </m:sub>
                        </m:sSub>
                      </m:e>
                      <m:sup>
                        <m:r>
                          <a:rPr lang="en-US" altLang="zh-CN" sz="2400" i="1">
                            <a:latin typeface="Cambria Math" panose="02040503050406030204" pitchFamily="18" charset="0"/>
                          </a:rPr>
                          <m:t>(</m:t>
                        </m:r>
                        <m:r>
                          <a:rPr lang="en-US" altLang="zh-CN" sz="2400" i="1">
                            <a:latin typeface="Cambria Math" panose="02040503050406030204" pitchFamily="18" charset="0"/>
                          </a:rPr>
                          <m:t>𝑡</m:t>
                        </m:r>
                        <m:r>
                          <a:rPr lang="en-US" altLang="zh-CN" sz="2400" i="1">
                            <a:latin typeface="Cambria Math" panose="02040503050406030204" pitchFamily="18" charset="0"/>
                          </a:rPr>
                          <m:t>+</m:t>
                        </m:r>
                        <m:r>
                          <a:rPr lang="en-US" altLang="zh-CN" sz="2400" i="1">
                            <a:latin typeface="Cambria Math" panose="02040503050406030204" pitchFamily="18" charset="0"/>
                          </a:rPr>
                          <m:t>1</m:t>
                        </m:r>
                        <m:r>
                          <a:rPr lang="en-US" altLang="zh-CN" sz="2400" i="1">
                            <a:latin typeface="Cambria Math" panose="02040503050406030204" pitchFamily="18" charset="0"/>
                          </a:rPr>
                          <m:t>)</m:t>
                        </m:r>
                      </m:sup>
                    </m:sSup>
                  </m:oMath>
                </a14:m>
                <a:r>
                  <a:rPr lang="zh-CN" altLang="zh-CN" sz="2400" dirty="0"/>
                  <a:t>；</a:t>
                </a:r>
                <a:endParaRPr lang="zh-CN" altLang="zh-CN" sz="2400" dirty="0"/>
              </a:p>
              <a:p>
                <a:endParaRPr lang="en-US" altLang="zh-CN" sz="2800" dirty="0"/>
              </a:p>
              <a:p>
                <a:endParaRPr lang="zh-CN" altLang="zh-CN" sz="2800" dirty="0"/>
              </a:p>
            </p:txBody>
          </p:sp>
        </mc:Choice>
        <mc:Fallback>
          <p:sp>
            <p:nvSpPr>
              <p:cNvPr id="3" name="文本框 2"/>
              <p:cNvSpPr txBox="1">
                <a:spLocks noRot="1" noChangeAspect="1" noMove="1" noResize="1" noEditPoints="1" noAdjustHandles="1" noChangeArrowheads="1" noChangeShapeType="1" noTextEdit="1"/>
              </p:cNvSpPr>
              <p:nvPr/>
            </p:nvSpPr>
            <p:spPr>
              <a:xfrm>
                <a:off x="783858" y="1818904"/>
                <a:ext cx="10378955" cy="3312061"/>
              </a:xfrm>
              <a:prstGeom prst="rect">
                <a:avLst/>
              </a:prstGeom>
              <a:blipFill rotWithShape="1">
                <a:blip r:embed="rId1"/>
                <a:stretch>
                  <a:fillRect l="-3" t="-8" r="1" b="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k-means</a:t>
            </a:r>
            <a:r>
              <a:rPr lang="zh-CN" altLang="en-US" dirty="0"/>
              <a:t>的算法步骤</a:t>
            </a:r>
            <a:endParaRPr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817312" y="1693835"/>
                <a:ext cx="10378955" cy="2735429"/>
              </a:xfrm>
              <a:prstGeom prst="rect">
                <a:avLst/>
              </a:prstGeom>
              <a:noFill/>
            </p:spPr>
            <p:txBody>
              <a:bodyPr wrap="square" rtlCol="0">
                <a:spAutoFit/>
              </a:bodyPr>
              <a:lstStyle/>
              <a:p>
                <a:endParaRPr lang="en-US" altLang="zh-CN" sz="2800" dirty="0"/>
              </a:p>
              <a:p>
                <a:r>
                  <a:rPr lang="zh-CN" altLang="en-US" sz="2400" dirty="0"/>
                  <a:t>（</a:t>
                </a:r>
                <a:r>
                  <a:rPr lang="en-US" altLang="zh-CN" sz="2400" dirty="0"/>
                  <a:t>3</a:t>
                </a:r>
                <a:r>
                  <a:rPr lang="zh-CN" altLang="zh-CN" sz="2400" dirty="0"/>
                  <a:t>）重新计算每个（有变化）聚类的均值</a:t>
                </a:r>
                <a:r>
                  <a:rPr lang="en-US" altLang="zh-CN" sz="2400" dirty="0"/>
                  <a:t>:</a:t>
                </a:r>
                <a:br>
                  <a:rPr lang="en-US" altLang="zh-CN" sz="2400" dirty="0"/>
                </a:br>
                <a14:m>
                  <m:oMathPara xmlns:m="http://schemas.openxmlformats.org/officeDocument/2006/math">
                    <m:oMathParaPr>
                      <m:jc m:val="centerGroup"/>
                    </m:oMathParaPr>
                    <m:oMath xmlns:m="http://schemas.openxmlformats.org/officeDocument/2006/math">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m:rPr>
                                  <m:sty m:val="p"/>
                                </m:rPr>
                                <a:rPr lang="en-US" altLang="zh-CN" sz="2400">
                                  <a:latin typeface="Cambria Math" panose="02040503050406030204" pitchFamily="18" charset="0"/>
                                </a:rPr>
                                <m:t>c</m:t>
                              </m:r>
                            </m:e>
                            <m:sub>
                              <m:r>
                                <a:rPr lang="en-US" altLang="zh-CN" sz="2400">
                                  <a:latin typeface="Cambria Math" panose="02040503050406030204" pitchFamily="18" charset="0"/>
                                </a:rPr>
                                <m:t>𝑗</m:t>
                              </m:r>
                            </m:sub>
                          </m:sSub>
                        </m:e>
                        <m:sup>
                          <m:r>
                            <a:rPr lang="en-US" altLang="zh-CN" sz="2400">
                              <a:latin typeface="Cambria Math" panose="02040503050406030204" pitchFamily="18" charset="0"/>
                            </a:rPr>
                            <m:t>(</m:t>
                          </m:r>
                          <m:r>
                            <m:rPr>
                              <m:sty m:val="p"/>
                            </m:rPr>
                            <a:rPr lang="en-US" altLang="zh-CN" sz="2400">
                              <a:latin typeface="Cambria Math" panose="02040503050406030204" pitchFamily="18" charset="0"/>
                            </a:rPr>
                            <m:t>t</m:t>
                          </m:r>
                          <m:r>
                            <a:rPr lang="en-US" altLang="zh-CN" sz="2400">
                              <a:latin typeface="Cambria Math" panose="02040503050406030204" pitchFamily="18" charset="0"/>
                            </a:rPr>
                            <m:t>+</m:t>
                          </m:r>
                          <m:r>
                            <a:rPr lang="en-US" altLang="zh-CN" sz="2400">
                              <a:latin typeface="Cambria Math" panose="02040503050406030204" pitchFamily="18" charset="0"/>
                            </a:rPr>
                            <m:t>1</m:t>
                          </m:r>
                          <m:r>
                            <a:rPr lang="en-US" altLang="zh-CN" sz="2400">
                              <a:latin typeface="Cambria Math" panose="02040503050406030204" pitchFamily="18" charset="0"/>
                            </a:rPr>
                            <m:t>)</m:t>
                          </m:r>
                        </m:sup>
                      </m:sSup>
                      <m:r>
                        <a:rPr lang="en-US" altLang="zh-CN" sz="2400">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a:latin typeface="Cambria Math" panose="02040503050406030204" pitchFamily="18" charset="0"/>
                            </a:rPr>
                            <m:t>1</m:t>
                          </m:r>
                        </m:num>
                        <m:den>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𝑛</m:t>
                                  </m:r>
                                </m:e>
                                <m:sub>
                                  <m:r>
                                    <a:rPr lang="en-US" altLang="zh-CN" sz="2400">
                                      <a:latin typeface="Cambria Math" panose="02040503050406030204" pitchFamily="18" charset="0"/>
                                    </a:rPr>
                                    <m:t>𝑗</m:t>
                                  </m:r>
                                </m:sub>
                              </m:sSub>
                            </m:e>
                            <m:sup>
                              <m:d>
                                <m:dPr>
                                  <m:ctrlPr>
                                    <a:rPr lang="zh-CN" altLang="zh-CN" sz="2400" i="1">
                                      <a:latin typeface="Cambria Math" panose="02040503050406030204" pitchFamily="18" charset="0"/>
                                    </a:rPr>
                                  </m:ctrlPr>
                                </m:dPr>
                                <m:e>
                                  <m:r>
                                    <a:rPr lang="en-US" altLang="zh-CN" sz="2400">
                                      <a:latin typeface="Cambria Math" panose="02040503050406030204" pitchFamily="18" charset="0"/>
                                    </a:rPr>
                                    <m:t>𝑡</m:t>
                                  </m:r>
                                  <m:r>
                                    <a:rPr lang="en-US" altLang="zh-CN" sz="2400">
                                      <a:latin typeface="Cambria Math" panose="02040503050406030204" pitchFamily="18" charset="0"/>
                                    </a:rPr>
                                    <m:t>+</m:t>
                                  </m:r>
                                  <m:r>
                                    <a:rPr lang="en-US" altLang="zh-CN" sz="2400">
                                      <a:latin typeface="Cambria Math" panose="02040503050406030204" pitchFamily="18" charset="0"/>
                                    </a:rPr>
                                    <m:t>1</m:t>
                                  </m:r>
                                </m:e>
                              </m:d>
                            </m:sup>
                          </m:sSup>
                        </m:den>
                      </m:f>
                      <m:r>
                        <a:rPr lang="en-US" altLang="zh-CN" sz="2400">
                          <a:latin typeface="Cambria Math" panose="02040503050406030204" pitchFamily="18" charset="0"/>
                        </a:rPr>
                        <m:t> </m:t>
                      </m:r>
                      <m:nary>
                        <m:naryPr>
                          <m:chr m:val="∑"/>
                          <m:limLoc m:val="undOvr"/>
                          <m:supHide m:val="on"/>
                          <m:ctrlPr>
                            <a:rPr lang="zh-CN" altLang="zh-CN" sz="2400" i="1">
                              <a:latin typeface="Cambria Math" panose="02040503050406030204" pitchFamily="18" charset="0"/>
                            </a:rPr>
                          </m:ctrlPr>
                        </m:naryPr>
                        <m:sub>
                          <m:r>
                            <a:rPr lang="en-US" altLang="zh-CN" sz="2400">
                              <a:latin typeface="Cambria Math" panose="02040503050406030204" pitchFamily="18" charset="0"/>
                            </a:rPr>
                            <m:t>𝑥𝑖</m:t>
                          </m:r>
                          <m:r>
                            <a:rPr lang="en-US" altLang="zh-CN" sz="2400">
                              <a:latin typeface="Cambria Math" panose="02040503050406030204" pitchFamily="18" charset="0"/>
                            </a:rPr>
                            <m:t>𝜖</m:t>
                          </m:r>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𝑗</m:t>
                                  </m:r>
                                </m:sub>
                              </m:sSub>
                            </m:e>
                            <m:sup>
                              <m:r>
                                <a:rPr lang="en-US" altLang="zh-CN" sz="2400">
                                  <a:latin typeface="Cambria Math" panose="02040503050406030204" pitchFamily="18" charset="0"/>
                                </a:rPr>
                                <m:t>(</m:t>
                              </m:r>
                              <m:r>
                                <a:rPr lang="en-US" altLang="zh-CN" sz="2400">
                                  <a:latin typeface="Cambria Math" panose="02040503050406030204" pitchFamily="18" charset="0"/>
                                </a:rPr>
                                <m:t>𝑡</m:t>
                              </m:r>
                              <m:r>
                                <a:rPr lang="en-US" altLang="zh-CN" sz="2400">
                                  <a:latin typeface="Cambria Math" panose="02040503050406030204" pitchFamily="18" charset="0"/>
                                </a:rPr>
                                <m:t>+</m:t>
                              </m:r>
                              <m:r>
                                <a:rPr lang="en-US" altLang="zh-CN" sz="2400">
                                  <a:latin typeface="Cambria Math" panose="02040503050406030204" pitchFamily="18" charset="0"/>
                                </a:rPr>
                                <m:t>1</m:t>
                              </m:r>
                              <m:r>
                                <a:rPr lang="en-US" altLang="zh-CN" sz="2400">
                                  <a:latin typeface="Cambria Math" panose="02040503050406030204" pitchFamily="18" charset="0"/>
                                </a:rPr>
                                <m:t>)</m:t>
                              </m:r>
                            </m:sup>
                          </m:sSup>
                        </m:sub>
                        <m:sup/>
                        <m:e>
                          <m:r>
                            <a:rPr lang="en-US" altLang="zh-CN" sz="2400">
                              <a:latin typeface="Cambria Math" panose="02040503050406030204" pitchFamily="18" charset="0"/>
                            </a:rPr>
                            <m:t>𝑋𝑖</m:t>
                          </m:r>
                        </m:e>
                      </m:nary>
                      <m:r>
                        <a:rPr lang="en-US" altLang="zh-CN" sz="2400">
                          <a:latin typeface="Cambria Math" panose="02040503050406030204" pitchFamily="18" charset="0"/>
                        </a:rPr>
                        <m:t>   ,</m:t>
                      </m:r>
                      <m:r>
                        <a:rPr lang="en-US" altLang="zh-CN" sz="2400">
                          <a:latin typeface="Cambria Math" panose="02040503050406030204" pitchFamily="18" charset="0"/>
                        </a:rPr>
                        <m:t>𝑗</m:t>
                      </m:r>
                      <m:r>
                        <a:rPr lang="en-US" altLang="zh-CN" sz="2400">
                          <a:latin typeface="Cambria Math" panose="02040503050406030204" pitchFamily="18" charset="0"/>
                        </a:rPr>
                        <m:t>=</m:t>
                      </m:r>
                      <m:r>
                        <a:rPr lang="en-US" altLang="zh-CN" sz="2400">
                          <a:latin typeface="Cambria Math" panose="02040503050406030204" pitchFamily="18" charset="0"/>
                        </a:rPr>
                        <m:t>1</m:t>
                      </m:r>
                      <m:r>
                        <a:rPr lang="en-US" altLang="zh-CN" sz="2400">
                          <a:latin typeface="Cambria Math" panose="02040503050406030204" pitchFamily="18" charset="0"/>
                        </a:rPr>
                        <m:t>,</m:t>
                      </m:r>
                      <m:r>
                        <a:rPr lang="en-US" altLang="zh-CN" sz="2400">
                          <a:latin typeface="Cambria Math" panose="02040503050406030204" pitchFamily="18" charset="0"/>
                        </a:rPr>
                        <m:t>2</m:t>
                      </m:r>
                      <m:r>
                        <a:rPr lang="en-US" altLang="zh-CN" sz="2400">
                          <a:latin typeface="Cambria Math" panose="02040503050406030204" pitchFamily="18" charset="0"/>
                        </a:rPr>
                        <m:t>,..</m:t>
                      </m:r>
                      <m:r>
                        <a:rPr lang="en-US" altLang="zh-CN" sz="2400">
                          <a:latin typeface="Cambria Math" panose="02040503050406030204" pitchFamily="18" charset="0"/>
                        </a:rPr>
                        <m:t>𝑘</m:t>
                      </m:r>
                    </m:oMath>
                  </m:oMathPara>
                </a14:m>
                <a:endParaRPr lang="zh-CN" altLang="zh-CN" sz="2400" dirty="0"/>
              </a:p>
              <a:p>
                <a:r>
                  <a:rPr lang="zh-CN" altLang="zh-CN" sz="2400" dirty="0"/>
                  <a:t>（</a:t>
                </a:r>
                <a:r>
                  <a:rPr lang="en-US" altLang="zh-CN" sz="2400" dirty="0"/>
                  <a:t>4</a:t>
                </a:r>
                <a:r>
                  <a:rPr lang="zh-CN" altLang="zh-CN" sz="2400" dirty="0"/>
                  <a:t>）循环（</a:t>
                </a:r>
                <a:r>
                  <a:rPr lang="en-US" altLang="zh-CN" sz="2400" dirty="0"/>
                  <a:t>2</a:t>
                </a:r>
                <a:r>
                  <a:rPr lang="zh-CN" altLang="zh-CN" sz="2400" dirty="0"/>
                  <a:t>）到（</a:t>
                </a:r>
                <a:r>
                  <a:rPr lang="en-US" altLang="zh-CN" sz="2400" dirty="0"/>
                  <a:t>3</a:t>
                </a:r>
                <a:r>
                  <a:rPr lang="zh-CN" altLang="zh-CN" sz="2400" dirty="0"/>
                  <a:t>）直 到每个聚类不再发生变化为止，即：</a:t>
                </a:r>
                <a:endParaRPr lang="zh-CN" altLang="zh-CN" sz="2400" dirty="0"/>
              </a:p>
              <a:p>
                <a:r>
                  <a:rPr lang="zh-CN" altLang="zh-CN" sz="2400" dirty="0"/>
                  <a:t>如果 </a:t>
                </a:r>
                <a14:m>
                  <m:oMath xmlns:m="http://schemas.openxmlformats.org/officeDocument/2006/math">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m:rPr>
                                <m:sty m:val="p"/>
                              </m:rPr>
                              <a:rPr lang="en-US" altLang="zh-CN" sz="2400">
                                <a:latin typeface="Cambria Math" panose="02040503050406030204" pitchFamily="18" charset="0"/>
                              </a:rPr>
                              <m:t>c</m:t>
                            </m:r>
                          </m:e>
                          <m:sub>
                            <m:r>
                              <a:rPr lang="en-US" altLang="zh-CN" sz="2400">
                                <a:latin typeface="Cambria Math" panose="02040503050406030204" pitchFamily="18" charset="0"/>
                              </a:rPr>
                              <m:t>𝑗</m:t>
                            </m:r>
                          </m:sub>
                        </m:sSub>
                      </m:e>
                      <m:sup>
                        <m:r>
                          <a:rPr lang="en-US" altLang="zh-CN" sz="2400">
                            <a:latin typeface="Cambria Math" panose="02040503050406030204" pitchFamily="18" charset="0"/>
                          </a:rPr>
                          <m:t>(</m:t>
                        </m:r>
                        <m:r>
                          <m:rPr>
                            <m:sty m:val="p"/>
                          </m:rPr>
                          <a:rPr lang="en-US" altLang="zh-CN" sz="2400">
                            <a:latin typeface="Cambria Math" panose="02040503050406030204" pitchFamily="18" charset="0"/>
                          </a:rPr>
                          <m:t>t</m:t>
                        </m:r>
                        <m:r>
                          <a:rPr lang="en-US" altLang="zh-CN" sz="2400">
                            <a:latin typeface="Cambria Math" panose="02040503050406030204" pitchFamily="18" charset="0"/>
                          </a:rPr>
                          <m:t>+</m:t>
                        </m:r>
                        <m:r>
                          <a:rPr lang="en-US" altLang="zh-CN" sz="2400">
                            <a:latin typeface="Cambria Math" panose="02040503050406030204" pitchFamily="18" charset="0"/>
                          </a:rPr>
                          <m:t>1</m:t>
                        </m:r>
                        <m:r>
                          <a:rPr lang="en-US" altLang="zh-CN" sz="2400">
                            <a:latin typeface="Cambria Math" panose="02040503050406030204" pitchFamily="18" charset="0"/>
                          </a:rPr>
                          <m:t>)</m:t>
                        </m:r>
                      </m:sup>
                    </m:sSup>
                    <m:r>
                      <a:rPr lang="en-US" altLang="zh-CN" sz="2400">
                        <a:latin typeface="Cambria Math" panose="02040503050406030204" pitchFamily="18" charset="0"/>
                      </a:rPr>
                      <m:t>=</m:t>
                    </m:r>
                    <m:sSup>
                      <m:sSupPr>
                        <m:ctrlPr>
                          <a:rPr lang="zh-CN" altLang="zh-CN" sz="2400" i="1">
                            <a:latin typeface="Cambria Math" panose="02040503050406030204" pitchFamily="18" charset="0"/>
                          </a:rPr>
                        </m:ctrlPr>
                      </m:sSupPr>
                      <m:e>
                        <m:sSub>
                          <m:sSubPr>
                            <m:ctrlPr>
                              <a:rPr lang="zh-CN" altLang="zh-CN" sz="2400" i="1">
                                <a:latin typeface="Cambria Math" panose="02040503050406030204" pitchFamily="18" charset="0"/>
                              </a:rPr>
                            </m:ctrlPr>
                          </m:sSubPr>
                          <m:e>
                            <m:r>
                              <m:rPr>
                                <m:sty m:val="p"/>
                              </m:rPr>
                              <a:rPr lang="en-US" altLang="zh-CN" sz="2400">
                                <a:latin typeface="Cambria Math" panose="02040503050406030204" pitchFamily="18" charset="0"/>
                              </a:rPr>
                              <m:t>c</m:t>
                            </m:r>
                          </m:e>
                          <m:sub>
                            <m:r>
                              <a:rPr lang="en-US" altLang="zh-CN" sz="2400">
                                <a:latin typeface="Cambria Math" panose="02040503050406030204" pitchFamily="18" charset="0"/>
                              </a:rPr>
                              <m:t>𝑗</m:t>
                            </m:r>
                          </m:sub>
                        </m:sSub>
                      </m:e>
                      <m:sup>
                        <m:r>
                          <a:rPr lang="en-US" altLang="zh-CN" sz="2400">
                            <a:latin typeface="Cambria Math" panose="02040503050406030204" pitchFamily="18" charset="0"/>
                          </a:rPr>
                          <m:t>(</m:t>
                        </m:r>
                        <m:r>
                          <m:rPr>
                            <m:sty m:val="p"/>
                          </m:rPr>
                          <a:rPr lang="en-US" altLang="zh-CN" sz="2400">
                            <a:latin typeface="Cambria Math" panose="02040503050406030204" pitchFamily="18" charset="0"/>
                          </a:rPr>
                          <m:t>t</m:t>
                        </m:r>
                        <m:r>
                          <a:rPr lang="en-US" altLang="zh-CN" sz="2400">
                            <a:latin typeface="Cambria Math" panose="02040503050406030204" pitchFamily="18" charset="0"/>
                          </a:rPr>
                          <m:t>)</m:t>
                        </m:r>
                      </m:sup>
                    </m:sSup>
                    <m:r>
                      <a:rPr lang="zh-CN" altLang="zh-CN" sz="2400">
                        <a:latin typeface="Cambria Math" panose="02040503050406030204" pitchFamily="18" charset="0"/>
                      </a:rPr>
                      <m:t>，</m:t>
                    </m:r>
                    <m:r>
                      <a:rPr lang="en-US" altLang="zh-CN" sz="2400">
                        <a:latin typeface="Cambria Math" panose="02040503050406030204" pitchFamily="18" charset="0"/>
                      </a:rPr>
                      <m:t>  </m:t>
                    </m:r>
                    <m:r>
                      <m:rPr>
                        <m:sty m:val="p"/>
                      </m:rPr>
                      <a:rPr lang="en-US" altLang="zh-CN" sz="2400">
                        <a:latin typeface="Cambria Math" panose="02040503050406030204" pitchFamily="18" charset="0"/>
                      </a:rPr>
                      <m:t>j</m:t>
                    </m:r>
                    <m:r>
                      <a:rPr lang="en-US" altLang="zh-CN" sz="2400">
                        <a:latin typeface="Cambria Math" panose="02040503050406030204" pitchFamily="18" charset="0"/>
                      </a:rPr>
                      <m:t>=</m:t>
                    </m:r>
                    <m:r>
                      <a:rPr lang="en-US" altLang="zh-CN" sz="2400">
                        <a:latin typeface="Cambria Math" panose="02040503050406030204" pitchFamily="18" charset="0"/>
                      </a:rPr>
                      <m:t>1</m:t>
                    </m:r>
                    <m:r>
                      <a:rPr lang="en-US" altLang="zh-CN" sz="2400">
                        <a:latin typeface="Cambria Math" panose="02040503050406030204" pitchFamily="18" charset="0"/>
                      </a:rPr>
                      <m:t>,</m:t>
                    </m:r>
                    <m:r>
                      <a:rPr lang="en-US" altLang="zh-CN" sz="2400">
                        <a:latin typeface="Cambria Math" panose="02040503050406030204" pitchFamily="18" charset="0"/>
                      </a:rPr>
                      <m:t>2</m:t>
                    </m:r>
                    <m:r>
                      <a:rPr lang="en-US" altLang="zh-CN" sz="2400">
                        <a:latin typeface="Cambria Math" panose="02040503050406030204" pitchFamily="18" charset="0"/>
                      </a:rPr>
                      <m:t>,…</m:t>
                    </m:r>
                  </m:oMath>
                </a14:m>
                <a:r>
                  <a:rPr lang="en-US" altLang="zh-CN" sz="2400" dirty="0"/>
                  <a:t>k  </a:t>
                </a:r>
                <a:r>
                  <a:rPr lang="zh-CN" altLang="zh-CN" sz="2400" dirty="0"/>
                  <a:t>则表示结束，否则</a:t>
                </a:r>
                <a:r>
                  <a:rPr lang="en-US" altLang="zh-CN" sz="2400" dirty="0"/>
                  <a:t>t=t+1</a:t>
                </a:r>
                <a:r>
                  <a:rPr lang="zh-CN" altLang="zh-CN" sz="2400" dirty="0"/>
                  <a:t>，</a:t>
                </a:r>
                <a:r>
                  <a:rPr lang="en-US" altLang="zh-CN" sz="2400" dirty="0" err="1"/>
                  <a:t>Goto</a:t>
                </a:r>
                <a:r>
                  <a:rPr lang="en-US" altLang="zh-CN" sz="2400" dirty="0"/>
                  <a:t>(2)</a:t>
                </a:r>
                <a:r>
                  <a:rPr lang="zh-CN" altLang="zh-CN" sz="2400" dirty="0"/>
                  <a:t>。</a:t>
                </a:r>
                <a:endParaRPr lang="zh-CN" altLang="zh-CN" sz="2400" dirty="0"/>
              </a:p>
            </p:txBody>
          </p:sp>
        </mc:Choice>
        <mc:Fallback>
          <p:sp>
            <p:nvSpPr>
              <p:cNvPr id="3" name="文本框 2"/>
              <p:cNvSpPr txBox="1">
                <a:spLocks noRot="1" noChangeAspect="1" noMove="1" noResize="1" noEditPoints="1" noAdjustHandles="1" noChangeArrowheads="1" noChangeShapeType="1" noTextEdit="1"/>
              </p:cNvSpPr>
              <p:nvPr/>
            </p:nvSpPr>
            <p:spPr>
              <a:xfrm>
                <a:off x="817312" y="1693835"/>
                <a:ext cx="10378955" cy="2735429"/>
              </a:xfrm>
              <a:prstGeom prst="rect">
                <a:avLst/>
              </a:prstGeom>
              <a:blipFill rotWithShape="1">
                <a:blip r:embed="rId1"/>
                <a:stretch>
                  <a:fillRect l="-1" t="-11" r="6" b="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smtClean="0">
                  <a:solidFill>
                    <a:srgbClr val="009999"/>
                  </a:solidFill>
                  <a:latin typeface="Century Gothic" panose="020B0502020202020204" pitchFamily="34" charset="0"/>
                  <a:cs typeface="+mn-ea"/>
                  <a:sym typeface="+mn-lt"/>
                </a:rPr>
                <a:t>04</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算法实例</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840179" y="3580755"/>
            <a:ext cx="3469667" cy="1077218"/>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INSTANCE</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k-means</a:t>
            </a:r>
            <a:r>
              <a:rPr lang="zh-CN" altLang="en-US" dirty="0"/>
              <a:t>算法实例的主要代码</a:t>
            </a:r>
            <a:endParaRPr lang="zh-CN" altLang="en-US" dirty="0"/>
          </a:p>
        </p:txBody>
      </p:sp>
      <p:sp>
        <p:nvSpPr>
          <p:cNvPr id="3" name="文本框 2"/>
          <p:cNvSpPr txBox="1"/>
          <p:nvPr/>
        </p:nvSpPr>
        <p:spPr>
          <a:xfrm>
            <a:off x="1096091" y="835327"/>
            <a:ext cx="10378955" cy="6219331"/>
          </a:xfrm>
          <a:prstGeom prst="rect">
            <a:avLst/>
          </a:prstGeom>
          <a:noFill/>
        </p:spPr>
        <p:txBody>
          <a:bodyPr wrap="square" rtlCol="0">
            <a:spAutoFit/>
          </a:bodyPr>
          <a:lstStyle/>
          <a:p>
            <a:pPr>
              <a:lnSpc>
                <a:spcPct val="150000"/>
              </a:lnSpc>
            </a:pP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给中心点分类进行初始化 </a:t>
            </a:r>
            <a:endParaRPr lang="en-US" altLang="zh-CN" sz="2800" dirty="0">
              <a:latin typeface="Times New Roman" panose="02020603050405020304" pitchFamily="18" charset="0"/>
              <a:cs typeface="Times New Roman" panose="02020603050405020304" pitchFamily="18" charset="0"/>
            </a:endParaRPr>
          </a:p>
          <a:p>
            <a:pPr>
              <a:lnSpc>
                <a:spcPct val="150000"/>
              </a:lnSpc>
            </a:pPr>
            <a:r>
              <a:rPr lang="en-US" altLang="zh-CN" sz="2400" dirty="0">
                <a:latin typeface="Consolas" panose="020B0609020204030204" pitchFamily="18" charset="0"/>
                <a:cs typeface="Times New Roman" panose="02020603050405020304" pitchFamily="18" charset="0"/>
              </a:rPr>
              <a:t>centroids[:,-1] = range(1,k+1) </a:t>
            </a:r>
            <a:endParaRPr lang="en-US" altLang="zh-CN" sz="2400" dirty="0">
              <a:latin typeface="Consolas" panose="020B0609020204030204" pitchFamily="18" charset="0"/>
              <a:cs typeface="Times New Roman" panose="02020603050405020304" pitchFamily="18" charset="0"/>
            </a:endParaRPr>
          </a:p>
          <a:p>
            <a:pPr>
              <a:lnSpc>
                <a:spcPct val="150000"/>
              </a:lnSpc>
            </a:pPr>
            <a:r>
              <a:rPr lang="en-US" altLang="zh-CN" sz="2400" dirty="0">
                <a:latin typeface="Consolas" panose="020B0609020204030204" pitchFamily="18" charset="0"/>
                <a:cs typeface="Times New Roman" panose="02020603050405020304" pitchFamily="18" charset="0"/>
              </a:rPr>
              <a:t>  iterations = 0 </a:t>
            </a:r>
            <a:endParaRPr lang="en-US" altLang="zh-CN" sz="2400" dirty="0">
              <a:latin typeface="Consolas" panose="020B0609020204030204" pitchFamily="18" charset="0"/>
              <a:cs typeface="Times New Roman" panose="02020603050405020304" pitchFamily="18" charset="0"/>
            </a:endParaRPr>
          </a:p>
          <a:p>
            <a:pPr>
              <a:lnSpc>
                <a:spcPct val="150000"/>
              </a:lnSpc>
            </a:pPr>
            <a:r>
              <a:rPr lang="en-US" altLang="zh-CN" sz="2400" dirty="0">
                <a:latin typeface="Consolas" panose="020B0609020204030204" pitchFamily="18" charset="0"/>
                <a:cs typeface="Times New Roman" panose="02020603050405020304" pitchFamily="18" charset="0"/>
              </a:rPr>
              <a:t>  </a:t>
            </a:r>
            <a:r>
              <a:rPr lang="en-US" altLang="zh-CN" sz="2400" dirty="0" err="1">
                <a:latin typeface="Consolas" panose="020B0609020204030204" pitchFamily="18" charset="0"/>
                <a:cs typeface="Times New Roman" panose="02020603050405020304" pitchFamily="18" charset="0"/>
              </a:rPr>
              <a:t>oldCentroids</a:t>
            </a:r>
            <a:r>
              <a:rPr lang="en-US" altLang="zh-CN" sz="2400" dirty="0">
                <a:latin typeface="Consolas" panose="020B0609020204030204" pitchFamily="18" charset="0"/>
                <a:cs typeface="Times New Roman" panose="02020603050405020304" pitchFamily="18" charset="0"/>
              </a:rPr>
              <a:t> = None </a:t>
            </a:r>
            <a:endParaRPr lang="en-US" altLang="zh-CN" sz="2400" dirty="0">
              <a:latin typeface="Consolas" panose="020B0609020204030204" pitchFamily="18" charset="0"/>
              <a:cs typeface="Times New Roman" panose="02020603050405020304" pitchFamily="18" charset="0"/>
            </a:endParaRPr>
          </a:p>
          <a:p>
            <a:pPr>
              <a:lnSpc>
                <a:spcPct val="150000"/>
              </a:lnSpc>
            </a:pPr>
            <a:r>
              <a:rPr lang="en-US" altLang="zh-CN" sz="2400" dirty="0">
                <a:latin typeface="Consolas" panose="020B0609020204030204" pitchFamily="18" charset="0"/>
                <a:cs typeface="Times New Roman" panose="02020603050405020304" pitchFamily="18" charset="0"/>
              </a:rPr>
              <a:t>  while not </a:t>
            </a:r>
            <a:r>
              <a:rPr lang="en-US" altLang="zh-CN" sz="2400" dirty="0" err="1">
                <a:latin typeface="Consolas" panose="020B0609020204030204" pitchFamily="18" charset="0"/>
                <a:cs typeface="Times New Roman" panose="02020603050405020304" pitchFamily="18" charset="0"/>
              </a:rPr>
              <a:t>shouldStop</a:t>
            </a:r>
            <a:r>
              <a:rPr lang="en-US" altLang="zh-CN" sz="2400" dirty="0">
                <a:latin typeface="Consolas" panose="020B0609020204030204" pitchFamily="18" charset="0"/>
                <a:cs typeface="Times New Roman" panose="02020603050405020304" pitchFamily="18" charset="0"/>
              </a:rPr>
              <a:t>(</a:t>
            </a:r>
            <a:r>
              <a:rPr lang="en-US" altLang="zh-CN" sz="2400" dirty="0" err="1">
                <a:latin typeface="Consolas" panose="020B0609020204030204" pitchFamily="18" charset="0"/>
                <a:cs typeface="Times New Roman" panose="02020603050405020304" pitchFamily="18" charset="0"/>
              </a:rPr>
              <a:t>oldCentroids,centroids,iterations,maxIt</a:t>
            </a:r>
            <a:r>
              <a:rPr lang="en-US" altLang="zh-CN" sz="2400" dirty="0">
                <a:latin typeface="Consolas" panose="020B0609020204030204" pitchFamily="18" charset="0"/>
                <a:cs typeface="Times New Roman" panose="02020603050405020304" pitchFamily="18" charset="0"/>
              </a:rPr>
              <a:t>): </a:t>
            </a:r>
            <a:endParaRPr lang="en-US" altLang="zh-CN" sz="2400" dirty="0">
              <a:latin typeface="Consolas" panose="020B0609020204030204" pitchFamily="18" charset="0"/>
              <a:cs typeface="Times New Roman" panose="02020603050405020304" pitchFamily="18" charset="0"/>
            </a:endParaRPr>
          </a:p>
          <a:p>
            <a:pPr>
              <a:lnSpc>
                <a:spcPct val="150000"/>
              </a:lnSpc>
            </a:pPr>
            <a:r>
              <a:rPr lang="en-US" altLang="zh-CN" sz="2400" dirty="0">
                <a:latin typeface="Consolas" panose="020B0609020204030204" pitchFamily="18" charset="0"/>
                <a:cs typeface="Times New Roman" panose="02020603050405020304" pitchFamily="18" charset="0"/>
              </a:rPr>
              <a:t>    print("iteration:\</a:t>
            </a:r>
            <a:r>
              <a:rPr lang="en-US" altLang="zh-CN" sz="2400" dirty="0" err="1">
                <a:latin typeface="Consolas" panose="020B0609020204030204" pitchFamily="18" charset="0"/>
                <a:cs typeface="Times New Roman" panose="02020603050405020304" pitchFamily="18" charset="0"/>
              </a:rPr>
              <a:t>n",iterations</a:t>
            </a:r>
            <a:r>
              <a:rPr lang="en-US" altLang="zh-CN" sz="2400" dirty="0">
                <a:latin typeface="Consolas" panose="020B0609020204030204" pitchFamily="18" charset="0"/>
                <a:cs typeface="Times New Roman" panose="02020603050405020304" pitchFamily="18" charset="0"/>
              </a:rPr>
              <a:t> )</a:t>
            </a:r>
            <a:endParaRPr lang="en-US" altLang="zh-CN" sz="2400" dirty="0">
              <a:latin typeface="Consolas" panose="020B0609020204030204" pitchFamily="18" charset="0"/>
              <a:cs typeface="Times New Roman" panose="02020603050405020304" pitchFamily="18" charset="0"/>
            </a:endParaRPr>
          </a:p>
          <a:p>
            <a:pPr>
              <a:lnSpc>
                <a:spcPct val="150000"/>
              </a:lnSpc>
            </a:pPr>
            <a:r>
              <a:rPr lang="en-US" altLang="zh-CN" sz="2400" dirty="0">
                <a:latin typeface="Consolas" panose="020B0609020204030204" pitchFamily="18" charset="0"/>
                <a:cs typeface="Times New Roman" panose="02020603050405020304" pitchFamily="18" charset="0"/>
              </a:rPr>
              <a:t>    print("</a:t>
            </a:r>
            <a:r>
              <a:rPr lang="en-US" altLang="zh-CN" sz="2400" dirty="0" err="1">
                <a:latin typeface="Consolas" panose="020B0609020204030204" pitchFamily="18" charset="0"/>
                <a:cs typeface="Times New Roman" panose="02020603050405020304" pitchFamily="18" charset="0"/>
              </a:rPr>
              <a:t>dataSet</a:t>
            </a:r>
            <a:r>
              <a:rPr lang="en-US" altLang="zh-CN" sz="2400" dirty="0">
                <a:latin typeface="Consolas" panose="020B0609020204030204" pitchFamily="18" charset="0"/>
                <a:cs typeface="Times New Roman" panose="02020603050405020304" pitchFamily="18" charset="0"/>
              </a:rPr>
              <a:t>:\n", </a:t>
            </a:r>
            <a:r>
              <a:rPr lang="en-US" altLang="zh-CN" sz="2400" dirty="0" err="1">
                <a:latin typeface="Consolas" panose="020B0609020204030204" pitchFamily="18" charset="0"/>
                <a:cs typeface="Times New Roman" panose="02020603050405020304" pitchFamily="18" charset="0"/>
              </a:rPr>
              <a:t>dataSet</a:t>
            </a:r>
            <a:r>
              <a:rPr lang="en-US" altLang="zh-CN" sz="2400" dirty="0">
                <a:latin typeface="Consolas" panose="020B0609020204030204" pitchFamily="18" charset="0"/>
                <a:cs typeface="Times New Roman" panose="02020603050405020304" pitchFamily="18" charset="0"/>
              </a:rPr>
              <a:t> )</a:t>
            </a:r>
            <a:endParaRPr lang="en-US" altLang="zh-CN" sz="2400" dirty="0">
              <a:latin typeface="Consolas" panose="020B0609020204030204" pitchFamily="18" charset="0"/>
              <a:cs typeface="Times New Roman" panose="02020603050405020304" pitchFamily="18" charset="0"/>
            </a:endParaRPr>
          </a:p>
          <a:p>
            <a:pPr>
              <a:lnSpc>
                <a:spcPct val="150000"/>
              </a:lnSpc>
            </a:pPr>
            <a:r>
              <a:rPr lang="en-US" altLang="zh-CN" sz="2400" dirty="0">
                <a:latin typeface="Consolas" panose="020B0609020204030204" pitchFamily="18" charset="0"/>
                <a:cs typeface="Times New Roman" panose="02020603050405020304" pitchFamily="18" charset="0"/>
              </a:rPr>
              <a:t>    print("centroids:\n", centroids) </a:t>
            </a:r>
            <a:endParaRPr lang="en-US" altLang="zh-CN" sz="2400" dirty="0">
              <a:latin typeface="Consolas" panose="020B0609020204030204" pitchFamily="18" charset="0"/>
              <a:cs typeface="Times New Roman" panose="02020603050405020304" pitchFamily="18" charset="0"/>
            </a:endParaRPr>
          </a:p>
          <a:p>
            <a:pPr>
              <a:lnSpc>
                <a:spcPct val="150000"/>
              </a:lnSpc>
            </a:pPr>
            <a:r>
              <a:rPr lang="en-US" altLang="zh-CN" sz="2400" dirty="0">
                <a:latin typeface="Consolas" panose="020B0609020204030204" pitchFamily="18" charset="0"/>
                <a:cs typeface="Times New Roman" panose="02020603050405020304" pitchFamily="18" charset="0"/>
              </a:rPr>
              <a:t>    #</a:t>
            </a:r>
            <a:r>
              <a:rPr lang="zh-CN" altLang="en-US" sz="2400" dirty="0">
                <a:latin typeface="Consolas" panose="020B0609020204030204" pitchFamily="18" charset="0"/>
                <a:cs typeface="Times New Roman" panose="02020603050405020304" pitchFamily="18" charset="0"/>
              </a:rPr>
              <a:t>不能直接用等号，不然会指向同一个变量 </a:t>
            </a:r>
            <a:endParaRPr lang="zh-CN" altLang="en-US" sz="2400" dirty="0">
              <a:latin typeface="Consolas" panose="020B0609020204030204" pitchFamily="18" charset="0"/>
              <a:cs typeface="Times New Roman" panose="02020603050405020304" pitchFamily="18" charset="0"/>
            </a:endParaRPr>
          </a:p>
          <a:p>
            <a:pPr>
              <a:lnSpc>
                <a:spcPct val="150000"/>
              </a:lnSpc>
            </a:pPr>
            <a:r>
              <a:rPr lang="zh-CN" altLang="en-US" sz="2400" dirty="0">
                <a:latin typeface="Consolas" panose="020B0609020204030204" pitchFamily="18" charset="0"/>
                <a:cs typeface="Times New Roman" panose="02020603050405020304" pitchFamily="18" charset="0"/>
              </a:rPr>
              <a:t>    </a:t>
            </a:r>
            <a:endParaRPr lang="en-US" altLang="zh-CN" sz="2400" dirty="0">
              <a:latin typeface="Consolas" panose="020B06090202040302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k-means</a:t>
            </a:r>
            <a:r>
              <a:rPr lang="zh-CN" altLang="en-US" dirty="0"/>
              <a:t>算法实例的主要代码</a:t>
            </a:r>
            <a:endParaRPr lang="zh-CN" altLang="en-US" dirty="0"/>
          </a:p>
        </p:txBody>
      </p:sp>
      <p:sp>
        <p:nvSpPr>
          <p:cNvPr id="3" name="文本框 2"/>
          <p:cNvSpPr txBox="1"/>
          <p:nvPr/>
        </p:nvSpPr>
        <p:spPr>
          <a:xfrm>
            <a:off x="1253108" y="835327"/>
            <a:ext cx="10378955" cy="6293518"/>
          </a:xfrm>
          <a:prstGeom prst="rect">
            <a:avLst/>
          </a:prstGeom>
          <a:noFill/>
        </p:spPr>
        <p:txBody>
          <a:bodyPr wrap="square" rtlCol="0">
            <a:spAutoFit/>
          </a:bodyPr>
          <a:lstStyle/>
          <a:p>
            <a:pPr>
              <a:lnSpc>
                <a:spcPct val="150000"/>
              </a:lnSpc>
            </a:pPr>
            <a:r>
              <a:rPr lang="zh-CN" altLang="en-US" sz="2800" dirty="0">
                <a:latin typeface="Times New Roman" panose="02020603050405020304" pitchFamily="18" charset="0"/>
                <a:cs typeface="Times New Roman" panose="02020603050405020304" pitchFamily="18" charset="0"/>
              </a:rPr>
              <a:t> </a:t>
            </a:r>
            <a:r>
              <a:rPr lang="en-US" altLang="zh-CN" sz="2400" dirty="0">
                <a:latin typeface="Consolas" panose="020B0609020204030204" pitchFamily="18" charset="0"/>
                <a:cs typeface="Times New Roman" panose="02020603050405020304" pitchFamily="18" charset="0"/>
              </a:rPr>
              <a:t>#</a:t>
            </a:r>
            <a:r>
              <a:rPr lang="zh-CN" altLang="en-US" sz="2400" dirty="0">
                <a:latin typeface="Consolas" panose="020B0609020204030204" pitchFamily="18" charset="0"/>
                <a:cs typeface="Times New Roman" panose="02020603050405020304" pitchFamily="18" charset="0"/>
              </a:rPr>
              <a:t>对中心点的每个点开始循环 </a:t>
            </a:r>
            <a:endParaRPr lang="zh-CN" altLang="en-US" sz="2400" dirty="0">
              <a:latin typeface="Consolas" panose="020B0609020204030204" pitchFamily="18" charset="0"/>
              <a:cs typeface="Times New Roman" panose="02020603050405020304" pitchFamily="18" charset="0"/>
            </a:endParaRPr>
          </a:p>
          <a:p>
            <a:pPr>
              <a:lnSpc>
                <a:spcPct val="150000"/>
              </a:lnSpc>
            </a:pPr>
            <a:r>
              <a:rPr lang="zh-CN" altLang="en-US" sz="2400" dirty="0">
                <a:latin typeface="Consolas" panose="020B0609020204030204" pitchFamily="18" charset="0"/>
                <a:cs typeface="Times New Roman" panose="02020603050405020304" pitchFamily="18" charset="0"/>
              </a:rPr>
              <a:t>  </a:t>
            </a:r>
            <a:r>
              <a:rPr lang="it-IT" altLang="zh-CN" sz="2400" dirty="0">
                <a:latin typeface="Consolas" panose="020B0609020204030204" pitchFamily="18" charset="0"/>
                <a:cs typeface="Times New Roman" panose="02020603050405020304" pitchFamily="18" charset="0"/>
              </a:rPr>
              <a:t>for i in range(1,centroids.shape[0]): </a:t>
            </a:r>
            <a:endParaRPr lang="it-IT" altLang="zh-CN" sz="2400" dirty="0">
              <a:latin typeface="Consolas" panose="020B0609020204030204" pitchFamily="18" charset="0"/>
              <a:cs typeface="Times New Roman" panose="02020603050405020304" pitchFamily="18" charset="0"/>
            </a:endParaRPr>
          </a:p>
          <a:p>
            <a:pPr>
              <a:lnSpc>
                <a:spcPct val="150000"/>
              </a:lnSpc>
            </a:pPr>
            <a:r>
              <a:rPr lang="it-IT" altLang="zh-CN" sz="2400" dirty="0">
                <a:latin typeface="Consolas" panose="020B0609020204030204" pitchFamily="18" charset="0"/>
                <a:cs typeface="Times New Roman" panose="02020603050405020304" pitchFamily="18" charset="0"/>
              </a:rPr>
              <a:t>    dist = np.linalg.norm(dataSetRow - centroids[i,:-1]) </a:t>
            </a:r>
            <a:endParaRPr lang="it-IT" altLang="zh-CN" sz="2400" dirty="0">
              <a:latin typeface="Consolas" panose="020B0609020204030204" pitchFamily="18" charset="0"/>
              <a:cs typeface="Times New Roman" panose="02020603050405020304" pitchFamily="18" charset="0"/>
            </a:endParaRPr>
          </a:p>
          <a:p>
            <a:pPr>
              <a:lnSpc>
                <a:spcPct val="150000"/>
              </a:lnSpc>
            </a:pPr>
            <a:r>
              <a:rPr lang="it-IT" altLang="zh-CN" sz="2400" dirty="0">
                <a:latin typeface="Consolas" panose="020B0609020204030204" pitchFamily="18" charset="0"/>
                <a:cs typeface="Times New Roman" panose="02020603050405020304" pitchFamily="18" charset="0"/>
              </a:rPr>
              <a:t>    if dist &lt; minDist: </a:t>
            </a:r>
            <a:endParaRPr lang="it-IT" altLang="zh-CN" sz="2400" dirty="0">
              <a:latin typeface="Consolas" panose="020B0609020204030204" pitchFamily="18" charset="0"/>
              <a:cs typeface="Times New Roman" panose="02020603050405020304" pitchFamily="18" charset="0"/>
            </a:endParaRPr>
          </a:p>
          <a:p>
            <a:pPr>
              <a:lnSpc>
                <a:spcPct val="150000"/>
              </a:lnSpc>
            </a:pPr>
            <a:r>
              <a:rPr lang="it-IT" altLang="zh-CN" sz="2400" dirty="0">
                <a:latin typeface="Consolas" panose="020B0609020204030204" pitchFamily="18" charset="0"/>
                <a:cs typeface="Times New Roman" panose="02020603050405020304" pitchFamily="18" charset="0"/>
              </a:rPr>
              <a:t>      minDist = dist </a:t>
            </a:r>
            <a:endParaRPr lang="it-IT" altLang="zh-CN" sz="2400" dirty="0">
              <a:latin typeface="Consolas" panose="020B0609020204030204" pitchFamily="18" charset="0"/>
              <a:cs typeface="Times New Roman" panose="02020603050405020304" pitchFamily="18" charset="0"/>
            </a:endParaRPr>
          </a:p>
          <a:p>
            <a:pPr>
              <a:lnSpc>
                <a:spcPct val="150000"/>
              </a:lnSpc>
            </a:pPr>
            <a:r>
              <a:rPr lang="it-IT" altLang="zh-CN" sz="2400" dirty="0">
                <a:latin typeface="Consolas" panose="020B0609020204030204" pitchFamily="18" charset="0"/>
                <a:cs typeface="Times New Roman" panose="02020603050405020304" pitchFamily="18" charset="0"/>
              </a:rPr>
              <a:t>      label = centroids[i,-1] </a:t>
            </a:r>
            <a:endParaRPr lang="it-IT" altLang="zh-CN" sz="2400" dirty="0">
              <a:latin typeface="Consolas" panose="020B0609020204030204" pitchFamily="18" charset="0"/>
              <a:cs typeface="Times New Roman" panose="02020603050405020304" pitchFamily="18" charset="0"/>
            </a:endParaRPr>
          </a:p>
          <a:p>
            <a:pPr>
              <a:lnSpc>
                <a:spcPct val="150000"/>
              </a:lnSpc>
            </a:pPr>
            <a:r>
              <a:rPr lang="it-IT" altLang="zh-CN" sz="2400" dirty="0">
                <a:latin typeface="Consolas" panose="020B0609020204030204" pitchFamily="18" charset="0"/>
                <a:cs typeface="Times New Roman" panose="02020603050405020304" pitchFamily="18" charset="0"/>
              </a:rPr>
              <a:t>    print("minDist",minDist )</a:t>
            </a:r>
            <a:endParaRPr lang="it-IT" altLang="zh-CN" sz="2400" dirty="0">
              <a:latin typeface="Consolas" panose="020B0609020204030204" pitchFamily="18" charset="0"/>
              <a:cs typeface="Times New Roman" panose="02020603050405020304" pitchFamily="18" charset="0"/>
            </a:endParaRPr>
          </a:p>
          <a:p>
            <a:pPr>
              <a:lnSpc>
                <a:spcPct val="150000"/>
              </a:lnSpc>
            </a:pPr>
            <a:r>
              <a:rPr lang="it-IT" altLang="zh-CN" sz="2400" dirty="0">
                <a:latin typeface="Consolas" panose="020B0609020204030204" pitchFamily="18" charset="0"/>
                <a:cs typeface="Times New Roman" panose="02020603050405020304" pitchFamily="18" charset="0"/>
              </a:rPr>
              <a:t>    return label </a:t>
            </a:r>
            <a:endParaRPr lang="it-IT" altLang="zh-CN" sz="2400" dirty="0">
              <a:latin typeface="Consolas" panose="020B0609020204030204" pitchFamily="18" charset="0"/>
              <a:cs typeface="Times New Roman" panose="02020603050405020304" pitchFamily="18" charset="0"/>
            </a:endParaRPr>
          </a:p>
          <a:p>
            <a:pPr>
              <a:lnSpc>
                <a:spcPct val="150000"/>
              </a:lnSpc>
            </a:pPr>
            <a:r>
              <a:rPr lang="it-IT" altLang="zh-CN" sz="2400" dirty="0">
                <a:latin typeface="Consolas" panose="020B0609020204030204" pitchFamily="18" charset="0"/>
                <a:cs typeface="Times New Roman" panose="02020603050405020304" pitchFamily="18" charset="0"/>
              </a:rPr>
              <a:t># </a:t>
            </a:r>
            <a:r>
              <a:rPr lang="zh-CN" altLang="en-US" sz="2400" dirty="0">
                <a:latin typeface="Consolas" panose="020B0609020204030204" pitchFamily="18" charset="0"/>
                <a:cs typeface="Times New Roman" panose="02020603050405020304" pitchFamily="18" charset="0"/>
              </a:rPr>
              <a:t>更新中心点 </a:t>
            </a:r>
            <a:endParaRPr lang="zh-CN" altLang="en-US" sz="2400" dirty="0">
              <a:latin typeface="Consolas" panose="020B0609020204030204" pitchFamily="18" charset="0"/>
              <a:cs typeface="Times New Roman" panose="02020603050405020304" pitchFamily="18" charset="0"/>
            </a:endParaRPr>
          </a:p>
          <a:p>
            <a:pPr>
              <a:lnSpc>
                <a:spcPct val="150000"/>
              </a:lnSpc>
            </a:pPr>
            <a:r>
              <a:rPr lang="en-US" altLang="zh-CN" sz="2400" dirty="0">
                <a:latin typeface="Consolas" panose="020B0609020204030204" pitchFamily="18" charset="0"/>
                <a:cs typeface="Times New Roman" panose="02020603050405020304" pitchFamily="18" charset="0"/>
              </a:rPr>
              <a:t>#</a:t>
            </a:r>
            <a:r>
              <a:rPr lang="zh-CN" altLang="en-US" sz="2400" dirty="0">
                <a:latin typeface="Consolas" panose="020B0609020204030204" pitchFamily="18" charset="0"/>
                <a:cs typeface="Times New Roman" panose="02020603050405020304" pitchFamily="18" charset="0"/>
              </a:rPr>
              <a:t>参数：数据集（包含标签），</a:t>
            </a:r>
            <a:r>
              <a:rPr lang="it-IT" altLang="zh-CN" sz="2400" dirty="0">
                <a:latin typeface="Consolas" panose="020B0609020204030204" pitchFamily="18" charset="0"/>
                <a:cs typeface="Times New Roman" panose="02020603050405020304" pitchFamily="18" charset="0"/>
              </a:rPr>
              <a:t>k</a:t>
            </a:r>
            <a:r>
              <a:rPr lang="zh-CN" altLang="en-US" sz="2400" dirty="0">
                <a:latin typeface="Consolas" panose="020B0609020204030204" pitchFamily="18" charset="0"/>
                <a:cs typeface="Times New Roman" panose="02020603050405020304" pitchFamily="18" charset="0"/>
              </a:rPr>
              <a:t>个分类 </a:t>
            </a:r>
            <a:endParaRPr lang="it-IT" altLang="zh-CN" sz="2400" dirty="0">
              <a:latin typeface="Consolas" panose="020B0609020204030204" pitchFamily="18" charset="0"/>
              <a:cs typeface="Times New Roman" panose="02020603050405020304" pitchFamily="18" charset="0"/>
            </a:endParaRPr>
          </a:p>
          <a:p>
            <a:pPr>
              <a:lnSpc>
                <a:spcPct val="150000"/>
              </a:lnSpc>
            </a:pPr>
            <a:r>
              <a:rPr lang="en-US" altLang="zh-CN" sz="2800" dirty="0">
                <a:latin typeface="Times New Roman" panose="02020603050405020304" pitchFamily="18" charset="0"/>
                <a:cs typeface="Times New Roman" panose="02020603050405020304" pitchFamily="18" charset="0"/>
              </a:rPr>
              <a:t> </a:t>
            </a:r>
            <a:endParaRPr lang="en-US" altLang="zh-CN"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3060" y="1266867"/>
            <a:ext cx="10727473" cy="2245360"/>
          </a:xfrm>
          <a:prstGeom prst="rect">
            <a:avLst/>
          </a:prstGeom>
          <a:noFill/>
        </p:spPr>
        <p:txBody>
          <a:bodyPr wrap="square" rtlCol="0">
            <a:spAutoFit/>
          </a:bodyPr>
          <a:lstStyle/>
          <a:p>
            <a:r>
              <a:rPr lang="zh-CN" altLang="en-US" sz="2800" dirty="0" smtClean="0"/>
              <a:t>练习算法实例，要求做到：</a:t>
            </a:r>
            <a:endParaRPr lang="en-US" altLang="zh-CN" sz="2800" dirty="0" smtClean="0"/>
          </a:p>
          <a:p>
            <a:endParaRPr lang="en-US" altLang="zh-CN" sz="2800" dirty="0" smtClean="0"/>
          </a:p>
          <a:p>
            <a:r>
              <a:rPr lang="en-US" altLang="zh-CN" sz="2800" dirty="0" smtClean="0">
                <a:sym typeface="+mn-ea"/>
              </a:rPr>
              <a:t>1.</a:t>
            </a:r>
            <a:r>
              <a:rPr lang="zh-CN" altLang="en-US" sz="2800" dirty="0" smtClean="0">
                <a:sym typeface="+mn-ea"/>
              </a:rPr>
              <a:t>理解程序中每个函数以及每个变量的含义；</a:t>
            </a:r>
            <a:endParaRPr lang="en-US" altLang="zh-CN" sz="2800" dirty="0" smtClean="0"/>
          </a:p>
          <a:p>
            <a:r>
              <a:rPr lang="en-US" altLang="zh-CN" sz="2800" dirty="0" smtClean="0">
                <a:sym typeface="+mn-ea"/>
              </a:rPr>
              <a:t>2.</a:t>
            </a:r>
            <a:r>
              <a:rPr lang="zh-CN" altLang="en-US" sz="2800" dirty="0" smtClean="0">
                <a:sym typeface="+mn-ea"/>
              </a:rPr>
              <a:t>掌握</a:t>
            </a:r>
            <a:r>
              <a:rPr lang="en-US" altLang="zh-CN" sz="2800" dirty="0" smtClean="0">
                <a:sym typeface="+mn-ea"/>
              </a:rPr>
              <a:t>k-means</a:t>
            </a:r>
            <a:r>
              <a:rPr lang="zh-CN" altLang="en-US" sz="2800" dirty="0" smtClean="0">
                <a:sym typeface="+mn-ea"/>
              </a:rPr>
              <a:t>算法的实现过程；</a:t>
            </a:r>
            <a:endParaRPr lang="en-US" altLang="zh-CN" sz="2800" dirty="0" smtClean="0"/>
          </a:p>
          <a:p>
            <a:r>
              <a:rPr lang="en-US" altLang="zh-CN" sz="2800" dirty="0" smtClean="0">
                <a:sym typeface="+mn-ea"/>
              </a:rPr>
              <a:t>3.</a:t>
            </a:r>
            <a:r>
              <a:rPr lang="zh-CN" altLang="en-US" sz="2800" dirty="0" smtClean="0">
                <a:sym typeface="+mn-ea"/>
              </a:rPr>
              <a:t>使用</a:t>
            </a:r>
            <a:r>
              <a:rPr lang="en-US" altLang="zh-CN" sz="2800" dirty="0" smtClean="0">
                <a:sym typeface="+mn-ea"/>
              </a:rPr>
              <a:t>k-means</a:t>
            </a:r>
            <a:r>
              <a:rPr lang="zh-CN" altLang="en-US" sz="2800" dirty="0" smtClean="0">
                <a:sym typeface="+mn-ea"/>
              </a:rPr>
              <a:t>算法对下表中的</a:t>
            </a:r>
            <a:r>
              <a:rPr lang="en-US" altLang="zh-CN" sz="2800" dirty="0" smtClean="0">
                <a:sym typeface="+mn-ea"/>
              </a:rPr>
              <a:t>5</a:t>
            </a:r>
            <a:r>
              <a:rPr lang="zh-CN" altLang="en-US" sz="2800" dirty="0" smtClean="0">
                <a:sym typeface="+mn-ea"/>
              </a:rPr>
              <a:t>个样本进行聚类（</a:t>
            </a:r>
            <a:r>
              <a:rPr lang="en-US" altLang="zh-CN" sz="2800" dirty="0" smtClean="0">
                <a:sym typeface="+mn-ea"/>
              </a:rPr>
              <a:t>k=2</a:t>
            </a:r>
            <a:r>
              <a:rPr lang="zh-CN" altLang="en-US" sz="2800" dirty="0" smtClean="0">
                <a:sym typeface="+mn-ea"/>
              </a:rPr>
              <a:t>以及</a:t>
            </a:r>
            <a:r>
              <a:rPr lang="en-US" altLang="zh-CN" sz="2800" dirty="0" smtClean="0">
                <a:sym typeface="+mn-ea"/>
              </a:rPr>
              <a:t>k=3</a:t>
            </a:r>
            <a:r>
              <a:rPr lang="zh-CN" altLang="en-US" sz="2800" dirty="0" smtClean="0">
                <a:sym typeface="+mn-ea"/>
              </a:rPr>
              <a:t>）。</a:t>
            </a:r>
            <a:endParaRPr lang="zh-CN" altLang="en-US" sz="2800" dirty="0"/>
          </a:p>
        </p:txBody>
      </p:sp>
      <p:graphicFrame>
        <p:nvGraphicFramePr>
          <p:cNvPr id="5" name="表格 4"/>
          <p:cNvGraphicFramePr>
            <a:graphicFrameLocks noGrp="1"/>
          </p:cNvGraphicFramePr>
          <p:nvPr>
            <p:custDataLst>
              <p:tags r:id="rId1"/>
            </p:custDataLst>
          </p:nvPr>
        </p:nvGraphicFramePr>
        <p:xfrm>
          <a:off x="3762229" y="3799866"/>
          <a:ext cx="5146139" cy="2225040"/>
        </p:xfrm>
        <a:graphic>
          <a:graphicData uri="http://schemas.openxmlformats.org/drawingml/2006/table">
            <a:tbl>
              <a:tblPr firstRow="1" bandRow="1">
                <a:tableStyleId>{5C22544A-7EE6-4342-B048-85BDC9FD1C3A}</a:tableStyleId>
              </a:tblPr>
              <a:tblGrid>
                <a:gridCol w="1318871"/>
                <a:gridCol w="1293541"/>
                <a:gridCol w="2533727"/>
              </a:tblGrid>
              <a:tr h="370840">
                <a:tc>
                  <a:txBody>
                    <a:bodyPr/>
                    <a:lstStyle/>
                    <a:p>
                      <a:r>
                        <a:rPr lang="zh-CN" altLang="en-US" dirty="0" smtClean="0"/>
                        <a:t>样本编号</a:t>
                      </a:r>
                      <a:endParaRPr lang="zh-CN" altLang="en-US" dirty="0"/>
                    </a:p>
                  </a:txBody>
                  <a:tcPr/>
                </a:tc>
                <a:tc>
                  <a:txBody>
                    <a:bodyPr/>
                    <a:lstStyle/>
                    <a:p>
                      <a:r>
                        <a:rPr lang="zh-CN" altLang="en-US" dirty="0" smtClean="0"/>
                        <a:t>身高（</a:t>
                      </a:r>
                      <a:r>
                        <a:rPr lang="en-US" altLang="zh-CN" dirty="0" smtClean="0"/>
                        <a:t>cm</a:t>
                      </a:r>
                      <a:r>
                        <a:rPr lang="zh-CN" altLang="en-US" dirty="0" smtClean="0"/>
                        <a:t>）</a:t>
                      </a:r>
                      <a:endParaRPr lang="zh-CN" altLang="en-US" dirty="0"/>
                    </a:p>
                  </a:txBody>
                  <a:tcPr/>
                </a:tc>
                <a:tc>
                  <a:txBody>
                    <a:bodyPr/>
                    <a:lstStyle/>
                    <a:p>
                      <a:r>
                        <a:rPr lang="zh-CN" altLang="en-US" dirty="0" smtClean="0"/>
                        <a:t>体重（</a:t>
                      </a:r>
                      <a:r>
                        <a:rPr lang="en-US" altLang="zh-CN" dirty="0" smtClean="0"/>
                        <a:t>kg</a:t>
                      </a:r>
                      <a:r>
                        <a:rPr lang="zh-CN" altLang="en-US" dirty="0" smtClean="0"/>
                        <a:t>）</a:t>
                      </a:r>
                      <a:endParaRPr lang="zh-CN" altLang="en-US" dirty="0"/>
                    </a:p>
                  </a:txBody>
                  <a:tcPr/>
                </a:tc>
              </a:tr>
              <a:tr h="370840">
                <a:tc>
                  <a:txBody>
                    <a:bodyPr/>
                    <a:lstStyle/>
                    <a:p>
                      <a:r>
                        <a:rPr lang="en-US" altLang="zh-CN" dirty="0" smtClean="0"/>
                        <a:t>A</a:t>
                      </a:r>
                      <a:endParaRPr lang="zh-CN" altLang="en-US" dirty="0"/>
                    </a:p>
                  </a:txBody>
                  <a:tcPr/>
                </a:tc>
                <a:tc>
                  <a:txBody>
                    <a:bodyPr/>
                    <a:lstStyle/>
                    <a:p>
                      <a:r>
                        <a:rPr lang="en-US" altLang="zh-CN" dirty="0" smtClean="0"/>
                        <a:t>170</a:t>
                      </a:r>
                      <a:endParaRPr lang="zh-CN" altLang="en-US" dirty="0"/>
                    </a:p>
                  </a:txBody>
                  <a:tcPr/>
                </a:tc>
                <a:tc>
                  <a:txBody>
                    <a:bodyPr/>
                    <a:lstStyle/>
                    <a:p>
                      <a:r>
                        <a:rPr lang="en-US" altLang="zh-CN" dirty="0" smtClean="0"/>
                        <a:t>70</a:t>
                      </a:r>
                      <a:endParaRPr lang="zh-CN" altLang="en-US" dirty="0"/>
                    </a:p>
                  </a:txBody>
                  <a:tcPr/>
                </a:tc>
              </a:tr>
              <a:tr h="370840">
                <a:tc>
                  <a:txBody>
                    <a:bodyPr/>
                    <a:lstStyle/>
                    <a:p>
                      <a:r>
                        <a:rPr lang="en-US" altLang="zh-CN" dirty="0" smtClean="0"/>
                        <a:t>B</a:t>
                      </a:r>
                      <a:endParaRPr lang="zh-CN" altLang="en-US" dirty="0"/>
                    </a:p>
                  </a:txBody>
                  <a:tcPr/>
                </a:tc>
                <a:tc>
                  <a:txBody>
                    <a:bodyPr/>
                    <a:lstStyle/>
                    <a:p>
                      <a:r>
                        <a:rPr lang="en-US" altLang="zh-CN" dirty="0" smtClean="0"/>
                        <a:t>178</a:t>
                      </a:r>
                      <a:endParaRPr lang="zh-CN" altLang="en-US" dirty="0"/>
                    </a:p>
                  </a:txBody>
                  <a:tcPr/>
                </a:tc>
                <a:tc>
                  <a:txBody>
                    <a:bodyPr/>
                    <a:lstStyle/>
                    <a:p>
                      <a:r>
                        <a:rPr lang="en-US" altLang="zh-CN" dirty="0" smtClean="0"/>
                        <a:t>75</a:t>
                      </a:r>
                      <a:endParaRPr lang="zh-CN" altLang="en-US" dirty="0"/>
                    </a:p>
                  </a:txBody>
                  <a:tcPr/>
                </a:tc>
              </a:tr>
              <a:tr h="370840">
                <a:tc>
                  <a:txBody>
                    <a:bodyPr/>
                    <a:lstStyle/>
                    <a:p>
                      <a:r>
                        <a:rPr lang="en-US" altLang="zh-CN" dirty="0" smtClean="0"/>
                        <a:t>C</a:t>
                      </a:r>
                      <a:endParaRPr lang="zh-CN" altLang="en-US" dirty="0"/>
                    </a:p>
                  </a:txBody>
                  <a:tcPr/>
                </a:tc>
                <a:tc>
                  <a:txBody>
                    <a:bodyPr/>
                    <a:lstStyle/>
                    <a:p>
                      <a:r>
                        <a:rPr lang="en-US" altLang="zh-CN" dirty="0" smtClean="0"/>
                        <a:t>100</a:t>
                      </a:r>
                      <a:endParaRPr lang="zh-CN" altLang="en-US" dirty="0"/>
                    </a:p>
                  </a:txBody>
                  <a:tcPr/>
                </a:tc>
                <a:tc>
                  <a:txBody>
                    <a:bodyPr/>
                    <a:lstStyle/>
                    <a:p>
                      <a:r>
                        <a:rPr lang="en-US" altLang="zh-CN" dirty="0" smtClean="0"/>
                        <a:t>100</a:t>
                      </a:r>
                      <a:endParaRPr lang="zh-CN" altLang="en-US" dirty="0"/>
                    </a:p>
                  </a:txBody>
                  <a:tcPr/>
                </a:tc>
              </a:tr>
              <a:tr h="370840">
                <a:tc>
                  <a:txBody>
                    <a:bodyPr/>
                    <a:lstStyle/>
                    <a:p>
                      <a:r>
                        <a:rPr lang="en-US" altLang="zh-CN" dirty="0" smtClean="0"/>
                        <a:t>D</a:t>
                      </a:r>
                      <a:endParaRPr lang="zh-CN" altLang="en-US" dirty="0"/>
                    </a:p>
                  </a:txBody>
                  <a:tcPr/>
                </a:tc>
                <a:tc>
                  <a:txBody>
                    <a:bodyPr/>
                    <a:lstStyle/>
                    <a:p>
                      <a:r>
                        <a:rPr lang="en-US" altLang="zh-CN" dirty="0" smtClean="0"/>
                        <a:t>120</a:t>
                      </a:r>
                      <a:endParaRPr lang="zh-CN" altLang="en-US" dirty="0"/>
                    </a:p>
                  </a:txBody>
                  <a:tcPr/>
                </a:tc>
                <a:tc>
                  <a:txBody>
                    <a:bodyPr/>
                    <a:lstStyle/>
                    <a:p>
                      <a:r>
                        <a:rPr lang="en-US" altLang="zh-CN" dirty="0" smtClean="0"/>
                        <a:t>40</a:t>
                      </a:r>
                      <a:endParaRPr lang="zh-CN" altLang="en-US" dirty="0"/>
                    </a:p>
                  </a:txBody>
                  <a:tcPr/>
                </a:tc>
              </a:tr>
              <a:tr h="370840">
                <a:tc>
                  <a:txBody>
                    <a:bodyPr/>
                    <a:lstStyle/>
                    <a:p>
                      <a:r>
                        <a:rPr lang="en-US" altLang="zh-CN" dirty="0" smtClean="0"/>
                        <a:t>E</a:t>
                      </a:r>
                      <a:endParaRPr lang="zh-CN" altLang="en-US" dirty="0"/>
                    </a:p>
                  </a:txBody>
                  <a:tcPr/>
                </a:tc>
                <a:tc>
                  <a:txBody>
                    <a:bodyPr/>
                    <a:lstStyle/>
                    <a:p>
                      <a:r>
                        <a:rPr lang="en-US" altLang="zh-CN" dirty="0" smtClean="0"/>
                        <a:t>10</a:t>
                      </a:r>
                      <a:endParaRPr lang="zh-CN" altLang="en-US" dirty="0"/>
                    </a:p>
                  </a:txBody>
                  <a:tcPr/>
                </a:tc>
                <a:tc>
                  <a:txBody>
                    <a:bodyPr/>
                    <a:lstStyle/>
                    <a:p>
                      <a:r>
                        <a:rPr lang="en-US" altLang="zh-CN" dirty="0" smtClean="0"/>
                        <a:t>0.1</a:t>
                      </a:r>
                      <a:endParaRPr lang="zh-CN" altLang="en-US" dirty="0"/>
                    </a:p>
                  </a:txBody>
                  <a:tcPr/>
                </a:tc>
              </a:tr>
            </a:tbl>
          </a:graphicData>
        </a:graphic>
      </p:graphicFrame>
      <p:sp>
        <p:nvSpPr>
          <p:cNvPr id="2" name="标题 1"/>
          <p:cNvSpPr>
            <a:spLocks noGrp="1"/>
          </p:cNvSpPr>
          <p:nvPr/>
        </p:nvSpPr>
        <p:spPr>
          <a:xfrm>
            <a:off x="1140789" y="388303"/>
            <a:ext cx="8015583" cy="534035"/>
          </a:xfrm>
          <a:prstGeom prst="rect">
            <a:avLst/>
          </a:prstGeom>
          <a:noFill/>
        </p:spPr>
        <p:txBody>
          <a:bodyPr wrap="square" rtlCol="0" anchor="ctr" anchorCtr="0">
            <a:spAutoFit/>
          </a:bodyPr>
          <a:lstStyle>
            <a:lvl1pPr algn="l" defTabSz="914400" rtl="0" eaLnBrk="1" latinLnBrk="0" hangingPunct="1">
              <a:lnSpc>
                <a:spcPct val="90000"/>
              </a:lnSpc>
              <a:spcBef>
                <a:spcPct val="0"/>
              </a:spcBef>
              <a:buNone/>
              <a:defRPr lang="zh-CN" altLang="en-US" sz="3200" b="1" kern="1200">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r>
              <a:rPr lang="zh-CN" altLang="en-US" dirty="0" smtClean="0"/>
              <a:t>练习</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err="1">
                <a:latin typeface="Cambria" panose="02040503050406030204" pitchFamily="18" charset="0"/>
                <a:ea typeface="Cambria" panose="02040503050406030204" pitchFamily="18" charset="0"/>
              </a:rPr>
              <a:t>sklearn</a:t>
            </a:r>
            <a:r>
              <a:rPr lang="zh-CN" altLang="zh-CN" dirty="0">
                <a:latin typeface="Cambria" panose="02040503050406030204" pitchFamily="18" charset="0"/>
              </a:rPr>
              <a:t>中的</a:t>
            </a:r>
            <a:r>
              <a:rPr lang="en-US" altLang="zh-CN" i="1" dirty="0">
                <a:latin typeface="Cambria" panose="02040503050406030204" pitchFamily="18" charset="0"/>
                <a:ea typeface="Cambria" panose="02040503050406030204" pitchFamily="18" charset="0"/>
              </a:rPr>
              <a:t>k</a:t>
            </a:r>
            <a:r>
              <a:rPr lang="en-US" altLang="zh-CN" dirty="0">
                <a:latin typeface="Cambria" panose="02040503050406030204" pitchFamily="18" charset="0"/>
                <a:ea typeface="Cambria" panose="02040503050406030204" pitchFamily="18" charset="0"/>
              </a:rPr>
              <a:t>-Means</a:t>
            </a:r>
            <a:r>
              <a:rPr lang="zh-CN" altLang="zh-CN" dirty="0">
                <a:latin typeface="Cambria" panose="02040503050406030204" pitchFamily="18" charset="0"/>
              </a:rPr>
              <a:t>方法</a:t>
            </a:r>
            <a:endParaRPr lang="zh-CN" altLang="en-US" dirty="0">
              <a:latin typeface="Cambria" panose="02040503050406030204" pitchFamily="18" charset="0"/>
            </a:endParaRPr>
          </a:p>
        </p:txBody>
      </p:sp>
      <p:sp>
        <p:nvSpPr>
          <p:cNvPr id="18" name="矩形 17"/>
          <p:cNvSpPr/>
          <p:nvPr/>
        </p:nvSpPr>
        <p:spPr>
          <a:xfrm>
            <a:off x="661129" y="1331636"/>
            <a:ext cx="10752384" cy="115212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20" name="内容占位符 2"/>
          <p:cNvSpPr txBox="1"/>
          <p:nvPr/>
        </p:nvSpPr>
        <p:spPr>
          <a:xfrm>
            <a:off x="1132987" y="1779742"/>
            <a:ext cx="10280526" cy="3665483"/>
          </a:xfrm>
          <a:prstGeom prst="rect">
            <a:avLst/>
          </a:prstGeom>
        </p:spPr>
        <p:txBody>
          <a:bodyPr vert="horz" lIns="91440" tIns="45720" rIns="91440" bIns="45720" rtlCol="0" anchor="ctr">
            <a:norm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endParaRPr lang="zh-CN" altLang="zh-CN" sz="1800" dirty="0">
              <a:latin typeface="Cambria" panose="02040503050406030204" pitchFamily="18" charset="0"/>
            </a:endParaRPr>
          </a:p>
        </p:txBody>
      </p:sp>
      <p:sp>
        <p:nvSpPr>
          <p:cNvPr id="7" name="文本框 6"/>
          <p:cNvSpPr txBox="1"/>
          <p:nvPr/>
        </p:nvSpPr>
        <p:spPr>
          <a:xfrm>
            <a:off x="749754" y="1361465"/>
            <a:ext cx="10575134" cy="1200329"/>
          </a:xfrm>
          <a:prstGeom prst="rect">
            <a:avLst/>
          </a:prstGeom>
          <a:noFill/>
        </p:spPr>
        <p:txBody>
          <a:bodyPr wrap="square" rtlCol="0">
            <a:spAutoFit/>
          </a:bodyPr>
          <a:lstStyle/>
          <a:p>
            <a:r>
              <a:rPr lang="en-US" altLang="zh-CN" sz="2400" dirty="0">
                <a:latin typeface="Cambria" panose="02040503050406030204" pitchFamily="18" charset="0"/>
                <a:ea typeface="Cambria" panose="02040503050406030204" pitchFamily="18" charset="0"/>
              </a:rPr>
              <a:t>class </a:t>
            </a:r>
            <a:r>
              <a:rPr lang="en-US" altLang="zh-CN" sz="2400" dirty="0" err="1">
                <a:latin typeface="Cambria" panose="02040503050406030204" pitchFamily="18" charset="0"/>
                <a:ea typeface="Cambria" panose="02040503050406030204" pitchFamily="18" charset="0"/>
              </a:rPr>
              <a:t>sklearn.cluster.KMeans</a:t>
            </a:r>
            <a:r>
              <a:rPr lang="en-US" altLang="zh-CN" sz="2400" dirty="0">
                <a:latin typeface="Cambria" panose="02040503050406030204" pitchFamily="18" charset="0"/>
                <a:ea typeface="Cambria" panose="02040503050406030204" pitchFamily="18" charset="0"/>
              </a:rPr>
              <a:t>(</a:t>
            </a:r>
            <a:r>
              <a:rPr lang="en-US" altLang="zh-CN" sz="2400" dirty="0" err="1">
                <a:latin typeface="Cambria" panose="02040503050406030204" pitchFamily="18" charset="0"/>
                <a:ea typeface="Cambria" panose="02040503050406030204" pitchFamily="18" charset="0"/>
              </a:rPr>
              <a:t>n_clusters</a:t>
            </a:r>
            <a:r>
              <a:rPr lang="en-US" altLang="zh-CN" sz="2400" dirty="0">
                <a:latin typeface="Cambria" panose="02040503050406030204" pitchFamily="18" charset="0"/>
                <a:ea typeface="Cambria" panose="02040503050406030204" pitchFamily="18" charset="0"/>
              </a:rPr>
              <a:t>=8, </a:t>
            </a:r>
            <a:r>
              <a:rPr lang="en-US" altLang="zh-CN" sz="2400" dirty="0" err="1">
                <a:latin typeface="Cambria" panose="02040503050406030204" pitchFamily="18" charset="0"/>
                <a:ea typeface="Cambria" panose="02040503050406030204" pitchFamily="18" charset="0"/>
              </a:rPr>
              <a:t>init</a:t>
            </a:r>
            <a:r>
              <a:rPr lang="en-US" altLang="zh-CN" sz="2400" dirty="0">
                <a:latin typeface="Cambria" panose="02040503050406030204" pitchFamily="18" charset="0"/>
                <a:ea typeface="Cambria" panose="02040503050406030204" pitchFamily="18" charset="0"/>
              </a:rPr>
              <a:t>=</a:t>
            </a:r>
            <a:r>
              <a:rPr lang="en-US" altLang="zh-CN" sz="2400" dirty="0" smtClean="0">
                <a:latin typeface="Cambria" panose="02040503050406030204" pitchFamily="18" charset="0"/>
                <a:ea typeface="Cambria" panose="02040503050406030204" pitchFamily="18" charset="0"/>
              </a:rPr>
              <a:t>’k-means</a:t>
            </a:r>
            <a:r>
              <a:rPr lang="en-US" altLang="zh-CN" sz="2400" dirty="0">
                <a:latin typeface="Cambria" panose="02040503050406030204" pitchFamily="18" charset="0"/>
                <a:ea typeface="Cambria" panose="02040503050406030204" pitchFamily="18" charset="0"/>
              </a:rPr>
              <a:t>++’, </a:t>
            </a:r>
            <a:r>
              <a:rPr lang="en-US" altLang="zh-CN" sz="2400" dirty="0" err="1">
                <a:latin typeface="Cambria" panose="02040503050406030204" pitchFamily="18" charset="0"/>
                <a:ea typeface="Cambria" panose="02040503050406030204" pitchFamily="18" charset="0"/>
              </a:rPr>
              <a:t>n_init</a:t>
            </a:r>
            <a:r>
              <a:rPr lang="en-US" altLang="zh-CN" sz="2400" dirty="0">
                <a:latin typeface="Cambria" panose="02040503050406030204" pitchFamily="18" charset="0"/>
                <a:ea typeface="Cambria" panose="02040503050406030204" pitchFamily="18" charset="0"/>
              </a:rPr>
              <a:t>=10, </a:t>
            </a:r>
            <a:r>
              <a:rPr lang="en-US" altLang="zh-CN" sz="2400" dirty="0" err="1">
                <a:latin typeface="Cambria" panose="02040503050406030204" pitchFamily="18" charset="0"/>
                <a:ea typeface="Cambria" panose="02040503050406030204" pitchFamily="18" charset="0"/>
              </a:rPr>
              <a:t>max_iter</a:t>
            </a:r>
            <a:r>
              <a:rPr lang="en-US" altLang="zh-CN" sz="2400" dirty="0">
                <a:latin typeface="Cambria" panose="02040503050406030204" pitchFamily="18" charset="0"/>
                <a:ea typeface="Cambria" panose="02040503050406030204" pitchFamily="18" charset="0"/>
              </a:rPr>
              <a:t>=300, </a:t>
            </a:r>
            <a:r>
              <a:rPr lang="en-US" altLang="zh-CN" sz="2400" dirty="0" err="1">
                <a:latin typeface="Cambria" panose="02040503050406030204" pitchFamily="18" charset="0"/>
                <a:ea typeface="Cambria" panose="02040503050406030204" pitchFamily="18" charset="0"/>
              </a:rPr>
              <a:t>tol</a:t>
            </a:r>
            <a:r>
              <a:rPr lang="en-US" altLang="zh-CN" sz="2400" dirty="0">
                <a:latin typeface="Cambria" panose="02040503050406030204" pitchFamily="18" charset="0"/>
                <a:ea typeface="Cambria" panose="02040503050406030204" pitchFamily="18" charset="0"/>
              </a:rPr>
              <a:t>=0.0001, </a:t>
            </a:r>
            <a:r>
              <a:rPr lang="en-US" altLang="zh-CN" sz="2400" dirty="0" err="1">
                <a:latin typeface="Cambria" panose="02040503050406030204" pitchFamily="18" charset="0"/>
                <a:ea typeface="Cambria" panose="02040503050406030204" pitchFamily="18" charset="0"/>
              </a:rPr>
              <a:t>precompute_distances</a:t>
            </a:r>
            <a:r>
              <a:rPr lang="en-US" altLang="zh-CN" sz="2400" dirty="0">
                <a:latin typeface="Cambria" panose="02040503050406030204" pitchFamily="18" charset="0"/>
                <a:ea typeface="Cambria" panose="02040503050406030204" pitchFamily="18" charset="0"/>
              </a:rPr>
              <a:t>=’auto’, verbose=0, </a:t>
            </a:r>
            <a:r>
              <a:rPr lang="en-US" altLang="zh-CN" sz="2400" dirty="0" err="1">
                <a:latin typeface="Cambria" panose="02040503050406030204" pitchFamily="18" charset="0"/>
                <a:ea typeface="Cambria" panose="02040503050406030204" pitchFamily="18" charset="0"/>
              </a:rPr>
              <a:t>random_state</a:t>
            </a:r>
            <a:r>
              <a:rPr lang="en-US" altLang="zh-CN" sz="2400" dirty="0">
                <a:latin typeface="Cambria" panose="02040503050406030204" pitchFamily="18" charset="0"/>
                <a:ea typeface="Cambria" panose="02040503050406030204" pitchFamily="18" charset="0"/>
              </a:rPr>
              <a:t>=None, </a:t>
            </a:r>
            <a:r>
              <a:rPr lang="en-US" altLang="zh-CN" sz="2400" dirty="0" err="1">
                <a:latin typeface="Cambria" panose="02040503050406030204" pitchFamily="18" charset="0"/>
                <a:ea typeface="Cambria" panose="02040503050406030204" pitchFamily="18" charset="0"/>
              </a:rPr>
              <a:t>copy_x</a:t>
            </a:r>
            <a:r>
              <a:rPr lang="en-US" altLang="zh-CN" sz="2400" dirty="0">
                <a:latin typeface="Cambria" panose="02040503050406030204" pitchFamily="18" charset="0"/>
                <a:ea typeface="Cambria" panose="02040503050406030204" pitchFamily="18" charset="0"/>
              </a:rPr>
              <a:t>=True, </a:t>
            </a:r>
            <a:r>
              <a:rPr lang="en-US" altLang="zh-CN" sz="2400" dirty="0" err="1">
                <a:latin typeface="Cambria" panose="02040503050406030204" pitchFamily="18" charset="0"/>
                <a:ea typeface="Cambria" panose="02040503050406030204" pitchFamily="18" charset="0"/>
              </a:rPr>
              <a:t>n_jobs</a:t>
            </a:r>
            <a:r>
              <a:rPr lang="en-US" altLang="zh-CN" sz="2400" dirty="0">
                <a:latin typeface="Cambria" panose="02040503050406030204" pitchFamily="18" charset="0"/>
                <a:ea typeface="Cambria" panose="02040503050406030204" pitchFamily="18" charset="0"/>
              </a:rPr>
              <a:t>=1, algorithm=’auto’)</a:t>
            </a:r>
            <a:endParaRPr lang="zh-CN" altLang="zh-CN" sz="2400" dirty="0">
              <a:latin typeface="Cambria" panose="02040503050406030204" pitchFamily="18" charset="0"/>
            </a:endParaRPr>
          </a:p>
        </p:txBody>
      </p:sp>
      <p:sp>
        <p:nvSpPr>
          <p:cNvPr id="4" name="文本框 3"/>
          <p:cNvSpPr txBox="1"/>
          <p:nvPr/>
        </p:nvSpPr>
        <p:spPr>
          <a:xfrm>
            <a:off x="873001" y="781308"/>
            <a:ext cx="9482900" cy="535531"/>
          </a:xfrm>
          <a:prstGeom prst="rect">
            <a:avLst/>
          </a:prstGeom>
          <a:noFill/>
        </p:spPr>
        <p:txBody>
          <a:bodyPr wrap="square" rtlCol="0">
            <a:spAutoFit/>
          </a:bodyPr>
          <a:lstStyle/>
          <a:p>
            <a:pPr marL="285750" indent="-285750" defTabSz="457200">
              <a:lnSpc>
                <a:spcPct val="120000"/>
              </a:lnSpc>
              <a:spcBef>
                <a:spcPct val="20000"/>
              </a:spcBef>
              <a:spcAft>
                <a:spcPts val="600"/>
              </a:spcAft>
              <a:buClr>
                <a:srgbClr val="83AA67"/>
              </a:buClr>
              <a:buSzPct val="100000"/>
              <a:buFont typeface="Wingdings" panose="05000000000000000000" pitchFamily="2" charset="2"/>
              <a:buChar char="n"/>
            </a:pPr>
            <a:r>
              <a:rPr lang="en-US" altLang="zh-CN" sz="2400" dirty="0" err="1">
                <a:latin typeface="Cambria" panose="02040503050406030204" pitchFamily="18" charset="0"/>
                <a:ea typeface="Cambria" panose="02040503050406030204" pitchFamily="18" charset="0"/>
              </a:rPr>
              <a:t>scikit</a:t>
            </a:r>
            <a:r>
              <a:rPr lang="en-US" altLang="zh-CN" sz="2400" dirty="0">
                <a:latin typeface="Cambria" panose="02040503050406030204" pitchFamily="18" charset="0"/>
                <a:ea typeface="Cambria" panose="02040503050406030204" pitchFamily="18" charset="0"/>
              </a:rPr>
              <a:t>-learn</a:t>
            </a:r>
            <a:r>
              <a:rPr lang="zh-CN" altLang="zh-CN" sz="2400" dirty="0">
                <a:latin typeface="Cambria" panose="02040503050406030204" pitchFamily="18" charset="0"/>
              </a:rPr>
              <a:t>模块提供</a:t>
            </a:r>
            <a:r>
              <a:rPr lang="zh-CN" altLang="zh-CN" sz="2400" dirty="0" smtClean="0">
                <a:latin typeface="Cambria" panose="02040503050406030204" pitchFamily="18" charset="0"/>
              </a:rPr>
              <a:t>了</a:t>
            </a:r>
            <a:r>
              <a:rPr lang="en-US" altLang="zh-CN" sz="2400" i="1" dirty="0" smtClean="0">
                <a:latin typeface="Cambria" panose="02040503050406030204" pitchFamily="18" charset="0"/>
                <a:ea typeface="Cambria" panose="02040503050406030204" pitchFamily="18" charset="0"/>
              </a:rPr>
              <a:t>k</a:t>
            </a:r>
            <a:r>
              <a:rPr lang="en-US" altLang="zh-CN" sz="2400" dirty="0" smtClean="0">
                <a:latin typeface="Cambria" panose="02040503050406030204" pitchFamily="18" charset="0"/>
                <a:ea typeface="Cambria" panose="02040503050406030204" pitchFamily="18" charset="0"/>
              </a:rPr>
              <a:t>-Means</a:t>
            </a:r>
            <a:r>
              <a:rPr lang="zh-CN" altLang="zh-CN" sz="2400" dirty="0">
                <a:latin typeface="Cambria" panose="02040503050406030204" pitchFamily="18" charset="0"/>
              </a:rPr>
              <a:t>聚类方法，原型为：</a:t>
            </a:r>
            <a:endParaRPr lang="zh-CN" altLang="en-US" sz="2400" dirty="0">
              <a:latin typeface="Cambria" panose="02040503050406030204" pitchFamily="18" charset="0"/>
            </a:endParaRPr>
          </a:p>
        </p:txBody>
      </p:sp>
      <p:sp>
        <p:nvSpPr>
          <p:cNvPr id="16" name="文本框 15"/>
          <p:cNvSpPr txBox="1"/>
          <p:nvPr/>
        </p:nvSpPr>
        <p:spPr>
          <a:xfrm>
            <a:off x="749753" y="2679349"/>
            <a:ext cx="10758305" cy="3271665"/>
          </a:xfrm>
          <a:prstGeom prst="rect">
            <a:avLst/>
          </a:prstGeom>
          <a:noFill/>
        </p:spPr>
        <p:txBody>
          <a:bodyPr wrap="square" rtlCol="0">
            <a:spAutoFit/>
          </a:bodyPr>
          <a:lstStyle/>
          <a:p>
            <a:pPr marL="285750" indent="-285750" defTabSz="457200">
              <a:lnSpc>
                <a:spcPct val="120000"/>
              </a:lnSpc>
              <a:spcBef>
                <a:spcPct val="20000"/>
              </a:spcBef>
              <a:spcAft>
                <a:spcPts val="600"/>
              </a:spcAft>
              <a:buClr>
                <a:srgbClr val="83AA67"/>
              </a:buClr>
              <a:buSzPct val="100000"/>
              <a:buFont typeface="Wingdings" panose="05000000000000000000" pitchFamily="2" charset="2"/>
              <a:buChar char="n"/>
            </a:pPr>
            <a:r>
              <a:rPr lang="zh-CN" altLang="en-US" sz="2400" dirty="0" smtClean="0">
                <a:latin typeface="Cambria" panose="02040503050406030204" pitchFamily="18" charset="0"/>
              </a:rPr>
              <a:t>主要参数包括：</a:t>
            </a:r>
            <a:endParaRPr lang="en-US" altLang="zh-CN" sz="2400" dirty="0" smtClean="0">
              <a:latin typeface="Cambria" panose="02040503050406030204" pitchFamily="18" charset="0"/>
              <a:ea typeface="Cambria" panose="02040503050406030204" pitchFamily="18" charset="0"/>
            </a:endParaRPr>
          </a:p>
          <a:p>
            <a:pPr marL="742950" lvl="1" indent="-285750">
              <a:lnSpc>
                <a:spcPct val="120000"/>
              </a:lnSpc>
              <a:buClr>
                <a:schemeClr val="accent2"/>
              </a:buClr>
              <a:buSzPct val="144000"/>
              <a:buFont typeface="Arial" panose="020B0604020202020204" pitchFamily="34" charset="0"/>
              <a:buChar char="•"/>
            </a:pPr>
            <a:r>
              <a:rPr lang="en-US" altLang="zh-CN" sz="2400" dirty="0" err="1">
                <a:latin typeface="Cambria" panose="02040503050406030204" pitchFamily="18" charset="0"/>
                <a:ea typeface="Cambria" panose="02040503050406030204" pitchFamily="18" charset="0"/>
              </a:rPr>
              <a:t>n_clusters</a:t>
            </a:r>
            <a:r>
              <a:rPr lang="zh-CN" altLang="zh-CN" sz="2400" dirty="0">
                <a:latin typeface="Cambria" panose="02040503050406030204" pitchFamily="18" charset="0"/>
              </a:rPr>
              <a:t>：整型，可选，默认参数值为</a:t>
            </a:r>
            <a:r>
              <a:rPr lang="en-US" altLang="zh-CN" sz="2400" dirty="0">
                <a:latin typeface="Cambria" panose="02040503050406030204" pitchFamily="18" charset="0"/>
                <a:ea typeface="Cambria" panose="02040503050406030204" pitchFamily="18" charset="0"/>
              </a:rPr>
              <a:t>8</a:t>
            </a:r>
            <a:r>
              <a:rPr lang="zh-CN" altLang="zh-CN" sz="2400" dirty="0">
                <a:latin typeface="Cambria" panose="02040503050406030204" pitchFamily="18" charset="0"/>
              </a:rPr>
              <a:t>，聚类数量。</a:t>
            </a:r>
            <a:endParaRPr lang="zh-CN" altLang="zh-CN" sz="2400" dirty="0">
              <a:latin typeface="Cambria" panose="02040503050406030204" pitchFamily="18" charset="0"/>
            </a:endParaRPr>
          </a:p>
          <a:p>
            <a:pPr marL="742950" lvl="1" indent="-285750">
              <a:lnSpc>
                <a:spcPct val="120000"/>
              </a:lnSpc>
              <a:buClr>
                <a:schemeClr val="accent2"/>
              </a:buClr>
              <a:buSzPct val="144000"/>
              <a:buFont typeface="Arial" panose="020B0604020202020204" pitchFamily="34" charset="0"/>
              <a:buChar char="•"/>
            </a:pPr>
            <a:r>
              <a:rPr lang="en-US" altLang="zh-CN" sz="2400" dirty="0" err="1">
                <a:latin typeface="Cambria" panose="02040503050406030204" pitchFamily="18" charset="0"/>
                <a:ea typeface="Cambria" panose="02040503050406030204" pitchFamily="18" charset="0"/>
              </a:rPr>
              <a:t>init</a:t>
            </a:r>
            <a:r>
              <a:rPr lang="zh-CN" altLang="zh-CN" sz="2400" dirty="0" smtClean="0">
                <a:latin typeface="Cambria" panose="02040503050406030204" pitchFamily="18" charset="0"/>
              </a:rPr>
              <a:t>：</a:t>
            </a:r>
            <a:r>
              <a:rPr lang="en-US" altLang="zh-CN" sz="2400" dirty="0" smtClean="0">
                <a:latin typeface="Cambria" panose="02040503050406030204" pitchFamily="18" charset="0"/>
                <a:ea typeface="Cambria" panose="02040503050406030204" pitchFamily="18" charset="0"/>
              </a:rPr>
              <a:t>‘k-means</a:t>
            </a:r>
            <a:r>
              <a:rPr lang="en-US" altLang="zh-CN" sz="2400" dirty="0">
                <a:latin typeface="Cambria" panose="02040503050406030204" pitchFamily="18" charset="0"/>
                <a:ea typeface="Cambria" panose="02040503050406030204" pitchFamily="18" charset="0"/>
              </a:rPr>
              <a:t>++’</a:t>
            </a:r>
            <a:r>
              <a:rPr lang="zh-CN" altLang="zh-CN" sz="2400" dirty="0">
                <a:latin typeface="Cambria" panose="02040503050406030204" pitchFamily="18" charset="0"/>
              </a:rPr>
              <a:t>，</a:t>
            </a:r>
            <a:r>
              <a:rPr lang="en-US" altLang="zh-CN" sz="2400" dirty="0">
                <a:latin typeface="Cambria" panose="02040503050406030204" pitchFamily="18" charset="0"/>
                <a:ea typeface="Cambria" panose="02040503050406030204" pitchFamily="18" charset="0"/>
              </a:rPr>
              <a:t>‘random’</a:t>
            </a:r>
            <a:r>
              <a:rPr lang="zh-CN" altLang="zh-CN" sz="2400" dirty="0">
                <a:latin typeface="Cambria" panose="02040503050406030204" pitchFamily="18" charset="0"/>
              </a:rPr>
              <a:t>或者</a:t>
            </a:r>
            <a:r>
              <a:rPr lang="en-US" altLang="zh-CN" sz="2400" dirty="0" err="1">
                <a:latin typeface="Cambria" panose="02040503050406030204" pitchFamily="18" charset="0"/>
                <a:ea typeface="Cambria" panose="02040503050406030204" pitchFamily="18" charset="0"/>
              </a:rPr>
              <a:t>ndarray</a:t>
            </a:r>
            <a:r>
              <a:rPr lang="zh-CN" altLang="zh-CN" sz="2400" dirty="0">
                <a:latin typeface="Cambria" panose="02040503050406030204" pitchFamily="18" charset="0"/>
              </a:rPr>
              <a:t>之一，</a:t>
            </a:r>
            <a:r>
              <a:rPr lang="zh-CN" altLang="zh-CN" sz="2400" dirty="0" smtClean="0">
                <a:latin typeface="Cambria" panose="02040503050406030204" pitchFamily="18" charset="0"/>
              </a:rPr>
              <a:t>默认为</a:t>
            </a:r>
            <a:r>
              <a:rPr lang="en-US" altLang="zh-CN" sz="2400" dirty="0" smtClean="0">
                <a:latin typeface="Cambria" panose="02040503050406030204" pitchFamily="18" charset="0"/>
                <a:ea typeface="Cambria" panose="02040503050406030204" pitchFamily="18" charset="0"/>
              </a:rPr>
              <a:t>’k-means</a:t>
            </a:r>
            <a:r>
              <a:rPr lang="en-US" altLang="zh-CN" sz="2400" dirty="0">
                <a:latin typeface="Cambria" panose="02040503050406030204" pitchFamily="18" charset="0"/>
                <a:ea typeface="Cambria" panose="02040503050406030204" pitchFamily="18" charset="0"/>
              </a:rPr>
              <a:t>++’</a:t>
            </a:r>
            <a:r>
              <a:rPr lang="zh-CN" altLang="zh-CN" sz="2400" dirty="0">
                <a:latin typeface="Cambria" panose="02040503050406030204" pitchFamily="18" charset="0"/>
              </a:rPr>
              <a:t>。 </a:t>
            </a:r>
            <a:endParaRPr lang="zh-CN" altLang="zh-CN" sz="2400" dirty="0">
              <a:latin typeface="Cambria" panose="02040503050406030204" pitchFamily="18" charset="0"/>
            </a:endParaRPr>
          </a:p>
          <a:p>
            <a:pPr marL="1200150" lvl="2" indent="-285750">
              <a:lnSpc>
                <a:spcPct val="120000"/>
              </a:lnSpc>
              <a:buClr>
                <a:schemeClr val="accent5"/>
              </a:buClr>
              <a:buSzPct val="144000"/>
              <a:buFont typeface="Wingdings" panose="05000000000000000000" pitchFamily="2" charset="2"/>
              <a:buChar char="ü"/>
            </a:pPr>
            <a:r>
              <a:rPr lang="en-US" altLang="zh-CN" sz="2400" dirty="0" smtClean="0">
                <a:latin typeface="Cambria" panose="02040503050406030204" pitchFamily="18" charset="0"/>
                <a:ea typeface="Cambria" panose="02040503050406030204" pitchFamily="18" charset="0"/>
              </a:rPr>
              <a:t>’k-means</a:t>
            </a:r>
            <a:r>
              <a:rPr lang="en-US" altLang="zh-CN" sz="2400" dirty="0">
                <a:latin typeface="Cambria" panose="02040503050406030204" pitchFamily="18" charset="0"/>
                <a:ea typeface="Cambria" panose="02040503050406030204" pitchFamily="18" charset="0"/>
              </a:rPr>
              <a:t>++’</a:t>
            </a:r>
            <a:r>
              <a:rPr lang="zh-CN" altLang="zh-CN" sz="2400" dirty="0">
                <a:latin typeface="Cambria" panose="02040503050406030204" pitchFamily="18" charset="0"/>
              </a:rPr>
              <a:t>： 以一种巧妙的方式</a:t>
            </a:r>
            <a:r>
              <a:rPr lang="zh-CN" altLang="zh-CN" sz="2400" dirty="0" smtClean="0">
                <a:latin typeface="Cambria" panose="02040503050406030204" pitchFamily="18" charset="0"/>
              </a:rPr>
              <a:t>选择</a:t>
            </a:r>
            <a:r>
              <a:rPr lang="en-US" altLang="zh-CN" sz="2400" dirty="0" smtClean="0">
                <a:latin typeface="Cambria" panose="02040503050406030204" pitchFamily="18" charset="0"/>
                <a:ea typeface="Cambria" panose="02040503050406030204" pitchFamily="18" charset="0"/>
              </a:rPr>
              <a:t>k-</a:t>
            </a:r>
            <a:r>
              <a:rPr lang="zh-CN" altLang="zh-CN" sz="2400" dirty="0" smtClean="0">
                <a:latin typeface="Cambria" panose="02040503050406030204" pitchFamily="18" charset="0"/>
              </a:rPr>
              <a:t>均值</a:t>
            </a:r>
            <a:r>
              <a:rPr lang="zh-CN" altLang="zh-CN" sz="2400" dirty="0">
                <a:latin typeface="Cambria" panose="02040503050406030204" pitchFamily="18" charset="0"/>
              </a:rPr>
              <a:t>聚类的初始集群中心，以加快收敛速度。</a:t>
            </a:r>
            <a:endParaRPr lang="zh-CN" altLang="zh-CN" sz="2400" dirty="0">
              <a:latin typeface="Cambria" panose="02040503050406030204" pitchFamily="18" charset="0"/>
            </a:endParaRPr>
          </a:p>
          <a:p>
            <a:pPr marL="1200150" lvl="2" indent="-285750">
              <a:lnSpc>
                <a:spcPct val="120000"/>
              </a:lnSpc>
              <a:buClr>
                <a:schemeClr val="accent5"/>
              </a:buClr>
              <a:buSzPct val="144000"/>
              <a:buFont typeface="Wingdings" panose="05000000000000000000" pitchFamily="2" charset="2"/>
              <a:buChar char="ü"/>
            </a:pPr>
            <a:r>
              <a:rPr lang="en-US" altLang="zh-CN" sz="2400" dirty="0">
                <a:latin typeface="Cambria" panose="02040503050406030204" pitchFamily="18" charset="0"/>
                <a:ea typeface="Cambria" panose="02040503050406030204" pitchFamily="18" charset="0"/>
              </a:rPr>
              <a:t>‘random’</a:t>
            </a:r>
            <a:r>
              <a:rPr lang="zh-CN" altLang="zh-CN" sz="2400" dirty="0">
                <a:latin typeface="Cambria" panose="02040503050406030204" pitchFamily="18" charset="0"/>
              </a:rPr>
              <a:t>：从初始质心的数据中随机选取</a:t>
            </a:r>
            <a:r>
              <a:rPr lang="en-US" altLang="zh-CN" sz="2400" dirty="0">
                <a:latin typeface="Cambria" panose="02040503050406030204" pitchFamily="18" charset="0"/>
                <a:ea typeface="Cambria" panose="02040503050406030204" pitchFamily="18" charset="0"/>
              </a:rPr>
              <a:t> k </a:t>
            </a:r>
            <a:r>
              <a:rPr lang="zh-CN" altLang="zh-CN" sz="2400" dirty="0">
                <a:latin typeface="Cambria" panose="02040503050406030204" pitchFamily="18" charset="0"/>
              </a:rPr>
              <a:t>观察</a:t>
            </a:r>
            <a:r>
              <a:rPr lang="en-US" altLang="zh-CN" sz="2400" dirty="0">
                <a:latin typeface="Cambria" panose="02040503050406030204" pitchFamily="18" charset="0"/>
                <a:ea typeface="Cambria" panose="02040503050406030204" pitchFamily="18" charset="0"/>
              </a:rPr>
              <a:t> (</a:t>
            </a:r>
            <a:r>
              <a:rPr lang="zh-CN" altLang="zh-CN" sz="2400" dirty="0">
                <a:latin typeface="Cambria" panose="02040503050406030204" pitchFamily="18" charset="0"/>
              </a:rPr>
              <a:t>行</a:t>
            </a:r>
            <a:r>
              <a:rPr lang="en-US" altLang="zh-CN" sz="2400" dirty="0">
                <a:latin typeface="Cambria" panose="02040503050406030204" pitchFamily="18" charset="0"/>
                <a:ea typeface="Cambria" panose="02040503050406030204" pitchFamily="18" charset="0"/>
              </a:rPr>
              <a:t>)</a:t>
            </a:r>
            <a:r>
              <a:rPr lang="zh-CN" altLang="zh-CN" sz="2400" dirty="0">
                <a:latin typeface="Cambria" panose="02040503050406030204" pitchFamily="18" charset="0"/>
              </a:rPr>
              <a:t>。</a:t>
            </a:r>
            <a:endParaRPr lang="zh-CN" altLang="zh-CN" sz="2400" dirty="0">
              <a:latin typeface="Cambria" panose="02040503050406030204" pitchFamily="18" charset="0"/>
            </a:endParaRPr>
          </a:p>
          <a:p>
            <a:pPr marL="1200150" lvl="2" indent="-285750">
              <a:lnSpc>
                <a:spcPct val="120000"/>
              </a:lnSpc>
              <a:buClr>
                <a:schemeClr val="accent5"/>
              </a:buClr>
              <a:buSzPct val="144000"/>
              <a:buFont typeface="Wingdings" panose="05000000000000000000" pitchFamily="2" charset="2"/>
              <a:buChar char="ü"/>
            </a:pPr>
            <a:r>
              <a:rPr lang="en-US" altLang="zh-CN" sz="2400" dirty="0" err="1">
                <a:latin typeface="Cambria" panose="02040503050406030204" pitchFamily="18" charset="0"/>
                <a:ea typeface="Cambria" panose="02040503050406030204" pitchFamily="18" charset="0"/>
              </a:rPr>
              <a:t>ndarray</a:t>
            </a:r>
            <a:r>
              <a:rPr lang="zh-CN" altLang="zh-CN" sz="2400" dirty="0">
                <a:latin typeface="Cambria" panose="02040503050406030204" pitchFamily="18" charset="0"/>
              </a:rPr>
              <a:t>：给出形状</a:t>
            </a:r>
            <a:r>
              <a:rPr lang="en-US" altLang="zh-CN" sz="2400" dirty="0">
                <a:latin typeface="Cambria" panose="02040503050406030204" pitchFamily="18" charset="0"/>
                <a:ea typeface="Cambria" panose="02040503050406030204" pitchFamily="18" charset="0"/>
              </a:rPr>
              <a:t> (</a:t>
            </a:r>
            <a:r>
              <a:rPr lang="en-US" altLang="zh-CN" sz="2400" dirty="0" err="1">
                <a:latin typeface="Cambria" panose="02040503050406030204" pitchFamily="18" charset="0"/>
                <a:ea typeface="Cambria" panose="02040503050406030204" pitchFamily="18" charset="0"/>
              </a:rPr>
              <a:t>n_clusters</a:t>
            </a:r>
            <a:r>
              <a:rPr lang="en-US" altLang="zh-CN" sz="2400" dirty="0">
                <a:latin typeface="Cambria" panose="02040503050406030204" pitchFamily="18" charset="0"/>
                <a:ea typeface="Cambria" panose="02040503050406030204" pitchFamily="18" charset="0"/>
              </a:rPr>
              <a:t>, </a:t>
            </a:r>
            <a:r>
              <a:rPr lang="en-US" altLang="zh-CN" sz="2400" dirty="0" err="1">
                <a:latin typeface="Cambria" panose="02040503050406030204" pitchFamily="18" charset="0"/>
                <a:ea typeface="Cambria" panose="02040503050406030204" pitchFamily="18" charset="0"/>
              </a:rPr>
              <a:t>n_features</a:t>
            </a:r>
            <a:r>
              <a:rPr lang="en-US" altLang="zh-CN" sz="2400" dirty="0">
                <a:latin typeface="Cambria" panose="02040503050406030204" pitchFamily="18" charset="0"/>
                <a:ea typeface="Cambria" panose="02040503050406030204" pitchFamily="18" charset="0"/>
              </a:rPr>
              <a:t>)</a:t>
            </a:r>
            <a:r>
              <a:rPr lang="zh-CN" altLang="zh-CN" sz="2400" dirty="0">
                <a:latin typeface="Cambria" panose="02040503050406030204" pitchFamily="18" charset="0"/>
              </a:rPr>
              <a:t>的初始中心</a:t>
            </a:r>
            <a:r>
              <a:rPr lang="zh-CN" altLang="zh-CN" sz="2400" dirty="0" smtClean="0">
                <a:latin typeface="Cambria" panose="02040503050406030204" pitchFamily="18" charset="0"/>
              </a:rPr>
              <a:t>。</a:t>
            </a:r>
            <a:endParaRPr lang="zh-CN" altLang="zh-CN" sz="2400"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内容占位符 2"/>
          <p:cNvSpPr txBox="1"/>
          <p:nvPr/>
        </p:nvSpPr>
        <p:spPr>
          <a:xfrm>
            <a:off x="1132987" y="1779742"/>
            <a:ext cx="10280526" cy="3665483"/>
          </a:xfrm>
          <a:prstGeom prst="rect">
            <a:avLst/>
          </a:prstGeom>
        </p:spPr>
        <p:txBody>
          <a:bodyPr vert="horz" lIns="91440" tIns="45720" rIns="91440" bIns="45720" rtlCol="0" anchor="ctr">
            <a:norm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endParaRPr lang="zh-CN" altLang="zh-CN" sz="1800" dirty="0">
              <a:latin typeface="Cambria" panose="02040503050406030204" pitchFamily="18" charset="0"/>
            </a:endParaRPr>
          </a:p>
        </p:txBody>
      </p:sp>
      <p:sp>
        <p:nvSpPr>
          <p:cNvPr id="16" name="文本框 15"/>
          <p:cNvSpPr txBox="1"/>
          <p:nvPr/>
        </p:nvSpPr>
        <p:spPr>
          <a:xfrm>
            <a:off x="434897" y="267051"/>
            <a:ext cx="11206975" cy="6297108"/>
          </a:xfrm>
          <a:prstGeom prst="rect">
            <a:avLst/>
          </a:prstGeom>
          <a:noFill/>
        </p:spPr>
        <p:txBody>
          <a:bodyPr wrap="square" rtlCol="0">
            <a:spAutoFit/>
          </a:bodyPr>
          <a:lstStyle/>
          <a:p>
            <a:pPr marL="742950" lvl="1" indent="-285750">
              <a:lnSpc>
                <a:spcPct val="120000"/>
              </a:lnSpc>
              <a:buClr>
                <a:schemeClr val="accent2"/>
              </a:buClr>
              <a:buSzPct val="144000"/>
              <a:buFont typeface="Arial" panose="020B0604020202020204" pitchFamily="34" charset="0"/>
              <a:buChar char="•"/>
            </a:pPr>
            <a:r>
              <a:rPr lang="en-US" altLang="zh-CN" sz="2400" dirty="0" err="1">
                <a:latin typeface="Cambria" panose="02040503050406030204" pitchFamily="18" charset="0"/>
                <a:ea typeface="Cambria" panose="02040503050406030204" pitchFamily="18" charset="0"/>
              </a:rPr>
              <a:t>n_init</a:t>
            </a:r>
            <a:r>
              <a:rPr lang="zh-CN" altLang="zh-CN" sz="2400" dirty="0">
                <a:latin typeface="Cambria" panose="02040503050406030204" pitchFamily="18" charset="0"/>
              </a:rPr>
              <a:t>：整型，默认参数值为</a:t>
            </a:r>
            <a:r>
              <a:rPr lang="en-US" altLang="zh-CN" sz="2400" dirty="0">
                <a:latin typeface="Cambria" panose="02040503050406030204" pitchFamily="18" charset="0"/>
                <a:ea typeface="Cambria" panose="02040503050406030204" pitchFamily="18" charset="0"/>
              </a:rPr>
              <a:t>10</a:t>
            </a:r>
            <a:r>
              <a:rPr lang="zh-CN" altLang="zh-CN" sz="2400" dirty="0">
                <a:latin typeface="Cambria" panose="02040503050406030204" pitchFamily="18" charset="0"/>
              </a:rPr>
              <a:t>。用不同的初始化质心运行算法的次数。</a:t>
            </a:r>
            <a:r>
              <a:rPr lang="zh-CN" altLang="zh-CN" sz="2400" dirty="0" smtClean="0">
                <a:latin typeface="Cambria" panose="02040503050406030204" pitchFamily="18" charset="0"/>
              </a:rPr>
              <a:t>由于</a:t>
            </a:r>
            <a:r>
              <a:rPr lang="en-US" altLang="zh-CN" sz="2400" i="1" dirty="0" smtClean="0">
                <a:latin typeface="Cambria" panose="02040503050406030204" pitchFamily="18" charset="0"/>
                <a:ea typeface="Cambria" panose="02040503050406030204" pitchFamily="18" charset="0"/>
              </a:rPr>
              <a:t>k</a:t>
            </a:r>
            <a:r>
              <a:rPr lang="en-US" altLang="zh-CN" sz="2400" dirty="0" smtClean="0">
                <a:latin typeface="Cambria" panose="02040503050406030204" pitchFamily="18" charset="0"/>
                <a:ea typeface="Cambria" panose="02040503050406030204" pitchFamily="18" charset="0"/>
              </a:rPr>
              <a:t>-Means</a:t>
            </a:r>
            <a:r>
              <a:rPr lang="zh-CN" altLang="zh-CN" sz="2400" dirty="0">
                <a:latin typeface="Cambria" panose="02040503050406030204" pitchFamily="18" charset="0"/>
              </a:rPr>
              <a:t>是结果受初始值影响的局部最优的迭代算法，因此需要多跑几次以选择一个较好的聚类效果。</a:t>
            </a:r>
            <a:endParaRPr lang="zh-CN" altLang="zh-CN" sz="2400" dirty="0">
              <a:latin typeface="Cambria" panose="02040503050406030204" pitchFamily="18" charset="0"/>
            </a:endParaRPr>
          </a:p>
          <a:p>
            <a:pPr marL="742950" lvl="1" indent="-285750">
              <a:lnSpc>
                <a:spcPct val="120000"/>
              </a:lnSpc>
              <a:buClr>
                <a:schemeClr val="accent2"/>
              </a:buClr>
              <a:buSzPct val="144000"/>
              <a:buFont typeface="Arial" panose="020B0604020202020204" pitchFamily="34" charset="0"/>
              <a:buChar char="•"/>
            </a:pPr>
            <a:r>
              <a:rPr lang="en-US" altLang="zh-CN" sz="2400" dirty="0" err="1">
                <a:latin typeface="Cambria" panose="02040503050406030204" pitchFamily="18" charset="0"/>
                <a:ea typeface="Cambria" panose="02040503050406030204" pitchFamily="18" charset="0"/>
              </a:rPr>
              <a:t>max_iter</a:t>
            </a:r>
            <a:r>
              <a:rPr lang="zh-CN" altLang="zh-CN" sz="2400" dirty="0">
                <a:latin typeface="Cambria" panose="02040503050406030204" pitchFamily="18" charset="0"/>
              </a:rPr>
              <a:t>：整型，默认参数值为</a:t>
            </a:r>
            <a:r>
              <a:rPr lang="en-US" altLang="zh-CN" sz="2400" dirty="0">
                <a:latin typeface="Cambria" panose="02040503050406030204" pitchFamily="18" charset="0"/>
                <a:ea typeface="Cambria" panose="02040503050406030204" pitchFamily="18" charset="0"/>
              </a:rPr>
              <a:t>300</a:t>
            </a:r>
            <a:r>
              <a:rPr lang="zh-CN" altLang="zh-CN" sz="2400" dirty="0">
                <a:latin typeface="Cambria" panose="02040503050406030204" pitchFamily="18" charset="0"/>
              </a:rPr>
              <a:t>，最大的迭代次数。</a:t>
            </a:r>
            <a:endParaRPr lang="zh-CN" altLang="zh-CN" sz="2400" dirty="0">
              <a:latin typeface="Cambria" panose="02040503050406030204" pitchFamily="18" charset="0"/>
            </a:endParaRPr>
          </a:p>
          <a:p>
            <a:pPr marL="742950" lvl="1" indent="-285750">
              <a:lnSpc>
                <a:spcPct val="120000"/>
              </a:lnSpc>
              <a:buClr>
                <a:schemeClr val="accent2"/>
              </a:buClr>
              <a:buSzPct val="144000"/>
              <a:buFont typeface="Arial" panose="020B0604020202020204" pitchFamily="34" charset="0"/>
              <a:buChar char="•"/>
            </a:pPr>
            <a:r>
              <a:rPr lang="en-US" altLang="zh-CN" sz="2400" dirty="0" err="1">
                <a:latin typeface="Cambria" panose="02040503050406030204" pitchFamily="18" charset="0"/>
                <a:ea typeface="Cambria" panose="02040503050406030204" pitchFamily="18" charset="0"/>
              </a:rPr>
              <a:t>tol</a:t>
            </a:r>
            <a:r>
              <a:rPr lang="zh-CN" altLang="zh-CN" sz="2400" dirty="0">
                <a:latin typeface="Cambria" panose="02040503050406030204" pitchFamily="18" charset="0"/>
              </a:rPr>
              <a:t>：浮点型，默认参数值为</a:t>
            </a:r>
            <a:r>
              <a:rPr lang="en-US" altLang="zh-CN" sz="2400" dirty="0">
                <a:latin typeface="Cambria" panose="02040503050406030204" pitchFamily="18" charset="0"/>
                <a:ea typeface="Cambria" panose="02040503050406030204" pitchFamily="18" charset="0"/>
              </a:rPr>
              <a:t>0.0001</a:t>
            </a:r>
            <a:r>
              <a:rPr lang="zh-CN" altLang="zh-CN" sz="2400" dirty="0">
                <a:latin typeface="Cambria" panose="02040503050406030204" pitchFamily="18" charset="0"/>
              </a:rPr>
              <a:t>，最小容忍误差，当误差小于</a:t>
            </a:r>
            <a:r>
              <a:rPr lang="en-US" altLang="zh-CN" sz="2400" dirty="0" err="1">
                <a:latin typeface="Cambria" panose="02040503050406030204" pitchFamily="18" charset="0"/>
                <a:ea typeface="Cambria" panose="02040503050406030204" pitchFamily="18" charset="0"/>
              </a:rPr>
              <a:t>tol</a:t>
            </a:r>
            <a:r>
              <a:rPr lang="zh-CN" altLang="zh-CN" sz="2400" dirty="0">
                <a:latin typeface="Cambria" panose="02040503050406030204" pitchFamily="18" charset="0"/>
              </a:rPr>
              <a:t>就会退出迭代。</a:t>
            </a:r>
            <a:endParaRPr lang="zh-CN" altLang="zh-CN" sz="2400" dirty="0">
              <a:latin typeface="Cambria" panose="02040503050406030204" pitchFamily="18" charset="0"/>
            </a:endParaRPr>
          </a:p>
          <a:p>
            <a:pPr marL="742950" lvl="1" indent="-285750">
              <a:lnSpc>
                <a:spcPct val="120000"/>
              </a:lnSpc>
              <a:buClr>
                <a:schemeClr val="accent2"/>
              </a:buClr>
              <a:buSzPct val="144000"/>
              <a:buFont typeface="Arial" panose="020B0604020202020204" pitchFamily="34" charset="0"/>
              <a:buChar char="•"/>
            </a:pPr>
            <a:r>
              <a:rPr lang="en-US" altLang="zh-CN" sz="2400" dirty="0">
                <a:latin typeface="Cambria" panose="02040503050406030204" pitchFamily="18" charset="0"/>
                <a:ea typeface="Cambria" panose="02040503050406030204" pitchFamily="18" charset="0"/>
              </a:rPr>
              <a:t>algorithm</a:t>
            </a:r>
            <a:r>
              <a:rPr lang="zh-CN" altLang="zh-CN" sz="2400" dirty="0">
                <a:latin typeface="Cambria" panose="02040503050406030204" pitchFamily="18" charset="0"/>
              </a:rPr>
              <a:t>：可以是</a:t>
            </a:r>
            <a:r>
              <a:rPr lang="en-US" altLang="zh-CN" sz="2400" dirty="0">
                <a:latin typeface="Cambria" panose="02040503050406030204" pitchFamily="18" charset="0"/>
                <a:ea typeface="Cambria" panose="02040503050406030204" pitchFamily="18" charset="0"/>
              </a:rPr>
              <a:t>‘auto’</a:t>
            </a:r>
            <a:r>
              <a:rPr lang="zh-CN" altLang="zh-CN" sz="2400" dirty="0">
                <a:latin typeface="Cambria" panose="02040503050406030204" pitchFamily="18" charset="0"/>
              </a:rPr>
              <a:t>，</a:t>
            </a:r>
            <a:r>
              <a:rPr lang="en-US" altLang="zh-CN" sz="2400" dirty="0">
                <a:latin typeface="Cambria" panose="02040503050406030204" pitchFamily="18" charset="0"/>
                <a:ea typeface="Cambria" panose="02040503050406030204" pitchFamily="18" charset="0"/>
              </a:rPr>
              <a:t>‘full’</a:t>
            </a:r>
            <a:r>
              <a:rPr lang="zh-CN" altLang="zh-CN" sz="2400" dirty="0">
                <a:latin typeface="Cambria" panose="02040503050406030204" pitchFamily="18" charset="0"/>
              </a:rPr>
              <a:t>或者</a:t>
            </a:r>
            <a:r>
              <a:rPr lang="en-US" altLang="zh-CN" sz="2400" dirty="0">
                <a:latin typeface="Cambria" panose="02040503050406030204" pitchFamily="18" charset="0"/>
                <a:ea typeface="Cambria" panose="02040503050406030204" pitchFamily="18" charset="0"/>
              </a:rPr>
              <a:t>’</a:t>
            </a:r>
            <a:r>
              <a:rPr lang="en-US" altLang="zh-CN" sz="2400" dirty="0" err="1">
                <a:latin typeface="Cambria" panose="02040503050406030204" pitchFamily="18" charset="0"/>
                <a:ea typeface="Cambria" panose="02040503050406030204" pitchFamily="18" charset="0"/>
              </a:rPr>
              <a:t>elkan</a:t>
            </a:r>
            <a:r>
              <a:rPr lang="en-US" altLang="zh-CN" sz="2400" dirty="0">
                <a:latin typeface="Cambria" panose="02040503050406030204" pitchFamily="18" charset="0"/>
                <a:ea typeface="Cambria" panose="02040503050406030204" pitchFamily="18" charset="0"/>
              </a:rPr>
              <a:t>’</a:t>
            </a:r>
            <a:r>
              <a:rPr lang="zh-CN" altLang="zh-CN" sz="2400" dirty="0">
                <a:latin typeface="Cambria" panose="02040503050406030204" pitchFamily="18" charset="0"/>
              </a:rPr>
              <a:t>之一，默认参数值为</a:t>
            </a:r>
            <a:r>
              <a:rPr lang="en-US" altLang="zh-CN" sz="2400" dirty="0">
                <a:latin typeface="Cambria" panose="02040503050406030204" pitchFamily="18" charset="0"/>
                <a:ea typeface="Cambria" panose="02040503050406030204" pitchFamily="18" charset="0"/>
              </a:rPr>
              <a:t>’auto’</a:t>
            </a:r>
            <a:r>
              <a:rPr lang="zh-CN" altLang="zh-CN" sz="2400" dirty="0">
                <a:latin typeface="Cambria" panose="02040503050406030204" pitchFamily="18" charset="0"/>
              </a:rPr>
              <a:t>。</a:t>
            </a:r>
            <a:r>
              <a:rPr lang="en-US" altLang="zh-CN" sz="2400" dirty="0">
                <a:latin typeface="Cambria" panose="02040503050406030204" pitchFamily="18" charset="0"/>
                <a:ea typeface="Cambria" panose="02040503050406030204" pitchFamily="18" charset="0"/>
              </a:rPr>
              <a:t>’full’</a:t>
            </a:r>
            <a:r>
              <a:rPr lang="zh-CN" altLang="zh-CN" sz="2400" dirty="0">
                <a:latin typeface="Cambria" panose="02040503050406030204" pitchFamily="18" charset="0"/>
              </a:rPr>
              <a:t>适合于</a:t>
            </a:r>
            <a:r>
              <a:rPr lang="en-US" altLang="zh-CN" sz="2400" dirty="0">
                <a:latin typeface="Cambria" panose="02040503050406030204" pitchFamily="18" charset="0"/>
                <a:ea typeface="Cambria" panose="02040503050406030204" pitchFamily="18" charset="0"/>
              </a:rPr>
              <a:t>EM</a:t>
            </a:r>
            <a:r>
              <a:rPr lang="zh-CN" altLang="zh-CN" sz="2400" dirty="0">
                <a:latin typeface="Cambria" panose="02040503050406030204" pitchFamily="18" charset="0"/>
              </a:rPr>
              <a:t>类算法；</a:t>
            </a:r>
            <a:r>
              <a:rPr lang="en-US" altLang="zh-CN" sz="2400" dirty="0">
                <a:latin typeface="Cambria" panose="02040503050406030204" pitchFamily="18" charset="0"/>
                <a:ea typeface="Cambria" panose="02040503050406030204" pitchFamily="18" charset="0"/>
              </a:rPr>
              <a:t>’</a:t>
            </a:r>
            <a:r>
              <a:rPr lang="en-US" altLang="zh-CN" sz="2400" dirty="0" err="1">
                <a:latin typeface="Cambria" panose="02040503050406030204" pitchFamily="18" charset="0"/>
                <a:ea typeface="Cambria" panose="02040503050406030204" pitchFamily="18" charset="0"/>
              </a:rPr>
              <a:t>elkan</a:t>
            </a:r>
            <a:r>
              <a:rPr lang="en-US" altLang="zh-CN" sz="2400" dirty="0">
                <a:latin typeface="Cambria" panose="02040503050406030204" pitchFamily="18" charset="0"/>
                <a:ea typeface="Cambria" panose="02040503050406030204" pitchFamily="18" charset="0"/>
              </a:rPr>
              <a:t>’</a:t>
            </a:r>
            <a:r>
              <a:rPr lang="zh-CN" altLang="zh-CN" sz="2400" dirty="0">
                <a:latin typeface="Cambria" panose="02040503050406030204" pitchFamily="18" charset="0"/>
              </a:rPr>
              <a:t>适合于三角形不等式，但暂不支持稀疏数据；而当设置为</a:t>
            </a:r>
            <a:r>
              <a:rPr lang="en-US" altLang="zh-CN" sz="2400" dirty="0">
                <a:latin typeface="Cambria" panose="02040503050406030204" pitchFamily="18" charset="0"/>
                <a:ea typeface="Cambria" panose="02040503050406030204" pitchFamily="18" charset="0"/>
              </a:rPr>
              <a:t>’auto’</a:t>
            </a:r>
            <a:r>
              <a:rPr lang="zh-CN" altLang="zh-CN" sz="2400" dirty="0">
                <a:latin typeface="Cambria" panose="02040503050406030204" pitchFamily="18" charset="0"/>
              </a:rPr>
              <a:t>时，稠密数据用</a:t>
            </a:r>
            <a:r>
              <a:rPr lang="en-US" altLang="zh-CN" sz="2400" dirty="0">
                <a:latin typeface="Cambria" panose="02040503050406030204" pitchFamily="18" charset="0"/>
                <a:ea typeface="Cambria" panose="02040503050406030204" pitchFamily="18" charset="0"/>
              </a:rPr>
              <a:t>’</a:t>
            </a:r>
            <a:r>
              <a:rPr lang="en-US" altLang="zh-CN" sz="2400" dirty="0" err="1">
                <a:latin typeface="Cambria" panose="02040503050406030204" pitchFamily="18" charset="0"/>
                <a:ea typeface="Cambria" panose="02040503050406030204" pitchFamily="18" charset="0"/>
              </a:rPr>
              <a:t>elkan</a:t>
            </a:r>
            <a:r>
              <a:rPr lang="en-US" altLang="zh-CN" sz="2400" dirty="0">
                <a:latin typeface="Cambria" panose="02040503050406030204" pitchFamily="18" charset="0"/>
                <a:ea typeface="Cambria" panose="02040503050406030204" pitchFamily="18" charset="0"/>
              </a:rPr>
              <a:t>’</a:t>
            </a:r>
            <a:r>
              <a:rPr lang="zh-CN" altLang="zh-CN" sz="2400" dirty="0">
                <a:latin typeface="Cambria" panose="02040503050406030204" pitchFamily="18" charset="0"/>
              </a:rPr>
              <a:t>，稀疏数据用</a:t>
            </a:r>
            <a:r>
              <a:rPr lang="en-US" altLang="zh-CN" sz="2400" dirty="0">
                <a:latin typeface="Cambria" panose="02040503050406030204" pitchFamily="18" charset="0"/>
                <a:ea typeface="Cambria" panose="02040503050406030204" pitchFamily="18" charset="0"/>
              </a:rPr>
              <a:t>’full’</a:t>
            </a:r>
            <a:r>
              <a:rPr lang="zh-CN" altLang="zh-CN" sz="2400" dirty="0">
                <a:latin typeface="Cambria" panose="02040503050406030204" pitchFamily="18" charset="0"/>
              </a:rPr>
              <a:t>。</a:t>
            </a:r>
            <a:endParaRPr lang="zh-CN" altLang="zh-CN" sz="2400" dirty="0">
              <a:latin typeface="Cambria" panose="02040503050406030204" pitchFamily="18" charset="0"/>
            </a:endParaRPr>
          </a:p>
          <a:p>
            <a:pPr marL="742950" lvl="1" indent="-285750">
              <a:lnSpc>
                <a:spcPct val="120000"/>
              </a:lnSpc>
              <a:buClr>
                <a:schemeClr val="accent2"/>
              </a:buClr>
              <a:buSzPct val="144000"/>
              <a:buFont typeface="Arial" panose="020B0604020202020204" pitchFamily="34" charset="0"/>
              <a:buChar char="•"/>
            </a:pPr>
            <a:r>
              <a:rPr lang="en-US" altLang="zh-CN" sz="2400" dirty="0" err="1">
                <a:latin typeface="Cambria" panose="02040503050406030204" pitchFamily="18" charset="0"/>
                <a:ea typeface="Cambria" panose="02040503050406030204" pitchFamily="18" charset="0"/>
              </a:rPr>
              <a:t>random_state</a:t>
            </a:r>
            <a:r>
              <a:rPr lang="zh-CN" altLang="zh-CN" sz="2400" dirty="0">
                <a:latin typeface="Cambria" panose="02040503050406030204" pitchFamily="18" charset="0"/>
              </a:rPr>
              <a:t>：整型，</a:t>
            </a:r>
            <a:r>
              <a:rPr lang="en-US" altLang="zh-CN" sz="2400" dirty="0" err="1">
                <a:latin typeface="Cambria" panose="02040503050406030204" pitchFamily="18" charset="0"/>
                <a:ea typeface="Cambria" panose="02040503050406030204" pitchFamily="18" charset="0"/>
              </a:rPr>
              <a:t>RandonState</a:t>
            </a:r>
            <a:r>
              <a:rPr lang="zh-CN" altLang="zh-CN" sz="2400" dirty="0">
                <a:latin typeface="Cambria" panose="02040503050406030204" pitchFamily="18" charset="0"/>
              </a:rPr>
              <a:t>实例或</a:t>
            </a:r>
            <a:r>
              <a:rPr lang="en-US" altLang="zh-CN" sz="2400" dirty="0">
                <a:latin typeface="Cambria" panose="02040503050406030204" pitchFamily="18" charset="0"/>
                <a:ea typeface="Cambria" panose="02040503050406030204" pitchFamily="18" charset="0"/>
              </a:rPr>
              <a:t>None</a:t>
            </a:r>
            <a:r>
              <a:rPr lang="zh-CN" altLang="zh-CN" sz="2400" dirty="0">
                <a:latin typeface="Cambria" panose="02040503050406030204" pitchFamily="18" charset="0"/>
              </a:rPr>
              <a:t>，默认参数值为</a:t>
            </a:r>
            <a:r>
              <a:rPr lang="en-US" altLang="zh-CN" sz="2400" dirty="0">
                <a:latin typeface="Cambria" panose="02040503050406030204" pitchFamily="18" charset="0"/>
                <a:ea typeface="Cambria" panose="02040503050406030204" pitchFamily="18" charset="0"/>
              </a:rPr>
              <a:t>None</a:t>
            </a:r>
            <a:r>
              <a:rPr lang="zh-CN" altLang="zh-CN" sz="2400" dirty="0">
                <a:latin typeface="Cambria" panose="02040503050406030204" pitchFamily="18" charset="0"/>
              </a:rPr>
              <a:t>。具体如下：</a:t>
            </a:r>
            <a:endParaRPr lang="zh-CN" altLang="zh-CN" sz="2400" dirty="0">
              <a:latin typeface="Cambria" panose="02040503050406030204" pitchFamily="18" charset="0"/>
            </a:endParaRPr>
          </a:p>
          <a:p>
            <a:pPr marL="1657350" lvl="3" indent="-285750">
              <a:lnSpc>
                <a:spcPct val="120000"/>
              </a:lnSpc>
              <a:buClr>
                <a:schemeClr val="accent5"/>
              </a:buClr>
              <a:buSzPct val="144000"/>
              <a:buFont typeface="Wingdings" panose="05000000000000000000" pitchFamily="2" charset="2"/>
              <a:buChar char="ü"/>
            </a:pPr>
            <a:r>
              <a:rPr lang="en-US" altLang="zh-CN" sz="2400" dirty="0" err="1">
                <a:latin typeface="Cambria" panose="02040503050406030204" pitchFamily="18" charset="0"/>
                <a:ea typeface="Cambria" panose="02040503050406030204" pitchFamily="18" charset="0"/>
              </a:rPr>
              <a:t>int</a:t>
            </a:r>
            <a:r>
              <a:rPr lang="zh-CN" altLang="zh-CN" sz="2400" dirty="0">
                <a:latin typeface="Cambria" panose="02040503050406030204" pitchFamily="18" charset="0"/>
              </a:rPr>
              <a:t>：该参数用于设置随机数发生器的种子；</a:t>
            </a:r>
            <a:endParaRPr lang="zh-CN" altLang="zh-CN" sz="2400" dirty="0">
              <a:latin typeface="Cambria" panose="02040503050406030204" pitchFamily="18" charset="0"/>
            </a:endParaRPr>
          </a:p>
          <a:p>
            <a:pPr marL="1657350" lvl="3" indent="-285750">
              <a:lnSpc>
                <a:spcPct val="120000"/>
              </a:lnSpc>
              <a:buClr>
                <a:schemeClr val="accent5"/>
              </a:buClr>
              <a:buSzPct val="144000"/>
              <a:buFont typeface="Wingdings" panose="05000000000000000000" pitchFamily="2" charset="2"/>
              <a:buChar char="ü"/>
            </a:pPr>
            <a:r>
              <a:rPr lang="en-US" altLang="zh-CN" sz="2400" dirty="0" err="1">
                <a:latin typeface="Cambria" panose="02040503050406030204" pitchFamily="18" charset="0"/>
                <a:ea typeface="Cambria" panose="02040503050406030204" pitchFamily="18" charset="0"/>
              </a:rPr>
              <a:t>RandonState</a:t>
            </a:r>
            <a:r>
              <a:rPr lang="en-US" altLang="zh-CN" sz="2400" dirty="0">
                <a:latin typeface="Cambria" panose="02040503050406030204" pitchFamily="18" charset="0"/>
                <a:ea typeface="Cambria" panose="02040503050406030204" pitchFamily="18" charset="0"/>
              </a:rPr>
              <a:t> instance</a:t>
            </a:r>
            <a:r>
              <a:rPr lang="zh-CN" altLang="zh-CN" sz="2400" dirty="0">
                <a:latin typeface="Cambria" panose="02040503050406030204" pitchFamily="18" charset="0"/>
              </a:rPr>
              <a:t>：该参数是一个随机数发生器；</a:t>
            </a:r>
            <a:endParaRPr lang="zh-CN" altLang="zh-CN" sz="2400" dirty="0">
              <a:latin typeface="Cambria" panose="02040503050406030204" pitchFamily="18" charset="0"/>
            </a:endParaRPr>
          </a:p>
          <a:p>
            <a:pPr marL="1657350" lvl="3" indent="-285750">
              <a:lnSpc>
                <a:spcPct val="120000"/>
              </a:lnSpc>
              <a:buClr>
                <a:schemeClr val="accent5"/>
              </a:buClr>
              <a:buSzPct val="144000"/>
              <a:buFont typeface="Wingdings" panose="05000000000000000000" pitchFamily="2" charset="2"/>
              <a:buChar char="ü"/>
            </a:pPr>
            <a:r>
              <a:rPr lang="en-US" altLang="zh-CN" sz="2400" dirty="0">
                <a:latin typeface="Cambria" panose="02040503050406030204" pitchFamily="18" charset="0"/>
                <a:ea typeface="Cambria" panose="02040503050406030204" pitchFamily="18" charset="0"/>
              </a:rPr>
              <a:t>None</a:t>
            </a:r>
            <a:r>
              <a:rPr lang="zh-CN" altLang="zh-CN" sz="2400" dirty="0">
                <a:latin typeface="Cambria" panose="02040503050406030204" pitchFamily="18" charset="0"/>
              </a:rPr>
              <a:t>：使用</a:t>
            </a:r>
            <a:r>
              <a:rPr lang="en-US" altLang="zh-CN" sz="2400" dirty="0" err="1">
                <a:latin typeface="Cambria" panose="02040503050406030204" pitchFamily="18" charset="0"/>
                <a:ea typeface="Cambria" panose="02040503050406030204" pitchFamily="18" charset="0"/>
              </a:rPr>
              <a:t>np.random</a:t>
            </a:r>
            <a:r>
              <a:rPr lang="zh-CN" altLang="zh-CN" sz="2400" dirty="0">
                <a:latin typeface="Cambria" panose="02040503050406030204" pitchFamily="18" charset="0"/>
              </a:rPr>
              <a:t>作为随机数发生器。</a:t>
            </a:r>
            <a:endParaRPr lang="zh-CN" altLang="zh-CN" sz="2400" dirty="0">
              <a:latin typeface="Cambria" panose="02040503050406030204"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2422" y="179369"/>
            <a:ext cx="10272890" cy="980728"/>
          </a:xfrm>
        </p:spPr>
        <p:txBody>
          <a:bodyPr/>
          <a:lstStyle/>
          <a:p>
            <a:r>
              <a:rPr lang="zh-CN" altLang="en-US" dirty="0">
                <a:latin typeface="Cambria" panose="02040503050406030204" pitchFamily="18" charset="0"/>
              </a:rPr>
              <a:t>示例程序</a:t>
            </a:r>
            <a:endParaRPr lang="en-US" altLang="zh-CN" dirty="0">
              <a:latin typeface="Cambria" panose="02040503050406030204" pitchFamily="18" charset="0"/>
              <a:ea typeface="Cambria" panose="02040503050406030204" pitchFamily="18" charset="0"/>
            </a:endParaRPr>
          </a:p>
        </p:txBody>
      </p:sp>
      <p:pic>
        <p:nvPicPr>
          <p:cNvPr id="3" name="图片 2"/>
          <p:cNvPicPr>
            <a:picLocks noChangeAspect="1"/>
          </p:cNvPicPr>
          <p:nvPr/>
        </p:nvPicPr>
        <p:blipFill>
          <a:blip r:embed="rId1"/>
          <a:stretch>
            <a:fillRect/>
          </a:stretch>
        </p:blipFill>
        <p:spPr>
          <a:xfrm>
            <a:off x="959005" y="882103"/>
            <a:ext cx="10473846" cy="5440638"/>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pic>
        <p:nvPicPr>
          <p:cNvPr id="12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11166" y="1416322"/>
            <a:ext cx="5276850" cy="418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6146" y="464424"/>
            <a:ext cx="10972800" cy="806816"/>
          </a:xfrm>
        </p:spPr>
        <p:txBody>
          <a:bodyPr/>
          <a:lstStyle/>
          <a:p>
            <a:r>
              <a:rPr lang="zh-CN" altLang="en-US" dirty="0" smtClean="0"/>
              <a:t>练习</a:t>
            </a:r>
            <a:endParaRPr lang="zh-CN" altLang="en-US" dirty="0"/>
          </a:p>
        </p:txBody>
      </p:sp>
      <p:sp>
        <p:nvSpPr>
          <p:cNvPr id="3" name="内容占位符 2"/>
          <p:cNvSpPr>
            <a:spLocks noGrp="1"/>
          </p:cNvSpPr>
          <p:nvPr>
            <p:ph idx="1"/>
          </p:nvPr>
        </p:nvSpPr>
        <p:spPr>
          <a:xfrm>
            <a:off x="505807" y="1666894"/>
            <a:ext cx="10972800" cy="4721110"/>
          </a:xfrm>
        </p:spPr>
        <p:txBody>
          <a:bodyPr/>
          <a:lstStyle/>
          <a:p>
            <a:pPr>
              <a:lnSpc>
                <a:spcPct val="100000"/>
              </a:lnSpc>
              <a:spcBef>
                <a:spcPts val="600"/>
              </a:spcBef>
            </a:pPr>
            <a:r>
              <a:rPr lang="en-US" altLang="zh-CN" dirty="0" smtClean="0"/>
              <a:t>1.</a:t>
            </a:r>
            <a:r>
              <a:rPr lang="zh-CN" altLang="en-US" dirty="0" smtClean="0"/>
              <a:t>使用计算机生成的数据集进行聚类分析，要求：</a:t>
            </a:r>
            <a:endParaRPr lang="en-US" altLang="zh-CN" dirty="0" smtClean="0"/>
          </a:p>
          <a:p>
            <a:pPr marL="914400" lvl="1" indent="-457200">
              <a:lnSpc>
                <a:spcPct val="100000"/>
              </a:lnSpc>
              <a:spcBef>
                <a:spcPts val="600"/>
              </a:spcBef>
              <a:buFont typeface="+mj-ea"/>
              <a:buAutoNum type="circleNumDbPlain"/>
            </a:pPr>
            <a:r>
              <a:rPr lang="zh-CN" altLang="en-US" dirty="0" smtClean="0"/>
              <a:t>生成的样本数不少于</a:t>
            </a:r>
            <a:r>
              <a:rPr lang="en-US" altLang="zh-CN" dirty="0" smtClean="0"/>
              <a:t>1000</a:t>
            </a:r>
            <a:r>
              <a:rPr lang="zh-CN" altLang="en-US" dirty="0" smtClean="0"/>
              <a:t>，聚类个数不少于</a:t>
            </a:r>
            <a:r>
              <a:rPr lang="en-US" altLang="zh-CN" dirty="0" smtClean="0"/>
              <a:t>3</a:t>
            </a:r>
            <a:r>
              <a:rPr lang="zh-CN" altLang="en-US" dirty="0" smtClean="0"/>
              <a:t>；</a:t>
            </a:r>
            <a:endParaRPr lang="en-US" altLang="zh-CN" dirty="0" smtClean="0"/>
          </a:p>
          <a:p>
            <a:pPr marL="914400" lvl="1" indent="-457200">
              <a:lnSpc>
                <a:spcPct val="100000"/>
              </a:lnSpc>
              <a:spcBef>
                <a:spcPts val="600"/>
              </a:spcBef>
              <a:buFont typeface="+mj-ea"/>
              <a:buAutoNum type="circleNumDbPlain"/>
            </a:pPr>
            <a:r>
              <a:rPr lang="zh-CN" altLang="en-US" dirty="0" smtClean="0"/>
              <a:t>使用</a:t>
            </a:r>
            <a:r>
              <a:rPr lang="en-US" altLang="zh-CN" dirty="0" smtClean="0"/>
              <a:t>Sklearn</a:t>
            </a:r>
            <a:r>
              <a:rPr lang="zh-CN" altLang="en-US" dirty="0" smtClean="0"/>
              <a:t>库的</a:t>
            </a:r>
            <a:r>
              <a:rPr lang="en-US" altLang="zh-CN" dirty="0" err="1" smtClean="0"/>
              <a:t>Kmeans</a:t>
            </a:r>
            <a:r>
              <a:rPr lang="zh-CN" altLang="en-US" dirty="0" smtClean="0"/>
              <a:t>算法进行聚类分析，文件名分别为</a:t>
            </a:r>
            <a:r>
              <a:rPr lang="en-US" altLang="zh-CN" b="1" dirty="0" err="1" smtClean="0">
                <a:solidFill>
                  <a:srgbClr val="00B050"/>
                </a:solidFill>
              </a:rPr>
              <a:t>kmeans_cluster</a:t>
            </a:r>
            <a:r>
              <a:rPr lang="zh-CN" altLang="en-US" dirty="0" smtClean="0">
                <a:solidFill>
                  <a:srgbClr val="00B050"/>
                </a:solidFill>
              </a:rPr>
              <a:t>。</a:t>
            </a:r>
            <a:endParaRPr lang="en-US" altLang="zh-CN" dirty="0" smtClean="0">
              <a:solidFill>
                <a:srgbClr val="00B050"/>
              </a:solidFill>
            </a:endParaRPr>
          </a:p>
          <a:p>
            <a:pPr>
              <a:lnSpc>
                <a:spcPct val="100000"/>
              </a:lnSpc>
              <a:spcBef>
                <a:spcPts val="600"/>
              </a:spcBef>
            </a:pPr>
            <a:r>
              <a:rPr lang="en-US" altLang="zh-CN" dirty="0" smtClean="0"/>
              <a:t>2.</a:t>
            </a:r>
            <a:r>
              <a:rPr lang="zh-CN" altLang="en-US" dirty="0" smtClean="0"/>
              <a:t>使用</a:t>
            </a:r>
            <a:r>
              <a:rPr lang="en-US" altLang="zh-CN" dirty="0" smtClean="0"/>
              <a:t>iris</a:t>
            </a:r>
            <a:r>
              <a:rPr lang="zh-CN" altLang="en-US" dirty="0" smtClean="0"/>
              <a:t>数据集进行聚类分析（文件名为</a:t>
            </a:r>
            <a:r>
              <a:rPr lang="en-US" altLang="zh-CN" b="1" dirty="0" smtClean="0">
                <a:solidFill>
                  <a:srgbClr val="00B050"/>
                </a:solidFill>
              </a:rPr>
              <a:t>iris_km</a:t>
            </a:r>
            <a:r>
              <a:rPr lang="en-US" altLang="zh-CN" dirty="0" smtClean="0"/>
              <a:t>)</a:t>
            </a:r>
            <a:r>
              <a:rPr lang="zh-CN" altLang="en-US" dirty="0" smtClean="0"/>
              <a:t>，要求：</a:t>
            </a:r>
            <a:endParaRPr lang="en-US" altLang="zh-CN" dirty="0" smtClean="0"/>
          </a:p>
          <a:p>
            <a:pPr marL="914400" lvl="1" indent="-457200">
              <a:lnSpc>
                <a:spcPct val="100000"/>
              </a:lnSpc>
              <a:spcBef>
                <a:spcPts val="600"/>
              </a:spcBef>
              <a:buFont typeface="+mj-ea"/>
              <a:buAutoNum type="circleNumDbPlain"/>
            </a:pPr>
            <a:r>
              <a:rPr lang="zh-CN" altLang="en-US" dirty="0" smtClean="0"/>
              <a:t>使用</a:t>
            </a:r>
            <a:r>
              <a:rPr lang="en-US" altLang="zh-CN" dirty="0" smtClean="0"/>
              <a:t>Sklearn</a:t>
            </a:r>
            <a:r>
              <a:rPr lang="zh-CN" altLang="en-US" dirty="0" smtClean="0"/>
              <a:t>库的</a:t>
            </a:r>
            <a:r>
              <a:rPr lang="en-US" altLang="zh-CN" dirty="0" smtClean="0"/>
              <a:t>Kmeans</a:t>
            </a:r>
            <a:r>
              <a:rPr lang="zh-CN" altLang="en-US" dirty="0" smtClean="0"/>
              <a:t>算法进行聚类，类别数目为</a:t>
            </a:r>
            <a:r>
              <a:rPr lang="en-US" altLang="zh-CN" dirty="0" smtClean="0"/>
              <a:t>3</a:t>
            </a:r>
            <a:r>
              <a:rPr lang="zh-CN" altLang="en-US" dirty="0" smtClean="0"/>
              <a:t>；</a:t>
            </a:r>
            <a:endParaRPr lang="en-US" altLang="zh-CN" dirty="0" smtClean="0"/>
          </a:p>
          <a:p>
            <a:pPr marL="914400" lvl="1" indent="-457200">
              <a:lnSpc>
                <a:spcPct val="100000"/>
              </a:lnSpc>
              <a:spcBef>
                <a:spcPts val="600"/>
              </a:spcBef>
              <a:buFont typeface="+mj-ea"/>
              <a:buAutoNum type="circleNumDbPlain"/>
            </a:pPr>
            <a:r>
              <a:rPr lang="zh-CN" altLang="en-US" dirty="0" smtClean="0"/>
              <a:t>使用</a:t>
            </a:r>
            <a:r>
              <a:rPr lang="en-US" altLang="zh-CN" dirty="0" smtClean="0"/>
              <a:t>PCA</a:t>
            </a:r>
            <a:r>
              <a:rPr lang="zh-CN" altLang="en-US" dirty="0" smtClean="0"/>
              <a:t>对数据进行降维；</a:t>
            </a:r>
            <a:endParaRPr lang="en-US" altLang="zh-CN" dirty="0" smtClean="0"/>
          </a:p>
          <a:p>
            <a:pPr marL="914400" lvl="1" indent="-457200">
              <a:lnSpc>
                <a:spcPct val="100000"/>
              </a:lnSpc>
              <a:spcBef>
                <a:spcPts val="600"/>
              </a:spcBef>
              <a:buFont typeface="+mj-ea"/>
              <a:buAutoNum type="circleNumDbPlain"/>
            </a:pPr>
            <a:r>
              <a:rPr lang="zh-CN" altLang="en-US" dirty="0" smtClean="0"/>
              <a:t>对原始数据和聚类结果进行可视化比较。</a:t>
            </a:r>
            <a:endParaRPr lang="zh-CN" alt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smtClean="0">
                  <a:solidFill>
                    <a:srgbClr val="009999"/>
                  </a:solidFill>
                  <a:latin typeface="Century Gothic" panose="020B0502020202020204" pitchFamily="34" charset="0"/>
                  <a:cs typeface="+mn-ea"/>
                  <a:sym typeface="+mn-lt"/>
                </a:rPr>
                <a:t>05</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053650" y="2472759"/>
            <a:ext cx="5262979"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a:t>
            </a:r>
            <a:r>
              <a:rPr lang="zh-CN" altLang="en-US" sz="6600" dirty="0" smtClean="0">
                <a:solidFill>
                  <a:srgbClr val="009999"/>
                </a:solidFill>
                <a:latin typeface="Noto Sans S Chinese Medium" panose="020B0600000000000000" pitchFamily="34" charset="-122"/>
                <a:ea typeface="Noto Sans S Chinese Medium" panose="020B0600000000000000" pitchFamily="34" charset="-122"/>
              </a:rPr>
              <a:t>法关键问题</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795867" y="573617"/>
            <a:ext cx="1877484" cy="57361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endParaRPr kumimoji="0" lang="zh-CN" altLang="en-US" dirty="0"/>
          </a:p>
        </p:txBody>
      </p:sp>
      <p:sp>
        <p:nvSpPr>
          <p:cNvPr id="5123" name="TextBox 5"/>
          <p:cNvSpPr txBox="1">
            <a:spLocks noChangeArrowheads="1"/>
          </p:cNvSpPr>
          <p:nvPr/>
        </p:nvSpPr>
        <p:spPr bwMode="auto">
          <a:xfrm>
            <a:off x="810684" y="573618"/>
            <a:ext cx="3443265" cy="615553"/>
          </a:xfrm>
          <a:prstGeom prst="rect">
            <a:avLst/>
          </a:prstGeom>
          <a:solidFill>
            <a:srgbClr val="FF6600"/>
          </a:solidFill>
          <a:ln>
            <a:noFill/>
          </a:ln>
        </p:spPr>
        <p:txBody>
          <a:bodyPr wrap="squar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18"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18"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18"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18"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18"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18"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18"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18"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18" charset="0"/>
                <a:ea typeface="宋体" panose="02010600030101010101" pitchFamily="2" charset="-122"/>
              </a:defRPr>
            </a:lvl9pPr>
          </a:lstStyle>
          <a:p>
            <a:pPr algn="ctr" eaLnBrk="1" hangingPunct="1">
              <a:spcBef>
                <a:spcPct val="0"/>
              </a:spcBef>
              <a:buFontTx/>
              <a:buNone/>
            </a:pPr>
            <a:r>
              <a:rPr kumimoji="0" lang="zh-CN" altLang="en-US" dirty="0" smtClean="0">
                <a:solidFill>
                  <a:schemeClr val="bg1"/>
                </a:solidFill>
                <a:latin typeface="微软雅黑" panose="020B0503020204020204" pitchFamily="34" charset="-122"/>
                <a:ea typeface="微软雅黑" panose="020B0503020204020204" pitchFamily="34" charset="-122"/>
              </a:rPr>
              <a:t>聚类分析的度量</a:t>
            </a:r>
            <a:endParaRPr kumimoji="0"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3"/>
          <p:cNvCxnSpPr/>
          <p:nvPr/>
        </p:nvCxnSpPr>
        <p:spPr>
          <a:xfrm>
            <a:off x="1849967" y="1128185"/>
            <a:ext cx="9673167"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0" y="6373285"/>
            <a:ext cx="12192000" cy="48471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endParaRPr kumimoji="0" lang="zh-CN" altLang="en-US" dirty="0"/>
          </a:p>
        </p:txBody>
      </p:sp>
      <p:sp>
        <p:nvSpPr>
          <p:cNvPr id="12" name="矩形 3"/>
          <p:cNvSpPr>
            <a:spLocks noChangeArrowheads="1"/>
          </p:cNvSpPr>
          <p:nvPr/>
        </p:nvSpPr>
        <p:spPr bwMode="auto">
          <a:xfrm>
            <a:off x="795867" y="1333962"/>
            <a:ext cx="10727267" cy="4222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18"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18"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18"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18"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18"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18"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18"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18"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18" charset="0"/>
                <a:ea typeface="宋体" panose="02010600030101010101" pitchFamily="2" charset="-122"/>
              </a:defRPr>
            </a:lvl9pPr>
          </a:lstStyle>
          <a:p>
            <a:r>
              <a:rPr lang="zh-CN" altLang="en-US" sz="2400" dirty="0">
                <a:solidFill>
                  <a:srgbClr val="000000"/>
                </a:solidFill>
              </a:rPr>
              <a:t>聚类分析的度量指标用于对聚类结果进行评判，分为内部指标和外部指标两大</a:t>
            </a:r>
            <a:r>
              <a:rPr lang="zh-CN" altLang="en-US" sz="2400" dirty="0" smtClean="0">
                <a:solidFill>
                  <a:srgbClr val="000000"/>
                </a:solidFill>
              </a:rPr>
              <a:t>类</a:t>
            </a:r>
            <a:endParaRPr lang="en-US" altLang="zh-CN" sz="2400" dirty="0" smtClean="0">
              <a:solidFill>
                <a:srgbClr val="000000"/>
              </a:solidFill>
            </a:endParaRPr>
          </a:p>
          <a:p>
            <a:pPr lvl="1"/>
            <a:r>
              <a:rPr lang="zh-CN" altLang="en-US" sz="1900" dirty="0" smtClean="0">
                <a:solidFill>
                  <a:srgbClr val="000000"/>
                </a:solidFill>
              </a:rPr>
              <a:t>外部</a:t>
            </a:r>
            <a:r>
              <a:rPr lang="zh-CN" altLang="en-US" sz="1900" dirty="0">
                <a:solidFill>
                  <a:srgbClr val="000000"/>
                </a:solidFill>
              </a:rPr>
              <a:t>指标指用事先指定的聚类模型作为参考来评判聚类结果的</a:t>
            </a:r>
            <a:r>
              <a:rPr lang="zh-CN" altLang="en-US" sz="1900" dirty="0" smtClean="0">
                <a:solidFill>
                  <a:srgbClr val="000000"/>
                </a:solidFill>
              </a:rPr>
              <a:t>好坏</a:t>
            </a:r>
            <a:endParaRPr lang="en-US" altLang="zh-CN" sz="1900" dirty="0" smtClean="0">
              <a:solidFill>
                <a:srgbClr val="000000"/>
              </a:solidFill>
            </a:endParaRPr>
          </a:p>
          <a:p>
            <a:pPr lvl="1"/>
            <a:r>
              <a:rPr lang="zh-CN" altLang="en-US" sz="1900" dirty="0" smtClean="0">
                <a:solidFill>
                  <a:srgbClr val="000000"/>
                </a:solidFill>
              </a:rPr>
              <a:t>内部</a:t>
            </a:r>
            <a:r>
              <a:rPr lang="zh-CN" altLang="en-US" sz="1900" dirty="0">
                <a:solidFill>
                  <a:srgbClr val="000000"/>
                </a:solidFill>
              </a:rPr>
              <a:t>指标是指不借助任何外部参考，只用参与聚类的样本评判聚类结果</a:t>
            </a:r>
            <a:r>
              <a:rPr lang="zh-CN" altLang="en-US" sz="1900" dirty="0" smtClean="0">
                <a:solidFill>
                  <a:srgbClr val="000000"/>
                </a:solidFill>
              </a:rPr>
              <a:t>好坏</a:t>
            </a:r>
            <a:endParaRPr lang="en-US" altLang="zh-CN" sz="1900" dirty="0" smtClean="0">
              <a:solidFill>
                <a:srgbClr val="000000"/>
              </a:solidFill>
            </a:endParaRPr>
          </a:p>
          <a:p>
            <a:r>
              <a:rPr lang="zh-CN" altLang="en-US" sz="2400" dirty="0" smtClean="0">
                <a:solidFill>
                  <a:srgbClr val="000000"/>
                </a:solidFill>
              </a:rPr>
              <a:t>聚类</a:t>
            </a:r>
            <a:r>
              <a:rPr lang="zh-CN" altLang="en-US" sz="2400" dirty="0">
                <a:solidFill>
                  <a:srgbClr val="000000"/>
                </a:solidFill>
              </a:rPr>
              <a:t>的</a:t>
            </a:r>
            <a:r>
              <a:rPr lang="zh-CN" altLang="en-US" sz="2400" dirty="0" smtClean="0">
                <a:solidFill>
                  <a:srgbClr val="000000"/>
                </a:solidFill>
              </a:rPr>
              <a:t>目标是得到</a:t>
            </a:r>
            <a:r>
              <a:rPr lang="zh-CN" altLang="en-US" sz="2400" dirty="0">
                <a:solidFill>
                  <a:srgbClr val="000000"/>
                </a:solidFill>
              </a:rPr>
              <a:t>较高的簇内相似度和较低</a:t>
            </a:r>
            <a:r>
              <a:rPr lang="zh-CN" altLang="en-US" sz="2400" dirty="0" smtClean="0">
                <a:solidFill>
                  <a:srgbClr val="000000"/>
                </a:solidFill>
              </a:rPr>
              <a:t>的</a:t>
            </a:r>
            <a:r>
              <a:rPr lang="zh-CN" altLang="en-US" sz="2400" dirty="0">
                <a:solidFill>
                  <a:srgbClr val="000000"/>
                </a:solidFill>
              </a:rPr>
              <a:t>簇</a:t>
            </a:r>
            <a:r>
              <a:rPr lang="zh-CN" altLang="en-US" sz="2400" dirty="0" smtClean="0">
                <a:solidFill>
                  <a:srgbClr val="000000"/>
                </a:solidFill>
              </a:rPr>
              <a:t>间</a:t>
            </a:r>
            <a:r>
              <a:rPr lang="zh-CN" altLang="en-US" sz="2400" dirty="0">
                <a:solidFill>
                  <a:srgbClr val="000000"/>
                </a:solidFill>
              </a:rPr>
              <a:t>相似度，使得簇间的距离尽可能大，簇内样本与簇中心的距离尽可能</a:t>
            </a:r>
            <a:r>
              <a:rPr lang="zh-CN" altLang="en-US" sz="2400" dirty="0" smtClean="0">
                <a:solidFill>
                  <a:srgbClr val="000000"/>
                </a:solidFill>
              </a:rPr>
              <a:t>小</a:t>
            </a:r>
            <a:endParaRPr lang="en-US" altLang="zh-CN" sz="2400" dirty="0" smtClean="0">
              <a:solidFill>
                <a:srgbClr val="000000"/>
              </a:solidFill>
            </a:endParaRPr>
          </a:p>
          <a:p>
            <a:r>
              <a:rPr lang="zh-CN" altLang="en-US" sz="2400" dirty="0" smtClean="0">
                <a:solidFill>
                  <a:srgbClr val="000000"/>
                </a:solidFill>
              </a:rPr>
              <a:t>聚类得到的簇可以用聚类中心、簇大小、簇密度和簇描述等来表示</a:t>
            </a:r>
            <a:endParaRPr lang="en-US" altLang="zh-CN" sz="2400" dirty="0" smtClean="0">
              <a:solidFill>
                <a:srgbClr val="000000"/>
              </a:solidFill>
            </a:endParaRPr>
          </a:p>
          <a:p>
            <a:pPr lvl="1"/>
            <a:r>
              <a:rPr lang="zh-CN" altLang="en-US" sz="1900" dirty="0" smtClean="0">
                <a:solidFill>
                  <a:srgbClr val="000000"/>
                </a:solidFill>
              </a:rPr>
              <a:t>聚类中心是一个簇中所有样本点的均值</a:t>
            </a:r>
            <a:r>
              <a:rPr lang="en-US" altLang="zh-CN" sz="1900" dirty="0" smtClean="0">
                <a:solidFill>
                  <a:srgbClr val="000000"/>
                </a:solidFill>
              </a:rPr>
              <a:t>(</a:t>
            </a:r>
            <a:r>
              <a:rPr lang="zh-CN" altLang="en-US" sz="1900" dirty="0" smtClean="0">
                <a:solidFill>
                  <a:srgbClr val="000000"/>
                </a:solidFill>
              </a:rPr>
              <a:t>质心</a:t>
            </a:r>
            <a:r>
              <a:rPr lang="en-US" altLang="zh-CN" sz="1900" dirty="0" smtClean="0">
                <a:solidFill>
                  <a:srgbClr val="000000"/>
                </a:solidFill>
              </a:rPr>
              <a:t>)</a:t>
            </a:r>
            <a:endParaRPr lang="en-US" altLang="zh-CN" sz="1900" dirty="0" smtClean="0">
              <a:solidFill>
                <a:srgbClr val="000000"/>
              </a:solidFill>
            </a:endParaRPr>
          </a:p>
          <a:p>
            <a:pPr lvl="1"/>
            <a:r>
              <a:rPr lang="zh-CN" altLang="en-US" sz="1900" dirty="0" smtClean="0">
                <a:solidFill>
                  <a:srgbClr val="000000"/>
                </a:solidFill>
              </a:rPr>
              <a:t>簇大小表示簇中所含样本的数量</a:t>
            </a:r>
            <a:endParaRPr lang="en-US" altLang="zh-CN" sz="1900" dirty="0">
              <a:solidFill>
                <a:srgbClr val="000000"/>
              </a:solidFill>
            </a:endParaRPr>
          </a:p>
          <a:p>
            <a:pPr lvl="1"/>
            <a:r>
              <a:rPr lang="zh-CN" altLang="en-US" sz="1900" dirty="0" smtClean="0">
                <a:solidFill>
                  <a:srgbClr val="000000"/>
                </a:solidFill>
              </a:rPr>
              <a:t>簇密度表示簇中样本点的紧密程度</a:t>
            </a:r>
            <a:endParaRPr lang="en-US" altLang="zh-CN" sz="1900" dirty="0">
              <a:solidFill>
                <a:srgbClr val="000000"/>
              </a:solidFill>
            </a:endParaRPr>
          </a:p>
          <a:p>
            <a:pPr lvl="1"/>
            <a:r>
              <a:rPr lang="zh-CN" altLang="en-US" sz="1900" dirty="0" smtClean="0">
                <a:solidFill>
                  <a:srgbClr val="000000"/>
                </a:solidFill>
              </a:rPr>
              <a:t>簇描述是簇中样本的业务特征</a:t>
            </a:r>
            <a:endParaRPr lang="en-US" altLang="zh-CN" sz="1900" dirty="0" smtClean="0">
              <a:solidFill>
                <a:srgbClr val="000000"/>
              </a:solidFill>
            </a:endParaRPr>
          </a:p>
        </p:txBody>
      </p:sp>
    </p:spTree>
  </p:cSld>
  <p:clrMapOvr>
    <a:masterClrMapping/>
  </p:clrMapOvr>
  <p:transition spd="slow">
    <p:push/>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9600" y="1215484"/>
            <a:ext cx="10972800" cy="5118709"/>
          </a:xfrm>
          <a:prstGeom prst="rect">
            <a:avLst/>
          </a:prstGeom>
        </p:spPr>
        <p:txBody>
          <a:bodyPr vert="horz" wrap="square" lIns="0" tIns="12065" rIns="0" bIns="0" rtlCol="0">
            <a:spAutoFit/>
          </a:bodyPr>
          <a:lstStyle/>
          <a:p>
            <a:pPr marL="238125" indent="-225425">
              <a:spcBef>
                <a:spcPts val="95"/>
              </a:spcBef>
              <a:buFont typeface="Wingdings" panose="05000000000000000000"/>
              <a:buChar char=""/>
              <a:tabLst>
                <a:tab pos="238125" algn="l"/>
                <a:tab pos="238760" algn="l"/>
              </a:tabLst>
            </a:pPr>
            <a:r>
              <a:rPr sz="2400" b="1" dirty="0">
                <a:solidFill>
                  <a:srgbClr val="FF0000"/>
                </a:solidFill>
                <a:latin typeface="Trebuchet MS" panose="020B0603020202020204"/>
                <a:cs typeface="Trebuchet MS" panose="020B0603020202020204"/>
              </a:rPr>
              <a:t>Inertia</a:t>
            </a:r>
            <a:r>
              <a:rPr lang="zh-CN" altLang="en-US" sz="2400" b="1" dirty="0">
                <a:solidFill>
                  <a:srgbClr val="FF0000"/>
                </a:solidFill>
                <a:latin typeface="Trebuchet MS" panose="020B0603020202020204"/>
                <a:cs typeface="Trebuchet MS" panose="020B0603020202020204"/>
              </a:rPr>
              <a:t>（簇内平方和）：</a:t>
            </a:r>
            <a:endParaRPr lang="en-US" altLang="zh-CN" sz="2400" b="1" dirty="0">
              <a:solidFill>
                <a:srgbClr val="FF0000"/>
              </a:solidFill>
              <a:latin typeface="Trebuchet MS" panose="020B0603020202020204"/>
              <a:cs typeface="Trebuchet MS" panose="020B0603020202020204"/>
            </a:endParaRPr>
          </a:p>
          <a:p>
            <a:pPr marL="695325" lvl="1" indent="-225425">
              <a:spcBef>
                <a:spcPts val="95"/>
              </a:spcBef>
              <a:buFont typeface="Wingdings" panose="05000000000000000000"/>
              <a:buChar char=""/>
              <a:tabLst>
                <a:tab pos="238125" algn="l"/>
                <a:tab pos="238760" algn="l"/>
              </a:tabLst>
            </a:pPr>
            <a:r>
              <a:rPr lang="zh-CN" altLang="en-US" sz="2400" dirty="0">
                <a:latin typeface="Arial" panose="020B0604020202020204"/>
                <a:cs typeface="Arial" panose="020B0604020202020204"/>
              </a:rPr>
              <a:t>每个数据点</a:t>
            </a:r>
            <a:r>
              <a:rPr sz="2400" dirty="0">
                <a:latin typeface="Arial" panose="020B0604020202020204"/>
                <a:cs typeface="Arial" panose="020B0604020202020204"/>
              </a:rPr>
              <a:t>(</a:t>
            </a:r>
            <a:r>
              <a:rPr sz="2400" dirty="0">
                <a:latin typeface="DejaVu Serif"/>
                <a:cs typeface="DejaVu Serif"/>
              </a:rPr>
              <a:t>𝑥</a:t>
            </a:r>
            <a:r>
              <a:rPr sz="2400" baseline="-14000" dirty="0">
                <a:latin typeface="DejaVu Serif"/>
                <a:cs typeface="DejaVu Serif"/>
              </a:rPr>
              <a:t>𝑖 </a:t>
            </a:r>
            <a:r>
              <a:rPr sz="2400" dirty="0">
                <a:latin typeface="Arial" panose="020B0604020202020204"/>
                <a:cs typeface="Arial" panose="020B0604020202020204"/>
              </a:rPr>
              <a:t>)</a:t>
            </a:r>
            <a:r>
              <a:rPr lang="zh-CN" altLang="en-US" sz="2400" dirty="0">
                <a:latin typeface="Arial" panose="020B0604020202020204"/>
                <a:cs typeface="Arial" panose="020B0604020202020204"/>
              </a:rPr>
              <a:t>距其聚簇中心</a:t>
            </a:r>
            <a:r>
              <a:rPr sz="2400" dirty="0">
                <a:latin typeface="Arial" panose="020B0604020202020204"/>
                <a:cs typeface="Arial" panose="020B0604020202020204"/>
              </a:rPr>
              <a:t>(</a:t>
            </a:r>
            <a:r>
              <a:rPr sz="2400" dirty="0">
                <a:latin typeface="DejaVu Serif"/>
                <a:cs typeface="DejaVu Serif"/>
              </a:rPr>
              <a:t>𝐶</a:t>
            </a:r>
            <a:r>
              <a:rPr sz="2400" baseline="-14000" dirty="0">
                <a:latin typeface="DejaVu Serif"/>
                <a:cs typeface="DejaVu Serif"/>
              </a:rPr>
              <a:t>𝑘 </a:t>
            </a:r>
            <a:r>
              <a:rPr sz="2400" dirty="0">
                <a:latin typeface="Arial" panose="020B0604020202020204"/>
                <a:cs typeface="Arial" panose="020B0604020202020204"/>
              </a:rPr>
              <a:t>)</a:t>
            </a:r>
            <a:r>
              <a:rPr lang="zh-CN" altLang="en-US" sz="2400" dirty="0">
                <a:latin typeface="Arial" panose="020B0604020202020204"/>
                <a:cs typeface="Arial" panose="020B0604020202020204"/>
              </a:rPr>
              <a:t>的距离平方和</a:t>
            </a:r>
            <a:endParaRPr sz="2400" dirty="0">
              <a:latin typeface="Arial" panose="020B0604020202020204"/>
              <a:cs typeface="Arial" panose="020B0604020202020204"/>
            </a:endParaRPr>
          </a:p>
          <a:p>
            <a:pPr marL="85725" algn="ctr">
              <a:spcBef>
                <a:spcPts val="80"/>
              </a:spcBef>
            </a:pPr>
            <a:endParaRPr sz="2400" dirty="0">
              <a:latin typeface="DejaVu Serif"/>
              <a:cs typeface="DejaVu Serif"/>
            </a:endParaRPr>
          </a:p>
          <a:p>
            <a:pPr marL="88900" algn="ctr">
              <a:spcBef>
                <a:spcPts val="955"/>
              </a:spcBef>
            </a:pPr>
            <a:endParaRPr sz="2400" dirty="0">
              <a:latin typeface="DejaVu Serif"/>
              <a:cs typeface="DejaVu Serif"/>
            </a:endParaRPr>
          </a:p>
          <a:p>
            <a:pPr marL="695325" lvl="1" indent="-225425">
              <a:spcBef>
                <a:spcPts val="705"/>
              </a:spcBef>
              <a:buFont typeface="Wingdings" panose="05000000000000000000"/>
              <a:buChar char=""/>
              <a:tabLst>
                <a:tab pos="238125" algn="l"/>
                <a:tab pos="238760" algn="l"/>
              </a:tabLst>
            </a:pPr>
            <a:r>
              <a:rPr lang="zh-CN" altLang="en-US" sz="2400" dirty="0">
                <a:latin typeface="Arial" panose="020B0604020202020204"/>
                <a:cs typeface="Arial" panose="020B0604020202020204"/>
              </a:rPr>
              <a:t>值越小表示聚簇越紧密</a:t>
            </a:r>
            <a:endParaRPr sz="2400" dirty="0">
              <a:latin typeface="Arial" panose="020B0604020202020204"/>
              <a:cs typeface="Arial" panose="020B0604020202020204"/>
            </a:endParaRPr>
          </a:p>
          <a:p>
            <a:pPr marL="238125" indent="-225425">
              <a:spcBef>
                <a:spcPts val="1200"/>
              </a:spcBef>
              <a:buFont typeface="Wingdings" panose="05000000000000000000"/>
              <a:buChar char=""/>
              <a:tabLst>
                <a:tab pos="238125" algn="l"/>
                <a:tab pos="238760" algn="l"/>
              </a:tabLst>
            </a:pPr>
            <a:r>
              <a:rPr lang="zh-CN" altLang="en-US" sz="2400" b="1" dirty="0">
                <a:solidFill>
                  <a:srgbClr val="FF0000"/>
                </a:solidFill>
                <a:latin typeface="Arial" panose="020B0604020202020204"/>
                <a:cs typeface="Arial" panose="020B0604020202020204"/>
              </a:rPr>
              <a:t>轮廓系数（</a:t>
            </a:r>
            <a:r>
              <a:rPr lang="en-US" altLang="zh-CN" sz="2400" b="1" dirty="0">
                <a:solidFill>
                  <a:srgbClr val="FF0000"/>
                </a:solidFill>
                <a:latin typeface="Arial" panose="020B0604020202020204"/>
                <a:cs typeface="Arial" panose="020B0604020202020204"/>
              </a:rPr>
              <a:t>Silhouette Coefficient</a:t>
            </a:r>
            <a:r>
              <a:rPr lang="zh-CN" altLang="en-US" sz="2400" b="1" dirty="0">
                <a:solidFill>
                  <a:srgbClr val="FF0000"/>
                </a:solidFill>
                <a:latin typeface="Arial" panose="020B0604020202020204"/>
                <a:cs typeface="Arial" panose="020B0604020202020204"/>
              </a:rPr>
              <a:t>）：</a:t>
            </a:r>
            <a:endParaRPr lang="en-US" altLang="zh-CN" sz="2400" b="1" dirty="0">
              <a:solidFill>
                <a:srgbClr val="FF0000"/>
              </a:solidFill>
              <a:latin typeface="Arial" panose="020B0604020202020204"/>
              <a:cs typeface="Arial" panose="020B0604020202020204"/>
            </a:endParaRPr>
          </a:p>
          <a:p>
            <a:pPr marL="695325" lvl="1" indent="-225425">
              <a:spcBef>
                <a:spcPts val="1200"/>
              </a:spcBef>
              <a:buFont typeface="Wingdings" panose="05000000000000000000"/>
              <a:buChar char=""/>
              <a:tabLst>
                <a:tab pos="238125" algn="l"/>
                <a:tab pos="238760" algn="l"/>
              </a:tabLst>
            </a:pPr>
            <a:r>
              <a:rPr lang="zh-CN" altLang="en-US" sz="2400" dirty="0">
                <a:latin typeface="Arial" panose="020B0604020202020204"/>
                <a:cs typeface="Arial" panose="020B0604020202020204"/>
              </a:rPr>
              <a:t>对每个数据点计算一个轮廓系数：</a:t>
            </a:r>
            <a:endParaRPr lang="en-US" altLang="zh-CN" sz="2400" dirty="0">
              <a:latin typeface="Arial" panose="020B0604020202020204"/>
              <a:cs typeface="Arial" panose="020B0604020202020204"/>
            </a:endParaRPr>
          </a:p>
          <a:p>
            <a:pPr marL="1152525" lvl="2" indent="-225425">
              <a:spcBef>
                <a:spcPts val="1200"/>
              </a:spcBef>
              <a:buFont typeface="Wingdings" panose="05000000000000000000"/>
              <a:buChar char=""/>
              <a:tabLst>
                <a:tab pos="238125" algn="l"/>
                <a:tab pos="238760" algn="l"/>
              </a:tabLst>
            </a:pPr>
            <a:r>
              <a:rPr lang="en-US" altLang="zh-CN" sz="2000" dirty="0">
                <a:latin typeface="Arial" panose="020B0604020202020204"/>
                <a:cs typeface="Arial" panose="020B0604020202020204"/>
              </a:rPr>
              <a:t>a = </a:t>
            </a:r>
            <a:r>
              <a:rPr lang="zh-CN" altLang="en-US" sz="2000" dirty="0">
                <a:latin typeface="Arial" panose="020B0604020202020204"/>
                <a:cs typeface="Arial" panose="020B0604020202020204"/>
              </a:rPr>
              <a:t>此数据点到</a:t>
            </a:r>
            <a:r>
              <a:rPr lang="zh-CN" altLang="en-US" sz="2000" b="1" dirty="0">
                <a:latin typeface="Arial" panose="020B0604020202020204"/>
                <a:cs typeface="Arial" panose="020B0604020202020204"/>
              </a:rPr>
              <a:t>同簇</a:t>
            </a:r>
            <a:r>
              <a:rPr lang="zh-CN" altLang="en-US" sz="2000" dirty="0">
                <a:latin typeface="Arial" panose="020B0604020202020204"/>
                <a:cs typeface="Arial" panose="020B0604020202020204"/>
              </a:rPr>
              <a:t>中所有其他点的平均距离，</a:t>
            </a:r>
            <a:r>
              <a:rPr lang="zh-CN" altLang="en-US" sz="2000" dirty="0">
                <a:solidFill>
                  <a:srgbClr val="0070C0"/>
                </a:solidFill>
                <a:latin typeface="Arial" panose="020B0604020202020204"/>
                <a:cs typeface="Arial" panose="020B0604020202020204"/>
              </a:rPr>
              <a:t>凝聚度</a:t>
            </a:r>
            <a:endParaRPr lang="zh-CN" altLang="en-US" sz="2000" dirty="0">
              <a:solidFill>
                <a:srgbClr val="0070C0"/>
              </a:solidFill>
              <a:latin typeface="Arial" panose="020B0604020202020204"/>
              <a:cs typeface="Arial" panose="020B0604020202020204"/>
            </a:endParaRPr>
          </a:p>
          <a:p>
            <a:pPr marL="1152525" lvl="2" indent="-225425">
              <a:spcBef>
                <a:spcPts val="1200"/>
              </a:spcBef>
              <a:buFont typeface="Wingdings" panose="05000000000000000000"/>
              <a:buChar char=""/>
              <a:tabLst>
                <a:tab pos="238125" algn="l"/>
                <a:tab pos="238760" algn="l"/>
              </a:tabLst>
            </a:pPr>
            <a:r>
              <a:rPr lang="en-US" altLang="zh-CN" sz="2000" dirty="0">
                <a:latin typeface="Arial" panose="020B0604020202020204"/>
                <a:cs typeface="Arial" panose="020B0604020202020204"/>
              </a:rPr>
              <a:t>b = </a:t>
            </a:r>
            <a:r>
              <a:rPr lang="zh-CN" altLang="en-US" sz="2000" dirty="0">
                <a:latin typeface="Arial" panose="020B0604020202020204"/>
                <a:cs typeface="Arial" panose="020B0604020202020204"/>
              </a:rPr>
              <a:t>此数据点到</a:t>
            </a:r>
            <a:r>
              <a:rPr lang="zh-CN" altLang="en-US" sz="2000" b="1" dirty="0">
                <a:latin typeface="Arial" panose="020B0604020202020204"/>
                <a:cs typeface="Arial" panose="020B0604020202020204"/>
              </a:rPr>
              <a:t>最近簇</a:t>
            </a:r>
            <a:r>
              <a:rPr lang="zh-CN" altLang="en-US" sz="2000" dirty="0">
                <a:latin typeface="Arial" panose="020B0604020202020204"/>
                <a:cs typeface="Arial" panose="020B0604020202020204"/>
              </a:rPr>
              <a:t>中所有点的平均距离，</a:t>
            </a:r>
            <a:r>
              <a:rPr lang="zh-CN" altLang="en-US" sz="2000" dirty="0">
                <a:solidFill>
                  <a:srgbClr val="0070C0"/>
                </a:solidFill>
                <a:latin typeface="Arial" panose="020B0604020202020204"/>
                <a:cs typeface="Arial" panose="020B0604020202020204"/>
              </a:rPr>
              <a:t>分离度</a:t>
            </a:r>
            <a:endParaRPr lang="en-US" altLang="zh-CN" sz="2000" dirty="0">
              <a:solidFill>
                <a:srgbClr val="0070C0"/>
              </a:solidFill>
              <a:latin typeface="Arial" panose="020B0604020202020204"/>
              <a:cs typeface="Arial" panose="020B0604020202020204"/>
            </a:endParaRPr>
          </a:p>
          <a:p>
            <a:pPr marL="695325" lvl="1" indent="-225425">
              <a:spcBef>
                <a:spcPts val="1200"/>
              </a:spcBef>
              <a:buFont typeface="Wingdings" panose="05000000000000000000"/>
              <a:buChar char=""/>
              <a:tabLst>
                <a:tab pos="238125" algn="l"/>
                <a:tab pos="238760" algn="l"/>
              </a:tabLst>
            </a:pPr>
            <a:r>
              <a:rPr lang="zh-CN" altLang="en-US" sz="2400" dirty="0">
                <a:latin typeface="Arial" panose="020B0604020202020204"/>
                <a:cs typeface="Arial" panose="020B0604020202020204"/>
              </a:rPr>
              <a:t>将所有数据点的轮廓系数取平均值就得到一个总的评分</a:t>
            </a:r>
            <a:endParaRPr lang="en-US" altLang="zh-CN" sz="2400" dirty="0">
              <a:latin typeface="Arial" panose="020B0604020202020204"/>
              <a:cs typeface="Arial" panose="020B0604020202020204"/>
            </a:endParaRPr>
          </a:p>
          <a:p>
            <a:pPr marL="695325" lvl="1" indent="-225425">
              <a:spcBef>
                <a:spcPts val="1200"/>
              </a:spcBef>
              <a:buFont typeface="Wingdings" panose="05000000000000000000"/>
              <a:buChar char=""/>
              <a:tabLst>
                <a:tab pos="238125" algn="l"/>
                <a:tab pos="238760" algn="l"/>
              </a:tabLst>
            </a:pPr>
            <a:r>
              <a:rPr lang="zh-CN" altLang="en-US" sz="2400" dirty="0">
                <a:latin typeface="Arial" panose="020B0604020202020204"/>
                <a:cs typeface="Arial" panose="020B0604020202020204"/>
              </a:rPr>
              <a:t>取值在</a:t>
            </a:r>
            <a:r>
              <a:rPr lang="en-US" altLang="zh-CN" sz="2400" dirty="0">
                <a:latin typeface="Arial" panose="020B0604020202020204"/>
                <a:cs typeface="Arial" panose="020B0604020202020204"/>
              </a:rPr>
              <a:t>[-1, 1]</a:t>
            </a:r>
            <a:r>
              <a:rPr lang="zh-CN" altLang="en-US" sz="2400" dirty="0">
                <a:latin typeface="Arial" panose="020B0604020202020204"/>
                <a:cs typeface="Arial" panose="020B0604020202020204"/>
              </a:rPr>
              <a:t>之间，值越大，聚类效果越好</a:t>
            </a:r>
            <a:endParaRPr lang="en-US" altLang="zh-CN" sz="2400" dirty="0">
              <a:latin typeface="Arial" panose="020B0604020202020204"/>
              <a:cs typeface="Arial" panose="020B0604020202020204"/>
            </a:endParaRPr>
          </a:p>
        </p:txBody>
      </p:sp>
      <p:pic>
        <p:nvPicPr>
          <p:cNvPr id="7" name="图片 6"/>
          <p:cNvPicPr>
            <a:picLocks noChangeAspect="1"/>
          </p:cNvPicPr>
          <p:nvPr/>
        </p:nvPicPr>
        <p:blipFill>
          <a:blip r:embed="rId1" cstate="print">
            <a:biLevel thresh="75000"/>
          </a:blip>
          <a:stretch>
            <a:fillRect/>
          </a:stretch>
        </p:blipFill>
        <p:spPr>
          <a:xfrm>
            <a:off x="6055379" y="2274704"/>
            <a:ext cx="2291751" cy="920311"/>
          </a:xfrm>
          <a:prstGeom prst="rect">
            <a:avLst/>
          </a:prstGeom>
        </p:spPr>
      </p:pic>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7938" y="3666376"/>
            <a:ext cx="2490024" cy="951158"/>
          </a:xfrm>
          <a:prstGeom prst="rect">
            <a:avLst/>
          </a:prstGeom>
          <a:noFill/>
          <a:extLst>
            <a:ext uri="{909E8E84-426E-40DD-AFC4-6F175D3DCCD1}">
              <a14:hiddenFill xmlns:a14="http://schemas.microsoft.com/office/drawing/2010/main">
                <a:solidFill>
                  <a:srgbClr val="FFFFFF"/>
                </a:solidFill>
              </a14:hiddenFill>
            </a:ext>
          </a:extLst>
        </p:spPr>
      </p:pic>
      <p:sp>
        <p:nvSpPr>
          <p:cNvPr id="4" name="标题 5"/>
          <p:cNvSpPr>
            <a:spLocks noGrp="1"/>
          </p:cNvSpPr>
          <p:nvPr/>
        </p:nvSpPr>
        <p:spPr>
          <a:xfrm>
            <a:off x="549910" y="126214"/>
            <a:ext cx="10972800" cy="81818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000" dirty="0" smtClean="0">
                <a:solidFill>
                  <a:srgbClr val="0070C0"/>
                </a:solidFill>
                <a:sym typeface="+mn-ea"/>
              </a:rPr>
              <a:t>1. </a:t>
            </a:r>
            <a:r>
              <a:rPr lang="en-US" altLang="zh-CN" sz="4000" dirty="0" smtClean="0">
                <a:solidFill>
                  <a:srgbClr val="0070C0"/>
                </a:solidFill>
              </a:rPr>
              <a:t> </a:t>
            </a:r>
            <a:r>
              <a:rPr lang="zh-CN" altLang="en-US" sz="4000" dirty="0" smtClean="0">
                <a:solidFill>
                  <a:srgbClr val="0070C0"/>
                </a:solidFill>
              </a:rPr>
              <a:t>聚类</a:t>
            </a:r>
            <a:r>
              <a:rPr lang="zh-CN" altLang="en-US" sz="4000" dirty="0">
                <a:solidFill>
                  <a:srgbClr val="0070C0"/>
                </a:solidFill>
              </a:rPr>
              <a:t>评价指标</a:t>
            </a:r>
            <a:endParaRPr lang="zh-CN" altLang="en-US" sz="4000" dirty="0">
              <a:solidFill>
                <a:srgbClr val="0070C0"/>
              </a:solidFill>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7" y="1925066"/>
            <a:ext cx="3951393" cy="751488"/>
          </a:xfrm>
          <a:prstGeom prst="rect">
            <a:avLst/>
          </a:prstGeom>
        </p:spPr>
        <p:txBody>
          <a:bodyPr vert="horz" wrap="square" lIns="0" tIns="12700" rIns="0" bIns="0" rtlCol="0">
            <a:spAutoFit/>
          </a:bodyPr>
          <a:lstStyle/>
          <a:p>
            <a:pPr marL="12700">
              <a:spcBef>
                <a:spcPts val="100"/>
              </a:spcBef>
            </a:pPr>
            <a:r>
              <a:rPr lang="zh-CN" altLang="en-US" sz="2400" b="1" dirty="0">
                <a:latin typeface="Trebuchet MS" panose="020B0603020202020204"/>
                <a:cs typeface="Trebuchet MS" panose="020B0603020202020204"/>
              </a:rPr>
              <a:t>初始化多次，然后选择得分最高的模型</a:t>
            </a:r>
            <a:endParaRPr sz="24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006FC0"/>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9BB808"/>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9BB808"/>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1" name="object 21"/>
          <p:cNvSpPr txBox="1"/>
          <p:nvPr/>
        </p:nvSpPr>
        <p:spPr>
          <a:xfrm>
            <a:off x="8280909" y="4896256"/>
            <a:ext cx="703241"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321385" y="3132327"/>
            <a:ext cx="1109135"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C00000"/>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C00000"/>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C00000"/>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41" name="object 41"/>
          <p:cNvSpPr/>
          <p:nvPr/>
        </p:nvSpPr>
        <p:spPr>
          <a:xfrm>
            <a:off x="8787384" y="2450593"/>
            <a:ext cx="394547" cy="285115"/>
          </a:xfrm>
          <a:custGeom>
            <a:avLst/>
            <a:gdLst/>
            <a:ahLst/>
            <a:cxnLst/>
            <a:rect l="l" t="t" r="r" b="b"/>
            <a:pathLst>
              <a:path w="295909" h="285114">
                <a:moveTo>
                  <a:pt x="0" y="284988"/>
                </a:moveTo>
                <a:lnTo>
                  <a:pt x="295655" y="284988"/>
                </a:lnTo>
                <a:lnTo>
                  <a:pt x="295655" y="0"/>
                </a:lnTo>
                <a:lnTo>
                  <a:pt x="0" y="0"/>
                </a:lnTo>
                <a:lnTo>
                  <a:pt x="0" y="284988"/>
                </a:lnTo>
                <a:close/>
              </a:path>
            </a:pathLst>
          </a:custGeom>
          <a:solidFill>
            <a:srgbClr val="006FC0"/>
          </a:solidFill>
        </p:spPr>
        <p:txBody>
          <a:bodyPr wrap="square" lIns="0" tIns="0" rIns="0" bIns="0" rtlCol="0"/>
          <a:lstStyle/>
          <a:p/>
        </p:txBody>
      </p:sp>
      <p:sp>
        <p:nvSpPr>
          <p:cNvPr id="42" name="object 42"/>
          <p:cNvSpPr/>
          <p:nvPr/>
        </p:nvSpPr>
        <p:spPr>
          <a:xfrm>
            <a:off x="8787384" y="2450593"/>
            <a:ext cx="394547" cy="285115"/>
          </a:xfrm>
          <a:custGeom>
            <a:avLst/>
            <a:gdLst/>
            <a:ahLst/>
            <a:cxnLst/>
            <a:rect l="l" t="t" r="r" b="b"/>
            <a:pathLst>
              <a:path w="295909" h="285114">
                <a:moveTo>
                  <a:pt x="0" y="284988"/>
                </a:moveTo>
                <a:lnTo>
                  <a:pt x="295655" y="284988"/>
                </a:lnTo>
                <a:lnTo>
                  <a:pt x="295655" y="0"/>
                </a:lnTo>
                <a:lnTo>
                  <a:pt x="0" y="0"/>
                </a:lnTo>
                <a:lnTo>
                  <a:pt x="0" y="284988"/>
                </a:lnTo>
                <a:close/>
              </a:path>
            </a:pathLst>
          </a:custGeom>
          <a:ln w="28956">
            <a:solidFill>
              <a:srgbClr val="FFFFFF"/>
            </a:solidFill>
          </a:ln>
        </p:spPr>
        <p:txBody>
          <a:bodyPr wrap="square" lIns="0" tIns="0" rIns="0" bIns="0" rtlCol="0"/>
          <a:lstStyle/>
          <a:p/>
        </p:txBody>
      </p:sp>
      <p:sp>
        <p:nvSpPr>
          <p:cNvPr id="43" name="object 43"/>
          <p:cNvSpPr/>
          <p:nvPr/>
        </p:nvSpPr>
        <p:spPr>
          <a:xfrm>
            <a:off x="10053320" y="1676400"/>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solidFill>
            <a:srgbClr val="9BB808"/>
          </a:solidFill>
        </p:spPr>
        <p:txBody>
          <a:bodyPr wrap="square" lIns="0" tIns="0" rIns="0" bIns="0" rtlCol="0"/>
          <a:lstStyle/>
          <a:p/>
        </p:txBody>
      </p:sp>
      <p:sp>
        <p:nvSpPr>
          <p:cNvPr id="44" name="object 44"/>
          <p:cNvSpPr/>
          <p:nvPr/>
        </p:nvSpPr>
        <p:spPr>
          <a:xfrm>
            <a:off x="10053320" y="1676400"/>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5" name="object 45"/>
          <p:cNvSpPr/>
          <p:nvPr/>
        </p:nvSpPr>
        <p:spPr>
          <a:xfrm>
            <a:off x="6680200" y="3476244"/>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solidFill>
            <a:srgbClr val="C00000"/>
          </a:solidFill>
        </p:spPr>
        <p:txBody>
          <a:bodyPr wrap="square" lIns="0" tIns="0" rIns="0" bIns="0" rtlCol="0"/>
          <a:lstStyle/>
          <a:p/>
        </p:txBody>
      </p:sp>
      <p:sp>
        <p:nvSpPr>
          <p:cNvPr id="46" name="object 46"/>
          <p:cNvSpPr/>
          <p:nvPr/>
        </p:nvSpPr>
        <p:spPr>
          <a:xfrm>
            <a:off x="6680200" y="3476244"/>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9" name="标题 48"/>
          <p:cNvSpPr>
            <a:spLocks noGrp="1"/>
          </p:cNvSpPr>
          <p:nvPr>
            <p:ph type="title"/>
          </p:nvPr>
        </p:nvSpPr>
        <p:spPr/>
        <p:txBody>
          <a:bodyPr/>
          <a:lstStyle/>
          <a:p>
            <a:r>
              <a:rPr lang="zh-CN" altLang="en-US" dirty="0"/>
              <a:t>哪个模型正确？</a:t>
            </a:r>
            <a:endParaRPr lang="zh-CN" alt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7" y="1925066"/>
            <a:ext cx="2817065" cy="320601"/>
          </a:xfrm>
          <a:prstGeom prst="rect">
            <a:avLst/>
          </a:prstGeom>
        </p:spPr>
        <p:txBody>
          <a:bodyPr vert="horz" wrap="square" lIns="0" tIns="12700" rIns="0" bIns="0" rtlCol="0">
            <a:spAutoFit/>
          </a:bodyPr>
          <a:lstStyle/>
          <a:p>
            <a:pPr marL="12700">
              <a:spcBef>
                <a:spcPts val="100"/>
              </a:spcBef>
            </a:pPr>
            <a:r>
              <a:rPr sz="2000" b="1" dirty="0">
                <a:latin typeface="Trebuchet MS" panose="020B0603020202020204"/>
                <a:cs typeface="Trebuchet MS" panose="020B0603020202020204"/>
              </a:rPr>
              <a:t>Inertia = 12.645</a:t>
            </a:r>
            <a:endParaRPr sz="20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9BB808"/>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9BB808"/>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9BB808"/>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9BB808"/>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9BB808"/>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9BB808"/>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1" name="object 21"/>
          <p:cNvSpPr txBox="1"/>
          <p:nvPr/>
        </p:nvSpPr>
        <p:spPr>
          <a:xfrm>
            <a:off x="8280908" y="4896256"/>
            <a:ext cx="820589"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a:latin typeface="Verdana" panose="020B0604030504040204"/>
              <a:cs typeface="Verdana" panose="020B0604030504040204"/>
            </a:endParaRPr>
          </a:p>
        </p:txBody>
      </p:sp>
      <p:sp>
        <p:nvSpPr>
          <p:cNvPr id="22" name="object 22"/>
          <p:cNvSpPr txBox="1"/>
          <p:nvPr/>
        </p:nvSpPr>
        <p:spPr>
          <a:xfrm>
            <a:off x="4321385" y="3132327"/>
            <a:ext cx="106544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C00000"/>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FFC000"/>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FFC000"/>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FFC000"/>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FFC000"/>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FFC000"/>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FFC000"/>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FFC000"/>
          </a:solidFill>
        </p:spPr>
        <p:txBody>
          <a:bodyPr wrap="square" lIns="0" tIns="0" rIns="0" bIns="0" rtlCol="0"/>
          <a:lstStyle/>
          <a:p/>
        </p:txBody>
      </p:sp>
      <p:sp>
        <p:nvSpPr>
          <p:cNvPr id="41" name="object 41"/>
          <p:cNvSpPr/>
          <p:nvPr/>
        </p:nvSpPr>
        <p:spPr>
          <a:xfrm>
            <a:off x="8376920" y="4096511"/>
            <a:ext cx="394547" cy="287020"/>
          </a:xfrm>
          <a:custGeom>
            <a:avLst/>
            <a:gdLst/>
            <a:ahLst/>
            <a:cxnLst/>
            <a:rect l="l" t="t" r="r" b="b"/>
            <a:pathLst>
              <a:path w="295909" h="287020">
                <a:moveTo>
                  <a:pt x="0" y="286512"/>
                </a:moveTo>
                <a:lnTo>
                  <a:pt x="295656" y="286512"/>
                </a:lnTo>
                <a:lnTo>
                  <a:pt x="295656" y="0"/>
                </a:lnTo>
                <a:lnTo>
                  <a:pt x="0" y="0"/>
                </a:lnTo>
                <a:lnTo>
                  <a:pt x="0" y="286512"/>
                </a:lnTo>
                <a:close/>
              </a:path>
            </a:pathLst>
          </a:custGeom>
          <a:solidFill>
            <a:srgbClr val="FFC000"/>
          </a:solidFill>
        </p:spPr>
        <p:txBody>
          <a:bodyPr wrap="square" lIns="0" tIns="0" rIns="0" bIns="0" rtlCol="0"/>
          <a:lstStyle/>
          <a:p/>
        </p:txBody>
      </p:sp>
      <p:sp>
        <p:nvSpPr>
          <p:cNvPr id="42" name="object 42"/>
          <p:cNvSpPr/>
          <p:nvPr/>
        </p:nvSpPr>
        <p:spPr>
          <a:xfrm>
            <a:off x="8376920" y="4096511"/>
            <a:ext cx="394547" cy="287020"/>
          </a:xfrm>
          <a:custGeom>
            <a:avLst/>
            <a:gdLst/>
            <a:ahLst/>
            <a:cxnLst/>
            <a:rect l="l" t="t" r="r" b="b"/>
            <a:pathLst>
              <a:path w="295909" h="287020">
                <a:moveTo>
                  <a:pt x="0" y="286512"/>
                </a:moveTo>
                <a:lnTo>
                  <a:pt x="295656" y="286512"/>
                </a:lnTo>
                <a:lnTo>
                  <a:pt x="295656" y="0"/>
                </a:lnTo>
                <a:lnTo>
                  <a:pt x="0" y="0"/>
                </a:lnTo>
                <a:lnTo>
                  <a:pt x="0" y="286512"/>
                </a:lnTo>
                <a:close/>
              </a:path>
            </a:pathLst>
          </a:custGeom>
          <a:ln w="28956">
            <a:solidFill>
              <a:srgbClr val="FFFFFF"/>
            </a:solidFill>
          </a:ln>
        </p:spPr>
        <p:txBody>
          <a:bodyPr wrap="square" lIns="0" tIns="0" rIns="0" bIns="0" rtlCol="0"/>
          <a:lstStyle/>
          <a:p/>
        </p:txBody>
      </p:sp>
      <p:sp>
        <p:nvSpPr>
          <p:cNvPr id="43" name="object 43"/>
          <p:cNvSpPr/>
          <p:nvPr/>
        </p:nvSpPr>
        <p:spPr>
          <a:xfrm>
            <a:off x="9175495" y="2180846"/>
            <a:ext cx="394547" cy="285115"/>
          </a:xfrm>
          <a:custGeom>
            <a:avLst/>
            <a:gdLst/>
            <a:ahLst/>
            <a:cxnLst/>
            <a:rect l="l" t="t" r="r" b="b"/>
            <a:pathLst>
              <a:path w="295909" h="285115">
                <a:moveTo>
                  <a:pt x="0" y="284988"/>
                </a:moveTo>
                <a:lnTo>
                  <a:pt x="295655" y="284988"/>
                </a:lnTo>
                <a:lnTo>
                  <a:pt x="295655" y="0"/>
                </a:lnTo>
                <a:lnTo>
                  <a:pt x="0" y="0"/>
                </a:lnTo>
                <a:lnTo>
                  <a:pt x="0" y="284988"/>
                </a:lnTo>
                <a:close/>
              </a:path>
            </a:pathLst>
          </a:custGeom>
          <a:solidFill>
            <a:srgbClr val="9BB808"/>
          </a:solidFill>
        </p:spPr>
        <p:txBody>
          <a:bodyPr wrap="square" lIns="0" tIns="0" rIns="0" bIns="0" rtlCol="0"/>
          <a:lstStyle/>
          <a:p/>
        </p:txBody>
      </p:sp>
      <p:sp>
        <p:nvSpPr>
          <p:cNvPr id="44" name="object 44"/>
          <p:cNvSpPr/>
          <p:nvPr/>
        </p:nvSpPr>
        <p:spPr>
          <a:xfrm>
            <a:off x="9175495" y="2180846"/>
            <a:ext cx="394547" cy="285115"/>
          </a:xfrm>
          <a:custGeom>
            <a:avLst/>
            <a:gdLst/>
            <a:ahLst/>
            <a:cxnLst/>
            <a:rect l="l" t="t" r="r" b="b"/>
            <a:pathLst>
              <a:path w="295909" h="285115">
                <a:moveTo>
                  <a:pt x="0" y="284988"/>
                </a:moveTo>
                <a:lnTo>
                  <a:pt x="295655" y="284988"/>
                </a:lnTo>
                <a:lnTo>
                  <a:pt x="295655" y="0"/>
                </a:lnTo>
                <a:lnTo>
                  <a:pt x="0" y="0"/>
                </a:lnTo>
                <a:lnTo>
                  <a:pt x="0" y="284988"/>
                </a:lnTo>
                <a:close/>
              </a:path>
            </a:pathLst>
          </a:custGeom>
          <a:ln w="28956">
            <a:solidFill>
              <a:srgbClr val="FFFFFF"/>
            </a:solidFill>
          </a:ln>
        </p:spPr>
        <p:txBody>
          <a:bodyPr wrap="square" lIns="0" tIns="0" rIns="0" bIns="0" rtlCol="0"/>
          <a:lstStyle/>
          <a:p/>
        </p:txBody>
      </p:sp>
      <p:sp>
        <p:nvSpPr>
          <p:cNvPr id="45" name="object 45"/>
          <p:cNvSpPr/>
          <p:nvPr/>
        </p:nvSpPr>
        <p:spPr>
          <a:xfrm>
            <a:off x="6680200" y="3476244"/>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solidFill>
            <a:srgbClr val="C00000"/>
          </a:solidFill>
        </p:spPr>
        <p:txBody>
          <a:bodyPr wrap="square" lIns="0" tIns="0" rIns="0" bIns="0" rtlCol="0"/>
          <a:lstStyle/>
          <a:p/>
        </p:txBody>
      </p:sp>
      <p:sp>
        <p:nvSpPr>
          <p:cNvPr id="46" name="object 46"/>
          <p:cNvSpPr/>
          <p:nvPr/>
        </p:nvSpPr>
        <p:spPr>
          <a:xfrm>
            <a:off x="6680200" y="3476244"/>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9" name="标题 48"/>
          <p:cNvSpPr>
            <a:spLocks noGrp="1"/>
          </p:cNvSpPr>
          <p:nvPr>
            <p:ph type="title"/>
          </p:nvPr>
        </p:nvSpPr>
        <p:spPr/>
        <p:txBody>
          <a:bodyPr/>
          <a:lstStyle/>
          <a:p>
            <a:r>
              <a:rPr lang="zh-CN" altLang="en-US" dirty="0"/>
              <a:t>哪个模型正确？</a:t>
            </a:r>
            <a:endParaRPr lang="zh-CN" alt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6" y="1925066"/>
            <a:ext cx="3004480" cy="320601"/>
          </a:xfrm>
          <a:prstGeom prst="rect">
            <a:avLst/>
          </a:prstGeom>
        </p:spPr>
        <p:txBody>
          <a:bodyPr vert="horz" wrap="square" lIns="0" tIns="12700" rIns="0" bIns="0" rtlCol="0">
            <a:spAutoFit/>
          </a:bodyPr>
          <a:lstStyle/>
          <a:p>
            <a:pPr marL="12700">
              <a:spcBef>
                <a:spcPts val="100"/>
              </a:spcBef>
            </a:pPr>
            <a:r>
              <a:rPr sz="2000" b="1" dirty="0">
                <a:latin typeface="Trebuchet MS" panose="020B0603020202020204"/>
                <a:cs typeface="Trebuchet MS" panose="020B0603020202020204"/>
              </a:rPr>
              <a:t>Inertia = 12.943</a:t>
            </a:r>
            <a:endParaRPr sz="20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006FC0"/>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9BB808"/>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9BB808"/>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9BB808"/>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1" name="object 21"/>
          <p:cNvSpPr txBox="1"/>
          <p:nvPr/>
        </p:nvSpPr>
        <p:spPr>
          <a:xfrm>
            <a:off x="8280909" y="4896256"/>
            <a:ext cx="703241"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321385" y="3132327"/>
            <a:ext cx="106544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C00000"/>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C00000"/>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C00000"/>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41" name="object 41"/>
          <p:cNvSpPr/>
          <p:nvPr/>
        </p:nvSpPr>
        <p:spPr>
          <a:xfrm>
            <a:off x="8793479" y="2467355"/>
            <a:ext cx="394547" cy="287020"/>
          </a:xfrm>
          <a:custGeom>
            <a:avLst/>
            <a:gdLst/>
            <a:ahLst/>
            <a:cxnLst/>
            <a:rect l="l" t="t" r="r" b="b"/>
            <a:pathLst>
              <a:path w="295909" h="287019">
                <a:moveTo>
                  <a:pt x="0" y="286511"/>
                </a:moveTo>
                <a:lnTo>
                  <a:pt x="295655" y="286511"/>
                </a:lnTo>
                <a:lnTo>
                  <a:pt x="295655" y="0"/>
                </a:lnTo>
                <a:lnTo>
                  <a:pt x="0" y="0"/>
                </a:lnTo>
                <a:lnTo>
                  <a:pt x="0" y="286511"/>
                </a:lnTo>
                <a:close/>
              </a:path>
            </a:pathLst>
          </a:custGeom>
          <a:solidFill>
            <a:srgbClr val="006FC0"/>
          </a:solidFill>
        </p:spPr>
        <p:txBody>
          <a:bodyPr wrap="square" lIns="0" tIns="0" rIns="0" bIns="0" rtlCol="0"/>
          <a:lstStyle/>
          <a:p/>
        </p:txBody>
      </p:sp>
      <p:sp>
        <p:nvSpPr>
          <p:cNvPr id="42" name="object 42"/>
          <p:cNvSpPr/>
          <p:nvPr/>
        </p:nvSpPr>
        <p:spPr>
          <a:xfrm>
            <a:off x="8793479" y="2467355"/>
            <a:ext cx="394547" cy="287020"/>
          </a:xfrm>
          <a:custGeom>
            <a:avLst/>
            <a:gdLst/>
            <a:ahLst/>
            <a:cxnLst/>
            <a:rect l="l" t="t" r="r" b="b"/>
            <a:pathLst>
              <a:path w="295909" h="287019">
                <a:moveTo>
                  <a:pt x="0" y="286511"/>
                </a:moveTo>
                <a:lnTo>
                  <a:pt x="295655" y="286511"/>
                </a:lnTo>
                <a:lnTo>
                  <a:pt x="295655" y="0"/>
                </a:lnTo>
                <a:lnTo>
                  <a:pt x="0" y="0"/>
                </a:lnTo>
                <a:lnTo>
                  <a:pt x="0" y="286511"/>
                </a:lnTo>
                <a:close/>
              </a:path>
            </a:pathLst>
          </a:custGeom>
          <a:ln w="28956">
            <a:solidFill>
              <a:srgbClr val="FFFFFF"/>
            </a:solidFill>
          </a:ln>
        </p:spPr>
        <p:txBody>
          <a:bodyPr wrap="square" lIns="0" tIns="0" rIns="0" bIns="0" rtlCol="0"/>
          <a:lstStyle/>
          <a:p/>
        </p:txBody>
      </p:sp>
      <p:sp>
        <p:nvSpPr>
          <p:cNvPr id="43" name="object 43"/>
          <p:cNvSpPr/>
          <p:nvPr/>
        </p:nvSpPr>
        <p:spPr>
          <a:xfrm>
            <a:off x="10014711" y="1667255"/>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solidFill>
            <a:srgbClr val="9BB808"/>
          </a:solidFill>
        </p:spPr>
        <p:txBody>
          <a:bodyPr wrap="square" lIns="0" tIns="0" rIns="0" bIns="0" rtlCol="0"/>
          <a:lstStyle/>
          <a:p/>
        </p:txBody>
      </p:sp>
      <p:sp>
        <p:nvSpPr>
          <p:cNvPr id="44" name="object 44"/>
          <p:cNvSpPr/>
          <p:nvPr/>
        </p:nvSpPr>
        <p:spPr>
          <a:xfrm>
            <a:off x="10014711" y="1667255"/>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5" name="object 45"/>
          <p:cNvSpPr/>
          <p:nvPr/>
        </p:nvSpPr>
        <p:spPr>
          <a:xfrm>
            <a:off x="7086600" y="3867913"/>
            <a:ext cx="394547" cy="285115"/>
          </a:xfrm>
          <a:custGeom>
            <a:avLst/>
            <a:gdLst/>
            <a:ahLst/>
            <a:cxnLst/>
            <a:rect l="l" t="t" r="r" b="b"/>
            <a:pathLst>
              <a:path w="295910" h="285114">
                <a:moveTo>
                  <a:pt x="0" y="284988"/>
                </a:moveTo>
                <a:lnTo>
                  <a:pt x="295655" y="284988"/>
                </a:lnTo>
                <a:lnTo>
                  <a:pt x="295655" y="0"/>
                </a:lnTo>
                <a:lnTo>
                  <a:pt x="0" y="0"/>
                </a:lnTo>
                <a:lnTo>
                  <a:pt x="0" y="284988"/>
                </a:lnTo>
                <a:close/>
              </a:path>
            </a:pathLst>
          </a:custGeom>
          <a:solidFill>
            <a:srgbClr val="C00000"/>
          </a:solidFill>
        </p:spPr>
        <p:txBody>
          <a:bodyPr wrap="square" lIns="0" tIns="0" rIns="0" bIns="0" rtlCol="0"/>
          <a:lstStyle/>
          <a:p/>
        </p:txBody>
      </p:sp>
      <p:sp>
        <p:nvSpPr>
          <p:cNvPr id="46" name="object 46"/>
          <p:cNvSpPr/>
          <p:nvPr/>
        </p:nvSpPr>
        <p:spPr>
          <a:xfrm>
            <a:off x="7086600" y="3867913"/>
            <a:ext cx="394547" cy="285115"/>
          </a:xfrm>
          <a:custGeom>
            <a:avLst/>
            <a:gdLst/>
            <a:ahLst/>
            <a:cxnLst/>
            <a:rect l="l" t="t" r="r" b="b"/>
            <a:pathLst>
              <a:path w="295910" h="285114">
                <a:moveTo>
                  <a:pt x="0" y="284988"/>
                </a:moveTo>
                <a:lnTo>
                  <a:pt x="295655" y="284988"/>
                </a:lnTo>
                <a:lnTo>
                  <a:pt x="295655" y="0"/>
                </a:lnTo>
                <a:lnTo>
                  <a:pt x="0" y="0"/>
                </a:lnTo>
                <a:lnTo>
                  <a:pt x="0" y="284988"/>
                </a:lnTo>
                <a:close/>
              </a:path>
            </a:pathLst>
          </a:custGeom>
          <a:ln w="28956">
            <a:solidFill>
              <a:srgbClr val="FFFFFF"/>
            </a:solidFill>
          </a:ln>
        </p:spPr>
        <p:txBody>
          <a:bodyPr wrap="square" lIns="0" tIns="0" rIns="0" bIns="0" rtlCol="0"/>
          <a:lstStyle/>
          <a:p/>
        </p:txBody>
      </p:sp>
      <p:sp>
        <p:nvSpPr>
          <p:cNvPr id="49" name="标题 48"/>
          <p:cNvSpPr>
            <a:spLocks noGrp="1"/>
          </p:cNvSpPr>
          <p:nvPr>
            <p:ph type="title"/>
          </p:nvPr>
        </p:nvSpPr>
        <p:spPr/>
        <p:txBody>
          <a:bodyPr/>
          <a:lstStyle/>
          <a:p>
            <a:r>
              <a:rPr lang="zh-CN" altLang="en-US" dirty="0"/>
              <a:t>哪个模型正确？</a:t>
            </a:r>
            <a:endParaRPr lang="zh-CN" alt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6" y="1925066"/>
            <a:ext cx="3160605" cy="320601"/>
          </a:xfrm>
          <a:prstGeom prst="rect">
            <a:avLst/>
          </a:prstGeom>
        </p:spPr>
        <p:txBody>
          <a:bodyPr vert="horz" wrap="square" lIns="0" tIns="12700" rIns="0" bIns="0" rtlCol="0">
            <a:spAutoFit/>
          </a:bodyPr>
          <a:lstStyle/>
          <a:p>
            <a:pPr marL="12700">
              <a:spcBef>
                <a:spcPts val="100"/>
              </a:spcBef>
            </a:pPr>
            <a:r>
              <a:rPr sz="2000" b="1" dirty="0">
                <a:latin typeface="Trebuchet MS" panose="020B0603020202020204"/>
                <a:cs typeface="Trebuchet MS" panose="020B0603020202020204"/>
              </a:rPr>
              <a:t>Inertia = 13.112</a:t>
            </a:r>
            <a:endParaRPr sz="20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006FC0"/>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006FC0"/>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9BB808"/>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9BB808"/>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9BB808"/>
          </a:solidFill>
        </p:spPr>
        <p:txBody>
          <a:bodyPr wrap="square" lIns="0" tIns="0" rIns="0" bIns="0" rtlCol="0"/>
          <a:lstStyle/>
          <a:p/>
        </p:txBody>
      </p:sp>
      <p:sp>
        <p:nvSpPr>
          <p:cNvPr id="21" name="object 21"/>
          <p:cNvSpPr txBox="1"/>
          <p:nvPr/>
        </p:nvSpPr>
        <p:spPr>
          <a:xfrm>
            <a:off x="8280908" y="4896256"/>
            <a:ext cx="781813"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321385" y="3132327"/>
            <a:ext cx="106544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459993"/>
            <a:ext cx="104140" cy="3319779"/>
          </a:xfrm>
          <a:custGeom>
            <a:avLst/>
            <a:gdLst/>
            <a:ahLst/>
            <a:cxnLst/>
            <a:rect l="l" t="t" r="r" b="b"/>
            <a:pathLst>
              <a:path w="78104" h="3319779">
                <a:moveTo>
                  <a:pt x="51815" y="64770"/>
                </a:moveTo>
                <a:lnTo>
                  <a:pt x="25908" y="64770"/>
                </a:lnTo>
                <a:lnTo>
                  <a:pt x="25908" y="3319322"/>
                </a:lnTo>
                <a:lnTo>
                  <a:pt x="51815" y="3319322"/>
                </a:lnTo>
                <a:lnTo>
                  <a:pt x="51815" y="64770"/>
                </a:lnTo>
                <a:close/>
              </a:path>
              <a:path w="78104" h="3319779">
                <a:moveTo>
                  <a:pt x="38862" y="0"/>
                </a:moveTo>
                <a:lnTo>
                  <a:pt x="0" y="77724"/>
                </a:lnTo>
                <a:lnTo>
                  <a:pt x="25908" y="77724"/>
                </a:lnTo>
                <a:lnTo>
                  <a:pt x="25908" y="64770"/>
                </a:lnTo>
                <a:lnTo>
                  <a:pt x="71247" y="64770"/>
                </a:lnTo>
                <a:lnTo>
                  <a:pt x="38862" y="0"/>
                </a:lnTo>
                <a:close/>
              </a:path>
              <a:path w="78104" h="3319779">
                <a:moveTo>
                  <a:pt x="71247" y="64770"/>
                </a:moveTo>
                <a:lnTo>
                  <a:pt x="51815" y="64770"/>
                </a:lnTo>
                <a:lnTo>
                  <a:pt x="51815" y="77724"/>
                </a:lnTo>
                <a:lnTo>
                  <a:pt x="77724" y="77724"/>
                </a:lnTo>
                <a:lnTo>
                  <a:pt x="71247" y="64770"/>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C00000"/>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C00000"/>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C00000"/>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41" name="object 41"/>
          <p:cNvSpPr/>
          <p:nvPr/>
        </p:nvSpPr>
        <p:spPr>
          <a:xfrm>
            <a:off x="8793479" y="2467355"/>
            <a:ext cx="394547" cy="287020"/>
          </a:xfrm>
          <a:custGeom>
            <a:avLst/>
            <a:gdLst/>
            <a:ahLst/>
            <a:cxnLst/>
            <a:rect l="l" t="t" r="r" b="b"/>
            <a:pathLst>
              <a:path w="295909" h="287019">
                <a:moveTo>
                  <a:pt x="0" y="286511"/>
                </a:moveTo>
                <a:lnTo>
                  <a:pt x="295655" y="286511"/>
                </a:lnTo>
                <a:lnTo>
                  <a:pt x="295655" y="0"/>
                </a:lnTo>
                <a:lnTo>
                  <a:pt x="0" y="0"/>
                </a:lnTo>
                <a:lnTo>
                  <a:pt x="0" y="286511"/>
                </a:lnTo>
                <a:close/>
              </a:path>
            </a:pathLst>
          </a:custGeom>
          <a:solidFill>
            <a:srgbClr val="006FC0"/>
          </a:solidFill>
        </p:spPr>
        <p:txBody>
          <a:bodyPr wrap="square" lIns="0" tIns="0" rIns="0" bIns="0" rtlCol="0"/>
          <a:lstStyle/>
          <a:p/>
        </p:txBody>
      </p:sp>
      <p:sp>
        <p:nvSpPr>
          <p:cNvPr id="42" name="object 42"/>
          <p:cNvSpPr/>
          <p:nvPr/>
        </p:nvSpPr>
        <p:spPr>
          <a:xfrm>
            <a:off x="8793479" y="2467355"/>
            <a:ext cx="394547" cy="287020"/>
          </a:xfrm>
          <a:custGeom>
            <a:avLst/>
            <a:gdLst/>
            <a:ahLst/>
            <a:cxnLst/>
            <a:rect l="l" t="t" r="r" b="b"/>
            <a:pathLst>
              <a:path w="295909" h="287019">
                <a:moveTo>
                  <a:pt x="0" y="286511"/>
                </a:moveTo>
                <a:lnTo>
                  <a:pt x="295655" y="286511"/>
                </a:lnTo>
                <a:lnTo>
                  <a:pt x="295655" y="0"/>
                </a:lnTo>
                <a:lnTo>
                  <a:pt x="0" y="0"/>
                </a:lnTo>
                <a:lnTo>
                  <a:pt x="0" y="286511"/>
                </a:lnTo>
                <a:close/>
              </a:path>
            </a:pathLst>
          </a:custGeom>
          <a:ln w="28956">
            <a:solidFill>
              <a:srgbClr val="FFFFFF"/>
            </a:solidFill>
          </a:ln>
        </p:spPr>
        <p:txBody>
          <a:bodyPr wrap="square" lIns="0" tIns="0" rIns="0" bIns="0" rtlCol="0"/>
          <a:lstStyle/>
          <a:p/>
        </p:txBody>
      </p:sp>
      <p:sp>
        <p:nvSpPr>
          <p:cNvPr id="43" name="object 43"/>
          <p:cNvSpPr/>
          <p:nvPr/>
        </p:nvSpPr>
        <p:spPr>
          <a:xfrm>
            <a:off x="10014711" y="1667255"/>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solidFill>
            <a:srgbClr val="9BB808"/>
          </a:solidFill>
        </p:spPr>
        <p:txBody>
          <a:bodyPr wrap="square" lIns="0" tIns="0" rIns="0" bIns="0" rtlCol="0"/>
          <a:lstStyle/>
          <a:p/>
        </p:txBody>
      </p:sp>
      <p:sp>
        <p:nvSpPr>
          <p:cNvPr id="44" name="object 44"/>
          <p:cNvSpPr/>
          <p:nvPr/>
        </p:nvSpPr>
        <p:spPr>
          <a:xfrm>
            <a:off x="10014711" y="1667255"/>
            <a:ext cx="394547" cy="287020"/>
          </a:xfrm>
          <a:custGeom>
            <a:avLst/>
            <a:gdLst/>
            <a:ahLst/>
            <a:cxnLst/>
            <a:rect l="l" t="t" r="r" b="b"/>
            <a:pathLst>
              <a:path w="295909"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5" name="object 45"/>
          <p:cNvSpPr/>
          <p:nvPr/>
        </p:nvSpPr>
        <p:spPr>
          <a:xfrm>
            <a:off x="7086600" y="3867913"/>
            <a:ext cx="394547" cy="285115"/>
          </a:xfrm>
          <a:custGeom>
            <a:avLst/>
            <a:gdLst/>
            <a:ahLst/>
            <a:cxnLst/>
            <a:rect l="l" t="t" r="r" b="b"/>
            <a:pathLst>
              <a:path w="295910" h="285114">
                <a:moveTo>
                  <a:pt x="0" y="284988"/>
                </a:moveTo>
                <a:lnTo>
                  <a:pt x="295655" y="284988"/>
                </a:lnTo>
                <a:lnTo>
                  <a:pt x="295655" y="0"/>
                </a:lnTo>
                <a:lnTo>
                  <a:pt x="0" y="0"/>
                </a:lnTo>
                <a:lnTo>
                  <a:pt x="0" y="284988"/>
                </a:lnTo>
                <a:close/>
              </a:path>
            </a:pathLst>
          </a:custGeom>
          <a:solidFill>
            <a:srgbClr val="C00000"/>
          </a:solidFill>
        </p:spPr>
        <p:txBody>
          <a:bodyPr wrap="square" lIns="0" tIns="0" rIns="0" bIns="0" rtlCol="0"/>
          <a:lstStyle/>
          <a:p/>
        </p:txBody>
      </p:sp>
      <p:sp>
        <p:nvSpPr>
          <p:cNvPr id="46" name="object 46"/>
          <p:cNvSpPr/>
          <p:nvPr/>
        </p:nvSpPr>
        <p:spPr>
          <a:xfrm>
            <a:off x="7086600" y="3867913"/>
            <a:ext cx="394547" cy="285115"/>
          </a:xfrm>
          <a:custGeom>
            <a:avLst/>
            <a:gdLst/>
            <a:ahLst/>
            <a:cxnLst/>
            <a:rect l="l" t="t" r="r" b="b"/>
            <a:pathLst>
              <a:path w="295910" h="285114">
                <a:moveTo>
                  <a:pt x="0" y="284988"/>
                </a:moveTo>
                <a:lnTo>
                  <a:pt x="295655" y="284988"/>
                </a:lnTo>
                <a:lnTo>
                  <a:pt x="295655" y="0"/>
                </a:lnTo>
                <a:lnTo>
                  <a:pt x="0" y="0"/>
                </a:lnTo>
                <a:lnTo>
                  <a:pt x="0" y="284988"/>
                </a:lnTo>
                <a:close/>
              </a:path>
            </a:pathLst>
          </a:custGeom>
          <a:ln w="28956">
            <a:solidFill>
              <a:srgbClr val="FFFFFF"/>
            </a:solidFill>
          </a:ln>
        </p:spPr>
        <p:txBody>
          <a:bodyPr wrap="square" lIns="0" tIns="0" rIns="0" bIns="0" rtlCol="0"/>
          <a:lstStyle/>
          <a:p/>
        </p:txBody>
      </p:sp>
      <p:sp>
        <p:nvSpPr>
          <p:cNvPr id="49" name="标题 48"/>
          <p:cNvSpPr>
            <a:spLocks noGrp="1"/>
          </p:cNvSpPr>
          <p:nvPr>
            <p:ph type="title"/>
          </p:nvPr>
        </p:nvSpPr>
        <p:spPr/>
        <p:txBody>
          <a:bodyPr/>
          <a:lstStyle/>
          <a:p>
            <a:r>
              <a:rPr lang="zh-CN" altLang="en-US" dirty="0"/>
              <a:t>哪个模型正确？</a:t>
            </a:r>
            <a:endParaRPr lang="zh-CN" alt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762425"/>
          </a:xfrm>
        </p:spPr>
        <p:txBody>
          <a:bodyPr/>
          <a:lstStyle/>
          <a:p>
            <a:r>
              <a:rPr lang="en-US" altLang="zh-CN" sz="4000" dirty="0" smtClean="0">
                <a:solidFill>
                  <a:srgbClr val="0070C0"/>
                </a:solidFill>
                <a:sym typeface="+mn-ea"/>
              </a:rPr>
              <a:t>2. </a:t>
            </a:r>
            <a:r>
              <a:rPr lang="zh-CN" altLang="en-US" sz="4000" dirty="0" smtClean="0">
                <a:solidFill>
                  <a:srgbClr val="0070C0"/>
                </a:solidFill>
              </a:rPr>
              <a:t>簇类个数</a:t>
            </a:r>
            <a:r>
              <a:rPr lang="en-US" altLang="zh-CN" sz="4000" dirty="0" smtClean="0">
                <a:solidFill>
                  <a:srgbClr val="0070C0"/>
                </a:solidFill>
              </a:rPr>
              <a:t>k</a:t>
            </a:r>
            <a:r>
              <a:rPr lang="zh-CN" altLang="en-US" sz="4000" dirty="0" smtClean="0">
                <a:solidFill>
                  <a:srgbClr val="0070C0"/>
                </a:solidFill>
              </a:rPr>
              <a:t>的调整</a:t>
            </a:r>
            <a:endParaRPr lang="zh-CN" altLang="en-US" sz="4000" dirty="0">
              <a:solidFill>
                <a:srgbClr val="0070C0"/>
              </a:solidFill>
            </a:endParaRPr>
          </a:p>
        </p:txBody>
      </p:sp>
      <p:sp>
        <p:nvSpPr>
          <p:cNvPr id="4" name="object 3"/>
          <p:cNvSpPr txBox="1">
            <a:spLocks noGrp="1"/>
          </p:cNvSpPr>
          <p:nvPr>
            <p:ph idx="1"/>
          </p:nvPr>
        </p:nvSpPr>
        <p:spPr>
          <a:xfrm>
            <a:off x="609600" y="1600201"/>
            <a:ext cx="10972800" cy="2428229"/>
          </a:xfrm>
          <a:prstGeom prst="rect">
            <a:avLst/>
          </a:prstGeom>
        </p:spPr>
        <p:txBody>
          <a:bodyPr vert="horz" wrap="square" lIns="0" tIns="12065" rIns="0" bIns="0" rtlCol="0">
            <a:spAutoFit/>
          </a:bodyPr>
          <a:lstStyle/>
          <a:p>
            <a:pPr marL="238125" indent="-225425">
              <a:lnSpc>
                <a:spcPct val="100000"/>
              </a:lnSpc>
              <a:spcBef>
                <a:spcPts val="1200"/>
              </a:spcBef>
              <a:spcAft>
                <a:spcPts val="600"/>
              </a:spcAft>
              <a:buFont typeface="Wingdings" panose="05000000000000000000"/>
              <a:buChar char=""/>
              <a:tabLst>
                <a:tab pos="238125" algn="l"/>
                <a:tab pos="238760" algn="l"/>
              </a:tabLst>
            </a:pPr>
            <a:r>
              <a:rPr lang="zh-CN" altLang="en-US" dirty="0">
                <a:latin typeface="Arial" panose="020B0604020202020204"/>
                <a:cs typeface="Arial" panose="020B0604020202020204"/>
              </a:rPr>
              <a:t>有时应用中有一个</a:t>
            </a:r>
            <a:r>
              <a:rPr lang="en-US" altLang="zh-CN" dirty="0" smtClean="0">
                <a:solidFill>
                  <a:srgbClr val="0070C0"/>
                </a:solidFill>
                <a:latin typeface="Arial" panose="020B0604020202020204"/>
                <a:cs typeface="Arial" panose="020B0604020202020204"/>
              </a:rPr>
              <a:t>K</a:t>
            </a:r>
            <a:r>
              <a:rPr lang="zh-CN" altLang="en-US" dirty="0" smtClean="0">
                <a:latin typeface="Arial" panose="020B0604020202020204"/>
                <a:cs typeface="Arial" panose="020B0604020202020204"/>
              </a:rPr>
              <a:t>：</a:t>
            </a:r>
            <a:endParaRPr dirty="0">
              <a:latin typeface="Arial" panose="020B0604020202020204"/>
              <a:cs typeface="Arial" panose="020B0604020202020204"/>
            </a:endParaRPr>
          </a:p>
          <a:p>
            <a:pPr marL="695325" lvl="1" indent="-225425">
              <a:lnSpc>
                <a:spcPct val="100000"/>
              </a:lnSpc>
              <a:spcBef>
                <a:spcPts val="1200"/>
              </a:spcBef>
              <a:spcAft>
                <a:spcPts val="600"/>
              </a:spcAft>
              <a:buFont typeface="Wingdings" panose="05000000000000000000"/>
              <a:buChar char=""/>
              <a:tabLst>
                <a:tab pos="238125" algn="l"/>
                <a:tab pos="238760" algn="l"/>
              </a:tabLst>
            </a:pPr>
            <a:r>
              <a:rPr lang="zh-CN" altLang="en-US" sz="2800" dirty="0">
                <a:latin typeface="Arial" panose="020B0604020202020204"/>
                <a:cs typeface="Arial" panose="020B0604020202020204"/>
              </a:rPr>
              <a:t>将相似的任务聚集在四个</a:t>
            </a:r>
            <a:r>
              <a:rPr lang="en-US" altLang="zh-CN" sz="2800" dirty="0">
                <a:latin typeface="Arial" panose="020B0604020202020204"/>
                <a:cs typeface="Arial" panose="020B0604020202020204"/>
              </a:rPr>
              <a:t>CPU</a:t>
            </a:r>
            <a:r>
              <a:rPr lang="zh-CN" altLang="en-US" sz="2800" dirty="0">
                <a:latin typeface="Arial" panose="020B0604020202020204"/>
                <a:cs typeface="Arial" panose="020B0604020202020204"/>
              </a:rPr>
              <a:t>核上</a:t>
            </a:r>
            <a:r>
              <a:rPr sz="2800" dirty="0">
                <a:latin typeface="Arial" panose="020B0604020202020204"/>
                <a:cs typeface="Arial" panose="020B0604020202020204"/>
              </a:rPr>
              <a:t> (K=4)</a:t>
            </a:r>
            <a:endParaRPr sz="2800" dirty="0">
              <a:latin typeface="Arial" panose="020B0604020202020204"/>
              <a:cs typeface="Arial" panose="020B0604020202020204"/>
            </a:endParaRPr>
          </a:p>
          <a:p>
            <a:pPr marL="695325" lvl="1" indent="-225425">
              <a:lnSpc>
                <a:spcPct val="100000"/>
              </a:lnSpc>
              <a:spcBef>
                <a:spcPts val="1200"/>
              </a:spcBef>
              <a:spcAft>
                <a:spcPts val="600"/>
              </a:spcAft>
              <a:buFont typeface="Wingdings" panose="05000000000000000000"/>
              <a:buChar char=""/>
              <a:tabLst>
                <a:tab pos="238125" algn="l"/>
                <a:tab pos="238760" algn="l"/>
              </a:tabLst>
            </a:pPr>
            <a:r>
              <a:rPr lang="zh-CN" altLang="en-US" sz="2800" dirty="0">
                <a:latin typeface="Arial" panose="020B0604020202020204"/>
                <a:cs typeface="Arial" panose="020B0604020202020204"/>
              </a:rPr>
              <a:t>一件服装设计成</a:t>
            </a:r>
            <a:r>
              <a:rPr lang="en-US" altLang="zh-CN" sz="2800" dirty="0">
                <a:latin typeface="Arial" panose="020B0604020202020204"/>
                <a:cs typeface="Arial" panose="020B0604020202020204"/>
              </a:rPr>
              <a:t>10</a:t>
            </a:r>
            <a:r>
              <a:rPr lang="zh-CN" altLang="en-US" sz="2800" dirty="0">
                <a:latin typeface="Arial" panose="020B0604020202020204"/>
                <a:cs typeface="Arial" panose="020B0604020202020204"/>
              </a:rPr>
              <a:t>种不同大小以适合不同的人</a:t>
            </a:r>
            <a:r>
              <a:rPr sz="2800" dirty="0">
                <a:latin typeface="Arial" panose="020B0604020202020204"/>
                <a:cs typeface="Arial" panose="020B0604020202020204"/>
              </a:rPr>
              <a:t> (K=10)</a:t>
            </a:r>
            <a:endParaRPr sz="2800" dirty="0">
              <a:latin typeface="Arial" panose="020B0604020202020204"/>
              <a:cs typeface="Arial" panose="020B0604020202020204"/>
            </a:endParaRPr>
          </a:p>
          <a:p>
            <a:pPr marL="695325" lvl="1" indent="-225425">
              <a:lnSpc>
                <a:spcPct val="100000"/>
              </a:lnSpc>
              <a:spcBef>
                <a:spcPts val="1200"/>
              </a:spcBef>
              <a:spcAft>
                <a:spcPts val="600"/>
              </a:spcAft>
              <a:buFont typeface="Wingdings" panose="05000000000000000000"/>
              <a:buChar char=""/>
              <a:tabLst>
                <a:tab pos="238125" algn="l"/>
                <a:tab pos="238760" algn="l"/>
              </a:tabLst>
            </a:pPr>
            <a:r>
              <a:rPr lang="zh-CN" altLang="en-US" sz="2800" dirty="0">
                <a:latin typeface="Arial" panose="020B0604020202020204"/>
                <a:cs typeface="Arial" panose="020B0604020202020204"/>
              </a:rPr>
              <a:t>一个导览界面可以浏览</a:t>
            </a:r>
            <a:r>
              <a:rPr lang="en-US" altLang="zh-CN" sz="2800" dirty="0">
                <a:latin typeface="Arial" panose="020B0604020202020204"/>
                <a:cs typeface="Arial" panose="020B0604020202020204"/>
              </a:rPr>
              <a:t>20</a:t>
            </a:r>
            <a:r>
              <a:rPr lang="zh-CN" altLang="en-US" sz="2800" dirty="0">
                <a:latin typeface="Arial" panose="020B0604020202020204"/>
                <a:cs typeface="Arial" panose="020B0604020202020204"/>
              </a:rPr>
              <a:t>种不同科学领域的论文</a:t>
            </a:r>
            <a:r>
              <a:rPr sz="2800" dirty="0">
                <a:latin typeface="Arial" panose="020B0604020202020204"/>
                <a:cs typeface="Arial" panose="020B0604020202020204"/>
              </a:rPr>
              <a:t> (K=20)</a:t>
            </a:r>
            <a:endParaRPr sz="2800" dirty="0">
              <a:latin typeface="Arial" panose="020B0604020202020204"/>
              <a:cs typeface="Arial" panose="020B0604020202020204"/>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4" y="1926590"/>
            <a:ext cx="4535596" cy="2535951"/>
          </a:xfrm>
          <a:prstGeom prst="rect">
            <a:avLst/>
          </a:prstGeom>
        </p:spPr>
        <p:txBody>
          <a:bodyPr vert="horz" wrap="square" lIns="0" tIns="12065" rIns="0" bIns="0" rtlCol="0">
            <a:spAutoFit/>
          </a:bodyPr>
          <a:lstStyle/>
          <a:p>
            <a:pPr marL="238125" indent="-225425">
              <a:spcBef>
                <a:spcPts val="95"/>
              </a:spcBef>
              <a:buFont typeface="Wingdings" panose="05000000000000000000"/>
              <a:buChar char=""/>
              <a:tabLst>
                <a:tab pos="238125" algn="l"/>
                <a:tab pos="238760" algn="l"/>
              </a:tabLst>
            </a:pPr>
            <a:r>
              <a:rPr lang="en-US" altLang="zh-CN" sz="2400" b="1" spc="20" dirty="0">
                <a:latin typeface="Arial" panose="020B0604020202020204"/>
                <a:cs typeface="Arial" panose="020B0604020202020204"/>
              </a:rPr>
              <a:t>Inertia</a:t>
            </a:r>
            <a:r>
              <a:rPr lang="zh-CN" altLang="en-US" sz="2400" b="1" spc="20" dirty="0">
                <a:latin typeface="Arial" panose="020B0604020202020204"/>
                <a:cs typeface="Arial" panose="020B0604020202020204"/>
              </a:rPr>
              <a:t>衡量点到聚簇中心的距离</a:t>
            </a:r>
            <a:endParaRPr lang="zh-CN" altLang="en-US" sz="2400" b="1" dirty="0">
              <a:latin typeface="Arial" panose="020B0604020202020204"/>
              <a:cs typeface="Arial" panose="020B0604020202020204"/>
            </a:endParaRPr>
          </a:p>
          <a:p>
            <a:pPr marL="238125" marR="5080" indent="-225425">
              <a:spcBef>
                <a:spcPts val="1200"/>
              </a:spcBef>
              <a:buFont typeface="Wingdings" panose="05000000000000000000"/>
              <a:buChar char=""/>
              <a:tabLst>
                <a:tab pos="238125" algn="l"/>
                <a:tab pos="238760" algn="l"/>
              </a:tabLst>
            </a:pPr>
            <a:r>
              <a:rPr lang="zh-CN" altLang="en-US" sz="2400" b="1" spc="-5" dirty="0">
                <a:latin typeface="Arial" panose="020B0604020202020204"/>
                <a:cs typeface="Arial" panose="020B0604020202020204"/>
              </a:rPr>
              <a:t>值会随着</a:t>
            </a:r>
            <a:r>
              <a:rPr lang="en-US" altLang="zh-CN" sz="2400" b="1" spc="-5" dirty="0">
                <a:latin typeface="Arial" panose="020B0604020202020204"/>
                <a:cs typeface="Arial" panose="020B0604020202020204"/>
              </a:rPr>
              <a:t>K</a:t>
            </a:r>
            <a:r>
              <a:rPr lang="zh-CN" altLang="en-US" sz="2400" b="1" spc="-5" dirty="0">
                <a:latin typeface="Arial" panose="020B0604020202020204"/>
                <a:cs typeface="Arial" panose="020B0604020202020204"/>
              </a:rPr>
              <a:t>的增大而不断降低，只要聚簇密度在不断增大</a:t>
            </a:r>
            <a:endParaRPr lang="en-US" altLang="zh-CN" sz="2400" b="1" spc="-5" dirty="0">
              <a:latin typeface="Arial" panose="020B0604020202020204"/>
              <a:cs typeface="Arial" panose="020B0604020202020204"/>
            </a:endParaRPr>
          </a:p>
          <a:p>
            <a:pPr marL="238125" marR="5080" indent="-225425">
              <a:spcBef>
                <a:spcPts val="1200"/>
              </a:spcBef>
              <a:buFont typeface="Wingdings" panose="05000000000000000000"/>
              <a:buChar char=""/>
              <a:tabLst>
                <a:tab pos="238125" algn="l"/>
                <a:tab pos="238760" algn="l"/>
              </a:tabLst>
            </a:pPr>
            <a:r>
              <a:rPr lang="zh-CN" altLang="en-US" sz="2400" b="1" dirty="0">
                <a:latin typeface="Arial" panose="020B0604020202020204"/>
                <a:cs typeface="Arial" panose="020B0604020202020204"/>
              </a:rPr>
              <a:t>小于真实</a:t>
            </a:r>
            <a:r>
              <a:rPr lang="en-US" altLang="zh-CN" sz="2400" b="1" dirty="0">
                <a:latin typeface="Arial" panose="020B0604020202020204"/>
                <a:cs typeface="Arial" panose="020B0604020202020204"/>
              </a:rPr>
              <a:t>K</a:t>
            </a:r>
            <a:r>
              <a:rPr lang="zh-CN" altLang="en-US" sz="2400" b="1" dirty="0">
                <a:latin typeface="Arial" panose="020B0604020202020204"/>
                <a:cs typeface="Arial" panose="020B0604020202020204"/>
              </a:rPr>
              <a:t>值时，下降幅度很大；超过真实</a:t>
            </a:r>
            <a:r>
              <a:rPr lang="en-US" altLang="zh-CN" sz="2400" b="1" dirty="0">
                <a:latin typeface="Arial" panose="020B0604020202020204"/>
                <a:cs typeface="Arial" panose="020B0604020202020204"/>
              </a:rPr>
              <a:t>K</a:t>
            </a:r>
            <a:r>
              <a:rPr lang="zh-CN" altLang="en-US" sz="2400" b="1" dirty="0">
                <a:latin typeface="Arial" panose="020B0604020202020204"/>
                <a:cs typeface="Arial" panose="020B0604020202020204"/>
              </a:rPr>
              <a:t>值时，下降趋于平缓</a:t>
            </a:r>
            <a:endParaRPr sz="2400" b="1" dirty="0">
              <a:latin typeface="Arial" panose="020B0604020202020204"/>
              <a:cs typeface="Arial" panose="020B0604020202020204"/>
            </a:endParaRPr>
          </a:p>
        </p:txBody>
      </p:sp>
      <p:sp>
        <p:nvSpPr>
          <p:cNvPr id="5" name="object 5"/>
          <p:cNvSpPr/>
          <p:nvPr/>
        </p:nvSpPr>
        <p:spPr>
          <a:xfrm>
            <a:off x="6435346" y="2081783"/>
            <a:ext cx="104140" cy="2330450"/>
          </a:xfrm>
          <a:custGeom>
            <a:avLst/>
            <a:gdLst/>
            <a:ahLst/>
            <a:cxnLst/>
            <a:rect l="l" t="t" r="r" b="b"/>
            <a:pathLst>
              <a:path w="78104" h="2330450">
                <a:moveTo>
                  <a:pt x="51815" y="64769"/>
                </a:moveTo>
                <a:lnTo>
                  <a:pt x="25907" y="64769"/>
                </a:lnTo>
                <a:lnTo>
                  <a:pt x="25907" y="2330196"/>
                </a:lnTo>
                <a:lnTo>
                  <a:pt x="51815" y="2330196"/>
                </a:lnTo>
                <a:lnTo>
                  <a:pt x="51815" y="64769"/>
                </a:lnTo>
                <a:close/>
              </a:path>
              <a:path w="78104" h="2330450">
                <a:moveTo>
                  <a:pt x="38862" y="0"/>
                </a:moveTo>
                <a:lnTo>
                  <a:pt x="0" y="77724"/>
                </a:lnTo>
                <a:lnTo>
                  <a:pt x="25907" y="77724"/>
                </a:lnTo>
                <a:lnTo>
                  <a:pt x="25907" y="64769"/>
                </a:lnTo>
                <a:lnTo>
                  <a:pt x="71246" y="64769"/>
                </a:lnTo>
                <a:lnTo>
                  <a:pt x="38862" y="0"/>
                </a:lnTo>
                <a:close/>
              </a:path>
              <a:path w="78104" h="2330450">
                <a:moveTo>
                  <a:pt x="71246" y="64769"/>
                </a:moveTo>
                <a:lnTo>
                  <a:pt x="51815" y="64769"/>
                </a:lnTo>
                <a:lnTo>
                  <a:pt x="51815" y="77724"/>
                </a:lnTo>
                <a:lnTo>
                  <a:pt x="77724" y="77724"/>
                </a:lnTo>
                <a:lnTo>
                  <a:pt x="71246" y="64769"/>
                </a:lnTo>
                <a:close/>
              </a:path>
            </a:pathLst>
          </a:custGeom>
          <a:solidFill>
            <a:srgbClr val="344B5E"/>
          </a:solidFill>
        </p:spPr>
        <p:txBody>
          <a:bodyPr wrap="square" lIns="0" tIns="0" rIns="0" bIns="0" rtlCol="0"/>
          <a:lstStyle/>
          <a:p/>
        </p:txBody>
      </p:sp>
      <p:sp>
        <p:nvSpPr>
          <p:cNvPr id="6" name="object 6"/>
          <p:cNvSpPr/>
          <p:nvPr/>
        </p:nvSpPr>
        <p:spPr>
          <a:xfrm>
            <a:off x="6487160" y="4373119"/>
            <a:ext cx="5232400" cy="78105"/>
          </a:xfrm>
          <a:custGeom>
            <a:avLst/>
            <a:gdLst/>
            <a:ahLst/>
            <a:cxnLst/>
            <a:rect l="l" t="t" r="r" b="b"/>
            <a:pathLst>
              <a:path w="3924300" h="78104">
                <a:moveTo>
                  <a:pt x="3846576" y="0"/>
                </a:moveTo>
                <a:lnTo>
                  <a:pt x="3846576" y="77723"/>
                </a:lnTo>
                <a:lnTo>
                  <a:pt x="3898392" y="51815"/>
                </a:lnTo>
                <a:lnTo>
                  <a:pt x="3859529" y="51815"/>
                </a:lnTo>
                <a:lnTo>
                  <a:pt x="3859529" y="25907"/>
                </a:lnTo>
                <a:lnTo>
                  <a:pt x="3898391" y="25907"/>
                </a:lnTo>
                <a:lnTo>
                  <a:pt x="3846576" y="0"/>
                </a:lnTo>
                <a:close/>
              </a:path>
              <a:path w="3924300" h="78104">
                <a:moveTo>
                  <a:pt x="3846576" y="25907"/>
                </a:moveTo>
                <a:lnTo>
                  <a:pt x="0" y="25907"/>
                </a:lnTo>
                <a:lnTo>
                  <a:pt x="0" y="51815"/>
                </a:lnTo>
                <a:lnTo>
                  <a:pt x="3846576" y="51815"/>
                </a:lnTo>
                <a:lnTo>
                  <a:pt x="3846576" y="25907"/>
                </a:lnTo>
                <a:close/>
              </a:path>
              <a:path w="3924300" h="78104">
                <a:moveTo>
                  <a:pt x="3898391" y="25907"/>
                </a:moveTo>
                <a:lnTo>
                  <a:pt x="3859529" y="25907"/>
                </a:lnTo>
                <a:lnTo>
                  <a:pt x="3859529" y="51815"/>
                </a:lnTo>
                <a:lnTo>
                  <a:pt x="3898392" y="51815"/>
                </a:lnTo>
                <a:lnTo>
                  <a:pt x="3924300" y="38861"/>
                </a:lnTo>
                <a:lnTo>
                  <a:pt x="3898391" y="25907"/>
                </a:lnTo>
                <a:close/>
              </a:path>
            </a:pathLst>
          </a:custGeom>
          <a:solidFill>
            <a:srgbClr val="344B5E"/>
          </a:solidFill>
        </p:spPr>
        <p:txBody>
          <a:bodyPr wrap="square" lIns="0" tIns="0" rIns="0" bIns="0" rtlCol="0"/>
          <a:lstStyle/>
          <a:p/>
        </p:txBody>
      </p:sp>
      <p:sp>
        <p:nvSpPr>
          <p:cNvPr id="7" name="object 7"/>
          <p:cNvSpPr txBox="1"/>
          <p:nvPr/>
        </p:nvSpPr>
        <p:spPr>
          <a:xfrm>
            <a:off x="5253230" y="3076321"/>
            <a:ext cx="757767" cy="228268"/>
          </a:xfrm>
          <a:prstGeom prst="rect">
            <a:avLst/>
          </a:prstGeom>
        </p:spPr>
        <p:txBody>
          <a:bodyPr vert="horz" wrap="square" lIns="0" tIns="12700" rIns="0" bIns="0" rtlCol="0">
            <a:spAutoFit/>
          </a:bodyPr>
          <a:lstStyle/>
          <a:p>
            <a:pPr marL="12700">
              <a:spcBef>
                <a:spcPts val="100"/>
              </a:spcBef>
            </a:pPr>
            <a:r>
              <a:rPr sz="1400" b="1" spc="-215" dirty="0">
                <a:solidFill>
                  <a:srgbClr val="344B5E"/>
                </a:solidFill>
                <a:latin typeface="Verdana" panose="020B0604030504040204"/>
                <a:cs typeface="Verdana" panose="020B0604030504040204"/>
              </a:rPr>
              <a:t>Ine</a:t>
            </a:r>
            <a:r>
              <a:rPr sz="1400" b="1" spc="-145" dirty="0">
                <a:solidFill>
                  <a:srgbClr val="344B5E"/>
                </a:solidFill>
                <a:latin typeface="Verdana" panose="020B0604030504040204"/>
                <a:cs typeface="Verdana" panose="020B0604030504040204"/>
              </a:rPr>
              <a:t>r</a:t>
            </a:r>
            <a:r>
              <a:rPr sz="1400" b="1" spc="-130" dirty="0">
                <a:solidFill>
                  <a:srgbClr val="344B5E"/>
                </a:solidFill>
                <a:latin typeface="Verdana" panose="020B0604030504040204"/>
                <a:cs typeface="Verdana" panose="020B0604030504040204"/>
              </a:rPr>
              <a:t>t</a:t>
            </a:r>
            <a:r>
              <a:rPr sz="1400" b="1" spc="-140" dirty="0">
                <a:solidFill>
                  <a:srgbClr val="344B5E"/>
                </a:solidFill>
                <a:latin typeface="Verdana" panose="020B0604030504040204"/>
                <a:cs typeface="Verdana" panose="020B0604030504040204"/>
              </a:rPr>
              <a:t>ia</a:t>
            </a:r>
            <a:endParaRPr sz="1400">
              <a:latin typeface="Verdana" panose="020B0604030504040204"/>
              <a:cs typeface="Verdana" panose="020B0604030504040204"/>
            </a:endParaRPr>
          </a:p>
        </p:txBody>
      </p:sp>
      <p:sp>
        <p:nvSpPr>
          <p:cNvPr id="8" name="object 8"/>
          <p:cNvSpPr/>
          <p:nvPr/>
        </p:nvSpPr>
        <p:spPr>
          <a:xfrm>
            <a:off x="7964425" y="3419857"/>
            <a:ext cx="398780" cy="527685"/>
          </a:xfrm>
          <a:custGeom>
            <a:avLst/>
            <a:gdLst/>
            <a:ahLst/>
            <a:cxnLst/>
            <a:rect l="l" t="t" r="r" b="b"/>
            <a:pathLst>
              <a:path w="299085" h="527685">
                <a:moveTo>
                  <a:pt x="0" y="0"/>
                </a:moveTo>
                <a:lnTo>
                  <a:pt x="298704" y="527304"/>
                </a:lnTo>
              </a:path>
            </a:pathLst>
          </a:custGeom>
          <a:ln w="38099">
            <a:solidFill>
              <a:srgbClr val="C00000"/>
            </a:solidFill>
          </a:ln>
        </p:spPr>
        <p:txBody>
          <a:bodyPr wrap="square" lIns="0" tIns="0" rIns="0" bIns="0" rtlCol="0"/>
          <a:lstStyle/>
          <a:p/>
        </p:txBody>
      </p:sp>
      <p:sp>
        <p:nvSpPr>
          <p:cNvPr id="9" name="object 9"/>
          <p:cNvSpPr/>
          <p:nvPr/>
        </p:nvSpPr>
        <p:spPr>
          <a:xfrm>
            <a:off x="8362695" y="3947160"/>
            <a:ext cx="1146387" cy="114300"/>
          </a:xfrm>
          <a:custGeom>
            <a:avLst/>
            <a:gdLst/>
            <a:ahLst/>
            <a:cxnLst/>
            <a:rect l="l" t="t" r="r" b="b"/>
            <a:pathLst>
              <a:path w="859790" h="114300">
                <a:moveTo>
                  <a:pt x="0" y="0"/>
                </a:moveTo>
                <a:lnTo>
                  <a:pt x="859535" y="114300"/>
                </a:lnTo>
              </a:path>
            </a:pathLst>
          </a:custGeom>
          <a:ln w="38100">
            <a:solidFill>
              <a:srgbClr val="C00000"/>
            </a:solidFill>
          </a:ln>
        </p:spPr>
        <p:txBody>
          <a:bodyPr wrap="square" lIns="0" tIns="0" rIns="0" bIns="0" rtlCol="0"/>
          <a:lstStyle/>
          <a:p/>
        </p:txBody>
      </p:sp>
      <p:sp>
        <p:nvSpPr>
          <p:cNvPr id="10" name="object 10"/>
          <p:cNvSpPr/>
          <p:nvPr/>
        </p:nvSpPr>
        <p:spPr>
          <a:xfrm>
            <a:off x="9508743" y="4061460"/>
            <a:ext cx="934720" cy="81280"/>
          </a:xfrm>
          <a:custGeom>
            <a:avLst/>
            <a:gdLst/>
            <a:ahLst/>
            <a:cxnLst/>
            <a:rect l="l" t="t" r="r" b="b"/>
            <a:pathLst>
              <a:path w="701040" h="81279">
                <a:moveTo>
                  <a:pt x="0" y="0"/>
                </a:moveTo>
                <a:lnTo>
                  <a:pt x="701040" y="80771"/>
                </a:lnTo>
              </a:path>
            </a:pathLst>
          </a:custGeom>
          <a:ln w="38100">
            <a:solidFill>
              <a:srgbClr val="C00000"/>
            </a:solidFill>
          </a:ln>
        </p:spPr>
        <p:txBody>
          <a:bodyPr wrap="square" lIns="0" tIns="0" rIns="0" bIns="0" rtlCol="0"/>
          <a:lstStyle/>
          <a:p/>
        </p:txBody>
      </p:sp>
      <p:sp>
        <p:nvSpPr>
          <p:cNvPr id="11" name="object 11"/>
          <p:cNvSpPr/>
          <p:nvPr/>
        </p:nvSpPr>
        <p:spPr>
          <a:xfrm>
            <a:off x="10445495" y="4142232"/>
            <a:ext cx="914400" cy="0"/>
          </a:xfrm>
          <a:custGeom>
            <a:avLst/>
            <a:gdLst/>
            <a:ahLst/>
            <a:cxnLst/>
            <a:rect l="l" t="t" r="r" b="b"/>
            <a:pathLst>
              <a:path w="685800">
                <a:moveTo>
                  <a:pt x="0" y="0"/>
                </a:moveTo>
                <a:lnTo>
                  <a:pt x="685800" y="0"/>
                </a:lnTo>
              </a:path>
            </a:pathLst>
          </a:custGeom>
          <a:ln w="38100">
            <a:solidFill>
              <a:srgbClr val="C00000"/>
            </a:solidFill>
          </a:ln>
        </p:spPr>
        <p:txBody>
          <a:bodyPr wrap="square" lIns="0" tIns="0" rIns="0" bIns="0" rtlCol="0"/>
          <a:lstStyle/>
          <a:p/>
        </p:txBody>
      </p:sp>
      <p:sp>
        <p:nvSpPr>
          <p:cNvPr id="12" name="object 12"/>
          <p:cNvSpPr/>
          <p:nvPr/>
        </p:nvSpPr>
        <p:spPr>
          <a:xfrm>
            <a:off x="6985002" y="2087882"/>
            <a:ext cx="215900" cy="597535"/>
          </a:xfrm>
          <a:custGeom>
            <a:avLst/>
            <a:gdLst/>
            <a:ahLst/>
            <a:cxnLst/>
            <a:rect l="l" t="t" r="r" b="b"/>
            <a:pathLst>
              <a:path w="161925" h="597535">
                <a:moveTo>
                  <a:pt x="0" y="0"/>
                </a:moveTo>
                <a:lnTo>
                  <a:pt x="161544" y="597408"/>
                </a:lnTo>
              </a:path>
            </a:pathLst>
          </a:custGeom>
          <a:ln w="38100">
            <a:solidFill>
              <a:srgbClr val="C00000"/>
            </a:solidFill>
          </a:ln>
        </p:spPr>
        <p:txBody>
          <a:bodyPr wrap="square" lIns="0" tIns="0" rIns="0" bIns="0" rtlCol="0"/>
          <a:lstStyle/>
          <a:p/>
        </p:txBody>
      </p:sp>
      <p:sp>
        <p:nvSpPr>
          <p:cNvPr id="13" name="object 13"/>
          <p:cNvSpPr/>
          <p:nvPr/>
        </p:nvSpPr>
        <p:spPr>
          <a:xfrm>
            <a:off x="7200394" y="2673095"/>
            <a:ext cx="764540" cy="746760"/>
          </a:xfrm>
          <a:custGeom>
            <a:avLst/>
            <a:gdLst/>
            <a:ahLst/>
            <a:cxnLst/>
            <a:rect l="l" t="t" r="r" b="b"/>
            <a:pathLst>
              <a:path w="573404" h="746760">
                <a:moveTo>
                  <a:pt x="0" y="0"/>
                </a:moveTo>
                <a:lnTo>
                  <a:pt x="573023" y="746759"/>
                </a:lnTo>
              </a:path>
            </a:pathLst>
          </a:custGeom>
          <a:ln w="38100">
            <a:solidFill>
              <a:srgbClr val="C00000"/>
            </a:solidFill>
          </a:ln>
        </p:spPr>
        <p:txBody>
          <a:bodyPr wrap="square" lIns="0" tIns="0" rIns="0" bIns="0" rtlCol="0"/>
          <a:lstStyle/>
          <a:p/>
        </p:txBody>
      </p:sp>
      <p:sp>
        <p:nvSpPr>
          <p:cNvPr id="14" name="object 14"/>
          <p:cNvSpPr txBox="1"/>
          <p:nvPr/>
        </p:nvSpPr>
        <p:spPr>
          <a:xfrm>
            <a:off x="7065771" y="4508578"/>
            <a:ext cx="176107" cy="228909"/>
          </a:xfrm>
          <a:prstGeom prst="rect">
            <a:avLst/>
          </a:prstGeom>
        </p:spPr>
        <p:txBody>
          <a:bodyPr vert="horz" wrap="square" lIns="0" tIns="13335" rIns="0" bIns="0" rtlCol="0">
            <a:spAutoFit/>
          </a:bodyPr>
          <a:lstStyle/>
          <a:p>
            <a:pPr marL="12700">
              <a:spcBef>
                <a:spcPts val="105"/>
              </a:spcBef>
            </a:pPr>
            <a:r>
              <a:rPr sz="1400" b="1" spc="-160" dirty="0">
                <a:solidFill>
                  <a:srgbClr val="344B5E"/>
                </a:solidFill>
                <a:latin typeface="Verdana" panose="020B0604030504040204"/>
                <a:cs typeface="Verdana" panose="020B0604030504040204"/>
              </a:rPr>
              <a:t>2</a:t>
            </a:r>
            <a:endParaRPr sz="1400">
              <a:latin typeface="Verdana" panose="020B0604030504040204"/>
              <a:cs typeface="Verdana" panose="020B0604030504040204"/>
            </a:endParaRPr>
          </a:p>
        </p:txBody>
      </p:sp>
      <p:sp>
        <p:nvSpPr>
          <p:cNvPr id="15" name="object 15"/>
          <p:cNvSpPr txBox="1"/>
          <p:nvPr/>
        </p:nvSpPr>
        <p:spPr>
          <a:xfrm>
            <a:off x="8044348" y="4508578"/>
            <a:ext cx="176107" cy="228909"/>
          </a:xfrm>
          <a:prstGeom prst="rect">
            <a:avLst/>
          </a:prstGeom>
        </p:spPr>
        <p:txBody>
          <a:bodyPr vert="horz" wrap="square" lIns="0" tIns="13335" rIns="0" bIns="0" rtlCol="0">
            <a:spAutoFit/>
          </a:bodyPr>
          <a:lstStyle/>
          <a:p>
            <a:pPr marL="12700">
              <a:spcBef>
                <a:spcPts val="105"/>
              </a:spcBef>
            </a:pPr>
            <a:r>
              <a:rPr sz="1400" b="1" spc="-160" dirty="0">
                <a:solidFill>
                  <a:srgbClr val="344B5E"/>
                </a:solidFill>
                <a:latin typeface="Verdana" panose="020B0604030504040204"/>
                <a:cs typeface="Verdana" panose="020B0604030504040204"/>
              </a:rPr>
              <a:t>4</a:t>
            </a:r>
            <a:endParaRPr sz="1400">
              <a:latin typeface="Verdana" panose="020B0604030504040204"/>
              <a:cs typeface="Verdana" panose="020B0604030504040204"/>
            </a:endParaRPr>
          </a:p>
        </p:txBody>
      </p:sp>
      <p:sp>
        <p:nvSpPr>
          <p:cNvPr id="16" name="object 16"/>
          <p:cNvSpPr txBox="1"/>
          <p:nvPr/>
        </p:nvSpPr>
        <p:spPr>
          <a:xfrm>
            <a:off x="9014968" y="4393862"/>
            <a:ext cx="191347" cy="683260"/>
          </a:xfrm>
          <a:prstGeom prst="rect">
            <a:avLst/>
          </a:prstGeom>
        </p:spPr>
        <p:txBody>
          <a:bodyPr vert="horz" wrap="square" lIns="0" tIns="128270" rIns="0" bIns="0" rtlCol="0">
            <a:spAutoFit/>
          </a:bodyPr>
          <a:lstStyle/>
          <a:p>
            <a:pPr marL="18415">
              <a:spcBef>
                <a:spcPts val="1010"/>
              </a:spcBef>
            </a:pPr>
            <a:r>
              <a:rPr sz="1400" b="1" spc="-160" dirty="0">
                <a:solidFill>
                  <a:srgbClr val="344B5E"/>
                </a:solidFill>
                <a:latin typeface="Verdana" panose="020B0604030504040204"/>
                <a:cs typeface="Verdana" panose="020B0604030504040204"/>
              </a:rPr>
              <a:t>6</a:t>
            </a:r>
            <a:endParaRPr sz="1400">
              <a:latin typeface="Verdana" panose="020B0604030504040204"/>
              <a:cs typeface="Verdana" panose="020B0604030504040204"/>
            </a:endParaRPr>
          </a:p>
          <a:p>
            <a:pPr marL="12700">
              <a:spcBef>
                <a:spcPts val="905"/>
              </a:spcBef>
            </a:pPr>
            <a:r>
              <a:rPr sz="1400" b="1" spc="-150" dirty="0">
                <a:solidFill>
                  <a:srgbClr val="344B5E"/>
                </a:solidFill>
                <a:latin typeface="Verdana" panose="020B0604030504040204"/>
                <a:cs typeface="Verdana" panose="020B0604030504040204"/>
              </a:rPr>
              <a:t>K</a:t>
            </a:r>
            <a:endParaRPr sz="1400">
              <a:latin typeface="Verdana" panose="020B0604030504040204"/>
              <a:cs typeface="Verdana" panose="020B0604030504040204"/>
            </a:endParaRPr>
          </a:p>
        </p:txBody>
      </p:sp>
      <p:sp>
        <p:nvSpPr>
          <p:cNvPr id="17" name="object 17"/>
          <p:cNvSpPr txBox="1"/>
          <p:nvPr/>
        </p:nvSpPr>
        <p:spPr>
          <a:xfrm>
            <a:off x="10001673" y="4508578"/>
            <a:ext cx="176107" cy="228909"/>
          </a:xfrm>
          <a:prstGeom prst="rect">
            <a:avLst/>
          </a:prstGeom>
        </p:spPr>
        <p:txBody>
          <a:bodyPr vert="horz" wrap="square" lIns="0" tIns="13335" rIns="0" bIns="0" rtlCol="0">
            <a:spAutoFit/>
          </a:bodyPr>
          <a:lstStyle/>
          <a:p>
            <a:pPr marL="12700">
              <a:spcBef>
                <a:spcPts val="105"/>
              </a:spcBef>
            </a:pPr>
            <a:r>
              <a:rPr sz="1400" b="1" spc="-160" dirty="0">
                <a:solidFill>
                  <a:srgbClr val="344B5E"/>
                </a:solidFill>
                <a:latin typeface="Verdana" panose="020B0604030504040204"/>
                <a:cs typeface="Verdana" panose="020B0604030504040204"/>
              </a:rPr>
              <a:t>8</a:t>
            </a:r>
            <a:endParaRPr sz="1400">
              <a:latin typeface="Verdana" panose="020B0604030504040204"/>
              <a:cs typeface="Verdana" panose="020B0604030504040204"/>
            </a:endParaRPr>
          </a:p>
        </p:txBody>
      </p:sp>
      <p:sp>
        <p:nvSpPr>
          <p:cNvPr id="18" name="object 18"/>
          <p:cNvSpPr txBox="1"/>
          <p:nvPr/>
        </p:nvSpPr>
        <p:spPr>
          <a:xfrm>
            <a:off x="10980251" y="4508578"/>
            <a:ext cx="315805" cy="228909"/>
          </a:xfrm>
          <a:prstGeom prst="rect">
            <a:avLst/>
          </a:prstGeom>
        </p:spPr>
        <p:txBody>
          <a:bodyPr vert="horz" wrap="square" lIns="0" tIns="13335" rIns="0" bIns="0" rtlCol="0">
            <a:spAutoFit/>
          </a:bodyPr>
          <a:lstStyle/>
          <a:p>
            <a:pPr marL="12700">
              <a:spcBef>
                <a:spcPts val="105"/>
              </a:spcBef>
            </a:pPr>
            <a:r>
              <a:rPr sz="1400" b="1" spc="-170" dirty="0">
                <a:solidFill>
                  <a:srgbClr val="344B5E"/>
                </a:solidFill>
                <a:latin typeface="Verdana" panose="020B0604030504040204"/>
                <a:cs typeface="Verdana" panose="020B0604030504040204"/>
              </a:rPr>
              <a:t>1</a:t>
            </a:r>
            <a:r>
              <a:rPr sz="1400" b="1" spc="-160" dirty="0">
                <a:solidFill>
                  <a:srgbClr val="344B5E"/>
                </a:solidFill>
                <a:latin typeface="Verdana" panose="020B0604030504040204"/>
                <a:cs typeface="Verdana" panose="020B0604030504040204"/>
              </a:rPr>
              <a:t>0</a:t>
            </a:r>
            <a:endParaRPr sz="1400">
              <a:latin typeface="Verdana" panose="020B0604030504040204"/>
              <a:cs typeface="Verdana" panose="020B0604030504040204"/>
            </a:endParaRPr>
          </a:p>
        </p:txBody>
      </p:sp>
      <p:sp>
        <p:nvSpPr>
          <p:cNvPr id="19" name="object 19"/>
          <p:cNvSpPr/>
          <p:nvPr/>
        </p:nvSpPr>
        <p:spPr>
          <a:xfrm>
            <a:off x="8396225" y="2989326"/>
            <a:ext cx="359833" cy="774700"/>
          </a:xfrm>
          <a:custGeom>
            <a:avLst/>
            <a:gdLst/>
            <a:ahLst/>
            <a:cxnLst/>
            <a:rect l="l" t="t" r="r" b="b"/>
            <a:pathLst>
              <a:path w="269875" h="774700">
                <a:moveTo>
                  <a:pt x="269748" y="639318"/>
                </a:moveTo>
                <a:lnTo>
                  <a:pt x="0" y="639318"/>
                </a:lnTo>
                <a:lnTo>
                  <a:pt x="134874" y="774192"/>
                </a:lnTo>
                <a:lnTo>
                  <a:pt x="269748" y="639318"/>
                </a:lnTo>
                <a:close/>
              </a:path>
              <a:path w="269875" h="774700">
                <a:moveTo>
                  <a:pt x="202311" y="0"/>
                </a:moveTo>
                <a:lnTo>
                  <a:pt x="67437" y="0"/>
                </a:lnTo>
                <a:lnTo>
                  <a:pt x="67437" y="639318"/>
                </a:lnTo>
                <a:lnTo>
                  <a:pt x="202311" y="639318"/>
                </a:lnTo>
                <a:lnTo>
                  <a:pt x="202311" y="0"/>
                </a:lnTo>
                <a:close/>
              </a:path>
            </a:pathLst>
          </a:custGeom>
          <a:solidFill>
            <a:srgbClr val="D0692F">
              <a:alpha val="74900"/>
            </a:srgbClr>
          </a:solidFill>
        </p:spPr>
        <p:txBody>
          <a:bodyPr wrap="square" lIns="0" tIns="0" rIns="0" bIns="0" rtlCol="0"/>
          <a:lstStyle/>
          <a:p/>
        </p:txBody>
      </p:sp>
      <p:sp>
        <p:nvSpPr>
          <p:cNvPr id="22" name="标题 21"/>
          <p:cNvSpPr>
            <a:spLocks noGrp="1"/>
          </p:cNvSpPr>
          <p:nvPr>
            <p:ph type="title"/>
          </p:nvPr>
        </p:nvSpPr>
        <p:spPr/>
        <p:txBody>
          <a:bodyPr/>
          <a:lstStyle/>
          <a:p>
            <a:r>
              <a:rPr lang="zh-CN" altLang="en-US" dirty="0"/>
              <a:t>选择正确的聚簇数</a:t>
            </a:r>
            <a:endParaRPr lang="zh-CN" altLang="en-US" dirty="0"/>
          </a:p>
        </p:txBody>
      </p:sp>
      <p:sp>
        <p:nvSpPr>
          <p:cNvPr id="4" name="文本框 3"/>
          <p:cNvSpPr txBox="1"/>
          <p:nvPr/>
        </p:nvSpPr>
        <p:spPr>
          <a:xfrm>
            <a:off x="8017393" y="5476511"/>
            <a:ext cx="1107996" cy="461665"/>
          </a:xfrm>
          <a:prstGeom prst="rect">
            <a:avLst/>
          </a:prstGeom>
          <a:noFill/>
        </p:spPr>
        <p:txBody>
          <a:bodyPr wrap="none" rtlCol="0">
            <a:spAutoFit/>
          </a:bodyPr>
          <a:lstStyle/>
          <a:p>
            <a:r>
              <a:rPr lang="zh-CN" altLang="en-US" sz="2400" b="1" dirty="0">
                <a:solidFill>
                  <a:srgbClr val="0070C0"/>
                </a:solidFill>
              </a:rPr>
              <a:t>手肘法</a:t>
            </a:r>
            <a:endParaRPr lang="zh-CN" altLang="en-US" sz="2400" b="1" dirty="0">
              <a:solidFill>
                <a:srgbClr val="0070C0"/>
              </a:solidFill>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5" y="1926591"/>
            <a:ext cx="4214707" cy="381515"/>
          </a:xfrm>
          <a:prstGeom prst="rect">
            <a:avLst/>
          </a:prstGeom>
        </p:spPr>
        <p:txBody>
          <a:bodyPr vert="horz" wrap="square" lIns="0" tIns="12065" rIns="0" bIns="0" rtlCol="0">
            <a:spAutoFit/>
          </a:bodyPr>
          <a:lstStyle/>
          <a:p>
            <a:pPr marL="238125" indent="-225425">
              <a:spcBef>
                <a:spcPts val="95"/>
              </a:spcBef>
              <a:buFont typeface="Wingdings" panose="05000000000000000000"/>
              <a:buChar char=""/>
              <a:tabLst>
                <a:tab pos="238125" algn="l"/>
                <a:tab pos="238760" algn="l"/>
              </a:tabLst>
            </a:pPr>
            <a:r>
              <a:rPr lang="zh-CN" altLang="en-US" sz="2400" b="1" spc="20" dirty="0">
                <a:latin typeface="Arial" panose="020B0604020202020204"/>
                <a:cs typeface="Arial" panose="020B0604020202020204"/>
              </a:rPr>
              <a:t>选择轮廓系数最大的</a:t>
            </a:r>
            <a:r>
              <a:rPr lang="en-US" altLang="zh-CN" sz="2400" b="1" spc="20" dirty="0">
                <a:latin typeface="Arial" panose="020B0604020202020204"/>
                <a:cs typeface="Arial" panose="020B0604020202020204"/>
              </a:rPr>
              <a:t>K</a:t>
            </a:r>
            <a:r>
              <a:rPr lang="zh-CN" altLang="en-US" sz="2400" b="1" spc="20" dirty="0">
                <a:latin typeface="Arial" panose="020B0604020202020204"/>
                <a:cs typeface="Arial" panose="020B0604020202020204"/>
              </a:rPr>
              <a:t>值</a:t>
            </a:r>
            <a:endParaRPr sz="2400" b="1" dirty="0">
              <a:latin typeface="Arial" panose="020B0604020202020204"/>
              <a:cs typeface="Arial" panose="020B0604020202020204"/>
            </a:endParaRPr>
          </a:p>
        </p:txBody>
      </p:sp>
      <p:sp>
        <p:nvSpPr>
          <p:cNvPr id="22" name="标题 21"/>
          <p:cNvSpPr>
            <a:spLocks noGrp="1"/>
          </p:cNvSpPr>
          <p:nvPr>
            <p:ph type="title"/>
          </p:nvPr>
        </p:nvSpPr>
        <p:spPr/>
        <p:txBody>
          <a:bodyPr/>
          <a:lstStyle/>
          <a:p>
            <a:r>
              <a:rPr lang="zh-CN" altLang="en-US" dirty="0"/>
              <a:t>选择正确的聚簇数</a:t>
            </a:r>
            <a:endParaRPr lang="zh-CN" altLang="en-US" dirty="0"/>
          </a:p>
        </p:txBody>
      </p:sp>
      <p:pic>
        <p:nvPicPr>
          <p:cNvPr id="2050"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05342" y="1667244"/>
            <a:ext cx="6870409" cy="35235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717821"/>
          </a:xfrm>
        </p:spPr>
        <p:txBody>
          <a:bodyPr/>
          <a:lstStyle/>
          <a:p>
            <a:r>
              <a:rPr lang="en-US" altLang="zh-CN" sz="4000" dirty="0" smtClean="0">
                <a:solidFill>
                  <a:srgbClr val="0070C0"/>
                </a:solidFill>
              </a:rPr>
              <a:t>3. </a:t>
            </a:r>
            <a:r>
              <a:rPr lang="zh-CN" altLang="en-US" sz="4000" dirty="0" smtClean="0">
                <a:solidFill>
                  <a:srgbClr val="0070C0"/>
                </a:solidFill>
              </a:rPr>
              <a:t>初始聚类中心的选择</a:t>
            </a:r>
            <a:endParaRPr lang="zh-CN" altLang="en-US" sz="4000" dirty="0">
              <a:solidFill>
                <a:srgbClr val="0070C0"/>
              </a:solidFill>
            </a:endParaRPr>
          </a:p>
        </p:txBody>
      </p:sp>
      <p:pic>
        <p:nvPicPr>
          <p:cNvPr id="4" name="图片 3"/>
          <p:cNvPicPr/>
          <p:nvPr/>
        </p:nvPicPr>
        <p:blipFill>
          <a:blip r:embed="rId1" cstate="print"/>
          <a:stretch>
            <a:fillRect/>
          </a:stretch>
        </p:blipFill>
        <p:spPr>
          <a:xfrm>
            <a:off x="858645" y="892098"/>
            <a:ext cx="9422780" cy="4293219"/>
          </a:xfrm>
          <a:prstGeom prst="rect">
            <a:avLst/>
          </a:prstGeom>
        </p:spPr>
      </p:pic>
      <p:sp>
        <p:nvSpPr>
          <p:cNvPr id="5" name="TextBox 4"/>
          <p:cNvSpPr txBox="1"/>
          <p:nvPr/>
        </p:nvSpPr>
        <p:spPr>
          <a:xfrm>
            <a:off x="1014761" y="5519854"/>
            <a:ext cx="8842917" cy="738664"/>
          </a:xfrm>
          <a:prstGeom prst="rect">
            <a:avLst/>
          </a:prstGeom>
          <a:noFill/>
        </p:spPr>
        <p:txBody>
          <a:bodyPr wrap="square" rtlCol="0">
            <a:spAutoFit/>
          </a:bodyPr>
          <a:lstStyle/>
          <a:p>
            <a:r>
              <a:rPr lang="zh-CN" altLang="en-US" sz="2400" dirty="0" smtClean="0"/>
              <a:t>解决方法：</a:t>
            </a:r>
            <a:r>
              <a:rPr lang="zh-CN" altLang="zh-CN" sz="2400" dirty="0" smtClean="0"/>
              <a:t>初始选点可以根据多次交叉去做，选择多次中心点。</a:t>
            </a:r>
            <a:endParaRPr lang="zh-CN" altLang="zh-CN" sz="2400" dirty="0" smtClean="0"/>
          </a:p>
          <a:p>
            <a:endParaRPr lang="zh-CN" alt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4" name="object 4"/>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5" name="object 5"/>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6" name="object 6"/>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7" name="object 7"/>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6F2F9F"/>
          </a:solidFill>
        </p:spPr>
        <p:txBody>
          <a:bodyPr wrap="square" lIns="0" tIns="0" rIns="0" bIns="0" rtlCol="0"/>
          <a:lstStyle/>
          <a:p/>
        </p:txBody>
      </p:sp>
      <p:sp>
        <p:nvSpPr>
          <p:cNvPr id="8" name="object 8"/>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9" name="object 9"/>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0" name="object 10"/>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2" name="object 12"/>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3" name="object 13"/>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4" name="object 14"/>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5" name="object 15"/>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6" name="object 16"/>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7" name="object 17"/>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18" name="object 18"/>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19" name="object 19"/>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0" name="object 20"/>
          <p:cNvSpPr txBox="1"/>
          <p:nvPr/>
        </p:nvSpPr>
        <p:spPr>
          <a:xfrm>
            <a:off x="8280909" y="4896256"/>
            <a:ext cx="703241"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1" name="object 21"/>
          <p:cNvSpPr txBox="1"/>
          <p:nvPr/>
        </p:nvSpPr>
        <p:spPr>
          <a:xfrm>
            <a:off x="4321385" y="3132327"/>
            <a:ext cx="106544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a:latin typeface="Verdana" panose="020B0604030504040204"/>
              <a:cs typeface="Verdana" panose="020B0604030504040204"/>
            </a:endParaRPr>
          </a:p>
        </p:txBody>
      </p:sp>
      <p:sp>
        <p:nvSpPr>
          <p:cNvPr id="22" name="object 22"/>
          <p:cNvSpPr/>
          <p:nvPr/>
        </p:nvSpPr>
        <p:spPr>
          <a:xfrm>
            <a:off x="5386833" y="1793749"/>
            <a:ext cx="104140" cy="2986405"/>
          </a:xfrm>
          <a:custGeom>
            <a:avLst/>
            <a:gdLst/>
            <a:ahLst/>
            <a:cxnLst/>
            <a:rect l="l" t="t" r="r" b="b"/>
            <a:pathLst>
              <a:path w="78104" h="2986404">
                <a:moveTo>
                  <a:pt x="51815" y="64769"/>
                </a:moveTo>
                <a:lnTo>
                  <a:pt x="25908" y="64769"/>
                </a:lnTo>
                <a:lnTo>
                  <a:pt x="25908" y="2985820"/>
                </a:lnTo>
                <a:lnTo>
                  <a:pt x="51815" y="2985820"/>
                </a:lnTo>
                <a:lnTo>
                  <a:pt x="51815" y="64769"/>
                </a:lnTo>
                <a:close/>
              </a:path>
              <a:path w="78104" h="2986404">
                <a:moveTo>
                  <a:pt x="38862" y="0"/>
                </a:moveTo>
                <a:lnTo>
                  <a:pt x="0" y="77724"/>
                </a:lnTo>
                <a:lnTo>
                  <a:pt x="25908" y="77724"/>
                </a:lnTo>
                <a:lnTo>
                  <a:pt x="25908" y="64769"/>
                </a:lnTo>
                <a:lnTo>
                  <a:pt x="71247" y="64769"/>
                </a:lnTo>
                <a:lnTo>
                  <a:pt x="38862" y="0"/>
                </a:lnTo>
                <a:close/>
              </a:path>
              <a:path w="78104" h="2986404">
                <a:moveTo>
                  <a:pt x="71247" y="64769"/>
                </a:moveTo>
                <a:lnTo>
                  <a:pt x="51815" y="64769"/>
                </a:lnTo>
                <a:lnTo>
                  <a:pt x="51815" y="77724"/>
                </a:lnTo>
                <a:lnTo>
                  <a:pt x="77724" y="77724"/>
                </a:lnTo>
                <a:lnTo>
                  <a:pt x="71247" y="64769"/>
                </a:lnTo>
                <a:close/>
              </a:path>
            </a:pathLst>
          </a:custGeom>
          <a:solidFill>
            <a:srgbClr val="344B5E"/>
          </a:solidFill>
        </p:spPr>
        <p:txBody>
          <a:bodyPr wrap="square" lIns="0" tIns="0" rIns="0" bIns="0" rtlCol="0"/>
          <a:lstStyle/>
          <a:p/>
        </p:txBody>
      </p:sp>
      <p:sp>
        <p:nvSpPr>
          <p:cNvPr id="23" name="object 23"/>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4" name="object 24"/>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5" name="object 25"/>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6" name="object 26"/>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7" name="object 27"/>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8" name="object 28"/>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9" name="object 29"/>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0" name="object 30"/>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1" name="object 31"/>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2" name="object 32"/>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3" name="object 33"/>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4" name="object 34"/>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6F2F9F"/>
          </a:solidFill>
        </p:spPr>
        <p:txBody>
          <a:bodyPr wrap="square" lIns="0" tIns="0" rIns="0" bIns="0" rtlCol="0"/>
          <a:lstStyle/>
          <a:p/>
        </p:txBody>
      </p:sp>
      <p:sp>
        <p:nvSpPr>
          <p:cNvPr id="35" name="object 35"/>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6" name="object 36"/>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7" name="object 37"/>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8" name="object 38"/>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9" name="object 39"/>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42" name="标题 41"/>
          <p:cNvSpPr>
            <a:spLocks noGrp="1"/>
          </p:cNvSpPr>
          <p:nvPr>
            <p:ph type="title"/>
          </p:nvPr>
        </p:nvSpPr>
        <p:spPr/>
        <p:txBody>
          <a:bodyPr/>
          <a:lstStyle/>
          <a:p>
            <a:r>
              <a:rPr lang="zh-CN" altLang="en-US" dirty="0"/>
              <a:t>更聪明的</a:t>
            </a:r>
            <a:r>
              <a:rPr lang="en-US" altLang="zh-CN" dirty="0"/>
              <a:t>K-Means</a:t>
            </a:r>
            <a:r>
              <a:rPr lang="zh-CN" altLang="en-US" dirty="0"/>
              <a:t>初始化方法</a:t>
            </a:r>
            <a:endParaRPr lang="zh-CN" alt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8" y="1925066"/>
            <a:ext cx="3193116" cy="751488"/>
          </a:xfrm>
          <a:prstGeom prst="rect">
            <a:avLst/>
          </a:prstGeom>
        </p:spPr>
        <p:txBody>
          <a:bodyPr vert="horz" wrap="square" lIns="0" tIns="12700" rIns="0" bIns="0" rtlCol="0">
            <a:spAutoFit/>
          </a:bodyPr>
          <a:lstStyle/>
          <a:p>
            <a:pPr marL="12700">
              <a:spcBef>
                <a:spcPts val="100"/>
              </a:spcBef>
            </a:pPr>
            <a:r>
              <a:rPr lang="zh-CN" altLang="en-US" sz="2400" b="1" dirty="0">
                <a:latin typeface="Trebuchet MS" panose="020B0603020202020204"/>
                <a:cs typeface="Trebuchet MS" panose="020B0603020202020204"/>
              </a:rPr>
              <a:t>随机地选取一点作为起始点</a:t>
            </a:r>
            <a:endParaRPr sz="24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6F2F9F"/>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1" name="object 21"/>
          <p:cNvSpPr txBox="1"/>
          <p:nvPr/>
        </p:nvSpPr>
        <p:spPr>
          <a:xfrm>
            <a:off x="8280909" y="4896256"/>
            <a:ext cx="703241"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321385" y="3132327"/>
            <a:ext cx="106544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793749"/>
            <a:ext cx="104140" cy="2986405"/>
          </a:xfrm>
          <a:custGeom>
            <a:avLst/>
            <a:gdLst/>
            <a:ahLst/>
            <a:cxnLst/>
            <a:rect l="l" t="t" r="r" b="b"/>
            <a:pathLst>
              <a:path w="78104" h="2986404">
                <a:moveTo>
                  <a:pt x="51815" y="64769"/>
                </a:moveTo>
                <a:lnTo>
                  <a:pt x="25908" y="64769"/>
                </a:lnTo>
                <a:lnTo>
                  <a:pt x="25908" y="2985820"/>
                </a:lnTo>
                <a:lnTo>
                  <a:pt x="51815" y="2985820"/>
                </a:lnTo>
                <a:lnTo>
                  <a:pt x="51815" y="64769"/>
                </a:lnTo>
                <a:close/>
              </a:path>
              <a:path w="78104" h="2986404">
                <a:moveTo>
                  <a:pt x="38862" y="0"/>
                </a:moveTo>
                <a:lnTo>
                  <a:pt x="0" y="77724"/>
                </a:lnTo>
                <a:lnTo>
                  <a:pt x="25908" y="77724"/>
                </a:lnTo>
                <a:lnTo>
                  <a:pt x="25908" y="64769"/>
                </a:lnTo>
                <a:lnTo>
                  <a:pt x="71247" y="64769"/>
                </a:lnTo>
                <a:lnTo>
                  <a:pt x="38862" y="0"/>
                </a:lnTo>
                <a:close/>
              </a:path>
              <a:path w="78104" h="2986404">
                <a:moveTo>
                  <a:pt x="71247" y="64769"/>
                </a:moveTo>
                <a:lnTo>
                  <a:pt x="51815" y="64769"/>
                </a:lnTo>
                <a:lnTo>
                  <a:pt x="51815" y="77724"/>
                </a:lnTo>
                <a:lnTo>
                  <a:pt x="77724" y="77724"/>
                </a:lnTo>
                <a:lnTo>
                  <a:pt x="71247" y="64769"/>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6F2F9F"/>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41" name="object 41"/>
          <p:cNvSpPr/>
          <p:nvPr/>
        </p:nvSpPr>
        <p:spPr>
          <a:xfrm>
            <a:off x="6970776" y="3342132"/>
            <a:ext cx="394547" cy="287020"/>
          </a:xfrm>
          <a:custGeom>
            <a:avLst/>
            <a:gdLst/>
            <a:ahLst/>
            <a:cxnLst/>
            <a:rect l="l" t="t" r="r" b="b"/>
            <a:pathLst>
              <a:path w="295910" h="287019">
                <a:moveTo>
                  <a:pt x="0" y="286512"/>
                </a:moveTo>
                <a:lnTo>
                  <a:pt x="295656" y="286512"/>
                </a:lnTo>
                <a:lnTo>
                  <a:pt x="295656" y="0"/>
                </a:lnTo>
                <a:lnTo>
                  <a:pt x="0" y="0"/>
                </a:lnTo>
                <a:lnTo>
                  <a:pt x="0" y="286512"/>
                </a:lnTo>
                <a:close/>
              </a:path>
            </a:pathLst>
          </a:custGeom>
          <a:solidFill>
            <a:srgbClr val="FFC000"/>
          </a:solidFill>
        </p:spPr>
        <p:txBody>
          <a:bodyPr wrap="square" lIns="0" tIns="0" rIns="0" bIns="0" rtlCol="0"/>
          <a:lstStyle/>
          <a:p/>
        </p:txBody>
      </p:sp>
      <p:sp>
        <p:nvSpPr>
          <p:cNvPr id="42" name="object 42"/>
          <p:cNvSpPr/>
          <p:nvPr/>
        </p:nvSpPr>
        <p:spPr>
          <a:xfrm>
            <a:off x="6970776" y="3342132"/>
            <a:ext cx="394547" cy="287020"/>
          </a:xfrm>
          <a:custGeom>
            <a:avLst/>
            <a:gdLst/>
            <a:ahLst/>
            <a:cxnLst/>
            <a:rect l="l" t="t" r="r" b="b"/>
            <a:pathLst>
              <a:path w="295910" h="287019">
                <a:moveTo>
                  <a:pt x="0" y="286512"/>
                </a:moveTo>
                <a:lnTo>
                  <a:pt x="295656" y="286512"/>
                </a:lnTo>
                <a:lnTo>
                  <a:pt x="295656" y="0"/>
                </a:lnTo>
                <a:lnTo>
                  <a:pt x="0" y="0"/>
                </a:lnTo>
                <a:lnTo>
                  <a:pt x="0" y="286512"/>
                </a:lnTo>
                <a:close/>
              </a:path>
            </a:pathLst>
          </a:custGeom>
          <a:ln w="28956">
            <a:solidFill>
              <a:srgbClr val="FFFFFF"/>
            </a:solidFill>
          </a:ln>
        </p:spPr>
        <p:txBody>
          <a:bodyPr wrap="square" lIns="0" tIns="0" rIns="0" bIns="0" rtlCol="0"/>
          <a:lstStyle/>
          <a:p/>
        </p:txBody>
      </p:sp>
      <p:sp>
        <p:nvSpPr>
          <p:cNvPr id="45" name="标题 44"/>
          <p:cNvSpPr>
            <a:spLocks noGrp="1"/>
          </p:cNvSpPr>
          <p:nvPr>
            <p:ph type="title"/>
          </p:nvPr>
        </p:nvSpPr>
        <p:spPr/>
        <p:txBody>
          <a:bodyPr/>
          <a:lstStyle/>
          <a:p>
            <a:r>
              <a:rPr lang="zh-CN" altLang="en-US" dirty="0"/>
              <a:t>更聪明的</a:t>
            </a:r>
            <a:r>
              <a:rPr lang="en-US" altLang="zh-CN" dirty="0"/>
              <a:t>K-Means</a:t>
            </a:r>
            <a:r>
              <a:rPr lang="zh-CN" altLang="en-US" dirty="0"/>
              <a:t>初始化方法</a:t>
            </a:r>
            <a:endParaRPr lang="zh-CN" alt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0635" y="1925067"/>
            <a:ext cx="3652179" cy="1872307"/>
          </a:xfrm>
          <a:prstGeom prst="rect">
            <a:avLst/>
          </a:prstGeom>
        </p:spPr>
        <p:txBody>
          <a:bodyPr vert="horz" wrap="square" lIns="0" tIns="12700" rIns="0" bIns="0" rtlCol="0">
            <a:spAutoFit/>
          </a:bodyPr>
          <a:lstStyle/>
          <a:p>
            <a:pPr marL="355600" indent="-342900">
              <a:spcBef>
                <a:spcPts val="100"/>
              </a:spcBef>
              <a:buFont typeface="Arial" panose="020B0604020202020204" pitchFamily="34" charset="0"/>
              <a:buChar char="•"/>
            </a:pPr>
            <a:r>
              <a:rPr lang="zh-CN" altLang="en-US" sz="2400" b="1" dirty="0">
                <a:latin typeface="Trebuchet MS" panose="020B0603020202020204"/>
                <a:cs typeface="Trebuchet MS" panose="020B0603020202020204"/>
              </a:rPr>
              <a:t>计算每个点与已有聚簇中心点之间的最短距离，</a:t>
            </a:r>
            <a:r>
              <a:rPr lang="en-US" altLang="zh-CN" sz="2400" b="1" dirty="0">
                <a:latin typeface="Trebuchet MS" panose="020B0603020202020204"/>
                <a:cs typeface="Trebuchet MS" panose="020B0603020202020204"/>
              </a:rPr>
              <a:t>D(x)</a:t>
            </a:r>
            <a:endParaRPr lang="en-US" altLang="zh-CN" sz="2400" b="1" dirty="0">
              <a:latin typeface="Trebuchet MS" panose="020B0603020202020204"/>
              <a:cs typeface="Trebuchet MS" panose="020B0603020202020204"/>
            </a:endParaRPr>
          </a:p>
          <a:p>
            <a:pPr marL="355600" indent="-342900">
              <a:spcBef>
                <a:spcPts val="100"/>
              </a:spcBef>
              <a:buFont typeface="Arial" panose="020B0604020202020204" pitchFamily="34" charset="0"/>
              <a:buChar char="•"/>
            </a:pPr>
            <a:r>
              <a:rPr lang="zh-CN" altLang="en-US" sz="2400" b="1" dirty="0">
                <a:latin typeface="Trebuchet MS" panose="020B0603020202020204"/>
                <a:cs typeface="Trebuchet MS" panose="020B0603020202020204"/>
              </a:rPr>
              <a:t>按照</a:t>
            </a:r>
            <a:r>
              <a:rPr lang="en-US" altLang="zh-CN" sz="2400" b="1" dirty="0">
                <a:latin typeface="Trebuchet MS" panose="020B0603020202020204"/>
                <a:cs typeface="Trebuchet MS" panose="020B0603020202020204"/>
              </a:rPr>
              <a:t>D(x)</a:t>
            </a:r>
            <a:r>
              <a:rPr lang="en-US" altLang="zh-CN" sz="2400" b="1" baseline="25000" dirty="0">
                <a:latin typeface="Arial" panose="020B0604020202020204"/>
                <a:cs typeface="Arial" panose="020B0604020202020204"/>
              </a:rPr>
              <a:t>2</a:t>
            </a:r>
            <a:r>
              <a:rPr lang="en-US" altLang="zh-CN" sz="2400" b="1" dirty="0">
                <a:latin typeface="Arial" panose="020B0604020202020204"/>
                <a:cs typeface="Arial" panose="020B0604020202020204"/>
              </a:rPr>
              <a:t>/</a:t>
            </a:r>
            <a:r>
              <a:rPr lang="el-GR" altLang="zh-CN" sz="2400" b="1" dirty="0">
                <a:latin typeface="Arial" panose="020B0604020202020204"/>
                <a:cs typeface="Arial" panose="020B0604020202020204"/>
              </a:rPr>
              <a:t>Σ</a:t>
            </a:r>
            <a:r>
              <a:rPr lang="en-US" altLang="zh-CN" sz="2400" b="1" dirty="0">
                <a:latin typeface="Trebuchet MS" panose="020B0603020202020204"/>
                <a:cs typeface="Trebuchet MS" panose="020B0603020202020204"/>
              </a:rPr>
              <a:t> D(x)</a:t>
            </a:r>
            <a:r>
              <a:rPr lang="en-US" altLang="zh-CN" sz="2400" b="1" baseline="25000" dirty="0">
                <a:latin typeface="Arial" panose="020B0604020202020204"/>
                <a:cs typeface="Arial" panose="020B0604020202020204"/>
              </a:rPr>
              <a:t>2</a:t>
            </a:r>
            <a:r>
              <a:rPr lang="zh-CN" altLang="en-US" sz="2400" b="1" dirty="0">
                <a:latin typeface="Arial" panose="020B0604020202020204"/>
                <a:cs typeface="Arial" panose="020B0604020202020204"/>
              </a:rPr>
              <a:t>的概率选取下一个点</a:t>
            </a:r>
            <a:endParaRPr sz="24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6F2F9F"/>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1" name="object 21"/>
          <p:cNvSpPr txBox="1"/>
          <p:nvPr/>
        </p:nvSpPr>
        <p:spPr>
          <a:xfrm>
            <a:off x="8280908" y="4896256"/>
            <a:ext cx="781813"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321385" y="3132327"/>
            <a:ext cx="106544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793749"/>
            <a:ext cx="104140" cy="2986405"/>
          </a:xfrm>
          <a:custGeom>
            <a:avLst/>
            <a:gdLst/>
            <a:ahLst/>
            <a:cxnLst/>
            <a:rect l="l" t="t" r="r" b="b"/>
            <a:pathLst>
              <a:path w="78104" h="2986404">
                <a:moveTo>
                  <a:pt x="51815" y="64769"/>
                </a:moveTo>
                <a:lnTo>
                  <a:pt x="25908" y="64769"/>
                </a:lnTo>
                <a:lnTo>
                  <a:pt x="25908" y="2985820"/>
                </a:lnTo>
                <a:lnTo>
                  <a:pt x="51815" y="2985820"/>
                </a:lnTo>
                <a:lnTo>
                  <a:pt x="51815" y="64769"/>
                </a:lnTo>
                <a:close/>
              </a:path>
              <a:path w="78104" h="2986404">
                <a:moveTo>
                  <a:pt x="38862" y="0"/>
                </a:moveTo>
                <a:lnTo>
                  <a:pt x="0" y="77724"/>
                </a:lnTo>
                <a:lnTo>
                  <a:pt x="25908" y="77724"/>
                </a:lnTo>
                <a:lnTo>
                  <a:pt x="25908" y="64769"/>
                </a:lnTo>
                <a:lnTo>
                  <a:pt x="71247" y="64769"/>
                </a:lnTo>
                <a:lnTo>
                  <a:pt x="38862" y="0"/>
                </a:lnTo>
                <a:close/>
              </a:path>
              <a:path w="78104" h="2986404">
                <a:moveTo>
                  <a:pt x="71247" y="64769"/>
                </a:moveTo>
                <a:lnTo>
                  <a:pt x="51815" y="64769"/>
                </a:lnTo>
                <a:lnTo>
                  <a:pt x="51815" y="77724"/>
                </a:lnTo>
                <a:lnTo>
                  <a:pt x="77724" y="77724"/>
                </a:lnTo>
                <a:lnTo>
                  <a:pt x="71247" y="64769"/>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6F2F9F"/>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41" name="object 41"/>
          <p:cNvSpPr/>
          <p:nvPr/>
        </p:nvSpPr>
        <p:spPr>
          <a:xfrm>
            <a:off x="6970776" y="3342132"/>
            <a:ext cx="394547" cy="287020"/>
          </a:xfrm>
          <a:custGeom>
            <a:avLst/>
            <a:gdLst/>
            <a:ahLst/>
            <a:cxnLst/>
            <a:rect l="l" t="t" r="r" b="b"/>
            <a:pathLst>
              <a:path w="295910" h="287019">
                <a:moveTo>
                  <a:pt x="0" y="286512"/>
                </a:moveTo>
                <a:lnTo>
                  <a:pt x="295656" y="286512"/>
                </a:lnTo>
                <a:lnTo>
                  <a:pt x="295656" y="0"/>
                </a:lnTo>
                <a:lnTo>
                  <a:pt x="0" y="0"/>
                </a:lnTo>
                <a:lnTo>
                  <a:pt x="0" y="286512"/>
                </a:lnTo>
                <a:close/>
              </a:path>
            </a:pathLst>
          </a:custGeom>
          <a:solidFill>
            <a:srgbClr val="FFC000"/>
          </a:solidFill>
        </p:spPr>
        <p:txBody>
          <a:bodyPr wrap="square" lIns="0" tIns="0" rIns="0" bIns="0" rtlCol="0"/>
          <a:lstStyle/>
          <a:p/>
        </p:txBody>
      </p:sp>
      <p:sp>
        <p:nvSpPr>
          <p:cNvPr id="42" name="object 42"/>
          <p:cNvSpPr/>
          <p:nvPr/>
        </p:nvSpPr>
        <p:spPr>
          <a:xfrm>
            <a:off x="6970776" y="3342132"/>
            <a:ext cx="394547" cy="287020"/>
          </a:xfrm>
          <a:custGeom>
            <a:avLst/>
            <a:gdLst/>
            <a:ahLst/>
            <a:cxnLst/>
            <a:rect l="l" t="t" r="r" b="b"/>
            <a:pathLst>
              <a:path w="295910" h="287019">
                <a:moveTo>
                  <a:pt x="0" y="286512"/>
                </a:moveTo>
                <a:lnTo>
                  <a:pt x="295656" y="286512"/>
                </a:lnTo>
                <a:lnTo>
                  <a:pt x="295656" y="0"/>
                </a:lnTo>
                <a:lnTo>
                  <a:pt x="0" y="0"/>
                </a:lnTo>
                <a:lnTo>
                  <a:pt x="0" y="286512"/>
                </a:lnTo>
                <a:close/>
              </a:path>
            </a:pathLst>
          </a:custGeom>
          <a:ln w="28956">
            <a:solidFill>
              <a:srgbClr val="FFFFFF"/>
            </a:solidFill>
          </a:ln>
        </p:spPr>
        <p:txBody>
          <a:bodyPr wrap="square" lIns="0" tIns="0" rIns="0" bIns="0" rtlCol="0"/>
          <a:lstStyle/>
          <a:p/>
        </p:txBody>
      </p:sp>
      <p:sp>
        <p:nvSpPr>
          <p:cNvPr id="43" name="object 43"/>
          <p:cNvSpPr/>
          <p:nvPr/>
        </p:nvSpPr>
        <p:spPr>
          <a:xfrm>
            <a:off x="9852152" y="1741932"/>
            <a:ext cx="392853" cy="287020"/>
          </a:xfrm>
          <a:custGeom>
            <a:avLst/>
            <a:gdLst/>
            <a:ahLst/>
            <a:cxnLst/>
            <a:rect l="l" t="t" r="r" b="b"/>
            <a:pathLst>
              <a:path w="294640" h="287019">
                <a:moveTo>
                  <a:pt x="0" y="286512"/>
                </a:moveTo>
                <a:lnTo>
                  <a:pt x="294131" y="286512"/>
                </a:lnTo>
                <a:lnTo>
                  <a:pt x="294131" y="0"/>
                </a:lnTo>
                <a:lnTo>
                  <a:pt x="0" y="0"/>
                </a:lnTo>
                <a:lnTo>
                  <a:pt x="0" y="286512"/>
                </a:lnTo>
                <a:close/>
              </a:path>
            </a:pathLst>
          </a:custGeom>
          <a:solidFill>
            <a:srgbClr val="006FC0"/>
          </a:solidFill>
        </p:spPr>
        <p:txBody>
          <a:bodyPr wrap="square" lIns="0" tIns="0" rIns="0" bIns="0" rtlCol="0"/>
          <a:lstStyle/>
          <a:p/>
        </p:txBody>
      </p:sp>
      <p:sp>
        <p:nvSpPr>
          <p:cNvPr id="44" name="object 44"/>
          <p:cNvSpPr/>
          <p:nvPr/>
        </p:nvSpPr>
        <p:spPr>
          <a:xfrm>
            <a:off x="9852152" y="1741932"/>
            <a:ext cx="392853" cy="287020"/>
          </a:xfrm>
          <a:custGeom>
            <a:avLst/>
            <a:gdLst/>
            <a:ahLst/>
            <a:cxnLst/>
            <a:rect l="l" t="t" r="r" b="b"/>
            <a:pathLst>
              <a:path w="294640" h="287019">
                <a:moveTo>
                  <a:pt x="0" y="286512"/>
                </a:moveTo>
                <a:lnTo>
                  <a:pt x="294131" y="286512"/>
                </a:lnTo>
                <a:lnTo>
                  <a:pt x="294131" y="0"/>
                </a:lnTo>
                <a:lnTo>
                  <a:pt x="0" y="0"/>
                </a:lnTo>
                <a:lnTo>
                  <a:pt x="0" y="286512"/>
                </a:lnTo>
                <a:close/>
              </a:path>
            </a:pathLst>
          </a:custGeom>
          <a:ln w="28956">
            <a:solidFill>
              <a:srgbClr val="FFFFFF"/>
            </a:solidFill>
          </a:ln>
        </p:spPr>
        <p:txBody>
          <a:bodyPr wrap="square" lIns="0" tIns="0" rIns="0" bIns="0" rtlCol="0"/>
          <a:lstStyle/>
          <a:p/>
        </p:txBody>
      </p:sp>
      <p:sp>
        <p:nvSpPr>
          <p:cNvPr id="47" name="标题 46"/>
          <p:cNvSpPr>
            <a:spLocks noGrp="1"/>
          </p:cNvSpPr>
          <p:nvPr>
            <p:ph type="title"/>
          </p:nvPr>
        </p:nvSpPr>
        <p:spPr/>
        <p:txBody>
          <a:bodyPr/>
          <a:lstStyle/>
          <a:p>
            <a:r>
              <a:rPr lang="zh-CN" altLang="en-US" dirty="0"/>
              <a:t>更聪明的</a:t>
            </a:r>
            <a:r>
              <a:rPr lang="en-US" altLang="zh-CN" dirty="0"/>
              <a:t>K-Means</a:t>
            </a:r>
            <a:r>
              <a:rPr lang="zh-CN" altLang="en-US" dirty="0"/>
              <a:t>初始化方法</a:t>
            </a:r>
            <a:endParaRPr lang="zh-CN" alt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6F2F9F"/>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1" name="object 21"/>
          <p:cNvSpPr txBox="1"/>
          <p:nvPr/>
        </p:nvSpPr>
        <p:spPr>
          <a:xfrm>
            <a:off x="8280908" y="4896256"/>
            <a:ext cx="781813"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321385" y="3132327"/>
            <a:ext cx="1109135"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793749"/>
            <a:ext cx="104140" cy="2986405"/>
          </a:xfrm>
          <a:custGeom>
            <a:avLst/>
            <a:gdLst/>
            <a:ahLst/>
            <a:cxnLst/>
            <a:rect l="l" t="t" r="r" b="b"/>
            <a:pathLst>
              <a:path w="78104" h="2986404">
                <a:moveTo>
                  <a:pt x="51815" y="64769"/>
                </a:moveTo>
                <a:lnTo>
                  <a:pt x="25908" y="64769"/>
                </a:lnTo>
                <a:lnTo>
                  <a:pt x="25908" y="2985820"/>
                </a:lnTo>
                <a:lnTo>
                  <a:pt x="51815" y="2985820"/>
                </a:lnTo>
                <a:lnTo>
                  <a:pt x="51815" y="64769"/>
                </a:lnTo>
                <a:close/>
              </a:path>
              <a:path w="78104" h="2986404">
                <a:moveTo>
                  <a:pt x="38862" y="0"/>
                </a:moveTo>
                <a:lnTo>
                  <a:pt x="0" y="77724"/>
                </a:lnTo>
                <a:lnTo>
                  <a:pt x="25908" y="77724"/>
                </a:lnTo>
                <a:lnTo>
                  <a:pt x="25908" y="64769"/>
                </a:lnTo>
                <a:lnTo>
                  <a:pt x="71247" y="64769"/>
                </a:lnTo>
                <a:lnTo>
                  <a:pt x="38862" y="0"/>
                </a:lnTo>
                <a:close/>
              </a:path>
              <a:path w="78104" h="2986404">
                <a:moveTo>
                  <a:pt x="71247" y="64769"/>
                </a:moveTo>
                <a:lnTo>
                  <a:pt x="51815" y="64769"/>
                </a:lnTo>
                <a:lnTo>
                  <a:pt x="51815" y="77724"/>
                </a:lnTo>
                <a:lnTo>
                  <a:pt x="77724" y="77724"/>
                </a:lnTo>
                <a:lnTo>
                  <a:pt x="71247" y="64769"/>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6F2F9F"/>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41" name="object 41"/>
          <p:cNvSpPr/>
          <p:nvPr/>
        </p:nvSpPr>
        <p:spPr>
          <a:xfrm>
            <a:off x="6970776" y="3342132"/>
            <a:ext cx="394547" cy="287020"/>
          </a:xfrm>
          <a:custGeom>
            <a:avLst/>
            <a:gdLst/>
            <a:ahLst/>
            <a:cxnLst/>
            <a:rect l="l" t="t" r="r" b="b"/>
            <a:pathLst>
              <a:path w="295910" h="287019">
                <a:moveTo>
                  <a:pt x="0" y="286512"/>
                </a:moveTo>
                <a:lnTo>
                  <a:pt x="295656" y="286512"/>
                </a:lnTo>
                <a:lnTo>
                  <a:pt x="295656" y="0"/>
                </a:lnTo>
                <a:lnTo>
                  <a:pt x="0" y="0"/>
                </a:lnTo>
                <a:lnTo>
                  <a:pt x="0" y="286512"/>
                </a:lnTo>
                <a:close/>
              </a:path>
            </a:pathLst>
          </a:custGeom>
          <a:solidFill>
            <a:srgbClr val="FFC000"/>
          </a:solidFill>
        </p:spPr>
        <p:txBody>
          <a:bodyPr wrap="square" lIns="0" tIns="0" rIns="0" bIns="0" rtlCol="0"/>
          <a:lstStyle/>
          <a:p/>
        </p:txBody>
      </p:sp>
      <p:sp>
        <p:nvSpPr>
          <p:cNvPr id="42" name="object 42"/>
          <p:cNvSpPr/>
          <p:nvPr/>
        </p:nvSpPr>
        <p:spPr>
          <a:xfrm>
            <a:off x="6970776" y="3342132"/>
            <a:ext cx="394547" cy="287020"/>
          </a:xfrm>
          <a:custGeom>
            <a:avLst/>
            <a:gdLst/>
            <a:ahLst/>
            <a:cxnLst/>
            <a:rect l="l" t="t" r="r" b="b"/>
            <a:pathLst>
              <a:path w="295910" h="287019">
                <a:moveTo>
                  <a:pt x="0" y="286512"/>
                </a:moveTo>
                <a:lnTo>
                  <a:pt x="295656" y="286512"/>
                </a:lnTo>
                <a:lnTo>
                  <a:pt x="295656" y="0"/>
                </a:lnTo>
                <a:lnTo>
                  <a:pt x="0" y="0"/>
                </a:lnTo>
                <a:lnTo>
                  <a:pt x="0" y="286512"/>
                </a:lnTo>
                <a:close/>
              </a:path>
            </a:pathLst>
          </a:custGeom>
          <a:ln w="28956">
            <a:solidFill>
              <a:srgbClr val="FFFFFF"/>
            </a:solidFill>
          </a:ln>
        </p:spPr>
        <p:txBody>
          <a:bodyPr wrap="square" lIns="0" tIns="0" rIns="0" bIns="0" rtlCol="0"/>
          <a:lstStyle/>
          <a:p/>
        </p:txBody>
      </p:sp>
      <p:sp>
        <p:nvSpPr>
          <p:cNvPr id="43" name="object 43"/>
          <p:cNvSpPr/>
          <p:nvPr/>
        </p:nvSpPr>
        <p:spPr>
          <a:xfrm>
            <a:off x="9852152" y="1741932"/>
            <a:ext cx="392853" cy="287020"/>
          </a:xfrm>
          <a:custGeom>
            <a:avLst/>
            <a:gdLst/>
            <a:ahLst/>
            <a:cxnLst/>
            <a:rect l="l" t="t" r="r" b="b"/>
            <a:pathLst>
              <a:path w="294640" h="287019">
                <a:moveTo>
                  <a:pt x="0" y="286512"/>
                </a:moveTo>
                <a:lnTo>
                  <a:pt x="294131" y="286512"/>
                </a:lnTo>
                <a:lnTo>
                  <a:pt x="294131" y="0"/>
                </a:lnTo>
                <a:lnTo>
                  <a:pt x="0" y="0"/>
                </a:lnTo>
                <a:lnTo>
                  <a:pt x="0" y="286512"/>
                </a:lnTo>
                <a:close/>
              </a:path>
            </a:pathLst>
          </a:custGeom>
          <a:solidFill>
            <a:srgbClr val="006FC0"/>
          </a:solidFill>
        </p:spPr>
        <p:txBody>
          <a:bodyPr wrap="square" lIns="0" tIns="0" rIns="0" bIns="0" rtlCol="0"/>
          <a:lstStyle/>
          <a:p/>
        </p:txBody>
      </p:sp>
      <p:sp>
        <p:nvSpPr>
          <p:cNvPr id="44" name="object 44"/>
          <p:cNvSpPr/>
          <p:nvPr/>
        </p:nvSpPr>
        <p:spPr>
          <a:xfrm>
            <a:off x="9852152" y="1741932"/>
            <a:ext cx="392853" cy="287020"/>
          </a:xfrm>
          <a:custGeom>
            <a:avLst/>
            <a:gdLst/>
            <a:ahLst/>
            <a:cxnLst/>
            <a:rect l="l" t="t" r="r" b="b"/>
            <a:pathLst>
              <a:path w="294640" h="287019">
                <a:moveTo>
                  <a:pt x="0" y="286512"/>
                </a:moveTo>
                <a:lnTo>
                  <a:pt x="294131" y="286512"/>
                </a:lnTo>
                <a:lnTo>
                  <a:pt x="294131" y="0"/>
                </a:lnTo>
                <a:lnTo>
                  <a:pt x="0" y="0"/>
                </a:lnTo>
                <a:lnTo>
                  <a:pt x="0" y="286512"/>
                </a:lnTo>
                <a:close/>
              </a:path>
            </a:pathLst>
          </a:custGeom>
          <a:ln w="28956">
            <a:solidFill>
              <a:srgbClr val="FFFFFF"/>
            </a:solidFill>
          </a:ln>
        </p:spPr>
        <p:txBody>
          <a:bodyPr wrap="square" lIns="0" tIns="0" rIns="0" bIns="0" rtlCol="0"/>
          <a:lstStyle/>
          <a:p/>
        </p:txBody>
      </p:sp>
      <p:sp>
        <p:nvSpPr>
          <p:cNvPr id="45" name="object 45"/>
          <p:cNvSpPr/>
          <p:nvPr/>
        </p:nvSpPr>
        <p:spPr>
          <a:xfrm>
            <a:off x="8986520" y="4116323"/>
            <a:ext cx="394547" cy="287020"/>
          </a:xfrm>
          <a:custGeom>
            <a:avLst/>
            <a:gdLst/>
            <a:ahLst/>
            <a:cxnLst/>
            <a:rect l="l" t="t" r="r" b="b"/>
            <a:pathLst>
              <a:path w="295909" h="287020">
                <a:moveTo>
                  <a:pt x="0" y="286512"/>
                </a:moveTo>
                <a:lnTo>
                  <a:pt x="295655" y="286512"/>
                </a:lnTo>
                <a:lnTo>
                  <a:pt x="295655" y="0"/>
                </a:lnTo>
                <a:lnTo>
                  <a:pt x="0" y="0"/>
                </a:lnTo>
                <a:lnTo>
                  <a:pt x="0" y="286512"/>
                </a:lnTo>
                <a:close/>
              </a:path>
            </a:pathLst>
          </a:custGeom>
          <a:solidFill>
            <a:srgbClr val="D0692F"/>
          </a:solidFill>
        </p:spPr>
        <p:txBody>
          <a:bodyPr wrap="square" lIns="0" tIns="0" rIns="0" bIns="0" rtlCol="0"/>
          <a:lstStyle/>
          <a:p/>
        </p:txBody>
      </p:sp>
      <p:sp>
        <p:nvSpPr>
          <p:cNvPr id="46" name="object 46"/>
          <p:cNvSpPr/>
          <p:nvPr/>
        </p:nvSpPr>
        <p:spPr>
          <a:xfrm>
            <a:off x="8986520" y="4116323"/>
            <a:ext cx="394547" cy="287020"/>
          </a:xfrm>
          <a:custGeom>
            <a:avLst/>
            <a:gdLst/>
            <a:ahLst/>
            <a:cxnLst/>
            <a:rect l="l" t="t" r="r" b="b"/>
            <a:pathLst>
              <a:path w="295909" h="287020">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9" name="标题 48"/>
          <p:cNvSpPr>
            <a:spLocks noGrp="1"/>
          </p:cNvSpPr>
          <p:nvPr>
            <p:ph type="title"/>
          </p:nvPr>
        </p:nvSpPr>
        <p:spPr/>
        <p:txBody>
          <a:bodyPr/>
          <a:lstStyle/>
          <a:p>
            <a:r>
              <a:rPr lang="zh-CN" altLang="en-US" dirty="0"/>
              <a:t>更聪明的</a:t>
            </a:r>
            <a:r>
              <a:rPr lang="en-US" altLang="zh-CN" dirty="0"/>
              <a:t>K-Means</a:t>
            </a:r>
            <a:r>
              <a:rPr lang="zh-CN" altLang="en-US" dirty="0"/>
              <a:t>初始化方法</a:t>
            </a:r>
            <a:endParaRPr lang="zh-CN" altLang="en-US" dirty="0"/>
          </a:p>
        </p:txBody>
      </p:sp>
      <p:sp>
        <p:nvSpPr>
          <p:cNvPr id="48" name="object 2"/>
          <p:cNvSpPr txBox="1"/>
          <p:nvPr/>
        </p:nvSpPr>
        <p:spPr>
          <a:xfrm>
            <a:off x="590634" y="1925067"/>
            <a:ext cx="3688585" cy="1872307"/>
          </a:xfrm>
          <a:prstGeom prst="rect">
            <a:avLst/>
          </a:prstGeom>
        </p:spPr>
        <p:txBody>
          <a:bodyPr vert="horz" wrap="square" lIns="0" tIns="12700" rIns="0" bIns="0" rtlCol="0">
            <a:spAutoFit/>
          </a:bodyPr>
          <a:lstStyle/>
          <a:p>
            <a:pPr marL="355600" indent="-342900">
              <a:spcBef>
                <a:spcPts val="100"/>
              </a:spcBef>
              <a:buFont typeface="Arial" panose="020B0604020202020204" pitchFamily="34" charset="0"/>
              <a:buChar char="•"/>
            </a:pPr>
            <a:r>
              <a:rPr lang="zh-CN" altLang="en-US" sz="2400" b="1" dirty="0">
                <a:latin typeface="Trebuchet MS" panose="020B0603020202020204"/>
                <a:cs typeface="Trebuchet MS" panose="020B0603020202020204"/>
              </a:rPr>
              <a:t>计算每个点与已有聚簇中心点之间的最短距离，</a:t>
            </a:r>
            <a:r>
              <a:rPr lang="en-US" altLang="zh-CN" sz="2400" b="1" dirty="0">
                <a:latin typeface="Trebuchet MS" panose="020B0603020202020204"/>
                <a:cs typeface="Trebuchet MS" panose="020B0603020202020204"/>
              </a:rPr>
              <a:t>D(x)</a:t>
            </a:r>
            <a:endParaRPr lang="en-US" altLang="zh-CN" sz="2400" b="1" dirty="0">
              <a:latin typeface="Trebuchet MS" panose="020B0603020202020204"/>
              <a:cs typeface="Trebuchet MS" panose="020B0603020202020204"/>
            </a:endParaRPr>
          </a:p>
          <a:p>
            <a:pPr marL="355600" indent="-342900">
              <a:spcBef>
                <a:spcPts val="100"/>
              </a:spcBef>
              <a:buFont typeface="Arial" panose="020B0604020202020204" pitchFamily="34" charset="0"/>
              <a:buChar char="•"/>
            </a:pPr>
            <a:r>
              <a:rPr lang="zh-CN" altLang="en-US" sz="2400" b="1" dirty="0">
                <a:latin typeface="Trebuchet MS" panose="020B0603020202020204"/>
                <a:cs typeface="Trebuchet MS" panose="020B0603020202020204"/>
              </a:rPr>
              <a:t>按照</a:t>
            </a:r>
            <a:r>
              <a:rPr lang="en-US" altLang="zh-CN" sz="2400" b="1" dirty="0">
                <a:latin typeface="Trebuchet MS" panose="020B0603020202020204"/>
                <a:cs typeface="Trebuchet MS" panose="020B0603020202020204"/>
              </a:rPr>
              <a:t>D(x)</a:t>
            </a:r>
            <a:r>
              <a:rPr lang="en-US" altLang="zh-CN" sz="2400" b="1" baseline="25000" dirty="0">
                <a:latin typeface="Arial" panose="020B0604020202020204"/>
                <a:cs typeface="Arial" panose="020B0604020202020204"/>
              </a:rPr>
              <a:t>2</a:t>
            </a:r>
            <a:r>
              <a:rPr lang="en-US" altLang="zh-CN" sz="2400" b="1" dirty="0">
                <a:latin typeface="Arial" panose="020B0604020202020204"/>
                <a:cs typeface="Arial" panose="020B0604020202020204"/>
              </a:rPr>
              <a:t>/</a:t>
            </a:r>
            <a:r>
              <a:rPr lang="el-GR" altLang="zh-CN" sz="2400" b="1" dirty="0">
                <a:latin typeface="Arial" panose="020B0604020202020204"/>
                <a:cs typeface="Arial" panose="020B0604020202020204"/>
              </a:rPr>
              <a:t>Σ</a:t>
            </a:r>
            <a:r>
              <a:rPr lang="en-US" altLang="zh-CN" sz="2400" b="1" dirty="0">
                <a:latin typeface="Trebuchet MS" panose="020B0603020202020204"/>
                <a:cs typeface="Trebuchet MS" panose="020B0603020202020204"/>
              </a:rPr>
              <a:t> D(x)</a:t>
            </a:r>
            <a:r>
              <a:rPr lang="en-US" altLang="zh-CN" sz="2400" b="1" baseline="25000" dirty="0">
                <a:latin typeface="Arial" panose="020B0604020202020204"/>
                <a:cs typeface="Arial" panose="020B0604020202020204"/>
              </a:rPr>
              <a:t>2</a:t>
            </a:r>
            <a:r>
              <a:rPr lang="zh-CN" altLang="en-US" sz="2400" b="1" dirty="0">
                <a:latin typeface="Arial" panose="020B0604020202020204"/>
                <a:cs typeface="Arial" panose="020B0604020202020204"/>
              </a:rPr>
              <a:t>的概率选取下一个点</a:t>
            </a:r>
            <a:endParaRPr sz="2400" dirty="0">
              <a:latin typeface="Trebuchet MS" panose="020B0603020202020204"/>
              <a:cs typeface="Trebuchet MS" panose="020B0603020202020204"/>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6F2F9F"/>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6F2F9F"/>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6F2F9F"/>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1" name="object 21"/>
          <p:cNvSpPr txBox="1"/>
          <p:nvPr/>
        </p:nvSpPr>
        <p:spPr>
          <a:xfrm>
            <a:off x="8280909" y="4896256"/>
            <a:ext cx="703241"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321385" y="3132327"/>
            <a:ext cx="1065447"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793749"/>
            <a:ext cx="104140" cy="2986405"/>
          </a:xfrm>
          <a:custGeom>
            <a:avLst/>
            <a:gdLst/>
            <a:ahLst/>
            <a:cxnLst/>
            <a:rect l="l" t="t" r="r" b="b"/>
            <a:pathLst>
              <a:path w="78104" h="2986404">
                <a:moveTo>
                  <a:pt x="51815" y="64769"/>
                </a:moveTo>
                <a:lnTo>
                  <a:pt x="25908" y="64769"/>
                </a:lnTo>
                <a:lnTo>
                  <a:pt x="25908" y="2985820"/>
                </a:lnTo>
                <a:lnTo>
                  <a:pt x="51815" y="2985820"/>
                </a:lnTo>
                <a:lnTo>
                  <a:pt x="51815" y="64769"/>
                </a:lnTo>
                <a:close/>
              </a:path>
              <a:path w="78104" h="2986404">
                <a:moveTo>
                  <a:pt x="38862" y="0"/>
                </a:moveTo>
                <a:lnTo>
                  <a:pt x="0" y="77724"/>
                </a:lnTo>
                <a:lnTo>
                  <a:pt x="25908" y="77724"/>
                </a:lnTo>
                <a:lnTo>
                  <a:pt x="25908" y="64769"/>
                </a:lnTo>
                <a:lnTo>
                  <a:pt x="71247" y="64769"/>
                </a:lnTo>
                <a:lnTo>
                  <a:pt x="38862" y="0"/>
                </a:lnTo>
                <a:close/>
              </a:path>
              <a:path w="78104" h="2986404">
                <a:moveTo>
                  <a:pt x="71247" y="64769"/>
                </a:moveTo>
                <a:lnTo>
                  <a:pt x="51815" y="64769"/>
                </a:lnTo>
                <a:lnTo>
                  <a:pt x="51815" y="77724"/>
                </a:lnTo>
                <a:lnTo>
                  <a:pt x="77724" y="77724"/>
                </a:lnTo>
                <a:lnTo>
                  <a:pt x="71247" y="64769"/>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6F2F9F"/>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6F2F9F"/>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6F2F9F"/>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6F2F9F"/>
          </a:solidFill>
        </p:spPr>
        <p:txBody>
          <a:bodyPr wrap="square" lIns="0" tIns="0" rIns="0" bIns="0" rtlCol="0"/>
          <a:lstStyle/>
          <a:p/>
        </p:txBody>
      </p:sp>
      <p:sp>
        <p:nvSpPr>
          <p:cNvPr id="41" name="object 41"/>
          <p:cNvSpPr/>
          <p:nvPr/>
        </p:nvSpPr>
        <p:spPr>
          <a:xfrm>
            <a:off x="6970776" y="3342132"/>
            <a:ext cx="394547" cy="287020"/>
          </a:xfrm>
          <a:custGeom>
            <a:avLst/>
            <a:gdLst/>
            <a:ahLst/>
            <a:cxnLst/>
            <a:rect l="l" t="t" r="r" b="b"/>
            <a:pathLst>
              <a:path w="295910" h="287019">
                <a:moveTo>
                  <a:pt x="0" y="286512"/>
                </a:moveTo>
                <a:lnTo>
                  <a:pt x="295656" y="286512"/>
                </a:lnTo>
                <a:lnTo>
                  <a:pt x="295656" y="0"/>
                </a:lnTo>
                <a:lnTo>
                  <a:pt x="0" y="0"/>
                </a:lnTo>
                <a:lnTo>
                  <a:pt x="0" y="286512"/>
                </a:lnTo>
                <a:close/>
              </a:path>
            </a:pathLst>
          </a:custGeom>
          <a:solidFill>
            <a:srgbClr val="FFC000"/>
          </a:solidFill>
        </p:spPr>
        <p:txBody>
          <a:bodyPr wrap="square" lIns="0" tIns="0" rIns="0" bIns="0" rtlCol="0"/>
          <a:lstStyle/>
          <a:p/>
        </p:txBody>
      </p:sp>
      <p:sp>
        <p:nvSpPr>
          <p:cNvPr id="42" name="object 42"/>
          <p:cNvSpPr/>
          <p:nvPr/>
        </p:nvSpPr>
        <p:spPr>
          <a:xfrm>
            <a:off x="6970776" y="3342132"/>
            <a:ext cx="394547" cy="287020"/>
          </a:xfrm>
          <a:custGeom>
            <a:avLst/>
            <a:gdLst/>
            <a:ahLst/>
            <a:cxnLst/>
            <a:rect l="l" t="t" r="r" b="b"/>
            <a:pathLst>
              <a:path w="295910" h="287019">
                <a:moveTo>
                  <a:pt x="0" y="286512"/>
                </a:moveTo>
                <a:lnTo>
                  <a:pt x="295656" y="286512"/>
                </a:lnTo>
                <a:lnTo>
                  <a:pt x="295656" y="0"/>
                </a:lnTo>
                <a:lnTo>
                  <a:pt x="0" y="0"/>
                </a:lnTo>
                <a:lnTo>
                  <a:pt x="0" y="286512"/>
                </a:lnTo>
                <a:close/>
              </a:path>
            </a:pathLst>
          </a:custGeom>
          <a:ln w="28956">
            <a:solidFill>
              <a:srgbClr val="FFFFFF"/>
            </a:solidFill>
          </a:ln>
        </p:spPr>
        <p:txBody>
          <a:bodyPr wrap="square" lIns="0" tIns="0" rIns="0" bIns="0" rtlCol="0"/>
          <a:lstStyle/>
          <a:p/>
        </p:txBody>
      </p:sp>
      <p:sp>
        <p:nvSpPr>
          <p:cNvPr id="43" name="object 43"/>
          <p:cNvSpPr/>
          <p:nvPr/>
        </p:nvSpPr>
        <p:spPr>
          <a:xfrm>
            <a:off x="9852152" y="1741932"/>
            <a:ext cx="392853" cy="287020"/>
          </a:xfrm>
          <a:custGeom>
            <a:avLst/>
            <a:gdLst/>
            <a:ahLst/>
            <a:cxnLst/>
            <a:rect l="l" t="t" r="r" b="b"/>
            <a:pathLst>
              <a:path w="294640" h="287019">
                <a:moveTo>
                  <a:pt x="0" y="286512"/>
                </a:moveTo>
                <a:lnTo>
                  <a:pt x="294131" y="286512"/>
                </a:lnTo>
                <a:lnTo>
                  <a:pt x="294131" y="0"/>
                </a:lnTo>
                <a:lnTo>
                  <a:pt x="0" y="0"/>
                </a:lnTo>
                <a:lnTo>
                  <a:pt x="0" y="286512"/>
                </a:lnTo>
                <a:close/>
              </a:path>
            </a:pathLst>
          </a:custGeom>
          <a:solidFill>
            <a:srgbClr val="006FC0"/>
          </a:solidFill>
        </p:spPr>
        <p:txBody>
          <a:bodyPr wrap="square" lIns="0" tIns="0" rIns="0" bIns="0" rtlCol="0"/>
          <a:lstStyle/>
          <a:p/>
        </p:txBody>
      </p:sp>
      <p:sp>
        <p:nvSpPr>
          <p:cNvPr id="44" name="object 44"/>
          <p:cNvSpPr/>
          <p:nvPr/>
        </p:nvSpPr>
        <p:spPr>
          <a:xfrm>
            <a:off x="9852152" y="1741932"/>
            <a:ext cx="392853" cy="287020"/>
          </a:xfrm>
          <a:custGeom>
            <a:avLst/>
            <a:gdLst/>
            <a:ahLst/>
            <a:cxnLst/>
            <a:rect l="l" t="t" r="r" b="b"/>
            <a:pathLst>
              <a:path w="294640" h="287019">
                <a:moveTo>
                  <a:pt x="0" y="286512"/>
                </a:moveTo>
                <a:lnTo>
                  <a:pt x="294131" y="286512"/>
                </a:lnTo>
                <a:lnTo>
                  <a:pt x="294131" y="0"/>
                </a:lnTo>
                <a:lnTo>
                  <a:pt x="0" y="0"/>
                </a:lnTo>
                <a:lnTo>
                  <a:pt x="0" y="286512"/>
                </a:lnTo>
                <a:close/>
              </a:path>
            </a:pathLst>
          </a:custGeom>
          <a:ln w="28956">
            <a:solidFill>
              <a:srgbClr val="FFFFFF"/>
            </a:solidFill>
          </a:ln>
        </p:spPr>
        <p:txBody>
          <a:bodyPr wrap="square" lIns="0" tIns="0" rIns="0" bIns="0" rtlCol="0"/>
          <a:lstStyle/>
          <a:p/>
        </p:txBody>
      </p:sp>
      <p:sp>
        <p:nvSpPr>
          <p:cNvPr id="45" name="object 45"/>
          <p:cNvSpPr/>
          <p:nvPr/>
        </p:nvSpPr>
        <p:spPr>
          <a:xfrm>
            <a:off x="8986520" y="4116323"/>
            <a:ext cx="394547" cy="287020"/>
          </a:xfrm>
          <a:custGeom>
            <a:avLst/>
            <a:gdLst/>
            <a:ahLst/>
            <a:cxnLst/>
            <a:rect l="l" t="t" r="r" b="b"/>
            <a:pathLst>
              <a:path w="295909" h="287020">
                <a:moveTo>
                  <a:pt x="0" y="286512"/>
                </a:moveTo>
                <a:lnTo>
                  <a:pt x="295655" y="286512"/>
                </a:lnTo>
                <a:lnTo>
                  <a:pt x="295655" y="0"/>
                </a:lnTo>
                <a:lnTo>
                  <a:pt x="0" y="0"/>
                </a:lnTo>
                <a:lnTo>
                  <a:pt x="0" y="286512"/>
                </a:lnTo>
                <a:close/>
              </a:path>
            </a:pathLst>
          </a:custGeom>
          <a:solidFill>
            <a:srgbClr val="D0692F"/>
          </a:solidFill>
        </p:spPr>
        <p:txBody>
          <a:bodyPr wrap="square" lIns="0" tIns="0" rIns="0" bIns="0" rtlCol="0"/>
          <a:lstStyle/>
          <a:p/>
        </p:txBody>
      </p:sp>
      <p:sp>
        <p:nvSpPr>
          <p:cNvPr id="46" name="object 46"/>
          <p:cNvSpPr/>
          <p:nvPr/>
        </p:nvSpPr>
        <p:spPr>
          <a:xfrm>
            <a:off x="8986520" y="4116323"/>
            <a:ext cx="394547" cy="287020"/>
          </a:xfrm>
          <a:custGeom>
            <a:avLst/>
            <a:gdLst/>
            <a:ahLst/>
            <a:cxnLst/>
            <a:rect l="l" t="t" r="r" b="b"/>
            <a:pathLst>
              <a:path w="295909" h="287020">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7" name="object 47"/>
          <p:cNvSpPr/>
          <p:nvPr/>
        </p:nvSpPr>
        <p:spPr>
          <a:xfrm>
            <a:off x="8096504" y="2182367"/>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solidFill>
            <a:srgbClr val="C00000"/>
          </a:solidFill>
        </p:spPr>
        <p:txBody>
          <a:bodyPr wrap="square" lIns="0" tIns="0" rIns="0" bIns="0" rtlCol="0"/>
          <a:lstStyle/>
          <a:p/>
        </p:txBody>
      </p:sp>
      <p:sp>
        <p:nvSpPr>
          <p:cNvPr id="48" name="object 48"/>
          <p:cNvSpPr/>
          <p:nvPr/>
        </p:nvSpPr>
        <p:spPr>
          <a:xfrm>
            <a:off x="8096504" y="2182367"/>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51" name="标题 50"/>
          <p:cNvSpPr>
            <a:spLocks noGrp="1"/>
          </p:cNvSpPr>
          <p:nvPr>
            <p:ph type="title"/>
          </p:nvPr>
        </p:nvSpPr>
        <p:spPr/>
        <p:txBody>
          <a:bodyPr/>
          <a:lstStyle/>
          <a:p>
            <a:r>
              <a:rPr lang="zh-CN" altLang="en-US" dirty="0"/>
              <a:t>更聪明的</a:t>
            </a:r>
            <a:r>
              <a:rPr lang="en-US" altLang="zh-CN" dirty="0"/>
              <a:t>K-Means</a:t>
            </a:r>
            <a:r>
              <a:rPr lang="zh-CN" altLang="en-US" dirty="0"/>
              <a:t>初始化方法</a:t>
            </a:r>
            <a:endParaRPr lang="zh-CN" altLang="en-US" dirty="0"/>
          </a:p>
        </p:txBody>
      </p:sp>
      <p:sp>
        <p:nvSpPr>
          <p:cNvPr id="50" name="object 2"/>
          <p:cNvSpPr txBox="1"/>
          <p:nvPr/>
        </p:nvSpPr>
        <p:spPr>
          <a:xfrm>
            <a:off x="590634" y="1925067"/>
            <a:ext cx="3688585" cy="1872307"/>
          </a:xfrm>
          <a:prstGeom prst="rect">
            <a:avLst/>
          </a:prstGeom>
        </p:spPr>
        <p:txBody>
          <a:bodyPr vert="horz" wrap="square" lIns="0" tIns="12700" rIns="0" bIns="0" rtlCol="0">
            <a:spAutoFit/>
          </a:bodyPr>
          <a:lstStyle/>
          <a:p>
            <a:pPr marL="355600" indent="-342900">
              <a:spcBef>
                <a:spcPts val="100"/>
              </a:spcBef>
              <a:buFont typeface="Arial" panose="020B0604020202020204" pitchFamily="34" charset="0"/>
              <a:buChar char="•"/>
            </a:pPr>
            <a:r>
              <a:rPr lang="zh-CN" altLang="en-US" sz="2400" b="1" dirty="0">
                <a:latin typeface="Trebuchet MS" panose="020B0603020202020204"/>
                <a:cs typeface="Trebuchet MS" panose="020B0603020202020204"/>
              </a:rPr>
              <a:t>计算每个点与已有聚簇中心点之间的最短距离，</a:t>
            </a:r>
            <a:r>
              <a:rPr lang="en-US" altLang="zh-CN" sz="2400" b="1" dirty="0">
                <a:latin typeface="Trebuchet MS" panose="020B0603020202020204"/>
                <a:cs typeface="Trebuchet MS" panose="020B0603020202020204"/>
              </a:rPr>
              <a:t>D(x)</a:t>
            </a:r>
            <a:endParaRPr lang="en-US" altLang="zh-CN" sz="2400" b="1" dirty="0">
              <a:latin typeface="Trebuchet MS" panose="020B0603020202020204"/>
              <a:cs typeface="Trebuchet MS" panose="020B0603020202020204"/>
            </a:endParaRPr>
          </a:p>
          <a:p>
            <a:pPr marL="355600" indent="-342900">
              <a:spcBef>
                <a:spcPts val="100"/>
              </a:spcBef>
              <a:buFont typeface="Arial" panose="020B0604020202020204" pitchFamily="34" charset="0"/>
              <a:buChar char="•"/>
            </a:pPr>
            <a:r>
              <a:rPr lang="zh-CN" altLang="en-US" sz="2400" b="1" dirty="0">
                <a:latin typeface="Trebuchet MS" panose="020B0603020202020204"/>
                <a:cs typeface="Trebuchet MS" panose="020B0603020202020204"/>
              </a:rPr>
              <a:t>按照</a:t>
            </a:r>
            <a:r>
              <a:rPr lang="en-US" altLang="zh-CN" sz="2400" b="1" dirty="0">
                <a:latin typeface="Trebuchet MS" panose="020B0603020202020204"/>
                <a:cs typeface="Trebuchet MS" panose="020B0603020202020204"/>
              </a:rPr>
              <a:t>D(x)</a:t>
            </a:r>
            <a:r>
              <a:rPr lang="en-US" altLang="zh-CN" sz="2400" b="1" baseline="25000" dirty="0">
                <a:latin typeface="Arial" panose="020B0604020202020204"/>
                <a:cs typeface="Arial" panose="020B0604020202020204"/>
              </a:rPr>
              <a:t>2</a:t>
            </a:r>
            <a:r>
              <a:rPr lang="en-US" altLang="zh-CN" sz="2400" b="1" dirty="0">
                <a:latin typeface="Arial" panose="020B0604020202020204"/>
                <a:cs typeface="Arial" panose="020B0604020202020204"/>
              </a:rPr>
              <a:t>/</a:t>
            </a:r>
            <a:r>
              <a:rPr lang="el-GR" altLang="zh-CN" sz="2400" b="1" dirty="0">
                <a:latin typeface="Arial" panose="020B0604020202020204"/>
                <a:cs typeface="Arial" panose="020B0604020202020204"/>
              </a:rPr>
              <a:t>Σ</a:t>
            </a:r>
            <a:r>
              <a:rPr lang="en-US" altLang="zh-CN" sz="2400" b="1" dirty="0">
                <a:latin typeface="Trebuchet MS" panose="020B0603020202020204"/>
                <a:cs typeface="Trebuchet MS" panose="020B0603020202020204"/>
              </a:rPr>
              <a:t> D(x)</a:t>
            </a:r>
            <a:r>
              <a:rPr lang="en-US" altLang="zh-CN" sz="2400" b="1" baseline="25000" dirty="0">
                <a:latin typeface="Arial" panose="020B0604020202020204"/>
                <a:cs typeface="Arial" panose="020B0604020202020204"/>
              </a:rPr>
              <a:t>2</a:t>
            </a:r>
            <a:r>
              <a:rPr lang="zh-CN" altLang="en-US" sz="2400" b="1" dirty="0">
                <a:latin typeface="Arial" panose="020B0604020202020204"/>
                <a:cs typeface="Arial" panose="020B0604020202020204"/>
              </a:rPr>
              <a:t>的概率选取下一个点</a:t>
            </a:r>
            <a:endParaRPr sz="2400" dirty="0">
              <a:latin typeface="Trebuchet MS" panose="020B0603020202020204"/>
              <a:cs typeface="Trebuchet MS" panose="020B0603020202020204"/>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2646" y="1501318"/>
            <a:ext cx="2247900" cy="382156"/>
          </a:xfrm>
          <a:prstGeom prst="rect">
            <a:avLst/>
          </a:prstGeom>
        </p:spPr>
        <p:txBody>
          <a:bodyPr vert="horz" wrap="square" lIns="0" tIns="12700" rIns="0" bIns="0" rtlCol="0">
            <a:spAutoFit/>
          </a:bodyPr>
          <a:lstStyle/>
          <a:p>
            <a:pPr marL="12700">
              <a:spcBef>
                <a:spcPts val="100"/>
              </a:spcBef>
            </a:pPr>
            <a:r>
              <a:rPr lang="zh-CN" altLang="en-US" sz="2400" b="1" dirty="0">
                <a:latin typeface="Trebuchet MS" panose="020B0603020202020204"/>
                <a:cs typeface="Trebuchet MS" panose="020B0603020202020204"/>
              </a:rPr>
              <a:t>分配聚簇</a:t>
            </a:r>
            <a:endParaRPr sz="2400" dirty="0">
              <a:latin typeface="Trebuchet MS" panose="020B0603020202020204"/>
              <a:cs typeface="Trebuchet MS" panose="020B0603020202020204"/>
            </a:endParaRPr>
          </a:p>
        </p:txBody>
      </p:sp>
      <p:sp>
        <p:nvSpPr>
          <p:cNvPr id="4" name="object 4"/>
          <p:cNvSpPr/>
          <p:nvPr/>
        </p:nvSpPr>
        <p:spPr>
          <a:xfrm>
            <a:off x="8020306" y="1550669"/>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4" y="271271"/>
                </a:lnTo>
                <a:lnTo>
                  <a:pt x="177527" y="264359"/>
                </a:lnTo>
                <a:lnTo>
                  <a:pt x="214554" y="245107"/>
                </a:lnTo>
                <a:lnTo>
                  <a:pt x="243742" y="215749"/>
                </a:lnTo>
                <a:lnTo>
                  <a:pt x="262877" y="178515"/>
                </a:lnTo>
                <a:lnTo>
                  <a:pt x="269748" y="135635"/>
                </a:lnTo>
                <a:lnTo>
                  <a:pt x="262877" y="92756"/>
                </a:lnTo>
                <a:lnTo>
                  <a:pt x="243742" y="55522"/>
                </a:lnTo>
                <a:lnTo>
                  <a:pt x="214554" y="26164"/>
                </a:lnTo>
                <a:lnTo>
                  <a:pt x="177527" y="6912"/>
                </a:lnTo>
                <a:lnTo>
                  <a:pt x="134874" y="0"/>
                </a:lnTo>
                <a:close/>
              </a:path>
            </a:pathLst>
          </a:custGeom>
          <a:solidFill>
            <a:srgbClr val="C00000"/>
          </a:solidFill>
        </p:spPr>
        <p:txBody>
          <a:bodyPr wrap="square" lIns="0" tIns="0" rIns="0" bIns="0" rtlCol="0"/>
          <a:lstStyle/>
          <a:p/>
        </p:txBody>
      </p:sp>
      <p:sp>
        <p:nvSpPr>
          <p:cNvPr id="5" name="object 5"/>
          <p:cNvSpPr/>
          <p:nvPr/>
        </p:nvSpPr>
        <p:spPr>
          <a:xfrm>
            <a:off x="7898386" y="21236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6" name="object 6"/>
          <p:cNvSpPr/>
          <p:nvPr/>
        </p:nvSpPr>
        <p:spPr>
          <a:xfrm>
            <a:off x="8430770" y="186918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7" name="object 7"/>
          <p:cNvSpPr/>
          <p:nvPr/>
        </p:nvSpPr>
        <p:spPr>
          <a:xfrm>
            <a:off x="8416544" y="2205991"/>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C00000"/>
          </a:solidFill>
        </p:spPr>
        <p:txBody>
          <a:bodyPr wrap="square" lIns="0" tIns="0" rIns="0" bIns="0" rtlCol="0"/>
          <a:lstStyle/>
          <a:p/>
        </p:txBody>
      </p:sp>
      <p:sp>
        <p:nvSpPr>
          <p:cNvPr id="8" name="object 8"/>
          <p:cNvSpPr/>
          <p:nvPr/>
        </p:nvSpPr>
        <p:spPr>
          <a:xfrm>
            <a:off x="8266178" y="2490979"/>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C00000"/>
          </a:solidFill>
        </p:spPr>
        <p:txBody>
          <a:bodyPr wrap="square" lIns="0" tIns="0" rIns="0" bIns="0" rtlCol="0"/>
          <a:lstStyle/>
          <a:p/>
        </p:txBody>
      </p:sp>
      <p:sp>
        <p:nvSpPr>
          <p:cNvPr id="9" name="object 9"/>
          <p:cNvSpPr/>
          <p:nvPr/>
        </p:nvSpPr>
        <p:spPr>
          <a:xfrm>
            <a:off x="8820911" y="2151127"/>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C00000"/>
          </a:solidFill>
        </p:spPr>
        <p:txBody>
          <a:bodyPr wrap="square" lIns="0" tIns="0" rIns="0" bIns="0" rtlCol="0"/>
          <a:lstStyle/>
          <a:p/>
        </p:txBody>
      </p:sp>
      <p:sp>
        <p:nvSpPr>
          <p:cNvPr id="10" name="object 10"/>
          <p:cNvSpPr/>
          <p:nvPr/>
        </p:nvSpPr>
        <p:spPr>
          <a:xfrm>
            <a:off x="9062722" y="26433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C00000"/>
          </a:solidFill>
        </p:spPr>
        <p:txBody>
          <a:bodyPr wrap="square" lIns="0" tIns="0" rIns="0" bIns="0" rtlCol="0"/>
          <a:lstStyle/>
          <a:p/>
        </p:txBody>
      </p:sp>
      <p:sp>
        <p:nvSpPr>
          <p:cNvPr id="11" name="object 11"/>
          <p:cNvSpPr/>
          <p:nvPr/>
        </p:nvSpPr>
        <p:spPr>
          <a:xfrm>
            <a:off x="8621776" y="2759203"/>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6" y="0"/>
                </a:lnTo>
                <a:close/>
              </a:path>
            </a:pathLst>
          </a:custGeom>
          <a:solidFill>
            <a:srgbClr val="C00000"/>
          </a:solidFill>
        </p:spPr>
        <p:txBody>
          <a:bodyPr wrap="square" lIns="0" tIns="0" rIns="0" bIns="0" rtlCol="0"/>
          <a:lstStyle/>
          <a:p/>
        </p:txBody>
      </p:sp>
      <p:sp>
        <p:nvSpPr>
          <p:cNvPr id="12" name="object 12"/>
          <p:cNvSpPr/>
          <p:nvPr/>
        </p:nvSpPr>
        <p:spPr>
          <a:xfrm>
            <a:off x="8621776" y="2759203"/>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p:txBody>
      </p:sp>
      <p:sp>
        <p:nvSpPr>
          <p:cNvPr id="13" name="object 13"/>
          <p:cNvSpPr/>
          <p:nvPr/>
        </p:nvSpPr>
        <p:spPr>
          <a:xfrm>
            <a:off x="9725154" y="2833877"/>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7"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4" name="object 14"/>
          <p:cNvSpPr/>
          <p:nvPr/>
        </p:nvSpPr>
        <p:spPr>
          <a:xfrm>
            <a:off x="10241281" y="28094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5" name="object 15"/>
          <p:cNvSpPr/>
          <p:nvPr/>
        </p:nvSpPr>
        <p:spPr>
          <a:xfrm>
            <a:off x="10229090" y="2321813"/>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006FC0"/>
          </a:solidFill>
        </p:spPr>
        <p:txBody>
          <a:bodyPr wrap="square" lIns="0" tIns="0" rIns="0" bIns="0" rtlCol="0"/>
          <a:lstStyle/>
          <a:p/>
        </p:txBody>
      </p:sp>
      <p:sp>
        <p:nvSpPr>
          <p:cNvPr id="16" name="object 16"/>
          <p:cNvSpPr/>
          <p:nvPr/>
        </p:nvSpPr>
        <p:spPr>
          <a:xfrm>
            <a:off x="9572754" y="2276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7" y="134873"/>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7" name="object 17"/>
          <p:cNvSpPr/>
          <p:nvPr/>
        </p:nvSpPr>
        <p:spPr>
          <a:xfrm>
            <a:off x="9893810" y="194081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18" name="object 18"/>
          <p:cNvSpPr/>
          <p:nvPr/>
        </p:nvSpPr>
        <p:spPr>
          <a:xfrm>
            <a:off x="10373359" y="1792988"/>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19" name="object 19"/>
          <p:cNvSpPr/>
          <p:nvPr/>
        </p:nvSpPr>
        <p:spPr>
          <a:xfrm>
            <a:off x="10060431" y="1459232"/>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006FC0"/>
          </a:solidFill>
        </p:spPr>
        <p:txBody>
          <a:bodyPr wrap="square" lIns="0" tIns="0" rIns="0" bIns="0" rtlCol="0"/>
          <a:lstStyle/>
          <a:p/>
        </p:txBody>
      </p:sp>
      <p:sp>
        <p:nvSpPr>
          <p:cNvPr id="20" name="object 20"/>
          <p:cNvSpPr/>
          <p:nvPr/>
        </p:nvSpPr>
        <p:spPr>
          <a:xfrm>
            <a:off x="9404097" y="174421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006FC0"/>
          </a:solidFill>
        </p:spPr>
        <p:txBody>
          <a:bodyPr wrap="square" lIns="0" tIns="0" rIns="0" bIns="0" rtlCol="0"/>
          <a:lstStyle/>
          <a:p/>
        </p:txBody>
      </p:sp>
      <p:sp>
        <p:nvSpPr>
          <p:cNvPr id="21" name="object 21"/>
          <p:cNvSpPr txBox="1"/>
          <p:nvPr/>
        </p:nvSpPr>
        <p:spPr>
          <a:xfrm>
            <a:off x="8280909" y="4899378"/>
            <a:ext cx="703240"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Age</a:t>
            </a:r>
            <a:endParaRPr sz="1400" dirty="0">
              <a:latin typeface="Verdana" panose="020B0604030504040204"/>
              <a:cs typeface="Verdana" panose="020B0604030504040204"/>
            </a:endParaRPr>
          </a:p>
        </p:txBody>
      </p:sp>
      <p:sp>
        <p:nvSpPr>
          <p:cNvPr id="22" name="object 22"/>
          <p:cNvSpPr txBox="1"/>
          <p:nvPr/>
        </p:nvSpPr>
        <p:spPr>
          <a:xfrm>
            <a:off x="4277533" y="3084163"/>
            <a:ext cx="1152988" cy="228268"/>
          </a:xfrm>
          <a:prstGeom prst="rect">
            <a:avLst/>
          </a:prstGeom>
        </p:spPr>
        <p:txBody>
          <a:bodyPr vert="horz" wrap="square" lIns="0" tIns="12700" rIns="0" bIns="0" rtlCol="0">
            <a:spAutoFit/>
          </a:bodyPr>
          <a:lstStyle/>
          <a:p>
            <a:pPr marL="12700">
              <a:spcBef>
                <a:spcPts val="100"/>
              </a:spcBef>
            </a:pPr>
            <a:r>
              <a:rPr sz="1400" b="1" dirty="0">
                <a:solidFill>
                  <a:srgbClr val="344B5E"/>
                </a:solidFill>
                <a:latin typeface="Verdana" panose="020B0604030504040204"/>
                <a:cs typeface="Verdana" panose="020B0604030504040204"/>
              </a:rPr>
              <a:t>Income</a:t>
            </a:r>
            <a:endParaRPr sz="1400" dirty="0">
              <a:latin typeface="Verdana" panose="020B0604030504040204"/>
              <a:cs typeface="Verdana" panose="020B0604030504040204"/>
            </a:endParaRPr>
          </a:p>
        </p:txBody>
      </p:sp>
      <p:sp>
        <p:nvSpPr>
          <p:cNvPr id="23" name="object 23"/>
          <p:cNvSpPr/>
          <p:nvPr/>
        </p:nvSpPr>
        <p:spPr>
          <a:xfrm>
            <a:off x="5386833" y="1793749"/>
            <a:ext cx="104140" cy="2986405"/>
          </a:xfrm>
          <a:custGeom>
            <a:avLst/>
            <a:gdLst/>
            <a:ahLst/>
            <a:cxnLst/>
            <a:rect l="l" t="t" r="r" b="b"/>
            <a:pathLst>
              <a:path w="78104" h="2986404">
                <a:moveTo>
                  <a:pt x="51815" y="64769"/>
                </a:moveTo>
                <a:lnTo>
                  <a:pt x="25908" y="64769"/>
                </a:lnTo>
                <a:lnTo>
                  <a:pt x="25908" y="2985820"/>
                </a:lnTo>
                <a:lnTo>
                  <a:pt x="51815" y="2985820"/>
                </a:lnTo>
                <a:lnTo>
                  <a:pt x="51815" y="64769"/>
                </a:lnTo>
                <a:close/>
              </a:path>
              <a:path w="78104" h="2986404">
                <a:moveTo>
                  <a:pt x="38862" y="0"/>
                </a:moveTo>
                <a:lnTo>
                  <a:pt x="0" y="77724"/>
                </a:lnTo>
                <a:lnTo>
                  <a:pt x="25908" y="77724"/>
                </a:lnTo>
                <a:lnTo>
                  <a:pt x="25908" y="64769"/>
                </a:lnTo>
                <a:lnTo>
                  <a:pt x="71247" y="64769"/>
                </a:lnTo>
                <a:lnTo>
                  <a:pt x="38862" y="0"/>
                </a:lnTo>
                <a:close/>
              </a:path>
              <a:path w="78104" h="2986404">
                <a:moveTo>
                  <a:pt x="71247" y="64769"/>
                </a:moveTo>
                <a:lnTo>
                  <a:pt x="51815" y="64769"/>
                </a:lnTo>
                <a:lnTo>
                  <a:pt x="51815" y="77724"/>
                </a:lnTo>
                <a:lnTo>
                  <a:pt x="77724" y="77724"/>
                </a:lnTo>
                <a:lnTo>
                  <a:pt x="71247" y="64769"/>
                </a:lnTo>
                <a:close/>
              </a:path>
            </a:pathLst>
          </a:custGeom>
          <a:solidFill>
            <a:srgbClr val="344B5E"/>
          </a:solidFill>
        </p:spPr>
        <p:txBody>
          <a:bodyPr wrap="square" lIns="0" tIns="0" rIns="0" bIns="0" rtlCol="0"/>
          <a:lstStyle/>
          <a:p/>
        </p:txBody>
      </p:sp>
      <p:sp>
        <p:nvSpPr>
          <p:cNvPr id="24" name="object 24"/>
          <p:cNvSpPr/>
          <p:nvPr/>
        </p:nvSpPr>
        <p:spPr>
          <a:xfrm>
            <a:off x="5430520" y="4717798"/>
            <a:ext cx="6151880" cy="78105"/>
          </a:xfrm>
          <a:custGeom>
            <a:avLst/>
            <a:gdLst/>
            <a:ahLst/>
            <a:cxnLst/>
            <a:rect l="l" t="t" r="r" b="b"/>
            <a:pathLst>
              <a:path w="4613909" h="78104">
                <a:moveTo>
                  <a:pt x="4587868" y="25882"/>
                </a:moveTo>
                <a:lnTo>
                  <a:pt x="4548632" y="25882"/>
                </a:lnTo>
                <a:lnTo>
                  <a:pt x="4548759" y="51790"/>
                </a:lnTo>
                <a:lnTo>
                  <a:pt x="4535847" y="51835"/>
                </a:lnTo>
                <a:lnTo>
                  <a:pt x="4535932" y="77736"/>
                </a:lnTo>
                <a:lnTo>
                  <a:pt x="4613529" y="38607"/>
                </a:lnTo>
                <a:lnTo>
                  <a:pt x="4587868" y="25882"/>
                </a:lnTo>
                <a:close/>
              </a:path>
              <a:path w="4613909" h="78104">
                <a:moveTo>
                  <a:pt x="4535762" y="25927"/>
                </a:moveTo>
                <a:lnTo>
                  <a:pt x="0" y="41833"/>
                </a:lnTo>
                <a:lnTo>
                  <a:pt x="0" y="67741"/>
                </a:lnTo>
                <a:lnTo>
                  <a:pt x="4535847" y="51835"/>
                </a:lnTo>
                <a:lnTo>
                  <a:pt x="4535762" y="25927"/>
                </a:lnTo>
                <a:close/>
              </a:path>
              <a:path w="4613909" h="78104">
                <a:moveTo>
                  <a:pt x="4548632" y="25882"/>
                </a:moveTo>
                <a:lnTo>
                  <a:pt x="4535762" y="25927"/>
                </a:lnTo>
                <a:lnTo>
                  <a:pt x="4535847" y="51835"/>
                </a:lnTo>
                <a:lnTo>
                  <a:pt x="4548759" y="51790"/>
                </a:lnTo>
                <a:lnTo>
                  <a:pt x="4548632" y="25882"/>
                </a:lnTo>
                <a:close/>
              </a:path>
              <a:path w="4613909" h="78104">
                <a:moveTo>
                  <a:pt x="4535678" y="0"/>
                </a:moveTo>
                <a:lnTo>
                  <a:pt x="4535762" y="25927"/>
                </a:lnTo>
                <a:lnTo>
                  <a:pt x="4587868" y="25882"/>
                </a:lnTo>
                <a:lnTo>
                  <a:pt x="4535678" y="0"/>
                </a:lnTo>
                <a:close/>
              </a:path>
            </a:pathLst>
          </a:custGeom>
          <a:solidFill>
            <a:srgbClr val="344B5E"/>
          </a:solidFill>
        </p:spPr>
        <p:txBody>
          <a:bodyPr wrap="square" lIns="0" tIns="0" rIns="0" bIns="0" rtlCol="0"/>
          <a:lstStyle/>
          <a:p/>
        </p:txBody>
      </p:sp>
      <p:sp>
        <p:nvSpPr>
          <p:cNvPr id="25" name="object 25"/>
          <p:cNvSpPr/>
          <p:nvPr/>
        </p:nvSpPr>
        <p:spPr>
          <a:xfrm>
            <a:off x="5533138" y="418109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FFC000"/>
          </a:solidFill>
        </p:spPr>
        <p:txBody>
          <a:bodyPr wrap="square" lIns="0" tIns="0" rIns="0" bIns="0" rtlCol="0"/>
          <a:lstStyle/>
          <a:p/>
        </p:txBody>
      </p:sp>
      <p:sp>
        <p:nvSpPr>
          <p:cNvPr id="26" name="object 26"/>
          <p:cNvSpPr/>
          <p:nvPr/>
        </p:nvSpPr>
        <p:spPr>
          <a:xfrm>
            <a:off x="5990338" y="329107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FFC000"/>
          </a:solidFill>
        </p:spPr>
        <p:txBody>
          <a:bodyPr wrap="square" lIns="0" tIns="0" rIns="0" bIns="0" rtlCol="0"/>
          <a:lstStyle/>
          <a:p/>
        </p:txBody>
      </p:sp>
      <p:sp>
        <p:nvSpPr>
          <p:cNvPr id="27" name="object 27"/>
          <p:cNvSpPr/>
          <p:nvPr/>
        </p:nvSpPr>
        <p:spPr>
          <a:xfrm>
            <a:off x="6388609" y="28963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FFC000"/>
          </a:solidFill>
        </p:spPr>
        <p:txBody>
          <a:bodyPr wrap="square" lIns="0" tIns="0" rIns="0" bIns="0" rtlCol="0"/>
          <a:lstStyle/>
          <a:p/>
        </p:txBody>
      </p:sp>
      <p:sp>
        <p:nvSpPr>
          <p:cNvPr id="28" name="object 28"/>
          <p:cNvSpPr/>
          <p:nvPr/>
        </p:nvSpPr>
        <p:spPr>
          <a:xfrm>
            <a:off x="6695441" y="3295651"/>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FFC000"/>
          </a:solidFill>
        </p:spPr>
        <p:txBody>
          <a:bodyPr wrap="square" lIns="0" tIns="0" rIns="0" bIns="0" rtlCol="0"/>
          <a:lstStyle/>
          <a:p/>
        </p:txBody>
      </p:sp>
      <p:sp>
        <p:nvSpPr>
          <p:cNvPr id="29" name="object 29"/>
          <p:cNvSpPr/>
          <p:nvPr/>
        </p:nvSpPr>
        <p:spPr>
          <a:xfrm>
            <a:off x="7187186" y="288874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FFC000"/>
          </a:solidFill>
        </p:spPr>
        <p:txBody>
          <a:bodyPr wrap="square" lIns="0" tIns="0" rIns="0" bIns="0" rtlCol="0"/>
          <a:lstStyle/>
          <a:p/>
        </p:txBody>
      </p:sp>
      <p:sp>
        <p:nvSpPr>
          <p:cNvPr id="30" name="object 30"/>
          <p:cNvSpPr/>
          <p:nvPr/>
        </p:nvSpPr>
        <p:spPr>
          <a:xfrm>
            <a:off x="7557009" y="334899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FFC000"/>
          </a:solidFill>
        </p:spPr>
        <p:txBody>
          <a:bodyPr wrap="square" lIns="0" tIns="0" rIns="0" bIns="0" rtlCol="0"/>
          <a:lstStyle/>
          <a:p/>
        </p:txBody>
      </p:sp>
      <p:sp>
        <p:nvSpPr>
          <p:cNvPr id="31" name="object 31"/>
          <p:cNvSpPr/>
          <p:nvPr/>
        </p:nvSpPr>
        <p:spPr>
          <a:xfrm>
            <a:off x="7303007" y="3710177"/>
            <a:ext cx="362373" cy="271780"/>
          </a:xfrm>
          <a:custGeom>
            <a:avLst/>
            <a:gdLst/>
            <a:ahLst/>
            <a:cxnLst/>
            <a:rect l="l" t="t" r="r" b="b"/>
            <a:pathLst>
              <a:path w="271779" h="271780">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2"/>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FFC000"/>
          </a:solidFill>
        </p:spPr>
        <p:txBody>
          <a:bodyPr wrap="square" lIns="0" tIns="0" rIns="0" bIns="0" rtlCol="0"/>
          <a:lstStyle/>
          <a:p/>
        </p:txBody>
      </p:sp>
      <p:sp>
        <p:nvSpPr>
          <p:cNvPr id="32" name="object 32"/>
          <p:cNvSpPr/>
          <p:nvPr/>
        </p:nvSpPr>
        <p:spPr>
          <a:xfrm>
            <a:off x="6317489" y="3682745"/>
            <a:ext cx="359833" cy="271780"/>
          </a:xfrm>
          <a:custGeom>
            <a:avLst/>
            <a:gdLst/>
            <a:ahLst/>
            <a:cxnLst/>
            <a:rect l="l" t="t" r="r" b="b"/>
            <a:pathLst>
              <a:path w="269875" h="271780">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FFC000"/>
          </a:solidFill>
        </p:spPr>
        <p:txBody>
          <a:bodyPr wrap="square" lIns="0" tIns="0" rIns="0" bIns="0" rtlCol="0"/>
          <a:lstStyle/>
          <a:p/>
        </p:txBody>
      </p:sp>
      <p:sp>
        <p:nvSpPr>
          <p:cNvPr id="33" name="object 33"/>
          <p:cNvSpPr/>
          <p:nvPr/>
        </p:nvSpPr>
        <p:spPr>
          <a:xfrm>
            <a:off x="6124449" y="415823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FFC000"/>
          </a:solidFill>
        </p:spPr>
        <p:txBody>
          <a:bodyPr wrap="square" lIns="0" tIns="0" rIns="0" bIns="0" rtlCol="0"/>
          <a:lstStyle/>
          <a:p/>
        </p:txBody>
      </p:sp>
      <p:sp>
        <p:nvSpPr>
          <p:cNvPr id="34" name="object 34"/>
          <p:cNvSpPr/>
          <p:nvPr/>
        </p:nvSpPr>
        <p:spPr>
          <a:xfrm>
            <a:off x="7282689" y="4377690"/>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D0692F"/>
          </a:solidFill>
        </p:spPr>
        <p:txBody>
          <a:bodyPr wrap="square" lIns="0" tIns="0" rIns="0" bIns="0" rtlCol="0"/>
          <a:lstStyle/>
          <a:p/>
        </p:txBody>
      </p:sp>
      <p:sp>
        <p:nvSpPr>
          <p:cNvPr id="35" name="object 35"/>
          <p:cNvSpPr/>
          <p:nvPr/>
        </p:nvSpPr>
        <p:spPr>
          <a:xfrm>
            <a:off x="7733794" y="4258817"/>
            <a:ext cx="359833" cy="271780"/>
          </a:xfrm>
          <a:custGeom>
            <a:avLst/>
            <a:gdLst/>
            <a:ahLst/>
            <a:cxnLst/>
            <a:rect l="l" t="t" r="r" b="b"/>
            <a:pathLst>
              <a:path w="269875" h="271779">
                <a:moveTo>
                  <a:pt x="134873" y="0"/>
                </a:moveTo>
                <a:lnTo>
                  <a:pt x="92220" y="6912"/>
                </a:lnTo>
                <a:lnTo>
                  <a:pt x="55193" y="26164"/>
                </a:lnTo>
                <a:lnTo>
                  <a:pt x="26005" y="55522"/>
                </a:lnTo>
                <a:lnTo>
                  <a:pt x="6870" y="92756"/>
                </a:lnTo>
                <a:lnTo>
                  <a:pt x="0" y="135635"/>
                </a:lnTo>
                <a:lnTo>
                  <a:pt x="6870" y="178515"/>
                </a:lnTo>
                <a:lnTo>
                  <a:pt x="26005" y="215749"/>
                </a:lnTo>
                <a:lnTo>
                  <a:pt x="55193" y="245107"/>
                </a:lnTo>
                <a:lnTo>
                  <a:pt x="92220" y="264359"/>
                </a:lnTo>
                <a:lnTo>
                  <a:pt x="134873" y="271271"/>
                </a:lnTo>
                <a:lnTo>
                  <a:pt x="177527" y="264359"/>
                </a:lnTo>
                <a:lnTo>
                  <a:pt x="214554" y="245107"/>
                </a:lnTo>
                <a:lnTo>
                  <a:pt x="243742" y="215749"/>
                </a:lnTo>
                <a:lnTo>
                  <a:pt x="262877" y="178515"/>
                </a:lnTo>
                <a:lnTo>
                  <a:pt x="269747" y="135635"/>
                </a:lnTo>
                <a:lnTo>
                  <a:pt x="262877" y="92756"/>
                </a:lnTo>
                <a:lnTo>
                  <a:pt x="243742" y="55522"/>
                </a:lnTo>
                <a:lnTo>
                  <a:pt x="214554" y="26164"/>
                </a:lnTo>
                <a:lnTo>
                  <a:pt x="177527" y="6912"/>
                </a:lnTo>
                <a:lnTo>
                  <a:pt x="134873" y="0"/>
                </a:lnTo>
                <a:close/>
              </a:path>
            </a:pathLst>
          </a:custGeom>
          <a:solidFill>
            <a:srgbClr val="D0692F"/>
          </a:solidFill>
        </p:spPr>
        <p:txBody>
          <a:bodyPr wrap="square" lIns="0" tIns="0" rIns="0" bIns="0" rtlCol="0"/>
          <a:lstStyle/>
          <a:p/>
        </p:txBody>
      </p:sp>
      <p:sp>
        <p:nvSpPr>
          <p:cNvPr id="36" name="object 36"/>
          <p:cNvSpPr/>
          <p:nvPr/>
        </p:nvSpPr>
        <p:spPr>
          <a:xfrm>
            <a:off x="8075168" y="3944873"/>
            <a:ext cx="362373" cy="271780"/>
          </a:xfrm>
          <a:custGeom>
            <a:avLst/>
            <a:gdLst/>
            <a:ahLst/>
            <a:cxnLst/>
            <a:rect l="l" t="t" r="r" b="b"/>
            <a:pathLst>
              <a:path w="271779" h="271779">
                <a:moveTo>
                  <a:pt x="135636" y="0"/>
                </a:moveTo>
                <a:lnTo>
                  <a:pt x="92756" y="6912"/>
                </a:lnTo>
                <a:lnTo>
                  <a:pt x="55522" y="26164"/>
                </a:lnTo>
                <a:lnTo>
                  <a:pt x="26164" y="55522"/>
                </a:lnTo>
                <a:lnTo>
                  <a:pt x="6912" y="92756"/>
                </a:lnTo>
                <a:lnTo>
                  <a:pt x="0" y="135636"/>
                </a:lnTo>
                <a:lnTo>
                  <a:pt x="6912" y="178515"/>
                </a:lnTo>
                <a:lnTo>
                  <a:pt x="26164" y="215749"/>
                </a:lnTo>
                <a:lnTo>
                  <a:pt x="55522" y="245107"/>
                </a:lnTo>
                <a:lnTo>
                  <a:pt x="92756" y="264359"/>
                </a:lnTo>
                <a:lnTo>
                  <a:pt x="135636" y="271271"/>
                </a:lnTo>
                <a:lnTo>
                  <a:pt x="178515" y="264359"/>
                </a:lnTo>
                <a:lnTo>
                  <a:pt x="215749" y="245107"/>
                </a:lnTo>
                <a:lnTo>
                  <a:pt x="245107" y="215749"/>
                </a:lnTo>
                <a:lnTo>
                  <a:pt x="264359" y="178515"/>
                </a:lnTo>
                <a:lnTo>
                  <a:pt x="271272" y="135636"/>
                </a:lnTo>
                <a:lnTo>
                  <a:pt x="264359" y="92756"/>
                </a:lnTo>
                <a:lnTo>
                  <a:pt x="245107" y="55522"/>
                </a:lnTo>
                <a:lnTo>
                  <a:pt x="215749" y="26164"/>
                </a:lnTo>
                <a:lnTo>
                  <a:pt x="178515" y="6912"/>
                </a:lnTo>
                <a:lnTo>
                  <a:pt x="135636" y="0"/>
                </a:lnTo>
                <a:close/>
              </a:path>
            </a:pathLst>
          </a:custGeom>
          <a:solidFill>
            <a:srgbClr val="D0692F"/>
          </a:solidFill>
        </p:spPr>
        <p:txBody>
          <a:bodyPr wrap="square" lIns="0" tIns="0" rIns="0" bIns="0" rtlCol="0"/>
          <a:lstStyle/>
          <a:p/>
        </p:txBody>
      </p:sp>
      <p:sp>
        <p:nvSpPr>
          <p:cNvPr id="37" name="object 37"/>
          <p:cNvSpPr/>
          <p:nvPr/>
        </p:nvSpPr>
        <p:spPr>
          <a:xfrm>
            <a:off x="8432802" y="3652268"/>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3"/>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3"/>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p:txBody>
      </p:sp>
      <p:sp>
        <p:nvSpPr>
          <p:cNvPr id="38" name="object 38"/>
          <p:cNvSpPr/>
          <p:nvPr/>
        </p:nvSpPr>
        <p:spPr>
          <a:xfrm>
            <a:off x="8741665" y="4008882"/>
            <a:ext cx="359833" cy="271780"/>
          </a:xfrm>
          <a:custGeom>
            <a:avLst/>
            <a:gdLst/>
            <a:ahLst/>
            <a:cxnLst/>
            <a:rect l="l" t="t" r="r" b="b"/>
            <a:pathLst>
              <a:path w="269875" h="271779">
                <a:moveTo>
                  <a:pt x="134874" y="0"/>
                </a:moveTo>
                <a:lnTo>
                  <a:pt x="92220" y="6912"/>
                </a:lnTo>
                <a:lnTo>
                  <a:pt x="55193" y="26164"/>
                </a:lnTo>
                <a:lnTo>
                  <a:pt x="26005" y="55522"/>
                </a:lnTo>
                <a:lnTo>
                  <a:pt x="6870" y="92756"/>
                </a:lnTo>
                <a:lnTo>
                  <a:pt x="0" y="135636"/>
                </a:lnTo>
                <a:lnTo>
                  <a:pt x="6870" y="178515"/>
                </a:lnTo>
                <a:lnTo>
                  <a:pt x="26005" y="215749"/>
                </a:lnTo>
                <a:lnTo>
                  <a:pt x="55193" y="245107"/>
                </a:lnTo>
                <a:lnTo>
                  <a:pt x="92220" y="264359"/>
                </a:lnTo>
                <a:lnTo>
                  <a:pt x="134874" y="271272"/>
                </a:lnTo>
                <a:lnTo>
                  <a:pt x="177527" y="264359"/>
                </a:lnTo>
                <a:lnTo>
                  <a:pt x="214554" y="245107"/>
                </a:lnTo>
                <a:lnTo>
                  <a:pt x="243742" y="215749"/>
                </a:lnTo>
                <a:lnTo>
                  <a:pt x="262877" y="178515"/>
                </a:lnTo>
                <a:lnTo>
                  <a:pt x="269748" y="135636"/>
                </a:lnTo>
                <a:lnTo>
                  <a:pt x="262877" y="92756"/>
                </a:lnTo>
                <a:lnTo>
                  <a:pt x="243742" y="55522"/>
                </a:lnTo>
                <a:lnTo>
                  <a:pt x="214554" y="26164"/>
                </a:lnTo>
                <a:lnTo>
                  <a:pt x="177527" y="6912"/>
                </a:lnTo>
                <a:lnTo>
                  <a:pt x="134874" y="0"/>
                </a:lnTo>
                <a:close/>
              </a:path>
            </a:pathLst>
          </a:custGeom>
          <a:solidFill>
            <a:srgbClr val="D0692F"/>
          </a:solidFill>
        </p:spPr>
        <p:txBody>
          <a:bodyPr wrap="square" lIns="0" tIns="0" rIns="0" bIns="0" rtlCol="0"/>
          <a:lstStyle/>
          <a:p/>
        </p:txBody>
      </p:sp>
      <p:sp>
        <p:nvSpPr>
          <p:cNvPr id="39" name="object 39"/>
          <p:cNvSpPr/>
          <p:nvPr/>
        </p:nvSpPr>
        <p:spPr>
          <a:xfrm>
            <a:off x="8253986" y="4394455"/>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p:txBody>
      </p:sp>
      <p:sp>
        <p:nvSpPr>
          <p:cNvPr id="40" name="object 40"/>
          <p:cNvSpPr/>
          <p:nvPr/>
        </p:nvSpPr>
        <p:spPr>
          <a:xfrm>
            <a:off x="9111490" y="4382263"/>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p:txBody>
      </p:sp>
      <p:sp>
        <p:nvSpPr>
          <p:cNvPr id="41" name="object 41"/>
          <p:cNvSpPr/>
          <p:nvPr/>
        </p:nvSpPr>
        <p:spPr>
          <a:xfrm>
            <a:off x="6970776" y="3342132"/>
            <a:ext cx="394547" cy="287020"/>
          </a:xfrm>
          <a:custGeom>
            <a:avLst/>
            <a:gdLst/>
            <a:ahLst/>
            <a:cxnLst/>
            <a:rect l="l" t="t" r="r" b="b"/>
            <a:pathLst>
              <a:path w="295910" h="287019">
                <a:moveTo>
                  <a:pt x="0" y="286512"/>
                </a:moveTo>
                <a:lnTo>
                  <a:pt x="295656" y="286512"/>
                </a:lnTo>
                <a:lnTo>
                  <a:pt x="295656" y="0"/>
                </a:lnTo>
                <a:lnTo>
                  <a:pt x="0" y="0"/>
                </a:lnTo>
                <a:lnTo>
                  <a:pt x="0" y="286512"/>
                </a:lnTo>
                <a:close/>
              </a:path>
            </a:pathLst>
          </a:custGeom>
          <a:solidFill>
            <a:srgbClr val="FFC000"/>
          </a:solidFill>
        </p:spPr>
        <p:txBody>
          <a:bodyPr wrap="square" lIns="0" tIns="0" rIns="0" bIns="0" rtlCol="0"/>
          <a:lstStyle/>
          <a:p/>
        </p:txBody>
      </p:sp>
      <p:sp>
        <p:nvSpPr>
          <p:cNvPr id="42" name="object 42"/>
          <p:cNvSpPr/>
          <p:nvPr/>
        </p:nvSpPr>
        <p:spPr>
          <a:xfrm>
            <a:off x="6970776" y="3342132"/>
            <a:ext cx="394547" cy="287020"/>
          </a:xfrm>
          <a:custGeom>
            <a:avLst/>
            <a:gdLst/>
            <a:ahLst/>
            <a:cxnLst/>
            <a:rect l="l" t="t" r="r" b="b"/>
            <a:pathLst>
              <a:path w="295910" h="287019">
                <a:moveTo>
                  <a:pt x="0" y="286512"/>
                </a:moveTo>
                <a:lnTo>
                  <a:pt x="295656" y="286512"/>
                </a:lnTo>
                <a:lnTo>
                  <a:pt x="295656" y="0"/>
                </a:lnTo>
                <a:lnTo>
                  <a:pt x="0" y="0"/>
                </a:lnTo>
                <a:lnTo>
                  <a:pt x="0" y="286512"/>
                </a:lnTo>
                <a:close/>
              </a:path>
            </a:pathLst>
          </a:custGeom>
          <a:ln w="28956">
            <a:solidFill>
              <a:srgbClr val="FFFFFF"/>
            </a:solidFill>
          </a:ln>
        </p:spPr>
        <p:txBody>
          <a:bodyPr wrap="square" lIns="0" tIns="0" rIns="0" bIns="0" rtlCol="0"/>
          <a:lstStyle/>
          <a:p/>
        </p:txBody>
      </p:sp>
      <p:sp>
        <p:nvSpPr>
          <p:cNvPr id="43" name="object 43"/>
          <p:cNvSpPr/>
          <p:nvPr/>
        </p:nvSpPr>
        <p:spPr>
          <a:xfrm>
            <a:off x="9852152" y="1741932"/>
            <a:ext cx="392853" cy="287020"/>
          </a:xfrm>
          <a:custGeom>
            <a:avLst/>
            <a:gdLst/>
            <a:ahLst/>
            <a:cxnLst/>
            <a:rect l="l" t="t" r="r" b="b"/>
            <a:pathLst>
              <a:path w="294640" h="287019">
                <a:moveTo>
                  <a:pt x="0" y="286512"/>
                </a:moveTo>
                <a:lnTo>
                  <a:pt x="294131" y="286512"/>
                </a:lnTo>
                <a:lnTo>
                  <a:pt x="294131" y="0"/>
                </a:lnTo>
                <a:lnTo>
                  <a:pt x="0" y="0"/>
                </a:lnTo>
                <a:lnTo>
                  <a:pt x="0" y="286512"/>
                </a:lnTo>
                <a:close/>
              </a:path>
            </a:pathLst>
          </a:custGeom>
          <a:solidFill>
            <a:srgbClr val="006FC0"/>
          </a:solidFill>
        </p:spPr>
        <p:txBody>
          <a:bodyPr wrap="square" lIns="0" tIns="0" rIns="0" bIns="0" rtlCol="0"/>
          <a:lstStyle/>
          <a:p/>
        </p:txBody>
      </p:sp>
      <p:sp>
        <p:nvSpPr>
          <p:cNvPr id="44" name="object 44"/>
          <p:cNvSpPr/>
          <p:nvPr/>
        </p:nvSpPr>
        <p:spPr>
          <a:xfrm>
            <a:off x="9852152" y="1741932"/>
            <a:ext cx="392853" cy="287020"/>
          </a:xfrm>
          <a:custGeom>
            <a:avLst/>
            <a:gdLst/>
            <a:ahLst/>
            <a:cxnLst/>
            <a:rect l="l" t="t" r="r" b="b"/>
            <a:pathLst>
              <a:path w="294640" h="287019">
                <a:moveTo>
                  <a:pt x="0" y="286512"/>
                </a:moveTo>
                <a:lnTo>
                  <a:pt x="294131" y="286512"/>
                </a:lnTo>
                <a:lnTo>
                  <a:pt x="294131" y="0"/>
                </a:lnTo>
                <a:lnTo>
                  <a:pt x="0" y="0"/>
                </a:lnTo>
                <a:lnTo>
                  <a:pt x="0" y="286512"/>
                </a:lnTo>
                <a:close/>
              </a:path>
            </a:pathLst>
          </a:custGeom>
          <a:ln w="28956">
            <a:solidFill>
              <a:srgbClr val="FFFFFF"/>
            </a:solidFill>
          </a:ln>
        </p:spPr>
        <p:txBody>
          <a:bodyPr wrap="square" lIns="0" tIns="0" rIns="0" bIns="0" rtlCol="0"/>
          <a:lstStyle/>
          <a:p/>
        </p:txBody>
      </p:sp>
      <p:sp>
        <p:nvSpPr>
          <p:cNvPr id="45" name="object 45"/>
          <p:cNvSpPr/>
          <p:nvPr/>
        </p:nvSpPr>
        <p:spPr>
          <a:xfrm>
            <a:off x="8986520" y="4116323"/>
            <a:ext cx="394547" cy="287020"/>
          </a:xfrm>
          <a:custGeom>
            <a:avLst/>
            <a:gdLst/>
            <a:ahLst/>
            <a:cxnLst/>
            <a:rect l="l" t="t" r="r" b="b"/>
            <a:pathLst>
              <a:path w="295909" h="287020">
                <a:moveTo>
                  <a:pt x="0" y="286512"/>
                </a:moveTo>
                <a:lnTo>
                  <a:pt x="295655" y="286512"/>
                </a:lnTo>
                <a:lnTo>
                  <a:pt x="295655" y="0"/>
                </a:lnTo>
                <a:lnTo>
                  <a:pt x="0" y="0"/>
                </a:lnTo>
                <a:lnTo>
                  <a:pt x="0" y="286512"/>
                </a:lnTo>
                <a:close/>
              </a:path>
            </a:pathLst>
          </a:custGeom>
          <a:solidFill>
            <a:srgbClr val="D0692F"/>
          </a:solidFill>
        </p:spPr>
        <p:txBody>
          <a:bodyPr wrap="square" lIns="0" tIns="0" rIns="0" bIns="0" rtlCol="0"/>
          <a:lstStyle/>
          <a:p/>
        </p:txBody>
      </p:sp>
      <p:sp>
        <p:nvSpPr>
          <p:cNvPr id="46" name="object 46"/>
          <p:cNvSpPr/>
          <p:nvPr/>
        </p:nvSpPr>
        <p:spPr>
          <a:xfrm>
            <a:off x="8986520" y="4116323"/>
            <a:ext cx="394547" cy="287020"/>
          </a:xfrm>
          <a:custGeom>
            <a:avLst/>
            <a:gdLst/>
            <a:ahLst/>
            <a:cxnLst/>
            <a:rect l="l" t="t" r="r" b="b"/>
            <a:pathLst>
              <a:path w="295909" h="287020">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47" name="object 47"/>
          <p:cNvSpPr/>
          <p:nvPr/>
        </p:nvSpPr>
        <p:spPr>
          <a:xfrm>
            <a:off x="8096504" y="2182367"/>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solidFill>
            <a:srgbClr val="C00000"/>
          </a:solidFill>
        </p:spPr>
        <p:txBody>
          <a:bodyPr wrap="square" lIns="0" tIns="0" rIns="0" bIns="0" rtlCol="0"/>
          <a:lstStyle/>
          <a:p/>
        </p:txBody>
      </p:sp>
      <p:sp>
        <p:nvSpPr>
          <p:cNvPr id="48" name="object 48"/>
          <p:cNvSpPr/>
          <p:nvPr/>
        </p:nvSpPr>
        <p:spPr>
          <a:xfrm>
            <a:off x="8096504" y="2182367"/>
            <a:ext cx="394547" cy="287020"/>
          </a:xfrm>
          <a:custGeom>
            <a:avLst/>
            <a:gdLst/>
            <a:ahLst/>
            <a:cxnLst/>
            <a:rect l="l" t="t" r="r" b="b"/>
            <a:pathLst>
              <a:path w="295910" h="287019">
                <a:moveTo>
                  <a:pt x="0" y="286512"/>
                </a:moveTo>
                <a:lnTo>
                  <a:pt x="295655" y="286512"/>
                </a:lnTo>
                <a:lnTo>
                  <a:pt x="295655" y="0"/>
                </a:lnTo>
                <a:lnTo>
                  <a:pt x="0" y="0"/>
                </a:lnTo>
                <a:lnTo>
                  <a:pt x="0" y="286512"/>
                </a:lnTo>
                <a:close/>
              </a:path>
            </a:pathLst>
          </a:custGeom>
          <a:ln w="28956">
            <a:solidFill>
              <a:srgbClr val="FFFFFF"/>
            </a:solidFill>
          </a:ln>
        </p:spPr>
        <p:txBody>
          <a:bodyPr wrap="square" lIns="0" tIns="0" rIns="0" bIns="0" rtlCol="0"/>
          <a:lstStyle/>
          <a:p/>
        </p:txBody>
      </p:sp>
      <p:sp>
        <p:nvSpPr>
          <p:cNvPr id="51" name="标题 50"/>
          <p:cNvSpPr>
            <a:spLocks noGrp="1"/>
          </p:cNvSpPr>
          <p:nvPr>
            <p:ph type="title"/>
          </p:nvPr>
        </p:nvSpPr>
        <p:spPr/>
        <p:txBody>
          <a:bodyPr/>
          <a:lstStyle/>
          <a:p>
            <a:r>
              <a:rPr lang="zh-CN" altLang="en-US" dirty="0"/>
              <a:t>更聪明的</a:t>
            </a:r>
            <a:r>
              <a:rPr lang="en-US" altLang="zh-CN" dirty="0"/>
              <a:t>K-Means</a:t>
            </a:r>
            <a:r>
              <a:rPr lang="zh-CN" altLang="en-US" dirty="0"/>
              <a:t>初始化方法</a:t>
            </a:r>
            <a:endParaRPr lang="zh-CN" altLang="en-US" dirty="0"/>
          </a:p>
        </p:txBody>
      </p:sp>
      <p:sp>
        <p:nvSpPr>
          <p:cNvPr id="3" name="文本框 2"/>
          <p:cNvSpPr txBox="1"/>
          <p:nvPr/>
        </p:nvSpPr>
        <p:spPr>
          <a:xfrm>
            <a:off x="6957096" y="5604198"/>
            <a:ext cx="2007665" cy="584775"/>
          </a:xfrm>
          <a:prstGeom prst="rect">
            <a:avLst/>
          </a:prstGeom>
          <a:noFill/>
        </p:spPr>
        <p:txBody>
          <a:bodyPr wrap="none" rtlCol="0">
            <a:spAutoFit/>
          </a:bodyPr>
          <a:lstStyle/>
          <a:p>
            <a:r>
              <a:rPr lang="en-US" altLang="zh-CN" sz="3200" b="1" dirty="0"/>
              <a:t>K-Means++</a:t>
            </a:r>
            <a:endParaRPr lang="zh-CN" altLang="en-US" sz="3200" b="1" dirty="0"/>
          </a:p>
        </p:txBody>
      </p:sp>
      <p:sp>
        <p:nvSpPr>
          <p:cNvPr id="50" name="TextBox 49"/>
          <p:cNvSpPr txBox="1"/>
          <p:nvPr/>
        </p:nvSpPr>
        <p:spPr>
          <a:xfrm>
            <a:off x="16338" y="2334436"/>
            <a:ext cx="4215161" cy="3693319"/>
          </a:xfrm>
          <a:prstGeom prst="rect">
            <a:avLst/>
          </a:prstGeom>
          <a:noFill/>
        </p:spPr>
        <p:txBody>
          <a:bodyPr wrap="square" rtlCol="0">
            <a:spAutoFit/>
          </a:bodyPr>
          <a:lstStyle/>
          <a:p>
            <a:r>
              <a:rPr lang="en-US" altLang="zh-CN" dirty="0" smtClean="0"/>
              <a:t>kmeans++</a:t>
            </a:r>
            <a:r>
              <a:rPr lang="zh-CN" altLang="zh-CN" dirty="0" smtClean="0"/>
              <a:t>是</a:t>
            </a:r>
            <a:r>
              <a:rPr lang="zh-CN" altLang="en-US" dirty="0" smtClean="0"/>
              <a:t>为了</a:t>
            </a:r>
            <a:r>
              <a:rPr lang="zh-CN" altLang="zh-CN" dirty="0" smtClean="0"/>
              <a:t>解决初始值敏感问题：与</a:t>
            </a:r>
            <a:r>
              <a:rPr lang="en-US" altLang="zh-CN" dirty="0" smtClean="0"/>
              <a:t>kmeans</a:t>
            </a:r>
            <a:r>
              <a:rPr lang="zh-CN" altLang="zh-CN" dirty="0" smtClean="0"/>
              <a:t>区别是选择质心的方式不一样。</a:t>
            </a:r>
            <a:endParaRPr lang="zh-CN" altLang="zh-CN" dirty="0" smtClean="0"/>
          </a:p>
          <a:p>
            <a:pPr lvl="0"/>
            <a:r>
              <a:rPr lang="en-US" altLang="zh-CN" dirty="0" smtClean="0"/>
              <a:t>1</a:t>
            </a:r>
            <a:r>
              <a:rPr lang="zh-CN" altLang="en-US" dirty="0" smtClean="0"/>
              <a:t>、</a:t>
            </a:r>
            <a:r>
              <a:rPr lang="zh-CN" altLang="zh-CN" dirty="0" smtClean="0"/>
              <a:t>从数据集中间，任选一个点作为质心。</a:t>
            </a:r>
            <a:endParaRPr lang="zh-CN" altLang="zh-CN" dirty="0" smtClean="0"/>
          </a:p>
          <a:p>
            <a:pPr lvl="0"/>
            <a:r>
              <a:rPr lang="en-US" altLang="zh-CN" dirty="0" smtClean="0"/>
              <a:t>2</a:t>
            </a:r>
            <a:r>
              <a:rPr lang="zh-CN" altLang="en-US" dirty="0" smtClean="0"/>
              <a:t>、</a:t>
            </a:r>
            <a:r>
              <a:rPr lang="zh-CN" altLang="zh-CN" dirty="0" smtClean="0"/>
              <a:t>把所有样本到</a:t>
            </a:r>
            <a:r>
              <a:rPr lang="zh-CN" altLang="zh-CN" smtClean="0"/>
              <a:t>质心距离计算</a:t>
            </a:r>
            <a:r>
              <a:rPr lang="zh-CN" altLang="zh-CN" dirty="0" smtClean="0"/>
              <a:t>出来，选择较远的距离（从离中心点第一远，第二远，第三远第四远第五远中，选一个距离），作为另外一个质心，从而解决了在较近的距离选择两个点。</a:t>
            </a:r>
            <a:endParaRPr lang="zh-CN" altLang="zh-CN" dirty="0" smtClean="0"/>
          </a:p>
          <a:p>
            <a:pPr lvl="0"/>
            <a:r>
              <a:rPr lang="en-US" altLang="zh-CN" dirty="0" smtClean="0"/>
              <a:t>3</a:t>
            </a:r>
            <a:r>
              <a:rPr lang="zh-CN" altLang="en-US" dirty="0" smtClean="0"/>
              <a:t>、</a:t>
            </a:r>
            <a:r>
              <a:rPr lang="zh-CN" altLang="zh-CN" dirty="0" smtClean="0"/>
              <a:t>这里有缺陷，选择的第二点依赖第一个点，第三点前依赖前两点，第四点依赖前三点。每次选择点都要计算所有中心点，到所有点的距离。计算量有点大。</a:t>
            </a:r>
            <a:endParaRPr lang="zh-CN" altLang="zh-CN" dirty="0" smtClean="0"/>
          </a:p>
          <a:p>
            <a:endParaRPr lang="zh-CN" alt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4878" y="1244385"/>
            <a:ext cx="11104601" cy="4369231"/>
          </a:xfrm>
        </p:spPr>
        <p:txBody>
          <a:bodyPr/>
          <a:lstStyle/>
          <a:p>
            <a:pPr marL="0" indent="0">
              <a:buNone/>
            </a:pPr>
            <a:r>
              <a:rPr lang="zh-CN" altLang="en-US" sz="2400" dirty="0">
                <a:solidFill>
                  <a:schemeClr val="tx1"/>
                </a:solidFill>
              </a:rPr>
              <a:t>优点：</a:t>
            </a:r>
            <a:endParaRPr lang="zh-CN" altLang="en-US" sz="2400" dirty="0">
              <a:solidFill>
                <a:schemeClr val="tx1"/>
              </a:solidFill>
            </a:endParaRPr>
          </a:p>
          <a:p>
            <a:pPr marL="320675" indent="-320675">
              <a:buClrTx/>
              <a:buFont typeface="+mj-lt"/>
              <a:buAutoNum type="arabicPeriod"/>
            </a:pPr>
            <a:r>
              <a:rPr lang="zh-CN" altLang="en-US" sz="2400" dirty="0">
                <a:solidFill>
                  <a:schemeClr val="tx1"/>
                </a:solidFill>
              </a:rPr>
              <a:t>算法简单，易于理解</a:t>
            </a:r>
            <a:endParaRPr lang="zh-CN" altLang="en-US" sz="2400" dirty="0">
              <a:solidFill>
                <a:schemeClr val="tx1"/>
              </a:solidFill>
            </a:endParaRPr>
          </a:p>
          <a:p>
            <a:pPr marL="320675" indent="-320675">
              <a:buClrTx/>
              <a:buFont typeface="+mj-lt"/>
              <a:buAutoNum type="arabicPeriod"/>
            </a:pPr>
            <a:r>
              <a:rPr lang="zh-CN" altLang="en-US" sz="2400" dirty="0">
                <a:solidFill>
                  <a:schemeClr val="tx1"/>
                </a:solidFill>
              </a:rPr>
              <a:t>对球形簇样本聚类效果好</a:t>
            </a:r>
            <a:endParaRPr lang="zh-CN" altLang="en-US" sz="2400" dirty="0">
              <a:solidFill>
                <a:schemeClr val="tx1"/>
              </a:solidFill>
            </a:endParaRPr>
          </a:p>
          <a:p>
            <a:pPr marL="320675" indent="-320675">
              <a:buClrTx/>
              <a:buFont typeface="+mj-lt"/>
              <a:buAutoNum type="arabicPeriod"/>
            </a:pPr>
            <a:r>
              <a:rPr lang="zh-CN" altLang="en-US" sz="2400" dirty="0">
                <a:solidFill>
                  <a:schemeClr val="tx1"/>
                </a:solidFill>
              </a:rPr>
              <a:t>二分</a:t>
            </a:r>
            <a:r>
              <a:rPr lang="en-US" altLang="zh-CN" sz="2400" dirty="0">
                <a:solidFill>
                  <a:schemeClr val="tx1"/>
                </a:solidFill>
              </a:rPr>
              <a:t>k</a:t>
            </a:r>
            <a:r>
              <a:rPr lang="zh-CN" altLang="en-US" sz="2400" dirty="0">
                <a:solidFill>
                  <a:schemeClr val="tx1"/>
                </a:solidFill>
              </a:rPr>
              <a:t>均值等变种算法运行良好，不受初始化问题的影响。</a:t>
            </a:r>
            <a:endParaRPr lang="zh-CN" altLang="en-US" sz="2400" dirty="0">
              <a:solidFill>
                <a:schemeClr val="tx1"/>
              </a:solidFill>
            </a:endParaRPr>
          </a:p>
          <a:p>
            <a:pPr marL="0" indent="0">
              <a:buNone/>
            </a:pPr>
            <a:r>
              <a:rPr lang="zh-CN" altLang="en-US" sz="2400" dirty="0">
                <a:solidFill>
                  <a:schemeClr val="tx1"/>
                </a:solidFill>
              </a:rPr>
              <a:t>缺点：</a:t>
            </a:r>
            <a:endParaRPr lang="zh-CN" altLang="en-US" sz="2400" dirty="0">
              <a:solidFill>
                <a:schemeClr val="tx1"/>
              </a:solidFill>
            </a:endParaRPr>
          </a:p>
          <a:p>
            <a:pPr marL="320675" indent="-320675">
              <a:buClrTx/>
              <a:buFont typeface="+mj-lt"/>
              <a:buAutoNum type="arabicPeriod"/>
            </a:pPr>
            <a:r>
              <a:rPr lang="zh-CN" altLang="en-US" sz="2400" dirty="0">
                <a:solidFill>
                  <a:schemeClr val="tx1"/>
                </a:solidFill>
              </a:rPr>
              <a:t>不能处理非球形簇、不同尺寸和不同密度的簇</a:t>
            </a:r>
            <a:endParaRPr lang="zh-CN" altLang="en-US" sz="2400" dirty="0">
              <a:solidFill>
                <a:schemeClr val="tx1"/>
              </a:solidFill>
            </a:endParaRPr>
          </a:p>
          <a:p>
            <a:pPr marL="320675" indent="-320675">
              <a:buClrTx/>
              <a:buFont typeface="+mj-lt"/>
              <a:buAutoNum type="arabicPeriod"/>
            </a:pPr>
            <a:r>
              <a:rPr lang="zh-CN" altLang="en-US" sz="2400" dirty="0">
                <a:solidFill>
                  <a:schemeClr val="tx1"/>
                </a:solidFill>
              </a:rPr>
              <a:t>对离群点、噪声敏感</a:t>
            </a:r>
            <a:endParaRPr lang="zh-CN" altLang="en-US" sz="2400" dirty="0">
              <a:solidFill>
                <a:schemeClr val="tx1"/>
              </a:solidFill>
            </a:endParaRPr>
          </a:p>
          <a:p>
            <a:pPr marL="0" indent="0">
              <a:buNone/>
            </a:pPr>
            <a:endParaRPr kumimoji="1" lang="zh-CN" altLang="en-US" sz="2400" dirty="0">
              <a:solidFill>
                <a:schemeClr val="tx1"/>
              </a:solidFill>
            </a:endParaRPr>
          </a:p>
        </p:txBody>
      </p:sp>
      <p:sp>
        <p:nvSpPr>
          <p:cNvPr id="3" name="标题 2"/>
          <p:cNvSpPr>
            <a:spLocks noGrp="1"/>
          </p:cNvSpPr>
          <p:nvPr>
            <p:ph type="title"/>
          </p:nvPr>
        </p:nvSpPr>
        <p:spPr/>
        <p:txBody>
          <a:bodyPr/>
          <a:lstStyle/>
          <a:p>
            <a:r>
              <a:rPr lang="en-US" altLang="zh-CN" dirty="0">
                <a:solidFill>
                  <a:schemeClr val="tx1"/>
                </a:solidFill>
              </a:rPr>
              <a:t>K-Means</a:t>
            </a:r>
            <a:endParaRPr kumimoji="1"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1"/>
          <a:srcRect/>
          <a:stretch>
            <a:fillRect/>
          </a:stretch>
        </p:blipFill>
        <p:spPr bwMode="auto">
          <a:xfrm>
            <a:off x="2540000" y="3340100"/>
            <a:ext cx="7035800" cy="28321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50800" y="6464300"/>
            <a:ext cx="7132274" cy="379591"/>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11252200" y="6616700"/>
            <a:ext cx="228600" cy="228600"/>
          </a:xfrm>
          <a:prstGeom prst="rect">
            <a:avLst/>
          </a:prstGeom>
          <a:noFill/>
        </p:spPr>
        <p:txBody>
          <a:bodyPr wrap="none" lIns="0" tIns="0" rIns="0" rtlCol="0">
            <a:spAutoFit/>
          </a:bodyPr>
          <a:lstStyle/>
          <a:p>
            <a:pPr>
              <a:lnSpc>
                <a:spcPts val="1800"/>
              </a:lnSpc>
            </a:pPr>
            <a:r>
              <a:rPr lang="en-US" altLang="zh-CN" sz="1800" dirty="0" smtClean="0">
                <a:solidFill>
                  <a:srgbClr val="FFFFFF"/>
                </a:solidFill>
                <a:latin typeface="Calibri" panose="020F0502020204030204" pitchFamily="18" charset="0"/>
                <a:cs typeface="Calibri" panose="020F0502020204030204" pitchFamily="18" charset="0"/>
              </a:rPr>
              <a:t>19</a:t>
            </a:r>
            <a:endParaRPr lang="en-US" altLang="zh-CN" sz="1800" dirty="0" smtClean="0">
              <a:solidFill>
                <a:srgbClr val="FFFFFF"/>
              </a:solidFill>
              <a:latin typeface="Calibri" panose="020F0502020204030204" pitchFamily="18" charset="0"/>
              <a:cs typeface="Calibri" panose="020F0502020204030204" pitchFamily="18" charset="0"/>
            </a:endParaRPr>
          </a:p>
        </p:txBody>
      </p:sp>
      <p:sp>
        <p:nvSpPr>
          <p:cNvPr id="10" name="TextBox 1"/>
          <p:cNvSpPr txBox="1"/>
          <p:nvPr/>
        </p:nvSpPr>
        <p:spPr>
          <a:xfrm>
            <a:off x="10375900" y="6604000"/>
            <a:ext cx="203200" cy="203200"/>
          </a:xfrm>
          <a:prstGeom prst="rect">
            <a:avLst/>
          </a:prstGeom>
          <a:noFill/>
        </p:spPr>
        <p:txBody>
          <a:bodyPr wrap="none" lIns="0" tIns="0" rIns="0" rtlCol="0">
            <a:spAutoFit/>
          </a:bodyPr>
          <a:lstStyle/>
          <a:p>
            <a:pPr>
              <a:lnSpc>
                <a:spcPts val="1600"/>
              </a:lnSpc>
            </a:pPr>
            <a:r>
              <a:rPr lang="en-US" altLang="zh-CN" sz="1600" dirty="0" smtClean="0">
                <a:solidFill>
                  <a:srgbClr val="FFFFFF"/>
                </a:solidFill>
                <a:latin typeface="Calibri" panose="020F0502020204030204" pitchFamily="18" charset="0"/>
                <a:cs typeface="Calibri" panose="020F0502020204030204" pitchFamily="18" charset="0"/>
              </a:rPr>
              <a:t>19</a:t>
            </a:r>
            <a:endParaRPr lang="en-US" altLang="zh-CN" sz="1600" dirty="0" smtClean="0">
              <a:solidFill>
                <a:srgbClr val="FFFFFF"/>
              </a:solidFill>
              <a:latin typeface="Calibri" panose="020F0502020204030204" pitchFamily="18" charset="0"/>
              <a:cs typeface="Calibri" panose="020F0502020204030204" pitchFamily="18" charset="0"/>
            </a:endParaRPr>
          </a:p>
        </p:txBody>
      </p:sp>
      <p:sp>
        <p:nvSpPr>
          <p:cNvPr id="11" name="TextBox 1"/>
          <p:cNvSpPr txBox="1"/>
          <p:nvPr/>
        </p:nvSpPr>
        <p:spPr>
          <a:xfrm>
            <a:off x="330200" y="215900"/>
            <a:ext cx="9550400" cy="2794000"/>
          </a:xfrm>
          <a:prstGeom prst="rect">
            <a:avLst/>
          </a:prstGeom>
          <a:noFill/>
        </p:spPr>
        <p:txBody>
          <a:bodyPr wrap="none" lIns="0" tIns="0" rIns="0" rtlCol="0">
            <a:spAutoFit/>
          </a:bodyPr>
          <a:lstStyle/>
          <a:p>
            <a:pPr>
              <a:lnSpc>
                <a:spcPts val="4700"/>
              </a:lnSpc>
              <a:tabLst>
                <a:tab pos="2070100" algn="l"/>
              </a:tabLst>
            </a:pPr>
            <a:r>
              <a:rPr lang="en-US" altLang="zh-CN" sz="3600" dirty="0" smtClean="0">
                <a:solidFill>
                  <a:srgbClr val="000000"/>
                </a:solidFill>
                <a:latin typeface="微软雅黑" panose="020B0503020204020204" pitchFamily="34" charset="-122"/>
                <a:cs typeface="微软雅黑" panose="020B0503020204020204" pitchFamily="34" charset="-122"/>
              </a:rPr>
              <a:t>算法分析1</a:t>
            </a:r>
            <a:endParaRPr lang="en-US" altLang="zh-CN" sz="3600" dirty="0" smtClean="0">
              <a:solidFill>
                <a:srgbClr val="000000"/>
              </a:solidFill>
              <a:latin typeface="微软雅黑" panose="020B0503020204020204" pitchFamily="34" charset="-122"/>
              <a:cs typeface="微软雅黑" panose="020B0503020204020204" pitchFamily="34" charset="-122"/>
            </a:endParaRP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600"/>
              </a:lnSpc>
              <a:tabLst>
                <a:tab pos="2070100" algn="l"/>
              </a:tabLst>
            </a:pPr>
            <a:r>
              <a:rPr lang="en-US" altLang="zh-CN" dirty="0" smtClean="0"/>
              <a:t>	</a:t>
            </a:r>
            <a:r>
              <a:rPr lang="en-US" altLang="zh-CN" sz="2400" dirty="0" smtClean="0">
                <a:solidFill>
                  <a:srgbClr val="000000"/>
                </a:solidFill>
                <a:latin typeface="微软雅黑" panose="020B0503020204020204" pitchFamily="34" charset="-122"/>
                <a:cs typeface="微软雅黑" panose="020B0503020204020204" pitchFamily="34" charset="-122"/>
              </a:rPr>
              <a:t>对k个初始质心的选择比较敏感，容易陷入局部最小值。</a:t>
            </a:r>
            <a:endParaRPr lang="en-US" altLang="zh-CN" sz="2400" dirty="0" smtClean="0">
              <a:solidFill>
                <a:srgbClr val="000000"/>
              </a:solidFill>
              <a:latin typeface="微软雅黑" panose="020B0503020204020204" pitchFamily="34" charset="-122"/>
              <a:cs typeface="微软雅黑" panose="020B0503020204020204" pitchFamily="34" charset="-122"/>
            </a:endParaRPr>
          </a:p>
          <a:p>
            <a:pPr>
              <a:lnSpc>
                <a:spcPts val="2800"/>
              </a:lnSpc>
              <a:tabLst>
                <a:tab pos="2070100" algn="l"/>
              </a:tabLst>
            </a:pPr>
            <a:r>
              <a:rPr lang="en-US" altLang="zh-CN" dirty="0" smtClean="0"/>
              <a:t>	</a:t>
            </a:r>
            <a:r>
              <a:rPr lang="en-US" altLang="zh-CN" sz="2400" dirty="0" smtClean="0">
                <a:solidFill>
                  <a:srgbClr val="000000"/>
                </a:solidFill>
                <a:latin typeface="微软雅黑" panose="020B0503020204020204" pitchFamily="34" charset="-122"/>
                <a:cs typeface="微软雅黑" panose="020B0503020204020204" pitchFamily="34" charset="-122"/>
              </a:rPr>
              <a:t>例如，我们上面的算法运行的时候，有可能会得到不</a:t>
            </a:r>
            <a:endParaRPr lang="en-US" altLang="zh-CN" sz="2400" dirty="0" smtClean="0">
              <a:solidFill>
                <a:srgbClr val="000000"/>
              </a:solidFill>
              <a:latin typeface="微软雅黑" panose="020B0503020204020204" pitchFamily="34" charset="-122"/>
              <a:cs typeface="微软雅黑" panose="020B0503020204020204" pitchFamily="34" charset="-122"/>
            </a:endParaRPr>
          </a:p>
          <a:p>
            <a:pPr>
              <a:lnSpc>
                <a:spcPts val="2800"/>
              </a:lnSpc>
              <a:tabLst>
                <a:tab pos="2070100" algn="l"/>
              </a:tabLst>
            </a:pPr>
            <a:r>
              <a:rPr lang="en-US" altLang="zh-CN" dirty="0" smtClean="0"/>
              <a:t>	</a:t>
            </a:r>
            <a:r>
              <a:rPr lang="en-US" altLang="zh-CN" sz="2400" dirty="0" smtClean="0">
                <a:solidFill>
                  <a:srgbClr val="000000"/>
                </a:solidFill>
                <a:latin typeface="微软雅黑" panose="020B0503020204020204" pitchFamily="34" charset="-122"/>
                <a:cs typeface="微软雅黑" panose="020B0503020204020204" pitchFamily="34" charset="-122"/>
              </a:rPr>
              <a:t>同的结果，如下面这两种情况。K-means也是收敛了，</a:t>
            </a:r>
            <a:endParaRPr lang="en-US" altLang="zh-CN" sz="2400" dirty="0" smtClean="0">
              <a:solidFill>
                <a:srgbClr val="000000"/>
              </a:solidFill>
              <a:latin typeface="微软雅黑" panose="020B0503020204020204" pitchFamily="34" charset="-122"/>
              <a:cs typeface="微软雅黑" panose="020B0503020204020204" pitchFamily="34" charset="-122"/>
            </a:endParaRPr>
          </a:p>
          <a:p>
            <a:pPr>
              <a:lnSpc>
                <a:spcPts val="2800"/>
              </a:lnSpc>
              <a:tabLst>
                <a:tab pos="2070100" algn="l"/>
              </a:tabLst>
            </a:pPr>
            <a:r>
              <a:rPr lang="en-US" altLang="zh-CN" dirty="0" smtClean="0"/>
              <a:t>	</a:t>
            </a:r>
            <a:r>
              <a:rPr lang="en-US" altLang="zh-CN" sz="2400" dirty="0" smtClean="0">
                <a:solidFill>
                  <a:srgbClr val="000000"/>
                </a:solidFill>
                <a:latin typeface="微软雅黑" panose="020B0503020204020204" pitchFamily="34" charset="-122"/>
                <a:cs typeface="微软雅黑" panose="020B0503020204020204" pitchFamily="34" charset="-122"/>
              </a:rPr>
              <a:t>只是收敛到了局部最小值：</a:t>
            </a:r>
            <a:endParaRPr lang="en-US" altLang="zh-CN" sz="2400" dirty="0" smtClean="0">
              <a:solidFill>
                <a:srgbClr val="000000"/>
              </a:solidFill>
              <a:latin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1"/>
          <a:srcRect/>
          <a:stretch>
            <a:fillRect/>
          </a:stretch>
        </p:blipFill>
        <p:spPr bwMode="auto">
          <a:xfrm>
            <a:off x="2654300" y="3416300"/>
            <a:ext cx="6819900" cy="27305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50800" y="6464300"/>
            <a:ext cx="7132274" cy="379591"/>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11252200" y="6616700"/>
            <a:ext cx="228600" cy="228600"/>
          </a:xfrm>
          <a:prstGeom prst="rect">
            <a:avLst/>
          </a:prstGeom>
          <a:noFill/>
        </p:spPr>
        <p:txBody>
          <a:bodyPr wrap="none" lIns="0" tIns="0" rIns="0" rtlCol="0">
            <a:spAutoFit/>
          </a:bodyPr>
          <a:lstStyle/>
          <a:p>
            <a:pPr>
              <a:lnSpc>
                <a:spcPts val="1800"/>
              </a:lnSpc>
            </a:pPr>
            <a:r>
              <a:rPr lang="en-US" altLang="zh-CN" sz="1800" dirty="0" smtClean="0">
                <a:solidFill>
                  <a:srgbClr val="FFFFFF"/>
                </a:solidFill>
                <a:latin typeface="Calibri" panose="020F0502020204030204" pitchFamily="18" charset="0"/>
                <a:cs typeface="Calibri" panose="020F0502020204030204" pitchFamily="18" charset="0"/>
              </a:rPr>
              <a:t>20</a:t>
            </a:r>
            <a:endParaRPr lang="en-US" altLang="zh-CN" sz="1800" dirty="0" smtClean="0">
              <a:solidFill>
                <a:srgbClr val="FFFFFF"/>
              </a:solidFill>
              <a:latin typeface="Calibri" panose="020F0502020204030204" pitchFamily="18" charset="0"/>
              <a:cs typeface="Calibri" panose="020F0502020204030204" pitchFamily="18" charset="0"/>
            </a:endParaRPr>
          </a:p>
        </p:txBody>
      </p:sp>
      <p:sp>
        <p:nvSpPr>
          <p:cNvPr id="10" name="TextBox 1"/>
          <p:cNvSpPr txBox="1"/>
          <p:nvPr/>
        </p:nvSpPr>
        <p:spPr>
          <a:xfrm>
            <a:off x="10375900" y="6604000"/>
            <a:ext cx="203200" cy="203200"/>
          </a:xfrm>
          <a:prstGeom prst="rect">
            <a:avLst/>
          </a:prstGeom>
          <a:noFill/>
        </p:spPr>
        <p:txBody>
          <a:bodyPr wrap="none" lIns="0" tIns="0" rIns="0" rtlCol="0">
            <a:spAutoFit/>
          </a:bodyPr>
          <a:lstStyle/>
          <a:p>
            <a:pPr>
              <a:lnSpc>
                <a:spcPts val="1600"/>
              </a:lnSpc>
            </a:pPr>
            <a:r>
              <a:rPr lang="en-US" altLang="zh-CN" sz="1600" dirty="0" smtClean="0">
                <a:solidFill>
                  <a:srgbClr val="FFFFFF"/>
                </a:solidFill>
                <a:latin typeface="Calibri" panose="020F0502020204030204" pitchFamily="18" charset="0"/>
                <a:cs typeface="Calibri" panose="020F0502020204030204" pitchFamily="18" charset="0"/>
              </a:rPr>
              <a:t>20</a:t>
            </a:r>
            <a:endParaRPr lang="en-US" altLang="zh-CN" sz="1600" dirty="0" smtClean="0">
              <a:solidFill>
                <a:srgbClr val="FFFFFF"/>
              </a:solidFill>
              <a:latin typeface="Calibri" panose="020F0502020204030204" pitchFamily="18" charset="0"/>
              <a:cs typeface="Calibri" panose="020F0502020204030204" pitchFamily="18" charset="0"/>
            </a:endParaRPr>
          </a:p>
        </p:txBody>
      </p:sp>
      <p:sp>
        <p:nvSpPr>
          <p:cNvPr id="11" name="TextBox 1"/>
          <p:cNvSpPr txBox="1"/>
          <p:nvPr/>
        </p:nvSpPr>
        <p:spPr>
          <a:xfrm>
            <a:off x="330200" y="228600"/>
            <a:ext cx="9347200" cy="2857500"/>
          </a:xfrm>
          <a:prstGeom prst="rect">
            <a:avLst/>
          </a:prstGeom>
          <a:noFill/>
        </p:spPr>
        <p:txBody>
          <a:bodyPr wrap="none" lIns="0" tIns="0" rIns="0" rtlCol="0">
            <a:spAutoFit/>
          </a:bodyPr>
          <a:lstStyle/>
          <a:p>
            <a:pPr>
              <a:lnSpc>
                <a:spcPts val="4700"/>
              </a:lnSpc>
              <a:tabLst>
                <a:tab pos="2070100" algn="l"/>
              </a:tabLst>
            </a:pPr>
            <a:r>
              <a:rPr lang="en-US" altLang="zh-CN" sz="3600" dirty="0" smtClean="0">
                <a:solidFill>
                  <a:srgbClr val="000000"/>
                </a:solidFill>
                <a:latin typeface="微软雅黑" panose="020B0503020204020204" pitchFamily="34" charset="-122"/>
                <a:cs typeface="微软雅黑" panose="020B0503020204020204" pitchFamily="34" charset="-122"/>
              </a:rPr>
              <a:t>算法分析2</a:t>
            </a:r>
            <a:endParaRPr lang="en-US" altLang="zh-CN" sz="3600" dirty="0" smtClean="0">
              <a:solidFill>
                <a:srgbClr val="000000"/>
              </a:solidFill>
              <a:latin typeface="微软雅黑" panose="020B0503020204020204" pitchFamily="34" charset="-122"/>
              <a:cs typeface="微软雅黑" panose="020B0503020204020204" pitchFamily="34" charset="-122"/>
            </a:endParaRP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200"/>
              </a:lnSpc>
              <a:tabLst>
                <a:tab pos="2070100" algn="l"/>
              </a:tabLst>
            </a:pPr>
            <a:r>
              <a:rPr lang="en-US" altLang="zh-CN" dirty="0" smtClean="0"/>
              <a:t>	</a:t>
            </a:r>
            <a:r>
              <a:rPr lang="en-US" altLang="zh-CN" sz="2400" dirty="0" smtClean="0">
                <a:solidFill>
                  <a:srgbClr val="000000"/>
                </a:solidFill>
                <a:latin typeface="微软雅黑" panose="020B0503020204020204" pitchFamily="34" charset="-122"/>
                <a:cs typeface="微软雅黑" panose="020B0503020204020204" pitchFamily="34" charset="-122"/>
              </a:rPr>
              <a:t>k值的选择是用户指定的，不同的k得到的结果会有挺</a:t>
            </a:r>
            <a:endParaRPr lang="en-US" altLang="zh-CN" sz="2400" dirty="0" smtClean="0">
              <a:solidFill>
                <a:srgbClr val="000000"/>
              </a:solidFill>
              <a:latin typeface="微软雅黑" panose="020B0503020204020204" pitchFamily="34" charset="-122"/>
              <a:cs typeface="微软雅黑" panose="020B0503020204020204" pitchFamily="34" charset="-122"/>
            </a:endParaRPr>
          </a:p>
          <a:p>
            <a:pPr>
              <a:lnSpc>
                <a:spcPts val="2800"/>
              </a:lnSpc>
              <a:tabLst>
                <a:tab pos="2070100" algn="l"/>
              </a:tabLst>
            </a:pPr>
            <a:r>
              <a:rPr lang="en-US" altLang="zh-CN" dirty="0" smtClean="0"/>
              <a:t>	</a:t>
            </a:r>
            <a:r>
              <a:rPr lang="en-US" altLang="zh-CN" sz="2400" dirty="0" smtClean="0">
                <a:solidFill>
                  <a:srgbClr val="000000"/>
                </a:solidFill>
                <a:latin typeface="微软雅黑" panose="020B0503020204020204" pitchFamily="34" charset="-122"/>
                <a:cs typeface="微软雅黑" panose="020B0503020204020204" pitchFamily="34" charset="-122"/>
              </a:rPr>
              <a:t>大的不同，如下图所示，左边是k=3的结果，蓝色的簇</a:t>
            </a:r>
            <a:endParaRPr lang="en-US" altLang="zh-CN" sz="2400" dirty="0" smtClean="0">
              <a:solidFill>
                <a:srgbClr val="000000"/>
              </a:solidFill>
              <a:latin typeface="微软雅黑" panose="020B0503020204020204" pitchFamily="34" charset="-122"/>
              <a:cs typeface="微软雅黑" panose="020B0503020204020204" pitchFamily="34" charset="-122"/>
            </a:endParaRPr>
          </a:p>
          <a:p>
            <a:pPr>
              <a:lnSpc>
                <a:spcPts val="2800"/>
              </a:lnSpc>
              <a:tabLst>
                <a:tab pos="2070100" algn="l"/>
              </a:tabLst>
            </a:pPr>
            <a:r>
              <a:rPr lang="en-US" altLang="zh-CN" dirty="0" smtClean="0"/>
              <a:t>	</a:t>
            </a:r>
            <a:r>
              <a:rPr lang="en-US" altLang="zh-CN" sz="2400" dirty="0" smtClean="0">
                <a:solidFill>
                  <a:srgbClr val="000000"/>
                </a:solidFill>
                <a:latin typeface="微软雅黑" panose="020B0503020204020204" pitchFamily="34" charset="-122"/>
                <a:cs typeface="微软雅黑" panose="020B0503020204020204" pitchFamily="34" charset="-122"/>
              </a:rPr>
              <a:t>太稀疏了，蓝色的簇应该可以再划分成两个簇。右边</a:t>
            </a:r>
            <a:endParaRPr lang="en-US" altLang="zh-CN" sz="2400" dirty="0" smtClean="0">
              <a:solidFill>
                <a:srgbClr val="000000"/>
              </a:solidFill>
              <a:latin typeface="微软雅黑" panose="020B0503020204020204" pitchFamily="34" charset="-122"/>
              <a:cs typeface="微软雅黑" panose="020B0503020204020204" pitchFamily="34" charset="-122"/>
            </a:endParaRPr>
          </a:p>
          <a:p>
            <a:pPr>
              <a:lnSpc>
                <a:spcPts val="2800"/>
              </a:lnSpc>
              <a:tabLst>
                <a:tab pos="2070100" algn="l"/>
              </a:tabLst>
            </a:pPr>
            <a:r>
              <a:rPr lang="en-US" altLang="zh-CN" dirty="0" smtClean="0"/>
              <a:t>	</a:t>
            </a:r>
            <a:r>
              <a:rPr lang="en-US" altLang="zh-CN" sz="2400" dirty="0" smtClean="0">
                <a:solidFill>
                  <a:srgbClr val="000000"/>
                </a:solidFill>
                <a:latin typeface="微软雅黑" panose="020B0503020204020204" pitchFamily="34" charset="-122"/>
                <a:cs typeface="微软雅黑" panose="020B0503020204020204" pitchFamily="34" charset="-122"/>
              </a:rPr>
              <a:t>是k=5的结果，红色和蓝色的簇应该合并为一个簇。</a:t>
            </a:r>
            <a:endParaRPr lang="en-US" altLang="zh-CN" sz="2400" dirty="0" smtClean="0">
              <a:solidFill>
                <a:srgbClr val="000000"/>
              </a:solidFill>
              <a:latin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1"/>
          <a:srcRect/>
          <a:stretch>
            <a:fillRect/>
          </a:stretch>
        </p:blipFill>
        <p:spPr bwMode="auto">
          <a:xfrm>
            <a:off x="2489200" y="2768600"/>
            <a:ext cx="7137400" cy="3136900"/>
          </a:xfrm>
          <a:prstGeom prst="rect">
            <a:avLst/>
          </a:prstGeom>
          <a:noFill/>
        </p:spPr>
      </p:pic>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50800" y="6464300"/>
            <a:ext cx="6875793" cy="379591"/>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9" name="TextBox 1"/>
          <p:cNvSpPr txBox="1"/>
          <p:nvPr/>
        </p:nvSpPr>
        <p:spPr>
          <a:xfrm>
            <a:off x="11252200" y="6616700"/>
            <a:ext cx="228600" cy="228600"/>
          </a:xfrm>
          <a:prstGeom prst="rect">
            <a:avLst/>
          </a:prstGeom>
          <a:noFill/>
        </p:spPr>
        <p:txBody>
          <a:bodyPr wrap="none" lIns="0" tIns="0" rIns="0" rtlCol="0">
            <a:spAutoFit/>
          </a:bodyPr>
          <a:lstStyle/>
          <a:p>
            <a:pPr>
              <a:lnSpc>
                <a:spcPts val="1800"/>
              </a:lnSpc>
            </a:pPr>
            <a:r>
              <a:rPr lang="en-US" altLang="zh-CN" sz="1800" dirty="0" smtClean="0">
                <a:solidFill>
                  <a:srgbClr val="FFFFFF"/>
                </a:solidFill>
                <a:latin typeface="Calibri" panose="020F0502020204030204" pitchFamily="18" charset="0"/>
                <a:cs typeface="Calibri" panose="020F0502020204030204" pitchFamily="18" charset="0"/>
              </a:rPr>
              <a:t>21</a:t>
            </a:r>
            <a:endParaRPr lang="en-US" altLang="zh-CN" sz="1800" dirty="0" smtClean="0">
              <a:solidFill>
                <a:srgbClr val="FFFFFF"/>
              </a:solidFill>
              <a:latin typeface="Calibri" panose="020F0502020204030204" pitchFamily="18" charset="0"/>
              <a:cs typeface="Calibri" panose="020F0502020204030204" pitchFamily="18" charset="0"/>
            </a:endParaRPr>
          </a:p>
        </p:txBody>
      </p:sp>
      <p:sp>
        <p:nvSpPr>
          <p:cNvPr id="10" name="TextBox 1"/>
          <p:cNvSpPr txBox="1"/>
          <p:nvPr/>
        </p:nvSpPr>
        <p:spPr>
          <a:xfrm>
            <a:off x="10375900" y="6604000"/>
            <a:ext cx="203200" cy="203200"/>
          </a:xfrm>
          <a:prstGeom prst="rect">
            <a:avLst/>
          </a:prstGeom>
          <a:noFill/>
        </p:spPr>
        <p:txBody>
          <a:bodyPr wrap="none" lIns="0" tIns="0" rIns="0" rtlCol="0">
            <a:spAutoFit/>
          </a:bodyPr>
          <a:lstStyle/>
          <a:p>
            <a:pPr>
              <a:lnSpc>
                <a:spcPts val="1600"/>
              </a:lnSpc>
            </a:pPr>
            <a:r>
              <a:rPr lang="en-US" altLang="zh-CN" sz="1600" dirty="0" smtClean="0">
                <a:solidFill>
                  <a:srgbClr val="FFFFFF"/>
                </a:solidFill>
                <a:latin typeface="Calibri" panose="020F0502020204030204" pitchFamily="18" charset="0"/>
                <a:cs typeface="Calibri" panose="020F0502020204030204" pitchFamily="18" charset="0"/>
              </a:rPr>
              <a:t>21</a:t>
            </a:r>
            <a:endParaRPr lang="en-US" altLang="zh-CN" sz="1600" dirty="0" smtClean="0">
              <a:solidFill>
                <a:srgbClr val="FFFFFF"/>
              </a:solidFill>
              <a:latin typeface="Calibri" panose="020F0502020204030204" pitchFamily="18" charset="0"/>
              <a:cs typeface="Calibri" panose="020F0502020204030204" pitchFamily="18" charset="0"/>
            </a:endParaRPr>
          </a:p>
        </p:txBody>
      </p:sp>
      <p:sp>
        <p:nvSpPr>
          <p:cNvPr id="11" name="TextBox 1"/>
          <p:cNvSpPr txBox="1"/>
          <p:nvPr/>
        </p:nvSpPr>
        <p:spPr>
          <a:xfrm>
            <a:off x="330200" y="190500"/>
            <a:ext cx="9563100" cy="1816100"/>
          </a:xfrm>
          <a:prstGeom prst="rect">
            <a:avLst/>
          </a:prstGeom>
          <a:noFill/>
        </p:spPr>
        <p:txBody>
          <a:bodyPr wrap="none" lIns="0" tIns="0" rIns="0" rtlCol="0">
            <a:spAutoFit/>
          </a:bodyPr>
          <a:lstStyle/>
          <a:p>
            <a:pPr>
              <a:lnSpc>
                <a:spcPts val="4700"/>
              </a:lnSpc>
              <a:tabLst>
                <a:tab pos="1955800" algn="l"/>
              </a:tabLst>
            </a:pPr>
            <a:r>
              <a:rPr lang="en-US" altLang="zh-CN" sz="3600" dirty="0" smtClean="0">
                <a:solidFill>
                  <a:srgbClr val="000000"/>
                </a:solidFill>
                <a:latin typeface="微软雅黑" panose="020B0503020204020204" pitchFamily="34" charset="-122"/>
                <a:cs typeface="微软雅黑" panose="020B0503020204020204" pitchFamily="34" charset="-122"/>
              </a:rPr>
              <a:t>算法分析3</a:t>
            </a:r>
            <a:endParaRPr lang="en-US" altLang="zh-CN" sz="3600" dirty="0" smtClean="0">
              <a:solidFill>
                <a:srgbClr val="000000"/>
              </a:solidFill>
              <a:latin typeface="微软雅黑" panose="020B0503020204020204" pitchFamily="34" charset="-122"/>
              <a:cs typeface="微软雅黑" panose="020B0503020204020204" pitchFamily="34" charset="-122"/>
            </a:endParaRP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500"/>
              </a:lnSpc>
              <a:tabLst>
                <a:tab pos="1955800" algn="l"/>
              </a:tabLst>
            </a:pPr>
            <a:r>
              <a:rPr lang="en-US" altLang="zh-CN" dirty="0" smtClean="0"/>
              <a:t>	</a:t>
            </a:r>
            <a:r>
              <a:rPr lang="en-US" altLang="zh-CN" sz="2400" dirty="0" smtClean="0">
                <a:solidFill>
                  <a:srgbClr val="000000"/>
                </a:solidFill>
                <a:latin typeface="微软雅黑" panose="020B0503020204020204" pitchFamily="34" charset="-122"/>
                <a:cs typeface="微软雅黑" panose="020B0503020204020204" pitchFamily="34" charset="-122"/>
              </a:rPr>
              <a:t>存在局限性，如下面这种非球状的数据分布就搞不定了：</a:t>
            </a:r>
            <a:endParaRPr lang="en-US" altLang="zh-CN" sz="2400" dirty="0" smtClean="0">
              <a:solidFill>
                <a:srgbClr val="000000"/>
              </a:solidFill>
              <a:latin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0" y="0"/>
            <a:ext cx="12192000" cy="6858000"/>
          </a:xfrm>
          <a:custGeom>
            <a:avLst/>
            <a:gdLst>
              <a:gd name="connsiteX0" fmla="*/ 0 w 12192000"/>
              <a:gd name="connsiteY0" fmla="*/ 6857999 h 6858000"/>
              <a:gd name="connsiteX1" fmla="*/ 12192000 w 12192000"/>
              <a:gd name="connsiteY1" fmla="*/ 6857999 h 6858000"/>
              <a:gd name="connsiteX2" fmla="*/ 12192000 w 12192000"/>
              <a:gd name="connsiteY2" fmla="*/ 0 h 6858000"/>
              <a:gd name="connsiteX3" fmla="*/ 0 w 12192000"/>
              <a:gd name="connsiteY3" fmla="*/ 0 h 6858000"/>
              <a:gd name="connsiteX4" fmla="*/ 0 w 12192000"/>
              <a:gd name="connsiteY4" fmla="*/ 6857999 h 68580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2192000" h="6858000">
                <a:moveTo>
                  <a:pt x="0" y="6857999"/>
                </a:moveTo>
                <a:lnTo>
                  <a:pt x="12192000" y="6857999"/>
                </a:lnTo>
                <a:lnTo>
                  <a:pt x="12192000" y="0"/>
                </a:lnTo>
                <a:lnTo>
                  <a:pt x="0" y="0"/>
                </a:lnTo>
                <a:lnTo>
                  <a:pt x="0" y="6857999"/>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5080" y="6609080"/>
            <a:ext cx="4155440" cy="45211"/>
          </a:xfrm>
          <a:custGeom>
            <a:avLst/>
            <a:gdLst>
              <a:gd name="connsiteX0" fmla="*/ 20319 w 4155440"/>
              <a:gd name="connsiteY0" fmla="*/ 24891 h 45211"/>
              <a:gd name="connsiteX1" fmla="*/ 4135119 w 4155440"/>
              <a:gd name="connsiteY1" fmla="*/ 20319 h 45211"/>
            </a:gdLst>
            <a:ahLst/>
            <a:cxnLst>
              <a:cxn ang="0">
                <a:pos x="connsiteX0" y="connsiteY0"/>
              </a:cxn>
              <a:cxn ang="1">
                <a:pos x="connsiteX1" y="connsiteY1"/>
              </a:cxn>
            </a:cxnLst>
            <a:rect l="l" t="t" r="r" b="b"/>
            <a:pathLst>
              <a:path w="4155440" h="45211">
                <a:moveTo>
                  <a:pt x="20319" y="24891"/>
                </a:moveTo>
                <a:lnTo>
                  <a:pt x="41351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Freeform 3"/>
          <p:cNvSpPr/>
          <p:nvPr/>
        </p:nvSpPr>
        <p:spPr>
          <a:xfrm>
            <a:off x="1097788" y="732536"/>
            <a:ext cx="10332211" cy="49784"/>
          </a:xfrm>
          <a:custGeom>
            <a:avLst/>
            <a:gdLst>
              <a:gd name="connsiteX0" fmla="*/ 20319 w 10332211"/>
              <a:gd name="connsiteY0" fmla="*/ 29463 h 49784"/>
              <a:gd name="connsiteX1" fmla="*/ 10311892 w 10332211"/>
              <a:gd name="connsiteY1" fmla="*/ 20319 h 49784"/>
            </a:gdLst>
            <a:ahLst/>
            <a:cxnLst>
              <a:cxn ang="0">
                <a:pos x="connsiteX0" y="connsiteY0"/>
              </a:cxn>
              <a:cxn ang="1">
                <a:pos x="connsiteX1" y="connsiteY1"/>
              </a:cxn>
            </a:cxnLst>
            <a:rect l="l" t="t" r="r" b="b"/>
            <a:pathLst>
              <a:path w="10332211" h="49784">
                <a:moveTo>
                  <a:pt x="20319" y="29463"/>
                </a:moveTo>
                <a:lnTo>
                  <a:pt x="10311892"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Freeform 3"/>
          <p:cNvSpPr/>
          <p:nvPr/>
        </p:nvSpPr>
        <p:spPr>
          <a:xfrm>
            <a:off x="411480" y="6610096"/>
            <a:ext cx="3698240" cy="48768"/>
          </a:xfrm>
          <a:custGeom>
            <a:avLst/>
            <a:gdLst>
              <a:gd name="connsiteX0" fmla="*/ 20319 w 3698240"/>
              <a:gd name="connsiteY0" fmla="*/ 28447 h 48768"/>
              <a:gd name="connsiteX1" fmla="*/ 3677919 w 3698240"/>
              <a:gd name="connsiteY1" fmla="*/ 20319 h 48768"/>
            </a:gdLst>
            <a:ahLst/>
            <a:cxnLst>
              <a:cxn ang="0">
                <a:pos x="connsiteX0" y="connsiteY0"/>
              </a:cxn>
              <a:cxn ang="1">
                <a:pos x="connsiteX1" y="connsiteY1"/>
              </a:cxn>
            </a:cxnLst>
            <a:rect l="l" t="t" r="r" b="b"/>
            <a:pathLst>
              <a:path w="3698240" h="48768">
                <a:moveTo>
                  <a:pt x="20319" y="28447"/>
                </a:moveTo>
                <a:lnTo>
                  <a:pt x="3677919" y="20319"/>
                </a:lnTo>
              </a:path>
            </a:pathLst>
          </a:custGeom>
          <a:ln w="38100">
            <a:solidFill>
              <a:srgbClr val="FD7F7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4711700" y="6451600"/>
            <a:ext cx="1689100" cy="330200"/>
          </a:xfrm>
          <a:prstGeom prst="rect">
            <a:avLst/>
          </a:prstGeom>
          <a:noFill/>
        </p:spPr>
        <p:txBody>
          <a:bodyPr wrap="none" lIns="0" tIns="0" rIns="0" rtlCol="0">
            <a:spAutoFit/>
          </a:bodyPr>
          <a:lstStyle/>
          <a:p>
            <a:pPr>
              <a:lnSpc>
                <a:spcPts val="2600"/>
              </a:lnSpc>
            </a:pPr>
            <a:r>
              <a:rPr lang="en-US" altLang="zh-CN" sz="2000" dirty="0" smtClean="0">
                <a:solidFill>
                  <a:srgbClr val="000000"/>
                </a:solidFill>
                <a:latin typeface="微软雅黑" panose="020B0503020204020204" pitchFamily="34" charset="-122"/>
                <a:cs typeface="微软雅黑" panose="020B0503020204020204" pitchFamily="34" charset="-122"/>
              </a:rPr>
              <a:t>Python</a:t>
            </a:r>
            <a:r>
              <a:rPr lang="en-US" altLang="zh-CN" sz="1200" dirty="0" smtClean="0">
                <a:latin typeface="Times New Roman" panose="02020603050405020304" pitchFamily="18" charset="0"/>
                <a:cs typeface="Times New Roman" panose="02020603050405020304" pitchFamily="18" charset="0"/>
              </a:rPr>
              <a:t>      </a:t>
            </a:r>
            <a:r>
              <a:rPr lang="en-US" altLang="zh-CN" sz="1200" dirty="0" smtClean="0">
                <a:solidFill>
                  <a:srgbClr val="FFFFFF"/>
                </a:solidFill>
                <a:latin typeface="微软雅黑" panose="020B0503020204020204" pitchFamily="34" charset="-122"/>
                <a:cs typeface="微软雅黑" panose="020B0503020204020204" pitchFamily="34" charset="-122"/>
              </a:rPr>
              <a:t>CDA！）</a:t>
            </a:r>
            <a:endParaRPr lang="en-US" altLang="zh-CN" sz="1200" dirty="0" smtClean="0">
              <a:solidFill>
                <a:srgbClr val="FFFFFF"/>
              </a:solidFill>
              <a:latin typeface="微软雅黑" panose="020B0503020204020204" pitchFamily="34" charset="-122"/>
              <a:cs typeface="微软雅黑" panose="020B0503020204020204" pitchFamily="34" charset="-122"/>
            </a:endParaRPr>
          </a:p>
        </p:txBody>
      </p:sp>
      <p:sp>
        <p:nvSpPr>
          <p:cNvPr id="7" name="TextBox 1"/>
          <p:cNvSpPr txBox="1"/>
          <p:nvPr/>
        </p:nvSpPr>
        <p:spPr>
          <a:xfrm>
            <a:off x="50800" y="6464300"/>
            <a:ext cx="6875793" cy="379591"/>
          </a:xfrm>
          <a:prstGeom prst="rect">
            <a:avLst/>
          </a:prstGeom>
          <a:noFill/>
        </p:spPr>
        <p:txBody>
          <a:bodyPr wrap="none" lIns="0" tIns="0" rIns="0" rtlCol="0">
            <a:spAutoFit/>
          </a:bodyPr>
          <a:lstStyle/>
          <a:p>
            <a:pPr>
              <a:lnSpc>
                <a:spcPts val="2600"/>
              </a:lnSpc>
            </a:pPr>
            <a:r>
              <a:rPr lang="en-US" altLang="zh-CN" sz="1200" dirty="0" err="1" smtClean="0">
                <a:solidFill>
                  <a:srgbClr val="FFFFFF"/>
                </a:solidFill>
                <a:latin typeface="微软雅黑" panose="020B0503020204020204" pitchFamily="34" charset="-122"/>
                <a:cs typeface="微软雅黑" panose="020B0503020204020204" pitchFamily="34" charset="-122"/>
              </a:rPr>
              <a:t>CDA大数据分析师（严谨课程体系+专业师资团队+优质服务体验，学大数据分析就学</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solidFill>
                  <a:srgbClr val="000000"/>
                </a:solidFill>
                <a:latin typeface="微软雅黑" panose="020B0503020204020204" pitchFamily="34" charset="-122"/>
                <a:cs typeface="微软雅黑" panose="020B0503020204020204" pitchFamily="34" charset="-122"/>
              </a:rPr>
              <a:t>机器学习</a:t>
            </a:r>
            <a:endParaRPr lang="en-US" altLang="zh-CN" sz="2000" dirty="0" smtClean="0">
              <a:solidFill>
                <a:srgbClr val="000000"/>
              </a:solidFill>
              <a:latin typeface="微软雅黑" panose="020B0503020204020204" pitchFamily="34" charset="-122"/>
              <a:cs typeface="微软雅黑" panose="020B0503020204020204" pitchFamily="34" charset="-122"/>
            </a:endParaRPr>
          </a:p>
        </p:txBody>
      </p:sp>
      <p:sp>
        <p:nvSpPr>
          <p:cNvPr id="8" name="TextBox 1"/>
          <p:cNvSpPr txBox="1"/>
          <p:nvPr/>
        </p:nvSpPr>
        <p:spPr>
          <a:xfrm>
            <a:off x="11252200" y="6616700"/>
            <a:ext cx="228600" cy="228600"/>
          </a:xfrm>
          <a:prstGeom prst="rect">
            <a:avLst/>
          </a:prstGeom>
          <a:noFill/>
        </p:spPr>
        <p:txBody>
          <a:bodyPr wrap="none" lIns="0" tIns="0" rIns="0" rtlCol="0">
            <a:spAutoFit/>
          </a:bodyPr>
          <a:lstStyle/>
          <a:p>
            <a:pPr>
              <a:lnSpc>
                <a:spcPts val="1800"/>
              </a:lnSpc>
            </a:pPr>
            <a:r>
              <a:rPr lang="en-US" altLang="zh-CN" sz="1800" dirty="0" smtClean="0">
                <a:solidFill>
                  <a:srgbClr val="FFFFFF"/>
                </a:solidFill>
                <a:latin typeface="Calibri" panose="020F0502020204030204" pitchFamily="18" charset="0"/>
                <a:cs typeface="Calibri" panose="020F0502020204030204" pitchFamily="18" charset="0"/>
              </a:rPr>
              <a:t>22</a:t>
            </a:r>
            <a:endParaRPr lang="en-US" altLang="zh-CN" sz="1800" dirty="0" smtClean="0">
              <a:solidFill>
                <a:srgbClr val="FFFFFF"/>
              </a:solidFill>
              <a:latin typeface="Calibri" panose="020F0502020204030204" pitchFamily="18" charset="0"/>
              <a:cs typeface="Calibri" panose="020F0502020204030204" pitchFamily="18" charset="0"/>
            </a:endParaRPr>
          </a:p>
        </p:txBody>
      </p:sp>
      <p:sp>
        <p:nvSpPr>
          <p:cNvPr id="9" name="TextBox 1"/>
          <p:cNvSpPr txBox="1"/>
          <p:nvPr/>
        </p:nvSpPr>
        <p:spPr>
          <a:xfrm>
            <a:off x="10375900" y="6604000"/>
            <a:ext cx="203200" cy="203200"/>
          </a:xfrm>
          <a:prstGeom prst="rect">
            <a:avLst/>
          </a:prstGeom>
          <a:noFill/>
        </p:spPr>
        <p:txBody>
          <a:bodyPr wrap="none" lIns="0" tIns="0" rIns="0" rtlCol="0">
            <a:spAutoFit/>
          </a:bodyPr>
          <a:lstStyle/>
          <a:p>
            <a:pPr>
              <a:lnSpc>
                <a:spcPts val="1600"/>
              </a:lnSpc>
            </a:pPr>
            <a:r>
              <a:rPr lang="en-US" altLang="zh-CN" sz="1600" dirty="0" smtClean="0">
                <a:solidFill>
                  <a:srgbClr val="FFFFFF"/>
                </a:solidFill>
                <a:latin typeface="Calibri" panose="020F0502020204030204" pitchFamily="18" charset="0"/>
                <a:cs typeface="Calibri" panose="020F0502020204030204" pitchFamily="18" charset="0"/>
              </a:rPr>
              <a:t>22</a:t>
            </a:r>
            <a:endParaRPr lang="en-US" altLang="zh-CN" sz="1600" dirty="0" smtClean="0">
              <a:solidFill>
                <a:srgbClr val="FFFFFF"/>
              </a:solidFill>
              <a:latin typeface="Calibri" panose="020F0502020204030204" pitchFamily="18" charset="0"/>
              <a:cs typeface="Calibri" panose="020F0502020204030204" pitchFamily="18" charset="0"/>
            </a:endParaRPr>
          </a:p>
        </p:txBody>
      </p:sp>
      <p:sp>
        <p:nvSpPr>
          <p:cNvPr id="10" name="TextBox 1"/>
          <p:cNvSpPr txBox="1"/>
          <p:nvPr/>
        </p:nvSpPr>
        <p:spPr>
          <a:xfrm>
            <a:off x="330200" y="190500"/>
            <a:ext cx="8178800" cy="1943100"/>
          </a:xfrm>
          <a:prstGeom prst="rect">
            <a:avLst/>
          </a:prstGeom>
          <a:noFill/>
        </p:spPr>
        <p:txBody>
          <a:bodyPr wrap="none" lIns="0" tIns="0" rIns="0" rtlCol="0">
            <a:spAutoFit/>
          </a:bodyPr>
          <a:lstStyle/>
          <a:p>
            <a:pPr>
              <a:lnSpc>
                <a:spcPts val="4700"/>
              </a:lnSpc>
              <a:tabLst>
                <a:tab pos="3314700" algn="l"/>
              </a:tabLst>
            </a:pPr>
            <a:r>
              <a:rPr lang="en-US" altLang="zh-CN" sz="3600" dirty="0" smtClean="0">
                <a:solidFill>
                  <a:srgbClr val="000000"/>
                </a:solidFill>
                <a:latin typeface="微软雅黑" panose="020B0503020204020204" pitchFamily="34" charset="-122"/>
                <a:cs typeface="微软雅黑" panose="020B0503020204020204" pitchFamily="34" charset="-122"/>
              </a:rPr>
              <a:t>算法分析4</a:t>
            </a:r>
            <a:endParaRPr lang="en-US" altLang="zh-CN" sz="3600" dirty="0" smtClean="0">
              <a:solidFill>
                <a:srgbClr val="000000"/>
              </a:solidFill>
              <a:latin typeface="微软雅黑" panose="020B0503020204020204" pitchFamily="34" charset="-122"/>
              <a:cs typeface="微软雅黑" panose="020B0503020204020204" pitchFamily="34" charset="-122"/>
            </a:endParaRPr>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1000"/>
              </a:lnSpc>
            </a:pPr>
            <a:endParaRPr lang="en-US" altLang="zh-CN" dirty="0" smtClean="0"/>
          </a:p>
          <a:p>
            <a:pPr>
              <a:lnSpc>
                <a:spcPts val="3500"/>
              </a:lnSpc>
              <a:tabLst>
                <a:tab pos="3314700" algn="l"/>
              </a:tabLst>
            </a:pPr>
            <a:r>
              <a:rPr lang="en-US" altLang="zh-CN" dirty="0" smtClean="0"/>
              <a:t>	</a:t>
            </a:r>
            <a:r>
              <a:rPr lang="en-US" altLang="zh-CN" sz="2400" dirty="0" smtClean="0">
                <a:solidFill>
                  <a:srgbClr val="000000"/>
                </a:solidFill>
                <a:latin typeface="微软雅黑" panose="020B0503020204020204" pitchFamily="34" charset="-122"/>
                <a:cs typeface="微软雅黑" panose="020B0503020204020204" pitchFamily="34" charset="-122"/>
              </a:rPr>
              <a:t>数据比较大的时候，收敛会比较慢。</a:t>
            </a:r>
            <a:endParaRPr lang="en-US" altLang="zh-CN" sz="2400" dirty="0" smtClean="0">
              <a:solidFill>
                <a:srgbClr val="000000"/>
              </a:solidFill>
              <a:latin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6"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06</a:t>
              </a:r>
              <a:endParaRPr lang="zh-CN" altLang="en-US" sz="4000" kern="0" dirty="0">
                <a:solidFill>
                  <a:srgbClr val="009999"/>
                </a:solidFill>
                <a:latin typeface="Century Gothic" panose="020B0502020202020204" pitchFamily="34" charset="0"/>
                <a:cs typeface="+mn-ea"/>
                <a:sym typeface="+mn-lt"/>
              </a:endParaRPr>
            </a:p>
          </p:txBody>
        </p:sp>
      </p:grpSp>
      <p:grpSp>
        <p:nvGrpSpPr>
          <p:cNvPr id="9"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566509" y="2472759"/>
            <a:ext cx="6109365"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算法改进与优化</a:t>
            </a:r>
            <a:endParaRPr lang="zh-CN" altLang="en-US" sz="6600" dirty="0">
              <a:solidFill>
                <a:srgbClr val="009999"/>
              </a:solidFill>
              <a:latin typeface="Noto Sans S Chinese Medium" panose="020B0600000000000000" pitchFamily="34" charset="-122"/>
              <a:ea typeface="Noto Sans S Chinese Medium" panose="020B06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5970393" y="3636434"/>
            <a:ext cx="6109365" cy="1569660"/>
          </a:xfrm>
          <a:prstGeom prst="rect">
            <a:avLst/>
          </a:prstGeom>
          <a:noFill/>
        </p:spPr>
        <p:txBody>
          <a:bodyPr wrap="square" rtlCol="0">
            <a:spAutoFit/>
          </a:bodyPr>
          <a:lstStyle/>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IMPROVEMENT AND OPTIMIZATION OF ALGORITHM</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j-ea"/>
              </a:rPr>
              <a:t>k-means</a:t>
            </a:r>
            <a:r>
              <a:rPr lang="zh-CN" altLang="en-US" dirty="0"/>
              <a:t>算法的改进与优化</a:t>
            </a:r>
            <a:endParaRPr lang="zh-CN" altLang="en-US" dirty="0"/>
          </a:p>
        </p:txBody>
      </p:sp>
      <p:sp>
        <p:nvSpPr>
          <p:cNvPr id="3" name="文本框 2"/>
          <p:cNvSpPr txBox="1"/>
          <p:nvPr/>
        </p:nvSpPr>
        <p:spPr>
          <a:xfrm>
            <a:off x="916617" y="1135208"/>
            <a:ext cx="10830205" cy="5262979"/>
          </a:xfrm>
          <a:prstGeom prst="rect">
            <a:avLst/>
          </a:prstGeom>
          <a:noFill/>
        </p:spPr>
        <p:txBody>
          <a:bodyPr wrap="square" rtlCol="0">
            <a:spAutoFit/>
          </a:bodyPr>
          <a:lstStyle/>
          <a:p>
            <a:pPr>
              <a:lnSpc>
                <a:spcPct val="150000"/>
              </a:lnSpc>
            </a:pPr>
            <a:r>
              <a:rPr lang="en-US" altLang="zh-CN" sz="2800" dirty="0" smtClean="0">
                <a:latin typeface="+mj-ea"/>
                <a:ea typeface="+mj-ea"/>
              </a:rPr>
              <a:t>1. </a:t>
            </a:r>
            <a:r>
              <a:rPr lang="en-US" altLang="zh-CN" sz="2800" dirty="0">
                <a:latin typeface="+mj-ea"/>
                <a:ea typeface="+mj-ea"/>
              </a:rPr>
              <a:t>k-means++</a:t>
            </a:r>
            <a:r>
              <a:rPr lang="zh-CN" altLang="en-US" sz="2800" dirty="0">
                <a:latin typeface="+mj-ea"/>
                <a:ea typeface="+mj-ea"/>
              </a:rPr>
              <a:t>算法</a:t>
            </a:r>
            <a:endParaRPr lang="zh-CN" altLang="en-US" sz="2800" dirty="0">
              <a:latin typeface="+mj-ea"/>
              <a:ea typeface="+mj-ea"/>
            </a:endParaRPr>
          </a:p>
          <a:p>
            <a:pPr>
              <a:lnSpc>
                <a:spcPct val="150000"/>
              </a:lnSpc>
            </a:pPr>
            <a:r>
              <a:rPr lang="zh-CN" altLang="en-US" sz="2800" dirty="0">
                <a:latin typeface="+mn-ea"/>
              </a:rPr>
              <a:t>原始</a:t>
            </a:r>
            <a:r>
              <a:rPr lang="en-US" altLang="zh-CN" sz="2800" dirty="0">
                <a:latin typeface="+mn-ea"/>
              </a:rPr>
              <a:t>k-means</a:t>
            </a:r>
            <a:r>
              <a:rPr lang="zh-CN" altLang="en-US" sz="2800" dirty="0">
                <a:latin typeface="+mn-ea"/>
              </a:rPr>
              <a:t>算法最开始随机选取数据集中</a:t>
            </a:r>
            <a:r>
              <a:rPr lang="en-US" altLang="zh-CN" sz="2800" dirty="0">
                <a:latin typeface="+mn-ea"/>
              </a:rPr>
              <a:t>K</a:t>
            </a:r>
            <a:r>
              <a:rPr lang="zh-CN" altLang="en-US" sz="2800" dirty="0">
                <a:latin typeface="+mn-ea"/>
              </a:rPr>
              <a:t>个点作为聚类中心，而</a:t>
            </a:r>
            <a:r>
              <a:rPr lang="en-US" altLang="zh-CN" sz="2800" dirty="0">
                <a:latin typeface="+mn-ea"/>
              </a:rPr>
              <a:t>k-means++</a:t>
            </a:r>
            <a:r>
              <a:rPr lang="zh-CN" altLang="en-US" sz="2800" dirty="0">
                <a:latin typeface="+mn-ea"/>
              </a:rPr>
              <a:t>按照如下的思想选取</a:t>
            </a:r>
            <a:r>
              <a:rPr lang="en-US" altLang="zh-CN" sz="2800" dirty="0">
                <a:latin typeface="+mn-ea"/>
              </a:rPr>
              <a:t>K</a:t>
            </a:r>
            <a:r>
              <a:rPr lang="zh-CN" altLang="en-US" sz="2800" dirty="0">
                <a:latin typeface="+mn-ea"/>
              </a:rPr>
              <a:t>个聚类中心：假设已经选取了</a:t>
            </a:r>
            <a:r>
              <a:rPr lang="en-US" altLang="zh-CN" sz="2800" dirty="0">
                <a:latin typeface="+mn-ea"/>
              </a:rPr>
              <a:t>n</a:t>
            </a:r>
            <a:r>
              <a:rPr lang="zh-CN" altLang="en-US" sz="2800" dirty="0">
                <a:latin typeface="+mn-ea"/>
              </a:rPr>
              <a:t>个初始聚类中心</a:t>
            </a:r>
            <a:r>
              <a:rPr lang="en-US" altLang="zh-CN" sz="2800" dirty="0">
                <a:latin typeface="+mn-ea"/>
              </a:rPr>
              <a:t>(0&lt;n&lt;K)</a:t>
            </a:r>
            <a:r>
              <a:rPr lang="zh-CN" altLang="en-US" sz="2800" dirty="0">
                <a:latin typeface="+mn-ea"/>
              </a:rPr>
              <a:t>，则在选取第</a:t>
            </a:r>
            <a:r>
              <a:rPr lang="en-US" altLang="zh-CN" sz="2800" dirty="0">
                <a:latin typeface="+mn-ea"/>
              </a:rPr>
              <a:t>n+1</a:t>
            </a:r>
            <a:r>
              <a:rPr lang="zh-CN" altLang="en-US" sz="2800" dirty="0">
                <a:latin typeface="+mn-ea"/>
              </a:rPr>
              <a:t>个聚类中心</a:t>
            </a:r>
            <a:r>
              <a:rPr lang="zh-CN" altLang="en-US" sz="2800" dirty="0" smtClean="0">
                <a:latin typeface="+mn-ea"/>
              </a:rPr>
              <a:t>时</a:t>
            </a:r>
            <a:r>
              <a:rPr lang="en-US" altLang="zh-CN" sz="2800" dirty="0" smtClean="0">
                <a:latin typeface="+mn-ea"/>
              </a:rPr>
              <a:t>,</a:t>
            </a:r>
            <a:r>
              <a:rPr lang="zh-CN" altLang="en-US" sz="2800" dirty="0" smtClean="0">
                <a:latin typeface="+mn-ea"/>
              </a:rPr>
              <a:t>距离</a:t>
            </a:r>
            <a:r>
              <a:rPr lang="zh-CN" altLang="en-US" sz="2800" dirty="0">
                <a:latin typeface="+mn-ea"/>
              </a:rPr>
              <a:t>当前</a:t>
            </a:r>
            <a:r>
              <a:rPr lang="en-US" altLang="zh-CN" sz="2800" dirty="0">
                <a:latin typeface="+mn-ea"/>
              </a:rPr>
              <a:t>n</a:t>
            </a:r>
            <a:r>
              <a:rPr lang="zh-CN" altLang="en-US" sz="2800" dirty="0">
                <a:latin typeface="+mn-ea"/>
              </a:rPr>
              <a:t>个聚类中心越远的点会有更高的概率被选为第</a:t>
            </a:r>
            <a:r>
              <a:rPr lang="en-US" altLang="zh-CN" sz="2800" dirty="0">
                <a:latin typeface="+mn-ea"/>
              </a:rPr>
              <a:t>n+1</a:t>
            </a:r>
            <a:r>
              <a:rPr lang="zh-CN" altLang="en-US" sz="2800" dirty="0">
                <a:latin typeface="+mn-ea"/>
              </a:rPr>
              <a:t>个聚类中心。在选取第一个聚类中心</a:t>
            </a:r>
            <a:r>
              <a:rPr lang="en-US" altLang="zh-CN" sz="2800" dirty="0">
                <a:latin typeface="+mn-ea"/>
              </a:rPr>
              <a:t>(n=1)</a:t>
            </a:r>
            <a:r>
              <a:rPr lang="zh-CN" altLang="en-US" sz="2800" dirty="0">
                <a:latin typeface="+mn-ea"/>
              </a:rPr>
              <a:t>时同样通过随机的方法。可以说这也符合我们的直觉：聚类中心当然是互相离得越远越好。这个改进虽然直观简单，但是却非常得有效。</a:t>
            </a:r>
            <a:endParaRPr lang="zh-CN" altLang="en-US" sz="2800" dirty="0">
              <a:latin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j-ea"/>
              </a:rPr>
              <a:t>k-means</a:t>
            </a:r>
            <a:r>
              <a:rPr lang="zh-CN" altLang="en-US" dirty="0"/>
              <a:t>算法的改进与优化</a:t>
            </a:r>
            <a:endParaRPr lang="zh-CN" altLang="en-US" dirty="0"/>
          </a:p>
        </p:txBody>
      </p:sp>
      <p:sp>
        <p:nvSpPr>
          <p:cNvPr id="3" name="文本框 2"/>
          <p:cNvSpPr txBox="1"/>
          <p:nvPr/>
        </p:nvSpPr>
        <p:spPr>
          <a:xfrm>
            <a:off x="916617" y="1158731"/>
            <a:ext cx="10830205" cy="4616648"/>
          </a:xfrm>
          <a:prstGeom prst="rect">
            <a:avLst/>
          </a:prstGeom>
          <a:noFill/>
        </p:spPr>
        <p:txBody>
          <a:bodyPr wrap="square" rtlCol="0">
            <a:spAutoFit/>
          </a:bodyPr>
          <a:lstStyle/>
          <a:p>
            <a:pPr>
              <a:lnSpc>
                <a:spcPct val="150000"/>
              </a:lnSpc>
            </a:pPr>
            <a:r>
              <a:rPr lang="en-US" altLang="zh-CN" sz="2800" dirty="0">
                <a:latin typeface="+mj-ea"/>
                <a:ea typeface="+mj-ea"/>
              </a:rPr>
              <a:t>2  ISODATA</a:t>
            </a:r>
            <a:r>
              <a:rPr lang="zh-CN" altLang="en-US" sz="2800" dirty="0">
                <a:latin typeface="+mj-ea"/>
                <a:ea typeface="+mj-ea"/>
              </a:rPr>
              <a:t>算法</a:t>
            </a:r>
            <a:endParaRPr lang="zh-CN" altLang="en-US" sz="2800" dirty="0">
              <a:latin typeface="+mj-ea"/>
              <a:ea typeface="+mj-ea"/>
            </a:endParaRPr>
          </a:p>
          <a:p>
            <a:pPr>
              <a:lnSpc>
                <a:spcPct val="150000"/>
              </a:lnSpc>
            </a:pPr>
            <a:r>
              <a:rPr lang="en-US" altLang="zh-CN" sz="2800" dirty="0">
                <a:latin typeface="+mn-ea"/>
              </a:rPr>
              <a:t>ISODATA</a:t>
            </a:r>
            <a:r>
              <a:rPr lang="zh-CN" altLang="en-US" sz="2800" dirty="0">
                <a:latin typeface="+mn-ea"/>
              </a:rPr>
              <a:t>的全称是</a:t>
            </a:r>
            <a:r>
              <a:rPr lang="zh-CN" altLang="en-US" sz="2800" b="1" dirty="0">
                <a:latin typeface="+mn-ea"/>
              </a:rPr>
              <a:t>迭代自组织数据分析法</a:t>
            </a:r>
            <a:r>
              <a:rPr lang="zh-CN" altLang="en-US" sz="2800" dirty="0">
                <a:latin typeface="+mn-ea"/>
              </a:rPr>
              <a:t>。在</a:t>
            </a:r>
            <a:r>
              <a:rPr lang="en-US" altLang="zh-CN" sz="2800" dirty="0">
                <a:latin typeface="+mn-ea"/>
              </a:rPr>
              <a:t>k-means</a:t>
            </a:r>
            <a:r>
              <a:rPr lang="zh-CN" altLang="en-US" sz="2800" dirty="0">
                <a:latin typeface="+mn-ea"/>
              </a:rPr>
              <a:t>中，</a:t>
            </a:r>
            <a:r>
              <a:rPr lang="en-US" altLang="zh-CN" sz="2800" dirty="0">
                <a:latin typeface="+mn-ea"/>
              </a:rPr>
              <a:t>K</a:t>
            </a:r>
            <a:r>
              <a:rPr lang="zh-CN" altLang="en-US" sz="2800" dirty="0">
                <a:latin typeface="+mn-ea"/>
              </a:rPr>
              <a:t>的值需要预先人为地确定，并且在整个算法过程中无法更改。而当遇到高维度、海量的数据集时，人们往往很难准确地估计出</a:t>
            </a:r>
            <a:r>
              <a:rPr lang="en-US" altLang="zh-CN" sz="2800" dirty="0">
                <a:latin typeface="+mn-ea"/>
              </a:rPr>
              <a:t>K</a:t>
            </a:r>
            <a:r>
              <a:rPr lang="zh-CN" altLang="en-US" sz="2800" dirty="0">
                <a:latin typeface="+mn-ea"/>
              </a:rPr>
              <a:t>的大小。</a:t>
            </a:r>
            <a:r>
              <a:rPr lang="en-US" altLang="zh-CN" sz="2800" dirty="0">
                <a:latin typeface="+mn-ea"/>
              </a:rPr>
              <a:t>ISODATA</a:t>
            </a:r>
            <a:r>
              <a:rPr lang="zh-CN" altLang="en-US" sz="2800" dirty="0">
                <a:latin typeface="+mn-ea"/>
              </a:rPr>
              <a:t>就是针对这个问题进行了改进，它的思想也很直观：当属于某个类别的样本数过少时把这个类别去除，当属于某个类别的样本数过多、分散程度较大时把这个类别分为两个子类别。</a:t>
            </a:r>
            <a:endParaRPr lang="zh-CN" altLang="en-US" sz="2800" dirty="0">
              <a:latin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00766" y="518745"/>
            <a:ext cx="10972800" cy="643915"/>
          </a:xfrm>
        </p:spPr>
        <p:txBody>
          <a:bodyPr/>
          <a:lstStyle/>
          <a:p>
            <a:r>
              <a:rPr lang="zh-CN" altLang="en-US" sz="4000" dirty="0" smtClean="0">
                <a:solidFill>
                  <a:schemeClr val="accent1">
                    <a:lumMod val="75000"/>
                  </a:schemeClr>
                </a:solidFill>
              </a:rPr>
              <a:t>其他聚类算法</a:t>
            </a:r>
            <a:endParaRPr kumimoji="1" lang="zh-CN" altLang="en-US" sz="4000" dirty="0">
              <a:solidFill>
                <a:schemeClr val="accent1">
                  <a:lumMod val="75000"/>
                </a:schemeClr>
              </a:solidFill>
            </a:endParaRPr>
          </a:p>
        </p:txBody>
      </p:sp>
      <p:sp>
        <p:nvSpPr>
          <p:cNvPr id="2" name="内容占位符 1"/>
          <p:cNvSpPr>
            <a:spLocks noGrp="1"/>
          </p:cNvSpPr>
          <p:nvPr>
            <p:ph idx="4294967295"/>
          </p:nvPr>
        </p:nvSpPr>
        <p:spPr>
          <a:xfrm>
            <a:off x="256478" y="1406254"/>
            <a:ext cx="11261377" cy="4057844"/>
          </a:xfrm>
        </p:spPr>
        <p:txBody>
          <a:bodyPr/>
          <a:lstStyle/>
          <a:p>
            <a:pPr>
              <a:buClr>
                <a:schemeClr val="accent1">
                  <a:lumMod val="75000"/>
                </a:schemeClr>
              </a:buClr>
              <a:buFont typeface="+mj-lt"/>
              <a:buAutoNum type="arabicPeriod"/>
            </a:pPr>
            <a:r>
              <a:rPr lang="en-US" altLang="zh-CN" dirty="0" smtClean="0">
                <a:solidFill>
                  <a:schemeClr val="accent1">
                    <a:lumMod val="75000"/>
                  </a:schemeClr>
                </a:solidFill>
              </a:rPr>
              <a:t>K-</a:t>
            </a:r>
            <a:r>
              <a:rPr lang="zh-CN" altLang="en-US" dirty="0">
                <a:solidFill>
                  <a:schemeClr val="accent1">
                    <a:lumMod val="75000"/>
                  </a:schemeClr>
                </a:solidFill>
              </a:rPr>
              <a:t>中心点聚类</a:t>
            </a:r>
            <a:r>
              <a:rPr lang="en-US" altLang="zh-CN" dirty="0">
                <a:solidFill>
                  <a:schemeClr val="accent1">
                    <a:lumMod val="75000"/>
                  </a:schemeClr>
                </a:solidFill>
              </a:rPr>
              <a:t>(K-</a:t>
            </a:r>
            <a:r>
              <a:rPr lang="en-US" altLang="zh-CN" dirty="0" err="1">
                <a:solidFill>
                  <a:schemeClr val="accent1">
                    <a:lumMod val="75000"/>
                  </a:schemeClr>
                </a:solidFill>
              </a:rPr>
              <a:t>Medoids</a:t>
            </a:r>
            <a:r>
              <a:rPr lang="en-US" altLang="zh-CN" dirty="0">
                <a:solidFill>
                  <a:schemeClr val="accent1">
                    <a:lumMod val="75000"/>
                  </a:schemeClr>
                </a:solidFill>
              </a:rPr>
              <a:t>)</a:t>
            </a:r>
            <a:endParaRPr lang="en-US" altLang="zh-CN" dirty="0">
              <a:solidFill>
                <a:schemeClr val="accent1">
                  <a:lumMod val="75000"/>
                </a:schemeClr>
              </a:solidFill>
            </a:endParaRPr>
          </a:p>
          <a:p>
            <a:pPr>
              <a:buClr>
                <a:schemeClr val="accent1">
                  <a:lumMod val="75000"/>
                </a:schemeClr>
              </a:buClr>
              <a:buFont typeface="+mj-lt"/>
              <a:buAutoNum type="arabicPeriod"/>
            </a:pPr>
            <a:r>
              <a:rPr lang="zh-CN" altLang="en-US" dirty="0">
                <a:solidFill>
                  <a:schemeClr val="accent1">
                    <a:lumMod val="75000"/>
                  </a:schemeClr>
                </a:solidFill>
              </a:rPr>
              <a:t>密度聚类</a:t>
            </a:r>
            <a:r>
              <a:rPr lang="en-US" altLang="zh-CN" dirty="0">
                <a:solidFill>
                  <a:schemeClr val="accent1">
                    <a:lumMod val="75000"/>
                  </a:schemeClr>
                </a:solidFill>
              </a:rPr>
              <a:t>(</a:t>
            </a:r>
            <a:r>
              <a:rPr lang="en-US" altLang="zh-CN" dirty="0" err="1">
                <a:solidFill>
                  <a:schemeClr val="accent1">
                    <a:lumMod val="75000"/>
                  </a:schemeClr>
                </a:solidFill>
              </a:rPr>
              <a:t>Densit</a:t>
            </a:r>
            <a:r>
              <a:rPr lang="en-US" altLang="zh-CN" dirty="0">
                <a:solidFill>
                  <a:schemeClr val="accent1">
                    <a:lumMod val="75000"/>
                  </a:schemeClr>
                </a:solidFill>
              </a:rPr>
              <a:t>-based Spatial Clustering of Application with Noise, DBSCAN)</a:t>
            </a:r>
            <a:endParaRPr lang="en-US" altLang="zh-CN" dirty="0">
              <a:solidFill>
                <a:schemeClr val="accent1">
                  <a:lumMod val="75000"/>
                </a:schemeClr>
              </a:solidFill>
            </a:endParaRPr>
          </a:p>
          <a:p>
            <a:pPr>
              <a:buClr>
                <a:schemeClr val="accent1">
                  <a:lumMod val="75000"/>
                </a:schemeClr>
              </a:buClr>
              <a:buFont typeface="+mj-lt"/>
              <a:buAutoNum type="arabicPeriod"/>
            </a:pPr>
            <a:r>
              <a:rPr lang="zh-CN" altLang="en-US" dirty="0">
                <a:solidFill>
                  <a:schemeClr val="accent1">
                    <a:lumMod val="75000"/>
                  </a:schemeClr>
                </a:solidFill>
              </a:rPr>
              <a:t>层次聚类</a:t>
            </a:r>
            <a:r>
              <a:rPr lang="en-US" altLang="zh-CN" dirty="0">
                <a:solidFill>
                  <a:schemeClr val="accent1">
                    <a:lumMod val="75000"/>
                  </a:schemeClr>
                </a:solidFill>
              </a:rPr>
              <a:t>(</a:t>
            </a:r>
            <a:r>
              <a:rPr lang="zh-CN" altLang="en-US" dirty="0">
                <a:solidFill>
                  <a:schemeClr val="accent1">
                    <a:lumMod val="75000"/>
                  </a:schemeClr>
                </a:solidFill>
              </a:rPr>
              <a:t>系谱聚类 </a:t>
            </a:r>
            <a:r>
              <a:rPr lang="en-US" altLang="zh-CN" dirty="0">
                <a:solidFill>
                  <a:schemeClr val="accent1">
                    <a:lumMod val="75000"/>
                  </a:schemeClr>
                </a:solidFill>
              </a:rPr>
              <a:t>Hierarchical Clustering, HC)</a:t>
            </a:r>
            <a:endParaRPr lang="en-US" altLang="zh-CN" dirty="0">
              <a:solidFill>
                <a:schemeClr val="accent1">
                  <a:lumMod val="75000"/>
                </a:schemeClr>
              </a:solidFill>
            </a:endParaRPr>
          </a:p>
          <a:p>
            <a:pPr>
              <a:buClr>
                <a:schemeClr val="accent1">
                  <a:lumMod val="75000"/>
                </a:schemeClr>
              </a:buClr>
              <a:buFont typeface="+mj-lt"/>
              <a:buAutoNum type="arabicPeriod"/>
            </a:pPr>
            <a:r>
              <a:rPr lang="zh-CN" altLang="en-US" dirty="0">
                <a:solidFill>
                  <a:schemeClr val="accent1">
                    <a:lumMod val="75000"/>
                  </a:schemeClr>
                </a:solidFill>
              </a:rPr>
              <a:t>期望最大化聚类</a:t>
            </a:r>
            <a:r>
              <a:rPr lang="en-US" altLang="zh-CN" dirty="0">
                <a:solidFill>
                  <a:schemeClr val="accent1">
                    <a:lumMod val="75000"/>
                  </a:schemeClr>
                </a:solidFill>
              </a:rPr>
              <a:t>(Expectation Maximization, EM)</a:t>
            </a:r>
            <a:endParaRPr lang="en-US" altLang="zh-CN" dirty="0">
              <a:solidFill>
                <a:schemeClr val="accent1">
                  <a:lumMod val="75000"/>
                </a:schemeClr>
              </a:solidFill>
            </a:endParaRPr>
          </a:p>
          <a:p>
            <a:pPr marL="0" indent="0">
              <a:buNone/>
            </a:pPr>
            <a:r>
              <a:rPr lang="zh-CN" altLang="en-US" dirty="0" smtClean="0"/>
              <a:t>由于聚类是无监督学习方法，不同的聚类方法基于不同的假设和数据类型。由于数据通常可以以不同的角度进行归类，因此没有万能的通用聚类算法，并且每一种聚类算法都有其局限性和偏见性。</a:t>
            </a:r>
            <a:endParaRPr lang="zh-CN" altLang="en-US"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bject 49"/>
          <p:cNvSpPr txBox="1"/>
          <p:nvPr/>
        </p:nvSpPr>
        <p:spPr>
          <a:xfrm>
            <a:off x="1358023" y="6243841"/>
            <a:ext cx="9796712" cy="197490"/>
          </a:xfrm>
          <a:prstGeom prst="rect">
            <a:avLst/>
          </a:prstGeom>
        </p:spPr>
        <p:txBody>
          <a:bodyPr vert="horz" wrap="square" lIns="0" tIns="12700" rIns="0" bIns="0" rtlCol="0">
            <a:spAutoFit/>
          </a:bodyPr>
          <a:lstStyle/>
          <a:p>
            <a:pPr marL="12700" marR="5080">
              <a:spcBef>
                <a:spcPts val="100"/>
              </a:spcBef>
            </a:pPr>
            <a:r>
              <a:rPr sz="1200" b="1" spc="-25" dirty="0">
                <a:solidFill>
                  <a:srgbClr val="344B5E"/>
                </a:solidFill>
                <a:latin typeface="Trebuchet MS" panose="020B0603020202020204"/>
                <a:cs typeface="Trebuchet MS" panose="020B0603020202020204"/>
              </a:rPr>
              <a:t>Reference: </a:t>
            </a:r>
            <a:r>
              <a:rPr sz="1200" b="1" spc="-5" dirty="0">
                <a:solidFill>
                  <a:srgbClr val="344B5E"/>
                </a:solidFill>
                <a:latin typeface="Trebuchet MS" panose="020B0603020202020204"/>
                <a:cs typeface="Trebuchet MS" panose="020B0603020202020204"/>
              </a:rPr>
              <a:t>http://scikit-</a:t>
            </a:r>
            <a:r>
              <a:rPr sz="1200" b="1" dirty="0">
                <a:solidFill>
                  <a:srgbClr val="344B5E"/>
                </a:solidFill>
                <a:latin typeface="Trebuchet MS" panose="020B0603020202020204"/>
                <a:cs typeface="Trebuchet MS" panose="020B0603020202020204"/>
              </a:rPr>
              <a:t>learn.org/stable/auto_examples/cluster/p</a:t>
            </a:r>
            <a:r>
              <a:rPr sz="1200" b="1" spc="-10" dirty="0">
                <a:solidFill>
                  <a:srgbClr val="344B5E"/>
                </a:solidFill>
                <a:latin typeface="Trebuchet MS" panose="020B0603020202020204"/>
                <a:cs typeface="Trebuchet MS" panose="020B0603020202020204"/>
              </a:rPr>
              <a:t>lot_cluster_comparison.html</a:t>
            </a:r>
            <a:endParaRPr sz="1200" dirty="0">
              <a:latin typeface="Trebuchet MS" panose="020B0603020202020204"/>
              <a:cs typeface="Trebuchet MS" panose="020B0603020202020204"/>
            </a:endParaRPr>
          </a:p>
        </p:txBody>
      </p:sp>
      <p:sp>
        <p:nvSpPr>
          <p:cNvPr id="52" name="标题 51"/>
          <p:cNvSpPr>
            <a:spLocks noGrp="1"/>
          </p:cNvSpPr>
          <p:nvPr>
            <p:ph type="title"/>
          </p:nvPr>
        </p:nvSpPr>
        <p:spPr>
          <a:xfrm>
            <a:off x="453483" y="0"/>
            <a:ext cx="10972800" cy="680224"/>
          </a:xfrm>
        </p:spPr>
        <p:txBody>
          <a:bodyPr/>
          <a:lstStyle/>
          <a:p>
            <a:r>
              <a:rPr lang="zh-CN" altLang="en-US" dirty="0"/>
              <a:t>其他聚类算法</a:t>
            </a:r>
            <a:endParaRPr lang="zh-CN" altLang="en-US" dirty="0"/>
          </a:p>
        </p:txBody>
      </p:sp>
      <p:pic>
        <p:nvPicPr>
          <p:cNvPr id="53" name="图片 52"/>
          <p:cNvPicPr>
            <a:picLocks noChangeAspect="1"/>
          </p:cNvPicPr>
          <p:nvPr/>
        </p:nvPicPr>
        <p:blipFill>
          <a:blip r:embed="rId1" cstate="print"/>
          <a:stretch>
            <a:fillRect/>
          </a:stretch>
        </p:blipFill>
        <p:spPr>
          <a:xfrm>
            <a:off x="0" y="678681"/>
            <a:ext cx="12192000" cy="5442857"/>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上机练习</a:t>
            </a:r>
            <a:endParaRPr lang="zh-CN" altLang="en-US" dirty="0"/>
          </a:p>
        </p:txBody>
      </p:sp>
      <p:sp>
        <p:nvSpPr>
          <p:cNvPr id="7" name="矩形 6"/>
          <p:cNvSpPr/>
          <p:nvPr/>
        </p:nvSpPr>
        <p:spPr>
          <a:xfrm>
            <a:off x="1253108" y="835327"/>
            <a:ext cx="8967355" cy="4801314"/>
          </a:xfrm>
          <a:prstGeom prst="rect">
            <a:avLst/>
          </a:prstGeom>
        </p:spPr>
        <p:txBody>
          <a:bodyPr wrap="square">
            <a:spAutoFit/>
          </a:bodyPr>
          <a:lstStyle/>
          <a:p>
            <a:r>
              <a:rPr lang="en-US" altLang="zh-CN" dirty="0" smtClean="0"/>
              <a:t>1.</a:t>
            </a:r>
            <a:r>
              <a:rPr lang="zh-CN" altLang="en-US" dirty="0"/>
              <a:t>实现</a:t>
            </a:r>
            <a:r>
              <a:rPr lang="en-US" altLang="zh-CN" dirty="0" err="1"/>
              <a:t>Kmeans</a:t>
            </a:r>
            <a:r>
              <a:rPr lang="zh-CN" altLang="en-US" dirty="0"/>
              <a:t>算法，并对如下数据集进行聚类，要求：</a:t>
            </a:r>
            <a:endParaRPr lang="zh-CN" altLang="en-US" dirty="0"/>
          </a:p>
          <a:p>
            <a:r>
              <a:rPr lang="zh-CN" altLang="en-US" dirty="0"/>
              <a:t>（</a:t>
            </a:r>
            <a:r>
              <a:rPr lang="en-US" altLang="zh-CN" dirty="0"/>
              <a:t>1</a:t>
            </a:r>
            <a:r>
              <a:rPr lang="zh-CN" altLang="en-US" dirty="0"/>
              <a:t>）掌握</a:t>
            </a:r>
            <a:r>
              <a:rPr lang="en-US" altLang="zh-CN" dirty="0"/>
              <a:t>k-means</a:t>
            </a:r>
            <a:r>
              <a:rPr lang="zh-CN" altLang="en-US" dirty="0"/>
              <a:t>算法的实现过程；</a:t>
            </a:r>
            <a:endParaRPr lang="zh-CN" altLang="en-US" dirty="0"/>
          </a:p>
          <a:p>
            <a:r>
              <a:rPr lang="zh-CN" altLang="en-US" dirty="0"/>
              <a:t>（</a:t>
            </a:r>
            <a:r>
              <a:rPr lang="en-US" altLang="zh-CN" dirty="0"/>
              <a:t>2</a:t>
            </a:r>
            <a:r>
              <a:rPr lang="zh-CN" altLang="en-US" dirty="0"/>
              <a:t>）使用</a:t>
            </a:r>
            <a:r>
              <a:rPr lang="en-US" altLang="zh-CN" dirty="0"/>
              <a:t>k-means</a:t>
            </a:r>
            <a:r>
              <a:rPr lang="zh-CN" altLang="en-US" dirty="0"/>
              <a:t>算法对下表中的</a:t>
            </a:r>
            <a:r>
              <a:rPr lang="en-US" altLang="zh-CN" dirty="0"/>
              <a:t>5</a:t>
            </a:r>
            <a:r>
              <a:rPr lang="zh-CN" altLang="en-US" dirty="0"/>
              <a:t>个样本进行聚类（</a:t>
            </a:r>
            <a:r>
              <a:rPr lang="en-US" altLang="zh-CN" dirty="0"/>
              <a:t>k=2</a:t>
            </a:r>
            <a:r>
              <a:rPr lang="zh-CN" altLang="en-US" dirty="0"/>
              <a:t>以及</a:t>
            </a:r>
            <a:r>
              <a:rPr lang="en-US" altLang="zh-CN" dirty="0"/>
              <a:t>k=3</a:t>
            </a:r>
            <a:r>
              <a:rPr lang="zh-CN" altLang="en-US" dirty="0"/>
              <a:t>）。</a:t>
            </a:r>
            <a:endParaRPr lang="zh-CN" altLang="en-US" dirty="0"/>
          </a:p>
          <a:p>
            <a:endParaRPr lang="en-US" altLang="zh-CN" dirty="0"/>
          </a:p>
          <a:p>
            <a:r>
              <a:rPr lang="en-US" altLang="zh-CN" dirty="0"/>
              <a:t>2.</a:t>
            </a:r>
            <a:r>
              <a:rPr lang="zh-CN" altLang="en-US" dirty="0"/>
              <a:t>使用</a:t>
            </a:r>
            <a:r>
              <a:rPr lang="en-US" altLang="zh-CN" dirty="0"/>
              <a:t>iris</a:t>
            </a:r>
            <a:r>
              <a:rPr lang="zh-CN" altLang="en-US" dirty="0"/>
              <a:t>数据集进行聚类分析（文件名为</a:t>
            </a:r>
            <a:r>
              <a:rPr lang="en-US" altLang="zh-CN" dirty="0" err="1"/>
              <a:t>iris_km</a:t>
            </a:r>
            <a:r>
              <a:rPr lang="en-US" altLang="zh-CN" dirty="0"/>
              <a:t>)</a:t>
            </a:r>
            <a:r>
              <a:rPr lang="zh-CN" altLang="en-US" dirty="0"/>
              <a:t>，要求：</a:t>
            </a:r>
            <a:endParaRPr lang="zh-CN" altLang="en-US" dirty="0"/>
          </a:p>
          <a:p>
            <a:r>
              <a:rPr lang="zh-CN" altLang="en-US" dirty="0"/>
              <a:t>（</a:t>
            </a:r>
            <a:r>
              <a:rPr lang="en-US" altLang="zh-CN" dirty="0"/>
              <a:t>1</a:t>
            </a:r>
            <a:r>
              <a:rPr lang="zh-CN" altLang="en-US" dirty="0"/>
              <a:t>）使用</a:t>
            </a:r>
            <a:r>
              <a:rPr lang="en-US" altLang="zh-CN" dirty="0" err="1"/>
              <a:t>Sklearn</a:t>
            </a:r>
            <a:r>
              <a:rPr lang="zh-CN" altLang="en-US" dirty="0"/>
              <a:t>库的</a:t>
            </a:r>
            <a:r>
              <a:rPr lang="en-US" altLang="zh-CN" dirty="0" err="1"/>
              <a:t>Kmeans</a:t>
            </a:r>
            <a:r>
              <a:rPr lang="zh-CN" altLang="en-US" dirty="0"/>
              <a:t>算法进行聚类，类别数目为</a:t>
            </a:r>
            <a:r>
              <a:rPr lang="en-US" altLang="zh-CN" dirty="0"/>
              <a:t>3</a:t>
            </a:r>
            <a:r>
              <a:rPr lang="zh-CN" altLang="en-US" dirty="0"/>
              <a:t>；</a:t>
            </a:r>
            <a:endParaRPr lang="zh-CN" altLang="en-US" dirty="0"/>
          </a:p>
          <a:p>
            <a:r>
              <a:rPr lang="zh-CN" altLang="en-US" dirty="0"/>
              <a:t>（</a:t>
            </a:r>
            <a:r>
              <a:rPr lang="en-US" altLang="zh-CN" dirty="0"/>
              <a:t>2</a:t>
            </a:r>
            <a:r>
              <a:rPr lang="zh-CN" altLang="en-US" dirty="0"/>
              <a:t>）使用</a:t>
            </a:r>
            <a:r>
              <a:rPr lang="en-US" altLang="zh-CN" dirty="0"/>
              <a:t>PCA</a:t>
            </a:r>
            <a:r>
              <a:rPr lang="zh-CN" altLang="en-US" dirty="0"/>
              <a:t>对数据进行降维；</a:t>
            </a:r>
            <a:endParaRPr lang="zh-CN" altLang="en-US" dirty="0"/>
          </a:p>
          <a:p>
            <a:r>
              <a:rPr lang="zh-CN" altLang="en-US" dirty="0"/>
              <a:t>（</a:t>
            </a:r>
            <a:r>
              <a:rPr lang="en-US" altLang="zh-CN" dirty="0"/>
              <a:t>3</a:t>
            </a:r>
            <a:r>
              <a:rPr lang="zh-CN" altLang="en-US" dirty="0"/>
              <a:t>）对原始数据和聚类结果进行可视化比较。</a:t>
            </a:r>
            <a:endParaRPr lang="zh-CN" altLang="en-US" dirty="0"/>
          </a:p>
          <a:p>
            <a:endParaRPr lang="zh-CN" altLang="en-US" dirty="0"/>
          </a:p>
          <a:p>
            <a:r>
              <a:rPr lang="en-US" altLang="zh-CN" dirty="0"/>
              <a:t>3.</a:t>
            </a:r>
            <a:r>
              <a:rPr lang="zh-CN" altLang="en-US" dirty="0"/>
              <a:t>使用</a:t>
            </a:r>
            <a:r>
              <a:rPr lang="en-US" altLang="zh-CN" dirty="0" err="1"/>
              <a:t>Kmeans</a:t>
            </a:r>
            <a:r>
              <a:rPr lang="zh-CN" altLang="en-US" dirty="0"/>
              <a:t>算法对给定的二维度数据集（</a:t>
            </a:r>
            <a:r>
              <a:rPr lang="en-US" altLang="zh-CN" dirty="0"/>
              <a:t>TESTDATA.TXT</a:t>
            </a:r>
            <a:r>
              <a:rPr lang="zh-CN" altLang="en-US" dirty="0"/>
              <a:t>）进行聚类分析（类别自定或</a:t>
            </a:r>
            <a:r>
              <a:rPr lang="en-US" altLang="zh-CN" dirty="0"/>
              <a:t>K=4</a:t>
            </a:r>
            <a:r>
              <a:rPr lang="zh-CN" altLang="en-US" dirty="0"/>
              <a:t>），要求：</a:t>
            </a:r>
            <a:endParaRPr lang="zh-CN" altLang="en-US" dirty="0"/>
          </a:p>
          <a:p>
            <a:r>
              <a:rPr lang="zh-CN" altLang="en-US" dirty="0"/>
              <a:t>（</a:t>
            </a:r>
            <a:r>
              <a:rPr lang="en-US" altLang="zh-CN" dirty="0"/>
              <a:t>1</a:t>
            </a:r>
            <a:r>
              <a:rPr lang="zh-CN" altLang="en-US" dirty="0"/>
              <a:t>）根据算法流程，手动实现</a:t>
            </a:r>
            <a:r>
              <a:rPr lang="en-US" altLang="zh-CN" dirty="0" err="1"/>
              <a:t>Kmeans</a:t>
            </a:r>
            <a:r>
              <a:rPr lang="zh-CN" altLang="en-US" dirty="0"/>
              <a:t>算法；</a:t>
            </a:r>
            <a:endParaRPr lang="zh-CN" altLang="en-US" dirty="0"/>
          </a:p>
          <a:p>
            <a:r>
              <a:rPr lang="zh-CN" altLang="en-US" dirty="0"/>
              <a:t>（</a:t>
            </a:r>
            <a:r>
              <a:rPr lang="en-US" altLang="zh-CN" dirty="0"/>
              <a:t>2</a:t>
            </a:r>
            <a:r>
              <a:rPr lang="zh-CN" altLang="en-US" dirty="0"/>
              <a:t>）调用</a:t>
            </a:r>
            <a:r>
              <a:rPr lang="en-US" altLang="zh-CN" dirty="0" err="1"/>
              <a:t>sklearn</a:t>
            </a:r>
            <a:r>
              <a:rPr lang="zh-CN" altLang="en-US" dirty="0"/>
              <a:t>中聚类算法，对给定数据集进行聚类分析；</a:t>
            </a:r>
            <a:endParaRPr lang="zh-CN" altLang="en-US" dirty="0"/>
          </a:p>
          <a:p>
            <a:r>
              <a:rPr lang="zh-CN" altLang="en-US" dirty="0"/>
              <a:t>（</a:t>
            </a:r>
            <a:r>
              <a:rPr lang="en-US" altLang="zh-CN" dirty="0"/>
              <a:t>3</a:t>
            </a:r>
            <a:r>
              <a:rPr lang="zh-CN" altLang="en-US" dirty="0"/>
              <a:t>）对比上述两种</a:t>
            </a:r>
            <a:r>
              <a:rPr lang="en-US" altLang="zh-CN" dirty="0" err="1"/>
              <a:t>Kmeans</a:t>
            </a:r>
            <a:r>
              <a:rPr lang="zh-CN" altLang="en-US" dirty="0"/>
              <a:t>算法的聚类效果。</a:t>
            </a:r>
            <a:endParaRPr lang="zh-CN" altLang="en-US" dirty="0"/>
          </a:p>
          <a:p>
            <a:endParaRPr lang="zh-CN" altLang="en-US" dirty="0"/>
          </a:p>
          <a:p>
            <a:r>
              <a:rPr lang="en-US" altLang="zh-CN" dirty="0"/>
              <a:t>4.</a:t>
            </a:r>
            <a:r>
              <a:rPr lang="zh-CN" altLang="en-US" dirty="0"/>
              <a:t>调用</a:t>
            </a:r>
            <a:r>
              <a:rPr lang="en-US" altLang="zh-CN" dirty="0" err="1"/>
              <a:t>sklearn</a:t>
            </a:r>
            <a:r>
              <a:rPr lang="zh-CN" altLang="en-US" dirty="0"/>
              <a:t>中手写字体数据集（每个样本</a:t>
            </a:r>
            <a:r>
              <a:rPr lang="en-US" altLang="zh-CN" dirty="0"/>
              <a:t>64</a:t>
            </a:r>
            <a:r>
              <a:rPr lang="zh-CN" altLang="en-US" dirty="0"/>
              <a:t>维），使用</a:t>
            </a:r>
            <a:r>
              <a:rPr lang="en-US" altLang="zh-CN" dirty="0" err="1"/>
              <a:t>kmeans</a:t>
            </a:r>
            <a:r>
              <a:rPr lang="zh-CN" altLang="en-US" dirty="0"/>
              <a:t>进行聚类，将聚类结果作为分类结果，对比真实标签，计算分类精度（可以手动查看聚类标签）</a:t>
            </a:r>
            <a:endParaRPr lang="zh-CN" altLang="en-US" dirty="0"/>
          </a:p>
        </p:txBody>
      </p:sp>
      <p:graphicFrame>
        <p:nvGraphicFramePr>
          <p:cNvPr id="8" name="表格 7"/>
          <p:cNvGraphicFramePr>
            <a:graphicFrameLocks noGrp="1"/>
          </p:cNvGraphicFramePr>
          <p:nvPr/>
        </p:nvGraphicFramePr>
        <p:xfrm>
          <a:off x="8447809" y="536468"/>
          <a:ext cx="2039764" cy="1668780"/>
        </p:xfrm>
        <a:graphic>
          <a:graphicData uri="http://schemas.openxmlformats.org/drawingml/2006/table">
            <a:tbl>
              <a:tblPr firstRow="1" firstCol="1" bandRow="1"/>
              <a:tblGrid>
                <a:gridCol w="727364"/>
                <a:gridCol w="631912"/>
                <a:gridCol w="680488"/>
              </a:tblGrid>
              <a:tr h="149908">
                <a:tc>
                  <a:txBody>
                    <a:bodyPr/>
                    <a:lstStyle/>
                    <a:p>
                      <a:r>
                        <a:rPr lang="zh-CN" sz="1050" b="1">
                          <a:solidFill>
                            <a:srgbClr val="FFFFFF"/>
                          </a:solidFill>
                          <a:effectLst/>
                          <a:latin typeface="Times New Roman" panose="02020603050405020304" pitchFamily="18" charset="0"/>
                          <a:ea typeface="宋体" panose="02010600030101010101" pitchFamily="2" charset="-122"/>
                        </a:rPr>
                        <a:t>样本编号</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BB2E1"/>
                    </a:solidFill>
                  </a:tcPr>
                </a:tc>
                <a:tc>
                  <a:txBody>
                    <a:bodyPr/>
                    <a:lstStyle/>
                    <a:p>
                      <a:r>
                        <a:rPr lang="zh-CN" sz="1050" b="1">
                          <a:solidFill>
                            <a:srgbClr val="FFFFFF"/>
                          </a:solidFill>
                          <a:effectLst/>
                          <a:latin typeface="Times New Roman" panose="02020603050405020304" pitchFamily="18" charset="0"/>
                          <a:ea typeface="宋体" panose="02010600030101010101" pitchFamily="2" charset="-122"/>
                        </a:rPr>
                        <a:t>身高（</a:t>
                      </a:r>
                      <a:r>
                        <a:rPr lang="en-US" sz="1050" b="1">
                          <a:solidFill>
                            <a:srgbClr val="FFFFFF"/>
                          </a:solidFill>
                          <a:effectLst/>
                          <a:latin typeface="Times New Roman" panose="02020603050405020304" pitchFamily="18" charset="0"/>
                          <a:ea typeface="宋体" panose="02010600030101010101" pitchFamily="2" charset="-122"/>
                        </a:rPr>
                        <a:t>cm</a:t>
                      </a:r>
                      <a:r>
                        <a:rPr lang="zh-CN" sz="1050" b="1">
                          <a:solidFill>
                            <a:srgbClr val="FFFFFF"/>
                          </a:solidFill>
                          <a:effectLst/>
                          <a:latin typeface="Times New Roman" panose="02020603050405020304" pitchFamily="18" charset="0"/>
                          <a:ea typeface="宋体" panose="02010600030101010101" pitchFamily="2" charset="-122"/>
                        </a:rPr>
                        <a:t>）</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BB2E1"/>
                    </a:solidFill>
                  </a:tcPr>
                </a:tc>
                <a:tc>
                  <a:txBody>
                    <a:bodyPr/>
                    <a:lstStyle/>
                    <a:p>
                      <a:r>
                        <a:rPr lang="zh-CN" sz="1050" b="1">
                          <a:solidFill>
                            <a:srgbClr val="FFFFFF"/>
                          </a:solidFill>
                          <a:effectLst/>
                          <a:latin typeface="Times New Roman" panose="02020603050405020304" pitchFamily="18" charset="0"/>
                          <a:ea typeface="宋体" panose="02010600030101010101" pitchFamily="2" charset="-122"/>
                        </a:rPr>
                        <a:t>体重（</a:t>
                      </a:r>
                      <a:r>
                        <a:rPr lang="en-US" sz="1050" b="1">
                          <a:solidFill>
                            <a:srgbClr val="FFFFFF"/>
                          </a:solidFill>
                          <a:effectLst/>
                          <a:latin typeface="Times New Roman" panose="02020603050405020304" pitchFamily="18" charset="0"/>
                          <a:ea typeface="宋体" panose="02010600030101010101" pitchFamily="2" charset="-122"/>
                        </a:rPr>
                        <a:t>kg</a:t>
                      </a:r>
                      <a:r>
                        <a:rPr lang="zh-CN" sz="1050" b="1">
                          <a:solidFill>
                            <a:srgbClr val="FFFFFF"/>
                          </a:solidFill>
                          <a:effectLst/>
                          <a:latin typeface="Times New Roman" panose="02020603050405020304" pitchFamily="18" charset="0"/>
                          <a:ea typeface="宋体" panose="02010600030101010101" pitchFamily="2" charset="-122"/>
                        </a:rPr>
                        <a:t>）</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BB2E1"/>
                    </a:solidFill>
                  </a:tcPr>
                </a:tc>
              </a:tr>
              <a:tr h="174514">
                <a:tc>
                  <a:txBody>
                    <a:bodyPr/>
                    <a:lstStyle/>
                    <a:p>
                      <a:r>
                        <a:rPr lang="en-US" sz="1050">
                          <a:solidFill>
                            <a:srgbClr val="000000"/>
                          </a:solidFill>
                          <a:effectLst/>
                          <a:latin typeface="Times New Roman" panose="02020603050405020304" pitchFamily="18" charset="0"/>
                          <a:ea typeface="宋体" panose="02010600030101010101" pitchFamily="2" charset="-122"/>
                        </a:rPr>
                        <a:t>A</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E4F4"/>
                    </a:solidFill>
                  </a:tcPr>
                </a:tc>
                <a:tc>
                  <a:txBody>
                    <a:bodyPr/>
                    <a:lstStyle/>
                    <a:p>
                      <a:r>
                        <a:rPr lang="en-US" sz="1050">
                          <a:solidFill>
                            <a:srgbClr val="000000"/>
                          </a:solidFill>
                          <a:effectLst/>
                          <a:latin typeface="Times New Roman" panose="02020603050405020304" pitchFamily="18" charset="0"/>
                          <a:ea typeface="宋体" panose="02010600030101010101" pitchFamily="2" charset="-122"/>
                        </a:rPr>
                        <a:t>170</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E4F4"/>
                    </a:solidFill>
                  </a:tcPr>
                </a:tc>
                <a:tc>
                  <a:txBody>
                    <a:bodyPr/>
                    <a:lstStyle/>
                    <a:p>
                      <a:r>
                        <a:rPr lang="en-US" sz="1050">
                          <a:solidFill>
                            <a:srgbClr val="000000"/>
                          </a:solidFill>
                          <a:effectLst/>
                          <a:latin typeface="Times New Roman" panose="02020603050405020304" pitchFamily="18" charset="0"/>
                          <a:ea typeface="宋体" panose="02010600030101010101" pitchFamily="2" charset="-122"/>
                        </a:rPr>
                        <a:t>70</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E4F4"/>
                    </a:solidFill>
                  </a:tcPr>
                </a:tc>
              </a:tr>
              <a:tr h="161265">
                <a:tc>
                  <a:txBody>
                    <a:bodyPr/>
                    <a:lstStyle/>
                    <a:p>
                      <a:r>
                        <a:rPr lang="en-US" sz="1050">
                          <a:solidFill>
                            <a:srgbClr val="000000"/>
                          </a:solidFill>
                          <a:effectLst/>
                          <a:latin typeface="Times New Roman" panose="02020603050405020304" pitchFamily="18" charset="0"/>
                          <a:ea typeface="宋体" panose="02010600030101010101" pitchFamily="2" charset="-122"/>
                        </a:rPr>
                        <a:t>B</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F2F9"/>
                    </a:solidFill>
                  </a:tcPr>
                </a:tc>
                <a:tc>
                  <a:txBody>
                    <a:bodyPr/>
                    <a:lstStyle/>
                    <a:p>
                      <a:r>
                        <a:rPr lang="en-US" sz="1050">
                          <a:solidFill>
                            <a:srgbClr val="000000"/>
                          </a:solidFill>
                          <a:effectLst/>
                          <a:latin typeface="Times New Roman" panose="02020603050405020304" pitchFamily="18" charset="0"/>
                          <a:ea typeface="宋体" panose="02010600030101010101" pitchFamily="2" charset="-122"/>
                        </a:rPr>
                        <a:t>178</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F2F9"/>
                    </a:solidFill>
                  </a:tcPr>
                </a:tc>
                <a:tc>
                  <a:txBody>
                    <a:bodyPr/>
                    <a:lstStyle/>
                    <a:p>
                      <a:r>
                        <a:rPr lang="en-US" sz="1050">
                          <a:solidFill>
                            <a:srgbClr val="000000"/>
                          </a:solidFill>
                          <a:effectLst/>
                          <a:latin typeface="Times New Roman" panose="02020603050405020304" pitchFamily="18" charset="0"/>
                          <a:ea typeface="宋体" panose="02010600030101010101" pitchFamily="2" charset="-122"/>
                        </a:rPr>
                        <a:t>75</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F2F9"/>
                    </a:solidFill>
                  </a:tcPr>
                </a:tc>
              </a:tr>
              <a:tr h="192685">
                <a:tc>
                  <a:txBody>
                    <a:bodyPr/>
                    <a:lstStyle/>
                    <a:p>
                      <a:r>
                        <a:rPr lang="en-US" sz="1050">
                          <a:solidFill>
                            <a:srgbClr val="000000"/>
                          </a:solidFill>
                          <a:effectLst/>
                          <a:latin typeface="Times New Roman" panose="02020603050405020304" pitchFamily="18" charset="0"/>
                          <a:ea typeface="宋体" panose="02010600030101010101" pitchFamily="2" charset="-122"/>
                        </a:rPr>
                        <a:t>C</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E4F4"/>
                    </a:solidFill>
                  </a:tcPr>
                </a:tc>
                <a:tc>
                  <a:txBody>
                    <a:bodyPr/>
                    <a:lstStyle/>
                    <a:p>
                      <a:r>
                        <a:rPr lang="en-US" sz="1050">
                          <a:solidFill>
                            <a:srgbClr val="000000"/>
                          </a:solidFill>
                          <a:effectLst/>
                          <a:latin typeface="Times New Roman" panose="02020603050405020304" pitchFamily="18" charset="0"/>
                          <a:ea typeface="宋体" panose="02010600030101010101" pitchFamily="2" charset="-122"/>
                        </a:rPr>
                        <a:t>100</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E4F4"/>
                    </a:solidFill>
                  </a:tcPr>
                </a:tc>
                <a:tc>
                  <a:txBody>
                    <a:bodyPr/>
                    <a:lstStyle/>
                    <a:p>
                      <a:r>
                        <a:rPr lang="en-US" sz="1050">
                          <a:solidFill>
                            <a:srgbClr val="000000"/>
                          </a:solidFill>
                          <a:effectLst/>
                          <a:latin typeface="Times New Roman" panose="02020603050405020304" pitchFamily="18" charset="0"/>
                          <a:ea typeface="宋体" panose="02010600030101010101" pitchFamily="2" charset="-122"/>
                        </a:rPr>
                        <a:t>100</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E4F4"/>
                    </a:solidFill>
                  </a:tcPr>
                </a:tc>
              </a:tr>
              <a:tr h="153694">
                <a:tc>
                  <a:txBody>
                    <a:bodyPr/>
                    <a:lstStyle/>
                    <a:p>
                      <a:r>
                        <a:rPr lang="en-US" sz="1050">
                          <a:solidFill>
                            <a:srgbClr val="000000"/>
                          </a:solidFill>
                          <a:effectLst/>
                          <a:latin typeface="Times New Roman" panose="02020603050405020304" pitchFamily="18" charset="0"/>
                          <a:ea typeface="宋体" panose="02010600030101010101" pitchFamily="2" charset="-122"/>
                        </a:rPr>
                        <a:t>D</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F2F9"/>
                    </a:solidFill>
                  </a:tcPr>
                </a:tc>
                <a:tc>
                  <a:txBody>
                    <a:bodyPr/>
                    <a:lstStyle/>
                    <a:p>
                      <a:r>
                        <a:rPr lang="en-US" sz="1050">
                          <a:solidFill>
                            <a:srgbClr val="000000"/>
                          </a:solidFill>
                          <a:effectLst/>
                          <a:latin typeface="Times New Roman" panose="02020603050405020304" pitchFamily="18" charset="0"/>
                          <a:ea typeface="宋体" panose="02010600030101010101" pitchFamily="2" charset="-122"/>
                        </a:rPr>
                        <a:t>120</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F2F9"/>
                    </a:solidFill>
                  </a:tcPr>
                </a:tc>
                <a:tc>
                  <a:txBody>
                    <a:bodyPr/>
                    <a:lstStyle/>
                    <a:p>
                      <a:r>
                        <a:rPr lang="en-US" sz="1050">
                          <a:solidFill>
                            <a:srgbClr val="000000"/>
                          </a:solidFill>
                          <a:effectLst/>
                          <a:latin typeface="Times New Roman" panose="02020603050405020304" pitchFamily="18" charset="0"/>
                          <a:ea typeface="宋体" panose="02010600030101010101" pitchFamily="2" charset="-122"/>
                        </a:rPr>
                        <a:t>40</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F2F9"/>
                    </a:solidFill>
                  </a:tcPr>
                </a:tc>
              </a:tr>
              <a:tr h="203663">
                <a:tc>
                  <a:txBody>
                    <a:bodyPr/>
                    <a:lstStyle/>
                    <a:p>
                      <a:r>
                        <a:rPr lang="en-US" sz="1050">
                          <a:solidFill>
                            <a:srgbClr val="000000"/>
                          </a:solidFill>
                          <a:effectLst/>
                          <a:latin typeface="Times New Roman" panose="02020603050405020304" pitchFamily="18" charset="0"/>
                          <a:ea typeface="宋体" panose="02010600030101010101" pitchFamily="2" charset="-122"/>
                        </a:rPr>
                        <a:t>E</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4E4F4"/>
                    </a:solidFill>
                  </a:tcPr>
                </a:tc>
                <a:tc>
                  <a:txBody>
                    <a:bodyPr/>
                    <a:lstStyle/>
                    <a:p>
                      <a:r>
                        <a:rPr lang="en-US" sz="1050">
                          <a:solidFill>
                            <a:srgbClr val="000000"/>
                          </a:solidFill>
                          <a:effectLst/>
                          <a:latin typeface="Times New Roman" panose="02020603050405020304" pitchFamily="18" charset="0"/>
                          <a:ea typeface="宋体" panose="02010600030101010101" pitchFamily="2" charset="-122"/>
                        </a:rPr>
                        <a:t>10</a:t>
                      </a:r>
                      <a:endParaRPr lang="zh-CN" sz="100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4E4F4"/>
                    </a:solidFill>
                  </a:tcPr>
                </a:tc>
                <a:tc>
                  <a:txBody>
                    <a:bodyPr/>
                    <a:lstStyle/>
                    <a:p>
                      <a:r>
                        <a:rPr lang="en-US" sz="1050" dirty="0">
                          <a:solidFill>
                            <a:srgbClr val="000000"/>
                          </a:solidFill>
                          <a:effectLst/>
                          <a:latin typeface="Times New Roman" panose="02020603050405020304" pitchFamily="18" charset="0"/>
                          <a:ea typeface="宋体" panose="02010600030101010101" pitchFamily="2" charset="-122"/>
                        </a:rPr>
                        <a:t>0.1</a:t>
                      </a:r>
                      <a:endParaRPr lang="zh-CN" sz="1000" dirty="0">
                        <a:effectLst/>
                        <a:latin typeface="Times New Roman" panose="02020603050405020304" pitchFamily="18" charset="0"/>
                        <a:ea typeface="宋体"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4E4F4"/>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矩形 103"/>
          <p:cNvSpPr>
            <a:spLocks noChangeArrowheads="1"/>
          </p:cNvSpPr>
          <p:nvPr/>
        </p:nvSpPr>
        <p:spPr bwMode="auto">
          <a:xfrm>
            <a:off x="0" y="1998889"/>
            <a:ext cx="12190413" cy="2168525"/>
          </a:xfrm>
          <a:prstGeom prst="rect">
            <a:avLst/>
          </a:prstGeom>
          <a:solidFill>
            <a:srgbClr val="006EBC"/>
          </a:solidFill>
          <a:ln>
            <a:solidFill>
              <a:srgbClr val="006EBC"/>
            </a:solidFill>
          </a:ln>
          <a:effectLst>
            <a:outerShdw blurRad="50800" dist="38100" dir="5400000" algn="t" rotWithShape="0">
              <a:srgbClr val="000000">
                <a:alpha val="0"/>
              </a:srgbClr>
            </a:outerShdw>
          </a:effectLst>
        </p:spPr>
        <p:txBody>
          <a:bodyPr anchor="ctr"/>
          <a:lstStyle/>
          <a:p>
            <a:pPr algn="ctr">
              <a:defRPr/>
            </a:pPr>
            <a:endParaRPr lang="zh-CN" altLang="en-US" sz="715" dirty="0">
              <a:solidFill>
                <a:schemeClr val="bg1"/>
              </a:solidFill>
              <a:latin typeface="Calibri" panose="020F0502020204030204"/>
              <a:ea typeface="宋体" panose="02010600030101010101" pitchFamily="2" charset="-122"/>
              <a:cs typeface="宋体" panose="02010600030101010101" pitchFamily="2" charset="-122"/>
            </a:endParaRPr>
          </a:p>
        </p:txBody>
      </p:sp>
      <p:sp>
        <p:nvSpPr>
          <p:cNvPr id="106" name="Title 1"/>
          <p:cNvSpPr txBox="1"/>
          <p:nvPr/>
        </p:nvSpPr>
        <p:spPr>
          <a:xfrm>
            <a:off x="5003888" y="1577696"/>
            <a:ext cx="7082051" cy="1950822"/>
          </a:xfrm>
          <a:prstGeom prst="rect">
            <a:avLst/>
          </a:prstGeom>
        </p:spPr>
        <p:txBody>
          <a:bodyPr lIns="68580" tIns="34290" rIns="68580" bIns="34290" anchor="b"/>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anose="020B0503020204020204" pitchFamily="34" charset="-122"/>
                <a:ea typeface="微软雅黑" panose="020B0503020204020204" pitchFamily="34" charset="-122"/>
                <a:cs typeface="+mn-cs"/>
              </a:defRPr>
            </a:lvl1pPr>
          </a:lstStyle>
          <a:p>
            <a:pPr>
              <a:defRPr/>
            </a:pPr>
            <a:r>
              <a:rPr altLang="zh-CN" sz="6600">
                <a:ln>
                  <a:solidFill>
                    <a:schemeClr val="bg1"/>
                  </a:solidFill>
                </a:ln>
                <a:effectLst>
                  <a:reflection blurRad="6350" stA="50000" endA="300" endPos="50000" dist="29997" dir="5400000" sy="-100000" algn="bl" rotWithShape="0"/>
                </a:effectLst>
              </a:rPr>
              <a:t>Thank you!</a:t>
            </a:r>
            <a:endParaRPr lang="zh-CN" altLang="en-US" sz="6600">
              <a:ln>
                <a:solidFill>
                  <a:schemeClr val="bg1"/>
                </a:solidFill>
              </a:ln>
              <a:effectLst>
                <a:reflection blurRad="6350" stA="50000" endA="300" endPos="50000" dist="29997" dir="5400000" sy="-100000" algn="bl" rotWithShape="0"/>
              </a:effectLst>
            </a:endParaRPr>
          </a:p>
        </p:txBody>
      </p:sp>
      <p:pic>
        <p:nvPicPr>
          <p:cNvPr id="107" name="图片 106" descr="AW视觉符号.jpg"/>
          <p:cNvPicPr>
            <a:picLocks noChangeAspect="1"/>
          </p:cNvPicPr>
          <p:nvPr/>
        </p:nvPicPr>
        <p:blipFill>
          <a:blip r:embed="rId1" cstate="print"/>
          <a:stretch>
            <a:fillRect/>
          </a:stretch>
        </p:blipFill>
        <p:spPr>
          <a:xfrm>
            <a:off x="202395" y="2277202"/>
            <a:ext cx="4697019"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PA" val="v4.1.3"/>
</p:tagLst>
</file>

<file path=ppt/tags/tag3.xml><?xml version="1.0" encoding="utf-8"?>
<p:tagLst xmlns:p="http://schemas.openxmlformats.org/presentationml/2006/main">
  <p:tag name="PA" val="v4.1.3"/>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PA" val="v4.1.3"/>
</p:tagLst>
</file>

<file path=ppt/tags/tag6.xml><?xml version="1.0" encoding="utf-8"?>
<p:tagLst xmlns:p="http://schemas.openxmlformats.org/presentationml/2006/main">
  <p:tag name="PA" val="v4.1.3"/>
</p:tagLst>
</file>

<file path=ppt/tags/tag7.xml><?xml version="1.0" encoding="utf-8"?>
<p:tagLst xmlns:p="http://schemas.openxmlformats.org/presentationml/2006/main">
  <p:tag name="PA" val="v4.1.3"/>
</p:tagLst>
</file>

<file path=ppt/tags/tag8.xml><?xml version="1.0" encoding="utf-8"?>
<p:tagLst xmlns:p="http://schemas.openxmlformats.org/presentationml/2006/main">
  <p:tag name="PA" val="v4.1.3"/>
</p:tagLst>
</file>

<file path=ppt/tags/tag9.xml><?xml version="1.0" encoding="utf-8"?>
<p:tagLst xmlns:p="http://schemas.openxmlformats.org/presentationml/2006/main">
  <p:tag name="PA" val="v4.1.3"/>
</p:tagLst>
</file>

<file path=ppt/tags/tag10.xml><?xml version="1.0" encoding="utf-8"?>
<p:tagLst xmlns:p="http://schemas.openxmlformats.org/presentationml/2006/main">
  <p:tag name="PA" val="v4.1.3"/>
</p:tagLst>
</file>

<file path=ppt/tags/tag11.xml><?xml version="1.0" encoding="utf-8"?>
<p:tagLst xmlns:p="http://schemas.openxmlformats.org/presentationml/2006/main">
  <p:tag name="ISLIDE.ADDREMOVEWATERMARK" val="TSZ3HzpXfZ"/>
</p:tagLst>
</file>

<file path=ppt/tags/tag12.xml><?xml version="1.0" encoding="utf-8"?>
<p:tagLst xmlns:p="http://schemas.openxmlformats.org/presentationml/2006/main">
  <p:tag name="KSO_WM_UNIT_TABLE_BEAUTIFY" val="smartTable{8dba8d4c-f897-40c8-88e0-552a9c770918}"/>
</p:tagLst>
</file>

<file path=ppt/tags/tag13.xml><?xml version="1.0" encoding="utf-8"?>
<p:tagLst xmlns:p="http://schemas.openxmlformats.org/presentationml/2006/main">
  <p:tag name="ISLIDE.ADDREMOVEWATERMARK" val="TSZ3HzpXfZ"/>
</p:tagLst>
</file>

<file path=ppt/tags/tag14.xml><?xml version="1.0" encoding="utf-8"?>
<p:tagLst xmlns:p="http://schemas.openxmlformats.org/presentationml/2006/main">
  <p:tag name="ISLIDE.ADDREMOVEWATERMARK" val="TSZ3HzpXfZ"/>
</p:tagLst>
</file>

<file path=ppt/tags/tag15.xml><?xml version="1.0" encoding="utf-8"?>
<p:tagLst xmlns:p="http://schemas.openxmlformats.org/presentationml/2006/main">
  <p:tag name="ISLIDE.ADDREMOVEWATERMARK" val="TSZ3HzpXfZ"/>
</p:tagLst>
</file>

<file path=ppt/tags/tag16.xml><?xml version="1.0" encoding="utf-8"?>
<p:tagLst xmlns:p="http://schemas.openxmlformats.org/presentationml/2006/main">
  <p:tag name="KSO_WM_UNIT_TABLE_BEAUTIFY" val="smartTable{034828c9-9a7f-4ad1-b932-3f4812ad38f8}"/>
</p:tagLst>
</file>

<file path=ppt/tags/tag17.xml><?xml version="1.0" encoding="utf-8"?>
<p:tagLst xmlns:p="http://schemas.openxmlformats.org/presentationml/2006/main">
  <p:tag name="ISLIDE.ADDREMOVEWATERMARK" val="TSZ3HzpXfZ"/>
</p:tagLst>
</file>

<file path=ppt/tags/tag18.xml><?xml version="1.0" encoding="utf-8"?>
<p:tagLst xmlns:p="http://schemas.openxmlformats.org/presentationml/2006/main">
  <p:tag name="ISLIDE.ADDREMOVEWATERMARK" val="TSZ3HzpXfZ"/>
</p:tagLst>
</file>

<file path=ppt/tags/tag19.xml><?xml version="1.0" encoding="utf-8"?>
<p:tagLst xmlns:p="http://schemas.openxmlformats.org/presentationml/2006/main">
  <p:tag name="ISPRING_ULTRA_SCORM_COURSE_ID" val="00928F36-A265-4885-87F4-A9952308858E"/>
  <p:tag name="ISPRING_SCORM_RATE_SLIDES" val="1"/>
  <p:tag name="ISPRINGONLINEFOLDERID" val="0"/>
  <p:tag name="ISPRINGONLINEFOLDERPATH" val="內容清單"/>
  <p:tag name="ISPRINGCLOUDFOLDERID" val="0"/>
  <p:tag name="ISPRINGCLOUDFOLDERPATH" val="函式庫"/>
  <p:tag name="ISPRING_PRESENTER_PHOTO_0" val="png|iVBORw0KGgoAAAANSUhEUgAAAQwAAAAyCAYAAACpi+X6AAAABHNCSVQICAgIfAhkiAAAAAlwSFlz&#10;AABHGAAARxgBc4LeuQAAACV0RVh0U29mdHdhcmUATWFjcm9tZWRpYSBGaXJld29ya3MgTVggMjAw&#10;NId2rM8AAAAWdEVYdENyZWF0aW9uIFRpbWUAMDcvMzAvMTcbpQfcAAADMXByVld4nO2UQVbbQAyG&#10;Z6KpBFI8PQJH6CIH4DZZ9wblGrlMH+s+DsENypJFH+6vsSdAsQmvfZSNvsSOHXlG0i/JPx6+/0xf&#10;05fRucFnvMH5MB5uxgPO+/GwG/eHcb8f97hI42437hLIOGT+PZt/z+dfxTE+5x5/0biO2/Mr9rv0&#10;cs+n3Lr92wn7xbr9+oT9yu1ywv5Kgim9HuBkXw3gYbKvBvBrsq8q1O2XK/b72f55xX4329dK1O1r&#10;Gd52+8Wy/brbVyQ82lcyvDraLxftR/OKhOm/88z9/enn39X/7Qf7v/pY/w//3336YPmDIAiCIPgH&#10;8rvsSo/4raXEQgxvKv3TDGyUaFogKRNZX4CzSjNoWyvs/yv5zkWUTvhXA9VPlki0CrMk47QphViM&#10;uJQNHpPB1KTCkbKwiG5VJOEJNZbK3CJOYoOYecAIy0xVeFG1P4IS7VoUK1QUv00A30t8t2KeR1ZP&#10;Vs5UE7N5nki28FYLQkqM+FwbXCaywfqmS+6Rat6I9TB4vvJs8DWIXnAzBYbLxAXblllmaEyFkXNp&#10;K8RdIUg6GwpbKxieqp6/3yz6r7UOOOocQBmsRZAJKRTUMZM/5KVRG8oUsqEoTSxoXFACr1PrHk+b&#10;spcI19DDfRIqhTS8TVb8T+SuvwzSnGBbqGPwWRDGuWvA7tOYq+vipVXo7j1AWIhiNL00byqKZXIu&#10;sLd2QSu60kvIULcQoAfH5iXGzVAUVZWmGnnyOKrLnNGaUF1dsYokB/i3NgfkDe+z4LqztQpgrWZP&#10;owW/BPLOfIzteCVsirafZPEW5pQ/UQu4Vbv1H/pSIEdp/qbhQaDZdUPxzJsXNSSMQ9Hl9F/I0fsf&#10;y5ENJrG0Jj52D5RsvvxScYP8ffCaTXWWEX2D+GsbjIR3iLQueAs9f1LI527ZGwBDtHVts88/sfVq&#10;FU/MdZe21NUWf0d4raHQNPIGITDMbxOAH8NsI5z8XWSIgdhboKT5pXIUAwvEx7cHxS4NiZd9rpL6&#10;vFJabYCT5KeDQ8/eYtS/qUnz9P/H5X/pNgiCIAiCIAiCIAiCIAiCIAiCIAiCIAiCIAiCIAiCIAiC&#10;IAiCxm9LnZaLwrCmnAAAAEhta0JG+t7K/gAAAAQAAAAAAAAAAAAAAAAAAAAAAAAAAAAAAAAAAAAA&#10;AAAAAAAAAAAAAAAAAAAAAAAAAAAAAAAAAAAAAAAAAAAAAAAAKaQzoQAAHPxta1RTeJztXU9s49h5&#10;ZzY7O2vP/91iW7QXB0Ub9LCz/C+qhwCWZdnekW2NKO94tkEHEiXOKOOxd22PNxOFWTRoDgXazqVZ&#10;JEWaW9uc0p4K5NKeeilQoClaoEDPvfRY9JDc+n3fe6TIJ5IiZVmSXY53/SQ+PvLx933v9/1579Hb&#10;Dypng1pzrT9QvObDnf5A0xVD1dy2t19fcwey95gVj7aq7kA1LW9zq+UODNlrrtvuQLHU+5Yly7Lh&#10;Ne09vEZlAy7l0j+vUa+fDSoN+LW22joZSEtSR3KkJ1JD6kmH8KkvHXhbO9tQsww1h1CjSO9DbV/6&#10;Jpxx4DWrux24dWUVuoWFDb3rWV6lukV32t6GO0EBh9texV6nk+wa1dmbVFTqdLDygIq1HX6B9Rp9&#10;b7bopFqFvtWaVOywg3ajPyibXqXFKlvs6i2b3WSbXY8VW6vYyx3slexVd5X+wIJCxctUdzUqanBQ&#10;hUJlhYaFlwmZX41DRlqRVuHoKXx/Hz4dQNmWTqCmO0vMlHNiplwUZjc4ZhvSMeDyifQM6k6lXio2&#10;OsOml4KNHIuN40SwkVOwcSyGjabmRkfRGTxtBk+bwWMxeCwGj+XZjY/hLh3PtnnZ2AXUjDYc4B+y&#10;AXiPA7gmHYFyHQGMoFqgdOEzw2DChQlN1UhDs50BTUHT0tAUNK093dFJEJpmDIR2o8JqbFaGIX2b&#10;Q1qh8diXHA7oHQ6oDWC6oIsrUhM+vYRj3bGjNhZLxdWnO241Z8Jx2847bpMwuskx2oTjx6Rudag9&#10;vKhxm8MO5MBGvhhs7oxgc079mbKlnD9CN0dG2MTaI46tPPoz57HlU3qV0HlGuhHVoFBNBMU0lNQF&#10;ZSBl6ijdjUWpSmOtA6YwXZsWFSd16jjdjsWJs1N+jObO12maZDCEDIaQca7xtgllWzqTXl1Ki69E&#10;fVGDwWQwmNoMpjaDKd7TzDrgWqBGfXDcL+uA06Y+4JYCnI7AuJ3O0GlMdcEdfULLJjNoZAaNzKCR&#10;GTQyg0aOQHOTQ7MKinEM1r0Cv18iSBygtzlA2SwaijSEj6kzgKh+LECWngIQxXYhiLrn9IxUhpDK&#10;ENIZQjpDSGcBH4o1EvHhY1C4AgfyYOjHzS1Qr2+Ckr1kgV86krFjMB1IpcyhVDtpwbMIZa7weWIw&#10;1XI2MG9zMNdA4Q4oBfM0SDe8EkYtKuUL+HwkHaUnaPiwVbTMzroi6/nHrSEzJIkQEEk3LXqOjlzV&#10;yoylZvE4WlO6ubFLH9ClLoPOchhyvSm5FXKaW6FOSHbZIJsUoIcwTvt4VgQg3WAAKR1Bt/zsn8ww&#10;ctIGKqrFeN0iQgzhZHKjQEp1AUCN6lYwUCcdoE2o7dAAPUxVM6U8XT2bbrh4MXr2FsfoEdiC01h0&#10;SoKKCV5HWjSNTSP4qHPHh/J7lEStjJD+jQCvZxTrOKAx7SBt6mvTGtlNpPx0P1/AS1GdWMQEwi85&#10;+VVK57nSNsdM6+qZbefkg7LiZ065qcmPZIPI/3T8bJCApKtnsJyubznRn8gIZMBtHEjySaaPI8Jn&#10;+94IkhtzS/wPiCzzS/wPzdwQX48mzPLASzZjbDxB6pwb3x73TLAxAkxZ/qkC3ARc1V6PYSYajXTM&#10;JnGQ40mRZkqSoXPU/GM8cI8NlUHHMMyGndLLTI2B4qlubPC6RhbkFdnSSWKzaGhGIcKEGessA1m1&#10;uJdCQUlGtDQ1Di2ToWUytEw2lBkB4oeOKwxltDHNzRw4Xg+8lbb0fExqxGIolhmK5KKFUJTPi6LO&#10;UGQqFgsjzgkijmoKjgZPA4BbxVIkZY4kVzyTa56pJ4EZzMz5YLrxmadkpWzR9LAjPc8zijNpZTbv&#10;OV4taTCjoe5Mnf/IwNAY9oFshi0Nsz3J6ukzZI0WIuBESwtzdTGJ4WNQ0hVpm3/qScdZFDYPwIrR&#10;y5KSiXeFpuQ9miNT8BU/I5PsPqZjt0lu+DPujj8j9+c4dr6d7ASppxwZ7sy6jAz32MiEjHjWvEH7&#10;QrHLDpWfXa8HECUrmhilOLEJKzUlSBl6MhO43BemZ2H2G/rbOJ7J37Z6OfC8HiHDw+nOJ2dM98nT&#10;WUeUY5gGYIkrY97iYO3GLFGr0NwEBiXjZifak068I+ePg0kTDLBvMPyAhBR6xPwqGZw+PEozFBws&#10;1WIWguzBKpk1Uj5cAoP2QceSgq6xGN4LYYh+NS5ksGmep81nNdJtRDs2DMkAKfr7KQksp81AVTmo&#10;jipEIV3uSbOIZ4wdBtVlsFocV4sB6/DlWg4H1rFErwY/NP0PowuPmsEH3w1vNLnlbjb9QNAeDWri&#10;RHEjCP9mAL/WzQS/EMgE6KdmpxM8Sp17lDrDXnMY9lRqVBLSDMVYpMmII8Ck6E2m+FnhXQ7gPSXP&#10;ExfqnGTxf/zUvz8lpbR7552S4oxhCIwRZVbkWwRXSQHX1POB6wOnuIEnSQCq45ni3fhIm09aZePf&#10;0oT8m8lM8QDIbQszKRxOvROhXz2Ofn04RZ4w+DyowSdCoYxOTTFfvckAtZucmvl3BFpxYyn5Fgf6&#10;EY33Hk9v0AJPISjKtk5BmPsLvM5s88yYpsjpDASMQIRyrtRG7NLZIO82DNbJk/c/NHdDSi0zrIUV&#10;oNkxzhZ4qlZs+ojCoyki7Medmp87MrIDHO9xaXFxJy2bTVpYmw/GPC6ry7nVjXKr284AYhZn7Lzh&#10;UbyKqnEIMp817CMEAbs4y+rnPprc/hxJLwTjj+u7DyUXJ3ZwM0EchoqhMwzNKIbtHBCasXoox0HI&#10;0keTrJfwtTC6Ql7lakilRiUbvSYfvtlBuy6Fl+CkG3MtbtAKU61yLFZydttDfDuKVUcfn3gLLLmQ&#10;eEOCJbzYB419YNYHAkpmffBDw8fQ9h2jps+RLCTIhqk/t1hDAx+HaEePuJ6+9uXxPVM3aBCGcQnN&#10;eO+IY6rFYepY8ea8zGPPMk8Ml00WR5HR9vNslaER9/NuQu4oGcShr/kpwNgmTyldPY1JZ7FzWBTm&#10;EYUi0xwzOeA9xaonHq/x4zV2PICSrHWJG+sS01AfUlLQTeY45RvsjwnPdOsStdCZ5h4z6WZ0tHdi&#10;l9oJfmasdUly25Oy7NFZXK6K5E8mrCfbA6gOyVC/pGDHd+KvcRA1qTrBFFkpy1q8LAk5LeriRAEE&#10;VYlx1LMFlaoVkynZZDY6D07LQ5wgwNkgN+ezdMRiDUy25Ys+ZMp4nXNiDYzSiyNDZaaQ3Qw8mGe0&#10;0AKTmr2R5TsibOakGTkle448iFU0M//Eou8Ijtvmt+m7zpujrvM46O4FNveAVo7lTcLF58/Pr3q0&#10;JiWUhWvHetO+8mXJU4iWOFb5fI+mGaTSRh2YrAN4F46f0rzNuI1H0xjARvb0hIBhebzR8Ke4BXd6&#10;SsPX10Fc39OnncwXroMjs7FarBKWrWgq2I21GvHZdWGRgBNPgXH+oLhvd5gE5l5MOMvD1BUesGQw&#10;s2zm09ZbQeR8RKHMMwCeL7NK19npbbdIs9NW7DJbzIOEEFfz5CeTtJb5N/ZoEDgOwdshBL9JSZwV&#10;ylTkxpCWRuVYMB/gqI8PpSd+ewHGyhmMECUhnFLMohaaAqcD/gc/OdngziQ+IpuuCHmXYl59nBTe&#10;41L4iPLBDm3SO6FXIyAD4071lSHB5KcTthwzq2LHsklUsQVvilJto1ySywPVeI5I49uJoCQu4eIJ&#10;27cGF04kmUnSCiWSrWgeGf19r1avng1q4R24LonFpoRcP7RFySVx7NALA16QoPYSa7g4agyQGuOG&#10;GsOhtk5aXGtW6ZRmk9VtsmIfC68WjuJYh/iGX4zYhC6Fa/YSaybrksq6BMVG0KN70B8neAFFl2vj&#10;aeh9CicBFzt8RhRNnyM9Bx7xX1dR2/gIgN9ZYxffgs8bDXwVS429YkWmf16oSvGr+PtXsO4x1snn&#10;v44y4SX8KvxXCy9HcPm6rD7ldl/S84tya3L0RlUpXDOZ3DQmN62QWx653eZyawIyDjwt5k2eCtK7&#10;Hcgo7py9DOdMJtE2k2i7kGgeiS4HIxHnAtCXCcc1bmiewK/bS6mbTHI6k5xeSG6SscgkcEr+z7GP&#10;lzAW48/Zy3DOudhVUQqR5hHp0Ldq09u9houVXZ7i94/vJRyfTFwGE5dRSGsSaTXIiXRCe9Fdnt3w&#10;j+8lHJ9MWiUmrVIhrUmkVSNEugEevlSGx/cSjk8mLYtJyyqklUdat7i01vm+1E+I38LOyS0un7gz&#10;9saeMZksy0yW5UKWeWR5ncuyQpOpJ8EUqxvsCjsORp14dDI5OUxOTiGnPHJaCoI7HCvs9TtiQD6s&#10;EQPyYc1kMusymXULmU1i1R7Res3eiFUbHt9LOD6ZtHpMWr1CWpME243hPFfg4y8H3mG4bi+lbjLJ&#10;uUxybqRjNwM16kkdqUqieEbTcP58u682Yv3emPrJOqnwTC+WVSWEaK2qRr5pkW965FsLr+p5G5TA&#10;LtQ0XU0nAuhuCKCXcFaTFuk/puUYbBXLECYttm9lWe6o4b7J943hA6Y9u0MdFzC8qJvMC+B7AsAh&#10;aP1jSRDfH3aiI6vtdtLzd12ojlaWxZapME/5RvOC+jaHGms69D6cU9puIoJsxvdLs3Ashh9OtYa1&#10;arlditbqxrC2Y4ptzbSmpZSmitgjUXSXr/vzUoilkEKga4vWbKgGelxvyiXdVIQBoAUDoNO1HCNa&#10;aQW1pqP2FDP2QXput+N0R0U5ny7M29as03I/WghAa9c2aMEztBo3RlVZc6J9Cyu50imXlE6Skis9&#10;3dWNBCU32z1HVpKUfPTCitijTGN0obs/L6VY5koRelEU1I1RBHhk0zSTkLRkSxb5bIikaTKnKxZJ&#10;bFhyk5BkN07wNErwX0ZFWOjuz1sRmAc6arVj+5Pi+/k+oyiRc1xnXtDciUAT0OU4/zH54UJOnSzj&#10;/4ndjnNALuom83YTbHoL55ngJsSO4LJWBr1IGsG6ij9JI7hjdLSOkjCCTXOUGoYjuNvDn1gQkDWs&#10;rJZoobs/LzW4EajBJ3xNC75c+cV4WzSq+Gq4coTLhx1W2yl+tzhkwNELM3liyMtRyGaIFrXv86Za&#10;XJJ6RFtSTqVd/gKIp+PtkVqW20Y5ycTGuornuM68QPKzakEubZhfG2+wRfdltFfZDHaW60wj+bte&#10;q54N1muhec0ewbRFi5oxjqnA7zN6w6k/L9YL9ue0pVNvvWGfDapr6/jrAdR/FeKf51IH6vukYQjk&#10;MQdyF1oeSK8k9uKMF0BFRySOYzi2Lrm01RupaQ/O32Ebp7zq2kdw1S8//F7vR3/0r54XutOdSJst&#10;cLDZUus+/1sorOWbnOp6kbY3Im236XU/W1KVt/ktaSCVqNaUFPiRJVV6Hz47cAQ/4bEu/c07C46V&#10;oEamH4POLMFvBWrwmxe569IQTUDgFVIxv+OXJDly5nLozEe0C+pUesbPfQN7FDn7Vuhsf5nUMQs5&#10;gjYlyRDarMNVYdTTKwpoUy6UtJYgoU+36K/6PSWp+n/H6JDanQQttEiLm/TWsxPQh6TzxTsM35hW&#10;5a9RadNalEAPSBoiVsNWQQ9D52vCky9Bbw4oadIbI4U7oTO3afnnKf/DH33yo/xWitCKbbSKjJ4h&#10;0fBW16XfBPxdrjnR+96mXfyfcScYx1t3pP0StJdDP5rkClhu0qhLv4Ib+hGvcIOucMDHblz/Q62F&#10;ljZtfOzSU8S1DPV8ZEyzP0UAWgIc0qYxN+7ZRzXCJl3+DCTRkb7BRjlvew16i7mZkxFGqJDUTmn8&#10;2KR5p4macc/fB8vPPE7UWLHlUtBSHNd0JlLyBGzcpDVbTws2Ltj4CrGxUbBxwcaXiI2XAjZ+SXJA&#10;zS8YuWDkq8PIZsHIBSNfQka2ATX+OoGCkQtGvkKMLHJrwcgFIy8yI78zysj8fJqblNgfjy04uuDo&#10;q8PRasHRBUdfIo5e5hz9MY2Aj+HeT0GHC04uOPnqcLJecHLByZeIk/1MRoiTC0YuGPkKMbJWMHLB&#10;yAvHyDH6NN+VcI/fu+JsrBRsvABsXKyEK9j4MrLxjFfCFWxcsPEM2LhYCVew8WVi4zmuhCsYuWDk&#10;GTBysRKuYOTLyMhzWAlXMHLByDNg5GIlXMHIl4mRF2olXMHRBUfPgKOLlXAFR18mjp7rSriCkwtO&#10;ngEnFyvhCk6+TJw8x5VwBSMXjDwDRi5WwhWMvHiMXIXroxaGUA3eK8gYefiHKJ5EzpoNO7/R+f6T&#10;T2fIzW1gs7Kkw08XrmdNhZvTdVbUuLYQTy9HWo9b5Rw+l71sd8glusAE4XOTNKyU8iSjjKgBAkZu&#10;TfNX+XAmLzTrgjTLFOY3p6dZVm7NQk9DPbdu3ea6FWZ20bN8m2sX5mCBmWemX28+/OXD3ovDL/79&#10;CnuWmqAjyZ6lmCW8vH6l+Bzz9iuLNb2X0a9UhLF9VfzKPIzchPv26almxci/+JPPrjgji75jwcgF&#10;IxeM/P850r8TwXGFrsz+htVBKAa7GdqlvDKHOP/Nh9/b/esv9JlGZAZnXJe4Fhm5BD86nO9zswaf&#10;8O/yIRa+lljE5i7FccjQ54v1jRidu7yxfjZdW47oml83Qz2zf/5wa4Z6ppIOWaBbEPOSTllQqiD/&#10;yfUsi7U2Be0ab0nFWcOsNiiJQy+G4XRB626CdnaBoV/SdVdCPfT/TM4qPccR1NWD5ziZlcb9wX83&#10;f/Ld4y9MYUSewBVgxJJtesKf9Ql8fyp1Ej2JaJtn3GOJtvoyaJYxIvkuSfo0451uhc7PfpclqMcn&#10;fwG/xesrGZ++l+g5pj39sFX2p0++U9LTp99FfPrw9aNPfzfh6Z9K/l+VTPIXkhAQW8b173YMCuPu&#10;eCcWiSx3uxFBY/Q+orcbj0hHYn8uLr53Io7DHkbbxfXvVgwa6Xe7HYvF+DstR5AQ7xHF4TeAoStw&#10;lksMxJj3CXDNMbEWxgvYz9OAn9BCfSu42jWyJyv4O6eFQgujQ71LkahCnpACfdVHolSL7BZ6Lugx&#10;oa/Uhf8xcihLXk5efg+e9TiIurgtkj4Q7Zl0H39mxNZLOz/9/b+SPvi9Xz7/NyjZnaNjsBPT5yd0&#10;DdTFw8D+jo4lR3iuLK3mpREayBZl2iFPhHnEZZC4EvFZsB5HBWpEjzSiTLF1F0aBxfIWuTRiOfSn&#10;u1a4ZA9mZad/8KPvHu8/f7g+Q8+wS0jp5Pc55A+2KfNTFjxDRL4dyQ5RpE0zST3BM7yWGGXHeWjX&#10;AbFPKEJG/F6lZEiWQlkA1NpulClzyXkJjiBvn9H4meX4vub+z3f+IWZcLzN/hcbWkdSncXribTTg&#10;kTYarbPBfn0N/xDbY1Z4w2OqYbCj+MEbuSb++dNpXvPm0JZO9bo3fMs01asuBnv1AvbSLpS97kmb&#10;hOAHEO1g3ucl6SQ+HfL+TK3Yd4/PfiF98MNPW38ca8WWwXoxWY+3QOh1jj5NlpZ3Ke+X31LehBYH&#10;dK4TWIOoXsRn3xZD27qBtqkXqm1L4Vh2thyK0WyMVhUxbRHTFjFtEdMuYkyrBjGtcaEx7VvhvZ6z&#10;Wslm//PrgwXBXKV4RuHW7X2aWelKZgzmcmbMrwE2uI+2F6B8l+cI/D21Kzy7uwrP8wnOQMzKz3p9&#10;4HR2fjdy50WQA6KvwW/0Ldqk+w6UOq06DMvBoDmGlFUHY+SwTHiyOR5/JcDM8upP/6vzndc/+/zX&#10;FgJxl1ZwyIS7S+i68NkIzSXKhDjG69nZ5s1gXo/hPfw+I2b5xle+/U8Lgq8CdS5ZRT3IUPqx3aRs&#10;LuK75H+HPm4TSrNam3Tt9X/uSM97C4q3ekF435U2oN1Ligz7NCO4EkhglhHN9T//j97fIPYxUc2v&#10;kK8T7qPv8RyTT4y5uz7W82u9AxjcJyZI/jEXQsZRD0kOPCRtqjK+Tff28wbzke+11//S/AnKd+W3&#10;FwJ5A5CzyNKa8KwmWQuX+0k6jTOXcsFomx04u0w5A5PiDYvOaEti3vce5VWG+ZmhjraFtRtv4PUE&#10;HU9q242dref7BFPlflP6WMI3oLyYl8w//53e1xZI5mW+8wOlbAYZIZUYFXeFdEjmqBUmzQh0SN4u&#10;zRGolENC78wTosVvcYyj8hYzbG9AazHujmv5KZRt6SAyF/AGjv2xY7zJeRBbz0feb/W+9vU3j/9u&#10;gSTeJRuq0UopZkNVQskiieNcmkGjHFnUpXHeJf9RJ8Z1iWEdQeLvBBYHkc4r9XcTW2eV/HW+wuuY&#10;1rMeBmM9cnRe3tP379rvLYTkcd2WSv8bPA4u09gvjVhWf8VXFssaj714dEaRwcJg7ZBvgrEWrrNj&#10;kRdbTT8aeZXOifUdQOKQ1rizmpVgRd1MvdU/+wv7vT/84fFmjLe6GPGCPnm8EGGrlxG0n1C+8YR2&#10;Ik/D7067fhybGgKbvpfS/jRtP4SQVdmh+VaczfLZdJWs/sqwZraeU+9v93/8tPLJzwQ7epcwx/ns&#10;w6Bf2ZB6N7blS14Gs3yBFi7W/F6PtFSmtbgdyug4pL8a2XGHR0z426CdIv7qXvTXeuT1oX0fZRi2&#10;Uyq6NtrfC71JCBzNLIM82xXRs94VFV3XPP03oJgjbcbvi1KEFuP2RaE3lnc9tzg/VOyMYrNexc6o&#10;q7MzyhK0L/u+gXgG9t9EtUPsiRZ9VisQCxY+Lwvn35168Sw8+qaLgocLHr56PJx9/5a4a/Admj1+&#10;Bf3H9RRsz+Ar+Kzzp8ZdW+ucncM8gHlGhuAso6O0HixCtIL5RYXmCyy+Xt+lvYSdSD7EpLl/jeYS&#10;8Df7jmWZ5oTEaCWPjJaIEY+ZjZrtuteYO18FmXTp2HlkckeYhWsRovics5TPuF5cDVnhCihRVu/S&#10;CqG+xLLjNmDb55/QziIHh6X19nA1zUzlM3rfyyOREsihRDMtJZpxwd8mea4GZSRJIt62DSLxGqut&#10;s0Flrd4fuK5M/7wa++a6mobfGoHk3qasJns7HUqwG7CcOxIn7CXWNKu7nQFct1XpY7Feo8Le7g9U&#10;+NbqDxSv1qzSKc0mq9tkxT4WXmu/cjZgN/4ymOAdaRUe5cHZ4FED6k3Z2+Rly/4YrgVP0NqCJ2ht&#10;VfuDktvudBV8+NZ+7fwX8db3G2eD2nYL+7VWp8426vQEjVUCt77DjkGVBWVrBx+yUQcAFG+1UWeF&#10;TcXqGiuqVNhwlR6cWcX2G3W6w4eNh/2BgaXNvu6yooFYbdS2sPjQxnPaUK6zry283Id2hfCsN+hy&#10;dh2/1e09LKqsqNsE+c5j6k3dtvEpNlvb2GCz1SLtrJJ+4yj5jEpac+jt16g7+9vU11Zzu8NaYrFf&#10;XcViZ1s/G8AvgNSjwmWFwgpZKKCs4fmgGYZHBcDdWq3T9RuP6JTtHThle6cKHQN9rj8GuOurj0GV&#10;H2zgc+w12TMyCX+9AqNNQY3Hg9trBHx1ix51rY76vY7t1x5g9Xp9GyS9D8OiXmu5A/l+WTG91m7D&#10;Haiy19yCQ6pp3ldhpCiqV9mF77pVDKPzDKNKs0HjosV6vdvCXjd34CS1K5tWtwfw77sDw7yPwGoK&#10;fH3sDjRvt7lFw2uthoJs2HCOJvvnNGw4p+w11qNH19nRWvRojY7u10jdW6ur2I/WqtIfOPhV7Q90&#10;KHdBzy1vtbVOI7T1oEOd3cG0w5Ofvj764h9//HN4Bhv0wwK9IFXbalGxt0OC2LTXXGjzoLmD+8aa&#10;D7C4LxtepW7jgfp6FavrVerFh0gBAMoWndywK6xYxaJVAxPYauKtv/TVv5yoE+e5O9347Z0brz33&#10;fx//+rf//vM//cZXnn4Opqy1CqS3tb1xNtjfrdEWOVbQ5rj3tRLbHKfoHumHYpSYgqguUxArqh9W&#10;zwApsM9mGbWIfS6VVce/Gf37aAu08CM2nIELRBpQfBr4/OEPXn69wmhAYTQgp9PAyMW9jWb1bLCB&#10;6ghEimqIfIrKZEL5mJVs4Csy/kCLKghro0o326g+YAyB/8O3TbjFRvUjvNGuTQN5116l4fl/hJQC&#10;w2oX5bUAAAC3bWtCU3icXU7LCoMwEBT6I/0EY4nao8ZXMGmLRqqlFy0Eci7ksuy/N1HbQ+cyw+zM&#10;MrLNLVQdM0BwFExDiNNGd15oiGiMDVcaSBJhV/YaPPeDcYG8di29A8UkLIhsspC39eLOQyc8iYt8&#10;Q3B45sExICj71WTChVnpG6z1RimkBS5rC+O1Wkds9DfpNrqdYYiNF/MLVf8wkIaouHuleGEg0eco&#10;JbhrmizzV8/RKf5pmlLEQmUWcMcHGEtbktGSn+8AAAq1bWtCVPrOyv4Af1e6AAAAAAAAAAAAAAAA&#10;AAAAAAAAAAAAAAAAAAAAAAAAAAAAAAAAAAAAAAAAAAAAAAAAAAAAAAAAAAAAAAAAAAAAAAAAAAB4&#10;nO2djZHbOAxGU0gaSSEpJI2kkBSSRlJIbpCbd/PuC0jJWa8d23gzntXqh6QIEqIAkPr5cxiGYRiG&#10;YRiGYRiGYXhJvn///tvvx48f/x27J1WOe5fh2fnw4cNvv69fv/6q99q+Z/1XOaoMw/uBvM/i9vCW&#10;/rm7to7Vbyd/rkdXDXs+fvzY1tVK/u7/bH/69OnX32/fvv388uXLf/qi9he1r/IpKi/O5RjnkU79&#10;XK7az7Hab/mTdp1baVpf1bFhz0rOnf4vOvl//vz51zb1T/8tuZQMkDkyYj/nVP7IFJnX/mwX9GvO&#10;JT+3E9oC5Rv27ORfMvL4r+jkzzHkQn+1DJFztRX3WeTHNeA+vjqGPgDKYz0x7NnJ/6z+T/l37wzo&#10;eeRef6stINfatiz9zFjJ33oA6PuVnnXD0HNN+SPXklVd6z5IX/eYwHn4WZLHdroh24n1jOVfbcRp&#10;DP9SdeL+c7QfXc1YnG0fp19n+ylZWd4pD/pt5l3XeSyXsqxt2iB6hjHJ6pphGIZhGIZheEUYx9+T&#10;R7DXp//zby/vWfLd+h5c6mu6NvWueITL6O1qB8/mZ0id8Jb2vruW9/Od/M/Y8Y98hnme93W+xC69&#10;lfz/hv7zFlz+9LNhz8Omjk0m/Xfp28MX5GvpI53PkPokP85d+QNN52+kjFyP/ci+LNsv7d/apZfy&#10;tx/iUdtAyt9+Nh9zPyl9ic4suSAbbL7s55z0C9hnWCAj7HYF51HntA+T9me3HdoM90KemRby7uzZ&#10;mV7K33X0qOOBrv8DdWi94L5tP459e12M0C5+yH3Qdl/3/0o763jnb8xnSvbr9Fldkt6z639AtukD&#10;LuyrKZnhb3F/Q5b8v5M/fd8+QMf7WJ/Azt+Y8ict/ADk08n/KL1XkT/P9vqbsrG8i/TF2xfn+t7p&#10;BvSJ2wm6xboYdv7GlL/P6+RPnMqZ9FL+nNf5w/527FtLP1tBfaU/Lf139u3ltdRt0dWR/X08R8hj&#10;5UuElb8xfYi8p3Xl8XjmTHreph4eVf7DMAzDMAzDUGNb7Jv8PD6/Z1w99oAZY78ftn3xs02+iwu9&#10;FX/D/MNnZ2fT6vzg1gnoDseE59zA9C1CXuvza19nP8zyoK9GP5yjs6sg/5Xd13YwfHzYjtAb2H89&#10;x6dIv1DG7ttn53Pst+Mvx2gf2JHxSQ3HdP3cfhfXe5Hy5/puXqd9gbbvWub4D7p5RJ7rl/PP7Lfz&#10;NeiI6f/nWMl/pf9XdvD0padPHRsp7SL7sWMwzhzLdlngk9jFCwz/51ry73x+4LlfJS/PBSzO9H9w&#10;XIDLybl5zrDnWvIv0MnpOy94hhfW4c5z9fxf6Qa3OT//HatQzNyvNd27XO1bveN5fN7ZAhjD5/XE&#10;jTid1M/d+J9nAOT7v8vKsUx75D8MwzAMwzAM5xhf4GszvsDnhj60kuP4Ap8b29zGF/h65BqryfgC&#10;X4Od/McX+PxcU/7jC3w8rin/YnyBj8XK5ze+wGEYhmEYhmF4bi61lXTrhhxhfxI/bMT3XkPjld8R&#10;dmutrNi9I67g/dx+ZfuQ7in/tDM8M17XB9sbtrnCa/CsZGz5Y3/BJrdqSyubnOVvfyJl8vo8LuPK&#10;nmCbwepeKDN6zPLP9uh1Cp/BpmzbKza7+t92tO6bPJmG1xDDr4cNvms3Xf8vbNNjG1tg/U/a9vnQ&#10;bn291+fymoSr7wuRR8rf646xBprXxHp0kBG4Xnbf5DIpfz87V23GcvU1nfwdb+Rj9h+zn/5Jeuw/&#10;+r6Yj5FP7vd6ePeMe7km2Mch+4VluXou/qn8u/2d/NMX1MUi0a/R7aR/9A253TH8FNbz5MHxR2fX&#10;/+17K9KPA7eSf9cebPt3PAH9PX1H3b3s2kbGqJBe+ikf9Z2Btux6SR1w5Ee/lfwLr+NL7ACs1pzO&#10;e8172cnfZcjvC/uaR5V/kTEy6cfbra/Pca+nmWl1bWYXl5M+vy6/1f7dfayuzevynK5+nmHsPwzD&#10;MAzDMAywmlt1tL+bK/A3+FN2cazD7+zm1q32ec6F5wodvT/egpF/j30YtqHlnBpY+ed37cW2kdp2&#10;zD/f5bDfqfD3RPD/gY/5WtuT8C1xL5Y/37PxPb/qPBHLzH62jJuHI/3f2eat/9nmuz6209lGa/+M&#10;2yJx/vh6sAFyrb9R6G8JOcbEcqYs+IjuraduzVlbOxztp2/mOgEpf0APuC1g16ct2DeL/Ch7zhux&#10;36+bU9Ltp936u0CvwrXl3/WfS+TvOR/o7vzWoL/JuJN/Pg86n27BM+kV5wpfW/9fKn/rbXSwY23s&#10;w0M+5HGk/1P+tI1Mk/gQxwg8sj/nEjxuoo/Rr24h/8I+Pffn3TzyvDbHfzv548er9HP89+j+3GEY&#10;hmEYhmEYhnvgeMuMmVzFf96K3fvqcB1457Y/MNeLvBcj/zWe3+D4eubH0Y+Zg2O/XaazsqF4Dl76&#10;6myH8ryglQ/QxygT12b5sf86fh+fpsvT2aNeAWygaQ/Fbuc1Gjmvs6kXnlfHz363XDsU2z92/m6O&#10;l+279ueSNmXMcqXf0f2/81ViU352+af+o16591UMTzdPKOl8Oyv5U8/pR/T8NHw/2GbtH7T/0Pe2&#10;Kj/Hco6X91d+zzLPb8VO/pbZn8p/pf9T/jn/135kjmGr55jn8u7Wh9zJ320USIs29uxtwFj/W//d&#10;Sv6F/ZB+znMu4xLaA3mc0f+QbYM02bZP3O3vFXxCHv+tZPye8vf4L+f42QeY/sFiNf7byb/Ief7d&#10;+O9V5D8MwzAMwzAMwzAMwzAMwzAMwzAMwzC8LsRQFpd+DwQf/irWzjFAR1zin7/k3EvK8N4Q33JL&#10;WP+YtXMyf+KxKN+l8ue6jkrr7LcWujiUjownPuKSWEDilrwOzlGs+1H9GmKj4Npx9I6d8nd4iQvs&#10;Yvcpk7/r7rhfykt8lY+Rds4XIN7cMeeO1U28NhBrCGWfZS0yx5vv+jX5nzmX8x0/S16ORbqkfok5&#10;8s+xUe+xrlmu10a5OJbrfxEPTj/lfjs6PUo8l+/b3/6hLex0APG6xJJ5TkHeG8fpZ7v+Q/6OCVzh&#10;+0794ljKS+qXcykn6V5L/2dcfuLnMn2bNu191LO/t+HvKbke3G5dT7v7ct4dXhvM97Nqh36GIrfu&#10;ex9w5rni+TI5d4A2lBzVL9AuHJ96LXbtOvsr/cf/o/OyTXveV5ce/Y/7Slm5r1r3rcrqtaJgJbeM&#10;De3SpGw5j4W8EueV7Z62mRzVr88jT89VeivowVX/Pzvu/RP5c47n3GSafh528eBOt5uHRJ3nNyou&#10;WeerGyt2OtN5ZTv0+DjLfaZ+6f/dfIW3sivDkd6FTv45f6Pg3cB9lXtCxp4jdAav6ZjXeO6Q49Wt&#10;c49Yyb9rr4xTrB9W7Zv8L9Xnu3VKPW/qDEf9v/A8i9W7TCf/o7LzTKzyOg/kRF2yNtxqrGadmfJn&#10;TJjrBHqdL68r2L1be46Z3x26cvDdQ/RNrlnXcaZ+4ehbuxx7j3mLvKOu8s15GgljBch6Qb+n3vS7&#10;9JHeO9Pud++Eq7GAxzmXrBN6yXN6V7+U+0iunPPs81aHYXgz/wCggvog4L8lowAABXVta0JU+s7K&#10;/gB/aWAAAAAAAAAAAAAAAAAAAAAAAAAAAAAAAAAAAAAAAAAAAAAAAAAAAAAAAAAAAAAAAAAAAAAA&#10;AAAAAAAAAAAAAAAAAAAAAHic7ZvNjeM8DIbn6HOq8H3vrsJVpIpUkRbSR6pIFT7npu8zICIcgvq1&#10;PLPAPocHu4ht/bykSEr2fIUQvgAAAAD+Mqbw52uOjG57b/PS2O7IsbS209vv5ST9zmYfd4g8Thj/&#10;3u6rsV0Zz9G+H43zkvufHX2/4rOeD9yUxmfRqvHOerLtf9v+i5rfVohDL3Xv/R+w/109+/6fWyOT&#10;098U145eP3Zsr6jvGn/30HNKUZtTLtH2OY20jkun33n2Xwe2NRKtcS+psdm1q3WXXPOMPjSyf6kZ&#10;PJboA0viusT91PWaesSzWU9MPtP+Oh6GhrV+izbTz3rrf0drae0vMae0Llrj/zzAn4/4fMpmNkZN&#10;lVq/wycnl+6t8RGJyzoXpuzncW14dlFjt/aXeWl9vHWm9faw/V9CPldY3qqPludq6oecPc7w01vB&#10;jjbO6vtLOVR0re1L0OtXNBa/0LVBbx6qHUdJk974XDt2277Yf8v49hw+9co1c4/E2ZwWeoy2/pU+&#10;Uj5g68OWXPSMz0xKB4khur5agx/TSvnpaF4cYf97+MSFLXzXWX63+4i5st+aWHILdWtBtLe/672f&#10;9oFcvOihR+fW/J8a+yhK49d1VU38/0n753iocd/NnJ+hrUZotX+upimt/1QM+C37ax1r83+uzvBi&#10;SaqGOWL/S2Kua+g7D66tb0bUQUfmPSL+a/S4ZA95RJ8zddjX9DV8z1mixRxt39u2rcM3076uo3P1&#10;Tw1HYtNI+2u9rB+k7P/T8V9sbvfwO4/wyf86fvaeXZ2lc8kGLWcZom/ruaenibSla3bR0NbWtfaX&#10;tnI+XrL/3vfdWecyVlsT9uzFSvN4F+7r3f+NaufofMWeT+VTNob22D81zxb721zzjv5gfdKeCY6y&#10;v9ZgS/St107N+UtKl9b134td/zImeZehY/bduf+n8/9+7eroLuh8UPvOU9e6uRxhz9m8mNh6zl2z&#10;LmrQPt/bxmzaqJmL1Ec5f0/VTCPrf52jSnZM+UvuGdHmqubhxUTRrOac++Y830vrdwEeYifRv9aX&#10;LyFvt7VybD37/9Wsydo9/mT8suQv+pxf5wk5Y9iMZq2ktDgbrfXTjKXV/ikdX5lrvVi77//X+xOx&#10;i+cLtj4ovTO4Gq1snfBU7chcc+fc3nuhv8H+S/heQ3v2T/mC1vRq7h8V46ze3hwEWdubuaafrdnD&#10;Tc74vWfFh34j/8s6kH9HfffkzSU3Vp0PJQ7bnDICabfUptaj9x2A904q5zuj6v9aZHzv2MYWxvmA&#10;Z/+Sbt7ey67Bn8Lbm7xC2znbqrRtsf/R/N9ie53DpgNzrbF/Dd6Z3P5bbt82kiV83iWn6oNWP2q1&#10;/5nx39Y+tq7S3wfu3Dv9oGUuF0fzR/DP6kS/e/i89+p5N+PZ3O7PZZ820r9+w/5y3q3nV/r+177/&#10;3JTeR+0/RV1TmttvxlLnti31qW5vLbSp3wGMpsf++rxtjrFI4qTNLztztLenb0v94q1LTe67cDuX&#10;JXzOPI9oPsfxy/cmOb+wz3q5RTR8hP4Yf7b9c3WBF5+8/d8zcW8NqXekubxg5yJ+JOOTM/DRmksu&#10;SPmSzh9rYQ5nIH1718SnvXcS3vlfbr3IN+Vn+PRS0a43l7P+pgYAAAAAAAAAAAAAAAAAAAAAAAAA&#10;AAAAAAAAAAAAAAAAAAAAAAAAAAAAAAAAAAAAAAAAAAAAAAAAAAAAAAAAAAAAAAAAAAAAAAAAAAAA&#10;AAAAAAAAAAAAAAAAAAAAAAAAoJX/AOCrivumi2J+AAADJW1rQlT6zsr+AH95LAAAAAAAAAAAAAAA&#10;AAAAAAAAAAAAAAAAAAAAAAAAAAAAAAAAAAAAAAAAAAAAAAAAAAAAAAAAAAAAAAAAAAAAAAAAAAAA&#10;eJzt2s+R2jAUB+A9cqaKvedOFVRBFVRBC/RBFVTBmZsDM9bk5UVa22ADM/kO32TiP/Kuf9KzLO9X&#10;13VfAMB/a9X9+vq+uf+b9637fe/+GVnO/pZvd7Ov5Hzu903tA11/3rt/Nz4//1J/in3veHO//rVv&#10;S3+aN/OiZHwO24py74+VfY/kvw9ZPmKjD8zimQzGjMWp+Z+DU+hju1AXavMTHhPr7TGM8e/k0u/b&#10;VfY9k/9Q/eB15nj+x/FbzsnjettfQ/6fpcy5ahmXzIZq75jnxV7+H2OdxuYU64HsNj/MEeT/Gb6f&#10;mPcNPQsOI/K/LtDvmJ7/ecI9HTsXuIzIf4l+x/vzX6XMtmnc5vpf2vzpuqUt73/z5z/3OGyN79IH&#10;cv6HtD8rc4mr7BfLf+zzd0z+13TsLvWBnP82HFdrr/SPo/xntQnZjz1nqP5vK5nftx/DtXL+5Xlx&#10;arRZ1p+t+86rjP9r9++6fkvJopV/2R/nALHv1Mb/3SUdW6wr7TBv/nM9/8vYL+N4yvv/rrLtrtSN&#10;g/wXy//S/b2mv2tsj98CavnnOt3K/9DIOh8fa4h5/+tsGvkMyXP0Vv6tOUSuC8b+svLYzt8C9439&#10;re9/p7StlX+pE7X3vS5k7rm/rEef/V0jm5xn7ZjavDDapPbN+ZdTm98f0v0/VY555u9/dqHd2jnr&#10;dH3r/a916v6stTz6d38/5V9q/7bSZhz7V33gpe51ucztL+F+l22PfKvN+W+7du2Pa8Zlne8YtvlW&#10;vIx1mO/l7ItzGJOtNdox+deyjO+UtbqQfzbf/+YTa+zQGMvfdC7d8HtZzD/2ofv/V/0cILbXqvPb&#10;dG3fAeYR7+eY9ZVVqhVT8s/rRlNr+zrMCcwH5lGbg815bvlm2DrnMLLf5X7w7vsGAAAAAAAAAAAA&#10;AAAAAAAAAAAAAAAAAAAAAAAAAAAAAAAAAAAAAAAAAAAAAAAAAADM5zdT8ocUYo2ougAAAzxta0JU&#10;+s7K/gB/jlEAAAAAAAAAAAAAAAAAAAAAAAAAAAAAAAAAAAAAAAAAAAAAAAAAAAAAAAAAAAAAAAAA&#10;AAAAAAAAAAAAAAAAAAAAAAAAAHic7dq9caNAGAZgh8SuQvnlqkJVqApXoRbUh6tQFY6VcccMO/N5&#10;bxEIsxYwT/AEkoAF3v1j0Vvbtm8AAGzSof3z1nn1ebC8279c25F8236b+N27+rALc/L/6j+f1YHZ&#10;97u2W5ZN02eci1nmvzX9MfL8z6GcT3VgE/l/zDjGR3+MdM7xeIewXVeHjAfTvA+0w5J0f69P7JPk&#10;eRz6PHP3UEb+WxoTSvmna0nneJL/4vJ2WMOU8T9tU2rj7zvI/jTzHte+7rXlv9dnwKH+bcp+Nce+&#10;pfKfM/bPVbOu1s6/efLc41zuWOG64z09zDi/pOunbj+Q5ghfE7bd4liQcrwPzJGGpPtSq+6n414q&#10;ldFd9+eE/iv1HzXq+Bos+Uy25PNwfL6KZdwXyCI+X4xtm/LfYt/+2/kv+Twc23zT1628rk0dE/K+&#10;6yuc66M+run79FL+zYzzWKNaazI/baOlPv/Y/j/uTFmHnXsNcS0i79tSv3DfcPY1879UyD+5ZGXd&#10;RvqclOMx7HNqx9eRun2bUEbp/LY453t0L9fQ9sfyT5nm5Y71BelaY91M+045l/w4eZ3YoubJbB9Z&#10;cj1gLP8kzgse9cXHgW2m5B/XAOO6717WhJq+TTzzXJxnv/S7sKn5d04hn7Hjfbbf53ixnNL8r9s3&#10;tfdzuPbrTrKf65bdu6WPv/Sx587/3kL9il59/18t5V9rXWTp/MfeMw7N/0r1Z69rQc+4LDjW/0b+&#10;Y+VM3a7U73f1YevPAWvzG/nH9p/eg36EuVCq39ewXWnOn/pC/wlbX/7NgznrlPH/Wvg+7//vYftX&#10;37e9WLL9x7ab3vvk8//SuH/Nfo/bl47/6nu2J68e/+O6Qhzb47uD7vM5+8y28+/G/PtA9un30ljx&#10;0/Vu1pF/J/X7Q883pTqw5XeAa5T/D7d2OXP2Pbff1wkBAAAAAAAAAAAAAAAAAAAAAAAAAAAAAAAA&#10;AAAAAAAAAAAAAAAAAAAAAAAAAAAAAGBN/gI7hxmAP4Ji9QAADtdta0JU+s7K/gB/koEAAAAAAAAA&#10;AAAAAAAAAAAAAAAAAAAAAAAAAAAAAAAAAAAAAAAAAAAAAAAAAAAAAAAAAAAAAAAAAAAAAAAAAAAA&#10;AAAAAHic7Z2NkRwpDIUdiBNxIA7EiTgQB+JEHMhe6eo+17tnSUDPz/5Yr2pqZ7tpEBII0IOel5fB&#10;YDAYDAaDwWAwGAwGg8HgP/z69evl58+ff3ziOveq5+JzpawAZfj3wf9R6fmK/jN8//795dOnT398&#10;4jr3Mnz58uXfzy6+ffv2O++wN2UE9PtHRtT7tJ6Vnk/1vwI20f6u9l/1Ufp2laaT1+3f+Z1dVPKs&#10;5ARdGr1epcuuZ+28ez5wauereuvsH+Vr33W5tG97HpoPeQWq/q95ZfWO+58/f/73e+gt0v348eP3&#10;vXiGuqgvC0Q6vR7pM0T+nibyiLy5F2WrXkgX1/V56qBpIy9PRx30evyNz6r/x9+vX7/+fu4KOvtz&#10;TWXR8iNNlM8zWZ8jPfcy+7sMUZ7bCJvH39CZponvjFtccz1FGp3zOLR9RT6kRxfIqelU7vigC9qy&#10;yh3XVB+qZy2f8X3X/vrMFaz8f1Zm1v/pf528gcz+6m+oU1Z37Bx6Vn3RLuKDL9A+qH6BPFZydrpA&#10;PsohP/cVVZ39+ZDPy98Z/+8xF7jF/ug8+iP17uSl/pX9fR3iwLbYPf5GWyB//vd+hqz0UdqLQvOh&#10;Tpku8LcuK+2RuV5lf2TU5738TG8rW1zFLfanHWu77+QNZPZXf4fvzfoofd39j+o27nHd/SS+I7M/&#10;etA2lulC06nNaRfI7/bHP/JM/OUZzTeuIeMz7E9fUX3QnwF19e/qbxnfHJoemelb+j2epQ90a6XI&#10;i/v4TcD/kcbvISd9LwP1xodkutByMvnJX8dD+of/77Ko/DqXqfTpuh0MBoPBYDAYDDo495fdf83y&#10;b8E9uIQrOC3zNH3F257CY+XEpVjPZHGBe2JV/urZFZ/WcZiPwqnOrui44m3vIavGtqtnKs6q8h9V&#10;XHq3/Fv5tEdB5dY9E16nK3J18fx7tetMVuXV/P4J51WlPyn/Vj6t0pPzhs4p+h4F53iQhXycA1np&#10;rNKBxhW7Zx5pf/TjnFzFeWncXmPmVfrT8m/h0yo9EaMLwLPC8yHzyv7E7VQWlbPTWaUDtT9yZvJn&#10;/v/KHpoT+1ecl3PWyr1WHNlu+dT1Kp9W2R/uWPkj5RQ9/8xGyNz9f6oDz6uSf5crW6Eaq+BG9H7F&#10;eQVIq1xMl363/Fv5tM5P0oejjGgP9DWe3bW/jhme9lQHp/a/Fepv4BqUd698U2YXrvvcwdOflH8r&#10;n9bpKbO3zjsZF7TszEYB5RaztDs6eA3769jJx/fiKS+IT1POC3my61X6k/Jv4dMy3s5lA8opVmUz&#10;J3eulOeRZ0dnmY4970r+rl6DwWAwGAwGg8EKxL6I+ZyCdSBrmFUsqksTc9sd/uce2JE1gG4eWeau&#10;LPcG52JYd3sMfwXiH6y/d9Ym3fr1mfsZM65R15SB+E6s8FFldtcfCY9dB6ivxre69q9nY0iv+sue&#10;5xnuab2d94p77pf0zEGmM57p9El/8ziGx2iz8nfyymTM0nXXd8vI9LiDVRxJ9+RX53GUg/A4re7V&#10;1+dJoz4HnSuXo/FA5eyUD3CZ9BxRxZ/h88hHY/5al6r8nfJcxqrM6vqOvMQbVcYTrOzfnbcEXczS&#10;+S/4Ou3/6MrPM2TnO8mrOmdCOchSnY3I9O98R1d+lZfu13cZqzKr6zvyZno8QcePkd+KZ+zsX+l/&#10;52wR+fqnyxd50P2Oz9L+nsXis/I9r52zhFWZ1fUdeTM9niAb/5Vb9DZf7fu52v8zXVX9X8vu7O8c&#10;9Kr/a95d/6/mf13/17KrMqvrO/Leav+Aji0+huGfdHzp+CuXaTX+q9xu/4Ce4avOn2e6Ws1ZfDz1&#10;MU55xax8RTf+a/qqzOr6jrz3sD/1rtb/ei9rm9zXPuQ8ms//PY3OkX1On83luxiBzoX5ngEZ/D7l&#10;deVXea1krMqsrq/SZHocDAaDwWAwGAwq6NxcP1c4wEejksvXHx8Bz+ICWbv7HszVOoL90s9EFWer&#10;9mO+ZzyLC8z2MiuyuIDu2dX9/yfrV7UVsTa9nnFu2J97ngdy6HXnIne4PNJUa/TOLpke9FygcqSV&#10;vm7lG0/g++/VPlXsj5gTfmOHI1Q/o/Erruueefbve7xR+cIsjyxenXFGHS9Yxft2OLou1qlnE+HX&#10;M33tyLjiAk9Q+X/sjwx+biXjaFUH3kc0Dqfn+Chf+4VzbnxXfVRnJnheY+v0kyxG7f2Ftsf5FbDD&#10;0a24DvKr9LUr44oLPMHK/yMrfS/jVXc4Qs5SaF/Pyu/k0Xy7MzMhD22Wclw3VTmMberfKHvF0Z1w&#10;nZm+dmXc5QJ30Olb+6z6eK/rDkeo77XM+r+O313/37E/Zzv1LOdu39K9A9pvdzi6Xa6z0teV/q/P&#10;32J/9//I7uM/+sdPVum8Pfm4Wtlf887G/x37oyO/dmX8P+HodrnOTl9Xxv+ds44VqvW/ct5ZTIDr&#10;2m87jhD5sJ/OMbNnsjlwVl6VR7V+PplbX+HodrhOT7dT9x0ZnxUzGAwGg8FgMBi8f8Dn6NrvUbiS&#10;t75b4x7vvtfYwAl2ZX9PXBRrXjgA1pSPqAN2PAHrWmJ6uq+y2wdcAY7hFBpP7HCljq8FYha+biR+&#10;FvB9rL4Ox2/oepUzGPHRmA1tS+ML6KvjdlXGzv5dXrtptE66D97luFcdQfa7I7T3eI7rlKvpApHm&#10;at/KdMT17BwLcQuNszoHo7/PRT3QDXol1oXfcfkpQ2Px1VkBtUXF0e2kcZm0rsp5Ukf9LaErdQwo&#10;D0tcD/torFDTESel3Cpe2KGyv16v7K/xcdo9bRI9eXxL8/L4dsWrZfyJ21z9mHLIip00AbWfxx89&#10;jpvxe1fquPrdMdL7+wSdOz3dt+XyeBza6xNw+ztvQD76m5TImOkGVFzUjv0rHkOxkwY9Ku+Zyat8&#10;mL9H8EodT7hDyuUDV135lhV4jjEus5nvtaAPOV9Fn9CxqeINvf1W/XHH/gH1f8rjKXbSKOeo46DK&#10;kX3P7L9bR+UE8fkdd6icn+7HugId2/Tjey3ig2/0vRzcUx1k15Vfy57vzteDyv74MuXUHTtpVCaf&#10;dyrfznf6h7eZkzoG1Aa6p8fHZ9ettpNT/k+h4wdzzOzeao/d6rrvJVqNW35fy69k6daut6Txsiud&#10;nNbx9LnMd13Z/zcYDAaDwWAw+Lug6xhdz9xrHtntSYx1kL4rZadMXasS787Wgu8Bb0Fej+ew7js9&#10;R1Khsz+cAOl27K+xFtY7PPcW9HmCtyBvFo8kTu4xG+e0iD0636VQ7lbjFQGedZ+jPLTHIDwmq/y/&#10;6jNLq3kTQ6m4GC8X+TSWoxxyxylpPbX+Ki98zo5ekF3LUblO0J0xcY5HuQiNpXc+w7l75ZXhCzxG&#10;qvXz843OwVb+n3KyMr1u2d5sb//Yjdinx3yxbbZvm7YCJ+JxYuyt7aLTi8vucp1gZX/s6mVmsf8V&#10;j+g2CjAHqGx6kp9zQd5fsryrGLDuD9J4N7HW7LejKu5VfY3urVKuJfMZK724v0OuE6z8v9tf5wm3&#10;2p9+SVz9UfbXfrFrf/wGeanPI1+3/2pvB35EeVXlD8CuXqr6nmA1/6OecIy6B+UW+2u57odvtT86&#10;pBzVy679yUPHDrW57nfZyQd/rvyfy+s+P9NLds/lOkG2/vN9RTq3yM5fq24cK3vR/nX/wz3sr/O/&#10;6txyoLOb93HNk77Ms10+Pv/LZNF9GCu9+PzP5Rp8TLyF9eLg9TD2/7sx/P5gMBgM7oVs/beKZYC3&#10;9K75jmc6ha7XuvG2ip2eYFfX9ywzy0/jP6u9kQFdl74FXDn7UIH41+5+zVuwo2tP/wj7V/lp7Edj&#10;FX7GKeMIHcQtPJ4Od6a8Lv2PM3HMfZUP455/J3aqdfB3JFaxkqxuGpPRduHyKLJysrrC/7iuNY7v&#10;Mqm9iFM7V7iLyv9rjF/PS9HPlPOtOEIvB93BnWj56EXP1aAflyeLOep3P39LO9J4OvJ4G/C6BTyW&#10;7HxAtg/bY7PEz72uFYen+Vb64HnixhUHu2N/9/9A25aOUx53zThCBxyV8nGuw+7/XfujFz2P6TIH&#10;9GyPQtNlNlZ9Zfb3uYieravyUv0ot9jpw8vh3glW/t9lyvZaVByh64Q03fsf72F/ZKKtZTIH3pL9&#10;K27xWfbP5n/4QvWXuo8Cn1RxhK5T/H/X/wO7/g7flOk8m8Pv+H+tWybPPfx/Zv+OW3yG//cP9fdz&#10;sHruUOcpGUfo5ejZwap9e1rXhc4zq7OZbjfFav4XcPtX87/Od2bldPbvuEW/d8/531vHvdc7g/eF&#10;sf9gbD8YDAaDwWAwGAwGg8FgMBgMBoPBYPD34RF70dn79JHBfhP/rPa9s8fS32kRYG9M9nmEPnVv&#10;qcPfaVxxiexL83x9/wjvANIP+zeeyVN2dTnNR/ft8ansr79jwr4j9tnpPrcsz2pv8K3yd3v11Yb6&#10;HhCH1hvdsodM+wT5PattV+jq8sgydV+k9o2s/zjYr5bl6Z9qb54/u9obsmt/3stE+vjf37Gh9n9t&#10;vIb9/XcH1D70ww7sI66gfanbyxbX9bdFOqzsT9uhTzs8/6z/c538eZeb7qHUfZsB2pu+a4l9fvqM&#10;7rHVfLVNkobvJzgZQ1QX/q6hrG8rqFtXnvqCzPaMvfiGVZnkqe/vUZn1/XIn9ve97lznf60n55J0&#10;nFRZuM939IrMei5E86U9qNxXfNPJfnE9X6G+AHmqvk273PHn2dkBzcf3lq/kx49r/gF0p+9iUz0y&#10;5vt8pdKxz3m0TtpffU+v7mXX+ZTmkb3bj/bg/fB0TOCcUzafcWBD/+3Mahxm/bQzliPL6dywsz96&#10;1TEL/+ntSO2v/l33mpPnif31XCLtV8vM3l3l86zK/vxPO74yJ0C+7ONAfnRHG878Orqr/Krne+Xd&#10;dYHK/uo3AW0xixXomVFd31BXnR9W5xsy+1OujuV6Xc+lep/Scx+d/ZHJ29cz0MVdducWke6q3N14&#10;d9Ke9N062pc+2nmKwWDwofEPiCRqout3vRYAAAR5bWtCVPrOyv4Af6I2AAAAAAAAAAAAAAAAAAAA&#10;AAAAAAAAAAAAAAAAAAAAAAAAAAAAAAAAAAAAAAAAAAAAAAAAAAAAAAAAAAAAAAAAAAAAAAB4nO2a&#10;iW3rMBAFXUgaSSEpJI2kkBSSRlKIPzb4YzxsSNmxZPiaBwx0kOKxy0Mitd8rpZRSSimllFJK/df3&#10;9/f+6+trSoXfg7Iel0z7EulfU1Wf3W435fPzc//6+vpzfst1px5V1i1Vvn95eTnYY+v0r630//v7&#10;+y9Kdax6P6P/afvP4P+ZPj4+ftoAcwFto64rjHbBdYXVkfgVzr1ZmnXMOLO0+rN1ThnSP6RXUD7K&#10;MUpzpIpXaVb/5/yR/V91S/BFH/+Jz7iIL3KczPmjwohf4ppnS5VXXdexnpnNRVke8mNsyvMsW6af&#10;VJxZG0i7VL7P4P8Otpv5/+3t7fCOiH14pvfHTCN9QZsgvNLinPZH/J5WHcs3vJeRXvd9PpNp0p66&#10;si3nHPjo/p9p5v/sO32eTEr4sOxY7SbHVMpQ9zP9VN4jr/TfqB1n/67wSh8f1vlsDiAeZeT9J+89&#10;itb4P4XNmG/p5/lugO2xYfbr7Jv0vXw3GI0V+T6a/T/HkPRVliXLO6vvEo+irfyPL/Ft9rWeTn8v&#10;6ONJjrXZ92bzUdaD/Hp7yPE802TM6TbpZJlu+Tvor9rK/6WyUb4Dlm37e3v3Ne0k/cD7BGnRpnjm&#10;FP9nPMYk8iLNXr4lPer8r5RSSimlnlOX2ufNdO9lL/nWlOsgl7BhfRvNvmv699RftfZ5tT+sOdSa&#10;yWzNeo3S/31tI7/zR9/8S2shrJv082soyznqR/zjMbu/lN7oepbXLK1RvybubM1pVua/iv2y3Psj&#10;X9Y88pz2wjO5zp5tJPdeOWcNl3s5JrB3sya82zrLmeuJdY/1Ztaa+rpShfc61r1MK21Xx/QZkFde&#10;ox6nxHol90mXve6lMp+j7pdsb6P+z1obtmY/vms09le83Mct6COs860JP1Yv7JdjXv+3IfchEHsZ&#10;dcy1yrRVptnzGtm3/xNBnNH9kf9HZT5Hff4/xf8Zf/b+kHbinL0Zjvgz/8lYE35qvfqcl3sC+HpU&#10;p/RBt09ez/LKsNE+E/ezP3OdeY/KfK628H/fRymfUKY8LzHWMX4yltGe14afUi/CGDf4jwAb074Q&#10;c233fx9zco/ymP/5fyLzKPX73f+zMp+rY/7PuR079H6SdS318Sl9g7+Iyzy2Vfgxu2cYtuT9Oudh&#10;xnDiYue0NXud+DP3KI+Vg39r8SFtJ23KntnI/6Myn/MuyH5b1il9R9/OumKP0VhF3Eyv59f92fvB&#10;mnDCluqVYdSDuaT7N+fy0TcYz/fnRnn1MNpA34tMGxM/856Vufe1S2hpvUA9vvS/UkoppZRSSiml&#10;lFJKXU07ERERERERERERERERERERERERERERERERERERERERERERERERERERERERERERERERERER&#10;EREREREREREREREREREREREREREREREREREREREREZE75B+Hl45q2TuOnAAAAVNta0JU+s7K/gB/&#10;pYUAAAAAAAAAAAAAAAAAAAAAAAAAAAAAAAAAAAAAAAAAAAAAAAAAAAAAAAAAAAAAAAAAAAAAAAAA&#10;AAAAAAAAAAAAAAAAAHic7dbhaYNgFIZRB3ERB3EQF3EQB3ERB7G8gQu3piH/ignngUObT/vrTWzO&#10;U5IkSZIkSZIkSZIkSZIkSZIkSR/RcRznvu9P5znLtXf3v7pP929d13Mcx3OapsfP7Bj9LPfUvXUW&#10;y7I8XscwDH++h3TvsmOVfbNhdq3N+z21f9U3v/6N7l+263tWOeuf5XqdffvG2b+6XtP9y3O+71//&#10;1+d5fto/1+z/fWXbeu7X79u2/frM9+e//b+v+h7X96v3QK7Vd/ucRdWfHddrkiRJkiRJkiRJ+vcG&#10;AAAAAAAAAAAAAAAAAAAAAAAAAAAAAAAAAAAAAAAAAAAAAAAAAAAAAAD4QD8K+ay4UtoqZgAAEXJt&#10;a0JU+s7K/gB/q9EAAAABAAAAAAAAAAAAAAAAAAAAAAAAAAAAAAAAAAAAAAAAAAAAAAAAAAAAAAAA&#10;AAAAAAAAAAAAAAAAAAAAAAAAAAAAAHic7Vyts6y4037/NiQSGYuMjMQikZGxkcjIyNhIJBKLHMmb&#10;/ghwbm0Vkplf9bO1u/ceZk7xdDqd/sxgtBmM6buuW47jiEYBxvLnrUG4A7AYowv6Oc150q2Z3dh1&#10;bUEoDyd82APKd+kLBZ8wDMP/fTlinstbml518N7rQByUXo5A/PUGXGKREZOEx531kyoia7tUHiZ4&#10;VOmreJzY4vI2vyeUtyzLZLRyn/JHSzwKi+k4ehLAhEzG8iFzkRyWgHJQsP6zuQTTdf64421+T4B3&#10;XGfdjfCHrC89Xo5cBQAbI4MALv5qSEVnVD8suP7wLaaPGlGwJ599+rzN7wkZ3tU2DazjETQBWM5F&#10;6Yl/O/h123Ow9REKwNmuHcreyD7a8RJMpxaknyb86/g2vyfodGyFfjN+6kZmlnZejwHomwGVfEkD&#10;PsE1Lsx61Qx7+bmHL1/bv+tw/2c0JMVAvM3vCa2eNK6y/8BGNoYNfVnIPs6w+oWUPU7hqGL1mwYE&#10;YOOOJ4P1br4LoM+zJVMJn32b3xM6ZQdS8zE4awxLAPa26mFt20ILN0mAB7imRQLlqV9R0bM7vA2n&#10;4ei7cmRMqicBqO5tfk9Q/fwhAQx2hAObBFDIF8CDrjBBk5bhQY82rm27vvcolcNPzhYZmmo6usbu&#10;q9WsAeptfk+AxU2NCvMn6XwsE0mgvDq8vmtQADMSDfQA93hbxDOGFBMbSXMJrjPkLtE26t/m94Ti&#10;0hUTZkMOMRfLvTrir/H9R9oZZkbjyB4ACqDw18brYusWBZsEBIBfVHj+hdOQvM3vCbqsemxNoTWi&#10;o3esaUvo7RXH2DQMeLSeHgAcbH3fNsYWzVgm+IAaSAC6t2T+WR2+n7/9fCK5feHy2tapvP9gK/0m&#10;HdVPZE+v/OuyB43JqpwHxR0eUQCWhPhxrA/mbX5PGJbPVrYrqOpyc1ujm9OeKv12ctGF5KoH2J/S&#10;yt7pFoKkEJa4prV+Hw3J8AP8lyu6uQUux2ZWcm2QvsJQz1hLhhGUYEhg/5Mpj8BFdnfh4S/wpA9v&#10;83sC+eoeXvVze/19K84NuD+NdRrZFzF0Iyy8xnMQI904lPOgRRN5fXkJiwfXaEtLyPvb/J5w4It/&#10;8uoDL+FaYnzcxbMqrl3j5q67BKCL5Z9my1ZgwAMfBHAGfWnEJ6Yq09v8npCr1Vs0+TMY14HH84Ft&#10;7ZuRPP4WMezb+ikfrYGQRo+wCKDSDSSZKwx+m98TuoGXfVvwD9uABPR27LCtLfr/pwAwR1RO9zNK&#10;HPDIbzlLdCR9Ov5tEYlzX3/+Far+dvAdkY+4cOZ/zsAe+ONHV/ZtdI9+n1Z1/T8T/VjBbunT0HRf&#10;7//dUlbJF5ueOM1lA2c/PMf75PYvtEWqd2fpmGu1W5ZiNmZOkik0Fz3EDm/zewJqMez83SHRQVP8&#10;x3a92P8zswHpvkCHYw0T10/ecjYlGkTHWNfgEWPEIgHz9fxxGcG9c8yzcujVUBy8Wfv+yu10imyk&#10;NeTsU2AUyeLBp2rwyJvFfb//U9zcAPQtRXxwdBVuAyQ0LCj7x5ubAPiYTxadu5lPjvJVWHzd66Gu&#10;PwhAF536+vx3DnjW++rXFZM+uck0Y3TsEE+33H495j455FhdPjb68F8KgXizGEiAv83vCZyt9eX1&#10;OWJvOeu/LOTNb1facz7WfLr4l8MHwTIlfKCUwmrUqfKr89fz5xUdgT8Z7+6q+lSXjgQAPl31ku6Y&#10;WmW4OEAKQD5AOLacvt7+MZ1Ibj28O65//MPQdmqwuFEW77e/7HeM/xtFZ0Zf416wjV7N6W1+TzgX&#10;WfOZppp/1/9YIRGgXczHqgtTlsAefXTRqhokltOxLZGyRQlMWBdSy9f7vydJ3+PC8bF/X/+95kHA&#10;HcZgzxXi/kwO/UHYUsgh7dm7GeoGb/N7wkVz6PpOdUzjvv6UBsB8j1P/SfqGkQPhiYPit/k94aI5&#10;32noy8xvWB8xdNqt/73qjS3OMymH/5y/DELAt/k94eKf/xCa9tP44epXs7/+pwZwhpw0ILhANjH+&#10;Cv+YwFx590cDBrQBG62qPT9VjUF7FxYLhwRw7hT3I/xjObriceX7CjkMX4Zi54ry2xyW7fyULb6d&#10;yfMygqlQwQfFxWMWQNu7eaWd8ivrnzAE+rgz390qKnMiKjn6FLZIgC3Y81h03WfgfCU/fYfZE/Qq&#10;519Y/+gTlD3LGw+XPisKYf/oNtT/IEUMCQLiO2NGyJqmlkKPgzLpRQToIjg/f33/S4fdPrYscuXf&#10;doMvblCN4WEpt2WOa5gXtAjLRvRDz0nBEuucuXNOn0D7TIkLi0v0Nr8nIH+lpu2o1Q7jl8SF3prZ&#10;XfpLqytWTfypHaJnDdg4e4DNVKBEb/N7AvNX48ZuDqzkPg0UxXJmN5oeoxskuVJcGLFnri0uE1TD&#10;+hnz5mvm8rFFBVHqB/hzfs9v6jrJlwkrvR3v/8gxHdaBF53WsAR/tsJg5iRGzIHMXEAHEXlQobf5&#10;PQEXD3N3G/p27PjuOdl58GATjrOc32cwa1ucag8URPk9ZT6wNFb2SAABjLBTdg3ieZvfE3D58dCK&#10;4Nu1xe05Pb/jgNYQd3U/cq7o7PbDQjj2CpjaHBb2tCb8DREThm/ze4Licjbs4EiMzC34S2gAsPTf&#10;s5FbaxG861AIYPGGlDnvcaVHNFjHn+Dfo3VLAXqeEPPlz9COSCOUOSwfcbo2wsFXHcS7azERrCL1&#10;m45Khm/zewJ2suCCTtT0pP708Mam6W2Y9yUk65fziKMihynMq+tXVARbRqontHGj2Nv8ntDiDsbc&#10;7a271WzHBzbxNlAD4KUQ0AdES606ffcHQEXMcArOc8XobX5P4OWn7GdPPXsFk1VhW8JAwYC6Vwh3&#10;7pBS1DN8YptDyCmxAbDcKPY2vyco4q71RBlcXraWit8AsHJDgJRX3RPc6dTqP7nwZT72EiRyLdFy&#10;p9jb/J5Q0542cnNbpX9m+5oaCUE+fy7/bCSAERrjXHCJTEA2Nu+fTOu/lvj4N/ofOV9t13A194EA&#10;SmTr/0n1uGWi0YClnPFx5XjBQliwzEY1dyMBDfPYLPQ2vydg3944b2DWrib+Fqs3nOyzyzpDSsca&#10;to9k5DlbYuay4pAEmY6/2OLi3fQ2vyfkuFHX2jZdzY3g1Q9HTfYVBwBzmn+GQ658IWwCU7bI5BJq&#10;fvTLclbJvr//6VLYWw87eMW5rrFdyukf9pragE/AsxXaHmvKkMJgu9FUiL16Cd/m9wQ01hkj+3iN&#10;d/AACK/xBPt+dLWyV/6CWz20Q+JN0PH3RtpDet5+iH8q74wCcFd3KzeFUE1goI6YczKia8En3rJW&#10;2CJr/ci1c/SlTvn8BP+yUjD1hKfWXPUfWdT1bzuq6VqqbSvMeTlIAI14MNr98OdwHPvSIM7FR22+&#10;vv6thjXV3tfM3i+RgPYPh7lwYu64v52yXu7YsSyKp95aa8fQAQP/m8EfgFLi1/s/nfJl/5PTtnBr&#10;M/nDRSfI/tsVqNvVY7NfnX9aSDvG6JN3XPNG/jA8sJbIgbrA3ub3hK6npTfjEIeOyFP9fl35/HfQ&#10;HpvghIQkAJ2OGBLB+g+4X+r0Q9/BlyEKitwF9Ta/J6jeI/22o8S/4VEWkAqPf1wVgMGcx2Mxjx/4&#10;AifPWAAKesW1w98I+cBfiH8cNjGQz99A+wIoMCrF/A9/V9xCthBgHiE27tkloPmXYUw+DahR7E5/&#10;/f634x8fPx9LhI5PSvVTAHDG9A1Ow7EAJhwO66tPZOMSA/Y8F7ufYlogY/QD80+17NHRIANYc3D0&#10;yH+jAdgxZmhuXVEdaoqIGiXas2sOgqCqKDmU8wTzId9//tXuDtitLel62eYmfcp6fmaO8Cach8Si&#10;fksC6NoqNbIGyoSpmUPEREmCUUKYfgjr1/s/tP4de3ZtA45QXvJmNbi8DZa4Pc9yojCSt3RJQIu+&#10;UTEbMAyJfxt1j5kiFGn4Df8PG3Wa6ezb5rGFCJS7jnZE0CdhYBXYTW4x6sEsN06KNhAggrFIHDX+&#10;Av8N1njKZ98272GwAWcnZO5rORwy4Nt5EQQQJ38goKcI/lFacz79wh/gD8o67HE4+9ap8ScZLO82&#10;WP+NunYDYBvMOdva0fGnigsJ0yKNietSxLMcs9PtGEJ27uv7H52FLbvxaCtoPCQ+YJKDBpvAIu6m&#10;NgO0Ge4Iqc6+7mhMFmYBizOkMOmxbyWiMlxI6b++/7uhoz5y9gs4o+XyHZX/8W+D4rCnMTwHTOPB&#10;LWVP4RqIg5QDsVP1HMpJX+//VTsd2MYXjqAA29kNA/tfXyMwqTyqLb4ex37NAKnC6cY/mjON8PX8&#10;z8FFsuoQs1Gv38adjivbf3L04ZacwLPOodg8F3Isq5/gcGjPUbp6H47WX8//Glzk2QVo5pkXqOsF&#10;7OPLPOCgr8xGRP4B4l9qd12xFabpHF75AhYSzYPWw9fnf0/nfhvqDT8U5A31HptlHTgkBlIory0t&#10;3vusGx78nNk84B4xceEhgHne/dv8nuAy128OuvziyoHWot+qOnMOfHEP1Gc27AHT1Sh1PI7EMOIc&#10;EAjw8/X8YzonOrCspW8CYA1w08TXGRg9YWJ3m2jEsQC/Hc+6Gf1Ur8Us4Gno3ub3BOPttQXSZs/J&#10;Vqh68mUGx2rr/R4TtHfvU99Vqg00hewDl034p+osjM5v83tCp9R4G3x32twkcEnGD3W0a1qPub+o&#10;Ng3edzJySww3RNYv7l8f/8MpTUO9WLMa9K3KoW5TEBtdkgFT/+vQ/9F2MIEfuvIIt8GtXyB8ff5H&#10;caXjWDDn4eoU2K0NJkecjz2l4msWmCXQo/gGDiHQ7aFR8pzT19e/+9qztK24/r029Ta3rqP1z2Tj&#10;ql6oyfBC8yZoySfgswMzoqRROttf4G9vDX+a5iC5DwBofHbn4RNrnXnv/fBnJp5yBvXM78/a2bGv&#10;i/l6/l033gb6Qnve3AVpbkgNOyx+7meDm+6nwfwVAN2hd6ueDvX3TV/v/3LHMyFNeJMft3eShzNi&#10;XDxjDyxJwJ+dEiSBbqZdcvWPnY3i4evrP97ZsIIGpBhmVTw3VUMdngTE7GY7upkLI3pep+HWKVH4&#10;kwM1neuPy58X6Bf6/vtvvDs8DDRa1ZfFHkOxZCQA7fj6M1hsqOzAAWjgLrA43FtFahtc/uM2ZJwW&#10;8l/v//VmpD4vOsrQFVpCHvvWHSsIwEBxf9pX0zjfO/RqP95cTnLXc/wQT88JzCZ0Ccc8fH3/0znm&#10;hLp+nQQL1L89DP7tccH9PJmUmerur7twTW11ybqOkON9qUVHhp/o/1enBNrpdotVpAZASurkFV2g&#10;8+En8o2Xxp/Oc1IcJlNKIWcYE/h6/5cuKyL+Jbr9hByY0XAV/5ZC9s/wDwxIhOTi1e2+J6cVDtHP&#10;kdRkxe3wNr8n4OnGweyUggX/jozAWNN/tJn/veAMGn6vn0WKAPvRL+wvsj14m98T+KpTPOsjX18V&#10;yACc6V+sCPqw0PhHiPXm01oZjmE8O8c9DEihXNBh+Hr+6MpRrcOs0LVQZzh2f1Y8CpfVQVYM24Tm&#10;Wtvy/P+o++s4uFrF40/cfwiTfuX1Ie+b6I7Xc4bjfiRsA1KEy9A/bTPSjxq6Oyzr/pY1MtWdXtFf&#10;epvfEyCpgY07HbqxDv5q0dbtZ/77uKI/vO6+g5zPCj2vOBJzpodJANcw9PAD998LBAKBQCAQCAQC&#10;gUAgEAgEAoFAIBAIBAKBQCAQCAQCgUAgEAgEAoFAIBAIBAKBQCAQCAQCgUAgEAgEAoFAIBAIBAKB&#10;QCAQCAQCgUAgEAgEAoFAIBAIBAKBQCAQCAQCgUAgEAgEAoFAIBAIBAKBQCAQCAQCgUAgEAgEAoFA&#10;IBAIBAKBQCAQCAQCgUDwv4D/BzR/CDSC1LItAAAON0lEQVR4nO1dP2hcRxr/zXEgpZQMW6TaIiAb&#10;XMQwpDBIBhVJc4VDHFjDNUkRkAwpXKkwaA0uXKUQyIIUSRO4BdskRaoUBlvg4nhFCoO9cIWrFAJJ&#10;1zmq3hXffJo/b2bezNu3knKeHyxPu2/mzbyZb77/MxJ1XaOgoKAgBX877w4UFBT8dVAYRkFBQTIK&#10;wygoKEhGYRgFBQXJKAyjoKAgGYVhFBQUJKMwjIKCgmQUhlFQUJCMwjAKCgqSURhGQUFBMgrDKCgo&#10;SEZhGAUFBckoDKOgoCAZhWEUFBQkozCMgoKCZBSGUVBQkIzCMAoKCpJRGEZXSHEZUlw+7270DikW&#10;5/Zu9NzlDnX66Uvuc7q2K8Vya109zoud6p8TCsPwQYo3kKJumbTX6mPWy1sMFw3U/3eg99qeQwuv&#10;AbzsUOd1a6k2SPEvAK/VNaf8iw6tvVR1Y/SzBXqvrY71myCaneuZm3+f58PfK0hxBGAJUtxBVT+K&#10;lBtjPovRxBRVnUtstwA8Vt8mqOrbvffqfLEHYARgBCk+A/ARqvrIW1KKNwBW1LdXZ9O9MwZpNkPj&#10;l5G6rgC4pu4tAACqWnChi8Ew7AmaJ+yF1Bw0xkBd1yGFe+8tqvpPT517AHYB7EKKEap6bfbunhGk&#10;eARgQ307ATBVjC0VDxtjQmP7GwAEx4Lm/Zn6PGjp45vI3evBxc+o6heQ4hKA/wBYAknxJlO1JfQN&#10;VHUXDaMJYshXjV9Gp9cmjQ3VdRtSTK07VT3u0PYYswgpKdZ4HC4Gwzg/bCE+kLue3+4DGAOYwmRy&#10;Vf0IUjwDqZmrSuNoSjGa8HFyDzUzvYKqji2abmgy6wXkE9cEgN23qv4TUqxG2l1W7R6oT5vAiN0f&#10;ANDjHFflbwL4BcA3gXIT0GK+AeAg+Kz8uXgA/zusIDzeI89v48x2YzCZ0QGIcbt/WwLyojCM69BS&#10;vQ1sz05AizcHB873SaDcFmjhTGAPaqwOERFJsUOQFFsH8CSzj2cDKdYAPDd+yRnLdQAmM3gbKEeL&#10;z5BQBlij2EFVP0FoIbDEN9TiKGiBp/g8ns90X4pcBu7S+DaIIfjo+CWIfu5AL9w+cL+ThmLgYjAM&#10;ksJxlZKh1bfpzBKX6o89bYxAnP9+axtSLFtaRFUfKaaxrhZCqN4i/A4vF0N1baqnTUwS+sumAi/4&#10;YwAfBswsX/3NjLrsN9gA4DKMrwHgdIxI4wgLjbDW4JqIB2gy+RiGYFs9r54rfOJwaVzPZZOOpTgA&#10;MYxn0fkMmWn27/ey+tmCMMNgmyuXI0lxK7pQ/v9gq8MAE0fbGAyRp/r71FMfxsE7TVtWSxyX8TXr&#10;LoMkH6vV7dKK/AYA9V07UUm7WQCwb5Q2n+1DSGtgE5HbPILPNxGCHpN8R7F+RsgH99oRcObzJ87V&#10;xD2Qv+NtS8uh8TJ/vxoo0wkxDYNtrnHmMx9Aiu8R80JfBKQ5gswJn6VMbHEdg9TVEFLUU1Zvw7CJ&#10;+hjm/OgIzyXvnDWdoh9naHf7AD5x8g2YiE3pdw9+4uY5CplMYRPx7GDOywA0XwCN88FpGc10Tfic&#10;nr57TceuaaaZJqZrvuU5sKNoN0mkWExWVzWWABxCiv68zD6QmhqKWrThFfJUUBdDkJQ0iSLWVggH&#10;LWpnu3rabqoAVX1ZMY0dT9j3G1BI9dBiGjGNJBVmhISJn9p/5JR7Ap9WJsW2up/Xbn5kYCUxh6Gp&#10;iVT1ptGu6Ru6bs0Z0WvXaGBTk7WRooFuKXM7BxajSvFh/BdSPMxoYGj8/RxSzOxoCWAAVlO7tBEm&#10;0DcgBnCzRUUfgwjy5lyZYp8IqdxV/QRScHTgEFLsQWsUAGkJn3ZkzO1IkYDxMu2+m7PDRnuRDPMn&#10;PeUghREsJD7LhMWoUhhGlzCbiW1IsT6HvARzgLYhxRaIqLsvXi0BVjLMqXU0HXo5WGnJMeAJfqm0&#10;DR+GM7TPuAM9pkz0U5Cp8Eq1kb4ow9EKV5JfQRp9tZUZW99Sw9d9+DBsmHQ5gBRdQrB5IHNvyfh+&#10;C6SRujRMgpWZUCzypOforfnzWUVJwnkJ3bED4CG0x38BpNGkS8Om1PpWXY9bJNpDhMwMmrx3yJPK&#10;KVx/CSZR9AHq69cgf5X57CkoX+EqdPan7VxshxutMG17N/5/JeO5PrydsX4/oIVq4rn63TXNU82f&#10;VLjRtseqXb9PinwuK0FHN5lVAHDi0u9ZhlX792vQy6ypF/wNxDRWAbxrTdEmhKTWUuQeQI42Zhjr&#10;sBcST94nicwiLtlSErdy7HXNJEawcykAeq87KjRsPvPL7MiXG62IS/L+nOPNjMo2sEYwzHQOvvKM&#10;CeeWHEM7qndBguySUzbVf5YiTLZgJxJyu4eedgFiGBugd/etER6Tn90b55GHMcJsKnwTxIAWHW/+&#10;LqT4FvG0YZZsA2hH1Zdo2z9ACVrs9XdzB3iR/TOx923g57/t/ATyzj8Ajb2rpRwDuGcx16bd/Dgh&#10;EtSm0sdzTrpuD2iq1aGMyjbkmt5TmD4wbc7uQ2tTz0D0RA5lyh6lun35MIhBLoA0bspMpqzjVdB8&#10;v0QzkvSruoYYxtfquufeiDGMZ9GOdsN8oyZVvQkpdqBt5xUQl/VrGyyxibEAwJ6RSBTPMKTUZ24D&#10;qg63Me0xF2XptL3uGMB2xp0A+AHEKMxkIjf7sx9ooqa+0DjdCzDylKgTEKbNUHi2b7hC5Rd13YG5&#10;L4Ycynug9cTvlaPNDFvu/6SuP8DcylDVtyHFNVDI/lurBtHuMZoaJgsX3nTWWKsxhnEXaR7fFNhx&#10;/3mCmIAAbUvmAfkOfk7Ki2QDZK9tesuEQWqg3tbO43Uz4xlp9uwsNi9pRPdBBDsJ2K3meO0nOalp&#10;Czirr7GMwgcgJrUAYoAbADYCNrYdigy37R+PUPQr/Jxw/kL6M3S4lBiEvZGO6Upnq84aSOB2mRHv&#10;GwLMbPeyKuerTZslpRg7EUZmOg3tAogxDOrAB6DFtp7SfwWX86cRX9+o6jXoLdsfRkqyRP23l+v7&#10;JQHvzmQtbATNxVNDfOwUHCAsUUOOQhdDaAnuRyjsTKne5ia7NH+FzWDCdfRiYruaIy+sprvUnJIC&#10;3yeYyc+SAMbJWKn7cdxkvXXQ2PiS+DhxzwfWLtrSv5sp92S27IIY1xgA+7dYANz1PSjuw6BFkSd1&#10;bZtrXjkYaSAiTpUaq/CpaH5JwLsz2Xlkq4JpfTuCFNdBi2bHO06a4cXPp+iyfZme/RM0o0mL6hBR&#10;/QFNxG0M5ncAJoGaavoGpDhCVZsHD+UmFrn9G6Ob9B5lJjWZtP0KwGpCqjxpvy6k4AW94xE2sUOZ&#10;FkCacZuZzwLfZYr3QQyatYwf1e97ITqYp9Nzvv6K/hAK6b0O3udJJcI379xolE3DNqSIed2fRmvn&#10;bJlvMooTmPkr2nH8QYNomj6OUNiOy2+qdpqSl/xNV0Ehd3NRpO7QnP0Urv7Q7jeJb7nfSCzn5nTs&#10;g7J02zBUV1uTpZyMbRD9DcDMOmKai7ru+USvuEOrj+dzh+ervaRuq9b9aWoBtMAGUQlsL0LtnDUT&#10;n7ra1s22TDMC8I0h7ysBji3Jb9dt9/LrfBTdfxor9xCjZaVt5Z37kbvt3f+MP8FSmo8z6OOkMd+7&#10;9JV3Ye8fsfMofGPimwe7r64QiAr6/jWMfMfhxYPJ5e24/gCk3l1XRG6eD3nN86TvQU7NcE4I7ejk&#10;0NuuUos/Rb5dnIJPQeaE3wSi/iyrhbSk3m+KbvtJWL2N978pWGIZrf2B3o1V+kXFKGmz13yOJwyN&#10;gxvB2kfqGRhpQplDpPuB+260J5pScDHOwzgPEOf9XX2LhY8fe34bKHvctHlX0DwoZqiucQIg0+YG&#10;iNNT4hnhuFctikyMlIOKPwZpN+b7TUG7VFPDu08BfN6h//1ntLqwozsfGtd3IKZxDXnv2o6w05np&#10;ZQISOqsAvkl0nKfgO3Xd8bRtahesZdkbEB28v6eGEzGsqM9UffZBksCUBldOP1UtlFpnbie/YpR3&#10;cxg4nt0++cRoXCmwBCleQIpNnMWJ5FKsgU/L1jgBqamXsxYQmWEfd+iFHufYpwukuKW0J567L08X&#10;Br3bJVCkYgWULfwIvn8D0Afo3wwcgRjEMar6tjLVjkFHJox7aEPnv7hmMT2f6XWCql6Edooehtrv&#10;34cxb5y3DyMUTnRtfx2utH0BzXaWVTlTmk8AfAa/pJ1CJwFpr3dXiaTzUD6HHZql8GefhyH5fBj6&#10;3nx8GDoV/jvo94vnBdkZw1x+B6kh89i7NOe7SR+6/gmAu0FzttmuPSa+tULmthmqtaNctvZFYV7j&#10;Hd5fkyQXNNF/QBOdG078CHyWp+3gskNZRMD/APAF/Iv0puEo86V0s1YEmL6FZnKOz6G5DPLBrMOf&#10;Js79vTM3p3UutKR7pT4D6OjRiaf8ZegzR93xBdJOCtuEFHwKPI8TRxO41F6yv46Y8gjEuMz++PtC&#10;Z5eMVZu7yvw9BjGs1DZ5kZ+oaIjvaEbfIdW3IcVTkCm+BNJ2Tp3BhWGkgpycP4Mmvmnj6bM8D52a&#10;OgGGFqx7HwgtUvq+Cc6FocUwgna+moldbn/H1vdmhIRxAtpktHdBw+B8vqoPvv06IzTzMPahDxtO&#10;A439bUjxFfw7er2JTQHwRi/GBMBXUROPFvlDkPM4xNxj4NwONgt/hJ7/ONMkn9olaAF5h2/9FU2S&#10;sfprvoemcDvd/g/EJmjCfP+vYwzKCp2A3qG/RaqjOwdeDYFNAv2/QH7t1bHX3j9KdvNJSTIDdARK&#10;/74Gf6bxTsSkeAF+x76ZIG/9jj3X9y6k6j/tbOKlnJXLWoVOCbfrUL/uZs25E7r96zGMgoKCc8P7&#10;GyUpKCjIRmEYBQUFySgMo6CgIBn/A8ba7jvXcwuQAAAAAElFTkSuQmCC"/>
  <p:tag name="ISPRING_COMPANY_LOGO" val="ISPRING_PRESENTER_PHOTO_0"/>
  <p:tag name="ISPRING_COMPANY_WEBSITE" val="http://hi.ooopic.com/QQB58BB2BC/"/>
  <p:tag name="ISPRING_SCORM_ENDPOINT" val="&lt;endpoint&gt;&lt;enable&gt;0&lt;/enable&gt;&lt;lrs&gt;http://&lt;/lrs&gt;&lt;auth&gt;0&lt;/auth&gt;&lt;login&gt;&lt;/login&gt;&lt;password&gt;&lt;/password&gt;&lt;key&gt;&lt;/key&gt;&lt;name&gt;&lt;/name&gt;&lt;email&gt;&lt;/email&gt;&lt;/endpoint&gt;&#10;"/>
  <p:tag name="ISPRING_OUTPUT_FOLDER" val="E:\设计\项目\自创项目\2017-11\球形微立体"/>
  <p:tag name="ISPRING_FIRST_PUBLISH" val="1"/>
  <p:tag name="ISPRING_SCORM_PASSING_SCORE" val="100.000000"/>
  <p:tag name="ISPRING_PLAYERS_CUSTOMIZATION" val="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OUKiUuLhOzRzQQAAF8SAAAdAAAAdW5pdmVyc2FsL2NvbW1vbl9tZXNzYWdlcy5sbmetWOtu2zYU/l+g70AIKLABXdoOaDAMiQNaYhwhMuVKdC4bBoGRGJuIJLq6OM1+7Wn2YHuSHVKyY/cCSUmAODApn+8cnst3DnV08iVL0VoUpVT5sfXh4L2FRB6rROaLY2vOTn/5zUJlxfOEpyoXx1auLHQyev3qKOX5ouYLAd9fv0LoKBNlCctypFePaySTY2s2jmx/OsP0OvL8iR+N3Yk1slW24vkD8tRC/fTr4eGXDx8Pfz5618r1gQmn2PP2gZBB+vi+BxBlge9FgEa8iJIrZo30/2Fy/px5LiXWqP0yTHoWkAtrpP93ys2DgFAWhZ7rkMgNI+oz4wuPMOJYo2tVoyVfC1QptJbiHlVLAXGsZCFQmcrEPIgVbOS16FLm+FPs0iggIQtcm7k+tUahKoqHtwaW19VSFaCuRIks+U0qEqMTMsY8XxWiBNW8goxC8FctJfxSZVzmB92qL6nnYyfCs1k0JWGIJ+Bctj0UIO3B38tqCc8Sod6Civs8VTxBt4UAQD9EfLVKZdz8UoarQls4S/lDpxUBvnTpJGK+74URoc5mxxqRPEFOwfVhB6IEOCQBABS8FMUTZCOT60Yc4TQdhnDmTs48+DBtwplcLFP4VEPtmBHIhJnIu6QgU0kAOR6Gl37gaKeBKsTRipflvSqSvSzdjWcXsEttHwrBZjvgTGNsgCE/JLBXUYi46gLz8JzaZ9GYUfg6JuBcj9d5vOwpBxXy3STdTckaYrWbeJ3536JFY/8KShwYyR8i4Z8DEZ0PkbgmIZAHCbtkKL5wJ1hTgSafDTNsmCfmutDTB8TjGOR0SNdS1SXsaJcAPxgOKg+GqQnJpzmkkou9HxBcgwoRN6uFXAuwo0hE0akIONcmjs7sT3P3j+gUux5xIkh1IKCImWagNWb8AeWqQjxZ8zwW6EbEXMf0AZ4lMjHPdO4Z/Z9r+TfiVcu3b1qqpg65ejPUnj12/45ZdQk2VZXIVlWXau2w1vynWKHr7Icm9Dn60/SHNqE4cP2XiUwpszpt2sCz47O1bGiMOo14pqf6R+ulLQkbvh+7QFhjqfpLEJgzdE+D0SDtL+XSU1A0a9oG9BU3vx2gk/otAFXoqRgX4Ko9Ey403feXvyTj0GXQMy7FTSmrzoHMVGMToO+HNoYJOBWVeCzGG3GrYPZLBV83cxl0RhPpzoDujH17rYK5zAOTKQAu2pGqRKnMwP6kB+Z8SjYeaAh+7ySXqk4TU7ypvDMkD76tM/HtQHlbqMzsprzcJG/TZE6eY0VzuKBROhswkmzrr3d8dsrv6VEKCQ5gCLExtfXkYutaTXsKQQloV3gs3Aw+UAsZr+IlNNNbVedJT6DmFuOQUwxg7ZlDwYt4+d8///bE+MqSZhe1u78PAtEjGbAg2YL9SVUlyr+6QBge78uZRR+p9ta3ket5CWQuZOGL3K5401oylcHWQbdeSPI2aJgxbJ9NoQ5Ck/aqLmB0G4IwxcE5cJm5GVijKS/ugAiZUukgFONqnYDVMO2PF++6SmUuhsg+r5XoAzN3FmHHMW8hoPjgknnX9MwEbjlx+zoiVYveYPYZpsCzX+GJRFZDAQNCtm8Z9E3a3Fo9uBZDAvWoStPaNiwGRNGsH2li/W2n265K8yro6N3Om6H/AVBLAwQUAAIACADlColLsXU6XJgDAADBDQAAJwAAAHVuaXZlcnNhbC9mbGFzaF9wdWJsaXNoaW5nX3NldHRpbmdzLnhtbNVX227bOBB991cQLPpYK+km2TSQHWQTGzWS2G7sXvIU0OJYYkORqkjZdZ/2a/ph/ZIORV832URJa2AXhmFpOHPmPkOHx19TSSaQG6FVg+7WdygBFWkuVNyg74ftV4eUGMsUZ1IraFClKTlu1sKsGElhkgFYi6yGIIwyR5lt0MTa7CgIptNpXZgsd6daFhbxTT3SaZDlYEBZyINMshn+2FkGhs4RKgDgN9VqLtas1QgJPdKl5oUEIjharoRzism2ZCahgWcbseg2znWh+KmWOid5PGrQF4cn7rPg8VBnIgXlYmKaSHRke8Q4F84KJgfiG5AERJygubuv9yiZCm6TBsXHwAmEwV2YEtz7zhzMqcYgKDvHT8Eyzizzr16hha/WLAiexGeKpSIa4glxAWjQs+HNae+yf9K9vvnY+mvQGba8CY/IvL3ut64uOt3zm2GvdzHs9FdSaPyG7jDYNC5EJ3SRR7C0LcSUZEzNLnSs/2GwAYsFJVkew1C3BcZrzKQBSj5nEL8rmBR2hjHcwbq7BchOTAaRvXIBalCbF0BXcB4Q7cKoraK/f7CK/sHBhu+B17/y6z4zQ2YtixLME/pb2hYG66QF21irjWS4dzLSki89gnQEvMtSWCu/wa1QbeTcpWSMSZDoay8DRQZMYckLi/5HSwBTjIwVtiz19pz7JBdMEsTDngRyObgTjyhhOTpp1unz0Ls6i5ofdSE5memCSHELxGqC+StSfEqArBckGec6LanYM5YYKVDjRMAU+LGPpQf8N0XXqCItUNKFWYL1Gr4U4hsZwVjniAtsgu2MdGE8fv1JwBkzZgXKFja+HFx0zlo3ne5Z69NL5yDjE6aiJ4Jj0iHN7Fbw2YwobRdyGI6IFQbKpHDBy7MqvtWfnwYj0kL6NP/uZKxBbzEl29HylMQ8akFltQmblI3omquExhYUmBKPiQcRjgyhCqgKGDFFtJIzwiIcy8a19UTowiDFN7CHNs+30MsTocq3GMcbasw55JUgd3Zf/7G3f/Dn4ZujevDj7++vHhSaL6y+ZE6d31inD665RyQfWHbLRXF3joaBm/H3j/xyNf1XJ37/qvWhSla6rU/DSgXRGlSC61Xh6p1X4bryK6q/tp4qmYAjLfYtikNNilRY4L+zQJ9RKr98O/C1tp1S2aLfv9oi/xu3/dvysrxxOw6De6/87iQVSqQYDDdYl/8Tmvt7O3jfvveoVkO0zb9dzdpPUEsDBBQAAgAIAOUKiUt6CqCyzwIAAIcKAAAhAAAAdW5pdmVyc2FsL2ZsYXNoX3NraW5fc2V0dGluZ3MueG1slVZtT9swEP6+X1Fl3wkb22BSWglKkZDYQID47iTXxKpjR/alrP9+fkvjtA0JPSHVd89zdz7fXUnUhvLFl9ksyRopgeMrVDUjCLO6kbBsFIpqHqFsIIodTDAhXwCR8kIZTaub0XwepQ2i4GeZ4Kh9nXEhK8Kixdc7+0liixxjiS3IqZw1yaALc2k/Uyg+xs9LI0OETFQ14bsHUYizlGSbQoqG56OplbsaJKN8o5Hnvy+Xq8EAjCq8R6h6Oa2ujEyj1BKUApPSr5WRURYjKbA20rn9TOR0oT6+/QFtSxVFS7v+ZmSIVpMC+kW+ujYyjOfa+ydexREQ/qGGXnw3MghlZAey7/zizsggQ9RN/alspChMQfucjx9xz2GC5Hr8NOH23MgowVzIBBp9BV+eH7dGApD/Gs59YsZVCvZk6nqwEMyjpwwWZm8kcXtyNlWK98cG9XzAYk2Y0oBQ1YGedNJPpFGtm76uwz3DO+V56MtrOsibYE0FS5dw4K6v7/DL5Y3dFaHTvS7IUMLWK4MUO2WH/KvreoQMlB3yhdEcHjnbHWdwaHKk9pFviH/Oj+uvrcCJPu4r1h5bswn1YGZXhcG9pgVVIoeFWQl6YROkgr/SCswDJrE1udzio+QSTra0sIw/BpfuXhBqlcQHet9zpzssQYoMTjWezVSv66DK9jjelu7HobugO89Q7/J5RBBJVlb6riqaed48stVxP4vHFF8bkPd8LaaSKiI3IF+FYJPjcIEwGSzckA3BkzioQhKfrnLinZwqP2+qFORKvxqFfff0lQ5Y0qJk+g/fKLxDfsAYsDoqltofJ1Q3o3vHQOGbAIjMyrYF3MFZqoYhZbCFdgkECnvlobslSo/eUMNd4wOsMRwWrznoyXCauqb0O6NrlhDXN5wgvOm8TjOcpd/4HtfvfCSpslfrbYCxFd0uNtN+IcgpfDv1XGv7cRG10vwD+h9QSwMEFAACAAgA5QqJS3hHtLmEAwAAUg0AACYAAAB1bml2ZXJzYWwvaHRtbF9wdWJsaXNoaW5nX3NldHRpbmdzLnhtbN1XX2/bNhB/96cgOPSxVtK1WRbIDrLEQY0mthd7a/MU0OJZ4kKRqkjadZ/2afbB9kl2FP238RIlqDFgMAyLp7vf/b+j49MvuSRTKI3QqkUPmweUgEo0Fypt0d9Gl6+PKTGWKc6kVtCiSlNy2m7EhRtLYbIhWIushiCMMieFbdHM2uIkimazWVOYovRvtXQW8U0z0XlUlGBAWSijQrI5/th5AYYuEGoA4DfXaiHWbjQIiQPSteZOAhEcLVfCO8Xke5tLGgWuMUvu01I7xc+11CUp03GL/nB85j9LnoB0IXJQPiSmjURPtieMc+GNYHIovgLJQKQZWnv45i0lM8Ft1qL4GHmBOHoIU4EH15mHOdcYA2UX+DlYxpll4RgUWvhizZIQSHyuWC6SEb4h3v8WvRjdnfevB2e927uPnV+G3VEnmPCEzPvbQefmqtv7cDfq969G3cFaCo3f0h1H28bF6IR2ZQIr22LMSMHU/Eqn+huDDVisJ8nKFEb6UmC8JkwaoOSPAtJfHZPCzjGGB1h29wDFmSkgsTc+QC1qSwd0DRcA0S6M2jr6747W0T862vI9CvrXfu0yM2bWsiTDPKG/lW1xtElask202kqGP5OxlnzlEeRj4D2WY4AHl4qSCUZdonP9AhQZMoUlLiw6nKwkjBsbK2xV2pcL7rNSMEmwfLEHgVwPHwQgyViJXplN+iLWvrCS9kftJCdz7YgU90CsJpgwl+NTBmSzAsmk1HlFlcxYYqRAjVMBM+CnIXgB8N8U3aKK3KGkj6sEGzR8duIrGcNEl4gLbIrti3RhAn7zWcAFM2YNypY2vhpedS86d93eRefTK+8g41OmkmeCY5YhL+xe8NmcKG2XchiOhDkDVVK44NW7Or41X54GI3InQ5q/dzI2oPeYkv1oeU5inrSgttqMTatG9M1VQWMLCkxJwMQXCU4ToRzUBUyYIlrJOWEJzmHj23oqtDNICQ0coM3LLQzyRKjqlOI2RY0lh7IW5MHhmx/fvjv66fjnk2b0959/vX5UaLGhBpJ5dWFFnT+6156QfGS7rTbDwzkaR36o757x1S76ZsSP/7sZP7jp/F4nD73Op1GtEugMa8H163D1P9ThuglLabCxkGqZgEMsDU2JY0yKXFjg37MkX1AcOy8A4tHqCPW0n+LYo6c72+B/4mk4rS69W7fcONp5dW8gfft/ULvxD1BLAwQUAAIACADlColLqL2ioowBAAALBgAAHwAAAHVuaXZlcnNhbC9odG1sX3NraW5fc2V0dGluZ3MuanONlFFPwjAQx9/5FMt8NQRFBX0jAokJDyb6ZnzoxjEWurZpO2QSvru7TqDtOrH/F3r97X+7G719L6pXnMbRU7Q3v83+1d2bGGBsRaiCa/eAdh0UeBALCQqYJjrn7D0vgOYMYo/cIqllCafw4Uw0CfDUijHjnVRvGoSy7GIeeJtYBBxkIKZCD28D4Fcgtgs9/H0K9qyympKshiel1pz1U8503as+47Ighomv5mbZJXow34K8gK5ICo7pyKwu8ux4P0LZXMoLQVi14BnvJyTdZJKXbNmVf10JkPUX3zTA4HH0PHPsaK70i4bCTzwbo7pJ/Fcp+M37MEMFYUoSoJbvwKw/UMe4XZBHb3OV6yM9uUHZtCAZtLo0nqBcjNVel7vZcBp2uiGGtyiHoKQC2bIazlEOyEUp/pNS8gw70kLbPT+hlJNlzrKGmw5QQQ5fFm27uncu9G6Kip0rxL0rtA5dv6JrdPigCoDamUrHvMrLuwjZhWZiOHH3vArOofYo0f4owf1H9HlhgLoj99A7/ABQSwMEFAACAAgA5gqJS3jROIyhEgAA9yYAABcAAAB1bml2ZXJzYWwvdW5pdmVyc2FsLnBuZ+1aa1hTV7pGYUQcDY7WESwCDlRrVVCoYDAkIg6XokKlLVAxgaGIloZAIpeQW5U6dMZLENFgkew61eKFGhG5BEgCRQ0QIJQqUUISFJIIIYlkGza5TwJ2zjk/zjxnfpx//MjKs9fe7/ou6/ve73vW3n9LOBi9Ytm6ZU5OTitiY/YdcnJycXNycs5busQ+89dfRn+w/y0iHIre63S332vCfuGSFXEgwsmpjv57c/rv7NduuTEpBCcnWKfjt4iPu/mFk9PGs7H7Ij4pQqsl4WeuH5c8TuddAdq79j3c5xKcFDK4JoJ8ck3KJ3/c91nyw337Vu/8dP8n+5ITHrZ/sTpipcvqXx4ASoSIhyZoj+Akv/afeDpdUnJlonjiNtNTopqaZLqPxJb7xxYforyK9AmLGVQ3QLzfjQ2edbFPDq7O1vpu95egSbbD2wP6YnztT4bXaUw+tvKcTX4n/WPLT/h5uvlX98zdkcRELY6tCVoVY0eGll/YM3hrfpFzX/iXnfhg7nG7nAT7Q/b/8idzN8v9b9kXcEwcCp4DhrXSzGM+hShDd7wGTVI3GA1CmlUb538kch63ydSHoxKgczjyGEq2g/LeRPG8wGE1i2ZRSSCezdIaT365unWs/fWXi3+7W/yjlxG84UIqaWemJg3m2xVy6A5pWrUzAjek7gJ9CraoZvxTV5CzTDdZsnwFbbbTx0rRljM/mpM6EVWF2zvbs4U15W12v4JLrhQLxVywWnviWDIrNAgxHuK5Icj3C0TXTd8JuWDeF8l8rtuLDQauC3wU5w4RUGxEtdH6u8Oe7w8l+Xi4X19bdWGPXa+Wk/2Wjd8c9lwU9IHXB4y+fBBsC0rnWG7obpe0/Sli8Ez33GJHiAzul76ARJiOwhzMPRiMIMu3YCY86ji8OHnc2n7sY7o+bmPQhyODvOYypTmIYis1U8eFe3uAH/Ire7R9BSd6MjCsektUZU0AamjkaEOjpbXOyu4mND/S3kmfc8Xd5kjZprQtpU1elRowxew1qaTijwkjtuAE6QFQKxcgjJcRDxJr2bZUVCn7AgbYnZsaaajkbC19Th4BSUE+NjO8K2F737Ht8mKD/trHyifymh6+IsEAXsw77p1N7WUp49A6VdySv2X/ZhEfNgl3CX9Tr1HdcZ2BzcK/kq+scn4JH+uoC8QlCyh9WbX0S0oGf41YGdb5c9ufNijaqyPH27Cw88c5B5i/Flc1tLFSkSIA35p6mS5ANKbiYHfEEENRN3WJ/lxqAvApOa0U1K/GaU8Vf+KJWoSvPnugtAcLFtWk2p5FmJ/J2axULpKpxxo8FMLn1/CcZDF3m1D+jD+zbj4Ok6TGK9aurKOElcPe+3wG20Zolq3Tt/BlgkVbXYX6TJmS+126pVZ7TTdCkBFmBScJ4S4KJRtgk5GfEThdQkL18ZzVbCq1uvNVWE4vpY8yriOiif2GXZmjlQIQibdU8HejAF3jsy10aCAihH6cQmXT9QPVAvCZQpcayhDG5E7OiBVc2CUZa0T2gMviHDzCpL8w1vUIlWMV9O46/neCRp8mc/F6pi613/MfdzfPp6Ncnhbi+jrDtbm0omSkjR7pOpTxUxOqZvnymru7hSTTFUUb9vFpMqLRtRv+TjyhiogmNXW/ePMsHf/XKxWmlOiSis5ZBJDKXX+40e/hsPFZo5za2CQAq0oKmfziLilXm9iEEYDwmeRD0qSoa5tFQv42YSAKwMTXBAi1BwIEprOIRoOln6UMIZKYKqOp+Jh/Mg0HqkZs2zLnAi3ney9yo2ut8rnX9bGBrDb6pc7DOa3hXj5fwr7mD+/urdHfq/QRlWQM70YoKH3imZx6qAh/rF9MkCBY7APSRkqqWMwqBc1FU2P3kY0NHH6FbpfCohR2hq0ap/Rh+9mW4VTbwJ3dQVvH73Evq5RcRRqAryYiawLiweluMZ2zLBP96B7MX2W5bi6m5AR/KDk0n+BLPkcl0l6thAaCYL2mZPd8ZUVJSk6T98D5naVNGUL5QHoIrsqZRL0KxLPJpKJe03dNaslGhjxsM/047Cc2GlYHgg/Cv/1RP3Oc6+In5+t9eVjKV9li09U5/RKqhRVCQs/YVSi/Xy2CHUHJhZicegvhgkroEdSXEVsTAOi8+j3bdXnVfKZPk2NfTSOw8JrsecqV7FFlGZvsXntK/mPYEKMCSITVMJCN+nqQpKYowuRY8Pk4x1kpfbGDjpVeVuHc1WweMaUYphcLzUqk0jK1fh/Y2EY/TuXpMjTQMw+H6zwPNbqCiBn9U28DkcrD+6gsV0mm48zOmXoDaLrHASqacLbaWt4mu+eICM+luh0S2DIxvtVzdSN0sRFXFXit+cZbdq8oOQJD8NEt1jJ8pcDCn1lJvs2WvDf289lV8Cfq9XvARq8gUaSKrCDf5RUmILL8u/i5FABe1N8BZ7CAp8wSRRswIrx1wVduVbwm1errsFWL0noy+jMAVdbSLr4f77yaP/1E3SSv63W6eH6Fy2aIY6X2WoTa57cEYFZaAJCU2/t9EOogSELRA3lon8PUESuxOz/QUm9+Mp/KoYdgBfCHWHe8+2bXOq9x/K4q03l1hykZXtGnhq1Hul9SKUebuNpKRVplCbrWtbeCz6bUsqUzebV0bNTXbKHXVlGnwqtNJCBY4qJPEcW3ZHeI/Xf0VtCqrBvPw6LETAGY100nmPQGoMXy+d1Wbs9fKPvv6DOQY59qUPQM0wfnIhlCPtFi6QUeIf5qIN5F0cOhOo6W/JUyjKTdzZNy1cNvVf0Etpcw2oKDL1fmXirBabIvOX8Oy2J8yFr6rTqLJtxM31Q6XFfoww9ofZCf3LVoJ7TbueMB8kd1pjLEmU/B8S4rq/n3vW8mWr2+creQgHDUCROWjfUGb/TxJwcsQIs5AWweG9BSNOAARclG0FHB8W+JI1Je/w8ovEzpe0k4qRj9EPqDIV9KnViU03OSpFFtfnDehZ4SVck3by2gooLXYQXHyiCKTBP8DuesHD4yfGdp+Xw5uxa0vPek+apzwl3AebptcfolYQhQvNkM/ylwE21Z+ExMmalf2wcWr+m4hpeBq0zEg8GLJYWvYw3BYJmYt1UORyj4tsy3QZ8MP6tMYHaOouEefXH9oo998Td70/Ho02XCMGXaFZWCT57ZCVzjXiei3A1Tett9BES00j9GUhnU5Xa+5uWdcc2whM4bl5HpVBlpM370Nfy1MPNOG4VbEO46bvgxlyRaz0Y474k6PTIz0FF8F1DFFtfNtSPX390CbJZ6j0MwM9ggFwu3Kuv7PNfibwqzbBA6L7e3bTINLUXigD/sHTzztuCnlaJ3vC7D7a1MWvbFnq4XKIySeoy8a3wH5ufAibb5VFlx2Zm45CT8e+UeG8LeHVw7yDGOruO+yz2x4q1QLBLUBs+Wb3zbK33571ul8utH5ziVmQwKl3w0eE1j4q2eZ7O/Zf6r4/o/NWgf2qZ50f+m81M7+5hHXbX25tTprIt92ONpb2mdvg5a5ZjJ9HeMPTGOseKCY3zfb5F9tDd69vH7BcACYAGwAFgALAAWAAuABcACYAGwAFgALAAWAAuABcAC4P8DMOlcOHdoFmsD5s4my/13/mfHav6x8weRseXfvV2ggXTOxWYU8TTUmXpAwtEPHS7EWCaTtEjwirDthK5ZN6vbBRa958BoG5gTM/2JgfUIxexEPK34l5RAUR9WMUOCLO+M16EUcOjlhVEtzWaSrOW+Pi1xNd3vGesbu+yQflgbSDMI4kzd0jh5LUNJuJ2qvFWdEd+tfQEXWgYDvN2os50+GmQ744h30/W1opbPUHRbou7LDXaoQLApnpXp6yEzSSGrZQrGUE1JZm4JtHLQ+s3sI7+OxCMYXfN7nEpv05oYNo71R8f7VjSyTjf3SpVXw2xJVEsUn49Db4jUwamXF9K0EeFrytH7bWeSfIkNdp8MTuuW9XJs51uW1Ay39u3s1qrBnhjfiV9MmLbF3XdO27WHMVhHZCbczey82xxx6kVz02vQaHWxO5wulcr4fLs/r0MMxj8wYmjDs7CnUuzdA9ypUeIX/mVvXqktFPJyx7tamsh4wPTZnIQe1PTswFmXaCMI2MiQREuFNOdCpUVR0ssC/2rRbytmkZTVhQW21onhq19qQ0STdJp5jAfoLcXpfh2NhEDStwSBU9mO0adJGI5pWMQtgBRVOOSYXoThmZ7UIJ+qPH5//Ve7dIR8IHQIXkCz62DE0S2B+zn7DzYUVmXrB+z7EXNvArCZlZJsFmdog2+gAD6ubpJp8vGSkajBFzNWpHe57WMSJCl0l2oGxJGOsFNvsI2k55iGDuOeSgfKtHnbGbjAdwmGD6CdKBmapgGRMtSLT0hN8EzkEjF9DFFKvKoifC6/r1feIZqMeSPFr7QySvCqr4xDTdx8yCCkUQs9nl1UKULKYU0QlBdv5edaQtEigUIEjnnbQ46TxA2haHmM/p3Ag5TDvBPpWmBEUCjCuM+S5DxI0foa594BBhmu1g81AWNzci0etcItwg19WzBKkRifgjx63LKpQwlo+vkvBrCJUtuIAqkxWdzOusTRjL8CxkwX8YbRCjplKqMQZZ2ma6k2kwx8aH4VjWohyS8l7foT5i/ggN0T5zOwrCZrc7TdB+6o1MdeZYSB3vQiNBdZKvF0wy/tFyqN8FdCyn74Ujp5iAJj8czyQBtB0hYuXx0FNsY5trCm1q/D2KZI4613Uwyg8CnMJGbiuBJUVVzw5zFVwqJyejzVUpa06qwefrXqQtpmWdl2WUna7sXjobYknvFTuVIscKwqo0yfwYyEf6PTiXd7gLWljXa/eWUHyEx5dMexuZB3dHupAD7V//521zE1C0Qm5oRCO/pY/OWLPb0VWPC5Pn9X88NbMzmEj5hxMA3hJkD/M3U/OKIUqQiYPoLg+yDW1krx3UYfUJlOxQR0x9x7Y0/1Ft4Gwiy9dpc4MlPaiFaKZdYZSTTK+At0hF6Trk3orfcetsdtXi2brOWHOxLQKkMrh72TlblV9QnUcL8IKVPVyxJFWitM6wjPycc72s7SNDYuEI6yp8vBK/SONt2Gkggp8of2Av+uyu1Cwu6CXsoNNvATu5/cCzDigldtpeguAmTFax9Sac8ztLbTx/paoy8yqNf/nTgUKTaZdp3fydBa5jaIbxOrUlXXCrAwffCyWvlr0iRpVW+m3XLP9fh2NCYl95aDESoMHnbv33AijpRGnWoYKeCwPNcNIpTb/Dp+dGRXoqdbzq/Sa5VZ4Q84PPpYMsEgpZPsDn4zFfq8lQW/p8i9CiiDLXCoVx68avw+8dN2Mu/Ujp9w74LvubIpmlAJFLfi5dtMMBjM2Ys8gxXTOdGnUmkcS6U28l6PuFFUBUGI6FPmlOYP/ToGpYx3x0OppJu94iHVLL6kBvvf3KrWD/lAdhqfSC9V5022h/lFUHtPhrIWd70o1F5yUak/Cw7opbsboigOftmsillpaP6RaGL7dYwEsHwrk96plS3NQzyO2a41ldsD31CzHOLmvQikTp+xeb0Pgmq54fFpwDSiZMKLdCemfvNoc5ZVePTzwCqMcN5wtHv4MXTQqnERfO0N/fcIOTZj/WJFyMSAaAJQvTUUVBH/3P5gvRv+uTFVJBhShmJa7lnulxBpwmz/SohyPOrUDZlFU1jI4hong53b4Uh7yskso66oZ+Ff6/AmNY7WSnpfwes3tBJuq2WPMnSooyCKS2L4FJMc1nNgnOuW1BpYrfiCr2LNIsKsJJtEA2WUUu5BW+qc6eCOZFmILG4DNvoUlv3VkpP5Xil20qDIH4Febo0lj9/zdAuhTMRhWkgWvaiQ/3U4OyfHbyKXRPOhd9tu9hlb8qesDlNlMAv0ZOcclT9fHgJNnD7nEvgz3GLXTwVt7GKsnDq3eOx/MiVyieMrIrHxijW7wFEk7uifwiB78iTCLAarC2CZytJKyWAftMIFYy+2pkw39vmTe8Ik/yofUBlu6ewnc0z/PoabKwsMrnRUCD2LRoEev4t7A0SlyrHs/YPE/yooBoart87ixjzliOZ1fdCeopi5kmR7aavQIe1mPJBJUezCA3N0D/bv1ppNz5Fb/U5ejw7ErG2ACnXE4lcitOO7FZLtjG0j6eO5B3UI2+FZexm/xd3/KMvzxlpRBu/hNqgaclTisXA6Da3NvMjqRD01xq9AV0XaXMYorUX+RbdVF4VBHwU2kilPMszAIQ1IJKsv2UvrthPnZMDo1XppA/fvL3cgUwqmY16/Y0swbP3Bf47dkR34bZEd7CxOtle0juw9djFzLd1log7pN+tBvvyxoz9hqjdXT8DYb2oLVwiJCHuLgX7b8LRw/9NO539rlSZsra0m1LfvnHZ+eazW8YmbU+yfD+67uzft1D8BUEsDBBQAAgAIAOYKiUu2gi+oTQAAAGsAAAAbAAAAdW5pdmVyc2FsL3VuaXZlcnNhbC5wbmcueG1ss7GvyM1RKEstKs7Mz7NVMtQzULK34+WyKShKLctMLVeoAIoZ6RlAgJJCpa2SGRK3PDOlJAOowsDAEiGYkZqZnlFiq2Ruag4X1AeaCQBQSwMEFAACAAgALJ1DSw3AMR7AAQAA2gMAAA8AAABub25lL3BsYXllci54bWylkk9v1DAQxc9bqd8h8r12lgpRrRx6QMqJokoLiNvKm0wTU8cOngm7++2Z/NmkW5BA4pBo8jLvZ8+z9f2xcclPiGiDz8RapiIBX4TS+ioTXz7nN3fi/v31lW6dOUFMbJkJHzyIpAQsom2JfY+G6ky8ECRDRcIvj5sj2kzURO1GqcPhIA+3MsRKvUnTtfr28HFb1NCYG+uRjC+Yu+zlViRttCFaOmXiXSqur1YD8gJnkXt8hcF1/cooi9CoNgKCJ4hq3PZs3dDfzfw0wSs6tYCCR18Ns+9N8fwQys4B9tpKj21bIOoJg7bStLHrO59gLDIxNuwaQDQVoHS+Emr0qj+Y9ZMzWE8cvMD23LbbO4s1iyN96N4t6u5sGbJXE0ddgnQzTDCcYt45l4OhLkIpkgg/OstV3mO/zkeQrsW4nOfuHT5bL/FQsMZVbgoK8fSBHXwkU5Ryjl6O0cvB1NuH4hMXj1Oc2wUyB7OEoGtq3Nt/zqPv/p84SngynSNxXsH6Eo655b8EDY9CwDP2mqTWyX61M5V31+2bF1fjQhp3N2XxHUVCJlbA17A0ZNSizzD1mqbV+DklNMei1e/3Uk9ELn8BUEsBAgAAFAACAAgARJRXRyO0Tvv7AgAAsAgAABQAAAAAAAAAAQAAAAAAAAAAAHVuaXZlcnNhbC9wbGF5ZXIueG1sUEsBAgAAFAACAAgA5QqJS4uE7NHNBAAAXxIAAB0AAAAAAAAAAQAAAAAALQMAAHVuaXZlcnNhbC9jb21tb25fbWVzc2FnZXMubG5nUEsBAgAAFAACAAgA5QqJS7F1OlyYAwAAwQ0AACcAAAAAAAAAAQAAAAAANQgAAHVuaXZlcnNhbC9mbGFzaF9wdWJsaXNoaW5nX3NldHRpbmdzLnhtbFBLAQIAABQAAgAIAOUKiUt6CqCyzwIAAIcKAAAhAAAAAAAAAAEAAAAAABIMAAB1bml2ZXJzYWwvZmxhc2hfc2tpbl9zZXR0aW5ncy54bWxQSwECAAAUAAIACADlColLeEe0uYQDAABSDQAAJgAAAAAAAAABAAAAAAAgDwAAdW5pdmVyc2FsL2h0bWxfcHVibGlzaGluZ19zZXR0aW5ncy54bWxQSwECAAAUAAIACADlColLqL2ioowBAAALBgAAHwAAAAAAAAABAAAAAADoEgAAdW5pdmVyc2FsL2h0bWxfc2tpbl9zZXR0aW5ncy5qc1BLAQIAABQAAgAIAOYKiUt40TiMoRIAAPcmAAAXAAAAAAAAAAAAAAAAALEUAAB1bml2ZXJzYWwvdW5pdmVyc2FsLnBuZ1BLAQIAABQAAgAIAOYKiUu2gi+oTQAAAGsAAAAbAAAAAAAAAAEAAAAAAIcnAAB1bml2ZXJzYWwvdW5pdmVyc2FsLnBuZy54bWxQSwECAAAUAAIACAAsnUNLDcAxHsABAADaAwAADwAAAAAAAAABAAAAAAANKAAAbm9uZS9wbGF5ZXIueG1sUEsFBgAAAAAJAAkAnQIAAPopAAAAAA=="/>
  <p:tag name="ISPRING_SCORM_RATE_QUIZZES" val="0"/>
  <p:tag name="ISPRING_PRESENTATION_TITLE" val="2018微立体总结PPT模板（1）"/>
  <p:tag name="COMMONDATA" val="eyJoZGlkIjoiYzE1NjA1MTQ5NTcwMDIzZTk5YTgzNzM3ZmI1MTAwMDgifQ=="/>
  <p:tag name="KSO_WPP_MARK_KEY" val="7fe187f6-2e75-4ed3-b30c-67d48cdcaef8"/>
</p:tagLst>
</file>

<file path=ppt/theme/theme1.xml><?xml version="1.0" encoding="utf-8"?>
<a:theme xmlns:a="http://schemas.openxmlformats.org/drawingml/2006/main" name="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11726</Words>
  <Application>WPS 演示</Application>
  <PresentationFormat>宽屏</PresentationFormat>
  <Paragraphs>1139</Paragraphs>
  <Slides>92</Slides>
  <Notes>49</Notes>
  <HiddenSlides>11</HiddenSlides>
  <MMClips>0</MMClips>
  <ScaleCrop>false</ScaleCrop>
  <HeadingPairs>
    <vt:vector size="8" baseType="variant">
      <vt:variant>
        <vt:lpstr>已用的字体</vt:lpstr>
      </vt:variant>
      <vt:variant>
        <vt:i4>29</vt:i4>
      </vt:variant>
      <vt:variant>
        <vt:lpstr>主题</vt:lpstr>
      </vt:variant>
      <vt:variant>
        <vt:i4>1</vt:i4>
      </vt:variant>
      <vt:variant>
        <vt:lpstr>嵌入 OLE 服务器</vt:lpstr>
      </vt:variant>
      <vt:variant>
        <vt:i4>21</vt:i4>
      </vt:variant>
      <vt:variant>
        <vt:lpstr>幻灯片标题</vt:lpstr>
      </vt:variant>
      <vt:variant>
        <vt:i4>92</vt:i4>
      </vt:variant>
    </vt:vector>
  </HeadingPairs>
  <TitlesOfParts>
    <vt:vector size="143" baseType="lpstr">
      <vt:lpstr>Arial</vt:lpstr>
      <vt:lpstr>宋体</vt:lpstr>
      <vt:lpstr>Wingdings</vt:lpstr>
      <vt:lpstr>Verdana</vt:lpstr>
      <vt:lpstr>微软雅黑</vt:lpstr>
      <vt:lpstr>Calibri</vt:lpstr>
      <vt:lpstr>Microsoft Sans Serif</vt:lpstr>
      <vt:lpstr>华文楷体</vt:lpstr>
      <vt:lpstr>Noto Sans S Chinese Medium</vt:lpstr>
      <vt:lpstr>Century Gothic</vt:lpstr>
      <vt:lpstr>Noto Sans S Chinese Regular</vt:lpstr>
      <vt:lpstr>Trebuchet MS</vt:lpstr>
      <vt:lpstr>Times New Roman</vt:lpstr>
      <vt:lpstr>Calibri</vt:lpstr>
      <vt:lpstr>Cambria</vt:lpstr>
      <vt:lpstr>Microsoft YaHei UI</vt:lpstr>
      <vt:lpstr>Consolas</vt:lpstr>
      <vt:lpstr>Arial</vt:lpstr>
      <vt:lpstr>Calibri Light</vt:lpstr>
      <vt:lpstr>Arial Unicode MS</vt:lpstr>
      <vt:lpstr>Tahoma</vt:lpstr>
      <vt:lpstr>Cambria Math</vt:lpstr>
      <vt:lpstr>Wingdings</vt:lpstr>
      <vt:lpstr>Courier New</vt:lpstr>
      <vt:lpstr>Verdana</vt:lpstr>
      <vt:lpstr>Times New Roman</vt:lpstr>
      <vt:lpstr>DejaVu Serif</vt:lpstr>
      <vt:lpstr>Segoe Print</vt:lpstr>
      <vt:lpstr>微软雅黑 Light</vt:lpstr>
      <vt:lpstr>第一PPT，www.1ppt.com</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Equation.3</vt:lpstr>
      <vt:lpstr>Equation.3</vt:lpstr>
      <vt:lpstr>Equation.3</vt:lpstr>
      <vt:lpstr>Equation.DSMT4</vt:lpstr>
      <vt:lpstr>Equation.DSMT4</vt:lpstr>
      <vt:lpstr>Equation.DSMT4</vt:lpstr>
      <vt:lpstr>Equation.DSMT4</vt:lpstr>
      <vt:lpstr>PowerPoint 演示文稿</vt:lpstr>
      <vt:lpstr>PowerPoint 演示文稿</vt:lpstr>
      <vt:lpstr>PowerPoint 演示文稿</vt:lpstr>
      <vt:lpstr>机器学习类型</vt:lpstr>
      <vt:lpstr>PowerPoint 演示文稿</vt:lpstr>
      <vt:lpstr>无监督学习概述</vt:lpstr>
      <vt:lpstr>PowerPoint 演示文稿</vt:lpstr>
      <vt:lpstr>无监督学习的类型</vt:lpstr>
      <vt:lpstr>PowerPoint 演示文稿</vt:lpstr>
      <vt:lpstr>1.1 聚类的概念</vt:lpstr>
      <vt:lpstr>1.1 聚类的概念</vt:lpstr>
      <vt:lpstr>1.1 聚类的概念</vt:lpstr>
      <vt:lpstr>1.1 聚类的概念</vt:lpstr>
      <vt:lpstr>1.1 聚类的概念</vt:lpstr>
      <vt:lpstr>1.1 聚类的概念</vt:lpstr>
      <vt:lpstr>1.1 聚类的概念</vt:lpstr>
      <vt:lpstr>典型应用</vt:lpstr>
      <vt:lpstr>PowerPoint 演示文稿</vt:lpstr>
      <vt:lpstr>PowerPoint 演示文稿</vt:lpstr>
      <vt:lpstr>PowerPoint 演示文稿</vt:lpstr>
      <vt:lpstr> 常见算法分类</vt:lpstr>
      <vt:lpstr>聚类算法中存在的问题</vt:lpstr>
      <vt:lpstr>PowerPoint 演示文稿</vt:lpstr>
      <vt:lpstr>PowerPoint 演示文稿</vt:lpstr>
      <vt:lpstr>距离计算</vt:lpstr>
      <vt:lpstr>距离计算</vt:lpstr>
      <vt:lpstr> 距离计算</vt:lpstr>
      <vt:lpstr>PowerPoint 演示文稿</vt:lpstr>
      <vt:lpstr>PowerPoint 演示文稿</vt:lpstr>
      <vt:lpstr>PowerPoint 演示文稿</vt:lpstr>
      <vt:lpstr>欧几里得vs.余弦距离</vt:lpstr>
      <vt:lpstr>距离计算</vt:lpstr>
      <vt:lpstr>Jaccard相关系数</vt:lpstr>
      <vt:lpstr>Jaccard相关系数</vt:lpstr>
      <vt:lpstr>距离指标的语法</vt:lpstr>
      <vt:lpstr>PowerPoint 演示文稿</vt:lpstr>
      <vt:lpstr>Kmeans算法概述</vt:lpstr>
      <vt:lpstr>Kmeans算法概述</vt:lpstr>
      <vt:lpstr>Kmeans算法概述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k-means算法的流程图</vt:lpstr>
      <vt:lpstr>PowerPoint 演示文稿</vt:lpstr>
      <vt:lpstr>k-means的算法步骤</vt:lpstr>
      <vt:lpstr>k-means的算法步骤</vt:lpstr>
      <vt:lpstr>k-means的算法步骤</vt:lpstr>
      <vt:lpstr>PowerPoint 演示文稿</vt:lpstr>
      <vt:lpstr>k-means算法实例的主要代码</vt:lpstr>
      <vt:lpstr>k-means算法实例的主要代码</vt:lpstr>
      <vt:lpstr>PowerPoint 演示文稿</vt:lpstr>
      <vt:lpstr>sklearn中的k-Means方法</vt:lpstr>
      <vt:lpstr>PowerPoint 演示文稿</vt:lpstr>
      <vt:lpstr>示例程序</vt:lpstr>
      <vt:lpstr>PowerPoint 演示文稿</vt:lpstr>
      <vt:lpstr>练习</vt:lpstr>
      <vt:lpstr>PowerPoint 演示文稿</vt:lpstr>
      <vt:lpstr>PowerPoint 演示文稿</vt:lpstr>
      <vt:lpstr>PowerPoint 演示文稿</vt:lpstr>
      <vt:lpstr>哪个模型正确？</vt:lpstr>
      <vt:lpstr>哪个模型正确？</vt:lpstr>
      <vt:lpstr>哪个模型正确？</vt:lpstr>
      <vt:lpstr>哪个模型正确？</vt:lpstr>
      <vt:lpstr>2. 簇类个数k的调整</vt:lpstr>
      <vt:lpstr>选择正确的聚簇数</vt:lpstr>
      <vt:lpstr>选择正确的聚簇数</vt:lpstr>
      <vt:lpstr>3. 初始聚类中心的选择</vt:lpstr>
      <vt:lpstr>更聪明的K-Means初始化方法</vt:lpstr>
      <vt:lpstr>更聪明的K-Means初始化方法</vt:lpstr>
      <vt:lpstr>更聪明的K-Means初始化方法</vt:lpstr>
      <vt:lpstr>更聪明的K-Means初始化方法</vt:lpstr>
      <vt:lpstr>更聪明的K-Means初始化方法</vt:lpstr>
      <vt:lpstr>更聪明的K-Means初始化方法</vt:lpstr>
      <vt:lpstr>K-Means</vt:lpstr>
      <vt:lpstr>PowerPoint 演示文稿</vt:lpstr>
      <vt:lpstr>PowerPoint 演示文稿</vt:lpstr>
      <vt:lpstr>PowerPoint 演示文稿</vt:lpstr>
      <vt:lpstr>PowerPoint 演示文稿</vt:lpstr>
      <vt:lpstr>PowerPoint 演示文稿</vt:lpstr>
      <vt:lpstr>k-means算法的改进与优化</vt:lpstr>
      <vt:lpstr>k-means算法的改进与优化</vt:lpstr>
      <vt:lpstr>其他聚类算法</vt:lpstr>
      <vt:lpstr>其他聚类算法</vt:lpstr>
      <vt:lpstr>上机练习</vt:lpstr>
      <vt:lpstr>PowerPoint 演示文稿</vt:lpstr>
    </vt:vector>
  </TitlesOfParts>
  <Company>tyut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MOOC</dc:title>
  <dc:creator>CZ</dc:creator>
  <cp:lastModifiedBy>难得糊涂</cp:lastModifiedBy>
  <cp:revision>404</cp:revision>
  <dcterms:created xsi:type="dcterms:W3CDTF">2017-11-09T06:06:00Z</dcterms:created>
  <dcterms:modified xsi:type="dcterms:W3CDTF">2025-05-11T13:05:22Z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7A11C136CBC14BB7AA3132589482F688</vt:lpwstr>
  </property>
  <property fmtid="{D5CDD505-2E9C-101B-9397-08002B2CF9AE}" pid="3" name="KSOProductBuildVer">
    <vt:lpwstr>2052-12.1.0.20784</vt:lpwstr>
  </property>
</Properties>
</file>