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8"/>
  </p:notesMasterIdLst>
  <p:handoutMasterIdLst>
    <p:handoutMasterId r:id="rId99"/>
  </p:handoutMasterIdLst>
  <p:sldIdLst>
    <p:sldId id="304" r:id="rId2"/>
    <p:sldId id="6039" r:id="rId3"/>
    <p:sldId id="720" r:id="rId4"/>
    <p:sldId id="772" r:id="rId5"/>
    <p:sldId id="774" r:id="rId6"/>
    <p:sldId id="775" r:id="rId7"/>
    <p:sldId id="262" r:id="rId8"/>
    <p:sldId id="6078" r:id="rId9"/>
    <p:sldId id="6058" r:id="rId10"/>
    <p:sldId id="6059" r:id="rId11"/>
    <p:sldId id="6079" r:id="rId12"/>
    <p:sldId id="1322" r:id="rId13"/>
    <p:sldId id="9941" r:id="rId14"/>
    <p:sldId id="277" r:id="rId15"/>
    <p:sldId id="278" r:id="rId16"/>
    <p:sldId id="9942" r:id="rId17"/>
    <p:sldId id="270" r:id="rId18"/>
    <p:sldId id="1314" r:id="rId19"/>
    <p:sldId id="1315" r:id="rId20"/>
    <p:sldId id="1316" r:id="rId21"/>
    <p:sldId id="782" r:id="rId22"/>
    <p:sldId id="783" r:id="rId23"/>
    <p:sldId id="784" r:id="rId24"/>
    <p:sldId id="785" r:id="rId25"/>
    <p:sldId id="786" r:id="rId26"/>
    <p:sldId id="787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798" r:id="rId38"/>
    <p:sldId id="799" r:id="rId39"/>
    <p:sldId id="800" r:id="rId40"/>
    <p:sldId id="801" r:id="rId41"/>
    <p:sldId id="802" r:id="rId42"/>
    <p:sldId id="803" r:id="rId43"/>
    <p:sldId id="6080" r:id="rId44"/>
    <p:sldId id="6062" r:id="rId45"/>
    <p:sldId id="6064" r:id="rId46"/>
    <p:sldId id="6077" r:id="rId47"/>
    <p:sldId id="6065" r:id="rId48"/>
    <p:sldId id="6066" r:id="rId49"/>
    <p:sldId id="9949" r:id="rId50"/>
    <p:sldId id="9950" r:id="rId51"/>
    <p:sldId id="9951" r:id="rId52"/>
    <p:sldId id="9952" r:id="rId53"/>
    <p:sldId id="9953" r:id="rId54"/>
    <p:sldId id="9954" r:id="rId55"/>
    <p:sldId id="9955" r:id="rId56"/>
    <p:sldId id="9956" r:id="rId57"/>
    <p:sldId id="9957" r:id="rId58"/>
    <p:sldId id="9958" r:id="rId59"/>
    <p:sldId id="9959" r:id="rId60"/>
    <p:sldId id="9960" r:id="rId61"/>
    <p:sldId id="6081" r:id="rId62"/>
    <p:sldId id="6082" r:id="rId63"/>
    <p:sldId id="6085" r:id="rId64"/>
    <p:sldId id="1134" r:id="rId65"/>
    <p:sldId id="1297" r:id="rId66"/>
    <p:sldId id="1298" r:id="rId67"/>
    <p:sldId id="1299" r:id="rId68"/>
    <p:sldId id="1300" r:id="rId69"/>
    <p:sldId id="1135" r:id="rId70"/>
    <p:sldId id="1152" r:id="rId71"/>
    <p:sldId id="6054" r:id="rId72"/>
    <p:sldId id="6053" r:id="rId73"/>
    <p:sldId id="6088" r:id="rId74"/>
    <p:sldId id="6089" r:id="rId75"/>
    <p:sldId id="6087" r:id="rId76"/>
    <p:sldId id="6090" r:id="rId77"/>
    <p:sldId id="6091" r:id="rId78"/>
    <p:sldId id="9905" r:id="rId79"/>
    <p:sldId id="9909" r:id="rId80"/>
    <p:sldId id="9947" r:id="rId81"/>
    <p:sldId id="9948" r:id="rId82"/>
    <p:sldId id="9945" r:id="rId83"/>
    <p:sldId id="9906" r:id="rId84"/>
    <p:sldId id="9907" r:id="rId85"/>
    <p:sldId id="6086" r:id="rId86"/>
    <p:sldId id="6092" r:id="rId87"/>
    <p:sldId id="9908" r:id="rId88"/>
    <p:sldId id="9943" r:id="rId89"/>
    <p:sldId id="9944" r:id="rId90"/>
    <p:sldId id="6028" r:id="rId91"/>
    <p:sldId id="9910" r:id="rId92"/>
    <p:sldId id="9911" r:id="rId93"/>
    <p:sldId id="6029" r:id="rId94"/>
    <p:sldId id="6030" r:id="rId95"/>
    <p:sldId id="6036" r:id="rId96"/>
    <p:sldId id="6034" r:id="rId97"/>
  </p:sldIdLst>
  <p:sldSz cx="9144000" cy="5143500" type="screen16x9"/>
  <p:notesSz cx="6858000" cy="9144000"/>
  <p:custDataLst>
    <p:tags r:id="rId10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435CC8"/>
    <a:srgbClr val="1F2B88"/>
    <a:srgbClr val="FFC000"/>
    <a:srgbClr val="242C52"/>
    <a:srgbClr val="6880B1"/>
    <a:srgbClr val="FFBB0A"/>
    <a:srgbClr val="FFC600"/>
    <a:srgbClr val="FFC102"/>
    <a:srgbClr val="1D2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7" autoAdjust="0"/>
    <p:restoredTop sz="77820" autoAdjust="0"/>
  </p:normalViewPr>
  <p:slideViewPr>
    <p:cSldViewPr snapToGrid="0" snapToObjects="1">
      <p:cViewPr varScale="1">
        <p:scale>
          <a:sx n="87" d="100"/>
          <a:sy n="87" d="100"/>
        </p:scale>
        <p:origin x="1354" y="72"/>
      </p:cViewPr>
      <p:guideLst>
        <p:guide orient="horz" pos="1614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2024/5/15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章 单元测试与集成测试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107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代码静态测试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108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5.1.1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编码的标准和规范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109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5.1.2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代码评审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112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代码评审案例分析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116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空指针保护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116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格式化数字错误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117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5.2.3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字符串或数组越界错误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118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5.2.4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资源不合理使用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119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5.2.5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不当使用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synchronized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导致系统性能下降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5.3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代码静态检测工具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121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5.3.1 </a:t>
            </a:r>
            <a:r>
              <a:rPr lang="en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FindBugs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检查代码缺陷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122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5.3.2	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PMD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检查代码缺陷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123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5.3.3 </a:t>
            </a:r>
            <a:r>
              <a:rPr lang="en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CheckStyle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检查代码风格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124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5.3.4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SonarQube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构建自动的代码扫描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125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单元测试的目标和任务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127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为何要进行单元测试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127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单元测试的目标和要求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128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5.4.3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单元测试的任务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129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5.4.4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驱动程序和桩程序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131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5.4.5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类测试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133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5.5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分层单元测试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134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5.5.1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Action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层的单元测试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134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5.5.2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数据访问层的单元测试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137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5.5.3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Servlet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139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单元测试工具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141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5.6.1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介绍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141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5.6.2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IntelliJ IDEA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应用举例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144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5.6.3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mock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框架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Mockito	148</a:t>
            </a:r>
          </a:p>
          <a:p>
            <a:pPr algn="just">
              <a:lnSpc>
                <a:spcPct val="120000"/>
              </a:lnSpc>
            </a:pPr>
            <a:endParaRPr lang="e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5.6.4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测试覆盖率工具</a:t>
            </a:r>
            <a:r>
              <a:rPr lang="en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Jacoco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149</a:t>
            </a:r>
          </a:p>
          <a:p>
            <a:pPr algn="just">
              <a:lnSpc>
                <a:spcPct val="120000"/>
              </a:lnSpc>
            </a:pPr>
            <a:endParaRPr lang="e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5.6.5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构建自动的单元测试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5.6.6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其它开源的单元测试工具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152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5.7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系统集成的模式与方法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154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5.7.1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单体架构的集成测试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155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5.7.2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微服务架构的集成测试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158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5.8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持续集成及其测试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159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5.8.1 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持续集成中的测试活动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160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5.8.2 </a:t>
            </a:r>
            <a:r>
              <a:rPr lang="e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CI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测试工具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161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小结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163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思考题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163</a:t>
            </a:r>
          </a:p>
          <a:p>
            <a:pPr algn="just">
              <a:lnSpc>
                <a:spcPct val="120000"/>
              </a:lnSpc>
            </a:pP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2】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单元测试实验	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164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26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为何要进行单元测试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单元测试的目标和要求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驱动程序和桩程序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单元测试工具及其实践（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Junit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TestNG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en-US" altLang="zh-CN" sz="1800" kern="100" dirty="0">
                <a:solidFill>
                  <a:srgbClr val="3F3F3F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Mock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技术与框架（如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Mockito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solidFill>
                  <a:srgbClr val="3F3F3F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测试覆盖率工具</a:t>
            </a:r>
            <a:r>
              <a:rPr lang="en-US" altLang="zh-CN" sz="1800" kern="100" dirty="0" err="1">
                <a:solidFill>
                  <a:srgbClr val="3F3F3F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Jacoco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8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1159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zh-CN" dirty="0">
                <a:ea typeface="楷体"/>
              </a:rPr>
              <a:t>支持扩展(Scaling)</a:t>
            </a:r>
            <a:r>
              <a:rPr lang="zh-CN" altLang="en-US" dirty="0">
                <a:ea typeface="楷体"/>
              </a:rPr>
              <a:t>，</a:t>
            </a:r>
            <a:r>
              <a:rPr lang="zh-CN" altLang="zh-CN" dirty="0">
                <a:ea typeface="楷体"/>
              </a:rPr>
              <a:t>如果没有各种类型测试的支持，软件开发无法支持扩展，单元测试就是其基础。没有单元测试，很难形成集体的代码负责制度。没有测试覆盖的代码库总是会导致一些事故：代码被覆盖、回归缺陷、组与组之间的职责冲突、最糟糕的，由于数天的手工测试而导致的发布延期。</a:t>
            </a:r>
          </a:p>
          <a:p>
            <a:pPr marL="319088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zh-CN" dirty="0">
                <a:ea typeface="楷体"/>
              </a:rPr>
              <a:t>引导更好的设计-- 能够支持单元测试的代码总是不会被人遗弃。当开发人编写测试部分的时候，他们总是使这一部分尽可能的小，且抓住重点，并细心处理它的各种依赖。单元测试的存在，甚至在单元级别实现程序可测试性的意识，可以帮助代码避免</a:t>
            </a:r>
            <a:r>
              <a:rPr lang="zh-CN" altLang="en-US" dirty="0">
                <a:ea typeface="楷体"/>
              </a:rPr>
              <a:t>“</a:t>
            </a:r>
            <a:r>
              <a:rPr lang="zh-CN" altLang="zh-CN" dirty="0">
                <a:ea typeface="楷体"/>
              </a:rPr>
              <a:t>方法有太多参数</a:t>
            </a:r>
            <a:r>
              <a:rPr lang="zh-CN" altLang="en-US" dirty="0">
                <a:ea typeface="楷体"/>
              </a:rPr>
              <a:t>、</a:t>
            </a:r>
            <a:r>
              <a:rPr lang="zh-CN" altLang="zh-CN" dirty="0">
                <a:ea typeface="楷体"/>
              </a:rPr>
              <a:t>Monster Methods</a:t>
            </a:r>
            <a:r>
              <a:rPr lang="zh-CN" altLang="en-US" dirty="0">
                <a:ea typeface="楷体"/>
              </a:rPr>
              <a:t>（巨型方法）、</a:t>
            </a:r>
            <a:r>
              <a:rPr lang="zh-CN" altLang="zh-CN" dirty="0">
                <a:ea typeface="楷体"/>
              </a:rPr>
              <a:t>过多的依赖</a:t>
            </a:r>
            <a:r>
              <a:rPr lang="zh-CN" altLang="en-US" dirty="0">
                <a:ea typeface="楷体"/>
              </a:rPr>
              <a:t>”等问题</a:t>
            </a:r>
            <a:endParaRPr lang="en-US" altLang="zh-CN" dirty="0">
              <a:ea typeface="楷体"/>
            </a:endParaRPr>
          </a:p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支持变化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增加和删除软件功能都需要重新设计和重构，那么我们应该从更小的变化做起。任何人修改系统的一部分，他就必须了解其它哪些部分需要运行验证，以确保不破坏程序。这一点会让团队中的新程序员不敢对系统关键部分进行修改，因为他们不知道应该重新测试什么、运行什么用例。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不仅如此，如果冒着很大的潜在风险，一些有经验的老程序员也会害怕修改和重构代码。自动化测试，特别是其中的单元测试，提供了所需要的安全网，我们在进行代码修改的时候，无需担心无法预料的破坏。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80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避免回归缺陷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----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如果没有测试，唯一的实践验证方式就是运行软件，看看软件是否正常。这种方法有些问题。首先，一次次运行软件以验证某一部分正常工作（部分仅仅指新编写或修改的）是非常单调和枯燥的。其次，前面也提到过，我们并非总是很清楚需要运行哪一部分。第三，时间不是无限的。当系统变大后，手工测试能覆盖的功能变成越来越小的一部分，穷尽所有的回归测试几乎是不可能的。当代码被修改时，用构建服务器连续的执行开发人员编写的单元测试集，如果有缺陷被引入，我们可以发现一些被测试所覆盖的回归缺陷，。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80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保证工作的平稳步调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---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编写单元测试是一种使工作保持平稳步调的方法。如果代码编写能够与单元测试配合，那么这种安排很少会引起意外或最后一分钟问题。如果所有代码都通过单元测试，那么软件至少在功能层面能正常工作。进一步来说，如果一个缺陷在单元测试中被发现，我们可以修复这个问题，并且增加一个新的单元测试，而无需大规模调整代码，并且避免由于最后一分钟手工回归测试导致的延期。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80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节省测试时间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宋体" panose="02010600030101010101" pitchFamily="2" charset="-122"/>
              </a:rPr>
              <a:t>--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单元测试是最简单、最快和最廉价的方式实现基础检查，例如边界值验证、输入验证或程序主逻辑路径调用等。单元测试也支持手工执行，以发现一些非常重要的问题，例如差一错误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(Off-by One Error)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。另外一方面，缺少单元测试的团队和组织不得不通过手工形式弥补测试的不足，也就是手工检查。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809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规范行为和记录代码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理想状态下，单元测试是被测代码的行为描述。它也是一个例子，解释代码是如何工作或如何实现一个特定的业务逻辑</a:t>
            </a:r>
            <a:endParaRPr lang="zh-CN" altLang="zh-CN" dirty="0">
              <a:ea typeface="楷体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Modified Condition/Decision Coverage"</a:t>
            </a:r>
            <a:r>
              <a:rPr lang="zh-CN" alt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（修改的条件</a:t>
            </a:r>
            <a:r>
              <a:rPr lang="en-US" altLang="zh-C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判定覆盖），是一种在软件测试和硬件验证中常用的结构化测试度量标准。它主要用于确保在测试过程中，每个判定（</a:t>
            </a:r>
            <a:r>
              <a:rPr lang="en-US" altLang="zh-C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decision</a:t>
            </a:r>
            <a:r>
              <a:rPr lang="zh-CN" alt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）的每个可能输出都至少被测试一次，并且每个条件（</a:t>
            </a:r>
            <a:r>
              <a:rPr lang="en-US" altLang="zh-C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condition</a:t>
            </a:r>
            <a:r>
              <a:rPr lang="zh-CN" alt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）在影响判定输出时也都至少变化过一次。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注意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：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其中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有意加入了一个缺陷，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 num1&gt;=0 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应为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num1&gt;0</a:t>
            </a:r>
            <a:endParaRPr lang="zh-CN" altLang="en-US" sz="1200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008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注意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：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其中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有意加入了一个缺陷，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 num1&gt;=0 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应为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num1&gt;0</a:t>
            </a:r>
            <a:endParaRPr lang="zh-CN" altLang="en-US" sz="1200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r>
              <a:rPr kumimoji="1" lang="en-US" altLang="zh-CN" dirty="0"/>
              <a:t>Instantiate:</a:t>
            </a:r>
            <a:r>
              <a:rPr kumimoji="1" lang="zh-CN" altLang="en-US" dirty="0"/>
              <a:t>实例化。</a:t>
            </a:r>
            <a:endParaRPr kumimoji="1" lang="en-US" altLang="zh-CN" dirty="0"/>
          </a:p>
          <a:p>
            <a:r>
              <a:rPr kumimoji="1" lang="en-US" altLang="zh-CN" dirty="0"/>
              <a:t>Test fixture class</a:t>
            </a:r>
            <a:r>
              <a:rPr kumimoji="1" lang="zh-CN" altLang="en-US" dirty="0"/>
              <a:t>：测试夹具，</a:t>
            </a:r>
            <a:r>
              <a:rPr lang="zh-CN" altLang="en-US" b="0" i="0" dirty="0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我们可以把</a:t>
            </a:r>
            <a:r>
              <a:rPr lang="en-US" altLang="zh-CN" b="0" i="0" dirty="0" err="1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TestFixture</a:t>
            </a:r>
            <a:r>
              <a:rPr lang="zh-CN" altLang="en-US" b="0" i="0" dirty="0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看作夹心饼干外层的两片饼干，这两片饼干就是</a:t>
            </a:r>
            <a:r>
              <a:rPr lang="en-US" altLang="zh-CN" b="0" i="0" dirty="0" err="1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setUp</a:t>
            </a:r>
            <a:r>
              <a:rPr lang="en-US" altLang="zh-CN" b="0" i="0" dirty="0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/</a:t>
            </a:r>
            <a:r>
              <a:rPr lang="en-US" altLang="zh-CN" b="0" i="0" dirty="0" err="1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testDown</a:t>
            </a:r>
            <a:r>
              <a:rPr lang="zh-CN" altLang="en-US" b="0" i="0" dirty="0">
                <a:solidFill>
                  <a:srgbClr val="666666"/>
                </a:solidFill>
                <a:effectLst/>
                <a:highlight>
                  <a:srgbClr val="DDDDDD"/>
                </a:highlight>
                <a:latin typeface="PingFang SC"/>
              </a:rPr>
              <a:t>，中间的夹心就是测试用例。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66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注意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：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其中</a:t>
            </a:r>
            <a:r>
              <a:rPr lang="zh-CN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有意加入了一个缺陷，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 num1&gt;=0 </a:t>
            </a:r>
            <a:r>
              <a:rPr lang="zh-CN" altLang="en-US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应为</a:t>
            </a:r>
            <a:r>
              <a:rPr lang="en-US" altLang="zh-CN" sz="1200" dirty="0">
                <a:latin typeface="Arial" pitchFamily="34" charset="0"/>
                <a:ea typeface="宋体" pitchFamily="2" charset="-122"/>
                <a:cs typeface="Arial" pitchFamily="34" charset="0"/>
              </a:rPr>
              <a:t>num1&gt;0</a:t>
            </a:r>
            <a:endParaRPr lang="zh-CN" altLang="en-US" sz="1200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39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Vintage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[ˈ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vɪntɪdʒ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]</a:t>
            </a:r>
            <a:r>
              <a:rPr lang="zh-CN" altLang="en-US" sz="12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复古、特定年份， </a:t>
            </a:r>
            <a:r>
              <a:rPr lang="en" altLang="zh-CN" sz="12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jupiter 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[ˈ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dʒuːpɪtə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5F6F9"/>
                </a:highlight>
                <a:latin typeface="Arial" panose="020B0604020202020204" pitchFamily="34" charset="0"/>
              </a:rPr>
              <a:t>(r)]</a:t>
            </a:r>
            <a:r>
              <a:rPr lang="zh-CN" altLang="en-US" sz="12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：木星</a:t>
            </a:r>
            <a:endParaRPr lang="en-US" altLang="zh-CN" sz="12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42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19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75310-E6EF-4832-8F8D-8367E02F9F3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47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958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79400" algn="just">
              <a:lnSpc>
                <a:spcPts val="2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模拟对象在某种程度上是游戏的改变者，因为它们将测试的焦点从</a:t>
            </a:r>
            <a:r>
              <a:rPr lang="zh-CN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(state)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转换到</a:t>
            </a:r>
            <a:r>
              <a:rPr lang="zh-CN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行为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(behavior)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。聚焦于状态的测试以断言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(assertion)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结束，该断言会核对返回值或以某种方式查询被测对象的状态，它们的典型形式如下：</a:t>
            </a:r>
          </a:p>
          <a:p>
            <a:pPr indent="279400" algn="just">
              <a:lnSpc>
                <a:spcPts val="2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assertEquals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expectedValue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tested.computeSomething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9400" algn="just">
              <a:lnSpc>
                <a:spcPts val="2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</a:p>
          <a:p>
            <a:pPr indent="127000" algn="just">
              <a:lnSpc>
                <a:spcPts val="2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Assert.AreEqual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expectedValue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tested.Value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9400" algn="just">
              <a:lnSpc>
                <a:spcPts val="2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从根本上讲，基于行为的测试是完全不同的，其目的在于验证模拟对象和被测代码或另一协作者之间特定的</a:t>
            </a:r>
            <a:r>
              <a:rPr lang="zh-CN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交互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(interaction)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已经发生。上述的两个断言关注的是方法会返回什么、属性有哪些取值，而一个利用模拟对象的、基于行为的测试则关注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tested.computeSomething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是否被调用，可能还关注调用了多少次以及是否查询了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24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Book: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xUnit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Pattern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P.120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568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5800"/>
            <a:ext cx="6088062" cy="3425825"/>
          </a:xfrm>
          <a:ln/>
        </p:spPr>
      </p:sp>
      <p:sp>
        <p:nvSpPr>
          <p:cNvPr id="2161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233" y="4344301"/>
            <a:ext cx="5487535" cy="411342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Test Stub </a:t>
            </a:r>
            <a:r>
              <a:rPr lang="zh-CN" altLang="en-US" sz="120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参与测试， 但你不在乎它是何时何地以何种方式参与测试的，它的存在是为了让测试跑起来</a:t>
            </a:r>
            <a:endParaRPr lang="en-US" altLang="zh-CN" sz="1200" kern="120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352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http://</a:t>
            </a:r>
            <a:r>
              <a:rPr kumimoji="1" lang="en-US" altLang="zh-CN" dirty="0" err="1"/>
              <a:t>www.infoq.com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cn</a:t>
            </a:r>
            <a:r>
              <a:rPr kumimoji="1" lang="en-US" altLang="zh-CN" dirty="0"/>
              <a:t>/news/2013/07/</a:t>
            </a:r>
            <a:r>
              <a:rPr kumimoji="1" lang="en-US" altLang="zh-CN" dirty="0" err="1"/>
              <a:t>zhengye</a:t>
            </a:r>
            <a:r>
              <a:rPr kumimoji="1" lang="en-US" altLang="zh-CN" dirty="0"/>
              <a:t>-on-</a:t>
            </a:r>
            <a:r>
              <a:rPr kumimoji="1" lang="en-US" altLang="zh-CN" dirty="0" err="1"/>
              <a:t>moco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089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cobertura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是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jcoveage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的分支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内部原理是通过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ASM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在编译的时候代码插入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.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cobertura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instrument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修改编译后的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文件，在代码里面加入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cobertura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的统计代码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并生成一个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.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ser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文件（用于覆盖率数据的输出）。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在使用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instrument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执行的过程中，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Cobertura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Instrumenter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会首先调用分析监听器分析给定的编译好的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.class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，获得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touchPoint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（可以认为对应于源代码中的待覆盖行）以及需要的其他信息。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然后调用注入监听器将信息注入到新的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.class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中，保存到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\target\generated-classes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目录下。</a:t>
            </a:r>
          </a:p>
          <a:p>
            <a:pPr eaLnBrk="1" hangingPunct="1"/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0" dirty="0">
                <a:solidFill>
                  <a:srgbClr val="000000"/>
                </a:solidFill>
                <a:latin typeface="Verdana" panose="020B0604030504040204" pitchFamily="34" charset="0"/>
              </a:rPr>
              <a:t>基本语句块：没有</a:t>
            </a:r>
            <a:r>
              <a:rPr lang="en-US" altLang="zh-CN" i="0" dirty="0">
                <a:solidFill>
                  <a:srgbClr val="000000"/>
                </a:solidFill>
                <a:latin typeface="Verdana" panose="020B0604030504040204" pitchFamily="34" charset="0"/>
              </a:rPr>
              <a:t>if-else</a:t>
            </a:r>
            <a:r>
              <a:rPr lang="zh-CN" altLang="en-US" i="0" dirty="0">
                <a:solidFill>
                  <a:srgbClr val="000000"/>
                </a:solidFill>
                <a:latin typeface="Verdana" panose="020B0604030504040204" pitchFamily="34" charset="0"/>
              </a:rPr>
              <a:t>分支的代码区域</a:t>
            </a:r>
          </a:p>
          <a:p>
            <a:r>
              <a:rPr lang="zh-CN" altLang="en-US" i="0" dirty="0">
                <a:solidFill>
                  <a:srgbClr val="000000"/>
                </a:solidFill>
                <a:latin typeface="Verdana" panose="020B0604030504040204" pitchFamily="34" charset="0"/>
              </a:rPr>
              <a:t>由</a:t>
            </a:r>
            <a:r>
              <a:rPr lang="en-US" altLang="zh-CN" i="0" dirty="0">
                <a:solidFill>
                  <a:srgbClr val="000000"/>
                </a:solidFill>
                <a:latin typeface="Verdana" panose="020B0604030504040204" pitchFamily="34" charset="0"/>
              </a:rPr>
              <a:t>JVM</a:t>
            </a:r>
            <a:r>
              <a:rPr lang="zh-CN" altLang="en-US" i="0" dirty="0">
                <a:solidFill>
                  <a:srgbClr val="000000"/>
                </a:solidFill>
                <a:latin typeface="Verdana" panose="020B0604030504040204" pitchFamily="34" charset="0"/>
              </a:rPr>
              <a:t>加载并初始化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97A3-37BD-8549-87CC-C7BC93A774B6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822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Instrumentation — 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插桩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一般指的是获取计算机软件或者硬件状态的数据的技术。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常用实现的方法是将一段代码注入到目标程序中。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从注入目标程序的时间点的角度可分为两种类型：静态插桩、动态插桩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从注入目标程序的格式的角度可分为两种角度：源代码插桩、二进制插桩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插桩技术常常用于程序监控与跟踪。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712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ASM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是一个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Java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字节码操控框架。它能被用来动态生成类或者增强既有类的功能。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ASM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可以直接产生二进制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class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文件，也可以在类被加载入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Java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虚拟机之前动态改变类行为。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Java class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被存储在严格格式定义的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.class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文件里，这些类文件拥有足够的元数据来解析类中的所有元素：类名称、方法、属性以及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Java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字节码（指令）。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ASM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从类文件中读入信息后，能够改变类行为，分析类信息，甚至能够根据用户要求生成新类。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97A3-37BD-8549-87CC-C7BC93A774B6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3862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// </a:t>
            </a:r>
            <a:r>
              <a:rPr lang="en-US" altLang="zh-CN" sz="1200" dirty="0"/>
              <a:t>N</a:t>
            </a:r>
            <a:r>
              <a:rPr lang="zh-CN" altLang="en-US" sz="1200" dirty="0"/>
              <a:t>eed to visit the method in any case, otherwise probe ids</a:t>
            </a:r>
          </a:p>
          <a:p>
            <a:r>
              <a:rPr lang="zh-CN" altLang="en-US" sz="1200" dirty="0"/>
              <a:t>// are not reproducible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重写是子类对父类的允许访问的方法的实现过程进行重新编写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,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返回值和形参都不能改变。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即外壳不变，核心重写！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重写的好处在于子类可以根据需要，定义特定于自己的行为。 也就是说子类能够根据需要实现父类的方法。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97A3-37BD-8549-87CC-C7BC93A774B6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642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Wingdings" charset="2"/>
              <a:buAutoNum type="circleNumWdBlackPlain"/>
            </a:pPr>
            <a:r>
              <a:rPr lang="zh-TW" altLang="en-US" sz="1200" i="0" dirty="0"/>
              <a:t>作为一个容器来运行</a:t>
            </a:r>
            <a:r>
              <a:rPr lang="zh-CN" altLang="en-US" sz="1200" i="0" dirty="0"/>
              <a:t>要度量的</a:t>
            </a:r>
            <a:r>
              <a:rPr lang="zh-TW" altLang="en-US" sz="1200" i="0" dirty="0"/>
              <a:t>程序，</a:t>
            </a:r>
            <a:r>
              <a:rPr lang="zh-CN" altLang="en-US" sz="1200" i="0" dirty="0"/>
              <a:t>监控</a:t>
            </a:r>
            <a:r>
              <a:rPr lang="zh-TW" altLang="en-US" sz="1200" i="0" dirty="0"/>
              <a:t>程序的一举一动</a:t>
            </a:r>
          </a:p>
          <a:p>
            <a:pPr marL="457200" indent="-457200">
              <a:buFont typeface="Wingdings" charset="2"/>
              <a:buAutoNum type="circleNumWdBlackPlain"/>
            </a:pPr>
            <a:r>
              <a:rPr lang="zh-TW" altLang="en-US" sz="1200" i="0" dirty="0"/>
              <a:t>修改</a:t>
            </a:r>
            <a:r>
              <a:rPr lang="en-US" altLang="zh-TW" sz="1200" i="0" dirty="0"/>
              <a:t>.class</a:t>
            </a:r>
            <a:r>
              <a:rPr lang="zh-TW" altLang="en-US" sz="1200" i="0" dirty="0"/>
              <a:t>文件，添加监控代码</a:t>
            </a:r>
            <a:r>
              <a:rPr lang="en-US" altLang="zh-CN" sz="1200" i="0" dirty="0"/>
              <a:t>/</a:t>
            </a:r>
            <a:r>
              <a:rPr lang="zh-TW" altLang="en-US" sz="1200" i="0" dirty="0"/>
              <a:t>修改字节码文件，让程序执行一段监控代码来达到效果。</a:t>
            </a:r>
            <a:endParaRPr lang="en-US" altLang="zh-TW" i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97A3-37BD-8549-87CC-C7BC93A774B6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242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单体架构的集成测试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微服务架构的集成测试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持续集成及其测试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en-US" altLang="zh-CN" sz="1800" kern="100" dirty="0">
                <a:solidFill>
                  <a:srgbClr val="3F3F3F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CI/CD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流水线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容器技术与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Docker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集群管理与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Kubernetes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基础设施即代码（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IaaC</a:t>
            </a: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基础架构的自动部署</a:t>
            </a:r>
            <a:r>
              <a:rPr lang="en-US" altLang="zh-CN" sz="18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	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solidFill>
                  <a:srgbClr val="3F3F3F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应用程序容器化及集群部署</a:t>
            </a:r>
            <a:r>
              <a:rPr lang="zh-CN" altLang="zh-CN" sz="2800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833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blog.csdn.net</a:t>
            </a:r>
            <a:r>
              <a:rPr kumimoji="1" lang="en" altLang="zh-CN" dirty="0"/>
              <a:t>/weixin_41918841/article/details/94440269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00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375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035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arquillian.org</a:t>
            </a:r>
            <a:r>
              <a:rPr kumimoji="1" lang="en" altLang="zh-CN" dirty="0"/>
              <a:t>/guides/</a:t>
            </a:r>
            <a:r>
              <a:rPr kumimoji="1" lang="en" altLang="zh-CN" dirty="0" err="1"/>
              <a:t>getting_started_zh_cn</a:t>
            </a:r>
            <a:r>
              <a:rPr kumimoji="1" lang="en" altLang="zh-CN" dirty="0"/>
              <a:t>/#%E7%BC%96%E5%86%99_arquillian_%E6%B5%8B%E8%AF%95</a:t>
            </a:r>
          </a:p>
          <a:p>
            <a:r>
              <a:rPr kumimoji="1" lang="en" altLang="zh-CN" dirty="0"/>
              <a:t>https://</a:t>
            </a:r>
            <a:r>
              <a:rPr kumimoji="1" lang="en" altLang="zh-CN" dirty="0" err="1"/>
              <a:t>cloud.tencent.com</a:t>
            </a:r>
            <a:r>
              <a:rPr kumimoji="1" lang="en" altLang="zh-CN" dirty="0"/>
              <a:t>/developer/article/1082275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5707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5838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7608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1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每课</a:t>
            </a: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时使用“以上是本节课的内容”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这一章讲到这里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66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31AA72A-FE2F-1F7F-B206-0A8214FA8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b="2308"/>
          <a:stretch/>
        </p:blipFill>
        <p:spPr>
          <a:xfrm>
            <a:off x="-2" y="6976"/>
            <a:ext cx="9144002" cy="5136524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628650" y="3333947"/>
            <a:ext cx="7886700" cy="685800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628650" y="2092075"/>
            <a:ext cx="7886700" cy="994172"/>
          </a:xfrm>
        </p:spPr>
        <p:txBody>
          <a:bodyPr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合 10"/>
          <p:cNvGrpSpPr/>
          <p:nvPr userDrawn="1"/>
        </p:nvGrpSpPr>
        <p:grpSpPr>
          <a:xfrm>
            <a:off x="628651" y="1905306"/>
            <a:ext cx="4936937" cy="1363896"/>
            <a:chOff x="2666198" y="2543397"/>
            <a:chExt cx="7199697" cy="1316333"/>
          </a:xfrm>
        </p:grpSpPr>
        <p:cxnSp>
          <p:nvCxnSpPr>
            <p:cNvPr id="9" name="直线连接符 8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628650" y="4357416"/>
            <a:ext cx="7886700" cy="326643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8161119" cy="523875"/>
          </a:xfr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0" i="0">
                <a:solidFill>
                  <a:srgbClr val="242C52"/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18" name="矩形 17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77AB5A-2027-948E-5659-35FA3C398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8161119" cy="523875"/>
          </a:xfr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180E710-DC63-F434-40DE-0236564519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8161119" cy="523875"/>
          </a:xfr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8" name="文本占位符 26"/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E9EF5C-CB56-40EE-620D-C8B40FB83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2124074"/>
            <a:ext cx="9144000" cy="886279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15004"/>
            <a:ext cx="7128035" cy="895350"/>
          </a:xfr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5" name="组 4"/>
          <p:cNvGrpSpPr/>
          <p:nvPr userDrawn="1"/>
        </p:nvGrpSpPr>
        <p:grpSpPr>
          <a:xfrm>
            <a:off x="-240" y="2307068"/>
            <a:ext cx="9149737" cy="529364"/>
            <a:chOff x="-240" y="2284885"/>
            <a:chExt cx="9149737" cy="529364"/>
          </a:xfrm>
        </p:grpSpPr>
        <p:grpSp>
          <p:nvGrpSpPr>
            <p:cNvPr id="3" name="组 2"/>
            <p:cNvGrpSpPr/>
            <p:nvPr userDrawn="1"/>
          </p:nvGrpSpPr>
          <p:grpSpPr>
            <a:xfrm>
              <a:off x="-240" y="2284885"/>
              <a:ext cx="263291" cy="529364"/>
              <a:chOff x="-240" y="2284885"/>
              <a:chExt cx="263291" cy="529364"/>
            </a:xfrm>
          </p:grpSpPr>
          <p:sp>
            <p:nvSpPr>
              <p:cNvPr id="13" name="五边形 12"/>
              <p:cNvSpPr/>
              <p:nvPr userDrawn="1"/>
            </p:nvSpPr>
            <p:spPr>
              <a:xfrm>
                <a:off x="-240" y="2284885"/>
                <a:ext cx="263291" cy="529364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b="0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  <p:sp>
            <p:nvSpPr>
              <p:cNvPr id="2" name="五边形 1"/>
              <p:cNvSpPr/>
              <p:nvPr userDrawn="1"/>
            </p:nvSpPr>
            <p:spPr>
              <a:xfrm>
                <a:off x="-240" y="2384919"/>
                <a:ext cx="163782" cy="329296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kumimoji="1" lang="zh-CN" altLang="en-US" b="0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</p:grpSp>
        <p:grpSp>
          <p:nvGrpSpPr>
            <p:cNvPr id="4" name="组 3"/>
            <p:cNvGrpSpPr/>
            <p:nvPr userDrawn="1"/>
          </p:nvGrpSpPr>
          <p:grpSpPr>
            <a:xfrm>
              <a:off x="8890573" y="2284885"/>
              <a:ext cx="258924" cy="529364"/>
              <a:chOff x="8890573" y="2284885"/>
              <a:chExt cx="258924" cy="529364"/>
            </a:xfrm>
          </p:grpSpPr>
          <p:sp>
            <p:nvSpPr>
              <p:cNvPr id="18" name="五边形 17"/>
              <p:cNvSpPr/>
              <p:nvPr userDrawn="1"/>
            </p:nvSpPr>
            <p:spPr>
              <a:xfrm flipH="1">
                <a:off x="8890573" y="2284885"/>
                <a:ext cx="258924" cy="529364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  <p:sp>
            <p:nvSpPr>
              <p:cNvPr id="20" name="五边形 19"/>
              <p:cNvSpPr/>
              <p:nvPr userDrawn="1"/>
            </p:nvSpPr>
            <p:spPr>
              <a:xfrm flipH="1">
                <a:off x="8988431" y="2384919"/>
                <a:ext cx="161066" cy="329296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重点强调标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24075"/>
            <a:ext cx="7128035" cy="895350"/>
          </a:xfr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rgbClr val="242C52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0" name="组合 10"/>
          <p:cNvGrpSpPr/>
          <p:nvPr userDrawn="1"/>
        </p:nvGrpSpPr>
        <p:grpSpPr>
          <a:xfrm>
            <a:off x="1833613" y="2078125"/>
            <a:ext cx="5637998" cy="987250"/>
            <a:chOff x="2666198" y="2543397"/>
            <a:chExt cx="7199697" cy="1316333"/>
          </a:xfrm>
        </p:grpSpPr>
        <p:cxnSp>
          <p:nvCxnSpPr>
            <p:cNvPr id="11" name="直线连接符 10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9C152E-C22C-B6CC-FB0A-FBCC5CB1A9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重点强调标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24075"/>
            <a:ext cx="7128035" cy="895350"/>
          </a:xfr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rgbClr val="242C52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0" name="组合 10"/>
          <p:cNvGrpSpPr/>
          <p:nvPr userDrawn="1"/>
        </p:nvGrpSpPr>
        <p:grpSpPr>
          <a:xfrm>
            <a:off x="1833613" y="2078125"/>
            <a:ext cx="5637998" cy="987250"/>
            <a:chOff x="2666198" y="2543397"/>
            <a:chExt cx="7199697" cy="1316333"/>
          </a:xfrm>
        </p:grpSpPr>
        <p:cxnSp>
          <p:nvCxnSpPr>
            <p:cNvPr id="11" name="直线连接符 10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 userDrawn="1"/>
        </p:nvSpPr>
        <p:spPr>
          <a:xfrm>
            <a:off x="0" y="4235824"/>
            <a:ext cx="9144000" cy="907676"/>
          </a:xfrm>
          <a:prstGeom prst="rect">
            <a:avLst/>
          </a:prstGeom>
          <a:solidFill>
            <a:srgbClr val="242C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8" name="图片 7" descr="形状 3.png"/>
          <p:cNvPicPr>
            <a:picLocks noChangeAspect="1"/>
          </p:cNvPicPr>
          <p:nvPr userDrawn="1"/>
        </p:nvPicPr>
        <p:blipFill>
          <a:blip r:embed="rId2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5824"/>
            <a:ext cx="9144000" cy="90767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D092D88-14E1-CBCB-42A3-ACAEF467D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379" y="4536170"/>
            <a:ext cx="1417284" cy="472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-67310" y="357505"/>
            <a:ext cx="1522095" cy="341630"/>
          </a:xfrm>
          <a:prstGeom prst="roundRect">
            <a:avLst>
              <a:gd name="adj" fmla="val 10047"/>
            </a:avLst>
          </a:prstGeom>
          <a:solidFill>
            <a:srgbClr val="24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1" 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</a:t>
            </a:r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</a:p>
        </p:txBody>
      </p:sp>
      <p:sp>
        <p:nvSpPr>
          <p:cNvPr id="4" name="圆角矩形 3"/>
          <p:cNvSpPr/>
          <p:nvPr userDrawn="1"/>
        </p:nvSpPr>
        <p:spPr>
          <a:xfrm>
            <a:off x="1387552" y="357173"/>
            <a:ext cx="67456" cy="341703"/>
          </a:xfrm>
          <a:prstGeom prst="roundRect">
            <a:avLst>
              <a:gd name="adj" fmla="val 10047"/>
            </a:avLst>
          </a:prstGeom>
          <a:solidFill>
            <a:srgbClr val="68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00" b="0" i="0" dirty="0">
              <a:solidFill>
                <a:srgbClr val="1D242E"/>
              </a:solidFill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 descr="32303038313139313b32303038313039333bb5e7c4d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" y="395605"/>
            <a:ext cx="264795" cy="264795"/>
          </a:xfrm>
          <a:prstGeom prst="rect">
            <a:avLst/>
          </a:prstGeom>
        </p:spPr>
      </p:pic>
      <p:sp>
        <p:nvSpPr>
          <p:cNvPr id="9" name="流程图: 内部贮存 8"/>
          <p:cNvSpPr/>
          <p:nvPr userDrawn="1"/>
        </p:nvSpPr>
        <p:spPr>
          <a:xfrm>
            <a:off x="127000" y="450215"/>
            <a:ext cx="167640" cy="762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C06AE3-40B3-E8B3-FA9C-9A6C00352A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1" name="圆角矩形 10"/>
          <p:cNvSpPr/>
          <p:nvPr userDrawn="1"/>
        </p:nvSpPr>
        <p:spPr>
          <a:xfrm>
            <a:off x="-67310" y="357505"/>
            <a:ext cx="1522095" cy="341630"/>
          </a:xfrm>
          <a:prstGeom prst="roundRect">
            <a:avLst>
              <a:gd name="adj" fmla="val 10047"/>
            </a:avLst>
          </a:prstGeom>
          <a:solidFill>
            <a:srgbClr val="24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1" lang="zh-CN" altLang="en-US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</a:t>
            </a:r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践</a:t>
            </a:r>
          </a:p>
        </p:txBody>
      </p:sp>
      <p:sp>
        <p:nvSpPr>
          <p:cNvPr id="15" name="圆角矩形 14"/>
          <p:cNvSpPr/>
          <p:nvPr userDrawn="1"/>
        </p:nvSpPr>
        <p:spPr>
          <a:xfrm>
            <a:off x="1387552" y="357173"/>
            <a:ext cx="67456" cy="341703"/>
          </a:xfrm>
          <a:prstGeom prst="roundRect">
            <a:avLst>
              <a:gd name="adj" fmla="val 10047"/>
            </a:avLst>
          </a:prstGeom>
          <a:solidFill>
            <a:srgbClr val="68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00" b="0" i="0" dirty="0">
              <a:solidFill>
                <a:srgbClr val="1D242E"/>
              </a:solidFill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4" name="图片 3" descr="303b32303039333133313bb7c5b4f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" y="381000"/>
            <a:ext cx="318135" cy="31813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4D81FDB-2A3A-FEBF-FBCB-1476EFCE83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7E0749-825C-807E-623C-309EBA421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语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企业服务VI系统-1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773"/>
            <a:ext cx="9144000" cy="520085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2485330" y="1907549"/>
            <a:ext cx="4173344" cy="1338513"/>
            <a:chOff x="2666197" y="2543397"/>
            <a:chExt cx="7199698" cy="1784684"/>
          </a:xfrm>
        </p:grpSpPr>
        <p:cxnSp>
          <p:nvCxnSpPr>
            <p:cNvPr id="6" name="直线连接符 5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 userDrawn="1"/>
          </p:nvCxnSpPr>
          <p:spPr>
            <a:xfrm>
              <a:off x="2666197" y="4328081"/>
              <a:ext cx="7199697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18"/>
          <p:cNvSpPr>
            <a:spLocks noGrp="1"/>
          </p:cNvSpPr>
          <p:nvPr>
            <p:ph type="title"/>
          </p:nvPr>
        </p:nvSpPr>
        <p:spPr>
          <a:xfrm>
            <a:off x="688206" y="2074664"/>
            <a:ext cx="7886700" cy="994172"/>
          </a:xfrm>
        </p:spPr>
        <p:txBody>
          <a:bodyPr>
            <a:noAutofit/>
          </a:bodyPr>
          <a:lstStyle>
            <a:lvl1pPr algn="ctr">
              <a:defRPr sz="48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26490-533E-0540-8982-6E0161797CA6}" type="datetimeFigureOut">
              <a:rPr kumimoji="1" lang="zh-CN" altLang="en-US" smtClean="0"/>
              <a:t>2024/5/15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C0330-6A73-1445-B02D-53703D6AE0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5548" y="-62094"/>
            <a:ext cx="9209548" cy="5205594"/>
          </a:xfrm>
          <a:prstGeom prst="rect">
            <a:avLst/>
          </a:prstGeom>
          <a:solidFill>
            <a:srgbClr val="202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389965" y="3455341"/>
            <a:ext cx="8125385" cy="532981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n>
                  <a:noFill/>
                </a:ln>
                <a:solidFill>
                  <a:srgbClr val="FFE1A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389965" y="2092075"/>
            <a:ext cx="8125385" cy="994172"/>
          </a:xfrm>
        </p:spPr>
        <p:txBody>
          <a:bodyPr>
            <a:normAutofit/>
          </a:bodyPr>
          <a:lstStyle>
            <a:lvl1pPr algn="l">
              <a:defRPr sz="4800" b="0" i="0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389965" y="4357416"/>
            <a:ext cx="8125385" cy="326643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pic>
        <p:nvPicPr>
          <p:cNvPr id="11" name="图片 10" descr="方块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291" y="516282"/>
            <a:ext cx="6887024" cy="4143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7357005" cy="523875"/>
          </a:xfr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8" name="文本占位符 26"/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E9EF5C-CB56-40EE-620D-C8B40FB83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53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0" y="4908948"/>
            <a:ext cx="9144000" cy="20121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E2DA07-CE19-4C9B-A0EC-06D3955056C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5" name="标题 18">
            <a:extLst>
              <a:ext uri="{FF2B5EF4-FFF2-40B4-BE49-F238E27FC236}">
                <a16:creationId xmlns:a16="http://schemas.microsoft.com/office/drawing/2014/main" id="{BC653964-B27B-5D55-2888-123DCEF7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8" y="280792"/>
            <a:ext cx="7357005" cy="523875"/>
          </a:xfr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6" name="组合 19">
            <a:extLst>
              <a:ext uri="{FF2B5EF4-FFF2-40B4-BE49-F238E27FC236}">
                <a16:creationId xmlns:a16="http://schemas.microsoft.com/office/drawing/2014/main" id="{06DEC1DD-71FA-0879-5B19-99757B7FAD42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629C1597-78DB-0C24-33AB-69FD1937B675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8" name="燕尾形 17">
              <a:extLst>
                <a:ext uri="{FF2B5EF4-FFF2-40B4-BE49-F238E27FC236}">
                  <a16:creationId xmlns:a16="http://schemas.microsoft.com/office/drawing/2014/main" id="{3404FDEA-1426-1669-D727-668FE30C1990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9" name="燕尾形 18">
              <a:extLst>
                <a:ext uri="{FF2B5EF4-FFF2-40B4-BE49-F238E27FC236}">
                  <a16:creationId xmlns:a16="http://schemas.microsoft.com/office/drawing/2014/main" id="{E88921BB-B82E-E706-1419-9F0067267CC9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20" name="文本占位符 26">
            <a:extLst>
              <a:ext uri="{FF2B5EF4-FFF2-40B4-BE49-F238E27FC236}">
                <a16:creationId xmlns:a16="http://schemas.microsoft.com/office/drawing/2014/main" id="{CE22F9DF-660D-F9A4-066E-E4F55186B5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038" y="1278636"/>
            <a:ext cx="7128035" cy="2233865"/>
          </a:xfr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3C7ADF-25D4-F38E-95CB-0A24DF6316FB}"/>
              </a:ext>
            </a:extLst>
          </p:cNvPr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44543A7-8EC1-BEBA-041D-80CEA1CB6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87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2868" y="171419"/>
            <a:ext cx="5669600" cy="546552"/>
          </a:xfr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0" y="4908948"/>
            <a:ext cx="9144000" cy="20121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E2DA07-CE19-4C9B-A0EC-06D3955056CF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5" name="组合 19">
            <a:extLst>
              <a:ext uri="{FF2B5EF4-FFF2-40B4-BE49-F238E27FC236}">
                <a16:creationId xmlns:a16="http://schemas.microsoft.com/office/drawing/2014/main" id="{03CE1E87-7783-B5D4-9312-68E9E7456AFE}"/>
              </a:ext>
            </a:extLst>
          </p:cNvPr>
          <p:cNvGrpSpPr/>
          <p:nvPr userDrawn="1"/>
        </p:nvGrpSpPr>
        <p:grpSpPr>
          <a:xfrm>
            <a:off x="-122390" y="273844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D2F7DFD5-56E4-BE01-23AC-F143921471B5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CBFB48DA-4C61-91FC-630B-A9CB9141D07C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11B1ABC3-D378-2B81-7843-8D13C7ACB2B7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7395A3A9-D5A5-F8EB-48C0-232809B76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20242" y="4715476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25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73460"/>
            <a:ext cx="9144000" cy="11715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75B709-553C-2F31-0AC6-3CD7BEB5F72A}"/>
              </a:ext>
            </a:extLst>
          </p:cNvPr>
          <p:cNvSpPr/>
          <p:nvPr userDrawn="1"/>
        </p:nvSpPr>
        <p:spPr>
          <a:xfrm>
            <a:off x="0" y="4961614"/>
            <a:ext cx="9144000" cy="181886"/>
          </a:xfrm>
          <a:prstGeom prst="rect">
            <a:avLst/>
          </a:prstGeom>
          <a:solidFill>
            <a:srgbClr val="202B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 descr="形状 3.png">
            <a:extLst>
              <a:ext uri="{FF2B5EF4-FFF2-40B4-BE49-F238E27FC236}">
                <a16:creationId xmlns:a16="http://schemas.microsoft.com/office/drawing/2014/main" id="{392AD8B5-C0BE-D767-84D9-E93FB6F132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38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83A833-E148-B64F-D7B3-8453CEFD81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07" y="105693"/>
            <a:ext cx="1417284" cy="47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8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91A350D4-A768-AE41-8B32-BAB0BDFB4D79}" type="datetimeFigureOut">
              <a:rPr kumimoji="1" lang="zh-CN" altLang="en-US" smtClean="0"/>
              <a:t>2024/5/15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3A1E3D2E-B3F0-E849-A0C0-75DD48B3F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6" r:id="rId14"/>
    <p:sldLayoutId id="2147483664" r:id="rId15"/>
    <p:sldLayoutId id="2147483668" r:id="rId16"/>
    <p:sldLayoutId id="2147483671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unit_testing_framework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junit.org/junit5/docs/current/user-guide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4.png"/><Relationship Id="rId5" Type="http://schemas.openxmlformats.org/officeDocument/2006/relationships/hyperlink" Target="https://docs.pact.io/" TargetMode="External"/><Relationship Id="rId4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ct-foundation/pact-provider-verifier/" TargetMode="Externa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junit.org/junit5/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hyperlink" Target="https://docs.pact.io/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9890" y="1892935"/>
            <a:ext cx="7752624" cy="902513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5400" b="1" dirty="0">
                <a:latin typeface="Tahoma" panose="020B0604030504040204" charset="0"/>
                <a:cs typeface="思源黑体 Bold" panose="020B0800000000000000" charset="-122"/>
              </a:rPr>
              <a:t>软件测试方法和技术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645025" y="4357370"/>
            <a:ext cx="2263140" cy="346710"/>
          </a:xfrm>
        </p:spPr>
        <p:txBody>
          <a:bodyPr>
            <a:noAutofit/>
          </a:bodyPr>
          <a:lstStyle/>
          <a:p>
            <a:r>
              <a:rPr kumimoji="1" lang="zh-CN" altLang="en-US" sz="1800" b="1" dirty="0">
                <a:solidFill>
                  <a:schemeClr val="bg1"/>
                </a:solidFill>
              </a:rPr>
              <a:t>河南大学 </a:t>
            </a:r>
            <a:r>
              <a:rPr kumimoji="1" sz="1800" b="1" dirty="0">
                <a:solidFill>
                  <a:schemeClr val="bg1"/>
                </a:solidFill>
              </a:rPr>
              <a:t> </a:t>
            </a:r>
            <a:r>
              <a:rPr kumimoji="1" lang="zh-CN" altLang="en-US" sz="1800" b="1" dirty="0">
                <a:solidFill>
                  <a:schemeClr val="bg1"/>
                </a:solidFill>
              </a:rPr>
              <a:t>冯东栋</a:t>
            </a:r>
            <a:endParaRPr kumimoji="1" sz="1800" b="1" dirty="0">
              <a:solidFill>
                <a:schemeClr val="bg1"/>
              </a:solidFill>
            </a:endParaRPr>
          </a:p>
        </p:txBody>
      </p:sp>
      <p:grpSp>
        <p:nvGrpSpPr>
          <p:cNvPr id="5" name="组合 10"/>
          <p:cNvGrpSpPr/>
          <p:nvPr/>
        </p:nvGrpSpPr>
        <p:grpSpPr>
          <a:xfrm>
            <a:off x="446405" y="1723390"/>
            <a:ext cx="6461760" cy="1363980"/>
            <a:chOff x="2666198" y="2543397"/>
            <a:chExt cx="7199697" cy="1316333"/>
          </a:xfrm>
        </p:grpSpPr>
        <p:cxnSp>
          <p:nvCxnSpPr>
            <p:cNvPr id="6" name="直线连接符 5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2"/>
          <p:cNvSpPr>
            <a:spLocks noGrp="1"/>
          </p:cNvSpPr>
          <p:nvPr/>
        </p:nvSpPr>
        <p:spPr>
          <a:xfrm>
            <a:off x="389889" y="3250565"/>
            <a:ext cx="6518275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F0502020204030204" charset="-122"/>
              </a:defRPr>
            </a:lvl1pPr>
          </a:lstStyle>
          <a:p>
            <a:pPr algn="l"/>
            <a:r>
              <a:rPr kumimoji="1" lang="zh-CN" altLang="en-US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第</a:t>
            </a:r>
            <a:r>
              <a:rPr kumimoji="1" lang="en-US" altLang="zh-CN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5</a:t>
            </a:r>
            <a:r>
              <a:rPr kumimoji="1" lang="zh-CN" altLang="en-US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章 单元测试与集成测试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7F7096-FD1E-F94C-2E42-767228D4FB0C}"/>
              </a:ext>
            </a:extLst>
          </p:cNvPr>
          <p:cNvSpPr txBox="1"/>
          <p:nvPr/>
        </p:nvSpPr>
        <p:spPr>
          <a:xfrm>
            <a:off x="4572000" y="4744056"/>
            <a:ext cx="266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</a:rPr>
              <a:t>版权所有</a:t>
            </a:r>
            <a:r>
              <a:rPr kumimoji="1" lang="en-US" altLang="zh-CN" sz="1600" dirty="0">
                <a:solidFill>
                  <a:schemeClr val="bg1">
                    <a:lumMod val="65000"/>
                  </a:schemeClr>
                </a:solidFill>
              </a:rPr>
              <a:t>©️</a:t>
            </a:r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</a:rPr>
              <a:t> 仅限于教学使用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661D26-85B6-511B-906D-F0CDFD6D98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-20579"/>
            <a:ext cx="9144001" cy="4267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6367" y="853011"/>
            <a:ext cx="7732116" cy="8953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chemeClr val="accent2">
                    <a:lumMod val="75000"/>
                  </a:schemeClr>
                </a:solidFill>
              </a:rPr>
              <a:t>5.2 </a:t>
            </a:r>
            <a:r>
              <a:rPr lang="zh-CN" altLang="en-US" sz="4800" b="1" dirty="0">
                <a:solidFill>
                  <a:schemeClr val="accent2">
                    <a:lumMod val="75000"/>
                  </a:schemeClr>
                </a:solidFill>
              </a:rPr>
              <a:t>单元</a:t>
            </a:r>
            <a:r>
              <a:rPr lang="zh-CN" altLang="zh-CN" sz="4800" b="1" dirty="0">
                <a:solidFill>
                  <a:schemeClr val="accent2">
                    <a:lumMod val="75000"/>
                  </a:schemeClr>
                </a:solidFill>
              </a:rPr>
              <a:t>测试 </a:t>
            </a:r>
            <a:endParaRPr lang="zh-CN" altLang="en-U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16170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35943" y="381723"/>
            <a:ext cx="4698206" cy="667941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单元测试内容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225494" y="1165179"/>
            <a:ext cx="4208655" cy="281314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为何要进行单元测试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单元测试的目标和要求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驱动程序和桩程序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单元测试工具</a:t>
            </a:r>
            <a:r>
              <a:rPr lang="en-US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JUnit</a:t>
            </a: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及其实践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en-US" altLang="zh-CN" sz="2000" kern="100" dirty="0">
                <a:solidFill>
                  <a:srgbClr val="3F3F3F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Mock</a:t>
            </a: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技术与框架（如</a:t>
            </a:r>
            <a:r>
              <a:rPr lang="en-US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Mockito</a:t>
            </a:r>
            <a:r>
              <a:rPr lang="zh-CN" altLang="zh-CN" sz="20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en-US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3F3F3F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测试覆盖率工具</a:t>
            </a:r>
            <a:r>
              <a:rPr lang="en-US" altLang="zh-CN" sz="2000" kern="100" dirty="0" err="1">
                <a:solidFill>
                  <a:srgbClr val="3F3F3F"/>
                </a:solidFill>
                <a:effectLst/>
                <a:ea typeface="微软雅黑" panose="020B0503020204020204" pitchFamily="34" charset="-122"/>
                <a:cs typeface="宋体" panose="02010600030101010101" pitchFamily="2" charset="-122"/>
              </a:rPr>
              <a:t>JaCoCo</a:t>
            </a:r>
            <a:r>
              <a:rPr lang="zh-CN" altLang="zh-CN" sz="1400" dirty="0">
                <a:effectLst/>
              </a:rPr>
              <a:t> 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4086018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63861" y="300367"/>
            <a:ext cx="4508915" cy="377930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为何要进行单元测试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469833" y="988002"/>
            <a:ext cx="3991867" cy="385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257175" indent="-257175" eaLnBrk="0" hangingPunct="0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844" algn="l"/>
                <a:tab pos="428625" algn="l"/>
              </a:tabLst>
            </a:pPr>
            <a:r>
              <a:rPr lang="zh-CN" altLang="en-U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编程与编译运行结束后，每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1000</a:t>
            </a:r>
            <a:r>
              <a:rPr lang="zh-CN" altLang="en-U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行代码中大约残留有</a:t>
            </a:r>
            <a:r>
              <a:rPr lang="zh-CN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-6</a:t>
            </a:r>
            <a:r>
              <a:rPr lang="zh-CN" altLang="en-U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Bug</a:t>
            </a:r>
          </a:p>
          <a:p>
            <a:pPr marL="257175" indent="-257175" eaLnBrk="0" hangingPunct="0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844" algn="l"/>
                <a:tab pos="428625" algn="l"/>
              </a:tabLst>
            </a:pPr>
            <a:r>
              <a:rPr lang="zh-CN" altLang="en-U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寻找与修改程序错误的代价占总体开发投资的</a:t>
            </a:r>
            <a:r>
              <a:rPr lang="zh-CN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0%</a:t>
            </a:r>
            <a:r>
              <a:rPr lang="zh-CN" altLang="en-US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</a:t>
            </a:r>
            <a:r>
              <a:rPr lang="zh-CN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6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0%</a:t>
            </a:r>
          </a:p>
          <a:p>
            <a:pPr marL="257175" indent="-257175" eaLnBrk="0" hangingPunct="0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844" algn="l"/>
                <a:tab pos="428625" algn="l"/>
              </a:tabLst>
            </a:pPr>
            <a:r>
              <a:rPr lang="zh-CN" altLang="en-US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尽早发现错误，成本越低</a:t>
            </a:r>
          </a:p>
          <a:p>
            <a:pPr marL="552450" indent="-285750">
              <a:lnSpc>
                <a:spcPct val="150000"/>
              </a:lnSpc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发现问题比较容易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552450" indent="-285750">
              <a:lnSpc>
                <a:spcPct val="150000"/>
              </a:lnSpc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修正问题更容易</a:t>
            </a:r>
            <a:endParaRPr lang="zh-CN" altLang="en-US" b="1" dirty="0"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257175" indent="-257175" eaLnBrk="0" hangingPunct="0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844" algn="l"/>
                <a:tab pos="428625" algn="l"/>
              </a:tabLst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单元质量是系统质量的基石，单元测试可以比系统测试测得更彻底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Picture 41" descr="car_unit">
            <a:extLst>
              <a:ext uri="{FF2B5EF4-FFF2-40B4-BE49-F238E27FC236}">
                <a16:creationId xmlns:a16="http://schemas.microsoft.com/office/drawing/2014/main" id="{63B7E659-B2C0-5089-128D-34331D444FC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532202"/>
            <a:ext cx="4461055" cy="2333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96B2EC-082F-94C4-8EA4-0A45D3359CB0}"/>
              </a:ext>
            </a:extLst>
          </p:cNvPr>
          <p:cNvSpPr txBox="1"/>
          <p:nvPr/>
        </p:nvSpPr>
        <p:spPr>
          <a:xfrm>
            <a:off x="4831975" y="4065093"/>
            <a:ext cx="1721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</a:rPr>
              <a:t>0.8</a:t>
            </a:r>
            <a:r>
              <a:rPr kumimoji="1" lang="en-US" altLang="zh-CN" sz="2000" baseline="30000" dirty="0">
                <a:solidFill>
                  <a:srgbClr val="C00000"/>
                </a:solidFill>
              </a:rPr>
              <a:t>30</a:t>
            </a:r>
            <a:r>
              <a:rPr kumimoji="1" lang="zh-CN" altLang="en-US" sz="2000" baseline="30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=0.00123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B33620-EF86-C334-B9AB-A65C7A72D6B2}"/>
              </a:ext>
            </a:extLst>
          </p:cNvPr>
          <p:cNvSpPr txBox="1"/>
          <p:nvPr/>
        </p:nvSpPr>
        <p:spPr>
          <a:xfrm>
            <a:off x="6974682" y="4065093"/>
            <a:ext cx="183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</a:rPr>
              <a:t>0.99</a:t>
            </a:r>
            <a:r>
              <a:rPr kumimoji="1" lang="en-US" altLang="zh-CN" sz="2000" baseline="30000" dirty="0">
                <a:solidFill>
                  <a:srgbClr val="C00000"/>
                </a:solidFill>
              </a:rPr>
              <a:t>30</a:t>
            </a:r>
            <a:r>
              <a:rPr kumimoji="1" lang="zh-CN" altLang="en-US" sz="2000" baseline="30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=</a:t>
            </a:r>
            <a:r>
              <a:rPr kumimoji="1" lang="zh-CN" altLang="en-US" sz="2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0.740</a:t>
            </a:r>
            <a:r>
              <a:rPr kumimoji="1" lang="zh-CN" altLang="en-US" sz="2000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391027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400" y="248128"/>
            <a:ext cx="4788579" cy="421481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单元测试的其它价值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0659" y="887506"/>
            <a:ext cx="8659906" cy="3926542"/>
          </a:xfrm>
        </p:spPr>
        <p:txBody>
          <a:bodyPr>
            <a:noAutofit/>
          </a:bodyPr>
          <a:lstStyle/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zh-CN" sz="1400" b="1" dirty="0">
                <a:ea typeface="楷体"/>
              </a:rPr>
              <a:t>支持扩展</a:t>
            </a:r>
            <a:r>
              <a:rPr lang="zh-CN" altLang="en-US" sz="1400" dirty="0">
                <a:ea typeface="楷体"/>
              </a:rPr>
              <a:t>：</a:t>
            </a:r>
            <a:r>
              <a:rPr lang="zh-CN" altLang="zh-CN" sz="1400" dirty="0">
                <a:ea typeface="楷体"/>
              </a:rPr>
              <a:t>如果没有各种类型测试的支持，软件开发无法支持扩展，单元测试就是其基础</a:t>
            </a:r>
            <a:endParaRPr lang="en-US" altLang="zh-CN" sz="1400" dirty="0">
              <a:ea typeface="楷体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zh-CN" sz="1400" b="1" dirty="0">
                <a:ea typeface="楷体"/>
              </a:rPr>
              <a:t>引导更好的设计</a:t>
            </a:r>
            <a:r>
              <a:rPr lang="zh-CN" altLang="en-US" sz="1400" dirty="0">
                <a:ea typeface="楷体"/>
              </a:rPr>
              <a:t>：</a:t>
            </a:r>
            <a:r>
              <a:rPr lang="zh-CN" altLang="zh-CN" sz="1400" dirty="0">
                <a:ea typeface="楷体"/>
              </a:rPr>
              <a:t>能够支持单元测试的代码总是不会被人遗弃。单元测试的存在，甚至实现程序可测试性的意识，可避免</a:t>
            </a:r>
            <a:r>
              <a:rPr lang="zh-CN" altLang="en-US" sz="1400" dirty="0">
                <a:ea typeface="楷体"/>
              </a:rPr>
              <a:t>“</a:t>
            </a:r>
            <a:r>
              <a:rPr lang="zh-CN" altLang="zh-CN" sz="1400" dirty="0">
                <a:ea typeface="楷体"/>
              </a:rPr>
              <a:t>方法有太多参数</a:t>
            </a:r>
            <a:r>
              <a:rPr lang="zh-CN" altLang="en-US" sz="1400" dirty="0">
                <a:ea typeface="楷体"/>
              </a:rPr>
              <a:t>、</a:t>
            </a:r>
            <a:r>
              <a:rPr lang="zh-CN" altLang="zh-CN" sz="1400" dirty="0">
                <a:ea typeface="楷体"/>
              </a:rPr>
              <a:t>Monster Methods</a:t>
            </a:r>
            <a:r>
              <a:rPr lang="zh-CN" altLang="en-US" sz="1400" dirty="0">
                <a:ea typeface="楷体"/>
              </a:rPr>
              <a:t>（巨型方法）、</a:t>
            </a:r>
            <a:r>
              <a:rPr lang="zh-CN" altLang="zh-CN" sz="1400" dirty="0">
                <a:ea typeface="楷体"/>
              </a:rPr>
              <a:t>过多的依赖</a:t>
            </a:r>
            <a:r>
              <a:rPr lang="zh-CN" altLang="en-US" sz="1400" dirty="0">
                <a:ea typeface="楷体"/>
              </a:rPr>
              <a:t>”等问题</a:t>
            </a:r>
            <a:endParaRPr lang="en-US" altLang="zh-CN" sz="1400" dirty="0">
              <a:ea typeface="楷体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支持变化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任何人修改系统的一部分，就必须了解其它哪些部分需要运行验证，以确保不破坏程序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。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单元测试，提供了所需要的安全网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，我们在进行代码修改的时候，无需担心无法预料的破坏。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避免回归缺陷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当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集成为一个庞大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系统后，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靠系统测试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穷尽所有的回归测试几乎是不可能的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宋体" panose="02010600030101010101" pitchFamily="2" charset="-122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保证工作的平稳步调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如果代码编写能够与单元测试配合，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就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很少会引起意外或最后一分钟问题。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宋体" panose="02010600030101010101" pitchFamily="2" charset="-122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节省测试时间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单元测试是最简单、最快和最廉价的方式实现基础检查，例如边界值验证、输入验证或程序主逻辑路径调用等。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319088" marR="0" lvl="0" indent="-319088" eaLnBrk="0" fontAlgn="base" hangingPunct="0">
              <a:lnSpc>
                <a:spcPct val="130000"/>
              </a:lnSpc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规范行为和记录代码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理想状态下，单元测试是被测代码的行为描述。它也是一个例子，解释代码是如何工作或如何实现一个特定的业务逻辑</a:t>
            </a:r>
            <a:endParaRPr lang="zh-CN" altLang="zh-CN" sz="1400" dirty="0">
              <a:solidFill>
                <a:schemeClr val="tx1">
                  <a:lumMod val="95000"/>
                  <a:lumOff val="5000"/>
                </a:schemeClr>
              </a:solidFill>
              <a:ea typeface="楷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B5928-4FA1-460F-DA74-F83BAA3E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8664575"/>
            <a:ext cx="97536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22860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127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人们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总是愿意写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工作完全正确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的代码，而不是写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按照预期的设想工作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的代码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，但是证明一个程序的正确性几乎是不可能的，除非是大学教材中有关形式化方法的非常简单的代码片段。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435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0700" y="249710"/>
            <a:ext cx="4725693" cy="43204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单元测试的目标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569" y="1033777"/>
            <a:ext cx="7425137" cy="2776223"/>
          </a:xfrm>
        </p:spPr>
        <p:txBody>
          <a:bodyPr>
            <a:normAutofit/>
          </a:bodyPr>
          <a:lstStyle/>
          <a:p>
            <a:pPr marL="319088" indent="-319088" eaLnBrk="0" hangingPunct="0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en-US" sz="1800" dirty="0">
                <a:ea typeface="楷体"/>
                <a:cs typeface="楷体"/>
              </a:rPr>
              <a:t>单元模块被正确实现（主要指编码），包括功能、性能、安全性等，但一般主要介绍单元功能测试。</a:t>
            </a:r>
          </a:p>
          <a:p>
            <a:pPr marL="319088" indent="-319088" eaLnBrk="0" hangingPunct="0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en-US" sz="1800" dirty="0">
                <a:ea typeface="楷体"/>
                <a:cs typeface="楷体"/>
              </a:rPr>
              <a:t>（参数）输入是否正确传递和得到保护（容错），输出是否正常</a:t>
            </a:r>
          </a:p>
          <a:p>
            <a:pPr marL="319088" indent="-319088" eaLnBrk="0" hangingPunct="0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en-US" sz="1800" dirty="0">
                <a:ea typeface="楷体"/>
                <a:cs typeface="楷体"/>
              </a:rPr>
              <a:t>内部数据能否保持其完整性，包括变量的正确定义与引用、内存及时释放、全局变量的正确处理和影响最低</a:t>
            </a:r>
          </a:p>
          <a:p>
            <a:pPr marL="319088" indent="-319088" eaLnBrk="0" hangingPunct="0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charset="2"/>
              <a:buChar char="p"/>
              <a:tabLst>
                <a:tab pos="273050" algn="l"/>
                <a:tab pos="428625" algn="l"/>
              </a:tabLst>
            </a:pPr>
            <a:r>
              <a:rPr lang="zh-CN" altLang="en-US" sz="1800" dirty="0">
                <a:ea typeface="楷体"/>
                <a:cs typeface="楷体"/>
              </a:rPr>
              <a:t>代码行、分支覆盖或</a:t>
            </a:r>
            <a:r>
              <a:rPr lang="en-US" altLang="zh-CN" sz="1800" dirty="0">
                <a:ea typeface="楷体"/>
                <a:cs typeface="楷体"/>
              </a:rPr>
              <a:t>MC/DC</a:t>
            </a:r>
            <a:r>
              <a:rPr lang="zh-CN" altLang="en-US" sz="1800" dirty="0">
                <a:ea typeface="楷体"/>
                <a:cs typeface="楷体"/>
              </a:rPr>
              <a:t>达到要求，如高于</a:t>
            </a:r>
            <a:r>
              <a:rPr lang="en-US" altLang="zh-CN" sz="1800" dirty="0">
                <a:ea typeface="楷体"/>
                <a:cs typeface="楷体"/>
              </a:rPr>
              <a:t>80%</a:t>
            </a:r>
            <a:r>
              <a:rPr lang="zh-CN" altLang="en-US" sz="1800" dirty="0">
                <a:ea typeface="楷体"/>
                <a:cs typeface="楷体"/>
              </a:rPr>
              <a:t>或</a:t>
            </a:r>
            <a:r>
              <a:rPr lang="en-US" altLang="zh-CN" sz="1800" dirty="0">
                <a:ea typeface="楷体"/>
                <a:cs typeface="楷体"/>
              </a:rPr>
              <a:t>95%</a:t>
            </a:r>
            <a:endParaRPr lang="zh-CN" altLang="en-US" sz="1800" dirty="0">
              <a:ea typeface="楷体"/>
              <a:cs typeface="楷体"/>
            </a:endParaRPr>
          </a:p>
        </p:txBody>
      </p:sp>
    </p:spTree>
    <p:extLst>
      <p:ext uri="{BB962C8B-B14F-4D97-AF65-F5344CB8AC3E}">
        <p14:creationId xmlns:p14="http://schemas.microsoft.com/office/powerpoint/2010/main" val="417238156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763" y="717970"/>
            <a:ext cx="7567182" cy="9136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实现</a:t>
            </a:r>
            <a:r>
              <a:rPr lang="zh-CN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功能</a:t>
            </a:r>
            <a:r>
              <a:rPr lang="zh-CN" altLang="en-US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实现两个正整数或零的加法，如果其中有</a:t>
            </a:r>
            <a:r>
              <a:rPr lang="en-US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个数小于或等于</a:t>
            </a:r>
            <a:r>
              <a:rPr lang="en-US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，则返回</a:t>
            </a:r>
            <a:r>
              <a:rPr lang="en-US" altLang="zh-CN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。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错误在哪里？通过怎样的测试数据可以发现？</a:t>
            </a:r>
          </a:p>
        </p:txBody>
      </p:sp>
      <p:sp>
        <p:nvSpPr>
          <p:cNvPr id="4" name="矩形 3"/>
          <p:cNvSpPr/>
          <p:nvPr/>
        </p:nvSpPr>
        <p:spPr>
          <a:xfrm>
            <a:off x="2616707" y="1798712"/>
            <a:ext cx="3900633" cy="30877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package  study.myconnect.cn;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public  class  Calculator{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public int add(int num1, int num2){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if(num1&gt;=0 &amp;&amp; num2&gt;0){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    return num1 + num2;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    }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    else{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        return 0;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        } 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CN" sz="1620" dirty="0">
                <a:latin typeface="Arial" pitchFamily="34" charset="0"/>
                <a:cs typeface="Arial" pitchFamily="34" charset="0"/>
              </a:rPr>
              <a:t>}</a:t>
            </a:r>
            <a:endParaRPr lang="zh-CN" altLang="en-US" sz="162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2AA0D296-46D2-0D1E-7680-38484284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一个小练习</a:t>
            </a:r>
          </a:p>
        </p:txBody>
      </p:sp>
    </p:spTree>
    <p:extLst>
      <p:ext uri="{BB962C8B-B14F-4D97-AF65-F5344CB8AC3E}">
        <p14:creationId xmlns:p14="http://schemas.microsoft.com/office/powerpoint/2010/main" val="3564852627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438801" y="1413108"/>
            <a:ext cx="60502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驱动程序与桩程序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052DBD3-9908-6BF4-8D16-9201C4B0D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263035"/>
              </p:ext>
            </p:extLst>
          </p:nvPr>
        </p:nvGraphicFramePr>
        <p:xfrm>
          <a:off x="2158510" y="2414868"/>
          <a:ext cx="4814048" cy="1228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02500" imgH="1854200" progId="Visio.Drawing.11">
                  <p:embed/>
                </p:oleObj>
              </mc:Choice>
              <mc:Fallback>
                <p:oleObj r:id="rId2" imgW="7302500" imgH="18542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510" y="2414868"/>
                        <a:ext cx="4814048" cy="12282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1041643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AA0D296-46D2-0D1E-7680-38484284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驱动程序与桩程序</a:t>
            </a:r>
          </a:p>
        </p:txBody>
      </p:sp>
      <p:pic>
        <p:nvPicPr>
          <p:cNvPr id="7" name="图片 6" descr="屏幕快照 2014-03-28 下午10.04.06.png">
            <a:extLst>
              <a:ext uri="{FF2B5EF4-FFF2-40B4-BE49-F238E27FC236}">
                <a16:creationId xmlns:a16="http://schemas.microsoft.com/office/drawing/2014/main" id="{91F77BD8-F492-6D47-24A3-055EB21E3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437" y="1160354"/>
            <a:ext cx="3504881" cy="3223387"/>
          </a:xfrm>
          <a:prstGeom prst="rect">
            <a:avLst/>
          </a:prstGeom>
        </p:spPr>
      </p:pic>
      <p:pic>
        <p:nvPicPr>
          <p:cNvPr id="9" name="图片 8" descr="drivers -stub.png">
            <a:extLst>
              <a:ext uri="{FF2B5EF4-FFF2-40B4-BE49-F238E27FC236}">
                <a16:creationId xmlns:a16="http://schemas.microsoft.com/office/drawing/2014/main" id="{E166CCAA-3677-769D-C81D-DC63A6A3D45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0259" y="717971"/>
            <a:ext cx="3604872" cy="4362059"/>
          </a:xfrm>
          <a:prstGeom prst="rect">
            <a:avLst/>
          </a:prstGeom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34BA7455-9AA2-326F-55A2-C985A7E03381}"/>
              </a:ext>
            </a:extLst>
          </p:cNvPr>
          <p:cNvSpPr txBox="1"/>
          <p:nvPr/>
        </p:nvSpPr>
        <p:spPr>
          <a:xfrm>
            <a:off x="3555699" y="1685261"/>
            <a:ext cx="1016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0" dirty="0">
                <a:solidFill>
                  <a:srgbClr val="FFC000"/>
                </a:solidFill>
              </a:rPr>
              <a:t>Function under test</a:t>
            </a:r>
            <a:endParaRPr lang="zh-CN" altLang="en-US" sz="1600" i="0" dirty="0">
              <a:solidFill>
                <a:srgbClr val="FFC000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92961C3-8488-E8DD-F390-3FB320CE98AE}"/>
              </a:ext>
            </a:extLst>
          </p:cNvPr>
          <p:cNvSpPr/>
          <p:nvPr/>
        </p:nvSpPr>
        <p:spPr bwMode="auto">
          <a:xfrm>
            <a:off x="887922" y="1160354"/>
            <a:ext cx="893019" cy="104169"/>
          </a:xfrm>
          <a:prstGeom prst="roundRect">
            <a:avLst/>
          </a:prstGeom>
          <a:solidFill>
            <a:schemeClr val="bg2">
              <a:lumMod val="10000"/>
              <a:lumOff val="90000"/>
              <a:alpha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 i="0">
              <a:ea typeface="宋体" pitchFamily="2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0102A26-BF4C-EF38-7AB3-8CE97E9265EA}"/>
              </a:ext>
            </a:extLst>
          </p:cNvPr>
          <p:cNvSpPr/>
          <p:nvPr/>
        </p:nvSpPr>
        <p:spPr bwMode="auto">
          <a:xfrm>
            <a:off x="1312597" y="2049460"/>
            <a:ext cx="1313502" cy="249014"/>
          </a:xfrm>
          <a:prstGeom prst="roundRect">
            <a:avLst/>
          </a:prstGeom>
          <a:solidFill>
            <a:schemeClr val="bg2">
              <a:lumMod val="10000"/>
              <a:lumOff val="90000"/>
              <a:alpha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 i="0">
              <a:ea typeface="宋体" pitchFamily="2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23EC117-AA3D-0299-C821-3635D9041EAE}"/>
              </a:ext>
            </a:extLst>
          </p:cNvPr>
          <p:cNvSpPr txBox="1"/>
          <p:nvPr/>
        </p:nvSpPr>
        <p:spPr>
          <a:xfrm>
            <a:off x="3279268" y="1068652"/>
            <a:ext cx="1198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Driver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4" name="直接箭头连接符 12">
            <a:extLst>
              <a:ext uri="{FF2B5EF4-FFF2-40B4-BE49-F238E27FC236}">
                <a16:creationId xmlns:a16="http://schemas.microsoft.com/office/drawing/2014/main" id="{F5C144E2-130E-E1AA-B9B5-98F7D40BAFB2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>
            <a:off x="1780941" y="1253318"/>
            <a:ext cx="1498327" cy="0"/>
          </a:xfrm>
          <a:prstGeom prst="straightConnector1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15" name="直接箭头连接符 13">
            <a:extLst>
              <a:ext uri="{FF2B5EF4-FFF2-40B4-BE49-F238E27FC236}">
                <a16:creationId xmlns:a16="http://schemas.microsoft.com/office/drawing/2014/main" id="{0B21B904-E42D-900E-461E-C36F7144C0F3}"/>
              </a:ext>
            </a:extLst>
          </p:cNvPr>
          <p:cNvCxnSpPr>
            <a:cxnSpLocks/>
          </p:cNvCxnSpPr>
          <p:nvPr/>
        </p:nvCxnSpPr>
        <p:spPr bwMode="auto">
          <a:xfrm flipH="1">
            <a:off x="1780941" y="4639377"/>
            <a:ext cx="1125888" cy="251227"/>
          </a:xfrm>
          <a:prstGeom prst="straightConnector1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16" name="TextBox 16">
            <a:extLst>
              <a:ext uri="{FF2B5EF4-FFF2-40B4-BE49-F238E27FC236}">
                <a16:creationId xmlns:a16="http://schemas.microsoft.com/office/drawing/2014/main" id="{1EE48AE8-74F0-DB02-76B3-F3A8BB0BD9DD}"/>
              </a:ext>
            </a:extLst>
          </p:cNvPr>
          <p:cNvSpPr txBox="1"/>
          <p:nvPr/>
        </p:nvSpPr>
        <p:spPr>
          <a:xfrm>
            <a:off x="2783567" y="4425529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Stub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接箭头连接符 18">
            <a:extLst>
              <a:ext uri="{FF2B5EF4-FFF2-40B4-BE49-F238E27FC236}">
                <a16:creationId xmlns:a16="http://schemas.microsoft.com/office/drawing/2014/main" id="{AA5D8575-7816-3CE8-9E79-7E809EE0C288}"/>
              </a:ext>
            </a:extLst>
          </p:cNvPr>
          <p:cNvCxnSpPr>
            <a:cxnSpLocks/>
            <a:endCxn id="12" idx="3"/>
          </p:cNvCxnSpPr>
          <p:nvPr/>
        </p:nvCxnSpPr>
        <p:spPr bwMode="auto">
          <a:xfrm flipH="1">
            <a:off x="2626099" y="2112028"/>
            <a:ext cx="1008758" cy="61939"/>
          </a:xfrm>
          <a:prstGeom prst="straightConnector1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rgbClr val="FFC000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134377248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AA0D296-46D2-0D1E-7680-38484284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A05ADA-B206-BB10-26BA-3DD2E35AFC15}"/>
              </a:ext>
            </a:extLst>
          </p:cNvPr>
          <p:cNvSpPr txBox="1"/>
          <p:nvPr/>
        </p:nvSpPr>
        <p:spPr>
          <a:xfrm>
            <a:off x="1405104" y="519580"/>
            <a:ext cx="4560794" cy="44525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ParameterizedStub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: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ICollaborator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private int value;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public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ParameterizedStub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(int value)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this.value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value;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public int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ComputeAndReturnValue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6096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(value &lt; 10)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throw new 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InvalidOperationException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return value;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ts val="2000"/>
              </a:lnSpc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D7D132-8EDB-EDF5-9F08-53A28EFCE59E}"/>
              </a:ext>
            </a:extLst>
          </p:cNvPr>
          <p:cNvSpPr txBox="1"/>
          <p:nvPr/>
        </p:nvSpPr>
        <p:spPr>
          <a:xfrm>
            <a:off x="5965898" y="1631108"/>
            <a:ext cx="297191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不会像上一页返回一个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硬编码数值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zh-CN" altLang="zh-CN" sz="16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让一个桩对象返回单个数值是最简单，但也</a:t>
            </a:r>
            <a:r>
              <a:rPr lang="zh-CN" altLang="en-US" sz="16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16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最不聪明的做法</a:t>
            </a:r>
            <a:r>
              <a:rPr lang="zh-CN" altLang="en-US" sz="16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，因为</a:t>
            </a:r>
            <a:r>
              <a:rPr lang="zh-CN" altLang="zh-CN" sz="16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其它测试迟早都需要返回一个不同的数值</a:t>
            </a:r>
            <a:r>
              <a:rPr lang="zh-CN" altLang="zh-CN" sz="160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7950782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546867" y="1978373"/>
            <a:ext cx="60502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单元测试工具及其应用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AC2749-018E-CAB0-CF8D-40674BDE7F9F}"/>
              </a:ext>
            </a:extLst>
          </p:cNvPr>
          <p:cNvSpPr txBox="1"/>
          <p:nvPr/>
        </p:nvSpPr>
        <p:spPr>
          <a:xfrm>
            <a:off x="3690257" y="3258456"/>
            <a:ext cx="176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Junit4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34331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B46AC-3407-D64F-B107-CEBB61AB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单元测试工具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D65864-3D83-094B-8744-6C36E6BFA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12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4D4F7F-DAE1-214C-AABC-442FF0823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41" y="663489"/>
            <a:ext cx="7526020" cy="418638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AC100C1-BF32-3549-BC8B-2DBE8360C708}"/>
              </a:ext>
            </a:extLst>
          </p:cNvPr>
          <p:cNvSpPr/>
          <p:nvPr/>
        </p:nvSpPr>
        <p:spPr>
          <a:xfrm>
            <a:off x="3007205" y="549932"/>
            <a:ext cx="50405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hlinkClick r:id="rId3"/>
              </a:rPr>
              <a:t>https://en.wikipedia.org/wiki/List_of_unit_testing_frameworks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7079135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9CDFE-9C55-FA8C-1FCF-7680A130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最常用的单元测试工具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DFA04-5589-0939-B383-9EAE7859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97" y="1521957"/>
            <a:ext cx="2125061" cy="3263504"/>
          </a:xfrm>
        </p:spPr>
        <p:txBody>
          <a:bodyPr>
            <a:no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/>
              <a:t>JUnit</a:t>
            </a:r>
            <a:r>
              <a:rPr kumimoji="1" lang="zh-CN" altLang="en-US" sz="1600" dirty="0"/>
              <a:t>、</a:t>
            </a:r>
            <a:r>
              <a:rPr kumimoji="1" lang="en" altLang="zh-CN" sz="1600" dirty="0"/>
              <a:t>TestNG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GoogleTest</a:t>
            </a:r>
            <a:endParaRPr kumimoji="1" lang="en" altLang="zh-CN" sz="1600" dirty="0"/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pytest</a:t>
            </a:r>
            <a:endParaRPr kumimoji="1" lang="en" altLang="zh-CN" sz="1600" dirty="0"/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unittest</a:t>
            </a:r>
            <a:endParaRPr kumimoji="1" lang="en" altLang="zh-CN" sz="1600" dirty="0"/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Coverage.py</a:t>
            </a:r>
            <a:endParaRPr kumimoji="1" lang="en" altLang="zh-CN" sz="1600" dirty="0"/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EvoSuite</a:t>
            </a:r>
            <a:endParaRPr kumimoji="1" lang="en" altLang="zh-CN" sz="1600" dirty="0"/>
          </a:p>
          <a:p>
            <a:pPr marL="342900" indent="-342900">
              <a:buFont typeface="+mj-ea"/>
              <a:buAutoNum type="circleNumDbPlain"/>
            </a:pPr>
            <a:r>
              <a:rPr kumimoji="1" lang="en" altLang="zh-CN" sz="1600" dirty="0" err="1"/>
              <a:t>Diffblue</a:t>
            </a:r>
            <a:r>
              <a:rPr kumimoji="1" lang="en" altLang="zh-CN" sz="1600" dirty="0"/>
              <a:t> Cover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D3FC3F-3FAD-B58A-507D-75274DB7A1E1}"/>
              </a:ext>
            </a:extLst>
          </p:cNvPr>
          <p:cNvSpPr txBox="1"/>
          <p:nvPr/>
        </p:nvSpPr>
        <p:spPr>
          <a:xfrm>
            <a:off x="628650" y="717971"/>
            <a:ext cx="8389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Java</a:t>
            </a:r>
            <a:r>
              <a:rPr lang="zh-CN" altLang="e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C++</a:t>
            </a: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语言的单元测试中，受欢迎的测试工具包括单元测试框架、</a:t>
            </a:r>
            <a:r>
              <a:rPr lang="zh-CN" altLang="en-US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两个智能化的单元测试用例自动生成工具、以及</a:t>
            </a:r>
            <a:r>
              <a:rPr lang="e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Mock</a:t>
            </a: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工具、代码覆盖率工具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DA266-2AA4-2CB7-9A0E-5C01F506B1BE}"/>
              </a:ext>
            </a:extLst>
          </p:cNvPr>
          <p:cNvSpPr txBox="1"/>
          <p:nvPr/>
        </p:nvSpPr>
        <p:spPr>
          <a:xfrm>
            <a:off x="3866528" y="1521957"/>
            <a:ext cx="2286001" cy="12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en" altLang="zh-CN" sz="1800" dirty="0" err="1"/>
              <a:t>JMockit</a:t>
            </a:r>
            <a:endParaRPr kumimoji="1" lang="en" altLang="zh-CN" sz="1800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en" altLang="zh-CN" sz="1800" dirty="0" err="1"/>
              <a:t>JaCoCo</a:t>
            </a:r>
            <a:endParaRPr kumimoji="1" lang="en" altLang="zh-CN" sz="1800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en" altLang="zh-CN" sz="1800" dirty="0" err="1"/>
              <a:t>gcov</a:t>
            </a:r>
            <a:r>
              <a:rPr kumimoji="1" lang="zh-CN" altLang="en" sz="1800" dirty="0"/>
              <a:t>、</a:t>
            </a:r>
            <a:r>
              <a:rPr kumimoji="1" lang="en" altLang="zh-CN" sz="1800" dirty="0" err="1"/>
              <a:t>lcov</a:t>
            </a:r>
            <a:r>
              <a:rPr kumimoji="1" lang="zh-CN" altLang="en" sz="1800" dirty="0"/>
              <a:t>、</a:t>
            </a:r>
            <a:r>
              <a:rPr kumimoji="1" lang="en" altLang="zh-CN" sz="1800" dirty="0" err="1"/>
              <a:t>gcovr</a:t>
            </a:r>
            <a:endParaRPr kumimoji="1" lang="en" altLang="zh-CN" sz="1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3C54C3-5D7B-4D09-39A1-D4926CEC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427" y="1910854"/>
            <a:ext cx="1438846" cy="14388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88A947-A2F3-9AEF-A0BC-360506E90E7E}"/>
              </a:ext>
            </a:extLst>
          </p:cNvPr>
          <p:cNvSpPr txBox="1"/>
          <p:nvPr/>
        </p:nvSpPr>
        <p:spPr>
          <a:xfrm>
            <a:off x="6935691" y="3399891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详见公众号文章</a:t>
            </a:r>
          </a:p>
        </p:txBody>
      </p:sp>
    </p:spTree>
    <p:extLst>
      <p:ext uri="{BB962C8B-B14F-4D97-AF65-F5344CB8AC3E}">
        <p14:creationId xmlns:p14="http://schemas.microsoft.com/office/powerpoint/2010/main" val="4097996801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15271" y="141698"/>
            <a:ext cx="6684451" cy="581698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itchFamily="34" charset="0"/>
                <a:cs typeface="Arial" pitchFamily="34" charset="0"/>
              </a:rPr>
              <a:t>JUnit 4 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工作原理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9692" y="723396"/>
            <a:ext cx="5544616" cy="42279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8468011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046490"/>
            <a:ext cx="7886700" cy="3263504"/>
          </a:xfrm>
        </p:spPr>
        <p:txBody>
          <a:bodyPr>
            <a:noAutofit/>
          </a:bodyPr>
          <a:lstStyle/>
          <a:p>
            <a:pPr marL="98755" indent="0"/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JUnit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成员三重唱共同产生测试结果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：</a:t>
            </a:r>
            <a:endParaRPr lang="en-US" altLang="zh-CN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98755" indent="0">
              <a:buNone/>
            </a:pPr>
            <a:endParaRPr lang="en-US" altLang="zh-CN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98755" indent="0">
              <a:buNone/>
            </a:pP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    </a:t>
            </a:r>
          </a:p>
          <a:p>
            <a:pPr marL="98755" indent="0"/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一个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TestRunner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运行一个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TestSuite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，该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TestSuite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可以由一个或多个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TestCase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（或者由其他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TestSuite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）所组成。运行结果由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TestResult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收集，由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TestRunner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来报告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结果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。</a:t>
            </a:r>
          </a:p>
          <a:p>
            <a:pPr marL="98755" indent="0"/>
            <a:endParaRPr lang="zh-CN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96069" y="134210"/>
            <a:ext cx="6684451" cy="581698"/>
          </a:xfrm>
        </p:spPr>
        <p:txBody>
          <a:bodyPr/>
          <a:lstStyle/>
          <a:p>
            <a:r>
              <a:rPr lang="en-US" altLang="zh-CN" dirty="0">
                <a:latin typeface="Arial" pitchFamily="34" charset="0"/>
                <a:cs typeface="Arial" pitchFamily="34" charset="0"/>
              </a:rPr>
              <a:t>JUnit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工作原理 </a:t>
            </a:r>
            <a:r>
              <a:rPr lang="en-US" altLang="zh-CN" sz="2400" b="0" dirty="0">
                <a:latin typeface="Arial" pitchFamily="34" charset="0"/>
                <a:cs typeface="Arial" pitchFamily="34" charset="0"/>
              </a:rPr>
              <a:t>–</a:t>
            </a:r>
            <a:r>
              <a:rPr lang="zh-CN" altLang="en-US" sz="2400" b="0" dirty="0">
                <a:latin typeface="Arial" pitchFamily="34" charset="0"/>
                <a:cs typeface="Arial" pitchFamily="34" charset="0"/>
              </a:rPr>
              <a:t> 续</a:t>
            </a:r>
          </a:p>
        </p:txBody>
      </p:sp>
      <p:pic>
        <p:nvPicPr>
          <p:cNvPr id="4" name="Picture 4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-2061"/>
          <a:stretch>
            <a:fillRect/>
          </a:stretch>
        </p:blipFill>
        <p:spPr bwMode="auto">
          <a:xfrm>
            <a:off x="1132563" y="1707654"/>
            <a:ext cx="6315102" cy="6002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动作按钮: 后退或前一项 4">
            <a:hlinkClick r:id="rId3" action="ppaction://hlinksldjump" highlightClick="1"/>
          </p:cNvPr>
          <p:cNvSpPr/>
          <p:nvPr/>
        </p:nvSpPr>
        <p:spPr>
          <a:xfrm>
            <a:off x="8067427" y="4785997"/>
            <a:ext cx="324036" cy="270030"/>
          </a:xfrm>
          <a:prstGeom prst="actionButtonBackPrevio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293544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9803E-0C0E-A5E3-FA51-FE0FFAE7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JUnit 5</a:t>
            </a:r>
            <a:r>
              <a:rPr kumimoji="1" lang="zh-CN" altLang="en-US" dirty="0"/>
              <a:t>架构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DDB3CE7-0383-5107-1310-4F08778DC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062" y="914004"/>
            <a:ext cx="4398745" cy="378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5D0083-8499-0C76-89C4-CA7D69E1861C}"/>
              </a:ext>
            </a:extLst>
          </p:cNvPr>
          <p:cNvSpPr txBox="1"/>
          <p:nvPr/>
        </p:nvSpPr>
        <p:spPr>
          <a:xfrm>
            <a:off x="0" y="778166"/>
            <a:ext cx="4635062" cy="4056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JUnit 5 = JUnit Platform + JUnit Jupiter + JUnit Vintage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（复古）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JUnit 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Platform：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基于JVM的执行测试的基础框架及其Test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Engine API，还提供了一个控制台启动器（以命令行启动平台），为Gradle和 Maven构建插件支持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，同时提供基于JUnit 4的Runner。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JUnit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Jupiter：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在JUnit 5中编写测试和扩展的新编程模型和扩展模型的组合。Jupiter子项目提供了Test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Engine在平台上运行基于Jupiter的测试。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JUnit 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Vintage：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提供了TestEngine在平台上运行基于JUnit 3和JUnit 4的测试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DF2351-0BF2-9FE3-A181-70A81384B3C0}"/>
              </a:ext>
            </a:extLst>
          </p:cNvPr>
          <p:cNvSpPr txBox="1"/>
          <p:nvPr/>
        </p:nvSpPr>
        <p:spPr>
          <a:xfrm>
            <a:off x="110275" y="4822239"/>
            <a:ext cx="34422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4"/>
              </a:rPr>
              <a:t>https://junit.org/junit5/docs/current/user-guide/</a:t>
            </a:r>
            <a:r>
              <a:rPr lang="zh-CN" alt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871252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99711" y="913667"/>
            <a:ext cx="7591752" cy="3675000"/>
          </a:xfrm>
        </p:spPr>
        <p:txBody>
          <a:bodyPr>
            <a:normAutofit fontScale="92500"/>
          </a:bodyPr>
          <a:lstStyle/>
          <a:p>
            <a:r>
              <a:rPr lang="en-US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Assert</a:t>
            </a:r>
            <a:r>
              <a:rPr lang="zh-CN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类</a:t>
            </a:r>
          </a:p>
          <a:p>
            <a:pPr marL="98755" indent="0">
              <a:buNone/>
            </a:pP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Assert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（断言）类是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JUnit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框架中非常重要的类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，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用于判断所返回的实际结果与预期结果是否相符。</a:t>
            </a:r>
            <a:endParaRPr lang="en-US" altLang="zh-CN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r>
              <a:rPr lang="en-US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Annotation</a:t>
            </a:r>
            <a:r>
              <a:rPr lang="zh-CN" altLang="en-US" b="1" dirty="0">
                <a:latin typeface="Arial" pitchFamily="34" charset="0"/>
                <a:ea typeface="宋体" pitchFamily="2" charset="-122"/>
                <a:cs typeface="Arial" pitchFamily="34" charset="0"/>
              </a:rPr>
              <a:t> （注释）</a:t>
            </a:r>
            <a:endParaRPr lang="en-US" altLang="zh-CN" b="1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98755" indent="0">
              <a:buNone/>
            </a:pP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JUnit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中以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@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引导标注测试类中不同方法的功能。</a:t>
            </a:r>
            <a:endParaRPr lang="en-US" altLang="zh-CN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r>
              <a:rPr lang="en-US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Runner</a:t>
            </a:r>
            <a:r>
              <a:rPr lang="zh-CN" altLang="en-US" b="1" dirty="0">
                <a:latin typeface="Arial" pitchFamily="34" charset="0"/>
                <a:ea typeface="宋体" pitchFamily="2" charset="-122"/>
                <a:cs typeface="Arial" pitchFamily="34" charset="0"/>
              </a:rPr>
              <a:t>（</a:t>
            </a:r>
            <a:r>
              <a:rPr lang="zh-CN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运行器</a:t>
            </a:r>
            <a:r>
              <a:rPr lang="zh-CN" altLang="en-US" b="1" dirty="0">
                <a:latin typeface="Arial" pitchFamily="34" charset="0"/>
                <a:ea typeface="宋体" pitchFamily="2" charset="-122"/>
                <a:cs typeface="Arial" pitchFamily="34" charset="0"/>
              </a:rPr>
              <a:t>）</a:t>
            </a:r>
            <a:endParaRPr lang="en-US" altLang="zh-CN" b="1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98755" indent="0">
              <a:buNone/>
            </a:pP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JUnit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通过运行器</a:t>
            </a:r>
            <a:r>
              <a:rPr lang="en-US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Runner</a:t>
            </a:r>
            <a:r>
              <a:rPr lang="zh-CN" altLang="zh-CN" dirty="0">
                <a:latin typeface="Arial" pitchFamily="34" charset="0"/>
                <a:ea typeface="宋体" pitchFamily="2" charset="-122"/>
                <a:cs typeface="Arial" pitchFamily="34" charset="0"/>
              </a:rPr>
              <a:t>和显示测试执行结果</a:t>
            </a:r>
            <a:r>
              <a:rPr lang="zh-CN" altLang="en-US" dirty="0">
                <a:latin typeface="Arial" pitchFamily="34" charset="0"/>
                <a:ea typeface="宋体" pitchFamily="2" charset="-122"/>
                <a:cs typeface="Arial" pitchFamily="34" charset="0"/>
              </a:rPr>
              <a:t>。</a:t>
            </a:r>
          </a:p>
          <a:p>
            <a:pPr marL="98755" indent="0"/>
            <a:endParaRPr lang="en-US" altLang="zh-CN" dirty="0"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98755" indent="0"/>
            <a:endParaRPr lang="en-US" altLang="zh-CN" b="1" dirty="0">
              <a:latin typeface="Arial" pitchFamily="34" charset="0"/>
              <a:cs typeface="Arial" pitchFamily="34" charset="0"/>
            </a:endParaRPr>
          </a:p>
          <a:p>
            <a:pPr marL="98755" indent="0"/>
            <a:endParaRPr lang="zh-CN" altLang="en-US" dirty="0">
              <a:latin typeface="Arial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7219" y="222488"/>
            <a:ext cx="6684451" cy="581698"/>
          </a:xfrm>
        </p:spPr>
        <p:txBody>
          <a:bodyPr/>
          <a:lstStyle/>
          <a:p>
            <a:r>
              <a:rPr lang="zh-CN" altLang="en-US" dirty="0">
                <a:latin typeface="Arial" pitchFamily="34" charset="0"/>
                <a:cs typeface="Arial" pitchFamily="34" charset="0"/>
              </a:rPr>
              <a:t>需要了解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JUnit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的关键组件</a:t>
            </a:r>
          </a:p>
        </p:txBody>
      </p:sp>
      <p:sp>
        <p:nvSpPr>
          <p:cNvPr id="4" name="动作按钮: 后退或前一项 3">
            <a:hlinkClick r:id="rId2" action="ppaction://hlinksldjump" highlightClick="1"/>
          </p:cNvPr>
          <p:cNvSpPr/>
          <p:nvPr/>
        </p:nvSpPr>
        <p:spPr>
          <a:xfrm>
            <a:off x="8067427" y="4785997"/>
            <a:ext cx="324036" cy="270030"/>
          </a:xfrm>
          <a:prstGeom prst="actionButtonBackPrevio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96463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 </a:t>
            </a:r>
            <a:r>
              <a:rPr lang="en-US" altLang="zh-CN" b="1" dirty="0">
                <a:latin typeface="Arial" pitchFamily="34" charset="0"/>
                <a:ea typeface="宋体" pitchFamily="2" charset="-122"/>
                <a:cs typeface="Arial" pitchFamily="34" charset="0"/>
              </a:rPr>
              <a:t>Annotation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2309" y="955434"/>
            <a:ext cx="5055150" cy="3535884"/>
          </a:xfrm>
        </p:spPr>
        <p:txBody>
          <a:bodyPr>
            <a:normAutofit fontScale="92500"/>
          </a:bodyPr>
          <a:lstStyle/>
          <a:p>
            <a:pPr marL="407988" lvl="1" indent="-400050">
              <a:buFont typeface="Wingdings" pitchFamily="2" charset="2"/>
              <a:buChar char="ü"/>
            </a:pPr>
            <a:r>
              <a:rPr lang="en-US" altLang="zh-CN" sz="1600" b="1" dirty="0">
                <a:latin typeface="Arial" pitchFamily="34" charset="0"/>
                <a:ea typeface="宋体" pitchFamily="2" charset="-122"/>
                <a:cs typeface="Arial" pitchFamily="34" charset="0"/>
              </a:rPr>
              <a:t>Annotation</a:t>
            </a:r>
            <a:r>
              <a:rPr lang="zh-CN" altLang="en-US" sz="1600" b="1" dirty="0">
                <a:latin typeface="Arial" pitchFamily="34" charset="0"/>
                <a:ea typeface="宋体" pitchFamily="2" charset="-122"/>
                <a:cs typeface="Arial" pitchFamily="34" charset="0"/>
              </a:rPr>
              <a:t> </a:t>
            </a:r>
            <a:r>
              <a:rPr lang="zh-CN" altLang="en-US" sz="1600" dirty="0"/>
              <a:t>清晰地表达测试程序的逻辑结构和功能</a:t>
            </a:r>
            <a:endParaRPr lang="en-US" altLang="zh-CN" sz="1600" dirty="0"/>
          </a:p>
          <a:p>
            <a:pPr marL="407988" lvl="1" indent="-400050">
              <a:buFont typeface="Wingdings" pitchFamily="2" charset="2"/>
              <a:buChar char="ü"/>
            </a:pPr>
            <a:r>
              <a:rPr lang="zh-CN" altLang="en-US" sz="1600" dirty="0"/>
              <a:t>常用的</a:t>
            </a:r>
            <a:r>
              <a:rPr lang="en-US" altLang="zh-CN" sz="1600" dirty="0"/>
              <a:t>JUnit</a:t>
            </a:r>
            <a:r>
              <a:rPr lang="zh-CN" altLang="en-US" sz="1600" dirty="0"/>
              <a:t> </a:t>
            </a:r>
            <a:r>
              <a:rPr lang="en-US" altLang="zh-CN" sz="1600" b="1" dirty="0">
                <a:latin typeface="Arial" pitchFamily="34" charset="0"/>
                <a:ea typeface="宋体" pitchFamily="2" charset="-122"/>
                <a:cs typeface="Arial" pitchFamily="34" charset="0"/>
              </a:rPr>
              <a:t>Annotation</a:t>
            </a:r>
            <a:r>
              <a:rPr lang="zh-CN" altLang="en-US" sz="1600" b="1" dirty="0">
                <a:latin typeface="Arial" pitchFamily="34" charset="0"/>
                <a:ea typeface="宋体" pitchFamily="2" charset="-122"/>
                <a:cs typeface="Arial" pitchFamily="34" charset="0"/>
              </a:rPr>
              <a:t> </a:t>
            </a:r>
            <a:r>
              <a:rPr lang="zh-CN" altLang="en-US" sz="1600" dirty="0"/>
              <a:t>包括</a:t>
            </a:r>
            <a:r>
              <a:rPr lang="en-US" altLang="zh-CN" sz="1600" dirty="0"/>
              <a:t>@Test</a:t>
            </a:r>
            <a:r>
              <a:rPr lang="zh-CN" altLang="en-US" sz="1600" dirty="0"/>
              <a:t>、</a:t>
            </a:r>
            <a:r>
              <a:rPr lang="en-US" altLang="zh-CN" sz="1600" dirty="0"/>
              <a:t>@</a:t>
            </a:r>
            <a:r>
              <a:rPr lang="en-US" altLang="zh-CN" sz="1600" dirty="0" err="1"/>
              <a:t>ParameterizedTest</a:t>
            </a:r>
            <a:r>
              <a:rPr lang="zh-CN" altLang="en-US" sz="1600" dirty="0"/>
              <a:t>、</a:t>
            </a:r>
            <a:r>
              <a:rPr lang="en-US" altLang="zh-CN" sz="1600" dirty="0"/>
              <a:t>@</a:t>
            </a:r>
            <a:r>
              <a:rPr lang="en-US" altLang="zh-CN" sz="1600" dirty="0" err="1"/>
              <a:t>Beforeeach</a:t>
            </a:r>
            <a:r>
              <a:rPr lang="zh-CN" altLang="en-US" sz="1600" dirty="0"/>
              <a:t>、</a:t>
            </a:r>
            <a:r>
              <a:rPr lang="en-US" altLang="zh-CN" sz="1600" dirty="0"/>
              <a:t>@</a:t>
            </a:r>
            <a:r>
              <a:rPr lang="en-US" altLang="zh-CN" sz="1600" dirty="0" err="1"/>
              <a:t>Aftereach</a:t>
            </a:r>
            <a:r>
              <a:rPr lang="zh-CN" altLang="en-US" sz="1600" dirty="0"/>
              <a:t>、</a:t>
            </a:r>
            <a:r>
              <a:rPr lang="en-US" altLang="zh-CN" sz="1600" dirty="0"/>
              <a:t>@</a:t>
            </a:r>
            <a:r>
              <a:rPr lang="en-US" altLang="zh-CN" sz="1600" dirty="0" err="1"/>
              <a:t>BeforeAll</a:t>
            </a:r>
            <a:r>
              <a:rPr lang="zh-CN" altLang="en-US" sz="1600" dirty="0"/>
              <a:t>、</a:t>
            </a:r>
            <a:r>
              <a:rPr lang="en-US" altLang="zh-CN" sz="1600" dirty="0"/>
              <a:t>@</a:t>
            </a:r>
            <a:r>
              <a:rPr lang="en-US" altLang="zh-CN" sz="1600" dirty="0" err="1"/>
              <a:t>AfterAll</a:t>
            </a:r>
            <a:r>
              <a:rPr lang="zh-CN" altLang="en-US" sz="1600" dirty="0"/>
              <a:t>、@RepeatedTest、@TestFactory、@TestTemplate、@TestClassOrder、@TestMethodOrder、@DisplayName、@Nested、@Tag、@Disabled、@Timeout、@ExtendWith、@RegisterExtension、@TempDir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3935A0-D7AB-72F8-7507-87AED477E572}"/>
              </a:ext>
            </a:extLst>
          </p:cNvPr>
          <p:cNvSpPr txBox="1"/>
          <p:nvPr/>
        </p:nvSpPr>
        <p:spPr>
          <a:xfrm>
            <a:off x="387790" y="4674748"/>
            <a:ext cx="6019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更详细参考：https://junit.org/junit5/docs/current/user-guide/#writing-tests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E031FD-2BFA-5E7E-203C-A1D07261F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459" y="274961"/>
            <a:ext cx="3810074" cy="43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687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Assert</a:t>
            </a:r>
            <a:r>
              <a:rPr lang="zh-CN" altLang="en-US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7739" y="843744"/>
            <a:ext cx="4420150" cy="4032083"/>
          </a:xfrm>
        </p:spPr>
        <p:txBody>
          <a:bodyPr>
            <a:normAutofit fontScale="85000" lnSpcReduction="20000"/>
          </a:bodyPr>
          <a:lstStyle/>
          <a:p>
            <a:pPr marL="457200" indent="-323850">
              <a:buFont typeface="Wingdings" pitchFamily="2" charset="2"/>
              <a:buChar char="ü"/>
            </a:pPr>
            <a:r>
              <a:rPr lang="zh-CN" altLang="en-US" sz="1800" b="1" dirty="0"/>
              <a:t>检查并判断程序的运行结果是软件测试中的一项重要工作</a:t>
            </a:r>
            <a:r>
              <a:rPr lang="zh-CN" altLang="en-US" sz="1800" dirty="0"/>
              <a:t>。测试程序必然会包含一些断言条件，程序运行时不满足这些条件，则表明程序的运行状态</a:t>
            </a:r>
            <a:r>
              <a:rPr lang="en-US" altLang="zh-CN" sz="1800" dirty="0"/>
              <a:t>/</a:t>
            </a:r>
            <a:r>
              <a:rPr lang="zh-CN" altLang="en-US" sz="1800" dirty="0"/>
              <a:t>结果与期望不一致，程序中存在缺陷</a:t>
            </a:r>
          </a:p>
          <a:p>
            <a:pPr marL="457200" indent="-323850">
              <a:buFont typeface="Wingdings" pitchFamily="2" charset="2"/>
              <a:buChar char="ü"/>
            </a:pPr>
            <a:r>
              <a:rPr lang="en-US" altLang="zh-CN" sz="1800" dirty="0"/>
              <a:t>JUnit</a:t>
            </a:r>
            <a:r>
              <a:rPr lang="zh-CN" altLang="en-US" sz="1800" dirty="0"/>
              <a:t>通过</a:t>
            </a:r>
            <a:r>
              <a:rPr lang="en-US" altLang="zh-CN" sz="1800" dirty="0"/>
              <a:t>Assert</a:t>
            </a:r>
            <a:r>
              <a:rPr lang="zh-CN" altLang="en-US" sz="1800" dirty="0"/>
              <a:t>类提供了一系列断言方法来判断程序的运行结果，该类位于</a:t>
            </a:r>
            <a:r>
              <a:rPr lang="en-US" altLang="zh-CN" sz="1800" dirty="0" err="1"/>
              <a:t>junit.framework</a:t>
            </a:r>
            <a:r>
              <a:rPr lang="zh-CN" altLang="en-US" sz="1800" dirty="0"/>
              <a:t>包中。断言方法中的参数包括期望变量</a:t>
            </a:r>
            <a:r>
              <a:rPr lang="en-US" altLang="zh-CN" sz="1800" dirty="0" err="1"/>
              <a:t>var</a:t>
            </a:r>
            <a:r>
              <a:rPr lang="en-US" altLang="zh-CN" sz="900" dirty="0" err="1"/>
              <a:t>expected</a:t>
            </a:r>
            <a:r>
              <a:rPr lang="zh-CN" altLang="en-US" sz="900" dirty="0"/>
              <a:t> </a:t>
            </a:r>
            <a:r>
              <a:rPr lang="zh-CN" altLang="en-US" sz="1800" dirty="0"/>
              <a:t>和实际变量</a:t>
            </a:r>
            <a:r>
              <a:rPr lang="en-US" altLang="zh-CN" sz="1800" dirty="0" err="1"/>
              <a:t>var</a:t>
            </a:r>
            <a:r>
              <a:rPr lang="en-US" altLang="zh-CN" sz="900" dirty="0" err="1"/>
              <a:t>actual</a:t>
            </a:r>
            <a:r>
              <a:rPr lang="zh-CN" altLang="en-US" sz="900" dirty="0"/>
              <a:t> </a:t>
            </a:r>
            <a:r>
              <a:rPr lang="zh-CN" altLang="en-US" sz="1800" dirty="0"/>
              <a:t>。若</a:t>
            </a:r>
            <a:r>
              <a:rPr lang="en-US" altLang="zh-CN" sz="1800" dirty="0" err="1"/>
              <a:t>var</a:t>
            </a:r>
            <a:r>
              <a:rPr lang="en-US" altLang="zh-CN" sz="900" dirty="0" err="1"/>
              <a:t>expected</a:t>
            </a:r>
            <a:r>
              <a:rPr lang="zh-CN" altLang="en-US" sz="900" dirty="0"/>
              <a:t> </a:t>
            </a:r>
            <a:r>
              <a:rPr lang="zh-CN" altLang="en-US" sz="1800" dirty="0"/>
              <a:t>与</a:t>
            </a:r>
            <a:r>
              <a:rPr lang="en-US" altLang="zh-CN" sz="1800" dirty="0" err="1"/>
              <a:t>var</a:t>
            </a:r>
            <a:r>
              <a:rPr lang="en-US" altLang="zh-CN" sz="900" dirty="0" err="1"/>
              <a:t>actual</a:t>
            </a:r>
            <a:r>
              <a:rPr lang="zh-CN" altLang="en-US" sz="900" dirty="0"/>
              <a:t> </a:t>
            </a:r>
            <a:r>
              <a:rPr lang="zh-CN" altLang="en-US" sz="1800" dirty="0"/>
              <a:t>的值相等，则表明程序运行结果与期望相符；否则表明程序运行结果与期望相异，测试用例运行失败。</a:t>
            </a:r>
          </a:p>
          <a:p>
            <a:pPr indent="171450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C7BF32-FA8A-8B7D-0DB3-E21A29D7A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889" y="171419"/>
            <a:ext cx="4236498" cy="482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5345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2868" y="171419"/>
            <a:ext cx="6375814" cy="546552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TestCase</a:t>
            </a:r>
            <a:r>
              <a:rPr lang="zh-CN" altLang="en-US" dirty="0"/>
              <a:t>、</a:t>
            </a:r>
            <a:r>
              <a:rPr lang="en-US" altLang="zh-CN" sz="2800" b="1" dirty="0">
                <a:solidFill>
                  <a:srgbClr val="0070C0"/>
                </a:solidFill>
              </a:rPr>
              <a:t> </a:t>
            </a:r>
            <a:r>
              <a:rPr lang="en-US" altLang="zh-CN" sz="2800" b="1" dirty="0" err="1">
                <a:solidFill>
                  <a:srgbClr val="0070C0"/>
                </a:solidFill>
              </a:rPr>
              <a:t>TestSuite</a:t>
            </a:r>
            <a:r>
              <a:rPr lang="zh-CN" altLang="en-US" dirty="0"/>
              <a:t>和</a:t>
            </a:r>
            <a:r>
              <a:rPr lang="en-US" altLang="zh-CN" dirty="0" err="1"/>
              <a:t>TestResult</a:t>
            </a:r>
            <a:r>
              <a:rPr lang="zh-CN" altLang="en-US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483" y="899445"/>
            <a:ext cx="4557771" cy="4168888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1800" b="1" dirty="0">
                <a:solidFill>
                  <a:srgbClr val="0070C0"/>
                </a:solidFill>
              </a:rPr>
              <a:t>TestCase</a:t>
            </a:r>
            <a:r>
              <a:rPr lang="zh-CN" altLang="en-US" sz="1800" b="1" dirty="0">
                <a:solidFill>
                  <a:srgbClr val="0070C0"/>
                </a:solidFill>
              </a:rPr>
              <a:t>类</a:t>
            </a:r>
            <a:r>
              <a:rPr lang="zh-CN" altLang="en-US" sz="1800" dirty="0"/>
              <a:t>是</a:t>
            </a:r>
            <a:r>
              <a:rPr lang="en-US" altLang="zh-CN" sz="1800" dirty="0"/>
              <a:t>JUnit</a:t>
            </a:r>
            <a:r>
              <a:rPr lang="zh-CN" altLang="en-US" sz="1800" dirty="0"/>
              <a:t>框架中</a:t>
            </a:r>
            <a:r>
              <a:rPr lang="zh-CN" altLang="en-US" sz="1800" b="1" dirty="0"/>
              <a:t>为测试用例提供服务</a:t>
            </a:r>
            <a:r>
              <a:rPr lang="zh-CN" altLang="en-US" sz="1800" dirty="0"/>
              <a:t>的核心类，同样位于</a:t>
            </a:r>
            <a:r>
              <a:rPr lang="en-US" altLang="zh-CN" sz="1800" dirty="0" err="1"/>
              <a:t>junit.framework</a:t>
            </a:r>
            <a:r>
              <a:rPr lang="zh-CN" altLang="en-US" sz="1800" dirty="0"/>
              <a:t>包中，并继承自</a:t>
            </a:r>
            <a:r>
              <a:rPr lang="en-US" altLang="zh-CN" sz="1800" dirty="0"/>
              <a:t>Assert</a:t>
            </a:r>
            <a:r>
              <a:rPr lang="zh-CN" altLang="en-US" sz="1800" dirty="0"/>
              <a:t>类，因此可直接使用</a:t>
            </a:r>
            <a:r>
              <a:rPr lang="en-US" altLang="zh-CN" sz="1800" dirty="0"/>
              <a:t>Assert</a:t>
            </a:r>
            <a:r>
              <a:rPr lang="zh-CN" altLang="en-US" sz="1800" dirty="0"/>
              <a:t>类中的相关方法。单元测试所编写的测试类均需直接或间接继承于</a:t>
            </a:r>
            <a:r>
              <a:rPr lang="en-US" altLang="zh-CN" sz="1800" dirty="0"/>
              <a:t>TestCase</a:t>
            </a:r>
            <a:r>
              <a:rPr lang="zh-CN" altLang="en-US" sz="1800" dirty="0"/>
              <a:t>类，依靠其提供的方法来实现测试用例（</a:t>
            </a:r>
            <a:r>
              <a:rPr lang="en-US" altLang="zh-CN" sz="1800" dirty="0"/>
              <a:t> @Test</a:t>
            </a:r>
            <a:r>
              <a:rPr lang="zh-CN" altLang="en-US" sz="1800" dirty="0"/>
              <a:t>所注解的测试方法）的运行与判断。</a:t>
            </a:r>
            <a:endParaRPr lang="en-US" altLang="zh-CN" sz="1800" dirty="0"/>
          </a:p>
          <a:p>
            <a:pPr>
              <a:buFont typeface="Wingdings" pitchFamily="2" charset="2"/>
              <a:buChar char="Ø"/>
            </a:pPr>
            <a:r>
              <a:rPr lang="en-US" altLang="zh-CN" sz="1800" b="1" dirty="0" err="1">
                <a:solidFill>
                  <a:srgbClr val="0070C0"/>
                </a:solidFill>
              </a:rPr>
              <a:t>TestSuite</a:t>
            </a:r>
            <a:r>
              <a:rPr lang="zh-CN" altLang="en-US" sz="1800" b="1" dirty="0">
                <a:solidFill>
                  <a:srgbClr val="0070C0"/>
                </a:solidFill>
              </a:rPr>
              <a:t>类 </a:t>
            </a:r>
            <a:r>
              <a:rPr lang="zh-CN" altLang="en-US" sz="1800" dirty="0"/>
              <a:t>实现了</a:t>
            </a:r>
            <a:r>
              <a:rPr lang="en-US" altLang="zh-CN" sz="1800" dirty="0"/>
              <a:t>JUnit</a:t>
            </a:r>
            <a:r>
              <a:rPr lang="zh-CN" altLang="en-US" sz="1800" dirty="0"/>
              <a:t> </a:t>
            </a:r>
            <a:r>
              <a:rPr lang="en-US" altLang="zh-CN" sz="1800" dirty="0"/>
              <a:t>Test</a:t>
            </a:r>
            <a:r>
              <a:rPr lang="zh-CN" altLang="en-US" sz="1800" dirty="0"/>
              <a:t>接口，用于管理</a:t>
            </a:r>
            <a:r>
              <a:rPr lang="en-US" altLang="zh-CN" sz="1800" dirty="0"/>
              <a:t>JUnit</a:t>
            </a:r>
            <a:r>
              <a:rPr lang="zh-CN" altLang="en-US" sz="1800" dirty="0"/>
              <a:t>中的每一个测试用例</a:t>
            </a:r>
            <a:endParaRPr lang="en-US" altLang="zh-CN" sz="1800" dirty="0"/>
          </a:p>
          <a:p>
            <a:pPr>
              <a:buFont typeface="Wingdings" pitchFamily="2" charset="2"/>
              <a:buChar char="Ø"/>
            </a:pPr>
            <a:r>
              <a:rPr lang="en-US" altLang="zh-CN" sz="1800" b="1" dirty="0" err="1">
                <a:solidFill>
                  <a:srgbClr val="0070C0"/>
                </a:solidFill>
              </a:rPr>
              <a:t>TestResult</a:t>
            </a:r>
            <a:r>
              <a:rPr lang="zh-CN" altLang="en-US" sz="1800" b="1" dirty="0">
                <a:solidFill>
                  <a:srgbClr val="0070C0"/>
                </a:solidFill>
              </a:rPr>
              <a:t>类 </a:t>
            </a:r>
            <a:r>
              <a:rPr lang="zh-CN" altLang="en-US" sz="1800" dirty="0"/>
              <a:t>收集并记录所有测试用例的运行结果。测试用例的运行结果可分为成功、失败、错误等三类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5B2EF5-DD10-481E-B0C8-701D9C1C6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54" y="981776"/>
            <a:ext cx="4331369" cy="354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42572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0848" y="134714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192" y="916872"/>
            <a:ext cx="9038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新建一个项目叫</a:t>
            </a:r>
            <a:r>
              <a:rPr lang="en-US" altLang="zh-CN" b="1" dirty="0" err="1">
                <a:solidFill>
                  <a:schemeClr val="tx2"/>
                </a:solidFill>
              </a:rPr>
              <a:t>JUnit_Test</a:t>
            </a:r>
            <a:r>
              <a:rPr lang="zh-CN" altLang="en-US" b="1" dirty="0">
                <a:solidFill>
                  <a:schemeClr val="tx2"/>
                </a:solidFill>
              </a:rPr>
              <a:t>，我们编写一个</a:t>
            </a:r>
            <a:r>
              <a:rPr lang="en-US" altLang="zh-CN" b="1" dirty="0">
                <a:solidFill>
                  <a:schemeClr val="tx2"/>
                </a:solidFill>
              </a:rPr>
              <a:t>Calculator</a:t>
            </a:r>
            <a:r>
              <a:rPr lang="zh-CN" altLang="en-US" b="1" dirty="0">
                <a:solidFill>
                  <a:schemeClr val="tx2"/>
                </a:solidFill>
              </a:rPr>
              <a:t>类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1358378"/>
            <a:ext cx="5097780" cy="35548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chemeClr val="tx2"/>
                </a:solidFill>
              </a:rPr>
              <a:t>package </a:t>
            </a:r>
            <a:r>
              <a:rPr lang="en-US" altLang="zh-CN" sz="1500" b="1" dirty="0" err="1">
                <a:solidFill>
                  <a:schemeClr val="tx2"/>
                </a:solidFill>
              </a:rPr>
              <a:t>andycpp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endParaRPr lang="en-US" altLang="zh-CN" sz="1500" b="1" dirty="0">
              <a:solidFill>
                <a:schemeClr val="tx2"/>
              </a:solidFill>
            </a:endParaRPr>
          </a:p>
          <a:p>
            <a:r>
              <a:rPr lang="en-US" altLang="zh-CN" sz="1500" b="1" dirty="0">
                <a:solidFill>
                  <a:schemeClr val="tx2"/>
                </a:solidFill>
              </a:rPr>
              <a:t>public class Calculator {</a:t>
            </a:r>
          </a:p>
          <a:p>
            <a:r>
              <a:rPr lang="en-US" altLang="zh-CN" sz="1500" b="1" dirty="0"/>
              <a:t>    </a:t>
            </a:r>
            <a:r>
              <a:rPr lang="en-US" altLang="zh-CN" sz="1500" b="1" dirty="0">
                <a:solidFill>
                  <a:srgbClr val="FF0000"/>
                </a:solidFill>
              </a:rPr>
              <a:t>private static 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result</a:t>
            </a:r>
            <a:r>
              <a:rPr lang="en-US" altLang="zh-CN" sz="1500" b="1" dirty="0">
                <a:solidFill>
                  <a:schemeClr val="tx2"/>
                </a:solidFill>
              </a:rPr>
              <a:t>; // </a:t>
            </a:r>
            <a:r>
              <a:rPr lang="zh-CN" altLang="en-US" sz="1500" b="1" dirty="0">
                <a:solidFill>
                  <a:schemeClr val="tx2"/>
                </a:solidFill>
              </a:rPr>
              <a:t>静态变量，用于存储运行结果</a:t>
            </a:r>
          </a:p>
          <a:p>
            <a:r>
              <a:rPr lang="zh-CN" altLang="en-US" sz="1500" b="1" dirty="0">
                <a:solidFill>
                  <a:schemeClr val="tx2"/>
                </a:solidFill>
              </a:rPr>
              <a:t>    </a:t>
            </a:r>
            <a:r>
              <a:rPr lang="en-US" altLang="zh-CN" sz="1500" b="1" dirty="0">
                <a:solidFill>
                  <a:schemeClr val="tx2"/>
                </a:solidFill>
              </a:rPr>
              <a:t>public void </a:t>
            </a:r>
            <a:r>
              <a:rPr lang="en-US" altLang="zh-CN" sz="1500" b="1" dirty="0">
                <a:solidFill>
                  <a:srgbClr val="FF0000"/>
                </a:solidFill>
              </a:rPr>
              <a:t>add(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/>
              <a:t>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result = result + n;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public void </a:t>
            </a:r>
            <a:r>
              <a:rPr lang="en-US" altLang="zh-CN" sz="1500" b="1" dirty="0" err="1">
                <a:solidFill>
                  <a:srgbClr val="FF0000"/>
                </a:solidFill>
              </a:rPr>
              <a:t>substract</a:t>
            </a:r>
            <a:r>
              <a:rPr lang="en-US" altLang="zh-CN" sz="1500" b="1" dirty="0">
                <a:solidFill>
                  <a:srgbClr val="FF0000"/>
                </a:solidFill>
              </a:rPr>
              <a:t>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/>
              <a:t>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result = result - 1;  //Bug: </a:t>
            </a:r>
            <a:r>
              <a:rPr lang="zh-CN" altLang="en-US" sz="1500" b="1" dirty="0">
                <a:solidFill>
                  <a:schemeClr val="tx2"/>
                </a:solidFill>
              </a:rPr>
              <a:t>正确的应该是 </a:t>
            </a:r>
            <a:r>
              <a:rPr lang="en-US" altLang="zh-CN" sz="1500" b="1" dirty="0">
                <a:solidFill>
                  <a:schemeClr val="tx2"/>
                </a:solidFill>
              </a:rPr>
              <a:t>result =result-n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public void </a:t>
            </a:r>
            <a:r>
              <a:rPr lang="en-US" altLang="zh-CN" sz="1500" b="1" dirty="0">
                <a:solidFill>
                  <a:srgbClr val="FF0000"/>
                </a:solidFill>
              </a:rPr>
              <a:t>multiply(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/>
              <a:t> </a:t>
            </a:r>
            <a:r>
              <a:rPr lang="en-US" altLang="zh-CN" sz="1500" b="1" dirty="0">
                <a:solidFill>
                  <a:schemeClr val="tx2"/>
                </a:solidFill>
              </a:rPr>
              <a:t>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         // </a:t>
            </a:r>
            <a:r>
              <a:rPr lang="zh-CN" altLang="en-US" sz="1500" b="1" dirty="0">
                <a:solidFill>
                  <a:schemeClr val="tx2"/>
                </a:solidFill>
              </a:rPr>
              <a:t>此方法尚未写好</a:t>
            </a:r>
          </a:p>
          <a:p>
            <a:r>
              <a:rPr lang="zh-CN" altLang="en-US" sz="1500" b="1" dirty="0">
                <a:solidFill>
                  <a:schemeClr val="tx2"/>
                </a:solidFill>
              </a:rPr>
              <a:t>    </a:t>
            </a:r>
            <a:r>
              <a:rPr lang="en-US" altLang="zh-CN" sz="1500" b="1" dirty="0">
                <a:solidFill>
                  <a:schemeClr val="tx2"/>
                </a:solidFill>
              </a:rPr>
              <a:t>public void </a:t>
            </a:r>
            <a:r>
              <a:rPr lang="en-US" altLang="zh-CN" sz="1500" b="1" dirty="0">
                <a:solidFill>
                  <a:srgbClr val="FF0000"/>
                </a:solidFill>
              </a:rPr>
              <a:t>divide(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>
                <a:solidFill>
                  <a:schemeClr val="tx2"/>
                </a:solidFill>
              </a:rPr>
              <a:t>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result = result / n;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</p:txBody>
      </p:sp>
      <p:sp>
        <p:nvSpPr>
          <p:cNvPr id="3" name="矩形 2"/>
          <p:cNvSpPr/>
          <p:nvPr/>
        </p:nvSpPr>
        <p:spPr>
          <a:xfrm>
            <a:off x="5181600" y="1358377"/>
            <a:ext cx="3465786" cy="30931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chemeClr val="tx2"/>
                </a:solidFill>
              </a:rPr>
              <a:t>public void </a:t>
            </a:r>
            <a:r>
              <a:rPr lang="en-US" altLang="zh-CN" sz="1500" b="1" dirty="0">
                <a:solidFill>
                  <a:srgbClr val="FF0000"/>
                </a:solidFill>
              </a:rPr>
              <a:t>square(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>
                <a:solidFill>
                  <a:schemeClr val="tx2"/>
                </a:solidFill>
              </a:rPr>
              <a:t>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result = n * n;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public void </a:t>
            </a:r>
            <a:r>
              <a:rPr lang="en-US" altLang="zh-CN" sz="1500" b="1" dirty="0" err="1">
                <a:solidFill>
                  <a:srgbClr val="FF0000"/>
                </a:solidFill>
              </a:rPr>
              <a:t>squareRoot</a:t>
            </a:r>
            <a:r>
              <a:rPr lang="en-US" altLang="zh-CN" sz="1500" b="1" dirty="0">
                <a:solidFill>
                  <a:srgbClr val="FF0000"/>
                </a:solidFill>
              </a:rPr>
              <a:t>(</a:t>
            </a:r>
            <a:r>
              <a:rPr lang="en-US" altLang="zh-CN" sz="1500" b="1" dirty="0" err="1">
                <a:solidFill>
                  <a:srgbClr val="FF0000"/>
                </a:solidFill>
              </a:rPr>
              <a:t>int</a:t>
            </a:r>
            <a:r>
              <a:rPr lang="en-US" altLang="zh-CN" sz="1500" b="1" dirty="0">
                <a:solidFill>
                  <a:srgbClr val="FF0000"/>
                </a:solidFill>
              </a:rPr>
              <a:t> n)</a:t>
            </a:r>
            <a:r>
              <a:rPr lang="en-US" altLang="zh-CN" sz="1500" b="1" dirty="0">
                <a:solidFill>
                  <a:schemeClr val="tx2"/>
                </a:solidFill>
              </a:rPr>
              <a:t>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for (; ;) ;            //Bug : </a:t>
            </a:r>
            <a:r>
              <a:rPr lang="zh-CN" altLang="en-US" sz="1500" b="1" dirty="0">
                <a:solidFill>
                  <a:schemeClr val="tx2"/>
                </a:solidFill>
              </a:rPr>
              <a:t>死循环</a:t>
            </a:r>
          </a:p>
          <a:p>
            <a:r>
              <a:rPr lang="zh-CN" altLang="en-US" sz="1500" b="1" dirty="0">
                <a:solidFill>
                  <a:schemeClr val="tx2"/>
                </a:solidFill>
              </a:rPr>
              <a:t>    </a:t>
            </a:r>
            <a:r>
              <a:rPr lang="en-US" altLang="zh-CN" sz="1500" b="1" dirty="0">
                <a:solidFill>
                  <a:schemeClr val="tx2"/>
                </a:solidFill>
              </a:rPr>
              <a:t>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public void </a:t>
            </a:r>
            <a:r>
              <a:rPr lang="en-US" altLang="zh-CN" sz="1500" b="1" dirty="0">
                <a:solidFill>
                  <a:srgbClr val="FF0000"/>
                </a:solidFill>
              </a:rPr>
              <a:t>clear() </a:t>
            </a:r>
            <a:r>
              <a:rPr lang="en-US" altLang="zh-CN" sz="1500" b="1" dirty="0">
                <a:solidFill>
                  <a:schemeClr val="tx2"/>
                </a:solidFill>
              </a:rPr>
              <a:t>{     // </a:t>
            </a:r>
            <a:r>
              <a:rPr lang="zh-CN" altLang="en-US" sz="1500" b="1" dirty="0">
                <a:solidFill>
                  <a:schemeClr val="tx2"/>
                </a:solidFill>
              </a:rPr>
              <a:t>将结果清零</a:t>
            </a:r>
          </a:p>
          <a:p>
            <a:r>
              <a:rPr lang="zh-CN" altLang="en-US" sz="1500" b="1" dirty="0">
                <a:solidFill>
                  <a:schemeClr val="tx2"/>
                </a:solidFill>
              </a:rPr>
              <a:t>        </a:t>
            </a:r>
            <a:r>
              <a:rPr lang="en-US" altLang="zh-CN" sz="1500" b="1" dirty="0">
                <a:solidFill>
                  <a:schemeClr val="tx2"/>
                </a:solidFill>
              </a:rPr>
              <a:t>result = 0;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public </a:t>
            </a:r>
            <a:r>
              <a:rPr lang="en-US" altLang="zh-CN" sz="1500" b="1" dirty="0" err="1">
                <a:solidFill>
                  <a:schemeClr val="tx2"/>
                </a:solidFill>
              </a:rPr>
              <a:t>int</a:t>
            </a:r>
            <a:r>
              <a:rPr lang="en-US" altLang="zh-CN" sz="1500" b="1" dirty="0">
                <a:solidFill>
                  <a:schemeClr val="tx2"/>
                </a:solidFill>
              </a:rPr>
              <a:t> </a:t>
            </a:r>
            <a:r>
              <a:rPr lang="en-US" altLang="zh-CN" sz="1500" b="1" dirty="0" err="1">
                <a:solidFill>
                  <a:srgbClr val="FF0000"/>
                </a:solidFill>
              </a:rPr>
              <a:t>getResult</a:t>
            </a:r>
            <a:r>
              <a:rPr lang="en-US" altLang="zh-CN" sz="1500" b="1" dirty="0">
                <a:solidFill>
                  <a:srgbClr val="FF0000"/>
                </a:solidFill>
              </a:rPr>
              <a:t>() </a:t>
            </a:r>
            <a:r>
              <a:rPr lang="en-US" altLang="zh-CN" sz="1500" b="1" dirty="0"/>
              <a:t>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return result;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481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5192" y="916872"/>
            <a:ext cx="8166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将</a:t>
            </a:r>
            <a:r>
              <a:rPr lang="en-US" altLang="zh-CN" b="1" dirty="0">
                <a:solidFill>
                  <a:schemeClr val="tx2"/>
                </a:solidFill>
              </a:rPr>
              <a:t>JUnit4</a:t>
            </a:r>
            <a:r>
              <a:rPr lang="zh-CN" altLang="en-US" b="1" dirty="0">
                <a:solidFill>
                  <a:schemeClr val="tx2"/>
                </a:solidFill>
              </a:rPr>
              <a:t>单元测试包引入这个项目：在该项目上点右键，点“属性”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83" y="1335644"/>
            <a:ext cx="6749177" cy="3721509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89212" y="156087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076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649" y="894608"/>
            <a:ext cx="9099352" cy="88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在弹出的属性窗口中，首先在左边选择“</a:t>
            </a:r>
            <a:r>
              <a:rPr lang="en-US" altLang="zh-CN" b="1" dirty="0">
                <a:solidFill>
                  <a:schemeClr val="tx2"/>
                </a:solidFill>
              </a:rPr>
              <a:t>Java Build Path”</a:t>
            </a:r>
            <a:r>
              <a:rPr lang="zh-CN" altLang="en-US" b="1" dirty="0">
                <a:solidFill>
                  <a:schemeClr val="tx2"/>
                </a:solidFill>
              </a:rPr>
              <a:t>，然后到右上选择“</a:t>
            </a:r>
            <a:r>
              <a:rPr lang="en-US" altLang="zh-CN" b="1" dirty="0">
                <a:solidFill>
                  <a:schemeClr val="tx2"/>
                </a:solidFill>
              </a:rPr>
              <a:t>Libraries”</a:t>
            </a:r>
            <a:r>
              <a:rPr lang="zh-CN" altLang="en-US" b="1" dirty="0">
                <a:solidFill>
                  <a:schemeClr val="tx2"/>
                </a:solidFill>
              </a:rPr>
              <a:t>标签，之后在最右边点击“</a:t>
            </a:r>
            <a:r>
              <a:rPr lang="en-US" altLang="zh-CN" b="1" dirty="0">
                <a:solidFill>
                  <a:schemeClr val="tx2"/>
                </a:solidFill>
              </a:rPr>
              <a:t>Add Library…”</a:t>
            </a:r>
            <a:r>
              <a:rPr lang="zh-CN" altLang="en-US" b="1" dirty="0">
                <a:solidFill>
                  <a:schemeClr val="tx2"/>
                </a:solidFill>
              </a:rPr>
              <a:t>按钮</a:t>
            </a:r>
            <a:r>
              <a:rPr lang="en-US" altLang="zh-CN" b="1" dirty="0">
                <a:solidFill>
                  <a:schemeClr val="tx2"/>
                </a:solidFill>
              </a:rPr>
              <a:t>,</a:t>
            </a:r>
            <a:r>
              <a:rPr lang="zh-CN" altLang="en-US" b="1" dirty="0">
                <a:solidFill>
                  <a:schemeClr val="tx2"/>
                </a:solidFill>
              </a:rPr>
              <a:t>选择</a:t>
            </a:r>
            <a:r>
              <a:rPr lang="en-US" altLang="zh-CN" b="1" dirty="0">
                <a:solidFill>
                  <a:schemeClr val="tx2"/>
                </a:solidFill>
              </a:rPr>
              <a:t>JUnit4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89212" y="164451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" y="1911135"/>
            <a:ext cx="7086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07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649" y="894608"/>
            <a:ext cx="9099352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生成</a:t>
            </a: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测试框架：在</a:t>
            </a:r>
            <a:r>
              <a:rPr lang="en-US" altLang="zh-CN" b="1" dirty="0">
                <a:solidFill>
                  <a:schemeClr val="tx2"/>
                </a:solidFill>
              </a:rPr>
              <a:t>Eclipse</a:t>
            </a:r>
            <a:r>
              <a:rPr lang="zh-CN" altLang="en-US" b="1" dirty="0">
                <a:solidFill>
                  <a:schemeClr val="tx2"/>
                </a:solidFill>
              </a:rPr>
              <a:t>的</a:t>
            </a:r>
            <a:r>
              <a:rPr lang="en-US" altLang="zh-CN" b="1" dirty="0">
                <a:solidFill>
                  <a:schemeClr val="tx2"/>
                </a:solidFill>
              </a:rPr>
              <a:t>Package Explorer</a:t>
            </a:r>
            <a:r>
              <a:rPr lang="zh-CN" altLang="en-US" b="1" dirty="0">
                <a:solidFill>
                  <a:schemeClr val="tx2"/>
                </a:solidFill>
              </a:rPr>
              <a:t>中用右键点击该类弹出菜单，选择“</a:t>
            </a:r>
            <a:r>
              <a:rPr lang="en-US" altLang="zh-CN" b="1" dirty="0">
                <a:solidFill>
                  <a:schemeClr val="tx2"/>
                </a:solidFill>
              </a:rPr>
              <a:t>New a JUnit4 Test Case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”</a:t>
            </a:r>
            <a:r>
              <a:rPr lang="zh-CN" altLang="en-US" b="1" dirty="0">
                <a:solidFill>
                  <a:schemeClr val="tx2"/>
                </a:solidFill>
              </a:rPr>
              <a:t>，在弹出的对话框中，进行相应的选择，如下图所示。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33" y="1754507"/>
            <a:ext cx="4428292" cy="318410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90600" y="2486316"/>
            <a:ext cx="103632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849630" y="3771900"/>
            <a:ext cx="2354580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文本框 9"/>
          <p:cNvSpPr txBox="1"/>
          <p:nvPr/>
        </p:nvSpPr>
        <p:spPr>
          <a:xfrm>
            <a:off x="3204211" y="3675326"/>
            <a:ext cx="16433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FF0000"/>
                </a:solidFill>
              </a:rPr>
              <a:t>这里信息比较复杂，先这样选择</a:t>
            </a: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89212" y="171785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30474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770" y="861640"/>
            <a:ext cx="9072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点击“下一步”后，系统会自动列出你这个类中包含的方法，选择你要进行测试的方法。此例中，我们仅对“加、减、乘、除”四个方法进行测试。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2" y="1560195"/>
            <a:ext cx="6243638" cy="257175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72485" y="122634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8459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82535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之后系统会自动生成一个新类</a:t>
            </a:r>
            <a:r>
              <a:rPr lang="en-US" altLang="zh-CN" b="1" dirty="0" err="1">
                <a:solidFill>
                  <a:schemeClr val="tx2"/>
                </a:solidFill>
              </a:rPr>
              <a:t>CalculatorTest</a:t>
            </a:r>
            <a:r>
              <a:rPr lang="zh-CN" altLang="en-US" b="1" dirty="0">
                <a:solidFill>
                  <a:schemeClr val="tx2"/>
                </a:solidFill>
              </a:rPr>
              <a:t>，里面包含一些空的测试用例。你只需要将这些测试用例稍作修改即可使用。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1" y="1409579"/>
            <a:ext cx="4737539" cy="38318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350" b="1" dirty="0">
                <a:solidFill>
                  <a:schemeClr val="tx2"/>
                </a:solidFill>
              </a:rPr>
              <a:t>package </a:t>
            </a:r>
            <a:r>
              <a:rPr lang="en-US" altLang="zh-CN" sz="1350" b="1" dirty="0" err="1">
                <a:solidFill>
                  <a:schemeClr val="tx2"/>
                </a:solidFill>
              </a:rPr>
              <a:t>com.jerry</a:t>
            </a:r>
            <a:r>
              <a:rPr lang="en-US" altLang="zh-CN" sz="1350" b="1" dirty="0">
                <a:solidFill>
                  <a:schemeClr val="tx2"/>
                </a:solidFill>
              </a:rPr>
              <a:t>;</a:t>
            </a:r>
          </a:p>
          <a:p>
            <a:endParaRPr lang="zh-CN" altLang="en-US" sz="1350" b="1" dirty="0">
              <a:solidFill>
                <a:schemeClr val="tx2"/>
              </a:solidFill>
            </a:endParaRPr>
          </a:p>
          <a:p>
            <a:r>
              <a:rPr lang="en-US" altLang="zh-CN" sz="1350" b="1" dirty="0">
                <a:solidFill>
                  <a:schemeClr val="tx2"/>
                </a:solidFill>
              </a:rPr>
              <a:t>import static </a:t>
            </a:r>
            <a:r>
              <a:rPr lang="en-US" altLang="zh-CN" sz="1350" b="1" dirty="0" err="1">
                <a:solidFill>
                  <a:schemeClr val="tx2"/>
                </a:solidFill>
              </a:rPr>
              <a:t>org.junit.Assert</a:t>
            </a:r>
            <a:r>
              <a:rPr lang="en-US" altLang="zh-CN" sz="1350" b="1" dirty="0">
                <a:solidFill>
                  <a:schemeClr val="tx2"/>
                </a:solidFill>
              </a:rPr>
              <a:t>.*;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import </a:t>
            </a:r>
            <a:r>
              <a:rPr lang="en-US" altLang="zh-CN" sz="1350" b="1" dirty="0" err="1">
                <a:solidFill>
                  <a:schemeClr val="tx2"/>
                </a:solidFill>
              </a:rPr>
              <a:t>org.junit.Before</a:t>
            </a:r>
            <a:r>
              <a:rPr lang="en-US" altLang="zh-CN" sz="135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import </a:t>
            </a:r>
            <a:r>
              <a:rPr lang="en-US" altLang="zh-CN" sz="1350" b="1" dirty="0" err="1">
                <a:solidFill>
                  <a:schemeClr val="tx2"/>
                </a:solidFill>
              </a:rPr>
              <a:t>org.junit.Test</a:t>
            </a:r>
            <a:r>
              <a:rPr lang="en-US" altLang="zh-CN" sz="135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import </a:t>
            </a:r>
            <a:r>
              <a:rPr lang="en-US" altLang="zh-CN" sz="1350" b="1" u="sng" dirty="0" err="1">
                <a:solidFill>
                  <a:schemeClr val="tx2"/>
                </a:solidFill>
              </a:rPr>
              <a:t>org.junit.Ignore</a:t>
            </a:r>
            <a:r>
              <a:rPr lang="en-US" altLang="zh-CN" sz="1350" b="1" u="sng" dirty="0">
                <a:solidFill>
                  <a:schemeClr val="tx2"/>
                </a:solidFill>
              </a:rPr>
              <a:t>;</a:t>
            </a:r>
          </a:p>
          <a:p>
            <a:endParaRPr lang="zh-CN" altLang="en-US" sz="1350" b="1" dirty="0">
              <a:solidFill>
                <a:schemeClr val="tx2"/>
              </a:solidFill>
            </a:endParaRP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class </a:t>
            </a:r>
            <a:r>
              <a:rPr lang="en-US" altLang="zh-CN" sz="1350" b="1" dirty="0" err="1">
                <a:solidFill>
                  <a:schemeClr val="tx2"/>
                </a:solidFill>
              </a:rPr>
              <a:t>CalcelatorTest</a:t>
            </a:r>
            <a:r>
              <a:rPr lang="en-US" altLang="zh-CN" sz="1350" b="1" dirty="0">
                <a:solidFill>
                  <a:schemeClr val="tx2"/>
                </a:solidFill>
              </a:rPr>
              <a:t> {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private static Calculator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</a:t>
            </a:r>
            <a:r>
              <a:rPr lang="en-US" altLang="zh-CN" sz="1350" b="1" i="1" dirty="0">
                <a:solidFill>
                  <a:schemeClr val="tx2"/>
                </a:solidFill>
              </a:rPr>
              <a:t> = new Calculator();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@Before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void </a:t>
            </a:r>
            <a:r>
              <a:rPr lang="en-US" altLang="zh-CN" sz="1350" b="1" dirty="0" err="1">
                <a:solidFill>
                  <a:schemeClr val="tx2"/>
                </a:solidFill>
              </a:rPr>
              <a:t>setUp</a:t>
            </a:r>
            <a:r>
              <a:rPr lang="en-US" altLang="zh-CN" sz="1350" b="1" dirty="0">
                <a:solidFill>
                  <a:schemeClr val="tx2"/>
                </a:solidFill>
              </a:rPr>
              <a:t>() throws Exception {</a:t>
            </a:r>
          </a:p>
          <a:p>
            <a:pPr marL="334566"/>
            <a:r>
              <a:rPr lang="en-US" altLang="zh-CN" sz="1350" b="1" i="1" dirty="0" err="1">
                <a:solidFill>
                  <a:schemeClr val="tx2"/>
                </a:solidFill>
              </a:rPr>
              <a:t>calculator.clear</a:t>
            </a:r>
            <a:r>
              <a:rPr lang="en-US" altLang="zh-CN" sz="1350" b="1" i="1" dirty="0">
                <a:solidFill>
                  <a:schemeClr val="tx2"/>
                </a:solidFill>
              </a:rPr>
              <a:t>();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}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void </a:t>
            </a:r>
            <a:r>
              <a:rPr lang="en-US" altLang="zh-CN" sz="1350" b="1" dirty="0" err="1">
                <a:solidFill>
                  <a:schemeClr val="tx2"/>
                </a:solidFill>
              </a:rPr>
              <a:t>testAdd</a:t>
            </a:r>
            <a:r>
              <a:rPr lang="en-US" altLang="zh-CN" sz="1350" b="1" dirty="0">
                <a:solidFill>
                  <a:schemeClr val="tx2"/>
                </a:solidFill>
              </a:rPr>
              <a:t>() {</a:t>
            </a:r>
          </a:p>
          <a:p>
            <a:pPr marL="407194" indent="-72629"/>
            <a:r>
              <a:rPr lang="en-US" altLang="zh-CN" sz="1350" b="1" i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350" b="1" i="1" dirty="0">
                <a:solidFill>
                  <a:schemeClr val="tx2"/>
                </a:solidFill>
              </a:rPr>
              <a:t>(2);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350" b="1" i="1" dirty="0">
                <a:solidFill>
                  <a:schemeClr val="tx2"/>
                </a:solidFill>
              </a:rPr>
              <a:t>(3);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350" b="1" i="1" dirty="0">
                <a:solidFill>
                  <a:schemeClr val="tx2"/>
                </a:solidFill>
              </a:rPr>
              <a:t>(5,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sz="1350" b="1" i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4737538" y="1448605"/>
            <a:ext cx="4406462" cy="38318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350" b="1" dirty="0">
                <a:solidFill>
                  <a:schemeClr val="tx2"/>
                </a:solidFill>
              </a:rPr>
              <a:t>@Test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void </a:t>
            </a:r>
            <a:r>
              <a:rPr lang="en-US" altLang="zh-CN" sz="1350" b="1" dirty="0" err="1">
                <a:solidFill>
                  <a:schemeClr val="tx2"/>
                </a:solidFill>
              </a:rPr>
              <a:t>testSubstract</a:t>
            </a:r>
            <a:r>
              <a:rPr lang="en-US" altLang="zh-CN" sz="1350" b="1" dirty="0">
                <a:solidFill>
                  <a:schemeClr val="tx2"/>
                </a:solidFill>
              </a:rPr>
              <a:t>() {</a:t>
            </a:r>
          </a:p>
          <a:p>
            <a:pPr marL="334566"/>
            <a:r>
              <a:rPr lang="en-US" altLang="zh-CN" sz="1350" b="1" i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350" b="1" i="1" dirty="0">
                <a:solidFill>
                  <a:schemeClr val="tx2"/>
                </a:solidFill>
              </a:rPr>
              <a:t>(10);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calculator.substract</a:t>
            </a:r>
            <a:r>
              <a:rPr lang="en-US" altLang="zh-CN" sz="1350" b="1" i="1" dirty="0">
                <a:solidFill>
                  <a:schemeClr val="tx2"/>
                </a:solidFill>
              </a:rPr>
              <a:t>(2);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350" b="1" i="1" dirty="0">
                <a:solidFill>
                  <a:schemeClr val="tx2"/>
                </a:solidFill>
              </a:rPr>
              <a:t>(8,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sz="1350" b="1" i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}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@Test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void </a:t>
            </a:r>
            <a:r>
              <a:rPr lang="en-US" altLang="zh-CN" sz="1350" b="1" dirty="0" err="1">
                <a:solidFill>
                  <a:schemeClr val="tx2"/>
                </a:solidFill>
              </a:rPr>
              <a:t>testMultiply</a:t>
            </a:r>
            <a:r>
              <a:rPr lang="en-US" altLang="zh-CN" sz="1350" b="1" dirty="0">
                <a:solidFill>
                  <a:schemeClr val="tx2"/>
                </a:solidFill>
              </a:rPr>
              <a:t>() {</a:t>
            </a:r>
          </a:p>
          <a:p>
            <a:pPr marL="334566"/>
            <a:r>
              <a:rPr lang="en-US" altLang="zh-CN" sz="1350" b="1" i="1" dirty="0">
                <a:solidFill>
                  <a:schemeClr val="tx2"/>
                </a:solidFill>
              </a:rPr>
              <a:t>fail("Not yet implemented");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}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@Test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public void </a:t>
            </a:r>
            <a:r>
              <a:rPr lang="en-US" altLang="zh-CN" sz="1350" b="1" dirty="0" err="1">
                <a:solidFill>
                  <a:schemeClr val="tx2"/>
                </a:solidFill>
              </a:rPr>
              <a:t>testDivide</a:t>
            </a:r>
            <a:r>
              <a:rPr lang="en-US" altLang="zh-CN" sz="1350" b="1" dirty="0">
                <a:solidFill>
                  <a:schemeClr val="tx2"/>
                </a:solidFill>
              </a:rPr>
              <a:t>() {</a:t>
            </a:r>
          </a:p>
          <a:p>
            <a:pPr marL="334566"/>
            <a:r>
              <a:rPr lang="en-US" altLang="zh-CN" sz="1350" b="1" i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350" b="1" i="1" dirty="0">
                <a:solidFill>
                  <a:schemeClr val="tx2"/>
                </a:solidFill>
              </a:rPr>
              <a:t>(8);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calculator.divide</a:t>
            </a:r>
            <a:r>
              <a:rPr lang="en-US" altLang="zh-CN" sz="1350" b="1" i="1" dirty="0">
                <a:solidFill>
                  <a:schemeClr val="tx2"/>
                </a:solidFill>
              </a:rPr>
              <a:t>(2);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       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350" b="1" i="1" dirty="0">
                <a:solidFill>
                  <a:schemeClr val="tx2"/>
                </a:solidFill>
              </a:rPr>
              <a:t>(4, </a:t>
            </a:r>
            <a:r>
              <a:rPr lang="en-US" altLang="zh-CN" sz="1350" b="1" i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sz="1350" b="1" i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sz="1350" b="1" dirty="0">
                <a:solidFill>
                  <a:schemeClr val="tx2"/>
                </a:solidFill>
              </a:rPr>
              <a:t>}}</a:t>
            </a:r>
          </a:p>
          <a:p>
            <a:endParaRPr lang="en-US" altLang="zh-CN" sz="1350" b="1" dirty="0">
              <a:solidFill>
                <a:schemeClr val="tx2"/>
              </a:solidFill>
            </a:endParaRPr>
          </a:p>
          <a:p>
            <a:endParaRPr lang="zh-CN" altLang="en-US" sz="1350" b="1" dirty="0">
              <a:solidFill>
                <a:schemeClr val="tx2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80848" y="130997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34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8448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运行测试代码：按照上述代码修改完毕后，我们在</a:t>
            </a:r>
            <a:r>
              <a:rPr lang="en-US" altLang="zh-CN" b="1" dirty="0" err="1">
                <a:solidFill>
                  <a:schemeClr val="tx2"/>
                </a:solidFill>
                <a:ea typeface="楷体" panose="02010609060101010101" pitchFamily="49" charset="-122"/>
              </a:rPr>
              <a:t>CalculatorTest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类上点右键，选择“</a:t>
            </a:r>
            <a:r>
              <a:rPr lang="en-US" altLang="zh-CN" b="1" dirty="0">
                <a:solidFill>
                  <a:schemeClr val="tx2"/>
                </a:solidFill>
                <a:ea typeface="楷体" panose="02010609060101010101" pitchFamily="49" charset="-122"/>
              </a:rPr>
              <a:t>Run As a JUnit Test</a:t>
            </a:r>
            <a:r>
              <a:rPr lang="en-US" altLang="zh-CN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来运行我们的测试用例了。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48603"/>
            <a:ext cx="3500438" cy="184308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63253" y="1448605"/>
            <a:ext cx="546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减法是有问题的所以没有通过，乘法没有完成所以也没有通过。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00437" y="2110877"/>
            <a:ext cx="5588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我们把减法修改正确，</a:t>
            </a:r>
            <a:endParaRPr lang="en-US" altLang="zh-CN" b="1" dirty="0">
              <a:solidFill>
                <a:schemeClr val="tx2"/>
              </a:solidFill>
            </a:endParaRPr>
          </a:p>
          <a:p>
            <a:r>
              <a:rPr lang="en-US" altLang="zh-CN" b="1" dirty="0">
                <a:solidFill>
                  <a:schemeClr val="tx2"/>
                </a:solidFill>
              </a:rPr>
              <a:t> public void </a:t>
            </a:r>
            <a:r>
              <a:rPr lang="en-US" altLang="zh-CN" b="1" dirty="0" err="1">
                <a:solidFill>
                  <a:schemeClr val="tx2"/>
                </a:solidFill>
              </a:rPr>
              <a:t>substract</a:t>
            </a:r>
            <a:r>
              <a:rPr lang="en-US" altLang="zh-CN" b="1" dirty="0">
                <a:solidFill>
                  <a:schemeClr val="tx2"/>
                </a:solidFill>
              </a:rPr>
              <a:t>(</a:t>
            </a:r>
            <a:r>
              <a:rPr lang="en-US" altLang="zh-CN" b="1" dirty="0" err="1">
                <a:solidFill>
                  <a:schemeClr val="tx2"/>
                </a:solidFill>
              </a:rPr>
              <a:t>int</a:t>
            </a:r>
            <a:r>
              <a:rPr lang="en-US" altLang="zh-CN" b="1" dirty="0">
                <a:solidFill>
                  <a:schemeClr val="tx2"/>
                </a:solidFill>
              </a:rPr>
              <a:t> n)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result = result-n</a:t>
            </a:r>
            <a:r>
              <a:rPr lang="zh-CN" altLang="en-US" b="1" dirty="0">
                <a:solidFill>
                  <a:schemeClr val="tx2"/>
                </a:solidFill>
              </a:rPr>
              <a:t>；</a:t>
            </a:r>
            <a:endParaRPr lang="en-US" altLang="zh-CN" b="1" dirty="0">
              <a:solidFill>
                <a:schemeClr val="tx2"/>
              </a:solidFill>
            </a:endParaRPr>
          </a:p>
          <a:p>
            <a:r>
              <a:rPr lang="en-US" altLang="zh-CN" b="1" dirty="0">
                <a:solidFill>
                  <a:schemeClr val="tx2"/>
                </a:solidFill>
              </a:rPr>
              <a:t>    }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运行后如图</a:t>
            </a:r>
            <a:r>
              <a:rPr lang="zh-CN" altLang="en-US" b="1" dirty="0"/>
              <a:t>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61" y="3661913"/>
            <a:ext cx="3164681" cy="1035844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14337" y="85034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7899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67630" y="920146"/>
            <a:ext cx="8876371" cy="1935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</a:rPr>
              <a:t>练习：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1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按照上述内容建立</a:t>
            </a:r>
            <a:r>
              <a:rPr lang="en-US" altLang="zh-CN" sz="2100" b="1" dirty="0">
                <a:solidFill>
                  <a:schemeClr val="tx2"/>
                </a:solidFill>
                <a:ea typeface="楷体" panose="02010609060101010101" pitchFamily="49" charset="-122"/>
              </a:rPr>
              <a:t>Project</a:t>
            </a:r>
            <a:r>
              <a:rPr lang="zh-CN" altLang="en-US" sz="2100" b="1" dirty="0">
                <a:solidFill>
                  <a:schemeClr val="tx2"/>
                </a:solidFill>
                <a:ea typeface="楷体" panose="02010609060101010101" pitchFamily="49" charset="-122"/>
              </a:rPr>
              <a:t>、</a:t>
            </a:r>
            <a:r>
              <a:rPr lang="en-US" altLang="zh-CN" sz="2100" b="1" dirty="0">
                <a:solidFill>
                  <a:schemeClr val="tx2"/>
                </a:solidFill>
                <a:ea typeface="楷体" panose="02010609060101010101" pitchFamily="49" charset="-122"/>
              </a:rPr>
              <a:t>Package</a:t>
            </a:r>
            <a:r>
              <a:rPr lang="zh-CN" altLang="en-US" sz="2100" b="1" dirty="0">
                <a:solidFill>
                  <a:schemeClr val="tx2"/>
                </a:solidFill>
                <a:ea typeface="楷体" panose="02010609060101010101" pitchFamily="49" charset="-122"/>
              </a:rPr>
              <a:t>、</a:t>
            </a:r>
            <a:r>
              <a:rPr lang="en-US" altLang="zh-CN" sz="2100" b="1" dirty="0">
                <a:solidFill>
                  <a:schemeClr val="tx2"/>
                </a:solidFill>
                <a:ea typeface="楷体" panose="02010609060101010101" pitchFamily="49" charset="-122"/>
              </a:rPr>
              <a:t> Class</a:t>
            </a:r>
            <a:r>
              <a:rPr lang="zh-CN" altLang="en-US" sz="21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产品代码及测试代码。</a:t>
            </a:r>
            <a:endParaRPr lang="en-US" altLang="zh-CN" sz="21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100" b="1" dirty="0">
                <a:solidFill>
                  <a:schemeClr val="tx2"/>
                </a:solidFill>
                <a:ea typeface="楷体" panose="02010609060101010101" pitchFamily="49" charset="-122"/>
              </a:rPr>
              <a:t>CalculatorTest.java</a:t>
            </a:r>
            <a:r>
              <a:rPr lang="zh-CN" altLang="en-US" sz="2100" b="1" dirty="0">
                <a:solidFill>
                  <a:schemeClr val="tx2"/>
                </a:solidFill>
                <a:ea typeface="楷体" panose="02010609060101010101" pitchFamily="49" charset="-122"/>
              </a:rPr>
              <a:t>、</a:t>
            </a:r>
            <a:r>
              <a:rPr lang="en-US" altLang="zh-CN" sz="2100" b="1" dirty="0">
                <a:solidFill>
                  <a:schemeClr val="tx2"/>
                </a:solidFill>
                <a:ea typeface="楷体" panose="02010609060101010101" pitchFamily="49" charset="-122"/>
              </a:rPr>
              <a:t> Calculator.java</a:t>
            </a:r>
            <a:endParaRPr lang="zh-CN" altLang="en-US" sz="2100" b="1" dirty="0">
              <a:solidFill>
                <a:schemeClr val="tx2"/>
              </a:solidFill>
              <a:ea typeface="楷体" panose="02010609060101010101" pitchFamily="49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80848" y="172814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JUnit</a:t>
            </a:r>
            <a:r>
              <a:rPr lang="zh-CN" altLang="en-US" b="1" dirty="0">
                <a:solidFill>
                  <a:schemeClr val="tx2"/>
                </a:solidFill>
              </a:rPr>
              <a:t>入门</a:t>
            </a:r>
            <a:endParaRPr lang="en-US" altLang="zh-CN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371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4542" y="212802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08157"/>
            <a:ext cx="9144000" cy="4204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包含必要地</a:t>
            </a:r>
            <a:r>
              <a:rPr lang="en-US" altLang="zh-CN" b="1" dirty="0"/>
              <a:t>Package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import static </a:t>
            </a:r>
            <a:r>
              <a:rPr lang="en-US" altLang="zh-CN" b="1" dirty="0" err="1"/>
              <a:t>org.junit.Assert</a:t>
            </a:r>
            <a:r>
              <a:rPr lang="en-US" altLang="zh-CN" b="1" dirty="0"/>
              <a:t>.*;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zh-CN" altLang="en-US" b="1" dirty="0">
                <a:solidFill>
                  <a:schemeClr val="tx2"/>
                </a:solidFill>
              </a:rPr>
              <a:t>是</a:t>
            </a:r>
            <a:r>
              <a:rPr lang="en-US" altLang="zh-CN" b="1" dirty="0">
                <a:solidFill>
                  <a:schemeClr val="tx2"/>
                </a:solidFill>
              </a:rPr>
              <a:t>Assert</a:t>
            </a:r>
            <a:r>
              <a:rPr lang="zh-CN" altLang="en-US" b="1" dirty="0">
                <a:solidFill>
                  <a:schemeClr val="tx2"/>
                </a:solidFill>
              </a:rPr>
              <a:t>类中的一系列的静态方法，一般的使用方式是</a:t>
            </a:r>
            <a:r>
              <a:rPr lang="en-US" altLang="zh-CN" b="1" dirty="0">
                <a:solidFill>
                  <a:schemeClr val="tx2"/>
                </a:solidFill>
              </a:rPr>
              <a:t>Assert. </a:t>
            </a: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()</a:t>
            </a:r>
            <a:r>
              <a:rPr lang="zh-CN" altLang="en-US" b="1" dirty="0">
                <a:solidFill>
                  <a:schemeClr val="tx2"/>
                </a:solidFill>
              </a:rPr>
              <a:t>，但是使用了静态包含后，前面的类名就可以省略了，使用起来更加的方便。</a:t>
            </a:r>
            <a:endParaRPr lang="en-US" altLang="zh-CN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比如：</a:t>
            </a:r>
            <a:endParaRPr lang="en-US" altLang="zh-CN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(8, </a:t>
            </a:r>
            <a:r>
              <a:rPr lang="en-US" altLang="zh-CN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b="1" dirty="0">
                <a:solidFill>
                  <a:schemeClr val="tx2"/>
                </a:solidFill>
              </a:rPr>
              <a:t>());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测试类的声明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测试类是一个独立的类，没有任何父类。测试类的名字也可以任意命名，没有任何局限性。所以我们不能通过类的声明来判断它是不是一个测试类，它与普通类的区别在于它内部的方法的声明。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2831" y="261161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975420"/>
            <a:ext cx="5964865" cy="95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b="1" dirty="0"/>
              <a:t>创建一个待测试的对象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你要测试哪个类，那么你首先就要创建一个该类的对象。 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5843" y="2156231"/>
            <a:ext cx="530786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private static Calculator </a:t>
            </a:r>
            <a:r>
              <a:rPr lang="en-US" altLang="zh-CN" b="1" dirty="0" err="1">
                <a:solidFill>
                  <a:schemeClr val="tx2"/>
                </a:solidFill>
              </a:rPr>
              <a:t>calculator</a:t>
            </a:r>
            <a:r>
              <a:rPr lang="en-US" altLang="zh-CN" b="1" dirty="0">
                <a:solidFill>
                  <a:schemeClr val="tx2"/>
                </a:solidFill>
              </a:rPr>
              <a:t> = new Calculator();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5843" y="2783943"/>
            <a:ext cx="60163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为了测试</a:t>
            </a:r>
            <a:r>
              <a:rPr lang="en-US" altLang="zh-CN" b="1" dirty="0">
                <a:solidFill>
                  <a:schemeClr val="tx2"/>
                </a:solidFill>
              </a:rPr>
              <a:t>Calculator</a:t>
            </a:r>
            <a:r>
              <a:rPr lang="zh-CN" altLang="en-US" b="1" dirty="0">
                <a:solidFill>
                  <a:schemeClr val="tx2"/>
                </a:solidFill>
              </a:rPr>
              <a:t>类，我们必须创建一个</a:t>
            </a:r>
            <a:r>
              <a:rPr lang="en-US" altLang="zh-CN" b="1" dirty="0">
                <a:solidFill>
                  <a:schemeClr val="tx2"/>
                </a:solidFill>
              </a:rPr>
              <a:t>calculator</a:t>
            </a:r>
            <a:r>
              <a:rPr lang="zh-CN" altLang="en-US" b="1" dirty="0">
                <a:solidFill>
                  <a:schemeClr val="tx2"/>
                </a:solidFill>
              </a:rPr>
              <a:t>对象。</a:t>
            </a:r>
          </a:p>
        </p:txBody>
      </p:sp>
    </p:spTree>
    <p:extLst>
      <p:ext uri="{BB962C8B-B14F-4D97-AF65-F5344CB8AC3E}">
        <p14:creationId xmlns:p14="http://schemas.microsoft.com/office/powerpoint/2010/main" val="279000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062" y="137531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033538"/>
            <a:ext cx="9144000" cy="323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100" b="1" dirty="0"/>
              <a:t>测试方法的声明</a:t>
            </a:r>
          </a:p>
          <a:p>
            <a:pPr>
              <a:lnSpc>
                <a:spcPct val="200000"/>
              </a:lnSpc>
            </a:pPr>
            <a:r>
              <a:rPr lang="zh-CN" altLang="en-US" sz="2100" b="1" dirty="0">
                <a:solidFill>
                  <a:schemeClr val="tx2"/>
                </a:solidFill>
              </a:rPr>
              <a:t>在测试类中，并不是每一个方法都是用于测试的，你必须使用“标注”来明确表明哪些是测试方法。“标注”也是</a:t>
            </a:r>
            <a:r>
              <a:rPr lang="en-US" altLang="zh-CN" sz="2100" b="1" dirty="0">
                <a:solidFill>
                  <a:schemeClr val="tx2"/>
                </a:solidFill>
              </a:rPr>
              <a:t>JDK5</a:t>
            </a:r>
            <a:r>
              <a:rPr lang="zh-CN" altLang="en-US" sz="2100" b="1" dirty="0">
                <a:solidFill>
                  <a:schemeClr val="tx2"/>
                </a:solidFill>
              </a:rPr>
              <a:t>的一个新特性，用在此处非常恰当。我们可以看到，在某些方法的前有</a:t>
            </a:r>
            <a:r>
              <a:rPr lang="en-US" altLang="zh-CN" sz="2100" b="1" dirty="0">
                <a:solidFill>
                  <a:schemeClr val="tx2"/>
                </a:solidFill>
              </a:rPr>
              <a:t>@Before</a:t>
            </a:r>
            <a:r>
              <a:rPr lang="zh-CN" altLang="en-US" sz="2100" b="1" dirty="0">
                <a:solidFill>
                  <a:schemeClr val="tx2"/>
                </a:solidFill>
              </a:rPr>
              <a:t>、</a:t>
            </a:r>
            <a:r>
              <a:rPr lang="en-US" altLang="zh-CN" sz="2100" b="1" dirty="0">
                <a:solidFill>
                  <a:schemeClr val="tx2"/>
                </a:solidFill>
              </a:rPr>
              <a:t>@Test</a:t>
            </a:r>
            <a:r>
              <a:rPr lang="zh-CN" altLang="en-US" sz="2100" b="1" dirty="0">
                <a:solidFill>
                  <a:schemeClr val="tx2"/>
                </a:solidFill>
              </a:rPr>
              <a:t>、</a:t>
            </a:r>
            <a:r>
              <a:rPr lang="en-US" altLang="zh-CN" sz="2100" b="1" dirty="0">
                <a:solidFill>
                  <a:schemeClr val="tx2"/>
                </a:solidFill>
              </a:rPr>
              <a:t>@Ignore</a:t>
            </a:r>
            <a:r>
              <a:rPr lang="zh-CN" altLang="en-US" sz="2100" b="1" dirty="0">
                <a:solidFill>
                  <a:schemeClr val="tx2"/>
                </a:solidFill>
              </a:rPr>
              <a:t>等字样，这些就是标注，以一个“</a:t>
            </a:r>
            <a:r>
              <a:rPr lang="en-US" altLang="zh-CN" sz="2100" b="1" dirty="0">
                <a:solidFill>
                  <a:schemeClr val="tx2"/>
                </a:solidFill>
              </a:rPr>
              <a:t>@”</a:t>
            </a:r>
            <a:r>
              <a:rPr lang="zh-CN" altLang="en-US" sz="2100" b="1" dirty="0">
                <a:solidFill>
                  <a:schemeClr val="tx2"/>
                </a:solidFill>
              </a:rPr>
              <a:t>作为开头。</a:t>
            </a:r>
            <a:endParaRPr lang="en-US" altLang="zh-CN" sz="21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302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4204" y="161573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115" y="907986"/>
            <a:ext cx="9144000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ea typeface="楷体" panose="02010609060101010101" pitchFamily="49" charset="-122"/>
              </a:rPr>
              <a:t>在方法的前面使用</a:t>
            </a:r>
            <a:r>
              <a:rPr lang="en-US" altLang="zh-CN" b="1" dirty="0">
                <a:solidFill>
                  <a:schemeClr val="tx2"/>
                </a:solidFill>
                <a:ea typeface="楷体" panose="02010609060101010101" pitchFamily="49" charset="-122"/>
              </a:rPr>
              <a:t>@Test</a:t>
            </a:r>
            <a:r>
              <a:rPr lang="zh-CN" altLang="en-US" b="1" dirty="0">
                <a:solidFill>
                  <a:schemeClr val="tx2"/>
                </a:solidFill>
                <a:ea typeface="楷体" panose="02010609060101010101" pitchFamily="49" charset="-122"/>
              </a:rPr>
              <a:t>标注，以表明这是一个测试方法。对于方法的声明也有如下要求：名字可以随便取，没有任何限制，但是返回值必须为</a:t>
            </a:r>
            <a:r>
              <a:rPr lang="en-US" altLang="zh-CN" b="1" dirty="0">
                <a:solidFill>
                  <a:schemeClr val="tx2"/>
                </a:solidFill>
                <a:ea typeface="楷体" panose="02010609060101010101" pitchFamily="49" charset="-122"/>
              </a:rPr>
              <a:t>void</a:t>
            </a:r>
            <a:r>
              <a:rPr lang="zh-CN" altLang="en-US" b="1" dirty="0">
                <a:solidFill>
                  <a:schemeClr val="tx2"/>
                </a:solidFill>
                <a:ea typeface="楷体" panose="02010609060101010101" pitchFamily="49" charset="-122"/>
              </a:rPr>
              <a:t>，而且不能有任何参数。如果违反这些规定，会在运行时抛出一个异常。</a:t>
            </a:r>
            <a:endParaRPr lang="en-US" altLang="zh-CN" sz="2100" b="1" dirty="0">
              <a:solidFill>
                <a:schemeClr val="tx2"/>
              </a:solidFill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" y="2351115"/>
            <a:ext cx="3610303" cy="27976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@Test</a:t>
            </a:r>
          </a:p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    public void </a:t>
            </a:r>
            <a:r>
              <a:rPr lang="en-US" altLang="zh-CN" sz="1500" b="1" dirty="0" err="1">
                <a:solidFill>
                  <a:schemeClr val="tx2"/>
                </a:solidFill>
              </a:rPr>
              <a:t>testAdd</a:t>
            </a:r>
            <a:r>
              <a:rPr lang="en-US" altLang="zh-CN" sz="1500" b="1" dirty="0">
                <a:solidFill>
                  <a:schemeClr val="tx2"/>
                </a:solidFill>
              </a:rPr>
              <a:t>() {</a:t>
            </a:r>
          </a:p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          </a:t>
            </a:r>
            <a:r>
              <a:rPr lang="en-US" altLang="zh-CN" sz="1500" b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500" b="1" dirty="0">
                <a:solidFill>
                  <a:schemeClr val="tx2"/>
                </a:solidFill>
              </a:rPr>
              <a:t>(2);</a:t>
            </a:r>
          </a:p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          </a:t>
            </a:r>
            <a:r>
              <a:rPr lang="en-US" altLang="zh-CN" sz="1500" b="1" dirty="0" err="1">
                <a:solidFill>
                  <a:schemeClr val="tx2"/>
                </a:solidFill>
              </a:rPr>
              <a:t>calculator.add</a:t>
            </a:r>
            <a:r>
              <a:rPr lang="en-US" altLang="zh-CN" sz="1500" b="1" dirty="0">
                <a:solidFill>
                  <a:schemeClr val="tx2"/>
                </a:solidFill>
              </a:rPr>
              <a:t>(3);</a:t>
            </a:r>
          </a:p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          </a:t>
            </a:r>
            <a:r>
              <a:rPr lang="en-US" altLang="zh-CN" sz="1500" b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500" b="1" dirty="0">
                <a:solidFill>
                  <a:schemeClr val="tx2"/>
                </a:solidFill>
              </a:rPr>
              <a:t>(5,calculator.getResult());</a:t>
            </a:r>
          </a:p>
          <a:p>
            <a:pPr>
              <a:lnSpc>
                <a:spcPct val="200000"/>
              </a:lnSpc>
            </a:pPr>
            <a:r>
              <a:rPr lang="en-US" altLang="zh-CN" sz="1500" b="1" dirty="0">
                <a:solidFill>
                  <a:schemeClr val="tx2"/>
                </a:solidFill>
              </a:rPr>
              <a:t>    }</a:t>
            </a:r>
            <a:endParaRPr lang="zh-CN" altLang="en-US" sz="1500" b="1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610304" y="2292971"/>
            <a:ext cx="552581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950" b="1" dirty="0">
                <a:solidFill>
                  <a:schemeClr val="tx2"/>
                </a:solidFill>
              </a:rPr>
              <a:t>在测试方法中调用几次</a:t>
            </a:r>
            <a:r>
              <a:rPr lang="en-US" altLang="zh-CN" sz="1950" b="1" dirty="0">
                <a:solidFill>
                  <a:schemeClr val="tx2"/>
                </a:solidFill>
              </a:rPr>
              <a:t>add</a:t>
            </a:r>
            <a:r>
              <a:rPr lang="zh-CN" altLang="en-US" sz="1950" b="1" dirty="0">
                <a:solidFill>
                  <a:schemeClr val="tx2"/>
                </a:solidFill>
              </a:rPr>
              <a:t>函数，初始值为</a:t>
            </a:r>
            <a:r>
              <a:rPr lang="en-US" altLang="zh-CN" sz="1950" b="1" dirty="0">
                <a:solidFill>
                  <a:schemeClr val="tx2"/>
                </a:solidFill>
              </a:rPr>
              <a:t>0</a:t>
            </a:r>
            <a:r>
              <a:rPr lang="zh-CN" altLang="en-US" sz="1950" b="1" dirty="0">
                <a:solidFill>
                  <a:schemeClr val="tx2"/>
                </a:solidFill>
              </a:rPr>
              <a:t>，先加</a:t>
            </a:r>
            <a:r>
              <a:rPr lang="en-US" altLang="zh-CN" sz="1950" b="1" dirty="0">
                <a:solidFill>
                  <a:schemeClr val="tx2"/>
                </a:solidFill>
              </a:rPr>
              <a:t>2</a:t>
            </a:r>
            <a:r>
              <a:rPr lang="zh-CN" altLang="en-US" sz="1950" b="1" dirty="0">
                <a:solidFill>
                  <a:schemeClr val="tx2"/>
                </a:solidFill>
              </a:rPr>
              <a:t>，再加</a:t>
            </a:r>
            <a:r>
              <a:rPr lang="en-US" altLang="zh-CN" sz="1950" b="1" dirty="0">
                <a:solidFill>
                  <a:schemeClr val="tx2"/>
                </a:solidFill>
              </a:rPr>
              <a:t>3</a:t>
            </a:r>
            <a:r>
              <a:rPr lang="zh-CN" altLang="en-US" sz="1950" b="1" dirty="0">
                <a:solidFill>
                  <a:schemeClr val="tx2"/>
                </a:solidFill>
              </a:rPr>
              <a:t>，我们期待的结果应该是</a:t>
            </a:r>
            <a:r>
              <a:rPr lang="en-US" altLang="zh-CN" sz="1950" b="1" dirty="0">
                <a:solidFill>
                  <a:schemeClr val="tx2"/>
                </a:solidFill>
              </a:rPr>
              <a:t>5</a:t>
            </a:r>
            <a:r>
              <a:rPr lang="zh-CN" altLang="en-US" sz="1950" b="1" dirty="0">
                <a:solidFill>
                  <a:schemeClr val="tx2"/>
                </a:solidFill>
              </a:rPr>
              <a:t>。如果最终实际结果也是</a:t>
            </a:r>
            <a:r>
              <a:rPr lang="en-US" altLang="zh-CN" sz="1950" b="1" dirty="0">
                <a:solidFill>
                  <a:schemeClr val="tx2"/>
                </a:solidFill>
              </a:rPr>
              <a:t>5</a:t>
            </a:r>
            <a:r>
              <a:rPr lang="zh-CN" altLang="en-US" sz="1950" b="1" dirty="0">
                <a:solidFill>
                  <a:schemeClr val="tx2"/>
                </a:solidFill>
              </a:rPr>
              <a:t>，则说明</a:t>
            </a:r>
            <a:r>
              <a:rPr lang="en-US" altLang="zh-CN" sz="1950" b="1" dirty="0">
                <a:solidFill>
                  <a:schemeClr val="tx2"/>
                </a:solidFill>
              </a:rPr>
              <a:t>add</a:t>
            </a:r>
            <a:r>
              <a:rPr lang="zh-CN" altLang="en-US" sz="1950" b="1" dirty="0">
                <a:solidFill>
                  <a:schemeClr val="tx2"/>
                </a:solidFill>
              </a:rPr>
              <a:t>方法是正确的，反之说明它是错的。</a:t>
            </a:r>
            <a:endParaRPr lang="en-US" altLang="zh-CN" sz="195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950" b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950" b="1" dirty="0">
                <a:solidFill>
                  <a:schemeClr val="tx2"/>
                </a:solidFill>
              </a:rPr>
              <a:t>(5, </a:t>
            </a:r>
            <a:r>
              <a:rPr lang="en-US" altLang="zh-CN" sz="1950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sz="1950" b="1" dirty="0">
                <a:solidFill>
                  <a:schemeClr val="tx2"/>
                </a:solidFill>
              </a:rPr>
              <a:t>());</a:t>
            </a:r>
            <a:r>
              <a:rPr lang="zh-CN" altLang="en-US" sz="1950" b="1" dirty="0">
                <a:solidFill>
                  <a:schemeClr val="tx2"/>
                </a:solidFill>
              </a:rPr>
              <a:t>就是来判断期待结果和实际结果是否相等，第一个参数填写期待结果，第二个参数填写实际结果，也就是通过计算得到的结果。这样写好之后，</a:t>
            </a:r>
            <a:r>
              <a:rPr lang="en-US" altLang="zh-CN" sz="1950" b="1" dirty="0">
                <a:solidFill>
                  <a:schemeClr val="tx2"/>
                </a:solidFill>
              </a:rPr>
              <a:t>JUnit</a:t>
            </a:r>
            <a:r>
              <a:rPr lang="zh-CN" altLang="en-US" sz="1950" b="1" dirty="0">
                <a:solidFill>
                  <a:schemeClr val="tx2"/>
                </a:solidFill>
              </a:rPr>
              <a:t>会自动进行测试并把测试结果反馈给用户</a:t>
            </a:r>
            <a:r>
              <a:rPr lang="zh-CN" altLang="en-US" sz="1950" dirty="0">
                <a:solidFill>
                  <a:schemeClr val="tx2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91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000" y="204439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JUnit</a:t>
            </a:r>
            <a:endParaRPr lang="en-US" altLang="zh-CN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848617"/>
            <a:ext cx="9144000" cy="246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u="sng" dirty="0"/>
              <a:t>@</a:t>
            </a:r>
            <a:r>
              <a:rPr lang="en-US" altLang="zh-CN" sz="2100" b="1" u="sng" dirty="0" err="1"/>
              <a:t>BeforeClass</a:t>
            </a:r>
            <a:r>
              <a:rPr lang="en-US" altLang="zh-CN" sz="2100" b="1" u="sng" dirty="0"/>
              <a:t> </a:t>
            </a:r>
            <a:r>
              <a:rPr lang="zh-CN" altLang="en-US" sz="2100" b="1" u="sng" dirty="0"/>
              <a:t>和 </a:t>
            </a:r>
            <a:r>
              <a:rPr lang="en-US" altLang="zh-CN" sz="2100" b="1" u="sng" dirty="0"/>
              <a:t>@</a:t>
            </a:r>
            <a:r>
              <a:rPr lang="en-US" altLang="zh-CN" sz="2100" b="1" u="sng" dirty="0" err="1"/>
              <a:t>AfterClass</a:t>
            </a:r>
            <a:r>
              <a:rPr lang="en-US" altLang="zh-CN" sz="2100" b="1" u="sng" dirty="0"/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chemeClr val="tx2"/>
                </a:solidFill>
              </a:rPr>
              <a:t>有一个类是负责对大文件（超过 </a:t>
            </a:r>
            <a:r>
              <a:rPr lang="en-US" altLang="zh-CN" sz="2100" b="1" dirty="0">
                <a:solidFill>
                  <a:schemeClr val="tx2"/>
                </a:solidFill>
              </a:rPr>
              <a:t>500</a:t>
            </a:r>
            <a:r>
              <a:rPr lang="zh-CN" altLang="en-US" sz="2100" b="1" dirty="0">
                <a:solidFill>
                  <a:schemeClr val="tx2"/>
                </a:solidFill>
              </a:rPr>
              <a:t> 兆）进行读写，他的每一个方法都是对文件进行操作。换句话说，在调用每一个方法之前，我们都要打开一个大文件并读入文件内容，这绝对是一个非常耗费时间的操作。如果我们使用 </a:t>
            </a:r>
            <a:r>
              <a:rPr lang="en-US" altLang="zh-CN" sz="2100" b="1" dirty="0">
                <a:solidFill>
                  <a:schemeClr val="tx2"/>
                </a:solidFill>
              </a:rPr>
              <a:t>@Before </a:t>
            </a:r>
            <a:r>
              <a:rPr lang="zh-CN" altLang="en-US" sz="2100" b="1" dirty="0">
                <a:solidFill>
                  <a:schemeClr val="tx2"/>
                </a:solidFill>
              </a:rPr>
              <a:t>和 </a:t>
            </a:r>
            <a:r>
              <a:rPr lang="en-US" altLang="zh-CN" sz="2100" b="1" dirty="0">
                <a:solidFill>
                  <a:schemeClr val="tx2"/>
                </a:solidFill>
              </a:rPr>
              <a:t>@After </a:t>
            </a:r>
            <a:r>
              <a:rPr lang="zh-CN" altLang="en-US" sz="2100" b="1" dirty="0">
                <a:solidFill>
                  <a:schemeClr val="tx2"/>
                </a:solidFill>
              </a:rPr>
              <a:t>，那么每次测试都要读取一次文件，效率及其低下。</a:t>
            </a:r>
            <a:endParaRPr lang="en-US" altLang="zh-CN" sz="2100" b="1" dirty="0">
              <a:solidFill>
                <a:schemeClr val="tx2"/>
              </a:solidFill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3206517"/>
            <a:ext cx="9144000" cy="2127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BeforeClass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和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AfterClass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两个 </a:t>
            </a:r>
            <a:r>
              <a:rPr lang="en-US" altLang="zh-CN" b="1" dirty="0">
                <a:solidFill>
                  <a:schemeClr val="tx2"/>
                </a:solidFill>
              </a:rPr>
              <a:t>Fixture </a:t>
            </a:r>
            <a:r>
              <a:rPr lang="zh-CN" altLang="en-US" b="1" dirty="0">
                <a:solidFill>
                  <a:schemeClr val="tx2"/>
                </a:solidFill>
              </a:rPr>
              <a:t>来帮我们实现这个功能。从名字上就可以看出，用这两个 </a:t>
            </a:r>
            <a:r>
              <a:rPr lang="en-US" altLang="zh-CN" b="1" dirty="0">
                <a:solidFill>
                  <a:schemeClr val="tx2"/>
                </a:solidFill>
              </a:rPr>
              <a:t>Fixture </a:t>
            </a:r>
            <a:r>
              <a:rPr lang="zh-CN" altLang="en-US" b="1" dirty="0">
                <a:solidFill>
                  <a:schemeClr val="tx2"/>
                </a:solidFill>
              </a:rPr>
              <a:t>标注的函数，只在测试用例初始化时执行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BeforeClass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方法，当所有测试执行完毕之后，执行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AfterClass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进行收尾工作。在这里要注意一下，每个测试类只能有一个方法被标注为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BeforeClass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或 </a:t>
            </a:r>
            <a:r>
              <a:rPr lang="en-US" altLang="zh-CN" b="1" dirty="0">
                <a:solidFill>
                  <a:schemeClr val="tx2"/>
                </a:solidFill>
              </a:rPr>
              <a:t>@</a:t>
            </a:r>
            <a:r>
              <a:rPr lang="en-US" altLang="zh-CN" b="1" dirty="0" err="1">
                <a:solidFill>
                  <a:schemeClr val="tx2"/>
                </a:solidFill>
              </a:rPr>
              <a:t>AfterClass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，并且该方法必须是 </a:t>
            </a:r>
            <a:r>
              <a:rPr lang="en-US" altLang="zh-CN" b="1" dirty="0">
                <a:solidFill>
                  <a:schemeClr val="tx2"/>
                </a:solidFill>
              </a:rPr>
              <a:t>Public </a:t>
            </a:r>
            <a:r>
              <a:rPr lang="zh-CN" altLang="en-US" b="1" dirty="0">
                <a:solidFill>
                  <a:schemeClr val="tx2"/>
                </a:solidFill>
              </a:rPr>
              <a:t>和 </a:t>
            </a:r>
            <a:r>
              <a:rPr lang="en-US" altLang="zh-CN" b="1" dirty="0">
                <a:solidFill>
                  <a:schemeClr val="tx2"/>
                </a:solidFill>
              </a:rPr>
              <a:t>Static </a:t>
            </a:r>
            <a:r>
              <a:rPr lang="zh-CN" altLang="en-US" b="1" dirty="0">
                <a:solidFill>
                  <a:schemeClr val="tx2"/>
                </a:solidFill>
              </a:rPr>
              <a:t>的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9480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614" y="212802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934199"/>
            <a:ext cx="5853626" cy="101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b="1" dirty="0"/>
              <a:t>防止超时</a:t>
            </a:r>
            <a:endParaRPr lang="en-US" altLang="zh-CN" sz="2100" b="1" dirty="0"/>
          </a:p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chemeClr val="tx2"/>
                </a:solidFill>
              </a:rPr>
              <a:t>比如程序里面存在死循环，如何处理。</a:t>
            </a:r>
            <a:endParaRPr lang="en-US" altLang="zh-CN" sz="2100" b="1" dirty="0">
              <a:solidFill>
                <a:schemeClr val="tx2"/>
              </a:solidFill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946" y="2041660"/>
            <a:ext cx="9073055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public void  </a:t>
            </a:r>
            <a:r>
              <a:rPr lang="en-US" altLang="zh-CN" b="1" dirty="0" err="1">
                <a:solidFill>
                  <a:schemeClr val="tx2"/>
                </a:solidFill>
              </a:rPr>
              <a:t>squareRoot</a:t>
            </a:r>
            <a:r>
              <a:rPr lang="en-US" altLang="zh-CN" b="1" dirty="0">
                <a:solidFill>
                  <a:schemeClr val="tx2"/>
                </a:solidFill>
              </a:rPr>
              <a:t>( </a:t>
            </a:r>
            <a:r>
              <a:rPr lang="en-US" altLang="zh-CN" b="1" dirty="0" err="1">
                <a:solidFill>
                  <a:schemeClr val="tx2"/>
                </a:solidFill>
              </a:rPr>
              <a:t>int</a:t>
            </a:r>
            <a:r>
              <a:rPr lang="en-US" altLang="zh-CN" b="1" dirty="0">
                <a:solidFill>
                  <a:schemeClr val="tx2"/>
                </a:solidFill>
              </a:rPr>
              <a:t>  n)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 for  (; ;) ;                  // Bug : </a:t>
            </a:r>
            <a:r>
              <a:rPr lang="zh-CN" altLang="en-US" b="1" dirty="0">
                <a:solidFill>
                  <a:schemeClr val="tx2"/>
                </a:solidFill>
              </a:rPr>
              <a:t>死循环 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      </a:t>
            </a:r>
            <a:r>
              <a:rPr lang="en-US" altLang="zh-CN" b="1" dirty="0">
                <a:solidFill>
                  <a:schemeClr val="tx2"/>
                </a:solidFill>
              </a:rPr>
              <a:t>} 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912" y="2961397"/>
            <a:ext cx="57454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</a:rPr>
              <a:t>要实现这一功能，只需要给</a:t>
            </a:r>
            <a:r>
              <a:rPr lang="zh-CN" altLang="en-US" b="1" dirty="0">
                <a:solidFill>
                  <a:schemeClr val="tx2"/>
                </a:solidFill>
              </a:rPr>
              <a:t> </a:t>
            </a:r>
            <a:r>
              <a:rPr lang="en-US" altLang="zh-CN" b="1" dirty="0">
                <a:solidFill>
                  <a:schemeClr val="tx2"/>
                </a:solidFill>
              </a:rPr>
              <a:t>@Test </a:t>
            </a:r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</a:rPr>
              <a:t>标注加一个参数即可</a:t>
            </a:r>
          </a:p>
        </p:txBody>
      </p:sp>
      <p:sp>
        <p:nvSpPr>
          <p:cNvPr id="8" name="矩形 7"/>
          <p:cNvSpPr/>
          <p:nvPr/>
        </p:nvSpPr>
        <p:spPr>
          <a:xfrm>
            <a:off x="82912" y="3382297"/>
            <a:ext cx="906108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 @Test(timeout=1000 ) //1000</a:t>
            </a:r>
            <a:r>
              <a:rPr lang="zh-CN" altLang="en-US" b="1" dirty="0">
                <a:solidFill>
                  <a:srgbClr val="FF0000"/>
                </a:solidFill>
              </a:rPr>
              <a:t>毫秒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chemeClr val="tx2"/>
                </a:solidFill>
              </a:rPr>
              <a:t>       public   void  </a:t>
            </a:r>
            <a:r>
              <a:rPr lang="en-US" altLang="zh-CN" b="1" dirty="0" err="1">
                <a:solidFill>
                  <a:schemeClr val="tx2"/>
                </a:solidFill>
              </a:rPr>
              <a:t>testsquareRoot</a:t>
            </a:r>
            <a:r>
              <a:rPr lang="en-US" altLang="zh-CN" b="1" dirty="0">
                <a:solidFill>
                  <a:schemeClr val="tx2"/>
                </a:solidFill>
              </a:rPr>
              <a:t>()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calculator.squareRoot</a:t>
            </a:r>
            <a:r>
              <a:rPr lang="en-US" altLang="zh-CN" b="1" dirty="0">
                <a:solidFill>
                  <a:schemeClr val="tx2"/>
                </a:solidFill>
              </a:rPr>
              <a:t>( 4 );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( 2 , </a:t>
            </a:r>
            <a:r>
              <a:rPr lang="en-US" altLang="zh-CN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b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}</a:t>
            </a:r>
            <a:endParaRPr lang="zh-CN" altLang="en-US" sz="135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294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363" y="212802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786332"/>
            <a:ext cx="9144000" cy="1497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chemeClr val="accent3"/>
                </a:solidFill>
              </a:rPr>
              <a:t> </a:t>
            </a:r>
            <a:r>
              <a:rPr lang="en-US" altLang="zh-CN" sz="2100" b="1" dirty="0"/>
              <a:t>Runner ( </a:t>
            </a:r>
            <a:r>
              <a:rPr lang="zh-CN" altLang="en-US" sz="2100" b="1" dirty="0"/>
              <a:t>运行器 </a:t>
            </a:r>
            <a:r>
              <a:rPr lang="en-US" altLang="zh-CN" sz="2100" b="1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chemeClr val="tx2"/>
                </a:solidFill>
              </a:rPr>
              <a:t>把测试代码提交给 </a:t>
            </a:r>
            <a:r>
              <a:rPr lang="en-US" altLang="zh-CN" sz="2100" b="1" dirty="0">
                <a:solidFill>
                  <a:schemeClr val="tx2"/>
                </a:solidFill>
              </a:rPr>
              <a:t>JUnit </a:t>
            </a:r>
            <a:r>
              <a:rPr lang="zh-CN" altLang="en-US" sz="2100" b="1" dirty="0">
                <a:solidFill>
                  <a:schemeClr val="tx2"/>
                </a:solidFill>
              </a:rPr>
              <a:t>框架后，框架通过</a:t>
            </a:r>
            <a:r>
              <a:rPr lang="en-US" altLang="zh-CN" sz="2100" b="1" dirty="0">
                <a:solidFill>
                  <a:schemeClr val="tx2"/>
                </a:solidFill>
              </a:rPr>
              <a:t>Runner</a:t>
            </a:r>
            <a:r>
              <a:rPr lang="zh-CN" altLang="en-US" sz="2100" b="1" dirty="0">
                <a:solidFill>
                  <a:schemeClr val="tx2"/>
                </a:solidFill>
              </a:rPr>
              <a:t>来运行如何来运行你的代码。不设定，为默认的，也可以设置</a:t>
            </a:r>
            <a:endParaRPr lang="en-US" altLang="zh-CN" sz="2100" b="1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2304262"/>
            <a:ext cx="631574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import  </a:t>
            </a:r>
            <a:r>
              <a:rPr lang="en-US" altLang="zh-CN" b="1" dirty="0" err="1">
                <a:solidFill>
                  <a:srgbClr val="FF0000"/>
                </a:solidFill>
              </a:rPr>
              <a:t>org.junit.internal.runners.TestClassRunner</a:t>
            </a:r>
            <a:r>
              <a:rPr lang="en-US" altLang="zh-CN" b="1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import  </a:t>
            </a:r>
            <a:r>
              <a:rPr lang="en-US" altLang="zh-CN" b="1" dirty="0" err="1">
                <a:solidFill>
                  <a:srgbClr val="FF0000"/>
                </a:solidFill>
              </a:rPr>
              <a:t>org.junit.runner.RunWith</a:t>
            </a:r>
            <a:r>
              <a:rPr lang="en-US" altLang="zh-CN" b="1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// </a:t>
            </a:r>
            <a:r>
              <a:rPr lang="zh-CN" altLang="en-US" b="1" dirty="0">
                <a:solidFill>
                  <a:schemeClr val="tx2"/>
                </a:solidFill>
              </a:rPr>
              <a:t>使用了系统默认的</a:t>
            </a:r>
            <a:r>
              <a:rPr lang="en-US" altLang="zh-CN" b="1" dirty="0" err="1">
                <a:solidFill>
                  <a:schemeClr val="tx2"/>
                </a:solidFill>
              </a:rPr>
              <a:t>TestClassRunner</a:t>
            </a:r>
            <a:r>
              <a:rPr lang="zh-CN" altLang="en-US" b="1" dirty="0">
                <a:solidFill>
                  <a:schemeClr val="tx2"/>
                </a:solidFill>
              </a:rPr>
              <a:t>，与下面代码完全一样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public   class  </a:t>
            </a:r>
            <a:r>
              <a:rPr lang="en-US" altLang="zh-CN" b="1" dirty="0" err="1">
                <a:solidFill>
                  <a:schemeClr val="tx2"/>
                </a:solidFill>
              </a:rPr>
              <a:t>CalculatorTest</a:t>
            </a:r>
            <a:r>
              <a:rPr lang="en-US" altLang="zh-CN" b="1" dirty="0">
                <a:solidFill>
                  <a:schemeClr val="tx2"/>
                </a:solidFill>
              </a:rPr>
              <a:t>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...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}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@</a:t>
            </a:r>
            <a:r>
              <a:rPr lang="en-US" altLang="zh-CN" b="1" dirty="0" err="1">
                <a:solidFill>
                  <a:srgbClr val="FF0000"/>
                </a:solidFill>
              </a:rPr>
              <a:t>RunWith</a:t>
            </a:r>
            <a:r>
              <a:rPr lang="en-US" altLang="zh-CN" b="1" dirty="0">
                <a:solidFill>
                  <a:srgbClr val="FF0000"/>
                </a:solidFill>
              </a:rPr>
              <a:t>(BlockJUnit4ClassRunner.class )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public   class  </a:t>
            </a:r>
            <a:r>
              <a:rPr lang="en-US" altLang="zh-CN" b="1" dirty="0" err="1">
                <a:solidFill>
                  <a:schemeClr val="tx2"/>
                </a:solidFill>
              </a:rPr>
              <a:t>CalculatorTest</a:t>
            </a:r>
            <a:r>
              <a:rPr lang="en-US" altLang="zh-CN" b="1" dirty="0">
                <a:solidFill>
                  <a:schemeClr val="tx2"/>
                </a:solidFill>
              </a:rPr>
              <a:t>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...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603915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836" y="161854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11014"/>
            <a:ext cx="9144000" cy="149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b="1" dirty="0"/>
              <a:t>参数化测试</a:t>
            </a:r>
            <a:endParaRPr lang="en-US" altLang="zh-CN" sz="2100" b="1" dirty="0"/>
          </a:p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chemeClr val="tx2"/>
                </a:solidFill>
              </a:rPr>
              <a:t>测试一下“计算一个数的平方”这个函数，暂且分三类：正数、 </a:t>
            </a:r>
            <a:r>
              <a:rPr lang="en-US" altLang="zh-CN" sz="2100" b="1" dirty="0">
                <a:solidFill>
                  <a:schemeClr val="tx2"/>
                </a:solidFill>
              </a:rPr>
              <a:t>0</a:t>
            </a:r>
            <a:r>
              <a:rPr lang="zh-CN" altLang="en-US" sz="2100" b="1" dirty="0">
                <a:solidFill>
                  <a:schemeClr val="tx2"/>
                </a:solidFill>
              </a:rPr>
              <a:t> 、负数。测试代码如下：</a:t>
            </a:r>
            <a:endParaRPr lang="en-US" altLang="zh-CN" sz="21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2309824"/>
            <a:ext cx="9073055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org.junit.AfterClass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org.junit.Before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org.junit.BeforeClass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org.junit.Test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import   static  </a:t>
            </a:r>
            <a:r>
              <a:rPr lang="en-US" altLang="zh-CN" b="1" dirty="0" err="1">
                <a:solidFill>
                  <a:schemeClr val="tx2"/>
                </a:solidFill>
              </a:rPr>
              <a:t>org.junit.Assert</a:t>
            </a:r>
            <a:r>
              <a:rPr lang="en-US" altLang="zh-CN" b="1" dirty="0">
                <a:solidFill>
                  <a:schemeClr val="tx2"/>
                </a:solidFill>
              </a:rPr>
              <a:t>. * 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public   class  </a:t>
            </a:r>
            <a:r>
              <a:rPr lang="en-US" altLang="zh-CN" b="1" dirty="0" err="1">
                <a:solidFill>
                  <a:schemeClr val="tx2"/>
                </a:solidFill>
              </a:rPr>
              <a:t>AdvancedTest</a:t>
            </a:r>
            <a:r>
              <a:rPr lang="en-US" altLang="zh-CN" b="1" dirty="0">
                <a:solidFill>
                  <a:schemeClr val="tx2"/>
                </a:solidFill>
              </a:rPr>
              <a:t>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private   static  Calculator </a:t>
            </a:r>
            <a:r>
              <a:rPr lang="en-US" altLang="zh-CN" b="1" dirty="0" err="1">
                <a:solidFill>
                  <a:schemeClr val="tx2"/>
                </a:solidFill>
              </a:rPr>
              <a:t>calculator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＝  </a:t>
            </a:r>
            <a:r>
              <a:rPr lang="en-US" altLang="zh-CN" b="1" dirty="0">
                <a:solidFill>
                  <a:schemeClr val="tx2"/>
                </a:solidFill>
              </a:rPr>
              <a:t>new  Calculator();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@Before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public   void  </a:t>
            </a:r>
            <a:r>
              <a:rPr lang="en-US" altLang="zh-CN" b="1" dirty="0" err="1">
                <a:solidFill>
                  <a:schemeClr val="tx2"/>
                </a:solidFill>
              </a:rPr>
              <a:t>clearCalculator</a:t>
            </a:r>
            <a:r>
              <a:rPr lang="en-US" altLang="zh-CN" b="1" dirty="0">
                <a:solidFill>
                  <a:schemeClr val="tx2"/>
                </a:solidFill>
              </a:rPr>
              <a:t>()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</a:rPr>
              <a:t>calculator.clear</a:t>
            </a:r>
            <a:r>
              <a:rPr lang="en-US" altLang="zh-CN" b="1" dirty="0">
                <a:solidFill>
                  <a:schemeClr val="tx2"/>
                </a:solidFill>
              </a:rPr>
              <a:t>();      } </a:t>
            </a:r>
          </a:p>
        </p:txBody>
      </p:sp>
    </p:spTree>
    <p:extLst>
      <p:ext uri="{BB962C8B-B14F-4D97-AF65-F5344CB8AC3E}">
        <p14:creationId xmlns:p14="http://schemas.microsoft.com/office/powerpoint/2010/main" val="3195819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5083" y="191210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33779" y="870389"/>
            <a:ext cx="4710223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/>
              <a:t> 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@Test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public   void  square3()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calculator.square</a:t>
            </a:r>
            <a:r>
              <a:rPr lang="en-US" altLang="zh-CN" b="1" dirty="0">
                <a:solidFill>
                  <a:schemeClr val="tx2"/>
                </a:solidFill>
              </a:rPr>
              <a:t>( - 3 );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( 9 , </a:t>
            </a:r>
            <a:r>
              <a:rPr lang="en-US" altLang="zh-CN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b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}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}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en-US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2" y="870390"/>
            <a:ext cx="4433777" cy="3693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67891"/>
            <a:r>
              <a:rPr lang="en-US" altLang="zh-CN" b="1" dirty="0">
                <a:solidFill>
                  <a:schemeClr val="tx2"/>
                </a:solidFill>
              </a:rPr>
              <a:t>@Test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public   void  square1()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calculator.square</a:t>
            </a:r>
            <a:r>
              <a:rPr lang="en-US" altLang="zh-CN" b="1" dirty="0">
                <a:solidFill>
                  <a:schemeClr val="tx2"/>
                </a:solidFill>
              </a:rPr>
              <a:t>( 2 );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( 4 , </a:t>
            </a:r>
            <a:r>
              <a:rPr lang="en-US" altLang="zh-CN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b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}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@Test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public   void  square2()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calculator.square</a:t>
            </a:r>
            <a:r>
              <a:rPr lang="en-US" altLang="zh-CN" b="1" dirty="0">
                <a:solidFill>
                  <a:schemeClr val="tx2"/>
                </a:solidFill>
              </a:rPr>
              <a:t>( 0 );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 </a:t>
            </a:r>
            <a:r>
              <a:rPr lang="en-US" altLang="zh-CN" b="1" dirty="0" err="1">
                <a:solidFill>
                  <a:schemeClr val="tx2"/>
                </a:solidFill>
              </a:rPr>
              <a:t>assertEquals</a:t>
            </a:r>
            <a:r>
              <a:rPr lang="en-US" altLang="zh-CN" b="1" dirty="0">
                <a:solidFill>
                  <a:schemeClr val="tx2"/>
                </a:solidFill>
              </a:rPr>
              <a:t>( 0 , </a:t>
            </a:r>
            <a:r>
              <a:rPr lang="en-US" altLang="zh-CN" b="1" dirty="0" err="1">
                <a:solidFill>
                  <a:schemeClr val="tx2"/>
                </a:solidFill>
              </a:rPr>
              <a:t>calculator.getResult</a:t>
            </a:r>
            <a:r>
              <a:rPr lang="en-US" altLang="zh-CN" b="1" dirty="0">
                <a:solidFill>
                  <a:schemeClr val="tx2"/>
                </a:solidFill>
              </a:rPr>
              <a:t>());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}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33778" y="3155631"/>
            <a:ext cx="25818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solidFill>
                  <a:srgbClr val="FF0000"/>
                </a:solidFill>
              </a:rPr>
              <a:t>可以用参数化来取代</a:t>
            </a:r>
          </a:p>
        </p:txBody>
      </p:sp>
    </p:spTree>
    <p:extLst>
      <p:ext uri="{BB962C8B-B14F-4D97-AF65-F5344CB8AC3E}">
        <p14:creationId xmlns:p14="http://schemas.microsoft.com/office/powerpoint/2010/main" val="1625505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0491" y="88519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921312"/>
            <a:ext cx="5440387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chemeClr val="tx2"/>
                </a:solidFill>
              </a:rPr>
              <a:t>import   static  </a:t>
            </a:r>
            <a:r>
              <a:rPr lang="en-US" altLang="zh-CN" sz="1500" b="1" dirty="0" err="1">
                <a:solidFill>
                  <a:schemeClr val="tx2"/>
                </a:solidFill>
              </a:rPr>
              <a:t>org.junit.Assert.assertEquals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org.junit.Test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org.junit.runner.RunWith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org.junit.runners.Parameterized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org.junit.runners.Parameterized.Parameters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java.util.Arrays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import  </a:t>
            </a:r>
            <a:r>
              <a:rPr lang="en-US" altLang="zh-CN" sz="1500" b="1" dirty="0" err="1">
                <a:solidFill>
                  <a:schemeClr val="tx2"/>
                </a:solidFill>
              </a:rPr>
              <a:t>java.util.Collection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@</a:t>
            </a:r>
            <a:r>
              <a:rPr lang="en-US" altLang="zh-CN" sz="1500" b="1" dirty="0" err="1">
                <a:solidFill>
                  <a:schemeClr val="tx2"/>
                </a:solidFill>
              </a:rPr>
              <a:t>RunWith</a:t>
            </a:r>
            <a:r>
              <a:rPr lang="en-US" altLang="zh-CN" sz="1500" b="1" dirty="0">
                <a:solidFill>
                  <a:schemeClr val="tx2"/>
                </a:solidFill>
              </a:rPr>
              <a:t>(Parameterized. class )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public   class  </a:t>
            </a:r>
            <a:r>
              <a:rPr lang="en-US" altLang="zh-CN" sz="1500" b="1" dirty="0" err="1">
                <a:solidFill>
                  <a:schemeClr val="tx2"/>
                </a:solidFill>
              </a:rPr>
              <a:t>SquareTest</a:t>
            </a:r>
            <a:r>
              <a:rPr lang="en-US" altLang="zh-CN" sz="1500" b="1" dirty="0">
                <a:solidFill>
                  <a:schemeClr val="tx2"/>
                </a:solidFill>
              </a:rPr>
              <a:t> 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private   static  Calculator </a:t>
            </a:r>
            <a:r>
              <a:rPr lang="en-US" altLang="zh-CN" sz="1500" b="1" dirty="0" err="1">
                <a:solidFill>
                  <a:schemeClr val="tx2"/>
                </a:solidFill>
              </a:rPr>
              <a:t>calculator</a:t>
            </a:r>
            <a:r>
              <a:rPr lang="en-US" altLang="zh-CN" sz="1500" b="1" dirty="0">
                <a:solidFill>
                  <a:schemeClr val="tx2"/>
                </a:solidFill>
              </a:rPr>
              <a:t>  =   new  Calculator();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private   int  param;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private   int  result;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@Parameters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 public   static  Collection data()  {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     return  </a:t>
            </a:r>
            <a:r>
              <a:rPr lang="en-US" altLang="zh-CN" sz="1500" b="1" dirty="0" err="1">
                <a:solidFill>
                  <a:srgbClr val="FF0000"/>
                </a:solidFill>
              </a:rPr>
              <a:t>Arrays.asList</a:t>
            </a:r>
            <a:r>
              <a:rPr lang="en-US" altLang="zh-CN" sz="1500" b="1" dirty="0">
                <a:solidFill>
                  <a:srgbClr val="FF0000"/>
                </a:solidFill>
              </a:rPr>
              <a:t>( new  Object[][] {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             { 2 ,  4 } ,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             { 0 ,  0 } ,</a:t>
            </a:r>
          </a:p>
        </p:txBody>
      </p:sp>
      <p:sp>
        <p:nvSpPr>
          <p:cNvPr id="5" name="矩形 4"/>
          <p:cNvSpPr/>
          <p:nvPr/>
        </p:nvSpPr>
        <p:spPr>
          <a:xfrm>
            <a:off x="5440387" y="919267"/>
            <a:ext cx="3703613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FF0000"/>
                </a:solidFill>
              </a:rPr>
              <a:t>                   {-3 ,  9 } ,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    } );</a:t>
            </a:r>
          </a:p>
          <a:p>
            <a:r>
              <a:rPr lang="en-US" altLang="zh-CN" sz="1500" b="1" dirty="0">
                <a:solidFill>
                  <a:srgbClr val="FF0000"/>
                </a:solidFill>
              </a:rPr>
              <a:t>      }</a:t>
            </a:r>
            <a:endParaRPr lang="zh-CN" altLang="en-US" sz="1500" b="1" dirty="0">
              <a:solidFill>
                <a:srgbClr val="FF0000"/>
              </a:solidFill>
            </a:endParaRPr>
          </a:p>
          <a:p>
            <a:endParaRPr lang="en-US" altLang="zh-CN" sz="1500" b="1" dirty="0"/>
          </a:p>
          <a:p>
            <a:r>
              <a:rPr lang="en-US" altLang="zh-CN" sz="1500" b="1" dirty="0">
                <a:solidFill>
                  <a:schemeClr val="tx2"/>
                </a:solidFill>
              </a:rPr>
              <a:t>// </a:t>
            </a:r>
            <a:r>
              <a:rPr lang="zh-CN" altLang="en-US" sz="1500" b="1" dirty="0"/>
              <a:t>构造函数</a:t>
            </a:r>
            <a:r>
              <a:rPr lang="zh-CN" altLang="en-US" sz="1500" b="1" dirty="0">
                <a:solidFill>
                  <a:schemeClr val="tx2"/>
                </a:solidFill>
              </a:rPr>
              <a:t>，对变量进行初始化 </a:t>
            </a:r>
          </a:p>
          <a:p>
            <a:r>
              <a:rPr lang="zh-CN" altLang="en-US" sz="1500" b="1" dirty="0">
                <a:solidFill>
                  <a:schemeClr val="tx2"/>
                </a:solidFill>
              </a:rPr>
              <a:t>       </a:t>
            </a:r>
            <a:r>
              <a:rPr lang="en-US" altLang="zh-CN" sz="1500" b="1" dirty="0">
                <a:solidFill>
                  <a:schemeClr val="tx2"/>
                </a:solidFill>
              </a:rPr>
              <a:t>public  void </a:t>
            </a:r>
            <a:r>
              <a:rPr lang="en-US" altLang="zh-CN" sz="1500" b="1" dirty="0" err="1">
                <a:solidFill>
                  <a:schemeClr val="tx2"/>
                </a:solidFill>
              </a:rPr>
              <a:t>SquareTest</a:t>
            </a:r>
            <a:r>
              <a:rPr lang="en-US" altLang="zh-CN" sz="1500" b="1" dirty="0">
                <a:solidFill>
                  <a:schemeClr val="tx2"/>
                </a:solidFill>
              </a:rPr>
              <a:t>( </a:t>
            </a:r>
            <a:r>
              <a:rPr lang="en-US" altLang="zh-CN" sz="1500" b="1" dirty="0" err="1">
                <a:solidFill>
                  <a:schemeClr val="tx2"/>
                </a:solidFill>
              </a:rPr>
              <a:t>int</a:t>
            </a:r>
            <a:r>
              <a:rPr lang="en-US" altLang="zh-CN" sz="1500" b="1" dirty="0">
                <a:solidFill>
                  <a:schemeClr val="tx2"/>
                </a:solidFill>
              </a:rPr>
              <a:t>  </a:t>
            </a:r>
            <a:r>
              <a:rPr lang="en-US" altLang="zh-CN" sz="1500" b="1" dirty="0" err="1">
                <a:solidFill>
                  <a:schemeClr val="tx2"/>
                </a:solidFill>
              </a:rPr>
              <a:t>param</a:t>
            </a:r>
            <a:r>
              <a:rPr lang="en-US" altLang="zh-CN" sz="1500" b="1" dirty="0">
                <a:solidFill>
                  <a:schemeClr val="tx2"/>
                </a:solidFill>
              </a:rPr>
              <a:t>,  </a:t>
            </a:r>
            <a:r>
              <a:rPr lang="en-US" altLang="zh-CN" sz="1500" b="1" dirty="0" err="1">
                <a:solidFill>
                  <a:schemeClr val="tx2"/>
                </a:solidFill>
              </a:rPr>
              <a:t>int</a:t>
            </a:r>
            <a:r>
              <a:rPr lang="en-US" altLang="zh-CN" sz="1500" b="1" dirty="0">
                <a:solidFill>
                  <a:schemeClr val="tx2"/>
                </a:solidFill>
              </a:rPr>
              <a:t>  result) 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   this .</a:t>
            </a:r>
            <a:r>
              <a:rPr lang="en-US" altLang="zh-CN" sz="1500" b="1" dirty="0" err="1">
                <a:solidFill>
                  <a:schemeClr val="tx2"/>
                </a:solidFill>
              </a:rPr>
              <a:t>param</a:t>
            </a:r>
            <a:r>
              <a:rPr lang="en-US" altLang="zh-CN" sz="1500" b="1" dirty="0">
                <a:solidFill>
                  <a:schemeClr val="tx2"/>
                </a:solidFill>
              </a:rPr>
              <a:t>=</a:t>
            </a:r>
            <a:r>
              <a:rPr lang="en-US" altLang="zh-CN" sz="1500" b="1" dirty="0" err="1">
                <a:solidFill>
                  <a:schemeClr val="tx2"/>
                </a:solidFill>
              </a:rPr>
              <a:t>param</a:t>
            </a:r>
            <a:r>
              <a:rPr lang="en-US" altLang="zh-CN" sz="1500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   this .result =result;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} 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@Test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public   void  square()  {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    </a:t>
            </a:r>
            <a:r>
              <a:rPr lang="en-US" altLang="zh-CN" sz="1500" b="1" dirty="0" err="1">
                <a:solidFill>
                  <a:schemeClr val="tx2"/>
                </a:solidFill>
              </a:rPr>
              <a:t>calculator.square</a:t>
            </a:r>
            <a:r>
              <a:rPr lang="en-US" altLang="zh-CN" sz="1500" b="1" dirty="0">
                <a:solidFill>
                  <a:schemeClr val="tx2"/>
                </a:solidFill>
              </a:rPr>
              <a:t>(</a:t>
            </a:r>
            <a:r>
              <a:rPr lang="en-US" altLang="zh-CN" sz="1500" b="1" dirty="0" err="1">
                <a:solidFill>
                  <a:schemeClr val="tx2"/>
                </a:solidFill>
              </a:rPr>
              <a:t>param</a:t>
            </a:r>
            <a:r>
              <a:rPr lang="en-US" altLang="zh-CN" sz="1500" b="1" dirty="0"/>
              <a:t>);</a:t>
            </a:r>
          </a:p>
          <a:p>
            <a:r>
              <a:rPr lang="en-US" altLang="zh-CN" sz="1500" b="1" dirty="0"/>
              <a:t>          </a:t>
            </a:r>
            <a:r>
              <a:rPr lang="en-US" altLang="zh-CN" sz="1500" b="1" dirty="0" err="1">
                <a:solidFill>
                  <a:schemeClr val="tx2"/>
                </a:solidFill>
              </a:rPr>
              <a:t>assertEquals</a:t>
            </a:r>
            <a:r>
              <a:rPr lang="en-US" altLang="zh-CN" sz="1500" b="1" dirty="0">
                <a:solidFill>
                  <a:srgbClr val="7030A0"/>
                </a:solidFill>
              </a:rPr>
              <a:t>(</a:t>
            </a:r>
            <a:r>
              <a:rPr lang="en-US" altLang="zh-CN" sz="1500" b="1" dirty="0" err="1">
                <a:solidFill>
                  <a:srgbClr val="7030A0"/>
                </a:solidFill>
              </a:rPr>
              <a:t>result,calculator.getResult</a:t>
            </a:r>
            <a:r>
              <a:rPr lang="en-US" altLang="zh-CN" sz="1500" b="1" dirty="0">
                <a:solidFill>
                  <a:srgbClr val="7030A0"/>
                </a:solidFill>
              </a:rPr>
              <a:t>()</a:t>
            </a:r>
            <a:r>
              <a:rPr lang="en-US" altLang="zh-CN" sz="1500" b="1" dirty="0"/>
              <a:t>);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    } </a:t>
            </a:r>
          </a:p>
          <a:p>
            <a:r>
              <a:rPr lang="en-US" altLang="zh-CN" sz="1500" b="1" dirty="0">
                <a:solidFill>
                  <a:schemeClr val="tx2"/>
                </a:solidFill>
              </a:rPr>
              <a:t>  } </a:t>
            </a:r>
          </a:p>
          <a:p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6836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447" y="212803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786331"/>
            <a:ext cx="9144000" cy="52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b="1" dirty="0"/>
              <a:t>打包测试</a:t>
            </a:r>
            <a:endParaRPr lang="en-US" altLang="zh-CN" sz="2100" b="1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97282" y="1521963"/>
            <a:ext cx="4210493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 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org.junit.runner.RunWith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import  </a:t>
            </a:r>
            <a:r>
              <a:rPr lang="en-US" altLang="zh-CN" b="1" dirty="0" err="1">
                <a:solidFill>
                  <a:schemeClr val="tx2"/>
                </a:solidFill>
              </a:rPr>
              <a:t>org.junit.runners.Suite</a:t>
            </a:r>
            <a:r>
              <a:rPr lang="en-US" altLang="zh-CN" b="1" dirty="0">
                <a:solidFill>
                  <a:schemeClr val="tx2"/>
                </a:solidFill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@</a:t>
            </a:r>
            <a:r>
              <a:rPr lang="en-US" altLang="zh-CN" b="1" dirty="0" err="1">
                <a:solidFill>
                  <a:schemeClr val="tx2"/>
                </a:solidFill>
              </a:rPr>
              <a:t>RunWith</a:t>
            </a:r>
            <a:r>
              <a:rPr lang="en-US" altLang="zh-CN" b="1" dirty="0">
                <a:solidFill>
                  <a:schemeClr val="tx2"/>
                </a:solidFill>
              </a:rPr>
              <a:t>(Suite. class )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@</a:t>
            </a:r>
            <a:r>
              <a:rPr lang="en-US" altLang="zh-CN" b="1" dirty="0" err="1">
                <a:solidFill>
                  <a:schemeClr val="tx2"/>
                </a:solidFill>
              </a:rPr>
              <a:t>Suite.SuiteClasses</a:t>
            </a:r>
            <a:r>
              <a:rPr lang="en-US" altLang="zh-CN" b="1" dirty="0">
                <a:solidFill>
                  <a:schemeClr val="tx2"/>
                </a:solidFill>
              </a:rPr>
              <a:t>(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</a:t>
            </a:r>
            <a:r>
              <a:rPr lang="en-US" altLang="zh-CN" b="1" dirty="0" err="1">
                <a:solidFill>
                  <a:schemeClr val="tx2"/>
                </a:solidFill>
              </a:rPr>
              <a:t>CalculatorTest</a:t>
            </a:r>
            <a:r>
              <a:rPr lang="en-US" altLang="zh-CN" b="1" dirty="0">
                <a:solidFill>
                  <a:schemeClr val="tx2"/>
                </a:solidFill>
              </a:rPr>
              <a:t>. class ,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</a:t>
            </a:r>
            <a:r>
              <a:rPr lang="en-US" altLang="zh-CN" b="1" dirty="0" err="1">
                <a:solidFill>
                  <a:schemeClr val="tx2"/>
                </a:solidFill>
              </a:rPr>
              <a:t>SquareTest</a:t>
            </a:r>
            <a:r>
              <a:rPr lang="en-US" altLang="zh-CN" b="1" dirty="0">
                <a:solidFill>
                  <a:schemeClr val="tx2"/>
                </a:solidFill>
              </a:rPr>
              <a:t>. class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        } )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public   class  </a:t>
            </a:r>
            <a:r>
              <a:rPr lang="en-US" altLang="zh-CN" b="1" dirty="0" err="1">
                <a:solidFill>
                  <a:schemeClr val="tx2"/>
                </a:solidFill>
              </a:rPr>
              <a:t>AllCalculatorTests</a:t>
            </a:r>
            <a:r>
              <a:rPr lang="en-US" altLang="zh-CN" b="1" dirty="0">
                <a:solidFill>
                  <a:schemeClr val="tx2"/>
                </a:solidFill>
              </a:rPr>
              <a:t>  {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4135008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0491" y="88519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68580" y="916343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151" indent="476" algn="just"/>
            <a:r>
              <a:rPr lang="en-US" altLang="zh-CN" sz="1650" b="1" kern="1050" dirty="0"/>
              <a:t>1</a:t>
            </a:r>
            <a:r>
              <a:rPr lang="zh-CN" altLang="zh-CN" sz="1650" b="1" kern="1050" dirty="0"/>
              <a:t>，</a:t>
            </a:r>
            <a:r>
              <a:rPr lang="en-US" altLang="zh-CN" sz="1650" b="1" kern="1050" dirty="0" err="1"/>
              <a:t>assertEquals</a:t>
            </a:r>
            <a:r>
              <a:rPr lang="en-US" altLang="zh-CN" sz="1650" b="1" kern="1050" dirty="0"/>
              <a:t>([String message],</a:t>
            </a:r>
            <a:r>
              <a:rPr lang="en-US" altLang="zh-CN" sz="1650" b="1" kern="1050" dirty="0" err="1"/>
              <a:t>expected,actual</a:t>
            </a:r>
            <a:r>
              <a:rPr lang="en-US" altLang="zh-CN" sz="1650" b="1" kern="1050" dirty="0"/>
              <a:t>)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</a:t>
            </a:r>
            <a:r>
              <a:rPr lang="zh-CN" altLang="zh-CN" sz="1650" b="1" kern="1050" dirty="0"/>
              <a:t>：可选，假如提供，将会在发生错误时报告这个消息</a:t>
            </a:r>
          </a:p>
          <a:p>
            <a:pPr marL="67151" indent="476" algn="just"/>
            <a:r>
              <a:rPr lang="en-US" altLang="zh-CN" sz="1650" b="1" kern="1050" dirty="0"/>
              <a:t>expected</a:t>
            </a:r>
            <a:r>
              <a:rPr lang="zh-CN" altLang="zh-CN" sz="1650" b="1" kern="1050" dirty="0"/>
              <a:t>：是期望值，通常都是用户指定的内容。</a:t>
            </a:r>
            <a:r>
              <a:rPr lang="en-US" altLang="zh-CN" sz="1650" b="1" kern="1050" dirty="0"/>
              <a:t> 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actual</a:t>
            </a:r>
            <a:r>
              <a:rPr lang="zh-CN" altLang="zh-CN" sz="1650" b="1" kern="1050" dirty="0"/>
              <a:t>：是被测试的代码返回的实际值。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 err="1"/>
              <a:t>assertEquals</a:t>
            </a:r>
            <a:r>
              <a:rPr lang="en-US" altLang="zh-CN" sz="1650" b="1" kern="1050" dirty="0"/>
              <a:t>("equals","1","1");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2</a:t>
            </a:r>
            <a:r>
              <a:rPr lang="zh-CN" altLang="zh-CN" sz="1650" b="1" kern="1050" dirty="0"/>
              <a:t>，</a:t>
            </a:r>
            <a:r>
              <a:rPr lang="en-US" altLang="zh-CN" sz="1650" b="1" kern="1050" dirty="0" err="1"/>
              <a:t>assertEquals</a:t>
            </a:r>
            <a:r>
              <a:rPr lang="en-US" altLang="zh-CN" sz="1650" b="1" kern="1050" dirty="0"/>
              <a:t>([String message],</a:t>
            </a:r>
            <a:r>
              <a:rPr lang="en-US" altLang="zh-CN" sz="1650" b="1" kern="1050" dirty="0" err="1"/>
              <a:t>expected,actual,tolerance</a:t>
            </a:r>
            <a:r>
              <a:rPr lang="en-US" altLang="zh-CN" sz="1650" b="1" kern="1050" dirty="0"/>
              <a:t>)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</a:t>
            </a:r>
            <a:r>
              <a:rPr lang="zh-CN" altLang="zh-CN" sz="1650" b="1" kern="1050" dirty="0"/>
              <a:t>：是个可选的消息，假如提供，将会在发生错误时报告这个消息。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expected</a:t>
            </a:r>
            <a:r>
              <a:rPr lang="zh-CN" altLang="zh-CN" sz="1650" b="1" kern="1050" dirty="0"/>
              <a:t>：是期望值，通常都是用户指定的内容。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 err="1"/>
              <a:t>actua</a:t>
            </a:r>
            <a:r>
              <a:rPr lang="zh-CN" altLang="zh-CN" sz="1650" b="1" kern="1050" dirty="0"/>
              <a:t>：是被测试的代码返回的实际值。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 err="1"/>
              <a:t>toleranc</a:t>
            </a:r>
            <a:r>
              <a:rPr lang="zh-CN" altLang="zh-CN" sz="1650" b="1" kern="1050" dirty="0"/>
              <a:t>：是误差参数，参加比较的两个浮点数在这个误差之内则会被认为是相等的。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 err="1"/>
              <a:t>assertEquals</a:t>
            </a:r>
            <a:r>
              <a:rPr lang="en-US" altLang="zh-CN" sz="1650" b="1" kern="1050" dirty="0"/>
              <a:t> ("yes",6.6,13.0/2.0,0.5);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3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 err="1"/>
              <a:t>assertTrue</a:t>
            </a:r>
            <a:r>
              <a:rPr lang="en-US" altLang="zh-CN" sz="1650" b="1" kern="1050" dirty="0"/>
              <a:t> ([String message],Boolean condition)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condition:</a:t>
            </a:r>
            <a:r>
              <a:rPr lang="zh-CN" altLang="zh-CN" sz="1650" b="1" kern="1050" dirty="0"/>
              <a:t>是待验证的布尔型值。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该断言用来验证给定的布尔型值是否为真，假如结果为假，则验证失败。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/>
              <a:t> </a:t>
            </a:r>
            <a:r>
              <a:rPr lang="en-US" altLang="zh-CN" sz="1650" b="1" kern="1050" dirty="0" err="1"/>
              <a:t>assertTrue</a:t>
            </a:r>
            <a:r>
              <a:rPr lang="en-US" altLang="zh-CN" sz="1650" b="1" kern="1050" dirty="0"/>
              <a:t>("true",0==0);</a:t>
            </a:r>
            <a:endParaRPr lang="zh-CN" altLang="zh-CN" sz="1650" b="1" kern="1050" dirty="0"/>
          </a:p>
        </p:txBody>
      </p:sp>
    </p:spTree>
    <p:extLst>
      <p:ext uri="{BB962C8B-B14F-4D97-AF65-F5344CB8AC3E}">
        <p14:creationId xmlns:p14="http://schemas.microsoft.com/office/powerpoint/2010/main" val="1240889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0491" y="88519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JUnit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91440" y="916343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151" indent="476" algn="just"/>
            <a:r>
              <a:rPr lang="en-US" altLang="zh-CN" sz="1650" b="1" kern="1050" dirty="0"/>
              <a:t>4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 err="1"/>
              <a:t>assertFalse</a:t>
            </a:r>
            <a:r>
              <a:rPr lang="en-US" altLang="zh-CN" sz="1650" b="1" kern="1050" dirty="0"/>
              <a:t>([String message],Boolean condition)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condition:</a:t>
            </a:r>
            <a:r>
              <a:rPr lang="zh-CN" altLang="zh-CN" sz="1650" b="1" kern="1050" dirty="0"/>
              <a:t>是待验证的布尔型值。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该断言用来验证给定的布尔型值是否为假，假如结果为真，则验证失败。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/>
              <a:t> </a:t>
            </a:r>
            <a:r>
              <a:rPr lang="en-US" altLang="zh-CN" sz="1650" b="1" kern="1050" dirty="0" err="1"/>
              <a:t>assertFalse</a:t>
            </a:r>
            <a:r>
              <a:rPr lang="en-US" altLang="zh-CN" sz="1650" b="1" kern="1050" dirty="0"/>
              <a:t>("false",4==5);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5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 err="1"/>
              <a:t>assertNull</a:t>
            </a:r>
            <a:r>
              <a:rPr lang="en-US" altLang="zh-CN" sz="1650" b="1" kern="1050" dirty="0"/>
              <a:t>([String message],Object object) 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 </a:t>
            </a:r>
          </a:p>
          <a:p>
            <a:pPr marL="67151" indent="476" algn="just"/>
            <a:r>
              <a:rPr lang="en-US" altLang="zh-CN" sz="1650" b="1" kern="1050" dirty="0"/>
              <a:t>object:</a:t>
            </a:r>
            <a:r>
              <a:rPr lang="zh-CN" altLang="zh-CN" sz="1650" b="1" kern="1050" dirty="0"/>
              <a:t>是待验证的对象。 </a:t>
            </a:r>
          </a:p>
          <a:p>
            <a:pPr marL="67151" indent="476" algn="just"/>
            <a:r>
              <a:rPr lang="zh-CN" altLang="zh-CN" sz="1650" b="1" kern="1050" dirty="0"/>
              <a:t>该断言用来验证给定的对象是否为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，假如不为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，则验证失败。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 err="1"/>
              <a:t>assertNull</a:t>
            </a:r>
            <a:r>
              <a:rPr lang="en-US" altLang="zh-CN" sz="1650" b="1" kern="1050" dirty="0"/>
              <a:t>("</a:t>
            </a:r>
            <a:r>
              <a:rPr lang="en-US" altLang="zh-CN" sz="1650" b="1" kern="1050" dirty="0" err="1"/>
              <a:t>null",null</a:t>
            </a:r>
            <a:r>
              <a:rPr lang="en-US" altLang="zh-CN" sz="1650" b="1" kern="1050" dirty="0"/>
              <a:t>); 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6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 err="1"/>
              <a:t>assertNotNull</a:t>
            </a:r>
            <a:r>
              <a:rPr lang="en-US" altLang="zh-CN" sz="1650" b="1" kern="1050" dirty="0"/>
              <a:t>([String message],Object object) 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 </a:t>
            </a:r>
          </a:p>
          <a:p>
            <a:pPr marL="67151" indent="476" algn="just"/>
            <a:r>
              <a:rPr lang="en-US" altLang="zh-CN" sz="1650" b="1" kern="1050" dirty="0"/>
              <a:t>object:</a:t>
            </a:r>
            <a:r>
              <a:rPr lang="zh-CN" altLang="zh-CN" sz="1650" b="1" kern="1050" dirty="0"/>
              <a:t>是待验证的对象。 </a:t>
            </a:r>
          </a:p>
          <a:p>
            <a:pPr marL="67151" indent="476" algn="just"/>
            <a:r>
              <a:rPr lang="zh-CN" altLang="zh-CN" sz="1650" b="1" kern="1050" dirty="0"/>
              <a:t>该断言用来验证给定的对象是否为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，假如不为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，则验证失败。</a:t>
            </a:r>
          </a:p>
          <a:p>
            <a:pPr marL="67151" indent="476" algn="just"/>
            <a:r>
              <a:rPr lang="zh-CN" altLang="zh-CN" sz="1650" b="1" kern="1050" dirty="0"/>
              <a:t>该断言用来验证给定的对象是否为非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，假如为</a:t>
            </a:r>
            <a:r>
              <a:rPr lang="en-US" altLang="zh-CN" sz="1650" b="1" kern="1050" dirty="0"/>
              <a:t>null</a:t>
            </a:r>
            <a:r>
              <a:rPr lang="zh-CN" altLang="zh-CN" sz="1650" b="1" kern="1050" dirty="0"/>
              <a:t>，则验证失败。 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 err="1"/>
              <a:t>assertNotNull</a:t>
            </a:r>
            <a:r>
              <a:rPr lang="en-US" altLang="zh-CN" sz="1650" b="1" kern="1050" dirty="0"/>
              <a:t>("not </a:t>
            </a:r>
            <a:r>
              <a:rPr lang="en-US" altLang="zh-CN" sz="1650" b="1" kern="1050" dirty="0" err="1"/>
              <a:t>null",new</a:t>
            </a:r>
            <a:r>
              <a:rPr lang="en-US" altLang="zh-CN" sz="1650" b="1" kern="1050" dirty="0"/>
              <a:t> String()); </a:t>
            </a:r>
            <a:endParaRPr lang="zh-CN" altLang="zh-CN" sz="1650" b="1" kern="1050" dirty="0"/>
          </a:p>
        </p:txBody>
      </p:sp>
    </p:spTree>
    <p:extLst>
      <p:ext uri="{BB962C8B-B14F-4D97-AF65-F5344CB8AC3E}">
        <p14:creationId xmlns:p14="http://schemas.microsoft.com/office/powerpoint/2010/main" val="908813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0491" y="88519"/>
            <a:ext cx="6172200" cy="5735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JUnit</a:t>
            </a:r>
            <a:endParaRPr lang="en-US" altLang="zh-CN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83820" y="840143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151" indent="476" algn="just"/>
            <a:r>
              <a:rPr lang="en-US" altLang="zh-CN" sz="1650" b="1" kern="1050" dirty="0"/>
              <a:t>7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 err="1"/>
              <a:t>assertSame</a:t>
            </a:r>
            <a:r>
              <a:rPr lang="en-US" altLang="zh-CN" sz="1650" b="1" kern="1050" dirty="0"/>
              <a:t> ([String message], </a:t>
            </a:r>
            <a:r>
              <a:rPr lang="en-US" altLang="zh-CN" sz="1650" b="1" kern="1050" dirty="0" err="1"/>
              <a:t>expected,actual</a:t>
            </a:r>
            <a:r>
              <a:rPr lang="en-US" altLang="zh-CN" sz="1650" b="1" kern="1050" dirty="0"/>
              <a:t>)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expected:</a:t>
            </a:r>
            <a:r>
              <a:rPr lang="zh-CN" altLang="zh-CN" sz="1650" b="1" kern="1050" dirty="0"/>
              <a:t>是期望值。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actual:</a:t>
            </a:r>
            <a:r>
              <a:rPr lang="zh-CN" altLang="zh-CN" sz="1650" b="1" kern="1050" dirty="0"/>
              <a:t>是被测试的代码返回的实际值。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该断言用来验证</a:t>
            </a:r>
            <a:r>
              <a:rPr lang="en-US" altLang="zh-CN" sz="1650" b="1" kern="1050" dirty="0"/>
              <a:t>expected</a:t>
            </a:r>
            <a:r>
              <a:rPr lang="zh-CN" altLang="zh-CN" sz="1650" b="1" kern="1050" dirty="0"/>
              <a:t>参数和</a:t>
            </a:r>
            <a:r>
              <a:rPr lang="en-US" altLang="zh-CN" sz="1650" b="1" kern="1050" dirty="0"/>
              <a:t>actual</a:t>
            </a:r>
            <a:r>
              <a:rPr lang="zh-CN" altLang="zh-CN" sz="1650" b="1" kern="1050" dirty="0"/>
              <a:t>参数所引用的是否是同一个对象，假如不是，则验证失败。</a:t>
            </a:r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 err="1"/>
              <a:t>assertSame</a:t>
            </a:r>
            <a:r>
              <a:rPr lang="en-US" altLang="zh-CN" sz="1650" b="1" kern="1050" dirty="0"/>
              <a:t>("same",6,3+3);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8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/>
              <a:t>assertNotSame ([String message], </a:t>
            </a:r>
            <a:r>
              <a:rPr lang="en-US" altLang="zh-CN" sz="1650" b="1" kern="1050" dirty="0" err="1"/>
              <a:t>expected,actual</a:t>
            </a:r>
            <a:r>
              <a:rPr lang="en-US" altLang="zh-CN" sz="1650" b="1" kern="1050" dirty="0"/>
              <a:t>)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message:</a:t>
            </a:r>
            <a:r>
              <a:rPr lang="zh-CN" altLang="zh-CN" sz="1650" b="1" kern="1050" dirty="0"/>
              <a:t>是个可选的消息，假如提供，将会在发生错误时报告这个消息。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expected:</a:t>
            </a:r>
            <a:r>
              <a:rPr lang="zh-CN" altLang="zh-CN" sz="1650" b="1" kern="1050" dirty="0"/>
              <a:t>是期望值。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actual:</a:t>
            </a:r>
            <a:r>
              <a:rPr lang="zh-CN" altLang="zh-CN" sz="1650" b="1" kern="1050" dirty="0"/>
              <a:t>是被测试的代码返回的实际值。</a:t>
            </a:r>
          </a:p>
          <a:p>
            <a:pPr marL="67151" indent="476" algn="just"/>
            <a:r>
              <a:rPr lang="zh-CN" altLang="zh-CN" sz="1650" b="1" kern="1050" dirty="0"/>
              <a:t>该断言用来验证</a:t>
            </a:r>
            <a:r>
              <a:rPr lang="en-US" altLang="zh-CN" sz="1650" b="1" kern="1050" dirty="0"/>
              <a:t>expected</a:t>
            </a:r>
            <a:r>
              <a:rPr lang="zh-CN" altLang="zh-CN" sz="1650" b="1" kern="1050" dirty="0"/>
              <a:t>参数和</a:t>
            </a:r>
            <a:r>
              <a:rPr lang="en-US" altLang="zh-CN" sz="1650" b="1" kern="1050" dirty="0"/>
              <a:t>actual</a:t>
            </a:r>
            <a:r>
              <a:rPr lang="zh-CN" altLang="zh-CN" sz="1650" b="1" kern="1050" dirty="0"/>
              <a:t>参数所引用的是否是不同对象，假如所引用的对象相同，则验证失败。</a:t>
            </a:r>
            <a:r>
              <a:rPr lang="en-US" altLang="zh-CN" sz="1650" b="1" kern="1050" dirty="0"/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例：</a:t>
            </a:r>
            <a:r>
              <a:rPr lang="en-US" altLang="zh-CN" sz="1650" b="1" kern="1050" dirty="0"/>
              <a:t>assertNotSame("not same",5,4+2);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/>
              <a:t>9</a:t>
            </a:r>
            <a:r>
              <a:rPr lang="zh-CN" altLang="zh-CN" sz="1650" b="1" kern="1050" dirty="0">
                <a:cs typeface="Helvetica" panose="020B0604020202020204" pitchFamily="34" charset="0"/>
              </a:rPr>
              <a:t>，</a:t>
            </a:r>
            <a:r>
              <a:rPr lang="en-US" altLang="zh-CN" sz="1650" b="1" kern="1050" dirty="0">
                <a:cs typeface="Helvetica" panose="020B0604020202020204" pitchFamily="34" charset="0"/>
              </a:rPr>
              <a:t>fail([String message]) </a:t>
            </a:r>
            <a:endParaRPr lang="zh-CN" altLang="zh-CN" sz="1650" b="1" kern="1050" dirty="0"/>
          </a:p>
          <a:p>
            <a:pPr marL="67151" indent="476" algn="just"/>
            <a:r>
              <a:rPr lang="en-US" altLang="zh-CN" sz="1650" b="1" kern="1050" dirty="0">
                <a:cs typeface="Helvetica" panose="020B0604020202020204" pitchFamily="34" charset="0"/>
              </a:rPr>
              <a:t>message</a:t>
            </a:r>
            <a:r>
              <a:rPr lang="zh-CN" altLang="zh-CN" sz="1650" b="1" kern="1050" dirty="0">
                <a:cs typeface="Helvetica" panose="020B0604020202020204" pitchFamily="34" charset="0"/>
              </a:rPr>
              <a:t>是个可选的消息，假如提供，将会在发生错误时报告这个消息。</a:t>
            </a:r>
            <a:r>
              <a:rPr lang="en-US" altLang="zh-CN" sz="1650" b="1" kern="1050" dirty="0">
                <a:cs typeface="Helvetica" panose="020B0604020202020204" pitchFamily="34" charset="0"/>
              </a:rPr>
              <a:t> </a:t>
            </a:r>
            <a:endParaRPr lang="zh-CN" altLang="zh-CN" sz="1650" b="1" kern="1050" dirty="0"/>
          </a:p>
          <a:p>
            <a:pPr marL="67151" indent="476" algn="just"/>
            <a:r>
              <a:rPr lang="zh-CN" altLang="zh-CN" sz="1650" b="1" kern="1050" dirty="0"/>
              <a:t>该断言会使测试立即失败，通常用在测试不能达到的分支上（如异常）。</a:t>
            </a:r>
          </a:p>
        </p:txBody>
      </p:sp>
    </p:spTree>
    <p:extLst>
      <p:ext uri="{BB962C8B-B14F-4D97-AF65-F5344CB8AC3E}">
        <p14:creationId xmlns:p14="http://schemas.microsoft.com/office/powerpoint/2010/main" val="2345232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189773" y="1527900"/>
            <a:ext cx="652038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Mock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</a:p>
        </p:txBody>
      </p:sp>
      <p:pic>
        <p:nvPicPr>
          <p:cNvPr id="3074" name="Picture 2" descr="查看源图像">
            <a:extLst>
              <a:ext uri="{FF2B5EF4-FFF2-40B4-BE49-F238E27FC236}">
                <a16:creationId xmlns:a16="http://schemas.microsoft.com/office/drawing/2014/main" id="{BAE45764-7D1F-496D-7F74-66D1F55DE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731" y="2571750"/>
            <a:ext cx="3784600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5395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9B350-1D28-44D5-816A-4462CB31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模拟对象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380EA-D70A-17A1-9A94-8E525B1A6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762" y="743658"/>
            <a:ext cx="8122150" cy="4093540"/>
          </a:xfrm>
        </p:spPr>
        <p:txBody>
          <a:bodyPr>
            <a:noAutofit/>
          </a:bodyPr>
          <a:lstStyle/>
          <a:p>
            <a:pPr indent="0" algn="just">
              <a:lnSpc>
                <a:spcPct val="160000"/>
              </a:lnSpc>
              <a:buNone/>
            </a:pP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模拟对象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Mock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在某种程度上是游戏的改变者，</a:t>
            </a:r>
            <a:r>
              <a:rPr lang="zh-CN" altLang="zh-CN" sz="2000" b="1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因为它们将测试的焦点从状态转换到行为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。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像</a:t>
            </a:r>
            <a:r>
              <a:rPr lang="zh-CN" altLang="en-US" sz="2000" kern="1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传统的桩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会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聚焦于状态的测试以断言</a:t>
            </a:r>
            <a:r>
              <a:rPr lang="en-US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(assertion)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结束，该断言会核对返回值或以某种方式查询被测对象的状态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（属性）。而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基于行为的测试是完全不同的，</a:t>
            </a:r>
            <a:r>
              <a:rPr lang="zh-CN" altLang="en-US" sz="2000" kern="1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能够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验证模拟对象和被测代码或另一协作者之间特定的</a:t>
            </a:r>
            <a:r>
              <a:rPr lang="zh-CN" altLang="zh-CN" sz="2000" b="1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交互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(interaction)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行为，会关注被测对象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是否被调用</a:t>
            </a:r>
            <a:r>
              <a:rPr lang="zh-CN" altLang="en-US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调用了多少次以及是否查询了</a:t>
            </a:r>
            <a:r>
              <a:rPr lang="en-US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</a:t>
            </a:r>
            <a:r>
              <a:rPr lang="zh-CN" altLang="zh-CN" sz="2000" kern="100" dirty="0">
                <a:effectLst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属性。</a:t>
            </a:r>
          </a:p>
          <a:p>
            <a:pPr>
              <a:lnSpc>
                <a:spcPct val="130000"/>
              </a:lnSpc>
            </a:pP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3820700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2DA07-CE19-4C9B-A0EC-06D3955056CF}" type="slidenum">
              <a:rPr lang="en-US" altLang="zh-CN" smtClean="0"/>
              <a:pPr/>
              <a:t>45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4118" y="211548"/>
            <a:ext cx="6240756" cy="561975"/>
          </a:xfrm>
        </p:spPr>
        <p:txBody>
          <a:bodyPr/>
          <a:lstStyle/>
          <a:p>
            <a:r>
              <a:rPr lang="en-US" altLang="zh-CN" b="1" dirty="0"/>
              <a:t>Mock</a:t>
            </a:r>
            <a:r>
              <a:rPr lang="zh-CN" altLang="en-US" b="1" dirty="0"/>
              <a:t> </a:t>
            </a:r>
            <a:r>
              <a:rPr lang="en-US" altLang="zh-CN" b="1" dirty="0"/>
              <a:t>vs.</a:t>
            </a:r>
            <a:r>
              <a:rPr lang="zh-CN" altLang="en-US" b="1" dirty="0"/>
              <a:t> </a:t>
            </a:r>
            <a:r>
              <a:rPr lang="en-US" altLang="zh-CN" b="1" dirty="0"/>
              <a:t>Stub</a:t>
            </a:r>
            <a:endParaRPr lang="zh-CN" altLang="en-US" b="1" dirty="0"/>
          </a:p>
        </p:txBody>
      </p:sp>
      <p:pic>
        <p:nvPicPr>
          <p:cNvPr id="6" name="图片 5" descr="屏幕快照 2014-10-18 下午11.40.2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18" y="874240"/>
            <a:ext cx="7293908" cy="366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07792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6972" y="570115"/>
            <a:ext cx="7128792" cy="628650"/>
          </a:xfrm>
        </p:spPr>
        <p:txBody>
          <a:bodyPr/>
          <a:lstStyle/>
          <a:p>
            <a:r>
              <a:rPr lang="en-US" altLang="zh-CN" dirty="0"/>
              <a:t>Stub</a:t>
            </a:r>
            <a:r>
              <a:rPr lang="zh-CN" altLang="en-US" dirty="0"/>
              <a:t>和</a:t>
            </a:r>
            <a:r>
              <a:rPr lang="en-US" altLang="zh-CN" dirty="0"/>
              <a:t>mock</a:t>
            </a:r>
            <a:r>
              <a:rPr lang="zh-CN" altLang="en-US" dirty="0"/>
              <a:t>小结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278180" y="1347614"/>
            <a:ext cx="8424936" cy="3056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>
              <a:lnSpc>
                <a:spcPct val="140000"/>
              </a:lnSpc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Stub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最弱，只是参与测试，为了让测试跑起来</a:t>
            </a:r>
            <a:endParaRPr lang="en-US" altLang="zh-CN" sz="2000" i="0" dirty="0">
              <a:latin typeface="Yuanti SC" panose="02010600040101010101" pitchFamily="2" charset="-122"/>
              <a:ea typeface="Yuanti SC" panose="02010600040101010101" pitchFamily="2" charset="-122"/>
              <a:cs typeface="楷体"/>
            </a:endParaRPr>
          </a:p>
          <a:p>
            <a:pPr marL="266700" indent="-266700">
              <a:lnSpc>
                <a:spcPct val="140000"/>
              </a:lnSpc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Dummy/Spy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 强些，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Test Spy 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参与测试，还要验证产生的某种结果。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Dummy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是简单、原始的测试替身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,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 如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Dummy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 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server,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 给它不同的输出会有不同的相应，但其内部没有实质计算，是接口或基类的衍生</a:t>
            </a:r>
            <a:endParaRPr lang="en-US" altLang="zh-CN" sz="2000" i="0" dirty="0">
              <a:latin typeface="Yuanti SC" panose="02010600040101010101" pitchFamily="2" charset="-122"/>
              <a:ea typeface="Yuanti SC" panose="02010600040101010101" pitchFamily="2" charset="-122"/>
              <a:cs typeface="楷体"/>
            </a:endParaRPr>
          </a:p>
          <a:p>
            <a:pPr marL="266700" indent="-266700">
              <a:lnSpc>
                <a:spcPct val="140000"/>
              </a:lnSpc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Mock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更强，要求如何参与，且比较灵活，视情况而定，其行为可能会像 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Dummy 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、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Stub 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或 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Spy </a:t>
            </a:r>
          </a:p>
          <a:p>
            <a:pPr marL="266700" indent="-266700">
              <a:lnSpc>
                <a:spcPct val="140000"/>
              </a:lnSpc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够用就行，如果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Stub</a:t>
            </a:r>
            <a:r>
              <a:rPr lang="zh-CN" altLang="en-US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够用，就不要用</a:t>
            </a:r>
            <a:r>
              <a:rPr lang="en-US" altLang="zh-CN" sz="2000" i="0" dirty="0">
                <a:latin typeface="Yuanti SC" panose="02010600040101010101" pitchFamily="2" charset="-122"/>
                <a:ea typeface="Yuanti SC" panose="02010600040101010101" pitchFamily="2" charset="-122"/>
                <a:cs typeface="楷体"/>
              </a:rPr>
              <a:t>Mock</a:t>
            </a:r>
            <a:endParaRPr lang="zh-CN" altLang="en-US" sz="2000" i="0" dirty="0">
              <a:latin typeface="Yuanti SC" panose="02010600040101010101" pitchFamily="2" charset="-122"/>
              <a:ea typeface="Yuanti SC" panose="02010600040101010101" pitchFamily="2" charset="-122"/>
              <a:cs typeface="楷体"/>
            </a:endParaRPr>
          </a:p>
        </p:txBody>
      </p:sp>
    </p:spTree>
    <p:extLst>
      <p:ext uri="{BB962C8B-B14F-4D97-AF65-F5344CB8AC3E}">
        <p14:creationId xmlns:p14="http://schemas.microsoft.com/office/powerpoint/2010/main" val="974323418"/>
      </p:ext>
    </p:extLst>
  </p:cSld>
  <p:clrMapOvr>
    <a:masterClrMapping/>
  </p:clrMapOvr>
  <p:transition spd="slow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377" y="483517"/>
            <a:ext cx="5664692" cy="561975"/>
          </a:xfrm>
        </p:spPr>
        <p:txBody>
          <a:bodyPr/>
          <a:lstStyle/>
          <a:p>
            <a:r>
              <a:rPr lang="en-US" altLang="zh-CN" b="1" dirty="0"/>
              <a:t>Mock </a:t>
            </a:r>
            <a:r>
              <a:rPr lang="zh-CN" altLang="en-US" b="1" dirty="0"/>
              <a:t>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97112"/>
            <a:ext cx="4464496" cy="2952328"/>
          </a:xfrm>
        </p:spPr>
        <p:txBody>
          <a:bodyPr/>
          <a:lstStyle/>
          <a:p>
            <a:pPr marL="358775" indent="-358775">
              <a:lnSpc>
                <a:spcPct val="150000"/>
              </a:lnSpc>
              <a:spcBef>
                <a:spcPct val="0"/>
              </a:spcBef>
              <a:buSzPct val="60000"/>
              <a:buFont typeface="Wingdings" charset="2"/>
              <a:buChar char="p"/>
            </a:pPr>
            <a:r>
              <a:rPr lang="en-US" altLang="zh-CN" sz="24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JMock</a:t>
            </a:r>
          </a:p>
          <a:p>
            <a:pPr marL="358775" indent="-358775">
              <a:lnSpc>
                <a:spcPct val="150000"/>
              </a:lnSpc>
              <a:spcBef>
                <a:spcPct val="0"/>
              </a:spcBef>
              <a:buSzPct val="60000"/>
              <a:buFont typeface="Wingdings" charset="2"/>
              <a:buChar char="p"/>
            </a:pPr>
            <a:r>
              <a:rPr lang="en-US" altLang="zh-CN" sz="24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EasyMock</a:t>
            </a:r>
          </a:p>
          <a:p>
            <a:pPr marL="358775" indent="-358775">
              <a:lnSpc>
                <a:spcPct val="150000"/>
              </a:lnSpc>
              <a:spcBef>
                <a:spcPct val="0"/>
              </a:spcBef>
              <a:buSzPct val="60000"/>
              <a:buFont typeface="Wingdings" charset="2"/>
              <a:buChar char="p"/>
            </a:pPr>
            <a:r>
              <a:rPr lang="en-US" altLang="zh-CN" sz="24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Mockito</a:t>
            </a:r>
          </a:p>
          <a:p>
            <a:pPr marL="358775" indent="-358775">
              <a:lnSpc>
                <a:spcPct val="150000"/>
              </a:lnSpc>
              <a:spcBef>
                <a:spcPct val="0"/>
              </a:spcBef>
              <a:buSzPct val="60000"/>
              <a:buFont typeface="Wingdings" charset="2"/>
              <a:buChar char="p"/>
            </a:pPr>
            <a:r>
              <a:rPr lang="en-US" altLang="zh-CN" sz="2400" kern="1200" dirty="0" err="1">
                <a:solidFill>
                  <a:srgbClr val="000090"/>
                </a:solidFill>
                <a:latin typeface="Arial" charset="0"/>
                <a:ea typeface="宋体" pitchFamily="2" charset="-122"/>
              </a:rPr>
              <a:t>Moco</a:t>
            </a:r>
            <a:r>
              <a:rPr lang="zh-CN" altLang="en-US" sz="24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 </a:t>
            </a:r>
            <a:r>
              <a:rPr lang="zh-CN" altLang="en-US" sz="18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（</a:t>
            </a:r>
            <a:r>
              <a:rPr lang="en-US" altLang="zh-CN" sz="1800" dirty="0"/>
              <a:t>Java API</a:t>
            </a:r>
            <a:r>
              <a:rPr lang="zh-CN" altLang="en-US" sz="1800" dirty="0"/>
              <a:t>、独立服务器</a:t>
            </a:r>
            <a:r>
              <a:rPr lang="zh-CN" altLang="en-US" sz="1800" kern="1200" dirty="0">
                <a:solidFill>
                  <a:srgbClr val="000090"/>
                </a:solidFill>
                <a:latin typeface="Arial" charset="0"/>
                <a:ea typeface="宋体" pitchFamily="2" charset="-122"/>
              </a:rPr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2DA07-CE19-4C9B-A0EC-06D3955056CF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6019828"/>
      </p:ext>
    </p:extLst>
  </p:cSld>
  <p:clrMapOvr>
    <a:masterClrMapping/>
  </p:clrMapOvr>
  <p:transition spd="slow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472" y="192474"/>
            <a:ext cx="6096740" cy="561975"/>
          </a:xfrm>
        </p:spPr>
        <p:txBody>
          <a:bodyPr/>
          <a:lstStyle/>
          <a:p>
            <a:r>
              <a:rPr lang="en-US" altLang="zh-CN" b="1" dirty="0"/>
              <a:t>EasyMock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31590"/>
            <a:ext cx="8496944" cy="1279044"/>
          </a:xfrm>
        </p:spPr>
        <p:txBody>
          <a:bodyPr/>
          <a:lstStyle/>
          <a:p>
            <a:pPr marL="0" indent="0">
              <a:lnSpc>
                <a:spcPct val="120000"/>
              </a:lnSpc>
            </a:pPr>
            <a:r>
              <a:rPr lang="zh-CN" altLang="zh-CN" dirty="0">
                <a:latin typeface="楷体"/>
                <a:ea typeface="楷体"/>
                <a:cs typeface="楷体"/>
              </a:rPr>
              <a:t>通过简单的方法对于给定的接口生成</a:t>
            </a:r>
            <a:r>
              <a:rPr lang="en-US" altLang="zh-CN" dirty="0">
                <a:latin typeface="楷体"/>
                <a:ea typeface="楷体"/>
                <a:cs typeface="楷体"/>
              </a:rPr>
              <a:t> Mock </a:t>
            </a:r>
            <a:r>
              <a:rPr lang="zh-CN" altLang="zh-CN" dirty="0">
                <a:latin typeface="楷体"/>
                <a:ea typeface="楷体"/>
                <a:cs typeface="楷体"/>
              </a:rPr>
              <a:t>对象的类库。它提供对接口的模拟，能够通过录制、回放、检查来完成测试过程，可验证方法的调用种类、次数、顺序，可令</a:t>
            </a:r>
            <a:r>
              <a:rPr lang="en-US" altLang="zh-CN" dirty="0">
                <a:latin typeface="楷体"/>
                <a:ea typeface="楷体"/>
                <a:cs typeface="楷体"/>
              </a:rPr>
              <a:t> Mock </a:t>
            </a:r>
            <a:r>
              <a:rPr lang="zh-CN" altLang="zh-CN" dirty="0">
                <a:latin typeface="楷体"/>
                <a:ea typeface="楷体"/>
                <a:cs typeface="楷体"/>
              </a:rPr>
              <a:t>对象返回指定的值或抛出指定异常 </a:t>
            </a:r>
            <a:endParaRPr kumimoji="1" lang="zh-CN" altLang="en-US" dirty="0">
              <a:latin typeface="楷体"/>
              <a:ea typeface="楷体"/>
              <a:cs typeface="楷体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2DA07-CE19-4C9B-A0EC-06D3955056CF}" type="slidenum">
              <a:rPr lang="en-US" altLang="zh-CN" smtClean="0"/>
              <a:pPr/>
              <a:t>48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67544" y="2787775"/>
            <a:ext cx="8280920" cy="1518877"/>
          </a:xfrm>
          <a:prstGeom prst="rect">
            <a:avLst/>
          </a:prstGeom>
          <a:solidFill>
            <a:srgbClr val="C5E5E7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i="0" dirty="0" err="1"/>
              <a:t>IMocksControl</a:t>
            </a:r>
            <a:r>
              <a:rPr lang="en-US" altLang="zh-CN" i="0" dirty="0"/>
              <a:t> </a:t>
            </a:r>
            <a:r>
              <a:rPr lang="en-US" altLang="zh-CN" i="0" dirty="0">
                <a:solidFill>
                  <a:srgbClr val="3366FF"/>
                </a:solidFill>
              </a:rPr>
              <a:t>control </a:t>
            </a:r>
            <a:r>
              <a:rPr lang="en-US" altLang="zh-CN" i="0" dirty="0"/>
              <a:t>= </a:t>
            </a:r>
            <a:r>
              <a:rPr lang="en-US" altLang="zh-CN" i="0" dirty="0" err="1"/>
              <a:t>EasyMock.createControl</a:t>
            </a:r>
            <a:r>
              <a:rPr lang="en-US" altLang="zh-CN" i="0" dirty="0"/>
              <a:t>();</a:t>
            </a:r>
            <a:endParaRPr lang="zh-CN" altLang="zh-CN" i="0" dirty="0"/>
          </a:p>
          <a:p>
            <a:pPr>
              <a:lnSpc>
                <a:spcPct val="130000"/>
              </a:lnSpc>
            </a:pPr>
            <a:r>
              <a:rPr lang="en-US" altLang="zh-CN" i="0" dirty="0"/>
              <a:t>java.sql.Connection mockConnection = </a:t>
            </a:r>
            <a:r>
              <a:rPr lang="en-US" altLang="zh-CN" i="0" dirty="0" err="1">
                <a:solidFill>
                  <a:srgbClr val="3366FF"/>
                </a:solidFill>
              </a:rPr>
              <a:t>control</a:t>
            </a:r>
            <a:r>
              <a:rPr lang="en-US" altLang="zh-CN" i="0" dirty="0" err="1"/>
              <a:t>.createMock</a:t>
            </a:r>
            <a:r>
              <a:rPr lang="en-US" altLang="zh-CN" i="0" dirty="0"/>
              <a:t>(</a:t>
            </a:r>
            <a:r>
              <a:rPr lang="en-US" altLang="zh-CN" i="0" dirty="0" err="1"/>
              <a:t>Connection.class</a:t>
            </a:r>
            <a:r>
              <a:rPr lang="en-US" altLang="zh-CN" i="0" dirty="0"/>
              <a:t>);</a:t>
            </a:r>
            <a:endParaRPr lang="zh-CN" altLang="zh-CN" i="0" dirty="0"/>
          </a:p>
          <a:p>
            <a:pPr>
              <a:lnSpc>
                <a:spcPct val="130000"/>
              </a:lnSpc>
            </a:pPr>
            <a:r>
              <a:rPr lang="en-US" altLang="zh-CN" i="0" dirty="0" err="1"/>
              <a:t>java.sql.Statement</a:t>
            </a:r>
            <a:r>
              <a:rPr lang="en-US" altLang="zh-CN" i="0" dirty="0"/>
              <a:t> mockStatement = </a:t>
            </a:r>
            <a:r>
              <a:rPr lang="en-US" altLang="zh-CN" i="0" dirty="0">
                <a:solidFill>
                  <a:srgbClr val="3366FF"/>
                </a:solidFill>
              </a:rPr>
              <a:t>control</a:t>
            </a:r>
            <a:r>
              <a:rPr lang="en-US" altLang="zh-CN" i="0" dirty="0"/>
              <a:t>.createMock(</a:t>
            </a:r>
            <a:r>
              <a:rPr lang="en-US" altLang="zh-CN" i="0" dirty="0" err="1"/>
              <a:t>Statement.class</a:t>
            </a:r>
            <a:r>
              <a:rPr lang="en-US" altLang="zh-CN" i="0" dirty="0"/>
              <a:t>);</a:t>
            </a:r>
            <a:endParaRPr lang="zh-CN" altLang="zh-CN" i="0" dirty="0"/>
          </a:p>
          <a:p>
            <a:pPr>
              <a:lnSpc>
                <a:spcPct val="130000"/>
              </a:lnSpc>
            </a:pPr>
            <a:r>
              <a:rPr lang="en-US" altLang="zh-CN" i="0" dirty="0" err="1"/>
              <a:t>java.sql.ResultSet</a:t>
            </a:r>
            <a:r>
              <a:rPr lang="en-US" altLang="zh-CN" i="0" dirty="0"/>
              <a:t> mockResultSet = </a:t>
            </a:r>
            <a:r>
              <a:rPr lang="en-US" altLang="zh-CN" i="0" dirty="0">
                <a:solidFill>
                  <a:srgbClr val="3366FF"/>
                </a:solidFill>
              </a:rPr>
              <a:t>control</a:t>
            </a:r>
            <a:r>
              <a:rPr lang="en-US" altLang="zh-CN" i="0" dirty="0"/>
              <a:t>.createMock(</a:t>
            </a:r>
            <a:r>
              <a:rPr lang="en-US" altLang="zh-CN" i="0" dirty="0" err="1"/>
              <a:t>ResultSet.class</a:t>
            </a:r>
            <a:r>
              <a:rPr lang="en-US" altLang="zh-CN" i="0" dirty="0"/>
              <a:t>);</a:t>
            </a:r>
            <a:r>
              <a:rPr lang="zh-CN" altLang="zh-CN" i="0" dirty="0"/>
              <a:t> </a:t>
            </a:r>
            <a:endParaRPr lang="zh-CN" altLang="en-US" i="0" dirty="0"/>
          </a:p>
        </p:txBody>
      </p:sp>
    </p:spTree>
    <p:extLst>
      <p:ext uri="{BB962C8B-B14F-4D97-AF65-F5344CB8AC3E}">
        <p14:creationId xmlns:p14="http://schemas.microsoft.com/office/powerpoint/2010/main" val="3244975792"/>
      </p:ext>
    </p:extLst>
  </p:cSld>
  <p:clrMapOvr>
    <a:masterClrMapping/>
  </p:clrMapOvr>
  <p:transition spd="slow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65807A-7492-45F6-2A17-D0DA0C5F8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2" y="274845"/>
            <a:ext cx="8204475" cy="459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2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91AC68-DDFF-E6E2-53D6-33948A3A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0" y="497177"/>
            <a:ext cx="7140559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53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766F51-733C-F7BC-3137-2CD8ED90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55" y="402454"/>
            <a:ext cx="7825249" cy="440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0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E5E9A1-CE43-C30A-F968-C2D596B01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95" y="506790"/>
            <a:ext cx="7397461" cy="412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78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5C042E-4D06-6C9D-2761-D9C02E206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0" y="559895"/>
            <a:ext cx="7140559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787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91C1A5-05A8-374E-9F8D-AD94950C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00" y="575137"/>
            <a:ext cx="7155800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189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A8A8E9-0432-4D8E-9DBE-A50161FB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9" y="548464"/>
            <a:ext cx="7163421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394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6F79F2-4899-10BF-93D7-63CD9752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2" y="567516"/>
            <a:ext cx="7102455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681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3D0A48-25A9-0451-CCB5-E376886E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2" y="575137"/>
            <a:ext cx="7102455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27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146A9E-9A74-321B-A182-0BE9FDBE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41" y="582757"/>
            <a:ext cx="7125317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702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1745FB-37F4-B887-7645-B42847AE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0" y="552275"/>
            <a:ext cx="7140559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212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B797CF-9C02-F55E-52FB-E8E33A97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90" y="521211"/>
            <a:ext cx="6469063" cy="414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23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472" y="192474"/>
            <a:ext cx="6096740" cy="561975"/>
          </a:xfrm>
        </p:spPr>
        <p:txBody>
          <a:bodyPr/>
          <a:lstStyle/>
          <a:p>
            <a:r>
              <a:rPr lang="en-US" altLang="zh-CN" b="1" dirty="0"/>
              <a:t>Mockito</a:t>
            </a:r>
            <a:endParaRPr lang="zh-CN" altLang="en-US" b="1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2DA07-CE19-4C9B-A0EC-06D3955056CF}" type="slidenum">
              <a:rPr lang="en-US" altLang="zh-CN" smtClean="0"/>
              <a:pPr/>
              <a:t>61</a:t>
            </a:fld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5EC6BA-D694-DE64-936D-636E4B1B7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91" y="808974"/>
            <a:ext cx="5410758" cy="44459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6D36420-2570-B8AF-0F3B-69FD0026A94C}"/>
              </a:ext>
            </a:extLst>
          </p:cNvPr>
          <p:cNvSpPr txBox="1"/>
          <p:nvPr/>
        </p:nvSpPr>
        <p:spPr>
          <a:xfrm>
            <a:off x="926235" y="8647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设置依赖性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47ECA9-FFE1-ACD0-083D-0E952D44E7E0}"/>
              </a:ext>
            </a:extLst>
          </p:cNvPr>
          <p:cNvGrpSpPr/>
          <p:nvPr/>
        </p:nvGrpSpPr>
        <p:grpSpPr>
          <a:xfrm>
            <a:off x="423816" y="1501996"/>
            <a:ext cx="5461175" cy="2481807"/>
            <a:chOff x="423816" y="1501996"/>
            <a:chExt cx="5461175" cy="248180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2A03247-240E-A269-B100-9D4DD067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816" y="1501996"/>
              <a:ext cx="5461175" cy="2035023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F3C935F-B7D2-AE58-A2EE-67B34147586D}"/>
                </a:ext>
              </a:extLst>
            </p:cNvPr>
            <p:cNvSpPr txBox="1"/>
            <p:nvPr/>
          </p:nvSpPr>
          <p:spPr>
            <a:xfrm>
              <a:off x="1483017" y="3614471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验证交互性操作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4048199-0DA8-6FAC-CBCE-3A009059DFE0}"/>
              </a:ext>
            </a:extLst>
          </p:cNvPr>
          <p:cNvGrpSpPr/>
          <p:nvPr/>
        </p:nvGrpSpPr>
        <p:grpSpPr>
          <a:xfrm>
            <a:off x="4486643" y="2653618"/>
            <a:ext cx="4377473" cy="2355937"/>
            <a:chOff x="4342710" y="2737677"/>
            <a:chExt cx="4377473" cy="235593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B3167CB-84E0-250B-E55E-EC12CEA3F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2710" y="2737677"/>
              <a:ext cx="4377473" cy="1909153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871D00C-2EA4-7A48-5C69-18B3AABEF7EB}"/>
                </a:ext>
              </a:extLst>
            </p:cNvPr>
            <p:cNvSpPr txBox="1"/>
            <p:nvPr/>
          </p:nvSpPr>
          <p:spPr>
            <a:xfrm>
              <a:off x="5413597" y="4724282"/>
              <a:ext cx="1609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Stub</a:t>
              </a:r>
              <a:r>
                <a:rPr kumimoji="1" lang="zh-CN" altLang="en-US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方法调用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997408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46B03-4657-A9DF-8C49-227FDC17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Mockito</a:t>
            </a:r>
            <a:r>
              <a:rPr kumimoji="1" lang="zh-CN" altLang="en-US" dirty="0"/>
              <a:t> 主要功能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D3A7CE-1AA1-1AC4-9D77-106492574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68" y="717971"/>
            <a:ext cx="7857651" cy="3813836"/>
          </a:xfrm>
        </p:spPr>
        <p:txBody>
          <a:bodyPr>
            <a:normAutofit fontScale="77500" lnSpcReduction="20000"/>
          </a:bodyPr>
          <a:lstStyle/>
          <a:p>
            <a:r>
              <a:rPr kumimoji="1" lang="en" altLang="zh-CN" b="1" dirty="0"/>
              <a:t>mock()/@Mock: </a:t>
            </a:r>
            <a:r>
              <a:rPr kumimoji="1" lang="zh-CN" altLang="en-US" dirty="0"/>
              <a:t>创建</a:t>
            </a:r>
            <a:r>
              <a:rPr kumimoji="1" lang="en" altLang="zh-CN" dirty="0"/>
              <a:t>mock</a:t>
            </a:r>
          </a:p>
          <a:p>
            <a:pPr marL="628650" indent="0">
              <a:buNone/>
            </a:pPr>
            <a:r>
              <a:rPr kumimoji="1" lang="zh-CN" altLang="en-US" dirty="0"/>
              <a:t>可以通过</a:t>
            </a:r>
            <a:r>
              <a:rPr kumimoji="1" lang="en" altLang="zh-CN" b="1" dirty="0"/>
              <a:t>Answer/</a:t>
            </a:r>
            <a:r>
              <a:rPr kumimoji="1" lang="en" altLang="zh-CN" b="1" dirty="0" err="1"/>
              <a:t>MockSettings</a:t>
            </a:r>
            <a:r>
              <a:rPr kumimoji="1" lang="zh-CN" altLang="en-US" dirty="0"/>
              <a:t>指定其行为方式</a:t>
            </a:r>
          </a:p>
          <a:p>
            <a:pPr marL="628650" indent="0">
              <a:buNone/>
            </a:pPr>
            <a:r>
              <a:rPr kumimoji="1" lang="en" altLang="zh-CN" b="1" dirty="0"/>
              <a:t>when()/given()</a:t>
            </a:r>
            <a:r>
              <a:rPr kumimoji="1" lang="zh-CN" altLang="en-US" dirty="0"/>
              <a:t>来指定</a:t>
            </a:r>
            <a:r>
              <a:rPr kumimoji="1" lang="en" altLang="zh-CN" dirty="0"/>
              <a:t>mock</a:t>
            </a:r>
            <a:r>
              <a:rPr kumimoji="1" lang="zh-CN" altLang="en-US" dirty="0"/>
              <a:t>如何行动</a:t>
            </a:r>
          </a:p>
          <a:p>
            <a:pPr marL="628650" indent="0">
              <a:buNone/>
            </a:pPr>
            <a:r>
              <a:rPr kumimoji="1" lang="zh-CN" altLang="en-US" dirty="0"/>
              <a:t>如果提供的返回不符合需求，可以自己写一个返回接口的扩展。</a:t>
            </a:r>
          </a:p>
          <a:p>
            <a:r>
              <a:rPr kumimoji="1" lang="en" altLang="zh-CN" b="1" dirty="0"/>
              <a:t>spy()/@Spy</a:t>
            </a:r>
            <a:r>
              <a:rPr kumimoji="1" lang="zh-CN" altLang="en" b="1" dirty="0"/>
              <a:t>：</a:t>
            </a:r>
            <a:r>
              <a:rPr kumimoji="1" lang="zh-CN" altLang="en-US" dirty="0"/>
              <a:t>部分模拟，调用真实的方法，但仍然可以被验证</a:t>
            </a:r>
          </a:p>
          <a:p>
            <a:r>
              <a:rPr kumimoji="1" lang="en-US" altLang="zh-CN" b="1" dirty="0"/>
              <a:t>@</a:t>
            </a:r>
            <a:r>
              <a:rPr kumimoji="1" lang="en" altLang="zh-CN" b="1" dirty="0" err="1"/>
              <a:t>InjectMocks</a:t>
            </a:r>
            <a:r>
              <a:rPr kumimoji="1" lang="zh-CN" altLang="en" b="1" dirty="0"/>
              <a:t>：</a:t>
            </a:r>
            <a:r>
              <a:rPr kumimoji="1" lang="zh-CN" altLang="en-US" dirty="0"/>
              <a:t>自动注入带有</a:t>
            </a:r>
            <a:r>
              <a:rPr kumimoji="1" lang="en-US" altLang="zh-CN" dirty="0"/>
              <a:t>@</a:t>
            </a:r>
            <a:r>
              <a:rPr kumimoji="1" lang="en" altLang="zh-CN" dirty="0"/>
              <a:t>Spy</a:t>
            </a:r>
            <a:r>
              <a:rPr kumimoji="1" lang="zh-CN" altLang="en-US" dirty="0"/>
              <a:t>或</a:t>
            </a:r>
            <a:r>
              <a:rPr kumimoji="1" lang="en-US" altLang="zh-CN" dirty="0"/>
              <a:t>@</a:t>
            </a:r>
            <a:r>
              <a:rPr kumimoji="1" lang="en" altLang="zh-CN" dirty="0"/>
              <a:t>Mock</a:t>
            </a:r>
            <a:r>
              <a:rPr kumimoji="1" lang="zh-CN" altLang="en-US" dirty="0"/>
              <a:t>注释的</a:t>
            </a:r>
            <a:r>
              <a:rPr kumimoji="1" lang="en" altLang="zh-CN" dirty="0"/>
              <a:t>mocks/spies</a:t>
            </a:r>
            <a:r>
              <a:rPr kumimoji="1" lang="zh-CN" altLang="en-US" dirty="0"/>
              <a:t>字段。</a:t>
            </a:r>
          </a:p>
          <a:p>
            <a:r>
              <a:rPr kumimoji="1" lang="en" altLang="zh-CN" b="1" dirty="0"/>
              <a:t>verify(): </a:t>
            </a:r>
            <a:r>
              <a:rPr kumimoji="1" lang="zh-CN" altLang="en-US" dirty="0"/>
              <a:t>检查方法是否用给定的参数调用。</a:t>
            </a:r>
          </a:p>
          <a:p>
            <a:pPr marL="669925" indent="0">
              <a:buNone/>
            </a:pPr>
            <a:r>
              <a:rPr kumimoji="1" lang="zh-CN" altLang="en-US" dirty="0"/>
              <a:t>可以使用灵活的参数匹配，例如，通过</a:t>
            </a:r>
            <a:r>
              <a:rPr kumimoji="1" lang="en" altLang="zh-CN" dirty="0"/>
              <a:t>any()</a:t>
            </a:r>
            <a:r>
              <a:rPr kumimoji="1" lang="zh-CN" altLang="en-US" dirty="0"/>
              <a:t>的任何表达式</a:t>
            </a:r>
          </a:p>
          <a:p>
            <a:pPr marL="669925" indent="0">
              <a:buNone/>
            </a:pPr>
            <a:r>
              <a:rPr kumimoji="1" lang="zh-CN" altLang="en-US" dirty="0"/>
              <a:t>或使用</a:t>
            </a:r>
            <a:r>
              <a:rPr kumimoji="1" lang="en-US" altLang="zh-CN" dirty="0"/>
              <a:t>@</a:t>
            </a:r>
            <a:r>
              <a:rPr kumimoji="1" lang="en" altLang="zh-CN" dirty="0"/>
              <a:t>Captor</a:t>
            </a:r>
            <a:r>
              <a:rPr kumimoji="1" lang="zh-CN" altLang="en-US" dirty="0"/>
              <a:t>来捕获哪些参数被调用。</a:t>
            </a:r>
          </a:p>
        </p:txBody>
      </p:sp>
    </p:spTree>
    <p:extLst>
      <p:ext uri="{BB962C8B-B14F-4D97-AF65-F5344CB8AC3E}">
        <p14:creationId xmlns:p14="http://schemas.microsoft.com/office/powerpoint/2010/main" val="3455834476"/>
      </p:ext>
    </p:extLst>
  </p:cSld>
  <p:clrMapOvr>
    <a:masterClrMapping/>
  </p:clrMapOvr>
  <p:transition spd="slow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274440" y="1107801"/>
            <a:ext cx="71757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测试覆盖率工具</a:t>
            </a:r>
            <a:endParaRPr lang="zh-CN" altLang="en-US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6" name="Picture 2" descr="JaCoCo - Codecov">
            <a:extLst>
              <a:ext uri="{FF2B5EF4-FFF2-40B4-BE49-F238E27FC236}">
                <a16:creationId xmlns:a16="http://schemas.microsoft.com/office/drawing/2014/main" id="{8BC3D08D-B5AB-6E0F-9A11-6CDD5A68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49" y="1842251"/>
            <a:ext cx="3815250" cy="218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720062"/>
      </p:ext>
    </p:extLst>
  </p:cSld>
  <p:clrMapOvr>
    <a:masterClrMapping/>
  </p:clrMapOvr>
  <p:transition spd="slow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88795" y="414507"/>
            <a:ext cx="6552530" cy="661988"/>
          </a:xfrm>
        </p:spPr>
        <p:txBody>
          <a:bodyPr>
            <a:normAutofit/>
          </a:bodyPr>
          <a:lstStyle/>
          <a:p>
            <a:r>
              <a:rPr lang="zh-CN" altLang="en-US" dirty="0"/>
              <a:t>代码覆盖率分析工具</a:t>
            </a:r>
          </a:p>
        </p:txBody>
      </p:sp>
      <p:sp>
        <p:nvSpPr>
          <p:cNvPr id="68609" name="Rectangle 1"/>
          <p:cNvSpPr>
            <a:spLocks noChangeArrowheads="1"/>
          </p:cNvSpPr>
          <p:nvPr/>
        </p:nvSpPr>
        <p:spPr bwMode="auto">
          <a:xfrm>
            <a:off x="323528" y="1358536"/>
            <a:ext cx="8280920" cy="285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36575" indent="-536575">
              <a:lnSpc>
                <a:spcPct val="120000"/>
              </a:lnSpc>
              <a:spcBef>
                <a:spcPct val="20000"/>
              </a:spcBef>
              <a:buClr>
                <a:srgbClr val="91AC4E"/>
              </a:buClr>
              <a:buFont typeface="Wingdings" pitchFamily="2" charset="2"/>
              <a:buChar char="q"/>
              <a:tabLst>
                <a:tab pos="539750" algn="l"/>
              </a:tabLst>
            </a:pP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JaCoCo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通过对编译后的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Java class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文件进行统计代码的插装</a:t>
            </a:r>
            <a:r>
              <a:rPr lang="zh-CN" altLang="en-US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测试覆盖率</a:t>
            </a:r>
            <a:r>
              <a:rPr lang="zh-CN" altLang="en-US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收集与报告</a:t>
            </a:r>
            <a:r>
              <a:rPr lang="zh-CN" altLang="en-US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400" i="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536575" indent="-536575">
              <a:lnSpc>
                <a:spcPct val="120000"/>
              </a:lnSpc>
              <a:spcBef>
                <a:spcPct val="20000"/>
              </a:spcBef>
              <a:buClr>
                <a:srgbClr val="91AC4E"/>
              </a:buClr>
              <a:buFont typeface="Wingdings" pitchFamily="2" charset="2"/>
              <a:buChar char="q"/>
              <a:tabLst>
                <a:tab pos="539750" algn="l"/>
              </a:tabLst>
            </a:pPr>
            <a:r>
              <a:rPr lang="en-US" altLang="zh-CN" sz="2400" i="0" u="sng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BullseyeCoverage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是一种获取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C/C++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的代码覆盖率的工具，支持分支覆盖率（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Branch Coverage</a:t>
            </a:r>
            <a:r>
              <a:rPr lang="zh-CN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的分析</a:t>
            </a:r>
            <a:endParaRPr lang="en-US" altLang="zh-CN" sz="2400" i="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536575" indent="-536575">
              <a:lnSpc>
                <a:spcPct val="120000"/>
              </a:lnSpc>
              <a:spcBef>
                <a:spcPct val="20000"/>
              </a:spcBef>
              <a:buClr>
                <a:srgbClr val="91AC4E"/>
              </a:buClr>
              <a:buFont typeface="Wingdings" pitchFamily="2" charset="2"/>
              <a:buChar char="q"/>
              <a:tabLst>
                <a:tab pos="539750" algn="l"/>
              </a:tabLst>
            </a:pPr>
            <a:r>
              <a:rPr lang="en-US" altLang="zh-CN" sz="2400" b="1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Testwell</a:t>
            </a:r>
            <a:r>
              <a:rPr lang="en-US" altLang="zh-CN" sz="2400" b="1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CTC++,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Parasoft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Jtest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/C++Test,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CoverageMeter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Jcov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CodeCover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0" dirty="0" err="1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Coverage.py</a:t>
            </a:r>
            <a:r>
              <a:rPr lang="en-US" altLang="zh-CN" sz="2400" i="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887646712"/>
      </p:ext>
    </p:extLst>
  </p:cSld>
  <p:clrMapOvr>
    <a:masterClrMapping/>
  </p:clrMapOvr>
  <p:transition spd="slow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0149" y="154166"/>
            <a:ext cx="6984776" cy="561975"/>
          </a:xfrm>
        </p:spPr>
        <p:txBody>
          <a:bodyPr/>
          <a:lstStyle/>
          <a:p>
            <a:r>
              <a:rPr lang="zh-CN" altLang="en-US" dirty="0"/>
              <a:t>实现覆盖率度量：</a:t>
            </a:r>
            <a:r>
              <a:rPr lang="en-US" altLang="zh-CN" dirty="0" err="1"/>
              <a:t>Jacoco</a:t>
            </a:r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65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F6DF21-091D-9E47-9235-9043E0BE3DE8}"/>
              </a:ext>
            </a:extLst>
          </p:cNvPr>
          <p:cNvSpPr/>
          <p:nvPr/>
        </p:nvSpPr>
        <p:spPr>
          <a:xfrm>
            <a:off x="670149" y="1104245"/>
            <a:ext cx="7560840" cy="3468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覆盖率分析维度：指令、分支、行、方法、类、圈复杂度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基于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java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二进制码，无需源文件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基于</a:t>
            </a:r>
            <a:r>
              <a:rPr lang="en-US" altLang="zh-CN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on-the-fly instrumentation 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的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java agent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的集成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框架：基于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java VM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的应用集成，如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OSGI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框架、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web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容器和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EJB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服务器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兼容所有的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java class file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版本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、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支持不同的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JVM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语言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多种报告形式：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HTML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、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CSV</a:t>
            </a:r>
            <a:r>
              <a:rPr lang="zh-CN" altLang="en-US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、</a:t>
            </a:r>
            <a:r>
              <a:rPr lang="en-US" altLang="zh-CN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XML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zh-CN" altLang="en-US" sz="20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远程协议和</a:t>
            </a:r>
            <a:r>
              <a:rPr lang="en-US" altLang="zh-CN" sz="20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JMX</a:t>
            </a:r>
            <a:r>
              <a:rPr lang="zh-CN" altLang="en-US" sz="20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控制可随时从覆盖率代理获取执行数据</a:t>
            </a:r>
          </a:p>
          <a:p>
            <a:pPr marL="457200" indent="-457200" latinLnBrk="1">
              <a:lnSpc>
                <a:spcPct val="150000"/>
              </a:lnSpc>
              <a:buFont typeface="+mj-ea"/>
              <a:buAutoNum type="circleNumDbPlain"/>
              <a:tabLst>
                <a:tab pos="42863" algn="l"/>
              </a:tabLst>
            </a:pPr>
            <a:r>
              <a:rPr lang="en-US" altLang="zh-CN" sz="20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ANT tasks/ Maven-plugin</a:t>
            </a:r>
            <a:r>
              <a:rPr lang="zh-CN" altLang="en-US" sz="20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收集执行数据并创建覆盖率报告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B1C386-C381-0766-8681-E650362EAB21}"/>
              </a:ext>
            </a:extLst>
          </p:cNvPr>
          <p:cNvSpPr txBox="1"/>
          <p:nvPr/>
        </p:nvSpPr>
        <p:spPr>
          <a:xfrm>
            <a:off x="750535" y="663102"/>
            <a:ext cx="24649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https://www.eclemma.org/jacoco/</a:t>
            </a:r>
          </a:p>
        </p:txBody>
      </p:sp>
    </p:spTree>
    <p:extLst>
      <p:ext uri="{BB962C8B-B14F-4D97-AF65-F5344CB8AC3E}">
        <p14:creationId xmlns:p14="http://schemas.microsoft.com/office/powerpoint/2010/main" val="781783468"/>
      </p:ext>
    </p:extLst>
  </p:cSld>
  <p:clrMapOvr>
    <a:masterClrMapping/>
  </p:clrMapOvr>
  <p:transition spd="slow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EBE86-E6C3-4D4F-B2AE-8E11073D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200" b="1" dirty="0">
                <a:latin typeface="Yuanti SC" panose="02010600040101010101" pitchFamily="2" charset="-122"/>
                <a:ea typeface="Yuanti SC" panose="02010600040101010101" pitchFamily="2" charset="-122"/>
              </a:rPr>
              <a:t>on-the-fly instrumentation</a:t>
            </a:r>
            <a:endParaRPr kumimoji="1"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2D813-9FC6-314C-8E7B-53D03C3C4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1C3EC9-CFBB-864D-BF5E-073338EDE994}"/>
              </a:ext>
            </a:extLst>
          </p:cNvPr>
          <p:cNvSpPr/>
          <p:nvPr/>
        </p:nvSpPr>
        <p:spPr>
          <a:xfrm>
            <a:off x="0" y="1151539"/>
            <a:ext cx="4032448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i="0" dirty="0">
                <a:solidFill>
                  <a:schemeClr val="accent1">
                    <a:lumMod val="50000"/>
                  </a:schemeClr>
                </a:solidFill>
              </a:rPr>
              <a:t>//接受jvm參數</a:t>
            </a:r>
          </a:p>
          <a:p>
            <a:endParaRPr lang="zh-CN" altLang="en-US" sz="1200" dirty="0"/>
          </a:p>
          <a:p>
            <a:r>
              <a:rPr lang="zh-CN" altLang="en-US" sz="1200" dirty="0"/>
              <a:t>package org.jacoco.agent.rt.internal.PreMain</a:t>
            </a:r>
          </a:p>
          <a:p>
            <a:endParaRPr lang="zh-CN" altLang="en-US" sz="1200" dirty="0"/>
          </a:p>
          <a:p>
            <a:r>
              <a:rPr lang="zh-CN" altLang="en-US" sz="1200" dirty="0"/>
              <a:t>public static void premain(final String options, final Instrumentation inst)</a:t>
            </a:r>
          </a:p>
          <a:p>
            <a:r>
              <a:rPr lang="zh-CN" altLang="en-US" sz="1200" dirty="0"/>
              <a:t>      throws Exception {</a:t>
            </a:r>
          </a:p>
          <a:p>
            <a:endParaRPr lang="zh-CN" altLang="en-US" sz="1200" dirty="0"/>
          </a:p>
          <a:p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   final AgentOptions agentOptions = new AgentOptions(options);</a:t>
            </a:r>
          </a:p>
          <a:p>
            <a:endParaRPr lang="zh-CN" altLang="en-US" sz="1200" dirty="0"/>
          </a:p>
          <a:p>
            <a:r>
              <a:rPr lang="zh-CN" altLang="en-US" sz="1200" dirty="0"/>
              <a:t>   final Agent agent = Agent.getInstance(agentOptions);</a:t>
            </a:r>
          </a:p>
          <a:p>
            <a:endParaRPr lang="zh-CN" altLang="en-US" sz="1200" dirty="0"/>
          </a:p>
          <a:p>
            <a:r>
              <a:rPr lang="zh-CN" altLang="en-US" sz="1200" dirty="0"/>
              <a:t>   final IRuntime runtime = createRuntime(inst);</a:t>
            </a:r>
          </a:p>
          <a:p>
            <a:r>
              <a:rPr lang="zh-CN" altLang="en-US" sz="1200" dirty="0"/>
              <a:t>   </a:t>
            </a:r>
            <a:r>
              <a:rPr lang="zh-CN" altLang="en-US" sz="1200" dirty="0">
                <a:solidFill>
                  <a:srgbClr val="00B050"/>
                </a:solidFill>
              </a:rPr>
              <a:t>runtime.startup(agent.getData());</a:t>
            </a:r>
          </a:p>
          <a:p>
            <a:r>
              <a:rPr lang="zh-CN" altLang="en-US" sz="1200" dirty="0"/>
              <a:t>   inst.addTransformer(new CoverageTransformer(runtime, agentOptions,</a:t>
            </a:r>
          </a:p>
          <a:p>
            <a:r>
              <a:rPr lang="zh-CN" altLang="en-US" sz="1200" dirty="0"/>
              <a:t>         IExceptionLogger.SYSTEM_ERR));</a:t>
            </a:r>
          </a:p>
          <a:p>
            <a:r>
              <a:rPr lang="zh-CN" altLang="en-US" sz="1200" dirty="0"/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427A5C-6385-824A-9AFC-72D14A12A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245" y="1262041"/>
            <a:ext cx="5947818" cy="289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28212"/>
      </p:ext>
    </p:extLst>
  </p:cSld>
  <p:clrMapOvr>
    <a:masterClrMapping/>
  </p:clrMapOvr>
  <p:transition spd="slow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840C909-806B-4D45-B7C0-B92FC0E7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471" y="1635646"/>
            <a:ext cx="3923928" cy="275649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08EBE86-E6C3-4D4F-B2AE-8E11073D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200" b="1" dirty="0">
                <a:latin typeface="Yuanti SC" panose="02010600040101010101" pitchFamily="2" charset="-122"/>
                <a:ea typeface="Yuanti SC" panose="02010600040101010101" pitchFamily="2" charset="-122"/>
              </a:rPr>
              <a:t>on-the-fly instrumentation</a:t>
            </a:r>
            <a:r>
              <a:rPr lang="zh-CN" altLang="en-US" sz="3200" b="1" dirty="0">
                <a:latin typeface="Yuanti SC" panose="02010600040101010101" pitchFamily="2" charset="-122"/>
                <a:ea typeface="Yuanti SC" panose="02010600040101010101" pitchFamily="2" charset="-122"/>
              </a:rPr>
              <a:t> </a:t>
            </a:r>
            <a:r>
              <a:rPr lang="en-US" altLang="zh-CN" sz="2200" b="0" dirty="0">
                <a:latin typeface="Yuanti SC" panose="02010600040101010101" pitchFamily="2" charset="-122"/>
                <a:ea typeface="Yuanti SC" panose="02010600040101010101" pitchFamily="2" charset="-122"/>
              </a:rPr>
              <a:t>–</a:t>
            </a:r>
            <a:r>
              <a:rPr lang="zh-CN" altLang="en-US" sz="2200" b="0" dirty="0">
                <a:latin typeface="Yuanti SC" panose="02010600040101010101" pitchFamily="2" charset="-122"/>
                <a:ea typeface="Yuanti SC" panose="02010600040101010101" pitchFamily="2" charset="-122"/>
              </a:rPr>
              <a:t>续</a:t>
            </a:r>
            <a:endParaRPr kumimoji="1" lang="zh-CN" altLang="en-US" sz="22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2D813-9FC6-314C-8E7B-53D03C3C4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67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71F33-504A-634C-A628-0EF966871903}"/>
              </a:ext>
            </a:extLst>
          </p:cNvPr>
          <p:cNvSpPr/>
          <p:nvPr/>
        </p:nvSpPr>
        <p:spPr>
          <a:xfrm>
            <a:off x="0" y="1083286"/>
            <a:ext cx="547260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/ASM 注入class method</a:t>
            </a:r>
          </a:p>
          <a:p>
            <a:endParaRPr lang="zh-CN" alt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sz="1400" dirty="0"/>
              <a:t>public byte[] </a:t>
            </a:r>
            <a:r>
              <a:rPr lang="zh-CN" altLang="en-US" sz="1400" b="1" dirty="0">
                <a:solidFill>
                  <a:srgbClr val="C00000"/>
                </a:solidFill>
              </a:rPr>
              <a:t>instrument(final ClassReader reader) </a:t>
            </a:r>
            <a:r>
              <a:rPr lang="zh-CN" altLang="en-US" sz="1400" dirty="0"/>
              <a:t>{</a:t>
            </a:r>
          </a:p>
          <a:p>
            <a:r>
              <a:rPr lang="zh-CN" altLang="en-US" sz="1400" dirty="0"/>
              <a:t>   final ClassWriter writer = new ClassWriter(reader, 0) {</a:t>
            </a:r>
          </a:p>
          <a:p>
            <a:r>
              <a:rPr lang="zh-CN" altLang="en-US" sz="1400" dirty="0"/>
              <a:t>      @Override</a:t>
            </a:r>
          </a:p>
          <a:p>
            <a:r>
              <a:rPr lang="zh-CN" altLang="en-US" sz="1400" dirty="0"/>
              <a:t>      protected String getCommonSuperClass(final String type1,</a:t>
            </a:r>
          </a:p>
          <a:p>
            <a:r>
              <a:rPr lang="zh-CN" altLang="en-US" sz="1400" dirty="0"/>
              <a:t>            final String type2) {</a:t>
            </a:r>
          </a:p>
          <a:p>
            <a:r>
              <a:rPr lang="zh-CN" altLang="en-US" sz="1400" dirty="0"/>
              <a:t>         throw new IllegalStateException();</a:t>
            </a:r>
          </a:p>
          <a:p>
            <a:r>
              <a:rPr lang="zh-CN" altLang="en-US" sz="1400" dirty="0"/>
              <a:t>      }</a:t>
            </a:r>
          </a:p>
          <a:p>
            <a:r>
              <a:rPr lang="zh-CN" altLang="en-US" sz="1400" dirty="0"/>
              <a:t>   };</a:t>
            </a:r>
          </a:p>
          <a:p>
            <a:r>
              <a:rPr lang="zh-CN" altLang="en-US" sz="1400" dirty="0"/>
              <a:t>   final IProbeArrayStrategy strategy = ProbeArrayStrategyFactory</a:t>
            </a:r>
          </a:p>
          <a:p>
            <a:r>
              <a:rPr lang="zh-CN" altLang="en-US" sz="1400" dirty="0"/>
              <a:t>         .createFor(reader, accessorGenerator);</a:t>
            </a:r>
          </a:p>
          <a:p>
            <a:r>
              <a:rPr lang="zh-CN" altLang="en-US" sz="1400" dirty="0"/>
              <a:t>   final ClassVisitor visitor = new ClassProbesAdapter(</a:t>
            </a:r>
          </a:p>
          <a:p>
            <a:r>
              <a:rPr lang="zh-CN" altLang="en-US" sz="1400" dirty="0"/>
              <a:t>         new ClassInstrumenter(strategy, writer), true);</a:t>
            </a:r>
          </a:p>
          <a:p>
            <a:r>
              <a:rPr lang="zh-CN" altLang="en-US" sz="1400" dirty="0"/>
              <a:t>   reader.accept(visitor, </a:t>
            </a:r>
            <a:r>
              <a:rPr lang="zh-CN" altLang="en-US" sz="1400" dirty="0">
                <a:solidFill>
                  <a:srgbClr val="C00000"/>
                </a:solidFill>
              </a:rPr>
              <a:t>ClassReader.</a:t>
            </a:r>
            <a:r>
              <a:rPr lang="zh-CN" altLang="en-US" sz="1400" dirty="0"/>
              <a:t>EXPAND_FRAMES);</a:t>
            </a:r>
          </a:p>
          <a:p>
            <a:r>
              <a:rPr lang="zh-CN" altLang="en-US" sz="1400" dirty="0"/>
              <a:t>   return writer.toByteArray();</a:t>
            </a:r>
          </a:p>
          <a:p>
            <a:r>
              <a:rPr lang="zh-CN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7958999"/>
      </p:ext>
    </p:extLst>
  </p:cSld>
  <p:clrMapOvr>
    <a:masterClrMapping/>
  </p:clrMapOvr>
  <p:transition spd="slow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004CB-5C7F-4141-B886-CC3CD0B0F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68</a:t>
            </a:fld>
            <a:endParaRPr lang="en-US" altLang="zh-CN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5F6F397-8B4F-5B4C-9AB6-A094340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100" b="1" dirty="0">
                <a:latin typeface="Arial" panose="020B0604020202020204" pitchFamily="34" charset="0"/>
                <a:ea typeface="Yuanti SC" panose="02010600040101010101" pitchFamily="2" charset="-122"/>
                <a:cs typeface="Arial" panose="020B0604020202020204" pitchFamily="34" charset="0"/>
              </a:rPr>
              <a:t>on-the-fly instrumentation</a:t>
            </a:r>
            <a:r>
              <a:rPr lang="zh-CN" altLang="en-US" sz="3100" b="1" dirty="0">
                <a:latin typeface="Arial" panose="020B0604020202020204" pitchFamily="34" charset="0"/>
                <a:ea typeface="Yuanti SC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200" b="0" dirty="0">
                <a:latin typeface="Yuanti SC" panose="02010600040101010101" pitchFamily="2" charset="-122"/>
                <a:ea typeface="Yuanti SC" panose="02010600040101010101" pitchFamily="2" charset="-122"/>
              </a:rPr>
              <a:t>–</a:t>
            </a:r>
            <a:r>
              <a:rPr lang="zh-CN" altLang="en-US" sz="2200" b="0" dirty="0">
                <a:latin typeface="Yuanti SC" panose="02010600040101010101" pitchFamily="2" charset="-122"/>
                <a:ea typeface="Yuanti SC" panose="02010600040101010101" pitchFamily="2" charset="-122"/>
              </a:rPr>
              <a:t>续</a:t>
            </a:r>
            <a:endParaRPr kumimoji="1" lang="zh-CN" altLang="en-US" sz="2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C6EE45-2B97-9144-98E7-E4DD643A83D1}"/>
              </a:ext>
            </a:extLst>
          </p:cNvPr>
          <p:cNvSpPr/>
          <p:nvPr/>
        </p:nvSpPr>
        <p:spPr>
          <a:xfrm>
            <a:off x="89756" y="1011803"/>
            <a:ext cx="4572000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zh-CN" altLang="en-US" sz="1200" dirty="0">
                <a:solidFill>
                  <a:srgbClr val="00B0F0"/>
                </a:solidFill>
              </a:rPr>
              <a:t>//ASM回調方法，同时jacoco调用分析方法</a:t>
            </a:r>
          </a:p>
          <a:p>
            <a:endParaRPr lang="zh-CN" altLang="en-US" sz="1200" dirty="0"/>
          </a:p>
          <a:p>
            <a:r>
              <a:rPr lang="zh-CN" altLang="en-US" sz="1200" dirty="0"/>
              <a:t>Override</a:t>
            </a:r>
          </a:p>
          <a:p>
            <a:r>
              <a:rPr lang="zh-CN" altLang="en-US" sz="1200" dirty="0"/>
              <a:t>public final MethodVisitor visitMethod(final int access, final String name,</a:t>
            </a:r>
          </a:p>
          <a:p>
            <a:r>
              <a:rPr lang="zh-CN" altLang="en-US" sz="1200" dirty="0"/>
              <a:t>      final String desc, final String signature, final String[] exceptions) {</a:t>
            </a:r>
          </a:p>
          <a:p>
            <a:r>
              <a:rPr lang="zh-CN" altLang="en-US" sz="1200" dirty="0"/>
              <a:t>   final MethodProbesVisitor methodProbes;</a:t>
            </a:r>
          </a:p>
          <a:p>
            <a:r>
              <a:rPr lang="zh-CN" altLang="en-US" sz="1200" dirty="0"/>
              <a:t>   final MethodProbesVisitor </a:t>
            </a:r>
            <a:r>
              <a:rPr lang="zh-CN" altLang="en-US" sz="1200" dirty="0">
                <a:solidFill>
                  <a:srgbClr val="C00000"/>
                </a:solidFill>
              </a:rPr>
              <a:t>mv = cv.visitMethod(access, name, desc,signature, exceptions);</a:t>
            </a:r>
            <a:endParaRPr lang="en-US" altLang="zh-CN" sz="1200" dirty="0">
              <a:solidFill>
                <a:srgbClr val="C00000"/>
              </a:solidFill>
            </a:endParaRPr>
          </a:p>
          <a:p>
            <a:endParaRPr lang="zh-CN" altLang="en-US" sz="1200" dirty="0"/>
          </a:p>
          <a:p>
            <a:r>
              <a:rPr lang="zh-CN" altLang="en-US" sz="1200" dirty="0"/>
              <a:t>   if (mv == null) {</a:t>
            </a:r>
          </a:p>
          <a:p>
            <a:r>
              <a:rPr lang="en-US" altLang="zh-CN" sz="1200" dirty="0"/>
              <a:t>         </a:t>
            </a:r>
            <a:r>
              <a:rPr lang="zh-CN" altLang="en-US" sz="1200" dirty="0">
                <a:solidFill>
                  <a:srgbClr val="00B0F0"/>
                </a:solidFill>
              </a:rPr>
              <a:t>methodProbes</a:t>
            </a:r>
            <a:r>
              <a:rPr lang="zh-CN" altLang="en-US" sz="1200" dirty="0"/>
              <a:t> = EMPTY_METHOD_PROBES_VISITOR;</a:t>
            </a:r>
          </a:p>
          <a:p>
            <a:r>
              <a:rPr lang="zh-CN" altLang="en-US" sz="1200" dirty="0"/>
              <a:t>   } else {</a:t>
            </a:r>
          </a:p>
          <a:p>
            <a:r>
              <a:rPr lang="zh-CN" altLang="en-US" sz="1200" dirty="0"/>
              <a:t>         </a:t>
            </a:r>
            <a:r>
              <a:rPr lang="zh-CN" altLang="en-US" sz="1200" b="1" dirty="0">
                <a:solidFill>
                  <a:srgbClr val="00B0F0"/>
                </a:solidFill>
              </a:rPr>
              <a:t>methodProbes</a:t>
            </a:r>
            <a:r>
              <a:rPr lang="zh-CN" altLang="en-US" sz="1200" dirty="0"/>
              <a:t> = mv;</a:t>
            </a:r>
          </a:p>
          <a:p>
            <a:r>
              <a:rPr lang="zh-CN" altLang="en-US" sz="1200" dirty="0"/>
              <a:t>   }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   return new MethodSanitizer(null, access, name, desc, signature,</a:t>
            </a:r>
          </a:p>
          <a:p>
            <a:r>
              <a:rPr lang="zh-CN" altLang="en-US" sz="1200" dirty="0"/>
              <a:t>         exceptions) {</a:t>
            </a:r>
          </a:p>
          <a:p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A601EE-7AFB-F54D-9D70-7821605E5EB3}"/>
              </a:ext>
            </a:extLst>
          </p:cNvPr>
          <p:cNvSpPr/>
          <p:nvPr/>
        </p:nvSpPr>
        <p:spPr>
          <a:xfrm>
            <a:off x="4616878" y="1159883"/>
            <a:ext cx="4572000" cy="36009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zh-CN" altLang="en-US" sz="1200" b="1" dirty="0"/>
              <a:t> @Override</a:t>
            </a:r>
          </a:p>
          <a:p>
            <a:r>
              <a:rPr lang="zh-CN" altLang="en-US" sz="1200" dirty="0"/>
              <a:t>      public void visitEnd() {</a:t>
            </a:r>
          </a:p>
          <a:p>
            <a:r>
              <a:rPr lang="zh-CN" altLang="en-US" sz="1200" dirty="0"/>
              <a:t>         super.visitEnd();</a:t>
            </a:r>
          </a:p>
          <a:p>
            <a:r>
              <a:rPr lang="zh-CN" altLang="en-US" sz="1200" dirty="0"/>
              <a:t>         LabelFlowAnalyzer.markLabels(this);</a:t>
            </a:r>
          </a:p>
          <a:p>
            <a:r>
              <a:rPr lang="zh-CN" altLang="en-US" sz="1200" dirty="0"/>
              <a:t>         final MethodProbesAdapter probesAdapter = new MethodProbesAdapter(</a:t>
            </a:r>
          </a:p>
          <a:p>
            <a:r>
              <a:rPr lang="zh-CN" altLang="en-US" sz="1200" dirty="0"/>
              <a:t>               methodProbes, ClassProbesAdapter.this);</a:t>
            </a:r>
          </a:p>
          <a:p>
            <a:r>
              <a:rPr lang="zh-CN" altLang="en-US" sz="1200" dirty="0"/>
              <a:t>         if (trackFrames) {</a:t>
            </a:r>
          </a:p>
          <a:p>
            <a:r>
              <a:rPr lang="zh-CN" altLang="en-US" sz="1200" dirty="0"/>
              <a:t>            final AnalyzerAdapter </a:t>
            </a:r>
            <a:r>
              <a:rPr lang="zh-CN" altLang="en-US" sz="1200" dirty="0">
                <a:solidFill>
                  <a:srgbClr val="C00000"/>
                </a:solidFill>
              </a:rPr>
              <a:t>analyzer = new AnalyzerAdapter(</a:t>
            </a:r>
          </a:p>
          <a:p>
            <a:r>
              <a:rPr lang="zh-CN" altLang="en-US" sz="1200" dirty="0">
                <a:solidFill>
                  <a:srgbClr val="C00000"/>
                </a:solidFill>
              </a:rPr>
              <a:t>                  ClassProbesAdapter.this.name, access, name, desc,</a:t>
            </a:r>
          </a:p>
          <a:p>
            <a:r>
              <a:rPr lang="zh-CN" altLang="en-US" sz="1200" dirty="0">
                <a:solidFill>
                  <a:srgbClr val="C00000"/>
                </a:solidFill>
              </a:rPr>
              <a:t>                  probesAdapter);</a:t>
            </a:r>
          </a:p>
          <a:p>
            <a:r>
              <a:rPr lang="zh-CN" altLang="en-US" sz="1200" dirty="0"/>
              <a:t>            probesAdapter.setAnalyzer(analyzer);</a:t>
            </a:r>
          </a:p>
          <a:p>
            <a:r>
              <a:rPr lang="zh-CN" altLang="en-US" sz="1200" dirty="0"/>
              <a:t>            </a:t>
            </a:r>
            <a:r>
              <a:rPr lang="zh-CN" altLang="en-US" sz="1200" b="1" dirty="0">
                <a:solidFill>
                  <a:srgbClr val="00B0F0"/>
                </a:solidFill>
              </a:rPr>
              <a:t>methodProbes</a:t>
            </a:r>
            <a:r>
              <a:rPr lang="zh-CN" altLang="en-US" sz="1200" dirty="0">
                <a:solidFill>
                  <a:srgbClr val="00B0F0"/>
                </a:solidFill>
              </a:rPr>
              <a:t>.accept(this, analyzer);   //注入数据分析</a:t>
            </a:r>
          </a:p>
          <a:p>
            <a:r>
              <a:rPr lang="zh-CN" altLang="en-US" sz="1200" dirty="0"/>
              <a:t>         } else {</a:t>
            </a:r>
          </a:p>
          <a:p>
            <a:r>
              <a:rPr lang="zh-CN" altLang="en-US" sz="1200" dirty="0"/>
              <a:t>            methodProbes.accept(this, probesAdapter);</a:t>
            </a:r>
          </a:p>
          <a:p>
            <a:r>
              <a:rPr lang="zh-CN" altLang="en-US" sz="1200" dirty="0"/>
              <a:t>         }</a:t>
            </a:r>
          </a:p>
          <a:p>
            <a:r>
              <a:rPr lang="zh-CN" altLang="en-US" sz="1200" dirty="0"/>
              <a:t>      }</a:t>
            </a:r>
          </a:p>
          <a:p>
            <a:r>
              <a:rPr lang="zh-CN" altLang="en-US" sz="1200" dirty="0"/>
              <a:t>   };</a:t>
            </a:r>
          </a:p>
          <a:p>
            <a:r>
              <a:rPr lang="zh-CN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598307"/>
      </p:ext>
    </p:extLst>
  </p:cSld>
  <p:clrMapOvr>
    <a:masterClrMapping/>
  </p:clrMapOvr>
  <p:transition spd="slow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6554" y="133526"/>
            <a:ext cx="5760442" cy="576064"/>
          </a:xfrm>
        </p:spPr>
        <p:txBody>
          <a:bodyPr>
            <a:normAutofit fontScale="90000"/>
          </a:bodyPr>
          <a:lstStyle/>
          <a:p>
            <a:r>
              <a:rPr lang="zh-CN" altLang="en-US" sz="3600" b="1" kern="1200" dirty="0">
                <a:latin typeface="+mj-ea"/>
                <a:cs typeface="+mn-cs"/>
              </a:rPr>
              <a:t>示例</a:t>
            </a:r>
          </a:p>
        </p:txBody>
      </p:sp>
      <p:pic>
        <p:nvPicPr>
          <p:cNvPr id="133123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407" y="824142"/>
            <a:ext cx="6610836" cy="2187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2" name="Picture 2" descr="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1917978"/>
            <a:ext cx="6574035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059725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21" y="161213"/>
            <a:ext cx="6984776" cy="561975"/>
          </a:xfrm>
        </p:spPr>
        <p:txBody>
          <a:bodyPr/>
          <a:lstStyle/>
          <a:p>
            <a:r>
              <a:rPr lang="zh-CN" altLang="en-US" dirty="0"/>
              <a:t>代码覆盖率度量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FE0A-B425-5D4C-B2B5-64972D2E3BEB}" type="slidenum">
              <a:rPr lang="en-US" altLang="zh-CN" smtClean="0"/>
              <a:pPr/>
              <a:t>70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2439DC-C913-F84A-BE0C-0BE707DD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704753"/>
            <a:ext cx="8770941" cy="42226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F27F4EB-2223-B942-909D-98AABB2EF742}"/>
              </a:ext>
            </a:extLst>
          </p:cNvPr>
          <p:cNvSpPr/>
          <p:nvPr/>
        </p:nvSpPr>
        <p:spPr>
          <a:xfrm>
            <a:off x="51512" y="1092784"/>
            <a:ext cx="1502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dirty="0" err="1">
                <a:solidFill>
                  <a:srgbClr val="C00000"/>
                </a:solidFill>
              </a:rPr>
              <a:t>EclEmma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B314A0-9800-854B-933F-647B57E2779F}"/>
              </a:ext>
            </a:extLst>
          </p:cNvPr>
          <p:cNvSpPr/>
          <p:nvPr/>
        </p:nvSpPr>
        <p:spPr>
          <a:xfrm>
            <a:off x="107505" y="3662516"/>
            <a:ext cx="1584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0" dirty="0" err="1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EclEmma</a:t>
            </a:r>
            <a:r>
              <a:rPr lang="en-US" altLang="zh-CN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 </a:t>
            </a:r>
            <a:r>
              <a:rPr lang="zh-CN" altLang="en-US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是基于 </a:t>
            </a:r>
            <a:r>
              <a:rPr lang="en-US" altLang="zh-CN" i="0" dirty="0" err="1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JaCoCo</a:t>
            </a:r>
            <a:r>
              <a:rPr lang="en-US" altLang="zh-CN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 </a:t>
            </a:r>
            <a:r>
              <a:rPr lang="zh-CN" altLang="en-US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的 </a:t>
            </a:r>
            <a:r>
              <a:rPr lang="en-US" altLang="zh-CN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Eclipse </a:t>
            </a:r>
            <a:r>
              <a:rPr lang="zh-CN" altLang="en-US" i="0" dirty="0">
                <a:solidFill>
                  <a:schemeClr val="accent1">
                    <a:lumMod val="50000"/>
                  </a:schemeClr>
                </a:solidFill>
                <a:latin typeface="ibm-plex-sans"/>
              </a:rPr>
              <a:t>插件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151469"/>
      </p:ext>
    </p:extLst>
  </p:cSld>
  <p:clrMapOvr>
    <a:masterClrMapping/>
  </p:clrMapOvr>
  <p:transition spd="slow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E56D7C-C47F-EE1D-34AE-3345C46D99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-29046"/>
            <a:ext cx="9144001" cy="4267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265" y="1128314"/>
            <a:ext cx="7732116" cy="895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800" b="1" dirty="0">
                <a:solidFill>
                  <a:schemeClr val="accent2">
                    <a:lumMod val="75000"/>
                  </a:schemeClr>
                </a:solidFill>
              </a:rPr>
              <a:t>5.3 </a:t>
            </a:r>
            <a:r>
              <a:rPr lang="zh-CN" altLang="en-US" sz="4800" b="1" dirty="0">
                <a:solidFill>
                  <a:schemeClr val="accent2">
                    <a:lumMod val="75000"/>
                  </a:schemeClr>
                </a:solidFill>
              </a:rPr>
              <a:t>持续集成</a:t>
            </a:r>
            <a:r>
              <a:rPr lang="zh-CN" altLang="zh-CN" sz="4800" b="1" dirty="0">
                <a:solidFill>
                  <a:schemeClr val="accent2">
                    <a:lumMod val="75000"/>
                  </a:schemeClr>
                </a:solidFill>
              </a:rPr>
              <a:t>测试</a:t>
            </a:r>
            <a:endParaRPr lang="zh-CN" altLang="en-U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47192"/>
      </p:ext>
    </p:extLst>
  </p:cSld>
  <p:clrMapOvr>
    <a:masterClrMapping/>
  </p:clrMapOvr>
  <p:transition spd="slow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8" y="475838"/>
            <a:ext cx="7357005" cy="523875"/>
          </a:xfrm>
        </p:spPr>
        <p:txBody>
          <a:bodyPr/>
          <a:lstStyle/>
          <a:p>
            <a:r>
              <a:rPr lang="zh-CN" altLang="en-US" dirty="0"/>
              <a:t>持续集成测试内容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9BF8E8-2A7A-B074-C7A6-B77F624920F8}"/>
              </a:ext>
            </a:extLst>
          </p:cNvPr>
          <p:cNvSpPr/>
          <p:nvPr/>
        </p:nvSpPr>
        <p:spPr>
          <a:xfrm>
            <a:off x="726636" y="1719047"/>
            <a:ext cx="3629698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单体架构的集成测试</a:t>
            </a:r>
          </a:p>
          <a:p>
            <a:pPr marL="34290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微服务架构的集成测试</a:t>
            </a:r>
          </a:p>
          <a:p>
            <a:pPr marL="34290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持续集成及其测试</a:t>
            </a:r>
          </a:p>
          <a:p>
            <a:pPr marL="342900" indent="-342900" algn="just">
              <a:lnSpc>
                <a:spcPct val="150000"/>
              </a:lnSpc>
              <a:buClr>
                <a:srgbClr val="2E74B5"/>
              </a:buClr>
              <a:buFont typeface="+mj-lt"/>
              <a:buAutoNum type="arabicPeriod"/>
            </a:pPr>
            <a:r>
              <a:rPr kumimoji="1"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流水线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AECAF8E5-2F87-909F-408A-E0EBFF3B0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648" y="1193890"/>
            <a:ext cx="3918395" cy="275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494240"/>
      </p:ext>
    </p:extLst>
  </p:cSld>
  <p:clrMapOvr>
    <a:masterClrMapping/>
  </p:clrMapOvr>
  <p:transition spd="slow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单体架构的集成测试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06BEE2C-7070-7029-92D7-A6A3703D7986}"/>
              </a:ext>
            </a:extLst>
          </p:cNvPr>
          <p:cNvGrpSpPr/>
          <p:nvPr/>
        </p:nvGrpSpPr>
        <p:grpSpPr>
          <a:xfrm>
            <a:off x="281354" y="1227718"/>
            <a:ext cx="3995820" cy="3608755"/>
            <a:chOff x="281354" y="1227718"/>
            <a:chExt cx="3995820" cy="3608755"/>
          </a:xfrm>
        </p:grpSpPr>
        <p:pic>
          <p:nvPicPr>
            <p:cNvPr id="3" name="图片 2" descr="图6－1自顶向下集成方法示意图">
              <a:extLst>
                <a:ext uri="{FF2B5EF4-FFF2-40B4-BE49-F238E27FC236}">
                  <a16:creationId xmlns:a16="http://schemas.microsoft.com/office/drawing/2014/main" id="{F304D44E-5B03-92B3-C2B4-76C5314CF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741" y="1227718"/>
              <a:ext cx="3846433" cy="3001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10AD9A7-9BB1-90BE-9601-B1CA0A61E129}"/>
                </a:ext>
              </a:extLst>
            </p:cNvPr>
            <p:cNvSpPr txBox="1"/>
            <p:nvPr/>
          </p:nvSpPr>
          <p:spPr>
            <a:xfrm>
              <a:off x="1688123" y="446714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自顶向下</a:t>
              </a: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EB52822-354D-38AB-832A-2D0096648250}"/>
                </a:ext>
              </a:extLst>
            </p:cNvPr>
            <p:cNvCxnSpPr/>
            <p:nvPr/>
          </p:nvCxnSpPr>
          <p:spPr>
            <a:xfrm>
              <a:off x="281354" y="1227718"/>
              <a:ext cx="0" cy="2801671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5943032-BF57-C707-F194-0E5562EA7048}"/>
              </a:ext>
            </a:extLst>
          </p:cNvPr>
          <p:cNvGrpSpPr/>
          <p:nvPr/>
        </p:nvGrpSpPr>
        <p:grpSpPr>
          <a:xfrm>
            <a:off x="4866827" y="1169028"/>
            <a:ext cx="4128122" cy="3697010"/>
            <a:chOff x="4866827" y="1169028"/>
            <a:chExt cx="4128122" cy="3697010"/>
          </a:xfrm>
        </p:grpSpPr>
        <p:pic>
          <p:nvPicPr>
            <p:cNvPr id="4" name="图片 3" descr="图6－2自底向上集成方法示意图">
              <a:extLst>
                <a:ext uri="{FF2B5EF4-FFF2-40B4-BE49-F238E27FC236}">
                  <a16:creationId xmlns:a16="http://schemas.microsoft.com/office/drawing/2014/main" id="{C33DF0F0-D424-1730-B948-BB7B533C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6827" y="1169028"/>
              <a:ext cx="4012206" cy="3035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42B75DF-DFDC-A80D-9392-1B5A5423CDAA}"/>
                </a:ext>
              </a:extLst>
            </p:cNvPr>
            <p:cNvSpPr txBox="1"/>
            <p:nvPr/>
          </p:nvSpPr>
          <p:spPr>
            <a:xfrm>
              <a:off x="6318932" y="449670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自底向上</a:t>
              </a: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D66709C2-3719-28D1-5615-27771E30C4FB}"/>
                </a:ext>
              </a:extLst>
            </p:cNvPr>
            <p:cNvCxnSpPr/>
            <p:nvPr/>
          </p:nvCxnSpPr>
          <p:spPr>
            <a:xfrm>
              <a:off x="8994949" y="1327401"/>
              <a:ext cx="0" cy="2801671"/>
            </a:xfrm>
            <a:prstGeom prst="straightConnector1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824209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单体架构的集成测试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混合策略</a:t>
            </a:r>
            <a:endParaRPr kumimoji="1" lang="zh-CN" altLang="en-US" dirty="0"/>
          </a:p>
        </p:txBody>
      </p:sp>
      <p:pic>
        <p:nvPicPr>
          <p:cNvPr id="3" name="图片 2" descr="图6－5三明治集成方法示意图">
            <a:extLst>
              <a:ext uri="{FF2B5EF4-FFF2-40B4-BE49-F238E27FC236}">
                <a16:creationId xmlns:a16="http://schemas.microsoft.com/office/drawing/2014/main" id="{A20DD9C9-D5BF-A88A-CEEF-510852F22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26" y="1118727"/>
            <a:ext cx="5498683" cy="3041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5302473"/>
      </p:ext>
    </p:extLst>
  </p:cSld>
  <p:clrMapOvr>
    <a:masterClrMapping/>
  </p:clrMapOvr>
  <p:transition spd="slow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E24B67DD-EFE6-37E3-29B4-646D6995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784" y="396814"/>
            <a:ext cx="6526059" cy="463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810"/>
            <a:ext cx="7357005" cy="523875"/>
          </a:xfrm>
        </p:spPr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微服务架构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3843130"/>
      </p:ext>
    </p:extLst>
  </p:cSld>
  <p:clrMapOvr>
    <a:masterClrMapping/>
  </p:clrMapOvr>
  <p:transition spd="slow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微服务架构的集成测试</a:t>
            </a:r>
            <a:endParaRPr kumimoji="1"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80BC707-2EAE-1DAB-3581-0280D368B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94" y="804667"/>
            <a:ext cx="3685606" cy="413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A81CC0C-12E4-B931-4F92-8D3513E0A08E}"/>
              </a:ext>
            </a:extLst>
          </p:cNvPr>
          <p:cNvSpPr txBox="1"/>
          <p:nvPr/>
        </p:nvSpPr>
        <p:spPr>
          <a:xfrm>
            <a:off x="5014127" y="824202"/>
            <a:ext cx="3999205" cy="3742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测试外部的通信以确认通信是否通畅，检查核心功能即可，有助于发现任何协议层次的错误，如丢失 HTTP 报头、SSL 使用错误，以及请求/响应不匹配等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数据库访问测试旨在确保微服务所使用的数据结构与数据库相符，以及检查 ORM 中 设置的映射关系、数据库访问模块能否妥善地处理网络出错等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4964BB-A250-D56A-0513-2BD3E097512A}"/>
              </a:ext>
            </a:extLst>
          </p:cNvPr>
          <p:cNvSpPr txBox="1"/>
          <p:nvPr/>
        </p:nvSpPr>
        <p:spPr>
          <a:xfrm>
            <a:off x="3376245" y="3276991"/>
            <a:ext cx="1637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ORM</a:t>
            </a:r>
            <a:r>
              <a:rPr lang="zh-CN" altLang="en-US" sz="1200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" altLang="zh-CN" sz="1200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Object Relational Mapping</a:t>
            </a:r>
            <a:endParaRPr lang="zh-CN" altLang="en-US" sz="1200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E6B05B0-425C-4B07-1868-408AA4EE410C}"/>
              </a:ext>
            </a:extLst>
          </p:cNvPr>
          <p:cNvCxnSpPr>
            <a:cxnSpLocks/>
          </p:cNvCxnSpPr>
          <p:nvPr/>
        </p:nvCxnSpPr>
        <p:spPr>
          <a:xfrm flipH="1">
            <a:off x="4441371" y="1145512"/>
            <a:ext cx="683288" cy="381837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9E956079-8D7D-6847-6466-C858BE7B50C3}"/>
              </a:ext>
            </a:extLst>
          </p:cNvPr>
          <p:cNvCxnSpPr>
            <a:cxnSpLocks/>
          </p:cNvCxnSpPr>
          <p:nvPr/>
        </p:nvCxnSpPr>
        <p:spPr>
          <a:xfrm flipH="1">
            <a:off x="3175279" y="3276991"/>
            <a:ext cx="1949380" cy="963748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163774"/>
      </p:ext>
    </p:extLst>
  </p:cSld>
  <p:clrMapOvr>
    <a:masterClrMapping/>
  </p:clrMapOvr>
  <p:transition spd="slow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微服务架构的集成测试 </a:t>
            </a:r>
            <a:r>
              <a:rPr kumimoji="1"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kumimoji="1"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续</a:t>
            </a:r>
            <a:endParaRPr kumimoji="1" lang="zh-CN" altLang="en-US" sz="2000" b="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215523-0372-BDCC-F0BB-48CD4C115732}"/>
              </a:ext>
            </a:extLst>
          </p:cNvPr>
          <p:cNvSpPr txBox="1"/>
          <p:nvPr/>
        </p:nvSpPr>
        <p:spPr>
          <a:xfrm>
            <a:off x="129835" y="1557840"/>
            <a:ext cx="3965510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消费者驱动的契约测试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（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Consumer Driven Contract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Testing, CDC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testing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而</a:t>
            </a:r>
            <a:r>
              <a:rPr lang="zh-CN" altLang="en-US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契约</a:t>
            </a: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规定的是接口的调用者（</a:t>
            </a:r>
            <a:r>
              <a:rPr lang="en-US" altLang="zh-CN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Consumer/</a:t>
            </a: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消费者）和被调用者（</a:t>
            </a:r>
            <a:r>
              <a:rPr lang="en-US" altLang="zh-CN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Provider/</a:t>
            </a: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提供者）之间约定的 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Request </a:t>
            </a: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 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Response </a:t>
            </a:r>
            <a:r>
              <a: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数据交互格式</a:t>
            </a:r>
            <a:endParaRPr lang="en-US" altLang="zh-CN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5D7666-5A42-829C-65B4-CAFCD3D751D3}"/>
              </a:ext>
            </a:extLst>
          </p:cNvPr>
          <p:cNvSpPr txBox="1"/>
          <p:nvPr/>
        </p:nvSpPr>
        <p:spPr>
          <a:xfrm>
            <a:off x="0" y="998984"/>
            <a:ext cx="5828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另一种观点：用契约测试或协议测试来做集成测试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FA290E-DFE0-E9F0-873F-0ABA2480165D}"/>
              </a:ext>
            </a:extLst>
          </p:cNvPr>
          <p:cNvSpPr/>
          <p:nvPr/>
        </p:nvSpPr>
        <p:spPr>
          <a:xfrm>
            <a:off x="0" y="4349243"/>
            <a:ext cx="8297694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</a:t>
            </a:r>
            <a:r>
              <a:rPr lang="zh-CN" alt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的需求出发设计测试用例并产生一份契约，然后验证</a:t>
            </a:r>
            <a:r>
              <a:rPr lang="en-US" altLang="zh-CN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provider</a:t>
            </a:r>
            <a:r>
              <a:rPr lang="zh-CN" alt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端的功能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A39EA4-7953-F6F6-44F0-33373234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979" y="1435592"/>
            <a:ext cx="5104726" cy="284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6FDD5A6-E539-F5F6-D83C-EE02510E7121}"/>
              </a:ext>
            </a:extLst>
          </p:cNvPr>
          <p:cNvSpPr txBox="1"/>
          <p:nvPr/>
        </p:nvSpPr>
        <p:spPr>
          <a:xfrm>
            <a:off x="7939043" y="2858779"/>
            <a:ext cx="1157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6C84B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一份契约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436315"/>
      </p:ext>
    </p:extLst>
  </p:cSld>
  <p:clrMapOvr>
    <a:masterClrMapping/>
  </p:clrMapOvr>
  <p:transition spd="slow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契约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测试及其优势</a:t>
            </a:r>
            <a:r>
              <a:rPr kumimoji="1" lang="zh-CN" altLang="en-US" dirty="0"/>
              <a:t>、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工具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7CB54-042A-9E74-5C4E-333CDC7F9FB0}"/>
              </a:ext>
            </a:extLst>
          </p:cNvPr>
          <p:cNvSpPr/>
          <p:nvPr/>
        </p:nvSpPr>
        <p:spPr>
          <a:xfrm>
            <a:off x="679150" y="866347"/>
            <a:ext cx="7785699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4317" indent="-23145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降低服务集成的难度，将其分解为单元测试和接口测试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43245" indent="-23038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团队能以一种离线的方式完成验证，并将联调的成本几乎降到零</a:t>
            </a:r>
          </a:p>
          <a:p>
            <a:pPr marL="244317" indent="-23145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基于契约让接口的变更有迹可循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44317" indent="-23145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 Janus、Pact、Pacto和Spring Cloud Contract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3555877-596F-5018-D842-6A683800DAC6}"/>
              </a:ext>
            </a:extLst>
          </p:cNvPr>
          <p:cNvGrpSpPr/>
          <p:nvPr/>
        </p:nvGrpSpPr>
        <p:grpSpPr>
          <a:xfrm>
            <a:off x="847868" y="2654529"/>
            <a:ext cx="6825343" cy="2208179"/>
            <a:chOff x="847868" y="2654529"/>
            <a:chExt cx="6825343" cy="220817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3786548-7633-008D-085F-DBD80FEC9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1869"/>
            <a:stretch/>
          </p:blipFill>
          <p:spPr>
            <a:xfrm>
              <a:off x="847868" y="2654529"/>
              <a:ext cx="6825343" cy="2208179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E4F00F6-C43C-D52C-48E4-89E9AFDD98EA}"/>
                </a:ext>
              </a:extLst>
            </p:cNvPr>
            <p:cNvSpPr/>
            <p:nvPr/>
          </p:nvSpPr>
          <p:spPr>
            <a:xfrm>
              <a:off x="3988340" y="2859932"/>
              <a:ext cx="583659" cy="3210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465151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631FDAB-E909-5B97-62B0-B2625DFAF7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1" b="5457"/>
          <a:stretch/>
        </p:blipFill>
        <p:spPr>
          <a:xfrm>
            <a:off x="80197" y="922667"/>
            <a:ext cx="5609182" cy="40773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68D6802-A0F0-E693-D88D-36C18493A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674" y="1206230"/>
            <a:ext cx="3380238" cy="322079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8" y="280792"/>
            <a:ext cx="3630039" cy="523875"/>
          </a:xfrm>
        </p:spPr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CDC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测试框架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6E902B-2F5B-3E33-A0A9-E122EC3D059D}"/>
              </a:ext>
            </a:extLst>
          </p:cNvPr>
          <p:cNvSpPr txBox="1"/>
          <p:nvPr/>
        </p:nvSpPr>
        <p:spPr>
          <a:xfrm>
            <a:off x="355116" y="4692240"/>
            <a:ext cx="22495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5"/>
              </a:rPr>
              <a:t>https://docs.pact.io/</a:t>
            </a:r>
            <a:r>
              <a:rPr lang="zh-CN" altLang="en-US" sz="1400" dirty="0"/>
              <a:t> </a:t>
            </a:r>
          </a:p>
        </p:txBody>
      </p:sp>
      <p:pic>
        <p:nvPicPr>
          <p:cNvPr id="5122" name="Picture 2" descr="Pact Foundation">
            <a:extLst>
              <a:ext uri="{FF2B5EF4-FFF2-40B4-BE49-F238E27FC236}">
                <a16:creationId xmlns:a16="http://schemas.microsoft.com/office/drawing/2014/main" id="{30C24543-F0A2-4916-4E14-60A31C9D9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593" y="327091"/>
            <a:ext cx="1701126" cy="35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616655"/>
      </p:ext>
    </p:extLst>
  </p:cSld>
  <p:clrMapOvr>
    <a:masterClrMapping/>
  </p:clrMapOvr>
  <p:transition spd="slow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FD05D-26CB-EED2-2585-28580DA3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Consumer</a:t>
            </a:r>
            <a:r>
              <a:rPr kumimoji="1" lang="zh-CN" altLang="en-US" dirty="0"/>
              <a:t> 测试</a:t>
            </a:r>
          </a:p>
        </p:txBody>
      </p:sp>
      <p:pic>
        <p:nvPicPr>
          <p:cNvPr id="10242" name="Picture 2" descr="Pact interaction">
            <a:extLst>
              <a:ext uri="{FF2B5EF4-FFF2-40B4-BE49-F238E27FC236}">
                <a16:creationId xmlns:a16="http://schemas.microsoft.com/office/drawing/2014/main" id="{BF702E03-0FE1-619F-DB1D-4BBCB5D15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0" y="885426"/>
            <a:ext cx="7491570" cy="200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1F178E-4EA7-1929-53E3-7B61EEEB5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32" y="2988277"/>
            <a:ext cx="6011694" cy="20631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219CE4B-F321-2349-AA81-5330F9C79112}"/>
              </a:ext>
            </a:extLst>
          </p:cNvPr>
          <p:cNvSpPr/>
          <p:nvPr/>
        </p:nvSpPr>
        <p:spPr>
          <a:xfrm>
            <a:off x="2928026" y="786829"/>
            <a:ext cx="5428034" cy="2102851"/>
          </a:xfrm>
          <a:prstGeom prst="rect">
            <a:avLst/>
          </a:pr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E678F-145C-0B15-3EC4-7C4BDD5B2A9F}"/>
              </a:ext>
            </a:extLst>
          </p:cNvPr>
          <p:cNvSpPr txBox="1"/>
          <p:nvPr/>
        </p:nvSpPr>
        <p:spPr>
          <a:xfrm>
            <a:off x="5418307" y="620001"/>
            <a:ext cx="124893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B0F0"/>
                </a:solidFill>
              </a:rPr>
              <a:t>Stub</a:t>
            </a:r>
            <a:r>
              <a:rPr kumimoji="1" lang="zh-CN" altLang="en-US" dirty="0">
                <a:solidFill>
                  <a:srgbClr val="00B0F0"/>
                </a:solidFill>
              </a:rPr>
              <a:t> </a:t>
            </a:r>
            <a:r>
              <a:rPr kumimoji="1" lang="en-US" altLang="zh-CN" dirty="0">
                <a:solidFill>
                  <a:srgbClr val="00B0F0"/>
                </a:solidFill>
              </a:rPr>
              <a:t>server</a:t>
            </a:r>
            <a:endParaRPr kumimoji="1" lang="zh-CN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1851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B6DA8-F5DE-225D-55FC-5DF3CAB4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8"/>
            <a:ext cx="7357005" cy="523875"/>
          </a:xfrm>
        </p:spPr>
        <p:txBody>
          <a:bodyPr/>
          <a:lstStyle/>
          <a:p>
            <a:r>
              <a:rPr kumimoji="1" lang="en-US" altLang="zh-CN" dirty="0"/>
              <a:t>Provider</a:t>
            </a:r>
            <a:r>
              <a:rPr kumimoji="1" lang="zh-CN" altLang="en-US" dirty="0"/>
              <a:t> 测试</a:t>
            </a:r>
          </a:p>
        </p:txBody>
      </p:sp>
      <p:pic>
        <p:nvPicPr>
          <p:cNvPr id="11266" name="Picture 2" descr="Provider verification">
            <a:extLst>
              <a:ext uri="{FF2B5EF4-FFF2-40B4-BE49-F238E27FC236}">
                <a16:creationId xmlns:a16="http://schemas.microsoft.com/office/drawing/2014/main" id="{C6227145-A79F-7EE7-1F9E-36C2194BD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90" y="804668"/>
            <a:ext cx="7431931" cy="201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5477424-8DCA-ADCA-836A-E840E547A372}"/>
              </a:ext>
            </a:extLst>
          </p:cNvPr>
          <p:cNvSpPr txBox="1"/>
          <p:nvPr/>
        </p:nvSpPr>
        <p:spPr>
          <a:xfrm>
            <a:off x="678502" y="4724208"/>
            <a:ext cx="61016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3"/>
              </a:rPr>
              <a:t>https://github.com/pact-foundation/pact-provider-verifier/</a:t>
            </a:r>
            <a:r>
              <a:rPr lang="zh-CN" altLang="en-US" sz="1200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991824A-4A80-8B1B-AC8A-B1F369B41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757" y="2953623"/>
            <a:ext cx="5003395" cy="17705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07AA85-6F6D-03D0-1E16-4CF763974722}"/>
              </a:ext>
            </a:extLst>
          </p:cNvPr>
          <p:cNvSpPr txBox="1"/>
          <p:nvPr/>
        </p:nvSpPr>
        <p:spPr>
          <a:xfrm>
            <a:off x="3609569" y="531570"/>
            <a:ext cx="192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00B0F0"/>
                </a:solidFill>
              </a:rPr>
              <a:t>Contract</a:t>
            </a:r>
            <a:r>
              <a:rPr kumimoji="1" lang="zh-CN" altLang="en-US" sz="1400" dirty="0">
                <a:solidFill>
                  <a:srgbClr val="00B0F0"/>
                </a:solidFill>
              </a:rPr>
              <a:t> </a:t>
            </a:r>
            <a:r>
              <a:rPr kumimoji="1" lang="en-US" altLang="zh-CN" sz="1400" dirty="0">
                <a:solidFill>
                  <a:srgbClr val="00B0F0"/>
                </a:solidFill>
              </a:rPr>
              <a:t>verifier</a:t>
            </a:r>
            <a:r>
              <a:rPr kumimoji="1" lang="zh-CN" altLang="en-US" sz="1400" dirty="0">
                <a:solidFill>
                  <a:srgbClr val="00B0F0"/>
                </a:solidFill>
              </a:rPr>
              <a:t> </a:t>
            </a:r>
            <a:r>
              <a:rPr kumimoji="1" lang="en-US" altLang="zh-CN" sz="1400" dirty="0">
                <a:solidFill>
                  <a:srgbClr val="00B0F0"/>
                </a:solidFill>
              </a:rPr>
              <a:t>tests</a:t>
            </a:r>
            <a:r>
              <a:rPr kumimoji="1" lang="zh-CN" altLang="en-US" sz="14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CE198A-3E71-56C4-3EAC-A8111EE07B1D}"/>
              </a:ext>
            </a:extLst>
          </p:cNvPr>
          <p:cNvSpPr txBox="1"/>
          <p:nvPr/>
        </p:nvSpPr>
        <p:spPr>
          <a:xfrm>
            <a:off x="1060315" y="1775721"/>
            <a:ext cx="1281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00B0F0"/>
                </a:solidFill>
              </a:rPr>
              <a:t>Auto- generate</a:t>
            </a:r>
            <a:endParaRPr kumimoji="1"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BE66ED-06AE-5E37-DB3E-C8E332ACEFCB}"/>
              </a:ext>
            </a:extLst>
          </p:cNvPr>
          <p:cNvSpPr txBox="1"/>
          <p:nvPr/>
        </p:nvSpPr>
        <p:spPr>
          <a:xfrm>
            <a:off x="369651" y="3239311"/>
            <a:ext cx="1355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solidFill>
                  <a:srgbClr val="00B0F0"/>
                </a:solidFill>
              </a:rPr>
              <a:t>Contract.groovy</a:t>
            </a:r>
            <a:endParaRPr kumimoji="1" lang="zh-CN" altLang="en-US" sz="1400" dirty="0">
              <a:solidFill>
                <a:srgbClr val="00B0F0"/>
              </a:solidFill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7BA846C-717B-53DB-0B45-F12C6F906C4F}"/>
              </a:ext>
            </a:extLst>
          </p:cNvPr>
          <p:cNvCxnSpPr/>
          <p:nvPr/>
        </p:nvCxnSpPr>
        <p:spPr>
          <a:xfrm flipH="1">
            <a:off x="1060315" y="2743200"/>
            <a:ext cx="466928" cy="622570"/>
          </a:xfrm>
          <a:prstGeom prst="straightConnector1">
            <a:avLst/>
          </a:prstGeom>
          <a:ln w="127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A168F8B-5088-A901-0CF9-523C4B8E051A}"/>
              </a:ext>
            </a:extLst>
          </p:cNvPr>
          <p:cNvSpPr txBox="1"/>
          <p:nvPr/>
        </p:nvSpPr>
        <p:spPr>
          <a:xfrm>
            <a:off x="6025746" y="1775721"/>
            <a:ext cx="75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B0F0"/>
                </a:solidFill>
              </a:rPr>
              <a:t>Call API</a:t>
            </a:r>
          </a:p>
        </p:txBody>
      </p:sp>
    </p:spTree>
    <p:extLst>
      <p:ext uri="{BB962C8B-B14F-4D97-AF65-F5344CB8AC3E}">
        <p14:creationId xmlns:p14="http://schemas.microsoft.com/office/powerpoint/2010/main" val="769082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3565F-2184-8492-777B-467F22D7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2B0D32-0582-0C0A-AC57-FB5783838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78" y="1060314"/>
            <a:ext cx="5574331" cy="33057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3E6E6DE-0A12-A76F-9DE9-6A385419F823}"/>
              </a:ext>
            </a:extLst>
          </p:cNvPr>
          <p:cNvSpPr txBox="1"/>
          <p:nvPr/>
        </p:nvSpPr>
        <p:spPr>
          <a:xfrm>
            <a:off x="1040860" y="4437002"/>
            <a:ext cx="295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side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provider</a:t>
            </a:r>
            <a:endParaRPr kumimoji="1"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4B6034-C6CD-64A5-DF70-9EC8378D682F}"/>
              </a:ext>
            </a:extLst>
          </p:cNvPr>
          <p:cNvGrpSpPr/>
          <p:nvPr/>
        </p:nvGrpSpPr>
        <p:grpSpPr>
          <a:xfrm>
            <a:off x="3516454" y="973126"/>
            <a:ext cx="5627546" cy="3566580"/>
            <a:chOff x="3516454" y="973126"/>
            <a:chExt cx="5627546" cy="356658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4FDF01F-C35B-E789-4602-C9E72F85C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6454" y="973126"/>
              <a:ext cx="5627546" cy="348008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9BD0805-036D-7E27-8DC1-6C919AACF5AC}"/>
                </a:ext>
              </a:extLst>
            </p:cNvPr>
            <p:cNvSpPr txBox="1"/>
            <p:nvPr/>
          </p:nvSpPr>
          <p:spPr>
            <a:xfrm>
              <a:off x="4985542" y="4170374"/>
              <a:ext cx="3040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Client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side</a:t>
              </a:r>
              <a:r>
                <a:rPr kumimoji="1" lang="zh-CN" altLang="en-US" dirty="0"/>
                <a:t>：</a:t>
              </a:r>
              <a:r>
                <a:rPr kumimoji="1" lang="en-US" altLang="zh-CN" dirty="0"/>
                <a:t>service</a:t>
              </a:r>
              <a:r>
                <a:rPr kumimoji="1" lang="zh-CN" altLang="en-US" dirty="0"/>
                <a:t> </a:t>
              </a:r>
              <a:r>
                <a:rPr kumimoji="1" lang="en-US" altLang="zh-CN" dirty="0" err="1"/>
                <a:t>concumer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6995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如何获取接口信息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9573588-86F5-543F-A513-330F8333E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57" y="804667"/>
            <a:ext cx="5540305" cy="4167529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898BE-AF53-531F-0168-47EC8B7FEF30}"/>
              </a:ext>
            </a:extLst>
          </p:cNvPr>
          <p:cNvSpPr txBox="1"/>
          <p:nvPr/>
        </p:nvSpPr>
        <p:spPr>
          <a:xfrm>
            <a:off x="6944255" y="2241138"/>
            <a:ext cx="1446963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33333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Swagger </a:t>
            </a:r>
            <a:r>
              <a:rPr lang="zh-CN" altLang="en-US" sz="1800" dirty="0">
                <a:solidFill>
                  <a:srgbClr val="33333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生成的动态接口文档示例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540276"/>
      </p:ext>
    </p:extLst>
  </p:cSld>
  <p:clrMapOvr>
    <a:masterClrMapping/>
  </p:clrMapOvr>
  <p:transition spd="slow"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86" y="331033"/>
            <a:ext cx="7357005" cy="523875"/>
          </a:xfrm>
        </p:spPr>
        <p:txBody>
          <a:bodyPr/>
          <a:lstStyle/>
          <a:p>
            <a:r>
              <a:rPr kumimoji="1" lang="zh-CN" altLang="en-US" dirty="0"/>
              <a:t>利用 </a:t>
            </a:r>
            <a:r>
              <a:rPr kumimoji="1" lang="en-US" altLang="zh-CN" dirty="0"/>
              <a:t>Mock </a:t>
            </a:r>
            <a:r>
              <a:rPr kumimoji="1" lang="zh-CN" altLang="en-US" dirty="0"/>
              <a:t>技术解除微服务之间的依赖</a:t>
            </a:r>
          </a:p>
        </p:txBody>
      </p:sp>
      <p:sp>
        <p:nvSpPr>
          <p:cNvPr id="3" name="矩形: 圆角 4">
            <a:extLst>
              <a:ext uri="{FF2B5EF4-FFF2-40B4-BE49-F238E27FC236}">
                <a16:creationId xmlns:a16="http://schemas.microsoft.com/office/drawing/2014/main" id="{0074A02F-8B48-5A4D-CCD8-70287224CE57}"/>
              </a:ext>
            </a:extLst>
          </p:cNvPr>
          <p:cNvSpPr/>
          <p:nvPr/>
        </p:nvSpPr>
        <p:spPr>
          <a:xfrm>
            <a:off x="984741" y="2317898"/>
            <a:ext cx="1331349" cy="660962"/>
          </a:xfrm>
          <a:prstGeom prst="roundRect">
            <a:avLst>
              <a:gd name="adj" fmla="val 12720"/>
            </a:avLst>
          </a:prstGeom>
          <a:solidFill>
            <a:srgbClr val="F0846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" name="流程图: 数据 55">
            <a:extLst>
              <a:ext uri="{FF2B5EF4-FFF2-40B4-BE49-F238E27FC236}">
                <a16:creationId xmlns:a16="http://schemas.microsoft.com/office/drawing/2014/main" id="{C70493D0-1833-97AA-3DBB-1DC29CEB65E4}"/>
              </a:ext>
            </a:extLst>
          </p:cNvPr>
          <p:cNvSpPr/>
          <p:nvPr/>
        </p:nvSpPr>
        <p:spPr>
          <a:xfrm>
            <a:off x="3062052" y="1648444"/>
            <a:ext cx="1378112" cy="742949"/>
          </a:xfrm>
          <a:prstGeom prst="flowChartInputOutput">
            <a:avLst/>
          </a:prstGeom>
          <a:solidFill>
            <a:srgbClr val="70B49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472886-ADCD-9E18-7CC1-76CECF36F112}"/>
              </a:ext>
            </a:extLst>
          </p:cNvPr>
          <p:cNvSpPr/>
          <p:nvPr/>
        </p:nvSpPr>
        <p:spPr>
          <a:xfrm>
            <a:off x="3105350" y="1691632"/>
            <a:ext cx="10784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Mock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Service B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6094DD-8C20-2BD1-576E-A3F1EF07D68C}"/>
              </a:ext>
            </a:extLst>
          </p:cNvPr>
          <p:cNvSpPr/>
          <p:nvPr/>
        </p:nvSpPr>
        <p:spPr>
          <a:xfrm>
            <a:off x="1055157" y="2391393"/>
            <a:ext cx="10598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微服务</a:t>
            </a:r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SUT</a:t>
            </a:r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</a:p>
        </p:txBody>
      </p:sp>
      <p:sp>
        <p:nvSpPr>
          <p:cNvPr id="8" name="流程图: 数据 58">
            <a:extLst>
              <a:ext uri="{FF2B5EF4-FFF2-40B4-BE49-F238E27FC236}">
                <a16:creationId xmlns:a16="http://schemas.microsoft.com/office/drawing/2014/main" id="{B67A2CA2-9517-8CD3-BDBB-242C7858BA25}"/>
              </a:ext>
            </a:extLst>
          </p:cNvPr>
          <p:cNvSpPr/>
          <p:nvPr/>
        </p:nvSpPr>
        <p:spPr>
          <a:xfrm>
            <a:off x="2973107" y="3103917"/>
            <a:ext cx="1467046" cy="801210"/>
          </a:xfrm>
          <a:prstGeom prst="flowChartInputOutput">
            <a:avLst/>
          </a:prstGeom>
          <a:solidFill>
            <a:srgbClr val="8E93B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F6373C-5B89-B4B8-5511-D45A06ED8C0D}"/>
              </a:ext>
            </a:extLst>
          </p:cNvPr>
          <p:cNvSpPr/>
          <p:nvPr/>
        </p:nvSpPr>
        <p:spPr>
          <a:xfrm>
            <a:off x="3110223" y="3175524"/>
            <a:ext cx="10880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Mock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Service C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1" name="矩形: 圆角 60">
            <a:extLst>
              <a:ext uri="{FF2B5EF4-FFF2-40B4-BE49-F238E27FC236}">
                <a16:creationId xmlns:a16="http://schemas.microsoft.com/office/drawing/2014/main" id="{FE102F1A-3A83-E493-398E-E935F1D04448}"/>
              </a:ext>
            </a:extLst>
          </p:cNvPr>
          <p:cNvSpPr/>
          <p:nvPr/>
        </p:nvSpPr>
        <p:spPr>
          <a:xfrm>
            <a:off x="4319172" y="3900810"/>
            <a:ext cx="1165034" cy="627962"/>
          </a:xfrm>
          <a:prstGeom prst="roundRect">
            <a:avLst>
              <a:gd name="adj" fmla="val 1272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529EE5-7AD5-B390-DA08-0E24654186C0}"/>
              </a:ext>
            </a:extLst>
          </p:cNvPr>
          <p:cNvSpPr/>
          <p:nvPr/>
        </p:nvSpPr>
        <p:spPr>
          <a:xfrm>
            <a:off x="4432651" y="4078986"/>
            <a:ext cx="9380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微服务</a:t>
            </a:r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13" name="直接箭头连接符 57">
            <a:extLst>
              <a:ext uri="{FF2B5EF4-FFF2-40B4-BE49-F238E27FC236}">
                <a16:creationId xmlns:a16="http://schemas.microsoft.com/office/drawing/2014/main" id="{D805BE5B-DB79-4A16-370C-A69103F2B0A8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374709" y="1984020"/>
            <a:ext cx="730641" cy="567633"/>
          </a:xfrm>
          <a:prstGeom prst="straightConnector1">
            <a:avLst/>
          </a:prstGeom>
          <a:ln w="47625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64">
            <a:extLst>
              <a:ext uri="{FF2B5EF4-FFF2-40B4-BE49-F238E27FC236}">
                <a16:creationId xmlns:a16="http://schemas.microsoft.com/office/drawing/2014/main" id="{6F086ECF-72C5-0974-CD84-A844EDB33DD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374709" y="2687384"/>
            <a:ext cx="735514" cy="780528"/>
          </a:xfrm>
          <a:prstGeom prst="straightConnector1">
            <a:avLst/>
          </a:prstGeom>
          <a:ln w="47625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D3CE8E3-C290-E621-474F-A9FAC7DEAB28}"/>
              </a:ext>
            </a:extLst>
          </p:cNvPr>
          <p:cNvSpPr/>
          <p:nvPr/>
        </p:nvSpPr>
        <p:spPr>
          <a:xfrm>
            <a:off x="163892" y="2050920"/>
            <a:ext cx="806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Test</a:t>
            </a:r>
            <a:endParaRPr lang="zh-CN" altLang="en-US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接箭头连接符 2">
            <a:extLst>
              <a:ext uri="{FF2B5EF4-FFF2-40B4-BE49-F238E27FC236}">
                <a16:creationId xmlns:a16="http://schemas.microsoft.com/office/drawing/2014/main" id="{A126038B-5D6E-487B-652B-CFA4F7FA3E62}"/>
              </a:ext>
            </a:extLst>
          </p:cNvPr>
          <p:cNvCxnSpPr>
            <a:cxnSpLocks/>
          </p:cNvCxnSpPr>
          <p:nvPr/>
        </p:nvCxnSpPr>
        <p:spPr>
          <a:xfrm flipH="1">
            <a:off x="163892" y="2708078"/>
            <a:ext cx="820849" cy="0"/>
          </a:xfrm>
          <a:prstGeom prst="straightConnector1">
            <a:avLst/>
          </a:prstGeom>
          <a:ln w="44450">
            <a:solidFill>
              <a:schemeClr val="bg2">
                <a:lumMod val="50000"/>
              </a:schemeClr>
            </a:solidFill>
            <a:headEnd type="triangl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26">
            <a:extLst>
              <a:ext uri="{FF2B5EF4-FFF2-40B4-BE49-F238E27FC236}">
                <a16:creationId xmlns:a16="http://schemas.microsoft.com/office/drawing/2014/main" id="{37753EC7-9FB3-60F8-7051-1655B2DDCB6C}"/>
              </a:ext>
            </a:extLst>
          </p:cNvPr>
          <p:cNvSpPr/>
          <p:nvPr/>
        </p:nvSpPr>
        <p:spPr>
          <a:xfrm>
            <a:off x="4319172" y="924392"/>
            <a:ext cx="1165034" cy="627962"/>
          </a:xfrm>
          <a:prstGeom prst="roundRect">
            <a:avLst>
              <a:gd name="adj" fmla="val 1272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C1DB43-3263-720F-A513-C5DF799AD614}"/>
              </a:ext>
            </a:extLst>
          </p:cNvPr>
          <p:cNvSpPr/>
          <p:nvPr/>
        </p:nvSpPr>
        <p:spPr>
          <a:xfrm>
            <a:off x="4462763" y="1102568"/>
            <a:ext cx="928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微服务</a:t>
            </a:r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19" name="直接连接符 13">
            <a:extLst>
              <a:ext uri="{FF2B5EF4-FFF2-40B4-BE49-F238E27FC236}">
                <a16:creationId xmlns:a16="http://schemas.microsoft.com/office/drawing/2014/main" id="{B6CBE84B-A82C-A4C0-2555-B1D48EFB8687}"/>
              </a:ext>
            </a:extLst>
          </p:cNvPr>
          <p:cNvCxnSpPr/>
          <p:nvPr/>
        </p:nvCxnSpPr>
        <p:spPr>
          <a:xfrm>
            <a:off x="4601831" y="1576710"/>
            <a:ext cx="0" cy="2324100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>
            <a:extLst>
              <a:ext uri="{FF2B5EF4-FFF2-40B4-BE49-F238E27FC236}">
                <a16:creationId xmlns:a16="http://schemas.microsoft.com/office/drawing/2014/main" id="{7E65797E-9AAC-2580-6AAE-01AD643BA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50" y="900310"/>
            <a:ext cx="2371042" cy="3346929"/>
          </a:xfrm>
          <a:prstGeom prst="rect">
            <a:avLst/>
          </a:prstGeom>
          <a:ln w="38100" cap="sq">
            <a:solidFill>
              <a:schemeClr val="accent3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03D4F1E-817D-C988-0282-B94154802157}"/>
              </a:ext>
            </a:extLst>
          </p:cNvPr>
          <p:cNvSpPr txBox="1"/>
          <p:nvPr/>
        </p:nvSpPr>
        <p:spPr>
          <a:xfrm>
            <a:off x="6093440" y="4298522"/>
            <a:ext cx="2686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Mock 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请求和响应信息示例</a:t>
            </a:r>
          </a:p>
        </p:txBody>
      </p:sp>
    </p:spTree>
    <p:extLst>
      <p:ext uri="{BB962C8B-B14F-4D97-AF65-F5344CB8AC3E}">
        <p14:creationId xmlns:p14="http://schemas.microsoft.com/office/powerpoint/2010/main" val="1685319520"/>
      </p:ext>
    </p:extLst>
  </p:cSld>
  <p:clrMapOvr>
    <a:masterClrMapping/>
  </p:clrMapOvr>
  <p:transition spd="slow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367573" y="2005267"/>
            <a:ext cx="717579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CI/CD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与持续</a:t>
            </a:r>
            <a:r>
              <a:rPr lang="zh-CN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altLang="en-US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0854863"/>
      </p:ext>
    </p:extLst>
  </p:cSld>
  <p:clrMapOvr>
    <a:masterClrMapping/>
  </p:clrMapOvr>
  <p:transition spd="slow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流水线</a:t>
            </a:r>
            <a:endParaRPr kumimoji="1" lang="zh-CN" altLang="en-US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0B06E46-A3B3-ABB3-84E8-08F9088B6BF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28560" y="1054620"/>
            <a:ext cx="7885890" cy="337257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73179440"/>
      </p:ext>
    </p:extLst>
  </p:cSld>
  <p:clrMapOvr>
    <a:masterClrMapping/>
  </p:clrMapOvr>
  <p:transition spd="slow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3745078-AB76-3567-2A82-14E174A43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373" y="1459148"/>
            <a:ext cx="3507254" cy="255837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CD</a:t>
            </a:r>
            <a:r>
              <a:rPr kumimoji="1" lang="zh-CN" altLang="en-US" dirty="0"/>
              <a:t>倒逼持续测试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8E79D0-FB0D-8478-9C1C-25D096508216}"/>
              </a:ext>
            </a:extLst>
          </p:cNvPr>
          <p:cNvGrpSpPr/>
          <p:nvPr/>
        </p:nvGrpSpPr>
        <p:grpSpPr>
          <a:xfrm>
            <a:off x="7939043" y="2086131"/>
            <a:ext cx="1136130" cy="1084344"/>
            <a:chOff x="2993041" y="356186"/>
            <a:chExt cx="469640" cy="448233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88ACA8C-5B98-C514-CF09-60E79283BD24}"/>
                </a:ext>
              </a:extLst>
            </p:cNvPr>
            <p:cNvSpPr/>
            <p:nvPr/>
          </p:nvSpPr>
          <p:spPr>
            <a:xfrm>
              <a:off x="2993041" y="356186"/>
              <a:ext cx="469640" cy="44823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bg1"/>
                </a:solidFill>
                <a:latin typeface="Microsoft YaHei" panose="020B0503020204020204" charset="-122"/>
                <a:ea typeface="阿里巴巴普惠体" panose="00020600040101010101" charset="-122"/>
                <a:sym typeface="Microsoft YaHei" panose="020B0503020204020204" charset="-122"/>
              </a:endParaRPr>
            </a:p>
          </p:txBody>
        </p:sp>
        <p:sp>
          <p:nvSpPr>
            <p:cNvPr id="5" name="Shape 234">
              <a:extLst>
                <a:ext uri="{FF2B5EF4-FFF2-40B4-BE49-F238E27FC236}">
                  <a16:creationId xmlns:a16="http://schemas.microsoft.com/office/drawing/2014/main" id="{7CB3CE53-C66E-45C2-28AF-766D7BCB908D}"/>
                </a:ext>
              </a:extLst>
            </p:cNvPr>
            <p:cNvSpPr/>
            <p:nvPr/>
          </p:nvSpPr>
          <p:spPr>
            <a:xfrm>
              <a:off x="3045177" y="385800"/>
              <a:ext cx="365367" cy="4079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22893" tIns="122893" rIns="122893" bIns="122893" anchor="ctr">
              <a:spAutoFit/>
            </a:bodyPr>
            <a:lstStyle>
              <a:lvl1pPr>
                <a:defRPr sz="6800" b="1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defRPr>
              </a:lvl1pPr>
            </a:lstStyle>
            <a:p>
              <a:pPr algn="ctr"/>
              <a:r>
                <a:rPr lang="zh-CN" altLang="en-US" sz="2400" b="0" dirty="0">
                  <a:solidFill>
                    <a:schemeClr val="bg1"/>
                  </a:solidFill>
                  <a:ea typeface="阿里巴巴普惠体" panose="00020600040101010101" charset="-122"/>
                  <a:sym typeface="Alibaba-PuHuiTi-M"/>
                </a:rPr>
                <a:t>持续交付</a:t>
              </a:r>
              <a:endParaRPr sz="2400" b="0" dirty="0">
                <a:solidFill>
                  <a:schemeClr val="bg1"/>
                </a:solidFill>
                <a:ea typeface="阿里巴巴普惠体" panose="00020600040101010101" charset="-122"/>
                <a:sym typeface="Alibaba-PuHuiTi-M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C9AAE5A-ED8F-6CDB-BC5C-8EA724AE433C}"/>
              </a:ext>
            </a:extLst>
          </p:cNvPr>
          <p:cNvGrpSpPr/>
          <p:nvPr/>
        </p:nvGrpSpPr>
        <p:grpSpPr>
          <a:xfrm>
            <a:off x="6090678" y="2115419"/>
            <a:ext cx="1120843" cy="1084344"/>
            <a:chOff x="2975783" y="351469"/>
            <a:chExt cx="463321" cy="44823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18DD166-CB7E-2CD8-2B9D-7CE37B07E494}"/>
                </a:ext>
              </a:extLst>
            </p:cNvPr>
            <p:cNvSpPr/>
            <p:nvPr/>
          </p:nvSpPr>
          <p:spPr>
            <a:xfrm>
              <a:off x="2975783" y="351469"/>
              <a:ext cx="463321" cy="44823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bg1"/>
                </a:solidFill>
                <a:latin typeface="Microsoft YaHei" panose="020B0503020204020204" charset="-122"/>
                <a:ea typeface="阿里巴巴普惠体" panose="00020600040101010101" charset="-122"/>
                <a:sym typeface="Microsoft YaHei" panose="020B0503020204020204" charset="-122"/>
              </a:endParaRPr>
            </a:p>
          </p:txBody>
        </p:sp>
        <p:sp>
          <p:nvSpPr>
            <p:cNvPr id="8" name="Shape 234">
              <a:extLst>
                <a:ext uri="{FF2B5EF4-FFF2-40B4-BE49-F238E27FC236}">
                  <a16:creationId xmlns:a16="http://schemas.microsoft.com/office/drawing/2014/main" id="{F31472E5-9D3D-B690-FB37-7F9537C9404F}"/>
                </a:ext>
              </a:extLst>
            </p:cNvPr>
            <p:cNvSpPr/>
            <p:nvPr/>
          </p:nvSpPr>
          <p:spPr>
            <a:xfrm>
              <a:off x="3031532" y="371619"/>
              <a:ext cx="363515" cy="4079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22893" tIns="122893" rIns="122893" bIns="122893" anchor="ctr">
              <a:spAutoFit/>
            </a:bodyPr>
            <a:lstStyle>
              <a:lvl1pPr>
                <a:defRPr sz="6800" b="1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defRPr>
              </a:lvl1pPr>
            </a:lstStyle>
            <a:p>
              <a:pPr algn="ctr"/>
              <a:r>
                <a:rPr lang="zh-CN" altLang="en-US" sz="2400" b="0" dirty="0">
                  <a:solidFill>
                    <a:schemeClr val="bg1"/>
                  </a:solidFill>
                  <a:ea typeface="阿里巴巴普惠体" panose="00020600040101010101" charset="-122"/>
                  <a:sym typeface="Alibaba-PuHuiTi-M"/>
                </a:rPr>
                <a:t>持续部署</a:t>
              </a:r>
              <a:endParaRPr sz="2400" b="0" dirty="0">
                <a:solidFill>
                  <a:schemeClr val="bg1"/>
                </a:solidFill>
                <a:ea typeface="阿里巴巴普惠体" panose="00020600040101010101" charset="-122"/>
                <a:sym typeface="Alibaba-PuHuiTi-M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EDC4723-8C9B-618D-65E4-DE69E3E7D0B7}"/>
              </a:ext>
            </a:extLst>
          </p:cNvPr>
          <p:cNvGrpSpPr/>
          <p:nvPr/>
        </p:nvGrpSpPr>
        <p:grpSpPr>
          <a:xfrm>
            <a:off x="4091504" y="2091255"/>
            <a:ext cx="1137901" cy="1120163"/>
            <a:chOff x="2945100" y="346751"/>
            <a:chExt cx="470372" cy="46304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365D3A6-2153-BD02-BC93-CBDAC881E35C}"/>
                </a:ext>
              </a:extLst>
            </p:cNvPr>
            <p:cNvSpPr/>
            <p:nvPr/>
          </p:nvSpPr>
          <p:spPr>
            <a:xfrm>
              <a:off x="2945100" y="346751"/>
              <a:ext cx="470372" cy="46304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bg1"/>
                </a:solidFill>
                <a:latin typeface="Microsoft YaHei" panose="020B0503020204020204" charset="-122"/>
                <a:ea typeface="阿里巴巴普惠体" panose="00020600040101010101" charset="-122"/>
                <a:sym typeface="Microsoft YaHei" panose="020B0503020204020204" charset="-122"/>
              </a:endParaRPr>
            </a:p>
          </p:txBody>
        </p:sp>
        <p:sp>
          <p:nvSpPr>
            <p:cNvPr id="11" name="Shape 234">
              <a:extLst>
                <a:ext uri="{FF2B5EF4-FFF2-40B4-BE49-F238E27FC236}">
                  <a16:creationId xmlns:a16="http://schemas.microsoft.com/office/drawing/2014/main" id="{CF758679-18E9-7AC6-F96F-865A125DB613}"/>
                </a:ext>
              </a:extLst>
            </p:cNvPr>
            <p:cNvSpPr/>
            <p:nvPr/>
          </p:nvSpPr>
          <p:spPr>
            <a:xfrm>
              <a:off x="3003980" y="376366"/>
              <a:ext cx="367433" cy="4079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22893" tIns="122893" rIns="122893" bIns="122893" anchor="ctr">
              <a:spAutoFit/>
            </a:bodyPr>
            <a:lstStyle>
              <a:lvl1pPr>
                <a:defRPr sz="6800" b="1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defRPr>
              </a:lvl1pPr>
            </a:lstStyle>
            <a:p>
              <a:pPr algn="ctr"/>
              <a:r>
                <a:rPr lang="zh-CN" altLang="en-US" sz="2400" b="0" dirty="0">
                  <a:solidFill>
                    <a:schemeClr val="bg1"/>
                  </a:solidFill>
                  <a:ea typeface="阿里巴巴普惠体" panose="00020600040101010101" charset="-122"/>
                  <a:sym typeface="Alibaba-PuHuiTi-M"/>
                </a:rPr>
                <a:t>持续测试</a:t>
              </a:r>
              <a:endParaRPr sz="2400" b="0" dirty="0">
                <a:solidFill>
                  <a:schemeClr val="bg1"/>
                </a:solidFill>
                <a:ea typeface="阿里巴巴普惠体" panose="00020600040101010101" charset="-122"/>
                <a:sym typeface="Alibaba-PuHuiTi-M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867A851-78C2-5438-88B8-8613B01AB124}"/>
              </a:ext>
            </a:extLst>
          </p:cNvPr>
          <p:cNvGrpSpPr/>
          <p:nvPr/>
        </p:nvGrpSpPr>
        <p:grpSpPr>
          <a:xfrm>
            <a:off x="1963794" y="2163418"/>
            <a:ext cx="1128047" cy="1112879"/>
            <a:chOff x="2872696" y="339673"/>
            <a:chExt cx="466299" cy="46002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1330CE5-1CDB-7B8D-0430-0B628235BC70}"/>
                </a:ext>
              </a:extLst>
            </p:cNvPr>
            <p:cNvSpPr/>
            <p:nvPr/>
          </p:nvSpPr>
          <p:spPr>
            <a:xfrm>
              <a:off x="2872696" y="339673"/>
              <a:ext cx="466299" cy="460029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bg1"/>
                </a:solidFill>
                <a:latin typeface="Microsoft YaHei" panose="020B0503020204020204" charset="-122"/>
                <a:ea typeface="阿里巴巴普惠体" panose="00020600040101010101" charset="-122"/>
                <a:sym typeface="Microsoft YaHei" panose="020B0503020204020204" charset="-122"/>
              </a:endParaRPr>
            </a:p>
          </p:txBody>
        </p:sp>
        <p:sp>
          <p:nvSpPr>
            <p:cNvPr id="14" name="Shape 234">
              <a:extLst>
                <a:ext uri="{FF2B5EF4-FFF2-40B4-BE49-F238E27FC236}">
                  <a16:creationId xmlns:a16="http://schemas.microsoft.com/office/drawing/2014/main" id="{99A0200C-70F5-EE57-AEBF-A45DB940BB5C}"/>
                </a:ext>
              </a:extLst>
            </p:cNvPr>
            <p:cNvSpPr/>
            <p:nvPr/>
          </p:nvSpPr>
          <p:spPr>
            <a:xfrm>
              <a:off x="2906801" y="369287"/>
              <a:ext cx="398088" cy="4079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22893" tIns="122893" rIns="122893" bIns="122893" anchor="ctr">
              <a:spAutoFit/>
            </a:bodyPr>
            <a:lstStyle>
              <a:lvl1pPr>
                <a:defRPr sz="6800" b="1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defRPr>
              </a:lvl1pPr>
            </a:lstStyle>
            <a:p>
              <a:pPr algn="ctr"/>
              <a:r>
                <a:rPr lang="zh-CN" altLang="en-US" sz="2400" b="0" dirty="0">
                  <a:solidFill>
                    <a:schemeClr val="bg1"/>
                  </a:solidFill>
                  <a:ea typeface="阿里巴巴普惠体" panose="00020600040101010101" charset="-122"/>
                  <a:sym typeface="Alibaba-PuHuiTi-M"/>
                </a:rPr>
                <a:t>持续集成</a:t>
              </a:r>
              <a:endParaRPr sz="2400" b="0" dirty="0">
                <a:solidFill>
                  <a:schemeClr val="bg1"/>
                </a:solidFill>
                <a:ea typeface="阿里巴巴普惠体" panose="00020600040101010101" charset="-122"/>
                <a:sym typeface="Alibaba-PuHuiTi-M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D4C9E1-CEC9-C134-E4AE-397AF5DF5785}"/>
              </a:ext>
            </a:extLst>
          </p:cNvPr>
          <p:cNvGrpSpPr/>
          <p:nvPr/>
        </p:nvGrpSpPr>
        <p:grpSpPr>
          <a:xfrm>
            <a:off x="96331" y="2162898"/>
            <a:ext cx="1136564" cy="1110199"/>
            <a:chOff x="2830256" y="340781"/>
            <a:chExt cx="469819" cy="458921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4C8FA3-AEFF-C6E3-AA28-67E5AEECDB29}"/>
                </a:ext>
              </a:extLst>
            </p:cNvPr>
            <p:cNvSpPr/>
            <p:nvPr/>
          </p:nvSpPr>
          <p:spPr>
            <a:xfrm>
              <a:off x="2830256" y="340781"/>
              <a:ext cx="469819" cy="458921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bg1"/>
                </a:solidFill>
                <a:latin typeface="Microsoft YaHei" panose="020B0503020204020204" charset="-122"/>
                <a:ea typeface="阿里巴巴普惠体" panose="00020600040101010101" charset="-122"/>
                <a:sym typeface="Microsoft YaHei" panose="020B0503020204020204" charset="-122"/>
              </a:endParaRPr>
            </a:p>
          </p:txBody>
        </p:sp>
        <p:sp>
          <p:nvSpPr>
            <p:cNvPr id="17" name="Shape 234">
              <a:extLst>
                <a:ext uri="{FF2B5EF4-FFF2-40B4-BE49-F238E27FC236}">
                  <a16:creationId xmlns:a16="http://schemas.microsoft.com/office/drawing/2014/main" id="{A2444B62-F3CF-B2FA-90DB-2D1EED8F3C3A}"/>
                </a:ext>
              </a:extLst>
            </p:cNvPr>
            <p:cNvSpPr/>
            <p:nvPr/>
          </p:nvSpPr>
          <p:spPr>
            <a:xfrm>
              <a:off x="2869479" y="351468"/>
              <a:ext cx="417620" cy="4079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22893" tIns="122893" rIns="122893" bIns="122893" anchor="ctr">
              <a:spAutoFit/>
            </a:bodyPr>
            <a:lstStyle>
              <a:lvl1pPr>
                <a:defRPr sz="6800" b="1"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defRPr>
              </a:lvl1pPr>
            </a:lstStyle>
            <a:p>
              <a:pPr algn="ctr"/>
              <a:r>
                <a:rPr lang="zh-CN" altLang="en-US" sz="2400" b="0" dirty="0">
                  <a:solidFill>
                    <a:schemeClr val="bg1"/>
                  </a:solidFill>
                  <a:ea typeface="阿里巴巴普惠体" panose="00020600040101010101" charset="-122"/>
                  <a:sym typeface="Alibaba-PuHuiTi-M"/>
                </a:rPr>
                <a:t>持续构建</a:t>
              </a:r>
              <a:endParaRPr sz="2400" b="0" dirty="0">
                <a:solidFill>
                  <a:schemeClr val="bg1"/>
                </a:solidFill>
                <a:ea typeface="阿里巴巴普惠体" panose="00020600040101010101" charset="-122"/>
                <a:sym typeface="Alibaba-PuHuiTi-M"/>
              </a:endParaRPr>
            </a:p>
          </p:txBody>
        </p:sp>
      </p:grpSp>
      <p:sp>
        <p:nvSpPr>
          <p:cNvPr id="18" name="左箭头 17">
            <a:extLst>
              <a:ext uri="{FF2B5EF4-FFF2-40B4-BE49-F238E27FC236}">
                <a16:creationId xmlns:a16="http://schemas.microsoft.com/office/drawing/2014/main" id="{011BF5DB-D9CB-5A22-3CED-373EFA07F60F}"/>
              </a:ext>
            </a:extLst>
          </p:cNvPr>
          <p:cNvSpPr/>
          <p:nvPr/>
        </p:nvSpPr>
        <p:spPr>
          <a:xfrm>
            <a:off x="7220377" y="2445833"/>
            <a:ext cx="682607" cy="42873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左箭头 18">
            <a:extLst>
              <a:ext uri="{FF2B5EF4-FFF2-40B4-BE49-F238E27FC236}">
                <a16:creationId xmlns:a16="http://schemas.microsoft.com/office/drawing/2014/main" id="{33F162B4-DEB5-6A47-CD79-1EE6F75F67E7}"/>
              </a:ext>
            </a:extLst>
          </p:cNvPr>
          <p:cNvSpPr/>
          <p:nvPr/>
        </p:nvSpPr>
        <p:spPr>
          <a:xfrm>
            <a:off x="5184443" y="2445833"/>
            <a:ext cx="888876" cy="42873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左箭头 19">
            <a:extLst>
              <a:ext uri="{FF2B5EF4-FFF2-40B4-BE49-F238E27FC236}">
                <a16:creationId xmlns:a16="http://schemas.microsoft.com/office/drawing/2014/main" id="{EBC0AFFE-BA00-34D8-2B8F-49C0A295F5CC}"/>
              </a:ext>
            </a:extLst>
          </p:cNvPr>
          <p:cNvSpPr/>
          <p:nvPr/>
        </p:nvSpPr>
        <p:spPr>
          <a:xfrm>
            <a:off x="3070553" y="2456572"/>
            <a:ext cx="1012648" cy="505109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左箭头 20">
            <a:extLst>
              <a:ext uri="{FF2B5EF4-FFF2-40B4-BE49-F238E27FC236}">
                <a16:creationId xmlns:a16="http://schemas.microsoft.com/office/drawing/2014/main" id="{4487FA19-B187-6529-BB7C-857C4331354A}"/>
              </a:ext>
            </a:extLst>
          </p:cNvPr>
          <p:cNvSpPr/>
          <p:nvPr/>
        </p:nvSpPr>
        <p:spPr>
          <a:xfrm>
            <a:off x="1240151" y="2515666"/>
            <a:ext cx="716387" cy="445338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6813789"/>
      </p:ext>
    </p:extLst>
  </p:cSld>
  <p:clrMapOvr>
    <a:masterClrMapping/>
  </p:clrMapOvr>
  <p:transition spd="slow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59BB5-F8E2-F153-0F43-2BC91207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流水线</a:t>
            </a:r>
            <a:endParaRPr kumimoji="1" lang="zh-CN" altLang="en-US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9097A7FD-B485-61D4-7293-A1034E91B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26" y="992119"/>
            <a:ext cx="8404698" cy="345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666349"/>
      </p:ext>
    </p:extLst>
  </p:cSld>
  <p:clrMapOvr>
    <a:masterClrMapping/>
  </p:clrMapOvr>
  <p:transition spd="slow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6D4CA-4D2E-11E6-D1A1-14D27300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</a:t>
            </a:r>
            <a:r>
              <a:rPr kumimoji="1" lang="en-US" altLang="zh-CN" dirty="0"/>
              <a:t>Amazon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CI/CD</a:t>
            </a:r>
            <a:endParaRPr kumimoji="1" lang="zh-CN" altLang="en-US" dirty="0"/>
          </a:p>
        </p:txBody>
      </p:sp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E847ABB3-F1C2-FFFC-B4C4-00080BC33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59" y="888693"/>
            <a:ext cx="8169281" cy="397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010255"/>
      </p:ext>
    </p:extLst>
  </p:cSld>
  <p:clrMapOvr>
    <a:masterClrMapping/>
  </p:clrMapOvr>
  <p:transition spd="slow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>
            <a:extLst>
              <a:ext uri="{FF2B5EF4-FFF2-40B4-BE49-F238E27FC236}">
                <a16:creationId xmlns:a16="http://schemas.microsoft.com/office/drawing/2014/main" id="{1DA2054A-47C8-7D42-0EDA-F762C57898A5}"/>
              </a:ext>
            </a:extLst>
          </p:cNvPr>
          <p:cNvSpPr txBox="1"/>
          <p:nvPr/>
        </p:nvSpPr>
        <p:spPr>
          <a:xfrm>
            <a:off x="1491291" y="277050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CI/CD</a:t>
            </a:r>
            <a:r>
              <a:rPr kumimoji="1" lang="zh-CN" altLang="en-US" sz="2400" b="1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流水线</a:t>
            </a:r>
          </a:p>
        </p:txBody>
      </p:sp>
      <p:sp>
        <p:nvSpPr>
          <p:cNvPr id="74" name="线条">
            <a:extLst>
              <a:ext uri="{FF2B5EF4-FFF2-40B4-BE49-F238E27FC236}">
                <a16:creationId xmlns:a16="http://schemas.microsoft.com/office/drawing/2014/main" id="{5E4A61D3-825B-9101-A04B-4DB7CB606EEE}"/>
              </a:ext>
            </a:extLst>
          </p:cNvPr>
          <p:cNvSpPr/>
          <p:nvPr/>
        </p:nvSpPr>
        <p:spPr>
          <a:xfrm>
            <a:off x="5200064" y="2034249"/>
            <a:ext cx="634180" cy="474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chemeClr val="accent1">
                <a:lumMod val="75000"/>
              </a:schemeClr>
            </a:solidFill>
            <a:prstDash val="solid"/>
            <a:miter lim="400000"/>
            <a:headEnd type="oval"/>
            <a:tailEnd type="triangle"/>
          </a:ln>
        </p:spPr>
        <p:txBody>
          <a:bodyPr lIns="19050" tIns="19050" rIns="19050" bIns="19050" anchor="ctr"/>
          <a:lstStyle/>
          <a:p>
            <a:pPr defTabSz="457395">
              <a:defRPr sz="4600">
                <a:latin typeface="等线"/>
                <a:ea typeface="等线"/>
                <a:cs typeface="等线"/>
                <a:sym typeface="等线"/>
              </a:defRPr>
            </a:pPr>
            <a:endParaRPr sz="1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5" name="线条">
            <a:extLst>
              <a:ext uri="{FF2B5EF4-FFF2-40B4-BE49-F238E27FC236}">
                <a16:creationId xmlns:a16="http://schemas.microsoft.com/office/drawing/2014/main" id="{142719D0-89B0-DE9C-2C57-5D88CB333F38}"/>
              </a:ext>
            </a:extLst>
          </p:cNvPr>
          <p:cNvSpPr/>
          <p:nvPr/>
        </p:nvSpPr>
        <p:spPr>
          <a:xfrm rot="10800000" flipH="1">
            <a:off x="5220707" y="2513946"/>
            <a:ext cx="613537" cy="474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chemeClr val="accent1">
                <a:lumMod val="75000"/>
              </a:schemeClr>
            </a:solidFill>
            <a:prstDash val="solid"/>
            <a:miter lim="400000"/>
            <a:headEnd type="oval"/>
            <a:tailEnd type="triangle"/>
          </a:ln>
        </p:spPr>
        <p:txBody>
          <a:bodyPr lIns="19050" tIns="19050" rIns="19050" bIns="19050" anchor="ctr"/>
          <a:lstStyle/>
          <a:p>
            <a:pPr defTabSz="457395">
              <a:defRPr sz="4600">
                <a:latin typeface="等线"/>
                <a:ea typeface="等线"/>
                <a:cs typeface="等线"/>
                <a:sym typeface="等线"/>
              </a:defRPr>
            </a:pPr>
            <a:endParaRPr sz="120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DF890A3D-A613-B135-5C5F-647920425D43}"/>
              </a:ext>
            </a:extLst>
          </p:cNvPr>
          <p:cNvGrpSpPr/>
          <p:nvPr/>
        </p:nvGrpSpPr>
        <p:grpSpPr>
          <a:xfrm>
            <a:off x="127201" y="1609691"/>
            <a:ext cx="2150245" cy="1802045"/>
            <a:chOff x="127201" y="1609691"/>
            <a:chExt cx="2150245" cy="1802045"/>
          </a:xfrm>
        </p:grpSpPr>
        <p:sp>
          <p:nvSpPr>
            <p:cNvPr id="59" name="圆角矩形">
              <a:extLst>
                <a:ext uri="{FF2B5EF4-FFF2-40B4-BE49-F238E27FC236}">
                  <a16:creationId xmlns:a16="http://schemas.microsoft.com/office/drawing/2014/main" id="{F55639B5-8CE5-968C-9E92-2A6DC12FFF6F}"/>
                </a:ext>
              </a:extLst>
            </p:cNvPr>
            <p:cNvSpPr/>
            <p:nvPr/>
          </p:nvSpPr>
          <p:spPr>
            <a:xfrm>
              <a:off x="127201" y="1627614"/>
              <a:ext cx="429106" cy="1784122"/>
            </a:xfrm>
            <a:prstGeom prst="roundRect">
              <a:avLst>
                <a:gd name="adj" fmla="val 419"/>
              </a:avLst>
            </a:prstGeom>
            <a:ln>
              <a:solidFill>
                <a:srgbClr val="929292"/>
              </a:solidFill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200"/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D40F03D2-8924-B944-BBAD-767C2DC38020}"/>
                </a:ext>
              </a:extLst>
            </p:cNvPr>
            <p:cNvGrpSpPr/>
            <p:nvPr/>
          </p:nvGrpSpPr>
          <p:grpSpPr>
            <a:xfrm>
              <a:off x="627829" y="1609691"/>
              <a:ext cx="949687" cy="1760609"/>
              <a:chOff x="860073" y="1610604"/>
              <a:chExt cx="949687" cy="1760609"/>
            </a:xfrm>
          </p:grpSpPr>
          <p:sp>
            <p:nvSpPr>
              <p:cNvPr id="81" name="圆角矩形">
                <a:extLst>
                  <a:ext uri="{FF2B5EF4-FFF2-40B4-BE49-F238E27FC236}">
                    <a16:creationId xmlns:a16="http://schemas.microsoft.com/office/drawing/2014/main" id="{80545197-0823-03F3-BA72-B149B5942E49}"/>
                  </a:ext>
                </a:extLst>
              </p:cNvPr>
              <p:cNvSpPr/>
              <p:nvPr/>
            </p:nvSpPr>
            <p:spPr>
              <a:xfrm>
                <a:off x="860073" y="1610604"/>
                <a:ext cx="949686" cy="275008"/>
              </a:xfrm>
              <a:prstGeom prst="roundRect">
                <a:avLst>
                  <a:gd name="adj" fmla="val 6927"/>
                </a:avLst>
              </a:prstGeom>
              <a:ln>
                <a:solidFill>
                  <a:srgbClr val="929292"/>
                </a:solidFill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457395">
                  <a:defRPr sz="4600">
                    <a:solidFill>
                      <a:srgbClr val="F3F8FE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2" name="代码提交">
                <a:extLst>
                  <a:ext uri="{FF2B5EF4-FFF2-40B4-BE49-F238E27FC236}">
                    <a16:creationId xmlns:a16="http://schemas.microsoft.com/office/drawing/2014/main" id="{11F602C4-49AA-32BE-3950-20B310E7505A}"/>
                  </a:ext>
                </a:extLst>
              </p:cNvPr>
              <p:cNvSpPr txBox="1"/>
              <p:nvPr/>
            </p:nvSpPr>
            <p:spPr>
              <a:xfrm>
                <a:off x="924062" y="1628934"/>
                <a:ext cx="845423" cy="2192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 anchor="ctr">
                <a:spAutoFit/>
              </a:bodyPr>
              <a:lstStyle>
                <a:lvl1pPr algn="ctr" defTabSz="1219720">
                  <a:defRPr>
                    <a:solidFill>
                      <a:srgbClr val="DDDDDD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>
                    <a:solidFill>
                      <a:schemeClr val="accent1">
                        <a:lumMod val="75000"/>
                      </a:schemeClr>
                    </a:solidFill>
                  </a:rPr>
                  <a:t>代码提交</a:t>
                </a:r>
              </a:p>
            </p:txBody>
          </p:sp>
          <p:sp>
            <p:nvSpPr>
              <p:cNvPr id="83" name="圆角矩形">
                <a:extLst>
                  <a:ext uri="{FF2B5EF4-FFF2-40B4-BE49-F238E27FC236}">
                    <a16:creationId xmlns:a16="http://schemas.microsoft.com/office/drawing/2014/main" id="{CC30C68F-4B0F-C8CB-2D19-15B7CC539A9F}"/>
                  </a:ext>
                </a:extLst>
              </p:cNvPr>
              <p:cNvSpPr/>
              <p:nvPr/>
            </p:nvSpPr>
            <p:spPr>
              <a:xfrm>
                <a:off x="860075" y="2135256"/>
                <a:ext cx="949684" cy="275006"/>
              </a:xfrm>
              <a:prstGeom prst="roundRect">
                <a:avLst>
                  <a:gd name="adj" fmla="val 6927"/>
                </a:avLst>
              </a:prstGeom>
              <a:ln>
                <a:solidFill>
                  <a:srgbClr val="929292"/>
                </a:solidFill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457395">
                  <a:defRPr sz="4600">
                    <a:solidFill>
                      <a:srgbClr val="F3F8FE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4" name="定时触发">
                <a:extLst>
                  <a:ext uri="{FF2B5EF4-FFF2-40B4-BE49-F238E27FC236}">
                    <a16:creationId xmlns:a16="http://schemas.microsoft.com/office/drawing/2014/main" id="{9E95A332-77B4-C3B4-B5F6-47347597D626}"/>
                  </a:ext>
                </a:extLst>
              </p:cNvPr>
              <p:cNvSpPr txBox="1"/>
              <p:nvPr/>
            </p:nvSpPr>
            <p:spPr>
              <a:xfrm>
                <a:off x="924064" y="2153585"/>
                <a:ext cx="845423" cy="2192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 anchor="ctr">
                <a:spAutoFit/>
              </a:bodyPr>
              <a:lstStyle>
                <a:lvl1pPr algn="ctr" defTabSz="1219720">
                  <a:defRPr>
                    <a:solidFill>
                      <a:srgbClr val="DDDDDD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>
                    <a:solidFill>
                      <a:schemeClr val="accent1">
                        <a:lumMod val="75000"/>
                      </a:schemeClr>
                    </a:solidFill>
                  </a:rPr>
                  <a:t>定时触发</a:t>
                </a:r>
              </a:p>
            </p:txBody>
          </p:sp>
          <p:sp>
            <p:nvSpPr>
              <p:cNvPr id="85" name="圆角矩形">
                <a:extLst>
                  <a:ext uri="{FF2B5EF4-FFF2-40B4-BE49-F238E27FC236}">
                    <a16:creationId xmlns:a16="http://schemas.microsoft.com/office/drawing/2014/main" id="{4FC60136-6F41-250E-FE6D-7117F28B7DDF}"/>
                  </a:ext>
                </a:extLst>
              </p:cNvPr>
              <p:cNvSpPr/>
              <p:nvPr/>
            </p:nvSpPr>
            <p:spPr>
              <a:xfrm>
                <a:off x="860074" y="2632293"/>
                <a:ext cx="949686" cy="275007"/>
              </a:xfrm>
              <a:prstGeom prst="roundRect">
                <a:avLst>
                  <a:gd name="adj" fmla="val 6927"/>
                </a:avLst>
              </a:prstGeom>
              <a:ln>
                <a:solidFill>
                  <a:srgbClr val="929292"/>
                </a:solidFill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457395">
                  <a:defRPr sz="4600">
                    <a:solidFill>
                      <a:srgbClr val="F3F8FE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6" name="事件触发">
                <a:extLst>
                  <a:ext uri="{FF2B5EF4-FFF2-40B4-BE49-F238E27FC236}">
                    <a16:creationId xmlns:a16="http://schemas.microsoft.com/office/drawing/2014/main" id="{8364396D-DBC2-8746-F9EC-161CBF08C308}"/>
                  </a:ext>
                </a:extLst>
              </p:cNvPr>
              <p:cNvSpPr txBox="1"/>
              <p:nvPr/>
            </p:nvSpPr>
            <p:spPr>
              <a:xfrm>
                <a:off x="924063" y="2650622"/>
                <a:ext cx="845423" cy="2192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 anchor="ctr">
                <a:spAutoFit/>
              </a:bodyPr>
              <a:lstStyle>
                <a:lvl1pPr algn="ctr" defTabSz="1219720">
                  <a:defRPr>
                    <a:solidFill>
                      <a:srgbClr val="DDDDDD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>
                    <a:solidFill>
                      <a:schemeClr val="accent1">
                        <a:lumMod val="75000"/>
                      </a:schemeClr>
                    </a:solidFill>
                  </a:rPr>
                  <a:t>事件触发</a:t>
                </a:r>
              </a:p>
            </p:txBody>
          </p:sp>
          <p:sp>
            <p:nvSpPr>
              <p:cNvPr id="88" name="人工触发">
                <a:extLst>
                  <a:ext uri="{FF2B5EF4-FFF2-40B4-BE49-F238E27FC236}">
                    <a16:creationId xmlns:a16="http://schemas.microsoft.com/office/drawing/2014/main" id="{B1F25612-A9EA-98A2-DEEA-9F02F5942DDE}"/>
                  </a:ext>
                </a:extLst>
              </p:cNvPr>
              <p:cNvSpPr txBox="1"/>
              <p:nvPr/>
            </p:nvSpPr>
            <p:spPr>
              <a:xfrm>
                <a:off x="878953" y="3151924"/>
                <a:ext cx="902702" cy="219289"/>
              </a:xfrm>
              <a:prstGeom prst="rect">
                <a:avLst/>
              </a:prstGeom>
              <a:ln w="12700">
                <a:solidFill>
                  <a:srgbClr val="00206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 anchor="ctr">
                <a:spAutoFit/>
              </a:bodyPr>
              <a:lstStyle>
                <a:lvl1pPr algn="ctr" defTabSz="1219720">
                  <a:defRPr>
                    <a:solidFill>
                      <a:srgbClr val="DDDDDD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人工触发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89" name="线条">
              <a:extLst>
                <a:ext uri="{FF2B5EF4-FFF2-40B4-BE49-F238E27FC236}">
                  <a16:creationId xmlns:a16="http://schemas.microsoft.com/office/drawing/2014/main" id="{8FBDF90D-2655-E052-52F0-6B5D3C402293}"/>
                </a:ext>
              </a:extLst>
            </p:cNvPr>
            <p:cNvSpPr/>
            <p:nvPr/>
          </p:nvSpPr>
          <p:spPr>
            <a:xfrm>
              <a:off x="1546924" y="1746785"/>
              <a:ext cx="730522" cy="752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644" y="0"/>
                  </a:lnTo>
                  <a:lnTo>
                    <a:pt x="9644" y="21600"/>
                  </a:lnTo>
                  <a:lnTo>
                    <a:pt x="21600" y="21600"/>
                  </a:lnTo>
                </a:path>
              </a:pathLst>
            </a:custGeom>
            <a:ln w="28575">
              <a:solidFill>
                <a:srgbClr val="002060">
                  <a:alpha val="73924"/>
                </a:srgbClr>
              </a:solidFill>
              <a:prstDash val="solid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0" name="线条">
              <a:extLst>
                <a:ext uri="{FF2B5EF4-FFF2-40B4-BE49-F238E27FC236}">
                  <a16:creationId xmlns:a16="http://schemas.microsoft.com/office/drawing/2014/main" id="{12558B87-8D77-325D-4285-2DB1D5E2A01B}"/>
                </a:ext>
              </a:extLst>
            </p:cNvPr>
            <p:cNvSpPr/>
            <p:nvPr/>
          </p:nvSpPr>
          <p:spPr>
            <a:xfrm>
              <a:off x="1576724" y="2279771"/>
              <a:ext cx="379756" cy="219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644" y="0"/>
                  </a:lnTo>
                  <a:lnTo>
                    <a:pt x="9644" y="21600"/>
                  </a:lnTo>
                  <a:lnTo>
                    <a:pt x="21600" y="21600"/>
                  </a:lnTo>
                </a:path>
              </a:pathLst>
            </a:custGeom>
            <a:ln w="28575">
              <a:solidFill>
                <a:srgbClr val="002060">
                  <a:alpha val="73924"/>
                </a:srgbClr>
              </a:solidFill>
              <a:prstDash val="solid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1" name="线条">
              <a:extLst>
                <a:ext uri="{FF2B5EF4-FFF2-40B4-BE49-F238E27FC236}">
                  <a16:creationId xmlns:a16="http://schemas.microsoft.com/office/drawing/2014/main" id="{48885704-8C95-43E7-DC0C-A7A8E5FE5B94}"/>
                </a:ext>
              </a:extLst>
            </p:cNvPr>
            <p:cNvSpPr/>
            <p:nvPr/>
          </p:nvSpPr>
          <p:spPr>
            <a:xfrm rot="10800000" flipH="1">
              <a:off x="1577252" y="2499056"/>
              <a:ext cx="379227" cy="2694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644" y="0"/>
                  </a:lnTo>
                  <a:lnTo>
                    <a:pt x="9644" y="21600"/>
                  </a:lnTo>
                  <a:lnTo>
                    <a:pt x="21600" y="21600"/>
                  </a:lnTo>
                </a:path>
              </a:pathLst>
            </a:custGeom>
            <a:ln w="28575">
              <a:solidFill>
                <a:srgbClr val="002060">
                  <a:alpha val="73924"/>
                </a:srgbClr>
              </a:solidFill>
              <a:prstDash val="solid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" name="线条">
              <a:extLst>
                <a:ext uri="{FF2B5EF4-FFF2-40B4-BE49-F238E27FC236}">
                  <a16:creationId xmlns:a16="http://schemas.microsoft.com/office/drawing/2014/main" id="{F94A6D3C-ABCE-EB99-4F6E-E7E148568B01}"/>
                </a:ext>
              </a:extLst>
            </p:cNvPr>
            <p:cNvSpPr/>
            <p:nvPr/>
          </p:nvSpPr>
          <p:spPr>
            <a:xfrm rot="10800000" flipH="1">
              <a:off x="1546924" y="2500876"/>
              <a:ext cx="730522" cy="752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644" y="0"/>
                  </a:lnTo>
                  <a:lnTo>
                    <a:pt x="9644" y="21600"/>
                  </a:lnTo>
                  <a:lnTo>
                    <a:pt x="21600" y="21600"/>
                  </a:lnTo>
                </a:path>
              </a:pathLst>
            </a:custGeom>
            <a:ln w="28575">
              <a:solidFill>
                <a:srgbClr val="002060">
                  <a:alpha val="73924"/>
                </a:srgbClr>
              </a:solidFill>
              <a:prstDash val="solid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5" name="产品整体介绍">
              <a:extLst>
                <a:ext uri="{FF2B5EF4-FFF2-40B4-BE49-F238E27FC236}">
                  <a16:creationId xmlns:a16="http://schemas.microsoft.com/office/drawing/2014/main" id="{6A577F94-9D92-24DA-E35E-22AB99C5C414}"/>
                </a:ext>
              </a:extLst>
            </p:cNvPr>
            <p:cNvSpPr txBox="1"/>
            <p:nvPr/>
          </p:nvSpPr>
          <p:spPr>
            <a:xfrm>
              <a:off x="213565" y="2089861"/>
              <a:ext cx="287097" cy="82969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6787" tIns="26787" rIns="26787" bIns="26787" anchor="ctr">
              <a:spAutoFit/>
            </a:bodyPr>
            <a:lstStyle>
              <a:lvl1pPr>
                <a:lnSpc>
                  <a:spcPct val="90000"/>
                </a:lnSpc>
                <a:defRPr sz="2800" b="1">
                  <a:solidFill>
                    <a:srgbClr val="FFFFFF"/>
                  </a:solidFill>
                </a:defRPr>
              </a:lvl1pPr>
            </a:lstStyle>
            <a:p>
              <a:r>
                <a:rPr sz="1400" dirty="0" err="1">
                  <a:solidFill>
                    <a:schemeClr val="accent1">
                      <a:lumMod val="75000"/>
                    </a:schemeClr>
                  </a:solidFill>
                </a:rPr>
                <a:t>排队限流</a:t>
              </a:r>
              <a:endParaRPr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0" name="人工触发">
            <a:extLst>
              <a:ext uri="{FF2B5EF4-FFF2-40B4-BE49-F238E27FC236}">
                <a16:creationId xmlns:a16="http://schemas.microsoft.com/office/drawing/2014/main" id="{A647344B-C8D9-BE48-344E-72A2CF0AF571}"/>
              </a:ext>
            </a:extLst>
          </p:cNvPr>
          <p:cNvSpPr txBox="1"/>
          <p:nvPr/>
        </p:nvSpPr>
        <p:spPr>
          <a:xfrm>
            <a:off x="5094979" y="3554728"/>
            <a:ext cx="1082753" cy="219289"/>
          </a:xfrm>
          <a:prstGeom prst="rect">
            <a:avLst/>
          </a:prstGeom>
          <a:ln w="12700">
            <a:solidFill>
              <a:schemeClr val="accent1">
                <a:lumMod val="75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7144" tIns="17144" rIns="17144" bIns="17144" anchor="ctr">
            <a:spAutoFit/>
          </a:bodyPr>
          <a:lstStyle>
            <a:lvl1pPr algn="ctr" defTabSz="1219720">
              <a:defRPr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sz="1200" dirty="0" err="1">
                <a:solidFill>
                  <a:schemeClr val="accent1">
                    <a:lumMod val="75000"/>
                  </a:schemeClr>
                </a:solidFill>
              </a:rPr>
              <a:t>Sonar增量扫描</a:t>
            </a:r>
            <a:endParaRPr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F6F6FCEB-17E4-CA35-1D1C-B1D8A4F387B5}"/>
              </a:ext>
            </a:extLst>
          </p:cNvPr>
          <p:cNvGrpSpPr/>
          <p:nvPr/>
        </p:nvGrpSpPr>
        <p:grpSpPr>
          <a:xfrm>
            <a:off x="2194784" y="908837"/>
            <a:ext cx="3036125" cy="3486971"/>
            <a:chOff x="2194784" y="908837"/>
            <a:chExt cx="3036125" cy="3486971"/>
          </a:xfrm>
        </p:grpSpPr>
        <p:sp>
          <p:nvSpPr>
            <p:cNvPr id="60" name="编译">
              <a:extLst>
                <a:ext uri="{FF2B5EF4-FFF2-40B4-BE49-F238E27FC236}">
                  <a16:creationId xmlns:a16="http://schemas.microsoft.com/office/drawing/2014/main" id="{4D4B8083-7E4F-8CFB-BBD7-30823D879FA4}"/>
                </a:ext>
              </a:extLst>
            </p:cNvPr>
            <p:cNvSpPr txBox="1"/>
            <p:nvPr/>
          </p:nvSpPr>
          <p:spPr>
            <a:xfrm>
              <a:off x="2194784" y="2423607"/>
              <a:ext cx="608650" cy="2192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algn="ctr"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>
                  <a:solidFill>
                    <a:schemeClr val="accent1">
                      <a:lumMod val="75000"/>
                    </a:schemeClr>
                  </a:solidFill>
                </a:rPr>
                <a:t>编译</a:t>
              </a:r>
            </a:p>
          </p:txBody>
        </p:sp>
        <p:sp>
          <p:nvSpPr>
            <p:cNvPr id="61" name="测试">
              <a:extLst>
                <a:ext uri="{FF2B5EF4-FFF2-40B4-BE49-F238E27FC236}">
                  <a16:creationId xmlns:a16="http://schemas.microsoft.com/office/drawing/2014/main" id="{DF3707E4-1951-F218-DD92-76B5FAC248AA}"/>
                </a:ext>
              </a:extLst>
            </p:cNvPr>
            <p:cNvSpPr txBox="1"/>
            <p:nvPr/>
          </p:nvSpPr>
          <p:spPr>
            <a:xfrm>
              <a:off x="3483801" y="2385249"/>
              <a:ext cx="357383" cy="2192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algn="ctr"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测试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3" name="静态扫描">
              <a:extLst>
                <a:ext uri="{FF2B5EF4-FFF2-40B4-BE49-F238E27FC236}">
                  <a16:creationId xmlns:a16="http://schemas.microsoft.com/office/drawing/2014/main" id="{B615B9A1-EDFE-7E21-C3C7-533C7B513356}"/>
                </a:ext>
              </a:extLst>
            </p:cNvPr>
            <p:cNvSpPr txBox="1"/>
            <p:nvPr/>
          </p:nvSpPr>
          <p:spPr>
            <a:xfrm>
              <a:off x="4716096" y="1907349"/>
              <a:ext cx="378883" cy="4039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algn="ctr"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>
                  <a:solidFill>
                    <a:schemeClr val="accent1">
                      <a:lumMod val="75000"/>
                    </a:schemeClr>
                  </a:solidFill>
                </a:rPr>
                <a:t>静态扫描</a:t>
              </a:r>
            </a:p>
          </p:txBody>
        </p:sp>
        <p:sp>
          <p:nvSpPr>
            <p:cNvPr id="64" name="安全扫描">
              <a:extLst>
                <a:ext uri="{FF2B5EF4-FFF2-40B4-BE49-F238E27FC236}">
                  <a16:creationId xmlns:a16="http://schemas.microsoft.com/office/drawing/2014/main" id="{0AE831CD-F3E2-1A5E-A994-3215840376AA}"/>
                </a:ext>
              </a:extLst>
            </p:cNvPr>
            <p:cNvSpPr txBox="1"/>
            <p:nvPr/>
          </p:nvSpPr>
          <p:spPr>
            <a:xfrm>
              <a:off x="4755282" y="2815428"/>
              <a:ext cx="383656" cy="4039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algn="ctr"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安全扫描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1" name="线条">
              <a:extLst>
                <a:ext uri="{FF2B5EF4-FFF2-40B4-BE49-F238E27FC236}">
                  <a16:creationId xmlns:a16="http://schemas.microsoft.com/office/drawing/2014/main" id="{31EA2794-72E3-BD72-CC86-A4DC0DC28071}"/>
                </a:ext>
              </a:extLst>
            </p:cNvPr>
            <p:cNvSpPr/>
            <p:nvPr/>
          </p:nvSpPr>
          <p:spPr>
            <a:xfrm>
              <a:off x="2762152" y="2508848"/>
              <a:ext cx="571646" cy="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2" name="线条">
              <a:extLst>
                <a:ext uri="{FF2B5EF4-FFF2-40B4-BE49-F238E27FC236}">
                  <a16:creationId xmlns:a16="http://schemas.microsoft.com/office/drawing/2014/main" id="{C76A4736-AFB7-6DF9-70A7-F2667EEADDA6}"/>
                </a:ext>
              </a:extLst>
            </p:cNvPr>
            <p:cNvSpPr/>
            <p:nvPr/>
          </p:nvSpPr>
          <p:spPr>
            <a:xfrm rot="10800000" flipH="1">
              <a:off x="3963092" y="2062112"/>
              <a:ext cx="719916" cy="393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3" name="线条">
              <a:extLst>
                <a:ext uri="{FF2B5EF4-FFF2-40B4-BE49-F238E27FC236}">
                  <a16:creationId xmlns:a16="http://schemas.microsoft.com/office/drawing/2014/main" id="{21F167D1-B37C-1444-E8B8-AB0C259673FC}"/>
                </a:ext>
              </a:extLst>
            </p:cNvPr>
            <p:cNvSpPr/>
            <p:nvPr/>
          </p:nvSpPr>
          <p:spPr>
            <a:xfrm>
              <a:off x="3966336" y="2550698"/>
              <a:ext cx="737315" cy="436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00" y="0"/>
                    <a:pt x="10800" y="5400"/>
                    <a:pt x="10800" y="10800"/>
                  </a:cubicBezTo>
                  <a:cubicBezTo>
                    <a:pt x="10800" y="16200"/>
                    <a:pt x="16200" y="21600"/>
                    <a:pt x="21600" y="21600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8" name="线条">
              <a:extLst>
                <a:ext uri="{FF2B5EF4-FFF2-40B4-BE49-F238E27FC236}">
                  <a16:creationId xmlns:a16="http://schemas.microsoft.com/office/drawing/2014/main" id="{34F68FA7-B445-5284-974E-586EA77A014F}"/>
                </a:ext>
              </a:extLst>
            </p:cNvPr>
            <p:cNvSpPr/>
            <p:nvPr/>
          </p:nvSpPr>
          <p:spPr>
            <a:xfrm>
              <a:off x="3644910" y="2738568"/>
              <a:ext cx="6" cy="311958"/>
            </a:xfrm>
            <a:prstGeom prst="line">
              <a:avLst/>
            </a:prstGeom>
            <a:ln w="12700">
              <a:solidFill>
                <a:schemeClr val="accent1"/>
              </a:solidFill>
              <a:custDash>
                <a:ds d="200000" sp="200000"/>
              </a:custDash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98381569-BC6A-70BA-C757-54618BD27411}"/>
                </a:ext>
              </a:extLst>
            </p:cNvPr>
            <p:cNvGrpSpPr/>
            <p:nvPr/>
          </p:nvGrpSpPr>
          <p:grpSpPr>
            <a:xfrm>
              <a:off x="3363522" y="3033288"/>
              <a:ext cx="634646" cy="477716"/>
              <a:chOff x="3275347" y="1200157"/>
              <a:chExt cx="634646" cy="477716"/>
            </a:xfrm>
          </p:grpSpPr>
          <p:sp>
            <p:nvSpPr>
              <p:cNvPr id="62" name="单元测试">
                <a:extLst>
                  <a:ext uri="{FF2B5EF4-FFF2-40B4-BE49-F238E27FC236}">
                    <a16:creationId xmlns:a16="http://schemas.microsoft.com/office/drawing/2014/main" id="{24E0232E-40F2-896D-36A2-4BD6FBB53CAB}"/>
                  </a:ext>
                </a:extLst>
              </p:cNvPr>
              <p:cNvSpPr txBox="1"/>
              <p:nvPr/>
            </p:nvSpPr>
            <p:spPr>
              <a:xfrm>
                <a:off x="3400258" y="1216408"/>
                <a:ext cx="371691" cy="40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>
                <a:spAutoFit/>
              </a:bodyPr>
              <a:lstStyle>
                <a:lvl1pPr algn="ctr" defTabSz="1219720">
                  <a:defRPr sz="200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单元测试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3" name="圆形">
                <a:extLst>
                  <a:ext uri="{FF2B5EF4-FFF2-40B4-BE49-F238E27FC236}">
                    <a16:creationId xmlns:a16="http://schemas.microsoft.com/office/drawing/2014/main" id="{BDE02E11-CE02-9E24-515E-13C4DF44EE4B}"/>
                  </a:ext>
                </a:extLst>
              </p:cNvPr>
              <p:cNvSpPr/>
              <p:nvPr/>
            </p:nvSpPr>
            <p:spPr>
              <a:xfrm>
                <a:off x="3275347" y="1200157"/>
                <a:ext cx="634646" cy="477716"/>
              </a:xfrm>
              <a:prstGeom prst="ellipse">
                <a:avLst/>
              </a:prstGeom>
              <a:ln w="12700">
                <a:solidFill>
                  <a:srgbClr val="929292"/>
                </a:solidFill>
                <a:custDash>
                  <a:ds d="200000" sp="200000"/>
                </a:custDash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>
                  <a:lnSpc>
                    <a:spcPct val="100000"/>
                  </a:lnSpc>
                  <a:defRPr sz="30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94" name="圆形">
              <a:extLst>
                <a:ext uri="{FF2B5EF4-FFF2-40B4-BE49-F238E27FC236}">
                  <a16:creationId xmlns:a16="http://schemas.microsoft.com/office/drawing/2014/main" id="{56FE3235-0D45-924D-32D6-EC4C31C56442}"/>
                </a:ext>
              </a:extLst>
            </p:cNvPr>
            <p:cNvSpPr/>
            <p:nvPr/>
          </p:nvSpPr>
          <p:spPr>
            <a:xfrm>
              <a:off x="4644205" y="2770009"/>
              <a:ext cx="586704" cy="512595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5" name="圆形">
              <a:extLst>
                <a:ext uri="{FF2B5EF4-FFF2-40B4-BE49-F238E27FC236}">
                  <a16:creationId xmlns:a16="http://schemas.microsoft.com/office/drawing/2014/main" id="{D3795AF3-7C11-4DD2-EB9E-954EF187C763}"/>
                </a:ext>
              </a:extLst>
            </p:cNvPr>
            <p:cNvSpPr/>
            <p:nvPr/>
          </p:nvSpPr>
          <p:spPr>
            <a:xfrm>
              <a:off x="2278198" y="2310427"/>
              <a:ext cx="496019" cy="381003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CB67C44E-0025-1279-B8DC-28BA0CC96BCC}"/>
                </a:ext>
              </a:extLst>
            </p:cNvPr>
            <p:cNvGrpSpPr/>
            <p:nvPr/>
          </p:nvGrpSpPr>
          <p:grpSpPr>
            <a:xfrm>
              <a:off x="3314328" y="3851109"/>
              <a:ext cx="719899" cy="544699"/>
              <a:chOff x="3467524" y="3720615"/>
              <a:chExt cx="719899" cy="544699"/>
            </a:xfrm>
          </p:grpSpPr>
          <p:sp>
            <p:nvSpPr>
              <p:cNvPr id="70" name="自动化测试">
                <a:extLst>
                  <a:ext uri="{FF2B5EF4-FFF2-40B4-BE49-F238E27FC236}">
                    <a16:creationId xmlns:a16="http://schemas.microsoft.com/office/drawing/2014/main" id="{CE04EC0A-0E91-9513-30A1-6C2A2C314420}"/>
                  </a:ext>
                </a:extLst>
              </p:cNvPr>
              <p:cNvSpPr txBox="1"/>
              <p:nvPr/>
            </p:nvSpPr>
            <p:spPr>
              <a:xfrm>
                <a:off x="3586200" y="3793719"/>
                <a:ext cx="531226" cy="40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>
                <a:spAutoFit/>
              </a:bodyPr>
              <a:lstStyle>
                <a:lvl1pPr algn="ctr" defTabSz="1219720">
                  <a:defRPr sz="200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自动化测试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0" name="圆形">
                <a:extLst>
                  <a:ext uri="{FF2B5EF4-FFF2-40B4-BE49-F238E27FC236}">
                    <a16:creationId xmlns:a16="http://schemas.microsoft.com/office/drawing/2014/main" id="{E53172A8-80C2-7CE5-26C4-A6F2B47345BB}"/>
                  </a:ext>
                </a:extLst>
              </p:cNvPr>
              <p:cNvSpPr/>
              <p:nvPr/>
            </p:nvSpPr>
            <p:spPr>
              <a:xfrm>
                <a:off x="3467524" y="3720615"/>
                <a:ext cx="719899" cy="544699"/>
              </a:xfrm>
              <a:prstGeom prst="ellipse">
                <a:avLst/>
              </a:prstGeom>
              <a:ln w="12700">
                <a:solidFill>
                  <a:srgbClr val="929292"/>
                </a:solidFill>
                <a:custDash>
                  <a:ds d="200000" sp="200000"/>
                </a:custDash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>
                  <a:lnSpc>
                    <a:spcPct val="100000"/>
                  </a:lnSpc>
                  <a:defRPr sz="30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01" name="圆形">
              <a:extLst>
                <a:ext uri="{FF2B5EF4-FFF2-40B4-BE49-F238E27FC236}">
                  <a16:creationId xmlns:a16="http://schemas.microsoft.com/office/drawing/2014/main" id="{6A0B5683-A15F-B199-230F-879D671F4EAD}"/>
                </a:ext>
              </a:extLst>
            </p:cNvPr>
            <p:cNvSpPr/>
            <p:nvPr/>
          </p:nvSpPr>
          <p:spPr>
            <a:xfrm>
              <a:off x="3386898" y="2271438"/>
              <a:ext cx="576646" cy="420922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3" name="线条">
              <a:extLst>
                <a:ext uri="{FF2B5EF4-FFF2-40B4-BE49-F238E27FC236}">
                  <a16:creationId xmlns:a16="http://schemas.microsoft.com/office/drawing/2014/main" id="{68193BDD-3620-B8CF-D696-6B361F5F8218}"/>
                </a:ext>
              </a:extLst>
            </p:cNvPr>
            <p:cNvSpPr/>
            <p:nvPr/>
          </p:nvSpPr>
          <p:spPr>
            <a:xfrm>
              <a:off x="3674271" y="3550472"/>
              <a:ext cx="6" cy="292032"/>
            </a:xfrm>
            <a:prstGeom prst="line">
              <a:avLst/>
            </a:prstGeom>
            <a:ln w="12700">
              <a:solidFill>
                <a:schemeClr val="accent1"/>
              </a:solidFill>
              <a:custDash>
                <a:ds d="200000" sp="200000"/>
              </a:custDash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4" name="圆形">
              <a:extLst>
                <a:ext uri="{FF2B5EF4-FFF2-40B4-BE49-F238E27FC236}">
                  <a16:creationId xmlns:a16="http://schemas.microsoft.com/office/drawing/2014/main" id="{6FE2FA78-6199-F0BC-AAD9-5B0707EF4909}"/>
                </a:ext>
              </a:extLst>
            </p:cNvPr>
            <p:cNvSpPr/>
            <p:nvPr/>
          </p:nvSpPr>
          <p:spPr>
            <a:xfrm>
              <a:off x="4597272" y="1790234"/>
              <a:ext cx="602792" cy="598006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pic>
          <p:nvPicPr>
            <p:cNvPr id="111" name="图像" descr="图像">
              <a:extLst>
                <a:ext uri="{FF2B5EF4-FFF2-40B4-BE49-F238E27FC236}">
                  <a16:creationId xmlns:a16="http://schemas.microsoft.com/office/drawing/2014/main" id="{1C11E828-BBBD-5325-6644-52FF5B4E8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9283" y="3273047"/>
              <a:ext cx="227303" cy="43410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13" name="人工触发">
              <a:extLst>
                <a:ext uri="{FF2B5EF4-FFF2-40B4-BE49-F238E27FC236}">
                  <a16:creationId xmlns:a16="http://schemas.microsoft.com/office/drawing/2014/main" id="{3DD9B4DC-24BB-F688-2C42-0D2F92BABAF4}"/>
                </a:ext>
              </a:extLst>
            </p:cNvPr>
            <p:cNvSpPr txBox="1"/>
            <p:nvPr/>
          </p:nvSpPr>
          <p:spPr>
            <a:xfrm>
              <a:off x="2762152" y="1574184"/>
              <a:ext cx="1003834" cy="403955"/>
            </a:xfrm>
            <a:prstGeom prst="rect">
              <a:avLst/>
            </a:prstGeom>
            <a:ln w="12700">
              <a:solidFill>
                <a:schemeClr val="accent1"/>
              </a:solidFill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 anchor="ctr">
              <a:spAutoFit/>
            </a:bodyPr>
            <a:lstStyle/>
            <a:p>
              <a:pPr algn="ctr" defTabSz="457395">
                <a:defRPr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代码跨数据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 defTabSz="457395">
                <a:defRPr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中心同步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F80005CF-4A0C-FEB5-5F9D-4D0039A01151}"/>
                </a:ext>
              </a:extLst>
            </p:cNvPr>
            <p:cNvGrpSpPr/>
            <p:nvPr/>
          </p:nvGrpSpPr>
          <p:grpSpPr>
            <a:xfrm>
              <a:off x="2758890" y="908837"/>
              <a:ext cx="802960" cy="536855"/>
              <a:chOff x="2126537" y="3864736"/>
              <a:chExt cx="802960" cy="536855"/>
            </a:xfrm>
          </p:grpSpPr>
          <p:sp>
            <p:nvSpPr>
              <p:cNvPr id="114" name="人工触发">
                <a:extLst>
                  <a:ext uri="{FF2B5EF4-FFF2-40B4-BE49-F238E27FC236}">
                    <a16:creationId xmlns:a16="http://schemas.microsoft.com/office/drawing/2014/main" id="{6BCBA500-1E9E-08F6-1E59-5ADA2184D8DD}"/>
                  </a:ext>
                </a:extLst>
              </p:cNvPr>
              <p:cNvSpPr txBox="1"/>
              <p:nvPr/>
            </p:nvSpPr>
            <p:spPr>
              <a:xfrm>
                <a:off x="2159722" y="3931185"/>
                <a:ext cx="769775" cy="40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 anchor="ctr">
                <a:spAutoFit/>
              </a:bodyPr>
              <a:lstStyle>
                <a:lvl1pPr algn="ctr" defTabSz="1219720">
                  <a:defRPr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编译结果预推送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5" name="圆角矩形">
                <a:extLst>
                  <a:ext uri="{FF2B5EF4-FFF2-40B4-BE49-F238E27FC236}">
                    <a16:creationId xmlns:a16="http://schemas.microsoft.com/office/drawing/2014/main" id="{37A5A555-1484-7C69-6508-91569A78267B}"/>
                  </a:ext>
                </a:extLst>
              </p:cNvPr>
              <p:cNvSpPr/>
              <p:nvPr/>
            </p:nvSpPr>
            <p:spPr>
              <a:xfrm>
                <a:off x="2126537" y="3864736"/>
                <a:ext cx="802960" cy="536855"/>
              </a:xfrm>
              <a:prstGeom prst="roundRect">
                <a:avLst>
                  <a:gd name="adj" fmla="val 6927"/>
                </a:avLst>
              </a:prstGeom>
              <a:ln>
                <a:solidFill>
                  <a:schemeClr val="accent1"/>
                </a:solidFill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 defTabSz="457395">
                  <a:defRPr sz="4600">
                    <a:solidFill>
                      <a:srgbClr val="81B2D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33" name="肘形连接符 132">
              <a:extLst>
                <a:ext uri="{FF2B5EF4-FFF2-40B4-BE49-F238E27FC236}">
                  <a16:creationId xmlns:a16="http://schemas.microsoft.com/office/drawing/2014/main" id="{5ADDC1DE-2FB8-E2CD-C573-A8B6B6E7D2B1}"/>
                </a:ext>
              </a:extLst>
            </p:cNvPr>
            <p:cNvCxnSpPr>
              <a:stCxn id="95" idx="0"/>
              <a:endCxn id="113" idx="1"/>
            </p:cNvCxnSpPr>
            <p:nvPr/>
          </p:nvCxnSpPr>
          <p:spPr>
            <a:xfrm rot="5400000" flipH="1" flipV="1">
              <a:off x="2377048" y="1925323"/>
              <a:ext cx="534265" cy="235944"/>
            </a:xfrm>
            <a:prstGeom prst="bentConnector2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肘形连接符 135">
              <a:extLst>
                <a:ext uri="{FF2B5EF4-FFF2-40B4-BE49-F238E27FC236}">
                  <a16:creationId xmlns:a16="http://schemas.microsoft.com/office/drawing/2014/main" id="{7D85BD5E-D2CA-5871-51A2-757DD4E66AFA}"/>
                </a:ext>
              </a:extLst>
            </p:cNvPr>
            <p:cNvCxnSpPr>
              <a:cxnSpLocks/>
              <a:stCxn id="95" idx="0"/>
              <a:endCxn id="115" idx="1"/>
            </p:cNvCxnSpPr>
            <p:nvPr/>
          </p:nvCxnSpPr>
          <p:spPr>
            <a:xfrm rot="5400000" flipH="1" flipV="1">
              <a:off x="2075968" y="1627505"/>
              <a:ext cx="1133162" cy="232682"/>
            </a:xfrm>
            <a:prstGeom prst="bentConnector2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肘形连接符 138">
              <a:extLst>
                <a:ext uri="{FF2B5EF4-FFF2-40B4-BE49-F238E27FC236}">
                  <a16:creationId xmlns:a16="http://schemas.microsoft.com/office/drawing/2014/main" id="{E85AFF80-B806-DCA4-CDAB-B8F693390299}"/>
                </a:ext>
              </a:extLst>
            </p:cNvPr>
            <p:cNvCxnSpPr>
              <a:cxnSpLocks/>
              <a:stCxn id="115" idx="3"/>
              <a:endCxn id="104" idx="0"/>
            </p:cNvCxnSpPr>
            <p:nvPr/>
          </p:nvCxnSpPr>
          <p:spPr>
            <a:xfrm>
              <a:off x="3561850" y="1177265"/>
              <a:ext cx="1336818" cy="612969"/>
            </a:xfrm>
            <a:prstGeom prst="bentConnector2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箭头连接符 145">
              <a:extLst>
                <a:ext uri="{FF2B5EF4-FFF2-40B4-BE49-F238E27FC236}">
                  <a16:creationId xmlns:a16="http://schemas.microsoft.com/office/drawing/2014/main" id="{C73ADCE4-FCA4-24F0-E32A-DA9FB788826E}"/>
                </a:ext>
              </a:extLst>
            </p:cNvPr>
            <p:cNvCxnSpPr>
              <a:cxnSpLocks/>
              <a:endCxn id="94" idx="1"/>
            </p:cNvCxnSpPr>
            <p:nvPr/>
          </p:nvCxnSpPr>
          <p:spPr>
            <a:xfrm>
              <a:off x="4185626" y="1177263"/>
              <a:ext cx="544500" cy="1667814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4C40217-A9AE-0C17-9ED0-A3FBFB72660B}"/>
              </a:ext>
            </a:extLst>
          </p:cNvPr>
          <p:cNvGrpSpPr/>
          <p:nvPr/>
        </p:nvGrpSpPr>
        <p:grpSpPr>
          <a:xfrm>
            <a:off x="5846101" y="1649981"/>
            <a:ext cx="3172727" cy="2786095"/>
            <a:chOff x="5846101" y="1649981"/>
            <a:chExt cx="3172727" cy="2786095"/>
          </a:xfrm>
        </p:grpSpPr>
        <p:sp>
          <p:nvSpPr>
            <p:cNvPr id="65" name="部署STG">
              <a:extLst>
                <a:ext uri="{FF2B5EF4-FFF2-40B4-BE49-F238E27FC236}">
                  <a16:creationId xmlns:a16="http://schemas.microsoft.com/office/drawing/2014/main" id="{6A8F3D61-5D0A-B16D-7645-E1C7BA741F5A}"/>
                </a:ext>
              </a:extLst>
            </p:cNvPr>
            <p:cNvSpPr txBox="1"/>
            <p:nvPr/>
          </p:nvSpPr>
          <p:spPr>
            <a:xfrm>
              <a:off x="5957179" y="2332065"/>
              <a:ext cx="402837" cy="4039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部署STG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质量门禁">
              <a:extLst>
                <a:ext uri="{FF2B5EF4-FFF2-40B4-BE49-F238E27FC236}">
                  <a16:creationId xmlns:a16="http://schemas.microsoft.com/office/drawing/2014/main" id="{8C5AB693-6520-7D66-82F8-FDD124508931}"/>
                </a:ext>
              </a:extLst>
            </p:cNvPr>
            <p:cNvSpPr txBox="1"/>
            <p:nvPr/>
          </p:nvSpPr>
          <p:spPr>
            <a:xfrm>
              <a:off x="6862174" y="2332065"/>
              <a:ext cx="419640" cy="4039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 dirty="0" err="1">
                  <a:solidFill>
                    <a:schemeClr val="accent1">
                      <a:lumMod val="75000"/>
                    </a:schemeClr>
                  </a:solidFill>
                </a:rPr>
                <a:t>质量门禁</a:t>
              </a:r>
              <a:endParaRPr sz="1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7" name="发布">
              <a:extLst>
                <a:ext uri="{FF2B5EF4-FFF2-40B4-BE49-F238E27FC236}">
                  <a16:creationId xmlns:a16="http://schemas.microsoft.com/office/drawing/2014/main" id="{D237A453-8E3D-7480-DEE9-43761DDBDB3C}"/>
                </a:ext>
              </a:extLst>
            </p:cNvPr>
            <p:cNvSpPr txBox="1"/>
            <p:nvPr/>
          </p:nvSpPr>
          <p:spPr>
            <a:xfrm>
              <a:off x="7747396" y="2389691"/>
              <a:ext cx="357382" cy="2192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17144" tIns="17144" rIns="17144" bIns="17144">
              <a:spAutoFit/>
            </a:bodyPr>
            <a:lstStyle>
              <a:lvl1pPr algn="ctr" defTabSz="1219720">
                <a:defRPr sz="2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r>
                <a:rPr sz="1200">
                  <a:solidFill>
                    <a:schemeClr val="accent1">
                      <a:lumMod val="75000"/>
                    </a:schemeClr>
                  </a:solidFill>
                </a:rPr>
                <a:t>发布</a:t>
              </a:r>
            </a:p>
          </p:txBody>
        </p:sp>
        <p:sp>
          <p:nvSpPr>
            <p:cNvPr id="76" name="线条">
              <a:extLst>
                <a:ext uri="{FF2B5EF4-FFF2-40B4-BE49-F238E27FC236}">
                  <a16:creationId xmlns:a16="http://schemas.microsoft.com/office/drawing/2014/main" id="{62B58CE5-5A9C-3657-9DCD-57A9776AD087}"/>
                </a:ext>
              </a:extLst>
            </p:cNvPr>
            <p:cNvSpPr/>
            <p:nvPr/>
          </p:nvSpPr>
          <p:spPr>
            <a:xfrm>
              <a:off x="6366239" y="2516660"/>
              <a:ext cx="390913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7" name="线条">
              <a:extLst>
                <a:ext uri="{FF2B5EF4-FFF2-40B4-BE49-F238E27FC236}">
                  <a16:creationId xmlns:a16="http://schemas.microsoft.com/office/drawing/2014/main" id="{E3FE82C4-947F-17E1-B201-93B6D7BAFB79}"/>
                </a:ext>
              </a:extLst>
            </p:cNvPr>
            <p:cNvSpPr/>
            <p:nvPr/>
          </p:nvSpPr>
          <p:spPr>
            <a:xfrm flipV="1">
              <a:off x="7286988" y="2516660"/>
              <a:ext cx="451700" cy="10445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9" name="线条">
              <a:extLst>
                <a:ext uri="{FF2B5EF4-FFF2-40B4-BE49-F238E27FC236}">
                  <a16:creationId xmlns:a16="http://schemas.microsoft.com/office/drawing/2014/main" id="{519FBAE8-7F8D-686D-861A-71AA5FD5BC5B}"/>
                </a:ext>
              </a:extLst>
            </p:cNvPr>
            <p:cNvSpPr/>
            <p:nvPr/>
          </p:nvSpPr>
          <p:spPr>
            <a:xfrm>
              <a:off x="7966735" y="2706017"/>
              <a:ext cx="5" cy="311958"/>
            </a:xfrm>
            <a:prstGeom prst="line">
              <a:avLst/>
            </a:prstGeom>
            <a:ln w="12700">
              <a:solidFill>
                <a:srgbClr val="D6D5D5"/>
              </a:solidFill>
              <a:custDash>
                <a:ds d="200000" sp="200000"/>
              </a:custDash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0" name="线条">
              <a:extLst>
                <a:ext uri="{FF2B5EF4-FFF2-40B4-BE49-F238E27FC236}">
                  <a16:creationId xmlns:a16="http://schemas.microsoft.com/office/drawing/2014/main" id="{2A61F0EB-1358-D978-FD62-0B53AF166081}"/>
                </a:ext>
              </a:extLst>
            </p:cNvPr>
            <p:cNvSpPr/>
            <p:nvPr/>
          </p:nvSpPr>
          <p:spPr>
            <a:xfrm>
              <a:off x="7974050" y="3596833"/>
              <a:ext cx="6" cy="292032"/>
            </a:xfrm>
            <a:prstGeom prst="line">
              <a:avLst/>
            </a:prstGeom>
            <a:ln w="12700">
              <a:solidFill>
                <a:srgbClr val="D6D5D5"/>
              </a:solidFill>
              <a:custDash>
                <a:ds d="200000" sp="200000"/>
              </a:custDash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3C44F7F1-A906-D54D-FA4C-4DD5039C343B}"/>
                </a:ext>
              </a:extLst>
            </p:cNvPr>
            <p:cNvGrpSpPr/>
            <p:nvPr/>
          </p:nvGrpSpPr>
          <p:grpSpPr>
            <a:xfrm>
              <a:off x="7680698" y="3045058"/>
              <a:ext cx="586704" cy="512595"/>
              <a:chOff x="7585668" y="3072950"/>
              <a:chExt cx="586704" cy="512595"/>
            </a:xfrm>
          </p:grpSpPr>
          <p:sp>
            <p:nvSpPr>
              <p:cNvPr id="68" name="灰度环境">
                <a:extLst>
                  <a:ext uri="{FF2B5EF4-FFF2-40B4-BE49-F238E27FC236}">
                    <a16:creationId xmlns:a16="http://schemas.microsoft.com/office/drawing/2014/main" id="{B410D629-AF56-1E9F-A8EC-017C534CB6EE}"/>
                  </a:ext>
                </a:extLst>
              </p:cNvPr>
              <p:cNvSpPr txBox="1"/>
              <p:nvPr/>
            </p:nvSpPr>
            <p:spPr>
              <a:xfrm>
                <a:off x="7653943" y="3127339"/>
                <a:ext cx="446765" cy="40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>
                <a:spAutoFit/>
              </a:bodyPr>
              <a:lstStyle>
                <a:lvl1pPr algn="ctr" defTabSz="1219720">
                  <a:defRPr sz="200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灰度环境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6" name="圆形">
                <a:extLst>
                  <a:ext uri="{FF2B5EF4-FFF2-40B4-BE49-F238E27FC236}">
                    <a16:creationId xmlns:a16="http://schemas.microsoft.com/office/drawing/2014/main" id="{009376B9-959F-9681-FD9D-C9B600A88491}"/>
                  </a:ext>
                </a:extLst>
              </p:cNvPr>
              <p:cNvSpPr/>
              <p:nvPr/>
            </p:nvSpPr>
            <p:spPr>
              <a:xfrm>
                <a:off x="7585668" y="3072950"/>
                <a:ext cx="586704" cy="512595"/>
              </a:xfrm>
              <a:prstGeom prst="ellipse">
                <a:avLst/>
              </a:prstGeom>
              <a:ln w="12700">
                <a:solidFill>
                  <a:srgbClr val="929292"/>
                </a:solidFill>
                <a:custDash>
                  <a:ds d="200000" sp="200000"/>
                </a:custDash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>
                  <a:lnSpc>
                    <a:spcPct val="100000"/>
                  </a:lnSpc>
                  <a:defRPr sz="30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97" name="圆形">
              <a:extLst>
                <a:ext uri="{FF2B5EF4-FFF2-40B4-BE49-F238E27FC236}">
                  <a16:creationId xmlns:a16="http://schemas.microsoft.com/office/drawing/2014/main" id="{A0D3A848-58C2-9057-F8FC-D9C3B122EA89}"/>
                </a:ext>
              </a:extLst>
            </p:cNvPr>
            <p:cNvSpPr/>
            <p:nvPr/>
          </p:nvSpPr>
          <p:spPr>
            <a:xfrm>
              <a:off x="7706628" y="2282535"/>
              <a:ext cx="451701" cy="381003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8" name="圆形">
              <a:extLst>
                <a:ext uri="{FF2B5EF4-FFF2-40B4-BE49-F238E27FC236}">
                  <a16:creationId xmlns:a16="http://schemas.microsoft.com/office/drawing/2014/main" id="{E83333E0-9580-611A-E815-40E0AAF46D21}"/>
                </a:ext>
              </a:extLst>
            </p:cNvPr>
            <p:cNvSpPr/>
            <p:nvPr/>
          </p:nvSpPr>
          <p:spPr>
            <a:xfrm>
              <a:off x="6751097" y="2282535"/>
              <a:ext cx="521618" cy="501431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9" name="圆形">
              <a:extLst>
                <a:ext uri="{FF2B5EF4-FFF2-40B4-BE49-F238E27FC236}">
                  <a16:creationId xmlns:a16="http://schemas.microsoft.com/office/drawing/2014/main" id="{4EB303DF-4F45-33FB-4656-E10FD9C1CA25}"/>
                </a:ext>
              </a:extLst>
            </p:cNvPr>
            <p:cNvSpPr/>
            <p:nvPr/>
          </p:nvSpPr>
          <p:spPr>
            <a:xfrm>
              <a:off x="5846101" y="2282535"/>
              <a:ext cx="521618" cy="501431"/>
            </a:xfrm>
            <a:prstGeom prst="ellips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19050" tIns="19050" rIns="19050" bIns="19050" anchor="ctr"/>
            <a:lstStyle/>
            <a:p>
              <a:pPr algn="ctr">
                <a:lnSpc>
                  <a:spcPct val="100000"/>
                </a:lnSpc>
                <a:defRPr sz="3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C586F5B0-52C9-4377-DD51-6091A7438623}"/>
                </a:ext>
              </a:extLst>
            </p:cNvPr>
            <p:cNvGrpSpPr/>
            <p:nvPr/>
          </p:nvGrpSpPr>
          <p:grpSpPr>
            <a:xfrm>
              <a:off x="5960936" y="3895359"/>
              <a:ext cx="2289890" cy="540717"/>
              <a:chOff x="5773410" y="3720615"/>
              <a:chExt cx="2289890" cy="540717"/>
            </a:xfrm>
          </p:grpSpPr>
          <p:sp>
            <p:nvSpPr>
              <p:cNvPr id="69" name="生产环境">
                <a:extLst>
                  <a:ext uri="{FF2B5EF4-FFF2-40B4-BE49-F238E27FC236}">
                    <a16:creationId xmlns:a16="http://schemas.microsoft.com/office/drawing/2014/main" id="{ACEF8FB0-3CE9-5A64-D616-54A55F7550A4}"/>
                  </a:ext>
                </a:extLst>
              </p:cNvPr>
              <p:cNvSpPr txBox="1"/>
              <p:nvPr/>
            </p:nvSpPr>
            <p:spPr>
              <a:xfrm>
                <a:off x="7553150" y="3759795"/>
                <a:ext cx="433718" cy="40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17144" tIns="17144" rIns="17144" bIns="17144">
                <a:spAutoFit/>
              </a:bodyPr>
              <a:lstStyle>
                <a:lvl1pPr algn="ctr" defTabSz="1219720">
                  <a:defRPr sz="200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生产环境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" name="圆形">
                <a:extLst>
                  <a:ext uri="{FF2B5EF4-FFF2-40B4-BE49-F238E27FC236}">
                    <a16:creationId xmlns:a16="http://schemas.microsoft.com/office/drawing/2014/main" id="{A91C5F15-054B-915A-463F-FB93F76C0FA7}"/>
                  </a:ext>
                </a:extLst>
              </p:cNvPr>
              <p:cNvSpPr/>
              <p:nvPr/>
            </p:nvSpPr>
            <p:spPr>
              <a:xfrm>
                <a:off x="7486770" y="3720615"/>
                <a:ext cx="576530" cy="478882"/>
              </a:xfrm>
              <a:prstGeom prst="ellipse">
                <a:avLst/>
              </a:prstGeom>
              <a:ln w="12700">
                <a:solidFill>
                  <a:srgbClr val="929292"/>
                </a:solidFill>
                <a:custDash>
                  <a:ds d="200000" sp="200000"/>
                </a:custDash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>
                  <a:lnSpc>
                    <a:spcPct val="100000"/>
                  </a:lnSpc>
                  <a:defRPr sz="30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9E356C9D-698E-2F7B-1A03-892027B59B3D}"/>
                  </a:ext>
                </a:extLst>
              </p:cNvPr>
              <p:cNvGrpSpPr/>
              <p:nvPr/>
            </p:nvGrpSpPr>
            <p:grpSpPr>
              <a:xfrm>
                <a:off x="5773410" y="3970718"/>
                <a:ext cx="1679058" cy="290614"/>
                <a:chOff x="5941398" y="3912428"/>
                <a:chExt cx="1679058" cy="290614"/>
              </a:xfrm>
            </p:grpSpPr>
            <p:grpSp>
              <p:nvGrpSpPr>
                <p:cNvPr id="124" name="组合 123">
                  <a:extLst>
                    <a:ext uri="{FF2B5EF4-FFF2-40B4-BE49-F238E27FC236}">
                      <a16:creationId xmlns:a16="http://schemas.microsoft.com/office/drawing/2014/main" id="{6881D696-8F7A-592C-D095-BF493ACDA21F}"/>
                    </a:ext>
                  </a:extLst>
                </p:cNvPr>
                <p:cNvGrpSpPr/>
                <p:nvPr/>
              </p:nvGrpSpPr>
              <p:grpSpPr>
                <a:xfrm>
                  <a:off x="5941398" y="3928035"/>
                  <a:ext cx="949686" cy="275007"/>
                  <a:chOff x="5941398" y="3928035"/>
                  <a:chExt cx="949686" cy="275007"/>
                </a:xfrm>
              </p:grpSpPr>
              <p:sp>
                <p:nvSpPr>
                  <p:cNvPr id="106" name="圆角矩形">
                    <a:extLst>
                      <a:ext uri="{FF2B5EF4-FFF2-40B4-BE49-F238E27FC236}">
                        <a16:creationId xmlns:a16="http://schemas.microsoft.com/office/drawing/2014/main" id="{D2A3DF33-DC24-052F-241A-34669514536A}"/>
                      </a:ext>
                    </a:extLst>
                  </p:cNvPr>
                  <p:cNvSpPr/>
                  <p:nvPr/>
                </p:nvSpPr>
                <p:spPr>
                  <a:xfrm>
                    <a:off x="5941398" y="3928035"/>
                    <a:ext cx="949686" cy="275007"/>
                  </a:xfrm>
                  <a:prstGeom prst="roundRect">
                    <a:avLst>
                      <a:gd name="adj" fmla="val 6927"/>
                    </a:avLst>
                  </a:prstGeom>
                  <a:ln>
                    <a:solidFill>
                      <a:schemeClr val="accent1"/>
                    </a:solidFill>
                    <a:miter lim="400000"/>
                  </a:ln>
                </p:spPr>
                <p:txBody>
                  <a:bodyPr lIns="19050" tIns="19050" rIns="19050" bIns="19050" anchor="ctr"/>
                  <a:lstStyle/>
                  <a:p>
                    <a:pPr algn="ctr" defTabSz="457395">
                      <a:defRPr sz="4600">
                        <a:solidFill>
                          <a:srgbClr val="81B2D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defRPr>
                    </a:pPr>
                    <a:endParaRPr sz="120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07" name="人工触发">
                    <a:extLst>
                      <a:ext uri="{FF2B5EF4-FFF2-40B4-BE49-F238E27FC236}">
                        <a16:creationId xmlns:a16="http://schemas.microsoft.com/office/drawing/2014/main" id="{B8B02F83-77C3-6E34-43A1-D382B8A79D21}"/>
                      </a:ext>
                    </a:extLst>
                  </p:cNvPr>
                  <p:cNvSpPr txBox="1"/>
                  <p:nvPr/>
                </p:nvSpPr>
                <p:spPr>
                  <a:xfrm>
                    <a:off x="5986758" y="3950866"/>
                    <a:ext cx="845423" cy="21928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17144" tIns="17144" rIns="17144" bIns="17144" anchor="ctr">
                    <a:spAutoFit/>
                  </a:bodyPr>
                  <a:lstStyle>
                    <a:lvl1pPr algn="ctr" defTabSz="1219720">
                      <a:defRPr>
                        <a:solidFill>
                          <a:schemeClr val="accent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defRPr>
                    </a:lvl1pPr>
                  </a:lstStyle>
                  <a:p>
                    <a:r>
                      <a:rPr sz="1200" dirty="0" err="1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制品预推送</a:t>
                    </a:r>
                    <a:endParaRPr sz="1200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108" name="线条">
                  <a:extLst>
                    <a:ext uri="{FF2B5EF4-FFF2-40B4-BE49-F238E27FC236}">
                      <a16:creationId xmlns:a16="http://schemas.microsoft.com/office/drawing/2014/main" id="{44821789-CE38-7F26-C92E-892271ED71A1}"/>
                    </a:ext>
                  </a:extLst>
                </p:cNvPr>
                <p:cNvSpPr/>
                <p:nvPr/>
              </p:nvSpPr>
              <p:spPr>
                <a:xfrm rot="10800000" flipH="1">
                  <a:off x="6900558" y="3912428"/>
                  <a:ext cx="719898" cy="1891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9644" y="0"/>
                      </a:lnTo>
                      <a:lnTo>
                        <a:pt x="9644" y="21600"/>
                      </a:lnTo>
                      <a:lnTo>
                        <a:pt x="21600" y="21600"/>
                      </a:lnTo>
                    </a:path>
                  </a:pathLst>
                </a:custGeom>
                <a:ln w="12700">
                  <a:solidFill>
                    <a:srgbClr val="0B9EFF">
                      <a:alpha val="73924"/>
                    </a:srgbClr>
                  </a:solidFill>
                  <a:prstDash val="dash"/>
                  <a:tailEnd type="triangle"/>
                </a:ln>
              </p:spPr>
              <p:txBody>
                <a:bodyPr lIns="19050" tIns="19050" rIns="19050" bIns="19050" anchor="ctr"/>
                <a:lstStyle/>
                <a:p>
                  <a:pPr defTabSz="457395">
                    <a:defRPr sz="4600">
                      <a:latin typeface="等线"/>
                      <a:ea typeface="等线"/>
                      <a:cs typeface="等线"/>
                      <a:sym typeface="等线"/>
                    </a:defRPr>
                  </a:pPr>
                  <a:endParaRPr sz="120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A44F7D6F-DB04-9F00-B6D1-152996D58465}"/>
                </a:ext>
              </a:extLst>
            </p:cNvPr>
            <p:cNvGrpSpPr/>
            <p:nvPr/>
          </p:nvGrpSpPr>
          <p:grpSpPr>
            <a:xfrm>
              <a:off x="8675385" y="1649981"/>
              <a:ext cx="343443" cy="1784123"/>
              <a:chOff x="8580355" y="1677873"/>
              <a:chExt cx="343443" cy="1784123"/>
            </a:xfrm>
          </p:grpSpPr>
          <p:sp>
            <p:nvSpPr>
              <p:cNvPr id="120" name="圆角矩形">
                <a:extLst>
                  <a:ext uri="{FF2B5EF4-FFF2-40B4-BE49-F238E27FC236}">
                    <a16:creationId xmlns:a16="http://schemas.microsoft.com/office/drawing/2014/main" id="{60B58F1B-49E6-178D-EE80-3487BDADD03C}"/>
                  </a:ext>
                </a:extLst>
              </p:cNvPr>
              <p:cNvSpPr/>
              <p:nvPr/>
            </p:nvSpPr>
            <p:spPr>
              <a:xfrm>
                <a:off x="8580355" y="1677873"/>
                <a:ext cx="339800" cy="1784123"/>
              </a:xfrm>
              <a:prstGeom prst="roundRect">
                <a:avLst>
                  <a:gd name="adj" fmla="val 419"/>
                </a:avLst>
              </a:prstGeom>
              <a:ln>
                <a:solidFill>
                  <a:srgbClr val="929292"/>
                </a:solidFill>
                <a:miter lim="400000"/>
              </a:ln>
            </p:spPr>
            <p:txBody>
              <a:bodyPr lIns="19050" tIns="19050" rIns="19050" bIns="19050" anchor="ctr"/>
              <a:lstStyle/>
              <a:p>
                <a:pPr algn="ctr">
                  <a:lnSpc>
                    <a:spcPct val="100000"/>
                  </a:lnSpc>
                  <a:defRPr sz="3200"/>
                </a:pPr>
                <a:endParaRPr sz="12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1" name="产品整体介绍">
                <a:extLst>
                  <a:ext uri="{FF2B5EF4-FFF2-40B4-BE49-F238E27FC236}">
                    <a16:creationId xmlns:a16="http://schemas.microsoft.com/office/drawing/2014/main" id="{A435AF0C-6427-F9CA-4E24-28DCB76081AB}"/>
                  </a:ext>
                </a:extLst>
              </p:cNvPr>
              <p:cNvSpPr txBox="1"/>
              <p:nvPr/>
            </p:nvSpPr>
            <p:spPr>
              <a:xfrm>
                <a:off x="8636700" y="2186059"/>
                <a:ext cx="287098" cy="7188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26787" tIns="26787" rIns="26787" bIns="26787" anchor="ctr">
                <a:spAutoFit/>
              </a:bodyPr>
              <a:lstStyle>
                <a:lvl1pPr>
                  <a:lnSpc>
                    <a:spcPct val="9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sz="1200" dirty="0" err="1">
                    <a:solidFill>
                      <a:schemeClr val="accent1">
                        <a:lumMod val="75000"/>
                      </a:schemeClr>
                    </a:solidFill>
                  </a:rPr>
                  <a:t>动态扩容</a:t>
                </a:r>
                <a:endParaRPr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23" name="线条">
              <a:extLst>
                <a:ext uri="{FF2B5EF4-FFF2-40B4-BE49-F238E27FC236}">
                  <a16:creationId xmlns:a16="http://schemas.microsoft.com/office/drawing/2014/main" id="{76C7905F-91D3-80C2-4E5A-2FAE1822361A}"/>
                </a:ext>
              </a:extLst>
            </p:cNvPr>
            <p:cNvSpPr/>
            <p:nvPr/>
          </p:nvSpPr>
          <p:spPr>
            <a:xfrm rot="10800000" flipH="1">
              <a:off x="8236823" y="2695552"/>
              <a:ext cx="429463" cy="1398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644" y="0"/>
                  </a:lnTo>
                  <a:lnTo>
                    <a:pt x="9644" y="21600"/>
                  </a:lnTo>
                  <a:lnTo>
                    <a:pt x="21600" y="21600"/>
                  </a:lnTo>
                </a:path>
              </a:pathLst>
            </a:custGeom>
            <a:ln w="12700">
              <a:solidFill>
                <a:srgbClr val="0B9EFF">
                  <a:alpha val="73924"/>
                </a:srgbClr>
              </a:solidFill>
              <a:prstDash val="dash"/>
              <a:tailEnd type="triangle"/>
            </a:ln>
          </p:spPr>
          <p:txBody>
            <a:bodyPr lIns="19050" tIns="19050" rIns="19050" bIns="19050" anchor="ctr"/>
            <a:lstStyle/>
            <a:p>
              <a:pPr defTabSz="457395">
                <a:defRPr sz="4600">
                  <a:latin typeface="等线"/>
                  <a:ea typeface="等线"/>
                  <a:cs typeface="等线"/>
                  <a:sym typeface="等线"/>
                </a:defRPr>
              </a:pPr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49" name="线条">
              <a:extLst>
                <a:ext uri="{FF2B5EF4-FFF2-40B4-BE49-F238E27FC236}">
                  <a16:creationId xmlns:a16="http://schemas.microsoft.com/office/drawing/2014/main" id="{51791E81-A764-5127-8563-55F6D133D7A5}"/>
                </a:ext>
              </a:extLst>
            </p:cNvPr>
            <p:cNvSpPr/>
            <p:nvPr/>
          </p:nvSpPr>
          <p:spPr>
            <a:xfrm flipV="1">
              <a:off x="8199097" y="2483243"/>
              <a:ext cx="451700" cy="10445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  <a:miter lim="400000"/>
              <a:headEnd type="oval"/>
              <a:tailEnd type="triangle"/>
            </a:ln>
          </p:spPr>
          <p:txBody>
            <a:bodyPr lIns="17144" tIns="17144" rIns="17144" bIns="17144"/>
            <a:lstStyle/>
            <a:p>
              <a:endParaRPr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ransition spd="slow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94216-5EAE-BD4D-8645-E83507A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72" y="592893"/>
            <a:ext cx="7357005" cy="523875"/>
          </a:xfrm>
        </p:spPr>
        <p:txBody>
          <a:bodyPr/>
          <a:lstStyle/>
          <a:p>
            <a:r>
              <a:rPr lang="zh-CN" altLang="en-US" sz="28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持续测试的特点</a:t>
            </a:r>
            <a:endParaRPr kumimoji="1" lang="zh-CN" altLang="en-US" dirty="0"/>
          </a:p>
        </p:txBody>
      </p:sp>
      <p:sp>
        <p:nvSpPr>
          <p:cNvPr id="4" name="Shape 234">
            <a:extLst>
              <a:ext uri="{FF2B5EF4-FFF2-40B4-BE49-F238E27FC236}">
                <a16:creationId xmlns:a16="http://schemas.microsoft.com/office/drawing/2014/main" id="{64B6F701-DA97-93AF-8ACE-360F8241D04C}"/>
              </a:ext>
            </a:extLst>
          </p:cNvPr>
          <p:cNvSpPr/>
          <p:nvPr/>
        </p:nvSpPr>
        <p:spPr>
          <a:xfrm>
            <a:off x="181181" y="1639387"/>
            <a:ext cx="1516433" cy="617518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 marL="342900" indent="-342900">
              <a:buClr>
                <a:schemeClr val="tx1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</a:pPr>
            <a:r>
              <a:rPr lang="zh-CN" altLang="en-US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足够快</a:t>
            </a:r>
            <a:endParaRPr sz="2400" b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5" name="Shape 234">
            <a:extLst>
              <a:ext uri="{FF2B5EF4-FFF2-40B4-BE49-F238E27FC236}">
                <a16:creationId xmlns:a16="http://schemas.microsoft.com/office/drawing/2014/main" id="{23ECA8EC-8A71-551D-2847-42A93511FFF9}"/>
              </a:ext>
            </a:extLst>
          </p:cNvPr>
          <p:cNvSpPr/>
          <p:nvPr/>
        </p:nvSpPr>
        <p:spPr>
          <a:xfrm>
            <a:off x="227506" y="2237360"/>
            <a:ext cx="1765338" cy="2051309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accent4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整个测试过程要快，一方面高度自动化测试，另方面业务端到端的探索式测试</a:t>
            </a:r>
            <a:endParaRPr sz="1600" b="0" dirty="0">
              <a:solidFill>
                <a:schemeClr val="accent4">
                  <a:lumMod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6" name="Shape 234">
            <a:extLst>
              <a:ext uri="{FF2B5EF4-FFF2-40B4-BE49-F238E27FC236}">
                <a16:creationId xmlns:a16="http://schemas.microsoft.com/office/drawing/2014/main" id="{7B8CBC50-C273-0245-1620-ED67F25DA934}"/>
              </a:ext>
            </a:extLst>
          </p:cNvPr>
          <p:cNvSpPr/>
          <p:nvPr/>
        </p:nvSpPr>
        <p:spPr>
          <a:xfrm>
            <a:off x="2066696" y="1639387"/>
            <a:ext cx="2284587" cy="617518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 marL="342900" indent="-342900">
              <a:buClr>
                <a:schemeClr val="tx1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</a:pPr>
            <a:r>
              <a:rPr lang="zh-CN" altLang="en-US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准确且有效</a:t>
            </a:r>
            <a:endParaRPr sz="2400" b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7" name="Shape 234">
            <a:extLst>
              <a:ext uri="{FF2B5EF4-FFF2-40B4-BE49-F238E27FC236}">
                <a16:creationId xmlns:a16="http://schemas.microsoft.com/office/drawing/2014/main" id="{352FEA50-BED8-09A6-3175-02E3580DBF42}"/>
              </a:ext>
            </a:extLst>
          </p:cNvPr>
          <p:cNvSpPr/>
          <p:nvPr/>
        </p:nvSpPr>
        <p:spPr>
          <a:xfrm>
            <a:off x="2309415" y="2250031"/>
            <a:ext cx="1988212" cy="1681977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被测系统往往很复杂，不可能做全回归测试，而是要推行精准测试</a:t>
            </a:r>
            <a:endParaRPr sz="1600" b="0" dirty="0">
              <a:solidFill>
                <a:schemeClr val="accent4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8" name="Shape 234">
            <a:extLst>
              <a:ext uri="{FF2B5EF4-FFF2-40B4-BE49-F238E27FC236}">
                <a16:creationId xmlns:a16="http://schemas.microsoft.com/office/drawing/2014/main" id="{FA280AC8-9AF1-B4A4-2468-E876E3CCC954}"/>
              </a:ext>
            </a:extLst>
          </p:cNvPr>
          <p:cNvSpPr/>
          <p:nvPr/>
        </p:nvSpPr>
        <p:spPr>
          <a:xfrm>
            <a:off x="4446297" y="1639387"/>
            <a:ext cx="1986034" cy="617518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 marL="342900" indent="-342900">
              <a:buClr>
                <a:schemeClr val="tx1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</a:pPr>
            <a:r>
              <a:rPr lang="zh-CN" altLang="en-US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平滑有序</a:t>
            </a:r>
            <a:endParaRPr sz="2400" b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9" name="Shape 234">
            <a:extLst>
              <a:ext uri="{FF2B5EF4-FFF2-40B4-BE49-F238E27FC236}">
                <a16:creationId xmlns:a16="http://schemas.microsoft.com/office/drawing/2014/main" id="{AA9A61C6-4920-FB1E-F6C2-9980BB57C734}"/>
              </a:ext>
            </a:extLst>
          </p:cNvPr>
          <p:cNvSpPr/>
          <p:nvPr/>
        </p:nvSpPr>
        <p:spPr>
          <a:xfrm>
            <a:off x="4574477" y="2237359"/>
            <a:ext cx="1912182" cy="2051309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accent4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打通整个测试过程：测试左移到测试右移、单元测试到系统测试、静态测试到动态测试</a:t>
            </a:r>
            <a:endParaRPr sz="1600" b="0" dirty="0">
              <a:solidFill>
                <a:schemeClr val="accent4">
                  <a:lumMod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10" name="Shape 234">
            <a:extLst>
              <a:ext uri="{FF2B5EF4-FFF2-40B4-BE49-F238E27FC236}">
                <a16:creationId xmlns:a16="http://schemas.microsoft.com/office/drawing/2014/main" id="{06129B36-D05E-369B-E2D1-5F3AED1DC2D8}"/>
              </a:ext>
            </a:extLst>
          </p:cNvPr>
          <p:cNvSpPr/>
          <p:nvPr/>
        </p:nvSpPr>
        <p:spPr>
          <a:xfrm>
            <a:off x="6686121" y="1619842"/>
            <a:ext cx="2395938" cy="617518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 marL="342900" indent="-342900">
              <a:buClr>
                <a:schemeClr val="tx1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</a:pPr>
            <a:r>
              <a:rPr lang="zh-CN" altLang="en-US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与</a:t>
            </a:r>
            <a:r>
              <a:rPr lang="en-US" altLang="zh-CN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CI/CD</a:t>
            </a:r>
            <a:r>
              <a:rPr lang="zh-CN" altLang="en-US" sz="2400" b="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集成</a:t>
            </a:r>
            <a:endParaRPr sz="2400" b="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  <p:sp>
        <p:nvSpPr>
          <p:cNvPr id="11" name="Shape 234">
            <a:extLst>
              <a:ext uri="{FF2B5EF4-FFF2-40B4-BE49-F238E27FC236}">
                <a16:creationId xmlns:a16="http://schemas.microsoft.com/office/drawing/2014/main" id="{F1BE9874-B150-9D56-BA10-25880D43E873}"/>
              </a:ext>
            </a:extLst>
          </p:cNvPr>
          <p:cNvSpPr/>
          <p:nvPr/>
        </p:nvSpPr>
        <p:spPr>
          <a:xfrm>
            <a:off x="7044930" y="2237359"/>
            <a:ext cx="1776567" cy="1681977"/>
          </a:xfrm>
          <a:prstGeom prst="rect">
            <a:avLst/>
          </a:prstGeom>
          <a:ln w="12700">
            <a:miter lim="400000"/>
          </a:ln>
        </p:spPr>
        <p:txBody>
          <a:bodyPr wrap="square" lIns="122893" tIns="122893" rIns="122893" bIns="122893" anchor="ctr">
            <a:spAutoFit/>
          </a:bodyPr>
          <a:lstStyle>
            <a:lvl1pPr>
              <a:defRPr sz="6800" b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accent4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libaba-PuHuiTi-M"/>
              </a:rPr>
              <a:t>与研发的持续构建、持续集成、持续部署、运维等环境的集成</a:t>
            </a:r>
            <a:endParaRPr sz="1600" b="0" dirty="0">
              <a:solidFill>
                <a:schemeClr val="accent4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libaba-PuHuiTi-M"/>
            </a:endParaRPr>
          </a:p>
        </p:txBody>
      </p:sp>
    </p:spTree>
    <p:extLst>
      <p:ext uri="{BB962C8B-B14F-4D97-AF65-F5344CB8AC3E}">
        <p14:creationId xmlns:p14="http://schemas.microsoft.com/office/powerpoint/2010/main" val="2561792753"/>
      </p:ext>
    </p:extLst>
  </p:cSld>
  <p:clrMapOvr>
    <a:masterClrMapping/>
  </p:clrMapOvr>
  <p:transition spd="slow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04965-E60F-DA93-4505-B0A8C668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持续测试实践框架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079BA1B-BBFC-7623-C0FD-FDE97019D7BD}"/>
              </a:ext>
            </a:extLst>
          </p:cNvPr>
          <p:cNvGrpSpPr/>
          <p:nvPr/>
        </p:nvGrpSpPr>
        <p:grpSpPr>
          <a:xfrm>
            <a:off x="1186820" y="1002440"/>
            <a:ext cx="6268232" cy="3608472"/>
            <a:chOff x="233733" y="405508"/>
            <a:chExt cx="1040334" cy="58225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00EC23D-8F48-F14E-385E-D147FF876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733" y="858831"/>
              <a:ext cx="1040334" cy="128933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62A3A92-1DC9-4C7B-5A8D-F71B56AF9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733" y="631389"/>
              <a:ext cx="1040334" cy="11737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BCB3ED4-DE11-FD68-51DF-C4584FDCB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733" y="405508"/>
              <a:ext cx="1040334" cy="115815"/>
            </a:xfrm>
            <a:prstGeom prst="rect">
              <a:avLst/>
            </a:prstGeom>
          </p:spPr>
        </p:pic>
        <p:sp>
          <p:nvSpPr>
            <p:cNvPr id="8" name="上下箭头 7">
              <a:extLst>
                <a:ext uri="{FF2B5EF4-FFF2-40B4-BE49-F238E27FC236}">
                  <a16:creationId xmlns:a16="http://schemas.microsoft.com/office/drawing/2014/main" id="{63BEBF72-F450-FBFD-EC21-F02A109E88DF}"/>
                </a:ext>
              </a:extLst>
            </p:cNvPr>
            <p:cNvSpPr/>
            <p:nvPr/>
          </p:nvSpPr>
          <p:spPr>
            <a:xfrm>
              <a:off x="1094112" y="753985"/>
              <a:ext cx="60535" cy="109823"/>
            </a:xfrm>
            <a:prstGeom prst="up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5806">
                <a:solidFill>
                  <a:schemeClr val="accent1"/>
                </a:solidFill>
              </a:endParaRPr>
            </a:p>
          </p:txBody>
        </p:sp>
        <p:sp>
          <p:nvSpPr>
            <p:cNvPr id="9" name="上下箭头 8">
              <a:extLst>
                <a:ext uri="{FF2B5EF4-FFF2-40B4-BE49-F238E27FC236}">
                  <a16:creationId xmlns:a16="http://schemas.microsoft.com/office/drawing/2014/main" id="{EE2F0773-493B-7066-4DE0-6BC92AAAE0CC}"/>
                </a:ext>
              </a:extLst>
            </p:cNvPr>
            <p:cNvSpPr/>
            <p:nvPr/>
          </p:nvSpPr>
          <p:spPr>
            <a:xfrm>
              <a:off x="834496" y="748764"/>
              <a:ext cx="60535" cy="109823"/>
            </a:xfrm>
            <a:prstGeom prst="up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5806">
                <a:solidFill>
                  <a:schemeClr val="accent1"/>
                </a:solidFill>
              </a:endParaRPr>
            </a:p>
          </p:txBody>
        </p:sp>
        <p:sp>
          <p:nvSpPr>
            <p:cNvPr id="10" name="上下箭头 9">
              <a:extLst>
                <a:ext uri="{FF2B5EF4-FFF2-40B4-BE49-F238E27FC236}">
                  <a16:creationId xmlns:a16="http://schemas.microsoft.com/office/drawing/2014/main" id="{BD1F52B0-C72A-DBED-8D48-79800D748C62}"/>
                </a:ext>
              </a:extLst>
            </p:cNvPr>
            <p:cNvSpPr/>
            <p:nvPr/>
          </p:nvSpPr>
          <p:spPr>
            <a:xfrm>
              <a:off x="509564" y="748765"/>
              <a:ext cx="60535" cy="109823"/>
            </a:xfrm>
            <a:prstGeom prst="up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5806">
                <a:solidFill>
                  <a:schemeClr val="accent1"/>
                </a:solidFill>
              </a:endParaRPr>
            </a:p>
          </p:txBody>
        </p:sp>
        <p:sp>
          <p:nvSpPr>
            <p:cNvPr id="11" name="上下箭头 10">
              <a:extLst>
                <a:ext uri="{FF2B5EF4-FFF2-40B4-BE49-F238E27FC236}">
                  <a16:creationId xmlns:a16="http://schemas.microsoft.com/office/drawing/2014/main" id="{F0FAF902-9050-3CAF-C7A2-1B42B0BA0B1F}"/>
                </a:ext>
              </a:extLst>
            </p:cNvPr>
            <p:cNvSpPr/>
            <p:nvPr/>
          </p:nvSpPr>
          <p:spPr>
            <a:xfrm>
              <a:off x="1080074" y="528876"/>
              <a:ext cx="60535" cy="109823"/>
            </a:xfrm>
            <a:prstGeom prst="up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5806">
                <a:solidFill>
                  <a:schemeClr val="accent1"/>
                </a:solidFill>
              </a:endParaRPr>
            </a:p>
          </p:txBody>
        </p:sp>
        <p:sp>
          <p:nvSpPr>
            <p:cNvPr id="12" name="上下箭头 11">
              <a:extLst>
                <a:ext uri="{FF2B5EF4-FFF2-40B4-BE49-F238E27FC236}">
                  <a16:creationId xmlns:a16="http://schemas.microsoft.com/office/drawing/2014/main" id="{FF0AB1BD-8D81-1232-2659-C2ABBC76D4DF}"/>
                </a:ext>
              </a:extLst>
            </p:cNvPr>
            <p:cNvSpPr/>
            <p:nvPr/>
          </p:nvSpPr>
          <p:spPr>
            <a:xfrm>
              <a:off x="629089" y="521566"/>
              <a:ext cx="60535" cy="109823"/>
            </a:xfrm>
            <a:prstGeom prst="up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5806">
                <a:solidFill>
                  <a:schemeClr val="accent1"/>
                </a:solidFill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C81E417-2DC1-0727-74B1-9050CA905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682" y="1923898"/>
            <a:ext cx="1356537" cy="135653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4053763-63F8-5FDA-5D92-D7E1FBC41C9C}"/>
              </a:ext>
            </a:extLst>
          </p:cNvPr>
          <p:cNvSpPr txBox="1"/>
          <p:nvPr/>
        </p:nvSpPr>
        <p:spPr>
          <a:xfrm>
            <a:off x="7563664" y="3280435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扫码下载</a:t>
            </a:r>
            <a:endParaRPr kumimoji="1" lang="en-US" altLang="zh-CN" sz="12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kumimoji="1" lang="en-US" altLang="zh-CN" sz="1200" dirty="0">
                <a:solidFill>
                  <a:schemeClr val="accent1">
                    <a:lumMod val="75000"/>
                  </a:schemeClr>
                </a:solidFill>
              </a:rPr>
              <a:t>《</a:t>
            </a:r>
            <a:r>
              <a:rPr kumimoji="1" lang="zh-CN" altLang="en-US" sz="1200" dirty="0">
                <a:solidFill>
                  <a:schemeClr val="accent1">
                    <a:lumMod val="75000"/>
                  </a:schemeClr>
                </a:solidFill>
              </a:rPr>
              <a:t>持续测试白皮书</a:t>
            </a:r>
            <a:r>
              <a:rPr kumimoji="1" lang="en-US" altLang="zh-CN" sz="1200" dirty="0">
                <a:solidFill>
                  <a:schemeClr val="accent1">
                    <a:lumMod val="75000"/>
                  </a:schemeClr>
                </a:solidFill>
              </a:rPr>
              <a:t>》</a:t>
            </a:r>
            <a:endParaRPr kumimoji="1" lang="zh-CN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981383"/>
      </p:ext>
    </p:extLst>
  </p:cSld>
  <p:clrMapOvr>
    <a:masterClrMapping/>
  </p:clrMapOvr>
  <p:transition spd="slow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746" y="316616"/>
            <a:ext cx="8161119" cy="523875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167" name="概念，学习要点的概念介绍，以及在工作中什么场景会用到"/>
          <p:cNvSpPr txBox="1"/>
          <p:nvPr/>
        </p:nvSpPr>
        <p:spPr>
          <a:xfrm>
            <a:off x="924780" y="716402"/>
            <a:ext cx="7294439" cy="3710696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1600" dirty="0">
                <a:ea typeface="楷体"/>
              </a:rPr>
              <a:t>深刻理解代码规范和代码评审的价值，持续进行代码评审，采用互为评审、集体评审，团队有多方面的收益</a:t>
            </a:r>
            <a:endParaRPr lang="en-US" altLang="zh-CN" sz="1600" dirty="0">
              <a:ea typeface="楷体"/>
            </a:endParaRP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1600" dirty="0">
                <a:ea typeface="楷体"/>
              </a:rPr>
              <a:t>代码分析工具的使用，今天很流行，包括开发本地扫描代码、与</a:t>
            </a:r>
            <a:r>
              <a:rPr lang="en-US" altLang="zh-CN" sz="1600" dirty="0">
                <a:ea typeface="楷体"/>
              </a:rPr>
              <a:t>CI/CD</a:t>
            </a:r>
            <a:r>
              <a:rPr lang="zh-CN" altLang="en-US" sz="1600" dirty="0">
                <a:ea typeface="楷体"/>
              </a:rPr>
              <a:t>流水线集成等。</a:t>
            </a:r>
            <a:endParaRPr lang="en-US" altLang="zh-CN" sz="1600" dirty="0">
              <a:ea typeface="楷体"/>
            </a:endParaRP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1600" dirty="0">
                <a:ea typeface="楷体"/>
              </a:rPr>
              <a:t>深刻理解单元测试（</a:t>
            </a:r>
            <a:r>
              <a:rPr lang="en-US" altLang="zh-CN" sz="1600" dirty="0">
                <a:ea typeface="楷体"/>
              </a:rPr>
              <a:t>UT</a:t>
            </a:r>
            <a:r>
              <a:rPr lang="zh-CN" altLang="en-US" sz="1600" dirty="0">
                <a:ea typeface="楷体"/>
              </a:rPr>
              <a:t>）的价值和</a:t>
            </a:r>
            <a:r>
              <a:rPr lang="en-US" altLang="zh-CN" sz="1600" dirty="0" err="1">
                <a:ea typeface="楷体"/>
              </a:rPr>
              <a:t>xUnit</a:t>
            </a:r>
            <a:r>
              <a:rPr lang="zh-CN" altLang="en-US" sz="1600" dirty="0">
                <a:ea typeface="楷体"/>
              </a:rPr>
              <a:t>框架实现的机制，重视单元测试，掌握</a:t>
            </a:r>
            <a:r>
              <a:rPr lang="en-US" altLang="zh-CN" sz="1600" dirty="0">
                <a:ea typeface="楷体"/>
              </a:rPr>
              <a:t>JUnit</a:t>
            </a:r>
            <a:r>
              <a:rPr lang="zh-CN" altLang="en-US" sz="1600" dirty="0">
                <a:ea typeface="楷体"/>
              </a:rPr>
              <a:t>这类工具和</a:t>
            </a:r>
            <a:r>
              <a:rPr lang="en-US" altLang="zh-CN" sz="1600" dirty="0">
                <a:ea typeface="楷体"/>
              </a:rPr>
              <a:t>mock</a:t>
            </a:r>
            <a:r>
              <a:rPr lang="zh-CN" altLang="en-US" sz="1600" dirty="0">
                <a:ea typeface="楷体"/>
              </a:rPr>
              <a:t>工具的使用技巧</a:t>
            </a:r>
            <a:endParaRPr lang="en-US" altLang="zh-CN" sz="1600" dirty="0">
              <a:ea typeface="楷体"/>
            </a:endParaRP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1600" dirty="0">
                <a:ea typeface="楷体"/>
              </a:rPr>
              <a:t>单元测试是否充分，需要衡量代码语句</a:t>
            </a:r>
            <a:r>
              <a:rPr lang="en-US" altLang="zh-CN" sz="1600" dirty="0">
                <a:ea typeface="楷体"/>
              </a:rPr>
              <a:t>/</a:t>
            </a:r>
            <a:r>
              <a:rPr lang="zh-CN" altLang="en-US" sz="1600" dirty="0">
                <a:ea typeface="楷体"/>
              </a:rPr>
              <a:t>分支覆盖率，一般会使用覆盖率工具进行自动分析</a:t>
            </a:r>
            <a:endParaRPr lang="en-US" altLang="zh-CN" sz="1600" dirty="0">
              <a:ea typeface="楷体"/>
            </a:endParaRP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1600" dirty="0">
                <a:ea typeface="楷体"/>
              </a:rPr>
              <a:t>今天提倡持续测试，以促进持续交付；契约测试值得关注，从开发自测开始，比较彻底保证质量</a:t>
            </a:r>
            <a:endParaRPr lang="en-US" altLang="zh-CN" sz="1600" dirty="0">
              <a:ea typeface="楷体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02D24D-0014-9B2D-222C-36AE2A946DBC}"/>
              </a:ext>
            </a:extLst>
          </p:cNvPr>
          <p:cNvSpPr txBox="1"/>
          <p:nvPr/>
        </p:nvSpPr>
        <p:spPr>
          <a:xfrm>
            <a:off x="1491291" y="277050"/>
            <a:ext cx="6044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effectLst/>
                <a:ea typeface="方正准圆简体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：单元测试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38FF32-4788-D14E-A2F3-3D05375C9013}"/>
              </a:ext>
            </a:extLst>
          </p:cNvPr>
          <p:cNvSpPr txBox="1"/>
          <p:nvPr/>
        </p:nvSpPr>
        <p:spPr>
          <a:xfrm>
            <a:off x="887160" y="676704"/>
            <a:ext cx="7058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使用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JUnit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工具，针对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Spring Unit Testing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控制器代码中</a:t>
            </a:r>
            <a:r>
              <a:rPr lang="en-US" altLang="zh-CN" sz="1400" dirty="0" err="1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ItemController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类进行测试，编写对应的测试类以完成单元测试，最终提交测试代码。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D5A35E-14E9-1711-C0E8-27C68CA3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71" y="1323035"/>
            <a:ext cx="6020457" cy="3609066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61645" y="258445"/>
            <a:ext cx="7989570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indent="0"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sz="2800" b="1" i="0">
                <a:solidFill>
                  <a:srgbClr val="202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F050202020403020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dirty="0"/>
              <a:t>学习资源推荐</a:t>
            </a:r>
          </a:p>
        </p:txBody>
      </p:sp>
      <p:sp>
        <p:nvSpPr>
          <p:cNvPr id="180" name="在这里推荐延伸学习资料…"/>
          <p:cNvSpPr txBox="1"/>
          <p:nvPr/>
        </p:nvSpPr>
        <p:spPr>
          <a:xfrm>
            <a:off x="692785" y="809349"/>
            <a:ext cx="8159284" cy="2463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endParaRPr dirty="0"/>
          </a:p>
          <a:p>
            <a:pPr marL="319088" lvl="1" indent="-309563" algn="l">
              <a:lnSpc>
                <a:spcPct val="150000"/>
              </a:lnSpc>
              <a:buClr>
                <a:srgbClr val="3798DA"/>
              </a:buClr>
              <a:buSzPct val="100000"/>
              <a:buChar char="•"/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程序开发人员测试指南：构建高质量的软件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，人民邮电出版社，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2018.5</a:t>
            </a:r>
          </a:p>
          <a:p>
            <a:pPr marL="319088" lvl="1" indent="-309563" algn="l">
              <a:lnSpc>
                <a:spcPct val="150000"/>
              </a:lnSpc>
              <a:buClr>
                <a:srgbClr val="3798DA"/>
              </a:buClr>
              <a:buSzPct val="100000"/>
              <a:buChar char="•"/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敏捷测试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，人民邮电出版社，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2021.8</a:t>
            </a:r>
          </a:p>
          <a:p>
            <a:pPr marL="319088" lvl="1" indent="-309563" algn="l">
              <a:lnSpc>
                <a:spcPct val="150000"/>
              </a:lnSpc>
              <a:buClr>
                <a:srgbClr val="3798DA"/>
              </a:buClr>
              <a:buSzPct val="100000"/>
              <a:buChar char="•"/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 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微服务测试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 电子工业出版社，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2019.7</a:t>
            </a:r>
          </a:p>
          <a:p>
            <a:pPr marL="319088" lvl="1" indent="-309563" algn="l">
              <a:lnSpc>
                <a:spcPct val="150000"/>
              </a:lnSpc>
              <a:buClr>
                <a:srgbClr val="3798DA"/>
              </a:buClr>
              <a:buSzPct val="100000"/>
              <a:buChar char="•"/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https://junit.org/junit5/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19088" lvl="1" indent="-309563" algn="l">
              <a:lnSpc>
                <a:spcPct val="150000"/>
              </a:lnSpc>
              <a:buClr>
                <a:srgbClr val="3798DA"/>
              </a:buClr>
              <a:buSzPct val="100000"/>
              <a:buChar char="•"/>
              <a:defRPr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https://docs.pact.io/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ransition spd="slow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14682" y="604302"/>
            <a:ext cx="3658214" cy="9941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聆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</a:t>
            </a:r>
            <a:endParaRPr lang="zh-CN" altLang="en-US" b="1" dirty="0">
              <a:solidFill>
                <a:srgbClr val="435CC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57939" y="1598474"/>
            <a:ext cx="2171700" cy="326643"/>
          </a:xfrm>
        </p:spPr>
        <p:txBody>
          <a:bodyPr>
            <a:noAutofit/>
          </a:bodyPr>
          <a:lstStyle/>
          <a:p>
            <a:r>
              <a:rPr lang="zh-CN" altLang="en-US" sz="1600" dirty="0">
                <a:solidFill>
                  <a:srgbClr val="435C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冯东栋 河南大学</a:t>
            </a:r>
          </a:p>
        </p:txBody>
      </p:sp>
    </p:spTree>
  </p:cSld>
  <p:clrMapOvr>
    <a:masterClrMapping/>
  </p:clrMapOvr>
  <p:transition spd="slow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A5NDI2ZWFiMmI1OWE2N2QwMWFkNmFlNWQxNGI5M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4583_1*a*1"/>
  <p:tag name="KSO_WM_TEMPLATE_CATEGORY" val="diagram"/>
  <p:tag name="KSO_WM_TEMPLATE_INDEX" val="2021458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单击此处添加标题"/>
  <p:tag name="KSO_WM_DIAGRAM_GROUP_CODE" val="m1-1"/>
  <p:tag name="KSO_WM_UNIT_VALUE" val="14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16566</TotalTime>
  <Words>7901</Words>
  <Application>Microsoft Office PowerPoint</Application>
  <PresentationFormat>全屏显示(16:9)</PresentationFormat>
  <Paragraphs>815</Paragraphs>
  <Slides>96</Slides>
  <Notes>33</Notes>
  <HiddenSlides>2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22" baseType="lpstr">
      <vt:lpstr>Helvetica Neue</vt:lpstr>
      <vt:lpstr>ibm-plex-sans</vt:lpstr>
      <vt:lpstr>PingFang SC</vt:lpstr>
      <vt:lpstr>Yuanti SC</vt:lpstr>
      <vt:lpstr>阿里巴巴普惠体</vt:lpstr>
      <vt:lpstr>方正准圆简体</vt:lpstr>
      <vt:lpstr>楷体</vt:lpstr>
      <vt:lpstr>楷体</vt:lpstr>
      <vt:lpstr>思源黑体</vt:lpstr>
      <vt:lpstr>思源黑体 Bold</vt:lpstr>
      <vt:lpstr>思源黑体 CN Bold</vt:lpstr>
      <vt:lpstr>思源黑体 CN Medium</vt:lpstr>
      <vt:lpstr>思源黑体 Medium</vt:lpstr>
      <vt:lpstr>宋体</vt:lpstr>
      <vt:lpstr>Microsoft YaHei</vt:lpstr>
      <vt:lpstr>Microsoft YaHei</vt:lpstr>
      <vt:lpstr>微软雅黑 Light</vt:lpstr>
      <vt:lpstr>Arial</vt:lpstr>
      <vt:lpstr>Calibri</vt:lpstr>
      <vt:lpstr>Helvetica</vt:lpstr>
      <vt:lpstr>Tahoma</vt:lpstr>
      <vt:lpstr>Times New Roman</vt:lpstr>
      <vt:lpstr>Verdana</vt:lpstr>
      <vt:lpstr>Wingdings</vt:lpstr>
      <vt:lpstr>Office 主题​​</vt:lpstr>
      <vt:lpstr>Visio.Drawing.11</vt:lpstr>
      <vt:lpstr>软件测试方法和技术</vt:lpstr>
      <vt:lpstr>5.2 单元测试 </vt:lpstr>
      <vt:lpstr>单元测试内容</vt:lpstr>
      <vt:lpstr>为何要进行单元测试?</vt:lpstr>
      <vt:lpstr>单元测试的其它价值</vt:lpstr>
      <vt:lpstr>单元测试的目标</vt:lpstr>
      <vt:lpstr>一个小练习</vt:lpstr>
      <vt:lpstr>PowerPoint 演示文稿</vt:lpstr>
      <vt:lpstr>驱动程序与桩程序</vt:lpstr>
      <vt:lpstr>C++</vt:lpstr>
      <vt:lpstr>PowerPoint 演示文稿</vt:lpstr>
      <vt:lpstr>单元测试工具</vt:lpstr>
      <vt:lpstr>最常用的单元测试工具</vt:lpstr>
      <vt:lpstr>JUnit 4 工作原理</vt:lpstr>
      <vt:lpstr>JUnit工作原理 – 续</vt:lpstr>
      <vt:lpstr>JUnit 5架构</vt:lpstr>
      <vt:lpstr>需要了解JUnit的关键组件</vt:lpstr>
      <vt:lpstr>注释 Annotation</vt:lpstr>
      <vt:lpstr>Assert类</vt:lpstr>
      <vt:lpstr>TestCase、 TestSuite和TestResult类</vt:lpstr>
      <vt:lpstr>JUnit入门</vt:lpstr>
      <vt:lpstr>JUnit入门</vt:lpstr>
      <vt:lpstr>JUnit入门</vt:lpstr>
      <vt:lpstr>JUnit入门</vt:lpstr>
      <vt:lpstr>JUnit入门</vt:lpstr>
      <vt:lpstr>JUnit入门</vt:lpstr>
      <vt:lpstr>JUnit入门</vt:lpstr>
      <vt:lpstr>JUnit入门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JUnit</vt:lpstr>
      <vt:lpstr>PowerPoint 演示文稿</vt:lpstr>
      <vt:lpstr>模拟对象</vt:lpstr>
      <vt:lpstr>Mock vs. Stub</vt:lpstr>
      <vt:lpstr>Stub和mock小结</vt:lpstr>
      <vt:lpstr>Mock 框架</vt:lpstr>
      <vt:lpstr>EasyMock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Mockito</vt:lpstr>
      <vt:lpstr>Mockito 主要功能</vt:lpstr>
      <vt:lpstr>PowerPoint 演示文稿</vt:lpstr>
      <vt:lpstr>代码覆盖率分析工具</vt:lpstr>
      <vt:lpstr>实现覆盖率度量：Jacoco</vt:lpstr>
      <vt:lpstr>on-the-fly instrumentation</vt:lpstr>
      <vt:lpstr>on-the-fly instrumentation –续</vt:lpstr>
      <vt:lpstr>on-the-fly instrumentation –续</vt:lpstr>
      <vt:lpstr>示例</vt:lpstr>
      <vt:lpstr>代码覆盖率度量</vt:lpstr>
      <vt:lpstr>5.3 持续集成测试</vt:lpstr>
      <vt:lpstr>持续集成测试内容</vt:lpstr>
      <vt:lpstr>单体架构的集成测试</vt:lpstr>
      <vt:lpstr>单体架构的集成测试 –混合策略</vt:lpstr>
      <vt:lpstr>微服务架构</vt:lpstr>
      <vt:lpstr>微服务架构的集成测试</vt:lpstr>
      <vt:lpstr>微服务架构的集成测试 – 续</vt:lpstr>
      <vt:lpstr>契约测试及其优势、工具</vt:lpstr>
      <vt:lpstr>示例：CDC测试框架</vt:lpstr>
      <vt:lpstr>Consumer 测试</vt:lpstr>
      <vt:lpstr>Provider 测试</vt:lpstr>
      <vt:lpstr>示例</vt:lpstr>
      <vt:lpstr>如何获取接口信息</vt:lpstr>
      <vt:lpstr>利用 Mock 技术解除微服务之间的依赖</vt:lpstr>
      <vt:lpstr>PowerPoint 演示文稿</vt:lpstr>
      <vt:lpstr>CI/CD 流水线</vt:lpstr>
      <vt:lpstr>CD倒逼持续测试</vt:lpstr>
      <vt:lpstr>CI/CD 流水线</vt:lpstr>
      <vt:lpstr>示例：Amazon CI/CD</vt:lpstr>
      <vt:lpstr>PowerPoint 演示文稿</vt:lpstr>
      <vt:lpstr>持续测试的特点</vt:lpstr>
      <vt:lpstr>持续测试实践框架</vt:lpstr>
      <vt:lpstr>本章小结</vt:lpstr>
      <vt:lpstr>PowerPoint 演示文稿</vt:lpstr>
      <vt:lpstr>PowerPoint 演示文稿</vt:lpstr>
      <vt:lpstr>感 谢 聆 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东栋 冯</cp:lastModifiedBy>
  <cp:revision>329</cp:revision>
  <dcterms:created xsi:type="dcterms:W3CDTF">2020-06-18T01:06:00Z</dcterms:created>
  <dcterms:modified xsi:type="dcterms:W3CDTF">2024-05-15T23:45:35Z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426427AD8D144D0396529E473195E768</vt:lpwstr>
  </property>
</Properties>
</file>