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3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4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9929" r:id="rId2"/>
    <p:sldId id="1354" r:id="rId3"/>
    <p:sldId id="1355" r:id="rId4"/>
    <p:sldId id="1356" r:id="rId5"/>
    <p:sldId id="1357" r:id="rId6"/>
    <p:sldId id="1358" r:id="rId7"/>
    <p:sldId id="1359" r:id="rId8"/>
    <p:sldId id="1360" r:id="rId9"/>
    <p:sldId id="1361" r:id="rId10"/>
    <p:sldId id="1371" r:id="rId11"/>
    <p:sldId id="1372" r:id="rId12"/>
    <p:sldId id="1373" r:id="rId13"/>
    <p:sldId id="1374" r:id="rId14"/>
    <p:sldId id="1375" r:id="rId15"/>
    <p:sldId id="1377" r:id="rId16"/>
    <p:sldId id="1376" r:id="rId17"/>
    <p:sldId id="1378" r:id="rId18"/>
    <p:sldId id="1379" r:id="rId19"/>
    <p:sldId id="1380" r:id="rId20"/>
    <p:sldId id="1381" r:id="rId21"/>
    <p:sldId id="1468" r:id="rId22"/>
    <p:sldId id="1382" r:id="rId23"/>
    <p:sldId id="1383" r:id="rId24"/>
    <p:sldId id="1384" r:id="rId25"/>
    <p:sldId id="1385" r:id="rId26"/>
    <p:sldId id="1386" r:id="rId27"/>
    <p:sldId id="1387" r:id="rId28"/>
    <p:sldId id="1388" r:id="rId29"/>
    <p:sldId id="1389" r:id="rId30"/>
    <p:sldId id="1390" r:id="rId31"/>
    <p:sldId id="1391" r:id="rId32"/>
    <p:sldId id="1392" r:id="rId33"/>
    <p:sldId id="1464" r:id="rId34"/>
    <p:sldId id="1465" r:id="rId35"/>
    <p:sldId id="1466" r:id="rId36"/>
    <p:sldId id="1393" r:id="rId37"/>
    <p:sldId id="1394" r:id="rId38"/>
    <p:sldId id="1395" r:id="rId39"/>
    <p:sldId id="1396" r:id="rId40"/>
    <p:sldId id="1397" r:id="rId41"/>
    <p:sldId id="6034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6AD57-D400-4C19-878E-2A6884882F19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3D3C9-0931-4DB8-9ACA-2C7A3E7A3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90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>
          <a:xfrm>
            <a:off x="685800" y="4344988"/>
            <a:ext cx="5486400" cy="4113212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b="1" dirty="0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dirty="0">
                <a:sym typeface="+mn-ea"/>
              </a:rPr>
              <a:t>条件桩是测试需求中的输入条件，根据被测对象的测试需求，确定测试输入。输入通常包含测试数据、外部文件、内部数据状态等，如果输入仅涉及</a:t>
            </a:r>
            <a:r>
              <a:rPr lang="en-US" altLang="zh-CN" dirty="0">
                <a:sym typeface="+mn-ea"/>
              </a:rPr>
              <a:t>2</a:t>
            </a:r>
            <a:r>
              <a:rPr lang="zh-CN" altLang="zh-CN" dirty="0">
                <a:sym typeface="+mn-ea"/>
              </a:rPr>
              <a:t>种取值，即真假取值，可用</a:t>
            </a:r>
            <a:r>
              <a:rPr lang="en-US" altLang="zh-CN" dirty="0">
                <a:sym typeface="+mn-ea"/>
              </a:rPr>
              <a:t>0</a:t>
            </a:r>
            <a:r>
              <a:rPr lang="zh-CN" altLang="zh-CN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1</a:t>
            </a:r>
            <a:r>
              <a:rPr lang="zh-CN" altLang="zh-CN" dirty="0">
                <a:sym typeface="+mn-ea"/>
              </a:rPr>
              <a:t>表示，则可直接填入判定表，否则需根据实际情况细化，每个取值作为条件桩单独抽取出来。</a:t>
            </a:r>
            <a:endParaRPr lang="zh-CN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dirty="0">
                <a:sym typeface="+mn-ea"/>
              </a:rPr>
              <a:t>动作桩即为测试需求中的输出响应。根据被测对象的测试需求，确定测试输出。输出通常包含提示信息、数据响应、文件结果、页面展示变化等。确定无误后可填入判定表动作桩部分。</a:t>
            </a:r>
            <a:endParaRPr lang="zh-CN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每课</a:t>
            </a:r>
            <a:r>
              <a:rPr lang="zh-CN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时使用“以上是本节课的内容”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这一章讲到这里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66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6064B-89F4-DA8C-3FED-1054F03C1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5B9688-7598-A868-D878-EA77E9A09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4DC25-3B06-F2A1-C05A-520B7447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3287A-C73C-8B69-5C97-FE90A74C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01A46-7FC9-6C5D-46D3-E64DA8C2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39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680EA-3817-D701-16B9-4E55891D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EB169-CE25-A515-520E-B5D1EDD94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0F157-1D10-0B36-F55A-A221510D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B86CA-2A98-2E5E-D6EC-40B7F1FD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CB492-6355-4549-DD7F-127B9C73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0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A46DB-840A-0670-2310-818B0D485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49EEDC-7D96-1CCB-06BA-26A5D354E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A55B4-948E-2177-704B-9C9D2E94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6143B-E903-7B54-1900-5D8107D1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B638F-1FC3-6764-4040-B07BC389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12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E0DE-6FD6-5260-300C-2E475FE9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67079-12AC-8485-8D4A-D1BDAB62F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B6571D-F645-BC29-28B9-69FF58B30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77D4C0-B67D-7255-4C84-53AC9844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04AD57-E99B-1AC8-2E33-7629D8DE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2ABC41-4996-7040-EAA0-6CAA22D6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03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8CEAF-BFD4-793C-95AD-390A196E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A0829B-DF68-BE66-4214-F29227682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F98DD-4A9F-9C64-ADDE-B2E90372B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DD3183-983E-AB6E-508D-0FEFEF396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29E6A0-48BA-AECE-44BA-A074DE06D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009B7C-D0EB-D03E-0164-59D05506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0F205F-9380-D229-C6E9-96F83428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73B46F-5CAD-220E-4379-A0F8FDDA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08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BA142-5D44-9624-5B48-DBA82113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BE973A-E104-A04F-377B-D3C6A02B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1C6FB6-7916-4C99-7C08-058A4A8D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0D79D9-8980-B884-FEA1-F50A5784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5526C3-FFEA-3DC4-02D1-5A50C0C2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558DB8-EDC6-B01A-5B23-5D306A9C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E3E7E6-F8DF-178E-C3ED-5A57B570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45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91996-747F-2114-71CC-21EF15D0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0C07C9-2FF2-B689-FC10-A8E3E858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A31109-9A35-0C36-2D7F-B1B179DBC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DC392E-90D8-1746-7DAE-A7D45EF4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4C5174-E98B-B0AD-0CEA-623E09AA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9F721B-6BF2-728A-261A-444E3D53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10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E1AFB-F0B5-4609-47E4-0EB8CE32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F2A30E-3A64-0F54-F904-086A547BB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7851B1-BF3F-810E-65EC-4FE0FA3B5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BD8D9D-735B-8163-7CA9-180E3B1A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78C2C-03FA-5D25-7B5F-FAC8A092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E16997-7CA8-00DF-474B-8E8F566B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41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090E8-0115-DC80-382C-BCBB4E0C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E753DD-B15B-12DE-D24B-E5CB7755D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E95DF-C72F-B5E1-CD3B-2DF40A1E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255F3-02A5-856E-653B-942C81FA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6FF37-C686-2241-941F-0EFC5B98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9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4EC034-E003-365A-2738-A87B3D992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9411E4-5D3B-7D8E-D1C5-87D4F48CC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18A6F-63D9-B249-DB8E-5B1183E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370758-908D-5865-2ABA-C607BACD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502AD-9BAA-17A8-7BF4-0D5F9A32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718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64614"/>
            <a:ext cx="12192000" cy="15621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75B709-553C-2F31-0AC6-3CD7BEB5F72A}"/>
              </a:ext>
            </a:extLst>
          </p:cNvPr>
          <p:cNvSpPr/>
          <p:nvPr userDrawn="1"/>
        </p:nvSpPr>
        <p:spPr>
          <a:xfrm>
            <a:off x="0" y="6615485"/>
            <a:ext cx="12192000" cy="242515"/>
          </a:xfrm>
          <a:prstGeom prst="rect">
            <a:avLst/>
          </a:prstGeom>
          <a:solidFill>
            <a:srgbClr val="202B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 descr="形状 3.png">
            <a:extLst>
              <a:ext uri="{FF2B5EF4-FFF2-40B4-BE49-F238E27FC236}">
                <a16:creationId xmlns:a16="http://schemas.microsoft.com/office/drawing/2014/main" id="{392AD8B5-C0BE-D767-84D9-E93FB6F132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91174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83A833-E148-B64F-D7B3-8453CEFD81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409" y="140924"/>
            <a:ext cx="1889712" cy="62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65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31AA72A-FE2F-1F7F-B206-0A8214FA8C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b="2308"/>
          <a:stretch/>
        </p:blipFill>
        <p:spPr>
          <a:xfrm>
            <a:off x="-3" y="9301"/>
            <a:ext cx="12192003" cy="6848699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838200" y="4445263"/>
            <a:ext cx="10515600" cy="914400"/>
          </a:xfrm>
        </p:spPr>
        <p:txBody>
          <a:bodyPr>
            <a:normAutofit/>
          </a:bodyPr>
          <a:lstStyle>
            <a:lvl1pPr marL="0" indent="0" algn="l">
              <a:buNone/>
              <a:defRPr sz="32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  <a:lvl3pPr marL="914377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838200" y="2789433"/>
            <a:ext cx="10515600" cy="1325563"/>
          </a:xfrm>
        </p:spPr>
        <p:txBody>
          <a:bodyPr>
            <a:normAutofit/>
          </a:bodyPr>
          <a:lstStyle>
            <a:lvl1pPr algn="l">
              <a:defRPr sz="6400" b="0" i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合 10"/>
          <p:cNvGrpSpPr/>
          <p:nvPr userDrawn="1"/>
        </p:nvGrpSpPr>
        <p:grpSpPr>
          <a:xfrm>
            <a:off x="838202" y="2540408"/>
            <a:ext cx="6582583" cy="1818528"/>
            <a:chOff x="2666198" y="2543397"/>
            <a:chExt cx="7199697" cy="1316333"/>
          </a:xfrm>
        </p:grpSpPr>
        <p:cxnSp>
          <p:nvCxnSpPr>
            <p:cNvPr id="9" name="直线连接符 8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38200" y="5809889"/>
            <a:ext cx="10515600" cy="435524"/>
          </a:xfrm>
        </p:spPr>
        <p:txBody>
          <a:bodyPr>
            <a:normAutofit/>
          </a:bodyPr>
          <a:lstStyle>
            <a:lvl1pPr marL="0" indent="0" algn="r">
              <a:buNone/>
              <a:defRPr sz="1867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  <a:lvl3pPr marL="914377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106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9160933" cy="1600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828800"/>
            <a:ext cx="10261600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962C8B-B14F-4D97-AF65-F5344CB8AC3E}" type="datetime1">
              <a:rPr lang="zh-CN" altLang="zh-CN" sz="1400" smtClean="0">
                <a:solidFill>
                  <a:schemeClr val="tx1"/>
                </a:solidFill>
                <a:latin typeface="Comic Sans MS" panose="030F0702030302020204" pitchFamily="66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2024/3/20</a:t>
            </a:fld>
            <a:endParaRPr lang="en-US" altLang="zh-CN" sz="140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  <a:t>‹#›</a:t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42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31AF57-9A6A-ECB2-9033-6801AE66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402175-8240-ABD4-83B1-75E9B0F1F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321E2-6FA1-73BC-E0B2-E4656D753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39BDF-5F48-46EE-AD9A-6329163ADE2A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6D4713-7906-4C6B-60EF-4E390E75C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43146-2A15-676B-4D2A-2342C1905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2417E-44AC-4DE0-92E0-B549E19DA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7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10" Type="http://schemas.openxmlformats.org/officeDocument/2006/relationships/image" Target="../media/image5.png"/><Relationship Id="rId4" Type="http://schemas.openxmlformats.org/officeDocument/2006/relationships/tags" Target="../tags/tag23.xml"/><Relationship Id="rId9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notesSlide" Target="../notesSlides/notesSlid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2.xml"/><Relationship Id="rId4" Type="http://schemas.openxmlformats.org/officeDocument/2006/relationships/tags" Target="../tags/tag10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011107" y="2515512"/>
            <a:ext cx="101697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3.3 </a:t>
            </a:r>
            <a:r>
              <a:rPr lang="zh-CN" altLang="zh-CN" sz="60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基于组合及其优化的方法</a:t>
            </a:r>
            <a:endParaRPr lang="zh-CN" altLang="en-US" sz="60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3AD164-FF24-0B79-2BD8-26ADD727DF46}"/>
              </a:ext>
            </a:extLst>
          </p:cNvPr>
          <p:cNvSpPr txBox="1"/>
          <p:nvPr/>
        </p:nvSpPr>
        <p:spPr>
          <a:xfrm>
            <a:off x="4412572" y="4037688"/>
            <a:ext cx="3870816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3.3.1 </a:t>
            </a:r>
            <a:r>
              <a:rPr lang="zh-CN" altLang="en-US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决策表</a:t>
            </a: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判定表</a:t>
            </a: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方法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3.3.2 </a:t>
            </a:r>
            <a:r>
              <a:rPr lang="zh-CN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因果图法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3.3.3 Pair-wise</a:t>
            </a:r>
            <a:r>
              <a:rPr lang="zh-CN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方法</a:t>
            </a: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3.3.4 </a:t>
            </a:r>
            <a:r>
              <a:rPr lang="zh-CN" altLang="zh-CN" sz="2400" kern="1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正交试验法</a:t>
            </a:r>
          </a:p>
        </p:txBody>
      </p:sp>
    </p:spTree>
    <p:extLst>
      <p:ext uri="{BB962C8B-B14F-4D97-AF65-F5344CB8AC3E}">
        <p14:creationId xmlns:p14="http://schemas.microsoft.com/office/powerpoint/2010/main" val="1923209344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026285" y="414656"/>
            <a:ext cx="8139430" cy="1039495"/>
          </a:xfrm>
        </p:spPr>
        <p:txBody>
          <a:bodyPr/>
          <a:lstStyle/>
          <a:p>
            <a:r>
              <a:rPr lang="en-US" altLang="zh-CN" kern="0">
                <a:solidFill>
                  <a:schemeClr val="accent1"/>
                </a:solidFill>
                <a:ea typeface="汉仪文黑-85W" panose="00020600040101010101" charset="-122"/>
              </a:rPr>
              <a:t>上节回顾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2026285" y="1453516"/>
            <a:ext cx="8139430" cy="4214495"/>
          </a:xfrm>
        </p:spPr>
        <p:txBody>
          <a:bodyPr/>
          <a:lstStyle/>
          <a:p>
            <a:r>
              <a:rPr lang="zh-CN" altLang="en-US" sz="3200" b="1" dirty="0"/>
              <a:t>黑盒测试方法</a:t>
            </a:r>
            <a:r>
              <a:rPr lang="en-US" altLang="zh-CN" sz="3200" b="1" dirty="0"/>
              <a:t>——</a:t>
            </a:r>
            <a:r>
              <a:rPr lang="zh-CN" altLang="en-US" sz="3200" b="1" dirty="0"/>
              <a:t>等价类划分法</a:t>
            </a:r>
          </a:p>
          <a:p>
            <a:pPr lvl="1">
              <a:lnSpc>
                <a:spcPct val="160000"/>
              </a:lnSpc>
            </a:pPr>
            <a:r>
              <a:rPr lang="zh-CN" altLang="en-US" dirty="0"/>
              <a:t>等价类划分法原理</a:t>
            </a:r>
          </a:p>
          <a:p>
            <a:pPr lvl="1">
              <a:lnSpc>
                <a:spcPct val="160000"/>
              </a:lnSpc>
            </a:pPr>
            <a:r>
              <a:rPr lang="zh-CN" altLang="en-US" dirty="0"/>
              <a:t>等价类划分步骤</a:t>
            </a:r>
          </a:p>
          <a:p>
            <a:pPr lvl="1">
              <a:lnSpc>
                <a:spcPct val="160000"/>
              </a:lnSpc>
            </a:pPr>
            <a:r>
              <a:rPr lang="zh-CN" altLang="en-US" dirty="0"/>
              <a:t>测试用例的设计</a:t>
            </a:r>
          </a:p>
          <a:p>
            <a:pPr lvl="1">
              <a:lnSpc>
                <a:spcPct val="160000"/>
              </a:lnSpc>
            </a:pPr>
            <a:r>
              <a:rPr lang="zh-CN" altLang="en-US" dirty="0"/>
              <a:t>案例分析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  <a:t>2024/3/20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188" y="692150"/>
            <a:ext cx="6337300" cy="762000"/>
          </a:xfrm>
        </p:spPr>
        <p:txBody>
          <a:bodyPr vert="horz" wrap="square" lIns="91440" tIns="45720" rIns="91440" bIns="45720" numCol="1" rtlCol="0" anchor="b" anchorCtr="0" compatLnSpc="1">
            <a:normAutofit/>
          </a:bodyPr>
          <a:lstStyle/>
          <a:p>
            <a:pPr algn="just" fontAlgn="base">
              <a:lnSpc>
                <a:spcPct val="100000"/>
              </a:lnSpc>
              <a:defRPr/>
            </a:pPr>
            <a:r>
              <a:rPr lang="en-US" altLang="zh-CN" kern="0" dirty="0">
                <a:solidFill>
                  <a:schemeClr val="accent1"/>
                </a:solidFill>
                <a:ea typeface="汉仪文黑-85W" panose="00020600040101010101" charset="-122"/>
              </a:rPr>
              <a:t>余额宝提现的等价类划分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703389" y="1628776"/>
            <a:ext cx="8785225" cy="453707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55600" indent="-3556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余额宝中的零钱不可以直接消费，当需要使用时，可将余额宝的钱提现。余额宝的提现功能有</a:t>
            </a:r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种方式：</a:t>
            </a:r>
          </a:p>
          <a:p>
            <a:pPr marL="812800" lvl="1" indent="-3556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快速到账（</a:t>
            </a:r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小时内）：每日最高提现额度为</a:t>
            </a:r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10000</a:t>
            </a:r>
            <a:r>
              <a:rPr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元；</a:t>
            </a:r>
          </a:p>
          <a:p>
            <a:pPr marL="812800" lvl="1" indent="-3556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charset="-122"/>
                <a:cs typeface="微软雅黑" panose="020B0503020204020204" charset="-122"/>
              </a:rPr>
              <a:t>普通到账：可提取金额为余额宝最大余额，但到账时间会慢一些。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6285" y="414655"/>
            <a:ext cx="8139430" cy="9575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>
              <a:buNone/>
            </a:pPr>
            <a:r>
              <a:rPr lang="en-US" altLang="zh-CN" sz="4000" kern="0">
                <a:solidFill>
                  <a:schemeClr val="accent1"/>
                </a:solidFill>
                <a:ea typeface="汉仪文黑-85W" panose="00020600040101010101" charset="-122"/>
                <a:sym typeface="+mn-ea"/>
              </a:rPr>
              <a:t>余额宝提现的等价类划分</a:t>
            </a:r>
            <a:endParaRPr lang="en-US" altLang="zh-CN" sz="4000" kern="0" dirty="0">
              <a:solidFill>
                <a:schemeClr val="accent1"/>
              </a:solidFill>
              <a:ea typeface="汉仪文黑-85W" panose="0002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026285" y="1657350"/>
            <a:ext cx="8139430" cy="401066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469900" indent="-469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/>
            </a:pPr>
            <a:r>
              <a:rPr lang="zh-CN" altLang="en-US" kern="0" dirty="0">
                <a:solidFill>
                  <a:schemeClr val="dk1"/>
                </a:solidFill>
              </a:rPr>
              <a:t>选择快速到账，则可将提现功能划分为</a:t>
            </a:r>
            <a:r>
              <a:rPr lang="en-US" altLang="zh-CN" kern="0" dirty="0">
                <a:solidFill>
                  <a:schemeClr val="dk1"/>
                </a:solidFill>
              </a:rPr>
              <a:t>1</a:t>
            </a:r>
            <a:r>
              <a:rPr lang="zh-CN" altLang="en-US" kern="0" dirty="0">
                <a:solidFill>
                  <a:schemeClr val="dk1"/>
                </a:solidFill>
              </a:rPr>
              <a:t>个有效等价类与</a:t>
            </a:r>
            <a:r>
              <a:rPr lang="en-US" altLang="zh-CN" kern="0" dirty="0">
                <a:solidFill>
                  <a:schemeClr val="dk1"/>
                </a:solidFill>
              </a:rPr>
              <a:t>2</a:t>
            </a:r>
            <a:r>
              <a:rPr lang="zh-CN" altLang="en-US" kern="0" dirty="0">
                <a:solidFill>
                  <a:schemeClr val="dk1"/>
                </a:solidFill>
              </a:rPr>
              <a:t>个无效等价类，具体如下：</a:t>
            </a:r>
            <a:endParaRPr lang="en-US" altLang="zh-CN" kern="0" dirty="0">
              <a:solidFill>
                <a:schemeClr val="dk1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  <a:defRPr/>
            </a:pPr>
            <a:r>
              <a:rPr lang="en-US" altLang="zh-CN" kern="0" dirty="0">
                <a:solidFill>
                  <a:schemeClr val="dk1"/>
                </a:solidFill>
              </a:rPr>
              <a:t>1</a:t>
            </a:r>
            <a:r>
              <a:rPr lang="zh-CN" altLang="en-US" kern="0" dirty="0">
                <a:solidFill>
                  <a:schemeClr val="dk1"/>
                </a:solidFill>
              </a:rPr>
              <a:t>、有效等价类：</a:t>
            </a:r>
            <a:r>
              <a:rPr lang="en-US" altLang="zh-CN" kern="0" dirty="0">
                <a:solidFill>
                  <a:schemeClr val="dk1"/>
                </a:solidFill>
              </a:rPr>
              <a:t>0&lt;</a:t>
            </a:r>
            <a:r>
              <a:rPr lang="zh-CN" altLang="en-US" kern="0" dirty="0">
                <a:solidFill>
                  <a:schemeClr val="dk1"/>
                </a:solidFill>
              </a:rPr>
              <a:t>提现金额</a:t>
            </a:r>
            <a:r>
              <a:rPr lang="en-US" altLang="zh-CN" kern="0" dirty="0">
                <a:solidFill>
                  <a:schemeClr val="dk1"/>
                </a:solidFill>
              </a:rPr>
              <a:t>&lt;=10000</a:t>
            </a:r>
            <a:r>
              <a:rPr lang="zh-CN" altLang="en-US" kern="0" dirty="0">
                <a:solidFill>
                  <a:schemeClr val="dk1"/>
                </a:solidFill>
              </a:rPr>
              <a:t>元。</a:t>
            </a:r>
            <a:endParaRPr lang="en-US" altLang="zh-CN" kern="0" dirty="0">
              <a:solidFill>
                <a:schemeClr val="dk1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  <a:defRPr/>
            </a:pPr>
            <a:r>
              <a:rPr lang="en-US" altLang="zh-CN" kern="0" dirty="0">
                <a:solidFill>
                  <a:schemeClr val="dk1"/>
                </a:solidFill>
              </a:rPr>
              <a:t>2</a:t>
            </a:r>
            <a:r>
              <a:rPr lang="zh-CN" altLang="en-US" kern="0" dirty="0">
                <a:solidFill>
                  <a:schemeClr val="dk1"/>
                </a:solidFill>
              </a:rPr>
              <a:t>、无效等价类：提现金额</a:t>
            </a:r>
            <a:r>
              <a:rPr lang="en-US" altLang="zh-CN" kern="0" dirty="0">
                <a:solidFill>
                  <a:schemeClr val="dk1"/>
                </a:solidFill>
              </a:rPr>
              <a:t>&lt;=0</a:t>
            </a:r>
            <a:r>
              <a:rPr lang="zh-CN" altLang="en-US" kern="0" dirty="0">
                <a:solidFill>
                  <a:schemeClr val="dk1"/>
                </a:solidFill>
              </a:rPr>
              <a:t>。</a:t>
            </a:r>
            <a:endParaRPr lang="en-US" altLang="zh-CN" kern="0" dirty="0">
              <a:solidFill>
                <a:schemeClr val="dk1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  <a:defRPr/>
            </a:pPr>
            <a:r>
              <a:rPr lang="en-US" altLang="zh-CN" kern="0" dirty="0">
                <a:solidFill>
                  <a:schemeClr val="dk1"/>
                </a:solidFill>
              </a:rPr>
              <a:t>3</a:t>
            </a:r>
            <a:r>
              <a:rPr lang="zh-CN" altLang="en-US" kern="0" dirty="0">
                <a:solidFill>
                  <a:schemeClr val="dk1"/>
                </a:solidFill>
              </a:rPr>
              <a:t>、无效等价类：提现金额</a:t>
            </a:r>
            <a:r>
              <a:rPr lang="en-US" altLang="zh-CN" kern="0" dirty="0">
                <a:solidFill>
                  <a:schemeClr val="dk1"/>
                </a:solidFill>
              </a:rPr>
              <a:t>&gt;10000</a:t>
            </a:r>
            <a:r>
              <a:rPr lang="zh-CN" altLang="en-US" kern="0" dirty="0">
                <a:solidFill>
                  <a:schemeClr val="dk1"/>
                </a:solidFill>
              </a:rPr>
              <a:t>元。</a:t>
            </a:r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dk1"/>
                </a:solidFill>
              </a:rPr>
              <a:t>4</a:t>
            </a:fld>
            <a:endParaRPr lang="en-US" altLang="zh-CN" sz="1200" dirty="0">
              <a:solidFill>
                <a:schemeClr val="dk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6285" y="414655"/>
            <a:ext cx="8139430" cy="9575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>
              <a:buNone/>
            </a:pPr>
            <a:r>
              <a:rPr lang="en-US" altLang="zh-CN" sz="4000" kern="0">
                <a:solidFill>
                  <a:schemeClr val="accent1"/>
                </a:solidFill>
                <a:ea typeface="汉仪文黑-85W" panose="00020600040101010101" charset="-122"/>
                <a:sym typeface="+mn-ea"/>
              </a:rPr>
              <a:t>余额宝提现的等价类划分</a:t>
            </a:r>
            <a:endParaRPr lang="en-US" altLang="zh-CN" sz="4000" kern="0" dirty="0">
              <a:solidFill>
                <a:schemeClr val="accent1"/>
              </a:solidFill>
              <a:ea typeface="汉仪文黑-85W" panose="0002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026285" y="1668146"/>
            <a:ext cx="8139430" cy="398081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469900" indent="-469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/>
            </a:pPr>
            <a:r>
              <a:rPr lang="zh-CN" altLang="en-US" kern="0" dirty="0">
                <a:solidFill>
                  <a:schemeClr val="dk1"/>
                </a:solidFill>
              </a:rPr>
              <a:t>选择普通到账，则可将提现功能划分为</a:t>
            </a:r>
            <a:r>
              <a:rPr lang="en-US" altLang="zh-CN" kern="0" dirty="0">
                <a:solidFill>
                  <a:schemeClr val="dk1"/>
                </a:solidFill>
              </a:rPr>
              <a:t>1</a:t>
            </a:r>
            <a:r>
              <a:rPr lang="zh-CN" altLang="en-US" kern="0" dirty="0">
                <a:solidFill>
                  <a:schemeClr val="dk1"/>
                </a:solidFill>
              </a:rPr>
              <a:t>个有效等价类和</a:t>
            </a:r>
            <a:r>
              <a:rPr lang="en-US" altLang="zh-CN" kern="0" dirty="0">
                <a:solidFill>
                  <a:schemeClr val="dk1"/>
                </a:solidFill>
              </a:rPr>
              <a:t>2</a:t>
            </a:r>
            <a:r>
              <a:rPr lang="zh-CN" altLang="en-US" kern="0" dirty="0">
                <a:solidFill>
                  <a:schemeClr val="dk1"/>
                </a:solidFill>
              </a:rPr>
              <a:t>个无效等价类，具体如下：</a:t>
            </a:r>
            <a:endParaRPr lang="en-US" altLang="zh-CN" kern="0" dirty="0">
              <a:solidFill>
                <a:schemeClr val="dk1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  <a:defRPr/>
            </a:pPr>
            <a:r>
              <a:rPr lang="en-US" altLang="zh-CN" kern="0" dirty="0">
                <a:solidFill>
                  <a:schemeClr val="dk1"/>
                </a:solidFill>
              </a:rPr>
              <a:t>1</a:t>
            </a:r>
            <a:r>
              <a:rPr lang="zh-CN" altLang="en-US" kern="0" dirty="0">
                <a:solidFill>
                  <a:schemeClr val="dk1"/>
                </a:solidFill>
              </a:rPr>
              <a:t>、有效等价类：</a:t>
            </a:r>
            <a:r>
              <a:rPr lang="en-US" altLang="zh-CN" kern="0" dirty="0">
                <a:solidFill>
                  <a:schemeClr val="dk1"/>
                </a:solidFill>
              </a:rPr>
              <a:t>0&lt;</a:t>
            </a:r>
            <a:r>
              <a:rPr lang="zh-CN" altLang="en-US" kern="0" dirty="0">
                <a:solidFill>
                  <a:schemeClr val="dk1"/>
                </a:solidFill>
              </a:rPr>
              <a:t>提现金额</a:t>
            </a:r>
            <a:r>
              <a:rPr lang="en-US" altLang="zh-CN" kern="0" dirty="0">
                <a:solidFill>
                  <a:schemeClr val="dk1"/>
                </a:solidFill>
              </a:rPr>
              <a:t>&lt;=</a:t>
            </a:r>
            <a:r>
              <a:rPr lang="zh-CN" altLang="en-US" kern="0" dirty="0">
                <a:solidFill>
                  <a:schemeClr val="dk1"/>
                </a:solidFill>
              </a:rPr>
              <a:t>余额。</a:t>
            </a:r>
            <a:endParaRPr lang="en-US" altLang="zh-CN" kern="0" dirty="0">
              <a:solidFill>
                <a:schemeClr val="dk1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  <a:defRPr/>
            </a:pPr>
            <a:r>
              <a:rPr lang="en-US" altLang="zh-CN" kern="0" dirty="0">
                <a:solidFill>
                  <a:schemeClr val="dk1"/>
                </a:solidFill>
              </a:rPr>
              <a:t>2</a:t>
            </a:r>
            <a:r>
              <a:rPr lang="zh-CN" altLang="en-US" kern="0" dirty="0">
                <a:solidFill>
                  <a:schemeClr val="dk1"/>
                </a:solidFill>
              </a:rPr>
              <a:t>、无效等价类：提现金额</a:t>
            </a:r>
            <a:r>
              <a:rPr lang="en-US" altLang="zh-CN" kern="0" dirty="0">
                <a:solidFill>
                  <a:schemeClr val="dk1"/>
                </a:solidFill>
              </a:rPr>
              <a:t>&lt;=0</a:t>
            </a:r>
            <a:r>
              <a:rPr lang="zh-CN" altLang="en-US" kern="0" dirty="0">
                <a:solidFill>
                  <a:schemeClr val="dk1"/>
                </a:solidFill>
              </a:rPr>
              <a:t>。</a:t>
            </a:r>
            <a:endParaRPr lang="en-US" altLang="zh-CN" kern="0" dirty="0">
              <a:solidFill>
                <a:schemeClr val="dk1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  <a:defRPr/>
            </a:pPr>
            <a:r>
              <a:rPr lang="en-US" altLang="zh-CN" kern="0" dirty="0">
                <a:solidFill>
                  <a:schemeClr val="dk1"/>
                </a:solidFill>
              </a:rPr>
              <a:t>3</a:t>
            </a:r>
            <a:r>
              <a:rPr lang="zh-CN" altLang="en-US" kern="0" dirty="0">
                <a:solidFill>
                  <a:schemeClr val="dk1"/>
                </a:solidFill>
              </a:rPr>
              <a:t>、无效等价类：提现金额</a:t>
            </a:r>
            <a:r>
              <a:rPr lang="en-US" altLang="zh-CN" kern="0" dirty="0">
                <a:solidFill>
                  <a:schemeClr val="dk1"/>
                </a:solidFill>
              </a:rPr>
              <a:t>&gt;</a:t>
            </a:r>
            <a:r>
              <a:rPr lang="zh-CN" altLang="en-US" kern="0" dirty="0">
                <a:solidFill>
                  <a:schemeClr val="dk1"/>
                </a:solidFill>
              </a:rPr>
              <a:t>余额。</a:t>
            </a: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dk1"/>
                </a:solidFill>
              </a:rPr>
              <a:t>5</a:t>
            </a:fld>
            <a:endParaRPr lang="en-US" altLang="zh-CN" sz="1200" dirty="0">
              <a:solidFill>
                <a:schemeClr val="dk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2090738" y="1752600"/>
          <a:ext cx="7772400" cy="304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7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1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有效等价类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无效等价类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编号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8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0&lt;</a:t>
                      </a: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&lt;=10000</a:t>
                      </a:r>
                      <a:r>
                        <a:rPr lang="zh-CN" altLang="en-US" sz="2000" dirty="0"/>
                        <a:t>元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1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&gt;10000</a:t>
                      </a:r>
                      <a:r>
                        <a:rPr lang="zh-CN" altLang="en-US" sz="2000" dirty="0"/>
                        <a:t>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18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普通到账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0&lt;</a:t>
                      </a: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</a:t>
                      </a:r>
                      <a:r>
                        <a:rPr lang="zh-CN" altLang="en-US" sz="2000" dirty="0"/>
                        <a:t>余额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9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&gt;</a:t>
                      </a:r>
                      <a:r>
                        <a:rPr lang="zh-CN" altLang="en-US" sz="2000" dirty="0"/>
                        <a:t>余额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23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dk1"/>
                </a:solidFill>
              </a:rPr>
              <a:t>6</a:t>
            </a:fld>
            <a:endParaRPr lang="en-US" altLang="zh-CN" sz="1200" dirty="0">
              <a:solidFill>
                <a:schemeClr val="dk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11266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026285" y="414655"/>
            <a:ext cx="8139430" cy="9575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>
              <a:buNone/>
            </a:pPr>
            <a:r>
              <a:rPr lang="en-US" altLang="zh-CN" sz="4000" kern="0">
                <a:solidFill>
                  <a:schemeClr val="accent1"/>
                </a:solidFill>
                <a:ea typeface="汉仪文黑-85W" panose="00020600040101010101" charset="-122"/>
                <a:sym typeface="+mn-ea"/>
              </a:rPr>
              <a:t>余额宝提现的等价类划分</a:t>
            </a:r>
            <a:endParaRPr lang="en-US" altLang="zh-CN" sz="4000" kern="0" dirty="0">
              <a:solidFill>
                <a:schemeClr val="accent1"/>
              </a:solidFill>
              <a:ea typeface="汉仪文黑-85W" panose="0002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 txBox="1"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dk1"/>
                </a:solidFill>
              </a:rPr>
              <a:t>7</a:t>
            </a:fld>
            <a:endParaRPr lang="en-US" altLang="zh-CN" sz="1200" dirty="0">
              <a:solidFill>
                <a:schemeClr val="dk1"/>
              </a:solidFill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2092325" y="1182054"/>
          <a:ext cx="7960360" cy="4822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5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8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有效等价类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无效等价类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编号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zh-CN" altLang="en-US" sz="2000" dirty="0"/>
                        <a:t>（第</a:t>
                      </a:r>
                      <a:r>
                        <a:rPr lang="en-US" altLang="zh-CN" sz="2000" dirty="0"/>
                        <a:t>1</a:t>
                      </a:r>
                      <a:r>
                        <a:rPr lang="zh-CN" altLang="en-US" sz="2000" dirty="0"/>
                        <a:t>次）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0&lt;</a:t>
                      </a: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&lt;=10000</a:t>
                      </a:r>
                      <a:r>
                        <a:rPr lang="zh-CN" altLang="en-US" sz="2000" dirty="0"/>
                        <a:t>元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4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&gt;10000</a:t>
                      </a:r>
                      <a:r>
                        <a:rPr lang="zh-CN" altLang="en-US" sz="2000" dirty="0"/>
                        <a:t>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zh-CN" altLang="en-US" sz="2000" dirty="0"/>
                        <a:t>（第</a:t>
                      </a:r>
                      <a:r>
                        <a:rPr lang="en-US" altLang="zh-CN" sz="2000" dirty="0"/>
                        <a:t>n</a:t>
                      </a:r>
                      <a:r>
                        <a:rPr lang="zh-CN" altLang="en-US" sz="2000" dirty="0"/>
                        <a:t>次）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0&lt;</a:t>
                      </a: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&lt;=10000</a:t>
                      </a:r>
                      <a:r>
                        <a:rPr lang="zh-CN" altLang="en-US" sz="2000" dirty="0"/>
                        <a:t>元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已提现金额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9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&gt;10000</a:t>
                      </a:r>
                      <a:r>
                        <a:rPr lang="zh-CN" altLang="en-US" sz="2000" dirty="0"/>
                        <a:t>元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已提现金额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647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普通到账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0&lt;</a:t>
                      </a:r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&lt;=</a:t>
                      </a:r>
                      <a:r>
                        <a:rPr lang="zh-CN" altLang="en-US" sz="2000" dirty="0"/>
                        <a:t>余额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无效等价类：提现金额</a:t>
                      </a:r>
                      <a:r>
                        <a:rPr lang="en-US" altLang="zh-CN" sz="2000" dirty="0"/>
                        <a:t>&lt;=0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2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提现金额</a:t>
                      </a:r>
                      <a:r>
                        <a:rPr lang="en-US" altLang="zh-CN" sz="2000" dirty="0"/>
                        <a:t>&gt;</a:t>
                      </a:r>
                      <a:r>
                        <a:rPr lang="zh-CN" altLang="en-US" sz="2000" dirty="0"/>
                        <a:t>余额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11266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026285" y="414655"/>
            <a:ext cx="8139430" cy="66421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>
              <a:buNone/>
            </a:pPr>
            <a:r>
              <a:rPr lang="en-US" altLang="zh-CN" sz="4000" kern="0">
                <a:solidFill>
                  <a:schemeClr val="accent1"/>
                </a:solidFill>
                <a:ea typeface="汉仪文黑-85W" panose="00020600040101010101" charset="-122"/>
                <a:sym typeface="+mn-ea"/>
              </a:rPr>
              <a:t>余额宝提现的等价类划分</a:t>
            </a:r>
            <a:endParaRPr lang="en-US" altLang="zh-CN" sz="4000" kern="0" dirty="0">
              <a:solidFill>
                <a:schemeClr val="accent1"/>
              </a:solidFill>
              <a:ea typeface="汉仪文黑-85W" panose="0002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2279015" y="1571625"/>
            <a:ext cx="7886700" cy="81026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>
              <a:buNone/>
            </a:pPr>
            <a:r>
              <a:rPr lang="zh-CN" altLang="en-US" sz="2400" dirty="0"/>
              <a:t>假如现在余额宝中有</a:t>
            </a:r>
            <a:r>
              <a:rPr lang="en-US" altLang="zh-CN" sz="2400" dirty="0"/>
              <a:t>50000</a:t>
            </a:r>
            <a:r>
              <a:rPr lang="zh-CN" altLang="en-US" sz="2400" dirty="0"/>
              <a:t>元</a:t>
            </a:r>
            <a:br>
              <a:rPr lang="en-US" altLang="zh-CN" sz="2400" dirty="0"/>
            </a:br>
            <a:r>
              <a:rPr lang="zh-CN" altLang="en-US" sz="2400" dirty="0"/>
              <a:t>覆盖有效等价类</a:t>
            </a: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2182496" y="2681606"/>
          <a:ext cx="7940675" cy="2705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42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金额（元）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覆盖有效等价类编号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快速到账（第</a:t>
                      </a:r>
                      <a:r>
                        <a:rPr lang="en-US" altLang="zh-CN" sz="2000" dirty="0"/>
                        <a:t>1</a:t>
                      </a:r>
                      <a:r>
                        <a:rPr lang="zh-CN" altLang="en-US" sz="2000" dirty="0"/>
                        <a:t>次）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2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快速到账（第</a:t>
                      </a:r>
                      <a:r>
                        <a:rPr lang="en-US" altLang="zh-CN" sz="2000" dirty="0"/>
                        <a:t>n</a:t>
                      </a:r>
                      <a:r>
                        <a:rPr lang="zh-CN" altLang="en-US" sz="2000" dirty="0"/>
                        <a:t>次，已提现</a:t>
                      </a:r>
                      <a:r>
                        <a:rPr lang="en-US" altLang="zh-CN" sz="2000" dirty="0"/>
                        <a:t>2000</a:t>
                      </a:r>
                      <a:r>
                        <a:rPr lang="zh-CN" altLang="en-US" sz="2000" dirty="0"/>
                        <a:t>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普通到账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66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dk1"/>
                </a:solidFill>
              </a:rPr>
              <a:t>8</a:t>
            </a:fld>
            <a:endParaRPr lang="en-US" altLang="zh-CN" sz="1200" dirty="0">
              <a:solidFill>
                <a:schemeClr val="dk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11266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26285" y="414655"/>
            <a:ext cx="8139430" cy="957580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>
              <a:buNone/>
            </a:pPr>
            <a:r>
              <a:rPr lang="en-US" altLang="zh-CN" sz="4000" b="0" kern="0" spc="0" noProof="0">
                <a:solidFill>
                  <a:schemeClr val="accent1"/>
                </a:solidFill>
                <a:ea typeface="汉仪文黑-85W" panose="00020600040101010101" charset="-122"/>
              </a:rPr>
              <a:t>余额宝提现的等价类划分</a:t>
            </a:r>
            <a:endParaRPr lang="en-US" altLang="zh-CN" sz="4000" b="0" kern="0" spc="0" noProof="0" dirty="0">
              <a:solidFill>
                <a:schemeClr val="accent1"/>
              </a:solidFill>
              <a:ea typeface="汉仪文黑-8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2183765" y="1372235"/>
            <a:ext cx="7981950" cy="88773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>
              <a:buNone/>
            </a:pPr>
            <a:r>
              <a:rPr lang="zh-CN" altLang="en-US" sz="2400" dirty="0"/>
              <a:t>假如现在余额宝中有</a:t>
            </a:r>
            <a:r>
              <a:rPr lang="en-US" altLang="zh-CN" sz="2400" dirty="0"/>
              <a:t>50000</a:t>
            </a:r>
            <a:r>
              <a:rPr lang="zh-CN" altLang="en-US" sz="2400" dirty="0"/>
              <a:t>元</a:t>
            </a:r>
            <a:br>
              <a:rPr lang="en-US" altLang="zh-CN" sz="2400" dirty="0"/>
            </a:br>
            <a:r>
              <a:rPr lang="zh-CN" altLang="en-US" sz="2400" dirty="0"/>
              <a:t>覆盖无效等价类</a:t>
            </a:r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dk1"/>
                </a:solidFill>
              </a:rPr>
              <a:t>9</a:t>
            </a:fld>
            <a:endParaRPr lang="en-US" altLang="zh-CN" sz="1200" dirty="0">
              <a:solidFill>
                <a:schemeClr val="dk1"/>
              </a:solidFill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1874521" y="2341246"/>
          <a:ext cx="8395335" cy="3482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金额（元）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覆盖有效等价类编号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Test4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快速到账（第</a:t>
                      </a:r>
                      <a:r>
                        <a:rPr lang="en-US" altLang="zh-CN" sz="2000" dirty="0"/>
                        <a:t>1</a:t>
                      </a:r>
                      <a:r>
                        <a:rPr lang="zh-CN" altLang="en-US" sz="2000" dirty="0"/>
                        <a:t>次）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Test6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快速到账（第</a:t>
                      </a:r>
                      <a:r>
                        <a:rPr lang="en-US" altLang="zh-CN" sz="2000" dirty="0"/>
                        <a:t>n</a:t>
                      </a:r>
                      <a:r>
                        <a:rPr lang="zh-CN" altLang="en-US" sz="2000" dirty="0"/>
                        <a:t>次，已提现</a:t>
                      </a:r>
                      <a:r>
                        <a:rPr lang="en-US" altLang="zh-CN" sz="2000" dirty="0"/>
                        <a:t>2000</a:t>
                      </a:r>
                      <a:r>
                        <a:rPr lang="zh-CN" altLang="en-US" sz="2000" dirty="0"/>
                        <a:t>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Test8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普通到账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Test9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11266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26285" y="414655"/>
            <a:ext cx="8139430" cy="957580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>
              <a:buNone/>
            </a:pPr>
            <a:r>
              <a:rPr lang="en-US" altLang="zh-CN" sz="4000" b="0" kern="0" spc="0" noProof="0">
                <a:solidFill>
                  <a:schemeClr val="accent1"/>
                </a:solidFill>
                <a:ea typeface="汉仪文黑-85W" panose="00020600040101010101" charset="-122"/>
              </a:rPr>
              <a:t>余额宝提现的等价类划分</a:t>
            </a:r>
            <a:endParaRPr lang="en-US" altLang="zh-CN" sz="4000" b="0" kern="0" spc="0" noProof="0" dirty="0">
              <a:solidFill>
                <a:schemeClr val="accent1"/>
              </a:solidFill>
              <a:ea typeface="汉仪文黑-8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/>
          <p:nvPr>
            <p:custDataLst>
              <p:tags r:id="rId1"/>
            </p:custDataLst>
          </p:nvPr>
        </p:nvSpPr>
        <p:spPr>
          <a:xfrm>
            <a:off x="2541905" y="251714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0"/>
              </a:buBlip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基本组成</a:t>
            </a:r>
          </a:p>
        </p:txBody>
      </p:sp>
      <p:sp>
        <p:nvSpPr>
          <p:cNvPr id="5124" name="Rectangle 9"/>
          <p:cNvSpPr/>
          <p:nvPr>
            <p:custDataLst>
              <p:tags r:id="rId2"/>
            </p:custDataLst>
          </p:nvPr>
        </p:nvSpPr>
        <p:spPr>
          <a:xfrm>
            <a:off x="2541905" y="383667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0"/>
              </a:buBlip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决策表的生成</a:t>
            </a:r>
          </a:p>
        </p:txBody>
      </p:sp>
      <p:sp>
        <p:nvSpPr>
          <p:cNvPr id="5125" name="Rectangle 10"/>
          <p:cNvSpPr/>
          <p:nvPr>
            <p:custDataLst>
              <p:tags r:id="rId3"/>
            </p:custDataLst>
          </p:nvPr>
        </p:nvSpPr>
        <p:spPr>
          <a:xfrm>
            <a:off x="2541905" y="317690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0"/>
              </a:buBlip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决策表的化简</a:t>
            </a:r>
          </a:p>
        </p:txBody>
      </p:sp>
      <p:sp>
        <p:nvSpPr>
          <p:cNvPr id="5126" name="Rectangle 11"/>
          <p:cNvSpPr/>
          <p:nvPr>
            <p:custDataLst>
              <p:tags r:id="rId4"/>
            </p:custDataLst>
          </p:nvPr>
        </p:nvSpPr>
        <p:spPr>
          <a:xfrm>
            <a:off x="2541905" y="449643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0"/>
              </a:buBlip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测试用例的设计</a:t>
            </a:r>
          </a:p>
        </p:txBody>
      </p:sp>
      <p:sp>
        <p:nvSpPr>
          <p:cNvPr id="5127" name="Rectangle 12"/>
          <p:cNvSpPr/>
          <p:nvPr>
            <p:custDataLst>
              <p:tags r:id="rId5"/>
            </p:custDataLst>
          </p:nvPr>
        </p:nvSpPr>
        <p:spPr>
          <a:xfrm>
            <a:off x="2541905" y="515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0"/>
              </a:buBlip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讨论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4" name="Rectangle 8"/>
          <p:cNvSpPr/>
          <p:nvPr>
            <p:custDataLst>
              <p:tags r:id="rId8"/>
            </p:custDataLst>
          </p:nvPr>
        </p:nvSpPr>
        <p:spPr>
          <a:xfrm>
            <a:off x="2566670" y="1857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Blip>
                <a:blip r:embed="rId10"/>
              </a:buBlip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原因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 txBox="1">
            <a:spLocks/>
          </p:cNvSpPr>
          <p:nvPr/>
        </p:nvSpPr>
        <p:spPr>
          <a:xfrm>
            <a:off x="824753" y="921068"/>
            <a:ext cx="9809340" cy="698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3.3.1</a:t>
            </a:r>
            <a:r>
              <a:rPr lang="zh-CN" altLang="en-US" b="1" dirty="0"/>
              <a:t> 决策表方法</a:t>
            </a:r>
            <a:endParaRPr kumimoji="1"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026285" y="379095"/>
            <a:ext cx="8139430" cy="850900"/>
          </a:xfrm>
        </p:spPr>
        <p:txBody>
          <a:bodyPr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a typeface="汉仪文黑-85W" panose="00020600040101010101" charset="-122"/>
              </a:rPr>
              <a:t>案例</a:t>
            </a:r>
            <a:r>
              <a:rPr>
                <a:solidFill>
                  <a:schemeClr val="accent1"/>
                </a:solidFill>
                <a:ea typeface="汉仪文黑-85W" panose="00020600040101010101" charset="-122"/>
              </a:rPr>
              <a:t>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071246"/>
            <a:ext cx="8323580" cy="459676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000" dirty="0">
                <a:solidFill>
                  <a:schemeClr val="dk1"/>
                </a:solidFill>
              </a:rPr>
              <a:t>移动通信中有这样的需求：</a:t>
            </a:r>
            <a:r>
              <a:rPr lang="zh-CN" altLang="zh-CN" sz="2000" b="1" dirty="0">
                <a:solidFill>
                  <a:srgbClr val="FF0000"/>
                </a:solidFill>
              </a:rPr>
              <a:t>若用户欠费或停机，则不允许主被叫</a:t>
            </a:r>
            <a:r>
              <a:rPr lang="zh-CN" altLang="zh-CN" sz="2000" dirty="0">
                <a:solidFill>
                  <a:schemeClr val="dk1"/>
                </a:solidFill>
              </a:rPr>
              <a:t>。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000" dirty="0">
                <a:solidFill>
                  <a:schemeClr val="dk1"/>
                </a:solidFill>
              </a:rPr>
              <a:t>用户欠费或停机作为一个布尔类型等价类，欠费或停机作为有效等价类，未欠费或未停机作为无效等价类考虑，使用等价类设计法设计用例如</a:t>
            </a:r>
            <a:r>
              <a:rPr lang="zh-CN" altLang="en-US" sz="2000" dirty="0">
                <a:solidFill>
                  <a:schemeClr val="dk1"/>
                </a:solidFill>
              </a:rPr>
              <a:t>下</a:t>
            </a:r>
            <a:r>
              <a:rPr lang="zh-CN" altLang="zh-CN" sz="2000" dirty="0">
                <a:solidFill>
                  <a:schemeClr val="dk1"/>
                </a:solidFill>
              </a:rPr>
              <a:t>表所示。</a:t>
            </a:r>
            <a:endParaRPr lang="zh-CN" altLang="zh-CN" sz="2000" dirty="0">
              <a:solidFill>
                <a:schemeClr val="dk1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975122" y="3394167"/>
          <a:ext cx="3769995" cy="179514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281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</a:rPr>
                        <a:t>测试项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有效等价类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编号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无效等价类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编号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欠费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欠费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A01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未欠费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B01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停机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停机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</a:rPr>
                        <a:t>A02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未停机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</a:rPr>
                        <a:t>B02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5880100" y="2853055"/>
            <a:ext cx="453517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提取测试用例如下：</a:t>
            </a:r>
          </a:p>
          <a:p>
            <a:pPr algn="just">
              <a:lnSpc>
                <a:spcPct val="150000"/>
              </a:lnSpc>
            </a:pPr>
            <a:r>
              <a:rPr lang="zh-CN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有效用例：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A01A02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：用户欠费且停机，不允许主被叫；</a:t>
            </a:r>
            <a:endParaRPr lang="zh-CN" altLang="zh-CN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无效用例：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B01A02: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用户未欠费但停机，不允许主被叫；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A01B02: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用户欠费但未停机，不允许主被叫。</a:t>
            </a:r>
            <a:endParaRPr lang="zh-CN" altLang="zh-CN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 descr="7b0a202020202262756c6c6574223a20227b5c2263617465676f727949645c223a31303030352c5c2274656d706c61746549645c223a32303233313537317d220a7d0a"/>
          <p:cNvSpPr txBox="1"/>
          <p:nvPr/>
        </p:nvSpPr>
        <p:spPr>
          <a:xfrm>
            <a:off x="2729231" y="5467351"/>
            <a:ext cx="7620635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SzPct val="200000"/>
              <a:buBlip>
                <a:blip r:embed="rId5"/>
              </a:buBlip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上述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条测试用例无法测试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B01B02 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用户未欠费、未停机的情况，因为按照等价类设计法思想，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B01B02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两个无效等价类不能组合。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2099946" y="405131"/>
            <a:ext cx="7309485" cy="1007745"/>
          </a:xfrm>
          <a:solidFill>
            <a:srgbClr val="000000">
              <a:alpha val="0"/>
            </a:srgbClr>
          </a:solidFill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原因</a:t>
            </a:r>
          </a:p>
        </p:txBody>
      </p:sp>
      <p:sp>
        <p:nvSpPr>
          <p:cNvPr id="6147" name="Rectangle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128520" y="1706880"/>
            <a:ext cx="7987030" cy="438912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等价类测试基于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</a:rPr>
              <a:t>独立性假设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，忽略输入条件的相互关联，所以测试用例存在严重的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</a:rPr>
              <a:t>冗余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。</a:t>
            </a:r>
            <a:endParaRPr lang="en-US" altLang="zh-CN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charset="-122"/>
              </a:rPr>
              <a:t>等价类边界值分析法主要关注单个输入条件的测试</a:t>
            </a:r>
            <a:r>
              <a:rPr dirty="0">
                <a:solidFill>
                  <a:schemeClr val="dk1"/>
                </a:solidFill>
                <a:latin typeface="微软雅黑" panose="020B0503020204020204" charset="-122"/>
              </a:rPr>
              <a:t>，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charset="-122"/>
              </a:rPr>
              <a:t>并未考虑输入条件之间的各种组合、输入条件与输出结果之间有相互制约关系的测试。</a:t>
            </a:r>
          </a:p>
        </p:txBody>
      </p:sp>
      <p:sp>
        <p:nvSpPr>
          <p:cNvPr id="6150" name="Rectangle 7"/>
          <p:cNvSpPr/>
          <p:nvPr>
            <p:custDataLst>
              <p:tags r:id="rId2"/>
            </p:custDataLst>
          </p:nvPr>
        </p:nvSpPr>
        <p:spPr>
          <a:xfrm>
            <a:off x="4295776" y="4874826"/>
            <a:ext cx="65" cy="27699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12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167256" y="1562100"/>
            <a:ext cx="7846695" cy="19558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charset="-122"/>
              </a:rPr>
              <a:t>决策表（判定表）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是分析和表达多逻辑条件下执行不同操作的情况的工具。</a:t>
            </a:r>
          </a:p>
        </p:txBody>
      </p:sp>
      <p:sp>
        <p:nvSpPr>
          <p:cNvPr id="309252" name="Rectangle 4"/>
          <p:cNvSpPr/>
          <p:nvPr/>
        </p:nvSpPr>
        <p:spPr>
          <a:xfrm>
            <a:off x="2167256" y="3189605"/>
            <a:ext cx="7854315" cy="2489200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/>
          <a:p>
            <a:pPr algn="just">
              <a:lnSpc>
                <a:spcPct val="130000"/>
              </a:lnSpc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决策表的优点：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能够将复杂的问题按照各种可能的情况全部列举出来，简明并避免遗漏。因此，利用决策表能够设计出完整的测试用例集合。</a:t>
            </a:r>
          </a:p>
          <a:p>
            <a:pPr algn="just">
              <a:lnSpc>
                <a:spcPct val="130000"/>
              </a:lnSpc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基于决策表的测试是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以等价类为基础的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，测试的完备性和无冗余性通过决策表可以得到较为完美的体现。</a:t>
            </a:r>
          </a:p>
        </p:txBody>
      </p:sp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964056" y="405131"/>
            <a:ext cx="7445375" cy="1007745"/>
          </a:xfrm>
          <a:solidFill>
            <a:srgbClr val="000000">
              <a:alpha val="0"/>
            </a:srgbClr>
          </a:solidFill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原因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13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08230" name="Text Box 6"/>
          <p:cNvSpPr txBox="1"/>
          <p:nvPr>
            <p:custDataLst>
              <p:tags r:id="rId4"/>
            </p:custDataLst>
          </p:nvPr>
        </p:nvSpPr>
        <p:spPr>
          <a:xfrm>
            <a:off x="3791585" y="859155"/>
            <a:ext cx="6333490" cy="43053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noFill/>
          </a:ln>
        </p:spPr>
        <p:txBody>
          <a:bodyPr wrap="square" lIns="0" tIns="0" rIns="0" bIns="0" anchor="t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决策表是功能性测试方法中最严格的。</a:t>
            </a:r>
          </a:p>
        </p:txBody>
      </p:sp>
      <p:sp>
        <p:nvSpPr>
          <p:cNvPr id="308232" name="Rectangle 8"/>
          <p:cNvSpPr/>
          <p:nvPr/>
        </p:nvSpPr>
        <p:spPr>
          <a:xfrm>
            <a:off x="3071496" y="5586095"/>
            <a:ext cx="6238875" cy="86741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noFill/>
          </a:ln>
        </p:spPr>
        <p:txBody>
          <a:bodyPr lIns="0" tIns="0" rIns="0" bIns="0" anchor="ctr" anchorCtr="0"/>
          <a:lstStyle/>
          <a:p>
            <a:pPr>
              <a:spcBef>
                <a:spcPct val="50000"/>
              </a:spcBef>
            </a:pPr>
            <a:r>
              <a:rPr lang="zh-CN" altLang="en-US" sz="3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决策表的完备性保证一种完备的测试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2" grpId="0"/>
      <p:bldP spid="308230" grpId="0" bldLvl="0" animBg="1"/>
      <p:bldP spid="308232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385061" y="1747520"/>
            <a:ext cx="7780655" cy="392049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eaLnBrk="1" hangingPunct="1"/>
            <a:r>
              <a:rPr lang="zh-CN" altLang="en-US" sz="3100" b="1" dirty="0">
                <a:solidFill>
                  <a:schemeClr val="dk1"/>
                </a:solidFill>
                <a:latin typeface="微软雅黑" panose="020B0503020204020204" charset="-122"/>
              </a:rPr>
              <a:t>决策表的结构</a:t>
            </a:r>
            <a:endParaRPr lang="en-US" altLang="zh-CN" sz="3100" b="1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lvl="0" eaLnBrk="1" hangingPunct="1"/>
            <a:r>
              <a:rPr lang="zh-CN" altLang="en-US" sz="3100" b="1" dirty="0">
                <a:solidFill>
                  <a:schemeClr val="dk1"/>
                </a:solidFill>
                <a:latin typeface="微软雅黑" panose="020B0503020204020204" charset="-122"/>
              </a:rPr>
              <a:t>决策表的化简</a:t>
            </a:r>
            <a:endParaRPr lang="en-US" altLang="zh-CN" sz="3100" b="1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lvl="0" eaLnBrk="1" hangingPunct="1"/>
            <a:r>
              <a:rPr lang="zh-CN" altLang="en-US" sz="3100" b="1" dirty="0">
                <a:solidFill>
                  <a:schemeClr val="dk1"/>
                </a:solidFill>
                <a:latin typeface="微软雅黑" panose="020B0503020204020204" charset="-122"/>
              </a:rPr>
              <a:t>测试用例的设计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14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530986"/>
            <a:ext cx="8139430" cy="4137025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/>
            <a:r>
              <a:rPr lang="zh-CN" altLang="en-US" sz="3400" b="1" dirty="0">
                <a:solidFill>
                  <a:schemeClr val="dk1"/>
                </a:solidFill>
                <a:latin typeface="微软雅黑" panose="020B0503020204020204" charset="-122"/>
              </a:rPr>
              <a:t>决策表的结构</a:t>
            </a:r>
          </a:p>
        </p:txBody>
      </p:sp>
      <p:pic>
        <p:nvPicPr>
          <p:cNvPr id="15365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875" y="2571750"/>
            <a:ext cx="8788400" cy="138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15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2183766" y="332741"/>
            <a:ext cx="7390765" cy="10077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CC00">
                    <a:alpha val="100000"/>
                  </a:srgbClr>
                </a:solidFill>
              </a14:hiddenFill>
            </a:ext>
          </a:extLst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基本组成</a:t>
            </a:r>
          </a:p>
        </p:txBody>
      </p:sp>
      <p:sp>
        <p:nvSpPr>
          <p:cNvPr id="31539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75460" y="1372235"/>
            <a:ext cx="8581390" cy="289179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b"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CN" sz="2000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 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条件桩（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Condition Stub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） 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—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列出问题的所有输入条件</a:t>
            </a:r>
          </a:p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 条件项（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Condition Entity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）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—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针对条件桩给出的条件列出所有可能的取值</a:t>
            </a:r>
          </a:p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 动作桩（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Action Stub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）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—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列出问题规定可能采取的操作</a:t>
            </a:r>
          </a:p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 动作项（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Action Entity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）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—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指出在条件项的各组取值情况下应采取的动作 </a:t>
            </a:r>
          </a:p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 规则</a:t>
            </a:r>
            <a:r>
              <a:rPr lang="en-US" altLang="zh-CN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(rule)--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将任何一个条件组合的特定取值及相应要执行的动作称为一条规则。在决策表中贯穿条件项和动作项的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汉仪旗黑-55简" panose="00020600040101010101" charset="-122"/>
              </a:rPr>
              <a:t>一列就是一条规则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汉仪旗黑-55简" panose="00020600040101010101" charset="-122"/>
              </a:rPr>
              <a:t>可根据每个合法输入组合的规则设计测试用例</a:t>
            </a:r>
            <a:r>
              <a:rPr lang="zh-CN" altLang="en-US" sz="2000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16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277041" y="4411080"/>
          <a:ext cx="5220970" cy="19907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735">
                <a:tc rowSpan="2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条件桩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条件项</a:t>
                      </a:r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4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条件项</a:t>
                      </a:r>
                      <a:r>
                        <a:rPr lang="en-US" sz="1800" dirty="0">
                          <a:effectLst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动作桩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动作项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7748271" y="4411346"/>
            <a:ext cx="575945" cy="19907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shade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规则</a:t>
            </a:r>
          </a:p>
        </p:txBody>
      </p:sp>
      <p:sp>
        <p:nvSpPr>
          <p:cNvPr id="5" name="线形标注 1 4"/>
          <p:cNvSpPr/>
          <p:nvPr>
            <p:custDataLst>
              <p:tags r:id="rId6"/>
            </p:custDataLst>
          </p:nvPr>
        </p:nvSpPr>
        <p:spPr>
          <a:xfrm>
            <a:off x="2780031" y="4411346"/>
            <a:ext cx="1296035" cy="575945"/>
          </a:xfrm>
          <a:prstGeom prst="borderCallout1">
            <a:avLst>
              <a:gd name="adj1" fmla="val 63175"/>
              <a:gd name="adj2" fmla="val 98481"/>
              <a:gd name="adj3" fmla="val 140132"/>
              <a:gd name="adj4" fmla="val 113669"/>
            </a:avLst>
          </a:prstGeom>
          <a:solidFill>
            <a:schemeClr val="accent4"/>
          </a:solidFill>
          <a:ln>
            <a:solidFill>
              <a:schemeClr val="accent4">
                <a:shade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</a:rPr>
              <a:t>输入条件</a:t>
            </a:r>
          </a:p>
        </p:txBody>
      </p:sp>
      <p:sp>
        <p:nvSpPr>
          <p:cNvPr id="6" name="线形标注 1 5"/>
          <p:cNvSpPr/>
          <p:nvPr>
            <p:custDataLst>
              <p:tags r:id="rId7"/>
            </p:custDataLst>
          </p:nvPr>
        </p:nvSpPr>
        <p:spPr>
          <a:xfrm>
            <a:off x="2780031" y="5400676"/>
            <a:ext cx="1296035" cy="575945"/>
          </a:xfrm>
          <a:prstGeom prst="borderCallout1">
            <a:avLst>
              <a:gd name="adj1" fmla="val 63175"/>
              <a:gd name="adj2" fmla="val 98481"/>
              <a:gd name="adj3" fmla="val 140132"/>
              <a:gd name="adj4" fmla="val 113669"/>
            </a:avLst>
          </a:prstGeom>
          <a:solidFill>
            <a:schemeClr val="accent4"/>
          </a:solidFill>
          <a:ln>
            <a:solidFill>
              <a:schemeClr val="accent4">
                <a:shade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</a:rPr>
              <a:t>输出响应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539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3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15395">
                                            <p:txEl>
                                              <p:charRg st="3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75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15395">
                                            <p:txEl>
                                              <p:charRg st="75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107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15395">
                                            <p:txEl>
                                              <p:charRg st="107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149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15395">
                                            <p:txEl>
                                              <p:charRg st="149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6285" y="476886"/>
            <a:ext cx="8139430" cy="639445"/>
          </a:xfrm>
        </p:spPr>
        <p:txBody>
          <a:bodyPr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ea typeface="汉仪文黑-85W" panose="00020600040101010101" charset="-122"/>
              </a:rPr>
              <a:t>案例2</a:t>
            </a:r>
            <a:r>
              <a:rPr>
                <a:solidFill>
                  <a:schemeClr val="accent1"/>
                </a:solidFill>
                <a:ea typeface="汉仪文黑-85W" panose="00020600040101010101" charset="-122"/>
              </a:rPr>
              <a:t>—</a:t>
            </a:r>
            <a:r>
              <a:rPr>
                <a:solidFill>
                  <a:schemeClr val="accent1"/>
                </a:solidFill>
                <a:ea typeface="汉仪文黑-85W" panose="00020600040101010101" charset="-122"/>
                <a:sym typeface="+mn-ea"/>
              </a:rPr>
              <a:t>读书选择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26285" y="1266826"/>
            <a:ext cx="8442960" cy="50615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1、如果觉得疲倦并且对书的内容感兴趣，同时书中的内容让你糊涂的话，回到本章重读。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2、如果觉得疲倦并且对书的内容感兴趣，同时书中的内容不让你糊涂，继续读下去。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3、不觉得疲倦并且对书的内容感兴趣，但是书中的内容让你糊涂的话，回到本章重读。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4、如果觉得疲倦并且对书中的内容不感兴趣，同时书中的内容不让你糊涂，停止阅读，请休息。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5、如果觉得疲倦并且对书的内容不感兴趣，并且书中的内容让你糊涂，请停止阅读，休息。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6、不疲倦，对书的内容感兴趣，书中的内容不糊涂，继续读下去。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7、不疲倦，不感兴趣，书中内容糊涂，跳到下一章去读。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8、不疲倦，不感兴趣，书中内容不糊涂，跳到下一章去读。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2119630" y="405131"/>
            <a:ext cx="7289800" cy="1007745"/>
          </a:xfrm>
          <a:solidFill>
            <a:srgbClr val="000000">
              <a:alpha val="0"/>
            </a:srgbClr>
          </a:solidFill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基本组成</a:t>
            </a:r>
          </a:p>
        </p:txBody>
      </p:sp>
      <p:sp>
        <p:nvSpPr>
          <p:cNvPr id="9219" name="Rectangle 6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12310" y="1484630"/>
            <a:ext cx="3733800" cy="5334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</a:rPr>
              <a:t>读书选择决策表</a:t>
            </a:r>
          </a:p>
        </p:txBody>
      </p:sp>
      <p:graphicFrame>
        <p:nvGraphicFramePr>
          <p:cNvPr id="9220" name="表格 9219"/>
          <p:cNvGraphicFramePr/>
          <p:nvPr>
            <p:custDataLst>
              <p:tags r:id="rId2"/>
            </p:custDataLst>
          </p:nvPr>
        </p:nvGraphicFramePr>
        <p:xfrm>
          <a:off x="2133600" y="2133600"/>
          <a:ext cx="8229600" cy="4064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 rowSpan="3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问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题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你觉得疲倦吗？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你对内容感兴趣吗？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书中的内容使你糊涂？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 rowSpan="4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建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议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请回到本章开头重读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继续读下去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跳到下一章去读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停止阅读，请休息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3456" name="Rectangle 112"/>
          <p:cNvSpPr/>
          <p:nvPr>
            <p:custDataLst>
              <p:tags r:id="rId3"/>
            </p:custDataLst>
          </p:nvPr>
        </p:nvSpPr>
        <p:spPr>
          <a:xfrm>
            <a:off x="2133600" y="2133600"/>
            <a:ext cx="3352800" cy="2057400"/>
          </a:xfrm>
          <a:prstGeom prst="rect">
            <a:avLst/>
          </a:prstGeom>
          <a:noFill/>
          <a:ln w="603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3457" name="Rectangle 113"/>
          <p:cNvSpPr/>
          <p:nvPr>
            <p:custDataLst>
              <p:tags r:id="rId4"/>
            </p:custDataLst>
          </p:nvPr>
        </p:nvSpPr>
        <p:spPr>
          <a:xfrm>
            <a:off x="5486400" y="2057400"/>
            <a:ext cx="4876800" cy="2057400"/>
          </a:xfrm>
          <a:prstGeom prst="rect">
            <a:avLst/>
          </a:prstGeom>
          <a:noFill/>
          <a:ln w="603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3458" name="Rectangle 114"/>
          <p:cNvSpPr/>
          <p:nvPr>
            <p:custDataLst>
              <p:tags r:id="rId5"/>
            </p:custDataLst>
          </p:nvPr>
        </p:nvSpPr>
        <p:spPr>
          <a:xfrm>
            <a:off x="2133600" y="4191000"/>
            <a:ext cx="3352800" cy="2057400"/>
          </a:xfrm>
          <a:prstGeom prst="rect">
            <a:avLst/>
          </a:prstGeom>
          <a:noFill/>
          <a:ln w="603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3459" name="Rectangle 115"/>
          <p:cNvSpPr/>
          <p:nvPr>
            <p:custDataLst>
              <p:tags r:id="rId6"/>
            </p:custDataLst>
          </p:nvPr>
        </p:nvSpPr>
        <p:spPr>
          <a:xfrm>
            <a:off x="5486400" y="4191000"/>
            <a:ext cx="4876800" cy="2057400"/>
          </a:xfrm>
          <a:prstGeom prst="rect">
            <a:avLst/>
          </a:prstGeom>
          <a:noFill/>
          <a:ln w="603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3460" name="AutoShape 116"/>
          <p:cNvSpPr/>
          <p:nvPr>
            <p:custDataLst>
              <p:tags r:id="rId7"/>
            </p:custDataLst>
          </p:nvPr>
        </p:nvSpPr>
        <p:spPr>
          <a:xfrm>
            <a:off x="2133601" y="1170940"/>
            <a:ext cx="2475865" cy="886460"/>
          </a:xfrm>
          <a:prstGeom prst="wedgeRoundRectCallout">
            <a:avLst>
              <a:gd name="adj1" fmla="val 22023"/>
              <a:gd name="adj2" fmla="val 94861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Condition Stub</a:t>
            </a:r>
            <a:r>
              <a:rPr lang="zh-CN" altLang="en-US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：列出问题的所有条件</a:t>
            </a:r>
          </a:p>
        </p:txBody>
      </p:sp>
      <p:sp>
        <p:nvSpPr>
          <p:cNvPr id="313461" name="AutoShape 117"/>
          <p:cNvSpPr/>
          <p:nvPr>
            <p:custDataLst>
              <p:tags r:id="rId8"/>
            </p:custDataLst>
          </p:nvPr>
        </p:nvSpPr>
        <p:spPr>
          <a:xfrm>
            <a:off x="7731126" y="685800"/>
            <a:ext cx="2708275" cy="1143000"/>
          </a:xfrm>
          <a:prstGeom prst="wedgeRoundRectCallout">
            <a:avLst>
              <a:gd name="adj1" fmla="val 505"/>
              <a:gd name="adj2" fmla="val 112361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Condition Entry </a:t>
            </a:r>
            <a:r>
              <a:rPr lang="zh-CN" altLang="en-US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：针对左列条件取值，给出真假值</a:t>
            </a:r>
          </a:p>
        </p:txBody>
      </p:sp>
      <p:sp>
        <p:nvSpPr>
          <p:cNvPr id="313462" name="AutoShape 118"/>
          <p:cNvSpPr/>
          <p:nvPr>
            <p:custDataLst>
              <p:tags r:id="rId9"/>
            </p:custDataLst>
          </p:nvPr>
        </p:nvSpPr>
        <p:spPr>
          <a:xfrm>
            <a:off x="1703705" y="5486400"/>
            <a:ext cx="2279650" cy="1143000"/>
          </a:xfrm>
          <a:prstGeom prst="wedgeRoundRectCallout">
            <a:avLst>
              <a:gd name="adj1" fmla="val 77083"/>
              <a:gd name="adj2" fmla="val -82917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Action Stub </a:t>
            </a:r>
            <a:r>
              <a:rPr lang="zh-CN" altLang="en-US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：列出问题规定可能采取的行动</a:t>
            </a:r>
          </a:p>
        </p:txBody>
      </p:sp>
      <p:sp>
        <p:nvSpPr>
          <p:cNvPr id="313463" name="AutoShape 119"/>
          <p:cNvSpPr/>
          <p:nvPr>
            <p:custDataLst>
              <p:tags r:id="rId10"/>
            </p:custDataLst>
          </p:nvPr>
        </p:nvSpPr>
        <p:spPr>
          <a:xfrm>
            <a:off x="8004176" y="5486400"/>
            <a:ext cx="2359025" cy="1143000"/>
          </a:xfrm>
          <a:prstGeom prst="wedgeRoundRectCallout">
            <a:avLst>
              <a:gd name="adj1" fmla="val -46181"/>
              <a:gd name="adj2" fmla="val -90139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Action Entry </a:t>
            </a:r>
            <a:r>
              <a:rPr lang="zh-CN" altLang="en-US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：在条件组合下应采取的行动</a:t>
            </a:r>
          </a:p>
        </p:txBody>
      </p:sp>
      <p:sp>
        <p:nvSpPr>
          <p:cNvPr id="313464" name="Rectangle 120"/>
          <p:cNvSpPr/>
          <p:nvPr>
            <p:custDataLst>
              <p:tags r:id="rId11"/>
            </p:custDataLst>
          </p:nvPr>
        </p:nvSpPr>
        <p:spPr>
          <a:xfrm>
            <a:off x="6172200" y="1905000"/>
            <a:ext cx="685800" cy="4572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603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3465" name="AutoShape 121"/>
          <p:cNvSpPr/>
          <p:nvPr>
            <p:custDataLst>
              <p:tags r:id="rId12"/>
            </p:custDataLst>
          </p:nvPr>
        </p:nvSpPr>
        <p:spPr>
          <a:xfrm>
            <a:off x="6781800" y="6019800"/>
            <a:ext cx="990600" cy="609600"/>
          </a:xfrm>
          <a:prstGeom prst="wedgeRoundRectCallout">
            <a:avLst>
              <a:gd name="adj1" fmla="val -87338"/>
              <a:gd name="adj2" fmla="val -212759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zh-CN" altLang="en-US" sz="2400" b="1" dirty="0">
                <a:solidFill>
                  <a:schemeClr val="dk1"/>
                </a:solidFill>
                <a:latin typeface="Arial" panose="020B0604020202020204" pitchFamily="34" charset="0"/>
                <a:ea typeface="汉仪旗黑-55简" panose="00020600040101010101" charset="-122"/>
              </a:rPr>
              <a:t>规则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18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1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1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1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3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3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31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3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3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1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3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3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456" grpId="0" bldLvl="0" animBg="1"/>
      <p:bldP spid="313457" grpId="0" bldLvl="0" animBg="1"/>
      <p:bldP spid="313458" grpId="0" bldLvl="0" animBg="1"/>
      <p:bldP spid="313459" grpId="0" bldLvl="0" animBg="1"/>
      <p:bldP spid="313460" grpId="0" bldLvl="0" animBg="1"/>
      <p:bldP spid="313461" grpId="0" bldLvl="0" animBg="1"/>
      <p:bldP spid="313462" grpId="0" bldLvl="0" animBg="1"/>
      <p:bldP spid="313463" grpId="0" bldLvl="0" animBg="1"/>
      <p:bldP spid="313464" grpId="0" bldLvl="0" animBg="1"/>
      <p:bldP spid="31346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101092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751330"/>
            <a:ext cx="8139430" cy="3916680"/>
          </a:xfrm>
        </p:spPr>
        <p:txBody>
          <a:bodyPr vert="horz" wrap="square" lIns="91440" tIns="45720" rIns="91440" bIns="45720" rtlCol="0" anchor="t" anchorCtr="0">
            <a:normAutofit fontScale="90000"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4000" b="1" dirty="0">
                <a:solidFill>
                  <a:schemeClr val="dk1"/>
                </a:solidFill>
                <a:latin typeface="微软雅黑" panose="020B0503020204020204" charset="-122"/>
              </a:rPr>
              <a:t>决策表的化简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若决策表中可能存在相似的规则，即某条件桩任意取值对动作桩无影响。此时，可根据实际情况进行合并。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通过对决策表进行化简，消除测试用例的冗余，缩减测试用例规模，同时保持等价类测试的效果。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19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3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209801" y="1628776"/>
            <a:ext cx="7879715" cy="4186555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</a:rPr>
              <a:t>设法合并具有相同动作、且条件项相似的规则</a:t>
            </a:r>
          </a:p>
        </p:txBody>
      </p:sp>
      <p:graphicFrame>
        <p:nvGraphicFramePr>
          <p:cNvPr id="14340" name="表格 14339"/>
          <p:cNvGraphicFramePr/>
          <p:nvPr>
            <p:custDataLst>
              <p:tags r:id="rId2"/>
            </p:custDataLst>
          </p:nvPr>
        </p:nvGraphicFramePr>
        <p:xfrm>
          <a:off x="2133600" y="2336800"/>
          <a:ext cx="8229600" cy="4064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 rowSpan="3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问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题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你觉得疲倦吗？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你对内容感兴趣吗？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书中的内容使你糊涂吗？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 rowSpan="4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建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汉仪旗黑-55简" panose="00020600040101010101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议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请回到本章开头重读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继续读下去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跳到下一章去读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停止阅读，请休息</a:t>
                      </a:r>
                    </a:p>
                  </a:txBody>
                  <a:tcPr marL="0" marR="0"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汉仪旗黑-55简" panose="00020600040101010101" charset="-122"/>
                        </a:rPr>
                        <a:t>×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汉仪旗黑-55简" panose="00020600040101010101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7548" name="Rectangle 108"/>
          <p:cNvSpPr/>
          <p:nvPr>
            <p:custDataLst>
              <p:tags r:id="rId3"/>
            </p:custDataLst>
          </p:nvPr>
        </p:nvSpPr>
        <p:spPr>
          <a:xfrm>
            <a:off x="6858001" y="2819400"/>
            <a:ext cx="1407795" cy="3657600"/>
          </a:xfrm>
          <a:prstGeom prst="rect">
            <a:avLst/>
          </a:prstGeom>
          <a:noFill/>
          <a:ln w="603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109"/>
          <p:cNvGrpSpPr/>
          <p:nvPr/>
        </p:nvGrpSpPr>
        <p:grpSpPr>
          <a:xfrm>
            <a:off x="7543800" y="2819400"/>
            <a:ext cx="685800" cy="3581400"/>
            <a:chOff x="3792" y="1776"/>
            <a:chExt cx="432" cy="2256"/>
          </a:xfrm>
        </p:grpSpPr>
        <p:sp>
          <p:nvSpPr>
            <p:cNvPr id="14449" name="Rectangle 110"/>
            <p:cNvSpPr/>
            <p:nvPr>
              <p:custDataLst>
                <p:tags r:id="rId16"/>
              </p:custDataLst>
            </p:nvPr>
          </p:nvSpPr>
          <p:spPr>
            <a:xfrm>
              <a:off x="3792" y="1776"/>
              <a:ext cx="432" cy="225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/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 Y</a:t>
              </a:r>
            </a:p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 N</a:t>
              </a:r>
            </a:p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  -</a:t>
              </a: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 ×</a:t>
              </a:r>
            </a:p>
          </p:txBody>
        </p:sp>
        <p:sp>
          <p:nvSpPr>
            <p:cNvPr id="14450" name="Line 111"/>
            <p:cNvSpPr/>
            <p:nvPr>
              <p:custDataLst>
                <p:tags r:id="rId17"/>
              </p:custDataLst>
            </p:nvPr>
          </p:nvSpPr>
          <p:spPr>
            <a:xfrm>
              <a:off x="3840" y="2112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51" name="Line 112"/>
            <p:cNvSpPr/>
            <p:nvPr>
              <p:custDataLst>
                <p:tags r:id="rId18"/>
              </p:custDataLst>
            </p:nvPr>
          </p:nvSpPr>
          <p:spPr>
            <a:xfrm>
              <a:off x="3840" y="2448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52" name="Line 113"/>
            <p:cNvSpPr/>
            <p:nvPr>
              <p:custDataLst>
                <p:tags r:id="rId19"/>
              </p:custDataLst>
            </p:nvPr>
          </p:nvSpPr>
          <p:spPr>
            <a:xfrm>
              <a:off x="3840" y="2736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53" name="Line 114"/>
            <p:cNvSpPr/>
            <p:nvPr>
              <p:custDataLst>
                <p:tags r:id="rId20"/>
              </p:custDataLst>
            </p:nvPr>
          </p:nvSpPr>
          <p:spPr>
            <a:xfrm>
              <a:off x="3840" y="3072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54" name="Line 115"/>
            <p:cNvSpPr/>
            <p:nvPr>
              <p:custDataLst>
                <p:tags r:id="rId21"/>
              </p:custDataLst>
            </p:nvPr>
          </p:nvSpPr>
          <p:spPr>
            <a:xfrm>
              <a:off x="3840" y="3360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55" name="Line 116"/>
            <p:cNvSpPr/>
            <p:nvPr>
              <p:custDataLst>
                <p:tags r:id="rId22"/>
              </p:custDataLst>
            </p:nvPr>
          </p:nvSpPr>
          <p:spPr>
            <a:xfrm>
              <a:off x="3840" y="3696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17"/>
          <p:cNvGrpSpPr/>
          <p:nvPr/>
        </p:nvGrpSpPr>
        <p:grpSpPr>
          <a:xfrm>
            <a:off x="9829800" y="2819400"/>
            <a:ext cx="533400" cy="3581400"/>
            <a:chOff x="4560" y="1776"/>
            <a:chExt cx="336" cy="2256"/>
          </a:xfrm>
        </p:grpSpPr>
        <p:sp>
          <p:nvSpPr>
            <p:cNvPr id="14442" name="Rectangle 118"/>
            <p:cNvSpPr/>
            <p:nvPr>
              <p:custDataLst>
                <p:tags r:id="rId9"/>
              </p:custDataLst>
            </p:nvPr>
          </p:nvSpPr>
          <p:spPr>
            <a:xfrm>
              <a:off x="4560" y="1776"/>
              <a:ext cx="336" cy="225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/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N</a:t>
              </a:r>
            </a:p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N</a:t>
              </a:r>
            </a:p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 -</a:t>
              </a: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  <a:p>
              <a:r>
                <a:rPr lang="en-US" altLang="zh-CN" sz="2800" b="1" dirty="0">
                  <a:solidFill>
                    <a:srgbClr val="0000FF"/>
                  </a:solidFill>
                  <a:latin typeface="Arial" panose="020B0604020202020204" pitchFamily="34" charset="0"/>
                  <a:ea typeface="汉仪旗黑-55简" panose="00020600040101010101" charset="-122"/>
                </a:rPr>
                <a:t> ×</a:t>
              </a:r>
            </a:p>
            <a:p>
              <a:endPara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endParaRPr>
            </a:p>
          </p:txBody>
        </p:sp>
        <p:sp>
          <p:nvSpPr>
            <p:cNvPr id="14443" name="Line 119"/>
            <p:cNvSpPr/>
            <p:nvPr>
              <p:custDataLst>
                <p:tags r:id="rId10"/>
              </p:custDataLst>
            </p:nvPr>
          </p:nvSpPr>
          <p:spPr>
            <a:xfrm>
              <a:off x="4560" y="2112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44" name="Line 120"/>
            <p:cNvSpPr/>
            <p:nvPr>
              <p:custDataLst>
                <p:tags r:id="rId11"/>
              </p:custDataLst>
            </p:nvPr>
          </p:nvSpPr>
          <p:spPr>
            <a:xfrm>
              <a:off x="4560" y="2448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45" name="Line 121"/>
            <p:cNvSpPr/>
            <p:nvPr>
              <p:custDataLst>
                <p:tags r:id="rId12"/>
              </p:custDataLst>
            </p:nvPr>
          </p:nvSpPr>
          <p:spPr>
            <a:xfrm>
              <a:off x="4560" y="2736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46" name="Line 122"/>
            <p:cNvSpPr/>
            <p:nvPr>
              <p:custDataLst>
                <p:tags r:id="rId13"/>
              </p:custDataLst>
            </p:nvPr>
          </p:nvSpPr>
          <p:spPr>
            <a:xfrm>
              <a:off x="4560" y="3072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47" name="Line 123"/>
            <p:cNvSpPr/>
            <p:nvPr>
              <p:custDataLst>
                <p:tags r:id="rId14"/>
              </p:custDataLst>
            </p:nvPr>
          </p:nvSpPr>
          <p:spPr>
            <a:xfrm>
              <a:off x="4560" y="3360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48" name="Line 124"/>
            <p:cNvSpPr/>
            <p:nvPr>
              <p:custDataLst>
                <p:tags r:id="rId15"/>
              </p:custDataLst>
            </p:nvPr>
          </p:nvSpPr>
          <p:spPr>
            <a:xfrm>
              <a:off x="4560" y="3696"/>
              <a:ext cx="336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7565" name="Rectangle 125"/>
          <p:cNvSpPr/>
          <p:nvPr>
            <p:custDataLst>
              <p:tags r:id="rId4"/>
            </p:custDataLst>
          </p:nvPr>
        </p:nvSpPr>
        <p:spPr>
          <a:xfrm>
            <a:off x="9296400" y="2819400"/>
            <a:ext cx="1066800" cy="3657600"/>
          </a:xfrm>
          <a:prstGeom prst="rect">
            <a:avLst/>
          </a:prstGeom>
          <a:noFill/>
          <a:ln w="603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7566" name="Oval 126"/>
          <p:cNvSpPr/>
          <p:nvPr>
            <p:custDataLst>
              <p:tags r:id="rId5"/>
            </p:custDataLst>
          </p:nvPr>
        </p:nvSpPr>
        <p:spPr>
          <a:xfrm>
            <a:off x="7543800" y="3810000"/>
            <a:ext cx="838200" cy="457200"/>
          </a:xfrm>
          <a:prstGeom prst="ellipse">
            <a:avLst/>
          </a:prstGeom>
          <a:noFill/>
          <a:ln w="476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17567" name="AutoShape 127"/>
          <p:cNvSpPr/>
          <p:nvPr>
            <p:custDataLst>
              <p:tags r:id="rId6"/>
            </p:custDataLst>
          </p:nvPr>
        </p:nvSpPr>
        <p:spPr>
          <a:xfrm>
            <a:off x="5257801" y="4648200"/>
            <a:ext cx="2278063" cy="685800"/>
          </a:xfrm>
          <a:prstGeom prst="wedgeEllipseCallout">
            <a:avLst>
              <a:gd name="adj1" fmla="val 59963"/>
              <a:gd name="adj2" fmla="val -136343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zh-CN" altLang="en-US" sz="2300" b="1" dirty="0">
                <a:solidFill>
                  <a:srgbClr val="0000FF"/>
                </a:solidFill>
                <a:latin typeface="Arial" panose="020B0604020202020204" pitchFamily="34" charset="0"/>
                <a:ea typeface="汉仪旗黑-55简" panose="00020600040101010101" charset="-122"/>
              </a:rPr>
              <a:t>不关心条目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lt1">
                    <a:tint val="75000"/>
                  </a:schemeClr>
                </a:solidFill>
              </a:rPr>
              <a:t>20</a:t>
            </a:fld>
            <a:endParaRPr lang="zh-CN" altLang="en-US">
              <a:solidFill>
                <a:schemeClr val="lt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31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1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31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7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7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 advAuto="1000"/>
      <p:bldP spid="317548" grpId="0" bldLvl="0" animBg="1"/>
      <p:bldP spid="317565" grpId="0" bldLvl="0" animBg="1"/>
      <p:bldP spid="317566" grpId="0" bldLvl="0" animBg="1"/>
      <p:bldP spid="31756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30730" y="1910715"/>
          <a:ext cx="4439920" cy="28321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9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2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40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85">
                <a:tc rowSpan="3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条件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是否疲倦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是否感兴趣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是否糊涂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 rowSpan="4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结果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本章重读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继续阅读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4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停止阅读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跳到下一章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564631" y="1905635"/>
          <a:ext cx="3857625" cy="281813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2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r>
                        <a:rPr lang="zh-CN" sz="1800">
                          <a:effectLst/>
                        </a:rPr>
                        <a:t>、</a:t>
                      </a:r>
                      <a:r>
                        <a:rPr lang="en-US" sz="1800">
                          <a:effectLst/>
                        </a:rPr>
                        <a:t>2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r>
                        <a:rPr lang="zh-CN" sz="1800">
                          <a:effectLst/>
                        </a:rPr>
                        <a:t>、</a:t>
                      </a:r>
                      <a:r>
                        <a:rPr lang="en-US" sz="1800">
                          <a:effectLst/>
                        </a:rPr>
                        <a:t>7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r>
                        <a:rPr lang="zh-CN" sz="1800">
                          <a:effectLst/>
                        </a:rPr>
                        <a:t>、</a:t>
                      </a:r>
                      <a:r>
                        <a:rPr lang="en-US" sz="1800">
                          <a:effectLst/>
                        </a:rPr>
                        <a:t>8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r>
                        <a:rPr lang="zh-CN" sz="1800">
                          <a:effectLst/>
                        </a:rPr>
                        <a:t>、</a:t>
                      </a:r>
                      <a:r>
                        <a:rPr lang="en-US" sz="1800">
                          <a:effectLst/>
                        </a:rPr>
                        <a:t>6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 rowSpan="3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条件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是否疲倦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－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－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是否感兴趣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是否糊涂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－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-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30">
                <a:tc rowSpan="4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</a:rPr>
                        <a:t>结果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本章重读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8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继续阅读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8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停止阅读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</a:rPr>
                        <a:t>跳到下一章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04729" y="692903"/>
            <a:ext cx="8556171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根据合并规则，｛（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）｝，｛（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）｝，｛（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）｝，｛（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）｝可以合并。</a:t>
            </a: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135596" y="4940761"/>
            <a:ext cx="82296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通过合并，不难发现，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条规则变成了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条规则，表面上减少了规则数，但容易遗漏分支从而产生漏测风险，所以一般规则数量不多时尽量不合并。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626236"/>
            <a:ext cx="8139430" cy="4276725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just" eaLnBrk="1" hangingPunct="1"/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对测试用例进行化简的前提条件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lvl="1" algn="just" eaLnBrk="1" hangingPunct="1"/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输出相同：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欲化简的多个测试用例的预期输出结果应完全相同；</a:t>
            </a:r>
          </a:p>
          <a:p>
            <a:pPr lvl="1" algn="just" eaLnBrk="1" hangingPunct="1"/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输入相似：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欲化简的多个测试用例的输入应相似，仅有一个输入条件取值</a:t>
            </a:r>
            <a:r>
              <a:rPr lang="en-US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即对应的等价类</a:t>
            </a:r>
            <a:r>
              <a:rPr lang="en-US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可以不相同，其他输入条件的取值</a:t>
            </a:r>
            <a:r>
              <a:rPr lang="en-US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即对应的等价类</a:t>
            </a:r>
            <a:r>
              <a:rPr lang="en-US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应完全相同。</a:t>
            </a:r>
            <a:endParaRPr lang="en-US" altLang="zh-CN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just" eaLnBrk="1" hangingPunct="1"/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化简的结果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是使得某个输入条件的取值对测试用例的输出无影响。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22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468121"/>
            <a:ext cx="8139430" cy="864235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 eaLnBrk="1" hangingPunct="1"/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</a:rPr>
              <a:t>对测试用例进行化简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23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026285" y="2118995"/>
            <a:ext cx="8173720" cy="2486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找到判定表中输出完全相同的列，查看其输入是否相似，在若干输入项中，如果</a:t>
            </a: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有且仅有一项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的输入取任何值对输出均无任何影响，则可合并。需要注意的是，合并判定表是以牺牲测试充分性、混乱业务逻辑为代价的。在一般情况下，</a:t>
            </a: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如果规则数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&lt;=8</a:t>
            </a: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条，则不建议合并。</a:t>
            </a:r>
            <a:endParaRPr lang="zh-CN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当条件桩输入值之间存在互斥关系时，亦需根据实际情况排除。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952285" y="4605905"/>
          <a:ext cx="4292600" cy="1859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820">
                <a:tc rowSpan="3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r>
                        <a:rPr lang="zh-CN" sz="2000">
                          <a:effectLst/>
                        </a:rPr>
                        <a:t>条件桩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sym typeface="Wingdings" panose="05000000000000000000"/>
                        </a:rPr>
                        <a:t></a:t>
                      </a:r>
                      <a:r>
                        <a:rPr lang="zh-CN" sz="200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zh-CN" sz="20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Y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--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2000">
                          <a:effectLst/>
                        </a:rPr>
                        <a:t>动作桩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X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X</a:t>
                      </a:r>
                      <a:endParaRPr lang="zh-CN" sz="20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</a:rPr>
                        <a:t>X</a:t>
                      </a:r>
                      <a:endParaRPr lang="zh-CN" sz="20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6285" y="424815"/>
            <a:ext cx="8139430" cy="731520"/>
          </a:xfrm>
        </p:spPr>
        <p:txBody>
          <a:bodyPr>
            <a:noAutofit/>
          </a:bodyPr>
          <a:lstStyle/>
          <a:p>
            <a:r>
              <a:rPr sz="4000">
                <a:solidFill>
                  <a:schemeClr val="accent1"/>
                </a:solidFill>
              </a:rPr>
              <a:t>案例</a:t>
            </a:r>
            <a:r>
              <a:rPr lang="en-US" altLang="zh-CN" sz="400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355851" y="1268731"/>
            <a:ext cx="6784975" cy="5169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欠费：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表示真，欠费，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表示假，未欠费。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停机：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表示真，停机，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表示假，未停机。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主被叫：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表示真，允许主被叫，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表示假，不允许主被叫。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规则：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）用户欠费及停机，不允许主被叫。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）用户欠费但未停机，不允许主被叫。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）用户未欠费但停机，不允许主被叫。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）用户未欠费且未停机，允许主被叫。</a:t>
            </a: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上述示例中，规则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在用户停机时，无论其是否欠费，都不允许主被叫，根据合并规则可合并，但考虑系统在内部处理逻辑判断可能走了不同分支，故不建议合并。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134133" y="3140309"/>
          <a:ext cx="3410585" cy="166687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2000">
                          <a:effectLst/>
                        </a:rPr>
                        <a:t>　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2000">
                          <a:effectLst/>
                        </a:rPr>
                        <a:t>　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 rowSpan="2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条件桩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欠费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chemeClr val="accent1"/>
                          </a:solidFill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停机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chemeClr val="accent1"/>
                          </a:solidFill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</a:rPr>
                        <a:t>动作桩</a:t>
                      </a:r>
                    </a:p>
                  </a:txBody>
                  <a:tcPr marL="51435" marR="5143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</a:rPr>
                        <a:t>主被叫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371600"/>
            <a:ext cx="8139430" cy="429641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charset="-122"/>
              </a:rPr>
              <a:t>决策表测试步骤：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marL="800100" lvl="1" indent="-457200"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分析输入域，并对个体输入域进行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</a:rPr>
              <a:t>有效等价类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划分</a:t>
            </a:r>
          </a:p>
          <a:p>
            <a:pPr marL="800100" lvl="1" indent="-457200"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分析输出域，并对预期输出结果进行细化</a:t>
            </a:r>
          </a:p>
          <a:p>
            <a:pPr marL="800100" lvl="1" indent="-457200"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建立完整的决策表</a:t>
            </a:r>
          </a:p>
          <a:p>
            <a:pPr marL="800100" lvl="1" indent="-457200"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对决策表进行不断地化简，直至无法继续化简</a:t>
            </a:r>
          </a:p>
          <a:p>
            <a:pPr marL="800100" lvl="1" indent="-457200"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根据最终的决策表设计测试用例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6"/>
            <a:ext cx="8139430" cy="873125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25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398359" y="4143104"/>
            <a:ext cx="7023735" cy="968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2000" dirty="0">
                <a:sym typeface="+mn-ea"/>
              </a:rPr>
              <a:t>需注意的是，决策表得到的是测试规则，而不是最终的用例。规则不能验证功能点正确，仅验证业务规则的正确性。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183130" y="1760856"/>
            <a:ext cx="8067040" cy="4628515"/>
          </a:xfrm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marL="0" indent="0">
              <a:buNone/>
            </a:pPr>
            <a:r>
              <a:rPr sz="3600" b="1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注意：</a:t>
            </a:r>
            <a:endParaRPr lang="en-US" altLang="zh-CN" sz="3600" b="1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、输入条件都是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有效等价类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，不是具体的数据。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、不考虑无效等价类。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、输出取值区不涉及输出域的等价划分。</a:t>
            </a:r>
          </a:p>
          <a:p>
            <a:pPr marL="0" indent="0">
              <a:buNone/>
            </a:pPr>
            <a:r>
              <a:rPr lang="en-US" altLang="zh-CN" sz="240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sz="240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、输入条件不存在相关性，不需要使用决策表测试方法。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针对输入域，需要对输出域进行细化，保证测试用例更加准确。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26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791210"/>
          </a:xfrm>
        </p:spPr>
        <p:txBody>
          <a:bodyPr>
            <a:noAutofit/>
          </a:bodyPr>
          <a:lstStyle/>
          <a:p>
            <a:pPr algn="l">
              <a:buClrTx/>
              <a:buSzTx/>
              <a:buFontTx/>
            </a:pPr>
            <a:r>
              <a:rPr>
                <a:solidFill>
                  <a:schemeClr val="accent1"/>
                </a:solidFill>
                <a:ea typeface="汉仪文黑-85W" panose="00020600040101010101" charset="-122"/>
                <a:sym typeface="+mn-ea"/>
              </a:rPr>
              <a:t>决策表法的优缺点</a:t>
            </a:r>
            <a:endParaRPr lang="zh-CN" altLang="en-US" dirty="0">
              <a:solidFill>
                <a:schemeClr val="accent1"/>
              </a:solidFill>
              <a:ea typeface="汉仪文黑-85W" panose="0002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558925"/>
            <a:ext cx="8139430" cy="482981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altLang="zh-CN" sz="2200">
                <a:solidFill>
                  <a:schemeClr val="dk1"/>
                </a:solidFill>
                <a:sym typeface="+mn-ea"/>
              </a:rPr>
              <a:t>决策表法在实际使用过程中，充分考虑了输入间的组合情况，每条规则覆盖了多个输入条件，考虑了输入项之间的约束关系，降低了漏测风险。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altLang="zh-CN" sz="2200">
                <a:solidFill>
                  <a:schemeClr val="dk1"/>
                </a:solidFill>
                <a:sym typeface="+mn-ea"/>
              </a:rPr>
              <a:t>同时，利用决策表可推断出需求规格本身的逻辑性，反向验证需求的正确。但决策表的缺点也是显而易见的，当输入项过多时，规则数以</a:t>
            </a:r>
            <a:r>
              <a:rPr lang="en-US" altLang="zh-CN" sz="2200">
                <a:solidFill>
                  <a:schemeClr val="dk1"/>
                </a:solidFill>
                <a:sym typeface="+mn-ea"/>
              </a:rPr>
              <a:t>2</a:t>
            </a:r>
            <a:r>
              <a:rPr lang="en-US" altLang="zh-CN" sz="2200" i="1" baseline="30000">
                <a:solidFill>
                  <a:schemeClr val="dk1"/>
                </a:solidFill>
                <a:sym typeface="+mn-ea"/>
              </a:rPr>
              <a:t>n</a:t>
            </a:r>
            <a:r>
              <a:rPr altLang="zh-CN" sz="2200">
                <a:solidFill>
                  <a:schemeClr val="dk1"/>
                </a:solidFill>
                <a:sym typeface="+mn-ea"/>
              </a:rPr>
              <a:t>剧增，决策表将会非常庞大，采用决策表合并方法，合并又会造成逻辑缺失、业务混乱错误。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altLang="zh-CN" sz="2200">
                <a:solidFill>
                  <a:schemeClr val="dk1"/>
                </a:solidFill>
                <a:sym typeface="+mn-ea"/>
              </a:rPr>
              <a:t>故在使用决策表方法前，需细致分析被测对象的需求，尽可能分解为多个需求项，然后再应用决策表设计法。</a:t>
            </a:r>
            <a:endParaRPr lang="zh-CN" altLang="zh-CN" sz="2200">
              <a:solidFill>
                <a:schemeClr val="dk1"/>
              </a:solidFill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27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2026285" y="1638300"/>
            <a:ext cx="8139430" cy="402971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/>
            <a:r>
              <a:rPr lang="zh-CN" altLang="en-US" sz="3600" b="1" dirty="0">
                <a:latin typeface="微软雅黑" panose="020B0503020204020204" charset="-122"/>
                <a:cs typeface="微软雅黑" panose="020B0503020204020204" charset="-122"/>
              </a:rPr>
              <a:t>捉虫实践</a:t>
            </a:r>
            <a:r>
              <a:rPr lang="en-US" altLang="zh-CN" sz="3600" b="1" dirty="0">
                <a:latin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600" b="1" dirty="0">
                <a:latin typeface="微软雅黑" panose="020B0503020204020204" charset="-122"/>
                <a:cs typeface="微软雅黑" panose="020B0503020204020204" charset="-122"/>
              </a:rPr>
              <a:t>：第二日问题</a:t>
            </a:r>
          </a:p>
          <a:p>
            <a:pPr lvl="1" eaLnBrk="1" hangingPunct="1"/>
            <a:r>
              <a:rPr lang="zh-CN" altLang="en-US" sz="2800" b="1" dirty="0">
                <a:latin typeface="微软雅黑" panose="020B0503020204020204" charset="-122"/>
                <a:cs typeface="微软雅黑" panose="020B0503020204020204" charset="-122"/>
              </a:rPr>
              <a:t>第一次测试尝试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28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pic>
        <p:nvPicPr>
          <p:cNvPr id="71686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030" y="3159851"/>
            <a:ext cx="8916988" cy="1643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2026285" y="1628140"/>
            <a:ext cx="8139430" cy="403987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1">
              <a:tabLst>
                <a:tab pos="1609725" algn="l"/>
              </a:tabLst>
            </a:pPr>
            <a:r>
              <a:rPr lang="zh-CN" altLang="en-US" sz="2800" b="1" dirty="0">
                <a:latin typeface="微软雅黑" panose="020B0503020204020204" charset="-122"/>
                <a:cs typeface="微软雅黑" panose="020B0503020204020204" charset="-122"/>
              </a:rPr>
              <a:t>第一次测试尝试</a:t>
            </a:r>
          </a:p>
        </p:txBody>
      </p:sp>
      <p:pic>
        <p:nvPicPr>
          <p:cNvPr id="2253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343" y="323215"/>
            <a:ext cx="8742362" cy="6370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29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797176" y="281941"/>
            <a:ext cx="2025015" cy="48228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340351" y="290830"/>
            <a:ext cx="1567815" cy="48133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908166" y="280035"/>
            <a:ext cx="490855" cy="538734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9418956" y="280035"/>
            <a:ext cx="1058545" cy="64147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399021" y="280035"/>
            <a:ext cx="501015" cy="64147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822190" y="290831"/>
            <a:ext cx="518160" cy="601281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903846" y="280036"/>
            <a:ext cx="490855" cy="482409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2026285" y="1609726"/>
            <a:ext cx="8139430" cy="4058285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tabLst>
                <a:tab pos="1609725" algn="l"/>
              </a:tabLst>
            </a:pPr>
            <a:r>
              <a:rPr lang="zh-CN" altLang="en-US" b="1" dirty="0">
                <a:latin typeface="微软雅黑" panose="020B0503020204020204" charset="-122"/>
                <a:cs typeface="微软雅黑" panose="020B0503020204020204" charset="-122"/>
              </a:rPr>
              <a:t>化简后的结果</a:t>
            </a:r>
          </a:p>
        </p:txBody>
      </p:sp>
      <p:pic>
        <p:nvPicPr>
          <p:cNvPr id="23557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439" y="2500314"/>
            <a:ext cx="9001125" cy="3648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3480435" y="2489836"/>
            <a:ext cx="706120" cy="36480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558791" y="2383155"/>
            <a:ext cx="848995" cy="58801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157971" y="2383155"/>
            <a:ext cx="1509395" cy="58801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85940" y="546736"/>
            <a:ext cx="3613150" cy="1322069"/>
          </a:xfrm>
          <a:prstGeom prst="wedgeRectCallout">
            <a:avLst>
              <a:gd name="adj1" fmla="val 28892"/>
              <a:gd name="adj2" fmla="val 884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zh-CN" altLang="en-US" sz="2000">
                <a:sym typeface="+mn-ea"/>
              </a:rPr>
              <a:t>通过化简后可以消除用例间的冗余，却无法消除因整体输入域拆分为个体输入域时导致的无效域数据。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2026285" y="1638936"/>
            <a:ext cx="8139430" cy="4029075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l" eaLnBrk="1" hangingPunct="1">
              <a:buClrTx/>
              <a:buSzTx/>
            </a:pPr>
            <a:r>
              <a:rPr lang="zh-CN" altLang="en-US" b="1" dirty="0">
                <a:latin typeface="微软雅黑" panose="020B0503020204020204" charset="-122"/>
                <a:cs typeface="微软雅黑" panose="020B0503020204020204" charset="-122"/>
              </a:rPr>
              <a:t>第二次测试尝试</a:t>
            </a:r>
          </a:p>
        </p:txBody>
      </p:sp>
      <p:pic>
        <p:nvPicPr>
          <p:cNvPr id="24581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876" y="2714625"/>
            <a:ext cx="8786813" cy="190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31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136006" y="3906520"/>
            <a:ext cx="751205" cy="49022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2026285" y="1468756"/>
            <a:ext cx="8139430" cy="4199255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tabLst>
                <a:tab pos="1609725" algn="l"/>
              </a:tabLst>
            </a:pPr>
            <a:r>
              <a:rPr lang="zh-CN" altLang="en-US" b="1" dirty="0">
                <a:latin typeface="微软雅黑" panose="020B0503020204020204" charset="-122"/>
                <a:cs typeface="微软雅黑" panose="020B0503020204020204" charset="-122"/>
              </a:rPr>
              <a:t>第二次测试尝试</a:t>
            </a:r>
          </a:p>
        </p:txBody>
      </p:sp>
      <p:pic>
        <p:nvPicPr>
          <p:cNvPr id="25605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325" y="2262824"/>
            <a:ext cx="8940800" cy="3405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32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3314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6285" y="292101"/>
            <a:ext cx="8139430" cy="785495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83766" y="1077595"/>
            <a:ext cx="4756785" cy="792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zh-CN" altLang="en-US" sz="28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第二次测试尝试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368551" y="1693546"/>
          <a:ext cx="7891145" cy="4695825"/>
        </p:xfrm>
        <a:graphic>
          <a:graphicData uri="http://schemas.openxmlformats.org/drawingml/2006/table">
            <a:tbl>
              <a:tblPr/>
              <a:tblGrid>
                <a:gridCol w="141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1">
                          <a:solidFill>
                            <a:schemeClr val="bg1"/>
                          </a:solidFill>
                        </a:rPr>
                        <a:t>输入数据</a:t>
                      </a:r>
                      <a:endParaRPr lang="zh-CN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1">
                          <a:solidFill>
                            <a:schemeClr val="bg1"/>
                          </a:solidFill>
                        </a:rPr>
                        <a:t>预期输出</a:t>
                      </a:r>
                      <a:endParaRPr lang="zh-CN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1">
                          <a:solidFill>
                            <a:schemeClr val="bg1"/>
                          </a:solidFill>
                        </a:rPr>
                        <a:t>备注</a:t>
                      </a:r>
                      <a:endParaRPr lang="zh-CN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ND-DT-001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2000-7-13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2000-7-14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31天月份的普通日期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ND-DT-002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2000-7-31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2000-8-1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31天月份的月末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ND-DT-003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2000-6-13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2000-6-14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30天月份的普通日期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ND-DT-004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2000-6-30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2000-7-1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30天月份的月末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ND-DT-005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2000-6-31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提示“该日期不存在”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无效日期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ND-DT-006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2000-2-13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2000-2-14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2月普通日期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ND-DT-007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2000-2-28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2000-2-29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2月普通日期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ND-DT-008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1925-2-28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1925-3-1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非闰年2月末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ND-DT-009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2000-2-29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2000-3-1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闰年2月末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ND-DT-010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1925-2-29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提示“该日期不存在”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无效日期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ND-DT-011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2000-2-30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提示“该日期不存在”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无效日期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ND-DT-012</a:t>
                      </a:r>
                      <a:endParaRPr lang="en-US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2000-12-31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/>
                        <a:t>2001-1-1</a:t>
                      </a:r>
                      <a:endParaRPr lang="en-US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/>
                        <a:t>年末日期</a:t>
                      </a:r>
                      <a:endParaRPr lang="zh-CN" altLang="en-US" sz="1600"/>
                    </a:p>
                  </a:txBody>
                  <a:tcPr marL="12700" marR="12700" marT="127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560830"/>
            <a:ext cx="8139430" cy="410718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just" eaLnBrk="1" hangingPunct="1"/>
            <a:r>
              <a:rPr lang="zh-CN" altLang="en-US" sz="3400" b="1" dirty="0">
                <a:solidFill>
                  <a:schemeClr val="dk1"/>
                </a:solidFill>
                <a:latin typeface="微软雅黑" panose="020B0503020204020204" charset="-122"/>
              </a:rPr>
              <a:t>小结</a:t>
            </a:r>
            <a:endParaRPr lang="en-US" altLang="zh-CN" sz="3400" b="1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</a:rPr>
              <a:t>目标：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在特定条件下消除等价类测试的冗余。</a:t>
            </a:r>
            <a:endParaRPr lang="en-US" altLang="zh-CN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</a:rPr>
              <a:t>基本思想：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基于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charset="-122"/>
              </a:rPr>
              <a:t>强组合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等价类测试得到有效域上完整的测试用例集合，并通过合并化简消除用例间的冗余。</a:t>
            </a:r>
            <a:endParaRPr lang="en-US" altLang="zh-CN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以强组合等价类测试为基础，遵循独立性假设。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34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026285" y="1560831"/>
            <a:ext cx="8139430" cy="4324985"/>
          </a:xfrm>
        </p:spPr>
        <p:txBody>
          <a:bodyPr vert="horz" wrap="square" lIns="91440" tIns="45720" rIns="91440" bIns="45720" rtlCol="0" anchor="t" anchorCtr="0">
            <a:normAutofit fontScale="97500" lnSpcReduction="10000"/>
          </a:bodyPr>
          <a:lstStyle/>
          <a:p>
            <a:pPr algn="just" eaLnBrk="1" hangingPunct="1"/>
            <a:r>
              <a:rPr sz="3400" b="1">
                <a:solidFill>
                  <a:schemeClr val="dk1"/>
                </a:solidFill>
                <a:latin typeface="微软雅黑" panose="020B0503020204020204" charset="-122"/>
                <a:sym typeface="+mn-ea"/>
              </a:rPr>
              <a:t>注意事项：</a:t>
            </a:r>
            <a:endParaRPr lang="en-US" altLang="zh-CN" sz="3400" b="1" dirty="0">
              <a:solidFill>
                <a:schemeClr val="dk1"/>
              </a:solidFill>
              <a:latin typeface="微软雅黑" panose="020B0503020204020204" charset="-122"/>
            </a:endParaRPr>
          </a:p>
          <a:p>
            <a:pPr marL="800100" lvl="1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从整体输入域拆分个体输入域时，若输入条件之间不存在相关性，则不需要使用决策表测试，因为等价类测试生成的测试用例之间本身不存在冗余；</a:t>
            </a:r>
          </a:p>
          <a:p>
            <a:pPr marL="800100" lvl="1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决策表测试法不处理无效等价类，不需要遵循单缺陷假设；</a:t>
            </a:r>
          </a:p>
          <a:p>
            <a:pPr marL="800100" lvl="1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</a:rPr>
              <a:t>决策表测试法仅针对输入域展开分析，需要从设计角度对输出域进行细化。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35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/>
          <p:nvPr>
            <p:custDataLst>
              <p:tags r:id="rId1"/>
            </p:custDataLst>
          </p:nvPr>
        </p:nvSpPr>
        <p:spPr>
          <a:xfrm>
            <a:off x="1919605" y="1550671"/>
            <a:ext cx="8064500" cy="4232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 algn="just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zh-CN" altLang="en-US" sz="3600" b="1" spc="1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举例1：</a:t>
            </a:r>
          </a:p>
          <a:p>
            <a:pPr marL="457200" indent="-4572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zh-CN" altLang="en-US" sz="2400" b="1" spc="1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问题要求：</a:t>
            </a:r>
            <a:r>
              <a:rPr lang="zh-CN" altLang="en-US" sz="2400" spc="1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”……对功率大于50马力的机器、维修记录不全或已运行10年以上的机器，应给予优先的维修处理……”</a:t>
            </a:r>
          </a:p>
          <a:p>
            <a:pPr marL="457200" indent="-457200" algn="just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zh-CN" altLang="en-US" sz="2400" spc="1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按5步建立判定表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36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306" y="3068956"/>
            <a:ext cx="7033895" cy="31235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589" name="Rectangle 5"/>
          <p:cNvSpPr/>
          <p:nvPr>
            <p:custDataLst>
              <p:tags r:id="rId1"/>
            </p:custDataLst>
          </p:nvPr>
        </p:nvSpPr>
        <p:spPr>
          <a:xfrm>
            <a:off x="2208531" y="1700531"/>
            <a:ext cx="4392295" cy="135699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计算规则数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列出所有条件、动作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填入条件项和动作项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37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7805" y="2637155"/>
            <a:ext cx="6676390" cy="31889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4613" name="Rectangle 5"/>
          <p:cNvSpPr/>
          <p:nvPr>
            <p:custDataLst>
              <p:tags r:id="rId1"/>
            </p:custDataLst>
          </p:nvPr>
        </p:nvSpPr>
        <p:spPr>
          <a:xfrm>
            <a:off x="2566989" y="1844358"/>
            <a:ext cx="36734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化简，合并规则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38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6" name="Rectangle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2362200" y="1871980"/>
            <a:ext cx="7772400" cy="56642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34290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3200" b="1" kern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举例</a:t>
            </a:r>
            <a:r>
              <a:rPr lang="en-US" altLang="zh-CN" sz="3200" b="1" kern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200" b="1" kern="0">
                <a:solidFill>
                  <a:schemeClr val="dk1"/>
                </a:solidFill>
                <a:latin typeface="微软雅黑" panose="020B0503020204020204" charset="-122"/>
                <a:cs typeface="微软雅黑" panose="020B0503020204020204" charset="-122"/>
              </a:rPr>
              <a:t>：三角形问题</a:t>
            </a:r>
          </a:p>
        </p:txBody>
      </p:sp>
      <p:graphicFrame>
        <p:nvGraphicFramePr>
          <p:cNvPr id="325637" name="Group 5"/>
          <p:cNvGraphicFramePr>
            <a:graphicFrameLocks noGrp="1"/>
          </p:cNvGraphicFramePr>
          <p:nvPr/>
        </p:nvGraphicFramePr>
        <p:xfrm>
          <a:off x="2819400" y="2920365"/>
          <a:ext cx="5638800" cy="2269490"/>
        </p:xfrm>
        <a:graphic>
          <a:graphicData uri="http://schemas.openxmlformats.org/drawingml/2006/table">
            <a:tbl>
              <a:tblPr/>
              <a:tblGrid>
                <a:gridCol w="56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0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输出的等价类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R1={&lt;a,b,c&gt;|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有三条边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a,b,c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的等边三角形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}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R2={&lt;a,b,c&gt;|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有三条边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a,b,c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的等腰三角形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}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R3={&lt;a,b,c&gt;|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有三条边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a,b,c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的不等边三角形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}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R4={&lt;a,b,c&gt;|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三条边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a,b,c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不构成三角形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}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5651" name="Oval 19"/>
          <p:cNvSpPr/>
          <p:nvPr>
            <p:custDataLst>
              <p:tags r:id="rId2"/>
            </p:custDataLst>
          </p:nvPr>
        </p:nvSpPr>
        <p:spPr>
          <a:xfrm>
            <a:off x="6205856" y="4640580"/>
            <a:ext cx="1947545" cy="685800"/>
          </a:xfrm>
          <a:prstGeom prst="ellipse">
            <a:avLst/>
          </a:prstGeom>
          <a:noFill/>
          <a:ln w="476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25652" name="Oval 20"/>
          <p:cNvSpPr/>
          <p:nvPr>
            <p:custDataLst>
              <p:tags r:id="rId3"/>
            </p:custDataLst>
          </p:nvPr>
        </p:nvSpPr>
        <p:spPr>
          <a:xfrm>
            <a:off x="6401436" y="3273425"/>
            <a:ext cx="1937385" cy="1567180"/>
          </a:xfrm>
          <a:prstGeom prst="ellipse">
            <a:avLst/>
          </a:prstGeom>
          <a:noFill/>
          <a:ln w="476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</a:endParaRPr>
          </a:p>
        </p:txBody>
      </p:sp>
      <p:sp>
        <p:nvSpPr>
          <p:cNvPr id="325653" name="Text Box 21"/>
          <p:cNvSpPr txBox="1"/>
          <p:nvPr>
            <p:custDataLst>
              <p:tags r:id="rId4"/>
            </p:custDataLst>
          </p:nvPr>
        </p:nvSpPr>
        <p:spPr>
          <a:xfrm>
            <a:off x="7315200" y="5326380"/>
            <a:ext cx="2438400" cy="400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能构成三角形？</a:t>
            </a:r>
          </a:p>
        </p:txBody>
      </p:sp>
      <p:sp>
        <p:nvSpPr>
          <p:cNvPr id="325654" name="Text Box 22"/>
          <p:cNvSpPr txBox="1"/>
          <p:nvPr>
            <p:custDataLst>
              <p:tags r:id="rId5"/>
            </p:custDataLst>
          </p:nvPr>
        </p:nvSpPr>
        <p:spPr>
          <a:xfrm>
            <a:off x="7315200" y="2383790"/>
            <a:ext cx="2057400" cy="400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三角形类型？</a:t>
            </a: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39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1" grpId="0" bldLvl="0" animBg="1"/>
      <p:bldP spid="325652" grpId="0" bldLvl="0" animBg="1"/>
      <p:bldP spid="325653" grpId="0"/>
      <p:bldP spid="32565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3" name="Rectangle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09800" y="1837056"/>
            <a:ext cx="3733800" cy="4806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4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三角形问题的决策表</a:t>
            </a:r>
          </a:p>
        </p:txBody>
      </p:sp>
      <p:graphicFrame>
        <p:nvGraphicFramePr>
          <p:cNvPr id="30724" name="表格 30723"/>
          <p:cNvGraphicFramePr/>
          <p:nvPr>
            <p:custDataLst>
              <p:tags r:id="rId2"/>
            </p:custDataLst>
          </p:nvPr>
        </p:nvGraphicFramePr>
        <p:xfrm>
          <a:off x="2352041" y="2564765"/>
          <a:ext cx="7927975" cy="353885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92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C1:a,b,c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构成三角形？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C2:a=b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吗？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C3:a=c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吗？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C4:b=c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吗？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A1: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非三角形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A2: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不等边三角形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A3: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等腰三角形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A4: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等边三角形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A5: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不可能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600" b="1" dirty="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5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隶书" panose="02010509060101010101" pitchFamily="49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600" b="1" dirty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7820" name="Oval 140"/>
          <p:cNvSpPr/>
          <p:nvPr>
            <p:custDataLst>
              <p:tags r:id="rId3"/>
            </p:custDataLst>
          </p:nvPr>
        </p:nvSpPr>
        <p:spPr>
          <a:xfrm>
            <a:off x="5019040" y="2904490"/>
            <a:ext cx="609600" cy="1143000"/>
          </a:xfrm>
          <a:prstGeom prst="ellipse">
            <a:avLst/>
          </a:prstGeom>
          <a:noFill/>
          <a:ln w="476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821" name="Oval 141"/>
          <p:cNvSpPr/>
          <p:nvPr>
            <p:custDataLst>
              <p:tags r:id="rId4"/>
            </p:custDataLst>
          </p:nvPr>
        </p:nvSpPr>
        <p:spPr>
          <a:xfrm>
            <a:off x="2961640" y="5647690"/>
            <a:ext cx="1447800" cy="457200"/>
          </a:xfrm>
          <a:prstGeom prst="ellipse">
            <a:avLst/>
          </a:prstGeom>
          <a:noFill/>
          <a:ln w="476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026285" y="498475"/>
            <a:ext cx="8139430" cy="97028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汉仪文黑-85W" panose="00020600040101010101" charset="-122"/>
              </a:rPr>
              <a:t>基于决策表的测试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968615" y="6237480"/>
            <a:ext cx="2025000" cy="237600"/>
          </a:xfrm>
        </p:spPr>
        <p:txBody>
          <a:bodyPr>
            <a:noAutofit/>
          </a:bodyPr>
          <a:lstStyle/>
          <a:p>
            <a:pPr lvl="0" eaLnBrk="1" hangingPunct="1">
              <a:buNone/>
            </a:pPr>
            <a:fld id="{9A0DB2DC-4C9A-4742-B13C-FB6460FD3503}" type="slidenum">
              <a:rPr lang="en-US" altLang="zh-CN" sz="1000" dirty="0">
                <a:solidFill>
                  <a:schemeClr val="dk1">
                    <a:tint val="75000"/>
                  </a:schemeClr>
                </a:solidFill>
                <a:latin typeface="Comic Sans MS" panose="030F0702030302020204" pitchFamily="66" charset="0"/>
              </a:rPr>
              <a:t>40</a:t>
            </a:fld>
            <a:endParaRPr lang="en-US" altLang="zh-CN" sz="1000" dirty="0">
              <a:solidFill>
                <a:schemeClr val="dk1">
                  <a:tint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  <a:t>2024/3/20</a:t>
            </a:fld>
            <a:endParaRPr lang="zh-CN" altLang="en-US">
              <a:solidFill>
                <a:schemeClr val="dk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2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2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20" grpId="0" bldLvl="0" animBg="1"/>
      <p:bldP spid="327821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952909" y="805736"/>
            <a:ext cx="4877619" cy="13255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聆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</a:t>
            </a:r>
            <a:endParaRPr lang="zh-CN" altLang="en-US" b="1" dirty="0">
              <a:solidFill>
                <a:srgbClr val="435CC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943919" y="2131299"/>
            <a:ext cx="2895600" cy="435524"/>
          </a:xfrm>
        </p:spPr>
        <p:txBody>
          <a:bodyPr>
            <a:noAutofit/>
          </a:bodyPr>
          <a:lstStyle/>
          <a:p>
            <a:r>
              <a:rPr lang="zh-CN" altLang="en-US" sz="2133" dirty="0">
                <a:solidFill>
                  <a:srgbClr val="435C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冯东栋</a:t>
            </a:r>
            <a:r>
              <a:rPr lang="en-US" altLang="zh-CN" sz="2133" dirty="0">
                <a:solidFill>
                  <a:srgbClr val="435C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133" dirty="0">
                <a:solidFill>
                  <a:srgbClr val="435C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河南大学</a:t>
            </a:r>
          </a:p>
        </p:txBody>
      </p:sp>
    </p:spTree>
  </p:cSld>
  <p:clrMapOvr>
    <a:masterClrMapping/>
  </p:clrMapOvr>
  <p:transition spd="slow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902f78d-2d1d-41bc-a82f-471a11a7003b}"/>
  <p:tag name="TABLE_ENDDRAG_ORIGIN_RECT" val="612*239"/>
  <p:tag name="TABLE_ENDDRAG_RECT" val="44*138*612*23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9406251-f051-4398-bbd0-e1b08d0bb42e}"/>
  <p:tag name="TABLE_ENDDRAG_ORIGIN_RECT" val="626*364"/>
  <p:tag name="TABLE_ENDDRAG_RECT" val="44*63*626*36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5d0788e-28f5-4da2-ace1-4b9a6b20a22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db51ff-e0ce-4c36-b922-4681633433a1}"/>
  <p:tag name="TABLE_ENDDRAG_ORIGIN_RECT" val="661*274"/>
  <p:tag name="TABLE_ENDDRAG_RECT" val="27*184*661*27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8bc2b3b-2457-40d6-b94f-8a44e94c9b73}"/>
  <p:tag name="TABLE_ENDDRAG_ORIGIN_RECT" val="296*141"/>
  <p:tag name="TABLE_ENDDRAG_RECT" val="16*284*296*141"/>
  <p:tag name="TABLE_EMPHASIZE_COLOR" val="631512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5d5c4b7-0a8a-4f6d-9d00-d78d9c2e8be9}"/>
  <p:tag name="TABLE_ENDDRAG_ORIGIN_RECT" val="411*156"/>
  <p:tag name="TABLE_ENDDRAG_RECT" val="187*330*411*15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8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8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8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9a1cad3-dc9a-4a26-935d-b77720816df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58aa9f5-a1e6-43ad-8555-a2bf4783a61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ae97d10-3bbc-4fb7-a116-abffeae6c558}"/>
  <p:tag name="TABLE_ENDDRAG_ORIGIN_RECT" val="347*166"/>
  <p:tag name="TABLE_ENDDRAG_RECT" val="60*119*347*16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0ddd47c-a577-4b08-818e-f1f2d35f14cf}"/>
  <p:tag name="TABLE_ENDDRAG_ORIGIN_RECT" val="303*221"/>
  <p:tag name="TABLE_ENDDRAG_RECT" val="396*150*303*22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7cfce63-86b2-490a-a2fa-6cff5cd373c4}"/>
  <p:tag name="TABLE_ENDDRAG_ORIGIN_RECT" val="338*146"/>
  <p:tag name="TABLE_ENDDRAG_RECT" val="229*366*338*14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3d8ccf1-9e91-4998-9bf7-051e6462ffdd}"/>
  <p:tag name="TABLE_ENDDRAG_ORIGIN_RECT" val="254*112"/>
  <p:tag name="TABLE_ENDDRAG_RECT" val="438*230*254*11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14ea49e-7046-4bca-ba1c-cd6a6593ff2f}"/>
  <p:tag name="TABLE_ENDDRAG_ORIGIN_RECT" val="633*358"/>
  <p:tag name="TABLE_ENDDRAG_RECT" val="47*109*633*358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e7ecc13-051a-4461-8f65-c40e71ee9f9e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9076</TotalTime>
  <Words>3149</Words>
  <Application>Microsoft Office PowerPoint</Application>
  <PresentationFormat>宽屏</PresentationFormat>
  <Paragraphs>760</Paragraphs>
  <Slides>41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等线</vt:lpstr>
      <vt:lpstr>等线 Light</vt:lpstr>
      <vt:lpstr>汉仪文黑-85W</vt:lpstr>
      <vt:lpstr>思源黑体</vt:lpstr>
      <vt:lpstr>思源黑体 Bold</vt:lpstr>
      <vt:lpstr>思源黑体 Medium</vt:lpstr>
      <vt:lpstr>宋体</vt:lpstr>
      <vt:lpstr>微软雅黑</vt:lpstr>
      <vt:lpstr>微软雅黑</vt:lpstr>
      <vt:lpstr>Arial</vt:lpstr>
      <vt:lpstr>Comic Sans MS</vt:lpstr>
      <vt:lpstr>Times New Roman</vt:lpstr>
      <vt:lpstr>Wingdings</vt:lpstr>
      <vt:lpstr>Office 主题​​</vt:lpstr>
      <vt:lpstr>PowerPoint 演示文稿</vt:lpstr>
      <vt:lpstr>上节回顾</vt:lpstr>
      <vt:lpstr>余额宝提现的等价类划分</vt:lpstr>
      <vt:lpstr>余额宝提现的等价类划分</vt:lpstr>
      <vt:lpstr>余额宝提现的等价类划分</vt:lpstr>
      <vt:lpstr>余额宝提现的等价类划分</vt:lpstr>
      <vt:lpstr>余额宝提现的等价类划分</vt:lpstr>
      <vt:lpstr>假如现在余额宝中有50000元 覆盖有效等价类</vt:lpstr>
      <vt:lpstr>假如现在余额宝中有50000元 覆盖无效等价类</vt:lpstr>
      <vt:lpstr>PowerPoint 演示文稿</vt:lpstr>
      <vt:lpstr>案例1</vt:lpstr>
      <vt:lpstr>原因</vt:lpstr>
      <vt:lpstr>原因</vt:lpstr>
      <vt:lpstr>基于决策表的测试</vt:lpstr>
      <vt:lpstr>基于决策表的测试</vt:lpstr>
      <vt:lpstr>基本组成</vt:lpstr>
      <vt:lpstr>案例2—读书选择</vt:lpstr>
      <vt:lpstr>基本组成</vt:lpstr>
      <vt:lpstr>基于决策表的测试</vt:lpstr>
      <vt:lpstr>基于决策表的测试</vt:lpstr>
      <vt:lpstr>PowerPoint 演示文稿</vt:lpstr>
      <vt:lpstr>基于决策表的测试</vt:lpstr>
      <vt:lpstr>基于决策表的测试</vt:lpstr>
      <vt:lpstr>案例1</vt:lpstr>
      <vt:lpstr>基于决策表的测试</vt:lpstr>
      <vt:lpstr>基于决策表的测试</vt:lpstr>
      <vt:lpstr>决策表法的优缺点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基于决策表的测试</vt:lpstr>
      <vt:lpstr>感 谢 聆 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东栋 冯</dc:creator>
  <cp:lastModifiedBy>东栋 冯</cp:lastModifiedBy>
  <cp:revision>5</cp:revision>
  <dcterms:created xsi:type="dcterms:W3CDTF">2024-03-12T03:00:18Z</dcterms:created>
  <dcterms:modified xsi:type="dcterms:W3CDTF">2024-03-26T15:56:34Z</dcterms:modified>
</cp:coreProperties>
</file>