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xml" ContentType="application/vnd.openxmlformats-officedocument.presentationml.tags+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5"/>
  </p:notesMasterIdLst>
  <p:handoutMasterIdLst>
    <p:handoutMasterId r:id="rId66"/>
  </p:handoutMasterIdLst>
  <p:sldIdLst>
    <p:sldId id="304" r:id="rId2"/>
    <p:sldId id="6046" r:id="rId3"/>
    <p:sldId id="6047" r:id="rId4"/>
    <p:sldId id="9983" r:id="rId5"/>
    <p:sldId id="6040" r:id="rId6"/>
    <p:sldId id="6026" r:id="rId7"/>
    <p:sldId id="6027" r:id="rId8"/>
    <p:sldId id="9984" r:id="rId9"/>
    <p:sldId id="9985" r:id="rId10"/>
    <p:sldId id="6041" r:id="rId11"/>
    <p:sldId id="6042" r:id="rId12"/>
    <p:sldId id="10000" r:id="rId13"/>
    <p:sldId id="705" r:id="rId14"/>
    <p:sldId id="706" r:id="rId15"/>
    <p:sldId id="707" r:id="rId16"/>
    <p:sldId id="9987" r:id="rId17"/>
    <p:sldId id="9988" r:id="rId18"/>
    <p:sldId id="9989" r:id="rId19"/>
    <p:sldId id="9991" r:id="rId20"/>
    <p:sldId id="9990" r:id="rId21"/>
    <p:sldId id="708" r:id="rId22"/>
    <p:sldId id="10001" r:id="rId23"/>
    <p:sldId id="713" r:id="rId24"/>
    <p:sldId id="10002" r:id="rId25"/>
    <p:sldId id="10003" r:id="rId26"/>
    <p:sldId id="9954" r:id="rId27"/>
    <p:sldId id="6044" r:id="rId28"/>
    <p:sldId id="6043" r:id="rId29"/>
    <p:sldId id="715" r:id="rId30"/>
    <p:sldId id="716" r:id="rId31"/>
    <p:sldId id="10005" r:id="rId32"/>
    <p:sldId id="717" r:id="rId33"/>
    <p:sldId id="718" r:id="rId34"/>
    <p:sldId id="719" r:id="rId35"/>
    <p:sldId id="10004" r:id="rId36"/>
    <p:sldId id="727" r:id="rId37"/>
    <p:sldId id="720" r:id="rId38"/>
    <p:sldId id="9927" r:id="rId39"/>
    <p:sldId id="10015" r:id="rId40"/>
    <p:sldId id="6053" r:id="rId41"/>
    <p:sldId id="10006" r:id="rId42"/>
    <p:sldId id="6045" r:id="rId43"/>
    <p:sldId id="10016" r:id="rId44"/>
    <p:sldId id="723" r:id="rId45"/>
    <p:sldId id="9992" r:id="rId46"/>
    <p:sldId id="9993" r:id="rId47"/>
    <p:sldId id="6049" r:id="rId48"/>
    <p:sldId id="10008" r:id="rId49"/>
    <p:sldId id="10010" r:id="rId50"/>
    <p:sldId id="732" r:id="rId51"/>
    <p:sldId id="730" r:id="rId52"/>
    <p:sldId id="10011" r:id="rId53"/>
    <p:sldId id="6050" r:id="rId54"/>
    <p:sldId id="6051" r:id="rId55"/>
    <p:sldId id="10012" r:id="rId56"/>
    <p:sldId id="725" r:id="rId57"/>
    <p:sldId id="726" r:id="rId58"/>
    <p:sldId id="10014" r:id="rId59"/>
    <p:sldId id="10013" r:id="rId60"/>
    <p:sldId id="9926" r:id="rId61"/>
    <p:sldId id="9998" r:id="rId62"/>
    <p:sldId id="6036" r:id="rId63"/>
    <p:sldId id="6034" r:id="rId64"/>
  </p:sldIdLst>
  <p:sldSz cx="9144000" cy="5143500" type="screen16x9"/>
  <p:notesSz cx="6858000" cy="9144000"/>
  <p:custDataLst>
    <p:tags r:id="rId6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4">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699"/>
    <a:srgbClr val="435CC8"/>
    <a:srgbClr val="FFC600"/>
    <a:srgbClr val="1F2B88"/>
    <a:srgbClr val="FFC000"/>
    <a:srgbClr val="242C52"/>
    <a:srgbClr val="6880B1"/>
    <a:srgbClr val="FFBB0A"/>
    <a:srgbClr val="FFC102"/>
    <a:srgbClr val="1D24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90" autoAdjust="0"/>
    <p:restoredTop sz="48416" autoAdjust="0"/>
  </p:normalViewPr>
  <p:slideViewPr>
    <p:cSldViewPr snapToGrid="0" snapToObjects="1">
      <p:cViewPr varScale="1">
        <p:scale>
          <a:sx n="54" d="100"/>
          <a:sy n="54" d="100"/>
        </p:scale>
        <p:origin x="2347" y="53"/>
      </p:cViewPr>
      <p:guideLst>
        <p:guide orient="horz" pos="1614"/>
        <p:guide pos="2880"/>
      </p:guideLst>
    </p:cSldViewPr>
  </p:slideViewPr>
  <p:notesTextViewPr>
    <p:cViewPr>
      <p:scale>
        <a:sx n="125" d="100"/>
        <a:sy n="125" d="100"/>
      </p:scale>
      <p:origin x="0" y="0"/>
    </p:cViewPr>
  </p:notesTextViewPr>
  <p:notesViewPr>
    <p:cSldViewPr snapToGrid="0" snapToObjects="1">
      <p:cViewPr varScale="1">
        <p:scale>
          <a:sx n="87" d="100"/>
          <a:sy n="87" d="100"/>
        </p:scale>
        <p:origin x="3904" y="1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2024/2/28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panose="020F0502020204030204" charset="-122"/>
                <a:ea typeface="思源黑体" panose="020F0502020204030204" charset="-122"/>
                <a:cs typeface="思源黑体" panose="020F050202020403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panose="020F0502020204030204" charset="-122"/>
                <a:ea typeface="思源黑体" panose="020F0502020204030204" charset="-122"/>
                <a:cs typeface="思源黑体" panose="020F0502020204030204" charset="-122"/>
              </a:defRPr>
            </a:lvl1pPr>
          </a:lstStyle>
          <a:p>
            <a:fld id="{D2A48B96-639E-45A3-A0BA-2464DFDB1FAA}" type="datetimeFigureOut">
              <a:rPr lang="zh-CN" altLang="en-US" smtClean="0"/>
              <a:t>2024/2/28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panose="020F0502020204030204" charset="-122"/>
                <a:ea typeface="思源黑体" panose="020F0502020204030204" charset="-122"/>
                <a:cs typeface="思源黑体" panose="020F050202020403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panose="020F0502020204030204" charset="-122"/>
                <a:ea typeface="思源黑体" panose="020F0502020204030204" charset="-122"/>
                <a:cs typeface="思源黑体" panose="020F0502020204030204"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1pPr>
    <a:lvl2pPr marL="4572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2pPr>
    <a:lvl3pPr marL="9144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3pPr>
    <a:lvl4pPr marL="13716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4pPr>
    <a:lvl5pPr marL="18288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8" Type="http://schemas.openxmlformats.org/officeDocument/2006/relationships/hyperlink" Target="https://baike.baidu.com/item/%E4%BE%9D%E8%B5%96%E6%80%A7/3927846?fromModule=lemma_inlink" TargetMode="External"/><Relationship Id="rId3" Type="http://schemas.openxmlformats.org/officeDocument/2006/relationships/hyperlink" Target="https://baike.baidu.com/item/%E5%95%86%E4%B8%9A%E4%BB%B7%E5%80%BC/2494661?fromModule=lemma_inlink" TargetMode="External"/><Relationship Id="rId7" Type="http://schemas.openxmlformats.org/officeDocument/2006/relationships/hyperlink" Target="https://baike.baidu.com/item/%E4%BC%98%E5%85%88%E7%BA%A7/5643121?fromModule=lemma_inlink" TargetMode="External"/><Relationship Id="rId12" Type="http://schemas.openxmlformats.org/officeDocument/2006/relationships/hyperlink" Target="https://baike.baidu.com/item/%E5%8F%AF%E6%B5%8B%E8%AF%95%E6%80%A7/1459715?fromModule=lemma_inlink" TargetMode="External"/><Relationship Id="rId2" Type="http://schemas.openxmlformats.org/officeDocument/2006/relationships/slide" Target="../slides/slide58.xml"/><Relationship Id="rId1" Type="http://schemas.openxmlformats.org/officeDocument/2006/relationships/notesMaster" Target="../notesMasters/notesMaster1.xml"/><Relationship Id="rId6" Type="http://schemas.openxmlformats.org/officeDocument/2006/relationships/hyperlink" Target="https://baike.baidu.com/item/%E8%B5%9E%E5%8A%A9%E5%95%86/11043004?fromModule=lemma_inlink" TargetMode="External"/><Relationship Id="rId11" Type="http://schemas.openxmlformats.org/officeDocument/2006/relationships/hyperlink" Target="https://baike.baidu.com/item/Sprint/4705050?fromModule=lemma_inlink" TargetMode="External"/><Relationship Id="rId5" Type="http://schemas.openxmlformats.org/officeDocument/2006/relationships/hyperlink" Target="https://baike.baidu.com/item/%E6%88%91%E7%9A%84%E7%BD%91%E7%AB%99/10842973?fromModule=lemma_inlink" TargetMode="External"/><Relationship Id="rId10" Type="http://schemas.openxmlformats.org/officeDocument/2006/relationships/hyperlink" Target="https://baike.baidu.com/item/Small/7263446?fromModule=lemma_inlink" TargetMode="External"/><Relationship Id="rId4" Type="http://schemas.openxmlformats.org/officeDocument/2006/relationships/hyperlink" Target="https://baike.baidu.com/item/%E7%BD%91%E7%AB%99%E7%AE%A1%E7%90%86%E5%91%98/257577?fromModule=lemma_inlink" TargetMode="External"/><Relationship Id="rId9" Type="http://schemas.openxmlformats.org/officeDocument/2006/relationships/hyperlink" Target="https://baike.baidu.com/item/%E9%A2%86%E5%9F%9F%E7%9F%A5%E8%AF%86/56065431?fromModule=lemma_inlink"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365626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202186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软件测试的必要性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3</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1.1.1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迪斯尼并不总是带来笑声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3</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1.1.2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一个缺陷造成了数亿美元损失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3</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1.1.3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火星探测飞船坠毁	</a:t>
            </a:r>
            <a:endPar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1.1.4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软件测试走了捷径导致灾难再次发生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5</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1.1.5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错误指令造成骑士资本集团损失</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4.4</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亿美元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6</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1.1.6 AWS</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宕机整整</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4</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个小时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7</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1.1.7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预定的酒店住不进去、露宿街头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8</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1.1.8 Uber</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泄漏个人隐私，导致用户要求赔偿</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3</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亿多元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8</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1.1.9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更多的悲剧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9</a:t>
            </a:r>
          </a:p>
          <a:p>
            <a:pPr algn="just">
              <a:lnSpc>
                <a:spcPct val="120000"/>
              </a:lnSpc>
            </a:pPr>
            <a:endPar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1.2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为什么要进行软件测试 ？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10</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什么是软件测试 ？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1.3.1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软件测试学科的形成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1.3.2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正反两方面的争辩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12</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1.3.3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软件测试的定义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1.3.4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软件测试的其它观点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14</a:t>
            </a:r>
          </a:p>
          <a:p>
            <a:pPr algn="just">
              <a:lnSpc>
                <a:spcPct val="120000"/>
              </a:lnSpc>
            </a:pPr>
            <a:endPar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1.4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测试和质量保证的关系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15</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1.5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测试和开发的关系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16</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1.6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测试驱动开发的思想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18</a:t>
            </a:r>
          </a:p>
          <a:p>
            <a:pPr algn="just">
              <a:lnSpc>
                <a:spcPct val="120000"/>
              </a:lnSpc>
            </a:pPr>
            <a:endPar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endParaRPr>
          </a:p>
          <a:p>
            <a:pPr algn="just">
              <a:lnSpc>
                <a:spcPct val="120000"/>
              </a:lnSpc>
            </a:pP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小结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20</a:t>
            </a:r>
          </a:p>
          <a:p>
            <a:pPr algn="just">
              <a:lnSpc>
                <a:spcPct val="120000"/>
              </a:lnSpc>
            </a:pP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思考题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20</a:t>
            </a:r>
          </a:p>
          <a:p>
            <a:pPr algn="just">
              <a:lnSpc>
                <a:spcPct val="120000"/>
              </a:lnSpc>
            </a:pPr>
            <a:endPar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66096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列写本课时的学习要点，依次开始深入讲解。</a:t>
            </a:r>
          </a:p>
          <a:p>
            <a:r>
              <a:rPr lang="zh-CN" altLang="en-US" sz="1200" dirty="0">
                <a:latin typeface="微软雅黑" panose="020B0503020204020204" pitchFamily="34" charset="-122"/>
                <a:ea typeface="微软雅黑" panose="020B0503020204020204" pitchFamily="34" charset="-122"/>
              </a:rPr>
              <a:t>如有学习要求，请列写在课时要点之后。</a:t>
            </a:r>
          </a:p>
          <a:p>
            <a:r>
              <a:rPr lang="zh-CN" altLang="en-US" sz="1200" dirty="0">
                <a:latin typeface="微软雅黑" panose="020B0503020204020204" pitchFamily="34" charset="-122"/>
                <a:ea typeface="微软雅黑" panose="020B0503020204020204" pitchFamily="34" charset="-122"/>
              </a:rPr>
              <a:t>在保持内容版式整洁的前提下，重点的学习内容，请尽量详细的列写在讲义中，让大家在单独看讲义时也可以学习。</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讲义非语音讲解辅助，而是学习的一个主体。</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概念，</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学习要点的概念介绍，以及在工作中什么场景会用到</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讲解，</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工作中胜任这个能力，需要掌握的知识、技术能详细讲解</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举例，</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举一个案例或</a:t>
            </a:r>
            <a:r>
              <a:rPr lang="en"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demo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帮助大家更好理解要学习的内容，以及知道怎么用</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分享经验，</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你对这个学习要点的工作应用心得。特别是理论和实际的差异的部分。</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学习建议，</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给出一些相关学习或工作场景中使用的建议</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实用工具，</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这个学习要点对应的一些工具模板（如果有）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1189442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xfrm>
            <a:off x="-274638" y="406400"/>
            <a:ext cx="7407276" cy="4167188"/>
          </a:xfrm>
          <a:ln/>
        </p:spPr>
      </p:sp>
      <p:sp>
        <p:nvSpPr>
          <p:cNvPr id="57347"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274638" y="406400"/>
            <a:ext cx="7407276" cy="4167188"/>
          </a:xfrm>
          <a:ln/>
        </p:spPr>
      </p:sp>
      <p:sp>
        <p:nvSpPr>
          <p:cNvPr id="58371"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274638" y="406400"/>
            <a:ext cx="7407276" cy="4167188"/>
          </a:xfrm>
          <a:ln/>
        </p:spPr>
      </p:sp>
      <p:sp>
        <p:nvSpPr>
          <p:cNvPr id="59395"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xfrm>
            <a:off x="-274638" y="406400"/>
            <a:ext cx="7407276" cy="4167188"/>
          </a:xfrm>
          <a:ln/>
        </p:spPr>
      </p:sp>
      <p:sp>
        <p:nvSpPr>
          <p:cNvPr id="60419"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列写本课时的学习要点，依次开始深入讲解。</a:t>
            </a:r>
          </a:p>
          <a:p>
            <a:r>
              <a:rPr lang="zh-CN" altLang="en-US" sz="1200" dirty="0">
                <a:latin typeface="微软雅黑" panose="020B0503020204020204" pitchFamily="34" charset="-122"/>
                <a:ea typeface="微软雅黑" panose="020B0503020204020204" pitchFamily="34" charset="-122"/>
              </a:rPr>
              <a:t>如有学习要求，请列写在课时要点之后。</a:t>
            </a:r>
          </a:p>
          <a:p>
            <a:r>
              <a:rPr lang="zh-CN" altLang="en-US" sz="1200" dirty="0">
                <a:latin typeface="微软雅黑" panose="020B0503020204020204" pitchFamily="34" charset="-122"/>
                <a:ea typeface="微软雅黑" panose="020B0503020204020204" pitchFamily="34" charset="-122"/>
              </a:rPr>
              <a:t>在保持内容版式整洁的前提下，重点的学习内容，请尽量详细的列写在讲义中，让大家在单独看讲义时也可以学习。</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讲义非语音讲解辅助，而是学习的一个主体。</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概念，</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学习要点的概念介绍，以及在工作中什么场景会用到</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讲解，</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工作中胜任这个能力，需要掌握的知识、技术能详细讲解</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举例，</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举一个案例或</a:t>
            </a:r>
            <a:r>
              <a:rPr lang="en"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demo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帮助大家更好理解要学习的内容，以及知道怎么用</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分享经验，</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你对这个学习要点的工作应用心得。特别是理论和实际的差异的部分。</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学习建议，</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给出一些相关学习或工作场景中使用的建议</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实用工具，</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这个学习要点对应的一些工具模板（如果有）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1198976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274638" y="406400"/>
            <a:ext cx="7407276" cy="4167188"/>
          </a:xfrm>
          <a:ln/>
        </p:spPr>
      </p:sp>
      <p:sp>
        <p:nvSpPr>
          <p:cNvPr id="6144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1.3.1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软件测试学科的形成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1.3.2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正反两方面的争辩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12</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1.3.3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软件测试的定义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1.3.4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软件测试的其它观点</a:t>
            </a:r>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1546442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endPar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1736668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274638" y="406400"/>
            <a:ext cx="7407276" cy="4167188"/>
          </a:xfrm>
          <a:ln/>
        </p:spPr>
      </p:sp>
      <p:sp>
        <p:nvSpPr>
          <p:cNvPr id="6349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274638" y="406400"/>
            <a:ext cx="7407276" cy="4167188"/>
          </a:xfrm>
          <a:ln/>
        </p:spPr>
      </p:sp>
      <p:sp>
        <p:nvSpPr>
          <p:cNvPr id="6451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274638" y="406400"/>
            <a:ext cx="7407276" cy="4167188"/>
          </a:xfrm>
          <a:ln/>
        </p:spPr>
      </p:sp>
      <p:sp>
        <p:nvSpPr>
          <p:cNvPr id="65539"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39510422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74638" y="406400"/>
            <a:ext cx="7407276" cy="4167188"/>
          </a:xfrm>
          <a:ln/>
        </p:spPr>
      </p:sp>
      <p:sp>
        <p:nvSpPr>
          <p:cNvPr id="6656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extLst>
      <p:ext uri="{BB962C8B-B14F-4D97-AF65-F5344CB8AC3E}">
        <p14:creationId xmlns:p14="http://schemas.microsoft.com/office/powerpoint/2010/main" val="1906442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274638" y="406400"/>
            <a:ext cx="7407276" cy="4167188"/>
          </a:xfrm>
          <a:ln/>
        </p:spPr>
      </p:sp>
      <p:sp>
        <p:nvSpPr>
          <p:cNvPr id="6758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extLst>
      <p:ext uri="{BB962C8B-B14F-4D97-AF65-F5344CB8AC3E}">
        <p14:creationId xmlns:p14="http://schemas.microsoft.com/office/powerpoint/2010/main" val="27119206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274638" y="406400"/>
            <a:ext cx="7407276" cy="4167188"/>
          </a:xfrm>
          <a:ln/>
        </p:spPr>
      </p:sp>
      <p:sp>
        <p:nvSpPr>
          <p:cNvPr id="6861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extLst>
      <p:ext uri="{BB962C8B-B14F-4D97-AF65-F5344CB8AC3E}">
        <p14:creationId xmlns:p14="http://schemas.microsoft.com/office/powerpoint/2010/main" val="1251159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274638" y="406400"/>
            <a:ext cx="7407276" cy="4167188"/>
          </a:xfrm>
          <a:ln/>
        </p:spPr>
      </p:sp>
      <p:sp>
        <p:nvSpPr>
          <p:cNvPr id="6861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extLst>
      <p:ext uri="{BB962C8B-B14F-4D97-AF65-F5344CB8AC3E}">
        <p14:creationId xmlns:p14="http://schemas.microsoft.com/office/powerpoint/2010/main" val="29564380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Helvetica Neue"/>
              </a:rPr>
              <a:t>所谓缺陷模式是指程序中经常出现的错误或者导致程序出现异常的缺陷，这些缺陷有同样的产生原因，同样的表示形式，按照这些缺陷发生的规律能够提取出相同的缺陷模式。</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40</a:t>
            </a:fld>
            <a:endParaRPr lang="zh-CN" altLang="en-US"/>
          </a:p>
        </p:txBody>
      </p:sp>
    </p:spTree>
    <p:extLst>
      <p:ext uri="{BB962C8B-B14F-4D97-AF65-F5344CB8AC3E}">
        <p14:creationId xmlns:p14="http://schemas.microsoft.com/office/powerpoint/2010/main" val="2596929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xfrm>
            <a:off x="-274638" y="406400"/>
            <a:ext cx="7407276" cy="4167188"/>
          </a:xfrm>
          <a:ln/>
        </p:spPr>
      </p:sp>
      <p:sp>
        <p:nvSpPr>
          <p:cNvPr id="70659"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pPr algn="l"/>
            <a:r>
              <a:rPr lang="zh-CN" altLang="en-US" b="1" i="0" dirty="0">
                <a:solidFill>
                  <a:srgbClr val="393939"/>
                </a:solidFill>
                <a:effectLst/>
                <a:latin typeface="PingFang SC"/>
              </a:rPr>
              <a:t>为什么软件测试人员需要深入理解软件产品质量模型？</a:t>
            </a:r>
          </a:p>
          <a:p>
            <a:pPr algn="l">
              <a:buFont typeface="+mj-lt"/>
              <a:buAutoNum type="arabicPeriod"/>
            </a:pPr>
            <a:r>
              <a:rPr lang="zh-CN" altLang="en-US" b="0" i="0" dirty="0">
                <a:solidFill>
                  <a:srgbClr val="393939"/>
                </a:solidFill>
                <a:effectLst/>
                <a:latin typeface="PingFang SC"/>
              </a:rPr>
              <a:t>软件测试人员在测试产品的过程中，就像一面镜子，需要照出系统的面貌，提供开发者修改代码的依据。而这个照镜子的过程就是对质量对评估的过程，测试人员需要对有效的质量评估负责，那就要求测试人员能充分的理解产品质量的概念，那么测试人员又该如何去评判产品质量的好与坏，是否有标准或者可供分析的维度？这时就需要借助模型来进行系统的分析，这个模型就是软件产品质量模型。</a:t>
            </a:r>
          </a:p>
          <a:p>
            <a:pPr algn="l">
              <a:buFont typeface="+mj-lt"/>
              <a:buAutoNum type="arabicPeriod"/>
            </a:pPr>
            <a:r>
              <a:rPr lang="zh-CN" altLang="en-US" b="0" i="0" dirty="0">
                <a:solidFill>
                  <a:srgbClr val="393939"/>
                </a:solidFill>
                <a:effectLst/>
                <a:latin typeface="PingFang SC"/>
              </a:rPr>
              <a:t>虽然测试人员的职责不是设计产品，但是掌握了软件产品质量模型，知道了高质量的产品该具备怎样的特性，也就等于拿到了如何验证产品、评价产品质量的金钥匙。</a:t>
            </a:r>
          </a:p>
          <a:p>
            <a:endParaRPr lang="zh-CN" altLang="en-US" dirty="0">
              <a:ea typeface="宋体" charset="-122"/>
            </a:endParaRPr>
          </a:p>
        </p:txBody>
      </p:sp>
    </p:spTree>
    <p:extLst>
      <p:ext uri="{BB962C8B-B14F-4D97-AF65-F5344CB8AC3E}">
        <p14:creationId xmlns:p14="http://schemas.microsoft.com/office/powerpoint/2010/main" val="12895070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93939"/>
                </a:solidFill>
                <a:effectLst/>
                <a:latin typeface="PingFang SC"/>
              </a:rPr>
              <a:t>软件产品质量模型将一个软件产品需要满足的质量要求总结为</a:t>
            </a:r>
            <a:r>
              <a:rPr lang="en-US" altLang="zh-CN" b="0" i="0" dirty="0">
                <a:solidFill>
                  <a:srgbClr val="393939"/>
                </a:solidFill>
                <a:effectLst/>
                <a:latin typeface="PingFang SC"/>
              </a:rPr>
              <a:t>8</a:t>
            </a:r>
            <a:r>
              <a:rPr lang="zh-CN" altLang="en-US" b="0" i="0" dirty="0">
                <a:solidFill>
                  <a:srgbClr val="393939"/>
                </a:solidFill>
                <a:effectLst/>
                <a:latin typeface="PingFang SC"/>
              </a:rPr>
              <a:t>个属性：</a:t>
            </a:r>
          </a:p>
          <a:p>
            <a:pPr algn="l">
              <a:buFont typeface="+mj-lt"/>
              <a:buAutoNum type="arabicPeriod"/>
            </a:pPr>
            <a:r>
              <a:rPr lang="zh-CN" altLang="en-US" b="0" i="0" dirty="0">
                <a:solidFill>
                  <a:srgbClr val="393939"/>
                </a:solidFill>
                <a:effectLst/>
                <a:latin typeface="PingFang SC"/>
              </a:rPr>
              <a:t>功能性：指软件产品在指定条件下使用时，提供满足明示和隐含要求的功能的能力。</a:t>
            </a:r>
          </a:p>
          <a:p>
            <a:pPr algn="l">
              <a:buFont typeface="+mj-lt"/>
              <a:buAutoNum type="arabicPeriod"/>
            </a:pPr>
            <a:r>
              <a:rPr lang="zh-CN" altLang="en-US" b="0" i="0" dirty="0">
                <a:solidFill>
                  <a:srgbClr val="393939"/>
                </a:solidFill>
                <a:effectLst/>
                <a:latin typeface="PingFang SC"/>
              </a:rPr>
              <a:t>兼容性：指软件产品在共享软件或硬件的条件下，产品、系统或组件能够与其他产品、系统或组件交换信息，实现所需功能的能力。</a:t>
            </a:r>
          </a:p>
          <a:p>
            <a:pPr algn="l">
              <a:buFont typeface="+mj-lt"/>
              <a:buAutoNum type="arabicPeriod"/>
            </a:pPr>
            <a:r>
              <a:rPr lang="zh-CN" altLang="en-US" b="0" i="0" dirty="0">
                <a:solidFill>
                  <a:srgbClr val="393939"/>
                </a:solidFill>
                <a:effectLst/>
                <a:latin typeface="PingFang SC"/>
              </a:rPr>
              <a:t>安全性：指软件产品或系统保护信息和数据的程度，其可使用户、产品或系统具有与其授权类型、授权级别一致的数据访问程度。</a:t>
            </a:r>
          </a:p>
          <a:p>
            <a:pPr algn="l">
              <a:buFont typeface="+mj-lt"/>
              <a:buAutoNum type="arabicPeriod"/>
            </a:pPr>
            <a:r>
              <a:rPr lang="zh-CN" altLang="en-US" b="0" i="0" dirty="0">
                <a:solidFill>
                  <a:srgbClr val="393939"/>
                </a:solidFill>
                <a:effectLst/>
                <a:latin typeface="PingFang SC"/>
              </a:rPr>
              <a:t>可靠性：指在指定条件下使用时，软件产品维持规定的性能级别的能力。</a:t>
            </a:r>
          </a:p>
          <a:p>
            <a:pPr algn="l">
              <a:buFont typeface="+mj-lt"/>
              <a:buAutoNum type="arabicPeriod"/>
            </a:pPr>
            <a:r>
              <a:rPr lang="zh-CN" altLang="en-US" b="0" i="0" dirty="0">
                <a:solidFill>
                  <a:srgbClr val="393939"/>
                </a:solidFill>
                <a:effectLst/>
                <a:latin typeface="PingFang SC"/>
              </a:rPr>
              <a:t>易用性：指用户在指定条件下使用软件产品时，其被用户理解、学习、使用，以及吸引用户的能力，简单来说就是：易懂、易学、易用、漂亮</a:t>
            </a:r>
          </a:p>
          <a:p>
            <a:pPr algn="l">
              <a:buFont typeface="+mj-lt"/>
              <a:buAutoNum type="arabicPeriod"/>
            </a:pPr>
            <a:r>
              <a:rPr lang="zh-CN" altLang="en-US" b="0" i="0" dirty="0">
                <a:solidFill>
                  <a:srgbClr val="393939"/>
                </a:solidFill>
                <a:effectLst/>
                <a:latin typeface="PingFang SC"/>
              </a:rPr>
              <a:t>效率（性能）：指在规定条件下，相对于所用资源的数量，软件产品可提供适当性能的能力，即常说的产品性能。</a:t>
            </a:r>
          </a:p>
          <a:p>
            <a:pPr algn="l">
              <a:buFont typeface="+mj-lt"/>
              <a:buAutoNum type="arabicPeriod"/>
            </a:pPr>
            <a:r>
              <a:rPr lang="zh-CN" altLang="en-US" b="0" i="0" dirty="0">
                <a:solidFill>
                  <a:srgbClr val="393939"/>
                </a:solidFill>
                <a:effectLst/>
                <a:latin typeface="PingFang SC"/>
              </a:rPr>
              <a:t>可维护性：指软件产品可被修改的能力，比如系统升级</a:t>
            </a:r>
          </a:p>
          <a:p>
            <a:pPr algn="l">
              <a:buFont typeface="+mj-lt"/>
              <a:buAutoNum type="arabicPeriod"/>
            </a:pPr>
            <a:r>
              <a:rPr lang="zh-CN" altLang="en-US" b="0" i="0" dirty="0">
                <a:solidFill>
                  <a:srgbClr val="393939"/>
                </a:solidFill>
                <a:effectLst/>
                <a:latin typeface="PingFang SC"/>
              </a:rPr>
              <a:t>可移植性：指软件产品从一种环境迁移到另外一种环境的能力，这里的环境可以理解为硬件、软件或系统等不同的环境</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43</a:t>
            </a:fld>
            <a:endParaRPr lang="zh-CN" altLang="en-US"/>
          </a:p>
        </p:txBody>
      </p:sp>
    </p:spTree>
    <p:extLst>
      <p:ext uri="{BB962C8B-B14F-4D97-AF65-F5344CB8AC3E}">
        <p14:creationId xmlns:p14="http://schemas.microsoft.com/office/powerpoint/2010/main" val="988577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xfrm>
            <a:off x="-274638" y="406400"/>
            <a:ext cx="7407276" cy="4167188"/>
          </a:xfrm>
          <a:ln/>
        </p:spPr>
      </p:sp>
      <p:sp>
        <p:nvSpPr>
          <p:cNvPr id="70659"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dirty="0">
              <a:ea typeface="宋体"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xfrm>
            <a:off x="-274638" y="406400"/>
            <a:ext cx="7407276" cy="4167188"/>
          </a:xfrm>
          <a:ln/>
        </p:spPr>
      </p:sp>
      <p:sp>
        <p:nvSpPr>
          <p:cNvPr id="70659"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r>
              <a:rPr lang="en-US" altLang="zh-CN" dirty="0">
                <a:ea typeface="宋体" charset="-122"/>
              </a:rPr>
              <a:t>Fail cost </a:t>
            </a:r>
            <a:r>
              <a:rPr lang="zh-CN" altLang="en-US" dirty="0">
                <a:ea typeface="宋体" charset="-122"/>
              </a:rPr>
              <a:t>：缺陷造成的损失；</a:t>
            </a:r>
            <a:endParaRPr lang="en-US" altLang="zh-CN" dirty="0">
              <a:ea typeface="宋体" charset="-122"/>
            </a:endParaRPr>
          </a:p>
          <a:p>
            <a:r>
              <a:rPr lang="en-US" altLang="zh-CN" dirty="0">
                <a:ea typeface="宋体" charset="-122"/>
              </a:rPr>
              <a:t>Prevention cost : </a:t>
            </a:r>
            <a:r>
              <a:rPr lang="zh-CN" altLang="en-US" dirty="0">
                <a:ea typeface="宋体" charset="-122"/>
              </a:rPr>
              <a:t>测试的成本</a:t>
            </a:r>
          </a:p>
        </p:txBody>
      </p:sp>
    </p:spTree>
    <p:extLst>
      <p:ext uri="{BB962C8B-B14F-4D97-AF65-F5344CB8AC3E}">
        <p14:creationId xmlns:p14="http://schemas.microsoft.com/office/powerpoint/2010/main" val="126358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4D4D4D"/>
                </a:solidFill>
                <a:effectLst/>
                <a:latin typeface="-apple-system"/>
              </a:rPr>
              <a:t>Test Oracle</a:t>
            </a:r>
            <a:r>
              <a:rPr lang="zh-CN" altLang="en-US" b="0" i="0" dirty="0">
                <a:solidFill>
                  <a:srgbClr val="4D4D4D"/>
                </a:solidFill>
                <a:effectLst/>
                <a:latin typeface="-apple-system"/>
              </a:rPr>
              <a:t>：在测试理论中，</a:t>
            </a:r>
            <a:r>
              <a:rPr lang="en-US" altLang="zh-CN" b="0" i="0" dirty="0">
                <a:solidFill>
                  <a:srgbClr val="4D4D4D"/>
                </a:solidFill>
                <a:effectLst/>
                <a:latin typeface="-apple-system"/>
              </a:rPr>
              <a:t>Test Oracle</a:t>
            </a:r>
            <a:r>
              <a:rPr lang="zh-CN" altLang="en-US" b="0" i="0" dirty="0">
                <a:solidFill>
                  <a:srgbClr val="4D4D4D"/>
                </a:solidFill>
                <a:effectLst/>
                <a:latin typeface="-apple-system"/>
              </a:rPr>
              <a:t>是一种用于判断测试用例是否执行成功的机制。最简单的</a:t>
            </a:r>
            <a:r>
              <a:rPr lang="en-US" altLang="zh-CN" b="0" i="0" dirty="0">
                <a:solidFill>
                  <a:srgbClr val="4D4D4D"/>
                </a:solidFill>
                <a:effectLst/>
                <a:latin typeface="-apple-system"/>
              </a:rPr>
              <a:t>Test Oracle</a:t>
            </a:r>
            <a:r>
              <a:rPr lang="zh-CN" altLang="en-US" b="0" i="0" dirty="0">
                <a:solidFill>
                  <a:srgbClr val="4D4D4D"/>
                </a:solidFill>
                <a:effectLst/>
                <a:latin typeface="-apple-system"/>
              </a:rPr>
              <a:t>可以是单元测试中的</a:t>
            </a:r>
            <a:r>
              <a:rPr lang="en-US" altLang="zh-CN" b="0" i="0" dirty="0">
                <a:solidFill>
                  <a:srgbClr val="4D4D4D"/>
                </a:solidFill>
                <a:effectLst/>
                <a:latin typeface="-apple-system"/>
              </a:rPr>
              <a:t>assert</a:t>
            </a:r>
            <a:r>
              <a:rPr lang="zh-CN" altLang="en-US" b="0" i="0" dirty="0">
                <a:solidFill>
                  <a:srgbClr val="4D4D4D"/>
                </a:solidFill>
                <a:effectLst/>
                <a:latin typeface="-apple-system"/>
              </a:rPr>
              <a:t>语句，其他数据库也可以作为</a:t>
            </a:r>
            <a:r>
              <a:rPr lang="en-US" altLang="zh-CN" b="0" i="0" dirty="0">
                <a:solidFill>
                  <a:srgbClr val="4D4D4D"/>
                </a:solidFill>
                <a:effectLst/>
                <a:latin typeface="-apple-system"/>
              </a:rPr>
              <a:t>Test Oracle</a:t>
            </a:r>
            <a:r>
              <a:rPr lang="zh-CN" altLang="en-US" b="0" i="0" dirty="0">
                <a:solidFill>
                  <a:srgbClr val="4D4D4D"/>
                </a:solidFill>
                <a:effectLst/>
                <a:latin typeface="-apple-system"/>
              </a:rPr>
              <a:t>。</a:t>
            </a:r>
            <a:endParaRPr lang="en-US" altLang="zh-CN" b="0" i="0" dirty="0">
              <a:solidFill>
                <a:srgbClr val="4D4D4D"/>
              </a:solidFill>
              <a:effectLst/>
              <a:latin typeface="-apple-system"/>
            </a:endParaRPr>
          </a:p>
          <a:p>
            <a:r>
              <a:rPr lang="zh-CN" altLang="en-US" b="0" i="0" dirty="0">
                <a:solidFill>
                  <a:srgbClr val="333333"/>
                </a:solidFill>
                <a:effectLst/>
                <a:latin typeface="Arial" panose="020B0604020202020204" pitchFamily="34" charset="0"/>
              </a:rPr>
              <a:t>被测试系统：</a:t>
            </a:r>
            <a:r>
              <a:rPr lang="en-US" altLang="zh-CN" b="0" i="0" dirty="0">
                <a:solidFill>
                  <a:srgbClr val="333333"/>
                </a:solidFill>
                <a:effectLst/>
                <a:latin typeface="Arial" panose="020B0604020202020204" pitchFamily="34" charset="0"/>
              </a:rPr>
              <a:t>System under test</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SUT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25992980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1.3.1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软件测试学科的形成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1.3.2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正反两方面的争辩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12</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1.3.3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软件测试的定义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1.3.4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软件测试的其它观点</a:t>
            </a:r>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48</a:t>
            </a:fld>
            <a:endParaRPr lang="zh-CN" altLang="en-US"/>
          </a:p>
        </p:txBody>
      </p:sp>
    </p:spTree>
    <p:extLst>
      <p:ext uri="{BB962C8B-B14F-4D97-AF65-F5344CB8AC3E}">
        <p14:creationId xmlns:p14="http://schemas.microsoft.com/office/powerpoint/2010/main" val="8433715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382588" y="685800"/>
            <a:ext cx="6094412" cy="3429000"/>
          </a:xfrm>
          <a:ln/>
        </p:spPr>
      </p:sp>
      <p:sp>
        <p:nvSpPr>
          <p:cNvPr id="69635"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extLst>
      <p:ext uri="{BB962C8B-B14F-4D97-AF65-F5344CB8AC3E}">
        <p14:creationId xmlns:p14="http://schemas.microsoft.com/office/powerpoint/2010/main" val="36595739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274638" y="406400"/>
            <a:ext cx="7407276" cy="4167188"/>
          </a:xfrm>
          <a:ln/>
        </p:spPr>
      </p:sp>
      <p:sp>
        <p:nvSpPr>
          <p:cNvPr id="7168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extLst>
      <p:ext uri="{BB962C8B-B14F-4D97-AF65-F5344CB8AC3E}">
        <p14:creationId xmlns:p14="http://schemas.microsoft.com/office/powerpoint/2010/main" val="24938828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1.3.1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软件测试学科的形成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1.3.2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正反两方面的争辩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12</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1.3.3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软件测试的定义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1.3.4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软件测试的其它观点</a:t>
            </a:r>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2160858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1.3.1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软件测试学科的形成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11</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1.3.2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正反两方面的争辩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12</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1.3.3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软件测试的定义	</a:t>
            </a: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a:t>
            </a: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1.3.4 </a:t>
            </a:r>
            <a:r>
              <a:rPr lang="zh-CN" altLang="en-US"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软件测试的其它观点</a:t>
            </a:r>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55</a:t>
            </a:fld>
            <a:endParaRPr lang="zh-CN" altLang="en-US"/>
          </a:p>
        </p:txBody>
      </p:sp>
    </p:spTree>
    <p:extLst>
      <p:ext uri="{BB962C8B-B14F-4D97-AF65-F5344CB8AC3E}">
        <p14:creationId xmlns:p14="http://schemas.microsoft.com/office/powerpoint/2010/main" val="35605067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274638" y="406400"/>
            <a:ext cx="7407276" cy="4167188"/>
          </a:xfrm>
          <a:ln/>
        </p:spPr>
      </p:sp>
      <p:sp>
        <p:nvSpPr>
          <p:cNvPr id="7270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xfrm>
            <a:off x="-274638" y="406400"/>
            <a:ext cx="7407276" cy="4167188"/>
          </a:xfrm>
          <a:ln/>
        </p:spPr>
      </p:sp>
      <p:sp>
        <p:nvSpPr>
          <p:cNvPr id="73731"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pPr algn="l" latinLnBrk="1"/>
            <a:endParaRPr lang="en-US" altLang="zh-CN" sz="1800" b="0" i="0" baseline="-25000" dirty="0">
              <a:solidFill>
                <a:srgbClr val="000000"/>
              </a:solidFill>
              <a:effectLst/>
              <a:latin typeface="Helvetica Neue"/>
            </a:endParaRPr>
          </a:p>
          <a:p>
            <a:pPr algn="l" latinLnBrk="1"/>
            <a:r>
              <a:rPr lang="en-US" altLang="zh-CN" b="0" i="0" dirty="0">
                <a:solidFill>
                  <a:srgbClr val="000000"/>
                </a:solidFill>
                <a:effectLst/>
                <a:latin typeface="Helvetica Neue"/>
              </a:rPr>
              <a:t>CRC</a:t>
            </a:r>
            <a:r>
              <a:rPr lang="zh-CN" altLang="en-US" b="0" i="0" dirty="0">
                <a:solidFill>
                  <a:srgbClr val="000000"/>
                </a:solidFill>
                <a:effectLst/>
                <a:latin typeface="Helvetica Neue"/>
              </a:rPr>
              <a:t>卡</a:t>
            </a:r>
            <a:endParaRPr lang="en-US" altLang="zh-CN" b="0" i="0" dirty="0">
              <a:solidFill>
                <a:srgbClr val="000000"/>
              </a:solidFill>
              <a:effectLst/>
              <a:latin typeface="Helvetica Neue"/>
            </a:endParaRPr>
          </a:p>
          <a:p>
            <a:pPr algn="l"/>
            <a:r>
              <a:rPr lang="zh-CN" altLang="en-US" b="0" i="0" dirty="0">
                <a:solidFill>
                  <a:srgbClr val="333333"/>
                </a:solidFill>
                <a:effectLst/>
                <a:latin typeface="Helvetica Neue"/>
              </a:rPr>
              <a:t>在</a:t>
            </a:r>
            <a:r>
              <a:rPr lang="en-US" altLang="zh-CN" b="0" i="0" dirty="0">
                <a:solidFill>
                  <a:srgbClr val="333333"/>
                </a:solidFill>
                <a:effectLst/>
                <a:latin typeface="Helvetica Neue"/>
              </a:rPr>
              <a:t>CRC</a:t>
            </a:r>
            <a:r>
              <a:rPr lang="zh-CN" altLang="en-US" b="0" i="0" dirty="0">
                <a:solidFill>
                  <a:srgbClr val="333333"/>
                </a:solidFill>
                <a:effectLst/>
                <a:latin typeface="Helvetica Neue"/>
              </a:rPr>
              <a:t>建模中，用户、设计者、开发人员都有参与，完成对整个面向对象工程的设计。</a:t>
            </a:r>
          </a:p>
          <a:p>
            <a:pPr algn="l"/>
            <a:r>
              <a:rPr lang="en-US" altLang="zh-CN" b="0" i="0" dirty="0">
                <a:solidFill>
                  <a:srgbClr val="333333"/>
                </a:solidFill>
                <a:effectLst/>
                <a:latin typeface="Helvetica Neue"/>
              </a:rPr>
              <a:t>CRC</a:t>
            </a:r>
            <a:r>
              <a:rPr lang="zh-CN" altLang="en-US" b="0" i="0" dirty="0">
                <a:solidFill>
                  <a:srgbClr val="333333"/>
                </a:solidFill>
                <a:effectLst/>
                <a:latin typeface="Helvetica Neue"/>
              </a:rPr>
              <a:t>卡是一个标准索引卡集合，每一张卡片表示一个类。</a:t>
            </a:r>
          </a:p>
          <a:p>
            <a:pPr algn="l"/>
            <a:r>
              <a:rPr lang="zh-CN" altLang="en-US" b="0" i="0" dirty="0">
                <a:solidFill>
                  <a:srgbClr val="333333"/>
                </a:solidFill>
                <a:effectLst/>
                <a:latin typeface="Helvetica Neue"/>
              </a:rPr>
              <a:t>类名在最上方，类的职责在左侧，类的协作关系放在右侧。</a:t>
            </a:r>
          </a:p>
          <a:p>
            <a:endParaRPr lang="zh-CN" altLang="en-US" dirty="0">
              <a:ea typeface="宋体"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Helvetica Neue"/>
              </a:rPr>
              <a:t>用户故事（</a:t>
            </a:r>
            <a:r>
              <a:rPr lang="en-US" altLang="zh-CN" b="0" i="0" dirty="0">
                <a:solidFill>
                  <a:srgbClr val="333333"/>
                </a:solidFill>
                <a:effectLst/>
                <a:latin typeface="Helvetica Neue"/>
              </a:rPr>
              <a:t>user story</a:t>
            </a:r>
            <a:r>
              <a:rPr lang="zh-CN" altLang="en-US" b="0" i="0" dirty="0">
                <a:solidFill>
                  <a:srgbClr val="333333"/>
                </a:solidFill>
                <a:effectLst/>
                <a:latin typeface="Helvetica Neue"/>
              </a:rPr>
              <a:t>）是从用户的角度来描述用户渴望得到的功能。一个好的用户故事包括三个要素：</a:t>
            </a:r>
          </a:p>
          <a:p>
            <a:pPr algn="l"/>
            <a:r>
              <a:rPr lang="en-US" altLang="zh-CN" b="0" i="0" dirty="0">
                <a:solidFill>
                  <a:srgbClr val="333333"/>
                </a:solidFill>
                <a:effectLst/>
                <a:latin typeface="Helvetica Neue"/>
              </a:rPr>
              <a:t>1. </a:t>
            </a:r>
            <a:r>
              <a:rPr lang="zh-CN" altLang="en-US" b="0" i="0" dirty="0">
                <a:solidFill>
                  <a:srgbClr val="333333"/>
                </a:solidFill>
                <a:effectLst/>
                <a:latin typeface="Helvetica Neue"/>
              </a:rPr>
              <a:t>角色：谁要使用这个功能。</a:t>
            </a:r>
          </a:p>
          <a:p>
            <a:pPr algn="l"/>
            <a:r>
              <a:rPr lang="en-US" altLang="zh-CN" b="0" i="0" dirty="0">
                <a:solidFill>
                  <a:srgbClr val="333333"/>
                </a:solidFill>
                <a:effectLst/>
                <a:latin typeface="Helvetica Neue"/>
              </a:rPr>
              <a:t>2. </a:t>
            </a:r>
            <a:r>
              <a:rPr lang="zh-CN" altLang="en-US" b="0" i="0" dirty="0">
                <a:solidFill>
                  <a:srgbClr val="333333"/>
                </a:solidFill>
                <a:effectLst/>
                <a:latin typeface="Helvetica Neue"/>
              </a:rPr>
              <a:t>活动：需要完成什么样的功能或目标。</a:t>
            </a:r>
          </a:p>
          <a:p>
            <a:pPr algn="l"/>
            <a:r>
              <a:rPr lang="en-US" altLang="zh-CN" b="0" i="0" dirty="0">
                <a:solidFill>
                  <a:srgbClr val="333333"/>
                </a:solidFill>
                <a:effectLst/>
                <a:latin typeface="Helvetica Neue"/>
              </a:rPr>
              <a:t>3. </a:t>
            </a:r>
            <a:r>
              <a:rPr lang="zh-CN" altLang="en-US" b="0" i="0" u="none" strike="noStrike" dirty="0">
                <a:solidFill>
                  <a:srgbClr val="136EC2"/>
                </a:solidFill>
                <a:effectLst/>
                <a:latin typeface="Helvetica Neue"/>
                <a:hlinkClick r:id="rId3"/>
              </a:rPr>
              <a:t>商业价值</a:t>
            </a:r>
            <a:r>
              <a:rPr lang="zh-CN" altLang="en-US" b="0" i="0" dirty="0">
                <a:solidFill>
                  <a:srgbClr val="333333"/>
                </a:solidFill>
                <a:effectLst/>
                <a:latin typeface="Helvetica Neue"/>
              </a:rPr>
              <a:t>：为什么需要这个功能，这个功能带来什么样的价值。</a:t>
            </a:r>
          </a:p>
          <a:p>
            <a:pPr algn="l"/>
            <a:r>
              <a:rPr lang="zh-CN" altLang="en-US" b="0" i="0" dirty="0">
                <a:solidFill>
                  <a:srgbClr val="333333"/>
                </a:solidFill>
                <a:effectLst/>
                <a:latin typeface="Helvetica Neue"/>
              </a:rPr>
              <a:t>用户故事通常按照如下的格式来表达：</a:t>
            </a:r>
          </a:p>
          <a:p>
            <a:pPr algn="l"/>
            <a:r>
              <a:rPr lang="zh-CN" altLang="en-US" b="0" i="0" dirty="0">
                <a:solidFill>
                  <a:srgbClr val="333333"/>
                </a:solidFill>
                <a:effectLst/>
                <a:latin typeface="Helvetica Neue"/>
              </a:rPr>
              <a:t>英文：</a:t>
            </a:r>
          </a:p>
          <a:p>
            <a:pPr algn="l"/>
            <a:r>
              <a:rPr lang="en-US" altLang="zh-CN" b="0" i="0" dirty="0">
                <a:solidFill>
                  <a:srgbClr val="333333"/>
                </a:solidFill>
                <a:effectLst/>
                <a:latin typeface="Helvetica Neue"/>
              </a:rPr>
              <a:t>As a &lt;Role&gt;, I want to &lt;Activity&gt;, so that &lt;Business Value&gt;.</a:t>
            </a:r>
          </a:p>
          <a:p>
            <a:pPr algn="l"/>
            <a:r>
              <a:rPr lang="zh-CN" altLang="en-US" b="0" i="0" dirty="0">
                <a:solidFill>
                  <a:srgbClr val="333333"/>
                </a:solidFill>
                <a:effectLst/>
                <a:latin typeface="Helvetica Neue"/>
              </a:rPr>
              <a:t>中文：</a:t>
            </a:r>
          </a:p>
          <a:p>
            <a:pPr algn="l"/>
            <a:r>
              <a:rPr lang="zh-CN" altLang="en-US" b="0" i="0" dirty="0">
                <a:solidFill>
                  <a:srgbClr val="333333"/>
                </a:solidFill>
                <a:effectLst/>
                <a:latin typeface="Helvetica Neue"/>
              </a:rPr>
              <a:t>作为一个</a:t>
            </a:r>
            <a:r>
              <a:rPr lang="en-US" altLang="zh-CN" b="0" i="0" dirty="0">
                <a:solidFill>
                  <a:srgbClr val="333333"/>
                </a:solidFill>
                <a:effectLst/>
                <a:latin typeface="Helvetica Neue"/>
              </a:rPr>
              <a:t>&lt;</a:t>
            </a:r>
            <a:r>
              <a:rPr lang="zh-CN" altLang="en-US" b="0" i="0" dirty="0">
                <a:solidFill>
                  <a:srgbClr val="333333"/>
                </a:solidFill>
                <a:effectLst/>
                <a:latin typeface="Helvetica Neue"/>
              </a:rPr>
              <a:t>角色</a:t>
            </a:r>
            <a:r>
              <a:rPr lang="en-US" altLang="zh-CN" b="0" i="0" dirty="0">
                <a:solidFill>
                  <a:srgbClr val="333333"/>
                </a:solidFill>
                <a:effectLst/>
                <a:latin typeface="Helvetica Neue"/>
              </a:rPr>
              <a:t>&gt;, </a:t>
            </a:r>
            <a:r>
              <a:rPr lang="zh-CN" altLang="en-US" b="0" i="0" dirty="0">
                <a:solidFill>
                  <a:srgbClr val="333333"/>
                </a:solidFill>
                <a:effectLst/>
                <a:latin typeface="Helvetica Neue"/>
              </a:rPr>
              <a:t>我想要</a:t>
            </a:r>
            <a:r>
              <a:rPr lang="en-US" altLang="zh-CN" b="0" i="0" dirty="0">
                <a:solidFill>
                  <a:srgbClr val="333333"/>
                </a:solidFill>
                <a:effectLst/>
                <a:latin typeface="Helvetica Neue"/>
              </a:rPr>
              <a:t>&lt;</a:t>
            </a:r>
            <a:r>
              <a:rPr lang="zh-CN" altLang="en-US" b="0" i="0" dirty="0">
                <a:solidFill>
                  <a:srgbClr val="333333"/>
                </a:solidFill>
                <a:effectLst/>
                <a:latin typeface="Helvetica Neue"/>
              </a:rPr>
              <a:t>活动</a:t>
            </a:r>
            <a:r>
              <a:rPr lang="en-US" altLang="zh-CN" b="0" i="0" dirty="0">
                <a:solidFill>
                  <a:srgbClr val="333333"/>
                </a:solidFill>
                <a:effectLst/>
                <a:latin typeface="Helvetica Neue"/>
              </a:rPr>
              <a:t>&gt;, </a:t>
            </a:r>
            <a:r>
              <a:rPr lang="zh-CN" altLang="en-US" b="0" i="0" dirty="0">
                <a:solidFill>
                  <a:srgbClr val="333333"/>
                </a:solidFill>
                <a:effectLst/>
                <a:latin typeface="Helvetica Neue"/>
              </a:rPr>
              <a:t>以便于</a:t>
            </a:r>
            <a:r>
              <a:rPr lang="en-US" altLang="zh-CN" b="0" i="0" dirty="0">
                <a:solidFill>
                  <a:srgbClr val="333333"/>
                </a:solidFill>
                <a:effectLst/>
                <a:latin typeface="Helvetica Neue"/>
              </a:rPr>
              <a:t>&lt;</a:t>
            </a:r>
            <a:r>
              <a:rPr lang="zh-CN" altLang="en-US" b="0" i="0" u="none" strike="noStrike" dirty="0">
                <a:solidFill>
                  <a:srgbClr val="136EC2"/>
                </a:solidFill>
                <a:effectLst/>
                <a:latin typeface="Helvetica Neue"/>
                <a:hlinkClick r:id="rId3"/>
              </a:rPr>
              <a:t>商业价值</a:t>
            </a:r>
            <a:r>
              <a:rPr lang="en-US" altLang="zh-CN" b="0" i="0" dirty="0">
                <a:solidFill>
                  <a:srgbClr val="333333"/>
                </a:solidFill>
                <a:effectLst/>
                <a:latin typeface="Helvetica Neue"/>
              </a:rPr>
              <a:t>&gt;</a:t>
            </a:r>
          </a:p>
          <a:p>
            <a:pPr algn="l"/>
            <a:r>
              <a:rPr lang="zh-CN" altLang="en-US" b="0" i="0" dirty="0">
                <a:solidFill>
                  <a:srgbClr val="333333"/>
                </a:solidFill>
                <a:effectLst/>
                <a:latin typeface="Helvetica Neue"/>
              </a:rPr>
              <a:t>举例：</a:t>
            </a:r>
          </a:p>
          <a:p>
            <a:pPr algn="l"/>
            <a:r>
              <a:rPr lang="zh-CN" altLang="en-US" b="0" i="0" dirty="0">
                <a:solidFill>
                  <a:srgbClr val="333333"/>
                </a:solidFill>
                <a:effectLst/>
                <a:latin typeface="Helvetica Neue"/>
              </a:rPr>
              <a:t>作为一个“</a:t>
            </a:r>
            <a:r>
              <a:rPr lang="zh-CN" altLang="en-US" b="0" i="0" u="none" strike="noStrike" dirty="0">
                <a:solidFill>
                  <a:srgbClr val="136EC2"/>
                </a:solidFill>
                <a:effectLst/>
                <a:latin typeface="Helvetica Neue"/>
                <a:hlinkClick r:id="rId4"/>
              </a:rPr>
              <a:t>网站管理员</a:t>
            </a:r>
            <a:r>
              <a:rPr lang="zh-CN" altLang="en-US" b="0" i="0" dirty="0">
                <a:solidFill>
                  <a:srgbClr val="333333"/>
                </a:solidFill>
                <a:effectLst/>
                <a:latin typeface="Helvetica Neue"/>
              </a:rPr>
              <a:t>”，我想要“统计每天有多少人访问了</a:t>
            </a:r>
            <a:r>
              <a:rPr lang="zh-CN" altLang="en-US" b="0" i="0" u="none" strike="noStrike" dirty="0">
                <a:solidFill>
                  <a:srgbClr val="136EC2"/>
                </a:solidFill>
                <a:effectLst/>
                <a:latin typeface="Helvetica Neue"/>
                <a:hlinkClick r:id="rId5"/>
              </a:rPr>
              <a:t>我的网站</a:t>
            </a:r>
            <a:r>
              <a:rPr lang="zh-CN" altLang="en-US" b="0" i="0" dirty="0">
                <a:solidFill>
                  <a:srgbClr val="333333"/>
                </a:solidFill>
                <a:effectLst/>
                <a:latin typeface="Helvetica Neue"/>
              </a:rPr>
              <a:t>”，以便于“我的</a:t>
            </a:r>
            <a:r>
              <a:rPr lang="zh-CN" altLang="en-US" b="0" i="0" u="none" strike="noStrike" dirty="0">
                <a:solidFill>
                  <a:srgbClr val="136EC2"/>
                </a:solidFill>
                <a:effectLst/>
                <a:latin typeface="Helvetica Neue"/>
                <a:hlinkClick r:id="rId6"/>
              </a:rPr>
              <a:t>赞助商</a:t>
            </a:r>
            <a:r>
              <a:rPr lang="zh-CN" altLang="en-US" b="0" i="0" dirty="0">
                <a:solidFill>
                  <a:srgbClr val="333333"/>
                </a:solidFill>
                <a:effectLst/>
                <a:latin typeface="Helvetica Neue"/>
              </a:rPr>
              <a:t>了解我的网站会给他们带来什么收益。”</a:t>
            </a:r>
          </a:p>
          <a:p>
            <a:pPr algn="l"/>
            <a:r>
              <a:rPr lang="zh-CN" altLang="en-US" b="0" i="0" dirty="0">
                <a:solidFill>
                  <a:srgbClr val="333333"/>
                </a:solidFill>
                <a:effectLst/>
                <a:latin typeface="Helvetica Neue"/>
              </a:rPr>
              <a:t>需要注意的是用户故事不能够使用技术语言来描述，要使用用户可以理解的业务语言来描述。</a:t>
            </a:r>
          </a:p>
          <a:p>
            <a:pPr algn="l"/>
            <a:r>
              <a:rPr lang="zh-CN" altLang="en-US" b="0" i="0" dirty="0">
                <a:solidFill>
                  <a:srgbClr val="333333"/>
                </a:solidFill>
                <a:effectLst/>
                <a:latin typeface="Helvetica Neue"/>
              </a:rPr>
              <a:t>用户故事的六个特性</a:t>
            </a:r>
            <a:r>
              <a:rPr lang="en-US" altLang="zh-CN" b="0" i="0" dirty="0">
                <a:solidFill>
                  <a:srgbClr val="333333"/>
                </a:solidFill>
                <a:effectLst/>
                <a:latin typeface="Helvetica Neue"/>
              </a:rPr>
              <a:t>- INVEST</a:t>
            </a:r>
          </a:p>
          <a:p>
            <a:pPr algn="l"/>
            <a:r>
              <a:rPr lang="en-US" altLang="zh-CN" b="0" i="0" dirty="0">
                <a:solidFill>
                  <a:srgbClr val="333333"/>
                </a:solidFill>
                <a:effectLst/>
                <a:latin typeface="Helvetica Neue"/>
              </a:rPr>
              <a:t>INVEST = Independent, Negotiable, Valuable, Estimable, Small, Testable</a:t>
            </a:r>
          </a:p>
          <a:p>
            <a:pPr algn="l"/>
            <a:r>
              <a:rPr lang="zh-CN" altLang="en-US" b="0" i="0" dirty="0">
                <a:solidFill>
                  <a:srgbClr val="333333"/>
                </a:solidFill>
                <a:effectLst/>
                <a:latin typeface="Helvetica Neue"/>
              </a:rPr>
              <a:t>一个好的用户故事应该遵循</a:t>
            </a:r>
            <a:r>
              <a:rPr lang="en-US" altLang="zh-CN" b="0" i="0" dirty="0">
                <a:solidFill>
                  <a:srgbClr val="333333"/>
                </a:solidFill>
                <a:effectLst/>
                <a:latin typeface="Helvetica Neue"/>
              </a:rPr>
              <a:t>INVEST</a:t>
            </a:r>
            <a:r>
              <a:rPr lang="zh-CN" altLang="en-US" b="0" i="0" dirty="0">
                <a:solidFill>
                  <a:srgbClr val="333333"/>
                </a:solidFill>
                <a:effectLst/>
                <a:latin typeface="Helvetica Neue"/>
              </a:rPr>
              <a:t>原则。</a:t>
            </a:r>
          </a:p>
          <a:p>
            <a:pPr algn="l"/>
            <a:r>
              <a:rPr lang="zh-CN" altLang="en-US" b="0" i="0" dirty="0">
                <a:solidFill>
                  <a:srgbClr val="333333"/>
                </a:solidFill>
                <a:effectLst/>
                <a:latin typeface="Helvetica Neue"/>
              </a:rPr>
              <a:t>独立性（</a:t>
            </a:r>
            <a:r>
              <a:rPr lang="en-US" altLang="zh-CN" b="0" i="0" dirty="0">
                <a:solidFill>
                  <a:srgbClr val="333333"/>
                </a:solidFill>
                <a:effectLst/>
                <a:latin typeface="Helvetica Neue"/>
              </a:rPr>
              <a:t>Independent</a:t>
            </a:r>
            <a:r>
              <a:rPr lang="zh-CN" altLang="en-US" b="0"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要尽可能的让一个用户故事独立于其他的用户故事。用户故事之间的依赖使得制定计划，确定</a:t>
            </a:r>
            <a:r>
              <a:rPr lang="zh-CN" altLang="en-US" b="0" i="0" u="none" strike="noStrike" dirty="0">
                <a:solidFill>
                  <a:srgbClr val="136EC2"/>
                </a:solidFill>
                <a:effectLst/>
                <a:latin typeface="Helvetica Neue"/>
                <a:hlinkClick r:id="rId7"/>
              </a:rPr>
              <a:t>优先级</a:t>
            </a:r>
            <a:r>
              <a:rPr lang="zh-CN" altLang="en-US" b="0" i="0" dirty="0">
                <a:solidFill>
                  <a:srgbClr val="333333"/>
                </a:solidFill>
                <a:effectLst/>
                <a:latin typeface="Helvetica Neue"/>
              </a:rPr>
              <a:t>，工作量估算都变得很困难。通常我们可以通过组合用户故事和分解用户故事来减少</a:t>
            </a:r>
            <a:r>
              <a:rPr lang="zh-CN" altLang="en-US" b="0" i="0" u="none" strike="noStrike" dirty="0">
                <a:solidFill>
                  <a:srgbClr val="136EC2"/>
                </a:solidFill>
                <a:effectLst/>
                <a:latin typeface="Helvetica Neue"/>
                <a:hlinkClick r:id="rId8"/>
              </a:rPr>
              <a:t>依赖性</a:t>
            </a:r>
            <a:r>
              <a:rPr lang="zh-CN" altLang="en-US" b="0" i="0" dirty="0">
                <a:solidFill>
                  <a:srgbClr val="333333"/>
                </a:solidFill>
                <a:effectLst/>
                <a:latin typeface="Helvetica Neue"/>
              </a:rPr>
              <a:t>。</a:t>
            </a:r>
          </a:p>
          <a:p>
            <a:pPr algn="l"/>
            <a:r>
              <a:rPr lang="zh-CN" altLang="en-US" b="0" i="0" dirty="0">
                <a:solidFill>
                  <a:srgbClr val="333333"/>
                </a:solidFill>
                <a:effectLst/>
                <a:latin typeface="Helvetica Neue"/>
              </a:rPr>
              <a:t>可协商性（</a:t>
            </a:r>
            <a:r>
              <a:rPr lang="en-US" altLang="zh-CN" b="0" i="0" dirty="0">
                <a:solidFill>
                  <a:srgbClr val="333333"/>
                </a:solidFill>
                <a:effectLst/>
                <a:latin typeface="Helvetica Neue"/>
              </a:rPr>
              <a:t>Negotiable</a:t>
            </a:r>
            <a:r>
              <a:rPr lang="zh-CN" altLang="en-US" b="0"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一个用户故事的内容要是可以协商的，用户故事不是合同。一个用户故事卡片上只是对用户故事的一个简短的描述，不包括太多的细节。具体的细节在沟通阶段产出。一个用户故事卡带有了太多的细节，实际上限制了和用户的沟通。</a:t>
            </a:r>
          </a:p>
          <a:p>
            <a:pPr algn="l"/>
            <a:r>
              <a:rPr lang="zh-CN" altLang="en-US" b="0" i="0" dirty="0">
                <a:solidFill>
                  <a:srgbClr val="333333"/>
                </a:solidFill>
                <a:effectLst/>
                <a:latin typeface="Helvetica Neue"/>
              </a:rPr>
              <a:t>有价值（</a:t>
            </a:r>
            <a:r>
              <a:rPr lang="en-US" altLang="zh-CN" b="0" i="0" dirty="0">
                <a:solidFill>
                  <a:srgbClr val="333333"/>
                </a:solidFill>
                <a:effectLst/>
                <a:latin typeface="Helvetica Neue"/>
              </a:rPr>
              <a:t>Valuable</a:t>
            </a:r>
            <a:r>
              <a:rPr lang="zh-CN" altLang="en-US" b="0"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每个故事必须对客户具有价值（无论是用户还是购买方）。一个让用户故事有价值的好方法是让客户来写下它们。一旦一个客户意识到这是一个用户故事并不是一个契约而且可以进行协商的时候，他们将非常乐意写下故事。</a:t>
            </a:r>
          </a:p>
          <a:p>
            <a:pPr algn="l"/>
            <a:r>
              <a:rPr lang="zh-CN" altLang="en-US" b="0" i="0" dirty="0">
                <a:solidFill>
                  <a:srgbClr val="333333"/>
                </a:solidFill>
                <a:effectLst/>
                <a:latin typeface="Helvetica Neue"/>
              </a:rPr>
              <a:t>可以估算性（</a:t>
            </a:r>
            <a:r>
              <a:rPr lang="en-US" altLang="zh-CN" b="0" i="0" dirty="0">
                <a:solidFill>
                  <a:srgbClr val="333333"/>
                </a:solidFill>
                <a:effectLst/>
                <a:latin typeface="Helvetica Neue"/>
              </a:rPr>
              <a:t>Estimable</a:t>
            </a:r>
            <a:r>
              <a:rPr lang="zh-CN" altLang="en-US" b="0" i="0" dirty="0">
                <a:solidFill>
                  <a:srgbClr val="333333"/>
                </a:solidFill>
                <a:effectLst/>
                <a:latin typeface="Helvetica Neue"/>
              </a:rPr>
              <a:t>）</a:t>
            </a:r>
            <a:r>
              <a:rPr lang="en-US" altLang="zh-CN" b="0" i="0" dirty="0">
                <a:solidFill>
                  <a:srgbClr val="333333"/>
                </a:solidFill>
                <a:effectLst/>
                <a:latin typeface="Helvetica Neue"/>
              </a:rPr>
              <a:t>—</a:t>
            </a:r>
            <a:r>
              <a:rPr lang="zh-CN" altLang="en-US" b="0" i="0" dirty="0">
                <a:solidFill>
                  <a:srgbClr val="333333"/>
                </a:solidFill>
                <a:effectLst/>
                <a:latin typeface="Helvetica Neue"/>
              </a:rPr>
              <a:t>开发团队需要去估计一个用户故事以便确定优先级，工作量，安排计划。但是让开发者难以估计故事的问题来自：对于</a:t>
            </a:r>
            <a:r>
              <a:rPr lang="zh-CN" altLang="en-US" b="0" i="0" u="none" strike="noStrike" dirty="0">
                <a:solidFill>
                  <a:srgbClr val="136EC2"/>
                </a:solidFill>
                <a:effectLst/>
                <a:latin typeface="Helvetica Neue"/>
                <a:hlinkClick r:id="rId9"/>
              </a:rPr>
              <a:t>领域知识</a:t>
            </a:r>
            <a:r>
              <a:rPr lang="zh-CN" altLang="en-US" b="0" i="0" dirty="0">
                <a:solidFill>
                  <a:srgbClr val="333333"/>
                </a:solidFill>
                <a:effectLst/>
                <a:latin typeface="Helvetica Neue"/>
              </a:rPr>
              <a:t>的缺乏（这种情况下需要更多的沟通），或者故事太大了（这时需要把故事切分成小些的）。</a:t>
            </a:r>
          </a:p>
          <a:p>
            <a:pPr algn="l"/>
            <a:r>
              <a:rPr lang="zh-CN" altLang="en-US" b="0" i="0" dirty="0">
                <a:solidFill>
                  <a:srgbClr val="333333"/>
                </a:solidFill>
                <a:effectLst/>
                <a:latin typeface="Helvetica Neue"/>
              </a:rPr>
              <a:t>短小（</a:t>
            </a:r>
            <a:r>
              <a:rPr lang="en-US" altLang="zh-CN" b="0" i="0" u="none" strike="noStrike" dirty="0">
                <a:solidFill>
                  <a:srgbClr val="136EC2"/>
                </a:solidFill>
                <a:effectLst/>
                <a:latin typeface="Helvetica Neue"/>
                <a:hlinkClick r:id="rId10"/>
              </a:rPr>
              <a:t>Small</a:t>
            </a:r>
            <a:r>
              <a:rPr lang="zh-CN" altLang="en-US" b="0"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一个好的故事在工作量上要尽量短小，最好不要超过</a:t>
            </a:r>
            <a:r>
              <a:rPr lang="en-US" altLang="zh-CN" b="0" i="0" dirty="0">
                <a:solidFill>
                  <a:srgbClr val="333333"/>
                </a:solidFill>
                <a:effectLst/>
                <a:latin typeface="Helvetica Neue"/>
              </a:rPr>
              <a:t>10</a:t>
            </a:r>
            <a:r>
              <a:rPr lang="zh-CN" altLang="en-US" b="0" i="0" dirty="0">
                <a:solidFill>
                  <a:srgbClr val="333333"/>
                </a:solidFill>
                <a:effectLst/>
                <a:latin typeface="Helvetica Neue"/>
              </a:rPr>
              <a:t>个理想人</a:t>
            </a:r>
            <a:r>
              <a:rPr lang="en-US" altLang="zh-CN" b="0" i="0" dirty="0">
                <a:solidFill>
                  <a:srgbClr val="333333"/>
                </a:solidFill>
                <a:effectLst/>
                <a:latin typeface="Helvetica Neue"/>
              </a:rPr>
              <a:t>/</a:t>
            </a:r>
            <a:r>
              <a:rPr lang="zh-CN" altLang="en-US" b="0" i="0" dirty="0">
                <a:solidFill>
                  <a:srgbClr val="333333"/>
                </a:solidFill>
                <a:effectLst/>
                <a:latin typeface="Helvetica Neue"/>
              </a:rPr>
              <a:t>天的工作量</a:t>
            </a:r>
            <a:r>
              <a:rPr lang="en-US" altLang="zh-CN" b="0" i="0" dirty="0">
                <a:solidFill>
                  <a:srgbClr val="333333"/>
                </a:solidFill>
                <a:effectLst/>
                <a:latin typeface="Helvetica Neue"/>
              </a:rPr>
              <a:t>,</a:t>
            </a:r>
            <a:r>
              <a:rPr lang="zh-CN" altLang="en-US" b="0" i="0" dirty="0">
                <a:solidFill>
                  <a:srgbClr val="333333"/>
                </a:solidFill>
                <a:effectLst/>
                <a:latin typeface="Helvetica Neue"/>
              </a:rPr>
              <a:t>至少要确保的是在一个迭代或</a:t>
            </a:r>
            <a:r>
              <a:rPr lang="en-US" altLang="zh-CN" b="0" i="0" u="none" strike="noStrike" dirty="0">
                <a:solidFill>
                  <a:srgbClr val="136EC2"/>
                </a:solidFill>
                <a:effectLst/>
                <a:latin typeface="Helvetica Neue"/>
                <a:hlinkClick r:id="rId11"/>
              </a:rPr>
              <a:t>Sprint</a:t>
            </a:r>
            <a:r>
              <a:rPr lang="zh-CN" altLang="en-US" b="0" i="0" dirty="0">
                <a:solidFill>
                  <a:srgbClr val="333333"/>
                </a:solidFill>
                <a:effectLst/>
                <a:latin typeface="Helvetica Neue"/>
              </a:rPr>
              <a:t>中能够完成。用户故事越大，在安排计划，工作量估算等方面的风险就会越大。</a:t>
            </a:r>
          </a:p>
          <a:p>
            <a:pPr algn="l"/>
            <a:r>
              <a:rPr lang="zh-CN" altLang="en-US" b="0" i="0" u="none" strike="noStrike" dirty="0">
                <a:solidFill>
                  <a:srgbClr val="136EC2"/>
                </a:solidFill>
                <a:effectLst/>
                <a:latin typeface="Helvetica Neue"/>
                <a:hlinkClick r:id="rId12"/>
              </a:rPr>
              <a:t>可测试性</a:t>
            </a:r>
            <a:r>
              <a:rPr lang="zh-CN" altLang="en-US" b="0" i="0" dirty="0">
                <a:solidFill>
                  <a:srgbClr val="333333"/>
                </a:solidFill>
                <a:effectLst/>
                <a:latin typeface="Helvetica Neue"/>
              </a:rPr>
              <a:t>（</a:t>
            </a:r>
            <a:r>
              <a:rPr lang="en-US" altLang="zh-CN" b="0" i="0" dirty="0">
                <a:solidFill>
                  <a:srgbClr val="333333"/>
                </a:solidFill>
                <a:effectLst/>
                <a:latin typeface="Helvetica Neue"/>
              </a:rPr>
              <a:t>Testable</a:t>
            </a:r>
            <a:r>
              <a:rPr lang="zh-CN" altLang="en-US" b="0" i="0" dirty="0">
                <a:solidFill>
                  <a:srgbClr val="333333"/>
                </a:solidFill>
                <a:effectLst/>
                <a:latin typeface="Helvetica Neue"/>
              </a:rPr>
              <a:t>）</a:t>
            </a:r>
            <a:r>
              <a:rPr lang="en-US" altLang="zh-CN" b="0" i="0" dirty="0">
                <a:solidFill>
                  <a:srgbClr val="333333"/>
                </a:solidFill>
                <a:effectLst/>
                <a:latin typeface="Helvetica Neue"/>
              </a:rPr>
              <a:t>—</a:t>
            </a:r>
            <a:r>
              <a:rPr lang="zh-CN" altLang="en-US" b="0" i="0" dirty="0">
                <a:solidFill>
                  <a:srgbClr val="333333"/>
                </a:solidFill>
                <a:effectLst/>
                <a:latin typeface="Helvetica Neue"/>
              </a:rPr>
              <a:t>一个用户故事要是可以测试的，以便于确认它是可以完成的。如果一个用户故事不能够测试，那么你就无法知道它什么时候可以完成。一个不可测试的用户故事例子：软件应该是易于使用的。</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58</a:t>
            </a:fld>
            <a:endParaRPr lang="zh-CN" altLang="en-US"/>
          </a:p>
        </p:txBody>
      </p:sp>
    </p:spTree>
    <p:extLst>
      <p:ext uri="{BB962C8B-B14F-4D97-AF65-F5344CB8AC3E}">
        <p14:creationId xmlns:p14="http://schemas.microsoft.com/office/powerpoint/2010/main" val="39409872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latin typeface="微软雅黑" panose="020B0503020204020204" pitchFamily="34" charset="-122"/>
                <a:ea typeface="微软雅黑" panose="020B0503020204020204" pitchFamily="34" charset="-122"/>
                <a:cs typeface="微软雅黑" panose="020B0503020204020204" pitchFamily="34" charset="-122"/>
              </a:rPr>
              <a:t>重点学习内容，可以通过留实操作业或提问的方式，巩固学习成果</a:t>
            </a: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61</a:t>
            </a:fld>
            <a:endParaRPr lang="zh-CN" altLang="en-US"/>
          </a:p>
        </p:txBody>
      </p:sp>
    </p:spTree>
    <p:extLst>
      <p:ext uri="{BB962C8B-B14F-4D97-AF65-F5344CB8AC3E}">
        <p14:creationId xmlns:p14="http://schemas.microsoft.com/office/powerpoint/2010/main" val="1628010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每课</a:t>
            </a:r>
            <a:r>
              <a:rPr lang="zh-CN" altLang="en-US" sz="1200" dirty="0">
                <a:solidFill>
                  <a:srgbClr val="FF000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结束</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时使用“以上是本节课的内容”</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这一章讲到这里</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63</a:t>
            </a:fld>
            <a:endParaRPr lang="zh-CN" altLang="en-US"/>
          </a:p>
        </p:txBody>
      </p:sp>
    </p:spTree>
    <p:extLst>
      <p:ext uri="{BB962C8B-B14F-4D97-AF65-F5344CB8AC3E}">
        <p14:creationId xmlns:p14="http://schemas.microsoft.com/office/powerpoint/2010/main" val="20986674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封面2">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31AA72A-FE2F-1F7F-B206-0A8214FA8C9F}"/>
              </a:ext>
            </a:extLst>
          </p:cNvPr>
          <p:cNvPicPr>
            <a:picLocks noChangeAspect="1"/>
          </p:cNvPicPr>
          <p:nvPr userDrawn="1"/>
        </p:nvPicPr>
        <p:blipFill rotWithShape="1">
          <a:blip r:embed="rId2">
            <a:duotone>
              <a:schemeClr val="accent2">
                <a:shade val="45000"/>
                <a:satMod val="135000"/>
              </a:schemeClr>
              <a:prstClr val="white"/>
            </a:duotone>
          </a:blip>
          <a:srcRect b="2308"/>
          <a:stretch/>
        </p:blipFill>
        <p:spPr>
          <a:xfrm>
            <a:off x="-2" y="6976"/>
            <a:ext cx="9144002" cy="5136524"/>
          </a:xfrm>
          <a:prstGeom prst="rect">
            <a:avLst/>
          </a:prstGeom>
        </p:spPr>
      </p:pic>
      <p:sp>
        <p:nvSpPr>
          <p:cNvPr id="15" name="文本占位符 14"/>
          <p:cNvSpPr>
            <a:spLocks noGrp="1"/>
          </p:cNvSpPr>
          <p:nvPr>
            <p:ph type="body" sz="quarter" idx="13"/>
          </p:nvPr>
        </p:nvSpPr>
        <p:spPr>
          <a:xfrm>
            <a:off x="628650" y="3333947"/>
            <a:ext cx="7886700" cy="685800"/>
          </a:xfrm>
        </p:spPr>
        <p:txBody>
          <a:bodyPr>
            <a:normAutofit/>
          </a:bodyPr>
          <a:lstStyle>
            <a:lvl1pPr marL="0" indent="0" algn="l">
              <a:buNone/>
              <a:defRPr sz="2400" b="0" i="0">
                <a:ln>
                  <a:noFill/>
                </a:ln>
                <a:solidFill>
                  <a:schemeClr val="accent1">
                    <a:lumMod val="60000"/>
                    <a:lumOff val="40000"/>
                  </a:schemeClr>
                </a:solidFill>
                <a:latin typeface="思源黑体 Medium" panose="020B0600000000000000" charset="-122"/>
                <a:ea typeface="思源黑体 Medium" panose="020B0600000000000000" charset="-122"/>
              </a:defRPr>
            </a:lvl1pPr>
            <a:lvl3pPr marL="685800" indent="0">
              <a:buNone/>
              <a:defRPr/>
            </a:lvl3pPr>
          </a:lstStyle>
          <a:p>
            <a:pPr lvl="0"/>
            <a:endParaRPr kumimoji="1" lang="zh-CN" altLang="en-US" dirty="0"/>
          </a:p>
        </p:txBody>
      </p:sp>
      <p:sp>
        <p:nvSpPr>
          <p:cNvPr id="19" name="标题 18"/>
          <p:cNvSpPr>
            <a:spLocks noGrp="1"/>
          </p:cNvSpPr>
          <p:nvPr>
            <p:ph type="title"/>
          </p:nvPr>
        </p:nvSpPr>
        <p:spPr>
          <a:xfrm>
            <a:off x="628650" y="2092075"/>
            <a:ext cx="7886700" cy="994172"/>
          </a:xfrm>
        </p:spPr>
        <p:txBody>
          <a:bodyPr>
            <a:normAutofit/>
          </a:bodyPr>
          <a:lstStyle>
            <a:lvl1pPr algn="l">
              <a:defRPr sz="4800" b="0" i="0">
                <a:solidFill>
                  <a:schemeClr val="bg1"/>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8" name="组合 10"/>
          <p:cNvGrpSpPr/>
          <p:nvPr userDrawn="1"/>
        </p:nvGrpSpPr>
        <p:grpSpPr>
          <a:xfrm>
            <a:off x="628651" y="1905306"/>
            <a:ext cx="4936937" cy="1363896"/>
            <a:chOff x="2666198" y="2543397"/>
            <a:chExt cx="7199697" cy="1316333"/>
          </a:xfrm>
        </p:grpSpPr>
        <p:cxnSp>
          <p:nvCxnSpPr>
            <p:cNvPr id="9" name="直线连接符 8"/>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13" name="文本占位符 14"/>
          <p:cNvSpPr>
            <a:spLocks noGrp="1"/>
          </p:cNvSpPr>
          <p:nvPr>
            <p:ph type="body" sz="quarter" idx="14"/>
          </p:nvPr>
        </p:nvSpPr>
        <p:spPr>
          <a:xfrm>
            <a:off x="628650" y="4357416"/>
            <a:ext cx="7886700" cy="326643"/>
          </a:xfrm>
        </p:spPr>
        <p:txBody>
          <a:bodyPr>
            <a:normAutofit/>
          </a:bodyPr>
          <a:lstStyle>
            <a:lvl1pPr marL="0" indent="0" algn="r">
              <a:buNone/>
              <a:defRPr sz="1400" b="0" i="0">
                <a:ln>
                  <a:noFill/>
                </a:ln>
                <a:solidFill>
                  <a:schemeClr val="accent1">
                    <a:lumMod val="60000"/>
                    <a:lumOff val="40000"/>
                  </a:schemeClr>
                </a:solidFill>
                <a:latin typeface="思源黑体 Medium" panose="020B0600000000000000" charset="-122"/>
                <a:ea typeface="思源黑体 Medium" panose="020B0600000000000000" charset="-122"/>
              </a:defRPr>
            </a:lvl1pPr>
            <a:lvl3pPr marL="685800" indent="0">
              <a:buNone/>
              <a:defRPr/>
            </a:lvl3pPr>
          </a:lstStyle>
          <a:p>
            <a:pPr lvl="0"/>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a:buClr>
                <a:schemeClr val="accent4"/>
              </a:buClr>
              <a:buFontTx/>
              <a:buNone/>
              <a:defRPr sz="2800" b="0" i="0">
                <a:solidFill>
                  <a:srgbClr val="242C52"/>
                </a:solidFill>
                <a:latin typeface="思源黑体 Medium" panose="020B0600000000000000" charset="-122"/>
                <a:ea typeface="思源黑体 Medium" panose="020B0600000000000000"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18" name="矩形 17"/>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pic>
        <p:nvPicPr>
          <p:cNvPr id="2" name="图片 1">
            <a:extLst>
              <a:ext uri="{FF2B5EF4-FFF2-40B4-BE49-F238E27FC236}">
                <a16:creationId xmlns:a16="http://schemas.microsoft.com/office/drawing/2014/main" id="{A277AB5A-2027-948E-5659-35FA3C398FC7}"/>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pic>
        <p:nvPicPr>
          <p:cNvPr id="2" name="图片 1">
            <a:extLst>
              <a:ext uri="{FF2B5EF4-FFF2-40B4-BE49-F238E27FC236}">
                <a16:creationId xmlns:a16="http://schemas.microsoft.com/office/drawing/2014/main" id="{2180E710-DC63-F434-40DE-02365645191E}"/>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278636"/>
            <a:ext cx="7128035" cy="2233865"/>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3" name="图片 2">
            <a:extLst>
              <a:ext uri="{FF2B5EF4-FFF2-40B4-BE49-F238E27FC236}">
                <a16:creationId xmlns:a16="http://schemas.microsoft.com/office/drawing/2014/main" id="{3AE9EF5C-CB56-40EE-620D-C8B40FB83375}"/>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章节页">
    <p:spTree>
      <p:nvGrpSpPr>
        <p:cNvPr id="1" name=""/>
        <p:cNvGrpSpPr/>
        <p:nvPr/>
      </p:nvGrpSpPr>
      <p:grpSpPr>
        <a:xfrm>
          <a:off x="0" y="0"/>
          <a:ext cx="0" cy="0"/>
          <a:chOff x="0" y="0"/>
          <a:chExt cx="0" cy="0"/>
        </a:xfrm>
      </p:grpSpPr>
      <p:sp>
        <p:nvSpPr>
          <p:cNvPr id="17" name="矩形 16"/>
          <p:cNvSpPr/>
          <p:nvPr userDrawn="1"/>
        </p:nvSpPr>
        <p:spPr>
          <a:xfrm>
            <a:off x="0" y="2124074"/>
            <a:ext cx="9144000" cy="886279"/>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sp>
        <p:nvSpPr>
          <p:cNvPr id="19" name="标题 18"/>
          <p:cNvSpPr>
            <a:spLocks noGrp="1"/>
          </p:cNvSpPr>
          <p:nvPr>
            <p:ph type="title"/>
          </p:nvPr>
        </p:nvSpPr>
        <p:spPr>
          <a:xfrm>
            <a:off x="1007986" y="2115004"/>
            <a:ext cx="7128035" cy="895350"/>
          </a:xfrm>
        </p:spPr>
        <p:txBody>
          <a:bodyPr>
            <a:normAutofit/>
          </a:bodyPr>
          <a:lstStyle>
            <a:lvl1pPr marL="0" indent="0" algn="ctr">
              <a:buClr>
                <a:schemeClr val="accent4"/>
              </a:buClr>
              <a:buFontTx/>
              <a:buNone/>
              <a:defRPr sz="3600" b="0" i="0">
                <a:solidFill>
                  <a:schemeClr val="bg1"/>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5" name="组 4"/>
          <p:cNvGrpSpPr/>
          <p:nvPr userDrawn="1"/>
        </p:nvGrpSpPr>
        <p:grpSpPr>
          <a:xfrm>
            <a:off x="-240" y="2307068"/>
            <a:ext cx="9149737" cy="529364"/>
            <a:chOff x="-240" y="2284885"/>
            <a:chExt cx="9149737" cy="529364"/>
          </a:xfrm>
        </p:grpSpPr>
        <p:grpSp>
          <p:nvGrpSpPr>
            <p:cNvPr id="3" name="组 2"/>
            <p:cNvGrpSpPr/>
            <p:nvPr userDrawn="1"/>
          </p:nvGrpSpPr>
          <p:grpSpPr>
            <a:xfrm>
              <a:off x="-240" y="2284885"/>
              <a:ext cx="263291" cy="529364"/>
              <a:chOff x="-240" y="2284885"/>
              <a:chExt cx="263291" cy="529364"/>
            </a:xfrm>
          </p:grpSpPr>
          <p:sp>
            <p:nvSpPr>
              <p:cNvPr id="13" name="五边形 12"/>
              <p:cNvSpPr/>
              <p:nvPr userDrawn="1"/>
            </p:nvSpPr>
            <p:spPr>
              <a:xfrm>
                <a:off x="-240" y="2284885"/>
                <a:ext cx="263291" cy="529364"/>
              </a:xfrm>
              <a:prstGeom prst="homePlate">
                <a:avLst>
                  <a:gd name="adj" fmla="val 100000"/>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zh-CN" altLang="en-US" b="0" dirty="0">
                  <a:latin typeface="思源黑体" panose="020F0502020204030204" charset="-122"/>
                  <a:ea typeface="思源黑体" panose="020F0502020204030204" charset="-122"/>
                  <a:cs typeface="思源黑体" panose="020F0502020204030204" charset="-122"/>
                </a:endParaRPr>
              </a:p>
            </p:txBody>
          </p:sp>
          <p:sp>
            <p:nvSpPr>
              <p:cNvPr id="2" name="五边形 1"/>
              <p:cNvSpPr/>
              <p:nvPr userDrawn="1"/>
            </p:nvSpPr>
            <p:spPr>
              <a:xfrm>
                <a:off x="-240" y="2384919"/>
                <a:ext cx="163782" cy="329296"/>
              </a:xfrm>
              <a:prstGeom prst="homePlate">
                <a:avLst>
                  <a:gd name="adj" fmla="val 100000"/>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kumimoji="1" lang="zh-CN" altLang="en-US" b="0" dirty="0">
                  <a:latin typeface="思源黑体" panose="020F0502020204030204" charset="-122"/>
                  <a:ea typeface="思源黑体" panose="020F0502020204030204" charset="-122"/>
                  <a:cs typeface="思源黑体" panose="020F0502020204030204" charset="-122"/>
                </a:endParaRPr>
              </a:p>
            </p:txBody>
          </p:sp>
        </p:grpSp>
        <p:grpSp>
          <p:nvGrpSpPr>
            <p:cNvPr id="4" name="组 3"/>
            <p:cNvGrpSpPr/>
            <p:nvPr userDrawn="1"/>
          </p:nvGrpSpPr>
          <p:grpSpPr>
            <a:xfrm>
              <a:off x="8890573" y="2284885"/>
              <a:ext cx="258924" cy="529364"/>
              <a:chOff x="8890573" y="2284885"/>
              <a:chExt cx="258924" cy="529364"/>
            </a:xfrm>
          </p:grpSpPr>
          <p:sp>
            <p:nvSpPr>
              <p:cNvPr id="18" name="五边形 17"/>
              <p:cNvSpPr/>
              <p:nvPr userDrawn="1"/>
            </p:nvSpPr>
            <p:spPr>
              <a:xfrm flipH="1">
                <a:off x="8890573" y="2284885"/>
                <a:ext cx="258924" cy="529364"/>
              </a:xfrm>
              <a:prstGeom prst="homePlate">
                <a:avLst>
                  <a:gd name="adj" fmla="val 100000"/>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20" name="五边形 19"/>
              <p:cNvSpPr/>
              <p:nvPr userDrawn="1"/>
            </p:nvSpPr>
            <p:spPr>
              <a:xfrm flipH="1">
                <a:off x="8988431" y="2384919"/>
                <a:ext cx="161066" cy="329296"/>
              </a:xfrm>
              <a:prstGeom prst="homePlate">
                <a:avLst>
                  <a:gd name="adj" fmla="val 100000"/>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重点强调标语">
    <p:spTree>
      <p:nvGrpSpPr>
        <p:cNvPr id="1" name=""/>
        <p:cNvGrpSpPr/>
        <p:nvPr/>
      </p:nvGrpSpPr>
      <p:grpSpPr>
        <a:xfrm>
          <a:off x="0" y="0"/>
          <a:ext cx="0" cy="0"/>
          <a:chOff x="0" y="0"/>
          <a:chExt cx="0" cy="0"/>
        </a:xfrm>
      </p:grpSpPr>
      <p:sp>
        <p:nvSpPr>
          <p:cNvPr id="19" name="标题 18"/>
          <p:cNvSpPr>
            <a:spLocks noGrp="1"/>
          </p:cNvSpPr>
          <p:nvPr>
            <p:ph type="title"/>
          </p:nvPr>
        </p:nvSpPr>
        <p:spPr>
          <a:xfrm>
            <a:off x="1007986" y="2124075"/>
            <a:ext cx="7128035" cy="895350"/>
          </a:xfrm>
        </p:spPr>
        <p:txBody>
          <a:bodyPr>
            <a:normAutofit/>
          </a:bodyPr>
          <a:lstStyle>
            <a:lvl1pPr marL="0" indent="0" algn="ctr">
              <a:buClr>
                <a:schemeClr val="accent4"/>
              </a:buClr>
              <a:buFontTx/>
              <a:buNone/>
              <a:defRPr sz="3600" b="0" i="0">
                <a:solidFill>
                  <a:srgbClr val="242C52"/>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10" name="组合 10"/>
          <p:cNvGrpSpPr/>
          <p:nvPr userDrawn="1"/>
        </p:nvGrpSpPr>
        <p:grpSpPr>
          <a:xfrm>
            <a:off x="1833613" y="2078125"/>
            <a:ext cx="5637998" cy="987250"/>
            <a:chOff x="2666198" y="2543397"/>
            <a:chExt cx="7199697" cy="1316333"/>
          </a:xfrm>
        </p:grpSpPr>
        <p:cxnSp>
          <p:nvCxnSpPr>
            <p:cNvPr id="11" name="直线连接符 10"/>
            <p:cNvCxnSpPr/>
            <p:nvPr userDrawn="1"/>
          </p:nvCxnSpPr>
          <p:spPr>
            <a:xfrm>
              <a:off x="2666198" y="2543397"/>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userDrawn="1"/>
          </p:nvCxnSpPr>
          <p:spPr>
            <a:xfrm>
              <a:off x="2666198" y="3859730"/>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grpSp>
      <p:sp>
        <p:nvSpPr>
          <p:cNvPr id="16" name="矩形 15"/>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pic>
        <p:nvPicPr>
          <p:cNvPr id="2" name="图片 1">
            <a:extLst>
              <a:ext uri="{FF2B5EF4-FFF2-40B4-BE49-F238E27FC236}">
                <a16:creationId xmlns:a16="http://schemas.microsoft.com/office/drawing/2014/main" id="{319C152E-C22C-B6CC-FB0A-FBCC5CB1A9A0}"/>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重点强调标语">
    <p:spTree>
      <p:nvGrpSpPr>
        <p:cNvPr id="1" name=""/>
        <p:cNvGrpSpPr/>
        <p:nvPr/>
      </p:nvGrpSpPr>
      <p:grpSpPr>
        <a:xfrm>
          <a:off x="0" y="0"/>
          <a:ext cx="0" cy="0"/>
          <a:chOff x="0" y="0"/>
          <a:chExt cx="0" cy="0"/>
        </a:xfrm>
      </p:grpSpPr>
      <p:sp>
        <p:nvSpPr>
          <p:cNvPr id="19" name="标题 18"/>
          <p:cNvSpPr>
            <a:spLocks noGrp="1"/>
          </p:cNvSpPr>
          <p:nvPr>
            <p:ph type="title"/>
          </p:nvPr>
        </p:nvSpPr>
        <p:spPr>
          <a:xfrm>
            <a:off x="1007986" y="2124075"/>
            <a:ext cx="7128035" cy="895350"/>
          </a:xfrm>
        </p:spPr>
        <p:txBody>
          <a:bodyPr>
            <a:normAutofit/>
          </a:bodyPr>
          <a:lstStyle>
            <a:lvl1pPr marL="0" indent="0" algn="ctr">
              <a:buClr>
                <a:schemeClr val="accent4"/>
              </a:buClr>
              <a:buFontTx/>
              <a:buNone/>
              <a:defRPr sz="3600" b="0" i="0">
                <a:solidFill>
                  <a:srgbClr val="242C52"/>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10" name="组合 10"/>
          <p:cNvGrpSpPr/>
          <p:nvPr userDrawn="1"/>
        </p:nvGrpSpPr>
        <p:grpSpPr>
          <a:xfrm>
            <a:off x="1833613" y="2078125"/>
            <a:ext cx="5637998" cy="987250"/>
            <a:chOff x="2666198" y="2543397"/>
            <a:chExt cx="7199697" cy="1316333"/>
          </a:xfrm>
        </p:grpSpPr>
        <p:cxnSp>
          <p:nvCxnSpPr>
            <p:cNvPr id="11" name="直线连接符 10"/>
            <p:cNvCxnSpPr/>
            <p:nvPr userDrawn="1"/>
          </p:nvCxnSpPr>
          <p:spPr>
            <a:xfrm>
              <a:off x="2666198" y="2543397"/>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userDrawn="1"/>
          </p:nvCxnSpPr>
          <p:spPr>
            <a:xfrm>
              <a:off x="2666198" y="3859730"/>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grpSp>
      <p:sp>
        <p:nvSpPr>
          <p:cNvPr id="7" name="矩形 6"/>
          <p:cNvSpPr/>
          <p:nvPr userDrawn="1"/>
        </p:nvSpPr>
        <p:spPr>
          <a:xfrm>
            <a:off x="0" y="4235824"/>
            <a:ext cx="9144000" cy="907676"/>
          </a:xfrm>
          <a:prstGeom prst="rect">
            <a:avLst/>
          </a:prstGeom>
          <a:solidFill>
            <a:srgbClr val="242C5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8" name="图片 7" descr="形状 3.png"/>
          <p:cNvPicPr>
            <a:picLocks noChangeAspect="1"/>
          </p:cNvPicPr>
          <p:nvPr userDrawn="1"/>
        </p:nvPicPr>
        <p:blipFill>
          <a:blip r:embed="rId2">
            <a:alphaModFix amt="64000"/>
            <a:extLst>
              <a:ext uri="{28A0092B-C50C-407E-A947-70E740481C1C}">
                <a14:useLocalDpi xmlns:a14="http://schemas.microsoft.com/office/drawing/2010/main" val="0"/>
              </a:ext>
            </a:extLst>
          </a:blip>
          <a:stretch>
            <a:fillRect/>
          </a:stretch>
        </p:blipFill>
        <p:spPr>
          <a:xfrm>
            <a:off x="0" y="4235824"/>
            <a:ext cx="9144000" cy="907676"/>
          </a:xfrm>
          <a:prstGeom prst="rect">
            <a:avLst/>
          </a:prstGeom>
        </p:spPr>
      </p:pic>
      <p:pic>
        <p:nvPicPr>
          <p:cNvPr id="2" name="图片 1">
            <a:extLst>
              <a:ext uri="{FF2B5EF4-FFF2-40B4-BE49-F238E27FC236}">
                <a16:creationId xmlns:a16="http://schemas.microsoft.com/office/drawing/2014/main" id="{0D092D88-14E1-CBCB-42A3-ACAEF467D7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87379" y="4536170"/>
            <a:ext cx="1417284" cy="47242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案例">
    <p:spTree>
      <p:nvGrpSpPr>
        <p:cNvPr id="1" name=""/>
        <p:cNvGrpSpPr/>
        <p:nvPr/>
      </p:nvGrpSpPr>
      <p:grpSpPr>
        <a:xfrm>
          <a:off x="0" y="0"/>
          <a:ext cx="0" cy="0"/>
          <a:chOff x="0" y="0"/>
          <a:chExt cx="0" cy="0"/>
        </a:xfrm>
      </p:grpSpPr>
      <p:sp>
        <p:nvSpPr>
          <p:cNvPr id="7" name="矩形 6"/>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3" name="圆角矩形 2"/>
          <p:cNvSpPr/>
          <p:nvPr userDrawn="1"/>
        </p:nvSpPr>
        <p:spPr>
          <a:xfrm>
            <a:off x="-67310" y="357505"/>
            <a:ext cx="1522095" cy="341630"/>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案</a:t>
            </a: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例</a:t>
            </a:r>
          </a:p>
        </p:txBody>
      </p:sp>
      <p:sp>
        <p:nvSpPr>
          <p:cNvPr id="4" name="圆角矩形 3"/>
          <p:cNvSpPr/>
          <p:nvPr userDrawn="1"/>
        </p:nvSpPr>
        <p:spPr>
          <a:xfrm>
            <a:off x="1387552" y="357173"/>
            <a:ext cx="67456" cy="341703"/>
          </a:xfrm>
          <a:prstGeom prst="roundRect">
            <a:avLst>
              <a:gd name="adj" fmla="val 10047"/>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pic>
        <p:nvPicPr>
          <p:cNvPr id="2" name="图片 1" descr="32303038313139313b32303038313039333bb5e7c4d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740" y="395605"/>
            <a:ext cx="264795" cy="264795"/>
          </a:xfrm>
          <a:prstGeom prst="rect">
            <a:avLst/>
          </a:prstGeom>
        </p:spPr>
      </p:pic>
      <p:sp>
        <p:nvSpPr>
          <p:cNvPr id="9" name="流程图: 内部贮存 8"/>
          <p:cNvSpPr/>
          <p:nvPr userDrawn="1"/>
        </p:nvSpPr>
        <p:spPr>
          <a:xfrm>
            <a:off x="127000" y="450215"/>
            <a:ext cx="167640" cy="76200"/>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6FC06AE3-40B3-E8B3-FA9C-9A6C00352A7A}"/>
              </a:ext>
            </a:extLst>
          </p:cNvPr>
          <p:cNvPicPr>
            <a:picLocks noChangeAspect="1"/>
          </p:cNvPicPr>
          <p:nvPr userDrawn="1"/>
        </p:nvPicPr>
        <p:blipFill>
          <a:blip r:embed="rId4"/>
          <a:stretch>
            <a:fillRect/>
          </a:stretch>
        </p:blipFill>
        <p:spPr>
          <a:xfrm>
            <a:off x="7502253" y="4579468"/>
            <a:ext cx="1519827" cy="38694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底">
    <p:spTree>
      <p:nvGrpSpPr>
        <p:cNvPr id="1" name=""/>
        <p:cNvGrpSpPr/>
        <p:nvPr/>
      </p:nvGrpSpPr>
      <p:grpSpPr>
        <a:xfrm>
          <a:off x="0" y="0"/>
          <a:ext cx="0" cy="0"/>
          <a:chOff x="0" y="0"/>
          <a:chExt cx="0" cy="0"/>
        </a:xfrm>
      </p:grpSpPr>
      <p:sp>
        <p:nvSpPr>
          <p:cNvPr id="5" name="矩形 4"/>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sp>
        <p:nvSpPr>
          <p:cNvPr id="11" name="圆角矩形 10"/>
          <p:cNvSpPr/>
          <p:nvPr userDrawn="1"/>
        </p:nvSpPr>
        <p:spPr>
          <a:xfrm>
            <a:off x="-67310" y="357505"/>
            <a:ext cx="1522095" cy="341630"/>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实</a:t>
            </a: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践</a:t>
            </a:r>
          </a:p>
        </p:txBody>
      </p:sp>
      <p:sp>
        <p:nvSpPr>
          <p:cNvPr id="15" name="圆角矩形 14"/>
          <p:cNvSpPr/>
          <p:nvPr userDrawn="1"/>
        </p:nvSpPr>
        <p:spPr>
          <a:xfrm>
            <a:off x="1387552" y="357173"/>
            <a:ext cx="67456" cy="341703"/>
          </a:xfrm>
          <a:prstGeom prst="roundRect">
            <a:avLst>
              <a:gd name="adj" fmla="val 10047"/>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pic>
        <p:nvPicPr>
          <p:cNvPr id="4" name="图片 3" descr="303b32303039333133313bb7c5b4f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105" y="381000"/>
            <a:ext cx="318135" cy="318135"/>
          </a:xfrm>
          <a:prstGeom prst="rect">
            <a:avLst/>
          </a:prstGeom>
        </p:spPr>
      </p:pic>
      <p:pic>
        <p:nvPicPr>
          <p:cNvPr id="2" name="图片 1">
            <a:extLst>
              <a:ext uri="{FF2B5EF4-FFF2-40B4-BE49-F238E27FC236}">
                <a16:creationId xmlns:a16="http://schemas.microsoft.com/office/drawing/2014/main" id="{B4D81FDB-2A3A-FEBF-FBCB-1476EFCE8329}"/>
              </a:ext>
            </a:extLst>
          </p:cNvPr>
          <p:cNvPicPr>
            <a:picLocks noChangeAspect="1"/>
          </p:cNvPicPr>
          <p:nvPr userDrawn="1"/>
        </p:nvPicPr>
        <p:blipFill>
          <a:blip r:embed="rId4"/>
          <a:stretch>
            <a:fillRect/>
          </a:stretch>
        </p:blipFill>
        <p:spPr>
          <a:xfrm>
            <a:off x="7502253" y="4579468"/>
            <a:ext cx="1519827" cy="386943"/>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空白底">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97E0749-825C-807E-623C-309EBA42149C}"/>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结束语页">
    <p:spTree>
      <p:nvGrpSpPr>
        <p:cNvPr id="1" name=""/>
        <p:cNvGrpSpPr/>
        <p:nvPr/>
      </p:nvGrpSpPr>
      <p:grpSpPr>
        <a:xfrm>
          <a:off x="0" y="0"/>
          <a:ext cx="0" cy="0"/>
          <a:chOff x="0" y="0"/>
          <a:chExt cx="0" cy="0"/>
        </a:xfrm>
      </p:grpSpPr>
      <p:pic>
        <p:nvPicPr>
          <p:cNvPr id="4" name="图片 3" descr="企业服务VI系统-1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2773"/>
            <a:ext cx="9144000" cy="5200855"/>
          </a:xfrm>
          <a:prstGeom prst="rect">
            <a:avLst/>
          </a:prstGeom>
        </p:spPr>
      </p:pic>
      <p:grpSp>
        <p:nvGrpSpPr>
          <p:cNvPr id="5" name="组合 4"/>
          <p:cNvGrpSpPr/>
          <p:nvPr userDrawn="1"/>
        </p:nvGrpSpPr>
        <p:grpSpPr>
          <a:xfrm>
            <a:off x="2485330" y="1907549"/>
            <a:ext cx="4173344" cy="1338513"/>
            <a:chOff x="2666197" y="2543397"/>
            <a:chExt cx="7199698" cy="1784684"/>
          </a:xfrm>
        </p:grpSpPr>
        <p:cxnSp>
          <p:nvCxnSpPr>
            <p:cNvPr id="6" name="直线连接符 5"/>
            <p:cNvCxnSpPr/>
            <p:nvPr userDrawn="1"/>
          </p:nvCxnSpPr>
          <p:spPr>
            <a:xfrm>
              <a:off x="2666198" y="2543397"/>
              <a:ext cx="719969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7" y="4328081"/>
              <a:ext cx="719969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8" name="标题 18"/>
          <p:cNvSpPr>
            <a:spLocks noGrp="1"/>
          </p:cNvSpPr>
          <p:nvPr>
            <p:ph type="title"/>
          </p:nvPr>
        </p:nvSpPr>
        <p:spPr>
          <a:xfrm>
            <a:off x="688206" y="2074664"/>
            <a:ext cx="7886700" cy="994172"/>
          </a:xfrm>
        </p:spPr>
        <p:txBody>
          <a:bodyPr>
            <a:noAutofit/>
          </a:bodyPr>
          <a:lstStyle>
            <a:lvl1pPr algn="ctr">
              <a:defRPr sz="4800" b="0" i="0">
                <a:solidFill>
                  <a:schemeClr val="accent1">
                    <a:lumMod val="60000"/>
                    <a:lumOff val="40000"/>
                  </a:schemeClr>
                </a:solidFill>
                <a:latin typeface="思源黑体 Medium" panose="020B0600000000000000" charset="-122"/>
                <a:ea typeface="思源黑体 Medium" panose="020B0600000000000000" charset="-122"/>
              </a:defRPr>
            </a:lvl1pPr>
          </a:lstStyle>
          <a:p>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封面2">
    <p:spTree>
      <p:nvGrpSpPr>
        <p:cNvPr id="1" name=""/>
        <p:cNvGrpSpPr/>
        <p:nvPr/>
      </p:nvGrpSpPr>
      <p:grpSpPr>
        <a:xfrm>
          <a:off x="0" y="0"/>
          <a:ext cx="0" cy="0"/>
          <a:chOff x="0" y="0"/>
          <a:chExt cx="0" cy="0"/>
        </a:xfrm>
      </p:grpSpPr>
      <p:sp>
        <p:nvSpPr>
          <p:cNvPr id="2" name="矩形 1"/>
          <p:cNvSpPr/>
          <p:nvPr userDrawn="1"/>
        </p:nvSpPr>
        <p:spPr>
          <a:xfrm>
            <a:off x="-65548" y="-62094"/>
            <a:ext cx="9209548" cy="5205594"/>
          </a:xfrm>
          <a:prstGeom prst="rect">
            <a:avLst/>
          </a:prstGeom>
          <a:solidFill>
            <a:srgbClr val="202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15" name="文本占位符 14"/>
          <p:cNvSpPr>
            <a:spLocks noGrp="1"/>
          </p:cNvSpPr>
          <p:nvPr>
            <p:ph type="body" sz="quarter" idx="13"/>
          </p:nvPr>
        </p:nvSpPr>
        <p:spPr>
          <a:xfrm>
            <a:off x="389965" y="3455341"/>
            <a:ext cx="8125385" cy="532981"/>
          </a:xfrm>
        </p:spPr>
        <p:txBody>
          <a:bodyPr>
            <a:normAutofit/>
          </a:bodyPr>
          <a:lstStyle>
            <a:lvl1pPr marL="0" indent="0" algn="l">
              <a:buNone/>
              <a:defRPr sz="2000" b="0" i="0">
                <a:ln>
                  <a:noFill/>
                </a:ln>
                <a:solidFill>
                  <a:srgbClr val="FFE1AA"/>
                </a:solidFill>
                <a:latin typeface="微软雅黑 Light" panose="020B0502040204020203" pitchFamily="34" charset="-122"/>
                <a:ea typeface="微软雅黑 Light" panose="020B0502040204020203" pitchFamily="34" charset="-122"/>
              </a:defRPr>
            </a:lvl1pPr>
            <a:lvl3pPr marL="685800" indent="0">
              <a:buNone/>
              <a:defRPr/>
            </a:lvl3pPr>
          </a:lstStyle>
          <a:p>
            <a:pPr lvl="0"/>
            <a:endParaRPr kumimoji="1" lang="zh-CN" altLang="en-US" dirty="0"/>
          </a:p>
        </p:txBody>
      </p:sp>
      <p:sp>
        <p:nvSpPr>
          <p:cNvPr id="19" name="标题 18"/>
          <p:cNvSpPr>
            <a:spLocks noGrp="1"/>
          </p:cNvSpPr>
          <p:nvPr>
            <p:ph type="title"/>
          </p:nvPr>
        </p:nvSpPr>
        <p:spPr>
          <a:xfrm>
            <a:off x="389965" y="2092075"/>
            <a:ext cx="8125385" cy="994172"/>
          </a:xfrm>
        </p:spPr>
        <p:txBody>
          <a:bodyPr>
            <a:normAutofit/>
          </a:bodyPr>
          <a:lstStyle>
            <a:lvl1pPr algn="l">
              <a:defRPr sz="4800" b="0" i="0" spc="300">
                <a:solidFill>
                  <a:schemeClr val="bg1"/>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13" name="文本占位符 14"/>
          <p:cNvSpPr>
            <a:spLocks noGrp="1"/>
          </p:cNvSpPr>
          <p:nvPr>
            <p:ph type="body" sz="quarter" idx="14"/>
          </p:nvPr>
        </p:nvSpPr>
        <p:spPr>
          <a:xfrm>
            <a:off x="389965" y="4357416"/>
            <a:ext cx="8125385" cy="326643"/>
          </a:xfrm>
        </p:spPr>
        <p:txBody>
          <a:bodyPr>
            <a:normAutofit/>
          </a:bodyPr>
          <a:lstStyle>
            <a:lvl1pPr marL="0" indent="0" algn="r">
              <a:buNone/>
              <a:defRPr sz="1400" b="0" i="0">
                <a:ln>
                  <a:noFill/>
                </a:ln>
                <a:solidFill>
                  <a:schemeClr val="accent1">
                    <a:lumMod val="60000"/>
                    <a:lumOff val="40000"/>
                  </a:schemeClr>
                </a:solidFill>
                <a:latin typeface="微软雅黑 Light" panose="020B0502040204020203" pitchFamily="34" charset="-122"/>
                <a:ea typeface="微软雅黑 Light" panose="020B0502040204020203" pitchFamily="34" charset="-122"/>
              </a:defRPr>
            </a:lvl1pPr>
            <a:lvl3pPr marL="685800" indent="0">
              <a:buNone/>
              <a:defRPr/>
            </a:lvl3pPr>
          </a:lstStyle>
          <a:p>
            <a:pPr lvl="0"/>
            <a:endParaRPr kumimoji="1" lang="zh-CN" altLang="en-US" dirty="0"/>
          </a:p>
        </p:txBody>
      </p:sp>
      <p:pic>
        <p:nvPicPr>
          <p:cNvPr id="11" name="图片 10" descr="方块.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291" y="516282"/>
            <a:ext cx="6887024" cy="414371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目录">
    <p:spTree>
      <p:nvGrpSpPr>
        <p:cNvPr id="1" name=""/>
        <p:cNvGrpSpPr/>
        <p:nvPr/>
      </p:nvGrpSpPr>
      <p:grpSpPr>
        <a:xfrm>
          <a:off x="0" y="0"/>
          <a:ext cx="0" cy="0"/>
          <a:chOff x="0" y="0"/>
          <a:chExt cx="0" cy="0"/>
        </a:xfrm>
      </p:grpSpPr>
      <p:sp>
        <p:nvSpPr>
          <p:cNvPr id="6" name="矩形 5"/>
          <p:cNvSpPr/>
          <p:nvPr userDrawn="1"/>
        </p:nvSpPr>
        <p:spPr>
          <a:xfrm>
            <a:off x="0" y="4235824"/>
            <a:ext cx="9144000" cy="907676"/>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7" name="图片 6" descr="形状 3.png"/>
          <p:cNvPicPr>
            <a:picLocks noChangeAspect="1"/>
          </p:cNvPicPr>
          <p:nvPr userDrawn="1"/>
        </p:nvPicPr>
        <p:blipFill>
          <a:blip r:embed="rId2">
            <a:alphaModFix amt="64000"/>
            <a:extLst>
              <a:ext uri="{28A0092B-C50C-407E-A947-70E740481C1C}">
                <a14:useLocalDpi xmlns:a14="http://schemas.microsoft.com/office/drawing/2010/main" val="0"/>
              </a:ext>
            </a:extLst>
          </a:blip>
          <a:stretch>
            <a:fillRect/>
          </a:stretch>
        </p:blipFill>
        <p:spPr>
          <a:xfrm>
            <a:off x="0" y="4244314"/>
            <a:ext cx="9144000" cy="907676"/>
          </a:xfrm>
          <a:prstGeom prst="rect">
            <a:avLst/>
          </a:prstGeom>
        </p:spPr>
      </p:pic>
      <p:pic>
        <p:nvPicPr>
          <p:cNvPr id="3" name="图片 2"/>
          <p:cNvPicPr>
            <a:picLocks noChangeAspect="1"/>
          </p:cNvPicPr>
          <p:nvPr userDrawn="1"/>
        </p:nvPicPr>
        <p:blipFill>
          <a:blip r:embed="rId3"/>
          <a:stretch>
            <a:fillRect/>
          </a:stretch>
        </p:blipFill>
        <p:spPr>
          <a:xfrm>
            <a:off x="1057275" y="2124075"/>
            <a:ext cx="7029450" cy="895350"/>
          </a:xfrm>
          <a:prstGeom prst="rect">
            <a:avLst/>
          </a:prstGeom>
        </p:spPr>
      </p:pic>
      <p:sp>
        <p:nvSpPr>
          <p:cNvPr id="27" name="文本占位符 26"/>
          <p:cNvSpPr>
            <a:spLocks noGrp="1"/>
          </p:cNvSpPr>
          <p:nvPr>
            <p:ph type="body" sz="quarter" idx="10" hasCustomPrompt="1"/>
          </p:nvPr>
        </p:nvSpPr>
        <p:spPr>
          <a:xfrm>
            <a:off x="1057275" y="1146724"/>
            <a:ext cx="6524474" cy="1954701"/>
          </a:xfrm>
        </p:spPr>
        <p:txBody>
          <a:bodyPr/>
          <a:lstStyle>
            <a:lvl1pPr marL="171450" indent="-171450">
              <a:lnSpc>
                <a:spcPct val="150000"/>
              </a:lnSpc>
              <a:buClr>
                <a:srgbClr val="CFA967"/>
              </a:buClr>
              <a:buSzPct val="100000"/>
              <a:buFont typeface="Arial" panose="020B0604020202020204"/>
              <a:buChar char="•"/>
              <a:defRPr sz="2400" b="0" i="0">
                <a:solidFill>
                  <a:srgbClr val="202B88"/>
                </a:solidFill>
                <a:latin typeface="微软雅黑" panose="020B0503020204020204" pitchFamily="34" charset="-122"/>
                <a:ea typeface="微软雅黑" panose="020B0503020204020204" pitchFamily="34" charset="-122"/>
                <a:cs typeface="微软雅黑" panose="020B0503020204020204" pitchFamily="34" charset="-122"/>
              </a:defRPr>
            </a:lvl1pPr>
            <a:lvl2pPr marL="342900" indent="0">
              <a:lnSpc>
                <a:spcPct val="150000"/>
              </a:lnSpc>
              <a:buClr>
                <a:schemeClr val="accent4"/>
              </a:buClr>
              <a:buFont typeface="Wingdings" panose="05000000000000000000" pitchFamily="2" charset="2"/>
              <a:buNone/>
              <a:defRPr b="0" i="0">
                <a:solidFill>
                  <a:schemeClr val="bg1"/>
                </a:solidFill>
                <a:latin typeface="思源黑体 CN Normal" panose="020B0400000000000000" pitchFamily="34" charset="-128"/>
                <a:ea typeface="思源黑体 CN Normal" panose="020B0400000000000000" pitchFamily="34" charset="-128"/>
              </a:defRPr>
            </a:lvl2pPr>
            <a:lvl3pPr marL="8572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3pPr>
            <a:lvl4pPr marL="12001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4pPr>
            <a:lvl5pPr marL="15430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5pPr>
          </a:lstStyle>
          <a:p>
            <a:pPr lvl="0"/>
            <a:r>
              <a:rPr kumimoji="1" lang="zh-CN" altLang="en-US" dirty="0"/>
              <a:t> 单击此处编辑母版文本样式</a:t>
            </a:r>
            <a:endParaRPr kumimoji="1" lang="en-US" altLang="zh-CN" dirty="0"/>
          </a:p>
          <a:p>
            <a:pPr lvl="0"/>
            <a:r>
              <a:rPr kumimoji="1" lang="zh-CN" altLang="en-US" dirty="0"/>
              <a:t> 单击此处编辑母版文本样式</a:t>
            </a:r>
            <a:endParaRPr kumimoji="1" lang="en-US" altLang="zh-CN" dirty="0"/>
          </a:p>
          <a:p>
            <a:pPr lvl="0"/>
            <a:r>
              <a:rPr kumimoji="1" lang="zh-CN" altLang="en-US" dirty="0"/>
              <a:t> 单击此处编辑母版文本样式</a:t>
            </a:r>
          </a:p>
        </p:txBody>
      </p:sp>
      <p:grpSp>
        <p:nvGrpSpPr>
          <p:cNvPr id="2" name="组合 1"/>
          <p:cNvGrpSpPr/>
          <p:nvPr userDrawn="1"/>
        </p:nvGrpSpPr>
        <p:grpSpPr>
          <a:xfrm>
            <a:off x="-86810" y="357173"/>
            <a:ext cx="1058582" cy="341703"/>
            <a:chOff x="-86810" y="357173"/>
            <a:chExt cx="1058582" cy="341703"/>
          </a:xfrm>
        </p:grpSpPr>
        <p:sp>
          <p:nvSpPr>
            <p:cNvPr id="32" name="圆角矩形 31"/>
            <p:cNvSpPr/>
            <p:nvPr userDrawn="1"/>
          </p:nvSpPr>
          <p:spPr>
            <a:xfrm>
              <a:off x="-86810" y="357173"/>
              <a:ext cx="742758" cy="341703"/>
            </a:xfrm>
            <a:prstGeom prst="roundRect">
              <a:avLst>
                <a:gd name="adj" fmla="val 10047"/>
              </a:avLst>
            </a:prstGeom>
            <a:solidFill>
              <a:srgbClr val="202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sp>
          <p:nvSpPr>
            <p:cNvPr id="33" name="燕尾形 32"/>
            <p:cNvSpPr/>
            <p:nvPr userDrawn="1"/>
          </p:nvSpPr>
          <p:spPr>
            <a:xfrm>
              <a:off x="709555" y="357173"/>
              <a:ext cx="262217" cy="341703"/>
            </a:xfrm>
            <a:prstGeom prst="chevron">
              <a:avLst/>
            </a:prstGeom>
            <a:solidFill>
              <a:srgbClr val="CFA9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34" name="燕尾形 33"/>
            <p:cNvSpPr/>
            <p:nvPr userDrawn="1"/>
          </p:nvSpPr>
          <p:spPr>
            <a:xfrm>
              <a:off x="524839" y="357173"/>
              <a:ext cx="262217" cy="341703"/>
            </a:xfrm>
            <a:prstGeom prst="chevron">
              <a:avLst/>
            </a:prstGeom>
            <a:solidFill>
              <a:srgbClr val="202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rgbClr val="FFC600"/>
                </a:solidFill>
                <a:latin typeface="思源黑体" panose="020F0502020204030204" charset="-122"/>
                <a:ea typeface="思源黑体" panose="020F0502020204030204" charset="-122"/>
                <a:cs typeface="思源黑体" panose="020F0502020204030204" charset="-122"/>
              </a:endParaRPr>
            </a:p>
          </p:txBody>
        </p:sp>
      </p:grpSp>
      <p:sp>
        <p:nvSpPr>
          <p:cNvPr id="35" name="文本框 34"/>
          <p:cNvSpPr txBox="1"/>
          <p:nvPr userDrawn="1"/>
        </p:nvSpPr>
        <p:spPr>
          <a:xfrm>
            <a:off x="0" y="328930"/>
            <a:ext cx="786130" cy="398780"/>
          </a:xfrm>
          <a:prstGeom prst="rect">
            <a:avLst/>
          </a:prstGeom>
          <a:noFill/>
        </p:spPr>
        <p:txBody>
          <a:bodyPr wrap="square" rtlCol="0">
            <a:spAutoFit/>
          </a:bodyPr>
          <a:lstStyle/>
          <a:p>
            <a:r>
              <a:rPr kumimoji="1" lang="zh-CN" altLang="en-US" sz="2000" b="1" i="0" dirty="0">
                <a:solidFill>
                  <a:schemeClr val="bg1"/>
                </a:solidFill>
                <a:latin typeface="思源黑体 Medium" panose="020B0600000000000000" charset="-122"/>
                <a:ea typeface="思源黑体 Medium" panose="020B0600000000000000" charset="-122"/>
                <a:cs typeface="思源黑体" panose="020F0502020204030204" charset="-122"/>
              </a:rPr>
              <a:t>目录</a:t>
            </a:r>
          </a:p>
        </p:txBody>
      </p:sp>
      <p:pic>
        <p:nvPicPr>
          <p:cNvPr id="4" name="图片 3">
            <a:extLst>
              <a:ext uri="{FF2B5EF4-FFF2-40B4-BE49-F238E27FC236}">
                <a16:creationId xmlns:a16="http://schemas.microsoft.com/office/drawing/2014/main" id="{EBC51939-329D-FAE7-273D-282F364113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517710" y="4461938"/>
            <a:ext cx="1417284" cy="47242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7357005"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278636"/>
            <a:ext cx="7357005" cy="2956934"/>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3" name="图片 2">
            <a:extLst>
              <a:ext uri="{FF2B5EF4-FFF2-40B4-BE49-F238E27FC236}">
                <a16:creationId xmlns:a16="http://schemas.microsoft.com/office/drawing/2014/main" id="{3AE9EF5C-CB56-40EE-620D-C8B40FB83375}"/>
              </a:ext>
            </a:extLst>
          </p:cNvPr>
          <p:cNvPicPr>
            <a:picLocks noChangeAspect="1"/>
          </p:cNvPicPr>
          <p:nvPr userDrawn="1"/>
        </p:nvPicPr>
        <p:blipFill>
          <a:blip r:embed="rId2"/>
          <a:stretch>
            <a:fillRect/>
          </a:stretch>
        </p:blipFill>
        <p:spPr>
          <a:xfrm>
            <a:off x="7510879" y="4636425"/>
            <a:ext cx="1519827" cy="386943"/>
          </a:xfrm>
          <a:prstGeom prst="rect">
            <a:avLst/>
          </a:prstGeom>
        </p:spPr>
      </p:pic>
      <p:sp>
        <p:nvSpPr>
          <p:cNvPr id="2" name="灯片编号占位符 4">
            <a:extLst>
              <a:ext uri="{FF2B5EF4-FFF2-40B4-BE49-F238E27FC236}">
                <a16:creationId xmlns:a16="http://schemas.microsoft.com/office/drawing/2014/main" id="{DCD6E9A1-B47F-2731-3032-7C56D2E73B58}"/>
              </a:ext>
            </a:extLst>
          </p:cNvPr>
          <p:cNvSpPr>
            <a:spLocks noGrp="1"/>
          </p:cNvSpPr>
          <p:nvPr>
            <p:ph type="sldNum" sz="quarter" idx="11"/>
          </p:nvPr>
        </p:nvSpPr>
        <p:spPr>
          <a:xfrm>
            <a:off x="0" y="4908948"/>
            <a:ext cx="9144000" cy="201216"/>
          </a:xfrm>
          <a:prstGeom prst="rect">
            <a:avLst/>
          </a:prstGeom>
        </p:spPr>
        <p:txBody>
          <a:bodyPr/>
          <a:lstStyle>
            <a:lvl1pPr algn="l">
              <a:defRPr/>
            </a:lvl1pPr>
          </a:lstStyle>
          <a:p>
            <a:fld id="{DBE2DA07-CE19-4C9B-A0EC-06D3955056CF}" type="slidenum">
              <a:rPr lang="en-US" altLang="zh-CN" smtClean="0"/>
              <a:pPr/>
              <a:t>‹#›</a:t>
            </a:fld>
            <a:endParaRPr lang="en-US" altLang="zh-CN"/>
          </a:p>
        </p:txBody>
      </p:sp>
    </p:spTree>
    <p:extLst>
      <p:ext uri="{BB962C8B-B14F-4D97-AF65-F5344CB8AC3E}">
        <p14:creationId xmlns:p14="http://schemas.microsoft.com/office/powerpoint/2010/main" val="3355853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117871" cy="571545"/>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sp>
        <p:nvSpPr>
          <p:cNvPr id="4" name="灯片编号占位符 4"/>
          <p:cNvSpPr>
            <a:spLocks noGrp="1"/>
          </p:cNvSpPr>
          <p:nvPr>
            <p:ph type="sldNum" sz="quarter" idx="10"/>
          </p:nvPr>
        </p:nvSpPr>
        <p:spPr>
          <a:xfrm>
            <a:off x="0" y="4908948"/>
            <a:ext cx="9144000" cy="201216"/>
          </a:xfrm>
          <a:prstGeom prst="rect">
            <a:avLst/>
          </a:prstGeom>
        </p:spPr>
        <p:txBody>
          <a:bodyPr/>
          <a:lstStyle>
            <a:lvl1pPr algn="l">
              <a:defRPr/>
            </a:lvl1pPr>
          </a:lstStyle>
          <a:p>
            <a:fld id="{DBE2DA07-CE19-4C9B-A0EC-06D3955056CF}" type="slidenum">
              <a:rPr lang="en-US" altLang="zh-CN" smtClean="0"/>
              <a:pPr/>
              <a:t>‹#›</a:t>
            </a:fld>
            <a:endParaRPr lang="en-US" altLang="zh-CN"/>
          </a:p>
        </p:txBody>
      </p:sp>
      <p:grpSp>
        <p:nvGrpSpPr>
          <p:cNvPr id="5" name="组合 19">
            <a:extLst>
              <a:ext uri="{FF2B5EF4-FFF2-40B4-BE49-F238E27FC236}">
                <a16:creationId xmlns:a16="http://schemas.microsoft.com/office/drawing/2014/main" id="{EC69FC13-AC4D-F12E-E37C-711A71110FCC}"/>
              </a:ext>
            </a:extLst>
          </p:cNvPr>
          <p:cNvGrpSpPr/>
          <p:nvPr userDrawn="1"/>
        </p:nvGrpSpPr>
        <p:grpSpPr>
          <a:xfrm>
            <a:off x="-139481" y="372601"/>
            <a:ext cx="631650" cy="341703"/>
            <a:chOff x="883264" y="476230"/>
            <a:chExt cx="842200" cy="455604"/>
          </a:xfrm>
          <a:solidFill>
            <a:srgbClr val="FFC600"/>
          </a:solidFill>
        </p:grpSpPr>
        <p:sp>
          <p:nvSpPr>
            <p:cNvPr id="6" name="圆角矩形 5">
              <a:extLst>
                <a:ext uri="{FF2B5EF4-FFF2-40B4-BE49-F238E27FC236}">
                  <a16:creationId xmlns:a16="http://schemas.microsoft.com/office/drawing/2014/main" id="{FEA69B54-1524-A956-F925-ED4692754F43}"/>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7" name="燕尾形 6">
              <a:extLst>
                <a:ext uri="{FF2B5EF4-FFF2-40B4-BE49-F238E27FC236}">
                  <a16:creationId xmlns:a16="http://schemas.microsoft.com/office/drawing/2014/main" id="{6D43F717-4BFF-ADB8-FC3C-DC87E1E6B1AA}"/>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8" name="燕尾形 7">
              <a:extLst>
                <a:ext uri="{FF2B5EF4-FFF2-40B4-BE49-F238E27FC236}">
                  <a16:creationId xmlns:a16="http://schemas.microsoft.com/office/drawing/2014/main" id="{0088B8D7-8797-C398-64B6-9D333B7F71B8}"/>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9" name="文本占位符 26">
            <a:extLst>
              <a:ext uri="{FF2B5EF4-FFF2-40B4-BE49-F238E27FC236}">
                <a16:creationId xmlns:a16="http://schemas.microsoft.com/office/drawing/2014/main" id="{893646F8-FF0F-37C8-EC53-64F7BBC2A3D1}"/>
              </a:ext>
            </a:extLst>
          </p:cNvPr>
          <p:cNvSpPr>
            <a:spLocks noGrp="1"/>
          </p:cNvSpPr>
          <p:nvPr>
            <p:ph type="body" sz="quarter" idx="11" hasCustomPrompt="1"/>
          </p:nvPr>
        </p:nvSpPr>
        <p:spPr>
          <a:xfrm>
            <a:off x="582038" y="1278636"/>
            <a:ext cx="7357005" cy="2956934"/>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pic>
        <p:nvPicPr>
          <p:cNvPr id="10" name="图片 9">
            <a:extLst>
              <a:ext uri="{FF2B5EF4-FFF2-40B4-BE49-F238E27FC236}">
                <a16:creationId xmlns:a16="http://schemas.microsoft.com/office/drawing/2014/main" id="{A5BFE0F4-7A31-5E46-859D-7931E726D192}"/>
              </a:ext>
            </a:extLst>
          </p:cNvPr>
          <p:cNvPicPr>
            <a:picLocks noChangeAspect="1"/>
          </p:cNvPicPr>
          <p:nvPr userDrawn="1"/>
        </p:nvPicPr>
        <p:blipFill>
          <a:blip r:embed="rId2"/>
          <a:stretch>
            <a:fillRect/>
          </a:stretch>
        </p:blipFill>
        <p:spPr>
          <a:xfrm>
            <a:off x="7502253" y="4653090"/>
            <a:ext cx="1519827" cy="386943"/>
          </a:xfrm>
          <a:prstGeom prst="rect">
            <a:avLst/>
          </a:prstGeom>
        </p:spPr>
      </p:pic>
    </p:spTree>
    <p:extLst>
      <p:ext uri="{BB962C8B-B14F-4D97-AF65-F5344CB8AC3E}">
        <p14:creationId xmlns:p14="http://schemas.microsoft.com/office/powerpoint/2010/main" val="4017586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0" y="1773460"/>
            <a:ext cx="9144000" cy="1171575"/>
          </a:xfrm>
          <a:prstGeom prst="rect">
            <a:avLst/>
          </a:prstGeom>
        </p:spPr>
      </p:pic>
      <p:sp>
        <p:nvSpPr>
          <p:cNvPr id="2" name="矩形 1">
            <a:extLst>
              <a:ext uri="{FF2B5EF4-FFF2-40B4-BE49-F238E27FC236}">
                <a16:creationId xmlns:a16="http://schemas.microsoft.com/office/drawing/2014/main" id="{4075B709-553C-2F31-0AC6-3CD7BEB5F72A}"/>
              </a:ext>
            </a:extLst>
          </p:cNvPr>
          <p:cNvSpPr/>
          <p:nvPr userDrawn="1"/>
        </p:nvSpPr>
        <p:spPr>
          <a:xfrm>
            <a:off x="0" y="4961614"/>
            <a:ext cx="9144000" cy="181886"/>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3" name="图片 2" descr="形状 3.png">
            <a:extLst>
              <a:ext uri="{FF2B5EF4-FFF2-40B4-BE49-F238E27FC236}">
                <a16:creationId xmlns:a16="http://schemas.microsoft.com/office/drawing/2014/main" id="{392AD8B5-C0BE-D767-84D9-E93FB6F13215}"/>
              </a:ext>
            </a:extLst>
          </p:cNvPr>
          <p:cNvPicPr>
            <a:picLocks noChangeAspect="1"/>
          </p:cNvPicPr>
          <p:nvPr userDrawn="1"/>
        </p:nvPicPr>
        <p:blipFill>
          <a:blip r:embed="rId3">
            <a:alphaModFix amt="64000"/>
            <a:extLst>
              <a:ext uri="{28A0092B-C50C-407E-A947-70E740481C1C}">
                <a14:useLocalDpi xmlns:a14="http://schemas.microsoft.com/office/drawing/2010/main" val="0"/>
              </a:ext>
            </a:extLst>
          </a:blip>
          <a:stretch>
            <a:fillRect/>
          </a:stretch>
        </p:blipFill>
        <p:spPr>
          <a:xfrm>
            <a:off x="0" y="1"/>
            <a:ext cx="9144000" cy="683812"/>
          </a:xfrm>
          <a:prstGeom prst="rect">
            <a:avLst/>
          </a:prstGeom>
        </p:spPr>
      </p:pic>
      <p:pic>
        <p:nvPicPr>
          <p:cNvPr id="4" name="图片 3">
            <a:extLst>
              <a:ext uri="{FF2B5EF4-FFF2-40B4-BE49-F238E27FC236}">
                <a16:creationId xmlns:a16="http://schemas.microsoft.com/office/drawing/2014/main" id="{A383A833-E148-B64F-D7B3-8453CEFD81CE}"/>
              </a:ext>
            </a:extLst>
          </p:cNvPr>
          <p:cNvPicPr>
            <a:picLocks noChangeAspect="1"/>
          </p:cNvPicPr>
          <p:nvPr userDrawn="1"/>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501807" y="105693"/>
            <a:ext cx="1417284" cy="472428"/>
          </a:xfrm>
          <a:prstGeom prst="rect">
            <a:avLst/>
          </a:prstGeom>
        </p:spPr>
      </p:pic>
    </p:spTree>
    <p:extLst>
      <p:ext uri="{BB962C8B-B14F-4D97-AF65-F5344CB8AC3E}">
        <p14:creationId xmlns:p14="http://schemas.microsoft.com/office/powerpoint/2010/main" val="35553728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05125"/>
            <a:ext cx="7393916" cy="476654"/>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grpSp>
        <p:nvGrpSpPr>
          <p:cNvPr id="5" name="组合 19">
            <a:extLst>
              <a:ext uri="{FF2B5EF4-FFF2-40B4-BE49-F238E27FC236}">
                <a16:creationId xmlns:a16="http://schemas.microsoft.com/office/drawing/2014/main" id="{19A7ADF7-8104-D698-C36A-4A0200D41C60}"/>
              </a:ext>
            </a:extLst>
          </p:cNvPr>
          <p:cNvGrpSpPr/>
          <p:nvPr userDrawn="1"/>
        </p:nvGrpSpPr>
        <p:grpSpPr>
          <a:xfrm>
            <a:off x="-139481" y="372601"/>
            <a:ext cx="631650" cy="341703"/>
            <a:chOff x="883264" y="476230"/>
            <a:chExt cx="842200" cy="455604"/>
          </a:xfrm>
          <a:solidFill>
            <a:srgbClr val="FFC600"/>
          </a:solidFill>
        </p:grpSpPr>
        <p:sp>
          <p:nvSpPr>
            <p:cNvPr id="6" name="圆角矩形 5">
              <a:extLst>
                <a:ext uri="{FF2B5EF4-FFF2-40B4-BE49-F238E27FC236}">
                  <a16:creationId xmlns:a16="http://schemas.microsoft.com/office/drawing/2014/main" id="{7A88D895-748E-1B7B-6BD5-691A16844753}"/>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7" name="燕尾形 6">
              <a:extLst>
                <a:ext uri="{FF2B5EF4-FFF2-40B4-BE49-F238E27FC236}">
                  <a16:creationId xmlns:a16="http://schemas.microsoft.com/office/drawing/2014/main" id="{4797704B-B9D9-5ED3-6F8C-CCBF11FF67BB}"/>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8" name="燕尾形 7">
              <a:extLst>
                <a:ext uri="{FF2B5EF4-FFF2-40B4-BE49-F238E27FC236}">
                  <a16:creationId xmlns:a16="http://schemas.microsoft.com/office/drawing/2014/main" id="{6C72FE15-2A17-C8A4-D94F-8A2E354A15F7}"/>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9" name="灯片编号占位符 4">
            <a:extLst>
              <a:ext uri="{FF2B5EF4-FFF2-40B4-BE49-F238E27FC236}">
                <a16:creationId xmlns:a16="http://schemas.microsoft.com/office/drawing/2014/main" id="{A1A9C4F1-83D5-A987-F01C-F0E0567448F8}"/>
              </a:ext>
            </a:extLst>
          </p:cNvPr>
          <p:cNvSpPr>
            <a:spLocks noGrp="1"/>
          </p:cNvSpPr>
          <p:nvPr>
            <p:ph type="sldNum" sz="quarter" idx="10"/>
          </p:nvPr>
        </p:nvSpPr>
        <p:spPr>
          <a:xfrm>
            <a:off x="0" y="4908948"/>
            <a:ext cx="9144000" cy="201216"/>
          </a:xfrm>
          <a:prstGeom prst="rect">
            <a:avLst/>
          </a:prstGeom>
        </p:spPr>
        <p:txBody>
          <a:bodyPr/>
          <a:lstStyle>
            <a:lvl1pPr algn="l">
              <a:defRPr/>
            </a:lvl1pPr>
          </a:lstStyle>
          <a:p>
            <a:fld id="{DBE2DA07-CE19-4C9B-A0EC-06D3955056CF}" type="slidenum">
              <a:rPr lang="en-US" altLang="zh-CN" smtClean="0"/>
              <a:pPr/>
              <a:t>‹#›</a:t>
            </a:fld>
            <a:endParaRPr lang="en-US" altLang="zh-CN"/>
          </a:p>
        </p:txBody>
      </p:sp>
      <p:pic>
        <p:nvPicPr>
          <p:cNvPr id="10" name="图片 9">
            <a:extLst>
              <a:ext uri="{FF2B5EF4-FFF2-40B4-BE49-F238E27FC236}">
                <a16:creationId xmlns:a16="http://schemas.microsoft.com/office/drawing/2014/main" id="{488BE1B3-62C7-6F90-F64D-57065486DAAF}"/>
              </a:ext>
            </a:extLst>
          </p:cNvPr>
          <p:cNvPicPr>
            <a:picLocks noChangeAspect="1"/>
          </p:cNvPicPr>
          <p:nvPr userDrawn="1"/>
        </p:nvPicPr>
        <p:blipFill>
          <a:blip r:embed="rId2"/>
          <a:stretch>
            <a:fillRect/>
          </a:stretch>
        </p:blipFill>
        <p:spPr>
          <a:xfrm>
            <a:off x="7502253" y="4653090"/>
            <a:ext cx="1519827" cy="386943"/>
          </a:xfrm>
          <a:prstGeom prst="rect">
            <a:avLst/>
          </a:prstGeom>
        </p:spPr>
      </p:pic>
    </p:spTree>
    <p:extLst>
      <p:ext uri="{BB962C8B-B14F-4D97-AF65-F5344CB8AC3E}">
        <p14:creationId xmlns:p14="http://schemas.microsoft.com/office/powerpoint/2010/main" val="748810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fld id="{91A350D4-A768-AE41-8B32-BAB0BDFB4D79}" type="datetimeFigureOut">
              <a:rPr kumimoji="1" lang="zh-CN" altLang="en-US" smtClean="0"/>
              <a:t>2024/2/28</a:t>
            </a:fld>
            <a:endParaRPr kumimoji="1" lang="zh-CN" altLang="en-US"/>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endParaRPr kumimoji="1" lang="zh-CN" alt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fld id="{3A1E3D2E-B3F0-E849-A0C0-75DD48B3F946}"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6" r:id="rId14"/>
    <p:sldLayoutId id="2147483667" r:id="rId15"/>
    <p:sldLayoutId id="2147483669" r:id="rId16"/>
    <p:sldLayoutId id="2147483670" r:id="rId17"/>
  </p:sldLayoutIdLst>
  <p:txStyles>
    <p:titleStyle>
      <a:lvl1pPr algn="l" defTabSz="685800" rtl="0" eaLnBrk="1" latinLnBrk="0" hangingPunct="1">
        <a:lnSpc>
          <a:spcPct val="90000"/>
        </a:lnSpc>
        <a:spcBef>
          <a:spcPct val="0"/>
        </a:spcBef>
        <a:buNone/>
        <a:defRPr sz="3300" kern="1200">
          <a:solidFill>
            <a:schemeClr val="tx1"/>
          </a:solidFill>
          <a:latin typeface="思源黑体" panose="020F0502020204030204" charset="-122"/>
          <a:ea typeface="思源黑体" panose="020F0502020204030204" charset="-122"/>
          <a:cs typeface="思源黑体" panose="020F0502020204030204" charset="-122"/>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https://static001.infoq.cn/resource/image/c7/50/c743f14114242f4b9207c3123fc82b50.png" TargetMode="External"/><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http://www.stickyminds.com/images_upload/bk183_5372.gif" TargetMode="External"/><Relationship Id="rId5" Type="http://schemas.openxmlformats.org/officeDocument/2006/relationships/image" Target="../media/image31.gif"/><Relationship Id="rId4" Type="http://schemas.openxmlformats.org/officeDocument/2006/relationships/image" Target="http://t0.gstatic.cn/images?q=tbn:jac8d-se5Sy-8M"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http://www.dorothygraham.co.uk/books/images/topTen12.gif" TargetMode="External"/><Relationship Id="rId5" Type="http://schemas.openxmlformats.org/officeDocument/2006/relationships/image" Target="../media/image33.gif"/><Relationship Id="rId4" Type="http://schemas.openxmlformats.org/officeDocument/2006/relationships/image" Target="http://t.douban.com/lpic/s1640918.jpg"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37.png"/><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89890" y="1892935"/>
            <a:ext cx="7752624" cy="902513"/>
          </a:xfrm>
        </p:spPr>
        <p:txBody>
          <a:bodyPr>
            <a:noAutofit/>
          </a:bodyPr>
          <a:lstStyle/>
          <a:p>
            <a:pPr algn="l"/>
            <a:r>
              <a:rPr kumimoji="1" lang="zh-CN" altLang="en-US" sz="5400" b="1" dirty="0">
                <a:latin typeface="Tahoma" panose="020B0604030504040204" charset="0"/>
                <a:cs typeface="思源黑体 Bold" panose="020B0800000000000000" charset="-122"/>
              </a:rPr>
              <a:t>软件测试方法和技术</a:t>
            </a:r>
          </a:p>
        </p:txBody>
      </p:sp>
      <p:sp>
        <p:nvSpPr>
          <p:cNvPr id="4" name="文本占位符 3"/>
          <p:cNvSpPr>
            <a:spLocks noGrp="1"/>
          </p:cNvSpPr>
          <p:nvPr>
            <p:ph type="body" sz="quarter" idx="14"/>
          </p:nvPr>
        </p:nvSpPr>
        <p:spPr>
          <a:xfrm>
            <a:off x="4848115" y="4397346"/>
            <a:ext cx="2263140" cy="346710"/>
          </a:xfrm>
        </p:spPr>
        <p:txBody>
          <a:bodyPr>
            <a:noAutofit/>
          </a:bodyPr>
          <a:lstStyle/>
          <a:p>
            <a:r>
              <a:rPr kumimoji="1" lang="zh-CN" altLang="en-US" sz="2000" b="1" dirty="0">
                <a:solidFill>
                  <a:schemeClr val="bg1"/>
                </a:solidFill>
              </a:rPr>
              <a:t>河南大学 </a:t>
            </a:r>
            <a:r>
              <a:rPr kumimoji="1" sz="2000" b="1" dirty="0">
                <a:solidFill>
                  <a:schemeClr val="bg1"/>
                </a:solidFill>
              </a:rPr>
              <a:t> </a:t>
            </a:r>
            <a:r>
              <a:rPr kumimoji="1" lang="zh-CN" altLang="en-US" sz="2000" b="1" dirty="0">
                <a:solidFill>
                  <a:schemeClr val="bg1"/>
                </a:solidFill>
              </a:rPr>
              <a:t>冯东栋</a:t>
            </a:r>
            <a:endParaRPr kumimoji="1" sz="2000" b="1" dirty="0">
              <a:solidFill>
                <a:schemeClr val="bg1"/>
              </a:solidFill>
            </a:endParaRPr>
          </a:p>
        </p:txBody>
      </p:sp>
      <p:grpSp>
        <p:nvGrpSpPr>
          <p:cNvPr id="5" name="组合 10"/>
          <p:cNvGrpSpPr/>
          <p:nvPr/>
        </p:nvGrpSpPr>
        <p:grpSpPr>
          <a:xfrm>
            <a:off x="446405" y="1723390"/>
            <a:ext cx="6461760" cy="1363980"/>
            <a:chOff x="2666198" y="2543397"/>
            <a:chExt cx="7199697" cy="1316333"/>
          </a:xfrm>
        </p:grpSpPr>
        <p:cxnSp>
          <p:nvCxnSpPr>
            <p:cNvPr id="6" name="直线连接符 5"/>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8" name="标题 2"/>
          <p:cNvSpPr>
            <a:spLocks noGrp="1"/>
          </p:cNvSpPr>
          <p:nvPr/>
        </p:nvSpPr>
        <p:spPr>
          <a:xfrm>
            <a:off x="389890" y="3250565"/>
            <a:ext cx="4528820" cy="46355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800" b="0" i="0" kern="1200" spc="300">
                <a:solidFill>
                  <a:schemeClr val="bg1"/>
                </a:solidFill>
                <a:latin typeface="微软雅黑" panose="020B0503020204020204" pitchFamily="34" charset="-122"/>
                <a:ea typeface="微软雅黑" panose="020B0503020204020204" pitchFamily="34" charset="-122"/>
                <a:cs typeface="思源黑体" panose="020F0502020204030204" charset="-122"/>
              </a:defRPr>
            </a:lvl1pPr>
          </a:lstStyle>
          <a:p>
            <a:pPr algn="l"/>
            <a:r>
              <a:rPr kumimoji="1" lang="zh-CN" altLang="en-US" sz="3600" b="1" dirty="0">
                <a:solidFill>
                  <a:srgbClr val="FFC000"/>
                </a:solidFill>
                <a:latin typeface="Tahoma" panose="020B0604030504040204" charset="0"/>
                <a:cs typeface="思源黑体 Bold" panose="020B0800000000000000" charset="-122"/>
              </a:rPr>
              <a:t>课程介绍</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804E3-1701-B4C5-FA32-D459C520F391}"/>
              </a:ext>
            </a:extLst>
          </p:cNvPr>
          <p:cNvSpPr>
            <a:spLocks noGrp="1"/>
          </p:cNvSpPr>
          <p:nvPr>
            <p:ph type="title"/>
          </p:nvPr>
        </p:nvSpPr>
        <p:spPr>
          <a:xfrm>
            <a:off x="0" y="18854"/>
            <a:ext cx="8161119" cy="523875"/>
          </a:xfrm>
        </p:spPr>
        <p:txBody>
          <a:bodyPr/>
          <a:lstStyle/>
          <a:p>
            <a:r>
              <a:rPr kumimoji="1" lang="zh-CN" altLang="en-US" sz="2400" dirty="0">
                <a:latin typeface="微软雅黑" panose="020B0503020204020204" pitchFamily="34" charset="-122"/>
                <a:ea typeface="微软雅黑" panose="020B0503020204020204" pitchFamily="34" charset="-122"/>
              </a:rPr>
              <a:t>软件测试全景图</a:t>
            </a:r>
          </a:p>
        </p:txBody>
      </p:sp>
      <p:pic>
        <p:nvPicPr>
          <p:cNvPr id="4" name="图片 3">
            <a:extLst>
              <a:ext uri="{FF2B5EF4-FFF2-40B4-BE49-F238E27FC236}">
                <a16:creationId xmlns:a16="http://schemas.microsoft.com/office/drawing/2014/main" id="{E907B65A-13FB-449B-5C6C-74E9DCA1E754}"/>
              </a:ext>
            </a:extLst>
          </p:cNvPr>
          <p:cNvPicPr>
            <a:picLocks noChangeAspect="1"/>
          </p:cNvPicPr>
          <p:nvPr/>
        </p:nvPicPr>
        <p:blipFill>
          <a:blip r:embed="rId2"/>
          <a:stretch>
            <a:fillRect/>
          </a:stretch>
        </p:blipFill>
        <p:spPr>
          <a:xfrm>
            <a:off x="1404056" y="435961"/>
            <a:ext cx="7157906" cy="4740723"/>
          </a:xfrm>
          <a:prstGeom prst="rect">
            <a:avLst/>
          </a:prstGeom>
        </p:spPr>
      </p:pic>
    </p:spTree>
    <p:extLst>
      <p:ext uri="{BB962C8B-B14F-4D97-AF65-F5344CB8AC3E}">
        <p14:creationId xmlns:p14="http://schemas.microsoft.com/office/powerpoint/2010/main" val="2312382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3688BD-0439-859C-03A3-74E76ACEE39A}"/>
              </a:ext>
            </a:extLst>
          </p:cNvPr>
          <p:cNvSpPr>
            <a:spLocks noGrp="1"/>
          </p:cNvSpPr>
          <p:nvPr>
            <p:ph type="title"/>
          </p:nvPr>
        </p:nvSpPr>
        <p:spPr/>
        <p:txBody>
          <a:bodyPr/>
          <a:lstStyle/>
          <a:p>
            <a:r>
              <a:rPr kumimoji="1" lang="zh-CN" altLang="en-US" dirty="0">
                <a:latin typeface="微软雅黑" panose="020B0503020204020204" pitchFamily="34" charset="-122"/>
                <a:ea typeface="微软雅黑" panose="020B0503020204020204" pitchFamily="34" charset="-122"/>
              </a:rPr>
              <a:t>系统地理解软件测试</a:t>
            </a:r>
          </a:p>
        </p:txBody>
      </p:sp>
      <p:grpSp>
        <p:nvGrpSpPr>
          <p:cNvPr id="6" name="组合 33">
            <a:extLst>
              <a:ext uri="{FF2B5EF4-FFF2-40B4-BE49-F238E27FC236}">
                <a16:creationId xmlns:a16="http://schemas.microsoft.com/office/drawing/2014/main" id="{5093B7E3-A554-9983-766D-F44460B87922}"/>
              </a:ext>
            </a:extLst>
          </p:cNvPr>
          <p:cNvGrpSpPr/>
          <p:nvPr/>
        </p:nvGrpSpPr>
        <p:grpSpPr>
          <a:xfrm>
            <a:off x="2358384" y="949754"/>
            <a:ext cx="4710511" cy="3803522"/>
            <a:chOff x="1392287" y="1026269"/>
            <a:chExt cx="6011863" cy="5183187"/>
          </a:xfrm>
        </p:grpSpPr>
        <p:pic>
          <p:nvPicPr>
            <p:cNvPr id="7" name="Picture 3" descr="baogua7">
              <a:extLst>
                <a:ext uri="{FF2B5EF4-FFF2-40B4-BE49-F238E27FC236}">
                  <a16:creationId xmlns:a16="http://schemas.microsoft.com/office/drawing/2014/main" id="{0CEF53FE-8EDB-61C1-AB32-5500632AD050}"/>
                </a:ext>
              </a:extLst>
            </p:cNvPr>
            <p:cNvPicPr>
              <a:picLocks noChangeAspect="1" noChangeArrowheads="1"/>
            </p:cNvPicPr>
            <p:nvPr/>
          </p:nvPicPr>
          <p:blipFill>
            <a:blip r:embed="rId2" cstate="print"/>
            <a:srcRect/>
            <a:stretch>
              <a:fillRect/>
            </a:stretch>
          </p:blipFill>
          <p:spPr bwMode="auto">
            <a:xfrm>
              <a:off x="2927400" y="2320081"/>
              <a:ext cx="2746375" cy="2681288"/>
            </a:xfrm>
            <a:prstGeom prst="rect">
              <a:avLst/>
            </a:prstGeom>
            <a:noFill/>
            <a:ln w="9525">
              <a:noFill/>
              <a:miter lim="800000"/>
              <a:headEnd/>
              <a:tailEnd/>
            </a:ln>
          </p:spPr>
        </p:pic>
        <p:sp>
          <p:nvSpPr>
            <p:cNvPr id="8" name="Oval 4">
              <a:extLst>
                <a:ext uri="{FF2B5EF4-FFF2-40B4-BE49-F238E27FC236}">
                  <a16:creationId xmlns:a16="http://schemas.microsoft.com/office/drawing/2014/main" id="{2F6CF505-FC62-BB38-6A75-564C99A04A37}"/>
                </a:ext>
              </a:extLst>
            </p:cNvPr>
            <p:cNvSpPr>
              <a:spLocks noChangeArrowheads="1"/>
            </p:cNvSpPr>
            <p:nvPr/>
          </p:nvSpPr>
          <p:spPr bwMode="auto">
            <a:xfrm>
              <a:off x="1482775" y="3221781"/>
              <a:ext cx="962025" cy="895350"/>
            </a:xfrm>
            <a:prstGeom prst="ellipse">
              <a:avLst/>
            </a:prstGeom>
            <a:solidFill>
              <a:srgbClr val="FF66CC"/>
            </a:solidFill>
            <a:ln w="9525">
              <a:solidFill>
                <a:srgbClr val="000000"/>
              </a:solidFill>
              <a:round/>
              <a:headEnd/>
              <a:tailEnd/>
            </a:ln>
          </p:spPr>
          <p:txBody>
            <a:bodyPr lIns="13500" tIns="27775" rIns="13500" bIns="27775" anchor="ctr"/>
            <a:lstStyle/>
            <a:p>
              <a:pPr algn="ctr"/>
              <a:r>
                <a:rPr lang="zh-CN" altLang="en-US" sz="1200" b="1" dirty="0">
                  <a:solidFill>
                    <a:srgbClr val="002060"/>
                  </a:solidFill>
                  <a:ea typeface="宋体" charset="-122"/>
                </a:rPr>
                <a:t>缺陷</a:t>
              </a:r>
            </a:p>
          </p:txBody>
        </p:sp>
        <p:sp>
          <p:nvSpPr>
            <p:cNvPr id="9" name="Text Box 5">
              <a:extLst>
                <a:ext uri="{FF2B5EF4-FFF2-40B4-BE49-F238E27FC236}">
                  <a16:creationId xmlns:a16="http://schemas.microsoft.com/office/drawing/2014/main" id="{CD5CF99F-AE6E-1E91-C5C4-E87F5D3F6F98}"/>
                </a:ext>
              </a:extLst>
            </p:cNvPr>
            <p:cNvSpPr txBox="1">
              <a:spLocks noChangeArrowheads="1"/>
            </p:cNvSpPr>
            <p:nvPr/>
          </p:nvSpPr>
          <p:spPr bwMode="auto">
            <a:xfrm rot="-908459">
              <a:off x="5221337" y="5749081"/>
              <a:ext cx="812800" cy="401638"/>
            </a:xfrm>
            <a:prstGeom prst="rect">
              <a:avLst/>
            </a:prstGeom>
            <a:noFill/>
            <a:ln w="12700">
              <a:noFill/>
              <a:miter lim="800000"/>
              <a:headEnd/>
              <a:tailEnd/>
            </a:ln>
            <a:effectLst/>
          </p:spPr>
          <p:txBody>
            <a:bodyPr lIns="2700" tIns="2700" rIns="2700" bIns="2700"/>
            <a:lstStyle/>
            <a:p>
              <a:pPr algn="just"/>
              <a:r>
                <a:rPr lang="zh-CN" altLang="en-US" sz="1200">
                  <a:solidFill>
                    <a:srgbClr val="808080"/>
                  </a:solidFill>
                  <a:ea typeface="宋体" charset="-122"/>
                </a:rPr>
                <a:t>指导</a:t>
              </a:r>
              <a:endParaRPr lang="zh-CN" altLang="en-US" sz="1200">
                <a:ea typeface="宋体" charset="-122"/>
              </a:endParaRPr>
            </a:p>
          </p:txBody>
        </p:sp>
        <p:sp>
          <p:nvSpPr>
            <p:cNvPr id="10" name="Rectangle 6">
              <a:extLst>
                <a:ext uri="{FF2B5EF4-FFF2-40B4-BE49-F238E27FC236}">
                  <a16:creationId xmlns:a16="http://schemas.microsoft.com/office/drawing/2014/main" id="{CEBDD6C1-EAE3-77A3-9C38-D79E908276B6}"/>
                </a:ext>
              </a:extLst>
            </p:cNvPr>
            <p:cNvSpPr>
              <a:spLocks noChangeArrowheads="1"/>
            </p:cNvSpPr>
            <p:nvPr/>
          </p:nvSpPr>
          <p:spPr bwMode="auto">
            <a:xfrm>
              <a:off x="3192785" y="3113831"/>
              <a:ext cx="828675" cy="387350"/>
            </a:xfrm>
            <a:prstGeom prst="rect">
              <a:avLst/>
            </a:prstGeom>
            <a:noFill/>
            <a:ln w="9525">
              <a:noFill/>
              <a:miter lim="800000"/>
              <a:headEnd/>
              <a:tailEnd/>
            </a:ln>
          </p:spPr>
          <p:txBody>
            <a:bodyPr lIns="8100" tIns="8100" rIns="2700" bIns="2700"/>
            <a:lstStyle/>
            <a:p>
              <a:pPr algn="just"/>
              <a:r>
                <a:rPr lang="zh-CN" altLang="en-US" sz="1200" b="1" dirty="0">
                  <a:solidFill>
                    <a:srgbClr val="FF66CC"/>
                  </a:solidFill>
                  <a:ea typeface="宋体" charset="-122"/>
                </a:rPr>
                <a:t>测试</a:t>
              </a:r>
            </a:p>
          </p:txBody>
        </p:sp>
        <p:sp>
          <p:nvSpPr>
            <p:cNvPr id="11" name="Rectangle 7">
              <a:extLst>
                <a:ext uri="{FF2B5EF4-FFF2-40B4-BE49-F238E27FC236}">
                  <a16:creationId xmlns:a16="http://schemas.microsoft.com/office/drawing/2014/main" id="{79617284-F79F-F5D4-CC1D-B59DF7CCDF04}"/>
                </a:ext>
              </a:extLst>
            </p:cNvPr>
            <p:cNvSpPr>
              <a:spLocks noChangeArrowheads="1"/>
            </p:cNvSpPr>
            <p:nvPr/>
          </p:nvSpPr>
          <p:spPr bwMode="auto">
            <a:xfrm>
              <a:off x="4560937" y="3761903"/>
              <a:ext cx="1008062" cy="422275"/>
            </a:xfrm>
            <a:prstGeom prst="rect">
              <a:avLst/>
            </a:prstGeom>
            <a:noFill/>
            <a:ln w="9525">
              <a:noFill/>
              <a:miter lim="800000"/>
              <a:headEnd/>
              <a:tailEnd/>
            </a:ln>
          </p:spPr>
          <p:txBody>
            <a:bodyPr lIns="8100" tIns="8100" rIns="2700" bIns="2700"/>
            <a:lstStyle/>
            <a:p>
              <a:pPr algn="just"/>
              <a:r>
                <a:rPr lang="zh-CN" altLang="en-US" sz="1200" b="1" dirty="0">
                  <a:solidFill>
                    <a:srgbClr val="FFFF00"/>
                  </a:solidFill>
                  <a:ea typeface="宋体" charset="-122"/>
                </a:rPr>
                <a:t>软件</a:t>
              </a:r>
            </a:p>
          </p:txBody>
        </p:sp>
        <p:sp>
          <p:nvSpPr>
            <p:cNvPr id="12" name="Oval 8">
              <a:extLst>
                <a:ext uri="{FF2B5EF4-FFF2-40B4-BE49-F238E27FC236}">
                  <a16:creationId xmlns:a16="http://schemas.microsoft.com/office/drawing/2014/main" id="{57E15008-25ED-1F02-DF7B-E5981D216C37}"/>
                </a:ext>
              </a:extLst>
            </p:cNvPr>
            <p:cNvSpPr>
              <a:spLocks noChangeArrowheads="1"/>
            </p:cNvSpPr>
            <p:nvPr/>
          </p:nvSpPr>
          <p:spPr bwMode="auto">
            <a:xfrm>
              <a:off x="2146350" y="4780706"/>
              <a:ext cx="968375" cy="896938"/>
            </a:xfrm>
            <a:prstGeom prst="ellipse">
              <a:avLst/>
            </a:prstGeom>
            <a:solidFill>
              <a:srgbClr val="969696"/>
            </a:solidFill>
            <a:ln w="9525">
              <a:solidFill>
                <a:srgbClr val="333333"/>
              </a:solidFill>
              <a:round/>
              <a:headEnd/>
              <a:tailEnd/>
            </a:ln>
          </p:spPr>
          <p:txBody>
            <a:bodyPr lIns="13500" tIns="27775" rIns="13500" bIns="27775" anchor="ctr"/>
            <a:lstStyle/>
            <a:p>
              <a:pPr algn="ctr"/>
              <a:r>
                <a:rPr lang="zh-CN" altLang="en-US" sz="1200">
                  <a:solidFill>
                    <a:srgbClr val="000000"/>
                  </a:solidFill>
                  <a:ea typeface="宋体" charset="-122"/>
                </a:rPr>
                <a:t>阶段</a:t>
              </a:r>
              <a:endParaRPr lang="zh-CN" altLang="en-US" sz="1200">
                <a:ea typeface="宋体" charset="-122"/>
              </a:endParaRPr>
            </a:p>
          </p:txBody>
        </p:sp>
        <p:sp>
          <p:nvSpPr>
            <p:cNvPr id="13" name="Oval 9">
              <a:extLst>
                <a:ext uri="{FF2B5EF4-FFF2-40B4-BE49-F238E27FC236}">
                  <a16:creationId xmlns:a16="http://schemas.microsoft.com/office/drawing/2014/main" id="{66ACFCB9-61A0-AC88-89F5-892801578144}"/>
                </a:ext>
              </a:extLst>
            </p:cNvPr>
            <p:cNvSpPr>
              <a:spLocks noChangeArrowheads="1"/>
            </p:cNvSpPr>
            <p:nvPr/>
          </p:nvSpPr>
          <p:spPr bwMode="auto">
            <a:xfrm>
              <a:off x="3805287" y="5360144"/>
              <a:ext cx="965200" cy="849312"/>
            </a:xfrm>
            <a:prstGeom prst="ellipse">
              <a:avLst/>
            </a:prstGeom>
            <a:solidFill>
              <a:srgbClr val="808080"/>
            </a:solidFill>
            <a:ln w="9525">
              <a:solidFill>
                <a:srgbClr val="333333"/>
              </a:solidFill>
              <a:round/>
              <a:headEnd/>
              <a:tailEnd/>
            </a:ln>
          </p:spPr>
          <p:txBody>
            <a:bodyPr lIns="13500" tIns="27775" rIns="13500" bIns="27775" anchor="ctr"/>
            <a:lstStyle/>
            <a:p>
              <a:pPr algn="ctr"/>
              <a:r>
                <a:rPr lang="zh-CN" altLang="en-US" sz="1200">
                  <a:solidFill>
                    <a:srgbClr val="FFFFFF"/>
                  </a:solidFill>
                  <a:ea typeface="宋体" charset="-122"/>
                </a:rPr>
                <a:t>管理</a:t>
              </a:r>
              <a:endParaRPr lang="zh-CN" altLang="en-US" sz="1200">
                <a:ea typeface="宋体" charset="-122"/>
              </a:endParaRPr>
            </a:p>
          </p:txBody>
        </p:sp>
        <p:sp>
          <p:nvSpPr>
            <p:cNvPr id="14" name="Oval 10">
              <a:extLst>
                <a:ext uri="{FF2B5EF4-FFF2-40B4-BE49-F238E27FC236}">
                  <a16:creationId xmlns:a16="http://schemas.microsoft.com/office/drawing/2014/main" id="{99D5B3B8-11F3-2143-D7C1-E1A14745C93B}"/>
                </a:ext>
              </a:extLst>
            </p:cNvPr>
            <p:cNvSpPr>
              <a:spLocks noChangeArrowheads="1"/>
            </p:cNvSpPr>
            <p:nvPr/>
          </p:nvSpPr>
          <p:spPr bwMode="auto">
            <a:xfrm>
              <a:off x="5580112" y="4725144"/>
              <a:ext cx="969963" cy="890587"/>
            </a:xfrm>
            <a:prstGeom prst="ellipse">
              <a:avLst/>
            </a:prstGeom>
            <a:solidFill>
              <a:srgbClr val="333333"/>
            </a:solidFill>
            <a:ln w="9525">
              <a:solidFill>
                <a:srgbClr val="C0C0C0"/>
              </a:solidFill>
              <a:round/>
              <a:headEnd/>
              <a:tailEnd/>
            </a:ln>
          </p:spPr>
          <p:txBody>
            <a:bodyPr lIns="13500" tIns="27775" rIns="13500" bIns="27775" anchor="ctr"/>
            <a:lstStyle/>
            <a:p>
              <a:pPr algn="ctr"/>
              <a:r>
                <a:rPr lang="zh-CN" altLang="en-US" sz="1200">
                  <a:solidFill>
                    <a:srgbClr val="FFFFFF"/>
                  </a:solidFill>
                  <a:ea typeface="宋体" charset="-122"/>
                </a:rPr>
                <a:t>思想</a:t>
              </a:r>
              <a:endParaRPr lang="zh-CN" altLang="en-US" sz="1200">
                <a:ea typeface="宋体" charset="-122"/>
              </a:endParaRPr>
            </a:p>
          </p:txBody>
        </p:sp>
        <p:sp>
          <p:nvSpPr>
            <p:cNvPr id="15" name="Oval 11">
              <a:extLst>
                <a:ext uri="{FF2B5EF4-FFF2-40B4-BE49-F238E27FC236}">
                  <a16:creationId xmlns:a16="http://schemas.microsoft.com/office/drawing/2014/main" id="{47FA8C1D-D443-A872-6619-C2EF45260B6E}"/>
                </a:ext>
              </a:extLst>
            </p:cNvPr>
            <p:cNvSpPr>
              <a:spLocks noChangeArrowheads="1"/>
            </p:cNvSpPr>
            <p:nvPr/>
          </p:nvSpPr>
          <p:spPr bwMode="auto">
            <a:xfrm>
              <a:off x="6154787" y="3178919"/>
              <a:ext cx="969963" cy="892175"/>
            </a:xfrm>
            <a:prstGeom prst="ellipse">
              <a:avLst/>
            </a:prstGeom>
            <a:solidFill>
              <a:srgbClr val="00B050"/>
            </a:solidFill>
            <a:ln w="9525">
              <a:solidFill>
                <a:srgbClr val="C0C0C0"/>
              </a:solidFill>
              <a:round/>
              <a:headEnd/>
              <a:tailEnd/>
            </a:ln>
          </p:spPr>
          <p:txBody>
            <a:bodyPr lIns="13500" tIns="27775" rIns="13500" bIns="27775" anchor="ctr"/>
            <a:lstStyle/>
            <a:p>
              <a:pPr algn="ctr"/>
              <a:r>
                <a:rPr lang="zh-CN" altLang="en-US" sz="1200" b="1" dirty="0">
                  <a:solidFill>
                    <a:srgbClr val="FFFFFF"/>
                  </a:solidFill>
                  <a:ea typeface="宋体" charset="-122"/>
                </a:rPr>
                <a:t>质量</a:t>
              </a:r>
              <a:endParaRPr lang="zh-CN" altLang="en-US" sz="1200" b="1" dirty="0">
                <a:ea typeface="宋体" charset="-122"/>
              </a:endParaRPr>
            </a:p>
          </p:txBody>
        </p:sp>
        <p:sp>
          <p:nvSpPr>
            <p:cNvPr id="16" name="Oval 12">
              <a:extLst>
                <a:ext uri="{FF2B5EF4-FFF2-40B4-BE49-F238E27FC236}">
                  <a16:creationId xmlns:a16="http://schemas.microsoft.com/office/drawing/2014/main" id="{24FCE7B5-CA38-ABC8-9880-54F73265DDF2}"/>
                </a:ext>
              </a:extLst>
            </p:cNvPr>
            <p:cNvSpPr>
              <a:spLocks noChangeArrowheads="1"/>
            </p:cNvSpPr>
            <p:nvPr/>
          </p:nvSpPr>
          <p:spPr bwMode="auto">
            <a:xfrm>
              <a:off x="2084437" y="1694606"/>
              <a:ext cx="962025" cy="890588"/>
            </a:xfrm>
            <a:prstGeom prst="ellipse">
              <a:avLst/>
            </a:prstGeom>
            <a:solidFill>
              <a:srgbClr val="FFC000"/>
            </a:solidFill>
            <a:ln w="9525">
              <a:solidFill>
                <a:srgbClr val="000000"/>
              </a:solidFill>
              <a:round/>
              <a:headEnd/>
              <a:tailEnd/>
            </a:ln>
          </p:spPr>
          <p:txBody>
            <a:bodyPr lIns="13500" tIns="27775" rIns="13500" bIns="27775" anchor="ctr"/>
            <a:lstStyle/>
            <a:p>
              <a:pPr algn="ctr"/>
              <a:r>
                <a:rPr lang="zh-CN" altLang="en-US" sz="1200" b="1" dirty="0">
                  <a:solidFill>
                    <a:srgbClr val="000000"/>
                  </a:solidFill>
                  <a:ea typeface="宋体" charset="-122"/>
                </a:rPr>
                <a:t>测试用例</a:t>
              </a:r>
              <a:endParaRPr lang="zh-CN" altLang="en-US" sz="1200" b="1" dirty="0">
                <a:ea typeface="宋体" charset="-122"/>
              </a:endParaRPr>
            </a:p>
          </p:txBody>
        </p:sp>
        <p:sp>
          <p:nvSpPr>
            <p:cNvPr id="17" name="Oval 13">
              <a:extLst>
                <a:ext uri="{FF2B5EF4-FFF2-40B4-BE49-F238E27FC236}">
                  <a16:creationId xmlns:a16="http://schemas.microsoft.com/office/drawing/2014/main" id="{59B8E424-196F-FA6E-5811-D95F8877F1A3}"/>
                </a:ext>
              </a:extLst>
            </p:cNvPr>
            <p:cNvSpPr>
              <a:spLocks noChangeArrowheads="1"/>
            </p:cNvSpPr>
            <p:nvPr/>
          </p:nvSpPr>
          <p:spPr bwMode="auto">
            <a:xfrm>
              <a:off x="3864025" y="1026269"/>
              <a:ext cx="962025" cy="892175"/>
            </a:xfrm>
            <a:prstGeom prst="ellipse">
              <a:avLst/>
            </a:prstGeom>
            <a:solidFill>
              <a:schemeClr val="accent2">
                <a:lumMod val="20000"/>
                <a:lumOff val="80000"/>
              </a:schemeClr>
            </a:solidFill>
            <a:ln w="9525">
              <a:solidFill>
                <a:srgbClr val="000000"/>
              </a:solidFill>
              <a:round/>
              <a:headEnd/>
              <a:tailEnd/>
            </a:ln>
          </p:spPr>
          <p:txBody>
            <a:bodyPr lIns="13500" tIns="27775" rIns="13500" bIns="27775" anchor="ctr"/>
            <a:lstStyle/>
            <a:p>
              <a:pPr algn="ctr"/>
              <a:r>
                <a:rPr lang="zh-CN" altLang="en-US" sz="1200">
                  <a:solidFill>
                    <a:srgbClr val="000000"/>
                  </a:solidFill>
                  <a:ea typeface="宋体" charset="-122"/>
                </a:rPr>
                <a:t>方法</a:t>
              </a:r>
              <a:endParaRPr lang="zh-CN" altLang="en-US" sz="1200">
                <a:ea typeface="宋体" charset="-122"/>
              </a:endParaRPr>
            </a:p>
          </p:txBody>
        </p:sp>
        <p:sp>
          <p:nvSpPr>
            <p:cNvPr id="18" name="Oval 14">
              <a:extLst>
                <a:ext uri="{FF2B5EF4-FFF2-40B4-BE49-F238E27FC236}">
                  <a16:creationId xmlns:a16="http://schemas.microsoft.com/office/drawing/2014/main" id="{CE234B9C-534C-7E50-BAD7-138470BF0BBC}"/>
                </a:ext>
              </a:extLst>
            </p:cNvPr>
            <p:cNvSpPr>
              <a:spLocks noChangeArrowheads="1"/>
            </p:cNvSpPr>
            <p:nvPr/>
          </p:nvSpPr>
          <p:spPr bwMode="auto">
            <a:xfrm>
              <a:off x="5551537" y="1651744"/>
              <a:ext cx="962025" cy="892175"/>
            </a:xfrm>
            <a:prstGeom prst="ellipse">
              <a:avLst/>
            </a:prstGeom>
            <a:solidFill>
              <a:srgbClr val="92D050"/>
            </a:solidFill>
            <a:ln w="9525">
              <a:solidFill>
                <a:srgbClr val="000000"/>
              </a:solidFill>
              <a:round/>
              <a:headEnd/>
              <a:tailEnd/>
            </a:ln>
          </p:spPr>
          <p:txBody>
            <a:bodyPr lIns="13500" tIns="27775" rIns="13500" bIns="27775" anchor="ctr"/>
            <a:lstStyle/>
            <a:p>
              <a:pPr algn="ctr"/>
              <a:r>
                <a:rPr lang="zh-CN" altLang="en-US" sz="1200" b="1" dirty="0">
                  <a:solidFill>
                    <a:srgbClr val="FFFFFF"/>
                  </a:solidFill>
                  <a:ea typeface="宋体" charset="-122"/>
                </a:rPr>
                <a:t>目标</a:t>
              </a:r>
              <a:endParaRPr lang="zh-CN" altLang="en-US" sz="1200" b="1" dirty="0">
                <a:ea typeface="宋体" charset="-122"/>
              </a:endParaRPr>
            </a:p>
          </p:txBody>
        </p:sp>
        <p:sp>
          <p:nvSpPr>
            <p:cNvPr id="19" name="Arc 15">
              <a:extLst>
                <a:ext uri="{FF2B5EF4-FFF2-40B4-BE49-F238E27FC236}">
                  <a16:creationId xmlns:a16="http://schemas.microsoft.com/office/drawing/2014/main" id="{0E28AFBC-6917-33E8-6D38-C29219D991F9}"/>
                </a:ext>
              </a:extLst>
            </p:cNvPr>
            <p:cNvSpPr>
              <a:spLocks/>
            </p:cNvSpPr>
            <p:nvPr/>
          </p:nvSpPr>
          <p:spPr bwMode="auto">
            <a:xfrm rot="10395979" flipH="1" flipV="1">
              <a:off x="5915075" y="2507406"/>
              <a:ext cx="573087" cy="690563"/>
            </a:xfrm>
            <a:custGeom>
              <a:avLst/>
              <a:gdLst>
                <a:gd name="G0" fmla="+- 0 0 0"/>
                <a:gd name="G1" fmla="+- 16909 0 0"/>
                <a:gd name="G2" fmla="+- 21600 0 0"/>
                <a:gd name="T0" fmla="*/ 13440 w 21600"/>
                <a:gd name="T1" fmla="*/ 0 h 16909"/>
                <a:gd name="T2" fmla="*/ 21600 w 21600"/>
                <a:gd name="T3" fmla="*/ 16909 h 16909"/>
                <a:gd name="T4" fmla="*/ 0 w 21600"/>
                <a:gd name="T5" fmla="*/ 16909 h 16909"/>
              </a:gdLst>
              <a:ahLst/>
              <a:cxnLst>
                <a:cxn ang="0">
                  <a:pos x="T0" y="T1"/>
                </a:cxn>
                <a:cxn ang="0">
                  <a:pos x="T2" y="T3"/>
                </a:cxn>
                <a:cxn ang="0">
                  <a:pos x="T4" y="T5"/>
                </a:cxn>
              </a:cxnLst>
              <a:rect l="0" t="0" r="r" b="b"/>
              <a:pathLst>
                <a:path w="21600" h="16909" fill="none" extrusionOk="0">
                  <a:moveTo>
                    <a:pt x="13440" y="-1"/>
                  </a:moveTo>
                  <a:cubicBezTo>
                    <a:pt x="18595" y="4097"/>
                    <a:pt x="21600" y="10323"/>
                    <a:pt x="21600" y="16909"/>
                  </a:cubicBezTo>
                </a:path>
                <a:path w="21600" h="16909" stroke="0" extrusionOk="0">
                  <a:moveTo>
                    <a:pt x="13440" y="-1"/>
                  </a:moveTo>
                  <a:cubicBezTo>
                    <a:pt x="18595" y="4097"/>
                    <a:pt x="21600" y="10323"/>
                    <a:pt x="21600" y="16909"/>
                  </a:cubicBezTo>
                  <a:lnTo>
                    <a:pt x="0" y="16909"/>
                  </a:lnTo>
                  <a:close/>
                </a:path>
              </a:pathLst>
            </a:custGeom>
            <a:noFill/>
            <a:ln w="76200" cmpd="dbl">
              <a:solidFill>
                <a:srgbClr val="00B0F0"/>
              </a:solidFill>
              <a:round/>
              <a:headEnd type="stealth" w="med" len="med"/>
              <a:tailEnd/>
            </a:ln>
          </p:spPr>
          <p:txBody>
            <a:bodyPr/>
            <a:lstStyle/>
            <a:p>
              <a:endParaRPr lang="zh-CN" altLang="en-US" sz="1200"/>
            </a:p>
          </p:txBody>
        </p:sp>
        <p:sp>
          <p:nvSpPr>
            <p:cNvPr id="20" name="Arc 16">
              <a:extLst>
                <a:ext uri="{FF2B5EF4-FFF2-40B4-BE49-F238E27FC236}">
                  <a16:creationId xmlns:a16="http://schemas.microsoft.com/office/drawing/2014/main" id="{5C0259FB-1EEB-1C17-24D5-48180AF0201B}"/>
                </a:ext>
              </a:extLst>
            </p:cNvPr>
            <p:cNvSpPr>
              <a:spLocks/>
            </p:cNvSpPr>
            <p:nvPr/>
          </p:nvSpPr>
          <p:spPr bwMode="auto">
            <a:xfrm rot="7680262" flipH="1" flipV="1">
              <a:off x="4827638" y="1299318"/>
              <a:ext cx="569912" cy="887413"/>
            </a:xfrm>
            <a:custGeom>
              <a:avLst/>
              <a:gdLst>
                <a:gd name="G0" fmla="+- 0 0 0"/>
                <a:gd name="G1" fmla="+- 16909 0 0"/>
                <a:gd name="G2" fmla="+- 21600 0 0"/>
                <a:gd name="T0" fmla="*/ 13440 w 21600"/>
                <a:gd name="T1" fmla="*/ 0 h 25169"/>
                <a:gd name="T2" fmla="*/ 19958 w 21600"/>
                <a:gd name="T3" fmla="*/ 25169 h 25169"/>
                <a:gd name="T4" fmla="*/ 0 w 21600"/>
                <a:gd name="T5" fmla="*/ 16909 h 25169"/>
              </a:gdLst>
              <a:ahLst/>
              <a:cxnLst>
                <a:cxn ang="0">
                  <a:pos x="T0" y="T1"/>
                </a:cxn>
                <a:cxn ang="0">
                  <a:pos x="T2" y="T3"/>
                </a:cxn>
                <a:cxn ang="0">
                  <a:pos x="T4" y="T5"/>
                </a:cxn>
              </a:cxnLst>
              <a:rect l="0" t="0" r="r" b="b"/>
              <a:pathLst>
                <a:path w="21600" h="25169" fill="none" extrusionOk="0">
                  <a:moveTo>
                    <a:pt x="13440" y="-1"/>
                  </a:moveTo>
                  <a:cubicBezTo>
                    <a:pt x="18595" y="4097"/>
                    <a:pt x="21600" y="10323"/>
                    <a:pt x="21600" y="16909"/>
                  </a:cubicBezTo>
                  <a:cubicBezTo>
                    <a:pt x="21600" y="19743"/>
                    <a:pt x="21042" y="22550"/>
                    <a:pt x="19958" y="25169"/>
                  </a:cubicBezTo>
                </a:path>
                <a:path w="21600" h="25169" stroke="0" extrusionOk="0">
                  <a:moveTo>
                    <a:pt x="13440" y="-1"/>
                  </a:moveTo>
                  <a:cubicBezTo>
                    <a:pt x="18595" y="4097"/>
                    <a:pt x="21600" y="10323"/>
                    <a:pt x="21600" y="16909"/>
                  </a:cubicBezTo>
                  <a:cubicBezTo>
                    <a:pt x="21600" y="19743"/>
                    <a:pt x="21042" y="22550"/>
                    <a:pt x="19958" y="25169"/>
                  </a:cubicBezTo>
                  <a:lnTo>
                    <a:pt x="0" y="16909"/>
                  </a:lnTo>
                  <a:close/>
                </a:path>
              </a:pathLst>
            </a:custGeom>
            <a:noFill/>
            <a:ln w="50800" cmpd="dbl">
              <a:solidFill>
                <a:srgbClr val="00B0F0"/>
              </a:solidFill>
              <a:round/>
              <a:headEnd type="stealth" w="med" len="med"/>
              <a:tailEnd/>
            </a:ln>
          </p:spPr>
          <p:txBody>
            <a:bodyPr/>
            <a:lstStyle/>
            <a:p>
              <a:endParaRPr lang="zh-CN" altLang="en-US" sz="1200"/>
            </a:p>
          </p:txBody>
        </p:sp>
        <p:sp>
          <p:nvSpPr>
            <p:cNvPr id="21" name="Arc 17">
              <a:extLst>
                <a:ext uri="{FF2B5EF4-FFF2-40B4-BE49-F238E27FC236}">
                  <a16:creationId xmlns:a16="http://schemas.microsoft.com/office/drawing/2014/main" id="{A8A5D53A-BEDD-AA19-07AF-063CDC7483DE}"/>
                </a:ext>
              </a:extLst>
            </p:cNvPr>
            <p:cNvSpPr>
              <a:spLocks/>
            </p:cNvSpPr>
            <p:nvPr/>
          </p:nvSpPr>
          <p:spPr bwMode="auto">
            <a:xfrm rot="26386263" flipH="1" flipV="1">
              <a:off x="3150444" y="1317575"/>
              <a:ext cx="531812" cy="895350"/>
            </a:xfrm>
            <a:custGeom>
              <a:avLst/>
              <a:gdLst>
                <a:gd name="G0" fmla="+- 0 0 0"/>
                <a:gd name="G1" fmla="+- 19020 0 0"/>
                <a:gd name="G2" fmla="+- 21600 0 0"/>
                <a:gd name="T0" fmla="*/ 10237 w 21600"/>
                <a:gd name="T1" fmla="*/ 0 h 19020"/>
                <a:gd name="T2" fmla="*/ 21600 w 21600"/>
                <a:gd name="T3" fmla="*/ 19020 h 19020"/>
                <a:gd name="T4" fmla="*/ 0 w 21600"/>
                <a:gd name="T5" fmla="*/ 19020 h 19020"/>
              </a:gdLst>
              <a:ahLst/>
              <a:cxnLst>
                <a:cxn ang="0">
                  <a:pos x="T0" y="T1"/>
                </a:cxn>
                <a:cxn ang="0">
                  <a:pos x="T2" y="T3"/>
                </a:cxn>
                <a:cxn ang="0">
                  <a:pos x="T4" y="T5"/>
                </a:cxn>
              </a:cxnLst>
              <a:rect l="0" t="0" r="r" b="b"/>
              <a:pathLst>
                <a:path w="21600" h="19020" fill="none" extrusionOk="0">
                  <a:moveTo>
                    <a:pt x="10237" y="-1"/>
                  </a:moveTo>
                  <a:cubicBezTo>
                    <a:pt x="17235" y="3766"/>
                    <a:pt x="21600" y="11072"/>
                    <a:pt x="21600" y="19020"/>
                  </a:cubicBezTo>
                </a:path>
                <a:path w="21600" h="19020" stroke="0" extrusionOk="0">
                  <a:moveTo>
                    <a:pt x="10237" y="-1"/>
                  </a:moveTo>
                  <a:cubicBezTo>
                    <a:pt x="17235" y="3766"/>
                    <a:pt x="21600" y="11072"/>
                    <a:pt x="21600" y="19020"/>
                  </a:cubicBezTo>
                  <a:lnTo>
                    <a:pt x="0" y="19020"/>
                  </a:lnTo>
                  <a:close/>
                </a:path>
              </a:pathLst>
            </a:custGeom>
            <a:noFill/>
            <a:ln w="50800" cmpd="dbl">
              <a:solidFill>
                <a:srgbClr val="00B0F0"/>
              </a:solidFill>
              <a:round/>
              <a:headEnd type="stealth" w="med" len="med"/>
              <a:tailEnd/>
            </a:ln>
          </p:spPr>
          <p:txBody>
            <a:bodyPr/>
            <a:lstStyle/>
            <a:p>
              <a:endParaRPr lang="zh-CN" altLang="en-US" sz="1200"/>
            </a:p>
          </p:txBody>
        </p:sp>
        <p:sp>
          <p:nvSpPr>
            <p:cNvPr id="22" name="Arc 18">
              <a:extLst>
                <a:ext uri="{FF2B5EF4-FFF2-40B4-BE49-F238E27FC236}">
                  <a16:creationId xmlns:a16="http://schemas.microsoft.com/office/drawing/2014/main" id="{1256CB32-9271-2988-8259-50A9036BA8E9}"/>
                </a:ext>
              </a:extLst>
            </p:cNvPr>
            <p:cNvSpPr>
              <a:spLocks/>
            </p:cNvSpPr>
            <p:nvPr/>
          </p:nvSpPr>
          <p:spPr bwMode="auto">
            <a:xfrm rot="45779011" flipH="1" flipV="1">
              <a:off x="2009825" y="2607419"/>
              <a:ext cx="552450" cy="730250"/>
            </a:xfrm>
            <a:custGeom>
              <a:avLst/>
              <a:gdLst>
                <a:gd name="G0" fmla="+- 0 0 0"/>
                <a:gd name="G1" fmla="+- 17915 0 0"/>
                <a:gd name="G2" fmla="+- 21600 0 0"/>
                <a:gd name="T0" fmla="*/ 12068 w 21600"/>
                <a:gd name="T1" fmla="*/ 0 h 17915"/>
                <a:gd name="T2" fmla="*/ 21600 w 21600"/>
                <a:gd name="T3" fmla="*/ 17915 h 17915"/>
                <a:gd name="T4" fmla="*/ 0 w 21600"/>
                <a:gd name="T5" fmla="*/ 17915 h 17915"/>
              </a:gdLst>
              <a:ahLst/>
              <a:cxnLst>
                <a:cxn ang="0">
                  <a:pos x="T0" y="T1"/>
                </a:cxn>
                <a:cxn ang="0">
                  <a:pos x="T2" y="T3"/>
                </a:cxn>
                <a:cxn ang="0">
                  <a:pos x="T4" y="T5"/>
                </a:cxn>
              </a:cxnLst>
              <a:rect l="0" t="0" r="r" b="b"/>
              <a:pathLst>
                <a:path w="21600" h="17915" fill="none" extrusionOk="0">
                  <a:moveTo>
                    <a:pt x="12067" y="0"/>
                  </a:moveTo>
                  <a:cubicBezTo>
                    <a:pt x="18027" y="4014"/>
                    <a:pt x="21600" y="10729"/>
                    <a:pt x="21600" y="17915"/>
                  </a:cubicBezTo>
                </a:path>
                <a:path w="21600" h="17915" stroke="0" extrusionOk="0">
                  <a:moveTo>
                    <a:pt x="12067" y="0"/>
                  </a:moveTo>
                  <a:cubicBezTo>
                    <a:pt x="18027" y="4014"/>
                    <a:pt x="21600" y="10729"/>
                    <a:pt x="21600" y="17915"/>
                  </a:cubicBezTo>
                  <a:lnTo>
                    <a:pt x="0" y="17915"/>
                  </a:lnTo>
                  <a:close/>
                </a:path>
              </a:pathLst>
            </a:custGeom>
            <a:noFill/>
            <a:ln w="76200" cmpd="dbl">
              <a:solidFill>
                <a:srgbClr val="FFC000"/>
              </a:solidFill>
              <a:round/>
              <a:headEnd type="stealth" w="med" len="med"/>
              <a:tailEnd/>
            </a:ln>
          </p:spPr>
          <p:txBody>
            <a:bodyPr/>
            <a:lstStyle/>
            <a:p>
              <a:endParaRPr lang="zh-CN" altLang="en-US" sz="1200"/>
            </a:p>
          </p:txBody>
        </p:sp>
        <p:sp>
          <p:nvSpPr>
            <p:cNvPr id="23" name="Arc 19">
              <a:extLst>
                <a:ext uri="{FF2B5EF4-FFF2-40B4-BE49-F238E27FC236}">
                  <a16:creationId xmlns:a16="http://schemas.microsoft.com/office/drawing/2014/main" id="{E8C8BBAB-EEB5-D6DE-2171-7243FB28916E}"/>
                </a:ext>
              </a:extLst>
            </p:cNvPr>
            <p:cNvSpPr>
              <a:spLocks/>
            </p:cNvSpPr>
            <p:nvPr/>
          </p:nvSpPr>
          <p:spPr bwMode="auto">
            <a:xfrm rot="15531429" flipH="1" flipV="1">
              <a:off x="4928443" y="5041850"/>
              <a:ext cx="569913" cy="942975"/>
            </a:xfrm>
            <a:custGeom>
              <a:avLst/>
              <a:gdLst>
                <a:gd name="G0" fmla="+- 0 0 0"/>
                <a:gd name="G1" fmla="+- 18250 0 0"/>
                <a:gd name="G2" fmla="+- 21600 0 0"/>
                <a:gd name="T0" fmla="*/ 11553 w 21600"/>
                <a:gd name="T1" fmla="*/ 0 h 23319"/>
                <a:gd name="T2" fmla="*/ 20997 w 21600"/>
                <a:gd name="T3" fmla="*/ 23319 h 23319"/>
                <a:gd name="T4" fmla="*/ 0 w 21600"/>
                <a:gd name="T5" fmla="*/ 18250 h 23319"/>
              </a:gdLst>
              <a:ahLst/>
              <a:cxnLst>
                <a:cxn ang="0">
                  <a:pos x="T0" y="T1"/>
                </a:cxn>
                <a:cxn ang="0">
                  <a:pos x="T2" y="T3"/>
                </a:cxn>
                <a:cxn ang="0">
                  <a:pos x="T4" y="T5"/>
                </a:cxn>
              </a:cxnLst>
              <a:rect l="0" t="0" r="r" b="b"/>
              <a:pathLst>
                <a:path w="21600" h="23319" fill="none" extrusionOk="0">
                  <a:moveTo>
                    <a:pt x="11553" y="-1"/>
                  </a:moveTo>
                  <a:cubicBezTo>
                    <a:pt x="17808" y="3959"/>
                    <a:pt x="21600" y="10846"/>
                    <a:pt x="21600" y="18250"/>
                  </a:cubicBezTo>
                  <a:cubicBezTo>
                    <a:pt x="21600" y="19957"/>
                    <a:pt x="21397" y="21659"/>
                    <a:pt x="20996" y="23318"/>
                  </a:cubicBezTo>
                </a:path>
                <a:path w="21600" h="23319" stroke="0" extrusionOk="0">
                  <a:moveTo>
                    <a:pt x="11553" y="-1"/>
                  </a:moveTo>
                  <a:cubicBezTo>
                    <a:pt x="17808" y="3959"/>
                    <a:pt x="21600" y="10846"/>
                    <a:pt x="21600" y="18250"/>
                  </a:cubicBezTo>
                  <a:cubicBezTo>
                    <a:pt x="21600" y="19957"/>
                    <a:pt x="21397" y="21659"/>
                    <a:pt x="20996" y="23318"/>
                  </a:cubicBezTo>
                  <a:lnTo>
                    <a:pt x="0" y="18250"/>
                  </a:lnTo>
                  <a:close/>
                </a:path>
              </a:pathLst>
            </a:custGeom>
            <a:noFill/>
            <a:ln w="28575">
              <a:solidFill>
                <a:srgbClr val="333333"/>
              </a:solidFill>
              <a:round/>
              <a:headEnd/>
              <a:tailEnd type="stealth" w="med" len="med"/>
            </a:ln>
          </p:spPr>
          <p:txBody>
            <a:bodyPr/>
            <a:lstStyle/>
            <a:p>
              <a:endParaRPr lang="zh-CN" altLang="en-US" sz="1200"/>
            </a:p>
          </p:txBody>
        </p:sp>
        <p:sp>
          <p:nvSpPr>
            <p:cNvPr id="24" name="Arc 20">
              <a:extLst>
                <a:ext uri="{FF2B5EF4-FFF2-40B4-BE49-F238E27FC236}">
                  <a16:creationId xmlns:a16="http://schemas.microsoft.com/office/drawing/2014/main" id="{BD1D6174-2332-BD3C-CC7E-E1FCF70989A5}"/>
                </a:ext>
              </a:extLst>
            </p:cNvPr>
            <p:cNvSpPr>
              <a:spLocks/>
            </p:cNvSpPr>
            <p:nvPr/>
          </p:nvSpPr>
          <p:spPr bwMode="auto">
            <a:xfrm rot="13232942" flipH="1" flipV="1">
              <a:off x="6002387" y="3948856"/>
              <a:ext cx="569913" cy="706438"/>
            </a:xfrm>
            <a:custGeom>
              <a:avLst/>
              <a:gdLst>
                <a:gd name="G0" fmla="+- 0 0 0"/>
                <a:gd name="G1" fmla="+- 16909 0 0"/>
                <a:gd name="G2" fmla="+- 21600 0 0"/>
                <a:gd name="T0" fmla="*/ 13440 w 21600"/>
                <a:gd name="T1" fmla="*/ 0 h 17361"/>
                <a:gd name="T2" fmla="*/ 21595 w 21600"/>
                <a:gd name="T3" fmla="*/ 17361 h 17361"/>
                <a:gd name="T4" fmla="*/ 0 w 21600"/>
                <a:gd name="T5" fmla="*/ 16909 h 17361"/>
              </a:gdLst>
              <a:ahLst/>
              <a:cxnLst>
                <a:cxn ang="0">
                  <a:pos x="T0" y="T1"/>
                </a:cxn>
                <a:cxn ang="0">
                  <a:pos x="T2" y="T3"/>
                </a:cxn>
                <a:cxn ang="0">
                  <a:pos x="T4" y="T5"/>
                </a:cxn>
              </a:cxnLst>
              <a:rect l="0" t="0" r="r" b="b"/>
              <a:pathLst>
                <a:path w="21600" h="17361" fill="none" extrusionOk="0">
                  <a:moveTo>
                    <a:pt x="13440" y="-1"/>
                  </a:moveTo>
                  <a:cubicBezTo>
                    <a:pt x="18595" y="4097"/>
                    <a:pt x="21600" y="10323"/>
                    <a:pt x="21600" y="16909"/>
                  </a:cubicBezTo>
                  <a:cubicBezTo>
                    <a:pt x="21600" y="17059"/>
                    <a:pt x="21598" y="17210"/>
                    <a:pt x="21595" y="17361"/>
                  </a:cubicBezTo>
                </a:path>
                <a:path w="21600" h="17361" stroke="0" extrusionOk="0">
                  <a:moveTo>
                    <a:pt x="13440" y="-1"/>
                  </a:moveTo>
                  <a:cubicBezTo>
                    <a:pt x="18595" y="4097"/>
                    <a:pt x="21600" y="10323"/>
                    <a:pt x="21600" y="16909"/>
                  </a:cubicBezTo>
                  <a:cubicBezTo>
                    <a:pt x="21600" y="17059"/>
                    <a:pt x="21598" y="17210"/>
                    <a:pt x="21595" y="17361"/>
                  </a:cubicBezTo>
                  <a:lnTo>
                    <a:pt x="0" y="16909"/>
                  </a:lnTo>
                  <a:close/>
                </a:path>
              </a:pathLst>
            </a:custGeom>
            <a:noFill/>
            <a:ln w="28575">
              <a:solidFill>
                <a:srgbClr val="333333"/>
              </a:solidFill>
              <a:round/>
              <a:headEnd/>
              <a:tailEnd type="stealth" w="med" len="med"/>
            </a:ln>
          </p:spPr>
          <p:txBody>
            <a:bodyPr/>
            <a:lstStyle/>
            <a:p>
              <a:endParaRPr lang="zh-CN" altLang="en-US" sz="1200"/>
            </a:p>
          </p:txBody>
        </p:sp>
        <p:sp>
          <p:nvSpPr>
            <p:cNvPr id="25" name="Arc 21">
              <a:extLst>
                <a:ext uri="{FF2B5EF4-FFF2-40B4-BE49-F238E27FC236}">
                  <a16:creationId xmlns:a16="http://schemas.microsoft.com/office/drawing/2014/main" id="{4FD065E7-2C9A-61DB-43C9-EB67D1D100A7}"/>
                </a:ext>
              </a:extLst>
            </p:cNvPr>
            <p:cNvSpPr>
              <a:spLocks/>
            </p:cNvSpPr>
            <p:nvPr/>
          </p:nvSpPr>
          <p:spPr bwMode="auto">
            <a:xfrm rot="18297482" flipH="1" flipV="1">
              <a:off x="3226644" y="5127574"/>
              <a:ext cx="571500" cy="792163"/>
            </a:xfrm>
            <a:custGeom>
              <a:avLst/>
              <a:gdLst>
                <a:gd name="G0" fmla="+- 0 0 0"/>
                <a:gd name="G1" fmla="+- 16484 0 0"/>
                <a:gd name="G2" fmla="+- 21600 0 0"/>
                <a:gd name="T0" fmla="*/ 13958 w 21600"/>
                <a:gd name="T1" fmla="*/ 0 h 22253"/>
                <a:gd name="T2" fmla="*/ 20815 w 21600"/>
                <a:gd name="T3" fmla="*/ 22253 h 22253"/>
                <a:gd name="T4" fmla="*/ 0 w 21600"/>
                <a:gd name="T5" fmla="*/ 16484 h 22253"/>
              </a:gdLst>
              <a:ahLst/>
              <a:cxnLst>
                <a:cxn ang="0">
                  <a:pos x="T0" y="T1"/>
                </a:cxn>
                <a:cxn ang="0">
                  <a:pos x="T2" y="T3"/>
                </a:cxn>
                <a:cxn ang="0">
                  <a:pos x="T4" y="T5"/>
                </a:cxn>
              </a:cxnLst>
              <a:rect l="0" t="0" r="r" b="b"/>
              <a:pathLst>
                <a:path w="21600" h="22253" fill="none" extrusionOk="0">
                  <a:moveTo>
                    <a:pt x="13958" y="-1"/>
                  </a:moveTo>
                  <a:cubicBezTo>
                    <a:pt x="18804" y="4103"/>
                    <a:pt x="21600" y="10133"/>
                    <a:pt x="21600" y="16484"/>
                  </a:cubicBezTo>
                  <a:cubicBezTo>
                    <a:pt x="21600" y="18433"/>
                    <a:pt x="21336" y="20374"/>
                    <a:pt x="20815" y="22253"/>
                  </a:cubicBezTo>
                </a:path>
                <a:path w="21600" h="22253" stroke="0" extrusionOk="0">
                  <a:moveTo>
                    <a:pt x="13958" y="-1"/>
                  </a:moveTo>
                  <a:cubicBezTo>
                    <a:pt x="18804" y="4103"/>
                    <a:pt x="21600" y="10133"/>
                    <a:pt x="21600" y="16484"/>
                  </a:cubicBezTo>
                  <a:cubicBezTo>
                    <a:pt x="21600" y="18433"/>
                    <a:pt x="21336" y="20374"/>
                    <a:pt x="20815" y="22253"/>
                  </a:cubicBezTo>
                  <a:lnTo>
                    <a:pt x="0" y="16484"/>
                  </a:lnTo>
                  <a:close/>
                </a:path>
              </a:pathLst>
            </a:custGeom>
            <a:noFill/>
            <a:ln w="28575">
              <a:solidFill>
                <a:srgbClr val="333333"/>
              </a:solidFill>
              <a:round/>
              <a:headEnd/>
              <a:tailEnd type="stealth" w="med" len="med"/>
            </a:ln>
          </p:spPr>
          <p:txBody>
            <a:bodyPr/>
            <a:lstStyle/>
            <a:p>
              <a:endParaRPr lang="zh-CN" altLang="en-US" sz="1200"/>
            </a:p>
          </p:txBody>
        </p:sp>
        <p:sp>
          <p:nvSpPr>
            <p:cNvPr id="26" name="Arc 22">
              <a:extLst>
                <a:ext uri="{FF2B5EF4-FFF2-40B4-BE49-F238E27FC236}">
                  <a16:creationId xmlns:a16="http://schemas.microsoft.com/office/drawing/2014/main" id="{C3E17E9A-4804-D37B-DA4F-5E1AFC83B7E5}"/>
                </a:ext>
              </a:extLst>
            </p:cNvPr>
            <p:cNvSpPr>
              <a:spLocks/>
            </p:cNvSpPr>
            <p:nvPr/>
          </p:nvSpPr>
          <p:spPr bwMode="auto">
            <a:xfrm rot="21144835" flipH="1" flipV="1">
              <a:off x="2001887" y="4074269"/>
              <a:ext cx="571500" cy="812800"/>
            </a:xfrm>
            <a:custGeom>
              <a:avLst/>
              <a:gdLst>
                <a:gd name="G0" fmla="+- 0 0 0"/>
                <a:gd name="G1" fmla="+- 16484 0 0"/>
                <a:gd name="G2" fmla="+- 21600 0 0"/>
                <a:gd name="T0" fmla="*/ 13958 w 21600"/>
                <a:gd name="T1" fmla="*/ 0 h 20035"/>
                <a:gd name="T2" fmla="*/ 21306 w 21600"/>
                <a:gd name="T3" fmla="*/ 20035 h 20035"/>
                <a:gd name="T4" fmla="*/ 0 w 21600"/>
                <a:gd name="T5" fmla="*/ 16484 h 20035"/>
              </a:gdLst>
              <a:ahLst/>
              <a:cxnLst>
                <a:cxn ang="0">
                  <a:pos x="T0" y="T1"/>
                </a:cxn>
                <a:cxn ang="0">
                  <a:pos x="T2" y="T3"/>
                </a:cxn>
                <a:cxn ang="0">
                  <a:pos x="T4" y="T5"/>
                </a:cxn>
              </a:cxnLst>
              <a:rect l="0" t="0" r="r" b="b"/>
              <a:pathLst>
                <a:path w="21600" h="20035" fill="none" extrusionOk="0">
                  <a:moveTo>
                    <a:pt x="13958" y="-1"/>
                  </a:moveTo>
                  <a:cubicBezTo>
                    <a:pt x="18804" y="4103"/>
                    <a:pt x="21600" y="10133"/>
                    <a:pt x="21600" y="16484"/>
                  </a:cubicBezTo>
                  <a:cubicBezTo>
                    <a:pt x="21600" y="17673"/>
                    <a:pt x="21501" y="18861"/>
                    <a:pt x="21306" y="20035"/>
                  </a:cubicBezTo>
                </a:path>
                <a:path w="21600" h="20035" stroke="0" extrusionOk="0">
                  <a:moveTo>
                    <a:pt x="13958" y="-1"/>
                  </a:moveTo>
                  <a:cubicBezTo>
                    <a:pt x="18804" y="4103"/>
                    <a:pt x="21600" y="10133"/>
                    <a:pt x="21600" y="16484"/>
                  </a:cubicBezTo>
                  <a:cubicBezTo>
                    <a:pt x="21600" y="17673"/>
                    <a:pt x="21501" y="18861"/>
                    <a:pt x="21306" y="20035"/>
                  </a:cubicBezTo>
                  <a:lnTo>
                    <a:pt x="0" y="16484"/>
                  </a:lnTo>
                  <a:close/>
                </a:path>
              </a:pathLst>
            </a:custGeom>
            <a:noFill/>
            <a:ln w="28575">
              <a:solidFill>
                <a:srgbClr val="333333"/>
              </a:solidFill>
              <a:round/>
              <a:headEnd/>
              <a:tailEnd type="stealth" w="med" len="med"/>
            </a:ln>
          </p:spPr>
          <p:txBody>
            <a:bodyPr/>
            <a:lstStyle/>
            <a:p>
              <a:endParaRPr lang="zh-CN" altLang="en-US" sz="1200"/>
            </a:p>
          </p:txBody>
        </p:sp>
        <p:sp>
          <p:nvSpPr>
            <p:cNvPr id="27" name="Text Box 23">
              <a:extLst>
                <a:ext uri="{FF2B5EF4-FFF2-40B4-BE49-F238E27FC236}">
                  <a16:creationId xmlns:a16="http://schemas.microsoft.com/office/drawing/2014/main" id="{7F088D31-EF71-8592-013B-55ABB0D159BB}"/>
                </a:ext>
              </a:extLst>
            </p:cNvPr>
            <p:cNvSpPr txBox="1">
              <a:spLocks noChangeArrowheads="1"/>
            </p:cNvSpPr>
            <p:nvPr/>
          </p:nvSpPr>
          <p:spPr bwMode="auto">
            <a:xfrm rot="-908459">
              <a:off x="6588175" y="4233019"/>
              <a:ext cx="815975" cy="444500"/>
            </a:xfrm>
            <a:prstGeom prst="rect">
              <a:avLst/>
            </a:prstGeom>
            <a:noFill/>
            <a:ln w="12700">
              <a:noFill/>
              <a:miter lim="800000"/>
              <a:headEnd/>
              <a:tailEnd/>
            </a:ln>
            <a:effectLst/>
          </p:spPr>
          <p:txBody>
            <a:bodyPr lIns="2700" tIns="2700" rIns="2700" bIns="2700"/>
            <a:lstStyle/>
            <a:p>
              <a:pPr algn="just"/>
              <a:r>
                <a:rPr lang="zh-CN" altLang="en-US" sz="1200">
                  <a:solidFill>
                    <a:srgbClr val="808080"/>
                  </a:solidFill>
                  <a:ea typeface="宋体" charset="-122"/>
                </a:rPr>
                <a:t>源泉</a:t>
              </a:r>
              <a:endParaRPr lang="zh-CN" altLang="en-US" sz="1200">
                <a:ea typeface="宋体" charset="-122"/>
              </a:endParaRPr>
            </a:p>
          </p:txBody>
        </p:sp>
        <p:sp>
          <p:nvSpPr>
            <p:cNvPr id="28" name="Text Box 24">
              <a:extLst>
                <a:ext uri="{FF2B5EF4-FFF2-40B4-BE49-F238E27FC236}">
                  <a16:creationId xmlns:a16="http://schemas.microsoft.com/office/drawing/2014/main" id="{276ADFC3-1ECB-275E-2FCE-0E72A1091E26}"/>
                </a:ext>
              </a:extLst>
            </p:cNvPr>
            <p:cNvSpPr txBox="1">
              <a:spLocks noChangeArrowheads="1"/>
            </p:cNvSpPr>
            <p:nvPr/>
          </p:nvSpPr>
          <p:spPr bwMode="auto">
            <a:xfrm rot="-908459">
              <a:off x="6516737" y="2501056"/>
              <a:ext cx="815975" cy="444500"/>
            </a:xfrm>
            <a:prstGeom prst="rect">
              <a:avLst/>
            </a:prstGeom>
            <a:noFill/>
            <a:ln w="12700">
              <a:noFill/>
              <a:miter lim="800000"/>
              <a:headEnd/>
              <a:tailEnd/>
            </a:ln>
            <a:effectLst/>
          </p:spPr>
          <p:txBody>
            <a:bodyPr lIns="2700" tIns="2700" rIns="2700" bIns="2700"/>
            <a:lstStyle/>
            <a:p>
              <a:pPr algn="just"/>
              <a:r>
                <a:rPr lang="zh-CN" altLang="en-US" sz="1200">
                  <a:solidFill>
                    <a:srgbClr val="808080"/>
                  </a:solidFill>
                  <a:ea typeface="宋体" charset="-122"/>
                </a:rPr>
                <a:t>确定</a:t>
              </a:r>
              <a:endParaRPr lang="zh-CN" altLang="en-US" sz="1200">
                <a:ea typeface="宋体" charset="-122"/>
              </a:endParaRPr>
            </a:p>
          </p:txBody>
        </p:sp>
        <p:sp>
          <p:nvSpPr>
            <p:cNvPr id="29" name="Text Box 25">
              <a:extLst>
                <a:ext uri="{FF2B5EF4-FFF2-40B4-BE49-F238E27FC236}">
                  <a16:creationId xmlns:a16="http://schemas.microsoft.com/office/drawing/2014/main" id="{1CC428E3-A009-C904-069A-085E691D78C1}"/>
                </a:ext>
              </a:extLst>
            </p:cNvPr>
            <p:cNvSpPr txBox="1">
              <a:spLocks noChangeArrowheads="1"/>
            </p:cNvSpPr>
            <p:nvPr/>
          </p:nvSpPr>
          <p:spPr bwMode="auto">
            <a:xfrm rot="-908459">
              <a:off x="5173712" y="1134219"/>
              <a:ext cx="815975" cy="444500"/>
            </a:xfrm>
            <a:prstGeom prst="rect">
              <a:avLst/>
            </a:prstGeom>
            <a:noFill/>
            <a:ln w="12700">
              <a:noFill/>
              <a:miter lim="800000"/>
              <a:headEnd/>
              <a:tailEnd/>
            </a:ln>
            <a:effectLst/>
          </p:spPr>
          <p:txBody>
            <a:bodyPr lIns="2700" tIns="2700" rIns="2700" bIns="2700"/>
            <a:lstStyle/>
            <a:p>
              <a:pPr algn="just"/>
              <a:r>
                <a:rPr lang="zh-CN" altLang="en-US" sz="1200">
                  <a:solidFill>
                    <a:srgbClr val="808080"/>
                  </a:solidFill>
                  <a:ea typeface="宋体" charset="-122"/>
                </a:rPr>
                <a:t>寻求</a:t>
              </a:r>
              <a:endParaRPr lang="zh-CN" altLang="en-US" sz="1200">
                <a:ea typeface="宋体" charset="-122"/>
              </a:endParaRPr>
            </a:p>
          </p:txBody>
        </p:sp>
        <p:sp>
          <p:nvSpPr>
            <p:cNvPr id="30" name="Text Box 26">
              <a:extLst>
                <a:ext uri="{FF2B5EF4-FFF2-40B4-BE49-F238E27FC236}">
                  <a16:creationId xmlns:a16="http://schemas.microsoft.com/office/drawing/2014/main" id="{22B9BF42-F684-B9A5-6928-230A25C62F43}"/>
                </a:ext>
              </a:extLst>
            </p:cNvPr>
            <p:cNvSpPr txBox="1">
              <a:spLocks noChangeArrowheads="1"/>
            </p:cNvSpPr>
            <p:nvPr/>
          </p:nvSpPr>
          <p:spPr bwMode="auto">
            <a:xfrm rot="-908459">
              <a:off x="2949625" y="1162794"/>
              <a:ext cx="811212" cy="366712"/>
            </a:xfrm>
            <a:prstGeom prst="rect">
              <a:avLst/>
            </a:prstGeom>
            <a:noFill/>
            <a:ln w="12700">
              <a:noFill/>
              <a:miter lim="800000"/>
              <a:headEnd/>
              <a:tailEnd/>
            </a:ln>
            <a:effectLst/>
          </p:spPr>
          <p:txBody>
            <a:bodyPr lIns="2700" tIns="2700" rIns="2700" bIns="2700"/>
            <a:lstStyle/>
            <a:p>
              <a:pPr algn="just"/>
              <a:r>
                <a:rPr lang="zh-CN" altLang="en-US" sz="1200">
                  <a:solidFill>
                    <a:srgbClr val="808080"/>
                  </a:solidFill>
                  <a:ea typeface="宋体" charset="-122"/>
                </a:rPr>
                <a:t>设计</a:t>
              </a:r>
              <a:endParaRPr lang="zh-CN" altLang="en-US" sz="1200">
                <a:ea typeface="宋体" charset="-122"/>
              </a:endParaRPr>
            </a:p>
          </p:txBody>
        </p:sp>
        <p:sp>
          <p:nvSpPr>
            <p:cNvPr id="31" name="Text Box 27">
              <a:extLst>
                <a:ext uri="{FF2B5EF4-FFF2-40B4-BE49-F238E27FC236}">
                  <a16:creationId xmlns:a16="http://schemas.microsoft.com/office/drawing/2014/main" id="{073877BF-3D9B-1714-D9FE-97320CF4B87B}"/>
                </a:ext>
              </a:extLst>
            </p:cNvPr>
            <p:cNvSpPr txBox="1">
              <a:spLocks noChangeArrowheads="1"/>
            </p:cNvSpPr>
            <p:nvPr/>
          </p:nvSpPr>
          <p:spPr bwMode="auto">
            <a:xfrm rot="-908459">
              <a:off x="1392287" y="2585194"/>
              <a:ext cx="815975" cy="447675"/>
            </a:xfrm>
            <a:prstGeom prst="rect">
              <a:avLst/>
            </a:prstGeom>
            <a:noFill/>
            <a:ln w="12700">
              <a:noFill/>
              <a:miter lim="800000"/>
              <a:headEnd/>
              <a:tailEnd/>
            </a:ln>
            <a:effectLst/>
          </p:spPr>
          <p:txBody>
            <a:bodyPr lIns="2700" tIns="2700" rIns="2700" bIns="2700"/>
            <a:lstStyle/>
            <a:p>
              <a:pPr algn="just"/>
              <a:r>
                <a:rPr lang="zh-CN" altLang="en-US" sz="1200">
                  <a:solidFill>
                    <a:srgbClr val="808080"/>
                  </a:solidFill>
                  <a:ea typeface="宋体" charset="-122"/>
                </a:rPr>
                <a:t>发现</a:t>
              </a:r>
              <a:endParaRPr lang="zh-CN" altLang="en-US" sz="1200">
                <a:ea typeface="宋体" charset="-122"/>
              </a:endParaRPr>
            </a:p>
          </p:txBody>
        </p:sp>
        <p:sp>
          <p:nvSpPr>
            <p:cNvPr id="32" name="Text Box 28">
              <a:extLst>
                <a:ext uri="{FF2B5EF4-FFF2-40B4-BE49-F238E27FC236}">
                  <a16:creationId xmlns:a16="http://schemas.microsoft.com/office/drawing/2014/main" id="{8A3E46E5-0F42-59D3-473E-0145B7785109}"/>
                </a:ext>
              </a:extLst>
            </p:cNvPr>
            <p:cNvSpPr txBox="1">
              <a:spLocks noChangeArrowheads="1"/>
            </p:cNvSpPr>
            <p:nvPr/>
          </p:nvSpPr>
          <p:spPr bwMode="auto">
            <a:xfrm rot="-908459">
              <a:off x="2867075" y="5795119"/>
              <a:ext cx="815975" cy="398462"/>
            </a:xfrm>
            <a:prstGeom prst="rect">
              <a:avLst/>
            </a:prstGeom>
            <a:noFill/>
            <a:ln w="12700">
              <a:noFill/>
              <a:miter lim="800000"/>
              <a:headEnd/>
              <a:tailEnd/>
            </a:ln>
            <a:effectLst/>
          </p:spPr>
          <p:txBody>
            <a:bodyPr lIns="2700" tIns="2700" rIns="2700" bIns="2700"/>
            <a:lstStyle/>
            <a:p>
              <a:pPr algn="just"/>
              <a:r>
                <a:rPr lang="zh-CN" altLang="en-US" sz="1200">
                  <a:solidFill>
                    <a:srgbClr val="808080"/>
                  </a:solidFill>
                  <a:ea typeface="宋体" charset="-122"/>
                </a:rPr>
                <a:t>实施</a:t>
              </a:r>
              <a:endParaRPr lang="zh-CN" altLang="en-US" sz="1200">
                <a:ea typeface="宋体" charset="-122"/>
              </a:endParaRPr>
            </a:p>
          </p:txBody>
        </p:sp>
        <p:sp>
          <p:nvSpPr>
            <p:cNvPr id="33" name="Text Box 29">
              <a:extLst>
                <a:ext uri="{FF2B5EF4-FFF2-40B4-BE49-F238E27FC236}">
                  <a16:creationId xmlns:a16="http://schemas.microsoft.com/office/drawing/2014/main" id="{DA26B39B-3CDF-8626-0D1A-0CE2E9EEAA7D}"/>
                </a:ext>
              </a:extLst>
            </p:cNvPr>
            <p:cNvSpPr txBox="1">
              <a:spLocks noChangeArrowheads="1"/>
            </p:cNvSpPr>
            <p:nvPr/>
          </p:nvSpPr>
          <p:spPr bwMode="auto">
            <a:xfrm rot="-908459">
              <a:off x="1392287" y="4413994"/>
              <a:ext cx="815975" cy="400050"/>
            </a:xfrm>
            <a:prstGeom prst="rect">
              <a:avLst/>
            </a:prstGeom>
            <a:noFill/>
            <a:ln w="12700">
              <a:noFill/>
              <a:miter lim="800000"/>
              <a:headEnd/>
              <a:tailEnd/>
            </a:ln>
            <a:effectLst/>
          </p:spPr>
          <p:txBody>
            <a:bodyPr lIns="2700" tIns="2700" rIns="2700" bIns="2700"/>
            <a:lstStyle/>
            <a:p>
              <a:pPr algn="just"/>
              <a:r>
                <a:rPr lang="zh-CN" altLang="en-US" sz="1200">
                  <a:solidFill>
                    <a:srgbClr val="808080"/>
                  </a:solidFill>
                  <a:ea typeface="宋体" charset="-122"/>
                </a:rPr>
                <a:t>清除</a:t>
              </a:r>
              <a:endParaRPr lang="zh-CN" altLang="en-US" sz="1200">
                <a:ea typeface="宋体" charset="-122"/>
              </a:endParaRPr>
            </a:p>
          </p:txBody>
        </p:sp>
      </p:grpSp>
    </p:spTree>
    <p:extLst>
      <p:ext uri="{BB962C8B-B14F-4D97-AF65-F5344CB8AC3E}">
        <p14:creationId xmlns:p14="http://schemas.microsoft.com/office/powerpoint/2010/main" val="3099686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FE66A16-128F-A9E8-271C-6BD8134306FA}"/>
              </a:ext>
            </a:extLst>
          </p:cNvPr>
          <p:cNvPicPr>
            <a:picLocks noChangeAspect="1"/>
          </p:cNvPicPr>
          <p:nvPr/>
        </p:nvPicPr>
        <p:blipFill>
          <a:blip r:embed="rId2"/>
          <a:stretch>
            <a:fillRect/>
          </a:stretch>
        </p:blipFill>
        <p:spPr>
          <a:xfrm>
            <a:off x="0" y="936277"/>
            <a:ext cx="6330398" cy="3799540"/>
          </a:xfrm>
          <a:prstGeom prst="rect">
            <a:avLst/>
          </a:prstGeom>
          <a:ln>
            <a:noFill/>
          </a:ln>
          <a:effectLst>
            <a:outerShdw blurRad="292100" dist="139700" dir="2700000" algn="tl" rotWithShape="0">
              <a:srgbClr val="333333">
                <a:alpha val="65000"/>
              </a:srgbClr>
            </a:outerShdw>
          </a:effectLst>
        </p:spPr>
      </p:pic>
      <p:sp>
        <p:nvSpPr>
          <p:cNvPr id="2" name="标题 1">
            <a:extLst>
              <a:ext uri="{FF2B5EF4-FFF2-40B4-BE49-F238E27FC236}">
                <a16:creationId xmlns:a16="http://schemas.microsoft.com/office/drawing/2014/main" id="{1CB6EF79-EBDC-F6EF-5589-905574F39E65}"/>
              </a:ext>
            </a:extLst>
          </p:cNvPr>
          <p:cNvSpPr>
            <a:spLocks noGrp="1"/>
          </p:cNvSpPr>
          <p:nvPr>
            <p:ph type="title"/>
          </p:nvPr>
        </p:nvSpPr>
        <p:spPr/>
        <p:txBody>
          <a:bodyPr/>
          <a:lstStyle/>
          <a:p>
            <a:r>
              <a:rPr kumimoji="1" lang="zh-CN" altLang="en-US" dirty="0"/>
              <a:t>从就业市场看软件测试</a:t>
            </a:r>
          </a:p>
        </p:txBody>
      </p:sp>
      <p:pic>
        <p:nvPicPr>
          <p:cNvPr id="5" name="图片 4">
            <a:extLst>
              <a:ext uri="{FF2B5EF4-FFF2-40B4-BE49-F238E27FC236}">
                <a16:creationId xmlns:a16="http://schemas.microsoft.com/office/drawing/2014/main" id="{47DE97DC-B088-297F-4C1F-86E98DFC449E}"/>
              </a:ext>
            </a:extLst>
          </p:cNvPr>
          <p:cNvPicPr>
            <a:picLocks noChangeAspect="1"/>
          </p:cNvPicPr>
          <p:nvPr/>
        </p:nvPicPr>
        <p:blipFill>
          <a:blip r:embed="rId3"/>
          <a:stretch>
            <a:fillRect/>
          </a:stretch>
        </p:blipFill>
        <p:spPr>
          <a:xfrm>
            <a:off x="2995391" y="1168169"/>
            <a:ext cx="6046838" cy="33357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90506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8161119" cy="523875"/>
          </a:xfrm>
        </p:spPr>
        <p:txBody>
          <a:bodyPr/>
          <a:lstStyle/>
          <a:p>
            <a:r>
              <a:rPr kumimoji="1" lang="zh-CN" altLang="zh-CN" sz="2400" dirty="0">
                <a:latin typeface="微软雅黑" panose="020B0503020204020204" pitchFamily="34" charset="-122"/>
                <a:ea typeface="微软雅黑" panose="020B0503020204020204" pitchFamily="34" charset="-122"/>
              </a:rPr>
              <a:t>在敏捷时代，如何看待软件测试？ </a:t>
            </a:r>
            <a:endParaRPr kumimoji="1" lang="zh-CN" altLang="en-US" sz="2400" dirty="0">
              <a:latin typeface="微软雅黑" panose="020B0503020204020204" pitchFamily="34" charset="-122"/>
              <a:ea typeface="微软雅黑" panose="020B0503020204020204" pitchFamily="34" charset="-122"/>
            </a:endParaRPr>
          </a:p>
        </p:txBody>
      </p:sp>
      <p:sp>
        <p:nvSpPr>
          <p:cNvPr id="162" name="根据分享大纲以及讲义开头列写的学习要点，依次开始深入讲解。"/>
          <p:cNvSpPr txBox="1"/>
          <p:nvPr/>
        </p:nvSpPr>
        <p:spPr>
          <a:xfrm>
            <a:off x="560070" y="2471162"/>
            <a:ext cx="8023225" cy="440570"/>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endParaRPr sz="2000" dirty="0">
              <a:latin typeface="微软雅黑" panose="020B0503020204020204" pitchFamily="34" charset="-122"/>
              <a:ea typeface="微软雅黑" panose="020B0503020204020204" pitchFamily="34" charset="-122"/>
            </a:endParaRPr>
          </a:p>
        </p:txBody>
      </p:sp>
      <p:sp>
        <p:nvSpPr>
          <p:cNvPr id="3" name="根据分享大纲以及讲义开头列写的学习要点，依次开始深入讲解。">
            <a:extLst>
              <a:ext uri="{FF2B5EF4-FFF2-40B4-BE49-F238E27FC236}">
                <a16:creationId xmlns:a16="http://schemas.microsoft.com/office/drawing/2014/main" id="{87251F7C-B95D-D40B-41F1-72404284EB3E}"/>
              </a:ext>
            </a:extLst>
          </p:cNvPr>
          <p:cNvSpPr txBox="1"/>
          <p:nvPr/>
        </p:nvSpPr>
        <p:spPr>
          <a:xfrm>
            <a:off x="843849" y="1292922"/>
            <a:ext cx="6713088" cy="2356479"/>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pPr marL="404813" indent="-404813">
              <a:lnSpc>
                <a:spcPct val="150000"/>
              </a:lnSpc>
            </a:pPr>
            <a:r>
              <a:rPr lang="zh-CN" altLang="en-US" sz="2000" dirty="0">
                <a:latin typeface="微软雅黑" panose="020B0503020204020204" pitchFamily="34" charset="-122"/>
                <a:ea typeface="微软雅黑" panose="020B0503020204020204" pitchFamily="34" charset="-122"/>
              </a:rPr>
              <a:t>敏捷开发模式中，提倡整个团队对质量、对测试负责</a:t>
            </a:r>
            <a:endParaRPr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开发与测试越来越融合，如微软测试人员转型</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持续交付倒逼持续测试，但测试最容易成为瓶颈</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测试左移、测试前移，让开发做更多的测试</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测试驱动开发（</a:t>
            </a:r>
            <a:r>
              <a:rPr lang="en-US" altLang="zh-CN" sz="2000" dirty="0">
                <a:latin typeface="微软雅黑" panose="020B0503020204020204" pitchFamily="34" charset="-122"/>
                <a:ea typeface="微软雅黑" panose="020B0503020204020204" pitchFamily="34" charset="-122"/>
              </a:rPr>
              <a:t>TDD</a:t>
            </a:r>
            <a:r>
              <a:rPr lang="zh-CN" altLang="en-US" sz="2000" dirty="0">
                <a:latin typeface="微软雅黑" panose="020B0503020204020204" pitchFamily="34" charset="-122"/>
                <a:ea typeface="微软雅黑" panose="020B0503020204020204" pitchFamily="34" charset="-122"/>
              </a:rPr>
              <a:t>）：测试在前、开发在后</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90982050"/>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8161119" cy="523875"/>
          </a:xfrm>
        </p:spPr>
        <p:txBody>
          <a:bodyPr/>
          <a:lstStyle/>
          <a:p>
            <a:r>
              <a:rPr kumimoji="1" lang="zh-CN" altLang="zh-CN" sz="2400" dirty="0">
                <a:latin typeface="微软雅黑" panose="020B0503020204020204" pitchFamily="34" charset="-122"/>
                <a:ea typeface="微软雅黑" panose="020B0503020204020204" pitchFamily="34" charset="-122"/>
              </a:rPr>
              <a:t>如何借助这门课培养学生的分析问题和解决问题的能力？</a:t>
            </a:r>
            <a:endParaRPr kumimoji="1" lang="zh-CN" altLang="en-US" sz="2400" dirty="0">
              <a:latin typeface="微软雅黑" panose="020B0503020204020204" pitchFamily="34" charset="-122"/>
              <a:ea typeface="微软雅黑" panose="020B0503020204020204" pitchFamily="34" charset="-122"/>
            </a:endParaRPr>
          </a:p>
        </p:txBody>
      </p:sp>
      <p:sp>
        <p:nvSpPr>
          <p:cNvPr id="162" name="根据分享大纲以及讲义开头列写的学习要点，依次开始深入讲解。"/>
          <p:cNvSpPr txBox="1"/>
          <p:nvPr/>
        </p:nvSpPr>
        <p:spPr>
          <a:xfrm>
            <a:off x="854358" y="1653608"/>
            <a:ext cx="7669531" cy="1433149"/>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pPr marL="404813" indent="-404813">
              <a:lnSpc>
                <a:spcPct val="150000"/>
              </a:lnSpc>
            </a:pPr>
            <a:r>
              <a:rPr lang="zh-CN" altLang="en-US" sz="2000" dirty="0">
                <a:latin typeface="微软雅黑" panose="020B0503020204020204" pitchFamily="34" charset="-122"/>
                <a:ea typeface="微软雅黑" panose="020B0503020204020204" pitchFamily="34" charset="-122"/>
              </a:rPr>
              <a:t>强调分析能力，</a:t>
            </a:r>
            <a:r>
              <a:rPr lang="zh-CN" sz="2000" dirty="0">
                <a:latin typeface="微软雅黑" panose="020B0503020204020204" pitchFamily="34" charset="-122"/>
                <a:ea typeface="微软雅黑" panose="020B0503020204020204" pitchFamily="34" charset="-122"/>
              </a:rPr>
              <a:t>如</a:t>
            </a:r>
            <a:r>
              <a:rPr lang="zh-CN" altLang="en-US" sz="2000" dirty="0">
                <a:latin typeface="微软雅黑" panose="020B0503020204020204" pitchFamily="34" charset="-122"/>
                <a:ea typeface="微软雅黑" panose="020B0503020204020204" pitchFamily="34" charset="-122"/>
              </a:rPr>
              <a:t>测试分析是基础</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批判性思维，如探索式测试</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工程思维，如找到不同的解决方案，从中选出最优的解决方案</a:t>
            </a:r>
            <a:endParaRPr sz="2000" dirty="0">
              <a:latin typeface="微软雅黑" panose="020B0503020204020204" pitchFamily="34" charset="-122"/>
              <a:ea typeface="微软雅黑" panose="020B0503020204020204" pitchFamily="34" charset="-122"/>
            </a:endParaRPr>
          </a:p>
        </p:txBody>
      </p:sp>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8161119" cy="523875"/>
          </a:xfrm>
        </p:spPr>
        <p:txBody>
          <a:bodyPr/>
          <a:lstStyle/>
          <a:p>
            <a:r>
              <a:rPr kumimoji="1" lang="zh-CN" altLang="zh-CN" dirty="0">
                <a:latin typeface="微软雅黑" panose="020B0503020204020204" pitchFamily="34" charset="-122"/>
                <a:ea typeface="微软雅黑" panose="020B0503020204020204" pitchFamily="34" charset="-122"/>
              </a:rPr>
              <a:t>如何通过实验教学培养学生的实际能力？ </a:t>
            </a:r>
            <a:endParaRPr kumimoji="1" lang="zh-CN" altLang="en-US" dirty="0">
              <a:latin typeface="微软雅黑" panose="020B0503020204020204" pitchFamily="34" charset="-122"/>
              <a:ea typeface="微软雅黑" panose="020B0503020204020204" pitchFamily="34" charset="-122"/>
            </a:endParaRPr>
          </a:p>
        </p:txBody>
      </p:sp>
      <p:sp>
        <p:nvSpPr>
          <p:cNvPr id="167" name="概念，学习要点的概念介绍，以及在工作中什么场景会用到"/>
          <p:cNvSpPr txBox="1"/>
          <p:nvPr/>
        </p:nvSpPr>
        <p:spPr>
          <a:xfrm>
            <a:off x="531495" y="2442588"/>
            <a:ext cx="7608570" cy="440570"/>
          </a:xfrm>
          <a:prstGeom prst="rect">
            <a:avLst/>
          </a:prstGeom>
          <a:ln w="12700">
            <a:miter lim="400000"/>
          </a:ln>
        </p:spPr>
        <p:txBody>
          <a:bodyPr wrap="square" lIns="50800" tIns="50800" rIns="50800" bIns="50800" anchor="ctr">
            <a:spAutoFit/>
          </a:bodyPr>
          <a:lstStyle/>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根据分享大纲以及讲义开头列写的学习要点，依次开始深入讲解。">
            <a:extLst>
              <a:ext uri="{FF2B5EF4-FFF2-40B4-BE49-F238E27FC236}">
                <a16:creationId xmlns:a16="http://schemas.microsoft.com/office/drawing/2014/main" id="{DE144E0A-1E14-6D67-3654-DD1BB6F270EC}"/>
              </a:ext>
            </a:extLst>
          </p:cNvPr>
          <p:cNvSpPr txBox="1"/>
          <p:nvPr/>
        </p:nvSpPr>
        <p:spPr>
          <a:xfrm>
            <a:off x="531495" y="1495181"/>
            <a:ext cx="4789697" cy="1894814"/>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pPr marL="404813" indent="-404813">
              <a:lnSpc>
                <a:spcPct val="150000"/>
              </a:lnSpc>
            </a:pPr>
            <a:r>
              <a:rPr lang="zh-CN" altLang="en-US" sz="2000" dirty="0">
                <a:latin typeface="微软雅黑" panose="020B0503020204020204" pitchFamily="34" charset="-122"/>
                <a:ea typeface="微软雅黑" panose="020B0503020204020204" pitchFamily="34" charset="-122"/>
              </a:rPr>
              <a:t>软件测试是一门实践性很强的课程</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做中学</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问题驱动教学与实验</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实验就是分析问题、解决问题的过程</a:t>
            </a:r>
            <a:endParaRPr lang="en-US" altLang="zh-CN" sz="20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26FA8A1-99E7-171C-0EF8-70BA0C4C2669}"/>
              </a:ext>
            </a:extLst>
          </p:cNvPr>
          <p:cNvPicPr>
            <a:picLocks noChangeAspect="1"/>
          </p:cNvPicPr>
          <p:nvPr/>
        </p:nvPicPr>
        <p:blipFill rotWithShape="1">
          <a:blip r:embed="rId2">
            <a:extLst>
              <a:ext uri="{28A0092B-C50C-407E-A947-70E740481C1C}">
                <a14:useLocalDpi xmlns:a14="http://schemas.microsoft.com/office/drawing/2010/main" val="0"/>
              </a:ext>
            </a:extLst>
          </a:blip>
          <a:srcRect l="15884" t="12732" r="7797" b="2103"/>
          <a:stretch/>
        </p:blipFill>
        <p:spPr bwMode="auto">
          <a:xfrm>
            <a:off x="5035673" y="820361"/>
            <a:ext cx="3389911" cy="3685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B6EF79-EBDC-F6EF-5589-905574F39E65}"/>
              </a:ext>
            </a:extLst>
          </p:cNvPr>
          <p:cNvSpPr>
            <a:spLocks noGrp="1"/>
          </p:cNvSpPr>
          <p:nvPr>
            <p:ph type="title"/>
          </p:nvPr>
        </p:nvSpPr>
        <p:spPr/>
        <p:txBody>
          <a:bodyPr/>
          <a:lstStyle/>
          <a:p>
            <a:r>
              <a:rPr kumimoji="1" lang="en-US" altLang="zh-CN" dirty="0"/>
              <a:t>《</a:t>
            </a:r>
            <a:r>
              <a:rPr kumimoji="1" lang="zh-CN" altLang="en-US" dirty="0"/>
              <a:t>软件测试方法和技术</a:t>
            </a:r>
            <a:r>
              <a:rPr kumimoji="1" lang="en-US" altLang="zh-CN" dirty="0"/>
              <a:t>》</a:t>
            </a:r>
            <a:endParaRPr kumimoji="1" lang="zh-CN" altLang="en-US" dirty="0"/>
          </a:p>
        </p:txBody>
      </p:sp>
      <p:sp>
        <p:nvSpPr>
          <p:cNvPr id="3" name="根据分享大纲以及讲义开头列写的学习要点，依次开始深入讲解。">
            <a:extLst>
              <a:ext uri="{FF2B5EF4-FFF2-40B4-BE49-F238E27FC236}">
                <a16:creationId xmlns:a16="http://schemas.microsoft.com/office/drawing/2014/main" id="{96C7C462-B4D6-64CA-C04A-2E3AB8013EC9}"/>
              </a:ext>
            </a:extLst>
          </p:cNvPr>
          <p:cNvSpPr txBox="1"/>
          <p:nvPr/>
        </p:nvSpPr>
        <p:spPr>
          <a:xfrm>
            <a:off x="504483" y="1165389"/>
            <a:ext cx="5745488" cy="2818144"/>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pPr marL="404813" indent="-404813">
              <a:lnSpc>
                <a:spcPct val="150000"/>
              </a:lnSpc>
            </a:pPr>
            <a:r>
              <a:rPr lang="en-US" altLang="zh-CN" sz="2000" dirty="0">
                <a:latin typeface="微软雅黑" panose="020B0503020204020204" pitchFamily="34" charset="-122"/>
                <a:ea typeface="微软雅黑" panose="020B0503020204020204" pitchFamily="34" charset="-122"/>
              </a:rPr>
              <a:t>2005</a:t>
            </a:r>
            <a:r>
              <a:rPr lang="zh-CN" altLang="en-US" sz="2000" dirty="0">
                <a:latin typeface="微软雅黑" panose="020B0503020204020204" pitchFamily="34" charset="-122"/>
                <a:ea typeface="微软雅黑" panose="020B0503020204020204" pitchFamily="34" charset="-122"/>
              </a:rPr>
              <a:t>年出版，现在是第</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版，十一五、十二五国家级规划教材，上海市普通高校优秀教材</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en-US" altLang="zh-CN" sz="2000" dirty="0">
                <a:latin typeface="微软雅黑" panose="020B0503020204020204" pitchFamily="34" charset="-122"/>
                <a:ea typeface="微软雅黑" panose="020B0503020204020204" pitchFamily="34" charset="-122"/>
              </a:rPr>
              <a:t>300+</a:t>
            </a:r>
            <a:r>
              <a:rPr lang="zh-CN" altLang="en-US" sz="2000" dirty="0">
                <a:latin typeface="微软雅黑" panose="020B0503020204020204" pitchFamily="34" charset="-122"/>
                <a:ea typeface="微软雅黑" panose="020B0503020204020204" pitchFamily="34" charset="-122"/>
              </a:rPr>
              <a:t>所大学使用，销量超过</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万册，过去连续三年获得清华大学出版社畅销书奖</a:t>
            </a:r>
            <a:endParaRPr lang="en-US" altLang="zh-CN" sz="2000" dirty="0">
              <a:latin typeface="微软雅黑" panose="020B0503020204020204" pitchFamily="34" charset="-122"/>
              <a:ea typeface="微软雅黑" panose="020B0503020204020204" pitchFamily="34" charset="-122"/>
            </a:endParaRPr>
          </a:p>
          <a:p>
            <a:pPr marL="404813" indent="-404813">
              <a:lnSpc>
                <a:spcPct val="150000"/>
              </a:lnSpc>
            </a:pPr>
            <a:r>
              <a:rPr lang="zh-CN" altLang="zh-CN" sz="2000" dirty="0">
                <a:latin typeface="微软雅黑" panose="020B0503020204020204" pitchFamily="34" charset="-122"/>
                <a:ea typeface="微软雅黑" panose="020B0503020204020204" pitchFamily="34" charset="-122"/>
              </a:rPr>
              <a:t>本书共分三篇：软件测试的原理与方法、</a:t>
            </a:r>
            <a:r>
              <a:rPr lang="zh-CN" altLang="en-US" sz="2000" dirty="0">
                <a:latin typeface="微软雅黑" panose="020B0503020204020204" pitchFamily="34" charset="-122"/>
                <a:ea typeface="微软雅黑" panose="020B0503020204020204" pitchFamily="34" charset="-122"/>
              </a:rPr>
              <a:t>软件测试</a:t>
            </a:r>
            <a:r>
              <a:rPr lang="zh-CN" altLang="zh-CN" sz="2000" dirty="0">
                <a:latin typeface="微软雅黑" panose="020B0503020204020204" pitchFamily="34" charset="-122"/>
                <a:ea typeface="微软雅黑" panose="020B0503020204020204" pitchFamily="34" charset="-122"/>
              </a:rPr>
              <a:t>技术和</a:t>
            </a:r>
            <a:r>
              <a:rPr lang="zh-CN" altLang="en-US" sz="2000" dirty="0">
                <a:latin typeface="微软雅黑" panose="020B0503020204020204" pitchFamily="34" charset="-122"/>
                <a:ea typeface="微软雅黑" panose="020B0503020204020204" pitchFamily="34" charset="-122"/>
              </a:rPr>
              <a:t>软件测试项目</a:t>
            </a:r>
            <a:r>
              <a:rPr lang="zh-CN" altLang="zh-CN" sz="2000" dirty="0">
                <a:latin typeface="微软雅黑" panose="020B0503020204020204" pitchFamily="34" charset="-122"/>
                <a:ea typeface="微软雅黑" panose="020B0503020204020204" pitchFamily="34" charset="-122"/>
              </a:rPr>
              <a:t>实践</a:t>
            </a:r>
            <a:endParaRPr lang="en-US" altLang="zh-CN" sz="200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9B7E042C-F9D5-0CF6-28F3-601553C73B6F}"/>
              </a:ext>
            </a:extLst>
          </p:cNvPr>
          <p:cNvPicPr>
            <a:picLocks noChangeAspect="1"/>
          </p:cNvPicPr>
          <p:nvPr/>
        </p:nvPicPr>
        <p:blipFill>
          <a:blip r:embed="rId2"/>
          <a:stretch>
            <a:fillRect/>
          </a:stretch>
        </p:blipFill>
        <p:spPr>
          <a:xfrm>
            <a:off x="6811676" y="1165389"/>
            <a:ext cx="2063455" cy="2818144"/>
          </a:xfrm>
          <a:prstGeom prst="rect">
            <a:avLst/>
          </a:prstGeom>
        </p:spPr>
      </p:pic>
    </p:spTree>
    <p:extLst>
      <p:ext uri="{BB962C8B-B14F-4D97-AF65-F5344CB8AC3E}">
        <p14:creationId xmlns:p14="http://schemas.microsoft.com/office/powerpoint/2010/main" val="3768690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B6EF79-EBDC-F6EF-5589-905574F39E65}"/>
              </a:ext>
            </a:extLst>
          </p:cNvPr>
          <p:cNvSpPr>
            <a:spLocks noGrp="1"/>
          </p:cNvSpPr>
          <p:nvPr>
            <p:ph type="title"/>
          </p:nvPr>
        </p:nvSpPr>
        <p:spPr/>
        <p:txBody>
          <a:bodyPr/>
          <a:lstStyle/>
          <a:p>
            <a:r>
              <a:rPr lang="zh-CN" altLang="en-US" sz="2800" dirty="0">
                <a:latin typeface="微软雅黑" panose="020B0503020204020204" pitchFamily="34" charset="-122"/>
                <a:ea typeface="微软雅黑" panose="020B0503020204020204" pitchFamily="34" charset="-122"/>
              </a:rPr>
              <a:t>第</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篇 </a:t>
            </a:r>
            <a:r>
              <a:rPr lang="zh-CN" altLang="zh-CN" sz="2800" dirty="0">
                <a:latin typeface="微软雅黑" panose="020B0503020204020204" pitchFamily="34" charset="-122"/>
                <a:ea typeface="微软雅黑" panose="020B0503020204020204" pitchFamily="34" charset="-122"/>
              </a:rPr>
              <a:t>软件测试的原理与方法</a:t>
            </a:r>
            <a:endParaRPr kumimoji="1" lang="zh-CN" altLang="en-US" dirty="0"/>
          </a:p>
        </p:txBody>
      </p:sp>
      <p:sp>
        <p:nvSpPr>
          <p:cNvPr id="3" name="根据分享大纲以及讲义开头列写的学习要点，依次开始深入讲解。">
            <a:extLst>
              <a:ext uri="{FF2B5EF4-FFF2-40B4-BE49-F238E27FC236}">
                <a16:creationId xmlns:a16="http://schemas.microsoft.com/office/drawing/2014/main" id="{96C7C462-B4D6-64CA-C04A-2E3AB8013EC9}"/>
              </a:ext>
            </a:extLst>
          </p:cNvPr>
          <p:cNvSpPr txBox="1"/>
          <p:nvPr/>
        </p:nvSpPr>
        <p:spPr>
          <a:xfrm>
            <a:off x="759007" y="1435806"/>
            <a:ext cx="3812993" cy="1894814"/>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pPr marL="404813" indent="-404813">
              <a:lnSpc>
                <a:spcPct val="150000"/>
              </a:lnSpc>
            </a:pPr>
            <a:r>
              <a:rPr lang="zh-CN" altLang="en-US" sz="2000" dirty="0">
                <a:latin typeface="微软雅黑" panose="020B0503020204020204" pitchFamily="34" charset="-122"/>
                <a:ea typeface="微软雅黑" panose="020B0503020204020204" pitchFamily="34" charset="-122"/>
              </a:rPr>
              <a:t>第</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章 引论</a:t>
            </a: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第</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章 软件测试的基本概念</a:t>
            </a: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第</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章 软件测试方法</a:t>
            </a:r>
          </a:p>
          <a:p>
            <a:pPr marL="404813" indent="-404813">
              <a:lnSpc>
                <a:spcPct val="150000"/>
              </a:lnSpc>
            </a:pPr>
            <a:r>
              <a:rPr lang="zh-CN" altLang="en-US" sz="2000" dirty="0">
                <a:latin typeface="微软雅黑" panose="020B0503020204020204" pitchFamily="34" charset="-122"/>
                <a:ea typeface="微软雅黑" panose="020B0503020204020204" pitchFamily="34" charset="-122"/>
              </a:rPr>
              <a:t>第</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章 软件测试流程和规范</a:t>
            </a:r>
          </a:p>
        </p:txBody>
      </p:sp>
      <p:pic>
        <p:nvPicPr>
          <p:cNvPr id="1026" name="Picture 2" descr="See the source image">
            <a:extLst>
              <a:ext uri="{FF2B5EF4-FFF2-40B4-BE49-F238E27FC236}">
                <a16:creationId xmlns:a16="http://schemas.microsoft.com/office/drawing/2014/main" id="{D1B7A5C3-A64E-D1FB-68BF-9F4004B500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4476" y="1435806"/>
            <a:ext cx="4085413" cy="2297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040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89890" y="1892935"/>
            <a:ext cx="7752624" cy="902513"/>
          </a:xfrm>
        </p:spPr>
        <p:txBody>
          <a:bodyPr>
            <a:noAutofit/>
          </a:bodyPr>
          <a:lstStyle/>
          <a:p>
            <a:pPr algn="l"/>
            <a:r>
              <a:rPr kumimoji="1" lang="zh-CN" altLang="en-US" sz="5400" b="1" dirty="0">
                <a:latin typeface="Tahoma" panose="020B0604030504040204" charset="0"/>
                <a:cs typeface="思源黑体 Bold" panose="020B0800000000000000" charset="-122"/>
              </a:rPr>
              <a:t>软件测试方法和技术</a:t>
            </a:r>
          </a:p>
        </p:txBody>
      </p:sp>
      <p:sp>
        <p:nvSpPr>
          <p:cNvPr id="4" name="文本占位符 3"/>
          <p:cNvSpPr>
            <a:spLocks noGrp="1"/>
          </p:cNvSpPr>
          <p:nvPr>
            <p:ph type="body" sz="quarter" idx="14"/>
          </p:nvPr>
        </p:nvSpPr>
        <p:spPr>
          <a:xfrm>
            <a:off x="4645025" y="4357370"/>
            <a:ext cx="2263140" cy="346710"/>
          </a:xfrm>
        </p:spPr>
        <p:txBody>
          <a:bodyPr>
            <a:noAutofit/>
          </a:bodyPr>
          <a:lstStyle/>
          <a:p>
            <a:r>
              <a:rPr kumimoji="1" lang="zh-CN" altLang="en-US" sz="1800" b="1" dirty="0">
                <a:solidFill>
                  <a:schemeClr val="bg1"/>
                </a:solidFill>
              </a:rPr>
              <a:t>河南大学 </a:t>
            </a:r>
            <a:r>
              <a:rPr kumimoji="1" sz="1800" b="1" dirty="0">
                <a:solidFill>
                  <a:schemeClr val="bg1"/>
                </a:solidFill>
              </a:rPr>
              <a:t> </a:t>
            </a:r>
            <a:r>
              <a:rPr kumimoji="1" lang="zh-CN" altLang="en-US" sz="1800" b="1" dirty="0">
                <a:solidFill>
                  <a:schemeClr val="bg1"/>
                </a:solidFill>
              </a:rPr>
              <a:t>冯东栋</a:t>
            </a:r>
            <a:endParaRPr kumimoji="1" sz="1800" b="1" dirty="0">
              <a:solidFill>
                <a:schemeClr val="bg1"/>
              </a:solidFill>
            </a:endParaRPr>
          </a:p>
        </p:txBody>
      </p:sp>
      <p:grpSp>
        <p:nvGrpSpPr>
          <p:cNvPr id="5" name="组合 10"/>
          <p:cNvGrpSpPr/>
          <p:nvPr/>
        </p:nvGrpSpPr>
        <p:grpSpPr>
          <a:xfrm>
            <a:off x="446405" y="1723390"/>
            <a:ext cx="6461760" cy="1363980"/>
            <a:chOff x="2666198" y="2543397"/>
            <a:chExt cx="7199697" cy="1316333"/>
          </a:xfrm>
        </p:grpSpPr>
        <p:cxnSp>
          <p:nvCxnSpPr>
            <p:cNvPr id="6" name="直线连接符 5"/>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8" name="标题 2"/>
          <p:cNvSpPr>
            <a:spLocks noGrp="1"/>
          </p:cNvSpPr>
          <p:nvPr/>
        </p:nvSpPr>
        <p:spPr>
          <a:xfrm>
            <a:off x="389890" y="3250565"/>
            <a:ext cx="4528820" cy="46355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800" b="0" i="0" kern="1200" spc="300">
                <a:solidFill>
                  <a:schemeClr val="bg1"/>
                </a:solidFill>
                <a:latin typeface="微软雅黑" panose="020B0503020204020204" pitchFamily="34" charset="-122"/>
                <a:ea typeface="微软雅黑" panose="020B0503020204020204" pitchFamily="34" charset="-122"/>
                <a:cs typeface="思源黑体" panose="020F0502020204030204" charset="-122"/>
              </a:defRPr>
            </a:lvl1pPr>
          </a:lstStyle>
          <a:p>
            <a:pPr algn="l"/>
            <a:r>
              <a:rPr kumimoji="1" lang="zh-CN" altLang="en-US" sz="3600" b="1" dirty="0">
                <a:solidFill>
                  <a:srgbClr val="FFC000"/>
                </a:solidFill>
                <a:latin typeface="Tahoma" panose="020B0604030504040204" charset="0"/>
                <a:cs typeface="思源黑体 Bold" panose="020B0800000000000000" charset="-122"/>
              </a:rPr>
              <a:t>第</a:t>
            </a:r>
            <a:r>
              <a:rPr kumimoji="1" lang="en-US" altLang="zh-CN" sz="3600" b="1" dirty="0">
                <a:solidFill>
                  <a:srgbClr val="FFC000"/>
                </a:solidFill>
                <a:latin typeface="Tahoma" panose="020B0604030504040204" charset="0"/>
                <a:cs typeface="思源黑体 Bold" panose="020B0800000000000000" charset="-122"/>
              </a:rPr>
              <a:t>1</a:t>
            </a:r>
            <a:r>
              <a:rPr kumimoji="1" lang="zh-CN" altLang="en-US" sz="3600" b="1" dirty="0">
                <a:solidFill>
                  <a:srgbClr val="FFC000"/>
                </a:solidFill>
                <a:latin typeface="Tahoma" panose="020B0604030504040204" charset="0"/>
                <a:cs typeface="思源黑体 Bold" panose="020B0800000000000000" charset="-122"/>
              </a:rPr>
              <a:t>章 引论</a:t>
            </a:r>
          </a:p>
        </p:txBody>
      </p:sp>
    </p:spTree>
    <p:extLst>
      <p:ext uri="{BB962C8B-B14F-4D97-AF65-F5344CB8AC3E}">
        <p14:creationId xmlns:p14="http://schemas.microsoft.com/office/powerpoint/2010/main" val="2008635531"/>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614994" y="701012"/>
            <a:ext cx="3988137" cy="3579157"/>
          </a:xfrm>
        </p:spPr>
        <p:txBody>
          <a:bodyPr>
            <a:noAutofit/>
          </a:bodyPr>
          <a:lstStyle/>
          <a:p>
            <a:r>
              <a:rPr lang="en-US" altLang="zh-CN" sz="2000" dirty="0">
                <a:sym typeface="+mn-ea"/>
              </a:rPr>
              <a:t>1.1</a:t>
            </a:r>
            <a:r>
              <a:rPr lang="zh-CN" altLang="en-US" sz="2000" dirty="0">
                <a:sym typeface="+mn-ea"/>
              </a:rPr>
              <a:t> 软件测试的必要性</a:t>
            </a:r>
            <a:endParaRPr lang="en-US" altLang="zh-CN" sz="2000" dirty="0">
              <a:sym typeface="+mn-ea"/>
            </a:endParaRPr>
          </a:p>
          <a:p>
            <a:r>
              <a:rPr lang="en-US" altLang="zh-CN" sz="2000" dirty="0">
                <a:sym typeface="+mn-ea"/>
              </a:rPr>
              <a:t>1.2 </a:t>
            </a:r>
            <a:r>
              <a:rPr lang="zh-CN" altLang="en-US" sz="2000" dirty="0">
                <a:sym typeface="+mn-ea"/>
              </a:rPr>
              <a:t>为什么要进行软件测试 ？</a:t>
            </a:r>
            <a:endParaRPr lang="en-US" altLang="zh-CN" sz="2000" dirty="0">
              <a:sym typeface="+mn-ea"/>
            </a:endParaRPr>
          </a:p>
          <a:p>
            <a:r>
              <a:rPr lang="en-US" altLang="zh-CN" sz="2000" dirty="0">
                <a:sym typeface="+mn-ea"/>
              </a:rPr>
              <a:t>1.3 </a:t>
            </a:r>
            <a:r>
              <a:rPr lang="zh-CN" altLang="en-US" sz="2000" dirty="0">
                <a:sym typeface="+mn-ea"/>
              </a:rPr>
              <a:t>什么是软件测试 ？</a:t>
            </a:r>
            <a:endParaRPr lang="en-US" altLang="zh-CN" sz="2000" dirty="0">
              <a:sym typeface="+mn-ea"/>
            </a:endParaRPr>
          </a:p>
          <a:p>
            <a:r>
              <a:rPr lang="en-US" altLang="zh-CN" sz="2000" dirty="0">
                <a:sym typeface="+mn-ea"/>
              </a:rPr>
              <a:t>1.4 </a:t>
            </a:r>
            <a:r>
              <a:rPr lang="zh-CN" altLang="en-US" sz="2000" dirty="0">
                <a:sym typeface="+mn-ea"/>
              </a:rPr>
              <a:t>测试和质量保证的关系</a:t>
            </a:r>
            <a:endParaRPr lang="en-US" altLang="zh-CN" sz="2000" dirty="0">
              <a:sym typeface="+mn-ea"/>
            </a:endParaRPr>
          </a:p>
          <a:p>
            <a:r>
              <a:rPr lang="en-US" altLang="zh-CN" sz="2000" dirty="0">
                <a:sym typeface="+mn-ea"/>
              </a:rPr>
              <a:t>1.5 </a:t>
            </a:r>
            <a:r>
              <a:rPr lang="zh-CN" altLang="en-US" sz="2000" dirty="0">
                <a:sym typeface="+mn-ea"/>
              </a:rPr>
              <a:t>测试和开发的关系</a:t>
            </a:r>
            <a:endParaRPr lang="en-US" altLang="zh-CN" sz="2000" dirty="0">
              <a:sym typeface="+mn-ea"/>
            </a:endParaRPr>
          </a:p>
          <a:p>
            <a:r>
              <a:rPr lang="en-US" altLang="zh-CN" sz="2000" dirty="0">
                <a:sym typeface="+mn-ea"/>
              </a:rPr>
              <a:t>1.6 </a:t>
            </a:r>
            <a:r>
              <a:rPr lang="zh-CN" altLang="en-US" sz="2000" dirty="0">
                <a:sym typeface="+mn-ea"/>
              </a:rPr>
              <a:t>测试驱动开发的思想</a:t>
            </a:r>
            <a:endParaRPr lang="en-US" altLang="zh-CN" sz="2000" dirty="0">
              <a:sym typeface="+mn-ea"/>
            </a:endParaRPr>
          </a:p>
        </p:txBody>
      </p:sp>
    </p:spTree>
    <p:extLst>
      <p:ext uri="{BB962C8B-B14F-4D97-AF65-F5344CB8AC3E}">
        <p14:creationId xmlns:p14="http://schemas.microsoft.com/office/powerpoint/2010/main" val="255804779"/>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1.1</a:t>
            </a:r>
            <a:r>
              <a:rPr lang="zh-CN" altLang="en-US" sz="4800" b="1" dirty="0">
                <a:solidFill>
                  <a:schemeClr val="accent2">
                    <a:lumMod val="75000"/>
                  </a:schemeClr>
                </a:solidFill>
              </a:rPr>
              <a:t> </a:t>
            </a:r>
            <a:r>
              <a:rPr lang="zh-CN" altLang="en-US" sz="4800" b="1" dirty="0">
                <a:solidFill>
                  <a:schemeClr val="accent2">
                    <a:lumMod val="75000"/>
                  </a:schemeClr>
                </a:solidFill>
                <a:sym typeface="+mn-ea"/>
              </a:rPr>
              <a:t>软件测试的必要性</a:t>
            </a:r>
            <a:endParaRPr lang="zh-CN" altLang="en-US" sz="4800" b="1" dirty="0">
              <a:solidFill>
                <a:schemeClr val="accent2">
                  <a:lumMod val="75000"/>
                </a:schemeClr>
              </a:solidFill>
            </a:endParaRPr>
          </a:p>
        </p:txBody>
      </p:sp>
      <p:sp>
        <p:nvSpPr>
          <p:cNvPr id="3" name="文本框 2">
            <a:extLst>
              <a:ext uri="{FF2B5EF4-FFF2-40B4-BE49-F238E27FC236}">
                <a16:creationId xmlns:a16="http://schemas.microsoft.com/office/drawing/2014/main" id="{E9209A09-F8E4-1639-9273-E6B475BCBDF7}"/>
              </a:ext>
            </a:extLst>
          </p:cNvPr>
          <p:cNvSpPr txBox="1"/>
          <p:nvPr/>
        </p:nvSpPr>
        <p:spPr>
          <a:xfrm>
            <a:off x="0" y="4686304"/>
            <a:ext cx="2669320" cy="338554"/>
          </a:xfrm>
          <a:prstGeom prst="rect">
            <a:avLst/>
          </a:prstGeom>
          <a:noFill/>
        </p:spPr>
        <p:txBody>
          <a:bodyPr wrap="none" rtlCol="0">
            <a:spAutoFit/>
          </a:bodyPr>
          <a:lstStyle/>
          <a:p>
            <a:r>
              <a:rPr kumimoji="1" lang="zh-CN" altLang="en-US" sz="1600" dirty="0">
                <a:solidFill>
                  <a:schemeClr val="bg1">
                    <a:lumMod val="65000"/>
                  </a:schemeClr>
                </a:solidFill>
              </a:rPr>
              <a:t>版权所有</a:t>
            </a:r>
            <a:r>
              <a:rPr kumimoji="1" lang="en-US" altLang="zh-CN" sz="1600" dirty="0">
                <a:solidFill>
                  <a:schemeClr val="bg1">
                    <a:lumMod val="65000"/>
                  </a:schemeClr>
                </a:solidFill>
              </a:rPr>
              <a:t>©️</a:t>
            </a:r>
            <a:r>
              <a:rPr kumimoji="1" lang="zh-CN" altLang="en-US" sz="1600" dirty="0">
                <a:solidFill>
                  <a:schemeClr val="bg1">
                    <a:lumMod val="65000"/>
                  </a:schemeClr>
                </a:solidFill>
              </a:rPr>
              <a:t> 仅限于教学使用</a:t>
            </a:r>
          </a:p>
        </p:txBody>
      </p:sp>
    </p:spTree>
    <p:extLst>
      <p:ext uri="{BB962C8B-B14F-4D97-AF65-F5344CB8AC3E}">
        <p14:creationId xmlns:p14="http://schemas.microsoft.com/office/powerpoint/2010/main" val="3141706088"/>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迪斯尼并不总是带来笑声</a:t>
            </a:r>
          </a:p>
        </p:txBody>
      </p:sp>
      <p:sp>
        <p:nvSpPr>
          <p:cNvPr id="20483" name="Content Placeholder 2"/>
          <p:cNvSpPr>
            <a:spLocks noGrp="1"/>
          </p:cNvSpPr>
          <p:nvPr>
            <p:ph idx="4294967295"/>
          </p:nvPr>
        </p:nvSpPr>
        <p:spPr>
          <a:xfrm>
            <a:off x="198807" y="1258517"/>
            <a:ext cx="4587201" cy="2797918"/>
          </a:xfrm>
        </p:spPr>
        <p:txBody>
          <a:bodyPr>
            <a:normAutofit fontScale="92500" lnSpcReduction="10000"/>
          </a:bodyPr>
          <a:lstStyle/>
          <a:p>
            <a:pPr>
              <a:lnSpc>
                <a:spcPct val="150000"/>
              </a:lnSpc>
            </a:pPr>
            <a:r>
              <a:rPr lang="en-US" altLang="zh-CN" sz="1800" dirty="0">
                <a:latin typeface="楷体_GB2312" pitchFamily="49" charset="-122"/>
                <a:ea typeface="楷体_GB2312" pitchFamily="49" charset="-122"/>
              </a:rPr>
              <a:t>1994</a:t>
            </a:r>
            <a:r>
              <a:rPr lang="zh-CN" altLang="en-US" sz="1800" dirty="0">
                <a:latin typeface="楷体_GB2312" pitchFamily="49" charset="-122"/>
                <a:ea typeface="楷体_GB2312" pitchFamily="49" charset="-122"/>
              </a:rPr>
              <a:t>年圣诞节前夕，迪斯尼公司发布了第一个面向儿童的多媒体光盘游戏“狮子王童话”</a:t>
            </a:r>
            <a:endParaRPr lang="en-US" altLang="zh-CN" sz="1800" dirty="0">
              <a:latin typeface="楷体_GB2312" pitchFamily="49" charset="-122"/>
              <a:ea typeface="楷体_GB2312" pitchFamily="49" charset="-122"/>
            </a:endParaRPr>
          </a:p>
          <a:p>
            <a:pPr>
              <a:lnSpc>
                <a:spcPct val="150000"/>
              </a:lnSpc>
            </a:pPr>
            <a:r>
              <a:rPr lang="zh-CN" altLang="en-US" sz="1800" dirty="0">
                <a:latin typeface="楷体_GB2312" pitchFamily="49" charset="-122"/>
                <a:ea typeface="楷体_GB2312" pitchFamily="49" charset="-122"/>
              </a:rPr>
              <a:t>圣诞节后的第一天，迪斯尼客户支持部电话开始响个不停，不断有人咨询、抱怨为什么游戏总是安装不成功，或没法正常使用</a:t>
            </a:r>
            <a:endParaRPr lang="en-US" altLang="zh-CN" sz="1800" dirty="0">
              <a:latin typeface="楷体_GB2312" pitchFamily="49" charset="-122"/>
              <a:ea typeface="楷体_GB2312" pitchFamily="49" charset="-122"/>
            </a:endParaRPr>
          </a:p>
          <a:p>
            <a:pPr>
              <a:lnSpc>
                <a:spcPct val="150000"/>
              </a:lnSpc>
            </a:pPr>
            <a:r>
              <a:rPr lang="zh-CN" altLang="en-US" sz="1800" dirty="0">
                <a:latin typeface="楷体_GB2312" pitchFamily="49" charset="-122"/>
                <a:ea typeface="楷体_GB2312" pitchFamily="49" charset="-122"/>
              </a:rPr>
              <a:t>这个游戏软件只能在少数系统中正常运行</a:t>
            </a:r>
          </a:p>
        </p:txBody>
      </p:sp>
      <p:pic>
        <p:nvPicPr>
          <p:cNvPr id="20484" name="Picture 7" descr="http://c1334242.cdn.cloudfiles.rackspacecloud.com/images/products/specials/lion_king_large.gif"/>
          <p:cNvPicPr>
            <a:picLocks noChangeAspect="1" noChangeArrowheads="1"/>
          </p:cNvPicPr>
          <p:nvPr/>
        </p:nvPicPr>
        <p:blipFill>
          <a:blip r:embed="rId3" cstate="print"/>
          <a:srcRect/>
          <a:stretch>
            <a:fillRect/>
          </a:stretch>
        </p:blipFill>
        <p:spPr bwMode="auto">
          <a:xfrm>
            <a:off x="5173266" y="1578768"/>
            <a:ext cx="3970734" cy="1985963"/>
          </a:xfrm>
          <a:prstGeom prst="rect">
            <a:avLst/>
          </a:prstGeom>
          <a:noFill/>
          <a:ln w="9525">
            <a:noFill/>
            <a:miter lim="800000"/>
            <a:headEnd/>
            <a:tailEnd/>
          </a:ln>
        </p:spPr>
      </p:pic>
      <p:sp>
        <p:nvSpPr>
          <p:cNvPr id="2" name="文本框 1">
            <a:extLst>
              <a:ext uri="{FF2B5EF4-FFF2-40B4-BE49-F238E27FC236}">
                <a16:creationId xmlns:a16="http://schemas.microsoft.com/office/drawing/2014/main" id="{C86AEAE2-0445-FC9F-C8C7-66B727B9A631}"/>
              </a:ext>
            </a:extLst>
          </p:cNvPr>
          <p:cNvSpPr txBox="1"/>
          <p:nvPr/>
        </p:nvSpPr>
        <p:spPr>
          <a:xfrm>
            <a:off x="6583679" y="3687103"/>
            <a:ext cx="1338828" cy="369332"/>
          </a:xfrm>
          <a:prstGeom prst="rect">
            <a:avLst/>
          </a:prstGeom>
          <a:noFill/>
        </p:spPr>
        <p:txBody>
          <a:bodyPr wrap="non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兼容性问题</a:t>
            </a:r>
          </a:p>
        </p:txBody>
      </p:sp>
    </p:spTree>
    <p:extLst>
      <p:ext uri="{BB962C8B-B14F-4D97-AF65-F5344CB8AC3E}">
        <p14:creationId xmlns:p14="http://schemas.microsoft.com/office/powerpoint/2010/main" val="3095212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itle 1"/>
          <p:cNvSpPr>
            <a:spLocks noGrp="1"/>
          </p:cNvSpPr>
          <p:nvPr>
            <p:ph type="title"/>
          </p:nvPr>
        </p:nvSpPr>
        <p:spPr>
          <a:xfrm>
            <a:off x="526258" y="229134"/>
            <a:ext cx="5829300" cy="627627"/>
          </a:xfrm>
        </p:spPr>
        <p:txBody>
          <a:bodyPr>
            <a:normAutofit/>
          </a:bodyPr>
          <a:lstStyle/>
          <a:p>
            <a:r>
              <a:rPr lang="zh-CN" altLang="en-US" dirty="0">
                <a:latin typeface="微软雅黑" panose="020B0503020204020204" pitchFamily="34" charset="-122"/>
                <a:ea typeface="微软雅黑" panose="020B0503020204020204" pitchFamily="34" charset="-122"/>
              </a:rPr>
              <a:t>一个缺陷造成了数亿美元损失</a:t>
            </a:r>
          </a:p>
        </p:txBody>
      </p:sp>
      <p:sp>
        <p:nvSpPr>
          <p:cNvPr id="21507" name="Content Placeholder 2"/>
          <p:cNvSpPr>
            <a:spLocks noGrp="1"/>
          </p:cNvSpPr>
          <p:nvPr>
            <p:ph idx="4294967295"/>
          </p:nvPr>
        </p:nvSpPr>
        <p:spPr>
          <a:xfrm>
            <a:off x="1450181" y="1217735"/>
            <a:ext cx="6172200" cy="413147"/>
          </a:xfrm>
        </p:spPr>
        <p:txBody>
          <a:bodyPr>
            <a:normAutofit fontScale="92500" lnSpcReduction="10000"/>
          </a:bodyPr>
          <a:lstStyle/>
          <a:p>
            <a:pPr>
              <a:buFont typeface="Wingdings" pitchFamily="2" charset="2"/>
              <a:buNone/>
            </a:pPr>
            <a:r>
              <a:rPr lang="zh-CN" b="1" dirty="0"/>
              <a:t>（</a:t>
            </a:r>
            <a:r>
              <a:rPr lang="en-US" altLang="zh-CN" b="1" dirty="0"/>
              <a:t>4195835</a:t>
            </a:r>
            <a:r>
              <a:rPr lang="zh-CN" b="1" dirty="0"/>
              <a:t>／</a:t>
            </a:r>
            <a:r>
              <a:rPr lang="en-US" altLang="zh-CN" b="1" dirty="0"/>
              <a:t>3145727</a:t>
            </a:r>
            <a:r>
              <a:rPr lang="zh-CN" b="1" dirty="0"/>
              <a:t>）</a:t>
            </a:r>
            <a:r>
              <a:rPr lang="zh-CN" altLang="zh-CN" b="1" dirty="0"/>
              <a:t>×</a:t>
            </a:r>
            <a:r>
              <a:rPr lang="en-US" altLang="zh-CN" b="1" dirty="0"/>
              <a:t>3145727- 4195835 = </a:t>
            </a:r>
            <a:r>
              <a:rPr lang="en-US" altLang="zh-CN" sz="2700" b="1" dirty="0">
                <a:solidFill>
                  <a:srgbClr val="FF0000"/>
                </a:solidFill>
              </a:rPr>
              <a:t>?</a:t>
            </a:r>
            <a:endParaRPr lang="zh-CN" altLang="en-US" sz="2700" dirty="0">
              <a:solidFill>
                <a:srgbClr val="FF0000"/>
              </a:solidFill>
            </a:endParaRPr>
          </a:p>
        </p:txBody>
      </p:sp>
      <p:pic>
        <p:nvPicPr>
          <p:cNvPr id="21508" name="Picture 4" descr="pentium-CPU.gif"/>
          <p:cNvPicPr>
            <a:picLocks noChangeAspect="1"/>
          </p:cNvPicPr>
          <p:nvPr/>
        </p:nvPicPr>
        <p:blipFill>
          <a:blip r:embed="rId3" cstate="print"/>
          <a:srcRect/>
          <a:stretch>
            <a:fillRect/>
          </a:stretch>
        </p:blipFill>
        <p:spPr bwMode="auto">
          <a:xfrm>
            <a:off x="2490789" y="1875285"/>
            <a:ext cx="3864769" cy="1907382"/>
          </a:xfrm>
          <a:prstGeom prst="rect">
            <a:avLst/>
          </a:prstGeom>
          <a:noFill/>
          <a:ln w="9525">
            <a:noFill/>
            <a:miter lim="800000"/>
            <a:headEnd/>
            <a:tailEnd/>
          </a:ln>
        </p:spPr>
      </p:pic>
      <p:sp>
        <p:nvSpPr>
          <p:cNvPr id="6" name="TextBox 5"/>
          <p:cNvSpPr txBox="1"/>
          <p:nvPr/>
        </p:nvSpPr>
        <p:spPr>
          <a:xfrm>
            <a:off x="1450181" y="4066035"/>
            <a:ext cx="6243638" cy="369332"/>
          </a:xfrm>
          <a:prstGeom prst="rect">
            <a:avLst/>
          </a:prstGeom>
          <a:noFill/>
        </p:spPr>
        <p:txBody>
          <a:bodyPr>
            <a:spAutoFit/>
          </a:bodyPr>
          <a:lstStyle/>
          <a:p>
            <a:pPr>
              <a:defRPr/>
            </a:pPr>
            <a:r>
              <a:rPr lang="zh-CN" altLang="en-US" dirty="0">
                <a:solidFill>
                  <a:srgbClr val="C00000"/>
                </a:solidFill>
              </a:rPr>
              <a:t>最后 </a:t>
            </a:r>
            <a:r>
              <a:rPr lang="en-US" altLang="zh-CN" dirty="0">
                <a:solidFill>
                  <a:srgbClr val="C00000"/>
                </a:solidFill>
              </a:rPr>
              <a:t>Intel</a:t>
            </a:r>
            <a:r>
              <a:rPr lang="zh-CN" altLang="en-US" dirty="0">
                <a:solidFill>
                  <a:srgbClr val="C00000"/>
                </a:solidFill>
              </a:rPr>
              <a:t>公司付出很大代价，回收</a:t>
            </a:r>
            <a:r>
              <a:rPr lang="en-US" altLang="zh-CN" dirty="0">
                <a:solidFill>
                  <a:srgbClr val="C00000"/>
                </a:solidFill>
              </a:rPr>
              <a:t>CPU</a:t>
            </a:r>
            <a:r>
              <a:rPr lang="zh-CN" altLang="en-US" dirty="0">
                <a:solidFill>
                  <a:srgbClr val="C00000"/>
                </a:solidFill>
              </a:rPr>
              <a:t>，造成</a:t>
            </a:r>
            <a:r>
              <a:rPr lang="en-US" altLang="zh-CN" dirty="0">
                <a:solidFill>
                  <a:srgbClr val="C00000"/>
                </a:solidFill>
              </a:rPr>
              <a:t>4</a:t>
            </a:r>
            <a:r>
              <a:rPr lang="zh-CN" altLang="en-US" dirty="0">
                <a:solidFill>
                  <a:srgbClr val="C00000"/>
                </a:solidFill>
              </a:rPr>
              <a:t>亿美元损失</a:t>
            </a:r>
          </a:p>
        </p:txBody>
      </p:sp>
      <p:sp>
        <p:nvSpPr>
          <p:cNvPr id="2" name="文本框 1">
            <a:extLst>
              <a:ext uri="{FF2B5EF4-FFF2-40B4-BE49-F238E27FC236}">
                <a16:creationId xmlns:a16="http://schemas.microsoft.com/office/drawing/2014/main" id="{B6D0CF65-AED6-CE00-574F-5D7DF1C1D368}"/>
              </a:ext>
            </a:extLst>
          </p:cNvPr>
          <p:cNvSpPr txBox="1"/>
          <p:nvPr/>
        </p:nvSpPr>
        <p:spPr>
          <a:xfrm>
            <a:off x="6545179" y="2663792"/>
            <a:ext cx="1569660" cy="369332"/>
          </a:xfrm>
          <a:prstGeom prst="rect">
            <a:avLst/>
          </a:prstGeom>
          <a:noFill/>
        </p:spPr>
        <p:txBody>
          <a:bodyPr wrap="non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浮点计算问题</a:t>
            </a:r>
          </a:p>
        </p:txBody>
      </p:sp>
    </p:spTree>
    <p:extLst>
      <p:ext uri="{BB962C8B-B14F-4D97-AF65-F5344CB8AC3E}">
        <p14:creationId xmlns:p14="http://schemas.microsoft.com/office/powerpoint/2010/main" val="3700012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p:cTn id="7" dur="1000" fill="hold"/>
                                        <p:tgtEl>
                                          <p:spTgt spid="21508"/>
                                        </p:tgtEl>
                                        <p:attrNameLst>
                                          <p:attrName>ppt_w</p:attrName>
                                        </p:attrNameLst>
                                      </p:cBhvr>
                                      <p:tavLst>
                                        <p:tav tm="0">
                                          <p:val>
                                            <p:strVal val="#ppt_w*0.70"/>
                                          </p:val>
                                        </p:tav>
                                        <p:tav tm="100000">
                                          <p:val>
                                            <p:strVal val="#ppt_w"/>
                                          </p:val>
                                        </p:tav>
                                      </p:tavLst>
                                    </p:anim>
                                    <p:anim calcmode="lin" valueType="num">
                                      <p:cBhvr>
                                        <p:cTn id="8" dur="1000" fill="hold"/>
                                        <p:tgtEl>
                                          <p:spTgt spid="21508"/>
                                        </p:tgtEl>
                                        <p:attrNameLst>
                                          <p:attrName>ppt_h</p:attrName>
                                        </p:attrNameLst>
                                      </p:cBhvr>
                                      <p:tavLst>
                                        <p:tav tm="0">
                                          <p:val>
                                            <p:strVal val="#ppt_h"/>
                                          </p:val>
                                        </p:tav>
                                        <p:tav tm="100000">
                                          <p:val>
                                            <p:strVal val="#ppt_h"/>
                                          </p:val>
                                        </p:tav>
                                      </p:tavLst>
                                    </p:anim>
                                    <p:animEffect transition="in" filter="fade">
                                      <p:cBhvr>
                                        <p:cTn id="9" dur="1000"/>
                                        <p:tgtEl>
                                          <p:spTgt spid="2150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itle 1"/>
          <p:cNvSpPr>
            <a:spLocks noGrp="1"/>
          </p:cNvSpPr>
          <p:nvPr>
            <p:ph type="title"/>
          </p:nvPr>
        </p:nvSpPr>
        <p:spPr>
          <a:xfrm>
            <a:off x="556121" y="345461"/>
            <a:ext cx="4680567" cy="421482"/>
          </a:xfrm>
        </p:spPr>
        <p:txBody>
          <a:bodyPr>
            <a:noAutofit/>
          </a:bodyPr>
          <a:lstStyle/>
          <a:p>
            <a:r>
              <a:rPr lang="zh-CN" altLang="en-US" dirty="0">
                <a:latin typeface="微软雅黑" panose="020B0503020204020204" pitchFamily="34" charset="-122"/>
                <a:ea typeface="微软雅黑" panose="020B0503020204020204" pitchFamily="34" charset="-122"/>
              </a:rPr>
              <a:t>火星探测飞船坠毁</a:t>
            </a:r>
          </a:p>
        </p:txBody>
      </p:sp>
      <p:sp>
        <p:nvSpPr>
          <p:cNvPr id="22531" name="Content Placeholder 2"/>
          <p:cNvSpPr>
            <a:spLocks noGrp="1"/>
          </p:cNvSpPr>
          <p:nvPr>
            <p:ph idx="4294967295"/>
          </p:nvPr>
        </p:nvSpPr>
        <p:spPr>
          <a:xfrm>
            <a:off x="488006" y="1281948"/>
            <a:ext cx="5348589" cy="2855592"/>
          </a:xfrm>
        </p:spPr>
        <p:txBody>
          <a:bodyPr/>
          <a:lstStyle/>
          <a:p>
            <a:pPr eaLnBrk="0" hangingPunct="0">
              <a:lnSpc>
                <a:spcPct val="130000"/>
              </a:lnSpc>
              <a:buClr>
                <a:schemeClr val="accent1">
                  <a:lumMod val="50000"/>
                </a:schemeClr>
              </a:buClr>
              <a:buSzPct val="90000"/>
              <a:buFont typeface="Wingdings" charset="2"/>
              <a:buChar char="p"/>
              <a:defRPr/>
            </a:pPr>
            <a:r>
              <a:rPr lang="zh-CN" altLang="en-US" sz="1800" dirty="0">
                <a:ea typeface="楷体"/>
                <a:cs typeface="楷体"/>
              </a:rPr>
              <a:t>机械震动在大多数情况下也会触发着地开关，设置错误的数据位。设想飞船开始着陆时，计算机极有可能关闭推进器，而火星登陆飞船下坠</a:t>
            </a:r>
            <a:r>
              <a:rPr lang="en-US" altLang="zh-CN" sz="1800" dirty="0">
                <a:ea typeface="楷体"/>
                <a:cs typeface="楷体"/>
              </a:rPr>
              <a:t>1800</a:t>
            </a:r>
            <a:r>
              <a:rPr lang="zh-CN" altLang="en-US" sz="1800" dirty="0">
                <a:ea typeface="楷体"/>
                <a:cs typeface="楷体"/>
              </a:rPr>
              <a:t>米之后没有反推进器的帮助，冲向地面，必然会撞成碎片</a:t>
            </a:r>
            <a:endParaRPr lang="en-US" altLang="zh-CN" sz="1800" dirty="0">
              <a:ea typeface="楷体"/>
              <a:cs typeface="楷体"/>
            </a:endParaRPr>
          </a:p>
          <a:p>
            <a:pPr eaLnBrk="0" hangingPunct="0">
              <a:lnSpc>
                <a:spcPct val="130000"/>
              </a:lnSpc>
              <a:buClr>
                <a:schemeClr val="accent1">
                  <a:lumMod val="50000"/>
                </a:schemeClr>
              </a:buClr>
              <a:buSzPct val="90000"/>
              <a:buFont typeface="Wingdings" charset="2"/>
              <a:buChar char="p"/>
              <a:defRPr/>
            </a:pPr>
            <a:r>
              <a:rPr lang="zh-CN" altLang="en-US" sz="1800" dirty="0">
                <a:ea typeface="楷体"/>
                <a:cs typeface="楷体"/>
              </a:rPr>
              <a:t>两个小组本身的工作都没什么问题，就是没有合在一起测试，其接口没有被测，而问题就在这里</a:t>
            </a:r>
          </a:p>
        </p:txBody>
      </p:sp>
      <p:pic>
        <p:nvPicPr>
          <p:cNvPr id="22532" name="Picture 5" descr="http://www.scientificamerican.com/media/inline/E94DBF14-9F3B-3D1F-3CFD4102717B20A9_1.jpg"/>
          <p:cNvPicPr>
            <a:picLocks noChangeAspect="1" noChangeArrowheads="1"/>
          </p:cNvPicPr>
          <p:nvPr/>
        </p:nvPicPr>
        <p:blipFill>
          <a:blip r:embed="rId3" cstate="print"/>
          <a:srcRect/>
          <a:stretch>
            <a:fillRect/>
          </a:stretch>
        </p:blipFill>
        <p:spPr bwMode="auto">
          <a:xfrm>
            <a:off x="5972783" y="986141"/>
            <a:ext cx="3171217" cy="3171217"/>
          </a:xfrm>
          <a:prstGeom prst="rect">
            <a:avLst/>
          </a:prstGeom>
          <a:noFill/>
          <a:ln w="9525">
            <a:noFill/>
            <a:miter lim="800000"/>
            <a:headEnd/>
            <a:tailEnd/>
          </a:ln>
        </p:spPr>
      </p:pic>
      <p:sp>
        <p:nvSpPr>
          <p:cNvPr id="2" name="文本框 1">
            <a:extLst>
              <a:ext uri="{FF2B5EF4-FFF2-40B4-BE49-F238E27FC236}">
                <a16:creationId xmlns:a16="http://schemas.microsoft.com/office/drawing/2014/main" id="{AFD9BD91-810E-BD99-B3BE-F43B2DCAEF2B}"/>
              </a:ext>
            </a:extLst>
          </p:cNvPr>
          <p:cNvSpPr txBox="1"/>
          <p:nvPr/>
        </p:nvSpPr>
        <p:spPr>
          <a:xfrm>
            <a:off x="6997565" y="4160901"/>
            <a:ext cx="1580882" cy="369332"/>
          </a:xfrm>
          <a:prstGeom prst="rect">
            <a:avLst/>
          </a:prstGeom>
          <a:noFill/>
        </p:spPr>
        <p:txBody>
          <a:bodyPr wrap="non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集成测试不足</a:t>
            </a:r>
          </a:p>
        </p:txBody>
      </p:sp>
    </p:spTree>
    <p:extLst>
      <p:ext uri="{BB962C8B-B14F-4D97-AF65-F5344CB8AC3E}">
        <p14:creationId xmlns:p14="http://schemas.microsoft.com/office/powerpoint/2010/main" val="290148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wipe(left)">
                                      <p:cBhvr>
                                        <p:cTn id="7" dur="500"/>
                                        <p:tgtEl>
                                          <p:spTgt spid="225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6651E3-E251-5DC4-B70F-33B3EDD936EF}"/>
              </a:ext>
            </a:extLst>
          </p:cNvPr>
          <p:cNvSpPr>
            <a:spLocks noGrp="1"/>
          </p:cNvSpPr>
          <p:nvPr>
            <p:ph type="title"/>
          </p:nvPr>
        </p:nvSpPr>
        <p:spPr>
          <a:xfrm>
            <a:off x="582038" y="244661"/>
            <a:ext cx="7117871" cy="571545"/>
          </a:xfrm>
        </p:spPr>
        <p:txBody>
          <a:bodyPr/>
          <a:lstStyle/>
          <a:p>
            <a:r>
              <a:rPr lang="zh-CN" altLang="zh-CN" dirty="0">
                <a:latin typeface="微软雅黑" panose="020B0503020204020204" pitchFamily="34" charset="-122"/>
                <a:ea typeface="微软雅黑" panose="020B0503020204020204" pitchFamily="34" charset="-122"/>
              </a:rPr>
              <a:t>软件测试走了捷径导致灾难再次发生 </a:t>
            </a:r>
            <a:endParaRPr lang="zh-CN" altLang="en-US" dirty="0">
              <a:latin typeface="微软雅黑" panose="020B0503020204020204" pitchFamily="34" charset="-122"/>
              <a:ea typeface="微软雅黑" panose="020B0503020204020204" pitchFamily="34" charset="-122"/>
            </a:endParaRPr>
          </a:p>
        </p:txBody>
      </p:sp>
      <p:sp>
        <p:nvSpPr>
          <p:cNvPr id="3" name="文本占位符 2">
            <a:extLst>
              <a:ext uri="{FF2B5EF4-FFF2-40B4-BE49-F238E27FC236}">
                <a16:creationId xmlns:a16="http://schemas.microsoft.com/office/drawing/2014/main" id="{32955D32-21D5-F395-27A0-FA38D7DA1704}"/>
              </a:ext>
            </a:extLst>
          </p:cNvPr>
          <p:cNvSpPr>
            <a:spLocks noGrp="1"/>
          </p:cNvSpPr>
          <p:nvPr>
            <p:ph type="body" sz="quarter" idx="11"/>
          </p:nvPr>
        </p:nvSpPr>
        <p:spPr>
          <a:xfrm>
            <a:off x="582038" y="1191086"/>
            <a:ext cx="4058056" cy="3390641"/>
          </a:xfrm>
        </p:spPr>
        <p:txBody>
          <a:bodyPr>
            <a:noAutofit/>
          </a:bodyPr>
          <a:lstStyle/>
          <a:p>
            <a:pPr marL="0" indent="0">
              <a:buNone/>
            </a:pPr>
            <a:r>
              <a:rPr lang="zh-CN" altLang="en-US" sz="1600" kern="0" dirty="0">
                <a:solidFill>
                  <a:srgbClr val="303030"/>
                </a:solidFill>
                <a:latin typeface="Arial" panose="020B0604020202020204" pitchFamily="34" charset="0"/>
                <a:ea typeface="宋体" panose="02010600030101010101" pitchFamily="2" charset="-122"/>
                <a:cs typeface="Arial" panose="020B0604020202020204" pitchFamily="34" charset="0"/>
              </a:rPr>
              <a:t>波音</a:t>
            </a:r>
            <a:r>
              <a:rPr lang="zh-CN" altLang="zh-CN" sz="1600" kern="0" dirty="0">
                <a:solidFill>
                  <a:srgbClr val="303030"/>
                </a:solidFill>
                <a:effectLst/>
                <a:latin typeface="Arial" panose="020B0604020202020204" pitchFamily="34" charset="0"/>
                <a:ea typeface="宋体" panose="02010600030101010101" pitchFamily="2" charset="-122"/>
                <a:cs typeface="Arial" panose="020B0604020202020204" pitchFamily="34" charset="0"/>
              </a:rPr>
              <a:t>公司测试载人飞船星际客机软件系统的程序存在严重缺陷，现在计划对测试程序进行修改。造成程序存在严重缺陷的主要原因就是软件测试走了捷径：该公司缩短了对该飞行器软件的一次关键测试，他们将整个飞行过程分成了几个小单元分别进行测试，但最后却没有做完整的、端到端的集成测试，即没有进行时长为</a:t>
            </a:r>
            <a:r>
              <a:rPr lang="en-US" altLang="zh-CN" sz="1600" kern="0" dirty="0">
                <a:solidFill>
                  <a:srgbClr val="303030"/>
                </a:solidFill>
                <a:effectLst/>
                <a:latin typeface="Arial" panose="020B0604020202020204" pitchFamily="34" charset="0"/>
                <a:ea typeface="宋体" panose="02010600030101010101" pitchFamily="2" charset="-122"/>
              </a:rPr>
              <a:t> 25 </a:t>
            </a:r>
            <a:r>
              <a:rPr lang="zh-CN" altLang="zh-CN" sz="1600" kern="0" dirty="0">
                <a:solidFill>
                  <a:srgbClr val="303030"/>
                </a:solidFill>
                <a:effectLst/>
                <a:latin typeface="Arial" panose="020B0604020202020204" pitchFamily="34" charset="0"/>
                <a:ea typeface="宋体" panose="02010600030101010101" pitchFamily="2" charset="-122"/>
                <a:cs typeface="Arial" panose="020B0604020202020204" pitchFamily="34" charset="0"/>
              </a:rPr>
              <a:t>个小时的整体测试。</a:t>
            </a:r>
            <a:r>
              <a:rPr lang="zh-CN" altLang="zh-CN" sz="1600" dirty="0">
                <a:effectLst/>
              </a:rPr>
              <a:t> </a:t>
            </a:r>
            <a:endParaRPr kumimoji="1" lang="zh-CN" altLang="en-US" sz="1600" dirty="0"/>
          </a:p>
        </p:txBody>
      </p:sp>
      <p:sp>
        <p:nvSpPr>
          <p:cNvPr id="5" name="Rectangle 4">
            <a:extLst>
              <a:ext uri="{FF2B5EF4-FFF2-40B4-BE49-F238E27FC236}">
                <a16:creationId xmlns:a16="http://schemas.microsoft.com/office/drawing/2014/main" id="{9644FB58-695D-68DB-9122-AA8AF097BFC9}"/>
              </a:ext>
            </a:extLst>
          </p:cNvPr>
          <p:cNvSpPr>
            <a:spLocks noChangeArrowheads="1"/>
          </p:cNvSpPr>
          <p:nvPr/>
        </p:nvSpPr>
        <p:spPr bwMode="auto">
          <a:xfrm flipV="1">
            <a:off x="5085944" y="486382"/>
            <a:ext cx="704048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3075" name="图片 1">
            <a:extLst>
              <a:ext uri="{FF2B5EF4-FFF2-40B4-BE49-F238E27FC236}">
                <a16:creationId xmlns:a16="http://schemas.microsoft.com/office/drawing/2014/main" id="{37CE360F-4E06-DCBE-ED5E-F1BCC6402E6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5085944" y="1330711"/>
            <a:ext cx="4058056" cy="282597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9E5275CE-79A7-9FB7-3034-0FC2142158FC}"/>
              </a:ext>
            </a:extLst>
          </p:cNvPr>
          <p:cNvSpPr txBox="1"/>
          <p:nvPr/>
        </p:nvSpPr>
        <p:spPr>
          <a:xfrm>
            <a:off x="6997565" y="4160901"/>
            <a:ext cx="1580882" cy="369332"/>
          </a:xfrm>
          <a:prstGeom prst="rect">
            <a:avLst/>
          </a:prstGeom>
          <a:noFill/>
        </p:spPr>
        <p:txBody>
          <a:bodyPr wrap="non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集成测试不足</a:t>
            </a:r>
          </a:p>
        </p:txBody>
      </p:sp>
    </p:spTree>
    <p:extLst>
      <p:ext uri="{BB962C8B-B14F-4D97-AF65-F5344CB8AC3E}">
        <p14:creationId xmlns:p14="http://schemas.microsoft.com/office/powerpoint/2010/main" val="3051377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50A66C-3AF2-5C61-31A1-32E1DA47272B}"/>
              </a:ext>
            </a:extLst>
          </p:cNvPr>
          <p:cNvSpPr>
            <a:spLocks noGrp="1"/>
          </p:cNvSpPr>
          <p:nvPr>
            <p:ph type="title"/>
          </p:nvPr>
        </p:nvSpPr>
        <p:spPr/>
        <p:txBody>
          <a:bodyPr/>
          <a:lstStyle/>
          <a:p>
            <a:r>
              <a:rPr kumimoji="1" lang="zh-CN" altLang="en-US" dirty="0"/>
              <a:t>错误指令造成骑士资本集团损失</a:t>
            </a:r>
            <a:r>
              <a:rPr kumimoji="1" lang="en-US" altLang="zh-CN" dirty="0"/>
              <a:t>4.4</a:t>
            </a:r>
            <a:r>
              <a:rPr kumimoji="1" lang="zh-CN" altLang="en-US" dirty="0"/>
              <a:t>亿美元</a:t>
            </a:r>
          </a:p>
        </p:txBody>
      </p:sp>
      <p:sp>
        <p:nvSpPr>
          <p:cNvPr id="3" name="文本占位符 2">
            <a:extLst>
              <a:ext uri="{FF2B5EF4-FFF2-40B4-BE49-F238E27FC236}">
                <a16:creationId xmlns:a16="http://schemas.microsoft.com/office/drawing/2014/main" id="{B58D0236-C0EA-4AA0-4D8A-6708D9428D39}"/>
              </a:ext>
            </a:extLst>
          </p:cNvPr>
          <p:cNvSpPr>
            <a:spLocks noGrp="1"/>
          </p:cNvSpPr>
          <p:nvPr>
            <p:ph type="body" sz="quarter" idx="11"/>
          </p:nvPr>
        </p:nvSpPr>
        <p:spPr>
          <a:xfrm>
            <a:off x="526985" y="1179657"/>
            <a:ext cx="3989962" cy="2956934"/>
          </a:xfrm>
        </p:spPr>
        <p:txBody>
          <a:bodyPr>
            <a:normAutofit/>
          </a:bodyPr>
          <a:lstStyle/>
          <a:p>
            <a:r>
              <a:rPr kumimoji="1" lang="en-US" altLang="zh-CN" sz="1800" dirty="0"/>
              <a:t>2012</a:t>
            </a:r>
            <a:r>
              <a:rPr kumimoji="1" lang="zh-CN" altLang="en-US" sz="1800" dirty="0"/>
              <a:t>年</a:t>
            </a:r>
            <a:r>
              <a:rPr kumimoji="1" lang="en-US" altLang="zh-CN" sz="1800" dirty="0"/>
              <a:t>8</a:t>
            </a:r>
            <a:r>
              <a:rPr kumimoji="1" lang="zh-CN" altLang="en-US" sz="1800" dirty="0"/>
              <a:t>月</a:t>
            </a:r>
            <a:r>
              <a:rPr kumimoji="1" lang="en-US" altLang="zh-CN" sz="1800" dirty="0"/>
              <a:t>1</a:t>
            </a:r>
            <a:r>
              <a:rPr kumimoji="1" lang="zh-CN" altLang="en-US" sz="1800" dirty="0"/>
              <a:t>日上午</a:t>
            </a:r>
            <a:r>
              <a:rPr kumimoji="1" lang="en-US" altLang="zh-CN" sz="1800" dirty="0"/>
              <a:t>9</a:t>
            </a:r>
            <a:r>
              <a:rPr kumimoji="1" lang="zh-CN" altLang="en-US" sz="1800" dirty="0"/>
              <a:t>点，纽约证券交易所开盘交易，骑士资本的第一位散户投资者发出了买卖其投资头寸</a:t>
            </a:r>
            <a:r>
              <a:rPr kumimoji="1" lang="en-US" altLang="zh-CN" sz="1800" dirty="0"/>
              <a:t>(</a:t>
            </a:r>
            <a:r>
              <a:rPr kumimoji="1" lang="zh-CN" altLang="en-US" sz="1800" dirty="0"/>
              <a:t>款项</a:t>
            </a:r>
            <a:r>
              <a:rPr kumimoji="1" lang="en-US" altLang="zh-CN" sz="1800" dirty="0"/>
              <a:t>)</a:t>
            </a:r>
            <a:r>
              <a:rPr kumimoji="1" lang="zh-CN" altLang="en-US" sz="1800" dirty="0"/>
              <a:t>的指令。仅仅</a:t>
            </a:r>
            <a:r>
              <a:rPr kumimoji="1" lang="en-US" altLang="zh-CN" sz="1800" dirty="0"/>
              <a:t>45</a:t>
            </a:r>
            <a:r>
              <a:rPr kumimoji="1" lang="zh-CN" altLang="en-US" sz="1800" dirty="0"/>
              <a:t>分钟后，骑士资本的服务器就执行了</a:t>
            </a:r>
            <a:r>
              <a:rPr kumimoji="1" lang="en-US" altLang="zh-CN" sz="1800" dirty="0"/>
              <a:t>400</a:t>
            </a:r>
            <a:r>
              <a:rPr kumimoji="1" lang="zh-CN" altLang="en-US" sz="1800" dirty="0"/>
              <a:t>万笔交易，使公司损失了</a:t>
            </a:r>
            <a:r>
              <a:rPr kumimoji="1" lang="en-US" altLang="zh-CN" sz="1800" dirty="0"/>
              <a:t>4.6</a:t>
            </a:r>
            <a:r>
              <a:rPr kumimoji="1" lang="zh-CN" altLang="en-US" sz="1800" dirty="0"/>
              <a:t>亿美元，濒临破产</a:t>
            </a:r>
            <a:r>
              <a:rPr kumimoji="1" lang="en-US" altLang="zh-CN" sz="1800" dirty="0"/>
              <a:t>……</a:t>
            </a:r>
            <a:endParaRPr kumimoji="1" lang="zh-CN" altLang="en-US" sz="1800" dirty="0"/>
          </a:p>
        </p:txBody>
      </p:sp>
      <p:pic>
        <p:nvPicPr>
          <p:cNvPr id="4098" name="Picture 2" descr="See the source image">
            <a:extLst>
              <a:ext uri="{FF2B5EF4-FFF2-40B4-BE49-F238E27FC236}">
                <a16:creationId xmlns:a16="http://schemas.microsoft.com/office/drawing/2014/main" id="{30D3086F-6CEB-9D18-C756-B2F6D02A3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7055" y="1179657"/>
            <a:ext cx="4516946" cy="2886569"/>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979D775-57BC-ACFF-C91B-24BD53E6FB99}"/>
              </a:ext>
            </a:extLst>
          </p:cNvPr>
          <p:cNvSpPr txBox="1"/>
          <p:nvPr/>
        </p:nvSpPr>
        <p:spPr>
          <a:xfrm>
            <a:off x="6246794" y="4215828"/>
            <a:ext cx="1800493" cy="369332"/>
          </a:xfrm>
          <a:prstGeom prst="rect">
            <a:avLst/>
          </a:prstGeom>
          <a:noFill/>
        </p:spPr>
        <p:txBody>
          <a:bodyPr wrap="non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功能容错性问题</a:t>
            </a:r>
          </a:p>
        </p:txBody>
      </p:sp>
    </p:spTree>
    <p:extLst>
      <p:ext uri="{BB962C8B-B14F-4D97-AF65-F5344CB8AC3E}">
        <p14:creationId xmlns:p14="http://schemas.microsoft.com/office/powerpoint/2010/main" val="3723077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9698B-A7E7-462A-2097-71C316B2602D}"/>
              </a:ext>
            </a:extLst>
          </p:cNvPr>
          <p:cNvSpPr>
            <a:spLocks noGrp="1"/>
          </p:cNvSpPr>
          <p:nvPr>
            <p:ph type="title"/>
          </p:nvPr>
        </p:nvSpPr>
        <p:spPr/>
        <p:txBody>
          <a:bodyPr/>
          <a:lstStyle/>
          <a:p>
            <a:r>
              <a:rPr kumimoji="1" lang="en" altLang="zh-CN" dirty="0"/>
              <a:t>AWS</a:t>
            </a:r>
            <a:r>
              <a:rPr kumimoji="1" lang="zh-CN" altLang="en-US" dirty="0"/>
              <a:t>宕机整整</a:t>
            </a:r>
            <a:r>
              <a:rPr kumimoji="1" lang="en-US" altLang="zh-CN" dirty="0"/>
              <a:t>4</a:t>
            </a:r>
            <a:r>
              <a:rPr kumimoji="1" lang="zh-CN" altLang="en-US" dirty="0"/>
              <a:t>个小时</a:t>
            </a:r>
          </a:p>
        </p:txBody>
      </p:sp>
      <p:sp>
        <p:nvSpPr>
          <p:cNvPr id="3" name="文本占位符 2">
            <a:extLst>
              <a:ext uri="{FF2B5EF4-FFF2-40B4-BE49-F238E27FC236}">
                <a16:creationId xmlns:a16="http://schemas.microsoft.com/office/drawing/2014/main" id="{65EFCF6F-3809-7A38-2856-1AC7FD3D01FD}"/>
              </a:ext>
            </a:extLst>
          </p:cNvPr>
          <p:cNvSpPr>
            <a:spLocks noGrp="1"/>
          </p:cNvSpPr>
          <p:nvPr>
            <p:ph type="body" sz="quarter" idx="11"/>
          </p:nvPr>
        </p:nvSpPr>
        <p:spPr>
          <a:xfrm>
            <a:off x="494490" y="1081574"/>
            <a:ext cx="3046378" cy="2980352"/>
          </a:xfrm>
        </p:spPr>
        <p:txBody>
          <a:bodyPr>
            <a:normAutofit lnSpcReduction="10000"/>
          </a:bodyPr>
          <a:lstStyle/>
          <a:p>
            <a:pPr marL="0" indent="0">
              <a:buNone/>
            </a:pPr>
            <a:r>
              <a:rPr lang="en-US" altLang="zh-CN" sz="1800" dirty="0">
                <a:effectLst/>
                <a:latin typeface="Arial" panose="020B0604020202020204" pitchFamily="34" charset="0"/>
                <a:ea typeface="宋体" panose="02010600030101010101" pitchFamily="2" charset="-122"/>
              </a:rPr>
              <a:t>2017</a:t>
            </a:r>
            <a:r>
              <a:rPr lang="zh-CN" altLang="zh-CN" sz="1800" dirty="0">
                <a:effectLst/>
                <a:latin typeface="Arial" panose="020B0604020202020204" pitchFamily="34" charset="0"/>
                <a:ea typeface="宋体" panose="02010600030101010101" pitchFamily="2" charset="-122"/>
                <a:cs typeface="Arial" panose="020B0604020202020204" pitchFamily="34" charset="0"/>
              </a:rPr>
              <a:t>年</a:t>
            </a:r>
            <a:r>
              <a:rPr lang="en-US" altLang="zh-CN" sz="1800" dirty="0">
                <a:effectLst/>
                <a:latin typeface="Arial" panose="020B0604020202020204" pitchFamily="34" charset="0"/>
                <a:ea typeface="宋体" panose="02010600030101010101" pitchFamily="2" charset="-122"/>
              </a:rPr>
              <a:t>3</a:t>
            </a:r>
            <a:r>
              <a:rPr lang="zh-CN" altLang="zh-CN" sz="1800" dirty="0">
                <a:effectLst/>
                <a:latin typeface="Arial" panose="020B0604020202020204" pitchFamily="34" charset="0"/>
                <a:ea typeface="宋体" panose="02010600030101010101" pitchFamily="2" charset="-122"/>
                <a:cs typeface="Arial" panose="020B0604020202020204" pitchFamily="34" charset="0"/>
              </a:rPr>
              <a:t>月</a:t>
            </a:r>
            <a:r>
              <a:rPr lang="en-US" altLang="zh-CN" sz="1800" dirty="0">
                <a:effectLst/>
                <a:latin typeface="Arial" panose="020B0604020202020204" pitchFamily="34" charset="0"/>
                <a:ea typeface="宋体" panose="02010600030101010101" pitchFamily="2" charset="-122"/>
              </a:rPr>
              <a:t>2</a:t>
            </a:r>
            <a:r>
              <a:rPr lang="zh-CN" altLang="zh-CN" sz="1800" dirty="0">
                <a:effectLst/>
                <a:latin typeface="Arial" panose="020B0604020202020204" pitchFamily="34" charset="0"/>
                <a:ea typeface="宋体" panose="02010600030101010101" pitchFamily="2" charset="-122"/>
                <a:cs typeface="Arial" panose="020B0604020202020204" pitchFamily="34" charset="0"/>
              </a:rPr>
              <a:t>号，</a:t>
            </a:r>
            <a:r>
              <a:rPr lang="zh-CN" altLang="zh-CN" sz="1800" dirty="0">
                <a:effectLst/>
                <a:ea typeface="Arial" panose="020B0604020202020204" pitchFamily="34" charset="0"/>
              </a:rPr>
              <a:t> </a:t>
            </a:r>
            <a:r>
              <a:rPr lang="zh-CN" altLang="zh-CN" sz="1800" dirty="0">
                <a:effectLst/>
                <a:latin typeface="Arial" panose="020B0604020202020204" pitchFamily="34" charset="0"/>
                <a:ea typeface="宋体" panose="02010600030101010101" pitchFamily="2" charset="-122"/>
                <a:cs typeface="Arial" panose="020B0604020202020204" pitchFamily="34" charset="0"/>
              </a:rPr>
              <a:t>亚马逊云（</a:t>
            </a:r>
            <a:r>
              <a:rPr lang="en-US" altLang="zh-CN" sz="1800" dirty="0">
                <a:effectLst/>
                <a:latin typeface="Arial" panose="020B0604020202020204" pitchFamily="34" charset="0"/>
                <a:ea typeface="宋体" panose="02010600030101010101" pitchFamily="2" charset="-122"/>
              </a:rPr>
              <a:t>Amazon S3 Cloud </a:t>
            </a:r>
            <a:r>
              <a:rPr lang="zh-CN" altLang="zh-CN" sz="1800" dirty="0">
                <a:effectLst/>
                <a:latin typeface="Arial" panose="020B0604020202020204" pitchFamily="34" charset="0"/>
                <a:ea typeface="宋体" panose="02010600030101010101" pitchFamily="2" charset="-122"/>
                <a:cs typeface="Arial" panose="020B0604020202020204" pitchFamily="34" charset="0"/>
              </a:rPr>
              <a:t>）出现严重的宕机（中断服务）！亚马逊云之前也出现过宕机，但一般在一个小时之内解决问题，而这次非常严重，宕机整整四个小时</a:t>
            </a:r>
            <a:r>
              <a:rPr lang="zh-CN" altLang="zh-CN" dirty="0">
                <a:effectLst/>
              </a:rPr>
              <a:t> </a:t>
            </a:r>
            <a:endParaRPr kumimoji="1" lang="zh-CN" altLang="en-US" dirty="0"/>
          </a:p>
        </p:txBody>
      </p:sp>
      <p:pic>
        <p:nvPicPr>
          <p:cNvPr id="5122" name="Picture 2" descr="See the source image">
            <a:extLst>
              <a:ext uri="{FF2B5EF4-FFF2-40B4-BE49-F238E27FC236}">
                <a16:creationId xmlns:a16="http://schemas.microsoft.com/office/drawing/2014/main" id="{AD1A36AB-4EA9-9663-0A5F-8F9126527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4876" y="1152176"/>
            <a:ext cx="5408579" cy="298035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8C166B8D-8B21-E59A-205D-8750A00C0EA5}"/>
              </a:ext>
            </a:extLst>
          </p:cNvPr>
          <p:cNvSpPr txBox="1"/>
          <p:nvPr/>
        </p:nvSpPr>
        <p:spPr>
          <a:xfrm>
            <a:off x="5534525" y="4132528"/>
            <a:ext cx="2031325" cy="369332"/>
          </a:xfrm>
          <a:prstGeom prst="rect">
            <a:avLst/>
          </a:prstGeom>
          <a:noFill/>
        </p:spPr>
        <p:txBody>
          <a:bodyPr wrap="non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性能、稳定性问题</a:t>
            </a:r>
          </a:p>
        </p:txBody>
      </p:sp>
    </p:spTree>
    <p:extLst>
      <p:ext uri="{BB962C8B-B14F-4D97-AF65-F5344CB8AC3E}">
        <p14:creationId xmlns:p14="http://schemas.microsoft.com/office/powerpoint/2010/main" val="1423905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AED0F9-D24D-FF85-5911-5111D7A3EB7E}"/>
              </a:ext>
            </a:extLst>
          </p:cNvPr>
          <p:cNvSpPr>
            <a:spLocks noGrp="1"/>
          </p:cNvSpPr>
          <p:nvPr>
            <p:ph type="title"/>
          </p:nvPr>
        </p:nvSpPr>
        <p:spPr/>
        <p:txBody>
          <a:bodyPr>
            <a:normAutofit fontScale="90000"/>
          </a:bodyPr>
          <a:lstStyle/>
          <a:p>
            <a:r>
              <a:rPr kumimoji="1" lang="en" altLang="zh-CN" dirty="0"/>
              <a:t>Uber</a:t>
            </a:r>
            <a:r>
              <a:rPr kumimoji="1" lang="zh-CN" altLang="en-US" dirty="0"/>
              <a:t>泄漏个人隐私，导致用户要求赔偿</a:t>
            </a:r>
            <a:r>
              <a:rPr kumimoji="1" lang="en-US" altLang="zh-CN" dirty="0"/>
              <a:t>3</a:t>
            </a:r>
            <a:r>
              <a:rPr kumimoji="1" lang="zh-CN" altLang="en-US" dirty="0"/>
              <a:t>亿多元</a:t>
            </a:r>
          </a:p>
        </p:txBody>
      </p:sp>
      <p:sp>
        <p:nvSpPr>
          <p:cNvPr id="3" name="文本占位符 2">
            <a:extLst>
              <a:ext uri="{FF2B5EF4-FFF2-40B4-BE49-F238E27FC236}">
                <a16:creationId xmlns:a16="http://schemas.microsoft.com/office/drawing/2014/main" id="{BCAD1E48-0A33-6F92-9BE5-5D9AF79F1882}"/>
              </a:ext>
            </a:extLst>
          </p:cNvPr>
          <p:cNvSpPr>
            <a:spLocks noGrp="1"/>
          </p:cNvSpPr>
          <p:nvPr>
            <p:ph type="body" sz="quarter" idx="11"/>
          </p:nvPr>
        </p:nvSpPr>
        <p:spPr>
          <a:xfrm>
            <a:off x="280481" y="1285598"/>
            <a:ext cx="4291519" cy="2797253"/>
          </a:xfrm>
        </p:spPr>
        <p:txBody>
          <a:bodyPr/>
          <a:lstStyle/>
          <a:p>
            <a:r>
              <a:rPr lang="en-US" altLang="zh-CN" sz="1800" dirty="0">
                <a:effectLst/>
                <a:latin typeface="Arial" panose="020B0604020202020204" pitchFamily="34" charset="0"/>
                <a:ea typeface="宋体" panose="02010600030101010101" pitchFamily="2" charset="-122"/>
              </a:rPr>
              <a:t>2017</a:t>
            </a:r>
            <a:r>
              <a:rPr lang="zh-CN" altLang="zh-CN" sz="1800" dirty="0">
                <a:effectLst/>
                <a:latin typeface="Arial" panose="020B0604020202020204" pitchFamily="34" charset="0"/>
                <a:ea typeface="宋体" panose="02010600030101010101" pitchFamily="2" charset="-122"/>
                <a:cs typeface="Arial" panose="020B0604020202020204" pitchFamily="34" charset="0"/>
              </a:rPr>
              <a:t>年</a:t>
            </a:r>
            <a:r>
              <a:rPr lang="en-US" altLang="zh-CN" sz="1800" dirty="0">
                <a:effectLst/>
                <a:latin typeface="Arial" panose="020B0604020202020204" pitchFamily="34" charset="0"/>
                <a:ea typeface="宋体" panose="02010600030101010101" pitchFamily="2" charset="-122"/>
              </a:rPr>
              <a:t>2</a:t>
            </a:r>
            <a:r>
              <a:rPr lang="zh-CN" altLang="zh-CN" sz="1800" dirty="0">
                <a:effectLst/>
                <a:latin typeface="Arial" panose="020B0604020202020204" pitchFamily="34" charset="0"/>
                <a:ea typeface="宋体" panose="02010600030101010101" pitchFamily="2" charset="-122"/>
                <a:cs typeface="Arial" panose="020B0604020202020204" pitchFamily="34" charset="0"/>
              </a:rPr>
              <a:t>月，根据据法国费加罗报报道，一名法国商人起诉</a:t>
            </a:r>
            <a:r>
              <a:rPr lang="en-US" altLang="zh-CN" sz="1800" dirty="0">
                <a:effectLst/>
                <a:latin typeface="Arial" panose="020B0604020202020204" pitchFamily="34" charset="0"/>
                <a:ea typeface="宋体" panose="02010600030101010101" pitchFamily="2" charset="-122"/>
              </a:rPr>
              <a:t>Uber</a:t>
            </a:r>
            <a:r>
              <a:rPr lang="zh-CN" altLang="zh-CN" sz="1800" dirty="0">
                <a:effectLst/>
                <a:latin typeface="Arial" panose="020B0604020202020204" pitchFamily="34" charset="0"/>
                <a:ea typeface="宋体" panose="02010600030101010101" pitchFamily="2" charset="-122"/>
                <a:cs typeface="Arial" panose="020B0604020202020204" pitchFamily="34" charset="0"/>
              </a:rPr>
              <a:t>，要求该公司赔偿</a:t>
            </a:r>
            <a:r>
              <a:rPr lang="en-US" altLang="zh-CN" sz="1800" dirty="0">
                <a:effectLst/>
                <a:latin typeface="Arial" panose="020B0604020202020204" pitchFamily="34" charset="0"/>
                <a:ea typeface="宋体" panose="02010600030101010101" pitchFamily="2" charset="-122"/>
              </a:rPr>
              <a:t>4500</a:t>
            </a:r>
            <a:r>
              <a:rPr lang="zh-CN" altLang="zh-CN" sz="1800" dirty="0">
                <a:effectLst/>
                <a:latin typeface="Arial" panose="020B0604020202020204" pitchFamily="34" charset="0"/>
                <a:ea typeface="宋体" panose="02010600030101010101" pitchFamily="2" charset="-122"/>
                <a:cs typeface="Arial" panose="020B0604020202020204" pitchFamily="34" charset="0"/>
              </a:rPr>
              <a:t>万欧元（按当时汇率</a:t>
            </a:r>
            <a:r>
              <a:rPr lang="en-US" altLang="zh-CN" sz="1800" dirty="0">
                <a:effectLst/>
                <a:latin typeface="Arial" panose="020B0604020202020204" pitchFamily="34" charset="0"/>
                <a:ea typeface="宋体" panose="02010600030101010101" pitchFamily="2" charset="-122"/>
              </a:rPr>
              <a:t>7.4</a:t>
            </a:r>
            <a:r>
              <a:rPr lang="zh-CN" altLang="zh-CN" sz="1800" dirty="0">
                <a:effectLst/>
                <a:latin typeface="Arial" panose="020B0604020202020204" pitchFamily="34" charset="0"/>
                <a:ea typeface="宋体" panose="02010600030101010101" pitchFamily="2" charset="-122"/>
                <a:cs typeface="Arial" panose="020B0604020202020204" pitchFamily="34" charset="0"/>
              </a:rPr>
              <a:t>计算，合计人民币</a:t>
            </a:r>
            <a:r>
              <a:rPr lang="en-US" altLang="zh-CN" sz="1800" dirty="0">
                <a:effectLst/>
                <a:latin typeface="Arial" panose="020B0604020202020204" pitchFamily="34" charset="0"/>
                <a:ea typeface="宋体" panose="02010600030101010101" pitchFamily="2" charset="-122"/>
              </a:rPr>
              <a:t>3.33</a:t>
            </a:r>
            <a:r>
              <a:rPr lang="zh-CN" altLang="zh-CN" sz="1800" dirty="0">
                <a:effectLst/>
                <a:latin typeface="Arial" panose="020B0604020202020204" pitchFamily="34" charset="0"/>
                <a:ea typeface="宋体" panose="02010600030101010101" pitchFamily="2" charset="-122"/>
                <a:cs typeface="Arial" panose="020B0604020202020204" pitchFamily="34" charset="0"/>
              </a:rPr>
              <a:t>亿），以弥补隐私漏洞对自己婚姻造成的伤害，其理由是</a:t>
            </a:r>
            <a:r>
              <a:rPr lang="en-US" altLang="zh-CN" sz="1800" dirty="0">
                <a:effectLst/>
                <a:latin typeface="Arial" panose="020B0604020202020204" pitchFamily="34" charset="0"/>
                <a:ea typeface="宋体" panose="02010600030101010101" pitchFamily="2" charset="-122"/>
              </a:rPr>
              <a:t>Uber</a:t>
            </a:r>
            <a:r>
              <a:rPr lang="zh-CN" altLang="zh-CN" sz="1800" dirty="0">
                <a:effectLst/>
                <a:latin typeface="Arial" panose="020B0604020202020204" pitchFamily="34" charset="0"/>
                <a:ea typeface="宋体" panose="02010600030101010101" pitchFamily="2" charset="-122"/>
                <a:cs typeface="Arial" panose="020B0604020202020204" pitchFamily="34" charset="0"/>
              </a:rPr>
              <a:t>专车</a:t>
            </a:r>
            <a:r>
              <a:rPr lang="en-US" altLang="zh-CN" sz="1800" dirty="0">
                <a:effectLst/>
                <a:latin typeface="Arial" panose="020B0604020202020204" pitchFamily="34" charset="0"/>
                <a:ea typeface="宋体" panose="02010600030101010101" pitchFamily="2" charset="-122"/>
              </a:rPr>
              <a:t>app</a:t>
            </a:r>
            <a:r>
              <a:rPr lang="zh-CN" altLang="zh-CN" sz="1800" dirty="0">
                <a:effectLst/>
                <a:latin typeface="Arial" panose="020B0604020202020204" pitchFamily="34" charset="0"/>
                <a:ea typeface="宋体" panose="02010600030101010101" pitchFamily="2" charset="-122"/>
                <a:cs typeface="Arial" panose="020B0604020202020204" pitchFamily="34" charset="0"/>
              </a:rPr>
              <a:t>中存在这样的安全性漏洞</a:t>
            </a:r>
            <a:endParaRPr kumimoji="1" lang="zh-CN" altLang="en-US" dirty="0"/>
          </a:p>
        </p:txBody>
      </p:sp>
      <p:pic>
        <p:nvPicPr>
          <p:cNvPr id="5" name="图片 4">
            <a:extLst>
              <a:ext uri="{FF2B5EF4-FFF2-40B4-BE49-F238E27FC236}">
                <a16:creationId xmlns:a16="http://schemas.microsoft.com/office/drawing/2014/main" id="{EB0118B8-F101-7955-D6B9-C334373DDBA2}"/>
              </a:ext>
            </a:extLst>
          </p:cNvPr>
          <p:cNvPicPr>
            <a:picLocks noChangeAspect="1"/>
          </p:cNvPicPr>
          <p:nvPr/>
        </p:nvPicPr>
        <p:blipFill>
          <a:blip r:embed="rId2"/>
          <a:stretch>
            <a:fillRect/>
          </a:stretch>
        </p:blipFill>
        <p:spPr>
          <a:xfrm>
            <a:off x="5025957" y="1526026"/>
            <a:ext cx="4118043" cy="2316399"/>
          </a:xfrm>
          <a:prstGeom prst="rect">
            <a:avLst/>
          </a:prstGeom>
        </p:spPr>
      </p:pic>
      <p:sp>
        <p:nvSpPr>
          <p:cNvPr id="4" name="文本框 3">
            <a:extLst>
              <a:ext uri="{FF2B5EF4-FFF2-40B4-BE49-F238E27FC236}">
                <a16:creationId xmlns:a16="http://schemas.microsoft.com/office/drawing/2014/main" id="{4CC8FCE4-7DB8-EAA4-6716-541A3BE330DA}"/>
              </a:ext>
            </a:extLst>
          </p:cNvPr>
          <p:cNvSpPr txBox="1"/>
          <p:nvPr/>
        </p:nvSpPr>
        <p:spPr>
          <a:xfrm>
            <a:off x="6160168" y="3968899"/>
            <a:ext cx="2492990" cy="369332"/>
          </a:xfrm>
          <a:prstGeom prst="rect">
            <a:avLst/>
          </a:prstGeom>
          <a:noFill/>
        </p:spPr>
        <p:txBody>
          <a:bodyPr wrap="non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安全性：隐私保护问题</a:t>
            </a:r>
          </a:p>
        </p:txBody>
      </p:sp>
    </p:spTree>
    <p:extLst>
      <p:ext uri="{BB962C8B-B14F-4D97-AF65-F5344CB8AC3E}">
        <p14:creationId xmlns:p14="http://schemas.microsoft.com/office/powerpoint/2010/main" val="928368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E0E4F5-2CB9-F05F-C031-D561D732D36A}"/>
              </a:ext>
            </a:extLst>
          </p:cNvPr>
          <p:cNvSpPr>
            <a:spLocks noGrp="1"/>
          </p:cNvSpPr>
          <p:nvPr>
            <p:ph type="title"/>
          </p:nvPr>
        </p:nvSpPr>
        <p:spPr/>
        <p:txBody>
          <a:bodyPr/>
          <a:lstStyle/>
          <a:p>
            <a:r>
              <a:rPr kumimoji="1" lang="zh-CN" altLang="en-US" dirty="0"/>
              <a:t>预定的酒店住不进去、露宿街头</a:t>
            </a:r>
          </a:p>
        </p:txBody>
      </p:sp>
      <p:sp>
        <p:nvSpPr>
          <p:cNvPr id="3" name="文本占位符 2">
            <a:extLst>
              <a:ext uri="{FF2B5EF4-FFF2-40B4-BE49-F238E27FC236}">
                <a16:creationId xmlns:a16="http://schemas.microsoft.com/office/drawing/2014/main" id="{4714DC4F-AA12-693C-852F-CA69B434BE65}"/>
              </a:ext>
            </a:extLst>
          </p:cNvPr>
          <p:cNvSpPr>
            <a:spLocks noGrp="1"/>
          </p:cNvSpPr>
          <p:nvPr>
            <p:ph type="body" sz="quarter" idx="11"/>
          </p:nvPr>
        </p:nvSpPr>
        <p:spPr>
          <a:xfrm>
            <a:off x="582039" y="1278636"/>
            <a:ext cx="4388796" cy="2956934"/>
          </a:xfrm>
        </p:spPr>
        <p:txBody>
          <a:bodyPr>
            <a:normAutofit fontScale="92500"/>
          </a:bodyPr>
          <a:lstStyle/>
          <a:p>
            <a:r>
              <a:rPr kumimoji="1" lang="zh-CN" altLang="en-US" sz="1800" dirty="0"/>
              <a:t>正值</a:t>
            </a:r>
            <a:r>
              <a:rPr kumimoji="1" lang="en-US" altLang="zh-CN" sz="1800" dirty="0"/>
              <a:t>2019</a:t>
            </a:r>
            <a:r>
              <a:rPr kumimoji="1" lang="zh-CN" altLang="en-US" sz="1800" dirty="0"/>
              <a:t>年国庆假期出行高峰期，通过某知名旅行网预定酒店的不少网友却遭遇“人在囧途”</a:t>
            </a:r>
            <a:r>
              <a:rPr kumimoji="1" lang="en-US" altLang="zh-CN" sz="1800" dirty="0"/>
              <a:t>——</a:t>
            </a:r>
            <a:r>
              <a:rPr kumimoji="1" lang="zh-CN" altLang="en-US" sz="1800" dirty="0"/>
              <a:t>到达酒店却无法入住，已支付的订单却显示未支付或订单不存在；与此同时，客服电话打不通，想退房也退不掉，有些旅客想重新预定，在这样的出行高峰期，又很难订到房</a:t>
            </a:r>
          </a:p>
        </p:txBody>
      </p:sp>
      <p:pic>
        <p:nvPicPr>
          <p:cNvPr id="6146" name="Picture 2">
            <a:extLst>
              <a:ext uri="{FF2B5EF4-FFF2-40B4-BE49-F238E27FC236}">
                <a16:creationId xmlns:a16="http://schemas.microsoft.com/office/drawing/2014/main" id="{DA38F0EC-42D3-2AB5-DE43-F08783F1A3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4286" y="0"/>
            <a:ext cx="23749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851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更多的悲剧</a:t>
            </a:r>
          </a:p>
        </p:txBody>
      </p:sp>
      <p:sp>
        <p:nvSpPr>
          <p:cNvPr id="23555" name="Content Placeholder 2"/>
          <p:cNvSpPr>
            <a:spLocks noGrp="1"/>
          </p:cNvSpPr>
          <p:nvPr>
            <p:ph idx="4294967295"/>
          </p:nvPr>
        </p:nvSpPr>
        <p:spPr>
          <a:xfrm>
            <a:off x="796824" y="1179339"/>
            <a:ext cx="7382328" cy="2993828"/>
          </a:xfrm>
        </p:spPr>
        <p:txBody>
          <a:bodyPr/>
          <a:lstStyle/>
          <a:p>
            <a:pPr marL="319088" indent="-319088" eaLnBrk="0" hangingPunct="0">
              <a:lnSpc>
                <a:spcPct val="150000"/>
              </a:lnSpc>
              <a:buClr>
                <a:schemeClr val="accent1">
                  <a:lumMod val="50000"/>
                </a:schemeClr>
              </a:buClr>
              <a:buSzPct val="90000"/>
              <a:buFont typeface="Wingdings" charset="2"/>
              <a:buChar char="p"/>
              <a:defRPr/>
            </a:pPr>
            <a:r>
              <a:rPr lang="zh-CN" altLang="en-US" sz="1800" dirty="0">
                <a:ea typeface="楷体"/>
                <a:cs typeface="楷体"/>
              </a:rPr>
              <a:t>放射性治疗仪</a:t>
            </a:r>
            <a:r>
              <a:rPr lang="en-US" altLang="zh-CN" sz="1800" dirty="0">
                <a:ea typeface="楷体"/>
                <a:cs typeface="楷体"/>
              </a:rPr>
              <a:t>Therac-25</a:t>
            </a:r>
            <a:r>
              <a:rPr lang="zh-CN" altLang="en-US" sz="1800" dirty="0">
                <a:ea typeface="楷体"/>
                <a:cs typeface="楷体"/>
              </a:rPr>
              <a:t>中的软件存在缺陷，导致几个癌症病人受到非常严重的过量放射性治疗，其中</a:t>
            </a:r>
            <a:r>
              <a:rPr lang="en-US" altLang="zh-CN" sz="1800" dirty="0">
                <a:ea typeface="楷体"/>
                <a:cs typeface="楷体"/>
              </a:rPr>
              <a:t>4</a:t>
            </a:r>
            <a:r>
              <a:rPr lang="zh-CN" altLang="en-US" sz="1800" dirty="0">
                <a:ea typeface="楷体"/>
                <a:cs typeface="楷体"/>
              </a:rPr>
              <a:t>个人因此死亡</a:t>
            </a:r>
            <a:endParaRPr lang="en-US" altLang="zh-CN" sz="1800" dirty="0">
              <a:ea typeface="楷体"/>
              <a:cs typeface="楷体"/>
            </a:endParaRPr>
          </a:p>
          <a:p>
            <a:pPr marL="319088" indent="-319088" eaLnBrk="0" hangingPunct="0">
              <a:lnSpc>
                <a:spcPct val="150000"/>
              </a:lnSpc>
              <a:buClr>
                <a:schemeClr val="accent1">
                  <a:lumMod val="50000"/>
                </a:schemeClr>
              </a:buClr>
              <a:buSzPct val="90000"/>
              <a:buFont typeface="Wingdings" charset="2"/>
              <a:buChar char="p"/>
              <a:defRPr/>
            </a:pPr>
            <a:r>
              <a:rPr lang="zh-CN" altLang="en-US" sz="1800" dirty="0">
                <a:ea typeface="楷体"/>
                <a:cs typeface="楷体"/>
              </a:rPr>
              <a:t>当爱国者导弹防御系统的时钟累计运行超过</a:t>
            </a:r>
            <a:r>
              <a:rPr lang="en-US" altLang="zh-CN" sz="1800" dirty="0">
                <a:ea typeface="楷体"/>
                <a:cs typeface="楷体"/>
              </a:rPr>
              <a:t>14</a:t>
            </a:r>
            <a:r>
              <a:rPr lang="zh-CN" altLang="en-US" sz="1800" dirty="0">
                <a:ea typeface="楷体"/>
                <a:cs typeface="楷体"/>
              </a:rPr>
              <a:t>小时后，系统的跟踪系统就不准确。从而导致拦截伊拉克飞毛腿导弹的几次失败，其中一枚在沙特阿拉伯的多哈爆炸的飞毛腿导弹造成</a:t>
            </a:r>
            <a:r>
              <a:rPr lang="en-US" altLang="zh-CN" sz="1800" dirty="0">
                <a:ea typeface="楷体"/>
                <a:cs typeface="楷体"/>
              </a:rPr>
              <a:t>28</a:t>
            </a:r>
            <a:r>
              <a:rPr lang="zh-CN" altLang="en-US" sz="1800" dirty="0">
                <a:ea typeface="楷体"/>
                <a:cs typeface="楷体"/>
              </a:rPr>
              <a:t>名美国士兵死亡</a:t>
            </a:r>
            <a:endParaRPr lang="en-US" altLang="zh-CN" sz="1800" dirty="0">
              <a:ea typeface="楷体"/>
              <a:cs typeface="楷体"/>
            </a:endParaRPr>
          </a:p>
          <a:p>
            <a:pPr marL="319088" indent="-319088" eaLnBrk="0" hangingPunct="0">
              <a:lnSpc>
                <a:spcPct val="150000"/>
              </a:lnSpc>
              <a:buClr>
                <a:schemeClr val="accent1">
                  <a:lumMod val="50000"/>
                </a:schemeClr>
              </a:buClr>
              <a:buSzPct val="90000"/>
              <a:buFont typeface="Wingdings" charset="2"/>
              <a:buChar char="p"/>
              <a:defRPr/>
            </a:pPr>
            <a:r>
              <a:rPr lang="zh-CN" altLang="en-US" sz="1800" dirty="0">
                <a:ea typeface="楷体"/>
                <a:cs typeface="楷体"/>
              </a:rPr>
              <a:t> </a:t>
            </a:r>
            <a:r>
              <a:rPr lang="en-US" altLang="zh-CN" sz="1800" dirty="0">
                <a:ea typeface="楷体"/>
                <a:cs typeface="楷体"/>
              </a:rPr>
              <a:t>……</a:t>
            </a:r>
            <a:endParaRPr lang="zh-CN" altLang="en-US" sz="1800" dirty="0">
              <a:ea typeface="楷体"/>
              <a:cs typeface="楷体"/>
            </a:endParaRPr>
          </a:p>
        </p:txBody>
      </p:sp>
    </p:spTree>
    <p:extLst>
      <p:ext uri="{BB962C8B-B14F-4D97-AF65-F5344CB8AC3E}">
        <p14:creationId xmlns:p14="http://schemas.microsoft.com/office/powerpoint/2010/main" val="686278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wipe(left)">
                                      <p:cBhvr>
                                        <p:cTn id="7" dur="500"/>
                                        <p:tgtEl>
                                          <p:spTgt spid="235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wipe(left)">
                                      <p:cBhvr>
                                        <p:cTn id="12" dur="500"/>
                                        <p:tgtEl>
                                          <p:spTgt spid="235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fontScale="90000"/>
          </a:bodyPr>
          <a:lstStyle/>
          <a:p>
            <a:r>
              <a:rPr lang="en-US" altLang="zh-CN" sz="4800" b="1" dirty="0">
                <a:solidFill>
                  <a:schemeClr val="accent2">
                    <a:lumMod val="75000"/>
                  </a:schemeClr>
                </a:solidFill>
              </a:rPr>
              <a:t>1.2</a:t>
            </a:r>
            <a:r>
              <a:rPr lang="zh-CN" altLang="en-US" sz="4800" b="1" dirty="0">
                <a:solidFill>
                  <a:schemeClr val="accent2">
                    <a:lumMod val="75000"/>
                  </a:schemeClr>
                </a:solidFill>
              </a:rPr>
              <a:t> 为什么要进行</a:t>
            </a:r>
            <a:r>
              <a:rPr lang="zh-CN" altLang="en-US" sz="4800" b="1" dirty="0">
                <a:solidFill>
                  <a:schemeClr val="accent2">
                    <a:lumMod val="75000"/>
                  </a:schemeClr>
                </a:solidFill>
                <a:sym typeface="+mn-ea"/>
              </a:rPr>
              <a:t>软件测试？</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3043070945"/>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89367" y="307857"/>
            <a:ext cx="5328062" cy="529493"/>
          </a:xfrm>
        </p:spPr>
        <p:txBody>
          <a:bodyPr>
            <a:normAutofit/>
          </a:bodyPr>
          <a:lstStyle/>
          <a:p>
            <a:r>
              <a:rPr lang="en-US" altLang="zh-CN" dirty="0" err="1">
                <a:latin typeface="微软雅黑" panose="020B0503020204020204" pitchFamily="34" charset="-122"/>
                <a:ea typeface="微软雅黑" panose="020B0503020204020204" pitchFamily="34" charset="-122"/>
              </a:rPr>
              <a:t>为什么要进行软件测试</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nvSpPr>
        <p:spPr bwMode="auto">
          <a:xfrm>
            <a:off x="654738" y="1129510"/>
            <a:ext cx="8109884" cy="3247937"/>
          </a:xfrm>
          <a:prstGeom prst="rect">
            <a:avLst/>
          </a:prstGeom>
          <a:noFill/>
          <a:ln w="9525">
            <a:noFill/>
            <a:miter lim="800000"/>
            <a:headEnd/>
            <a:tailEnd/>
          </a:ln>
        </p:spPr>
        <p:txBody>
          <a:bodyPr/>
          <a:lstStyle/>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zh-CN" dirty="0">
                <a:ea typeface="楷体"/>
                <a:cs typeface="楷体"/>
              </a:rPr>
              <a:t>答案很简单，就是为了保证软件质量 </a:t>
            </a:r>
            <a:endParaRPr lang="en-US" altLang="zh-CN" dirty="0">
              <a:ea typeface="楷体"/>
              <a:cs typeface="楷体"/>
            </a:endParaRPr>
          </a:p>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en-US" dirty="0">
                <a:ea typeface="楷体"/>
                <a:cs typeface="楷体"/>
              </a:rPr>
              <a:t>软件总存在缺陷。只有通过测试，才可以发现软件缺陷。也只有发现了缺陷，才可以将软件缺陷从软件产品或软件系统中清理出去。</a:t>
            </a:r>
          </a:p>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en-US" dirty="0">
                <a:ea typeface="楷体"/>
                <a:cs typeface="楷体"/>
              </a:rPr>
              <a:t>软件中存在的缺陷给我们带来的损失是巨大的，</a:t>
            </a:r>
            <a:r>
              <a:rPr lang="zh-CN" altLang="zh-CN" dirty="0">
                <a:ea typeface="楷体"/>
                <a:cs typeface="楷体"/>
              </a:rPr>
              <a:t>软件测试是软件质量保证的关键步骤，测试作为一种“预防和评估成本”的投入，从而降低缺陷造成的劣质成本</a:t>
            </a:r>
            <a:r>
              <a:rPr lang="zh-CN" altLang="en-US" dirty="0">
                <a:ea typeface="楷体"/>
                <a:cs typeface="楷体"/>
              </a:rPr>
              <a:t>。</a:t>
            </a:r>
            <a:endParaRPr lang="en-US" altLang="zh-CN" dirty="0">
              <a:ea typeface="楷体"/>
              <a:cs typeface="楷体"/>
            </a:endParaRPr>
          </a:p>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zh-CN" dirty="0">
                <a:ea typeface="楷体"/>
                <a:cs typeface="楷体"/>
              </a:rPr>
              <a:t>软件测试在产品开发中占据着相当重要的位置，也是软件行业几十年的实践所证明的一个道理</a:t>
            </a:r>
            <a:r>
              <a:rPr lang="zh-CN" altLang="en-US" dirty="0">
                <a:ea typeface="楷体"/>
                <a:cs typeface="楷体"/>
              </a:rPr>
              <a:t>。</a:t>
            </a:r>
            <a:endParaRPr lang="en-US" altLang="zh-CN" dirty="0">
              <a:ea typeface="楷体"/>
              <a:cs typeface="楷体"/>
            </a:endParaRPr>
          </a:p>
        </p:txBody>
      </p:sp>
    </p:spTree>
    <p:extLst>
      <p:ext uri="{BB962C8B-B14F-4D97-AF65-F5344CB8AC3E}">
        <p14:creationId xmlns:p14="http://schemas.microsoft.com/office/powerpoint/2010/main" val="145663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1.3</a:t>
            </a:r>
            <a:r>
              <a:rPr lang="zh-CN" altLang="en-US" sz="4800" b="1" dirty="0">
                <a:solidFill>
                  <a:schemeClr val="accent2">
                    <a:lumMod val="75000"/>
                  </a:schemeClr>
                </a:solidFill>
              </a:rPr>
              <a:t> 什么是</a:t>
            </a:r>
            <a:r>
              <a:rPr lang="zh-CN" altLang="en-US" sz="4800" b="1" dirty="0">
                <a:solidFill>
                  <a:schemeClr val="accent2">
                    <a:lumMod val="75000"/>
                  </a:schemeClr>
                </a:solidFill>
                <a:sym typeface="+mn-ea"/>
              </a:rPr>
              <a:t>软件测试？</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1919289954"/>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281166" y="1156455"/>
            <a:ext cx="4684205" cy="2259903"/>
          </a:xfrm>
        </p:spPr>
        <p:txBody>
          <a:bodyPr>
            <a:noAutofit/>
          </a:bodyPr>
          <a:lstStyle/>
          <a:p>
            <a:r>
              <a:rPr lang="en-US" altLang="zh-CN" sz="2000" dirty="0"/>
              <a:t>1.3.1 </a:t>
            </a:r>
            <a:r>
              <a:rPr lang="zh-CN" altLang="en-US" sz="2000" dirty="0"/>
              <a:t>软件测试学科的形成</a:t>
            </a:r>
            <a:endParaRPr lang="en-US" altLang="zh-CN" sz="2000" dirty="0"/>
          </a:p>
          <a:p>
            <a:r>
              <a:rPr lang="en-US" altLang="zh-CN" sz="2000" dirty="0"/>
              <a:t>1.3.2 </a:t>
            </a:r>
            <a:r>
              <a:rPr lang="zh-CN" altLang="en-US" sz="2000" dirty="0"/>
              <a:t>正反两方面的争辩</a:t>
            </a:r>
            <a:endParaRPr lang="en-US" altLang="zh-CN" sz="2000" dirty="0"/>
          </a:p>
          <a:p>
            <a:r>
              <a:rPr lang="en-US" altLang="zh-CN" sz="2000" dirty="0"/>
              <a:t>1.3.3 </a:t>
            </a:r>
            <a:r>
              <a:rPr lang="zh-CN" altLang="en-US" sz="2000" dirty="0"/>
              <a:t>软件测试的定义</a:t>
            </a:r>
            <a:endParaRPr lang="en-US" altLang="zh-CN" sz="2000" dirty="0"/>
          </a:p>
          <a:p>
            <a:r>
              <a:rPr lang="en-US" altLang="zh-CN" sz="2000" dirty="0"/>
              <a:t>1.3.4 </a:t>
            </a:r>
            <a:r>
              <a:rPr lang="zh-CN" altLang="en-US" sz="2000" dirty="0"/>
              <a:t>软件测试的其它观点</a:t>
            </a:r>
          </a:p>
        </p:txBody>
      </p:sp>
    </p:spTree>
    <p:extLst>
      <p:ext uri="{BB962C8B-B14F-4D97-AF65-F5344CB8AC3E}">
        <p14:creationId xmlns:p14="http://schemas.microsoft.com/office/powerpoint/2010/main" val="513013120"/>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853542" y="1978373"/>
            <a:ext cx="7436916"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1.3.1 </a:t>
            </a:r>
            <a:r>
              <a:rPr lang="zh-CN" altLang="en-US" sz="4500" b="1" dirty="0">
                <a:ln w="19050">
                  <a:noFill/>
                </a:ln>
                <a:solidFill>
                  <a:srgbClr val="FFFFFF"/>
                </a:solidFill>
                <a:latin typeface="微软雅黑" panose="020B0503020204020204" charset="-122"/>
                <a:ea typeface="微软雅黑" panose="020B0503020204020204" charset="-122"/>
              </a:rPr>
              <a:t>软件测试学科的形成</a:t>
            </a:r>
            <a:endParaRPr lang="en-US" altLang="zh-CN" sz="4500" b="1" dirty="0">
              <a:ln w="19050">
                <a:noFill/>
              </a:ln>
              <a:solidFill>
                <a:srgbClr val="FFFFFF"/>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058650282"/>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E0AFE-4AE9-3E6E-5F4C-1061925D2C06}"/>
              </a:ext>
            </a:extLst>
          </p:cNvPr>
          <p:cNvSpPr>
            <a:spLocks noGrp="1"/>
          </p:cNvSpPr>
          <p:nvPr>
            <p:ph type="title"/>
          </p:nvPr>
        </p:nvSpPr>
        <p:spPr/>
        <p:txBody>
          <a:bodyPr/>
          <a:lstStyle/>
          <a:p>
            <a:r>
              <a:rPr kumimoji="1" lang="zh-CN" altLang="en-US" dirty="0"/>
              <a:t>从狭义的软件测试到广义的软件测试</a:t>
            </a:r>
          </a:p>
        </p:txBody>
      </p:sp>
      <p:sp>
        <p:nvSpPr>
          <p:cNvPr id="3" name="文本占位符 2">
            <a:extLst>
              <a:ext uri="{FF2B5EF4-FFF2-40B4-BE49-F238E27FC236}">
                <a16:creationId xmlns:a16="http://schemas.microsoft.com/office/drawing/2014/main" id="{20E15F7B-4578-8E7B-B0C1-A102ABEB9DAA}"/>
              </a:ext>
            </a:extLst>
          </p:cNvPr>
          <p:cNvSpPr>
            <a:spLocks noGrp="1"/>
          </p:cNvSpPr>
          <p:nvPr>
            <p:ph type="body" sz="quarter" idx="11"/>
          </p:nvPr>
        </p:nvSpPr>
        <p:spPr>
          <a:xfrm>
            <a:off x="582038" y="1727937"/>
            <a:ext cx="7948645" cy="2632190"/>
          </a:xfrm>
        </p:spPr>
        <p:txBody>
          <a:bodyPr>
            <a:normAutofit/>
          </a:bodyPr>
          <a:lstStyle/>
          <a:p>
            <a:r>
              <a:rPr kumimoji="1" lang="zh-CN" altLang="en-US" sz="2000" b="1" dirty="0"/>
              <a:t>软件不只是可执行的程序</a:t>
            </a:r>
            <a:r>
              <a:rPr kumimoji="1" lang="zh-CN" altLang="en-US" sz="2000" dirty="0"/>
              <a:t>，“需求、设计和代码”都属于软件的组成部分，对“需求、设计和代码”评审属于静态测试</a:t>
            </a:r>
            <a:endParaRPr kumimoji="1" lang="en-US" altLang="zh-CN" sz="2000" dirty="0"/>
          </a:p>
          <a:p>
            <a:r>
              <a:rPr kumimoji="1" lang="zh-CN" altLang="en-US" sz="2000" dirty="0"/>
              <a:t>既然提出“动态测试”，这就能说明大家认可“静态测试”，软件测试包含静态测试和动态测试</a:t>
            </a:r>
            <a:endParaRPr kumimoji="1" lang="en-US" altLang="zh-CN" sz="2000" dirty="0"/>
          </a:p>
          <a:p>
            <a:r>
              <a:rPr kumimoji="1" lang="zh-CN" altLang="en-US" sz="2000" dirty="0"/>
              <a:t>测试进行得越早，成本越低；相反，缺陷发现得越迟研发成本越高</a:t>
            </a:r>
            <a:endParaRPr kumimoji="1" lang="en-US" altLang="zh-CN" sz="2000" dirty="0"/>
          </a:p>
          <a:p>
            <a:endParaRPr kumimoji="1" lang="zh-CN" altLang="en-US" sz="2000" dirty="0"/>
          </a:p>
        </p:txBody>
      </p:sp>
      <p:grpSp>
        <p:nvGrpSpPr>
          <p:cNvPr id="10" name="组合 9">
            <a:extLst>
              <a:ext uri="{FF2B5EF4-FFF2-40B4-BE49-F238E27FC236}">
                <a16:creationId xmlns:a16="http://schemas.microsoft.com/office/drawing/2014/main" id="{2BF8AD11-8D01-0B3D-687C-449850CF25B2}"/>
              </a:ext>
            </a:extLst>
          </p:cNvPr>
          <p:cNvGrpSpPr/>
          <p:nvPr/>
        </p:nvGrpSpPr>
        <p:grpSpPr>
          <a:xfrm>
            <a:off x="802887" y="954350"/>
            <a:ext cx="3057247" cy="461665"/>
            <a:chOff x="802887" y="954350"/>
            <a:chExt cx="3057247" cy="461665"/>
          </a:xfrm>
        </p:grpSpPr>
        <p:sp>
          <p:nvSpPr>
            <p:cNvPr id="4" name="文本框 3">
              <a:extLst>
                <a:ext uri="{FF2B5EF4-FFF2-40B4-BE49-F238E27FC236}">
                  <a16:creationId xmlns:a16="http://schemas.microsoft.com/office/drawing/2014/main" id="{DA116631-3407-7657-1F40-71AEDD1308F6}"/>
                </a:ext>
              </a:extLst>
            </p:cNvPr>
            <p:cNvSpPr txBox="1"/>
            <p:nvPr/>
          </p:nvSpPr>
          <p:spPr>
            <a:xfrm>
              <a:off x="802887" y="954350"/>
              <a:ext cx="3057247" cy="461665"/>
            </a:xfrm>
            <a:prstGeom prst="rect">
              <a:avLst/>
            </a:prstGeom>
            <a:noFill/>
          </p:spPr>
          <p:txBody>
            <a:bodyPr wrap="none" rtlCol="0">
              <a:spAutoFit/>
            </a:bodyPr>
            <a:lstStyle/>
            <a:p>
              <a:r>
                <a:rPr kumimoji="1" lang="zh-CN" altLang="en-US" sz="2400" dirty="0">
                  <a:solidFill>
                    <a:srgbClr val="0070C0"/>
                  </a:solidFill>
                  <a:latin typeface="Microsoft YaHei" panose="020B0503020204020204" pitchFamily="34" charset="-122"/>
                  <a:ea typeface="Microsoft YaHei" panose="020B0503020204020204" pitchFamily="34" charset="-122"/>
                </a:rPr>
                <a:t>软件测试 </a:t>
              </a:r>
              <a:r>
                <a:rPr kumimoji="1" lang="en-US" altLang="zh-CN" sz="2400" dirty="0">
                  <a:solidFill>
                    <a:srgbClr val="FF0000"/>
                  </a:solidFill>
                  <a:latin typeface="Microsoft YaHei" panose="020B0503020204020204" pitchFamily="34" charset="-122"/>
                  <a:ea typeface="Microsoft YaHei" panose="020B0503020204020204" pitchFamily="34" charset="-122"/>
                </a:rPr>
                <a:t>=</a:t>
              </a:r>
              <a:r>
                <a:rPr kumimoji="1" lang="zh-CN" altLang="en-US" sz="2400" dirty="0">
                  <a:solidFill>
                    <a:srgbClr val="0070C0"/>
                  </a:solidFill>
                  <a:latin typeface="Microsoft YaHei" panose="020B0503020204020204" pitchFamily="34" charset="-122"/>
                  <a:ea typeface="Microsoft YaHei" panose="020B0503020204020204" pitchFamily="34" charset="-122"/>
                </a:rPr>
                <a:t> 程序测试</a:t>
              </a:r>
            </a:p>
          </p:txBody>
        </p:sp>
        <p:cxnSp>
          <p:nvCxnSpPr>
            <p:cNvPr id="6" name="直线连接符 5">
              <a:extLst>
                <a:ext uri="{FF2B5EF4-FFF2-40B4-BE49-F238E27FC236}">
                  <a16:creationId xmlns:a16="http://schemas.microsoft.com/office/drawing/2014/main" id="{4C2EED34-73A7-B883-190B-1B510536316D}"/>
                </a:ext>
              </a:extLst>
            </p:cNvPr>
            <p:cNvCxnSpPr>
              <a:cxnSpLocks/>
            </p:cNvCxnSpPr>
            <p:nvPr/>
          </p:nvCxnSpPr>
          <p:spPr>
            <a:xfrm flipH="1">
              <a:off x="2286906" y="1089664"/>
              <a:ext cx="89210" cy="1910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88856485"/>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0BE6EC1-AD28-15A7-DD91-317AE6BBA9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1517" y="673698"/>
            <a:ext cx="5461016" cy="3796104"/>
          </a:xfrm>
          <a:prstGeom prst="rect">
            <a:avLst/>
          </a:prstGeom>
        </p:spPr>
      </p:pic>
      <p:sp>
        <p:nvSpPr>
          <p:cNvPr id="2" name="标题 1">
            <a:extLst>
              <a:ext uri="{FF2B5EF4-FFF2-40B4-BE49-F238E27FC236}">
                <a16:creationId xmlns:a16="http://schemas.microsoft.com/office/drawing/2014/main" id="{878D0027-4890-6DD6-39F7-0EEA9ED972F2}"/>
              </a:ext>
            </a:extLst>
          </p:cNvPr>
          <p:cNvSpPr>
            <a:spLocks noGrp="1"/>
          </p:cNvSpPr>
          <p:nvPr>
            <p:ph type="title"/>
          </p:nvPr>
        </p:nvSpPr>
        <p:spPr/>
        <p:txBody>
          <a:bodyPr/>
          <a:lstStyle/>
          <a:p>
            <a:r>
              <a:rPr kumimoji="1" lang="zh-CN" altLang="en-US" dirty="0"/>
              <a:t>广义的软件测试可以极大地降低研发成本</a:t>
            </a:r>
          </a:p>
        </p:txBody>
      </p:sp>
      <p:sp>
        <p:nvSpPr>
          <p:cNvPr id="3" name="文本占位符 2">
            <a:extLst>
              <a:ext uri="{FF2B5EF4-FFF2-40B4-BE49-F238E27FC236}">
                <a16:creationId xmlns:a16="http://schemas.microsoft.com/office/drawing/2014/main" id="{5C243DBA-ACB2-3B85-0324-476E18D789CE}"/>
              </a:ext>
            </a:extLst>
          </p:cNvPr>
          <p:cNvSpPr>
            <a:spLocks noGrp="1"/>
          </p:cNvSpPr>
          <p:nvPr>
            <p:ph type="body" sz="quarter" idx="11"/>
          </p:nvPr>
        </p:nvSpPr>
        <p:spPr>
          <a:xfrm>
            <a:off x="425766" y="1066604"/>
            <a:ext cx="5667026" cy="1929008"/>
          </a:xfrm>
        </p:spPr>
        <p:txBody>
          <a:bodyPr/>
          <a:lstStyle/>
          <a:p>
            <a:r>
              <a:rPr kumimoji="1" lang="zh-CN" altLang="en-US" dirty="0"/>
              <a:t>缺陷发现得越迟，其修复的成本越高，而且是非线性增长</a:t>
            </a:r>
          </a:p>
        </p:txBody>
      </p:sp>
    </p:spTree>
    <p:extLst>
      <p:ext uri="{BB962C8B-B14F-4D97-AF65-F5344CB8AC3E}">
        <p14:creationId xmlns:p14="http://schemas.microsoft.com/office/powerpoint/2010/main" val="3149152121"/>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4312" y="156364"/>
            <a:ext cx="5130570" cy="857250"/>
          </a:xfrm>
        </p:spPr>
        <p:txBody>
          <a:bodyPr/>
          <a:lstStyle/>
          <a:p>
            <a:r>
              <a:rPr kumimoji="1" lang="zh-CN" altLang="en-US" dirty="0">
                <a:latin typeface="微软雅黑" panose="020B0503020204020204" pitchFamily="34" charset="-122"/>
                <a:ea typeface="微软雅黑" panose="020B0503020204020204" pitchFamily="34" charset="-122"/>
              </a:rPr>
              <a:t>软件测试学科的发展</a:t>
            </a:r>
          </a:p>
        </p:txBody>
      </p:sp>
      <p:sp>
        <p:nvSpPr>
          <p:cNvPr id="26627" name="Rectangle 4"/>
          <p:cNvSpPr>
            <a:spLocks noGrp="1" noChangeArrowheads="1"/>
          </p:cNvSpPr>
          <p:nvPr>
            <p:ph type="body" idx="4294967295"/>
          </p:nvPr>
        </p:nvSpPr>
        <p:spPr>
          <a:xfrm>
            <a:off x="1134963" y="946939"/>
            <a:ext cx="7170837" cy="3539336"/>
          </a:xfrm>
        </p:spPr>
        <p:txBody>
          <a:bodyPr>
            <a:noAutofit/>
          </a:bodyPr>
          <a:lstStyle/>
          <a:p>
            <a:pPr marL="406400" indent="-406400" eaLnBrk="0" hangingPunct="0">
              <a:lnSpc>
                <a:spcPct val="130000"/>
              </a:lnSpc>
              <a:buClr>
                <a:schemeClr val="accent1">
                  <a:lumMod val="50000"/>
                </a:schemeClr>
              </a:buClr>
              <a:buSzPct val="90000"/>
              <a:buFont typeface="Wingdings" charset="2"/>
              <a:buChar char="p"/>
              <a:defRPr/>
            </a:pPr>
            <a:r>
              <a:rPr lang="en-US" altLang="zh-CN" sz="2000" dirty="0">
                <a:ea typeface="楷体"/>
                <a:cs typeface="楷体"/>
              </a:rPr>
              <a:t>1957</a:t>
            </a:r>
            <a:r>
              <a:rPr lang="zh-CN" altLang="en-US" sz="2000" dirty="0">
                <a:ea typeface="楷体"/>
                <a:cs typeface="楷体"/>
              </a:rPr>
              <a:t>～</a:t>
            </a:r>
            <a:r>
              <a:rPr lang="en-US" altLang="zh-CN" sz="2000" dirty="0">
                <a:ea typeface="楷体"/>
                <a:cs typeface="楷体"/>
              </a:rPr>
              <a:t>1978</a:t>
            </a:r>
            <a:r>
              <a:rPr lang="zh-CN" altLang="en-US" sz="2000" dirty="0">
                <a:ea typeface="楷体"/>
                <a:cs typeface="楷体"/>
              </a:rPr>
              <a:t>年，以功能验证为导向，测试是证明软件是正确的（正向思维）。</a:t>
            </a:r>
          </a:p>
          <a:p>
            <a:pPr marL="406400" indent="-406400" eaLnBrk="0" hangingPunct="0">
              <a:lnSpc>
                <a:spcPct val="130000"/>
              </a:lnSpc>
              <a:buClr>
                <a:schemeClr val="accent1">
                  <a:lumMod val="50000"/>
                </a:schemeClr>
              </a:buClr>
              <a:buSzPct val="90000"/>
              <a:buFont typeface="Wingdings" charset="2"/>
              <a:buChar char="p"/>
              <a:defRPr/>
            </a:pPr>
            <a:r>
              <a:rPr lang="en-US" altLang="zh-CN" sz="2000" dirty="0">
                <a:ea typeface="楷体"/>
                <a:cs typeface="楷体"/>
              </a:rPr>
              <a:t>1978</a:t>
            </a:r>
            <a:r>
              <a:rPr lang="zh-CN" altLang="en-US" sz="2000" dirty="0">
                <a:ea typeface="楷体"/>
                <a:cs typeface="楷体"/>
              </a:rPr>
              <a:t>～</a:t>
            </a:r>
            <a:r>
              <a:rPr lang="en-US" altLang="zh-CN" sz="2000" dirty="0">
                <a:ea typeface="楷体"/>
                <a:cs typeface="楷体"/>
              </a:rPr>
              <a:t>1983</a:t>
            </a:r>
            <a:r>
              <a:rPr lang="zh-CN" altLang="en-US" sz="2000" dirty="0">
                <a:ea typeface="楷体"/>
                <a:cs typeface="楷体"/>
              </a:rPr>
              <a:t>年，以破坏性检测为导向，测试是为了找到软件中的错误（逆向思维）。</a:t>
            </a:r>
          </a:p>
          <a:p>
            <a:pPr marL="406400" indent="-406400" eaLnBrk="0" hangingPunct="0">
              <a:lnSpc>
                <a:spcPct val="130000"/>
              </a:lnSpc>
              <a:buClr>
                <a:schemeClr val="accent1">
                  <a:lumMod val="50000"/>
                </a:schemeClr>
              </a:buClr>
              <a:buSzPct val="90000"/>
              <a:buFont typeface="Wingdings" charset="2"/>
              <a:buChar char="p"/>
              <a:defRPr/>
            </a:pPr>
            <a:r>
              <a:rPr lang="en-US" altLang="zh-CN" sz="2000" dirty="0">
                <a:ea typeface="楷体"/>
                <a:cs typeface="楷体"/>
              </a:rPr>
              <a:t>1983</a:t>
            </a:r>
            <a:r>
              <a:rPr lang="zh-CN" altLang="en-US" sz="2000" dirty="0">
                <a:ea typeface="楷体"/>
                <a:cs typeface="楷体"/>
              </a:rPr>
              <a:t>～</a:t>
            </a:r>
            <a:r>
              <a:rPr lang="en-US" altLang="zh-CN" sz="2000" dirty="0">
                <a:ea typeface="楷体"/>
                <a:cs typeface="楷体"/>
              </a:rPr>
              <a:t>1987</a:t>
            </a:r>
            <a:r>
              <a:rPr lang="zh-CN" altLang="en-US" sz="2000" dirty="0">
                <a:ea typeface="楷体"/>
                <a:cs typeface="楷体"/>
              </a:rPr>
              <a:t>年，以质量评估为导向，测试是提供产品的评估和质量度量。</a:t>
            </a:r>
          </a:p>
          <a:p>
            <a:pPr marL="406400" indent="-406400" eaLnBrk="0" hangingPunct="0">
              <a:lnSpc>
                <a:spcPct val="130000"/>
              </a:lnSpc>
              <a:buClr>
                <a:schemeClr val="accent1">
                  <a:lumMod val="50000"/>
                </a:schemeClr>
              </a:buClr>
              <a:buSzPct val="90000"/>
              <a:buFont typeface="Wingdings" charset="2"/>
              <a:buChar char="p"/>
              <a:defRPr/>
            </a:pPr>
            <a:r>
              <a:rPr lang="en-US" altLang="zh-CN" sz="2000" dirty="0">
                <a:ea typeface="楷体"/>
                <a:cs typeface="楷体"/>
              </a:rPr>
              <a:t>1988</a:t>
            </a:r>
            <a:r>
              <a:rPr lang="zh-CN" altLang="en-US" sz="2000" dirty="0">
                <a:ea typeface="楷体"/>
                <a:cs typeface="楷体"/>
              </a:rPr>
              <a:t>年起，以缺陷预防为导向，测试是为了展示软件符合设计要求，发现缺陷、预防缺陷。</a:t>
            </a:r>
          </a:p>
        </p:txBody>
      </p:sp>
    </p:spTree>
    <p:extLst>
      <p:ext uri="{BB962C8B-B14F-4D97-AF65-F5344CB8AC3E}">
        <p14:creationId xmlns:p14="http://schemas.microsoft.com/office/powerpoint/2010/main" val="2453356234"/>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754319" y="236730"/>
            <a:ext cx="4698206" cy="594066"/>
          </a:xfrm>
        </p:spPr>
        <p:txBody>
          <a:bodyPr>
            <a:normAutofit/>
          </a:bodyPr>
          <a:lstStyle/>
          <a:p>
            <a:r>
              <a:rPr kumimoji="1" lang="zh-CN" altLang="en-US" dirty="0">
                <a:latin typeface="微软雅黑" panose="020B0503020204020204" pitchFamily="34" charset="-122"/>
                <a:ea typeface="微软雅黑" panose="020B0503020204020204" pitchFamily="34" charset="-122"/>
              </a:rPr>
              <a:t>不同的阶段划分</a:t>
            </a:r>
          </a:p>
        </p:txBody>
      </p:sp>
      <p:sp>
        <p:nvSpPr>
          <p:cNvPr id="27651" name="Rectangle 3"/>
          <p:cNvSpPr>
            <a:spLocks noGrp="1" noChangeArrowheads="1"/>
          </p:cNvSpPr>
          <p:nvPr>
            <p:ph type="body" idx="4294967295"/>
          </p:nvPr>
        </p:nvSpPr>
        <p:spPr>
          <a:xfrm>
            <a:off x="754319" y="1167594"/>
            <a:ext cx="7729777" cy="2808312"/>
          </a:xfrm>
        </p:spPr>
        <p:txBody>
          <a:bodyPr>
            <a:noAutofit/>
          </a:bodyPr>
          <a:lstStyle/>
          <a:p>
            <a:pPr marL="406400" indent="-406400" eaLnBrk="0" hangingPunct="0">
              <a:lnSpc>
                <a:spcPct val="130000"/>
              </a:lnSpc>
              <a:buClr>
                <a:schemeClr val="accent1">
                  <a:lumMod val="50000"/>
                </a:schemeClr>
              </a:buClr>
              <a:buSzPct val="90000"/>
              <a:buFont typeface="Wingdings" charset="2"/>
              <a:buChar char="p"/>
              <a:defRPr/>
            </a:pPr>
            <a:r>
              <a:rPr lang="zh-CN" altLang="en-US" sz="2000" dirty="0">
                <a:ea typeface="楷体"/>
                <a:cs typeface="楷体"/>
              </a:rPr>
              <a:t>初级阶段（</a:t>
            </a:r>
            <a:r>
              <a:rPr lang="en-US" altLang="zh-CN" sz="2000" dirty="0">
                <a:ea typeface="楷体"/>
                <a:cs typeface="楷体"/>
              </a:rPr>
              <a:t>1957</a:t>
            </a:r>
            <a:r>
              <a:rPr lang="zh-CN" altLang="en-US" sz="2000" dirty="0">
                <a:ea typeface="楷体"/>
                <a:cs typeface="楷体"/>
              </a:rPr>
              <a:t>～</a:t>
            </a:r>
            <a:r>
              <a:rPr lang="en-US" altLang="zh-CN" sz="2000" dirty="0">
                <a:ea typeface="楷体"/>
                <a:cs typeface="楷体"/>
              </a:rPr>
              <a:t>1971</a:t>
            </a:r>
            <a:r>
              <a:rPr lang="zh-CN" altLang="en-US" sz="2000" dirty="0">
                <a:ea typeface="楷体"/>
                <a:cs typeface="楷体"/>
              </a:rPr>
              <a:t>）测试通常被认为是对产品进行事后检验 ，缺乏有效的测试方法</a:t>
            </a:r>
          </a:p>
          <a:p>
            <a:pPr marL="406400" indent="-406400" eaLnBrk="0" hangingPunct="0">
              <a:lnSpc>
                <a:spcPct val="130000"/>
              </a:lnSpc>
              <a:buClr>
                <a:schemeClr val="accent1">
                  <a:lumMod val="50000"/>
                </a:schemeClr>
              </a:buClr>
              <a:buSzPct val="90000"/>
              <a:buFont typeface="Wingdings" charset="2"/>
              <a:buChar char="p"/>
              <a:defRPr/>
            </a:pPr>
            <a:r>
              <a:rPr lang="zh-CN" altLang="en-US" sz="2000" dirty="0">
                <a:ea typeface="楷体"/>
                <a:cs typeface="楷体"/>
              </a:rPr>
              <a:t>发展阶段（</a:t>
            </a:r>
            <a:r>
              <a:rPr lang="en-US" altLang="zh-CN" sz="2000" dirty="0">
                <a:ea typeface="楷体"/>
                <a:cs typeface="楷体"/>
              </a:rPr>
              <a:t>1972</a:t>
            </a:r>
            <a:r>
              <a:rPr lang="zh-CN" altLang="en-US" sz="2000" dirty="0">
                <a:ea typeface="楷体"/>
                <a:cs typeface="楷体"/>
              </a:rPr>
              <a:t>～</a:t>
            </a:r>
            <a:r>
              <a:rPr lang="en-US" altLang="zh-CN" sz="2000" dirty="0">
                <a:ea typeface="楷体"/>
                <a:cs typeface="楷体"/>
              </a:rPr>
              <a:t>1982</a:t>
            </a:r>
            <a:r>
              <a:rPr lang="zh-CN" altLang="en-US" sz="2000" dirty="0">
                <a:ea typeface="楷体"/>
                <a:cs typeface="楷体"/>
              </a:rPr>
              <a:t>），</a:t>
            </a:r>
            <a:r>
              <a:rPr lang="en-US" altLang="zh-CN" sz="2000" dirty="0">
                <a:ea typeface="楷体"/>
                <a:cs typeface="楷体"/>
              </a:rPr>
              <a:t>1972</a:t>
            </a:r>
            <a:r>
              <a:rPr lang="zh-CN" altLang="en-US" sz="2000" dirty="0">
                <a:ea typeface="楷体"/>
                <a:cs typeface="楷体"/>
              </a:rPr>
              <a:t>年第一次关于软件测试的正式会议，促进了软件测试的发展  </a:t>
            </a:r>
          </a:p>
          <a:p>
            <a:pPr marL="406400" indent="-406400" eaLnBrk="0" hangingPunct="0">
              <a:lnSpc>
                <a:spcPct val="130000"/>
              </a:lnSpc>
              <a:buClr>
                <a:schemeClr val="accent1">
                  <a:lumMod val="50000"/>
                </a:schemeClr>
              </a:buClr>
              <a:buSzPct val="90000"/>
              <a:buFont typeface="Wingdings" charset="2"/>
              <a:buChar char="p"/>
              <a:defRPr/>
            </a:pPr>
            <a:r>
              <a:rPr lang="zh-CN" altLang="en-US" sz="2000" dirty="0">
                <a:ea typeface="楷体"/>
                <a:cs typeface="楷体"/>
              </a:rPr>
              <a:t>成熟阶段（</a:t>
            </a:r>
            <a:r>
              <a:rPr lang="en-US" altLang="zh-CN" sz="2000" dirty="0">
                <a:ea typeface="楷体"/>
                <a:cs typeface="楷体"/>
              </a:rPr>
              <a:t>1983</a:t>
            </a:r>
            <a:r>
              <a:rPr lang="zh-CN" altLang="en-US" sz="2000" dirty="0">
                <a:ea typeface="楷体"/>
                <a:cs typeface="楷体"/>
              </a:rPr>
              <a:t>到现在），国际标准</a:t>
            </a:r>
            <a:r>
              <a:rPr lang="en-US" altLang="zh-CN" sz="2000" dirty="0">
                <a:ea typeface="楷体"/>
                <a:cs typeface="楷体"/>
              </a:rPr>
              <a:t>Std 829-1983 </a:t>
            </a:r>
            <a:r>
              <a:rPr lang="zh-CN" altLang="en-US" sz="2000" dirty="0">
                <a:ea typeface="楷体"/>
                <a:cs typeface="楷体"/>
              </a:rPr>
              <a:t>，形成一门独立的学科和专业，成为软件工程学科中的一个重要组成部分 </a:t>
            </a:r>
          </a:p>
        </p:txBody>
      </p:sp>
    </p:spTree>
    <p:extLst>
      <p:ext uri="{BB962C8B-B14F-4D97-AF65-F5344CB8AC3E}">
        <p14:creationId xmlns:p14="http://schemas.microsoft.com/office/powerpoint/2010/main" val="2123214464"/>
      </p:ext>
    </p:extLst>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853542" y="1978373"/>
            <a:ext cx="7436916"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1.3.2 </a:t>
            </a:r>
            <a:r>
              <a:rPr lang="zh-CN" altLang="en-US" sz="4500" b="1" dirty="0">
                <a:ln w="19050">
                  <a:noFill/>
                </a:ln>
                <a:solidFill>
                  <a:srgbClr val="FFFFFF"/>
                </a:solidFill>
                <a:latin typeface="微软雅黑" panose="020B0503020204020204" charset="-122"/>
                <a:ea typeface="微软雅黑" panose="020B0503020204020204" charset="-122"/>
              </a:rPr>
              <a:t>正反两方面的争辩</a:t>
            </a:r>
            <a:endParaRPr lang="en-US" altLang="zh-CN" sz="4500" b="1" dirty="0">
              <a:ln w="19050">
                <a:noFill/>
              </a:ln>
              <a:solidFill>
                <a:srgbClr val="FFFFFF"/>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2033437830"/>
      </p:ext>
    </p:extLst>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36875" y="255781"/>
            <a:ext cx="4698206" cy="667941"/>
          </a:xfrm>
        </p:spPr>
        <p:txBody>
          <a:bodyPr/>
          <a:lstStyle/>
          <a:p>
            <a:r>
              <a:rPr kumimoji="1" lang="zh-CN" altLang="en-US" dirty="0">
                <a:latin typeface="微软雅黑" panose="020B0503020204020204" pitchFamily="34" charset="-122"/>
                <a:ea typeface="微软雅黑" panose="020B0503020204020204" pitchFamily="34" charset="-122"/>
              </a:rPr>
              <a:t>软件测试的正向思维</a:t>
            </a:r>
          </a:p>
        </p:txBody>
      </p:sp>
      <p:sp>
        <p:nvSpPr>
          <p:cNvPr id="28675" name="Rectangle 3"/>
          <p:cNvSpPr>
            <a:spLocks noChangeArrowheads="1"/>
          </p:cNvSpPr>
          <p:nvPr/>
        </p:nvSpPr>
        <p:spPr bwMode="auto">
          <a:xfrm>
            <a:off x="636875" y="1236392"/>
            <a:ext cx="4698206" cy="3137154"/>
          </a:xfrm>
          <a:prstGeom prst="rect">
            <a:avLst/>
          </a:prstGeom>
          <a:noFill/>
          <a:ln w="9525" algn="ctr">
            <a:noFill/>
            <a:miter lim="800000"/>
            <a:headEnd/>
            <a:tailEnd/>
          </a:ln>
        </p:spPr>
        <p:txBody>
          <a:bodyPr wrap="square" anchor="ctr">
            <a:spAutoFit/>
          </a:bodyPr>
          <a:lstStyle/>
          <a:p>
            <a:pPr marL="205979" indent="-205979">
              <a:lnSpc>
                <a:spcPct val="130000"/>
              </a:lnSpc>
              <a:buClr>
                <a:schemeClr val="accent1"/>
              </a:buClr>
              <a:buSzPct val="75000"/>
              <a:tabLst>
                <a:tab pos="428625" algn="l"/>
              </a:tabLst>
            </a:pPr>
            <a:r>
              <a:rPr lang="en-US" altLang="zh-CN" b="1" dirty="0"/>
              <a:t>Bill Hetzel</a:t>
            </a:r>
            <a:r>
              <a:rPr lang="zh-CN" altLang="en-US" b="1" dirty="0"/>
              <a:t>博士（正向思维的代表）：</a:t>
            </a:r>
          </a:p>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defRPr/>
            </a:pPr>
            <a:r>
              <a:rPr lang="zh-CN" altLang="en-US" dirty="0">
                <a:ea typeface="楷体"/>
                <a:cs typeface="楷体"/>
              </a:rPr>
              <a:t>软件测试就是为程序或系统能够按预期设想运行而建立信心的过程。</a:t>
            </a:r>
          </a:p>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defRPr/>
            </a:pPr>
            <a:r>
              <a:rPr lang="zh-CN" altLang="en-US" dirty="0">
                <a:ea typeface="楷体"/>
                <a:cs typeface="楷体"/>
              </a:rPr>
              <a:t>“软件测试是一系列活动以评价一个程序或系统的特性或能力并确定是否达到预期的结果”</a:t>
            </a:r>
          </a:p>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defRPr/>
            </a:pPr>
            <a:r>
              <a:rPr lang="zh-CN" altLang="en-US" dirty="0">
                <a:ea typeface="楷体"/>
                <a:cs typeface="楷体"/>
              </a:rPr>
              <a:t> 测试是为了验证软件是否符合用户需求，即验证软件产品是否能正常工作</a:t>
            </a:r>
            <a:endParaRPr lang="en-US" altLang="zh-CN" dirty="0">
              <a:ea typeface="楷体"/>
              <a:cs typeface="楷体"/>
            </a:endParaRPr>
          </a:p>
        </p:txBody>
      </p:sp>
      <p:pic>
        <p:nvPicPr>
          <p:cNvPr id="28676" name="Picture 2" descr="http://t0.gstatic.cn/images?q=tbn:jac8d-se5Sy-8M"/>
          <p:cNvPicPr>
            <a:picLocks noChangeAspect="1" noChangeArrowheads="1"/>
          </p:cNvPicPr>
          <p:nvPr/>
        </p:nvPicPr>
        <p:blipFill>
          <a:blip r:embed="rId3" r:link="rId4" cstate="print"/>
          <a:srcRect/>
          <a:stretch>
            <a:fillRect/>
          </a:stretch>
        </p:blipFill>
        <p:spPr bwMode="auto">
          <a:xfrm>
            <a:off x="5541917" y="1748884"/>
            <a:ext cx="2193407" cy="2112170"/>
          </a:xfrm>
          <a:prstGeom prst="rect">
            <a:avLst/>
          </a:prstGeom>
          <a:noFill/>
          <a:ln w="9525">
            <a:noFill/>
            <a:miter lim="800000"/>
            <a:headEnd/>
            <a:tailEnd/>
          </a:ln>
        </p:spPr>
      </p:pic>
      <p:pic>
        <p:nvPicPr>
          <p:cNvPr id="28677" name="Picture 3" descr="http://www.stickyminds.com/images_upload/bk183_5372.gif"/>
          <p:cNvPicPr>
            <a:picLocks noChangeAspect="1" noChangeArrowheads="1"/>
          </p:cNvPicPr>
          <p:nvPr/>
        </p:nvPicPr>
        <p:blipFill>
          <a:blip r:embed="rId5" r:link="rId6" cstate="print"/>
          <a:srcRect/>
          <a:stretch>
            <a:fillRect/>
          </a:stretch>
        </p:blipFill>
        <p:spPr bwMode="auto">
          <a:xfrm>
            <a:off x="7735324" y="1748884"/>
            <a:ext cx="1408676" cy="2112170"/>
          </a:xfrm>
          <a:prstGeom prst="rect">
            <a:avLst/>
          </a:prstGeom>
          <a:noFill/>
          <a:ln w="9525">
            <a:noFill/>
            <a:miter lim="800000"/>
            <a:headEnd/>
            <a:tailEnd/>
          </a:ln>
        </p:spPr>
      </p:pic>
    </p:spTree>
    <p:extLst>
      <p:ext uri="{BB962C8B-B14F-4D97-AF65-F5344CB8AC3E}">
        <p14:creationId xmlns:p14="http://schemas.microsoft.com/office/powerpoint/2010/main" val="2380233257"/>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61575" y="238295"/>
            <a:ext cx="4698206" cy="667941"/>
          </a:xfrm>
        </p:spPr>
        <p:txBody>
          <a:bodyPr/>
          <a:lstStyle/>
          <a:p>
            <a:r>
              <a:rPr kumimoji="1" lang="zh-CN" altLang="en-US" dirty="0">
                <a:latin typeface="微软雅黑" panose="020B0503020204020204" pitchFamily="34" charset="-122"/>
                <a:ea typeface="微软雅黑" panose="020B0503020204020204" pitchFamily="34" charset="-122"/>
              </a:rPr>
              <a:t>软件测试的反向思维 </a:t>
            </a:r>
          </a:p>
        </p:txBody>
      </p:sp>
      <p:sp>
        <p:nvSpPr>
          <p:cNvPr id="29699" name="Rectangle 3"/>
          <p:cNvSpPr>
            <a:spLocks noChangeArrowheads="1"/>
          </p:cNvSpPr>
          <p:nvPr/>
        </p:nvSpPr>
        <p:spPr bwMode="auto">
          <a:xfrm>
            <a:off x="576444" y="1176811"/>
            <a:ext cx="4698206" cy="3060453"/>
          </a:xfrm>
          <a:prstGeom prst="rect">
            <a:avLst/>
          </a:prstGeom>
          <a:noFill/>
          <a:ln w="9525" algn="ctr">
            <a:noFill/>
            <a:miter lim="800000"/>
            <a:headEnd/>
            <a:tailEnd/>
          </a:ln>
        </p:spPr>
        <p:txBody>
          <a:bodyPr wrap="square" anchor="ctr">
            <a:spAutoFit/>
          </a:bodyPr>
          <a:lstStyle/>
          <a:p>
            <a:pPr marL="205979" indent="-205979">
              <a:lnSpc>
                <a:spcPct val="130000"/>
              </a:lnSpc>
              <a:buClr>
                <a:schemeClr val="accent1"/>
              </a:buClr>
              <a:buSzPct val="75000"/>
              <a:tabLst>
                <a:tab pos="205979" algn="l"/>
              </a:tabLst>
            </a:pPr>
            <a:r>
              <a:rPr lang="en-US" altLang="zh-CN" b="1" dirty="0" err="1"/>
              <a:t>Glenford</a:t>
            </a:r>
            <a:r>
              <a:rPr lang="en-US" altLang="zh-CN" b="1" dirty="0"/>
              <a:t> J. Myers</a:t>
            </a:r>
            <a:r>
              <a:rPr lang="en-US" altLang="zh-CN" dirty="0"/>
              <a:t> </a:t>
            </a:r>
            <a:r>
              <a:rPr lang="zh-CN" altLang="en-US" b="1" dirty="0"/>
              <a:t>（反向思维的代表）</a:t>
            </a:r>
          </a:p>
          <a:p>
            <a:pPr marL="257175" indent="-257175" eaLnBrk="0" hangingPunct="0">
              <a:lnSpc>
                <a:spcPct val="130000"/>
              </a:lnSpc>
              <a:spcBef>
                <a:spcPct val="20000"/>
              </a:spcBef>
              <a:buClr>
                <a:schemeClr val="accent1">
                  <a:lumMod val="50000"/>
                </a:schemeClr>
              </a:buClr>
              <a:buSzPct val="90000"/>
              <a:buFont typeface="Wingdings" charset="2"/>
              <a:buChar char="p"/>
              <a:tabLst>
                <a:tab pos="205979" algn="l"/>
              </a:tabLst>
              <a:defRPr/>
            </a:pPr>
            <a:r>
              <a:rPr lang="zh-CN" altLang="en-US" sz="2000" dirty="0">
                <a:ea typeface="楷体"/>
              </a:rPr>
              <a:t>  测试是为了证明程序有错，而不是证明程序无错误</a:t>
            </a:r>
          </a:p>
          <a:p>
            <a:pPr marL="257175" indent="-257175" eaLnBrk="0" hangingPunct="0">
              <a:lnSpc>
                <a:spcPct val="130000"/>
              </a:lnSpc>
              <a:spcBef>
                <a:spcPct val="20000"/>
              </a:spcBef>
              <a:buClr>
                <a:schemeClr val="accent1">
                  <a:lumMod val="50000"/>
                </a:schemeClr>
              </a:buClr>
              <a:buSzPct val="90000"/>
              <a:buFont typeface="Wingdings" charset="2"/>
              <a:buChar char="p"/>
              <a:tabLst>
                <a:tab pos="205979" algn="l"/>
              </a:tabLst>
              <a:defRPr/>
            </a:pPr>
            <a:r>
              <a:rPr lang="zh-CN" altLang="en-US" sz="2000" dirty="0">
                <a:ea typeface="楷体"/>
                <a:cs typeface="楷体"/>
              </a:rPr>
              <a:t>  一个好的测试用例是在于它能发现至今未发现的错误 </a:t>
            </a:r>
          </a:p>
          <a:p>
            <a:pPr marL="257175" indent="-257175" eaLnBrk="0" hangingPunct="0">
              <a:lnSpc>
                <a:spcPct val="130000"/>
              </a:lnSpc>
              <a:spcBef>
                <a:spcPct val="20000"/>
              </a:spcBef>
              <a:buClr>
                <a:schemeClr val="accent1">
                  <a:lumMod val="50000"/>
                </a:schemeClr>
              </a:buClr>
              <a:buSzPct val="90000"/>
              <a:buFont typeface="Wingdings" charset="2"/>
              <a:buChar char="p"/>
              <a:tabLst>
                <a:tab pos="205979" algn="l"/>
              </a:tabLst>
              <a:defRPr/>
            </a:pPr>
            <a:r>
              <a:rPr lang="zh-CN" altLang="en-US" sz="2000" dirty="0">
                <a:ea typeface="楷体"/>
                <a:cs typeface="楷体"/>
              </a:rPr>
              <a:t>  一个成功的测试是发现了至今未发现的错误的测试 </a:t>
            </a:r>
            <a:endParaRPr lang="en-US" altLang="zh-CN" sz="2000" dirty="0">
              <a:ea typeface="楷体"/>
              <a:cs typeface="楷体"/>
            </a:endParaRPr>
          </a:p>
        </p:txBody>
      </p:sp>
      <p:pic>
        <p:nvPicPr>
          <p:cNvPr id="29700" name="Picture 2" descr="http://t.douban.com/lpic/s1640918.jpg"/>
          <p:cNvPicPr>
            <a:picLocks noChangeAspect="1" noChangeArrowheads="1"/>
          </p:cNvPicPr>
          <p:nvPr/>
        </p:nvPicPr>
        <p:blipFill>
          <a:blip r:embed="rId3" r:link="rId4" cstate="print"/>
          <a:srcRect/>
          <a:stretch>
            <a:fillRect/>
          </a:stretch>
        </p:blipFill>
        <p:spPr bwMode="auto">
          <a:xfrm>
            <a:off x="7488157" y="1381148"/>
            <a:ext cx="1655843" cy="2651778"/>
          </a:xfrm>
          <a:prstGeom prst="rect">
            <a:avLst/>
          </a:prstGeom>
          <a:noFill/>
          <a:ln w="9525">
            <a:noFill/>
            <a:miter lim="800000"/>
            <a:headEnd/>
            <a:tailEnd/>
          </a:ln>
        </p:spPr>
      </p:pic>
      <p:pic>
        <p:nvPicPr>
          <p:cNvPr id="29701" name="Picture 3" descr="http://www.dorothygraham.co.uk/books/images/topTen12.gif"/>
          <p:cNvPicPr>
            <a:picLocks noChangeAspect="1" noChangeArrowheads="1"/>
          </p:cNvPicPr>
          <p:nvPr/>
        </p:nvPicPr>
        <p:blipFill>
          <a:blip r:embed="rId5" r:link="rId6" cstate="print"/>
          <a:srcRect/>
          <a:stretch>
            <a:fillRect/>
          </a:stretch>
        </p:blipFill>
        <p:spPr bwMode="auto">
          <a:xfrm>
            <a:off x="5743246" y="1381148"/>
            <a:ext cx="1744911" cy="2651778"/>
          </a:xfrm>
          <a:prstGeom prst="rect">
            <a:avLst/>
          </a:prstGeom>
          <a:noFill/>
          <a:ln w="9525">
            <a:noFill/>
            <a:miter lim="800000"/>
            <a:headEnd/>
            <a:tailEnd/>
          </a:ln>
        </p:spPr>
      </p:pic>
    </p:spTree>
    <p:extLst>
      <p:ext uri="{BB962C8B-B14F-4D97-AF65-F5344CB8AC3E}">
        <p14:creationId xmlns:p14="http://schemas.microsoft.com/office/powerpoint/2010/main" val="1203909276"/>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570834" y="197863"/>
            <a:ext cx="4698206" cy="667941"/>
          </a:xfrm>
        </p:spPr>
        <p:txBody>
          <a:bodyPr/>
          <a:lstStyle/>
          <a:p>
            <a:r>
              <a:rPr kumimoji="1" lang="zh-CN" altLang="en-US" dirty="0">
                <a:latin typeface="微软雅黑" panose="020B0503020204020204" pitchFamily="34" charset="-122"/>
                <a:ea typeface="微软雅黑" panose="020B0503020204020204" pitchFamily="34" charset="-122"/>
              </a:rPr>
              <a:t>认知决定着行为</a:t>
            </a:r>
          </a:p>
        </p:txBody>
      </p:sp>
      <p:sp>
        <p:nvSpPr>
          <p:cNvPr id="30727" name="Rectangle 6"/>
          <p:cNvSpPr>
            <a:spLocks noChangeArrowheads="1"/>
          </p:cNvSpPr>
          <p:nvPr/>
        </p:nvSpPr>
        <p:spPr bwMode="auto">
          <a:xfrm>
            <a:off x="3508704" y="1357550"/>
            <a:ext cx="1977826" cy="1248699"/>
          </a:xfrm>
          <a:prstGeom prst="rect">
            <a:avLst/>
          </a:prstGeom>
          <a:solidFill>
            <a:srgbClr val="FFFFFF"/>
          </a:solidFill>
          <a:ln w="9525">
            <a:solidFill>
              <a:srgbClr val="000000"/>
            </a:solidFill>
            <a:prstDash val="dash"/>
            <a:miter lim="800000"/>
            <a:headEnd/>
            <a:tailEnd/>
          </a:ln>
        </p:spPr>
        <p:txBody>
          <a:bodyPr/>
          <a:lstStyle/>
          <a:p>
            <a:pPr algn="just"/>
            <a:r>
              <a:rPr lang="zh-CN" altLang="en-US" dirty="0">
                <a:latin typeface="SimSun" panose="02010600030101010101" pitchFamily="2" charset="-122"/>
                <a:ea typeface="SimSun" panose="02010600030101010101" pitchFamily="2" charset="-122"/>
              </a:rPr>
              <a:t>评价一个程序或系统的特性或能力并确定是否达到预期的结果</a:t>
            </a:r>
          </a:p>
        </p:txBody>
      </p:sp>
      <p:sp>
        <p:nvSpPr>
          <p:cNvPr id="30728" name="Rectangle 7"/>
          <p:cNvSpPr>
            <a:spLocks noChangeArrowheads="1"/>
          </p:cNvSpPr>
          <p:nvPr/>
        </p:nvSpPr>
        <p:spPr bwMode="auto">
          <a:xfrm>
            <a:off x="3480874" y="2917216"/>
            <a:ext cx="2197157" cy="976033"/>
          </a:xfrm>
          <a:prstGeom prst="rect">
            <a:avLst/>
          </a:prstGeom>
          <a:solidFill>
            <a:srgbClr val="FFFFFF"/>
          </a:solidFill>
          <a:ln w="9525">
            <a:solidFill>
              <a:srgbClr val="000000"/>
            </a:solidFill>
            <a:prstDash val="dash"/>
            <a:miter lim="800000"/>
            <a:headEnd/>
            <a:tailEnd/>
          </a:ln>
        </p:spPr>
        <p:txBody>
          <a:bodyPr/>
          <a:lstStyle/>
          <a:p>
            <a:pPr algn="just"/>
            <a:r>
              <a:rPr lang="zh-CN" altLang="en-US" dirty="0">
                <a:solidFill>
                  <a:srgbClr val="000000"/>
                </a:solidFill>
                <a:latin typeface="SimSun" panose="02010600030101010101" pitchFamily="2" charset="-122"/>
                <a:ea typeface="SimSun" panose="02010600030101010101" pitchFamily="2" charset="-122"/>
              </a:rPr>
              <a:t>测试是为发现错误而针对某个程序或系统的执行过程</a:t>
            </a:r>
            <a:endParaRPr lang="zh-CN" altLang="en-US" dirty="0">
              <a:latin typeface="SimSun" panose="02010600030101010101" pitchFamily="2" charset="-122"/>
              <a:ea typeface="SimSun" panose="02010600030101010101" pitchFamily="2" charset="-122"/>
            </a:endParaRPr>
          </a:p>
        </p:txBody>
      </p:sp>
      <p:sp>
        <p:nvSpPr>
          <p:cNvPr id="30729" name="Text Box 8"/>
          <p:cNvSpPr txBox="1">
            <a:spLocks noChangeArrowheads="1"/>
          </p:cNvSpPr>
          <p:nvPr/>
        </p:nvSpPr>
        <p:spPr bwMode="auto">
          <a:xfrm>
            <a:off x="246984" y="1964174"/>
            <a:ext cx="539511" cy="1604532"/>
          </a:xfrm>
          <a:prstGeom prst="rect">
            <a:avLst/>
          </a:prstGeom>
          <a:noFill/>
          <a:ln w="9525">
            <a:noFill/>
            <a:miter lim="800000"/>
            <a:headEnd/>
            <a:tailEnd/>
          </a:ln>
        </p:spPr>
        <p:txBody>
          <a:bodyPr/>
          <a:lstStyle/>
          <a:p>
            <a:pPr algn="just"/>
            <a:r>
              <a:rPr lang="zh-CN" altLang="en-US" sz="2000" b="1" dirty="0">
                <a:latin typeface="Microsoft YaHei" panose="020B0503020204020204" pitchFamily="34" charset="-122"/>
                <a:ea typeface="Microsoft YaHei" panose="020B0503020204020204" pitchFamily="34" charset="-122"/>
              </a:rPr>
              <a:t>软件测试</a:t>
            </a:r>
          </a:p>
        </p:txBody>
      </p:sp>
      <p:sp>
        <p:nvSpPr>
          <p:cNvPr id="30730" name="Rectangle 9"/>
          <p:cNvSpPr>
            <a:spLocks noChangeArrowheads="1"/>
          </p:cNvSpPr>
          <p:nvPr/>
        </p:nvSpPr>
        <p:spPr bwMode="auto">
          <a:xfrm>
            <a:off x="1033824" y="1609183"/>
            <a:ext cx="1865409" cy="745434"/>
          </a:xfrm>
          <a:prstGeom prst="rect">
            <a:avLst/>
          </a:prstGeom>
          <a:solidFill>
            <a:srgbClr val="FFFFFF"/>
          </a:solidFill>
          <a:ln w="9525">
            <a:solidFill>
              <a:srgbClr val="000000"/>
            </a:solidFill>
            <a:prstDash val="dash"/>
            <a:miter lim="800000"/>
            <a:headEnd/>
            <a:tailEnd/>
          </a:ln>
        </p:spPr>
        <p:txBody>
          <a:bodyPr lIns="11430" rIns="11430"/>
          <a:lstStyle/>
          <a:p>
            <a:pPr algn="ctr"/>
            <a:r>
              <a:rPr lang="zh-CN" altLang="en-US" b="1" dirty="0">
                <a:solidFill>
                  <a:srgbClr val="0000FF"/>
                </a:solidFill>
                <a:latin typeface="SimSun" panose="02010600030101010101" pitchFamily="2" charset="-122"/>
                <a:ea typeface="SimSun" panose="02010600030101010101" pitchFamily="2" charset="-122"/>
              </a:rPr>
              <a:t>正向思维</a:t>
            </a:r>
            <a:r>
              <a:rPr lang="zh-CN" altLang="en-US" dirty="0">
                <a:solidFill>
                  <a:srgbClr val="0000FF"/>
                </a:solidFill>
                <a:latin typeface="SimSun" panose="02010600030101010101" pitchFamily="2" charset="-122"/>
                <a:ea typeface="SimSun" panose="02010600030101010101" pitchFamily="2" charset="-122"/>
              </a:rPr>
              <a:t>－</a:t>
            </a:r>
          </a:p>
          <a:p>
            <a:pPr algn="ctr"/>
            <a:r>
              <a:rPr lang="zh-CN" altLang="en-US" dirty="0">
                <a:solidFill>
                  <a:srgbClr val="008000"/>
                </a:solidFill>
                <a:latin typeface="SimSun" panose="02010600030101010101" pitchFamily="2" charset="-122"/>
                <a:ea typeface="SimSun" panose="02010600030101010101" pitchFamily="2" charset="-122"/>
              </a:rPr>
              <a:t>验证软件正常工作</a:t>
            </a:r>
          </a:p>
        </p:txBody>
      </p:sp>
      <p:sp>
        <p:nvSpPr>
          <p:cNvPr id="30731" name="Rectangle 10"/>
          <p:cNvSpPr>
            <a:spLocks noChangeArrowheads="1"/>
          </p:cNvSpPr>
          <p:nvPr/>
        </p:nvSpPr>
        <p:spPr bwMode="auto">
          <a:xfrm>
            <a:off x="1020666" y="3032516"/>
            <a:ext cx="1797605" cy="745434"/>
          </a:xfrm>
          <a:prstGeom prst="rect">
            <a:avLst/>
          </a:prstGeom>
          <a:solidFill>
            <a:srgbClr val="FFFFFF"/>
          </a:solidFill>
          <a:ln w="9525">
            <a:solidFill>
              <a:srgbClr val="000000"/>
            </a:solidFill>
            <a:prstDash val="dash"/>
            <a:miter lim="800000"/>
            <a:headEnd/>
            <a:tailEnd/>
          </a:ln>
        </p:spPr>
        <p:txBody>
          <a:bodyPr lIns="11430" rIns="11430"/>
          <a:lstStyle/>
          <a:p>
            <a:pPr algn="ctr"/>
            <a:r>
              <a:rPr lang="zh-CN" altLang="en-US" b="1" dirty="0">
                <a:solidFill>
                  <a:srgbClr val="0000FF"/>
                </a:solidFill>
                <a:latin typeface="SimSun" panose="02010600030101010101" pitchFamily="2" charset="-122"/>
                <a:ea typeface="SimSun" panose="02010600030101010101" pitchFamily="2" charset="-122"/>
              </a:rPr>
              <a:t>逆向思维</a:t>
            </a:r>
            <a:r>
              <a:rPr lang="zh-CN" altLang="en-US" dirty="0">
                <a:solidFill>
                  <a:srgbClr val="0000FF"/>
                </a:solidFill>
                <a:latin typeface="SimSun" panose="02010600030101010101" pitchFamily="2" charset="-122"/>
                <a:ea typeface="SimSun" panose="02010600030101010101" pitchFamily="2" charset="-122"/>
              </a:rPr>
              <a:t>－</a:t>
            </a:r>
          </a:p>
          <a:p>
            <a:pPr algn="ctr"/>
            <a:r>
              <a:rPr lang="zh-CN" altLang="en-US" b="1" dirty="0">
                <a:solidFill>
                  <a:srgbClr val="FF6600"/>
                </a:solidFill>
                <a:latin typeface="SimSun" panose="02010600030101010101" pitchFamily="2" charset="-122"/>
                <a:ea typeface="SimSun" panose="02010600030101010101" pitchFamily="2" charset="-122"/>
              </a:rPr>
              <a:t>假定软件有错误</a:t>
            </a:r>
          </a:p>
        </p:txBody>
      </p:sp>
      <p:sp>
        <p:nvSpPr>
          <p:cNvPr id="30732" name="AutoShape 11"/>
          <p:cNvSpPr>
            <a:spLocks/>
          </p:cNvSpPr>
          <p:nvPr/>
        </p:nvSpPr>
        <p:spPr bwMode="auto">
          <a:xfrm>
            <a:off x="638417" y="1982557"/>
            <a:ext cx="344369" cy="1424646"/>
          </a:xfrm>
          <a:prstGeom prst="leftBrace">
            <a:avLst>
              <a:gd name="adj1" fmla="val 30139"/>
              <a:gd name="adj2" fmla="val 50000"/>
            </a:avLst>
          </a:prstGeom>
          <a:noFill/>
          <a:ln w="9525">
            <a:solidFill>
              <a:srgbClr val="000000"/>
            </a:solidFill>
            <a:round/>
            <a:headEnd/>
            <a:tailEnd/>
          </a:ln>
        </p:spPr>
        <p:txBody>
          <a:bodyPr/>
          <a:lstStyle/>
          <a:p>
            <a:endParaRPr lang="zh-CN" altLang="en-US" sz="1350"/>
          </a:p>
        </p:txBody>
      </p:sp>
      <p:cxnSp>
        <p:nvCxnSpPr>
          <p:cNvPr id="30733" name="AutoShape 12"/>
          <p:cNvCxnSpPr>
            <a:cxnSpLocks noChangeShapeType="1"/>
            <a:stCxn id="30730" idx="3"/>
            <a:endCxn id="30727" idx="1"/>
          </p:cNvCxnSpPr>
          <p:nvPr/>
        </p:nvCxnSpPr>
        <p:spPr bwMode="auto">
          <a:xfrm>
            <a:off x="2899233" y="1981900"/>
            <a:ext cx="609471" cy="0"/>
          </a:xfrm>
          <a:prstGeom prst="straightConnector1">
            <a:avLst/>
          </a:prstGeom>
          <a:noFill/>
          <a:ln w="9525">
            <a:solidFill>
              <a:srgbClr val="000000"/>
            </a:solidFill>
            <a:prstDash val="dash"/>
            <a:round/>
            <a:headEnd/>
            <a:tailEnd type="triangle" w="med" len="med"/>
          </a:ln>
        </p:spPr>
      </p:cxnSp>
      <p:cxnSp>
        <p:nvCxnSpPr>
          <p:cNvPr id="30734" name="AutoShape 13"/>
          <p:cNvCxnSpPr>
            <a:cxnSpLocks noChangeShapeType="1"/>
            <a:stCxn id="30731" idx="3"/>
            <a:endCxn id="30728" idx="1"/>
          </p:cNvCxnSpPr>
          <p:nvPr/>
        </p:nvCxnSpPr>
        <p:spPr bwMode="auto">
          <a:xfrm>
            <a:off x="2818271" y="3405233"/>
            <a:ext cx="662603" cy="0"/>
          </a:xfrm>
          <a:prstGeom prst="straightConnector1">
            <a:avLst/>
          </a:prstGeom>
          <a:noFill/>
          <a:ln w="9525">
            <a:solidFill>
              <a:srgbClr val="000000"/>
            </a:solidFill>
            <a:prstDash val="dash"/>
            <a:round/>
            <a:headEnd/>
            <a:tailEnd type="triangle" w="med" len="med"/>
          </a:ln>
        </p:spPr>
      </p:cxnSp>
      <p:sp>
        <p:nvSpPr>
          <p:cNvPr id="30735" name="Rectangle 14"/>
          <p:cNvSpPr>
            <a:spLocks noChangeArrowheads="1"/>
          </p:cNvSpPr>
          <p:nvPr/>
        </p:nvSpPr>
        <p:spPr bwMode="auto">
          <a:xfrm>
            <a:off x="6109160" y="1467865"/>
            <a:ext cx="2338265" cy="1010343"/>
          </a:xfrm>
          <a:prstGeom prst="rect">
            <a:avLst/>
          </a:prstGeom>
          <a:solidFill>
            <a:srgbClr val="FFFFFF"/>
          </a:solidFill>
          <a:ln w="9525">
            <a:solidFill>
              <a:srgbClr val="000000"/>
            </a:solidFill>
            <a:prstDash val="dash"/>
            <a:miter lim="800000"/>
            <a:headEnd/>
            <a:tailEnd/>
          </a:ln>
        </p:spPr>
        <p:txBody>
          <a:bodyPr/>
          <a:lstStyle/>
          <a:p>
            <a:pPr algn="just"/>
            <a:r>
              <a:rPr lang="zh-CN" altLang="en-US" dirty="0">
                <a:solidFill>
                  <a:srgbClr val="000000"/>
                </a:solidFill>
                <a:latin typeface="SimSun" panose="02010600030101010101" pitchFamily="2" charset="-122"/>
                <a:ea typeface="SimSun" panose="02010600030101010101" pitchFamily="2" charset="-122"/>
              </a:rPr>
              <a:t>在设计规定的环境下运行软件的所有功能，直至全部通过</a:t>
            </a:r>
            <a:endParaRPr lang="zh-CN" altLang="en-US" dirty="0">
              <a:latin typeface="SimSun" panose="02010600030101010101" pitchFamily="2" charset="-122"/>
              <a:ea typeface="SimSun" panose="02010600030101010101" pitchFamily="2" charset="-122"/>
            </a:endParaRPr>
          </a:p>
        </p:txBody>
      </p:sp>
      <p:cxnSp>
        <p:nvCxnSpPr>
          <p:cNvPr id="30736" name="AutoShape 15"/>
          <p:cNvCxnSpPr>
            <a:cxnSpLocks noChangeShapeType="1"/>
            <a:stCxn id="30727" idx="3"/>
            <a:endCxn id="30735" idx="1"/>
          </p:cNvCxnSpPr>
          <p:nvPr/>
        </p:nvCxnSpPr>
        <p:spPr bwMode="auto">
          <a:xfrm flipV="1">
            <a:off x="5486530" y="1973037"/>
            <a:ext cx="622630" cy="8863"/>
          </a:xfrm>
          <a:prstGeom prst="straightConnector1">
            <a:avLst/>
          </a:prstGeom>
          <a:noFill/>
          <a:ln w="9525">
            <a:solidFill>
              <a:srgbClr val="000000"/>
            </a:solidFill>
            <a:prstDash val="dash"/>
            <a:round/>
            <a:headEnd/>
            <a:tailEnd type="triangle" w="med" len="med"/>
          </a:ln>
        </p:spPr>
      </p:cxnSp>
      <p:cxnSp>
        <p:nvCxnSpPr>
          <p:cNvPr id="30737" name="AutoShape 16"/>
          <p:cNvCxnSpPr>
            <a:cxnSpLocks noChangeShapeType="1"/>
            <a:stCxn id="30728" idx="3"/>
            <a:endCxn id="30724" idx="1"/>
          </p:cNvCxnSpPr>
          <p:nvPr/>
        </p:nvCxnSpPr>
        <p:spPr bwMode="auto">
          <a:xfrm flipV="1">
            <a:off x="5678031" y="3403270"/>
            <a:ext cx="431129" cy="1963"/>
          </a:xfrm>
          <a:prstGeom prst="straightConnector1">
            <a:avLst/>
          </a:prstGeom>
          <a:noFill/>
          <a:ln w="9525">
            <a:solidFill>
              <a:srgbClr val="000000"/>
            </a:solidFill>
            <a:prstDash val="dash"/>
            <a:round/>
            <a:headEnd/>
            <a:tailEnd type="triangle" w="med" len="med"/>
          </a:ln>
        </p:spPr>
      </p:cxnSp>
      <p:sp>
        <p:nvSpPr>
          <p:cNvPr id="30724" name="Rectangle 17"/>
          <p:cNvSpPr>
            <a:spLocks noChangeArrowheads="1"/>
          </p:cNvSpPr>
          <p:nvPr/>
        </p:nvSpPr>
        <p:spPr bwMode="auto">
          <a:xfrm>
            <a:off x="6109160" y="2917216"/>
            <a:ext cx="2787856" cy="972107"/>
          </a:xfrm>
          <a:prstGeom prst="rect">
            <a:avLst/>
          </a:prstGeom>
          <a:solidFill>
            <a:srgbClr val="FFFFFF"/>
          </a:solidFill>
          <a:ln w="9525">
            <a:solidFill>
              <a:srgbClr val="000000"/>
            </a:solidFill>
            <a:prstDash val="dash"/>
            <a:miter lim="800000"/>
            <a:headEnd/>
            <a:tailEnd/>
          </a:ln>
        </p:spPr>
        <p:txBody>
          <a:bodyPr/>
          <a:lstStyle/>
          <a:p>
            <a:pPr algn="just"/>
            <a:r>
              <a:rPr lang="zh-CN" altLang="en-US" dirty="0">
                <a:solidFill>
                  <a:srgbClr val="000000"/>
                </a:solidFill>
                <a:latin typeface="SimSun" panose="02010600030101010101" pitchFamily="2" charset="-122"/>
                <a:ea typeface="SimSun" panose="02010600030101010101" pitchFamily="2" charset="-122"/>
              </a:rPr>
              <a:t>寻找容易犯错误的地方和系统的薄弱环节，试图破坏系统，直至找不出问题</a:t>
            </a:r>
            <a:endParaRPr lang="zh-CN" altLang="en-US"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278873169"/>
      </p:ext>
    </p:extLst>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853542" y="1978373"/>
            <a:ext cx="7436916"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1.3.3 </a:t>
            </a:r>
            <a:r>
              <a:rPr lang="zh-CN" altLang="en-US" sz="4500" b="1" dirty="0">
                <a:ln w="19050">
                  <a:noFill/>
                </a:ln>
                <a:solidFill>
                  <a:srgbClr val="FFFFFF"/>
                </a:solidFill>
                <a:latin typeface="微软雅黑" panose="020B0503020204020204" charset="-122"/>
                <a:ea typeface="微软雅黑" panose="020B0503020204020204" charset="-122"/>
              </a:rPr>
              <a:t>软件测试的定义</a:t>
            </a:r>
            <a:endParaRPr lang="en-US" altLang="zh-CN" sz="4500" b="1" dirty="0">
              <a:ln w="19050">
                <a:noFill/>
              </a:ln>
              <a:solidFill>
                <a:srgbClr val="FFFFFF"/>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4147867216"/>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17823" y="281740"/>
            <a:ext cx="4536504" cy="583574"/>
          </a:xfrm>
        </p:spPr>
        <p:txBody>
          <a:bodyPr/>
          <a:lstStyle/>
          <a:p>
            <a:r>
              <a:rPr kumimoji="1" lang="zh-CN" altLang="en-US" dirty="0">
                <a:latin typeface="微软雅黑" panose="020B0503020204020204" pitchFamily="34" charset="-122"/>
                <a:ea typeface="微软雅黑" panose="020B0503020204020204" pitchFamily="34" charset="-122"/>
              </a:rPr>
              <a:t>什么是软件测试？</a:t>
            </a:r>
          </a:p>
        </p:txBody>
      </p:sp>
      <p:sp>
        <p:nvSpPr>
          <p:cNvPr id="5" name="Rectangle 3"/>
          <p:cNvSpPr txBox="1">
            <a:spLocks noChangeArrowheads="1"/>
          </p:cNvSpPr>
          <p:nvPr/>
        </p:nvSpPr>
        <p:spPr bwMode="auto">
          <a:xfrm>
            <a:off x="736445" y="1437485"/>
            <a:ext cx="5086350" cy="2569814"/>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marL="257175" indent="-257175" defTabSz="685800" eaLnBrk="0" fontAlgn="base" hangingPunct="0">
              <a:lnSpc>
                <a:spcPct val="120000"/>
              </a:lnSpc>
              <a:spcBef>
                <a:spcPct val="20000"/>
              </a:spcBef>
              <a:spcAft>
                <a:spcPct val="0"/>
              </a:spcAft>
              <a:buFontTx/>
              <a:buChar char="•"/>
              <a:defRPr/>
            </a:pPr>
            <a:r>
              <a:rPr lang="zh-CN" altLang="en-US" sz="2000" kern="0" dirty="0">
                <a:latin typeface="Microsoft YaHei" panose="020B0503020204020204" pitchFamily="34" charset="-122"/>
                <a:ea typeface="Microsoft YaHei" panose="020B0503020204020204" pitchFamily="34" charset="-122"/>
              </a:rPr>
              <a:t>检查、检验 </a:t>
            </a:r>
            <a:r>
              <a:rPr lang="en-US" altLang="zh-CN" sz="2000" kern="0" dirty="0">
                <a:latin typeface="Microsoft YaHei" panose="020B0503020204020204" pitchFamily="34" charset="-122"/>
                <a:ea typeface="Microsoft YaHei" panose="020B0503020204020204" pitchFamily="34" charset="-122"/>
              </a:rPr>
              <a:t>Check </a:t>
            </a:r>
            <a:r>
              <a:rPr lang="zh-CN" altLang="en-US" sz="2000" kern="0" dirty="0">
                <a:latin typeface="Microsoft YaHei" panose="020B0503020204020204" pitchFamily="34" charset="-122"/>
                <a:ea typeface="Microsoft YaHei" panose="020B0503020204020204" pitchFamily="34" charset="-122"/>
              </a:rPr>
              <a:t>？</a:t>
            </a:r>
            <a:endParaRPr lang="en-US" altLang="zh-CN" sz="2000" kern="0" dirty="0">
              <a:latin typeface="Microsoft YaHei" panose="020B0503020204020204" pitchFamily="34" charset="-122"/>
              <a:ea typeface="Microsoft YaHei" panose="020B0503020204020204" pitchFamily="34" charset="-122"/>
            </a:endParaRPr>
          </a:p>
          <a:p>
            <a:pPr marL="257175" indent="-257175" defTabSz="685800" eaLnBrk="0" fontAlgn="base" hangingPunct="0">
              <a:lnSpc>
                <a:spcPct val="120000"/>
              </a:lnSpc>
              <a:spcBef>
                <a:spcPct val="20000"/>
              </a:spcBef>
              <a:spcAft>
                <a:spcPct val="0"/>
              </a:spcAft>
              <a:buFontTx/>
              <a:buChar char="•"/>
              <a:defRPr/>
            </a:pPr>
            <a:r>
              <a:rPr lang="zh-CN" altLang="en-US" sz="2000" kern="0" dirty="0">
                <a:latin typeface="Microsoft YaHei" panose="020B0503020204020204" pitchFamily="34" charset="-122"/>
                <a:ea typeface="Microsoft YaHei" panose="020B0503020204020204" pitchFamily="34" charset="-122"/>
              </a:rPr>
              <a:t>验证软件能否正常运行？</a:t>
            </a:r>
            <a:endParaRPr lang="en-US" altLang="zh-CN" sz="2000" kern="0" dirty="0">
              <a:latin typeface="Microsoft YaHei" panose="020B0503020204020204" pitchFamily="34" charset="-122"/>
              <a:ea typeface="Microsoft YaHei" panose="020B0503020204020204" pitchFamily="34" charset="-122"/>
            </a:endParaRPr>
          </a:p>
          <a:p>
            <a:pPr marL="257175" indent="-257175" defTabSz="685800" eaLnBrk="0" fontAlgn="base" hangingPunct="0">
              <a:lnSpc>
                <a:spcPct val="120000"/>
              </a:lnSpc>
              <a:spcBef>
                <a:spcPct val="20000"/>
              </a:spcBef>
              <a:spcAft>
                <a:spcPct val="0"/>
              </a:spcAft>
              <a:buFontTx/>
              <a:buChar char="•"/>
              <a:defRPr/>
            </a:pPr>
            <a:r>
              <a:rPr lang="zh-CN" altLang="en-US" sz="2000" kern="0" dirty="0">
                <a:latin typeface="Microsoft YaHei" panose="020B0503020204020204" pitchFamily="34" charset="-122"/>
                <a:ea typeface="Microsoft YaHei" panose="020B0503020204020204" pitchFamily="34" charset="-122"/>
              </a:rPr>
              <a:t>发现问题 </a:t>
            </a:r>
            <a:r>
              <a:rPr lang="en-US" altLang="zh-CN" sz="2000" kern="0" dirty="0">
                <a:latin typeface="Microsoft YaHei" panose="020B0503020204020204" pitchFamily="34" charset="-122"/>
                <a:ea typeface="Microsoft YaHei" panose="020B0503020204020204" pitchFamily="34" charset="-122"/>
              </a:rPr>
              <a:t>Detect error </a:t>
            </a:r>
            <a:r>
              <a:rPr lang="zh-CN" altLang="en-US" sz="2000" kern="0" dirty="0">
                <a:latin typeface="Microsoft YaHei" panose="020B0503020204020204" pitchFamily="34" charset="-122"/>
                <a:ea typeface="Microsoft YaHei" panose="020B0503020204020204" pitchFamily="34" charset="-122"/>
              </a:rPr>
              <a:t>？</a:t>
            </a:r>
            <a:endParaRPr lang="en-US" altLang="zh-CN" sz="2000" kern="0" dirty="0">
              <a:latin typeface="Microsoft YaHei" panose="020B0503020204020204" pitchFamily="34" charset="-122"/>
              <a:ea typeface="Microsoft YaHei" panose="020B0503020204020204" pitchFamily="34" charset="-122"/>
            </a:endParaRPr>
          </a:p>
          <a:p>
            <a:pPr marL="257175" indent="-257175" defTabSz="685800" eaLnBrk="0" fontAlgn="base" hangingPunct="0">
              <a:lnSpc>
                <a:spcPct val="120000"/>
              </a:lnSpc>
              <a:spcBef>
                <a:spcPct val="20000"/>
              </a:spcBef>
              <a:spcAft>
                <a:spcPct val="0"/>
              </a:spcAft>
              <a:buFontTx/>
              <a:buChar char="•"/>
              <a:defRPr/>
            </a:pPr>
            <a:r>
              <a:rPr lang="zh-CN" altLang="en-US" sz="2000" kern="0" dirty="0">
                <a:latin typeface="Microsoft YaHei" panose="020B0503020204020204" pitchFamily="34" charset="-122"/>
                <a:ea typeface="Microsoft YaHei" panose="020B0503020204020204" pitchFamily="34" charset="-122"/>
              </a:rPr>
              <a:t>证明是对的 </a:t>
            </a:r>
            <a:r>
              <a:rPr lang="en-US" altLang="zh-CN" sz="2000" kern="0" dirty="0">
                <a:latin typeface="Microsoft YaHei" panose="020B0503020204020204" pitchFamily="34" charset="-122"/>
                <a:ea typeface="Microsoft YaHei" panose="020B0503020204020204" pitchFamily="34" charset="-122"/>
              </a:rPr>
              <a:t>Correction proof </a:t>
            </a:r>
            <a:r>
              <a:rPr lang="zh-CN" altLang="en-US" sz="2000" kern="0" dirty="0">
                <a:latin typeface="Microsoft YaHei" panose="020B0503020204020204" pitchFamily="34" charset="-122"/>
                <a:ea typeface="Microsoft YaHei" panose="020B0503020204020204" pitchFamily="34" charset="-122"/>
              </a:rPr>
              <a:t>？</a:t>
            </a:r>
            <a:endParaRPr lang="en-US" altLang="zh-CN" sz="2000" kern="0" dirty="0">
              <a:latin typeface="Microsoft YaHei" panose="020B0503020204020204" pitchFamily="34" charset="-122"/>
              <a:ea typeface="Microsoft YaHei" panose="020B0503020204020204" pitchFamily="34" charset="-122"/>
            </a:endParaRPr>
          </a:p>
          <a:p>
            <a:pPr marL="257175" indent="-257175" defTabSz="685800" eaLnBrk="0" fontAlgn="base" hangingPunct="0">
              <a:lnSpc>
                <a:spcPct val="120000"/>
              </a:lnSpc>
              <a:spcBef>
                <a:spcPct val="20000"/>
              </a:spcBef>
              <a:spcAft>
                <a:spcPct val="0"/>
              </a:spcAft>
              <a:buFontTx/>
              <a:buChar char="•"/>
              <a:defRPr/>
            </a:pPr>
            <a:r>
              <a:rPr lang="zh-CN" altLang="en-US" sz="2000" kern="0" dirty="0">
                <a:latin typeface="Microsoft YaHei" panose="020B0503020204020204" pitchFamily="34" charset="-122"/>
                <a:ea typeface="Microsoft YaHei" panose="020B0503020204020204" pitchFamily="34" charset="-122"/>
              </a:rPr>
              <a:t>质量评估 </a:t>
            </a:r>
            <a:r>
              <a:rPr lang="en-US" altLang="zh-CN" sz="2000" kern="0" dirty="0">
                <a:latin typeface="Microsoft YaHei" panose="020B0503020204020204" pitchFamily="34" charset="-122"/>
                <a:ea typeface="Microsoft YaHei" panose="020B0503020204020204" pitchFamily="34" charset="-122"/>
              </a:rPr>
              <a:t>Quality evaluation </a:t>
            </a:r>
            <a:r>
              <a:rPr lang="zh-CN" altLang="en-US" sz="2000" kern="0" dirty="0">
                <a:latin typeface="Microsoft YaHei" panose="020B0503020204020204" pitchFamily="34" charset="-122"/>
                <a:ea typeface="Microsoft YaHei" panose="020B0503020204020204" pitchFamily="34" charset="-122"/>
              </a:rPr>
              <a:t>？</a:t>
            </a:r>
            <a:endParaRPr lang="en-US" altLang="zh-CN" sz="2000" kern="0" dirty="0">
              <a:latin typeface="Microsoft YaHei" panose="020B0503020204020204" pitchFamily="34" charset="-122"/>
              <a:ea typeface="Microsoft YaHei" panose="020B0503020204020204" pitchFamily="34" charset="-122"/>
            </a:endParaRPr>
          </a:p>
          <a:p>
            <a:pPr marL="257175" indent="-257175" defTabSz="685800" eaLnBrk="0" fontAlgn="base" hangingPunct="0">
              <a:lnSpc>
                <a:spcPct val="120000"/>
              </a:lnSpc>
              <a:spcBef>
                <a:spcPct val="20000"/>
              </a:spcBef>
              <a:spcAft>
                <a:spcPct val="0"/>
              </a:spcAft>
              <a:buFontTx/>
              <a:buChar char="•"/>
              <a:defRPr/>
            </a:pPr>
            <a:r>
              <a:rPr lang="zh-CN" altLang="en-US" sz="2000" kern="0" dirty="0">
                <a:latin typeface="Microsoft YaHei" panose="020B0503020204020204" pitchFamily="34" charset="-122"/>
                <a:ea typeface="Microsoft YaHei" panose="020B0503020204020204" pitchFamily="34" charset="-122"/>
              </a:rPr>
              <a:t>质量保证 </a:t>
            </a:r>
            <a:r>
              <a:rPr lang="en-US" altLang="zh-CN" sz="2000" kern="0" dirty="0">
                <a:latin typeface="Microsoft YaHei" panose="020B0503020204020204" pitchFamily="34" charset="-122"/>
                <a:ea typeface="Microsoft YaHei" panose="020B0503020204020204" pitchFamily="34" charset="-122"/>
              </a:rPr>
              <a:t>Quality  Assurance</a:t>
            </a:r>
            <a:r>
              <a:rPr lang="zh-CN" altLang="en-US" sz="2000" kern="0" dirty="0">
                <a:latin typeface="Microsoft YaHei" panose="020B0503020204020204" pitchFamily="34" charset="-122"/>
                <a:ea typeface="Microsoft YaHei" panose="020B0503020204020204" pitchFamily="34" charset="-122"/>
              </a:rPr>
              <a:t>？</a:t>
            </a:r>
            <a:endParaRPr lang="en-US" altLang="zh-CN" sz="2000" kern="0" dirty="0">
              <a:latin typeface="Microsoft YaHei" panose="020B0503020204020204" pitchFamily="34" charset="-122"/>
              <a:ea typeface="Microsoft YaHei" panose="020B0503020204020204" pitchFamily="34" charset="-122"/>
            </a:endParaRPr>
          </a:p>
        </p:txBody>
      </p:sp>
      <p:pic>
        <p:nvPicPr>
          <p:cNvPr id="263170" name="Picture 2" descr="http://www.buzzle.com/img/articleImages/307413-10314-5.jpg"/>
          <p:cNvPicPr>
            <a:picLocks noChangeAspect="1" noChangeArrowheads="1"/>
          </p:cNvPicPr>
          <p:nvPr/>
        </p:nvPicPr>
        <p:blipFill>
          <a:blip r:embed="rId2" cstate="print"/>
          <a:srcRect/>
          <a:stretch>
            <a:fillRect/>
          </a:stretch>
        </p:blipFill>
        <p:spPr bwMode="auto">
          <a:xfrm>
            <a:off x="6184056" y="1387134"/>
            <a:ext cx="2959944" cy="2670516"/>
          </a:xfrm>
          <a:prstGeom prst="rect">
            <a:avLst/>
          </a:prstGeom>
          <a:noFill/>
        </p:spPr>
      </p:pic>
    </p:spTree>
    <p:extLst>
      <p:ext uri="{BB962C8B-B14F-4D97-AF65-F5344CB8AC3E}">
        <p14:creationId xmlns:p14="http://schemas.microsoft.com/office/powerpoint/2010/main" val="357452046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up)">
                                      <p:cBhvr>
                                        <p:cTn id="7" dur="10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up)">
                                      <p:cBhvr>
                                        <p:cTn id="12" dur="10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up)">
                                      <p:cBhvr>
                                        <p:cTn id="17" dur="10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up)">
                                      <p:cBhvr>
                                        <p:cTn id="22" dur="10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up)">
                                      <p:cBhvr>
                                        <p:cTn id="27" dur="1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36781" y="246256"/>
            <a:ext cx="6745325" cy="667941"/>
          </a:xfrm>
        </p:spPr>
        <p:txBody>
          <a:bodyPr/>
          <a:lstStyle/>
          <a:p>
            <a:r>
              <a:rPr kumimoji="1" lang="zh-CN" altLang="en-US" dirty="0">
                <a:latin typeface="微软雅黑" panose="020B0503020204020204" pitchFamily="34" charset="-122"/>
                <a:ea typeface="微软雅黑" panose="020B0503020204020204" pitchFamily="34" charset="-122"/>
              </a:rPr>
              <a:t>软件测试 </a:t>
            </a:r>
            <a:r>
              <a:rPr kumimoji="1" lang="en-US" altLang="zh-CN" dirty="0">
                <a:latin typeface="微软雅黑" panose="020B0503020204020204" pitchFamily="34" charset="-122"/>
                <a:ea typeface="微软雅黑" panose="020B0503020204020204" pitchFamily="34" charset="-122"/>
              </a:rPr>
              <a:t>IEEE/ ISO29119</a:t>
            </a:r>
            <a:r>
              <a:rPr kumimoji="1" lang="zh-CN" altLang="en-US" dirty="0">
                <a:latin typeface="微软雅黑" panose="020B0503020204020204" pitchFamily="34" charset="-122"/>
                <a:ea typeface="微软雅黑" panose="020B0503020204020204" pitchFamily="34" charset="-122"/>
              </a:rPr>
              <a:t>的定义</a:t>
            </a:r>
          </a:p>
        </p:txBody>
      </p:sp>
      <p:sp>
        <p:nvSpPr>
          <p:cNvPr id="2" name="矩形 1">
            <a:extLst>
              <a:ext uri="{FF2B5EF4-FFF2-40B4-BE49-F238E27FC236}">
                <a16:creationId xmlns:a16="http://schemas.microsoft.com/office/drawing/2014/main" id="{4FCBB8EE-1913-56C7-8124-97916C62E79F}"/>
              </a:ext>
            </a:extLst>
          </p:cNvPr>
          <p:cNvSpPr/>
          <p:nvPr/>
        </p:nvSpPr>
        <p:spPr>
          <a:xfrm>
            <a:off x="776046" y="1154823"/>
            <a:ext cx="7282104" cy="1894108"/>
          </a:xfrm>
          <a:prstGeom prst="rect">
            <a:avLst/>
          </a:prstGeom>
        </p:spPr>
        <p:txBody>
          <a:bodyPr wrap="square">
            <a:spAutoFit/>
          </a:bodyPr>
          <a:lstStyle/>
          <a:p>
            <a:pPr marL="257175" indent="-257175" eaLnBrk="0" hangingPunct="0">
              <a:lnSpc>
                <a:spcPct val="130000"/>
              </a:lnSpc>
              <a:spcBef>
                <a:spcPct val="20000"/>
              </a:spcBef>
              <a:buClr>
                <a:schemeClr val="accent1">
                  <a:lumMod val="50000"/>
                </a:schemeClr>
              </a:buClr>
              <a:buSzPct val="90000"/>
              <a:buFont typeface="Wingdings" charset="2"/>
              <a:buChar char="p"/>
              <a:defRPr/>
            </a:pPr>
            <a:r>
              <a:rPr lang="en-US" altLang="zh-CN" sz="2000" dirty="0">
                <a:ea typeface="楷体"/>
                <a:cs typeface="楷体"/>
              </a:rPr>
              <a:t>An activity in which a system or component is executed under </a:t>
            </a:r>
            <a:r>
              <a:rPr lang="en-US" altLang="zh-CN" sz="2000" b="1" dirty="0">
                <a:ea typeface="楷体"/>
                <a:cs typeface="楷体"/>
              </a:rPr>
              <a:t>specified conditions</a:t>
            </a:r>
            <a:r>
              <a:rPr lang="en-US" altLang="zh-CN" sz="2000" dirty="0">
                <a:ea typeface="楷体"/>
                <a:cs typeface="楷体"/>
              </a:rPr>
              <a:t>, the results are observed or</a:t>
            </a:r>
            <a:r>
              <a:rPr lang="zh-CN" altLang="en-US" sz="2000" dirty="0">
                <a:ea typeface="楷体"/>
                <a:cs typeface="楷体"/>
              </a:rPr>
              <a:t> </a:t>
            </a:r>
            <a:r>
              <a:rPr lang="en-US" altLang="zh-CN" sz="2000" dirty="0">
                <a:ea typeface="楷体"/>
                <a:cs typeface="楷体"/>
              </a:rPr>
              <a:t>recorded, and an </a:t>
            </a:r>
            <a:r>
              <a:rPr lang="en-US" altLang="zh-CN" sz="2000" b="1" dirty="0">
                <a:ea typeface="楷体"/>
                <a:cs typeface="楷体"/>
              </a:rPr>
              <a:t>evaluation i</a:t>
            </a:r>
            <a:r>
              <a:rPr lang="en-US" altLang="zh-CN" sz="2000" dirty="0">
                <a:ea typeface="楷体"/>
                <a:cs typeface="楷体"/>
              </a:rPr>
              <a:t>s made of some aspect of the system or component. </a:t>
            </a:r>
          </a:p>
          <a:p>
            <a:pPr algn="r" eaLnBrk="0" hangingPunct="0">
              <a:lnSpc>
                <a:spcPct val="130000"/>
              </a:lnSpc>
              <a:spcBef>
                <a:spcPct val="20000"/>
              </a:spcBef>
              <a:buClr>
                <a:schemeClr val="accent1">
                  <a:lumMod val="50000"/>
                </a:schemeClr>
              </a:buClr>
              <a:buSzPct val="90000"/>
              <a:defRPr/>
            </a:pPr>
            <a:r>
              <a:rPr lang="en-US" altLang="zh-CN" sz="1350" dirty="0">
                <a:ea typeface="楷体"/>
                <a:cs typeface="楷体"/>
              </a:rPr>
              <a:t>[ISO/IEC 24765, Systems &amp; Software Engineering Vocabulary] </a:t>
            </a:r>
          </a:p>
          <a:p>
            <a:pPr algn="r" eaLnBrk="0" hangingPunct="0">
              <a:lnSpc>
                <a:spcPct val="130000"/>
              </a:lnSpc>
              <a:spcBef>
                <a:spcPct val="20000"/>
              </a:spcBef>
              <a:buClr>
                <a:schemeClr val="accent1">
                  <a:lumMod val="50000"/>
                </a:schemeClr>
              </a:buClr>
              <a:buSzPct val="90000"/>
              <a:defRPr/>
            </a:pPr>
            <a:endParaRPr lang="en-US" altLang="zh-CN" sz="1350" dirty="0">
              <a:ea typeface="楷体"/>
              <a:cs typeface="楷体"/>
            </a:endParaRPr>
          </a:p>
        </p:txBody>
      </p:sp>
      <p:sp>
        <p:nvSpPr>
          <p:cNvPr id="3" name="文本框 2">
            <a:extLst>
              <a:ext uri="{FF2B5EF4-FFF2-40B4-BE49-F238E27FC236}">
                <a16:creationId xmlns:a16="http://schemas.microsoft.com/office/drawing/2014/main" id="{A35EFACE-E5F1-D0C1-E45C-993F51B952D6}"/>
              </a:ext>
            </a:extLst>
          </p:cNvPr>
          <p:cNvSpPr txBox="1"/>
          <p:nvPr/>
        </p:nvSpPr>
        <p:spPr>
          <a:xfrm>
            <a:off x="892098" y="3135311"/>
            <a:ext cx="7393257" cy="961225"/>
          </a:xfrm>
          <a:prstGeom prst="rect">
            <a:avLst/>
          </a:prstGeom>
          <a:noFill/>
        </p:spPr>
        <p:txBody>
          <a:bodyPr wrap="square">
            <a:spAutoFit/>
          </a:bodyPr>
          <a:lstStyle/>
          <a:p>
            <a:pPr>
              <a:lnSpc>
                <a:spcPct val="150000"/>
              </a:lnSpc>
              <a:buClr>
                <a:schemeClr val="accent1"/>
              </a:buClr>
              <a:buSzPct val="75000"/>
              <a:tabLst>
                <a:tab pos="428625" algn="l"/>
              </a:tabLst>
            </a:pPr>
            <a:r>
              <a:rPr lang="zh-CN" altLang="en-US" sz="2000" dirty="0">
                <a:latin typeface="Microsoft YaHei" panose="020B0503020204020204" pitchFamily="34" charset="-122"/>
                <a:ea typeface="Microsoft YaHei" panose="020B0503020204020204" pitchFamily="34" charset="-122"/>
              </a:rPr>
              <a:t>在</a:t>
            </a:r>
            <a:r>
              <a:rPr lang="zh-CN" altLang="en-US" sz="2000" b="1" dirty="0">
                <a:latin typeface="Microsoft YaHei" panose="020B0503020204020204" pitchFamily="34" charset="-122"/>
                <a:ea typeface="Microsoft YaHei" panose="020B0503020204020204" pitchFamily="34" charset="-122"/>
              </a:rPr>
              <a:t>特定的条件下</a:t>
            </a:r>
            <a:r>
              <a:rPr lang="zh-CN" altLang="en-US" sz="2000" dirty="0">
                <a:latin typeface="Microsoft YaHei" panose="020B0503020204020204" pitchFamily="34" charset="-122"/>
                <a:ea typeface="Microsoft YaHei" panose="020B0503020204020204" pitchFamily="34" charset="-122"/>
              </a:rPr>
              <a:t>运行系统或组件，观察或记录结果，对系统或组件的某个方面做出</a:t>
            </a:r>
            <a:r>
              <a:rPr lang="zh-CN" altLang="en-US" sz="2000" b="1" dirty="0">
                <a:latin typeface="Microsoft YaHei" panose="020B0503020204020204" pitchFamily="34" charset="-122"/>
                <a:ea typeface="Microsoft YaHei" panose="020B0503020204020204" pitchFamily="34" charset="-122"/>
              </a:rPr>
              <a:t>评价 </a:t>
            </a:r>
          </a:p>
        </p:txBody>
      </p:sp>
    </p:spTree>
    <p:extLst>
      <p:ext uri="{BB962C8B-B14F-4D97-AF65-F5344CB8AC3E}">
        <p14:creationId xmlns:p14="http://schemas.microsoft.com/office/powerpoint/2010/main" val="4040860187"/>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36781" y="246256"/>
            <a:ext cx="6745325" cy="667941"/>
          </a:xfrm>
        </p:spPr>
        <p:txBody>
          <a:bodyPr/>
          <a:lstStyle/>
          <a:p>
            <a:r>
              <a:rPr kumimoji="1" lang="zh-CN" altLang="en-US" dirty="0">
                <a:latin typeface="微软雅黑" panose="020B0503020204020204" pitchFamily="34" charset="-122"/>
                <a:ea typeface="微软雅黑" panose="020B0503020204020204" pitchFamily="34" charset="-122"/>
              </a:rPr>
              <a:t>软件测试 </a:t>
            </a:r>
            <a:r>
              <a:rPr kumimoji="1" lang="en-US" altLang="zh-CN" dirty="0">
                <a:latin typeface="微软雅黑" panose="020B0503020204020204" pitchFamily="34" charset="-122"/>
                <a:ea typeface="微软雅黑" panose="020B0503020204020204" pitchFamily="34" charset="-122"/>
              </a:rPr>
              <a:t>IEEE/ ISO29119</a:t>
            </a:r>
            <a:r>
              <a:rPr kumimoji="1" lang="zh-CN" altLang="en-US" dirty="0">
                <a:latin typeface="微软雅黑" panose="020B0503020204020204" pitchFamily="34" charset="-122"/>
                <a:ea typeface="微软雅黑" panose="020B0503020204020204" pitchFamily="34" charset="-122"/>
              </a:rPr>
              <a:t>的定义</a:t>
            </a:r>
            <a:r>
              <a:rPr kumimoji="1" lang="zh-CN" altLang="en-US" sz="2000" b="0" dirty="0">
                <a:latin typeface="微软雅黑" panose="020B0503020204020204" pitchFamily="34" charset="-122"/>
                <a:ea typeface="微软雅黑" panose="020B0503020204020204" pitchFamily="34" charset="-122"/>
              </a:rPr>
              <a:t> </a:t>
            </a:r>
            <a:r>
              <a:rPr kumimoji="1" lang="en-US" altLang="zh-CN" sz="2000" b="0" dirty="0">
                <a:latin typeface="微软雅黑" panose="020B0503020204020204" pitchFamily="34" charset="-122"/>
                <a:ea typeface="微软雅黑" panose="020B0503020204020204" pitchFamily="34" charset="-122"/>
              </a:rPr>
              <a:t>–</a:t>
            </a:r>
            <a:r>
              <a:rPr kumimoji="1" lang="zh-CN" altLang="en-US" sz="2000" b="0" dirty="0">
                <a:latin typeface="微软雅黑" panose="020B0503020204020204" pitchFamily="34" charset="-122"/>
                <a:ea typeface="微软雅黑" panose="020B0503020204020204" pitchFamily="34" charset="-122"/>
              </a:rPr>
              <a:t> 续</a:t>
            </a:r>
          </a:p>
        </p:txBody>
      </p:sp>
      <p:sp>
        <p:nvSpPr>
          <p:cNvPr id="31747" name="Rectangle 3"/>
          <p:cNvSpPr>
            <a:spLocks noChangeArrowheads="1"/>
          </p:cNvSpPr>
          <p:nvPr/>
        </p:nvSpPr>
        <p:spPr bwMode="auto">
          <a:xfrm>
            <a:off x="861956" y="1341966"/>
            <a:ext cx="7769087" cy="2069221"/>
          </a:xfrm>
          <a:prstGeom prst="rect">
            <a:avLst/>
          </a:prstGeom>
          <a:noFill/>
          <a:ln w="9525" algn="ctr">
            <a:noFill/>
            <a:miter lim="800000"/>
            <a:headEnd/>
            <a:tailEnd/>
          </a:ln>
        </p:spPr>
        <p:txBody>
          <a:bodyPr wrap="square" anchor="ctr">
            <a:spAutoFit/>
          </a:bodyPr>
          <a:lstStyle/>
          <a:p>
            <a:pPr marL="358775" indent="-358775">
              <a:lnSpc>
                <a:spcPct val="150000"/>
              </a:lnSpc>
              <a:buClr>
                <a:schemeClr val="accent1"/>
              </a:buClr>
              <a:buSzPct val="75000"/>
              <a:buFont typeface="Wingdings" pitchFamily="2" charset="2"/>
              <a:buChar char="p"/>
              <a:tabLst>
                <a:tab pos="428625" algn="l"/>
              </a:tabLst>
            </a:pPr>
            <a:r>
              <a:rPr lang="en-US" altLang="zh-CN" sz="2400" dirty="0">
                <a:ea typeface="楷体"/>
                <a:cs typeface="楷体"/>
              </a:rPr>
              <a:t>Testing is comparing what the test item does with what it is expected to do </a:t>
            </a:r>
            <a:endParaRPr lang="zh-CN" altLang="en-US" sz="2400" dirty="0">
              <a:ea typeface="楷体"/>
              <a:cs typeface="楷体"/>
            </a:endParaRPr>
          </a:p>
          <a:p>
            <a:pPr>
              <a:lnSpc>
                <a:spcPct val="150000"/>
              </a:lnSpc>
              <a:buClr>
                <a:schemeClr val="accent1"/>
              </a:buClr>
              <a:buSzPct val="75000"/>
              <a:tabLst>
                <a:tab pos="428625" algn="l"/>
              </a:tabLst>
            </a:pPr>
            <a:r>
              <a:rPr lang="zh-CN" altLang="en-US" sz="2000" dirty="0">
                <a:latin typeface="Microsoft YaHei" panose="020B0503020204020204" pitchFamily="34" charset="-122"/>
                <a:ea typeface="Microsoft YaHei" panose="020B0503020204020204" pitchFamily="34" charset="-122"/>
              </a:rPr>
              <a:t>分析某个</a:t>
            </a:r>
            <a:r>
              <a:rPr lang="zh-CN" altLang="en-US" sz="2000" b="1" dirty="0">
                <a:latin typeface="Microsoft YaHei" panose="020B0503020204020204" pitchFamily="34" charset="-122"/>
                <a:ea typeface="Microsoft YaHei" panose="020B0503020204020204" pitchFamily="34" charset="-122"/>
              </a:rPr>
              <a:t>软件项</a:t>
            </a:r>
            <a:r>
              <a:rPr lang="zh-CN" altLang="en-US" sz="2000" dirty="0">
                <a:latin typeface="Microsoft YaHei" panose="020B0503020204020204" pitchFamily="34" charset="-122"/>
                <a:ea typeface="Microsoft YaHei" panose="020B0503020204020204" pitchFamily="34" charset="-122"/>
              </a:rPr>
              <a:t>以发现</a:t>
            </a:r>
            <a:r>
              <a:rPr lang="zh-CN" altLang="en-US" sz="2000" b="1" dirty="0">
                <a:latin typeface="Microsoft YaHei" panose="020B0503020204020204" pitchFamily="34" charset="-122"/>
                <a:ea typeface="Microsoft YaHei" panose="020B0503020204020204" pitchFamily="34" charset="-122"/>
              </a:rPr>
              <a:t>现存的和要求的条件之差别</a:t>
            </a:r>
            <a:r>
              <a:rPr lang="zh-CN" altLang="en-US" sz="2000" dirty="0">
                <a:latin typeface="Microsoft YaHei" panose="020B0503020204020204" pitchFamily="34" charset="-122"/>
                <a:ea typeface="Microsoft YaHei" panose="020B0503020204020204" pitchFamily="34" charset="-122"/>
              </a:rPr>
              <a:t>（即错误）并</a:t>
            </a:r>
            <a:r>
              <a:rPr lang="zh-CN" altLang="en-US" sz="2000" dirty="0">
                <a:solidFill>
                  <a:srgbClr val="002060"/>
                </a:solidFill>
                <a:latin typeface="Microsoft YaHei" panose="020B0503020204020204" pitchFamily="34" charset="-122"/>
                <a:ea typeface="Microsoft YaHei" panose="020B0503020204020204" pitchFamily="34" charset="-122"/>
              </a:rPr>
              <a:t>评价</a:t>
            </a:r>
            <a:r>
              <a:rPr lang="zh-CN" altLang="en-US" sz="2000" dirty="0">
                <a:latin typeface="Microsoft YaHei" panose="020B0503020204020204" pitchFamily="34" charset="-122"/>
                <a:ea typeface="Microsoft YaHei" panose="020B0503020204020204" pitchFamily="34" charset="-122"/>
              </a:rPr>
              <a:t>此软件项的特性 </a:t>
            </a:r>
            <a:endParaRPr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8103452"/>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F531C-786E-5FDE-3582-0EBE044E0FC2}"/>
              </a:ext>
            </a:extLst>
          </p:cNvPr>
          <p:cNvSpPr>
            <a:spLocks noGrp="1"/>
          </p:cNvSpPr>
          <p:nvPr>
            <p:ph type="title"/>
          </p:nvPr>
        </p:nvSpPr>
        <p:spPr/>
        <p:txBody>
          <a:bodyPr/>
          <a:lstStyle/>
          <a:p>
            <a:r>
              <a:rPr kumimoji="1" lang="zh-CN" altLang="en-US" dirty="0">
                <a:latin typeface="微软雅黑" panose="020B0503020204020204" pitchFamily="34" charset="-122"/>
                <a:ea typeface="微软雅黑" panose="020B0503020204020204" pitchFamily="34" charset="-122"/>
              </a:rPr>
              <a:t>软件测试 </a:t>
            </a:r>
            <a:r>
              <a:rPr kumimoji="1" lang="en-US" altLang="zh-CN" dirty="0">
                <a:latin typeface="微软雅黑" panose="020B0503020204020204" pitchFamily="34" charset="-122"/>
                <a:ea typeface="微软雅黑" panose="020B0503020204020204" pitchFamily="34" charset="-122"/>
              </a:rPr>
              <a:t>IEEE Standard 729</a:t>
            </a:r>
            <a:r>
              <a:rPr kumimoji="1" lang="zh-CN" altLang="en-US" dirty="0">
                <a:latin typeface="微软雅黑" panose="020B0503020204020204" pitchFamily="34" charset="-122"/>
                <a:ea typeface="微软雅黑" panose="020B0503020204020204" pitchFamily="34" charset="-122"/>
              </a:rPr>
              <a:t>的定义</a:t>
            </a:r>
            <a:endParaRPr lang="zh-CN" altLang="en-US" dirty="0"/>
          </a:p>
        </p:txBody>
      </p:sp>
      <p:sp>
        <p:nvSpPr>
          <p:cNvPr id="3" name="文本占位符 2">
            <a:extLst>
              <a:ext uri="{FF2B5EF4-FFF2-40B4-BE49-F238E27FC236}">
                <a16:creationId xmlns:a16="http://schemas.microsoft.com/office/drawing/2014/main" id="{C3F9A415-41D8-64A7-417C-56309CBAE871}"/>
              </a:ext>
            </a:extLst>
          </p:cNvPr>
          <p:cNvSpPr>
            <a:spLocks noGrp="1"/>
          </p:cNvSpPr>
          <p:nvPr>
            <p:ph type="body" sz="quarter" idx="10"/>
          </p:nvPr>
        </p:nvSpPr>
        <p:spPr/>
        <p:txBody>
          <a:bodyPr>
            <a:normAutofit fontScale="85000" lnSpcReduction="20000"/>
          </a:bodyPr>
          <a:lstStyle/>
          <a:p>
            <a:r>
              <a:rPr lang="zh-CN" altLang="en-US" dirty="0"/>
              <a:t>使用人工或自动手段来运行或测定某个系统的过程，其目的在于检验它是否满足规定的需要或是弄清预期结果与实际结果之间的差别</a:t>
            </a:r>
            <a:endParaRPr lang="en-US" altLang="zh-CN" dirty="0"/>
          </a:p>
          <a:p>
            <a:r>
              <a:rPr lang="zh-CN" altLang="en-US" dirty="0"/>
              <a:t>这里明确地提出了软件测试是以检验软件系统是否满足需求为目标的。</a:t>
            </a:r>
            <a:endParaRPr lang="en-US" altLang="zh-CN" dirty="0"/>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1702464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zh-CN" altLang="en-US" dirty="0"/>
              <a:t>软件测试</a:t>
            </a:r>
            <a:r>
              <a:rPr lang="zh-CN" altLang="en-US" dirty="0">
                <a:effectLst/>
              </a:rPr>
              <a:t>的价值</a:t>
            </a:r>
            <a:endParaRPr kumimoji="1" lang="zh-CN" altLang="en-US" dirty="0"/>
          </a:p>
        </p:txBody>
      </p:sp>
      <p:sp>
        <p:nvSpPr>
          <p:cNvPr id="3" name="矩形 2">
            <a:extLst>
              <a:ext uri="{FF2B5EF4-FFF2-40B4-BE49-F238E27FC236}">
                <a16:creationId xmlns:a16="http://schemas.microsoft.com/office/drawing/2014/main" id="{079BF8E8-2A7A-B074-C7A6-B77F624920F8}"/>
              </a:ext>
            </a:extLst>
          </p:cNvPr>
          <p:cNvSpPr/>
          <p:nvPr/>
        </p:nvSpPr>
        <p:spPr>
          <a:xfrm>
            <a:off x="747749" y="1289892"/>
            <a:ext cx="7891425" cy="2386423"/>
          </a:xfrm>
          <a:prstGeom prst="rect">
            <a:avLst/>
          </a:prstGeom>
        </p:spPr>
        <p:txBody>
          <a:bodyPr wrap="square">
            <a:spAutoFit/>
          </a:bodyPr>
          <a:lstStyle/>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全面评估产品质量，获得有关产品质量的全面、客观的信息</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发现问题，督促问题解决，提高产品质量</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持续提供质量反馈、及时揭示质量风险，有助于控制项目风险，提高产品构建的质量</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通过缺陷分析，获得缺陷模式，有助于缺陷预防</a:t>
            </a:r>
            <a:endParaRPr lang="en-US" altLang="zh-CN" sz="2000" dirty="0">
              <a:ea typeface="楷体"/>
            </a:endParaRPr>
          </a:p>
        </p:txBody>
      </p:sp>
    </p:spTree>
    <p:extLst>
      <p:ext uri="{BB962C8B-B14F-4D97-AF65-F5344CB8AC3E}">
        <p14:creationId xmlns:p14="http://schemas.microsoft.com/office/powerpoint/2010/main" val="2192554305"/>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853542" y="1978373"/>
            <a:ext cx="7436916"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1.3.4 </a:t>
            </a:r>
            <a:r>
              <a:rPr lang="zh-CN" altLang="en-US" sz="4500" b="1" dirty="0">
                <a:ln w="19050">
                  <a:noFill/>
                </a:ln>
                <a:solidFill>
                  <a:srgbClr val="FFFFFF"/>
                </a:solidFill>
                <a:latin typeface="微软雅黑" panose="020B0503020204020204" charset="-122"/>
                <a:ea typeface="微软雅黑" panose="020B0503020204020204" charset="-122"/>
              </a:rPr>
              <a:t>软件测试的其它观点</a:t>
            </a:r>
            <a:endParaRPr lang="en-US" altLang="zh-CN" sz="4500" b="1" dirty="0">
              <a:ln w="19050">
                <a:noFill/>
              </a:ln>
              <a:solidFill>
                <a:srgbClr val="FFFFFF"/>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098030621"/>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itle 1"/>
          <p:cNvSpPr>
            <a:spLocks noGrp="1"/>
          </p:cNvSpPr>
          <p:nvPr>
            <p:ph type="title"/>
          </p:nvPr>
        </p:nvSpPr>
        <p:spPr>
          <a:xfrm>
            <a:off x="495300" y="181882"/>
            <a:ext cx="6467475" cy="686386"/>
          </a:xfrm>
        </p:spPr>
        <p:txBody>
          <a:bodyPr/>
          <a:lstStyle/>
          <a:p>
            <a:r>
              <a:rPr kumimoji="1" lang="zh-CN" altLang="en-US" dirty="0">
                <a:latin typeface="微软雅黑" panose="020B0503020204020204" pitchFamily="34" charset="-122"/>
                <a:ea typeface="微软雅黑" panose="020B0503020204020204" pitchFamily="34" charset="-122"/>
              </a:rPr>
              <a:t>从质量视角认知软件测试</a:t>
            </a:r>
          </a:p>
        </p:txBody>
      </p:sp>
      <p:sp>
        <p:nvSpPr>
          <p:cNvPr id="33795" name="Content Placeholder 2"/>
          <p:cNvSpPr>
            <a:spLocks noGrp="1"/>
          </p:cNvSpPr>
          <p:nvPr>
            <p:ph idx="4294967295"/>
          </p:nvPr>
        </p:nvSpPr>
        <p:spPr>
          <a:xfrm>
            <a:off x="495300" y="970714"/>
            <a:ext cx="7772400" cy="933458"/>
          </a:xfrm>
        </p:spPr>
        <p:txBody>
          <a:bodyPr>
            <a:normAutofit lnSpcReduction="10000"/>
          </a:bodyPr>
          <a:lstStyle/>
          <a:p>
            <a:pPr marL="0" indent="0" eaLnBrk="0" hangingPunct="0">
              <a:lnSpc>
                <a:spcPct val="150000"/>
              </a:lnSpc>
              <a:buClr>
                <a:schemeClr val="accent1">
                  <a:lumMod val="50000"/>
                </a:schemeClr>
              </a:buClr>
              <a:buSzPct val="90000"/>
              <a:buNone/>
              <a:defRPr/>
            </a:pPr>
            <a:r>
              <a:rPr lang="zh-CN" altLang="en-US" sz="2000" dirty="0">
                <a:ea typeface="楷体"/>
                <a:cs typeface="楷体"/>
              </a:rPr>
              <a:t>软件测试被认为是对软件</a:t>
            </a:r>
            <a:r>
              <a:rPr lang="zh-CN" altLang="en-US" sz="2000" b="1" u="sng" dirty="0">
                <a:solidFill>
                  <a:srgbClr val="3366FF"/>
                </a:solidFill>
                <a:ea typeface="楷体"/>
              </a:rPr>
              <a:t>质量进行全面</a:t>
            </a:r>
            <a:r>
              <a:rPr lang="zh-CN" altLang="en-US" sz="2000" b="1" u="sng" dirty="0">
                <a:solidFill>
                  <a:srgbClr val="3366FF"/>
                </a:solidFill>
                <a:ea typeface="楷体"/>
                <a:cs typeface="楷体"/>
              </a:rPr>
              <a:t>评估活动，给出质量信息，从而确定质量是否满足设计和用户的需求</a:t>
            </a:r>
            <a:r>
              <a:rPr lang="zh-CN" altLang="en-US" sz="2000" dirty="0">
                <a:ea typeface="楷体"/>
                <a:cs typeface="楷体"/>
              </a:rPr>
              <a:t>。</a:t>
            </a:r>
            <a:endParaRPr lang="en-US" altLang="zh-CN" sz="2000" dirty="0">
              <a:ea typeface="楷体"/>
              <a:cs typeface="楷体"/>
            </a:endParaRPr>
          </a:p>
        </p:txBody>
      </p:sp>
      <p:grpSp>
        <p:nvGrpSpPr>
          <p:cNvPr id="22" name="组合 21">
            <a:extLst>
              <a:ext uri="{FF2B5EF4-FFF2-40B4-BE49-F238E27FC236}">
                <a16:creationId xmlns:a16="http://schemas.microsoft.com/office/drawing/2014/main" id="{3A99FF2C-2901-08CF-518A-9244CF25E461}"/>
              </a:ext>
            </a:extLst>
          </p:cNvPr>
          <p:cNvGrpSpPr/>
          <p:nvPr/>
        </p:nvGrpSpPr>
        <p:grpSpPr>
          <a:xfrm>
            <a:off x="447958" y="2297151"/>
            <a:ext cx="2373301" cy="1635009"/>
            <a:chOff x="447958" y="2297151"/>
            <a:chExt cx="2373301" cy="1635009"/>
          </a:xfrm>
        </p:grpSpPr>
        <p:pic>
          <p:nvPicPr>
            <p:cNvPr id="3" name="图片 2">
              <a:extLst>
                <a:ext uri="{FF2B5EF4-FFF2-40B4-BE49-F238E27FC236}">
                  <a16:creationId xmlns:a16="http://schemas.microsoft.com/office/drawing/2014/main" id="{45B45151-B924-B616-7336-E6EEEA81F654}"/>
                </a:ext>
              </a:extLst>
            </p:cNvPr>
            <p:cNvPicPr>
              <a:picLocks noChangeAspect="1"/>
            </p:cNvPicPr>
            <p:nvPr/>
          </p:nvPicPr>
          <p:blipFill>
            <a:blip r:embed="rId3"/>
            <a:stretch>
              <a:fillRect/>
            </a:stretch>
          </p:blipFill>
          <p:spPr>
            <a:xfrm>
              <a:off x="447958" y="2297151"/>
              <a:ext cx="1032461" cy="1239800"/>
            </a:xfrm>
            <a:prstGeom prst="rect">
              <a:avLst/>
            </a:prstGeom>
          </p:spPr>
        </p:pic>
        <p:cxnSp>
          <p:nvCxnSpPr>
            <p:cNvPr id="6" name="直线箭头连接符 5">
              <a:extLst>
                <a:ext uri="{FF2B5EF4-FFF2-40B4-BE49-F238E27FC236}">
                  <a16:creationId xmlns:a16="http://schemas.microsoft.com/office/drawing/2014/main" id="{514172C2-6130-9495-C0AA-739D3C8E985C}"/>
                </a:ext>
              </a:extLst>
            </p:cNvPr>
            <p:cNvCxnSpPr>
              <a:cxnSpLocks/>
              <a:stCxn id="3" idx="3"/>
            </p:cNvCxnSpPr>
            <p:nvPr/>
          </p:nvCxnSpPr>
          <p:spPr>
            <a:xfrm>
              <a:off x="1480419" y="2917051"/>
              <a:ext cx="1340840" cy="0"/>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9AA8132-2F7E-B2F2-558C-14D4F79E6FD0}"/>
                </a:ext>
              </a:extLst>
            </p:cNvPr>
            <p:cNvSpPr txBox="1"/>
            <p:nvPr/>
          </p:nvSpPr>
          <p:spPr>
            <a:xfrm>
              <a:off x="687020" y="3562828"/>
              <a:ext cx="646331" cy="369332"/>
            </a:xfrm>
            <a:prstGeom prst="rect">
              <a:avLst/>
            </a:prstGeom>
            <a:noFill/>
          </p:spPr>
          <p:txBody>
            <a:bodyPr wrap="none" rtlCol="0">
              <a:spAutoFit/>
            </a:bodyPr>
            <a:lstStyle/>
            <a:p>
              <a:r>
                <a:rPr kumimoji="1" lang="zh-CN" altLang="en-US" dirty="0">
                  <a:solidFill>
                    <a:schemeClr val="accent6"/>
                  </a:solidFill>
                  <a:latin typeface="Microsoft YaHei" panose="020B0503020204020204" pitchFamily="34" charset="-122"/>
                  <a:ea typeface="Microsoft YaHei" panose="020B0503020204020204" pitchFamily="34" charset="-122"/>
                </a:rPr>
                <a:t>用户</a:t>
              </a:r>
            </a:p>
          </p:txBody>
        </p:sp>
        <p:sp>
          <p:nvSpPr>
            <p:cNvPr id="15" name="文本框 14">
              <a:extLst>
                <a:ext uri="{FF2B5EF4-FFF2-40B4-BE49-F238E27FC236}">
                  <a16:creationId xmlns:a16="http://schemas.microsoft.com/office/drawing/2014/main" id="{844B0AEE-C708-387D-974F-97D7B694DB52}"/>
                </a:ext>
              </a:extLst>
            </p:cNvPr>
            <p:cNvSpPr txBox="1"/>
            <p:nvPr/>
          </p:nvSpPr>
          <p:spPr>
            <a:xfrm>
              <a:off x="1539100" y="2522102"/>
              <a:ext cx="1131291"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要求</a:t>
              </a:r>
              <a:r>
                <a:rPr kumimoji="1" lang="en-US" altLang="zh-CN" sz="1600" dirty="0">
                  <a:latin typeface="Microsoft YaHei" panose="020B0503020204020204" pitchFamily="34" charset="-122"/>
                  <a:ea typeface="Microsoft YaHei" panose="020B0503020204020204" pitchFamily="34" charset="-122"/>
                </a:rPr>
                <a:t>/</a:t>
              </a:r>
              <a:r>
                <a:rPr kumimoji="1" lang="zh-CN" altLang="en-US" sz="1600" dirty="0">
                  <a:latin typeface="Microsoft YaHei" panose="020B0503020204020204" pitchFamily="34" charset="-122"/>
                  <a:ea typeface="Microsoft YaHei" panose="020B0503020204020204" pitchFamily="34" charset="-122"/>
                </a:rPr>
                <a:t>期望</a:t>
              </a:r>
            </a:p>
          </p:txBody>
        </p:sp>
      </p:grpSp>
      <p:grpSp>
        <p:nvGrpSpPr>
          <p:cNvPr id="27" name="组合 26">
            <a:extLst>
              <a:ext uri="{FF2B5EF4-FFF2-40B4-BE49-F238E27FC236}">
                <a16:creationId xmlns:a16="http://schemas.microsoft.com/office/drawing/2014/main" id="{F72BDA04-F489-9C5F-45BF-C3EFB84DB74E}"/>
              </a:ext>
            </a:extLst>
          </p:cNvPr>
          <p:cNvGrpSpPr/>
          <p:nvPr/>
        </p:nvGrpSpPr>
        <p:grpSpPr>
          <a:xfrm>
            <a:off x="2842913" y="2390911"/>
            <a:ext cx="2428124" cy="1052280"/>
            <a:chOff x="2842913" y="2390911"/>
            <a:chExt cx="2428124" cy="1052280"/>
          </a:xfrm>
        </p:grpSpPr>
        <p:sp>
          <p:nvSpPr>
            <p:cNvPr id="7" name="椭圆 6">
              <a:extLst>
                <a:ext uri="{FF2B5EF4-FFF2-40B4-BE49-F238E27FC236}">
                  <a16:creationId xmlns:a16="http://schemas.microsoft.com/office/drawing/2014/main" id="{21322409-8C5E-FDFD-0082-E4AED7A87873}"/>
                </a:ext>
              </a:extLst>
            </p:cNvPr>
            <p:cNvSpPr/>
            <p:nvPr/>
          </p:nvSpPr>
          <p:spPr>
            <a:xfrm>
              <a:off x="2842913" y="2390911"/>
              <a:ext cx="1124311" cy="10522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latin typeface="Microsoft YaHei" panose="020B0503020204020204" pitchFamily="34" charset="-122"/>
                  <a:ea typeface="Microsoft YaHei" panose="020B0503020204020204" pitchFamily="34" charset="-122"/>
                </a:rPr>
                <a:t>质量</a:t>
              </a:r>
            </a:p>
          </p:txBody>
        </p:sp>
        <p:cxnSp>
          <p:nvCxnSpPr>
            <p:cNvPr id="10" name="直线箭头连接符 9">
              <a:extLst>
                <a:ext uri="{FF2B5EF4-FFF2-40B4-BE49-F238E27FC236}">
                  <a16:creationId xmlns:a16="http://schemas.microsoft.com/office/drawing/2014/main" id="{9BFBF5FA-2326-13F1-8B0D-C16E83A013BE}"/>
                </a:ext>
              </a:extLst>
            </p:cNvPr>
            <p:cNvCxnSpPr>
              <a:cxnSpLocks/>
            </p:cNvCxnSpPr>
            <p:nvPr/>
          </p:nvCxnSpPr>
          <p:spPr>
            <a:xfrm>
              <a:off x="4030880" y="2930276"/>
              <a:ext cx="1240157" cy="29852"/>
            </a:xfrm>
            <a:prstGeom prst="straightConnector1">
              <a:avLst/>
            </a:prstGeom>
            <a:ln w="3810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16AC7BA-31F6-38DE-4EB3-08AC0DE45B4F}"/>
                </a:ext>
              </a:extLst>
            </p:cNvPr>
            <p:cNvSpPr txBox="1"/>
            <p:nvPr/>
          </p:nvSpPr>
          <p:spPr>
            <a:xfrm>
              <a:off x="4139746" y="2486705"/>
              <a:ext cx="1131291"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矛盾</a:t>
              </a:r>
              <a:r>
                <a:rPr kumimoji="1" lang="en-US" altLang="zh-CN" sz="1600" dirty="0">
                  <a:latin typeface="Microsoft YaHei" panose="020B0503020204020204" pitchFamily="34" charset="-122"/>
                  <a:ea typeface="Microsoft YaHei" panose="020B0503020204020204" pitchFamily="34" charset="-122"/>
                </a:rPr>
                <a:t>/</a:t>
              </a:r>
              <a:r>
                <a:rPr kumimoji="1" lang="zh-CN" altLang="en-US" sz="1600" dirty="0">
                  <a:latin typeface="Microsoft YaHei" panose="020B0503020204020204" pitchFamily="34" charset="-122"/>
                  <a:ea typeface="Microsoft YaHei" panose="020B0503020204020204" pitchFamily="34" charset="-122"/>
                </a:rPr>
                <a:t>对立</a:t>
              </a:r>
            </a:p>
          </p:txBody>
        </p:sp>
      </p:grpSp>
      <p:grpSp>
        <p:nvGrpSpPr>
          <p:cNvPr id="4" name="组合 3">
            <a:extLst>
              <a:ext uri="{FF2B5EF4-FFF2-40B4-BE49-F238E27FC236}">
                <a16:creationId xmlns:a16="http://schemas.microsoft.com/office/drawing/2014/main" id="{219D7F80-11BA-1D5F-7F37-0124443FFCB6}"/>
              </a:ext>
            </a:extLst>
          </p:cNvPr>
          <p:cNvGrpSpPr/>
          <p:nvPr/>
        </p:nvGrpSpPr>
        <p:grpSpPr>
          <a:xfrm>
            <a:off x="5292068" y="2428971"/>
            <a:ext cx="2114700" cy="1451240"/>
            <a:chOff x="5292068" y="2428971"/>
            <a:chExt cx="2114700" cy="1451240"/>
          </a:xfrm>
        </p:grpSpPr>
        <p:cxnSp>
          <p:nvCxnSpPr>
            <p:cNvPr id="11" name="直线箭头连接符 10">
              <a:extLst>
                <a:ext uri="{FF2B5EF4-FFF2-40B4-BE49-F238E27FC236}">
                  <a16:creationId xmlns:a16="http://schemas.microsoft.com/office/drawing/2014/main" id="{F00A4421-56A6-D08B-FB18-1D02C3F6EC64}"/>
                </a:ext>
              </a:extLst>
            </p:cNvPr>
            <p:cNvCxnSpPr>
              <a:cxnSpLocks/>
            </p:cNvCxnSpPr>
            <p:nvPr/>
          </p:nvCxnSpPr>
          <p:spPr>
            <a:xfrm>
              <a:off x="6324529" y="2949713"/>
              <a:ext cx="1082239" cy="0"/>
            </a:xfrm>
            <a:prstGeom prst="straightConnector1">
              <a:avLst/>
            </a:prstGeom>
            <a:ln w="381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CD89FD48-8D71-25A4-434F-D495B9ECB8CC}"/>
                </a:ext>
              </a:extLst>
            </p:cNvPr>
            <p:cNvSpPr txBox="1"/>
            <p:nvPr/>
          </p:nvSpPr>
          <p:spPr>
            <a:xfrm>
              <a:off x="6547352" y="2522102"/>
              <a:ext cx="718320" cy="338554"/>
            </a:xfrm>
            <a:prstGeom prst="rect">
              <a:avLst/>
            </a:prstGeom>
            <a:noFill/>
          </p:spPr>
          <p:txBody>
            <a:bodyPr wrap="square" rtlCol="0">
              <a:spAutoFit/>
            </a:bodyPr>
            <a:lstStyle/>
            <a:p>
              <a:pPr algn="ctr"/>
              <a:r>
                <a:rPr kumimoji="1" lang="zh-CN" altLang="en-US" sz="1600" dirty="0">
                  <a:latin typeface="Microsoft YaHei" panose="020B0503020204020204" pitchFamily="34" charset="-122"/>
                  <a:ea typeface="Microsoft YaHei" panose="020B0503020204020204" pitchFamily="34" charset="-122"/>
                </a:rPr>
                <a:t>发现</a:t>
              </a:r>
            </a:p>
          </p:txBody>
        </p:sp>
        <p:pic>
          <p:nvPicPr>
            <p:cNvPr id="1026" name="Picture 2" descr="查看源图像">
              <a:extLst>
                <a:ext uri="{FF2B5EF4-FFF2-40B4-BE49-F238E27FC236}">
                  <a16:creationId xmlns:a16="http://schemas.microsoft.com/office/drawing/2014/main" id="{FB1F228C-B69E-0E00-6A8E-53FA332D68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68" y="2428971"/>
              <a:ext cx="1032461" cy="1032461"/>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C913795F-6BAC-ACC5-D1E8-4A6484D5C47D}"/>
                </a:ext>
              </a:extLst>
            </p:cNvPr>
            <p:cNvSpPr txBox="1"/>
            <p:nvPr/>
          </p:nvSpPr>
          <p:spPr>
            <a:xfrm>
              <a:off x="5292068" y="3418546"/>
              <a:ext cx="1071127" cy="461665"/>
            </a:xfrm>
            <a:prstGeom prst="rect">
              <a:avLst/>
            </a:prstGeom>
            <a:noFill/>
          </p:spPr>
          <p:txBody>
            <a:bodyPr wrap="none" rtlCol="0">
              <a:spAutoFit/>
            </a:bodyPr>
            <a:lstStyle/>
            <a:p>
              <a:r>
                <a:rPr kumimoji="1" lang="en-US" altLang="zh-CN" sz="2400" dirty="0">
                  <a:solidFill>
                    <a:srgbClr val="FF0000"/>
                  </a:solidFill>
                  <a:latin typeface="Microsoft YaHei" panose="020B0503020204020204" pitchFamily="34" charset="-122"/>
                  <a:ea typeface="Microsoft YaHei" panose="020B0503020204020204" pitchFamily="34" charset="-122"/>
                </a:rPr>
                <a:t>Bug</a:t>
              </a:r>
              <a:r>
                <a:rPr kumimoji="1" lang="zh-CN" altLang="en-US" sz="2400" dirty="0">
                  <a:solidFill>
                    <a:srgbClr val="FF0000"/>
                  </a:solidFill>
                  <a:latin typeface="Microsoft YaHei" panose="020B0503020204020204" pitchFamily="34" charset="-122"/>
                  <a:ea typeface="Microsoft YaHei" panose="020B0503020204020204" pitchFamily="34" charset="-122"/>
                </a:rPr>
                <a:t>？</a:t>
              </a:r>
            </a:p>
          </p:txBody>
        </p:sp>
      </p:grpSp>
      <p:grpSp>
        <p:nvGrpSpPr>
          <p:cNvPr id="2" name="组合 1">
            <a:extLst>
              <a:ext uri="{FF2B5EF4-FFF2-40B4-BE49-F238E27FC236}">
                <a16:creationId xmlns:a16="http://schemas.microsoft.com/office/drawing/2014/main" id="{C990D87B-F3EF-82AC-5C6D-C159E9D442E8}"/>
              </a:ext>
            </a:extLst>
          </p:cNvPr>
          <p:cNvGrpSpPr/>
          <p:nvPr/>
        </p:nvGrpSpPr>
        <p:grpSpPr>
          <a:xfrm>
            <a:off x="7468785" y="2405012"/>
            <a:ext cx="1138363" cy="1342482"/>
            <a:chOff x="7468785" y="2405012"/>
            <a:chExt cx="1138363" cy="1342482"/>
          </a:xfrm>
        </p:grpSpPr>
        <p:pic>
          <p:nvPicPr>
            <p:cNvPr id="13" name="图片 12">
              <a:extLst>
                <a:ext uri="{FF2B5EF4-FFF2-40B4-BE49-F238E27FC236}">
                  <a16:creationId xmlns:a16="http://schemas.microsoft.com/office/drawing/2014/main" id="{8FD5B997-12D8-4440-1448-8564DB20210B}"/>
                </a:ext>
              </a:extLst>
            </p:cNvPr>
            <p:cNvPicPr>
              <a:picLocks noChangeAspect="1"/>
            </p:cNvPicPr>
            <p:nvPr/>
          </p:nvPicPr>
          <p:blipFill>
            <a:blip r:embed="rId5"/>
            <a:stretch>
              <a:fillRect/>
            </a:stretch>
          </p:blipFill>
          <p:spPr>
            <a:xfrm>
              <a:off x="7468785" y="2405012"/>
              <a:ext cx="1138363" cy="933458"/>
            </a:xfrm>
            <a:prstGeom prst="rect">
              <a:avLst/>
            </a:prstGeom>
          </p:spPr>
        </p:pic>
        <p:sp>
          <p:nvSpPr>
            <p:cNvPr id="21" name="文本框 20">
              <a:extLst>
                <a:ext uri="{FF2B5EF4-FFF2-40B4-BE49-F238E27FC236}">
                  <a16:creationId xmlns:a16="http://schemas.microsoft.com/office/drawing/2014/main" id="{8706A4B5-40A0-2373-E642-D1010E56E526}"/>
                </a:ext>
              </a:extLst>
            </p:cNvPr>
            <p:cNvSpPr txBox="1"/>
            <p:nvPr/>
          </p:nvSpPr>
          <p:spPr>
            <a:xfrm>
              <a:off x="7499152" y="3378162"/>
              <a:ext cx="1107996"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软件测试</a:t>
              </a:r>
            </a:p>
          </p:txBody>
        </p:sp>
      </p:grpSp>
      <p:grpSp>
        <p:nvGrpSpPr>
          <p:cNvPr id="33" name="组合 32">
            <a:extLst>
              <a:ext uri="{FF2B5EF4-FFF2-40B4-BE49-F238E27FC236}">
                <a16:creationId xmlns:a16="http://schemas.microsoft.com/office/drawing/2014/main" id="{35177E85-EECD-B37E-994D-0F7E5EEE509F}"/>
              </a:ext>
            </a:extLst>
          </p:cNvPr>
          <p:cNvGrpSpPr/>
          <p:nvPr/>
        </p:nvGrpSpPr>
        <p:grpSpPr>
          <a:xfrm>
            <a:off x="2859228" y="3418546"/>
            <a:ext cx="1176414" cy="1136752"/>
            <a:chOff x="2859228" y="3418546"/>
            <a:chExt cx="1176414" cy="1136752"/>
          </a:xfrm>
        </p:grpSpPr>
        <p:cxnSp>
          <p:nvCxnSpPr>
            <p:cNvPr id="28" name="直线箭头连接符 27">
              <a:extLst>
                <a:ext uri="{FF2B5EF4-FFF2-40B4-BE49-F238E27FC236}">
                  <a16:creationId xmlns:a16="http://schemas.microsoft.com/office/drawing/2014/main" id="{D8E5F583-4A62-6CF2-F057-138504968880}"/>
                </a:ext>
              </a:extLst>
            </p:cNvPr>
            <p:cNvCxnSpPr>
              <a:cxnSpLocks/>
            </p:cNvCxnSpPr>
            <p:nvPr/>
          </p:nvCxnSpPr>
          <p:spPr>
            <a:xfrm>
              <a:off x="3405068" y="3418546"/>
              <a:ext cx="0" cy="767420"/>
            </a:xfrm>
            <a:prstGeom prst="straightConnector1">
              <a:avLst/>
            </a:prstGeom>
            <a:ln w="381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E459BE2A-45A8-D87B-A633-B9C4F3400F57}"/>
                </a:ext>
              </a:extLst>
            </p:cNvPr>
            <p:cNvSpPr txBox="1"/>
            <p:nvPr/>
          </p:nvSpPr>
          <p:spPr>
            <a:xfrm>
              <a:off x="3352523" y="3702903"/>
              <a:ext cx="683119"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评估</a:t>
              </a:r>
            </a:p>
          </p:txBody>
        </p:sp>
        <p:sp>
          <p:nvSpPr>
            <p:cNvPr id="32" name="文本框 31">
              <a:extLst>
                <a:ext uri="{FF2B5EF4-FFF2-40B4-BE49-F238E27FC236}">
                  <a16:creationId xmlns:a16="http://schemas.microsoft.com/office/drawing/2014/main" id="{5813CE5A-D5C6-1B5B-D117-363C40770BB5}"/>
                </a:ext>
              </a:extLst>
            </p:cNvPr>
            <p:cNvSpPr txBox="1"/>
            <p:nvPr/>
          </p:nvSpPr>
          <p:spPr>
            <a:xfrm>
              <a:off x="2859228" y="4185966"/>
              <a:ext cx="1107996"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质量模型</a:t>
              </a:r>
            </a:p>
          </p:txBody>
        </p:sp>
      </p:grpSp>
      <p:cxnSp>
        <p:nvCxnSpPr>
          <p:cNvPr id="8" name="曲线连接符 7">
            <a:extLst>
              <a:ext uri="{FF2B5EF4-FFF2-40B4-BE49-F238E27FC236}">
                <a16:creationId xmlns:a16="http://schemas.microsoft.com/office/drawing/2014/main" id="{F795D6C7-B49C-7A00-748A-C84FDE3A33D4}"/>
              </a:ext>
            </a:extLst>
          </p:cNvPr>
          <p:cNvCxnSpPr>
            <a:stCxn id="21" idx="2"/>
            <a:endCxn id="32" idx="3"/>
          </p:cNvCxnSpPr>
          <p:nvPr/>
        </p:nvCxnSpPr>
        <p:spPr>
          <a:xfrm rot="5400000">
            <a:off x="5698618" y="2016100"/>
            <a:ext cx="623138" cy="4085926"/>
          </a:xfrm>
          <a:prstGeom prst="curvedConnector2">
            <a:avLst/>
          </a:prstGeom>
          <a:ln w="28575">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042190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p:tgtEl>
                                          <p:spTgt spid="4"/>
                                        </p:tgtEl>
                                        <p:attrNameLst>
                                          <p:attrName>ppt_x</p:attrName>
                                        </p:attrNameLst>
                                      </p:cBhvr>
                                      <p:tavLst>
                                        <p:tav tm="0">
                                          <p:val>
                                            <p:strVal val="#ppt_x+#ppt_w*1.125000"/>
                                          </p:val>
                                        </p:tav>
                                        <p:tav tm="100000">
                                          <p:val>
                                            <p:strVal val="#ppt_x"/>
                                          </p:val>
                                        </p:tav>
                                      </p:tavLst>
                                    </p:anim>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blinds(horizontal)">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p:tgtEl>
                                          <p:spTgt spid="22"/>
                                        </p:tgtEl>
                                        <p:attrNameLst>
                                          <p:attrName>ppt_x</p:attrName>
                                        </p:attrNameLst>
                                      </p:cBhvr>
                                      <p:tavLst>
                                        <p:tav tm="0">
                                          <p:val>
                                            <p:strVal val="#ppt_x-#ppt_w*1.125000"/>
                                          </p:val>
                                        </p:tav>
                                        <p:tav tm="100000">
                                          <p:val>
                                            <p:strVal val="#ppt_x"/>
                                          </p:val>
                                        </p:tav>
                                      </p:tavLst>
                                    </p:anim>
                                    <p:animEffect transition="in" filter="wipe(right)">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33"/>
                                        </p:tgtEl>
                                        <p:attrNameLst>
                                          <p:attrName>style.visibility</p:attrName>
                                        </p:attrNameLst>
                                      </p:cBhvr>
                                      <p:to>
                                        <p:strVal val="visible"/>
                                      </p:to>
                                    </p:set>
                                    <p:anim calcmode="lin" valueType="num">
                                      <p:cBhvr additive="base">
                                        <p:cTn id="29" dur="500"/>
                                        <p:tgtEl>
                                          <p:spTgt spid="33"/>
                                        </p:tgtEl>
                                        <p:attrNameLst>
                                          <p:attrName>ppt_y</p:attrName>
                                        </p:attrNameLst>
                                      </p:cBhvr>
                                      <p:tavLst>
                                        <p:tav tm="0">
                                          <p:val>
                                            <p:strVal val="#ppt_y+#ppt_h*1.125000"/>
                                          </p:val>
                                        </p:tav>
                                        <p:tav tm="100000">
                                          <p:val>
                                            <p:strVal val="#ppt_y"/>
                                          </p:val>
                                        </p:tav>
                                      </p:tavLst>
                                    </p:anim>
                                    <p:animEffect transition="in" filter="wipe(up)">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37"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arn(outVertical)">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58E023-B517-9BFE-B379-43221263C2AF}"/>
              </a:ext>
            </a:extLst>
          </p:cNvPr>
          <p:cNvSpPr>
            <a:spLocks noGrp="1"/>
          </p:cNvSpPr>
          <p:nvPr>
            <p:ph type="title"/>
          </p:nvPr>
        </p:nvSpPr>
        <p:spPr/>
        <p:txBody>
          <a:bodyPr/>
          <a:lstStyle/>
          <a:p>
            <a:r>
              <a:rPr lang="zh-CN" altLang="en-US" dirty="0"/>
              <a:t>产品质量模型与软件测试的关联关系</a:t>
            </a:r>
          </a:p>
        </p:txBody>
      </p:sp>
      <p:pic>
        <p:nvPicPr>
          <p:cNvPr id="1026" name="Picture 2">
            <a:extLst>
              <a:ext uri="{FF2B5EF4-FFF2-40B4-BE49-F238E27FC236}">
                <a16:creationId xmlns:a16="http://schemas.microsoft.com/office/drawing/2014/main" id="{CB981B45-788B-8082-98EA-CC0774C50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28" y="1070620"/>
            <a:ext cx="8069344" cy="346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2725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itle 1"/>
          <p:cNvSpPr>
            <a:spLocks noGrp="1"/>
          </p:cNvSpPr>
          <p:nvPr>
            <p:ph type="title"/>
          </p:nvPr>
        </p:nvSpPr>
        <p:spPr>
          <a:xfrm>
            <a:off x="495300" y="181882"/>
            <a:ext cx="6467475" cy="686386"/>
          </a:xfrm>
        </p:spPr>
        <p:txBody>
          <a:bodyPr/>
          <a:lstStyle/>
          <a:p>
            <a:r>
              <a:rPr kumimoji="1" lang="zh-CN" altLang="en-US" dirty="0">
                <a:latin typeface="微软雅黑" panose="020B0503020204020204" pitchFamily="34" charset="-122"/>
                <a:ea typeface="微软雅黑" panose="020B0503020204020204" pitchFamily="34" charset="-122"/>
              </a:rPr>
              <a:t>从风险视角认知软件测试</a:t>
            </a:r>
          </a:p>
        </p:txBody>
      </p:sp>
      <p:sp>
        <p:nvSpPr>
          <p:cNvPr id="33795" name="Content Placeholder 2"/>
          <p:cNvSpPr>
            <a:spLocks noGrp="1"/>
          </p:cNvSpPr>
          <p:nvPr>
            <p:ph idx="4294967295"/>
          </p:nvPr>
        </p:nvSpPr>
        <p:spPr>
          <a:xfrm>
            <a:off x="495300" y="870527"/>
            <a:ext cx="8066298" cy="1601036"/>
          </a:xfrm>
        </p:spPr>
        <p:txBody>
          <a:bodyPr/>
          <a:lstStyle/>
          <a:p>
            <a:pPr marL="0" indent="0" eaLnBrk="0" hangingPunct="0">
              <a:lnSpc>
                <a:spcPct val="130000"/>
              </a:lnSpc>
              <a:buClr>
                <a:schemeClr val="accent1">
                  <a:lumMod val="50000"/>
                </a:schemeClr>
              </a:buClr>
              <a:buSzPct val="90000"/>
              <a:buNone/>
              <a:defRPr/>
            </a:pPr>
            <a:r>
              <a:rPr lang="zh-CN" altLang="en-US" sz="1800" dirty="0">
                <a:ea typeface="楷体"/>
                <a:cs typeface="楷体"/>
              </a:rPr>
              <a:t>软件测试被认为是对软件系统中</a:t>
            </a:r>
            <a:r>
              <a:rPr lang="zh-CN" altLang="en-US" sz="1800" u="sng" dirty="0">
                <a:ea typeface="楷体"/>
                <a:cs typeface="楷体"/>
              </a:rPr>
              <a:t>潜在的</a:t>
            </a:r>
            <a:r>
              <a:rPr lang="zh-CN" altLang="en-US" sz="1800" b="1" u="sng" dirty="0">
                <a:solidFill>
                  <a:srgbClr val="3366FF"/>
                </a:solidFill>
                <a:ea typeface="楷体"/>
                <a:cs typeface="楷体"/>
              </a:rPr>
              <a:t>各种</a:t>
            </a:r>
            <a:r>
              <a:rPr lang="zh-CN" altLang="en-US" sz="1800" b="1" u="sng" dirty="0">
                <a:solidFill>
                  <a:srgbClr val="FF6600"/>
                </a:solidFill>
                <a:ea typeface="楷体"/>
                <a:cs typeface="楷体"/>
              </a:rPr>
              <a:t>质量风险</a:t>
            </a:r>
            <a:r>
              <a:rPr lang="zh-CN" altLang="en-US" sz="1800" b="1" u="sng" dirty="0">
                <a:solidFill>
                  <a:srgbClr val="3366FF"/>
                </a:solidFill>
                <a:ea typeface="楷体"/>
                <a:cs typeface="楷体"/>
              </a:rPr>
              <a:t>进行评估的活动</a:t>
            </a:r>
            <a:r>
              <a:rPr lang="zh-CN" altLang="en-US" sz="1800" dirty="0">
                <a:ea typeface="楷体"/>
                <a:cs typeface="楷体"/>
              </a:rPr>
              <a:t>。其实，测试是样本实验而不能穷尽，其风险总是存在的。</a:t>
            </a:r>
            <a:endParaRPr lang="en-US" altLang="zh-CN" sz="1800" dirty="0">
              <a:ea typeface="楷体"/>
              <a:cs typeface="楷体"/>
            </a:endParaRPr>
          </a:p>
          <a:p>
            <a:pPr marL="0" indent="0" eaLnBrk="0" hangingPunct="0">
              <a:lnSpc>
                <a:spcPct val="130000"/>
              </a:lnSpc>
              <a:buClr>
                <a:schemeClr val="accent1">
                  <a:lumMod val="50000"/>
                </a:schemeClr>
              </a:buClr>
              <a:buSzPct val="90000"/>
              <a:buNone/>
              <a:defRPr/>
            </a:pPr>
            <a:r>
              <a:rPr lang="zh-CN" altLang="en-US" sz="1800" dirty="0">
                <a:ea typeface="楷体"/>
                <a:cs typeface="楷体"/>
              </a:rPr>
              <a:t>基于风险的测试强调对软件开发全过程进行检测，随时发现问题、报告问题，减少对客户不利影响的风险</a:t>
            </a:r>
            <a:endParaRPr lang="en-US" altLang="zh-CN" sz="1800" dirty="0">
              <a:ea typeface="楷体"/>
              <a:cs typeface="楷体"/>
            </a:endParaRPr>
          </a:p>
        </p:txBody>
      </p:sp>
      <p:grpSp>
        <p:nvGrpSpPr>
          <p:cNvPr id="25" name="组合 24">
            <a:extLst>
              <a:ext uri="{FF2B5EF4-FFF2-40B4-BE49-F238E27FC236}">
                <a16:creationId xmlns:a16="http://schemas.microsoft.com/office/drawing/2014/main" id="{687D732D-B56F-4073-A8AF-3FC9E11BAD5A}"/>
              </a:ext>
            </a:extLst>
          </p:cNvPr>
          <p:cNvGrpSpPr/>
          <p:nvPr/>
        </p:nvGrpSpPr>
        <p:grpSpPr>
          <a:xfrm>
            <a:off x="582402" y="2472034"/>
            <a:ext cx="8076631" cy="2374572"/>
            <a:chOff x="582402" y="2472034"/>
            <a:chExt cx="8076631" cy="2374572"/>
          </a:xfrm>
        </p:grpSpPr>
        <p:grpSp>
          <p:nvGrpSpPr>
            <p:cNvPr id="2" name="Group 2">
              <a:extLst>
                <a:ext uri="{FF2B5EF4-FFF2-40B4-BE49-F238E27FC236}">
                  <a16:creationId xmlns:a16="http://schemas.microsoft.com/office/drawing/2014/main" id="{B0F8E943-0C47-EEC7-415F-D819483ECE63}"/>
                </a:ext>
              </a:extLst>
            </p:cNvPr>
            <p:cNvGrpSpPr>
              <a:grpSpLocks/>
            </p:cNvGrpSpPr>
            <p:nvPr/>
          </p:nvGrpSpPr>
          <p:grpSpPr bwMode="auto">
            <a:xfrm>
              <a:off x="1335517" y="2472034"/>
              <a:ext cx="6581918" cy="2374572"/>
              <a:chOff x="2580" y="5450"/>
              <a:chExt cx="6849" cy="2376"/>
            </a:xfrm>
          </p:grpSpPr>
          <p:cxnSp>
            <p:nvCxnSpPr>
              <p:cNvPr id="3" name="AutoShape 3">
                <a:extLst>
                  <a:ext uri="{FF2B5EF4-FFF2-40B4-BE49-F238E27FC236}">
                    <a16:creationId xmlns:a16="http://schemas.microsoft.com/office/drawing/2014/main" id="{62F7456D-81CB-871C-D931-6935B12C6A7A}"/>
                  </a:ext>
                </a:extLst>
              </p:cNvPr>
              <p:cNvCxnSpPr>
                <a:cxnSpLocks noChangeShapeType="1"/>
              </p:cNvCxnSpPr>
              <p:nvPr/>
            </p:nvCxnSpPr>
            <p:spPr bwMode="auto">
              <a:xfrm>
                <a:off x="2580" y="6719"/>
                <a:ext cx="6849" cy="21"/>
              </a:xfrm>
              <a:prstGeom prst="straightConnector1">
                <a:avLst/>
              </a:prstGeom>
              <a:noFill/>
              <a:ln w="38100">
                <a:solidFill>
                  <a:srgbClr val="C00000"/>
                </a:solidFill>
                <a:round/>
                <a:headEnd/>
                <a:tailEnd type="triangle" w="med" len="med"/>
              </a:ln>
            </p:spPr>
          </p:cxnSp>
          <p:sp>
            <p:nvSpPr>
              <p:cNvPr id="4" name="AutoShape 4">
                <a:extLst>
                  <a:ext uri="{FF2B5EF4-FFF2-40B4-BE49-F238E27FC236}">
                    <a16:creationId xmlns:a16="http://schemas.microsoft.com/office/drawing/2014/main" id="{815C2E37-47A0-A938-8C81-C23D2093A3AF}"/>
                  </a:ext>
                </a:extLst>
              </p:cNvPr>
              <p:cNvSpPr>
                <a:spLocks noChangeArrowheads="1"/>
              </p:cNvSpPr>
              <p:nvPr/>
            </p:nvSpPr>
            <p:spPr bwMode="auto">
              <a:xfrm>
                <a:off x="2865" y="6480"/>
                <a:ext cx="810" cy="480"/>
              </a:xfrm>
              <a:prstGeom prst="roundRect">
                <a:avLst>
                  <a:gd name="adj" fmla="val 16667"/>
                </a:avLst>
              </a:prstGeom>
              <a:gradFill>
                <a:gsLst>
                  <a:gs pos="0">
                    <a:srgbClr val="FFEFD1"/>
                  </a:gs>
                  <a:gs pos="64999">
                    <a:srgbClr val="F0EBD5"/>
                  </a:gs>
                  <a:gs pos="100000">
                    <a:srgbClr val="D1C39F"/>
                  </a:gs>
                </a:gsLst>
                <a:lin ang="5400000" scaled="0"/>
              </a:gradFill>
              <a:ln w="9525">
                <a:solidFill>
                  <a:srgbClr val="FFC000"/>
                </a:solidFill>
                <a:round/>
                <a:headEnd/>
                <a:tailEnd/>
              </a:ln>
              <a:scene3d>
                <a:camera prst="orthographicFront"/>
                <a:lightRig rig="threePt" dir="t"/>
              </a:scene3d>
              <a:sp3d>
                <a:bevelT w="152400" h="50800" prst="softRound"/>
                <a:bevelB w="152400" h="50800" prst="softRound"/>
              </a:sp3d>
            </p:spPr>
            <p:txBody>
              <a:bodyPr vert="horz" wrap="square" lIns="82296" tIns="41148" rIns="82296" bIns="41148" numCol="1" anchor="t" anchorCtr="0" compatLnSpc="1">
                <a:prstTxWarp prst="textNoShape">
                  <a:avLst/>
                </a:prstTxWarp>
              </a:bodyPr>
              <a:lstStyle/>
              <a:p>
                <a:pPr algn="ctr" defTabSz="822952"/>
                <a:r>
                  <a:rPr lang="zh-CN" altLang="en-US" sz="1620" dirty="0">
                    <a:latin typeface="Calibri" pitchFamily="34" charset="0"/>
                    <a:cs typeface="宋体" pitchFamily="2" charset="-122"/>
                  </a:rPr>
                  <a:t>需求</a:t>
                </a:r>
                <a:endParaRPr lang="zh-CN" altLang="en-US" sz="1620" dirty="0">
                  <a:latin typeface="Arial" pitchFamily="34" charset="0"/>
                  <a:cs typeface="宋体" pitchFamily="2" charset="-122"/>
                </a:endParaRPr>
              </a:p>
            </p:txBody>
          </p:sp>
          <p:sp>
            <p:nvSpPr>
              <p:cNvPr id="5" name="AutoShape 5">
                <a:extLst>
                  <a:ext uri="{FF2B5EF4-FFF2-40B4-BE49-F238E27FC236}">
                    <a16:creationId xmlns:a16="http://schemas.microsoft.com/office/drawing/2014/main" id="{9BC340B2-2DFF-2138-A0A4-24530381000A}"/>
                  </a:ext>
                </a:extLst>
              </p:cNvPr>
              <p:cNvSpPr>
                <a:spLocks noChangeArrowheads="1"/>
              </p:cNvSpPr>
              <p:nvPr/>
            </p:nvSpPr>
            <p:spPr bwMode="auto">
              <a:xfrm>
                <a:off x="4065" y="6480"/>
                <a:ext cx="810" cy="480"/>
              </a:xfrm>
              <a:prstGeom prst="roundRect">
                <a:avLst>
                  <a:gd name="adj" fmla="val 16667"/>
                </a:avLst>
              </a:prstGeom>
              <a:gradFill>
                <a:gsLst>
                  <a:gs pos="0">
                    <a:srgbClr val="FFEFD1"/>
                  </a:gs>
                  <a:gs pos="64999">
                    <a:srgbClr val="F0EBD5"/>
                  </a:gs>
                  <a:gs pos="100000">
                    <a:srgbClr val="D1C39F"/>
                  </a:gs>
                </a:gsLst>
                <a:lin ang="5400000" scaled="0"/>
              </a:gradFill>
              <a:ln w="9525">
                <a:solidFill>
                  <a:srgbClr val="FFC000"/>
                </a:solidFill>
                <a:round/>
                <a:headEnd/>
                <a:tailEnd/>
              </a:ln>
              <a:scene3d>
                <a:camera prst="orthographicFront"/>
                <a:lightRig rig="threePt" dir="t"/>
              </a:scene3d>
              <a:sp3d>
                <a:bevelT w="152400" h="50800" prst="softRound"/>
                <a:bevelB w="152400" h="50800" prst="softRound"/>
              </a:sp3d>
            </p:spPr>
            <p:txBody>
              <a:bodyPr vert="horz" wrap="square" lIns="82296" tIns="41148" rIns="82296" bIns="41148" numCol="1" anchor="t" anchorCtr="0" compatLnSpc="1">
                <a:prstTxWarp prst="textNoShape">
                  <a:avLst/>
                </a:prstTxWarp>
              </a:bodyPr>
              <a:lstStyle/>
              <a:p>
                <a:pPr algn="ctr" defTabSz="822952"/>
                <a:r>
                  <a:rPr lang="zh-CN" altLang="en-US" sz="1620">
                    <a:latin typeface="Calibri" pitchFamily="34" charset="0"/>
                    <a:cs typeface="宋体" pitchFamily="2" charset="-122"/>
                  </a:rPr>
                  <a:t>设计</a:t>
                </a:r>
                <a:endParaRPr lang="zh-CN" altLang="en-US" sz="1620">
                  <a:latin typeface="Arial" pitchFamily="34" charset="0"/>
                  <a:cs typeface="宋体" pitchFamily="2" charset="-122"/>
                </a:endParaRPr>
              </a:p>
            </p:txBody>
          </p:sp>
          <p:sp>
            <p:nvSpPr>
              <p:cNvPr id="6" name="AutoShape 6">
                <a:extLst>
                  <a:ext uri="{FF2B5EF4-FFF2-40B4-BE49-F238E27FC236}">
                    <a16:creationId xmlns:a16="http://schemas.microsoft.com/office/drawing/2014/main" id="{1151AB42-57E3-6CDD-7B39-C7BC187FE5FF}"/>
                  </a:ext>
                </a:extLst>
              </p:cNvPr>
              <p:cNvSpPr>
                <a:spLocks noChangeArrowheads="1"/>
              </p:cNvSpPr>
              <p:nvPr/>
            </p:nvSpPr>
            <p:spPr bwMode="auto">
              <a:xfrm>
                <a:off x="5235" y="6480"/>
                <a:ext cx="810" cy="480"/>
              </a:xfrm>
              <a:prstGeom prst="roundRect">
                <a:avLst>
                  <a:gd name="adj" fmla="val 16667"/>
                </a:avLst>
              </a:prstGeom>
              <a:gradFill>
                <a:gsLst>
                  <a:gs pos="0">
                    <a:srgbClr val="FFEFD1"/>
                  </a:gs>
                  <a:gs pos="64999">
                    <a:srgbClr val="F0EBD5"/>
                  </a:gs>
                  <a:gs pos="100000">
                    <a:srgbClr val="D1C39F"/>
                  </a:gs>
                </a:gsLst>
                <a:lin ang="5400000" scaled="0"/>
              </a:gradFill>
              <a:ln w="9525">
                <a:solidFill>
                  <a:srgbClr val="FFC000"/>
                </a:solidFill>
                <a:round/>
                <a:headEnd/>
                <a:tailEnd/>
              </a:ln>
              <a:scene3d>
                <a:camera prst="orthographicFront"/>
                <a:lightRig rig="threePt" dir="t"/>
              </a:scene3d>
              <a:sp3d>
                <a:bevelT w="152400" h="50800" prst="softRound"/>
                <a:bevelB w="152400" h="50800" prst="softRound"/>
              </a:sp3d>
            </p:spPr>
            <p:txBody>
              <a:bodyPr vert="horz" wrap="square" lIns="82296" tIns="41148" rIns="82296" bIns="41148" numCol="1" anchor="t" anchorCtr="0" compatLnSpc="1">
                <a:prstTxWarp prst="textNoShape">
                  <a:avLst/>
                </a:prstTxWarp>
              </a:bodyPr>
              <a:lstStyle/>
              <a:p>
                <a:pPr algn="ctr" defTabSz="822952"/>
                <a:r>
                  <a:rPr lang="zh-CN" altLang="en-US" sz="1620">
                    <a:latin typeface="Calibri" pitchFamily="34" charset="0"/>
                    <a:cs typeface="宋体" pitchFamily="2" charset="-122"/>
                  </a:rPr>
                  <a:t>代码</a:t>
                </a:r>
                <a:endParaRPr lang="zh-CN" altLang="en-US" sz="1620">
                  <a:latin typeface="Arial" pitchFamily="34" charset="0"/>
                  <a:cs typeface="宋体" pitchFamily="2" charset="-122"/>
                </a:endParaRPr>
              </a:p>
            </p:txBody>
          </p:sp>
          <p:sp>
            <p:nvSpPr>
              <p:cNvPr id="7" name="AutoShape 7">
                <a:extLst>
                  <a:ext uri="{FF2B5EF4-FFF2-40B4-BE49-F238E27FC236}">
                    <a16:creationId xmlns:a16="http://schemas.microsoft.com/office/drawing/2014/main" id="{31E213D7-C3DC-CA88-7E83-B1D89443E354}"/>
                  </a:ext>
                </a:extLst>
              </p:cNvPr>
              <p:cNvSpPr>
                <a:spLocks noChangeArrowheads="1"/>
              </p:cNvSpPr>
              <p:nvPr/>
            </p:nvSpPr>
            <p:spPr bwMode="auto">
              <a:xfrm>
                <a:off x="6360" y="6480"/>
                <a:ext cx="810" cy="480"/>
              </a:xfrm>
              <a:prstGeom prst="roundRect">
                <a:avLst>
                  <a:gd name="adj" fmla="val 16667"/>
                </a:avLst>
              </a:prstGeom>
              <a:gradFill>
                <a:gsLst>
                  <a:gs pos="0">
                    <a:srgbClr val="FFEFD1"/>
                  </a:gs>
                  <a:gs pos="64999">
                    <a:srgbClr val="F0EBD5"/>
                  </a:gs>
                  <a:gs pos="100000">
                    <a:srgbClr val="D1C39F"/>
                  </a:gs>
                </a:gsLst>
                <a:lin ang="5400000" scaled="0"/>
              </a:gradFill>
              <a:ln w="9525">
                <a:solidFill>
                  <a:srgbClr val="FFC000"/>
                </a:solidFill>
                <a:round/>
                <a:headEnd/>
                <a:tailEnd/>
              </a:ln>
              <a:scene3d>
                <a:camera prst="orthographicFront"/>
                <a:lightRig rig="threePt" dir="t"/>
              </a:scene3d>
              <a:sp3d>
                <a:bevelT w="152400" h="50800" prst="softRound"/>
                <a:bevelB w="152400" h="50800" prst="softRound"/>
              </a:sp3d>
            </p:spPr>
            <p:txBody>
              <a:bodyPr vert="horz" wrap="square" lIns="82296" tIns="41148" rIns="82296" bIns="41148" numCol="1" anchor="t" anchorCtr="0" compatLnSpc="1">
                <a:prstTxWarp prst="textNoShape">
                  <a:avLst/>
                </a:prstTxWarp>
              </a:bodyPr>
              <a:lstStyle/>
              <a:p>
                <a:pPr algn="ctr" defTabSz="822952"/>
                <a:r>
                  <a:rPr lang="zh-CN" altLang="en-US" sz="1620">
                    <a:latin typeface="Calibri" pitchFamily="34" charset="0"/>
                    <a:cs typeface="宋体" pitchFamily="2" charset="-122"/>
                  </a:rPr>
                  <a:t>功能</a:t>
                </a:r>
                <a:endParaRPr lang="zh-CN" altLang="en-US" sz="1620">
                  <a:latin typeface="Arial" pitchFamily="34" charset="0"/>
                  <a:cs typeface="宋体" pitchFamily="2" charset="-122"/>
                </a:endParaRPr>
              </a:p>
            </p:txBody>
          </p:sp>
          <p:sp>
            <p:nvSpPr>
              <p:cNvPr id="8" name="AutoShape 8">
                <a:extLst>
                  <a:ext uri="{FF2B5EF4-FFF2-40B4-BE49-F238E27FC236}">
                    <a16:creationId xmlns:a16="http://schemas.microsoft.com/office/drawing/2014/main" id="{955035E4-1C39-0B94-78B8-E32FDED91F22}"/>
                  </a:ext>
                </a:extLst>
              </p:cNvPr>
              <p:cNvSpPr>
                <a:spLocks noChangeArrowheads="1"/>
              </p:cNvSpPr>
              <p:nvPr/>
            </p:nvSpPr>
            <p:spPr bwMode="auto">
              <a:xfrm>
                <a:off x="7500" y="6480"/>
                <a:ext cx="1538" cy="480"/>
              </a:xfrm>
              <a:prstGeom prst="roundRect">
                <a:avLst>
                  <a:gd name="adj" fmla="val 16667"/>
                </a:avLst>
              </a:prstGeom>
              <a:gradFill>
                <a:gsLst>
                  <a:gs pos="0">
                    <a:srgbClr val="FFEFD1"/>
                  </a:gs>
                  <a:gs pos="64999">
                    <a:srgbClr val="F0EBD5"/>
                  </a:gs>
                  <a:gs pos="100000">
                    <a:srgbClr val="D1C39F"/>
                  </a:gs>
                </a:gsLst>
                <a:lin ang="5400000" scaled="0"/>
              </a:gradFill>
              <a:ln w="9525">
                <a:solidFill>
                  <a:srgbClr val="FFC000"/>
                </a:solidFill>
                <a:round/>
                <a:headEnd/>
                <a:tailEnd/>
              </a:ln>
              <a:scene3d>
                <a:camera prst="orthographicFront"/>
                <a:lightRig rig="threePt" dir="t"/>
              </a:scene3d>
              <a:sp3d>
                <a:bevelT w="152400" h="50800" prst="softRound"/>
                <a:bevelB w="152400" h="50800" prst="softRound"/>
              </a:sp3d>
            </p:spPr>
            <p:txBody>
              <a:bodyPr vert="horz" wrap="square" lIns="82296" tIns="41148" rIns="82296" bIns="41148" numCol="1" anchor="t" anchorCtr="0" compatLnSpc="1">
                <a:prstTxWarp prst="textNoShape">
                  <a:avLst/>
                </a:prstTxWarp>
              </a:bodyPr>
              <a:lstStyle/>
              <a:p>
                <a:pPr algn="ctr" defTabSz="822952"/>
                <a:r>
                  <a:rPr lang="zh-CN" altLang="en-US" sz="1620">
                    <a:latin typeface="Calibri" pitchFamily="34" charset="0"/>
                    <a:cs typeface="宋体" pitchFamily="2" charset="-122"/>
                  </a:rPr>
                  <a:t>非功能特性</a:t>
                </a:r>
                <a:endParaRPr lang="zh-CN" altLang="en-US" sz="1620">
                  <a:latin typeface="Arial" pitchFamily="34" charset="0"/>
                  <a:cs typeface="宋体" pitchFamily="2" charset="-122"/>
                </a:endParaRPr>
              </a:p>
            </p:txBody>
          </p:sp>
          <p:cxnSp>
            <p:nvCxnSpPr>
              <p:cNvPr id="9" name="AutoShape 9">
                <a:extLst>
                  <a:ext uri="{FF2B5EF4-FFF2-40B4-BE49-F238E27FC236}">
                    <a16:creationId xmlns:a16="http://schemas.microsoft.com/office/drawing/2014/main" id="{70751B82-08E9-F88D-8CF4-D7E8C19351E1}"/>
                  </a:ext>
                </a:extLst>
              </p:cNvPr>
              <p:cNvCxnSpPr>
                <a:cxnSpLocks noChangeShapeType="1"/>
              </p:cNvCxnSpPr>
              <p:nvPr/>
            </p:nvCxnSpPr>
            <p:spPr bwMode="auto">
              <a:xfrm>
                <a:off x="2580" y="5808"/>
                <a:ext cx="6225" cy="0"/>
              </a:xfrm>
              <a:prstGeom prst="straightConnector1">
                <a:avLst/>
              </a:prstGeom>
              <a:noFill/>
              <a:ln w="9525">
                <a:solidFill>
                  <a:srgbClr val="000000"/>
                </a:solidFill>
                <a:round/>
                <a:headEnd/>
                <a:tailEnd/>
              </a:ln>
            </p:spPr>
          </p:cxnSp>
          <p:cxnSp>
            <p:nvCxnSpPr>
              <p:cNvPr id="10" name="AutoShape 10">
                <a:extLst>
                  <a:ext uri="{FF2B5EF4-FFF2-40B4-BE49-F238E27FC236}">
                    <a16:creationId xmlns:a16="http://schemas.microsoft.com/office/drawing/2014/main" id="{17798358-04A6-63B1-F5A7-3A8214CABF87}"/>
                  </a:ext>
                </a:extLst>
              </p:cNvPr>
              <p:cNvCxnSpPr>
                <a:cxnSpLocks noChangeShapeType="1"/>
              </p:cNvCxnSpPr>
              <p:nvPr/>
            </p:nvCxnSpPr>
            <p:spPr bwMode="auto">
              <a:xfrm>
                <a:off x="2580" y="7518"/>
                <a:ext cx="6225" cy="0"/>
              </a:xfrm>
              <a:prstGeom prst="straightConnector1">
                <a:avLst/>
              </a:prstGeom>
              <a:noFill/>
              <a:ln w="9525">
                <a:solidFill>
                  <a:srgbClr val="000000"/>
                </a:solidFill>
                <a:round/>
                <a:headEnd/>
                <a:tailEnd/>
              </a:ln>
            </p:spPr>
          </p:cxnSp>
          <p:sp>
            <p:nvSpPr>
              <p:cNvPr id="11" name="AutoShape 11">
                <a:extLst>
                  <a:ext uri="{FF2B5EF4-FFF2-40B4-BE49-F238E27FC236}">
                    <a16:creationId xmlns:a16="http://schemas.microsoft.com/office/drawing/2014/main" id="{2CD386D3-46E2-EA6B-7E0D-610101EDA50D}"/>
                  </a:ext>
                </a:extLst>
              </p:cNvPr>
              <p:cNvSpPr>
                <a:spLocks noChangeArrowheads="1"/>
              </p:cNvSpPr>
              <p:nvPr/>
            </p:nvSpPr>
            <p:spPr bwMode="auto">
              <a:xfrm>
                <a:off x="4715" y="5450"/>
                <a:ext cx="2659" cy="318"/>
              </a:xfrm>
              <a:prstGeom prst="roundRect">
                <a:avLst>
                  <a:gd name="adj" fmla="val 16667"/>
                </a:avLst>
              </a:prstGeom>
              <a:noFill/>
              <a:ln w="9525">
                <a:noFill/>
                <a:round/>
                <a:headEnd/>
                <a:tailEnd/>
              </a:ln>
            </p:spPr>
            <p:txBody>
              <a:bodyPr vert="horz" wrap="square" lIns="82296" tIns="41148" rIns="82296" bIns="41148" numCol="1" anchor="t" anchorCtr="0" compatLnSpc="1">
                <a:prstTxWarp prst="textNoShape">
                  <a:avLst/>
                </a:prstTxWarp>
              </a:bodyPr>
              <a:lstStyle/>
              <a:p>
                <a:pPr algn="ctr" defTabSz="822952"/>
                <a:r>
                  <a:rPr lang="zh-CN" altLang="en-US" dirty="0">
                    <a:latin typeface="SimSun" panose="02010600030101010101" pitchFamily="2" charset="-122"/>
                    <a:ea typeface="SimSun" panose="02010600030101010101" pitchFamily="2" charset="-122"/>
                    <a:cs typeface="宋体" pitchFamily="2" charset="-122"/>
                  </a:rPr>
                  <a:t>产品经理、项目经理</a:t>
                </a:r>
              </a:p>
            </p:txBody>
          </p:sp>
          <p:sp>
            <p:nvSpPr>
              <p:cNvPr id="12" name="AutoShape 12">
                <a:extLst>
                  <a:ext uri="{FF2B5EF4-FFF2-40B4-BE49-F238E27FC236}">
                    <a16:creationId xmlns:a16="http://schemas.microsoft.com/office/drawing/2014/main" id="{4C15EBAC-AC42-27A1-2F95-C089B606C9D2}"/>
                  </a:ext>
                </a:extLst>
              </p:cNvPr>
              <p:cNvSpPr>
                <a:spLocks noChangeArrowheads="1"/>
              </p:cNvSpPr>
              <p:nvPr/>
            </p:nvSpPr>
            <p:spPr bwMode="auto">
              <a:xfrm>
                <a:off x="5346" y="7513"/>
                <a:ext cx="1592" cy="313"/>
              </a:xfrm>
              <a:prstGeom prst="roundRect">
                <a:avLst>
                  <a:gd name="adj" fmla="val 16667"/>
                </a:avLst>
              </a:prstGeom>
              <a:noFill/>
              <a:ln w="9525">
                <a:noFill/>
                <a:round/>
                <a:headEnd/>
                <a:tailEnd/>
              </a:ln>
            </p:spPr>
            <p:txBody>
              <a:bodyPr vert="horz" wrap="square" lIns="82296" tIns="41148" rIns="82296" bIns="41148" numCol="1" anchor="t" anchorCtr="0" compatLnSpc="1">
                <a:prstTxWarp prst="textNoShape">
                  <a:avLst/>
                </a:prstTxWarp>
              </a:bodyPr>
              <a:lstStyle/>
              <a:p>
                <a:pPr algn="ctr" defTabSz="822952"/>
                <a:r>
                  <a:rPr lang="zh-CN" altLang="en-US" dirty="0">
                    <a:latin typeface="SimSun" panose="02010600030101010101" pitchFamily="2" charset="-122"/>
                    <a:ea typeface="SimSun" panose="02010600030101010101" pitchFamily="2" charset="-122"/>
                    <a:cs typeface="宋体" pitchFamily="2" charset="-122"/>
                  </a:rPr>
                  <a:t>开发人员</a:t>
                </a:r>
              </a:p>
            </p:txBody>
          </p:sp>
          <p:cxnSp>
            <p:nvCxnSpPr>
              <p:cNvPr id="14" name="AutoShape 15">
                <a:extLst>
                  <a:ext uri="{FF2B5EF4-FFF2-40B4-BE49-F238E27FC236}">
                    <a16:creationId xmlns:a16="http://schemas.microsoft.com/office/drawing/2014/main" id="{2EAE1370-656E-4622-D076-7A4B7BBC50F7}"/>
                  </a:ext>
                </a:extLst>
              </p:cNvPr>
              <p:cNvCxnSpPr>
                <a:cxnSpLocks noChangeShapeType="1"/>
              </p:cNvCxnSpPr>
              <p:nvPr/>
            </p:nvCxnSpPr>
            <p:spPr bwMode="auto">
              <a:xfrm flipV="1">
                <a:off x="3255" y="5808"/>
                <a:ext cx="420" cy="672"/>
              </a:xfrm>
              <a:prstGeom prst="straightConnector1">
                <a:avLst/>
              </a:prstGeom>
              <a:noFill/>
              <a:ln w="12700">
                <a:solidFill>
                  <a:srgbClr val="000000"/>
                </a:solidFill>
                <a:prstDash val="sysDot"/>
                <a:round/>
                <a:headEnd/>
                <a:tailEnd type="arrow" w="med" len="med"/>
              </a:ln>
            </p:spPr>
          </p:cxnSp>
          <p:cxnSp>
            <p:nvCxnSpPr>
              <p:cNvPr id="15" name="AutoShape 16">
                <a:extLst>
                  <a:ext uri="{FF2B5EF4-FFF2-40B4-BE49-F238E27FC236}">
                    <a16:creationId xmlns:a16="http://schemas.microsoft.com/office/drawing/2014/main" id="{E7FC2A0D-CA99-1E7D-0A32-DA2F506FB05C}"/>
                  </a:ext>
                </a:extLst>
              </p:cNvPr>
              <p:cNvCxnSpPr>
                <a:cxnSpLocks noChangeShapeType="1"/>
              </p:cNvCxnSpPr>
              <p:nvPr/>
            </p:nvCxnSpPr>
            <p:spPr bwMode="auto">
              <a:xfrm flipV="1">
                <a:off x="4455" y="5808"/>
                <a:ext cx="420" cy="672"/>
              </a:xfrm>
              <a:prstGeom prst="straightConnector1">
                <a:avLst/>
              </a:prstGeom>
              <a:noFill/>
              <a:ln w="12700">
                <a:solidFill>
                  <a:srgbClr val="000000"/>
                </a:solidFill>
                <a:prstDash val="sysDot"/>
                <a:round/>
                <a:headEnd/>
                <a:tailEnd type="arrow" w="med" len="med"/>
              </a:ln>
            </p:spPr>
          </p:cxnSp>
          <p:cxnSp>
            <p:nvCxnSpPr>
              <p:cNvPr id="16" name="AutoShape 17">
                <a:extLst>
                  <a:ext uri="{FF2B5EF4-FFF2-40B4-BE49-F238E27FC236}">
                    <a16:creationId xmlns:a16="http://schemas.microsoft.com/office/drawing/2014/main" id="{414E3C96-4EC9-E86D-2697-FBE3C1F20CD1}"/>
                  </a:ext>
                </a:extLst>
              </p:cNvPr>
              <p:cNvCxnSpPr>
                <a:cxnSpLocks noChangeShapeType="1"/>
              </p:cNvCxnSpPr>
              <p:nvPr/>
            </p:nvCxnSpPr>
            <p:spPr bwMode="auto">
              <a:xfrm flipV="1">
                <a:off x="6750" y="5808"/>
                <a:ext cx="420" cy="672"/>
              </a:xfrm>
              <a:prstGeom prst="straightConnector1">
                <a:avLst/>
              </a:prstGeom>
              <a:noFill/>
              <a:ln w="12700">
                <a:solidFill>
                  <a:srgbClr val="000000"/>
                </a:solidFill>
                <a:prstDash val="sysDot"/>
                <a:round/>
                <a:headEnd/>
                <a:tailEnd type="arrow" w="med" len="med"/>
              </a:ln>
            </p:spPr>
          </p:cxnSp>
          <p:cxnSp>
            <p:nvCxnSpPr>
              <p:cNvPr id="17" name="AutoShape 18">
                <a:extLst>
                  <a:ext uri="{FF2B5EF4-FFF2-40B4-BE49-F238E27FC236}">
                    <a16:creationId xmlns:a16="http://schemas.microsoft.com/office/drawing/2014/main" id="{54AF92D7-1CDF-C65C-89F5-AB0092B70E7F}"/>
                  </a:ext>
                </a:extLst>
              </p:cNvPr>
              <p:cNvCxnSpPr>
                <a:cxnSpLocks noChangeShapeType="1"/>
              </p:cNvCxnSpPr>
              <p:nvPr/>
            </p:nvCxnSpPr>
            <p:spPr bwMode="auto">
              <a:xfrm flipV="1">
                <a:off x="8085" y="5808"/>
                <a:ext cx="420" cy="672"/>
              </a:xfrm>
              <a:prstGeom prst="straightConnector1">
                <a:avLst/>
              </a:prstGeom>
              <a:noFill/>
              <a:ln w="12700">
                <a:solidFill>
                  <a:srgbClr val="000000"/>
                </a:solidFill>
                <a:prstDash val="sysDot"/>
                <a:round/>
                <a:headEnd/>
                <a:tailEnd type="arrow" w="med" len="med"/>
              </a:ln>
            </p:spPr>
          </p:cxnSp>
          <p:cxnSp>
            <p:nvCxnSpPr>
              <p:cNvPr id="18" name="AutoShape 19">
                <a:extLst>
                  <a:ext uri="{FF2B5EF4-FFF2-40B4-BE49-F238E27FC236}">
                    <a16:creationId xmlns:a16="http://schemas.microsoft.com/office/drawing/2014/main" id="{1A49EEE1-6B5D-EE5C-41B1-01B06CFFDC21}"/>
                  </a:ext>
                </a:extLst>
              </p:cNvPr>
              <p:cNvCxnSpPr>
                <a:cxnSpLocks noChangeShapeType="1"/>
              </p:cNvCxnSpPr>
              <p:nvPr/>
            </p:nvCxnSpPr>
            <p:spPr bwMode="auto">
              <a:xfrm>
                <a:off x="4455" y="6960"/>
                <a:ext cx="223" cy="558"/>
              </a:xfrm>
              <a:prstGeom prst="straightConnector1">
                <a:avLst/>
              </a:prstGeom>
              <a:noFill/>
              <a:ln w="12700">
                <a:solidFill>
                  <a:srgbClr val="000000"/>
                </a:solidFill>
                <a:prstDash val="sysDot"/>
                <a:round/>
                <a:headEnd/>
                <a:tailEnd type="arrow" w="med" len="med"/>
              </a:ln>
            </p:spPr>
          </p:cxnSp>
          <p:cxnSp>
            <p:nvCxnSpPr>
              <p:cNvPr id="19" name="AutoShape 20">
                <a:extLst>
                  <a:ext uri="{FF2B5EF4-FFF2-40B4-BE49-F238E27FC236}">
                    <a16:creationId xmlns:a16="http://schemas.microsoft.com/office/drawing/2014/main" id="{8A410EE3-F2F7-E1B2-C620-714797DC3133}"/>
                  </a:ext>
                </a:extLst>
              </p:cNvPr>
              <p:cNvCxnSpPr>
                <a:cxnSpLocks noChangeShapeType="1"/>
              </p:cNvCxnSpPr>
              <p:nvPr/>
            </p:nvCxnSpPr>
            <p:spPr bwMode="auto">
              <a:xfrm>
                <a:off x="5610" y="6960"/>
                <a:ext cx="223" cy="558"/>
              </a:xfrm>
              <a:prstGeom prst="straightConnector1">
                <a:avLst/>
              </a:prstGeom>
              <a:noFill/>
              <a:ln w="12700">
                <a:solidFill>
                  <a:srgbClr val="000000"/>
                </a:solidFill>
                <a:prstDash val="sysDot"/>
                <a:round/>
                <a:headEnd/>
                <a:tailEnd type="arrow" w="med" len="med"/>
              </a:ln>
            </p:spPr>
          </p:cxnSp>
          <p:cxnSp>
            <p:nvCxnSpPr>
              <p:cNvPr id="20" name="AutoShape 21">
                <a:extLst>
                  <a:ext uri="{FF2B5EF4-FFF2-40B4-BE49-F238E27FC236}">
                    <a16:creationId xmlns:a16="http://schemas.microsoft.com/office/drawing/2014/main" id="{DAE4C5D8-1C82-158C-0755-66AC9F037CAD}"/>
                  </a:ext>
                </a:extLst>
              </p:cNvPr>
              <p:cNvCxnSpPr>
                <a:cxnSpLocks noChangeShapeType="1"/>
              </p:cNvCxnSpPr>
              <p:nvPr/>
            </p:nvCxnSpPr>
            <p:spPr bwMode="auto">
              <a:xfrm>
                <a:off x="6750" y="6960"/>
                <a:ext cx="223" cy="558"/>
              </a:xfrm>
              <a:prstGeom prst="straightConnector1">
                <a:avLst/>
              </a:prstGeom>
              <a:noFill/>
              <a:ln w="12700">
                <a:solidFill>
                  <a:srgbClr val="000000"/>
                </a:solidFill>
                <a:prstDash val="sysDot"/>
                <a:round/>
                <a:headEnd/>
                <a:tailEnd type="arrow" w="med" len="med"/>
              </a:ln>
            </p:spPr>
          </p:cxnSp>
          <p:cxnSp>
            <p:nvCxnSpPr>
              <p:cNvPr id="21" name="AutoShape 22">
                <a:extLst>
                  <a:ext uri="{FF2B5EF4-FFF2-40B4-BE49-F238E27FC236}">
                    <a16:creationId xmlns:a16="http://schemas.microsoft.com/office/drawing/2014/main" id="{A5534F5D-D30A-3476-CE7E-8FA85B93AF42}"/>
                  </a:ext>
                </a:extLst>
              </p:cNvPr>
              <p:cNvCxnSpPr>
                <a:cxnSpLocks noChangeShapeType="1"/>
              </p:cNvCxnSpPr>
              <p:nvPr/>
            </p:nvCxnSpPr>
            <p:spPr bwMode="auto">
              <a:xfrm>
                <a:off x="8160" y="6960"/>
                <a:ext cx="223" cy="558"/>
              </a:xfrm>
              <a:prstGeom prst="straightConnector1">
                <a:avLst/>
              </a:prstGeom>
              <a:noFill/>
              <a:ln w="12700">
                <a:solidFill>
                  <a:srgbClr val="000000"/>
                </a:solidFill>
                <a:prstDash val="sysDot"/>
                <a:round/>
                <a:headEnd/>
                <a:tailEnd type="arrow" w="med" len="med"/>
              </a:ln>
            </p:spPr>
          </p:cxnSp>
          <p:sp>
            <p:nvSpPr>
              <p:cNvPr id="22" name="AutoShape 23">
                <a:extLst>
                  <a:ext uri="{FF2B5EF4-FFF2-40B4-BE49-F238E27FC236}">
                    <a16:creationId xmlns:a16="http://schemas.microsoft.com/office/drawing/2014/main" id="{1D5D13F5-B479-9620-A863-FC31D1BE531A}"/>
                  </a:ext>
                </a:extLst>
              </p:cNvPr>
              <p:cNvSpPr>
                <a:spLocks noChangeArrowheads="1"/>
              </p:cNvSpPr>
              <p:nvPr/>
            </p:nvSpPr>
            <p:spPr bwMode="auto">
              <a:xfrm>
                <a:off x="4606" y="5891"/>
                <a:ext cx="2582" cy="480"/>
              </a:xfrm>
              <a:prstGeom prst="roundRect">
                <a:avLst>
                  <a:gd name="adj" fmla="val 16667"/>
                </a:avLst>
              </a:prstGeom>
              <a:noFill/>
              <a:ln w="9525">
                <a:noFill/>
                <a:round/>
                <a:headEnd/>
                <a:tailEnd/>
              </a:ln>
            </p:spPr>
            <p:txBody>
              <a:bodyPr vert="horz" wrap="square" lIns="82296" tIns="41148" rIns="82296" bIns="41148" numCol="1" anchor="t" anchorCtr="0" compatLnSpc="1">
                <a:prstTxWarp prst="textNoShape">
                  <a:avLst/>
                </a:prstTxWarp>
              </a:bodyPr>
              <a:lstStyle/>
              <a:p>
                <a:pPr algn="ctr" defTabSz="822952"/>
                <a:r>
                  <a:rPr lang="zh-CN" altLang="en-US" sz="2160" b="1" dirty="0">
                    <a:solidFill>
                      <a:srgbClr val="00B050"/>
                    </a:solidFill>
                    <a:latin typeface="Calibri" pitchFamily="34" charset="0"/>
                    <a:cs typeface="宋体" pitchFamily="2" charset="-122"/>
                  </a:rPr>
                  <a:t>持续反馈质量风险</a:t>
                </a:r>
                <a:endParaRPr lang="zh-CN" altLang="en-US" sz="2160" dirty="0">
                  <a:solidFill>
                    <a:srgbClr val="00B050"/>
                  </a:solidFill>
                  <a:latin typeface="Arial" pitchFamily="34" charset="0"/>
                  <a:cs typeface="宋体" pitchFamily="2" charset="-122"/>
                </a:endParaRPr>
              </a:p>
            </p:txBody>
          </p:sp>
          <p:sp>
            <p:nvSpPr>
              <p:cNvPr id="23" name="AutoShape 24">
                <a:extLst>
                  <a:ext uri="{FF2B5EF4-FFF2-40B4-BE49-F238E27FC236}">
                    <a16:creationId xmlns:a16="http://schemas.microsoft.com/office/drawing/2014/main" id="{773CC73F-F35F-FE00-4B69-F745A66FB098}"/>
                  </a:ext>
                </a:extLst>
              </p:cNvPr>
              <p:cNvSpPr>
                <a:spLocks noChangeArrowheads="1"/>
              </p:cNvSpPr>
              <p:nvPr/>
            </p:nvSpPr>
            <p:spPr bwMode="auto">
              <a:xfrm>
                <a:off x="4659" y="7043"/>
                <a:ext cx="2623" cy="480"/>
              </a:xfrm>
              <a:prstGeom prst="roundRect">
                <a:avLst>
                  <a:gd name="adj" fmla="val 16667"/>
                </a:avLst>
              </a:prstGeom>
              <a:noFill/>
              <a:ln w="9525">
                <a:noFill/>
                <a:round/>
                <a:headEnd/>
                <a:tailEnd/>
              </a:ln>
            </p:spPr>
            <p:txBody>
              <a:bodyPr vert="horz" wrap="square" lIns="82296" tIns="41148" rIns="82296" bIns="41148" numCol="1" anchor="t" anchorCtr="0" compatLnSpc="1">
                <a:prstTxWarp prst="textNoShape">
                  <a:avLst/>
                </a:prstTxWarp>
              </a:bodyPr>
              <a:lstStyle/>
              <a:p>
                <a:pPr algn="ctr" defTabSz="822952"/>
                <a:r>
                  <a:rPr lang="zh-CN" altLang="en-US" sz="2160" b="1" dirty="0">
                    <a:solidFill>
                      <a:srgbClr val="00B050"/>
                    </a:solidFill>
                    <a:latin typeface="Calibri" pitchFamily="34" charset="0"/>
                    <a:cs typeface="宋体" pitchFamily="2" charset="-122"/>
                  </a:rPr>
                  <a:t>持续反馈质量风险</a:t>
                </a:r>
                <a:endParaRPr lang="zh-CN" altLang="en-US" sz="2160" dirty="0">
                  <a:solidFill>
                    <a:srgbClr val="00B050"/>
                  </a:solidFill>
                  <a:latin typeface="Arial" pitchFamily="34" charset="0"/>
                  <a:cs typeface="宋体" pitchFamily="2" charset="-122"/>
                </a:endParaRPr>
              </a:p>
            </p:txBody>
          </p:sp>
        </p:grpSp>
        <p:sp>
          <p:nvSpPr>
            <p:cNvPr id="13" name="文本框 12">
              <a:extLst>
                <a:ext uri="{FF2B5EF4-FFF2-40B4-BE49-F238E27FC236}">
                  <a16:creationId xmlns:a16="http://schemas.microsoft.com/office/drawing/2014/main" id="{9D63FA41-A809-DC5A-C806-7CDD019ABAC2}"/>
                </a:ext>
              </a:extLst>
            </p:cNvPr>
            <p:cNvSpPr txBox="1"/>
            <p:nvPr/>
          </p:nvSpPr>
          <p:spPr>
            <a:xfrm>
              <a:off x="582402" y="3509438"/>
              <a:ext cx="800219" cy="461665"/>
            </a:xfrm>
            <a:prstGeom prst="rect">
              <a:avLst/>
            </a:prstGeom>
            <a:noFill/>
          </p:spPr>
          <p:txBody>
            <a:bodyPr wrap="none" rtlCol="0">
              <a:spAutoFit/>
            </a:bodyPr>
            <a:lstStyle/>
            <a:p>
              <a:r>
                <a:rPr kumimoji="1" lang="zh-CN" altLang="en-US" sz="2400" dirty="0">
                  <a:solidFill>
                    <a:srgbClr val="FF0000"/>
                  </a:solidFill>
                  <a:latin typeface="Microsoft YaHei" panose="020B0503020204020204" pitchFamily="34" charset="-122"/>
                  <a:ea typeface="Microsoft YaHei" panose="020B0503020204020204" pitchFamily="34" charset="-122"/>
                </a:rPr>
                <a:t>测试</a:t>
              </a:r>
            </a:p>
          </p:txBody>
        </p:sp>
        <p:sp>
          <p:nvSpPr>
            <p:cNvPr id="24" name="文本框 23">
              <a:extLst>
                <a:ext uri="{FF2B5EF4-FFF2-40B4-BE49-F238E27FC236}">
                  <a16:creationId xmlns:a16="http://schemas.microsoft.com/office/drawing/2014/main" id="{9D284F83-A91B-E55C-7AA0-6D6A8CBB6A54}"/>
                </a:ext>
              </a:extLst>
            </p:cNvPr>
            <p:cNvSpPr txBox="1"/>
            <p:nvPr/>
          </p:nvSpPr>
          <p:spPr>
            <a:xfrm>
              <a:off x="7858814" y="3509438"/>
              <a:ext cx="800219" cy="461665"/>
            </a:xfrm>
            <a:prstGeom prst="rect">
              <a:avLst/>
            </a:prstGeom>
            <a:noFill/>
          </p:spPr>
          <p:txBody>
            <a:bodyPr wrap="none" rtlCol="0">
              <a:spAutoFit/>
            </a:bodyPr>
            <a:lstStyle/>
            <a:p>
              <a:r>
                <a:rPr kumimoji="1" lang="zh-CN" altLang="en-US" sz="2400" dirty="0">
                  <a:solidFill>
                    <a:srgbClr val="FF0000"/>
                  </a:solidFill>
                  <a:latin typeface="Microsoft YaHei" panose="020B0503020204020204" pitchFamily="34" charset="-122"/>
                  <a:ea typeface="Microsoft YaHei" panose="020B0503020204020204" pitchFamily="34" charset="-122"/>
                </a:rPr>
                <a:t>交付</a:t>
              </a:r>
            </a:p>
          </p:txBody>
        </p:sp>
      </p:grpSp>
    </p:spTree>
    <p:extLst>
      <p:ext uri="{BB962C8B-B14F-4D97-AF65-F5344CB8AC3E}">
        <p14:creationId xmlns:p14="http://schemas.microsoft.com/office/powerpoint/2010/main" val="408304562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p:tgtEl>
                                          <p:spTgt spid="25"/>
                                        </p:tgtEl>
                                        <p:attrNameLst>
                                          <p:attrName>ppt_x</p:attrName>
                                        </p:attrNameLst>
                                      </p:cBhvr>
                                      <p:tavLst>
                                        <p:tav tm="0">
                                          <p:val>
                                            <p:strVal val="#ppt_x-#ppt_w*1.125000"/>
                                          </p:val>
                                        </p:tav>
                                        <p:tav tm="100000">
                                          <p:val>
                                            <p:strVal val="#ppt_x"/>
                                          </p:val>
                                        </p:tav>
                                      </p:tavLst>
                                    </p:anim>
                                    <p:animEffect transition="in" filter="wipe(right)">
                                      <p:cBhvr>
                                        <p:cTn id="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itle 1"/>
          <p:cNvSpPr>
            <a:spLocks noGrp="1"/>
          </p:cNvSpPr>
          <p:nvPr>
            <p:ph type="title"/>
          </p:nvPr>
        </p:nvSpPr>
        <p:spPr>
          <a:xfrm>
            <a:off x="495300" y="148544"/>
            <a:ext cx="7715250" cy="753061"/>
          </a:xfrm>
        </p:spPr>
        <p:txBody>
          <a:bodyPr/>
          <a:lstStyle/>
          <a:p>
            <a:r>
              <a:rPr kumimoji="1" lang="zh-CN" altLang="en-US" dirty="0">
                <a:latin typeface="微软雅黑" panose="020B0503020204020204" pitchFamily="34" charset="-122"/>
                <a:ea typeface="微软雅黑" panose="020B0503020204020204" pitchFamily="34" charset="-122"/>
              </a:rPr>
              <a:t>从经济视角认知软件测试</a:t>
            </a:r>
          </a:p>
        </p:txBody>
      </p:sp>
      <p:sp>
        <p:nvSpPr>
          <p:cNvPr id="33795" name="Content Placeholder 2"/>
          <p:cNvSpPr>
            <a:spLocks noGrp="1"/>
          </p:cNvSpPr>
          <p:nvPr>
            <p:ph idx="4294967295"/>
          </p:nvPr>
        </p:nvSpPr>
        <p:spPr>
          <a:xfrm>
            <a:off x="648388" y="901605"/>
            <a:ext cx="7847223" cy="1296237"/>
          </a:xfrm>
        </p:spPr>
        <p:txBody>
          <a:bodyPr/>
          <a:lstStyle/>
          <a:p>
            <a:pPr marL="0" indent="0" eaLnBrk="0" hangingPunct="0">
              <a:lnSpc>
                <a:spcPct val="130000"/>
              </a:lnSpc>
              <a:buClr>
                <a:schemeClr val="accent1">
                  <a:lumMod val="50000"/>
                </a:schemeClr>
              </a:buClr>
              <a:buSzPct val="90000"/>
              <a:buNone/>
              <a:defRPr/>
            </a:pPr>
            <a:r>
              <a:rPr lang="zh-CN" altLang="en-US" sz="1800" b="1" u="sng" dirty="0">
                <a:solidFill>
                  <a:srgbClr val="3366FF"/>
                </a:solidFill>
                <a:ea typeface="楷体"/>
                <a:cs typeface="楷体"/>
              </a:rPr>
              <a:t>测试的经济观点</a:t>
            </a:r>
            <a:r>
              <a:rPr lang="zh-CN" altLang="en-US" sz="1800" dirty="0">
                <a:ea typeface="楷体"/>
                <a:cs typeface="楷体"/>
              </a:rPr>
              <a:t>就是以最小的代价获得最高的软件产品质量。经济观点也要求软件测试尽早开展工作，发现缺陷越早，返工的工作量就越小，所造成的损失就越小。测试的成本</a:t>
            </a:r>
            <a:r>
              <a:rPr lang="en-US" altLang="zh-CN" sz="1800" dirty="0">
                <a:ea typeface="楷体"/>
                <a:cs typeface="楷体"/>
              </a:rPr>
              <a:t>&lt; </a:t>
            </a:r>
            <a:r>
              <a:rPr lang="zh-CN" altLang="en-US" sz="1800" dirty="0">
                <a:ea typeface="楷体"/>
                <a:cs typeface="楷体"/>
              </a:rPr>
              <a:t>缺陷造成的损失，测试才有意义。</a:t>
            </a:r>
          </a:p>
        </p:txBody>
      </p:sp>
      <p:pic>
        <p:nvPicPr>
          <p:cNvPr id="1026" name="Picture 2" descr="查看源图像">
            <a:extLst>
              <a:ext uri="{FF2B5EF4-FFF2-40B4-BE49-F238E27FC236}">
                <a16:creationId xmlns:a16="http://schemas.microsoft.com/office/drawing/2014/main" id="{0C2D3FF7-5F95-F429-9AF2-6A36940A7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3075" y="2074127"/>
            <a:ext cx="5366498" cy="2920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85741"/>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zh-CN" altLang="zh-CN" dirty="0"/>
              <a:t>基于</a:t>
            </a:r>
            <a:r>
              <a:rPr lang="en-US" altLang="zh-CN" dirty="0"/>
              <a:t>Test Oracle</a:t>
            </a:r>
            <a:r>
              <a:rPr lang="zh-CN" altLang="zh-CN" dirty="0"/>
              <a:t> </a:t>
            </a:r>
            <a:r>
              <a:rPr lang="zh-CN" altLang="en-US" dirty="0">
                <a:effectLst/>
              </a:rPr>
              <a:t>的认知</a:t>
            </a:r>
            <a:endParaRPr kumimoji="1" lang="zh-CN" altLang="en-US" dirty="0"/>
          </a:p>
        </p:txBody>
      </p:sp>
      <p:pic>
        <p:nvPicPr>
          <p:cNvPr id="4" name="图片 3">
            <a:extLst>
              <a:ext uri="{FF2B5EF4-FFF2-40B4-BE49-F238E27FC236}">
                <a16:creationId xmlns:a16="http://schemas.microsoft.com/office/drawing/2014/main" id="{84A13026-C7A2-49FF-E3C8-CF143465D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107" y="2132051"/>
            <a:ext cx="7357004" cy="2605518"/>
          </a:xfrm>
          <a:prstGeom prst="rect">
            <a:avLst/>
          </a:prstGeom>
        </p:spPr>
      </p:pic>
      <p:sp>
        <p:nvSpPr>
          <p:cNvPr id="7" name="文本框 6">
            <a:extLst>
              <a:ext uri="{FF2B5EF4-FFF2-40B4-BE49-F238E27FC236}">
                <a16:creationId xmlns:a16="http://schemas.microsoft.com/office/drawing/2014/main" id="{FE9D703C-1428-4E76-9D4B-424F40CA82C5}"/>
              </a:ext>
            </a:extLst>
          </p:cNvPr>
          <p:cNvSpPr txBox="1"/>
          <p:nvPr/>
        </p:nvSpPr>
        <p:spPr>
          <a:xfrm>
            <a:off x="6631128" y="980089"/>
            <a:ext cx="2256394" cy="707886"/>
          </a:xfrm>
          <a:prstGeom prst="rect">
            <a:avLst/>
          </a:prstGeom>
          <a:noFill/>
        </p:spPr>
        <p:txBody>
          <a:bodyPr wrap="square">
            <a:spAutoFit/>
          </a:bodyPr>
          <a:lstStyle/>
          <a:p>
            <a:r>
              <a:rPr lang="zh-CN" altLang="en-US" sz="2000" b="1" kern="100" dirty="0">
                <a:solidFill>
                  <a:srgbClr val="00B0F0"/>
                </a:solidFill>
                <a:effectLst/>
                <a:latin typeface="Times New Roman" panose="02020603050405020304" pitchFamily="18" charset="0"/>
                <a:ea typeface="宋体" panose="02010600030101010101" pitchFamily="2" charset="-122"/>
                <a:cs typeface="Times New Roman" panose="02020603050405020304" pitchFamily="18" charset="0"/>
              </a:rPr>
              <a:t>输出结果是否正确，需要判断准则</a:t>
            </a:r>
            <a:endParaRPr lang="zh-CN" altLang="en-US" sz="2000" dirty="0"/>
          </a:p>
        </p:txBody>
      </p:sp>
      <p:cxnSp>
        <p:nvCxnSpPr>
          <p:cNvPr id="6" name="直线箭头连接符 5">
            <a:extLst>
              <a:ext uri="{FF2B5EF4-FFF2-40B4-BE49-F238E27FC236}">
                <a16:creationId xmlns:a16="http://schemas.microsoft.com/office/drawing/2014/main" id="{5B2D3C73-C848-7E24-D881-D1A7BA5F603B}"/>
              </a:ext>
            </a:extLst>
          </p:cNvPr>
          <p:cNvCxnSpPr>
            <a:cxnSpLocks/>
          </p:cNvCxnSpPr>
          <p:nvPr/>
        </p:nvCxnSpPr>
        <p:spPr>
          <a:xfrm flipH="1">
            <a:off x="6545766" y="1687975"/>
            <a:ext cx="568712" cy="564571"/>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307229"/>
      </p:ext>
    </p:extLst>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zh-CN" altLang="zh-CN" dirty="0"/>
              <a:t>基于</a:t>
            </a:r>
            <a:r>
              <a:rPr lang="zh-CN" altLang="en-US" dirty="0"/>
              <a:t>批判性思维</a:t>
            </a:r>
            <a:r>
              <a:rPr lang="zh-CN" altLang="en-US" dirty="0">
                <a:effectLst/>
              </a:rPr>
              <a:t>的认知</a:t>
            </a:r>
            <a:endParaRPr kumimoji="1" lang="zh-CN" altLang="en-US" dirty="0"/>
          </a:p>
        </p:txBody>
      </p:sp>
      <p:sp>
        <p:nvSpPr>
          <p:cNvPr id="6" name="文本框 5">
            <a:extLst>
              <a:ext uri="{FF2B5EF4-FFF2-40B4-BE49-F238E27FC236}">
                <a16:creationId xmlns:a16="http://schemas.microsoft.com/office/drawing/2014/main" id="{D48A9B54-F99A-840E-693F-04E44103F0A1}"/>
              </a:ext>
            </a:extLst>
          </p:cNvPr>
          <p:cNvSpPr txBox="1"/>
          <p:nvPr/>
        </p:nvSpPr>
        <p:spPr>
          <a:xfrm>
            <a:off x="676781" y="976223"/>
            <a:ext cx="7790437" cy="646331"/>
          </a:xfrm>
          <a:prstGeom prst="rect">
            <a:avLst/>
          </a:prstGeom>
          <a:noFill/>
        </p:spPr>
        <p:txBody>
          <a:bodyPr wrap="square">
            <a:spAutoFit/>
          </a:bodyPr>
          <a:lstStyle/>
          <a:p>
            <a:r>
              <a:rPr lang="zh-CN" altLang="zh-CN" sz="1800" b="1" dirty="0">
                <a:effectLst/>
                <a:ea typeface="DengXian" panose="02010600030101010101" pitchFamily="2" charset="-122"/>
                <a:cs typeface="MS Mincho" panose="02020609040205080304" pitchFamily="49" charset="-128"/>
              </a:rPr>
              <a:t>软件测试就是</a:t>
            </a:r>
            <a:r>
              <a:rPr lang="zh-CN" altLang="zh-CN" sz="1800" b="1" dirty="0">
                <a:effectLst/>
                <a:ea typeface="MS Mincho" panose="02020609040205080304" pitchFamily="49" charset="-128"/>
                <a:cs typeface="MS Mincho" panose="02020609040205080304" pitchFamily="49" charset="-128"/>
              </a:rPr>
              <a:t>借助</a:t>
            </a:r>
            <a:r>
              <a:rPr lang="zh-CN" altLang="zh-CN" sz="1800" b="1" dirty="0">
                <a:effectLst/>
                <a:ea typeface="宋体" panose="02010600030101010101" pitchFamily="2" charset="-122"/>
                <a:cs typeface="宋体" panose="02010600030101010101" pitchFamily="2" charset="-122"/>
              </a:rPr>
              <a:t>观</a:t>
            </a:r>
            <a:r>
              <a:rPr lang="zh-CN" altLang="zh-CN" sz="1800" b="1" dirty="0">
                <a:effectLst/>
                <a:ea typeface="MS Mincho" panose="02020609040205080304" pitchFamily="49" charset="-128"/>
                <a:cs typeface="MS Mincho" panose="02020609040205080304" pitchFamily="49" charset="-128"/>
              </a:rPr>
              <a:t>察、</a:t>
            </a:r>
            <a:r>
              <a:rPr lang="zh-CN" altLang="zh-CN" sz="1800" b="1" dirty="0">
                <a:effectLst/>
                <a:ea typeface="宋体" panose="02010600030101010101" pitchFamily="2" charset="-122"/>
                <a:cs typeface="宋体" panose="02010600030101010101" pitchFamily="2" charset="-122"/>
              </a:rPr>
              <a:t>经验</a:t>
            </a:r>
            <a:r>
              <a:rPr lang="zh-CN" altLang="zh-CN" sz="1800" b="1" dirty="0">
                <a:effectLst/>
                <a:ea typeface="MS Mincho" panose="02020609040205080304" pitchFamily="49" charset="-128"/>
                <a:cs typeface="MS Mincho" panose="02020609040205080304" pitchFamily="49" charset="-128"/>
              </a:rPr>
              <a:t>、反思、推理或沟通等收集信息，并</a:t>
            </a:r>
            <a:r>
              <a:rPr lang="zh-CN" altLang="zh-CN" sz="1800" b="1" dirty="0">
                <a:effectLst/>
                <a:ea typeface="宋体" panose="02010600030101010101" pitchFamily="2" charset="-122"/>
                <a:cs typeface="宋体" panose="02010600030101010101" pitchFamily="2" charset="-122"/>
              </a:rPr>
              <a:t>对软件产品相关的质量信息进行</a:t>
            </a:r>
            <a:r>
              <a:rPr lang="zh-CN" altLang="zh-CN" sz="1800" b="1" dirty="0">
                <a:effectLst/>
                <a:ea typeface="MS Mincho" panose="02020609040205080304" pitchFamily="49" charset="-128"/>
                <a:cs typeface="MS Mincho" panose="02020609040205080304" pitchFamily="49" charset="-128"/>
              </a:rPr>
              <a:t>分析</a:t>
            </a:r>
            <a:r>
              <a:rPr lang="zh-CN" altLang="zh-CN" sz="1800" b="1" dirty="0">
                <a:effectLst/>
                <a:latin typeface="MS Mincho" panose="02020609040205080304" pitchFamily="49" charset="-128"/>
                <a:ea typeface="DengXian" panose="02010600030101010101" pitchFamily="2" charset="-122"/>
                <a:cs typeface="MS Mincho" panose="02020609040205080304" pitchFamily="49" charset="-128"/>
              </a:rPr>
              <a:t>，以此评估软件质量，并做出结论</a:t>
            </a:r>
            <a:r>
              <a:rPr lang="zh-CN" altLang="zh-CN" dirty="0">
                <a:effectLst/>
              </a:rPr>
              <a:t> </a:t>
            </a:r>
            <a:endParaRPr lang="zh-CN" altLang="en-US" dirty="0"/>
          </a:p>
        </p:txBody>
      </p:sp>
      <p:grpSp>
        <p:nvGrpSpPr>
          <p:cNvPr id="5" name="组合 4">
            <a:extLst>
              <a:ext uri="{FF2B5EF4-FFF2-40B4-BE49-F238E27FC236}">
                <a16:creationId xmlns:a16="http://schemas.microsoft.com/office/drawing/2014/main" id="{42E6638D-BE19-C8AF-7893-68A5808523E8}"/>
              </a:ext>
            </a:extLst>
          </p:cNvPr>
          <p:cNvGrpSpPr/>
          <p:nvPr/>
        </p:nvGrpSpPr>
        <p:grpSpPr>
          <a:xfrm>
            <a:off x="1231614" y="2299460"/>
            <a:ext cx="6580837" cy="2442973"/>
            <a:chOff x="1231614" y="1986152"/>
            <a:chExt cx="6580837" cy="2442973"/>
          </a:xfrm>
        </p:grpSpPr>
        <p:pic>
          <p:nvPicPr>
            <p:cNvPr id="7" name="图片 6">
              <a:extLst>
                <a:ext uri="{FF2B5EF4-FFF2-40B4-BE49-F238E27FC236}">
                  <a16:creationId xmlns:a16="http://schemas.microsoft.com/office/drawing/2014/main" id="{E6CE139F-052A-85D9-1471-04678832B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548" y="1986152"/>
              <a:ext cx="6480903" cy="2442973"/>
            </a:xfrm>
            <a:prstGeom prst="rect">
              <a:avLst/>
            </a:prstGeom>
          </p:spPr>
        </p:pic>
        <p:pic>
          <p:nvPicPr>
            <p:cNvPr id="4" name="图片 3">
              <a:extLst>
                <a:ext uri="{FF2B5EF4-FFF2-40B4-BE49-F238E27FC236}">
                  <a16:creationId xmlns:a16="http://schemas.microsoft.com/office/drawing/2014/main" id="{8DE56F78-8007-3F7A-0925-0B76244E9105}"/>
                </a:ext>
              </a:extLst>
            </p:cNvPr>
            <p:cNvPicPr>
              <a:picLocks noChangeAspect="1"/>
            </p:cNvPicPr>
            <p:nvPr/>
          </p:nvPicPr>
          <p:blipFill>
            <a:blip r:embed="rId3"/>
            <a:stretch>
              <a:fillRect/>
            </a:stretch>
          </p:blipFill>
          <p:spPr>
            <a:xfrm>
              <a:off x="1231614" y="1986152"/>
              <a:ext cx="1276696" cy="1693750"/>
            </a:xfrm>
            <a:prstGeom prst="rect">
              <a:avLst/>
            </a:prstGeom>
          </p:spPr>
        </p:pic>
      </p:grpSp>
      <p:sp>
        <p:nvSpPr>
          <p:cNvPr id="3" name="文本框 2">
            <a:extLst>
              <a:ext uri="{FF2B5EF4-FFF2-40B4-BE49-F238E27FC236}">
                <a16:creationId xmlns:a16="http://schemas.microsoft.com/office/drawing/2014/main" id="{AF3ECC10-BFEF-F3CF-7802-8DDB6C0FFBE2}"/>
              </a:ext>
            </a:extLst>
          </p:cNvPr>
          <p:cNvSpPr txBox="1"/>
          <p:nvPr/>
        </p:nvSpPr>
        <p:spPr>
          <a:xfrm>
            <a:off x="5869372" y="1609444"/>
            <a:ext cx="1800493" cy="369332"/>
          </a:xfrm>
          <a:prstGeom prst="rect">
            <a:avLst/>
          </a:prstGeom>
          <a:noFill/>
        </p:spPr>
        <p:txBody>
          <a:bodyPr wrap="none" rtlCol="0">
            <a:spAutoFit/>
          </a:bodyPr>
          <a:lstStyle/>
          <a:p>
            <a:r>
              <a:rPr kumimoji="1" lang="zh-CN" altLang="en-US" dirty="0">
                <a:solidFill>
                  <a:schemeClr val="accent2">
                    <a:lumMod val="75000"/>
                  </a:schemeClr>
                </a:solidFill>
                <a:latin typeface="Microsoft YaHei" panose="020B0503020204020204" pitchFamily="34" charset="-122"/>
                <a:ea typeface="Microsoft YaHei" panose="020B0503020204020204" pitchFamily="34" charset="-122"/>
              </a:rPr>
              <a:t>不断探索的过程</a:t>
            </a:r>
          </a:p>
        </p:txBody>
      </p:sp>
      <p:cxnSp>
        <p:nvCxnSpPr>
          <p:cNvPr id="8" name="直线箭头连接符 7">
            <a:extLst>
              <a:ext uri="{FF2B5EF4-FFF2-40B4-BE49-F238E27FC236}">
                <a16:creationId xmlns:a16="http://schemas.microsoft.com/office/drawing/2014/main" id="{39AE43D8-2518-D25D-51F7-4A9570B89532}"/>
              </a:ext>
            </a:extLst>
          </p:cNvPr>
          <p:cNvCxnSpPr>
            <a:cxnSpLocks/>
          </p:cNvCxnSpPr>
          <p:nvPr/>
        </p:nvCxnSpPr>
        <p:spPr>
          <a:xfrm flipH="1">
            <a:off x="4404732" y="1943238"/>
            <a:ext cx="1550019" cy="487728"/>
          </a:xfrm>
          <a:prstGeom prst="straightConnector1">
            <a:avLst/>
          </a:prstGeom>
          <a:ln w="19050">
            <a:solidFill>
              <a:schemeClr val="accent2">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1733042"/>
      </p:ext>
    </p:extLst>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fontScale="90000"/>
          </a:bodyPr>
          <a:lstStyle/>
          <a:p>
            <a:r>
              <a:rPr lang="en-US" altLang="zh-CN" sz="4800" b="1" dirty="0">
                <a:solidFill>
                  <a:schemeClr val="accent2">
                    <a:lumMod val="75000"/>
                  </a:schemeClr>
                </a:solidFill>
              </a:rPr>
              <a:t>1.4</a:t>
            </a:r>
            <a:r>
              <a:rPr lang="zh-CN" altLang="en-US" sz="4800" b="1" dirty="0">
                <a:solidFill>
                  <a:schemeClr val="accent2">
                    <a:lumMod val="75000"/>
                  </a:schemeClr>
                </a:solidFill>
              </a:rPr>
              <a:t> </a:t>
            </a:r>
            <a:r>
              <a:rPr lang="zh-CN" altLang="en-US" sz="4800" b="1" dirty="0">
                <a:solidFill>
                  <a:schemeClr val="accent2">
                    <a:lumMod val="75000"/>
                  </a:schemeClr>
                </a:solidFill>
                <a:sym typeface="+mn-ea"/>
              </a:rPr>
              <a:t>测试与质量保证的关系</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3564425242"/>
      </p:ext>
    </p:extLst>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DBA7EA-E9CA-B1D9-DAA6-4BDC45A9D09A}"/>
              </a:ext>
            </a:extLst>
          </p:cNvPr>
          <p:cNvSpPr>
            <a:spLocks noGrp="1"/>
          </p:cNvSpPr>
          <p:nvPr>
            <p:ph type="title"/>
          </p:nvPr>
        </p:nvSpPr>
        <p:spPr/>
        <p:txBody>
          <a:bodyPr/>
          <a:lstStyle/>
          <a:p>
            <a:r>
              <a:rPr lang="zh-CN" altLang="en-US" dirty="0"/>
              <a:t>什么是</a:t>
            </a:r>
            <a:r>
              <a:rPr kumimoji="1" lang="en-US" altLang="zh-CN" dirty="0"/>
              <a:t>SQA</a:t>
            </a:r>
            <a:r>
              <a:rPr lang="zh-CN" altLang="en-US" dirty="0"/>
              <a:t>？</a:t>
            </a:r>
            <a:endParaRPr kumimoji="1" lang="zh-CN" altLang="en-US" dirty="0"/>
          </a:p>
        </p:txBody>
      </p:sp>
      <p:sp>
        <p:nvSpPr>
          <p:cNvPr id="3" name="文本占位符 2">
            <a:extLst>
              <a:ext uri="{FF2B5EF4-FFF2-40B4-BE49-F238E27FC236}">
                <a16:creationId xmlns:a16="http://schemas.microsoft.com/office/drawing/2014/main" id="{A0875A10-CEB9-AE78-6AD4-DE5648FB553D}"/>
              </a:ext>
            </a:extLst>
          </p:cNvPr>
          <p:cNvSpPr>
            <a:spLocks noGrp="1"/>
          </p:cNvSpPr>
          <p:nvPr>
            <p:ph type="body" sz="quarter" idx="11"/>
          </p:nvPr>
        </p:nvSpPr>
        <p:spPr>
          <a:xfrm>
            <a:off x="812285" y="2356666"/>
            <a:ext cx="7849693" cy="1945827"/>
          </a:xfrm>
        </p:spPr>
        <p:txBody>
          <a:bodyPr>
            <a:normAutofit/>
          </a:bodyPr>
          <a:lstStyle/>
          <a:p>
            <a:pPr marL="400050" indent="-400050">
              <a:lnSpc>
                <a:spcPct val="120000"/>
              </a:lnSpc>
              <a:buFont typeface="Wingdings" charset="2"/>
              <a:buChar char="²"/>
            </a:pPr>
            <a:r>
              <a:rPr lang="zh-CN" altLang="zh-CN" sz="1800" dirty="0"/>
              <a:t>对软件工程各个阶段的进展、完成质量及出现的问题进行评审、跟踪。</a:t>
            </a:r>
          </a:p>
          <a:p>
            <a:pPr marL="400050" indent="-400050">
              <a:lnSpc>
                <a:spcPct val="120000"/>
              </a:lnSpc>
              <a:buFont typeface="Wingdings" charset="2"/>
              <a:buChar char="²"/>
            </a:pPr>
            <a:r>
              <a:rPr lang="zh-CN" altLang="zh-CN" sz="1800" dirty="0"/>
              <a:t>审查和验证软件产品是否遵守适用的标准、规程和要求，并最终确保符合标准、满足要求。</a:t>
            </a:r>
          </a:p>
          <a:p>
            <a:pPr marL="400050" indent="-400050">
              <a:lnSpc>
                <a:spcPct val="120000"/>
              </a:lnSpc>
              <a:buFont typeface="Wingdings" charset="2"/>
              <a:buChar char="²"/>
            </a:pPr>
            <a:r>
              <a:rPr lang="zh-CN" altLang="zh-CN" sz="1800" dirty="0"/>
              <a:t>建立软件质量要素的度量机制，了解各种指标的量化信息，向管理者提供可视信息。</a:t>
            </a:r>
          </a:p>
        </p:txBody>
      </p:sp>
      <p:sp>
        <p:nvSpPr>
          <p:cNvPr id="4" name="矩形 3">
            <a:extLst>
              <a:ext uri="{FF2B5EF4-FFF2-40B4-BE49-F238E27FC236}">
                <a16:creationId xmlns:a16="http://schemas.microsoft.com/office/drawing/2014/main" id="{E6A3F98C-6A0C-E336-F6E9-9016999C205F}"/>
              </a:ext>
            </a:extLst>
          </p:cNvPr>
          <p:cNvSpPr/>
          <p:nvPr/>
        </p:nvSpPr>
        <p:spPr>
          <a:xfrm>
            <a:off x="628649" y="1005577"/>
            <a:ext cx="8216967" cy="1503617"/>
          </a:xfrm>
          <a:prstGeom prst="rect">
            <a:avLst/>
          </a:prstGeom>
        </p:spPr>
        <p:txBody>
          <a:bodyPr wrap="square">
            <a:spAutoFit/>
          </a:bodyPr>
          <a:lstStyle/>
          <a:p>
            <a:pPr>
              <a:lnSpc>
                <a:spcPct val="130000"/>
              </a:lnSpc>
            </a:pPr>
            <a:r>
              <a:rPr lang="zh-CN" altLang="zh-CN" dirty="0">
                <a:solidFill>
                  <a:schemeClr val="accent1">
                    <a:lumMod val="25000"/>
                  </a:schemeClr>
                </a:solidFill>
                <a:latin typeface="Arial" panose="020B0604020202020204" pitchFamily="34" charset="0"/>
                <a:ea typeface="KaiTi" panose="02010609060101010101" pitchFamily="49" charset="-122"/>
                <a:cs typeface="Arial" panose="020B0604020202020204" pitchFamily="34" charset="0"/>
              </a:rPr>
              <a:t>软件质量保证（</a:t>
            </a:r>
            <a:r>
              <a:rPr lang="en-US" altLang="zh-CN" dirty="0">
                <a:solidFill>
                  <a:schemeClr val="accent1">
                    <a:lumMod val="25000"/>
                  </a:schemeClr>
                </a:solidFill>
                <a:latin typeface="Arial" panose="020B0604020202020204" pitchFamily="34" charset="0"/>
                <a:ea typeface="KaiTi" panose="02010609060101010101" pitchFamily="49" charset="-122"/>
                <a:cs typeface="Arial" panose="020B0604020202020204" pitchFamily="34" charset="0"/>
              </a:rPr>
              <a:t>Software Quality Assurance</a:t>
            </a:r>
            <a:r>
              <a:rPr lang="zh-CN" altLang="zh-CN" dirty="0">
                <a:solidFill>
                  <a:schemeClr val="accent1">
                    <a:lumMod val="25000"/>
                  </a:schemeClr>
                </a:solidFill>
                <a:latin typeface="Arial" panose="020B0604020202020204" pitchFamily="34" charset="0"/>
                <a:ea typeface="KaiTi" panose="02010609060101010101" pitchFamily="49" charset="-122"/>
                <a:cs typeface="Arial" panose="020B0604020202020204" pitchFamily="34" charset="0"/>
              </a:rPr>
              <a:t>，</a:t>
            </a:r>
            <a:r>
              <a:rPr lang="en-US" altLang="zh-CN" dirty="0">
                <a:solidFill>
                  <a:schemeClr val="accent1">
                    <a:lumMod val="25000"/>
                  </a:schemeClr>
                </a:solidFill>
                <a:latin typeface="Arial" panose="020B0604020202020204" pitchFamily="34" charset="0"/>
                <a:ea typeface="KaiTi" panose="02010609060101010101" pitchFamily="49" charset="-122"/>
                <a:cs typeface="Arial" panose="020B0604020202020204" pitchFamily="34" charset="0"/>
              </a:rPr>
              <a:t>SQA</a:t>
            </a:r>
            <a:r>
              <a:rPr lang="zh-CN" altLang="zh-CN" dirty="0">
                <a:solidFill>
                  <a:schemeClr val="accent1">
                    <a:lumMod val="25000"/>
                  </a:schemeClr>
                </a:solidFill>
                <a:latin typeface="Arial" panose="020B0604020202020204" pitchFamily="34" charset="0"/>
                <a:ea typeface="KaiTi" panose="02010609060101010101" pitchFamily="49" charset="-122"/>
                <a:cs typeface="Arial" panose="020B0604020202020204" pitchFamily="34" charset="0"/>
              </a:rPr>
              <a:t>）活动是通过对软件产品有计划的进行评审和审计来验证软件是否合乎标准的系统工程，通过协调、审查和跟踪以获取有用信息，形成分析结果以指导软件过程。</a:t>
            </a:r>
          </a:p>
          <a:p>
            <a:pPr lvl="0">
              <a:lnSpc>
                <a:spcPct val="130000"/>
              </a:lnSpc>
            </a:pPr>
            <a:endParaRPr lang="en-US" altLang="zh-CN" dirty="0"/>
          </a:p>
        </p:txBody>
      </p:sp>
    </p:spTree>
    <p:extLst>
      <p:ext uri="{BB962C8B-B14F-4D97-AF65-F5344CB8AC3E}">
        <p14:creationId xmlns:p14="http://schemas.microsoft.com/office/powerpoint/2010/main" val="6624116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41334" y="229139"/>
            <a:ext cx="5720965" cy="594009"/>
          </a:xfrm>
        </p:spPr>
        <p:txBody>
          <a:bodyPr/>
          <a:lstStyle/>
          <a:p>
            <a:r>
              <a:rPr lang="en-US" altLang="zh-CN" dirty="0"/>
              <a:t>SQA</a:t>
            </a:r>
            <a:r>
              <a:rPr lang="zh-CN" altLang="en-US" dirty="0"/>
              <a:t>活动</a:t>
            </a:r>
          </a:p>
        </p:txBody>
      </p:sp>
      <p:sp>
        <p:nvSpPr>
          <p:cNvPr id="26627" name="Rectangle 3"/>
          <p:cNvSpPr>
            <a:spLocks noGrp="1" noChangeArrowheads="1"/>
          </p:cNvSpPr>
          <p:nvPr>
            <p:ph type="body" idx="1"/>
          </p:nvPr>
        </p:nvSpPr>
        <p:spPr>
          <a:xfrm>
            <a:off x="1835335" y="1133361"/>
            <a:ext cx="3174299" cy="3233738"/>
          </a:xfrm>
        </p:spPr>
        <p:txBody>
          <a:bodyPr>
            <a:normAutofit/>
          </a:bodyPr>
          <a:lstStyle/>
          <a:p>
            <a:pPr marL="257175" lvl="1" indent="-257175" eaLnBrk="0" hangingPunct="0">
              <a:lnSpc>
                <a:spcPct val="130000"/>
              </a:lnSpc>
              <a:buClr>
                <a:schemeClr val="accent1">
                  <a:lumMod val="50000"/>
                </a:schemeClr>
              </a:buClr>
              <a:buSzPct val="90000"/>
              <a:buFont typeface="Wingdings" charset="2"/>
              <a:buChar char="p"/>
            </a:pPr>
            <a:r>
              <a:rPr lang="zh-CN" altLang="en-US" sz="2000" dirty="0">
                <a:ea typeface="楷体"/>
                <a:cs typeface="楷体"/>
              </a:rPr>
              <a:t>技术方法的应用</a:t>
            </a:r>
          </a:p>
          <a:p>
            <a:pPr marL="257175" lvl="1" indent="-257175" eaLnBrk="0" hangingPunct="0">
              <a:lnSpc>
                <a:spcPct val="130000"/>
              </a:lnSpc>
              <a:buClr>
                <a:schemeClr val="accent1">
                  <a:lumMod val="50000"/>
                </a:schemeClr>
              </a:buClr>
              <a:buSzPct val="90000"/>
              <a:buFont typeface="Wingdings" charset="2"/>
              <a:buChar char="p"/>
            </a:pPr>
            <a:r>
              <a:rPr lang="zh-CN" altLang="en-US" sz="2000" dirty="0">
                <a:ea typeface="楷体"/>
                <a:cs typeface="楷体"/>
              </a:rPr>
              <a:t>正式技术评审的实施</a:t>
            </a:r>
          </a:p>
          <a:p>
            <a:pPr marL="257175" lvl="1" indent="-257175" eaLnBrk="0" hangingPunct="0">
              <a:lnSpc>
                <a:spcPct val="130000"/>
              </a:lnSpc>
              <a:buClr>
                <a:schemeClr val="accent1">
                  <a:lumMod val="50000"/>
                </a:schemeClr>
              </a:buClr>
              <a:buSzPct val="90000"/>
              <a:buFont typeface="Wingdings" charset="2"/>
              <a:buChar char="p"/>
            </a:pPr>
            <a:r>
              <a:rPr lang="zh-CN" altLang="en-US" sz="2000" dirty="0">
                <a:ea typeface="楷体"/>
                <a:cs typeface="楷体"/>
              </a:rPr>
              <a:t>软件测试</a:t>
            </a:r>
          </a:p>
          <a:p>
            <a:pPr marL="257175" lvl="1" indent="-257175" eaLnBrk="0" hangingPunct="0">
              <a:lnSpc>
                <a:spcPct val="130000"/>
              </a:lnSpc>
              <a:buClr>
                <a:schemeClr val="accent1">
                  <a:lumMod val="50000"/>
                </a:schemeClr>
              </a:buClr>
              <a:buSzPct val="90000"/>
              <a:buFont typeface="Wingdings" charset="2"/>
              <a:buChar char="p"/>
            </a:pPr>
            <a:r>
              <a:rPr lang="zh-CN" altLang="en-US" sz="2000" dirty="0">
                <a:ea typeface="楷体"/>
                <a:cs typeface="楷体"/>
              </a:rPr>
              <a:t>标准的执行</a:t>
            </a:r>
          </a:p>
          <a:p>
            <a:pPr marL="257175" lvl="1" indent="-257175" eaLnBrk="0" hangingPunct="0">
              <a:lnSpc>
                <a:spcPct val="130000"/>
              </a:lnSpc>
              <a:buClr>
                <a:schemeClr val="accent1">
                  <a:lumMod val="50000"/>
                </a:schemeClr>
              </a:buClr>
              <a:buSzPct val="90000"/>
              <a:buFont typeface="Wingdings" charset="2"/>
              <a:buChar char="p"/>
            </a:pPr>
            <a:r>
              <a:rPr lang="zh-CN" altLang="en-US" sz="2000" dirty="0">
                <a:ea typeface="楷体"/>
                <a:cs typeface="楷体"/>
              </a:rPr>
              <a:t>修改的控制</a:t>
            </a:r>
          </a:p>
          <a:p>
            <a:pPr marL="257175" lvl="1" indent="-257175" eaLnBrk="0" hangingPunct="0">
              <a:lnSpc>
                <a:spcPct val="130000"/>
              </a:lnSpc>
              <a:buClr>
                <a:schemeClr val="accent1">
                  <a:lumMod val="50000"/>
                </a:schemeClr>
              </a:buClr>
              <a:buSzPct val="90000"/>
              <a:buFont typeface="Wingdings" charset="2"/>
              <a:buChar char="p"/>
            </a:pPr>
            <a:r>
              <a:rPr lang="zh-CN" altLang="en-US" sz="2000" dirty="0">
                <a:ea typeface="楷体"/>
                <a:cs typeface="楷体"/>
              </a:rPr>
              <a:t>度量</a:t>
            </a:r>
          </a:p>
          <a:p>
            <a:pPr marL="257175" lvl="1" indent="-257175" eaLnBrk="0" hangingPunct="0">
              <a:lnSpc>
                <a:spcPct val="130000"/>
              </a:lnSpc>
              <a:buClr>
                <a:schemeClr val="accent1">
                  <a:lumMod val="50000"/>
                </a:schemeClr>
              </a:buClr>
              <a:buSzPct val="90000"/>
              <a:buFont typeface="Wingdings" charset="2"/>
              <a:buChar char="p"/>
            </a:pPr>
            <a:r>
              <a:rPr lang="zh-CN" altLang="en-US" sz="2000" dirty="0">
                <a:ea typeface="楷体"/>
                <a:cs typeface="楷体"/>
              </a:rPr>
              <a:t>质量记录和记录保存</a:t>
            </a:r>
          </a:p>
        </p:txBody>
      </p:sp>
      <p:pic>
        <p:nvPicPr>
          <p:cNvPr id="26629" name="Picture 6" descr="http://www.mahavirtraders.co.in/images/pges%20img/software_bug.jpg"/>
          <p:cNvPicPr>
            <a:picLocks noChangeAspect="1" noChangeArrowheads="1"/>
          </p:cNvPicPr>
          <p:nvPr/>
        </p:nvPicPr>
        <p:blipFill>
          <a:blip r:embed="rId3" cstate="print"/>
          <a:srcRect/>
          <a:stretch>
            <a:fillRect/>
          </a:stretch>
        </p:blipFill>
        <p:spPr bwMode="auto">
          <a:xfrm>
            <a:off x="5201700" y="995437"/>
            <a:ext cx="3371662" cy="3371662"/>
          </a:xfrm>
          <a:prstGeom prst="rect">
            <a:avLst/>
          </a:prstGeom>
          <a:noFill/>
          <a:ln w="9525">
            <a:noFill/>
            <a:miter lim="800000"/>
            <a:headEnd/>
            <a:tailEnd/>
          </a:ln>
        </p:spPr>
      </p:pic>
    </p:spTree>
    <p:extLst>
      <p:ext uri="{BB962C8B-B14F-4D97-AF65-F5344CB8AC3E}">
        <p14:creationId xmlns:p14="http://schemas.microsoft.com/office/powerpoint/2010/main" val="11764868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2435" y="247064"/>
            <a:ext cx="4914546" cy="546236"/>
          </a:xfrm>
        </p:spPr>
        <p:txBody>
          <a:bodyPr>
            <a:normAutofit/>
          </a:bodyPr>
          <a:lstStyle/>
          <a:p>
            <a:r>
              <a:rPr lang="zh-CN" altLang="en-US" dirty="0"/>
              <a:t>软件测试</a:t>
            </a:r>
            <a:r>
              <a:rPr lang="en-US" altLang="zh-CN" dirty="0"/>
              <a:t> vs. SQA</a:t>
            </a:r>
            <a:endParaRPr lang="zh-CN" altLang="en-US" dirty="0"/>
          </a:p>
        </p:txBody>
      </p:sp>
      <p:sp>
        <p:nvSpPr>
          <p:cNvPr id="34822" name="Rectangle 34"/>
          <p:cNvSpPr>
            <a:spLocks noChangeArrowheads="1"/>
          </p:cNvSpPr>
          <p:nvPr/>
        </p:nvSpPr>
        <p:spPr bwMode="auto">
          <a:xfrm>
            <a:off x="1143000" y="-103873"/>
            <a:ext cx="65" cy="207749"/>
          </a:xfrm>
          <a:prstGeom prst="rect">
            <a:avLst/>
          </a:prstGeom>
          <a:noFill/>
          <a:ln w="9525">
            <a:noFill/>
            <a:miter lim="800000"/>
            <a:headEnd/>
            <a:tailEnd/>
          </a:ln>
        </p:spPr>
        <p:txBody>
          <a:bodyPr wrap="none" lIns="0" tIns="0" rIns="0" bIns="0" anchor="ctr">
            <a:spAutoFit/>
          </a:bodyPr>
          <a:lstStyle/>
          <a:p>
            <a:endParaRPr lang="zh-CN" altLang="en-US" sz="1350"/>
          </a:p>
        </p:txBody>
      </p:sp>
      <p:sp>
        <p:nvSpPr>
          <p:cNvPr id="2" name="矩形 1"/>
          <p:cNvSpPr/>
          <p:nvPr/>
        </p:nvSpPr>
        <p:spPr>
          <a:xfrm>
            <a:off x="835393" y="1046734"/>
            <a:ext cx="7586711" cy="2632965"/>
          </a:xfrm>
          <a:prstGeom prst="rect">
            <a:avLst/>
          </a:prstGeom>
        </p:spPr>
        <p:txBody>
          <a:bodyPr wrap="square">
            <a:spAutoFit/>
          </a:bodyPr>
          <a:lstStyle/>
          <a:p>
            <a:pPr marL="257175" indent="-257175">
              <a:lnSpc>
                <a:spcPct val="130000"/>
              </a:lnSpc>
              <a:buFont typeface="Wingdings" charset="2"/>
              <a:buChar char="²"/>
            </a:pPr>
            <a:r>
              <a:rPr lang="en-US" altLang="zh-CN" dirty="0">
                <a:latin typeface="Microsoft YaHei" panose="020B0503020204020204" pitchFamily="34" charset="-122"/>
                <a:ea typeface="Microsoft YaHei" panose="020B0503020204020204" pitchFamily="34" charset="-122"/>
              </a:rPr>
              <a:t>SQA</a:t>
            </a:r>
            <a:r>
              <a:rPr lang="zh-CN" altLang="zh-CN" dirty="0">
                <a:latin typeface="Microsoft YaHei" panose="020B0503020204020204" pitchFamily="34" charset="-122"/>
                <a:ea typeface="Microsoft YaHei" panose="020B0503020204020204" pitchFamily="34" charset="-122"/>
              </a:rPr>
              <a:t>指导、监督软件测试的计划和执行，督促测试工作的结果客观、准确和有效，并协助测试流程的改进。</a:t>
            </a:r>
            <a:endParaRPr lang="en-US" altLang="zh-CN" dirty="0">
              <a:latin typeface="Microsoft YaHei" panose="020B0503020204020204" pitchFamily="34" charset="-122"/>
              <a:ea typeface="Microsoft YaHei" panose="020B0503020204020204" pitchFamily="34" charset="-122"/>
            </a:endParaRPr>
          </a:p>
          <a:p>
            <a:pPr marL="257175" indent="-257175">
              <a:lnSpc>
                <a:spcPct val="130000"/>
              </a:lnSpc>
              <a:buFont typeface="Wingdings" charset="2"/>
              <a:buChar char="²"/>
            </a:pPr>
            <a:r>
              <a:rPr lang="zh-CN" altLang="zh-CN" dirty="0">
                <a:latin typeface="Microsoft YaHei" panose="020B0503020204020204" pitchFamily="34" charset="-122"/>
                <a:ea typeface="Microsoft YaHei" panose="020B0503020204020204" pitchFamily="34" charset="-122"/>
              </a:rPr>
              <a:t>软件测试是</a:t>
            </a:r>
            <a:r>
              <a:rPr lang="en-US" altLang="zh-CN" dirty="0">
                <a:latin typeface="Microsoft YaHei" panose="020B0503020204020204" pitchFamily="34" charset="-122"/>
                <a:ea typeface="Microsoft YaHei" panose="020B0503020204020204" pitchFamily="34" charset="-122"/>
              </a:rPr>
              <a:t>SQA</a:t>
            </a:r>
            <a:r>
              <a:rPr lang="zh-CN" altLang="zh-CN" dirty="0">
                <a:latin typeface="Microsoft YaHei" panose="020B0503020204020204" pitchFamily="34" charset="-122"/>
                <a:ea typeface="Microsoft YaHei" panose="020B0503020204020204" pitchFamily="34" charset="-122"/>
              </a:rPr>
              <a:t>重要手段之一，为</a:t>
            </a:r>
            <a:r>
              <a:rPr lang="en-US" altLang="zh-CN" dirty="0">
                <a:latin typeface="Microsoft YaHei" panose="020B0503020204020204" pitchFamily="34" charset="-122"/>
                <a:ea typeface="Microsoft YaHei" panose="020B0503020204020204" pitchFamily="34" charset="-122"/>
              </a:rPr>
              <a:t>SQA</a:t>
            </a:r>
            <a:r>
              <a:rPr lang="zh-CN" altLang="zh-CN" dirty="0">
                <a:latin typeface="Microsoft YaHei" panose="020B0503020204020204" pitchFamily="34" charset="-122"/>
                <a:ea typeface="Microsoft YaHei" panose="020B0503020204020204" pitchFamily="34" charset="-122"/>
              </a:rPr>
              <a:t>提供所需的数据，作为质量评价的客观依据。</a:t>
            </a:r>
            <a:endParaRPr lang="en-US" altLang="zh-CN" dirty="0">
              <a:latin typeface="Microsoft YaHei" panose="020B0503020204020204" pitchFamily="34" charset="-122"/>
              <a:ea typeface="Microsoft YaHei" panose="020B0503020204020204" pitchFamily="34" charset="-122"/>
            </a:endParaRPr>
          </a:p>
          <a:p>
            <a:pPr>
              <a:lnSpc>
                <a:spcPct val="130000"/>
              </a:lnSpc>
            </a:pPr>
            <a:endParaRPr lang="en-US" altLang="zh-CN" dirty="0">
              <a:latin typeface="Microsoft YaHei" panose="020B0503020204020204" pitchFamily="34" charset="-122"/>
              <a:ea typeface="Microsoft YaHei" panose="020B0503020204020204" pitchFamily="34" charset="-122"/>
            </a:endParaRPr>
          </a:p>
          <a:p>
            <a:pPr marL="257175" indent="-257175">
              <a:lnSpc>
                <a:spcPct val="140000"/>
              </a:lnSpc>
              <a:buFont typeface="Wingdings" charset="2"/>
              <a:buChar char="²"/>
            </a:pPr>
            <a:r>
              <a:rPr lang="en-US" altLang="zh-CN" dirty="0">
                <a:solidFill>
                  <a:srgbClr val="FF6600"/>
                </a:solidFill>
                <a:latin typeface="Microsoft YaHei" panose="020B0503020204020204" pitchFamily="34" charset="-122"/>
                <a:ea typeface="Microsoft YaHei" panose="020B0503020204020204" pitchFamily="34" charset="-122"/>
              </a:rPr>
              <a:t>SQA</a:t>
            </a:r>
            <a:r>
              <a:rPr lang="zh-CN" altLang="zh-CN" dirty="0">
                <a:solidFill>
                  <a:srgbClr val="FF6600"/>
                </a:solidFill>
                <a:latin typeface="Microsoft YaHei" panose="020B0503020204020204" pitchFamily="34" charset="-122"/>
                <a:ea typeface="Microsoft YaHei" panose="020B0503020204020204" pitchFamily="34" charset="-122"/>
              </a:rPr>
              <a:t>是一项管理工作，侧重于对流程的评审和监控</a:t>
            </a:r>
            <a:endParaRPr lang="en-US" altLang="zh-CN" dirty="0">
              <a:solidFill>
                <a:srgbClr val="FF6600"/>
              </a:solidFill>
              <a:latin typeface="Microsoft YaHei" panose="020B0503020204020204" pitchFamily="34" charset="-122"/>
              <a:ea typeface="Microsoft YaHei" panose="020B0503020204020204" pitchFamily="34" charset="-122"/>
            </a:endParaRPr>
          </a:p>
          <a:p>
            <a:pPr marL="257175" indent="-257175">
              <a:lnSpc>
                <a:spcPct val="140000"/>
              </a:lnSpc>
              <a:buFont typeface="Wingdings" charset="2"/>
              <a:buChar char="²"/>
            </a:pPr>
            <a:r>
              <a:rPr lang="zh-CN" altLang="en-US" dirty="0">
                <a:solidFill>
                  <a:srgbClr val="FF6600"/>
                </a:solidFill>
                <a:latin typeface="Microsoft YaHei" panose="020B0503020204020204" pitchFamily="34" charset="-122"/>
                <a:ea typeface="Microsoft YaHei" panose="020B0503020204020204" pitchFamily="34" charset="-122"/>
              </a:rPr>
              <a:t>软件</a:t>
            </a:r>
            <a:r>
              <a:rPr lang="zh-CN" altLang="zh-CN" dirty="0">
                <a:solidFill>
                  <a:srgbClr val="FF6600"/>
                </a:solidFill>
                <a:latin typeface="Microsoft YaHei" panose="020B0503020204020204" pitchFamily="34" charset="-122"/>
                <a:ea typeface="Microsoft YaHei" panose="020B0503020204020204" pitchFamily="34" charset="-122"/>
              </a:rPr>
              <a:t>测试是一项技术性的工作，侧重对产品进行评估和验证 </a:t>
            </a:r>
            <a:endParaRPr lang="zh-CN" altLang="en-US" dirty="0">
              <a:solidFill>
                <a:srgbClr val="FF66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336233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1.5</a:t>
            </a:r>
            <a:r>
              <a:rPr lang="zh-CN" altLang="en-US" sz="4800" b="1" dirty="0">
                <a:solidFill>
                  <a:schemeClr val="accent2">
                    <a:lumMod val="75000"/>
                  </a:schemeClr>
                </a:solidFill>
              </a:rPr>
              <a:t> </a:t>
            </a:r>
            <a:r>
              <a:rPr lang="zh-CN" altLang="en-US" sz="4800" b="1" dirty="0">
                <a:solidFill>
                  <a:schemeClr val="accent2">
                    <a:lumMod val="75000"/>
                  </a:schemeClr>
                </a:solidFill>
                <a:sym typeface="+mn-ea"/>
              </a:rPr>
              <a:t>测试与开发的关系</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472580482"/>
      </p:ext>
    </p:extLst>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a:xfrm>
            <a:off x="562988" y="288736"/>
            <a:ext cx="7357005" cy="523875"/>
          </a:xfrm>
        </p:spPr>
        <p:txBody>
          <a:bodyPr>
            <a:normAutofit/>
          </a:bodyPr>
          <a:lstStyle/>
          <a:p>
            <a:r>
              <a:rPr lang="zh-CN" altLang="en-US" dirty="0"/>
              <a:t>测试不是开发下一道工序</a:t>
            </a:r>
            <a:endParaRPr kumimoji="1" lang="zh-CN" altLang="en-US" dirty="0"/>
          </a:p>
        </p:txBody>
      </p:sp>
      <p:sp>
        <p:nvSpPr>
          <p:cNvPr id="4" name="圆角矩形 3">
            <a:extLst>
              <a:ext uri="{FF2B5EF4-FFF2-40B4-BE49-F238E27FC236}">
                <a16:creationId xmlns:a16="http://schemas.microsoft.com/office/drawing/2014/main" id="{C5467468-F90E-C631-9DC3-73768A4D0FA5}"/>
              </a:ext>
            </a:extLst>
          </p:cNvPr>
          <p:cNvSpPr/>
          <p:nvPr/>
        </p:nvSpPr>
        <p:spPr>
          <a:xfrm>
            <a:off x="2514600" y="1035648"/>
            <a:ext cx="1362075" cy="4667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需求定义</a:t>
            </a:r>
          </a:p>
        </p:txBody>
      </p:sp>
      <p:sp>
        <p:nvSpPr>
          <p:cNvPr id="5" name="圆角矩形 4">
            <a:extLst>
              <a:ext uri="{FF2B5EF4-FFF2-40B4-BE49-F238E27FC236}">
                <a16:creationId xmlns:a16="http://schemas.microsoft.com/office/drawing/2014/main" id="{F5A49150-97CA-33EE-0787-1EF4D5AE0278}"/>
              </a:ext>
            </a:extLst>
          </p:cNvPr>
          <p:cNvSpPr/>
          <p:nvPr/>
        </p:nvSpPr>
        <p:spPr>
          <a:xfrm>
            <a:off x="3303277" y="1847948"/>
            <a:ext cx="1362075" cy="4667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设计</a:t>
            </a:r>
          </a:p>
        </p:txBody>
      </p:sp>
      <p:sp>
        <p:nvSpPr>
          <p:cNvPr id="8" name="圆角矩形 7">
            <a:extLst>
              <a:ext uri="{FF2B5EF4-FFF2-40B4-BE49-F238E27FC236}">
                <a16:creationId xmlns:a16="http://schemas.microsoft.com/office/drawing/2014/main" id="{61E0E5CB-2A7B-6A77-306B-A780478A1C4A}"/>
              </a:ext>
            </a:extLst>
          </p:cNvPr>
          <p:cNvSpPr/>
          <p:nvPr/>
        </p:nvSpPr>
        <p:spPr>
          <a:xfrm>
            <a:off x="3984315" y="2666805"/>
            <a:ext cx="1362075" cy="4667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编程</a:t>
            </a:r>
          </a:p>
        </p:txBody>
      </p:sp>
      <p:sp>
        <p:nvSpPr>
          <p:cNvPr id="9" name="圆角矩形 8">
            <a:extLst>
              <a:ext uri="{FF2B5EF4-FFF2-40B4-BE49-F238E27FC236}">
                <a16:creationId xmlns:a16="http://schemas.microsoft.com/office/drawing/2014/main" id="{2900FB23-D93A-A44E-52FD-1E5CD50BEA38}"/>
              </a:ext>
            </a:extLst>
          </p:cNvPr>
          <p:cNvSpPr/>
          <p:nvPr/>
        </p:nvSpPr>
        <p:spPr>
          <a:xfrm>
            <a:off x="4838700" y="3414908"/>
            <a:ext cx="1362075" cy="4667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测试</a:t>
            </a:r>
          </a:p>
        </p:txBody>
      </p:sp>
      <p:sp>
        <p:nvSpPr>
          <p:cNvPr id="10" name="圆角矩形 9">
            <a:extLst>
              <a:ext uri="{FF2B5EF4-FFF2-40B4-BE49-F238E27FC236}">
                <a16:creationId xmlns:a16="http://schemas.microsoft.com/office/drawing/2014/main" id="{5B97217B-B0AF-286A-46AC-9C63A28B5922}"/>
              </a:ext>
            </a:extLst>
          </p:cNvPr>
          <p:cNvSpPr/>
          <p:nvPr/>
        </p:nvSpPr>
        <p:spPr>
          <a:xfrm>
            <a:off x="5786437" y="4241592"/>
            <a:ext cx="1362075" cy="4667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交付</a:t>
            </a:r>
          </a:p>
        </p:txBody>
      </p:sp>
      <p:cxnSp>
        <p:nvCxnSpPr>
          <p:cNvPr id="12" name="曲线连接符 11">
            <a:extLst>
              <a:ext uri="{FF2B5EF4-FFF2-40B4-BE49-F238E27FC236}">
                <a16:creationId xmlns:a16="http://schemas.microsoft.com/office/drawing/2014/main" id="{011B6258-96CE-4610-02A9-DE0DCFC6F5BF}"/>
              </a:ext>
            </a:extLst>
          </p:cNvPr>
          <p:cNvCxnSpPr>
            <a:stCxn id="4" idx="3"/>
          </p:cNvCxnSpPr>
          <p:nvPr/>
        </p:nvCxnSpPr>
        <p:spPr>
          <a:xfrm>
            <a:off x="3876675" y="1269011"/>
            <a:ext cx="533400" cy="578937"/>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曲线连接符 13">
            <a:extLst>
              <a:ext uri="{FF2B5EF4-FFF2-40B4-BE49-F238E27FC236}">
                <a16:creationId xmlns:a16="http://schemas.microsoft.com/office/drawing/2014/main" id="{DCCFFE64-E493-7EE5-22A4-BFDFF74949EA}"/>
              </a:ext>
            </a:extLst>
          </p:cNvPr>
          <p:cNvCxnSpPr>
            <a:cxnSpLocks/>
            <a:stCxn id="5" idx="3"/>
          </p:cNvCxnSpPr>
          <p:nvPr/>
        </p:nvCxnSpPr>
        <p:spPr>
          <a:xfrm>
            <a:off x="4665352" y="2081311"/>
            <a:ext cx="468622" cy="578937"/>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曲线连接符 15">
            <a:extLst>
              <a:ext uri="{FF2B5EF4-FFF2-40B4-BE49-F238E27FC236}">
                <a16:creationId xmlns:a16="http://schemas.microsoft.com/office/drawing/2014/main" id="{EC438B6F-E326-F32D-3558-3FF261876D02}"/>
              </a:ext>
            </a:extLst>
          </p:cNvPr>
          <p:cNvCxnSpPr/>
          <p:nvPr/>
        </p:nvCxnSpPr>
        <p:spPr>
          <a:xfrm>
            <a:off x="6200775" y="3662655"/>
            <a:ext cx="533400" cy="578937"/>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曲线连接符 22">
            <a:extLst>
              <a:ext uri="{FF2B5EF4-FFF2-40B4-BE49-F238E27FC236}">
                <a16:creationId xmlns:a16="http://schemas.microsoft.com/office/drawing/2014/main" id="{2B7CF0E0-05E4-ED70-5804-3000F30362E0}"/>
              </a:ext>
            </a:extLst>
          </p:cNvPr>
          <p:cNvCxnSpPr>
            <a:cxnSpLocks/>
            <a:stCxn id="8" idx="3"/>
          </p:cNvCxnSpPr>
          <p:nvPr/>
        </p:nvCxnSpPr>
        <p:spPr>
          <a:xfrm>
            <a:off x="5346390" y="2900168"/>
            <a:ext cx="425760" cy="514740"/>
          </a:xfrm>
          <a:prstGeom prst="curvedConnector2">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726492D1-5FFE-F28E-9FCB-FADB27814354}"/>
              </a:ext>
            </a:extLst>
          </p:cNvPr>
          <p:cNvGrpSpPr/>
          <p:nvPr/>
        </p:nvGrpSpPr>
        <p:grpSpPr>
          <a:xfrm>
            <a:off x="4933000" y="3078157"/>
            <a:ext cx="1085850" cy="1083274"/>
            <a:chOff x="6343650" y="1164626"/>
            <a:chExt cx="1085850" cy="1083274"/>
          </a:xfrm>
        </p:grpSpPr>
        <p:cxnSp>
          <p:nvCxnSpPr>
            <p:cNvPr id="28" name="直线连接符 27">
              <a:extLst>
                <a:ext uri="{FF2B5EF4-FFF2-40B4-BE49-F238E27FC236}">
                  <a16:creationId xmlns:a16="http://schemas.microsoft.com/office/drawing/2014/main" id="{803230F0-2D29-9651-C310-F15AB2EF0954}"/>
                </a:ext>
              </a:extLst>
            </p:cNvPr>
            <p:cNvCxnSpPr>
              <a:cxnSpLocks/>
            </p:cNvCxnSpPr>
            <p:nvPr/>
          </p:nvCxnSpPr>
          <p:spPr>
            <a:xfrm>
              <a:off x="6343650" y="1329586"/>
              <a:ext cx="1085850" cy="7517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线连接符 28">
              <a:extLst>
                <a:ext uri="{FF2B5EF4-FFF2-40B4-BE49-F238E27FC236}">
                  <a16:creationId xmlns:a16="http://schemas.microsoft.com/office/drawing/2014/main" id="{9F253C8C-180F-24C9-8A72-884247553925}"/>
                </a:ext>
              </a:extLst>
            </p:cNvPr>
            <p:cNvCxnSpPr>
              <a:cxnSpLocks/>
            </p:cNvCxnSpPr>
            <p:nvPr/>
          </p:nvCxnSpPr>
          <p:spPr>
            <a:xfrm flipV="1">
              <a:off x="6734175" y="1164626"/>
              <a:ext cx="333374" cy="108327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73874263"/>
      </p:ext>
    </p:extLst>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zh-CN" altLang="en-US" dirty="0"/>
              <a:t>测试与开发是并行、协作的关系</a:t>
            </a:r>
            <a:endParaRPr kumimoji="1" lang="zh-CN" altLang="en-US" sz="2000" b="0" dirty="0"/>
          </a:p>
        </p:txBody>
      </p:sp>
      <p:pic>
        <p:nvPicPr>
          <p:cNvPr id="3" name="图片 2">
            <a:extLst>
              <a:ext uri="{FF2B5EF4-FFF2-40B4-BE49-F238E27FC236}">
                <a16:creationId xmlns:a16="http://schemas.microsoft.com/office/drawing/2014/main" id="{4FA81B32-A39F-7B9B-85D7-BDD15A8AE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921" y="1053882"/>
            <a:ext cx="6832600" cy="3534719"/>
          </a:xfrm>
          <a:prstGeom prst="rect">
            <a:avLst/>
          </a:prstGeom>
        </p:spPr>
      </p:pic>
    </p:spTree>
    <p:extLst>
      <p:ext uri="{BB962C8B-B14F-4D97-AF65-F5344CB8AC3E}">
        <p14:creationId xmlns:p14="http://schemas.microsoft.com/office/powerpoint/2010/main" val="2798610116"/>
      </p:ext>
    </p:extLst>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1.6</a:t>
            </a:r>
            <a:r>
              <a:rPr lang="zh-CN" altLang="en-US" sz="4800" b="1" dirty="0">
                <a:solidFill>
                  <a:schemeClr val="accent2">
                    <a:lumMod val="75000"/>
                  </a:schemeClr>
                </a:solidFill>
              </a:rPr>
              <a:t> </a:t>
            </a:r>
            <a:r>
              <a:rPr lang="zh-CN" altLang="en-US" sz="4800" b="1" dirty="0">
                <a:solidFill>
                  <a:schemeClr val="accent2">
                    <a:lumMod val="75000"/>
                  </a:schemeClr>
                </a:solidFill>
                <a:sym typeface="+mn-ea"/>
              </a:rPr>
              <a:t>测试驱动开发的思想</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945455287"/>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76128" y="54774"/>
            <a:ext cx="5875459" cy="765083"/>
          </a:xfrm>
        </p:spPr>
        <p:txBody>
          <a:bodyPr>
            <a:normAutofit/>
          </a:bodyPr>
          <a:lstStyle/>
          <a:p>
            <a:pPr marL="400050" indent="-266700">
              <a:lnSpc>
                <a:spcPct val="150000"/>
              </a:lnSpc>
            </a:pPr>
            <a:r>
              <a:rPr lang="en-US" altLang="zh-CN" sz="2700" b="1" dirty="0">
                <a:solidFill>
                  <a:srgbClr val="FFFF00"/>
                </a:solidFill>
                <a:latin typeface="+mj-ea"/>
              </a:rPr>
              <a:t> </a:t>
            </a:r>
            <a:r>
              <a:rPr lang="zh-CN" altLang="en-US" sz="3100" dirty="0"/>
              <a:t>测试驱动开发的思想</a:t>
            </a:r>
          </a:p>
        </p:txBody>
      </p:sp>
      <p:sp>
        <p:nvSpPr>
          <p:cNvPr id="6" name="Rectangle 3"/>
          <p:cNvSpPr txBox="1">
            <a:spLocks noChangeArrowheads="1"/>
          </p:cNvSpPr>
          <p:nvPr/>
        </p:nvSpPr>
        <p:spPr bwMode="auto">
          <a:xfrm>
            <a:off x="2271713" y="1613297"/>
            <a:ext cx="4135041" cy="1807370"/>
          </a:xfrm>
          <a:prstGeom prst="rect">
            <a:avLst/>
          </a:prstGeom>
          <a:noFill/>
          <a:ln w="9525">
            <a:noFill/>
            <a:miter lim="800000"/>
            <a:headEnd/>
            <a:tailEnd/>
          </a:ln>
        </p:spPr>
        <p:txBody>
          <a:bodyPr/>
          <a:lstStyle/>
          <a:p>
            <a:pPr marL="257175" indent="-257175">
              <a:lnSpc>
                <a:spcPct val="90000"/>
              </a:lnSpc>
              <a:spcBef>
                <a:spcPct val="20000"/>
              </a:spcBef>
              <a:buClr>
                <a:schemeClr val="folHlink"/>
              </a:buClr>
              <a:buSzPct val="90000"/>
              <a:buFont typeface="Wingdings" pitchFamily="2" charset="2"/>
              <a:buChar char="n"/>
              <a:defRPr/>
            </a:pPr>
            <a:endParaRPr lang="zh-CN" altLang="en-US" sz="2100" kern="0" dirty="0"/>
          </a:p>
        </p:txBody>
      </p:sp>
      <p:pic>
        <p:nvPicPr>
          <p:cNvPr id="35844" name="Picture 1" descr="10-5"/>
          <p:cNvPicPr>
            <a:picLocks noChangeAspect="1" noChangeArrowheads="1"/>
          </p:cNvPicPr>
          <p:nvPr/>
        </p:nvPicPr>
        <p:blipFill>
          <a:blip r:embed="rId3" cstate="print"/>
          <a:srcRect/>
          <a:stretch>
            <a:fillRect/>
          </a:stretch>
        </p:blipFill>
        <p:spPr bwMode="auto">
          <a:xfrm>
            <a:off x="1992530" y="1887630"/>
            <a:ext cx="4693406" cy="2714565"/>
          </a:xfrm>
          <a:prstGeom prst="rect">
            <a:avLst/>
          </a:prstGeom>
          <a:noFill/>
          <a:ln w="9525">
            <a:noFill/>
            <a:miter lim="800000"/>
            <a:headEnd/>
            <a:tailEnd/>
          </a:ln>
        </p:spPr>
      </p:pic>
      <p:sp>
        <p:nvSpPr>
          <p:cNvPr id="2" name="文本框 1">
            <a:extLst>
              <a:ext uri="{FF2B5EF4-FFF2-40B4-BE49-F238E27FC236}">
                <a16:creationId xmlns:a16="http://schemas.microsoft.com/office/drawing/2014/main" id="{014BFA6A-92E1-5D01-B980-28B475E260AE}"/>
              </a:ext>
            </a:extLst>
          </p:cNvPr>
          <p:cNvSpPr txBox="1"/>
          <p:nvPr/>
        </p:nvSpPr>
        <p:spPr>
          <a:xfrm>
            <a:off x="884323" y="991010"/>
            <a:ext cx="6142964" cy="369332"/>
          </a:xfrm>
          <a:prstGeom prst="rect">
            <a:avLst/>
          </a:prstGeom>
          <a:noFill/>
        </p:spPr>
        <p:txBody>
          <a:bodyPr wrap="none" rtlCol="0">
            <a:spAutoFit/>
          </a:bodyPr>
          <a:lstStyle/>
          <a:p>
            <a:r>
              <a:rPr kumimoji="1" lang="en-US" altLang="zh-CN" dirty="0">
                <a:latin typeface="Microsoft YaHei" panose="020B0503020204020204" pitchFamily="34" charset="-122"/>
                <a:ea typeface="Microsoft YaHei" panose="020B0503020204020204" pitchFamily="34" charset="-122"/>
              </a:rPr>
              <a:t>TDD</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test</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driven</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development</a:t>
            </a:r>
            <a:r>
              <a:rPr kumimoji="1" lang="zh-CN" altLang="en-US" dirty="0">
                <a:latin typeface="Microsoft YaHei" panose="020B0503020204020204" pitchFamily="34" charset="-122"/>
                <a:ea typeface="Microsoft YaHei" panose="020B0503020204020204" pitchFamily="34" charset="-122"/>
              </a:rPr>
              <a:t>）：测试在前，开发在后</a:t>
            </a:r>
          </a:p>
        </p:txBody>
      </p:sp>
    </p:spTree>
    <p:extLst>
      <p:ext uri="{BB962C8B-B14F-4D97-AF65-F5344CB8AC3E}">
        <p14:creationId xmlns:p14="http://schemas.microsoft.com/office/powerpoint/2010/main" val="35376290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Title 1"/>
          <p:cNvSpPr>
            <a:spLocks noGrp="1"/>
          </p:cNvSpPr>
          <p:nvPr>
            <p:ph type="title"/>
          </p:nvPr>
        </p:nvSpPr>
        <p:spPr>
          <a:xfrm>
            <a:off x="449832" y="170060"/>
            <a:ext cx="5829300" cy="600242"/>
          </a:xfrm>
        </p:spPr>
        <p:txBody>
          <a:bodyPr>
            <a:normAutofit fontScale="90000"/>
          </a:bodyPr>
          <a:lstStyle/>
          <a:p>
            <a:pPr marL="400050" indent="-266700">
              <a:lnSpc>
                <a:spcPct val="150000"/>
              </a:lnSpc>
            </a:pPr>
            <a:r>
              <a:rPr lang="en-US" altLang="zh-CN" sz="3100" dirty="0"/>
              <a:t>TDD</a:t>
            </a:r>
            <a:r>
              <a:rPr lang="zh-CN" altLang="en-US" sz="3100" dirty="0"/>
              <a:t>的实践最早来自极限编程</a:t>
            </a:r>
          </a:p>
        </p:txBody>
      </p:sp>
      <p:pic>
        <p:nvPicPr>
          <p:cNvPr id="36867" name="Picture 2" descr="10-6"/>
          <p:cNvPicPr>
            <a:picLocks noChangeAspect="1" noChangeArrowheads="1"/>
          </p:cNvPicPr>
          <p:nvPr/>
        </p:nvPicPr>
        <p:blipFill>
          <a:blip r:embed="rId3" cstate="print"/>
          <a:srcRect/>
          <a:stretch>
            <a:fillRect/>
          </a:stretch>
        </p:blipFill>
        <p:spPr bwMode="auto">
          <a:xfrm>
            <a:off x="980360" y="1021909"/>
            <a:ext cx="7183280" cy="3285826"/>
          </a:xfrm>
          <a:prstGeom prst="rect">
            <a:avLst/>
          </a:prstGeom>
          <a:noFill/>
          <a:ln w="9525">
            <a:noFill/>
            <a:miter lim="800000"/>
            <a:headEnd/>
            <a:tailEnd/>
          </a:ln>
        </p:spPr>
      </p:pic>
    </p:spTree>
    <p:extLst>
      <p:ext uri="{BB962C8B-B14F-4D97-AF65-F5344CB8AC3E}">
        <p14:creationId xmlns:p14="http://schemas.microsoft.com/office/powerpoint/2010/main" val="12364090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CA658-B7BD-1FD9-0849-7C5D182434EE}"/>
              </a:ext>
            </a:extLst>
          </p:cNvPr>
          <p:cNvSpPr>
            <a:spLocks noGrp="1"/>
          </p:cNvSpPr>
          <p:nvPr>
            <p:ph type="title"/>
          </p:nvPr>
        </p:nvSpPr>
        <p:spPr/>
        <p:txBody>
          <a:bodyPr/>
          <a:lstStyle/>
          <a:p>
            <a:r>
              <a:rPr kumimoji="1" lang="en-US" altLang="zh-CN" dirty="0"/>
              <a:t>TDD</a:t>
            </a:r>
            <a:r>
              <a:rPr kumimoji="1" lang="zh-CN" altLang="en-US" dirty="0"/>
              <a:t>与</a:t>
            </a:r>
            <a:r>
              <a:rPr kumimoji="1" lang="en-US" altLang="zh-CN" dirty="0"/>
              <a:t>UTDD</a:t>
            </a:r>
            <a:r>
              <a:rPr kumimoji="1" lang="zh-CN" altLang="en-US" dirty="0"/>
              <a:t>、</a:t>
            </a:r>
            <a:r>
              <a:rPr kumimoji="1" lang="en-US" altLang="zh-CN" dirty="0"/>
              <a:t>ATDD</a:t>
            </a:r>
            <a:endParaRPr kumimoji="1" lang="zh-CN" altLang="en-US" dirty="0"/>
          </a:p>
        </p:txBody>
      </p:sp>
      <p:grpSp>
        <p:nvGrpSpPr>
          <p:cNvPr id="4" name="组合 3">
            <a:extLst>
              <a:ext uri="{FF2B5EF4-FFF2-40B4-BE49-F238E27FC236}">
                <a16:creationId xmlns:a16="http://schemas.microsoft.com/office/drawing/2014/main" id="{DEADCB66-7B85-4389-F4E9-3C86CB5F98DE}"/>
              </a:ext>
            </a:extLst>
          </p:cNvPr>
          <p:cNvGrpSpPr/>
          <p:nvPr/>
        </p:nvGrpSpPr>
        <p:grpSpPr>
          <a:xfrm>
            <a:off x="3237386" y="1452483"/>
            <a:ext cx="4309299" cy="3385892"/>
            <a:chOff x="7797672" y="2384792"/>
            <a:chExt cx="1180909" cy="661676"/>
          </a:xfrm>
        </p:grpSpPr>
        <p:sp>
          <p:nvSpPr>
            <p:cNvPr id="5" name="椭圆 4">
              <a:extLst>
                <a:ext uri="{FF2B5EF4-FFF2-40B4-BE49-F238E27FC236}">
                  <a16:creationId xmlns:a16="http://schemas.microsoft.com/office/drawing/2014/main" id="{507136F8-72E5-30AE-6E23-A198D0554140}"/>
                </a:ext>
              </a:extLst>
            </p:cNvPr>
            <p:cNvSpPr/>
            <p:nvPr/>
          </p:nvSpPr>
          <p:spPr>
            <a:xfrm>
              <a:off x="7797672" y="2384792"/>
              <a:ext cx="1180909" cy="661676"/>
            </a:xfrm>
            <a:prstGeom prst="ellipse">
              <a:avLst/>
            </a:prstGeom>
            <a:solidFill>
              <a:schemeClr val="accent1">
                <a:lumMod val="75000"/>
              </a:schemeClr>
            </a:solidFill>
            <a:ln w="9525">
              <a:solidFill>
                <a:schemeClr val="tx1">
                  <a:lumMod val="95000"/>
                </a:schemeClr>
              </a:solidFill>
            </a:ln>
            <a:effectLst>
              <a:glow rad="63500">
                <a:schemeClr val="accent2">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20" dirty="0">
                <a:solidFill>
                  <a:schemeClr val="accent1">
                    <a:lumMod val="25000"/>
                  </a:schemeClr>
                </a:solidFill>
                <a:latin typeface="微软雅黑" panose="020B0503020204020204" pitchFamily="34" charset="-122"/>
                <a:ea typeface="微软雅黑" panose="020B0503020204020204" pitchFamily="34" charset="-122"/>
                <a:cs typeface="Yuanti SC" charset="-122"/>
              </a:endParaRPr>
            </a:p>
          </p:txBody>
        </p:sp>
        <p:sp>
          <p:nvSpPr>
            <p:cNvPr id="6" name="矩形 5">
              <a:extLst>
                <a:ext uri="{FF2B5EF4-FFF2-40B4-BE49-F238E27FC236}">
                  <a16:creationId xmlns:a16="http://schemas.microsoft.com/office/drawing/2014/main" id="{CEAB3588-FB48-E6BA-808E-3D452187F9A1}"/>
                </a:ext>
              </a:extLst>
            </p:cNvPr>
            <p:cNvSpPr/>
            <p:nvPr/>
          </p:nvSpPr>
          <p:spPr>
            <a:xfrm>
              <a:off x="7915089" y="2831884"/>
              <a:ext cx="369337" cy="78190"/>
            </a:xfrm>
            <a:prstGeom prst="rect">
              <a:avLst/>
            </a:prstGeom>
            <a:ln w="9525">
              <a:noFill/>
              <a:prstDash val="dash"/>
            </a:ln>
          </p:spPr>
          <p:txBody>
            <a:bodyPr wrap="squar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ATDD</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7" name="组合 6">
            <a:extLst>
              <a:ext uri="{FF2B5EF4-FFF2-40B4-BE49-F238E27FC236}">
                <a16:creationId xmlns:a16="http://schemas.microsoft.com/office/drawing/2014/main" id="{51263AA2-025C-C89B-A829-20B4EA551757}"/>
              </a:ext>
            </a:extLst>
          </p:cNvPr>
          <p:cNvGrpSpPr/>
          <p:nvPr/>
        </p:nvGrpSpPr>
        <p:grpSpPr>
          <a:xfrm>
            <a:off x="5124259" y="1881413"/>
            <a:ext cx="2297004" cy="2343093"/>
            <a:chOff x="7797672" y="2384792"/>
            <a:chExt cx="1244217" cy="661676"/>
          </a:xfrm>
        </p:grpSpPr>
        <p:sp>
          <p:nvSpPr>
            <p:cNvPr id="8" name="椭圆 7">
              <a:extLst>
                <a:ext uri="{FF2B5EF4-FFF2-40B4-BE49-F238E27FC236}">
                  <a16:creationId xmlns:a16="http://schemas.microsoft.com/office/drawing/2014/main" id="{E105D840-9D95-D41B-D53C-B1F9C322FEDA}"/>
                </a:ext>
              </a:extLst>
            </p:cNvPr>
            <p:cNvSpPr/>
            <p:nvPr/>
          </p:nvSpPr>
          <p:spPr>
            <a:xfrm>
              <a:off x="7797672" y="2384792"/>
              <a:ext cx="1239098" cy="661676"/>
            </a:xfrm>
            <a:prstGeom prst="ellipse">
              <a:avLst/>
            </a:prstGeom>
            <a:solidFill>
              <a:schemeClr val="accent1">
                <a:lumMod val="40000"/>
                <a:lumOff val="60000"/>
              </a:schemeClr>
            </a:solidFill>
            <a:ln w="9525">
              <a:solidFill>
                <a:schemeClr val="tx1">
                  <a:lumMod val="95000"/>
                </a:schemeClr>
              </a:solidFill>
            </a:ln>
            <a:effectLst>
              <a:glow rad="63500">
                <a:schemeClr val="accent2">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20" dirty="0">
                <a:solidFill>
                  <a:schemeClr val="accent1">
                    <a:lumMod val="25000"/>
                  </a:schemeClr>
                </a:solidFill>
                <a:latin typeface="微软雅黑" panose="020B0503020204020204" pitchFamily="34" charset="-122"/>
                <a:ea typeface="微软雅黑" panose="020B0503020204020204" pitchFamily="34" charset="-122"/>
                <a:cs typeface="Yuanti SC" charset="-122"/>
              </a:endParaRPr>
            </a:p>
          </p:txBody>
        </p:sp>
        <p:sp>
          <p:nvSpPr>
            <p:cNvPr id="9" name="矩形 8">
              <a:extLst>
                <a:ext uri="{FF2B5EF4-FFF2-40B4-BE49-F238E27FC236}">
                  <a16:creationId xmlns:a16="http://schemas.microsoft.com/office/drawing/2014/main" id="{1DAACDE2-B0F9-D750-0F12-2A693ACCBB33}"/>
                </a:ext>
              </a:extLst>
            </p:cNvPr>
            <p:cNvSpPr/>
            <p:nvPr/>
          </p:nvSpPr>
          <p:spPr>
            <a:xfrm>
              <a:off x="8527891" y="2666533"/>
              <a:ext cx="513998" cy="96475"/>
            </a:xfrm>
            <a:prstGeom prst="rect">
              <a:avLst/>
            </a:prstGeom>
            <a:ln w="9525">
              <a:noFill/>
              <a:prstDash val="dash"/>
            </a:ln>
          </p:spPr>
          <p:txBody>
            <a:bodyPr wrap="square">
              <a:spAutoFit/>
            </a:bodyPr>
            <a:lstStyle/>
            <a:p>
              <a:pPr algn="ctr"/>
              <a:r>
                <a:rPr lang="en-US" altLang="zh-CN" sz="1620" dirty="0">
                  <a:solidFill>
                    <a:schemeClr val="accent1">
                      <a:lumMod val="25000"/>
                    </a:schemeClr>
                  </a:solidFill>
                  <a:latin typeface="微软雅黑" panose="020B0503020204020204" pitchFamily="34" charset="-122"/>
                  <a:ea typeface="微软雅黑" panose="020B0503020204020204" pitchFamily="34" charset="-122"/>
                </a:rPr>
                <a:t>UTDD</a:t>
              </a:r>
              <a:endParaRPr lang="zh-CN" altLang="en-US" sz="1620" dirty="0">
                <a:solidFill>
                  <a:schemeClr val="accent1">
                    <a:lumMod val="25000"/>
                  </a:schemeClr>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6E76677D-3443-3D50-96FB-EBF4246DC0E5}"/>
              </a:ext>
            </a:extLst>
          </p:cNvPr>
          <p:cNvGrpSpPr/>
          <p:nvPr/>
        </p:nvGrpSpPr>
        <p:grpSpPr>
          <a:xfrm>
            <a:off x="5601378" y="2163503"/>
            <a:ext cx="692105" cy="605685"/>
            <a:chOff x="3702241" y="1127644"/>
            <a:chExt cx="1638108" cy="393007"/>
          </a:xfrm>
          <a:solidFill>
            <a:schemeClr val="bg1">
              <a:lumMod val="85000"/>
            </a:schemeClr>
          </a:solidFill>
        </p:grpSpPr>
        <p:sp>
          <p:nvSpPr>
            <p:cNvPr id="11" name="圆角矩形 10">
              <a:extLst>
                <a:ext uri="{FF2B5EF4-FFF2-40B4-BE49-F238E27FC236}">
                  <a16:creationId xmlns:a16="http://schemas.microsoft.com/office/drawing/2014/main" id="{06ADC56E-E603-0D8B-E092-93F290091D3A}"/>
                </a:ext>
              </a:extLst>
            </p:cNvPr>
            <p:cNvSpPr/>
            <p:nvPr/>
          </p:nvSpPr>
          <p:spPr>
            <a:xfrm>
              <a:off x="3702241" y="1127644"/>
              <a:ext cx="1638108" cy="393007"/>
            </a:xfrm>
            <a:prstGeom prst="roundRect">
              <a:avLst/>
            </a:prstGeom>
            <a:grpFill/>
            <a:ln w="12700" cmpd="thickThi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620">
                <a:solidFill>
                  <a:schemeClr val="accent1">
                    <a:lumMod val="25000"/>
                  </a:schemeClr>
                </a:solidFill>
              </a:endParaRPr>
            </a:p>
          </p:txBody>
        </p:sp>
        <p:sp>
          <p:nvSpPr>
            <p:cNvPr id="12" name="矩形 11">
              <a:extLst>
                <a:ext uri="{FF2B5EF4-FFF2-40B4-BE49-F238E27FC236}">
                  <a16:creationId xmlns:a16="http://schemas.microsoft.com/office/drawing/2014/main" id="{0187B68A-8CAF-81B0-A900-2CEDADE504B0}"/>
                </a:ext>
              </a:extLst>
            </p:cNvPr>
            <p:cNvSpPr/>
            <p:nvPr/>
          </p:nvSpPr>
          <p:spPr>
            <a:xfrm>
              <a:off x="3742340" y="1128463"/>
              <a:ext cx="1557907" cy="383434"/>
            </a:xfrm>
            <a:prstGeom prst="rect">
              <a:avLst/>
            </a:prstGeom>
            <a:grpFill/>
            <a:ln w="9525">
              <a:noFill/>
              <a:prstDash val="dash"/>
            </a:ln>
          </p:spPr>
          <p:txBody>
            <a:bodyPr wrap="square">
              <a:spAutoFit/>
            </a:bodyPr>
            <a:lstStyle/>
            <a:p>
              <a:pPr algn="ctr"/>
              <a:r>
                <a:rPr lang="zh-CN" altLang="en-US" sz="1620" dirty="0">
                  <a:solidFill>
                    <a:schemeClr val="accent1">
                      <a:lumMod val="25000"/>
                    </a:schemeClr>
                  </a:solidFill>
                  <a:latin typeface="微软雅黑" panose="020B0503020204020204" pitchFamily="34" charset="-122"/>
                  <a:ea typeface="微软雅黑" panose="020B0503020204020204" pitchFamily="34" charset="-122"/>
                </a:rPr>
                <a:t>单元测试</a:t>
              </a:r>
            </a:p>
          </p:txBody>
        </p:sp>
      </p:grpSp>
      <p:cxnSp>
        <p:nvCxnSpPr>
          <p:cNvPr id="13" name="曲线连接符 12">
            <a:extLst>
              <a:ext uri="{FF2B5EF4-FFF2-40B4-BE49-F238E27FC236}">
                <a16:creationId xmlns:a16="http://schemas.microsoft.com/office/drawing/2014/main" id="{BC56B671-E122-ED00-9C92-BA4E2F0E6D56}"/>
              </a:ext>
            </a:extLst>
          </p:cNvPr>
          <p:cNvCxnSpPr/>
          <p:nvPr/>
        </p:nvCxnSpPr>
        <p:spPr>
          <a:xfrm>
            <a:off x="4538256" y="2495743"/>
            <a:ext cx="635859" cy="215394"/>
          </a:xfrm>
          <a:prstGeom prst="curvedConnector2">
            <a:avLst/>
          </a:prstGeom>
          <a:ln>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直接箭头连接符 16">
            <a:extLst>
              <a:ext uri="{FF2B5EF4-FFF2-40B4-BE49-F238E27FC236}">
                <a16:creationId xmlns:a16="http://schemas.microsoft.com/office/drawing/2014/main" id="{85CB328C-ADFD-A74E-0B00-FA4920376826}"/>
              </a:ext>
            </a:extLst>
          </p:cNvPr>
          <p:cNvCxnSpPr/>
          <p:nvPr/>
        </p:nvCxnSpPr>
        <p:spPr>
          <a:xfrm flipH="1" flipV="1">
            <a:off x="5754758" y="2781056"/>
            <a:ext cx="31678" cy="6199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直接箭头连接符 17">
            <a:extLst>
              <a:ext uri="{FF2B5EF4-FFF2-40B4-BE49-F238E27FC236}">
                <a16:creationId xmlns:a16="http://schemas.microsoft.com/office/drawing/2014/main" id="{A4390D1B-CF35-66AF-BE2D-B25E2DB3B406}"/>
              </a:ext>
            </a:extLst>
          </p:cNvPr>
          <p:cNvCxnSpPr/>
          <p:nvPr/>
        </p:nvCxnSpPr>
        <p:spPr>
          <a:xfrm>
            <a:off x="6178159" y="2769187"/>
            <a:ext cx="0" cy="6801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折角形 15">
            <a:extLst>
              <a:ext uri="{FF2B5EF4-FFF2-40B4-BE49-F238E27FC236}">
                <a16:creationId xmlns:a16="http://schemas.microsoft.com/office/drawing/2014/main" id="{C755F79E-4DF3-3B8B-3DF6-208B787199F3}"/>
              </a:ext>
            </a:extLst>
          </p:cNvPr>
          <p:cNvSpPr/>
          <p:nvPr/>
        </p:nvSpPr>
        <p:spPr>
          <a:xfrm>
            <a:off x="5618320" y="3449299"/>
            <a:ext cx="854645" cy="439243"/>
          </a:xfrm>
          <a:prstGeom prst="foldedCorner">
            <a:avLst>
              <a:gd name="adj" fmla="val 27132"/>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20" dirty="0">
                <a:solidFill>
                  <a:schemeClr val="accent1">
                    <a:lumMod val="25000"/>
                  </a:schemeClr>
                </a:solidFill>
                <a:latin typeface="微软雅黑" panose="020B0503020204020204" pitchFamily="34" charset="-122"/>
                <a:ea typeface="微软雅黑" panose="020B0503020204020204" pitchFamily="34" charset="-122"/>
              </a:rPr>
              <a:t>代码</a:t>
            </a:r>
          </a:p>
        </p:txBody>
      </p:sp>
      <p:grpSp>
        <p:nvGrpSpPr>
          <p:cNvPr id="17" name="组合 16">
            <a:extLst>
              <a:ext uri="{FF2B5EF4-FFF2-40B4-BE49-F238E27FC236}">
                <a16:creationId xmlns:a16="http://schemas.microsoft.com/office/drawing/2014/main" id="{214750A7-E29D-0233-7D60-B49D5A0D7E77}"/>
              </a:ext>
            </a:extLst>
          </p:cNvPr>
          <p:cNvGrpSpPr/>
          <p:nvPr/>
        </p:nvGrpSpPr>
        <p:grpSpPr>
          <a:xfrm>
            <a:off x="3842087" y="2275520"/>
            <a:ext cx="692105" cy="605685"/>
            <a:chOff x="3702241" y="1127644"/>
            <a:chExt cx="1638108" cy="393007"/>
          </a:xfrm>
          <a:solidFill>
            <a:schemeClr val="bg1">
              <a:lumMod val="95000"/>
            </a:schemeClr>
          </a:solidFill>
        </p:grpSpPr>
        <p:sp>
          <p:nvSpPr>
            <p:cNvPr id="18" name="圆角矩形 17">
              <a:extLst>
                <a:ext uri="{FF2B5EF4-FFF2-40B4-BE49-F238E27FC236}">
                  <a16:creationId xmlns:a16="http://schemas.microsoft.com/office/drawing/2014/main" id="{56284CA4-A27D-C349-0B2E-E71B82B8F31E}"/>
                </a:ext>
              </a:extLst>
            </p:cNvPr>
            <p:cNvSpPr/>
            <p:nvPr/>
          </p:nvSpPr>
          <p:spPr>
            <a:xfrm>
              <a:off x="3702241" y="1127644"/>
              <a:ext cx="1638108" cy="393007"/>
            </a:xfrm>
            <a:prstGeom prst="roundRect">
              <a:avLst/>
            </a:prstGeom>
            <a:grpFill/>
            <a:ln w="12700" cmpd="thickThi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620">
                <a:solidFill>
                  <a:schemeClr val="accent1">
                    <a:lumMod val="25000"/>
                  </a:schemeClr>
                </a:solidFill>
              </a:endParaRPr>
            </a:p>
          </p:txBody>
        </p:sp>
        <p:sp>
          <p:nvSpPr>
            <p:cNvPr id="19" name="矩形 18">
              <a:extLst>
                <a:ext uri="{FF2B5EF4-FFF2-40B4-BE49-F238E27FC236}">
                  <a16:creationId xmlns:a16="http://schemas.microsoft.com/office/drawing/2014/main" id="{5E0AA8E6-0A0C-8D3A-6E75-5D7FD2E13CF2}"/>
                </a:ext>
              </a:extLst>
            </p:cNvPr>
            <p:cNvSpPr/>
            <p:nvPr/>
          </p:nvSpPr>
          <p:spPr>
            <a:xfrm>
              <a:off x="3742340" y="1128463"/>
              <a:ext cx="1557907" cy="383434"/>
            </a:xfrm>
            <a:prstGeom prst="rect">
              <a:avLst/>
            </a:prstGeom>
            <a:grpFill/>
            <a:ln w="9525">
              <a:noFill/>
              <a:prstDash val="dash"/>
            </a:ln>
          </p:spPr>
          <p:txBody>
            <a:bodyPr wrap="square">
              <a:spAutoFit/>
            </a:bodyPr>
            <a:lstStyle/>
            <a:p>
              <a:pPr algn="ctr"/>
              <a:r>
                <a:rPr lang="zh-CN" altLang="en-US" sz="1620" dirty="0">
                  <a:solidFill>
                    <a:schemeClr val="accent1">
                      <a:lumMod val="25000"/>
                    </a:schemeClr>
                  </a:solidFill>
                  <a:latin typeface="微软雅黑" panose="020B0503020204020204" pitchFamily="34" charset="-122"/>
                  <a:ea typeface="微软雅黑" panose="020B0503020204020204" pitchFamily="34" charset="-122"/>
                </a:rPr>
                <a:t>验收测试</a:t>
              </a:r>
            </a:p>
          </p:txBody>
        </p:sp>
      </p:grpSp>
      <p:cxnSp>
        <p:nvCxnSpPr>
          <p:cNvPr id="20" name="曲线连接符 19">
            <a:extLst>
              <a:ext uri="{FF2B5EF4-FFF2-40B4-BE49-F238E27FC236}">
                <a16:creationId xmlns:a16="http://schemas.microsoft.com/office/drawing/2014/main" id="{6D913D90-0C32-61C1-893D-68FEDAA26B79}"/>
              </a:ext>
            </a:extLst>
          </p:cNvPr>
          <p:cNvCxnSpPr>
            <a:stCxn id="8" idx="2"/>
          </p:cNvCxnSpPr>
          <p:nvPr/>
        </p:nvCxnSpPr>
        <p:spPr>
          <a:xfrm rot="10800000">
            <a:off x="4551138" y="2747650"/>
            <a:ext cx="573126" cy="305307"/>
          </a:xfrm>
          <a:prstGeom prst="curvedConnector3">
            <a:avLst>
              <a:gd name="adj1" fmla="val 50000"/>
            </a:avLst>
          </a:prstGeom>
          <a:ln>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曲线连接符 20">
            <a:extLst>
              <a:ext uri="{FF2B5EF4-FFF2-40B4-BE49-F238E27FC236}">
                <a16:creationId xmlns:a16="http://schemas.microsoft.com/office/drawing/2014/main" id="{0BC0A5F6-C694-A984-7EB0-E6E731A90F1B}"/>
              </a:ext>
            </a:extLst>
          </p:cNvPr>
          <p:cNvCxnSpPr>
            <a:stCxn id="24" idx="6"/>
          </p:cNvCxnSpPr>
          <p:nvPr/>
        </p:nvCxnSpPr>
        <p:spPr>
          <a:xfrm>
            <a:off x="2579065" y="2275521"/>
            <a:ext cx="1265287" cy="144836"/>
          </a:xfrm>
          <a:prstGeom prst="curvedConnector3">
            <a:avLst>
              <a:gd name="adj1" fmla="val 50000"/>
            </a:avLst>
          </a:prstGeom>
          <a:ln>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曲线连接符 21">
            <a:extLst>
              <a:ext uri="{FF2B5EF4-FFF2-40B4-BE49-F238E27FC236}">
                <a16:creationId xmlns:a16="http://schemas.microsoft.com/office/drawing/2014/main" id="{8EBB8171-0418-EDD0-83D5-3B9A679CFDDA}"/>
              </a:ext>
            </a:extLst>
          </p:cNvPr>
          <p:cNvCxnSpPr/>
          <p:nvPr/>
        </p:nvCxnSpPr>
        <p:spPr>
          <a:xfrm rot="10800000">
            <a:off x="2532437" y="2495744"/>
            <a:ext cx="1262066" cy="266437"/>
          </a:xfrm>
          <a:prstGeom prst="curvedConnector3">
            <a:avLst>
              <a:gd name="adj1" fmla="val 50000"/>
            </a:avLst>
          </a:prstGeom>
          <a:ln>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23" name="组合 22">
            <a:extLst>
              <a:ext uri="{FF2B5EF4-FFF2-40B4-BE49-F238E27FC236}">
                <a16:creationId xmlns:a16="http://schemas.microsoft.com/office/drawing/2014/main" id="{1972244D-52BD-4B7E-1D68-E50E0952CF4C}"/>
              </a:ext>
            </a:extLst>
          </p:cNvPr>
          <p:cNvGrpSpPr/>
          <p:nvPr/>
        </p:nvGrpSpPr>
        <p:grpSpPr>
          <a:xfrm>
            <a:off x="1278106" y="1894546"/>
            <a:ext cx="1300959" cy="761946"/>
            <a:chOff x="7797672" y="2384792"/>
            <a:chExt cx="1239098" cy="661676"/>
          </a:xfrm>
        </p:grpSpPr>
        <p:sp>
          <p:nvSpPr>
            <p:cNvPr id="24" name="椭圆 23">
              <a:extLst>
                <a:ext uri="{FF2B5EF4-FFF2-40B4-BE49-F238E27FC236}">
                  <a16:creationId xmlns:a16="http://schemas.microsoft.com/office/drawing/2014/main" id="{6C703416-9995-0942-65D0-0CE11C81BFF7}"/>
                </a:ext>
              </a:extLst>
            </p:cNvPr>
            <p:cNvSpPr/>
            <p:nvPr/>
          </p:nvSpPr>
          <p:spPr>
            <a:xfrm>
              <a:off x="7797672" y="2384792"/>
              <a:ext cx="1239098" cy="661676"/>
            </a:xfrm>
            <a:prstGeom prst="ellipse">
              <a:avLst/>
            </a:prstGeom>
            <a:solidFill>
              <a:schemeClr val="accent1">
                <a:lumMod val="40000"/>
                <a:lumOff val="60000"/>
              </a:schemeClr>
            </a:solidFill>
            <a:ln w="9525">
              <a:solidFill>
                <a:schemeClr val="tx1">
                  <a:lumMod val="95000"/>
                </a:schemeClr>
              </a:solidFill>
            </a:ln>
            <a:effectLst>
              <a:glow rad="63500">
                <a:schemeClr val="accent2">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20" dirty="0">
                <a:solidFill>
                  <a:schemeClr val="accent1">
                    <a:lumMod val="25000"/>
                  </a:schemeClr>
                </a:solidFill>
                <a:latin typeface="微软雅黑" panose="020B0503020204020204" pitchFamily="34" charset="-122"/>
                <a:ea typeface="微软雅黑" panose="020B0503020204020204" pitchFamily="34" charset="-122"/>
                <a:cs typeface="Yuanti SC" charset="-122"/>
              </a:endParaRPr>
            </a:p>
          </p:txBody>
        </p:sp>
        <p:sp>
          <p:nvSpPr>
            <p:cNvPr id="25" name="矩形 24">
              <a:extLst>
                <a:ext uri="{FF2B5EF4-FFF2-40B4-BE49-F238E27FC236}">
                  <a16:creationId xmlns:a16="http://schemas.microsoft.com/office/drawing/2014/main" id="{1D4B7F2B-A467-318A-4A93-7D9E6FEC11CC}"/>
                </a:ext>
              </a:extLst>
            </p:cNvPr>
            <p:cNvSpPr/>
            <p:nvPr/>
          </p:nvSpPr>
          <p:spPr>
            <a:xfrm>
              <a:off x="7891650" y="2599654"/>
              <a:ext cx="1100707" cy="296674"/>
            </a:xfrm>
            <a:prstGeom prst="rect">
              <a:avLst/>
            </a:prstGeom>
            <a:ln w="9525">
              <a:noFill/>
              <a:prstDash val="dash"/>
            </a:ln>
          </p:spPr>
          <p:txBody>
            <a:bodyPr wrap="square">
              <a:spAutoFit/>
            </a:bodyPr>
            <a:lstStyle/>
            <a:p>
              <a:pPr algn="ctr"/>
              <a:r>
                <a:rPr lang="zh-CN" altLang="en-US" sz="1620" dirty="0">
                  <a:solidFill>
                    <a:schemeClr val="accent1">
                      <a:lumMod val="25000"/>
                    </a:schemeClr>
                  </a:solidFill>
                  <a:latin typeface="微软雅黑" panose="020B0503020204020204" pitchFamily="34" charset="-122"/>
                  <a:ea typeface="微软雅黑" panose="020B0503020204020204" pitchFamily="34" charset="-122"/>
                </a:rPr>
                <a:t>验收指标</a:t>
              </a:r>
            </a:p>
          </p:txBody>
        </p:sp>
      </p:grpSp>
      <p:pic>
        <p:nvPicPr>
          <p:cNvPr id="26" name="图片 25">
            <a:extLst>
              <a:ext uri="{FF2B5EF4-FFF2-40B4-BE49-F238E27FC236}">
                <a16:creationId xmlns:a16="http://schemas.microsoft.com/office/drawing/2014/main" id="{2E178189-33E6-0D85-47D1-EF2BB940FF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6776" y="3645130"/>
            <a:ext cx="1025235" cy="1025235"/>
          </a:xfrm>
          <a:prstGeom prst="rect">
            <a:avLst/>
          </a:prstGeom>
        </p:spPr>
      </p:pic>
      <p:cxnSp>
        <p:nvCxnSpPr>
          <p:cNvPr id="27" name="直接箭头连接符 29">
            <a:extLst>
              <a:ext uri="{FF2B5EF4-FFF2-40B4-BE49-F238E27FC236}">
                <a16:creationId xmlns:a16="http://schemas.microsoft.com/office/drawing/2014/main" id="{CDCE0604-B387-9A05-469E-5ADBB446AED9}"/>
              </a:ext>
            </a:extLst>
          </p:cNvPr>
          <p:cNvCxnSpPr>
            <a:stCxn id="24" idx="4"/>
          </p:cNvCxnSpPr>
          <p:nvPr/>
        </p:nvCxnSpPr>
        <p:spPr>
          <a:xfrm>
            <a:off x="1928586" y="2656493"/>
            <a:ext cx="0" cy="1083826"/>
          </a:xfrm>
          <a:prstGeom prst="straightConnector1">
            <a:avLst/>
          </a:prstGeom>
          <a:ln>
            <a:prstDash val="sys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直接箭头连接符 30">
            <a:extLst>
              <a:ext uri="{FF2B5EF4-FFF2-40B4-BE49-F238E27FC236}">
                <a16:creationId xmlns:a16="http://schemas.microsoft.com/office/drawing/2014/main" id="{1895E9ED-AD46-5088-BBE8-7D7AEFD72E53}"/>
              </a:ext>
            </a:extLst>
          </p:cNvPr>
          <p:cNvCxnSpPr>
            <a:stCxn id="18" idx="2"/>
          </p:cNvCxnSpPr>
          <p:nvPr/>
        </p:nvCxnSpPr>
        <p:spPr>
          <a:xfrm flipH="1">
            <a:off x="2275502" y="2881205"/>
            <a:ext cx="1912637" cy="1200939"/>
          </a:xfrm>
          <a:prstGeom prst="straightConnector1">
            <a:avLst/>
          </a:prstGeom>
          <a:ln>
            <a:prstDash val="sys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29" name="文本框 28">
            <a:extLst>
              <a:ext uri="{FF2B5EF4-FFF2-40B4-BE49-F238E27FC236}">
                <a16:creationId xmlns:a16="http://schemas.microsoft.com/office/drawing/2014/main" id="{2AF083DD-A133-6E04-43B3-FC20BEDA043C}"/>
              </a:ext>
            </a:extLst>
          </p:cNvPr>
          <p:cNvSpPr txBox="1"/>
          <p:nvPr/>
        </p:nvSpPr>
        <p:spPr>
          <a:xfrm>
            <a:off x="559055" y="887185"/>
            <a:ext cx="8279446" cy="369332"/>
          </a:xfrm>
          <a:prstGeom prst="rect">
            <a:avLst/>
          </a:prstGeom>
          <a:noFill/>
        </p:spPr>
        <p:txBody>
          <a:bodyPr wrap="none" rtlCol="0">
            <a:spAutoFit/>
          </a:bodyPr>
          <a:lstStyle/>
          <a:p>
            <a:r>
              <a:rPr kumimoji="1" lang="en-US" altLang="zh-CN" dirty="0"/>
              <a:t>TDD</a:t>
            </a:r>
            <a:r>
              <a:rPr kumimoji="1" lang="zh-CN" altLang="en-US" dirty="0"/>
              <a:t> 成为思想，</a:t>
            </a:r>
            <a:r>
              <a:rPr kumimoji="1" lang="en-US" altLang="zh-CN" dirty="0"/>
              <a:t>UTDD</a:t>
            </a:r>
            <a:r>
              <a:rPr kumimoji="1" lang="zh-CN" altLang="en-US" dirty="0"/>
              <a:t> 单元测试驱动开发、</a:t>
            </a:r>
            <a:r>
              <a:rPr kumimoji="1" lang="en-US" altLang="zh-CN" dirty="0"/>
              <a:t> ATDD</a:t>
            </a:r>
            <a:r>
              <a:rPr kumimoji="1" lang="zh-CN" altLang="en-US" dirty="0"/>
              <a:t> 验收测试驱动开发则成为实践</a:t>
            </a:r>
          </a:p>
        </p:txBody>
      </p:sp>
    </p:spTree>
    <p:extLst>
      <p:ext uri="{BB962C8B-B14F-4D97-AF65-F5344CB8AC3E}">
        <p14:creationId xmlns:p14="http://schemas.microsoft.com/office/powerpoint/2010/main" val="42462782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E9D358-FF2C-4C7D-DB47-73001222A477}"/>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7779A1B7-1172-6DF1-1DBE-793470EF40A6}"/>
              </a:ext>
            </a:extLst>
          </p:cNvPr>
          <p:cNvSpPr>
            <a:spLocks noGrp="1"/>
          </p:cNvSpPr>
          <p:nvPr>
            <p:ph idx="1"/>
          </p:nvPr>
        </p:nvSpPr>
        <p:spPr>
          <a:xfrm>
            <a:off x="628650" y="1384088"/>
            <a:ext cx="7138937" cy="1576112"/>
          </a:xfrm>
        </p:spPr>
        <p:txBody>
          <a:bodyPr>
            <a:normAutofit/>
          </a:bodyPr>
          <a:lstStyle/>
          <a:p>
            <a:pPr>
              <a:lnSpc>
                <a:spcPct val="200000"/>
              </a:lnSpc>
            </a:pPr>
            <a:r>
              <a:rPr kumimoji="1" lang="zh-CN" altLang="en-US" dirty="0"/>
              <a:t>如果开发人员测试自己的产品，会有哪些障碍？</a:t>
            </a:r>
            <a:endParaRPr kumimoji="1" lang="en-US" altLang="zh-CN" dirty="0"/>
          </a:p>
          <a:p>
            <a:pPr>
              <a:lnSpc>
                <a:spcPct val="200000"/>
              </a:lnSpc>
            </a:pPr>
            <a:r>
              <a:rPr kumimoji="1" lang="en-US" altLang="zh-CN" dirty="0"/>
              <a:t>TDD</a:t>
            </a:r>
            <a:r>
              <a:rPr kumimoji="1" lang="zh-CN" altLang="en-US" dirty="0"/>
              <a:t>又是如何克服这些障碍的？</a:t>
            </a:r>
          </a:p>
          <a:p>
            <a:pPr marL="0" indent="0">
              <a:lnSpc>
                <a:spcPct val="200000"/>
              </a:lnSpc>
              <a:buNone/>
            </a:pPr>
            <a:endParaRPr kumimoji="1" lang="zh-CN" altLang="en-US" dirty="0"/>
          </a:p>
        </p:txBody>
      </p:sp>
    </p:spTree>
    <p:extLst>
      <p:ext uri="{BB962C8B-B14F-4D97-AF65-F5344CB8AC3E}">
        <p14:creationId xmlns:p14="http://schemas.microsoft.com/office/powerpoint/2010/main" val="17943961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8161119" cy="523875"/>
          </a:xfrm>
        </p:spPr>
        <p:txBody>
          <a:bodyPr/>
          <a:lstStyle/>
          <a:p>
            <a:r>
              <a:rPr kumimoji="1" lang="zh-CN" altLang="en-US" dirty="0">
                <a:latin typeface="微软雅黑" panose="020B0503020204020204" pitchFamily="34" charset="-122"/>
                <a:ea typeface="微软雅黑" panose="020B0503020204020204" pitchFamily="34" charset="-122"/>
              </a:rPr>
              <a:t>本章小结</a:t>
            </a:r>
          </a:p>
        </p:txBody>
      </p:sp>
      <p:sp>
        <p:nvSpPr>
          <p:cNvPr id="167" name="概念，学习要点的概念介绍，以及在工作中什么场景会用到"/>
          <p:cNvSpPr txBox="1"/>
          <p:nvPr/>
        </p:nvSpPr>
        <p:spPr>
          <a:xfrm>
            <a:off x="1135880" y="1175533"/>
            <a:ext cx="6246696" cy="2458237"/>
          </a:xfrm>
          <a:prstGeom prst="rect">
            <a:avLst/>
          </a:prstGeom>
          <a:ln w="12700">
            <a:miter lim="400000"/>
          </a:ln>
        </p:spPr>
        <p:txBody>
          <a:bodyPr wrap="square" lIns="50800" tIns="50800" rIns="50800" bIns="50800" anchor="ctr">
            <a:spAutoFit/>
          </a:bodyPr>
          <a:lstStyle/>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理解测试的定义与价值</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从不同视角认识软件测试</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正向思维、逆向思维，也会决定测试的行为</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理解测试、</a:t>
            </a:r>
            <a:r>
              <a:rPr lang="en-US" altLang="zh-CN" sz="2000" dirty="0">
                <a:ea typeface="楷体"/>
              </a:rPr>
              <a:t>SQA</a:t>
            </a:r>
            <a:r>
              <a:rPr lang="zh-CN" altLang="en-US" sz="2000" dirty="0">
                <a:ea typeface="楷体"/>
              </a:rPr>
              <a:t>、质量、开发等之间的关系</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理解先进的</a:t>
            </a:r>
            <a:r>
              <a:rPr lang="en-US" altLang="zh-CN" sz="2000" dirty="0">
                <a:ea typeface="楷体"/>
              </a:rPr>
              <a:t>TDD</a:t>
            </a:r>
            <a:r>
              <a:rPr lang="zh-CN" altLang="en-US" sz="2000" dirty="0">
                <a:ea typeface="楷体"/>
              </a:rPr>
              <a:t>思想</a:t>
            </a:r>
            <a:endParaRPr lang="en-US" altLang="zh-CN" sz="2000" dirty="0">
              <a:ea typeface="楷体"/>
            </a:endParaRPr>
          </a:p>
        </p:txBody>
      </p:sp>
    </p:spTree>
    <p:extLst>
      <p:ext uri="{BB962C8B-B14F-4D97-AF65-F5344CB8AC3E}">
        <p14:creationId xmlns:p14="http://schemas.microsoft.com/office/powerpoint/2010/main" val="4002041114"/>
      </p:ext>
    </p:extLst>
  </p:cSld>
  <p:clrMapOvr>
    <a:masterClrMapping/>
  </p:clrMapOvr>
  <p:transition spd="slow">
    <p:wipe dir="r"/>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3312667" cy="523875"/>
          </a:xfrm>
        </p:spPr>
        <p:txBody>
          <a:bodyPr/>
          <a:lstStyle/>
          <a:p>
            <a:r>
              <a:rPr kumimoji="1" lang="zh-CN" altLang="en-US" sz="2400" dirty="0">
                <a:latin typeface="微软雅黑" panose="020B0503020204020204" pitchFamily="34" charset="-122"/>
                <a:ea typeface="微软雅黑" panose="020B0503020204020204" pitchFamily="34" charset="-122"/>
              </a:rPr>
              <a:t>提问、思考与练习</a:t>
            </a:r>
          </a:p>
        </p:txBody>
      </p:sp>
      <p:sp>
        <p:nvSpPr>
          <p:cNvPr id="6" name="文本框 5">
            <a:extLst>
              <a:ext uri="{FF2B5EF4-FFF2-40B4-BE49-F238E27FC236}">
                <a16:creationId xmlns:a16="http://schemas.microsoft.com/office/drawing/2014/main" id="{67E758D6-5422-6522-2C47-8D9B9455CA50}"/>
              </a:ext>
            </a:extLst>
          </p:cNvPr>
          <p:cNvSpPr txBox="1"/>
          <p:nvPr/>
        </p:nvSpPr>
        <p:spPr>
          <a:xfrm>
            <a:off x="845573" y="1105609"/>
            <a:ext cx="7295535" cy="2463367"/>
          </a:xfrm>
          <a:prstGeom prst="rect">
            <a:avLst/>
          </a:prstGeom>
          <a:noFill/>
        </p:spPr>
        <p:txBody>
          <a:bodyPr wrap="square">
            <a:spAutoFit/>
          </a:bodyPr>
          <a:lstStyle/>
          <a:p>
            <a:pPr marL="457200" lvl="0" indent="-457200">
              <a:lnSpc>
                <a:spcPct val="140000"/>
              </a:lnSpc>
              <a:spcBef>
                <a:spcPct val="20000"/>
              </a:spcBef>
              <a:spcAft>
                <a:spcPts val="240"/>
              </a:spcAft>
              <a:buClr>
                <a:srgbClr val="0070C0"/>
              </a:buClr>
              <a:buSzPct val="80000"/>
              <a:buFont typeface="+mj-ea"/>
              <a:buAutoNum type="circleNumDbPlain"/>
              <a:defRPr/>
            </a:pPr>
            <a:r>
              <a:rPr lang="zh-CN" altLang="zh-CN" sz="2000" dirty="0">
                <a:ea typeface="楷体"/>
              </a:rPr>
              <a:t>在日常使用软件过程中，遇到哪些软件质量问题？</a:t>
            </a:r>
          </a:p>
          <a:p>
            <a:pPr marL="457200" lvl="0" indent="-457200">
              <a:lnSpc>
                <a:spcPct val="140000"/>
              </a:lnSpc>
              <a:spcBef>
                <a:spcPct val="20000"/>
              </a:spcBef>
              <a:spcAft>
                <a:spcPts val="240"/>
              </a:spcAft>
              <a:buClr>
                <a:srgbClr val="0070C0"/>
              </a:buClr>
              <a:buSzPct val="80000"/>
              <a:buFont typeface="+mj-ea"/>
              <a:buAutoNum type="circleNumDbPlain"/>
              <a:defRPr/>
            </a:pPr>
            <a:r>
              <a:rPr lang="zh-CN" altLang="zh-CN" sz="2000" dirty="0">
                <a:ea typeface="楷体"/>
              </a:rPr>
              <a:t>软件测试的正反两方面</a:t>
            </a:r>
            <a:r>
              <a:rPr lang="zh-CN" altLang="en-US" sz="2000" dirty="0">
                <a:ea typeface="楷体"/>
              </a:rPr>
              <a:t>观点会如何影响测试工作</a:t>
            </a:r>
            <a:r>
              <a:rPr lang="zh-CN" altLang="zh-CN" sz="2000" dirty="0">
                <a:ea typeface="楷体"/>
              </a:rPr>
              <a:t>的</a:t>
            </a:r>
            <a:r>
              <a:rPr lang="zh-CN" altLang="en-US" sz="2000" dirty="0">
                <a:ea typeface="楷体"/>
              </a:rPr>
              <a:t>？</a:t>
            </a:r>
            <a:endParaRPr lang="zh-CN" altLang="zh-CN" sz="2000" dirty="0">
              <a:ea typeface="楷体"/>
            </a:endParaRPr>
          </a:p>
          <a:p>
            <a:pPr marL="457200" lvl="0" indent="-457200">
              <a:lnSpc>
                <a:spcPct val="140000"/>
              </a:lnSpc>
              <a:spcBef>
                <a:spcPct val="20000"/>
              </a:spcBef>
              <a:spcAft>
                <a:spcPts val="240"/>
              </a:spcAft>
              <a:buClr>
                <a:srgbClr val="0070C0"/>
              </a:buClr>
              <a:buSzPct val="80000"/>
              <a:buFont typeface="+mj-ea"/>
              <a:buAutoNum type="circleNumDbPlain"/>
              <a:defRPr/>
            </a:pPr>
            <a:r>
              <a:rPr lang="zh-CN" altLang="zh-CN" sz="2000" dirty="0">
                <a:ea typeface="楷体"/>
              </a:rPr>
              <a:t>软件测试和软件开发的关系是怎样的？如何更好利用这种的关系？</a:t>
            </a:r>
          </a:p>
          <a:p>
            <a:pPr marL="457200" indent="-457200">
              <a:lnSpc>
                <a:spcPct val="140000"/>
              </a:lnSpc>
              <a:spcBef>
                <a:spcPct val="20000"/>
              </a:spcBef>
              <a:buClr>
                <a:srgbClr val="0070C0"/>
              </a:buClr>
              <a:buSzPct val="80000"/>
              <a:buFont typeface="+mj-ea"/>
              <a:buAutoNum type="circleNumDbPlain"/>
              <a:defRPr/>
            </a:pPr>
            <a:r>
              <a:rPr lang="zh-CN" altLang="zh-CN" sz="2000" dirty="0">
                <a:ea typeface="楷体"/>
              </a:rPr>
              <a:t>软件测试和质量保证之间的联系和区别</a:t>
            </a:r>
            <a:r>
              <a:rPr lang="zh-CN" altLang="en-US" sz="2000" dirty="0">
                <a:ea typeface="楷体"/>
              </a:rPr>
              <a:t>？</a:t>
            </a:r>
          </a:p>
        </p:txBody>
      </p:sp>
    </p:spTree>
  </p:cSld>
  <p:clrMapOvr>
    <a:masterClrMapping/>
  </p:clrMapOvr>
  <p:transition spd="slow">
    <p:wipe dir="r"/>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61645" y="258445"/>
            <a:ext cx="7989570" cy="664845"/>
          </a:xfrm>
          <a:prstGeom prst="rect">
            <a:avLst/>
          </a:prstGeom>
        </p:spPr>
        <p:txBody>
          <a:bodyPr vert="horz" lIns="91440" tIns="45720" rIns="91440" bIns="45720" rtlCol="0" anchor="ctr">
            <a:noAutofit/>
          </a:bodyPr>
          <a:lstStyle>
            <a:defPPr>
              <a:defRPr lang="zh-CN"/>
            </a:defPPr>
            <a:lvl1pPr indent="0" defTabSz="685800">
              <a:lnSpc>
                <a:spcPct val="90000"/>
              </a:lnSpc>
              <a:spcBef>
                <a:spcPct val="0"/>
              </a:spcBef>
              <a:buClr>
                <a:schemeClr val="accent4"/>
              </a:buClr>
              <a:buFontTx/>
              <a:buNone/>
              <a:defRPr kumimoji="1" sz="2800" b="1" i="0">
                <a:solidFill>
                  <a:srgbClr val="202B88"/>
                </a:solidFill>
                <a:latin typeface="微软雅黑" panose="020B0503020204020204" pitchFamily="34" charset="-122"/>
                <a:ea typeface="微软雅黑" panose="020B0503020204020204" pitchFamily="34" charset="-122"/>
                <a:cs typeface="思源黑体" panose="020F050202020403020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dirty="0"/>
              <a:t>学习资源推荐</a:t>
            </a:r>
          </a:p>
        </p:txBody>
      </p:sp>
      <p:sp>
        <p:nvSpPr>
          <p:cNvPr id="180" name="在这里推荐延伸学习资料…"/>
          <p:cNvSpPr txBox="1"/>
          <p:nvPr/>
        </p:nvSpPr>
        <p:spPr>
          <a:xfrm>
            <a:off x="461645" y="1682106"/>
            <a:ext cx="7738458" cy="1632563"/>
          </a:xfrm>
          <a:prstGeom prst="rect">
            <a:avLst/>
          </a:prstGeom>
          <a:ln w="12700">
            <a:miter lim="400000"/>
          </a:ln>
        </p:spPr>
        <p:txBody>
          <a:bodyPr wrap="square" lIns="50800" tIns="50800" rIns="50800" bIns="50800" anchor="ctr">
            <a:spAutoFit/>
          </a:bodyPr>
          <a:lstStyle/>
          <a:p>
            <a:pPr algn="l">
              <a:lnSpc>
                <a:spcPct val="120000"/>
              </a:lnSpc>
              <a:defRPr>
                <a:solidFill>
                  <a:srgbClr val="53585F"/>
                </a:solidFill>
                <a:latin typeface="Tahoma" panose="020B0604030504040204"/>
                <a:ea typeface="Tahoma" panose="020B0604030504040204"/>
                <a:cs typeface="Tahoma" panose="020B0604030504040204"/>
                <a:sym typeface="Tahoma" panose="020B0604030504040204"/>
              </a:defRPr>
            </a:pPr>
            <a:endParaRPr dirty="0"/>
          </a:p>
          <a:p>
            <a:pPr marL="936625" lvl="1" indent="-301625" algn="l">
              <a:lnSpc>
                <a:spcPct val="150000"/>
              </a:lnSpc>
              <a:buClr>
                <a:srgbClr val="3798DA"/>
              </a:buClr>
              <a:buSzPct val="100000"/>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软件测试方法和技术（第</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版）</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，清华大学出版社，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2022</a:t>
            </a:r>
            <a:endParaRPr dirty="0">
              <a:latin typeface="微软雅黑" panose="020B0503020204020204" pitchFamily="34" charset="-122"/>
              <a:ea typeface="微软雅黑" panose="020B0503020204020204" pitchFamily="34" charset="-122"/>
              <a:cs typeface="微软雅黑" panose="020B0503020204020204" pitchFamily="34" charset="-122"/>
            </a:endParaRPr>
          </a:p>
          <a:p>
            <a:pPr marL="936625" lvl="1" indent="-301625" algn="l">
              <a:lnSpc>
                <a:spcPct val="150000"/>
              </a:lnSpc>
              <a:buClr>
                <a:srgbClr val="3798DA"/>
              </a:buClr>
              <a:buSzPct val="100000"/>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全程软件测试（第</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版）</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，人民邮电出版社，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2019</a:t>
            </a:r>
          </a:p>
          <a:p>
            <a:pPr marL="936625" lvl="1" indent="-301625">
              <a:lnSpc>
                <a:spcPct val="150000"/>
              </a:lnSpc>
              <a:buClr>
                <a:srgbClr val="3798DA"/>
              </a:buClr>
              <a:buSzPct val="100000"/>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致命</a:t>
            </a:r>
            <a:r>
              <a:rPr lang="en" altLang="zh-CN" dirty="0">
                <a:solidFill>
                  <a:srgbClr val="53585F"/>
                </a:solidFill>
                <a:latin typeface="微软雅黑" panose="020B0503020204020204" pitchFamily="34" charset="-122"/>
                <a:ea typeface="微软雅黑" panose="020B0503020204020204" pitchFamily="34" charset="-122"/>
              </a:rPr>
              <a:t>Bug </a:t>
            </a:r>
            <a:r>
              <a:rPr lang="zh-CN" altLang="en-US" dirty="0">
                <a:solidFill>
                  <a:srgbClr val="53585F"/>
                </a:solidFill>
                <a:latin typeface="微软雅黑" panose="020B0503020204020204" pitchFamily="34" charset="-122"/>
                <a:ea typeface="微软雅黑" panose="020B0503020204020204" pitchFamily="34" charset="-122"/>
              </a:rPr>
              <a:t>软件缺陷的灾难与启示</a:t>
            </a: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，人民邮电出版社，</a:t>
            </a:r>
            <a:r>
              <a:rPr lang="en-US" altLang="zh-CN" dirty="0">
                <a:solidFill>
                  <a:srgbClr val="53585F"/>
                </a:solidFill>
                <a:latin typeface="微软雅黑" panose="020B0503020204020204" pitchFamily="34" charset="-122"/>
                <a:ea typeface="微软雅黑" panose="020B0503020204020204" pitchFamily="34" charset="-122"/>
              </a:rPr>
              <a:t>2016</a:t>
            </a:r>
            <a:endParaRPr dirty="0">
              <a:solidFill>
                <a:srgbClr val="53585F"/>
              </a:solidFill>
              <a:latin typeface="微软雅黑" panose="020B0503020204020204" pitchFamily="34" charset="-122"/>
              <a:ea typeface="微软雅黑" panose="020B0503020204020204" pitchFamily="34" charset="-122"/>
            </a:endParaRPr>
          </a:p>
        </p:txBody>
      </p:sp>
    </p:spTree>
  </p:cSld>
  <p:clrMapOvr>
    <a:masterClrMapping/>
  </p:clrMapOvr>
  <p:transition spd="slow">
    <p:wipe dir="r"/>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标题 5"/>
          <p:cNvSpPr>
            <a:spLocks noGrp="1"/>
          </p:cNvSpPr>
          <p:nvPr>
            <p:ph type="title"/>
          </p:nvPr>
        </p:nvSpPr>
        <p:spPr>
          <a:xfrm>
            <a:off x="714682" y="604302"/>
            <a:ext cx="3658214" cy="994172"/>
          </a:xfrm>
        </p:spPr>
        <p:txBody>
          <a:bodyPr/>
          <a:lstStyle/>
          <a:p>
            <a:pPr>
              <a:lnSpc>
                <a:spcPct val="110000"/>
              </a:lnSpc>
            </a:pPr>
            <a:r>
              <a:rPr lang="zh-CN" b="1" dirty="0">
                <a:solidFill>
                  <a:srgbClr val="435CC8"/>
                </a:solidFill>
                <a:latin typeface="微软雅黑" panose="020B0503020204020204" pitchFamily="34" charset="-122"/>
                <a:ea typeface="微软雅黑" panose="020B0503020204020204" pitchFamily="34" charset="-122"/>
              </a:rPr>
              <a:t>感</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谢</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聆</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听</a:t>
            </a:r>
            <a:endParaRPr lang="zh-CN" altLang="en-US" b="1" dirty="0">
              <a:solidFill>
                <a:srgbClr val="435CC8"/>
              </a:solidFill>
              <a:latin typeface="微软雅黑" panose="020B0503020204020204" pitchFamily="34" charset="-122"/>
              <a:ea typeface="微软雅黑" panose="020B0503020204020204" pitchFamily="34" charset="-122"/>
            </a:endParaRPr>
          </a:p>
        </p:txBody>
      </p:sp>
      <p:sp>
        <p:nvSpPr>
          <p:cNvPr id="7" name="文本占位符 6"/>
          <p:cNvSpPr>
            <a:spLocks noGrp="1"/>
          </p:cNvSpPr>
          <p:nvPr>
            <p:ph type="body" sz="quarter" idx="14"/>
          </p:nvPr>
        </p:nvSpPr>
        <p:spPr>
          <a:xfrm>
            <a:off x="1457939" y="1598474"/>
            <a:ext cx="2171700" cy="326643"/>
          </a:xfrm>
        </p:spPr>
        <p:txBody>
          <a:bodyPr>
            <a:noAutofit/>
          </a:bodyPr>
          <a:lstStyle/>
          <a:p>
            <a:r>
              <a:rPr lang="zh-CN" altLang="en-US" sz="1600" dirty="0">
                <a:solidFill>
                  <a:srgbClr val="435CC8"/>
                </a:solidFill>
                <a:latin typeface="Microsoft YaHei" panose="020B0503020204020204" pitchFamily="34" charset="-122"/>
                <a:ea typeface="Microsoft YaHei" panose="020B0503020204020204" pitchFamily="34" charset="-122"/>
              </a:rPr>
              <a:t>冯东栋</a:t>
            </a:r>
            <a:r>
              <a:rPr lang="en-US" altLang="zh-CN" sz="1600" dirty="0">
                <a:solidFill>
                  <a:srgbClr val="435CC8"/>
                </a:solidFill>
                <a:latin typeface="Microsoft YaHei" panose="020B0503020204020204" pitchFamily="34" charset="-122"/>
                <a:ea typeface="Microsoft YaHei" panose="020B0503020204020204" pitchFamily="34" charset="-122"/>
              </a:rPr>
              <a:t>/</a:t>
            </a:r>
            <a:r>
              <a:rPr lang="zh-CN" altLang="en-US" sz="1600" dirty="0">
                <a:solidFill>
                  <a:srgbClr val="435CC8"/>
                </a:solidFill>
                <a:latin typeface="Microsoft YaHei" panose="020B0503020204020204" pitchFamily="34" charset="-122"/>
                <a:ea typeface="Microsoft YaHei" panose="020B0503020204020204" pitchFamily="34" charset="-122"/>
              </a:rPr>
              <a:t> 河南大学</a:t>
            </a:r>
          </a:p>
        </p:txBody>
      </p:sp>
    </p:spTree>
  </p:cSld>
  <p:clrMapOvr>
    <a:masterClrMapping/>
  </p:clrMapOvr>
  <p:transition spd="slow">
    <p:wipe dir="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A5NDI2ZWFiMmI1OWE2N2QwMWFkNmFlNWQxNGI5MDg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4583_1*a*1"/>
  <p:tag name="KSO_WM_TEMPLATE_CATEGORY" val="diagram"/>
  <p:tag name="KSO_WM_TEMPLATE_INDEX" val="20214583"/>
  <p:tag name="KSO_WM_UNIT_LAYERLEVEL" val="1"/>
  <p:tag name="KSO_WM_TAG_VERSION" val="1.0"/>
  <p:tag name="KSO_WM_BEAUTIFY_FLAG" val="#wm#"/>
  <p:tag name="KSO_WM_UNIT_ISCONTENTSTITLE" val="0"/>
  <p:tag name="KSO_WM_UNIT_ISNUMDGMTITLE" val="0"/>
  <p:tag name="KSO_WM_UNIT_NOCLEAR" val="0"/>
  <p:tag name="KSO_WM_UNIT_TYPE" val="a"/>
  <p:tag name="KSO_WM_UNIT_INDEX" val="1"/>
  <p:tag name="KSO_WM_UNIT_PRESET_TEXT" val="单击此处添加标题"/>
  <p:tag name="KSO_WM_DIAGRAM_GROUP_CODE" val="m1-1"/>
  <p:tag name="KSO_WM_UNIT_VALUE" val="14"/>
  <p:tag name="KSO_WM_UNIT_TEXT_FILL_FORE_SCHEMECOLOR_INDEX_BRIGHTNESS" val="0.25"/>
  <p:tag name="KSO_WM_UNIT_TEXT_FILL_FORE_SCHEMECOLOR_INDEX" val="13"/>
  <p:tag name="KSO_WM_UNIT_TEXT_FILL_TYPE" val="1"/>
  <p:tag name="KSO_WM_UNIT_USESOURCEFORMAT_APPLY" val="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15174</TotalTime>
  <Words>4573</Words>
  <Application>Microsoft Office PowerPoint</Application>
  <PresentationFormat>全屏显示(16:9)</PresentationFormat>
  <Paragraphs>380</Paragraphs>
  <Slides>63</Slides>
  <Notes>35</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63</vt:i4>
      </vt:variant>
    </vt:vector>
  </HeadingPairs>
  <TitlesOfParts>
    <vt:vector size="85" baseType="lpstr">
      <vt:lpstr>-apple-system</vt:lpstr>
      <vt:lpstr>Helvetica Neue</vt:lpstr>
      <vt:lpstr>MS Mincho</vt:lpstr>
      <vt:lpstr>PingFang SC</vt:lpstr>
      <vt:lpstr>等线</vt:lpstr>
      <vt:lpstr>楷体</vt:lpstr>
      <vt:lpstr>楷体_GB2312</vt:lpstr>
      <vt:lpstr>思源黑体</vt:lpstr>
      <vt:lpstr>思源黑体 Bold</vt:lpstr>
      <vt:lpstr>思源黑体 CN Normal</vt:lpstr>
      <vt:lpstr>思源黑体 Medium</vt:lpstr>
      <vt:lpstr>宋体</vt:lpstr>
      <vt:lpstr>宋体</vt:lpstr>
      <vt:lpstr>微软雅黑</vt:lpstr>
      <vt:lpstr>微软雅黑</vt:lpstr>
      <vt:lpstr>微软雅黑 Light</vt:lpstr>
      <vt:lpstr>Arial</vt:lpstr>
      <vt:lpstr>Calibri</vt:lpstr>
      <vt:lpstr>Tahoma</vt:lpstr>
      <vt:lpstr>Times New Roman</vt:lpstr>
      <vt:lpstr>Wingdings</vt:lpstr>
      <vt:lpstr>Office 主题​​</vt:lpstr>
      <vt:lpstr>软件测试方法和技术</vt:lpstr>
      <vt:lpstr>软件测试全景图</vt:lpstr>
      <vt:lpstr>系统地理解软件测试</vt:lpstr>
      <vt:lpstr>从就业市场看软件测试</vt:lpstr>
      <vt:lpstr>在敏捷时代，如何看待软件测试？ </vt:lpstr>
      <vt:lpstr>如何借助这门课培养学生的分析问题和解决问题的能力？</vt:lpstr>
      <vt:lpstr>如何通过实验教学培养学生的实际能力？ </vt:lpstr>
      <vt:lpstr>《软件测试方法和技术》</vt:lpstr>
      <vt:lpstr>第1篇 软件测试的原理与方法</vt:lpstr>
      <vt:lpstr>软件测试方法和技术</vt:lpstr>
      <vt:lpstr>PowerPoint 演示文稿</vt:lpstr>
      <vt:lpstr>1.1 软件测试的必要性</vt:lpstr>
      <vt:lpstr>迪斯尼并不总是带来笑声</vt:lpstr>
      <vt:lpstr>一个缺陷造成了数亿美元损失</vt:lpstr>
      <vt:lpstr>火星探测飞船坠毁</vt:lpstr>
      <vt:lpstr>软件测试走了捷径导致灾难再次发生 </vt:lpstr>
      <vt:lpstr>错误指令造成骑士资本集团损失4.4亿美元</vt:lpstr>
      <vt:lpstr>AWS宕机整整4个小时</vt:lpstr>
      <vt:lpstr>Uber泄漏个人隐私，导致用户要求赔偿3亿多元</vt:lpstr>
      <vt:lpstr>预定的酒店住不进去、露宿街头</vt:lpstr>
      <vt:lpstr>更多的悲剧</vt:lpstr>
      <vt:lpstr>1.2 为什么要进行软件测试？</vt:lpstr>
      <vt:lpstr>为什么要进行软件测试?</vt:lpstr>
      <vt:lpstr>1.3 什么是软件测试？</vt:lpstr>
      <vt:lpstr>PowerPoint 演示文稿</vt:lpstr>
      <vt:lpstr>PowerPoint 演示文稿</vt:lpstr>
      <vt:lpstr>从狭义的软件测试到广义的软件测试</vt:lpstr>
      <vt:lpstr>广义的软件测试可以极大地降低研发成本</vt:lpstr>
      <vt:lpstr>软件测试学科的发展</vt:lpstr>
      <vt:lpstr>不同的阶段划分</vt:lpstr>
      <vt:lpstr>PowerPoint 演示文稿</vt:lpstr>
      <vt:lpstr>软件测试的正向思维</vt:lpstr>
      <vt:lpstr>软件测试的反向思维 </vt:lpstr>
      <vt:lpstr>认知决定着行为</vt:lpstr>
      <vt:lpstr>PowerPoint 演示文稿</vt:lpstr>
      <vt:lpstr>什么是软件测试？</vt:lpstr>
      <vt:lpstr>软件测试 IEEE/ ISO29119的定义</vt:lpstr>
      <vt:lpstr>软件测试 IEEE/ ISO29119的定义 – 续</vt:lpstr>
      <vt:lpstr>软件测试 IEEE Standard 729的定义</vt:lpstr>
      <vt:lpstr>软件测试的价值</vt:lpstr>
      <vt:lpstr>PowerPoint 演示文稿</vt:lpstr>
      <vt:lpstr>从质量视角认知软件测试</vt:lpstr>
      <vt:lpstr>产品质量模型与软件测试的关联关系</vt:lpstr>
      <vt:lpstr>从风险视角认知软件测试</vt:lpstr>
      <vt:lpstr>从经济视角认知软件测试</vt:lpstr>
      <vt:lpstr>基于Test Oracle 的认知</vt:lpstr>
      <vt:lpstr>基于批判性思维的认知</vt:lpstr>
      <vt:lpstr>1.4 测试与质量保证的关系</vt:lpstr>
      <vt:lpstr>什么是SQA？</vt:lpstr>
      <vt:lpstr>SQA活动</vt:lpstr>
      <vt:lpstr>软件测试 vs. SQA</vt:lpstr>
      <vt:lpstr>1.5 测试与开发的关系</vt:lpstr>
      <vt:lpstr>测试不是开发下一道工序</vt:lpstr>
      <vt:lpstr>测试与开发是并行、协作的关系</vt:lpstr>
      <vt:lpstr>1.6 测试驱动开发的思想</vt:lpstr>
      <vt:lpstr> 测试驱动开发的思想</vt:lpstr>
      <vt:lpstr>TDD的实践最早来自极限编程</vt:lpstr>
      <vt:lpstr>TDD与UTDD、ATDD</vt:lpstr>
      <vt:lpstr>问题</vt:lpstr>
      <vt:lpstr>本章小结</vt:lpstr>
      <vt:lpstr>提问、思考与练习</vt:lpstr>
      <vt:lpstr>PowerPoint 演示文稿</vt:lpstr>
      <vt:lpstr>感 谢 聆 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东栋 冯</cp:lastModifiedBy>
  <cp:revision>346</cp:revision>
  <dcterms:created xsi:type="dcterms:W3CDTF">2020-06-18T01:06:00Z</dcterms:created>
  <dcterms:modified xsi:type="dcterms:W3CDTF">2024-03-05T16:09:18Z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2052-11.1.0.11875</vt:lpwstr>
  </property>
  <property fmtid="{D5CDD505-2E9C-101B-9397-08002B2CF9AE}" pid="3" name="ICV">
    <vt:lpwstr>426427AD8D144D0396529E473195E768</vt:lpwstr>
  </property>
</Properties>
</file>