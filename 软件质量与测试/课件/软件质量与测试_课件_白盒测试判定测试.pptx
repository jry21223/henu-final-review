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heme/theme2.xml" ContentType="application/vnd.openxmlformats-officedocument.them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3.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notesSlides/notesSlide4.xml" ContentType="application/vnd.openxmlformats-officedocument.presentationml.notesSlide+xml"/>
  <Override PartName="/ppt/tags/tag228.xml" ContentType="application/vnd.openxmlformats-officedocument.presentationml.tags+xml"/>
  <Override PartName="/ppt/notesSlides/notesSlide5.xml" ContentType="application/vnd.openxmlformats-officedocument.presentationml.notesSlide+xml"/>
  <Override PartName="/ppt/tags/tag229.xml" ContentType="application/vnd.openxmlformats-officedocument.presentationml.tags+xml"/>
  <Override PartName="/ppt/notesSlides/notesSlide6.xml" ContentType="application/vnd.openxmlformats-officedocument.presentationml.notesSlide+xml"/>
  <Override PartName="/ppt/tags/tag230.xml" ContentType="application/vnd.openxmlformats-officedocument.presentationml.tags+xml"/>
  <Override PartName="/ppt/notesSlides/notesSlide7.xml" ContentType="application/vnd.openxmlformats-officedocument.presentationml.notesSlide+xml"/>
  <Override PartName="/ppt/tags/tag231.xml" ContentType="application/vnd.openxmlformats-officedocument.presentationml.tags+xml"/>
  <Override PartName="/ppt/tags/tag232.xml" ContentType="application/vnd.openxmlformats-officedocument.presentationml.tags+xml"/>
  <Override PartName="/ppt/notesSlides/notesSlide8.xml" ContentType="application/vnd.openxmlformats-officedocument.presentationml.notesSlide+xml"/>
  <Override PartName="/ppt/tags/tag233.xml" ContentType="application/vnd.openxmlformats-officedocument.presentationml.tags+xml"/>
  <Override PartName="/ppt/tags/tag234.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431" r:id="rId2"/>
    <p:sldId id="464" r:id="rId3"/>
    <p:sldId id="390" r:id="rId4"/>
    <p:sldId id="504" r:id="rId5"/>
    <p:sldId id="538" r:id="rId6"/>
    <p:sldId id="506" r:id="rId7"/>
    <p:sldId id="539" r:id="rId8"/>
    <p:sldId id="505" r:id="rId9"/>
    <p:sldId id="507" r:id="rId10"/>
    <p:sldId id="508" r:id="rId11"/>
    <p:sldId id="509" r:id="rId12"/>
    <p:sldId id="540" r:id="rId13"/>
    <p:sldId id="511" r:id="rId14"/>
    <p:sldId id="512" r:id="rId15"/>
    <p:sldId id="513" r:id="rId16"/>
    <p:sldId id="515" r:id="rId17"/>
    <p:sldId id="516" r:id="rId18"/>
    <p:sldId id="517" r:id="rId19"/>
    <p:sldId id="519" r:id="rId20"/>
    <p:sldId id="520" r:id="rId21"/>
    <p:sldId id="541" r:id="rId22"/>
    <p:sldId id="522" r:id="rId23"/>
    <p:sldId id="523" r:id="rId24"/>
    <p:sldId id="524" r:id="rId25"/>
    <p:sldId id="526" r:id="rId26"/>
    <p:sldId id="527" r:id="rId27"/>
    <p:sldId id="542" r:id="rId28"/>
    <p:sldId id="543" r:id="rId29"/>
    <p:sldId id="528" r:id="rId30"/>
    <p:sldId id="529" r:id="rId31"/>
    <p:sldId id="530" r:id="rId32"/>
    <p:sldId id="531" r:id="rId33"/>
    <p:sldId id="532" r:id="rId34"/>
    <p:sldId id="533" r:id="rId35"/>
    <p:sldId id="534" r:id="rId36"/>
    <p:sldId id="535" r:id="rId37"/>
    <p:sldId id="536" r:id="rId38"/>
    <p:sldId id="537" r:id="rId39"/>
    <p:sldId id="544" r:id="rId40"/>
    <p:sldId id="545" r:id="rId41"/>
    <p:sldId id="546" r:id="rId42"/>
    <p:sldId id="547" r:id="rId43"/>
    <p:sldId id="548" r:id="rId44"/>
    <p:sldId id="465" r:id="rId45"/>
  </p:sldIdLst>
  <p:sldSz cx="9144000" cy="6858000" type="screen4x3"/>
  <p:notesSz cx="6858000" cy="9144000"/>
  <p:custDataLst>
    <p:tags r:id="rId47"/>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54"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llo" initials="n" lastIdx="2" clrIdx="0"/>
  <p:cmAuthor id="2" name="作者" initials="A" lastIdx="0" clrIdx="1"/>
  <p:cmAuthor id="3" name="HUAWEI" initials="H"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0" d="100"/>
          <a:sy n="80" d="100"/>
        </p:scale>
        <p:origin x="1522" y="67"/>
      </p:cViewPr>
      <p:guideLst>
        <p:guide orient="horz" pos="2254"/>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88" name="Rectangle 4"/>
          <p:cNvSpPr>
            <a:spLocks noGrp="1" noRot="1" noChangeAspect="1"/>
          </p:cNvSpPr>
          <p:nvPr>
            <p:ph type="sldImg" idx="2"/>
          </p:nvPr>
        </p:nvSpPr>
        <p:spPr>
          <a:xfrm>
            <a:off x="1143000" y="685800"/>
            <a:ext cx="4572000" cy="3429000"/>
          </a:xfrm>
          <a:prstGeom prst="rect">
            <a:avLst/>
          </a:prstGeom>
          <a:noFill/>
          <a:ln w="9525">
            <a:noFill/>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cmpd="sng">
            <a:noFill/>
            <a:miter lim="800000"/>
          </a:ln>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lstStyle/>
          <a:p>
            <a:pPr lvl="0" algn="r" eaLnBrk="1" hangingPunct="1"/>
            <a:fld id="{9A0DB2DC-4C9A-4742-B13C-FB6460FD3503}" type="slidenum">
              <a:rPr lang="en-US" altLang="zh-CN" sz="1200" dirty="0">
                <a:latin typeface="Arial" panose="020B0604020202020204" pitchFamily="34" charset="0"/>
              </a:rPr>
              <a:t>‹#›</a:t>
            </a:fld>
            <a:endParaRPr lang="en-US" altLang="zh-CN" sz="120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BAEF20-8040-4861-AE3B-16115F61F45E}"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just" eaLnBrk="1" hangingPunct="1">
              <a:lnSpc>
                <a:spcPct val="140000"/>
              </a:lnSpc>
              <a:buClrTx/>
              <a:buSzTx/>
            </a:pPr>
            <a:r>
              <a:rPr lang="zh-CN" altLang="en-US" b="1" dirty="0">
                <a:sym typeface="+mn-ea"/>
              </a:rPr>
              <a:t>静态结构分析局限性</a:t>
            </a:r>
            <a:endParaRPr b="1" dirty="0"/>
          </a:p>
          <a:p>
            <a:pPr lvl="1" algn="just" eaLnBrk="1" hangingPunct="1">
              <a:lnSpc>
                <a:spcPct val="140000"/>
              </a:lnSpc>
              <a:buClrTx/>
              <a:buSzTx/>
            </a:pPr>
            <a:r>
              <a:rPr lang="zh-CN" altLang="en-US" dirty="0">
                <a:sym typeface="+mn-ea"/>
              </a:rPr>
              <a:t>在远离代码的条件下对程序进行分析；</a:t>
            </a:r>
            <a:endParaRPr dirty="0"/>
          </a:p>
          <a:p>
            <a:pPr lvl="1" algn="just" eaLnBrk="1" hangingPunct="1">
              <a:lnSpc>
                <a:spcPct val="140000"/>
              </a:lnSpc>
              <a:buClrTx/>
              <a:buSzTx/>
            </a:pPr>
            <a:r>
              <a:rPr lang="zh-CN" altLang="en-US" dirty="0">
                <a:sym typeface="+mn-ea"/>
              </a:rPr>
              <a:t>需要通过源代码评审、后续的动态白盒测试来进一步对源代码进行测试覆盖，以期找到更多潜伏的软件缺陷。</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该程序不符合编程规范，</a:t>
            </a:r>
            <a:r>
              <a:rPr lang="en-US" altLang="zh-CN"/>
              <a:t>if</a:t>
            </a:r>
            <a:r>
              <a:rPr lang="zh-CN" altLang="en-US"/>
              <a:t>语句应该有对应的</a:t>
            </a:r>
            <a:r>
              <a:rPr lang="en-US" altLang="zh-CN"/>
              <a:t>else</a:t>
            </a:r>
            <a:r>
              <a:rPr lang="zh-CN" altLang="en-US"/>
              <a:t>分支，否则容易导致缺陷。</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39</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40</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41</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42</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43</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0.xml"/><Relationship Id="rId7"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9" Type="http://schemas.openxmlformats.org/officeDocument/2006/relationships/image" Target="file:///C:\Users\1V994W2\PycharmProjects\PPT_Background_Generation/pic_temp/pic_sup.png" TargetMode="External"/></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image" Target="../media/image4.png"/><Relationship Id="rId5" Type="http://schemas.openxmlformats.org/officeDocument/2006/relationships/tags" Target="../tags/tag18.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17.xml"/><Relationship Id="rId9"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3.xml"/><Relationship Id="rId7" Type="http://schemas.openxmlformats.org/officeDocument/2006/relationships/tags" Target="../tags/tag27.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10" Type="http://schemas.openxmlformats.org/officeDocument/2006/relationships/image" Target="file:///C:\Users\1V994W2\PycharmProjects\PPT_Background_Generation/pic_temp/pic_half_top.png" TargetMode="External"/><Relationship Id="rId4" Type="http://schemas.openxmlformats.org/officeDocument/2006/relationships/tags" Target="../tags/tag24.xml"/><Relationship Id="rId9"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image" Target="../media/image4.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32.xml"/><Relationship Id="rId10" Type="http://schemas.openxmlformats.org/officeDocument/2006/relationships/image" Target="../media/image3.png"/><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image" Target="../media/image3.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slideMaster" Target="../slideMasters/slideMaster1.xml"/><Relationship Id="rId5" Type="http://schemas.openxmlformats.org/officeDocument/2006/relationships/tags" Target="../tags/tag40.xml"/><Relationship Id="rId15" Type="http://schemas.openxmlformats.org/officeDocument/2006/relationships/image" Target="file:///C:\Users\1V994W2\PycharmProjects\PPT_Background_Generation/pic_temp/1_pic_quater_left_down.png" TargetMode="Externa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8.xml"/><Relationship Id="rId7" Type="http://schemas.openxmlformats.org/officeDocument/2006/relationships/tags" Target="../tags/tag52.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image" Target="../media/image3.png"/><Relationship Id="rId5" Type="http://schemas.openxmlformats.org/officeDocument/2006/relationships/tags" Target="../tags/tag50.xml"/><Relationship Id="rId10" Type="http://schemas.openxmlformats.org/officeDocument/2006/relationships/image" Target="file:///C:\Users\1V994W2\Documents\Tencent%20Files\574576071\FileRecv\&#25340;&#35013;&#32032;&#26448;\&#20845;&#21313;\\60\subject_holdright_10,123,200_0_staid_full_0.png" TargetMode="External"/><Relationship Id="rId4" Type="http://schemas.openxmlformats.org/officeDocument/2006/relationships/tags" Target="../tags/tag49.xml"/><Relationship Id="rId9"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image" Target="../media/image4.pn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60.xml"/><Relationship Id="rId10" Type="http://schemas.openxmlformats.org/officeDocument/2006/relationships/image" Target="../media/image3.png"/><Relationship Id="rId4" Type="http://schemas.openxmlformats.org/officeDocument/2006/relationships/tags" Target="../tags/tag59.xml"/><Relationship Id="rId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4.png"/><Relationship Id="rId5" Type="http://schemas.openxmlformats.org/officeDocument/2006/relationships/tags" Target="../tags/tag68.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67.xml"/><Relationship Id="rId9"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73.xml"/><Relationship Id="rId7" Type="http://schemas.openxmlformats.org/officeDocument/2006/relationships/slideMaster" Target="../slideMasters/slideMaster1.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75.xml"/><Relationship Id="rId10" Type="http://schemas.openxmlformats.org/officeDocument/2006/relationships/image" Target="../media/image4.png"/><Relationship Id="rId4" Type="http://schemas.openxmlformats.org/officeDocument/2006/relationships/tags" Target="../tags/tag74.xml"/><Relationship Id="rId9" Type="http://schemas.openxmlformats.org/officeDocument/2006/relationships/image" Target="file:///C:\Users\1V994W2\PycharmProjects\PPT_Background_Generation/pic_temp/0_pic_quater_right_down.png" TargetMode="Externa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9.xml"/><Relationship Id="rId7" Type="http://schemas.openxmlformats.org/officeDocument/2006/relationships/slideMaster" Target="../slideMasters/slideMaster1.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5" Type="http://schemas.openxmlformats.org/officeDocument/2006/relationships/tags" Target="../tags/tag81.xml"/><Relationship Id="rId10" Type="http://schemas.openxmlformats.org/officeDocument/2006/relationships/image" Target="../media/image1.png"/><Relationship Id="rId4" Type="http://schemas.openxmlformats.org/officeDocument/2006/relationships/tags" Target="../tags/tag80.xml"/><Relationship Id="rId9" Type="http://schemas.openxmlformats.org/officeDocument/2006/relationships/image" Target="file:///C:\Users\1V994W2\PycharmProjects\PPT_Background_Generation/pic_temp/pic_sup.png" TargetMode="Externa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85.xml"/><Relationship Id="rId7" Type="http://schemas.openxmlformats.org/officeDocument/2006/relationships/slideMaster" Target="../slideMasters/slideMaster1.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87.xml"/><Relationship Id="rId10" Type="http://schemas.openxmlformats.org/officeDocument/2006/relationships/image" Target="../media/image4.png"/><Relationship Id="rId4" Type="http://schemas.openxmlformats.org/officeDocument/2006/relationships/tags" Target="../tags/tag86.xml"/><Relationship Id="rId9" Type="http://schemas.openxmlformats.org/officeDocument/2006/relationships/image" Target="file:///C:\Users\1V994W2\PycharmProjects\PPT_Background_Generation/pic_temp/0_pic_quater_right_down.png" TargetMode="Externa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image" Target="../media/image4.png"/><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93.xml"/><Relationship Id="rId10" Type="http://schemas.openxmlformats.org/officeDocument/2006/relationships/image" Target="../media/image3.png"/><Relationship Id="rId4" Type="http://schemas.openxmlformats.org/officeDocument/2006/relationships/tags" Target="../tags/tag92.xml"/><Relationship Id="rId9" Type="http://schemas.openxmlformats.org/officeDocument/2006/relationships/slideMaster" Target="../slideMasters/slideMaster1.xml"/><Relationship Id="rId1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04.xml"/><Relationship Id="rId3" Type="http://schemas.openxmlformats.org/officeDocument/2006/relationships/tags" Target="../tags/tag99.xml"/><Relationship Id="rId7" Type="http://schemas.openxmlformats.org/officeDocument/2006/relationships/tags" Target="../tags/tag103.xml"/><Relationship Id="rId12" Type="http://schemas.openxmlformats.org/officeDocument/2006/relationships/image" Target="../media/image1.png"/><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01.xml"/><Relationship Id="rId10" Type="http://schemas.openxmlformats.org/officeDocument/2006/relationships/image" Target="../media/image3.png"/><Relationship Id="rId4" Type="http://schemas.openxmlformats.org/officeDocument/2006/relationships/tags" Target="../tags/tag100.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image" Target="../media/image4.png"/><Relationship Id="rId3" Type="http://schemas.openxmlformats.org/officeDocument/2006/relationships/tags" Target="../tags/tag107.xml"/><Relationship Id="rId7" Type="http://schemas.openxmlformats.org/officeDocument/2006/relationships/tags" Target="../tags/tag111.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image" Target="../media/image3.png"/><Relationship Id="rId5" Type="http://schemas.openxmlformats.org/officeDocument/2006/relationships/tags" Target="../tags/tag109.xml"/><Relationship Id="rId10" Type="http://schemas.openxmlformats.org/officeDocument/2006/relationships/slideMaster" Target="../slideMasters/slideMaster1.xml"/><Relationship Id="rId4" Type="http://schemas.openxmlformats.org/officeDocument/2006/relationships/tags" Target="../tags/tag108.xml"/><Relationship Id="rId9" Type="http://schemas.openxmlformats.org/officeDocument/2006/relationships/tags" Target="../tags/tag113.xml"/><Relationship Id="rId14" Type="http://schemas.openxmlformats.org/officeDocument/2006/relationships/image" Target="file:///C:\Users\1V994W2\PycharmProjects\PPT_Background_Generation/pic_temp/1_pic_quater_left_down.png" TargetMode="Externa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21.xml"/><Relationship Id="rId13" Type="http://schemas.openxmlformats.org/officeDocument/2006/relationships/image" Target="../media/image4.png"/><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image" Target="../media/image3.png"/><Relationship Id="rId5" Type="http://schemas.openxmlformats.org/officeDocument/2006/relationships/tags" Target="../tags/tag118.xml"/><Relationship Id="rId15" Type="http://schemas.openxmlformats.org/officeDocument/2006/relationships/image" Target="../media/image1.png"/><Relationship Id="rId10" Type="http://schemas.openxmlformats.org/officeDocument/2006/relationships/slideMaster" Target="../slideMasters/slideMaster1.xml"/><Relationship Id="rId4" Type="http://schemas.openxmlformats.org/officeDocument/2006/relationships/tags" Target="../tags/tag117.xml"/><Relationship Id="rId9" Type="http://schemas.openxmlformats.org/officeDocument/2006/relationships/tags" Target="../tags/tag122.xml"/><Relationship Id="rId14" Type="http://schemas.openxmlformats.org/officeDocument/2006/relationships/image" Target="file:///C:\Users\1V994W2\PycharmProjects\PPT_Background_Generation/pic_temp/1_pic_quater_left_down.png" TargetMode="Externa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image" Target="../media/image3.png"/><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slideMaster" Target="../slideMasters/slideMaster1.xml"/><Relationship Id="rId17" Type="http://schemas.openxmlformats.org/officeDocument/2006/relationships/image" Target="../media/image1.png"/><Relationship Id="rId2" Type="http://schemas.openxmlformats.org/officeDocument/2006/relationships/tags" Target="../tags/tag124.xml"/><Relationship Id="rId16" Type="http://schemas.openxmlformats.org/officeDocument/2006/relationships/image" Target="file:///C:\Users\1V994W2\PycharmProjects\PPT_Background_Generation/pic_temp/1_pic_quater_left_down.png" TargetMode="Externa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5" Type="http://schemas.openxmlformats.org/officeDocument/2006/relationships/tags" Target="../tags/tag127.xml"/><Relationship Id="rId15" Type="http://schemas.openxmlformats.org/officeDocument/2006/relationships/image" Target="../media/image4.png"/><Relationship Id="rId10" Type="http://schemas.openxmlformats.org/officeDocument/2006/relationships/tags" Target="../tags/tag132.xml"/><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image" Target="file:///C:\Users\1V994W2\PycharmProjects\PPT_Background_Generation/pic_temp/0_pic_quater_right_down.png" TargetMode="Externa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41.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136.xml"/><Relationship Id="rId7" Type="http://schemas.openxmlformats.org/officeDocument/2006/relationships/tags" Target="../tags/tag140.xml"/><Relationship Id="rId12" Type="http://schemas.openxmlformats.org/officeDocument/2006/relationships/image" Target="../media/image4.png"/><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38.xml"/><Relationship Id="rId10" Type="http://schemas.openxmlformats.org/officeDocument/2006/relationships/image" Target="../media/image3.png"/><Relationship Id="rId4" Type="http://schemas.openxmlformats.org/officeDocument/2006/relationships/tags" Target="../tags/tag137.xml"/><Relationship Id="rId9" Type="http://schemas.openxmlformats.org/officeDocument/2006/relationships/slideMaster" Target="../slideMasters/slideMaster1.xml"/><Relationship Id="rId1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5"/>
          <p:cNvPicPr/>
          <p:nvPr userDrawn="1">
            <p:custDataLst>
              <p:tags r:id="rId1"/>
            </p:custDataLst>
          </p:nvPr>
        </p:nvPicPr>
        <p:blipFill>
          <a:blip r:embed="rId8" r:link="rId9" cstate="email"/>
          <a:stretch>
            <a:fillRect/>
          </a:stretch>
        </p:blipFill>
        <p:spPr>
          <a:xfrm>
            <a:off x="0" y="0"/>
            <a:ext cx="9144000" cy="6858000"/>
          </a:xfrm>
          <a:prstGeom prst="rect">
            <a:avLst/>
          </a:prstGeom>
        </p:spPr>
      </p:pic>
      <p:sp>
        <p:nvSpPr>
          <p:cNvPr id="16" name="日期占位符 15"/>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17" name="页脚占位符 16"/>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2" name="Title 1"/>
          <p:cNvSpPr>
            <a:spLocks noGrp="1"/>
          </p:cNvSpPr>
          <p:nvPr>
            <p:ph type="ctrTitle" idx="13" hasCustomPrompt="1"/>
            <p:custDataLst>
              <p:tags r:id="rId5"/>
            </p:custDataLst>
          </p:nvPr>
        </p:nvSpPr>
        <p:spPr>
          <a:xfrm>
            <a:off x="2151757" y="2167732"/>
            <a:ext cx="4762500" cy="1006793"/>
          </a:xfrm>
        </p:spPr>
        <p:txBody>
          <a:bodyPr vert="horz" wrap="square" lIns="90170" tIns="46990" rIns="90170" bIns="46990" rtlCol="0" anchor="b" anchorCtr="0">
            <a:normAutofit/>
          </a:bodyPr>
          <a:lstStyle>
            <a:lvl1pPr>
              <a:defRPr lang="zh-CN" altLang="en-US" sz="5400" b="0" spc="7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buClrTx/>
              <a:buSzTx/>
              <a:buFontTx/>
            </a:pPr>
            <a:r>
              <a:rPr lang="zh-CN" altLang="en-US" dirty="0"/>
              <a:t>编辑标题</a:t>
            </a:r>
          </a:p>
        </p:txBody>
      </p:sp>
      <p:sp>
        <p:nvSpPr>
          <p:cNvPr id="3" name="Subtitle 2"/>
          <p:cNvSpPr>
            <a:spLocks noGrp="1"/>
          </p:cNvSpPr>
          <p:nvPr>
            <p:ph type="subTitle" idx="14" hasCustomPrompt="1"/>
            <p:custDataLst>
              <p:tags r:id="rId6"/>
            </p:custDataLst>
          </p:nvPr>
        </p:nvSpPr>
        <p:spPr>
          <a:xfrm>
            <a:off x="2152174" y="3664585"/>
            <a:ext cx="4762024" cy="426720"/>
          </a:xfrm>
        </p:spPr>
        <p:txBody>
          <a:bodyPr vert="horz" wrap="square" lIns="90170" tIns="46990" rIns="90170" bIns="46990" rtlCol="0" anchor="t">
            <a:normAutofit/>
          </a:bodyPr>
          <a:lstStyle>
            <a:lvl1pPr>
              <a:defRPr lang="zh-CN" altLang="en-US">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20000"/>
              </a:lnSpc>
              <a:spcBef>
                <a:spcPts val="600"/>
              </a:spcBef>
              <a:spcAft>
                <a:spcPts val="0"/>
              </a:spcAft>
              <a:buClrTx/>
              <a:buSzTx/>
              <a:buNone/>
            </a:pPr>
            <a:r>
              <a:rPr lang="zh-CN" altLang="en-US" dirty="0"/>
              <a:t>单击此处编辑副标题</a:t>
            </a:r>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0" y="0"/>
            <a:ext cx="540068" cy="486377"/>
          </a:xfrm>
          <a:prstGeom prst="rect">
            <a:avLst/>
          </a:prstGeom>
        </p:spPr>
      </p:pic>
      <p:pic>
        <p:nvPicPr>
          <p:cNvPr id="7" name="图片 7"/>
          <p:cNvPicPr/>
          <p:nvPr userDrawn="1">
            <p:custDataLst>
              <p:tags r:id="rId2"/>
            </p:custDataLst>
          </p:nvPr>
        </p:nvPicPr>
        <p:blipFill>
          <a:blip r:embed="rId11" r:link="rId12" cstate="email"/>
          <a:stretch>
            <a:fillRect/>
          </a:stretch>
        </p:blipFill>
        <p:spPr>
          <a:xfrm>
            <a:off x="8603932" y="0"/>
            <a:ext cx="540068" cy="629227"/>
          </a:xfrm>
          <a:prstGeom prst="rect">
            <a:avLst/>
          </a:prstGeom>
        </p:spPr>
      </p:pic>
      <p:sp>
        <p:nvSpPr>
          <p:cNvPr id="2" name="标题 1"/>
          <p:cNvSpPr>
            <a:spLocks noGrp="1"/>
          </p:cNvSpPr>
          <p:nvPr>
            <p:ph type="title"/>
            <p:custDataLst>
              <p:tags r:id="rId3"/>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502285" y="1287780"/>
            <a:ext cx="8139430" cy="438023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8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9" r:link="rId10" cstate="email"/>
          <a:stretch>
            <a:fillRect/>
          </a:stretch>
        </p:blipFill>
        <p:spPr>
          <a:xfrm>
            <a:off x="3048000" y="5716016"/>
            <a:ext cx="3048000" cy="1141984"/>
          </a:xfrm>
          <a:prstGeom prst="rect">
            <a:avLst/>
          </a:prstGeom>
        </p:spPr>
      </p:pic>
      <p:sp>
        <p:nvSpPr>
          <p:cNvPr id="4" name="日期占位符 3"/>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5" name="页脚占位符 4"/>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cxnSp>
        <p:nvCxnSpPr>
          <p:cNvPr id="8" name="直接连接符 1"/>
          <p:cNvCxnSpPr/>
          <p:nvPr userDrawn="1">
            <p:custDataLst>
              <p:tags r:id="rId5"/>
            </p:custDataLst>
          </p:nvPr>
        </p:nvCxnSpPr>
        <p:spPr>
          <a:xfrm>
            <a:off x="1587341" y="2807653"/>
            <a:ext cx="482631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 name="Subtitle 1"/>
          <p:cNvSpPr>
            <a:spLocks noGrp="1"/>
          </p:cNvSpPr>
          <p:nvPr>
            <p:ph type="subTitle" idx="13" hasCustomPrompt="1"/>
            <p:custDataLst>
              <p:tags r:id="rId6"/>
            </p:custDataLst>
          </p:nvPr>
        </p:nvSpPr>
        <p:spPr>
          <a:xfrm>
            <a:off x="1587341" y="3025219"/>
            <a:ext cx="4325779" cy="331946"/>
          </a:xfrm>
        </p:spPr>
        <p:txBody>
          <a:bodyPr vert="horz" wrap="square" lIns="90170" tIns="46990" rIns="90170" bIns="46990" rtlCol="0" anchor="t" anchorCtr="0">
            <a:normAutofit/>
          </a:bodyPr>
          <a:lstStyle>
            <a:lvl1pPr>
              <a:defRPr kumimoji="0" lang="zh-CN" altLang="en-US" sz="1350" b="0" i="0" spc="200">
                <a:ln>
                  <a:noFill/>
                </a:ln>
                <a:solidFill>
                  <a:schemeClr val="tx1">
                    <a:lumMod val="65000"/>
                    <a:lumOff val="35000"/>
                  </a:schemeClr>
                </a:solidFill>
                <a:effectLst/>
                <a:uLnTx/>
                <a:latin typeface="Arial" panose="020B0604020202020204" pitchFamily="34" charset="0"/>
                <a:ea typeface="微软雅黑" panose="020B0503020204020204" charset="-122"/>
              </a:defRPr>
            </a:lvl1pPr>
          </a:lstStyle>
          <a:p>
            <a:pPr marL="0" marR="0" lvl="0" indent="0" algn="dist">
              <a:lnSpc>
                <a:spcPct val="100000"/>
              </a:lnSpc>
              <a:spcAft>
                <a:spcPts val="0"/>
              </a:spcAft>
              <a:buClrTx/>
              <a:buSzTx/>
              <a:buNone/>
            </a:pPr>
            <a:r>
              <a:rPr lang="zh-CN" altLang="en-US"/>
              <a:t>单击此处编辑副标题</a:t>
            </a:r>
          </a:p>
        </p:txBody>
      </p:sp>
      <p:sp>
        <p:nvSpPr>
          <p:cNvPr id="3" name="Title 2"/>
          <p:cNvSpPr>
            <a:spLocks noGrp="1"/>
          </p:cNvSpPr>
          <p:nvPr>
            <p:ph type="ctrTitle" idx="14" hasCustomPrompt="1"/>
            <p:custDataLst>
              <p:tags r:id="rId7"/>
            </p:custDataLst>
          </p:nvPr>
        </p:nvSpPr>
        <p:spPr>
          <a:xfrm>
            <a:off x="1587341" y="1866979"/>
            <a:ext cx="4325779" cy="667226"/>
          </a:xfrm>
        </p:spPr>
        <p:txBody>
          <a:bodyPr vert="horz" wrap="square" lIns="90170" tIns="46990" rIns="90170" bIns="0" rtlCol="0" anchor="b" anchorCtr="0">
            <a:normAutofit/>
          </a:bodyPr>
          <a:lstStyle>
            <a:lvl1pPr>
              <a:defRPr kumimoji="0" lang="zh-CN" altLang="en-US" sz="3300" b="0" i="0" spc="500" baseline="0">
                <a:ln>
                  <a:noFill/>
                </a:ln>
                <a:solidFill>
                  <a:schemeClr val="tx1">
                    <a:lumMod val="85000"/>
                    <a:lumOff val="15000"/>
                  </a:schemeClr>
                </a:solidFill>
                <a:effectLst/>
                <a:uLnTx/>
                <a:latin typeface="Arial" panose="020B0604020202020204" pitchFamily="34" charset="0"/>
                <a:ea typeface="汉仪旗黑-85S" panose="00020600040101010101" pitchFamily="18" charset="-122"/>
              </a:defRPr>
            </a:lvl1pPr>
          </a:lstStyle>
          <a:p>
            <a:pPr marL="0" marR="0" lvl="0" indent="0" algn="dist">
              <a:spcAft>
                <a:spcPts val="0"/>
              </a:spcAft>
              <a:buClrTx/>
              <a:buSzTx/>
              <a:buFontTx/>
            </a:pPr>
            <a:r>
              <a:rPr lang="zh-CN" altLang="en-US" dirty="0"/>
              <a:t>编辑标题</a:t>
            </a:r>
          </a:p>
        </p:txBody>
      </p: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email"/>
          <a:stretch>
            <a:fillRect/>
          </a:stretch>
        </p:blipFill>
        <p:spPr>
          <a:xfrm>
            <a:off x="0" y="0"/>
            <a:ext cx="540068" cy="486377"/>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8603932" y="0"/>
            <a:ext cx="540068" cy="629227"/>
          </a:xfrm>
          <a:prstGeom prst="rect">
            <a:avLst/>
          </a:prstGeom>
        </p:spPr>
      </p:pic>
      <p:sp>
        <p:nvSpPr>
          <p:cNvPr id="3" name="内容占位符 2"/>
          <p:cNvSpPr>
            <a:spLocks noGrp="1"/>
          </p:cNvSpPr>
          <p:nvPr>
            <p:ph sz="half" idx="1"/>
            <p:custDataLst>
              <p:tags r:id="rId3"/>
            </p:custDataLst>
          </p:nvPr>
        </p:nvSpPr>
        <p:spPr>
          <a:xfrm>
            <a:off x="502447" y="1626121"/>
            <a:ext cx="3962432"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4"/>
            </p:custDataLst>
          </p:nvPr>
        </p:nvSpPr>
        <p:spPr>
          <a:xfrm>
            <a:off x="4679158" y="1626121"/>
            <a:ext cx="3962432" cy="4041680"/>
          </a:xfrm>
        </p:spPr>
        <p:txBody>
          <a:bodyPr wrap="square" lIns="90170" tIns="46990" rIns="90170" bIns="46990">
            <a:normAutofit/>
          </a:bodyPr>
          <a:lstStyle>
            <a:lvl1pPr eaLnBrk="1" fontAlgn="auto" latinLnBrk="0" hangingPunct="1">
              <a:defRPr sz="2000">
                <a:solidFill>
                  <a:schemeClr val="tx1"/>
                </a:solidFill>
                <a:latin typeface="Arial" panose="020B0604020202020204" pitchFamily="34" charset="0"/>
                <a:ea typeface="微软雅黑" panose="020B0503020204020204" charset="-122"/>
              </a:defRPr>
            </a:lvl1pPr>
            <a:lvl2pPr eaLnBrk="1" fontAlgn="auto" latinLnBrk="0" hangingPunct="1">
              <a:defRPr sz="2000">
                <a:solidFill>
                  <a:schemeClr val="tx1"/>
                </a:solidFill>
                <a:latin typeface="Arial" panose="020B0604020202020204" pitchFamily="34" charset="0"/>
                <a:ea typeface="微软雅黑" panose="020B0503020204020204" charset="-122"/>
              </a:defRPr>
            </a:lvl2pPr>
            <a:lvl3pPr eaLnBrk="1" fontAlgn="auto" latinLnBrk="0" hangingPunct="1">
              <a:defRPr sz="2000">
                <a:solidFill>
                  <a:schemeClr val="tx1"/>
                </a:solidFill>
                <a:latin typeface="Arial" panose="020B0604020202020204" pitchFamily="34" charset="0"/>
                <a:ea typeface="微软雅黑" panose="020B0503020204020204" charset="-122"/>
              </a:defRPr>
            </a:lvl3pPr>
            <a:lvl4pPr eaLnBrk="1" fontAlgn="auto" latinLnBrk="0" hangingPunct="1">
              <a:defRPr sz="20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6" name="页脚占位符 5"/>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10" name="标题 9"/>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12" r:link="rId13" cstate="email"/>
          <a:stretch>
            <a:fillRect/>
          </a:stretch>
        </p:blipFill>
        <p:spPr>
          <a:xfrm>
            <a:off x="0" y="0"/>
            <a:ext cx="540068" cy="486377"/>
          </a:xfrm>
          <a:prstGeom prst="rect">
            <a:avLst/>
          </a:prstGeom>
        </p:spPr>
      </p:pic>
      <p:pic>
        <p:nvPicPr>
          <p:cNvPr id="10" name="图片 7"/>
          <p:cNvPicPr/>
          <p:nvPr userDrawn="1">
            <p:custDataLst>
              <p:tags r:id="rId2"/>
            </p:custDataLst>
          </p:nvPr>
        </p:nvPicPr>
        <p:blipFill>
          <a:blip r:embed="rId14" r:link="rId15" cstate="email"/>
          <a:stretch>
            <a:fillRect/>
          </a:stretch>
        </p:blipFill>
        <p:spPr>
          <a:xfrm>
            <a:off x="8603932" y="0"/>
            <a:ext cx="540068" cy="629227"/>
          </a:xfrm>
          <a:prstGeom prst="rect">
            <a:avLst/>
          </a:prstGeom>
        </p:spPr>
      </p:pic>
      <p:sp>
        <p:nvSpPr>
          <p:cNvPr id="3" name="文本占位符 2"/>
          <p:cNvSpPr>
            <a:spLocks noGrp="1"/>
          </p:cNvSpPr>
          <p:nvPr>
            <p:ph type="body" idx="1" hasCustomPrompt="1"/>
            <p:custDataLst>
              <p:tags r:id="rId3"/>
            </p:custDataLst>
          </p:nvPr>
        </p:nvSpPr>
        <p:spPr>
          <a:xfrm>
            <a:off x="502447" y="1386213"/>
            <a:ext cx="3962432" cy="285752"/>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4"/>
            </p:custDataLst>
          </p:nvPr>
        </p:nvSpPr>
        <p:spPr>
          <a:xfrm>
            <a:off x="502285" y="1797685"/>
            <a:ext cx="3962400" cy="3926205"/>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5"/>
            </p:custDataLst>
          </p:nvPr>
        </p:nvSpPr>
        <p:spPr>
          <a:xfrm>
            <a:off x="4686337" y="1386213"/>
            <a:ext cx="3962432" cy="285752"/>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6"/>
            </p:custDataLst>
          </p:nvPr>
        </p:nvSpPr>
        <p:spPr>
          <a:xfrm>
            <a:off x="4676775" y="1797685"/>
            <a:ext cx="3962400" cy="3926205"/>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7"/>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8" name="页脚占位符 7"/>
          <p:cNvSpPr>
            <a:spLocks noGrp="1"/>
          </p:cNvSpPr>
          <p:nvPr>
            <p:ph type="ftr" sz="quarter" idx="11"/>
            <p:custDataLst>
              <p:tags r:id="rId8"/>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9"/>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12" name="标题 11"/>
          <p:cNvSpPr>
            <a:spLocks noGrp="1"/>
          </p:cNvSpPr>
          <p:nvPr>
            <p:ph type="title"/>
            <p:custDataLst>
              <p:tags r:id="rId10"/>
            </p:custDataLst>
          </p:nvPr>
        </p:nvSpPr>
        <p:spPr>
          <a:xfrm>
            <a:off x="511810"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228600" y="2503170"/>
            <a:ext cx="3291840" cy="1851660"/>
          </a:xfrm>
          <a:prstGeom prst="rect">
            <a:avLst/>
          </a:prstGeom>
        </p:spPr>
      </p:pic>
      <p:sp>
        <p:nvSpPr>
          <p:cNvPr id="7" name="任意多边形 6"/>
          <p:cNvSpPr/>
          <p:nvPr userDrawn="1">
            <p:custDataLst>
              <p:tags r:id="rId2"/>
            </p:custDataLst>
          </p:nvPr>
        </p:nvSpPr>
        <p:spPr>
          <a:xfrm>
            <a:off x="3658500" y="0"/>
            <a:ext cx="5485500"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pic>
        <p:nvPicPr>
          <p:cNvPr id="6" name="图片 8"/>
          <p:cNvPicPr/>
          <p:nvPr userDrawn="1">
            <p:custDataLst>
              <p:tags r:id="rId3"/>
            </p:custDataLst>
          </p:nvPr>
        </p:nvPicPr>
        <p:blipFill>
          <a:blip r:embed="rId11" r:link="rId12" cstate="email"/>
          <a:stretch>
            <a:fillRect/>
          </a:stretch>
        </p:blipFill>
        <p:spPr>
          <a:xfrm>
            <a:off x="8603932" y="6371623"/>
            <a:ext cx="540068" cy="486377"/>
          </a:xfrm>
          <a:prstGeom prst="rect">
            <a:avLst/>
          </a:prstGeom>
        </p:spPr>
      </p:pic>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9" name="标题 8"/>
          <p:cNvSpPr>
            <a:spLocks noGrp="1"/>
          </p:cNvSpPr>
          <p:nvPr>
            <p:ph type="title"/>
            <p:custDataLst>
              <p:tags r:id="rId7"/>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3" name="页脚占位符 2"/>
          <p:cNvSpPr>
            <a:spLocks noGrp="1"/>
          </p:cNvSpPr>
          <p:nvPr>
            <p:ph type="ftr" sz="quarter" idx="11"/>
            <p:custDataLst>
              <p:tags r:id="rId2"/>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3"/>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email"/>
          <a:stretch>
            <a:fillRect/>
          </a:stretch>
        </p:blipFill>
        <p:spPr>
          <a:xfrm>
            <a:off x="0" y="0"/>
            <a:ext cx="540068" cy="486377"/>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8603932" y="0"/>
            <a:ext cx="540068" cy="629227"/>
          </a:xfrm>
          <a:prstGeom prst="rect">
            <a:avLst/>
          </a:prstGeom>
        </p:spPr>
      </p:pic>
      <p:sp>
        <p:nvSpPr>
          <p:cNvPr id="3" name="图片占位符 2"/>
          <p:cNvSpPr>
            <a:spLocks noGrp="1"/>
          </p:cNvSpPr>
          <p:nvPr>
            <p:ph type="pic" idx="1"/>
            <p:custDataLst>
              <p:tags r:id="rId3"/>
            </p:custDataLst>
          </p:nvPr>
        </p:nvSpPr>
        <p:spPr>
          <a:xfrm>
            <a:off x="502447" y="1626121"/>
            <a:ext cx="3962432" cy="4041680"/>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1">
              <a:rPr lang="zh-CN" altLang="en-US" smtClean="0"/>
              <a:t>2024/4/9</a:t>
            </a:fld>
            <a:endParaRPr lang="zh-CN" altLang="en-US" dirty="0"/>
          </a:p>
        </p:txBody>
      </p:sp>
      <p:sp>
        <p:nvSpPr>
          <p:cNvPr id="6" name="页脚占位符 5"/>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t>‹#›</a:t>
            </a:fld>
            <a:endParaRPr lang="zh-CN" altLang="en-US"/>
          </a:p>
        </p:txBody>
      </p:sp>
      <p:sp>
        <p:nvSpPr>
          <p:cNvPr id="10" name="标题 9"/>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0" y="0"/>
            <a:ext cx="540068" cy="486377"/>
          </a:xfrm>
          <a:prstGeom prst="rect">
            <a:avLst/>
          </a:prstGeom>
        </p:spPr>
      </p:pic>
      <p:pic>
        <p:nvPicPr>
          <p:cNvPr id="7" name="图片 7"/>
          <p:cNvPicPr/>
          <p:nvPr userDrawn="1">
            <p:custDataLst>
              <p:tags r:id="rId2"/>
            </p:custDataLst>
          </p:nvPr>
        </p:nvPicPr>
        <p:blipFill>
          <a:blip r:embed="rId11" r:link="rId12" cstate="email"/>
          <a:stretch>
            <a:fillRect/>
          </a:stretch>
        </p:blipFill>
        <p:spPr>
          <a:xfrm>
            <a:off x="8603932" y="0"/>
            <a:ext cx="540068" cy="629227"/>
          </a:xfrm>
          <a:prstGeom prst="rect">
            <a:avLst/>
          </a:prstGeom>
        </p:spPr>
      </p:pic>
      <p:sp>
        <p:nvSpPr>
          <p:cNvPr id="2" name="竖排标题 1"/>
          <p:cNvSpPr>
            <a:spLocks noGrp="1"/>
          </p:cNvSpPr>
          <p:nvPr>
            <p:ph type="title" orient="vert"/>
            <p:custDataLst>
              <p:tags r:id="rId3"/>
            </p:custDataLst>
          </p:nvPr>
        </p:nvSpPr>
        <p:spPr>
          <a:xfrm>
            <a:off x="7928351" y="1626121"/>
            <a:ext cx="713238" cy="4041680"/>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502444" y="1626113"/>
            <a:ext cx="7371076" cy="4041680"/>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8" r:link="rId9" cstate="email"/>
          <a:stretch>
            <a:fillRect/>
          </a:stretch>
        </p:blipFill>
        <p:spPr>
          <a:xfrm>
            <a:off x="0" y="0"/>
            <a:ext cx="540068" cy="486377"/>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8603932" y="0"/>
            <a:ext cx="540068" cy="629227"/>
          </a:xfrm>
          <a:prstGeom prst="rect">
            <a:avLst/>
          </a:prstGeom>
        </p:spPr>
      </p:pic>
      <p:sp>
        <p:nvSpPr>
          <p:cNvPr id="3" name="日期占位符 2"/>
          <p:cNvSpPr>
            <a:spLocks noGrp="1"/>
          </p:cNvSpPr>
          <p:nvPr>
            <p:ph type="dt" sz="half" idx="10"/>
            <p:custDataLst>
              <p:tags r:id="rId3"/>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5"/>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502447" y="1626121"/>
            <a:ext cx="8139178" cy="4041680"/>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8" r:link="rId9" cstate="email"/>
          <a:stretch>
            <a:fillRect/>
          </a:stretch>
        </p:blipFill>
        <p:spPr>
          <a:xfrm>
            <a:off x="0" y="0"/>
            <a:ext cx="9144000" cy="6858000"/>
          </a:xfrm>
          <a:prstGeom prst="rect">
            <a:avLst/>
          </a:prstGeom>
        </p:spPr>
      </p:pic>
      <p:sp>
        <p:nvSpPr>
          <p:cNvPr id="3" name="日期占位符 2"/>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2" name="Title 1"/>
          <p:cNvSpPr>
            <a:spLocks noGrp="1"/>
          </p:cNvSpPr>
          <p:nvPr>
            <p:ph type="title" idx="13" hasCustomPrompt="1"/>
            <p:custDataLst>
              <p:tags r:id="rId5"/>
            </p:custDataLst>
          </p:nvPr>
        </p:nvSpPr>
        <p:spPr>
          <a:xfrm>
            <a:off x="2496929" y="2148126"/>
            <a:ext cx="4024313" cy="1049179"/>
          </a:xfrm>
        </p:spPr>
        <p:txBody>
          <a:bodyPr vert="horz" wrap="square" lIns="90170" tIns="46990" rIns="90170" bIns="46990" rtlCol="0" anchor="b" anchorCtr="0">
            <a:normAutofit/>
          </a:bodyPr>
          <a:lstStyle>
            <a:lvl1pPr>
              <a:defRPr lang="zh-CN" altLang="en-US" sz="6000" b="0" spc="10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r>
              <a:rPr lang="zh-CN" altLang="en-US" dirty="0"/>
              <a:t>编辑标题</a:t>
            </a:r>
          </a:p>
        </p:txBody>
      </p:sp>
      <p:sp>
        <p:nvSpPr>
          <p:cNvPr id="7" name="Text Placeholder 6"/>
          <p:cNvSpPr>
            <a:spLocks noGrp="1"/>
          </p:cNvSpPr>
          <p:nvPr>
            <p:ph type="body" idx="14" hasCustomPrompt="1"/>
            <p:custDataLst>
              <p:tags r:id="rId6"/>
            </p:custDataLst>
          </p:nvPr>
        </p:nvSpPr>
        <p:spPr>
          <a:xfrm>
            <a:off x="2496979" y="3710067"/>
            <a:ext cx="4024313" cy="379571"/>
          </a:xfrm>
        </p:spPr>
        <p:txBody>
          <a:bodyPr vert="horz" wrap="square" lIns="90170" tIns="0" rIns="90170" bIns="46990" rtlCol="0" anchor="t" anchorCtr="0">
            <a:normAutofit/>
          </a:bodyPr>
          <a:lstStyle>
            <a:lvl1pPr>
              <a:defRPr lang="zh-CN" altLang="en-US" sz="1350" spc="20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20000"/>
              </a:lnSpc>
              <a:spcAft>
                <a:spcPts val="0"/>
              </a:spcAft>
              <a:buClrTx/>
              <a:buSzTx/>
              <a:buNone/>
            </a:pPr>
            <a:r>
              <a:rPr lang="zh-CN" altLang="en-US" dirty="0"/>
              <a:t>单击此处编辑文本</a:t>
            </a:r>
          </a:p>
        </p:txBody>
      </p:sp>
      <p:pic>
        <p:nvPicPr>
          <p:cNvPr id="1033" name="图片 8"/>
          <p:cNvPicPr>
            <a:picLocks noChangeAspect="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8" r:link="rId9" cstate="email"/>
          <a:stretch>
            <a:fillRect/>
          </a:stretch>
        </p:blipFill>
        <p:spPr>
          <a:xfrm>
            <a:off x="0" y="0"/>
            <a:ext cx="540068" cy="486377"/>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8603932" y="0"/>
            <a:ext cx="540068" cy="629227"/>
          </a:xfrm>
          <a:prstGeom prst="rect">
            <a:avLst/>
          </a:prstGeom>
        </p:spPr>
      </p:pic>
      <p:sp>
        <p:nvSpPr>
          <p:cNvPr id="2" name="标题 1"/>
          <p:cNvSpPr>
            <a:spLocks noGrp="1"/>
          </p:cNvSpPr>
          <p:nvPr>
            <p:ph type="title"/>
            <p:custDataLst>
              <p:tags r:id="rId3"/>
            </p:custDataLst>
          </p:nvPr>
        </p:nvSpPr>
        <p:spPr>
          <a:xfrm>
            <a:off x="502411" y="498476"/>
            <a:ext cx="8139178"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219056" y="303809"/>
            <a:ext cx="8705888"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6"/>
          <p:cNvPicPr/>
          <p:nvPr userDrawn="1">
            <p:custDataLst>
              <p:tags r:id="rId2"/>
            </p:custDataLst>
          </p:nvPr>
        </p:nvPicPr>
        <p:blipFill>
          <a:blip r:embed="rId10" r:link="rId11"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2" r:link="rId13" cstate="email"/>
          <a:stretch>
            <a:fillRect/>
          </a:stretch>
        </p:blipFill>
        <p:spPr>
          <a:xfrm>
            <a:off x="8603932" y="0"/>
            <a:ext cx="540068" cy="629227"/>
          </a:xfrm>
          <a:prstGeom prst="rect">
            <a:avLst/>
          </a:prstGeom>
        </p:spPr>
      </p:pic>
      <p:sp>
        <p:nvSpPr>
          <p:cNvPr id="7" name="内容占位符 6"/>
          <p:cNvSpPr>
            <a:spLocks noGrp="1"/>
          </p:cNvSpPr>
          <p:nvPr>
            <p:ph sz="quarter" idx="13"/>
            <p:custDataLst>
              <p:tags r:id="rId4"/>
            </p:custDataLst>
          </p:nvPr>
        </p:nvSpPr>
        <p:spPr>
          <a:xfrm>
            <a:off x="659765" y="1378585"/>
            <a:ext cx="7943850" cy="475107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6" name="标题 5"/>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pic>
        <p:nvPicPr>
          <p:cNvPr id="1033" name="图片 8"/>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0"/>
            <a:ext cx="3618452"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8" name="图片 6"/>
          <p:cNvPicPr/>
          <p:nvPr userDrawn="1">
            <p:custDataLst>
              <p:tags r:id="rId2"/>
            </p:custDataLst>
          </p:nvPr>
        </p:nvPicPr>
        <p:blipFill>
          <a:blip r:embed="rId10" r:link="rId11" cstate="email"/>
          <a:stretch>
            <a:fillRect/>
          </a:stretch>
        </p:blipFill>
        <p:spPr>
          <a:xfrm>
            <a:off x="8603932" y="0"/>
            <a:ext cx="540068" cy="486377"/>
          </a:xfrm>
          <a:prstGeom prst="rect">
            <a:avLst/>
          </a:prstGeom>
        </p:spPr>
      </p:pic>
      <p:sp>
        <p:nvSpPr>
          <p:cNvPr id="2" name="标题 1"/>
          <p:cNvSpPr>
            <a:spLocks noGrp="1"/>
          </p:cNvSpPr>
          <p:nvPr>
            <p:ph type="title" hasCustomPrompt="1"/>
            <p:custDataLst>
              <p:tags r:id="rId3"/>
            </p:custDataLst>
          </p:nvPr>
        </p:nvSpPr>
        <p:spPr>
          <a:xfrm>
            <a:off x="437400" y="880650"/>
            <a:ext cx="2970000" cy="661500"/>
          </a:xfrm>
        </p:spPr>
        <p:txBody>
          <a:bodyPr wrap="square" anchor="ctr" anchorCtr="0">
            <a:normAutofit/>
          </a:bodyPr>
          <a:lstStyle>
            <a:lvl1pPr>
              <a:defRPr sz="27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2275650"/>
            <a:ext cx="2967300" cy="3069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1405930"/>
            <a:ext cx="4860000" cy="381595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33" name="图片 8"/>
          <p:cNvPicPr>
            <a:picLocks noChangeAspect="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0"/>
            <a:ext cx="9144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6"/>
          <p:cNvPicPr/>
          <p:nvPr userDrawn="1">
            <p:custDataLst>
              <p:tags r:id="rId2"/>
            </p:custDataLst>
          </p:nvPr>
        </p:nvPicPr>
        <p:blipFill>
          <a:blip r:embed="rId11" r:link="rId12"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3" r:link="rId14" cstate="email"/>
          <a:stretch>
            <a:fillRect/>
          </a:stretch>
        </p:blipFill>
        <p:spPr>
          <a:xfrm>
            <a:off x="8603932" y="0"/>
            <a:ext cx="540068" cy="629227"/>
          </a:xfrm>
          <a:prstGeom prst="rect">
            <a:avLst/>
          </a:prstGeom>
        </p:spPr>
      </p:pic>
      <p:sp>
        <p:nvSpPr>
          <p:cNvPr id="2" name="标题 1"/>
          <p:cNvSpPr>
            <a:spLocks noGrp="1"/>
          </p:cNvSpPr>
          <p:nvPr>
            <p:ph type="title"/>
            <p:custDataLst>
              <p:tags r:id="rId4"/>
            </p:custDataLst>
          </p:nvPr>
        </p:nvSpPr>
        <p:spPr>
          <a:xfrm>
            <a:off x="459105" y="485775"/>
            <a:ext cx="8232140" cy="843915"/>
          </a:xfrm>
        </p:spPr>
        <p:txBody>
          <a:bodyPr wrap="square" anchor="ctr">
            <a:no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763100"/>
            <a:ext cx="8231981" cy="621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740" y="2664460"/>
            <a:ext cx="8223885" cy="3145155"/>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5038725"/>
            <a:ext cx="9144000" cy="1819275"/>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6"/>
          <p:cNvPicPr/>
          <p:nvPr userDrawn="1">
            <p:custDataLst>
              <p:tags r:id="rId2"/>
            </p:custDataLst>
          </p:nvPr>
        </p:nvPicPr>
        <p:blipFill>
          <a:blip r:embed="rId11" r:link="rId12"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3" r:link="rId14" cstate="email"/>
          <a:stretch>
            <a:fillRect/>
          </a:stretch>
        </p:blipFill>
        <p:spPr>
          <a:xfrm>
            <a:off x="8603932" y="0"/>
            <a:ext cx="540068" cy="629227"/>
          </a:xfrm>
          <a:prstGeom prst="rect">
            <a:avLst/>
          </a:prstGeom>
        </p:spPr>
      </p:pic>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390" y="1444625"/>
            <a:ext cx="8242935" cy="352679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6" name="标题 5"/>
          <p:cNvSpPr>
            <a:spLocks noGrp="1"/>
          </p:cNvSpPr>
          <p:nvPr>
            <p:ph type="title"/>
            <p:custDataLst>
              <p:tags r:id="rId9"/>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pic>
        <p:nvPicPr>
          <p:cNvPr id="1033" name="图片 8"/>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4"/>
          <p:cNvSpPr/>
          <p:nvPr userDrawn="1">
            <p:custDataLst>
              <p:tags r:id="rId1"/>
            </p:custDataLst>
          </p:nvPr>
        </p:nvSpPr>
        <p:spPr>
          <a:xfrm>
            <a:off x="0" y="0"/>
            <a:ext cx="9144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2" name="图片 6"/>
          <p:cNvPicPr/>
          <p:nvPr userDrawn="1">
            <p:custDataLst>
              <p:tags r:id="rId2"/>
            </p:custDataLst>
          </p:nvPr>
        </p:nvPicPr>
        <p:blipFill>
          <a:blip r:embed="rId13" r:link="rId14" cstate="email"/>
          <a:stretch>
            <a:fillRect/>
          </a:stretch>
        </p:blipFill>
        <p:spPr>
          <a:xfrm>
            <a:off x="8603932" y="6371623"/>
            <a:ext cx="540068" cy="486377"/>
          </a:xfrm>
          <a:prstGeom prst="rect">
            <a:avLst/>
          </a:prstGeom>
        </p:spPr>
      </p:pic>
      <p:pic>
        <p:nvPicPr>
          <p:cNvPr id="10" name="图片 8"/>
          <p:cNvPicPr/>
          <p:nvPr userDrawn="1">
            <p:custDataLst>
              <p:tags r:id="rId3"/>
            </p:custDataLst>
          </p:nvPr>
        </p:nvPicPr>
        <p:blipFill>
          <a:blip r:embed="rId15" r:link="rId16" cstate="email"/>
          <a:stretch>
            <a:fillRect/>
          </a:stretch>
        </p:blipFill>
        <p:spPr>
          <a:xfrm>
            <a:off x="0" y="6228773"/>
            <a:ext cx="540068" cy="629227"/>
          </a:xfrm>
          <a:prstGeom prst="rect">
            <a:avLst/>
          </a:prstGeom>
        </p:spPr>
      </p:pic>
      <p:sp>
        <p:nvSpPr>
          <p:cNvPr id="2" name="标题 1"/>
          <p:cNvSpPr>
            <a:spLocks noGrp="1"/>
          </p:cNvSpPr>
          <p:nvPr>
            <p:ph type="title"/>
            <p:custDataLst>
              <p:tags r:id="rId4"/>
            </p:custDataLst>
          </p:nvPr>
        </p:nvSpPr>
        <p:spPr>
          <a:xfrm>
            <a:off x="434700" y="292846"/>
            <a:ext cx="8278200"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34975" y="980440"/>
            <a:ext cx="4006850" cy="321564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4681855" y="980440"/>
            <a:ext cx="4025900" cy="321564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429300" y="4914450"/>
            <a:ext cx="40068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4689900" y="4910850"/>
            <a:ext cx="40257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pic>
        <p:nvPicPr>
          <p:cNvPr id="1033" name="图片 8"/>
          <p:cNvPicPr>
            <a:picLocks noChangeAspect="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1572518"/>
            <a:ext cx="9144000" cy="3712964"/>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6"/>
          <p:cNvPicPr/>
          <p:nvPr userDrawn="1">
            <p:custDataLst>
              <p:tags r:id="rId2"/>
            </p:custDataLst>
          </p:nvPr>
        </p:nvPicPr>
        <p:blipFill>
          <a:blip r:embed="rId10" r:link="rId11" cstate="email"/>
          <a:stretch>
            <a:fillRect/>
          </a:stretch>
        </p:blipFill>
        <p:spPr>
          <a:xfrm>
            <a:off x="7928848" y="5763653"/>
            <a:ext cx="1215152" cy="1094347"/>
          </a:xfrm>
          <a:prstGeom prst="rect">
            <a:avLst/>
          </a:prstGeom>
        </p:spPr>
      </p:pic>
      <p:pic>
        <p:nvPicPr>
          <p:cNvPr id="8" name="图片 8"/>
          <p:cNvPicPr/>
          <p:nvPr userDrawn="1">
            <p:custDataLst>
              <p:tags r:id="rId3"/>
            </p:custDataLst>
          </p:nvPr>
        </p:nvPicPr>
        <p:blipFill>
          <a:blip r:embed="rId12" r:link="rId13" cstate="email"/>
          <a:stretch>
            <a:fillRect/>
          </a:stretch>
        </p:blipFill>
        <p:spPr>
          <a:xfrm>
            <a:off x="0" y="5442240"/>
            <a:ext cx="1215152" cy="1415761"/>
          </a:xfrm>
          <a:prstGeom prst="rect">
            <a:avLst/>
          </a:prstGeom>
        </p:spPr>
      </p:pic>
      <p:sp>
        <p:nvSpPr>
          <p:cNvPr id="2" name="标题 1"/>
          <p:cNvSpPr>
            <a:spLocks noGrp="1"/>
          </p:cNvSpPr>
          <p:nvPr>
            <p:ph type="title" hasCustomPrompt="1"/>
            <p:custDataLst>
              <p:tags r:id="rId4"/>
            </p:custDataLst>
          </p:nvPr>
        </p:nvSpPr>
        <p:spPr>
          <a:xfrm>
            <a:off x="1142100" y="1637550"/>
            <a:ext cx="6858000" cy="1790100"/>
          </a:xfrm>
        </p:spPr>
        <p:txBody>
          <a:bodyPr wrap="square" anchor="b">
            <a:normAutofit/>
          </a:bodyPr>
          <a:lstStyle>
            <a:lvl1pPr algn="ctr">
              <a:defRPr sz="45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141810" y="4069800"/>
            <a:ext cx="6858000" cy="1242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pic>
        <p:nvPicPr>
          <p:cNvPr id="1033" name="图片 8"/>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1">
              <a:rPr lang="zh-CN" altLang="en-US" smtClean="0"/>
              <a:t>2024/4/9</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9" name="矩形 8"/>
          <p:cNvSpPr/>
          <p:nvPr userDrawn="1"/>
        </p:nvSpPr>
        <p:spPr>
          <a:xfrm>
            <a:off x="0" y="5620987"/>
            <a:ext cx="9144000" cy="11715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Date Placeholder 2"/>
          <p:cNvSpPr>
            <a:spLocks noGrp="1"/>
          </p:cNvSpPr>
          <p:nvPr>
            <p:ph type="dt" sz="half" idx="10"/>
          </p:nvPr>
        </p:nvSpPr>
        <p:spPr/>
        <p:txBody>
          <a:bodyPr/>
          <a:lstStyle>
            <a:lvl1pPr algn="ctr">
              <a:defRPr sz="2135">
                <a:solidFill>
                  <a:schemeClr val="accent1">
                    <a:lumMod val="50000"/>
                  </a:schemeClr>
                </a:solidFill>
                <a:latin typeface="+mn-lt"/>
              </a:defRPr>
            </a:lvl1pPr>
          </a:lstStyle>
          <a:p>
            <a:fld id="{2FF0ACE2-4501-45AB-B004-C7F07999D2EC}" type="datetime1">
              <a:rPr lang="zh-CN" altLang="en-US" smtClean="0"/>
              <a:t>2024/4/9</a:t>
            </a:fld>
            <a:endParaRPr lang="zh-CN" altLang="en-US" dirty="0"/>
          </a:p>
        </p:txBody>
      </p:sp>
      <p:sp>
        <p:nvSpPr>
          <p:cNvPr id="4" name="Footer Placeholder 3"/>
          <p:cNvSpPr>
            <a:spLocks noGrp="1"/>
          </p:cNvSpPr>
          <p:nvPr>
            <p:ph type="ftr" sz="quarter" idx="11"/>
          </p:nvPr>
        </p:nvSpPr>
        <p:spPr>
          <a:xfrm>
            <a:off x="2383703" y="6470704"/>
            <a:ext cx="5674590" cy="274320"/>
          </a:xfrm>
        </p:spPr>
        <p:txBody>
          <a:bodyPr/>
          <a:lstStyle>
            <a:lvl1pPr algn="ctr">
              <a:defRPr sz="2135">
                <a:solidFill>
                  <a:schemeClr val="accent1">
                    <a:lumMod val="50000"/>
                  </a:schemeClr>
                </a:solidFill>
                <a:latin typeface="+mn-lt"/>
              </a:defRPr>
            </a:lvl1pPr>
          </a:lstStyle>
          <a:p>
            <a:r>
              <a:rPr lang="zh-CN" altLang="en-US" dirty="0"/>
              <a:t>软件质量与测试</a:t>
            </a:r>
          </a:p>
        </p:txBody>
      </p:sp>
      <p:sp>
        <p:nvSpPr>
          <p:cNvPr id="5" name="Slide Number Placeholder 4"/>
          <p:cNvSpPr>
            <a:spLocks noGrp="1"/>
          </p:cNvSpPr>
          <p:nvPr>
            <p:ph type="sldNum" sz="quarter" idx="12"/>
          </p:nvPr>
        </p:nvSpPr>
        <p:spPr/>
        <p:txBody>
          <a:bodyPr/>
          <a:lstStyle>
            <a:lvl1pPr algn="ctr">
              <a:defRPr sz="2135">
                <a:solidFill>
                  <a:schemeClr val="accent1">
                    <a:lumMod val="50000"/>
                  </a:schemeClr>
                </a:solidFill>
                <a:latin typeface="+mn-lt"/>
              </a:defRPr>
            </a:lvl1pPr>
          </a:lstStyle>
          <a:p>
            <a:fld id="{F528F39D-B5E5-4CA7-906C-979D5A62978D}" type="slidenum">
              <a:rPr lang="zh-CN" altLang="en-US" smtClean="0"/>
              <a:t>‹#›</a:t>
            </a:fld>
            <a:endParaRPr lang="zh-CN" altLang="en-US"/>
          </a:p>
        </p:txBody>
      </p:sp>
      <p:sp>
        <p:nvSpPr>
          <p:cNvPr id="6" name="矩形 5"/>
          <p:cNvSpPr/>
          <p:nvPr userDrawn="1"/>
        </p:nvSpPr>
        <p:spPr>
          <a:xfrm>
            <a:off x="0" y="15833"/>
            <a:ext cx="9144000" cy="18525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cxnSp>
        <p:nvCxnSpPr>
          <p:cNvPr id="8" name="Straight Connector 6"/>
          <p:cNvCxnSpPr/>
          <p:nvPr userDrawn="1"/>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grpSp>
        <p:nvGrpSpPr>
          <p:cNvPr id="2" name="组合 1"/>
          <p:cNvGrpSpPr/>
          <p:nvPr userDrawn="1"/>
        </p:nvGrpSpPr>
        <p:grpSpPr>
          <a:xfrm>
            <a:off x="6322219" y="247650"/>
            <a:ext cx="2593181" cy="809625"/>
            <a:chOff x="8429625" y="247650"/>
            <a:chExt cx="3457575" cy="809625"/>
          </a:xfrm>
        </p:grpSpPr>
        <p:sp>
          <p:nvSpPr>
            <p:cNvPr id="3" name="矩形 2"/>
            <p:cNvSpPr/>
            <p:nvPr userDrawn="1"/>
          </p:nvSpPr>
          <p:spPr>
            <a:xfrm>
              <a:off x="8429625" y="247650"/>
              <a:ext cx="3457575" cy="809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48674" y="477694"/>
              <a:ext cx="3091500" cy="482544"/>
            </a:xfrm>
            <a:prstGeom prst="rect">
              <a:avLst/>
            </a:prstGeom>
          </p:spPr>
        </p:pic>
      </p:grpSp>
      <p:pic>
        <p:nvPicPr>
          <p:cNvPr id="5" name="图片 4"/>
          <p:cNvPicPr>
            <a:picLocks noChangeAspect="1"/>
          </p:cNvPicPr>
          <p:nvPr userDrawn="1"/>
        </p:nvPicPr>
        <p:blipFill>
          <a:blip r:embed="rId3"/>
          <a:stretch>
            <a:fillRect/>
          </a:stretch>
        </p:blipFill>
        <p:spPr>
          <a:xfrm>
            <a:off x="103607" y="6517809"/>
            <a:ext cx="1817528" cy="266723"/>
          </a:xfrm>
          <a:prstGeom prst="rect">
            <a:avLst/>
          </a:prstGeom>
        </p:spPr>
      </p:pic>
      <p:sp>
        <p:nvSpPr>
          <p:cNvPr id="6" name="TextBox 4"/>
          <p:cNvSpPr txBox="1"/>
          <p:nvPr userDrawn="1"/>
        </p:nvSpPr>
        <p:spPr>
          <a:xfrm>
            <a:off x="307181" y="6526138"/>
            <a:ext cx="1136264" cy="229870"/>
          </a:xfrm>
          <a:prstGeom prst="rect">
            <a:avLst/>
          </a:prstGeom>
          <a:noFill/>
        </p:spPr>
        <p:txBody>
          <a:bodyPr wrap="square" rtlCol="0">
            <a:spAutoFit/>
          </a:bodyPr>
          <a:lstStyle/>
          <a:p>
            <a:r>
              <a:rPr lang="en-US" altLang="zh-CN" sz="900" b="1" dirty="0" err="1">
                <a:solidFill>
                  <a:schemeClr val="bg1"/>
                </a:solidFill>
                <a:latin typeface="微软雅黑" panose="020B0503020204020204" charset="-122"/>
                <a:ea typeface="微软雅黑" panose="020B0503020204020204" charset="-122"/>
              </a:rPr>
              <a:t>yx.ityxb.com</a:t>
            </a:r>
            <a:endParaRPr lang="zh-CN" altLang="en-US" sz="900" b="1" dirty="0">
              <a:solidFill>
                <a:schemeClr val="bg1"/>
              </a:solidFill>
              <a:latin typeface="微软雅黑" panose="020B0503020204020204" charset="-122"/>
              <a:ea typeface="微软雅黑" panose="020B0503020204020204" charset="-122"/>
            </a:endParaRPr>
          </a:p>
        </p:txBody>
      </p:sp>
    </p:spTree>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5.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4.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28" Type="http://schemas.openxmlformats.org/officeDocument/2006/relationships/tags" Target="../tags/tag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 Id="rId27" Type="http://schemas.openxmlformats.org/officeDocument/2006/relationships/tags" Target="../tags/tag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3"/>
            </p:custDataLst>
          </p:nvPr>
        </p:nvSpPr>
        <p:spPr>
          <a:xfrm>
            <a:off x="502285" y="427990"/>
            <a:ext cx="8139430" cy="660400"/>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4"/>
            </p:custDataLst>
          </p:nvPr>
        </p:nvSpPr>
        <p:spPr>
          <a:xfrm>
            <a:off x="502285" y="1239520"/>
            <a:ext cx="8139430" cy="4380865"/>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5"/>
            </p:custDataLst>
          </p:nvPr>
        </p:nvSpPr>
        <p:spPr>
          <a:xfrm>
            <a:off x="678222" y="6270500"/>
            <a:ext cx="2025000" cy="2376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1">
              <a:rPr lang="zh-CN" altLang="en-US" smtClean="0"/>
              <a:t>2024/4/9</a:t>
            </a:fld>
            <a:endParaRPr lang="zh-CN" altLang="en-US"/>
          </a:p>
        </p:txBody>
      </p:sp>
      <p:sp>
        <p:nvSpPr>
          <p:cNvPr id="5" name="页脚占位符 4"/>
          <p:cNvSpPr>
            <a:spLocks noGrp="1"/>
          </p:cNvSpPr>
          <p:nvPr>
            <p:ph type="ftr" sz="quarter" idx="3"/>
            <p:custDataLst>
              <p:tags r:id="rId26"/>
            </p:custDataLst>
          </p:nvPr>
        </p:nvSpPr>
        <p:spPr>
          <a:xfrm>
            <a:off x="3105415" y="6270500"/>
            <a:ext cx="2970000" cy="2376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7"/>
            </p:custDataLst>
          </p:nvPr>
        </p:nvSpPr>
        <p:spPr>
          <a:xfrm>
            <a:off x="6476365" y="6270500"/>
            <a:ext cx="2025000" cy="237600"/>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8"/>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pic>
        <p:nvPicPr>
          <p:cNvPr id="1033" name="图片 8"/>
          <p:cNvPicPr>
            <a:picLocks noChangeAspect="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p:txStyles>
    <p:titleStyle>
      <a:lvl1pPr algn="l" defTabSz="685800" rtl="0" eaLnBrk="1" fontAlgn="auto" latinLnBrk="0" hangingPunct="1">
        <a:lnSpc>
          <a:spcPct val="100000"/>
        </a:lnSpc>
        <a:spcBef>
          <a:spcPct val="0"/>
        </a:spcBef>
        <a:buNone/>
        <a:defRPr sz="32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28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20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44.xml"/><Relationship Id="rId7" Type="http://schemas.openxmlformats.org/officeDocument/2006/relationships/notesSlide" Target="../notesSlides/notesSlide1.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slideLayout" Target="../slideLayouts/slideLayout20.xml"/><Relationship Id="rId11" Type="http://schemas.openxmlformats.org/officeDocument/2006/relationships/image" Target="../media/image12.png"/><Relationship Id="rId5" Type="http://schemas.openxmlformats.org/officeDocument/2006/relationships/tags" Target="../tags/tag146.xml"/><Relationship Id="rId10" Type="http://schemas.openxmlformats.org/officeDocument/2006/relationships/image" Target="../media/image11.jpeg"/><Relationship Id="rId4" Type="http://schemas.openxmlformats.org/officeDocument/2006/relationships/tags" Target="../tags/tag145.xml"/><Relationship Id="rId9"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51.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2.xml"/></Relationships>
</file>

<file path=ppt/slides/_rels/slide10.xml.rels><?xml version="1.0" encoding="UTF-8" standalone="yes"?>
<Relationships xmlns="http://schemas.openxmlformats.org/package/2006/relationships"><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image" Target="../media/image15.png"/><Relationship Id="rId5" Type="http://schemas.openxmlformats.org/officeDocument/2006/relationships/image" Target="../media/image16.pn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5.png"/><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0.xml"/><Relationship Id="rId1" Type="http://schemas.openxmlformats.org/officeDocument/2006/relationships/tags" Target="../tags/tag15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2.xml"/><Relationship Id="rId1" Type="http://schemas.openxmlformats.org/officeDocument/2006/relationships/tags" Target="../tags/tag161.xml"/></Relationships>
</file>

<file path=ppt/slides/_rels/slide14.xml.rels><?xml version="1.0" encoding="UTF-8" standalone="yes"?>
<Relationships xmlns="http://schemas.openxmlformats.org/package/2006/relationships"><Relationship Id="rId3" Type="http://schemas.openxmlformats.org/officeDocument/2006/relationships/tags" Target="../tags/tag165.xml"/><Relationship Id="rId7" Type="http://schemas.openxmlformats.org/officeDocument/2006/relationships/image" Target="../media/image15.png"/><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image" Target="../media/image17.png"/><Relationship Id="rId5" Type="http://schemas.openxmlformats.org/officeDocument/2006/relationships/slideLayout" Target="../slideLayouts/slideLayout2.xml"/><Relationship Id="rId4" Type="http://schemas.openxmlformats.org/officeDocument/2006/relationships/tags" Target="../tags/tag166.xml"/></Relationships>
</file>

<file path=ppt/slides/_rels/slide15.xml.rels><?xml version="1.0" encoding="UTF-8" standalone="yes"?>
<Relationships xmlns="http://schemas.openxmlformats.org/package/2006/relationships"><Relationship Id="rId3" Type="http://schemas.openxmlformats.org/officeDocument/2006/relationships/tags" Target="../tags/tag169.xml"/><Relationship Id="rId7" Type="http://schemas.openxmlformats.org/officeDocument/2006/relationships/image" Target="../media/image15.png"/><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slideLayout" Target="../slideLayouts/slideLayout2.xml"/><Relationship Id="rId5" Type="http://schemas.openxmlformats.org/officeDocument/2006/relationships/tags" Target="../tags/tag171.xml"/><Relationship Id="rId4" Type="http://schemas.openxmlformats.org/officeDocument/2006/relationships/tags" Target="../tags/tag17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3.xml"/><Relationship Id="rId1" Type="http://schemas.openxmlformats.org/officeDocument/2006/relationships/tags" Target="../tags/tag172.xml"/></Relationships>
</file>

<file path=ppt/slides/_rels/slide17.xml.rels><?xml version="1.0" encoding="UTF-8" standalone="yes"?>
<Relationships xmlns="http://schemas.openxmlformats.org/package/2006/relationships"><Relationship Id="rId3" Type="http://schemas.openxmlformats.org/officeDocument/2006/relationships/tags" Target="../tags/tag176.xml"/><Relationship Id="rId7" Type="http://schemas.openxmlformats.org/officeDocument/2006/relationships/image" Target="../media/image15.png"/><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image" Target="../media/image18.png"/><Relationship Id="rId5" Type="http://schemas.openxmlformats.org/officeDocument/2006/relationships/slideLayout" Target="../slideLayouts/slideLayout2.xml"/><Relationship Id="rId4" Type="http://schemas.openxmlformats.org/officeDocument/2006/relationships/tags" Target="../tags/tag177.xml"/></Relationships>
</file>

<file path=ppt/slides/_rels/slide18.xml.rels><?xml version="1.0" encoding="UTF-8" standalone="yes"?>
<Relationships xmlns="http://schemas.openxmlformats.org/package/2006/relationships"><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 Id="rId5" Type="http://schemas.openxmlformats.org/officeDocument/2006/relationships/image" Target="../media/image15.png"/><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2.xml"/><Relationship Id="rId1" Type="http://schemas.openxmlformats.org/officeDocument/2006/relationships/tags" Target="../tags/tag18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4.xml"/><Relationship Id="rId1" Type="http://schemas.openxmlformats.org/officeDocument/2006/relationships/tags" Target="../tags/tag183.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6.xml"/><Relationship Id="rId1" Type="http://schemas.openxmlformats.org/officeDocument/2006/relationships/tags" Target="../tags/tag185.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8.xml"/><Relationship Id="rId1" Type="http://schemas.openxmlformats.org/officeDocument/2006/relationships/tags" Target="../tags/tag187.xml"/></Relationships>
</file>

<file path=ppt/slides/_rels/slide23.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5" Type="http://schemas.openxmlformats.org/officeDocument/2006/relationships/image" Target="../media/image21.png"/><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3.xml"/><Relationship Id="rId1" Type="http://schemas.openxmlformats.org/officeDocument/2006/relationships/tags" Target="../tags/tag19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5.xml"/><Relationship Id="rId1" Type="http://schemas.openxmlformats.org/officeDocument/2006/relationships/tags" Target="../tags/tag194.xml"/></Relationships>
</file>

<file path=ppt/slides/_rels/slide26.xml.rels><?xml version="1.0" encoding="UTF-8" standalone="yes"?>
<Relationships xmlns="http://schemas.openxmlformats.org/package/2006/relationships"><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tags" Target="../tags/tag196.xml"/><Relationship Id="rId5" Type="http://schemas.openxmlformats.org/officeDocument/2006/relationships/slideLayout" Target="../slideLayouts/slideLayout2.xml"/><Relationship Id="rId4" Type="http://schemas.openxmlformats.org/officeDocument/2006/relationships/tags" Target="../tags/tag19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0.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1.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3.xml"/><Relationship Id="rId1" Type="http://schemas.openxmlformats.org/officeDocument/2006/relationships/tags" Target="../tags/tag20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5.xml"/><Relationship Id="rId1" Type="http://schemas.openxmlformats.org/officeDocument/2006/relationships/tags" Target="../tags/tag204.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7.xml"/><Relationship Id="rId1" Type="http://schemas.openxmlformats.org/officeDocument/2006/relationships/tags" Target="../tags/tag206.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9.xml"/><Relationship Id="rId1" Type="http://schemas.openxmlformats.org/officeDocument/2006/relationships/tags" Target="../tags/tag208.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1.xml"/><Relationship Id="rId1" Type="http://schemas.openxmlformats.org/officeDocument/2006/relationships/tags" Target="../tags/tag210.xml"/><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tags" Target="../tags/tag214.xml"/><Relationship Id="rId2" Type="http://schemas.openxmlformats.org/officeDocument/2006/relationships/tags" Target="../tags/tag213.xml"/><Relationship Id="rId1" Type="http://schemas.openxmlformats.org/officeDocument/2006/relationships/tags" Target="../tags/tag212.xml"/><Relationship Id="rId5" Type="http://schemas.openxmlformats.org/officeDocument/2006/relationships/image" Target="../media/image23.png"/><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217.xml"/><Relationship Id="rId7" Type="http://schemas.openxmlformats.org/officeDocument/2006/relationships/slideLayout" Target="../slideLayouts/slideLayout2.xml"/><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tags" Target="../tags/tag220.xml"/><Relationship Id="rId5" Type="http://schemas.openxmlformats.org/officeDocument/2006/relationships/tags" Target="../tags/tag219.xml"/><Relationship Id="rId4" Type="http://schemas.openxmlformats.org/officeDocument/2006/relationships/tags" Target="../tags/tag218.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2.xml"/><Relationship Id="rId1" Type="http://schemas.openxmlformats.org/officeDocument/2006/relationships/tags" Target="../tags/tag221.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4.xml"/><Relationship Id="rId1" Type="http://schemas.openxmlformats.org/officeDocument/2006/relationships/tags" Target="../tags/tag223.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6.xml"/><Relationship Id="rId1" Type="http://schemas.openxmlformats.org/officeDocument/2006/relationships/tags" Target="../tags/tag22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27.xml"/><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28.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29.xml"/><Relationship Id="rId5" Type="http://schemas.openxmlformats.org/officeDocument/2006/relationships/image" Target="../media/image26.emf"/><Relationship Id="rId4" Type="http://schemas.openxmlformats.org/officeDocument/2006/relationships/oleObject" Target="../embeddings/oleObject1.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230.xml"/><Relationship Id="rId5" Type="http://schemas.openxmlformats.org/officeDocument/2006/relationships/image" Target="../media/image27.emf"/><Relationship Id="rId4" Type="http://schemas.openxmlformats.org/officeDocument/2006/relationships/oleObject" Target="../embeddings/oleObject2.bin"/></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2.xml"/><Relationship Id="rId1" Type="http://schemas.openxmlformats.org/officeDocument/2006/relationships/tags" Target="../tags/tag231.xml"/><Relationship Id="rId4" Type="http://schemas.openxmlformats.org/officeDocument/2006/relationships/notesSlide" Target="../notesSlides/notesSlide8.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34.xml"/><Relationship Id="rId1" Type="http://schemas.openxmlformats.org/officeDocument/2006/relationships/tags" Target="../tags/tag233.xml"/><Relationship Id="rId5" Type="http://schemas.openxmlformats.org/officeDocument/2006/relationships/image" Target="../media/image28.GIF"/><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rotWithShape="1">
          <a:blip r:embed="rId8" cstate="print">
            <a:extLst>
              <a:ext uri="{28A0092B-C50C-407E-A947-70E740481C1C}">
                <a14:useLocalDpi xmlns:a14="http://schemas.microsoft.com/office/drawing/2010/main" val="0"/>
              </a:ext>
            </a:extLst>
          </a:blip>
          <a:srcRect l="401" r="39372"/>
          <a:stretch>
            <a:fillRect/>
          </a:stretch>
        </p:blipFill>
        <p:spPr>
          <a:xfrm>
            <a:off x="0" y="1428218"/>
            <a:ext cx="5507178" cy="4055553"/>
          </a:xfrm>
          <a:prstGeom prst="rect">
            <a:avLst/>
          </a:prstGeom>
        </p:spPr>
      </p:pic>
      <p:sp>
        <p:nvSpPr>
          <p:cNvPr id="37" name="矩形 36"/>
          <p:cNvSpPr/>
          <p:nvPr>
            <p:custDataLst>
              <p:tags r:id="rId2"/>
            </p:custDataLst>
          </p:nvPr>
        </p:nvSpPr>
        <p:spPr>
          <a:xfrm>
            <a:off x="188368" y="2187185"/>
            <a:ext cx="8955633" cy="2537621"/>
          </a:xfrm>
          <a:custGeom>
            <a:avLst/>
            <a:gdLst>
              <a:gd name="connsiteX0" fmla="*/ 0 w 11858228"/>
              <a:gd name="connsiteY0" fmla="*/ 0 h 3384376"/>
              <a:gd name="connsiteX1" fmla="*/ 11858228 w 11858228"/>
              <a:gd name="connsiteY1" fmla="*/ 0 h 3384376"/>
              <a:gd name="connsiteX2" fmla="*/ 11858228 w 11858228"/>
              <a:gd name="connsiteY2" fmla="*/ 3384376 h 3384376"/>
              <a:gd name="connsiteX3" fmla="*/ 0 w 11858228"/>
              <a:gd name="connsiteY3" fmla="*/ 3384376 h 3384376"/>
              <a:gd name="connsiteX4" fmla="*/ 0 w 11858228"/>
              <a:gd name="connsiteY4" fmla="*/ 0 h 3384376"/>
              <a:gd name="connsiteX0-1" fmla="*/ 1482278 w 13340506"/>
              <a:gd name="connsiteY0-2" fmla="*/ 423047 h 3807423"/>
              <a:gd name="connsiteX1-3" fmla="*/ 13340506 w 13340506"/>
              <a:gd name="connsiteY1-4" fmla="*/ 423047 h 3807423"/>
              <a:gd name="connsiteX2-5" fmla="*/ 13340506 w 13340506"/>
              <a:gd name="connsiteY2-6" fmla="*/ 3807423 h 3807423"/>
              <a:gd name="connsiteX3-7" fmla="*/ 1482278 w 13340506"/>
              <a:gd name="connsiteY3-8" fmla="*/ 3807423 h 3807423"/>
              <a:gd name="connsiteX4-9" fmla="*/ 1482278 w 13340506"/>
              <a:gd name="connsiteY4-10" fmla="*/ 423047 h 3807423"/>
              <a:gd name="connsiteX0-11" fmla="*/ 1514684 w 13372912"/>
              <a:gd name="connsiteY0-12" fmla="*/ 423047 h 3807423"/>
              <a:gd name="connsiteX1-13" fmla="*/ 13372912 w 13372912"/>
              <a:gd name="connsiteY1-14" fmla="*/ 423047 h 3807423"/>
              <a:gd name="connsiteX2-15" fmla="*/ 13372912 w 13372912"/>
              <a:gd name="connsiteY2-16" fmla="*/ 3807423 h 3807423"/>
              <a:gd name="connsiteX3-17" fmla="*/ 1457534 w 13372912"/>
              <a:gd name="connsiteY3-18" fmla="*/ 3807423 h 3807423"/>
              <a:gd name="connsiteX4-19" fmla="*/ 1514684 w 13372912"/>
              <a:gd name="connsiteY4-20" fmla="*/ 423047 h 3807423"/>
              <a:gd name="connsiteX0-21" fmla="*/ 887945 w 12746173"/>
              <a:gd name="connsiteY0-22" fmla="*/ 423047 h 3807423"/>
              <a:gd name="connsiteX1-23" fmla="*/ 12746173 w 12746173"/>
              <a:gd name="connsiteY1-24" fmla="*/ 423047 h 3807423"/>
              <a:gd name="connsiteX2-25" fmla="*/ 12746173 w 12746173"/>
              <a:gd name="connsiteY2-26" fmla="*/ 3807423 h 3807423"/>
              <a:gd name="connsiteX3-27" fmla="*/ 830795 w 12746173"/>
              <a:gd name="connsiteY3-28" fmla="*/ 3807423 h 3807423"/>
              <a:gd name="connsiteX4-29" fmla="*/ 887945 w 12746173"/>
              <a:gd name="connsiteY4-30" fmla="*/ 423047 h 3807423"/>
              <a:gd name="connsiteX0-31" fmla="*/ 2257425 w 11915378"/>
              <a:gd name="connsiteY0-32" fmla="*/ 382618 h 3852719"/>
              <a:gd name="connsiteX1-33" fmla="*/ 11915378 w 11915378"/>
              <a:gd name="connsiteY1-34" fmla="*/ 468343 h 3852719"/>
              <a:gd name="connsiteX2-35" fmla="*/ 11915378 w 11915378"/>
              <a:gd name="connsiteY2-36" fmla="*/ 3852719 h 3852719"/>
              <a:gd name="connsiteX3-37" fmla="*/ 0 w 11915378"/>
              <a:gd name="connsiteY3-38" fmla="*/ 3852719 h 3852719"/>
              <a:gd name="connsiteX4-39" fmla="*/ 2257425 w 11915378"/>
              <a:gd name="connsiteY4-40" fmla="*/ 382618 h 3852719"/>
              <a:gd name="connsiteX0-41" fmla="*/ 2257425 w 11915378"/>
              <a:gd name="connsiteY0-42" fmla="*/ 205282 h 3675383"/>
              <a:gd name="connsiteX1-43" fmla="*/ 11915378 w 11915378"/>
              <a:gd name="connsiteY1-44" fmla="*/ 291007 h 3675383"/>
              <a:gd name="connsiteX2-45" fmla="*/ 11915378 w 11915378"/>
              <a:gd name="connsiteY2-46" fmla="*/ 3675383 h 3675383"/>
              <a:gd name="connsiteX3-47" fmla="*/ 0 w 11915378"/>
              <a:gd name="connsiteY3-48" fmla="*/ 3675383 h 3675383"/>
              <a:gd name="connsiteX4-49" fmla="*/ 2257425 w 11915378"/>
              <a:gd name="connsiteY4-50" fmla="*/ 205282 h 3675383"/>
              <a:gd name="connsiteX0-51" fmla="*/ 2257425 w 11915378"/>
              <a:gd name="connsiteY0-52" fmla="*/ 16776 h 3486877"/>
              <a:gd name="connsiteX1-53" fmla="*/ 11915378 w 11915378"/>
              <a:gd name="connsiteY1-54" fmla="*/ 102501 h 3486877"/>
              <a:gd name="connsiteX2-55" fmla="*/ 11915378 w 11915378"/>
              <a:gd name="connsiteY2-56" fmla="*/ 3486877 h 3486877"/>
              <a:gd name="connsiteX3-57" fmla="*/ 0 w 11915378"/>
              <a:gd name="connsiteY3-58" fmla="*/ 3486877 h 3486877"/>
              <a:gd name="connsiteX4-59" fmla="*/ 2257425 w 11915378"/>
              <a:gd name="connsiteY4-60" fmla="*/ 16776 h 3486877"/>
              <a:gd name="connsiteX0-61" fmla="*/ 2247900 w 11915378"/>
              <a:gd name="connsiteY0-62" fmla="*/ 43334 h 3408660"/>
              <a:gd name="connsiteX1-63" fmla="*/ 11915378 w 11915378"/>
              <a:gd name="connsiteY1-64" fmla="*/ 24284 h 3408660"/>
              <a:gd name="connsiteX2-65" fmla="*/ 11915378 w 11915378"/>
              <a:gd name="connsiteY2-66" fmla="*/ 3408660 h 3408660"/>
              <a:gd name="connsiteX3-67" fmla="*/ 0 w 11915378"/>
              <a:gd name="connsiteY3-68" fmla="*/ 3408660 h 3408660"/>
              <a:gd name="connsiteX4-69" fmla="*/ 2247900 w 11915378"/>
              <a:gd name="connsiteY4-70" fmla="*/ 43334 h 3408660"/>
              <a:gd name="connsiteX0-71" fmla="*/ 2247900 w 11915378"/>
              <a:gd name="connsiteY0-72" fmla="*/ 34525 h 3418901"/>
              <a:gd name="connsiteX1-73" fmla="*/ 11915378 w 11915378"/>
              <a:gd name="connsiteY1-74" fmla="*/ 34525 h 3418901"/>
              <a:gd name="connsiteX2-75" fmla="*/ 11915378 w 11915378"/>
              <a:gd name="connsiteY2-76" fmla="*/ 3418901 h 3418901"/>
              <a:gd name="connsiteX3-77" fmla="*/ 0 w 11915378"/>
              <a:gd name="connsiteY3-78" fmla="*/ 3418901 h 3418901"/>
              <a:gd name="connsiteX4-79" fmla="*/ 2247900 w 11915378"/>
              <a:gd name="connsiteY4-80" fmla="*/ 34525 h 3418901"/>
              <a:gd name="connsiteX0-81" fmla="*/ 2247900 w 11915378"/>
              <a:gd name="connsiteY0-82" fmla="*/ 19587 h 3403963"/>
              <a:gd name="connsiteX1-83" fmla="*/ 11915378 w 11915378"/>
              <a:gd name="connsiteY1-84" fmla="*/ 19587 h 3403963"/>
              <a:gd name="connsiteX2-85" fmla="*/ 11915378 w 11915378"/>
              <a:gd name="connsiteY2-86" fmla="*/ 3403963 h 3403963"/>
              <a:gd name="connsiteX3-87" fmla="*/ 0 w 11915378"/>
              <a:gd name="connsiteY3-88" fmla="*/ 3403963 h 3403963"/>
              <a:gd name="connsiteX4-89" fmla="*/ 2247900 w 11915378"/>
              <a:gd name="connsiteY4-90" fmla="*/ 19587 h 3403963"/>
              <a:gd name="connsiteX0-91" fmla="*/ 2247900 w 11915378"/>
              <a:gd name="connsiteY0-92" fmla="*/ 312656 h 3697032"/>
              <a:gd name="connsiteX1-93" fmla="*/ 11915378 w 11915378"/>
              <a:gd name="connsiteY1-94" fmla="*/ 312656 h 3697032"/>
              <a:gd name="connsiteX2-95" fmla="*/ 11915378 w 11915378"/>
              <a:gd name="connsiteY2-96" fmla="*/ 3697032 h 3697032"/>
              <a:gd name="connsiteX3-97" fmla="*/ 0 w 11915378"/>
              <a:gd name="connsiteY3-98" fmla="*/ 3697032 h 3697032"/>
              <a:gd name="connsiteX4-99" fmla="*/ 2247900 w 11915378"/>
              <a:gd name="connsiteY4-100" fmla="*/ 312656 h 3697032"/>
              <a:gd name="connsiteX0-101" fmla="*/ 2247900 w 11915378"/>
              <a:gd name="connsiteY0-102" fmla="*/ 0 h 3384376"/>
              <a:gd name="connsiteX1-103" fmla="*/ 11915378 w 11915378"/>
              <a:gd name="connsiteY1-104" fmla="*/ 0 h 3384376"/>
              <a:gd name="connsiteX2-105" fmla="*/ 11915378 w 11915378"/>
              <a:gd name="connsiteY2-106" fmla="*/ 3384376 h 3384376"/>
              <a:gd name="connsiteX3-107" fmla="*/ 0 w 11915378"/>
              <a:gd name="connsiteY3-108" fmla="*/ 3384376 h 3384376"/>
              <a:gd name="connsiteX4-109" fmla="*/ 2247900 w 11915378"/>
              <a:gd name="connsiteY4-110" fmla="*/ 0 h 3384376"/>
              <a:gd name="connsiteX0-111" fmla="*/ 2247900 w 11915378"/>
              <a:gd name="connsiteY0-112" fmla="*/ 364892 h 3749268"/>
              <a:gd name="connsiteX1-113" fmla="*/ 11915378 w 11915378"/>
              <a:gd name="connsiteY1-114" fmla="*/ 364892 h 3749268"/>
              <a:gd name="connsiteX2-115" fmla="*/ 11915378 w 11915378"/>
              <a:gd name="connsiteY2-116" fmla="*/ 3749268 h 3749268"/>
              <a:gd name="connsiteX3-117" fmla="*/ 0 w 11915378"/>
              <a:gd name="connsiteY3-118" fmla="*/ 3749268 h 3749268"/>
              <a:gd name="connsiteX4-119" fmla="*/ 2247900 w 11915378"/>
              <a:gd name="connsiteY4-120" fmla="*/ 364892 h 3749268"/>
              <a:gd name="connsiteX0-121" fmla="*/ 2247900 w 11915378"/>
              <a:gd name="connsiteY0-122" fmla="*/ 20 h 3384396"/>
              <a:gd name="connsiteX1-123" fmla="*/ 11915378 w 11915378"/>
              <a:gd name="connsiteY1-124" fmla="*/ 20 h 3384396"/>
              <a:gd name="connsiteX2-125" fmla="*/ 11915378 w 11915378"/>
              <a:gd name="connsiteY2-126" fmla="*/ 3384396 h 3384396"/>
              <a:gd name="connsiteX3-127" fmla="*/ 0 w 11915378"/>
              <a:gd name="connsiteY3-128" fmla="*/ 3384396 h 3384396"/>
              <a:gd name="connsiteX4-129" fmla="*/ 2247900 w 11915378"/>
              <a:gd name="connsiteY4-130" fmla="*/ 20 h 3384396"/>
              <a:gd name="connsiteX0-131" fmla="*/ 2247900 w 11915378"/>
              <a:gd name="connsiteY0-132" fmla="*/ 0 h 3384376"/>
              <a:gd name="connsiteX1-133" fmla="*/ 11915378 w 11915378"/>
              <a:gd name="connsiteY1-134" fmla="*/ 0 h 3384376"/>
              <a:gd name="connsiteX2-135" fmla="*/ 11915378 w 11915378"/>
              <a:gd name="connsiteY2-136" fmla="*/ 3384376 h 3384376"/>
              <a:gd name="connsiteX3-137" fmla="*/ 0 w 11915378"/>
              <a:gd name="connsiteY3-138" fmla="*/ 3384376 h 3384376"/>
              <a:gd name="connsiteX4-139" fmla="*/ 2247900 w 11915378"/>
              <a:gd name="connsiteY4-140" fmla="*/ 0 h 3384376"/>
              <a:gd name="connsiteX0-141" fmla="*/ 2247900 w 11915378"/>
              <a:gd name="connsiteY0-142" fmla="*/ 0 h 3384376"/>
              <a:gd name="connsiteX1-143" fmla="*/ 11915378 w 11915378"/>
              <a:gd name="connsiteY1-144" fmla="*/ 0 h 3384376"/>
              <a:gd name="connsiteX2-145" fmla="*/ 11915378 w 11915378"/>
              <a:gd name="connsiteY2-146" fmla="*/ 3384376 h 3384376"/>
              <a:gd name="connsiteX3-147" fmla="*/ 0 w 11915378"/>
              <a:gd name="connsiteY3-148" fmla="*/ 3384376 h 3384376"/>
              <a:gd name="connsiteX4-149" fmla="*/ 2247900 w 11915378"/>
              <a:gd name="connsiteY4-150" fmla="*/ 0 h 3384376"/>
              <a:gd name="connsiteX0-151" fmla="*/ 2247900 w 11915378"/>
              <a:gd name="connsiteY0-152" fmla="*/ 0 h 3384376"/>
              <a:gd name="connsiteX1-153" fmla="*/ 11915378 w 11915378"/>
              <a:gd name="connsiteY1-154" fmla="*/ 0 h 3384376"/>
              <a:gd name="connsiteX2-155" fmla="*/ 11915378 w 11915378"/>
              <a:gd name="connsiteY2-156" fmla="*/ 3384376 h 3384376"/>
              <a:gd name="connsiteX3-157" fmla="*/ 0 w 11915378"/>
              <a:gd name="connsiteY3-158" fmla="*/ 3384376 h 3384376"/>
              <a:gd name="connsiteX4-159" fmla="*/ 2247900 w 11915378"/>
              <a:gd name="connsiteY4-160" fmla="*/ 0 h 3384376"/>
              <a:gd name="connsiteX0-161" fmla="*/ 2247900 w 11915378"/>
              <a:gd name="connsiteY0-162" fmla="*/ 0 h 3384376"/>
              <a:gd name="connsiteX1-163" fmla="*/ 11915378 w 11915378"/>
              <a:gd name="connsiteY1-164" fmla="*/ 0 h 3384376"/>
              <a:gd name="connsiteX2-165" fmla="*/ 11915378 w 11915378"/>
              <a:gd name="connsiteY2-166" fmla="*/ 3384376 h 3384376"/>
              <a:gd name="connsiteX3-167" fmla="*/ 0 w 11915378"/>
              <a:gd name="connsiteY3-168" fmla="*/ 3384376 h 3384376"/>
              <a:gd name="connsiteX4-169" fmla="*/ 2247900 w 11915378"/>
              <a:gd name="connsiteY4-170" fmla="*/ 0 h 3384376"/>
              <a:gd name="connsiteX0-171" fmla="*/ 2276475 w 11943953"/>
              <a:gd name="connsiteY0-172" fmla="*/ 0 h 3384376"/>
              <a:gd name="connsiteX1-173" fmla="*/ 11943953 w 11943953"/>
              <a:gd name="connsiteY1-174" fmla="*/ 0 h 3384376"/>
              <a:gd name="connsiteX2-175" fmla="*/ 11943953 w 11943953"/>
              <a:gd name="connsiteY2-176" fmla="*/ 3384376 h 3384376"/>
              <a:gd name="connsiteX3-177" fmla="*/ 0 w 11943953"/>
              <a:gd name="connsiteY3-178" fmla="*/ 3384376 h 3384376"/>
              <a:gd name="connsiteX4-179" fmla="*/ 2276475 w 11943953"/>
              <a:gd name="connsiteY4-180" fmla="*/ 0 h 3384376"/>
            </a:gdLst>
            <a:ahLst/>
            <a:cxnLst>
              <a:cxn ang="0">
                <a:pos x="connsiteX0-171" y="connsiteY0-172"/>
              </a:cxn>
              <a:cxn ang="0">
                <a:pos x="connsiteX1-173" y="connsiteY1-174"/>
              </a:cxn>
              <a:cxn ang="0">
                <a:pos x="connsiteX2-175" y="connsiteY2-176"/>
              </a:cxn>
              <a:cxn ang="0">
                <a:pos x="connsiteX3-177" y="connsiteY3-178"/>
              </a:cxn>
              <a:cxn ang="0">
                <a:pos x="connsiteX4-179" y="connsiteY4-180"/>
              </a:cxn>
            </a:cxnLst>
            <a:rect l="l" t="t" r="r" b="b"/>
            <a:pathLst>
              <a:path w="11943953" h="3384376">
                <a:moveTo>
                  <a:pt x="2276475" y="0"/>
                </a:moveTo>
                <a:lnTo>
                  <a:pt x="11943953" y="0"/>
                </a:lnTo>
                <a:lnTo>
                  <a:pt x="11943953" y="3384376"/>
                </a:lnTo>
                <a:lnTo>
                  <a:pt x="0" y="3384376"/>
                </a:lnTo>
                <a:cubicBezTo>
                  <a:pt x="328679" y="2534563"/>
                  <a:pt x="1214116" y="582532"/>
                  <a:pt x="2276475" y="0"/>
                </a:cubicBezTo>
                <a:close/>
              </a:path>
            </a:pathLst>
          </a:custGeom>
          <a:solidFill>
            <a:schemeClr val="l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pic>
        <p:nvPicPr>
          <p:cNvPr id="38" name="图片 37"/>
          <p:cNvPicPr>
            <a:picLocks noChangeAspect="1"/>
          </p:cNvPicPr>
          <p:nvPr>
            <p:custDataLst>
              <p:tags r:id="rId3"/>
            </p:custDataLst>
          </p:nvPr>
        </p:nvPicPr>
        <p:blipFill rotWithShape="1">
          <a:blip r:embed="rId9" cstate="print">
            <a:extLst>
              <a:ext uri="{28A0092B-C50C-407E-A947-70E740481C1C}">
                <a14:useLocalDpi xmlns:a14="http://schemas.microsoft.com/office/drawing/2010/main" val="0"/>
              </a:ext>
            </a:extLst>
          </a:blip>
          <a:srcRect l="67714" r="15753" b="50000"/>
          <a:stretch>
            <a:fillRect/>
          </a:stretch>
        </p:blipFill>
        <p:spPr>
          <a:xfrm rot="16200000" flipH="1">
            <a:off x="6871988" y="3714536"/>
            <a:ext cx="1888974" cy="2655052"/>
          </a:xfrm>
          <a:prstGeom prst="rect">
            <a:avLst/>
          </a:prstGeom>
        </p:spPr>
      </p:pic>
      <p:pic>
        <p:nvPicPr>
          <p:cNvPr id="28" name="图片 2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2860" y="-69850"/>
            <a:ext cx="9166225" cy="6928485"/>
          </a:xfrm>
          <a:prstGeom prst="rect">
            <a:avLst/>
          </a:prstGeom>
        </p:spPr>
      </p:pic>
      <p:grpSp>
        <p:nvGrpSpPr>
          <p:cNvPr id="7" name="组合 6"/>
          <p:cNvGrpSpPr/>
          <p:nvPr/>
        </p:nvGrpSpPr>
        <p:grpSpPr>
          <a:xfrm>
            <a:off x="2506039" y="2588626"/>
            <a:ext cx="5278676" cy="1017909"/>
            <a:chOff x="6143457" y="2714735"/>
            <a:chExt cx="5193268" cy="1001440"/>
          </a:xfrm>
          <a:solidFill>
            <a:srgbClr val="0070C0"/>
          </a:solidFill>
        </p:grpSpPr>
        <p:sp>
          <p:nvSpPr>
            <p:cNvPr id="54" name="圆角淘宝网Chenying0907出品 6"/>
            <p:cNvSpPr/>
            <p:nvPr>
              <p:custDataLst>
                <p:tags r:id="rId5"/>
              </p:custDataLst>
            </p:nvPr>
          </p:nvSpPr>
          <p:spPr>
            <a:xfrm>
              <a:off x="6143457" y="2714735"/>
              <a:ext cx="5193268" cy="1001440"/>
            </a:xfrm>
            <a:prstGeom prst="roundRect">
              <a:avLst>
                <a:gd name="adj" fmla="val 9976"/>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sp>
          <p:nvSpPr>
            <p:cNvPr id="64" name="淘宝网Chenying0907出品 40"/>
            <p:cNvSpPr txBox="1"/>
            <p:nvPr/>
          </p:nvSpPr>
          <p:spPr>
            <a:xfrm>
              <a:off x="6488303" y="2894854"/>
              <a:ext cx="4633908" cy="634722"/>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zh-CN" altLang="en-US" sz="3600" dirty="0">
                  <a:solidFill>
                    <a:schemeClr val="lt1"/>
                  </a:solidFill>
                  <a:latin typeface="Arial" panose="020B0604020202020204" pitchFamily="34" charset="0"/>
                  <a:ea typeface="汉仪文黑-85W" panose="00020600040101010101" charset="-122"/>
                </a:rPr>
                <a:t>软件质量与测试</a:t>
              </a:r>
            </a:p>
          </p:txBody>
        </p:sp>
      </p:grpSp>
      <p:sp>
        <p:nvSpPr>
          <p:cNvPr id="69" name="淘宝网Chenying0907出品 7"/>
          <p:cNvSpPr txBox="1"/>
          <p:nvPr>
            <p:custDataLst>
              <p:tags r:id="rId4"/>
            </p:custDataLst>
          </p:nvPr>
        </p:nvSpPr>
        <p:spPr>
          <a:xfrm>
            <a:off x="2753919" y="3854195"/>
            <a:ext cx="4782909" cy="417743"/>
          </a:xfrm>
          <a:prstGeom prst="rect">
            <a:avLst/>
          </a:prstGeom>
          <a:noFill/>
        </p:spPr>
        <p:txBody>
          <a:bodyPr wrap="square" rtlCol="0">
            <a:spAutoFit/>
          </a:bodyPr>
          <a:lstStyle/>
          <a:p>
            <a:pPr algn="ctr">
              <a:lnSpc>
                <a:spcPct val="150000"/>
              </a:lnSpc>
            </a:pPr>
            <a:r>
              <a:rPr lang="zh-CN" altLang="en-US" sz="1600" dirty="0">
                <a:solidFill>
                  <a:schemeClr val="dk1">
                    <a:lumMod val="75000"/>
                    <a:lumOff val="25000"/>
                  </a:schemeClr>
                </a:solidFill>
                <a:latin typeface="Arial" panose="020B0604020202020204" pitchFamily="34" charset="0"/>
                <a:ea typeface="汉仪旗黑-55简" panose="00020600040101010101" charset="-122"/>
              </a:rPr>
              <a:t>河南大学软件学院</a:t>
            </a:r>
            <a:r>
              <a:rPr lang="en-US" altLang="zh-CN" sz="1600" dirty="0">
                <a:solidFill>
                  <a:schemeClr val="dk1">
                    <a:lumMod val="75000"/>
                    <a:lumOff val="25000"/>
                  </a:schemeClr>
                </a:solidFill>
                <a:latin typeface="Arial" panose="020B0604020202020204" pitchFamily="34" charset="0"/>
                <a:ea typeface="汉仪旗黑-55简" panose="00020600040101010101" charset="-122"/>
              </a:rPr>
              <a:t>    </a:t>
            </a:r>
            <a:r>
              <a:rPr lang="zh-CN" altLang="en-US" sz="1600" dirty="0">
                <a:solidFill>
                  <a:schemeClr val="dk1">
                    <a:lumMod val="75000"/>
                    <a:lumOff val="25000"/>
                  </a:schemeClr>
                </a:solidFill>
                <a:latin typeface="Arial" panose="020B0604020202020204" pitchFamily="34" charset="0"/>
                <a:ea typeface="汉仪旗黑-55简" panose="00020600040101010101" charset="-122"/>
              </a:rPr>
              <a:t>冯东栋</a:t>
            </a:r>
          </a:p>
        </p:txBody>
      </p:sp>
      <p:pic>
        <p:nvPicPr>
          <p:cNvPr id="29" name="图片 28" descr="河南大学logo"/>
          <p:cNvPicPr>
            <a:picLocks noChangeAspect="1"/>
          </p:cNvPicPr>
          <p:nvPr/>
        </p:nvPicPr>
        <p:blipFill>
          <a:blip r:embed="rId11"/>
          <a:stretch>
            <a:fillRect/>
          </a:stretch>
        </p:blipFill>
        <p:spPr>
          <a:xfrm>
            <a:off x="8181975" y="0"/>
            <a:ext cx="902335" cy="89789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lgn="l">
              <a:buClrTx/>
              <a:buSzTx/>
              <a:buFontTx/>
            </a:pPr>
            <a:r>
              <a:rPr lang="en-US" altLang="zh-CN" sz="4400" b="0">
                <a:solidFill>
                  <a:schemeClr val="accent1"/>
                </a:solidFill>
                <a:ea typeface="汉仪文黑-85W" panose="00020600040101010101" charset="-122"/>
              </a:rPr>
              <a:t>上节回顾</a:t>
            </a:r>
          </a:p>
        </p:txBody>
      </p:sp>
      <p:sp>
        <p:nvSpPr>
          <p:cNvPr id="8" name="内容占位符 7"/>
          <p:cNvSpPr>
            <a:spLocks noGrp="1"/>
          </p:cNvSpPr>
          <p:nvPr>
            <p:ph idx="1"/>
          </p:nvPr>
        </p:nvSpPr>
        <p:spPr>
          <a:xfrm>
            <a:off x="502285" y="1196975"/>
            <a:ext cx="8139430" cy="5594985"/>
          </a:xfrm>
        </p:spPr>
        <p:txBody>
          <a:bodyPr>
            <a:normAutofit fontScale="75000" lnSpcReduction="20000"/>
          </a:bodyPr>
          <a:lstStyle/>
          <a:p>
            <a:r>
              <a:rPr lang="zh-CN" altLang="en-US" sz="4700" b="1"/>
              <a:t>白盒测试</a:t>
            </a:r>
          </a:p>
          <a:p>
            <a:pPr lvl="1">
              <a:lnSpc>
                <a:spcPct val="110000"/>
              </a:lnSpc>
            </a:pPr>
            <a:r>
              <a:rPr lang="zh-CN" altLang="en-US" sz="3300"/>
              <a:t>基本概念</a:t>
            </a:r>
          </a:p>
          <a:p>
            <a:pPr lvl="1">
              <a:lnSpc>
                <a:spcPct val="110000"/>
              </a:lnSpc>
            </a:pPr>
            <a:r>
              <a:rPr lang="zh-CN" altLang="en-US" sz="3300"/>
              <a:t>原理、原则</a:t>
            </a:r>
          </a:p>
          <a:p>
            <a:pPr lvl="1">
              <a:lnSpc>
                <a:spcPct val="110000"/>
              </a:lnSpc>
            </a:pPr>
            <a:r>
              <a:rPr lang="zh-CN" altLang="en-US" sz="3300"/>
              <a:t>关注的对象：源代码、程序结构</a:t>
            </a:r>
          </a:p>
          <a:p>
            <a:pPr lvl="1">
              <a:lnSpc>
                <a:spcPct val="110000"/>
              </a:lnSpc>
            </a:pPr>
            <a:r>
              <a:rPr lang="zh-CN" altLang="en-US" sz="3300"/>
              <a:t>评价方法：代码的覆盖率</a:t>
            </a:r>
          </a:p>
          <a:p>
            <a:pPr lvl="0" algn="l">
              <a:buClrTx/>
              <a:buSzTx/>
            </a:pPr>
            <a:r>
              <a:rPr lang="zh-CN" altLang="en-US" sz="4700" b="1"/>
              <a:t>静态白盒测试</a:t>
            </a:r>
          </a:p>
          <a:p>
            <a:pPr lvl="1">
              <a:lnSpc>
                <a:spcPct val="110000"/>
              </a:lnSpc>
            </a:pPr>
            <a:r>
              <a:rPr sz="3300">
                <a:sym typeface="+mn-ea"/>
              </a:rPr>
              <a:t>代码检查：类型、测试流程</a:t>
            </a:r>
            <a:endParaRPr lang="zh-CN" altLang="en-US" sz="3300"/>
          </a:p>
          <a:p>
            <a:pPr lvl="1">
              <a:lnSpc>
                <a:spcPct val="110000"/>
              </a:lnSpc>
            </a:pPr>
            <a:r>
              <a:rPr sz="3300">
                <a:sym typeface="+mn-ea"/>
              </a:rPr>
              <a:t>静态结构分析：函数调用关系图、函数控制流图</a:t>
            </a:r>
            <a:endParaRPr lang="zh-CN" altLang="en-US" sz="3300"/>
          </a:p>
          <a:p>
            <a:pPr lvl="1">
              <a:lnSpc>
                <a:spcPct val="130000"/>
              </a:lnSpc>
            </a:pPr>
            <a:r>
              <a:rPr sz="3300">
                <a:sym typeface="+mn-ea"/>
              </a:rPr>
              <a:t>代码质量度量：</a:t>
            </a:r>
            <a:r>
              <a:rPr lang="en-US" altLang="zh-CN" sz="3300">
                <a:sym typeface="+mn-ea"/>
              </a:rPr>
              <a:t>ISO9126</a:t>
            </a:r>
            <a:r>
              <a:rPr sz="3300">
                <a:sym typeface="+mn-ea"/>
              </a:rPr>
              <a:t>质量模型、代码质量度量模型、自动度量（静态测试工具</a:t>
            </a:r>
            <a:r>
              <a:rPr lang="en-US" altLang="zh-CN" sz="3300">
                <a:sym typeface="+mn-ea"/>
              </a:rPr>
              <a:t>Logiscope</a:t>
            </a:r>
            <a:r>
              <a:rPr sz="3300">
                <a:sym typeface="+mn-ea"/>
              </a:rPr>
              <a:t>）</a:t>
            </a:r>
            <a:endParaRPr lang="zh-CN" altLang="en-US" sz="3300"/>
          </a:p>
          <a:p>
            <a:pPr lvl="1"/>
            <a:endParaRPr lang="zh-CN" altLang="en-US" sz="2800"/>
          </a:p>
          <a:p>
            <a:pPr lvl="1"/>
            <a:endParaRPr lang="zh-CN" altLang="en-US" sz="2800"/>
          </a:p>
        </p:txBody>
      </p:sp>
      <p:sp>
        <p:nvSpPr>
          <p:cNvPr id="5" name="日期占位符 4"/>
          <p:cNvSpPr>
            <a:spLocks noGrp="1"/>
          </p:cNvSpPr>
          <p:nvPr>
            <p:ph type="dt" sz="half" idx="10"/>
          </p:nvPr>
        </p:nvSpPr>
        <p:spPr/>
        <p:txBody>
          <a:bodyPr/>
          <a:lstStyle/>
          <a:p>
            <a:fld id="{9EFD9D74-47D9-4702-A33C-335B63B48DBF}" type="datetime1">
              <a:rPr lang="zh-CN" altLang="en-US" smtClean="0"/>
              <a:t>2024/4/9</a:t>
            </a:fld>
            <a:endParaRPr lang="zh-CN" altLang="en-US" dirty="0"/>
          </a:p>
        </p:txBody>
      </p:sp>
      <p:sp>
        <p:nvSpPr>
          <p:cNvPr id="6" name="灯片编号占位符 5"/>
          <p:cNvSpPr>
            <a:spLocks noGrp="1"/>
          </p:cNvSpPr>
          <p:nvPr>
            <p:ph type="sldNum" sz="quarter" idx="12"/>
          </p:nvPr>
        </p:nvSpPr>
        <p:spPr/>
        <p:txBody>
          <a:bodyPr/>
          <a:lstStyle/>
          <a:p>
            <a:fld id="{FABC47A4-756D-490B-A52F-7D9E2C9FC05F}" type="slidenum">
              <a:rPr lang="zh-CN" altLang="en-US" smtClean="0"/>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p:cNvSpPr>
          <p:nvPr>
            <p:ph idx="1"/>
          </p:nvPr>
        </p:nvSpPr>
        <p:spPr>
          <a:xfrm>
            <a:off x="567055" y="1491615"/>
            <a:ext cx="8001000" cy="4529455"/>
          </a:xfrm>
        </p:spPr>
        <p:txBody>
          <a:bodyPr vert="horz" wrap="square" lIns="91440" tIns="45720" rIns="91440" bIns="45720" anchor="t" anchorCtr="0"/>
          <a:lstStyle/>
          <a:p>
            <a:pPr eaLnBrk="1" hangingPunct="1">
              <a:lnSpc>
                <a:spcPct val="150000"/>
              </a:lnSpc>
            </a:pPr>
            <a:r>
              <a:rPr lang="zh-CN" altLang="en-US" sz="3400" b="1" dirty="0"/>
              <a:t>测试小结</a:t>
            </a:r>
            <a:endParaRPr lang="en-US" altLang="zh-CN" sz="3400" b="1" dirty="0"/>
          </a:p>
          <a:p>
            <a:pPr lvl="1" eaLnBrk="1" hangingPunct="1">
              <a:lnSpc>
                <a:spcPct val="150000"/>
              </a:lnSpc>
            </a:pPr>
            <a:r>
              <a:rPr lang="zh-CN" altLang="en-US" dirty="0"/>
              <a:t>静态白盒测试是白盒测试的重要组成部分，它不需要执行程序，而是通过对比标准和规范，检查程序逻辑，直接定位缺陷；</a:t>
            </a:r>
            <a:endParaRPr lang="en-US" altLang="zh-CN" dirty="0"/>
          </a:p>
          <a:p>
            <a:pPr lvl="1" eaLnBrk="1" hangingPunct="1">
              <a:lnSpc>
                <a:spcPct val="150000"/>
              </a:lnSpc>
            </a:pPr>
            <a:r>
              <a:rPr lang="zh-CN" altLang="en-US" dirty="0"/>
              <a:t>基于缺陷预防的思想，通过检查程序的各种图表定位那些具有高风险的程序代码，并承担部分代码质量度量的工作；</a:t>
            </a:r>
            <a:endParaRPr lang="en-US" altLang="zh-CN" dirty="0"/>
          </a:p>
          <a:p>
            <a:pPr lvl="1" eaLnBrk="1" hangingPunct="1">
              <a:lnSpc>
                <a:spcPct val="150000"/>
              </a:lnSpc>
            </a:pPr>
            <a:r>
              <a:rPr lang="zh-CN" altLang="en-US" dirty="0"/>
              <a:t>可以更好地确保所提交的软件系统的质量。</a:t>
            </a:r>
          </a:p>
        </p:txBody>
      </p:sp>
      <p:sp>
        <p:nvSpPr>
          <p:cNvPr id="52228" name="灯片编号占位符 5"/>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Arial" panose="020B0604020202020204" pitchFamily="34" charset="0"/>
              </a:rPr>
              <a:t>3</a:t>
            </a:fld>
            <a:endParaRPr lang="en-US" altLang="zh-CN" sz="1200" dirty="0">
              <a:latin typeface="Arial" panose="020B0604020202020204" pitchFamily="34" charset="0"/>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2024/4/9</a:t>
            </a:fld>
            <a:endParaRPr lang="zh-CN" altLang="en-US"/>
          </a:p>
        </p:txBody>
      </p:sp>
      <p:sp>
        <p:nvSpPr>
          <p:cNvPr id="4" name="标题 3"/>
          <p:cNvSpPr>
            <a:spLocks noGrp="1"/>
          </p:cNvSpPr>
          <p:nvPr>
            <p:ph type="title"/>
            <p:custDataLst>
              <p:tags r:id="rId1"/>
            </p:custDataLst>
          </p:nvPr>
        </p:nvSpPr>
        <p:spPr/>
        <p:txBody>
          <a:bodyPr/>
          <a:lstStyle/>
          <a:p>
            <a:pPr algn="l">
              <a:buClrTx/>
              <a:buSzTx/>
              <a:buFontTx/>
            </a:pPr>
            <a:r>
              <a:rPr lang="en-US" altLang="zh-CN" sz="4400" b="0">
                <a:solidFill>
                  <a:schemeClr val="accent1"/>
                </a:solidFill>
                <a:ea typeface="汉仪文黑-85W" panose="00020600040101010101" charset="-122"/>
                <a:sym typeface="+mn-ea"/>
              </a:rPr>
              <a:t>静态白盒测试</a:t>
            </a:r>
          </a:p>
        </p:txBody>
      </p:sp>
    </p:spTree>
  </p:cSld>
  <p:clrMapOvr>
    <a:masterClrMapping/>
  </p:clrMapOvr>
  <p:transition>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
        <p:nvSpPr>
          <p:cNvPr id="17411" name="Rectangle 3"/>
          <p:cNvSpPr>
            <a:spLocks noGrp="1"/>
          </p:cNvSpPr>
          <p:nvPr>
            <p:ph idx="1"/>
          </p:nvPr>
        </p:nvSpPr>
        <p:spPr>
          <a:xfrm>
            <a:off x="502285" y="1646555"/>
            <a:ext cx="8139430" cy="4021455"/>
          </a:xfrm>
        </p:spPr>
        <p:txBody>
          <a:bodyPr vert="horz" wrap="square" lIns="91440" tIns="45720" rIns="91440" bIns="45720" anchor="t" anchorCtr="0"/>
          <a:lstStyle/>
          <a:p>
            <a:pPr algn="just" eaLnBrk="1" hangingPunct="1"/>
            <a:r>
              <a:rPr lang="zh-CN" altLang="en-US" sz="3400" b="1" dirty="0"/>
              <a:t>基本原理</a:t>
            </a:r>
            <a:endParaRPr lang="en-US" altLang="zh-CN" sz="3400" b="1" dirty="0"/>
          </a:p>
          <a:p>
            <a:pPr lvl="1" eaLnBrk="1" hangingPunct="1"/>
            <a:endParaRPr lang="zh-CN" altLang="en-US" dirty="0"/>
          </a:p>
        </p:txBody>
      </p:sp>
      <p:pic>
        <p:nvPicPr>
          <p:cNvPr id="17413" name="Picture 6" descr="5t11"/>
          <p:cNvPicPr>
            <a:picLocks noChangeAspect="1"/>
          </p:cNvPicPr>
          <p:nvPr/>
        </p:nvPicPr>
        <p:blipFill>
          <a:blip r:embed="rId2"/>
          <a:stretch>
            <a:fillRect/>
          </a:stretch>
        </p:blipFill>
        <p:spPr>
          <a:xfrm>
            <a:off x="395605" y="2924810"/>
            <a:ext cx="8537575" cy="2214563"/>
          </a:xfrm>
          <a:prstGeom prst="rect">
            <a:avLst/>
          </a:prstGeom>
          <a:noFill/>
          <a:ln w="9525">
            <a:noFill/>
          </a:ln>
        </p:spPr>
      </p:pic>
      <p:sp>
        <p:nvSpPr>
          <p:cNvPr id="2" name="日期占位符 1"/>
          <p:cNvSpPr>
            <a:spLocks noGrp="1"/>
          </p:cNvSpPr>
          <p:nvPr>
            <p:ph type="dt" sz="half" idx="10"/>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4</a:t>
            </a:fld>
            <a:endParaRPr lang="en-US" altLang="zh-CN" dirty="0">
              <a:latin typeface="Verdana" panose="020B0604030504040204" pitchFamily="34" charset="0"/>
            </a:endParaRPr>
          </a:p>
        </p:txBody>
      </p:sp>
      <p:sp>
        <p:nvSpPr>
          <p:cNvPr id="4" name="文本框 3"/>
          <p:cNvSpPr txBox="1"/>
          <p:nvPr/>
        </p:nvSpPr>
        <p:spPr>
          <a:xfrm>
            <a:off x="1883410" y="5471160"/>
            <a:ext cx="5208905" cy="398780"/>
          </a:xfrm>
          <a:prstGeom prst="rect">
            <a:avLst/>
          </a:prstGeom>
          <a:noFill/>
        </p:spPr>
        <p:txBody>
          <a:bodyPr wrap="square" rtlCol="0">
            <a:spAutoFit/>
          </a:bodyPr>
          <a:lstStyle/>
          <a:p>
            <a:pPr algn="ctr"/>
            <a:r>
              <a:rPr lang="zh-CN" altLang="en-US" sz="2000" b="1">
                <a:latin typeface="微软雅黑" panose="020B0503020204020204" charset="-122"/>
                <a:ea typeface="微软雅黑" panose="020B0503020204020204" charset="-122"/>
              </a:rPr>
              <a:t>判定条件对程序结构造成的影响</a:t>
            </a:r>
          </a:p>
        </p:txBody>
      </p:sp>
    </p:spTree>
  </p:cSld>
  <p:clrMapOvr>
    <a:masterClrMapping/>
  </p:clrMapOvr>
  <p:transition>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2285" y="1500505"/>
            <a:ext cx="8139430" cy="4167505"/>
          </a:xfrm>
        </p:spPr>
        <p:txBody>
          <a:bodyPr/>
          <a:lstStyle/>
          <a:p>
            <a:pPr algn="just">
              <a:buClrTx/>
              <a:buSzTx/>
            </a:pPr>
            <a:r>
              <a:rPr sz="3400" b="1"/>
              <a:t>对判定的测试</a:t>
            </a:r>
          </a:p>
          <a:p>
            <a:pPr lvl="1"/>
            <a:r>
              <a:rPr sz="2400"/>
              <a:t>通过对程序逻辑结构的遍历来实现程序的测试覆盖。</a:t>
            </a:r>
          </a:p>
          <a:p>
            <a:pPr lvl="1">
              <a:lnSpc>
                <a:spcPct val="170000"/>
              </a:lnSpc>
            </a:pPr>
            <a:r>
              <a:rPr sz="2400" b="1"/>
              <a:t>基本思想：</a:t>
            </a:r>
          </a:p>
          <a:p>
            <a:pPr lvl="2">
              <a:lnSpc>
                <a:spcPct val="140000"/>
              </a:lnSpc>
            </a:pPr>
            <a:r>
              <a:rPr sz="2000"/>
              <a:t>对源代码中</a:t>
            </a:r>
            <a:r>
              <a:rPr sz="2000" b="1">
                <a:solidFill>
                  <a:srgbClr val="FF0000"/>
                </a:solidFill>
              </a:rPr>
              <a:t>所有的逻辑值</a:t>
            </a:r>
            <a:r>
              <a:rPr sz="2000"/>
              <a:t>均需要测试真值（</a:t>
            </a:r>
            <a:r>
              <a:rPr lang="en-US" altLang="zh-CN" sz="2000"/>
              <a:t>True</a:t>
            </a:r>
            <a:r>
              <a:rPr sz="2000"/>
              <a:t>）和假值（</a:t>
            </a:r>
            <a:r>
              <a:rPr lang="en-US" altLang="zh-CN" sz="2000"/>
              <a:t>False</a:t>
            </a:r>
            <a:r>
              <a:rPr sz="2000"/>
              <a:t>）的情况。</a:t>
            </a:r>
          </a:p>
        </p:txBody>
      </p:sp>
      <p:sp>
        <p:nvSpPr>
          <p:cNvPr id="4" name="日期占位符 3"/>
          <p:cNvSpPr>
            <a:spLocks noGrp="1"/>
          </p:cNvSpPr>
          <p:nvPr>
            <p:ph type="dt" sz="half" idx="10"/>
          </p:nvPr>
        </p:nvSpPr>
        <p:spPr/>
        <p:txBody>
          <a:bodyPr/>
          <a:lstStyle/>
          <a:p>
            <a:fld id="{760FBDFE-C587-4B4C-A407-44438C67B59E}" type="datetime1">
              <a:rPr lang="zh-CN" altLang="en-US" smtClean="0"/>
              <a:t>2024/4/9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5</a:t>
            </a:fld>
            <a:endParaRPr lang="zh-CN" altLang="en-US"/>
          </a:p>
        </p:txBody>
      </p:sp>
      <p:sp>
        <p:nvSpPr>
          <p:cNvPr id="17410" name="Rectangle 2"/>
          <p:cNvSpPr>
            <a:spLocks noGrp="1"/>
          </p:cNvSpPr>
          <p:nvPr>
            <p:ph type="title"/>
            <p:custDataLst>
              <p:tags r:id="rId1"/>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p:cNvSpPr>
          <p:nvPr>
            <p:ph idx="1"/>
          </p:nvPr>
        </p:nvSpPr>
        <p:spPr>
          <a:xfrm>
            <a:off x="502285" y="1439545"/>
            <a:ext cx="8139430" cy="4732020"/>
          </a:xfrm>
        </p:spPr>
        <p:txBody>
          <a:bodyPr vert="horz" wrap="square" lIns="91440" tIns="45720" rIns="91440" bIns="45720" anchor="t" anchorCtr="0">
            <a:normAutofit/>
          </a:bodyPr>
          <a:lstStyle/>
          <a:p>
            <a:pPr algn="just" eaLnBrk="1" hangingPunct="1"/>
            <a:r>
              <a:rPr sz="3400" b="1" dirty="0"/>
              <a:t>覆盖指标</a:t>
            </a:r>
            <a:endParaRPr lang="en-US" altLang="zh-CN" sz="3400" b="1" dirty="0"/>
          </a:p>
          <a:p>
            <a:pPr lvl="1" algn="just" eaLnBrk="1" hangingPunct="1">
              <a:lnSpc>
                <a:spcPct val="150000"/>
              </a:lnSpc>
              <a:buClrTx/>
              <a:buSzTx/>
            </a:pPr>
            <a:r>
              <a:rPr lang="zh-CN" altLang="en-US" dirty="0"/>
              <a:t>语句覆盖（</a:t>
            </a:r>
            <a:r>
              <a:rPr lang="en-US" altLang="zh-CN" dirty="0"/>
              <a:t>Statement Coverage</a:t>
            </a:r>
            <a:r>
              <a:rPr dirty="0"/>
              <a:t>，</a:t>
            </a:r>
            <a:r>
              <a:rPr lang="en-US" altLang="zh-CN" dirty="0"/>
              <a:t>SC</a:t>
            </a:r>
            <a:r>
              <a:rPr dirty="0"/>
              <a:t>）</a:t>
            </a:r>
          </a:p>
          <a:p>
            <a:pPr lvl="1" algn="just" eaLnBrk="1" hangingPunct="1">
              <a:lnSpc>
                <a:spcPct val="150000"/>
              </a:lnSpc>
            </a:pPr>
            <a:r>
              <a:rPr lang="zh-CN" altLang="en-US" dirty="0"/>
              <a:t>判定覆盖（</a:t>
            </a:r>
            <a:r>
              <a:rPr lang="en-US" altLang="zh-CN" dirty="0"/>
              <a:t>Decision Coverage</a:t>
            </a:r>
            <a:r>
              <a:rPr dirty="0"/>
              <a:t>，</a:t>
            </a:r>
            <a:r>
              <a:rPr lang="en-US" altLang="zh-CN" dirty="0"/>
              <a:t>DC</a:t>
            </a:r>
            <a:r>
              <a:rPr dirty="0"/>
              <a:t>，分支覆盖</a:t>
            </a:r>
            <a:r>
              <a:rPr>
                <a:sym typeface="+mn-ea"/>
              </a:rPr>
              <a:t>）</a:t>
            </a:r>
            <a:endParaRPr lang="en-US" altLang="zh-CN" dirty="0"/>
          </a:p>
          <a:p>
            <a:pPr lvl="1" algn="just" eaLnBrk="1" hangingPunct="1">
              <a:lnSpc>
                <a:spcPct val="150000"/>
              </a:lnSpc>
            </a:pPr>
            <a:r>
              <a:rPr lang="zh-CN" altLang="en-US" dirty="0"/>
              <a:t>条件覆盖（</a:t>
            </a:r>
            <a:r>
              <a:rPr lang="en-US" altLang="zh-CN" dirty="0"/>
              <a:t>Condition Coverage</a:t>
            </a:r>
            <a:r>
              <a:rPr dirty="0"/>
              <a:t>，</a:t>
            </a:r>
            <a:r>
              <a:rPr lang="en-US" altLang="zh-CN" dirty="0"/>
              <a:t>CC</a:t>
            </a:r>
            <a:r>
              <a:rPr dirty="0"/>
              <a:t>）</a:t>
            </a:r>
            <a:endParaRPr lang="en-US" altLang="zh-CN" dirty="0"/>
          </a:p>
          <a:p>
            <a:pPr lvl="1" algn="just" eaLnBrk="1" hangingPunct="1">
              <a:lnSpc>
                <a:spcPct val="150000"/>
              </a:lnSpc>
            </a:pPr>
            <a:r>
              <a:rPr lang="zh-CN" altLang="en-US" dirty="0"/>
              <a:t>判定</a:t>
            </a:r>
            <a:r>
              <a:rPr lang="en-US" altLang="zh-CN" dirty="0"/>
              <a:t>/</a:t>
            </a:r>
            <a:r>
              <a:rPr lang="zh-CN" altLang="en-US" dirty="0"/>
              <a:t>条件覆盖（</a:t>
            </a:r>
            <a:r>
              <a:rPr lang="en-US" altLang="zh-CN" dirty="0"/>
              <a:t>Decision/Condition Coverage</a:t>
            </a:r>
            <a:r>
              <a:rPr dirty="0"/>
              <a:t>，</a:t>
            </a:r>
            <a:r>
              <a:rPr lang="en-US" altLang="zh-CN" dirty="0"/>
              <a:t>D/CC</a:t>
            </a:r>
            <a:r>
              <a:rPr dirty="0"/>
              <a:t>）</a:t>
            </a:r>
            <a:endParaRPr lang="en-US" altLang="zh-CN" dirty="0"/>
          </a:p>
          <a:p>
            <a:pPr lvl="1" algn="just" eaLnBrk="1" hangingPunct="1">
              <a:lnSpc>
                <a:spcPct val="150000"/>
              </a:lnSpc>
            </a:pPr>
            <a:r>
              <a:rPr lang="zh-CN" altLang="en-US" dirty="0"/>
              <a:t>条件组合覆盖（</a:t>
            </a:r>
            <a:r>
              <a:rPr lang="en-US" altLang="zh-CN" dirty="0"/>
              <a:t>Condition Combination  Coverage</a:t>
            </a:r>
            <a:r>
              <a:rPr dirty="0"/>
              <a:t>，</a:t>
            </a:r>
            <a:r>
              <a:rPr lang="en-US" altLang="zh-CN" dirty="0"/>
              <a:t>CCC</a:t>
            </a:r>
            <a:r>
              <a:rPr dirty="0"/>
              <a:t>）</a:t>
            </a:r>
            <a:endParaRPr lang="en-US" altLang="zh-CN" dirty="0"/>
          </a:p>
          <a:p>
            <a:pPr lvl="1" algn="just" eaLnBrk="1" hangingPunct="1">
              <a:lnSpc>
                <a:spcPct val="150000"/>
              </a:lnSpc>
            </a:pPr>
            <a:r>
              <a:rPr lang="zh-CN" altLang="en-US" dirty="0"/>
              <a:t>修正的判定</a:t>
            </a:r>
            <a:r>
              <a:rPr lang="en-US" altLang="zh-CN" dirty="0"/>
              <a:t>/</a:t>
            </a:r>
            <a:r>
              <a:rPr lang="zh-CN" altLang="en-US" dirty="0"/>
              <a:t>条件覆盖（</a:t>
            </a:r>
            <a:r>
              <a:rPr lang="en-US" altLang="zh-CN" dirty="0"/>
              <a:t>Modified Decision/Condition Coverage</a:t>
            </a:r>
            <a:r>
              <a:rPr dirty="0"/>
              <a:t>，</a:t>
            </a:r>
            <a:r>
              <a:rPr lang="en-US" altLang="zh-CN" dirty="0"/>
              <a:t>MD/CC</a:t>
            </a:r>
            <a:r>
              <a:rPr dirty="0"/>
              <a:t>）</a:t>
            </a:r>
          </a:p>
        </p:txBody>
      </p:sp>
      <p:sp>
        <p:nvSpPr>
          <p:cNvPr id="2" name="日期占位符 1"/>
          <p:cNvSpPr>
            <a:spLocks noGrp="1"/>
          </p:cNvSpPr>
          <p:nvPr>
            <p:ph type="dt" sz="half" idx="10"/>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6</a:t>
            </a:fld>
            <a:endParaRPr lang="en-US" altLang="zh-CN" dirty="0">
              <a:latin typeface="Verdana" panose="020B0604030504040204" pitchFamily="34" charset="0"/>
            </a:endParaRPr>
          </a:p>
        </p:txBody>
      </p:sp>
      <p:sp>
        <p:nvSpPr>
          <p:cNvPr id="17410" name="Rectangle 2"/>
          <p:cNvSpPr>
            <a:spLocks noGrp="1"/>
          </p:cNvSpPr>
          <p:nvPr>
            <p:ph type="title"/>
            <p:custDataLst>
              <p:tags r:id="rId1"/>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2285" y="1390650"/>
            <a:ext cx="8139430" cy="4277360"/>
          </a:xfrm>
        </p:spPr>
        <p:txBody>
          <a:bodyPr/>
          <a:lstStyle/>
          <a:p>
            <a:pPr algn="just">
              <a:buClrTx/>
              <a:buSzTx/>
            </a:pPr>
            <a:r>
              <a:rPr lang="zh-CN" altLang="en-US" sz="3400" b="1"/>
              <a:t>难点问题</a:t>
            </a:r>
          </a:p>
          <a:p>
            <a:pPr lvl="1">
              <a:lnSpc>
                <a:spcPct val="150000"/>
              </a:lnSpc>
            </a:pPr>
            <a:r>
              <a:rPr lang="zh-CN" altLang="en-US" sz="2400"/>
              <a:t>面对一段被测程序代码，如何选择合适的判定测试覆盖指标。</a:t>
            </a:r>
          </a:p>
          <a:p>
            <a:pPr lvl="1">
              <a:lnSpc>
                <a:spcPct val="150000"/>
              </a:lnSpc>
            </a:pPr>
            <a:r>
              <a:rPr lang="zh-CN" altLang="en-US" sz="2400"/>
              <a:t>针对选定的覆盖指标，如何有效的控制测试用例的规模，提供测试用例的典型性，最大限度的减少测试漏洞。</a:t>
            </a:r>
          </a:p>
        </p:txBody>
      </p:sp>
      <p:sp>
        <p:nvSpPr>
          <p:cNvPr id="4" name="日期占位符 3"/>
          <p:cNvSpPr>
            <a:spLocks noGrp="1"/>
          </p:cNvSpPr>
          <p:nvPr>
            <p:ph type="dt" sz="half" idx="10"/>
          </p:nvPr>
        </p:nvSpPr>
        <p:spPr/>
        <p:txBody>
          <a:bodyPr/>
          <a:lstStyle/>
          <a:p>
            <a:fld id="{760FBDFE-C587-4B4C-A407-44438C67B59E}" type="datetime1">
              <a:rPr lang="zh-CN" altLang="en-US" smtClean="0"/>
              <a:t>2024/4/9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7</a:t>
            </a:fld>
            <a:endParaRPr lang="zh-CN" altLang="en-US"/>
          </a:p>
        </p:txBody>
      </p:sp>
      <p:sp>
        <p:nvSpPr>
          <p:cNvPr id="17410" name="Rectangle 2"/>
          <p:cNvSpPr>
            <a:spLocks noGrp="1"/>
          </p:cNvSpPr>
          <p:nvPr>
            <p:ph type="title"/>
            <p:custDataLst>
              <p:tags r:id="rId1"/>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p:cNvSpPr>
          <p:nvPr>
            <p:ph idx="1"/>
          </p:nvPr>
        </p:nvSpPr>
        <p:spPr>
          <a:xfrm>
            <a:off x="502285" y="1460500"/>
            <a:ext cx="8139430" cy="4207510"/>
          </a:xfrm>
        </p:spPr>
        <p:txBody>
          <a:bodyPr vert="horz" wrap="square" lIns="91440" tIns="45720" rIns="91440" bIns="45720" anchor="t" anchorCtr="0"/>
          <a:lstStyle/>
          <a:p>
            <a:pPr algn="just" eaLnBrk="1" hangingPunct="1"/>
            <a:r>
              <a:rPr lang="zh-CN" altLang="en-US" sz="3400" b="1" dirty="0"/>
              <a:t>案例描述</a:t>
            </a:r>
          </a:p>
        </p:txBody>
      </p:sp>
      <p:pic>
        <p:nvPicPr>
          <p:cNvPr id="18437" name="Picture 7"/>
          <p:cNvPicPr>
            <a:picLocks noChangeAspect="1"/>
          </p:cNvPicPr>
          <p:nvPr/>
        </p:nvPicPr>
        <p:blipFill>
          <a:blip r:embed="rId4"/>
          <a:stretch>
            <a:fillRect/>
          </a:stretch>
        </p:blipFill>
        <p:spPr>
          <a:xfrm>
            <a:off x="162560" y="2276475"/>
            <a:ext cx="6000750" cy="3000375"/>
          </a:xfrm>
          <a:prstGeom prst="rect">
            <a:avLst/>
          </a:prstGeom>
          <a:noFill/>
          <a:ln w="9525">
            <a:noFill/>
          </a:ln>
        </p:spPr>
      </p:pic>
      <p:pic>
        <p:nvPicPr>
          <p:cNvPr id="43014" name="Picture 6" descr="5t12"/>
          <p:cNvPicPr>
            <a:picLocks noChangeAspect="1"/>
          </p:cNvPicPr>
          <p:nvPr/>
        </p:nvPicPr>
        <p:blipFill>
          <a:blip r:embed="rId5"/>
          <a:stretch>
            <a:fillRect/>
          </a:stretch>
        </p:blipFill>
        <p:spPr>
          <a:xfrm>
            <a:off x="5219700" y="598488"/>
            <a:ext cx="3857625" cy="5678487"/>
          </a:xfrm>
          <a:prstGeom prst="rect">
            <a:avLst/>
          </a:prstGeom>
          <a:noFill/>
          <a:ln w="9525">
            <a:noFill/>
          </a:ln>
        </p:spPr>
      </p:pic>
      <p:sp>
        <p:nvSpPr>
          <p:cNvPr id="2" name="日期占位符 1"/>
          <p:cNvSpPr>
            <a:spLocks noGrp="1"/>
          </p:cNvSpPr>
          <p:nvPr>
            <p:ph type="dt" sz="half" idx="10"/>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8</a:t>
            </a:fld>
            <a:endParaRPr lang="en-US" altLang="zh-CN" dirty="0">
              <a:latin typeface="Verdana" panose="020B0604030504040204" pitchFamily="34" charset="0"/>
            </a:endParaRPr>
          </a:p>
        </p:txBody>
      </p:sp>
      <p:sp>
        <p:nvSpPr>
          <p:cNvPr id="17410" name="Rectangle 2"/>
          <p:cNvSpPr>
            <a:spLocks noGrp="1"/>
          </p:cNvSpPr>
          <p:nvPr>
            <p:ph type="title"/>
            <p:custDataLst>
              <p:tags r:id="rId1"/>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
        <p:nvSpPr>
          <p:cNvPr id="5" name="文本框 4"/>
          <p:cNvSpPr txBox="1"/>
          <p:nvPr/>
        </p:nvSpPr>
        <p:spPr>
          <a:xfrm>
            <a:off x="2374265" y="5304790"/>
            <a:ext cx="1395730" cy="132207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000" b="1"/>
              <a:t>T1: a&gt;1</a:t>
            </a:r>
          </a:p>
          <a:p>
            <a:r>
              <a:rPr lang="en-US" altLang="zh-CN" sz="2000" b="1"/>
              <a:t>T2: b&lt;2</a:t>
            </a:r>
          </a:p>
          <a:p>
            <a:r>
              <a:rPr lang="en-US" altLang="zh-CN" sz="2000" b="1"/>
              <a:t>T3: a==3</a:t>
            </a:r>
          </a:p>
          <a:p>
            <a:r>
              <a:rPr lang="en-US" altLang="zh-CN" sz="2000" b="1"/>
              <a:t>T4: x&gt;3</a:t>
            </a:r>
          </a:p>
        </p:txBody>
      </p:sp>
      <p:sp>
        <p:nvSpPr>
          <p:cNvPr id="6" name="文本框 5"/>
          <p:cNvSpPr txBox="1"/>
          <p:nvPr/>
        </p:nvSpPr>
        <p:spPr>
          <a:xfrm>
            <a:off x="4040505" y="5304790"/>
            <a:ext cx="1658620" cy="132207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000" b="1"/>
              <a:t>L13: p1+p3</a:t>
            </a:r>
          </a:p>
          <a:p>
            <a:r>
              <a:rPr lang="en-US" altLang="zh-CN" sz="2000" b="1"/>
              <a:t>L14: p1+p4</a:t>
            </a:r>
          </a:p>
          <a:p>
            <a:r>
              <a:rPr lang="en-US" altLang="zh-CN" sz="2000" b="1"/>
              <a:t>L23: p2+p3</a:t>
            </a:r>
          </a:p>
          <a:p>
            <a:r>
              <a:rPr lang="en-US" altLang="zh-CN" sz="2000" b="1"/>
              <a:t>L24: p2+p4</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014"/>
                                        </p:tgtEl>
                                        <p:attrNameLst>
                                          <p:attrName>style.visibility</p:attrName>
                                        </p:attrNameLst>
                                      </p:cBhvr>
                                      <p:to>
                                        <p:strVal val="visible"/>
                                      </p:to>
                                    </p:set>
                                    <p:anim calcmode="lin" valueType="num">
                                      <p:cBhvr additive="base">
                                        <p:cTn id="7" dur="500" fill="hold"/>
                                        <p:tgtEl>
                                          <p:spTgt spid="43014"/>
                                        </p:tgtEl>
                                        <p:attrNameLst>
                                          <p:attrName>ppt_x</p:attrName>
                                        </p:attrNameLst>
                                      </p:cBhvr>
                                      <p:tavLst>
                                        <p:tav tm="0">
                                          <p:val>
                                            <p:strVal val="#ppt_x"/>
                                          </p:val>
                                        </p:tav>
                                        <p:tav tm="100000">
                                          <p:val>
                                            <p:strVal val="#ppt_x"/>
                                          </p:val>
                                        </p:tav>
                                      </p:tavLst>
                                    </p:anim>
                                    <p:anim calcmode="lin" valueType="num">
                                      <p:cBhvr additive="base">
                                        <p:cTn id="8" dur="500" fill="hold"/>
                                        <p:tgtEl>
                                          <p:spTgt spid="430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6" grpId="0" animBg="1"/>
      <p:bldP spid="6"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p:cNvSpPr>
          <p:nvPr>
            <p:ph idx="1"/>
          </p:nvPr>
        </p:nvSpPr>
        <p:spPr>
          <a:xfrm>
            <a:off x="502285" y="1411605"/>
            <a:ext cx="8139430" cy="4256405"/>
          </a:xfrm>
        </p:spPr>
        <p:txBody>
          <a:bodyPr vert="horz" wrap="square" lIns="91440" tIns="45720" rIns="91440" bIns="45720" anchor="t" anchorCtr="0"/>
          <a:lstStyle/>
          <a:p>
            <a:pPr algn="just" eaLnBrk="1" hangingPunct="1">
              <a:lnSpc>
                <a:spcPct val="140000"/>
              </a:lnSpc>
            </a:pPr>
            <a:r>
              <a:rPr lang="zh-CN" altLang="en-US" sz="3400" b="1" dirty="0"/>
              <a:t>语句覆盖</a:t>
            </a:r>
            <a:endParaRPr lang="en-US" altLang="zh-CN" sz="3400" b="1" dirty="0"/>
          </a:p>
          <a:p>
            <a:pPr lvl="1" algn="just" eaLnBrk="1" hangingPunct="1">
              <a:lnSpc>
                <a:spcPct val="160000"/>
              </a:lnSpc>
            </a:pPr>
            <a:r>
              <a:rPr lang="zh-CN" altLang="en-US" sz="2400" b="1" dirty="0"/>
              <a:t>基本思想：</a:t>
            </a:r>
            <a:r>
              <a:rPr lang="zh-CN" altLang="en-US" sz="2400" dirty="0"/>
              <a:t>设计测试用例时应保证程序的每一条</a:t>
            </a:r>
            <a:r>
              <a:rPr lang="zh-CN" altLang="en-US" sz="2400" b="1" dirty="0">
                <a:solidFill>
                  <a:srgbClr val="FF0000"/>
                </a:solidFill>
              </a:rPr>
              <a:t>可执行语句</a:t>
            </a:r>
            <a:r>
              <a:rPr lang="zh-CN" altLang="en-US" sz="2400" dirty="0"/>
              <a:t>至少执行一次。</a:t>
            </a:r>
            <a:r>
              <a:rPr lang="zh-CN" altLang="en-US" sz="2400" b="1" dirty="0">
                <a:solidFill>
                  <a:srgbClr val="FF0000"/>
                </a:solidFill>
              </a:rPr>
              <a:t>（执行一个分支即可满足）</a:t>
            </a:r>
            <a:endParaRPr lang="zh-CN" altLang="en-US" sz="2400" dirty="0"/>
          </a:p>
          <a:p>
            <a:pPr lvl="1" algn="just" eaLnBrk="1" hangingPunct="1">
              <a:lnSpc>
                <a:spcPct val="160000"/>
              </a:lnSpc>
            </a:pPr>
            <a:r>
              <a:rPr lang="zh-CN" altLang="en-US" sz="2400" dirty="0"/>
              <a:t>语句覆盖等同于对图中所有节点的覆盖。</a:t>
            </a:r>
          </a:p>
        </p:txBody>
      </p:sp>
      <p:sp>
        <p:nvSpPr>
          <p:cNvPr id="2" name="日期占位符 1"/>
          <p:cNvSpPr>
            <a:spLocks noGrp="1"/>
          </p:cNvSpPr>
          <p:nvPr>
            <p:ph type="dt" sz="half" idx="10"/>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9</a:t>
            </a:fld>
            <a:endParaRPr lang="en-US" altLang="zh-CN" dirty="0">
              <a:latin typeface="Verdana" panose="020B0604030504040204" pitchFamily="34" charset="0"/>
            </a:endParaRPr>
          </a:p>
        </p:txBody>
      </p:sp>
      <p:sp>
        <p:nvSpPr>
          <p:cNvPr id="17410" name="Rectangle 2"/>
          <p:cNvSpPr>
            <a:spLocks noGrp="1"/>
          </p:cNvSpPr>
          <p:nvPr>
            <p:ph type="title"/>
            <p:custDataLst>
              <p:tags r:id="rId1"/>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p:cNvSpPr>
          <p:nvPr>
            <p:ph idx="1"/>
          </p:nvPr>
        </p:nvSpPr>
        <p:spPr>
          <a:xfrm>
            <a:off x="502285" y="1481455"/>
            <a:ext cx="8139430" cy="4186555"/>
          </a:xfrm>
        </p:spPr>
        <p:txBody>
          <a:bodyPr vert="horz" wrap="square" lIns="91440" tIns="45720" rIns="91440" bIns="45720" anchor="t" anchorCtr="0"/>
          <a:lstStyle/>
          <a:p>
            <a:pPr algn="just" eaLnBrk="1" hangingPunct="1"/>
            <a:r>
              <a:rPr lang="zh-CN" altLang="en-US" sz="3400" b="1" dirty="0"/>
              <a:t>语句覆盖</a:t>
            </a:r>
            <a:endParaRPr lang="zh-CN" altLang="en-US" b="1" dirty="0"/>
          </a:p>
        </p:txBody>
      </p:sp>
      <p:pic>
        <p:nvPicPr>
          <p:cNvPr id="21509" name="Picture 2"/>
          <p:cNvPicPr>
            <a:picLocks noChangeAspect="1"/>
          </p:cNvPicPr>
          <p:nvPr/>
        </p:nvPicPr>
        <p:blipFill>
          <a:blip r:embed="rId5"/>
          <a:stretch>
            <a:fillRect/>
          </a:stretch>
        </p:blipFill>
        <p:spPr>
          <a:xfrm>
            <a:off x="107315" y="2708910"/>
            <a:ext cx="8778240" cy="1382395"/>
          </a:xfrm>
          <a:prstGeom prst="rect">
            <a:avLst/>
          </a:prstGeom>
          <a:noFill/>
          <a:ln w="9525">
            <a:noFill/>
          </a:ln>
        </p:spPr>
      </p:pic>
      <p:pic>
        <p:nvPicPr>
          <p:cNvPr id="43014" name="Picture 6" descr="5t12"/>
          <p:cNvPicPr>
            <a:picLocks noChangeAspect="1"/>
          </p:cNvPicPr>
          <p:nvPr/>
        </p:nvPicPr>
        <p:blipFill>
          <a:blip r:embed="rId6"/>
          <a:stretch>
            <a:fillRect/>
          </a:stretch>
        </p:blipFill>
        <p:spPr>
          <a:xfrm>
            <a:off x="6083935" y="116840"/>
            <a:ext cx="2990850" cy="4402455"/>
          </a:xfrm>
          <a:prstGeom prst="rect">
            <a:avLst/>
          </a:prstGeom>
          <a:noFill/>
          <a:ln w="9525">
            <a:noFill/>
          </a:ln>
        </p:spPr>
      </p:pic>
      <p:graphicFrame>
        <p:nvGraphicFramePr>
          <p:cNvPr id="4" name="表格 3"/>
          <p:cNvGraphicFramePr/>
          <p:nvPr>
            <p:custDataLst>
              <p:tags r:id="rId1"/>
            </p:custDataLst>
          </p:nvPr>
        </p:nvGraphicFramePr>
        <p:xfrm>
          <a:off x="575628" y="4658360"/>
          <a:ext cx="8001000" cy="146304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365760">
                <a:tc>
                  <a:txBody>
                    <a:bodyPr/>
                    <a:lstStyle/>
                    <a:p>
                      <a:pPr algn="ctr">
                        <a:buNone/>
                      </a:pPr>
                      <a:endParaRPr lang="en-US" altLang="zh-CN" sz="1800"/>
                    </a:p>
                  </a:txBody>
                  <a:tcPr anchor="ctr">
                    <a:solidFill>
                      <a:schemeClr val="accent2"/>
                    </a:solidFill>
                  </a:tcPr>
                </a:tc>
                <a:tc>
                  <a:txBody>
                    <a:bodyPr/>
                    <a:lstStyle/>
                    <a:p>
                      <a:pPr algn="ctr">
                        <a:buNone/>
                      </a:pPr>
                      <a:r>
                        <a:rPr lang="en-US" altLang="zh-CN" sz="1800"/>
                        <a:t>a&gt;1</a:t>
                      </a:r>
                    </a:p>
                  </a:txBody>
                  <a:tcPr anchor="ctr">
                    <a:solidFill>
                      <a:schemeClr val="accent2"/>
                    </a:solidFill>
                  </a:tcPr>
                </a:tc>
                <a:tc>
                  <a:txBody>
                    <a:bodyPr/>
                    <a:lstStyle/>
                    <a:p>
                      <a:pPr algn="ctr">
                        <a:buNone/>
                      </a:pPr>
                      <a:r>
                        <a:rPr lang="en-US" altLang="zh-CN" sz="1800"/>
                        <a:t>b&lt;2</a:t>
                      </a:r>
                    </a:p>
                  </a:txBody>
                  <a:tcPr anchor="ctr">
                    <a:solidFill>
                      <a:schemeClr val="accent2"/>
                    </a:solidFill>
                  </a:tcPr>
                </a:tc>
                <a:tc>
                  <a:txBody>
                    <a:bodyPr/>
                    <a:lstStyle/>
                    <a:p>
                      <a:pPr algn="ctr">
                        <a:buNone/>
                      </a:pPr>
                      <a:r>
                        <a:rPr lang="en-US" altLang="zh-CN" sz="1800"/>
                        <a:t>&amp;&amp;</a:t>
                      </a:r>
                    </a:p>
                  </a:txBody>
                  <a:tcPr anchor="ctr">
                    <a:solidFill>
                      <a:schemeClr val="accent2"/>
                    </a:solidFill>
                  </a:tcPr>
                </a:tc>
                <a:tc>
                  <a:txBody>
                    <a:bodyPr/>
                    <a:lstStyle/>
                    <a:p>
                      <a:pPr algn="ctr">
                        <a:buNone/>
                      </a:pPr>
                      <a:r>
                        <a:rPr lang="en-US" altLang="zh-CN" sz="1800"/>
                        <a:t>a=3</a:t>
                      </a:r>
                    </a:p>
                  </a:txBody>
                  <a:tcPr anchor="ctr">
                    <a:solidFill>
                      <a:schemeClr val="accent4"/>
                    </a:solidFill>
                  </a:tcPr>
                </a:tc>
                <a:tc>
                  <a:txBody>
                    <a:bodyPr/>
                    <a:lstStyle/>
                    <a:p>
                      <a:pPr algn="ctr">
                        <a:buNone/>
                      </a:pPr>
                      <a:r>
                        <a:rPr lang="en-US" altLang="zh-CN" sz="1800"/>
                        <a:t>x&gt;3</a:t>
                      </a:r>
                    </a:p>
                  </a:txBody>
                  <a:tcPr anchor="ctr">
                    <a:solidFill>
                      <a:schemeClr val="accent4"/>
                    </a:solidFill>
                  </a:tcPr>
                </a:tc>
                <a:tc>
                  <a:txBody>
                    <a:bodyPr/>
                    <a:lstStyle/>
                    <a:p>
                      <a:pPr algn="ctr">
                        <a:buNone/>
                      </a:pPr>
                      <a:r>
                        <a:rPr lang="en-US" altLang="zh-CN" sz="1800"/>
                        <a:t>||</a:t>
                      </a:r>
                    </a:p>
                  </a:txBody>
                  <a:tcPr anchor="ctr">
                    <a:solidFill>
                      <a:schemeClr val="accent4"/>
                    </a:solidFill>
                  </a:tcPr>
                </a:tc>
                <a:extLst>
                  <a:ext uri="{0D108BD9-81ED-4DB2-BD59-A6C34878D82A}">
                    <a16:rowId xmlns:a16="http://schemas.microsoft.com/office/drawing/2014/main" val="10000"/>
                  </a:ext>
                </a:extLst>
              </a:tr>
              <a:tr h="365760">
                <a:tc>
                  <a:txBody>
                    <a:bodyPr/>
                    <a:lstStyle/>
                    <a:p>
                      <a:pPr algn="ctr">
                        <a:buNone/>
                      </a:pPr>
                      <a:r>
                        <a:rPr lang="en-US" altLang="zh-CN" sz="1800"/>
                        <a:t>LC-001</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solidFill>
                      <a:schemeClr val="accent4">
                        <a:lumMod val="40000"/>
                        <a:lumOff val="60000"/>
                      </a:schemeClr>
                    </a:solidFill>
                  </a:tcP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extLst>
                  <a:ext uri="{0D108BD9-81ED-4DB2-BD59-A6C34878D82A}">
                    <a16:rowId xmlns:a16="http://schemas.microsoft.com/office/drawing/2014/main" val="10001"/>
                  </a:ext>
                </a:extLst>
              </a:tr>
              <a:tr h="365760">
                <a:tc>
                  <a:txBody>
                    <a:bodyPr/>
                    <a:lstStyle/>
                    <a:p>
                      <a:pPr algn="ctr">
                        <a:buNone/>
                      </a:pPr>
                      <a:r>
                        <a:rPr lang="en-US" altLang="zh-CN" sz="1800"/>
                        <a:t>LC-002</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T</a:t>
                      </a:r>
                    </a:p>
                  </a:txBody>
                  <a:tcPr anchor="ctr">
                    <a:solidFill>
                      <a:schemeClr val="accent4">
                        <a:lumMod val="20000"/>
                        <a:lumOff val="80000"/>
                      </a:schemeClr>
                    </a:solidFill>
                  </a:tcPr>
                </a:tc>
                <a:tc>
                  <a:txBody>
                    <a:bodyPr/>
                    <a:lstStyle/>
                    <a:p>
                      <a:pPr algn="ctr">
                        <a:buNone/>
                      </a:pPr>
                      <a:r>
                        <a:rPr lang="en-US" altLang="zh-CN" sz="1800"/>
                        <a:t>T</a:t>
                      </a:r>
                    </a:p>
                  </a:txBody>
                  <a:tcPr anchor="ctr">
                    <a:solidFill>
                      <a:schemeClr val="accent4">
                        <a:lumMod val="20000"/>
                        <a:lumOff val="80000"/>
                      </a:schemeClr>
                    </a:solidFill>
                  </a:tcPr>
                </a:tc>
                <a:extLst>
                  <a:ext uri="{0D108BD9-81ED-4DB2-BD59-A6C34878D82A}">
                    <a16:rowId xmlns:a16="http://schemas.microsoft.com/office/drawing/2014/main" val="10002"/>
                  </a:ext>
                </a:extLst>
              </a:tr>
              <a:tr h="365760">
                <a:tc>
                  <a:txBody>
                    <a:bodyPr/>
                    <a:lstStyle/>
                    <a:p>
                      <a:pPr algn="ctr">
                        <a:buNone/>
                      </a:pPr>
                      <a:r>
                        <a:rPr lang="en-US" altLang="zh-CN" sz="1800"/>
                        <a:t>LC-003</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extLst>
                  <a:ext uri="{0D108BD9-81ED-4DB2-BD59-A6C34878D82A}">
                    <a16:rowId xmlns:a16="http://schemas.microsoft.com/office/drawing/2014/main" val="10003"/>
                  </a:ext>
                </a:extLst>
              </a:tr>
            </a:tbl>
          </a:graphicData>
        </a:graphic>
      </p:graphicFrame>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10</a:t>
            </a:fld>
            <a:endParaRPr lang="en-US" altLang="zh-CN" dirty="0">
              <a:latin typeface="Verdana" panose="020B0604030504040204" pitchFamily="34" charset="0"/>
            </a:endParaRPr>
          </a:p>
        </p:txBody>
      </p:sp>
      <p:sp>
        <p:nvSpPr>
          <p:cNvPr id="5" name="日期占位符 4"/>
          <p:cNvSpPr>
            <a:spLocks noGrp="1"/>
          </p:cNvSpPr>
          <p:nvPr>
            <p:ph type="dt" sz="half" idx="10"/>
            <p:custDataLst>
              <p:tags r:id="rId2"/>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3"/>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
        <p:nvSpPr>
          <p:cNvPr id="7" name="椭圆 6"/>
          <p:cNvSpPr/>
          <p:nvPr/>
        </p:nvSpPr>
        <p:spPr>
          <a:xfrm>
            <a:off x="3996055" y="4580890"/>
            <a:ext cx="1151890" cy="1584325"/>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7425055" y="4590415"/>
            <a:ext cx="1151890" cy="1584325"/>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1509"/>
                                        </p:tgtEl>
                                        <p:attrNameLst>
                                          <p:attrName>style.visibility</p:attrName>
                                        </p:attrNameLst>
                                      </p:cBhvr>
                                      <p:to>
                                        <p:strVal val="visible"/>
                                      </p:to>
                                    </p:set>
                                    <p:animEffect transition="in" filter="dissolve">
                                      <p:cBhvr>
                                        <p:cTn id="7" dur="500"/>
                                        <p:tgtEl>
                                          <p:spTgt spid="2150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3014"/>
                                        </p:tgtEl>
                                        <p:attrNameLst>
                                          <p:attrName>style.visibility</p:attrName>
                                        </p:attrNameLst>
                                      </p:cBhvr>
                                      <p:to>
                                        <p:strVal val="visible"/>
                                      </p:to>
                                    </p:set>
                                    <p:animEffect transition="in" filter="dissolve">
                                      <p:cBhvr>
                                        <p:cTn id="12" dur="500"/>
                                        <p:tgtEl>
                                          <p:spTgt spid="430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p:cNvSpPr>
          <p:nvPr>
            <p:ph idx="1"/>
          </p:nvPr>
        </p:nvSpPr>
        <p:spPr>
          <a:xfrm>
            <a:off x="502285" y="1388110"/>
            <a:ext cx="8139430" cy="4279900"/>
          </a:xfrm>
        </p:spPr>
        <p:txBody>
          <a:bodyPr vert="horz" wrap="square" lIns="91440" tIns="45720" rIns="91440" bIns="45720" anchor="t" anchorCtr="0"/>
          <a:lstStyle/>
          <a:p>
            <a:pPr algn="just" eaLnBrk="1" hangingPunct="1">
              <a:lnSpc>
                <a:spcPct val="120000"/>
              </a:lnSpc>
            </a:pPr>
            <a:r>
              <a:rPr lang="zh-CN" altLang="en-US" sz="3400" b="1" dirty="0"/>
              <a:t>语句覆盖（最弱）</a:t>
            </a:r>
            <a:endParaRPr lang="en-US" altLang="zh-CN" sz="3400" b="1" dirty="0"/>
          </a:p>
          <a:p>
            <a:pPr algn="just" eaLnBrk="1" hangingPunct="1">
              <a:lnSpc>
                <a:spcPct val="170000"/>
              </a:lnSpc>
            </a:pPr>
            <a:r>
              <a:rPr lang="zh-CN" altLang="en-US" sz="3400" b="1" dirty="0"/>
              <a:t>局限性</a:t>
            </a:r>
            <a:endParaRPr lang="en-US" altLang="zh-CN" sz="3400" b="1" dirty="0"/>
          </a:p>
          <a:p>
            <a:pPr lvl="1" algn="just" eaLnBrk="1" hangingPunct="1"/>
            <a:r>
              <a:rPr lang="zh-CN" altLang="en-US" sz="2400" dirty="0"/>
              <a:t>关注语句而非判定表达式</a:t>
            </a:r>
            <a:endParaRPr lang="en-US" altLang="zh-CN" sz="2400" dirty="0"/>
          </a:p>
          <a:p>
            <a:pPr lvl="1" algn="just" eaLnBrk="1" hangingPunct="1"/>
            <a:r>
              <a:rPr lang="zh-CN" altLang="en-US" sz="2400" dirty="0"/>
              <a:t>对隐式分支无效</a:t>
            </a:r>
            <a:r>
              <a:rPr lang="en-US" altLang="zh-CN" sz="2400" dirty="0"/>
              <a:t>  P120</a:t>
            </a:r>
          </a:p>
        </p:txBody>
      </p:sp>
      <p:pic>
        <p:nvPicPr>
          <p:cNvPr id="43014" name="Picture 6" descr="5t12"/>
          <p:cNvPicPr>
            <a:picLocks noChangeAspect="1"/>
          </p:cNvPicPr>
          <p:nvPr/>
        </p:nvPicPr>
        <p:blipFill>
          <a:blip r:embed="rId5"/>
          <a:stretch>
            <a:fillRect/>
          </a:stretch>
        </p:blipFill>
        <p:spPr>
          <a:xfrm>
            <a:off x="5892165" y="116840"/>
            <a:ext cx="2990850" cy="4402455"/>
          </a:xfrm>
          <a:prstGeom prst="rect">
            <a:avLst/>
          </a:prstGeom>
          <a:noFill/>
          <a:ln w="9525">
            <a:noFill/>
          </a:ln>
        </p:spPr>
      </p:pic>
      <p:graphicFrame>
        <p:nvGraphicFramePr>
          <p:cNvPr id="4" name="表格 3"/>
          <p:cNvGraphicFramePr/>
          <p:nvPr>
            <p:custDataLst>
              <p:tags r:id="rId1"/>
            </p:custDataLst>
          </p:nvPr>
        </p:nvGraphicFramePr>
        <p:xfrm>
          <a:off x="545783" y="4636135"/>
          <a:ext cx="8001000" cy="151892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379730">
                <a:tc>
                  <a:txBody>
                    <a:bodyPr/>
                    <a:lstStyle/>
                    <a:p>
                      <a:pPr algn="ctr">
                        <a:buNone/>
                      </a:pPr>
                      <a:endParaRPr lang="en-US" altLang="zh-CN" sz="1800"/>
                    </a:p>
                  </a:txBody>
                  <a:tcPr anchor="ctr">
                    <a:solidFill>
                      <a:schemeClr val="accent2"/>
                    </a:solidFill>
                  </a:tcPr>
                </a:tc>
                <a:tc>
                  <a:txBody>
                    <a:bodyPr/>
                    <a:lstStyle/>
                    <a:p>
                      <a:pPr algn="ctr">
                        <a:buNone/>
                      </a:pPr>
                      <a:r>
                        <a:rPr lang="en-US" altLang="zh-CN" sz="1800"/>
                        <a:t>a&gt;1</a:t>
                      </a:r>
                    </a:p>
                  </a:txBody>
                  <a:tcPr anchor="ctr">
                    <a:solidFill>
                      <a:schemeClr val="accent2"/>
                    </a:solidFill>
                  </a:tcPr>
                </a:tc>
                <a:tc>
                  <a:txBody>
                    <a:bodyPr/>
                    <a:lstStyle/>
                    <a:p>
                      <a:pPr algn="ctr">
                        <a:buNone/>
                      </a:pPr>
                      <a:r>
                        <a:rPr lang="en-US" altLang="zh-CN" sz="1800"/>
                        <a:t>b&lt;2</a:t>
                      </a:r>
                    </a:p>
                  </a:txBody>
                  <a:tcPr anchor="ctr">
                    <a:solidFill>
                      <a:schemeClr val="accent2"/>
                    </a:solidFill>
                  </a:tcPr>
                </a:tc>
                <a:tc>
                  <a:txBody>
                    <a:bodyPr/>
                    <a:lstStyle/>
                    <a:p>
                      <a:pPr algn="ctr">
                        <a:buNone/>
                      </a:pPr>
                      <a:r>
                        <a:rPr lang="en-US" altLang="zh-CN" sz="1800"/>
                        <a:t>&amp;&amp;→||</a:t>
                      </a:r>
                    </a:p>
                  </a:txBody>
                  <a:tcPr anchor="ctr">
                    <a:solidFill>
                      <a:schemeClr val="accent2"/>
                    </a:solidFill>
                  </a:tcPr>
                </a:tc>
                <a:tc>
                  <a:txBody>
                    <a:bodyPr/>
                    <a:lstStyle/>
                    <a:p>
                      <a:pPr algn="ctr">
                        <a:buNone/>
                      </a:pPr>
                      <a:r>
                        <a:rPr lang="en-US" altLang="zh-CN" sz="1800"/>
                        <a:t>a=3</a:t>
                      </a:r>
                    </a:p>
                  </a:txBody>
                  <a:tcPr anchor="ctr">
                    <a:solidFill>
                      <a:schemeClr val="accent4"/>
                    </a:solidFill>
                  </a:tcPr>
                </a:tc>
                <a:tc>
                  <a:txBody>
                    <a:bodyPr/>
                    <a:lstStyle/>
                    <a:p>
                      <a:pPr algn="ctr">
                        <a:buNone/>
                      </a:pPr>
                      <a:r>
                        <a:rPr lang="en-US" altLang="zh-CN" sz="1800"/>
                        <a:t>x&gt;3</a:t>
                      </a:r>
                    </a:p>
                  </a:txBody>
                  <a:tcPr anchor="ctr">
                    <a:solidFill>
                      <a:schemeClr val="accent4"/>
                    </a:solidFill>
                  </a:tcPr>
                </a:tc>
                <a:tc>
                  <a:txBody>
                    <a:bodyPr/>
                    <a:lstStyle/>
                    <a:p>
                      <a:pPr algn="ctr">
                        <a:buNone/>
                      </a:pPr>
                      <a:r>
                        <a:rPr lang="en-US" altLang="zh-CN" sz="1800"/>
                        <a:t>||→&amp;&amp;</a:t>
                      </a:r>
                    </a:p>
                  </a:txBody>
                  <a:tcPr anchor="ctr">
                    <a:solidFill>
                      <a:schemeClr val="accent4"/>
                    </a:solidFill>
                  </a:tcPr>
                </a:tc>
                <a:extLst>
                  <a:ext uri="{0D108BD9-81ED-4DB2-BD59-A6C34878D82A}">
                    <a16:rowId xmlns:a16="http://schemas.microsoft.com/office/drawing/2014/main" val="10000"/>
                  </a:ext>
                </a:extLst>
              </a:tr>
              <a:tr h="379730">
                <a:tc>
                  <a:txBody>
                    <a:bodyPr/>
                    <a:lstStyle/>
                    <a:p>
                      <a:pPr algn="ctr">
                        <a:buNone/>
                      </a:pPr>
                      <a:r>
                        <a:rPr lang="en-US" altLang="zh-CN" sz="1800"/>
                        <a:t>LC-001</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solidFill>
                      <a:schemeClr val="accent4">
                        <a:lumMod val="40000"/>
                        <a:lumOff val="60000"/>
                      </a:schemeClr>
                    </a:solidFill>
                  </a:tcP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extLst>
                  <a:ext uri="{0D108BD9-81ED-4DB2-BD59-A6C34878D82A}">
                    <a16:rowId xmlns:a16="http://schemas.microsoft.com/office/drawing/2014/main" val="10001"/>
                  </a:ext>
                </a:extLst>
              </a:tr>
              <a:tr h="379730">
                <a:tc>
                  <a:txBody>
                    <a:bodyPr/>
                    <a:lstStyle/>
                    <a:p>
                      <a:pPr algn="ctr">
                        <a:buNone/>
                      </a:pPr>
                      <a:r>
                        <a:rPr lang="en-US" altLang="zh-CN" sz="1800"/>
                        <a:t>LC-002</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T</a:t>
                      </a:r>
                    </a:p>
                  </a:txBody>
                  <a:tcPr anchor="ctr">
                    <a:solidFill>
                      <a:schemeClr val="accent4">
                        <a:lumMod val="20000"/>
                        <a:lumOff val="80000"/>
                      </a:schemeClr>
                    </a:solidFill>
                  </a:tcPr>
                </a:tc>
                <a:tc>
                  <a:txBody>
                    <a:bodyPr/>
                    <a:lstStyle/>
                    <a:p>
                      <a:pPr algn="ctr">
                        <a:buNone/>
                      </a:pPr>
                      <a:r>
                        <a:rPr lang="en-US" altLang="zh-CN" sz="1800"/>
                        <a:t>T</a:t>
                      </a:r>
                    </a:p>
                  </a:txBody>
                  <a:tcPr anchor="ctr">
                    <a:solidFill>
                      <a:schemeClr val="accent4">
                        <a:lumMod val="20000"/>
                        <a:lumOff val="80000"/>
                      </a:schemeClr>
                    </a:solidFill>
                  </a:tcPr>
                </a:tc>
                <a:extLst>
                  <a:ext uri="{0D108BD9-81ED-4DB2-BD59-A6C34878D82A}">
                    <a16:rowId xmlns:a16="http://schemas.microsoft.com/office/drawing/2014/main" val="10002"/>
                  </a:ext>
                </a:extLst>
              </a:tr>
              <a:tr h="379730">
                <a:tc>
                  <a:txBody>
                    <a:bodyPr/>
                    <a:lstStyle/>
                    <a:p>
                      <a:pPr algn="ctr">
                        <a:buNone/>
                      </a:pPr>
                      <a:r>
                        <a:rPr lang="en-US" altLang="zh-CN" sz="1800">
                          <a:solidFill>
                            <a:srgbClr val="FF0000"/>
                          </a:solidFill>
                        </a:rPr>
                        <a:t>LC-003</a:t>
                      </a:r>
                    </a:p>
                  </a:txBody>
                  <a:tcPr anchor="ctr">
                    <a:solidFill>
                      <a:srgbClr val="F8DD4E"/>
                    </a:solidFill>
                  </a:tcPr>
                </a:tc>
                <a:tc>
                  <a:txBody>
                    <a:bodyPr/>
                    <a:lstStyle/>
                    <a:p>
                      <a:pPr algn="ctr">
                        <a:buNone/>
                      </a:pPr>
                      <a:r>
                        <a:rPr lang="en-US" altLang="zh-CN" sz="1800">
                          <a:solidFill>
                            <a:srgbClr val="FF0000"/>
                          </a:solidFill>
                        </a:rPr>
                        <a:t>T</a:t>
                      </a:r>
                    </a:p>
                  </a:txBody>
                  <a:tcPr anchor="ctr">
                    <a:solidFill>
                      <a:srgbClr val="F8DD4E"/>
                    </a:solidFill>
                  </a:tcPr>
                </a:tc>
                <a:tc>
                  <a:txBody>
                    <a:bodyPr/>
                    <a:lstStyle/>
                    <a:p>
                      <a:pPr algn="ctr">
                        <a:buNone/>
                      </a:pPr>
                      <a:r>
                        <a:rPr lang="en-US" altLang="zh-CN" sz="1800">
                          <a:solidFill>
                            <a:srgbClr val="FF0000"/>
                          </a:solidFill>
                        </a:rPr>
                        <a:t>T</a:t>
                      </a:r>
                    </a:p>
                  </a:txBody>
                  <a:tcPr anchor="ctr">
                    <a:solidFill>
                      <a:srgbClr val="F8DD4E"/>
                    </a:solidFill>
                  </a:tcPr>
                </a:tc>
                <a:tc>
                  <a:txBody>
                    <a:bodyPr/>
                    <a:lstStyle/>
                    <a:p>
                      <a:pPr algn="ctr">
                        <a:buNone/>
                      </a:pPr>
                      <a:r>
                        <a:rPr lang="en-US" altLang="zh-CN" sz="1800">
                          <a:solidFill>
                            <a:srgbClr val="FF0000"/>
                          </a:solidFill>
                        </a:rPr>
                        <a:t>T</a:t>
                      </a:r>
                    </a:p>
                  </a:txBody>
                  <a:tcPr anchor="ctr">
                    <a:solidFill>
                      <a:srgbClr val="F8DD4E"/>
                    </a:solidFill>
                  </a:tcPr>
                </a:tc>
                <a:tc>
                  <a:txBody>
                    <a:bodyPr/>
                    <a:lstStyle/>
                    <a:p>
                      <a:pPr algn="ctr">
                        <a:buNone/>
                      </a:pPr>
                      <a:r>
                        <a:rPr lang="en-US" altLang="zh-CN" sz="1800">
                          <a:solidFill>
                            <a:srgbClr val="FF0000"/>
                          </a:solidFill>
                        </a:rPr>
                        <a:t>T</a:t>
                      </a:r>
                    </a:p>
                  </a:txBody>
                  <a:tcPr anchor="ctr">
                    <a:solidFill>
                      <a:srgbClr val="F8DD4E"/>
                    </a:solidFill>
                  </a:tcPr>
                </a:tc>
                <a:tc>
                  <a:txBody>
                    <a:bodyPr/>
                    <a:lstStyle/>
                    <a:p>
                      <a:pPr algn="ctr">
                        <a:buNone/>
                      </a:pPr>
                      <a:r>
                        <a:rPr lang="en-US" altLang="zh-CN" sz="1800">
                          <a:solidFill>
                            <a:srgbClr val="FF0000"/>
                          </a:solidFill>
                        </a:rPr>
                        <a:t>T</a:t>
                      </a:r>
                    </a:p>
                  </a:txBody>
                  <a:tcPr anchor="ctr">
                    <a:solidFill>
                      <a:srgbClr val="F8DD4E"/>
                    </a:solidFill>
                  </a:tcPr>
                </a:tc>
                <a:tc>
                  <a:txBody>
                    <a:bodyPr/>
                    <a:lstStyle/>
                    <a:p>
                      <a:pPr algn="ctr">
                        <a:buNone/>
                      </a:pPr>
                      <a:r>
                        <a:rPr lang="en-US" altLang="zh-CN" sz="1800">
                          <a:solidFill>
                            <a:srgbClr val="FF0000"/>
                          </a:solidFill>
                        </a:rPr>
                        <a:t>T</a:t>
                      </a:r>
                    </a:p>
                  </a:txBody>
                  <a:tcPr anchor="ctr">
                    <a:solidFill>
                      <a:srgbClr val="F8DD4E"/>
                    </a:solidFill>
                  </a:tcPr>
                </a:tc>
                <a:extLst>
                  <a:ext uri="{0D108BD9-81ED-4DB2-BD59-A6C34878D82A}">
                    <a16:rowId xmlns:a16="http://schemas.microsoft.com/office/drawing/2014/main" val="10003"/>
                  </a:ext>
                </a:extLst>
              </a:tr>
            </a:tbl>
          </a:graphicData>
        </a:graphic>
      </p:graphicFrame>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11</a:t>
            </a:fld>
            <a:endParaRPr lang="en-US" altLang="zh-CN" dirty="0">
              <a:latin typeface="Verdana" panose="020B0604030504040204" pitchFamily="34" charset="0"/>
            </a:endParaRPr>
          </a:p>
        </p:txBody>
      </p:sp>
      <p:sp>
        <p:nvSpPr>
          <p:cNvPr id="5" name="日期占位符 4"/>
          <p:cNvSpPr>
            <a:spLocks noGrp="1"/>
          </p:cNvSpPr>
          <p:nvPr>
            <p:ph type="dt" sz="half" idx="10"/>
            <p:custDataLst>
              <p:tags r:id="rId2"/>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3"/>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
        <p:nvSpPr>
          <p:cNvPr id="7" name="文本框 6"/>
          <p:cNvSpPr txBox="1"/>
          <p:nvPr/>
        </p:nvSpPr>
        <p:spPr>
          <a:xfrm>
            <a:off x="3059430" y="2132965"/>
            <a:ext cx="2725420" cy="10147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zh-CN" altLang="en-US" sz="2000" b="1"/>
              <a:t>错写成</a:t>
            </a:r>
            <a:r>
              <a:rPr lang="en-US" altLang="zh-CN" sz="2000" b="1"/>
              <a:t>(a&gt;1)||(b&lt;2)</a:t>
            </a:r>
            <a:r>
              <a:rPr lang="zh-CN" altLang="en-US" sz="2000" b="1"/>
              <a:t>或</a:t>
            </a:r>
          </a:p>
          <a:p>
            <a:pPr algn="just"/>
            <a:r>
              <a:rPr lang="en-US" altLang="zh-CN" sz="2000" b="1"/>
              <a:t>(a==3)&amp;&amp;(x&gt;3)</a:t>
            </a:r>
            <a:endParaRPr lang="zh-CN" altLang="en-US" sz="2000" b="1"/>
          </a:p>
          <a:p>
            <a:pPr algn="just"/>
            <a:r>
              <a:rPr lang="zh-CN" altLang="en-US" sz="2000" b="1"/>
              <a:t>无法发现缺陷</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014"/>
                                        </p:tgtEl>
                                        <p:attrNameLst>
                                          <p:attrName>style.visibility</p:attrName>
                                        </p:attrNameLst>
                                      </p:cBhvr>
                                      <p:to>
                                        <p:strVal val="visible"/>
                                      </p:to>
                                    </p:set>
                                    <p:animEffect transition="in" filter="dissolve">
                                      <p:cBhvr>
                                        <p:cTn id="7" dur="500"/>
                                        <p:tgtEl>
                                          <p:spTgt spid="430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06981" y="1239838"/>
            <a:ext cx="5077187" cy="5338286"/>
          </a:xfrm>
          <a:ln>
            <a:noFill/>
          </a:ln>
        </p:spPr>
        <p:style>
          <a:lnRef idx="2">
            <a:schemeClr val="accent1"/>
          </a:lnRef>
          <a:fillRef idx="1">
            <a:schemeClr val="lt1"/>
          </a:fillRef>
          <a:effectRef idx="0">
            <a:schemeClr val="accent1"/>
          </a:effectRef>
          <a:fontRef idx="minor">
            <a:schemeClr val="dk1"/>
          </a:fontRef>
        </p:style>
        <p:txBody>
          <a:bodyPr>
            <a:normAutofit fontScale="75000" lnSpcReduction="20000"/>
          </a:bodyPr>
          <a:lstStyle/>
          <a:p>
            <a:pPr marL="342900" indent="-342900">
              <a:lnSpc>
                <a:spcPct val="80000"/>
              </a:lnSpc>
              <a:buAutoNum type="arabicPeriod"/>
            </a:pPr>
            <a:r>
              <a:rPr lang="zh-CN" altLang="en-US" b="1" dirty="0"/>
              <a:t>int SampleFunc2( bool bFlag）</a:t>
            </a:r>
            <a:r>
              <a:rPr lang="en-US" altLang="zh-CN" b="1" dirty="0"/>
              <a:t>{</a:t>
            </a:r>
          </a:p>
          <a:p>
            <a:pPr marL="342900" indent="-342900">
              <a:lnSpc>
                <a:spcPct val="80000"/>
              </a:lnSpc>
              <a:buAutoNum type="arabicPeriod"/>
            </a:pPr>
            <a:r>
              <a:rPr lang="en-US" altLang="zh-CN" b="1" dirty="0"/>
              <a:t>    </a:t>
            </a:r>
            <a:r>
              <a:rPr lang="zh-CN" altLang="en-US" b="1" dirty="0"/>
              <a:t>int* pArray =NULL;</a:t>
            </a:r>
          </a:p>
          <a:p>
            <a:pPr marL="342900" indent="-342900">
              <a:lnSpc>
                <a:spcPct val="80000"/>
              </a:lnSpc>
              <a:buAutoNum type="arabicPeriod"/>
            </a:pPr>
            <a:r>
              <a:rPr lang="en-US" altLang="zh-CN" b="1" dirty="0"/>
              <a:t>    </a:t>
            </a:r>
            <a:r>
              <a:rPr lang="zh-CN" altLang="en-US" b="1" dirty="0"/>
              <a:t>int sum = 0;</a:t>
            </a:r>
          </a:p>
          <a:p>
            <a:pPr marL="342900" indent="-342900">
              <a:lnSpc>
                <a:spcPct val="80000"/>
              </a:lnSpc>
              <a:buAutoNum type="arabicPeriod"/>
            </a:pPr>
            <a:r>
              <a:rPr lang="en-US" altLang="zh-CN" b="1" dirty="0"/>
              <a:t>    </a:t>
            </a:r>
            <a:r>
              <a:rPr lang="zh-CN" altLang="en-US" b="1" dirty="0"/>
              <a:t>if( bFlag )</a:t>
            </a:r>
          </a:p>
          <a:p>
            <a:pPr marL="342900" indent="-342900">
              <a:lnSpc>
                <a:spcPct val="80000"/>
              </a:lnSpc>
              <a:buAutoNum type="arabicPeriod"/>
            </a:pPr>
            <a:r>
              <a:rPr lang="en-US" altLang="zh-CN" b="1" dirty="0"/>
              <a:t>        </a:t>
            </a:r>
            <a:r>
              <a:rPr lang="zh-CN" altLang="en-US" b="1" dirty="0"/>
              <a:t>pArray = new  int[5]；</a:t>
            </a:r>
          </a:p>
          <a:p>
            <a:pPr marL="342900" indent="-342900">
              <a:lnSpc>
                <a:spcPct val="80000"/>
              </a:lnSpc>
              <a:buAutoNum type="arabicPeriod"/>
            </a:pPr>
            <a:r>
              <a:rPr lang="en-US" altLang="zh-CN" b="1" dirty="0"/>
              <a:t>    </a:t>
            </a:r>
            <a:r>
              <a:rPr lang="zh-CN" altLang="en-US" b="1" dirty="0"/>
              <a:t>for( int i=0;i&lt;5;i++ )</a:t>
            </a:r>
            <a:r>
              <a:rPr lang="en-US" altLang="zh-CN" b="1" dirty="0"/>
              <a:t>{</a:t>
            </a:r>
          </a:p>
          <a:p>
            <a:pPr marL="342900" indent="-342900">
              <a:lnSpc>
                <a:spcPct val="80000"/>
              </a:lnSpc>
              <a:buAutoNum type="arabicPeriod"/>
            </a:pPr>
            <a:r>
              <a:rPr lang="en-US" altLang="zh-CN" b="1" dirty="0"/>
              <a:t>        </a:t>
            </a:r>
            <a:r>
              <a:rPr lang="zh-CN" altLang="en-US" b="1" dirty="0"/>
              <a:t>pArray[i] =i;</a:t>
            </a:r>
          </a:p>
          <a:p>
            <a:pPr marL="342900" indent="-342900">
              <a:lnSpc>
                <a:spcPct val="80000"/>
              </a:lnSpc>
              <a:buAutoNum type="arabicPeriod"/>
            </a:pPr>
            <a:r>
              <a:rPr lang="en-US" altLang="zh-CN" b="1" dirty="0"/>
              <a:t>        </a:t>
            </a:r>
            <a:r>
              <a:rPr lang="zh-CN" altLang="en-US" b="1" dirty="0"/>
              <a:t>sum = sum +pArray</a:t>
            </a:r>
            <a:r>
              <a:rPr lang="en-US" altLang="zh-CN" b="1" dirty="0"/>
              <a:t>[</a:t>
            </a:r>
            <a:r>
              <a:rPr lang="zh-CN" altLang="en-US" b="1" dirty="0"/>
              <a:t>i] * i;</a:t>
            </a:r>
          </a:p>
          <a:p>
            <a:pPr marL="342900" indent="-342900">
              <a:lnSpc>
                <a:spcPct val="80000"/>
              </a:lnSpc>
              <a:buAutoNum type="arabicPeriod"/>
            </a:pPr>
            <a:r>
              <a:rPr lang="en-US" altLang="zh-CN" b="1" dirty="0"/>
              <a:t>    }</a:t>
            </a:r>
            <a:endParaRPr lang="zh-CN" altLang="en-US" b="1" dirty="0"/>
          </a:p>
          <a:p>
            <a:pPr marL="342900" indent="-342900">
              <a:lnSpc>
                <a:spcPct val="80000"/>
              </a:lnSpc>
              <a:buAutoNum type="arabicPeriod"/>
            </a:pPr>
            <a:r>
              <a:rPr lang="en-US" altLang="zh-CN" b="1" dirty="0"/>
              <a:t>    </a:t>
            </a:r>
            <a:r>
              <a:rPr lang="zh-CN" altLang="en-US" b="1" dirty="0"/>
              <a:t>if( pArray )</a:t>
            </a:r>
            <a:r>
              <a:rPr lang="en-US" altLang="zh-CN" b="1" dirty="0"/>
              <a:t>{</a:t>
            </a:r>
            <a:endParaRPr lang="zh-CN" altLang="en-US" b="1" dirty="0"/>
          </a:p>
          <a:p>
            <a:pPr marL="342900" indent="-342900">
              <a:lnSpc>
                <a:spcPct val="80000"/>
              </a:lnSpc>
              <a:buAutoNum type="arabicPeriod"/>
            </a:pPr>
            <a:r>
              <a:rPr lang="en-US" altLang="zh-CN" b="1" dirty="0"/>
              <a:t>        </a:t>
            </a:r>
            <a:r>
              <a:rPr lang="zh-CN" altLang="en-US" b="1" dirty="0"/>
              <a:t>delete pArray;</a:t>
            </a:r>
          </a:p>
          <a:p>
            <a:pPr marL="342900" indent="-342900">
              <a:lnSpc>
                <a:spcPct val="80000"/>
              </a:lnSpc>
              <a:buAutoNum type="arabicPeriod"/>
            </a:pPr>
            <a:r>
              <a:rPr lang="en-US" altLang="zh-CN" b="1" dirty="0"/>
              <a:t>        </a:t>
            </a:r>
            <a:r>
              <a:rPr lang="zh-CN" altLang="en-US" b="1" dirty="0"/>
              <a:t>pArray = NULL:</a:t>
            </a:r>
          </a:p>
          <a:p>
            <a:pPr marL="342900" indent="-342900">
              <a:lnSpc>
                <a:spcPct val="80000"/>
              </a:lnSpc>
              <a:buAutoNum type="arabicPeriod"/>
            </a:pPr>
            <a:r>
              <a:rPr lang="en-US" altLang="zh-CN" b="1" dirty="0"/>
              <a:t>    }</a:t>
            </a:r>
            <a:endParaRPr lang="zh-CN" altLang="en-US" b="1" dirty="0"/>
          </a:p>
          <a:p>
            <a:pPr marL="342900" indent="-342900">
              <a:lnSpc>
                <a:spcPct val="80000"/>
              </a:lnSpc>
              <a:buAutoNum type="arabicPeriod"/>
            </a:pPr>
            <a:r>
              <a:rPr lang="en-US" altLang="zh-CN" b="1" dirty="0"/>
              <a:t>    </a:t>
            </a:r>
            <a:r>
              <a:rPr lang="zh-CN" altLang="en-US" b="1" dirty="0"/>
              <a:t>return sum;</a:t>
            </a:r>
          </a:p>
          <a:p>
            <a:pPr marL="342900" indent="-342900">
              <a:lnSpc>
                <a:spcPct val="80000"/>
              </a:lnSpc>
              <a:buAutoNum type="arabicPeriod"/>
            </a:pPr>
            <a:r>
              <a:rPr lang="en-US" altLang="zh-CN" b="1" dirty="0"/>
              <a:t>}</a:t>
            </a:r>
          </a:p>
        </p:txBody>
      </p:sp>
      <p:sp>
        <p:nvSpPr>
          <p:cNvPr id="4" name="日期占位符 3"/>
          <p:cNvSpPr>
            <a:spLocks noGrp="1"/>
          </p:cNvSpPr>
          <p:nvPr>
            <p:ph type="dt" sz="half" idx="10"/>
          </p:nvPr>
        </p:nvSpPr>
        <p:spPr/>
        <p:txBody>
          <a:bodyPr/>
          <a:lstStyle/>
          <a:p>
            <a:fld id="{760FBDFE-C587-4B4C-A407-44438C67B59E}" type="datetime1">
              <a:rPr lang="zh-CN" altLang="en-US" smtClean="0"/>
              <a:t>2024/4/9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12</a:t>
            </a:fld>
            <a:endParaRPr lang="zh-CN" altLang="en-US"/>
          </a:p>
        </p:txBody>
      </p:sp>
      <p:sp>
        <p:nvSpPr>
          <p:cNvPr id="17410" name="Rectangle 2"/>
          <p:cNvSpPr>
            <a:spLocks noGrp="1"/>
          </p:cNvSpPr>
          <p:nvPr>
            <p:ph type="title"/>
            <p:custDataLst>
              <p:tags r:id="rId1"/>
            </p:custDataLst>
          </p:nvPr>
        </p:nvSpPr>
        <p:spPr>
          <a:xfrm>
            <a:off x="502285" y="27114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
        <p:nvSpPr>
          <p:cNvPr id="7" name="文本框 6"/>
          <p:cNvSpPr txBox="1"/>
          <p:nvPr>
            <p:custDataLst>
              <p:tags r:id="rId2"/>
            </p:custDataLst>
          </p:nvPr>
        </p:nvSpPr>
        <p:spPr>
          <a:xfrm>
            <a:off x="6383084" y="2708920"/>
            <a:ext cx="1645300" cy="460375"/>
          </a:xfrm>
          <a:prstGeom prst="rect">
            <a:avLst/>
          </a:prstGeom>
          <a:solidFill>
            <a:srgbClr val="000000">
              <a:alpha val="0"/>
            </a:srgbClr>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zh-CN" altLang="en-US" sz="2400" b="1" dirty="0"/>
              <a:t>存在缺陷？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p:cNvSpPr>
          <p:nvPr>
            <p:ph idx="1"/>
          </p:nvPr>
        </p:nvSpPr>
        <p:spPr>
          <a:xfrm>
            <a:off x="502285" y="1431290"/>
            <a:ext cx="8139430" cy="4236720"/>
          </a:xfrm>
        </p:spPr>
        <p:txBody>
          <a:bodyPr vert="horz" wrap="square" lIns="91440" tIns="45720" rIns="91440" bIns="45720" anchor="t" anchorCtr="0"/>
          <a:lstStyle/>
          <a:p>
            <a:pPr algn="just" eaLnBrk="1" hangingPunct="1">
              <a:lnSpc>
                <a:spcPct val="150000"/>
              </a:lnSpc>
            </a:pPr>
            <a:r>
              <a:rPr lang="zh-CN" altLang="en-US" sz="3400" b="1" dirty="0"/>
              <a:t>判定覆盖</a:t>
            </a:r>
            <a:endParaRPr lang="en-US" altLang="zh-CN" sz="3400" b="1" dirty="0"/>
          </a:p>
          <a:p>
            <a:pPr lvl="1" algn="just" eaLnBrk="1" hangingPunct="1">
              <a:lnSpc>
                <a:spcPct val="160000"/>
              </a:lnSpc>
            </a:pPr>
            <a:r>
              <a:rPr lang="zh-CN" altLang="en-US" sz="2400" b="1" dirty="0"/>
              <a:t>基本思想：</a:t>
            </a:r>
            <a:r>
              <a:rPr lang="zh-CN" altLang="en-US" sz="2400" dirty="0"/>
              <a:t>设计测试用例时应保证程序中</a:t>
            </a:r>
            <a:r>
              <a:rPr lang="zh-CN" altLang="en-US" sz="2400" b="1" dirty="0">
                <a:solidFill>
                  <a:srgbClr val="FF0000"/>
                </a:solidFill>
              </a:rPr>
              <a:t>每个判定节点</a:t>
            </a:r>
            <a:r>
              <a:rPr lang="zh-CN" altLang="en-US" sz="2400" dirty="0"/>
              <a:t>的取真和取假分支至少执行一次。</a:t>
            </a:r>
            <a:r>
              <a:rPr lang="zh-CN" altLang="en-US" sz="2400" b="1" dirty="0">
                <a:solidFill>
                  <a:srgbClr val="FF0000"/>
                </a:solidFill>
              </a:rPr>
              <a:t>（每个分支都要执行一次）</a:t>
            </a:r>
          </a:p>
          <a:p>
            <a:pPr lvl="1" algn="just" eaLnBrk="1" hangingPunct="1">
              <a:lnSpc>
                <a:spcPct val="160000"/>
              </a:lnSpc>
            </a:pPr>
            <a:r>
              <a:rPr lang="zh-CN" altLang="en-US" sz="2400" dirty="0"/>
              <a:t>判定覆盖等同于对图中所有边的覆盖。</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13</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idx="1"/>
          </p:nvPr>
        </p:nvSpPr>
        <p:spPr>
          <a:xfrm>
            <a:off x="567055" y="1426845"/>
            <a:ext cx="5309235" cy="910590"/>
          </a:xfrm>
        </p:spPr>
        <p:txBody>
          <a:bodyPr vert="horz" wrap="square" lIns="91440" tIns="45720" rIns="91440" bIns="45720" anchor="t" anchorCtr="0">
            <a:noAutofit/>
          </a:bodyPr>
          <a:lstStyle/>
          <a:p>
            <a:pPr algn="just" eaLnBrk="1" hangingPunct="1">
              <a:lnSpc>
                <a:spcPct val="150000"/>
              </a:lnSpc>
              <a:buClrTx/>
              <a:buSzTx/>
            </a:pPr>
            <a:r>
              <a:rPr lang="zh-CN" altLang="en-US" sz="3400" b="1" dirty="0"/>
              <a:t>判定覆盖</a:t>
            </a:r>
          </a:p>
        </p:txBody>
      </p:sp>
      <p:pic>
        <p:nvPicPr>
          <p:cNvPr id="24581" name="Picture 2"/>
          <p:cNvPicPr>
            <a:picLocks noChangeAspect="1"/>
          </p:cNvPicPr>
          <p:nvPr/>
        </p:nvPicPr>
        <p:blipFill>
          <a:blip r:embed="rId6"/>
          <a:stretch>
            <a:fillRect/>
          </a:stretch>
        </p:blipFill>
        <p:spPr>
          <a:xfrm>
            <a:off x="107950" y="2680335"/>
            <a:ext cx="8803640" cy="1497330"/>
          </a:xfrm>
          <a:prstGeom prst="rect">
            <a:avLst/>
          </a:prstGeom>
          <a:noFill/>
          <a:ln w="9525">
            <a:noFill/>
          </a:ln>
        </p:spPr>
      </p:pic>
      <p:pic>
        <p:nvPicPr>
          <p:cNvPr id="43014" name="Picture 6" descr="5t12"/>
          <p:cNvPicPr>
            <a:picLocks noChangeAspect="1"/>
          </p:cNvPicPr>
          <p:nvPr/>
        </p:nvPicPr>
        <p:blipFill>
          <a:blip r:embed="rId7"/>
          <a:stretch>
            <a:fillRect/>
          </a:stretch>
        </p:blipFill>
        <p:spPr>
          <a:xfrm>
            <a:off x="6155690" y="0"/>
            <a:ext cx="3007360" cy="4426585"/>
          </a:xfrm>
          <a:prstGeom prst="rect">
            <a:avLst/>
          </a:prstGeom>
          <a:noFill/>
          <a:ln w="9525">
            <a:noFill/>
          </a:ln>
        </p:spPr>
      </p:pic>
      <p:graphicFrame>
        <p:nvGraphicFramePr>
          <p:cNvPr id="4" name="表格 3"/>
          <p:cNvGraphicFramePr/>
          <p:nvPr>
            <p:custDataLst>
              <p:tags r:id="rId1"/>
            </p:custDataLst>
          </p:nvPr>
        </p:nvGraphicFramePr>
        <p:xfrm>
          <a:off x="575628" y="4549140"/>
          <a:ext cx="8001000" cy="1965325"/>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393065">
                <a:tc>
                  <a:txBody>
                    <a:bodyPr/>
                    <a:lstStyle/>
                    <a:p>
                      <a:pPr algn="ctr">
                        <a:buNone/>
                      </a:pPr>
                      <a:endParaRPr lang="en-US" altLang="zh-CN" sz="1800"/>
                    </a:p>
                  </a:txBody>
                  <a:tcPr anchor="ctr">
                    <a:solidFill>
                      <a:schemeClr val="accent2"/>
                    </a:solidFill>
                  </a:tcPr>
                </a:tc>
                <a:tc>
                  <a:txBody>
                    <a:bodyPr/>
                    <a:lstStyle/>
                    <a:p>
                      <a:pPr algn="ctr">
                        <a:buNone/>
                      </a:pPr>
                      <a:r>
                        <a:rPr lang="en-US" altLang="zh-CN" sz="1800"/>
                        <a:t>a&gt;1</a:t>
                      </a:r>
                    </a:p>
                  </a:txBody>
                  <a:tcPr anchor="ctr">
                    <a:solidFill>
                      <a:schemeClr val="accent2"/>
                    </a:solidFill>
                  </a:tcPr>
                </a:tc>
                <a:tc>
                  <a:txBody>
                    <a:bodyPr/>
                    <a:lstStyle/>
                    <a:p>
                      <a:pPr algn="ctr">
                        <a:buNone/>
                      </a:pPr>
                      <a:r>
                        <a:rPr lang="en-US" altLang="zh-CN" sz="1800"/>
                        <a:t>b&lt;2</a:t>
                      </a:r>
                    </a:p>
                  </a:txBody>
                  <a:tcPr anchor="ctr">
                    <a:solidFill>
                      <a:schemeClr val="accent2"/>
                    </a:solidFill>
                  </a:tcPr>
                </a:tc>
                <a:tc>
                  <a:txBody>
                    <a:bodyPr/>
                    <a:lstStyle/>
                    <a:p>
                      <a:pPr algn="ctr">
                        <a:buNone/>
                      </a:pPr>
                      <a:r>
                        <a:rPr lang="en-US" altLang="zh-CN" sz="1800"/>
                        <a:t>&amp;&amp;</a:t>
                      </a:r>
                    </a:p>
                  </a:txBody>
                  <a:tcPr anchor="ctr">
                    <a:solidFill>
                      <a:schemeClr val="accent2"/>
                    </a:solidFill>
                  </a:tcPr>
                </a:tc>
                <a:tc>
                  <a:txBody>
                    <a:bodyPr/>
                    <a:lstStyle/>
                    <a:p>
                      <a:pPr algn="ctr">
                        <a:buNone/>
                      </a:pPr>
                      <a:r>
                        <a:rPr lang="en-US" altLang="zh-CN" sz="1800"/>
                        <a:t>a=3</a:t>
                      </a:r>
                    </a:p>
                  </a:txBody>
                  <a:tcPr anchor="ctr">
                    <a:solidFill>
                      <a:schemeClr val="accent4"/>
                    </a:solidFill>
                  </a:tcPr>
                </a:tc>
                <a:tc>
                  <a:txBody>
                    <a:bodyPr/>
                    <a:lstStyle/>
                    <a:p>
                      <a:pPr algn="ctr">
                        <a:buNone/>
                      </a:pPr>
                      <a:r>
                        <a:rPr lang="en-US" altLang="zh-CN" sz="1800"/>
                        <a:t>x&gt;3</a:t>
                      </a:r>
                    </a:p>
                  </a:txBody>
                  <a:tcPr anchor="ctr">
                    <a:solidFill>
                      <a:schemeClr val="accent4"/>
                    </a:solidFill>
                  </a:tcPr>
                </a:tc>
                <a:tc>
                  <a:txBody>
                    <a:bodyPr/>
                    <a:lstStyle/>
                    <a:p>
                      <a:pPr algn="ctr">
                        <a:buNone/>
                      </a:pPr>
                      <a:r>
                        <a:rPr lang="en-US" altLang="zh-CN" sz="1800"/>
                        <a:t>||</a:t>
                      </a:r>
                    </a:p>
                  </a:txBody>
                  <a:tcPr anchor="ctr">
                    <a:solidFill>
                      <a:schemeClr val="accent4"/>
                    </a:solidFill>
                  </a:tcPr>
                </a:tc>
                <a:extLst>
                  <a:ext uri="{0D108BD9-81ED-4DB2-BD59-A6C34878D82A}">
                    <a16:rowId xmlns:a16="http://schemas.microsoft.com/office/drawing/2014/main" val="10000"/>
                  </a:ext>
                </a:extLst>
              </a:tr>
              <a:tr h="393065">
                <a:tc>
                  <a:txBody>
                    <a:bodyPr/>
                    <a:lstStyle/>
                    <a:p>
                      <a:pPr algn="ctr">
                        <a:buNone/>
                      </a:pPr>
                      <a:r>
                        <a:rPr lang="en-US" altLang="zh-CN" sz="1800"/>
                        <a:t>LC-001</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extLst>
                  <a:ext uri="{0D108BD9-81ED-4DB2-BD59-A6C34878D82A}">
                    <a16:rowId xmlns:a16="http://schemas.microsoft.com/office/drawing/2014/main" val="10001"/>
                  </a:ext>
                </a:extLst>
              </a:tr>
              <a:tr h="393065">
                <a:tc>
                  <a:txBody>
                    <a:bodyPr/>
                    <a:lstStyle/>
                    <a:p>
                      <a:pPr algn="ctr">
                        <a:buNone/>
                      </a:pPr>
                      <a:r>
                        <a:rPr lang="en-US" altLang="zh-CN" sz="1800"/>
                        <a:t>LC-002</a:t>
                      </a:r>
                    </a:p>
                  </a:txBody>
                  <a:tcPr anchor="ctr"/>
                </a:tc>
                <a:tc>
                  <a:txBody>
                    <a:bodyPr/>
                    <a:lstStyle/>
                    <a:p>
                      <a:pPr algn="ctr">
                        <a:buNone/>
                      </a:pPr>
                      <a:r>
                        <a:rPr lang="en-US" altLang="zh-CN" sz="1800"/>
                        <a:t>T</a:t>
                      </a:r>
                    </a:p>
                  </a:txBody>
                  <a:tcPr anchor="ctr"/>
                </a:tc>
                <a:tc>
                  <a:txBody>
                    <a:bodyPr/>
                    <a:lstStyle/>
                    <a:p>
                      <a:pPr algn="ctr">
                        <a:buNone/>
                      </a:pPr>
                      <a:r>
                        <a:rPr lang="en-US" altLang="zh-CN" sz="1800"/>
                        <a:t>F</a:t>
                      </a:r>
                    </a:p>
                  </a:txBody>
                  <a:tcPr anchor="ctr"/>
                </a:tc>
                <a:tc>
                  <a:txBody>
                    <a:bodyPr/>
                    <a:lstStyle/>
                    <a:p>
                      <a:pPr algn="ctr">
                        <a:buNone/>
                      </a:pPr>
                      <a:r>
                        <a:rPr lang="en-US" altLang="zh-CN" sz="1800"/>
                        <a:t>F</a:t>
                      </a:r>
                    </a:p>
                  </a:txBody>
                  <a:tcPr anchor="ct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extLst>
                  <a:ext uri="{0D108BD9-81ED-4DB2-BD59-A6C34878D82A}">
                    <a16:rowId xmlns:a16="http://schemas.microsoft.com/office/drawing/2014/main" val="10002"/>
                  </a:ext>
                </a:extLst>
              </a:tr>
              <a:tr h="393065">
                <a:tc>
                  <a:txBody>
                    <a:bodyPr/>
                    <a:lstStyle/>
                    <a:p>
                      <a:pPr algn="ctr">
                        <a:buNone/>
                      </a:pPr>
                      <a:r>
                        <a:rPr lang="en-US" altLang="zh-CN" sz="1800"/>
                        <a:t>LC-003</a:t>
                      </a:r>
                    </a:p>
                  </a:txBody>
                  <a:tcPr anchor="ctr">
                    <a:solidFill>
                      <a:srgbClr val="F8DD4E"/>
                    </a:solidFill>
                  </a:tcPr>
                </a:tc>
                <a:tc>
                  <a:txBody>
                    <a:bodyPr/>
                    <a:lstStyle/>
                    <a:p>
                      <a:pPr algn="ctr">
                        <a:buNone/>
                      </a:pPr>
                      <a:r>
                        <a:rPr lang="en-US" altLang="zh-CN" sz="1800"/>
                        <a:t>F</a:t>
                      </a:r>
                    </a:p>
                  </a:txBody>
                  <a:tcPr anchor="ctr">
                    <a:solidFill>
                      <a:srgbClr val="F8DD4E"/>
                    </a:solidFill>
                  </a:tcPr>
                </a:tc>
                <a:tc>
                  <a:txBody>
                    <a:bodyPr/>
                    <a:lstStyle/>
                    <a:p>
                      <a:pPr algn="ctr">
                        <a:buNone/>
                      </a:pPr>
                      <a:r>
                        <a:rPr lang="en-US" altLang="zh-CN" sz="1800"/>
                        <a:t>F</a:t>
                      </a:r>
                    </a:p>
                  </a:txBody>
                  <a:tcPr anchor="ctr">
                    <a:solidFill>
                      <a:srgbClr val="F8DD4E"/>
                    </a:solidFill>
                  </a:tcPr>
                </a:tc>
                <a:tc>
                  <a:txBody>
                    <a:bodyPr/>
                    <a:lstStyle/>
                    <a:p>
                      <a:pPr algn="ctr">
                        <a:buNone/>
                      </a:pPr>
                      <a:r>
                        <a:rPr lang="en-US" altLang="zh-CN" sz="1800"/>
                        <a:t>F</a:t>
                      </a:r>
                    </a:p>
                  </a:txBody>
                  <a:tcPr anchor="ctr">
                    <a:solidFill>
                      <a:srgbClr val="F8DD4E"/>
                    </a:solidFill>
                  </a:tcPr>
                </a:tc>
                <a:tc>
                  <a:txBody>
                    <a:bodyPr/>
                    <a:lstStyle/>
                    <a:p>
                      <a:pPr algn="ctr">
                        <a:buNone/>
                      </a:pPr>
                      <a:r>
                        <a:rPr lang="en-US" altLang="zh-CN" sz="1800"/>
                        <a:t>F</a:t>
                      </a:r>
                    </a:p>
                  </a:txBody>
                  <a:tcPr anchor="ctr">
                    <a:solidFill>
                      <a:srgbClr val="F8DD4E"/>
                    </a:solidFill>
                  </a:tcPr>
                </a:tc>
                <a:tc>
                  <a:txBody>
                    <a:bodyPr/>
                    <a:lstStyle/>
                    <a:p>
                      <a:pPr algn="ctr">
                        <a:buNone/>
                      </a:pPr>
                      <a:r>
                        <a:rPr lang="en-US" altLang="zh-CN" sz="1800"/>
                        <a:t>T</a:t>
                      </a:r>
                    </a:p>
                  </a:txBody>
                  <a:tcPr anchor="ctr">
                    <a:solidFill>
                      <a:srgbClr val="F8DD4E"/>
                    </a:solidFill>
                  </a:tcPr>
                </a:tc>
                <a:tc>
                  <a:txBody>
                    <a:bodyPr/>
                    <a:lstStyle/>
                    <a:p>
                      <a:pPr algn="ctr">
                        <a:buNone/>
                      </a:pPr>
                      <a:r>
                        <a:rPr lang="en-US" altLang="zh-CN" sz="1800"/>
                        <a:t>T</a:t>
                      </a:r>
                    </a:p>
                  </a:txBody>
                  <a:tcPr anchor="ctr">
                    <a:solidFill>
                      <a:srgbClr val="F8DD4E"/>
                    </a:solidFill>
                  </a:tcPr>
                </a:tc>
                <a:extLst>
                  <a:ext uri="{0D108BD9-81ED-4DB2-BD59-A6C34878D82A}">
                    <a16:rowId xmlns:a16="http://schemas.microsoft.com/office/drawing/2014/main" val="10003"/>
                  </a:ext>
                </a:extLst>
              </a:tr>
              <a:tr h="393065">
                <a:tc>
                  <a:txBody>
                    <a:bodyPr/>
                    <a:lstStyle/>
                    <a:p>
                      <a:pPr algn="ctr">
                        <a:buNone/>
                      </a:pPr>
                      <a:r>
                        <a:rPr lang="en-US" altLang="zh-CN" sz="1800"/>
                        <a:t>LC-004</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extLst>
                  <a:ext uri="{0D108BD9-81ED-4DB2-BD59-A6C34878D82A}">
                    <a16:rowId xmlns:a16="http://schemas.microsoft.com/office/drawing/2014/main" val="10004"/>
                  </a:ext>
                </a:extLst>
              </a:tr>
            </a:tbl>
          </a:graphicData>
        </a:graphic>
      </p:graphicFrame>
      <p:sp>
        <p:nvSpPr>
          <p:cNvPr id="7" name="圆角矩形 6"/>
          <p:cNvSpPr/>
          <p:nvPr/>
        </p:nvSpPr>
        <p:spPr>
          <a:xfrm>
            <a:off x="3707765" y="3644900"/>
            <a:ext cx="288290" cy="288290"/>
          </a:xfrm>
          <a:prstGeom prst="roundRect">
            <a:avLst/>
          </a:prstGeom>
          <a:noFill/>
          <a:ln>
            <a:solidFill>
              <a:schemeClr val="accent2"/>
            </a:solid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14</a:t>
            </a:fld>
            <a:endParaRPr lang="en-US" altLang="zh-CN" dirty="0">
              <a:latin typeface="Verdana" panose="020B0604030504040204" pitchFamily="34" charset="0"/>
            </a:endParaRPr>
          </a:p>
        </p:txBody>
      </p:sp>
      <p:sp>
        <p:nvSpPr>
          <p:cNvPr id="2" name="日期占位符 1"/>
          <p:cNvSpPr>
            <a:spLocks noGrp="1"/>
          </p:cNvSpPr>
          <p:nvPr>
            <p:ph type="dt" sz="half" idx="10"/>
            <p:custDataLst>
              <p:tags r:id="rId2"/>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3"/>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
        <p:nvSpPr>
          <p:cNvPr id="5" name="椭圆 4"/>
          <p:cNvSpPr/>
          <p:nvPr>
            <p:custDataLst>
              <p:tags r:id="rId4"/>
            </p:custDataLst>
          </p:nvPr>
        </p:nvSpPr>
        <p:spPr>
          <a:xfrm>
            <a:off x="539750" y="4869180"/>
            <a:ext cx="1278890" cy="865505"/>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014"/>
                                        </p:tgtEl>
                                        <p:attrNameLst>
                                          <p:attrName>style.visibility</p:attrName>
                                        </p:attrNameLst>
                                      </p:cBhvr>
                                      <p:to>
                                        <p:strVal val="visible"/>
                                      </p:to>
                                    </p:set>
                                    <p:animEffect transition="in" filter="dissolve">
                                      <p:cBhvr>
                                        <p:cTn id="7" dur="500"/>
                                        <p:tgtEl>
                                          <p:spTgt spid="430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83895" y="1393190"/>
            <a:ext cx="5181600" cy="2618740"/>
          </a:xfrm>
          <a:prstGeom prst="rect">
            <a:avLst/>
          </a:prstGeom>
          <a:noFill/>
        </p:spPr>
        <p:txBody>
          <a:bodyPr wrap="square" rtlCol="0" anchor="t">
            <a:noAutofit/>
          </a:bodyPr>
          <a:lstStyle/>
          <a:p>
            <a:pPr marL="171450" indent="-171450" algn="just" eaLnBrk="1" fontAlgn="auto" hangingPunct="1">
              <a:lnSpc>
                <a:spcPct val="110000"/>
              </a:lnSpc>
              <a:spcBef>
                <a:spcPts val="0"/>
              </a:spcBef>
              <a:spcAft>
                <a:spcPts val="1000"/>
              </a:spcAft>
              <a:buClrTx/>
              <a:buSzTx/>
              <a:buFont typeface="Arial" panose="020B0604020202020204" pitchFamily="34" charset="0"/>
              <a:buChar char="•"/>
            </a:pPr>
            <a:r>
              <a:rPr lang="zh-CN" altLang="en-US" sz="3400" b="1" spc="150" dirty="0">
                <a:uFillTx/>
                <a:latin typeface="Arial" panose="020B0604020202020204" pitchFamily="34" charset="0"/>
                <a:ea typeface="微软雅黑" panose="020B0503020204020204" charset="-122"/>
                <a:sym typeface="+mn-ea"/>
              </a:rPr>
              <a:t>判定覆盖</a:t>
            </a:r>
            <a:endParaRPr lang="zh-CN" altLang="en-US" sz="3400" b="1" spc="150" dirty="0">
              <a:uFillTx/>
              <a:latin typeface="Arial" panose="020B0604020202020204" pitchFamily="34" charset="0"/>
              <a:ea typeface="微软雅黑" panose="020B0503020204020204" charset="-122"/>
            </a:endParaRPr>
          </a:p>
          <a:p>
            <a:pPr marL="171450" indent="-171450" algn="just" eaLnBrk="1" fontAlgn="auto" hangingPunct="1">
              <a:lnSpc>
                <a:spcPct val="110000"/>
              </a:lnSpc>
              <a:spcBef>
                <a:spcPts val="0"/>
              </a:spcBef>
              <a:spcAft>
                <a:spcPts val="1000"/>
              </a:spcAft>
              <a:buClrTx/>
              <a:buSzTx/>
              <a:buFont typeface="Arial" panose="020B0604020202020204" pitchFamily="34" charset="0"/>
              <a:buChar char="•"/>
            </a:pPr>
            <a:r>
              <a:rPr lang="zh-CN" altLang="en-US" sz="3400" b="1" spc="150" dirty="0">
                <a:uFillTx/>
                <a:latin typeface="Arial" panose="020B0604020202020204" pitchFamily="34" charset="0"/>
                <a:ea typeface="微软雅黑" panose="020B0503020204020204" charset="-122"/>
                <a:sym typeface="+mn-ea"/>
              </a:rPr>
              <a:t>局限性：</a:t>
            </a:r>
            <a:endParaRPr lang="zh-CN" altLang="en-US" sz="3400" b="1" spc="150" dirty="0">
              <a:uFillTx/>
              <a:latin typeface="Arial" panose="020B0604020202020204" pitchFamily="34" charset="0"/>
              <a:ea typeface="微软雅黑" panose="020B0503020204020204" charset="-122"/>
            </a:endParaRPr>
          </a:p>
          <a:p>
            <a:pPr marL="514350" lvl="1" indent="-171450" algn="just" defTabSz="914400" eaLnBrk="1" fontAlgn="auto" hangingPunct="1">
              <a:lnSpc>
                <a:spcPct val="120000"/>
              </a:lnSpc>
              <a:spcBef>
                <a:spcPts val="0"/>
              </a:spcBef>
              <a:spcAft>
                <a:spcPts val="1000"/>
              </a:spcAft>
              <a:buClrTx/>
              <a:buSzTx/>
              <a:buFont typeface="Arial" panose="020B0604020202020204" pitchFamily="34" charset="0"/>
              <a:buChar char="•"/>
              <a:tabLst>
                <a:tab pos="1609725" algn="l"/>
              </a:tabLst>
            </a:pPr>
            <a:r>
              <a:rPr lang="zh-CN" altLang="en-US" sz="2400" spc="150" dirty="0">
                <a:uFillTx/>
                <a:latin typeface="Arial" panose="020B0604020202020204" pitchFamily="34" charset="0"/>
                <a:ea typeface="微软雅黑" panose="020B0503020204020204" charset="-122"/>
                <a:sym typeface="+mn-ea"/>
              </a:rPr>
              <a:t>未彻底分析每个简单判定条件的取值情况，仍然会导致遗漏部分缺陷。</a:t>
            </a:r>
          </a:p>
        </p:txBody>
      </p:sp>
      <p:pic>
        <p:nvPicPr>
          <p:cNvPr id="43014" name="Picture 6" descr="5t12"/>
          <p:cNvPicPr>
            <a:picLocks noChangeAspect="1"/>
          </p:cNvPicPr>
          <p:nvPr/>
        </p:nvPicPr>
        <p:blipFill>
          <a:blip r:embed="rId7"/>
          <a:stretch>
            <a:fillRect/>
          </a:stretch>
        </p:blipFill>
        <p:spPr>
          <a:xfrm>
            <a:off x="6155690" y="0"/>
            <a:ext cx="3007360" cy="4426585"/>
          </a:xfrm>
          <a:prstGeom prst="rect">
            <a:avLst/>
          </a:prstGeom>
          <a:noFill/>
          <a:ln w="9525">
            <a:noFill/>
          </a:ln>
        </p:spPr>
      </p:pic>
      <p:graphicFrame>
        <p:nvGraphicFramePr>
          <p:cNvPr id="4" name="内容占位符 3"/>
          <p:cNvGraphicFramePr>
            <a:graphicFrameLocks noGrp="1"/>
          </p:cNvGraphicFramePr>
          <p:nvPr>
            <p:ph idx="1"/>
            <p:custDataLst>
              <p:tags r:id="rId1"/>
            </p:custDataLst>
          </p:nvPr>
        </p:nvGraphicFramePr>
        <p:xfrm>
          <a:off x="538798" y="4292600"/>
          <a:ext cx="8001000" cy="2079625"/>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415925">
                <a:tc>
                  <a:txBody>
                    <a:bodyPr/>
                    <a:lstStyle/>
                    <a:p>
                      <a:pPr algn="ctr">
                        <a:buNone/>
                      </a:pPr>
                      <a:endParaRPr lang="en-US" altLang="zh-CN"/>
                    </a:p>
                  </a:txBody>
                  <a:tcPr anchor="ctr">
                    <a:solidFill>
                      <a:schemeClr val="accent2"/>
                    </a:solidFill>
                  </a:tcPr>
                </a:tc>
                <a:tc>
                  <a:txBody>
                    <a:bodyPr/>
                    <a:lstStyle/>
                    <a:p>
                      <a:pPr algn="ctr">
                        <a:buNone/>
                      </a:pPr>
                      <a:r>
                        <a:rPr lang="en-US" altLang="zh-CN" sz="1800"/>
                        <a:t>a&gt;1</a:t>
                      </a:r>
                    </a:p>
                  </a:txBody>
                  <a:tcPr anchor="ctr">
                    <a:solidFill>
                      <a:schemeClr val="accent2"/>
                    </a:solidFill>
                  </a:tcPr>
                </a:tc>
                <a:tc>
                  <a:txBody>
                    <a:bodyPr/>
                    <a:lstStyle/>
                    <a:p>
                      <a:pPr algn="ctr">
                        <a:buNone/>
                      </a:pPr>
                      <a:r>
                        <a:rPr lang="en-US" altLang="zh-CN" sz="1800"/>
                        <a:t>b&lt;2</a:t>
                      </a:r>
                    </a:p>
                  </a:txBody>
                  <a:tcPr anchor="ctr">
                    <a:solidFill>
                      <a:schemeClr val="accent2"/>
                    </a:solidFill>
                  </a:tcPr>
                </a:tc>
                <a:tc>
                  <a:txBody>
                    <a:bodyPr/>
                    <a:lstStyle/>
                    <a:p>
                      <a:pPr algn="ctr">
                        <a:buNone/>
                      </a:pPr>
                      <a:r>
                        <a:rPr lang="en-US" altLang="zh-CN" sz="1800"/>
                        <a:t>&amp;&amp;→||</a:t>
                      </a:r>
                    </a:p>
                  </a:txBody>
                  <a:tcPr anchor="ctr">
                    <a:solidFill>
                      <a:schemeClr val="accent2"/>
                    </a:solidFill>
                  </a:tcPr>
                </a:tc>
                <a:tc>
                  <a:txBody>
                    <a:bodyPr/>
                    <a:lstStyle/>
                    <a:p>
                      <a:pPr algn="ctr">
                        <a:buNone/>
                      </a:pPr>
                      <a:r>
                        <a:rPr lang="en-US" altLang="zh-CN" sz="1800"/>
                        <a:t>a=3</a:t>
                      </a:r>
                    </a:p>
                  </a:txBody>
                  <a:tcPr anchor="ctr">
                    <a:solidFill>
                      <a:schemeClr val="accent4"/>
                    </a:solidFill>
                  </a:tcPr>
                </a:tc>
                <a:tc>
                  <a:txBody>
                    <a:bodyPr/>
                    <a:lstStyle/>
                    <a:p>
                      <a:pPr algn="ctr">
                        <a:buNone/>
                      </a:pPr>
                      <a:r>
                        <a:rPr lang="en-US" altLang="zh-CN" sz="1800"/>
                        <a:t>x&gt;3</a:t>
                      </a:r>
                    </a:p>
                  </a:txBody>
                  <a:tcPr anchor="ctr">
                    <a:solidFill>
                      <a:schemeClr val="accent4"/>
                    </a:solidFill>
                  </a:tcPr>
                </a:tc>
                <a:tc>
                  <a:txBody>
                    <a:bodyPr/>
                    <a:lstStyle/>
                    <a:p>
                      <a:pPr algn="ctr">
                        <a:buNone/>
                      </a:pPr>
                      <a:r>
                        <a:rPr lang="en-US" altLang="zh-CN" sz="1800"/>
                        <a:t>||</a:t>
                      </a:r>
                    </a:p>
                  </a:txBody>
                  <a:tcPr anchor="ctr">
                    <a:solidFill>
                      <a:schemeClr val="accent4"/>
                    </a:solidFill>
                  </a:tcPr>
                </a:tc>
                <a:extLst>
                  <a:ext uri="{0D108BD9-81ED-4DB2-BD59-A6C34878D82A}">
                    <a16:rowId xmlns:a16="http://schemas.microsoft.com/office/drawing/2014/main" val="10000"/>
                  </a:ext>
                </a:extLst>
              </a:tr>
              <a:tr h="415925">
                <a:tc>
                  <a:txBody>
                    <a:bodyPr/>
                    <a:lstStyle/>
                    <a:p>
                      <a:pPr algn="ctr">
                        <a:buNone/>
                      </a:pPr>
                      <a:r>
                        <a:rPr lang="en-US" altLang="zh-CN" sz="1800"/>
                        <a:t>LC-001</a:t>
                      </a:r>
                    </a:p>
                  </a:txBody>
                  <a:tcPr anchor="ctr">
                    <a:solidFill>
                      <a:schemeClr val="accent2">
                        <a:lumMod val="40000"/>
                        <a:lumOff val="60000"/>
                      </a:schemeClr>
                    </a:solidFill>
                  </a:tcPr>
                </a:tc>
                <a:tc>
                  <a:txBody>
                    <a:bodyPr/>
                    <a:lstStyle/>
                    <a:p>
                      <a:pPr algn="ctr">
                        <a:buNone/>
                      </a:pPr>
                      <a:r>
                        <a:rPr lang="en-US" altLang="zh-CN" sz="1800"/>
                        <a:t>T</a:t>
                      </a:r>
                    </a:p>
                  </a:txBody>
                  <a:tcPr anchor="ctr">
                    <a:solidFill>
                      <a:schemeClr val="accent2">
                        <a:lumMod val="40000"/>
                        <a:lumOff val="60000"/>
                      </a:schemeClr>
                    </a:solidFill>
                  </a:tcPr>
                </a:tc>
                <a:tc>
                  <a:txBody>
                    <a:bodyPr/>
                    <a:lstStyle/>
                    <a:p>
                      <a:pPr algn="ctr">
                        <a:buNone/>
                      </a:pPr>
                      <a:r>
                        <a:rPr lang="en-US" altLang="zh-CN" sz="1800"/>
                        <a:t>T</a:t>
                      </a:r>
                    </a:p>
                  </a:txBody>
                  <a:tcPr anchor="ctr">
                    <a:solidFill>
                      <a:schemeClr val="accent2">
                        <a:lumMod val="40000"/>
                        <a:lumOff val="60000"/>
                      </a:schemeClr>
                    </a:solidFill>
                  </a:tcPr>
                </a:tc>
                <a:tc>
                  <a:txBody>
                    <a:bodyPr/>
                    <a:lstStyle/>
                    <a:p>
                      <a:pPr algn="ctr">
                        <a:buNone/>
                      </a:pPr>
                      <a:r>
                        <a:rPr lang="en-US" altLang="zh-CN" sz="1800"/>
                        <a:t>T</a:t>
                      </a:r>
                    </a:p>
                  </a:txBody>
                  <a:tcPr anchor="ctr">
                    <a:solidFill>
                      <a:schemeClr val="accent2">
                        <a:lumMod val="40000"/>
                        <a:lumOff val="60000"/>
                      </a:schemeClr>
                    </a:solidFill>
                  </a:tcP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extLst>
                  <a:ext uri="{0D108BD9-81ED-4DB2-BD59-A6C34878D82A}">
                    <a16:rowId xmlns:a16="http://schemas.microsoft.com/office/drawing/2014/main" val="10001"/>
                  </a:ext>
                </a:extLst>
              </a:tr>
              <a:tr h="415925">
                <a:tc>
                  <a:txBody>
                    <a:bodyPr/>
                    <a:lstStyle/>
                    <a:p>
                      <a:pPr algn="ctr">
                        <a:buNone/>
                      </a:pPr>
                      <a:r>
                        <a:rPr lang="en-US" altLang="zh-CN" sz="1800"/>
                        <a:t>LC-002</a:t>
                      </a:r>
                    </a:p>
                  </a:txBody>
                  <a:tcPr anchor="ctr"/>
                </a:tc>
                <a:tc>
                  <a:txBody>
                    <a:bodyPr/>
                    <a:lstStyle/>
                    <a:p>
                      <a:pPr algn="ctr">
                        <a:buNone/>
                      </a:pPr>
                      <a:r>
                        <a:rPr lang="en-US" altLang="zh-CN" sz="1800"/>
                        <a:t>T</a:t>
                      </a:r>
                    </a:p>
                  </a:txBody>
                  <a:tcPr anchor="ctr"/>
                </a:tc>
                <a:tc>
                  <a:txBody>
                    <a:bodyPr/>
                    <a:lstStyle/>
                    <a:p>
                      <a:pPr algn="ctr">
                        <a:buNone/>
                      </a:pPr>
                      <a:r>
                        <a:rPr lang="en-US" altLang="zh-CN" sz="1800"/>
                        <a:t>F</a:t>
                      </a:r>
                    </a:p>
                  </a:txBody>
                  <a:tcPr anchor="ctr"/>
                </a:tc>
                <a:tc>
                  <a:txBody>
                    <a:bodyPr/>
                    <a:lstStyle/>
                    <a:p>
                      <a:pPr algn="ctr">
                        <a:buNone/>
                      </a:pPr>
                      <a:r>
                        <a:rPr lang="en-US" altLang="zh-CN" sz="1800"/>
                        <a:t>T</a:t>
                      </a:r>
                    </a:p>
                  </a:txBody>
                  <a:tcPr anchor="ctr">
                    <a:solidFill>
                      <a:srgbClr val="F8DD4E"/>
                    </a:solidFill>
                  </a:tcP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extLst>
                  <a:ext uri="{0D108BD9-81ED-4DB2-BD59-A6C34878D82A}">
                    <a16:rowId xmlns:a16="http://schemas.microsoft.com/office/drawing/2014/main" val="10002"/>
                  </a:ext>
                </a:extLst>
              </a:tr>
              <a:tr h="415925">
                <a:tc>
                  <a:txBody>
                    <a:bodyPr/>
                    <a:lstStyle/>
                    <a:p>
                      <a:pPr algn="ctr">
                        <a:buNone/>
                      </a:pPr>
                      <a:r>
                        <a:rPr lang="en-US" altLang="zh-CN" sz="1800"/>
                        <a:t>LC-003</a:t>
                      </a:r>
                    </a:p>
                  </a:txBody>
                  <a:tcPr anchor="ctr">
                    <a:solidFill>
                      <a:schemeClr val="accent2">
                        <a:lumMod val="40000"/>
                        <a:lumOff val="60000"/>
                      </a:schemeClr>
                    </a:solidFill>
                  </a:tcPr>
                </a:tc>
                <a:tc>
                  <a:txBody>
                    <a:bodyPr/>
                    <a:lstStyle/>
                    <a:p>
                      <a:pPr algn="ctr">
                        <a:buNone/>
                      </a:pPr>
                      <a:r>
                        <a:rPr lang="en-US" altLang="zh-CN" sz="1800"/>
                        <a:t>F</a:t>
                      </a:r>
                    </a:p>
                  </a:txBody>
                  <a:tcPr anchor="ctr">
                    <a:solidFill>
                      <a:schemeClr val="accent2">
                        <a:lumMod val="40000"/>
                        <a:lumOff val="60000"/>
                      </a:schemeClr>
                    </a:solidFill>
                  </a:tcPr>
                </a:tc>
                <a:tc>
                  <a:txBody>
                    <a:bodyPr/>
                    <a:lstStyle/>
                    <a:p>
                      <a:pPr algn="ctr">
                        <a:buNone/>
                      </a:pPr>
                      <a:r>
                        <a:rPr lang="en-US" altLang="zh-CN" sz="1800"/>
                        <a:t>F</a:t>
                      </a:r>
                    </a:p>
                  </a:txBody>
                  <a:tcPr anchor="ctr">
                    <a:solidFill>
                      <a:schemeClr val="accent2">
                        <a:lumMod val="40000"/>
                        <a:lumOff val="60000"/>
                      </a:schemeClr>
                    </a:solidFill>
                  </a:tcPr>
                </a:tc>
                <a:tc>
                  <a:txBody>
                    <a:bodyPr/>
                    <a:lstStyle/>
                    <a:p>
                      <a:pPr algn="ctr">
                        <a:buNone/>
                      </a:pPr>
                      <a:r>
                        <a:rPr lang="en-US" altLang="zh-CN" sz="1800"/>
                        <a:t>F</a:t>
                      </a:r>
                    </a:p>
                  </a:txBody>
                  <a:tcPr anchor="ctr">
                    <a:solidFill>
                      <a:schemeClr val="accent2">
                        <a:lumMod val="40000"/>
                        <a:lumOff val="60000"/>
                      </a:schemeClr>
                    </a:solidFill>
                  </a:tcP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extLst>
                  <a:ext uri="{0D108BD9-81ED-4DB2-BD59-A6C34878D82A}">
                    <a16:rowId xmlns:a16="http://schemas.microsoft.com/office/drawing/2014/main" val="10003"/>
                  </a:ext>
                </a:extLst>
              </a:tr>
              <a:tr h="415925">
                <a:tc>
                  <a:txBody>
                    <a:bodyPr/>
                    <a:lstStyle/>
                    <a:p>
                      <a:pPr algn="ctr">
                        <a:buNone/>
                      </a:pPr>
                      <a:r>
                        <a:rPr lang="en-US" altLang="zh-CN" sz="1800"/>
                        <a:t>LC-004</a:t>
                      </a:r>
                    </a:p>
                  </a:txBody>
                  <a:tcPr anchor="ctr">
                    <a:solidFill>
                      <a:schemeClr val="bg1">
                        <a:lumMod val="95000"/>
                      </a:schemeClr>
                    </a:solidFill>
                  </a:tcPr>
                </a:tc>
                <a:tc>
                  <a:txBody>
                    <a:bodyPr/>
                    <a:lstStyle/>
                    <a:p>
                      <a:pPr algn="ctr">
                        <a:buNone/>
                      </a:pPr>
                      <a:r>
                        <a:rPr lang="en-US" altLang="zh-CN" sz="1800"/>
                        <a:t>T</a:t>
                      </a:r>
                    </a:p>
                  </a:txBody>
                  <a:tcPr anchor="ctr">
                    <a:solidFill>
                      <a:schemeClr val="bg1">
                        <a:lumMod val="95000"/>
                      </a:schemeClr>
                    </a:solidFill>
                  </a:tcPr>
                </a:tc>
                <a:tc>
                  <a:txBody>
                    <a:bodyPr/>
                    <a:lstStyle/>
                    <a:p>
                      <a:pPr algn="ctr">
                        <a:buNone/>
                      </a:pPr>
                      <a:r>
                        <a:rPr lang="en-US" altLang="zh-CN" sz="1800"/>
                        <a:t>T</a:t>
                      </a:r>
                    </a:p>
                  </a:txBody>
                  <a:tcPr anchor="ctr">
                    <a:solidFill>
                      <a:schemeClr val="bg1">
                        <a:lumMod val="95000"/>
                      </a:schemeClr>
                    </a:solidFill>
                  </a:tcPr>
                </a:tc>
                <a:tc>
                  <a:txBody>
                    <a:bodyPr/>
                    <a:lstStyle/>
                    <a:p>
                      <a:pPr algn="ctr">
                        <a:buNone/>
                      </a:pPr>
                      <a:r>
                        <a:rPr lang="en-US" altLang="zh-CN" sz="1800"/>
                        <a:t>T</a:t>
                      </a:r>
                    </a:p>
                  </a:txBody>
                  <a:tcPr anchor="ctr">
                    <a:solidFill>
                      <a:schemeClr val="bg1">
                        <a:lumMod val="95000"/>
                      </a:schemeClr>
                    </a:solidFill>
                  </a:tcP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extLst>
                  <a:ext uri="{0D108BD9-81ED-4DB2-BD59-A6C34878D82A}">
                    <a16:rowId xmlns:a16="http://schemas.microsoft.com/office/drawing/2014/main" val="10004"/>
                  </a:ext>
                </a:extLst>
              </a:tr>
            </a:tbl>
          </a:graphicData>
        </a:graphic>
      </p:graphicFrame>
      <p:sp>
        <p:nvSpPr>
          <p:cNvPr id="10" name="灯片编号占位符 9"/>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15</a:t>
            </a:fld>
            <a:endParaRPr lang="en-US" altLang="zh-CN" dirty="0">
              <a:latin typeface="Verdana" panose="020B0604030504040204" pitchFamily="34" charset="0"/>
            </a:endParaRPr>
          </a:p>
        </p:txBody>
      </p:sp>
      <p:sp>
        <p:nvSpPr>
          <p:cNvPr id="3" name="日期占位符 2"/>
          <p:cNvSpPr>
            <a:spLocks noGrp="1"/>
          </p:cNvSpPr>
          <p:nvPr>
            <p:ph type="dt" sz="half" idx="10"/>
            <p:custDataLst>
              <p:tags r:id="rId2"/>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3"/>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
        <p:nvSpPr>
          <p:cNvPr id="8" name="椭圆 7"/>
          <p:cNvSpPr/>
          <p:nvPr>
            <p:custDataLst>
              <p:tags r:id="rId4"/>
            </p:custDataLst>
          </p:nvPr>
        </p:nvSpPr>
        <p:spPr>
          <a:xfrm>
            <a:off x="395605" y="4641850"/>
            <a:ext cx="1433830" cy="958215"/>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custDataLst>
              <p:tags r:id="rId5"/>
            </p:custDataLst>
          </p:nvPr>
        </p:nvSpPr>
        <p:spPr>
          <a:xfrm>
            <a:off x="3472180" y="1556385"/>
            <a:ext cx="2457450" cy="89154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30000"/>
              </a:lnSpc>
            </a:pPr>
            <a:r>
              <a:rPr lang="zh-CN" altLang="en-US" sz="2000" b="1"/>
              <a:t>错写成</a:t>
            </a:r>
            <a:r>
              <a:rPr lang="en-US" altLang="zh-CN" sz="2000" b="1"/>
              <a:t>(a&gt;1)||(b&lt;2)</a:t>
            </a:r>
          </a:p>
          <a:p>
            <a:pPr algn="just">
              <a:lnSpc>
                <a:spcPct val="130000"/>
              </a:lnSpc>
            </a:pPr>
            <a:r>
              <a:rPr lang="zh-CN" altLang="en-US" sz="2000" b="1"/>
              <a:t>无法发现缺陷</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3014"/>
                                        </p:tgtEl>
                                        <p:attrNameLst>
                                          <p:attrName>style.visibility</p:attrName>
                                        </p:attrNameLst>
                                      </p:cBhvr>
                                      <p:to>
                                        <p:strVal val="visible"/>
                                      </p:to>
                                    </p:set>
                                    <p:animEffect transition="in" filter="dissolve">
                                      <p:cBhvr>
                                        <p:cTn id="12" dur="500"/>
                                        <p:tgtEl>
                                          <p:spTgt spid="430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11" grpId="0" bldLvl="0" animBg="1"/>
      <p:bldP spid="11"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p:cNvSpPr>
          <p:nvPr>
            <p:ph idx="1"/>
          </p:nvPr>
        </p:nvSpPr>
        <p:spPr>
          <a:xfrm>
            <a:off x="502285" y="1440815"/>
            <a:ext cx="8139430" cy="4227195"/>
          </a:xfrm>
        </p:spPr>
        <p:txBody>
          <a:bodyPr vert="horz" wrap="square" lIns="91440" tIns="45720" rIns="91440" bIns="45720" anchor="t" anchorCtr="0"/>
          <a:lstStyle/>
          <a:p>
            <a:pPr algn="just" eaLnBrk="1" hangingPunct="1">
              <a:lnSpc>
                <a:spcPct val="160000"/>
              </a:lnSpc>
            </a:pPr>
            <a:r>
              <a:rPr lang="zh-CN" altLang="en-US" sz="3400" b="1" dirty="0"/>
              <a:t>条件覆盖</a:t>
            </a:r>
            <a:endParaRPr lang="en-US" altLang="zh-CN" sz="3400" b="1" dirty="0"/>
          </a:p>
          <a:p>
            <a:pPr lvl="1" algn="just" eaLnBrk="1" hangingPunct="1">
              <a:lnSpc>
                <a:spcPct val="160000"/>
              </a:lnSpc>
            </a:pPr>
            <a:r>
              <a:rPr lang="zh-CN" altLang="en-US" sz="2425" b="1" dirty="0"/>
              <a:t>基本思想：</a:t>
            </a:r>
            <a:r>
              <a:rPr lang="zh-CN" altLang="en-US" sz="2425" dirty="0"/>
              <a:t>设计测试用例时应保证程序中每个复合判定表达式中，</a:t>
            </a:r>
            <a:r>
              <a:rPr lang="zh-CN" altLang="en-US" sz="2425" b="1" dirty="0">
                <a:solidFill>
                  <a:srgbClr val="FF0000"/>
                </a:solidFill>
              </a:rPr>
              <a:t>每个简单判定条件</a:t>
            </a:r>
            <a:r>
              <a:rPr lang="zh-CN" altLang="en-US" sz="2425" dirty="0"/>
              <a:t>的取真和取假情况至少执行一次。</a:t>
            </a:r>
          </a:p>
          <a:p>
            <a:pPr lvl="1" algn="just" eaLnBrk="1" hangingPunct="1">
              <a:lnSpc>
                <a:spcPct val="160000"/>
              </a:lnSpc>
            </a:pPr>
            <a:r>
              <a:rPr lang="zh-CN" altLang="en-US" sz="2425" b="1" dirty="0">
                <a:solidFill>
                  <a:srgbClr val="FF0000"/>
                </a:solidFill>
              </a:rPr>
              <a:t>每个判定条件取真</a:t>
            </a:r>
            <a:r>
              <a:rPr lang="en-US" altLang="zh-CN" sz="2425" b="1" dirty="0">
                <a:solidFill>
                  <a:srgbClr val="FF0000"/>
                </a:solidFill>
              </a:rPr>
              <a:t>/</a:t>
            </a:r>
            <a:r>
              <a:rPr sz="2425" b="1" dirty="0">
                <a:solidFill>
                  <a:srgbClr val="FF0000"/>
                </a:solidFill>
              </a:rPr>
              <a:t>假各一次，不考虑判定节点的真假情况。</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16</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p:cNvSpPr>
          <p:nvPr>
            <p:ph idx="1"/>
          </p:nvPr>
        </p:nvSpPr>
        <p:spPr>
          <a:xfrm>
            <a:off x="567055" y="1531620"/>
            <a:ext cx="5147945" cy="2910205"/>
          </a:xfrm>
        </p:spPr>
        <p:txBody>
          <a:bodyPr vert="horz" wrap="square" lIns="91440" tIns="45720" rIns="91440" bIns="45720" anchor="t" anchorCtr="0"/>
          <a:lstStyle/>
          <a:p>
            <a:pPr algn="just" eaLnBrk="1" hangingPunct="1">
              <a:lnSpc>
                <a:spcPct val="120000"/>
              </a:lnSpc>
              <a:buClrTx/>
              <a:buSzTx/>
            </a:pPr>
            <a:r>
              <a:rPr lang="zh-CN" altLang="en-US" sz="3400" b="1" dirty="0"/>
              <a:t>条件覆盖</a:t>
            </a:r>
          </a:p>
          <a:p>
            <a:pPr algn="just" eaLnBrk="1" hangingPunct="1"/>
            <a:r>
              <a:rPr lang="zh-CN" altLang="en-US" sz="3200" b="1" dirty="0">
                <a:sym typeface="+mn-ea"/>
              </a:rPr>
              <a:t>局限性：</a:t>
            </a:r>
            <a:endParaRPr lang="en-US" altLang="zh-CN" sz="3200" b="1" dirty="0"/>
          </a:p>
          <a:p>
            <a:pPr lvl="1" algn="just" eaLnBrk="1" hangingPunct="1"/>
            <a:r>
              <a:rPr lang="zh-CN" altLang="en-US" sz="2400" dirty="0">
                <a:sym typeface="+mn-ea"/>
              </a:rPr>
              <a:t>条件覆盖不能保证</a:t>
            </a:r>
            <a:r>
              <a:rPr lang="en-US" altLang="zh-CN" sz="2400" dirty="0">
                <a:sym typeface="+mn-ea"/>
              </a:rPr>
              <a:t>100%</a:t>
            </a:r>
            <a:r>
              <a:rPr lang="zh-CN" altLang="en-US" sz="2400" dirty="0">
                <a:sym typeface="+mn-ea"/>
              </a:rPr>
              <a:t>的判定覆盖。</a:t>
            </a:r>
          </a:p>
        </p:txBody>
      </p:sp>
      <p:pic>
        <p:nvPicPr>
          <p:cNvPr id="27653" name="Picture 2"/>
          <p:cNvPicPr>
            <a:picLocks noChangeAspect="1"/>
          </p:cNvPicPr>
          <p:nvPr/>
        </p:nvPicPr>
        <p:blipFill>
          <a:blip r:embed="rId6"/>
          <a:stretch>
            <a:fillRect/>
          </a:stretch>
        </p:blipFill>
        <p:spPr>
          <a:xfrm>
            <a:off x="106998" y="4694873"/>
            <a:ext cx="9001125" cy="1025525"/>
          </a:xfrm>
          <a:prstGeom prst="rect">
            <a:avLst/>
          </a:prstGeom>
          <a:noFill/>
          <a:ln w="9525">
            <a:noFill/>
          </a:ln>
        </p:spPr>
      </p:pic>
      <p:pic>
        <p:nvPicPr>
          <p:cNvPr id="43014" name="Picture 6" descr="5t12"/>
          <p:cNvPicPr>
            <a:picLocks noChangeAspect="1"/>
          </p:cNvPicPr>
          <p:nvPr/>
        </p:nvPicPr>
        <p:blipFill>
          <a:blip r:embed="rId7"/>
          <a:stretch>
            <a:fillRect/>
          </a:stretch>
        </p:blipFill>
        <p:spPr>
          <a:xfrm>
            <a:off x="6012180" y="116205"/>
            <a:ext cx="3007360" cy="4426585"/>
          </a:xfrm>
          <a:prstGeom prst="rect">
            <a:avLst/>
          </a:prstGeom>
          <a:noFill/>
          <a:ln w="9525">
            <a:noFill/>
          </a:ln>
        </p:spPr>
      </p:pic>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17</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
        <p:nvSpPr>
          <p:cNvPr id="6" name="椭圆 5"/>
          <p:cNvSpPr/>
          <p:nvPr>
            <p:custDataLst>
              <p:tags r:id="rId3"/>
            </p:custDataLst>
          </p:nvPr>
        </p:nvSpPr>
        <p:spPr>
          <a:xfrm>
            <a:off x="4038600" y="4584700"/>
            <a:ext cx="2608580" cy="1325880"/>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custDataLst>
              <p:tags r:id="rId4"/>
            </p:custDataLst>
          </p:nvPr>
        </p:nvSpPr>
        <p:spPr>
          <a:xfrm>
            <a:off x="3563620" y="6053455"/>
            <a:ext cx="3530600" cy="49149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lnSpc>
                <a:spcPct val="130000"/>
              </a:lnSpc>
            </a:pPr>
            <a:r>
              <a:rPr lang="zh-CN" sz="2000" b="1"/>
              <a:t>遗漏了</a:t>
            </a:r>
            <a:r>
              <a:rPr lang="en-US" altLang="zh-CN" sz="2000" b="1"/>
              <a:t>p2</a:t>
            </a:r>
            <a:r>
              <a:rPr lang="zh-CN" altLang="en-US" sz="2000" b="1"/>
              <a:t>和</a:t>
            </a:r>
            <a:r>
              <a:rPr lang="en-US" altLang="zh-CN" sz="2000" b="1"/>
              <a:t>p3</a:t>
            </a:r>
            <a:r>
              <a:rPr lang="zh-CN" altLang="en-US" sz="2000" b="1"/>
              <a:t>路径的测试</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014"/>
                                        </p:tgtEl>
                                        <p:attrNameLst>
                                          <p:attrName>style.visibility</p:attrName>
                                        </p:attrNameLst>
                                      </p:cBhvr>
                                      <p:to>
                                        <p:strVal val="visible"/>
                                      </p:to>
                                    </p:set>
                                    <p:animEffect transition="in" filter="dissolve">
                                      <p:cBhvr>
                                        <p:cTn id="7" dur="500"/>
                                        <p:tgtEl>
                                          <p:spTgt spid="430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11" grpId="0" bldLvl="0" animBg="1"/>
      <p:bldP spid="11"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p:cNvSpPr>
          <p:nvPr>
            <p:ph idx="1"/>
          </p:nvPr>
        </p:nvSpPr>
        <p:spPr>
          <a:xfrm>
            <a:off x="567055" y="1636395"/>
            <a:ext cx="8001000" cy="2922270"/>
          </a:xfrm>
        </p:spPr>
        <p:txBody>
          <a:bodyPr vert="horz" wrap="square" lIns="91440" tIns="45720" rIns="91440" bIns="45720" anchor="t" anchorCtr="0">
            <a:normAutofit/>
          </a:bodyPr>
          <a:lstStyle/>
          <a:p>
            <a:pPr algn="just" eaLnBrk="1" hangingPunct="1">
              <a:lnSpc>
                <a:spcPct val="120000"/>
              </a:lnSpc>
              <a:buClrTx/>
              <a:buSzTx/>
            </a:pPr>
            <a:r>
              <a:rPr lang="zh-CN" altLang="en-US" sz="3400" b="1" dirty="0"/>
              <a:t>条件覆盖</a:t>
            </a:r>
          </a:p>
          <a:p>
            <a:pPr algn="just" eaLnBrk="1" hangingPunct="1">
              <a:lnSpc>
                <a:spcPct val="120000"/>
              </a:lnSpc>
              <a:buClrTx/>
              <a:buSzTx/>
            </a:pPr>
            <a:r>
              <a:rPr lang="zh-CN" altLang="en-US" sz="3400" b="1" dirty="0"/>
              <a:t>优选测试用例</a:t>
            </a:r>
          </a:p>
          <a:p>
            <a:pPr marL="985520" lvl="1" indent="-514350" algn="just" eaLnBrk="1" hangingPunct="1">
              <a:buAutoNum type="arabicPeriod"/>
            </a:pPr>
            <a:r>
              <a:rPr lang="en-US" altLang="zh-CN" sz="2770" dirty="0"/>
              <a:t>a=3,b=1,c=3,x=0</a:t>
            </a:r>
          </a:p>
          <a:p>
            <a:pPr marL="985520" lvl="1" indent="-514350" algn="just" eaLnBrk="1" hangingPunct="1">
              <a:buAutoNum type="arabicPeriod"/>
            </a:pPr>
            <a:r>
              <a:rPr lang="en-US" altLang="zh-CN" sz="2770" dirty="0"/>
              <a:t>a=1,b=2,c=2,x=0</a:t>
            </a:r>
          </a:p>
        </p:txBody>
      </p:sp>
      <p:pic>
        <p:nvPicPr>
          <p:cNvPr id="43014" name="Picture 6" descr="5t12"/>
          <p:cNvPicPr>
            <a:picLocks noChangeAspect="1"/>
          </p:cNvPicPr>
          <p:nvPr/>
        </p:nvPicPr>
        <p:blipFill>
          <a:blip r:embed="rId5"/>
          <a:stretch>
            <a:fillRect/>
          </a:stretch>
        </p:blipFill>
        <p:spPr>
          <a:xfrm>
            <a:off x="6012180" y="44450"/>
            <a:ext cx="3007360" cy="4426585"/>
          </a:xfrm>
          <a:prstGeom prst="rect">
            <a:avLst/>
          </a:prstGeom>
          <a:noFill/>
          <a:ln w="9525">
            <a:noFill/>
          </a:ln>
        </p:spPr>
      </p:pic>
      <p:graphicFrame>
        <p:nvGraphicFramePr>
          <p:cNvPr id="2" name="表格 1"/>
          <p:cNvGraphicFramePr/>
          <p:nvPr>
            <p:custDataLst>
              <p:tags r:id="rId1"/>
            </p:custDataLst>
          </p:nvPr>
        </p:nvGraphicFramePr>
        <p:xfrm>
          <a:off x="227013" y="4723765"/>
          <a:ext cx="8705215" cy="137160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20000"/>
                    </a:ext>
                  </a:extLst>
                </a:gridCol>
                <a:gridCol w="713105">
                  <a:extLst>
                    <a:ext uri="{9D8B030D-6E8A-4147-A177-3AD203B41FA5}">
                      <a16:colId xmlns:a16="http://schemas.microsoft.com/office/drawing/2014/main" val="20001"/>
                    </a:ext>
                  </a:extLst>
                </a:gridCol>
                <a:gridCol w="760730">
                  <a:extLst>
                    <a:ext uri="{9D8B030D-6E8A-4147-A177-3AD203B41FA5}">
                      <a16:colId xmlns:a16="http://schemas.microsoft.com/office/drawing/2014/main" val="20002"/>
                    </a:ext>
                  </a:extLst>
                </a:gridCol>
                <a:gridCol w="692785">
                  <a:extLst>
                    <a:ext uri="{9D8B030D-6E8A-4147-A177-3AD203B41FA5}">
                      <a16:colId xmlns:a16="http://schemas.microsoft.com/office/drawing/2014/main" val="20003"/>
                    </a:ext>
                  </a:extLst>
                </a:gridCol>
                <a:gridCol w="831850">
                  <a:extLst>
                    <a:ext uri="{9D8B030D-6E8A-4147-A177-3AD203B41FA5}">
                      <a16:colId xmlns:a16="http://schemas.microsoft.com/office/drawing/2014/main" val="20004"/>
                    </a:ext>
                  </a:extLst>
                </a:gridCol>
                <a:gridCol w="720090">
                  <a:extLst>
                    <a:ext uri="{9D8B030D-6E8A-4147-A177-3AD203B41FA5}">
                      <a16:colId xmlns:a16="http://schemas.microsoft.com/office/drawing/2014/main" val="20005"/>
                    </a:ext>
                  </a:extLst>
                </a:gridCol>
                <a:gridCol w="573405">
                  <a:extLst>
                    <a:ext uri="{9D8B030D-6E8A-4147-A177-3AD203B41FA5}">
                      <a16:colId xmlns:a16="http://schemas.microsoft.com/office/drawing/2014/main" val="20006"/>
                    </a:ext>
                  </a:extLst>
                </a:gridCol>
                <a:gridCol w="902970">
                  <a:extLst>
                    <a:ext uri="{9D8B030D-6E8A-4147-A177-3AD203B41FA5}">
                      <a16:colId xmlns:a16="http://schemas.microsoft.com/office/drawing/2014/main" val="20007"/>
                    </a:ext>
                  </a:extLst>
                </a:gridCol>
                <a:gridCol w="1221740">
                  <a:extLst>
                    <a:ext uri="{9D8B030D-6E8A-4147-A177-3AD203B41FA5}">
                      <a16:colId xmlns:a16="http://schemas.microsoft.com/office/drawing/2014/main" val="20008"/>
                    </a:ext>
                  </a:extLst>
                </a:gridCol>
                <a:gridCol w="1181735">
                  <a:extLst>
                    <a:ext uri="{9D8B030D-6E8A-4147-A177-3AD203B41FA5}">
                      <a16:colId xmlns:a16="http://schemas.microsoft.com/office/drawing/2014/main" val="20009"/>
                    </a:ext>
                  </a:extLst>
                </a:gridCol>
              </a:tblGrid>
              <a:tr h="640080">
                <a:tc>
                  <a:txBody>
                    <a:bodyPr/>
                    <a:lstStyle/>
                    <a:p>
                      <a:pPr algn="ctr">
                        <a:buNone/>
                      </a:pPr>
                      <a:endParaRPr lang="en-US" altLang="zh-CN"/>
                    </a:p>
                  </a:txBody>
                  <a:tcPr anchor="ctr">
                    <a:solidFill>
                      <a:schemeClr val="accent2"/>
                    </a:solidFill>
                  </a:tcPr>
                </a:tc>
                <a:tc>
                  <a:txBody>
                    <a:bodyPr/>
                    <a:lstStyle/>
                    <a:p>
                      <a:pPr algn="ctr">
                        <a:buNone/>
                      </a:pPr>
                      <a:r>
                        <a:rPr lang="en-US" altLang="zh-CN" sz="1800"/>
                        <a:t>a&gt;1</a:t>
                      </a:r>
                    </a:p>
                  </a:txBody>
                  <a:tcPr anchor="ctr">
                    <a:solidFill>
                      <a:schemeClr val="accent2"/>
                    </a:solidFill>
                  </a:tcPr>
                </a:tc>
                <a:tc>
                  <a:txBody>
                    <a:bodyPr/>
                    <a:lstStyle/>
                    <a:p>
                      <a:pPr algn="ctr">
                        <a:buNone/>
                      </a:pPr>
                      <a:r>
                        <a:rPr lang="en-US" altLang="zh-CN" sz="1800"/>
                        <a:t>b&lt;2</a:t>
                      </a:r>
                    </a:p>
                  </a:txBody>
                  <a:tcPr anchor="ctr">
                    <a:solidFill>
                      <a:schemeClr val="accent2"/>
                    </a:solidFill>
                  </a:tcPr>
                </a:tc>
                <a:tc>
                  <a:txBody>
                    <a:bodyPr/>
                    <a:lstStyle/>
                    <a:p>
                      <a:pPr algn="ctr">
                        <a:buNone/>
                      </a:pPr>
                      <a:r>
                        <a:rPr lang="en-US" altLang="zh-CN" sz="1800"/>
                        <a:t>&amp;&amp;</a:t>
                      </a:r>
                    </a:p>
                  </a:txBody>
                  <a:tcPr anchor="ctr">
                    <a:solidFill>
                      <a:schemeClr val="accent2"/>
                    </a:solidFill>
                  </a:tcPr>
                </a:tc>
                <a:tc>
                  <a:txBody>
                    <a:bodyPr/>
                    <a:lstStyle/>
                    <a:p>
                      <a:pPr algn="ctr">
                        <a:buNone/>
                      </a:pPr>
                      <a:r>
                        <a:rPr lang="en-US" altLang="zh-CN" sz="1800"/>
                        <a:t>a=3</a:t>
                      </a:r>
                    </a:p>
                  </a:txBody>
                  <a:tcPr anchor="ctr">
                    <a:solidFill>
                      <a:schemeClr val="accent4"/>
                    </a:solidFill>
                  </a:tcPr>
                </a:tc>
                <a:tc>
                  <a:txBody>
                    <a:bodyPr/>
                    <a:lstStyle/>
                    <a:p>
                      <a:pPr algn="ctr">
                        <a:buNone/>
                      </a:pPr>
                      <a:r>
                        <a:rPr lang="en-US" altLang="zh-CN" sz="1800"/>
                        <a:t>x&gt;3</a:t>
                      </a:r>
                    </a:p>
                  </a:txBody>
                  <a:tcPr anchor="ctr">
                    <a:solidFill>
                      <a:schemeClr val="accent4"/>
                    </a:solidFill>
                  </a:tcPr>
                </a:tc>
                <a:tc>
                  <a:txBody>
                    <a:bodyPr/>
                    <a:lstStyle/>
                    <a:p>
                      <a:pPr algn="ctr">
                        <a:buNone/>
                      </a:pPr>
                      <a:r>
                        <a:rPr lang="en-US" altLang="zh-CN" sz="1800"/>
                        <a:t>||</a:t>
                      </a:r>
                    </a:p>
                  </a:txBody>
                  <a:tcPr anchor="ctr">
                    <a:solidFill>
                      <a:schemeClr val="accent4"/>
                    </a:solidFill>
                  </a:tcPr>
                </a:tc>
                <a:tc>
                  <a:txBody>
                    <a:bodyPr/>
                    <a:lstStyle/>
                    <a:p>
                      <a:pPr algn="ctr">
                        <a:buNone/>
                      </a:pPr>
                      <a:r>
                        <a:rPr lang="zh-CN" altLang="en-US" sz="1800"/>
                        <a:t>路径</a:t>
                      </a:r>
                    </a:p>
                  </a:txBody>
                  <a:tcPr anchor="ctr">
                    <a:solidFill>
                      <a:schemeClr val="accent2"/>
                    </a:solidFill>
                  </a:tcPr>
                </a:tc>
                <a:tc>
                  <a:txBody>
                    <a:bodyPr/>
                    <a:lstStyle/>
                    <a:p>
                      <a:pPr algn="ctr">
                        <a:buNone/>
                      </a:pPr>
                      <a:r>
                        <a:rPr lang="zh-CN" altLang="en-US" sz="1800"/>
                        <a:t>条件覆盖</a:t>
                      </a:r>
                    </a:p>
                  </a:txBody>
                  <a:tcPr anchor="ctr">
                    <a:solidFill>
                      <a:schemeClr val="accent2"/>
                    </a:solidFill>
                  </a:tcPr>
                </a:tc>
                <a:tc>
                  <a:txBody>
                    <a:bodyPr/>
                    <a:lstStyle/>
                    <a:p>
                      <a:pPr algn="ctr">
                        <a:buNone/>
                      </a:pPr>
                      <a:r>
                        <a:rPr lang="zh-CN" altLang="en-US" sz="1800"/>
                        <a:t>判定覆盖</a:t>
                      </a:r>
                    </a:p>
                  </a:txBody>
                  <a:tcPr anchor="ctr">
                    <a:solidFill>
                      <a:schemeClr val="accent2"/>
                    </a:solidFill>
                  </a:tcPr>
                </a:tc>
                <a:extLst>
                  <a:ext uri="{0D108BD9-81ED-4DB2-BD59-A6C34878D82A}">
                    <a16:rowId xmlns:a16="http://schemas.microsoft.com/office/drawing/2014/main" val="10000"/>
                  </a:ext>
                </a:extLst>
              </a:tr>
              <a:tr h="365760">
                <a:tc>
                  <a:txBody>
                    <a:bodyPr/>
                    <a:lstStyle/>
                    <a:p>
                      <a:pPr algn="ctr">
                        <a:buNone/>
                      </a:pPr>
                      <a:r>
                        <a:rPr lang="en-US" altLang="zh-CN" sz="1800"/>
                        <a:t>LC-001</a:t>
                      </a:r>
                    </a:p>
                  </a:txBody>
                  <a:tcPr anchor="ctr">
                    <a:solidFill>
                      <a:schemeClr val="tx2"/>
                    </a:solidFill>
                  </a:tcPr>
                </a:tc>
                <a:tc>
                  <a:txBody>
                    <a:bodyPr/>
                    <a:lstStyle/>
                    <a:p>
                      <a:pPr algn="ctr">
                        <a:buNone/>
                      </a:pPr>
                      <a:r>
                        <a:rPr lang="en-US" altLang="zh-CN" sz="1800"/>
                        <a:t>T</a:t>
                      </a:r>
                    </a:p>
                  </a:txBody>
                  <a:tcPr anchor="ctr">
                    <a:solidFill>
                      <a:schemeClr val="tx2"/>
                    </a:solidFill>
                  </a:tcPr>
                </a:tc>
                <a:tc>
                  <a:txBody>
                    <a:bodyPr/>
                    <a:lstStyle/>
                    <a:p>
                      <a:pPr algn="ctr">
                        <a:buNone/>
                      </a:pPr>
                      <a:r>
                        <a:rPr lang="en-US" altLang="zh-CN" sz="1800"/>
                        <a:t>T</a:t>
                      </a:r>
                    </a:p>
                  </a:txBody>
                  <a:tcPr anchor="ctr">
                    <a:solidFill>
                      <a:schemeClr val="tx2"/>
                    </a:solidFill>
                  </a:tcPr>
                </a:tc>
                <a:tc>
                  <a:txBody>
                    <a:bodyPr/>
                    <a:lstStyle/>
                    <a:p>
                      <a:pPr algn="ctr">
                        <a:buNone/>
                      </a:pPr>
                      <a:r>
                        <a:rPr lang="en-US" altLang="zh-CN" sz="1800"/>
                        <a:t>T</a:t>
                      </a:r>
                    </a:p>
                  </a:txBody>
                  <a:tcPr anchor="ctr">
                    <a:solidFill>
                      <a:schemeClr val="tx2"/>
                    </a:solidFill>
                  </a:tcPr>
                </a:tc>
                <a:tc>
                  <a:txBody>
                    <a:bodyPr/>
                    <a:lstStyle/>
                    <a:p>
                      <a:pPr algn="ctr">
                        <a:buNone/>
                      </a:pPr>
                      <a:r>
                        <a:rPr lang="en-US" altLang="zh-CN" sz="1800"/>
                        <a:t>T</a:t>
                      </a:r>
                    </a:p>
                  </a:txBody>
                  <a:tcPr anchor="ctr">
                    <a:solidFill>
                      <a:schemeClr val="accent4">
                        <a:lumMod val="20000"/>
                        <a:lumOff val="80000"/>
                      </a:schemeClr>
                    </a:solidFill>
                  </a:tcPr>
                </a:tc>
                <a:tc>
                  <a:txBody>
                    <a:bodyPr/>
                    <a:lstStyle/>
                    <a:p>
                      <a:pPr algn="ctr">
                        <a:buNone/>
                      </a:pPr>
                      <a:r>
                        <a:rPr lang="en-US" altLang="zh-CN" sz="1800"/>
                        <a:t>T</a:t>
                      </a:r>
                    </a:p>
                  </a:txBody>
                  <a:tcPr anchor="ctr">
                    <a:solidFill>
                      <a:schemeClr val="accent4">
                        <a:lumMod val="20000"/>
                        <a:lumOff val="80000"/>
                      </a:schemeClr>
                    </a:solidFill>
                  </a:tcPr>
                </a:tc>
                <a:tc>
                  <a:txBody>
                    <a:bodyPr/>
                    <a:lstStyle/>
                    <a:p>
                      <a:pPr algn="ctr">
                        <a:buNone/>
                      </a:pPr>
                      <a:r>
                        <a:rPr lang="en-US" altLang="zh-CN" sz="1800"/>
                        <a:t>T</a:t>
                      </a:r>
                    </a:p>
                  </a:txBody>
                  <a:tcPr anchor="ctr">
                    <a:solidFill>
                      <a:schemeClr val="accent4">
                        <a:lumMod val="20000"/>
                        <a:lumOff val="80000"/>
                      </a:schemeClr>
                    </a:solidFill>
                  </a:tcPr>
                </a:tc>
                <a:tc>
                  <a:txBody>
                    <a:bodyPr/>
                    <a:lstStyle/>
                    <a:p>
                      <a:pPr algn="ctr">
                        <a:buNone/>
                      </a:pPr>
                      <a:r>
                        <a:rPr lang="en-US" altLang="zh-CN" sz="1800"/>
                        <a:t>L24</a:t>
                      </a:r>
                    </a:p>
                  </a:txBody>
                  <a:tcPr anchor="ctr">
                    <a:solidFill>
                      <a:schemeClr val="bg2"/>
                    </a:solidFill>
                  </a:tcPr>
                </a:tc>
                <a:tc rowSpan="2">
                  <a:txBody>
                    <a:bodyPr/>
                    <a:lstStyle/>
                    <a:p>
                      <a:pPr algn="ctr">
                        <a:buNone/>
                      </a:pPr>
                      <a:r>
                        <a:rPr lang="en-US" altLang="zh-CN" sz="1800"/>
                        <a:t>100%</a:t>
                      </a:r>
                    </a:p>
                  </a:txBody>
                  <a:tcPr anchor="ctr">
                    <a:solidFill>
                      <a:schemeClr val="bg2"/>
                    </a:solidFill>
                  </a:tcPr>
                </a:tc>
                <a:tc rowSpan="2">
                  <a:txBody>
                    <a:bodyPr/>
                    <a:lstStyle/>
                    <a:p>
                      <a:pPr algn="ctr">
                        <a:buNone/>
                      </a:pPr>
                      <a:r>
                        <a:rPr lang="en-US" altLang="zh-CN" sz="1800"/>
                        <a:t>100%</a:t>
                      </a:r>
                    </a:p>
                  </a:txBody>
                  <a:tcPr anchor="ctr">
                    <a:solidFill>
                      <a:schemeClr val="bg2"/>
                    </a:solidFill>
                  </a:tcPr>
                </a:tc>
                <a:extLst>
                  <a:ext uri="{0D108BD9-81ED-4DB2-BD59-A6C34878D82A}">
                    <a16:rowId xmlns:a16="http://schemas.microsoft.com/office/drawing/2014/main" val="10001"/>
                  </a:ext>
                </a:extLst>
              </a:tr>
              <a:tr h="365760">
                <a:tc>
                  <a:txBody>
                    <a:bodyPr/>
                    <a:lstStyle/>
                    <a:p>
                      <a:pPr algn="ctr">
                        <a:buNone/>
                      </a:pPr>
                      <a:r>
                        <a:rPr lang="en-US" altLang="zh-CN" sz="1800"/>
                        <a:t>LC-002</a:t>
                      </a:r>
                    </a:p>
                  </a:txBody>
                  <a:tcPr anchor="ctr"/>
                </a:tc>
                <a:tc>
                  <a:txBody>
                    <a:bodyPr/>
                    <a:lstStyle/>
                    <a:p>
                      <a:pPr algn="ctr">
                        <a:buNone/>
                      </a:pPr>
                      <a:r>
                        <a:rPr lang="en-US" altLang="zh-CN" sz="1800"/>
                        <a:t>F</a:t>
                      </a:r>
                    </a:p>
                  </a:txBody>
                  <a:tcPr anchor="ctr"/>
                </a:tc>
                <a:tc>
                  <a:txBody>
                    <a:bodyPr/>
                    <a:lstStyle/>
                    <a:p>
                      <a:pPr algn="ctr">
                        <a:buNone/>
                      </a:pPr>
                      <a:r>
                        <a:rPr lang="en-US" altLang="zh-CN" sz="1800"/>
                        <a:t>F</a:t>
                      </a:r>
                    </a:p>
                  </a:txBody>
                  <a:tcPr anchor="ctr"/>
                </a:tc>
                <a:tc>
                  <a:txBody>
                    <a:bodyPr/>
                    <a:lstStyle/>
                    <a:p>
                      <a:pPr algn="ctr">
                        <a:buNone/>
                      </a:pPr>
                      <a:r>
                        <a:rPr lang="en-US" altLang="zh-CN" sz="1800"/>
                        <a:t>F</a:t>
                      </a:r>
                    </a:p>
                  </a:txBody>
                  <a:tcPr anchor="ctr">
                    <a:solidFill>
                      <a:schemeClr val="bg1">
                        <a:lumMod val="95000"/>
                      </a:schemeClr>
                    </a:solidFill>
                  </a:tcP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L13</a:t>
                      </a:r>
                    </a:p>
                  </a:txBody>
                  <a:tcPr anchor="ctr"/>
                </a:tc>
                <a:tc vMerge="1">
                  <a:txBody>
                    <a:bodyPr/>
                    <a:lstStyle/>
                    <a:p>
                      <a:endParaRPr lang="zh-CN"/>
                    </a:p>
                  </a:txBody>
                  <a:tcPr anchor="ctr"/>
                </a:tc>
                <a:tc vMerge="1">
                  <a:txBody>
                    <a:bodyPr/>
                    <a:lstStyle/>
                    <a:p>
                      <a:endParaRPr lang="zh-CN"/>
                    </a:p>
                  </a:txBody>
                  <a:tcPr anchor="ctr"/>
                </a:tc>
                <a:extLst>
                  <a:ext uri="{0D108BD9-81ED-4DB2-BD59-A6C34878D82A}">
                    <a16:rowId xmlns:a16="http://schemas.microsoft.com/office/drawing/2014/main" val="10002"/>
                  </a:ext>
                </a:extLst>
              </a:tr>
            </a:tbl>
          </a:graphicData>
        </a:graphic>
      </p:graphicFrame>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18</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2"/>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3"/>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014"/>
                                        </p:tgtEl>
                                        <p:attrNameLst>
                                          <p:attrName>style.visibility</p:attrName>
                                        </p:attrNameLst>
                                      </p:cBhvr>
                                      <p:to>
                                        <p:strVal val="visible"/>
                                      </p:to>
                                    </p:set>
                                    <p:animEffect transition="in" filter="dissolve">
                                      <p:cBhvr>
                                        <p:cTn id="7" dur="500"/>
                                        <p:tgtEl>
                                          <p:spTgt spid="430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p:cNvSpPr>
          <p:nvPr>
            <p:ph idx="1"/>
          </p:nvPr>
        </p:nvSpPr>
        <p:spPr>
          <a:xfrm>
            <a:off x="502285" y="1491615"/>
            <a:ext cx="8139430" cy="4176395"/>
          </a:xfrm>
        </p:spPr>
        <p:txBody>
          <a:bodyPr vert="horz" wrap="square" lIns="91440" tIns="45720" rIns="91440" bIns="45720" anchor="t" anchorCtr="0"/>
          <a:lstStyle/>
          <a:p>
            <a:pPr algn="just" eaLnBrk="1" hangingPunct="1">
              <a:lnSpc>
                <a:spcPct val="150000"/>
              </a:lnSpc>
            </a:pPr>
            <a:r>
              <a:rPr lang="zh-CN" altLang="en-US" sz="3400" b="1" dirty="0"/>
              <a:t>判定</a:t>
            </a:r>
            <a:r>
              <a:rPr lang="en-US" altLang="zh-CN" sz="3400" b="1" dirty="0"/>
              <a:t>/</a:t>
            </a:r>
            <a:r>
              <a:rPr lang="zh-CN" altLang="en-US" sz="3400" b="1" dirty="0"/>
              <a:t>条件覆盖</a:t>
            </a:r>
            <a:endParaRPr lang="en-US" altLang="zh-CN" sz="3400" b="1" dirty="0"/>
          </a:p>
          <a:p>
            <a:pPr lvl="1" algn="just" eaLnBrk="1" hangingPunct="1">
              <a:lnSpc>
                <a:spcPct val="150000"/>
              </a:lnSpc>
            </a:pPr>
            <a:r>
              <a:rPr lang="zh-CN" altLang="en-US" sz="2425" b="1" dirty="0"/>
              <a:t>基本思想：</a:t>
            </a:r>
            <a:r>
              <a:rPr lang="zh-CN" altLang="en-US" sz="2425" dirty="0"/>
              <a:t>测试用例的设计应满足判定节点的取真和取假分支至少执行一次，且每个简单判定条件的取真和取假情况也应至少执行一次，即</a:t>
            </a:r>
            <a:r>
              <a:rPr lang="zh-CN" altLang="en-US" sz="2425" b="1" dirty="0">
                <a:solidFill>
                  <a:srgbClr val="FF0000"/>
                </a:solidFill>
              </a:rPr>
              <a:t>判定覆盖</a:t>
            </a:r>
            <a:r>
              <a:rPr lang="en-US" altLang="en-US" sz="2425" b="1" dirty="0">
                <a:solidFill>
                  <a:srgbClr val="FF0000"/>
                </a:solidFill>
              </a:rPr>
              <a:t>+</a:t>
            </a:r>
            <a:r>
              <a:rPr lang="zh-CN" altLang="en-US" sz="2425" b="1" dirty="0">
                <a:solidFill>
                  <a:srgbClr val="FF0000"/>
                </a:solidFill>
              </a:rPr>
              <a:t>条件覆盖</a:t>
            </a:r>
            <a:r>
              <a:rPr lang="zh-CN" altLang="en-US" sz="2425" dirty="0"/>
              <a:t>。</a:t>
            </a:r>
          </a:p>
          <a:p>
            <a:pPr lvl="1" algn="just" eaLnBrk="1" hangingPunct="1">
              <a:lnSpc>
                <a:spcPct val="150000"/>
              </a:lnSpc>
            </a:pPr>
            <a:r>
              <a:rPr sz="2425" b="1" dirty="0">
                <a:solidFill>
                  <a:srgbClr val="FF0000"/>
                </a:solidFill>
              </a:rPr>
              <a:t>每个判定条件和判定节点均取到真</a:t>
            </a:r>
            <a:r>
              <a:rPr lang="en-US" altLang="zh-CN" sz="2425" b="1" dirty="0">
                <a:solidFill>
                  <a:srgbClr val="FF0000"/>
                </a:solidFill>
              </a:rPr>
              <a:t>/</a:t>
            </a:r>
            <a:r>
              <a:rPr sz="2425" b="1" dirty="0">
                <a:solidFill>
                  <a:srgbClr val="FF0000"/>
                </a:solidFill>
              </a:rPr>
              <a:t>假各一次。</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19</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p:cNvSpPr>
          <p:nvPr>
            <p:ph idx="1"/>
          </p:nvPr>
        </p:nvSpPr>
        <p:spPr>
          <a:xfrm>
            <a:off x="567055" y="1628775"/>
            <a:ext cx="3971925" cy="4538345"/>
          </a:xfrm>
        </p:spPr>
        <p:txBody>
          <a:bodyPr vert="horz" wrap="square" lIns="91440" tIns="45720" rIns="91440" bIns="45720" anchor="t" anchorCtr="0">
            <a:normAutofit fontScale="90000" lnSpcReduction="10000"/>
          </a:bodyPr>
          <a:lstStyle/>
          <a:p>
            <a:pPr algn="just" eaLnBrk="1" hangingPunct="1">
              <a:lnSpc>
                <a:spcPct val="150000"/>
              </a:lnSpc>
              <a:buClrTx/>
              <a:buSzTx/>
            </a:pPr>
            <a:r>
              <a:rPr lang="en-US" altLang="zh-CN" sz="3600" b="1" dirty="0"/>
              <a:t>判定/条件覆盖</a:t>
            </a:r>
          </a:p>
          <a:p>
            <a:pPr algn="just" eaLnBrk="1" hangingPunct="1"/>
            <a:r>
              <a:rPr lang="zh-CN" altLang="en-US" sz="2800" dirty="0"/>
              <a:t>设计一组符合该指标要求的测试用例比较困难。</a:t>
            </a:r>
          </a:p>
          <a:p>
            <a:pPr algn="just" eaLnBrk="1" hangingPunct="1"/>
            <a:r>
              <a:rPr lang="zh-CN" altLang="en-US" sz="2800" b="1" dirty="0"/>
              <a:t>折中策略：</a:t>
            </a:r>
          </a:p>
          <a:p>
            <a:pPr lvl="1" algn="just" eaLnBrk="1" hangingPunct="1"/>
            <a:r>
              <a:rPr lang="zh-CN" altLang="en-US" sz="2400" dirty="0"/>
              <a:t>修改程序结构，将复合判定表达式拆分成多个简单判定表达式，逻辑不变（不包含</a:t>
            </a:r>
            <a:r>
              <a:rPr lang="en-US" altLang="zh-CN" sz="2400" dirty="0"/>
              <a:t>“</a:t>
            </a:r>
            <a:r>
              <a:rPr lang="zh-CN" altLang="en-US" sz="2400" dirty="0"/>
              <a:t>与</a:t>
            </a:r>
            <a:r>
              <a:rPr lang="en-US" altLang="zh-CN" sz="2400" dirty="0"/>
              <a:t>”</a:t>
            </a:r>
            <a:r>
              <a:rPr lang="zh-CN" altLang="en-US" sz="2400" dirty="0"/>
              <a:t>、</a:t>
            </a:r>
            <a:r>
              <a:rPr lang="en-US" altLang="zh-CN" sz="2400" dirty="0"/>
              <a:t>“</a:t>
            </a:r>
            <a:r>
              <a:rPr lang="zh-CN" altLang="en-US" sz="2400" dirty="0"/>
              <a:t>或</a:t>
            </a:r>
            <a:r>
              <a:rPr lang="en-US" altLang="zh-CN" sz="2400" dirty="0"/>
              <a:t>”</a:t>
            </a:r>
            <a:r>
              <a:rPr lang="zh-CN" altLang="en-US" sz="2400" dirty="0"/>
              <a:t>关系）</a:t>
            </a:r>
            <a:r>
              <a:rPr lang="zh-CN" altLang="en-US" sz="2400" dirty="0">
                <a:sym typeface="+mn-ea"/>
              </a:rPr>
              <a:t>。</a:t>
            </a:r>
          </a:p>
        </p:txBody>
      </p:sp>
      <p:pic>
        <p:nvPicPr>
          <p:cNvPr id="30725" name="Picture 2" descr="5t13"/>
          <p:cNvPicPr>
            <a:picLocks noChangeAspect="1"/>
          </p:cNvPicPr>
          <p:nvPr/>
        </p:nvPicPr>
        <p:blipFill>
          <a:blip r:embed="rId4"/>
          <a:stretch>
            <a:fillRect/>
          </a:stretch>
        </p:blipFill>
        <p:spPr>
          <a:xfrm>
            <a:off x="4544695" y="332740"/>
            <a:ext cx="4599305" cy="5342255"/>
          </a:xfrm>
          <a:prstGeom prst="rect">
            <a:avLst/>
          </a:prstGeom>
          <a:noFill/>
          <a:ln w="9525">
            <a:noFill/>
          </a:ln>
        </p:spPr>
      </p:pic>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20</a:t>
            </a:fld>
            <a:endParaRPr lang="en-US" altLang="zh-CN" dirty="0">
              <a:latin typeface="Verdana" panose="020B0604030504040204" pitchFamily="34" charset="0"/>
            </a:endParaRPr>
          </a:p>
        </p:txBody>
      </p:sp>
      <p:sp>
        <p:nvSpPr>
          <p:cNvPr id="4" name="文本框 3"/>
          <p:cNvSpPr txBox="1"/>
          <p:nvPr/>
        </p:nvSpPr>
        <p:spPr>
          <a:xfrm>
            <a:off x="5508625" y="5876925"/>
            <a:ext cx="2240280" cy="368300"/>
          </a:xfrm>
          <a:prstGeom prst="rect">
            <a:avLst/>
          </a:prstGeom>
          <a:noFill/>
        </p:spPr>
        <p:txBody>
          <a:bodyPr wrap="none" rtlCol="0">
            <a:spAutoFit/>
          </a:bodyPr>
          <a:lstStyle/>
          <a:p>
            <a:r>
              <a:rPr lang="zh-CN" altLang="en-US" b="1">
                <a:solidFill>
                  <a:schemeClr val="tx1"/>
                </a:solidFill>
                <a:latin typeface="微软雅黑" panose="020B0503020204020204" charset="-122"/>
                <a:ea typeface="微软雅黑" panose="020B0503020204020204" charset="-122"/>
              </a:rPr>
              <a:t>修改后的代码流程图</a:t>
            </a:r>
          </a:p>
        </p:txBody>
      </p:sp>
      <p:sp>
        <p:nvSpPr>
          <p:cNvPr id="5" name="日期占位符 4"/>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2285" y="1659890"/>
            <a:ext cx="8139430" cy="4008120"/>
          </a:xfrm>
        </p:spPr>
        <p:txBody>
          <a:bodyPr/>
          <a:lstStyle/>
          <a:p>
            <a:pPr algn="just">
              <a:lnSpc>
                <a:spcPct val="140000"/>
              </a:lnSpc>
              <a:buClrTx/>
              <a:buSzTx/>
            </a:pPr>
            <a:r>
              <a:rPr sz="3400" b="1">
                <a:sym typeface="+mn-ea"/>
              </a:rPr>
              <a:t>判定/条件覆盖</a:t>
            </a:r>
            <a:endParaRPr sz="3400" b="1" dirty="0"/>
          </a:p>
          <a:p>
            <a:pPr lvl="1"/>
            <a:r>
              <a:rPr sz="2400">
                <a:solidFill>
                  <a:schemeClr val="tx1"/>
                </a:solidFill>
                <a:latin typeface="微软雅黑" panose="020B0503020204020204" charset="-122"/>
                <a:sym typeface="+mn-ea"/>
              </a:rPr>
              <a:t>修改代码流程图，增大了程序结构的复杂性；</a:t>
            </a:r>
          </a:p>
          <a:p>
            <a:pPr lvl="1"/>
            <a:endParaRPr lang="zh-CN" altLang="en-US" sz="2400">
              <a:solidFill>
                <a:schemeClr val="tx1"/>
              </a:solidFill>
              <a:latin typeface="微软雅黑" panose="020B0503020204020204" charset="-122"/>
              <a:sym typeface="+mn-ea"/>
            </a:endParaRPr>
          </a:p>
          <a:p>
            <a:pPr lvl="1"/>
            <a:endParaRPr lang="zh-CN" altLang="en-US" sz="2400">
              <a:solidFill>
                <a:schemeClr val="tx1"/>
              </a:solidFill>
              <a:latin typeface="微软雅黑" panose="020B0503020204020204" charset="-122"/>
              <a:sym typeface="+mn-ea"/>
            </a:endParaRPr>
          </a:p>
          <a:p>
            <a:pPr lvl="1">
              <a:lnSpc>
                <a:spcPct val="170000"/>
              </a:lnSpc>
            </a:pPr>
            <a:r>
              <a:rPr lang="zh-CN" altLang="en-US" sz="2400">
                <a:solidFill>
                  <a:schemeClr val="tx1"/>
                </a:solidFill>
                <a:latin typeface="微软雅黑" panose="020B0503020204020204" charset="-122"/>
                <a:sym typeface="+mn-ea"/>
              </a:rPr>
              <a:t>可能导致测试用例设计的错误。</a:t>
            </a:r>
          </a:p>
        </p:txBody>
      </p:sp>
      <p:sp>
        <p:nvSpPr>
          <p:cNvPr id="4" name="日期占位符 3"/>
          <p:cNvSpPr>
            <a:spLocks noGrp="1"/>
          </p:cNvSpPr>
          <p:nvPr>
            <p:ph type="dt" sz="half" idx="10"/>
          </p:nvPr>
        </p:nvSpPr>
        <p:spPr/>
        <p:txBody>
          <a:bodyPr/>
          <a:lstStyle/>
          <a:p>
            <a:fld id="{760FBDFE-C587-4B4C-A407-44438C67B59E}" type="datetime1">
              <a:rPr lang="zh-CN" altLang="en-US" smtClean="0"/>
              <a:t>2024/4/9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21</a:t>
            </a:fld>
            <a:endParaRPr lang="zh-CN" altLang="en-US"/>
          </a:p>
        </p:txBody>
      </p:sp>
      <p:pic>
        <p:nvPicPr>
          <p:cNvPr id="6" name="图片 5" descr="X_FRN}@NJLCPJ$LIV~@U0CC"/>
          <p:cNvPicPr>
            <a:picLocks noChangeAspect="1"/>
          </p:cNvPicPr>
          <p:nvPr>
            <p:custDataLst>
              <p:tags r:id="rId1"/>
            </p:custDataLst>
          </p:nvPr>
        </p:nvPicPr>
        <p:blipFill>
          <a:blip r:embed="rId4"/>
          <a:stretch>
            <a:fillRect/>
          </a:stretch>
        </p:blipFill>
        <p:spPr>
          <a:xfrm>
            <a:off x="323850" y="3152775"/>
            <a:ext cx="8648700" cy="1022350"/>
          </a:xfrm>
          <a:prstGeom prst="rect">
            <a:avLst/>
          </a:prstGeom>
        </p:spPr>
      </p:pic>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p:cNvSpPr>
          <p:nvPr>
            <p:ph idx="1"/>
          </p:nvPr>
        </p:nvSpPr>
        <p:spPr>
          <a:xfrm>
            <a:off x="502285" y="1574800"/>
            <a:ext cx="8139430" cy="4093210"/>
          </a:xfrm>
        </p:spPr>
        <p:txBody>
          <a:bodyPr vert="horz" wrap="square" lIns="91440" tIns="45720" rIns="91440" bIns="45720" anchor="t" anchorCtr="0">
            <a:normAutofit/>
          </a:bodyPr>
          <a:lstStyle/>
          <a:p>
            <a:pPr algn="just" eaLnBrk="1" hangingPunct="1">
              <a:lnSpc>
                <a:spcPct val="140000"/>
              </a:lnSpc>
            </a:pPr>
            <a:r>
              <a:rPr lang="zh-CN" altLang="en-US" sz="3400" b="1" dirty="0"/>
              <a:t>条件组合覆盖</a:t>
            </a:r>
            <a:endParaRPr lang="en-US" altLang="zh-CN" sz="3400" b="1" dirty="0"/>
          </a:p>
          <a:p>
            <a:pPr lvl="1" algn="just" eaLnBrk="1" hangingPunct="1">
              <a:lnSpc>
                <a:spcPct val="140000"/>
              </a:lnSpc>
            </a:pPr>
            <a:r>
              <a:rPr lang="zh-CN" altLang="en-US" sz="2425" b="1" dirty="0"/>
              <a:t>基本思想：</a:t>
            </a:r>
            <a:r>
              <a:rPr lang="zh-CN" altLang="en-US" sz="2425" dirty="0"/>
              <a:t>测试用例的设计应满足每个判定节点中，所有简单判定条件的</a:t>
            </a:r>
            <a:r>
              <a:rPr lang="zh-CN" altLang="en-US" sz="2425" b="1" dirty="0">
                <a:solidFill>
                  <a:srgbClr val="FF0000"/>
                </a:solidFill>
              </a:rPr>
              <a:t>所有可能的取值组合</a:t>
            </a:r>
            <a:r>
              <a:rPr lang="zh-CN" altLang="en-US" sz="2425" dirty="0"/>
              <a:t>情况应至少执行一次。</a:t>
            </a:r>
            <a:endParaRPr lang="en-US" altLang="zh-CN" sz="2425" dirty="0"/>
          </a:p>
          <a:p>
            <a:pPr lvl="1" algn="just" eaLnBrk="1" hangingPunct="1">
              <a:lnSpc>
                <a:spcPct val="140000"/>
              </a:lnSpc>
            </a:pPr>
            <a:r>
              <a:rPr lang="zh-CN" altLang="en-US" sz="2425" dirty="0"/>
              <a:t>实质是通过</a:t>
            </a:r>
            <a:r>
              <a:rPr lang="zh-CN" altLang="en-US" sz="2425" b="1" dirty="0">
                <a:solidFill>
                  <a:srgbClr val="FF0000"/>
                </a:solidFill>
              </a:rPr>
              <a:t>列出真值表</a:t>
            </a:r>
            <a:r>
              <a:rPr lang="zh-CN" altLang="en-US" sz="2425" dirty="0"/>
              <a:t>的方式来得到</a:t>
            </a:r>
            <a:r>
              <a:rPr lang="zh-CN" altLang="en-US" sz="2425" b="1" dirty="0">
                <a:solidFill>
                  <a:srgbClr val="FF0000"/>
                </a:solidFill>
              </a:rPr>
              <a:t>完全的覆盖</a:t>
            </a:r>
            <a:r>
              <a:rPr lang="zh-CN" altLang="en-US" sz="2425" dirty="0"/>
              <a:t>，即以冗余换取方法的简单性。</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22</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p:cNvSpPr>
          <p:nvPr>
            <p:ph idx="1"/>
          </p:nvPr>
        </p:nvSpPr>
        <p:spPr/>
        <p:txBody>
          <a:bodyPr vert="horz" wrap="square" lIns="91440" tIns="45720" rIns="91440" bIns="45720" anchor="t" anchorCtr="0"/>
          <a:lstStyle/>
          <a:p>
            <a:pPr algn="just" eaLnBrk="1" hangingPunct="1"/>
            <a:r>
              <a:rPr lang="zh-CN" altLang="en-US" sz="3400" b="1" dirty="0"/>
              <a:t>条件组合覆盖</a:t>
            </a:r>
          </a:p>
        </p:txBody>
      </p:sp>
      <p:pic>
        <p:nvPicPr>
          <p:cNvPr id="33797" name="Picture 2"/>
          <p:cNvPicPr>
            <a:picLocks noChangeAspect="1"/>
          </p:cNvPicPr>
          <p:nvPr/>
        </p:nvPicPr>
        <p:blipFill>
          <a:blip r:embed="rId5"/>
          <a:stretch>
            <a:fillRect/>
          </a:stretch>
        </p:blipFill>
        <p:spPr>
          <a:xfrm>
            <a:off x="251460" y="1425575"/>
            <a:ext cx="8714740" cy="4874260"/>
          </a:xfrm>
          <a:prstGeom prst="rect">
            <a:avLst/>
          </a:prstGeom>
          <a:noFill/>
          <a:ln w="9525">
            <a:noFill/>
          </a:ln>
        </p:spPr>
      </p:pic>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23</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
        <p:nvSpPr>
          <p:cNvPr id="6" name="椭圆 5"/>
          <p:cNvSpPr/>
          <p:nvPr>
            <p:custDataLst>
              <p:tags r:id="rId3"/>
            </p:custDataLst>
          </p:nvPr>
        </p:nvSpPr>
        <p:spPr>
          <a:xfrm>
            <a:off x="4108450" y="1746250"/>
            <a:ext cx="716915" cy="2512060"/>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dissolve">
                                      <p:cBhvr>
                                        <p:cTn id="7" dur="500"/>
                                        <p:tgtEl>
                                          <p:spTgt spid="337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p:cNvSpPr>
          <p:nvPr>
            <p:ph idx="1"/>
          </p:nvPr>
        </p:nvSpPr>
        <p:spPr>
          <a:xfrm>
            <a:off x="502285" y="1481455"/>
            <a:ext cx="8139430" cy="4844415"/>
          </a:xfrm>
        </p:spPr>
        <p:txBody>
          <a:bodyPr vert="horz" wrap="square" lIns="91440" tIns="45720" rIns="91440" bIns="45720" anchor="t" anchorCtr="0"/>
          <a:lstStyle/>
          <a:p>
            <a:pPr algn="just" eaLnBrk="1" hangingPunct="1">
              <a:lnSpc>
                <a:spcPct val="120000"/>
              </a:lnSpc>
            </a:pPr>
            <a:r>
              <a:rPr lang="zh-CN" altLang="en-US" sz="3400" b="1" dirty="0"/>
              <a:t>条件组合覆盖</a:t>
            </a:r>
            <a:endParaRPr lang="en-US" altLang="zh-CN" sz="3400" b="1" dirty="0"/>
          </a:p>
          <a:p>
            <a:pPr algn="just" eaLnBrk="1" hangingPunct="1">
              <a:lnSpc>
                <a:spcPct val="120000"/>
              </a:lnSpc>
            </a:pPr>
            <a:r>
              <a:rPr lang="zh-CN" altLang="en-US" sz="3400" b="1" dirty="0"/>
              <a:t>局限性：</a:t>
            </a:r>
            <a:endParaRPr lang="en-US" altLang="zh-CN" sz="3400" b="1" dirty="0"/>
          </a:p>
          <a:p>
            <a:pPr lvl="1" algn="just" eaLnBrk="1" hangingPunct="1">
              <a:lnSpc>
                <a:spcPct val="120000"/>
              </a:lnSpc>
            </a:pPr>
            <a:r>
              <a:rPr lang="zh-CN" altLang="en-US" sz="2400" dirty="0"/>
              <a:t>当判定表达式本身较为复杂、且存在多个判定节点串联时，条件组合覆盖的测试用例规模将大得惊人。</a:t>
            </a:r>
          </a:p>
          <a:p>
            <a:pPr lvl="1" algn="just" eaLnBrk="1" hangingPunct="1">
              <a:lnSpc>
                <a:spcPct val="160000"/>
              </a:lnSpc>
            </a:pPr>
            <a:r>
              <a:rPr lang="zh-CN" altLang="en-US" sz="2400" dirty="0"/>
              <a:t>第二日问题：</a:t>
            </a:r>
            <a:r>
              <a:rPr lang="en-US" altLang="zh-CN" sz="2400" dirty="0"/>
              <a:t>“</a:t>
            </a:r>
            <a:r>
              <a:rPr sz="2400" dirty="0"/>
              <a:t>计算</a:t>
            </a:r>
            <a:r>
              <a:rPr lang="en-US" altLang="zh-CN" sz="2400" dirty="0"/>
              <a:t>”</a:t>
            </a:r>
            <a:r>
              <a:rPr sz="2400" dirty="0"/>
              <a:t>按钮的</a:t>
            </a:r>
            <a:r>
              <a:rPr lang="en-US" altLang="zh-CN" sz="2400" dirty="0"/>
              <a:t>onCompute()</a:t>
            </a:r>
            <a:r>
              <a:rPr sz="2400" dirty="0"/>
              <a:t>函数</a:t>
            </a:r>
          </a:p>
          <a:p>
            <a:pPr lvl="2" algn="just" eaLnBrk="1" hangingPunct="1">
              <a:lnSpc>
                <a:spcPct val="140000"/>
              </a:lnSpc>
            </a:pPr>
            <a:r>
              <a:rPr lang="en-US" altLang="zh-CN" sz="2000" dirty="0"/>
              <a:t>4</a:t>
            </a:r>
            <a:r>
              <a:rPr sz="2000" dirty="0"/>
              <a:t>个判定节点，前</a:t>
            </a:r>
            <a:r>
              <a:rPr lang="en-US" altLang="zh-CN" sz="2000" dirty="0"/>
              <a:t>3</a:t>
            </a:r>
            <a:r>
              <a:rPr sz="2000" dirty="0"/>
              <a:t>个分别包含</a:t>
            </a:r>
            <a:r>
              <a:rPr lang="en-US" altLang="zh-CN" sz="2000" dirty="0"/>
              <a:t>2</a:t>
            </a:r>
            <a:r>
              <a:rPr sz="2000" dirty="0"/>
              <a:t>个判定条件，第</a:t>
            </a:r>
            <a:r>
              <a:rPr lang="en-US" altLang="zh-CN" sz="2000" dirty="0"/>
              <a:t>4</a:t>
            </a:r>
            <a:r>
              <a:rPr sz="2000" dirty="0"/>
              <a:t>个包含</a:t>
            </a:r>
            <a:r>
              <a:rPr lang="en-US" altLang="zh-CN" sz="2000" dirty="0"/>
              <a:t>6</a:t>
            </a:r>
            <a:r>
              <a:rPr sz="2000" dirty="0"/>
              <a:t>个判定条件，共有</a:t>
            </a:r>
            <a:r>
              <a:rPr lang="en-US" altLang="zh-CN" sz="2000" dirty="0"/>
              <a:t>4*4*4*2</a:t>
            </a:r>
            <a:r>
              <a:rPr lang="en-US" altLang="zh-CN" sz="2000" baseline="30000" dirty="0"/>
              <a:t>6</a:t>
            </a:r>
            <a:r>
              <a:rPr lang="en-US" altLang="zh-CN" sz="2000" dirty="0"/>
              <a:t>=4096</a:t>
            </a:r>
            <a:r>
              <a:rPr sz="2000" dirty="0"/>
              <a:t>种取值组合。</a:t>
            </a:r>
          </a:p>
          <a:p>
            <a:pPr lvl="2" algn="just" eaLnBrk="1" hangingPunct="1">
              <a:lnSpc>
                <a:spcPct val="140000"/>
              </a:lnSpc>
            </a:pPr>
            <a:r>
              <a:rPr sz="2000" dirty="0"/>
              <a:t>可根据判定条件之间的约束关系，剔除不可行的测试用例。</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24</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4819">
                                            <p:txEl>
                                              <p:pRg st="3" end="3"/>
                                            </p:txEl>
                                          </p:spTgt>
                                        </p:tgtEl>
                                        <p:attrNameLst>
                                          <p:attrName>style.visibility</p:attrName>
                                        </p:attrNameLst>
                                      </p:cBhvr>
                                      <p:to>
                                        <p:strVal val="visible"/>
                                      </p:to>
                                    </p:set>
                                    <p:animEffect transition="in" filter="wipe(left)">
                                      <p:cBhvr>
                                        <p:cTn id="7" dur="500"/>
                                        <p:tgtEl>
                                          <p:spTgt spid="34819">
                                            <p:txEl>
                                              <p:pRg st="3" end="3"/>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4819">
                                            <p:txEl>
                                              <p:pRg st="4" end="4"/>
                                            </p:txEl>
                                          </p:spTgt>
                                        </p:tgtEl>
                                        <p:attrNameLst>
                                          <p:attrName>style.visibility</p:attrName>
                                        </p:attrNameLst>
                                      </p:cBhvr>
                                      <p:to>
                                        <p:strVal val="visible"/>
                                      </p:to>
                                    </p:set>
                                    <p:animEffect transition="in" filter="wipe(left)">
                                      <p:cBhvr>
                                        <p:cTn id="10" dur="500"/>
                                        <p:tgtEl>
                                          <p:spTgt spid="34819">
                                            <p:txEl>
                                              <p:pRg st="4" end="4"/>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4819">
                                            <p:txEl>
                                              <p:pRg st="5" end="5"/>
                                            </p:txEl>
                                          </p:spTgt>
                                        </p:tgtEl>
                                        <p:attrNameLst>
                                          <p:attrName>style.visibility</p:attrName>
                                        </p:attrNameLst>
                                      </p:cBhvr>
                                      <p:to>
                                        <p:strVal val="visible"/>
                                      </p:to>
                                    </p:set>
                                    <p:animEffect transition="in" filter="wipe(left)">
                                      <p:cBhvr>
                                        <p:cTn id="13" dur="500"/>
                                        <p:tgtEl>
                                          <p:spTgt spid="348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p:cNvSpPr>
          <p:nvPr>
            <p:ph idx="1"/>
          </p:nvPr>
        </p:nvSpPr>
        <p:spPr>
          <a:xfrm>
            <a:off x="502285" y="1492885"/>
            <a:ext cx="8139430" cy="4175125"/>
          </a:xfrm>
        </p:spPr>
        <p:txBody>
          <a:bodyPr vert="horz" wrap="square" lIns="91440" tIns="45720" rIns="91440" bIns="45720" anchor="t" anchorCtr="0"/>
          <a:lstStyle/>
          <a:p>
            <a:pPr algn="just" eaLnBrk="1" hangingPunct="1">
              <a:lnSpc>
                <a:spcPct val="120000"/>
              </a:lnSpc>
              <a:buClrTx/>
              <a:buSzTx/>
            </a:pPr>
            <a:r>
              <a:rPr lang="zh-CN" altLang="en-US" sz="3400" b="1" dirty="0"/>
              <a:t>修正的判定</a:t>
            </a:r>
            <a:r>
              <a:rPr sz="3400" b="1" dirty="0"/>
              <a:t>/</a:t>
            </a:r>
            <a:r>
              <a:rPr lang="zh-CN" altLang="en-US" sz="3400" b="1" dirty="0"/>
              <a:t>条件覆盖</a:t>
            </a:r>
            <a:endParaRPr sz="3400" b="1" dirty="0"/>
          </a:p>
          <a:p>
            <a:pPr lvl="1" algn="just" eaLnBrk="1" hangingPunct="1">
              <a:lnSpc>
                <a:spcPct val="140000"/>
              </a:lnSpc>
            </a:pPr>
            <a:r>
              <a:rPr lang="zh-CN" altLang="en-US" sz="2400" b="1" dirty="0"/>
              <a:t>基本思想：</a:t>
            </a:r>
            <a:r>
              <a:rPr lang="zh-CN" altLang="en-US" sz="2400" dirty="0"/>
              <a:t>在满足判定</a:t>
            </a:r>
            <a:r>
              <a:rPr lang="en-US" altLang="en-US" sz="2400" dirty="0"/>
              <a:t>/</a:t>
            </a:r>
            <a:r>
              <a:rPr lang="zh-CN" altLang="en-US" sz="2400" dirty="0"/>
              <a:t>条件覆盖的基础上，每个简单判定条件都应独立地影响到整个判定表达式的取值。</a:t>
            </a:r>
            <a:endParaRPr lang="en-US" altLang="zh-CN" sz="2400" dirty="0"/>
          </a:p>
          <a:p>
            <a:pPr lvl="1" algn="just" eaLnBrk="1" hangingPunct="1">
              <a:lnSpc>
                <a:spcPct val="140000"/>
              </a:lnSpc>
            </a:pPr>
            <a:r>
              <a:rPr lang="zh-CN" altLang="en-US" sz="2400" dirty="0"/>
              <a:t>实质是利用</a:t>
            </a:r>
            <a:r>
              <a:rPr lang="zh-CN" altLang="en-US" sz="2400" b="1" dirty="0">
                <a:solidFill>
                  <a:srgbClr val="FF0000"/>
                </a:solidFill>
              </a:rPr>
              <a:t>简单判定条件的独立影响性</a:t>
            </a:r>
            <a:r>
              <a:rPr lang="zh-CN" altLang="en-US" sz="2400" dirty="0"/>
              <a:t>来消除测试用例的冗余。</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25</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p:cNvSpPr>
          <p:nvPr>
            <p:ph idx="1"/>
          </p:nvPr>
        </p:nvSpPr>
        <p:spPr/>
        <p:txBody>
          <a:bodyPr vert="horz" wrap="square" lIns="91440" tIns="45720" rIns="91440" bIns="45720" anchor="t" anchorCtr="0"/>
          <a:lstStyle/>
          <a:p>
            <a:pPr algn="just" eaLnBrk="1" hangingPunct="1"/>
            <a:r>
              <a:rPr sz="3400" b="1">
                <a:sym typeface="+mn-ea"/>
              </a:rPr>
              <a:t>修正的判定/条件覆盖</a:t>
            </a:r>
            <a:endParaRPr sz="3400" b="1" dirty="0"/>
          </a:p>
          <a:p>
            <a:pPr lvl="1" algn="just" eaLnBrk="1" hangingPunct="1">
              <a:lnSpc>
                <a:spcPct val="100000"/>
              </a:lnSpc>
            </a:pPr>
            <a:r>
              <a:rPr sz="2800" b="1" dirty="0"/>
              <a:t>对于表达式：</a:t>
            </a:r>
            <a:r>
              <a:rPr lang="en-US" altLang="zh-CN" sz="2800" b="1" dirty="0"/>
              <a:t>A</a:t>
            </a:r>
            <a:r>
              <a:rPr lang="zh-CN" altLang="en-US" sz="2800" b="1" dirty="0"/>
              <a:t> </a:t>
            </a:r>
            <a:r>
              <a:rPr lang="en-US" altLang="zh-CN" sz="2800" b="1" dirty="0"/>
              <a:t>AND B</a:t>
            </a:r>
          </a:p>
          <a:p>
            <a:pPr lvl="2" algn="just" eaLnBrk="1" hangingPunct="1">
              <a:lnSpc>
                <a:spcPct val="120000"/>
              </a:lnSpc>
            </a:pPr>
            <a:r>
              <a:rPr lang="zh-CN" altLang="en-US" sz="2000" dirty="0"/>
              <a:t>体现</a:t>
            </a:r>
            <a:r>
              <a:rPr lang="en-US" altLang="zh-CN" sz="2000" dirty="0"/>
              <a:t>A</a:t>
            </a:r>
            <a:r>
              <a:rPr lang="zh-CN" altLang="en-US" sz="2000" dirty="0"/>
              <a:t>对判定结果的独立影响性：</a:t>
            </a:r>
            <a:r>
              <a:rPr lang="en-US" altLang="zh-CN" sz="2000" dirty="0"/>
              <a:t>T1</a:t>
            </a:r>
            <a:r>
              <a:rPr lang="zh-CN" altLang="en-US" sz="2000" dirty="0"/>
              <a:t>，</a:t>
            </a:r>
            <a:r>
              <a:rPr lang="en-US" altLang="zh-CN" sz="2000" dirty="0"/>
              <a:t>T3</a:t>
            </a:r>
          </a:p>
          <a:p>
            <a:pPr lvl="2" algn="just" eaLnBrk="1" hangingPunct="1">
              <a:lnSpc>
                <a:spcPct val="120000"/>
              </a:lnSpc>
            </a:pPr>
            <a:r>
              <a:rPr lang="zh-CN" altLang="en-US" sz="2000" dirty="0"/>
              <a:t>体现</a:t>
            </a:r>
            <a:r>
              <a:rPr lang="en-US" altLang="zh-CN" sz="2000" dirty="0"/>
              <a:t>B</a:t>
            </a:r>
            <a:r>
              <a:rPr lang="zh-CN" altLang="en-US" sz="2000" dirty="0"/>
              <a:t>对判定结果的独立影响性：</a:t>
            </a:r>
            <a:r>
              <a:rPr lang="en-US" altLang="zh-CN" sz="2000" dirty="0"/>
              <a:t>T1</a:t>
            </a:r>
            <a:r>
              <a:rPr lang="zh-CN" altLang="en-US" sz="2000" dirty="0"/>
              <a:t>，</a:t>
            </a:r>
            <a:r>
              <a:rPr lang="en-US" altLang="zh-CN" sz="2000" dirty="0"/>
              <a:t>T2</a:t>
            </a:r>
          </a:p>
          <a:p>
            <a:pPr lvl="2" algn="just" eaLnBrk="1" hangingPunct="1">
              <a:lnSpc>
                <a:spcPct val="120000"/>
              </a:lnSpc>
            </a:pPr>
            <a:r>
              <a:rPr lang="zh-CN" altLang="en-US" sz="2000" dirty="0"/>
              <a:t>最终用例集合：</a:t>
            </a:r>
            <a:r>
              <a:rPr lang="en-US" altLang="zh-CN" sz="2000" dirty="0"/>
              <a:t>T1~T3</a:t>
            </a:r>
          </a:p>
        </p:txBody>
      </p:sp>
      <p:graphicFrame>
        <p:nvGraphicFramePr>
          <p:cNvPr id="6" name="Group 4"/>
          <p:cNvGraphicFramePr>
            <a:graphicFrameLocks noGrp="1"/>
          </p:cNvGraphicFramePr>
          <p:nvPr>
            <p:custDataLst>
              <p:tags r:id="rId1"/>
            </p:custDataLst>
          </p:nvPr>
        </p:nvGraphicFramePr>
        <p:xfrm>
          <a:off x="1143000" y="4244340"/>
          <a:ext cx="6985635" cy="1612900"/>
        </p:xfrm>
        <a:graphic>
          <a:graphicData uri="http://schemas.openxmlformats.org/drawingml/2006/table">
            <a:tbl>
              <a:tblPr/>
              <a:tblGrid>
                <a:gridCol w="1397635">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1396365">
                  <a:extLst>
                    <a:ext uri="{9D8B030D-6E8A-4147-A177-3AD203B41FA5}">
                      <a16:colId xmlns:a16="http://schemas.microsoft.com/office/drawing/2014/main" val="20002"/>
                    </a:ext>
                  </a:extLst>
                </a:gridCol>
                <a:gridCol w="1397635">
                  <a:extLst>
                    <a:ext uri="{9D8B030D-6E8A-4147-A177-3AD203B41FA5}">
                      <a16:colId xmlns:a16="http://schemas.microsoft.com/office/drawing/2014/main" val="20003"/>
                    </a:ext>
                  </a:extLst>
                </a:gridCol>
                <a:gridCol w="1397000">
                  <a:extLst>
                    <a:ext uri="{9D8B030D-6E8A-4147-A177-3AD203B41FA5}">
                      <a16:colId xmlns:a16="http://schemas.microsoft.com/office/drawing/2014/main" val="20004"/>
                    </a:ext>
                  </a:extLst>
                </a:gridCol>
              </a:tblGrid>
              <a:tr h="4032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endParaRPr kumimoji="1" lang="zh-CN" altLang="zh-CN" sz="2600" b="1"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bg1"/>
                          </a:solidFill>
                          <a:effectLst/>
                          <a:latin typeface="黑体" panose="02010609060101010101" pitchFamily="49" charset="-122"/>
                          <a:ea typeface="黑体" panose="02010609060101010101" pitchFamily="49" charset="-122"/>
                        </a:rPr>
                        <a:t>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bg1"/>
                          </a:solidFill>
                          <a:effectLst/>
                          <a:latin typeface="黑体" panose="02010609060101010101" pitchFamily="49" charset="-122"/>
                          <a:ea typeface="黑体" panose="02010609060101010101" pitchFamily="49" charset="-122"/>
                        </a:rPr>
                        <a:t>T2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bg1"/>
                          </a:solidFill>
                          <a:effectLst/>
                          <a:latin typeface="黑体" panose="02010609060101010101" pitchFamily="49" charset="-122"/>
                          <a:ea typeface="黑体" panose="02010609060101010101" pitchFamily="49" charset="-122"/>
                        </a:rPr>
                        <a:t>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bg1"/>
                          </a:solidFill>
                          <a:effectLst/>
                          <a:latin typeface="黑体" panose="02010609060101010101" pitchFamily="49" charset="-122"/>
                          <a:ea typeface="黑体" panose="02010609060101010101" pitchFamily="49" charset="-122"/>
                        </a:rPr>
                        <a:t>T4</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4032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F</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F</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32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B</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F</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F</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2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 and B</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F</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F</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F</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26</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2"/>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3"/>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
        <p:nvSpPr>
          <p:cNvPr id="7" name="椭圆 6"/>
          <p:cNvSpPr/>
          <p:nvPr>
            <p:custDataLst>
              <p:tags r:id="rId4"/>
            </p:custDataLst>
          </p:nvPr>
        </p:nvSpPr>
        <p:spPr>
          <a:xfrm>
            <a:off x="6948170" y="4149090"/>
            <a:ext cx="923290" cy="1808480"/>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gn="just">
              <a:buClrTx/>
              <a:buSzTx/>
            </a:pPr>
            <a:r>
              <a:rPr sz="3400" b="1">
                <a:sym typeface="+mn-ea"/>
              </a:rPr>
              <a:t>修正的判定/条件覆盖</a:t>
            </a:r>
            <a:endParaRPr sz="3400" b="1" dirty="0"/>
          </a:p>
          <a:p>
            <a:pPr lvl="1" algn="just">
              <a:buClrTx/>
              <a:buSzTx/>
            </a:pPr>
            <a:r>
              <a:rPr lang="zh-CN" altLang="en-US" sz="2800" b="1"/>
              <a:t>设计测试用例的步骤</a:t>
            </a:r>
          </a:p>
          <a:p>
            <a:pPr marL="1143000" lvl="2" indent="-457200">
              <a:buAutoNum type="arabicPeriod"/>
            </a:pPr>
            <a:r>
              <a:rPr lang="zh-CN" altLang="en-US" sz="2400"/>
              <a:t>列出所有的简单判定条件，构成真值表；</a:t>
            </a:r>
          </a:p>
          <a:p>
            <a:pPr marL="1143000" lvl="2" indent="-457200">
              <a:buAutoNum type="arabicPeriod"/>
            </a:pPr>
            <a:r>
              <a:rPr lang="zh-CN" altLang="en-US" sz="2400"/>
              <a:t>对每个简单判定条件，依次固定其它简单判定条件，找到能够对整个判定结果产生独立影响的多组测试用例（独立影响对）；</a:t>
            </a:r>
          </a:p>
          <a:p>
            <a:pPr marL="1143000" lvl="2" indent="-457200">
              <a:buAutoNum type="arabicPeriod"/>
            </a:pPr>
            <a:r>
              <a:rPr lang="zh-CN" altLang="en-US" sz="2400"/>
              <a:t>抽取</a:t>
            </a:r>
            <a:r>
              <a:rPr lang="zh-CN" altLang="en-US" sz="2400" b="1">
                <a:solidFill>
                  <a:srgbClr val="FF0000"/>
                </a:solidFill>
              </a:rPr>
              <a:t>最少独立影响对</a:t>
            </a:r>
            <a:r>
              <a:rPr lang="zh-CN" altLang="en-US" sz="2400"/>
              <a:t>，即为测试用例集。</a:t>
            </a:r>
          </a:p>
        </p:txBody>
      </p:sp>
      <p:sp>
        <p:nvSpPr>
          <p:cNvPr id="4" name="日期占位符 3"/>
          <p:cNvSpPr>
            <a:spLocks noGrp="1"/>
          </p:cNvSpPr>
          <p:nvPr>
            <p:ph type="dt" sz="half" idx="10"/>
          </p:nvPr>
        </p:nvSpPr>
        <p:spPr/>
        <p:txBody>
          <a:bodyPr/>
          <a:lstStyle/>
          <a:p>
            <a:fld id="{760FBDFE-C587-4B4C-A407-44438C67B59E}" type="datetime1">
              <a:rPr lang="zh-CN" altLang="en-US" smtClean="0"/>
              <a:t>2024/4/9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27</a:t>
            </a:fld>
            <a:endParaRPr lang="zh-CN" altLang="en-US"/>
          </a:p>
        </p:txBody>
      </p:sp>
      <p:sp>
        <p:nvSpPr>
          <p:cNvPr id="17410" name="Rectangle 2"/>
          <p:cNvSpPr>
            <a:spLocks noGrp="1"/>
          </p:cNvSpPr>
          <p:nvPr>
            <p:ph type="title"/>
            <p:custDataLst>
              <p:tags r:id="rId1"/>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gn="just">
              <a:buClrTx/>
              <a:buSzTx/>
            </a:pPr>
            <a:r>
              <a:rPr sz="3400" b="1">
                <a:sym typeface="+mn-ea"/>
              </a:rPr>
              <a:t>修正的判定/条件覆盖</a:t>
            </a:r>
            <a:endParaRPr sz="3400" b="1"/>
          </a:p>
          <a:p>
            <a:pPr lvl="1"/>
            <a:r>
              <a:rPr lang="zh-CN" altLang="en-US" sz="2800" b="1"/>
              <a:t>测试分析</a:t>
            </a:r>
          </a:p>
          <a:p>
            <a:pPr lvl="2"/>
            <a:r>
              <a:rPr lang="zh-CN" altLang="en-US" sz="2240"/>
              <a:t>继承了条件组合覆盖的优点，可以有效控制测试用例的数量；</a:t>
            </a:r>
          </a:p>
          <a:p>
            <a:pPr lvl="2"/>
            <a:r>
              <a:rPr lang="zh-CN" altLang="en-US" sz="2240"/>
              <a:t>局限性：无法处理存在耦合的判定表达式；</a:t>
            </a:r>
          </a:p>
          <a:p>
            <a:pPr lvl="2"/>
            <a:r>
              <a:rPr lang="zh-CN" altLang="en-US" sz="2240"/>
              <a:t>可采用分解法设计测试用例。</a:t>
            </a:r>
          </a:p>
        </p:txBody>
      </p:sp>
      <p:sp>
        <p:nvSpPr>
          <p:cNvPr id="4" name="日期占位符 3"/>
          <p:cNvSpPr>
            <a:spLocks noGrp="1"/>
          </p:cNvSpPr>
          <p:nvPr>
            <p:ph type="dt" sz="half" idx="10"/>
          </p:nvPr>
        </p:nvSpPr>
        <p:spPr/>
        <p:txBody>
          <a:bodyPr/>
          <a:lstStyle/>
          <a:p>
            <a:fld id="{760FBDFE-C587-4B4C-A407-44438C67B59E}" type="datetime1">
              <a:rPr lang="zh-CN" altLang="en-US" smtClean="0"/>
              <a:t>2024/4/9</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28</a:t>
            </a:fld>
            <a:endParaRPr lang="zh-CN" altLang="en-US"/>
          </a:p>
        </p:txBody>
      </p:sp>
      <p:sp>
        <p:nvSpPr>
          <p:cNvPr id="17410" name="Rectangle 2"/>
          <p:cNvSpPr>
            <a:spLocks noGrp="1"/>
          </p:cNvSpPr>
          <p:nvPr>
            <p:ph type="title"/>
            <p:custDataLst>
              <p:tags r:id="rId1"/>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p:cNvSpPr>
          <p:nvPr>
            <p:ph idx="1"/>
          </p:nvPr>
        </p:nvSpPr>
        <p:spPr>
          <a:xfrm>
            <a:off x="502285" y="1399540"/>
            <a:ext cx="8139430" cy="4926330"/>
          </a:xfrm>
        </p:spPr>
        <p:txBody>
          <a:bodyPr vert="horz" wrap="square" lIns="91440" tIns="45720" rIns="91440" bIns="45720" anchor="t" anchorCtr="0">
            <a:normAutofit/>
          </a:bodyPr>
          <a:lstStyle/>
          <a:p>
            <a:pPr algn="just" eaLnBrk="1" hangingPunct="1">
              <a:lnSpc>
                <a:spcPct val="150000"/>
              </a:lnSpc>
            </a:pPr>
            <a:r>
              <a:rPr lang="zh-CN" altLang="en-US" sz="3400" b="1" dirty="0"/>
              <a:t>测试用例优化</a:t>
            </a:r>
            <a:endParaRPr lang="en-US" altLang="zh-CN" sz="3400" b="1" dirty="0"/>
          </a:p>
          <a:p>
            <a:pPr lvl="1" algn="just" eaLnBrk="1" hangingPunct="1">
              <a:lnSpc>
                <a:spcPct val="150000"/>
              </a:lnSpc>
            </a:pPr>
            <a:r>
              <a:rPr lang="zh-CN" altLang="en-US" sz="2400" b="1" dirty="0">
                <a:solidFill>
                  <a:srgbClr val="FF0000"/>
                </a:solidFill>
              </a:rPr>
              <a:t>尽量选择边界测试数据：</a:t>
            </a:r>
          </a:p>
          <a:p>
            <a:pPr lvl="2" algn="just" eaLnBrk="1" hangingPunct="1">
              <a:lnSpc>
                <a:spcPct val="150000"/>
              </a:lnSpc>
            </a:pPr>
            <a:r>
              <a:rPr lang="zh-CN" altLang="en-US" sz="2000" dirty="0"/>
              <a:t>例如：条件</a:t>
            </a:r>
            <a:r>
              <a:rPr lang="en-US" altLang="zh-CN" sz="2000" dirty="0"/>
              <a:t>a&gt;1</a:t>
            </a:r>
            <a:r>
              <a:rPr lang="zh-CN" altLang="en-US" sz="2000" dirty="0"/>
              <a:t>，可选择</a:t>
            </a:r>
            <a:r>
              <a:rPr lang="en-US" altLang="zh-CN" sz="2000" dirty="0"/>
              <a:t>a=1</a:t>
            </a:r>
            <a:r>
              <a:rPr lang="zh-CN" altLang="en-US" sz="2000" dirty="0"/>
              <a:t>测试；</a:t>
            </a:r>
            <a:endParaRPr lang="en-US" altLang="zh-CN" sz="1400" dirty="0"/>
          </a:p>
          <a:p>
            <a:pPr lvl="1" algn="just" eaLnBrk="1" hangingPunct="1">
              <a:lnSpc>
                <a:spcPct val="150000"/>
              </a:lnSpc>
            </a:pPr>
            <a:r>
              <a:rPr lang="zh-CN" altLang="en-US" sz="2400" b="1" dirty="0">
                <a:solidFill>
                  <a:srgbClr val="FF0000"/>
                </a:solidFill>
              </a:rPr>
              <a:t>应避免“与”、“或”关系的屏蔽现象：</a:t>
            </a:r>
          </a:p>
          <a:p>
            <a:pPr lvl="2" algn="just" eaLnBrk="1" hangingPunct="1">
              <a:lnSpc>
                <a:spcPct val="150000"/>
              </a:lnSpc>
            </a:pPr>
            <a:r>
              <a:rPr lang="zh-CN" altLang="en-US" sz="2000" dirty="0"/>
              <a:t>例如：判定</a:t>
            </a:r>
            <a:r>
              <a:rPr lang="en-US" altLang="zh-CN" sz="2000" dirty="0"/>
              <a:t>(a&gt;1) and (b&lt;2)</a:t>
            </a:r>
            <a:r>
              <a:rPr sz="2000" dirty="0"/>
              <a:t>结果为假时</a:t>
            </a:r>
            <a:r>
              <a:rPr lang="zh-CN" altLang="en-US" sz="2000" dirty="0"/>
              <a:t>，</a:t>
            </a:r>
            <a:r>
              <a:rPr lang="en-US" altLang="zh-CN" sz="2000" dirty="0"/>
              <a:t>a&gt;1</a:t>
            </a:r>
            <a:r>
              <a:rPr lang="zh-CN" altLang="en-US" sz="2000" dirty="0"/>
              <a:t>的取值对</a:t>
            </a:r>
            <a:r>
              <a:rPr lang="en-US" altLang="zh-CN" sz="2000" dirty="0"/>
              <a:t>b&lt;2</a:t>
            </a:r>
            <a:r>
              <a:rPr lang="zh-CN" altLang="en-US" sz="2000" dirty="0"/>
              <a:t>产生了一种屏蔽效应，无论</a:t>
            </a:r>
            <a:r>
              <a:rPr lang="en-US" altLang="zh-CN" sz="2000" dirty="0"/>
              <a:t>b&lt;2</a:t>
            </a:r>
            <a:r>
              <a:rPr lang="zh-CN" altLang="en-US" sz="2000" dirty="0"/>
              <a:t>条件的取值是否正确，都不会对</a:t>
            </a:r>
            <a:r>
              <a:rPr lang="en-US" altLang="zh-CN" sz="2000" dirty="0">
                <a:sym typeface="+mn-ea"/>
              </a:rPr>
              <a:t>(a&gt;1) and (b&lt;2)</a:t>
            </a:r>
            <a:r>
              <a:rPr lang="zh-CN" altLang="en-US" sz="2000" dirty="0">
                <a:sym typeface="+mn-ea"/>
              </a:rPr>
              <a:t>的输出结果造成影响，可选择</a:t>
            </a:r>
            <a:r>
              <a:rPr lang="en-US" altLang="zh-CN" sz="2000" dirty="0">
                <a:sym typeface="+mn-ea"/>
              </a:rPr>
              <a:t>a=2</a:t>
            </a:r>
            <a:r>
              <a:rPr lang="zh-CN" altLang="en-US" sz="2000" dirty="0">
                <a:sym typeface="+mn-ea"/>
              </a:rPr>
              <a:t>，</a:t>
            </a:r>
            <a:r>
              <a:rPr lang="en-US" altLang="zh-CN" sz="2000" dirty="0">
                <a:sym typeface="+mn-ea"/>
              </a:rPr>
              <a:t>b=2</a:t>
            </a:r>
            <a:r>
              <a:rPr lang="zh-CN" altLang="en-US" sz="2000" dirty="0">
                <a:sym typeface="+mn-ea"/>
              </a:rPr>
              <a:t>。</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29</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p:cNvSpPr>
          <p:nvPr>
            <p:ph idx="1"/>
          </p:nvPr>
        </p:nvSpPr>
        <p:spPr>
          <a:xfrm>
            <a:off x="502285" y="1358265"/>
            <a:ext cx="8139430" cy="4309745"/>
          </a:xfrm>
        </p:spPr>
        <p:txBody>
          <a:bodyPr vert="horz" wrap="square" lIns="91440" tIns="45720" rIns="91440" bIns="45720" anchor="t" anchorCtr="0"/>
          <a:lstStyle/>
          <a:p>
            <a:pPr algn="just" eaLnBrk="1" hangingPunct="1">
              <a:lnSpc>
                <a:spcPct val="150000"/>
              </a:lnSpc>
              <a:buClrTx/>
              <a:buSzTx/>
            </a:pPr>
            <a:r>
              <a:rPr lang="zh-CN" altLang="en-US" sz="3400" b="1" dirty="0"/>
              <a:t>捉虫实践</a:t>
            </a:r>
            <a:r>
              <a:rPr sz="3400" b="1" dirty="0"/>
              <a:t>3</a:t>
            </a:r>
            <a:r>
              <a:rPr lang="zh-CN" altLang="en-US" sz="3400" b="1" dirty="0"/>
              <a:t>：第二日问题</a:t>
            </a:r>
          </a:p>
          <a:p>
            <a:pPr marL="628650" lvl="2" algn="just" defTabSz="914400" eaLnBrk="1" hangingPunct="1">
              <a:lnSpc>
                <a:spcPct val="150000"/>
              </a:lnSpc>
              <a:buClrTx/>
              <a:buSzTx/>
            </a:pPr>
            <a:r>
              <a:rPr lang="zh-CN" altLang="en-US" sz="2400" dirty="0"/>
              <a:t>代码说明</a:t>
            </a:r>
            <a:endParaRPr sz="2400" dirty="0"/>
          </a:p>
          <a:p>
            <a:pPr marL="628650" lvl="2" algn="just" defTabSz="914400" eaLnBrk="1" hangingPunct="1">
              <a:lnSpc>
                <a:spcPct val="150000"/>
              </a:lnSpc>
              <a:buClrTx/>
              <a:buSzTx/>
            </a:pPr>
            <a:r>
              <a:rPr lang="zh-CN" altLang="en-US" sz="2400" dirty="0"/>
              <a:t>开始测试</a:t>
            </a:r>
            <a:endParaRPr sz="2400" dirty="0"/>
          </a:p>
          <a:p>
            <a:pPr marL="628650" lvl="2" algn="just" defTabSz="914400" eaLnBrk="1" hangingPunct="1">
              <a:lnSpc>
                <a:spcPct val="150000"/>
              </a:lnSpc>
              <a:buClrTx/>
              <a:buSzTx/>
            </a:pPr>
            <a:r>
              <a:rPr lang="zh-CN" altLang="en-US" sz="2400" dirty="0"/>
              <a:t>测试分析</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30</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idx="1"/>
          </p:nvPr>
        </p:nvSpPr>
        <p:spPr>
          <a:xfrm>
            <a:off x="567055" y="1556385"/>
            <a:ext cx="8149590" cy="4581525"/>
          </a:xfrm>
        </p:spPr>
        <p:txBody>
          <a:bodyPr vert="horz" wrap="square" lIns="91440" tIns="45720" rIns="91440" bIns="45720" numCol="1" anchor="t" anchorCtr="0" compatLnSpc="1">
            <a:normAutofit fontScale="87500" lnSpcReduction="10000"/>
          </a:bodyPr>
          <a:lstStyle/>
          <a:p>
            <a:pPr marR="0" lvl="0" algn="just" defTabSz="914400" rtl="0" eaLnBrk="1" latinLnBrk="0" hangingPunct="1">
              <a:lnSpc>
                <a:spcPct val="150000"/>
              </a:lnSpc>
              <a:spcBef>
                <a:spcPts val="0"/>
              </a:spcBef>
              <a:spcAft>
                <a:spcPts val="1000"/>
              </a:spcAft>
              <a:buClrTx/>
              <a:buSzTx/>
              <a:buChar char="•"/>
            </a:pPr>
            <a:r>
              <a:rPr kumimoji="0" lang="zh-CN" altLang="en-US" sz="4000" b="1" i="0" u="none" strike="noStrike" cap="none" normalizeH="0" baseline="0" dirty="0">
                <a:uFillTx/>
                <a:cs typeface="+mn-cs"/>
              </a:rPr>
              <a:t>代码说明</a:t>
            </a:r>
            <a:endParaRPr kumimoji="0" sz="4000" b="1" i="0" u="none" strike="noStrike" cap="none" normalizeH="0" baseline="0" dirty="0">
              <a:uFillTx/>
              <a:cs typeface="+mn-cs"/>
            </a:endParaRPr>
          </a:p>
          <a:p>
            <a:pPr marR="0" lvl="1" algn="just" defTabSz="914400" rtl="0" eaLnBrk="1" latinLnBrk="0" hangingPunct="1">
              <a:lnSpc>
                <a:spcPct val="120000"/>
              </a:lnSpc>
              <a:spcBef>
                <a:spcPts val="0"/>
              </a:spcBef>
              <a:spcAft>
                <a:spcPts val="1000"/>
              </a:spcAft>
              <a:buClrTx/>
              <a:buSzTx/>
              <a:buChar char="•"/>
            </a:pPr>
            <a:r>
              <a:rPr kumimoji="0" lang="zh-CN" altLang="en-US" sz="3000" b="1" i="0" u="none" strike="noStrike" cap="none" normalizeH="0" baseline="0" dirty="0">
                <a:uFillTx/>
                <a:cs typeface="+mn-cs"/>
              </a:rPr>
              <a:t>共包含</a:t>
            </a:r>
            <a:r>
              <a:rPr kumimoji="0" altLang="en-US" sz="3000" b="1" i="0" u="none" strike="noStrike" cap="none" normalizeH="0" baseline="0" dirty="0">
                <a:uFillTx/>
                <a:cs typeface="+mn-cs"/>
              </a:rPr>
              <a:t>5</a:t>
            </a:r>
            <a:r>
              <a:rPr kumimoji="0" lang="zh-CN" altLang="en-US" sz="3000" b="1" i="0" u="none" strike="noStrike" cap="none" normalizeH="0" baseline="0" dirty="0">
                <a:uFillTx/>
                <a:cs typeface="+mn-cs"/>
              </a:rPr>
              <a:t>个判定节点，含</a:t>
            </a:r>
            <a:r>
              <a:rPr kumimoji="0" altLang="en-US" sz="3000" b="1" i="0" u="none" strike="noStrike" cap="none" normalizeH="0" baseline="0" dirty="0">
                <a:uFillTx/>
                <a:cs typeface="+mn-cs"/>
              </a:rPr>
              <a:t>13</a:t>
            </a:r>
            <a:r>
              <a:rPr kumimoji="0" lang="zh-CN" altLang="en-US" sz="3000" b="1" i="0" u="none" strike="noStrike" cap="none" normalizeH="0" baseline="0" dirty="0">
                <a:uFillTx/>
                <a:cs typeface="+mn-cs"/>
              </a:rPr>
              <a:t>个简单逻辑判定条件</a:t>
            </a:r>
            <a:endParaRPr kumimoji="0" sz="3000" b="1" i="0" u="none" strike="noStrike" cap="none" normalizeH="0" baseline="0" dirty="0">
              <a:uFillTx/>
              <a:cs typeface="+mn-cs"/>
            </a:endParaRPr>
          </a:p>
          <a:p>
            <a:pPr marL="628650" marR="0" lvl="2" algn="just" defTabSz="914400" rtl="0" eaLnBrk="1" latinLnBrk="0" hangingPunct="1">
              <a:lnSpc>
                <a:spcPct val="120000"/>
              </a:lnSpc>
              <a:spcBef>
                <a:spcPts val="0"/>
              </a:spcBef>
              <a:spcAft>
                <a:spcPts val="1000"/>
              </a:spcAft>
              <a:buClrTx/>
              <a:buSzTx/>
              <a:buChar char="•"/>
            </a:pPr>
            <a:r>
              <a:rPr kumimoji="0" altLang="en-US" sz="2500" i="0" u="none" strike="noStrike" cap="none" normalizeH="0" baseline="0" dirty="0">
                <a:uFillTx/>
              </a:rPr>
              <a:t>T1</a:t>
            </a:r>
            <a:r>
              <a:rPr kumimoji="0" lang="zh-CN" altLang="en-US" sz="2500" i="0" u="none" strike="noStrike" cap="none" normalizeH="0" baseline="0" dirty="0">
                <a:uFillTx/>
              </a:rPr>
              <a:t>：</a:t>
            </a:r>
            <a:r>
              <a:rPr kumimoji="0" altLang="en-US" sz="2500" i="0" u="none" strike="noStrike" cap="none" normalizeH="0" baseline="0">
                <a:uFillTx/>
              </a:rPr>
              <a:t>date.m_month</a:t>
            </a:r>
            <a:r>
              <a:rPr kumimoji="0" altLang="en-US" sz="2500" i="0" u="none" strike="noStrike" cap="none" normalizeH="0" baseline="0" dirty="0">
                <a:uFillTx/>
              </a:rPr>
              <a:t> % 2 == 1</a:t>
            </a:r>
            <a:endParaRPr kumimoji="0" lang="zh-CN" altLang="en-US" sz="2500" i="0" u="none" strike="noStrike" cap="none" normalizeH="0" baseline="0" dirty="0">
              <a:uFillTx/>
            </a:endParaRPr>
          </a:p>
          <a:p>
            <a:pPr marL="628650" marR="0" lvl="2" algn="just" defTabSz="914400" rtl="0" eaLnBrk="1" latinLnBrk="0" hangingPunct="1">
              <a:lnSpc>
                <a:spcPct val="120000"/>
              </a:lnSpc>
              <a:spcBef>
                <a:spcPts val="0"/>
              </a:spcBef>
              <a:spcAft>
                <a:spcPts val="1000"/>
              </a:spcAft>
              <a:buClrTx/>
              <a:buSzTx/>
              <a:buChar char="•"/>
            </a:pPr>
            <a:r>
              <a:rPr kumimoji="0" altLang="en-US" sz="2500" i="0" u="none" strike="noStrike" cap="none" normalizeH="0" baseline="0" dirty="0">
                <a:uFillTx/>
              </a:rPr>
              <a:t>T2</a:t>
            </a:r>
            <a:r>
              <a:rPr kumimoji="0" lang="zh-CN" altLang="en-US" sz="2500" i="0" u="none" strike="noStrike" cap="none" normalizeH="0" baseline="0" dirty="0">
                <a:uFillTx/>
              </a:rPr>
              <a:t>：</a:t>
            </a:r>
            <a:r>
              <a:rPr kumimoji="0" altLang="en-US" sz="2500" i="0" u="none" strike="noStrike" cap="none" normalizeH="0" baseline="0">
                <a:uFillTx/>
              </a:rPr>
              <a:t>date.m_month</a:t>
            </a:r>
            <a:r>
              <a:rPr kumimoji="0" altLang="en-US" sz="2500" i="0" u="none" strike="noStrike" cap="none" normalizeH="0" baseline="0" dirty="0">
                <a:uFillTx/>
              </a:rPr>
              <a:t> &lt; 8</a:t>
            </a:r>
            <a:endParaRPr kumimoji="0" lang="zh-CN" altLang="en-US" sz="2500" i="0" u="none" strike="noStrike" cap="none" normalizeH="0" baseline="0" dirty="0">
              <a:uFillTx/>
            </a:endParaRPr>
          </a:p>
          <a:p>
            <a:pPr marL="628650" marR="0" lvl="2" algn="just" defTabSz="914400" rtl="0" eaLnBrk="1" latinLnBrk="0" hangingPunct="1">
              <a:lnSpc>
                <a:spcPct val="120000"/>
              </a:lnSpc>
              <a:spcBef>
                <a:spcPts val="0"/>
              </a:spcBef>
              <a:spcAft>
                <a:spcPts val="1000"/>
              </a:spcAft>
              <a:buClrTx/>
              <a:buSzTx/>
              <a:buChar char="•"/>
            </a:pPr>
            <a:r>
              <a:rPr kumimoji="0" altLang="en-US" sz="2500" i="0" u="none" strike="noStrike" cap="none" normalizeH="0" baseline="0" dirty="0">
                <a:uFillTx/>
              </a:rPr>
              <a:t>T3</a:t>
            </a:r>
            <a:r>
              <a:rPr kumimoji="0" lang="zh-CN" altLang="en-US" sz="2500" i="0" u="none" strike="noStrike" cap="none" normalizeH="0" baseline="0" dirty="0">
                <a:uFillTx/>
              </a:rPr>
              <a:t>：</a:t>
            </a:r>
            <a:r>
              <a:rPr kumimoji="0" altLang="en-US" sz="2500" i="0" u="none" strike="noStrike" cap="none" normalizeH="0" baseline="0">
                <a:uFillTx/>
              </a:rPr>
              <a:t>date.m_month</a:t>
            </a:r>
            <a:r>
              <a:rPr kumimoji="0" altLang="en-US" sz="2500" i="0" u="none" strike="noStrike" cap="none" normalizeH="0" baseline="0" dirty="0">
                <a:uFillTx/>
              </a:rPr>
              <a:t> % 2 == 0</a:t>
            </a:r>
            <a:endParaRPr kumimoji="0" lang="zh-CN" altLang="en-US" sz="2500" i="0" u="none" strike="noStrike" cap="none" normalizeH="0" baseline="0" dirty="0">
              <a:uFillTx/>
            </a:endParaRPr>
          </a:p>
          <a:p>
            <a:pPr marL="628650" marR="0" lvl="2" algn="just" defTabSz="914400" rtl="0" eaLnBrk="1" latinLnBrk="0" hangingPunct="1">
              <a:lnSpc>
                <a:spcPct val="120000"/>
              </a:lnSpc>
              <a:spcBef>
                <a:spcPts val="0"/>
              </a:spcBef>
              <a:spcAft>
                <a:spcPts val="1000"/>
              </a:spcAft>
              <a:buClrTx/>
              <a:buSzTx/>
              <a:buChar char="•"/>
            </a:pPr>
            <a:r>
              <a:rPr kumimoji="0" altLang="en-US" sz="2500" i="0" u="none" strike="noStrike" cap="none" normalizeH="0" baseline="0" dirty="0">
                <a:uFillTx/>
              </a:rPr>
              <a:t>T4</a:t>
            </a:r>
            <a:r>
              <a:rPr kumimoji="0" lang="zh-CN" altLang="en-US" sz="2500" i="0" u="none" strike="noStrike" cap="none" normalizeH="0" baseline="0" dirty="0">
                <a:uFillTx/>
              </a:rPr>
              <a:t>：</a:t>
            </a:r>
            <a:r>
              <a:rPr kumimoji="0" altLang="en-US" sz="2500" i="0" u="none" strike="noStrike" cap="none" normalizeH="0" baseline="0">
                <a:uFillTx/>
              </a:rPr>
              <a:t>date.m_month</a:t>
            </a:r>
            <a:r>
              <a:rPr kumimoji="0" altLang="en-US" sz="2500" i="0" u="none" strike="noStrike" cap="none" normalizeH="0" baseline="0" dirty="0">
                <a:uFillTx/>
              </a:rPr>
              <a:t> &gt;= 8</a:t>
            </a:r>
            <a:endParaRPr kumimoji="0" lang="zh-CN" altLang="en-US" sz="2500" i="0" u="none" strike="noStrike" cap="none" normalizeH="0" baseline="0" dirty="0">
              <a:uFillTx/>
            </a:endParaRPr>
          </a:p>
          <a:p>
            <a:pPr marL="628650" marR="0" lvl="2" algn="just" defTabSz="914400" rtl="0" eaLnBrk="1" latinLnBrk="0" hangingPunct="1">
              <a:lnSpc>
                <a:spcPct val="120000"/>
              </a:lnSpc>
              <a:spcBef>
                <a:spcPts val="0"/>
              </a:spcBef>
              <a:spcAft>
                <a:spcPts val="1000"/>
              </a:spcAft>
              <a:buClrTx/>
              <a:buSzTx/>
              <a:buChar char="•"/>
            </a:pPr>
            <a:r>
              <a:rPr kumimoji="0" altLang="en-US" sz="2500" i="0" u="none" strike="noStrike" cap="none" normalizeH="0" baseline="0" dirty="0">
                <a:uFillTx/>
              </a:rPr>
              <a:t>T5</a:t>
            </a:r>
            <a:r>
              <a:rPr kumimoji="0" lang="zh-CN" altLang="en-US" sz="2500" i="0" u="none" strike="noStrike" cap="none" normalizeH="0" baseline="0" dirty="0">
                <a:uFillTx/>
              </a:rPr>
              <a:t>：</a:t>
            </a:r>
            <a:r>
              <a:rPr kumimoji="0" altLang="en-US" sz="2500" i="0" u="none" strike="noStrike" cap="none" normalizeH="0" baseline="0">
                <a:uFillTx/>
              </a:rPr>
              <a:t>date.m_month</a:t>
            </a:r>
            <a:r>
              <a:rPr kumimoji="0" altLang="en-US" sz="2500" i="0" u="none" strike="noStrike" cap="none" normalizeH="0" baseline="0" dirty="0">
                <a:uFillTx/>
              </a:rPr>
              <a:t> == 4 </a:t>
            </a:r>
            <a:endParaRPr kumimoji="0" lang="zh-CN" altLang="en-US" sz="2500" i="0" u="none" strike="noStrike" cap="none" normalizeH="0" baseline="0" dirty="0">
              <a:uFillTx/>
            </a:endParaRPr>
          </a:p>
          <a:p>
            <a:pPr marL="628650" marR="0" lvl="2" algn="just" defTabSz="914400" rtl="0" eaLnBrk="1" latinLnBrk="0" hangingPunct="1">
              <a:lnSpc>
                <a:spcPct val="120000"/>
              </a:lnSpc>
              <a:spcBef>
                <a:spcPts val="0"/>
              </a:spcBef>
              <a:spcAft>
                <a:spcPts val="1000"/>
              </a:spcAft>
              <a:buClrTx/>
              <a:buSzTx/>
              <a:buChar char="•"/>
            </a:pPr>
            <a:r>
              <a:rPr kumimoji="0" altLang="en-US" sz="2500" i="0" u="none" strike="noStrike" cap="none" normalizeH="0" baseline="0" dirty="0">
                <a:uFillTx/>
              </a:rPr>
              <a:t>T6</a:t>
            </a:r>
            <a:r>
              <a:rPr kumimoji="0" lang="zh-CN" altLang="en-US" sz="2500" i="0" u="none" strike="noStrike" cap="none" normalizeH="0" baseline="0" dirty="0">
                <a:uFillTx/>
              </a:rPr>
              <a:t>：</a:t>
            </a:r>
            <a:r>
              <a:rPr kumimoji="0" altLang="en-US" sz="2500" i="0" u="none" strike="noStrike" cap="none" normalizeH="0" baseline="0">
                <a:uFillTx/>
              </a:rPr>
              <a:t>date.m_month</a:t>
            </a:r>
            <a:r>
              <a:rPr kumimoji="0" altLang="en-US" sz="2500" i="0" u="none" strike="noStrike" cap="none" normalizeH="0" baseline="0" dirty="0">
                <a:uFillTx/>
              </a:rPr>
              <a:t> == 6</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31</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p:cNvSpPr>
          <p:nvPr>
            <p:ph idx="1"/>
          </p:nvPr>
        </p:nvSpPr>
        <p:spPr>
          <a:xfrm>
            <a:off x="502285" y="1430655"/>
            <a:ext cx="8139430" cy="4692650"/>
          </a:xfrm>
        </p:spPr>
        <p:txBody>
          <a:bodyPr vert="horz" wrap="square" lIns="91440" tIns="45720" rIns="91440" bIns="45720" anchor="t" anchorCtr="0">
            <a:normAutofit fontScale="87500" lnSpcReduction="10000"/>
          </a:bodyPr>
          <a:lstStyle/>
          <a:p>
            <a:pPr algn="just" eaLnBrk="1" hangingPunct="1">
              <a:lnSpc>
                <a:spcPct val="140000"/>
              </a:lnSpc>
              <a:buClrTx/>
              <a:buSzTx/>
            </a:pPr>
            <a:r>
              <a:rPr lang="zh-CN" altLang="en-US" sz="4000" b="1" dirty="0"/>
              <a:t>代码说明（续）</a:t>
            </a:r>
            <a:endParaRPr sz="4000" b="1" dirty="0"/>
          </a:p>
          <a:p>
            <a:pPr marL="628650" lvl="2" algn="just" eaLnBrk="1" hangingPunct="1">
              <a:lnSpc>
                <a:spcPct val="140000"/>
              </a:lnSpc>
              <a:buClrTx/>
              <a:buSzTx/>
            </a:pPr>
            <a:r>
              <a:rPr altLang="en-US" sz="2500" dirty="0"/>
              <a:t>T7</a:t>
            </a:r>
            <a:r>
              <a:rPr lang="zh-CN" altLang="en-US" sz="2500" dirty="0"/>
              <a:t>：</a:t>
            </a:r>
            <a:r>
              <a:rPr altLang="en-US" sz="2500" dirty="0"/>
              <a:t>date.m_month == 9</a:t>
            </a:r>
            <a:endParaRPr lang="zh-CN" altLang="en-US" sz="2500" dirty="0"/>
          </a:p>
          <a:p>
            <a:pPr marL="628650" lvl="2" algn="just" eaLnBrk="1" hangingPunct="1">
              <a:lnSpc>
                <a:spcPct val="140000"/>
              </a:lnSpc>
              <a:buClrTx/>
              <a:buSzTx/>
            </a:pPr>
            <a:r>
              <a:rPr altLang="en-US" sz="2500" dirty="0"/>
              <a:t>T8</a:t>
            </a:r>
            <a:r>
              <a:rPr lang="zh-CN" altLang="en-US" sz="2500" dirty="0"/>
              <a:t>：</a:t>
            </a:r>
            <a:r>
              <a:rPr altLang="en-US" sz="2500" dirty="0"/>
              <a:t>date.m_month == 11</a:t>
            </a:r>
            <a:endParaRPr lang="zh-CN" altLang="en-US" sz="2500" dirty="0"/>
          </a:p>
          <a:p>
            <a:pPr marL="628650" lvl="2" algn="just" eaLnBrk="1" hangingPunct="1">
              <a:lnSpc>
                <a:spcPct val="140000"/>
              </a:lnSpc>
              <a:buClrTx/>
              <a:buSzTx/>
            </a:pPr>
            <a:r>
              <a:rPr altLang="en-US" sz="2500" dirty="0"/>
              <a:t>T9</a:t>
            </a:r>
            <a:r>
              <a:rPr lang="zh-CN" altLang="en-US" sz="2500" dirty="0"/>
              <a:t>：</a:t>
            </a:r>
            <a:r>
              <a:rPr altLang="en-US" sz="2500" dirty="0"/>
              <a:t>date.m_year % 4 == 0</a:t>
            </a:r>
            <a:endParaRPr lang="zh-CN" altLang="en-US" sz="2500" dirty="0"/>
          </a:p>
          <a:p>
            <a:pPr marL="628650" lvl="2" algn="just" eaLnBrk="1" hangingPunct="1">
              <a:lnSpc>
                <a:spcPct val="140000"/>
              </a:lnSpc>
              <a:buClrTx/>
              <a:buSzTx/>
            </a:pPr>
            <a:r>
              <a:rPr altLang="en-US" sz="2500" dirty="0"/>
              <a:t>T10</a:t>
            </a:r>
            <a:r>
              <a:rPr lang="zh-CN" altLang="en-US" sz="2500" dirty="0"/>
              <a:t>：</a:t>
            </a:r>
            <a:r>
              <a:rPr altLang="en-US" sz="2500" dirty="0"/>
              <a:t>date.m_year % 100 != 0</a:t>
            </a:r>
            <a:endParaRPr lang="zh-CN" altLang="en-US" sz="2500" dirty="0"/>
          </a:p>
          <a:p>
            <a:pPr marL="628650" lvl="2" algn="just" eaLnBrk="1" hangingPunct="1">
              <a:lnSpc>
                <a:spcPct val="140000"/>
              </a:lnSpc>
              <a:buClrTx/>
              <a:buSzTx/>
            </a:pPr>
            <a:r>
              <a:rPr altLang="en-US" sz="2500" dirty="0"/>
              <a:t>T11</a:t>
            </a:r>
            <a:r>
              <a:rPr lang="zh-CN" altLang="en-US" sz="2500" dirty="0"/>
              <a:t>：</a:t>
            </a:r>
            <a:r>
              <a:rPr altLang="en-US" sz="2500" dirty="0"/>
              <a:t>date.m_year % 400 == 0</a:t>
            </a:r>
            <a:endParaRPr lang="zh-CN" altLang="en-US" sz="2500" dirty="0"/>
          </a:p>
          <a:p>
            <a:pPr marL="628650" lvl="2" algn="just" eaLnBrk="1" hangingPunct="1">
              <a:lnSpc>
                <a:spcPct val="140000"/>
              </a:lnSpc>
              <a:buClrTx/>
              <a:buSzTx/>
            </a:pPr>
            <a:r>
              <a:rPr altLang="en-US" sz="2500" dirty="0"/>
              <a:t>T12</a:t>
            </a:r>
            <a:r>
              <a:rPr lang="zh-CN" altLang="en-US" sz="2500" dirty="0"/>
              <a:t>：</a:t>
            </a:r>
            <a:r>
              <a:rPr altLang="en-US" sz="2500" dirty="0"/>
              <a:t>date.m_day == lastday</a:t>
            </a:r>
            <a:endParaRPr lang="zh-CN" altLang="en-US" sz="2500" dirty="0"/>
          </a:p>
          <a:p>
            <a:pPr marL="628650" lvl="2" algn="just" eaLnBrk="1" hangingPunct="1">
              <a:lnSpc>
                <a:spcPct val="140000"/>
              </a:lnSpc>
              <a:buClrTx/>
              <a:buSzTx/>
            </a:pPr>
            <a:r>
              <a:rPr altLang="en-US" sz="2500" dirty="0"/>
              <a:t>T13</a:t>
            </a:r>
            <a:r>
              <a:rPr lang="zh-CN" altLang="en-US" sz="2500" dirty="0"/>
              <a:t>：</a:t>
            </a:r>
            <a:r>
              <a:rPr altLang="en-US" sz="2500" dirty="0"/>
              <a:t>date.m_month == 12</a:t>
            </a:r>
            <a:endParaRPr sz="2500" dirty="0"/>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32</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1" descr="C:\Users\HUAWEI\AppData\Local\Temp\WeChat Files\62d961e405c8b45cc959855376ea3ca.jpg"/>
          <p:cNvPicPr>
            <a:picLocks noGrp="1" noChangeAspect="1"/>
          </p:cNvPicPr>
          <p:nvPr>
            <p:ph idx="1"/>
          </p:nvPr>
        </p:nvPicPr>
        <p:blipFill rotWithShape="1">
          <a:blip r:embed="rId4">
            <a:biLevel thresh="50000"/>
          </a:blip>
          <a:srcRect t="15770" b="3346"/>
          <a:stretch>
            <a:fillRect/>
          </a:stretch>
        </p:blipFill>
        <p:spPr bwMode="auto">
          <a:xfrm>
            <a:off x="3563620" y="44450"/>
            <a:ext cx="5144770" cy="6859905"/>
          </a:xfrm>
          <a:prstGeom prst="rect">
            <a:avLst/>
          </a:prstGeom>
          <a:noFill/>
          <a:ln>
            <a:noFill/>
          </a:ln>
        </p:spPr>
      </p:pic>
      <p:sp>
        <p:nvSpPr>
          <p:cNvPr id="5" name="文本框 4"/>
          <p:cNvSpPr txBox="1"/>
          <p:nvPr/>
        </p:nvSpPr>
        <p:spPr>
          <a:xfrm>
            <a:off x="388620" y="2348865"/>
            <a:ext cx="2681605" cy="1529715"/>
          </a:xfrm>
          <a:prstGeom prst="rect">
            <a:avLst/>
          </a:prstGeom>
          <a:noFill/>
        </p:spPr>
        <p:txBody>
          <a:bodyPr wrap="square" rtlCol="0">
            <a:spAutoFit/>
          </a:bodyPr>
          <a:lstStyle/>
          <a:p>
            <a:pPr algn="just">
              <a:lnSpc>
                <a:spcPct val="130000"/>
              </a:lnSpc>
            </a:pPr>
            <a:r>
              <a:rPr lang="zh-CN" altLang="en-US" sz="2400" b="1" dirty="0">
                <a:latin typeface="微软雅黑" panose="020B0503020204020204" charset="-122"/>
                <a:ea typeface="微软雅黑" panose="020B0503020204020204" charset="-122"/>
                <a:cs typeface="微软雅黑" panose="020B0503020204020204" charset="-122"/>
              </a:rPr>
              <a:t>该代码包含</a:t>
            </a:r>
            <a:r>
              <a:rPr lang="en-US" altLang="zh-CN" sz="2400" b="1" dirty="0">
                <a:latin typeface="微软雅黑" panose="020B0503020204020204" charset="-122"/>
                <a:ea typeface="微软雅黑" panose="020B0503020204020204" charset="-122"/>
                <a:cs typeface="微软雅黑" panose="020B0503020204020204" charset="-122"/>
              </a:rPr>
              <a:t>10</a:t>
            </a:r>
            <a:r>
              <a:rPr lang="zh-CN" altLang="en-US" sz="2400" b="1" dirty="0">
                <a:latin typeface="微软雅黑" panose="020B0503020204020204" charset="-122"/>
                <a:ea typeface="微软雅黑" panose="020B0503020204020204" charset="-122"/>
                <a:cs typeface="微软雅黑" panose="020B0503020204020204" charset="-122"/>
              </a:rPr>
              <a:t>条执行分支，分别为</a:t>
            </a:r>
            <a:r>
              <a:rPr lang="en-US" altLang="zh-CN" sz="2400" b="1" dirty="0">
                <a:latin typeface="微软雅黑" panose="020B0503020204020204" charset="-122"/>
                <a:ea typeface="微软雅黑" panose="020B0503020204020204" charset="-122"/>
                <a:cs typeface="微软雅黑" panose="020B0503020204020204" charset="-122"/>
              </a:rPr>
              <a:t>P1~P10</a:t>
            </a:r>
            <a:r>
              <a:rPr lang="zh-CN" altLang="en-US" sz="2400" b="1" dirty="0">
                <a:latin typeface="微软雅黑" panose="020B0503020204020204" charset="-122"/>
                <a:ea typeface="微软雅黑" panose="020B0503020204020204" charset="-122"/>
                <a:cs typeface="微软雅黑" panose="020B0503020204020204" charset="-122"/>
              </a:rPr>
              <a:t>。</a:t>
            </a: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33</a:t>
            </a:fld>
            <a:endParaRPr lang="en-US" altLang="zh-CN" dirty="0">
              <a:latin typeface="Verdana" panose="020B0604030504040204" pitchFamily="34" charset="0"/>
            </a:endParaRPr>
          </a:p>
        </p:txBody>
      </p:sp>
      <p:sp>
        <p:nvSpPr>
          <p:cNvPr id="3" name="日期占位符 2"/>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p:cNvSpPr>
          <p:nvPr>
            <p:ph idx="1"/>
          </p:nvPr>
        </p:nvSpPr>
        <p:spPr>
          <a:xfrm>
            <a:off x="567055" y="1412875"/>
            <a:ext cx="8001000" cy="4465955"/>
          </a:xfrm>
        </p:spPr>
        <p:txBody>
          <a:bodyPr vert="horz" wrap="square" lIns="91440" tIns="45720" rIns="91440" bIns="45720" anchor="t" anchorCtr="0">
            <a:normAutofit/>
          </a:bodyPr>
          <a:lstStyle/>
          <a:p>
            <a:pPr algn="just" eaLnBrk="1" hangingPunct="1">
              <a:lnSpc>
                <a:spcPct val="110000"/>
              </a:lnSpc>
              <a:buClrTx/>
              <a:buSzTx/>
            </a:pPr>
            <a:r>
              <a:rPr lang="zh-CN" altLang="en-US" sz="3200" b="1" dirty="0"/>
              <a:t>开始测试</a:t>
            </a:r>
            <a:endParaRPr sz="3200" b="1" dirty="0"/>
          </a:p>
          <a:p>
            <a:pPr lvl="1" algn="just" eaLnBrk="1" hangingPunct="1">
              <a:lnSpc>
                <a:spcPct val="110000"/>
              </a:lnSpc>
              <a:buClrTx/>
              <a:buSzTx/>
            </a:pPr>
            <a:r>
              <a:rPr sz="2400" b="1" dirty="0"/>
              <a:t>1</a:t>
            </a:r>
            <a:r>
              <a:rPr lang="zh-CN" altLang="en-US" sz="2400" b="1" dirty="0"/>
              <a:t>、选择判定覆盖指标</a:t>
            </a:r>
          </a:p>
          <a:p>
            <a:pPr marL="628650" lvl="2" algn="just" defTabSz="914400" eaLnBrk="1" hangingPunct="1">
              <a:lnSpc>
                <a:spcPct val="110000"/>
              </a:lnSpc>
              <a:buClrTx/>
              <a:buSzTx/>
            </a:pPr>
            <a:r>
              <a:rPr lang="zh-CN" altLang="en-US" sz="2000" dirty="0"/>
              <a:t>路径</a:t>
            </a:r>
            <a:r>
              <a:rPr sz="2000" dirty="0"/>
              <a:t>1</a:t>
            </a:r>
            <a:r>
              <a:rPr lang="zh-CN" altLang="en-US" sz="2000" dirty="0"/>
              <a:t>：</a:t>
            </a:r>
            <a:r>
              <a:rPr sz="2000" dirty="0"/>
              <a:t>p1+p7+p9</a:t>
            </a:r>
            <a:r>
              <a:rPr lang="zh-CN" altLang="en-US" sz="2000" dirty="0"/>
              <a:t>（</a:t>
            </a:r>
            <a:r>
              <a:rPr sz="2000" dirty="0"/>
              <a:t>T</a:t>
            </a:r>
            <a:r>
              <a:rPr lang="zh-CN" altLang="en-US" sz="2000" dirty="0"/>
              <a:t>，</a:t>
            </a:r>
            <a:r>
              <a:rPr sz="2000" dirty="0"/>
              <a:t>T</a:t>
            </a:r>
            <a:r>
              <a:rPr lang="zh-CN" altLang="en-US" sz="2000" dirty="0"/>
              <a:t>，</a:t>
            </a:r>
            <a:r>
              <a:rPr sz="2000" dirty="0"/>
              <a:t>T</a:t>
            </a:r>
            <a:r>
              <a:rPr lang="zh-CN" altLang="en-US" sz="2000" dirty="0"/>
              <a:t>）</a:t>
            </a:r>
            <a:endParaRPr sz="2000" dirty="0"/>
          </a:p>
          <a:p>
            <a:pPr marL="628650" lvl="2" algn="just" defTabSz="914400" eaLnBrk="1" hangingPunct="1">
              <a:lnSpc>
                <a:spcPct val="110000"/>
              </a:lnSpc>
              <a:buClrTx/>
              <a:buSzTx/>
            </a:pPr>
            <a:r>
              <a:rPr lang="zh-CN" altLang="en-US" sz="2000" dirty="0"/>
              <a:t>路径</a:t>
            </a:r>
            <a:r>
              <a:rPr sz="2000" dirty="0"/>
              <a:t>2</a:t>
            </a:r>
            <a:r>
              <a:rPr lang="zh-CN" altLang="en-US" sz="2000" dirty="0"/>
              <a:t>：</a:t>
            </a:r>
            <a:r>
              <a:rPr sz="2000" dirty="0"/>
              <a:t>p2+p3+p7+p10</a:t>
            </a:r>
            <a:r>
              <a:rPr lang="zh-CN" altLang="en-US" sz="2000" dirty="0"/>
              <a:t>（</a:t>
            </a:r>
            <a:r>
              <a:rPr sz="2000" dirty="0"/>
              <a:t>F</a:t>
            </a:r>
            <a:r>
              <a:rPr lang="zh-CN" altLang="en-US" sz="2000" dirty="0"/>
              <a:t>，</a:t>
            </a:r>
            <a:r>
              <a:rPr sz="2000" dirty="0"/>
              <a:t>T</a:t>
            </a:r>
            <a:r>
              <a:rPr lang="zh-CN" altLang="en-US" sz="2000" dirty="0"/>
              <a:t>，</a:t>
            </a:r>
            <a:r>
              <a:rPr sz="2000" dirty="0"/>
              <a:t>T</a:t>
            </a:r>
            <a:r>
              <a:rPr lang="zh-CN" altLang="en-US" sz="2000" dirty="0"/>
              <a:t>，</a:t>
            </a:r>
            <a:r>
              <a:rPr sz="2000" dirty="0"/>
              <a:t>F</a:t>
            </a:r>
            <a:r>
              <a:rPr lang="zh-CN" altLang="en-US" sz="2000" dirty="0"/>
              <a:t>）</a:t>
            </a:r>
            <a:endParaRPr sz="2000" dirty="0"/>
          </a:p>
          <a:p>
            <a:pPr marL="628650" lvl="2" algn="just" defTabSz="914400" eaLnBrk="1" hangingPunct="1">
              <a:lnSpc>
                <a:spcPct val="110000"/>
              </a:lnSpc>
              <a:buClrTx/>
              <a:buSzTx/>
            </a:pPr>
            <a:r>
              <a:rPr lang="zh-CN" altLang="en-US" sz="2000" dirty="0"/>
              <a:t>路径</a:t>
            </a:r>
            <a:r>
              <a:rPr sz="2000" dirty="0"/>
              <a:t>3</a:t>
            </a:r>
            <a:r>
              <a:rPr lang="zh-CN" altLang="en-US" sz="2000" dirty="0"/>
              <a:t>：</a:t>
            </a:r>
            <a:r>
              <a:rPr sz="2000" dirty="0"/>
              <a:t>p2+p4+p5+p8</a:t>
            </a:r>
            <a:r>
              <a:rPr lang="zh-CN" altLang="en-US" sz="2000" dirty="0"/>
              <a:t>（</a:t>
            </a:r>
            <a:r>
              <a:rPr sz="2000" dirty="0"/>
              <a:t>F</a:t>
            </a:r>
            <a:r>
              <a:rPr lang="zh-CN" altLang="en-US" sz="2000" dirty="0"/>
              <a:t>，</a:t>
            </a:r>
            <a:r>
              <a:rPr sz="2000" dirty="0"/>
              <a:t>F</a:t>
            </a:r>
            <a:r>
              <a:rPr lang="zh-CN" altLang="en-US" sz="2000" dirty="0"/>
              <a:t>，</a:t>
            </a:r>
            <a:r>
              <a:rPr sz="2000" dirty="0"/>
              <a:t>T</a:t>
            </a:r>
            <a:r>
              <a:rPr lang="zh-CN" altLang="en-US" sz="2000" dirty="0"/>
              <a:t>，</a:t>
            </a:r>
            <a:r>
              <a:rPr sz="2000" dirty="0"/>
              <a:t>F</a:t>
            </a:r>
            <a:r>
              <a:rPr lang="zh-CN" altLang="en-US" sz="2000" dirty="0"/>
              <a:t>）</a:t>
            </a:r>
            <a:endParaRPr sz="2000" dirty="0"/>
          </a:p>
          <a:p>
            <a:pPr marL="628650" lvl="2" algn="just" defTabSz="914400" eaLnBrk="1" hangingPunct="1">
              <a:lnSpc>
                <a:spcPct val="110000"/>
              </a:lnSpc>
              <a:buClrTx/>
              <a:buSzTx/>
            </a:pPr>
            <a:r>
              <a:rPr lang="zh-CN" altLang="en-US" sz="2000" dirty="0"/>
              <a:t>路径</a:t>
            </a:r>
            <a:r>
              <a:rPr sz="2000" dirty="0">
                <a:sym typeface="+mn-ea"/>
              </a:rPr>
              <a:t>4</a:t>
            </a:r>
            <a:r>
              <a:rPr lang="zh-CN" altLang="en-US" sz="2000" dirty="0">
                <a:sym typeface="+mn-ea"/>
              </a:rPr>
              <a:t>：</a:t>
            </a:r>
            <a:r>
              <a:rPr sz="2000" dirty="0">
                <a:sym typeface="+mn-ea"/>
              </a:rPr>
              <a:t>p2+p4+p6+p8</a:t>
            </a:r>
            <a:r>
              <a:rPr lang="zh-CN" altLang="en-US" sz="2000" dirty="0">
                <a:sym typeface="+mn-ea"/>
              </a:rPr>
              <a:t>（</a:t>
            </a:r>
            <a:r>
              <a:rPr sz="2000" dirty="0">
                <a:sym typeface="+mn-ea"/>
              </a:rPr>
              <a:t>F</a:t>
            </a:r>
            <a:r>
              <a:rPr lang="zh-CN" altLang="en-US" sz="2000" dirty="0">
                <a:sym typeface="+mn-ea"/>
              </a:rPr>
              <a:t>，</a:t>
            </a:r>
            <a:r>
              <a:rPr sz="2000" dirty="0">
                <a:sym typeface="+mn-ea"/>
              </a:rPr>
              <a:t>F</a:t>
            </a:r>
            <a:r>
              <a:rPr lang="zh-CN" altLang="en-US" sz="2000" dirty="0">
                <a:sym typeface="+mn-ea"/>
              </a:rPr>
              <a:t>，</a:t>
            </a:r>
            <a:r>
              <a:rPr sz="2000" dirty="0">
                <a:sym typeface="+mn-ea"/>
              </a:rPr>
              <a:t>F</a:t>
            </a:r>
            <a:r>
              <a:rPr lang="zh-CN" altLang="en-US" sz="2000" dirty="0">
                <a:sym typeface="+mn-ea"/>
              </a:rPr>
              <a:t>，</a:t>
            </a:r>
            <a:r>
              <a:rPr sz="2000" dirty="0">
                <a:sym typeface="+mn-ea"/>
              </a:rPr>
              <a:t>F</a:t>
            </a:r>
            <a:r>
              <a:rPr lang="zh-CN" altLang="en-US" sz="2000" dirty="0">
                <a:sym typeface="+mn-ea"/>
              </a:rPr>
              <a:t>）</a:t>
            </a:r>
          </a:p>
        </p:txBody>
      </p:sp>
      <p:pic>
        <p:nvPicPr>
          <p:cNvPr id="44037" name="Picture 3"/>
          <p:cNvPicPr>
            <a:picLocks noChangeAspect="1"/>
          </p:cNvPicPr>
          <p:nvPr/>
        </p:nvPicPr>
        <p:blipFill>
          <a:blip r:embed="rId5"/>
          <a:stretch>
            <a:fillRect/>
          </a:stretch>
        </p:blipFill>
        <p:spPr>
          <a:xfrm>
            <a:off x="395288" y="4580890"/>
            <a:ext cx="8253412" cy="1714500"/>
          </a:xfrm>
          <a:prstGeom prst="rect">
            <a:avLst/>
          </a:prstGeom>
          <a:noFill/>
          <a:ln w="9525">
            <a:noFill/>
          </a:ln>
        </p:spPr>
      </p:pic>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34</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
        <p:nvSpPr>
          <p:cNvPr id="7" name="文本框 6"/>
          <p:cNvSpPr txBox="1"/>
          <p:nvPr>
            <p:custDataLst>
              <p:tags r:id="rId3"/>
            </p:custDataLst>
          </p:nvPr>
        </p:nvSpPr>
        <p:spPr>
          <a:xfrm>
            <a:off x="6084570" y="1916430"/>
            <a:ext cx="2954020" cy="89154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30000"/>
              </a:lnSpc>
            </a:pPr>
            <a:r>
              <a:rPr lang="zh-CN" altLang="en-US" sz="2000" b="1"/>
              <a:t>只覆盖了</a:t>
            </a:r>
            <a:r>
              <a:rPr lang="en-US" altLang="zh-CN" sz="2000" b="1"/>
              <a:t>6</a:t>
            </a:r>
            <a:r>
              <a:rPr lang="zh-CN" altLang="en-US" sz="2000" b="1"/>
              <a:t>月末、</a:t>
            </a:r>
            <a:r>
              <a:rPr lang="en-US" altLang="zh-CN" sz="2000" b="1"/>
              <a:t>2</a:t>
            </a:r>
            <a:r>
              <a:rPr lang="zh-CN" altLang="en-US" sz="2000" b="1"/>
              <a:t>月末、</a:t>
            </a:r>
            <a:r>
              <a:rPr lang="en-US" altLang="zh-CN" sz="2000" b="1"/>
              <a:t>12</a:t>
            </a:r>
            <a:r>
              <a:rPr lang="zh-CN" altLang="en-US" sz="2000" b="1"/>
              <a:t>月末，其它未覆盖到。</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p:cNvSpPr>
          <p:nvPr>
            <p:ph idx="1"/>
          </p:nvPr>
        </p:nvSpPr>
        <p:spPr/>
        <p:txBody>
          <a:bodyPr vert="horz" wrap="square" lIns="91440" tIns="45720" rIns="91440" bIns="45720" anchor="t" anchorCtr="0"/>
          <a:lstStyle/>
          <a:p>
            <a:pPr algn="just" eaLnBrk="1" hangingPunct="1">
              <a:lnSpc>
                <a:spcPct val="110000"/>
              </a:lnSpc>
              <a:buClrTx/>
              <a:buSzTx/>
            </a:pPr>
            <a:r>
              <a:rPr lang="zh-CN" altLang="en-US" sz="3200" b="1" dirty="0"/>
              <a:t>开始测试</a:t>
            </a:r>
            <a:endParaRPr sz="3200" b="1" dirty="0"/>
          </a:p>
          <a:p>
            <a:pPr lvl="1" algn="just" eaLnBrk="1" hangingPunct="1">
              <a:lnSpc>
                <a:spcPct val="110000"/>
              </a:lnSpc>
              <a:buClrTx/>
              <a:buSzTx/>
            </a:pPr>
            <a:r>
              <a:rPr sz="2400" b="1" dirty="0"/>
              <a:t>2</a:t>
            </a:r>
            <a:r>
              <a:rPr lang="zh-CN" altLang="en-US" sz="2400" b="1" dirty="0"/>
              <a:t>、选择条件覆盖指标</a:t>
            </a:r>
            <a:endParaRPr lang="zh-CN" altLang="en-US" sz="2400" b="1" dirty="0">
              <a:solidFill>
                <a:srgbClr val="0000FF"/>
              </a:solidFill>
              <a:ea typeface="华文新魏" panose="02010800040101010101" pitchFamily="2" charset="-122"/>
            </a:endParaRPr>
          </a:p>
        </p:txBody>
      </p:sp>
      <p:pic>
        <p:nvPicPr>
          <p:cNvPr id="45061" name="Picture 2"/>
          <p:cNvPicPr>
            <a:picLocks noChangeAspect="1"/>
          </p:cNvPicPr>
          <p:nvPr/>
        </p:nvPicPr>
        <p:blipFill>
          <a:blip r:embed="rId8"/>
          <a:stretch>
            <a:fillRect/>
          </a:stretch>
        </p:blipFill>
        <p:spPr>
          <a:xfrm>
            <a:off x="34925" y="2637155"/>
            <a:ext cx="9083675" cy="3143250"/>
          </a:xfrm>
          <a:prstGeom prst="rect">
            <a:avLst/>
          </a:prstGeom>
          <a:noFill/>
          <a:ln w="9525">
            <a:noFill/>
          </a:ln>
        </p:spPr>
      </p:pic>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35</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
        <p:nvSpPr>
          <p:cNvPr id="7" name="椭圆 6"/>
          <p:cNvSpPr/>
          <p:nvPr>
            <p:custDataLst>
              <p:tags r:id="rId3"/>
            </p:custDataLst>
          </p:nvPr>
        </p:nvSpPr>
        <p:spPr>
          <a:xfrm>
            <a:off x="5004435" y="4869180"/>
            <a:ext cx="904240" cy="938530"/>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custDataLst>
              <p:tags r:id="rId4"/>
            </p:custDataLst>
          </p:nvPr>
        </p:nvSpPr>
        <p:spPr>
          <a:xfrm>
            <a:off x="4644390" y="5949315"/>
            <a:ext cx="1604010" cy="478155"/>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pPr algn="just"/>
            <a:r>
              <a:rPr lang="zh-CN" altLang="en-US" sz="2000" b="1"/>
              <a:t>应该是</a:t>
            </a:r>
            <a:r>
              <a:rPr lang="en-US" altLang="zh-CN" sz="2000" b="1"/>
              <a:t>F(05)</a:t>
            </a:r>
          </a:p>
        </p:txBody>
      </p:sp>
      <p:sp>
        <p:nvSpPr>
          <p:cNvPr id="8" name="文本框 7"/>
          <p:cNvSpPr txBox="1"/>
          <p:nvPr>
            <p:custDataLst>
              <p:tags r:id="rId5"/>
            </p:custDataLst>
          </p:nvPr>
        </p:nvSpPr>
        <p:spPr>
          <a:xfrm>
            <a:off x="5698490" y="908685"/>
            <a:ext cx="3164205" cy="89154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30000"/>
              </a:lnSpc>
            </a:pPr>
            <a:r>
              <a:rPr lang="zh-CN" altLang="en-US" sz="2000" b="1"/>
              <a:t>覆盖了多种月末、</a:t>
            </a:r>
            <a:r>
              <a:rPr lang="en-US" altLang="zh-CN" sz="2000" b="1"/>
              <a:t>12</a:t>
            </a:r>
            <a:r>
              <a:rPr lang="zh-CN" altLang="en-US" sz="2000" b="1"/>
              <a:t>月末，未覆盖非闰年</a:t>
            </a:r>
            <a:r>
              <a:rPr lang="en-US" altLang="zh-CN" sz="2000" b="1"/>
              <a:t>2</a:t>
            </a:r>
            <a:r>
              <a:rPr lang="zh-CN" altLang="en-US" sz="2000" b="1"/>
              <a:t>月</a:t>
            </a:r>
            <a:r>
              <a:rPr lang="en-US" altLang="zh-CN" sz="2000" b="1"/>
              <a:t>29</a:t>
            </a:r>
            <a:r>
              <a:rPr lang="zh-CN" altLang="en-US" sz="2000" b="1"/>
              <a:t>。</a:t>
            </a:r>
          </a:p>
        </p:txBody>
      </p:sp>
      <p:sp>
        <p:nvSpPr>
          <p:cNvPr id="2" name="椭圆 1"/>
          <p:cNvSpPr/>
          <p:nvPr>
            <p:custDataLst>
              <p:tags r:id="rId6"/>
            </p:custDataLst>
          </p:nvPr>
        </p:nvSpPr>
        <p:spPr>
          <a:xfrm>
            <a:off x="29845" y="3460115"/>
            <a:ext cx="9088755" cy="338455"/>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down)">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6" grpId="0" bldLvl="0" animBg="1"/>
      <p:bldP spid="6" grpId="1" animBg="1"/>
      <p:bldP spid="8" grpId="0" bldLvl="0" animBg="1"/>
      <p:bldP spid="8" grpId="1" animBg="1"/>
      <p:bldP spid="2" grpId="0" bldLvl="0" animBg="1"/>
      <p:bldP spid="2"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p:cNvSpPr>
          <p:nvPr>
            <p:ph idx="1"/>
          </p:nvPr>
        </p:nvSpPr>
        <p:spPr>
          <a:xfrm>
            <a:off x="502285" y="1489075"/>
            <a:ext cx="8139430" cy="4178935"/>
          </a:xfrm>
        </p:spPr>
        <p:txBody>
          <a:bodyPr vert="horz" wrap="square" lIns="91440" tIns="45720" rIns="91440" bIns="45720" anchor="t" anchorCtr="0">
            <a:normAutofit/>
          </a:bodyPr>
          <a:lstStyle/>
          <a:p>
            <a:pPr algn="just" eaLnBrk="1" hangingPunct="1">
              <a:lnSpc>
                <a:spcPct val="130000"/>
              </a:lnSpc>
              <a:buClrTx/>
              <a:buSzTx/>
            </a:pPr>
            <a:r>
              <a:rPr lang="zh-CN" altLang="en-US" sz="3200" b="1" dirty="0"/>
              <a:t>测试分析</a:t>
            </a:r>
            <a:endParaRPr sz="3200" b="1" dirty="0"/>
          </a:p>
          <a:p>
            <a:pPr marL="628650" lvl="2" algn="just" defTabSz="914400" eaLnBrk="1" hangingPunct="1">
              <a:lnSpc>
                <a:spcPct val="130000"/>
              </a:lnSpc>
              <a:buClrTx/>
              <a:buSzTx/>
            </a:pPr>
            <a:r>
              <a:rPr lang="zh-CN" altLang="en-US" sz="2560" dirty="0"/>
              <a:t>仅靠判定覆盖或条件覆盖指标只能保证测试到对应这些分支，但并不能深入理解各判定节点在实现函数功能方面所起到的关键作用。需要通过条件组合覆盖才行。</a:t>
            </a:r>
            <a:endParaRPr sz="2560" dirty="0"/>
          </a:p>
          <a:p>
            <a:pPr marL="628650" lvl="2" algn="just" defTabSz="914400" eaLnBrk="1" hangingPunct="1">
              <a:lnSpc>
                <a:spcPct val="130000"/>
              </a:lnSpc>
              <a:buClrTx/>
              <a:buSzTx/>
            </a:pPr>
            <a:r>
              <a:rPr lang="zh-CN" altLang="en-US" sz="2560" dirty="0"/>
              <a:t>若引入条件组合覆盖，测试工作量往往又是测试人员所难以承受的。</a:t>
            </a:r>
            <a:endParaRPr sz="2560" dirty="0"/>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36</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a:xfrm>
            <a:off x="1618933" y="1964373"/>
            <a:ext cx="5970587" cy="3744912"/>
            <a:chOff x="2880" y="10176"/>
            <a:chExt cx="5040" cy="3744"/>
          </a:xfrm>
        </p:grpSpPr>
        <p:sp>
          <p:nvSpPr>
            <p:cNvPr id="39940" name="Rectangle 5"/>
            <p:cNvSpPr/>
            <p:nvPr/>
          </p:nvSpPr>
          <p:spPr>
            <a:xfrm>
              <a:off x="4500" y="10176"/>
              <a:ext cx="2160" cy="468"/>
            </a:xfrm>
            <a:prstGeom prst="rect">
              <a:avLst/>
            </a:prstGeom>
            <a:noFill/>
            <a:ln w="9525" cap="flat" cmpd="sng">
              <a:solidFill>
                <a:schemeClr val="tx1"/>
              </a:solidFill>
              <a:prstDash val="solid"/>
              <a:miter/>
              <a:headEnd type="none" w="med" len="med"/>
              <a:tailEnd type="none" w="med" len="med"/>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algn="ctr">
                <a:spcBef>
                  <a:spcPct val="0"/>
                </a:spcBef>
                <a:buClrTx/>
                <a:buFontTx/>
                <a:buNone/>
              </a:pPr>
              <a:r>
                <a:rPr lang="zh-CN" altLang="en-US" sz="2400" dirty="0">
                  <a:latin typeface="Times New Roman" panose="02020603050405020304" pitchFamily="18" charset="0"/>
                </a:rPr>
                <a:t>组合覆盖</a:t>
              </a:r>
            </a:p>
          </p:txBody>
        </p:sp>
        <p:sp>
          <p:nvSpPr>
            <p:cNvPr id="39941" name="Rectangle 6"/>
            <p:cNvSpPr/>
            <p:nvPr/>
          </p:nvSpPr>
          <p:spPr>
            <a:xfrm>
              <a:off x="4500" y="11268"/>
              <a:ext cx="2160" cy="468"/>
            </a:xfrm>
            <a:prstGeom prst="rect">
              <a:avLst/>
            </a:prstGeom>
            <a:noFill/>
            <a:ln w="9525" cap="flat" cmpd="sng">
              <a:solidFill>
                <a:schemeClr val="tx1"/>
              </a:solidFill>
              <a:prstDash val="solid"/>
              <a:miter/>
              <a:headEnd type="none" w="med" len="med"/>
              <a:tailEnd type="none" w="med" len="med"/>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algn="ctr">
                <a:spcBef>
                  <a:spcPct val="0"/>
                </a:spcBef>
                <a:buClrTx/>
                <a:buFontTx/>
                <a:buNone/>
              </a:pPr>
              <a:r>
                <a:rPr lang="zh-CN" altLang="en-US" sz="2400" dirty="0">
                  <a:latin typeface="Times New Roman" panose="02020603050405020304" pitchFamily="18" charset="0"/>
                </a:rPr>
                <a:t>判定</a:t>
              </a:r>
              <a:r>
                <a:rPr lang="en-US" altLang="zh-CN" sz="2400" dirty="0">
                  <a:latin typeface="Times New Roman" panose="02020603050405020304" pitchFamily="18" charset="0"/>
                </a:rPr>
                <a:t>/</a:t>
              </a:r>
              <a:r>
                <a:rPr lang="zh-CN" altLang="en-US" sz="2400" dirty="0">
                  <a:latin typeface="Times New Roman" panose="02020603050405020304" pitchFamily="18" charset="0"/>
                </a:rPr>
                <a:t>条件覆盖</a:t>
              </a:r>
            </a:p>
          </p:txBody>
        </p:sp>
        <p:sp>
          <p:nvSpPr>
            <p:cNvPr id="39942" name="Rectangle 7"/>
            <p:cNvSpPr/>
            <p:nvPr/>
          </p:nvSpPr>
          <p:spPr>
            <a:xfrm>
              <a:off x="2880" y="12360"/>
              <a:ext cx="2160" cy="468"/>
            </a:xfrm>
            <a:prstGeom prst="rect">
              <a:avLst/>
            </a:prstGeom>
            <a:noFill/>
            <a:ln w="9525" cap="flat" cmpd="sng">
              <a:solidFill>
                <a:schemeClr val="tx1"/>
              </a:solidFill>
              <a:prstDash val="solid"/>
              <a:miter/>
              <a:headEnd type="none" w="med" len="med"/>
              <a:tailEnd type="none" w="med" len="med"/>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algn="ctr">
                <a:spcBef>
                  <a:spcPct val="0"/>
                </a:spcBef>
                <a:buClrTx/>
                <a:buFontTx/>
                <a:buNone/>
              </a:pPr>
              <a:r>
                <a:rPr lang="zh-CN" altLang="en-US" sz="2400" dirty="0">
                  <a:latin typeface="Times New Roman" panose="02020603050405020304" pitchFamily="18" charset="0"/>
                </a:rPr>
                <a:t>判定覆盖</a:t>
              </a:r>
            </a:p>
          </p:txBody>
        </p:sp>
        <p:sp>
          <p:nvSpPr>
            <p:cNvPr id="39943" name="Rectangle 8"/>
            <p:cNvSpPr/>
            <p:nvPr/>
          </p:nvSpPr>
          <p:spPr>
            <a:xfrm>
              <a:off x="5760" y="12360"/>
              <a:ext cx="2160" cy="468"/>
            </a:xfrm>
            <a:prstGeom prst="rect">
              <a:avLst/>
            </a:prstGeom>
            <a:noFill/>
            <a:ln w="9525" cap="flat" cmpd="sng">
              <a:solidFill>
                <a:schemeClr val="tx1"/>
              </a:solidFill>
              <a:prstDash val="solid"/>
              <a:miter/>
              <a:headEnd type="none" w="med" len="med"/>
              <a:tailEnd type="none" w="med" len="med"/>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algn="ctr">
                <a:spcBef>
                  <a:spcPct val="0"/>
                </a:spcBef>
                <a:buClrTx/>
                <a:buFontTx/>
                <a:buNone/>
              </a:pPr>
              <a:r>
                <a:rPr lang="zh-CN" altLang="en-US" sz="2400" dirty="0">
                  <a:latin typeface="Times New Roman" panose="02020603050405020304" pitchFamily="18" charset="0"/>
                </a:rPr>
                <a:t>条件覆盖</a:t>
              </a:r>
            </a:p>
          </p:txBody>
        </p:sp>
        <p:sp>
          <p:nvSpPr>
            <p:cNvPr id="39944" name="Rectangle 9"/>
            <p:cNvSpPr/>
            <p:nvPr/>
          </p:nvSpPr>
          <p:spPr>
            <a:xfrm>
              <a:off x="2880" y="13452"/>
              <a:ext cx="2160" cy="468"/>
            </a:xfrm>
            <a:prstGeom prst="rect">
              <a:avLst/>
            </a:prstGeom>
            <a:noFill/>
            <a:ln w="9525" cap="flat" cmpd="sng">
              <a:solidFill>
                <a:schemeClr val="tx1"/>
              </a:solidFill>
              <a:prstDash val="solid"/>
              <a:miter/>
              <a:headEnd type="none" w="med" len="med"/>
              <a:tailEnd type="none" w="med" len="med"/>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algn="ctr">
                <a:spcBef>
                  <a:spcPct val="0"/>
                </a:spcBef>
                <a:buClrTx/>
                <a:buFontTx/>
                <a:buNone/>
              </a:pPr>
              <a:r>
                <a:rPr lang="zh-CN" altLang="en-US" sz="2400" dirty="0">
                  <a:latin typeface="Times New Roman" panose="02020603050405020304" pitchFamily="18" charset="0"/>
                </a:rPr>
                <a:t>语句覆盖</a:t>
              </a:r>
            </a:p>
          </p:txBody>
        </p:sp>
        <p:sp>
          <p:nvSpPr>
            <p:cNvPr id="39945" name="Line 10"/>
            <p:cNvSpPr/>
            <p:nvPr/>
          </p:nvSpPr>
          <p:spPr>
            <a:xfrm>
              <a:off x="5580" y="10644"/>
              <a:ext cx="0" cy="624"/>
            </a:xfrm>
            <a:prstGeom prst="line">
              <a:avLst/>
            </a:prstGeom>
            <a:ln w="9525" cap="flat" cmpd="sng">
              <a:solidFill>
                <a:schemeClr val="tx1"/>
              </a:solidFill>
              <a:prstDash val="solid"/>
              <a:headEnd type="none" w="med" len="med"/>
              <a:tailEnd type="none" w="med" len="med"/>
            </a:ln>
          </p:spPr>
        </p:sp>
        <p:sp>
          <p:nvSpPr>
            <p:cNvPr id="39946" name="Line 11"/>
            <p:cNvSpPr/>
            <p:nvPr/>
          </p:nvSpPr>
          <p:spPr>
            <a:xfrm>
              <a:off x="5580" y="11736"/>
              <a:ext cx="0" cy="312"/>
            </a:xfrm>
            <a:prstGeom prst="line">
              <a:avLst/>
            </a:prstGeom>
            <a:ln w="9525" cap="flat" cmpd="sng">
              <a:solidFill>
                <a:schemeClr val="tx1"/>
              </a:solidFill>
              <a:prstDash val="solid"/>
              <a:headEnd type="none" w="med" len="med"/>
              <a:tailEnd type="none" w="med" len="med"/>
            </a:ln>
          </p:spPr>
        </p:sp>
        <p:sp>
          <p:nvSpPr>
            <p:cNvPr id="39947" name="Line 12"/>
            <p:cNvSpPr/>
            <p:nvPr/>
          </p:nvSpPr>
          <p:spPr>
            <a:xfrm>
              <a:off x="3960" y="12048"/>
              <a:ext cx="2880" cy="0"/>
            </a:xfrm>
            <a:prstGeom prst="line">
              <a:avLst/>
            </a:prstGeom>
            <a:ln w="9525" cap="flat" cmpd="sng">
              <a:solidFill>
                <a:schemeClr val="tx1"/>
              </a:solidFill>
              <a:prstDash val="solid"/>
              <a:headEnd type="none" w="med" len="med"/>
              <a:tailEnd type="none" w="med" len="med"/>
            </a:ln>
          </p:spPr>
        </p:sp>
        <p:sp>
          <p:nvSpPr>
            <p:cNvPr id="39948" name="Line 13"/>
            <p:cNvSpPr/>
            <p:nvPr/>
          </p:nvSpPr>
          <p:spPr>
            <a:xfrm>
              <a:off x="3960" y="12048"/>
              <a:ext cx="0" cy="312"/>
            </a:xfrm>
            <a:prstGeom prst="line">
              <a:avLst/>
            </a:prstGeom>
            <a:ln w="9525" cap="flat" cmpd="sng">
              <a:solidFill>
                <a:schemeClr val="tx1"/>
              </a:solidFill>
              <a:prstDash val="solid"/>
              <a:headEnd type="none" w="med" len="med"/>
              <a:tailEnd type="none" w="med" len="med"/>
            </a:ln>
          </p:spPr>
        </p:sp>
        <p:sp>
          <p:nvSpPr>
            <p:cNvPr id="39949" name="Line 14"/>
            <p:cNvSpPr/>
            <p:nvPr/>
          </p:nvSpPr>
          <p:spPr>
            <a:xfrm>
              <a:off x="6840" y="12048"/>
              <a:ext cx="0" cy="312"/>
            </a:xfrm>
            <a:prstGeom prst="line">
              <a:avLst/>
            </a:prstGeom>
            <a:ln w="9525" cap="flat" cmpd="sng">
              <a:solidFill>
                <a:schemeClr val="tx1"/>
              </a:solidFill>
              <a:prstDash val="solid"/>
              <a:headEnd type="none" w="med" len="med"/>
              <a:tailEnd type="none" w="med" len="med"/>
            </a:ln>
          </p:spPr>
        </p:sp>
        <p:sp>
          <p:nvSpPr>
            <p:cNvPr id="39950" name="Line 15"/>
            <p:cNvSpPr/>
            <p:nvPr/>
          </p:nvSpPr>
          <p:spPr>
            <a:xfrm>
              <a:off x="3960" y="12828"/>
              <a:ext cx="0" cy="624"/>
            </a:xfrm>
            <a:prstGeom prst="line">
              <a:avLst/>
            </a:prstGeom>
            <a:ln w="9525" cap="flat" cmpd="sng">
              <a:solidFill>
                <a:schemeClr val="tx1"/>
              </a:solidFill>
              <a:prstDash val="solid"/>
              <a:headEnd type="none" w="med" len="med"/>
              <a:tailEnd type="none" w="med" len="med"/>
            </a:ln>
          </p:spPr>
        </p:sp>
      </p:gr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37</a:t>
            </a:fld>
            <a:endParaRPr lang="en-US" altLang="zh-CN" dirty="0">
              <a:latin typeface="Verdana" panose="020B0604030504040204" pitchFamily="34" charset="0"/>
            </a:endParaRPr>
          </a:p>
        </p:txBody>
      </p:sp>
      <p:sp>
        <p:nvSpPr>
          <p:cNvPr id="5" name="日期占位符 4"/>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p:cNvSpPr>
          <p:nvPr>
            <p:ph idx="1"/>
          </p:nvPr>
        </p:nvSpPr>
        <p:spPr>
          <a:xfrm>
            <a:off x="502285" y="1336040"/>
            <a:ext cx="8139430" cy="4535805"/>
          </a:xfrm>
        </p:spPr>
        <p:txBody>
          <a:bodyPr vert="horz" wrap="square" lIns="91440" tIns="45720" rIns="91440" bIns="45720" anchor="t" anchorCtr="0"/>
          <a:lstStyle/>
          <a:p>
            <a:pPr algn="just" eaLnBrk="1" hangingPunct="1"/>
            <a:r>
              <a:rPr lang="zh-CN" altLang="en-US" sz="3400" b="1" dirty="0"/>
              <a:t>小结</a:t>
            </a:r>
            <a:endParaRPr lang="en-US" altLang="zh-CN" sz="3400" b="1" dirty="0"/>
          </a:p>
          <a:p>
            <a:pPr lvl="1" algn="just" eaLnBrk="1" hangingPunct="1">
              <a:lnSpc>
                <a:spcPct val="130000"/>
              </a:lnSpc>
            </a:pPr>
            <a:r>
              <a:rPr lang="zh-CN" altLang="en-US" sz="2400" dirty="0"/>
              <a:t>主要是通过考察源代码中复合判定表达式或构成复合判定表达式的各简单判定条件的所有取值情况，来保证判定表达式的正确性。</a:t>
            </a:r>
            <a:endParaRPr lang="en-US" altLang="zh-CN" sz="2400" dirty="0"/>
          </a:p>
          <a:p>
            <a:pPr lvl="1" algn="just" eaLnBrk="1" hangingPunct="1">
              <a:lnSpc>
                <a:spcPct val="130000"/>
              </a:lnSpc>
            </a:pPr>
            <a:r>
              <a:rPr lang="zh-CN" altLang="en-US" sz="2400" dirty="0"/>
              <a:t>避免测试数据受到复合判定表达式中的“与”、“或”关系的屏蔽效应。</a:t>
            </a:r>
          </a:p>
          <a:p>
            <a:pPr lvl="1" algn="just" eaLnBrk="1" hangingPunct="1">
              <a:lnSpc>
                <a:spcPct val="130000"/>
              </a:lnSpc>
            </a:pPr>
            <a:r>
              <a:rPr lang="zh-CN" altLang="en-US" sz="2400" dirty="0"/>
              <a:t>尽量结合边界值选择测试数据。</a:t>
            </a:r>
          </a:p>
        </p:txBody>
      </p:sp>
      <p:sp>
        <p:nvSpPr>
          <p:cNvPr id="47109" name="Rectangle 6"/>
          <p:cNvSpPr/>
          <p:nvPr/>
        </p:nvSpPr>
        <p:spPr>
          <a:xfrm>
            <a:off x="0" y="2476500"/>
            <a:ext cx="9144000" cy="0"/>
          </a:xfrm>
          <a:prstGeom prst="rect">
            <a:avLst/>
          </a:prstGeom>
          <a:no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1800" dirty="0">
              <a:latin typeface="Calibri" panose="020F0502020204030204" pitchFamily="34" charset="0"/>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38</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2024/4/9</a:t>
            </a:fld>
            <a:endParaRPr kumimoji="0" lang="zh-CN"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410" name="Rectangle 2"/>
          <p:cNvSpPr>
            <a:spLocks noGrp="1"/>
          </p:cNvSpPr>
          <p:nvPr>
            <p:ph type="title"/>
            <p:custDataLst>
              <p:tags r:id="rId2"/>
            </p:custDataLst>
          </p:nvPr>
        </p:nvSpPr>
        <p:spPr>
          <a:xfrm>
            <a:off x="502285" y="414655"/>
            <a:ext cx="8139430" cy="922020"/>
          </a:xfrm>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案例：三角形逻辑覆盖问题</a:t>
            </a:r>
          </a:p>
        </p:txBody>
      </p:sp>
      <p:sp>
        <p:nvSpPr>
          <p:cNvPr id="2" name="Rectangle 2"/>
          <p:cNvSpPr>
            <a:spLocks noChangeArrowheads="1"/>
          </p:cNvSpPr>
          <p:nvPr/>
        </p:nvSpPr>
        <p:spPr bwMode="auto">
          <a:xfrm>
            <a:off x="0" y="815340"/>
            <a:ext cx="264160" cy="83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00"/>
          </a:p>
        </p:txBody>
      </p:sp>
      <p:sp>
        <p:nvSpPr>
          <p:cNvPr id="5" name="内容占位符 2"/>
          <p:cNvSpPr txBox="1"/>
          <p:nvPr/>
        </p:nvSpPr>
        <p:spPr>
          <a:xfrm>
            <a:off x="3851910" y="1844675"/>
            <a:ext cx="4524375" cy="379793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gn="just" eaLnBrk="1" hangingPunct="1">
              <a:lnSpc>
                <a:spcPct val="150000"/>
              </a:lnSpc>
              <a:spcBef>
                <a:spcPct val="0"/>
              </a:spcBef>
              <a:defRPr/>
            </a:pPr>
            <a:r>
              <a:rPr lang="zh-CN" altLang="zh-CN" sz="2400" dirty="0">
                <a:solidFill>
                  <a:schemeClr val="tx1"/>
                </a:solidFill>
                <a:latin typeface="微软雅黑" panose="020B0503020204020204" charset="-122"/>
                <a:ea typeface="微软雅黑" panose="020B0503020204020204" charset="-122"/>
                <a:cs typeface="Times New Roman" panose="02020603050405020304" pitchFamily="18" charset="0"/>
              </a:rPr>
              <a:t>根据三角形三边的关系可将三角形分为</a:t>
            </a:r>
            <a:r>
              <a:rPr lang="en-US" altLang="zh-CN" sz="2400" dirty="0">
                <a:solidFill>
                  <a:schemeClr val="tx1"/>
                </a:solidFill>
                <a:latin typeface="微软雅黑" panose="020B0503020204020204" charset="-122"/>
                <a:ea typeface="微软雅黑" panose="020B0503020204020204" charset="-122"/>
                <a:cs typeface="Times New Roman" panose="02020603050405020304" pitchFamily="18" charset="0"/>
              </a:rPr>
              <a:t>4</a:t>
            </a:r>
            <a:r>
              <a:rPr lang="zh-CN" altLang="zh-CN" sz="2400" dirty="0">
                <a:solidFill>
                  <a:schemeClr val="tx1"/>
                </a:solidFill>
                <a:latin typeface="微软雅黑" panose="020B0503020204020204" charset="-122"/>
                <a:ea typeface="微软雅黑" panose="020B0503020204020204" charset="-122"/>
                <a:cs typeface="Times New Roman" panose="02020603050405020304" pitchFamily="18" charset="0"/>
              </a:rPr>
              <a:t>种类型：</a:t>
            </a:r>
          </a:p>
          <a:p>
            <a:pPr algn="just" eaLnBrk="1" hangingPunct="1">
              <a:lnSpc>
                <a:spcPct val="150000"/>
              </a:lnSpc>
              <a:spcBef>
                <a:spcPct val="0"/>
              </a:spcBef>
              <a:defRPr/>
            </a:pPr>
            <a:r>
              <a:rPr lang="zh-CN" altLang="zh-CN" sz="2400" dirty="0">
                <a:solidFill>
                  <a:schemeClr val="tx1"/>
                </a:solidFill>
                <a:latin typeface="微软雅黑" panose="020B0503020204020204" charset="-122"/>
                <a:ea typeface="微软雅黑" panose="020B0503020204020204" charset="-122"/>
                <a:cs typeface="Times New Roman" panose="02020603050405020304" pitchFamily="18" charset="0"/>
              </a:rPr>
              <a:t>不构成三角形、一般三角形、等腰三角形、等边三角形。</a:t>
            </a:r>
          </a:p>
          <a:p>
            <a:pPr algn="just" eaLnBrk="1" hangingPunct="1">
              <a:lnSpc>
                <a:spcPct val="150000"/>
              </a:lnSpc>
              <a:spcBef>
                <a:spcPct val="0"/>
              </a:spcBef>
              <a:defRPr/>
            </a:pPr>
            <a:r>
              <a:rPr lang="zh-CN" altLang="zh-CN" sz="2400" dirty="0">
                <a:solidFill>
                  <a:schemeClr val="tx1"/>
                </a:solidFill>
                <a:latin typeface="微软雅黑" panose="020B0503020204020204" charset="-122"/>
                <a:ea typeface="微软雅黑" panose="020B0503020204020204" charset="-122"/>
                <a:cs typeface="Times New Roman" panose="02020603050405020304" pitchFamily="18" charset="0"/>
              </a:rPr>
              <a:t>根据该原则实现一个判断三角形的程序</a:t>
            </a:r>
            <a:r>
              <a:rPr lang="zh-CN" altLang="en-US" sz="2400" dirty="0">
                <a:solidFill>
                  <a:schemeClr val="tx1"/>
                </a:solidFill>
                <a:latin typeface="微软雅黑" panose="020B0503020204020204" charset="-122"/>
                <a:ea typeface="微软雅黑" panose="020B0503020204020204" charset="-122"/>
                <a:cs typeface="Times New Roman" panose="02020603050405020304" pitchFamily="18" charset="0"/>
              </a:rPr>
              <a:t>。</a:t>
            </a:r>
          </a:p>
        </p:txBody>
      </p:sp>
      <p:grpSp>
        <p:nvGrpSpPr>
          <p:cNvPr id="3" name="组合 2"/>
          <p:cNvGrpSpPr/>
          <p:nvPr/>
        </p:nvGrpSpPr>
        <p:grpSpPr>
          <a:xfrm>
            <a:off x="755490" y="2133257"/>
            <a:ext cx="2794159" cy="2839372"/>
            <a:chOff x="1273174" y="1647156"/>
            <a:chExt cx="3725545" cy="3785829"/>
          </a:xfrm>
        </p:grpSpPr>
        <p:pic>
          <p:nvPicPr>
            <p:cNvPr id="1075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3174" y="1647156"/>
              <a:ext cx="3725545" cy="3785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1814193" y="3805309"/>
              <a:ext cx="2876973" cy="95419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100" b="1" dirty="0">
                  <a:solidFill>
                    <a:schemeClr val="tx1"/>
                  </a:solidFill>
                  <a:latin typeface="微软雅黑" panose="020B0503020204020204" charset="-122"/>
                  <a:ea typeface="微软雅黑" panose="020B0503020204020204" charset="-122"/>
                  <a:cs typeface="Times New Roman" panose="02020603050405020304" pitchFamily="18" charset="0"/>
                </a:rPr>
                <a:t>三角形逻辑覆盖</a:t>
              </a:r>
            </a:p>
          </p:txBody>
        </p:sp>
      </p:grpSp>
      <p:sp>
        <p:nvSpPr>
          <p:cNvPr id="7" name="日期占位符 6"/>
          <p:cNvSpPr>
            <a:spLocks noGrp="1"/>
          </p:cNvSpPr>
          <p:nvPr>
            <p:ph type="dt" sz="half" idx="10"/>
          </p:nvPr>
        </p:nvSpPr>
        <p:spPr/>
        <p:txBody>
          <a:bodyPr/>
          <a:lstStyle/>
          <a:p>
            <a:fld id="{760FBDFE-C587-4B4C-A407-44438C67B59E}" type="datetime1">
              <a:rPr lang="zh-CN" altLang="en-US" smtClean="0"/>
              <a:t>2024/4/9</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39</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45"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0"/>
                                        <p:tgtEl>
                                          <p:spTgt spid="3"/>
                                        </p:tgtEl>
                                      </p:cBhvr>
                                    </p:animEffect>
                                    <p:anim calcmode="lin" valueType="num">
                                      <p:cBhvr>
                                        <p:cTn id="11" dur="2000" fill="hold"/>
                                        <p:tgtEl>
                                          <p:spTgt spid="3"/>
                                        </p:tgtEl>
                                        <p:attrNameLst>
                                          <p:attrName>ppt_w</p:attrName>
                                        </p:attrNameLst>
                                      </p:cBhvr>
                                      <p:tavLst>
                                        <p:tav tm="0" fmla="#ppt_w*sin(2.5*pi*$)">
                                          <p:val>
                                            <p:fltVal val="0"/>
                                          </p:val>
                                        </p:tav>
                                        <p:tav tm="100000">
                                          <p:val>
                                            <p:fltVal val="1"/>
                                          </p:val>
                                        </p:tav>
                                      </p:tavLst>
                                    </p:anim>
                                    <p:anim calcmode="lin" valueType="num">
                                      <p:cBhvr>
                                        <p:cTn id="12" dur="20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案例：三角形逻辑覆盖问题</a:t>
            </a:r>
          </a:p>
        </p:txBody>
      </p:sp>
      <p:sp>
        <p:nvSpPr>
          <p:cNvPr id="2" name="Rectangle 2"/>
          <p:cNvSpPr>
            <a:spLocks noChangeArrowheads="1"/>
          </p:cNvSpPr>
          <p:nvPr/>
        </p:nvSpPr>
        <p:spPr bwMode="auto">
          <a:xfrm>
            <a:off x="0" y="815340"/>
            <a:ext cx="264160" cy="83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00"/>
          </a:p>
        </p:txBody>
      </p:sp>
      <p:sp>
        <p:nvSpPr>
          <p:cNvPr id="5" name="内容占位符 2"/>
          <p:cNvSpPr txBox="1"/>
          <p:nvPr/>
        </p:nvSpPr>
        <p:spPr>
          <a:xfrm>
            <a:off x="633730" y="1402715"/>
            <a:ext cx="7657465" cy="4660900"/>
          </a:xfrm>
          <a:prstGeom prst="rect">
            <a:avLst/>
          </a:prstGeom>
        </p:spPr>
        <p:style>
          <a:lnRef idx="2">
            <a:schemeClr val="accent1"/>
          </a:lnRef>
          <a:fillRef idx="1">
            <a:schemeClr val="lt1"/>
          </a:fillRef>
          <a:effectRef idx="0">
            <a:schemeClr val="accent1"/>
          </a:effectRef>
          <a:fontRef idx="minor">
            <a:schemeClr val="dk1"/>
          </a:fontRef>
        </p:style>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30000"/>
              </a:lnSpc>
              <a:spcBef>
                <a:spcPct val="0"/>
              </a:spcBef>
              <a:buNone/>
              <a:defRPr/>
            </a:pPr>
            <a:r>
              <a:rPr lang="en-US"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INT A B C					//</a:t>
            </a:r>
            <a:r>
              <a:rPr lang="zh-CN"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三角形的三边</a:t>
            </a:r>
          </a:p>
          <a:p>
            <a:pPr marL="0" lvl="0" indent="0" eaLnBrk="1" hangingPunct="1">
              <a:lnSpc>
                <a:spcPct val="130000"/>
              </a:lnSpc>
              <a:spcBef>
                <a:spcPct val="0"/>
              </a:spcBef>
              <a:buNone/>
              <a:defRPr/>
            </a:pPr>
            <a:r>
              <a:rPr lang="en-US"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IF((A+B&gt;C)&amp;&amp;(A+C&gt;B)&amp;&amp;(B+C)&gt;A)      	//</a:t>
            </a:r>
            <a:r>
              <a:rPr lang="zh-CN"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是否满足三角形成立条件</a:t>
            </a:r>
          </a:p>
          <a:p>
            <a:pPr marL="0" lvl="0" indent="0" eaLnBrk="1" hangingPunct="1">
              <a:lnSpc>
                <a:spcPct val="130000"/>
              </a:lnSpc>
              <a:spcBef>
                <a:spcPct val="0"/>
              </a:spcBef>
              <a:buNone/>
              <a:defRPr/>
            </a:pPr>
            <a:r>
              <a:rPr lang="en-US"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     IF((A==B)&amp;&amp;(B==C))		            //</a:t>
            </a:r>
            <a:r>
              <a:rPr lang="zh-CN"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等边三角形</a:t>
            </a:r>
          </a:p>
          <a:p>
            <a:pPr marL="0" lvl="0" indent="0" eaLnBrk="1" hangingPunct="1">
              <a:lnSpc>
                <a:spcPct val="130000"/>
              </a:lnSpc>
              <a:spcBef>
                <a:spcPct val="0"/>
              </a:spcBef>
              <a:buNone/>
              <a:defRPr/>
            </a:pPr>
            <a:r>
              <a:rPr lang="en-US"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  		</a:t>
            </a:r>
            <a:r>
              <a:rPr lang="zh-CN"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等边三角形</a:t>
            </a:r>
          </a:p>
          <a:p>
            <a:pPr marL="0" lvl="0" indent="0" eaLnBrk="1" hangingPunct="1">
              <a:lnSpc>
                <a:spcPct val="130000"/>
              </a:lnSpc>
              <a:spcBef>
                <a:spcPct val="0"/>
              </a:spcBef>
              <a:buNone/>
              <a:defRPr/>
            </a:pPr>
            <a:r>
              <a:rPr lang="en-US"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     ELSE </a:t>
            </a:r>
          </a:p>
          <a:p>
            <a:pPr marL="0" lvl="0" indent="0" eaLnBrk="1" hangingPunct="1">
              <a:lnSpc>
                <a:spcPct val="130000"/>
              </a:lnSpc>
              <a:spcBef>
                <a:spcPct val="0"/>
              </a:spcBef>
              <a:buNone/>
              <a:defRPr/>
            </a:pPr>
            <a:r>
              <a:rPr lang="en-US"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              IF((A==B)||(B==C)||(A==C))	            //</a:t>
            </a:r>
            <a:r>
              <a:rPr lang="zh-CN"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等腰三角形</a:t>
            </a:r>
          </a:p>
          <a:p>
            <a:pPr marL="0" lvl="0" indent="0" eaLnBrk="1" hangingPunct="1">
              <a:lnSpc>
                <a:spcPct val="130000"/>
              </a:lnSpc>
              <a:spcBef>
                <a:spcPct val="0"/>
              </a:spcBef>
              <a:buNone/>
              <a:defRPr/>
            </a:pPr>
            <a:r>
              <a:rPr lang="en-US"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 		</a:t>
            </a:r>
            <a:r>
              <a:rPr lang="zh-CN"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等腰三角形</a:t>
            </a:r>
          </a:p>
          <a:p>
            <a:pPr marL="0" lvl="0" indent="0" eaLnBrk="1" hangingPunct="1">
              <a:lnSpc>
                <a:spcPct val="130000"/>
              </a:lnSpc>
              <a:spcBef>
                <a:spcPct val="0"/>
              </a:spcBef>
              <a:buNone/>
              <a:defRPr/>
            </a:pPr>
            <a:r>
              <a:rPr lang="en-US"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 	ELSE					//</a:t>
            </a:r>
            <a:r>
              <a:rPr lang="zh-CN"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一般三角形</a:t>
            </a:r>
          </a:p>
          <a:p>
            <a:pPr marL="0" lvl="0" indent="0" eaLnBrk="1" hangingPunct="1">
              <a:lnSpc>
                <a:spcPct val="130000"/>
              </a:lnSpc>
              <a:spcBef>
                <a:spcPct val="0"/>
              </a:spcBef>
              <a:buNone/>
              <a:defRPr/>
            </a:pPr>
            <a:r>
              <a:rPr lang="en-US"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 		</a:t>
            </a:r>
            <a:r>
              <a:rPr lang="zh-CN"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一般三角形</a:t>
            </a:r>
          </a:p>
          <a:p>
            <a:pPr marL="0" lvl="0" indent="0" eaLnBrk="1" hangingPunct="1">
              <a:lnSpc>
                <a:spcPct val="130000"/>
              </a:lnSpc>
              <a:spcBef>
                <a:spcPct val="0"/>
              </a:spcBef>
              <a:buNone/>
              <a:defRPr/>
            </a:pPr>
            <a:r>
              <a:rPr lang="en-US"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ELSE</a:t>
            </a:r>
            <a:endParaRPr lang="zh-CN" altLang="zh-CN" sz="1800" dirty="0">
              <a:solidFill>
                <a:schemeClr val="tx1"/>
              </a:solidFill>
              <a:latin typeface="微软雅黑" panose="020B0503020204020204" charset="-122"/>
              <a:ea typeface="微软雅黑" panose="020B0503020204020204" charset="-122"/>
              <a:cs typeface="Times New Roman" panose="02020603050405020304" pitchFamily="18" charset="0"/>
            </a:endParaRPr>
          </a:p>
          <a:p>
            <a:pPr marL="0" lvl="0" indent="0" eaLnBrk="1" hangingPunct="1">
              <a:lnSpc>
                <a:spcPct val="130000"/>
              </a:lnSpc>
              <a:spcBef>
                <a:spcPct val="0"/>
              </a:spcBef>
              <a:buNone/>
              <a:defRPr/>
            </a:pPr>
            <a:r>
              <a:rPr lang="en-US"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 	</a:t>
            </a:r>
            <a:r>
              <a:rPr lang="zh-CN"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不是三角形 </a:t>
            </a:r>
          </a:p>
          <a:p>
            <a:pPr marL="0" lvl="0" indent="0" eaLnBrk="1" hangingPunct="1">
              <a:lnSpc>
                <a:spcPct val="130000"/>
              </a:lnSpc>
              <a:spcBef>
                <a:spcPct val="0"/>
              </a:spcBef>
              <a:buNone/>
              <a:defRPr/>
            </a:pPr>
            <a:r>
              <a:rPr lang="en-US" altLang="zh-CN" sz="1800" dirty="0">
                <a:solidFill>
                  <a:schemeClr val="tx1"/>
                </a:solidFill>
                <a:latin typeface="微软雅黑" panose="020B0503020204020204" charset="-122"/>
                <a:ea typeface="微软雅黑" panose="020B0503020204020204" charset="-122"/>
                <a:cs typeface="Times New Roman" panose="02020603050405020304" pitchFamily="18" charset="0"/>
              </a:rPr>
              <a:t>END</a:t>
            </a:r>
            <a:endParaRPr lang="zh-CN" altLang="zh-CN" sz="1800" dirty="0">
              <a:solidFill>
                <a:schemeClr val="tx1"/>
              </a:solidFill>
              <a:latin typeface="微软雅黑" panose="020B0503020204020204" charset="-122"/>
              <a:ea typeface="微软雅黑" panose="020B0503020204020204" charset="-122"/>
              <a:cs typeface="Times New Roman" panose="02020603050405020304" pitchFamily="18" charset="0"/>
            </a:endParaRPr>
          </a:p>
          <a:p>
            <a:pPr marL="0" indent="0" eaLnBrk="1" hangingPunct="1">
              <a:lnSpc>
                <a:spcPct val="150000"/>
              </a:lnSpc>
              <a:spcBef>
                <a:spcPct val="0"/>
              </a:spcBef>
              <a:buNone/>
              <a:defRPr/>
            </a:pPr>
            <a:endParaRPr lang="zh-CN" altLang="zh-CN" sz="1800" dirty="0">
              <a:solidFill>
                <a:schemeClr val="tx1"/>
              </a:solidFill>
              <a:latin typeface="微软雅黑" panose="020B0503020204020204" charset="-122"/>
              <a:ea typeface="微软雅黑" panose="020B0503020204020204" charset="-122"/>
              <a:cs typeface="Times New Roman" panose="02020603050405020304" pitchFamily="18" charset="0"/>
            </a:endParaRPr>
          </a:p>
        </p:txBody>
      </p:sp>
      <p:sp>
        <p:nvSpPr>
          <p:cNvPr id="6" name="日期占位符 5"/>
          <p:cNvSpPr>
            <a:spLocks noGrp="1"/>
          </p:cNvSpPr>
          <p:nvPr>
            <p:ph type="dt" sz="half" idx="10"/>
          </p:nvPr>
        </p:nvSpPr>
        <p:spPr/>
        <p:txBody>
          <a:bodyPr/>
          <a:lstStyle/>
          <a:p>
            <a:fld id="{760FBDFE-C587-4B4C-A407-44438C67B59E}" type="datetime1">
              <a:rPr lang="zh-CN" altLang="en-US" smtClean="0"/>
              <a:t>2024/4/9</a:t>
            </a:fld>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40</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Scale>
                                      <p:cBhvr>
                                        <p:cTn id="7"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5"/>
                                        </p:tgtEl>
                                        <p:attrNameLst>
                                          <p:attrName>ppt_x</p:attrName>
                                          <p:attrName>ppt_y</p:attrName>
                                        </p:attrNameLst>
                                      </p:cBhvr>
                                    </p:animMotion>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a:sym typeface="+mn-ea"/>
              </a:rPr>
              <a:t>案例：三角形逻辑覆盖问题</a:t>
            </a:r>
            <a:endParaRPr lang="zh-CN" altLang="en-US"/>
          </a:p>
        </p:txBody>
      </p:sp>
      <p:sp>
        <p:nvSpPr>
          <p:cNvPr id="2" name="Rectangle 2"/>
          <p:cNvSpPr>
            <a:spLocks noChangeArrowheads="1"/>
          </p:cNvSpPr>
          <p:nvPr/>
        </p:nvSpPr>
        <p:spPr bwMode="auto">
          <a:xfrm>
            <a:off x="0" y="815340"/>
            <a:ext cx="264160" cy="83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00"/>
          </a:p>
        </p:txBody>
      </p:sp>
      <p:sp>
        <p:nvSpPr>
          <p:cNvPr id="3" name="Rectangle 2"/>
          <p:cNvSpPr>
            <a:spLocks noChangeArrowheads="1"/>
          </p:cNvSpPr>
          <p:nvPr/>
        </p:nvSpPr>
        <p:spPr bwMode="auto">
          <a:xfrm>
            <a:off x="0" y="815340"/>
            <a:ext cx="264160" cy="83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00"/>
          </a:p>
        </p:txBody>
      </p:sp>
      <p:graphicFrame>
        <p:nvGraphicFramePr>
          <p:cNvPr id="4" name="对象 3"/>
          <p:cNvGraphicFramePr>
            <a:graphicFrameLocks noChangeAspect="1"/>
          </p:cNvGraphicFramePr>
          <p:nvPr/>
        </p:nvGraphicFramePr>
        <p:xfrm>
          <a:off x="3420110" y="1124585"/>
          <a:ext cx="5466715" cy="5490210"/>
        </p:xfrm>
        <a:graphic>
          <a:graphicData uri="http://schemas.openxmlformats.org/presentationml/2006/ole">
            <mc:AlternateContent xmlns:mc="http://schemas.openxmlformats.org/markup-compatibility/2006">
              <mc:Choice xmlns:v="urn:schemas-microsoft-com:vml" Requires="v">
                <p:oleObj name="Visio" r:id="rId4" imgW="6934200" imgH="6959600" progId="Visio.Drawing.11">
                  <p:embed/>
                </p:oleObj>
              </mc:Choice>
              <mc:Fallback>
                <p:oleObj name="Visio" r:id="rId4" imgW="6934200" imgH="6959600"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0110" y="1124585"/>
                        <a:ext cx="5466715" cy="5490210"/>
                      </a:xfrm>
                      <a:prstGeom prst="rect">
                        <a:avLst/>
                      </a:prstGeom>
                      <a:noFill/>
                    </p:spPr>
                  </p:pic>
                </p:oleObj>
              </mc:Fallback>
            </mc:AlternateContent>
          </a:graphicData>
        </a:graphic>
      </p:graphicFrame>
      <p:sp>
        <p:nvSpPr>
          <p:cNvPr id="7" name="内容占位符 2"/>
          <p:cNvSpPr txBox="1"/>
          <p:nvPr/>
        </p:nvSpPr>
        <p:spPr>
          <a:xfrm>
            <a:off x="899795" y="3356902"/>
            <a:ext cx="1821180" cy="61629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000" b="1" dirty="0">
                <a:solidFill>
                  <a:schemeClr val="tx1"/>
                </a:solidFill>
                <a:latin typeface="微软雅黑" panose="020B0503020204020204" charset="-122"/>
                <a:ea typeface="微软雅黑" panose="020B0503020204020204" charset="-122"/>
                <a:cs typeface="Times New Roman" panose="02020603050405020304" pitchFamily="18" charset="0"/>
              </a:rPr>
              <a:t>三角形流程图</a:t>
            </a:r>
          </a:p>
        </p:txBody>
      </p:sp>
      <p:sp>
        <p:nvSpPr>
          <p:cNvPr id="9" name="日期占位符 8"/>
          <p:cNvSpPr>
            <a:spLocks noGrp="1"/>
          </p:cNvSpPr>
          <p:nvPr>
            <p:ph type="dt" sz="half" idx="10"/>
          </p:nvPr>
        </p:nvSpPr>
        <p:spPr/>
        <p:txBody>
          <a:bodyPr/>
          <a:lstStyle/>
          <a:p>
            <a:fld id="{760FBDFE-C587-4B4C-A407-44438C67B59E}" type="datetime1">
              <a:rPr lang="zh-CN" altLang="en-US" smtClean="0"/>
              <a:t>2024/4/9</a:t>
            </a:fld>
            <a:endParaRPr lang="zh-CN" altLang="en-US"/>
          </a:p>
        </p:txBody>
      </p:sp>
      <p:sp>
        <p:nvSpPr>
          <p:cNvPr id="10" name="灯片编号占位符 9"/>
          <p:cNvSpPr>
            <a:spLocks noGrp="1"/>
          </p:cNvSpPr>
          <p:nvPr>
            <p:ph type="sldNum" sz="quarter" idx="12"/>
          </p:nvPr>
        </p:nvSpPr>
        <p:spPr/>
        <p:txBody>
          <a:bodyPr/>
          <a:lstStyle/>
          <a:p>
            <a:fld id="{49AE70B2-8BF9-45C0-BB95-33D1B9D3A854}" type="slidenum">
              <a:rPr lang="zh-CN" altLang="en-US" smtClean="0"/>
              <a:t>41</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a:sym typeface="+mn-ea"/>
              </a:rPr>
              <a:t>案例：三角形逻辑覆盖问题</a:t>
            </a:r>
            <a:endParaRPr lang="zh-CN" altLang="en-US"/>
          </a:p>
        </p:txBody>
      </p:sp>
      <p:sp>
        <p:nvSpPr>
          <p:cNvPr id="2" name="Rectangle 2"/>
          <p:cNvSpPr>
            <a:spLocks noChangeArrowheads="1"/>
          </p:cNvSpPr>
          <p:nvPr/>
        </p:nvSpPr>
        <p:spPr bwMode="auto">
          <a:xfrm>
            <a:off x="0" y="815340"/>
            <a:ext cx="264160" cy="83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00"/>
          </a:p>
        </p:txBody>
      </p:sp>
      <p:sp>
        <p:nvSpPr>
          <p:cNvPr id="3" name="Rectangle 2"/>
          <p:cNvSpPr>
            <a:spLocks noChangeArrowheads="1"/>
          </p:cNvSpPr>
          <p:nvPr/>
        </p:nvSpPr>
        <p:spPr bwMode="auto">
          <a:xfrm>
            <a:off x="0" y="815340"/>
            <a:ext cx="264160" cy="83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00"/>
          </a:p>
        </p:txBody>
      </p:sp>
      <p:sp>
        <p:nvSpPr>
          <p:cNvPr id="7" name="内容占位符 2"/>
          <p:cNvSpPr txBox="1"/>
          <p:nvPr/>
        </p:nvSpPr>
        <p:spPr>
          <a:xfrm>
            <a:off x="683895" y="1671955"/>
            <a:ext cx="3606165" cy="1722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algn="just" eaLnBrk="1" hangingPunct="1">
              <a:lnSpc>
                <a:spcPct val="150000"/>
              </a:lnSpc>
              <a:spcBef>
                <a:spcPct val="0"/>
              </a:spcBef>
              <a:buNone/>
              <a:defRPr/>
            </a:pPr>
            <a:r>
              <a:rPr lang="zh-CN" altLang="zh-CN" sz="2400" dirty="0">
                <a:solidFill>
                  <a:schemeClr val="tx1"/>
                </a:solidFill>
                <a:latin typeface="微软雅黑" panose="020B0503020204020204" charset="-122"/>
                <a:ea typeface="微软雅黑" panose="020B0503020204020204" charset="-122"/>
                <a:cs typeface="Times New Roman" panose="02020603050405020304" pitchFamily="18" charset="0"/>
              </a:rPr>
              <a:t>对程序进行分析，程序的执行路径</a:t>
            </a:r>
            <a:r>
              <a:rPr lang="zh-CN" altLang="en-US" sz="2400" dirty="0">
                <a:solidFill>
                  <a:schemeClr val="tx1"/>
                </a:solidFill>
                <a:latin typeface="微软雅黑" panose="020B0503020204020204" charset="-122"/>
                <a:ea typeface="微软雅黑" panose="020B0503020204020204" charset="-122"/>
                <a:cs typeface="Times New Roman" panose="02020603050405020304" pitchFamily="18" charset="0"/>
              </a:rPr>
              <a:t>如右图。</a:t>
            </a:r>
          </a:p>
        </p:txBody>
      </p:sp>
      <p:sp>
        <p:nvSpPr>
          <p:cNvPr id="5" name="Rectangle 2"/>
          <p:cNvSpPr>
            <a:spLocks noChangeArrowheads="1"/>
          </p:cNvSpPr>
          <p:nvPr/>
        </p:nvSpPr>
        <p:spPr bwMode="auto">
          <a:xfrm>
            <a:off x="0" y="815340"/>
            <a:ext cx="264160" cy="83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00"/>
          </a:p>
        </p:txBody>
      </p:sp>
      <p:graphicFrame>
        <p:nvGraphicFramePr>
          <p:cNvPr id="6" name="对象 5"/>
          <p:cNvGraphicFramePr>
            <a:graphicFrameLocks noChangeAspect="1"/>
          </p:cNvGraphicFramePr>
          <p:nvPr/>
        </p:nvGraphicFramePr>
        <p:xfrm>
          <a:off x="4211955" y="1340485"/>
          <a:ext cx="4497070" cy="5003165"/>
        </p:xfrm>
        <a:graphic>
          <a:graphicData uri="http://schemas.openxmlformats.org/presentationml/2006/ole">
            <mc:AlternateContent xmlns:mc="http://schemas.openxmlformats.org/markup-compatibility/2006">
              <mc:Choice xmlns:v="urn:schemas-microsoft-com:vml" Requires="v">
                <p:oleObj name="Visio" r:id="rId4" imgW="4279900" imgH="4775200" progId="Visio.Drawing.11">
                  <p:embed/>
                </p:oleObj>
              </mc:Choice>
              <mc:Fallback>
                <p:oleObj name="Visio" r:id="rId4" imgW="4279900" imgH="4775200"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1955" y="1340485"/>
                        <a:ext cx="4497070" cy="5003165"/>
                      </a:xfrm>
                      <a:prstGeom prst="rect">
                        <a:avLst/>
                      </a:prstGeom>
                      <a:noFill/>
                    </p:spPr>
                  </p:pic>
                </p:oleObj>
              </mc:Fallback>
            </mc:AlternateContent>
          </a:graphicData>
        </a:graphic>
      </p:graphicFrame>
      <p:sp>
        <p:nvSpPr>
          <p:cNvPr id="9" name="内容占位符 2"/>
          <p:cNvSpPr txBox="1"/>
          <p:nvPr/>
        </p:nvSpPr>
        <p:spPr>
          <a:xfrm>
            <a:off x="755650" y="3140710"/>
            <a:ext cx="3275330" cy="247078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algn="just" eaLnBrk="1" hangingPunct="1">
              <a:lnSpc>
                <a:spcPct val="150000"/>
              </a:lnSpc>
              <a:spcBef>
                <a:spcPct val="0"/>
              </a:spcBef>
              <a:buNone/>
              <a:defRPr/>
            </a:pPr>
            <a:r>
              <a:rPr lang="zh-CN" altLang="en-US" sz="2400" dirty="0">
                <a:solidFill>
                  <a:schemeClr val="tx1"/>
                </a:solidFill>
                <a:latin typeface="微软雅黑" panose="020B0503020204020204" charset="-122"/>
                <a:ea typeface="微软雅黑" panose="020B0503020204020204" charset="-122"/>
                <a:cs typeface="Times New Roman" panose="02020603050405020304" pitchFamily="18" charset="0"/>
              </a:rPr>
              <a:t>图中</a:t>
            </a:r>
            <a:r>
              <a:rPr lang="zh-CN" altLang="zh-CN" sz="2400" dirty="0">
                <a:solidFill>
                  <a:schemeClr val="tx1"/>
                </a:solidFill>
                <a:latin typeface="微软雅黑" panose="020B0503020204020204" charset="-122"/>
                <a:ea typeface="微软雅黑" panose="020B0503020204020204" charset="-122"/>
                <a:cs typeface="Times New Roman" panose="02020603050405020304" pitchFamily="18" charset="0"/>
              </a:rPr>
              <a:t>数字是代码行号，当执行程序输入数据时，程序根据条件判断沿着不同的路径执行</a:t>
            </a:r>
            <a:r>
              <a:rPr lang="zh-CN" altLang="en-US" sz="2400" dirty="0">
                <a:solidFill>
                  <a:schemeClr val="tx1"/>
                </a:solidFill>
                <a:latin typeface="微软雅黑" panose="020B0503020204020204" charset="-122"/>
                <a:ea typeface="微软雅黑" panose="020B0503020204020204" charset="-122"/>
                <a:cs typeface="Times New Roman" panose="02020603050405020304" pitchFamily="18" charset="0"/>
              </a:rPr>
              <a:t>。</a:t>
            </a:r>
          </a:p>
        </p:txBody>
      </p:sp>
      <p:sp>
        <p:nvSpPr>
          <p:cNvPr id="10" name="日期占位符 9"/>
          <p:cNvSpPr>
            <a:spLocks noGrp="1"/>
          </p:cNvSpPr>
          <p:nvPr>
            <p:ph type="dt" sz="half" idx="10"/>
          </p:nvPr>
        </p:nvSpPr>
        <p:spPr/>
        <p:txBody>
          <a:bodyPr/>
          <a:lstStyle/>
          <a:p>
            <a:fld id="{760FBDFE-C587-4B4C-A407-44438C67B59E}" type="datetime1">
              <a:rPr lang="zh-CN" altLang="en-US" smtClean="0"/>
              <a:t>2024/4/9</a:t>
            </a:fld>
            <a:endParaRPr lang="zh-CN" altLang="en-US"/>
          </a:p>
        </p:txBody>
      </p:sp>
      <p:sp>
        <p:nvSpPr>
          <p:cNvPr id="11" name="灯片编号占位符 10"/>
          <p:cNvSpPr>
            <a:spLocks noGrp="1"/>
          </p:cNvSpPr>
          <p:nvPr>
            <p:ph type="sldNum" sz="quarter" idx="12"/>
          </p:nvPr>
        </p:nvSpPr>
        <p:spPr/>
        <p:txBody>
          <a:bodyPr/>
          <a:lstStyle/>
          <a:p>
            <a:fld id="{49AE70B2-8BF9-45C0-BB95-33D1B9D3A854}" type="slidenum">
              <a:rPr lang="zh-CN" altLang="en-US" smtClean="0"/>
              <a:t>42</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a:sym typeface="+mn-ea"/>
              </a:rPr>
              <a:t>案例：三角形逻辑覆盖问题</a:t>
            </a:r>
            <a:endParaRPr lang="zh-CN" altLang="en-US"/>
          </a:p>
        </p:txBody>
      </p:sp>
      <p:sp>
        <p:nvSpPr>
          <p:cNvPr id="2" name="Rectangle 2"/>
          <p:cNvSpPr>
            <a:spLocks noChangeArrowheads="1"/>
          </p:cNvSpPr>
          <p:nvPr/>
        </p:nvSpPr>
        <p:spPr bwMode="auto">
          <a:xfrm>
            <a:off x="0" y="815340"/>
            <a:ext cx="264160" cy="83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00"/>
          </a:p>
        </p:txBody>
      </p:sp>
      <p:sp>
        <p:nvSpPr>
          <p:cNvPr id="3" name="Rectangle 2"/>
          <p:cNvSpPr>
            <a:spLocks noChangeArrowheads="1"/>
          </p:cNvSpPr>
          <p:nvPr/>
        </p:nvSpPr>
        <p:spPr bwMode="auto">
          <a:xfrm>
            <a:off x="0" y="815340"/>
            <a:ext cx="264160" cy="83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00"/>
          </a:p>
        </p:txBody>
      </p:sp>
      <p:sp>
        <p:nvSpPr>
          <p:cNvPr id="7" name="内容占位符 2"/>
          <p:cNvSpPr txBox="1"/>
          <p:nvPr/>
        </p:nvSpPr>
        <p:spPr>
          <a:xfrm>
            <a:off x="611505" y="1423035"/>
            <a:ext cx="8097520" cy="17621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algn="just" eaLnBrk="1" hangingPunct="1">
              <a:lnSpc>
                <a:spcPct val="150000"/>
              </a:lnSpc>
              <a:spcBef>
                <a:spcPct val="0"/>
              </a:spcBef>
              <a:buNone/>
              <a:defRPr/>
            </a:pPr>
            <a:r>
              <a:rPr lang="zh-CN" altLang="zh-CN" sz="2400" dirty="0">
                <a:solidFill>
                  <a:schemeClr val="tx1"/>
                </a:solidFill>
                <a:latin typeface="微软雅黑" panose="020B0503020204020204" charset="-122"/>
                <a:ea typeface="微软雅黑" panose="020B0503020204020204" charset="-122"/>
                <a:cs typeface="Times New Roman" panose="02020603050405020304" pitchFamily="18" charset="0"/>
              </a:rPr>
              <a:t>使用判定覆盖，使程序中每个判定语句至少有一次“真”值，至少有一次“假”值</a:t>
            </a:r>
            <a:r>
              <a:rPr lang="zh-CN" altLang="en-US" sz="2400" dirty="0">
                <a:solidFill>
                  <a:schemeClr val="tx1"/>
                </a:solidFill>
                <a:latin typeface="微软雅黑" panose="020B0503020204020204" charset="-122"/>
                <a:ea typeface="微软雅黑" panose="020B0503020204020204" charset="-122"/>
                <a:cs typeface="Times New Roman" panose="02020603050405020304" pitchFamily="18" charset="0"/>
              </a:rPr>
              <a:t>，根据流程图和路径图分析，可设计</a:t>
            </a:r>
            <a:r>
              <a:rPr lang="en-US" altLang="zh-CN" sz="2400" dirty="0">
                <a:solidFill>
                  <a:schemeClr val="tx1"/>
                </a:solidFill>
                <a:latin typeface="微软雅黑" panose="020B0503020204020204" charset="-122"/>
                <a:ea typeface="微软雅黑" panose="020B0503020204020204" charset="-122"/>
                <a:cs typeface="Times New Roman" panose="02020603050405020304" pitchFamily="18" charset="0"/>
              </a:rPr>
              <a:t>4</a:t>
            </a:r>
            <a:r>
              <a:rPr lang="zh-CN" altLang="en-US" sz="2400" dirty="0">
                <a:solidFill>
                  <a:schemeClr val="tx1"/>
                </a:solidFill>
                <a:latin typeface="微软雅黑" panose="020B0503020204020204" charset="-122"/>
                <a:ea typeface="微软雅黑" panose="020B0503020204020204" charset="-122"/>
                <a:cs typeface="Times New Roman" panose="02020603050405020304" pitchFamily="18" charset="0"/>
              </a:rPr>
              <a:t>个测试用例。</a:t>
            </a:r>
          </a:p>
        </p:txBody>
      </p:sp>
      <p:sp>
        <p:nvSpPr>
          <p:cNvPr id="5" name="Rectangle 2"/>
          <p:cNvSpPr>
            <a:spLocks noChangeArrowheads="1"/>
          </p:cNvSpPr>
          <p:nvPr/>
        </p:nvSpPr>
        <p:spPr bwMode="auto">
          <a:xfrm>
            <a:off x="0" y="815340"/>
            <a:ext cx="264160" cy="83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00"/>
          </a:p>
        </p:txBody>
      </p:sp>
      <p:graphicFrame>
        <p:nvGraphicFramePr>
          <p:cNvPr id="4" name="表格 3"/>
          <p:cNvGraphicFramePr>
            <a:graphicFrameLocks noGrp="1"/>
          </p:cNvGraphicFramePr>
          <p:nvPr>
            <p:custDataLst>
              <p:tags r:id="rId2"/>
            </p:custDataLst>
          </p:nvPr>
        </p:nvGraphicFramePr>
        <p:xfrm>
          <a:off x="1146175" y="3429000"/>
          <a:ext cx="7042785" cy="2518410"/>
        </p:xfrm>
        <a:graphic>
          <a:graphicData uri="http://schemas.openxmlformats.org/drawingml/2006/table">
            <a:tbl>
              <a:tblPr firstRow="1" firstCol="1" bandRow="1">
                <a:tableStyleId>{5C22544A-7EE6-4342-B048-85BDC9FD1C3A}</a:tableStyleId>
              </a:tblPr>
              <a:tblGrid>
                <a:gridCol w="1260475">
                  <a:extLst>
                    <a:ext uri="{9D8B030D-6E8A-4147-A177-3AD203B41FA5}">
                      <a16:colId xmlns:a16="http://schemas.microsoft.com/office/drawing/2014/main" val="20000"/>
                    </a:ext>
                  </a:extLst>
                </a:gridCol>
                <a:gridCol w="781685">
                  <a:extLst>
                    <a:ext uri="{9D8B030D-6E8A-4147-A177-3AD203B41FA5}">
                      <a16:colId xmlns:a16="http://schemas.microsoft.com/office/drawing/2014/main" val="20001"/>
                    </a:ext>
                  </a:extLst>
                </a:gridCol>
                <a:gridCol w="781050">
                  <a:extLst>
                    <a:ext uri="{9D8B030D-6E8A-4147-A177-3AD203B41FA5}">
                      <a16:colId xmlns:a16="http://schemas.microsoft.com/office/drawing/2014/main" val="20002"/>
                    </a:ext>
                  </a:extLst>
                </a:gridCol>
                <a:gridCol w="780415">
                  <a:extLst>
                    <a:ext uri="{9D8B030D-6E8A-4147-A177-3AD203B41FA5}">
                      <a16:colId xmlns:a16="http://schemas.microsoft.com/office/drawing/2014/main" val="20003"/>
                    </a:ext>
                  </a:extLst>
                </a:gridCol>
                <a:gridCol w="1757680">
                  <a:extLst>
                    <a:ext uri="{9D8B030D-6E8A-4147-A177-3AD203B41FA5}">
                      <a16:colId xmlns:a16="http://schemas.microsoft.com/office/drawing/2014/main" val="20004"/>
                    </a:ext>
                  </a:extLst>
                </a:gridCol>
                <a:gridCol w="1681480">
                  <a:extLst>
                    <a:ext uri="{9D8B030D-6E8A-4147-A177-3AD203B41FA5}">
                      <a16:colId xmlns:a16="http://schemas.microsoft.com/office/drawing/2014/main" val="20005"/>
                    </a:ext>
                  </a:extLst>
                </a:gridCol>
              </a:tblGrid>
              <a:tr h="419735">
                <a:tc rowSpan="2">
                  <a:txBody>
                    <a:bodyPr/>
                    <a:lstStyle/>
                    <a:p>
                      <a:pPr algn="ctr">
                        <a:spcAft>
                          <a:spcPts val="0"/>
                        </a:spcAft>
                      </a:pPr>
                      <a:r>
                        <a:rPr lang="zh-CN" sz="1800" kern="100" dirty="0">
                          <a:effectLst/>
                          <a:latin typeface="幼圆" panose="02010509060101010101" pitchFamily="49" charset="-122"/>
                          <a:ea typeface="幼圆" panose="02010509060101010101" pitchFamily="49" charset="-122"/>
                        </a:rPr>
                        <a:t>编号</a:t>
                      </a:r>
                    </a:p>
                  </a:txBody>
                  <a:tcPr marL="51435" marR="51435" marT="0" marB="0" anchor="ctr"/>
                </a:tc>
                <a:tc gridSpan="3">
                  <a:txBody>
                    <a:bodyPr/>
                    <a:lstStyle/>
                    <a:p>
                      <a:pPr algn="ctr">
                        <a:spcAft>
                          <a:spcPts val="0"/>
                        </a:spcAft>
                      </a:pPr>
                      <a:r>
                        <a:rPr lang="zh-CN" sz="1800" kern="100">
                          <a:effectLst/>
                          <a:latin typeface="幼圆" panose="02010509060101010101" pitchFamily="49" charset="-122"/>
                          <a:ea typeface="幼圆" panose="02010509060101010101" pitchFamily="49" charset="-122"/>
                        </a:rPr>
                        <a:t>测试用例</a:t>
                      </a:r>
                    </a:p>
                  </a:txBody>
                  <a:tcPr marL="51435" marR="51435" marT="0" marB="0" anchor="ctr"/>
                </a:tc>
                <a:tc hMerge="1">
                  <a:txBody>
                    <a:bodyPr/>
                    <a:lstStyle/>
                    <a:p>
                      <a:endParaRPr lang="zh-CN"/>
                    </a:p>
                  </a:txBody>
                  <a:tcPr/>
                </a:tc>
                <a:tc hMerge="1">
                  <a:txBody>
                    <a:bodyPr/>
                    <a:lstStyle/>
                    <a:p>
                      <a:endParaRPr lang="zh-CN"/>
                    </a:p>
                  </a:txBody>
                  <a:tcPr/>
                </a:tc>
                <a:tc rowSpan="2">
                  <a:txBody>
                    <a:bodyPr/>
                    <a:lstStyle/>
                    <a:p>
                      <a:pPr algn="ctr">
                        <a:spcAft>
                          <a:spcPts val="0"/>
                        </a:spcAft>
                      </a:pPr>
                      <a:r>
                        <a:rPr lang="zh-CN" sz="1800" kern="100">
                          <a:effectLst/>
                          <a:latin typeface="幼圆" panose="02010509060101010101" pitchFamily="49" charset="-122"/>
                          <a:ea typeface="幼圆" panose="02010509060101010101" pitchFamily="49" charset="-122"/>
                        </a:rPr>
                        <a:t>路径</a:t>
                      </a:r>
                    </a:p>
                  </a:txBody>
                  <a:tcPr marL="51435" marR="51435" marT="0" marB="0" anchor="ctr"/>
                </a:tc>
                <a:tc rowSpan="2">
                  <a:txBody>
                    <a:bodyPr/>
                    <a:lstStyle/>
                    <a:p>
                      <a:pPr algn="ctr">
                        <a:spcAft>
                          <a:spcPts val="0"/>
                        </a:spcAft>
                      </a:pPr>
                      <a:r>
                        <a:rPr lang="zh-CN" sz="1800" kern="100" dirty="0">
                          <a:effectLst/>
                          <a:latin typeface="幼圆" panose="02010509060101010101" pitchFamily="49" charset="-122"/>
                          <a:ea typeface="幼圆" panose="02010509060101010101" pitchFamily="49" charset="-122"/>
                        </a:rPr>
                        <a:t>预期输出</a:t>
                      </a:r>
                    </a:p>
                  </a:txBody>
                  <a:tcPr marL="51435" marR="51435" marT="0" marB="0" anchor="ctr"/>
                </a:tc>
                <a:extLst>
                  <a:ext uri="{0D108BD9-81ED-4DB2-BD59-A6C34878D82A}">
                    <a16:rowId xmlns:a16="http://schemas.microsoft.com/office/drawing/2014/main" val="10000"/>
                  </a:ext>
                </a:extLst>
              </a:tr>
              <a:tr h="419735">
                <a:tc vMerge="1">
                  <a:txBody>
                    <a:bodyPr/>
                    <a:lstStyle/>
                    <a:p>
                      <a:endParaRPr lang="zh-CN"/>
                    </a:p>
                  </a:txBody>
                  <a:tcP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A</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B</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C</a:t>
                      </a:r>
                      <a:endParaRPr lang="zh-CN" sz="1800" kern="100">
                        <a:effectLst/>
                        <a:latin typeface="幼圆" panose="02010509060101010101" pitchFamily="49" charset="-122"/>
                        <a:ea typeface="幼圆" panose="02010509060101010101" pitchFamily="49" charset="-122"/>
                      </a:endParaRPr>
                    </a:p>
                  </a:txBody>
                  <a:tcPr marL="51435" marR="51435" marT="0" marB="0" anchor="ct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val="10001"/>
                  </a:ext>
                </a:extLst>
              </a:tr>
              <a:tr h="419735">
                <a:tc>
                  <a:txBody>
                    <a:bodyPr/>
                    <a:lstStyle/>
                    <a:p>
                      <a:pPr algn="ctr">
                        <a:spcAft>
                          <a:spcPts val="0"/>
                        </a:spcAft>
                      </a:pPr>
                      <a:r>
                        <a:rPr lang="en-US" sz="1800" kern="100">
                          <a:effectLst/>
                          <a:latin typeface="幼圆" panose="02010509060101010101" pitchFamily="49" charset="-122"/>
                          <a:ea typeface="幼圆" panose="02010509060101010101" pitchFamily="49" charset="-122"/>
                        </a:rPr>
                        <a:t>test1</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6</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6</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6</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1-2-3-4-11</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zh-CN" sz="1800" kern="100">
                          <a:effectLst/>
                          <a:latin typeface="幼圆" panose="02010509060101010101" pitchFamily="49" charset="-122"/>
                          <a:ea typeface="幼圆" panose="02010509060101010101" pitchFamily="49" charset="-122"/>
                        </a:rPr>
                        <a:t>等边三角形</a:t>
                      </a:r>
                    </a:p>
                  </a:txBody>
                  <a:tcPr marL="51435" marR="51435" marT="0" marB="0" anchor="ctr"/>
                </a:tc>
                <a:extLst>
                  <a:ext uri="{0D108BD9-81ED-4DB2-BD59-A6C34878D82A}">
                    <a16:rowId xmlns:a16="http://schemas.microsoft.com/office/drawing/2014/main" val="10002"/>
                  </a:ext>
                </a:extLst>
              </a:tr>
              <a:tr h="419735">
                <a:tc>
                  <a:txBody>
                    <a:bodyPr/>
                    <a:lstStyle/>
                    <a:p>
                      <a:pPr algn="ctr">
                        <a:spcAft>
                          <a:spcPts val="0"/>
                        </a:spcAft>
                      </a:pPr>
                      <a:r>
                        <a:rPr lang="en-US" sz="1800" kern="100" dirty="0">
                          <a:effectLst/>
                          <a:latin typeface="幼圆" panose="02010509060101010101" pitchFamily="49" charset="-122"/>
                          <a:ea typeface="幼圆" panose="02010509060101010101" pitchFamily="49" charset="-122"/>
                        </a:rPr>
                        <a:t>test2</a:t>
                      </a:r>
                      <a:endParaRPr lang="zh-CN" sz="1800" kern="100" dirty="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6</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dirty="0">
                          <a:effectLst/>
                          <a:latin typeface="幼圆" panose="02010509060101010101" pitchFamily="49" charset="-122"/>
                          <a:ea typeface="幼圆" panose="02010509060101010101" pitchFamily="49" charset="-122"/>
                        </a:rPr>
                        <a:t>6</a:t>
                      </a:r>
                      <a:endParaRPr lang="zh-CN" sz="1800" kern="100" dirty="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dirty="0">
                          <a:effectLst/>
                          <a:latin typeface="幼圆" panose="02010509060101010101" pitchFamily="49" charset="-122"/>
                          <a:ea typeface="幼圆" panose="02010509060101010101" pitchFamily="49" charset="-122"/>
                        </a:rPr>
                        <a:t>8</a:t>
                      </a:r>
                      <a:endParaRPr lang="zh-CN" sz="1800" kern="100" dirty="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1-2-5-6-11</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zh-CN" sz="1800" kern="100">
                          <a:effectLst/>
                          <a:latin typeface="幼圆" panose="02010509060101010101" pitchFamily="49" charset="-122"/>
                          <a:ea typeface="幼圆" panose="02010509060101010101" pitchFamily="49" charset="-122"/>
                        </a:rPr>
                        <a:t>等腰三角形</a:t>
                      </a:r>
                    </a:p>
                  </a:txBody>
                  <a:tcPr marL="51435" marR="51435" marT="0" marB="0" anchor="ctr"/>
                </a:tc>
                <a:extLst>
                  <a:ext uri="{0D108BD9-81ED-4DB2-BD59-A6C34878D82A}">
                    <a16:rowId xmlns:a16="http://schemas.microsoft.com/office/drawing/2014/main" val="10003"/>
                  </a:ext>
                </a:extLst>
              </a:tr>
              <a:tr h="419735">
                <a:tc>
                  <a:txBody>
                    <a:bodyPr/>
                    <a:lstStyle/>
                    <a:p>
                      <a:pPr algn="ctr">
                        <a:spcAft>
                          <a:spcPts val="0"/>
                        </a:spcAft>
                      </a:pPr>
                      <a:r>
                        <a:rPr lang="en-US" sz="1800" kern="100" dirty="0">
                          <a:effectLst/>
                          <a:latin typeface="幼圆" panose="02010509060101010101" pitchFamily="49" charset="-122"/>
                          <a:ea typeface="幼圆" panose="02010509060101010101" pitchFamily="49" charset="-122"/>
                        </a:rPr>
                        <a:t>test3</a:t>
                      </a:r>
                      <a:endParaRPr lang="zh-CN" sz="1800" kern="100" dirty="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3</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4</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5</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1-2-7-8-11</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zh-CN" sz="1800" kern="100">
                          <a:effectLst/>
                          <a:latin typeface="幼圆" panose="02010509060101010101" pitchFamily="49" charset="-122"/>
                          <a:ea typeface="幼圆" panose="02010509060101010101" pitchFamily="49" charset="-122"/>
                        </a:rPr>
                        <a:t>一般三角形</a:t>
                      </a:r>
                    </a:p>
                  </a:txBody>
                  <a:tcPr marL="51435" marR="51435" marT="0" marB="0" anchor="ctr"/>
                </a:tc>
                <a:extLst>
                  <a:ext uri="{0D108BD9-81ED-4DB2-BD59-A6C34878D82A}">
                    <a16:rowId xmlns:a16="http://schemas.microsoft.com/office/drawing/2014/main" val="10004"/>
                  </a:ext>
                </a:extLst>
              </a:tr>
              <a:tr h="419735">
                <a:tc>
                  <a:txBody>
                    <a:bodyPr/>
                    <a:lstStyle/>
                    <a:p>
                      <a:pPr algn="ctr">
                        <a:spcAft>
                          <a:spcPts val="0"/>
                        </a:spcAft>
                      </a:pPr>
                      <a:r>
                        <a:rPr lang="en-US" sz="1800" kern="100">
                          <a:effectLst/>
                          <a:latin typeface="幼圆" panose="02010509060101010101" pitchFamily="49" charset="-122"/>
                          <a:ea typeface="幼圆" panose="02010509060101010101" pitchFamily="49" charset="-122"/>
                        </a:rPr>
                        <a:t>test4</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3</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3</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6</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en-US" sz="1800" kern="100">
                          <a:effectLst/>
                          <a:latin typeface="幼圆" panose="02010509060101010101" pitchFamily="49" charset="-122"/>
                          <a:ea typeface="幼圆" panose="02010509060101010101" pitchFamily="49" charset="-122"/>
                        </a:rPr>
                        <a:t>1-9-10-11</a:t>
                      </a:r>
                      <a:endParaRPr lang="zh-CN" sz="1800" kern="100">
                        <a:effectLst/>
                        <a:latin typeface="幼圆" panose="02010509060101010101" pitchFamily="49" charset="-122"/>
                        <a:ea typeface="幼圆" panose="02010509060101010101" pitchFamily="49" charset="-122"/>
                      </a:endParaRPr>
                    </a:p>
                  </a:txBody>
                  <a:tcPr marL="51435" marR="51435" marT="0" marB="0" anchor="ctr"/>
                </a:tc>
                <a:tc>
                  <a:txBody>
                    <a:bodyPr/>
                    <a:lstStyle/>
                    <a:p>
                      <a:pPr algn="ctr">
                        <a:spcAft>
                          <a:spcPts val="0"/>
                        </a:spcAft>
                      </a:pPr>
                      <a:r>
                        <a:rPr lang="zh-CN" sz="1800" kern="100" dirty="0">
                          <a:effectLst/>
                          <a:latin typeface="幼圆" panose="02010509060101010101" pitchFamily="49" charset="-122"/>
                          <a:ea typeface="幼圆" panose="02010509060101010101" pitchFamily="49" charset="-122"/>
                        </a:rPr>
                        <a:t>不构成三角形</a:t>
                      </a:r>
                    </a:p>
                  </a:txBody>
                  <a:tcPr marL="51435" marR="51435" marT="0" marB="0" anchor="ctr"/>
                </a:tc>
                <a:extLst>
                  <a:ext uri="{0D108BD9-81ED-4DB2-BD59-A6C34878D82A}">
                    <a16:rowId xmlns:a16="http://schemas.microsoft.com/office/drawing/2014/main" val="10005"/>
                  </a:ext>
                </a:extLst>
              </a:tr>
            </a:tbl>
          </a:graphicData>
        </a:graphic>
      </p:graphicFrame>
      <p:sp>
        <p:nvSpPr>
          <p:cNvPr id="9" name="日期占位符 8"/>
          <p:cNvSpPr>
            <a:spLocks noGrp="1"/>
          </p:cNvSpPr>
          <p:nvPr>
            <p:ph type="dt" sz="half" idx="10"/>
          </p:nvPr>
        </p:nvSpPr>
        <p:spPr/>
        <p:txBody>
          <a:bodyPr/>
          <a:lstStyle/>
          <a:p>
            <a:fld id="{760FBDFE-C587-4B4C-A407-44438C67B59E}" type="datetime1">
              <a:rPr lang="zh-CN" altLang="en-US" smtClean="0"/>
              <a:t>2024/4/9</a:t>
            </a:fld>
            <a:endParaRPr lang="zh-CN" altLang="en-US"/>
          </a:p>
        </p:txBody>
      </p:sp>
      <p:sp>
        <p:nvSpPr>
          <p:cNvPr id="10" name="灯片编号占位符 9"/>
          <p:cNvSpPr>
            <a:spLocks noGrp="1"/>
          </p:cNvSpPr>
          <p:nvPr>
            <p:ph type="sldNum" sz="quarter" idx="12"/>
          </p:nvPr>
        </p:nvSpPr>
        <p:spPr/>
        <p:txBody>
          <a:bodyPr/>
          <a:lstStyle/>
          <a:p>
            <a:fld id="{49AE70B2-8BF9-45C0-BB95-33D1B9D3A854}" type="slidenum">
              <a:rPr lang="zh-CN" altLang="en-US" smtClean="0"/>
              <a:t>43</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descr="7b0a2020202022776f7264617274223a20227b5c2269645c223a32353030313832362c5c227469645c223a31333534347d220a7d0a"/>
          <p:cNvSpPr>
            <a:spLocks noGrp="1"/>
          </p:cNvSpPr>
          <p:nvPr>
            <p:ph type="title" idx="14"/>
            <p:custDataLst>
              <p:tags r:id="rId2"/>
            </p:custDataLst>
          </p:nvPr>
        </p:nvSpPr>
        <p:spPr>
          <a:xfrm>
            <a:off x="2445068" y="2403158"/>
            <a:ext cx="4612005" cy="1285875"/>
          </a:xfrm>
        </p:spPr>
        <p:txBody>
          <a:bodyPr>
            <a:noAutofit/>
            <a:scene3d>
              <a:camera prst="obliqueBottomRight"/>
              <a:lightRig rig="flat" dir="t"/>
            </a:scene3d>
          </a:bodyPr>
          <a:lstStyle/>
          <a:p>
            <a:pPr algn="ctr"/>
            <a:r>
              <a:rPr lang="zh-CN" altLang="en-US" sz="4950" dirty="0">
                <a:solidFill>
                  <a:srgbClr val="37449B"/>
                </a:solidFill>
                <a:effectLst>
                  <a:innerShdw blurRad="63500" dist="50800" dir="13500000">
                    <a:srgbClr val="050505">
                      <a:alpha val="50000"/>
                    </a:srgbClr>
                  </a:innerShdw>
                </a:effectLst>
                <a:latin typeface="汉仪黑方简" panose="00020600040101010101" charset="-122"/>
                <a:ea typeface="汉仪黑方简" panose="00020600040101010101" charset="-122"/>
              </a:rPr>
              <a:t>谢谢聆听</a:t>
            </a:r>
          </a:p>
        </p:txBody>
      </p:sp>
      <p:pic>
        <p:nvPicPr>
          <p:cNvPr id="2" name="图片 1" descr="校徽"/>
          <p:cNvPicPr>
            <a:picLocks noChangeAspect="1"/>
          </p:cNvPicPr>
          <p:nvPr userDrawn="1"/>
        </p:nvPicPr>
        <p:blipFill>
          <a:blip r:embed="rId5"/>
          <a:stretch>
            <a:fillRect/>
          </a:stretch>
        </p:blipFill>
        <p:spPr>
          <a:xfrm>
            <a:off x="8244205" y="44450"/>
            <a:ext cx="796290" cy="735965"/>
          </a:xfrm>
          <a:prstGeom prst="rect">
            <a:avLst/>
          </a:prstGeom>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f66c2abb-85ab-49f0-82d5-8bc48f17c9b3"/>
  <p:tag name="COMMONDATA" val="eyJoZGlkIjoiMTgyY2Y5Y2UxZjkwY2NiYzg1MTM4ZmQzOTFhYWJhY2I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4"/>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4"/>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204424"/>
  <p:tag name="KSO_WM_TEMPLATE_SUBCATEGORY" val="0"/>
  <p:tag name="KSO_WM_TEMPLATE_MASTER_TYPE" val="1"/>
  <p:tag name="KSO_WM_TEMPLATE_COLOR_TYPE" val="1"/>
  <p:tag name="KSO_WM_TEMPLATE_MASTER_THUMB_INDEX" val="12"/>
  <p:tag name="KSO_WM_TEMPLATE_THUMBS_INDEX" val="1、4、6、8、10、14、17、18、19、20、21、24、29、34、37、38"/>
</p:tagLst>
</file>

<file path=ppt/tags/tag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1"/>
  <p:tag name="KSO_WM_UNIT_ID" val="_13*i*1"/>
  <p:tag name="KSO_WM_UNIT_BK_DARK_LIGHT" val="2"/>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1"/>
  <p:tag name="KSO_WM_UNIT_ID" val="_14*i*1"/>
  <p:tag name="KSO_WM_UNIT_BK_DARK_LIGHT" val="2"/>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1"/>
  <p:tag name="KSO_WM_UNIT_ID" val="_15*i*1"/>
  <p:tag name="KSO_WM_UNIT_BK_DARK_LIGHT" val="2"/>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1"/>
  <p:tag name="KSO_WM_UNIT_ID" val="_16*i*1"/>
  <p:tag name="KSO_WM_UNIT_BK_DARK_LIGHT" val="2"/>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1"/>
  <p:tag name="KSO_WM_UNIT_ID" val="_17*i*1"/>
  <p:tag name="KSO_WM_UNIT_BK_DARK_LIGHT" val="2"/>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1"/>
  <p:tag name="KSO_WM_UNIT_ID" val="_18*i*1"/>
  <p:tag name="KSO_WM_UNIT_BK_DARK_LIGHT" val="2"/>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386.697637795275,&quot;width&quot;:8672.72125984252}"/>
</p:tagLst>
</file>

<file path=ppt/tags/tag14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181.184251968504,&quot;width&quot;:2974.7622047244095}"/>
</p:tagLst>
</file>

<file path=ppt/tags/tag1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6"/>
  <p:tag name="KSO_WM_UNIT_FILL_TYPE" val="1"/>
  <p:tag name="KSO_WM_UNIT_LINE_FORE_SCHEMECOLOR_INDEX_BRIGHTNESS" val="0"/>
  <p:tag name="KSO_WM_UNIT_LINE_FORE_SCHEMECOLOR_INDEX" val="2"/>
  <p:tag name="KSO_WM_UNIT_LINE_FILL_TYPE" val="2"/>
  <p:tag name="KSO_WM_UNIT_TEXT_FILL_FORE_SCHEMECOLOR_INDEX_BRIGHTNESS" val="0"/>
  <p:tag name="KSO_WM_UNIT_TEXT_FILL_FORE_SCHEMECOLOR_INDEX" val="2"/>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UNIT_TABLE_BEAUTIFY" val="smartTable{8b9282f5-6321-474d-b449-2fa9a96c8977}"/>
  <p:tag name="TABLE_ENDDRAG_ORIGIN_RECT" val="630*104"/>
  <p:tag name="TABLE_ENDDRAG_RECT" val="45*377*630*104"/>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UNIT_TABLE_BEAUTIFY" val="smartTable{971358cd-5113-47ca-9b71-1ee6e8609b87}"/>
  <p:tag name="TABLE_ENDDRAG_ORIGIN_RECT" val="630*119"/>
  <p:tag name="TABLE_ENDDRAG_RECT" val="42*365*630*119"/>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UNIT_TABLE_BEAUTIFY" val="smartTable{79c0e6e2-d61f-40b0-8d7d-ac949ac2ad30}"/>
  <p:tag name="TABLE_ENDDRAG_ORIGIN_RECT" val="630*123"/>
  <p:tag name="TABLE_ENDDRAG_RECT" val="45*358*630*123"/>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UNIT_TABLE_BEAUTIFY" val="smartTable{c19003a5-197c-4061-9b0c-10121ca6afe8}"/>
  <p:tag name="TABLE_ENDDRAG_ORIGIN_RECT" val="630*163"/>
  <p:tag name="TABLE_ENDDRAG_RECT" val="42*319*630*163"/>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UNIT_TABLE_BEAUTIFY" val="smartTable{2eb8527f-d87a-4196-82ba-fd589c2e381c}"/>
  <p:tag name="TABLE_ENDDRAG_ORIGIN_RECT" val="685*108"/>
  <p:tag name="TABLE_ENDDRAG_RECT" val="18*382*685*108"/>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UNIT_TABLE_BEAUTIFY" val="smartTable{14c7ddff-a009-45bf-9d82-70f6ffbf5a2a}"/>
  <p:tag name="TABLE_ENDDRAG_ORIGIN_RECT" val="550*126"/>
  <p:tag name="TABLE_ENDDRAG_RECT" val="90*334*550*126"/>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3.1.6 实例：三角形逻辑覆盖问题"/>
</p:tagLst>
</file>

<file path=ppt/tags/tag22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3.1.6 实例：三角形逻辑覆盖问题"/>
</p:tagLst>
</file>

<file path=ppt/tags/tag22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3.1.6 实例：三角形逻辑覆盖问题"/>
</p:tagLst>
</file>

<file path=ppt/tags/tag23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3.1.6 实例：三角形逻辑覆盖问题"/>
</p:tagLst>
</file>

<file path=ppt/tags/tag23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3.1.6 实例：三角形逻辑覆盖问题"/>
</p:tagLst>
</file>

<file path=ppt/tags/tag232.xml><?xml version="1.0" encoding="utf-8"?>
<p:tagLst xmlns:a="http://schemas.openxmlformats.org/drawingml/2006/main" xmlns:r="http://schemas.openxmlformats.org/officeDocument/2006/relationships" xmlns:p="http://schemas.openxmlformats.org/presentationml/2006/main">
  <p:tag name="KSO_WM_UNIT_TABLE_BEAUTIFY" val="smartTable{b7725e37-d43d-48e0-ad36-4417e4f7b6a9}"/>
  <p:tag name="TABLE_ENDDRAG_ORIGIN_RECT" val="554*198"/>
  <p:tag name="TABLE_ENDDRAG_RECT" val="87*293*554*198"/>
</p:tagLst>
</file>

<file path=ppt/tags/tag233.xml><?xml version="1.0" encoding="utf-8"?>
<p:tagLst xmlns:a="http://schemas.openxmlformats.org/drawingml/2006/main" xmlns:r="http://schemas.openxmlformats.org/officeDocument/2006/relationships" xmlns:p="http://schemas.openxmlformats.org/presentationml/2006/main">
  <p:tag name="KSO_WM_SLIDE_ID" val="custom20204367_38"/>
  <p:tag name="KSO_WM_TEMPLATE_SUBCATEGORY" val="0"/>
  <p:tag name="KSO_WM_TEMPLATE_MASTER_TYPE" val="1"/>
  <p:tag name="KSO_WM_TEMPLATE_COLOR_TYPE" val="1"/>
  <p:tag name="KSO_WM_SLIDE_TYPE" val="endPage"/>
  <p:tag name="KSO_WM_SLIDE_SUBTYPE" val="pureTxt"/>
  <p:tag name="KSO_WM_SLIDE_ITEM_CNT" val="0"/>
  <p:tag name="KSO_WM_SLIDE_INDEX" val="38"/>
  <p:tag name="KSO_WM_TAG_VERSION" val="1.0"/>
  <p:tag name="KSO_WM_BEAUTIFY_FLAG" val="#wm#"/>
  <p:tag name="KSO_WM_TEMPLATE_CATEGORY" val="custom"/>
  <p:tag name="KSO_WM_TEMPLATE_INDEX" val="20204367"/>
  <p:tag name="KSO_WM_SLIDE_LAYOUT" val="a_b"/>
  <p:tag name="KSO_WM_SLIDE_LAYOUT_CNT" val="1_1"/>
</p:tagLst>
</file>

<file path=ppt/tags/tag23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1"/>
  <p:tag name="KSO_WM_UNIT_VALUE" val="5"/>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1.0"/>
  <p:tag name="KSO_WM_BEAUTIFY_FLAG" val="#wm#"/>
  <p:tag name="KSO_WM_UNIT_PRESET_TEXT" val="谢谢聆听"/>
  <p:tag name="KSO_WM_TEMPLATE_CATEGORY" val="custom"/>
  <p:tag name="KSO_WM_TEMPLATE_INDEX" val="20204367"/>
  <p:tag name="KSO_WM_UNIT_ID" val="custom20204367_38*a*1"/>
  <p:tag name="KSO_WM_UNIT_ISNUMDGMTITLE" val="0"/>
</p:tagLst>
</file>

<file path=ppt/theme/theme1.xml><?xml version="1.0" encoding="utf-8"?>
<a:theme xmlns:a="http://schemas.openxmlformats.org/drawingml/2006/main" name="1_Office 主题​​">
  <a:themeElements>
    <a:clrScheme name="">
      <a:dk1>
        <a:srgbClr val="000000"/>
      </a:dk1>
      <a:lt1>
        <a:srgbClr val="FFFFFF"/>
      </a:lt1>
      <a:dk2>
        <a:srgbClr val="F2F9FC"/>
      </a:dk2>
      <a:lt2>
        <a:srgbClr val="FFFFFF"/>
      </a:lt2>
      <a:accent1>
        <a:srgbClr val="2675BC"/>
      </a:accent1>
      <a:accent2>
        <a:srgbClr val="2780B7"/>
      </a:accent2>
      <a:accent3>
        <a:srgbClr val="2F8581"/>
      </a:accent3>
      <a:accent4>
        <a:srgbClr val="308854"/>
      </a:accent4>
      <a:accent5>
        <a:srgbClr val="B4B418"/>
      </a:accent5>
      <a:accent6>
        <a:srgbClr val="B79A1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43</TotalTime>
  <Words>2333</Words>
  <Application>Microsoft Office PowerPoint</Application>
  <PresentationFormat>全屏显示(4:3)</PresentationFormat>
  <Paragraphs>533</Paragraphs>
  <Slides>44</Slides>
  <Notes>9</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57" baseType="lpstr">
      <vt:lpstr>汉仪黑方简</vt:lpstr>
      <vt:lpstr>汉仪文黑-85W</vt:lpstr>
      <vt:lpstr>黑体</vt:lpstr>
      <vt:lpstr>华文新魏</vt:lpstr>
      <vt:lpstr>微软雅黑</vt:lpstr>
      <vt:lpstr>幼圆</vt:lpstr>
      <vt:lpstr>Arial</vt:lpstr>
      <vt:lpstr>Calibri</vt:lpstr>
      <vt:lpstr>Times New Roman</vt:lpstr>
      <vt:lpstr>Verdana</vt:lpstr>
      <vt:lpstr>Wingdings</vt:lpstr>
      <vt:lpstr>1_Office 主题​​</vt:lpstr>
      <vt:lpstr>Visio</vt:lpstr>
      <vt:lpstr>PowerPoint 演示文稿</vt:lpstr>
      <vt:lpstr>上节回顾</vt:lpstr>
      <vt:lpstr>静态白盒测试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案例：三角形逻辑覆盖问题</vt:lpstr>
      <vt:lpstr>案例：三角形逻辑覆盖问题</vt:lpstr>
      <vt:lpstr>案例：三角形逻辑覆盖问题</vt:lpstr>
      <vt:lpstr>案例：三角形逻辑覆盖问题</vt:lpstr>
      <vt:lpstr>案例：三角形逻辑覆盖问题</vt:lpstr>
      <vt:lpstr>谢谢聆听</vt:lpstr>
    </vt:vector>
  </TitlesOfParts>
  <Company>福建163软件园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软件测试技术基础</dc:title>
  <dc:creator>福建163软件园</dc:creator>
  <cp:lastModifiedBy>东栋 冯</cp:lastModifiedBy>
  <cp:revision>206</cp:revision>
  <dcterms:created xsi:type="dcterms:W3CDTF">2008-07-27T05:17:00Z</dcterms:created>
  <dcterms:modified xsi:type="dcterms:W3CDTF">2024-04-09T06:19:14Z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03131E4D7EFE412998556E84FC2EB183_13</vt:lpwstr>
  </property>
</Properties>
</file>