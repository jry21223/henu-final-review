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notesSlides/notesSlide1.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notesSlides/notesSlide2.xml" ContentType="application/vnd.openxmlformats-officedocument.presentationml.notesSlide+xml"/>
  <Override PartName="/ppt/tags/tag440.xml" ContentType="application/vnd.openxmlformats-officedocument.presentationml.tags+xml"/>
  <Override PartName="/ppt/notesSlides/notesSlide3.xml" ContentType="application/vnd.openxmlformats-officedocument.presentationml.notesSlide+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notesSlides/notesSlide4.xml" ContentType="application/vnd.openxmlformats-officedocument.presentationml.notesSlide+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notesSlides/notesSlide5.xml" ContentType="application/vnd.openxmlformats-officedocument.presentationml.notesSlide+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83" r:id="rId3"/>
    <p:sldMasterId id="2147483703" r:id="rId4"/>
  </p:sldMasterIdLst>
  <p:notesMasterIdLst>
    <p:notesMasterId r:id="rId61"/>
  </p:notesMasterIdLst>
  <p:handoutMasterIdLst>
    <p:handoutMasterId r:id="rId62"/>
  </p:handoutMasterIdLst>
  <p:sldIdLst>
    <p:sldId id="1101" r:id="rId5"/>
    <p:sldId id="1227" r:id="rId6"/>
    <p:sldId id="1229" r:id="rId7"/>
    <p:sldId id="1228" r:id="rId8"/>
    <p:sldId id="1103" r:id="rId9"/>
    <p:sldId id="1231" r:id="rId10"/>
    <p:sldId id="1271" r:id="rId11"/>
    <p:sldId id="1252" r:id="rId12"/>
    <p:sldId id="1065" r:id="rId13"/>
    <p:sldId id="1194" r:id="rId14"/>
    <p:sldId id="1126" r:id="rId15"/>
    <p:sldId id="1243" r:id="rId16"/>
    <p:sldId id="1066" r:id="rId17"/>
    <p:sldId id="1067" r:id="rId18"/>
    <p:sldId id="1068" r:id="rId19"/>
    <p:sldId id="1069" r:id="rId20"/>
    <p:sldId id="1070" r:id="rId21"/>
    <p:sldId id="1071" r:id="rId22"/>
    <p:sldId id="1072" r:id="rId23"/>
    <p:sldId id="1128" r:id="rId24"/>
    <p:sldId id="1073" r:id="rId25"/>
    <p:sldId id="1075" r:id="rId26"/>
    <p:sldId id="1079" r:id="rId27"/>
    <p:sldId id="1080" r:id="rId28"/>
    <p:sldId id="1242" r:id="rId29"/>
    <p:sldId id="1082" r:id="rId30"/>
    <p:sldId id="1084" r:id="rId31"/>
    <p:sldId id="1240" r:id="rId32"/>
    <p:sldId id="1241" r:id="rId33"/>
    <p:sldId id="1237" r:id="rId34"/>
    <p:sldId id="1244" r:id="rId35"/>
    <p:sldId id="1087" r:id="rId36"/>
    <p:sldId id="1088" r:id="rId37"/>
    <p:sldId id="1089" r:id="rId38"/>
    <p:sldId id="1090" r:id="rId39"/>
    <p:sldId id="1091" r:id="rId40"/>
    <p:sldId id="1261" r:id="rId41"/>
    <p:sldId id="1262" r:id="rId42"/>
    <p:sldId id="1257" r:id="rId43"/>
    <p:sldId id="1258" r:id="rId44"/>
    <p:sldId id="1259" r:id="rId45"/>
    <p:sldId id="1260" r:id="rId46"/>
    <p:sldId id="1092" r:id="rId47"/>
    <p:sldId id="1266" r:id="rId48"/>
    <p:sldId id="1263" r:id="rId49"/>
    <p:sldId id="1264" r:id="rId50"/>
    <p:sldId id="1265" r:id="rId51"/>
    <p:sldId id="1269" r:id="rId52"/>
    <p:sldId id="1270" r:id="rId53"/>
    <p:sldId id="1267" r:id="rId54"/>
    <p:sldId id="1268" r:id="rId55"/>
    <p:sldId id="1321" r:id="rId56"/>
    <p:sldId id="1255" r:id="rId57"/>
    <p:sldId id="1256" r:id="rId58"/>
    <p:sldId id="1253" r:id="rId59"/>
    <p:sldId id="1254" r:id="rId60"/>
  </p:sldIdLst>
  <p:sldSz cx="9144000" cy="6858000" type="screen4x3"/>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A" lastIdx="0" clrIdx="1"/>
  <p:cmAuthor id="3" name="HUAWEI"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2023/4/19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95392-3E16-44D4-9E27-F07B9F272723}" type="datetimeFigureOut">
              <a:rPr lang="zh-CN" altLang="en-US" smtClean="0"/>
              <a:t>2023/4/19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C8EBF-5B87-447F-9D8C-6704CAE4052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nblogs.com/xinz/p/3855296.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BAEF20-8040-4861-AE3B-16115F61F4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场景是从用户的角度来描述系统的运行行为,反映系统的期望运行方式,是由一系列的相关活动组成的,它就像一个剧本，是演绎系统未来预期的使用过程。</a:t>
            </a:r>
          </a:p>
          <a:p>
            <a:r>
              <a:rPr lang="zh-CN" altLang="en-US"/>
              <a:t>场景可以看作是用户需求的内容，完全站在用户的视角来描述用户与系统的交互，之后的功能需求说明，则是用户需求分解的结果，定义了必须实现的软件功能。</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设置场景的目的是让所有人员明白用户的目标是什么，以及用户希望怎样做，不涉及具体的界面展现是怎样的，也不关注具体的实现方式是怎样的。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如果这一重要功能的设计者在做需求分析的时候就模仿用户，设计场景，实地演一次戏，很快 就能发现戏演不下去了。</a:t>
            </a:r>
          </a:p>
          <a:p>
            <a:endParaRPr lang="en-US" dirty="0"/>
          </a:p>
          <a:p>
            <a:r>
              <a:rPr lang="en-US" altLang="zh-CN" dirty="0">
                <a:hlinkClick r:id="rId3"/>
              </a:rPr>
              <a:t>https://www.cnblogs.com/xinz/p/3855296.html</a:t>
            </a:r>
            <a:endParaRPr lang="en-US" dirty="0"/>
          </a:p>
        </p:txBody>
      </p:sp>
      <p:sp>
        <p:nvSpPr>
          <p:cNvPr id="4" name="Slide Number Placeholder 3"/>
          <p:cNvSpPr>
            <a:spLocks noGrp="1"/>
          </p:cNvSpPr>
          <p:nvPr>
            <p:ph type="sldNum" sz="quarter" idx="5"/>
          </p:nvPr>
        </p:nvSpPr>
        <p:spPr/>
        <p:txBody>
          <a:bodyPr/>
          <a:lstStyle/>
          <a:p>
            <a:fld id="{F35C7EE1-DFFA-4275-BC15-03F63508087A}" type="slidenum">
              <a:rPr lang="en-US" smtClean="0"/>
              <a:t>20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0.xml"/><Relationship Id="rId7"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image" Target="file:///C:\Users\1V994W2\PycharmProjects\PPT_Background_Generation/pic_temp/pic_sup.png" TargetMode="Externa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5.png"/><Relationship Id="rId5" Type="http://schemas.openxmlformats.org/officeDocument/2006/relationships/tags" Target="../tags/tag1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7.xml"/><Relationship Id="rId9"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24.xml"/><Relationship Id="rId9"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5.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2.xml"/><Relationship Id="rId10" Type="http://schemas.openxmlformats.org/officeDocument/2006/relationships/image" Target="../media/image4.png"/><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4.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2.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4.png"/><Relationship Id="rId5" Type="http://schemas.openxmlformats.org/officeDocument/2006/relationships/tags" Target="../tags/tag5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49.xml"/><Relationship Id="rId9"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5.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60.xml"/><Relationship Id="rId10" Type="http://schemas.openxmlformats.org/officeDocument/2006/relationships/image" Target="../media/image4.png"/><Relationship Id="rId4" Type="http://schemas.openxmlformats.org/officeDocument/2006/relationships/tags" Target="../tags/tag59.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5.png"/><Relationship Id="rId5" Type="http://schemas.openxmlformats.org/officeDocument/2006/relationships/tags" Target="../tags/tag6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7.xml"/><Relationship Id="rId9"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73.xml"/><Relationship Id="rId7"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5.xml"/><Relationship Id="rId10" Type="http://schemas.openxmlformats.org/officeDocument/2006/relationships/image" Target="../media/image5.png"/><Relationship Id="rId4" Type="http://schemas.openxmlformats.org/officeDocument/2006/relationships/tags" Target="../tags/tag74.xml"/><Relationship Id="rId9" Type="http://schemas.openxmlformats.org/officeDocument/2006/relationships/image" Target="file:///C:\Users\1V994W2\PycharmProjects\PPT_Background_Generation/pic_temp/0_pic_quater_right_down.png"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9.xml"/><Relationship Id="rId7"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10" Type="http://schemas.openxmlformats.org/officeDocument/2006/relationships/image" Target="../media/image2.png"/><Relationship Id="rId4" Type="http://schemas.openxmlformats.org/officeDocument/2006/relationships/tags" Target="../tags/tag80.xml"/><Relationship Id="rId9" Type="http://schemas.openxmlformats.org/officeDocument/2006/relationships/image" Target="file:///C:\Users\1V994W2\PycharmProjects\PPT_Background_Generation/pic_temp/pic_sup.png" TargetMode="Externa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85.xml"/><Relationship Id="rId7" Type="http://schemas.openxmlformats.org/officeDocument/2006/relationships/slideMaster" Target="../slideMasters/slideMaster2.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7.xml"/><Relationship Id="rId10" Type="http://schemas.openxmlformats.org/officeDocument/2006/relationships/image" Target="../media/image5.png"/><Relationship Id="rId4" Type="http://schemas.openxmlformats.org/officeDocument/2006/relationships/tags" Target="../tags/tag86.xml"/><Relationship Id="rId9" Type="http://schemas.openxmlformats.org/officeDocument/2006/relationships/image" Target="file:///C:\Users\1V994W2\PycharmProjects\PPT_Background_Generation/pic_temp/0_pic_quater_right_down.png" TargetMode="Externa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5.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3.xml"/><Relationship Id="rId10" Type="http://schemas.openxmlformats.org/officeDocument/2006/relationships/image" Target="../media/image4.png"/><Relationship Id="rId4" Type="http://schemas.openxmlformats.org/officeDocument/2006/relationships/tags" Target="../tags/tag92.xml"/><Relationship Id="rId9" Type="http://schemas.openxmlformats.org/officeDocument/2006/relationships/slideMaster" Target="../slideMasters/slideMaster2.xml"/><Relationship Id="rId1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2.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1.xml"/><Relationship Id="rId10" Type="http://schemas.openxmlformats.org/officeDocument/2006/relationships/image" Target="../media/image4.png"/><Relationship Id="rId4" Type="http://schemas.openxmlformats.org/officeDocument/2006/relationships/tags" Target="../tags/tag100.xml"/><Relationship Id="rId9"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5.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4.png"/><Relationship Id="rId5" Type="http://schemas.openxmlformats.org/officeDocument/2006/relationships/tags" Target="../tags/tag109.xml"/><Relationship Id="rId10" Type="http://schemas.openxmlformats.org/officeDocument/2006/relationships/slideMaster" Target="../slideMasters/slideMaster2.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file:///C:\Users\1V994W2\PycharmProjects\PPT_Background_Generation/pic_temp/1_pic_quater_left_down.png"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5.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4.png"/><Relationship Id="rId5" Type="http://schemas.openxmlformats.org/officeDocument/2006/relationships/tags" Target="../tags/tag118.xml"/><Relationship Id="rId15" Type="http://schemas.openxmlformats.org/officeDocument/2006/relationships/image" Target="../media/image2.png"/><Relationship Id="rId10" Type="http://schemas.openxmlformats.org/officeDocument/2006/relationships/slideMaster" Target="../slideMasters/slideMaster2.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file:///C:\Users\1V994W2\PycharmProjects\PPT_Background_Generation/pic_temp/1_pic_quater_left_down.png" TargetMode="Externa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4.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slideMaster" Target="../slideMasters/slideMaster2.xml"/><Relationship Id="rId17" Type="http://schemas.openxmlformats.org/officeDocument/2006/relationships/image" Target="../media/image2.png"/><Relationship Id="rId2" Type="http://schemas.openxmlformats.org/officeDocument/2006/relationships/tags" Target="../tags/tag12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5.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file:///C:\Users\1V994W2\PycharmProjects\PPT_Background_Generation/pic_temp/0_pic_quater_right_down.png" TargetMode="Externa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5.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8.xml"/><Relationship Id="rId10" Type="http://schemas.openxmlformats.org/officeDocument/2006/relationships/image" Target="../media/image4.png"/><Relationship Id="rId4" Type="http://schemas.openxmlformats.org/officeDocument/2006/relationships/tags" Target="../tags/tag137.xml"/><Relationship Id="rId9" Type="http://schemas.openxmlformats.org/officeDocument/2006/relationships/slideMaster" Target="../slideMasters/slideMaster2.xml"/><Relationship Id="rId1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50.xml"/><Relationship Id="rId7"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9" Type="http://schemas.openxmlformats.org/officeDocument/2006/relationships/image" Target="file:///C:\Users\1V994W2\PycharmProjects\PPT_Background_Generation/pic_temp/pic_sup.png" TargetMode="External"/></Relationships>
</file>

<file path=ppt/slideLayouts/_rels/slideLayout3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image" Target="../media/image5.png"/><Relationship Id="rId5" Type="http://schemas.openxmlformats.org/officeDocument/2006/relationships/tags" Target="../tags/tag15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57.xml"/><Relationship Id="rId9"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63.xml"/><Relationship Id="rId7" Type="http://schemas.openxmlformats.org/officeDocument/2006/relationships/tags" Target="../tags/tag167.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5" Type="http://schemas.openxmlformats.org/officeDocument/2006/relationships/tags" Target="../tags/tag16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164.xml"/><Relationship Id="rId9"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70.xml"/><Relationship Id="rId7" Type="http://schemas.openxmlformats.org/officeDocument/2006/relationships/tags" Target="../tags/tag174.xml"/><Relationship Id="rId12" Type="http://schemas.openxmlformats.org/officeDocument/2006/relationships/image" Target="../media/image5.png"/><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72.xml"/><Relationship Id="rId10" Type="http://schemas.openxmlformats.org/officeDocument/2006/relationships/image" Target="../media/image4.png"/><Relationship Id="rId4" Type="http://schemas.openxmlformats.org/officeDocument/2006/relationships/tags" Target="../tags/tag171.xml"/><Relationship Id="rId9"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4.pn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slideMaster" Target="../slideMasters/slideMaster3.xml"/><Relationship Id="rId5" Type="http://schemas.openxmlformats.org/officeDocument/2006/relationships/tags" Target="../tags/tag18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image" Target="../media/image4.png"/><Relationship Id="rId5" Type="http://schemas.openxmlformats.org/officeDocument/2006/relationships/tags" Target="../tags/tag19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189.xml"/><Relationship Id="rId9"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4"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image" Target="../media/image5.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200.xml"/><Relationship Id="rId10" Type="http://schemas.openxmlformats.org/officeDocument/2006/relationships/image" Target="../media/image4.png"/><Relationship Id="rId4" Type="http://schemas.openxmlformats.org/officeDocument/2006/relationships/tags" Target="../tags/tag199.xml"/><Relationship Id="rId9"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image" Target="../media/image5.png"/><Relationship Id="rId5" Type="http://schemas.openxmlformats.org/officeDocument/2006/relationships/tags" Target="../tags/tag20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207.xml"/><Relationship Id="rId9"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13.xml"/><Relationship Id="rId7"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215.xml"/><Relationship Id="rId10" Type="http://schemas.openxmlformats.org/officeDocument/2006/relationships/image" Target="../media/image5.png"/><Relationship Id="rId4" Type="http://schemas.openxmlformats.org/officeDocument/2006/relationships/tags" Target="../tags/tag214.xml"/><Relationship Id="rId9" Type="http://schemas.openxmlformats.org/officeDocument/2006/relationships/image" Target="file:///C:\Users\1V994W2\PycharmProjects\PPT_Background_Generation/pic_temp/0_pic_quater_right_down.png" TargetMode="Externa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19.xml"/><Relationship Id="rId7"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5" Type="http://schemas.openxmlformats.org/officeDocument/2006/relationships/tags" Target="../tags/tag221.xml"/><Relationship Id="rId10" Type="http://schemas.openxmlformats.org/officeDocument/2006/relationships/image" Target="../media/image2.png"/><Relationship Id="rId4" Type="http://schemas.openxmlformats.org/officeDocument/2006/relationships/tags" Target="../tags/tag220.xml"/><Relationship Id="rId9" Type="http://schemas.openxmlformats.org/officeDocument/2006/relationships/image" Target="file:///C:\Users\1V994W2\PycharmProjects\PPT_Background_Generation/pic_temp/pic_sup.png" TargetMode="External"/></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25.xml"/><Relationship Id="rId7"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227.xml"/><Relationship Id="rId10" Type="http://schemas.openxmlformats.org/officeDocument/2006/relationships/image" Target="../media/image5.png"/><Relationship Id="rId4" Type="http://schemas.openxmlformats.org/officeDocument/2006/relationships/tags" Target="../tags/tag226.xml"/><Relationship Id="rId9" Type="http://schemas.openxmlformats.org/officeDocument/2006/relationships/image" Target="file:///C:\Users\1V994W2\PycharmProjects\PPT_Background_Generation/pic_temp/0_pic_quater_right_down.png"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3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231.xml"/><Relationship Id="rId7" Type="http://schemas.openxmlformats.org/officeDocument/2006/relationships/tags" Target="../tags/tag235.xml"/><Relationship Id="rId12" Type="http://schemas.openxmlformats.org/officeDocument/2006/relationships/image" Target="../media/image5.png"/><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233.xml"/><Relationship Id="rId10" Type="http://schemas.openxmlformats.org/officeDocument/2006/relationships/image" Target="../media/image4.png"/><Relationship Id="rId4" Type="http://schemas.openxmlformats.org/officeDocument/2006/relationships/tags" Target="../tags/tag232.xml"/><Relationship Id="rId9" Type="http://schemas.openxmlformats.org/officeDocument/2006/relationships/slideMaster" Target="../slideMasters/slideMaster3.xml"/><Relationship Id="rId14"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244.xml"/><Relationship Id="rId3" Type="http://schemas.openxmlformats.org/officeDocument/2006/relationships/tags" Target="../tags/tag239.xml"/><Relationship Id="rId7" Type="http://schemas.openxmlformats.org/officeDocument/2006/relationships/tags" Target="../tags/tag243.xml"/><Relationship Id="rId12" Type="http://schemas.openxmlformats.org/officeDocument/2006/relationships/image" Target="../media/image2.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241.xml"/><Relationship Id="rId10" Type="http://schemas.openxmlformats.org/officeDocument/2006/relationships/image" Target="../media/image4.png"/><Relationship Id="rId4" Type="http://schemas.openxmlformats.org/officeDocument/2006/relationships/tags" Target="../tags/tag240.xml"/><Relationship Id="rId9"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52.xml"/><Relationship Id="rId13" Type="http://schemas.openxmlformats.org/officeDocument/2006/relationships/image" Target="../media/image5.png"/><Relationship Id="rId3" Type="http://schemas.openxmlformats.org/officeDocument/2006/relationships/tags" Target="../tags/tag247.xml"/><Relationship Id="rId7" Type="http://schemas.openxmlformats.org/officeDocument/2006/relationships/tags" Target="../tags/tag25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image" Target="../media/image4.png"/><Relationship Id="rId5" Type="http://schemas.openxmlformats.org/officeDocument/2006/relationships/tags" Target="../tags/tag249.xml"/><Relationship Id="rId10" Type="http://schemas.openxmlformats.org/officeDocument/2006/relationships/slideMaster" Target="../slideMasters/slideMaster3.xml"/><Relationship Id="rId4" Type="http://schemas.openxmlformats.org/officeDocument/2006/relationships/tags" Target="../tags/tag248.xml"/><Relationship Id="rId9" Type="http://schemas.openxmlformats.org/officeDocument/2006/relationships/tags" Target="../tags/tag253.xml"/><Relationship Id="rId14" Type="http://schemas.openxmlformats.org/officeDocument/2006/relationships/image" Target="file:///C:\Users\1V994W2\PycharmProjects\PPT_Background_Generation/pic_temp/1_pic_quater_left_down.png" TargetMode="Externa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61.xml"/><Relationship Id="rId13" Type="http://schemas.openxmlformats.org/officeDocument/2006/relationships/image" Target="../media/image5.png"/><Relationship Id="rId3" Type="http://schemas.openxmlformats.org/officeDocument/2006/relationships/tags" Target="../tags/tag256.xml"/><Relationship Id="rId7" Type="http://schemas.openxmlformats.org/officeDocument/2006/relationships/tags" Target="../tags/tag26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image" Target="../media/image4.png"/><Relationship Id="rId5" Type="http://schemas.openxmlformats.org/officeDocument/2006/relationships/tags" Target="../tags/tag258.xml"/><Relationship Id="rId15" Type="http://schemas.openxmlformats.org/officeDocument/2006/relationships/image" Target="../media/image2.png"/><Relationship Id="rId10" Type="http://schemas.openxmlformats.org/officeDocument/2006/relationships/slideMaster" Target="../slideMasters/slideMaster3.xml"/><Relationship Id="rId4" Type="http://schemas.openxmlformats.org/officeDocument/2006/relationships/tags" Target="../tags/tag257.xml"/><Relationship Id="rId9" Type="http://schemas.openxmlformats.org/officeDocument/2006/relationships/tags" Target="../tags/tag262.xml"/><Relationship Id="rId14" Type="http://schemas.openxmlformats.org/officeDocument/2006/relationships/image" Target="file:///C:\Users\1V994W2\PycharmProjects\PPT_Background_Generation/pic_temp/1_pic_quater_left_down.png" TargetMode="Externa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image" Target="../media/image4.png"/><Relationship Id="rId3" Type="http://schemas.openxmlformats.org/officeDocument/2006/relationships/tags" Target="../tags/tag265.xml"/><Relationship Id="rId7" Type="http://schemas.openxmlformats.org/officeDocument/2006/relationships/tags" Target="../tags/tag269.xml"/><Relationship Id="rId12" Type="http://schemas.openxmlformats.org/officeDocument/2006/relationships/slideMaster" Target="../slideMasters/slideMaster3.xml"/><Relationship Id="rId17" Type="http://schemas.openxmlformats.org/officeDocument/2006/relationships/image" Target="../media/image2.png"/><Relationship Id="rId2" Type="http://schemas.openxmlformats.org/officeDocument/2006/relationships/tags" Target="../tags/tag26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5" Type="http://schemas.openxmlformats.org/officeDocument/2006/relationships/tags" Target="../tags/tag267.xml"/><Relationship Id="rId15" Type="http://schemas.openxmlformats.org/officeDocument/2006/relationships/image" Target="../media/image5.png"/><Relationship Id="rId10" Type="http://schemas.openxmlformats.org/officeDocument/2006/relationships/tags" Target="../tags/tag272.xml"/><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image" Target="file:///C:\Users\1V994W2\PycharmProjects\PPT_Background_Generation/pic_temp/0_pic_quater_right_down.png" TargetMode="Externa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28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276.xml"/><Relationship Id="rId7" Type="http://schemas.openxmlformats.org/officeDocument/2006/relationships/tags" Target="../tags/tag280.xml"/><Relationship Id="rId12" Type="http://schemas.openxmlformats.org/officeDocument/2006/relationships/image" Target="../media/image5.png"/><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278.xml"/><Relationship Id="rId10" Type="http://schemas.openxmlformats.org/officeDocument/2006/relationships/image" Target="../media/image4.png"/><Relationship Id="rId4" Type="http://schemas.openxmlformats.org/officeDocument/2006/relationships/tags" Target="../tags/tag277.xml"/><Relationship Id="rId9" Type="http://schemas.openxmlformats.org/officeDocument/2006/relationships/slideMaster" Target="../slideMasters/slideMaster3.xml"/><Relationship Id="rId14"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90.xml"/><Relationship Id="rId7" Type="http://schemas.openxmlformats.org/officeDocument/2006/relationships/slideMaster" Target="../slideMasters/slideMaster4.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9" Type="http://schemas.openxmlformats.org/officeDocument/2006/relationships/image" Target="file:///C:\Users\1V994W2\PycharmProjects\PPT_Background_Generation/pic_temp/pic_sup.png" TargetMode="External"/></Relationships>
</file>

<file path=ppt/slideLayouts/_rels/slideLayout54.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image" Target="../media/image5.png"/><Relationship Id="rId5" Type="http://schemas.openxmlformats.org/officeDocument/2006/relationships/tags" Target="../tags/tag29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297.xml"/><Relationship Id="rId9"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03.xml"/><Relationship Id="rId7" Type="http://schemas.openxmlformats.org/officeDocument/2006/relationships/tags" Target="../tags/tag307.xml"/><Relationship Id="rId2" Type="http://schemas.openxmlformats.org/officeDocument/2006/relationships/tags" Target="../tags/tag302.xml"/><Relationship Id="rId1" Type="http://schemas.openxmlformats.org/officeDocument/2006/relationships/tags" Target="../tags/tag301.xml"/><Relationship Id="rId6" Type="http://schemas.openxmlformats.org/officeDocument/2006/relationships/tags" Target="../tags/tag306.xml"/><Relationship Id="rId5" Type="http://schemas.openxmlformats.org/officeDocument/2006/relationships/tags" Target="../tags/tag30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304.xml"/><Relationship Id="rId9"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image" Target="../media/image5.png"/><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12.xml"/><Relationship Id="rId10" Type="http://schemas.openxmlformats.org/officeDocument/2006/relationships/image" Target="../media/image4.png"/><Relationship Id="rId4" Type="http://schemas.openxmlformats.org/officeDocument/2006/relationships/tags" Target="../tags/tag311.xml"/><Relationship Id="rId9"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32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18.xml"/><Relationship Id="rId7" Type="http://schemas.openxmlformats.org/officeDocument/2006/relationships/tags" Target="../tags/tag322.xml"/><Relationship Id="rId12" Type="http://schemas.openxmlformats.org/officeDocument/2006/relationships/image" Target="../media/image4.png"/><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tags" Target="../tags/tag321.xml"/><Relationship Id="rId11" Type="http://schemas.openxmlformats.org/officeDocument/2006/relationships/slideMaster" Target="../slideMasters/slideMaster4.xml"/><Relationship Id="rId5" Type="http://schemas.openxmlformats.org/officeDocument/2006/relationships/tags" Target="../tags/tag32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325.xml"/><Relationship Id="rId4" Type="http://schemas.openxmlformats.org/officeDocument/2006/relationships/tags" Target="../tags/tag319.xml"/><Relationship Id="rId9" Type="http://schemas.openxmlformats.org/officeDocument/2006/relationships/tags" Target="../tags/tag324.xml"/><Relationship Id="rId14"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28.xml"/><Relationship Id="rId7" Type="http://schemas.openxmlformats.org/officeDocument/2006/relationships/tags" Target="../tags/tag33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image" Target="../media/image4.png"/><Relationship Id="rId5" Type="http://schemas.openxmlformats.org/officeDocument/2006/relationships/tags" Target="../tags/tag33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329.xml"/><Relationship Id="rId9"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tags" Target="../tags/tag333.xml"/><Relationship Id="rId4"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8" Type="http://schemas.openxmlformats.org/officeDocument/2006/relationships/tags" Target="../tags/tag34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38.xml"/><Relationship Id="rId7" Type="http://schemas.openxmlformats.org/officeDocument/2006/relationships/tags" Target="../tags/tag342.xml"/><Relationship Id="rId12" Type="http://schemas.openxmlformats.org/officeDocument/2006/relationships/image" Target="../media/image5.png"/><Relationship Id="rId2" Type="http://schemas.openxmlformats.org/officeDocument/2006/relationships/tags" Target="../tags/tag337.xml"/><Relationship Id="rId1" Type="http://schemas.openxmlformats.org/officeDocument/2006/relationships/tags" Target="../tags/tag336.xml"/><Relationship Id="rId6" Type="http://schemas.openxmlformats.org/officeDocument/2006/relationships/tags" Target="../tags/tag34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40.xml"/><Relationship Id="rId10" Type="http://schemas.openxmlformats.org/officeDocument/2006/relationships/image" Target="../media/image4.png"/><Relationship Id="rId4" Type="http://schemas.openxmlformats.org/officeDocument/2006/relationships/tags" Target="../tags/tag339.xml"/><Relationship Id="rId9"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46.xml"/><Relationship Id="rId7" Type="http://schemas.openxmlformats.org/officeDocument/2006/relationships/tags" Target="../tags/tag35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tags" Target="../tags/tag349.xml"/><Relationship Id="rId11" Type="http://schemas.openxmlformats.org/officeDocument/2006/relationships/image" Target="../media/image5.png"/><Relationship Id="rId5" Type="http://schemas.openxmlformats.org/officeDocument/2006/relationships/tags" Target="../tags/tag34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347.xml"/><Relationship Id="rId9" Type="http://schemas.openxmlformats.org/officeDocument/2006/relationships/image" Target="../media/image4.png"/></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53.xml"/><Relationship Id="rId7" Type="http://schemas.openxmlformats.org/officeDocument/2006/relationships/slideMaster" Target="../slideMasters/slideMaster4.xml"/><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355.xml"/><Relationship Id="rId10" Type="http://schemas.openxmlformats.org/officeDocument/2006/relationships/image" Target="../media/image5.png"/><Relationship Id="rId4" Type="http://schemas.openxmlformats.org/officeDocument/2006/relationships/tags" Target="../tags/tag354.xml"/><Relationship Id="rId9" Type="http://schemas.openxmlformats.org/officeDocument/2006/relationships/image" Target="file:///C:\Users\1V994W2\PycharmProjects\PPT_Background_Generation/pic_temp/0_pic_quater_right_down.png" TargetMode="Externa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59.xml"/><Relationship Id="rId7" Type="http://schemas.openxmlformats.org/officeDocument/2006/relationships/slideMaster" Target="../slideMasters/slideMaster4.xml"/><Relationship Id="rId2" Type="http://schemas.openxmlformats.org/officeDocument/2006/relationships/tags" Target="../tags/tag358.xml"/><Relationship Id="rId1" Type="http://schemas.openxmlformats.org/officeDocument/2006/relationships/tags" Target="../tags/tag357.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9" Type="http://schemas.openxmlformats.org/officeDocument/2006/relationships/image" Target="file:///C:\Users\1V994W2\PycharmProjects\PPT_Background_Generation/pic_temp/pic_sup.png" TargetMode="Externa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65.xml"/><Relationship Id="rId7" Type="http://schemas.openxmlformats.org/officeDocument/2006/relationships/slideMaster" Target="../slideMasters/slideMaster4.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tags" Target="../tags/tag36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367.xml"/><Relationship Id="rId10" Type="http://schemas.openxmlformats.org/officeDocument/2006/relationships/image" Target="../media/image5.png"/><Relationship Id="rId4" Type="http://schemas.openxmlformats.org/officeDocument/2006/relationships/tags" Target="../tags/tag366.xml"/><Relationship Id="rId9" Type="http://schemas.openxmlformats.org/officeDocument/2006/relationships/image" Target="file:///C:\Users\1V994W2\PycharmProjects\PPT_Background_Generation/pic_temp/0_pic_quater_right_down.png" TargetMode="Externa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37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71.xml"/><Relationship Id="rId7" Type="http://schemas.openxmlformats.org/officeDocument/2006/relationships/tags" Target="../tags/tag375.xml"/><Relationship Id="rId12" Type="http://schemas.openxmlformats.org/officeDocument/2006/relationships/image" Target="../media/image5.png"/><Relationship Id="rId2" Type="http://schemas.openxmlformats.org/officeDocument/2006/relationships/tags" Target="../tags/tag370.xml"/><Relationship Id="rId1" Type="http://schemas.openxmlformats.org/officeDocument/2006/relationships/tags" Target="../tags/tag369.xml"/><Relationship Id="rId6" Type="http://schemas.openxmlformats.org/officeDocument/2006/relationships/tags" Target="../tags/tag37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73.xml"/><Relationship Id="rId10" Type="http://schemas.openxmlformats.org/officeDocument/2006/relationships/image" Target="../media/image4.png"/><Relationship Id="rId4" Type="http://schemas.openxmlformats.org/officeDocument/2006/relationships/tags" Target="../tags/tag372.xml"/><Relationship Id="rId9"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384.xml"/><Relationship Id="rId3" Type="http://schemas.openxmlformats.org/officeDocument/2006/relationships/tags" Target="../tags/tag379.xml"/><Relationship Id="rId7" Type="http://schemas.openxmlformats.org/officeDocument/2006/relationships/tags" Target="../tags/tag383.xml"/><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tags" Target="../tags/tag38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81.xml"/><Relationship Id="rId10" Type="http://schemas.openxmlformats.org/officeDocument/2006/relationships/image" Target="../media/image4.png"/><Relationship Id="rId4" Type="http://schemas.openxmlformats.org/officeDocument/2006/relationships/tags" Target="../tags/tag380.xml"/><Relationship Id="rId9"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image" Target="../media/image5.png"/><Relationship Id="rId3" Type="http://schemas.openxmlformats.org/officeDocument/2006/relationships/tags" Target="../tags/tag387.xml"/><Relationship Id="rId7" Type="http://schemas.openxmlformats.org/officeDocument/2006/relationships/tags" Target="../tags/tag39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image" Target="../media/image4.png"/><Relationship Id="rId5" Type="http://schemas.openxmlformats.org/officeDocument/2006/relationships/tags" Target="../tags/tag389.xml"/><Relationship Id="rId10" Type="http://schemas.openxmlformats.org/officeDocument/2006/relationships/slideMaster" Target="../slideMasters/slideMaster4.xml"/><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image" Target="file:///C:\Users\1V994W2\PycharmProjects\PPT_Background_Generation/pic_temp/1_pic_quater_left_down.png" TargetMode="Externa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401.xml"/><Relationship Id="rId13" Type="http://schemas.openxmlformats.org/officeDocument/2006/relationships/image" Target="../media/image5.png"/><Relationship Id="rId3" Type="http://schemas.openxmlformats.org/officeDocument/2006/relationships/tags" Target="../tags/tag396.xml"/><Relationship Id="rId7" Type="http://schemas.openxmlformats.org/officeDocument/2006/relationships/tags" Target="../tags/tag40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tags" Target="../tags/tag399.xml"/><Relationship Id="rId11" Type="http://schemas.openxmlformats.org/officeDocument/2006/relationships/image" Target="../media/image4.png"/><Relationship Id="rId5" Type="http://schemas.openxmlformats.org/officeDocument/2006/relationships/tags" Target="../tags/tag398.xml"/><Relationship Id="rId10" Type="http://schemas.openxmlformats.org/officeDocument/2006/relationships/slideMaster" Target="../slideMasters/slideMaster4.xml"/><Relationship Id="rId4" Type="http://schemas.openxmlformats.org/officeDocument/2006/relationships/tags" Target="../tags/tag397.xml"/><Relationship Id="rId9" Type="http://schemas.openxmlformats.org/officeDocument/2006/relationships/tags" Target="../tags/tag402.xml"/><Relationship Id="rId14" Type="http://schemas.openxmlformats.org/officeDocument/2006/relationships/image" Target="file:///C:\Users\1V994W2\PycharmProjects\PPT_Background_Generation/pic_temp/1_pic_quater_left_down.png" TargetMode="External"/></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image" Target="../media/image4.png"/><Relationship Id="rId3" Type="http://schemas.openxmlformats.org/officeDocument/2006/relationships/tags" Target="../tags/tag405.xml"/><Relationship Id="rId7" Type="http://schemas.openxmlformats.org/officeDocument/2006/relationships/tags" Target="../tags/tag409.xml"/><Relationship Id="rId12" Type="http://schemas.openxmlformats.org/officeDocument/2006/relationships/slideMaster" Target="../slideMasters/slideMaster4.xml"/><Relationship Id="rId2" Type="http://schemas.openxmlformats.org/officeDocument/2006/relationships/tags" Target="../tags/tag40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tags" Target="../tags/tag413.xml"/><Relationship Id="rId5" Type="http://schemas.openxmlformats.org/officeDocument/2006/relationships/tags" Target="../tags/tag407.xml"/><Relationship Id="rId15" Type="http://schemas.openxmlformats.org/officeDocument/2006/relationships/image" Target="../media/image5.png"/><Relationship Id="rId10" Type="http://schemas.openxmlformats.org/officeDocument/2006/relationships/tags" Target="../tags/tag412.xml"/><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image" Target="file:///C:\Users\1V994W2\PycharmProjects\PPT_Background_Generation/pic_temp/0_pic_quater_right_down.png" TargetMode="Externa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42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16.xml"/><Relationship Id="rId7" Type="http://schemas.openxmlformats.org/officeDocument/2006/relationships/tags" Target="../tags/tag420.xml"/><Relationship Id="rId12" Type="http://schemas.openxmlformats.org/officeDocument/2006/relationships/image" Target="../media/image5.png"/><Relationship Id="rId2" Type="http://schemas.openxmlformats.org/officeDocument/2006/relationships/tags" Target="../tags/tag415.xml"/><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418.xml"/><Relationship Id="rId10" Type="http://schemas.openxmlformats.org/officeDocument/2006/relationships/image" Target="../media/image4.png"/><Relationship Id="rId4" Type="http://schemas.openxmlformats.org/officeDocument/2006/relationships/tags" Target="../tags/tag417.xml"/><Relationship Id="rId9"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a:solidFill>
              <a:schemeClr val="accent2"/>
            </a:solidFill>
            <a:round/>
          </a:ln>
        </p:spPr>
        <p:txBody>
          <a:bodyPr/>
          <a:lstStyle/>
          <a:p>
            <a:pPr>
              <a:defRPr/>
            </a:pPr>
            <a:endParaRPr lang="zh-CN" altLang="zh-CN">
              <a:latin typeface="Times New Roman" panose="02020603050405020304" pitchFamily="18" charset="0"/>
            </a:endParaRPr>
          </a:p>
        </p:txBody>
      </p:sp>
      <p:sp>
        <p:nvSpPr>
          <p:cNvPr id="1843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a:t>单击此处编辑母版标题样式</a:t>
            </a:r>
          </a:p>
        </p:txBody>
      </p:sp>
      <p:sp>
        <p:nvSpPr>
          <p:cNvPr id="1843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fld id="{BB962C8B-B14F-4D97-AF65-F5344CB8AC3E}" type="datetime1">
              <a:rPr lang="zh-CN" altLang="zh-CN"/>
              <a:t>2023/4/19</a:t>
            </a:fld>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8DFB84F8-9E3A-40A6-9D93-5B2A36FF0841}" type="slidenum">
              <a:rPr lang="en-US" altLang="zh-CN"/>
              <a:t>‹#›</a:t>
            </a:fld>
            <a:endParaRPr lang="en-US" altLang="zh-CN"/>
          </a:p>
        </p:txBody>
      </p:sp>
    </p:spTree>
  </p:cSld>
  <p:clrMapOvr>
    <a:masterClrMapping/>
  </p:clrMapOvr>
  <p:transition>
    <p:blinds dir="vert"/>
  </p:transition>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DBFB54F7-E04B-4C47-85C4-FD2F59162A7E}" type="slidenum">
              <a:rPr lang="en-US" altLang="zh-CN"/>
              <a:t>‹#›</a:t>
            </a:fld>
            <a:endParaRPr lang="en-US" altLang="zh-CN"/>
          </a:p>
        </p:txBody>
      </p:sp>
    </p:spTree>
  </p:cSld>
  <p:clrMapOvr>
    <a:masterClrMapping/>
  </p:clrMapOvr>
  <p:transition>
    <p:blinds dir="vert"/>
  </p:transition>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151EF2F3-CE7B-4B7B-87C4-5F3625F85DD6}" type="slidenum">
              <a:rPr lang="en-US" altLang="zh-CN"/>
              <a:t>‹#›</a:t>
            </a:fld>
            <a:endParaRPr lang="en-US" altLang="zh-CN"/>
          </a:p>
        </p:txBody>
      </p:sp>
    </p:spTree>
  </p:cSld>
  <p:clrMapOvr>
    <a:masterClrMapping/>
  </p:clrMapOvr>
  <p:transition>
    <p:blinds dir="vert"/>
  </p:transition>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8EA15940-A461-430B-AE16-86C9256A3197}" type="slidenum">
              <a:rPr lang="en-US" altLang="zh-CN"/>
              <a:t>‹#›</a:t>
            </a:fld>
            <a:endParaRPr lang="en-US" altLang="zh-CN"/>
          </a:p>
        </p:txBody>
      </p:sp>
    </p:spTree>
  </p:cSld>
  <p:clrMapOvr>
    <a:masterClrMapping/>
  </p:clrMapOvr>
  <p:transition>
    <p:blinds dir="vert"/>
  </p:transition>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p:txBody>
          <a:bodyPr/>
          <a:lstStyle>
            <a:lvl1pPr>
              <a:defRPr/>
            </a:lvl1pPr>
          </a:lstStyle>
          <a:p>
            <a:fld id="{71071BD4-EA75-4A7C-AE52-41223B3B0D7B}" type="slidenum">
              <a:rPr lang="en-US" altLang="zh-CN"/>
              <a:t>‹#›</a:t>
            </a:fld>
            <a:endParaRPr lang="en-US" altLang="zh-CN"/>
          </a:p>
        </p:txBody>
      </p:sp>
    </p:spTree>
  </p:cSld>
  <p:clrMapOvr>
    <a:masterClrMapping/>
  </p:clrMapOvr>
  <p:transition>
    <p:blinds dir="vert"/>
  </p:transition>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vl1pPr>
          </a:lstStyle>
          <a:p>
            <a:fld id="{BA50454A-3530-4AC2-9807-EAD8490CA1BC}" type="slidenum">
              <a:rPr lang="en-US" altLang="zh-CN"/>
              <a:t>‹#›</a:t>
            </a:fld>
            <a:endParaRPr lang="en-US" altLang="zh-CN"/>
          </a:p>
        </p:txBody>
      </p:sp>
    </p:spTree>
  </p:cSld>
  <p:clrMapOvr>
    <a:masterClrMapping/>
  </p:clrMapOvr>
  <p:transition>
    <p:blinds dir="vert"/>
  </p:transition>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p:txBody>
          <a:bodyPr/>
          <a:lstStyle>
            <a:lvl1pPr>
              <a:defRPr/>
            </a:lvl1pPr>
          </a:lstStyle>
          <a:p>
            <a:fld id="{DB5DC0DB-EE33-458B-A907-F18689A1A4EB}" type="slidenum">
              <a:rPr lang="en-US" altLang="zh-CN"/>
              <a:t>‹#›</a:t>
            </a:fld>
            <a:endParaRPr lang="en-US" altLang="zh-CN"/>
          </a:p>
        </p:txBody>
      </p:sp>
    </p:spTree>
  </p:cSld>
  <p:clrMapOvr>
    <a:masterClrMapping/>
  </p:clrMapOvr>
  <p:transition>
    <p:blinds dir="vert"/>
  </p:transition>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9975C7CB-DE13-4E0D-B606-3692BC60E5CD}" type="slidenum">
              <a:rPr lang="en-US" altLang="zh-CN"/>
              <a:t>‹#›</a:t>
            </a:fld>
            <a:endParaRPr lang="en-US" altLang="zh-CN"/>
          </a:p>
        </p:txBody>
      </p:sp>
    </p:spTree>
  </p:cSld>
  <p:clrMapOvr>
    <a:masterClrMapping/>
  </p:clrMapOvr>
  <p:transition>
    <p:blinds dir="vert"/>
  </p:transition>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A26D9546-6464-4C94-A9DF-E09CB75ED98A}" type="slidenum">
              <a:rPr lang="en-US" altLang="zh-CN"/>
              <a:t>‹#›</a:t>
            </a:fld>
            <a:endParaRPr lang="en-US" altLang="zh-CN"/>
          </a:p>
        </p:txBody>
      </p:sp>
    </p:spTree>
  </p:cSld>
  <p:clrMapOvr>
    <a:masterClrMapping/>
  </p:clrMapOvr>
  <p:transition>
    <p:blinds dir="vert"/>
  </p:transition>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CC5D936D-39E1-4FCC-A647-61B86F68ECB0}" type="slidenum">
              <a:rPr lang="en-US" altLang="zh-CN"/>
              <a:t>‹#›</a:t>
            </a:fld>
            <a:endParaRPr lang="en-US" altLang="zh-CN"/>
          </a:p>
        </p:txBody>
      </p:sp>
    </p:spTree>
  </p:cSld>
  <p:clrMapOvr>
    <a:masterClrMapping/>
  </p:clrMapOvr>
  <p:transition>
    <p:blinds dir="vert"/>
  </p:transition>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9"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2F275B48-4940-4526-99AF-892B092A1113}" type="slidenum">
              <a:rPr lang="en-US" altLang="zh-CN"/>
              <a:t>‹#›</a:t>
            </a:fld>
            <a:endParaRPr lang="en-US" altLang="zh-CN"/>
          </a:p>
        </p:txBody>
      </p:sp>
    </p:spTree>
  </p:cSld>
  <p:clrMapOvr>
    <a:masterClrMapping/>
  </p:clrMapOvr>
  <p:transition>
    <p:blinds dir="vert"/>
  </p:transition>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1"/>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E4B555A8-D1E9-4F7A-A497-34AA5A0C5C57}" type="slidenum">
              <a:rPr lang="en-US" altLang="zh-CN"/>
              <a:t>‹#›</a:t>
            </a:fld>
            <a:endParaRPr lang="en-US" altLang="zh-CN"/>
          </a:p>
        </p:txBody>
      </p:sp>
    </p:spTree>
  </p:cSld>
  <p:clrMapOvr>
    <a:masterClrMapping/>
  </p:clrMapOvr>
  <p:transition>
    <p:blinds dir="vert"/>
  </p:transition>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16014" y="114300"/>
            <a:ext cx="7773987" cy="1143000"/>
          </a:xfrm>
        </p:spPr>
        <p:txBody>
          <a:bodyPr/>
          <a:lstStyle/>
          <a:p>
            <a:r>
              <a:rPr lang="zh-CN" altLang="en-US"/>
              <a:t>单击此处编辑母版标题样式</a:t>
            </a:r>
          </a:p>
        </p:txBody>
      </p:sp>
      <p:sp>
        <p:nvSpPr>
          <p:cNvPr id="3" name="表格占位符 2"/>
          <p:cNvSpPr>
            <a:spLocks noGrp="1"/>
          </p:cNvSpPr>
          <p:nvPr>
            <p:ph type="tbl" idx="1"/>
          </p:nvPr>
        </p:nvSpPr>
        <p:spPr>
          <a:xfrm>
            <a:off x="1370013" y="1827213"/>
            <a:ext cx="7313612" cy="4114800"/>
          </a:xfrm>
        </p:spPr>
        <p:txBody>
          <a:bodyPr/>
          <a:lstStyle/>
          <a:p>
            <a:pPr lvl="0"/>
            <a:endParaRPr lang="zh-CN" altLang="en-US" noProof="0"/>
          </a:p>
        </p:txBody>
      </p:sp>
      <p:sp>
        <p:nvSpPr>
          <p:cNvPr id="4" name="Rectangle 8"/>
          <p:cNvSpPr>
            <a:spLocks noGrp="1" noChangeArrowheads="1"/>
          </p:cNvSpPr>
          <p:nvPr>
            <p:ph type="dt" sz="half" idx="10"/>
          </p:nvPr>
        </p:nvSpPr>
        <p:spPr/>
        <p:txBody>
          <a:bodyPr/>
          <a:lstStyle>
            <a:lvl1pPr>
              <a:defRPr/>
            </a:lvl1pPr>
          </a:lstStyle>
          <a:p>
            <a:pPr>
              <a:defRPr/>
            </a:pPr>
            <a:fld id="{BB962C8B-B14F-4D97-AF65-F5344CB8AC3E}" type="datetime1">
              <a:rPr lang="zh-CN" altLang="zh-CN"/>
              <a:t>2023/4/19</a:t>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p:txBody>
          <a:bodyPr/>
          <a:lstStyle>
            <a:lvl1pPr>
              <a:defRPr/>
            </a:lvl1pPr>
          </a:lstStyle>
          <a:p>
            <a:fld id="{7623EE0A-BCD5-4F0A-B562-5BC91E43BD9C}" type="slidenum">
              <a:rPr lang="en-US" altLang="zh-CN"/>
              <a:t>‹#›</a:t>
            </a:fld>
            <a:endParaRPr lang="en-US" altLang="zh-CN"/>
          </a:p>
        </p:txBody>
      </p:sp>
    </p:spTree>
  </p:cSld>
  <p:clrMapOvr>
    <a:masterClrMapping/>
  </p:clrMapOvr>
  <p:transition>
    <p:fade thruBlk="1"/>
  </p:transition>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167732"/>
            <a:ext cx="47625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664585"/>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285" y="1287780"/>
            <a:ext cx="8139430"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807653"/>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25219"/>
            <a:ext cx="4325779"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1866979"/>
            <a:ext cx="4325779"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内容占位符 2"/>
          <p:cNvSpPr>
            <a:spLocks noGrp="1"/>
          </p:cNvSpPr>
          <p:nvPr>
            <p:ph sz="half" idx="1"/>
            <p:custDataLst>
              <p:tags r:id="rId3"/>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4679158" y="1626121"/>
            <a:ext cx="3962432"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540068"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2" y="0"/>
            <a:ext cx="540068" cy="629227"/>
          </a:xfrm>
          <a:prstGeom prst="rect">
            <a:avLst/>
          </a:prstGeom>
        </p:spPr>
      </p:pic>
      <p:sp>
        <p:nvSpPr>
          <p:cNvPr id="3" name="文本占位符 2"/>
          <p:cNvSpPr>
            <a:spLocks noGrp="1"/>
          </p:cNvSpPr>
          <p:nvPr>
            <p:ph type="body" idx="1" hasCustomPrompt="1"/>
            <p:custDataLst>
              <p:tags r:id="rId3"/>
            </p:custDataLst>
          </p:nvPr>
        </p:nvSpPr>
        <p:spPr>
          <a:xfrm>
            <a:off x="502447" y="138621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50228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4686337" y="138621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467677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511810"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2" y="6371623"/>
            <a:ext cx="540068" cy="48637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图片占位符 2"/>
          <p:cNvSpPr>
            <a:spLocks noGrp="1"/>
          </p:cNvSpPr>
          <p:nvPr>
            <p:ph type="pic" idx="1"/>
            <p:custDataLst>
              <p:tags r:id="rId3"/>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2023/4/19</a:t>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148126"/>
            <a:ext cx="4024313"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710067"/>
            <a:ext cx="4024313"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2" y="0"/>
            <a:ext cx="540068" cy="629227"/>
          </a:xfrm>
          <a:prstGeom prst="rect">
            <a:avLst/>
          </a:prstGeom>
        </p:spPr>
      </p:pic>
      <p:sp>
        <p:nvSpPr>
          <p:cNvPr id="7" name="内容占位符 6"/>
          <p:cNvSpPr>
            <a:spLocks noGrp="1"/>
          </p:cNvSpPr>
          <p:nvPr>
            <p:ph sz="quarter" idx="13"/>
            <p:custDataLst>
              <p:tags r:id="rId4"/>
            </p:custDataLst>
          </p:nvPr>
        </p:nvSpPr>
        <p:spPr>
          <a:xfrm>
            <a:off x="659765" y="1378585"/>
            <a:ext cx="794385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2" y="0"/>
            <a:ext cx="540068" cy="48637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2" name="标题 1"/>
          <p:cNvSpPr>
            <a:spLocks noGrp="1"/>
          </p:cNvSpPr>
          <p:nvPr>
            <p:ph type="title"/>
            <p:custDataLst>
              <p:tags r:id="rId4"/>
            </p:custDataLst>
          </p:nvPr>
        </p:nvSpPr>
        <p:spPr>
          <a:xfrm>
            <a:off x="459105" y="485775"/>
            <a:ext cx="8232140"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740" y="2664460"/>
            <a:ext cx="8223885"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5"/>
            <a:ext cx="9144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390" y="1444625"/>
            <a:ext cx="8242935"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2" y="6371623"/>
            <a:ext cx="540068"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3"/>
            <a:ext cx="540068" cy="62922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975" y="980440"/>
            <a:ext cx="400685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55" y="980440"/>
            <a:ext cx="402590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763653"/>
            <a:ext cx="1215152"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0"/>
            <a:ext cx="1215152" cy="1415761"/>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5620987"/>
            <a:ext cx="9144000" cy="1171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2135">
                <a:solidFill>
                  <a:schemeClr val="accent1">
                    <a:lumMod val="50000"/>
                  </a:schemeClr>
                </a:solidFill>
                <a:latin typeface="+mn-lt"/>
              </a:defRPr>
            </a:lvl1pPr>
          </a:lstStyle>
          <a:p>
            <a:fld id="{2FF0ACE2-4501-45AB-B004-C7F07999D2EC}" type="datetime1">
              <a:rPr lang="zh-CN" altLang="en-US" smtClean="0"/>
              <a:t>2023/4/19</a:t>
            </a:fld>
            <a:endParaRPr lang="zh-CN" altLang="en-US" dirty="0"/>
          </a:p>
        </p:txBody>
      </p:sp>
      <p:sp>
        <p:nvSpPr>
          <p:cNvPr id="4" name="Footer Placeholder 3"/>
          <p:cNvSpPr>
            <a:spLocks noGrp="1"/>
          </p:cNvSpPr>
          <p:nvPr>
            <p:ph type="ftr" sz="quarter" idx="11"/>
          </p:nvPr>
        </p:nvSpPr>
        <p:spPr>
          <a:xfrm>
            <a:off x="2383703" y="6470704"/>
            <a:ext cx="5674590" cy="274320"/>
          </a:xfrm>
        </p:spPr>
        <p:txBody>
          <a:bodyPr/>
          <a:lstStyle>
            <a:lvl1pPr algn="ctr">
              <a:defRPr sz="2135">
                <a:solidFill>
                  <a:schemeClr val="accent1">
                    <a:lumMod val="50000"/>
                  </a:schemeClr>
                </a:solidFill>
                <a:latin typeface="+mn-lt"/>
              </a:defRPr>
            </a:lvl1pPr>
          </a:lstStyle>
          <a:p>
            <a:r>
              <a:rPr lang="zh-CN" altLang="en-US" dirty="0"/>
              <a:t>软件质量与测试</a:t>
            </a:r>
          </a:p>
        </p:txBody>
      </p:sp>
      <p:sp>
        <p:nvSpPr>
          <p:cNvPr id="5" name="Slide Number Placeholder 4"/>
          <p:cNvSpPr>
            <a:spLocks noGrp="1"/>
          </p:cNvSpPr>
          <p:nvPr>
            <p:ph type="sldNum" sz="quarter" idx="12"/>
          </p:nvPr>
        </p:nvSpPr>
        <p:spPr/>
        <p:txBody>
          <a:bodyPr/>
          <a:lstStyle>
            <a:lvl1pPr algn="ctr">
              <a:defRPr sz="2135">
                <a:solidFill>
                  <a:schemeClr val="accent1">
                    <a:lumMod val="50000"/>
                  </a:schemeClr>
                </a:solidFill>
                <a:latin typeface="+mn-lt"/>
              </a:defRPr>
            </a:lvl1pPr>
          </a:lstStyle>
          <a:p>
            <a:fld id="{F528F39D-B5E5-4CA7-906C-979D5A62978D}" type="slidenum">
              <a:rPr lang="zh-CN" altLang="en-US" smtClean="0"/>
              <a:t>‹#›</a:t>
            </a:fld>
            <a:endParaRPr lang="zh-CN" altLang="en-US"/>
          </a:p>
        </p:txBody>
      </p:sp>
      <p:sp>
        <p:nvSpPr>
          <p:cNvPr id="6" name="矩形 5"/>
          <p:cNvSpPr/>
          <p:nvPr userDrawn="1"/>
        </p:nvSpPr>
        <p:spPr>
          <a:xfrm>
            <a:off x="0" y="15833"/>
            <a:ext cx="9144000" cy="18525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Straight Connector 6"/>
          <p:cNvCxnSpPr/>
          <p:nvPr userDrawn="1"/>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hf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167732"/>
            <a:ext cx="47625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664585"/>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285" y="1287780"/>
            <a:ext cx="8139430"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807653"/>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25219"/>
            <a:ext cx="4325779"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1866979"/>
            <a:ext cx="4325779"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内容占位符 2"/>
          <p:cNvSpPr>
            <a:spLocks noGrp="1"/>
          </p:cNvSpPr>
          <p:nvPr>
            <p:ph sz="half" idx="1"/>
            <p:custDataLst>
              <p:tags r:id="rId3"/>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4679158" y="1626121"/>
            <a:ext cx="3962432"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540068"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2" y="0"/>
            <a:ext cx="540068" cy="629227"/>
          </a:xfrm>
          <a:prstGeom prst="rect">
            <a:avLst/>
          </a:prstGeom>
        </p:spPr>
      </p:pic>
      <p:sp>
        <p:nvSpPr>
          <p:cNvPr id="3" name="文本占位符 2"/>
          <p:cNvSpPr>
            <a:spLocks noGrp="1"/>
          </p:cNvSpPr>
          <p:nvPr>
            <p:ph type="body" idx="1" hasCustomPrompt="1"/>
            <p:custDataLst>
              <p:tags r:id="rId3"/>
            </p:custDataLst>
          </p:nvPr>
        </p:nvSpPr>
        <p:spPr>
          <a:xfrm>
            <a:off x="502447" y="138621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50228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4686337" y="138621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467677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511810"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2" y="6371623"/>
            <a:ext cx="540068" cy="48637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图片占位符 2"/>
          <p:cNvSpPr>
            <a:spLocks noGrp="1"/>
          </p:cNvSpPr>
          <p:nvPr>
            <p:ph type="pic" idx="1"/>
            <p:custDataLst>
              <p:tags r:id="rId3"/>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2023/4/19</a:t>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148126"/>
            <a:ext cx="4024313"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710067"/>
            <a:ext cx="4024313"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2" y="0"/>
            <a:ext cx="540068" cy="629227"/>
          </a:xfrm>
          <a:prstGeom prst="rect">
            <a:avLst/>
          </a:prstGeom>
        </p:spPr>
      </p:pic>
      <p:sp>
        <p:nvSpPr>
          <p:cNvPr id="7" name="内容占位符 6"/>
          <p:cNvSpPr>
            <a:spLocks noGrp="1"/>
          </p:cNvSpPr>
          <p:nvPr>
            <p:ph sz="quarter" idx="13"/>
            <p:custDataLst>
              <p:tags r:id="rId4"/>
            </p:custDataLst>
          </p:nvPr>
        </p:nvSpPr>
        <p:spPr>
          <a:xfrm>
            <a:off x="659765" y="1378585"/>
            <a:ext cx="794385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2" y="0"/>
            <a:ext cx="540068" cy="48637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2" name="标题 1"/>
          <p:cNvSpPr>
            <a:spLocks noGrp="1"/>
          </p:cNvSpPr>
          <p:nvPr>
            <p:ph type="title"/>
            <p:custDataLst>
              <p:tags r:id="rId4"/>
            </p:custDataLst>
          </p:nvPr>
        </p:nvSpPr>
        <p:spPr>
          <a:xfrm>
            <a:off x="459105" y="485775"/>
            <a:ext cx="8232140"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740" y="2664460"/>
            <a:ext cx="8223885"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5"/>
            <a:ext cx="9144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390" y="1444625"/>
            <a:ext cx="8242935"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2" y="6371623"/>
            <a:ext cx="540068"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3"/>
            <a:ext cx="540068" cy="62922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975" y="980440"/>
            <a:ext cx="400685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55" y="980440"/>
            <a:ext cx="402590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763653"/>
            <a:ext cx="1215152"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0"/>
            <a:ext cx="1215152" cy="1415761"/>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857250"/>
            <a:ext cx="9144000" cy="5143500"/>
          </a:xfrm>
          <a:prstGeom prst="rect">
            <a:avLst/>
          </a:prstGeom>
        </p:spPr>
      </p:pic>
      <p:sp>
        <p:nvSpPr>
          <p:cNvPr id="16" name="日期占位符 15"/>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17" name="页脚占位符 16"/>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357200"/>
            <a:ext cx="4762500" cy="1006793"/>
          </a:xfrm>
        </p:spPr>
        <p:txBody>
          <a:bodyPr vert="horz" wrap="square" lIns="90170" tIns="46990" rIns="90170" bIns="46990" rtlCol="0" anchor="b" anchorCtr="0">
            <a:normAutofit/>
          </a:bodyPr>
          <a:lstStyle>
            <a:lvl1pPr>
              <a:defRPr lang="zh-CN" altLang="en-US" sz="72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552349"/>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857250"/>
            <a:ext cx="540068" cy="364783"/>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3" y="857250"/>
            <a:ext cx="540068" cy="471920"/>
          </a:xfrm>
          <a:prstGeom prst="rect">
            <a:avLst/>
          </a:prstGeom>
        </p:spPr>
      </p:pic>
      <p:sp>
        <p:nvSpPr>
          <p:cNvPr id="2" name="标题 1"/>
          <p:cNvSpPr>
            <a:spLocks noGrp="1"/>
          </p:cNvSpPr>
          <p:nvPr>
            <p:ph type="title"/>
            <p:custDataLst>
              <p:tags r:id="rId3"/>
            </p:custDataLst>
          </p:nvPr>
        </p:nvSpPr>
        <p:spPr>
          <a:xfrm>
            <a:off x="502412" y="1189676"/>
            <a:ext cx="8139178" cy="331473"/>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412" y="1571631"/>
            <a:ext cx="8139178" cy="4041680"/>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144262"/>
            <a:ext cx="3048000" cy="856488"/>
          </a:xfrm>
          <a:prstGeom prst="rect">
            <a:avLst/>
          </a:prstGeom>
        </p:spPr>
      </p:pic>
      <p:sp>
        <p:nvSpPr>
          <p:cNvPr id="4" name="日期占位符 3"/>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962990"/>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84671"/>
            <a:ext cx="4325779" cy="331946"/>
          </a:xfrm>
        </p:spPr>
        <p:txBody>
          <a:bodyPr vert="horz" wrap="square" lIns="90170" tIns="46990" rIns="90170" bIns="46990" rtlCol="0" anchor="t" anchorCtr="0">
            <a:normAutofit/>
          </a:bodyPr>
          <a:lstStyle>
            <a:lvl1pPr>
              <a:defRPr kumimoji="0" lang="zh-CN" altLang="en-US" sz="180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2174081"/>
            <a:ext cx="4325779" cy="667226"/>
          </a:xfrm>
        </p:spPr>
        <p:txBody>
          <a:bodyPr vert="horz" wrap="square" lIns="90170" tIns="46990" rIns="90170" bIns="0" rtlCol="0" anchor="b" anchorCtr="0">
            <a:normAutofit/>
          </a:bodyPr>
          <a:lstStyle>
            <a:lvl1pPr>
              <a:defRPr kumimoji="0" lang="zh-CN" altLang="en-US" sz="44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857250"/>
            <a:ext cx="540068" cy="364783"/>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3" y="857250"/>
            <a:ext cx="540068" cy="471920"/>
          </a:xfrm>
          <a:prstGeom prst="rect">
            <a:avLst/>
          </a:prstGeom>
        </p:spPr>
      </p:pic>
      <p:sp>
        <p:nvSpPr>
          <p:cNvPr id="2" name="标题 1"/>
          <p:cNvSpPr>
            <a:spLocks noGrp="1"/>
          </p:cNvSpPr>
          <p:nvPr>
            <p:ph type="title"/>
            <p:custDataLst>
              <p:tags r:id="rId3"/>
            </p:custDataLst>
          </p:nvPr>
        </p:nvSpPr>
        <p:spPr>
          <a:xfrm>
            <a:off x="502412" y="1189676"/>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502448" y="1571631"/>
            <a:ext cx="3962432" cy="4041680"/>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4679158" y="1571631"/>
            <a:ext cx="3962432" cy="4041680"/>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857250"/>
            <a:ext cx="540068" cy="364783"/>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3" y="857250"/>
            <a:ext cx="540068" cy="471920"/>
          </a:xfrm>
          <a:prstGeom prst="rect">
            <a:avLst/>
          </a:prstGeom>
        </p:spPr>
      </p:pic>
      <p:sp>
        <p:nvSpPr>
          <p:cNvPr id="2" name="标题 1"/>
          <p:cNvSpPr>
            <a:spLocks noGrp="1"/>
          </p:cNvSpPr>
          <p:nvPr>
            <p:ph type="title"/>
            <p:custDataLst>
              <p:tags r:id="rId3"/>
            </p:custDataLst>
          </p:nvPr>
        </p:nvSpPr>
        <p:spPr>
          <a:xfrm>
            <a:off x="502412" y="1189676"/>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502448" y="1571631"/>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502444" y="1912144"/>
            <a:ext cx="3962400" cy="3701064"/>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4676813" y="1571631"/>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4676813" y="1912144"/>
            <a:ext cx="3962432" cy="3701064"/>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857250"/>
            <a:ext cx="5485500" cy="51435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3" y="5635967"/>
            <a:ext cx="540068" cy="364783"/>
          </a:xfrm>
          <a:prstGeom prst="rect">
            <a:avLst/>
          </a:prstGeom>
        </p:spPr>
      </p:pic>
      <p:sp>
        <p:nvSpPr>
          <p:cNvPr id="2" name="标题 1"/>
          <p:cNvSpPr>
            <a:spLocks noGrp="1"/>
          </p:cNvSpPr>
          <p:nvPr>
            <p:ph type="title"/>
            <p:custDataLst>
              <p:tags r:id="rId4"/>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857250"/>
            <a:ext cx="540068" cy="364783"/>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3" y="857250"/>
            <a:ext cx="540068" cy="471920"/>
          </a:xfrm>
          <a:prstGeom prst="rect">
            <a:avLst/>
          </a:prstGeom>
        </p:spPr>
      </p:pic>
      <p:sp>
        <p:nvSpPr>
          <p:cNvPr id="2" name="标题 1"/>
          <p:cNvSpPr>
            <a:spLocks noGrp="1"/>
          </p:cNvSpPr>
          <p:nvPr>
            <p:ph type="title"/>
            <p:custDataLst>
              <p:tags r:id="rId3"/>
            </p:custDataLst>
          </p:nvPr>
        </p:nvSpPr>
        <p:spPr>
          <a:xfrm>
            <a:off x="502448" y="1189676"/>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502448" y="157163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4679194" y="1571631"/>
            <a:ext cx="3962432" cy="4041680"/>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2023/4/19</a:t>
            </a:fld>
            <a:endParaRPr lang="zh-CN" altLang="en-US" dirty="0"/>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hf hdr="0" ftr="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857250"/>
            <a:ext cx="540068" cy="364783"/>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3" y="857250"/>
            <a:ext cx="540068" cy="471920"/>
          </a:xfrm>
          <a:prstGeom prst="rect">
            <a:avLst/>
          </a:prstGeom>
        </p:spPr>
      </p:pic>
      <p:sp>
        <p:nvSpPr>
          <p:cNvPr id="2" name="竖排标题 1"/>
          <p:cNvSpPr>
            <a:spLocks noGrp="1"/>
          </p:cNvSpPr>
          <p:nvPr>
            <p:ph type="title" orient="vert"/>
            <p:custDataLst>
              <p:tags r:id="rId3"/>
            </p:custDataLst>
          </p:nvPr>
        </p:nvSpPr>
        <p:spPr>
          <a:xfrm>
            <a:off x="7928351" y="157163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571625"/>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857250"/>
            <a:ext cx="540068" cy="364783"/>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3" y="857250"/>
            <a:ext cx="540068" cy="471920"/>
          </a:xfrm>
          <a:prstGeom prst="rect">
            <a:avLst/>
          </a:prstGeom>
        </p:spPr>
      </p:pic>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8" y="157163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857250"/>
            <a:ext cx="9144000" cy="5143500"/>
          </a:xfrm>
          <a:prstGeom prst="rect">
            <a:avLst/>
          </a:prstGeom>
        </p:spPr>
      </p:pic>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337197"/>
            <a:ext cx="4024313" cy="1049179"/>
          </a:xfrm>
        </p:spPr>
        <p:txBody>
          <a:bodyPr vert="horz" wrap="square" lIns="90170" tIns="46990" rIns="90170" bIns="46990" rtlCol="0" anchor="b" anchorCtr="0">
            <a:normAutofit/>
          </a:bodyPr>
          <a:lstStyle>
            <a:lvl1pPr>
              <a:defRPr lang="zh-CN" altLang="en-US" sz="8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592354"/>
            <a:ext cx="4024313" cy="379571"/>
          </a:xfrm>
        </p:spPr>
        <p:txBody>
          <a:bodyPr vert="horz" wrap="square" lIns="90170" tIns="0" rIns="90170" bIns="46990" rtlCol="0" anchor="t" anchorCtr="0">
            <a:normAutofit/>
          </a:bodyPr>
          <a:lstStyle>
            <a:lvl1pPr>
              <a:defRPr lang="zh-CN" altLang="en-US" sz="18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spTree>
  </p:cSld>
  <p:clrMapOvr>
    <a:masterClrMapping/>
  </p:clrMapOvr>
  <p:hf hdr="0" ftr="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857250"/>
            <a:ext cx="540068" cy="364783"/>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3" y="857250"/>
            <a:ext cx="540068" cy="471920"/>
          </a:xfrm>
          <a:prstGeom prst="rect">
            <a:avLst/>
          </a:prstGeom>
        </p:spPr>
      </p:pic>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1085107"/>
            <a:ext cx="8705888" cy="4687787"/>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857250"/>
            <a:ext cx="540068" cy="364783"/>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3" y="857250"/>
            <a:ext cx="540068" cy="471920"/>
          </a:xfrm>
          <a:prstGeom prst="rect">
            <a:avLst/>
          </a:prstGeom>
        </p:spPr>
      </p:pic>
      <p:sp>
        <p:nvSpPr>
          <p:cNvPr id="2" name="标题 1"/>
          <p:cNvSpPr>
            <a:spLocks noGrp="1"/>
          </p:cNvSpPr>
          <p:nvPr>
            <p:ph type="title" hasCustomPrompt="1"/>
            <p:custDataLst>
              <p:tags r:id="rId4"/>
            </p:custDataLst>
          </p:nvPr>
        </p:nvSpPr>
        <p:spPr>
          <a:xfrm>
            <a:off x="961200" y="1794150"/>
            <a:ext cx="7219800" cy="5427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960835" y="2479950"/>
            <a:ext cx="7219950" cy="2583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857250"/>
            <a:ext cx="3618452" cy="51435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3" y="857250"/>
            <a:ext cx="540068" cy="364783"/>
          </a:xfrm>
          <a:prstGeom prst="rect">
            <a:avLst/>
          </a:prstGeom>
        </p:spPr>
      </p:pic>
      <p:sp>
        <p:nvSpPr>
          <p:cNvPr id="2" name="标题 1"/>
          <p:cNvSpPr>
            <a:spLocks noGrp="1"/>
          </p:cNvSpPr>
          <p:nvPr>
            <p:ph type="title" hasCustomPrompt="1"/>
            <p:custDataLst>
              <p:tags r:id="rId3"/>
            </p:custDataLst>
          </p:nvPr>
        </p:nvSpPr>
        <p:spPr>
          <a:xfrm>
            <a:off x="437400" y="1435050"/>
            <a:ext cx="2970000" cy="6615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1802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34704"/>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857250"/>
            <a:ext cx="9144000" cy="199825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857250"/>
            <a:ext cx="540068" cy="364783"/>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3" y="857250"/>
            <a:ext cx="540068" cy="471920"/>
          </a:xfrm>
          <a:prstGeom prst="rect">
            <a:avLst/>
          </a:prstGeom>
        </p:spPr>
      </p:pic>
      <p:sp>
        <p:nvSpPr>
          <p:cNvPr id="2" name="标题 1"/>
          <p:cNvSpPr>
            <a:spLocks noGrp="1"/>
          </p:cNvSpPr>
          <p:nvPr>
            <p:ph type="title"/>
            <p:custDataLst>
              <p:tags r:id="rId4"/>
            </p:custDataLst>
          </p:nvPr>
        </p:nvSpPr>
        <p:spPr>
          <a:xfrm>
            <a:off x="459000" y="1443150"/>
            <a:ext cx="8232300" cy="4698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210195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2963250"/>
            <a:ext cx="8224200" cy="25731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4628978"/>
            <a:ext cx="9144000" cy="137177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857250"/>
            <a:ext cx="540068" cy="364783"/>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3" y="857250"/>
            <a:ext cx="540068" cy="471920"/>
          </a:xfrm>
          <a:prstGeom prst="rect">
            <a:avLst/>
          </a:prstGeom>
        </p:spPr>
      </p:pic>
      <p:sp>
        <p:nvSpPr>
          <p:cNvPr id="2" name="标题 1"/>
          <p:cNvSpPr>
            <a:spLocks noGrp="1"/>
          </p:cNvSpPr>
          <p:nvPr>
            <p:ph type="title"/>
            <p:custDataLst>
              <p:tags r:id="rId4"/>
            </p:custDataLst>
          </p:nvPr>
        </p:nvSpPr>
        <p:spPr>
          <a:xfrm>
            <a:off x="453600" y="1359450"/>
            <a:ext cx="8232300" cy="4239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53628" y="2118150"/>
            <a:ext cx="8243100" cy="2408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445500" y="47425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hf hdr="0" ft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857250"/>
            <a:ext cx="9144000" cy="6858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3" y="5635967"/>
            <a:ext cx="540068" cy="364783"/>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5528830"/>
            <a:ext cx="540068" cy="471920"/>
          </a:xfrm>
          <a:prstGeom prst="rect">
            <a:avLst/>
          </a:prstGeom>
        </p:spPr>
      </p:pic>
      <p:sp>
        <p:nvSpPr>
          <p:cNvPr id="2" name="标题 1"/>
          <p:cNvSpPr>
            <a:spLocks noGrp="1"/>
          </p:cNvSpPr>
          <p:nvPr>
            <p:ph type="title"/>
            <p:custDataLst>
              <p:tags r:id="rId4"/>
            </p:custDataLst>
          </p:nvPr>
        </p:nvSpPr>
        <p:spPr>
          <a:xfrm>
            <a:off x="434700" y="1035450"/>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700" y="2104650"/>
            <a:ext cx="40068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00" y="2104650"/>
            <a:ext cx="40257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4698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4671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hf hdr="0" ftr="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179990"/>
            <a:ext cx="1215152" cy="820760"/>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4938930"/>
            <a:ext cx="1215152" cy="1061821"/>
          </a:xfrm>
          <a:prstGeom prst="rect">
            <a:avLst/>
          </a:prstGeom>
        </p:spPr>
      </p:pic>
      <p:sp>
        <p:nvSpPr>
          <p:cNvPr id="2" name="标题 1"/>
          <p:cNvSpPr>
            <a:spLocks noGrp="1"/>
          </p:cNvSpPr>
          <p:nvPr>
            <p:ph type="title" hasCustomPrompt="1"/>
            <p:custDataLst>
              <p:tags r:id="rId4"/>
            </p:custDataLst>
          </p:nvPr>
        </p:nvSpPr>
        <p:spPr>
          <a:xfrm>
            <a:off x="1142100" y="1861650"/>
            <a:ext cx="6858000" cy="17901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375435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ags" Target="../tags/tag6.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tags" Target="../tags/tag5.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ags" Target="../tags/tag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3.xml"/><Relationship Id="rId28" Type="http://schemas.openxmlformats.org/officeDocument/2006/relationships/image" Target="../media/image2.png"/><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2.xml"/><Relationship Id="rId27" Type="http://schemas.openxmlformats.org/officeDocument/2006/relationships/tags" Target="../tags/tag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ags" Target="../tags/tag147.xml"/><Relationship Id="rId3" Type="http://schemas.openxmlformats.org/officeDocument/2006/relationships/slideLayout" Target="../slideLayouts/slideLayout36.xml"/><Relationship Id="rId21" Type="http://schemas.openxmlformats.org/officeDocument/2006/relationships/tags" Target="../tags/tag142.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tags" Target="../tags/tag146.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theme" Target="../theme/theme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tags" Target="../tags/tag14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tags" Target="../tags/tag144.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tags" Target="../tags/tag143.xml"/><Relationship Id="rId27"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21" Type="http://schemas.openxmlformats.org/officeDocument/2006/relationships/tags" Target="../tags/tag28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tags" Target="../tags/tag28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tags" Target="../tags/tag28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tags" Target="../tags/tag28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tags" Target="../tags/tag285.xml"/><Relationship Id="rId10" Type="http://schemas.openxmlformats.org/officeDocument/2006/relationships/slideLayout" Target="../slideLayouts/slideLayout62.xml"/><Relationship Id="rId19" Type="http://schemas.openxmlformats.org/officeDocument/2006/relationships/theme" Target="../theme/theme4.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tags" Target="../tags/tag2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1"/>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3300" name="AutoShape 4"/>
          <p:cNvSpPr>
            <a:spLocks noChangeArrowheads="1"/>
          </p:cNvSpPr>
          <p:nvPr/>
        </p:nvSpPr>
        <p:spPr bwMode="auto">
          <a:xfrm>
            <a:off x="609600" y="1566864"/>
            <a:ext cx="7958138"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ln>
        </p:spPr>
        <p:txBody>
          <a:bodyPr/>
          <a:lstStyle/>
          <a:p>
            <a:pPr>
              <a:defRPr/>
            </a:pPr>
            <a:endParaRPr lang="zh-CN" altLang="zh-CN">
              <a:latin typeface="Times New Roman" panose="02020603050405020304" pitchFamily="18" charset="0"/>
            </a:endParaRPr>
          </a:p>
        </p:txBody>
      </p:sp>
      <p:sp>
        <p:nvSpPr>
          <p:cNvPr id="1833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a:defRPr/>
            </a:pPr>
            <a:endParaRPr lang="zh-CN" altLang="en-US" sz="1350"/>
          </a:p>
        </p:txBody>
      </p:sp>
      <p:sp>
        <p:nvSpPr>
          <p:cNvPr id="1833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sz="1200">
                <a:ea typeface="宋体" panose="02010600030101010101" pitchFamily="2" charset="-122"/>
              </a:defRPr>
            </a:lvl1pPr>
          </a:lstStyle>
          <a:p>
            <a:pPr>
              <a:defRPr/>
            </a:pPr>
            <a:fld id="{BB962C8B-B14F-4D97-AF65-F5344CB8AC3E}" type="datetime1">
              <a:rPr lang="zh-CN" altLang="zh-CN"/>
              <a:t>2023/4/19</a:t>
            </a:fld>
            <a:endParaRPr lang="en-US" altLang="zh-CN"/>
          </a:p>
        </p:txBody>
      </p:sp>
      <p:sp>
        <p:nvSpPr>
          <p:cNvPr id="1833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200">
                <a:ea typeface="宋体" panose="02010600030101010101" pitchFamily="2" charset="-122"/>
              </a:defRPr>
            </a:lvl1pPr>
          </a:lstStyle>
          <a:p>
            <a:pPr>
              <a:defRPr/>
            </a:pPr>
            <a:endParaRPr lang="en-US" altLang="zh-CN"/>
          </a:p>
        </p:txBody>
      </p:sp>
      <p:sp>
        <p:nvSpPr>
          <p:cNvPr id="1833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fld id="{DBC83A8E-5D5A-4CDD-8E43-5EBB60306889}" type="slidenum">
              <a:rPr lang="en-US" altLang="zh-CN"/>
              <a:t>‹#›</a:t>
            </a:fld>
            <a:endParaRPr lang="en-US" altLang="zh-CN"/>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149590" y="142875"/>
            <a:ext cx="923290"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blinds dir="vert"/>
  </p:transition>
  <p:hf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2"/>
            </p:custDataLst>
          </p:nvPr>
        </p:nvSpPr>
        <p:spPr>
          <a:xfrm>
            <a:off x="502285" y="427990"/>
            <a:ext cx="8139430"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3"/>
            </p:custDataLst>
          </p:nvPr>
        </p:nvSpPr>
        <p:spPr>
          <a:xfrm>
            <a:off x="502285" y="1239520"/>
            <a:ext cx="8139430"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4"/>
            </p:custDataLst>
          </p:nvPr>
        </p:nvSpPr>
        <p:spPr>
          <a:xfrm>
            <a:off x="678222" y="6270500"/>
            <a:ext cx="2025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3"/>
            <p:custDataLst>
              <p:tags r:id="rId25"/>
            </p:custDataLst>
          </p:nvPr>
        </p:nvSpPr>
        <p:spPr>
          <a:xfrm>
            <a:off x="3105415" y="6270500"/>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6476365" y="6270500"/>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7"/>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285" y="427990"/>
            <a:ext cx="8139430"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285" y="1239520"/>
            <a:ext cx="8139430"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78222" y="6270500"/>
            <a:ext cx="2025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3"/>
            <p:custDataLst>
              <p:tags r:id="rId24"/>
            </p:custDataLst>
          </p:nvPr>
        </p:nvSpPr>
        <p:spPr>
          <a:xfrm>
            <a:off x="3105415" y="6270500"/>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76365" y="6270500"/>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8299"/>
            <a:ext cx="8139178" cy="4041680"/>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Lst>
  <p:hf hdr="0" ftr="0"/>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24.xml"/><Relationship Id="rId7" Type="http://schemas.openxmlformats.org/officeDocument/2006/relationships/notesSlide" Target="../notesSlides/notesSlide1.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slideLayout" Target="../slideLayouts/slideLayout33.xml"/><Relationship Id="rId11" Type="http://schemas.openxmlformats.org/officeDocument/2006/relationships/image" Target="../media/image11.png"/><Relationship Id="rId5" Type="http://schemas.openxmlformats.org/officeDocument/2006/relationships/tags" Target="../tags/tag426.xml"/><Relationship Id="rId10" Type="http://schemas.openxmlformats.org/officeDocument/2006/relationships/image" Target="../media/image10.jpeg"/><Relationship Id="rId4" Type="http://schemas.openxmlformats.org/officeDocument/2006/relationships/tags" Target="../tags/tag425.xml"/><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tags" Target="../tags/tag429.xml"/><Relationship Id="rId2" Type="http://schemas.openxmlformats.org/officeDocument/2006/relationships/tags" Target="../tags/tag428.xml"/><Relationship Id="rId1" Type="http://schemas.openxmlformats.org/officeDocument/2006/relationships/tags" Target="../tags/tag427.xml"/><Relationship Id="rId4"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32.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431.xml"/><Relationship Id="rId1" Type="http://schemas.openxmlformats.org/officeDocument/2006/relationships/tags" Target="../tags/tag430.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433.xml"/><Relationship Id="rId9" Type="http://schemas.openxmlformats.org/officeDocument/2006/relationships/image" Target="file:///C:\Users\1V994W2\PycharmProjects\PPT_Background_Generation/pic_temp/1_pic_quater_left_down.p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436.xml"/><Relationship Id="rId7" Type="http://schemas.openxmlformats.org/officeDocument/2006/relationships/slideLayout" Target="../slideLayouts/slideLayout2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435.xml"/><Relationship Id="rId1" Type="http://schemas.openxmlformats.org/officeDocument/2006/relationships/tags" Target="../tags/tag434.xml"/><Relationship Id="rId6" Type="http://schemas.openxmlformats.org/officeDocument/2006/relationships/tags" Target="../tags/tag439.xml"/><Relationship Id="rId11" Type="http://schemas.openxmlformats.org/officeDocument/2006/relationships/image" Target="../media/image5.png"/><Relationship Id="rId5" Type="http://schemas.openxmlformats.org/officeDocument/2006/relationships/tags" Target="../tags/tag43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437.xml"/><Relationship Id="rId9"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440.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43.xml"/><Relationship Id="rId7" Type="http://schemas.openxmlformats.org/officeDocument/2006/relationships/image" Target="../media/image4.png"/><Relationship Id="rId2" Type="http://schemas.openxmlformats.org/officeDocument/2006/relationships/tags" Target="../tags/tag442.xml"/><Relationship Id="rId1" Type="http://schemas.openxmlformats.org/officeDocument/2006/relationships/tags" Target="../tags/tag441.xml"/><Relationship Id="rId6" Type="http://schemas.openxmlformats.org/officeDocument/2006/relationships/slideLayout" Target="../slideLayouts/slideLayout20.xml"/><Relationship Id="rId5" Type="http://schemas.openxmlformats.org/officeDocument/2006/relationships/tags" Target="../tags/tag445.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44.xm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48.xml"/><Relationship Id="rId7" Type="http://schemas.openxmlformats.org/officeDocument/2006/relationships/image" Target="../media/image5.png"/><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51.xml"/><Relationship Id="rId7" Type="http://schemas.openxmlformats.org/officeDocument/2006/relationships/image" Target="../media/image5.png"/><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54.xml"/><Relationship Id="rId7" Type="http://schemas.openxmlformats.org/officeDocument/2006/relationships/image" Target="../media/image5.png"/><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5.jpeg"/></Relationships>
</file>

<file path=ppt/slides/_rels/slide1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57.xml"/><Relationship Id="rId7" Type="http://schemas.openxmlformats.org/officeDocument/2006/relationships/image" Target="../media/image5.png"/><Relationship Id="rId2" Type="http://schemas.openxmlformats.org/officeDocument/2006/relationships/tags" Target="../tags/tag456.xml"/><Relationship Id="rId1" Type="http://schemas.openxmlformats.org/officeDocument/2006/relationships/tags" Target="../tags/tag455.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60.xml"/><Relationship Id="rId7" Type="http://schemas.openxmlformats.org/officeDocument/2006/relationships/image" Target="../media/image5.png"/><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63.xml"/><Relationship Id="rId7" Type="http://schemas.openxmlformats.org/officeDocument/2006/relationships/image" Target="../media/image5.png"/><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466.xml"/><Relationship Id="rId7" Type="http://schemas.openxmlformats.org/officeDocument/2006/relationships/image" Target="../media/image5.png"/><Relationship Id="rId2" Type="http://schemas.openxmlformats.org/officeDocument/2006/relationships/tags" Target="../tags/tag465.xml"/><Relationship Id="rId1" Type="http://schemas.openxmlformats.org/officeDocument/2006/relationships/tags" Target="../tags/tag464.xml"/><Relationship Id="rId6" Type="http://schemas.openxmlformats.org/officeDocument/2006/relationships/image" Target="file:///C:\Users\1V994W2\PycharmProjects\PPT_Background_Generation/pic_temp/0_pic_quater_right_down.png" TargetMode="External"/><Relationship Id="rId5" Type="http://schemas.openxmlformats.org/officeDocument/2006/relationships/image" Target="../media/image4.png"/><Relationship Id="rId4" Type="http://schemas.openxmlformats.org/officeDocument/2006/relationships/slideLayout" Target="../slideLayouts/slideLayout20.xml"/><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69.xml"/><Relationship Id="rId7" Type="http://schemas.openxmlformats.org/officeDocument/2006/relationships/image" Target="../media/image4.png"/><Relationship Id="rId2" Type="http://schemas.openxmlformats.org/officeDocument/2006/relationships/tags" Target="../tags/tag468.xml"/><Relationship Id="rId1" Type="http://schemas.openxmlformats.org/officeDocument/2006/relationships/tags" Target="../tags/tag467.xml"/><Relationship Id="rId6" Type="http://schemas.openxmlformats.org/officeDocument/2006/relationships/slideLayout" Target="../slideLayouts/slideLayout20.xml"/><Relationship Id="rId5" Type="http://schemas.openxmlformats.org/officeDocument/2006/relationships/tags" Target="../tags/tag471.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70.xml"/><Relationship Id="rId9" Type="http://schemas.openxmlformats.org/officeDocument/2006/relationships/image" Target="../media/image5.png"/></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1.emf"/><Relationship Id="rId3" Type="http://schemas.openxmlformats.org/officeDocument/2006/relationships/tags" Target="../tags/tag474.xml"/><Relationship Id="rId7" Type="http://schemas.openxmlformats.org/officeDocument/2006/relationships/slideLayout" Target="../slideLayouts/slideLayout20.xml"/><Relationship Id="rId12" Type="http://schemas.openxmlformats.org/officeDocument/2006/relationships/oleObject" Target="../embeddings/oleObject1.bin"/><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tags" Target="../tags/tag477.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476.xml"/><Relationship Id="rId10" Type="http://schemas.openxmlformats.org/officeDocument/2006/relationships/image" Target="../media/image5.png"/><Relationship Id="rId4" Type="http://schemas.openxmlformats.org/officeDocument/2006/relationships/tags" Target="../tags/tag475.xml"/><Relationship Id="rId9" Type="http://schemas.openxmlformats.org/officeDocument/2006/relationships/image" Target="file:///C:\Users\1V994W2\PycharmProjects\PPT_Background_Generation/pic_temp/0_pic_quater_right_down.png"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80.xml"/><Relationship Id="rId7" Type="http://schemas.openxmlformats.org/officeDocument/2006/relationships/image" Target="../media/image4.png"/><Relationship Id="rId2" Type="http://schemas.openxmlformats.org/officeDocument/2006/relationships/tags" Target="../tags/tag479.xml"/><Relationship Id="rId1" Type="http://schemas.openxmlformats.org/officeDocument/2006/relationships/tags" Target="../tags/tag478.xml"/><Relationship Id="rId6" Type="http://schemas.openxmlformats.org/officeDocument/2006/relationships/slideLayout" Target="../slideLayouts/slideLayout20.xml"/><Relationship Id="rId5" Type="http://schemas.openxmlformats.org/officeDocument/2006/relationships/tags" Target="../tags/tag48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81.xml"/><Relationship Id="rId9"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85.xml"/><Relationship Id="rId7" Type="http://schemas.openxmlformats.org/officeDocument/2006/relationships/image" Target="../media/image4.png"/><Relationship Id="rId2" Type="http://schemas.openxmlformats.org/officeDocument/2006/relationships/tags" Target="../tags/tag484.xml"/><Relationship Id="rId1" Type="http://schemas.openxmlformats.org/officeDocument/2006/relationships/tags" Target="../tags/tag483.xml"/><Relationship Id="rId6" Type="http://schemas.openxmlformats.org/officeDocument/2006/relationships/slideLayout" Target="../slideLayouts/slideLayout20.xml"/><Relationship Id="rId11" Type="http://schemas.openxmlformats.org/officeDocument/2006/relationships/image" Target="../media/image22.png"/><Relationship Id="rId5" Type="http://schemas.openxmlformats.org/officeDocument/2006/relationships/tags" Target="../tags/tag48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86.xml"/><Relationship Id="rId9"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90.xml"/><Relationship Id="rId7" Type="http://schemas.openxmlformats.org/officeDocument/2006/relationships/image" Target="../media/image4.png"/><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slideLayout" Target="../slideLayouts/slideLayout20.xml"/><Relationship Id="rId5" Type="http://schemas.openxmlformats.org/officeDocument/2006/relationships/tags" Target="../tags/tag49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91.xml"/><Relationship Id="rId9" Type="http://schemas.openxmlformats.org/officeDocument/2006/relationships/image" Target="../media/image5.png"/></Relationships>
</file>

<file path=ppt/slides/_rels/slide2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95.xml"/><Relationship Id="rId7" Type="http://schemas.openxmlformats.org/officeDocument/2006/relationships/image" Target="../media/image4.png"/><Relationship Id="rId2" Type="http://schemas.openxmlformats.org/officeDocument/2006/relationships/tags" Target="../tags/tag494.xml"/><Relationship Id="rId1" Type="http://schemas.openxmlformats.org/officeDocument/2006/relationships/tags" Target="../tags/tag493.xml"/><Relationship Id="rId6" Type="http://schemas.openxmlformats.org/officeDocument/2006/relationships/slideLayout" Target="../slideLayouts/slideLayout20.xml"/><Relationship Id="rId11" Type="http://schemas.openxmlformats.org/officeDocument/2006/relationships/image" Target="../media/image23.png"/><Relationship Id="rId5" Type="http://schemas.openxmlformats.org/officeDocument/2006/relationships/tags" Target="../tags/tag49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496.xml"/><Relationship Id="rId9"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500.xml"/><Relationship Id="rId7" Type="http://schemas.openxmlformats.org/officeDocument/2006/relationships/image" Target="../media/image4.png"/><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slideLayout" Target="../slideLayouts/slideLayout20.xml"/><Relationship Id="rId5" Type="http://schemas.openxmlformats.org/officeDocument/2006/relationships/tags" Target="../tags/tag50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501.xml"/><Relationship Id="rId9" Type="http://schemas.openxmlformats.org/officeDocument/2006/relationships/image" Target="../media/image5.png"/></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05.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04.xml"/><Relationship Id="rId1" Type="http://schemas.openxmlformats.org/officeDocument/2006/relationships/tags" Target="../tags/tag503.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06.xml"/><Relationship Id="rId9" Type="http://schemas.openxmlformats.org/officeDocument/2006/relationships/image" Target="file:///C:\Users\1V994W2\PycharmProjects\PPT_Background_Generation/pic_temp/1_pic_quater_left_down.png"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509.xml"/><Relationship Id="rId7" Type="http://schemas.openxmlformats.org/officeDocument/2006/relationships/image" Target="../media/image4.png"/><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slideLayout" Target="../slideLayouts/slideLayout20.xml"/><Relationship Id="rId5" Type="http://schemas.openxmlformats.org/officeDocument/2006/relationships/tags" Target="../tags/tag511.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510.xml"/><Relationship Id="rId9"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14.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13.xml"/><Relationship Id="rId1" Type="http://schemas.openxmlformats.org/officeDocument/2006/relationships/tags" Target="../tags/tag512.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15.xml"/><Relationship Id="rId9" Type="http://schemas.openxmlformats.org/officeDocument/2006/relationships/image" Target="file:///C:\Users\1V994W2\PycharmProjects\PPT_Background_Generation/pic_temp/1_pic_quater_left_down.p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18.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19.xml"/><Relationship Id="rId9" Type="http://schemas.openxmlformats.org/officeDocument/2006/relationships/image" Target="file:///C:\Users\1V994W2\PycharmProjects\PPT_Background_Generation/pic_temp/1_pic_quater_left_down.png"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22.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21.xml"/><Relationship Id="rId1" Type="http://schemas.openxmlformats.org/officeDocument/2006/relationships/tags" Target="../tags/tag520.xml"/><Relationship Id="rId6" Type="http://schemas.openxmlformats.org/officeDocument/2006/relationships/image" Target="../media/image4.png"/><Relationship Id="rId5" Type="http://schemas.openxmlformats.org/officeDocument/2006/relationships/slideLayout" Target="../slideLayouts/slideLayout20.xml"/><Relationship Id="rId10" Type="http://schemas.openxmlformats.org/officeDocument/2006/relationships/image" Target="../media/image24.png"/><Relationship Id="rId4" Type="http://schemas.openxmlformats.org/officeDocument/2006/relationships/tags" Target="../tags/tag523.xml"/><Relationship Id="rId9" Type="http://schemas.openxmlformats.org/officeDocument/2006/relationships/image" Target="file:///C:\Users\1V994W2\PycharmProjects\PPT_Background_Generation/pic_temp/1_pic_quater_left_down.png"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26.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25.xml"/><Relationship Id="rId1" Type="http://schemas.openxmlformats.org/officeDocument/2006/relationships/tags" Target="../tags/tag524.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27.xml"/><Relationship Id="rId9" Type="http://schemas.openxmlformats.org/officeDocument/2006/relationships/image" Target="file:///C:\Users\1V994W2\PycharmProjects\PPT_Background_Generation/pic_temp/1_pic_quater_left_down.png"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30.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29.xml"/><Relationship Id="rId1" Type="http://schemas.openxmlformats.org/officeDocument/2006/relationships/tags" Target="../tags/tag528.xml"/><Relationship Id="rId6" Type="http://schemas.openxmlformats.org/officeDocument/2006/relationships/image" Target="../media/image4.png"/><Relationship Id="rId5" Type="http://schemas.openxmlformats.org/officeDocument/2006/relationships/slideLayout" Target="../slideLayouts/slideLayout20.xml"/><Relationship Id="rId10" Type="http://schemas.openxmlformats.org/officeDocument/2006/relationships/image" Target="../media/image25.png"/><Relationship Id="rId4" Type="http://schemas.openxmlformats.org/officeDocument/2006/relationships/tags" Target="../tags/tag531.xml"/><Relationship Id="rId9" Type="http://schemas.openxmlformats.org/officeDocument/2006/relationships/image" Target="file:///C:\Users\1V994W2\PycharmProjects\PPT_Background_Generation/pic_temp/1_pic_quater_left_down.png" TargetMode="External"/></Relationships>
</file>

<file path=ppt/slides/_rels/slide3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34.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image" Target="../media/image4.png"/><Relationship Id="rId5" Type="http://schemas.openxmlformats.org/officeDocument/2006/relationships/slideLayout" Target="../slideLayouts/slideLayout20.xml"/><Relationship Id="rId10" Type="http://schemas.openxmlformats.org/officeDocument/2006/relationships/image" Target="../media/image26.png"/><Relationship Id="rId4" Type="http://schemas.openxmlformats.org/officeDocument/2006/relationships/tags" Target="../tags/tag535.xml"/><Relationship Id="rId9" Type="http://schemas.openxmlformats.org/officeDocument/2006/relationships/image" Target="file:///C:\Users\1V994W2\PycharmProjects\PPT_Background_Generation/pic_temp/1_pic_quater_left_down.p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5.xml"/><Relationship Id="rId1" Type="http://schemas.openxmlformats.org/officeDocument/2006/relationships/tags" Target="../tags/tag536.xml"/><Relationship Id="rId4" Type="http://schemas.openxmlformats.org/officeDocument/2006/relationships/image" Target="../media/image27.emf"/></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5.xml"/><Relationship Id="rId1" Type="http://schemas.openxmlformats.org/officeDocument/2006/relationships/tags" Target="../tags/tag53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539.xml"/><Relationship Id="rId1" Type="http://schemas.openxmlformats.org/officeDocument/2006/relationships/tags" Target="../tags/tag538.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17.xml"/><Relationship Id="rId1" Type="http://schemas.openxmlformats.org/officeDocument/2006/relationships/tags" Target="../tags/tag540.xml"/></Relationships>
</file>

<file path=ppt/slides/_rels/slide4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543.xml"/><Relationship Id="rId7" Type="http://schemas.openxmlformats.org/officeDocument/2006/relationships/image" Target="../media/image4.png"/><Relationship Id="rId2" Type="http://schemas.openxmlformats.org/officeDocument/2006/relationships/tags" Target="../tags/tag542.xml"/><Relationship Id="rId1" Type="http://schemas.openxmlformats.org/officeDocument/2006/relationships/tags" Target="../tags/tag541.xml"/><Relationship Id="rId6" Type="http://schemas.openxmlformats.org/officeDocument/2006/relationships/slideLayout" Target="../slideLayouts/slideLayout20.xml"/><Relationship Id="rId5" Type="http://schemas.openxmlformats.org/officeDocument/2006/relationships/tags" Target="../tags/tag545.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544.xml"/><Relationship Id="rId9"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54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4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5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550.xml"/><Relationship Id="rId1" Type="http://schemas.openxmlformats.org/officeDocument/2006/relationships/tags" Target="../tags/tag549.xml"/><Relationship Id="rId5" Type="http://schemas.openxmlformats.org/officeDocument/2006/relationships/image" Target="../media/image31.GIF"/><Relationship Id="rId4" Type="http://schemas.openxmlformats.org/officeDocument/2006/relationships/notesSlide" Target="../notesSlides/notesSlide5.xml"/></Relationships>
</file>

<file path=ppt/slides/_rels/slide5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53.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52.xml"/><Relationship Id="rId1" Type="http://schemas.openxmlformats.org/officeDocument/2006/relationships/tags" Target="../tags/tag551.xml"/><Relationship Id="rId6" Type="http://schemas.openxmlformats.org/officeDocument/2006/relationships/image" Target="../media/image4.png"/><Relationship Id="rId5" Type="http://schemas.openxmlformats.org/officeDocument/2006/relationships/slideLayout" Target="../slideLayouts/slideLayout20.xml"/><Relationship Id="rId10" Type="http://schemas.openxmlformats.org/officeDocument/2006/relationships/image" Target="../media/image32.jpeg"/><Relationship Id="rId4" Type="http://schemas.openxmlformats.org/officeDocument/2006/relationships/tags" Target="../tags/tag554.xml"/><Relationship Id="rId9" Type="http://schemas.openxmlformats.org/officeDocument/2006/relationships/image" Target="file:///C:\Users\1V994W2\PycharmProjects\PPT_Background_Generation/pic_temp/1_pic_quater_left_down.png" TargetMode="External"/></Relationships>
</file>

<file path=ppt/slides/_rels/slide5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57.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56.xml"/><Relationship Id="rId1" Type="http://schemas.openxmlformats.org/officeDocument/2006/relationships/tags" Target="../tags/tag555.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58.xml"/><Relationship Id="rId9" Type="http://schemas.openxmlformats.org/officeDocument/2006/relationships/image" Target="file:///C:\Users\1V994W2\PycharmProjects\PPT_Background_Generation/pic_temp/1_pic_quater_left_down.png" TargetMode="External"/></Relationships>
</file>

<file path=ppt/slides/_rels/slide5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61.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image" Target="../media/image4.png"/><Relationship Id="rId5" Type="http://schemas.openxmlformats.org/officeDocument/2006/relationships/slideLayout" Target="../slideLayouts/slideLayout20.xml"/><Relationship Id="rId10" Type="http://schemas.openxmlformats.org/officeDocument/2006/relationships/image" Target="../media/image33.jpeg"/><Relationship Id="rId4" Type="http://schemas.openxmlformats.org/officeDocument/2006/relationships/tags" Target="../tags/tag562.xml"/><Relationship Id="rId9" Type="http://schemas.openxmlformats.org/officeDocument/2006/relationships/image" Target="file:///C:\Users\1V994W2\PycharmProjects\PPT_Background_Generation/pic_temp/1_pic_quater_left_down.png" TargetMode="External"/></Relationships>
</file>

<file path=ppt/slides/_rels/slide5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65.xml"/><Relationship Id="rId7"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64.xml"/><Relationship Id="rId1" Type="http://schemas.openxmlformats.org/officeDocument/2006/relationships/tags" Target="../tags/tag563.xml"/><Relationship Id="rId6" Type="http://schemas.openxmlformats.org/officeDocument/2006/relationships/image" Target="../media/image4.png"/><Relationship Id="rId5" Type="http://schemas.openxmlformats.org/officeDocument/2006/relationships/slideLayout" Target="../slideLayouts/slideLayout20.xml"/><Relationship Id="rId4" Type="http://schemas.openxmlformats.org/officeDocument/2006/relationships/tags" Target="../tags/tag566.xml"/><Relationship Id="rId9" Type="http://schemas.openxmlformats.org/officeDocument/2006/relationships/image" Target="file:///C:\Users\1V994W2\PycharmProjects\PPT_Background_Generation/pic_temp/1_pic_quater_left_down.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rotWithShape="1">
          <a:blip r:embed="rId8" cstate="print">
            <a:extLst>
              <a:ext uri="{28A0092B-C50C-407E-A947-70E740481C1C}">
                <a14:useLocalDpi xmlns:a14="http://schemas.microsoft.com/office/drawing/2010/main" val="0"/>
              </a:ext>
            </a:extLst>
          </a:blip>
          <a:srcRect l="401" r="39372"/>
          <a:stretch>
            <a:fillRect/>
          </a:stretch>
        </p:blipFill>
        <p:spPr>
          <a:xfrm>
            <a:off x="0" y="1428218"/>
            <a:ext cx="5507178" cy="4055553"/>
          </a:xfrm>
          <a:prstGeom prst="rect">
            <a:avLst/>
          </a:prstGeom>
        </p:spPr>
      </p:pic>
      <p:sp>
        <p:nvSpPr>
          <p:cNvPr id="37" name="矩形 36"/>
          <p:cNvSpPr/>
          <p:nvPr>
            <p:custDataLst>
              <p:tags r:id="rId2"/>
            </p:custDataLst>
          </p:nvPr>
        </p:nvSpPr>
        <p:spPr>
          <a:xfrm>
            <a:off x="188368" y="2187185"/>
            <a:ext cx="8955633" cy="2537621"/>
          </a:xfrm>
          <a:custGeom>
            <a:avLst/>
            <a:gdLst>
              <a:gd name="connsiteX0" fmla="*/ 0 w 11858228"/>
              <a:gd name="connsiteY0" fmla="*/ 0 h 3384376"/>
              <a:gd name="connsiteX1" fmla="*/ 11858228 w 11858228"/>
              <a:gd name="connsiteY1" fmla="*/ 0 h 3384376"/>
              <a:gd name="connsiteX2" fmla="*/ 11858228 w 11858228"/>
              <a:gd name="connsiteY2" fmla="*/ 3384376 h 3384376"/>
              <a:gd name="connsiteX3" fmla="*/ 0 w 11858228"/>
              <a:gd name="connsiteY3" fmla="*/ 3384376 h 3384376"/>
              <a:gd name="connsiteX4" fmla="*/ 0 w 11858228"/>
              <a:gd name="connsiteY4" fmla="*/ 0 h 3384376"/>
              <a:gd name="connsiteX0-1" fmla="*/ 1482278 w 13340506"/>
              <a:gd name="connsiteY0-2" fmla="*/ 423047 h 3807423"/>
              <a:gd name="connsiteX1-3" fmla="*/ 13340506 w 13340506"/>
              <a:gd name="connsiteY1-4" fmla="*/ 423047 h 3807423"/>
              <a:gd name="connsiteX2-5" fmla="*/ 13340506 w 13340506"/>
              <a:gd name="connsiteY2-6" fmla="*/ 3807423 h 3807423"/>
              <a:gd name="connsiteX3-7" fmla="*/ 1482278 w 13340506"/>
              <a:gd name="connsiteY3-8" fmla="*/ 3807423 h 3807423"/>
              <a:gd name="connsiteX4-9" fmla="*/ 1482278 w 13340506"/>
              <a:gd name="connsiteY4-10" fmla="*/ 423047 h 3807423"/>
              <a:gd name="connsiteX0-11" fmla="*/ 1514684 w 13372912"/>
              <a:gd name="connsiteY0-12" fmla="*/ 423047 h 3807423"/>
              <a:gd name="connsiteX1-13" fmla="*/ 13372912 w 13372912"/>
              <a:gd name="connsiteY1-14" fmla="*/ 423047 h 3807423"/>
              <a:gd name="connsiteX2-15" fmla="*/ 13372912 w 13372912"/>
              <a:gd name="connsiteY2-16" fmla="*/ 3807423 h 3807423"/>
              <a:gd name="connsiteX3-17" fmla="*/ 1457534 w 13372912"/>
              <a:gd name="connsiteY3-18" fmla="*/ 3807423 h 3807423"/>
              <a:gd name="connsiteX4-19" fmla="*/ 1514684 w 13372912"/>
              <a:gd name="connsiteY4-20" fmla="*/ 423047 h 3807423"/>
              <a:gd name="connsiteX0-21" fmla="*/ 887945 w 12746173"/>
              <a:gd name="connsiteY0-22" fmla="*/ 423047 h 3807423"/>
              <a:gd name="connsiteX1-23" fmla="*/ 12746173 w 12746173"/>
              <a:gd name="connsiteY1-24" fmla="*/ 423047 h 3807423"/>
              <a:gd name="connsiteX2-25" fmla="*/ 12746173 w 12746173"/>
              <a:gd name="connsiteY2-26" fmla="*/ 3807423 h 3807423"/>
              <a:gd name="connsiteX3-27" fmla="*/ 830795 w 12746173"/>
              <a:gd name="connsiteY3-28" fmla="*/ 3807423 h 3807423"/>
              <a:gd name="connsiteX4-29" fmla="*/ 887945 w 12746173"/>
              <a:gd name="connsiteY4-30" fmla="*/ 423047 h 3807423"/>
              <a:gd name="connsiteX0-31" fmla="*/ 2257425 w 11915378"/>
              <a:gd name="connsiteY0-32" fmla="*/ 382618 h 3852719"/>
              <a:gd name="connsiteX1-33" fmla="*/ 11915378 w 11915378"/>
              <a:gd name="connsiteY1-34" fmla="*/ 468343 h 3852719"/>
              <a:gd name="connsiteX2-35" fmla="*/ 11915378 w 11915378"/>
              <a:gd name="connsiteY2-36" fmla="*/ 3852719 h 3852719"/>
              <a:gd name="connsiteX3-37" fmla="*/ 0 w 11915378"/>
              <a:gd name="connsiteY3-38" fmla="*/ 3852719 h 3852719"/>
              <a:gd name="connsiteX4-39" fmla="*/ 2257425 w 11915378"/>
              <a:gd name="connsiteY4-40" fmla="*/ 382618 h 3852719"/>
              <a:gd name="connsiteX0-41" fmla="*/ 2257425 w 11915378"/>
              <a:gd name="connsiteY0-42" fmla="*/ 205282 h 3675383"/>
              <a:gd name="connsiteX1-43" fmla="*/ 11915378 w 11915378"/>
              <a:gd name="connsiteY1-44" fmla="*/ 291007 h 3675383"/>
              <a:gd name="connsiteX2-45" fmla="*/ 11915378 w 11915378"/>
              <a:gd name="connsiteY2-46" fmla="*/ 3675383 h 3675383"/>
              <a:gd name="connsiteX3-47" fmla="*/ 0 w 11915378"/>
              <a:gd name="connsiteY3-48" fmla="*/ 3675383 h 3675383"/>
              <a:gd name="connsiteX4-49" fmla="*/ 2257425 w 11915378"/>
              <a:gd name="connsiteY4-50" fmla="*/ 205282 h 3675383"/>
              <a:gd name="connsiteX0-51" fmla="*/ 2257425 w 11915378"/>
              <a:gd name="connsiteY0-52" fmla="*/ 16776 h 3486877"/>
              <a:gd name="connsiteX1-53" fmla="*/ 11915378 w 11915378"/>
              <a:gd name="connsiteY1-54" fmla="*/ 102501 h 3486877"/>
              <a:gd name="connsiteX2-55" fmla="*/ 11915378 w 11915378"/>
              <a:gd name="connsiteY2-56" fmla="*/ 3486877 h 3486877"/>
              <a:gd name="connsiteX3-57" fmla="*/ 0 w 11915378"/>
              <a:gd name="connsiteY3-58" fmla="*/ 3486877 h 3486877"/>
              <a:gd name="connsiteX4-59" fmla="*/ 2257425 w 11915378"/>
              <a:gd name="connsiteY4-60" fmla="*/ 16776 h 3486877"/>
              <a:gd name="connsiteX0-61" fmla="*/ 2247900 w 11915378"/>
              <a:gd name="connsiteY0-62" fmla="*/ 43334 h 3408660"/>
              <a:gd name="connsiteX1-63" fmla="*/ 11915378 w 11915378"/>
              <a:gd name="connsiteY1-64" fmla="*/ 24284 h 3408660"/>
              <a:gd name="connsiteX2-65" fmla="*/ 11915378 w 11915378"/>
              <a:gd name="connsiteY2-66" fmla="*/ 3408660 h 3408660"/>
              <a:gd name="connsiteX3-67" fmla="*/ 0 w 11915378"/>
              <a:gd name="connsiteY3-68" fmla="*/ 3408660 h 3408660"/>
              <a:gd name="connsiteX4-69" fmla="*/ 2247900 w 11915378"/>
              <a:gd name="connsiteY4-70" fmla="*/ 43334 h 3408660"/>
              <a:gd name="connsiteX0-71" fmla="*/ 2247900 w 11915378"/>
              <a:gd name="connsiteY0-72" fmla="*/ 34525 h 3418901"/>
              <a:gd name="connsiteX1-73" fmla="*/ 11915378 w 11915378"/>
              <a:gd name="connsiteY1-74" fmla="*/ 34525 h 3418901"/>
              <a:gd name="connsiteX2-75" fmla="*/ 11915378 w 11915378"/>
              <a:gd name="connsiteY2-76" fmla="*/ 3418901 h 3418901"/>
              <a:gd name="connsiteX3-77" fmla="*/ 0 w 11915378"/>
              <a:gd name="connsiteY3-78" fmla="*/ 3418901 h 3418901"/>
              <a:gd name="connsiteX4-79" fmla="*/ 2247900 w 11915378"/>
              <a:gd name="connsiteY4-80" fmla="*/ 34525 h 3418901"/>
              <a:gd name="connsiteX0-81" fmla="*/ 2247900 w 11915378"/>
              <a:gd name="connsiteY0-82" fmla="*/ 19587 h 3403963"/>
              <a:gd name="connsiteX1-83" fmla="*/ 11915378 w 11915378"/>
              <a:gd name="connsiteY1-84" fmla="*/ 19587 h 3403963"/>
              <a:gd name="connsiteX2-85" fmla="*/ 11915378 w 11915378"/>
              <a:gd name="connsiteY2-86" fmla="*/ 3403963 h 3403963"/>
              <a:gd name="connsiteX3-87" fmla="*/ 0 w 11915378"/>
              <a:gd name="connsiteY3-88" fmla="*/ 3403963 h 3403963"/>
              <a:gd name="connsiteX4-89" fmla="*/ 2247900 w 11915378"/>
              <a:gd name="connsiteY4-90" fmla="*/ 19587 h 3403963"/>
              <a:gd name="connsiteX0-91" fmla="*/ 2247900 w 11915378"/>
              <a:gd name="connsiteY0-92" fmla="*/ 312656 h 3697032"/>
              <a:gd name="connsiteX1-93" fmla="*/ 11915378 w 11915378"/>
              <a:gd name="connsiteY1-94" fmla="*/ 312656 h 3697032"/>
              <a:gd name="connsiteX2-95" fmla="*/ 11915378 w 11915378"/>
              <a:gd name="connsiteY2-96" fmla="*/ 3697032 h 3697032"/>
              <a:gd name="connsiteX3-97" fmla="*/ 0 w 11915378"/>
              <a:gd name="connsiteY3-98" fmla="*/ 3697032 h 3697032"/>
              <a:gd name="connsiteX4-99" fmla="*/ 2247900 w 11915378"/>
              <a:gd name="connsiteY4-100" fmla="*/ 312656 h 3697032"/>
              <a:gd name="connsiteX0-101" fmla="*/ 2247900 w 11915378"/>
              <a:gd name="connsiteY0-102" fmla="*/ 0 h 3384376"/>
              <a:gd name="connsiteX1-103" fmla="*/ 11915378 w 11915378"/>
              <a:gd name="connsiteY1-104" fmla="*/ 0 h 3384376"/>
              <a:gd name="connsiteX2-105" fmla="*/ 11915378 w 11915378"/>
              <a:gd name="connsiteY2-106" fmla="*/ 3384376 h 3384376"/>
              <a:gd name="connsiteX3-107" fmla="*/ 0 w 11915378"/>
              <a:gd name="connsiteY3-108" fmla="*/ 3384376 h 3384376"/>
              <a:gd name="connsiteX4-109" fmla="*/ 2247900 w 11915378"/>
              <a:gd name="connsiteY4-110" fmla="*/ 0 h 3384376"/>
              <a:gd name="connsiteX0-111" fmla="*/ 2247900 w 11915378"/>
              <a:gd name="connsiteY0-112" fmla="*/ 364892 h 3749268"/>
              <a:gd name="connsiteX1-113" fmla="*/ 11915378 w 11915378"/>
              <a:gd name="connsiteY1-114" fmla="*/ 364892 h 3749268"/>
              <a:gd name="connsiteX2-115" fmla="*/ 11915378 w 11915378"/>
              <a:gd name="connsiteY2-116" fmla="*/ 3749268 h 3749268"/>
              <a:gd name="connsiteX3-117" fmla="*/ 0 w 11915378"/>
              <a:gd name="connsiteY3-118" fmla="*/ 3749268 h 3749268"/>
              <a:gd name="connsiteX4-119" fmla="*/ 2247900 w 11915378"/>
              <a:gd name="connsiteY4-120" fmla="*/ 364892 h 3749268"/>
              <a:gd name="connsiteX0-121" fmla="*/ 2247900 w 11915378"/>
              <a:gd name="connsiteY0-122" fmla="*/ 20 h 3384396"/>
              <a:gd name="connsiteX1-123" fmla="*/ 11915378 w 11915378"/>
              <a:gd name="connsiteY1-124" fmla="*/ 20 h 3384396"/>
              <a:gd name="connsiteX2-125" fmla="*/ 11915378 w 11915378"/>
              <a:gd name="connsiteY2-126" fmla="*/ 3384396 h 3384396"/>
              <a:gd name="connsiteX3-127" fmla="*/ 0 w 11915378"/>
              <a:gd name="connsiteY3-128" fmla="*/ 3384396 h 3384396"/>
              <a:gd name="connsiteX4-129" fmla="*/ 2247900 w 11915378"/>
              <a:gd name="connsiteY4-130" fmla="*/ 20 h 3384396"/>
              <a:gd name="connsiteX0-131" fmla="*/ 2247900 w 11915378"/>
              <a:gd name="connsiteY0-132" fmla="*/ 0 h 3384376"/>
              <a:gd name="connsiteX1-133" fmla="*/ 11915378 w 11915378"/>
              <a:gd name="connsiteY1-134" fmla="*/ 0 h 3384376"/>
              <a:gd name="connsiteX2-135" fmla="*/ 11915378 w 11915378"/>
              <a:gd name="connsiteY2-136" fmla="*/ 3384376 h 3384376"/>
              <a:gd name="connsiteX3-137" fmla="*/ 0 w 11915378"/>
              <a:gd name="connsiteY3-138" fmla="*/ 3384376 h 3384376"/>
              <a:gd name="connsiteX4-139" fmla="*/ 2247900 w 11915378"/>
              <a:gd name="connsiteY4-140" fmla="*/ 0 h 3384376"/>
              <a:gd name="connsiteX0-141" fmla="*/ 2247900 w 11915378"/>
              <a:gd name="connsiteY0-142" fmla="*/ 0 h 3384376"/>
              <a:gd name="connsiteX1-143" fmla="*/ 11915378 w 11915378"/>
              <a:gd name="connsiteY1-144" fmla="*/ 0 h 3384376"/>
              <a:gd name="connsiteX2-145" fmla="*/ 11915378 w 11915378"/>
              <a:gd name="connsiteY2-146" fmla="*/ 3384376 h 3384376"/>
              <a:gd name="connsiteX3-147" fmla="*/ 0 w 11915378"/>
              <a:gd name="connsiteY3-148" fmla="*/ 3384376 h 3384376"/>
              <a:gd name="connsiteX4-149" fmla="*/ 2247900 w 11915378"/>
              <a:gd name="connsiteY4-150" fmla="*/ 0 h 3384376"/>
              <a:gd name="connsiteX0-151" fmla="*/ 2247900 w 11915378"/>
              <a:gd name="connsiteY0-152" fmla="*/ 0 h 3384376"/>
              <a:gd name="connsiteX1-153" fmla="*/ 11915378 w 11915378"/>
              <a:gd name="connsiteY1-154" fmla="*/ 0 h 3384376"/>
              <a:gd name="connsiteX2-155" fmla="*/ 11915378 w 11915378"/>
              <a:gd name="connsiteY2-156" fmla="*/ 3384376 h 3384376"/>
              <a:gd name="connsiteX3-157" fmla="*/ 0 w 11915378"/>
              <a:gd name="connsiteY3-158" fmla="*/ 3384376 h 3384376"/>
              <a:gd name="connsiteX4-159" fmla="*/ 2247900 w 11915378"/>
              <a:gd name="connsiteY4-160" fmla="*/ 0 h 3384376"/>
              <a:gd name="connsiteX0-161" fmla="*/ 2247900 w 11915378"/>
              <a:gd name="connsiteY0-162" fmla="*/ 0 h 3384376"/>
              <a:gd name="connsiteX1-163" fmla="*/ 11915378 w 11915378"/>
              <a:gd name="connsiteY1-164" fmla="*/ 0 h 3384376"/>
              <a:gd name="connsiteX2-165" fmla="*/ 11915378 w 11915378"/>
              <a:gd name="connsiteY2-166" fmla="*/ 3384376 h 3384376"/>
              <a:gd name="connsiteX3-167" fmla="*/ 0 w 11915378"/>
              <a:gd name="connsiteY3-168" fmla="*/ 3384376 h 3384376"/>
              <a:gd name="connsiteX4-169" fmla="*/ 2247900 w 11915378"/>
              <a:gd name="connsiteY4-170" fmla="*/ 0 h 3384376"/>
              <a:gd name="connsiteX0-171" fmla="*/ 2276475 w 11943953"/>
              <a:gd name="connsiteY0-172" fmla="*/ 0 h 3384376"/>
              <a:gd name="connsiteX1-173" fmla="*/ 11943953 w 11943953"/>
              <a:gd name="connsiteY1-174" fmla="*/ 0 h 3384376"/>
              <a:gd name="connsiteX2-175" fmla="*/ 11943953 w 11943953"/>
              <a:gd name="connsiteY2-176" fmla="*/ 3384376 h 3384376"/>
              <a:gd name="connsiteX3-177" fmla="*/ 0 w 11943953"/>
              <a:gd name="connsiteY3-178" fmla="*/ 3384376 h 3384376"/>
              <a:gd name="connsiteX4-179" fmla="*/ 2276475 w 11943953"/>
              <a:gd name="connsiteY4-180" fmla="*/ 0 h 3384376"/>
            </a:gdLst>
            <a:ahLst/>
            <a:cxnLst>
              <a:cxn ang="0">
                <a:pos x="connsiteX0-171" y="connsiteY0-172"/>
              </a:cxn>
              <a:cxn ang="0">
                <a:pos x="connsiteX1-173" y="connsiteY1-174"/>
              </a:cxn>
              <a:cxn ang="0">
                <a:pos x="connsiteX2-175" y="connsiteY2-176"/>
              </a:cxn>
              <a:cxn ang="0">
                <a:pos x="connsiteX3-177" y="connsiteY3-178"/>
              </a:cxn>
              <a:cxn ang="0">
                <a:pos x="connsiteX4-179" y="connsiteY4-180"/>
              </a:cxn>
            </a:cxnLst>
            <a:rect l="l" t="t" r="r" b="b"/>
            <a:pathLst>
              <a:path w="11943953" h="3384376">
                <a:moveTo>
                  <a:pt x="2276475" y="0"/>
                </a:moveTo>
                <a:lnTo>
                  <a:pt x="11943953" y="0"/>
                </a:lnTo>
                <a:lnTo>
                  <a:pt x="11943953" y="3384376"/>
                </a:lnTo>
                <a:lnTo>
                  <a:pt x="0" y="3384376"/>
                </a:lnTo>
                <a:cubicBezTo>
                  <a:pt x="328679" y="2534563"/>
                  <a:pt x="1214116" y="582532"/>
                  <a:pt x="2276475" y="0"/>
                </a:cubicBezTo>
                <a:close/>
              </a:path>
            </a:pathLst>
          </a:custGeom>
          <a:solidFill>
            <a:schemeClr val="l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38" name="图片 37"/>
          <p:cNvPicPr>
            <a:picLocks noChangeAspect="1"/>
          </p:cNvPicPr>
          <p:nvPr>
            <p:custDataLst>
              <p:tags r:id="rId3"/>
            </p:custDataLst>
          </p:nvPr>
        </p:nvPicPr>
        <p:blipFill rotWithShape="1">
          <a:blip r:embed="rId9" cstate="print">
            <a:extLst>
              <a:ext uri="{28A0092B-C50C-407E-A947-70E740481C1C}">
                <a14:useLocalDpi xmlns:a14="http://schemas.microsoft.com/office/drawing/2010/main" val="0"/>
              </a:ext>
            </a:extLst>
          </a:blip>
          <a:srcRect l="67714" r="15753" b="50000"/>
          <a:stretch>
            <a:fillRect/>
          </a:stretch>
        </p:blipFill>
        <p:spPr>
          <a:xfrm rot="16200000" flipH="1">
            <a:off x="6871988" y="3714536"/>
            <a:ext cx="1888974" cy="2655052"/>
          </a:xfrm>
          <a:prstGeom prst="rect">
            <a:avLst/>
          </a:prstGeom>
        </p:spPr>
      </p:pic>
      <p:pic>
        <p:nvPicPr>
          <p:cNvPr id="28" name="图片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860" y="-69850"/>
            <a:ext cx="9166225" cy="6928485"/>
          </a:xfrm>
          <a:prstGeom prst="rect">
            <a:avLst/>
          </a:prstGeom>
        </p:spPr>
      </p:pic>
      <p:grpSp>
        <p:nvGrpSpPr>
          <p:cNvPr id="7" name="组合 6"/>
          <p:cNvGrpSpPr/>
          <p:nvPr/>
        </p:nvGrpSpPr>
        <p:grpSpPr>
          <a:xfrm>
            <a:off x="2506039" y="2588626"/>
            <a:ext cx="5278676" cy="1017909"/>
            <a:chOff x="6143457" y="2714735"/>
            <a:chExt cx="5193268" cy="1001440"/>
          </a:xfrm>
        </p:grpSpPr>
        <p:sp>
          <p:nvSpPr>
            <p:cNvPr id="54" name="圆角淘宝网Chenying0907出品 6"/>
            <p:cNvSpPr/>
            <p:nvPr>
              <p:custDataLst>
                <p:tags r:id="rId5"/>
              </p:custDataLst>
            </p:nvPr>
          </p:nvSpPr>
          <p:spPr>
            <a:xfrm>
              <a:off x="6143457" y="2714735"/>
              <a:ext cx="5193268" cy="1001440"/>
            </a:xfrm>
            <a:prstGeom prst="roundRect">
              <a:avLst>
                <a:gd name="adj" fmla="val 9976"/>
              </a:avLst>
            </a:prstGeom>
            <a:solidFill>
              <a:schemeClr val="accent2">
                <a:lumMod val="75000"/>
              </a:schemeClr>
            </a:solidFill>
            <a:ln>
              <a:solidFill>
                <a:schemeClr val="lt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1350">
                <a:solidFill>
                  <a:schemeClr val="lt1"/>
                </a:solidFill>
              </a:endParaRPr>
            </a:p>
          </p:txBody>
        </p:sp>
        <p:sp>
          <p:nvSpPr>
            <p:cNvPr id="64" name="淘宝网Chenying0907出品 40"/>
            <p:cNvSpPr txBox="1"/>
            <p:nvPr/>
          </p:nvSpPr>
          <p:spPr>
            <a:xfrm>
              <a:off x="6488303" y="2894854"/>
              <a:ext cx="4633908" cy="634722"/>
            </a:xfrm>
            <a:prstGeom prst="rect">
              <a:avLst/>
            </a:prstGeom>
            <a:noFill/>
          </p:spPr>
          <p:txBody>
            <a:bodyPr wrap="square" rtlCol="0" anchor="ctr">
              <a:spAutoFit/>
            </a:bodyPr>
            <a:lstStyle/>
            <a:p>
              <a:pPr algn="ctr"/>
              <a:r>
                <a:rPr lang="zh-CN" altLang="en-US" sz="3600" dirty="0">
                  <a:solidFill>
                    <a:schemeClr val="lt1"/>
                  </a:solidFill>
                  <a:latin typeface="Arial" panose="020B0604020202020204" pitchFamily="34" charset="0"/>
                  <a:ea typeface="汉仪文黑-85W" panose="00020600040101010101" charset="-122"/>
                </a:rPr>
                <a:t>软件质量与测试</a:t>
              </a:r>
            </a:p>
          </p:txBody>
        </p:sp>
      </p:grpSp>
      <p:sp>
        <p:nvSpPr>
          <p:cNvPr id="69" name="淘宝网Chenying0907出品 7"/>
          <p:cNvSpPr txBox="1"/>
          <p:nvPr>
            <p:custDataLst>
              <p:tags r:id="rId4"/>
            </p:custDataLst>
          </p:nvPr>
        </p:nvSpPr>
        <p:spPr>
          <a:xfrm>
            <a:off x="2753919" y="3854195"/>
            <a:ext cx="4782909" cy="417743"/>
          </a:xfrm>
          <a:prstGeom prst="rect">
            <a:avLst/>
          </a:prstGeom>
          <a:noFill/>
        </p:spPr>
        <p:txBody>
          <a:bodyPr wrap="square" rtlCol="0">
            <a:spAutoFit/>
          </a:bodyPr>
          <a:lstStyle/>
          <a:p>
            <a:pPr algn="ctr">
              <a:lnSpc>
                <a:spcPct val="150000"/>
              </a:lnSpc>
            </a:pPr>
            <a:r>
              <a:rPr lang="zh-CN" altLang="en-US" sz="1600" dirty="0">
                <a:solidFill>
                  <a:schemeClr val="dk1">
                    <a:lumMod val="75000"/>
                    <a:lumOff val="25000"/>
                  </a:schemeClr>
                </a:solidFill>
                <a:latin typeface="Arial" panose="020B0604020202020204" pitchFamily="34" charset="0"/>
                <a:ea typeface="汉仪旗黑-55简" panose="00020600040101010101" charset="-122"/>
              </a:rPr>
              <a:t>河南大学软件学院</a:t>
            </a:r>
            <a:r>
              <a:rPr lang="en-US" altLang="zh-CN" sz="1600" dirty="0">
                <a:solidFill>
                  <a:schemeClr val="dk1">
                    <a:lumMod val="75000"/>
                    <a:lumOff val="25000"/>
                  </a:schemeClr>
                </a:solidFill>
                <a:latin typeface="Arial" panose="020B0604020202020204" pitchFamily="34" charset="0"/>
                <a:ea typeface="汉仪旗黑-55简" panose="00020600040101010101" charset="-122"/>
              </a:rPr>
              <a:t>    </a:t>
            </a:r>
            <a:r>
              <a:rPr lang="zh-CN" altLang="en-US" sz="1600" dirty="0">
                <a:solidFill>
                  <a:schemeClr val="dk1">
                    <a:lumMod val="75000"/>
                    <a:lumOff val="25000"/>
                  </a:schemeClr>
                </a:solidFill>
                <a:latin typeface="Arial" panose="020B0604020202020204" pitchFamily="34" charset="0"/>
                <a:ea typeface="汉仪旗黑-55简" panose="00020600040101010101" charset="-122"/>
              </a:rPr>
              <a:t>冯东栋</a:t>
            </a:r>
          </a:p>
        </p:txBody>
      </p:sp>
      <p:pic>
        <p:nvPicPr>
          <p:cNvPr id="29" name="图片 28" descr="河南大学logo"/>
          <p:cNvPicPr>
            <a:picLocks noChangeAspect="1"/>
          </p:cNvPicPr>
          <p:nvPr/>
        </p:nvPicPr>
        <p:blipFill>
          <a:blip r:embed="rId11"/>
          <a:stretch>
            <a:fillRect/>
          </a:stretch>
        </p:blipFill>
        <p:spPr>
          <a:xfrm>
            <a:off x="8388129" y="-116"/>
            <a:ext cx="695739" cy="6918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buClrTx/>
              <a:buSzTx/>
              <a:buFontTx/>
            </a:pPr>
            <a:r>
              <a:rPr lang="en-US" altLang="zh-CN" sz="4400" b="0">
                <a:solidFill>
                  <a:schemeClr val="accent1"/>
                </a:solidFill>
                <a:ea typeface="汉仪文黑-85W" panose="00020600040101010101" charset="-122"/>
              </a:rPr>
              <a:t>上节回顾</a:t>
            </a:r>
          </a:p>
        </p:txBody>
      </p:sp>
      <p:sp>
        <p:nvSpPr>
          <p:cNvPr id="8" name="内容占位符 7"/>
          <p:cNvSpPr>
            <a:spLocks noGrp="1"/>
          </p:cNvSpPr>
          <p:nvPr>
            <p:ph idx="1"/>
          </p:nvPr>
        </p:nvSpPr>
        <p:spPr>
          <a:xfrm>
            <a:off x="502285" y="1376045"/>
            <a:ext cx="8314690" cy="4496435"/>
          </a:xfrm>
        </p:spPr>
        <p:txBody>
          <a:bodyPr>
            <a:normAutofit fontScale="92500"/>
          </a:bodyPr>
          <a:lstStyle/>
          <a:p>
            <a:r>
              <a:rPr lang="zh-CN" altLang="en-US" sz="3200" b="1"/>
              <a:t>正交排列法测试</a:t>
            </a:r>
          </a:p>
          <a:p>
            <a:pPr lvl="1">
              <a:lnSpc>
                <a:spcPct val="150000"/>
              </a:lnSpc>
            </a:pPr>
            <a:r>
              <a:rPr lang="zh-CN" altLang="en-US" sz="2800"/>
              <a:t>正交表的结构、特征</a:t>
            </a:r>
          </a:p>
          <a:p>
            <a:pPr lvl="1">
              <a:lnSpc>
                <a:spcPct val="150000"/>
              </a:lnSpc>
            </a:pPr>
            <a:r>
              <a:rPr lang="zh-CN" altLang="en-US" sz="2800"/>
              <a:t>应用场合：输入条件组合较多，且相互不影响</a:t>
            </a:r>
          </a:p>
          <a:p>
            <a:pPr lvl="1">
              <a:lnSpc>
                <a:spcPct val="150000"/>
              </a:lnSpc>
            </a:pPr>
            <a:r>
              <a:rPr lang="zh-CN" altLang="en-US" sz="2800"/>
              <a:t>测试步骤：</a:t>
            </a:r>
          </a:p>
          <a:p>
            <a:pPr marL="1143000" lvl="2" indent="-457200" algn="l" defTabSz="914400">
              <a:lnSpc>
                <a:spcPct val="150000"/>
              </a:lnSpc>
              <a:buClrTx/>
              <a:buSzTx/>
              <a:buAutoNum type="arabicPeriod"/>
              <a:tabLst>
                <a:tab pos="1609725" algn="l"/>
              </a:tabLst>
            </a:pPr>
            <a:r>
              <a:rPr sz="2240">
                <a:sym typeface="+mn-ea"/>
              </a:rPr>
              <a:t>确定影响功能的因子与状态</a:t>
            </a:r>
          </a:p>
          <a:p>
            <a:pPr marL="1143000" lvl="2" indent="-457200" algn="l" defTabSz="914400">
              <a:lnSpc>
                <a:spcPct val="150000"/>
              </a:lnSpc>
              <a:buClrTx/>
              <a:buSzTx/>
              <a:buAutoNum type="arabicPeriod"/>
              <a:tabLst>
                <a:tab pos="1609725" algn="l"/>
              </a:tabLst>
            </a:pPr>
            <a:r>
              <a:rPr sz="2240">
                <a:sym typeface="+mn-ea"/>
              </a:rPr>
              <a:t>选择一个合适的正交表</a:t>
            </a:r>
          </a:p>
          <a:p>
            <a:pPr marL="1143000" lvl="2" indent="-457200" algn="l" defTabSz="914400">
              <a:lnSpc>
                <a:spcPct val="150000"/>
              </a:lnSpc>
              <a:buClrTx/>
              <a:buSzTx/>
              <a:buAutoNum type="arabicPeriod"/>
              <a:tabLst>
                <a:tab pos="1609725" algn="l"/>
              </a:tabLst>
            </a:pPr>
            <a:r>
              <a:rPr sz="2240">
                <a:sym typeface="+mn-ea"/>
              </a:rPr>
              <a:t>利用正交表构造测试数据集</a:t>
            </a:r>
            <a:endParaRPr lang="zh-CN" altLang="en-US" sz="2240"/>
          </a:p>
        </p:txBody>
      </p:sp>
      <p:sp>
        <p:nvSpPr>
          <p:cNvPr id="5" name="日期占位符 4"/>
          <p:cNvSpPr>
            <a:spLocks noGrp="1"/>
          </p:cNvSpPr>
          <p:nvPr>
            <p:ph type="dt" sz="half" idx="10"/>
          </p:nvPr>
        </p:nvSpPr>
        <p:spPr/>
        <p:txBody>
          <a:bodyPr/>
          <a:lstStyle/>
          <a:p>
            <a:fld id="{9EFD9D74-47D9-4702-A33C-335B63B48DBF}" type="datetime1">
              <a:rPr lang="zh-CN" altLang="en-US" smtClean="0"/>
              <a:t>2023/4/19</a:t>
            </a:fld>
            <a:endParaRPr lang="zh-CN" altLang="en-US" dirty="0"/>
          </a:p>
        </p:txBody>
      </p:sp>
      <p:sp>
        <p:nvSpPr>
          <p:cNvPr id="6" name="灯片编号占位符 5"/>
          <p:cNvSpPr>
            <a:spLocks noGrp="1"/>
          </p:cNvSpPr>
          <p:nvPr>
            <p:ph type="sldNum" sz="quarter" idx="12"/>
          </p:nvPr>
        </p:nvSpPr>
        <p:spPr/>
        <p:txBody>
          <a:bodyPr/>
          <a:lstStyle/>
          <a:p>
            <a:fld id="{FABC47A4-756D-490B-A52F-7D9E2C9FC05F}"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0">
                <a:solidFill>
                  <a:schemeClr val="accent1"/>
                </a:solidFill>
                <a:ea typeface="汉仪文黑-85W" panose="00020600040101010101" charset="-122"/>
                <a:sym typeface="+mn-ea"/>
              </a:rPr>
              <a:t>基于正交表的测试</a:t>
            </a:r>
          </a:p>
        </p:txBody>
      </p:sp>
      <p:sp>
        <p:nvSpPr>
          <p:cNvPr id="3" name="内容占位符 2"/>
          <p:cNvSpPr>
            <a:spLocks noGrp="1"/>
          </p:cNvSpPr>
          <p:nvPr>
            <p:ph idx="1"/>
          </p:nvPr>
        </p:nvSpPr>
        <p:spPr/>
        <p:txBody>
          <a:bodyPr>
            <a:normAutofit fontScale="90000"/>
          </a:bodyPr>
          <a:lstStyle/>
          <a:p>
            <a:r>
              <a:rPr lang="zh-CN" altLang="en-US" b="1"/>
              <a:t>没有合适的正交表：</a:t>
            </a:r>
            <a:endParaRPr lang="zh-CN" altLang="en-US"/>
          </a:p>
          <a:p>
            <a:pPr marL="800100" lvl="1" indent="-457200">
              <a:buAutoNum type="arabicPeriod"/>
            </a:pPr>
            <a:r>
              <a:rPr lang="zh-CN" altLang="en-US" sz="2400" b="1"/>
              <a:t>k(控件的个数)值不合适:</a:t>
            </a:r>
          </a:p>
          <a:p>
            <a:pPr lvl="2">
              <a:lnSpc>
                <a:spcPct val="100000"/>
              </a:lnSpc>
            </a:pPr>
            <a:r>
              <a:rPr lang="zh-CN" altLang="en-US" sz="2000"/>
              <a:t>解决方案：选择最接近的大一点的，如有用不到的列可以删除</a:t>
            </a:r>
          </a:p>
          <a:p>
            <a:pPr marL="800100" lvl="1" indent="-457200">
              <a:buFont typeface="+mj-lt"/>
              <a:buAutoNum type="arabicPeriod"/>
            </a:pPr>
            <a:r>
              <a:rPr lang="zh-CN" altLang="en-US" sz="2400" b="1"/>
              <a:t>每个控件的 m 取值不同</a:t>
            </a:r>
          </a:p>
          <a:p>
            <a:pPr marL="1257300" lvl="2" indent="-457200">
              <a:lnSpc>
                <a:spcPct val="100000"/>
              </a:lnSpc>
            </a:pPr>
            <a:r>
              <a:rPr lang="zh-CN" altLang="en-US" sz="2000"/>
              <a:t>解决方案 1：最大值原则(推荐)</a:t>
            </a:r>
          </a:p>
          <a:p>
            <a:pPr marL="1257300" lvl="2" indent="-457200">
              <a:lnSpc>
                <a:spcPct val="100000"/>
              </a:lnSpc>
            </a:pPr>
            <a:r>
              <a:rPr lang="zh-CN" altLang="en-US" sz="2000"/>
              <a:t>解决方案 2：少数服从多数</a:t>
            </a:r>
          </a:p>
          <a:p>
            <a:pPr marL="800100" lvl="1" indent="-457200"/>
            <a:r>
              <a:rPr lang="zh-CN" altLang="en-US" sz="2250"/>
              <a:t>把每一列能映射的值先映射好，把每一列多余的机会，尽量均匀的分配给该列的各个取值，最后要检查是否有完全相同的组合，如果有要适当处理(修改(建议)，删除)。</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3</a:t>
            </a:fld>
            <a:endParaRPr lang="zh-CN" altLang="en-US"/>
          </a:p>
        </p:txBody>
      </p:sp>
      <p:sp>
        <p:nvSpPr>
          <p:cNvPr id="6" name="文本框 5"/>
          <p:cNvSpPr txBox="1"/>
          <p:nvPr/>
        </p:nvSpPr>
        <p:spPr>
          <a:xfrm>
            <a:off x="1259840" y="5559425"/>
            <a:ext cx="7118985" cy="768350"/>
          </a:xfrm>
          <a:prstGeom prst="rect">
            <a:avLst/>
          </a:prstGeom>
          <a:noFill/>
        </p:spPr>
        <p:txBody>
          <a:bodyPr wrap="square" rtlCol="0" anchor="t">
            <a:spAutoFit/>
          </a:bodyPr>
          <a:lstStyle/>
          <a:p>
            <a:pPr algn="just">
              <a:lnSpc>
                <a:spcPct val="110000"/>
              </a:lnSpc>
            </a:pPr>
            <a:r>
              <a:rPr lang="zh-CN" altLang="en-US" sz="2000" b="1">
                <a:latin typeface="微软雅黑" panose="020B0503020204020204" charset="-122"/>
                <a:ea typeface="微软雅黑" panose="020B0503020204020204" charset="-122"/>
                <a:cs typeface="微软雅黑" panose="020B0503020204020204" charset="-122"/>
              </a:rPr>
              <a:t>注意：选择正交表时，优先选择正好匹配的正交表，如果没有正合适的，再去选择最接近的进行处理。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PowerPoint软件的打印功能</a:t>
            </a:r>
            <a:endParaRPr lang="zh-CN" altLang="en-US"/>
          </a:p>
        </p:txBody>
      </p:sp>
      <p:sp>
        <p:nvSpPr>
          <p:cNvPr id="3" name="内容占位符 2"/>
          <p:cNvSpPr>
            <a:spLocks noGrp="1"/>
          </p:cNvSpPr>
          <p:nvPr>
            <p:ph idx="1"/>
          </p:nvPr>
        </p:nvSpPr>
        <p:spPr>
          <a:xfrm>
            <a:off x="502285" y="1287780"/>
            <a:ext cx="8225790" cy="4721860"/>
          </a:xfrm>
        </p:spPr>
        <p:txBody>
          <a:bodyPr>
            <a:normAutofit fontScale="92500" lnSpcReduction="10000"/>
          </a:bodyPr>
          <a:lstStyle/>
          <a:p>
            <a:pPr>
              <a:lnSpc>
                <a:spcPct val="140000"/>
              </a:lnSpc>
            </a:pPr>
            <a:r>
              <a:rPr lang="zh-CN" altLang="en-US" b="1"/>
              <a:t>功能描述如下:</a:t>
            </a:r>
          </a:p>
          <a:p>
            <a:pPr lvl="1">
              <a:lnSpc>
                <a:spcPct val="140000"/>
              </a:lnSpc>
            </a:pPr>
            <a:r>
              <a:rPr lang="zh-CN" altLang="en-US"/>
              <a:t>打印范围分：全部、当前幻灯片、选定幻灯片 共三种情况;</a:t>
            </a:r>
          </a:p>
          <a:p>
            <a:pPr lvl="1">
              <a:lnSpc>
                <a:spcPct val="140000"/>
              </a:lnSpc>
            </a:pPr>
            <a:r>
              <a:rPr lang="zh-CN" altLang="en-US"/>
              <a:t>打印内容分：幻灯片、讲义、备注页、大纲视图 共四种方式;</a:t>
            </a:r>
          </a:p>
          <a:p>
            <a:pPr lvl="1">
              <a:lnSpc>
                <a:spcPct val="140000"/>
              </a:lnSpc>
            </a:pPr>
            <a:r>
              <a:rPr lang="zh-CN" altLang="en-US"/>
              <a:t>打印颜色/灰度分：颜色、灰度、纯黑白 共三种设置；</a:t>
            </a:r>
          </a:p>
          <a:p>
            <a:pPr lvl="1">
              <a:lnSpc>
                <a:spcPct val="140000"/>
              </a:lnSpc>
            </a:pPr>
            <a:r>
              <a:rPr lang="zh-CN" altLang="en-US"/>
              <a:t>打印效果分：幻灯片加框和幻灯片不加框两种方式。</a:t>
            </a:r>
          </a:p>
          <a:p>
            <a:pPr lvl="1" algn="l" defTabSz="914400">
              <a:lnSpc>
                <a:spcPct val="140000"/>
              </a:lnSpc>
              <a:buClrTx/>
              <a:buSzTx/>
              <a:tabLst>
                <a:tab pos="1609725" algn="l"/>
              </a:tabLst>
            </a:pPr>
            <a:r>
              <a:rPr sz="3200">
                <a:sym typeface="+mn-ea"/>
              </a:rPr>
              <a:t>4</a:t>
            </a:r>
            <a:r>
              <a:rPr sz="3200" baseline="30000">
                <a:sym typeface="+mn-ea"/>
              </a:rPr>
              <a:t>4</a:t>
            </a:r>
            <a:endParaRPr lang="zh-CN" altLang="en-US" sz="3200"/>
          </a:p>
          <a:p>
            <a:pPr lvl="1">
              <a:lnSpc>
                <a:spcPct val="140000"/>
              </a:lnSpc>
            </a:pPr>
            <a:r>
              <a:rPr sz="3100"/>
              <a:t>可选择L</a:t>
            </a:r>
            <a:r>
              <a:rPr sz="3100" baseline="-25000"/>
              <a:t>16</a:t>
            </a:r>
            <a:r>
              <a:rPr sz="3100"/>
              <a:t>（4</a:t>
            </a:r>
            <a:r>
              <a:rPr sz="3100" baseline="30000"/>
              <a:t>5</a:t>
            </a:r>
            <a:r>
              <a:rPr sz="3100"/>
              <a:t>）或L</a:t>
            </a:r>
            <a:r>
              <a:rPr sz="3100" baseline="-25000"/>
              <a:t>9</a:t>
            </a:r>
            <a:r>
              <a:rPr sz="3100"/>
              <a:t>（3</a:t>
            </a:r>
            <a:r>
              <a:rPr sz="3100" baseline="30000"/>
              <a:t>4</a:t>
            </a:r>
            <a:r>
              <a:rPr sz="3100"/>
              <a:t>）的正交表</a:t>
            </a:r>
          </a:p>
          <a:p>
            <a:pPr lvl="1">
              <a:lnSpc>
                <a:spcPct val="140000"/>
              </a:lnSpc>
            </a:pPr>
            <a:r>
              <a:rPr sz="2400"/>
              <a:t>参见</a:t>
            </a:r>
            <a:r>
              <a:rPr lang="en-US" altLang="zh-CN" sz="2400"/>
              <a:t>Excel</a:t>
            </a:r>
            <a:r>
              <a:rPr sz="2400"/>
              <a:t>表：正交表案例（PPT打印功能）</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left)">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13"/>
            <p:custDataLst>
              <p:tags r:id="rId2"/>
            </p:custDataLst>
          </p:nvPr>
        </p:nvSpPr>
        <p:spPr>
          <a:xfrm>
            <a:off x="2069465" y="2359025"/>
            <a:ext cx="5088255" cy="1027430"/>
          </a:xfrm>
        </p:spPr>
        <p:txBody>
          <a:bodyPr anchor="ctr" anchorCtr="0">
            <a:noAutofit/>
          </a:bodyPr>
          <a:lstStyle/>
          <a:p>
            <a:r>
              <a:rPr sz="5400" b="1" dirty="0">
                <a:latin typeface="微软雅黑" panose="020B0503020204020204" charset="-122"/>
                <a:ea typeface="微软雅黑" panose="020B0503020204020204" charset="-122"/>
              </a:rPr>
              <a:t>黑盒测试技术</a:t>
            </a:r>
          </a:p>
        </p:txBody>
      </p:sp>
      <p:sp>
        <p:nvSpPr>
          <p:cNvPr id="5" name="Text Placeholder 4"/>
          <p:cNvSpPr>
            <a:spLocks noGrp="1"/>
          </p:cNvSpPr>
          <p:nvPr>
            <p:ph type="body" idx="14"/>
            <p:custDataLst>
              <p:tags r:id="rId3"/>
            </p:custDataLst>
          </p:nvPr>
        </p:nvSpPr>
        <p:spPr>
          <a:xfrm>
            <a:off x="2476500" y="3870960"/>
            <a:ext cx="4024630" cy="694690"/>
          </a:xfrm>
        </p:spPr>
        <p:txBody>
          <a:bodyPr>
            <a:noAutofit/>
          </a:bodyPr>
          <a:lstStyle/>
          <a:p>
            <a:pPr marL="0" indent="0" algn="ctr">
              <a:buNone/>
            </a:pPr>
            <a:r>
              <a:rPr lang="zh-CN" altLang="en-US" sz="2800" b="1" dirty="0">
                <a:solidFill>
                  <a:schemeClr val="tx1"/>
                </a:solidFill>
              </a:rPr>
              <a:t>场景法</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4675" y="629285"/>
            <a:ext cx="8001000" cy="891540"/>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just"/>
            <a:r>
              <a:rPr lang="zh-CN" altLang="en-US" sz="3600" b="1" i="0" dirty="0">
                <a:solidFill>
                  <a:srgbClr val="000000"/>
                </a:solidFill>
                <a:effectLst/>
                <a:latin typeface="微软雅黑" panose="020B0503020204020204" charset="-122"/>
                <a:ea typeface="微软雅黑" panose="020B0503020204020204" charset="-122"/>
                <a:cs typeface="微软雅黑" panose="020B0503020204020204" charset="-122"/>
              </a:rPr>
              <a:t>基于场景的测试</a:t>
            </a:r>
          </a:p>
        </p:txBody>
      </p:sp>
      <p:sp>
        <p:nvSpPr>
          <p:cNvPr id="3" name="内容占位符 2"/>
          <p:cNvSpPr>
            <a:spLocks noGrp="1"/>
          </p:cNvSpPr>
          <p:nvPr>
            <p:custDataLst>
              <p:tags r:id="rId4"/>
            </p:custDataLst>
          </p:nvPr>
        </p:nvSpPr>
        <p:spPr>
          <a:xfrm>
            <a:off x="567055" y="1609090"/>
            <a:ext cx="8001000" cy="441071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50000"/>
              </a:lnSpc>
              <a:buSzTx/>
              <a:buFont typeface="Arial" panose="020B0604020202020204" pitchFamily="34" charset="0"/>
              <a:buChar char="•"/>
            </a:pPr>
            <a:r>
              <a:rPr lang="zh-CN" altLang="zh-CN" sz="2400">
                <a:solidFill>
                  <a:schemeClr val="dk1"/>
                </a:solidFill>
                <a:latin typeface="微软雅黑" panose="020B0503020204020204" charset="-122"/>
                <a:ea typeface="微软雅黑" panose="020B0503020204020204" charset="-122"/>
                <a:sym typeface="+mn-ea"/>
              </a:rPr>
              <a:t>目前软件行业内的大多数业务软件基本都由用户管理、角色管理、权限管理、工作流等几个部分构成。作为被测对象的终端用户，期望被测对象能够实现他们的业务需求，而不是简单的功能组合。</a:t>
            </a:r>
          </a:p>
          <a:p>
            <a:pPr algn="just">
              <a:lnSpc>
                <a:spcPct val="150000"/>
              </a:lnSpc>
              <a:buSzTx/>
              <a:buFont typeface="Arial" panose="020B0604020202020204" pitchFamily="34" charset="0"/>
              <a:buChar char="•"/>
            </a:pPr>
            <a:r>
              <a:rPr lang="zh-CN" altLang="zh-CN" sz="2400">
                <a:solidFill>
                  <a:schemeClr val="dk1"/>
                </a:solidFill>
                <a:latin typeface="微软雅黑" panose="020B0503020204020204" charset="-122"/>
                <a:ea typeface="微软雅黑" panose="020B0503020204020204" charset="-122"/>
                <a:sym typeface="+mn-ea"/>
              </a:rPr>
              <a:t>因此针对单点功能利用等价类、边界值、判定表等用例设计方法能够解决大部分问题，但涉及业务流程的软件系统，采用场景法测试是比较恰当的。</a:t>
            </a:r>
            <a:endParaRPr lang="zh-CN" altLang="zh-CN" sz="2400">
              <a:solidFill>
                <a:schemeClr val="dk1"/>
              </a:solidFill>
              <a:latin typeface="微软雅黑" panose="020B0503020204020204" charset="-122"/>
              <a:ea typeface="微软雅黑" panose="020B0503020204020204" charset="-122"/>
            </a:endParaRP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6</a:t>
            </a:fld>
            <a:endParaRPr lang="zh-CN" altLang="en-US"/>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3600"/>
              <a:t>场景法测试</a:t>
            </a:r>
          </a:p>
        </p:txBody>
      </p:sp>
      <p:sp>
        <p:nvSpPr>
          <p:cNvPr id="5" name="内容占位符 4"/>
          <p:cNvSpPr>
            <a:spLocks noGrp="1"/>
          </p:cNvSpPr>
          <p:nvPr>
            <p:ph idx="1"/>
          </p:nvPr>
        </p:nvSpPr>
        <p:spPr>
          <a:xfrm>
            <a:off x="502285" y="1463675"/>
            <a:ext cx="8139430" cy="4204335"/>
          </a:xfrm>
        </p:spPr>
        <p:txBody>
          <a:bodyPr>
            <a:normAutofit fontScale="90000" lnSpcReduction="10000"/>
          </a:bodyPr>
          <a:lstStyle/>
          <a:p>
            <a:pPr algn="just"/>
            <a:r>
              <a:rPr lang="zh-CN" altLang="en-US" sz="3100" b="1">
                <a:solidFill>
                  <a:schemeClr val="tx1"/>
                </a:solidFill>
              </a:rPr>
              <a:t>应用于冒烟测试中</a:t>
            </a:r>
          </a:p>
          <a:p>
            <a:pPr algn="just"/>
            <a:r>
              <a:rPr sz="3100" b="1">
                <a:solidFill>
                  <a:schemeClr val="tx1"/>
                </a:solidFill>
                <a:latin typeface="微软雅黑" panose="020B0503020204020204" charset="-122"/>
                <a:cs typeface="Times New Roman" panose="02020603050405020304" pitchFamily="18" charset="0"/>
                <a:sym typeface="+mn-ea"/>
              </a:rPr>
              <a:t>什么是冒烟测试？</a:t>
            </a:r>
          </a:p>
          <a:p>
            <a:pPr lvl="1" algn="just">
              <a:lnSpc>
                <a:spcPct val="150000"/>
              </a:lnSpc>
            </a:pPr>
            <a:r>
              <a:rPr altLang="zh-CN" sz="2400">
                <a:solidFill>
                  <a:schemeClr val="tx1"/>
                </a:solidFill>
                <a:latin typeface="微软雅黑" panose="020B0503020204020204" charset="-122"/>
                <a:cs typeface="Times New Roman" panose="02020603050405020304" pitchFamily="18" charset="0"/>
                <a:sym typeface="+mn-ea"/>
              </a:rPr>
              <a:t>软件构建版本建立后，对系统的基本功能进行简单的测试，这种测试重点验证的是程序的主要功能，而不会对具体功能进行深入测试。</a:t>
            </a:r>
            <a:endParaRPr lang="en-US" altLang="zh-CN" sz="24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just"/>
            <a:r>
              <a:rPr sz="2400" dirty="0">
                <a:solidFill>
                  <a:schemeClr val="tx1"/>
                </a:solidFill>
                <a:latin typeface="微软雅黑" panose="020B0503020204020204" charset="-122"/>
                <a:ea typeface="微软雅黑" panose="020B0503020204020204" charset="-122"/>
                <a:cs typeface="Times New Roman" panose="02020603050405020304" pitchFamily="18" charset="0"/>
              </a:rPr>
              <a:t>在测试时，</a:t>
            </a:r>
            <a:r>
              <a:rPr lang="en-US"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并不是先关注某个控件的等价类，边界值这些细节，而是先关注整个功能的业务逻辑和业务流程是否正确实现</a:t>
            </a:r>
            <a:r>
              <a:rPr sz="2400" dirty="0">
                <a:solidFill>
                  <a:schemeClr val="tx1"/>
                </a:solidFill>
                <a:latin typeface="微软雅黑" panose="020B0503020204020204" charset="-122"/>
                <a:ea typeface="微软雅黑" panose="020B0503020204020204" charset="-122"/>
                <a:cs typeface="Times New Roman" panose="02020603050405020304" pitchFamily="18" charset="0"/>
              </a:rPr>
              <a:t>，因此，在开始进行测试之前，应该先做冒烟测试。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3600"/>
              <a:t>基于场景的测试</a:t>
            </a:r>
          </a:p>
        </p:txBody>
      </p:sp>
      <p:sp>
        <p:nvSpPr>
          <p:cNvPr id="5" name="内容占位符 4"/>
          <p:cNvSpPr>
            <a:spLocks noGrp="1"/>
          </p:cNvSpPr>
          <p:nvPr>
            <p:ph idx="1"/>
          </p:nvPr>
        </p:nvSpPr>
        <p:spPr>
          <a:xfrm>
            <a:off x="502285" y="1405255"/>
            <a:ext cx="8139430" cy="4262755"/>
          </a:xfrm>
        </p:spPr>
        <p:txBody>
          <a:bodyPr/>
          <a:lstStyle/>
          <a:p>
            <a:pPr>
              <a:lnSpc>
                <a:spcPct val="160000"/>
              </a:lnSpc>
            </a:pPr>
            <a:r>
              <a:rPr lang="zh-CN" altLang="en-US" sz="2400"/>
              <a:t>场景法是一种基于软件业务的测试方法，测试人员把自己当成最终用户尽可能真实的模拟用户在使用该软件时的各种情景：</a:t>
            </a:r>
          </a:p>
          <a:p>
            <a:pPr marL="800100" lvl="1" indent="-457200">
              <a:lnSpc>
                <a:spcPct val="160000"/>
              </a:lnSpc>
              <a:buFont typeface="+mj-lt"/>
              <a:buAutoNum type="alphaUcPeriod"/>
            </a:pPr>
            <a:r>
              <a:rPr lang="zh-CN" altLang="en-US"/>
              <a:t>模拟用户正确的业务操作流程</a:t>
            </a:r>
            <a:r>
              <a:rPr lang="en-US" altLang="zh-CN"/>
              <a:t>——</a:t>
            </a:r>
            <a:r>
              <a:rPr lang="zh-CN" altLang="en-US"/>
              <a:t>验证软件的业务功能是否能够正确实现；</a:t>
            </a:r>
          </a:p>
          <a:p>
            <a:pPr marL="800100" lvl="1" indent="-457200">
              <a:lnSpc>
                <a:spcPct val="160000"/>
              </a:lnSpc>
              <a:buFont typeface="+mj-lt"/>
              <a:buAutoNum type="alphaUcPeriod"/>
            </a:pPr>
            <a:r>
              <a:rPr lang="zh-CN" altLang="en-US"/>
              <a:t>模拟用户错误的业务操作过程</a:t>
            </a:r>
            <a:r>
              <a:rPr lang="en-US" altLang="zh-CN"/>
              <a:t>——</a:t>
            </a:r>
            <a:r>
              <a:rPr lang="zh-CN" altLang="en-US"/>
              <a:t>验证软件的异常处理能力(健壮性)。</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9" r:link="rId10"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11" r:link="rId12" cstate="email"/>
          <a:stretch>
            <a:fillRect/>
          </a:stretch>
        </p:blipFill>
        <p:spPr>
          <a:xfrm>
            <a:off x="8603932" y="0"/>
            <a:ext cx="540068" cy="629227"/>
          </a:xfrm>
          <a:prstGeom prst="rect">
            <a:avLst/>
          </a:prstGeom>
        </p:spPr>
      </p:pic>
      <p:sp>
        <p:nvSpPr>
          <p:cNvPr id="2" name="内容占位符 2"/>
          <p:cNvSpPr>
            <a:spLocks noGrp="1"/>
          </p:cNvSpPr>
          <p:nvPr>
            <p:custDataLst>
              <p:tags r:id="rId4"/>
            </p:custDataLst>
          </p:nvPr>
        </p:nvSpPr>
        <p:spPr>
          <a:xfrm>
            <a:off x="567690" y="2656205"/>
            <a:ext cx="7915275" cy="316992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50000"/>
              </a:lnSpc>
              <a:buFont typeface="Arial" panose="020B0604020202020204" pitchFamily="34" charset="0"/>
              <a:buChar char="•"/>
            </a:pPr>
            <a:r>
              <a:rPr lang="zh-CN" altLang="zh-CN" sz="2400">
                <a:solidFill>
                  <a:schemeClr val="dk1"/>
                </a:solidFill>
                <a:latin typeface="微软雅黑" panose="020B0503020204020204" charset="-122"/>
                <a:ea typeface="微软雅黑" panose="020B0503020204020204" charset="-122"/>
              </a:rPr>
              <a:t>现在的软件几乎都是由事件触发来控制流程的，事件触发时的情景便形成了场景，而同一事件不同的触发顺序和处理结果形成事件流。</a:t>
            </a:r>
          </a:p>
          <a:p>
            <a:pPr algn="just">
              <a:lnSpc>
                <a:spcPct val="150000"/>
              </a:lnSpc>
              <a:buFont typeface="Arial" panose="020B0604020202020204" pitchFamily="34" charset="0"/>
              <a:buChar char="•"/>
            </a:pPr>
            <a:r>
              <a:rPr lang="zh-CN" altLang="en-US" sz="2400">
                <a:sym typeface="+mn-ea"/>
              </a:rPr>
              <a:t>场景主要描述的是系统的核心业务功能的流程。</a:t>
            </a:r>
            <a:endParaRPr lang="zh-CN" altLang="zh-CN" sz="2400">
              <a:solidFill>
                <a:schemeClr val="dk1"/>
              </a:solidFill>
              <a:latin typeface="微软雅黑" panose="020B0503020204020204" charset="-122"/>
              <a:ea typeface="微软雅黑" panose="020B0503020204020204" charset="-122"/>
            </a:endParaRP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9</a:t>
            </a:fld>
            <a:endParaRPr lang="zh-CN" altLang="en-US"/>
          </a:p>
        </p:txBody>
      </p:sp>
      <p:sp>
        <p:nvSpPr>
          <p:cNvPr id="9" name="标题 1"/>
          <p:cNvSpPr>
            <a:spLocks noGrp="1"/>
          </p:cNvSpPr>
          <p:nvPr>
            <p:custDataLst>
              <p:tags r:id="rId5"/>
            </p:custDataLst>
          </p:nvPr>
        </p:nvSpPr>
        <p:spPr>
          <a:xfrm>
            <a:off x="574675" y="485775"/>
            <a:ext cx="8001000" cy="118554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4000" b="1">
                <a:solidFill>
                  <a:schemeClr val="dk2">
                    <a:lumMod val="25000"/>
                  </a:schemeClr>
                </a:solidFill>
                <a:latin typeface="微软雅黑" panose="020B0503020204020204" charset="-122"/>
                <a:ea typeface="微软雅黑" panose="020B0503020204020204" charset="-122"/>
              </a:rPr>
              <a:t>大家一起讨论</a:t>
            </a:r>
          </a:p>
        </p:txBody>
      </p:sp>
      <p:sp>
        <p:nvSpPr>
          <p:cNvPr id="10" name="内容占位符 2"/>
          <p:cNvSpPr>
            <a:spLocks noGrp="1"/>
          </p:cNvSpPr>
          <p:nvPr>
            <p:custDataLst>
              <p:tags r:id="rId6"/>
            </p:custDataLst>
          </p:nvPr>
        </p:nvSpPr>
        <p:spPr>
          <a:xfrm>
            <a:off x="574675" y="1670685"/>
            <a:ext cx="8001000" cy="1132205"/>
          </a:xfrm>
          <a:prstGeom prst="rect">
            <a:avLst/>
          </a:prstGeom>
          <a:noFill/>
          <a:ln>
            <a:noFill/>
          </a:ln>
        </p:spPr>
        <p:txBody>
          <a:bodyPr vert="horz" wrap="square" lIns="91440" tIns="45720" rIns="91440" bIns="45720" numCol="1" anchor="ctr"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r>
              <a:rPr lang="zh-CN" altLang="en-US" sz="3200" b="1" dirty="0">
                <a:solidFill>
                  <a:schemeClr val="dk1"/>
                </a:solidFill>
                <a:latin typeface="微软雅黑" panose="020B0503020204020204" charset="-122"/>
                <a:ea typeface="微软雅黑" panose="020B0503020204020204" charset="-122"/>
              </a:rPr>
              <a:t>什么是场景？</a:t>
            </a:r>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02285" y="1612265"/>
            <a:ext cx="8139430" cy="4435475"/>
          </a:xfrm>
        </p:spPr>
        <p:txBody>
          <a:bodyPr>
            <a:noAutofit/>
          </a:bodyPr>
          <a:lstStyle/>
          <a:p>
            <a:pPr algn="just">
              <a:lnSpc>
                <a:spcPct val="150000"/>
              </a:lnSpc>
            </a:pPr>
            <a:r>
              <a:rPr lang="zh-CN" altLang="en-US" sz="2200"/>
              <a:t>场景需要有清晰、明确的上下文环境，说明这个场景发生在什么背景下，何时会发生，从用户的角度出发，描述用户做什么，与系统的交互行为，以及用户对出现问题的反应。</a:t>
            </a:r>
          </a:p>
          <a:p>
            <a:pPr algn="just">
              <a:lnSpc>
                <a:spcPct val="150000"/>
              </a:lnSpc>
            </a:pPr>
            <a:r>
              <a:rPr altLang="zh-CN" sz="2200">
                <a:solidFill>
                  <a:schemeClr val="dk1"/>
                </a:solidFill>
                <a:latin typeface="微软雅黑" panose="020B0503020204020204" charset="-122"/>
                <a:sym typeface="+mn-ea"/>
              </a:rPr>
              <a:t>交付用户使用的系统要想获得用户的认可，必须站在用户的角度，以用户的使用逻辑及操作习惯为出发点，结合功能用例的设计方法，使用例设计更贴近实际，从而最大程度上满足用户的需求。</a:t>
            </a:r>
            <a:endParaRPr lang="zh-CN" altLang="en-US" sz="2200"/>
          </a:p>
          <a:p>
            <a:pPr algn="just"/>
            <a:endParaRPr lang="zh-CN" altLang="en-US" sz="2200"/>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10</a:t>
            </a:fld>
            <a:endParaRPr lang="zh-CN" altLang="en-US"/>
          </a:p>
        </p:txBody>
      </p:sp>
      <p:sp>
        <p:nvSpPr>
          <p:cNvPr id="10" name="标题 4"/>
          <p:cNvSpPr txBox="1">
            <a:spLocks noGrp="1"/>
          </p:cNvSpPr>
          <p:nvPr>
            <p:custDataLst>
              <p:tags r:id="rId1"/>
            </p:custDataLst>
          </p:nvPr>
        </p:nvSpPr>
        <p:spPr>
          <a:xfrm>
            <a:off x="588010" y="426085"/>
            <a:ext cx="7967345" cy="937260"/>
          </a:xfrm>
          <a:prstGeom prst="rect">
            <a:avLst/>
          </a:prstGeom>
          <a:noFill/>
          <a:ln>
            <a:noFill/>
          </a:ln>
        </p:spPr>
        <p:txBody>
          <a:bodyPr vert="horz" wrap="square" lIns="91440" tIns="45720" rIns="91440" bIns="45720" numCol="1" anchor="b" anchorCtr="0" compatLnSpc="1">
            <a:noAutofit/>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indent="0">
              <a:buNone/>
            </a:pPr>
            <a:r>
              <a:rPr lang="zh-CN" altLang="en-US" sz="3600" b="1" dirty="0">
                <a:solidFill>
                  <a:schemeClr val="tx1"/>
                </a:solidFill>
                <a:latin typeface="微软雅黑" panose="020B0503020204020204" charset="-122"/>
                <a:ea typeface="微软雅黑" panose="020B0503020204020204" charset="-122"/>
              </a:rPr>
              <a:t>什么是场景？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场景</a:t>
            </a:r>
            <a:r>
              <a:rPr lang="en-US" altLang="zh-CN" dirty="0"/>
              <a:t>(</a:t>
            </a:r>
            <a:r>
              <a:rPr lang="en-US" altLang="zh-CN" cap="none" dirty="0"/>
              <a:t>Scenario</a:t>
            </a:r>
            <a:r>
              <a:rPr lang="en-US" altLang="zh-CN" dirty="0"/>
              <a:t>)</a:t>
            </a:r>
            <a:r>
              <a:rPr lang="zh-CN" altLang="en-US" dirty="0"/>
              <a:t>是用例的实例 </a:t>
            </a:r>
          </a:p>
        </p:txBody>
      </p:sp>
      <p:sp>
        <p:nvSpPr>
          <p:cNvPr id="3" name="内容占位符 2"/>
          <p:cNvSpPr>
            <a:spLocks noGrp="1"/>
          </p:cNvSpPr>
          <p:nvPr>
            <p:ph idx="1"/>
          </p:nvPr>
        </p:nvSpPr>
        <p:spPr>
          <a:xfrm>
            <a:off x="1008380" y="1531620"/>
            <a:ext cx="3237230" cy="4523105"/>
          </a:xfrm>
        </p:spPr>
        <p:style>
          <a:lnRef idx="2">
            <a:schemeClr val="accent2"/>
          </a:lnRef>
          <a:fillRef idx="1">
            <a:schemeClr val="lt1"/>
          </a:fillRef>
          <a:effectRef idx="0">
            <a:schemeClr val="accent2"/>
          </a:effectRef>
          <a:fontRef idx="minor">
            <a:schemeClr val="dk1"/>
          </a:fontRef>
        </p:style>
        <p:txBody>
          <a:bodyPr>
            <a:noAutofit/>
          </a:bodyPr>
          <a:lstStyle/>
          <a:p>
            <a:pPr marL="0" indent="0">
              <a:lnSpc>
                <a:spcPct val="100000"/>
              </a:lnSpc>
              <a:spcBef>
                <a:spcPts val="600"/>
              </a:spcBef>
              <a:buNone/>
            </a:pPr>
            <a:r>
              <a:rPr lang="zh-CN" altLang="en-US" sz="2000" dirty="0">
                <a:latin typeface="+mj-ea"/>
                <a:ea typeface="+mj-ea"/>
              </a:rPr>
              <a:t>场景</a:t>
            </a:r>
            <a:r>
              <a:rPr lang="en-US" altLang="zh-CN" sz="2000" dirty="0">
                <a:latin typeface="+mj-ea"/>
                <a:ea typeface="+mj-ea"/>
              </a:rPr>
              <a:t>1	</a:t>
            </a:r>
          </a:p>
          <a:p>
            <a:pPr marL="0" indent="0">
              <a:lnSpc>
                <a:spcPct val="100000"/>
              </a:lnSpc>
              <a:spcBef>
                <a:spcPts val="600"/>
              </a:spcBef>
              <a:buNone/>
            </a:pPr>
            <a:r>
              <a:rPr lang="en-US" altLang="zh-CN" sz="2000" dirty="0">
                <a:latin typeface="+mj-ea"/>
                <a:ea typeface="+mj-ea"/>
              </a:rPr>
              <a:t>   </a:t>
            </a:r>
            <a:r>
              <a:rPr lang="zh-CN" altLang="en-US" sz="2000" dirty="0">
                <a:latin typeface="+mj-ea"/>
                <a:ea typeface="+mj-ea"/>
              </a:rPr>
              <a:t>登录系统	</a:t>
            </a:r>
          </a:p>
          <a:p>
            <a:pPr marL="0" indent="0">
              <a:lnSpc>
                <a:spcPct val="100000"/>
              </a:lnSpc>
              <a:spcBef>
                <a:spcPts val="600"/>
              </a:spcBef>
              <a:buNone/>
            </a:pPr>
            <a:r>
              <a:rPr lang="zh-CN" altLang="en-US" sz="2000" dirty="0">
                <a:latin typeface="+mj-ea"/>
                <a:ea typeface="+mj-ea"/>
              </a:rPr>
              <a:t>   认证登录	</a:t>
            </a:r>
          </a:p>
          <a:p>
            <a:pPr marL="0" indent="0">
              <a:lnSpc>
                <a:spcPct val="100000"/>
              </a:lnSpc>
              <a:spcBef>
                <a:spcPts val="600"/>
              </a:spcBef>
              <a:buNone/>
            </a:pPr>
            <a:r>
              <a:rPr lang="zh-CN" altLang="en-US" sz="2000" dirty="0">
                <a:latin typeface="+mj-ea"/>
                <a:ea typeface="+mj-ea"/>
              </a:rPr>
              <a:t>   输入主题词进行查询	</a:t>
            </a:r>
          </a:p>
          <a:p>
            <a:pPr marL="0" indent="0">
              <a:lnSpc>
                <a:spcPct val="100000"/>
              </a:lnSpc>
              <a:spcBef>
                <a:spcPts val="600"/>
              </a:spcBef>
              <a:buNone/>
            </a:pPr>
            <a:r>
              <a:rPr lang="zh-CN" altLang="en-US" sz="2000" dirty="0">
                <a:latin typeface="+mj-ea"/>
                <a:ea typeface="+mj-ea"/>
              </a:rPr>
              <a:t>   获取课程列表</a:t>
            </a:r>
            <a:endParaRPr lang="en-US" altLang="zh-CN" sz="2000" dirty="0">
              <a:latin typeface="+mj-ea"/>
              <a:ea typeface="+mj-ea"/>
            </a:endParaRPr>
          </a:p>
          <a:p>
            <a:pPr marL="0" indent="0">
              <a:lnSpc>
                <a:spcPct val="100000"/>
              </a:lnSpc>
              <a:spcBef>
                <a:spcPts val="600"/>
              </a:spcBef>
              <a:buNone/>
            </a:pPr>
            <a:r>
              <a:rPr lang="en-US" altLang="zh-CN" sz="2000" dirty="0">
                <a:latin typeface="+mj-ea"/>
                <a:ea typeface="+mj-ea"/>
              </a:rPr>
              <a:t>   </a:t>
            </a:r>
            <a:r>
              <a:rPr lang="zh-CN" altLang="en-US" sz="2000" dirty="0">
                <a:latin typeface="+mj-ea"/>
                <a:ea typeface="+mj-ea"/>
              </a:rPr>
              <a:t>显示课程列表	</a:t>
            </a:r>
          </a:p>
          <a:p>
            <a:pPr marL="0" indent="0">
              <a:lnSpc>
                <a:spcPct val="100000"/>
              </a:lnSpc>
              <a:spcBef>
                <a:spcPts val="600"/>
              </a:spcBef>
              <a:buNone/>
            </a:pPr>
            <a:r>
              <a:rPr lang="zh-CN" altLang="en-US" sz="2000" dirty="0">
                <a:latin typeface="+mj-ea"/>
                <a:ea typeface="+mj-ea"/>
              </a:rPr>
              <a:t>   选择课程	</a:t>
            </a:r>
          </a:p>
          <a:p>
            <a:pPr marL="0" indent="0">
              <a:lnSpc>
                <a:spcPct val="100000"/>
              </a:lnSpc>
              <a:spcBef>
                <a:spcPts val="600"/>
              </a:spcBef>
              <a:buNone/>
            </a:pPr>
            <a:r>
              <a:rPr lang="zh-CN" altLang="en-US" sz="2000" dirty="0">
                <a:latin typeface="+mj-ea"/>
                <a:ea typeface="+mj-ea"/>
              </a:rPr>
              <a:t>   确认课程可选 </a:t>
            </a:r>
            <a:endParaRPr lang="en-US" altLang="zh-CN" sz="2000" dirty="0">
              <a:latin typeface="+mj-ea"/>
              <a:ea typeface="+mj-ea"/>
            </a:endParaRPr>
          </a:p>
          <a:p>
            <a:pPr marL="0" indent="0">
              <a:lnSpc>
                <a:spcPct val="100000"/>
              </a:lnSpc>
              <a:spcBef>
                <a:spcPts val="600"/>
              </a:spcBef>
              <a:buNone/>
            </a:pPr>
            <a:r>
              <a:rPr lang="en-US" altLang="zh-CN" sz="2000" dirty="0">
                <a:latin typeface="+mj-ea"/>
                <a:ea typeface="+mj-ea"/>
              </a:rPr>
              <a:t>  </a:t>
            </a:r>
            <a:r>
              <a:rPr lang="zh-CN" altLang="en-US" sz="2000" dirty="0">
                <a:latin typeface="+mj-ea"/>
                <a:ea typeface="+mj-ea"/>
              </a:rPr>
              <a:t> 显示最终的课程表	</a:t>
            </a:r>
          </a:p>
          <a:p>
            <a:pPr marL="0" indent="0">
              <a:lnSpc>
                <a:spcPct val="100000"/>
              </a:lnSpc>
              <a:spcBef>
                <a:spcPts val="600"/>
              </a:spcBef>
              <a:buNone/>
            </a:pPr>
            <a:endParaRPr lang="zh-CN" altLang="en-US" sz="2000" dirty="0">
              <a:latin typeface="+mj-ea"/>
              <a:ea typeface="+mj-ea"/>
            </a:endParaRPr>
          </a:p>
        </p:txBody>
      </p:sp>
      <p:sp>
        <p:nvSpPr>
          <p:cNvPr id="4" name="日期占位符 3"/>
          <p:cNvSpPr>
            <a:spLocks noGrp="1"/>
          </p:cNvSpPr>
          <p:nvPr>
            <p:ph type="dt" sz="half" idx="10"/>
          </p:nvPr>
        </p:nvSpPr>
        <p:spPr/>
        <p:txBody>
          <a:bodyPr/>
          <a:lstStyle/>
          <a:p>
            <a:fld id="{1F1D7B08-A86E-4CC1-B3E0-ABF738623846}" type="datetime1">
              <a:rPr lang="zh-CN" altLang="en-US" smtClean="0"/>
              <a:t>2023/4/19</a:t>
            </a:fld>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t>11</a:t>
            </a:fld>
            <a:endParaRPr lang="zh-CN" altLang="en-US"/>
          </a:p>
        </p:txBody>
      </p:sp>
      <p:sp>
        <p:nvSpPr>
          <p:cNvPr id="9" name="矩形 8"/>
          <p:cNvSpPr/>
          <p:nvPr/>
        </p:nvSpPr>
        <p:spPr>
          <a:xfrm>
            <a:off x="5438897" y="1458200"/>
            <a:ext cx="3044283" cy="44773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r">
              <a:lnSpc>
                <a:spcPct val="120000"/>
              </a:lnSpc>
              <a:spcBef>
                <a:spcPts val="600"/>
              </a:spcBef>
            </a:pPr>
            <a:r>
              <a:rPr lang="zh-CN" altLang="en-US" sz="2000" dirty="0">
                <a:latin typeface="+mj-ea"/>
                <a:ea typeface="+mj-ea"/>
              </a:rPr>
              <a:t>场景2	</a:t>
            </a:r>
          </a:p>
          <a:p>
            <a:pPr>
              <a:lnSpc>
                <a:spcPct val="120000"/>
              </a:lnSpc>
              <a:spcBef>
                <a:spcPts val="600"/>
              </a:spcBef>
            </a:pPr>
            <a:r>
              <a:rPr lang="zh-CN" altLang="en-US" sz="2000" dirty="0">
                <a:latin typeface="+mj-ea"/>
                <a:ea typeface="+mj-ea"/>
              </a:rPr>
              <a:t>   登录系统 认证登录	</a:t>
            </a:r>
          </a:p>
          <a:p>
            <a:pPr>
              <a:lnSpc>
                <a:spcPct val="120000"/>
              </a:lnSpc>
              <a:spcBef>
                <a:spcPts val="600"/>
              </a:spcBef>
            </a:pPr>
            <a:r>
              <a:rPr lang="zh-CN" altLang="en-US" sz="2000" dirty="0">
                <a:latin typeface="+mj-ea"/>
                <a:ea typeface="+mj-ea"/>
              </a:rPr>
              <a:t>   输入主题词进行查询</a:t>
            </a:r>
            <a:endParaRPr lang="en-US" altLang="zh-CN" sz="2000" dirty="0">
              <a:latin typeface="+mj-ea"/>
              <a:ea typeface="+mj-ea"/>
            </a:endParaRPr>
          </a:p>
          <a:p>
            <a:pPr>
              <a:lnSpc>
                <a:spcPct val="120000"/>
              </a:lnSpc>
              <a:spcBef>
                <a:spcPts val="600"/>
              </a:spcBef>
            </a:pPr>
            <a:r>
              <a:rPr lang="zh-CN" altLang="en-US" sz="2000" dirty="0">
                <a:latin typeface="+mj-ea"/>
                <a:ea typeface="+mj-ea"/>
              </a:rPr>
              <a:t>   无效主题词</a:t>
            </a:r>
            <a:endParaRPr lang="en-US" altLang="zh-CN" sz="2000" dirty="0">
              <a:latin typeface="+mj-ea"/>
              <a:ea typeface="+mj-ea"/>
            </a:endParaRPr>
          </a:p>
          <a:p>
            <a:pPr>
              <a:lnSpc>
                <a:spcPct val="120000"/>
              </a:lnSpc>
              <a:spcBef>
                <a:spcPts val="600"/>
              </a:spcBef>
            </a:pPr>
            <a:r>
              <a:rPr lang="en-US" altLang="zh-CN" sz="2000" dirty="0">
                <a:latin typeface="+mj-ea"/>
                <a:ea typeface="+mj-ea"/>
              </a:rPr>
              <a:t>   </a:t>
            </a:r>
            <a:r>
              <a:rPr lang="zh-CN" altLang="en-US" sz="2000" dirty="0">
                <a:latin typeface="+mj-ea"/>
                <a:ea typeface="+mj-ea"/>
              </a:rPr>
              <a:t>再次输入课程	</a:t>
            </a:r>
          </a:p>
          <a:p>
            <a:pPr>
              <a:lnSpc>
                <a:spcPct val="120000"/>
              </a:lnSpc>
              <a:spcBef>
                <a:spcPts val="600"/>
              </a:spcBef>
            </a:pPr>
            <a:r>
              <a:rPr lang="zh-CN" altLang="en-US" sz="2000" dirty="0">
                <a:latin typeface="+mj-ea"/>
                <a:ea typeface="+mj-ea"/>
              </a:rPr>
              <a:t>   获取课程列表 </a:t>
            </a:r>
            <a:endParaRPr lang="en-US" altLang="zh-CN" sz="2000" dirty="0">
              <a:latin typeface="+mj-ea"/>
              <a:ea typeface="+mj-ea"/>
            </a:endParaRPr>
          </a:p>
          <a:p>
            <a:pPr>
              <a:lnSpc>
                <a:spcPct val="120000"/>
              </a:lnSpc>
              <a:spcBef>
                <a:spcPts val="600"/>
              </a:spcBef>
            </a:pPr>
            <a:r>
              <a:rPr lang="en-US" altLang="zh-CN" sz="2000" dirty="0">
                <a:latin typeface="+mj-ea"/>
                <a:ea typeface="+mj-ea"/>
              </a:rPr>
              <a:t>   </a:t>
            </a:r>
            <a:r>
              <a:rPr lang="zh-CN" altLang="en-US" sz="2000" dirty="0">
                <a:latin typeface="+mj-ea"/>
                <a:ea typeface="+mj-ea"/>
              </a:rPr>
              <a:t>显示课程列表	</a:t>
            </a:r>
          </a:p>
          <a:p>
            <a:pPr>
              <a:lnSpc>
                <a:spcPct val="120000"/>
              </a:lnSpc>
              <a:spcBef>
                <a:spcPts val="600"/>
              </a:spcBef>
            </a:pPr>
            <a:r>
              <a:rPr lang="zh-CN" altLang="en-US" sz="2000" dirty="0">
                <a:latin typeface="+mj-ea"/>
                <a:ea typeface="+mj-ea"/>
              </a:rPr>
              <a:t>   选择课程	</a:t>
            </a:r>
          </a:p>
          <a:p>
            <a:pPr>
              <a:lnSpc>
                <a:spcPct val="120000"/>
              </a:lnSpc>
              <a:spcBef>
                <a:spcPts val="600"/>
              </a:spcBef>
            </a:pPr>
            <a:r>
              <a:rPr lang="zh-CN" altLang="en-US" sz="2000" dirty="0">
                <a:latin typeface="+mj-ea"/>
                <a:ea typeface="+mj-ea"/>
              </a:rPr>
              <a:t>   确认课程可选 </a:t>
            </a:r>
            <a:endParaRPr lang="en-US" altLang="zh-CN" sz="2000" dirty="0">
              <a:latin typeface="+mj-ea"/>
              <a:ea typeface="+mj-ea"/>
            </a:endParaRPr>
          </a:p>
          <a:p>
            <a:pPr>
              <a:lnSpc>
                <a:spcPct val="120000"/>
              </a:lnSpc>
              <a:spcBef>
                <a:spcPts val="600"/>
              </a:spcBef>
            </a:pPr>
            <a:r>
              <a:rPr lang="en-US" altLang="zh-CN" sz="2000" dirty="0">
                <a:latin typeface="+mj-ea"/>
                <a:ea typeface="+mj-ea"/>
              </a:rPr>
              <a:t>   </a:t>
            </a:r>
            <a:r>
              <a:rPr lang="zh-CN" altLang="en-US" sz="2000" dirty="0">
                <a:latin typeface="+mj-ea"/>
                <a:ea typeface="+mj-ea"/>
              </a:rPr>
              <a:t>显示最终的课程表</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357" y="1196745"/>
            <a:ext cx="3413010" cy="754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内容占位符 2"/>
          <p:cNvSpPr>
            <a:spLocks noGrp="1"/>
          </p:cNvSpPr>
          <p:nvPr>
            <p:custDataLst>
              <p:tags r:id="rId4"/>
            </p:custDataLst>
          </p:nvPr>
        </p:nvSpPr>
        <p:spPr>
          <a:xfrm>
            <a:off x="481965" y="1423035"/>
            <a:ext cx="8122285" cy="464566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50000"/>
              </a:lnSpc>
            </a:pPr>
            <a:r>
              <a:rPr lang="zh-CN" altLang="zh-CN" sz="2400">
                <a:solidFill>
                  <a:schemeClr val="dk1"/>
                </a:solidFill>
                <a:latin typeface="微软雅黑" panose="020B0503020204020204" charset="-122"/>
                <a:ea typeface="微软雅黑" panose="020B0503020204020204" charset="-122"/>
                <a:cs typeface="微软雅黑" panose="020B0503020204020204" charset="-122"/>
              </a:rPr>
              <a:t>基于场景技术的软件测试，首先需要完成对被测试系统进行分析建模，通过分析需求规格说明书，获得系统级的输入/输出变量，然后模拟用户的各种使用场景，基于该使用场景对测试对象进行测试。</a:t>
            </a:r>
          </a:p>
          <a:p>
            <a:pPr algn="just">
              <a:lnSpc>
                <a:spcPct val="150000"/>
              </a:lnSpc>
            </a:pPr>
            <a:r>
              <a:rPr lang="zh-CN" altLang="zh-CN" sz="2400">
                <a:solidFill>
                  <a:schemeClr val="dk1"/>
                </a:solidFill>
                <a:latin typeface="微软雅黑" panose="020B0503020204020204" charset="-122"/>
                <a:ea typeface="微软雅黑" panose="020B0503020204020204" charset="-122"/>
                <a:cs typeface="微软雅黑" panose="020B0503020204020204" charset="-122"/>
              </a:rPr>
              <a:t>当业务流、场景都确定下来以后，一个业务的具体操作流程就确定了，基于场景的测试主要集中在用户和系统之间的交互</a:t>
            </a:r>
            <a:r>
              <a:rPr lang="zh-CN" altLang="en-US" sz="2400">
                <a:solidFill>
                  <a:schemeClr val="dk1"/>
                </a:solidFill>
                <a:latin typeface="微软雅黑" panose="020B0503020204020204" charset="-122"/>
                <a:ea typeface="微软雅黑" panose="020B0503020204020204" charset="-122"/>
                <a:cs typeface="微软雅黑" panose="020B0503020204020204" charset="-122"/>
              </a:rPr>
              <a:t>，</a:t>
            </a:r>
            <a:r>
              <a:rPr lang="zh-CN" altLang="zh-CN" sz="2400">
                <a:solidFill>
                  <a:schemeClr val="dk1"/>
                </a:solidFill>
                <a:latin typeface="微软雅黑" panose="020B0503020204020204" charset="-122"/>
                <a:ea typeface="微软雅黑" panose="020B0503020204020204" charset="-122"/>
                <a:cs typeface="微软雅黑" panose="020B0503020204020204" charset="-122"/>
              </a:rPr>
              <a:t>主要用来检测业务需求的正确性</a:t>
            </a:r>
            <a:r>
              <a:rPr lang="zh-CN" altLang="en-US" sz="2400">
                <a:solidFill>
                  <a:schemeClr val="dk1"/>
                </a:solidFill>
                <a:latin typeface="微软雅黑" panose="020B0503020204020204" charset="-122"/>
                <a:ea typeface="微软雅黑" panose="020B0503020204020204" charset="-122"/>
                <a:cs typeface="微软雅黑" panose="020B0503020204020204" charset="-122"/>
              </a:rPr>
              <a:t>，</a:t>
            </a:r>
            <a:r>
              <a:rPr lang="zh-CN" altLang="zh-CN" sz="2400">
                <a:solidFill>
                  <a:schemeClr val="dk1"/>
                </a:solidFill>
                <a:latin typeface="微软雅黑" panose="020B0503020204020204" charset="-122"/>
                <a:ea typeface="微软雅黑" panose="020B0503020204020204" charset="-122"/>
                <a:cs typeface="微软雅黑" panose="020B0503020204020204" charset="-122"/>
              </a:rPr>
              <a:t>而不是代码本身的正确性。</a:t>
            </a:r>
          </a:p>
          <a:p>
            <a:pPr algn="just">
              <a:lnSpc>
                <a:spcPct val="150000"/>
              </a:lnSpc>
            </a:pPr>
            <a:endParaRPr lang="zh-CN" altLang="zh-CN" sz="240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12</a:t>
            </a:fld>
            <a:endParaRPr lang="zh-CN" altLang="en-US"/>
          </a:p>
        </p:txBody>
      </p:sp>
      <p:sp>
        <p:nvSpPr>
          <p:cNvPr id="8" name="标题 1"/>
          <p:cNvSpPr>
            <a:spLocks noGrp="1"/>
          </p:cNvSpPr>
          <p:nvPr>
            <p:custDataLst>
              <p:tags r:id="rId5"/>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zh-CN" sz="3600" b="1">
                <a:solidFill>
                  <a:schemeClr val="dk1"/>
                </a:solidFill>
                <a:latin typeface="微软雅黑" panose="020B0503020204020204" charset="-122"/>
                <a:ea typeface="微软雅黑" panose="020B0503020204020204" charset="-122"/>
                <a:cs typeface="微软雅黑" panose="020B0503020204020204" charset="-122"/>
              </a:rPr>
              <a:t>基于场景的测试</a:t>
            </a:r>
          </a:p>
        </p:txBody>
      </p:sp>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案例：</a:t>
            </a:r>
            <a:r>
              <a:rPr lang="en-US" altLang="zh-CN"/>
              <a:t>ATM</a:t>
            </a:r>
            <a:r>
              <a:t>取款机</a:t>
            </a:r>
          </a:p>
        </p:txBody>
      </p:sp>
      <p:sp>
        <p:nvSpPr>
          <p:cNvPr id="8" name="内容占位符 7"/>
          <p:cNvSpPr>
            <a:spLocks noGrp="1"/>
          </p:cNvSpPr>
          <p:nvPr>
            <p:ph idx="1"/>
          </p:nvPr>
        </p:nvSpPr>
        <p:spPr/>
        <p:txBody>
          <a:bodyPr/>
          <a:lstStyle/>
          <a:p>
            <a:endParaRPr lang="zh-CN" altLang="en-US"/>
          </a:p>
        </p:txBody>
      </p:sp>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975" y="1425575"/>
            <a:ext cx="8274050" cy="454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13</a:t>
            </a:fld>
            <a:endParaRPr lang="zh-CN" altLang="en-US"/>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0710" y="929640"/>
            <a:ext cx="7942580" cy="499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14</a:t>
            </a:fld>
            <a:endParaRPr lang="zh-CN" altLang="en-US"/>
          </a:p>
        </p:txBody>
      </p:sp>
    </p:spTree>
    <p:custDataLst>
      <p:tags r:id="rId1"/>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descr="https://timgsa.baidu.com/timg?image&amp;quality=80&amp;size=b9999_10000&amp;sec=1539021234390&amp;di=dd9e9f971f0406864426d0bd26ea53ae&amp;imgtype=0&amp;src=http%3A%2F%2Fimg.mp.itc.cn%2Fupload%2F20170213%2F0d49e24ea05e415d81a024ccfeb0dcbb_th.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2975" y="495935"/>
            <a:ext cx="7403465" cy="555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15</a:t>
            </a:fld>
            <a:endParaRPr lang="zh-CN" altLang="en-US"/>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385" y="736600"/>
            <a:ext cx="8112760" cy="5093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16</a:t>
            </a:fld>
            <a:endParaRPr lang="zh-CN" altLang="en-US"/>
          </a:p>
        </p:txBody>
      </p:sp>
    </p:spTree>
    <p:custDataLst>
      <p:tags r:id="rId1"/>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385" y="873125"/>
            <a:ext cx="8191500" cy="4993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17</a:t>
            </a:fld>
            <a:endParaRPr lang="zh-CN" altLang="en-US"/>
          </a:p>
        </p:txBody>
      </p:sp>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5000" y="811530"/>
            <a:ext cx="7968615" cy="511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18</a:t>
            </a:fld>
            <a:endParaRPr lang="zh-CN" altLang="en-US"/>
          </a:p>
        </p:txBody>
      </p:sp>
    </p:spTree>
    <p:custDataLst>
      <p:tags r:id="rId1"/>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5" r:link="rId6"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7" r:link="rId8" cstate="email"/>
          <a:stretch>
            <a:fillRect/>
          </a:stretch>
        </p:blipFill>
        <p:spPr>
          <a:xfrm>
            <a:off x="8603932" y="0"/>
            <a:ext cx="540068" cy="629227"/>
          </a:xfrm>
          <a:prstGeom prst="rect">
            <a:avLst/>
          </a:prstGeom>
        </p:spPr>
      </p:pic>
      <p:pic>
        <p:nvPicPr>
          <p:cNvPr id="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165" y="846455"/>
            <a:ext cx="8045450"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19</a:t>
            </a:fld>
            <a:endParaRPr lang="zh-CN" altLang="en-US"/>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600" dirty="0"/>
              <a:t>特殊场景</a:t>
            </a:r>
          </a:p>
        </p:txBody>
      </p:sp>
      <p:sp>
        <p:nvSpPr>
          <p:cNvPr id="3" name="Content Placeholder 2"/>
          <p:cNvSpPr>
            <a:spLocks noGrp="1"/>
          </p:cNvSpPr>
          <p:nvPr>
            <p:ph idx="1"/>
          </p:nvPr>
        </p:nvSpPr>
        <p:spPr>
          <a:xfrm>
            <a:off x="502285" y="1654810"/>
            <a:ext cx="4968875" cy="3764915"/>
          </a:xfrm>
        </p:spPr>
        <p:txBody>
          <a:bodyPr>
            <a:normAutofit fontScale="97500" lnSpcReduction="10000"/>
          </a:bodyPr>
          <a:lstStyle/>
          <a:p>
            <a:pPr marL="0" indent="0" algn="just">
              <a:lnSpc>
                <a:spcPct val="150000"/>
              </a:lnSpc>
              <a:buNone/>
            </a:pPr>
            <a:r>
              <a:rPr lang="zh-CN" altLang="en-US" sz="2400" dirty="0"/>
              <a:t>现实生活中，一个银行从业者发的一条微博，他体会了“</a:t>
            </a:r>
            <a:r>
              <a:rPr lang="en-US" altLang="zh-CN" sz="2400" dirty="0"/>
              <a:t>ATM</a:t>
            </a:r>
            <a:r>
              <a:rPr lang="zh-CN" altLang="en-US" sz="2400" dirty="0"/>
              <a:t>无卡取现”功能的强大：</a:t>
            </a:r>
            <a:endParaRPr lang="en-US" sz="2400" dirty="0"/>
          </a:p>
          <a:p>
            <a:pPr marL="0" indent="0" algn="just">
              <a:lnSpc>
                <a:spcPct val="150000"/>
              </a:lnSpc>
              <a:buNone/>
            </a:pPr>
            <a:r>
              <a:rPr lang="zh-CN" altLang="en-US" sz="2400" dirty="0"/>
              <a:t>特意带上手机和令牌，不带银行卡，感受一下我行的</a:t>
            </a:r>
            <a:r>
              <a:rPr lang="zh-CN" altLang="en-US" sz="2400" b="1" dirty="0"/>
              <a:t>无卡取现</a:t>
            </a:r>
            <a:r>
              <a:rPr lang="zh-CN" altLang="en-US" sz="2400" dirty="0"/>
              <a:t>，结果连自助银行的门儿 都没进去，不刷卡怎么开门啊</a:t>
            </a:r>
            <a:r>
              <a:rPr lang="en-US" altLang="zh-CN" sz="2400" dirty="0"/>
              <a:t>……</a:t>
            </a:r>
          </a:p>
        </p:txBody>
      </p:sp>
      <p:pic>
        <p:nvPicPr>
          <p:cNvPr id="1026" name="Picture 2" descr="https://timgsa.baidu.com/timg?image&amp;quality=80&amp;size=b9999_10000&amp;sec=1534009215881&amp;di=30fb4b5376eed6af63529517a0ee8016&amp;imgtype=0&amp;src=http%3A%2F%2Fimg2.jc001.cn%2Fimg%2F244%2F1005244%2F1104%2F114da85a377a644.jpg"/>
          <p:cNvPicPr>
            <a:picLocks noChangeAspect="1" noChangeArrowheads="1"/>
          </p:cNvPicPr>
          <p:nvPr/>
        </p:nvPicPr>
        <p:blipFill rotWithShape="1">
          <a:blip r:embed="rId3">
            <a:extLst>
              <a:ext uri="{28A0092B-C50C-407E-A947-70E740481C1C}">
                <a14:useLocalDpi xmlns:a14="http://schemas.microsoft.com/office/drawing/2010/main" val="0"/>
              </a:ext>
            </a:extLst>
          </a:blip>
          <a:srcRect l="21274" r="26793" b="2"/>
          <a:stretch>
            <a:fillRect/>
          </a:stretch>
        </p:blipFill>
        <p:spPr bwMode="auto">
          <a:xfrm>
            <a:off x="5609590" y="857257"/>
            <a:ext cx="3257550" cy="5143493"/>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10"/>
          </p:nvPr>
        </p:nvSpPr>
        <p:spPr/>
        <p:txBody>
          <a:bodyPr/>
          <a:lstStyle/>
          <a:p>
            <a:fld id="{0D4184D6-4C37-426D-B827-EDD85BC812F5}" type="datetime1">
              <a:rPr lang="zh-CN" altLang="en-US" smtClean="0"/>
              <a:t>2023/4/19</a:t>
            </a:fld>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2" name="标题 1"/>
          <p:cNvSpPr>
            <a:spLocks noGrp="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zh-CN" sz="3600" b="1">
                <a:solidFill>
                  <a:schemeClr val="dk1"/>
                </a:solidFill>
                <a:latin typeface="微软雅黑" panose="020B0503020204020204" charset="-122"/>
                <a:ea typeface="微软雅黑" panose="020B0503020204020204" charset="-122"/>
                <a:cs typeface="微软雅黑" panose="020B0503020204020204" charset="-122"/>
              </a:rPr>
              <a:t>基于场景的测试</a:t>
            </a:r>
          </a:p>
        </p:txBody>
      </p:sp>
      <p:sp>
        <p:nvSpPr>
          <p:cNvPr id="3" name="内容占位符 2"/>
          <p:cNvSpPr>
            <a:spLocks noGrp="1"/>
          </p:cNvSpPr>
          <p:nvPr>
            <p:custDataLst>
              <p:tags r:id="rId5"/>
            </p:custDataLst>
          </p:nvPr>
        </p:nvSpPr>
        <p:spPr>
          <a:xfrm>
            <a:off x="359410" y="1520825"/>
            <a:ext cx="8275955" cy="485457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40000"/>
              </a:lnSpc>
            </a:pPr>
            <a:r>
              <a:rPr lang="zh-CN" altLang="zh-CN" sz="2000">
                <a:solidFill>
                  <a:schemeClr val="dk1"/>
                </a:solidFill>
                <a:latin typeface="微软雅黑" panose="020B0503020204020204" charset="-122"/>
                <a:ea typeface="微软雅黑" panose="020B0503020204020204" charset="-122"/>
              </a:rPr>
              <a:t>在场景的基础上进行的测试，通过执行测试场景或与系统可操作的流程相关的测试用例来验证系统的功能。</a:t>
            </a:r>
          </a:p>
          <a:p>
            <a:pPr algn="l">
              <a:lnSpc>
                <a:spcPct val="140000"/>
              </a:lnSpc>
              <a:buSzTx/>
            </a:pPr>
            <a:r>
              <a:rPr lang="zh-CN" altLang="zh-CN" sz="2000">
                <a:solidFill>
                  <a:schemeClr val="dk1"/>
                </a:solidFill>
                <a:latin typeface="微软雅黑" panose="020B0503020204020204" charset="-122"/>
                <a:ea typeface="微软雅黑" panose="020B0503020204020204" charset="-122"/>
              </a:rPr>
              <a:t>一个场景测试用例仅测试一个场景、事务或业务流程。</a:t>
            </a:r>
          </a:p>
          <a:p>
            <a:pPr algn="l">
              <a:lnSpc>
                <a:spcPct val="140000"/>
              </a:lnSpc>
              <a:buSzTx/>
            </a:pPr>
            <a:r>
              <a:rPr lang="zh-CN" altLang="zh-CN" sz="2000">
                <a:solidFill>
                  <a:schemeClr val="dk1"/>
                </a:solidFill>
                <a:latin typeface="微软雅黑" panose="020B0503020204020204" charset="-122"/>
                <a:ea typeface="微软雅黑" panose="020B0503020204020204" charset="-122"/>
                <a:sym typeface="+mn-ea"/>
              </a:rPr>
              <a:t>针对场景业务流，通常分为基本流、备选流及异常流3种业务流向。</a:t>
            </a:r>
          </a:p>
          <a:p>
            <a:pPr lvl="1" algn="l">
              <a:lnSpc>
                <a:spcPct val="140000"/>
              </a:lnSpc>
              <a:buSzTx/>
            </a:pPr>
            <a:r>
              <a:rPr lang="zh-CN" altLang="zh-CN" sz="1800" b="1">
                <a:solidFill>
                  <a:srgbClr val="FF0000"/>
                </a:solidFill>
                <a:latin typeface="微软雅黑" panose="020B0503020204020204" charset="-122"/>
                <a:ea typeface="微软雅黑" panose="020B0503020204020204" charset="-122"/>
                <a:sym typeface="+mn-ea"/>
              </a:rPr>
              <a:t>基本流：</a:t>
            </a:r>
            <a:r>
              <a:rPr lang="zh-CN" altLang="zh-CN" sz="1800">
                <a:solidFill>
                  <a:schemeClr val="dk1"/>
                </a:solidFill>
                <a:latin typeface="微软雅黑" panose="020B0503020204020204" charset="-122"/>
                <a:ea typeface="微软雅黑" panose="020B0503020204020204" charset="-122"/>
                <a:sym typeface="+mn-ea"/>
              </a:rPr>
              <a:t>表示输入经过每一个正确的流程运转最终达到预期结果；</a:t>
            </a:r>
          </a:p>
          <a:p>
            <a:pPr lvl="1" algn="l">
              <a:lnSpc>
                <a:spcPct val="140000"/>
              </a:lnSpc>
              <a:buSzTx/>
            </a:pPr>
            <a:r>
              <a:rPr lang="zh-CN" altLang="zh-CN" sz="1800" b="1">
                <a:solidFill>
                  <a:srgbClr val="FF0000"/>
                </a:solidFill>
                <a:latin typeface="微软雅黑" panose="020B0503020204020204" charset="-122"/>
                <a:ea typeface="微软雅黑" panose="020B0503020204020204" charset="-122"/>
                <a:sym typeface="+mn-ea"/>
              </a:rPr>
              <a:t>备选流：</a:t>
            </a:r>
            <a:r>
              <a:rPr lang="zh-CN" altLang="zh-CN" sz="1800">
                <a:solidFill>
                  <a:schemeClr val="dk1"/>
                </a:solidFill>
                <a:latin typeface="微软雅黑" panose="020B0503020204020204" charset="-122"/>
                <a:ea typeface="微软雅黑" panose="020B0503020204020204" charset="-122"/>
                <a:sym typeface="+mn-ea"/>
              </a:rPr>
              <a:t>表示输入经过每一个流程运转时可能产生异常情况，但经过纠正后仍能达到预期结果；</a:t>
            </a:r>
          </a:p>
          <a:p>
            <a:pPr lvl="1" algn="l">
              <a:lnSpc>
                <a:spcPct val="140000"/>
              </a:lnSpc>
              <a:buSzTx/>
            </a:pPr>
            <a:r>
              <a:rPr lang="zh-CN" altLang="zh-CN" sz="1800" b="1">
                <a:solidFill>
                  <a:srgbClr val="FF0000"/>
                </a:solidFill>
                <a:latin typeface="微软雅黑" panose="020B0503020204020204" charset="-122"/>
                <a:ea typeface="微软雅黑" panose="020B0503020204020204" charset="-122"/>
                <a:sym typeface="+mn-ea"/>
              </a:rPr>
              <a:t>异常流：</a:t>
            </a:r>
            <a:r>
              <a:rPr lang="zh-CN" altLang="zh-CN" sz="1800">
                <a:solidFill>
                  <a:schemeClr val="dk1"/>
                </a:solidFill>
                <a:latin typeface="微软雅黑" panose="020B0503020204020204" charset="-122"/>
                <a:ea typeface="微软雅黑" panose="020B0503020204020204" charset="-122"/>
                <a:sym typeface="+mn-ea"/>
              </a:rPr>
              <a:t>表示输入经过每一个流程运转时，产生异常终止的现象。</a:t>
            </a:r>
          </a:p>
          <a:p>
            <a:pPr lvl="1" algn="l">
              <a:lnSpc>
                <a:spcPct val="140000"/>
              </a:lnSpc>
              <a:buSzTx/>
            </a:pPr>
            <a:r>
              <a:rPr lang="zh-CN" altLang="zh-CN" sz="1800">
                <a:solidFill>
                  <a:schemeClr val="dk1"/>
                </a:solidFill>
                <a:latin typeface="微软雅黑" panose="020B0503020204020204" charset="-122"/>
                <a:ea typeface="微软雅黑" panose="020B0503020204020204" charset="-122"/>
                <a:sym typeface="+mn-ea"/>
              </a:rPr>
              <a:t>基本流和备选流，通常作为业务流程测试过程中</a:t>
            </a:r>
            <a:r>
              <a:rPr lang="zh-CN" altLang="zh-CN" sz="1800" b="1">
                <a:solidFill>
                  <a:srgbClr val="FF0000"/>
                </a:solidFill>
                <a:latin typeface="微软雅黑" panose="020B0503020204020204" charset="-122"/>
                <a:ea typeface="微软雅黑" panose="020B0503020204020204" charset="-122"/>
                <a:sym typeface="+mn-ea"/>
              </a:rPr>
              <a:t>优先级较高</a:t>
            </a:r>
            <a:r>
              <a:rPr lang="zh-CN" altLang="zh-CN" sz="1800">
                <a:solidFill>
                  <a:schemeClr val="dk1"/>
                </a:solidFill>
                <a:latin typeface="微软雅黑" panose="020B0503020204020204" charset="-122"/>
                <a:ea typeface="微软雅黑" panose="020B0503020204020204" charset="-122"/>
                <a:sym typeface="+mn-ea"/>
              </a:rPr>
              <a:t>的测试分支，应详细设计定义。异常流作为可靠性、健壮性用例亦需同步考虑。</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21</a:t>
            </a:fld>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10" r:link="rId11"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0"/>
            <a:ext cx="8001000" cy="113855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612900"/>
            <a:ext cx="8001000" cy="44069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zh-CN" altLang="en-US" sz="2550" b="1">
                <a:solidFill>
                  <a:schemeClr val="dk1"/>
                </a:solidFill>
                <a:latin typeface="微软雅黑" panose="020B0503020204020204" charset="-122"/>
                <a:ea typeface="微软雅黑" panose="020B0503020204020204" charset="-122"/>
              </a:rPr>
              <a:t>基本原理</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22</a:t>
            </a:fld>
            <a:endParaRPr lang="zh-CN" altLang="en-US"/>
          </a:p>
        </p:txBody>
      </p:sp>
      <p:graphicFrame>
        <p:nvGraphicFramePr>
          <p:cNvPr id="2" name="对象 1"/>
          <p:cNvGraphicFramePr>
            <a:graphicFrameLocks noChangeAspect="1"/>
          </p:cNvGraphicFramePr>
          <p:nvPr>
            <p:custDataLst>
              <p:tags r:id="rId6"/>
            </p:custDataLst>
          </p:nvPr>
        </p:nvGraphicFramePr>
        <p:xfrm>
          <a:off x="2512060" y="1612900"/>
          <a:ext cx="5168265" cy="4817745"/>
        </p:xfrm>
        <a:graphic>
          <a:graphicData uri="http://schemas.openxmlformats.org/presentationml/2006/ole">
            <mc:AlternateContent xmlns:mc="http://schemas.openxmlformats.org/markup-compatibility/2006">
              <mc:Choice xmlns:v="urn:schemas-microsoft-com:vml" Requires="v">
                <p:oleObj name="Visio" r:id="rId12" imgW="3310255" imgH="3032760" progId="Visio.Drawing.11">
                  <p:embed/>
                </p:oleObj>
              </mc:Choice>
              <mc:Fallback>
                <p:oleObj name="Visio" r:id="rId12" imgW="3310255" imgH="3032760" progId="Visio.Drawing.11">
                  <p:embed/>
                  <p:pic>
                    <p:nvPicPr>
                      <p:cNvPr id="0" name="Object 1"/>
                      <p:cNvPicPr>
                        <a:picLocks noChangeAspect="1" noChangeArrowheads="1"/>
                      </p:cNvPicPr>
                      <p:nvPr/>
                    </p:nvPicPr>
                    <p:blipFill>
                      <a:blip r:embed="rId13"/>
                      <a:srcRect/>
                      <a:stretch>
                        <a:fillRect/>
                      </a:stretch>
                    </p:blipFill>
                    <p:spPr bwMode="auto">
                      <a:xfrm>
                        <a:off x="2512060" y="1612900"/>
                        <a:ext cx="5168265" cy="481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597025"/>
            <a:ext cx="8001000" cy="442277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eaLnBrk="1" hangingPunct="1">
              <a:lnSpc>
                <a:spcPct val="150000"/>
              </a:lnSpc>
            </a:pPr>
            <a:r>
              <a:rPr lang="zh-CN" altLang="en-US" sz="2200" b="1">
                <a:solidFill>
                  <a:srgbClr val="FF0000"/>
                </a:solidFill>
                <a:latin typeface="微软雅黑" panose="020B0503020204020204" charset="-122"/>
                <a:ea typeface="微软雅黑" panose="020B0503020204020204" charset="-122"/>
                <a:cs typeface="微软雅黑" panose="020B0503020204020204" charset="-122"/>
              </a:rPr>
              <a:t>基本流：</a:t>
            </a:r>
            <a:r>
              <a:rPr lang="zh-CN" altLang="en-US" sz="2200">
                <a:solidFill>
                  <a:schemeClr val="dk1"/>
                </a:solidFill>
                <a:latin typeface="微软雅黑" panose="020B0503020204020204" charset="-122"/>
                <a:ea typeface="微软雅黑" panose="020B0503020204020204" charset="-122"/>
                <a:cs typeface="微软雅黑" panose="020B0503020204020204" charset="-122"/>
              </a:rPr>
              <a:t>是从系统的某个初始状态开始，经一系列状态变化后到达终止状态的过程中最主要的一个业务流程。例如：用户最常使用的功能的正确操作流程。</a:t>
            </a:r>
            <a:endParaRPr lang="en-US" altLang="zh-CN" sz="2200">
              <a:solidFill>
                <a:schemeClr val="dk1"/>
              </a:solidFill>
              <a:latin typeface="微软雅黑" panose="020B0503020204020204" charset="-122"/>
              <a:ea typeface="微软雅黑" panose="020B0503020204020204" charset="-122"/>
              <a:cs typeface="微软雅黑" panose="020B0503020204020204" charset="-122"/>
            </a:endParaRPr>
          </a:p>
          <a:p>
            <a:pPr algn="just" eaLnBrk="1" hangingPunct="1">
              <a:lnSpc>
                <a:spcPct val="150000"/>
              </a:lnSpc>
            </a:pPr>
            <a:r>
              <a:rPr lang="zh-CN" altLang="en-US" sz="2200" b="1">
                <a:solidFill>
                  <a:srgbClr val="FF0000"/>
                </a:solidFill>
                <a:latin typeface="微软雅黑" panose="020B0503020204020204" charset="-122"/>
                <a:ea typeface="微软雅黑" panose="020B0503020204020204" charset="-122"/>
                <a:cs typeface="微软雅黑" panose="020B0503020204020204" charset="-122"/>
              </a:rPr>
              <a:t>备选流：</a:t>
            </a:r>
            <a:r>
              <a:rPr lang="zh-CN" altLang="en-US" sz="2200">
                <a:solidFill>
                  <a:schemeClr val="dk1"/>
                </a:solidFill>
                <a:latin typeface="微软雅黑" panose="020B0503020204020204" charset="-122"/>
                <a:ea typeface="微软雅黑" panose="020B0503020204020204" charset="-122"/>
                <a:cs typeface="微软雅黑" panose="020B0503020204020204" charset="-122"/>
              </a:rPr>
              <a:t>是以基本流为基础，在经过基本流上每个判定节点</a:t>
            </a:r>
            <a:r>
              <a:rPr lang="en-US" altLang="en-US" sz="22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200">
                <a:solidFill>
                  <a:schemeClr val="dk1"/>
                </a:solidFill>
                <a:latin typeface="微软雅黑" panose="020B0503020204020204" charset="-122"/>
                <a:ea typeface="微软雅黑" panose="020B0503020204020204" charset="-122"/>
                <a:cs typeface="微软雅黑" panose="020B0503020204020204" charset="-122"/>
              </a:rPr>
              <a:t>包括条件判定和循环判定</a:t>
            </a:r>
            <a:r>
              <a:rPr lang="en-US" altLang="en-US" sz="22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200">
                <a:solidFill>
                  <a:schemeClr val="dk1"/>
                </a:solidFill>
                <a:latin typeface="微软雅黑" panose="020B0503020204020204" charset="-122"/>
                <a:ea typeface="微软雅黑" panose="020B0503020204020204" charset="-122"/>
                <a:cs typeface="微软雅黑" panose="020B0503020204020204" charset="-122"/>
              </a:rPr>
              <a:t>处满足不同的触发条件，而导致的其他事件流。</a:t>
            </a:r>
          </a:p>
          <a:p>
            <a:pPr algn="just" eaLnBrk="1" hangingPunct="1">
              <a:lnSpc>
                <a:spcPct val="150000"/>
              </a:lnSpc>
              <a:buSzTx/>
            </a:pPr>
            <a:r>
              <a:rPr lang="zh-CN" altLang="en-US" sz="2200">
                <a:solidFill>
                  <a:schemeClr val="dk1"/>
                </a:solidFill>
                <a:latin typeface="微软雅黑" panose="020B0503020204020204" charset="-122"/>
                <a:ea typeface="微软雅黑" panose="020B0503020204020204" charset="-122"/>
                <a:cs typeface="微软雅黑" panose="020B0503020204020204" charset="-122"/>
                <a:sym typeface="+mn-ea"/>
              </a:rPr>
              <a:t>在实际测试过程中，有些公司仅划分基本流和备选流，但流程较为复杂，如存在多级审批会签时，最好加入异常流的分析步骤。</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23</a:t>
            </a:fld>
            <a:endParaRPr lang="zh-CN" altLang="en-US"/>
          </a:p>
        </p:txBody>
      </p:sp>
    </p:spTree>
    <p:custDataLst>
      <p:tags r:id="rId1"/>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6738" y="1752600"/>
            <a:ext cx="8001000" cy="42672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zh-CN" altLang="en-US" sz="2800" b="1">
                <a:solidFill>
                  <a:schemeClr val="dk1"/>
                </a:solidFill>
                <a:latin typeface="微软雅黑" panose="020B0503020204020204" charset="-122"/>
                <a:ea typeface="微软雅黑" panose="020B0503020204020204" charset="-122"/>
              </a:rPr>
              <a:t>基本流与备选流的区别</a:t>
            </a:r>
          </a:p>
        </p:txBody>
      </p:sp>
      <p:pic>
        <p:nvPicPr>
          <p:cNvPr id="5" name="Picture 2"/>
          <p:cNvPicPr>
            <a:picLocks noChangeAspect="1" noChangeArrowheads="1"/>
          </p:cNvPicPr>
          <p:nvPr/>
        </p:nvPicPr>
        <p:blipFill>
          <a:blip r:embed="rId11">
            <a:extLst>
              <a:ext uri="{28A0092B-C50C-407E-A947-70E740481C1C}">
                <a14:useLocalDpi xmlns:a14="http://schemas.microsoft.com/office/drawing/2010/main" val="0"/>
              </a:ext>
            </a:extLst>
          </a:blip>
          <a:srcRect l="836" r="9893"/>
          <a:stretch>
            <a:fillRect/>
          </a:stretch>
        </p:blipFill>
        <p:spPr bwMode="auto">
          <a:xfrm>
            <a:off x="127000" y="2500630"/>
            <a:ext cx="8896350" cy="2017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24</a:t>
            </a:fld>
            <a:endParaRPr lang="zh-CN" altLang="en-US"/>
          </a:p>
        </p:txBody>
      </p:sp>
      <p:sp>
        <p:nvSpPr>
          <p:cNvPr id="2" name="文本框 1"/>
          <p:cNvSpPr txBox="1"/>
          <p:nvPr/>
        </p:nvSpPr>
        <p:spPr>
          <a:xfrm>
            <a:off x="718185" y="4858385"/>
            <a:ext cx="8086090" cy="1161415"/>
          </a:xfrm>
          <a:prstGeom prst="rect">
            <a:avLst/>
          </a:prstGeom>
          <a:noFill/>
        </p:spPr>
        <p:txBody>
          <a:bodyPr wrap="square" rtlCol="0">
            <a:noAutofit/>
          </a:bodyPr>
          <a:lstStyle/>
          <a:p>
            <a:pPr>
              <a:lnSpc>
                <a:spcPct val="110000"/>
              </a:lnSpc>
            </a:pPr>
            <a:r>
              <a:rPr lang="zh-CN" altLang="en-US" sz="2000" b="1"/>
              <a:t>基本流是一条从初始状态到终止状态的完整的业务流程，而备选流仅仅是业务流程中的一个执行片段，根据起始节点和终止节点的形式不同，得到的备选流的类型</a:t>
            </a:r>
            <a:r>
              <a:rPr lang="zh-CN" altLang="en-US" sz="2000" b="1">
                <a:sym typeface="+mn-ea"/>
              </a:rPr>
              <a:t>不同</a:t>
            </a:r>
            <a:r>
              <a:rPr lang="zh-CN" altLang="en-US" sz="2000" b="1"/>
              <a:t>。</a:t>
            </a:r>
          </a:p>
        </p:txBody>
      </p:sp>
    </p:spTree>
    <p:custDataLst>
      <p:tags r:id="rId1"/>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625600"/>
            <a:ext cx="8001000" cy="43942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50000"/>
              </a:lnSpc>
            </a:pPr>
            <a:r>
              <a:rPr lang="zh-CN" altLang="en-US" sz="3200" b="1">
                <a:solidFill>
                  <a:schemeClr val="dk1"/>
                </a:solidFill>
                <a:latin typeface="微软雅黑" panose="020B0503020204020204" charset="-122"/>
                <a:ea typeface="微软雅黑" panose="020B0503020204020204" charset="-122"/>
              </a:rPr>
              <a:t>测试思路</a:t>
            </a:r>
            <a:endParaRPr lang="en-US" altLang="zh-CN" sz="3200" b="1">
              <a:solidFill>
                <a:schemeClr val="dk1"/>
              </a:solidFill>
              <a:latin typeface="微软雅黑" panose="020B0503020204020204" charset="-122"/>
              <a:ea typeface="微软雅黑" panose="020B0503020204020204" charset="-122"/>
            </a:endParaRPr>
          </a:p>
          <a:p>
            <a:pPr lvl="1">
              <a:lnSpc>
                <a:spcPct val="150000"/>
              </a:lnSpc>
            </a:pPr>
            <a:r>
              <a:rPr lang="zh-CN" altLang="en-US" sz="2400">
                <a:solidFill>
                  <a:schemeClr val="dk1"/>
                </a:solidFill>
                <a:latin typeface="微软雅黑" panose="020B0503020204020204" charset="-122"/>
                <a:ea typeface="微软雅黑" panose="020B0503020204020204" charset="-122"/>
              </a:rPr>
              <a:t>分析被测业务，基于风险的思想找到基本流和所有备选流；</a:t>
            </a:r>
          </a:p>
          <a:p>
            <a:pPr lvl="1">
              <a:lnSpc>
                <a:spcPct val="150000"/>
              </a:lnSpc>
            </a:pPr>
            <a:r>
              <a:rPr lang="zh-CN" altLang="en-US" sz="2400">
                <a:solidFill>
                  <a:schemeClr val="dk1"/>
                </a:solidFill>
                <a:latin typeface="微软雅黑" panose="020B0503020204020204" charset="-122"/>
                <a:ea typeface="微软雅黑" panose="020B0503020204020204" charset="-122"/>
              </a:rPr>
              <a:t>根据基本流和备选流构造适当规模的场景；</a:t>
            </a:r>
          </a:p>
          <a:p>
            <a:pPr lvl="1">
              <a:lnSpc>
                <a:spcPct val="150000"/>
              </a:lnSpc>
            </a:pPr>
            <a:r>
              <a:rPr lang="zh-CN" altLang="en-US" sz="2400">
                <a:solidFill>
                  <a:schemeClr val="dk1"/>
                </a:solidFill>
                <a:latin typeface="微软雅黑" panose="020B0503020204020204" charset="-122"/>
                <a:ea typeface="微软雅黑" panose="020B0503020204020204" charset="-122"/>
              </a:rPr>
              <a:t>根据场景设计测试用例。</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25</a:t>
            </a:fld>
            <a:endParaRPr lang="zh-CN" altLang="en-US"/>
          </a:p>
        </p:txBody>
      </p:sp>
    </p:spTree>
    <p:custDataLst>
      <p:tags r:id="rId1"/>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452245"/>
            <a:ext cx="8001000" cy="483108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2800" b="1">
                <a:solidFill>
                  <a:schemeClr val="dk1"/>
                </a:solidFill>
                <a:latin typeface="微软雅黑" panose="020B0503020204020204" charset="-122"/>
                <a:ea typeface="微软雅黑" panose="020B0503020204020204" charset="-122"/>
                <a:cs typeface="微软雅黑" panose="020B0503020204020204" charset="-122"/>
              </a:rPr>
              <a:t>典型场景</a:t>
            </a:r>
            <a:endParaRPr lang="en-US" altLang="zh-CN" sz="2800" b="1">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lang="zh-CN" altLang="en-US" sz="2000">
                <a:solidFill>
                  <a:schemeClr val="dk1"/>
                </a:solidFill>
                <a:latin typeface="微软雅黑" panose="020B0503020204020204" charset="-122"/>
                <a:ea typeface="微软雅黑" panose="020B0503020204020204" charset="-122"/>
                <a:cs typeface="微软雅黑" panose="020B0503020204020204" charset="-122"/>
              </a:rPr>
              <a:t>场景</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：基本流；</a:t>
            </a:r>
          </a:p>
          <a:p>
            <a:pPr lvl="1">
              <a:lnSpc>
                <a:spcPct val="130000"/>
              </a:lnSpc>
            </a:pPr>
            <a:r>
              <a:rPr lang="zh-CN" altLang="en-US" sz="2000">
                <a:solidFill>
                  <a:schemeClr val="dk1"/>
                </a:solidFill>
                <a:latin typeface="微软雅黑" panose="020B0503020204020204" charset="-122"/>
                <a:ea typeface="微软雅黑" panose="020B0503020204020204" charset="-122"/>
                <a:cs typeface="微软雅黑" panose="020B0503020204020204" charset="-122"/>
              </a:rPr>
              <a:t>场景</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：基本流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a:t>
            </a:r>
          </a:p>
          <a:p>
            <a:pPr lvl="1">
              <a:lnSpc>
                <a:spcPct val="130000"/>
              </a:lnSpc>
            </a:pPr>
            <a:r>
              <a:rPr lang="zh-CN" altLang="en-US" sz="2000">
                <a:solidFill>
                  <a:schemeClr val="dk1"/>
                </a:solidFill>
                <a:latin typeface="微软雅黑" panose="020B0503020204020204" charset="-122"/>
                <a:ea typeface="微软雅黑" panose="020B0503020204020204" charset="-122"/>
                <a:cs typeface="微软雅黑" panose="020B0503020204020204" charset="-122"/>
              </a:rPr>
              <a:t>场景</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：基本流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a:t>
            </a:r>
          </a:p>
          <a:p>
            <a:pPr lvl="1">
              <a:lnSpc>
                <a:spcPct val="130000"/>
              </a:lnSpc>
            </a:pPr>
            <a:r>
              <a:rPr lang="zh-CN" altLang="en-US" sz="2000">
                <a:solidFill>
                  <a:schemeClr val="dk1"/>
                </a:solidFill>
                <a:latin typeface="微软雅黑" panose="020B0503020204020204" charset="-122"/>
                <a:ea typeface="微软雅黑" panose="020B0503020204020204" charset="-122"/>
                <a:cs typeface="微软雅黑" panose="020B0503020204020204" charset="-122"/>
              </a:rPr>
              <a:t>场景</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：基本流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a:t>
            </a:r>
          </a:p>
          <a:p>
            <a:pPr lvl="1">
              <a:lnSpc>
                <a:spcPct val="130000"/>
              </a:lnSpc>
            </a:pPr>
            <a:r>
              <a:rPr lang="zh-CN" altLang="en-US" sz="2000">
                <a:solidFill>
                  <a:schemeClr val="dk1"/>
                </a:solidFill>
                <a:latin typeface="微软雅黑" panose="020B0503020204020204" charset="-122"/>
                <a:ea typeface="微软雅黑" panose="020B0503020204020204" charset="-122"/>
                <a:cs typeface="微软雅黑" panose="020B0503020204020204" charset="-122"/>
              </a:rPr>
              <a:t>场景</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：基本流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备选流</a:t>
            </a:r>
            <a:r>
              <a:rPr lang="en-US" altLang="en-US" sz="200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00">
                <a:solidFill>
                  <a:schemeClr val="dk1"/>
                </a:solidFill>
                <a:latin typeface="微软雅黑" panose="020B0503020204020204" charset="-122"/>
                <a:ea typeface="微软雅黑" panose="020B0503020204020204" charset="-122"/>
                <a:cs typeface="微软雅黑" panose="020B0503020204020204" charset="-122"/>
              </a:rPr>
              <a:t>；</a:t>
            </a:r>
          </a:p>
          <a:p>
            <a:pPr lvl="1">
              <a:lnSpc>
                <a:spcPct val="130000"/>
              </a:lnSpc>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场景</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6</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：基本流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p>
          <a:p>
            <a:pPr lvl="1">
              <a:lnSpc>
                <a:spcPct val="130000"/>
              </a:lnSpc>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场景</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7</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：基本流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场景</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：基本流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3</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场景</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9</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：基本流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备选流</a:t>
            </a:r>
            <a:r>
              <a:rPr lang="en-US"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4</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26</a:t>
            </a:fld>
            <a:endParaRPr lang="zh-CN" altLang="en-US"/>
          </a:p>
        </p:txBody>
      </p:sp>
      <p:pic>
        <p:nvPicPr>
          <p:cNvPr id="2" name="Picture 6" descr="3t11"/>
          <p:cNvPicPr>
            <a:picLocks noChangeAspect="1" noChangeArrowheads="1"/>
          </p:cNvPicPr>
          <p:nvPr/>
        </p:nvPicPr>
        <p:blipFill>
          <a:blip r:embed="rId11"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5737225" y="304800"/>
            <a:ext cx="3325495" cy="366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447165"/>
            <a:ext cx="8001000" cy="457263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eaLnBrk="1" hangingPunct="1">
              <a:lnSpc>
                <a:spcPct val="150000"/>
              </a:lnSpc>
            </a:pPr>
            <a:r>
              <a:rPr lang="zh-CN" altLang="en-US" sz="3200" b="1">
                <a:solidFill>
                  <a:schemeClr val="dk1"/>
                </a:solidFill>
                <a:latin typeface="微软雅黑" panose="020B0503020204020204" charset="-122"/>
                <a:ea typeface="微软雅黑" panose="020B0503020204020204" charset="-122"/>
              </a:rPr>
              <a:t>场景设计的基本原则</a:t>
            </a:r>
            <a:endParaRPr lang="en-US" altLang="zh-CN" sz="3200" b="1">
              <a:solidFill>
                <a:schemeClr val="dk1"/>
              </a:solidFill>
              <a:latin typeface="微软雅黑" panose="020B0503020204020204" charset="-122"/>
              <a:ea typeface="微软雅黑" panose="020B0503020204020204" charset="-122"/>
            </a:endParaRPr>
          </a:p>
          <a:p>
            <a:pPr lvl="1" algn="just" eaLnBrk="1" hangingPunct="1">
              <a:lnSpc>
                <a:spcPct val="150000"/>
              </a:lnSpc>
            </a:pPr>
            <a:r>
              <a:rPr lang="zh-CN" altLang="en-US" sz="2200">
                <a:solidFill>
                  <a:schemeClr val="dk1"/>
                </a:solidFill>
                <a:latin typeface="微软雅黑" panose="020B0503020204020204" charset="-122"/>
                <a:ea typeface="微软雅黑" panose="020B0503020204020204" charset="-122"/>
              </a:rPr>
              <a:t>最少的场景数等于事件流的总数，即基本流与备选流的总数；</a:t>
            </a:r>
            <a:endParaRPr lang="en-US" altLang="zh-CN" sz="2200">
              <a:solidFill>
                <a:schemeClr val="dk1"/>
              </a:solidFill>
              <a:latin typeface="微软雅黑" panose="020B0503020204020204" charset="-122"/>
              <a:ea typeface="微软雅黑" panose="020B0503020204020204" charset="-122"/>
            </a:endParaRPr>
          </a:p>
          <a:p>
            <a:pPr lvl="1" algn="just" eaLnBrk="1" hangingPunct="1">
              <a:lnSpc>
                <a:spcPct val="150000"/>
              </a:lnSpc>
            </a:pPr>
            <a:r>
              <a:rPr lang="zh-CN" altLang="en-US" sz="2200">
                <a:solidFill>
                  <a:schemeClr val="dk1"/>
                </a:solidFill>
                <a:latin typeface="微软雅黑" panose="020B0503020204020204" charset="-122"/>
                <a:ea typeface="微软雅黑" panose="020B0503020204020204" charset="-122"/>
              </a:rPr>
              <a:t>有且唯一有一个场景仅包含基本流；</a:t>
            </a:r>
            <a:endParaRPr lang="en-US" altLang="zh-CN" sz="2200">
              <a:solidFill>
                <a:schemeClr val="dk1"/>
              </a:solidFill>
              <a:latin typeface="微软雅黑" panose="020B0503020204020204" charset="-122"/>
              <a:ea typeface="微软雅黑" panose="020B0503020204020204" charset="-122"/>
            </a:endParaRPr>
          </a:p>
          <a:p>
            <a:pPr lvl="1" algn="just" eaLnBrk="1" hangingPunct="1">
              <a:lnSpc>
                <a:spcPct val="150000"/>
              </a:lnSpc>
            </a:pPr>
            <a:r>
              <a:rPr lang="zh-CN" altLang="en-US" sz="2200">
                <a:solidFill>
                  <a:schemeClr val="dk1"/>
                </a:solidFill>
                <a:latin typeface="微软雅黑" panose="020B0503020204020204" charset="-122"/>
                <a:ea typeface="微软雅黑" panose="020B0503020204020204" charset="-122"/>
              </a:rPr>
              <a:t>对应某个备选流，至少应有一个场景覆盖该备选流，且在该场景中应尽量避免覆盖其他的备选流；</a:t>
            </a:r>
          </a:p>
          <a:p>
            <a:pPr lvl="1" algn="just" eaLnBrk="1" hangingPunct="1">
              <a:lnSpc>
                <a:spcPct val="150000"/>
              </a:lnSpc>
              <a:buSzTx/>
            </a:pPr>
            <a:r>
              <a:rPr lang="zh-CN" altLang="en-US" sz="2200">
                <a:solidFill>
                  <a:schemeClr val="dk1"/>
                </a:solidFill>
                <a:latin typeface="微软雅黑" panose="020B0503020204020204" charset="-122"/>
                <a:ea typeface="微软雅黑" panose="020B0503020204020204" charset="-122"/>
                <a:sym typeface="+mn-ea"/>
              </a:rPr>
              <a:t>重复的节点不可作为新的场景，每个场景应包含从未包含的节点。</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27</a:t>
            </a:fld>
            <a:endParaRPr lang="zh-CN" altLang="en-US"/>
          </a:p>
        </p:txBody>
      </p:sp>
    </p:spTree>
    <p:custDataLst>
      <p:tags r:id="rId1"/>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540385" y="1460500"/>
            <a:ext cx="8118475" cy="465582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en-US" altLang="zh-CN" sz="3200" b="1">
                <a:solidFill>
                  <a:schemeClr val="dk1"/>
                </a:solidFill>
                <a:latin typeface="微软雅黑" panose="020B0503020204020204" charset="-122"/>
                <a:ea typeface="微软雅黑" panose="020B0503020204020204" charset="-122"/>
              </a:rPr>
              <a:t> </a:t>
            </a:r>
            <a:r>
              <a:rPr lang="zh-CN" altLang="en-US" sz="3200" b="1">
                <a:solidFill>
                  <a:schemeClr val="dk1"/>
                </a:solidFill>
                <a:latin typeface="微软雅黑" panose="020B0503020204020204" charset="-122"/>
                <a:ea typeface="微软雅黑" panose="020B0503020204020204" charset="-122"/>
              </a:rPr>
              <a:t>测试步骤</a:t>
            </a:r>
            <a:endParaRPr lang="en-US" altLang="zh-CN" sz="3200" b="1">
              <a:solidFill>
                <a:schemeClr val="dk1"/>
              </a:solidFill>
              <a:latin typeface="微软雅黑" panose="020B0503020204020204" charset="-122"/>
              <a:ea typeface="微软雅黑" panose="020B0503020204020204" charset="-122"/>
            </a:endParaRPr>
          </a:p>
          <a:p>
            <a:pPr lvl="1" eaLnBrk="1" hangingPunct="1">
              <a:lnSpc>
                <a:spcPct val="130000"/>
              </a:lnSpc>
            </a:pPr>
            <a:r>
              <a:rPr lang="zh-CN" altLang="en-US" sz="2400">
                <a:solidFill>
                  <a:schemeClr val="dk1"/>
                </a:solidFill>
                <a:latin typeface="微软雅黑" panose="020B0503020204020204" charset="-122"/>
                <a:ea typeface="微软雅黑" panose="020B0503020204020204" charset="-122"/>
              </a:rPr>
              <a:t>基本流和备选流的设置；</a:t>
            </a:r>
            <a:endParaRPr lang="en-US" altLang="zh-CN" sz="2400">
              <a:solidFill>
                <a:schemeClr val="dk1"/>
              </a:solidFill>
              <a:latin typeface="微软雅黑" panose="020B0503020204020204" charset="-122"/>
              <a:ea typeface="微软雅黑" panose="020B0503020204020204" charset="-122"/>
            </a:endParaRPr>
          </a:p>
          <a:p>
            <a:pPr lvl="1" eaLnBrk="1" hangingPunct="1">
              <a:lnSpc>
                <a:spcPct val="130000"/>
              </a:lnSpc>
            </a:pPr>
            <a:r>
              <a:rPr lang="zh-CN" altLang="en-US" sz="2400">
                <a:solidFill>
                  <a:schemeClr val="dk1"/>
                </a:solidFill>
                <a:latin typeface="微软雅黑" panose="020B0503020204020204" charset="-122"/>
                <a:ea typeface="微软雅黑" panose="020B0503020204020204" charset="-122"/>
              </a:rPr>
              <a:t>场景的构建；</a:t>
            </a:r>
            <a:endParaRPr lang="en-US" altLang="zh-CN" sz="2400">
              <a:solidFill>
                <a:schemeClr val="dk1"/>
              </a:solidFill>
              <a:latin typeface="微软雅黑" panose="020B0503020204020204" charset="-122"/>
              <a:ea typeface="微软雅黑" panose="020B0503020204020204" charset="-122"/>
            </a:endParaRPr>
          </a:p>
          <a:p>
            <a:pPr lvl="1" eaLnBrk="1" hangingPunct="1">
              <a:lnSpc>
                <a:spcPct val="130000"/>
              </a:lnSpc>
            </a:pPr>
            <a:r>
              <a:rPr lang="zh-CN" altLang="en-US" sz="2400">
                <a:solidFill>
                  <a:schemeClr val="dk1"/>
                </a:solidFill>
                <a:latin typeface="微软雅黑" panose="020B0503020204020204" charset="-122"/>
                <a:ea typeface="微软雅黑" panose="020B0503020204020204" charset="-122"/>
              </a:rPr>
              <a:t>测试用例的设计</a:t>
            </a:r>
            <a:r>
              <a:rPr lang="zh-CN" altLang="en-US" sz="2400">
                <a:solidFill>
                  <a:schemeClr val="dk1"/>
                </a:solidFill>
                <a:latin typeface="微软雅黑" panose="020B0503020204020204" charset="-122"/>
                <a:ea typeface="微软雅黑" panose="020B0503020204020204" charset="-122"/>
                <a:sym typeface="+mn-ea"/>
              </a:rPr>
              <a:t>：</a:t>
            </a:r>
            <a:r>
              <a:rPr lang="zh-CN" altLang="en-US" sz="2400" b="1">
                <a:solidFill>
                  <a:srgbClr val="FF0000"/>
                </a:solidFill>
                <a:latin typeface="微软雅黑" panose="020B0503020204020204" charset="-122"/>
                <a:ea typeface="微软雅黑" panose="020B0503020204020204" charset="-122"/>
                <a:sym typeface="+mn-ea"/>
              </a:rPr>
              <a:t>一个测试用例唯一对应一个场景；</a:t>
            </a:r>
            <a:endParaRPr lang="zh-CN" altLang="en-US" sz="2400">
              <a:solidFill>
                <a:schemeClr val="dk1"/>
              </a:solidFill>
              <a:latin typeface="微软雅黑" panose="020B0503020204020204" charset="-122"/>
              <a:ea typeface="微软雅黑" panose="020B0503020204020204" charset="-122"/>
            </a:endParaRPr>
          </a:p>
          <a:p>
            <a:pPr lvl="1" eaLnBrk="1" hangingPunct="1">
              <a:lnSpc>
                <a:spcPct val="130000"/>
              </a:lnSpc>
            </a:pPr>
            <a:r>
              <a:rPr sz="2400">
                <a:latin typeface="微软雅黑" panose="020B0503020204020204" charset="-122"/>
                <a:sym typeface="+mn-ea"/>
              </a:rPr>
              <a:t>重新审核设计的测试用例，去掉多余的测试用例</a:t>
            </a:r>
            <a:r>
              <a:rPr lang="zh-CN" sz="2400">
                <a:latin typeface="微软雅黑" panose="020B0503020204020204" charset="-122"/>
                <a:sym typeface="+mn-ea"/>
              </a:rPr>
              <a:t>，</a:t>
            </a:r>
            <a:r>
              <a:rPr lang="zh-CN" altLang="en-US" sz="2400">
                <a:solidFill>
                  <a:schemeClr val="dk1"/>
                </a:solidFill>
                <a:latin typeface="微软雅黑" panose="020B0503020204020204" charset="-122"/>
                <a:ea typeface="微软雅黑" panose="020B0503020204020204" charset="-122"/>
                <a:sym typeface="+mn-ea"/>
              </a:rPr>
              <a:t>对每个测试用例补充测试数据；</a:t>
            </a:r>
            <a:endParaRPr sz="2400">
              <a:latin typeface="微软雅黑" panose="020B0503020204020204" charset="-122"/>
              <a:sym typeface="+mn-ea"/>
            </a:endParaRPr>
          </a:p>
          <a:p>
            <a:pPr lvl="1" eaLnBrk="1" hangingPunct="1">
              <a:lnSpc>
                <a:spcPct val="130000"/>
              </a:lnSpc>
            </a:pPr>
            <a:r>
              <a:rPr sz="2400">
                <a:latin typeface="微软雅黑" panose="020B0503020204020204" charset="-122"/>
                <a:sym typeface="+mn-ea"/>
              </a:rPr>
              <a:t>确定测试用例后，针对最终确定的测试用例设计测试数据</a:t>
            </a:r>
            <a:r>
              <a:rPr lang="zh-CN" altLang="en-US" sz="2400">
                <a:solidFill>
                  <a:schemeClr val="dk1"/>
                </a:solidFill>
                <a:latin typeface="微软雅黑" panose="020B0503020204020204" charset="-122"/>
                <a:ea typeface="微软雅黑" panose="020B0503020204020204" charset="-122"/>
                <a:sym typeface="+mn-ea"/>
              </a:rPr>
              <a:t>并实施测试。</a:t>
            </a:r>
            <a:endParaRPr lang="zh-CN" altLang="en-US" sz="2400">
              <a:solidFill>
                <a:schemeClr val="dk1"/>
              </a:solidFill>
              <a:latin typeface="微软雅黑" panose="020B0503020204020204" charset="-122"/>
              <a:ea typeface="微软雅黑" panose="020B0503020204020204" charset="-122"/>
            </a:endParaRP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28</a:t>
            </a:fld>
            <a:endParaRPr lang="zh-CN" altLang="en-US"/>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基于场景的测试（难点）</a:t>
            </a:r>
          </a:p>
        </p:txBody>
      </p:sp>
      <p:sp>
        <p:nvSpPr>
          <p:cNvPr id="4" name="Rectangle 3"/>
          <p:cNvSpPr>
            <a:spLocks noGrp="1" noChangeArrowheads="1"/>
          </p:cNvSpPr>
          <p:nvPr>
            <p:custDataLst>
              <p:tags r:id="rId5"/>
            </p:custDataLst>
          </p:nvPr>
        </p:nvSpPr>
        <p:spPr>
          <a:xfrm>
            <a:off x="501650" y="1986915"/>
            <a:ext cx="8140700" cy="403288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50000"/>
              </a:lnSpc>
            </a:pPr>
            <a:r>
              <a:rPr lang="zh-CN" altLang="en-US" sz="2400">
                <a:solidFill>
                  <a:schemeClr val="dk1"/>
                </a:solidFill>
                <a:latin typeface="微软雅黑" panose="020B0503020204020204" charset="-122"/>
                <a:ea typeface="微软雅黑" panose="020B0503020204020204" charset="-122"/>
              </a:rPr>
              <a:t>如何根据需测试的业务来构建基本流和备选流；</a:t>
            </a:r>
            <a:endParaRPr lang="en-US" altLang="zh-CN" sz="2400">
              <a:solidFill>
                <a:schemeClr val="dk1"/>
              </a:solidFill>
              <a:latin typeface="微软雅黑" panose="020B0503020204020204" charset="-122"/>
              <a:ea typeface="微软雅黑" panose="020B0503020204020204" charset="-122"/>
            </a:endParaRPr>
          </a:p>
          <a:p>
            <a:pPr>
              <a:lnSpc>
                <a:spcPct val="150000"/>
              </a:lnSpc>
            </a:pPr>
            <a:r>
              <a:rPr lang="zh-CN" altLang="en-US" sz="2400">
                <a:solidFill>
                  <a:schemeClr val="dk1"/>
                </a:solidFill>
                <a:latin typeface="微软雅黑" panose="020B0503020204020204" charset="-122"/>
                <a:ea typeface="微软雅黑" panose="020B0503020204020204" charset="-122"/>
              </a:rPr>
              <a:t>如何基于这些事件流构建场景，以满足测试完备和无冗余的要求；</a:t>
            </a:r>
          </a:p>
          <a:p>
            <a:pPr>
              <a:lnSpc>
                <a:spcPct val="150000"/>
              </a:lnSpc>
            </a:pPr>
            <a:r>
              <a:rPr lang="zh-CN" altLang="en-US" sz="2400">
                <a:solidFill>
                  <a:schemeClr val="dk1"/>
                </a:solidFill>
                <a:latin typeface="微软雅黑" panose="020B0503020204020204" charset="-122"/>
                <a:ea typeface="微软雅黑" panose="020B0503020204020204" charset="-122"/>
              </a:rPr>
              <a:t>如何根据场景设计测试用例。</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29</a:t>
            </a:fld>
            <a:endParaRPr lang="zh-CN" altLang="en-US"/>
          </a:p>
        </p:txBody>
      </p:sp>
    </p:spTree>
    <p:custDataLst>
      <p:tags r:id="rId1"/>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1500" y="486410"/>
            <a:ext cx="8001000" cy="962660"/>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just"/>
            <a:r>
              <a:rPr lang="zh-CN" altLang="zh-CN" b="1">
                <a:solidFill>
                  <a:schemeClr val="dk1"/>
                </a:solidFill>
                <a:latin typeface="微软雅黑" panose="020B0503020204020204" charset="-122"/>
                <a:ea typeface="微软雅黑" panose="020B0503020204020204" charset="-122"/>
                <a:cs typeface="微软雅黑" panose="020B0503020204020204" charset="-122"/>
                <a:sym typeface="+mn-ea"/>
              </a:rPr>
              <a:t>基于场景的测试</a:t>
            </a:r>
            <a:endParaRPr lang="zh-CN" altLang="en-US" b="1" i="0" dirty="0">
              <a:solidFill>
                <a:srgbClr val="000000"/>
              </a:solidFill>
              <a:effectLst/>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4"/>
            </p:custDataLst>
          </p:nvPr>
        </p:nvSpPr>
        <p:spPr>
          <a:xfrm>
            <a:off x="359410" y="1659255"/>
            <a:ext cx="8552180" cy="429387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40000"/>
              </a:lnSpc>
            </a:pP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如何使用用户行为分析法进行用例设计呢？</a:t>
            </a:r>
          </a:p>
          <a:p>
            <a:pPr>
              <a:lnSpc>
                <a:spcPct val="140000"/>
              </a:lnSpc>
            </a:pP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常见的用户行为包括以下</a:t>
            </a:r>
            <a:r>
              <a:rPr lang="en-US" altLang="zh-CN" sz="28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个部分：</a:t>
            </a:r>
          </a:p>
          <a:p>
            <a:pPr marL="457200" lvl="1" indent="0">
              <a:lnSpc>
                <a:spcPct val="140000"/>
              </a:lnSpc>
              <a:buNone/>
            </a:pP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用户将使用该功能进行正常操作；</a:t>
            </a:r>
          </a:p>
          <a:p>
            <a:pPr marL="457200" lvl="1" indent="0">
              <a:lnSpc>
                <a:spcPct val="140000"/>
              </a:lnSpc>
              <a:buNone/>
            </a:pP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用户使用该功能进行非法操作；</a:t>
            </a:r>
          </a:p>
          <a:p>
            <a:pPr marL="457200" lvl="1" indent="0">
              <a:lnSpc>
                <a:spcPct val="140000"/>
              </a:lnSpc>
              <a:buNone/>
            </a:pP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用户不仅关心功能的正确实现，还关心用户体验；</a:t>
            </a:r>
          </a:p>
          <a:p>
            <a:pPr marL="457200" lvl="1" indent="0">
              <a:lnSpc>
                <a:spcPct val="140000"/>
              </a:lnSpc>
              <a:buNone/>
            </a:pP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某些特殊情况下的用户行为，如环境异常，用户并发等。</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30</a:t>
            </a:fld>
            <a:endParaRPr lang="zh-CN" altLang="en-US"/>
          </a:p>
        </p:txBody>
      </p:sp>
    </p:spTree>
    <p:custDataLst>
      <p:tags r:id="rId1"/>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altLang="zh-CN" sz="3600">
                <a:solidFill>
                  <a:schemeClr val="dk1"/>
                </a:solidFill>
                <a:latin typeface="微软雅黑" panose="020B0503020204020204" charset="-122"/>
                <a:cs typeface="微软雅黑" panose="020B0503020204020204" charset="-122"/>
                <a:sym typeface="+mn-ea"/>
              </a:rPr>
              <a:t>基于场景的测试</a:t>
            </a:r>
            <a:endParaRPr lang="zh-CN" altLang="zh-CN" sz="3600">
              <a:solidFill>
                <a:schemeClr val="dk1"/>
              </a:solidFill>
              <a:latin typeface="微软雅黑" panose="020B0503020204020204" charset="-122"/>
              <a:cs typeface="微软雅黑" panose="020B0503020204020204" charset="-122"/>
              <a:sym typeface="+mn-ea"/>
            </a:endParaRPr>
          </a:p>
        </p:txBody>
      </p:sp>
      <p:sp>
        <p:nvSpPr>
          <p:cNvPr id="5" name="内容占位符 4"/>
          <p:cNvSpPr>
            <a:spLocks noGrp="1"/>
          </p:cNvSpPr>
          <p:nvPr>
            <p:ph idx="1"/>
          </p:nvPr>
        </p:nvSpPr>
        <p:spPr>
          <a:xfrm>
            <a:off x="502285" y="1668780"/>
            <a:ext cx="8139430" cy="3999230"/>
          </a:xfrm>
        </p:spPr>
        <p:txBody>
          <a:bodyPr>
            <a:normAutofit/>
          </a:bodyPr>
          <a:lstStyle/>
          <a:p>
            <a:pPr marL="469900" indent="-469900" algn="just" eaLnBrk="0" fontAlgn="base" hangingPunct="0">
              <a:lnSpc>
                <a:spcPct val="140000"/>
              </a:lnSpc>
              <a:spcBef>
                <a:spcPct val="20000"/>
              </a:spcBef>
              <a:buClr>
                <a:schemeClr val="accent2"/>
              </a:buClr>
              <a:buSzTx/>
              <a:buFont typeface="Wingdings" panose="05000000000000000000" pitchFamily="2" charset="2"/>
              <a:buChar char="o"/>
            </a:pPr>
            <a:r>
              <a:rPr sz="3200" b="1" spc="0" dirty="0">
                <a:solidFill>
                  <a:schemeClr val="dk1"/>
                </a:solidFill>
                <a:latin typeface="微软雅黑" panose="020B0503020204020204" charset="-122"/>
                <a:cs typeface="微软雅黑" panose="020B0503020204020204" charset="-122"/>
                <a:sym typeface="+mn-ea"/>
              </a:rPr>
              <a:t>注意：</a:t>
            </a:r>
          </a:p>
          <a:p>
            <a:pPr marL="927100" lvl="1" indent="-469900" algn="just" eaLnBrk="0" fontAlgn="base" hangingPunct="0">
              <a:lnSpc>
                <a:spcPct val="140000"/>
              </a:lnSpc>
              <a:spcBef>
                <a:spcPct val="20000"/>
              </a:spcBef>
              <a:buClr>
                <a:schemeClr val="accent2"/>
              </a:buClr>
              <a:buSzTx/>
              <a:buFont typeface="Wingdings" panose="05000000000000000000" pitchFamily="2" charset="2"/>
              <a:buChar char="o"/>
            </a:pPr>
            <a:r>
              <a:rPr sz="2400" spc="0" dirty="0">
                <a:solidFill>
                  <a:schemeClr val="dk1"/>
                </a:solidFill>
                <a:latin typeface="微软雅黑" panose="020B0503020204020204" charset="-122"/>
                <a:cs typeface="微软雅黑" panose="020B0503020204020204" charset="-122"/>
                <a:sym typeface="+mn-ea"/>
              </a:rPr>
              <a:t>运用场景设计法设计用例时，首先需清楚被测对象的需求规格说明，根据需求流程描述，抽取业务流程，绘制场景流程图。</a:t>
            </a:r>
          </a:p>
          <a:p>
            <a:pPr marL="927100" lvl="1" indent="-469900" algn="just" eaLnBrk="0" fontAlgn="base" hangingPunct="0">
              <a:lnSpc>
                <a:spcPct val="140000"/>
              </a:lnSpc>
              <a:spcBef>
                <a:spcPct val="20000"/>
              </a:spcBef>
              <a:buClr>
                <a:schemeClr val="accent2"/>
              </a:buClr>
              <a:buSzTx/>
              <a:buFont typeface="Wingdings" panose="05000000000000000000" pitchFamily="2" charset="2"/>
              <a:buChar char="o"/>
            </a:pPr>
            <a:r>
              <a:rPr sz="2400" spc="0" dirty="0">
                <a:solidFill>
                  <a:schemeClr val="dk1"/>
                </a:solidFill>
                <a:latin typeface="微软雅黑" panose="020B0503020204020204" charset="-122"/>
                <a:cs typeface="微软雅黑" panose="020B0503020204020204" charset="-122"/>
                <a:sym typeface="+mn-ea"/>
              </a:rPr>
              <a:t>最终根据每个节点的需求，利用等价类及边界值方法细化路径，抽取测试用例。</a:t>
            </a:r>
            <a:endParaRPr lang="zh-CN" sz="2400" spc="0" dirty="0">
              <a:solidFill>
                <a:schemeClr val="dk1"/>
              </a:solidFill>
              <a:latin typeface="微软雅黑" panose="020B0503020204020204" charset="-122"/>
              <a:cs typeface="微软雅黑" panose="020B0503020204020204" charset="-122"/>
            </a:endParaRPr>
          </a:p>
          <a:p>
            <a:pPr marL="469900" indent="-469900" algn="just" eaLnBrk="0" fontAlgn="base" hangingPunct="0">
              <a:lnSpc>
                <a:spcPct val="140000"/>
              </a:lnSpc>
              <a:spcBef>
                <a:spcPct val="20000"/>
              </a:spcBef>
              <a:buClr>
                <a:schemeClr val="accent2"/>
              </a:buClr>
              <a:buSzTx/>
              <a:buFont typeface="Wingdings" panose="05000000000000000000" pitchFamily="2" charset="2"/>
              <a:buChar char="o"/>
            </a:pPr>
            <a:endParaRPr lang="zh-CN" altLang="en-US" sz="2400" spc="0" dirty="0">
              <a:solidFill>
                <a:schemeClr val="dk1"/>
              </a:solidFill>
              <a:latin typeface="微软雅黑" panose="020B0503020204020204" charset="-122"/>
              <a:cs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566738" y="1752600"/>
            <a:ext cx="8001000" cy="42672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捉虫实践</a:t>
            </a:r>
            <a:r>
              <a:rPr lang="en-US" altLang="zh-CN" sz="3200" b="1">
                <a:solidFill>
                  <a:schemeClr val="tx1"/>
                </a:solidFill>
                <a:latin typeface="微软雅黑" panose="020B0503020204020204" charset="-122"/>
                <a:ea typeface="微软雅黑" panose="020B0503020204020204" charset="-122"/>
                <a:cs typeface="微软雅黑" panose="020B0503020204020204" charset="-122"/>
              </a:rPr>
              <a:t>7</a:t>
            </a: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：自动柜员机问题</a:t>
            </a:r>
            <a:endParaRPr lang="zh-CN" altLang="en-US" sz="2850" b="1">
              <a:solidFill>
                <a:schemeClr val="tx1"/>
              </a:solidFill>
              <a:latin typeface="微软雅黑" panose="020B0503020204020204" charset="-122"/>
              <a:ea typeface="微软雅黑" panose="020B0503020204020204" charset="-122"/>
              <a:cs typeface="微软雅黑" panose="020B0503020204020204" charset="-122"/>
            </a:endParaRPr>
          </a:p>
          <a:p>
            <a:pPr lvl="1" eaLnBrk="1" hangingPunct="1">
              <a:lnSpc>
                <a:spcPct val="130000"/>
              </a:lnSpc>
            </a:pPr>
            <a:r>
              <a:rPr lang="zh-CN" altLang="en-US" sz="2550">
                <a:solidFill>
                  <a:schemeClr val="tx1"/>
                </a:solidFill>
                <a:latin typeface="微软雅黑" panose="020B0503020204020204" charset="-122"/>
                <a:ea typeface="微软雅黑" panose="020B0503020204020204" charset="-122"/>
                <a:cs typeface="微软雅黑" panose="020B0503020204020204" charset="-122"/>
              </a:rPr>
              <a:t>问题简述</a:t>
            </a:r>
            <a:endParaRPr lang="en-US" altLang="zh-CN" sz="2550">
              <a:solidFill>
                <a:schemeClr val="tx1"/>
              </a:solidFill>
              <a:latin typeface="微软雅黑" panose="020B0503020204020204" charset="-122"/>
              <a:ea typeface="微软雅黑" panose="020B0503020204020204" charset="-122"/>
              <a:cs typeface="微软雅黑" panose="020B0503020204020204" charset="-122"/>
            </a:endParaRPr>
          </a:p>
          <a:p>
            <a:pPr lvl="1" eaLnBrk="1" hangingPunct="1">
              <a:lnSpc>
                <a:spcPct val="130000"/>
              </a:lnSpc>
            </a:pPr>
            <a:r>
              <a:rPr lang="zh-CN" altLang="en-US" sz="2550">
                <a:solidFill>
                  <a:schemeClr val="tx1"/>
                </a:solidFill>
                <a:latin typeface="微软雅黑" panose="020B0503020204020204" charset="-122"/>
                <a:ea typeface="微软雅黑" panose="020B0503020204020204" charset="-122"/>
                <a:cs typeface="微软雅黑" panose="020B0503020204020204" charset="-122"/>
              </a:rPr>
              <a:t>事件流的构造</a:t>
            </a:r>
            <a:endParaRPr lang="en-US" altLang="zh-CN" sz="2550">
              <a:solidFill>
                <a:schemeClr val="tx1"/>
              </a:solidFill>
              <a:latin typeface="微软雅黑" panose="020B0503020204020204" charset="-122"/>
              <a:ea typeface="微软雅黑" panose="020B0503020204020204" charset="-122"/>
              <a:cs typeface="微软雅黑" panose="020B0503020204020204" charset="-122"/>
            </a:endParaRPr>
          </a:p>
          <a:p>
            <a:pPr lvl="1" eaLnBrk="1" hangingPunct="1">
              <a:lnSpc>
                <a:spcPct val="130000"/>
              </a:lnSpc>
            </a:pPr>
            <a:r>
              <a:rPr lang="zh-CN" altLang="en-US" sz="2550">
                <a:solidFill>
                  <a:schemeClr val="tx1"/>
                </a:solidFill>
                <a:latin typeface="微软雅黑" panose="020B0503020204020204" charset="-122"/>
                <a:ea typeface="微软雅黑" panose="020B0503020204020204" charset="-122"/>
                <a:cs typeface="微软雅黑" panose="020B0503020204020204" charset="-122"/>
              </a:rPr>
              <a:t>场景的设计</a:t>
            </a:r>
            <a:endParaRPr lang="en-US" altLang="zh-CN" sz="2550">
              <a:solidFill>
                <a:schemeClr val="tx1"/>
              </a:solidFill>
              <a:latin typeface="微软雅黑" panose="020B0503020204020204" charset="-122"/>
              <a:ea typeface="微软雅黑" panose="020B0503020204020204" charset="-122"/>
              <a:cs typeface="微软雅黑" panose="020B0503020204020204" charset="-122"/>
            </a:endParaRPr>
          </a:p>
          <a:p>
            <a:pPr lvl="1" eaLnBrk="1" hangingPunct="1">
              <a:lnSpc>
                <a:spcPct val="130000"/>
              </a:lnSpc>
            </a:pPr>
            <a:r>
              <a:rPr lang="zh-CN" altLang="en-US" sz="2550">
                <a:solidFill>
                  <a:schemeClr val="tx1"/>
                </a:solidFill>
                <a:latin typeface="微软雅黑" panose="020B0503020204020204" charset="-122"/>
                <a:ea typeface="微软雅黑" panose="020B0503020204020204" charset="-122"/>
                <a:cs typeface="微软雅黑" panose="020B0503020204020204" charset="-122"/>
              </a:rPr>
              <a:t>测试用例的设计</a:t>
            </a:r>
            <a:endParaRPr lang="en-US" altLang="zh-CN" sz="2550">
              <a:solidFill>
                <a:schemeClr val="tx1"/>
              </a:solidFill>
              <a:latin typeface="微软雅黑" panose="020B0503020204020204" charset="-122"/>
              <a:ea typeface="微软雅黑" panose="020B0503020204020204" charset="-122"/>
              <a:cs typeface="微软雅黑" panose="020B0503020204020204" charset="-122"/>
            </a:endParaRPr>
          </a:p>
          <a:p>
            <a:pPr lvl="1" eaLnBrk="1" hangingPunct="1">
              <a:lnSpc>
                <a:spcPct val="130000"/>
              </a:lnSpc>
            </a:pPr>
            <a:r>
              <a:rPr lang="zh-CN" altLang="en-US" sz="2550">
                <a:solidFill>
                  <a:schemeClr val="tx1"/>
                </a:solidFill>
                <a:latin typeface="微软雅黑" panose="020B0503020204020204" charset="-122"/>
                <a:ea typeface="微软雅黑" panose="020B0503020204020204" charset="-122"/>
                <a:cs typeface="微软雅黑" panose="020B0503020204020204" charset="-122"/>
              </a:rPr>
              <a:t>测试数据的设计</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32</a:t>
            </a:fld>
            <a:endParaRPr lang="zh-CN" altLang="en-US"/>
          </a:p>
        </p:txBody>
      </p:sp>
    </p:spTree>
    <p:custDataLst>
      <p:tags r:id="rId1"/>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566738" y="1752600"/>
            <a:ext cx="8001000" cy="42672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zh-CN" altLang="en-US" sz="3200" b="1">
                <a:solidFill>
                  <a:schemeClr val="tx1"/>
                </a:solidFill>
                <a:latin typeface="微软雅黑" panose="020B0503020204020204" charset="-122"/>
                <a:ea typeface="微软雅黑" panose="020B0503020204020204" charset="-122"/>
              </a:rPr>
              <a:t>设置基本流和备选流</a:t>
            </a:r>
          </a:p>
        </p:txBody>
      </p:sp>
      <p:pic>
        <p:nvPicPr>
          <p:cNvPr id="5" name="Picture 2" descr="3t1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403850" y="81280"/>
            <a:ext cx="2507615" cy="669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33</a:t>
            </a:fld>
            <a:endParaRPr lang="zh-CN" altLang="en-US"/>
          </a:p>
        </p:txBody>
      </p:sp>
      <p:sp>
        <p:nvSpPr>
          <p:cNvPr id="2" name="文本框 1"/>
          <p:cNvSpPr txBox="1"/>
          <p:nvPr/>
        </p:nvSpPr>
        <p:spPr>
          <a:xfrm>
            <a:off x="659765" y="3170555"/>
            <a:ext cx="3580130" cy="2315845"/>
          </a:xfrm>
          <a:prstGeom prst="rect">
            <a:avLst/>
          </a:prstGeom>
          <a:noFill/>
        </p:spPr>
        <p:txBody>
          <a:bodyPr wrap="square" rtlCol="0">
            <a:noAutofit/>
          </a:bodyPr>
          <a:lstStyle/>
          <a:p>
            <a:pPr>
              <a:lnSpc>
                <a:spcPct val="120000"/>
              </a:lnSpc>
            </a:pPr>
            <a:r>
              <a:rPr lang="zh-CN" altLang="en-US" sz="2000" b="1"/>
              <a:t>思考一下：</a:t>
            </a:r>
          </a:p>
          <a:p>
            <a:pPr>
              <a:lnSpc>
                <a:spcPct val="120000"/>
              </a:lnSpc>
            </a:pPr>
            <a:r>
              <a:rPr lang="zh-CN" altLang="en-US" sz="2000" b="1"/>
              <a:t>还有没有别的备选流？</a:t>
            </a:r>
          </a:p>
          <a:p>
            <a:pPr>
              <a:lnSpc>
                <a:spcPct val="120000"/>
              </a:lnSpc>
            </a:pPr>
            <a:endParaRPr lang="zh-CN" altLang="en-US" sz="2000" b="1"/>
          </a:p>
          <a:p>
            <a:pPr>
              <a:lnSpc>
                <a:spcPct val="120000"/>
              </a:lnSpc>
            </a:pPr>
            <a:r>
              <a:rPr lang="zh-CN" altLang="en-US" sz="2000" b="1"/>
              <a:t>当日取款上限？</a:t>
            </a:r>
          </a:p>
          <a:p>
            <a:pPr>
              <a:lnSpc>
                <a:spcPct val="120000"/>
              </a:lnSpc>
            </a:pPr>
            <a:r>
              <a:rPr lang="zh-CN" altLang="en-US" sz="2000" b="1"/>
              <a:t>当次取款上限？</a:t>
            </a:r>
          </a:p>
          <a:p>
            <a:pPr>
              <a:lnSpc>
                <a:spcPct val="120000"/>
              </a:lnSpc>
            </a:pPr>
            <a:r>
              <a:rPr lang="zh-CN" altLang="en-US" sz="2000" b="1"/>
              <a:t>ATM 机余额不足？</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dissolv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dissolv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dissolve">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435610" y="1587500"/>
            <a:ext cx="8279765" cy="44323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20000"/>
              </a:lnSpc>
            </a:pP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场景构建</a:t>
            </a:r>
            <a:endParaRPr lang="en-US" altLang="zh-CN" sz="3200" b="1">
              <a:solidFill>
                <a:schemeClr val="tx1"/>
              </a:solidFill>
              <a:latin typeface="微软雅黑" panose="020B0503020204020204" charset="-122"/>
              <a:ea typeface="微软雅黑" panose="020B0503020204020204" charset="-122"/>
              <a:cs typeface="微软雅黑" panose="020B0503020204020204" charset="-122"/>
            </a:endParaRP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取款成功，且打印凭条</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卡错误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备选流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密码错误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备选流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密码失败，</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次错误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备选流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5(</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取款金额错误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备选流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p>
          <a:p>
            <a:pPr lvl="1">
              <a:lnSpc>
                <a:spcPct val="14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场景</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6(</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取款成功，不打印凭条</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备选流</a:t>
            </a:r>
            <a:r>
              <a:rPr lang="en-US" altLang="en-US" sz="2400">
                <a:solidFill>
                  <a:schemeClr val="tx1"/>
                </a:solidFill>
                <a:latin typeface="微软雅黑" panose="020B0503020204020204" charset="-122"/>
                <a:ea typeface="微软雅黑" panose="020B0503020204020204" charset="-122"/>
                <a:cs typeface="微软雅黑" panose="020B0503020204020204" charset="-122"/>
              </a:rPr>
              <a:t>5</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34</a:t>
            </a:fld>
            <a:endParaRPr lang="zh-CN" altLang="en-US"/>
          </a:p>
        </p:txBody>
      </p:sp>
    </p:spTree>
    <p:custDataLst>
      <p:tags r:id="rId1"/>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566738" y="1752600"/>
            <a:ext cx="8001000" cy="42672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zh-CN" altLang="en-US" sz="3200" b="1">
                <a:solidFill>
                  <a:schemeClr val="tx1"/>
                </a:solidFill>
                <a:latin typeface="微软雅黑" panose="020B0503020204020204" charset="-122"/>
                <a:ea typeface="微软雅黑" panose="020B0503020204020204" charset="-122"/>
              </a:rPr>
              <a:t>测试用例设计</a:t>
            </a:r>
          </a:p>
        </p:txBody>
      </p:sp>
      <p:pic>
        <p:nvPicPr>
          <p:cNvPr id="5"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9230" y="2684145"/>
            <a:ext cx="8765540" cy="2796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35</a:t>
            </a:fld>
            <a:endParaRPr lang="zh-CN" altLang="en-US"/>
          </a:p>
        </p:txBody>
      </p:sp>
      <p:sp>
        <p:nvSpPr>
          <p:cNvPr id="2" name="文本框 1"/>
          <p:cNvSpPr txBox="1"/>
          <p:nvPr/>
        </p:nvSpPr>
        <p:spPr>
          <a:xfrm>
            <a:off x="4442460" y="410210"/>
            <a:ext cx="4406900" cy="208407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nchor="t">
            <a:noAutofit/>
          </a:bodyPr>
          <a:lstStyle/>
          <a:p>
            <a:pPr marL="285750" indent="-285750" algn="just">
              <a:lnSpc>
                <a:spcPct val="120000"/>
              </a:lnSpc>
              <a:buFont typeface="Arial" panose="020B0604020202020204" pitchFamily="34" charset="0"/>
              <a:buChar char="•"/>
            </a:pPr>
            <a:r>
              <a:rPr lang="zh-CN">
                <a:latin typeface="微软雅黑" panose="020B0503020204020204" charset="-122"/>
                <a:ea typeface="微软雅黑" panose="020B0503020204020204" charset="-122"/>
                <a:sym typeface="+mn-ea"/>
              </a:rPr>
              <a:t>V(</a:t>
            </a:r>
            <a:r>
              <a:rPr lang="en-US" altLang="zh-CN">
                <a:latin typeface="微软雅黑" panose="020B0503020204020204" charset="-122"/>
                <a:ea typeface="微软雅黑" panose="020B0503020204020204" charset="-122"/>
                <a:sym typeface="+mn-ea"/>
              </a:rPr>
              <a:t>Valid</a:t>
            </a:r>
            <a:r>
              <a:rPr lang="zh-CN" altLang="en-US">
                <a:latin typeface="微软雅黑" panose="020B0503020204020204" charset="-122"/>
                <a:ea typeface="微软雅黑" panose="020B0503020204020204" charset="-122"/>
                <a:sym typeface="+mn-ea"/>
              </a:rPr>
              <a:t>，</a:t>
            </a:r>
            <a:r>
              <a:rPr lang="zh-CN">
                <a:latin typeface="微软雅黑" panose="020B0503020204020204" charset="-122"/>
                <a:ea typeface="微软雅黑" panose="020B0503020204020204" charset="-122"/>
                <a:sym typeface="+mn-ea"/>
              </a:rPr>
              <a:t>有效)</a:t>
            </a:r>
            <a:r>
              <a:rPr lang="zh-CN" altLang="en-US">
                <a:latin typeface="微软雅黑" panose="020B0503020204020204" charset="-122"/>
                <a:ea typeface="微软雅黑" panose="020B0503020204020204" charset="-122"/>
                <a:sym typeface="+mn-ea"/>
              </a:rPr>
              <a:t>：</a:t>
            </a:r>
            <a:r>
              <a:rPr lang="zh-CN">
                <a:latin typeface="微软雅黑" panose="020B0503020204020204" charset="-122"/>
                <a:ea typeface="微软雅黑" panose="020B0503020204020204" charset="-122"/>
                <a:sym typeface="+mn-ea"/>
              </a:rPr>
              <a:t>表示条件必须有效才可执行该用例；</a:t>
            </a:r>
          </a:p>
          <a:p>
            <a:pPr marL="285750" indent="-285750" algn="just">
              <a:lnSpc>
                <a:spcPct val="120000"/>
              </a:lnSpc>
              <a:buFont typeface="Arial" panose="020B0604020202020204" pitchFamily="34" charset="0"/>
              <a:buChar char="•"/>
            </a:pPr>
            <a:r>
              <a:rPr lang="zh-CN">
                <a:latin typeface="微软雅黑" panose="020B0503020204020204" charset="-122"/>
                <a:ea typeface="微软雅黑" panose="020B0503020204020204" charset="-122"/>
                <a:sym typeface="+mn-ea"/>
              </a:rPr>
              <a:t>I(</a:t>
            </a:r>
            <a:r>
              <a:rPr lang="en-US" altLang="zh-CN">
                <a:latin typeface="微软雅黑" panose="020B0503020204020204" charset="-122"/>
                <a:ea typeface="微软雅黑" panose="020B0503020204020204" charset="-122"/>
                <a:sym typeface="+mn-ea"/>
              </a:rPr>
              <a:t>Invalid</a:t>
            </a:r>
            <a:r>
              <a:rPr lang="zh-CN" altLang="en-US">
                <a:latin typeface="微软雅黑" panose="020B0503020204020204" charset="-122"/>
                <a:ea typeface="微软雅黑" panose="020B0503020204020204" charset="-122"/>
                <a:sym typeface="+mn-ea"/>
              </a:rPr>
              <a:t>，</a:t>
            </a:r>
            <a:r>
              <a:rPr lang="zh-CN">
                <a:latin typeface="微软雅黑" panose="020B0503020204020204" charset="-122"/>
                <a:ea typeface="微软雅黑" panose="020B0503020204020204" charset="-122"/>
                <a:sym typeface="+mn-ea"/>
              </a:rPr>
              <a:t>无效)：表示此条件下将激活所需备选流；</a:t>
            </a:r>
          </a:p>
          <a:p>
            <a:pPr marL="285750" indent="-285750" algn="just">
              <a:lnSpc>
                <a:spcPct val="120000"/>
              </a:lnSpc>
              <a:buFont typeface="Arial" panose="020B0604020202020204" pitchFamily="34" charset="0"/>
              <a:buChar char="•"/>
            </a:pPr>
            <a:r>
              <a:rPr lang="zh-CN">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N/A</a:t>
            </a:r>
            <a:r>
              <a:rPr lang="zh-CN">
                <a:latin typeface="微软雅黑" panose="020B0503020204020204" charset="-122"/>
                <a:ea typeface="微软雅黑" panose="020B0503020204020204" charset="-122"/>
                <a:sym typeface="+mn-ea"/>
              </a:rPr>
              <a:t>”(不适用)：表示此条件不适用于测试用例。</a:t>
            </a:r>
            <a:endParaRPr lang="zh-CN" altLang="en-US">
              <a:latin typeface="微软雅黑" panose="020B0503020204020204" charset="-122"/>
              <a:ea typeface="微软雅黑" panose="020B0503020204020204" charset="-122"/>
              <a:sym typeface="+mn-ea"/>
            </a:endParaRPr>
          </a:p>
        </p:txBody>
      </p:sp>
      <p:sp>
        <p:nvSpPr>
          <p:cNvPr id="10" name="文本框 9"/>
          <p:cNvSpPr txBox="1"/>
          <p:nvPr/>
        </p:nvSpPr>
        <p:spPr>
          <a:xfrm>
            <a:off x="1196340" y="5579110"/>
            <a:ext cx="7285990" cy="810260"/>
          </a:xfrm>
          <a:prstGeom prst="rect">
            <a:avLst/>
          </a:prstGeom>
          <a:noFill/>
        </p:spPr>
        <p:txBody>
          <a:bodyPr wrap="square" rtlCol="0">
            <a:spAutoFit/>
          </a:bodyPr>
          <a:lstStyle/>
          <a:p>
            <a:pPr>
              <a:lnSpc>
                <a:spcPct val="130000"/>
              </a:lnSpc>
            </a:pPr>
            <a:r>
              <a:rPr lang="zh-CN" altLang="en-US" b="1"/>
              <a:t>检查测试用例表，看是否所有输入都取到</a:t>
            </a:r>
            <a:r>
              <a:rPr lang="en-US" altLang="zh-CN" b="1"/>
              <a:t>“I”</a:t>
            </a:r>
            <a:r>
              <a:rPr lang="zh-CN" altLang="en-US" b="1"/>
              <a:t>的情况，若存在某个条件从未取到</a:t>
            </a:r>
            <a:r>
              <a:rPr lang="en-US" altLang="zh-CN" b="1"/>
              <a:t>“I”</a:t>
            </a:r>
            <a:r>
              <a:rPr lang="zh-CN" altLang="en-US" b="1"/>
              <a:t>，证明测试用例存在漏洞，未覆盖到所有场景。</a:t>
            </a:r>
          </a:p>
        </p:txBody>
      </p:sp>
      <p:sp>
        <p:nvSpPr>
          <p:cNvPr id="11" name="圆角矩形 10"/>
          <p:cNvSpPr/>
          <p:nvPr/>
        </p:nvSpPr>
        <p:spPr>
          <a:xfrm>
            <a:off x="5283835" y="3024505"/>
            <a:ext cx="1062990" cy="2458085"/>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线形标注 1 11"/>
          <p:cNvSpPr/>
          <p:nvPr/>
        </p:nvSpPr>
        <p:spPr>
          <a:xfrm>
            <a:off x="6708140" y="2623820"/>
            <a:ext cx="1975485" cy="594995"/>
          </a:xfrm>
          <a:prstGeom prst="borderCallout1">
            <a:avLst>
              <a:gd name="adj1" fmla="val 25579"/>
              <a:gd name="adj2" fmla="val -4352"/>
              <a:gd name="adj3" fmla="val 98752"/>
              <a:gd name="adj4" fmla="val -194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未取到</a:t>
            </a:r>
            <a:r>
              <a:rPr lang="en-US" altLang="zh-CN"/>
              <a:t>“I”</a:t>
            </a:r>
            <a:r>
              <a:rPr lang="zh-CN" altLang="en-US"/>
              <a:t>，思考一下为什么？</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2" grpId="0" animBg="1"/>
      <p:bldP spid="12"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nvSpPr>
        <p:spPr>
          <a:xfrm>
            <a:off x="567055" y="1654810"/>
            <a:ext cx="8001000" cy="436499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r>
              <a:rPr lang="zh-CN" altLang="en-US" sz="3200" b="1">
                <a:solidFill>
                  <a:schemeClr val="tx1"/>
                </a:solidFill>
                <a:latin typeface="微软雅黑" panose="020B0503020204020204" charset="-122"/>
                <a:ea typeface="微软雅黑" panose="020B0503020204020204" charset="-122"/>
              </a:rPr>
              <a:t>测试数据设计</a:t>
            </a:r>
          </a:p>
        </p:txBody>
      </p:sp>
      <p:pic>
        <p:nvPicPr>
          <p:cNvPr id="5"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875" y="2554605"/>
            <a:ext cx="8595360" cy="303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36</a:t>
            </a:fld>
            <a:endParaRPr lang="zh-CN" altLang="en-US"/>
          </a:p>
        </p:txBody>
      </p:sp>
    </p:spTree>
    <p:custDataLst>
      <p:tags r:id="rId1"/>
    </p:custData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案例</a:t>
            </a:r>
            <a:r>
              <a:rPr lang="en-US" altLang="zh-CN"/>
              <a:t>1——</a:t>
            </a:r>
            <a:r>
              <a:rPr altLang="zh-CN">
                <a:latin typeface="微软雅黑" panose="020B0503020204020204" charset="-122"/>
                <a:cs typeface="微软雅黑" panose="020B0503020204020204" charset="-122"/>
                <a:sym typeface="+mn-ea"/>
              </a:rPr>
              <a:t>嵌入式系统发送数据功能</a:t>
            </a:r>
            <a:endParaRPr lang="en-US" altLang="zh-CN"/>
          </a:p>
        </p:txBody>
      </p:sp>
      <p:sp>
        <p:nvSpPr>
          <p:cNvPr id="3" name="内容占位符 2"/>
          <p:cNvSpPr>
            <a:spLocks noGrp="1"/>
          </p:cNvSpPr>
          <p:nvPr>
            <p:ph idx="1"/>
          </p:nvPr>
        </p:nvSpPr>
        <p:spPr>
          <a:xfrm>
            <a:off x="267970" y="1394460"/>
            <a:ext cx="8451850" cy="4575175"/>
          </a:xfrm>
        </p:spPr>
        <p:txBody>
          <a:bodyPr>
            <a:noAutofit/>
          </a:bodyPr>
          <a:lstStyle/>
          <a:p>
            <a:pPr algn="just">
              <a:lnSpc>
                <a:spcPct val="120000"/>
              </a:lnSpc>
            </a:pPr>
            <a:r>
              <a:rPr lang="zh-CN" altLang="zh-CN" sz="2000" b="1" dirty="0">
                <a:latin typeface="微软雅黑" panose="020B0503020204020204" charset="-122"/>
                <a:cs typeface="微软雅黑" panose="020B0503020204020204" charset="-122"/>
              </a:rPr>
              <a:t>在某嵌入式系统中，将待发送的数据打包成符合</a:t>
            </a:r>
            <a:r>
              <a:rPr lang="en-US" altLang="zh-CN" sz="2000" b="1" dirty="0">
                <a:latin typeface="微软雅黑" panose="020B0503020204020204" charset="-122"/>
                <a:cs typeface="微软雅黑" panose="020B0503020204020204" charset="-122"/>
              </a:rPr>
              <a:t>CAN</a:t>
            </a:r>
            <a:r>
              <a:rPr lang="zh-CN" altLang="zh-CN" sz="2000" b="1" dirty="0">
                <a:latin typeface="微软雅黑" panose="020B0503020204020204" charset="-122"/>
                <a:cs typeface="微软雅黑" panose="020B0503020204020204" charset="-122"/>
              </a:rPr>
              <a:t>协议的帧格式后，便可写入发送缓冲区，并自动发送。</a:t>
            </a:r>
          </a:p>
          <a:p>
            <a:pPr algn="just">
              <a:lnSpc>
                <a:spcPct val="120000"/>
              </a:lnSpc>
            </a:pPr>
            <a:r>
              <a:rPr lang="zh-CN" altLang="zh-CN" sz="2000" b="1" dirty="0">
                <a:latin typeface="微软雅黑" panose="020B0503020204020204" charset="-122"/>
                <a:cs typeface="微软雅黑" panose="020B0503020204020204" charset="-122"/>
              </a:rPr>
              <a:t>该发送子程序的流程如下：</a:t>
            </a:r>
          </a:p>
          <a:p>
            <a:pPr marL="457200" lvl="1" indent="0" algn="just">
              <a:lnSpc>
                <a:spcPct val="12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1</a:t>
            </a:r>
            <a:r>
              <a:rPr lang="zh-CN" altLang="zh-CN" sz="1800" dirty="0">
                <a:latin typeface="微软雅黑" panose="020B0503020204020204" charset="-122"/>
                <a:cs typeface="微软雅黑" panose="020B0503020204020204" charset="-122"/>
              </a:rPr>
              <a:t>）进入发送子程序。</a:t>
            </a:r>
          </a:p>
          <a:p>
            <a:pPr marL="457200" lvl="1" indent="0" algn="just">
              <a:lnSpc>
                <a:spcPct val="15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2</a:t>
            </a:r>
            <a:r>
              <a:rPr lang="zh-CN" altLang="zh-CN" sz="1800" dirty="0">
                <a:latin typeface="微软雅黑" panose="020B0503020204020204" charset="-122"/>
                <a:cs typeface="微软雅黑" panose="020B0503020204020204" charset="-122"/>
              </a:rPr>
              <a:t>）系统判断是否有空闲发送缓冲区，如果没有则返回，启动发送失败消息。</a:t>
            </a:r>
          </a:p>
          <a:p>
            <a:pPr marL="457200" lvl="1" indent="0" algn="just">
              <a:lnSpc>
                <a:spcPct val="12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3</a:t>
            </a:r>
            <a:r>
              <a:rPr lang="zh-CN" altLang="zh-CN" sz="1800" dirty="0">
                <a:latin typeface="微软雅黑" panose="020B0503020204020204" charset="-122"/>
                <a:cs typeface="微软雅黑" panose="020B0503020204020204" charset="-122"/>
              </a:rPr>
              <a:t>）如果有空闲缓冲区，将数据包写入空闲发送缓冲区。</a:t>
            </a:r>
          </a:p>
          <a:p>
            <a:pPr marL="457200" lvl="1" indent="0" algn="just">
              <a:lnSpc>
                <a:spcPct val="12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4</a:t>
            </a:r>
            <a:r>
              <a:rPr lang="zh-CN" altLang="zh-CN" sz="1800" dirty="0">
                <a:latin typeface="微软雅黑" panose="020B0503020204020204" charset="-122"/>
                <a:cs typeface="微软雅黑" panose="020B0503020204020204" charset="-122"/>
              </a:rPr>
              <a:t>）系统判断是否写入成功，如果不成功则返回，启动发送失败消息。</a:t>
            </a:r>
          </a:p>
          <a:p>
            <a:pPr marL="457200" lvl="1" indent="0" algn="just">
              <a:lnSpc>
                <a:spcPct val="12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5</a:t>
            </a:r>
            <a:r>
              <a:rPr lang="zh-CN" altLang="zh-CN" sz="1800" dirty="0">
                <a:latin typeface="微软雅黑" panose="020B0503020204020204" charset="-122"/>
                <a:cs typeface="微软雅黑" panose="020B0503020204020204" charset="-122"/>
              </a:rPr>
              <a:t>）如果写入成功，则启动发送命令。</a:t>
            </a:r>
          </a:p>
          <a:p>
            <a:pPr marL="457200" lvl="1" indent="0" algn="just">
              <a:lnSpc>
                <a:spcPct val="120000"/>
              </a:lnSpc>
              <a:buNone/>
            </a:pPr>
            <a:r>
              <a:rPr lang="zh-CN" altLang="zh-CN" sz="1800" dirty="0">
                <a:latin typeface="微软雅黑" panose="020B0503020204020204" charset="-122"/>
                <a:cs typeface="微软雅黑" panose="020B0503020204020204" charset="-122"/>
              </a:rPr>
              <a:t>（</a:t>
            </a:r>
            <a:r>
              <a:rPr lang="en-US" altLang="zh-CN" sz="1800" dirty="0">
                <a:latin typeface="微软雅黑" panose="020B0503020204020204" charset="-122"/>
                <a:cs typeface="微软雅黑" panose="020B0503020204020204" charset="-122"/>
              </a:rPr>
              <a:t>6</a:t>
            </a:r>
            <a:r>
              <a:rPr lang="zh-CN" altLang="zh-CN" sz="1800" dirty="0">
                <a:latin typeface="微软雅黑" panose="020B0503020204020204" charset="-122"/>
                <a:cs typeface="微软雅黑" panose="020B0503020204020204" charset="-122"/>
              </a:rPr>
              <a:t>）返回启动发送成功消息。</a:t>
            </a:r>
            <a:endParaRPr lang="en-US" altLang="zh-CN" sz="1800" dirty="0">
              <a:latin typeface="微软雅黑" panose="020B0503020204020204" charset="-122"/>
              <a:cs typeface="微软雅黑" panose="020B0503020204020204" charset="-122"/>
            </a:endParaRPr>
          </a:p>
          <a:p>
            <a:pPr marL="0" indent="0" algn="just">
              <a:lnSpc>
                <a:spcPct val="100000"/>
              </a:lnSpc>
              <a:buNone/>
            </a:pPr>
            <a:endParaRPr lang="zh-CN" altLang="zh-CN" sz="2000" dirty="0">
              <a:latin typeface="微软雅黑" panose="020B0503020204020204" charset="-122"/>
              <a:cs typeface="微软雅黑" panose="020B0503020204020204" charset="-122"/>
            </a:endParaRPr>
          </a:p>
          <a:p>
            <a:pPr marL="0" indent="0" algn="just">
              <a:buNone/>
            </a:pPr>
            <a:endParaRPr lang="zh-CN" altLang="zh-CN" sz="2000" dirty="0">
              <a:latin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5765" y="746760"/>
            <a:ext cx="4840605" cy="5428615"/>
          </a:xfrm>
        </p:spPr>
        <p:txBody>
          <a:bodyPr>
            <a:noAutofit/>
          </a:bodyPr>
          <a:lstStyle/>
          <a:p>
            <a:pPr algn="just"/>
            <a:r>
              <a:rPr altLang="zh-CN" sz="1800">
                <a:latin typeface="微软雅黑" panose="020B0503020204020204" charset="-122"/>
                <a:cs typeface="微软雅黑" panose="020B0503020204020204" charset="-122"/>
                <a:sym typeface="+mn-ea"/>
              </a:rPr>
              <a:t>分析需求，被测对象业务流程共有进入发送子程序、判断空闲发送缓冲区、发送失败消息、写入数据、启动发送命令、启动发送成功消息这</a:t>
            </a:r>
            <a:r>
              <a:rPr lang="en-US" altLang="zh-CN" sz="1800">
                <a:latin typeface="微软雅黑" panose="020B0503020204020204" charset="-122"/>
                <a:cs typeface="微软雅黑" panose="020B0503020204020204" charset="-122"/>
                <a:sym typeface="+mn-ea"/>
              </a:rPr>
              <a:t>6</a:t>
            </a:r>
            <a:r>
              <a:rPr altLang="zh-CN" sz="1800">
                <a:latin typeface="微软雅黑" panose="020B0503020204020204" charset="-122"/>
                <a:cs typeface="微软雅黑" panose="020B0503020204020204" charset="-122"/>
                <a:sym typeface="+mn-ea"/>
              </a:rPr>
              <a:t>个流程节点，绘制场景流程图如</a:t>
            </a:r>
            <a:r>
              <a:rPr sz="1800">
                <a:latin typeface="微软雅黑" panose="020B0503020204020204" charset="-122"/>
                <a:cs typeface="微软雅黑" panose="020B0503020204020204" charset="-122"/>
                <a:sym typeface="+mn-ea"/>
              </a:rPr>
              <a:t>右</a:t>
            </a:r>
            <a:r>
              <a:rPr altLang="zh-CN" sz="1800">
                <a:latin typeface="微软雅黑" panose="020B0503020204020204" charset="-122"/>
                <a:cs typeface="微软雅黑" panose="020B0503020204020204" charset="-122"/>
                <a:sym typeface="+mn-ea"/>
              </a:rPr>
              <a:t>图所示。</a:t>
            </a:r>
            <a:endParaRPr lang="zh-CN" altLang="zh-CN" sz="1800" dirty="0">
              <a:latin typeface="微软雅黑" panose="020B0503020204020204" charset="-122"/>
              <a:ea typeface="微软雅黑" panose="020B0503020204020204" charset="-122"/>
              <a:cs typeface="微软雅黑" panose="020B0503020204020204" charset="-122"/>
            </a:endParaRPr>
          </a:p>
          <a:p>
            <a:pPr algn="just"/>
            <a:r>
              <a:rPr lang="zh-CN" altLang="zh-CN" sz="1800" dirty="0">
                <a:latin typeface="微软雅黑" panose="020B0503020204020204" charset="-122"/>
                <a:cs typeface="微软雅黑" panose="020B0503020204020204" charset="-122"/>
              </a:rPr>
              <a:t>根据</a:t>
            </a:r>
            <a:r>
              <a:rPr lang="zh-CN" altLang="en-US" sz="1800" dirty="0">
                <a:latin typeface="微软雅黑" panose="020B0503020204020204" charset="-122"/>
                <a:cs typeface="微软雅黑" panose="020B0503020204020204" charset="-122"/>
              </a:rPr>
              <a:t>上</a:t>
            </a:r>
            <a:r>
              <a:rPr lang="zh-CN" altLang="zh-CN" sz="1800" dirty="0">
                <a:latin typeface="微软雅黑" panose="020B0503020204020204" charset="-122"/>
                <a:cs typeface="微软雅黑" panose="020B0503020204020204" charset="-122"/>
              </a:rPr>
              <a:t>图流程图设计用例，每一条路径构成一条用例规则，则场景如下：</a:t>
            </a:r>
            <a:endParaRPr lang="en-US" altLang="zh-CN" sz="1800" dirty="0">
              <a:latin typeface="微软雅黑" panose="020B0503020204020204" charset="-122"/>
              <a:cs typeface="微软雅黑" panose="020B0503020204020204" charset="-122"/>
            </a:endParaRPr>
          </a:p>
          <a:p>
            <a:pPr marL="0" indent="0" algn="just">
              <a:buNone/>
            </a:pPr>
            <a:endParaRPr lang="en-US" altLang="zh-CN" sz="1800" dirty="0">
              <a:latin typeface="微软雅黑" panose="020B0503020204020204" charset="-122"/>
              <a:cs typeface="微软雅黑" panose="020B0503020204020204" charset="-122"/>
            </a:endParaRPr>
          </a:p>
          <a:p>
            <a:pPr marL="0" indent="0" algn="just">
              <a:buNone/>
            </a:pPr>
            <a:endParaRPr lang="en-US" altLang="zh-CN" sz="1800" dirty="0">
              <a:latin typeface="微软雅黑" panose="020B0503020204020204" charset="-122"/>
              <a:cs typeface="微软雅黑" panose="020B0503020204020204" charset="-122"/>
            </a:endParaRPr>
          </a:p>
          <a:p>
            <a:pPr marL="0" indent="0" algn="just">
              <a:buNone/>
            </a:pPr>
            <a:endParaRPr lang="en-US" altLang="zh-CN" sz="1800" dirty="0">
              <a:latin typeface="微软雅黑" panose="020B0503020204020204" charset="-122"/>
              <a:cs typeface="微软雅黑" panose="020B0503020204020204" charset="-122"/>
            </a:endParaRPr>
          </a:p>
          <a:p>
            <a:pPr algn="just"/>
            <a:r>
              <a:rPr lang="zh-CN" altLang="zh-CN" sz="1800" dirty="0">
                <a:latin typeface="微软雅黑" panose="020B0503020204020204" charset="-122"/>
                <a:cs typeface="微软雅黑" panose="020B0503020204020204" charset="-122"/>
              </a:rPr>
              <a:t>利用场景设计法，该业务可设计</a:t>
            </a:r>
            <a:r>
              <a:rPr lang="en-US" altLang="zh-CN" sz="1800" dirty="0">
                <a:latin typeface="微软雅黑" panose="020B0503020204020204" charset="-122"/>
                <a:cs typeface="微软雅黑" panose="020B0503020204020204" charset="-122"/>
              </a:rPr>
              <a:t>3</a:t>
            </a:r>
            <a:r>
              <a:rPr lang="zh-CN" altLang="zh-CN" sz="1800" dirty="0">
                <a:latin typeface="微软雅黑" panose="020B0503020204020204" charset="-122"/>
                <a:cs typeface="微软雅黑" panose="020B0503020204020204" charset="-122"/>
              </a:rPr>
              <a:t>个流程用例进行测试。</a:t>
            </a:r>
          </a:p>
          <a:p>
            <a:pPr marL="0" indent="0" algn="just">
              <a:buNone/>
            </a:pPr>
            <a:endParaRPr lang="zh-CN" altLang="zh-CN" sz="1800" dirty="0">
              <a:latin typeface="微软雅黑" panose="020B0503020204020204" charset="-122"/>
              <a:cs typeface="微软雅黑" panose="020B0503020204020204" charset="-122"/>
            </a:endParaRPr>
          </a:p>
          <a:p>
            <a:pPr marL="0" indent="0" algn="just">
              <a:buNone/>
            </a:pPr>
            <a:endParaRPr lang="zh-CN" altLang="zh-CN" sz="1800" dirty="0">
              <a:latin typeface="微软雅黑" panose="020B0503020204020204" charset="-122"/>
              <a:cs typeface="微软雅黑" panose="020B0503020204020204" charset="-122"/>
            </a:endParaRPr>
          </a:p>
        </p:txBody>
      </p:sp>
      <p:sp>
        <p:nvSpPr>
          <p:cNvPr id="4" name="TextBox 3"/>
          <p:cNvSpPr txBox="1"/>
          <p:nvPr/>
        </p:nvSpPr>
        <p:spPr>
          <a:xfrm>
            <a:off x="815340" y="3626485"/>
            <a:ext cx="3854450" cy="1087755"/>
          </a:xfrm>
          <a:prstGeom prst="rect">
            <a:avLst/>
          </a:prstGeom>
          <a:solidFill>
            <a:schemeClr val="bg1">
              <a:lumMod val="75000"/>
            </a:schemeClr>
          </a:solidFill>
        </p:spPr>
        <p:txBody>
          <a:bodyPr wrap="square">
            <a:spAutoFit/>
          </a:bodyPr>
          <a:lstStyle/>
          <a:p>
            <a:pPr>
              <a:lnSpc>
                <a:spcPct val="120000"/>
              </a:lnSpc>
              <a:defRPr/>
            </a:pPr>
            <a:r>
              <a:rPr lang="zh-CN" altLang="zh-CN" dirty="0">
                <a:latin typeface="微软雅黑" panose="020B0503020204020204" charset="-122"/>
                <a:ea typeface="微软雅黑" panose="020B0503020204020204" charset="-122"/>
                <a:cs typeface="微软雅黑" panose="020B0503020204020204" charset="-122"/>
              </a:rPr>
              <a:t>场景</a:t>
            </a:r>
            <a:r>
              <a:rPr lang="en-US" altLang="zh-CN" dirty="0">
                <a:latin typeface="微软雅黑" panose="020B0503020204020204" charset="-122"/>
                <a:ea typeface="微软雅黑" panose="020B0503020204020204" charset="-122"/>
                <a:cs typeface="微软雅黑" panose="020B0503020204020204" charset="-122"/>
              </a:rPr>
              <a:t>1</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A</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B</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C</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D</a:t>
            </a:r>
            <a:r>
              <a:rPr lang="zh-CN" altLang="zh-CN" dirty="0">
                <a:latin typeface="微软雅黑" panose="020B0503020204020204" charset="-122"/>
                <a:ea typeface="微软雅黑" panose="020B0503020204020204" charset="-122"/>
                <a:cs typeface="微软雅黑" panose="020B0503020204020204" charset="-122"/>
              </a:rPr>
              <a:t>（基本流）</a:t>
            </a:r>
          </a:p>
          <a:p>
            <a:pPr>
              <a:lnSpc>
                <a:spcPct val="120000"/>
              </a:lnSpc>
              <a:defRPr/>
            </a:pPr>
            <a:r>
              <a:rPr lang="zh-CN" altLang="zh-CN" dirty="0">
                <a:latin typeface="微软雅黑" panose="020B0503020204020204" charset="-122"/>
                <a:ea typeface="微软雅黑" panose="020B0503020204020204" charset="-122"/>
                <a:cs typeface="微软雅黑" panose="020B0503020204020204" charset="-122"/>
              </a:rPr>
              <a:t>场景</a:t>
            </a:r>
            <a:r>
              <a:rPr lang="en-US" altLang="zh-CN" dirty="0">
                <a:latin typeface="微软雅黑" panose="020B0503020204020204" charset="-122"/>
                <a:ea typeface="微软雅黑" panose="020B0503020204020204" charset="-122"/>
                <a:cs typeface="微软雅黑" panose="020B0503020204020204" charset="-122"/>
              </a:rPr>
              <a:t>2</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A</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E</a:t>
            </a:r>
            <a:r>
              <a:rPr lang="zh-CN" altLang="zh-CN" dirty="0">
                <a:latin typeface="微软雅黑" panose="020B0503020204020204" charset="-122"/>
                <a:ea typeface="微软雅黑" panose="020B0503020204020204" charset="-122"/>
                <a:cs typeface="微软雅黑" panose="020B0503020204020204" charset="-122"/>
              </a:rPr>
              <a:t>（异常流）</a:t>
            </a:r>
          </a:p>
          <a:p>
            <a:pPr>
              <a:lnSpc>
                <a:spcPct val="120000"/>
              </a:lnSpc>
              <a:defRPr/>
            </a:pPr>
            <a:r>
              <a:rPr lang="zh-CN" altLang="zh-CN" dirty="0">
                <a:latin typeface="微软雅黑" panose="020B0503020204020204" charset="-122"/>
                <a:ea typeface="微软雅黑" panose="020B0503020204020204" charset="-122"/>
                <a:cs typeface="微软雅黑" panose="020B0503020204020204" charset="-122"/>
              </a:rPr>
              <a:t>场景</a:t>
            </a:r>
            <a:r>
              <a:rPr lang="en-US" altLang="zh-CN" dirty="0">
                <a:latin typeface="微软雅黑" panose="020B0503020204020204" charset="-122"/>
                <a:ea typeface="微软雅黑" panose="020B0503020204020204" charset="-122"/>
                <a:cs typeface="微软雅黑" panose="020B0503020204020204" charset="-122"/>
              </a:rPr>
              <a:t>3</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A</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B</a:t>
            </a:r>
            <a:r>
              <a:rPr lang="zh-CN" altLang="zh-CN"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E</a:t>
            </a:r>
            <a:r>
              <a:rPr lang="zh-CN" altLang="zh-CN" dirty="0">
                <a:latin typeface="微软雅黑" panose="020B0503020204020204" charset="-122"/>
                <a:ea typeface="微软雅黑" panose="020B0503020204020204" charset="-122"/>
                <a:cs typeface="微软雅黑" panose="020B0503020204020204" charset="-122"/>
              </a:rPr>
              <a:t>（异常流）</a:t>
            </a:r>
          </a:p>
        </p:txBody>
      </p:sp>
      <p:graphicFrame>
        <p:nvGraphicFramePr>
          <p:cNvPr id="2" name="对象 1"/>
          <p:cNvGraphicFramePr>
            <a:graphicFrameLocks noChangeAspect="1"/>
          </p:cNvGraphicFramePr>
          <p:nvPr>
            <p:custDataLst>
              <p:tags r:id="rId1"/>
            </p:custDataLst>
          </p:nvPr>
        </p:nvGraphicFramePr>
        <p:xfrm>
          <a:off x="5340985" y="746760"/>
          <a:ext cx="3711575" cy="5907405"/>
        </p:xfrm>
        <a:graphic>
          <a:graphicData uri="http://schemas.openxmlformats.org/presentationml/2006/ole">
            <mc:AlternateContent xmlns:mc="http://schemas.openxmlformats.org/markup-compatibility/2006">
              <mc:Choice xmlns:v="urn:schemas-microsoft-com:vml" Requires="v">
                <p:oleObj name="Visio" r:id="rId3" imgW="3217545" imgH="5081270" progId="Visio.Drawing.11">
                  <p:embed/>
                </p:oleObj>
              </mc:Choice>
              <mc:Fallback>
                <p:oleObj name="Visio" r:id="rId3" imgW="3217545" imgH="5081270" progId="Visio.Drawing.11">
                  <p:embed/>
                  <p:pic>
                    <p:nvPicPr>
                      <p:cNvPr id="0" name="Object 1"/>
                      <p:cNvPicPr>
                        <a:picLocks noChangeAspect="1" noChangeArrowheads="1"/>
                      </p:cNvPicPr>
                      <p:nvPr/>
                    </p:nvPicPr>
                    <p:blipFill>
                      <a:blip r:embed="rId4"/>
                      <a:srcRect r="8455"/>
                      <a:stretch>
                        <a:fillRect/>
                      </a:stretch>
                    </p:blipFill>
                    <p:spPr bwMode="auto">
                      <a:xfrm>
                        <a:off x="5340985" y="746760"/>
                        <a:ext cx="3711575" cy="5907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a:sym typeface="+mn-ea"/>
              </a:rPr>
              <a:t>案例</a:t>
            </a:r>
            <a:r>
              <a:rPr lang="en-US" altLang="zh-CN">
                <a:sym typeface="+mn-ea"/>
              </a:rPr>
              <a:t>2——</a:t>
            </a:r>
            <a:r>
              <a:rPr>
                <a:sym typeface="+mn-ea"/>
              </a:rPr>
              <a:t>微信钱包的手机充值功能</a:t>
            </a:r>
          </a:p>
        </p:txBody>
      </p:sp>
      <p:sp>
        <p:nvSpPr>
          <p:cNvPr id="6" name="矩形 5"/>
          <p:cNvSpPr/>
          <p:nvPr/>
        </p:nvSpPr>
        <p:spPr>
          <a:xfrm>
            <a:off x="-16510" y="1616710"/>
            <a:ext cx="8658225" cy="1540510"/>
          </a:xfrm>
          <a:prstGeom prst="rect">
            <a:avLst/>
          </a:prstGeom>
        </p:spPr>
        <p:txBody>
          <a:bodyPr wrap="square">
            <a:spAutoFit/>
          </a:bodyPr>
          <a:lstStyle/>
          <a:p>
            <a:pPr marL="742950" lvl="1" indent="-285750" algn="just" fontAlgn="base">
              <a:lnSpc>
                <a:spcPct val="150000"/>
              </a:lnSpc>
              <a:spcBef>
                <a:spcPts val="500"/>
              </a:spcBef>
              <a:spcAft>
                <a:spcPct val="0"/>
              </a:spcAft>
              <a:buFont typeface="Arial" panose="020B0604020202020204" pitchFamily="34" charset="0"/>
              <a:buChar char="•"/>
            </a:pPr>
            <a:r>
              <a:rPr lang="zh-CN" sz="2000" b="1">
                <a:latin typeface="微软雅黑" panose="020B0503020204020204" charset="-122"/>
                <a:ea typeface="微软雅黑" panose="020B0503020204020204" charset="-122"/>
              </a:rPr>
              <a:t>使用微信钱包中的手机充值，输入手机号码，选择充值话费金额，选择支付方式，输入支付密码，支付成功。</a:t>
            </a:r>
          </a:p>
          <a:p>
            <a:pPr marL="914400" lvl="1" indent="-457200" algn="just" fontAlgn="base">
              <a:lnSpc>
                <a:spcPct val="150000"/>
              </a:lnSpc>
              <a:spcBef>
                <a:spcPts val="500"/>
              </a:spcBef>
              <a:spcAft>
                <a:spcPct val="0"/>
              </a:spcAft>
              <a:buFont typeface="Arial" panose="020B0604020202020204" pitchFamily="34" charset="0"/>
              <a:buAutoNum type="arabicPeriod"/>
            </a:pPr>
            <a:r>
              <a:rPr lang="zh-CN" sz="2000" b="1">
                <a:latin typeface="微软雅黑" panose="020B0503020204020204" charset="-122"/>
                <a:ea typeface="微软雅黑" panose="020B0503020204020204" charset="-122"/>
              </a:rPr>
              <a:t>通过上述描述，确定基本流和备选流，如下表所示。</a:t>
            </a:r>
            <a:endParaRPr lang="zh-CN" altLang="en-US" sz="2000" b="1">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212090" y="3429000"/>
            <a:ext cx="8493125" cy="2136140"/>
          </a:xfrm>
          <a:prstGeom prst="rect">
            <a:avLst/>
          </a:prstGeom>
        </p:spPr>
      </p:pic>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02285" y="1519555"/>
            <a:ext cx="7807960" cy="897890"/>
          </a:xfrm>
          <a:prstGeom prst="rect">
            <a:avLst/>
          </a:prstGeom>
        </p:spPr>
        <p:txBody>
          <a:bodyPr wrap="square">
            <a:noAutofit/>
          </a:bodyPr>
          <a:lstStyle/>
          <a:p>
            <a:pPr marL="457200" lvl="0" indent="-457200" fontAlgn="base">
              <a:lnSpc>
                <a:spcPct val="150000"/>
              </a:lnSpc>
              <a:spcBef>
                <a:spcPts val="500"/>
              </a:spcBef>
              <a:spcAft>
                <a:spcPct val="0"/>
              </a:spcAft>
              <a:buFont typeface="+mj-lt"/>
              <a:buAutoNum type="arabicPeriod" startAt="2"/>
            </a:pPr>
            <a:r>
              <a:rPr lang="zh-CN" sz="2400" b="1">
                <a:latin typeface="微软雅黑" panose="020B0503020204020204" charset="-122"/>
                <a:ea typeface="微软雅黑" panose="020B0503020204020204" charset="-122"/>
              </a:rPr>
              <a:t>根据基本流和备选流设计场景，如下表所示。</a:t>
            </a:r>
            <a:endParaRPr lang="zh-CN" altLang="en-US" sz="2400" b="1">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3"/>
          <a:stretch>
            <a:fillRect/>
          </a:stretch>
        </p:blipFill>
        <p:spPr>
          <a:xfrm>
            <a:off x="234950" y="2615565"/>
            <a:ext cx="8722995" cy="1838960"/>
          </a:xfrm>
          <a:prstGeom prst="rect">
            <a:avLst/>
          </a:prstGeom>
        </p:spPr>
      </p:pic>
      <p:sp>
        <p:nvSpPr>
          <p:cNvPr id="10" name="标题 9"/>
          <p:cNvSpPr>
            <a:spLocks noGrp="1"/>
          </p:cNvSpPr>
          <p:nvPr>
            <p:ph type="title"/>
            <p:custDataLst>
              <p:tags r:id="rId1"/>
            </p:custDataLst>
          </p:nvPr>
        </p:nvSpPr>
        <p:spPr/>
        <p:txBody>
          <a:bodyPr/>
          <a:lstStyle/>
          <a:p>
            <a:r>
              <a:rPr>
                <a:sym typeface="+mn-ea"/>
              </a:rPr>
              <a:t>案例</a:t>
            </a:r>
            <a:r>
              <a:rPr lang="en-US" altLang="zh-CN">
                <a:sym typeface="+mn-ea"/>
              </a:rPr>
              <a:t>2——</a:t>
            </a:r>
            <a:r>
              <a:rPr>
                <a:sym typeface="+mn-ea"/>
              </a:rPr>
              <a:t>微信钱包的手机充值功能</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6510" y="1586865"/>
            <a:ext cx="9144000" cy="1384300"/>
          </a:xfrm>
          <a:prstGeom prst="rect">
            <a:avLst/>
          </a:prstGeom>
        </p:spPr>
        <p:txBody>
          <a:bodyPr wrap="square">
            <a:noAutofit/>
          </a:bodyPr>
          <a:lstStyle/>
          <a:p>
            <a:pPr marL="914400" lvl="1" indent="-457200" fontAlgn="base">
              <a:lnSpc>
                <a:spcPct val="150000"/>
              </a:lnSpc>
              <a:spcBef>
                <a:spcPts val="500"/>
              </a:spcBef>
              <a:spcAft>
                <a:spcPct val="0"/>
              </a:spcAft>
              <a:buFont typeface="+mj-lt"/>
              <a:buAutoNum type="arabicPeriod" startAt="3"/>
            </a:pPr>
            <a:r>
              <a:rPr lang="zh-CN" sz="2400" b="1">
                <a:latin typeface="微软雅黑" panose="020B0503020204020204" charset="-122"/>
                <a:ea typeface="微软雅黑" panose="020B0503020204020204" charset="-122"/>
                <a:sym typeface="+mn-ea"/>
              </a:rPr>
              <a:t>对每个场景成立的条件都做出了说明，</a:t>
            </a:r>
            <a:r>
              <a:rPr lang="zh-CN" sz="2400" b="1">
                <a:latin typeface="微软雅黑" panose="020B0503020204020204" charset="-122"/>
                <a:ea typeface="微软雅黑" panose="020B0503020204020204" charset="-122"/>
              </a:rPr>
              <a:t>如下表所示，各行代表各个测试用例，而各列则代表测试用例的信息。</a:t>
            </a:r>
            <a:endParaRPr lang="zh-CN" altLang="en-US" sz="2400" b="1">
              <a:latin typeface="微软雅黑" panose="020B0503020204020204" charset="-122"/>
              <a:ea typeface="微软雅黑" panose="020B0503020204020204" charset="-122"/>
            </a:endParaRPr>
          </a:p>
        </p:txBody>
      </p:sp>
      <p:sp>
        <p:nvSpPr>
          <p:cNvPr id="10" name="标题 9"/>
          <p:cNvSpPr>
            <a:spLocks noGrp="1"/>
          </p:cNvSpPr>
          <p:nvPr>
            <p:ph type="title"/>
            <p:custDataLst>
              <p:tags r:id="rId1"/>
            </p:custDataLst>
          </p:nvPr>
        </p:nvSpPr>
        <p:spPr/>
        <p:txBody>
          <a:bodyPr/>
          <a:lstStyle/>
          <a:p>
            <a:r>
              <a:rPr>
                <a:sym typeface="+mn-ea"/>
              </a:rPr>
              <a:t>案例</a:t>
            </a:r>
            <a:r>
              <a:rPr lang="en-US" altLang="zh-CN">
                <a:sym typeface="+mn-ea"/>
              </a:rPr>
              <a:t>2——</a:t>
            </a:r>
            <a:r>
              <a:rPr>
                <a:sym typeface="+mn-ea"/>
              </a:rPr>
              <a:t>微信钱包的手机充值功能</a:t>
            </a:r>
          </a:p>
        </p:txBody>
      </p:sp>
      <p:graphicFrame>
        <p:nvGraphicFramePr>
          <p:cNvPr id="3" name="表格 2"/>
          <p:cNvGraphicFramePr/>
          <p:nvPr>
            <p:custDataLst>
              <p:tags r:id="rId2"/>
            </p:custDataLst>
          </p:nvPr>
        </p:nvGraphicFramePr>
        <p:xfrm>
          <a:off x="360045" y="3121660"/>
          <a:ext cx="8326755" cy="2672715"/>
        </p:xfrm>
        <a:graphic>
          <a:graphicData uri="http://schemas.openxmlformats.org/drawingml/2006/table">
            <a:tbl>
              <a:tblPr/>
              <a:tblGrid>
                <a:gridCol w="601980">
                  <a:extLst>
                    <a:ext uri="{9D8B030D-6E8A-4147-A177-3AD203B41FA5}">
                      <a16:colId xmlns:a16="http://schemas.microsoft.com/office/drawing/2014/main" val="20000"/>
                    </a:ext>
                  </a:extLst>
                </a:gridCol>
                <a:gridCol w="1795145">
                  <a:extLst>
                    <a:ext uri="{9D8B030D-6E8A-4147-A177-3AD203B41FA5}">
                      <a16:colId xmlns:a16="http://schemas.microsoft.com/office/drawing/2014/main" val="20001"/>
                    </a:ext>
                  </a:extLst>
                </a:gridCol>
                <a:gridCol w="601980">
                  <a:extLst>
                    <a:ext uri="{9D8B030D-6E8A-4147-A177-3AD203B41FA5}">
                      <a16:colId xmlns:a16="http://schemas.microsoft.com/office/drawing/2014/main" val="20002"/>
                    </a:ext>
                  </a:extLst>
                </a:gridCol>
                <a:gridCol w="781685">
                  <a:extLst>
                    <a:ext uri="{9D8B030D-6E8A-4147-A177-3AD203B41FA5}">
                      <a16:colId xmlns:a16="http://schemas.microsoft.com/office/drawing/2014/main" val="20003"/>
                    </a:ext>
                  </a:extLst>
                </a:gridCol>
                <a:gridCol w="758190">
                  <a:extLst>
                    <a:ext uri="{9D8B030D-6E8A-4147-A177-3AD203B41FA5}">
                      <a16:colId xmlns:a16="http://schemas.microsoft.com/office/drawing/2014/main" val="20004"/>
                    </a:ext>
                  </a:extLst>
                </a:gridCol>
                <a:gridCol w="788035">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2222500">
                  <a:extLst>
                    <a:ext uri="{9D8B030D-6E8A-4147-A177-3AD203B41FA5}">
                      <a16:colId xmlns:a16="http://schemas.microsoft.com/office/drawing/2014/main" val="20007"/>
                    </a:ext>
                  </a:extLst>
                </a:gridCol>
              </a:tblGrid>
              <a:tr h="414020">
                <a:tc>
                  <a:txBody>
                    <a:bodyPr/>
                    <a:lstStyle/>
                    <a:p>
                      <a:pPr indent="0" algn="ctr">
                        <a:buNone/>
                      </a:pPr>
                      <a:r>
                        <a:rPr lang="zh-CN" sz="1400" b="1">
                          <a:solidFill>
                            <a:srgbClr val="000000"/>
                          </a:solidFill>
                          <a:latin typeface="Arial" panose="020B0604020202020204" pitchFamily="34" charset="0"/>
                          <a:ea typeface="黑体" panose="02010609060101010101" charset="-122"/>
                        </a:rPr>
                        <a:t>用例ID</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场景/条件</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手机号</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话费金额</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支付方式</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支付密码</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账户余额</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1400" b="1">
                          <a:solidFill>
                            <a:srgbClr val="000000"/>
                          </a:solidFill>
                          <a:latin typeface="Arial" panose="020B0604020202020204" pitchFamily="34" charset="0"/>
                          <a:ea typeface="黑体" panose="02010609060101010101" charset="-122"/>
                        </a:rPr>
                        <a:t>预期结果</a:t>
                      </a:r>
                      <a:endParaRPr lang="zh-CN" altLang="en-US" sz="1400" b="1">
                        <a:solidFill>
                          <a:srgbClr val="000000"/>
                        </a:solidFill>
                        <a:latin typeface="Arial" panose="020B0604020202020204" pitchFamily="34" charset="0"/>
                        <a:ea typeface="黑体" panose="02010609060101010101"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297815">
                <a:tc>
                  <a:txBody>
                    <a:bodyPr/>
                    <a:lstStyle/>
                    <a:p>
                      <a:pPr indent="0" algn="ctr">
                        <a:buNone/>
                      </a:pPr>
                      <a:r>
                        <a:rPr lang="en-US" sz="1400" b="0">
                          <a:solidFill>
                            <a:srgbClr val="000000"/>
                          </a:solidFill>
                          <a:latin typeface="宋体" panose="02010600030101010101" pitchFamily="2" charset="-122"/>
                        </a:rPr>
                        <a:t>1</a:t>
                      </a:r>
                      <a:endParaRPr lang="en-US" altLang="en-US" sz="1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场景1：充值成功</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充值成功</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180">
                <a:tc>
                  <a:txBody>
                    <a:bodyPr/>
                    <a:lstStyle/>
                    <a:p>
                      <a:pPr indent="0" algn="ctr">
                        <a:buNone/>
                      </a:pPr>
                      <a:r>
                        <a:rPr lang="en-US" sz="1400" b="0">
                          <a:solidFill>
                            <a:srgbClr val="000000"/>
                          </a:solidFill>
                          <a:latin typeface="宋体" panose="02010600030101010101" pitchFamily="2" charset="-122"/>
                        </a:rPr>
                        <a:t>2</a:t>
                      </a:r>
                      <a:endParaRPr lang="en-US" altLang="en-US" sz="1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场景2：手机号格式输入错误</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I</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返回重新输入手机号步骤</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5460">
                <a:tc>
                  <a:txBody>
                    <a:bodyPr/>
                    <a:lstStyle/>
                    <a:p>
                      <a:pPr indent="0" algn="ctr">
                        <a:buNone/>
                      </a:pPr>
                      <a:r>
                        <a:rPr lang="en-US" sz="1400" b="0">
                          <a:solidFill>
                            <a:srgbClr val="000000"/>
                          </a:solidFill>
                          <a:latin typeface="宋体" panose="02010600030101010101" pitchFamily="2" charset="-122"/>
                        </a:rPr>
                        <a:t>3</a:t>
                      </a:r>
                      <a:endParaRPr lang="en-US" altLang="en-US" sz="1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场景3：手机号输入与要充值号码不符</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I</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充值成功，但充值金额未到需充值手机号</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7815">
                <a:tc>
                  <a:txBody>
                    <a:bodyPr/>
                    <a:lstStyle/>
                    <a:p>
                      <a:pPr indent="0" algn="ctr">
                        <a:buNone/>
                      </a:pPr>
                      <a:r>
                        <a:rPr lang="en-US" sz="1400" b="0">
                          <a:solidFill>
                            <a:srgbClr val="000000"/>
                          </a:solidFill>
                          <a:latin typeface="宋体" panose="02010600030101010101" pitchFamily="2" charset="-122"/>
                        </a:rPr>
                        <a:t>4</a:t>
                      </a:r>
                      <a:endParaRPr lang="en-US" altLang="en-US" sz="1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场景4：账户余额不足</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I</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提示账户余额不足，返回选择支付方式步骤</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7180">
                <a:tc>
                  <a:txBody>
                    <a:bodyPr/>
                    <a:lstStyle/>
                    <a:p>
                      <a:pPr indent="0" algn="ctr">
                        <a:buNone/>
                      </a:pPr>
                      <a:r>
                        <a:rPr lang="en-US" sz="1400" b="0">
                          <a:solidFill>
                            <a:srgbClr val="000000"/>
                          </a:solidFill>
                          <a:latin typeface="宋体" panose="02010600030101010101" pitchFamily="2" charset="-122"/>
                        </a:rPr>
                        <a:t>5</a:t>
                      </a:r>
                      <a:endParaRPr lang="en-US" altLang="en-US" sz="1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场景5：支付密码输入错误</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V</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I</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宋体" panose="02010600030101010101" pitchFamily="2" charset="-122"/>
                        </a:rPr>
                        <a:t>N/A</a:t>
                      </a:r>
                      <a:endParaRPr lang="en-US" altLang="en-US" sz="1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Arial" panose="020B0604020202020204" pitchFamily="34" charset="0"/>
                          <a:ea typeface="宋体" panose="02010600030101010101" pitchFamily="2" charset="-122"/>
                        </a:rPr>
                        <a:t>提示支付密码输入错误，请重新输入</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6510" y="1529715"/>
            <a:ext cx="9144000" cy="1257300"/>
          </a:xfrm>
          <a:prstGeom prst="rect">
            <a:avLst/>
          </a:prstGeom>
        </p:spPr>
        <p:txBody>
          <a:bodyPr wrap="square">
            <a:noAutofit/>
          </a:bodyPr>
          <a:lstStyle/>
          <a:p>
            <a:pPr marL="914400" lvl="1" indent="-457200" fontAlgn="base">
              <a:lnSpc>
                <a:spcPct val="150000"/>
              </a:lnSpc>
              <a:spcBef>
                <a:spcPts val="500"/>
              </a:spcBef>
              <a:spcAft>
                <a:spcPct val="0"/>
              </a:spcAft>
              <a:buFont typeface="+mj-lt"/>
              <a:buAutoNum type="arabicPeriod" startAt="4"/>
            </a:pPr>
            <a:r>
              <a:rPr lang="zh-CN" sz="2400" b="1">
                <a:latin typeface="微软雅黑" panose="020B0503020204020204" charset="-122"/>
                <a:ea typeface="微软雅黑" panose="020B0503020204020204" charset="-122"/>
              </a:rPr>
              <a:t>设计</a:t>
            </a:r>
            <a:r>
              <a:rPr lang="zh-CN" sz="2400" b="1">
                <a:latin typeface="微软雅黑" panose="020B0503020204020204" charset="-122"/>
                <a:ea typeface="微软雅黑" panose="020B0503020204020204" charset="-122"/>
                <a:sym typeface="+mn-ea"/>
              </a:rPr>
              <a:t>测试用例</a:t>
            </a:r>
            <a:r>
              <a:rPr lang="zh-CN" sz="2400" b="1">
                <a:latin typeface="微软雅黑" panose="020B0503020204020204" charset="-122"/>
                <a:ea typeface="微软雅黑" panose="020B0503020204020204" charset="-122"/>
              </a:rPr>
              <a:t>的测试数据，如下表所示。</a:t>
            </a:r>
            <a:endParaRPr lang="zh-CN" altLang="en-US" sz="2400" b="1">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3"/>
          <a:stretch>
            <a:fillRect/>
          </a:stretch>
        </p:blipFill>
        <p:spPr>
          <a:xfrm>
            <a:off x="227330" y="2484755"/>
            <a:ext cx="8655685" cy="3334385"/>
          </a:xfrm>
          <a:prstGeom prst="rect">
            <a:avLst/>
          </a:prstGeom>
        </p:spPr>
      </p:pic>
      <p:sp>
        <p:nvSpPr>
          <p:cNvPr id="10" name="标题 9"/>
          <p:cNvSpPr>
            <a:spLocks noGrp="1"/>
          </p:cNvSpPr>
          <p:nvPr>
            <p:ph type="title"/>
            <p:custDataLst>
              <p:tags r:id="rId1"/>
            </p:custDataLst>
          </p:nvPr>
        </p:nvSpPr>
        <p:spPr/>
        <p:txBody>
          <a:bodyPr/>
          <a:lstStyle/>
          <a:p>
            <a:r>
              <a:rPr>
                <a:sym typeface="+mn-ea"/>
              </a:rPr>
              <a:t>案例</a:t>
            </a:r>
            <a:r>
              <a:rPr lang="en-US" altLang="zh-CN">
                <a:sym typeface="+mn-ea"/>
              </a:rPr>
              <a:t>2——</a:t>
            </a:r>
            <a:r>
              <a:rPr>
                <a:sym typeface="+mn-ea"/>
              </a:rPr>
              <a:t>微信钱包的手机充值功能</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8603932" y="0"/>
            <a:ext cx="540068" cy="629227"/>
          </a:xfrm>
          <a:prstGeom prst="rect">
            <a:avLst/>
          </a:prstGeom>
        </p:spPr>
      </p:pic>
      <p:sp>
        <p:nvSpPr>
          <p:cNvPr id="3" name="Rectangle 2"/>
          <p:cNvSpPr>
            <a:spLocks noGrp="1" noChangeArrowheads="1"/>
          </p:cNvSpPr>
          <p:nvPr>
            <p:custDataLst>
              <p:tags r:id="rId4"/>
            </p:custDataLst>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600" b="1" dirty="0">
                <a:solidFill>
                  <a:schemeClr val="tx1"/>
                </a:solidFill>
                <a:latin typeface="微软雅黑" panose="020B0503020204020204" charset="-122"/>
                <a:ea typeface="微软雅黑" panose="020B0503020204020204" charset="-122"/>
                <a:cs typeface="微软雅黑" panose="020B0503020204020204" charset="-122"/>
              </a:rPr>
              <a:t>基于场景的测试</a:t>
            </a:r>
          </a:p>
        </p:txBody>
      </p:sp>
      <p:sp>
        <p:nvSpPr>
          <p:cNvPr id="4" name="Rectangle 3"/>
          <p:cNvSpPr>
            <a:spLocks noGrp="1" noChangeArrowheads="1"/>
          </p:cNvSpPr>
          <p:nvPr>
            <p:custDataLst>
              <p:tags r:id="rId5"/>
            </p:custDataLst>
          </p:nvPr>
        </p:nvSpPr>
        <p:spPr>
          <a:xfrm>
            <a:off x="567055" y="1617980"/>
            <a:ext cx="8001000" cy="449135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3200" b="1" dirty="0">
                <a:solidFill>
                  <a:schemeClr val="dk1"/>
                </a:solidFill>
                <a:latin typeface="微软雅黑" panose="020B0503020204020204" charset="-122"/>
                <a:ea typeface="微软雅黑" panose="020B0503020204020204" charset="-122"/>
              </a:rPr>
              <a:t>小结</a:t>
            </a:r>
            <a:endParaRPr lang="en-US" altLang="zh-CN" sz="3200" b="1" dirty="0">
              <a:solidFill>
                <a:schemeClr val="dk1"/>
              </a:solidFill>
              <a:latin typeface="微软雅黑" panose="020B0503020204020204" charset="-122"/>
              <a:ea typeface="微软雅黑" panose="020B0503020204020204" charset="-122"/>
            </a:endParaRPr>
          </a:p>
          <a:p>
            <a:pPr lvl="1" eaLnBrk="1" hangingPunct="1">
              <a:lnSpc>
                <a:spcPct val="160000"/>
              </a:lnSpc>
            </a:pPr>
            <a:r>
              <a:rPr lang="zh-CN" altLang="en-US" sz="2000" dirty="0">
                <a:solidFill>
                  <a:schemeClr val="dk1"/>
                </a:solidFill>
                <a:latin typeface="微软雅黑" panose="020B0503020204020204" charset="-122"/>
                <a:ea typeface="微软雅黑" panose="020B0503020204020204" charset="-122"/>
              </a:rPr>
              <a:t>通过分析被测业务流程，构建基本流和备选流，并生成场景进而得到测试用例的测试方法。该法主要</a:t>
            </a:r>
            <a:r>
              <a:rPr lang="zh-CN" altLang="en-US" sz="2000" b="1" dirty="0">
                <a:solidFill>
                  <a:srgbClr val="FF0000"/>
                </a:solidFill>
                <a:latin typeface="微软雅黑" panose="020B0503020204020204" charset="-122"/>
                <a:ea typeface="微软雅黑" panose="020B0503020204020204" charset="-122"/>
              </a:rPr>
              <a:t>用于功能测试</a:t>
            </a:r>
            <a:r>
              <a:rPr lang="zh-CN" altLang="en-US" sz="2000" dirty="0">
                <a:solidFill>
                  <a:schemeClr val="dk1"/>
                </a:solidFill>
                <a:latin typeface="微软雅黑" panose="020B0503020204020204" charset="-122"/>
                <a:ea typeface="微软雅黑" panose="020B0503020204020204" charset="-122"/>
              </a:rPr>
              <a:t>。</a:t>
            </a:r>
            <a:endParaRPr lang="en-US" altLang="zh-CN" sz="2000" dirty="0">
              <a:solidFill>
                <a:schemeClr val="dk1"/>
              </a:solidFill>
              <a:latin typeface="微软雅黑" panose="020B0503020204020204" charset="-122"/>
              <a:ea typeface="微软雅黑" panose="020B0503020204020204" charset="-122"/>
            </a:endParaRPr>
          </a:p>
          <a:p>
            <a:pPr lvl="1" eaLnBrk="1" hangingPunct="1">
              <a:lnSpc>
                <a:spcPct val="160000"/>
              </a:lnSpc>
            </a:pPr>
            <a:r>
              <a:rPr lang="zh-CN" altLang="en-US" sz="2000" dirty="0">
                <a:solidFill>
                  <a:schemeClr val="dk1"/>
                </a:solidFill>
                <a:latin typeface="微软雅黑" panose="020B0503020204020204" charset="-122"/>
                <a:ea typeface="微软雅黑" panose="020B0503020204020204" charset="-122"/>
              </a:rPr>
              <a:t>主要</a:t>
            </a:r>
            <a:r>
              <a:rPr lang="zh-CN" altLang="en-US" sz="2000" b="1" dirty="0">
                <a:solidFill>
                  <a:srgbClr val="FF0000"/>
                </a:solidFill>
                <a:latin typeface="微软雅黑" panose="020B0503020204020204" charset="-122"/>
                <a:ea typeface="微软雅黑" panose="020B0503020204020204" charset="-122"/>
              </a:rPr>
              <a:t>难点</a:t>
            </a:r>
            <a:r>
              <a:rPr lang="zh-CN" altLang="en-US" sz="2000" dirty="0">
                <a:solidFill>
                  <a:schemeClr val="dk1"/>
                </a:solidFill>
                <a:latin typeface="微软雅黑" panose="020B0503020204020204" charset="-122"/>
                <a:ea typeface="微软雅黑" panose="020B0503020204020204" charset="-122"/>
              </a:rPr>
              <a:t>在于如何根据业务实际提炼出基本流，如何很好地控制备选流的数量，以及如何从无穷尽的场景中选择少量典型场景进行测试。</a:t>
            </a:r>
          </a:p>
          <a:p>
            <a:pPr lvl="1" eaLnBrk="1" hangingPunct="1">
              <a:lnSpc>
                <a:spcPct val="160000"/>
              </a:lnSpc>
            </a:pPr>
            <a:r>
              <a:rPr lang="zh-CN" altLang="en-US" sz="2000" b="1" dirty="0">
                <a:solidFill>
                  <a:srgbClr val="FF0000"/>
                </a:solidFill>
                <a:latin typeface="微软雅黑" panose="020B0503020204020204" charset="-122"/>
                <a:ea typeface="微软雅黑" panose="020B0503020204020204" charset="-122"/>
              </a:rPr>
              <a:t>选课系统案例：</a:t>
            </a:r>
            <a:r>
              <a:rPr lang="en-US" altLang="zh-CN" sz="2000" b="1" dirty="0">
                <a:solidFill>
                  <a:srgbClr val="FF0000"/>
                </a:solidFill>
                <a:latin typeface="微软雅黑" panose="020B0503020204020204" charset="-122"/>
                <a:ea typeface="微软雅黑" panose="020B0503020204020204" charset="-122"/>
              </a:rPr>
              <a:t>word</a:t>
            </a:r>
            <a:r>
              <a:rPr lang="zh-CN" altLang="en-US" sz="2000" b="1" dirty="0">
                <a:solidFill>
                  <a:srgbClr val="FF0000"/>
                </a:solidFill>
                <a:latin typeface="微软雅黑" panose="020B0503020204020204" charset="-122"/>
                <a:ea typeface="微软雅黑" panose="020B0503020204020204" charset="-122"/>
              </a:rPr>
              <a:t>文档中</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43</a:t>
            </a:fld>
            <a:endParaRPr lang="zh-CN" altLang="en-US"/>
          </a:p>
        </p:txBody>
      </p:sp>
    </p:spTree>
    <p:custDataLst>
      <p:tags r:id="rId1"/>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sz="3600">
                <a:latin typeface="微软雅黑" panose="020B0503020204020204" charset="-122"/>
                <a:cs typeface="微软雅黑" panose="020B0503020204020204" charset="-122"/>
                <a:sym typeface="+mn-ea"/>
              </a:rPr>
              <a:t>基于场景的测试</a:t>
            </a:r>
            <a:endParaRPr lang="zh-CN" altLang="en-US" sz="3600">
              <a:latin typeface="微软雅黑" panose="020B0503020204020204" charset="-122"/>
              <a:cs typeface="微软雅黑" panose="020B0503020204020204" charset="-122"/>
              <a:sym typeface="+mn-ea"/>
            </a:endParaRPr>
          </a:p>
        </p:txBody>
      </p:sp>
      <p:sp>
        <p:nvSpPr>
          <p:cNvPr id="5" name="内容占位符 4"/>
          <p:cNvSpPr>
            <a:spLocks noGrp="1"/>
          </p:cNvSpPr>
          <p:nvPr>
            <p:ph idx="1"/>
          </p:nvPr>
        </p:nvSpPr>
        <p:spPr>
          <a:xfrm>
            <a:off x="502285" y="1492885"/>
            <a:ext cx="8139430" cy="4175125"/>
          </a:xfrm>
        </p:spPr>
        <p:txBody>
          <a:bodyPr>
            <a:normAutofit/>
          </a:bodyPr>
          <a:lstStyle/>
          <a:p>
            <a:r>
              <a:rPr lang="en-US" altLang="zh-CN" sz="3600" b="1">
                <a:solidFill>
                  <a:schemeClr val="dk1"/>
                </a:solidFill>
                <a:latin typeface="微软雅黑" panose="020B0503020204020204" charset="-122"/>
                <a:sym typeface="+mn-ea"/>
              </a:rPr>
              <a:t> </a:t>
            </a:r>
            <a:r>
              <a:rPr sz="3200" b="1">
                <a:solidFill>
                  <a:schemeClr val="dk1"/>
                </a:solidFill>
                <a:latin typeface="微软雅黑" panose="020B0503020204020204" charset="-122"/>
                <a:sym typeface="+mn-ea"/>
              </a:rPr>
              <a:t>注意事项</a:t>
            </a:r>
            <a:endParaRPr lang="en-US" altLang="zh-CN" sz="3200" b="1" dirty="0">
              <a:solidFill>
                <a:schemeClr val="dk1"/>
              </a:solidFill>
              <a:latin typeface="微软雅黑" panose="020B0503020204020204" charset="-122"/>
              <a:ea typeface="微软雅黑" panose="020B0503020204020204" charset="-122"/>
            </a:endParaRPr>
          </a:p>
          <a:p>
            <a:pPr marL="800100" lvl="1" indent="-457200">
              <a:lnSpc>
                <a:spcPct val="160000"/>
              </a:lnSpc>
              <a:buAutoNum type="arabicPeriod"/>
            </a:pPr>
            <a:r>
              <a:rPr dirty="0">
                <a:solidFill>
                  <a:schemeClr val="dk1"/>
                </a:solidFill>
                <a:latin typeface="微软雅黑" panose="020B0503020204020204" charset="-122"/>
                <a:ea typeface="微软雅黑" panose="020B0503020204020204" charset="-122"/>
              </a:rPr>
              <a:t>设计测试用例时，一个测试用例唯一对应一个场景，但一个场景可能需要设计多个测试用例;</a:t>
            </a:r>
          </a:p>
          <a:p>
            <a:pPr marL="800100" lvl="1" indent="-457200">
              <a:lnSpc>
                <a:spcPct val="160000"/>
              </a:lnSpc>
              <a:buAutoNum type="arabicPeriod"/>
            </a:pPr>
            <a:r>
              <a:rPr dirty="0">
                <a:solidFill>
                  <a:schemeClr val="dk1"/>
                </a:solidFill>
                <a:latin typeface="微软雅黑" panose="020B0503020204020204" charset="-122"/>
                <a:ea typeface="微软雅黑" panose="020B0503020204020204" charset="-122"/>
              </a:rPr>
              <a:t>基于场景的测试仅需针对输入域展开分析，不适于从输出域来展开测试;</a:t>
            </a:r>
          </a:p>
          <a:p>
            <a:pPr marL="800100" lvl="1" indent="-457200">
              <a:lnSpc>
                <a:spcPct val="160000"/>
              </a:lnSpc>
              <a:buAutoNum type="arabicPeriod"/>
            </a:pPr>
            <a:r>
              <a:rPr dirty="0">
                <a:solidFill>
                  <a:schemeClr val="dk1"/>
                </a:solidFill>
                <a:latin typeface="微软雅黑" panose="020B0503020204020204" charset="-122"/>
                <a:ea typeface="微软雅黑" panose="020B0503020204020204" charset="-122"/>
              </a:rPr>
              <a:t>构建场景时可能存在逻辑上可行，而实际上完全不可能实现的场景。（参加第</a:t>
            </a:r>
            <a:r>
              <a:rPr lang="en-US" altLang="zh-CN" dirty="0">
                <a:solidFill>
                  <a:schemeClr val="dk1"/>
                </a:solidFill>
                <a:latin typeface="微软雅黑" panose="020B0503020204020204" charset="-122"/>
                <a:ea typeface="微软雅黑" panose="020B0503020204020204" charset="-122"/>
              </a:rPr>
              <a:t>4</a:t>
            </a:r>
            <a:r>
              <a:rPr dirty="0">
                <a:solidFill>
                  <a:schemeClr val="dk1"/>
                </a:solidFill>
                <a:latin typeface="微软雅黑" panose="020B0503020204020204" charset="-122"/>
                <a:ea typeface="微软雅黑" panose="020B0503020204020204" charset="-122"/>
              </a:rPr>
              <a:t>章</a:t>
            </a:r>
            <a:r>
              <a:rPr lang="en-US" altLang="zh-CN" dirty="0">
                <a:solidFill>
                  <a:schemeClr val="dk1"/>
                </a:solidFill>
                <a:latin typeface="微软雅黑" panose="020B0503020204020204" charset="-122"/>
                <a:ea typeface="微软雅黑" panose="020B0503020204020204" charset="-122"/>
              </a:rPr>
              <a:t> </a:t>
            </a:r>
            <a:r>
              <a:rPr dirty="0">
                <a:solidFill>
                  <a:schemeClr val="dk1"/>
                </a:solidFill>
                <a:latin typeface="微软雅黑" panose="020B0503020204020204" charset="-122"/>
                <a:ea typeface="微软雅黑" panose="020B0503020204020204" charset="-122"/>
              </a:rPr>
              <a:t>案例分析</a:t>
            </a:r>
            <a:r>
              <a:rPr lang="en-US" altLang="zh-CN" dirty="0">
                <a:solidFill>
                  <a:schemeClr val="dk1"/>
                </a:solidFill>
                <a:latin typeface="微软雅黑" panose="020B0503020204020204" charset="-122"/>
                <a:ea typeface="微软雅黑" panose="020B0503020204020204" charset="-122"/>
              </a:rPr>
              <a:t>——</a:t>
            </a:r>
            <a:r>
              <a:rPr dirty="0">
                <a:solidFill>
                  <a:schemeClr val="dk1"/>
                </a:solidFill>
                <a:latin typeface="微软雅黑" panose="020B0503020204020204" charset="-122"/>
                <a:ea typeface="微软雅黑" panose="020B0503020204020204" charset="-122"/>
              </a:rPr>
              <a:t>信息采集系统）</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t>45</a:t>
            </a:fld>
            <a:endParaRPr lang="en-US" altLang="zh-CN" sz="1200" dirty="0"/>
          </a:p>
        </p:txBody>
      </p:sp>
      <p:sp>
        <p:nvSpPr>
          <p:cNvPr id="144387" name="Rectangle 2"/>
          <p:cNvSpPr>
            <a:spLocks noGrp="1"/>
          </p:cNvSpPr>
          <p:nvPr>
            <p:ph type="title"/>
          </p:nvPr>
        </p:nvSpPr>
        <p:spPr/>
        <p:txBody>
          <a:bodyPr vert="horz" wrap="square" lIns="91440" tIns="45720" rIns="91440" bIns="45720" anchor="b" anchorCtr="0"/>
          <a:lstStyle/>
          <a:p>
            <a:pPr algn="l" eaLnBrk="1" fontAlgn="base" hangingPunct="1">
              <a:buClrTx/>
              <a:buSzTx/>
              <a:buFontTx/>
            </a:pPr>
            <a:r>
              <a:rPr lang="zh-CN" altLang="en-US" sz="3600" b="1" spc="0" dirty="0">
                <a:latin typeface="微软雅黑" panose="020B0503020204020204" charset="-122"/>
                <a:cs typeface="微软雅黑" panose="020B0503020204020204" charset="-122"/>
              </a:rPr>
              <a:t>黑盒测试总结</a:t>
            </a:r>
          </a:p>
        </p:txBody>
      </p:sp>
      <p:sp>
        <p:nvSpPr>
          <p:cNvPr id="144388" name="Rectangle 3"/>
          <p:cNvSpPr>
            <a:spLocks noGrp="1"/>
          </p:cNvSpPr>
          <p:nvPr>
            <p:ph idx="1"/>
          </p:nvPr>
        </p:nvSpPr>
        <p:spPr>
          <a:xfrm>
            <a:off x="502285" y="1530985"/>
            <a:ext cx="8139430" cy="4137025"/>
          </a:xfrm>
        </p:spPr>
        <p:txBody>
          <a:bodyPr vert="horz" wrap="square" lIns="91440" tIns="45720" rIns="91440" bIns="45720" anchor="t" anchorCtr="0"/>
          <a:lstStyle/>
          <a:p>
            <a:pPr eaLnBrk="1" hangingPunct="1"/>
            <a:r>
              <a:rPr lang="zh-CN" altLang="en-US" sz="3200" b="1" dirty="0"/>
              <a:t>功能层面的测试方法</a:t>
            </a:r>
            <a:endParaRPr lang="en-US" altLang="zh-CN" sz="3200" b="1" dirty="0"/>
          </a:p>
          <a:p>
            <a:pPr lvl="1" eaLnBrk="1" hangingPunct="1">
              <a:lnSpc>
                <a:spcPct val="150000"/>
              </a:lnSpc>
            </a:pPr>
            <a:r>
              <a:rPr lang="zh-CN" altLang="en-US" dirty="0"/>
              <a:t>侧重于系统业务流程的梳理。</a:t>
            </a:r>
            <a:endParaRPr lang="en-US" altLang="zh-CN" dirty="0"/>
          </a:p>
          <a:p>
            <a:pPr lvl="1" eaLnBrk="1" hangingPunct="1">
              <a:lnSpc>
                <a:spcPct val="150000"/>
              </a:lnSpc>
            </a:pPr>
            <a:r>
              <a:rPr lang="zh-CN" altLang="en-US" dirty="0"/>
              <a:t>基本思想：基于动态业务过程设计用例，目标是希望测试能完全覆盖所有的主业务流程，保证系统在各功能点交叉约束条件下能实现用户期望的基本功能。</a:t>
            </a:r>
            <a:endParaRPr lang="en-US" altLang="zh-CN" dirty="0"/>
          </a:p>
          <a:p>
            <a:pPr lvl="1" eaLnBrk="1" hangingPunct="1">
              <a:lnSpc>
                <a:spcPct val="150000"/>
              </a:lnSpc>
            </a:pPr>
            <a:r>
              <a:rPr lang="zh-CN" altLang="en-US" dirty="0"/>
              <a:t>典型方法：基于场景的测试。</a:t>
            </a:r>
            <a:endParaRPr lang="en-US" altLang="zh-CN" dirty="0"/>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t>46</a:t>
            </a:fld>
            <a:endParaRPr lang="en-US" altLang="zh-CN" sz="1200" dirty="0"/>
          </a:p>
        </p:txBody>
      </p:sp>
      <p:sp>
        <p:nvSpPr>
          <p:cNvPr id="145411" name="Rectangle 2"/>
          <p:cNvSpPr>
            <a:spLocks noGrp="1"/>
          </p:cNvSpPr>
          <p:nvPr>
            <p:ph type="title"/>
          </p:nvPr>
        </p:nvSpPr>
        <p:spPr/>
        <p:txBody>
          <a:bodyPr vert="horz" wrap="square" lIns="91440" tIns="45720" rIns="91440" bIns="45720" anchor="b" anchorCtr="0"/>
          <a:lstStyle/>
          <a:p>
            <a:pPr algn="l" eaLnBrk="1" fontAlgn="base" hangingPunct="1">
              <a:buClrTx/>
              <a:buSzTx/>
              <a:buFontTx/>
            </a:pPr>
            <a:r>
              <a:rPr lang="zh-CN" altLang="en-US" sz="3600" b="1" spc="0" dirty="0">
                <a:latin typeface="微软雅黑" panose="020B0503020204020204" charset="-122"/>
                <a:cs typeface="微软雅黑" panose="020B0503020204020204" charset="-122"/>
              </a:rPr>
              <a:t>黑盒测试总结</a:t>
            </a:r>
          </a:p>
        </p:txBody>
      </p:sp>
      <p:sp>
        <p:nvSpPr>
          <p:cNvPr id="145412" name="Rectangle 3"/>
          <p:cNvSpPr>
            <a:spLocks noGrp="1"/>
          </p:cNvSpPr>
          <p:nvPr>
            <p:ph idx="1"/>
          </p:nvPr>
        </p:nvSpPr>
        <p:spPr>
          <a:xfrm>
            <a:off x="502285" y="1316990"/>
            <a:ext cx="8139430" cy="4351020"/>
          </a:xfrm>
        </p:spPr>
        <p:txBody>
          <a:bodyPr vert="horz" wrap="square" lIns="91440" tIns="45720" rIns="91440" bIns="45720" anchor="t" anchorCtr="0"/>
          <a:lstStyle/>
          <a:p>
            <a:pPr eaLnBrk="1" hangingPunct="1"/>
            <a:r>
              <a:rPr lang="zh-CN" altLang="en-US" sz="3200" b="1" dirty="0"/>
              <a:t>函数层面的测试方法</a:t>
            </a:r>
            <a:endParaRPr lang="en-US" altLang="zh-CN" sz="3200" b="1" dirty="0"/>
          </a:p>
          <a:p>
            <a:pPr lvl="1" eaLnBrk="1" hangingPunct="1">
              <a:lnSpc>
                <a:spcPct val="150000"/>
              </a:lnSpc>
            </a:pPr>
            <a:r>
              <a:rPr lang="zh-CN" altLang="en-US" dirty="0"/>
              <a:t>侧重于系统测试数据的选择。</a:t>
            </a:r>
            <a:endParaRPr lang="en-US" altLang="zh-CN" dirty="0"/>
          </a:p>
          <a:p>
            <a:pPr lvl="1" eaLnBrk="1" hangingPunct="1">
              <a:lnSpc>
                <a:spcPct val="150000"/>
              </a:lnSpc>
            </a:pPr>
            <a:r>
              <a:rPr lang="zh-CN" altLang="en-US" dirty="0"/>
              <a:t>基本思想：基于静态的测试数据来设计用例，目标是希望测试能完全覆盖所有的有效和无效输入或输出域，并重点覆盖边界及边界附近的数据，保证系统对所有可能的输入数据都能正确处理。</a:t>
            </a:r>
            <a:endParaRPr lang="en-US" altLang="zh-CN" dirty="0"/>
          </a:p>
          <a:p>
            <a:pPr lvl="1" eaLnBrk="1" hangingPunct="1">
              <a:lnSpc>
                <a:spcPct val="150000"/>
              </a:lnSpc>
            </a:pPr>
            <a:r>
              <a:rPr lang="zh-CN" altLang="en-US" dirty="0"/>
              <a:t>典型方法：边界值测试、等价类测试、基于决策表的测试和基于正交表的测试。</a:t>
            </a:r>
            <a:endParaRPr lang="en-US" altLang="zh-CN" dirty="0"/>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t>47</a:t>
            </a:fld>
            <a:endParaRPr lang="en-US" altLang="zh-CN" sz="1200" dirty="0"/>
          </a:p>
        </p:txBody>
      </p:sp>
      <p:sp>
        <p:nvSpPr>
          <p:cNvPr id="146435" name="Rectangle 2"/>
          <p:cNvSpPr>
            <a:spLocks noGrp="1"/>
          </p:cNvSpPr>
          <p:nvPr>
            <p:ph type="title"/>
          </p:nvPr>
        </p:nvSpPr>
        <p:spPr/>
        <p:txBody>
          <a:bodyPr vert="horz" wrap="square" lIns="91440" tIns="45720" rIns="91440" bIns="45720" anchor="b" anchorCtr="0"/>
          <a:lstStyle/>
          <a:p>
            <a:pPr algn="l" eaLnBrk="1" fontAlgn="base" hangingPunct="1">
              <a:buClrTx/>
              <a:buSzTx/>
              <a:buFontTx/>
            </a:pPr>
            <a:r>
              <a:rPr lang="zh-CN" altLang="en-US" sz="3600" b="1" spc="0" dirty="0">
                <a:latin typeface="微软雅黑" panose="020B0503020204020204" charset="-122"/>
                <a:cs typeface="微软雅黑" panose="020B0503020204020204" charset="-122"/>
              </a:rPr>
              <a:t>黑盒测试总结</a:t>
            </a:r>
          </a:p>
        </p:txBody>
      </p:sp>
      <p:sp>
        <p:nvSpPr>
          <p:cNvPr id="146436" name="Rectangle 3"/>
          <p:cNvSpPr>
            <a:spLocks noGrp="1"/>
          </p:cNvSpPr>
          <p:nvPr>
            <p:ph idx="1"/>
          </p:nvPr>
        </p:nvSpPr>
        <p:spPr>
          <a:xfrm>
            <a:off x="502285" y="1412240"/>
            <a:ext cx="8139430" cy="4853940"/>
          </a:xfrm>
        </p:spPr>
        <p:txBody>
          <a:bodyPr vert="horz" wrap="square" lIns="91440" tIns="45720" rIns="91440" bIns="45720" anchor="t" anchorCtr="0">
            <a:normAutofit fontScale="92500" lnSpcReduction="10000"/>
          </a:bodyPr>
          <a:lstStyle/>
          <a:p>
            <a:pPr eaLnBrk="1" hangingPunct="1">
              <a:lnSpc>
                <a:spcPct val="150000"/>
              </a:lnSpc>
            </a:pPr>
            <a:r>
              <a:rPr lang="zh-CN" altLang="en-US" sz="3500" b="1" dirty="0"/>
              <a:t>综合使用策略</a:t>
            </a:r>
            <a:r>
              <a:rPr lang="zh-CN" altLang="en-US" sz="2600" b="1" dirty="0"/>
              <a:t>（先整体再细节）</a:t>
            </a:r>
            <a:endParaRPr lang="en-US" altLang="zh-CN" sz="3500" b="1" dirty="0"/>
          </a:p>
          <a:p>
            <a:pPr lvl="1" eaLnBrk="1" hangingPunct="1">
              <a:lnSpc>
                <a:spcPct val="150000"/>
              </a:lnSpc>
            </a:pPr>
            <a:r>
              <a:rPr lang="zh-CN" altLang="en-US" dirty="0"/>
              <a:t>对于业务流程清晰的系统，基于场景思想进行测试；</a:t>
            </a:r>
            <a:endParaRPr lang="en-US" altLang="zh-CN" dirty="0"/>
          </a:p>
          <a:p>
            <a:pPr lvl="1" eaLnBrk="1" hangingPunct="1">
              <a:lnSpc>
                <a:spcPct val="150000"/>
              </a:lnSpc>
            </a:pPr>
            <a:r>
              <a:rPr lang="zh-CN" altLang="en-US" dirty="0"/>
              <a:t>在任何情况下都需要使用边界值测试；</a:t>
            </a:r>
            <a:endParaRPr lang="en-US" altLang="zh-CN" dirty="0"/>
          </a:p>
          <a:p>
            <a:pPr lvl="1" eaLnBrk="1" hangingPunct="1">
              <a:lnSpc>
                <a:spcPct val="150000"/>
              </a:lnSpc>
            </a:pPr>
            <a:r>
              <a:rPr lang="zh-CN" altLang="en-US" dirty="0"/>
              <a:t>在任何情况下都需要使用等价类测试；</a:t>
            </a:r>
            <a:endParaRPr lang="en-US" altLang="zh-CN" dirty="0"/>
          </a:p>
          <a:p>
            <a:pPr lvl="1" eaLnBrk="1" hangingPunct="1">
              <a:lnSpc>
                <a:spcPct val="150000"/>
              </a:lnSpc>
            </a:pPr>
            <a:r>
              <a:rPr lang="zh-CN" altLang="en-US" dirty="0"/>
              <a:t>若被测对象输入条件之间包含相互依赖关系，则基于有效域的等价划分，使用决策表测试；</a:t>
            </a:r>
            <a:endParaRPr lang="en-US" altLang="zh-CN" dirty="0"/>
          </a:p>
          <a:p>
            <a:pPr lvl="1" eaLnBrk="1" hangingPunct="1">
              <a:lnSpc>
                <a:spcPct val="150000"/>
              </a:lnSpc>
            </a:pPr>
            <a:r>
              <a:rPr lang="zh-CN" altLang="en-US" dirty="0"/>
              <a:t>对于参数配置类的软件系统，或对被测对象完全不了解时，采用正交表的测试方法。</a:t>
            </a:r>
          </a:p>
          <a:p>
            <a:pPr lvl="1" eaLnBrk="1" hangingPunct="1">
              <a:lnSpc>
                <a:spcPct val="150000"/>
              </a:lnSpc>
            </a:pPr>
            <a:r>
              <a:rPr dirty="0"/>
              <a:t>其它测试方法：错误推测法、随机测试法等自己了解一下。</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p:cNvSpPr>
          <p:nvPr>
            <p:ph idx="1"/>
            <p:custDataLst>
              <p:tags r:id="rId1"/>
            </p:custDataLst>
          </p:nvPr>
        </p:nvSpPr>
        <p:spPr>
          <a:xfrm>
            <a:off x="685800" y="1633538"/>
            <a:ext cx="7772400" cy="533400"/>
          </a:xfrm>
        </p:spPr>
        <p:txBody>
          <a:bodyPr vert="horz" wrap="square" lIns="91440" tIns="45720" rIns="91440" bIns="45720" anchor="t" anchorCtr="0">
            <a:noAutofit/>
          </a:bodyPr>
          <a:lstStyle/>
          <a:p>
            <a:pPr eaLnBrk="1" hangingPunct="1">
              <a:lnSpc>
                <a:spcPct val="90000"/>
              </a:lnSpc>
            </a:pPr>
            <a:r>
              <a:rPr lang="zh-CN" altLang="en-US" sz="3200" b="1" dirty="0">
                <a:solidFill>
                  <a:schemeClr val="tx1"/>
                </a:solidFill>
                <a:latin typeface="微软雅黑" panose="020B0503020204020204" charset="-122"/>
              </a:rPr>
              <a:t>指导方针</a:t>
            </a:r>
          </a:p>
        </p:txBody>
      </p:sp>
      <p:sp>
        <p:nvSpPr>
          <p:cNvPr id="55300" name="Text Box 4"/>
          <p:cNvSpPr txBox="1"/>
          <p:nvPr/>
        </p:nvSpPr>
        <p:spPr>
          <a:xfrm>
            <a:off x="752475" y="2309813"/>
            <a:ext cx="80010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若变量引用的是物理量</a:t>
            </a: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(P)</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，可用定义域测试和等价类测试；</a:t>
            </a:r>
          </a:p>
        </p:txBody>
      </p:sp>
      <p:sp>
        <p:nvSpPr>
          <p:cNvPr id="55301" name="Text Box 5"/>
          <p:cNvSpPr txBox="1"/>
          <p:nvPr/>
        </p:nvSpPr>
        <p:spPr>
          <a:xfrm>
            <a:off x="752475" y="2843213"/>
            <a:ext cx="75438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若变量是独立的，可采用定义域测试和等价类测试；</a:t>
            </a:r>
          </a:p>
        </p:txBody>
      </p:sp>
      <p:sp>
        <p:nvSpPr>
          <p:cNvPr id="55302" name="Text Box 6"/>
          <p:cNvSpPr txBox="1"/>
          <p:nvPr/>
        </p:nvSpPr>
        <p:spPr>
          <a:xfrm>
            <a:off x="752475" y="3330575"/>
            <a:ext cx="75438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若变量不是独立的，可采用决策表测试；</a:t>
            </a:r>
          </a:p>
        </p:txBody>
      </p:sp>
      <p:sp>
        <p:nvSpPr>
          <p:cNvPr id="55303" name="Text Box 7"/>
          <p:cNvSpPr txBox="1"/>
          <p:nvPr/>
        </p:nvSpPr>
        <p:spPr>
          <a:xfrm>
            <a:off x="752475" y="3863975"/>
            <a:ext cx="75438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若可保证单缺陷假设，可采用边界值分析和健壮性测试；</a:t>
            </a:r>
          </a:p>
        </p:txBody>
      </p:sp>
      <p:sp>
        <p:nvSpPr>
          <p:cNvPr id="55304" name="Text Box 8"/>
          <p:cNvSpPr txBox="1"/>
          <p:nvPr/>
        </p:nvSpPr>
        <p:spPr>
          <a:xfrm>
            <a:off x="752475" y="4351338"/>
            <a:ext cx="82296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若保证多缺陷假设，可用最坏情况、健壮最坏和决策表测试；</a:t>
            </a:r>
          </a:p>
        </p:txBody>
      </p:sp>
      <p:sp>
        <p:nvSpPr>
          <p:cNvPr id="55305" name="Text Box 9"/>
          <p:cNvSpPr txBox="1"/>
          <p:nvPr/>
        </p:nvSpPr>
        <p:spPr>
          <a:xfrm>
            <a:off x="752475" y="4854575"/>
            <a:ext cx="754380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若程序包含大量例外处理，可采用健壮性和决策表测试；</a:t>
            </a:r>
          </a:p>
        </p:txBody>
      </p:sp>
      <p:sp>
        <p:nvSpPr>
          <p:cNvPr id="55306" name="Text Box 10"/>
          <p:cNvSpPr txBox="1"/>
          <p:nvPr/>
        </p:nvSpPr>
        <p:spPr>
          <a:xfrm>
            <a:off x="752475" y="5357813"/>
            <a:ext cx="7689850" cy="429895"/>
          </a:xfrm>
          <a:prstGeom prst="rect">
            <a:avLst/>
          </a:prstGeom>
          <a:noFill/>
          <a:ln w="9525">
            <a:noFill/>
          </a:ln>
        </p:spPr>
        <p:txBody>
          <a:bodyPr>
            <a:spAutoFit/>
          </a:bodyPr>
          <a:lstStyle/>
          <a:p>
            <a:pPr algn="l">
              <a:spcBef>
                <a:spcPct val="50000"/>
              </a:spcBef>
              <a:buClr>
                <a:schemeClr val="bg2"/>
              </a:buClr>
              <a:buFont typeface="Wingdings" panose="05000000000000000000" pitchFamily="2" charset="2"/>
              <a:buChar char="q"/>
            </a:pP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若变量引用的是逻辑量</a:t>
            </a:r>
            <a:r>
              <a:rPr lang="en-US" altLang="zh-CN"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(L)</a:t>
            </a:r>
            <a:r>
              <a:rPr lang="zh-CN" altLang="en-US" sz="2200" dirty="0">
                <a:solidFill>
                  <a:schemeClr val="tx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，可采用等价类和决策表测试。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48</a:t>
            </a:fld>
            <a:endParaRPr lang="zh-CN" altLang="en-US"/>
          </a:p>
        </p:txBody>
      </p:sp>
      <p:sp>
        <p:nvSpPr>
          <p:cNvPr id="5" name="Rectangle 2"/>
          <p:cNvSpPr>
            <a:spLocks noGrp="1" noChangeArrowheads="1"/>
          </p:cNvSpPr>
          <p:nvPr>
            <p:ph type="title"/>
          </p:nvPr>
        </p:nvSpPr>
        <p:spPr>
          <a:xfrm>
            <a:off x="613410" y="405130"/>
            <a:ext cx="7884795" cy="1008380"/>
          </a:xfrm>
          <a:solidFill>
            <a:srgbClr val="000000">
              <a:alpha val="0"/>
            </a:srgbClr>
          </a:solidFill>
        </p:spPr>
        <p:txBody>
          <a:bodyPr vert="horz" wrap="square" lIns="91440" tIns="45720" rIns="91440" bIns="45720" numCol="1" anchor="ctr" anchorCtr="0" compatLnSpc="1"/>
          <a:lstStyle/>
          <a:p>
            <a:pPr marL="0" marR="0" lvl="0" algn="just" defTabSz="914400" rtl="0" eaLnBrk="1" fontAlgn="base" latinLnBrk="0" hangingPunct="1">
              <a:lnSpc>
                <a:spcPct val="100000"/>
              </a:lnSpc>
              <a:buClrTx/>
              <a:buSzTx/>
              <a:buFontTx/>
              <a:buNone/>
              <a:defRPr/>
            </a:pPr>
            <a:r>
              <a:rPr kumimoji="0" lang="zh-CN" altLang="en-US" sz="3600" i="0" u="none" strike="noStrike" cap="none" spc="0" normalizeH="0" baseline="0">
                <a:uFillTx/>
                <a:latin typeface="微软雅黑" panose="020B0503020204020204" charset="-122"/>
                <a:cs typeface="微软雅黑" panose="020B0503020204020204" charset="-122"/>
              </a:rPr>
              <a:t>黑盒测试</a:t>
            </a:r>
            <a:r>
              <a:rPr sz="3600" spc="0">
                <a:latin typeface="微软雅黑" panose="020B0503020204020204" charset="-122"/>
                <a:cs typeface="微软雅黑" panose="020B0503020204020204" charset="-122"/>
                <a:sym typeface="+mn-ea"/>
              </a:rPr>
              <a:t>总结</a:t>
            </a:r>
            <a:endParaRPr kumimoji="0" lang="zh-CN" altLang="en-US" sz="4800" b="0" i="0" u="none" strike="noStrike" kern="0" cap="none" spc="0" normalizeH="0" baseline="0" noProof="0">
              <a:ln>
                <a:noFill/>
              </a:ln>
              <a:solidFill>
                <a:schemeClr val="accent1"/>
              </a:solidFill>
              <a:effectLst/>
              <a:uLnTx/>
              <a:uFillTx/>
              <a:ea typeface="汉仪文黑-85W" panose="00020600040101010101" charset="-122"/>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3" name="表格占位符 56322"/>
          <p:cNvGraphicFramePr>
            <a:graphicFrameLocks noGrp="1"/>
          </p:cNvGraphicFramePr>
          <p:nvPr>
            <p:ph type="tbl" idx="4294967295"/>
            <p:custDataLst>
              <p:tags r:id="rId1"/>
            </p:custDataLst>
          </p:nvPr>
        </p:nvGraphicFramePr>
        <p:xfrm>
          <a:off x="544830" y="1617980"/>
          <a:ext cx="8280400" cy="4608513"/>
        </p:xfrm>
        <a:graphic>
          <a:graphicData uri="http://schemas.openxmlformats.org/drawingml/2006/table">
            <a:tbl>
              <a:tblPr/>
              <a:tblGrid>
                <a:gridCol w="253365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gridCol w="554038">
                  <a:extLst>
                    <a:ext uri="{9D8B030D-6E8A-4147-A177-3AD203B41FA5}">
                      <a16:colId xmlns:a16="http://schemas.microsoft.com/office/drawing/2014/main" val="20005"/>
                    </a:ext>
                  </a:extLst>
                </a:gridCol>
                <a:gridCol w="546100">
                  <a:extLst>
                    <a:ext uri="{9D8B030D-6E8A-4147-A177-3AD203B41FA5}">
                      <a16:colId xmlns:a16="http://schemas.microsoft.com/office/drawing/2014/main" val="20006"/>
                    </a:ext>
                  </a:extLst>
                </a:gridCol>
                <a:gridCol w="550862">
                  <a:extLst>
                    <a:ext uri="{9D8B030D-6E8A-4147-A177-3AD203B41FA5}">
                      <a16:colId xmlns:a16="http://schemas.microsoft.com/office/drawing/2014/main" val="20007"/>
                    </a:ext>
                  </a:extLst>
                </a:gridCol>
                <a:gridCol w="550863">
                  <a:extLst>
                    <a:ext uri="{9D8B030D-6E8A-4147-A177-3AD203B41FA5}">
                      <a16:colId xmlns:a16="http://schemas.microsoft.com/office/drawing/2014/main" val="20008"/>
                    </a:ext>
                  </a:extLst>
                </a:gridCol>
                <a:gridCol w="549275">
                  <a:extLst>
                    <a:ext uri="{9D8B030D-6E8A-4147-A177-3AD203B41FA5}">
                      <a16:colId xmlns:a16="http://schemas.microsoft.com/office/drawing/2014/main" val="20009"/>
                    </a:ext>
                  </a:extLst>
                </a:gridCol>
                <a:gridCol w="563562">
                  <a:extLst>
                    <a:ext uri="{9D8B030D-6E8A-4147-A177-3AD203B41FA5}">
                      <a16:colId xmlns:a16="http://schemas.microsoft.com/office/drawing/2014/main" val="20010"/>
                    </a:ext>
                  </a:extLst>
                </a:gridCol>
              </a:tblGrid>
              <a:tr h="3746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2000" b="1" dirty="0">
                          <a:solidFill>
                            <a:srgbClr val="FF0000"/>
                          </a:solidFill>
                          <a:latin typeface="微软雅黑" panose="020B0503020204020204" charset="-122"/>
                          <a:ea typeface="微软雅黑" panose="020B0503020204020204" charset="-122"/>
                        </a:rPr>
                        <a:t>条件</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1</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2</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3</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4</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5</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6</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7</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8</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9</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10</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C1:</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变量</a:t>
                      </a: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(P;L)</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P</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P</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P</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P</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P</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L</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L</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L</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L</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L</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313">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C2:</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是独立变量</a:t>
                      </a: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C3:</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是单缺陷假设</a:t>
                      </a: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19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C4:</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有大量例外处理</a:t>
                      </a: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Y</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N</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57150" cap="flat" cmpd="sng">
                      <a:solidFill>
                        <a:srgbClr val="FF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7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A1:</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边界值分析</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57150" cap="flat" cmpd="sng">
                      <a:solidFill>
                        <a:srgbClr val="FF0000"/>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A2:</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健壮性测试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A3:</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最坏情况测试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87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A4:</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健壮最坏情况测试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FF0000"/>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87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A5:</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传统等价类测试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1312">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A6:</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弱等价类测试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A7:</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强等价类测试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FF0000"/>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4488">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cs typeface="微软雅黑" panose="020B0503020204020204" charset="-122"/>
                        </a:rPr>
                        <a:t>A8:</a:t>
                      </a:r>
                      <a:r>
                        <a:rPr lang="zh-CN" altLang="en-US" sz="1800" b="1" dirty="0">
                          <a:solidFill>
                            <a:srgbClr val="0000FF"/>
                          </a:solidFill>
                          <a:latin typeface="微软雅黑" panose="020B0503020204020204" charset="-122"/>
                          <a:ea typeface="微软雅黑" panose="020B0503020204020204" charset="-122"/>
                          <a:cs typeface="微软雅黑" panose="020B0503020204020204" charset="-122"/>
                        </a:rPr>
                        <a:t>决策表测试</a:t>
                      </a:r>
                    </a:p>
                  </a:txBody>
                  <a:tcPr marL="0" marR="0" marT="0" marB="0">
                    <a:lnL w="28575" cap="flat" cmpd="sng">
                      <a:solidFill>
                        <a:schemeClr val="tx1"/>
                      </a:solidFill>
                      <a:prstDash val="solid"/>
                      <a:headEnd type="none" w="med" len="med"/>
                      <a:tailEnd type="none" w="med" len="med"/>
                    </a:lnL>
                    <a:lnR w="38100" cap="flat" cmpd="sng">
                      <a:solidFill>
                        <a:srgbClr val="FF0000"/>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38100" cap="flat" cmpd="sng">
                      <a:solidFill>
                        <a:srgbClr val="FF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FF0000"/>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endParaRPr lang="zh-CN" altLang="zh-CN" sz="1800" b="1" dirty="0">
                        <a:solidFill>
                          <a:srgbClr val="0000FF"/>
                        </a:solidFill>
                        <a:latin typeface="微软雅黑" panose="020B0503020204020204" charset="-122"/>
                        <a:ea typeface="微软雅黑" panose="020B0503020204020204"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800" b="1" dirty="0">
                          <a:solidFill>
                            <a:srgbClr val="0000FF"/>
                          </a:solidFill>
                          <a:latin typeface="微软雅黑" panose="020B0503020204020204" charset="-122"/>
                          <a:ea typeface="微软雅黑" panose="020B0503020204020204" charset="-122"/>
                        </a:rPr>
                        <a:t>×</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49</a:t>
            </a:fld>
            <a:endParaRPr lang="zh-CN" altLang="en-US" dirty="0"/>
          </a:p>
        </p:txBody>
      </p:sp>
      <p:sp>
        <p:nvSpPr>
          <p:cNvPr id="5" name="Rectangle 2"/>
          <p:cNvSpPr>
            <a:spLocks noGrp="1" noChangeArrowheads="1"/>
          </p:cNvSpPr>
          <p:nvPr>
            <p:ph type="title"/>
          </p:nvPr>
        </p:nvSpPr>
        <p:spPr>
          <a:xfrm>
            <a:off x="613410" y="405130"/>
            <a:ext cx="7884795" cy="1008380"/>
          </a:xfrm>
          <a:solidFill>
            <a:srgbClr val="000000">
              <a:alpha val="0"/>
            </a:srgbClr>
          </a:solidFill>
        </p:spPr>
        <p:txBody>
          <a:bodyPr vert="horz" wrap="square" lIns="91440" tIns="45720" rIns="91440" bIns="45720" numCol="1" anchor="ctr" anchorCtr="0" compatLnSpc="1"/>
          <a:lstStyle/>
          <a:p>
            <a:pPr marL="0" marR="0" lvl="0" algn="just" defTabSz="914400" rtl="0" eaLnBrk="1" fontAlgn="base" latinLnBrk="0" hangingPunct="1">
              <a:lnSpc>
                <a:spcPct val="100000"/>
              </a:lnSpc>
              <a:buClrTx/>
              <a:buSzTx/>
              <a:buFontTx/>
              <a:buNone/>
              <a:defRPr/>
            </a:pPr>
            <a:r>
              <a:rPr kumimoji="0" lang="zh-CN" altLang="en-US" sz="3600" i="0" u="none" strike="noStrike" cap="none" spc="0" normalizeH="0" baseline="0">
                <a:uFillTx/>
                <a:latin typeface="微软雅黑" panose="020B0503020204020204" charset="-122"/>
                <a:cs typeface="微软雅黑" panose="020B0503020204020204" charset="-122"/>
              </a:rPr>
              <a:t>黑盒测试</a:t>
            </a:r>
            <a:r>
              <a:rPr lang="zh-CN" altLang="en-US" sz="3600" spc="0">
                <a:latin typeface="微软雅黑" panose="020B0503020204020204" charset="-122"/>
                <a:cs typeface="微软雅黑" panose="020B0503020204020204" charset="-122"/>
                <a:sym typeface="+mn-ea"/>
              </a:rPr>
              <a:t>总结</a:t>
            </a:r>
            <a:endParaRPr kumimoji="0" lang="zh-CN" altLang="en-US" sz="3600" i="0" u="none" strike="noStrike" cap="none" spc="0" normalizeH="0" baseline="0">
              <a:uFillTx/>
              <a:latin typeface="微软雅黑" panose="020B0503020204020204" charset="-122"/>
              <a:cs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p:cNvSpPr>
            <a:spLocks noGrp="1"/>
          </p:cNvSpPr>
          <p:nvPr>
            <p:ph idx="1"/>
            <p:custDataLst>
              <p:tags r:id="rId1"/>
            </p:custDataLst>
          </p:nvPr>
        </p:nvSpPr>
        <p:spPr>
          <a:xfrm>
            <a:off x="613410" y="1562100"/>
            <a:ext cx="7931785" cy="4396740"/>
          </a:xfrm>
        </p:spPr>
        <p:txBody>
          <a:bodyPr vert="horz" wrap="square" lIns="91440" tIns="45720" rIns="91440" bIns="45720" anchor="t" anchorCtr="0"/>
          <a:lstStyle/>
          <a:p>
            <a:pPr eaLnBrk="1" hangingPunct="1">
              <a:lnSpc>
                <a:spcPct val="150000"/>
              </a:lnSpc>
            </a:pPr>
            <a:r>
              <a:rPr lang="zh-CN" altLang="en-US" b="1" dirty="0">
                <a:solidFill>
                  <a:schemeClr val="dk1"/>
                </a:solidFill>
                <a:latin typeface="微软雅黑" panose="020B0503020204020204" charset="-122"/>
              </a:rPr>
              <a:t>应根据需求规格说明书写测试用例，当需求不明细时，该怎么办？</a:t>
            </a:r>
          </a:p>
          <a:p>
            <a:pPr eaLnBrk="1" hangingPunct="1">
              <a:lnSpc>
                <a:spcPct val="150000"/>
              </a:lnSpc>
            </a:pPr>
            <a:r>
              <a:rPr lang="zh-CN" altLang="en-US" sz="2400" dirty="0">
                <a:solidFill>
                  <a:schemeClr val="dk1"/>
                </a:solidFill>
                <a:latin typeface="微软雅黑" panose="020B0503020204020204" charset="-122"/>
              </a:rPr>
              <a:t>如：有什么按钮，输入些什么数据，数据类型的限制什么的，写测试用例时怎么来编写这些数据？是靠自己想像的还是需要告诉开发人员？</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50</a:t>
            </a:fld>
            <a:endParaRPr lang="zh-CN" altLang="en-US"/>
          </a:p>
        </p:txBody>
      </p:sp>
      <p:sp>
        <p:nvSpPr>
          <p:cNvPr id="5" name="Rectangle 2"/>
          <p:cNvSpPr>
            <a:spLocks noGrp="1" noChangeArrowheads="1"/>
          </p:cNvSpPr>
          <p:nvPr>
            <p:ph type="title"/>
          </p:nvPr>
        </p:nvSpPr>
        <p:spPr>
          <a:xfrm>
            <a:off x="613410" y="405130"/>
            <a:ext cx="7884795" cy="1008380"/>
          </a:xfrm>
          <a:solidFill>
            <a:srgbClr val="000000">
              <a:alpha val="0"/>
            </a:srgbClr>
          </a:solidFill>
        </p:spPr>
        <p:txBody>
          <a:bodyPr vert="horz" wrap="square" lIns="91440" tIns="45720" rIns="91440" bIns="45720" numCol="1" anchor="ctr" anchorCtr="0" compatLnSpc="1"/>
          <a:lstStyle/>
          <a:p>
            <a:pPr marL="0" marR="0" lvl="0" algn="just" defTabSz="914400" rtl="0" eaLnBrk="1" fontAlgn="base" latinLnBrk="0" hangingPunct="1">
              <a:lnSpc>
                <a:spcPct val="100000"/>
              </a:lnSpc>
              <a:buClrTx/>
              <a:buSzTx/>
              <a:buFontTx/>
              <a:buNone/>
              <a:defRPr/>
            </a:pPr>
            <a:r>
              <a:rPr kumimoji="0" lang="zh-CN" altLang="en-US" sz="3600" i="0" u="none" strike="noStrike" cap="none" spc="0" normalizeH="0" baseline="0">
                <a:uFillTx/>
                <a:latin typeface="微软雅黑" panose="020B0503020204020204" charset="-122"/>
                <a:cs typeface="微软雅黑" panose="020B0503020204020204" charset="-122"/>
              </a:rPr>
              <a:t>黑盒测试</a:t>
            </a:r>
            <a:r>
              <a:rPr sz="3600" spc="0">
                <a:latin typeface="微软雅黑" panose="020B0503020204020204" charset="-122"/>
                <a:cs typeface="微软雅黑" panose="020B0503020204020204" charset="-122"/>
                <a:sym typeface="+mn-ea"/>
              </a:rPr>
              <a:t>总结</a:t>
            </a:r>
            <a:endParaRPr kumimoji="0" lang="zh-CN" altLang="en-US" sz="4800" b="0" i="0" u="none" strike="noStrike" kern="0" cap="none" spc="0" normalizeH="0" baseline="0" noProof="0">
              <a:ln>
                <a:noFill/>
              </a:ln>
              <a:solidFill>
                <a:schemeClr val="accent1"/>
              </a:solidFill>
              <a:effectLst/>
              <a:uLnTx/>
              <a:uFillTx/>
              <a:ea typeface="汉仪文黑-85W" panose="00020600040101010101"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8099">
                                            <p:txEl>
                                              <p:pRg st="1" end="1"/>
                                            </p:txEl>
                                          </p:spTgt>
                                        </p:tgtEl>
                                        <p:attrNameLst>
                                          <p:attrName>style.visibility</p:attrName>
                                        </p:attrNameLst>
                                      </p:cBhvr>
                                      <p:to>
                                        <p:strVal val="visible"/>
                                      </p:to>
                                    </p:set>
                                    <p:animEffect transition="in" filter="blinds(horizontal)">
                                      <p:cBhvr>
                                        <p:cTn id="7" dur="500"/>
                                        <p:tgtEl>
                                          <p:spTgt spid="3880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p:cNvSpPr>
          <p:nvPr>
            <p:ph idx="1"/>
          </p:nvPr>
        </p:nvSpPr>
        <p:spPr>
          <a:xfrm>
            <a:off x="468630" y="1671955"/>
            <a:ext cx="8351520" cy="4781550"/>
          </a:xfrm>
        </p:spPr>
        <p:txBody>
          <a:bodyPr vert="horz" wrap="square" lIns="91440" tIns="45720" rIns="91440" bIns="45720" anchor="t" anchorCtr="0"/>
          <a:lstStyle/>
          <a:p>
            <a:pPr algn="l" eaLnBrk="1" hangingPunct="1">
              <a:lnSpc>
                <a:spcPct val="130000"/>
              </a:lnSpc>
              <a:buClrTx/>
              <a:buSzTx/>
            </a:pPr>
            <a:r>
              <a:rPr lang="zh-CN" altLang="en-US" sz="2400" dirty="0">
                <a:solidFill>
                  <a:schemeClr val="dk1"/>
                </a:solidFill>
                <a:latin typeface="微软雅黑" panose="020B0503020204020204" charset="-122"/>
              </a:rPr>
              <a:t>在进行测试的很多项目中都会遇到需求不是很明细的情况。</a:t>
            </a:r>
          </a:p>
          <a:p>
            <a:pPr marL="628650" lvl="2" algn="l" defTabSz="914400" eaLnBrk="1" hangingPunct="1">
              <a:lnSpc>
                <a:spcPct val="130000"/>
              </a:lnSpc>
              <a:buClrTx/>
              <a:buSzTx/>
            </a:pPr>
            <a:r>
              <a:rPr lang="zh-CN" altLang="en-US" sz="1920" dirty="0">
                <a:solidFill>
                  <a:schemeClr val="dk1"/>
                </a:solidFill>
                <a:latin typeface="微软雅黑" panose="020B0503020204020204" charset="-122"/>
              </a:rPr>
              <a:t>若是需求分析错误（不清晰，不明确），那就要让开发团队去修改。确实有些项目（特别是小项目）需求不很详细，一般仅给基本框架，指出要实现什么功能，至于怎么去实现就没有详细定义出来，这时，应多与</a:t>
            </a:r>
            <a:r>
              <a:rPr sz="1920" dirty="0">
                <a:solidFill>
                  <a:schemeClr val="dk1"/>
                </a:solidFill>
                <a:latin typeface="微软雅黑" panose="020B0503020204020204" charset="-122"/>
              </a:rPr>
              <a:t>PM</a:t>
            </a:r>
            <a:r>
              <a:rPr lang="zh-CN" altLang="en-US" sz="1920" dirty="0">
                <a:solidFill>
                  <a:schemeClr val="dk1"/>
                </a:solidFill>
                <a:latin typeface="微软雅黑" panose="020B0503020204020204" charset="-122"/>
              </a:rPr>
              <a:t>和开发团队沟通，从他们口中拿到那些我们想要的</a:t>
            </a:r>
            <a:r>
              <a:rPr sz="1920" dirty="0">
                <a:solidFill>
                  <a:schemeClr val="dk1"/>
                </a:solidFill>
                <a:latin typeface="微软雅黑" panose="020B0503020204020204" charset="-122"/>
              </a:rPr>
              <a:t>detail </a:t>
            </a:r>
            <a:r>
              <a:rPr lang="zh-CN" altLang="en-US" sz="1920" dirty="0">
                <a:solidFill>
                  <a:schemeClr val="dk1"/>
                </a:solidFill>
                <a:latin typeface="微软雅黑" panose="020B0503020204020204" charset="-122"/>
              </a:rPr>
              <a:t>需求。</a:t>
            </a:r>
          </a:p>
          <a:p>
            <a:pPr marL="628650" lvl="2" algn="l" defTabSz="914400" eaLnBrk="1" hangingPunct="1">
              <a:lnSpc>
                <a:spcPct val="130000"/>
              </a:lnSpc>
              <a:buClrTx/>
              <a:buSzTx/>
            </a:pPr>
            <a:r>
              <a:rPr lang="zh-CN" altLang="en-US" sz="1920" dirty="0">
                <a:solidFill>
                  <a:schemeClr val="dk1"/>
                </a:solidFill>
                <a:latin typeface="微软雅黑" panose="020B0503020204020204" charset="-122"/>
              </a:rPr>
              <a:t>找有测试经验的人交流</a:t>
            </a:r>
            <a:r>
              <a:rPr sz="1920">
                <a:solidFill>
                  <a:schemeClr val="dk1"/>
                </a:solidFill>
                <a:latin typeface="微软雅黑" panose="020B0503020204020204" charset="-122"/>
                <a:sym typeface="+mn-ea"/>
              </a:rPr>
              <a:t>学习，熟悉使用被测系统。</a:t>
            </a:r>
          </a:p>
          <a:p>
            <a:pPr marL="628650" lvl="2" algn="l" defTabSz="914400" eaLnBrk="1" hangingPunct="1">
              <a:lnSpc>
                <a:spcPct val="130000"/>
              </a:lnSpc>
              <a:buClrTx/>
              <a:buSzTx/>
            </a:pPr>
            <a:r>
              <a:rPr lang="zh-CN" altLang="en-US" sz="2000" b="1" dirty="0">
                <a:solidFill>
                  <a:srgbClr val="FF0000"/>
                </a:solidFill>
                <a:latin typeface="微软雅黑" panose="020B0503020204020204" charset="-122"/>
              </a:rPr>
              <a:t>千万不可以凭自己想象。</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51</a:t>
            </a:fld>
            <a:endParaRPr lang="zh-CN" altLang="en-US"/>
          </a:p>
        </p:txBody>
      </p:sp>
      <p:sp>
        <p:nvSpPr>
          <p:cNvPr id="5" name="Rectangle 2"/>
          <p:cNvSpPr>
            <a:spLocks noGrp="1" noChangeArrowheads="1"/>
          </p:cNvSpPr>
          <p:nvPr>
            <p:ph type="title"/>
          </p:nvPr>
        </p:nvSpPr>
        <p:spPr>
          <a:xfrm>
            <a:off x="613410" y="405130"/>
            <a:ext cx="7884795" cy="1008380"/>
          </a:xfrm>
          <a:solidFill>
            <a:srgbClr val="000000">
              <a:alpha val="0"/>
            </a:srgbClr>
          </a:solidFill>
        </p:spPr>
        <p:txBody>
          <a:bodyPr vert="horz" wrap="square" lIns="91440" tIns="45720" rIns="91440" bIns="45720" numCol="1" anchor="ctr" anchorCtr="0" compatLnSpc="1"/>
          <a:lstStyle/>
          <a:p>
            <a:pPr marL="0" marR="0" lvl="0" algn="just" defTabSz="914400" rtl="0" eaLnBrk="1" fontAlgn="base" latinLnBrk="0" hangingPunct="1">
              <a:lnSpc>
                <a:spcPct val="100000"/>
              </a:lnSpc>
              <a:buClrTx/>
              <a:buSzTx/>
              <a:buFontTx/>
              <a:buNone/>
              <a:defRPr/>
            </a:pPr>
            <a:r>
              <a:rPr kumimoji="0" lang="zh-CN" altLang="en-US" sz="3600" i="0" u="none" strike="noStrike" cap="none" spc="0" normalizeH="0" baseline="0">
                <a:uFillTx/>
                <a:latin typeface="微软雅黑" panose="020B0503020204020204" charset="-122"/>
                <a:cs typeface="微软雅黑" panose="020B0503020204020204" charset="-122"/>
              </a:rPr>
              <a:t>黑盒测试</a:t>
            </a:r>
            <a:r>
              <a:rPr sz="3600" spc="0">
                <a:latin typeface="微软雅黑" panose="020B0503020204020204" charset="-122"/>
                <a:cs typeface="微软雅黑" panose="020B0503020204020204" charset="-122"/>
                <a:sym typeface="+mn-ea"/>
              </a:rPr>
              <a:t>总结</a:t>
            </a:r>
            <a:endParaRPr kumimoji="0" lang="zh-CN" altLang="en-US" sz="3600" i="0" u="none" strike="noStrike" cap="none" spc="0" normalizeH="0" baseline="0">
              <a:uFillTx/>
              <a:latin typeface="微软雅黑" panose="020B0503020204020204" charset="-122"/>
              <a:cs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descr="7b0a2020202022776f7264617274223a20227b5c2269645c223a32353030313832362c5c227469645c223a31333534347d220a7d0a"/>
          <p:cNvSpPr>
            <a:spLocks noGrp="1"/>
          </p:cNvSpPr>
          <p:nvPr>
            <p:ph type="title" idx="14"/>
            <p:custDataLst>
              <p:tags r:id="rId2"/>
            </p:custDataLst>
          </p:nvPr>
        </p:nvSpPr>
        <p:spPr>
          <a:xfrm>
            <a:off x="2445068" y="2403158"/>
            <a:ext cx="4612005" cy="1285875"/>
          </a:xfrm>
        </p:spPr>
        <p:txBody>
          <a:bodyPr>
            <a:noAutofit/>
            <a:scene3d>
              <a:camera prst="obliqueBottomRight"/>
              <a:lightRig rig="flat" dir="t"/>
            </a:scene3d>
          </a:bodyPr>
          <a:lstStyle/>
          <a:p>
            <a:pPr algn="ctr"/>
            <a:r>
              <a:rPr lang="zh-CN" altLang="en-US" sz="4950" dirty="0">
                <a:solidFill>
                  <a:srgbClr val="37449B"/>
                </a:solidFill>
                <a:effectLst>
                  <a:innerShdw blurRad="63500" dist="50800" dir="13500000">
                    <a:srgbClr val="050505">
                      <a:alpha val="50000"/>
                    </a:srgbClr>
                  </a:innerShdw>
                </a:effectLst>
                <a:latin typeface="汉仪黑方简" panose="00020600040101010101" charset="-122"/>
                <a:ea typeface="汉仪黑方简" panose="00020600040101010101" charset="-122"/>
              </a:rPr>
              <a:t>谢谢聆听</a:t>
            </a:r>
          </a:p>
        </p:txBody>
      </p:sp>
      <p:pic>
        <p:nvPicPr>
          <p:cNvPr id="2" name="图片 1" descr="校徽"/>
          <p:cNvPicPr>
            <a:picLocks noChangeAspect="1"/>
          </p:cNvPicPr>
          <p:nvPr userDrawn="1"/>
        </p:nvPicPr>
        <p:blipFill>
          <a:blip r:embed="rId5"/>
          <a:stretch>
            <a:fillRect/>
          </a:stretch>
        </p:blipFill>
        <p:spPr>
          <a:xfrm>
            <a:off x="8244205" y="44450"/>
            <a:ext cx="796290" cy="735965"/>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4675" y="304800"/>
            <a:ext cx="8001000" cy="1021080"/>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3600" b="1" i="0" spc="200">
                <a:solidFill>
                  <a:schemeClr val="tx1"/>
                </a:solidFill>
                <a:uFillTx/>
                <a:latin typeface="Arial" panose="020B0604020202020204" pitchFamily="34" charset="0"/>
                <a:ea typeface="微软雅黑" panose="020B0503020204020204" charset="-122"/>
              </a:rPr>
              <a:t>课后练习——</a:t>
            </a:r>
            <a:r>
              <a:rPr lang="zh-CN" altLang="en-US" sz="3600" b="1" spc="200">
                <a:solidFill>
                  <a:schemeClr val="tx1"/>
                </a:solidFill>
                <a:uFillTx/>
                <a:latin typeface="Arial" panose="020B0604020202020204" pitchFamily="34" charset="0"/>
                <a:ea typeface="微软雅黑" panose="020B0503020204020204" charset="-122"/>
                <a:sym typeface="+mn-ea"/>
              </a:rPr>
              <a:t>删除邮件</a:t>
            </a:r>
            <a:endParaRPr lang="zh-CN" altLang="en-US" sz="3600" b="1" i="0" spc="200">
              <a:solidFill>
                <a:schemeClr val="tx1"/>
              </a:solidFill>
              <a:uFillTx/>
              <a:latin typeface="Arial" panose="020B0604020202020204" pitchFamily="34" charset="0"/>
              <a:ea typeface="微软雅黑" panose="020B0503020204020204" charset="-122"/>
              <a:sym typeface="+mn-ea"/>
            </a:endParaRPr>
          </a:p>
        </p:txBody>
      </p:sp>
      <p:sp>
        <p:nvSpPr>
          <p:cNvPr id="3" name="内容占位符 2"/>
          <p:cNvSpPr>
            <a:spLocks noGrp="1"/>
          </p:cNvSpPr>
          <p:nvPr>
            <p:custDataLst>
              <p:tags r:id="rId4"/>
            </p:custDataLst>
          </p:nvPr>
        </p:nvSpPr>
        <p:spPr>
          <a:xfrm>
            <a:off x="432435" y="1442720"/>
            <a:ext cx="8357235" cy="229044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30000"/>
              </a:lnSpc>
            </a:pPr>
            <a:r>
              <a:rPr lang="zh-CN" altLang="en-US" sz="2400" dirty="0">
                <a:solidFill>
                  <a:schemeClr val="dk1"/>
                </a:solidFill>
                <a:latin typeface="微软雅黑" panose="020B0503020204020204" charset="-122"/>
                <a:ea typeface="微软雅黑" panose="020B0503020204020204" charset="-122"/>
              </a:rPr>
              <a:t>有输入项的常规功能，只需要分析用户如何输入，会产生哪些操作场景即可设计出测试用例。</a:t>
            </a:r>
          </a:p>
        </p:txBody>
      </p:sp>
      <p:pic>
        <p:nvPicPr>
          <p:cNvPr id="5"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9115" y="2662555"/>
            <a:ext cx="5555615" cy="3492500"/>
          </a:xfrm>
          <a:prstGeom prst="rect">
            <a:avLst/>
          </a:prstGeom>
          <a:noFill/>
          <a:extLst>
            <a:ext uri="{909E8E84-426E-40DD-AFC4-6F175D3DCCD1}">
              <a14:hiddenFill xmlns:a14="http://schemas.microsoft.com/office/drawing/2010/main">
                <a:solidFill>
                  <a:srgbClr val="FFFFFF"/>
                </a:solidFill>
              </a14:hiddenFill>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53</a:t>
            </a:fld>
            <a:endParaRPr lang="zh-CN" altLang="en-US"/>
          </a:p>
        </p:txBody>
      </p:sp>
    </p:spTree>
    <p:custDataLst>
      <p:tags r:id="rId1"/>
    </p:custData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3600" b="1" spc="200">
                <a:solidFill>
                  <a:schemeClr val="tx1"/>
                </a:solidFill>
                <a:uFillTx/>
                <a:latin typeface="Arial" panose="020B0604020202020204" pitchFamily="34" charset="0"/>
                <a:ea typeface="微软雅黑" panose="020B0503020204020204" charset="-122"/>
                <a:sym typeface="+mn-ea"/>
              </a:rPr>
              <a:t>课后练习——删除邮件</a:t>
            </a:r>
            <a:endParaRPr lang="en-US" altLang="zh-CN" sz="3600" b="1" i="0" dirty="0">
              <a:solidFill>
                <a:srgbClr val="00000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3" name="内容占位符 2"/>
          <p:cNvSpPr>
            <a:spLocks noGrp="1"/>
          </p:cNvSpPr>
          <p:nvPr>
            <p:custDataLst>
              <p:tags r:id="rId4"/>
            </p:custDataLst>
          </p:nvPr>
        </p:nvSpPr>
        <p:spPr>
          <a:xfrm>
            <a:off x="567055" y="1520825"/>
            <a:ext cx="8001000" cy="449897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从</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删除</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功能而言，用户可能选择一封邮件进行删除，也可能同时选择多封邮件进行删除操作，也可能会出现未选择邮件时误点击了删除按钮。</a:t>
            </a:r>
          </a:p>
          <a:p>
            <a:pPr>
              <a:lnSpc>
                <a:spcPct val="15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基于这些用户操作，需要设计的测试用例如下：</a:t>
            </a:r>
          </a:p>
          <a:p>
            <a:pPr marL="457200" lvl="1" indent="0">
              <a:lnSpc>
                <a:spcPct val="15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单选一封邮件进行删除；</a:t>
            </a:r>
          </a:p>
          <a:p>
            <a:pPr marL="457200" lvl="1" indent="0">
              <a:lnSpc>
                <a:spcPct val="15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多选若干封邮件进行删除；</a:t>
            </a:r>
          </a:p>
          <a:p>
            <a:pPr marL="457200" lvl="1" indent="0">
              <a:lnSpc>
                <a:spcPct val="15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直接点击全选框，是否会进行全选操作并全部删除；</a:t>
            </a:r>
          </a:p>
          <a:p>
            <a:pPr marL="457200" lvl="1" indent="0">
              <a:lnSpc>
                <a:spcPct val="15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不选择邮件，直接删除邮件，是否给出用户相应提示。</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54</a:t>
            </a:fld>
            <a:endParaRPr lang="zh-CN" altLang="en-US"/>
          </a:p>
        </p:txBody>
      </p:sp>
    </p:spTree>
    <p:custDataLst>
      <p:tags r:id="rId1"/>
    </p:custData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just"/>
            <a:r>
              <a:rPr lang="zh-CN" altLang="en-US" sz="3600" b="1" spc="200">
                <a:solidFill>
                  <a:schemeClr val="tx1"/>
                </a:solidFill>
                <a:uFillTx/>
                <a:latin typeface="Arial" panose="020B0604020202020204" pitchFamily="34" charset="0"/>
                <a:ea typeface="微软雅黑" panose="020B0503020204020204" charset="-122"/>
                <a:sym typeface="+mn-ea"/>
              </a:rPr>
              <a:t>课后练习——</a:t>
            </a:r>
            <a:r>
              <a:rPr lang="zh-CN" altLang="en-US" sz="3600" b="1" dirty="0">
                <a:solidFill>
                  <a:schemeClr val="dk1"/>
                </a:solidFill>
                <a:latin typeface="微软雅黑" panose="020B0503020204020204" charset="-122"/>
                <a:ea typeface="微软雅黑" panose="020B0503020204020204" charset="-122"/>
                <a:sym typeface="+mn-ea"/>
              </a:rPr>
              <a:t>抽奖活动</a:t>
            </a:r>
            <a:endParaRPr lang="zh-CN" altLang="en-US" sz="3600" b="1" i="0" dirty="0">
              <a:solidFill>
                <a:schemeClr val="dk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3" name="内容占位符 2"/>
          <p:cNvSpPr>
            <a:spLocks noGrp="1"/>
          </p:cNvSpPr>
          <p:nvPr>
            <p:custDataLst>
              <p:tags r:id="rId4"/>
            </p:custDataLst>
          </p:nvPr>
        </p:nvSpPr>
        <p:spPr>
          <a:xfrm>
            <a:off x="567055" y="1520825"/>
            <a:ext cx="8001000" cy="449897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30000"/>
              </a:lnSpc>
            </a:pPr>
            <a:r>
              <a:rPr lang="zh-CN" altLang="en-US" sz="2400" dirty="0">
                <a:solidFill>
                  <a:schemeClr val="dk1"/>
                </a:solidFill>
                <a:latin typeface="微软雅黑" panose="020B0503020204020204" charset="-122"/>
                <a:ea typeface="微软雅黑" panose="020B0503020204020204" charset="-122"/>
              </a:rPr>
              <a:t>对于没有输入框的功能，也可以使用用户行为分析，分析会产生哪些使用场景来设计测试用例。</a:t>
            </a:r>
          </a:p>
        </p:txBody>
      </p:sp>
      <p:pic>
        <p:nvPicPr>
          <p:cNvPr id="5"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5130" y="2755265"/>
            <a:ext cx="5648325" cy="3371215"/>
          </a:xfrm>
          <a:prstGeom prst="rect">
            <a:avLst/>
          </a:prstGeom>
          <a:noFill/>
          <a:extLst>
            <a:ext uri="{909E8E84-426E-40DD-AFC4-6F175D3DCCD1}">
              <a14:hiddenFill xmlns:a14="http://schemas.microsoft.com/office/drawing/2010/main">
                <a:solidFill>
                  <a:srgbClr val="FFFFFF"/>
                </a:solidFill>
              </a14:hiddenFill>
            </a:ext>
          </a:extLst>
        </p:spPr>
      </p:pic>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55</a:t>
            </a:fld>
            <a:endParaRPr lang="zh-CN" altLang="en-US"/>
          </a:p>
        </p:txBody>
      </p:sp>
    </p:spTree>
    <p:custDataLst>
      <p:tags r:id="rId1"/>
    </p:custData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6" r:link="rId7" cstate="email"/>
          <a:stretch>
            <a:fillRect/>
          </a:stretch>
        </p:blipFill>
        <p:spPr>
          <a:xfrm>
            <a:off x="0" y="0"/>
            <a:ext cx="540068" cy="486377"/>
          </a:xfrm>
          <a:prstGeom prst="rect">
            <a:avLst/>
          </a:prstGeom>
        </p:spPr>
      </p:pic>
      <p:pic>
        <p:nvPicPr>
          <p:cNvPr id="6" name="图片 7"/>
          <p:cNvPicPr/>
          <p:nvPr userDrawn="1">
            <p:custDataLst>
              <p:tags r:id="rId3"/>
            </p:custDataLst>
          </p:nvPr>
        </p:nvPicPr>
        <p:blipFill>
          <a:blip r:embed="rId8" r:link="rId9" cstate="email"/>
          <a:stretch>
            <a:fillRect/>
          </a:stretch>
        </p:blipFill>
        <p:spPr>
          <a:xfrm>
            <a:off x="8603932" y="0"/>
            <a:ext cx="540068" cy="629227"/>
          </a:xfrm>
          <a:prstGeom prst="rect">
            <a:avLst/>
          </a:prstGeom>
        </p:spPr>
      </p:pic>
      <p:sp>
        <p:nvSpPr>
          <p:cNvPr id="2" name="标题 1"/>
          <p:cNvSpPr>
            <a:spLocks noGrp="1"/>
          </p:cNvSpPr>
          <p:nvPr/>
        </p:nvSpPr>
        <p:spPr>
          <a:xfrm>
            <a:off x="574675" y="304801"/>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just"/>
            <a:r>
              <a:rPr lang="zh-CN" altLang="en-US" sz="3600" b="1" spc="200">
                <a:solidFill>
                  <a:schemeClr val="tx1"/>
                </a:solidFill>
                <a:uFillTx/>
                <a:latin typeface="Arial" panose="020B0604020202020204" pitchFamily="34" charset="0"/>
                <a:ea typeface="微软雅黑" panose="020B0503020204020204" charset="-122"/>
                <a:sym typeface="+mn-ea"/>
              </a:rPr>
              <a:t>课后练习——</a:t>
            </a:r>
            <a:r>
              <a:rPr lang="zh-CN" altLang="en-US" sz="3600" b="1" dirty="0">
                <a:solidFill>
                  <a:schemeClr val="dk1"/>
                </a:solidFill>
                <a:latin typeface="微软雅黑" panose="020B0503020204020204" charset="-122"/>
                <a:ea typeface="微软雅黑" panose="020B0503020204020204" charset="-122"/>
                <a:sym typeface="+mn-ea"/>
              </a:rPr>
              <a:t>抽奖活动</a:t>
            </a:r>
            <a:endParaRPr lang="en-US" altLang="zh-CN" sz="3600" b="1" i="0" dirty="0">
              <a:solidFill>
                <a:srgbClr val="00000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3" name="内容占位符 2"/>
          <p:cNvSpPr>
            <a:spLocks noGrp="1"/>
          </p:cNvSpPr>
          <p:nvPr>
            <p:custDataLst>
              <p:tags r:id="rId4"/>
            </p:custDataLst>
          </p:nvPr>
        </p:nvSpPr>
        <p:spPr>
          <a:xfrm>
            <a:off x="574675" y="1440815"/>
            <a:ext cx="8132445" cy="501586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2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抽奖功能分析，通过点击转盘来得到相应的奖项。在此功能中，用户所中奖项是存在概率的，概率在该功能中犹为重要，其次可能存在多人同时摇转盘以及某个奖项没有了的情况。</a:t>
            </a:r>
          </a:p>
          <a:p>
            <a:pPr>
              <a:lnSpc>
                <a:spcPct val="12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案例分析如下：</a:t>
            </a:r>
          </a:p>
          <a:p>
            <a:pPr marL="457200" lvl="1" indent="0">
              <a:lnSpc>
                <a:spcPct val="12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并发多个用户，同时进行抽奖，存在中奖与未中奖的情况形成概率；</a:t>
            </a:r>
          </a:p>
          <a:p>
            <a:pPr marL="457200" lvl="1" indent="0">
              <a:lnSpc>
                <a:spcPct val="12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某个奖项无奖品了，该奖项不再被用户抽中；</a:t>
            </a:r>
          </a:p>
          <a:p>
            <a:pPr marL="457200" lvl="1" indent="0">
              <a:lnSpc>
                <a:spcPct val="12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中奖与未中奖给用户的提示信息；</a:t>
            </a:r>
          </a:p>
          <a:p>
            <a:pPr marL="457200" lvl="1" indent="0">
              <a:lnSpc>
                <a:spcPct val="12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rPr>
              <a:t>中奖用户再度参与抽奖，其中奖概率是否降低的考虑；</a:t>
            </a:r>
          </a:p>
          <a:p>
            <a:pPr marL="457200" lvl="1" indent="0">
              <a:lnSpc>
                <a:spcPct val="120000"/>
              </a:lnSpc>
              <a:buNone/>
            </a:pPr>
            <a:r>
              <a:rPr lang="en-US" altLang="zh-CN" sz="2080" dirty="0">
                <a:solidFill>
                  <a:schemeClr val="dk1"/>
                </a:solidFill>
                <a:latin typeface="微软雅黑" panose="020B0503020204020204" charset="-122"/>
                <a:ea typeface="微软雅黑" panose="020B0503020204020204" charset="-122"/>
                <a:cs typeface="微软雅黑" panose="020B0503020204020204" charset="-122"/>
              </a:rPr>
              <a:t>5. ……</a:t>
            </a:r>
          </a:p>
        </p:txBody>
      </p:sp>
      <p:sp>
        <p:nvSpPr>
          <p:cNvPr id="5" name="日期占位符 4"/>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56</a:t>
            </a:fld>
            <a:endParaRPr lang="zh-CN" altLang="en-US"/>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19062532-3457-4f27-b3b9-17323f0a2b29"/>
  <p:tag name="COMMONDATA" val="eyJoZGlkIjoiMTgyY2Y5Y2UxZjkwY2NiYzg1MTM4ZmQzOTFhYWJhY2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26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6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7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28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6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36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6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37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37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7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37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8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38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8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9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39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9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0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40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40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41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41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386.697637795275,&quot;width&quot;:8672.72125984252}"/>
</p:tagLst>
</file>

<file path=ppt/tags/tag42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2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81.184251968504,&quot;width&quot;:2974.7622047244095}"/>
</p:tagLst>
</file>

<file path=ppt/tags/tag4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26.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6"/>
  <p:tag name="KSO_WM_UNIT_FILL_TYPE" val="1"/>
  <p:tag name="KSO_WM_UNIT_LINE_FORE_SCHEMECOLOR_INDEX_BRIGHTNESS" val="0"/>
  <p:tag name="KSO_WM_UNIT_LINE_FORE_SCHEMECOLOR_INDEX" val="2"/>
  <p:tag name="KSO_WM_UNIT_LINE_FILL_TYPE" val="2"/>
  <p:tag name="KSO_WM_UNIT_TEXT_FILL_FORE_SCHEMECOLOR_INDEX_BRIGHTNESS" val="0"/>
  <p:tag name="KSO_WM_UNIT_TEXT_FILL_FORE_SCHEMECOLOR_INDEX" val="2"/>
  <p:tag name="KSO_WM_UNIT_TEXT_FILL_TYPE" val="1"/>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wm#"/>
  <p:tag name="KSO_WM_TEMPLATE_SUBCATEGORY" val="0"/>
  <p:tag name="KSO_WM_SLIDE_ITEM_CNT" val="0"/>
  <p:tag name="KSO_WM_SLIDE_INDEX" val="39"/>
  <p:tag name="KSO_WM_TAG_VERSION" val="1.0"/>
  <p:tag name="KSO_WM_SLIDE_LAYOUT" val="a_b"/>
  <p:tag name="KSO_WM_SLIDE_LAYOUT_CNT" val="1_1"/>
  <p:tag name="KSO_WM_SLIDE_TYPE" val="endPage"/>
  <p:tag name="KSO_WM_SLIDE_SUBTYPE" val="pureTxt"/>
  <p:tag name="KSO_WM_TEMPLATE_MASTER_TYPE" val="1"/>
  <p:tag name="KSO_WM_TEMPLATE_COLOR_TYPE" val="1"/>
  <p:tag name="KSO_WM_TEMPLATE_CATEGORY" val="custom"/>
  <p:tag name="KSO_WM_TEMPLATE_INDEX" val="20204424"/>
  <p:tag name="KSO_WM_SLIDE_ID" val="custom20204424_39"/>
</p:tagLst>
</file>

<file path=ppt/tags/tag42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THANKS"/>
  <p:tag name="KSO_WM_TEMPLATE_CATEGORY" val="custom"/>
  <p:tag name="KSO_WM_TEMPLATE_INDEX" val="20204424"/>
  <p:tag name="KSO_WM_UNIT_ID" val="custom20204424_38*a*1"/>
  <p:tag name="KSO_WM_UNIT_ISNUMDGMTITLE" val="0"/>
</p:tagLst>
</file>

<file path=ppt/tags/tag429.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LAYERLEVEL" val="1"/>
  <p:tag name="KSO_WM_TAG_VERSION" val="1.0"/>
  <p:tag name="KSO_WM_BEAUTIFY_FLAG" val="#wm#"/>
  <p:tag name="KSO_WM_UNIT_PRESET_TEXT" val="单击此处输入你的副标题，文字是您思想的提炼。"/>
  <p:tag name="KSO_WM_TEMPLATE_CATEGORY" val="custom"/>
  <p:tag name="KSO_WM_TEMPLATE_INDEX" val="20204424"/>
  <p:tag name="KSO_WM_UNIT_ID" val="custom20204424_38*b*1"/>
  <p:tag name="KSO_WM_UNIT_ISNUMDGMTITLE" val="0"/>
</p:tagLst>
</file>

<file path=ppt/tags/tag43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3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3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3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4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4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4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4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4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4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5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5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5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5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5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5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5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5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6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6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6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6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6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6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6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6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7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7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7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8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8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8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9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9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4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4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9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0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0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0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0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0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1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1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1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1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2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2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2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2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2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2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2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2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3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3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3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3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9.xml><?xml version="1.0" encoding="utf-8"?>
<p:tagLst xmlns:a="http://schemas.openxmlformats.org/drawingml/2006/main" xmlns:r="http://schemas.openxmlformats.org/officeDocument/2006/relationships" xmlns:p="http://schemas.openxmlformats.org/presentationml/2006/main">
  <p:tag name="KSO_WM_UNIT_TABLE_BEAUTIFY" val="smartTable{1b0b3f5b-7247-4e7f-9050-eb60d6ffd301}"/>
</p:tagLst>
</file>

<file path=ppt/tags/tag5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4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4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47.xml><?xml version="1.0" encoding="utf-8"?>
<p:tagLst xmlns:a="http://schemas.openxmlformats.org/drawingml/2006/main" xmlns:r="http://schemas.openxmlformats.org/officeDocument/2006/relationships" xmlns:p="http://schemas.openxmlformats.org/presentationml/2006/main">
  <p:tag name="KSO_WM_UNIT_TABLE_BEAUTIFY" val="smartTable{ed54d6fd-cf20-4b8a-87da-5e2e145aaef0}"/>
</p:tagLst>
</file>

<file path=ppt/tags/tag5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9.xml><?xml version="1.0" encoding="utf-8"?>
<p:tagLst xmlns:a="http://schemas.openxmlformats.org/drawingml/2006/main" xmlns:r="http://schemas.openxmlformats.org/officeDocument/2006/relationships" xmlns:p="http://schemas.openxmlformats.org/presentationml/2006/main">
  <p:tag name="KSO_WM_SLIDE_ID" val="custom20204367_38"/>
  <p:tag name="KSO_WM_TEMPLATE_SUBCATEGORY" val="0"/>
  <p:tag name="KSO_WM_TEMPLATE_MASTER_TYPE" val="1"/>
  <p:tag name="KSO_WM_TEMPLATE_COLOR_TYPE" val="1"/>
  <p:tag name="KSO_WM_SLIDE_TYPE" val="endPage"/>
  <p:tag name="KSO_WM_SLIDE_SUBTYPE" val="pureTxt"/>
  <p:tag name="KSO_WM_SLIDE_ITEM_CNT" val="0"/>
  <p:tag name="KSO_WM_SLIDE_INDEX" val="38"/>
  <p:tag name="KSO_WM_TAG_VERSION" val="1.0"/>
  <p:tag name="KSO_WM_BEAUTIFY_FLAG" val="#wm#"/>
  <p:tag name="KSO_WM_TEMPLATE_CATEGORY" val="custom"/>
  <p:tag name="KSO_WM_TEMPLATE_INDEX" val="20204367"/>
  <p:tag name="KSO_WM_SLIDE_LAYOUT" val="a_b"/>
  <p:tag name="KSO_WM_SLIDE_LAYOUT_CNT" val="1_1"/>
</p:tagLst>
</file>

<file path=ppt/tags/tag55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5"/>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谢谢聆听"/>
  <p:tag name="KSO_WM_TEMPLATE_CATEGORY" val="custom"/>
  <p:tag name="KSO_WM_TEMPLATE_INDEX" val="20204367"/>
  <p:tag name="KSO_WM_UNIT_ID" val="custom20204367_38*a*1"/>
  <p:tag name="KSO_WM_UNIT_ISNUMDGMTITLE" val="0"/>
</p:tagLst>
</file>

<file path=ppt/tags/tag55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5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5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5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6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6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5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5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263">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3766</Words>
  <Application>Microsoft Office PowerPoint</Application>
  <PresentationFormat>全屏显示(4:3)</PresentationFormat>
  <Paragraphs>507</Paragraphs>
  <Slides>56</Slides>
  <Notes>5</Notes>
  <HiddenSlides>0</HiddenSlides>
  <MMClips>0</MMClips>
  <ScaleCrop>false</ScaleCrop>
  <HeadingPairs>
    <vt:vector size="8" baseType="variant">
      <vt:variant>
        <vt:lpstr>已用的字体</vt:lpstr>
      </vt:variant>
      <vt:variant>
        <vt:i4>9</vt:i4>
      </vt:variant>
      <vt:variant>
        <vt:lpstr>主题</vt:lpstr>
      </vt:variant>
      <vt:variant>
        <vt:i4>4</vt:i4>
      </vt:variant>
      <vt:variant>
        <vt:lpstr>嵌入 OLE 服务器</vt:lpstr>
      </vt:variant>
      <vt:variant>
        <vt:i4>1</vt:i4>
      </vt:variant>
      <vt:variant>
        <vt:lpstr>幻灯片标题</vt:lpstr>
      </vt:variant>
      <vt:variant>
        <vt:i4>56</vt:i4>
      </vt:variant>
    </vt:vector>
  </HeadingPairs>
  <TitlesOfParts>
    <vt:vector size="70" baseType="lpstr">
      <vt:lpstr>等线</vt:lpstr>
      <vt:lpstr>汉仪黑方简</vt:lpstr>
      <vt:lpstr>宋体</vt:lpstr>
      <vt:lpstr>微软雅黑</vt:lpstr>
      <vt:lpstr>Arial</vt:lpstr>
      <vt:lpstr>Calibri</vt:lpstr>
      <vt:lpstr>Times New Roman</vt:lpstr>
      <vt:lpstr>Verdana</vt:lpstr>
      <vt:lpstr>Wingdings</vt:lpstr>
      <vt:lpstr>Profile</vt:lpstr>
      <vt:lpstr>1_Office 主题​​</vt:lpstr>
      <vt:lpstr>2_Office 主题​​</vt:lpstr>
      <vt:lpstr>3_Office 主题​​</vt:lpstr>
      <vt:lpstr>Visio</vt:lpstr>
      <vt:lpstr>PowerPoint 演示文稿</vt:lpstr>
      <vt:lpstr>上节回顾</vt:lpstr>
      <vt:lpstr>基于正交表的测试</vt:lpstr>
      <vt:lpstr>PowerPoint软件的打印功能</vt:lpstr>
      <vt:lpstr>黑盒测试技术</vt:lpstr>
      <vt:lpstr>PowerPoint 演示文稿</vt:lpstr>
      <vt:lpstr>场景法测试</vt:lpstr>
      <vt:lpstr>基于场景的测试</vt:lpstr>
      <vt:lpstr>PowerPoint 演示文稿</vt:lpstr>
      <vt:lpstr>PowerPoint 演示文稿</vt:lpstr>
      <vt:lpstr>场景(Scenario)是用例的实例 </vt:lpstr>
      <vt:lpstr>PowerPoint 演示文稿</vt:lpstr>
      <vt:lpstr>案例：ATM取款机</vt:lpstr>
      <vt:lpstr>PowerPoint 演示文稿</vt:lpstr>
      <vt:lpstr>PowerPoint 演示文稿</vt:lpstr>
      <vt:lpstr>PowerPoint 演示文稿</vt:lpstr>
      <vt:lpstr>PowerPoint 演示文稿</vt:lpstr>
      <vt:lpstr>PowerPoint 演示文稿</vt:lpstr>
      <vt:lpstr>PowerPoint 演示文稿</vt:lpstr>
      <vt:lpstr>特殊场景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基于场景的测试</vt:lpstr>
      <vt:lpstr>PowerPoint 演示文稿</vt:lpstr>
      <vt:lpstr>PowerPoint 演示文稿</vt:lpstr>
      <vt:lpstr>PowerPoint 演示文稿</vt:lpstr>
      <vt:lpstr>PowerPoint 演示文稿</vt:lpstr>
      <vt:lpstr>PowerPoint 演示文稿</vt:lpstr>
      <vt:lpstr>案例1——嵌入式系统发送数据功能</vt:lpstr>
      <vt:lpstr>PowerPoint 演示文稿</vt:lpstr>
      <vt:lpstr>案例2——微信钱包的手机充值功能</vt:lpstr>
      <vt:lpstr>案例2——微信钱包的手机充值功能</vt:lpstr>
      <vt:lpstr>案例2——微信钱包的手机充值功能</vt:lpstr>
      <vt:lpstr>案例2——微信钱包的手机充值功能</vt:lpstr>
      <vt:lpstr>PowerPoint 演示文稿</vt:lpstr>
      <vt:lpstr>基于场景的测试</vt:lpstr>
      <vt:lpstr>黑盒测试总结</vt:lpstr>
      <vt:lpstr>黑盒测试总结</vt:lpstr>
      <vt:lpstr>黑盒测试总结</vt:lpstr>
      <vt:lpstr>黑盒测试总结</vt:lpstr>
      <vt:lpstr>黑盒测试总结</vt:lpstr>
      <vt:lpstr>黑盒测试总结</vt:lpstr>
      <vt:lpstr>黑盒测试总结</vt:lpstr>
      <vt:lpstr>谢谢聆听</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大家一起讨论</dc:title>
  <dc:creator>kfbocheng@outlook.com</dc:creator>
  <cp:lastModifiedBy>12563354@qq.com</cp:lastModifiedBy>
  <cp:revision>260</cp:revision>
  <dcterms:created xsi:type="dcterms:W3CDTF">2022-03-26T07:26:00Z</dcterms:created>
  <dcterms:modified xsi:type="dcterms:W3CDTF">2023-04-19T02:20:39Z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2B0984FD060340F49665E23B5CED7B03_13</vt:lpwstr>
  </property>
  <property fmtid="{D5CDD505-2E9C-101B-9397-08002B2CF9AE}" pid="3" name="KSOProductBuildVer">
    <vt:lpwstr>2052-11.1.0.14036</vt:lpwstr>
  </property>
</Properties>
</file>